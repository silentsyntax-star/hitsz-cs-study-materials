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5" r:id="rId1"/>
  </p:sldMasterIdLst>
  <p:notesMasterIdLst>
    <p:notesMasterId r:id="rId39"/>
  </p:notesMasterIdLst>
  <p:sldIdLst>
    <p:sldId id="1270" r:id="rId2"/>
    <p:sldId id="1215" r:id="rId3"/>
    <p:sldId id="1217" r:id="rId4"/>
    <p:sldId id="1347" r:id="rId5"/>
    <p:sldId id="1222" r:id="rId6"/>
    <p:sldId id="1220" r:id="rId7"/>
    <p:sldId id="1218" r:id="rId8"/>
    <p:sldId id="1346" r:id="rId9"/>
    <p:sldId id="1245" r:id="rId10"/>
    <p:sldId id="10103" r:id="rId11"/>
    <p:sldId id="1247" r:id="rId12"/>
    <p:sldId id="1332" r:id="rId13"/>
    <p:sldId id="1334" r:id="rId14"/>
    <p:sldId id="1335" r:id="rId15"/>
    <p:sldId id="1249" r:id="rId16"/>
    <p:sldId id="1337" r:id="rId17"/>
    <p:sldId id="657" r:id="rId18"/>
    <p:sldId id="1354" r:id="rId19"/>
    <p:sldId id="1241" r:id="rId20"/>
    <p:sldId id="1344" r:id="rId21"/>
    <p:sldId id="1349" r:id="rId22"/>
    <p:sldId id="1325" r:id="rId23"/>
    <p:sldId id="1345" r:id="rId24"/>
    <p:sldId id="1353" r:id="rId25"/>
    <p:sldId id="1350" r:id="rId26"/>
    <p:sldId id="1351" r:id="rId27"/>
    <p:sldId id="1314" r:id="rId28"/>
    <p:sldId id="1315" r:id="rId29"/>
    <p:sldId id="1316" r:id="rId30"/>
    <p:sldId id="1273" r:id="rId31"/>
    <p:sldId id="1338" r:id="rId32"/>
    <p:sldId id="1341" r:id="rId33"/>
    <p:sldId id="1279" r:id="rId34"/>
    <p:sldId id="1342" r:id="rId35"/>
    <p:sldId id="1284" r:id="rId36"/>
    <p:sldId id="1285" r:id="rId37"/>
    <p:sldId id="1286" r:id="rId38"/>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3" orient="horz" pos="4201" userDrawn="1">
          <p15:clr>
            <a:srgbClr val="A4A3A4"/>
          </p15:clr>
        </p15:guide>
        <p15:guide id="4" pos="2879">
          <p15:clr>
            <a:srgbClr val="A4A3A4"/>
          </p15:clr>
        </p15:guide>
        <p15:guide id="5" orient="horz" pos="315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guide id="3" orient="horz" pos="4200">
          <p15:clr>
            <a:srgbClr val="A4A3A4"/>
          </p15:clr>
        </p15:guide>
        <p15:guide id="4" pos="287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3B76"/>
    <a:srgbClr val="66CCFF"/>
    <a:srgbClr val="3366FF"/>
    <a:srgbClr val="736303"/>
    <a:srgbClr val="F0DA04"/>
    <a:srgbClr val="33CCFF"/>
    <a:srgbClr val="6D629C"/>
    <a:srgbClr val="7F62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97" autoAdjust="0"/>
    <p:restoredTop sz="89821" autoAdjust="0"/>
  </p:normalViewPr>
  <p:slideViewPr>
    <p:cSldViewPr snapToObjects="1">
      <p:cViewPr varScale="1">
        <p:scale>
          <a:sx n="78" d="100"/>
          <a:sy n="78" d="100"/>
        </p:scale>
        <p:origin x="932" y="48"/>
      </p:cViewPr>
      <p:guideLst>
        <p:guide orient="horz" pos="4201"/>
        <p:guide pos="2879"/>
        <p:guide orient="horz" pos="3151"/>
      </p:guideLst>
    </p:cSldViewPr>
  </p:slideViewPr>
  <p:notesTextViewPr>
    <p:cViewPr>
      <p:scale>
        <a:sx n="300" d="100"/>
        <a:sy n="300" d="100"/>
      </p:scale>
      <p:origin x="0" y="0"/>
    </p:cViewPr>
  </p:notesTextViewPr>
  <p:sorterViewPr>
    <p:cViewPr>
      <p:scale>
        <a:sx n="100" d="100"/>
        <a:sy n="100" d="100"/>
      </p:scale>
      <p:origin x="0" y="-26472"/>
    </p:cViewPr>
  </p:sorterViewPr>
  <p:notesViewPr>
    <p:cSldViewPr snapToObjects="1">
      <p:cViewPr varScale="1">
        <p:scale>
          <a:sx n="47" d="100"/>
          <a:sy n="47" d="100"/>
        </p:scale>
        <p:origin x="2694" y="60"/>
      </p:cViewPr>
      <p:guideLst>
        <p:guide orient="horz" pos="2880"/>
        <p:guide pos="2160"/>
        <p:guide orient="horz" pos="4200"/>
        <p:guide pos="287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F4DA7F0C-A8F0-4487-826C-000FF0B66B21}" type="datetimeFigureOut">
              <a:rPr lang="zh-CN" altLang="en-US"/>
              <a:pPr>
                <a:defRPr/>
              </a:pPr>
              <a:t>2025/3/10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B6C58412-F58B-4DA5-9529-CC0CDE193992}" type="slidenum">
              <a:rPr lang="zh-CN" altLang="en-US"/>
              <a:pPr>
                <a:defRPr/>
              </a:pPr>
              <a:t>‹#›</a:t>
            </a:fld>
            <a:endParaRPr lang="zh-CN" altLang="en-US"/>
          </a:p>
        </p:txBody>
      </p:sp>
    </p:spTree>
    <p:extLst>
      <p:ext uri="{BB962C8B-B14F-4D97-AF65-F5344CB8AC3E}">
        <p14:creationId xmlns:p14="http://schemas.microsoft.com/office/powerpoint/2010/main" val="25651653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log.csdn.net/m0_73995538/article/details/133046112"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cs typeface="+mn-ea"/>
                <a:sym typeface="+mn-lt"/>
              </a:rPr>
              <a:t>数组：用于容纳同种类型的元素</a:t>
            </a:r>
            <a:endParaRPr lang="en-US" altLang="zh-CN" sz="1200" dirty="0">
              <a:cs typeface="+mn-ea"/>
              <a:sym typeface="+mn-l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cs typeface="+mn-ea"/>
              <a:sym typeface="+mn-l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u="none" strike="noStrike" dirty="0">
                <a:solidFill>
                  <a:srgbClr val="4007A2"/>
                </a:solidFill>
                <a:effectLst/>
                <a:latin typeface="Arial" panose="020B0604020202020204" pitchFamily="34" charset="0"/>
                <a:hlinkClick r:id="rId3"/>
              </a:rPr>
              <a:t>Python</a:t>
            </a:r>
            <a:r>
              <a:rPr lang="zh-CN" altLang="en-US" b="0" u="none" strike="noStrike" dirty="0">
                <a:solidFill>
                  <a:srgbClr val="CC0000"/>
                </a:solidFill>
                <a:effectLst/>
                <a:latin typeface="Arial" panose="020B0604020202020204" pitchFamily="34" charset="0"/>
                <a:hlinkClick r:id="rId3"/>
              </a:rPr>
              <a:t>数据容器</a:t>
            </a:r>
            <a:r>
              <a:rPr lang="en-US" altLang="zh-CN" b="1" u="none" strike="noStrike" dirty="0">
                <a:solidFill>
                  <a:srgbClr val="4007A2"/>
                </a:solidFill>
                <a:effectLst/>
                <a:latin typeface="Arial" panose="020B0604020202020204" pitchFamily="34" charset="0"/>
                <a:hlinkClick r:id="rId3"/>
              </a:rPr>
              <a:t>——</a:t>
            </a:r>
            <a:r>
              <a:rPr lang="zh-CN" altLang="en-US" b="1" u="none" strike="noStrike" dirty="0">
                <a:solidFill>
                  <a:srgbClr val="4007A2"/>
                </a:solidFill>
                <a:effectLst/>
                <a:latin typeface="Arial" panose="020B0604020202020204" pitchFamily="34" charset="0"/>
                <a:hlinkClick r:id="rId3"/>
              </a:rPr>
              <a:t>列表、元组、字符串、集合、字典</a:t>
            </a:r>
            <a:endParaRPr lang="zh-CN" altLang="en-US" b="1" dirty="0">
              <a:solidFill>
                <a:srgbClr val="71777D"/>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71777D"/>
                </a:solidFill>
                <a:effectLst/>
                <a:latin typeface="Arial" panose="020B0604020202020204" pitchFamily="34" charset="0"/>
              </a:rPr>
              <a:t> 每种容器都有其独特的特性和适用场景，适合存储不同类型的数据。</a:t>
            </a:r>
            <a:endParaRPr lang="zh-CN" altLang="en-US" sz="1200" dirty="0">
              <a:cs typeface="+mn-ea"/>
              <a:sym typeface="+mn-lt"/>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a:t>
            </a:fld>
            <a:endParaRPr lang="zh-CN" altLang="en-US"/>
          </a:p>
        </p:txBody>
      </p:sp>
    </p:spTree>
    <p:extLst>
      <p:ext uri="{BB962C8B-B14F-4D97-AF65-F5344CB8AC3E}">
        <p14:creationId xmlns:p14="http://schemas.microsoft.com/office/powerpoint/2010/main" val="538861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lnSpc>
                <a:spcPct val="150000"/>
              </a:lnSpc>
            </a:pPr>
            <a:r>
              <a:rPr lang="zh-CN" altLang="en-US" b="0" i="0" dirty="0">
                <a:solidFill>
                  <a:srgbClr val="333333"/>
                </a:solidFill>
                <a:effectLst/>
                <a:latin typeface="Helvetica Neue"/>
              </a:rPr>
              <a:t>数组可以是一维数组（向量）、二维</a:t>
            </a:r>
            <a:r>
              <a:rPr lang="en-US" altLang="zh-CN" b="0" i="0" dirty="0">
                <a:solidFill>
                  <a:srgbClr val="333333"/>
                </a:solidFill>
                <a:effectLst/>
                <a:latin typeface="Helvetica Neue"/>
              </a:rPr>
              <a:t>(</a:t>
            </a:r>
            <a:r>
              <a:rPr lang="zh-CN" altLang="en-US" b="0" i="0" dirty="0">
                <a:solidFill>
                  <a:srgbClr val="333333"/>
                </a:solidFill>
                <a:effectLst/>
                <a:latin typeface="Helvetica Neue"/>
              </a:rPr>
              <a:t>矩阵</a:t>
            </a:r>
            <a:r>
              <a:rPr lang="en-US" altLang="zh-CN" b="0" i="0" dirty="0">
                <a:solidFill>
                  <a:srgbClr val="333333"/>
                </a:solidFill>
                <a:effectLst/>
                <a:latin typeface="Helvetica Neue"/>
              </a:rPr>
              <a:t>)</a:t>
            </a:r>
            <a:r>
              <a:rPr lang="zh-CN" altLang="en-US" b="0" i="0" dirty="0">
                <a:solidFill>
                  <a:srgbClr val="333333"/>
                </a:solidFill>
                <a:effectLst/>
                <a:latin typeface="Helvetica Neue"/>
              </a:rPr>
              <a:t>和多维数组</a:t>
            </a:r>
          </a:p>
          <a:p>
            <a:pPr algn="l" latinLnBrk="1">
              <a:lnSpc>
                <a:spcPct val="150000"/>
              </a:lnSpc>
            </a:pPr>
            <a:r>
              <a:rPr lang="zh-CN" altLang="en-US" b="0" i="0" dirty="0">
                <a:solidFill>
                  <a:srgbClr val="333333"/>
                </a:solidFill>
                <a:effectLst/>
                <a:latin typeface="Helvetica Neue"/>
              </a:rPr>
              <a:t>数组可以</a:t>
            </a:r>
            <a:r>
              <a:rPr lang="zh-CN" altLang="en-US" dirty="0">
                <a:solidFill>
                  <a:srgbClr val="333333"/>
                </a:solidFill>
                <a:latin typeface="Helvetica Neue"/>
              </a:rPr>
              <a:t>包含</a:t>
            </a:r>
            <a:r>
              <a:rPr lang="zh-CN" altLang="en-US" b="0" i="0" dirty="0">
                <a:solidFill>
                  <a:srgbClr val="333333"/>
                </a:solidFill>
                <a:effectLst/>
                <a:latin typeface="Helvetica Neue"/>
              </a:rPr>
              <a:t>任意大小</a:t>
            </a:r>
            <a:r>
              <a:rPr lang="zh-CN" altLang="en-US" dirty="0">
                <a:solidFill>
                  <a:srgbClr val="333333"/>
                </a:solidFill>
                <a:latin typeface="Helvetica Neue"/>
              </a:rPr>
              <a:t>和任意</a:t>
            </a:r>
            <a:r>
              <a:rPr lang="zh-CN" altLang="en-US" b="0" i="0" dirty="0">
                <a:solidFill>
                  <a:srgbClr val="333333"/>
                </a:solidFill>
                <a:effectLst/>
                <a:latin typeface="Helvetica Neue"/>
              </a:rPr>
              <a:t>类型的元素</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a:t>
            </a:fld>
            <a:endParaRPr lang="zh-CN" altLang="en-US"/>
          </a:p>
        </p:txBody>
      </p:sp>
    </p:spTree>
    <p:extLst>
      <p:ext uri="{BB962C8B-B14F-4D97-AF65-F5344CB8AC3E}">
        <p14:creationId xmlns:p14="http://schemas.microsoft.com/office/powerpoint/2010/main" val="966172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两种形式等价</a:t>
            </a:r>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a:t>
            </a:fld>
            <a:endParaRPr lang="zh-CN" altLang="en-US"/>
          </a:p>
        </p:txBody>
      </p:sp>
    </p:spTree>
    <p:extLst>
      <p:ext uri="{BB962C8B-B14F-4D97-AF65-F5344CB8AC3E}">
        <p14:creationId xmlns:p14="http://schemas.microsoft.com/office/powerpoint/2010/main" val="2199865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a:solidFill>
                  <a:srgbClr val="0070C0"/>
                </a:solidFill>
                <a:latin typeface="微软雅黑" panose="020B0503020204020204" pitchFamily="34" charset="-122"/>
                <a:ea typeface="微软雅黑" panose="020B0503020204020204" pitchFamily="34" charset="-122"/>
              </a:rPr>
              <a:t>Julia</a:t>
            </a:r>
            <a:r>
              <a:rPr lang="zh-CN" altLang="en-US" sz="1200" b="1" i="0" dirty="0">
                <a:solidFill>
                  <a:srgbClr val="0070C0"/>
                </a:solidFill>
                <a:effectLst/>
                <a:latin typeface="微软雅黑" panose="020B0503020204020204" pitchFamily="34" charset="-122"/>
                <a:ea typeface="微软雅黑" panose="020B0503020204020204" pitchFamily="34" charset="-122"/>
              </a:rPr>
              <a:t>最有用运算符之一，</a:t>
            </a:r>
            <a:endParaRPr lang="en-US" altLang="zh-CN" sz="1200" b="1" kern="1800" dirty="0">
              <a:solidFill>
                <a:srgbClr val="D57747"/>
              </a:solidFill>
              <a:latin typeface="Segoe UI" panose="020B0502040204020203" pitchFamily="34" charset="0"/>
              <a:ea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b="1" kern="1800" dirty="0">
                <a:solidFill>
                  <a:srgbClr val="D57747"/>
                </a:solidFill>
                <a:latin typeface="Segoe UI" panose="020B0502040204020203" pitchFamily="34" charset="0"/>
                <a:ea typeface="宋体" panose="02010600030101010101" pitchFamily="2" charset="-122"/>
              </a:rPr>
              <a:t>UnitRange</a:t>
            </a:r>
            <a:r>
              <a:rPr lang="zh-CN" altLang="en-US" sz="1200" b="1" kern="1800" dirty="0">
                <a:solidFill>
                  <a:srgbClr val="D57747"/>
                </a:solidFill>
                <a:latin typeface="Segoe UI" panose="020B0502040204020203" pitchFamily="34" charset="0"/>
                <a:ea typeface="宋体" panose="02010600030101010101" pitchFamily="2" charset="-122"/>
              </a:rPr>
              <a:t>：</a:t>
            </a:r>
            <a:r>
              <a:rPr lang="zh-CN" altLang="zh-CN" sz="1200" dirty="0">
                <a:solidFill>
                  <a:srgbClr val="2C3E50"/>
                </a:solidFill>
                <a:latin typeface="-apple-system"/>
                <a:ea typeface="华文楷体" panose="02010600040101010101" pitchFamily="2" charset="-122"/>
              </a:rPr>
              <a:t>获取步长为1的范围值</a:t>
            </a:r>
            <a:r>
              <a:rPr lang="en-US" altLang="zh-CN" sz="1200" dirty="0">
                <a:solidFill>
                  <a:srgbClr val="2C3E50"/>
                </a:solidFill>
                <a:latin typeface="-apple-system"/>
                <a:ea typeface="华文楷体" panose="02010600040101010101" pitchFamily="2" charset="-122"/>
              </a:rPr>
              <a:t>  </a:t>
            </a:r>
            <a:r>
              <a:rPr lang="en-US" altLang="zh-CN" sz="1200" dirty="0">
                <a:solidFill>
                  <a:schemeClr val="bg1"/>
                </a:solidFill>
                <a:latin typeface="Times New Roman" panose="02020603050405020304" pitchFamily="18" charset="0"/>
                <a:cs typeface="Times New Roman" panose="02020603050405020304" pitchFamily="18" charset="0"/>
              </a:rPr>
              <a:t>x</a:t>
            </a:r>
            <a:r>
              <a:rPr lang="zh-CN" altLang="zh-CN" sz="1200" dirty="0">
                <a:solidFill>
                  <a:schemeClr val="bg1"/>
                </a:solidFill>
                <a:latin typeface="Times New Roman" panose="02020603050405020304" pitchFamily="18" charset="0"/>
                <a:cs typeface="Times New Roman" panose="02020603050405020304" pitchFamily="18" charset="0"/>
              </a:rPr>
              <a:t> =</a:t>
            </a:r>
            <a:endParaRPr lang="en-US" altLang="zh-CN" sz="12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dirty="0">
                <a:solidFill>
                  <a:schemeClr val="bg1"/>
                </a:solidFill>
                <a:latin typeface="Times New Roman" panose="02020603050405020304" pitchFamily="18" charset="0"/>
                <a:cs typeface="Times New Roman" panose="02020603050405020304" pitchFamily="18" charset="0"/>
              </a:rPr>
              <a:t> UnitRange(</a:t>
            </a:r>
            <a:r>
              <a:rPr lang="en-US" altLang="zh-CN" sz="1200" dirty="0">
                <a:solidFill>
                  <a:schemeClr val="bg1"/>
                </a:solidFill>
                <a:latin typeface="Times New Roman" panose="02020603050405020304" pitchFamily="18" charset="0"/>
                <a:cs typeface="Times New Roman" panose="02020603050405020304" pitchFamily="18" charset="0"/>
              </a:rPr>
              <a:t>x1</a:t>
            </a:r>
            <a:r>
              <a:rPr lang="zh-CN" altLang="zh-CN" sz="1200" dirty="0">
                <a:solidFill>
                  <a:schemeClr val="bg1"/>
                </a:solidFill>
                <a:latin typeface="Times New Roman" panose="02020603050405020304" pitchFamily="18" charset="0"/>
                <a:cs typeface="Times New Roman" panose="02020603050405020304" pitchFamily="18" charset="0"/>
              </a:rPr>
              <a:t>, </a:t>
            </a:r>
            <a:r>
              <a:rPr lang="en-US" altLang="zh-CN" sz="1200" dirty="0">
                <a:solidFill>
                  <a:schemeClr val="bg1"/>
                </a:solidFill>
                <a:latin typeface="Times New Roman" panose="02020603050405020304" pitchFamily="18" charset="0"/>
                <a:cs typeface="Times New Roman" panose="02020603050405020304" pitchFamily="18" charset="0"/>
              </a:rPr>
              <a:t>x2</a:t>
            </a:r>
            <a:r>
              <a:rPr lang="zh-CN" altLang="zh-CN" sz="1200" dirty="0">
                <a:solidFill>
                  <a:schemeClr val="bg1"/>
                </a:solidFill>
                <a:latin typeface="Times New Roman" panose="02020603050405020304" pitchFamily="18" charset="0"/>
                <a:cs typeface="Times New Roman" panose="02020603050405020304" pitchFamily="18" charset="0"/>
              </a:rPr>
              <a:t>)</a:t>
            </a:r>
            <a:endParaRPr lang="en-US" altLang="zh-CN" sz="12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楷体" panose="02010609060101010101" pitchFamily="49" charset="-122"/>
                <a:ea typeface="楷体" panose="02010609060101010101" pitchFamily="49" charset="-122"/>
              </a:rPr>
              <a:t>从</a:t>
            </a:r>
            <a:r>
              <a:rPr lang="en-US" altLang="zh-CN" sz="1200" dirty="0">
                <a:latin typeface="楷体" panose="02010609060101010101" pitchFamily="49" charset="-122"/>
                <a:ea typeface="楷体" panose="02010609060101010101" pitchFamily="49" charset="-122"/>
              </a:rPr>
              <a:t>x1</a:t>
            </a:r>
            <a:r>
              <a:rPr lang="zh-CN" altLang="en-US" sz="1200" dirty="0">
                <a:latin typeface="楷体" panose="02010609060101010101" pitchFamily="49" charset="-122"/>
                <a:ea typeface="楷体" panose="02010609060101010101" pitchFamily="49" charset="-122"/>
              </a:rPr>
              <a:t>开始到</a:t>
            </a:r>
            <a:r>
              <a:rPr lang="en-US" altLang="zh-CN" sz="1200" dirty="0">
                <a:latin typeface="楷体" panose="02010609060101010101" pitchFamily="49" charset="-122"/>
                <a:ea typeface="楷体" panose="02010609060101010101" pitchFamily="49" charset="-122"/>
              </a:rPr>
              <a:t>x2</a:t>
            </a:r>
            <a:r>
              <a:rPr lang="zh-CN" altLang="en-US" sz="1200" dirty="0">
                <a:latin typeface="楷体" panose="02010609060101010101" pitchFamily="49" charset="-122"/>
                <a:ea typeface="楷体" panose="02010609060101010101" pitchFamily="49" charset="-122"/>
              </a:rPr>
              <a:t>结束，步长为</a:t>
            </a:r>
            <a:r>
              <a:rPr lang="en-US" altLang="zh-CN" sz="1200" dirty="0">
                <a:latin typeface="楷体" panose="02010609060101010101" pitchFamily="49" charset="-122"/>
                <a:ea typeface="楷体" panose="02010609060101010101" pitchFamily="49" charset="-122"/>
              </a:rPr>
              <a:t>1</a:t>
            </a:r>
            <a:r>
              <a:rPr lang="zh-CN" altLang="en-US" sz="1200" dirty="0">
                <a:latin typeface="楷体" panose="02010609060101010101" pitchFamily="49" charset="-122"/>
                <a:ea typeface="楷体" panose="02010609060101010101" pitchFamily="49" charset="-122"/>
              </a:rPr>
              <a:t>，最后值不超过</a:t>
            </a:r>
            <a:r>
              <a:rPr lang="en-US" altLang="zh-CN" sz="1200" dirty="0">
                <a:latin typeface="楷体" panose="02010609060101010101" pitchFamily="49" charset="-122"/>
                <a:ea typeface="楷体" panose="02010609060101010101" pitchFamily="49" charset="-122"/>
              </a:rPr>
              <a:t>x2</a:t>
            </a:r>
            <a:endParaRPr lang="zh-CN" altLang="en-US" sz="1200" dirty="0">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dirty="0">
                <a:solidFill>
                  <a:schemeClr val="bg1"/>
                </a:solidFill>
                <a:latin typeface="Times New Roman" panose="02020603050405020304" pitchFamily="18" charset="0"/>
                <a:cs typeface="Times New Roman" panose="02020603050405020304" pitchFamily="18" charset="0"/>
              </a:rPr>
              <a:t> </a:t>
            </a:r>
            <a:r>
              <a:rPr lang="zh-CN" altLang="zh-CN" sz="1200" b="1" kern="1800" dirty="0">
                <a:solidFill>
                  <a:srgbClr val="D57747"/>
                </a:solidFill>
                <a:latin typeface="Segoe UI" panose="020B0502040204020203" pitchFamily="34" charset="0"/>
                <a:ea typeface="宋体" panose="02010600030101010101" pitchFamily="2" charset="-122"/>
              </a:rPr>
              <a:t>UnitRange</a:t>
            </a:r>
            <a:r>
              <a:rPr lang="zh-CN" altLang="en-US" sz="1200" b="1" kern="1800" dirty="0">
                <a:solidFill>
                  <a:srgbClr val="D57747"/>
                </a:solidFill>
                <a:latin typeface="Segoe UI" panose="020B0502040204020203" pitchFamily="34" charset="0"/>
                <a:ea typeface="宋体" panose="02010600030101010101" pitchFamily="2" charset="-122"/>
              </a:rPr>
              <a:t>：</a:t>
            </a:r>
            <a:r>
              <a:rPr lang="zh-CN" altLang="zh-CN" sz="1200" b="1" dirty="0">
                <a:solidFill>
                  <a:srgbClr val="00B0F0"/>
                </a:solidFill>
                <a:latin typeface="微软雅黑" panose="020B0503020204020204" pitchFamily="34" charset="-122"/>
                <a:ea typeface="微软雅黑" panose="020B0503020204020204" pitchFamily="34" charset="-122"/>
              </a:rPr>
              <a:t>获取</a:t>
            </a:r>
            <a:r>
              <a:rPr lang="en-US" altLang="zh-CN" sz="1200" b="1" dirty="0">
                <a:solidFill>
                  <a:srgbClr val="00B0F0"/>
                </a:solidFill>
                <a:latin typeface="微软雅黑" panose="020B0503020204020204" pitchFamily="34" charset="-122"/>
                <a:ea typeface="微软雅黑" panose="020B0503020204020204" pitchFamily="34" charset="-122"/>
              </a:rPr>
              <a:t>step</a:t>
            </a:r>
            <a:r>
              <a:rPr lang="zh-CN" altLang="zh-CN" sz="1200" b="1" dirty="0">
                <a:solidFill>
                  <a:srgbClr val="00B0F0"/>
                </a:solidFill>
                <a:latin typeface="微软雅黑" panose="020B0503020204020204" pitchFamily="34" charset="-122"/>
                <a:ea typeface="微软雅黑" panose="020B0503020204020204" pitchFamily="34" charset="-122"/>
              </a:rPr>
              <a:t>步长为1的范围值</a:t>
            </a:r>
            <a:r>
              <a:rPr lang="en-US" altLang="zh-CN" sz="1200" b="1" dirty="0">
                <a:solidFill>
                  <a:srgbClr val="00B0F0"/>
                </a:solidFill>
                <a:latin typeface="微软雅黑" panose="020B0503020204020204" pitchFamily="34" charset="-122"/>
                <a:ea typeface="微软雅黑" panose="020B0503020204020204" pitchFamily="34" charset="-122"/>
              </a:rPr>
              <a:t> </a:t>
            </a:r>
            <a:endParaRPr lang="zh-CN" altLang="en-US" sz="1200" b="1" dirty="0">
              <a:solidFill>
                <a:srgbClr val="00B0F0"/>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sz="12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a:t>
            </a:fld>
            <a:endParaRPr lang="zh-CN" altLang="en-US"/>
          </a:p>
        </p:txBody>
      </p:sp>
    </p:spTree>
    <p:extLst>
      <p:ext uri="{BB962C8B-B14F-4D97-AF65-F5344CB8AC3E}">
        <p14:creationId xmlns:p14="http://schemas.microsoft.com/office/powerpoint/2010/main" val="777834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5</a:t>
            </a:fld>
            <a:endParaRPr lang="zh-CN" altLang="en-US"/>
          </a:p>
        </p:txBody>
      </p:sp>
    </p:spTree>
    <p:extLst>
      <p:ext uri="{BB962C8B-B14F-4D97-AF65-F5344CB8AC3E}">
        <p14:creationId xmlns:p14="http://schemas.microsoft.com/office/powerpoint/2010/main" val="3267784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0" dirty="0">
                <a:solidFill>
                  <a:srgbClr val="FF0000"/>
                </a:solidFill>
                <a:latin typeface="Times New Roman" panose="02020603050405020304" pitchFamily="18" charset="0"/>
                <a:cs typeface="Times New Roman" panose="02020603050405020304" pitchFamily="18" charset="0"/>
              </a:rPr>
              <a:t>ａｒｒｙ</a:t>
            </a:r>
            <a:r>
              <a:rPr lang="zh-CN" altLang="en-US" sz="1200" b="1" i="0" dirty="0">
                <a:solidFill>
                  <a:srgbClr val="FF0000"/>
                </a:solidFill>
                <a:effectLst/>
                <a:latin typeface="Times New Roman" panose="02020603050405020304" pitchFamily="18" charset="0"/>
                <a:cs typeface="Times New Roman" panose="02020603050405020304" pitchFamily="18" charset="0"/>
              </a:rPr>
              <a:t>指定数组类型及维度</a:t>
            </a:r>
            <a:endParaRPr lang="en-US" altLang="zh-CN" sz="1200" b="1" i="0" dirty="0">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chemeClr val="bg1"/>
                </a:solidFill>
                <a:highlight>
                  <a:srgbClr val="000080"/>
                </a:highlight>
              </a:rPr>
              <a:t>Array{type}(</a:t>
            </a:r>
            <a:r>
              <a:rPr lang="en-US" altLang="zh-CN" sz="1200" dirty="0" err="1">
                <a:solidFill>
                  <a:schemeClr val="bg1"/>
                </a:solidFill>
                <a:highlight>
                  <a:srgbClr val="000080"/>
                </a:highlight>
              </a:rPr>
              <a:t>undef</a:t>
            </a:r>
            <a:r>
              <a:rPr lang="en-US" altLang="zh-CN" sz="1200" dirty="0">
                <a:solidFill>
                  <a:schemeClr val="bg1"/>
                </a:solidFill>
                <a:highlight>
                  <a:srgbClr val="000080"/>
                </a:highlight>
              </a:rPr>
              <a:t>, dims...)</a:t>
            </a:r>
          </a:p>
          <a:p>
            <a:pPr algn="l" latinLnBrk="1"/>
            <a:r>
              <a:rPr lang="zh-CN" altLang="en-US" sz="1200" b="1" i="0" dirty="0">
                <a:solidFill>
                  <a:srgbClr val="333333"/>
                </a:solidFill>
                <a:effectLst/>
                <a:latin typeface="Helvetica Neue"/>
              </a:rPr>
              <a:t>Ｔｙｐｅ：数据类型</a:t>
            </a:r>
            <a:endParaRPr lang="en-US" altLang="zh-CN" sz="1200" b="1" i="0" dirty="0">
              <a:solidFill>
                <a:srgbClr val="333333"/>
              </a:solidFill>
              <a:effectLst/>
              <a:latin typeface="Helvetica Neue"/>
            </a:endParaRPr>
          </a:p>
          <a:p>
            <a:pPr algn="l" latinLnBrk="1"/>
            <a:r>
              <a:rPr lang="en-US" altLang="zh-CN" sz="1200" b="1" i="0" dirty="0" err="1">
                <a:solidFill>
                  <a:srgbClr val="333333"/>
                </a:solidFill>
                <a:effectLst/>
                <a:latin typeface="Helvetica Neue"/>
              </a:rPr>
              <a:t>undef</a:t>
            </a:r>
            <a:r>
              <a:rPr lang="zh-CN" altLang="en-US" sz="1200" b="0" i="0" dirty="0">
                <a:solidFill>
                  <a:srgbClr val="333333"/>
                </a:solidFill>
                <a:effectLst/>
                <a:latin typeface="Helvetica Neue"/>
              </a:rPr>
              <a:t> ：表示数组未初始化。</a:t>
            </a:r>
          </a:p>
          <a:p>
            <a:pPr algn="l" latinLnBrk="1"/>
            <a:r>
              <a:rPr lang="zh-CN" altLang="en-US" sz="1200" b="1" dirty="0">
                <a:solidFill>
                  <a:srgbClr val="333333"/>
                </a:solidFill>
                <a:latin typeface="Helvetica Neue"/>
              </a:rPr>
              <a:t>ｄ</a:t>
            </a:r>
            <a:r>
              <a:rPr lang="en-US" altLang="zh-CN" sz="1200" b="1" i="0" dirty="0" err="1">
                <a:solidFill>
                  <a:srgbClr val="333333"/>
                </a:solidFill>
                <a:effectLst/>
                <a:latin typeface="Helvetica Neue"/>
              </a:rPr>
              <a:t>ims</a:t>
            </a:r>
            <a:r>
              <a:rPr lang="zh-CN" altLang="en-US" sz="1200" b="1" i="0" dirty="0">
                <a:solidFill>
                  <a:srgbClr val="333333"/>
                </a:solidFill>
                <a:effectLst/>
                <a:latin typeface="Helvetica Neue"/>
              </a:rPr>
              <a:t>：</a:t>
            </a:r>
            <a:r>
              <a:rPr lang="zh-CN" altLang="en-US" sz="1200" b="0" i="0" dirty="0">
                <a:solidFill>
                  <a:srgbClr val="333333"/>
                </a:solidFill>
                <a:effectLst/>
                <a:latin typeface="Helvetica Neue"/>
              </a:rPr>
              <a:t>可以是维度的单多元组，也可以是维度作为可变参数时的一组值。</a:t>
            </a:r>
          </a:p>
          <a:p>
            <a:pPr algn="l" latinLnBrk="1"/>
            <a:r>
              <a:rPr lang="zh-CN" altLang="en-US" sz="1200" b="1" dirty="0">
                <a:solidFill>
                  <a:srgbClr val="333333"/>
                </a:solidFill>
                <a:latin typeface="Helvetica Neue"/>
              </a:rPr>
              <a:t>ｄ</a:t>
            </a:r>
            <a:r>
              <a:rPr lang="en-US" altLang="zh-CN" sz="1200" b="1" i="0" dirty="0" err="1">
                <a:solidFill>
                  <a:srgbClr val="333333"/>
                </a:solidFill>
                <a:effectLst/>
                <a:latin typeface="Helvetica Neue"/>
              </a:rPr>
              <a:t>ims</a:t>
            </a:r>
            <a:r>
              <a:rPr lang="zh-CN" altLang="en-US" sz="1200" b="1" i="0" dirty="0">
                <a:solidFill>
                  <a:srgbClr val="333333"/>
                </a:solidFill>
                <a:effectLst/>
                <a:latin typeface="Helvetica Neue"/>
              </a:rPr>
              <a:t>：</a:t>
            </a:r>
            <a:r>
              <a:rPr lang="zh-CN" altLang="en-US" sz="1200" b="0" i="0" dirty="0">
                <a:solidFill>
                  <a:srgbClr val="333333"/>
                </a:solidFill>
                <a:effectLst/>
                <a:latin typeface="Helvetica Neue"/>
              </a:rPr>
              <a:t> 数字表示元素个数，多个维度使用逗号 </a:t>
            </a:r>
            <a:r>
              <a:rPr lang="en-US" altLang="zh-CN" sz="1200" b="1" i="0" dirty="0">
                <a:solidFill>
                  <a:srgbClr val="333333"/>
                </a:solidFill>
                <a:effectLst/>
                <a:latin typeface="SFMono-Regular"/>
              </a:rPr>
              <a:t>,</a:t>
            </a:r>
            <a:r>
              <a:rPr lang="zh-CN" altLang="en-US" sz="1200" b="0" i="0" dirty="0">
                <a:solidFill>
                  <a:srgbClr val="333333"/>
                </a:solidFill>
                <a:effectLst/>
                <a:latin typeface="Helvetica Neue"/>
              </a:rPr>
              <a:t> 分隔</a:t>
            </a:r>
            <a:endParaRPr lang="zh-CN" altLang="en-US" sz="1200" dirty="0">
              <a:solidFill>
                <a:schemeClr val="bg1"/>
              </a:solidFill>
              <a:highlight>
                <a:srgbClr val="000080"/>
              </a:highligh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0" dirty="0">
              <a:solidFill>
                <a:srgbClr val="FF0000"/>
              </a:solidFill>
              <a:effectLst/>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7</a:t>
            </a:fld>
            <a:endParaRPr lang="zh-CN" altLang="en-US"/>
          </a:p>
        </p:txBody>
      </p:sp>
    </p:spTree>
    <p:extLst>
      <p:ext uri="{BB962C8B-B14F-4D97-AF65-F5344CB8AC3E}">
        <p14:creationId xmlns:p14="http://schemas.microsoft.com/office/powerpoint/2010/main" val="864453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8</a:t>
            </a:fld>
            <a:endParaRPr lang="zh-CN" altLang="en-US"/>
          </a:p>
        </p:txBody>
      </p:sp>
    </p:spTree>
    <p:extLst>
      <p:ext uri="{BB962C8B-B14F-4D97-AF65-F5344CB8AC3E}">
        <p14:creationId xmlns:p14="http://schemas.microsoft.com/office/powerpoint/2010/main" val="4180795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9</a:t>
            </a:fld>
            <a:endParaRPr lang="zh-CN" altLang="en-US"/>
          </a:p>
        </p:txBody>
      </p:sp>
    </p:spTree>
    <p:extLst>
      <p:ext uri="{BB962C8B-B14F-4D97-AF65-F5344CB8AC3E}">
        <p14:creationId xmlns:p14="http://schemas.microsoft.com/office/powerpoint/2010/main" val="1485789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s-ES" altLang="zh-CN" dirty="0"/>
              <a:t>julia&gt; magic(2)</a:t>
            </a:r>
          </a:p>
          <a:p>
            <a:r>
              <a:rPr lang="es-ES" altLang="zh-CN" dirty="0"/>
              <a:t>2×2 Matrix{Int64}:</a:t>
            </a:r>
          </a:p>
          <a:p>
            <a:r>
              <a:rPr lang="es-ES" altLang="zh-CN" dirty="0"/>
              <a:t> 1  3</a:t>
            </a:r>
          </a:p>
          <a:p>
            <a:r>
              <a:rPr lang="es-ES" altLang="zh-CN" dirty="0"/>
              <a:t> 4  2</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10</a:t>
            </a:fld>
            <a:endParaRPr lang="zh-CN" altLang="en-US"/>
          </a:p>
        </p:txBody>
      </p:sp>
    </p:spTree>
    <p:extLst>
      <p:ext uri="{BB962C8B-B14F-4D97-AF65-F5344CB8AC3E}">
        <p14:creationId xmlns:p14="http://schemas.microsoft.com/office/powerpoint/2010/main" val="795463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11</a:t>
            </a:fld>
            <a:endParaRPr lang="zh-CN" altLang="en-US"/>
          </a:p>
        </p:txBody>
      </p:sp>
    </p:spTree>
    <p:extLst>
      <p:ext uri="{BB962C8B-B14F-4D97-AF65-F5344CB8AC3E}">
        <p14:creationId xmlns:p14="http://schemas.microsoft.com/office/powerpoint/2010/main" val="1819096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12</a:t>
            </a:fld>
            <a:endParaRPr lang="zh-CN" altLang="en-US"/>
          </a:p>
        </p:txBody>
      </p:sp>
    </p:spTree>
    <p:extLst>
      <p:ext uri="{BB962C8B-B14F-4D97-AF65-F5344CB8AC3E}">
        <p14:creationId xmlns:p14="http://schemas.microsoft.com/office/powerpoint/2010/main" val="2217672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13</a:t>
            </a:fld>
            <a:endParaRPr lang="zh-CN" altLang="en-US"/>
          </a:p>
        </p:txBody>
      </p:sp>
    </p:spTree>
    <p:extLst>
      <p:ext uri="{BB962C8B-B14F-4D97-AF65-F5344CB8AC3E}">
        <p14:creationId xmlns:p14="http://schemas.microsoft.com/office/powerpoint/2010/main" val="1468342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0070C0"/>
                </a:solidFill>
                <a:latin typeface="隶书" panose="02010509060101010101" pitchFamily="49" charset="-122"/>
                <a:ea typeface="隶书" panose="02010509060101010101" pitchFamily="49" charset="-122"/>
              </a:rPr>
              <a:t>通过下标可知元素位置从而实现对</a:t>
            </a:r>
            <a:r>
              <a:rPr lang="en-US" altLang="zh-CN" sz="1200" dirty="0">
                <a:solidFill>
                  <a:srgbClr val="0070C0"/>
                </a:solidFill>
                <a:latin typeface="隶书" panose="02010509060101010101" pitchFamily="49" charset="-122"/>
                <a:ea typeface="隶书" panose="02010509060101010101" pitchFamily="49" charset="-122"/>
              </a:rPr>
              <a:t>A</a:t>
            </a:r>
            <a:r>
              <a:rPr lang="zh-CN" altLang="en-US" sz="1200" dirty="0">
                <a:solidFill>
                  <a:srgbClr val="0070C0"/>
                </a:solidFill>
                <a:latin typeface="隶书" panose="02010509060101010101" pitchFamily="49" charset="-122"/>
                <a:ea typeface="隶书" panose="02010509060101010101" pitchFamily="49" charset="-122"/>
              </a:rPr>
              <a:t>矩阵中元素的访问、修改和提取</a:t>
            </a:r>
            <a:endParaRPr lang="en-US" altLang="zh-CN" sz="1200" dirty="0">
              <a:solidFill>
                <a:srgbClr val="0070C0"/>
              </a:solidFill>
              <a:latin typeface="隶书" panose="02010509060101010101" pitchFamily="49" charset="-122"/>
              <a:ea typeface="隶书" panose="02010509060101010101" pitchFamily="49" charset="-122"/>
              <a:sym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14</a:t>
            </a:fld>
            <a:endParaRPr lang="zh-CN" altLang="en-US"/>
          </a:p>
        </p:txBody>
      </p:sp>
    </p:spTree>
    <p:extLst>
      <p:ext uri="{BB962C8B-B14F-4D97-AF65-F5344CB8AC3E}">
        <p14:creationId xmlns:p14="http://schemas.microsoft.com/office/powerpoint/2010/main" val="1250843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15</a:t>
            </a:fld>
            <a:endParaRPr lang="zh-CN" altLang="en-US"/>
          </a:p>
        </p:txBody>
      </p:sp>
    </p:spTree>
    <p:extLst>
      <p:ext uri="{BB962C8B-B14F-4D97-AF65-F5344CB8AC3E}">
        <p14:creationId xmlns:p14="http://schemas.microsoft.com/office/powerpoint/2010/main" val="70645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16</a:t>
            </a:fld>
            <a:endParaRPr lang="zh-CN" altLang="en-US"/>
          </a:p>
        </p:txBody>
      </p:sp>
    </p:spTree>
    <p:extLst>
      <p:ext uri="{BB962C8B-B14F-4D97-AF65-F5344CB8AC3E}">
        <p14:creationId xmlns:p14="http://schemas.microsoft.com/office/powerpoint/2010/main" val="571320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ts val="3100"/>
              </a:lnSpc>
              <a:spcAft>
                <a:spcPts val="0"/>
              </a:spcAft>
            </a:pPr>
            <a:r>
              <a:rPr lang="en-US" altLang="zh-CN" kern="100" dirty="0">
                <a:solidFill>
                  <a:srgbClr val="FFFF00"/>
                </a:solidFill>
                <a:highlight>
                  <a:srgbClr val="FF0000"/>
                </a:highlight>
                <a:latin typeface="Times New Roman" panose="02020603050405020304" pitchFamily="18" charset="0"/>
                <a:ea typeface="宋体" panose="02010600030101010101" pitchFamily="2" charset="-122"/>
              </a:rPr>
              <a:t>w=0:0.2pi:2*pi; </a:t>
            </a:r>
          </a:p>
          <a:p>
            <a:pPr algn="just">
              <a:lnSpc>
                <a:spcPts val="3100"/>
              </a:lnSpc>
              <a:spcAft>
                <a:spcPts val="0"/>
              </a:spcAft>
            </a:pP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=meshgrid2(w);   </a:t>
            </a:r>
          </a:p>
          <a:p>
            <a:pPr algn="just">
              <a:lnSpc>
                <a:spcPts val="3100"/>
              </a:lnSpc>
              <a:spcAft>
                <a:spcPts val="0"/>
              </a:spcAft>
            </a:pPr>
            <a:r>
              <a:rPr lang="en-US" altLang="zh-CN" kern="100" dirty="0">
                <a:latin typeface="Times New Roman" panose="02020603050405020304" pitchFamily="18" charset="0"/>
                <a:ea typeface="宋体" panose="02010600030101010101" pitchFamily="2" charset="-122"/>
              </a:rPr>
              <a:t>xx(</a:t>
            </a: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)=(6+2cos(u))*cos(v);  </a:t>
            </a:r>
          </a:p>
          <a:p>
            <a:pPr algn="just">
              <a:lnSpc>
                <a:spcPts val="3100"/>
              </a:lnSpc>
              <a:spcAft>
                <a:spcPts val="0"/>
              </a:spcAft>
            </a:pPr>
            <a:r>
              <a:rPr lang="en-US" altLang="zh-CN" kern="100" dirty="0" err="1">
                <a:latin typeface="Times New Roman" panose="02020603050405020304" pitchFamily="18" charset="0"/>
                <a:ea typeface="宋体" panose="02010600030101010101" pitchFamily="2" charset="-122"/>
              </a:rPr>
              <a:t>yy</a:t>
            </a:r>
            <a:r>
              <a:rPr lang="en-US" altLang="zh-CN" kern="100" dirty="0">
                <a:latin typeface="Times New Roman" panose="02020603050405020304" pitchFamily="18" charset="0"/>
                <a:ea typeface="宋体" panose="02010600030101010101" pitchFamily="2" charset="-122"/>
              </a:rPr>
              <a:t>(</a:t>
            </a: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)=(6+2cos(u))*sin.(v);      </a:t>
            </a:r>
          </a:p>
          <a:p>
            <a:pPr algn="just">
              <a:lnSpc>
                <a:spcPts val="3100"/>
              </a:lnSpc>
              <a:spcAft>
                <a:spcPts val="0"/>
              </a:spcAft>
            </a:pPr>
            <a:r>
              <a:rPr lang="en-US" altLang="zh-CN" kern="100" dirty="0" err="1">
                <a:latin typeface="Times New Roman" panose="02020603050405020304" pitchFamily="18" charset="0"/>
                <a:ea typeface="宋体" panose="02010600030101010101" pitchFamily="2" charset="-122"/>
              </a:rPr>
              <a:t>zz</a:t>
            </a:r>
            <a:r>
              <a:rPr lang="en-US" altLang="zh-CN" kern="100" dirty="0">
                <a:latin typeface="Times New Roman" panose="02020603050405020304" pitchFamily="18" charset="0"/>
                <a:ea typeface="宋体" panose="02010600030101010101" pitchFamily="2" charset="-122"/>
              </a:rPr>
              <a:t>(v)=2sin(v);     </a:t>
            </a:r>
          </a:p>
          <a:p>
            <a:pPr algn="just">
              <a:lnSpc>
                <a:spcPts val="3100"/>
              </a:lnSpc>
              <a:spcAft>
                <a:spcPts val="0"/>
              </a:spcAft>
            </a:pPr>
            <a:r>
              <a:rPr lang="en-US" altLang="zh-CN" kern="100" dirty="0">
                <a:latin typeface="Times New Roman" panose="02020603050405020304" pitchFamily="18" charset="0"/>
                <a:ea typeface="宋体" panose="02010600030101010101" pitchFamily="2" charset="-122"/>
              </a:rPr>
              <a:t>surf(xx.(</a:t>
            </a: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a:t>
            </a:r>
            <a:r>
              <a:rPr lang="en-US" altLang="zh-CN" kern="100" dirty="0" err="1">
                <a:latin typeface="Times New Roman" panose="02020603050405020304" pitchFamily="18" charset="0"/>
                <a:ea typeface="宋体" panose="02010600030101010101" pitchFamily="2" charset="-122"/>
              </a:rPr>
              <a:t>yy</a:t>
            </a:r>
            <a:r>
              <a:rPr lang="en-US" altLang="zh-CN" kern="100" dirty="0">
                <a:latin typeface="Times New Roman" panose="02020603050405020304" pitchFamily="18" charset="0"/>
                <a:ea typeface="宋体" panose="02010600030101010101" pitchFamily="2" charset="-122"/>
              </a:rPr>
              <a:t>.(</a:t>
            </a: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a:t>
            </a:r>
            <a:r>
              <a:rPr lang="en-US" altLang="zh-CN" kern="100" dirty="0" err="1">
                <a:latin typeface="Times New Roman" panose="02020603050405020304" pitchFamily="18" charset="0"/>
                <a:ea typeface="宋体" panose="02010600030101010101" pitchFamily="2" charset="-122"/>
              </a:rPr>
              <a:t>zz</a:t>
            </a:r>
            <a:r>
              <a:rPr lang="en-US" altLang="zh-CN" kern="100" dirty="0">
                <a:latin typeface="Times New Roman" panose="02020603050405020304" pitchFamily="18" charset="0"/>
                <a:ea typeface="宋体" panose="02010600030101010101" pitchFamily="2" charset="-122"/>
              </a:rPr>
              <a:t>.(v)); </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17</a:t>
            </a:fld>
            <a:endParaRPr lang="zh-CN" altLang="en-US"/>
          </a:p>
        </p:txBody>
      </p:sp>
    </p:spTree>
    <p:extLst>
      <p:ext uri="{BB962C8B-B14F-4D97-AF65-F5344CB8AC3E}">
        <p14:creationId xmlns:p14="http://schemas.microsoft.com/office/powerpoint/2010/main" val="828078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nSpc>
                <a:spcPts val="3300"/>
              </a:lnSpc>
              <a:buFont typeface="+mj-ea"/>
              <a:buAutoNum type="circleNumDbPlain"/>
            </a:pPr>
            <a:endParaRPr lang="en-US" altLang="zh-CN" dirty="0">
              <a:solidFill>
                <a:srgbClr val="0070C0"/>
              </a:solidFill>
              <a:latin typeface="微软雅黑" panose="020B0503020204020204" pitchFamily="34" charset="-122"/>
              <a:ea typeface="微软雅黑" panose="020B0503020204020204" pitchFamily="34" charset="-122"/>
            </a:endParaRPr>
          </a:p>
          <a:p>
            <a:pPr marL="0" indent="0">
              <a:lnSpc>
                <a:spcPts val="3300"/>
              </a:lnSpc>
              <a:buFont typeface="+mj-ea"/>
              <a:buNone/>
            </a:pPr>
            <a:r>
              <a:rPr lang="es-ES" altLang="zh-CN" dirty="0">
                <a:solidFill>
                  <a:srgbClr val="0070C0"/>
                </a:solidFill>
                <a:latin typeface="微软雅黑" panose="020B0503020204020204" pitchFamily="34" charset="-122"/>
                <a:ea typeface="微软雅黑" panose="020B0503020204020204" pitchFamily="34" charset="-122"/>
              </a:rPr>
              <a:t>z(x,y)=cos(200/(3sqrt(x^2+y^2)))</a:t>
            </a:r>
            <a:endParaRPr lang="en-US" altLang="zh-CN" dirty="0">
              <a:solidFill>
                <a:srgbClr val="0070C0"/>
              </a:solidFill>
              <a:latin typeface="微软雅黑" panose="020B0503020204020204" pitchFamily="34" charset="-122"/>
              <a:ea typeface="微软雅黑" panose="020B0503020204020204" pitchFamily="34" charset="-122"/>
            </a:endParaRPr>
          </a:p>
          <a:p>
            <a:pPr marL="342900" indent="-342900">
              <a:lnSpc>
                <a:spcPts val="3300"/>
              </a:lnSpc>
              <a:buFont typeface="+mj-ea"/>
              <a:buAutoNum type="circleNumDbPlain"/>
            </a:pPr>
            <a:endParaRPr lang="en-US" altLang="zh-CN" dirty="0">
              <a:solidFill>
                <a:srgbClr val="0070C0"/>
              </a:solidFill>
              <a:latin typeface="微软雅黑" panose="020B0503020204020204" pitchFamily="34" charset="-122"/>
              <a:ea typeface="微软雅黑" panose="020B0503020204020204" pitchFamily="34" charset="-122"/>
            </a:endParaRPr>
          </a:p>
          <a:p>
            <a:pPr marL="342900" indent="-342900">
              <a:lnSpc>
                <a:spcPts val="3300"/>
              </a:lnSpc>
              <a:buFont typeface="+mj-ea"/>
              <a:buAutoNum type="circleNumDbPlain"/>
            </a:pPr>
            <a:r>
              <a:rPr lang="zh-CN" altLang="en-US" dirty="0">
                <a:solidFill>
                  <a:srgbClr val="0070C0"/>
                </a:solidFill>
                <a:latin typeface="微软雅黑" panose="020B0503020204020204" pitchFamily="34" charset="-122"/>
                <a:ea typeface="微软雅黑" panose="020B0503020204020204" pitchFamily="34" charset="-122"/>
              </a:rPr>
              <a:t>用冒号法用步长为</a:t>
            </a:r>
            <a:r>
              <a:rPr lang="en-US" altLang="zh-CN" dirty="0">
                <a:solidFill>
                  <a:srgbClr val="0070C0"/>
                </a:solidFill>
                <a:latin typeface="微软雅黑" panose="020B0503020204020204" pitchFamily="34" charset="-122"/>
                <a:ea typeface="微软雅黑" panose="020B0503020204020204" pitchFamily="34" charset="-122"/>
              </a:rPr>
              <a:t>0.01pi</a:t>
            </a:r>
            <a:r>
              <a:rPr lang="zh-CN" altLang="en-US" dirty="0">
                <a:solidFill>
                  <a:srgbClr val="0070C0"/>
                </a:solidFill>
                <a:latin typeface="微软雅黑" panose="020B0503020204020204" pitchFamily="34" charset="-122"/>
                <a:ea typeface="微软雅黑" panose="020B0503020204020204" pitchFamily="34" charset="-122"/>
              </a:rPr>
              <a:t>绘制封闭的环</a:t>
            </a:r>
            <a:endParaRPr lang="en-US" altLang="zh-CN" dirty="0">
              <a:solidFill>
                <a:srgbClr val="0070C0"/>
              </a:solidFill>
              <a:latin typeface="微软雅黑" panose="020B0503020204020204" pitchFamily="34" charset="-122"/>
              <a:ea typeface="微软雅黑" panose="020B0503020204020204" pitchFamily="34" charset="-122"/>
            </a:endParaRPr>
          </a:p>
          <a:p>
            <a:pPr marL="342900" indent="-342900">
              <a:lnSpc>
                <a:spcPts val="3300"/>
              </a:lnSpc>
              <a:buFont typeface="+mj-ea"/>
              <a:buAutoNum type="circleNumDbPlain"/>
            </a:pPr>
            <a:r>
              <a:rPr lang="zh-CN" altLang="en-US" dirty="0">
                <a:solidFill>
                  <a:srgbClr val="0070C0"/>
                </a:solidFill>
                <a:latin typeface="微软雅黑" panose="020B0503020204020204" pitchFamily="34" charset="-122"/>
                <a:ea typeface="微软雅黑" panose="020B0503020204020204" pitchFamily="34" charset="-122"/>
              </a:rPr>
              <a:t>在命令行窗口运行</a:t>
            </a:r>
            <a:r>
              <a:rPr lang="en-US" altLang="zh-CN" dirty="0">
                <a:solidFill>
                  <a:srgbClr val="0070C0"/>
                </a:solidFill>
                <a:latin typeface="微软雅黑" panose="020B0503020204020204" pitchFamily="34" charset="-122"/>
                <a:ea typeface="微软雅黑" panose="020B0503020204020204" pitchFamily="34" charset="-122"/>
              </a:rPr>
              <a:t>w=0:0.01pi:2pi</a:t>
            </a:r>
            <a:r>
              <a:rPr lang="zh-CN" altLang="en-US" dirty="0">
                <a:solidFill>
                  <a:srgbClr val="0070C0"/>
                </a:solidFill>
                <a:latin typeface="微软雅黑" panose="020B0503020204020204" pitchFamily="34" charset="-122"/>
                <a:ea typeface="微软雅黑" panose="020B0503020204020204" pitchFamily="34" charset="-122"/>
              </a:rPr>
              <a:t>，观察终止值是否是</a:t>
            </a:r>
            <a:r>
              <a:rPr lang="en-US" altLang="zh-CN" dirty="0">
                <a:solidFill>
                  <a:srgbClr val="0070C0"/>
                </a:solidFill>
                <a:latin typeface="微软雅黑" panose="020B0503020204020204" pitchFamily="34" charset="-122"/>
                <a:ea typeface="微软雅黑" panose="020B0503020204020204" pitchFamily="34" charset="-122"/>
              </a:rPr>
              <a:t>2pi</a:t>
            </a:r>
            <a:r>
              <a:rPr lang="zh-CN" altLang="en-US" dirty="0">
                <a:solidFill>
                  <a:srgbClr val="0070C0"/>
                </a:solidFill>
                <a:latin typeface="微软雅黑" panose="020B0503020204020204" pitchFamily="34" charset="-122"/>
                <a:ea typeface="微软雅黑" panose="020B0503020204020204" pitchFamily="34" charset="-122"/>
              </a:rPr>
              <a:t>？</a:t>
            </a:r>
            <a:endParaRPr lang="en-US" altLang="zh-CN" dirty="0">
              <a:solidFill>
                <a:srgbClr val="0070C0"/>
              </a:solidFill>
              <a:latin typeface="微软雅黑" panose="020B0503020204020204" pitchFamily="34" charset="-122"/>
              <a:ea typeface="微软雅黑" panose="020B0503020204020204" pitchFamily="34" charset="-122"/>
            </a:endParaRPr>
          </a:p>
          <a:p>
            <a:endParaRPr lang="en-US" altLang="zh-CN" dirty="0"/>
          </a:p>
          <a:p>
            <a:r>
              <a:rPr lang="en-US" altLang="zh-CN" dirty="0"/>
              <a:t>w=0:0.01pi:2pi</a:t>
            </a:r>
          </a:p>
          <a:p>
            <a:r>
              <a:rPr lang="en-US" altLang="zh-CN" dirty="0"/>
              <a:t>0.0:0.031415926535897934:6.2517693806436885</a:t>
            </a:r>
          </a:p>
          <a:p>
            <a:r>
              <a:rPr lang="zh-CN" altLang="en-US" dirty="0"/>
              <a:t>julia&gt; 2pi</a:t>
            </a:r>
          </a:p>
          <a:p>
            <a:r>
              <a:rPr lang="zh-CN" altLang="en-US" dirty="0"/>
              <a:t>6.283185307179586</a:t>
            </a:r>
          </a:p>
          <a:p>
            <a:endParaRPr lang="zh-CN" altLang="en-US" dirty="0"/>
          </a:p>
          <a:p>
            <a:r>
              <a:rPr lang="zh-CN" altLang="en-US" dirty="0"/>
              <a:t>julia&gt; w[end]</a:t>
            </a:r>
          </a:p>
          <a:p>
            <a:r>
              <a:rPr lang="zh-CN" altLang="en-US" dirty="0"/>
              <a:t>6.2517693806436885</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18</a:t>
            </a:fld>
            <a:endParaRPr lang="zh-CN" altLang="en-US"/>
          </a:p>
        </p:txBody>
      </p:sp>
    </p:spTree>
    <p:extLst>
      <p:ext uri="{BB962C8B-B14F-4D97-AF65-F5344CB8AC3E}">
        <p14:creationId xmlns:p14="http://schemas.microsoft.com/office/powerpoint/2010/main" val="1833100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212121"/>
                </a:solidFill>
                <a:effectLst/>
                <a:latin typeface="微软雅黑" panose="020B0503020204020204" pitchFamily="34" charset="-122"/>
                <a:ea typeface="微软雅黑" panose="020B0503020204020204" pitchFamily="34" charset="-122"/>
              </a:rPr>
              <a:t>避免在收集（collections）中出现</a:t>
            </a:r>
            <a:r>
              <a:rPr kumimoji="0" lang="zh-CN" altLang="zh-CN" sz="1200" b="0" i="0" u="none" strike="noStrike" cap="none" normalizeH="0" baseline="0" dirty="0">
                <a:ln>
                  <a:noFill/>
                </a:ln>
                <a:solidFill>
                  <a:srgbClr val="A31515"/>
                </a:solidFill>
                <a:effectLst/>
                <a:latin typeface="Arial Unicode MS"/>
                <a:ea typeface="source-code-pro"/>
              </a:rPr>
              <a:t>Any</a:t>
            </a:r>
            <a:endParaRPr kumimoji="0" lang="zh-CN" altLang="zh-CN" sz="1200" b="0" i="0" u="none" strike="noStrike" cap="none" normalizeH="0" baseline="0" dirty="0">
              <a:ln>
                <a:noFill/>
              </a:ln>
              <a:solidFill>
                <a:srgbClr val="21212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212121"/>
                </a:solidFill>
                <a:effectLst/>
                <a:latin typeface="微软雅黑" panose="020B0503020204020204" pitchFamily="34" charset="-122"/>
                <a:ea typeface="微软雅黑" panose="020B0503020204020204" pitchFamily="34" charset="-122"/>
              </a:rPr>
              <a:t>避免在收集（collections）中使用抽象类型</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19</a:t>
            </a:fld>
            <a:endParaRPr lang="zh-CN" altLang="en-US"/>
          </a:p>
        </p:txBody>
      </p:sp>
    </p:spTree>
    <p:extLst>
      <p:ext uri="{BB962C8B-B14F-4D97-AF65-F5344CB8AC3E}">
        <p14:creationId xmlns:p14="http://schemas.microsoft.com/office/powerpoint/2010/main" val="1371180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20</a:t>
            </a:fld>
            <a:endParaRPr lang="zh-CN" altLang="en-US"/>
          </a:p>
        </p:txBody>
      </p:sp>
    </p:spTree>
    <p:extLst>
      <p:ext uri="{BB962C8B-B14F-4D97-AF65-F5344CB8AC3E}">
        <p14:creationId xmlns:p14="http://schemas.microsoft.com/office/powerpoint/2010/main" val="2948096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b="1" dirty="0">
                <a:solidFill>
                  <a:srgbClr val="D57747"/>
                </a:solidFill>
                <a:latin typeface="Arial" panose="020B0604020202020204" pitchFamily="34" charset="0"/>
                <a:ea typeface="-apple-system"/>
              </a:rPr>
              <a:t>DataFrame</a:t>
            </a:r>
            <a:r>
              <a:rPr lang="zh-CN" altLang="en-US" sz="1200" dirty="0">
                <a:solidFill>
                  <a:srgbClr val="2C3E50"/>
                </a:solidFill>
                <a:latin typeface="华文楷体" panose="02010600040101010101" pitchFamily="2" charset="-122"/>
                <a:ea typeface="华文楷体" panose="02010600040101010101" pitchFamily="2" charset="-122"/>
              </a:rPr>
              <a:t>根据键值对</a:t>
            </a:r>
            <a:r>
              <a:rPr lang="zh-CN" altLang="en-US" sz="1200" b="1" dirty="0">
                <a:solidFill>
                  <a:srgbClr val="D57747"/>
                </a:solidFill>
                <a:latin typeface="Arial" panose="020B0604020202020204" pitchFamily="34" charset="0"/>
                <a:ea typeface="-apple-system"/>
              </a:rPr>
              <a:t>创建</a:t>
            </a:r>
            <a:r>
              <a:rPr lang="zh-CN" altLang="zh-CN" sz="1200" dirty="0">
                <a:solidFill>
                  <a:srgbClr val="2C3E50"/>
                </a:solidFill>
                <a:latin typeface="-apple-system"/>
                <a:ea typeface="华文楷体" panose="02010600040101010101" pitchFamily="2" charset="-122"/>
              </a:rPr>
              <a:t>有命名变量</a:t>
            </a:r>
            <a:r>
              <a:rPr lang="zh-CN" altLang="en-US" sz="1200" b="1" dirty="0">
                <a:solidFill>
                  <a:srgbClr val="D57747"/>
                </a:solidFill>
                <a:latin typeface="Arial" panose="020B0604020202020204" pitchFamily="34" charset="0"/>
                <a:ea typeface="-apple-system"/>
              </a:rPr>
              <a:t>表格</a:t>
            </a:r>
            <a:endParaRPr lang="en-US" altLang="zh-CN" sz="1200" b="1" dirty="0">
              <a:solidFill>
                <a:srgbClr val="D57747"/>
              </a:solidFill>
              <a:latin typeface="Arial" panose="020B0604020202020204" pitchFamily="34" charset="0"/>
              <a:ea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chemeClr val="bg1"/>
                </a:solidFill>
                <a:latin typeface="Times New Roman" panose="02020603050405020304" pitchFamily="18" charset="0"/>
                <a:cs typeface="Times New Roman" panose="02020603050405020304" pitchFamily="18" charset="0"/>
              </a:rPr>
              <a:t>D=</a:t>
            </a:r>
            <a:r>
              <a:rPr lang="en-US" altLang="zh-CN" sz="1200" dirty="0" err="1">
                <a:solidFill>
                  <a:schemeClr val="bg1"/>
                </a:solidFill>
                <a:latin typeface="Times New Roman" panose="02020603050405020304" pitchFamily="18" charset="0"/>
                <a:cs typeface="Times New Roman" panose="02020603050405020304" pitchFamily="18" charset="0"/>
              </a:rPr>
              <a:t>DataFrame</a:t>
            </a:r>
            <a:r>
              <a:rPr lang="en-US" altLang="zh-CN" sz="1200" dirty="0">
                <a:solidFill>
                  <a:schemeClr val="bg1"/>
                </a:solidFill>
                <a:latin typeface="Times New Roman" panose="02020603050405020304" pitchFamily="18" charset="0"/>
                <a:cs typeface="Times New Roman" panose="02020603050405020304" pitchFamily="18" charset="0"/>
              </a:rPr>
              <a:t>(pairs::Pair)</a:t>
            </a:r>
            <a:endParaRPr lang="zh-CN" altLang="en-US" sz="12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22</a:t>
            </a:fld>
            <a:endParaRPr lang="zh-CN" altLang="en-US"/>
          </a:p>
        </p:txBody>
      </p:sp>
    </p:spTree>
    <p:extLst>
      <p:ext uri="{BB962C8B-B14F-4D97-AF65-F5344CB8AC3E}">
        <p14:creationId xmlns:p14="http://schemas.microsoft.com/office/powerpoint/2010/main" val="5919679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25</a:t>
            </a:fld>
            <a:endParaRPr lang="zh-CN" altLang="en-US"/>
          </a:p>
        </p:txBody>
      </p:sp>
    </p:spTree>
    <p:extLst>
      <p:ext uri="{BB962C8B-B14F-4D97-AF65-F5344CB8AC3E}">
        <p14:creationId xmlns:p14="http://schemas.microsoft.com/office/powerpoint/2010/main" val="32313025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27</a:t>
            </a:fld>
            <a:endParaRPr lang="zh-CN" altLang="en-US"/>
          </a:p>
        </p:txBody>
      </p:sp>
    </p:spTree>
    <p:extLst>
      <p:ext uri="{BB962C8B-B14F-4D97-AF65-F5344CB8AC3E}">
        <p14:creationId xmlns:p14="http://schemas.microsoft.com/office/powerpoint/2010/main" val="1695608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28</a:t>
            </a:fld>
            <a:endParaRPr lang="zh-CN" altLang="en-US"/>
          </a:p>
        </p:txBody>
      </p:sp>
    </p:spTree>
    <p:extLst>
      <p:ext uri="{BB962C8B-B14F-4D97-AF65-F5344CB8AC3E}">
        <p14:creationId xmlns:p14="http://schemas.microsoft.com/office/powerpoint/2010/main" val="2435029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29</a:t>
            </a:fld>
            <a:endParaRPr lang="zh-CN" altLang="en-US"/>
          </a:p>
        </p:txBody>
      </p:sp>
    </p:spTree>
    <p:extLst>
      <p:ext uri="{BB962C8B-B14F-4D97-AF65-F5344CB8AC3E}">
        <p14:creationId xmlns:p14="http://schemas.microsoft.com/office/powerpoint/2010/main" val="15163181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元组</a:t>
            </a:r>
            <a:r>
              <a:rPr lang="zh-CN" altLang="en-US" b="0" i="0" dirty="0">
                <a:solidFill>
                  <a:srgbClr val="2C3E50"/>
                </a:solidFill>
                <a:effectLst/>
                <a:latin typeface="-apple-system"/>
              </a:rPr>
              <a:t>可用于存储任意类型的数据</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30</a:t>
            </a:fld>
            <a:endParaRPr lang="zh-CN" altLang="en-US"/>
          </a:p>
        </p:txBody>
      </p:sp>
    </p:spTree>
    <p:extLst>
      <p:ext uri="{BB962C8B-B14F-4D97-AF65-F5344CB8AC3E}">
        <p14:creationId xmlns:p14="http://schemas.microsoft.com/office/powerpoint/2010/main" val="1232637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31</a:t>
            </a:fld>
            <a:endParaRPr lang="zh-CN" altLang="en-US"/>
          </a:p>
        </p:txBody>
      </p:sp>
    </p:spTree>
    <p:extLst>
      <p:ext uri="{BB962C8B-B14F-4D97-AF65-F5344CB8AC3E}">
        <p14:creationId xmlns:p14="http://schemas.microsoft.com/office/powerpoint/2010/main" val="14547003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33</a:t>
            </a:fld>
            <a:endParaRPr lang="zh-CN" altLang="en-US"/>
          </a:p>
        </p:txBody>
      </p:sp>
    </p:spTree>
    <p:extLst>
      <p:ext uri="{BB962C8B-B14F-4D97-AF65-F5344CB8AC3E}">
        <p14:creationId xmlns:p14="http://schemas.microsoft.com/office/powerpoint/2010/main" val="20047597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34</a:t>
            </a:fld>
            <a:endParaRPr lang="zh-CN" altLang="en-US"/>
          </a:p>
        </p:txBody>
      </p:sp>
    </p:spTree>
    <p:extLst>
      <p:ext uri="{BB962C8B-B14F-4D97-AF65-F5344CB8AC3E}">
        <p14:creationId xmlns:p14="http://schemas.microsoft.com/office/powerpoint/2010/main" val="26995943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35</a:t>
            </a:fld>
            <a:endParaRPr lang="zh-CN" altLang="en-US"/>
          </a:p>
        </p:txBody>
      </p:sp>
    </p:spTree>
    <p:extLst>
      <p:ext uri="{BB962C8B-B14F-4D97-AF65-F5344CB8AC3E}">
        <p14:creationId xmlns:p14="http://schemas.microsoft.com/office/powerpoint/2010/main" val="97909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56630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8"/>
          <p:cNvSpPr>
            <a:spLocks noGrp="1" noChangeArrowheads="1"/>
          </p:cNvSpPr>
          <p:nvPr>
            <p:ph type="sldNum" sz="quarter" idx="10"/>
          </p:nvPr>
        </p:nvSpPr>
        <p:spPr>
          <a:ln/>
        </p:spPr>
        <p:txBody>
          <a:bodyPr/>
          <a:lstStyle>
            <a:lvl1pPr>
              <a:defRPr/>
            </a:lvl1pPr>
          </a:lstStyle>
          <a:p>
            <a:pPr>
              <a:defRPr/>
            </a:pPr>
            <a:fld id="{C6A839A6-78F6-48CF-87A6-6BD8E9022CF6}"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30276" y="195486"/>
            <a:ext cx="7667625" cy="438150"/>
          </a:xfrm>
        </p:spPr>
        <p:txBody>
          <a:bodyPr/>
          <a:lstStyle>
            <a:lvl1pPr>
              <a:defRPr sz="3200" b="0">
                <a:solidFill>
                  <a:srgbClr val="002060"/>
                </a:solidFill>
                <a:latin typeface="华文楷体" panose="02010600040101010101" pitchFamily="2" charset="-122"/>
                <a:ea typeface="华文楷体"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673100" y="802481"/>
            <a:ext cx="6515100" cy="547842"/>
          </a:xfrm>
        </p:spPr>
        <p:txBody>
          <a:bodyPr/>
          <a:lstStyle>
            <a:lvl1pPr marL="1778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1pPr>
            <a:lvl2pPr marL="6350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2pPr>
            <a:lvl3pPr marL="10922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3pPr>
            <a:lvl4pPr marL="15494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4pPr>
            <a:lvl5pPr marL="20066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5pPr>
          </a:lstStyle>
          <a:p>
            <a:pPr lvl="0"/>
            <a:endParaRPr lang="zh-CN" altLang="en-US" dirty="0"/>
          </a:p>
        </p:txBody>
      </p:sp>
      <p:pic>
        <p:nvPicPr>
          <p:cNvPr id="5" name="Picture 11"/>
          <p:cNvPicPr>
            <a:picLocks noChangeAspect="1" noChangeArrowheads="1"/>
          </p:cNvPicPr>
          <p:nvPr userDrawn="1"/>
        </p:nvPicPr>
        <p:blipFill>
          <a:blip r:embed="rId2" cstate="print"/>
          <a:srcRect/>
          <a:stretch>
            <a:fillRect/>
          </a:stretch>
        </p:blipFill>
        <p:spPr bwMode="auto">
          <a:xfrm>
            <a:off x="359024" y="4726213"/>
            <a:ext cx="8784976" cy="417287"/>
          </a:xfrm>
          <a:prstGeom prst="rect">
            <a:avLst/>
          </a:prstGeom>
          <a:noFill/>
          <a:ln w="9525">
            <a:noFill/>
            <a:miter lim="800000"/>
            <a:headEnd/>
            <a:tailEnd/>
          </a:ln>
        </p:spPr>
      </p:pic>
      <p:cxnSp>
        <p:nvCxnSpPr>
          <p:cNvPr id="8" name="直接连接符 7">
            <a:extLst>
              <a:ext uri="{FF2B5EF4-FFF2-40B4-BE49-F238E27FC236}">
                <a16:creationId xmlns:a16="http://schemas.microsoft.com/office/drawing/2014/main" id="{76BB9768-376B-0637-C297-1B5D054A51BD}"/>
              </a:ext>
            </a:extLst>
          </p:cNvPr>
          <p:cNvCxnSpPr/>
          <p:nvPr userDrawn="1"/>
        </p:nvCxnSpPr>
        <p:spPr bwMode="auto">
          <a:xfrm>
            <a:off x="6626" y="4645735"/>
            <a:ext cx="9144000" cy="0"/>
          </a:xfrm>
          <a:prstGeom prst="line">
            <a:avLst/>
          </a:prstGeom>
          <a:ln w="19050">
            <a:solidFill>
              <a:srgbClr val="736303"/>
            </a:solidFill>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874288"/>
            <a:ext cx="7772400" cy="4308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sldNum" sz="quarter" idx="10"/>
          </p:nvPr>
        </p:nvSpPr>
        <p:spPr>
          <a:ln/>
        </p:spPr>
        <p:txBody>
          <a:bodyPr/>
          <a:lstStyle>
            <a:lvl1pPr>
              <a:defRPr/>
            </a:lvl1pPr>
          </a:lstStyle>
          <a:p>
            <a:pPr>
              <a:defRPr/>
            </a:pPr>
            <a:fld id="{8F1CB138-D962-4159-86D4-69744E72DFCB}"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7310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00685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sldNum" sz="quarter" idx="10"/>
          </p:nvPr>
        </p:nvSpPr>
        <p:spPr>
          <a:ln/>
        </p:spPr>
        <p:txBody>
          <a:bodyPr/>
          <a:lstStyle>
            <a:lvl1pPr>
              <a:defRPr/>
            </a:lvl1pPr>
          </a:lstStyle>
          <a:p>
            <a:pPr>
              <a:defRPr/>
            </a:pPr>
            <a:fld id="{82AC858E-3DCE-4D01-A80F-DEA7F14DD0EB}"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32559"/>
            <a:ext cx="4040188"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32559"/>
            <a:ext cx="4041775"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sldNum" sz="quarter" idx="10"/>
          </p:nvPr>
        </p:nvSpPr>
        <p:spPr>
          <a:ln/>
        </p:spPr>
        <p:txBody>
          <a:bodyPr/>
          <a:lstStyle>
            <a:lvl1pPr>
              <a:defRPr/>
            </a:lvl1pPr>
          </a:lstStyle>
          <a:p>
            <a:pPr>
              <a:defRPr/>
            </a:pPr>
            <a:fld id="{59E2ED9D-B9E8-4415-A1AA-A51EE65F1343}"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sldNum" sz="quarter" idx="10"/>
          </p:nvPr>
        </p:nvSpPr>
        <p:spPr>
          <a:ln/>
        </p:spPr>
        <p:txBody>
          <a:bodyPr/>
          <a:lstStyle>
            <a:lvl1pPr>
              <a:defRPr/>
            </a:lvl1pPr>
          </a:lstStyle>
          <a:p>
            <a:pPr>
              <a:defRPr/>
            </a:pPr>
            <a:fld id="{148DE395-C011-4FCA-B35B-9450E02CE85B}"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132BEE3A-E9D9-4E9F-BCF8-FFCE31090B4C}" type="slidenum">
              <a:rPr lang="zh-CN" altLang="en-US"/>
              <a:pPr>
                <a:defRPr/>
              </a:pPr>
              <a:t>‹#›</a:t>
            </a:fld>
            <a:endParaRPr lang="zh-CN" altLang="en-US"/>
          </a:p>
        </p:txBody>
      </p:sp>
      <p:pic>
        <p:nvPicPr>
          <p:cNvPr id="3" name="Picture 11"/>
          <p:cNvPicPr>
            <a:picLocks noChangeAspect="1" noChangeArrowheads="1"/>
          </p:cNvPicPr>
          <p:nvPr userDrawn="1"/>
        </p:nvPicPr>
        <p:blipFill>
          <a:blip r:embed="rId2" cstate="print"/>
          <a:srcRect/>
          <a:stretch>
            <a:fillRect/>
          </a:stretch>
        </p:blipFill>
        <p:spPr bwMode="auto">
          <a:xfrm>
            <a:off x="4300" y="4515966"/>
            <a:ext cx="9113837" cy="627534"/>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27330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E6FB4065-B1B7-4E06-9A01-41AE3A9EC04A}"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6340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4025503"/>
            <a:ext cx="5486400"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2428D4F1-5252-4CE3-8F75-35C51027C8D7}"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2331486" y="802481"/>
            <a:ext cx="4856714" cy="205594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87EE522D-DF1B-4BE4-9E38-6362FBF71D06}"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6700" y="250031"/>
            <a:ext cx="1981200" cy="195381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607586" y="250031"/>
            <a:ext cx="4856714" cy="195381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3F913E49-A68C-484C-9771-B00D1343D1B8}"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30276" y="250031"/>
            <a:ext cx="7667625" cy="438150"/>
          </a:xfrm>
        </p:spPr>
        <p:txBody>
          <a:bodyPr/>
          <a:lstStyle/>
          <a:p>
            <a:r>
              <a:rPr lang="zh-CN" altLang="en-US"/>
              <a:t>单击此处编辑母版标题样式</a:t>
            </a:r>
          </a:p>
        </p:txBody>
      </p:sp>
      <p:sp>
        <p:nvSpPr>
          <p:cNvPr id="3" name="表格占位符 2"/>
          <p:cNvSpPr>
            <a:spLocks noGrp="1"/>
          </p:cNvSpPr>
          <p:nvPr>
            <p:ph type="tbl" idx="1"/>
          </p:nvPr>
        </p:nvSpPr>
        <p:spPr>
          <a:xfrm>
            <a:off x="673100" y="802481"/>
            <a:ext cx="6515100" cy="566309"/>
          </a:xfrm>
        </p:spPr>
        <p:txBody>
          <a:bodyPr/>
          <a:lstStyle/>
          <a:p>
            <a:pPr lvl="0"/>
            <a:r>
              <a:rPr lang="zh-CN" altLang="en-US" noProof="0"/>
              <a:t>单击图标添加表格</a:t>
            </a:r>
          </a:p>
        </p:txBody>
      </p:sp>
      <p:sp>
        <p:nvSpPr>
          <p:cNvPr id="4" name="Rectangle 8"/>
          <p:cNvSpPr>
            <a:spLocks noGrp="1" noChangeArrowheads="1"/>
          </p:cNvSpPr>
          <p:nvPr>
            <p:ph type="sldNum" sz="quarter" idx="10"/>
          </p:nvPr>
        </p:nvSpPr>
        <p:spPr>
          <a:ln/>
        </p:spPr>
        <p:txBody>
          <a:bodyPr/>
          <a:lstStyle>
            <a:lvl1pPr>
              <a:defRPr/>
            </a:lvl1pPr>
          </a:lstStyle>
          <a:p>
            <a:pPr>
              <a:defRPr/>
            </a:pPr>
            <a:fld id="{53CA134C-C122-4DE6-ABA6-CD4CFACFA387}"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685800" y="42862"/>
            <a:ext cx="7772400" cy="614363"/>
          </a:xfrm>
          <a:prstGeom prst="rect">
            <a:avLst/>
          </a:prstGeom>
          <a:noFill/>
          <a:ln>
            <a:noFill/>
          </a:ln>
        </p:spPr>
        <p:txBody>
          <a:bodyPr lIns="90488" tIns="44450" rIns="90488" bIns="44450" anchor="b"/>
          <a:lstStyle/>
          <a:p>
            <a:pPr>
              <a:lnSpc>
                <a:spcPct val="85000"/>
              </a:lnSpc>
              <a:defRPr/>
            </a:pPr>
            <a:endParaRPr lang="zh-CN" altLang="en-US" sz="3400">
              <a:solidFill>
                <a:srgbClr val="002E5C"/>
              </a:solidFill>
              <a:latin typeface="Helvetica" pitchFamily="34" charset="0"/>
              <a:ea typeface="宋体" pitchFamily="2" charset="-122"/>
            </a:endParaRPr>
          </a:p>
        </p:txBody>
      </p:sp>
      <p:sp>
        <p:nvSpPr>
          <p:cNvPr id="1027" name="Rectangle 3"/>
          <p:cNvSpPr>
            <a:spLocks noGrp="1" noChangeArrowheads="1"/>
          </p:cNvSpPr>
          <p:nvPr>
            <p:ph type="title"/>
          </p:nvPr>
        </p:nvSpPr>
        <p:spPr bwMode="auto">
          <a:xfrm>
            <a:off x="930276" y="250031"/>
            <a:ext cx="7667625"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p>
            <a:pPr lvl="0"/>
            <a:r>
              <a:rPr lang="zh-CN" altLang="en-US"/>
              <a:t>单击此处编辑母版标题样式</a:t>
            </a:r>
            <a:endParaRPr lang="en-US" altLang="zh-CN"/>
          </a:p>
        </p:txBody>
      </p:sp>
      <p:sp>
        <p:nvSpPr>
          <p:cNvPr id="1028" name="Rectangle 4"/>
          <p:cNvSpPr>
            <a:spLocks noGrp="1" noChangeArrowheads="1"/>
          </p:cNvSpPr>
          <p:nvPr>
            <p:ph type="body" idx="1"/>
          </p:nvPr>
        </p:nvSpPr>
        <p:spPr bwMode="auto">
          <a:xfrm>
            <a:off x="673100" y="802481"/>
            <a:ext cx="6515100" cy="20559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pic>
        <p:nvPicPr>
          <p:cNvPr id="1029" name="Picture 5" descr="symbol"/>
          <p:cNvPicPr>
            <a:picLocks noChangeAspect="1" noChangeArrowheads="1"/>
          </p:cNvPicPr>
          <p:nvPr/>
        </p:nvPicPr>
        <p:blipFill>
          <a:blip r:embed="rId14" cstate="print"/>
          <a:srcRect/>
          <a:stretch>
            <a:fillRect/>
          </a:stretch>
        </p:blipFill>
        <p:spPr bwMode="auto">
          <a:xfrm>
            <a:off x="1" y="330994"/>
            <a:ext cx="942975" cy="681038"/>
          </a:xfrm>
          <a:prstGeom prst="rect">
            <a:avLst/>
          </a:prstGeom>
          <a:noFill/>
          <a:ln w="9525">
            <a:noFill/>
            <a:miter lim="800000"/>
            <a:headEnd/>
            <a:tailEnd/>
          </a:ln>
        </p:spPr>
      </p:pic>
      <p:sp>
        <p:nvSpPr>
          <p:cNvPr id="1030" name="Line 6"/>
          <p:cNvSpPr>
            <a:spLocks noChangeShapeType="1"/>
          </p:cNvSpPr>
          <p:nvPr/>
        </p:nvSpPr>
        <p:spPr bwMode="auto">
          <a:xfrm>
            <a:off x="906463" y="660797"/>
            <a:ext cx="8121650" cy="0"/>
          </a:xfrm>
          <a:prstGeom prst="line">
            <a:avLst/>
          </a:prstGeom>
          <a:noFill/>
          <a:ln w="28575">
            <a:solidFill>
              <a:srgbClr val="003B76"/>
            </a:solidFill>
            <a:round/>
            <a:headEnd/>
            <a:tailEnd/>
          </a:ln>
        </p:spPr>
        <p:txBody>
          <a:bodyPr lIns="0" tIns="0" rIns="0" bIns="0" anchor="ctr">
            <a:spAutoFit/>
          </a:bodyPr>
          <a:lstStyle/>
          <a:p>
            <a:pPr>
              <a:defRPr/>
            </a:pPr>
            <a:endParaRPr lang="zh-CN" altLang="en-US">
              <a:ea typeface="宋体" pitchFamily="2" charset="-122"/>
            </a:endParaRPr>
          </a:p>
        </p:txBody>
      </p:sp>
      <p:sp>
        <p:nvSpPr>
          <p:cNvPr id="1031" name="Line 7"/>
          <p:cNvSpPr>
            <a:spLocks noChangeShapeType="1"/>
          </p:cNvSpPr>
          <p:nvPr/>
        </p:nvSpPr>
        <p:spPr bwMode="auto">
          <a:xfrm>
            <a:off x="915988" y="653653"/>
            <a:ext cx="8108950" cy="0"/>
          </a:xfrm>
          <a:prstGeom prst="line">
            <a:avLst/>
          </a:prstGeom>
          <a:noFill/>
          <a:ln w="12700">
            <a:solidFill>
              <a:srgbClr val="F0DA04"/>
            </a:solidFill>
            <a:round/>
            <a:headEnd/>
            <a:tailEnd/>
          </a:ln>
        </p:spPr>
        <p:txBody>
          <a:bodyPr wrap="none" anchor="ctr"/>
          <a:lstStyle/>
          <a:p>
            <a:pPr>
              <a:defRPr/>
            </a:pPr>
            <a:endParaRPr lang="zh-CN" altLang="en-US">
              <a:ea typeface="宋体" pitchFamily="2" charset="-122"/>
            </a:endParaRPr>
          </a:p>
        </p:txBody>
      </p:sp>
      <p:sp>
        <p:nvSpPr>
          <p:cNvPr id="1032" name="Rectangle 8"/>
          <p:cNvSpPr>
            <a:spLocks noGrp="1" noChangeArrowheads="1"/>
          </p:cNvSpPr>
          <p:nvPr>
            <p:ph type="sldNum" sz="quarter" idx="4"/>
          </p:nvPr>
        </p:nvSpPr>
        <p:spPr bwMode="auto">
          <a:xfrm>
            <a:off x="6553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lnSpc>
                <a:spcPct val="100000"/>
              </a:lnSpc>
              <a:spcBef>
                <a:spcPts val="0"/>
              </a:spcBef>
              <a:spcAft>
                <a:spcPts val="0"/>
              </a:spcAft>
              <a:defRPr sz="1400" b="0">
                <a:latin typeface="+mn-lt"/>
                <a:ea typeface="宋体" pitchFamily="2" charset="-122"/>
              </a:defRPr>
            </a:lvl1pPr>
          </a:lstStyle>
          <a:p>
            <a:pPr>
              <a:defRPr/>
            </a:pPr>
            <a:fld id="{FD990E54-9BDD-4FF4-80FA-301FCBFF661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Lst>
  <p:txStyles>
    <p:title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p:titleStyle>
    <p:body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9.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3.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Doc/TyBase/Arrays/ReshapeAndSorting/partialsort&#65281;.html"/><Relationship Id="rId13" Type="http://schemas.openxmlformats.org/officeDocument/2006/relationships/hyperlink" Target="#/Doc/TyBase/Arrays/ReshapeAndSorting/rot180.html"/><Relationship Id="rId3" Type="http://schemas.openxmlformats.org/officeDocument/2006/relationships/hyperlink" Target="#/Doc/TyBase/Arrays/ReshapeAndSorting/sort.html"/><Relationship Id="rId7" Type="http://schemas.openxmlformats.org/officeDocument/2006/relationships/hyperlink" Target="#/Doc/TyBase/Arrays/ReshapeAndSorting/partialsort.html"/><Relationship Id="rId12" Type="http://schemas.openxmlformats.org/officeDocument/2006/relationships/hyperlink" Target="#/Doc/TyBase/Arrays/ReshapeAndSorting/rotl90.ht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Doc/TyBase/Arrays/ReshapeAndSorting/sortrows.html"/><Relationship Id="rId11" Type="http://schemas.openxmlformats.org/officeDocument/2006/relationships/hyperlink" Target="#/Doc/TyBase/Arrays/ReshapeAndSorting/rotr90.html"/><Relationship Id="rId5" Type="http://schemas.openxmlformats.org/officeDocument/2006/relationships/hyperlink" Target="#/Doc/TyBase/Arrays/ReshapeAndSorting/ty_sort.html"/><Relationship Id="rId10" Type="http://schemas.openxmlformats.org/officeDocument/2006/relationships/hyperlink" Target="#/Doc/TyBase/Arrays/ReshapeAndSorting/reverse&#65281;.html"/><Relationship Id="rId4" Type="http://schemas.openxmlformats.org/officeDocument/2006/relationships/hyperlink" Target="#/Doc/TyBase/Arrays/ReshapeAndSorting/sort&#65281;.html"/><Relationship Id="rId9" Type="http://schemas.openxmlformats.org/officeDocument/2006/relationships/hyperlink" Target="#/Doc/TyBase/Arrays/ReshapeAndSorting/reverse.html"/><Relationship Id="rId14" Type="http://schemas.openxmlformats.org/officeDocument/2006/relationships/hyperlink" Target="#/Doc/TyBase/MathematicalOperationsAndElementaryFunctions/ArithmeticOperators/Transpose/transpose.html"/></Relationships>
</file>

<file path=ppt/slides/_rels/slide21.xml.rels><?xml version="1.0" encoding="UTF-8" standalone="yes"?>
<Relationships xmlns="http://schemas.openxmlformats.org/package/2006/relationships"><Relationship Id="rId3" Type="http://schemas.openxmlformats.org/officeDocument/2006/relationships/hyperlink" Target="#/Doc/TyBase/Collections/DataFrames/CSV.read.html"/><Relationship Id="rId2" Type="http://schemas.openxmlformats.org/officeDocument/2006/relationships/hyperlink" Target="#/Doc/TyBase/DataTypes/Tables/readtable.html"/><Relationship Id="rId1" Type="http://schemas.openxmlformats.org/officeDocument/2006/relationships/slideLayout" Target="../slideLayouts/slideLayout2.xml"/><Relationship Id="rId4" Type="http://schemas.openxmlformats.org/officeDocument/2006/relationships/hyperlink" Target="#/Doc/TyBase/Collections/DataFrames/CSV.write.ht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8426DAA7-E8F9-473E-A8BC-3ABC82639459}"/>
              </a:ext>
            </a:extLst>
          </p:cNvPr>
          <p:cNvSpPr>
            <a:spLocks noGrp="1"/>
          </p:cNvSpPr>
          <p:nvPr>
            <p:ph type="title"/>
          </p:nvPr>
        </p:nvSpPr>
        <p:spPr>
          <a:xfrm>
            <a:off x="899592" y="228627"/>
            <a:ext cx="7667625" cy="438150"/>
          </a:xfrm>
        </p:spPr>
        <p:txBody>
          <a:bodyPr/>
          <a:lstStyle/>
          <a:p>
            <a:r>
              <a:rPr lang="en-US" altLang="zh-CN" sz="2800" b="1" dirty="0">
                <a:solidFill>
                  <a:srgbClr val="0070C0"/>
                </a:solidFill>
              </a:rPr>
              <a:t>§1. 4 </a:t>
            </a:r>
            <a:r>
              <a:rPr lang="zh-CN" altLang="en-US" sz="2800" b="1" dirty="0">
                <a:solidFill>
                  <a:srgbClr val="0070C0"/>
                </a:solidFill>
              </a:rPr>
              <a:t>数组 、列表、结构、元组、字典、集合</a:t>
            </a:r>
          </a:p>
        </p:txBody>
      </p:sp>
      <p:pic>
        <p:nvPicPr>
          <p:cNvPr id="6" name="Picture 2"/>
          <p:cNvPicPr>
            <a:picLocks noChangeAspect="1" noChangeArrowheads="1"/>
          </p:cNvPicPr>
          <p:nvPr/>
        </p:nvPicPr>
        <p:blipFill rotWithShape="1">
          <a:blip r:embed="rId3" cstate="print"/>
          <a:srcRect l="6947"/>
          <a:stretch/>
        </p:blipFill>
        <p:spPr bwMode="auto">
          <a:xfrm>
            <a:off x="6567150" y="1550469"/>
            <a:ext cx="1999855" cy="1300681"/>
          </a:xfrm>
          <a:prstGeom prst="rect">
            <a:avLst/>
          </a:prstGeom>
          <a:noFill/>
          <a:ln w="9525">
            <a:noFill/>
            <a:miter lim="800000"/>
            <a:headEnd/>
            <a:tailEnd/>
          </a:ln>
        </p:spPr>
      </p:pic>
      <p:pic>
        <p:nvPicPr>
          <p:cNvPr id="7" name="Picture 3"/>
          <p:cNvPicPr>
            <a:picLocks noChangeAspect="1" noChangeArrowheads="1"/>
          </p:cNvPicPr>
          <p:nvPr/>
        </p:nvPicPr>
        <p:blipFill>
          <a:blip r:embed="rId4" cstate="print"/>
          <a:srcRect/>
          <a:stretch>
            <a:fillRect/>
          </a:stretch>
        </p:blipFill>
        <p:spPr bwMode="auto">
          <a:xfrm>
            <a:off x="234349" y="1514228"/>
            <a:ext cx="5836643" cy="1285717"/>
          </a:xfrm>
          <a:prstGeom prst="rect">
            <a:avLst/>
          </a:prstGeom>
          <a:noFill/>
          <a:ln w="9525">
            <a:noFill/>
            <a:miter lim="800000"/>
            <a:headEnd/>
            <a:tailEnd/>
          </a:ln>
        </p:spPr>
      </p:pic>
      <p:sp>
        <p:nvSpPr>
          <p:cNvPr id="9" name="文本框 8">
            <a:extLst>
              <a:ext uri="{FF2B5EF4-FFF2-40B4-BE49-F238E27FC236}">
                <a16:creationId xmlns:a16="http://schemas.microsoft.com/office/drawing/2014/main" id="{BA0420D6-50FA-4412-B476-C018EC76DECE}"/>
              </a:ext>
            </a:extLst>
          </p:cNvPr>
          <p:cNvSpPr txBox="1"/>
          <p:nvPr/>
        </p:nvSpPr>
        <p:spPr>
          <a:xfrm>
            <a:off x="163978" y="2866115"/>
            <a:ext cx="8944526" cy="1726242"/>
          </a:xfrm>
          <a:prstGeom prst="rect">
            <a:avLst/>
          </a:prstGeom>
          <a:solidFill>
            <a:schemeClr val="bg1"/>
          </a:solidFill>
          <a:ln>
            <a:noFill/>
          </a:ln>
        </p:spPr>
        <p:txBody>
          <a:bodyPr wrap="square">
            <a:spAutoFit/>
          </a:bodyPr>
          <a:lstStyle/>
          <a:p>
            <a:pPr>
              <a:lnSpc>
                <a:spcPts val="2600"/>
              </a:lnSpc>
            </a:pPr>
            <a:r>
              <a:rPr lang="zh-CN" altLang="en-US" sz="1400" b="1" dirty="0">
                <a:solidFill>
                  <a:srgbClr val="00B0F0"/>
                </a:solidFill>
                <a:latin typeface="微软雅黑" panose="020B0503020204020204" pitchFamily="34" charset="-122"/>
                <a:ea typeface="微软雅黑" panose="020B0503020204020204" pitchFamily="34" charset="-122"/>
              </a:rPr>
              <a:t>数组：</a:t>
            </a:r>
            <a:r>
              <a:rPr lang="zh-CN" altLang="en-US" sz="1400" b="1" dirty="0">
                <a:solidFill>
                  <a:srgbClr val="002060"/>
                </a:solidFill>
                <a:latin typeface="微软雅黑 Light" panose="020B0502040204020203" pitchFamily="34" charset="-122"/>
                <a:ea typeface="微软雅黑 Light" panose="020B0502040204020203" pitchFamily="34" charset="-122"/>
              </a:rPr>
              <a:t>相同类型元素（允许不同），有序存储各元素，元素可改变，用方括号“</a:t>
            </a:r>
            <a:r>
              <a:rPr lang="zh-CN" altLang="en-US" sz="1400" b="1" dirty="0">
                <a:solidFill>
                  <a:srgbClr val="FF0000"/>
                </a:solidFill>
                <a:latin typeface="微软雅黑 Light" panose="020B0502040204020203" pitchFamily="34" charset="-122"/>
                <a:ea typeface="微软雅黑 Light" panose="020B0502040204020203" pitchFamily="34" charset="-122"/>
              </a:rPr>
              <a:t>[ ]</a:t>
            </a:r>
            <a:r>
              <a:rPr lang="zh-CN" altLang="en-US" sz="1400" b="1" dirty="0">
                <a:solidFill>
                  <a:srgbClr val="002060"/>
                </a:solidFill>
                <a:latin typeface="微软雅黑 Light" panose="020B0502040204020203" pitchFamily="34" charset="-122"/>
                <a:ea typeface="微软雅黑 Light" panose="020B0502040204020203" pitchFamily="34" charset="-122"/>
              </a:rPr>
              <a:t>“表示。</a:t>
            </a:r>
            <a:endParaRPr lang="en-US" altLang="zh-CN" sz="1400" b="1" dirty="0">
              <a:solidFill>
                <a:srgbClr val="002060"/>
              </a:solidFill>
              <a:latin typeface="微软雅黑 Light" panose="020B0502040204020203" pitchFamily="34" charset="-122"/>
              <a:ea typeface="微软雅黑 Light" panose="020B0502040204020203" pitchFamily="34" charset="-122"/>
            </a:endParaRPr>
          </a:p>
          <a:p>
            <a:pPr>
              <a:lnSpc>
                <a:spcPts val="2600"/>
              </a:lnSpc>
            </a:pPr>
            <a:r>
              <a:rPr lang="zh-CN" altLang="en-US" sz="1400" b="1" dirty="0">
                <a:solidFill>
                  <a:srgbClr val="FF0000"/>
                </a:solidFill>
                <a:latin typeface="微软雅黑" panose="020B0503020204020204" pitchFamily="34" charset="-122"/>
                <a:ea typeface="微软雅黑" panose="020B0503020204020204" pitchFamily="34" charset="-122"/>
              </a:rPr>
              <a:t>元组：</a:t>
            </a:r>
            <a:r>
              <a:rPr lang="zh-CN" altLang="en-US" sz="1400" b="1" dirty="0">
                <a:solidFill>
                  <a:srgbClr val="002060"/>
                </a:solidFill>
                <a:latin typeface="微软雅黑 Light" panose="020B0502040204020203" pitchFamily="34" charset="-122"/>
                <a:ea typeface="微软雅黑 Light" panose="020B0502040204020203" pitchFamily="34" charset="-122"/>
              </a:rPr>
              <a:t>元组和数组在结构上无区别，唯一差异在于元组只读，</a:t>
            </a:r>
            <a:r>
              <a:rPr lang="zh-CN" altLang="en-US" sz="1400" b="1" dirty="0">
                <a:solidFill>
                  <a:srgbClr val="FF0000"/>
                </a:solidFill>
                <a:latin typeface="微软雅黑 Light" panose="020B0502040204020203" pitchFamily="34" charset="-122"/>
                <a:ea typeface="微软雅黑 Light" panose="020B0502040204020203" pitchFamily="34" charset="-122"/>
              </a:rPr>
              <a:t>不能修改</a:t>
            </a:r>
            <a:r>
              <a:rPr lang="zh-CN" altLang="en-US" sz="1400" b="1" dirty="0">
                <a:solidFill>
                  <a:srgbClr val="002060"/>
                </a:solidFill>
                <a:latin typeface="微软雅黑 Light" panose="020B0502040204020203" pitchFamily="34" charset="-122"/>
                <a:ea typeface="微软雅黑 Light" panose="020B0502040204020203" pitchFamily="34" charset="-122"/>
              </a:rPr>
              <a:t>。元组用圆括号</a:t>
            </a:r>
            <a:r>
              <a:rPr lang="zh-CN" altLang="en-US" sz="1400" b="1" dirty="0">
                <a:solidFill>
                  <a:srgbClr val="FF0000"/>
                </a:solidFill>
                <a:latin typeface="微软雅黑 Light" panose="020B0502040204020203" pitchFamily="34" charset="-122"/>
                <a:ea typeface="微软雅黑 Light" panose="020B0502040204020203" pitchFamily="34" charset="-122"/>
              </a:rPr>
              <a:t>( )</a:t>
            </a:r>
            <a:r>
              <a:rPr lang="zh-CN" altLang="en-US" sz="1400" b="1" dirty="0">
                <a:solidFill>
                  <a:srgbClr val="002060"/>
                </a:solidFill>
                <a:latin typeface="微软雅黑 Light" panose="020B0502040204020203" pitchFamily="34" charset="-122"/>
                <a:ea typeface="微软雅黑 Light" panose="020B0502040204020203" pitchFamily="34" charset="-122"/>
              </a:rPr>
              <a:t>表示。</a:t>
            </a:r>
            <a:endParaRPr lang="en-US" altLang="zh-CN" sz="1400" b="1" dirty="0">
              <a:solidFill>
                <a:srgbClr val="002060"/>
              </a:solidFill>
              <a:latin typeface="微软雅黑 Light" panose="020B0502040204020203" pitchFamily="34" charset="-122"/>
              <a:ea typeface="微软雅黑 Light" panose="020B0502040204020203" pitchFamily="34" charset="-122"/>
            </a:endParaRPr>
          </a:p>
          <a:p>
            <a:pPr>
              <a:lnSpc>
                <a:spcPts val="2600"/>
              </a:lnSpc>
            </a:pPr>
            <a:r>
              <a:rPr lang="zh-CN" altLang="en-US" sz="1400" b="1" dirty="0">
                <a:solidFill>
                  <a:srgbClr val="00B0F0"/>
                </a:solidFill>
                <a:latin typeface="微软雅黑" panose="020B0503020204020204" pitchFamily="34" charset="-122"/>
                <a:ea typeface="微软雅黑" panose="020B0503020204020204" pitchFamily="34" charset="-122"/>
              </a:rPr>
              <a:t>列表 ：</a:t>
            </a:r>
            <a:r>
              <a:rPr lang="zh-CN" altLang="en-US" sz="1400" b="1" dirty="0">
                <a:solidFill>
                  <a:srgbClr val="002060"/>
                </a:solidFill>
                <a:latin typeface="微软雅黑 Light" panose="020B0502040204020203" pitchFamily="34" charset="-122"/>
                <a:ea typeface="微软雅黑 Light" panose="020B0502040204020203" pitchFamily="34" charset="-122"/>
              </a:rPr>
              <a:t>具有灵活</a:t>
            </a:r>
            <a:r>
              <a:rPr lang="zh-CN" altLang="en-US" sz="1400" b="1" dirty="0">
                <a:solidFill>
                  <a:srgbClr val="FF0000"/>
                </a:solidFill>
                <a:latin typeface="微软雅黑 Light" panose="020B0502040204020203" pitchFamily="34" charset="-122"/>
                <a:ea typeface="微软雅黑 Light" panose="020B0502040204020203" pitchFamily="34" charset="-122"/>
              </a:rPr>
              <a:t>有序</a:t>
            </a:r>
            <a:r>
              <a:rPr lang="zh-CN" altLang="en-US" sz="1400" b="1" dirty="0">
                <a:solidFill>
                  <a:srgbClr val="002060"/>
                </a:solidFill>
                <a:latin typeface="微软雅黑 Light" panose="020B0502040204020203" pitchFamily="34" charset="-122"/>
                <a:ea typeface="微软雅黑 Light" panose="020B0502040204020203" pitchFamily="34" charset="-122"/>
              </a:rPr>
              <a:t>集合对象类型，可包括任意数据类型，如数值、字符串等</a:t>
            </a:r>
          </a:p>
          <a:p>
            <a:pPr>
              <a:lnSpc>
                <a:spcPts val="2600"/>
              </a:lnSpc>
            </a:pPr>
            <a:r>
              <a:rPr lang="zh-CN" altLang="en-US" sz="1400" b="1" dirty="0">
                <a:solidFill>
                  <a:srgbClr val="00B0F0"/>
                </a:solidFill>
                <a:latin typeface="微软雅黑" panose="020B0503020204020204" pitchFamily="34" charset="-122"/>
                <a:ea typeface="微软雅黑" panose="020B0503020204020204" pitchFamily="34" charset="-122"/>
              </a:rPr>
              <a:t>字典：</a:t>
            </a:r>
            <a:r>
              <a:rPr lang="zh-CN" altLang="en-US" sz="1400" b="1" dirty="0">
                <a:solidFill>
                  <a:srgbClr val="002060"/>
                </a:solidFill>
                <a:latin typeface="新宋体" panose="02010609030101010101" pitchFamily="49" charset="-122"/>
                <a:ea typeface="新宋体" panose="02010609030101010101" pitchFamily="49" charset="-122"/>
              </a:rPr>
              <a:t>字典用双箭头</a:t>
            </a:r>
            <a:r>
              <a:rPr lang="en-US" altLang="zh-CN" sz="1400" b="1" dirty="0">
                <a:solidFill>
                  <a:srgbClr val="002060"/>
                </a:solidFill>
                <a:latin typeface="新宋体" panose="02010609030101010101" pitchFamily="49" charset="-122"/>
                <a:ea typeface="新宋体" panose="02010609030101010101" pitchFamily="49" charset="-122"/>
              </a:rPr>
              <a:t>=&gt;</a:t>
            </a:r>
            <a:r>
              <a:rPr lang="zh-CN" altLang="en-US" sz="1400" b="1" dirty="0">
                <a:solidFill>
                  <a:srgbClr val="002060"/>
                </a:solidFill>
                <a:latin typeface="新宋体" panose="02010609030101010101" pitchFamily="49" charset="-122"/>
                <a:ea typeface="新宋体" panose="02010609030101010101" pitchFamily="49" charset="-122"/>
              </a:rPr>
              <a:t>定义了</a:t>
            </a:r>
            <a:r>
              <a:rPr lang="zh-CN" altLang="en-US" sz="1400" b="1" dirty="0">
                <a:solidFill>
                  <a:srgbClr val="FF0000"/>
                </a:solidFill>
                <a:latin typeface="微软雅黑 Light" panose="020B0502040204020203" pitchFamily="34" charset="-122"/>
                <a:ea typeface="微软雅黑 Light" panose="020B0502040204020203" pitchFamily="34" charset="-122"/>
              </a:rPr>
              <a:t>键和值</a:t>
            </a:r>
            <a:r>
              <a:rPr lang="zh-CN" altLang="en-US" sz="1400" b="1" dirty="0">
                <a:solidFill>
                  <a:srgbClr val="002060"/>
                </a:solidFill>
                <a:latin typeface="新宋体" panose="02010609030101010101" pitchFamily="49" charset="-122"/>
                <a:ea typeface="新宋体" panose="02010609030101010101" pitchFamily="49" charset="-122"/>
              </a:rPr>
              <a:t>之间一对一的关系, 无序的方式储存的</a:t>
            </a:r>
            <a:r>
              <a:rPr lang="en-US" altLang="zh-CN" sz="1400" b="1" dirty="0">
                <a:solidFill>
                  <a:srgbClr val="002060"/>
                </a:solidFill>
                <a:latin typeface="新宋体" panose="02010609030101010101" pitchFamily="49" charset="-122"/>
                <a:ea typeface="新宋体" panose="02010609030101010101" pitchFamily="49" charset="-122"/>
              </a:rPr>
              <a:t>,</a:t>
            </a:r>
            <a:r>
              <a:rPr lang="zh-CN" altLang="en-US" sz="1400" b="1" dirty="0">
                <a:solidFill>
                  <a:srgbClr val="002060"/>
                </a:solidFill>
                <a:latin typeface="新宋体" panose="02010609030101010101" pitchFamily="49" charset="-122"/>
                <a:ea typeface="新宋体" panose="02010609030101010101" pitchFamily="49" charset="-122"/>
              </a:rPr>
              <a:t>可修改</a:t>
            </a:r>
            <a:endParaRPr lang="en-US" altLang="zh-CN" sz="1400" b="1" dirty="0">
              <a:solidFill>
                <a:srgbClr val="002060"/>
              </a:solidFill>
              <a:latin typeface="新宋体" panose="02010609030101010101" pitchFamily="49" charset="-122"/>
              <a:ea typeface="新宋体" panose="02010609030101010101" pitchFamily="49" charset="-122"/>
            </a:endParaRPr>
          </a:p>
          <a:p>
            <a:pPr>
              <a:lnSpc>
                <a:spcPts val="2600"/>
              </a:lnSpc>
            </a:pPr>
            <a:r>
              <a:rPr lang="zh-CN" altLang="en-US" sz="1400" b="1" dirty="0">
                <a:solidFill>
                  <a:srgbClr val="FF0000"/>
                </a:solidFill>
                <a:latin typeface="微软雅黑" panose="020B0503020204020204" pitchFamily="34" charset="-122"/>
                <a:ea typeface="微软雅黑" panose="020B0503020204020204" pitchFamily="34" charset="-122"/>
              </a:rPr>
              <a:t>集合</a:t>
            </a:r>
            <a:r>
              <a:rPr lang="zh-CN" altLang="en-US" sz="1400" b="1" dirty="0">
                <a:solidFill>
                  <a:srgbClr val="00B0F0"/>
                </a:solidFill>
                <a:latin typeface="微软雅黑" panose="020B0503020204020204" pitchFamily="34" charset="-122"/>
                <a:ea typeface="微软雅黑" panose="020B0503020204020204" pitchFamily="34" charset="-122"/>
              </a:rPr>
              <a:t>：</a:t>
            </a:r>
            <a:r>
              <a:rPr lang="zh-CN" altLang="en-US" sz="1400" b="1" dirty="0">
                <a:solidFill>
                  <a:srgbClr val="002060"/>
                </a:solidFill>
                <a:latin typeface="微软雅黑 Light" panose="020B0502040204020203" pitchFamily="34" charset="-122"/>
                <a:ea typeface="微软雅黑 Light" panose="020B0502040204020203" pitchFamily="34" charset="-122"/>
              </a:rPr>
              <a:t>无序不重复元素集</a:t>
            </a:r>
            <a:endParaRPr lang="zh-CN" altLang="en-US" sz="1400" b="1" dirty="0">
              <a:latin typeface="微软雅黑 Light" panose="020B0502040204020203" pitchFamily="34" charset="-122"/>
              <a:ea typeface="微软雅黑 Light" panose="020B0502040204020203" pitchFamily="34" charset="-122"/>
            </a:endParaRPr>
          </a:p>
        </p:txBody>
      </p:sp>
      <p:sp>
        <p:nvSpPr>
          <p:cNvPr id="13" name="文本框 12">
            <a:extLst>
              <a:ext uri="{FF2B5EF4-FFF2-40B4-BE49-F238E27FC236}">
                <a16:creationId xmlns:a16="http://schemas.microsoft.com/office/drawing/2014/main" id="{E63A3FFB-F743-4AFD-8C71-C18E6D872ACE}"/>
              </a:ext>
            </a:extLst>
          </p:cNvPr>
          <p:cNvSpPr txBox="1"/>
          <p:nvPr/>
        </p:nvSpPr>
        <p:spPr>
          <a:xfrm>
            <a:off x="163978" y="1001617"/>
            <a:ext cx="8769075" cy="486480"/>
          </a:xfrm>
          <a:prstGeom prst="rect">
            <a:avLst/>
          </a:prstGeom>
          <a:solidFill>
            <a:schemeClr val="bg1"/>
          </a:solidFill>
        </p:spPr>
        <p:txBody>
          <a:bodyPr wrap="square">
            <a:spAutoFit/>
          </a:bodyPr>
          <a:lstStyle>
            <a:defPPr>
              <a:defRPr lang="zh-CN"/>
            </a:defPPr>
            <a:lvl1pPr algn="dist" defTabSz="685800" fontAlgn="auto">
              <a:lnSpc>
                <a:spcPts val="3400"/>
              </a:lnSpc>
              <a:spcBef>
                <a:spcPts val="0"/>
              </a:spcBef>
              <a:spcAft>
                <a:spcPts val="0"/>
              </a:spcAft>
              <a:defRPr sz="2200" b="1">
                <a:solidFill>
                  <a:srgbClr val="0070C0"/>
                </a:solidFill>
                <a:effectLst>
                  <a:reflection blurRad="6350" stA="30000" endPos="27000" dist="25400" dir="5400000" sy="-100000" algn="bl" rotWithShape="0"/>
                </a:effectLst>
                <a:latin typeface="微软雅黑" panose="020B0503020204020204" pitchFamily="34" charset="-122"/>
                <a:ea typeface="微软雅黑" panose="020B0503020204020204" pitchFamily="34" charset="-122"/>
                <a:cs typeface="+mn-ea"/>
              </a:defRPr>
            </a:lvl1pPr>
          </a:lstStyle>
          <a:p>
            <a:r>
              <a:rPr lang="zh-CN" altLang="en-US" sz="1600" b="0" dirty="0"/>
              <a:t>每种容器都有其独特的特性和适用场景，适合存储不同类型的数据</a:t>
            </a:r>
          </a:p>
        </p:txBody>
      </p:sp>
      <p:sp>
        <p:nvSpPr>
          <p:cNvPr id="12" name="文本框 11">
            <a:extLst>
              <a:ext uri="{FF2B5EF4-FFF2-40B4-BE49-F238E27FC236}">
                <a16:creationId xmlns:a16="http://schemas.microsoft.com/office/drawing/2014/main" id="{BACFECA1-5451-41A2-A522-CAFA60460B00}"/>
              </a:ext>
            </a:extLst>
          </p:cNvPr>
          <p:cNvSpPr txBox="1"/>
          <p:nvPr/>
        </p:nvSpPr>
        <p:spPr>
          <a:xfrm>
            <a:off x="163978" y="666777"/>
            <a:ext cx="8753173" cy="406971"/>
          </a:xfrm>
          <a:prstGeom prst="rect">
            <a:avLst/>
          </a:prstGeom>
          <a:solidFill>
            <a:schemeClr val="bg1"/>
          </a:solidFill>
        </p:spPr>
        <p:txBody>
          <a:bodyPr wrap="square">
            <a:spAutoFit/>
          </a:bodyPr>
          <a:lstStyle>
            <a:defPPr>
              <a:defRPr lang="zh-CN"/>
            </a:defPPr>
            <a:lvl1pPr defTabSz="685800" fontAlgn="auto">
              <a:lnSpc>
                <a:spcPts val="3400"/>
              </a:lnSpc>
              <a:spcBef>
                <a:spcPts val="0"/>
              </a:spcBef>
              <a:spcAft>
                <a:spcPts val="0"/>
              </a:spcAft>
              <a:defRPr sz="2000" b="1">
                <a:solidFill>
                  <a:srgbClr val="0070C0"/>
                </a:solidFill>
                <a:effectLst>
                  <a:reflection blurRad="6350" stA="30000" endPos="27000" dist="25400" dir="5400000" sy="-100000" algn="bl" rotWithShape="0"/>
                </a:effectLst>
                <a:latin typeface="微软雅黑" panose="020B0503020204020204" pitchFamily="34" charset="-122"/>
                <a:ea typeface="微软雅黑" panose="020B0503020204020204" pitchFamily="34" charset="-122"/>
                <a:cs typeface="+mn-ea"/>
              </a:defRPr>
            </a:lvl1pPr>
          </a:lstStyle>
          <a:p>
            <a:pPr algn="dist">
              <a:lnSpc>
                <a:spcPts val="2700"/>
              </a:lnSpc>
            </a:pPr>
            <a:r>
              <a:rPr lang="zh-CN" altLang="en-US" sz="1800" dirty="0"/>
              <a:t>数据容器是用于存储和组织各类数据的结构，包括数组、列表、元组、字典、集合等</a:t>
            </a:r>
          </a:p>
        </p:txBody>
      </p:sp>
      <p:sp>
        <p:nvSpPr>
          <p:cNvPr id="10" name="文本框 9">
            <a:extLst>
              <a:ext uri="{FF2B5EF4-FFF2-40B4-BE49-F238E27FC236}">
                <a16:creationId xmlns:a16="http://schemas.microsoft.com/office/drawing/2014/main" id="{88749ECD-699A-4BCB-831B-E76760020278}"/>
              </a:ext>
            </a:extLst>
          </p:cNvPr>
          <p:cNvSpPr txBox="1"/>
          <p:nvPr/>
        </p:nvSpPr>
        <p:spPr>
          <a:xfrm>
            <a:off x="2289288" y="4286098"/>
            <a:ext cx="6834088" cy="276999"/>
          </a:xfrm>
          <a:prstGeom prst="rect">
            <a:avLst/>
          </a:prstGeom>
          <a:solidFill>
            <a:schemeClr val="bg1"/>
          </a:solidFill>
        </p:spPr>
        <p:txBody>
          <a:bodyPr wrap="square">
            <a:spAutoFit/>
          </a:bodyPr>
          <a:lstStyle/>
          <a:p>
            <a:r>
              <a:rPr lang="en-US" altLang="zh-CN" sz="1200" b="1" i="0" dirty="0">
                <a:solidFill>
                  <a:srgbClr val="FF0000"/>
                </a:solidFill>
                <a:effectLst/>
                <a:latin typeface="Inter"/>
              </a:rPr>
              <a:t>MATLAB </a:t>
            </a:r>
            <a:r>
              <a:rPr lang="zh-CN" altLang="en-US" sz="1200" b="1" i="0" dirty="0">
                <a:solidFill>
                  <a:srgbClr val="FF0000"/>
                </a:solidFill>
                <a:effectLst/>
                <a:latin typeface="Inter"/>
              </a:rPr>
              <a:t>本身没有直接提供 元组（</a:t>
            </a:r>
            <a:r>
              <a:rPr lang="en-US" altLang="zh-CN" sz="1200" b="1" i="0" dirty="0">
                <a:solidFill>
                  <a:srgbClr val="FF0000"/>
                </a:solidFill>
                <a:effectLst/>
                <a:latin typeface="Inter"/>
              </a:rPr>
              <a:t>Tuple</a:t>
            </a:r>
            <a:r>
              <a:rPr lang="zh-CN" altLang="en-US" sz="1200" b="1" i="0" dirty="0">
                <a:solidFill>
                  <a:srgbClr val="FF0000"/>
                </a:solidFill>
                <a:effectLst/>
                <a:latin typeface="Inter"/>
              </a:rPr>
              <a:t>）和集合（</a:t>
            </a:r>
            <a:r>
              <a:rPr lang="en-US" altLang="zh-CN" sz="1200" b="1" i="0" dirty="0">
                <a:solidFill>
                  <a:srgbClr val="FF0000"/>
                </a:solidFill>
                <a:effectLst/>
                <a:latin typeface="Inter"/>
              </a:rPr>
              <a:t>Set</a:t>
            </a:r>
            <a:r>
              <a:rPr lang="zh-CN" altLang="en-US" sz="1200" b="1" i="0" dirty="0">
                <a:solidFill>
                  <a:srgbClr val="FF0000"/>
                </a:solidFill>
                <a:effectLst/>
                <a:latin typeface="Inter"/>
              </a:rPr>
              <a:t>）这两种数据结构通过其他方式实现类似功能</a:t>
            </a:r>
            <a:endParaRPr lang="zh-CN" altLang="en-US" sz="1200" b="1" dirty="0">
              <a:solidFill>
                <a:srgbClr val="FF0000"/>
              </a:solidFill>
            </a:endParaRPr>
          </a:p>
        </p:txBody>
      </p:sp>
      <p:sp>
        <p:nvSpPr>
          <p:cNvPr id="2" name="矩形: 圆角 1">
            <a:extLst>
              <a:ext uri="{FF2B5EF4-FFF2-40B4-BE49-F238E27FC236}">
                <a16:creationId xmlns:a16="http://schemas.microsoft.com/office/drawing/2014/main" id="{F58AADD3-9ABB-4385-A7A4-4055DD2FF5FB}"/>
              </a:ext>
            </a:extLst>
          </p:cNvPr>
          <p:cNvSpPr/>
          <p:nvPr/>
        </p:nvSpPr>
        <p:spPr bwMode="auto">
          <a:xfrm>
            <a:off x="4716016" y="2520545"/>
            <a:ext cx="504056" cy="230430"/>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1" name="矩形: 圆角 10">
            <a:extLst>
              <a:ext uri="{FF2B5EF4-FFF2-40B4-BE49-F238E27FC236}">
                <a16:creationId xmlns:a16="http://schemas.microsoft.com/office/drawing/2014/main" id="{0295F2D3-A9F2-415D-9592-65C86706DEF9}"/>
              </a:ext>
            </a:extLst>
          </p:cNvPr>
          <p:cNvSpPr/>
          <p:nvPr/>
        </p:nvSpPr>
        <p:spPr bwMode="auto">
          <a:xfrm>
            <a:off x="4716016" y="1786957"/>
            <a:ext cx="504056" cy="230430"/>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4" name="矩形: 圆角 13">
            <a:extLst>
              <a:ext uri="{FF2B5EF4-FFF2-40B4-BE49-F238E27FC236}">
                <a16:creationId xmlns:a16="http://schemas.microsoft.com/office/drawing/2014/main" id="{D851C251-8F78-4664-8CB8-63C6AD50CD8D}"/>
              </a:ext>
            </a:extLst>
          </p:cNvPr>
          <p:cNvSpPr/>
          <p:nvPr/>
        </p:nvSpPr>
        <p:spPr bwMode="auto">
          <a:xfrm>
            <a:off x="4743910" y="2051662"/>
            <a:ext cx="1268250" cy="198985"/>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5" name="矩形: 圆角 14">
            <a:extLst>
              <a:ext uri="{FF2B5EF4-FFF2-40B4-BE49-F238E27FC236}">
                <a16:creationId xmlns:a16="http://schemas.microsoft.com/office/drawing/2014/main" id="{1140EA52-3CCE-4D7C-BF9A-A3F3D6470348}"/>
              </a:ext>
            </a:extLst>
          </p:cNvPr>
          <p:cNvSpPr/>
          <p:nvPr/>
        </p:nvSpPr>
        <p:spPr bwMode="auto">
          <a:xfrm>
            <a:off x="4733404" y="2299617"/>
            <a:ext cx="774700" cy="152149"/>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animBg="1"/>
      <p:bldP spid="11" grpId="0" animBg="1"/>
      <p:bldP spid="14"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420A9B3-77A2-4430-96E9-94CDC8280650}"/>
              </a:ext>
            </a:extLst>
          </p:cNvPr>
          <p:cNvSpPr>
            <a:spLocks noGrp="1"/>
          </p:cNvSpPr>
          <p:nvPr>
            <p:ph type="title"/>
          </p:nvPr>
        </p:nvSpPr>
        <p:spPr>
          <a:xfrm>
            <a:off x="827584" y="169664"/>
            <a:ext cx="4978792" cy="438150"/>
          </a:xfrm>
        </p:spPr>
        <p:txBody>
          <a:bodyPr/>
          <a:lstStyle/>
          <a:p>
            <a:r>
              <a:rPr lang="en-US" altLang="zh-CN" sz="3600" dirty="0"/>
              <a:t>§1. 4 .1  </a:t>
            </a:r>
            <a:r>
              <a:rPr lang="zh-CN" altLang="en-US" sz="3600" dirty="0"/>
              <a:t>数组</a:t>
            </a:r>
            <a:r>
              <a:rPr lang="en-US" altLang="zh-CN" sz="3600" dirty="0">
                <a:solidFill>
                  <a:srgbClr val="FF0000"/>
                </a:solidFill>
              </a:rPr>
              <a:t> </a:t>
            </a:r>
            <a:r>
              <a:rPr lang="zh-CN" altLang="en-US" sz="3600" dirty="0">
                <a:solidFill>
                  <a:srgbClr val="FF0000"/>
                </a:solidFill>
              </a:rPr>
              <a:t>和索引</a:t>
            </a:r>
            <a:endParaRPr lang="zh-CN" altLang="en-US" sz="3600" dirty="0"/>
          </a:p>
        </p:txBody>
      </p:sp>
      <p:sp>
        <p:nvSpPr>
          <p:cNvPr id="8" name="内容占位符 2">
            <a:extLst>
              <a:ext uri="{FF2B5EF4-FFF2-40B4-BE49-F238E27FC236}">
                <a16:creationId xmlns:a16="http://schemas.microsoft.com/office/drawing/2014/main" id="{D9105D4A-AA60-4FB9-BADA-7F4B3F929ACA}"/>
              </a:ext>
            </a:extLst>
          </p:cNvPr>
          <p:cNvSpPr txBox="1">
            <a:spLocks/>
          </p:cNvSpPr>
          <p:nvPr/>
        </p:nvSpPr>
        <p:spPr bwMode="auto">
          <a:xfrm>
            <a:off x="539552" y="1128381"/>
            <a:ext cx="8352928" cy="31911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nSpc>
                <a:spcPct val="200000"/>
              </a:lnSpc>
              <a:buNone/>
            </a:pPr>
            <a:r>
              <a:rPr lang="en-US" altLang="zh-CN" sz="2200" kern="0" dirty="0">
                <a:latin typeface="微软雅黑" panose="020B0503020204020204" pitchFamily="34" charset="-122"/>
                <a:ea typeface="微软雅黑" panose="020B0503020204020204" pitchFamily="34" charset="-122"/>
              </a:rPr>
              <a:t>§1.4.1.1 </a:t>
            </a:r>
            <a:r>
              <a:rPr lang="zh-CN" altLang="en-US" sz="2200" kern="0" dirty="0">
                <a:latin typeface="微软雅黑" panose="020B0503020204020204" pitchFamily="34" charset="-122"/>
                <a:ea typeface="微软雅黑" panose="020B0503020204020204" pitchFamily="34" charset="-122"/>
              </a:rPr>
              <a:t>创建一维向量</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方括号法</a:t>
            </a:r>
            <a:r>
              <a:rPr lang="en-US" altLang="zh-CN" sz="2200" dirty="0">
                <a:solidFill>
                  <a:srgbClr val="FF0000"/>
                </a:solidFill>
                <a:latin typeface="微软雅黑" panose="020B0503020204020204" pitchFamily="34" charset="-122"/>
                <a:ea typeface="微软雅黑" panose="020B0503020204020204" pitchFamily="34" charset="-122"/>
              </a:rPr>
              <a:t>[ ]</a:t>
            </a:r>
            <a:r>
              <a:rPr lang="zh-CN" altLang="en-US" sz="2200" dirty="0">
                <a:solidFill>
                  <a:srgbClr val="FF0000"/>
                </a:solidFill>
                <a:latin typeface="微软雅黑" panose="020B0503020204020204" pitchFamily="34" charset="-122"/>
                <a:ea typeface="微软雅黑" panose="020B0503020204020204" pitchFamily="34" charset="-122"/>
              </a:rPr>
              <a:t>、冒号法</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和函数法</a:t>
            </a:r>
            <a:endParaRPr lang="en-US" altLang="zh-CN" sz="2200" kern="0" dirty="0">
              <a:latin typeface="微软雅黑" panose="020B0503020204020204" pitchFamily="34" charset="-122"/>
              <a:ea typeface="微软雅黑" panose="020B0503020204020204" pitchFamily="34" charset="-122"/>
            </a:endParaRPr>
          </a:p>
          <a:p>
            <a:pPr marL="0" indent="0">
              <a:lnSpc>
                <a:spcPct val="200000"/>
              </a:lnSpc>
              <a:buNone/>
            </a:pPr>
            <a:r>
              <a:rPr lang="en-US" altLang="zh-CN" sz="2200" kern="0" dirty="0">
                <a:latin typeface="微软雅黑" panose="020B0503020204020204" pitchFamily="34" charset="-122"/>
                <a:ea typeface="微软雅黑" panose="020B0503020204020204" pitchFamily="34" charset="-122"/>
              </a:rPr>
              <a:t>§1.4.1.2 </a:t>
            </a:r>
            <a:r>
              <a:rPr lang="zh-CN" altLang="en-US" sz="2200" kern="0" dirty="0">
                <a:latin typeface="微软雅黑" panose="020B0503020204020204" pitchFamily="34" charset="-122"/>
                <a:ea typeface="微软雅黑" panose="020B0503020204020204" pitchFamily="34" charset="-122"/>
              </a:rPr>
              <a:t>创建二维矩阵</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方括号法</a:t>
            </a:r>
            <a:r>
              <a:rPr lang="en-US" altLang="zh-CN" sz="2200" dirty="0">
                <a:solidFill>
                  <a:srgbClr val="FF0000"/>
                </a:solidFill>
                <a:latin typeface="微软雅黑" panose="020B0503020204020204" pitchFamily="34" charset="-122"/>
                <a:ea typeface="微软雅黑" panose="020B0503020204020204" pitchFamily="34" charset="-122"/>
              </a:rPr>
              <a:t>[ ]</a:t>
            </a:r>
            <a:r>
              <a:rPr lang="zh-CN" altLang="en-US" sz="2200" dirty="0">
                <a:solidFill>
                  <a:srgbClr val="FF0000"/>
                </a:solidFill>
                <a:latin typeface="微软雅黑" panose="020B0503020204020204" pitchFamily="34" charset="-122"/>
                <a:ea typeface="微软雅黑" panose="020B0503020204020204" pitchFamily="34" charset="-122"/>
              </a:rPr>
              <a:t>、函数法</a:t>
            </a:r>
            <a:endParaRPr lang="en-US" altLang="zh-CN" sz="2200" dirty="0">
              <a:solidFill>
                <a:srgbClr val="FF0000"/>
              </a:solidFill>
              <a:latin typeface="微软雅黑" panose="020B0503020204020204" pitchFamily="34" charset="-122"/>
              <a:ea typeface="微软雅黑" panose="020B0503020204020204" pitchFamily="34" charset="-122"/>
            </a:endParaRPr>
          </a:p>
          <a:p>
            <a:pPr marL="0" indent="0">
              <a:lnSpc>
                <a:spcPct val="200000"/>
              </a:lnSpc>
              <a:buNone/>
            </a:pPr>
            <a:r>
              <a:rPr lang="en-US" altLang="zh-CN" sz="2200" kern="0" dirty="0">
                <a:latin typeface="微软雅黑" panose="020B0503020204020204" pitchFamily="34" charset="-122"/>
                <a:ea typeface="微软雅黑" panose="020B0503020204020204" pitchFamily="34" charset="-122"/>
              </a:rPr>
              <a:t>§1.4.1.3 </a:t>
            </a:r>
            <a:r>
              <a:rPr lang="zh-CN" altLang="en-US" sz="2200" kern="0" dirty="0">
                <a:latin typeface="微软雅黑" panose="020B0503020204020204" pitchFamily="34" charset="-122"/>
                <a:ea typeface="微软雅黑" panose="020B0503020204020204" pitchFamily="34" charset="-122"/>
              </a:rPr>
              <a:t>创建多维数组</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多分号的方括号法</a:t>
            </a:r>
            <a:endParaRPr lang="en-US" altLang="zh-CN" sz="2200" kern="0" dirty="0">
              <a:latin typeface="微软雅黑" panose="020B0503020204020204" pitchFamily="34" charset="-122"/>
              <a:ea typeface="微软雅黑" panose="020B0503020204020204" pitchFamily="34" charset="-122"/>
            </a:endParaRPr>
          </a:p>
          <a:p>
            <a:pPr marL="0" indent="0">
              <a:lnSpc>
                <a:spcPct val="200000"/>
              </a:lnSpc>
              <a:buNone/>
            </a:pPr>
            <a:r>
              <a:rPr lang="en-US" altLang="zh-CN" sz="2200" kern="0" dirty="0">
                <a:latin typeface="微软雅黑" panose="020B0503020204020204" pitchFamily="34" charset="-122"/>
                <a:ea typeface="微软雅黑" panose="020B0503020204020204" pitchFamily="34" charset="-122"/>
              </a:rPr>
              <a:t>§1.4.1.4  </a:t>
            </a:r>
            <a:r>
              <a:rPr lang="zh-CN" altLang="en-US" sz="2200" kern="0" dirty="0">
                <a:latin typeface="微软雅黑" panose="020B0503020204020204" pitchFamily="34" charset="-122"/>
                <a:ea typeface="微软雅黑" panose="020B0503020204020204" pitchFamily="34" charset="-122"/>
              </a:rPr>
              <a:t>数组索引</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三种索引方法和冒号索引应用</a:t>
            </a:r>
            <a:endParaRPr lang="en-US" altLang="zh-CN" sz="2200" kern="0" dirty="0">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zh-CN" altLang="en-US" sz="2400" kern="0" dirty="0"/>
          </a:p>
        </p:txBody>
      </p:sp>
      <p:sp>
        <p:nvSpPr>
          <p:cNvPr id="7" name="矩形 6">
            <a:extLst>
              <a:ext uri="{FF2B5EF4-FFF2-40B4-BE49-F238E27FC236}">
                <a16:creationId xmlns:a16="http://schemas.microsoft.com/office/drawing/2014/main" id="{FE699F7F-7875-40F3-A67C-FE5A27CE9F82}"/>
              </a:ext>
            </a:extLst>
          </p:cNvPr>
          <p:cNvSpPr/>
          <p:nvPr/>
        </p:nvSpPr>
        <p:spPr>
          <a:xfrm>
            <a:off x="6462775" y="2100425"/>
            <a:ext cx="1061554" cy="338554"/>
          </a:xfrm>
          <a:prstGeom prst="rect">
            <a:avLst/>
          </a:prstGeom>
          <a:solidFill>
            <a:srgbClr val="0070C0"/>
          </a:solidFill>
          <a:ln>
            <a:solidFill>
              <a:schemeClr val="tx1">
                <a:lumMod val="50000"/>
                <a:lumOff val="50000"/>
              </a:schemeClr>
            </a:solid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b="1" dirty="0">
                <a:solidFill>
                  <a:schemeClr val="bg1"/>
                </a:solidFill>
                <a:latin typeface="+mj-lt"/>
              </a:rPr>
              <a:t>矩阵</a:t>
            </a:r>
            <a:r>
              <a:rPr lang="en-US" altLang="zh-CN" sz="1600" b="1" dirty="0">
                <a:solidFill>
                  <a:schemeClr val="bg1"/>
                </a:solidFill>
                <a:latin typeface="+mj-lt"/>
              </a:rPr>
              <a:t>m</a:t>
            </a:r>
            <a:r>
              <a:rPr lang="zh-CN" altLang="en-US" sz="1600" b="1" dirty="0">
                <a:solidFill>
                  <a:schemeClr val="bg1"/>
                </a:solidFill>
                <a:latin typeface="+mj-lt"/>
              </a:rPr>
              <a:t>*</a:t>
            </a:r>
            <a:r>
              <a:rPr lang="en-US" altLang="zh-CN" sz="1600" b="1" dirty="0">
                <a:solidFill>
                  <a:schemeClr val="bg1"/>
                </a:solidFill>
                <a:latin typeface="+mj-lt"/>
              </a:rPr>
              <a:t>n</a:t>
            </a:r>
            <a:endParaRPr lang="zh-CN" altLang="en-US" sz="1600" b="1" dirty="0">
              <a:solidFill>
                <a:schemeClr val="bg1"/>
              </a:solidFill>
              <a:latin typeface="+mj-lt"/>
            </a:endParaRPr>
          </a:p>
        </p:txBody>
      </p:sp>
      <p:sp>
        <p:nvSpPr>
          <p:cNvPr id="9" name="矩形 8">
            <a:extLst>
              <a:ext uri="{FF2B5EF4-FFF2-40B4-BE49-F238E27FC236}">
                <a16:creationId xmlns:a16="http://schemas.microsoft.com/office/drawing/2014/main" id="{5D7ABB6E-77E4-4010-BB4C-4D4FD9CA6B0E}"/>
              </a:ext>
            </a:extLst>
          </p:cNvPr>
          <p:cNvSpPr/>
          <p:nvPr/>
        </p:nvSpPr>
        <p:spPr>
          <a:xfrm>
            <a:off x="7740352" y="1398694"/>
            <a:ext cx="1152128" cy="338554"/>
          </a:xfrm>
          <a:prstGeom prst="rect">
            <a:avLst/>
          </a:prstGeom>
          <a:solidFill>
            <a:srgbClr val="0070C0"/>
          </a:solidFill>
          <a:ln>
            <a:solidFill>
              <a:schemeClr val="tx1">
                <a:lumMod val="50000"/>
                <a:lumOff val="50000"/>
              </a:schemeClr>
            </a:solid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b="1" dirty="0">
                <a:solidFill>
                  <a:schemeClr val="bg1"/>
                </a:solidFill>
                <a:latin typeface="+mj-lt"/>
              </a:rPr>
              <a:t>列向量</a:t>
            </a:r>
            <a:r>
              <a:rPr lang="en-US" altLang="zh-CN" sz="1600" b="1" dirty="0">
                <a:solidFill>
                  <a:schemeClr val="bg1"/>
                </a:solidFill>
                <a:latin typeface="+mj-lt"/>
              </a:rPr>
              <a:t>n*1</a:t>
            </a:r>
            <a:endParaRPr lang="zh-CN" altLang="en-US" sz="1600" b="1" dirty="0">
              <a:solidFill>
                <a:schemeClr val="bg1"/>
              </a:solidFill>
              <a:latin typeface="+mj-lt"/>
            </a:endParaRPr>
          </a:p>
        </p:txBody>
      </p:sp>
      <p:sp>
        <p:nvSpPr>
          <p:cNvPr id="10" name="矩形 9">
            <a:extLst>
              <a:ext uri="{FF2B5EF4-FFF2-40B4-BE49-F238E27FC236}">
                <a16:creationId xmlns:a16="http://schemas.microsoft.com/office/drawing/2014/main" id="{DF348D5F-6BDE-44CD-8007-ADE57B824F37}"/>
              </a:ext>
            </a:extLst>
          </p:cNvPr>
          <p:cNvSpPr/>
          <p:nvPr/>
        </p:nvSpPr>
        <p:spPr>
          <a:xfrm>
            <a:off x="6210747" y="2726885"/>
            <a:ext cx="1565610" cy="338554"/>
          </a:xfrm>
          <a:prstGeom prst="rect">
            <a:avLst/>
          </a:prstGeom>
          <a:solidFill>
            <a:srgbClr val="0070C0"/>
          </a:solidFill>
          <a:ln>
            <a:solidFill>
              <a:schemeClr val="tx1">
                <a:lumMod val="50000"/>
                <a:lumOff val="50000"/>
              </a:schemeClr>
            </a:solid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b="1" dirty="0">
                <a:solidFill>
                  <a:schemeClr val="bg1"/>
                </a:solidFill>
                <a:latin typeface="+mj-lt"/>
              </a:rPr>
              <a:t>三维数组</a:t>
            </a:r>
            <a:r>
              <a:rPr lang="en-US" altLang="zh-CN" sz="1600" b="1" dirty="0">
                <a:solidFill>
                  <a:schemeClr val="bg1"/>
                </a:solidFill>
                <a:latin typeface="+mj-lt"/>
              </a:rPr>
              <a:t>m</a:t>
            </a:r>
            <a:r>
              <a:rPr lang="zh-CN" altLang="en-US" sz="1600" b="1" dirty="0">
                <a:solidFill>
                  <a:schemeClr val="bg1"/>
                </a:solidFill>
                <a:latin typeface="+mj-lt"/>
              </a:rPr>
              <a:t>*</a:t>
            </a:r>
            <a:r>
              <a:rPr lang="en-US" altLang="zh-CN" sz="1600" b="1" dirty="0">
                <a:solidFill>
                  <a:schemeClr val="bg1"/>
                </a:solidFill>
                <a:latin typeface="+mj-lt"/>
              </a:rPr>
              <a:t>n*l</a:t>
            </a:r>
            <a:endParaRPr lang="zh-CN" altLang="en-US" sz="1600" b="1" dirty="0">
              <a:solidFill>
                <a:schemeClr val="bg1"/>
              </a:solidFill>
              <a:latin typeface="+mj-lt"/>
            </a:endParaRPr>
          </a:p>
        </p:txBody>
      </p:sp>
      <p:sp>
        <p:nvSpPr>
          <p:cNvPr id="12" name="文本框 11">
            <a:extLst>
              <a:ext uri="{FF2B5EF4-FFF2-40B4-BE49-F238E27FC236}">
                <a16:creationId xmlns:a16="http://schemas.microsoft.com/office/drawing/2014/main" id="{EEB0B9EB-CDD1-4862-AA7D-084D7757E380}"/>
              </a:ext>
            </a:extLst>
          </p:cNvPr>
          <p:cNvSpPr txBox="1"/>
          <p:nvPr/>
        </p:nvSpPr>
        <p:spPr>
          <a:xfrm>
            <a:off x="423881" y="690231"/>
            <a:ext cx="8540607" cy="406971"/>
          </a:xfrm>
          <a:prstGeom prst="rect">
            <a:avLst/>
          </a:prstGeom>
          <a:solidFill>
            <a:schemeClr val="bg1"/>
          </a:solidFill>
        </p:spPr>
        <p:txBody>
          <a:bodyPr wrap="square">
            <a:spAutoFit/>
          </a:bodyPr>
          <a:lstStyle>
            <a:defPPr>
              <a:defRPr lang="zh-CN"/>
            </a:defPPr>
            <a:lvl1pPr defTabSz="685800" fontAlgn="auto">
              <a:lnSpc>
                <a:spcPts val="3400"/>
              </a:lnSpc>
              <a:spcBef>
                <a:spcPts val="0"/>
              </a:spcBef>
              <a:spcAft>
                <a:spcPts val="0"/>
              </a:spcAft>
              <a:defRPr sz="2000" b="1">
                <a:solidFill>
                  <a:srgbClr val="0070C0"/>
                </a:solidFill>
                <a:effectLst>
                  <a:reflection blurRad="6350" stA="30000" endPos="27000" dist="25400" dir="5400000" sy="-100000" algn="bl" rotWithShape="0"/>
                </a:effectLst>
                <a:latin typeface="微软雅黑" panose="020B0503020204020204" pitchFamily="34" charset="-122"/>
                <a:ea typeface="微软雅黑" panose="020B0503020204020204" pitchFamily="34" charset="-122"/>
                <a:cs typeface="+mn-ea"/>
              </a:defRPr>
            </a:lvl1pPr>
          </a:lstStyle>
          <a:p>
            <a:pPr algn="dist">
              <a:lnSpc>
                <a:spcPts val="2700"/>
              </a:lnSpc>
            </a:pPr>
            <a:r>
              <a:rPr lang="zh-CN" altLang="en-US" sz="1800" dirty="0"/>
              <a:t>数组是相同或不同数据类型元素按一定顺序排列的可变型集合，元素可以任意大小</a:t>
            </a:r>
          </a:p>
        </p:txBody>
      </p:sp>
      <p:sp>
        <p:nvSpPr>
          <p:cNvPr id="14" name="文本框 13">
            <a:extLst>
              <a:ext uri="{FF2B5EF4-FFF2-40B4-BE49-F238E27FC236}">
                <a16:creationId xmlns:a16="http://schemas.microsoft.com/office/drawing/2014/main" id="{1386F92F-4420-4A81-B440-5CF68600A39D}"/>
              </a:ext>
            </a:extLst>
          </p:cNvPr>
          <p:cNvSpPr txBox="1"/>
          <p:nvPr/>
        </p:nvSpPr>
        <p:spPr>
          <a:xfrm>
            <a:off x="369452" y="4118224"/>
            <a:ext cx="8739052" cy="403957"/>
          </a:xfrm>
          <a:prstGeom prst="rect">
            <a:avLst/>
          </a:prstGeom>
          <a:solidFill>
            <a:schemeClr val="bg1"/>
          </a:solidFill>
        </p:spPr>
        <p:txBody>
          <a:bodyPr wrap="square">
            <a:spAutoFit/>
          </a:bodyPr>
          <a:lstStyle>
            <a:defPPr>
              <a:defRPr lang="zh-CN"/>
            </a:defPPr>
            <a:lvl1pPr defTabSz="685800" fontAlgn="auto">
              <a:lnSpc>
                <a:spcPts val="3400"/>
              </a:lnSpc>
              <a:spcBef>
                <a:spcPts val="0"/>
              </a:spcBef>
              <a:spcAft>
                <a:spcPts val="0"/>
              </a:spcAft>
              <a:defRPr sz="2000" b="1">
                <a:solidFill>
                  <a:srgbClr val="0070C0"/>
                </a:solidFill>
                <a:effectLst>
                  <a:reflection blurRad="6350" stA="30000" endPos="27000" dist="25400" dir="5400000" sy="-100000" algn="bl" rotWithShape="0"/>
                </a:effectLst>
                <a:latin typeface="微软雅黑" panose="020B0503020204020204" pitchFamily="34" charset="-122"/>
                <a:ea typeface="微软雅黑" panose="020B0503020204020204" pitchFamily="34" charset="-122"/>
                <a:cs typeface="+mn-ea"/>
              </a:defRPr>
            </a:lvl1pPr>
          </a:lstStyle>
          <a:p>
            <a:pPr algn="dist">
              <a:lnSpc>
                <a:spcPts val="2700"/>
              </a:lnSpc>
            </a:pPr>
            <a:r>
              <a:rPr lang="zh-CN" altLang="en-US" sz="1800" dirty="0"/>
              <a:t>重点掌握方括号</a:t>
            </a:r>
            <a:r>
              <a:rPr lang="en-US" altLang="zh-CN" sz="1800" dirty="0"/>
              <a:t>[]</a:t>
            </a:r>
            <a:r>
              <a:rPr lang="zh-CN" altLang="en-US" sz="1800" dirty="0"/>
              <a:t>、冒号、</a:t>
            </a:r>
            <a:r>
              <a:rPr lang="en-US" altLang="zh-CN" sz="1800" dirty="0"/>
              <a:t> </a:t>
            </a:r>
            <a:r>
              <a:rPr lang="zh-CN" altLang="en-US" sz="1800" dirty="0"/>
              <a:t>内置函数创建列向量和矩阵，以及数组三种索引方法</a:t>
            </a:r>
          </a:p>
        </p:txBody>
      </p:sp>
    </p:spTree>
    <p:extLst>
      <p:ext uri="{BB962C8B-B14F-4D97-AF65-F5344CB8AC3E}">
        <p14:creationId xmlns:p14="http://schemas.microsoft.com/office/powerpoint/2010/main" val="2078125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5362EC-C046-E437-E94C-655586D204ED}"/>
              </a:ext>
            </a:extLst>
          </p:cNvPr>
          <p:cNvSpPr>
            <a:spLocks noGrp="1"/>
          </p:cNvSpPr>
          <p:nvPr>
            <p:ph type="title"/>
          </p:nvPr>
        </p:nvSpPr>
        <p:spPr>
          <a:xfrm>
            <a:off x="1150344" y="91463"/>
            <a:ext cx="7424102" cy="552676"/>
          </a:xfrm>
        </p:spPr>
        <p:txBody>
          <a:bodyPr/>
          <a:lstStyle/>
          <a:p>
            <a:r>
              <a:rPr lang="en-US" altLang="zh-CN" sz="2800" dirty="0"/>
              <a:t>§1.4.1.1</a:t>
            </a:r>
            <a:r>
              <a:rPr lang="zh-CN" altLang="en-US" sz="2800" dirty="0"/>
              <a:t>创建一维</a:t>
            </a:r>
            <a:r>
              <a:rPr lang="zh-CN" altLang="en-US" sz="2800" dirty="0">
                <a:latin typeface="Helvetica Neue"/>
              </a:rPr>
              <a:t>向量</a:t>
            </a:r>
            <a:r>
              <a:rPr lang="en-US" altLang="zh-CN" sz="2800" dirty="0">
                <a:solidFill>
                  <a:srgbClr val="FF0000"/>
                </a:solidFill>
              </a:rPr>
              <a:t>——1. </a:t>
            </a:r>
            <a:r>
              <a:rPr lang="zh-CN" altLang="en-US" sz="2800" dirty="0">
                <a:solidFill>
                  <a:srgbClr val="FF0000"/>
                </a:solidFill>
              </a:rPr>
              <a:t>用方括号</a:t>
            </a:r>
            <a:r>
              <a:rPr lang="en-US" altLang="zh-CN" sz="2800" dirty="0">
                <a:solidFill>
                  <a:srgbClr val="FF0000"/>
                </a:solidFill>
              </a:rPr>
              <a:t>[ ]</a:t>
            </a:r>
            <a:r>
              <a:rPr lang="zh-CN" altLang="en-US" sz="2800" dirty="0">
                <a:solidFill>
                  <a:srgbClr val="FF0000"/>
                </a:solidFill>
                <a:latin typeface="Helvetica Neue"/>
              </a:rPr>
              <a:t>创建</a:t>
            </a:r>
            <a:endParaRPr lang="zh-CN" altLang="en-US" sz="2800" dirty="0">
              <a:solidFill>
                <a:srgbClr val="FF0000"/>
              </a:solidFill>
            </a:endParaRPr>
          </a:p>
        </p:txBody>
      </p:sp>
      <p:sp>
        <p:nvSpPr>
          <p:cNvPr id="3" name="内容占位符 2">
            <a:extLst>
              <a:ext uri="{FF2B5EF4-FFF2-40B4-BE49-F238E27FC236}">
                <a16:creationId xmlns:a16="http://schemas.microsoft.com/office/drawing/2014/main" id="{A386E586-49E0-58C2-C416-BFA78C9C8D9F}"/>
              </a:ext>
            </a:extLst>
          </p:cNvPr>
          <p:cNvSpPr>
            <a:spLocks noGrp="1"/>
          </p:cNvSpPr>
          <p:nvPr>
            <p:ph idx="1"/>
          </p:nvPr>
        </p:nvSpPr>
        <p:spPr>
          <a:xfrm>
            <a:off x="107504" y="1228577"/>
            <a:ext cx="8208912" cy="375809"/>
          </a:xfrm>
        </p:spPr>
        <p:txBody>
          <a:bodyPr/>
          <a:lstStyle/>
          <a:p>
            <a:pPr marL="457200" indent="-457200">
              <a:buFont typeface="+mj-ea"/>
              <a:buAutoNum type="circleNumDbPlain"/>
            </a:pPr>
            <a:r>
              <a:rPr lang="zh-CN" altLang="en-US" sz="1800" b="1" dirty="0">
                <a:solidFill>
                  <a:srgbClr val="0070C0"/>
                </a:solidFill>
                <a:latin typeface="微软雅黑" panose="020B0503020204020204" pitchFamily="34" charset="-122"/>
                <a:ea typeface="微软雅黑" panose="020B0503020204020204" pitchFamily="34" charset="-122"/>
              </a:rPr>
              <a:t>第</a:t>
            </a:r>
            <a:r>
              <a:rPr lang="en-US" altLang="zh-CN" sz="1800" b="1" dirty="0">
                <a:solidFill>
                  <a:srgbClr val="0070C0"/>
                </a:solidFill>
                <a:latin typeface="微软雅黑" panose="020B0503020204020204" pitchFamily="34" charset="-122"/>
                <a:ea typeface="微软雅黑" panose="020B0503020204020204" pitchFamily="34" charset="-122"/>
              </a:rPr>
              <a:t>1</a:t>
            </a:r>
            <a:r>
              <a:rPr lang="zh-CN" altLang="en-US" sz="1800" b="1" dirty="0">
                <a:solidFill>
                  <a:srgbClr val="0070C0"/>
                </a:solidFill>
                <a:latin typeface="微软雅黑" panose="020B0503020204020204" pitchFamily="34" charset="-122"/>
                <a:ea typeface="微软雅黑" panose="020B0503020204020204" pitchFamily="34" charset="-122"/>
              </a:rPr>
              <a:t>种方式</a:t>
            </a:r>
            <a:r>
              <a:rPr lang="en-US" altLang="zh-CN" sz="1800" b="1" dirty="0">
                <a:solidFill>
                  <a:srgbClr val="0070C0"/>
                </a:solidFill>
                <a:latin typeface="微软雅黑" panose="020B0503020204020204" pitchFamily="34" charset="-122"/>
                <a:ea typeface="微软雅黑" panose="020B0503020204020204" pitchFamily="34" charset="-122"/>
              </a:rPr>
              <a:t>: </a:t>
            </a:r>
            <a:r>
              <a:rPr lang="zh-CN" altLang="en-US" sz="1800" b="1" dirty="0">
                <a:solidFill>
                  <a:srgbClr val="0070C0"/>
                </a:solidFill>
                <a:latin typeface="微软雅黑" panose="020B0503020204020204" pitchFamily="34" charset="-122"/>
                <a:ea typeface="微软雅黑" panose="020B0503020204020204" pitchFamily="34" charset="-122"/>
              </a:rPr>
              <a:t>用逗号分隔向量的元素</a:t>
            </a:r>
          </a:p>
        </p:txBody>
      </p:sp>
      <p:sp>
        <p:nvSpPr>
          <p:cNvPr id="5" name="文本框 4">
            <a:extLst>
              <a:ext uri="{FF2B5EF4-FFF2-40B4-BE49-F238E27FC236}">
                <a16:creationId xmlns:a16="http://schemas.microsoft.com/office/drawing/2014/main" id="{B391F912-B3CC-C219-D6D8-F59B33FF144E}"/>
              </a:ext>
            </a:extLst>
          </p:cNvPr>
          <p:cNvSpPr txBox="1"/>
          <p:nvPr/>
        </p:nvSpPr>
        <p:spPr>
          <a:xfrm>
            <a:off x="618544" y="1566022"/>
            <a:ext cx="3276364" cy="1477328"/>
          </a:xfrm>
          <a:prstGeom prst="rect">
            <a:avLst/>
          </a:prstGeom>
          <a:noFill/>
        </p:spPr>
        <p:txBody>
          <a:bodyPr wrap="square">
            <a:spAutoFit/>
          </a:bodyPr>
          <a:lstStyle/>
          <a:p>
            <a:r>
              <a:rPr lang="es-ES" altLang="zh-CN" dirty="0"/>
              <a:t>julia&gt; v=[3,4,5]</a:t>
            </a:r>
          </a:p>
          <a:p>
            <a:r>
              <a:rPr lang="es-ES" altLang="zh-CN" dirty="0">
                <a:solidFill>
                  <a:srgbClr val="FF0000"/>
                </a:solidFill>
              </a:rPr>
              <a:t>3-element Vector</a:t>
            </a:r>
            <a:r>
              <a:rPr lang="es-ES" altLang="zh-CN" dirty="0">
                <a:solidFill>
                  <a:srgbClr val="00B0F0"/>
                </a:solidFill>
              </a:rPr>
              <a:t>{Int64}:</a:t>
            </a:r>
          </a:p>
          <a:p>
            <a:r>
              <a:rPr lang="es-ES" altLang="zh-CN" dirty="0">
                <a:solidFill>
                  <a:srgbClr val="00B0F0"/>
                </a:solidFill>
              </a:rPr>
              <a:t>3</a:t>
            </a:r>
          </a:p>
          <a:p>
            <a:r>
              <a:rPr lang="es-ES" altLang="zh-CN" dirty="0">
                <a:solidFill>
                  <a:srgbClr val="00B0F0"/>
                </a:solidFill>
              </a:rPr>
              <a:t>4</a:t>
            </a:r>
          </a:p>
          <a:p>
            <a:r>
              <a:rPr lang="es-ES" altLang="zh-CN" dirty="0">
                <a:solidFill>
                  <a:srgbClr val="00B0F0"/>
                </a:solidFill>
              </a:rPr>
              <a:t>5</a:t>
            </a:r>
          </a:p>
        </p:txBody>
      </p:sp>
      <p:sp>
        <p:nvSpPr>
          <p:cNvPr id="6" name="内容占位符 2">
            <a:extLst>
              <a:ext uri="{FF2B5EF4-FFF2-40B4-BE49-F238E27FC236}">
                <a16:creationId xmlns:a16="http://schemas.microsoft.com/office/drawing/2014/main" id="{35AA9136-0B4C-A5C4-CE7D-750B44C649E7}"/>
              </a:ext>
            </a:extLst>
          </p:cNvPr>
          <p:cNvSpPr txBox="1">
            <a:spLocks/>
          </p:cNvSpPr>
          <p:nvPr/>
        </p:nvSpPr>
        <p:spPr bwMode="auto">
          <a:xfrm>
            <a:off x="107504" y="3060037"/>
            <a:ext cx="8208912" cy="375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57200" indent="-457200" eaLnBrk="0" hangingPunct="0">
              <a:lnSpc>
                <a:spcPct val="110000"/>
              </a:lnSpc>
              <a:buFont typeface="+mj-ea"/>
              <a:buAutoNum type="circleNumDbPlain"/>
              <a:defRPr sz="2000" b="1">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buFont typeface="+mj-ea"/>
              <a:buAutoNum type="circleNumDbPlain" startAt="2"/>
            </a:pPr>
            <a:r>
              <a:rPr lang="zh-CN" altLang="en-US" sz="1800" dirty="0"/>
              <a:t>第</a:t>
            </a:r>
            <a:r>
              <a:rPr lang="en-US" altLang="zh-CN" sz="1800" dirty="0"/>
              <a:t>2</a:t>
            </a:r>
            <a:r>
              <a:rPr lang="zh-CN" altLang="en-US" sz="1800" dirty="0"/>
              <a:t>种方式</a:t>
            </a:r>
            <a:r>
              <a:rPr lang="en-US" altLang="zh-CN" sz="1800" dirty="0"/>
              <a:t>: </a:t>
            </a:r>
            <a:r>
              <a:rPr lang="zh-CN" altLang="en-US" sz="1800" dirty="0"/>
              <a:t>用分号分隔向量的元素</a:t>
            </a:r>
          </a:p>
        </p:txBody>
      </p:sp>
      <p:sp>
        <p:nvSpPr>
          <p:cNvPr id="9" name="文本框 8">
            <a:extLst>
              <a:ext uri="{FF2B5EF4-FFF2-40B4-BE49-F238E27FC236}">
                <a16:creationId xmlns:a16="http://schemas.microsoft.com/office/drawing/2014/main" id="{3ECA6211-AFDA-280C-4DD5-BF165FFA0AFF}"/>
              </a:ext>
            </a:extLst>
          </p:cNvPr>
          <p:cNvSpPr txBox="1"/>
          <p:nvPr/>
        </p:nvSpPr>
        <p:spPr>
          <a:xfrm>
            <a:off x="578072" y="3500387"/>
            <a:ext cx="2841800" cy="1077218"/>
          </a:xfrm>
          <a:prstGeom prst="rect">
            <a:avLst/>
          </a:prstGeom>
          <a:solidFill>
            <a:schemeClr val="bg1"/>
          </a:solidFill>
        </p:spPr>
        <p:txBody>
          <a:bodyPr wrap="square">
            <a:spAutoFit/>
          </a:bodyPr>
          <a:lstStyle/>
          <a:p>
            <a:r>
              <a:rPr lang="es-ES" altLang="zh-CN" sz="1600" dirty="0"/>
              <a:t>julia&gt; vv=[2.3;pi]</a:t>
            </a:r>
          </a:p>
          <a:p>
            <a:r>
              <a:rPr lang="es-ES" altLang="zh-CN" sz="1600" dirty="0">
                <a:solidFill>
                  <a:srgbClr val="00B0F0"/>
                </a:solidFill>
              </a:rPr>
              <a:t>2-element Vector{Float64}:</a:t>
            </a:r>
          </a:p>
          <a:p>
            <a:r>
              <a:rPr lang="es-ES" altLang="zh-CN" sz="1600" dirty="0">
                <a:solidFill>
                  <a:srgbClr val="00B0F0"/>
                </a:solidFill>
              </a:rPr>
              <a:t>2.3</a:t>
            </a:r>
          </a:p>
          <a:p>
            <a:r>
              <a:rPr lang="es-ES" altLang="zh-CN" sz="1600" dirty="0">
                <a:solidFill>
                  <a:srgbClr val="00B0F0"/>
                </a:solidFill>
              </a:rPr>
              <a:t>3.141592653589793</a:t>
            </a:r>
          </a:p>
        </p:txBody>
      </p:sp>
      <p:sp>
        <p:nvSpPr>
          <p:cNvPr id="4" name="矩形 3">
            <a:extLst>
              <a:ext uri="{FF2B5EF4-FFF2-40B4-BE49-F238E27FC236}">
                <a16:creationId xmlns:a16="http://schemas.microsoft.com/office/drawing/2014/main" id="{CB0529F8-9738-596A-F68D-362C558289D8}"/>
              </a:ext>
            </a:extLst>
          </p:cNvPr>
          <p:cNvSpPr/>
          <p:nvPr/>
        </p:nvSpPr>
        <p:spPr>
          <a:xfrm>
            <a:off x="4184127" y="1244822"/>
            <a:ext cx="1566043"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dirty="0">
                <a:solidFill>
                  <a:schemeClr val="bg1"/>
                </a:solidFill>
                <a:latin typeface="Times New Roman" panose="02020603050405020304" pitchFamily="18" charset="0"/>
                <a:cs typeface="Times New Roman" panose="02020603050405020304" pitchFamily="18" charset="0"/>
              </a:rPr>
              <a:t>x=[x1,</a:t>
            </a:r>
            <a:r>
              <a:rPr lang="en-US" altLang="zh-CN" sz="1600" b="1">
                <a:solidFill>
                  <a:schemeClr val="bg1"/>
                </a:solidFill>
                <a:latin typeface="Times New Roman" panose="02020603050405020304" pitchFamily="18" charset="0"/>
                <a:cs typeface="Times New Roman" panose="02020603050405020304" pitchFamily="18" charset="0"/>
              </a:rPr>
              <a:t>x2,…,xn</a:t>
            </a:r>
            <a:r>
              <a:rPr lang="en-US" altLang="zh-CN" sz="1600" b="1" dirty="0">
                <a:solidFill>
                  <a:schemeClr val="bg1"/>
                </a:solidFill>
                <a:latin typeface="Times New Roman" panose="02020603050405020304" pitchFamily="18" charset="0"/>
                <a:cs typeface="Times New Roman" panose="02020603050405020304" pitchFamily="18" charset="0"/>
              </a:rPr>
              <a:t>]</a:t>
            </a:r>
            <a:endParaRPr lang="zh-CN" altLang="en-US" sz="1600" b="1" dirty="0">
              <a:solidFill>
                <a:schemeClr val="bg1"/>
              </a:soli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E77D3919-FFC8-D3B9-0AC0-CEBB9DB32EBA}"/>
              </a:ext>
            </a:extLst>
          </p:cNvPr>
          <p:cNvSpPr/>
          <p:nvPr/>
        </p:nvSpPr>
        <p:spPr>
          <a:xfrm>
            <a:off x="4428916" y="3070930"/>
            <a:ext cx="1535210" cy="344891"/>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dirty="0">
                <a:solidFill>
                  <a:schemeClr val="bg1"/>
                </a:solidFill>
                <a:latin typeface="Times New Roman" panose="02020603050405020304" pitchFamily="18" charset="0"/>
                <a:cs typeface="Times New Roman" panose="02020603050405020304" pitchFamily="18" charset="0"/>
              </a:rPr>
              <a:t>x=[x1;x2;…;</a:t>
            </a:r>
            <a:r>
              <a:rPr lang="en-US" altLang="zh-CN" sz="1600" b="1" dirty="0" err="1">
                <a:solidFill>
                  <a:schemeClr val="bg1"/>
                </a:solidFill>
                <a:latin typeface="Times New Roman" panose="02020603050405020304" pitchFamily="18" charset="0"/>
                <a:cs typeface="Times New Roman" panose="02020603050405020304" pitchFamily="18" charset="0"/>
              </a:rPr>
              <a:t>xn</a:t>
            </a:r>
            <a:r>
              <a:rPr lang="en-US" altLang="zh-CN" sz="1600" b="1" dirty="0">
                <a:solidFill>
                  <a:schemeClr val="bg1"/>
                </a:solidFill>
                <a:latin typeface="Times New Roman" panose="02020603050405020304" pitchFamily="18" charset="0"/>
                <a:cs typeface="Times New Roman" panose="02020603050405020304" pitchFamily="18" charset="0"/>
              </a:rPr>
              <a:t>]</a:t>
            </a:r>
            <a:endParaRPr lang="zh-CN" altLang="en-US" sz="1600" b="1" dirty="0">
              <a:solidFill>
                <a:schemeClr val="bg1"/>
              </a:solidFill>
              <a:latin typeface="Times New Roman" panose="02020603050405020304" pitchFamily="18" charset="0"/>
              <a:cs typeface="Times New Roman" panose="02020603050405020304" pitchFamily="18" charset="0"/>
            </a:endParaRPr>
          </a:p>
        </p:txBody>
      </p:sp>
      <p:sp>
        <p:nvSpPr>
          <p:cNvPr id="15" name="AutoShape 13">
            <a:extLst>
              <a:ext uri="{FF2B5EF4-FFF2-40B4-BE49-F238E27FC236}">
                <a16:creationId xmlns:a16="http://schemas.microsoft.com/office/drawing/2014/main" id="{A6C7E7FA-AB9E-CE32-1CD1-E482E2E51650}"/>
              </a:ext>
            </a:extLst>
          </p:cNvPr>
          <p:cNvSpPr>
            <a:spLocks noChangeArrowheads="1"/>
          </p:cNvSpPr>
          <p:nvPr/>
        </p:nvSpPr>
        <p:spPr bwMode="auto">
          <a:xfrm>
            <a:off x="3179831" y="3876622"/>
            <a:ext cx="1080120" cy="625506"/>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kern="0" dirty="0">
                <a:solidFill>
                  <a:srgbClr val="FFFF00"/>
                </a:solidFill>
                <a:ea typeface="黑体" panose="02010609060101010101" pitchFamily="49" charset="-122"/>
              </a:rPr>
              <a:t>注意 </a:t>
            </a:r>
          </a:p>
        </p:txBody>
      </p:sp>
      <p:sp>
        <p:nvSpPr>
          <p:cNvPr id="18" name="内容占位符 2">
            <a:extLst>
              <a:ext uri="{FF2B5EF4-FFF2-40B4-BE49-F238E27FC236}">
                <a16:creationId xmlns:a16="http://schemas.microsoft.com/office/drawing/2014/main" id="{6123C2A3-A921-4023-97BC-1C74F2D7690B}"/>
              </a:ext>
            </a:extLst>
          </p:cNvPr>
          <p:cNvSpPr txBox="1">
            <a:spLocks/>
          </p:cNvSpPr>
          <p:nvPr/>
        </p:nvSpPr>
        <p:spPr bwMode="auto">
          <a:xfrm>
            <a:off x="165008" y="740136"/>
            <a:ext cx="8890477" cy="407291"/>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gn="dist">
              <a:buNone/>
            </a:pPr>
            <a:r>
              <a:rPr lang="en-US" altLang="zh-CN" sz="2000" b="1" dirty="0">
                <a:solidFill>
                  <a:srgbClr val="0070C0"/>
                </a:solidFill>
                <a:latin typeface="微软雅黑" panose="020B0503020204020204" pitchFamily="34" charset="-122"/>
                <a:ea typeface="微软雅黑" panose="020B0503020204020204" pitchFamily="34" charset="-122"/>
              </a:rPr>
              <a:t>Julia</a:t>
            </a:r>
            <a:r>
              <a:rPr lang="zh-CN" altLang="en-US" sz="1800" b="1" dirty="0">
                <a:solidFill>
                  <a:srgbClr val="0070C0"/>
                </a:solidFill>
                <a:latin typeface="微软雅黑" panose="020B0503020204020204" pitchFamily="34" charset="-122"/>
                <a:ea typeface="微软雅黑" panose="020B0503020204020204" pitchFamily="34" charset="-122"/>
              </a:rPr>
              <a:t>创建向量只有列向量，即可用逗号</a:t>
            </a:r>
            <a:r>
              <a:rPr lang="en-US" altLang="zh-CN" sz="1800" b="1" dirty="0">
                <a:solidFill>
                  <a:srgbClr val="0070C0"/>
                </a:solidFill>
                <a:latin typeface="微软雅黑" panose="020B0503020204020204" pitchFamily="34" charset="-122"/>
                <a:ea typeface="微软雅黑" panose="020B0503020204020204" pitchFamily="34" charset="-122"/>
              </a:rPr>
              <a:t>”,” </a:t>
            </a:r>
            <a:r>
              <a:rPr lang="zh-CN" altLang="en-US" sz="1800" b="1" dirty="0">
                <a:solidFill>
                  <a:srgbClr val="0070C0"/>
                </a:solidFill>
                <a:latin typeface="微软雅黑" panose="020B0503020204020204" pitchFamily="34" charset="-122"/>
                <a:ea typeface="微软雅黑" panose="020B0503020204020204" pitchFamily="34" charset="-122"/>
              </a:rPr>
              <a:t>，也可用分号</a:t>
            </a:r>
            <a:r>
              <a:rPr lang="en-US" altLang="zh-CN" sz="1800" b="1" dirty="0">
                <a:solidFill>
                  <a:srgbClr val="0070C0"/>
                </a:solidFill>
                <a:latin typeface="微软雅黑" panose="020B0503020204020204" pitchFamily="34" charset="-122"/>
                <a:ea typeface="微软雅黑" panose="020B0503020204020204" pitchFamily="34" charset="-122"/>
              </a:rPr>
              <a:t>”;”</a:t>
            </a:r>
            <a:r>
              <a:rPr lang="zh-CN" altLang="en-US" sz="1800" b="1" dirty="0">
                <a:solidFill>
                  <a:srgbClr val="0070C0"/>
                </a:solidFill>
                <a:latin typeface="微软雅黑" panose="020B0503020204020204" pitchFamily="34" charset="-122"/>
                <a:ea typeface="微软雅黑" panose="020B0503020204020204" pitchFamily="34" charset="-122"/>
              </a:rPr>
              <a:t>将元素分隔</a:t>
            </a:r>
          </a:p>
        </p:txBody>
      </p:sp>
      <p:sp>
        <p:nvSpPr>
          <p:cNvPr id="19" name="AutoShape 13">
            <a:extLst>
              <a:ext uri="{FF2B5EF4-FFF2-40B4-BE49-F238E27FC236}">
                <a16:creationId xmlns:a16="http://schemas.microsoft.com/office/drawing/2014/main" id="{2BA5576D-B697-4C23-8C64-29591AFBD898}"/>
              </a:ext>
            </a:extLst>
          </p:cNvPr>
          <p:cNvSpPr>
            <a:spLocks noChangeArrowheads="1"/>
          </p:cNvSpPr>
          <p:nvPr/>
        </p:nvSpPr>
        <p:spPr bwMode="auto">
          <a:xfrm>
            <a:off x="5988181" y="1092317"/>
            <a:ext cx="936104" cy="618628"/>
          </a:xfrm>
          <a:prstGeom prst="irregularSeal2">
            <a:avLst/>
          </a:prstGeom>
          <a:solidFill>
            <a:schemeClr val="bg1"/>
          </a:solidFill>
          <a:ln w="57150">
            <a:solidFill>
              <a:srgbClr val="00FF00"/>
            </a:solidFill>
            <a:miter lim="800000"/>
          </a:ln>
          <a:scene3d>
            <a:camera prst="orthographicFront"/>
            <a:lightRig rig="threePt" dir="t"/>
          </a:scene3d>
          <a:sp3d>
            <a:bevelT prst="angle"/>
          </a:sp3d>
        </p:spPr>
        <p:txBody>
          <a:bodyPr wrap="none" anchor="ctr"/>
          <a:lstStyle/>
          <a:p>
            <a:r>
              <a:rPr lang="zh-CN" altLang="en-US" sz="1200" b="1" kern="0" dirty="0">
                <a:solidFill>
                  <a:srgbClr val="FF0000"/>
                </a:solidFill>
                <a:ea typeface="黑体" panose="02010609060101010101" pitchFamily="49" charset="-122"/>
              </a:rPr>
              <a:t> 注意</a:t>
            </a:r>
          </a:p>
        </p:txBody>
      </p:sp>
      <p:sp>
        <p:nvSpPr>
          <p:cNvPr id="22" name="文本框 21">
            <a:extLst>
              <a:ext uri="{FF2B5EF4-FFF2-40B4-BE49-F238E27FC236}">
                <a16:creationId xmlns:a16="http://schemas.microsoft.com/office/drawing/2014/main" id="{3E34B003-FD37-4A85-9FEE-1288441B5B36}"/>
              </a:ext>
            </a:extLst>
          </p:cNvPr>
          <p:cNvSpPr txBox="1"/>
          <p:nvPr/>
        </p:nvSpPr>
        <p:spPr>
          <a:xfrm>
            <a:off x="4019910" y="3968708"/>
            <a:ext cx="4821213" cy="646331"/>
          </a:xfrm>
          <a:prstGeom prst="rect">
            <a:avLst/>
          </a:prstGeom>
          <a:noFill/>
        </p:spPr>
        <p:txBody>
          <a:bodyPr wrap="square">
            <a:spAutoFit/>
          </a:bodyPr>
          <a:lstStyle/>
          <a:p>
            <a:r>
              <a:rPr lang="en-US" altLang="zh-CN" sz="1800" b="1" kern="0" dirty="0">
                <a:solidFill>
                  <a:srgbClr val="0070C0"/>
                </a:solidFill>
                <a:ea typeface="黑体" panose="02010609060101010101" pitchFamily="49" charset="-122"/>
              </a:rPr>
              <a:t>Julia </a:t>
            </a:r>
            <a:r>
              <a:rPr lang="zh-CN" altLang="en-US" sz="1800" b="1" kern="0" dirty="0">
                <a:solidFill>
                  <a:srgbClr val="0070C0"/>
                </a:solidFill>
                <a:ea typeface="黑体" panose="02010609060101010101" pitchFamily="49" charset="-122"/>
              </a:rPr>
              <a:t>只认列向量</a:t>
            </a:r>
            <a:r>
              <a:rPr lang="en-US" altLang="zh-CN" sz="1800" b="1" kern="0" dirty="0">
                <a:solidFill>
                  <a:srgbClr val="0070C0"/>
                </a:solidFill>
                <a:ea typeface="黑体" panose="02010609060101010101" pitchFamily="49" charset="-122"/>
              </a:rPr>
              <a:t>,</a:t>
            </a:r>
            <a:r>
              <a:rPr lang="zh-CN" altLang="en-US" sz="1800" b="1" kern="0" dirty="0">
                <a:solidFill>
                  <a:srgbClr val="0070C0"/>
                </a:solidFill>
                <a:ea typeface="黑体" panose="02010609060101010101" pitchFamily="49" charset="-122"/>
              </a:rPr>
              <a:t>不认行向量</a:t>
            </a:r>
            <a:r>
              <a:rPr lang="en-US" altLang="zh-CN" sz="1800" b="1" kern="0" dirty="0">
                <a:solidFill>
                  <a:srgbClr val="0070C0"/>
                </a:solidFill>
                <a:ea typeface="黑体" panose="02010609060101010101" pitchFamily="49" charset="-122"/>
              </a:rPr>
              <a:t>,</a:t>
            </a:r>
          </a:p>
          <a:p>
            <a:r>
              <a:rPr lang="zh-CN" altLang="en-US" sz="1800" b="1" kern="0" dirty="0">
                <a:solidFill>
                  <a:srgbClr val="0070C0"/>
                </a:solidFill>
                <a:ea typeface="黑体" panose="02010609060101010101" pitchFamily="49" charset="-122"/>
              </a:rPr>
              <a:t>为</a:t>
            </a:r>
            <a:r>
              <a:rPr lang="zh-CN" altLang="en-US" b="1" kern="0" dirty="0">
                <a:solidFill>
                  <a:srgbClr val="0070C0"/>
                </a:solidFill>
                <a:ea typeface="黑体" panose="02010609060101010101" pitchFamily="49" charset="-122"/>
              </a:rPr>
              <a:t>和</a:t>
            </a:r>
            <a:r>
              <a:rPr lang="en-US" altLang="zh-CN" sz="1800" b="1" kern="0" dirty="0">
                <a:solidFill>
                  <a:srgbClr val="0070C0"/>
                </a:solidFill>
                <a:ea typeface="黑体" panose="02010609060101010101" pitchFamily="49" charset="-122"/>
              </a:rPr>
              <a:t>MATLAB</a:t>
            </a:r>
            <a:r>
              <a:rPr lang="zh-CN" altLang="en-US" sz="1800" b="1" kern="0" dirty="0">
                <a:solidFill>
                  <a:srgbClr val="0070C0"/>
                </a:solidFill>
                <a:ea typeface="黑体" panose="02010609060101010101" pitchFamily="49" charset="-122"/>
              </a:rPr>
              <a:t>代码共享，列向量统一用分号</a:t>
            </a:r>
          </a:p>
        </p:txBody>
      </p:sp>
      <p:sp>
        <p:nvSpPr>
          <p:cNvPr id="16" name="文本框 15">
            <a:extLst>
              <a:ext uri="{FF2B5EF4-FFF2-40B4-BE49-F238E27FC236}">
                <a16:creationId xmlns:a16="http://schemas.microsoft.com/office/drawing/2014/main" id="{D6FF9BE6-2583-40A6-888C-D3E8AEEB3867}"/>
              </a:ext>
            </a:extLst>
          </p:cNvPr>
          <p:cNvSpPr txBox="1"/>
          <p:nvPr/>
        </p:nvSpPr>
        <p:spPr>
          <a:xfrm>
            <a:off x="6850656" y="1287031"/>
            <a:ext cx="2166902" cy="338554"/>
          </a:xfrm>
          <a:prstGeom prst="rect">
            <a:avLst/>
          </a:prstGeom>
          <a:noFill/>
        </p:spPr>
        <p:txBody>
          <a:bodyPr wrap="square">
            <a:spAutoFit/>
          </a:bodyPr>
          <a:lstStyle/>
          <a:p>
            <a:r>
              <a:rPr lang="en-US" altLang="zh-CN" sz="1600" b="1" kern="0" dirty="0">
                <a:solidFill>
                  <a:srgbClr val="FF0000"/>
                </a:solidFill>
                <a:ea typeface="黑体" panose="02010609060101010101" pitchFamily="49" charset="-122"/>
              </a:rPr>
              <a:t>MATLAB</a:t>
            </a:r>
            <a:r>
              <a:rPr lang="zh-CN" altLang="en-US" sz="1600" b="1" kern="0" dirty="0">
                <a:solidFill>
                  <a:srgbClr val="FF0000"/>
                </a:solidFill>
                <a:ea typeface="黑体" panose="02010609060101010101" pitchFamily="49" charset="-122"/>
              </a:rPr>
              <a:t>逗号行向量</a:t>
            </a:r>
            <a:endParaRPr lang="zh-CN" altLang="en-US" sz="1600" dirty="0"/>
          </a:p>
        </p:txBody>
      </p:sp>
      <p:sp>
        <p:nvSpPr>
          <p:cNvPr id="17" name="AutoShape 13">
            <a:extLst>
              <a:ext uri="{FF2B5EF4-FFF2-40B4-BE49-F238E27FC236}">
                <a16:creationId xmlns:a16="http://schemas.microsoft.com/office/drawing/2014/main" id="{DCA40CF0-4FC0-47F5-8BFC-5D0272D441DE}"/>
              </a:ext>
            </a:extLst>
          </p:cNvPr>
          <p:cNvSpPr>
            <a:spLocks noChangeArrowheads="1"/>
          </p:cNvSpPr>
          <p:nvPr/>
        </p:nvSpPr>
        <p:spPr bwMode="auto">
          <a:xfrm>
            <a:off x="6049630" y="2872300"/>
            <a:ext cx="936104" cy="618628"/>
          </a:xfrm>
          <a:prstGeom prst="irregularSeal2">
            <a:avLst/>
          </a:prstGeom>
          <a:solidFill>
            <a:schemeClr val="bg1"/>
          </a:solidFill>
          <a:ln w="57150">
            <a:solidFill>
              <a:srgbClr val="00FF00"/>
            </a:solidFill>
            <a:miter lim="800000"/>
          </a:ln>
          <a:scene3d>
            <a:camera prst="orthographicFront"/>
            <a:lightRig rig="threePt" dir="t"/>
          </a:scene3d>
          <a:sp3d>
            <a:bevelT prst="angle"/>
          </a:sp3d>
        </p:spPr>
        <p:txBody>
          <a:bodyPr wrap="none" anchor="ctr"/>
          <a:lstStyle/>
          <a:p>
            <a:r>
              <a:rPr lang="zh-CN" altLang="en-US" sz="1200" b="1" kern="0" dirty="0">
                <a:solidFill>
                  <a:srgbClr val="FF0000"/>
                </a:solidFill>
                <a:ea typeface="黑体" panose="02010609060101010101" pitchFamily="49" charset="-122"/>
              </a:rPr>
              <a:t> 注意</a:t>
            </a:r>
          </a:p>
        </p:txBody>
      </p:sp>
      <p:sp>
        <p:nvSpPr>
          <p:cNvPr id="20" name="文本框 19">
            <a:extLst>
              <a:ext uri="{FF2B5EF4-FFF2-40B4-BE49-F238E27FC236}">
                <a16:creationId xmlns:a16="http://schemas.microsoft.com/office/drawing/2014/main" id="{51C74FC5-9597-44C2-857B-14E8EFB3E0D3}"/>
              </a:ext>
            </a:extLst>
          </p:cNvPr>
          <p:cNvSpPr txBox="1"/>
          <p:nvPr/>
        </p:nvSpPr>
        <p:spPr>
          <a:xfrm>
            <a:off x="6893568" y="3097292"/>
            <a:ext cx="2094894" cy="338554"/>
          </a:xfrm>
          <a:prstGeom prst="rect">
            <a:avLst/>
          </a:prstGeom>
          <a:noFill/>
        </p:spPr>
        <p:txBody>
          <a:bodyPr wrap="square">
            <a:spAutoFit/>
          </a:bodyPr>
          <a:lstStyle/>
          <a:p>
            <a:r>
              <a:rPr lang="en-US" altLang="zh-CN" sz="1600" b="1" kern="0" dirty="0">
                <a:solidFill>
                  <a:srgbClr val="FF0000"/>
                </a:solidFill>
                <a:ea typeface="黑体" panose="02010609060101010101" pitchFamily="49" charset="-122"/>
              </a:rPr>
              <a:t>MATLAB</a:t>
            </a:r>
            <a:r>
              <a:rPr lang="zh-CN" altLang="en-US" sz="1600" b="1" kern="0" dirty="0">
                <a:solidFill>
                  <a:srgbClr val="FF0000"/>
                </a:solidFill>
                <a:ea typeface="黑体" panose="02010609060101010101" pitchFamily="49" charset="-122"/>
              </a:rPr>
              <a:t>分号列向量</a:t>
            </a:r>
            <a:endParaRPr lang="zh-CN" altLang="en-US" sz="1600" dirty="0"/>
          </a:p>
        </p:txBody>
      </p:sp>
      <p:sp>
        <p:nvSpPr>
          <p:cNvPr id="23" name="文本框 22">
            <a:extLst>
              <a:ext uri="{FF2B5EF4-FFF2-40B4-BE49-F238E27FC236}">
                <a16:creationId xmlns:a16="http://schemas.microsoft.com/office/drawing/2014/main" id="{04EE25B9-61FF-482C-804C-53E4AA8EEC81}"/>
              </a:ext>
            </a:extLst>
          </p:cNvPr>
          <p:cNvSpPr txBox="1"/>
          <p:nvPr/>
        </p:nvSpPr>
        <p:spPr>
          <a:xfrm>
            <a:off x="6917680" y="1637387"/>
            <a:ext cx="2094894" cy="646331"/>
          </a:xfrm>
          <a:prstGeom prst="rect">
            <a:avLst/>
          </a:prstGeom>
          <a:noFill/>
        </p:spPr>
        <p:txBody>
          <a:bodyPr wrap="square">
            <a:spAutoFit/>
          </a:bodyPr>
          <a:lstStyle/>
          <a:p>
            <a:r>
              <a:rPr lang="zh-CN" altLang="en-US" dirty="0"/>
              <a:t>mlang&gt; v=[3,4,5]</a:t>
            </a:r>
          </a:p>
          <a:p>
            <a:r>
              <a:rPr lang="zh-CN" altLang="en-US" dirty="0"/>
              <a:t>v =  3  4  5</a:t>
            </a:r>
          </a:p>
        </p:txBody>
      </p:sp>
    </p:spTree>
    <p:extLst>
      <p:ext uri="{BB962C8B-B14F-4D97-AF65-F5344CB8AC3E}">
        <p14:creationId xmlns:p14="http://schemas.microsoft.com/office/powerpoint/2010/main" val="72900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
                                            <p:txEl>
                                              <p:pRg st="1" end="1"/>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xEl>
                                              <p:pRg st="2" end="2"/>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4" grpId="0" animBg="1"/>
      <p:bldP spid="7" grpId="0" animBg="1"/>
      <p:bldP spid="15" grpId="0" animBg="1"/>
      <p:bldP spid="19" grpId="0" animBg="1"/>
      <p:bldP spid="22" grpId="0"/>
      <p:bldP spid="16" grpId="0"/>
      <p:bldP spid="17" grpId="0" animBg="1"/>
      <p:bldP spid="20"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4CA8A-62E9-A392-356A-5A5AE6F54BCE}"/>
              </a:ext>
            </a:extLst>
          </p:cNvPr>
          <p:cNvSpPr>
            <a:spLocks noGrp="1"/>
          </p:cNvSpPr>
          <p:nvPr>
            <p:ph type="title"/>
          </p:nvPr>
        </p:nvSpPr>
        <p:spPr>
          <a:xfrm>
            <a:off x="4283968" y="195486"/>
            <a:ext cx="4073772" cy="438150"/>
          </a:xfrm>
        </p:spPr>
        <p:txBody>
          <a:bodyPr/>
          <a:lstStyle/>
          <a:p>
            <a:r>
              <a:rPr lang="zh-CN" altLang="en-US" b="0" i="0" dirty="0">
                <a:solidFill>
                  <a:srgbClr val="8A8A8A"/>
                </a:solidFill>
                <a:effectLst/>
                <a:latin typeface="-apple-system"/>
              </a:rPr>
              <a:t>           </a:t>
            </a:r>
            <a:endParaRPr lang="zh-CN" altLang="en-US" sz="2800" dirty="0"/>
          </a:p>
        </p:txBody>
      </p:sp>
      <p:sp>
        <p:nvSpPr>
          <p:cNvPr id="3" name="内容占位符 2">
            <a:extLst>
              <a:ext uri="{FF2B5EF4-FFF2-40B4-BE49-F238E27FC236}">
                <a16:creationId xmlns:a16="http://schemas.microsoft.com/office/drawing/2014/main" id="{92E1230C-13CD-FA48-8629-378303B694A0}"/>
              </a:ext>
            </a:extLst>
          </p:cNvPr>
          <p:cNvSpPr>
            <a:spLocks noGrp="1"/>
          </p:cNvSpPr>
          <p:nvPr>
            <p:ph idx="1"/>
          </p:nvPr>
        </p:nvSpPr>
        <p:spPr>
          <a:xfrm>
            <a:off x="67665" y="769972"/>
            <a:ext cx="6657065" cy="382477"/>
          </a:xfrm>
          <a:solidFill>
            <a:schemeClr val="bg1"/>
          </a:solidFill>
        </p:spPr>
        <p:txBody>
          <a:bodyPr/>
          <a:lstStyle/>
          <a:p>
            <a:pPr marL="514350" indent="-514350">
              <a:buFont typeface="+mj-ea"/>
              <a:buAutoNum type="circleNumDbPlain"/>
            </a:pPr>
            <a:r>
              <a:rPr lang="zh-CN" altLang="en-US" sz="1800" b="1" kern="1800" dirty="0">
                <a:solidFill>
                  <a:srgbClr val="D57747"/>
                </a:solidFill>
                <a:latin typeface="微软雅黑" panose="020B0503020204020204" pitchFamily="34" charset="-122"/>
                <a:ea typeface="微软雅黑" panose="020B0503020204020204" pitchFamily="34" charset="-122"/>
              </a:rPr>
              <a:t>冒号</a:t>
            </a:r>
            <a:r>
              <a:rPr lang="en-US" altLang="zh-CN" sz="1800" b="1" kern="1800" dirty="0">
                <a:solidFill>
                  <a:srgbClr val="D57747"/>
                </a:solidFill>
                <a:latin typeface="Segoe UI" panose="020B0502040204020203" pitchFamily="34" charset="0"/>
                <a:ea typeface="宋体" panose="02010600030101010101" pitchFamily="2" charset="-122"/>
              </a:rPr>
              <a:t>(:)</a:t>
            </a:r>
            <a:r>
              <a:rPr lang="zh-CN" altLang="en-US" sz="1800" b="0" i="0" dirty="0">
                <a:solidFill>
                  <a:srgbClr val="2C3E50"/>
                </a:solidFill>
                <a:effectLst/>
                <a:latin typeface="-apple-system"/>
              </a:rPr>
              <a:t>：</a:t>
            </a:r>
            <a:r>
              <a:rPr lang="zh-CN" altLang="en-US" sz="1800" b="1" kern="1200" dirty="0">
                <a:solidFill>
                  <a:srgbClr val="0070C0"/>
                </a:solidFill>
                <a:latin typeface="微软雅黑" panose="020B0503020204020204" pitchFamily="34" charset="-122"/>
                <a:ea typeface="微软雅黑" panose="020B0503020204020204" pitchFamily="34" charset="-122"/>
              </a:rPr>
              <a:t>用冒号创建线性向量</a:t>
            </a:r>
          </a:p>
        </p:txBody>
      </p:sp>
      <p:sp>
        <p:nvSpPr>
          <p:cNvPr id="7" name="标题 1">
            <a:extLst>
              <a:ext uri="{FF2B5EF4-FFF2-40B4-BE49-F238E27FC236}">
                <a16:creationId xmlns:a16="http://schemas.microsoft.com/office/drawing/2014/main" id="{F7784097-4001-B8C7-31AD-9F41775D72A6}"/>
              </a:ext>
            </a:extLst>
          </p:cNvPr>
          <p:cNvSpPr txBox="1">
            <a:spLocks/>
          </p:cNvSpPr>
          <p:nvPr/>
        </p:nvSpPr>
        <p:spPr bwMode="auto">
          <a:xfrm>
            <a:off x="821656" y="69597"/>
            <a:ext cx="6525918"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kern="0" dirty="0">
                <a:latin typeface="Helvetica Neue"/>
              </a:rPr>
            </a:br>
            <a:r>
              <a:rPr lang="en-US" altLang="zh-CN" kern="0" dirty="0">
                <a:latin typeface="Helvetica Neue"/>
              </a:rPr>
              <a:t>§</a:t>
            </a:r>
            <a:r>
              <a:rPr lang="en-US" altLang="zh-CN" sz="2800" dirty="0"/>
              <a:t>1.4.1.1</a:t>
            </a:r>
            <a:r>
              <a:rPr lang="zh-CN" altLang="en-US" sz="2800" dirty="0"/>
              <a:t>创建一维</a:t>
            </a:r>
            <a:r>
              <a:rPr lang="zh-CN" altLang="en-US" sz="2800" dirty="0">
                <a:latin typeface="Helvetica Neue"/>
              </a:rPr>
              <a:t>向量</a:t>
            </a:r>
            <a:r>
              <a:rPr lang="en-US" altLang="zh-CN" sz="2800" dirty="0">
                <a:solidFill>
                  <a:srgbClr val="FF0000"/>
                </a:solidFill>
              </a:rPr>
              <a:t>——2. </a:t>
            </a:r>
            <a:r>
              <a:rPr lang="zh-CN" altLang="en-US" sz="2800" dirty="0">
                <a:solidFill>
                  <a:srgbClr val="FF0000"/>
                </a:solidFill>
              </a:rPr>
              <a:t>创建</a:t>
            </a:r>
            <a:r>
              <a:rPr lang="zh-CN" altLang="en-US" sz="2800" i="0" dirty="0">
                <a:solidFill>
                  <a:srgbClr val="FF0000"/>
                </a:solidFill>
                <a:effectLst/>
                <a:latin typeface="-apple-system"/>
              </a:rPr>
              <a:t>线性</a:t>
            </a:r>
            <a:r>
              <a:rPr lang="zh-CN" altLang="en-US" sz="2800" dirty="0">
                <a:solidFill>
                  <a:srgbClr val="FF0000"/>
                </a:solidFill>
                <a:latin typeface="-apple-system"/>
              </a:rPr>
              <a:t>等分向量</a:t>
            </a:r>
            <a:endParaRPr lang="zh-CN" altLang="en-US" sz="2800" kern="0" dirty="0">
              <a:solidFill>
                <a:srgbClr val="FF0000"/>
              </a:solidFill>
            </a:endParaRPr>
          </a:p>
        </p:txBody>
      </p:sp>
      <p:sp>
        <p:nvSpPr>
          <p:cNvPr id="8" name="矩形 7">
            <a:extLst>
              <a:ext uri="{FF2B5EF4-FFF2-40B4-BE49-F238E27FC236}">
                <a16:creationId xmlns:a16="http://schemas.microsoft.com/office/drawing/2014/main" id="{135001FA-C184-25B8-2179-56D81236FE02}"/>
              </a:ext>
            </a:extLst>
          </p:cNvPr>
          <p:cNvSpPr/>
          <p:nvPr/>
        </p:nvSpPr>
        <p:spPr>
          <a:xfrm>
            <a:off x="518410" y="4107896"/>
            <a:ext cx="2279943"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a:t>
            </a:r>
            <a:r>
              <a:rPr lang="zh-CN" altLang="zh-CN" b="1" dirty="0">
                <a:solidFill>
                  <a:schemeClr val="bg1"/>
                </a:solidFill>
                <a:latin typeface="Times New Roman" panose="02020603050405020304" pitchFamily="18" charset="0"/>
                <a:cs typeface="Times New Roman" panose="02020603050405020304" pitchFamily="18" charset="0"/>
              </a:rPr>
              <a:t>= LinRange(</a:t>
            </a:r>
            <a:r>
              <a:rPr lang="en-US" altLang="zh-CN" b="1" dirty="0">
                <a:solidFill>
                  <a:schemeClr val="bg1"/>
                </a:solidFill>
                <a:latin typeface="Times New Roman" panose="02020603050405020304" pitchFamily="18" charset="0"/>
                <a:cs typeface="Times New Roman" panose="02020603050405020304" pitchFamily="18" charset="0"/>
              </a:rPr>
              <a:t>x1</a:t>
            </a:r>
            <a:r>
              <a:rPr lang="zh-CN" altLang="zh-CN"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x2</a:t>
            </a:r>
            <a:r>
              <a:rPr lang="zh-CN" altLang="zh-CN" b="1" dirty="0">
                <a:solidFill>
                  <a:schemeClr val="bg1"/>
                </a:solidFill>
                <a:latin typeface="Times New Roman" panose="02020603050405020304" pitchFamily="18" charset="0"/>
                <a:cs typeface="Times New Roman" panose="02020603050405020304" pitchFamily="18" charset="0"/>
              </a:rPr>
              <a:t>,n)</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6" name="内容占位符 2">
            <a:extLst>
              <a:ext uri="{FF2B5EF4-FFF2-40B4-BE49-F238E27FC236}">
                <a16:creationId xmlns:a16="http://schemas.microsoft.com/office/drawing/2014/main" id="{43D4A1C3-9C2E-FBCA-1CBA-5ACC5C74D510}"/>
              </a:ext>
            </a:extLst>
          </p:cNvPr>
          <p:cNvSpPr txBox="1">
            <a:spLocks/>
          </p:cNvSpPr>
          <p:nvPr/>
        </p:nvSpPr>
        <p:spPr bwMode="auto">
          <a:xfrm>
            <a:off x="-4159" y="3518439"/>
            <a:ext cx="4968552" cy="3727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startAt="3"/>
            </a:pPr>
            <a:r>
              <a:rPr lang="en-US" altLang="zh-CN" sz="1800" b="1" kern="1800" dirty="0">
                <a:solidFill>
                  <a:srgbClr val="D57747"/>
                </a:solidFill>
                <a:latin typeface="Segoe UI" panose="020B0502040204020203" pitchFamily="34" charset="0"/>
                <a:ea typeface="宋体" panose="02010600030101010101" pitchFamily="2" charset="-122"/>
              </a:rPr>
              <a:t>LinRange</a:t>
            </a:r>
            <a:r>
              <a:rPr lang="zh-CN" altLang="en-US" sz="1800" b="1" kern="1800" dirty="0">
                <a:solidFill>
                  <a:srgbClr val="D57747"/>
                </a:solidFill>
                <a:latin typeface="Segoe UI" panose="020B0502040204020203" pitchFamily="34" charset="0"/>
                <a:ea typeface="宋体" panose="02010600030101010101" pitchFamily="2" charset="-122"/>
              </a:rPr>
              <a:t>：</a:t>
            </a:r>
            <a:r>
              <a:rPr lang="zh-CN" altLang="en-US" sz="1800" b="1" dirty="0">
                <a:solidFill>
                  <a:srgbClr val="0070C0"/>
                </a:solidFill>
                <a:latin typeface="微软雅黑" panose="020B0503020204020204" pitchFamily="34" charset="-122"/>
                <a:ea typeface="微软雅黑" panose="020B0503020204020204" pitchFamily="34" charset="-122"/>
              </a:rPr>
              <a:t>生成线性间距向量</a:t>
            </a:r>
          </a:p>
        </p:txBody>
      </p:sp>
      <p:sp>
        <p:nvSpPr>
          <p:cNvPr id="11" name="矩形 10">
            <a:extLst>
              <a:ext uri="{FF2B5EF4-FFF2-40B4-BE49-F238E27FC236}">
                <a16:creationId xmlns:a16="http://schemas.microsoft.com/office/drawing/2014/main" id="{4343C0C4-702D-1A3C-F440-954351739167}"/>
              </a:ext>
            </a:extLst>
          </p:cNvPr>
          <p:cNvSpPr/>
          <p:nvPr/>
        </p:nvSpPr>
        <p:spPr>
          <a:xfrm>
            <a:off x="583562" y="2345541"/>
            <a:ext cx="1180126"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a:t>
            </a:r>
            <a:r>
              <a:rPr lang="en-US" altLang="zh-CN" b="1" dirty="0">
                <a:solidFill>
                  <a:schemeClr val="bg1"/>
                </a:solidFill>
                <a:latin typeface="Times New Roman" panose="02020603050405020304" pitchFamily="18" charset="0"/>
                <a:cs typeface="Times New Roman" panose="02020603050405020304" pitchFamily="18" charset="0"/>
                <a:sym typeface="+mn-lt"/>
              </a:rPr>
              <a:t> x1:x2</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17" name="Rectangle 1">
            <a:extLst>
              <a:ext uri="{FF2B5EF4-FFF2-40B4-BE49-F238E27FC236}">
                <a16:creationId xmlns:a16="http://schemas.microsoft.com/office/drawing/2014/main" id="{7B24C2C7-56F9-F8A2-A665-52D123869901}"/>
              </a:ext>
            </a:extLst>
          </p:cNvPr>
          <p:cNvSpPr>
            <a:spLocks noChangeArrowheads="1"/>
          </p:cNvSpPr>
          <p:nvPr/>
        </p:nvSpPr>
        <p:spPr bwMode="auto">
          <a:xfrm>
            <a:off x="0" y="151656"/>
            <a:ext cx="6412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0000"/>
                </a:solidFill>
                <a:effectLst/>
                <a:latin typeface="Arial Unicode MS"/>
                <a:ea typeface="source-code-pro"/>
              </a:rPr>
              <a:t>y</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矩形 4">
            <a:extLst>
              <a:ext uri="{FF2B5EF4-FFF2-40B4-BE49-F238E27FC236}">
                <a16:creationId xmlns:a16="http://schemas.microsoft.com/office/drawing/2014/main" id="{305A2851-268A-E026-0DA9-78EC629B8394}"/>
              </a:ext>
            </a:extLst>
          </p:cNvPr>
          <p:cNvSpPr/>
          <p:nvPr/>
        </p:nvSpPr>
        <p:spPr>
          <a:xfrm>
            <a:off x="2020179" y="1328656"/>
            <a:ext cx="37960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sym typeface="+mn-lt"/>
              </a:rPr>
              <a:t>x1</a:t>
            </a:r>
            <a:r>
              <a:rPr lang="zh-CN" altLang="en-US" sz="1600" b="1" dirty="0">
                <a:solidFill>
                  <a:srgbClr val="00B0F0"/>
                </a:solidFill>
                <a:latin typeface="微软雅黑" panose="020B0503020204020204" pitchFamily="34" charset="-122"/>
                <a:ea typeface="微软雅黑" panose="020B0503020204020204" pitchFamily="34" charset="-122"/>
                <a:sym typeface="+mn-lt"/>
              </a:rPr>
              <a:t>起始值</a:t>
            </a:r>
            <a:r>
              <a:rPr lang="en-US" altLang="zh-CN" sz="1600" b="1" dirty="0">
                <a:solidFill>
                  <a:srgbClr val="00B0F0"/>
                </a:solidFill>
                <a:latin typeface="微软雅黑" panose="020B0503020204020204" pitchFamily="34" charset="-122"/>
                <a:ea typeface="微软雅黑" panose="020B0503020204020204" pitchFamily="34" charset="-122"/>
                <a:sym typeface="+mn-lt"/>
              </a:rPr>
              <a:t>,x2</a:t>
            </a:r>
            <a:r>
              <a:rPr lang="zh-CN" altLang="en-US" sz="1600" b="1" dirty="0">
                <a:solidFill>
                  <a:srgbClr val="00B0F0"/>
                </a:solidFill>
                <a:latin typeface="微软雅黑" panose="020B0503020204020204" pitchFamily="34" charset="-122"/>
                <a:ea typeface="微软雅黑" panose="020B0503020204020204" pitchFamily="34" charset="-122"/>
                <a:sym typeface="+mn-lt"/>
              </a:rPr>
              <a:t>终止值</a:t>
            </a:r>
            <a:r>
              <a:rPr lang="en-US" altLang="zh-CN" sz="1600" b="1" dirty="0">
                <a:solidFill>
                  <a:srgbClr val="00B0F0"/>
                </a:solidFill>
                <a:latin typeface="微软雅黑" panose="020B0503020204020204" pitchFamily="34" charset="-122"/>
                <a:ea typeface="微软雅黑" panose="020B0503020204020204" pitchFamily="34" charset="-122"/>
                <a:sym typeface="+mn-lt"/>
              </a:rPr>
              <a:t>,,</a:t>
            </a:r>
            <a:r>
              <a:rPr lang="zh-CN" altLang="en-US" sz="1600" b="1" dirty="0">
                <a:solidFill>
                  <a:srgbClr val="00B0F0"/>
                </a:solidFill>
                <a:latin typeface="微软雅黑" panose="020B0503020204020204" pitchFamily="34" charset="-122"/>
                <a:ea typeface="微软雅黑" panose="020B0503020204020204" pitchFamily="34" charset="-122"/>
                <a:sym typeface="+mn-lt"/>
              </a:rPr>
              <a:t>步长</a:t>
            </a:r>
            <a:r>
              <a:rPr lang="en-US" altLang="zh-CN" sz="1600" b="1" dirty="0">
                <a:solidFill>
                  <a:srgbClr val="00B0F0"/>
                </a:solidFill>
                <a:latin typeface="微软雅黑" panose="020B0503020204020204" pitchFamily="34" charset="-122"/>
                <a:ea typeface="微软雅黑" panose="020B0503020204020204" pitchFamily="34" charset="-122"/>
                <a:sym typeface="+mn-lt"/>
              </a:rPr>
              <a:t>h</a:t>
            </a:r>
            <a:endParaRPr lang="zh-CN" altLang="en-US" sz="1600" b="1" dirty="0">
              <a:solidFill>
                <a:srgbClr val="00B0F0"/>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65B437E-1B3D-4068-8C12-0CC185D71151}"/>
              </a:ext>
            </a:extLst>
          </p:cNvPr>
          <p:cNvSpPr txBox="1"/>
          <p:nvPr/>
        </p:nvSpPr>
        <p:spPr>
          <a:xfrm>
            <a:off x="4970323" y="1801483"/>
            <a:ext cx="1998471" cy="400110"/>
          </a:xfrm>
          <a:prstGeom prst="rect">
            <a:avLst/>
          </a:prstGeom>
          <a:noFill/>
        </p:spPr>
        <p:txBody>
          <a:bodyPr wrap="square">
            <a:spAutoFit/>
          </a:bodyPr>
          <a:lstStyle/>
          <a:p>
            <a:r>
              <a:rPr lang="en-US" altLang="zh-CN" sz="2000" b="1" dirty="0">
                <a:solidFill>
                  <a:srgbClr val="0070C0"/>
                </a:solidFill>
              </a:rPr>
              <a:t>x0=1:2:5</a:t>
            </a:r>
            <a:endParaRPr lang="zh-CN" altLang="en-US" sz="2000" b="1" dirty="0">
              <a:solidFill>
                <a:srgbClr val="0070C0"/>
              </a:solidFill>
            </a:endParaRPr>
          </a:p>
        </p:txBody>
      </p:sp>
      <p:sp>
        <p:nvSpPr>
          <p:cNvPr id="22" name="文本框 21">
            <a:extLst>
              <a:ext uri="{FF2B5EF4-FFF2-40B4-BE49-F238E27FC236}">
                <a16:creationId xmlns:a16="http://schemas.microsoft.com/office/drawing/2014/main" id="{E15D9E50-A3A6-49BD-9EF1-2FC3B4BB082B}"/>
              </a:ext>
            </a:extLst>
          </p:cNvPr>
          <p:cNvSpPr txBox="1"/>
          <p:nvPr/>
        </p:nvSpPr>
        <p:spPr>
          <a:xfrm>
            <a:off x="6345821" y="1785516"/>
            <a:ext cx="2376947" cy="400110"/>
          </a:xfrm>
          <a:prstGeom prst="rect">
            <a:avLst/>
          </a:prstGeom>
          <a:noFill/>
        </p:spPr>
        <p:txBody>
          <a:bodyPr wrap="square">
            <a:spAutoFit/>
          </a:bodyPr>
          <a:lstStyle>
            <a:defPPr>
              <a:defRPr lang="zh-CN"/>
            </a:defPPr>
            <a:lvl1pPr>
              <a:defRPr b="1">
                <a:solidFill>
                  <a:srgbClr val="0070C0"/>
                </a:solidFill>
              </a:defRPr>
            </a:lvl1pPr>
          </a:lstStyle>
          <a:p>
            <a:r>
              <a:rPr lang="en-US" altLang="zh-CN" sz="2000" dirty="0">
                <a:solidFill>
                  <a:srgbClr val="FF0000"/>
                </a:solidFill>
              </a:rPr>
              <a:t>#</a:t>
            </a:r>
            <a:r>
              <a:rPr lang="zh-CN" altLang="en-US" sz="2000" dirty="0">
                <a:solidFill>
                  <a:srgbClr val="FF0000"/>
                </a:solidFill>
              </a:rPr>
              <a:t>结果</a:t>
            </a:r>
            <a:r>
              <a:rPr lang="en-US" altLang="zh-CN" sz="2000" dirty="0">
                <a:solidFill>
                  <a:srgbClr val="FF0000"/>
                </a:solidFill>
              </a:rPr>
              <a:t>1:2:5</a:t>
            </a:r>
            <a:endParaRPr lang="zh-CN" altLang="en-US" sz="2000" dirty="0">
              <a:solidFill>
                <a:srgbClr val="FF0000"/>
              </a:solidFill>
            </a:endParaRPr>
          </a:p>
        </p:txBody>
      </p:sp>
      <p:sp>
        <p:nvSpPr>
          <p:cNvPr id="25" name="文本框 24">
            <a:extLst>
              <a:ext uri="{FF2B5EF4-FFF2-40B4-BE49-F238E27FC236}">
                <a16:creationId xmlns:a16="http://schemas.microsoft.com/office/drawing/2014/main" id="{67EA583A-CEA0-4AF0-8153-D1AA3E4B0355}"/>
              </a:ext>
            </a:extLst>
          </p:cNvPr>
          <p:cNvSpPr txBox="1"/>
          <p:nvPr/>
        </p:nvSpPr>
        <p:spPr>
          <a:xfrm>
            <a:off x="5417399" y="3648088"/>
            <a:ext cx="2952328" cy="369332"/>
          </a:xfrm>
          <a:prstGeom prst="rect">
            <a:avLst/>
          </a:prstGeom>
          <a:noFill/>
        </p:spPr>
        <p:txBody>
          <a:bodyPr wrap="square">
            <a:spAutoFit/>
          </a:bodyPr>
          <a:lstStyle/>
          <a:p>
            <a:r>
              <a:rPr lang="en-US" altLang="zh-CN" dirty="0">
                <a:solidFill>
                  <a:schemeClr val="bg1"/>
                </a:solidFill>
                <a:latin typeface="楷体" panose="02010609060101010101" pitchFamily="49" charset="-122"/>
                <a:ea typeface="楷体" panose="02010609060101010101" pitchFamily="49" charset="-122"/>
              </a:rPr>
              <a:t>linRange</a:t>
            </a:r>
            <a:r>
              <a:rPr lang="zh-CN" altLang="en-US" dirty="0">
                <a:solidFill>
                  <a:schemeClr val="bg1"/>
                </a:solidFill>
                <a:latin typeface="楷体" panose="02010609060101010101" pitchFamily="49" charset="-122"/>
                <a:ea typeface="楷体" panose="02010609060101010101" pitchFamily="49" charset="-122"/>
              </a:rPr>
              <a:t>始终包括端点</a:t>
            </a:r>
          </a:p>
        </p:txBody>
      </p:sp>
      <p:sp>
        <p:nvSpPr>
          <p:cNvPr id="28" name="AutoShape 13">
            <a:extLst>
              <a:ext uri="{FF2B5EF4-FFF2-40B4-BE49-F238E27FC236}">
                <a16:creationId xmlns:a16="http://schemas.microsoft.com/office/drawing/2014/main" id="{14F81F23-6FE0-405F-A954-DC2CE4C88D2B}"/>
              </a:ext>
            </a:extLst>
          </p:cNvPr>
          <p:cNvSpPr>
            <a:spLocks noChangeArrowheads="1"/>
          </p:cNvSpPr>
          <p:nvPr/>
        </p:nvSpPr>
        <p:spPr bwMode="auto">
          <a:xfrm>
            <a:off x="4499992" y="3692643"/>
            <a:ext cx="4026930" cy="347281"/>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 </a:t>
            </a:r>
            <a:r>
              <a:rPr lang="en-US" altLang="zh-CN" sz="1400" b="1" kern="0" dirty="0">
                <a:solidFill>
                  <a:srgbClr val="FFFF00"/>
                </a:solidFill>
                <a:ea typeface="黑体" panose="02010609060101010101" pitchFamily="49" charset="-122"/>
              </a:rPr>
              <a:t>MATLAB</a:t>
            </a:r>
            <a:r>
              <a:rPr lang="zh-CN" altLang="en-US" sz="1400" b="1" kern="0" dirty="0">
                <a:solidFill>
                  <a:srgbClr val="FFFF00"/>
                </a:solidFill>
                <a:ea typeface="黑体" panose="02010609060101010101" pitchFamily="49" charset="-122"/>
              </a:rPr>
              <a:t>函数</a:t>
            </a:r>
            <a:r>
              <a:rPr lang="en-US" altLang="zh-CN" sz="1400" b="1" kern="0" dirty="0" err="1">
                <a:solidFill>
                  <a:srgbClr val="FFFF00"/>
                </a:solidFill>
                <a:ea typeface="黑体" panose="02010609060101010101" pitchFamily="49" charset="-122"/>
              </a:rPr>
              <a:t>linspace</a:t>
            </a:r>
            <a:endParaRPr lang="zh-CN" altLang="en-US" sz="1400" b="1" kern="0" dirty="0">
              <a:solidFill>
                <a:srgbClr val="FFFF00"/>
              </a:solidFill>
              <a:ea typeface="黑体" panose="02010609060101010101" pitchFamily="49" charset="-122"/>
            </a:endParaRPr>
          </a:p>
        </p:txBody>
      </p:sp>
      <p:sp>
        <p:nvSpPr>
          <p:cNvPr id="23" name="文本框 22">
            <a:extLst>
              <a:ext uri="{FF2B5EF4-FFF2-40B4-BE49-F238E27FC236}">
                <a16:creationId xmlns:a16="http://schemas.microsoft.com/office/drawing/2014/main" id="{3926623E-B9B4-444A-8E58-2DD748262FCE}"/>
              </a:ext>
            </a:extLst>
          </p:cNvPr>
          <p:cNvSpPr txBox="1"/>
          <p:nvPr/>
        </p:nvSpPr>
        <p:spPr>
          <a:xfrm>
            <a:off x="467544" y="1863936"/>
            <a:ext cx="3456384" cy="400110"/>
          </a:xfrm>
          <a:prstGeom prst="rect">
            <a:avLst/>
          </a:prstGeom>
          <a:noFill/>
        </p:spPr>
        <p:txBody>
          <a:bodyPr wrap="square">
            <a:spAutoFit/>
          </a:bodyPr>
          <a:lstStyle/>
          <a:p>
            <a:r>
              <a:rPr lang="zh-CN" altLang="en-US" sz="2000" b="1" dirty="0">
                <a:solidFill>
                  <a:srgbClr val="0070C0"/>
                </a:solidFill>
                <a:latin typeface="微软雅黑" panose="020B0503020204020204" pitchFamily="34" charset="-122"/>
                <a:ea typeface="微软雅黑" panose="020B0503020204020204" pitchFamily="34" charset="-122"/>
              </a:rPr>
              <a:t>元素个数</a:t>
            </a:r>
            <a:r>
              <a:rPr lang="en-US" altLang="zh-CN" sz="2000" b="1" dirty="0">
                <a:solidFill>
                  <a:srgbClr val="0070C0"/>
                </a:solidFill>
                <a:latin typeface="微软雅黑" panose="020B0503020204020204" pitchFamily="34" charset="-122"/>
                <a:ea typeface="微软雅黑" panose="020B0503020204020204" pitchFamily="34" charset="-122"/>
              </a:rPr>
              <a:t>n=</a:t>
            </a:r>
            <a:r>
              <a:rPr lang="zh-CN" altLang="en-US" sz="2000" b="1" dirty="0">
                <a:solidFill>
                  <a:srgbClr val="0070C0"/>
                </a:solidFill>
                <a:latin typeface="微软雅黑" panose="020B0503020204020204" pitchFamily="34" charset="-122"/>
                <a:ea typeface="微软雅黑" panose="020B0503020204020204" pitchFamily="34" charset="-122"/>
              </a:rPr>
              <a:t>（</a:t>
            </a:r>
            <a:r>
              <a:rPr lang="en-US" altLang="zh-CN" sz="2000" b="1" dirty="0">
                <a:solidFill>
                  <a:srgbClr val="0070C0"/>
                </a:solidFill>
                <a:latin typeface="微软雅黑" panose="020B0503020204020204" pitchFamily="34" charset="-122"/>
                <a:ea typeface="微软雅黑" panose="020B0503020204020204" pitchFamily="34" charset="-122"/>
              </a:rPr>
              <a:t>x2-x1</a:t>
            </a:r>
            <a:r>
              <a:rPr lang="zh-CN" altLang="en-US" sz="2000" b="1" dirty="0">
                <a:solidFill>
                  <a:srgbClr val="0070C0"/>
                </a:solidFill>
                <a:latin typeface="微软雅黑" panose="020B0503020204020204" pitchFamily="34" charset="-122"/>
                <a:ea typeface="微软雅黑" panose="020B0503020204020204" pitchFamily="34" charset="-122"/>
              </a:rPr>
              <a:t>）</a:t>
            </a:r>
            <a:r>
              <a:rPr lang="en-US" altLang="zh-CN" sz="2000" b="1" dirty="0">
                <a:solidFill>
                  <a:srgbClr val="0070C0"/>
                </a:solidFill>
                <a:latin typeface="微软雅黑" panose="020B0503020204020204" pitchFamily="34" charset="-122"/>
                <a:ea typeface="微软雅黑" panose="020B0503020204020204" pitchFamily="34" charset="-122"/>
              </a:rPr>
              <a:t>/h+1</a:t>
            </a:r>
            <a:endParaRPr lang="zh-CN" altLang="en-US" sz="2000" b="1"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BACE17D0-8735-41F4-ACD8-1DDA7D3E8979}"/>
              </a:ext>
            </a:extLst>
          </p:cNvPr>
          <p:cNvSpPr txBox="1"/>
          <p:nvPr/>
        </p:nvSpPr>
        <p:spPr>
          <a:xfrm>
            <a:off x="0" y="2931790"/>
            <a:ext cx="8865347" cy="369332"/>
          </a:xfrm>
          <a:prstGeom prst="rect">
            <a:avLst/>
          </a:prstGeom>
          <a:solidFill>
            <a:schemeClr val="bg1"/>
          </a:solidFill>
        </p:spPr>
        <p:txBody>
          <a:bodyPr wrap="square">
            <a:spAutoFit/>
          </a:bodyPr>
          <a:lstStyle/>
          <a:p>
            <a:pPr marL="457200" indent="-457200">
              <a:buFont typeface="+mj-ea"/>
              <a:buAutoNum type="circleNumDbPlain" startAt="2"/>
            </a:pPr>
            <a:r>
              <a:rPr lang="en-US" altLang="zh-CN" b="1" kern="1800" dirty="0" err="1">
                <a:solidFill>
                  <a:srgbClr val="D57747"/>
                </a:solidFill>
                <a:latin typeface="Segoe UI" panose="020B0502040204020203" pitchFamily="34" charset="0"/>
                <a:ea typeface="宋体" panose="02010600030101010101" pitchFamily="2" charset="-122"/>
              </a:rPr>
              <a:t>collect:</a:t>
            </a:r>
            <a:r>
              <a:rPr lang="en-US" altLang="zh-CN" b="1" dirty="0" err="1">
                <a:solidFill>
                  <a:srgbClr val="0070C0"/>
                </a:solidFill>
                <a:latin typeface="微软雅黑" panose="020B0503020204020204" pitchFamily="34" charset="-122"/>
                <a:ea typeface="微软雅黑" panose="020B0503020204020204" pitchFamily="34" charset="-122"/>
              </a:rPr>
              <a:t>x</a:t>
            </a:r>
            <a:r>
              <a:rPr lang="zh-CN" altLang="en-US" b="1" dirty="0">
                <a:solidFill>
                  <a:srgbClr val="0070C0"/>
                </a:solidFill>
                <a:latin typeface="微软雅黑" panose="020B0503020204020204" pitchFamily="34" charset="-122"/>
                <a:ea typeface="微软雅黑" panose="020B0503020204020204" pitchFamily="34" charset="-122"/>
              </a:rPr>
              <a:t>集合所有元素以向量形式显示</a:t>
            </a:r>
          </a:p>
        </p:txBody>
      </p:sp>
      <p:sp>
        <p:nvSpPr>
          <p:cNvPr id="31" name="矩形 30">
            <a:extLst>
              <a:ext uri="{FF2B5EF4-FFF2-40B4-BE49-F238E27FC236}">
                <a16:creationId xmlns:a16="http://schemas.microsoft.com/office/drawing/2014/main" id="{BF936FB2-4134-480A-BF41-0E0450C301E4}"/>
              </a:ext>
            </a:extLst>
          </p:cNvPr>
          <p:cNvSpPr/>
          <p:nvPr/>
        </p:nvSpPr>
        <p:spPr>
          <a:xfrm>
            <a:off x="4591598" y="2931790"/>
            <a:ext cx="1486327"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err="1">
                <a:solidFill>
                  <a:schemeClr val="bg1"/>
                </a:solidFill>
                <a:latin typeface="Times New Roman" panose="02020603050405020304" pitchFamily="18" charset="0"/>
                <a:cs typeface="Times New Roman" panose="02020603050405020304" pitchFamily="18" charset="0"/>
              </a:rPr>
              <a:t>ve</a:t>
            </a:r>
            <a:r>
              <a:rPr lang="zh-CN" altLang="zh-CN" b="1" dirty="0">
                <a:solidFill>
                  <a:schemeClr val="bg1"/>
                </a:solidFill>
                <a:latin typeface="Times New Roman" panose="02020603050405020304" pitchFamily="18" charset="0"/>
                <a:cs typeface="Times New Roman" panose="02020603050405020304" pitchFamily="18" charset="0"/>
              </a:rPr>
              <a:t>= </a:t>
            </a:r>
            <a:r>
              <a:rPr lang="en-US" altLang="zh-CN" b="1" dirty="0">
                <a:solidFill>
                  <a:schemeClr val="bg1"/>
                </a:solidFill>
                <a:latin typeface="Times New Roman" panose="02020603050405020304" pitchFamily="18" charset="0"/>
                <a:cs typeface="Times New Roman" panose="02020603050405020304" pitchFamily="18" charset="0"/>
              </a:rPr>
              <a:t>collect</a:t>
            </a:r>
            <a:r>
              <a:rPr lang="zh-CN" altLang="zh-CN" b="1" dirty="0">
                <a:solidFill>
                  <a:schemeClr val="bg1"/>
                </a:solidFill>
                <a:latin typeface="Times New Roman" panose="02020603050405020304" pitchFamily="18" charset="0"/>
                <a:cs typeface="Times New Roman" panose="02020603050405020304" pitchFamily="18" charset="0"/>
              </a:rPr>
              <a:t>(</a:t>
            </a:r>
            <a:r>
              <a:rPr lang="en-US" altLang="zh-CN" b="1" dirty="0"/>
              <a:t>x</a:t>
            </a:r>
            <a:r>
              <a:rPr lang="zh-CN" altLang="zh-CN" b="1" dirty="0">
                <a:solidFill>
                  <a:schemeClr val="bg1"/>
                </a:solidFill>
                <a:latin typeface="Times New Roman" panose="02020603050405020304" pitchFamily="18" charset="0"/>
                <a:cs typeface="Times New Roman" panose="02020603050405020304" pitchFamily="18" charset="0"/>
              </a:rPr>
              <a:t>)</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7D4078EF-F0FA-4C1B-8537-244AA0A6C411}"/>
              </a:ext>
            </a:extLst>
          </p:cNvPr>
          <p:cNvSpPr txBox="1"/>
          <p:nvPr/>
        </p:nvSpPr>
        <p:spPr>
          <a:xfrm>
            <a:off x="7068361" y="2545596"/>
            <a:ext cx="2140306" cy="1169551"/>
          </a:xfrm>
          <a:prstGeom prst="rect">
            <a:avLst/>
          </a:prstGeom>
          <a:noFill/>
        </p:spPr>
        <p:txBody>
          <a:bodyPr wrap="square">
            <a:spAutoFit/>
          </a:bodyPr>
          <a:lstStyle/>
          <a:p>
            <a:r>
              <a:rPr lang="zh-CN" altLang="en-US" sz="1400" b="1" dirty="0">
                <a:solidFill>
                  <a:srgbClr val="0070C0"/>
                </a:solidFill>
              </a:rPr>
              <a:t>collect(x)</a:t>
            </a:r>
          </a:p>
          <a:p>
            <a:r>
              <a:rPr lang="zh-CN" altLang="en-US" sz="1400" dirty="0"/>
              <a:t>3-element Vector{Int64}:</a:t>
            </a:r>
          </a:p>
          <a:p>
            <a:r>
              <a:rPr lang="zh-CN" altLang="en-US" sz="1400" dirty="0"/>
              <a:t> 1</a:t>
            </a:r>
          </a:p>
          <a:p>
            <a:r>
              <a:rPr lang="zh-CN" altLang="en-US" sz="1400" dirty="0"/>
              <a:t> </a:t>
            </a:r>
            <a:r>
              <a:rPr lang="en-US" altLang="zh-CN" sz="1400" dirty="0"/>
              <a:t>2</a:t>
            </a:r>
            <a:endParaRPr lang="zh-CN" altLang="en-US" sz="1400" dirty="0"/>
          </a:p>
          <a:p>
            <a:r>
              <a:rPr lang="zh-CN" altLang="en-US" sz="1400" dirty="0"/>
              <a:t> </a:t>
            </a:r>
            <a:r>
              <a:rPr lang="en-US" altLang="zh-CN" sz="1400" dirty="0"/>
              <a:t>3</a:t>
            </a:r>
            <a:endParaRPr lang="zh-CN" altLang="en-US" sz="1400" dirty="0"/>
          </a:p>
        </p:txBody>
      </p:sp>
      <p:sp>
        <p:nvSpPr>
          <p:cNvPr id="26" name="Text Box 5">
            <a:extLst>
              <a:ext uri="{FF2B5EF4-FFF2-40B4-BE49-F238E27FC236}">
                <a16:creationId xmlns:a16="http://schemas.microsoft.com/office/drawing/2014/main" id="{92D65D70-B50F-43D3-8BB9-AA0418F06419}"/>
              </a:ext>
            </a:extLst>
          </p:cNvPr>
          <p:cNvSpPr txBox="1">
            <a:spLocks noChangeArrowheads="1"/>
          </p:cNvSpPr>
          <p:nvPr/>
        </p:nvSpPr>
        <p:spPr bwMode="auto">
          <a:xfrm>
            <a:off x="1873897" y="2360930"/>
            <a:ext cx="28421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2000" b="1">
                <a:solidFill>
                  <a:srgbClr val="00B0F0"/>
                </a:solidFill>
                <a:latin typeface="微软雅黑" panose="020B0503020204020204" pitchFamily="34" charset="-122"/>
                <a:ea typeface="微软雅黑" panose="020B0503020204020204" pitchFamily="34" charset="-122"/>
              </a:defRPr>
            </a:lvl1pPr>
          </a:lstStyle>
          <a:p>
            <a:r>
              <a:rPr lang="zh-CN" altLang="en-US" sz="1600" dirty="0"/>
              <a:t>当步长</a:t>
            </a:r>
            <a:r>
              <a:rPr lang="en-US" altLang="zh-CN" sz="1600" dirty="0"/>
              <a:t>h=1</a:t>
            </a:r>
            <a:r>
              <a:rPr lang="zh-CN" altLang="en-US" sz="1600" dirty="0"/>
              <a:t>时，</a:t>
            </a:r>
            <a:r>
              <a:rPr lang="en-US" altLang="zh-CN" sz="1600" dirty="0"/>
              <a:t>h</a:t>
            </a:r>
            <a:r>
              <a:rPr lang="zh-CN" altLang="en-US" sz="1600" dirty="0"/>
              <a:t>可省略</a:t>
            </a:r>
          </a:p>
        </p:txBody>
      </p:sp>
      <p:sp>
        <p:nvSpPr>
          <p:cNvPr id="33" name="矩形 32">
            <a:extLst>
              <a:ext uri="{FF2B5EF4-FFF2-40B4-BE49-F238E27FC236}">
                <a16:creationId xmlns:a16="http://schemas.microsoft.com/office/drawing/2014/main" id="{296ED766-55F2-4916-BD8E-952DA53DAD2A}"/>
              </a:ext>
            </a:extLst>
          </p:cNvPr>
          <p:cNvSpPr/>
          <p:nvPr/>
        </p:nvSpPr>
        <p:spPr>
          <a:xfrm>
            <a:off x="570188" y="1353812"/>
            <a:ext cx="1400221"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x=x1 </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h</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 x2</a:t>
            </a:r>
            <a:r>
              <a:rPr lang="zh-CN" altLang="en-US" b="1" dirty="0">
                <a:solidFill>
                  <a:schemeClr val="bg1"/>
                </a:solidFill>
                <a:latin typeface="Times New Roman" panose="02020603050405020304" pitchFamily="18" charset="0"/>
                <a:cs typeface="Times New Roman" panose="02020603050405020304" pitchFamily="18" charset="0"/>
              </a:rPr>
              <a:t>   </a:t>
            </a:r>
          </a:p>
        </p:txBody>
      </p:sp>
      <p:sp>
        <p:nvSpPr>
          <p:cNvPr id="34" name="TextBox 13">
            <a:extLst>
              <a:ext uri="{FF2B5EF4-FFF2-40B4-BE49-F238E27FC236}">
                <a16:creationId xmlns:a16="http://schemas.microsoft.com/office/drawing/2014/main" id="{0C6C285A-F1D1-439A-8C56-5CCA117DE2E2}"/>
              </a:ext>
            </a:extLst>
          </p:cNvPr>
          <p:cNvSpPr txBox="1"/>
          <p:nvPr/>
        </p:nvSpPr>
        <p:spPr>
          <a:xfrm>
            <a:off x="5940308" y="4107896"/>
            <a:ext cx="27824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defRPr sz="2800" b="0">
                <a:solidFill>
                  <a:srgbClr val="002060"/>
                </a:solidFill>
                <a:latin typeface="隶书" panose="02010509060101010101" pitchFamily="49" charset="-122"/>
                <a:ea typeface="隶书" panose="02010509060101010101" pitchFamily="49" charset="-122"/>
              </a:defRPr>
            </a:lvl1pPr>
            <a:lvl2pPr marL="742950" indent="-285750" eaLnBrk="0" hangingPunct="0">
              <a:defRPr sz="3600">
                <a:solidFill>
                  <a:srgbClr val="FF5050"/>
                </a:solidFill>
                <a:latin typeface="Arial" panose="020B0604020202020204" pitchFamily="34" charset="0"/>
                <a:ea typeface="宋体" panose="02010600030101010101" pitchFamily="2" charset="-122"/>
              </a:defRPr>
            </a:lvl2pPr>
            <a:lvl3pPr marL="1143000" indent="-228600" eaLnBrk="0" hangingPunct="0">
              <a:defRPr sz="3600">
                <a:solidFill>
                  <a:srgbClr val="FF5050"/>
                </a:solidFill>
                <a:latin typeface="Arial" panose="020B0604020202020204" pitchFamily="34" charset="0"/>
                <a:ea typeface="宋体" panose="02010600030101010101" pitchFamily="2" charset="-122"/>
              </a:defRPr>
            </a:lvl3pPr>
            <a:lvl4pPr marL="1600200" indent="-228600" eaLnBrk="0" hangingPunct="0">
              <a:defRPr sz="3600">
                <a:solidFill>
                  <a:srgbClr val="FF5050"/>
                </a:solidFill>
                <a:latin typeface="Arial" panose="020B0604020202020204" pitchFamily="34" charset="0"/>
                <a:ea typeface="宋体" panose="02010600030101010101" pitchFamily="2" charset="-122"/>
              </a:defRPr>
            </a:lvl4pPr>
            <a:lvl5pPr marL="2057400" indent="-228600" eaLnBrk="0" hangingPunct="0">
              <a:defRPr sz="3600">
                <a:solidFill>
                  <a:srgbClr val="FF505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rgbClr val="FF505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rgbClr val="FF505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rgbClr val="FF505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rgbClr val="FF5050"/>
                </a:solidFill>
                <a:latin typeface="Arial" panose="020B0604020202020204" pitchFamily="34" charset="0"/>
                <a:ea typeface="宋体" panose="02010600030101010101" pitchFamily="2" charset="-122"/>
              </a:defRPr>
            </a:lvl9pPr>
          </a:lstStyle>
          <a:p>
            <a:r>
              <a:rPr lang="zh-CN" altLang="en-US" sz="1800" b="1" dirty="0">
                <a:solidFill>
                  <a:srgbClr val="00B0F0"/>
                </a:solidFill>
                <a:latin typeface="微软雅黑" panose="020B0503020204020204" pitchFamily="34" charset="-122"/>
                <a:ea typeface="微软雅黑" panose="020B0503020204020204" pitchFamily="34" charset="-122"/>
              </a:rPr>
              <a:t>步长（</a:t>
            </a:r>
            <a:r>
              <a:rPr lang="en-US" altLang="zh-CN" sz="1800" b="1" dirty="0">
                <a:solidFill>
                  <a:srgbClr val="00B0F0"/>
                </a:solidFill>
                <a:latin typeface="微软雅黑" panose="020B0503020204020204" pitchFamily="34" charset="-122"/>
                <a:ea typeface="微软雅黑" panose="020B0503020204020204" pitchFamily="34" charset="-122"/>
              </a:rPr>
              <a:t>x2-x1</a:t>
            </a:r>
            <a:r>
              <a:rPr lang="zh-CN" altLang="en-US" sz="1800" b="1" dirty="0">
                <a:solidFill>
                  <a:srgbClr val="00B0F0"/>
                </a:solidFill>
                <a:latin typeface="微软雅黑" panose="020B0503020204020204" pitchFamily="34" charset="-122"/>
                <a:ea typeface="微软雅黑" panose="020B0503020204020204" pitchFamily="34" charset="-122"/>
              </a:rPr>
              <a:t>）</a:t>
            </a:r>
            <a:r>
              <a:rPr lang="en-US" altLang="zh-CN" sz="1800" b="1" dirty="0">
                <a:solidFill>
                  <a:srgbClr val="00B0F0"/>
                </a:solidFill>
                <a:latin typeface="微软雅黑" panose="020B0503020204020204" pitchFamily="34" charset="-122"/>
                <a:ea typeface="微软雅黑" panose="020B0503020204020204" pitchFamily="34" charset="-122"/>
              </a:rPr>
              <a:t>/</a:t>
            </a:r>
            <a:r>
              <a:rPr lang="zh-CN" altLang="en-US" sz="1800" b="1" dirty="0">
                <a:solidFill>
                  <a:srgbClr val="00B0F0"/>
                </a:solidFill>
                <a:latin typeface="微软雅黑" panose="020B0503020204020204" pitchFamily="34" charset="-122"/>
                <a:ea typeface="微软雅黑" panose="020B0503020204020204" pitchFamily="34" charset="-122"/>
              </a:rPr>
              <a:t>（</a:t>
            </a:r>
            <a:r>
              <a:rPr lang="en-US" altLang="zh-CN" sz="1800" b="1" dirty="0">
                <a:solidFill>
                  <a:srgbClr val="00B0F0"/>
                </a:solidFill>
                <a:latin typeface="微软雅黑" panose="020B0503020204020204" pitchFamily="34" charset="-122"/>
                <a:ea typeface="微软雅黑" panose="020B0503020204020204" pitchFamily="34" charset="-122"/>
              </a:rPr>
              <a:t>n-1</a:t>
            </a:r>
            <a:r>
              <a:rPr lang="zh-CN" altLang="en-US" sz="1800" b="1" dirty="0">
                <a:solidFill>
                  <a:srgbClr val="00B0F0"/>
                </a:solidFill>
                <a:latin typeface="微软雅黑" panose="020B0503020204020204" pitchFamily="34" charset="-122"/>
                <a:ea typeface="微软雅黑" panose="020B0503020204020204" pitchFamily="34" charset="-122"/>
              </a:rPr>
              <a:t>）</a:t>
            </a:r>
          </a:p>
        </p:txBody>
      </p:sp>
      <p:sp>
        <p:nvSpPr>
          <p:cNvPr id="36" name="矩形 35">
            <a:extLst>
              <a:ext uri="{FF2B5EF4-FFF2-40B4-BE49-F238E27FC236}">
                <a16:creationId xmlns:a16="http://schemas.microsoft.com/office/drawing/2014/main" id="{6231CEC1-B625-42E4-84F0-913A7F608100}"/>
              </a:ext>
            </a:extLst>
          </p:cNvPr>
          <p:cNvSpPr/>
          <p:nvPr/>
        </p:nvSpPr>
        <p:spPr>
          <a:xfrm>
            <a:off x="5069630" y="783631"/>
            <a:ext cx="2979513" cy="369332"/>
          </a:xfrm>
          <a:prstGeom prst="rect">
            <a:avLst/>
          </a:prstGeom>
          <a:solidFill>
            <a:schemeClr val="bg1"/>
          </a:solidFill>
          <a:ln w="9525">
            <a:noFill/>
            <a:miter lim="800000"/>
          </a:ln>
        </p:spPr>
        <p:txBody>
          <a:bodyPr wrap="square">
            <a:spAutoFit/>
          </a:bodyPr>
          <a:lstStyle/>
          <a:p>
            <a:pPr eaLnBrk="0" hangingPunct="0">
              <a:lnSpc>
                <a:spcPct val="90000"/>
              </a:lnSpc>
            </a:pPr>
            <a:r>
              <a:rPr lang="zh-CN" altLang="en-US" sz="2000" dirty="0">
                <a:solidFill>
                  <a:srgbClr val="002060"/>
                </a:solidFill>
                <a:latin typeface="微软雅黑" panose="020B0503020204020204" pitchFamily="34" charset="-122"/>
                <a:ea typeface="微软雅黑" panose="020B0503020204020204" pitchFamily="34" charset="-122"/>
              </a:rPr>
              <a:t>线性等分向量</a:t>
            </a:r>
            <a:r>
              <a:rPr lang="en-US" altLang="zh-CN" sz="2000" dirty="0">
                <a:solidFill>
                  <a:srgbClr val="002060"/>
                </a:solidFill>
                <a:latin typeface="微软雅黑" panose="020B0503020204020204" pitchFamily="34" charset="-122"/>
                <a:ea typeface="微软雅黑" panose="020B0503020204020204" pitchFamily="34" charset="-122"/>
              </a:rPr>
              <a:t>x=[1;3;5]</a:t>
            </a:r>
            <a:endParaRPr lang="zh-CN" altLang="en-US" sz="2000" kern="100" dirty="0">
              <a:solidFill>
                <a:srgbClr val="002060"/>
              </a:solidFill>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5384D022-580C-4CC7-9033-1E532C255183}"/>
              </a:ext>
            </a:extLst>
          </p:cNvPr>
          <p:cNvSpPr txBox="1"/>
          <p:nvPr/>
        </p:nvSpPr>
        <p:spPr>
          <a:xfrm>
            <a:off x="7098041" y="2259565"/>
            <a:ext cx="1141667" cy="369332"/>
          </a:xfrm>
          <a:prstGeom prst="rect">
            <a:avLst/>
          </a:prstGeom>
          <a:noFill/>
        </p:spPr>
        <p:txBody>
          <a:bodyPr wrap="square">
            <a:spAutoFit/>
          </a:bodyPr>
          <a:lstStyle/>
          <a:p>
            <a:r>
              <a:rPr lang="en-US" altLang="zh-CN" b="1" dirty="0">
                <a:solidFill>
                  <a:srgbClr val="0070C0"/>
                </a:solidFill>
              </a:rPr>
              <a:t>x=1:3</a:t>
            </a:r>
            <a:endParaRPr lang="zh-CN" altLang="en-US" b="1" dirty="0">
              <a:solidFill>
                <a:srgbClr val="0070C0"/>
              </a:solidFill>
            </a:endParaRPr>
          </a:p>
        </p:txBody>
      </p:sp>
      <p:sp>
        <p:nvSpPr>
          <p:cNvPr id="40" name="矩形 39">
            <a:extLst>
              <a:ext uri="{FF2B5EF4-FFF2-40B4-BE49-F238E27FC236}">
                <a16:creationId xmlns:a16="http://schemas.microsoft.com/office/drawing/2014/main" id="{082C2401-E1D4-45B6-9E48-3CEC18512395}"/>
              </a:ext>
            </a:extLst>
          </p:cNvPr>
          <p:cNvSpPr/>
          <p:nvPr/>
        </p:nvSpPr>
        <p:spPr>
          <a:xfrm>
            <a:off x="2817994" y="4119002"/>
            <a:ext cx="37960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sym typeface="+mn-lt"/>
              </a:rPr>
              <a:t>x1</a:t>
            </a:r>
            <a:r>
              <a:rPr lang="zh-CN" altLang="en-US" sz="1600" b="1" dirty="0">
                <a:solidFill>
                  <a:srgbClr val="00B0F0"/>
                </a:solidFill>
                <a:latin typeface="微软雅黑" panose="020B0503020204020204" pitchFamily="34" charset="-122"/>
                <a:ea typeface="微软雅黑" panose="020B0503020204020204" pitchFamily="34" charset="-122"/>
                <a:sym typeface="+mn-lt"/>
              </a:rPr>
              <a:t>起始值</a:t>
            </a:r>
            <a:r>
              <a:rPr lang="en-US" altLang="zh-CN" sz="1600" b="1" dirty="0">
                <a:solidFill>
                  <a:srgbClr val="00B0F0"/>
                </a:solidFill>
                <a:latin typeface="微软雅黑" panose="020B0503020204020204" pitchFamily="34" charset="-122"/>
                <a:ea typeface="微软雅黑" panose="020B0503020204020204" pitchFamily="34" charset="-122"/>
                <a:sym typeface="+mn-lt"/>
              </a:rPr>
              <a:t>,x2</a:t>
            </a:r>
            <a:r>
              <a:rPr lang="zh-CN" altLang="en-US" sz="1600" b="1" dirty="0">
                <a:solidFill>
                  <a:srgbClr val="00B0F0"/>
                </a:solidFill>
                <a:latin typeface="微软雅黑" panose="020B0503020204020204" pitchFamily="34" charset="-122"/>
                <a:ea typeface="微软雅黑" panose="020B0503020204020204" pitchFamily="34" charset="-122"/>
                <a:sym typeface="+mn-lt"/>
              </a:rPr>
              <a:t>终止值</a:t>
            </a:r>
            <a:r>
              <a:rPr lang="en-US" altLang="zh-CN" sz="1600" b="1" dirty="0">
                <a:solidFill>
                  <a:srgbClr val="00B0F0"/>
                </a:solidFill>
                <a:latin typeface="微软雅黑" panose="020B0503020204020204" pitchFamily="34" charset="-122"/>
                <a:ea typeface="微软雅黑" panose="020B0503020204020204" pitchFamily="34" charset="-122"/>
                <a:sym typeface="+mn-lt"/>
              </a:rPr>
              <a:t>,,n</a:t>
            </a:r>
            <a:r>
              <a:rPr lang="zh-CN" altLang="en-US" sz="1600" b="1" dirty="0">
                <a:solidFill>
                  <a:srgbClr val="00B0F0"/>
                </a:solidFill>
                <a:latin typeface="微软雅黑" panose="020B0503020204020204" pitchFamily="34" charset="-122"/>
                <a:ea typeface="微软雅黑" panose="020B0503020204020204" pitchFamily="34" charset="-122"/>
                <a:sym typeface="+mn-lt"/>
              </a:rPr>
              <a:t>个数</a:t>
            </a:r>
            <a:endParaRPr lang="zh-CN" altLang="en-US" sz="1600" b="1" dirty="0">
              <a:solidFill>
                <a:srgbClr val="00B0F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1884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p:bldP spid="11" grpId="0" animBg="1"/>
      <p:bldP spid="5" grpId="0"/>
      <p:bldP spid="21" grpId="0"/>
      <p:bldP spid="22" grpId="0"/>
      <p:bldP spid="28" grpId="0" animBg="1"/>
      <p:bldP spid="23" grpId="0"/>
      <p:bldP spid="30" grpId="0" animBg="1"/>
      <p:bldP spid="31" grpId="0" animBg="1"/>
      <p:bldP spid="32" grpId="0"/>
      <p:bldP spid="26" grpId="0"/>
      <p:bldP spid="33" grpId="0" animBg="1"/>
      <p:bldP spid="34" grpId="0"/>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AF542E-C877-7A0A-9A56-76BEAA6AFD59}"/>
              </a:ext>
            </a:extLst>
          </p:cNvPr>
          <p:cNvSpPr>
            <a:spLocks noGrp="1"/>
          </p:cNvSpPr>
          <p:nvPr>
            <p:ph idx="1"/>
          </p:nvPr>
        </p:nvSpPr>
        <p:spPr>
          <a:xfrm>
            <a:off x="390302" y="1054356"/>
            <a:ext cx="8363396" cy="3600986"/>
          </a:xfrm>
          <a:noFill/>
        </p:spPr>
        <p:txBody>
          <a:bodyPr/>
          <a:lstStyle/>
          <a:p>
            <a:pPr marL="0" indent="0">
              <a:lnSpc>
                <a:spcPct val="100000"/>
              </a:lnSpc>
              <a:buNone/>
            </a:pPr>
            <a:r>
              <a:rPr lang="en-US" altLang="zh-CN" sz="1900" b="1" dirty="0"/>
              <a:t>julia&gt; x1=1:2:5  </a:t>
            </a:r>
            <a:r>
              <a:rPr lang="en-US" altLang="zh-CN" sz="1900" b="1" dirty="0">
                <a:solidFill>
                  <a:srgbClr val="00B0F0"/>
                </a:solidFill>
              </a:rPr>
              <a:t>#</a:t>
            </a:r>
            <a:r>
              <a:rPr lang="zh-CN" altLang="en-US" sz="1900" b="1" dirty="0">
                <a:solidFill>
                  <a:srgbClr val="00B0F0"/>
                </a:solidFill>
              </a:rPr>
              <a:t>结果</a:t>
            </a:r>
            <a:r>
              <a:rPr lang="en-US" altLang="zh-CN" sz="1900" b="1" dirty="0">
                <a:solidFill>
                  <a:srgbClr val="00B0F0"/>
                </a:solidFill>
              </a:rPr>
              <a:t>1:2:5</a:t>
            </a:r>
          </a:p>
          <a:p>
            <a:pPr marL="0" indent="0">
              <a:lnSpc>
                <a:spcPct val="100000"/>
              </a:lnSpc>
              <a:buNone/>
            </a:pPr>
            <a:r>
              <a:rPr lang="en-US" altLang="zh-CN" sz="1900" b="1" dirty="0"/>
              <a:t>julia&gt; x1=collect(x1)</a:t>
            </a:r>
          </a:p>
          <a:p>
            <a:pPr marL="0" indent="0">
              <a:lnSpc>
                <a:spcPct val="100000"/>
              </a:lnSpc>
              <a:buNone/>
            </a:pPr>
            <a:r>
              <a:rPr lang="en-US" altLang="zh-CN" sz="1900" b="1" dirty="0">
                <a:solidFill>
                  <a:srgbClr val="00B0F0"/>
                </a:solidFill>
              </a:rPr>
              <a:t>3-element </a:t>
            </a:r>
            <a:r>
              <a:rPr lang="en-US" altLang="zh-CN" sz="1900" b="1" dirty="0">
                <a:solidFill>
                  <a:srgbClr val="FF0000"/>
                </a:solidFill>
              </a:rPr>
              <a:t>Vector</a:t>
            </a:r>
            <a:r>
              <a:rPr lang="en-US" altLang="zh-CN" sz="1900" b="1" dirty="0">
                <a:solidFill>
                  <a:srgbClr val="00B0F0"/>
                </a:solidFill>
              </a:rPr>
              <a:t>{Int64}:</a:t>
            </a:r>
          </a:p>
          <a:p>
            <a:pPr marL="0" indent="0">
              <a:lnSpc>
                <a:spcPct val="100000"/>
              </a:lnSpc>
              <a:buNone/>
            </a:pPr>
            <a:r>
              <a:rPr lang="en-US" altLang="zh-CN" sz="1900" b="1" dirty="0">
                <a:solidFill>
                  <a:srgbClr val="00B0F0"/>
                </a:solidFill>
              </a:rPr>
              <a:t> 1</a:t>
            </a:r>
          </a:p>
          <a:p>
            <a:pPr marL="0" indent="0">
              <a:lnSpc>
                <a:spcPct val="100000"/>
              </a:lnSpc>
              <a:buNone/>
            </a:pPr>
            <a:r>
              <a:rPr lang="en-US" altLang="zh-CN" sz="1900" b="1" dirty="0">
                <a:solidFill>
                  <a:srgbClr val="00B0F0"/>
                </a:solidFill>
              </a:rPr>
              <a:t> 3</a:t>
            </a:r>
          </a:p>
          <a:p>
            <a:pPr marL="0" indent="0">
              <a:lnSpc>
                <a:spcPct val="100000"/>
              </a:lnSpc>
              <a:buNone/>
            </a:pPr>
            <a:r>
              <a:rPr lang="en-US" altLang="zh-CN" sz="1900" b="1" dirty="0">
                <a:solidFill>
                  <a:srgbClr val="00B0F0"/>
                </a:solidFill>
              </a:rPr>
              <a:t> 5</a:t>
            </a:r>
          </a:p>
          <a:p>
            <a:pPr marL="0" indent="0">
              <a:lnSpc>
                <a:spcPct val="100000"/>
              </a:lnSpc>
              <a:buNone/>
            </a:pPr>
            <a:r>
              <a:rPr lang="en-US" altLang="zh-CN" sz="1900" b="1" dirty="0"/>
              <a:t>julia&gt; x2=1:2</a:t>
            </a:r>
            <a:r>
              <a:rPr lang="en-US" altLang="zh-CN" sz="1900" b="1" dirty="0">
                <a:solidFill>
                  <a:srgbClr val="0070C0"/>
                </a:solidFill>
                <a:highlight>
                  <a:srgbClr val="FFFF00"/>
                </a:highlight>
              </a:rPr>
              <a:t>:6 </a:t>
            </a:r>
            <a:r>
              <a:rPr lang="en-US" altLang="zh-CN" sz="1900" b="1" dirty="0">
                <a:solidFill>
                  <a:srgbClr val="00B0F0"/>
                </a:solidFill>
              </a:rPr>
              <a:t>#</a:t>
            </a:r>
            <a:r>
              <a:rPr lang="zh-CN" altLang="en-US" sz="1900" b="1" dirty="0">
                <a:solidFill>
                  <a:srgbClr val="00B0F0"/>
                </a:solidFill>
              </a:rPr>
              <a:t>结果</a:t>
            </a:r>
            <a:r>
              <a:rPr lang="en-US" altLang="zh-CN" sz="1900" b="1" dirty="0">
                <a:solidFill>
                  <a:srgbClr val="00B0F0"/>
                </a:solidFill>
              </a:rPr>
              <a:t>1:2:</a:t>
            </a:r>
            <a:r>
              <a:rPr lang="en-US" altLang="zh-CN" sz="1900" b="1" dirty="0">
                <a:solidFill>
                  <a:srgbClr val="FFFF00"/>
                </a:solidFill>
                <a:highlight>
                  <a:srgbClr val="FF0000"/>
                </a:highlight>
              </a:rPr>
              <a:t>5</a:t>
            </a:r>
          </a:p>
          <a:p>
            <a:pPr marL="0" indent="0">
              <a:lnSpc>
                <a:spcPct val="100000"/>
              </a:lnSpc>
              <a:buNone/>
            </a:pPr>
            <a:r>
              <a:rPr lang="en-US" altLang="zh-CN" sz="1900" b="1" dirty="0"/>
              <a:t>julia&gt; x2=collect(x2)</a:t>
            </a:r>
          </a:p>
          <a:p>
            <a:pPr marL="0" indent="0">
              <a:lnSpc>
                <a:spcPct val="100000"/>
              </a:lnSpc>
              <a:buNone/>
            </a:pPr>
            <a:r>
              <a:rPr lang="en-US" altLang="zh-CN" sz="1900" b="1" dirty="0">
                <a:solidFill>
                  <a:srgbClr val="00B0F0"/>
                </a:solidFill>
              </a:rPr>
              <a:t>3-element </a:t>
            </a:r>
            <a:r>
              <a:rPr lang="en-US" altLang="zh-CN" sz="1900" b="1" dirty="0">
                <a:solidFill>
                  <a:srgbClr val="FF0000"/>
                </a:solidFill>
              </a:rPr>
              <a:t>Vector</a:t>
            </a:r>
            <a:r>
              <a:rPr lang="en-US" altLang="zh-CN" sz="1900" b="1" dirty="0">
                <a:solidFill>
                  <a:srgbClr val="00B0F0"/>
                </a:solidFill>
              </a:rPr>
              <a:t>{Int64}:</a:t>
            </a:r>
          </a:p>
          <a:p>
            <a:pPr marL="0" indent="0">
              <a:lnSpc>
                <a:spcPct val="100000"/>
              </a:lnSpc>
              <a:buNone/>
            </a:pPr>
            <a:r>
              <a:rPr lang="en-US" altLang="zh-CN" sz="1900" b="1" dirty="0">
                <a:solidFill>
                  <a:srgbClr val="00B0F0"/>
                </a:solidFill>
              </a:rPr>
              <a:t> 1</a:t>
            </a:r>
          </a:p>
          <a:p>
            <a:pPr marL="0" indent="0">
              <a:lnSpc>
                <a:spcPct val="100000"/>
              </a:lnSpc>
              <a:buNone/>
            </a:pPr>
            <a:r>
              <a:rPr lang="en-US" altLang="zh-CN" sz="1900" b="1" dirty="0">
                <a:solidFill>
                  <a:srgbClr val="00B0F0"/>
                </a:solidFill>
              </a:rPr>
              <a:t> 3</a:t>
            </a:r>
          </a:p>
          <a:p>
            <a:pPr marL="0" indent="0">
              <a:lnSpc>
                <a:spcPct val="100000"/>
              </a:lnSpc>
              <a:buNone/>
            </a:pPr>
            <a:r>
              <a:rPr lang="en-US" altLang="zh-CN" sz="1900" b="1" dirty="0">
                <a:solidFill>
                  <a:srgbClr val="00B0F0"/>
                </a:solidFill>
              </a:rPr>
              <a:t> 5</a:t>
            </a:r>
            <a:endParaRPr lang="zh-CN" altLang="en-US" sz="1900" b="1" dirty="0">
              <a:solidFill>
                <a:srgbClr val="00B0F0"/>
              </a:solidFill>
            </a:endParaRPr>
          </a:p>
        </p:txBody>
      </p:sp>
      <p:sp>
        <p:nvSpPr>
          <p:cNvPr id="5" name="内容占位符 2">
            <a:extLst>
              <a:ext uri="{FF2B5EF4-FFF2-40B4-BE49-F238E27FC236}">
                <a16:creationId xmlns:a16="http://schemas.microsoft.com/office/drawing/2014/main" id="{4A29CDD3-1AF0-0CAF-256C-091A173DE627}"/>
              </a:ext>
            </a:extLst>
          </p:cNvPr>
          <p:cNvSpPr txBox="1">
            <a:spLocks/>
          </p:cNvSpPr>
          <p:nvPr/>
        </p:nvSpPr>
        <p:spPr bwMode="auto">
          <a:xfrm>
            <a:off x="3349454" y="943030"/>
            <a:ext cx="4849651" cy="1908664"/>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None/>
            </a:pPr>
            <a:r>
              <a:rPr lang="en-US" altLang="zh-CN" sz="1800" b="1" kern="0" dirty="0" err="1"/>
              <a:t>julia</a:t>
            </a:r>
            <a:r>
              <a:rPr lang="en-US" altLang="zh-CN" sz="1800" b="1" kern="0" dirty="0"/>
              <a:t>&gt; x5=LinRange(1,5,3)</a:t>
            </a:r>
          </a:p>
          <a:p>
            <a:pPr marL="0" indent="0">
              <a:buNone/>
            </a:pPr>
            <a:r>
              <a:rPr lang="en-US" altLang="zh-CN" sz="1800" b="1" kern="0" dirty="0">
                <a:solidFill>
                  <a:srgbClr val="00B0F0"/>
                </a:solidFill>
              </a:rPr>
              <a:t>#</a:t>
            </a:r>
            <a:r>
              <a:rPr lang="zh-CN" altLang="en-US" sz="1800" b="1" kern="0" dirty="0">
                <a:solidFill>
                  <a:srgbClr val="00B0F0"/>
                </a:solidFill>
              </a:rPr>
              <a:t>结果</a:t>
            </a:r>
            <a:r>
              <a:rPr lang="en-US" altLang="zh-CN" sz="1800" b="1" kern="0" dirty="0">
                <a:solidFill>
                  <a:srgbClr val="00B0F0"/>
                </a:solidFill>
              </a:rPr>
              <a:t>3-element LinRange{Float64, Int64}:</a:t>
            </a:r>
          </a:p>
          <a:p>
            <a:pPr marL="0" indent="0">
              <a:buNone/>
            </a:pPr>
            <a:r>
              <a:rPr lang="en-US" altLang="zh-CN" sz="1800" b="1" kern="0" dirty="0">
                <a:solidFill>
                  <a:srgbClr val="00B0F0"/>
                </a:solidFill>
              </a:rPr>
              <a:t> 1.0, 3.0, 5.0</a:t>
            </a:r>
          </a:p>
          <a:p>
            <a:pPr marL="0" indent="0">
              <a:buFont typeface="Wingdings" panose="05000000000000000000" pitchFamily="2" charset="2"/>
              <a:buNone/>
            </a:pPr>
            <a:r>
              <a:rPr lang="en-US" altLang="zh-CN" sz="1800" b="1" kern="0" dirty="0" err="1"/>
              <a:t>julia</a:t>
            </a:r>
            <a:r>
              <a:rPr lang="en-US" altLang="zh-CN" sz="1800" b="1" kern="0" dirty="0"/>
              <a:t>&gt; x5=LinRange(1,6,3)</a:t>
            </a:r>
          </a:p>
          <a:p>
            <a:pPr marL="0" indent="0">
              <a:buNone/>
            </a:pPr>
            <a:r>
              <a:rPr lang="en-US" altLang="zh-CN" sz="1800" b="1" kern="0" dirty="0">
                <a:solidFill>
                  <a:srgbClr val="00B0F0"/>
                </a:solidFill>
              </a:rPr>
              <a:t>6-element </a:t>
            </a:r>
            <a:r>
              <a:rPr lang="en-US" altLang="zh-CN" sz="1800" b="1" kern="0" dirty="0" err="1">
                <a:solidFill>
                  <a:srgbClr val="00B0F0"/>
                </a:solidFill>
              </a:rPr>
              <a:t>LinRange</a:t>
            </a:r>
            <a:r>
              <a:rPr lang="en-US" altLang="zh-CN" sz="1800" b="1" kern="0" dirty="0">
                <a:solidFill>
                  <a:srgbClr val="00B0F0"/>
                </a:solidFill>
              </a:rPr>
              <a:t>{Float64, Int64}:</a:t>
            </a:r>
          </a:p>
          <a:p>
            <a:pPr marL="0" indent="0">
              <a:buNone/>
            </a:pPr>
            <a:r>
              <a:rPr lang="en-US" altLang="zh-CN" sz="1800" b="1" kern="0" dirty="0">
                <a:solidFill>
                  <a:srgbClr val="00B0F0"/>
                </a:solidFill>
              </a:rPr>
              <a:t>#</a:t>
            </a:r>
            <a:r>
              <a:rPr lang="zh-CN" altLang="en-US" sz="1800" b="1" kern="0" dirty="0">
                <a:solidFill>
                  <a:srgbClr val="00B0F0"/>
                </a:solidFill>
              </a:rPr>
              <a:t>结果</a:t>
            </a:r>
            <a:r>
              <a:rPr lang="en-US" altLang="zh-CN" sz="1800" b="1" kern="0" dirty="0">
                <a:solidFill>
                  <a:srgbClr val="00B0F0"/>
                </a:solidFill>
              </a:rPr>
              <a:t>1.0,3.5,6.0</a:t>
            </a:r>
          </a:p>
        </p:txBody>
      </p:sp>
      <p:sp>
        <p:nvSpPr>
          <p:cNvPr id="6" name="标题 1">
            <a:extLst>
              <a:ext uri="{FF2B5EF4-FFF2-40B4-BE49-F238E27FC236}">
                <a16:creationId xmlns:a16="http://schemas.microsoft.com/office/drawing/2014/main" id="{F5CA0915-39B9-405D-A411-8394EA617192}"/>
              </a:ext>
            </a:extLst>
          </p:cNvPr>
          <p:cNvSpPr txBox="1">
            <a:spLocks/>
          </p:cNvSpPr>
          <p:nvPr/>
        </p:nvSpPr>
        <p:spPr bwMode="auto">
          <a:xfrm>
            <a:off x="686519" y="55574"/>
            <a:ext cx="8169475"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700" kern="0" dirty="0">
                <a:latin typeface="Helvetica Neue"/>
              </a:rPr>
            </a:br>
            <a:r>
              <a:rPr lang="en-US" altLang="zh-CN" sz="2700" kern="0" dirty="0">
                <a:latin typeface="Helvetica Neue"/>
              </a:rPr>
              <a:t>§</a:t>
            </a:r>
            <a:r>
              <a:rPr lang="en-US" altLang="zh-CN" sz="2700" dirty="0"/>
              <a:t>1.4.1.1  </a:t>
            </a:r>
            <a:r>
              <a:rPr lang="zh-CN" altLang="en-US" sz="2700" dirty="0"/>
              <a:t>创建一维</a:t>
            </a:r>
            <a:r>
              <a:rPr lang="zh-CN" altLang="en-US" sz="2700" dirty="0">
                <a:latin typeface="Helvetica Neue"/>
              </a:rPr>
              <a:t>向量</a:t>
            </a:r>
            <a:r>
              <a:rPr lang="en-US" altLang="zh-CN" sz="2700" dirty="0">
                <a:solidFill>
                  <a:srgbClr val="FF0000"/>
                </a:solidFill>
              </a:rPr>
              <a:t>——3.</a:t>
            </a:r>
            <a:r>
              <a:rPr lang="zh-CN" altLang="en-US" sz="2700" dirty="0">
                <a:solidFill>
                  <a:srgbClr val="FF0000"/>
                </a:solidFill>
              </a:rPr>
              <a:t>创建</a:t>
            </a:r>
            <a:r>
              <a:rPr lang="zh-CN" altLang="en-US" sz="2700" i="0" dirty="0">
                <a:solidFill>
                  <a:srgbClr val="FF0000"/>
                </a:solidFill>
                <a:effectLst/>
                <a:latin typeface="-apple-system"/>
              </a:rPr>
              <a:t>线性</a:t>
            </a:r>
            <a:r>
              <a:rPr lang="zh-CN" altLang="en-US" sz="2700" dirty="0">
                <a:solidFill>
                  <a:srgbClr val="FF0000"/>
                </a:solidFill>
                <a:latin typeface="-apple-system"/>
              </a:rPr>
              <a:t>等分向量示例</a:t>
            </a:r>
            <a:endParaRPr lang="zh-CN" altLang="en-US" sz="2700" kern="0" dirty="0">
              <a:solidFill>
                <a:srgbClr val="FF0000"/>
              </a:solidFill>
            </a:endParaRPr>
          </a:p>
        </p:txBody>
      </p:sp>
      <p:sp>
        <p:nvSpPr>
          <p:cNvPr id="7" name="波形 6">
            <a:extLst>
              <a:ext uri="{FF2B5EF4-FFF2-40B4-BE49-F238E27FC236}">
                <a16:creationId xmlns:a16="http://schemas.microsoft.com/office/drawing/2014/main" id="{6FBE1114-1AC7-48F9-A5EF-0943C0383C15}"/>
              </a:ext>
            </a:extLst>
          </p:cNvPr>
          <p:cNvSpPr/>
          <p:nvPr/>
        </p:nvSpPr>
        <p:spPr>
          <a:xfrm>
            <a:off x="492932" y="688086"/>
            <a:ext cx="876188"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例141-1</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8" name="AutoShape 13">
            <a:extLst>
              <a:ext uri="{FF2B5EF4-FFF2-40B4-BE49-F238E27FC236}">
                <a16:creationId xmlns:a16="http://schemas.microsoft.com/office/drawing/2014/main" id="{3CD0B1C0-B8F2-458B-BA82-B51FC0D2CA3C}"/>
              </a:ext>
            </a:extLst>
          </p:cNvPr>
          <p:cNvSpPr>
            <a:spLocks noChangeArrowheads="1"/>
          </p:cNvSpPr>
          <p:nvPr/>
        </p:nvSpPr>
        <p:spPr bwMode="auto">
          <a:xfrm>
            <a:off x="2845535" y="4020143"/>
            <a:ext cx="943249" cy="540709"/>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 注意</a:t>
            </a:r>
            <a:endParaRPr lang="en-US" altLang="zh-CN" sz="1400" b="1" kern="0" dirty="0">
              <a:solidFill>
                <a:srgbClr val="FFFF00"/>
              </a:solidFill>
              <a:ea typeface="黑体" panose="02010609060101010101" pitchFamily="49" charset="-122"/>
            </a:endParaRPr>
          </a:p>
        </p:txBody>
      </p:sp>
      <p:sp>
        <p:nvSpPr>
          <p:cNvPr id="10" name="文本框 9">
            <a:extLst>
              <a:ext uri="{FF2B5EF4-FFF2-40B4-BE49-F238E27FC236}">
                <a16:creationId xmlns:a16="http://schemas.microsoft.com/office/drawing/2014/main" id="{F6497A37-E488-42C6-8007-911F611DCAAD}"/>
              </a:ext>
            </a:extLst>
          </p:cNvPr>
          <p:cNvSpPr txBox="1"/>
          <p:nvPr/>
        </p:nvSpPr>
        <p:spPr>
          <a:xfrm>
            <a:off x="3779912" y="3943590"/>
            <a:ext cx="5256584" cy="641009"/>
          </a:xfrm>
          <a:prstGeom prst="rect">
            <a:avLst/>
          </a:prstGeom>
          <a:noFill/>
        </p:spPr>
        <p:txBody>
          <a:bodyPr wrap="square">
            <a:spAutoFit/>
          </a:bodyPr>
          <a:lstStyle/>
          <a:p>
            <a:pPr marL="342900" indent="-342900">
              <a:lnSpc>
                <a:spcPts val="2200"/>
              </a:lnSpc>
              <a:buFont typeface="+mj-ea"/>
              <a:buAutoNum type="circleNumDbPlain"/>
            </a:pPr>
            <a:r>
              <a:rPr lang="en-US" altLang="zh-CN" sz="1200" b="1" kern="0" dirty="0">
                <a:solidFill>
                  <a:srgbClr val="0070C0"/>
                </a:solidFill>
                <a:latin typeface="微软雅黑" panose="020B0503020204020204" pitchFamily="34" charset="-122"/>
                <a:ea typeface="微软雅黑" panose="020B0503020204020204" pitchFamily="34" charset="-122"/>
              </a:rPr>
              <a:t>linRange</a:t>
            </a:r>
            <a:r>
              <a:rPr lang="zh-CN" altLang="en-US" sz="1200" b="1" kern="0" dirty="0">
                <a:solidFill>
                  <a:srgbClr val="0070C0"/>
                </a:solidFill>
                <a:latin typeface="微软雅黑" panose="020B0503020204020204" pitchFamily="34" charset="-122"/>
                <a:ea typeface="微软雅黑" panose="020B0503020204020204" pitchFamily="34" charset="-122"/>
              </a:rPr>
              <a:t>创建线性向量最后元素必等于终止值</a:t>
            </a:r>
            <a:r>
              <a:rPr lang="en-US" altLang="zh-CN" sz="1200" b="1" kern="0" dirty="0">
                <a:solidFill>
                  <a:srgbClr val="0070C0"/>
                </a:solidFill>
                <a:latin typeface="微软雅黑" panose="020B0503020204020204" pitchFamily="34" charset="-122"/>
                <a:ea typeface="微软雅黑" panose="020B0503020204020204" pitchFamily="34" charset="-122"/>
              </a:rPr>
              <a:t>x2</a:t>
            </a:r>
          </a:p>
          <a:p>
            <a:pPr marL="342900" indent="-342900">
              <a:lnSpc>
                <a:spcPts val="2200"/>
              </a:lnSpc>
              <a:buFont typeface="+mj-ea"/>
              <a:buAutoNum type="circleNumDbPlain"/>
            </a:pPr>
            <a:r>
              <a:rPr lang="zh-CN" altLang="en-US" sz="1200" b="1" kern="0" dirty="0">
                <a:solidFill>
                  <a:srgbClr val="0070C0"/>
                </a:solidFill>
                <a:latin typeface="微软雅黑" panose="020B0503020204020204" pitchFamily="34" charset="-122"/>
                <a:ea typeface="微软雅黑" panose="020B0503020204020204" pitchFamily="34" charset="-122"/>
              </a:rPr>
              <a:t>冒号法创建向量，只有被等分为整数份时，最后元素才能为终止值</a:t>
            </a:r>
            <a:r>
              <a:rPr lang="en-US" altLang="zh-CN" sz="1200" b="1" kern="0" dirty="0">
                <a:solidFill>
                  <a:srgbClr val="0070C0"/>
                </a:solidFill>
                <a:latin typeface="微软雅黑" panose="020B0503020204020204" pitchFamily="34" charset="-122"/>
                <a:ea typeface="微软雅黑" panose="020B0503020204020204" pitchFamily="34" charset="-122"/>
              </a:rPr>
              <a:t>x2</a:t>
            </a:r>
            <a:endParaRPr lang="zh-CN" altLang="en-US" sz="1200" b="1" kern="0" dirty="0">
              <a:solidFill>
                <a:srgbClr val="0070C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3EFA2226-4E80-4A55-B2D5-0F66282A345B}"/>
              </a:ext>
            </a:extLst>
          </p:cNvPr>
          <p:cNvSpPr txBox="1"/>
          <p:nvPr/>
        </p:nvSpPr>
        <p:spPr>
          <a:xfrm>
            <a:off x="1379377" y="661148"/>
            <a:ext cx="7595368"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采用不同方式分别创建线性等分向量 </a:t>
            </a:r>
            <a:r>
              <a:rPr lang="en-US" altLang="zh-CN" b="1" dirty="0">
                <a:solidFill>
                  <a:srgbClr val="0070C0"/>
                </a:solidFill>
                <a:latin typeface="微软雅黑" panose="020B0503020204020204" pitchFamily="34" charset="-122"/>
                <a:ea typeface="微软雅黑" panose="020B0503020204020204" pitchFamily="34" charset="-122"/>
              </a:rPr>
              <a:t>[1;3;5]</a:t>
            </a:r>
            <a:r>
              <a:rPr lang="zh-CN" altLang="en-US" b="1" dirty="0">
                <a:solidFill>
                  <a:srgbClr val="0070C0"/>
                </a:solidFill>
                <a:latin typeface="微软雅黑" panose="020B0503020204020204" pitchFamily="34" charset="-122"/>
                <a:ea typeface="微软雅黑" panose="020B0503020204020204" pitchFamily="34" charset="-122"/>
              </a:rPr>
              <a:t>；起始值</a:t>
            </a:r>
            <a:r>
              <a:rPr lang="en-US" altLang="zh-CN" b="1" dirty="0">
                <a:solidFill>
                  <a:srgbClr val="0070C0"/>
                </a:solidFill>
                <a:latin typeface="微软雅黑" panose="020B0503020204020204" pitchFamily="34" charset="-122"/>
                <a:ea typeface="微软雅黑" panose="020B0503020204020204" pitchFamily="34" charset="-122"/>
              </a:rPr>
              <a:t>1</a:t>
            </a:r>
            <a:r>
              <a:rPr lang="zh-CN" altLang="en-US" b="1" dirty="0">
                <a:solidFill>
                  <a:srgbClr val="0070C0"/>
                </a:solidFill>
                <a:latin typeface="微软雅黑" panose="020B0503020204020204" pitchFamily="34" charset="-122"/>
                <a:ea typeface="微软雅黑" panose="020B0503020204020204" pitchFamily="34" charset="-122"/>
              </a:rPr>
              <a:t>，终止值</a:t>
            </a:r>
            <a:r>
              <a:rPr lang="en-US" altLang="zh-CN" b="1" dirty="0">
                <a:solidFill>
                  <a:srgbClr val="0070C0"/>
                </a:solidFill>
                <a:latin typeface="微软雅黑" panose="020B0503020204020204" pitchFamily="34" charset="-122"/>
                <a:ea typeface="微软雅黑" panose="020B0503020204020204" pitchFamily="34" charset="-122"/>
              </a:rPr>
              <a:t>6</a:t>
            </a:r>
            <a:r>
              <a:rPr lang="zh-CN" altLang="en-US" b="1" dirty="0">
                <a:solidFill>
                  <a:srgbClr val="0070C0"/>
                </a:solidFill>
                <a:latin typeface="微软雅黑" panose="020B0503020204020204" pitchFamily="34" charset="-122"/>
                <a:ea typeface="微软雅黑" panose="020B0503020204020204" pitchFamily="34" charset="-122"/>
              </a:rPr>
              <a:t>的向量</a:t>
            </a:r>
          </a:p>
        </p:txBody>
      </p:sp>
      <p:sp>
        <p:nvSpPr>
          <p:cNvPr id="14" name="文本框 13">
            <a:extLst>
              <a:ext uri="{FF2B5EF4-FFF2-40B4-BE49-F238E27FC236}">
                <a16:creationId xmlns:a16="http://schemas.microsoft.com/office/drawing/2014/main" id="{18FD58B1-CA2A-4725-9920-E91DB84C844D}"/>
              </a:ext>
            </a:extLst>
          </p:cNvPr>
          <p:cNvSpPr txBox="1"/>
          <p:nvPr/>
        </p:nvSpPr>
        <p:spPr>
          <a:xfrm>
            <a:off x="3317160" y="2718472"/>
            <a:ext cx="3384376" cy="1323439"/>
          </a:xfrm>
          <a:prstGeom prst="rect">
            <a:avLst/>
          </a:prstGeom>
          <a:noFill/>
        </p:spPr>
        <p:txBody>
          <a:bodyPr wrap="square">
            <a:spAutoFit/>
          </a:bodyPr>
          <a:lstStyle/>
          <a:p>
            <a:pPr marL="0" indent="0">
              <a:buFont typeface="Wingdings" panose="05000000000000000000" pitchFamily="2" charset="2"/>
              <a:buNone/>
            </a:pPr>
            <a:r>
              <a:rPr lang="en-US" altLang="zh-CN" sz="1600" kern="0" dirty="0" err="1"/>
              <a:t>julia</a:t>
            </a:r>
            <a:r>
              <a:rPr lang="en-US" altLang="zh-CN" sz="1600" kern="0" dirty="0"/>
              <a:t>&gt; v5=collect(x5)</a:t>
            </a:r>
          </a:p>
          <a:p>
            <a:pPr marL="0" indent="0">
              <a:buNone/>
            </a:pPr>
            <a:r>
              <a:rPr lang="en-US" altLang="zh-CN" sz="1600" kern="0" dirty="0">
                <a:solidFill>
                  <a:srgbClr val="00B0F0"/>
                </a:solidFill>
              </a:rPr>
              <a:t>#</a:t>
            </a:r>
            <a:r>
              <a:rPr lang="zh-CN" altLang="en-US" sz="1600" kern="0" dirty="0">
                <a:solidFill>
                  <a:srgbClr val="00B0F0"/>
                </a:solidFill>
              </a:rPr>
              <a:t>结果</a:t>
            </a:r>
            <a:r>
              <a:rPr lang="en-US" altLang="zh-CN" sz="1600" kern="0" dirty="0">
                <a:solidFill>
                  <a:srgbClr val="00B0F0"/>
                </a:solidFill>
              </a:rPr>
              <a:t>3-element </a:t>
            </a:r>
            <a:r>
              <a:rPr lang="en-US" altLang="zh-CN" sz="1600" dirty="0">
                <a:solidFill>
                  <a:srgbClr val="FF0000"/>
                </a:solidFill>
                <a:latin typeface="华文楷体" panose="02010600040101010101" pitchFamily="2" charset="-122"/>
                <a:ea typeface="华文楷体" panose="02010600040101010101" pitchFamily="2" charset="-122"/>
              </a:rPr>
              <a:t>Vector</a:t>
            </a:r>
            <a:r>
              <a:rPr lang="en-US" altLang="zh-CN" sz="1600" dirty="0">
                <a:solidFill>
                  <a:srgbClr val="00B0F0"/>
                </a:solidFill>
              </a:rPr>
              <a:t>{Float64}:</a:t>
            </a:r>
          </a:p>
          <a:p>
            <a:pPr marL="0" indent="0">
              <a:buFont typeface="Wingdings" panose="05000000000000000000" pitchFamily="2" charset="2"/>
              <a:buNone/>
            </a:pPr>
            <a:r>
              <a:rPr lang="en-US" altLang="zh-CN" sz="1600" kern="0" dirty="0">
                <a:solidFill>
                  <a:srgbClr val="00B0F0"/>
                </a:solidFill>
              </a:rPr>
              <a:t> 1.0</a:t>
            </a:r>
          </a:p>
          <a:p>
            <a:pPr marL="0" indent="0">
              <a:buFont typeface="Wingdings" panose="05000000000000000000" pitchFamily="2" charset="2"/>
              <a:buNone/>
            </a:pPr>
            <a:r>
              <a:rPr lang="en-US" altLang="zh-CN" sz="1600" kern="0" dirty="0">
                <a:solidFill>
                  <a:srgbClr val="00B0F0"/>
                </a:solidFill>
              </a:rPr>
              <a:t> 3.5</a:t>
            </a:r>
          </a:p>
          <a:p>
            <a:pPr marL="0" indent="0">
              <a:buFont typeface="Wingdings" panose="05000000000000000000" pitchFamily="2" charset="2"/>
              <a:buNone/>
            </a:pPr>
            <a:r>
              <a:rPr lang="en-US" altLang="zh-CN" sz="1600" kern="0" dirty="0">
                <a:solidFill>
                  <a:srgbClr val="00B0F0"/>
                </a:solidFill>
              </a:rPr>
              <a:t> 6.0</a:t>
            </a:r>
          </a:p>
        </p:txBody>
      </p:sp>
    </p:spTree>
    <p:extLst>
      <p:ext uri="{BB962C8B-B14F-4D97-AF65-F5344CB8AC3E}">
        <p14:creationId xmlns:p14="http://schemas.microsoft.com/office/powerpoint/2010/main" val="3651333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E680FD1-9D07-EF28-55A8-7A4FD21EFFCD}"/>
              </a:ext>
            </a:extLst>
          </p:cNvPr>
          <p:cNvSpPr>
            <a:spLocks noGrp="1"/>
          </p:cNvSpPr>
          <p:nvPr>
            <p:ph idx="1"/>
          </p:nvPr>
        </p:nvSpPr>
        <p:spPr>
          <a:xfrm>
            <a:off x="251520" y="2037391"/>
            <a:ext cx="8676456" cy="375809"/>
          </a:xfrm>
        </p:spPr>
        <p:txBody>
          <a:bodyPr/>
          <a:lstStyle/>
          <a:p>
            <a:pPr marL="457200" indent="-457200">
              <a:buFont typeface="+mj-ea"/>
              <a:buAutoNum type="circleNumDbPlain" startAt="2"/>
            </a:pPr>
            <a:r>
              <a:rPr lang="zh-CN" altLang="en-US" sz="1800" b="1" dirty="0">
                <a:solidFill>
                  <a:srgbClr val="0070C0"/>
                </a:solidFill>
                <a:latin typeface="微软雅黑" panose="020B0503020204020204" pitchFamily="34" charset="-122"/>
                <a:ea typeface="微软雅黑" panose="020B0503020204020204" pitchFamily="34" charset="-122"/>
              </a:rPr>
              <a:t>第</a:t>
            </a:r>
            <a:r>
              <a:rPr lang="en-US" altLang="zh-CN" sz="1800" b="1" dirty="0">
                <a:solidFill>
                  <a:srgbClr val="0070C0"/>
                </a:solidFill>
                <a:latin typeface="微软雅黑" panose="020B0503020204020204" pitchFamily="34" charset="-122"/>
                <a:ea typeface="微软雅黑" panose="020B0503020204020204" pitchFamily="34" charset="-122"/>
              </a:rPr>
              <a:t>2</a:t>
            </a:r>
            <a:r>
              <a:rPr lang="zh-CN" altLang="en-US" sz="1800" b="1" dirty="0">
                <a:solidFill>
                  <a:srgbClr val="0070C0"/>
                </a:solidFill>
                <a:latin typeface="微软雅黑" panose="020B0503020204020204" pitchFamily="34" charset="-122"/>
                <a:ea typeface="微软雅黑" panose="020B0503020204020204" pitchFamily="34" charset="-122"/>
              </a:rPr>
              <a:t>种方式</a:t>
            </a:r>
            <a:r>
              <a:rPr lang="en-US" altLang="zh-CN" sz="1800" b="1" dirty="0">
                <a:solidFill>
                  <a:srgbClr val="0070C0"/>
                </a:solidFill>
                <a:latin typeface="微软雅黑" panose="020B0503020204020204" pitchFamily="34" charset="-122"/>
                <a:ea typeface="微软雅黑" panose="020B0503020204020204" pitchFamily="34" charset="-122"/>
              </a:rPr>
              <a:t>:</a:t>
            </a:r>
            <a:r>
              <a:rPr lang="zh-CN" altLang="en-US" sz="1800" b="1" dirty="0">
                <a:solidFill>
                  <a:srgbClr val="0070C0"/>
                </a:solidFill>
                <a:latin typeface="微软雅黑" panose="020B0503020204020204" pitchFamily="34" charset="-122"/>
                <a:ea typeface="微软雅黑" panose="020B0503020204020204" pitchFamily="34" charset="-122"/>
              </a:rPr>
              <a:t>一行ｎ个元素用</a:t>
            </a:r>
            <a:r>
              <a:rPr lang="en-US" altLang="zh-CN" sz="1800" b="1" dirty="0">
                <a:solidFill>
                  <a:srgbClr val="0070C0"/>
                </a:solidFill>
                <a:latin typeface="微软雅黑" panose="020B0503020204020204" pitchFamily="34" charset="-122"/>
                <a:ea typeface="微软雅黑" panose="020B0503020204020204" pitchFamily="34" charset="-122"/>
              </a:rPr>
              <a:t>” ;;” </a:t>
            </a:r>
            <a:r>
              <a:rPr lang="zh-CN" altLang="en-US" sz="1800" b="1" dirty="0">
                <a:solidFill>
                  <a:srgbClr val="0070C0"/>
                </a:solidFill>
                <a:latin typeface="微软雅黑" panose="020B0503020204020204" pitchFamily="34" charset="-122"/>
                <a:ea typeface="微软雅黑" panose="020B0503020204020204" pitchFamily="34" charset="-122"/>
              </a:rPr>
              <a:t>分隔成１＊ｎ矩阵</a:t>
            </a:r>
          </a:p>
        </p:txBody>
      </p:sp>
      <p:sp>
        <p:nvSpPr>
          <p:cNvPr id="4" name="标题 1">
            <a:extLst>
              <a:ext uri="{FF2B5EF4-FFF2-40B4-BE49-F238E27FC236}">
                <a16:creationId xmlns:a16="http://schemas.microsoft.com/office/drawing/2014/main" id="{0C7DB59D-C47E-0F1A-DD9E-71EA57BC835C}"/>
              </a:ext>
            </a:extLst>
          </p:cNvPr>
          <p:cNvSpPr>
            <a:spLocks noGrp="1"/>
          </p:cNvSpPr>
          <p:nvPr>
            <p:ph type="title"/>
          </p:nvPr>
        </p:nvSpPr>
        <p:spPr>
          <a:xfrm>
            <a:off x="1043608" y="-33119"/>
            <a:ext cx="6480720" cy="648072"/>
          </a:xfrm>
          <a:noFill/>
        </p:spPr>
        <p:txBody>
          <a:bodyPr/>
          <a:lstStyle/>
          <a:p>
            <a:br>
              <a:rPr lang="en-US" altLang="zh-CN" i="0" dirty="0">
                <a:effectLst/>
                <a:latin typeface="Helvetica Neue"/>
              </a:rPr>
            </a:br>
            <a:br>
              <a:rPr lang="en-US" altLang="zh-CN" i="0" dirty="0">
                <a:effectLst/>
                <a:latin typeface="Helvetica Neue"/>
              </a:rPr>
            </a:br>
            <a:br>
              <a:rPr lang="en-US" altLang="zh-CN" i="0" dirty="0">
                <a:effectLst/>
                <a:latin typeface="Helvetica Neue"/>
              </a:rPr>
            </a:br>
            <a:br>
              <a:rPr lang="en-US" altLang="zh-CN" i="0" dirty="0">
                <a:effectLst/>
                <a:latin typeface="Helvetica Neue"/>
              </a:rPr>
            </a:br>
            <a:br>
              <a:rPr lang="en-US" altLang="zh-CN" i="0" dirty="0">
                <a:effectLst/>
                <a:latin typeface="Helvetica Neue"/>
              </a:rPr>
            </a:br>
            <a:br>
              <a:rPr lang="en-US" altLang="zh-CN" i="0" dirty="0">
                <a:effectLst/>
                <a:latin typeface="Helvetica Neue"/>
              </a:rPr>
            </a:br>
            <a:r>
              <a:rPr lang="en-US" altLang="zh-CN" dirty="0">
                <a:latin typeface="Helvetica Neue"/>
              </a:rPr>
              <a:t>§</a:t>
            </a:r>
            <a:r>
              <a:rPr lang="en-US" altLang="zh-CN" dirty="0"/>
              <a:t>1.4.1.2 </a:t>
            </a:r>
            <a:r>
              <a:rPr lang="zh-CN" altLang="en-US" sz="2800" i="0" dirty="0">
                <a:effectLst/>
                <a:latin typeface="Helvetica Neue"/>
              </a:rPr>
              <a:t>创建</a:t>
            </a:r>
            <a:r>
              <a:rPr lang="zh-CN" altLang="en-US" sz="2800" dirty="0">
                <a:latin typeface="Helvetica Neue"/>
              </a:rPr>
              <a:t>矩阵</a:t>
            </a:r>
            <a:r>
              <a:rPr lang="en-US" altLang="zh-CN" sz="2800" dirty="0">
                <a:solidFill>
                  <a:srgbClr val="FF0000"/>
                </a:solidFill>
              </a:rPr>
              <a:t>——1.</a:t>
            </a:r>
            <a:r>
              <a:rPr lang="zh-CN" altLang="en-US" sz="2800" dirty="0">
                <a:solidFill>
                  <a:srgbClr val="FF0000"/>
                </a:solidFill>
              </a:rPr>
              <a:t> 方括号</a:t>
            </a:r>
            <a:r>
              <a:rPr lang="en-US" altLang="zh-CN" sz="2800" dirty="0">
                <a:solidFill>
                  <a:srgbClr val="FF0000"/>
                </a:solidFill>
              </a:rPr>
              <a:t>[ ]</a:t>
            </a:r>
            <a:r>
              <a:rPr lang="zh-CN" altLang="en-US" sz="2800" dirty="0">
                <a:solidFill>
                  <a:srgbClr val="FF0000"/>
                </a:solidFill>
                <a:latin typeface="Helvetica Neue"/>
              </a:rPr>
              <a:t>创建  行矩阵</a:t>
            </a:r>
            <a:endParaRPr lang="zh-CN" altLang="en-US" sz="2800" dirty="0">
              <a:solidFill>
                <a:schemeClr val="bg1"/>
              </a:solidFill>
              <a:highlight>
                <a:srgbClr val="FF0000"/>
              </a:highlight>
            </a:endParaRPr>
          </a:p>
        </p:txBody>
      </p:sp>
      <p:sp>
        <p:nvSpPr>
          <p:cNvPr id="5" name="内容占位符 2">
            <a:extLst>
              <a:ext uri="{FF2B5EF4-FFF2-40B4-BE49-F238E27FC236}">
                <a16:creationId xmlns:a16="http://schemas.microsoft.com/office/drawing/2014/main" id="{F2B82DC3-0D5E-4482-46F6-B60ADA170C86}"/>
              </a:ext>
            </a:extLst>
          </p:cNvPr>
          <p:cNvSpPr txBox="1">
            <a:spLocks/>
          </p:cNvSpPr>
          <p:nvPr/>
        </p:nvSpPr>
        <p:spPr bwMode="auto">
          <a:xfrm>
            <a:off x="251520" y="799242"/>
            <a:ext cx="8748464" cy="375809"/>
          </a:xfrm>
          <a:prstGeom prst="rect">
            <a:avLst/>
          </a:prstGeom>
          <a:solidFill>
            <a:schemeClr val="bg1"/>
          </a:solid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a:pPr>
            <a:r>
              <a:rPr lang="zh-CN" altLang="en-US" sz="1800" b="1" kern="0" dirty="0">
                <a:solidFill>
                  <a:srgbClr val="0070C0"/>
                </a:solidFill>
                <a:latin typeface="微软雅黑" panose="020B0503020204020204" pitchFamily="34" charset="-122"/>
                <a:ea typeface="微软雅黑" panose="020B0503020204020204" pitchFamily="34" charset="-122"/>
              </a:rPr>
              <a:t>第</a:t>
            </a:r>
            <a:r>
              <a:rPr lang="en-US" altLang="zh-CN" sz="1800" b="1" kern="0" dirty="0">
                <a:solidFill>
                  <a:srgbClr val="0070C0"/>
                </a:solidFill>
                <a:latin typeface="微软雅黑" panose="020B0503020204020204" pitchFamily="34" charset="-122"/>
                <a:ea typeface="微软雅黑" panose="020B0503020204020204" pitchFamily="34" charset="-122"/>
              </a:rPr>
              <a:t>1</a:t>
            </a:r>
            <a:r>
              <a:rPr lang="zh-CN" altLang="en-US" sz="1800" b="1" kern="0" dirty="0">
                <a:solidFill>
                  <a:srgbClr val="0070C0"/>
                </a:solidFill>
                <a:latin typeface="微软雅黑" panose="020B0503020204020204" pitchFamily="34" charset="-122"/>
                <a:ea typeface="微软雅黑" panose="020B0503020204020204" pitchFamily="34" charset="-122"/>
              </a:rPr>
              <a:t>种方式</a:t>
            </a:r>
            <a:r>
              <a:rPr lang="en-US" altLang="zh-CN" sz="1800" b="1" kern="0" dirty="0">
                <a:solidFill>
                  <a:srgbClr val="0070C0"/>
                </a:solidFill>
                <a:latin typeface="微软雅黑" panose="020B0503020204020204" pitchFamily="34" charset="-122"/>
                <a:ea typeface="微软雅黑" panose="020B0503020204020204" pitchFamily="34" charset="-122"/>
              </a:rPr>
              <a:t>:</a:t>
            </a:r>
            <a:r>
              <a:rPr lang="zh-CN" altLang="en-US" sz="1800" b="1" kern="0" dirty="0">
                <a:solidFill>
                  <a:srgbClr val="0070C0"/>
                </a:solidFill>
                <a:latin typeface="微软雅黑" panose="020B0503020204020204" pitchFamily="34" charset="-122"/>
                <a:ea typeface="微软雅黑" panose="020B0503020204020204" pitchFamily="34" charset="-122"/>
              </a:rPr>
              <a:t>一行ｎ个元素用空格分隔成１＊ｎ矩阵</a:t>
            </a:r>
          </a:p>
        </p:txBody>
      </p:sp>
      <p:sp>
        <p:nvSpPr>
          <p:cNvPr id="7" name="文本框 6">
            <a:extLst>
              <a:ext uri="{FF2B5EF4-FFF2-40B4-BE49-F238E27FC236}">
                <a16:creationId xmlns:a16="http://schemas.microsoft.com/office/drawing/2014/main" id="{FC2FBC7B-494A-6A89-C591-503054325ED3}"/>
              </a:ext>
            </a:extLst>
          </p:cNvPr>
          <p:cNvSpPr txBox="1"/>
          <p:nvPr/>
        </p:nvSpPr>
        <p:spPr>
          <a:xfrm>
            <a:off x="719064" y="1151425"/>
            <a:ext cx="4623238" cy="923330"/>
          </a:xfrm>
          <a:prstGeom prst="rect">
            <a:avLst/>
          </a:prstGeom>
          <a:noFill/>
        </p:spPr>
        <p:txBody>
          <a:bodyPr wrap="square">
            <a:spAutoFit/>
          </a:bodyPr>
          <a:lstStyle/>
          <a:p>
            <a:r>
              <a:rPr lang="it-IT" altLang="zh-CN" dirty="0"/>
              <a:t>julia&gt; ma=[1 2 3 4]</a:t>
            </a:r>
          </a:p>
          <a:p>
            <a:r>
              <a:rPr lang="it-IT" altLang="zh-CN" b="1" dirty="0">
                <a:solidFill>
                  <a:srgbClr val="FF0000"/>
                </a:solidFill>
              </a:rPr>
              <a:t>1×4</a:t>
            </a:r>
            <a:r>
              <a:rPr lang="it-IT" altLang="zh-CN" dirty="0">
                <a:solidFill>
                  <a:srgbClr val="00B0F0"/>
                </a:solidFill>
              </a:rPr>
              <a:t> </a:t>
            </a:r>
            <a:r>
              <a:rPr lang="it-IT" altLang="zh-CN" b="1" dirty="0">
                <a:solidFill>
                  <a:srgbClr val="FF0000"/>
                </a:solidFill>
              </a:rPr>
              <a:t>Matrix</a:t>
            </a:r>
            <a:r>
              <a:rPr lang="it-IT" altLang="zh-CN" dirty="0">
                <a:solidFill>
                  <a:srgbClr val="00B0F0"/>
                </a:solidFill>
              </a:rPr>
              <a:t>{Int64}:</a:t>
            </a:r>
          </a:p>
          <a:p>
            <a:r>
              <a:rPr lang="it-IT" altLang="zh-CN" dirty="0">
                <a:solidFill>
                  <a:srgbClr val="00B0F0"/>
                </a:solidFill>
              </a:rPr>
              <a:t>1  2  3  4</a:t>
            </a:r>
            <a:endParaRPr lang="zh-CN" altLang="en-US" dirty="0">
              <a:solidFill>
                <a:srgbClr val="00B0F0"/>
              </a:solidFill>
            </a:endParaRPr>
          </a:p>
        </p:txBody>
      </p:sp>
      <p:sp>
        <p:nvSpPr>
          <p:cNvPr id="9" name="文本框 8">
            <a:extLst>
              <a:ext uri="{FF2B5EF4-FFF2-40B4-BE49-F238E27FC236}">
                <a16:creationId xmlns:a16="http://schemas.microsoft.com/office/drawing/2014/main" id="{AA487CC8-C018-0544-0CB2-9CD5C982DF35}"/>
              </a:ext>
            </a:extLst>
          </p:cNvPr>
          <p:cNvSpPr txBox="1"/>
          <p:nvPr/>
        </p:nvSpPr>
        <p:spPr>
          <a:xfrm>
            <a:off x="712022" y="2429263"/>
            <a:ext cx="4623238" cy="1015663"/>
          </a:xfrm>
          <a:prstGeom prst="rect">
            <a:avLst/>
          </a:prstGeom>
          <a:noFill/>
        </p:spPr>
        <p:txBody>
          <a:bodyPr wrap="square">
            <a:spAutoFit/>
          </a:bodyPr>
          <a:lstStyle/>
          <a:p>
            <a:r>
              <a:rPr lang="zh-CN" altLang="en-US" sz="2000" dirty="0"/>
              <a:t>julia&gt; x =[11;; 2.2;;pi ;;３]</a:t>
            </a:r>
          </a:p>
          <a:p>
            <a:r>
              <a:rPr lang="zh-CN" altLang="en-US" sz="2000" dirty="0">
                <a:solidFill>
                  <a:srgbClr val="00B0F0"/>
                </a:solidFill>
              </a:rPr>
              <a:t>1×４ </a:t>
            </a:r>
            <a:r>
              <a:rPr lang="zh-CN" altLang="en-US" sz="2000" b="1" dirty="0">
                <a:solidFill>
                  <a:srgbClr val="FF0000"/>
                </a:solidFill>
              </a:rPr>
              <a:t>Matrix</a:t>
            </a:r>
            <a:r>
              <a:rPr lang="zh-CN" altLang="en-US" sz="2000" dirty="0">
                <a:solidFill>
                  <a:srgbClr val="00B0F0"/>
                </a:solidFill>
              </a:rPr>
              <a:t>{Float64}:</a:t>
            </a:r>
          </a:p>
          <a:p>
            <a:r>
              <a:rPr lang="zh-CN" altLang="en-US" sz="2000" dirty="0">
                <a:solidFill>
                  <a:srgbClr val="00B0F0"/>
                </a:solidFill>
              </a:rPr>
              <a:t>11.0  2.2  3.14159３</a:t>
            </a:r>
          </a:p>
        </p:txBody>
      </p:sp>
      <p:sp>
        <p:nvSpPr>
          <p:cNvPr id="2" name="矩形 1">
            <a:extLst>
              <a:ext uri="{FF2B5EF4-FFF2-40B4-BE49-F238E27FC236}">
                <a16:creationId xmlns:a16="http://schemas.microsoft.com/office/drawing/2014/main" id="{5AFCD13C-D490-A198-D5EF-5A976FB72990}"/>
              </a:ext>
            </a:extLst>
          </p:cNvPr>
          <p:cNvSpPr/>
          <p:nvPr/>
        </p:nvSpPr>
        <p:spPr>
          <a:xfrm>
            <a:off x="6084168" y="816714"/>
            <a:ext cx="2004980"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a:solidFill>
                  <a:schemeClr val="bg1"/>
                </a:solidFill>
              </a:rPr>
              <a:t>x =[x1 x2</a:t>
            </a:r>
            <a:r>
              <a:rPr lang="zh-CN" altLang="en-US" kern="0" dirty="0">
                <a:solidFill>
                  <a:schemeClr val="bg1"/>
                </a:solidFill>
              </a:rPr>
              <a:t>．．</a:t>
            </a:r>
            <a:r>
              <a:rPr lang="en-US" altLang="zh-CN" kern="0" dirty="0">
                <a:solidFill>
                  <a:schemeClr val="bg1"/>
                </a:solidFill>
              </a:rPr>
              <a:t>x</a:t>
            </a:r>
            <a:r>
              <a:rPr lang="zh-CN" altLang="en-US" kern="0" dirty="0">
                <a:solidFill>
                  <a:schemeClr val="bg1"/>
                </a:solidFill>
              </a:rPr>
              <a:t>ｎ</a:t>
            </a:r>
            <a:r>
              <a:rPr lang="en-US" altLang="zh-CN" kern="0" dirty="0">
                <a:solidFill>
                  <a:schemeClr val="bg1"/>
                </a:solidFill>
              </a:rPr>
              <a: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23897EF3-C352-E6AF-EE1C-08E5EE3926FB}"/>
              </a:ext>
            </a:extLst>
          </p:cNvPr>
          <p:cNvSpPr/>
          <p:nvPr/>
        </p:nvSpPr>
        <p:spPr>
          <a:xfrm>
            <a:off x="6306639" y="2007256"/>
            <a:ext cx="2017236"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a:solidFill>
                  <a:schemeClr val="bg1"/>
                </a:solidFill>
              </a:rPr>
              <a:t>x =[x1;; x2;;...x</a:t>
            </a:r>
            <a:r>
              <a:rPr lang="zh-CN" altLang="en-US" kern="0" dirty="0">
                <a:solidFill>
                  <a:schemeClr val="bg1"/>
                </a:solidFill>
              </a:rPr>
              <a:t>ｎ</a:t>
            </a:r>
            <a:r>
              <a:rPr lang="en-US" altLang="zh-CN" kern="0" dirty="0">
                <a:solidFill>
                  <a:schemeClr val="bg1"/>
                </a:solidFill>
              </a:rPr>
              <a:t>]</a:t>
            </a:r>
            <a:endParaRPr lang="zh-CN" altLang="en-US" kern="0" dirty="0">
              <a:solidFill>
                <a:schemeClr val="bg1"/>
              </a:solidFill>
            </a:endParaRPr>
          </a:p>
        </p:txBody>
      </p:sp>
      <p:sp>
        <p:nvSpPr>
          <p:cNvPr id="11" name="AutoShape 13">
            <a:extLst>
              <a:ext uri="{FF2B5EF4-FFF2-40B4-BE49-F238E27FC236}">
                <a16:creationId xmlns:a16="http://schemas.microsoft.com/office/drawing/2014/main" id="{B6AE4CA1-BDD2-4927-9462-25F926B0A7B6}"/>
              </a:ext>
            </a:extLst>
          </p:cNvPr>
          <p:cNvSpPr>
            <a:spLocks noChangeArrowheads="1"/>
          </p:cNvSpPr>
          <p:nvPr/>
        </p:nvSpPr>
        <p:spPr bwMode="auto">
          <a:xfrm>
            <a:off x="4544766" y="1413717"/>
            <a:ext cx="864097" cy="407291"/>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 注意</a:t>
            </a:r>
            <a:endParaRPr lang="zh-CN" altLang="en-US" sz="1200" b="1" kern="0" dirty="0">
              <a:solidFill>
                <a:srgbClr val="FFFF00"/>
              </a:solidFill>
              <a:ea typeface="黑体" panose="02010609060101010101" pitchFamily="49" charset="-122"/>
            </a:endParaRPr>
          </a:p>
        </p:txBody>
      </p:sp>
      <p:sp>
        <p:nvSpPr>
          <p:cNvPr id="13" name="Rectangle 1">
            <a:extLst>
              <a:ext uri="{FF2B5EF4-FFF2-40B4-BE49-F238E27FC236}">
                <a16:creationId xmlns:a16="http://schemas.microsoft.com/office/drawing/2014/main" id="{BDBC63EB-D0E9-4048-ABBB-3827E5C7654F}"/>
              </a:ext>
            </a:extLst>
          </p:cNvPr>
          <p:cNvSpPr>
            <a:spLocks noChangeArrowheads="1"/>
          </p:cNvSpPr>
          <p:nvPr/>
        </p:nvSpPr>
        <p:spPr bwMode="auto">
          <a:xfrm>
            <a:off x="323528" y="3363838"/>
            <a:ext cx="8640959" cy="799899"/>
          </a:xfrm>
          <a:prstGeom prst="rect">
            <a:avLst/>
          </a:prstGeom>
          <a:noFill/>
          <a:ln>
            <a:noFill/>
          </a:ln>
          <a:effectLst/>
        </p:spPr>
        <p:txBody>
          <a:bodyPr vert="horz" wrap="square" lIns="91440" tIns="45720" rIns="91440" bIns="45720" numCol="1" anchor="ctr" anchorCtr="0" compatLnSpc="1">
            <a:spAutoFit/>
          </a:bodyPr>
          <a:lstStyle>
            <a:lvl1pPr eaLnBrk="0" hangingPunct="0">
              <a:tabLst>
                <a:tab pos="417195" algn="l"/>
              </a:tabLst>
              <a:defRPr>
                <a:solidFill>
                  <a:schemeClr val="tx1"/>
                </a:solidFill>
                <a:latin typeface="Arial" panose="020B0604020202020204" pitchFamily="34" charset="0"/>
              </a:defRPr>
            </a:lvl1pPr>
            <a:lvl2pPr eaLnBrk="0" hangingPunct="0">
              <a:tabLst>
                <a:tab pos="417195" algn="l"/>
              </a:tabLst>
              <a:defRPr>
                <a:solidFill>
                  <a:schemeClr val="tx1"/>
                </a:solidFill>
                <a:latin typeface="Arial" panose="020B0604020202020204" pitchFamily="34" charset="0"/>
              </a:defRPr>
            </a:lvl2pPr>
            <a:lvl3pPr eaLnBrk="0" hangingPunct="0">
              <a:tabLst>
                <a:tab pos="417195" algn="l"/>
              </a:tabLst>
              <a:defRPr>
                <a:solidFill>
                  <a:schemeClr val="tx1"/>
                </a:solidFill>
                <a:latin typeface="Arial" panose="020B0604020202020204" pitchFamily="34" charset="0"/>
              </a:defRPr>
            </a:lvl3pPr>
            <a:lvl4pPr eaLnBrk="0" hangingPunct="0">
              <a:tabLst>
                <a:tab pos="417195" algn="l"/>
              </a:tabLst>
              <a:defRPr>
                <a:solidFill>
                  <a:schemeClr val="tx1"/>
                </a:solidFill>
                <a:latin typeface="Arial" panose="020B0604020202020204" pitchFamily="34" charset="0"/>
              </a:defRPr>
            </a:lvl4pPr>
            <a:lvl5pPr eaLnBrk="0" hangingPunct="0">
              <a:tabLst>
                <a:tab pos="417195" algn="l"/>
              </a:tabLst>
              <a:defRPr>
                <a:solidFill>
                  <a:schemeClr val="tx1"/>
                </a:solidFill>
                <a:latin typeface="Arial" panose="020B0604020202020204" pitchFamily="34" charset="0"/>
              </a:defRPr>
            </a:lvl5pPr>
            <a:lvl6pPr eaLnBrk="0" fontAlgn="base" hangingPunct="0">
              <a:spcBef>
                <a:spcPct val="0"/>
              </a:spcBef>
              <a:spcAft>
                <a:spcPct val="0"/>
              </a:spcAft>
              <a:tabLst>
                <a:tab pos="417195" algn="l"/>
              </a:tabLst>
              <a:defRPr>
                <a:solidFill>
                  <a:schemeClr val="tx1"/>
                </a:solidFill>
                <a:latin typeface="Arial" panose="020B0604020202020204" pitchFamily="34" charset="0"/>
              </a:defRPr>
            </a:lvl6pPr>
            <a:lvl7pPr eaLnBrk="0" fontAlgn="base" hangingPunct="0">
              <a:spcBef>
                <a:spcPct val="0"/>
              </a:spcBef>
              <a:spcAft>
                <a:spcPct val="0"/>
              </a:spcAft>
              <a:tabLst>
                <a:tab pos="417195" algn="l"/>
              </a:tabLst>
              <a:defRPr>
                <a:solidFill>
                  <a:schemeClr val="tx1"/>
                </a:solidFill>
                <a:latin typeface="Arial" panose="020B0604020202020204" pitchFamily="34" charset="0"/>
              </a:defRPr>
            </a:lvl7pPr>
            <a:lvl8pPr eaLnBrk="0" fontAlgn="base" hangingPunct="0">
              <a:spcBef>
                <a:spcPct val="0"/>
              </a:spcBef>
              <a:spcAft>
                <a:spcPct val="0"/>
              </a:spcAft>
              <a:tabLst>
                <a:tab pos="417195" algn="l"/>
              </a:tabLst>
              <a:defRPr>
                <a:solidFill>
                  <a:schemeClr val="tx1"/>
                </a:solidFill>
                <a:latin typeface="Arial" panose="020B0604020202020204" pitchFamily="34" charset="0"/>
              </a:defRPr>
            </a:lvl8pPr>
            <a:lvl9pPr eaLnBrk="0" fontAlgn="base" hangingPunct="0">
              <a:spcBef>
                <a:spcPct val="0"/>
              </a:spcBef>
              <a:spcAft>
                <a:spcPct val="0"/>
              </a:spcAft>
              <a:tabLst>
                <a:tab pos="41719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ts val="2900"/>
              </a:lnSpc>
              <a:spcBef>
                <a:spcPct val="0"/>
              </a:spcBef>
              <a:spcAft>
                <a:spcPct val="0"/>
              </a:spcAft>
              <a:buClrTx/>
              <a:buSzTx/>
              <a:buFontTx/>
              <a:buNone/>
              <a:tabLst>
                <a:tab pos="417195" algn="l"/>
              </a:tabLst>
            </a:pPr>
            <a:r>
              <a:rPr kumimoji="0" lang="en-US" altLang="zh-CN" sz="1600" i="0" u="none" strike="noStrike" cap="none" normalizeH="0" baseline="0" dirty="0">
                <a:ln>
                  <a:noFill/>
                </a:ln>
                <a:solidFill>
                  <a:srgbClr val="0070C0"/>
                </a:solidFill>
                <a:effectLst/>
                <a:latin typeface="微软雅黑 Light" panose="020B0502040204020203" pitchFamily="34" charset="-122"/>
                <a:ea typeface="微软雅黑 Light" panose="020B0502040204020203" pitchFamily="34" charset="-122"/>
                <a:cs typeface="Times New Roman" panose="02020603050405020304" pitchFamily="18" charset="0"/>
              </a:rPr>
              <a:t>                </a:t>
            </a:r>
            <a:r>
              <a:rPr kumimoji="0" lang="zh-CN"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大物实验“</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PN</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结正向压降</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与温度</a:t>
            </a:r>
            <a:r>
              <a:rPr lang="en-US" altLang="zh-CN" sz="16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关系的研究与应用”，</a:t>
            </a:r>
            <a:r>
              <a:rPr kumimoji="0" lang="zh-CN" altLang="en-US" sz="160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多项式拟合</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建立温度</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和压降</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数组一定用分号建立列向量</a:t>
            </a:r>
            <a:endPar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sp>
        <p:nvSpPr>
          <p:cNvPr id="14" name="波形 13">
            <a:extLst>
              <a:ext uri="{FF2B5EF4-FFF2-40B4-BE49-F238E27FC236}">
                <a16:creationId xmlns:a16="http://schemas.microsoft.com/office/drawing/2014/main" id="{189726D1-28AF-4985-BC21-5DE1CA69C286}"/>
              </a:ext>
            </a:extLst>
          </p:cNvPr>
          <p:cNvSpPr/>
          <p:nvPr/>
        </p:nvSpPr>
        <p:spPr>
          <a:xfrm>
            <a:off x="467544" y="3425919"/>
            <a:ext cx="879078" cy="364713"/>
          </a:xfrm>
          <a:prstGeom prst="wave">
            <a:avLst>
              <a:gd name="adj1" fmla="val 12500"/>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例52-1-1</a:t>
            </a:r>
            <a:endParaRPr lang="ko-KR" altLang="en-US" sz="1600" b="1" dirty="0">
              <a:solidFill>
                <a:srgbClr val="FFFF00"/>
              </a:solidFill>
              <a:latin typeface="微软雅黑" panose="020B0503020204020204" pitchFamily="34" charset="-122"/>
            </a:endParaRPr>
          </a:p>
        </p:txBody>
      </p:sp>
      <p:graphicFrame>
        <p:nvGraphicFramePr>
          <p:cNvPr id="15" name="表格 14">
            <a:extLst>
              <a:ext uri="{FF2B5EF4-FFF2-40B4-BE49-F238E27FC236}">
                <a16:creationId xmlns:a16="http://schemas.microsoft.com/office/drawing/2014/main" id="{A010BE67-2E20-414D-A465-C350191C781D}"/>
              </a:ext>
            </a:extLst>
          </p:cNvPr>
          <p:cNvGraphicFramePr>
            <a:graphicFrameLocks noGrp="1"/>
          </p:cNvGraphicFramePr>
          <p:nvPr>
            <p:extLst>
              <p:ext uri="{D42A27DB-BD31-4B8C-83A1-F6EECF244321}">
                <p14:modId xmlns:p14="http://schemas.microsoft.com/office/powerpoint/2010/main" val="188517518"/>
              </p:ext>
            </p:extLst>
          </p:nvPr>
        </p:nvGraphicFramePr>
        <p:xfrm>
          <a:off x="483697" y="4175316"/>
          <a:ext cx="8444277" cy="402463"/>
        </p:xfrm>
        <a:graphic>
          <a:graphicData uri="http://schemas.openxmlformats.org/drawingml/2006/table">
            <a:tbl>
              <a:tblPr firstRow="1" firstCol="1" bandRow="1">
                <a:tableStyleId>{5C22544A-7EE6-4342-B048-85BDC9FD1C3A}</a:tableStyleId>
              </a:tblPr>
              <a:tblGrid>
                <a:gridCol w="761890">
                  <a:extLst>
                    <a:ext uri="{9D8B030D-6E8A-4147-A177-3AD203B41FA5}">
                      <a16:colId xmlns:a16="http://schemas.microsoft.com/office/drawing/2014/main" val="20000"/>
                    </a:ext>
                  </a:extLst>
                </a:gridCol>
                <a:gridCol w="771991">
                  <a:extLst>
                    <a:ext uri="{9D8B030D-6E8A-4147-A177-3AD203B41FA5}">
                      <a16:colId xmlns:a16="http://schemas.microsoft.com/office/drawing/2014/main" val="20001"/>
                    </a:ext>
                  </a:extLst>
                </a:gridCol>
                <a:gridCol w="766940">
                  <a:extLst>
                    <a:ext uri="{9D8B030D-6E8A-4147-A177-3AD203B41FA5}">
                      <a16:colId xmlns:a16="http://schemas.microsoft.com/office/drawing/2014/main" val="20002"/>
                    </a:ext>
                  </a:extLst>
                </a:gridCol>
                <a:gridCol w="767932">
                  <a:extLst>
                    <a:ext uri="{9D8B030D-6E8A-4147-A177-3AD203B41FA5}">
                      <a16:colId xmlns:a16="http://schemas.microsoft.com/office/drawing/2014/main" val="20003"/>
                    </a:ext>
                  </a:extLst>
                </a:gridCol>
                <a:gridCol w="767932">
                  <a:extLst>
                    <a:ext uri="{9D8B030D-6E8A-4147-A177-3AD203B41FA5}">
                      <a16:colId xmlns:a16="http://schemas.microsoft.com/office/drawing/2014/main" val="20004"/>
                    </a:ext>
                  </a:extLst>
                </a:gridCol>
                <a:gridCol w="767932">
                  <a:extLst>
                    <a:ext uri="{9D8B030D-6E8A-4147-A177-3AD203B41FA5}">
                      <a16:colId xmlns:a16="http://schemas.microsoft.com/office/drawing/2014/main" val="20005"/>
                    </a:ext>
                  </a:extLst>
                </a:gridCol>
                <a:gridCol w="767932">
                  <a:extLst>
                    <a:ext uri="{9D8B030D-6E8A-4147-A177-3AD203B41FA5}">
                      <a16:colId xmlns:a16="http://schemas.microsoft.com/office/drawing/2014/main" val="20006"/>
                    </a:ext>
                  </a:extLst>
                </a:gridCol>
                <a:gridCol w="767932">
                  <a:extLst>
                    <a:ext uri="{9D8B030D-6E8A-4147-A177-3AD203B41FA5}">
                      <a16:colId xmlns:a16="http://schemas.microsoft.com/office/drawing/2014/main" val="20007"/>
                    </a:ext>
                  </a:extLst>
                </a:gridCol>
                <a:gridCol w="767932">
                  <a:extLst>
                    <a:ext uri="{9D8B030D-6E8A-4147-A177-3AD203B41FA5}">
                      <a16:colId xmlns:a16="http://schemas.microsoft.com/office/drawing/2014/main" val="20008"/>
                    </a:ext>
                  </a:extLst>
                </a:gridCol>
                <a:gridCol w="767932">
                  <a:extLst>
                    <a:ext uri="{9D8B030D-6E8A-4147-A177-3AD203B41FA5}">
                      <a16:colId xmlns:a16="http://schemas.microsoft.com/office/drawing/2014/main" val="20009"/>
                    </a:ext>
                  </a:extLst>
                </a:gridCol>
                <a:gridCol w="767932">
                  <a:extLst>
                    <a:ext uri="{9D8B030D-6E8A-4147-A177-3AD203B41FA5}">
                      <a16:colId xmlns:a16="http://schemas.microsoft.com/office/drawing/2014/main" val="20010"/>
                    </a:ext>
                  </a:extLst>
                </a:gridCol>
              </a:tblGrid>
              <a:tr h="0">
                <a:tc>
                  <a:txBody>
                    <a:bodyPr/>
                    <a:lstStyle/>
                    <a:p>
                      <a:pPr algn="l" eaLnBrk="0">
                        <a:lnSpc>
                          <a:spcPct val="150000"/>
                        </a:lnSpc>
                        <a:tabLst>
                          <a:tab pos="417195" algn="l"/>
                        </a:tabLst>
                      </a:pPr>
                      <a:r>
                        <a:rPr lang="en-US" sz="1000" kern="100" dirty="0">
                          <a:solidFill>
                            <a:schemeClr val="bg1"/>
                          </a:solidFill>
                          <a:effectLst/>
                        </a:rPr>
                        <a:t>x/</a:t>
                      </a:r>
                      <a:r>
                        <a:rPr lang="zh-CN" sz="1000" kern="100" dirty="0">
                          <a:solidFill>
                            <a:schemeClr val="bg1"/>
                          </a:solidFill>
                          <a:effectLst/>
                        </a:rPr>
                        <a:t>℃</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40</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45</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50</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55</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60</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65</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70</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75</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80</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85</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extLst>
                  <a:ext uri="{0D108BD9-81ED-4DB2-BD59-A6C34878D82A}">
                    <a16:rowId xmlns:a16="http://schemas.microsoft.com/office/drawing/2014/main" val="10000"/>
                  </a:ext>
                </a:extLst>
              </a:tr>
              <a:tr h="0">
                <a:tc>
                  <a:txBody>
                    <a:bodyPr/>
                    <a:lstStyle/>
                    <a:p>
                      <a:pPr algn="l" eaLnBrk="0">
                        <a:lnSpc>
                          <a:spcPct val="150000"/>
                        </a:lnSpc>
                        <a:tabLst>
                          <a:tab pos="417195" algn="l"/>
                        </a:tabLst>
                      </a:pPr>
                      <a:r>
                        <a:rPr lang="en-US" sz="1000" kern="100" dirty="0">
                          <a:solidFill>
                            <a:schemeClr val="bg1"/>
                          </a:solidFill>
                          <a:effectLst/>
                        </a:rPr>
                        <a:t>y/V</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0.3943</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0.3809</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0.3705</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0.3587</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0.3455</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0.3331</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0.3193</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0.3049</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0.2909</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0.2771</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extLst>
                  <a:ext uri="{0D108BD9-81ED-4DB2-BD59-A6C34878D82A}">
                    <a16:rowId xmlns:a16="http://schemas.microsoft.com/office/drawing/2014/main" val="10001"/>
                  </a:ext>
                </a:extLst>
              </a:tr>
            </a:tbl>
          </a:graphicData>
        </a:graphic>
      </p:graphicFrame>
      <p:sp>
        <p:nvSpPr>
          <p:cNvPr id="18" name="文本框 17">
            <a:extLst>
              <a:ext uri="{FF2B5EF4-FFF2-40B4-BE49-F238E27FC236}">
                <a16:creationId xmlns:a16="http://schemas.microsoft.com/office/drawing/2014/main" id="{F7E1AD82-069D-421F-849D-A4DF70C0C86B}"/>
              </a:ext>
            </a:extLst>
          </p:cNvPr>
          <p:cNvSpPr txBox="1"/>
          <p:nvPr/>
        </p:nvSpPr>
        <p:spPr>
          <a:xfrm>
            <a:off x="3635896" y="3790632"/>
            <a:ext cx="5184576" cy="359201"/>
          </a:xfrm>
          <a:prstGeom prst="rect">
            <a:avLst/>
          </a:prstGeom>
          <a:noFill/>
        </p:spPr>
        <p:txBody>
          <a:bodyPr wrap="square">
            <a:spAutoFit/>
          </a:bodyPr>
          <a:lstStyle/>
          <a:p>
            <a:pPr>
              <a:lnSpc>
                <a:spcPts val="2200"/>
              </a:lnSpc>
            </a:pPr>
            <a:r>
              <a:rPr lang="en-US" altLang="zh-CN" sz="1800" b="0" dirty="0">
                <a:solidFill>
                  <a:srgbClr val="000000"/>
                </a:solidFill>
                <a:effectLst/>
                <a:latin typeface="Consolas" panose="020B0609020204030204" pitchFamily="49" charset="0"/>
              </a:rPr>
              <a:t>x=[</a:t>
            </a:r>
            <a:r>
              <a:rPr lang="en-US" altLang="zh-CN" sz="1800" b="0" dirty="0">
                <a:solidFill>
                  <a:srgbClr val="098658"/>
                </a:solidFill>
                <a:effectLst/>
                <a:latin typeface="Consolas" panose="020B0609020204030204" pitchFamily="49" charset="0"/>
              </a:rPr>
              <a:t>40</a:t>
            </a:r>
            <a:r>
              <a:rPr lang="en-US" altLang="zh-CN" dirty="0">
                <a:solidFill>
                  <a:srgbClr val="098658"/>
                </a:solidFill>
                <a:latin typeface="Consolas" panose="020B0609020204030204" pitchFamily="49" charset="0"/>
              </a:rPr>
              <a:t>;</a:t>
            </a:r>
            <a:r>
              <a:rPr lang="en-US" altLang="zh-CN" sz="1800" b="0" dirty="0">
                <a:solidFill>
                  <a:srgbClr val="098658"/>
                </a:solidFill>
                <a:effectLst/>
                <a:latin typeface="Consolas" panose="020B0609020204030204" pitchFamily="49" charset="0"/>
              </a:rPr>
              <a:t>45;50;55;60</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65</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70</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75</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80</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85</a:t>
            </a:r>
            <a:r>
              <a:rPr lang="en-US" altLang="zh-CN" sz="1800" b="0" dirty="0">
                <a:solidFill>
                  <a:srgbClr val="000000"/>
                </a:solidFill>
                <a:effectLst/>
                <a:latin typeface="Consolas" panose="020B0609020204030204" pitchFamily="49" charset="0"/>
              </a:rPr>
              <a:t>];</a:t>
            </a:r>
            <a:r>
              <a:rPr lang="en-US" altLang="zh-CN" sz="1800" b="0" dirty="0">
                <a:solidFill>
                  <a:srgbClr val="008000"/>
                </a:solidFill>
                <a:effectLst/>
                <a:latin typeface="Consolas" panose="020B0609020204030204" pitchFamily="49" charset="0"/>
              </a:rPr>
              <a:t>#</a:t>
            </a:r>
            <a:r>
              <a:rPr lang="zh-CN" altLang="en-US" sz="1800" b="0" dirty="0">
                <a:solidFill>
                  <a:srgbClr val="008000"/>
                </a:solidFill>
                <a:effectLst/>
                <a:latin typeface="Consolas" panose="020B0609020204030204" pitchFamily="49" charset="0"/>
              </a:rPr>
              <a:t>温度 </a:t>
            </a:r>
            <a:endParaRPr lang="zh-CN" altLang="en-US" sz="1800" b="0" dirty="0">
              <a:solidFill>
                <a:srgbClr val="000000"/>
              </a:solidFill>
              <a:effectLst/>
              <a:latin typeface="Consolas" panose="020B0609020204030204" pitchFamily="49" charset="0"/>
            </a:endParaRPr>
          </a:p>
        </p:txBody>
      </p:sp>
      <p:sp>
        <p:nvSpPr>
          <p:cNvPr id="19" name="文本框 18">
            <a:extLst>
              <a:ext uri="{FF2B5EF4-FFF2-40B4-BE49-F238E27FC236}">
                <a16:creationId xmlns:a16="http://schemas.microsoft.com/office/drawing/2014/main" id="{FB8D8C4C-B8F4-4F9B-A4D6-146ACC33AF0D}"/>
              </a:ext>
            </a:extLst>
          </p:cNvPr>
          <p:cNvSpPr txBox="1"/>
          <p:nvPr/>
        </p:nvSpPr>
        <p:spPr>
          <a:xfrm>
            <a:off x="5402902" y="1485922"/>
            <a:ext cx="3390388" cy="307777"/>
          </a:xfrm>
          <a:prstGeom prst="rect">
            <a:avLst/>
          </a:prstGeom>
          <a:noFill/>
        </p:spPr>
        <p:txBody>
          <a:bodyPr wrap="square">
            <a:spAutoFit/>
          </a:bodyPr>
          <a:lstStyle/>
          <a:p>
            <a:r>
              <a:rPr lang="en-US" altLang="zh-CN" sz="1400" b="1" kern="0" dirty="0">
                <a:solidFill>
                  <a:srgbClr val="FF0000"/>
                </a:solidFill>
                <a:ea typeface="黑体" panose="02010609060101010101" pitchFamily="49" charset="-122"/>
              </a:rPr>
              <a:t>MATLAB </a:t>
            </a:r>
            <a:r>
              <a:rPr lang="zh-CN" altLang="en-US" sz="1400" b="1" kern="0" dirty="0">
                <a:solidFill>
                  <a:srgbClr val="FF0000"/>
                </a:solidFill>
                <a:ea typeface="黑体" panose="02010609060101010101" pitchFamily="49" charset="-122"/>
              </a:rPr>
              <a:t>空格创建的是行向量</a:t>
            </a:r>
            <a:endParaRPr lang="zh-CN" altLang="en-US" sz="1400" dirty="0">
              <a:solidFill>
                <a:srgbClr val="FF0000"/>
              </a:solidFill>
            </a:endParaRPr>
          </a:p>
        </p:txBody>
      </p:sp>
      <p:sp>
        <p:nvSpPr>
          <p:cNvPr id="20" name="AutoShape 13">
            <a:extLst>
              <a:ext uri="{FF2B5EF4-FFF2-40B4-BE49-F238E27FC236}">
                <a16:creationId xmlns:a16="http://schemas.microsoft.com/office/drawing/2014/main" id="{A9A11E37-0685-4A6C-9AFA-E09728AF1997}"/>
              </a:ext>
            </a:extLst>
          </p:cNvPr>
          <p:cNvSpPr>
            <a:spLocks noChangeArrowheads="1"/>
          </p:cNvSpPr>
          <p:nvPr/>
        </p:nvSpPr>
        <p:spPr bwMode="auto">
          <a:xfrm>
            <a:off x="3779912" y="2710330"/>
            <a:ext cx="882352" cy="625506"/>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kern="0" dirty="0">
                <a:solidFill>
                  <a:srgbClr val="FFFF00"/>
                </a:solidFill>
                <a:ea typeface="黑体" panose="02010609060101010101" pitchFamily="49" charset="-122"/>
              </a:rPr>
              <a:t>注意 </a:t>
            </a:r>
          </a:p>
        </p:txBody>
      </p:sp>
      <p:sp>
        <p:nvSpPr>
          <p:cNvPr id="21" name="文本框 20">
            <a:extLst>
              <a:ext uri="{FF2B5EF4-FFF2-40B4-BE49-F238E27FC236}">
                <a16:creationId xmlns:a16="http://schemas.microsoft.com/office/drawing/2014/main" id="{5083D6DF-8569-474C-AE82-6805B9FB2126}"/>
              </a:ext>
            </a:extLst>
          </p:cNvPr>
          <p:cNvSpPr txBox="1"/>
          <p:nvPr/>
        </p:nvSpPr>
        <p:spPr>
          <a:xfrm>
            <a:off x="4634874" y="2674531"/>
            <a:ext cx="4365110" cy="523220"/>
          </a:xfrm>
          <a:prstGeom prst="rect">
            <a:avLst/>
          </a:prstGeom>
          <a:noFill/>
        </p:spPr>
        <p:txBody>
          <a:bodyPr wrap="square">
            <a:spAutoFit/>
          </a:bodyPr>
          <a:lstStyle/>
          <a:p>
            <a:r>
              <a:rPr lang="en-US" altLang="zh-CN" sz="1400" b="1" kern="0" dirty="0">
                <a:solidFill>
                  <a:srgbClr val="FF0000"/>
                </a:solidFill>
                <a:ea typeface="黑体" panose="02010609060101010101" pitchFamily="49" charset="-122"/>
              </a:rPr>
              <a:t>Julia </a:t>
            </a:r>
            <a:r>
              <a:rPr lang="zh-CN" altLang="en-US" sz="1400" b="1" kern="0" dirty="0">
                <a:solidFill>
                  <a:srgbClr val="FF0000"/>
                </a:solidFill>
                <a:ea typeface="黑体" panose="02010609060101010101" pitchFamily="49" charset="-122"/>
              </a:rPr>
              <a:t>只认列向量</a:t>
            </a:r>
            <a:r>
              <a:rPr lang="en-US" altLang="zh-CN" sz="1400" b="1" kern="0" dirty="0">
                <a:solidFill>
                  <a:srgbClr val="FF0000"/>
                </a:solidFill>
                <a:ea typeface="黑体" panose="02010609060101010101" pitchFamily="49" charset="-122"/>
              </a:rPr>
              <a:t>,</a:t>
            </a:r>
            <a:r>
              <a:rPr lang="zh-CN" altLang="en-US" sz="1400" b="1" kern="0" dirty="0">
                <a:solidFill>
                  <a:srgbClr val="FF0000"/>
                </a:solidFill>
                <a:ea typeface="黑体" panose="02010609060101010101" pitchFamily="49" charset="-122"/>
              </a:rPr>
              <a:t>不认行向量</a:t>
            </a:r>
            <a:r>
              <a:rPr lang="en-US" altLang="zh-CN" sz="1400" b="1" kern="0" dirty="0">
                <a:solidFill>
                  <a:srgbClr val="FF0000"/>
                </a:solidFill>
                <a:ea typeface="黑体" panose="02010609060101010101" pitchFamily="49" charset="-122"/>
              </a:rPr>
              <a:t>(</a:t>
            </a:r>
            <a:r>
              <a:rPr lang="zh-CN" altLang="en-US" sz="1400" b="1" kern="0" dirty="0">
                <a:solidFill>
                  <a:srgbClr val="FF0000"/>
                </a:solidFill>
                <a:ea typeface="黑体" panose="02010609060101010101" pitchFamily="49" charset="-122"/>
              </a:rPr>
              <a:t>即行矩阵</a:t>
            </a:r>
            <a:r>
              <a:rPr lang="en-US" altLang="zh-CN" sz="1400" b="1" kern="0" dirty="0">
                <a:solidFill>
                  <a:srgbClr val="FF0000"/>
                </a:solidFill>
                <a:ea typeface="黑体" panose="02010609060101010101" pitchFamily="49" charset="-122"/>
              </a:rPr>
              <a:t>),</a:t>
            </a:r>
          </a:p>
          <a:p>
            <a:r>
              <a:rPr lang="zh-CN" altLang="en-US" sz="1400" b="1" kern="0" dirty="0">
                <a:solidFill>
                  <a:srgbClr val="FF0000"/>
                </a:solidFill>
                <a:ea typeface="黑体" panose="02010609060101010101" pitchFamily="49" charset="-122"/>
              </a:rPr>
              <a:t>一组数一定建立成列向量，即分号或逗号分隔</a:t>
            </a:r>
          </a:p>
        </p:txBody>
      </p:sp>
    </p:spTree>
    <p:extLst>
      <p:ext uri="{BB962C8B-B14F-4D97-AF65-F5344CB8AC3E}">
        <p14:creationId xmlns:p14="http://schemas.microsoft.com/office/powerpoint/2010/main" val="151212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8" grpId="0"/>
      <p:bldP spid="20" grpId="0" animBg="1"/>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5E60C73-C982-57B3-4AE1-F89D4C380275}"/>
              </a:ext>
            </a:extLst>
          </p:cNvPr>
          <p:cNvSpPr>
            <a:spLocks noGrp="1"/>
          </p:cNvSpPr>
          <p:nvPr>
            <p:ph type="title"/>
          </p:nvPr>
        </p:nvSpPr>
        <p:spPr>
          <a:xfrm>
            <a:off x="410634" y="167031"/>
            <a:ext cx="7578470" cy="438150"/>
          </a:xfrm>
          <a:solidFill>
            <a:schemeClr val="bg1"/>
          </a:solidFill>
        </p:spPr>
        <p:txBody>
          <a:bodyPr/>
          <a:lstStyle/>
          <a:p>
            <a:br>
              <a:rPr lang="en-US" altLang="zh-CN" sz="2800" i="0" dirty="0">
                <a:effectLst/>
                <a:latin typeface="Helvetica Neue"/>
              </a:rPr>
            </a:br>
            <a:r>
              <a:rPr lang="en-US" altLang="zh-CN" sz="2800" dirty="0">
                <a:latin typeface="Helvetica Neue"/>
              </a:rPr>
              <a:t>§</a:t>
            </a:r>
            <a:r>
              <a:rPr lang="en-US" altLang="zh-CN" sz="2800" dirty="0"/>
              <a:t>1.4.1.2 </a:t>
            </a:r>
            <a:r>
              <a:rPr lang="zh-CN" altLang="en-US" sz="2800" i="0" dirty="0">
                <a:effectLst/>
                <a:latin typeface="Helvetica Neue"/>
              </a:rPr>
              <a:t>创建二维</a:t>
            </a:r>
            <a:r>
              <a:rPr lang="zh-CN" altLang="en-US" sz="2800" dirty="0">
                <a:latin typeface="Helvetica Neue"/>
              </a:rPr>
              <a:t>矩阵</a:t>
            </a:r>
            <a:r>
              <a:rPr lang="en-US" altLang="zh-CN" sz="2800" dirty="0">
                <a:solidFill>
                  <a:srgbClr val="FF0000"/>
                </a:solidFill>
              </a:rPr>
              <a:t>——2.</a:t>
            </a:r>
            <a:r>
              <a:rPr lang="zh-CN" altLang="en-US" sz="2800" dirty="0">
                <a:solidFill>
                  <a:srgbClr val="FF0000"/>
                </a:solidFill>
              </a:rPr>
              <a:t> 方括号</a:t>
            </a:r>
            <a:r>
              <a:rPr lang="en-US" altLang="zh-CN" sz="2800" dirty="0">
                <a:solidFill>
                  <a:srgbClr val="FF0000"/>
                </a:solidFill>
              </a:rPr>
              <a:t>[ ]</a:t>
            </a:r>
            <a:r>
              <a:rPr lang="zh-CN" altLang="en-US" sz="2800" dirty="0">
                <a:solidFill>
                  <a:srgbClr val="FF0000"/>
                </a:solidFill>
              </a:rPr>
              <a:t>创建</a:t>
            </a:r>
            <a:endParaRPr lang="zh-CN" altLang="en-US" sz="2800" dirty="0">
              <a:solidFill>
                <a:schemeClr val="bg1"/>
              </a:solidFill>
              <a:highlight>
                <a:srgbClr val="FF0000"/>
              </a:highlight>
              <a:latin typeface="Helvetica Neue"/>
            </a:endParaRPr>
          </a:p>
        </p:txBody>
      </p:sp>
      <p:sp>
        <p:nvSpPr>
          <p:cNvPr id="5" name="内容占位符 2">
            <a:extLst>
              <a:ext uri="{FF2B5EF4-FFF2-40B4-BE49-F238E27FC236}">
                <a16:creationId xmlns:a16="http://schemas.microsoft.com/office/drawing/2014/main" id="{2FABD09E-3ACD-EC1B-2BC4-A8BB0FA88405}"/>
              </a:ext>
            </a:extLst>
          </p:cNvPr>
          <p:cNvSpPr txBox="1">
            <a:spLocks/>
          </p:cNvSpPr>
          <p:nvPr/>
        </p:nvSpPr>
        <p:spPr bwMode="auto">
          <a:xfrm>
            <a:off x="295099" y="780688"/>
            <a:ext cx="8251187" cy="375809"/>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a:pPr>
            <a:r>
              <a:rPr lang="zh-CN" altLang="en-US" sz="1800" b="1" kern="0" dirty="0">
                <a:solidFill>
                  <a:srgbClr val="0070C0"/>
                </a:solidFill>
                <a:latin typeface="微软雅黑" panose="020B0503020204020204" pitchFamily="34" charset="-122"/>
                <a:ea typeface="微软雅黑" panose="020B0503020204020204" pitchFamily="34" charset="-122"/>
              </a:rPr>
              <a:t>第</a:t>
            </a:r>
            <a:r>
              <a:rPr lang="en-US" altLang="zh-CN" sz="1800" b="1" kern="0" dirty="0">
                <a:solidFill>
                  <a:srgbClr val="0070C0"/>
                </a:solidFill>
                <a:latin typeface="微软雅黑" panose="020B0503020204020204" pitchFamily="34" charset="-122"/>
                <a:ea typeface="微软雅黑" panose="020B0503020204020204" pitchFamily="34" charset="-122"/>
              </a:rPr>
              <a:t>1</a:t>
            </a:r>
            <a:r>
              <a:rPr lang="zh-CN" altLang="en-US" sz="1800" b="1" kern="0" dirty="0">
                <a:solidFill>
                  <a:srgbClr val="0070C0"/>
                </a:solidFill>
                <a:latin typeface="微软雅黑" panose="020B0503020204020204" pitchFamily="34" charset="-122"/>
                <a:ea typeface="微软雅黑" panose="020B0503020204020204" pitchFamily="34" charset="-122"/>
              </a:rPr>
              <a:t>种方式</a:t>
            </a:r>
            <a:r>
              <a:rPr lang="en-US" altLang="zh-CN" sz="1800" b="1" kern="0" dirty="0">
                <a:solidFill>
                  <a:srgbClr val="0070C0"/>
                </a:solidFill>
                <a:latin typeface="微软雅黑" panose="020B0503020204020204" pitchFamily="34" charset="-122"/>
                <a:ea typeface="微软雅黑" panose="020B0503020204020204" pitchFamily="34" charset="-122"/>
              </a:rPr>
              <a:t>:</a:t>
            </a:r>
            <a:r>
              <a:rPr lang="zh-CN" altLang="en-US" sz="1800" b="1" kern="0" dirty="0">
                <a:solidFill>
                  <a:srgbClr val="0070C0"/>
                </a:solidFill>
                <a:latin typeface="微软雅黑" panose="020B0503020204020204" pitchFamily="34" charset="-122"/>
                <a:ea typeface="微软雅黑" panose="020B0503020204020204" pitchFamily="34" charset="-122"/>
              </a:rPr>
              <a:t>同行元素空格分隔（</a:t>
            </a:r>
            <a:r>
              <a:rPr lang="zh-CN" altLang="en-US" sz="1800" b="1" kern="0" dirty="0">
                <a:solidFill>
                  <a:srgbClr val="FF0000"/>
                </a:solidFill>
                <a:latin typeface="微软雅黑" panose="020B0503020204020204" pitchFamily="34" charset="-122"/>
                <a:ea typeface="微软雅黑" panose="020B0503020204020204" pitchFamily="34" charset="-122"/>
              </a:rPr>
              <a:t>不能逗号</a:t>
            </a:r>
            <a:r>
              <a:rPr lang="zh-CN" altLang="en-US" sz="1800" b="1" kern="0" dirty="0">
                <a:solidFill>
                  <a:srgbClr val="0070C0"/>
                </a:solidFill>
                <a:latin typeface="微软雅黑" panose="020B0503020204020204" pitchFamily="34" charset="-122"/>
                <a:ea typeface="微软雅黑" panose="020B0503020204020204" pitchFamily="34" charset="-122"/>
              </a:rPr>
              <a:t>）</a:t>
            </a:r>
            <a:r>
              <a:rPr lang="en-US" altLang="zh-CN" sz="1800" b="1" kern="0" dirty="0">
                <a:solidFill>
                  <a:srgbClr val="0070C0"/>
                </a:solidFill>
                <a:latin typeface="微软雅黑" panose="020B0503020204020204" pitchFamily="34" charset="-122"/>
                <a:ea typeface="微软雅黑" panose="020B0503020204020204" pitchFamily="34" charset="-122"/>
              </a:rPr>
              <a:t>,</a:t>
            </a:r>
            <a:r>
              <a:rPr lang="zh-CN" altLang="en-US" sz="1800" b="1" kern="0" dirty="0">
                <a:solidFill>
                  <a:srgbClr val="0070C0"/>
                </a:solidFill>
                <a:latin typeface="微软雅黑" panose="020B0503020204020204" pitchFamily="34" charset="-122"/>
                <a:ea typeface="微软雅黑" panose="020B0503020204020204" pitchFamily="34" charset="-122"/>
              </a:rPr>
              <a:t>行与行间分号分隔</a:t>
            </a:r>
          </a:p>
        </p:txBody>
      </p:sp>
      <p:sp>
        <p:nvSpPr>
          <p:cNvPr id="6" name="文本框 5">
            <a:extLst>
              <a:ext uri="{FF2B5EF4-FFF2-40B4-BE49-F238E27FC236}">
                <a16:creationId xmlns:a16="http://schemas.microsoft.com/office/drawing/2014/main" id="{8EBE64D0-3A48-3BFE-5204-570BCCB2CA66}"/>
              </a:ext>
            </a:extLst>
          </p:cNvPr>
          <p:cNvSpPr txBox="1"/>
          <p:nvPr/>
        </p:nvSpPr>
        <p:spPr>
          <a:xfrm>
            <a:off x="723069" y="1202274"/>
            <a:ext cx="2820921" cy="1231106"/>
          </a:xfrm>
          <a:prstGeom prst="rect">
            <a:avLst/>
          </a:prstGeom>
          <a:noFill/>
        </p:spPr>
        <p:txBody>
          <a:bodyPr wrap="square">
            <a:spAutoFit/>
          </a:bodyPr>
          <a:lstStyle/>
          <a:p>
            <a:r>
              <a:rPr lang="es-ES" altLang="zh-CN" sz="2000" dirty="0"/>
              <a:t>julia&gt; m=[1 2;3 4]</a:t>
            </a:r>
          </a:p>
          <a:p>
            <a:r>
              <a:rPr lang="es-ES" altLang="zh-CN" dirty="0">
                <a:solidFill>
                  <a:srgbClr val="00B0F0"/>
                </a:solidFill>
              </a:rPr>
              <a:t>#</a:t>
            </a:r>
            <a:r>
              <a:rPr lang="zh-CN" altLang="en-US" dirty="0">
                <a:solidFill>
                  <a:srgbClr val="00B0F0"/>
                </a:solidFill>
              </a:rPr>
              <a:t>结果</a:t>
            </a:r>
            <a:r>
              <a:rPr lang="es-ES" altLang="zh-CN" dirty="0">
                <a:solidFill>
                  <a:srgbClr val="00B0F0"/>
                </a:solidFill>
              </a:rPr>
              <a:t>2×2 Matrix{Int64}:</a:t>
            </a:r>
          </a:p>
          <a:p>
            <a:r>
              <a:rPr lang="es-ES" altLang="zh-CN" dirty="0">
                <a:solidFill>
                  <a:srgbClr val="00B0F0"/>
                </a:solidFill>
              </a:rPr>
              <a:t> 1  2</a:t>
            </a:r>
          </a:p>
          <a:p>
            <a:r>
              <a:rPr lang="es-ES" altLang="zh-CN" dirty="0">
                <a:solidFill>
                  <a:srgbClr val="00B0F0"/>
                </a:solidFill>
              </a:rPr>
              <a:t> 3  4</a:t>
            </a:r>
          </a:p>
        </p:txBody>
      </p:sp>
      <p:sp>
        <p:nvSpPr>
          <p:cNvPr id="7" name="内容占位符 2">
            <a:extLst>
              <a:ext uri="{FF2B5EF4-FFF2-40B4-BE49-F238E27FC236}">
                <a16:creationId xmlns:a16="http://schemas.microsoft.com/office/drawing/2014/main" id="{2BE4904C-5D49-263D-8113-1923AC22EAC6}"/>
              </a:ext>
            </a:extLst>
          </p:cNvPr>
          <p:cNvSpPr txBox="1">
            <a:spLocks/>
          </p:cNvSpPr>
          <p:nvPr/>
        </p:nvSpPr>
        <p:spPr bwMode="auto">
          <a:xfrm>
            <a:off x="252356" y="2594148"/>
            <a:ext cx="8568952" cy="375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defPPr>
              <a:defRPr lang="zh-CN"/>
            </a:defPPr>
            <a:lvl1pPr marL="457200" indent="-457200" eaLnBrk="0" hangingPunct="0">
              <a:lnSpc>
                <a:spcPct val="110000"/>
              </a:lnSpc>
              <a:buFont typeface="+mj-ea"/>
              <a:buAutoNum type="circleNumDbPlain"/>
              <a:defRPr sz="1800" b="1" kern="0">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buFont typeface="+mj-ea"/>
              <a:buAutoNum type="circleNumDbPlain" startAt="2"/>
            </a:pPr>
            <a:r>
              <a:rPr lang="zh-CN" altLang="en-US" dirty="0"/>
              <a:t>第</a:t>
            </a:r>
            <a:r>
              <a:rPr lang="en-US" altLang="zh-CN" dirty="0"/>
              <a:t>2</a:t>
            </a:r>
            <a:r>
              <a:rPr lang="zh-CN" altLang="en-US" dirty="0"/>
              <a:t>种方式</a:t>
            </a:r>
            <a:r>
              <a:rPr lang="en-US" altLang="zh-CN" dirty="0"/>
              <a:t>:</a:t>
            </a:r>
            <a:r>
              <a:rPr lang="zh-CN" altLang="en-US" dirty="0"/>
              <a:t>同行元素空格分隔，按回车键</a:t>
            </a:r>
            <a:r>
              <a:rPr lang="en-US" altLang="zh-CN" dirty="0" err="1"/>
              <a:t>Eneter</a:t>
            </a:r>
            <a:r>
              <a:rPr lang="zh-CN" altLang="en-US" dirty="0"/>
              <a:t>分隔不同行</a:t>
            </a:r>
          </a:p>
        </p:txBody>
      </p:sp>
      <p:sp>
        <p:nvSpPr>
          <p:cNvPr id="9" name="文本框 8">
            <a:extLst>
              <a:ext uri="{FF2B5EF4-FFF2-40B4-BE49-F238E27FC236}">
                <a16:creationId xmlns:a16="http://schemas.microsoft.com/office/drawing/2014/main" id="{42CD94BE-0375-5C3B-7C7C-C2051C631F46}"/>
              </a:ext>
            </a:extLst>
          </p:cNvPr>
          <p:cNvSpPr txBox="1"/>
          <p:nvPr/>
        </p:nvSpPr>
        <p:spPr>
          <a:xfrm>
            <a:off x="723069" y="3121051"/>
            <a:ext cx="2378002" cy="1538883"/>
          </a:xfrm>
          <a:prstGeom prst="rect">
            <a:avLst/>
          </a:prstGeom>
          <a:noFill/>
        </p:spPr>
        <p:txBody>
          <a:bodyPr wrap="square">
            <a:spAutoFit/>
          </a:bodyPr>
          <a:lstStyle/>
          <a:p>
            <a:r>
              <a:rPr lang="fi-FI" altLang="zh-CN" sz="2000" dirty="0"/>
              <a:t>julia&gt; m2=[1 2</a:t>
            </a:r>
          </a:p>
          <a:p>
            <a:r>
              <a:rPr lang="fi-FI" altLang="zh-CN" sz="2000" dirty="0"/>
              <a:t>       3.4 pi]</a:t>
            </a:r>
          </a:p>
          <a:p>
            <a:r>
              <a:rPr lang="fi-FI" altLang="zh-CN" dirty="0">
                <a:solidFill>
                  <a:srgbClr val="00B0F0"/>
                </a:solidFill>
              </a:rPr>
              <a:t>2×2 Matrix{Float64}:</a:t>
            </a:r>
          </a:p>
          <a:p>
            <a:r>
              <a:rPr lang="fi-FI" altLang="zh-CN" dirty="0">
                <a:solidFill>
                  <a:srgbClr val="00B0F0"/>
                </a:solidFill>
              </a:rPr>
              <a:t> 1.0  2.0</a:t>
            </a:r>
          </a:p>
          <a:p>
            <a:r>
              <a:rPr lang="fi-FI" altLang="zh-CN" dirty="0">
                <a:solidFill>
                  <a:srgbClr val="00B0F0"/>
                </a:solidFill>
              </a:rPr>
              <a:t> 3.4  3.14159</a:t>
            </a:r>
            <a:endParaRPr lang="zh-CN" altLang="en-US" dirty="0">
              <a:solidFill>
                <a:srgbClr val="00B0F0"/>
              </a:solidFill>
            </a:endParaRPr>
          </a:p>
        </p:txBody>
      </p:sp>
      <p:sp>
        <p:nvSpPr>
          <p:cNvPr id="2" name="矩形 1">
            <a:extLst>
              <a:ext uri="{FF2B5EF4-FFF2-40B4-BE49-F238E27FC236}">
                <a16:creationId xmlns:a16="http://schemas.microsoft.com/office/drawing/2014/main" id="{293FC969-47BC-C2B3-9305-1951F5CF760F}"/>
              </a:ext>
            </a:extLst>
          </p:cNvPr>
          <p:cNvSpPr/>
          <p:nvPr/>
        </p:nvSpPr>
        <p:spPr>
          <a:xfrm>
            <a:off x="7169908" y="759583"/>
            <a:ext cx="1638393"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kern="0" dirty="0">
                <a:solidFill>
                  <a:schemeClr val="bg1"/>
                </a:solidFill>
              </a:rPr>
              <a:t>x =[x1 x2;x3 x4] </a:t>
            </a:r>
            <a:endParaRPr lang="zh-CN"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FDFBEC00-9CDF-C3A9-834F-55D6FD85263F}"/>
              </a:ext>
            </a:extLst>
          </p:cNvPr>
          <p:cNvSpPr/>
          <p:nvPr/>
        </p:nvSpPr>
        <p:spPr>
          <a:xfrm>
            <a:off x="7107710" y="2594148"/>
            <a:ext cx="1438576" cy="646331"/>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a:solidFill>
                  <a:schemeClr val="bg1"/>
                </a:solidFill>
              </a:rPr>
              <a:t>x =[x1</a:t>
            </a:r>
            <a:r>
              <a:rPr lang="zh-CN" altLang="en-US" kern="0" dirty="0">
                <a:solidFill>
                  <a:schemeClr val="bg1"/>
                </a:solidFill>
              </a:rPr>
              <a:t>　</a:t>
            </a:r>
            <a:r>
              <a:rPr lang="en-US" altLang="zh-CN" kern="0" dirty="0">
                <a:solidFill>
                  <a:schemeClr val="bg1"/>
                </a:solidFill>
              </a:rPr>
              <a:t>x2</a:t>
            </a:r>
          </a:p>
          <a:p>
            <a:r>
              <a:rPr lang="zh-CN" altLang="en-US" kern="0" dirty="0">
                <a:solidFill>
                  <a:schemeClr val="bg1"/>
                </a:solidFill>
              </a:rPr>
              <a:t>   ｘ</a:t>
            </a:r>
            <a:r>
              <a:rPr lang="en-US" altLang="zh-CN" kern="0" dirty="0">
                <a:solidFill>
                  <a:schemeClr val="bg1"/>
                </a:solidFill>
              </a:rPr>
              <a:t>3</a:t>
            </a:r>
            <a:r>
              <a:rPr lang="zh-CN" altLang="en-US" kern="0" dirty="0">
                <a:solidFill>
                  <a:schemeClr val="bg1"/>
                </a:solidFill>
              </a:rPr>
              <a:t>　</a:t>
            </a:r>
            <a:r>
              <a:rPr lang="en-US" altLang="zh-CN" kern="0" dirty="0">
                <a:solidFill>
                  <a:schemeClr val="bg1"/>
                </a:solidFill>
              </a:rPr>
              <a:t>x4]</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4D711034-01F3-402D-8235-35BA1940C298}"/>
              </a:ext>
            </a:extLst>
          </p:cNvPr>
          <p:cNvSpPr/>
          <p:nvPr/>
        </p:nvSpPr>
        <p:spPr>
          <a:xfrm>
            <a:off x="8524590" y="2682583"/>
            <a:ext cx="487867" cy="430887"/>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BB871C04-430A-4A1E-8F3C-B85ED1B74C8D}"/>
              </a:ext>
            </a:extLst>
          </p:cNvPr>
          <p:cNvSpPr/>
          <p:nvPr/>
        </p:nvSpPr>
        <p:spPr>
          <a:xfrm flipH="1">
            <a:off x="2483768" y="3151686"/>
            <a:ext cx="936104" cy="338554"/>
          </a:xfrm>
          <a:prstGeom prst="rect">
            <a:avLst/>
          </a:prstGeom>
          <a:solidFill>
            <a:schemeClr val="bg1"/>
          </a:solidFill>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 </a:t>
            </a:r>
            <a:r>
              <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回车</a:t>
            </a:r>
            <a:r>
              <a:rPr lang="en-US" altLang="zh-CN"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  </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graphicFrame>
        <p:nvGraphicFramePr>
          <p:cNvPr id="12" name="Object 12">
            <a:extLst>
              <a:ext uri="{FF2B5EF4-FFF2-40B4-BE49-F238E27FC236}">
                <a16:creationId xmlns:a16="http://schemas.microsoft.com/office/drawing/2014/main" id="{E0084057-F00C-4578-A0FE-B452476C2B4A}"/>
              </a:ext>
            </a:extLst>
          </p:cNvPr>
          <p:cNvGraphicFramePr>
            <a:graphicFrameLocks noChangeAspect="1"/>
          </p:cNvGraphicFramePr>
          <p:nvPr>
            <p:extLst>
              <p:ext uri="{D42A27DB-BD31-4B8C-83A1-F6EECF244321}">
                <p14:modId xmlns:p14="http://schemas.microsoft.com/office/powerpoint/2010/main" val="3202718548"/>
              </p:ext>
            </p:extLst>
          </p:nvPr>
        </p:nvGraphicFramePr>
        <p:xfrm>
          <a:off x="7549523" y="1284288"/>
          <a:ext cx="1238250" cy="1101725"/>
        </p:xfrm>
        <a:graphic>
          <a:graphicData uri="http://schemas.openxmlformats.org/presentationml/2006/ole">
            <mc:AlternateContent xmlns:mc="http://schemas.openxmlformats.org/markup-compatibility/2006">
              <mc:Choice xmlns:v="urn:schemas-microsoft-com:vml" Requires="v">
                <p:oleObj spid="_x0000_s1160" name="Equation" r:id="rId4" imgW="710891" imgH="710891" progId="">
                  <p:embed/>
                </p:oleObj>
              </mc:Choice>
              <mc:Fallback>
                <p:oleObj name="Equation" r:id="rId4" imgW="710891" imgH="710891" progId="">
                  <p:embed/>
                  <p:pic>
                    <p:nvPicPr>
                      <p:cNvPr id="14339" name="Object 1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9523" y="1284288"/>
                        <a:ext cx="1238250" cy="1101725"/>
                      </a:xfrm>
                      <a:prstGeom prst="rect">
                        <a:avLst/>
                      </a:prstGeom>
                      <a:gradFill rotWithShape="1">
                        <a:gsLst>
                          <a:gs pos="0">
                            <a:srgbClr val="A0A000"/>
                          </a:gs>
                          <a:gs pos="50000">
                            <a:srgbClr val="E6E600"/>
                          </a:gs>
                          <a:gs pos="100000">
                            <a:srgbClr val="FFFF00"/>
                          </a:gs>
                        </a:gsLst>
                        <a:lin ang="16200000" scaled="1"/>
                      </a:gradFill>
                      <a:ln w="6350">
                        <a:solidFill>
                          <a:srgbClr val="FF0000"/>
                        </a:solidFill>
                        <a:miter lim="800000"/>
                        <a:headEnd/>
                        <a:tailEnd/>
                      </a:ln>
                    </p:spPr>
                  </p:pic>
                </p:oleObj>
              </mc:Fallback>
            </mc:AlternateContent>
          </a:graphicData>
        </a:graphic>
      </p:graphicFrame>
      <p:sp>
        <p:nvSpPr>
          <p:cNvPr id="13" name="文本框 12">
            <a:extLst>
              <a:ext uri="{FF2B5EF4-FFF2-40B4-BE49-F238E27FC236}">
                <a16:creationId xmlns:a16="http://schemas.microsoft.com/office/drawing/2014/main" id="{60A73925-EDA5-4319-8315-417FD57BA246}"/>
              </a:ext>
            </a:extLst>
          </p:cNvPr>
          <p:cNvSpPr txBox="1"/>
          <p:nvPr/>
        </p:nvSpPr>
        <p:spPr>
          <a:xfrm>
            <a:off x="3855427" y="1333299"/>
            <a:ext cx="3419074" cy="981423"/>
          </a:xfrm>
          <a:prstGeom prst="rect">
            <a:avLst/>
          </a:prstGeom>
          <a:noFill/>
          <a:ln>
            <a:solidFill>
              <a:schemeClr val="bg1"/>
            </a:solidFill>
          </a:ln>
        </p:spPr>
        <p:txBody>
          <a:bodyPr wrap="square">
            <a:spAutoFit/>
          </a:bodyPr>
          <a:lstStyle/>
          <a:p>
            <a:pPr>
              <a:lnSpc>
                <a:spcPts val="2400"/>
              </a:lnSpc>
            </a:pP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MATLAB</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创建无论向量还是矩阵原则只一个，行与行之间用分号“</a:t>
            </a: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分开</a:t>
            </a: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a:t>
            </a:r>
          </a:p>
          <a:p>
            <a:pPr>
              <a:lnSpc>
                <a:spcPts val="2400"/>
              </a:lnSpc>
            </a:pP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同行元素间用空格或</a:t>
            </a:r>
            <a:r>
              <a:rPr lang="zh-CN" altLang="en-US" sz="1400" dirty="0">
                <a:solidFill>
                  <a:schemeClr val="bg1"/>
                </a:solidFill>
                <a:highlight>
                  <a:srgbClr val="FF0000"/>
                </a:highlight>
                <a:latin typeface="微软雅黑" panose="020B0503020204020204" pitchFamily="34" charset="-122"/>
                <a:ea typeface="微软雅黑" panose="020B0503020204020204" pitchFamily="34" charset="-122"/>
              </a:rPr>
              <a:t>逗号</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a:t>
            </a: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”分隔；</a:t>
            </a:r>
          </a:p>
        </p:txBody>
      </p:sp>
      <p:sp>
        <p:nvSpPr>
          <p:cNvPr id="14" name="AutoShape 13">
            <a:extLst>
              <a:ext uri="{FF2B5EF4-FFF2-40B4-BE49-F238E27FC236}">
                <a16:creationId xmlns:a16="http://schemas.microsoft.com/office/drawing/2014/main" id="{212CAF5D-B271-44D5-9A16-CE8D65C70F8A}"/>
              </a:ext>
            </a:extLst>
          </p:cNvPr>
          <p:cNvSpPr>
            <a:spLocks noChangeArrowheads="1"/>
          </p:cNvSpPr>
          <p:nvPr/>
        </p:nvSpPr>
        <p:spPr bwMode="auto">
          <a:xfrm>
            <a:off x="3029427" y="4001484"/>
            <a:ext cx="826000" cy="625506"/>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kern="0" dirty="0">
                <a:solidFill>
                  <a:srgbClr val="FFFF00"/>
                </a:solidFill>
                <a:ea typeface="黑体" panose="02010609060101010101" pitchFamily="49" charset="-122"/>
              </a:rPr>
              <a:t>注意 </a:t>
            </a:r>
          </a:p>
        </p:txBody>
      </p:sp>
      <p:sp>
        <p:nvSpPr>
          <p:cNvPr id="15" name="文本框 14">
            <a:extLst>
              <a:ext uri="{FF2B5EF4-FFF2-40B4-BE49-F238E27FC236}">
                <a16:creationId xmlns:a16="http://schemas.microsoft.com/office/drawing/2014/main" id="{884B8615-AD22-4212-A381-9AB7EB558284}"/>
              </a:ext>
            </a:extLst>
          </p:cNvPr>
          <p:cNvSpPr txBox="1"/>
          <p:nvPr/>
        </p:nvSpPr>
        <p:spPr>
          <a:xfrm>
            <a:off x="3779912" y="4087340"/>
            <a:ext cx="5690950" cy="369332"/>
          </a:xfrm>
          <a:prstGeom prst="rect">
            <a:avLst/>
          </a:prstGeom>
          <a:noFill/>
        </p:spPr>
        <p:txBody>
          <a:bodyPr wrap="square">
            <a:spAutoFit/>
          </a:bodyPr>
          <a:lstStyle/>
          <a:p>
            <a:r>
              <a:rPr lang="zh-CN" altLang="en-US" sz="1800" b="1" kern="0" dirty="0">
                <a:solidFill>
                  <a:srgbClr val="FF0000"/>
                </a:solidFill>
                <a:ea typeface="黑体" panose="02010609060101010101" pitchFamily="49" charset="-122"/>
              </a:rPr>
              <a:t>为</a:t>
            </a:r>
            <a:r>
              <a:rPr lang="zh-CN" altLang="en-US" b="1" kern="0" dirty="0">
                <a:solidFill>
                  <a:srgbClr val="FF0000"/>
                </a:solidFill>
                <a:ea typeface="黑体" panose="02010609060101010101" pitchFamily="49" charset="-122"/>
              </a:rPr>
              <a:t>了和</a:t>
            </a:r>
            <a:r>
              <a:rPr lang="en-US" altLang="zh-CN" sz="1800" b="1" kern="0" dirty="0">
                <a:solidFill>
                  <a:srgbClr val="FF0000"/>
                </a:solidFill>
                <a:ea typeface="黑体" panose="02010609060101010101" pitchFamily="49" charset="-122"/>
              </a:rPr>
              <a:t>MATLAB</a:t>
            </a:r>
            <a:r>
              <a:rPr lang="zh-CN" altLang="en-US" sz="1800" b="1" kern="0" dirty="0">
                <a:solidFill>
                  <a:srgbClr val="FF0000"/>
                </a:solidFill>
                <a:ea typeface="黑体" panose="02010609060101010101" pitchFamily="49" charset="-122"/>
              </a:rPr>
              <a:t>代码共享</a:t>
            </a:r>
            <a:r>
              <a:rPr lang="en-US" altLang="zh-CN" sz="1800" b="1" kern="0" dirty="0">
                <a:solidFill>
                  <a:srgbClr val="FF0000"/>
                </a:solidFill>
                <a:ea typeface="黑体" panose="02010609060101010101" pitchFamily="49" charset="-122"/>
              </a:rPr>
              <a:t>,</a:t>
            </a:r>
            <a:r>
              <a:rPr lang="zh-CN" altLang="en-US" sz="1800" b="1" kern="0" dirty="0">
                <a:solidFill>
                  <a:srgbClr val="FF0000"/>
                </a:solidFill>
                <a:ea typeface="黑体" panose="02010609060101010101" pitchFamily="49" charset="-122"/>
              </a:rPr>
              <a:t>矩阵同行元素统一用空格</a:t>
            </a:r>
          </a:p>
        </p:txBody>
      </p:sp>
    </p:spTree>
    <p:extLst>
      <p:ext uri="{BB962C8B-B14F-4D97-AF65-F5344CB8AC3E}">
        <p14:creationId xmlns:p14="http://schemas.microsoft.com/office/powerpoint/2010/main" val="1615782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AB63E67-6BCA-434E-B36B-4269BAB5B188}"/>
              </a:ext>
            </a:extLst>
          </p:cNvPr>
          <p:cNvSpPr txBox="1"/>
          <p:nvPr/>
        </p:nvSpPr>
        <p:spPr>
          <a:xfrm>
            <a:off x="4608475" y="2761805"/>
            <a:ext cx="4427156" cy="667555"/>
          </a:xfrm>
          <a:prstGeom prst="rect">
            <a:avLst/>
          </a:prstGeom>
          <a:noFill/>
          <a:ln>
            <a:solidFill>
              <a:schemeClr val="bg1"/>
            </a:solidFill>
          </a:ln>
        </p:spPr>
        <p:txBody>
          <a:bodyPr wrap="square">
            <a:spAutoFit/>
          </a:bodyPr>
          <a:lstStyle/>
          <a:p>
            <a:pPr>
              <a:lnSpc>
                <a:spcPts val="2400"/>
              </a:lnSpc>
            </a:pPr>
            <a:r>
              <a:rPr lang="en-US" altLang="zh-CN" sz="1200" dirty="0">
                <a:solidFill>
                  <a:schemeClr val="bg1"/>
                </a:solidFill>
                <a:highlight>
                  <a:srgbClr val="003B76"/>
                </a:highlight>
                <a:latin typeface="微软雅黑" panose="020B0503020204020204" pitchFamily="34" charset="-122"/>
                <a:ea typeface="微软雅黑" panose="020B0503020204020204" pitchFamily="34" charset="-122"/>
              </a:rPr>
              <a:t>MATLAB</a:t>
            </a:r>
            <a:r>
              <a:rPr lang="zh-CN" altLang="en-US" sz="1200" dirty="0">
                <a:solidFill>
                  <a:schemeClr val="bg1"/>
                </a:solidFill>
                <a:highlight>
                  <a:srgbClr val="003B76"/>
                </a:highlight>
                <a:latin typeface="微软雅黑" panose="020B0503020204020204" pitchFamily="34" charset="-122"/>
                <a:ea typeface="微软雅黑" panose="020B0503020204020204" pitchFamily="34" charset="-122"/>
              </a:rPr>
              <a:t>创建无论向量还是矩阵原则只一个，方括号内，同一行中元素间用空格 或逗号“</a:t>
            </a:r>
            <a:r>
              <a:rPr lang="en-US" altLang="zh-CN" sz="1200" dirty="0">
                <a:solidFill>
                  <a:schemeClr val="bg1"/>
                </a:solidFill>
                <a:highlight>
                  <a:srgbClr val="003B76"/>
                </a:highlight>
                <a:latin typeface="微软雅黑" panose="020B0503020204020204" pitchFamily="34" charset="-122"/>
                <a:ea typeface="微软雅黑" panose="020B0503020204020204" pitchFamily="34" charset="-122"/>
              </a:rPr>
              <a:t>,</a:t>
            </a:r>
            <a:r>
              <a:rPr lang="zh-CN" altLang="en-US" sz="1200" dirty="0">
                <a:solidFill>
                  <a:schemeClr val="bg1"/>
                </a:solidFill>
                <a:highlight>
                  <a:srgbClr val="003B76"/>
                </a:highlight>
                <a:latin typeface="微软雅黑" panose="020B0503020204020204" pitchFamily="34" charset="-122"/>
                <a:ea typeface="微软雅黑" panose="020B0503020204020204" pitchFamily="34" charset="-122"/>
              </a:rPr>
              <a:t>”分隔；行与行间用分号“</a:t>
            </a:r>
            <a:r>
              <a:rPr lang="en-US" altLang="zh-CN" sz="1200" dirty="0">
                <a:solidFill>
                  <a:schemeClr val="bg1"/>
                </a:solidFill>
                <a:highlight>
                  <a:srgbClr val="003B76"/>
                </a:highlight>
                <a:latin typeface="微软雅黑" panose="020B0503020204020204" pitchFamily="34" charset="-122"/>
                <a:ea typeface="微软雅黑" panose="020B0503020204020204" pitchFamily="34" charset="-122"/>
              </a:rPr>
              <a:t>;”</a:t>
            </a:r>
            <a:r>
              <a:rPr lang="zh-CN" altLang="en-US" sz="1200" dirty="0">
                <a:solidFill>
                  <a:schemeClr val="bg1"/>
                </a:solidFill>
                <a:highlight>
                  <a:srgbClr val="003B76"/>
                </a:highlight>
                <a:latin typeface="微软雅黑" panose="020B0503020204020204" pitchFamily="34" charset="-122"/>
                <a:ea typeface="微软雅黑" panose="020B0503020204020204" pitchFamily="34" charset="-122"/>
              </a:rPr>
              <a:t>分开</a:t>
            </a:r>
          </a:p>
        </p:txBody>
      </p:sp>
      <p:sp>
        <p:nvSpPr>
          <p:cNvPr id="5" name="文本框 4">
            <a:extLst>
              <a:ext uri="{FF2B5EF4-FFF2-40B4-BE49-F238E27FC236}">
                <a16:creationId xmlns:a16="http://schemas.microsoft.com/office/drawing/2014/main" id="{E12E6A02-DB99-4C79-86AD-FD558DDBAB26}"/>
              </a:ext>
            </a:extLst>
          </p:cNvPr>
          <p:cNvSpPr txBox="1"/>
          <p:nvPr/>
        </p:nvSpPr>
        <p:spPr>
          <a:xfrm>
            <a:off x="438094" y="1003063"/>
            <a:ext cx="7488832" cy="1200329"/>
          </a:xfrm>
          <a:prstGeom prst="rect">
            <a:avLst/>
          </a:prstGeom>
          <a:noFill/>
        </p:spPr>
        <p:txBody>
          <a:bodyPr wrap="square">
            <a:spAutoFit/>
          </a:bodyPr>
          <a:lstStyle/>
          <a:p>
            <a:pPr marL="342900" indent="-342900">
              <a:buFont typeface="+mj-ea"/>
              <a:buAutoNum type="circleNumDbPlain"/>
            </a:pPr>
            <a:r>
              <a:rPr lang="en-US" altLang="zh-CN" b="1" dirty="0">
                <a:solidFill>
                  <a:srgbClr val="00B0F0"/>
                </a:solidFill>
                <a:effectLst/>
                <a:latin typeface="微软雅黑 Light" panose="020B0502040204020203" pitchFamily="34" charset="-122"/>
                <a:ea typeface="微软雅黑 Light" panose="020B0502040204020203" pitchFamily="34" charset="-122"/>
              </a:rPr>
              <a:t>b</a:t>
            </a:r>
            <a:r>
              <a:rPr lang="zh-CN" altLang="en-US" b="1" dirty="0">
                <a:solidFill>
                  <a:srgbClr val="00B0F0"/>
                </a:solidFill>
                <a:effectLst/>
                <a:latin typeface="微软雅黑 Light" panose="020B0502040204020203" pitchFamily="34" charset="-122"/>
                <a:ea typeface="微软雅黑 Light" panose="020B0502040204020203" pitchFamily="34" charset="-122"/>
              </a:rPr>
              <a:t>是列向量时，线性方程组求根</a:t>
            </a:r>
            <a:endParaRPr lang="en-US" altLang="zh-CN" b="1" dirty="0">
              <a:solidFill>
                <a:srgbClr val="00B0F0"/>
              </a:solidFill>
              <a:effectLst/>
              <a:latin typeface="微软雅黑 Light" panose="020B0502040204020203" pitchFamily="34" charset="-122"/>
              <a:ea typeface="微软雅黑 Light" panose="020B0502040204020203" pitchFamily="34" charset="-122"/>
            </a:endParaRPr>
          </a:p>
          <a:p>
            <a:r>
              <a:rPr lang="en-US" altLang="zh-CN" b="1" dirty="0">
                <a:solidFill>
                  <a:srgbClr val="000000"/>
                </a:solidFill>
                <a:effectLst/>
                <a:latin typeface="Consolas" panose="020B0609020204030204" pitchFamily="49" charset="0"/>
              </a:rPr>
              <a:t>a=[</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5</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2</a:t>
            </a:r>
            <a:r>
              <a:rPr lang="en-US" altLang="zh-CN" b="1" dirty="0">
                <a:solidFill>
                  <a:srgbClr val="000000"/>
                </a:solidFill>
                <a:effectLst/>
                <a:latin typeface="Consolas" panose="020B0609020204030204" pitchFamily="49" charset="0"/>
              </a:rPr>
              <a:t>;</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2</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3</a:t>
            </a:r>
            <a:r>
              <a:rPr lang="en-US" altLang="zh-CN" b="1" dirty="0">
                <a:solidFill>
                  <a:srgbClr val="000000"/>
                </a:solidFill>
                <a:effectLst/>
                <a:latin typeface="Consolas" panose="020B0609020204030204" pitchFamily="49" charset="0"/>
              </a:rPr>
              <a:t>;</a:t>
            </a:r>
            <a:r>
              <a:rPr lang="en-US" altLang="zh-CN" b="1" dirty="0">
                <a:solidFill>
                  <a:srgbClr val="098658"/>
                </a:solidFill>
                <a:effectLst/>
                <a:latin typeface="Consolas" panose="020B0609020204030204" pitchFamily="49" charset="0"/>
              </a:rPr>
              <a:t>3</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8</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9</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3</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6</a:t>
            </a:r>
            <a:r>
              <a:rPr lang="en-US" altLang="zh-CN" b="1" dirty="0">
                <a:solidFill>
                  <a:srgbClr val="000000"/>
                </a:solidFill>
                <a:effectLst/>
                <a:latin typeface="Consolas" panose="020B0609020204030204" pitchFamily="49" charset="0"/>
              </a:rPr>
              <a:t>] </a:t>
            </a:r>
            <a:r>
              <a:rPr lang="en-US" altLang="zh-CN" b="1" dirty="0">
                <a:solidFill>
                  <a:srgbClr val="008000"/>
                </a:solidFill>
                <a:effectLst/>
                <a:latin typeface="Consolas" panose="020B0609020204030204" pitchFamily="49" charset="0"/>
              </a:rPr>
              <a:t> </a:t>
            </a:r>
            <a:endParaRPr lang="zh-CN" altLang="en-US" b="1" dirty="0">
              <a:solidFill>
                <a:srgbClr val="000000"/>
              </a:solidFill>
              <a:effectLst/>
              <a:latin typeface="Consolas" panose="020B0609020204030204" pitchFamily="49" charset="0"/>
            </a:endParaRPr>
          </a:p>
          <a:p>
            <a:r>
              <a:rPr lang="en-US" altLang="zh-CN" b="1" dirty="0">
                <a:solidFill>
                  <a:srgbClr val="000000"/>
                </a:solidFill>
                <a:effectLst/>
                <a:latin typeface="Consolas" panose="020B0609020204030204" pitchFamily="49" charset="0"/>
              </a:rPr>
              <a:t>b=[-</a:t>
            </a:r>
            <a:r>
              <a:rPr lang="en-US" altLang="zh-CN" b="1" dirty="0">
                <a:solidFill>
                  <a:srgbClr val="098658"/>
                </a:solidFill>
                <a:effectLst/>
                <a:latin typeface="Consolas" panose="020B0609020204030204" pitchFamily="49" charset="0"/>
              </a:rPr>
              <a:t>1;3;5;7</a:t>
            </a:r>
            <a:r>
              <a:rPr lang="en-US" altLang="zh-CN" b="1" dirty="0">
                <a:solidFill>
                  <a:srgbClr val="000000"/>
                </a:solidFill>
                <a:effectLst/>
                <a:latin typeface="Consolas" panose="020B0609020204030204" pitchFamily="49" charset="0"/>
              </a:rPr>
              <a:t>] </a:t>
            </a:r>
          </a:p>
          <a:p>
            <a:r>
              <a:rPr lang="en-US" altLang="zh-CN" b="1" dirty="0">
                <a:solidFill>
                  <a:srgbClr val="000000"/>
                </a:solidFill>
                <a:effectLst/>
                <a:latin typeface="Consolas" panose="020B0609020204030204" pitchFamily="49" charset="0"/>
              </a:rPr>
              <a:t>r=</a:t>
            </a:r>
            <a:r>
              <a:rPr lang="en-US" altLang="zh-CN" b="1" dirty="0">
                <a:solidFill>
                  <a:srgbClr val="795E26"/>
                </a:solidFill>
                <a:effectLst/>
                <a:latin typeface="Consolas" panose="020B0609020204030204" pitchFamily="49" charset="0"/>
              </a:rPr>
              <a:t>inv</a:t>
            </a:r>
            <a:r>
              <a:rPr lang="en-US" altLang="zh-CN" b="1" dirty="0">
                <a:solidFill>
                  <a:srgbClr val="000000"/>
                </a:solidFill>
                <a:effectLst/>
                <a:latin typeface="Consolas" panose="020B0609020204030204" pitchFamily="49" charset="0"/>
              </a:rPr>
              <a:t>(a)*b</a:t>
            </a:r>
            <a:endParaRPr lang="zh-CN" altLang="en-US" b="1" dirty="0">
              <a:solidFill>
                <a:srgbClr val="000000"/>
              </a:solidFill>
              <a:effectLst/>
              <a:latin typeface="Consolas" panose="020B0609020204030204" pitchFamily="49" charset="0"/>
            </a:endParaRPr>
          </a:p>
        </p:txBody>
      </p:sp>
      <p:sp>
        <p:nvSpPr>
          <p:cNvPr id="6" name="文本框 5">
            <a:extLst>
              <a:ext uri="{FF2B5EF4-FFF2-40B4-BE49-F238E27FC236}">
                <a16:creationId xmlns:a16="http://schemas.microsoft.com/office/drawing/2014/main" id="{10C0437B-9ACF-4F83-8AA2-8EDD37C797E4}"/>
              </a:ext>
            </a:extLst>
          </p:cNvPr>
          <p:cNvSpPr txBox="1"/>
          <p:nvPr/>
        </p:nvSpPr>
        <p:spPr>
          <a:xfrm>
            <a:off x="5810547" y="1473638"/>
            <a:ext cx="2325416" cy="1015663"/>
          </a:xfrm>
          <a:prstGeom prst="rect">
            <a:avLst/>
          </a:prstGeom>
          <a:noFill/>
        </p:spPr>
        <p:txBody>
          <a:bodyPr wrap="square">
            <a:spAutoFit/>
          </a:bodyPr>
          <a:lstStyle/>
          <a:p>
            <a:r>
              <a:rPr lang="zh-CN" altLang="en-US" sz="1200" dirty="0">
                <a:solidFill>
                  <a:srgbClr val="00B0F0"/>
                </a:solidFill>
              </a:rPr>
              <a:t>计算结果：</a:t>
            </a:r>
            <a:endParaRPr lang="en-US" altLang="zh-CN" sz="1200" dirty="0">
              <a:solidFill>
                <a:srgbClr val="00B0F0"/>
              </a:solidFill>
            </a:endParaRPr>
          </a:p>
          <a:p>
            <a:r>
              <a:rPr lang="en-US" altLang="zh-CN" sz="1200" dirty="0">
                <a:solidFill>
                  <a:srgbClr val="00B0F0"/>
                </a:solidFill>
              </a:rPr>
              <a:t>x1=3.399999999999999</a:t>
            </a:r>
          </a:p>
          <a:p>
            <a:r>
              <a:rPr lang="en-US" altLang="zh-CN" sz="1200" dirty="0">
                <a:solidFill>
                  <a:srgbClr val="00B0F0"/>
                </a:solidFill>
              </a:rPr>
              <a:t> x2=0.3999999999999998</a:t>
            </a:r>
          </a:p>
          <a:p>
            <a:r>
              <a:rPr lang="en-US" altLang="zh-CN" sz="1200" dirty="0">
                <a:solidFill>
                  <a:srgbClr val="00B0F0"/>
                </a:solidFill>
              </a:rPr>
              <a:t> x3=6.399999999999997</a:t>
            </a:r>
          </a:p>
          <a:p>
            <a:r>
              <a:rPr lang="en-US" altLang="zh-CN" sz="1200" dirty="0">
                <a:solidFill>
                  <a:srgbClr val="00B0F0"/>
                </a:solidFill>
              </a:rPr>
              <a:t> x4=-1.9999999999999991</a:t>
            </a:r>
            <a:endParaRPr lang="zh-CN" altLang="en-US" sz="1200" dirty="0">
              <a:solidFill>
                <a:srgbClr val="00B0F0"/>
              </a:solidFill>
            </a:endParaRPr>
          </a:p>
        </p:txBody>
      </p:sp>
      <p:sp>
        <p:nvSpPr>
          <p:cNvPr id="7" name="文本框 6">
            <a:extLst>
              <a:ext uri="{FF2B5EF4-FFF2-40B4-BE49-F238E27FC236}">
                <a16:creationId xmlns:a16="http://schemas.microsoft.com/office/drawing/2014/main" id="{153D9F72-2330-4979-8CE1-7E84CF193B31}"/>
              </a:ext>
            </a:extLst>
          </p:cNvPr>
          <p:cNvSpPr txBox="1"/>
          <p:nvPr/>
        </p:nvSpPr>
        <p:spPr>
          <a:xfrm>
            <a:off x="428710" y="2150871"/>
            <a:ext cx="6807585" cy="1415772"/>
          </a:xfrm>
          <a:prstGeom prst="rect">
            <a:avLst/>
          </a:prstGeom>
          <a:noFill/>
        </p:spPr>
        <p:txBody>
          <a:bodyPr wrap="square">
            <a:spAutoFit/>
          </a:bodyPr>
          <a:lstStyle>
            <a:defPPr>
              <a:defRPr lang="zh-CN"/>
            </a:defPPr>
            <a:lvl1pPr>
              <a:defRPr sz="1400" b="0">
                <a:solidFill>
                  <a:srgbClr val="000000"/>
                </a:solidFill>
                <a:effectLst/>
                <a:latin typeface="Consolas" panose="020B0609020204030204" pitchFamily="49" charset="0"/>
              </a:defRPr>
            </a:lvl1pPr>
          </a:lstStyle>
          <a:p>
            <a:pPr marL="342900" indent="-342900">
              <a:buFont typeface="+mj-ea"/>
              <a:buAutoNum type="circleNumDbPlain" startAt="2"/>
            </a:pPr>
            <a:r>
              <a:rPr lang="en-US" altLang="zh-CN" sz="1800" b="1" dirty="0">
                <a:solidFill>
                  <a:srgbClr val="00B0F0"/>
                </a:solidFill>
                <a:latin typeface="微软雅黑 Light" panose="020B0502040204020203" pitchFamily="34" charset="-122"/>
                <a:ea typeface="微软雅黑 Light" panose="020B0502040204020203" pitchFamily="34" charset="-122"/>
              </a:rPr>
              <a:t>b</a:t>
            </a:r>
            <a:r>
              <a:rPr lang="zh-CN" altLang="en-US" sz="1800" b="1" dirty="0">
                <a:solidFill>
                  <a:srgbClr val="00B0F0"/>
                </a:solidFill>
                <a:latin typeface="微软雅黑 Light" panose="020B0502040204020203" pitchFamily="34" charset="-122"/>
                <a:ea typeface="微软雅黑 Light" panose="020B0502040204020203" pitchFamily="34" charset="-122"/>
              </a:rPr>
              <a:t>是行矩阵时，线性方程组求根</a:t>
            </a:r>
            <a:endParaRPr lang="en-US" altLang="zh-CN" sz="1800" b="1" dirty="0">
              <a:solidFill>
                <a:srgbClr val="00B0F0"/>
              </a:solidFill>
              <a:latin typeface="微软雅黑 Light" panose="020B0502040204020203" pitchFamily="34" charset="-122"/>
              <a:ea typeface="微软雅黑 Light" panose="020B0502040204020203" pitchFamily="34" charset="-122"/>
            </a:endParaRPr>
          </a:p>
          <a:p>
            <a:r>
              <a:rPr lang="en-US" altLang="zh-CN" sz="1800" b="1" dirty="0"/>
              <a:t>a=[1 -5 -1 -2;1 -2 1 3;3 8 -1 1;1 -9 3 6]  </a:t>
            </a:r>
            <a:endParaRPr lang="zh-CN" altLang="en-US" sz="1800" b="1" dirty="0"/>
          </a:p>
          <a:p>
            <a:r>
              <a:rPr lang="en-US" altLang="zh-CN" sz="1800" b="1" dirty="0"/>
              <a:t>b=[-1 3 5 7] </a:t>
            </a:r>
            <a:r>
              <a:rPr lang="en-US" altLang="zh-CN" b="1" dirty="0">
                <a:solidFill>
                  <a:srgbClr val="008000"/>
                </a:solidFill>
              </a:rPr>
              <a:t>#1*4</a:t>
            </a:r>
            <a:r>
              <a:rPr lang="zh-CN" altLang="en-US" b="1" dirty="0">
                <a:solidFill>
                  <a:srgbClr val="008000"/>
                </a:solidFill>
              </a:rPr>
              <a:t>行矩阵</a:t>
            </a:r>
          </a:p>
          <a:p>
            <a:r>
              <a:rPr lang="en-US" altLang="zh-CN" sz="1800" b="1" dirty="0"/>
              <a:t>r=inv(a)*b  </a:t>
            </a:r>
          </a:p>
          <a:p>
            <a:endParaRPr lang="zh-CN" altLang="en-US" b="1" dirty="0"/>
          </a:p>
        </p:txBody>
      </p:sp>
      <p:sp>
        <p:nvSpPr>
          <p:cNvPr id="8" name="文本框 7">
            <a:extLst>
              <a:ext uri="{FF2B5EF4-FFF2-40B4-BE49-F238E27FC236}">
                <a16:creationId xmlns:a16="http://schemas.microsoft.com/office/drawing/2014/main" id="{767F8459-9F1A-4333-8C6A-F219565C97EC}"/>
              </a:ext>
            </a:extLst>
          </p:cNvPr>
          <p:cNvSpPr txBox="1"/>
          <p:nvPr/>
        </p:nvSpPr>
        <p:spPr>
          <a:xfrm>
            <a:off x="405152" y="3232460"/>
            <a:ext cx="8463769" cy="615553"/>
          </a:xfrm>
          <a:prstGeom prst="rect">
            <a:avLst/>
          </a:prstGeom>
          <a:noFill/>
        </p:spPr>
        <p:txBody>
          <a:bodyPr wrap="square">
            <a:spAutoFit/>
          </a:bodyPr>
          <a:lstStyle/>
          <a:p>
            <a:r>
              <a:rPr lang="zh-CN" altLang="en-US" dirty="0">
                <a:solidFill>
                  <a:srgbClr val="FF0000"/>
                </a:solidFill>
              </a:rPr>
              <a:t>julia&gt; r=inv(a)*b  #求根维度不匹配</a:t>
            </a:r>
          </a:p>
          <a:p>
            <a:r>
              <a:rPr lang="zh-CN" altLang="en-US" sz="1600" dirty="0">
                <a:solidFill>
                  <a:srgbClr val="FF0000"/>
                </a:solidFill>
              </a:rPr>
              <a:t>ERROR: DimensionMismatch: matrix A has dimensions (4,4), matrix B has dimensions (1,4)</a:t>
            </a:r>
          </a:p>
        </p:txBody>
      </p:sp>
      <p:sp>
        <p:nvSpPr>
          <p:cNvPr id="9" name="AutoShape 13">
            <a:extLst>
              <a:ext uri="{FF2B5EF4-FFF2-40B4-BE49-F238E27FC236}">
                <a16:creationId xmlns:a16="http://schemas.microsoft.com/office/drawing/2014/main" id="{8AF8FED3-274B-4E0F-A95C-71C944D83187}"/>
              </a:ext>
            </a:extLst>
          </p:cNvPr>
          <p:cNvSpPr>
            <a:spLocks noChangeArrowheads="1"/>
          </p:cNvSpPr>
          <p:nvPr/>
        </p:nvSpPr>
        <p:spPr bwMode="auto">
          <a:xfrm>
            <a:off x="4608475" y="3912630"/>
            <a:ext cx="1008112" cy="575969"/>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b="1" kern="0" dirty="0">
                <a:solidFill>
                  <a:srgbClr val="FFFF00"/>
                </a:solidFill>
                <a:ea typeface="黑体" panose="02010609060101010101" pitchFamily="49" charset="-122"/>
              </a:rPr>
              <a:t>注意</a:t>
            </a:r>
            <a:endParaRPr lang="en-US" altLang="zh-CN" sz="1600" dirty="0">
              <a:solidFill>
                <a:srgbClr val="FF0000"/>
              </a:solidFill>
              <a:latin typeface="微软雅黑" panose="020B0503020204020204" pitchFamily="34" charset="-122"/>
              <a:ea typeface="微软雅黑" panose="020B0503020204020204" pitchFamily="34" charset="-122"/>
            </a:endParaRPr>
          </a:p>
        </p:txBody>
      </p:sp>
      <p:sp>
        <p:nvSpPr>
          <p:cNvPr id="10" name="标题 1">
            <a:extLst>
              <a:ext uri="{FF2B5EF4-FFF2-40B4-BE49-F238E27FC236}">
                <a16:creationId xmlns:a16="http://schemas.microsoft.com/office/drawing/2014/main" id="{9E03F1C9-66F0-46C7-91AF-6E4561ED9296}"/>
              </a:ext>
            </a:extLst>
          </p:cNvPr>
          <p:cNvSpPr>
            <a:spLocks noGrp="1"/>
          </p:cNvSpPr>
          <p:nvPr>
            <p:ph type="title"/>
          </p:nvPr>
        </p:nvSpPr>
        <p:spPr>
          <a:xfrm>
            <a:off x="973565" y="133853"/>
            <a:ext cx="7920880" cy="438150"/>
          </a:xfrm>
          <a:noFill/>
        </p:spPr>
        <p:txBody>
          <a:bodyPr/>
          <a:lstStyle/>
          <a:p>
            <a:br>
              <a:rPr lang="en-US" altLang="zh-CN" sz="2400" i="0" dirty="0">
                <a:effectLst/>
                <a:latin typeface="Helvetica Neue"/>
              </a:rPr>
            </a:br>
            <a:r>
              <a:rPr lang="en-US" altLang="zh-CN" sz="2400" dirty="0">
                <a:latin typeface="Helvetica Neue"/>
              </a:rPr>
              <a:t>§</a:t>
            </a:r>
            <a:r>
              <a:rPr lang="en-US" altLang="zh-CN" sz="2400" dirty="0"/>
              <a:t>1.4.1.2 </a:t>
            </a:r>
            <a:r>
              <a:rPr lang="zh-CN" altLang="en-US" sz="2400" i="0" dirty="0">
                <a:effectLst/>
                <a:latin typeface="Helvetica Neue"/>
              </a:rPr>
              <a:t>创建</a:t>
            </a:r>
            <a:r>
              <a:rPr lang="zh-CN" altLang="en-US" sz="2400" dirty="0">
                <a:latin typeface="Helvetica Neue"/>
              </a:rPr>
              <a:t>向量和矩阵</a:t>
            </a:r>
            <a:r>
              <a:rPr lang="en-US" altLang="zh-CN" sz="2400" dirty="0">
                <a:solidFill>
                  <a:srgbClr val="FF0000"/>
                </a:solidFill>
              </a:rPr>
              <a:t>——3.</a:t>
            </a:r>
            <a:r>
              <a:rPr lang="zh-CN" altLang="en-US" sz="2400" dirty="0">
                <a:solidFill>
                  <a:srgbClr val="FF0000"/>
                </a:solidFill>
                <a:latin typeface="Helvetica Neue"/>
              </a:rPr>
              <a:t>创建线性方程向量和矩阵</a:t>
            </a:r>
          </a:p>
        </p:txBody>
      </p:sp>
      <p:sp>
        <p:nvSpPr>
          <p:cNvPr id="12" name="波形 11">
            <a:extLst>
              <a:ext uri="{FF2B5EF4-FFF2-40B4-BE49-F238E27FC236}">
                <a16:creationId xmlns:a16="http://schemas.microsoft.com/office/drawing/2014/main" id="{6A376ED0-2119-42C3-AB10-5D64A3BC8B94}"/>
              </a:ext>
            </a:extLst>
          </p:cNvPr>
          <p:cNvSpPr/>
          <p:nvPr/>
        </p:nvSpPr>
        <p:spPr>
          <a:xfrm>
            <a:off x="17430" y="680087"/>
            <a:ext cx="876188"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例141-3</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9A839D6-7F71-4F47-A281-E3BBF797750C}"/>
                  </a:ext>
                </a:extLst>
              </p:cNvPr>
              <p:cNvSpPr txBox="1"/>
              <p:nvPr/>
            </p:nvSpPr>
            <p:spPr>
              <a:xfrm>
                <a:off x="6853419" y="729337"/>
                <a:ext cx="2255746" cy="8439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1400" i="1" smtClean="0">
                              <a:latin typeface="Cambria Math" panose="02040503050406030204" pitchFamily="18" charset="0"/>
                            </a:rPr>
                          </m:ctrlPr>
                        </m:dPr>
                        <m:e>
                          <m:eqArr>
                            <m:eqArrPr>
                              <m:ctrlPr>
                                <a:rPr lang="en-US" altLang="zh-CN" sz="1400" i="1" smtClean="0">
                                  <a:latin typeface="Cambria Math" panose="02040503050406030204" pitchFamily="18" charset="0"/>
                                </a:rPr>
                              </m:ctrlPr>
                            </m:eqArrPr>
                            <m:e>
                              <m:r>
                                <m:rPr>
                                  <m:sty m:val="p"/>
                                </m:rPr>
                                <a:rPr lang="en-US" altLang="zh-CN" sz="1400" i="1">
                                  <a:latin typeface="Cambria Math" panose="02040503050406030204" pitchFamily="18" charset="0"/>
                                </a:rPr>
                                <m:t>x</m:t>
                              </m:r>
                              <m:r>
                                <a:rPr lang="en-US" altLang="zh-CN" sz="1400" i="1">
                                  <a:latin typeface="Cambria Math" panose="02040503050406030204" pitchFamily="18" charset="0"/>
                                </a:rPr>
                                <m:t>1−5</m:t>
                              </m:r>
                              <m:r>
                                <a:rPr lang="en-US" altLang="zh-CN" sz="1400" i="1">
                                  <a:latin typeface="Cambria Math" panose="02040503050406030204" pitchFamily="18" charset="0"/>
                                </a:rPr>
                                <m:t>𝑥</m:t>
                              </m:r>
                              <m:r>
                                <a:rPr lang="en-US" altLang="zh-CN" sz="1400" i="1">
                                  <a:latin typeface="Cambria Math" panose="02040503050406030204" pitchFamily="18" charset="0"/>
                                </a:rPr>
                                <m:t>2−</m:t>
                              </m:r>
                              <m:r>
                                <a:rPr lang="en-US" altLang="zh-CN" sz="1400" i="1">
                                  <a:latin typeface="Cambria Math" panose="02040503050406030204" pitchFamily="18" charset="0"/>
                                </a:rPr>
                                <m:t>𝑥</m:t>
                              </m:r>
                              <m:r>
                                <a:rPr lang="en-US" altLang="zh-CN" sz="1400" i="1">
                                  <a:latin typeface="Cambria Math" panose="02040503050406030204" pitchFamily="18" charset="0"/>
                                </a:rPr>
                                <m:t>3−2</m:t>
                              </m:r>
                              <m:r>
                                <a:rPr lang="en-US" altLang="zh-CN" sz="1400" i="1">
                                  <a:latin typeface="Cambria Math" panose="02040503050406030204" pitchFamily="18" charset="0"/>
                                </a:rPr>
                                <m:t>𝑥</m:t>
                              </m:r>
                              <m:r>
                                <a:rPr lang="en-US" altLang="zh-CN" sz="1400" i="1">
                                  <a:latin typeface="Cambria Math" panose="02040503050406030204" pitchFamily="18" charset="0"/>
                                </a:rPr>
                                <m:t>4=−1</m:t>
                              </m:r>
                            </m:e>
                            <m:e>
                              <m:r>
                                <a:rPr lang="en-US" altLang="zh-CN" sz="1400" i="1">
                                  <a:latin typeface="Cambria Math" panose="02040503050406030204" pitchFamily="18" charset="0"/>
                                </a:rPr>
                                <m:t>𝑥</m:t>
                              </m:r>
                              <m:r>
                                <a:rPr lang="en-US" altLang="zh-CN" sz="1400" i="1">
                                  <a:latin typeface="Cambria Math" panose="02040503050406030204" pitchFamily="18" charset="0"/>
                                </a:rPr>
                                <m:t>1−2</m:t>
                              </m:r>
                              <m:r>
                                <a:rPr lang="en-US" altLang="zh-CN" sz="1400" i="1">
                                  <a:latin typeface="Cambria Math" panose="02040503050406030204" pitchFamily="18" charset="0"/>
                                </a:rPr>
                                <m:t>𝑥</m:t>
                              </m:r>
                              <m:r>
                                <a:rPr lang="en-US" altLang="zh-CN" sz="1400" i="1">
                                  <a:latin typeface="Cambria Math" panose="02040503050406030204" pitchFamily="18" charset="0"/>
                                </a:rPr>
                                <m:t>2+</m:t>
                              </m:r>
                              <m:r>
                                <a:rPr lang="en-US" altLang="zh-CN" sz="1400" i="1">
                                  <a:latin typeface="Cambria Math" panose="02040503050406030204" pitchFamily="18" charset="0"/>
                                </a:rPr>
                                <m:t>𝑥</m:t>
                              </m:r>
                              <m:r>
                                <a:rPr lang="en-US" altLang="zh-CN" sz="1400" i="1">
                                  <a:latin typeface="Cambria Math" panose="02040503050406030204" pitchFamily="18" charset="0"/>
                                </a:rPr>
                                <m:t>3+3</m:t>
                              </m:r>
                              <m:r>
                                <a:rPr lang="en-US" altLang="zh-CN" sz="1400" i="1">
                                  <a:latin typeface="Cambria Math" panose="02040503050406030204" pitchFamily="18" charset="0"/>
                                </a:rPr>
                                <m:t>𝑥</m:t>
                              </m:r>
                              <m:r>
                                <a:rPr lang="en-US" altLang="zh-CN" sz="1400" i="1">
                                  <a:latin typeface="Cambria Math" panose="02040503050406030204" pitchFamily="18" charset="0"/>
                                </a:rPr>
                                <m:t>4=3</m:t>
                              </m:r>
                            </m:e>
                            <m:e>
                              <m:r>
                                <a:rPr lang="en-US" altLang="zh-CN" sz="1400" b="0" i="1" smtClean="0">
                                  <a:latin typeface="Cambria Math" panose="02040503050406030204" pitchFamily="18" charset="0"/>
                                </a:rPr>
                                <m:t>3</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1+8</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2−</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3+</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4=5</m:t>
                              </m:r>
                            </m:e>
                            <m:e>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1−9</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2+3</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3+6</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4=7</m:t>
                              </m:r>
                            </m:e>
                          </m:eqArr>
                        </m:e>
                      </m:d>
                    </m:oMath>
                  </m:oMathPara>
                </a14:m>
                <a:endParaRPr lang="zh-CN" altLang="en-US" sz="1400" dirty="0"/>
              </a:p>
            </p:txBody>
          </p:sp>
        </mc:Choice>
        <mc:Fallback xmlns="">
          <p:sp>
            <p:nvSpPr>
              <p:cNvPr id="13" name="文本框 12">
                <a:extLst>
                  <a:ext uri="{FF2B5EF4-FFF2-40B4-BE49-F238E27FC236}">
                    <a16:creationId xmlns:a16="http://schemas.microsoft.com/office/drawing/2014/main" id="{E9A839D6-7F71-4F47-A281-E3BBF797750C}"/>
                  </a:ext>
                </a:extLst>
              </p:cNvPr>
              <p:cNvSpPr txBox="1">
                <a:spLocks noRot="1" noChangeAspect="1" noMove="1" noResize="1" noEditPoints="1" noAdjustHandles="1" noChangeArrowheads="1" noChangeShapeType="1" noTextEdit="1"/>
              </p:cNvSpPr>
              <p:nvPr/>
            </p:nvSpPr>
            <p:spPr>
              <a:xfrm>
                <a:off x="6853419" y="729337"/>
                <a:ext cx="2255746" cy="843949"/>
              </a:xfrm>
              <a:prstGeom prst="rect">
                <a:avLst/>
              </a:prstGeom>
              <a:blipFill>
                <a:blip r:embed="rId3"/>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6EDECC39-A2FC-4775-8946-A297D2702AD4}"/>
              </a:ext>
            </a:extLst>
          </p:cNvPr>
          <p:cNvSpPr txBox="1"/>
          <p:nvPr/>
        </p:nvSpPr>
        <p:spPr>
          <a:xfrm>
            <a:off x="934296" y="687583"/>
            <a:ext cx="6624736"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根据四元线性方程组建立方程组的系数矩阵和常数列向量</a:t>
            </a:r>
            <a:endParaRPr lang="zh-CN" altLang="en-US" dirty="0"/>
          </a:p>
        </p:txBody>
      </p:sp>
      <p:sp>
        <p:nvSpPr>
          <p:cNvPr id="17" name="文本框 16">
            <a:extLst>
              <a:ext uri="{FF2B5EF4-FFF2-40B4-BE49-F238E27FC236}">
                <a16:creationId xmlns:a16="http://schemas.microsoft.com/office/drawing/2014/main" id="{D8F65CA8-320B-41EE-A4B9-64F69FEA80A1}"/>
              </a:ext>
            </a:extLst>
          </p:cNvPr>
          <p:cNvSpPr txBox="1"/>
          <p:nvPr/>
        </p:nvSpPr>
        <p:spPr>
          <a:xfrm>
            <a:off x="438094" y="3770530"/>
            <a:ext cx="4641850" cy="1138773"/>
          </a:xfrm>
          <a:prstGeom prst="rect">
            <a:avLst/>
          </a:prstGeom>
          <a:noFill/>
        </p:spPr>
        <p:txBody>
          <a:bodyPr wrap="square">
            <a:spAutoFit/>
          </a:bodyPr>
          <a:lstStyle/>
          <a:p>
            <a:pPr marL="342900" indent="-342900">
              <a:buFont typeface="+mj-ea"/>
              <a:buAutoNum type="circleNumDbPlain" startAt="3"/>
            </a:pPr>
            <a:r>
              <a:rPr lang="en-US" altLang="zh-CN" sz="1800" b="1" dirty="0">
                <a:solidFill>
                  <a:srgbClr val="00B0F0"/>
                </a:solidFill>
                <a:latin typeface="微软雅黑 Light" panose="020B0502040204020203" pitchFamily="34" charset="-122"/>
                <a:ea typeface="微软雅黑 Light" panose="020B0502040204020203" pitchFamily="34" charset="-122"/>
              </a:rPr>
              <a:t>b</a:t>
            </a:r>
            <a:r>
              <a:rPr lang="zh-CN" altLang="en-US" sz="1800" b="1" dirty="0">
                <a:solidFill>
                  <a:srgbClr val="00B0F0"/>
                </a:solidFill>
                <a:latin typeface="微软雅黑 Light" panose="020B0502040204020203" pitchFamily="34" charset="-122"/>
                <a:ea typeface="微软雅黑 Light" panose="020B0502040204020203" pitchFamily="34" charset="-122"/>
              </a:rPr>
              <a:t>是行矩阵转置时，线性方程组求根</a:t>
            </a:r>
            <a:endParaRPr lang="en-US" altLang="zh-CN" sz="1800" b="1" dirty="0">
              <a:solidFill>
                <a:srgbClr val="00B0F0"/>
              </a:solidFill>
              <a:latin typeface="微软雅黑 Light" panose="020B0502040204020203" pitchFamily="34" charset="-122"/>
              <a:ea typeface="微软雅黑 Light" panose="020B0502040204020203" pitchFamily="34" charset="-122"/>
            </a:endParaRPr>
          </a:p>
          <a:p>
            <a:r>
              <a:rPr lang="de-DE" altLang="zh-CN" b="1" dirty="0">
                <a:solidFill>
                  <a:srgbClr val="000000"/>
                </a:solidFill>
                <a:latin typeface="Consolas" panose="020B0609020204030204" pitchFamily="49" charset="0"/>
              </a:rPr>
              <a:t>bz=[-1 3 5 7]' </a:t>
            </a:r>
            <a:r>
              <a:rPr lang="en-US" altLang="zh-CN" sz="1400" b="1" dirty="0">
                <a:solidFill>
                  <a:srgbClr val="008000"/>
                </a:solidFill>
                <a:latin typeface="Consolas" panose="020B0609020204030204" pitchFamily="49" charset="0"/>
              </a:rPr>
              <a:t>#</a:t>
            </a:r>
            <a:r>
              <a:rPr lang="zh-CN" altLang="en-US" sz="1400" b="1" dirty="0">
                <a:solidFill>
                  <a:srgbClr val="008000"/>
                </a:solidFill>
                <a:latin typeface="Consolas" panose="020B0609020204030204" pitchFamily="49" charset="0"/>
              </a:rPr>
              <a:t>行矩阵转置为</a:t>
            </a:r>
            <a:r>
              <a:rPr lang="en-US" altLang="zh-CN" sz="1400" b="1" dirty="0">
                <a:solidFill>
                  <a:srgbClr val="008000"/>
                </a:solidFill>
                <a:latin typeface="Consolas" panose="020B0609020204030204" pitchFamily="49" charset="0"/>
              </a:rPr>
              <a:t>4*1</a:t>
            </a:r>
            <a:r>
              <a:rPr lang="zh-CN" altLang="en-US" sz="1400" b="1" dirty="0">
                <a:solidFill>
                  <a:srgbClr val="008000"/>
                </a:solidFill>
                <a:latin typeface="Consolas" panose="020B0609020204030204" pitchFamily="49" charset="0"/>
              </a:rPr>
              <a:t>列矩阵</a:t>
            </a:r>
            <a:endParaRPr lang="en-US" altLang="zh-CN" sz="1400" b="1" dirty="0">
              <a:solidFill>
                <a:srgbClr val="008000"/>
              </a:solidFill>
              <a:latin typeface="Consolas" panose="020B0609020204030204" pitchFamily="49" charset="0"/>
            </a:endParaRPr>
          </a:p>
          <a:p>
            <a:r>
              <a:rPr lang="en-US" altLang="zh-CN" b="1" dirty="0" err="1">
                <a:solidFill>
                  <a:srgbClr val="000000"/>
                </a:solidFill>
                <a:latin typeface="Consolas" panose="020B0609020204030204" pitchFamily="49" charset="0"/>
              </a:rPr>
              <a:t>rz</a:t>
            </a:r>
            <a:r>
              <a:rPr lang="en-US" altLang="zh-CN" b="1" dirty="0">
                <a:solidFill>
                  <a:srgbClr val="000000"/>
                </a:solidFill>
                <a:latin typeface="Consolas" panose="020B0609020204030204" pitchFamily="49" charset="0"/>
              </a:rPr>
              <a:t>=inv(a)*</a:t>
            </a:r>
            <a:r>
              <a:rPr lang="en-US" altLang="zh-CN" b="1" dirty="0" err="1">
                <a:solidFill>
                  <a:srgbClr val="000000"/>
                </a:solidFill>
                <a:latin typeface="Consolas" panose="020B0609020204030204" pitchFamily="49" charset="0"/>
              </a:rPr>
              <a:t>bz</a:t>
            </a:r>
            <a:r>
              <a:rPr lang="en-US" altLang="zh-CN" b="1" dirty="0">
                <a:solidFill>
                  <a:srgbClr val="000000"/>
                </a:solidFill>
                <a:latin typeface="Consolas" panose="020B0609020204030204" pitchFamily="49" charset="0"/>
              </a:rPr>
              <a:t>   </a:t>
            </a:r>
          </a:p>
          <a:p>
            <a:endParaRPr lang="zh-CN" altLang="en-US" sz="1400" b="1" dirty="0">
              <a:solidFill>
                <a:srgbClr val="00B0F0"/>
              </a:solidFill>
              <a:latin typeface="微软雅黑 Light" panose="020B0502040204020203" pitchFamily="34" charset="-122"/>
              <a:ea typeface="微软雅黑 Light" panose="020B0502040204020203" pitchFamily="34" charset="-122"/>
            </a:endParaRPr>
          </a:p>
        </p:txBody>
      </p:sp>
      <p:sp>
        <p:nvSpPr>
          <p:cNvPr id="19" name="文本框 18">
            <a:extLst>
              <a:ext uri="{FF2B5EF4-FFF2-40B4-BE49-F238E27FC236}">
                <a16:creationId xmlns:a16="http://schemas.microsoft.com/office/drawing/2014/main" id="{C82290B3-9CE1-4093-B9A0-711AA7DD8A62}"/>
              </a:ext>
            </a:extLst>
          </p:cNvPr>
          <p:cNvSpPr txBox="1"/>
          <p:nvPr/>
        </p:nvSpPr>
        <p:spPr>
          <a:xfrm>
            <a:off x="5509044" y="3914302"/>
            <a:ext cx="3741281" cy="583878"/>
          </a:xfrm>
          <a:prstGeom prst="rect">
            <a:avLst/>
          </a:prstGeom>
          <a:noFill/>
        </p:spPr>
        <p:txBody>
          <a:bodyPr wrap="square">
            <a:spAutoFit/>
          </a:bodyPr>
          <a:lstStyle/>
          <a:p>
            <a:pPr>
              <a:lnSpc>
                <a:spcPts val="2000"/>
              </a:lnSpc>
            </a:pPr>
            <a:r>
              <a:rPr lang="zh-CN" altLang="en-US" sz="1400" b="1" dirty="0">
                <a:solidFill>
                  <a:srgbClr val="0070C0"/>
                </a:solidFill>
                <a:latin typeface="微软雅黑" panose="020B0503020204020204" pitchFamily="34" charset="-122"/>
                <a:ea typeface="微软雅黑" panose="020B0503020204020204" pitchFamily="34" charset="-122"/>
              </a:rPr>
              <a:t>为了</a:t>
            </a:r>
            <a:r>
              <a:rPr lang="en-US" altLang="zh-CN" sz="1400" b="1" dirty="0" err="1">
                <a:solidFill>
                  <a:srgbClr val="0070C0"/>
                </a:solidFill>
                <a:latin typeface="微软雅黑" panose="020B0503020204020204" pitchFamily="34" charset="-122"/>
                <a:ea typeface="微软雅黑" panose="020B0503020204020204" pitchFamily="34" charset="-122"/>
              </a:rPr>
              <a:t>syslab</a:t>
            </a:r>
            <a:r>
              <a:rPr lang="zh-CN" altLang="en-US" sz="1400" b="1" dirty="0">
                <a:solidFill>
                  <a:srgbClr val="0070C0"/>
                </a:solidFill>
                <a:latin typeface="微软雅黑" panose="020B0503020204020204" pitchFamily="34" charset="-122"/>
                <a:ea typeface="微软雅黑" panose="020B0503020204020204" pitchFamily="34" charset="-122"/>
              </a:rPr>
              <a:t>与</a:t>
            </a:r>
            <a:r>
              <a:rPr lang="en-US" altLang="zh-CN" sz="1400" b="1" dirty="0" err="1">
                <a:solidFill>
                  <a:srgbClr val="0070C0"/>
                </a:solidFill>
                <a:latin typeface="微软雅黑" panose="020B0503020204020204" pitchFamily="34" charset="-122"/>
                <a:ea typeface="微软雅黑" panose="020B0503020204020204" pitchFamily="34" charset="-122"/>
              </a:rPr>
              <a:t>matlab</a:t>
            </a:r>
            <a:r>
              <a:rPr lang="zh-CN" altLang="en-US" sz="1400" b="1" dirty="0">
                <a:solidFill>
                  <a:srgbClr val="0070C0"/>
                </a:solidFill>
                <a:latin typeface="微软雅黑" panose="020B0503020204020204" pitchFamily="34" charset="-122"/>
                <a:ea typeface="微软雅黑" panose="020B0503020204020204" pitchFamily="34" charset="-122"/>
              </a:rPr>
              <a:t>代码共享，建议建立列向量都用分号；建议矩阵同行元素用空格</a:t>
            </a:r>
          </a:p>
        </p:txBody>
      </p:sp>
    </p:spTree>
    <p:extLst>
      <p:ext uri="{BB962C8B-B14F-4D97-AF65-F5344CB8AC3E}">
        <p14:creationId xmlns:p14="http://schemas.microsoft.com/office/powerpoint/2010/main" val="422324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xEl>
                                              <p:pRg st="1" end="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9" grpId="0" animBg="1"/>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640E6E7-AA1C-43BC-9CB2-B181487A137B}"/>
              </a:ext>
            </a:extLst>
          </p:cNvPr>
          <p:cNvSpPr>
            <a:spLocks noGrp="1"/>
          </p:cNvSpPr>
          <p:nvPr>
            <p:ph idx="1"/>
          </p:nvPr>
        </p:nvSpPr>
        <p:spPr>
          <a:xfrm>
            <a:off x="288194" y="1950665"/>
            <a:ext cx="6053270" cy="407291"/>
          </a:xfrm>
        </p:spPr>
        <p:txBody>
          <a:bodyPr/>
          <a:lstStyle/>
          <a:p>
            <a:pPr marL="457200" indent="-457200">
              <a:buFont typeface="+mj-ea"/>
              <a:buAutoNum type="circleNumDbPlain"/>
            </a:pPr>
            <a:r>
              <a:rPr lang="zh-CN" altLang="en-US" sz="2000" dirty="0">
                <a:latin typeface="微软雅黑" panose="020B0503020204020204" pitchFamily="34" charset="-122"/>
                <a:ea typeface="微软雅黑" panose="020B0503020204020204" pitchFamily="34" charset="-122"/>
              </a:rPr>
              <a:t>用空格进行横向</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列，第二维度</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拼接   </a:t>
            </a:r>
            <a:endParaRPr lang="en-US" altLang="zh-CN" sz="2000" dirty="0">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E8336179-4858-4AD4-BF09-7CCCCE097894}"/>
              </a:ext>
            </a:extLst>
          </p:cNvPr>
          <p:cNvSpPr txBox="1">
            <a:spLocks/>
          </p:cNvSpPr>
          <p:nvPr/>
        </p:nvSpPr>
        <p:spPr bwMode="auto">
          <a:xfrm>
            <a:off x="732288" y="44003"/>
            <a:ext cx="8127509" cy="547842"/>
          </a:xfrm>
          <a:prstGeom prst="rect">
            <a:avLst/>
          </a:prstGeom>
          <a:solidFill>
            <a:schemeClr val="bg1"/>
          </a:solid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600" kern="0" dirty="0">
                <a:latin typeface="Helvetica Neue"/>
              </a:rPr>
            </a:br>
            <a:r>
              <a:rPr lang="zh-CN" altLang="zh-CN" sz="2600" dirty="0">
                <a:ea typeface="等线" panose="02010600030101010101" pitchFamily="2" charset="-122"/>
                <a:cs typeface="Times New Roman" panose="02020603050405020304" pitchFamily="18" charset="0"/>
              </a:rPr>
              <a:t>§ </a:t>
            </a:r>
            <a:r>
              <a:rPr lang="en-US" altLang="zh-CN" sz="2600" dirty="0"/>
              <a:t>1.4.1.2 </a:t>
            </a:r>
            <a:r>
              <a:rPr lang="zh-CN" altLang="en-US" sz="2600" i="0" dirty="0">
                <a:effectLst/>
                <a:latin typeface="Helvetica Neue"/>
              </a:rPr>
              <a:t>创建二维</a:t>
            </a:r>
            <a:r>
              <a:rPr lang="zh-CN" altLang="en-US" sz="2600" dirty="0">
                <a:latin typeface="Helvetica Neue"/>
              </a:rPr>
              <a:t>矩阵</a:t>
            </a:r>
            <a:r>
              <a:rPr lang="en-US" altLang="zh-CN" sz="2600" dirty="0">
                <a:solidFill>
                  <a:srgbClr val="FF0000"/>
                </a:solidFill>
              </a:rPr>
              <a:t>———4. </a:t>
            </a:r>
            <a:r>
              <a:rPr lang="zh-CN" altLang="en-US" sz="2600" dirty="0">
                <a:solidFill>
                  <a:srgbClr val="FF0000"/>
                </a:solidFill>
              </a:rPr>
              <a:t>构造矩阵法拼接数组</a:t>
            </a:r>
            <a:r>
              <a:rPr lang="en-US" altLang="zh-CN" sz="2600" dirty="0">
                <a:solidFill>
                  <a:srgbClr val="FF0000"/>
                </a:solidFill>
              </a:rPr>
              <a:t>a</a:t>
            </a:r>
            <a:r>
              <a:rPr lang="zh-CN" altLang="en-US" sz="2600" dirty="0">
                <a:solidFill>
                  <a:srgbClr val="FF0000"/>
                </a:solidFill>
              </a:rPr>
              <a:t>和</a:t>
            </a:r>
            <a:r>
              <a:rPr lang="en-US" altLang="zh-CN" sz="2600" dirty="0">
                <a:solidFill>
                  <a:srgbClr val="FF0000"/>
                </a:solidFill>
              </a:rPr>
              <a:t>b</a:t>
            </a:r>
            <a:endParaRPr lang="zh-CN" altLang="en-US" sz="2600" dirty="0">
              <a:solidFill>
                <a:srgbClr val="FF0000"/>
              </a:solidFill>
            </a:endParaRPr>
          </a:p>
        </p:txBody>
      </p:sp>
      <p:sp>
        <p:nvSpPr>
          <p:cNvPr id="12" name="矩形 11">
            <a:extLst>
              <a:ext uri="{FF2B5EF4-FFF2-40B4-BE49-F238E27FC236}">
                <a16:creationId xmlns:a16="http://schemas.microsoft.com/office/drawing/2014/main" id="{5B87A9B3-2FC0-475C-BA63-19F9B8A8560D}"/>
              </a:ext>
            </a:extLst>
          </p:cNvPr>
          <p:cNvSpPr/>
          <p:nvPr/>
        </p:nvSpPr>
        <p:spPr>
          <a:xfrm>
            <a:off x="5407554" y="1995671"/>
            <a:ext cx="645749" cy="400110"/>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kern="0" dirty="0">
                <a:solidFill>
                  <a:schemeClr val="bg1"/>
                </a:solidFill>
              </a:rPr>
              <a:t>[a b]</a:t>
            </a:r>
            <a:endParaRPr lang="zh-CN" altLang="en-US" sz="2000" b="1" kern="0" dirty="0">
              <a:solidFill>
                <a:schemeClr val="bg1"/>
              </a:solidFill>
            </a:endParaRPr>
          </a:p>
        </p:txBody>
      </p:sp>
      <p:sp>
        <p:nvSpPr>
          <p:cNvPr id="13" name="矩形 12">
            <a:extLst>
              <a:ext uri="{FF2B5EF4-FFF2-40B4-BE49-F238E27FC236}">
                <a16:creationId xmlns:a16="http://schemas.microsoft.com/office/drawing/2014/main" id="{28276C3C-67E0-4189-BDA0-ACE1A1BB0D2C}"/>
              </a:ext>
            </a:extLst>
          </p:cNvPr>
          <p:cNvSpPr/>
          <p:nvPr/>
        </p:nvSpPr>
        <p:spPr>
          <a:xfrm>
            <a:off x="5323885" y="3937590"/>
            <a:ext cx="848601" cy="400110"/>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kern="0" dirty="0">
                <a:solidFill>
                  <a:schemeClr val="bg1"/>
                </a:solidFill>
              </a:rPr>
              <a:t>[a ; b]</a:t>
            </a:r>
            <a:endParaRPr lang="zh-CN" altLang="en-US" sz="2000" b="1" kern="0" dirty="0">
              <a:solidFill>
                <a:schemeClr val="bg1"/>
              </a:solidFill>
            </a:endParaRPr>
          </a:p>
        </p:txBody>
      </p:sp>
      <p:sp>
        <p:nvSpPr>
          <p:cNvPr id="16" name="矩形 15">
            <a:extLst>
              <a:ext uri="{FF2B5EF4-FFF2-40B4-BE49-F238E27FC236}">
                <a16:creationId xmlns:a16="http://schemas.microsoft.com/office/drawing/2014/main" id="{9DD81E59-D100-42DA-8107-6D8773DB79D6}"/>
              </a:ext>
            </a:extLst>
          </p:cNvPr>
          <p:cNvSpPr/>
          <p:nvPr/>
        </p:nvSpPr>
        <p:spPr>
          <a:xfrm>
            <a:off x="1143550" y="3079303"/>
            <a:ext cx="407484" cy="461665"/>
          </a:xfrm>
          <a:prstGeom prst="rect">
            <a:avLst/>
          </a:prstGeom>
        </p:spPr>
        <p:txBody>
          <a:bodyPr wrap="none">
            <a:spAutoFit/>
          </a:bodyPr>
          <a:lstStyle/>
          <a:p>
            <a:r>
              <a:rPr lang="en-US" altLang="zh-CN" sz="2400" b="1" dirty="0">
                <a:solidFill>
                  <a:srgbClr val="C00000"/>
                </a:solidFill>
                <a:highlight>
                  <a:srgbClr val="FFFF00"/>
                </a:highlight>
              </a:rPr>
              <a:t>A</a:t>
            </a:r>
            <a:endParaRPr lang="zh-CN" altLang="en-US" sz="2400" b="1" dirty="0">
              <a:solidFill>
                <a:srgbClr val="C00000"/>
              </a:solidFill>
              <a:highlight>
                <a:srgbClr val="FFFF00"/>
              </a:highlight>
            </a:endParaRPr>
          </a:p>
        </p:txBody>
      </p:sp>
      <p:sp>
        <p:nvSpPr>
          <p:cNvPr id="18" name="矩形 17">
            <a:extLst>
              <a:ext uri="{FF2B5EF4-FFF2-40B4-BE49-F238E27FC236}">
                <a16:creationId xmlns:a16="http://schemas.microsoft.com/office/drawing/2014/main" id="{F3005AFB-825D-4304-9813-2F82C99E02F1}"/>
              </a:ext>
            </a:extLst>
          </p:cNvPr>
          <p:cNvSpPr/>
          <p:nvPr/>
        </p:nvSpPr>
        <p:spPr>
          <a:xfrm>
            <a:off x="3056661" y="3057109"/>
            <a:ext cx="407484" cy="461665"/>
          </a:xfrm>
          <a:prstGeom prst="rect">
            <a:avLst/>
          </a:prstGeom>
        </p:spPr>
        <p:txBody>
          <a:bodyPr wrap="none">
            <a:spAutoFit/>
          </a:bodyPr>
          <a:lstStyle/>
          <a:p>
            <a:r>
              <a:rPr lang="en-US" altLang="zh-CN" sz="2400" b="1" dirty="0">
                <a:solidFill>
                  <a:srgbClr val="C00000"/>
                </a:solidFill>
                <a:highlight>
                  <a:srgbClr val="FFFF00"/>
                </a:highlight>
              </a:rPr>
              <a:t>B</a:t>
            </a:r>
            <a:endParaRPr lang="zh-CN" altLang="en-US" sz="2400" b="1" dirty="0">
              <a:solidFill>
                <a:srgbClr val="C00000"/>
              </a:solidFill>
              <a:highlight>
                <a:srgbClr val="FFFF00"/>
              </a:highlight>
            </a:endParaRPr>
          </a:p>
        </p:txBody>
      </p:sp>
      <p:sp>
        <p:nvSpPr>
          <p:cNvPr id="22" name="矩形 21">
            <a:extLst>
              <a:ext uri="{FF2B5EF4-FFF2-40B4-BE49-F238E27FC236}">
                <a16:creationId xmlns:a16="http://schemas.microsoft.com/office/drawing/2014/main" id="{49BF3931-1568-4E9F-A988-F9B61E6B0598}"/>
              </a:ext>
            </a:extLst>
          </p:cNvPr>
          <p:cNvSpPr/>
          <p:nvPr/>
        </p:nvSpPr>
        <p:spPr>
          <a:xfrm>
            <a:off x="2074392" y="3057109"/>
            <a:ext cx="364202" cy="461665"/>
          </a:xfrm>
          <a:prstGeom prst="rect">
            <a:avLst/>
          </a:prstGeom>
        </p:spPr>
        <p:txBody>
          <a:bodyPr wrap="none">
            <a:spAutoFit/>
          </a:bodyPr>
          <a:lstStyle/>
          <a:p>
            <a:r>
              <a:rPr lang="en-US" altLang="zh-CN" sz="2400" b="1" dirty="0">
                <a:solidFill>
                  <a:srgbClr val="C00000"/>
                </a:solidFill>
                <a:highlight>
                  <a:srgbClr val="FFFF00"/>
                </a:highlight>
              </a:rPr>
              <a:t>+</a:t>
            </a:r>
            <a:endParaRPr lang="zh-CN" altLang="en-US" sz="2400" b="1" dirty="0">
              <a:solidFill>
                <a:srgbClr val="C00000"/>
              </a:solidFill>
              <a:highlight>
                <a:srgbClr val="FFFF00"/>
              </a:highlight>
            </a:endParaRPr>
          </a:p>
        </p:txBody>
      </p:sp>
      <p:sp>
        <p:nvSpPr>
          <p:cNvPr id="23" name="矩形 22">
            <a:extLst>
              <a:ext uri="{FF2B5EF4-FFF2-40B4-BE49-F238E27FC236}">
                <a16:creationId xmlns:a16="http://schemas.microsoft.com/office/drawing/2014/main" id="{A94D3F66-32C8-4A65-8BDD-B06F402B613F}"/>
              </a:ext>
            </a:extLst>
          </p:cNvPr>
          <p:cNvSpPr/>
          <p:nvPr/>
        </p:nvSpPr>
        <p:spPr>
          <a:xfrm>
            <a:off x="3697799" y="3079303"/>
            <a:ext cx="364202" cy="461665"/>
          </a:xfrm>
          <a:prstGeom prst="rect">
            <a:avLst/>
          </a:prstGeom>
        </p:spPr>
        <p:txBody>
          <a:bodyPr wrap="none">
            <a:spAutoFit/>
          </a:bodyPr>
          <a:lstStyle/>
          <a:p>
            <a:r>
              <a:rPr lang="en-US" altLang="zh-CN" sz="2400" b="1" dirty="0">
                <a:solidFill>
                  <a:srgbClr val="C00000"/>
                </a:solidFill>
                <a:highlight>
                  <a:srgbClr val="FFFF00"/>
                </a:highlight>
              </a:rPr>
              <a:t>=</a:t>
            </a:r>
            <a:endParaRPr lang="zh-CN" altLang="en-US" sz="2400" b="1" dirty="0">
              <a:solidFill>
                <a:srgbClr val="C00000"/>
              </a:solidFill>
              <a:highlight>
                <a:srgbClr val="FFFF00"/>
              </a:highlight>
            </a:endParaRPr>
          </a:p>
        </p:txBody>
      </p:sp>
      <p:sp>
        <p:nvSpPr>
          <p:cNvPr id="24" name="内容占位符 2">
            <a:extLst>
              <a:ext uri="{FF2B5EF4-FFF2-40B4-BE49-F238E27FC236}">
                <a16:creationId xmlns:a16="http://schemas.microsoft.com/office/drawing/2014/main" id="{96C8663E-3DB8-4DF1-817F-B620BF0A9CE1}"/>
              </a:ext>
            </a:extLst>
          </p:cNvPr>
          <p:cNvSpPr txBox="1">
            <a:spLocks/>
          </p:cNvSpPr>
          <p:nvPr/>
        </p:nvSpPr>
        <p:spPr bwMode="auto">
          <a:xfrm>
            <a:off x="251520" y="3921699"/>
            <a:ext cx="5171230"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startAt="2"/>
            </a:pPr>
            <a:r>
              <a:rPr lang="zh-CN" altLang="en-US" sz="2000" kern="0" dirty="0">
                <a:latin typeface="微软雅黑" panose="020B0503020204020204" pitchFamily="34" charset="-122"/>
                <a:ea typeface="微软雅黑" panose="020B0503020204020204" pitchFamily="34" charset="-122"/>
              </a:rPr>
              <a:t>用分号进行纵向</a:t>
            </a:r>
            <a:r>
              <a:rPr lang="en-US" altLang="zh-CN" sz="2000" kern="0" dirty="0">
                <a:latin typeface="微软雅黑" panose="020B0503020204020204" pitchFamily="34" charset="-122"/>
                <a:ea typeface="微软雅黑" panose="020B0503020204020204" pitchFamily="34" charset="-122"/>
              </a:rPr>
              <a:t>(</a:t>
            </a:r>
            <a:r>
              <a:rPr lang="zh-CN" altLang="en-US" sz="2000" kern="0" dirty="0">
                <a:latin typeface="微软雅黑" panose="020B0503020204020204" pitchFamily="34" charset="-122"/>
                <a:ea typeface="微软雅黑" panose="020B0503020204020204" pitchFamily="34" charset="-122"/>
              </a:rPr>
              <a:t>行，第一维度</a:t>
            </a:r>
            <a:r>
              <a:rPr lang="en-US" altLang="zh-CN" sz="2000" kern="0" dirty="0">
                <a:latin typeface="微软雅黑" panose="020B0503020204020204" pitchFamily="34" charset="-122"/>
                <a:ea typeface="微软雅黑" panose="020B0503020204020204" pitchFamily="34" charset="-122"/>
              </a:rPr>
              <a:t>)</a:t>
            </a:r>
            <a:r>
              <a:rPr lang="zh-CN" altLang="en-US" sz="2000" kern="0" dirty="0">
                <a:latin typeface="微软雅黑" panose="020B0503020204020204" pitchFamily="34" charset="-122"/>
                <a:ea typeface="微软雅黑" panose="020B0503020204020204" pitchFamily="34" charset="-122"/>
              </a:rPr>
              <a:t>拼接</a:t>
            </a:r>
            <a:endParaRPr lang="en-US" altLang="zh-CN" sz="2000" kern="0"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2CAA11EE-E8C9-4E1A-9810-F39A9447887B}"/>
              </a:ext>
            </a:extLst>
          </p:cNvPr>
          <p:cNvSpPr txBox="1"/>
          <p:nvPr/>
        </p:nvSpPr>
        <p:spPr>
          <a:xfrm>
            <a:off x="4101786" y="2552370"/>
            <a:ext cx="1290377" cy="1200329"/>
          </a:xfrm>
          <a:prstGeom prst="rect">
            <a:avLst/>
          </a:prstGeom>
          <a:noFill/>
          <a:ln>
            <a:solidFill>
              <a:schemeClr val="bg2">
                <a:lumMod val="50000"/>
              </a:schemeClr>
            </a:solidFill>
          </a:ln>
        </p:spPr>
        <p:txBody>
          <a:bodyPr wrap="square">
            <a:spAutoFit/>
          </a:bodyPr>
          <a:lstStyle/>
          <a:p>
            <a:endParaRPr lang="en-US" altLang="zh-CN" sz="2400" dirty="0">
              <a:solidFill>
                <a:schemeClr val="bg1"/>
              </a:solidFill>
              <a:highlight>
                <a:srgbClr val="66CCFF"/>
              </a:highlight>
            </a:endParaRPr>
          </a:p>
          <a:p>
            <a:r>
              <a:rPr lang="zh-CN" altLang="en-US" sz="2400" dirty="0">
                <a:solidFill>
                  <a:schemeClr val="bg1"/>
                </a:solidFill>
                <a:highlight>
                  <a:srgbClr val="66CCFF"/>
                </a:highlight>
              </a:rPr>
              <a:t>1  3  1</a:t>
            </a:r>
          </a:p>
          <a:p>
            <a:r>
              <a:rPr lang="zh-CN" altLang="en-US" sz="2400" dirty="0">
                <a:solidFill>
                  <a:schemeClr val="bg1"/>
                </a:solidFill>
                <a:highlight>
                  <a:srgbClr val="66CCFF"/>
                </a:highlight>
              </a:rPr>
              <a:t>4  2  2</a:t>
            </a:r>
          </a:p>
        </p:txBody>
      </p:sp>
      <p:sp>
        <p:nvSpPr>
          <p:cNvPr id="26" name="文本框 25">
            <a:extLst>
              <a:ext uri="{FF2B5EF4-FFF2-40B4-BE49-F238E27FC236}">
                <a16:creationId xmlns:a16="http://schemas.microsoft.com/office/drawing/2014/main" id="{7D661ED9-26B2-4352-8226-2240A12BF0D3}"/>
              </a:ext>
            </a:extLst>
          </p:cNvPr>
          <p:cNvSpPr txBox="1"/>
          <p:nvPr/>
        </p:nvSpPr>
        <p:spPr>
          <a:xfrm>
            <a:off x="2501793" y="2552371"/>
            <a:ext cx="1121802" cy="1200329"/>
          </a:xfrm>
          <a:prstGeom prst="rect">
            <a:avLst/>
          </a:prstGeom>
          <a:noFill/>
          <a:ln>
            <a:solidFill>
              <a:schemeClr val="bg2">
                <a:lumMod val="50000"/>
              </a:schemeClr>
            </a:solidFill>
          </a:ln>
        </p:spPr>
        <p:txBody>
          <a:bodyPr wrap="square">
            <a:spAutoFit/>
          </a:bodyPr>
          <a:lstStyle/>
          <a:p>
            <a:r>
              <a:rPr lang="en-US" altLang="zh-CN" sz="2400" dirty="0"/>
              <a:t>B</a:t>
            </a:r>
            <a:r>
              <a:rPr lang="zh-CN" altLang="en-US" sz="2400" dirty="0"/>
              <a:t>=[1,2]</a:t>
            </a:r>
          </a:p>
          <a:p>
            <a:r>
              <a:rPr lang="zh-CN" altLang="en-US" sz="2400" dirty="0">
                <a:solidFill>
                  <a:schemeClr val="bg1"/>
                </a:solidFill>
                <a:highlight>
                  <a:srgbClr val="66CCFF"/>
                </a:highlight>
              </a:rPr>
              <a:t>1</a:t>
            </a:r>
          </a:p>
          <a:p>
            <a:r>
              <a:rPr lang="zh-CN" altLang="en-US" sz="2400" dirty="0">
                <a:solidFill>
                  <a:schemeClr val="bg1"/>
                </a:solidFill>
                <a:highlight>
                  <a:srgbClr val="66CCFF"/>
                </a:highlight>
              </a:rPr>
              <a:t>2</a:t>
            </a:r>
          </a:p>
        </p:txBody>
      </p:sp>
      <p:sp>
        <p:nvSpPr>
          <p:cNvPr id="27" name="文本框 26">
            <a:extLst>
              <a:ext uri="{FF2B5EF4-FFF2-40B4-BE49-F238E27FC236}">
                <a16:creationId xmlns:a16="http://schemas.microsoft.com/office/drawing/2014/main" id="{F24A8685-39D2-4FF3-9F4F-101975A2F98E}"/>
              </a:ext>
            </a:extLst>
          </p:cNvPr>
          <p:cNvSpPr txBox="1"/>
          <p:nvPr/>
        </p:nvSpPr>
        <p:spPr>
          <a:xfrm>
            <a:off x="395536" y="2531415"/>
            <a:ext cx="1747023" cy="1200329"/>
          </a:xfrm>
          <a:prstGeom prst="rect">
            <a:avLst/>
          </a:prstGeom>
          <a:noFill/>
          <a:ln>
            <a:solidFill>
              <a:schemeClr val="bg2">
                <a:lumMod val="50000"/>
              </a:schemeClr>
            </a:solidFill>
          </a:ln>
        </p:spPr>
        <p:txBody>
          <a:bodyPr wrap="square">
            <a:spAutoFit/>
          </a:bodyPr>
          <a:lstStyle/>
          <a:p>
            <a:pPr algn="r"/>
            <a:r>
              <a:rPr lang="en-US" altLang="zh-CN" sz="2400" dirty="0"/>
              <a:t>A</a:t>
            </a:r>
            <a:r>
              <a:rPr lang="zh-CN" altLang="en-US" sz="2400" dirty="0"/>
              <a:t>=magic(2)</a:t>
            </a:r>
          </a:p>
          <a:p>
            <a:pPr algn="r"/>
            <a:r>
              <a:rPr lang="zh-CN" altLang="en-US" sz="2400" dirty="0">
                <a:solidFill>
                  <a:schemeClr val="bg1"/>
                </a:solidFill>
                <a:highlight>
                  <a:srgbClr val="66CCFF"/>
                </a:highlight>
              </a:rPr>
              <a:t>1  3</a:t>
            </a:r>
          </a:p>
          <a:p>
            <a:pPr algn="r"/>
            <a:r>
              <a:rPr lang="zh-CN" altLang="en-US" sz="2400" dirty="0">
                <a:solidFill>
                  <a:schemeClr val="bg1"/>
                </a:solidFill>
                <a:highlight>
                  <a:srgbClr val="66CCFF"/>
                </a:highlight>
              </a:rPr>
              <a:t>4  2</a:t>
            </a:r>
          </a:p>
        </p:txBody>
      </p:sp>
      <p:sp>
        <p:nvSpPr>
          <p:cNvPr id="28" name="文本框 27">
            <a:extLst>
              <a:ext uri="{FF2B5EF4-FFF2-40B4-BE49-F238E27FC236}">
                <a16:creationId xmlns:a16="http://schemas.microsoft.com/office/drawing/2014/main" id="{940FCE6B-AD52-418B-9B97-3C867431F200}"/>
              </a:ext>
            </a:extLst>
          </p:cNvPr>
          <p:cNvSpPr txBox="1"/>
          <p:nvPr/>
        </p:nvSpPr>
        <p:spPr>
          <a:xfrm>
            <a:off x="7147829" y="2225022"/>
            <a:ext cx="1735221" cy="923330"/>
          </a:xfrm>
          <a:prstGeom prst="rect">
            <a:avLst/>
          </a:prstGeom>
          <a:noFill/>
          <a:ln>
            <a:solidFill>
              <a:schemeClr val="bg1">
                <a:lumMod val="50000"/>
              </a:schemeClr>
            </a:solidFill>
          </a:ln>
        </p:spPr>
        <p:txBody>
          <a:bodyPr wrap="square">
            <a:spAutoFit/>
          </a:bodyPr>
          <a:lstStyle/>
          <a:p>
            <a:r>
              <a:rPr lang="zh-CN" altLang="en-US" dirty="0"/>
              <a:t>b=pascal(2)</a:t>
            </a:r>
          </a:p>
          <a:p>
            <a:r>
              <a:rPr lang="zh-CN" altLang="en-US" dirty="0">
                <a:solidFill>
                  <a:schemeClr val="bg1"/>
                </a:solidFill>
                <a:highlight>
                  <a:srgbClr val="66CCFF"/>
                </a:highlight>
              </a:rPr>
              <a:t> 1  1</a:t>
            </a:r>
          </a:p>
          <a:p>
            <a:r>
              <a:rPr lang="zh-CN" altLang="en-US" dirty="0">
                <a:solidFill>
                  <a:schemeClr val="bg1"/>
                </a:solidFill>
                <a:highlight>
                  <a:srgbClr val="66CCFF"/>
                </a:highlight>
              </a:rPr>
              <a:t> 1  2</a:t>
            </a:r>
          </a:p>
        </p:txBody>
      </p:sp>
      <p:sp>
        <p:nvSpPr>
          <p:cNvPr id="29" name="文本框 28">
            <a:extLst>
              <a:ext uri="{FF2B5EF4-FFF2-40B4-BE49-F238E27FC236}">
                <a16:creationId xmlns:a16="http://schemas.microsoft.com/office/drawing/2014/main" id="{2B397A73-E5FC-48FD-AFCA-C1C95932C32B}"/>
              </a:ext>
            </a:extLst>
          </p:cNvPr>
          <p:cNvSpPr txBox="1"/>
          <p:nvPr/>
        </p:nvSpPr>
        <p:spPr>
          <a:xfrm>
            <a:off x="7115899" y="1108374"/>
            <a:ext cx="1747023" cy="923330"/>
          </a:xfrm>
          <a:prstGeom prst="rect">
            <a:avLst/>
          </a:prstGeom>
          <a:noFill/>
          <a:ln>
            <a:solidFill>
              <a:schemeClr val="bg2">
                <a:lumMod val="50000"/>
              </a:schemeClr>
            </a:solidFill>
          </a:ln>
        </p:spPr>
        <p:txBody>
          <a:bodyPr wrap="square">
            <a:spAutoFit/>
          </a:bodyPr>
          <a:lstStyle>
            <a:defPPr>
              <a:defRPr lang="zh-CN"/>
            </a:defPPr>
            <a:lvl1pPr>
              <a:defRPr sz="2400"/>
            </a:lvl1pPr>
          </a:lstStyle>
          <a:p>
            <a:r>
              <a:rPr lang="zh-CN" altLang="en-US" sz="1800" dirty="0"/>
              <a:t>a=magic(2)</a:t>
            </a:r>
          </a:p>
          <a:p>
            <a:r>
              <a:rPr lang="zh-CN" altLang="en-US" sz="1800" dirty="0">
                <a:solidFill>
                  <a:schemeClr val="bg1"/>
                </a:solidFill>
                <a:highlight>
                  <a:srgbClr val="66CCFF"/>
                </a:highlight>
              </a:rPr>
              <a:t>1  3</a:t>
            </a:r>
          </a:p>
          <a:p>
            <a:r>
              <a:rPr lang="zh-CN" altLang="en-US" sz="1800" dirty="0">
                <a:solidFill>
                  <a:schemeClr val="bg1"/>
                </a:solidFill>
                <a:highlight>
                  <a:srgbClr val="66CCFF"/>
                </a:highlight>
              </a:rPr>
              <a:t>4  2</a:t>
            </a:r>
          </a:p>
        </p:txBody>
      </p:sp>
      <p:sp>
        <p:nvSpPr>
          <p:cNvPr id="31" name="文本框 30">
            <a:extLst>
              <a:ext uri="{FF2B5EF4-FFF2-40B4-BE49-F238E27FC236}">
                <a16:creationId xmlns:a16="http://schemas.microsoft.com/office/drawing/2014/main" id="{7358F984-B790-4667-B1EF-1B3EC436F632}"/>
              </a:ext>
            </a:extLst>
          </p:cNvPr>
          <p:cNvSpPr txBox="1"/>
          <p:nvPr/>
        </p:nvSpPr>
        <p:spPr>
          <a:xfrm>
            <a:off x="7145457" y="3383337"/>
            <a:ext cx="1747023" cy="1200329"/>
          </a:xfrm>
          <a:prstGeom prst="rect">
            <a:avLst/>
          </a:prstGeom>
          <a:noFill/>
          <a:ln>
            <a:solidFill>
              <a:schemeClr val="bg1">
                <a:lumMod val="50000"/>
              </a:schemeClr>
            </a:solidFill>
          </a:ln>
        </p:spPr>
        <p:txBody>
          <a:bodyPr wrap="square">
            <a:spAutoFit/>
          </a:bodyPr>
          <a:lstStyle/>
          <a:p>
            <a:r>
              <a:rPr lang="zh-CN" altLang="en-US" dirty="0">
                <a:solidFill>
                  <a:schemeClr val="bg1"/>
                </a:solidFill>
                <a:highlight>
                  <a:srgbClr val="66CCFF"/>
                </a:highlight>
              </a:rPr>
              <a:t> 1  3 </a:t>
            </a:r>
          </a:p>
          <a:p>
            <a:r>
              <a:rPr lang="zh-CN" altLang="en-US" dirty="0">
                <a:solidFill>
                  <a:schemeClr val="bg1"/>
                </a:solidFill>
                <a:highlight>
                  <a:srgbClr val="66CCFF"/>
                </a:highlight>
              </a:rPr>
              <a:t> 4  2</a:t>
            </a:r>
          </a:p>
          <a:p>
            <a:r>
              <a:rPr lang="zh-CN" altLang="en-US" dirty="0">
                <a:solidFill>
                  <a:schemeClr val="bg1"/>
                </a:solidFill>
                <a:highlight>
                  <a:srgbClr val="66CCFF"/>
                </a:highlight>
              </a:rPr>
              <a:t> 1  1</a:t>
            </a:r>
          </a:p>
          <a:p>
            <a:r>
              <a:rPr lang="zh-CN" altLang="en-US" dirty="0">
                <a:solidFill>
                  <a:schemeClr val="bg1"/>
                </a:solidFill>
                <a:highlight>
                  <a:srgbClr val="66CCFF"/>
                </a:highlight>
              </a:rPr>
              <a:t> 1  2</a:t>
            </a:r>
          </a:p>
        </p:txBody>
      </p:sp>
      <p:sp>
        <p:nvSpPr>
          <p:cNvPr id="32" name="矩形 31">
            <a:extLst>
              <a:ext uri="{FF2B5EF4-FFF2-40B4-BE49-F238E27FC236}">
                <a16:creationId xmlns:a16="http://schemas.microsoft.com/office/drawing/2014/main" id="{2B7E8328-D86F-45F4-9D3C-D5072EEB399B}"/>
              </a:ext>
            </a:extLst>
          </p:cNvPr>
          <p:cNvSpPr/>
          <p:nvPr/>
        </p:nvSpPr>
        <p:spPr>
          <a:xfrm>
            <a:off x="7675773" y="1924473"/>
            <a:ext cx="341760" cy="415498"/>
          </a:xfrm>
          <a:prstGeom prst="rect">
            <a:avLst/>
          </a:prstGeom>
        </p:spPr>
        <p:txBody>
          <a:bodyPr wrap="none">
            <a:spAutoFit/>
          </a:bodyPr>
          <a:lstStyle/>
          <a:p>
            <a:r>
              <a:rPr lang="en-US" altLang="zh-CN" sz="2100" b="1" dirty="0">
                <a:solidFill>
                  <a:srgbClr val="C00000"/>
                </a:solidFill>
                <a:highlight>
                  <a:srgbClr val="FFFF00"/>
                </a:highlight>
              </a:rPr>
              <a:t>+</a:t>
            </a:r>
            <a:endParaRPr lang="zh-CN" altLang="en-US" sz="2100" b="1" dirty="0">
              <a:solidFill>
                <a:srgbClr val="C00000"/>
              </a:solidFill>
              <a:highlight>
                <a:srgbClr val="FFFF00"/>
              </a:highlight>
            </a:endParaRPr>
          </a:p>
        </p:txBody>
      </p:sp>
      <p:sp>
        <p:nvSpPr>
          <p:cNvPr id="33" name="矩形 32">
            <a:extLst>
              <a:ext uri="{FF2B5EF4-FFF2-40B4-BE49-F238E27FC236}">
                <a16:creationId xmlns:a16="http://schemas.microsoft.com/office/drawing/2014/main" id="{4FD72F53-C2D0-4B70-B4E6-D49BDC073A63}"/>
              </a:ext>
            </a:extLst>
          </p:cNvPr>
          <p:cNvSpPr/>
          <p:nvPr/>
        </p:nvSpPr>
        <p:spPr>
          <a:xfrm rot="5400000">
            <a:off x="7691355" y="3053819"/>
            <a:ext cx="341760" cy="415498"/>
          </a:xfrm>
          <a:prstGeom prst="rect">
            <a:avLst/>
          </a:prstGeom>
        </p:spPr>
        <p:txBody>
          <a:bodyPr wrap="none">
            <a:spAutoFit/>
          </a:bodyPr>
          <a:lstStyle/>
          <a:p>
            <a:r>
              <a:rPr lang="en-US" altLang="zh-CN" sz="2100" b="1" dirty="0">
                <a:solidFill>
                  <a:srgbClr val="C00000"/>
                </a:solidFill>
                <a:highlight>
                  <a:srgbClr val="FFFF00"/>
                </a:highlight>
              </a:rPr>
              <a:t>=</a:t>
            </a:r>
            <a:endParaRPr lang="zh-CN" altLang="en-US" sz="2100" b="1" dirty="0">
              <a:solidFill>
                <a:srgbClr val="C00000"/>
              </a:solidFill>
              <a:highlight>
                <a:srgbClr val="FFFF00"/>
              </a:highlight>
            </a:endParaRPr>
          </a:p>
        </p:txBody>
      </p:sp>
      <p:sp>
        <p:nvSpPr>
          <p:cNvPr id="35" name="文本框 34">
            <a:extLst>
              <a:ext uri="{FF2B5EF4-FFF2-40B4-BE49-F238E27FC236}">
                <a16:creationId xmlns:a16="http://schemas.microsoft.com/office/drawing/2014/main" id="{D19239CE-93F0-441B-8B26-6DD3B06B11A9}"/>
              </a:ext>
            </a:extLst>
          </p:cNvPr>
          <p:cNvSpPr txBox="1"/>
          <p:nvPr/>
        </p:nvSpPr>
        <p:spPr>
          <a:xfrm>
            <a:off x="7742236" y="755511"/>
            <a:ext cx="1201596" cy="369332"/>
          </a:xfrm>
          <a:prstGeom prst="rect">
            <a:avLst/>
          </a:prstGeom>
          <a:noFill/>
        </p:spPr>
        <p:txBody>
          <a:bodyPr wrap="square">
            <a:spAutoFit/>
          </a:bodyPr>
          <a:lstStyle/>
          <a:p>
            <a:pPr algn="dist"/>
            <a:r>
              <a:rPr lang="zh-CN" altLang="en-US" sz="1800" dirty="0">
                <a:solidFill>
                  <a:srgbClr val="FFFF00"/>
                </a:solidFill>
                <a:highlight>
                  <a:srgbClr val="FF0000"/>
                </a:highlight>
              </a:rPr>
              <a:t>ab=[a;b]</a:t>
            </a:r>
          </a:p>
        </p:txBody>
      </p:sp>
      <p:sp>
        <p:nvSpPr>
          <p:cNvPr id="37" name="文本框 36">
            <a:extLst>
              <a:ext uri="{FF2B5EF4-FFF2-40B4-BE49-F238E27FC236}">
                <a16:creationId xmlns:a16="http://schemas.microsoft.com/office/drawing/2014/main" id="{F5F13019-8E12-4CCD-92A5-84FD89E69D4A}"/>
              </a:ext>
            </a:extLst>
          </p:cNvPr>
          <p:cNvSpPr txBox="1"/>
          <p:nvPr/>
        </p:nvSpPr>
        <p:spPr>
          <a:xfrm>
            <a:off x="4072507" y="2526729"/>
            <a:ext cx="1177866" cy="400110"/>
          </a:xfrm>
          <a:prstGeom prst="rect">
            <a:avLst/>
          </a:prstGeom>
          <a:noFill/>
        </p:spPr>
        <p:txBody>
          <a:bodyPr wrap="square">
            <a:spAutoFit/>
          </a:bodyPr>
          <a:lstStyle/>
          <a:p>
            <a:r>
              <a:rPr lang="en-US" altLang="zh-CN" sz="2000" dirty="0">
                <a:solidFill>
                  <a:srgbClr val="FFFF00"/>
                </a:solidFill>
                <a:highlight>
                  <a:srgbClr val="FF0000"/>
                </a:highlight>
              </a:rPr>
              <a:t>AB</a:t>
            </a:r>
            <a:r>
              <a:rPr lang="zh-CN" altLang="en-US" sz="2000" dirty="0">
                <a:solidFill>
                  <a:srgbClr val="FFFF00"/>
                </a:solidFill>
                <a:highlight>
                  <a:srgbClr val="FF0000"/>
                </a:highlight>
              </a:rPr>
              <a:t>=[a b]</a:t>
            </a:r>
          </a:p>
        </p:txBody>
      </p:sp>
      <p:sp>
        <p:nvSpPr>
          <p:cNvPr id="34" name="文本框 33">
            <a:extLst>
              <a:ext uri="{FF2B5EF4-FFF2-40B4-BE49-F238E27FC236}">
                <a16:creationId xmlns:a16="http://schemas.microsoft.com/office/drawing/2014/main" id="{3DB27A76-3ADA-43F4-86A6-B84A51E80874}"/>
              </a:ext>
            </a:extLst>
          </p:cNvPr>
          <p:cNvSpPr txBox="1"/>
          <p:nvPr/>
        </p:nvSpPr>
        <p:spPr>
          <a:xfrm>
            <a:off x="7684935" y="1539720"/>
            <a:ext cx="504401" cy="369332"/>
          </a:xfrm>
          <a:prstGeom prst="rect">
            <a:avLst/>
          </a:prstGeom>
          <a:noFill/>
        </p:spPr>
        <p:txBody>
          <a:bodyPr wrap="square">
            <a:spAutoFit/>
          </a:bodyPr>
          <a:lstStyle/>
          <a:p>
            <a:r>
              <a:rPr lang="en-US" altLang="zh-CN" sz="1800" b="1" dirty="0">
                <a:solidFill>
                  <a:srgbClr val="C00000"/>
                </a:solidFill>
                <a:highlight>
                  <a:srgbClr val="FFFF00"/>
                </a:highlight>
              </a:rPr>
              <a:t>a</a:t>
            </a:r>
            <a:endParaRPr lang="zh-CN" altLang="en-US" dirty="0"/>
          </a:p>
        </p:txBody>
      </p:sp>
      <p:sp>
        <p:nvSpPr>
          <p:cNvPr id="36" name="文本框 35">
            <a:extLst>
              <a:ext uri="{FF2B5EF4-FFF2-40B4-BE49-F238E27FC236}">
                <a16:creationId xmlns:a16="http://schemas.microsoft.com/office/drawing/2014/main" id="{760C4BA8-34E6-43A1-AA6D-BDB32E86A27D}"/>
              </a:ext>
            </a:extLst>
          </p:cNvPr>
          <p:cNvSpPr txBox="1"/>
          <p:nvPr/>
        </p:nvSpPr>
        <p:spPr>
          <a:xfrm>
            <a:off x="7700965" y="2676366"/>
            <a:ext cx="504401" cy="369332"/>
          </a:xfrm>
          <a:prstGeom prst="rect">
            <a:avLst/>
          </a:prstGeom>
          <a:noFill/>
        </p:spPr>
        <p:txBody>
          <a:bodyPr wrap="square">
            <a:spAutoFit/>
          </a:bodyPr>
          <a:lstStyle/>
          <a:p>
            <a:r>
              <a:rPr lang="en-US" altLang="zh-CN" sz="1800" b="1" dirty="0">
                <a:solidFill>
                  <a:srgbClr val="C00000"/>
                </a:solidFill>
                <a:highlight>
                  <a:srgbClr val="FFFF00"/>
                </a:highlight>
              </a:rPr>
              <a:t>b</a:t>
            </a:r>
            <a:endParaRPr lang="zh-CN" altLang="en-US" dirty="0"/>
          </a:p>
        </p:txBody>
      </p:sp>
      <p:sp>
        <p:nvSpPr>
          <p:cNvPr id="39" name="文本框 38">
            <a:extLst>
              <a:ext uri="{FF2B5EF4-FFF2-40B4-BE49-F238E27FC236}">
                <a16:creationId xmlns:a16="http://schemas.microsoft.com/office/drawing/2014/main" id="{B6A98300-68DE-4D59-AA6C-F2A0A427AD00}"/>
              </a:ext>
            </a:extLst>
          </p:cNvPr>
          <p:cNvSpPr txBox="1"/>
          <p:nvPr/>
        </p:nvSpPr>
        <p:spPr>
          <a:xfrm>
            <a:off x="7700965" y="3570477"/>
            <a:ext cx="504401" cy="369332"/>
          </a:xfrm>
          <a:prstGeom prst="rect">
            <a:avLst/>
          </a:prstGeom>
          <a:noFill/>
        </p:spPr>
        <p:txBody>
          <a:bodyPr wrap="square">
            <a:spAutoFit/>
          </a:bodyPr>
          <a:lstStyle/>
          <a:p>
            <a:r>
              <a:rPr lang="en-US" altLang="zh-CN" sz="1800" b="1" dirty="0">
                <a:solidFill>
                  <a:srgbClr val="C00000"/>
                </a:solidFill>
                <a:highlight>
                  <a:srgbClr val="FFFF00"/>
                </a:highlight>
              </a:rPr>
              <a:t>a</a:t>
            </a:r>
            <a:endParaRPr lang="zh-CN" altLang="en-US" dirty="0"/>
          </a:p>
        </p:txBody>
      </p:sp>
      <p:sp>
        <p:nvSpPr>
          <p:cNvPr id="40" name="文本框 39">
            <a:extLst>
              <a:ext uri="{FF2B5EF4-FFF2-40B4-BE49-F238E27FC236}">
                <a16:creationId xmlns:a16="http://schemas.microsoft.com/office/drawing/2014/main" id="{328E92EB-9102-48BF-93B4-51CFC9556E23}"/>
              </a:ext>
            </a:extLst>
          </p:cNvPr>
          <p:cNvSpPr txBox="1"/>
          <p:nvPr/>
        </p:nvSpPr>
        <p:spPr>
          <a:xfrm>
            <a:off x="7737209" y="4168743"/>
            <a:ext cx="504401" cy="369332"/>
          </a:xfrm>
          <a:prstGeom prst="rect">
            <a:avLst/>
          </a:prstGeom>
          <a:noFill/>
        </p:spPr>
        <p:txBody>
          <a:bodyPr wrap="square">
            <a:spAutoFit/>
          </a:bodyPr>
          <a:lstStyle/>
          <a:p>
            <a:r>
              <a:rPr lang="en-US" altLang="zh-CN" sz="1800" b="1" dirty="0">
                <a:solidFill>
                  <a:srgbClr val="C00000"/>
                </a:solidFill>
                <a:highlight>
                  <a:srgbClr val="FFFF00"/>
                </a:highlight>
              </a:rPr>
              <a:t>b</a:t>
            </a:r>
            <a:endParaRPr lang="zh-CN" altLang="en-US" dirty="0"/>
          </a:p>
        </p:txBody>
      </p:sp>
      <p:sp>
        <p:nvSpPr>
          <p:cNvPr id="4" name="矩形: 圆角 3">
            <a:extLst>
              <a:ext uri="{FF2B5EF4-FFF2-40B4-BE49-F238E27FC236}">
                <a16:creationId xmlns:a16="http://schemas.microsoft.com/office/drawing/2014/main" id="{EC6E1FDC-67F5-4627-B63C-3C76607E5387}"/>
              </a:ext>
            </a:extLst>
          </p:cNvPr>
          <p:cNvSpPr/>
          <p:nvPr/>
        </p:nvSpPr>
        <p:spPr bwMode="auto">
          <a:xfrm>
            <a:off x="4194828" y="2958777"/>
            <a:ext cx="472468" cy="745505"/>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41" name="矩形: 圆角 40">
            <a:extLst>
              <a:ext uri="{FF2B5EF4-FFF2-40B4-BE49-F238E27FC236}">
                <a16:creationId xmlns:a16="http://schemas.microsoft.com/office/drawing/2014/main" id="{B6103EDB-65A4-4952-BB70-56DAAF715EF5}"/>
              </a:ext>
            </a:extLst>
          </p:cNvPr>
          <p:cNvSpPr/>
          <p:nvPr/>
        </p:nvSpPr>
        <p:spPr bwMode="auto">
          <a:xfrm>
            <a:off x="4682794" y="2953732"/>
            <a:ext cx="391928" cy="745505"/>
          </a:xfrm>
          <a:prstGeom prst="round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9" name="矩形 18">
            <a:extLst>
              <a:ext uri="{FF2B5EF4-FFF2-40B4-BE49-F238E27FC236}">
                <a16:creationId xmlns:a16="http://schemas.microsoft.com/office/drawing/2014/main" id="{44A607CD-C0F8-46D8-B51F-1588F1100E06}"/>
              </a:ext>
            </a:extLst>
          </p:cNvPr>
          <p:cNvSpPr/>
          <p:nvPr/>
        </p:nvSpPr>
        <p:spPr>
          <a:xfrm>
            <a:off x="4278741" y="3103275"/>
            <a:ext cx="351378" cy="369332"/>
          </a:xfrm>
          <a:prstGeom prst="rect">
            <a:avLst/>
          </a:prstGeom>
        </p:spPr>
        <p:txBody>
          <a:bodyPr wrap="none">
            <a:spAutoFit/>
          </a:bodyPr>
          <a:lstStyle/>
          <a:p>
            <a:r>
              <a:rPr lang="en-US" altLang="zh-CN" b="1" dirty="0">
                <a:solidFill>
                  <a:srgbClr val="C00000"/>
                </a:solidFill>
                <a:highlight>
                  <a:srgbClr val="FFFF00"/>
                </a:highlight>
              </a:rPr>
              <a:t>A</a:t>
            </a:r>
            <a:endParaRPr lang="zh-CN" altLang="en-US" b="1" dirty="0">
              <a:solidFill>
                <a:srgbClr val="C00000"/>
              </a:solidFill>
              <a:highlight>
                <a:srgbClr val="FFFF00"/>
              </a:highlight>
            </a:endParaRPr>
          </a:p>
        </p:txBody>
      </p:sp>
      <p:sp>
        <p:nvSpPr>
          <p:cNvPr id="42" name="矩形 41">
            <a:extLst>
              <a:ext uri="{FF2B5EF4-FFF2-40B4-BE49-F238E27FC236}">
                <a16:creationId xmlns:a16="http://schemas.microsoft.com/office/drawing/2014/main" id="{4DD759B4-A5B6-4B72-8164-7FC10B296FC9}"/>
              </a:ext>
            </a:extLst>
          </p:cNvPr>
          <p:cNvSpPr/>
          <p:nvPr/>
        </p:nvSpPr>
        <p:spPr>
          <a:xfrm>
            <a:off x="4719660" y="3127532"/>
            <a:ext cx="351378" cy="369332"/>
          </a:xfrm>
          <a:prstGeom prst="rect">
            <a:avLst/>
          </a:prstGeom>
        </p:spPr>
        <p:txBody>
          <a:bodyPr wrap="none">
            <a:spAutoFit/>
          </a:bodyPr>
          <a:lstStyle/>
          <a:p>
            <a:r>
              <a:rPr lang="en-US" altLang="zh-CN" b="1" dirty="0">
                <a:solidFill>
                  <a:srgbClr val="C00000"/>
                </a:solidFill>
                <a:highlight>
                  <a:srgbClr val="FFFF00"/>
                </a:highlight>
              </a:rPr>
              <a:t>B</a:t>
            </a:r>
            <a:endParaRPr lang="zh-CN" altLang="en-US" b="1" dirty="0">
              <a:solidFill>
                <a:srgbClr val="C00000"/>
              </a:solidFill>
              <a:highlight>
                <a:srgbClr val="FFFF00"/>
              </a:highlight>
            </a:endParaRPr>
          </a:p>
        </p:txBody>
      </p:sp>
      <p:sp>
        <p:nvSpPr>
          <p:cNvPr id="44" name="文本框 43">
            <a:extLst>
              <a:ext uri="{FF2B5EF4-FFF2-40B4-BE49-F238E27FC236}">
                <a16:creationId xmlns:a16="http://schemas.microsoft.com/office/drawing/2014/main" id="{74001B64-C1B8-4975-BA51-71CA4266B4EF}"/>
              </a:ext>
            </a:extLst>
          </p:cNvPr>
          <p:cNvSpPr txBox="1"/>
          <p:nvPr/>
        </p:nvSpPr>
        <p:spPr>
          <a:xfrm>
            <a:off x="444254" y="834072"/>
            <a:ext cx="6609433" cy="400110"/>
          </a:xfrm>
          <a:prstGeom prst="rect">
            <a:avLst/>
          </a:prstGeom>
          <a:noFill/>
        </p:spPr>
        <p:txBody>
          <a:bodyPr wrap="square">
            <a:spAutoFit/>
          </a:bodyPr>
          <a:lstStyle/>
          <a:p>
            <a:pPr marL="0" indent="0" algn="dist">
              <a:buNone/>
            </a:pPr>
            <a:r>
              <a:rPr lang="zh-CN" altLang="en-US" sz="2000" kern="0" dirty="0">
                <a:solidFill>
                  <a:srgbClr val="0070C0"/>
                </a:solidFill>
                <a:latin typeface="微软雅黑" panose="020B0503020204020204" pitchFamily="34" charset="-122"/>
                <a:ea typeface="微软雅黑" panose="020B0503020204020204" pitchFamily="34" charset="-122"/>
              </a:rPr>
              <a:t>矩阵原则：同行元素用空格分隔，不同行元素用分号分隔</a:t>
            </a:r>
          </a:p>
        </p:txBody>
      </p:sp>
      <p:sp>
        <p:nvSpPr>
          <p:cNvPr id="46" name="内容占位符 2">
            <a:extLst>
              <a:ext uri="{FF2B5EF4-FFF2-40B4-BE49-F238E27FC236}">
                <a16:creationId xmlns:a16="http://schemas.microsoft.com/office/drawing/2014/main" id="{5703050C-AA64-4E18-B50F-507FF709ADC8}"/>
              </a:ext>
            </a:extLst>
          </p:cNvPr>
          <p:cNvSpPr txBox="1">
            <a:spLocks/>
          </p:cNvSpPr>
          <p:nvPr/>
        </p:nvSpPr>
        <p:spPr bwMode="auto">
          <a:xfrm>
            <a:off x="444254" y="1371472"/>
            <a:ext cx="6053270"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None/>
            </a:pPr>
            <a:r>
              <a:rPr lang="zh-CN" altLang="en-US" sz="2000" dirty="0">
                <a:solidFill>
                  <a:srgbClr val="0070C0"/>
                </a:solidFill>
                <a:latin typeface="微软雅黑" panose="020B0503020204020204" pitchFamily="34" charset="-122"/>
                <a:ea typeface="微软雅黑" panose="020B0503020204020204" pitchFamily="34" charset="-122"/>
              </a:rPr>
              <a:t>用</a:t>
            </a:r>
            <a:r>
              <a:rPr lang="en-US" altLang="zh-CN" sz="2000" dirty="0">
                <a:solidFill>
                  <a:srgbClr val="0070C0"/>
                </a:solidFill>
                <a:latin typeface="微软雅黑" panose="020B0503020204020204" pitchFamily="34" charset="-122"/>
                <a:ea typeface="微软雅黑" panose="020B0503020204020204" pitchFamily="34" charset="-122"/>
              </a:rPr>
              <a:t>[ ]</a:t>
            </a:r>
            <a:r>
              <a:rPr lang="zh-CN" altLang="en-US" sz="2000" dirty="0">
                <a:solidFill>
                  <a:srgbClr val="0070C0"/>
                </a:solidFill>
                <a:latin typeface="微软雅黑" panose="020B0503020204020204" pitchFamily="34" charset="-122"/>
                <a:ea typeface="微软雅黑" panose="020B0503020204020204" pitchFamily="34" charset="-122"/>
              </a:rPr>
              <a:t>构造矩阵</a:t>
            </a:r>
            <a:r>
              <a:rPr lang="en-US" altLang="zh-CN" sz="2000" dirty="0">
                <a:solidFill>
                  <a:srgbClr val="0070C0"/>
                </a:solidFill>
                <a:latin typeface="微软雅黑" panose="020B0503020204020204" pitchFamily="34" charset="-122"/>
                <a:ea typeface="微软雅黑" panose="020B0503020204020204" pitchFamily="34" charset="-122"/>
              </a:rPr>
              <a:t>:</a:t>
            </a:r>
          </a:p>
        </p:txBody>
      </p:sp>
      <p:sp>
        <p:nvSpPr>
          <p:cNvPr id="47" name="内容占位符 2">
            <a:extLst>
              <a:ext uri="{FF2B5EF4-FFF2-40B4-BE49-F238E27FC236}">
                <a16:creationId xmlns:a16="http://schemas.microsoft.com/office/drawing/2014/main" id="{D3C481DD-0674-48D8-90FF-BA3F339D4490}"/>
              </a:ext>
            </a:extLst>
          </p:cNvPr>
          <p:cNvSpPr txBox="1">
            <a:spLocks/>
          </p:cNvSpPr>
          <p:nvPr/>
        </p:nvSpPr>
        <p:spPr bwMode="auto">
          <a:xfrm>
            <a:off x="2180257" y="1396139"/>
            <a:ext cx="4533595"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gn="dist">
              <a:buNone/>
            </a:pPr>
            <a:r>
              <a:rPr lang="zh-CN" altLang="en-US" sz="2000" dirty="0">
                <a:solidFill>
                  <a:srgbClr val="0070C0"/>
                </a:solidFill>
                <a:latin typeface="微软雅黑" panose="020B0503020204020204" pitchFamily="34" charset="-122"/>
                <a:ea typeface="微软雅黑" panose="020B0503020204020204" pitchFamily="34" charset="-122"/>
              </a:rPr>
              <a:t>采用空格和分号对数组</a:t>
            </a:r>
            <a:r>
              <a:rPr lang="en-US" altLang="zh-CN" sz="2000" dirty="0">
                <a:solidFill>
                  <a:srgbClr val="0070C0"/>
                </a:solidFill>
                <a:latin typeface="微软雅黑" panose="020B0503020204020204" pitchFamily="34" charset="-122"/>
                <a:ea typeface="微软雅黑" panose="020B0503020204020204" pitchFamily="34" charset="-122"/>
              </a:rPr>
              <a:t>a</a:t>
            </a:r>
            <a:r>
              <a:rPr lang="zh-CN" altLang="en-US" sz="2000" dirty="0">
                <a:solidFill>
                  <a:srgbClr val="0070C0"/>
                </a:solidFill>
                <a:latin typeface="微软雅黑" panose="020B0503020204020204" pitchFamily="34" charset="-122"/>
                <a:ea typeface="微软雅黑" panose="020B0503020204020204" pitchFamily="34" charset="-122"/>
              </a:rPr>
              <a:t>和数组</a:t>
            </a:r>
            <a:r>
              <a:rPr lang="en-US" altLang="zh-CN" sz="2000" dirty="0">
                <a:solidFill>
                  <a:srgbClr val="0070C0"/>
                </a:solidFill>
                <a:latin typeface="微软雅黑" panose="020B0503020204020204" pitchFamily="34" charset="-122"/>
                <a:ea typeface="微软雅黑" panose="020B0503020204020204" pitchFamily="34" charset="-122"/>
              </a:rPr>
              <a:t>b</a:t>
            </a:r>
            <a:r>
              <a:rPr lang="zh-CN" altLang="en-US" sz="2000" dirty="0">
                <a:solidFill>
                  <a:srgbClr val="0070C0"/>
                </a:solidFill>
                <a:latin typeface="微软雅黑" panose="020B0503020204020204" pitchFamily="34" charset="-122"/>
                <a:ea typeface="微软雅黑" panose="020B0503020204020204" pitchFamily="34" charset="-122"/>
              </a:rPr>
              <a:t>拼接</a:t>
            </a:r>
          </a:p>
        </p:txBody>
      </p:sp>
      <p:sp>
        <p:nvSpPr>
          <p:cNvPr id="38" name="文本框 37">
            <a:extLst>
              <a:ext uri="{FF2B5EF4-FFF2-40B4-BE49-F238E27FC236}">
                <a16:creationId xmlns:a16="http://schemas.microsoft.com/office/drawing/2014/main" id="{15ED80B3-9C93-41D7-ACB2-7A480FF77EA7}"/>
              </a:ext>
            </a:extLst>
          </p:cNvPr>
          <p:cNvSpPr txBox="1"/>
          <p:nvPr/>
        </p:nvSpPr>
        <p:spPr>
          <a:xfrm>
            <a:off x="5355823" y="2512667"/>
            <a:ext cx="1896460" cy="327397"/>
          </a:xfrm>
          <a:prstGeom prst="rect">
            <a:avLst/>
          </a:prstGeom>
          <a:noFill/>
        </p:spPr>
        <p:txBody>
          <a:bodyPr wrap="square">
            <a:spAutoFit/>
          </a:bodyPr>
          <a:lstStyle/>
          <a:p>
            <a:pPr>
              <a:lnSpc>
                <a:spcPts val="2000"/>
              </a:lnSpc>
            </a:pPr>
            <a:r>
              <a:rPr lang="zh-CN" altLang="en-US" sz="1400" b="1" dirty="0">
                <a:solidFill>
                  <a:srgbClr val="0070C0"/>
                </a:solidFill>
                <a:latin typeface="微软雅黑" panose="020B0503020204020204" pitchFamily="34" charset="-122"/>
                <a:ea typeface="微软雅黑" panose="020B0503020204020204" pitchFamily="34" charset="-122"/>
              </a:rPr>
              <a:t>线性方程组增广矩阵</a:t>
            </a:r>
          </a:p>
        </p:txBody>
      </p:sp>
      <p:sp>
        <p:nvSpPr>
          <p:cNvPr id="2" name="对话气泡: 矩形 1">
            <a:extLst>
              <a:ext uri="{FF2B5EF4-FFF2-40B4-BE49-F238E27FC236}">
                <a16:creationId xmlns:a16="http://schemas.microsoft.com/office/drawing/2014/main" id="{C7FF942A-1937-44A4-B06E-B2ACAA70E792}"/>
              </a:ext>
            </a:extLst>
          </p:cNvPr>
          <p:cNvSpPr/>
          <p:nvPr/>
        </p:nvSpPr>
        <p:spPr bwMode="auto">
          <a:xfrm>
            <a:off x="5431947" y="2571750"/>
            <a:ext cx="1610431" cy="238298"/>
          </a:xfrm>
          <a:prstGeom prst="wedgeRectCallout">
            <a:avLst>
              <a:gd name="adj1" fmla="val -96033"/>
              <a:gd name="adj2" fmla="val -19888"/>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970155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p:bldP spid="24" grpId="0"/>
      <p:bldP spid="25" grpId="0" animBg="1"/>
      <p:bldP spid="28" grpId="0" animBg="1"/>
      <p:bldP spid="29" grpId="0" animBg="1"/>
      <p:bldP spid="31" grpId="0" animBg="1"/>
      <p:bldP spid="32" grpId="0"/>
      <p:bldP spid="33" grpId="0"/>
      <p:bldP spid="35" grpId="0"/>
      <p:bldP spid="37" grpId="0"/>
      <p:bldP spid="34" grpId="0"/>
      <p:bldP spid="36" grpId="0"/>
      <p:bldP spid="39" grpId="0"/>
      <p:bldP spid="40" grpId="0"/>
      <p:bldP spid="4" grpId="0" animBg="1"/>
      <p:bldP spid="41" grpId="0" animBg="1"/>
      <p:bldP spid="19" grpId="0"/>
      <p:bldP spid="42" grpId="0"/>
      <p:bldP spid="38" grpId="0"/>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7D1BBC2E-D84B-47CD-B6AF-40E296F8EEB6}"/>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10884" t="16216" r="44806" b="40247"/>
          <a:stretch/>
        </p:blipFill>
        <p:spPr>
          <a:xfrm>
            <a:off x="237448" y="1284411"/>
            <a:ext cx="3562297" cy="2697830"/>
          </a:xfrm>
          <a:ln>
            <a:solidFill>
              <a:srgbClr val="002060"/>
            </a:solidFill>
          </a:ln>
        </p:spPr>
      </p:pic>
      <p:sp>
        <p:nvSpPr>
          <p:cNvPr id="7" name="矩形 6">
            <a:extLst>
              <a:ext uri="{FF2B5EF4-FFF2-40B4-BE49-F238E27FC236}">
                <a16:creationId xmlns:a16="http://schemas.microsoft.com/office/drawing/2014/main" id="{0039E32B-B23D-4C86-A51E-4F697E4E877F}"/>
              </a:ext>
            </a:extLst>
          </p:cNvPr>
          <p:cNvSpPr/>
          <p:nvPr/>
        </p:nvSpPr>
        <p:spPr>
          <a:xfrm>
            <a:off x="3981142" y="1618351"/>
            <a:ext cx="158417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dirty="0">
                <a:solidFill>
                  <a:schemeClr val="bg1"/>
                </a:solidFill>
                <a:highlight>
                  <a:srgbClr val="3399FF"/>
                </a:highlight>
              </a:rPr>
              <a:t>ones(type</a:t>
            </a:r>
            <a:r>
              <a:rPr lang="en-US" altLang="zh-CN" sz="1600" kern="0" dirty="0">
                <a:solidFill>
                  <a:schemeClr val="bg1"/>
                </a:solidFill>
                <a:highlight>
                  <a:srgbClr val="3399FF"/>
                </a:highlight>
              </a:rPr>
              <a:t>,</a:t>
            </a:r>
            <a:r>
              <a:rPr lang="es-ES" altLang="zh-CN" sz="1600" kern="0" dirty="0">
                <a:solidFill>
                  <a:schemeClr val="bg1"/>
                </a:solidFill>
                <a:highlight>
                  <a:srgbClr val="3399FF"/>
                </a:highlight>
              </a:rPr>
              <a:t>dims)</a:t>
            </a:r>
            <a:endParaRPr lang="zh-CN" altLang="en-US" sz="1600" kern="0" dirty="0">
              <a:solidFill>
                <a:schemeClr val="bg1"/>
              </a:solidFill>
              <a:highlight>
                <a:srgbClr val="3399FF"/>
              </a:highlight>
            </a:endParaRPr>
          </a:p>
        </p:txBody>
      </p:sp>
      <p:sp>
        <p:nvSpPr>
          <p:cNvPr id="10" name="矩形 9">
            <a:extLst>
              <a:ext uri="{FF2B5EF4-FFF2-40B4-BE49-F238E27FC236}">
                <a16:creationId xmlns:a16="http://schemas.microsoft.com/office/drawing/2014/main" id="{8F2AE9E5-73D1-4C3A-B108-CDC6A3E94BC2}"/>
              </a:ext>
            </a:extLst>
          </p:cNvPr>
          <p:cNvSpPr/>
          <p:nvPr/>
        </p:nvSpPr>
        <p:spPr>
          <a:xfrm>
            <a:off x="3957757" y="1971644"/>
            <a:ext cx="1618214"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a:solidFill>
                  <a:schemeClr val="bg1"/>
                </a:solidFill>
                <a:highlight>
                  <a:srgbClr val="3399FF"/>
                </a:highlight>
              </a:rPr>
              <a:t>zeros(type</a:t>
            </a:r>
            <a:r>
              <a:rPr lang="en-US" altLang="zh-CN" sz="1600" kern="0">
                <a:solidFill>
                  <a:schemeClr val="bg1"/>
                </a:solidFill>
                <a:highlight>
                  <a:srgbClr val="3399FF"/>
                </a:highlight>
              </a:rPr>
              <a:t>,</a:t>
            </a:r>
            <a:r>
              <a:rPr lang="es-ES" altLang="zh-CN" sz="1600" kern="0" dirty="0">
                <a:solidFill>
                  <a:schemeClr val="bg1"/>
                </a:solidFill>
                <a:highlight>
                  <a:srgbClr val="3399FF"/>
                </a:highlight>
              </a:rPr>
              <a:t>dims)</a:t>
            </a:r>
            <a:endParaRPr lang="zh-CN" altLang="en-US" sz="1600" kern="0" dirty="0">
              <a:solidFill>
                <a:schemeClr val="bg1"/>
              </a:solidFill>
              <a:highlight>
                <a:srgbClr val="3399FF"/>
              </a:highlight>
            </a:endParaRPr>
          </a:p>
        </p:txBody>
      </p:sp>
      <p:sp>
        <p:nvSpPr>
          <p:cNvPr id="11" name="矩形 10">
            <a:extLst>
              <a:ext uri="{FF2B5EF4-FFF2-40B4-BE49-F238E27FC236}">
                <a16:creationId xmlns:a16="http://schemas.microsoft.com/office/drawing/2014/main" id="{9376D6C5-8410-4DC2-87CE-E7C0D896B461}"/>
              </a:ext>
            </a:extLst>
          </p:cNvPr>
          <p:cNvSpPr/>
          <p:nvPr/>
        </p:nvSpPr>
        <p:spPr>
          <a:xfrm>
            <a:off x="3981142" y="2376002"/>
            <a:ext cx="154620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dirty="0">
                <a:solidFill>
                  <a:schemeClr val="bg1"/>
                </a:solidFill>
                <a:highlight>
                  <a:srgbClr val="3399FF"/>
                </a:highlight>
              </a:rPr>
              <a:t>eye(type</a:t>
            </a:r>
            <a:r>
              <a:rPr lang="en-US" altLang="zh-CN" sz="1600" kern="0" dirty="0">
                <a:solidFill>
                  <a:schemeClr val="bg1"/>
                </a:solidFill>
                <a:highlight>
                  <a:srgbClr val="3399FF"/>
                </a:highlight>
              </a:rPr>
              <a:t>,</a:t>
            </a:r>
            <a:r>
              <a:rPr lang="es-ES" altLang="zh-CN" sz="1600" kern="0" dirty="0">
                <a:solidFill>
                  <a:schemeClr val="bg1"/>
                </a:solidFill>
                <a:highlight>
                  <a:srgbClr val="3399FF"/>
                </a:highlight>
              </a:rPr>
              <a:t>dims)</a:t>
            </a:r>
            <a:endParaRPr lang="zh-CN" altLang="en-US" sz="1600" kern="0" dirty="0">
              <a:solidFill>
                <a:schemeClr val="bg1"/>
              </a:solidFill>
              <a:highlight>
                <a:srgbClr val="3399FF"/>
              </a:highlight>
            </a:endParaRPr>
          </a:p>
        </p:txBody>
      </p:sp>
      <p:sp>
        <p:nvSpPr>
          <p:cNvPr id="12" name="矩形 11">
            <a:extLst>
              <a:ext uri="{FF2B5EF4-FFF2-40B4-BE49-F238E27FC236}">
                <a16:creationId xmlns:a16="http://schemas.microsoft.com/office/drawing/2014/main" id="{8D8D5E8F-F996-417A-A1B6-B0AA7DE88E50}"/>
              </a:ext>
            </a:extLst>
          </p:cNvPr>
          <p:cNvSpPr/>
          <p:nvPr/>
        </p:nvSpPr>
        <p:spPr>
          <a:xfrm>
            <a:off x="3965911" y="2762588"/>
            <a:ext cx="158417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dirty="0">
                <a:solidFill>
                  <a:schemeClr val="bg1"/>
                </a:solidFill>
                <a:highlight>
                  <a:srgbClr val="3399FF"/>
                </a:highlight>
              </a:rPr>
              <a:t>rand(type</a:t>
            </a:r>
            <a:r>
              <a:rPr lang="en-US" altLang="zh-CN" sz="1600" kern="0" dirty="0">
                <a:solidFill>
                  <a:schemeClr val="bg1"/>
                </a:solidFill>
                <a:highlight>
                  <a:srgbClr val="3399FF"/>
                </a:highlight>
              </a:rPr>
              <a:t>,</a:t>
            </a:r>
            <a:r>
              <a:rPr lang="es-ES" altLang="zh-CN" sz="1600" kern="0" dirty="0">
                <a:solidFill>
                  <a:schemeClr val="bg1"/>
                </a:solidFill>
                <a:highlight>
                  <a:srgbClr val="3399FF"/>
                </a:highlight>
              </a:rPr>
              <a:t>dims)</a:t>
            </a:r>
            <a:endParaRPr lang="zh-CN" altLang="en-US" sz="1600" kern="0" dirty="0">
              <a:solidFill>
                <a:schemeClr val="bg1"/>
              </a:solidFill>
              <a:highlight>
                <a:srgbClr val="3399FF"/>
              </a:highlight>
            </a:endParaRPr>
          </a:p>
        </p:txBody>
      </p:sp>
      <p:sp>
        <p:nvSpPr>
          <p:cNvPr id="14" name="矩形 13">
            <a:extLst>
              <a:ext uri="{FF2B5EF4-FFF2-40B4-BE49-F238E27FC236}">
                <a16:creationId xmlns:a16="http://schemas.microsoft.com/office/drawing/2014/main" id="{844243F7-1CC8-4542-8223-4516593C360A}"/>
              </a:ext>
            </a:extLst>
          </p:cNvPr>
          <p:cNvSpPr/>
          <p:nvPr/>
        </p:nvSpPr>
        <p:spPr>
          <a:xfrm>
            <a:off x="3960826" y="3197206"/>
            <a:ext cx="1008345"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dirty="0">
                <a:solidFill>
                  <a:schemeClr val="bg1"/>
                </a:solidFill>
                <a:highlight>
                  <a:srgbClr val="FF0000"/>
                </a:highlight>
              </a:rPr>
              <a:t>magic(n)</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BF15246C-C330-431C-9E78-BBF8491459A4}"/>
              </a:ext>
            </a:extLst>
          </p:cNvPr>
          <p:cNvSpPr/>
          <p:nvPr/>
        </p:nvSpPr>
        <p:spPr>
          <a:xfrm>
            <a:off x="5575970" y="1608319"/>
            <a:ext cx="1037399"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b="1" kern="0" dirty="0">
                <a:solidFill>
                  <a:srgbClr val="002060"/>
                </a:solidFill>
                <a:latin typeface="微软雅黑" panose="020B0503020204020204" pitchFamily="34" charset="-122"/>
                <a:ea typeface="微软雅黑" panose="020B0503020204020204" pitchFamily="34" charset="-122"/>
              </a:rPr>
              <a:t>ones(</a:t>
            </a:r>
            <a:r>
              <a:rPr lang="en-US" altLang="zh-CN" sz="1600" b="1" kern="0" dirty="0">
                <a:solidFill>
                  <a:srgbClr val="002060"/>
                </a:solidFill>
                <a:latin typeface="微软雅黑" panose="020B0503020204020204" pitchFamily="34" charset="-122"/>
                <a:ea typeface="微软雅黑" panose="020B0503020204020204" pitchFamily="34" charset="-122"/>
              </a:rPr>
              <a:t>3</a:t>
            </a:r>
            <a:r>
              <a:rPr lang="es-ES" altLang="zh-CN" sz="1600" b="1" kern="0" dirty="0">
                <a:solidFill>
                  <a:srgbClr val="002060"/>
                </a:solidFill>
                <a:latin typeface="微软雅黑" panose="020B0503020204020204" pitchFamily="34" charset="-122"/>
                <a:ea typeface="微软雅黑" panose="020B0503020204020204" pitchFamily="34" charset="-122"/>
              </a:rPr>
              <a:t>)</a:t>
            </a:r>
            <a:endParaRPr lang="zh-CN" altLang="en-US" sz="1600" b="1" kern="0" dirty="0">
              <a:solidFill>
                <a:srgbClr val="002060"/>
              </a:solidFill>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7DE985F4-FDBA-4E6C-84D9-E76606F723A6}"/>
              </a:ext>
            </a:extLst>
          </p:cNvPr>
          <p:cNvSpPr/>
          <p:nvPr/>
        </p:nvSpPr>
        <p:spPr>
          <a:xfrm>
            <a:off x="5575971" y="2002562"/>
            <a:ext cx="1227636"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kern="0" dirty="0">
                <a:solidFill>
                  <a:srgbClr val="002060"/>
                </a:solidFill>
                <a:latin typeface="微软雅黑" panose="020B0503020204020204" pitchFamily="34" charset="-122"/>
                <a:ea typeface="微软雅黑" panose="020B0503020204020204" pitchFamily="34" charset="-122"/>
              </a:rPr>
              <a:t>zero</a:t>
            </a:r>
            <a:r>
              <a:rPr lang="es-ES" altLang="zh-CN" sz="1600" b="1" kern="0" dirty="0">
                <a:solidFill>
                  <a:srgbClr val="002060"/>
                </a:solidFill>
                <a:latin typeface="微软雅黑" panose="020B0503020204020204" pitchFamily="34" charset="-122"/>
                <a:ea typeface="微软雅黑" panose="020B0503020204020204" pitchFamily="34" charset="-122"/>
              </a:rPr>
              <a:t>s(2</a:t>
            </a:r>
            <a:r>
              <a:rPr lang="en-US" altLang="zh-CN" sz="1600" b="1" kern="0" dirty="0">
                <a:solidFill>
                  <a:srgbClr val="002060"/>
                </a:solidFill>
                <a:latin typeface="微软雅黑" panose="020B0503020204020204" pitchFamily="34" charset="-122"/>
                <a:ea typeface="微软雅黑" panose="020B0503020204020204" pitchFamily="34" charset="-122"/>
              </a:rPr>
              <a:t>,3</a:t>
            </a:r>
            <a:r>
              <a:rPr lang="es-ES" altLang="zh-CN" sz="1600" b="1" kern="0" dirty="0">
                <a:solidFill>
                  <a:srgbClr val="002060"/>
                </a:solidFill>
                <a:latin typeface="微软雅黑" panose="020B0503020204020204" pitchFamily="34" charset="-122"/>
                <a:ea typeface="微软雅黑" panose="020B0503020204020204" pitchFamily="34" charset="-122"/>
              </a:rPr>
              <a:t>)</a:t>
            </a:r>
            <a:endParaRPr lang="zh-CN" altLang="en-US" sz="1600" b="1" kern="0" dirty="0">
              <a:solidFill>
                <a:srgbClr val="002060"/>
              </a:solidFill>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a16="http://schemas.microsoft.com/office/drawing/2014/main" id="{149C48B3-20AE-449D-B44F-DEE59AC66B14}"/>
              </a:ext>
            </a:extLst>
          </p:cNvPr>
          <p:cNvSpPr/>
          <p:nvPr/>
        </p:nvSpPr>
        <p:spPr>
          <a:xfrm>
            <a:off x="5565318" y="2391003"/>
            <a:ext cx="1083620"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kern="0" dirty="0" err="1">
                <a:solidFill>
                  <a:srgbClr val="002060"/>
                </a:solidFill>
                <a:latin typeface="微软雅黑" panose="020B0503020204020204" pitchFamily="34" charset="-122"/>
                <a:ea typeface="微软雅黑" panose="020B0503020204020204" pitchFamily="34" charset="-122"/>
              </a:rPr>
              <a:t>eys</a:t>
            </a:r>
            <a:r>
              <a:rPr lang="es-ES" altLang="zh-CN" sz="1600" b="1" kern="0" dirty="0">
                <a:solidFill>
                  <a:srgbClr val="002060"/>
                </a:solidFill>
                <a:latin typeface="微软雅黑" panose="020B0503020204020204" pitchFamily="34" charset="-122"/>
                <a:ea typeface="微软雅黑" panose="020B0503020204020204" pitchFamily="34" charset="-122"/>
              </a:rPr>
              <a:t>(2</a:t>
            </a:r>
            <a:r>
              <a:rPr lang="en-US" altLang="zh-CN" sz="1600" b="1" kern="0" dirty="0">
                <a:solidFill>
                  <a:srgbClr val="002060"/>
                </a:solidFill>
                <a:latin typeface="微软雅黑" panose="020B0503020204020204" pitchFamily="34" charset="-122"/>
                <a:ea typeface="微软雅黑" panose="020B0503020204020204" pitchFamily="34" charset="-122"/>
              </a:rPr>
              <a:t>,2</a:t>
            </a:r>
            <a:r>
              <a:rPr lang="es-ES" altLang="zh-CN" sz="1600" b="1" kern="0" dirty="0">
                <a:solidFill>
                  <a:srgbClr val="002060"/>
                </a:solidFill>
                <a:latin typeface="微软雅黑" panose="020B0503020204020204" pitchFamily="34" charset="-122"/>
                <a:ea typeface="微软雅黑" panose="020B0503020204020204" pitchFamily="34" charset="-122"/>
              </a:rPr>
              <a:t>)</a:t>
            </a:r>
            <a:endParaRPr lang="zh-CN" altLang="en-US" sz="1600" b="1" kern="0" dirty="0">
              <a:solidFill>
                <a:srgbClr val="002060"/>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C1832C5D-C3A0-437F-83B8-52C0C3BD5C53}"/>
              </a:ext>
            </a:extLst>
          </p:cNvPr>
          <p:cNvSpPr/>
          <p:nvPr/>
        </p:nvSpPr>
        <p:spPr>
          <a:xfrm>
            <a:off x="3957757" y="1266187"/>
            <a:ext cx="5098439"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zh-CN" altLang="en-US" sz="1600" kern="0" dirty="0">
                <a:solidFill>
                  <a:schemeClr val="bg1"/>
                </a:solidFill>
                <a:highlight>
                  <a:srgbClr val="3399FF"/>
                </a:highlight>
              </a:rPr>
              <a:t>内置函数的一般格式：</a:t>
            </a:r>
            <a:r>
              <a:rPr lang="zh-CN" altLang="en-US" sz="1600" kern="0" dirty="0">
                <a:solidFill>
                  <a:schemeClr val="bg1"/>
                </a:solidFill>
                <a:highlight>
                  <a:srgbClr val="FF0000"/>
                </a:highlight>
              </a:rPr>
              <a:t>内置函数名（</a:t>
            </a:r>
            <a:r>
              <a:rPr lang="en-US" altLang="zh-CN" sz="1600" kern="0" dirty="0">
                <a:solidFill>
                  <a:schemeClr val="bg1"/>
                </a:solidFill>
                <a:highlight>
                  <a:srgbClr val="FF0000"/>
                </a:highlight>
              </a:rPr>
              <a:t>dims</a:t>
            </a:r>
            <a:r>
              <a:rPr lang="zh-CN" altLang="en-US" sz="1600" kern="0" dirty="0">
                <a:solidFill>
                  <a:schemeClr val="bg1"/>
                </a:solidFill>
                <a:highlight>
                  <a:srgbClr val="FF0000"/>
                </a:highlight>
              </a:rPr>
              <a:t>）</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A8B65FDA-2ED8-4231-9150-ABB6EAD52F54}"/>
              </a:ext>
            </a:extLst>
          </p:cNvPr>
          <p:cNvSpPr txBox="1"/>
          <p:nvPr/>
        </p:nvSpPr>
        <p:spPr>
          <a:xfrm>
            <a:off x="231820" y="729894"/>
            <a:ext cx="8824376" cy="307777"/>
          </a:xfrm>
          <a:prstGeom prst="rect">
            <a:avLst/>
          </a:prstGeom>
          <a:solidFill>
            <a:schemeClr val="bg1"/>
          </a:solidFill>
        </p:spPr>
        <p:txBody>
          <a:bodyPr wrap="square">
            <a:spAutoFit/>
          </a:bodyPr>
          <a:lstStyle/>
          <a:p>
            <a:pPr algn="dist"/>
            <a:r>
              <a:rPr lang="zh-CN" altLang="en-US" sz="1400" b="1" kern="0" dirty="0">
                <a:solidFill>
                  <a:srgbClr val="0070C0"/>
                </a:solidFill>
                <a:latin typeface="微软雅黑" panose="020B0503020204020204" pitchFamily="34" charset="-122"/>
                <a:ea typeface="微软雅黑" panose="020B0503020204020204" pitchFamily="34" charset="-122"/>
              </a:rPr>
              <a:t>通用内置函数即可建列向量</a:t>
            </a:r>
            <a:r>
              <a:rPr lang="en-US" altLang="zh-CN" sz="1400" b="1" kern="0" dirty="0">
                <a:solidFill>
                  <a:srgbClr val="0070C0"/>
                </a:solidFill>
                <a:latin typeface="微软雅黑" panose="020B0503020204020204" pitchFamily="34" charset="-122"/>
                <a:ea typeface="微软雅黑" panose="020B0503020204020204" pitchFamily="34" charset="-122"/>
              </a:rPr>
              <a:t>n*1,</a:t>
            </a:r>
            <a:r>
              <a:rPr lang="zh-CN" altLang="en-US" sz="1400" b="1" kern="0" dirty="0">
                <a:solidFill>
                  <a:srgbClr val="0070C0"/>
                </a:solidFill>
                <a:latin typeface="微软雅黑" panose="020B0503020204020204" pitchFamily="34" charset="-122"/>
                <a:ea typeface="微软雅黑" panose="020B0503020204020204" pitchFamily="34" charset="-122"/>
              </a:rPr>
              <a:t>也可建矩阵</a:t>
            </a:r>
            <a:r>
              <a:rPr lang="en-US" altLang="zh-CN" sz="1400" b="1" kern="0" dirty="0">
                <a:solidFill>
                  <a:srgbClr val="0070C0"/>
                </a:solidFill>
                <a:latin typeface="微软雅黑" panose="020B0503020204020204" pitchFamily="34" charset="-122"/>
                <a:ea typeface="微软雅黑" panose="020B0503020204020204" pitchFamily="34" charset="-122"/>
              </a:rPr>
              <a:t>m*n;</a:t>
            </a:r>
            <a:r>
              <a:rPr lang="zh-CN" altLang="en-US" sz="1400" b="1" kern="0" dirty="0">
                <a:solidFill>
                  <a:srgbClr val="0070C0"/>
                </a:solidFill>
                <a:latin typeface="微软雅黑" panose="020B0503020204020204" pitchFamily="34" charset="-122"/>
                <a:ea typeface="微软雅黑" panose="020B0503020204020204" pitchFamily="34" charset="-122"/>
              </a:rPr>
              <a:t>如维度</a:t>
            </a:r>
            <a:r>
              <a:rPr lang="en-US" altLang="zh-CN" sz="1400" b="1" kern="0" dirty="0">
                <a:solidFill>
                  <a:srgbClr val="0070C0"/>
                </a:solidFill>
                <a:latin typeface="微软雅黑" panose="020B0503020204020204" pitchFamily="34" charset="-122"/>
                <a:ea typeface="微软雅黑" panose="020B0503020204020204" pitchFamily="34" charset="-122"/>
              </a:rPr>
              <a:t>dims</a:t>
            </a:r>
            <a:r>
              <a:rPr lang="zh-CN" altLang="en-US" sz="1400" b="1" kern="0" dirty="0">
                <a:solidFill>
                  <a:srgbClr val="0070C0"/>
                </a:solidFill>
                <a:latin typeface="微软雅黑" panose="020B0503020204020204" pitchFamily="34" charset="-122"/>
                <a:ea typeface="微软雅黑" panose="020B0503020204020204" pitchFamily="34" charset="-122"/>
              </a:rPr>
              <a:t>为</a:t>
            </a:r>
            <a:r>
              <a:rPr lang="en-US" altLang="zh-CN" sz="1400" b="1" kern="0" dirty="0">
                <a:solidFill>
                  <a:srgbClr val="0070C0"/>
                </a:solidFill>
                <a:latin typeface="微软雅黑" panose="020B0503020204020204" pitchFamily="34" charset="-122"/>
                <a:ea typeface="微软雅黑" panose="020B0503020204020204" pitchFamily="34" charset="-122"/>
              </a:rPr>
              <a:t>n,</a:t>
            </a:r>
            <a:r>
              <a:rPr lang="zh-CN" altLang="en-US" sz="1400" b="1" kern="0" dirty="0">
                <a:solidFill>
                  <a:srgbClr val="0070C0"/>
                </a:solidFill>
                <a:latin typeface="微软雅黑" panose="020B0503020204020204" pitchFamily="34" charset="-122"/>
                <a:ea typeface="微软雅黑" panose="020B0503020204020204" pitchFamily="34" charset="-122"/>
              </a:rPr>
              <a:t>建列向量；如</a:t>
            </a:r>
            <a:r>
              <a:rPr lang="en-US" altLang="zh-CN" sz="1400" b="1" kern="0" dirty="0">
                <a:solidFill>
                  <a:srgbClr val="0070C0"/>
                </a:solidFill>
                <a:latin typeface="微软雅黑" panose="020B0503020204020204" pitchFamily="34" charset="-122"/>
                <a:ea typeface="微软雅黑" panose="020B0503020204020204" pitchFamily="34" charset="-122"/>
              </a:rPr>
              <a:t>dims</a:t>
            </a:r>
            <a:r>
              <a:rPr lang="zh-CN" altLang="en-US" sz="1400" b="1" kern="0" dirty="0">
                <a:solidFill>
                  <a:srgbClr val="0070C0"/>
                </a:solidFill>
                <a:latin typeface="微软雅黑" panose="020B0503020204020204" pitchFamily="34" charset="-122"/>
                <a:ea typeface="微软雅黑" panose="020B0503020204020204" pitchFamily="34" charset="-122"/>
              </a:rPr>
              <a:t>为</a:t>
            </a:r>
            <a:r>
              <a:rPr lang="en-US" altLang="zh-CN" sz="1400" b="1" kern="0" dirty="0">
                <a:solidFill>
                  <a:srgbClr val="0070C0"/>
                </a:solidFill>
                <a:latin typeface="微软雅黑" panose="020B0503020204020204" pitchFamily="34" charset="-122"/>
                <a:ea typeface="微软雅黑" panose="020B0503020204020204" pitchFamily="34" charset="-122"/>
              </a:rPr>
              <a:t>m</a:t>
            </a:r>
            <a:r>
              <a:rPr lang="zh-CN" altLang="en-US" sz="1400" b="1" kern="0" dirty="0">
                <a:solidFill>
                  <a:srgbClr val="0070C0"/>
                </a:solidFill>
                <a:latin typeface="微软雅黑" panose="020B0503020204020204" pitchFamily="34" charset="-122"/>
                <a:ea typeface="微软雅黑" panose="020B0503020204020204" pitchFamily="34" charset="-122"/>
              </a:rPr>
              <a:t>和</a:t>
            </a:r>
            <a:r>
              <a:rPr lang="en-US" altLang="zh-CN" sz="1400" b="1" kern="0" dirty="0">
                <a:solidFill>
                  <a:srgbClr val="0070C0"/>
                </a:solidFill>
                <a:latin typeface="微软雅黑" panose="020B0503020204020204" pitchFamily="34" charset="-122"/>
                <a:ea typeface="微软雅黑" panose="020B0503020204020204" pitchFamily="34" charset="-122"/>
              </a:rPr>
              <a:t>n</a:t>
            </a:r>
            <a:r>
              <a:rPr lang="zh-CN" altLang="en-US" sz="1400" b="1" kern="0" dirty="0">
                <a:solidFill>
                  <a:srgbClr val="0070C0"/>
                </a:solidFill>
                <a:latin typeface="微软雅黑" panose="020B0503020204020204" pitchFamily="34" charset="-122"/>
                <a:ea typeface="微软雅黑" panose="020B0503020204020204" pitchFamily="34" charset="-122"/>
              </a:rPr>
              <a:t>，建矩阵</a:t>
            </a:r>
            <a:endParaRPr lang="zh-CN" altLang="en-US" sz="1400" b="1" dirty="0">
              <a:solidFill>
                <a:srgbClr val="0070C0"/>
              </a:solidFill>
            </a:endParaRPr>
          </a:p>
        </p:txBody>
      </p:sp>
      <p:sp>
        <p:nvSpPr>
          <p:cNvPr id="23" name="文本框 22">
            <a:extLst>
              <a:ext uri="{FF2B5EF4-FFF2-40B4-BE49-F238E27FC236}">
                <a16:creationId xmlns:a16="http://schemas.microsoft.com/office/drawing/2014/main" id="{F67B2A7D-A6A3-41A6-9A7C-25F9A536FDEA}"/>
              </a:ext>
            </a:extLst>
          </p:cNvPr>
          <p:cNvSpPr txBox="1"/>
          <p:nvPr/>
        </p:nvSpPr>
        <p:spPr>
          <a:xfrm>
            <a:off x="4896386" y="3176745"/>
            <a:ext cx="4080706" cy="307777"/>
          </a:xfrm>
          <a:prstGeom prst="rect">
            <a:avLst/>
          </a:prstGeom>
          <a:solidFill>
            <a:schemeClr val="bg1"/>
          </a:solidFill>
        </p:spPr>
        <p:txBody>
          <a:bodyPr wrap="square">
            <a:spAutoFit/>
          </a:bodyPr>
          <a:lstStyle/>
          <a:p>
            <a:pPr algn="dist"/>
            <a:r>
              <a:rPr lang="zh-CN" altLang="en-US" sz="1400" b="1" kern="0" dirty="0">
                <a:solidFill>
                  <a:srgbClr val="002060"/>
                </a:solidFill>
                <a:latin typeface="微软雅黑" panose="020B0503020204020204" pitchFamily="34" charset="-122"/>
                <a:ea typeface="微软雅黑" panose="020B0503020204020204" pitchFamily="34" charset="-122"/>
              </a:rPr>
              <a:t>专用函数生成矩阵是方阵，故只输入一个维度</a:t>
            </a:r>
          </a:p>
        </p:txBody>
      </p:sp>
      <p:sp>
        <p:nvSpPr>
          <p:cNvPr id="24" name="矩形 23">
            <a:extLst>
              <a:ext uri="{FF2B5EF4-FFF2-40B4-BE49-F238E27FC236}">
                <a16:creationId xmlns:a16="http://schemas.microsoft.com/office/drawing/2014/main" id="{8C110EFA-3AE1-424B-8720-0AF6516A4C07}"/>
              </a:ext>
            </a:extLst>
          </p:cNvPr>
          <p:cNvSpPr/>
          <p:nvPr/>
        </p:nvSpPr>
        <p:spPr>
          <a:xfrm>
            <a:off x="5591811" y="2790126"/>
            <a:ext cx="893172"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kern="0" dirty="0">
                <a:solidFill>
                  <a:srgbClr val="002060"/>
                </a:solidFill>
                <a:latin typeface="微软雅黑" panose="020B0503020204020204" pitchFamily="34" charset="-122"/>
                <a:ea typeface="微软雅黑" panose="020B0503020204020204" pitchFamily="34" charset="-122"/>
              </a:rPr>
              <a:t>rand</a:t>
            </a:r>
            <a:r>
              <a:rPr lang="es-ES" altLang="zh-CN" sz="1600" b="1" kern="0" dirty="0">
                <a:solidFill>
                  <a:srgbClr val="002060"/>
                </a:solidFill>
                <a:latin typeface="微软雅黑" panose="020B0503020204020204" pitchFamily="34" charset="-122"/>
                <a:ea typeface="微软雅黑" panose="020B0503020204020204" pitchFamily="34" charset="-122"/>
              </a:rPr>
              <a:t>(3)</a:t>
            </a:r>
            <a:endParaRPr lang="zh-CN" altLang="en-US" sz="1600" b="1" kern="0" dirty="0">
              <a:solidFill>
                <a:srgbClr val="002060"/>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D9162562-B7AA-42AF-BDA7-931CD0B52885}"/>
              </a:ext>
            </a:extLst>
          </p:cNvPr>
          <p:cNvSpPr txBox="1"/>
          <p:nvPr/>
        </p:nvSpPr>
        <p:spPr>
          <a:xfrm>
            <a:off x="4106030" y="3565209"/>
            <a:ext cx="4085805" cy="369332"/>
          </a:xfrm>
          <a:prstGeom prst="rect">
            <a:avLst/>
          </a:prstGeom>
          <a:noFill/>
          <a:ln>
            <a:solidFill>
              <a:schemeClr val="bg1"/>
            </a:solidFill>
          </a:ln>
        </p:spPr>
        <p:txBody>
          <a:bodyPr wrap="square">
            <a:spAutoFit/>
          </a:bodyPr>
          <a:lstStyle/>
          <a:p>
            <a:r>
              <a:rPr lang="zh-CN" altLang="en-US" dirty="0">
                <a:solidFill>
                  <a:srgbClr val="00B0F0"/>
                </a:solidFill>
              </a:rPr>
              <a:t>julia&gt; magic(2)  </a:t>
            </a:r>
            <a:r>
              <a:rPr lang="en-US" altLang="zh-CN" dirty="0">
                <a:solidFill>
                  <a:srgbClr val="00B0F0"/>
                </a:solidFill>
              </a:rPr>
              <a:t>#</a:t>
            </a:r>
            <a:r>
              <a:rPr lang="zh-CN" altLang="en-US" dirty="0">
                <a:solidFill>
                  <a:srgbClr val="00B0F0"/>
                </a:solidFill>
              </a:rPr>
              <a:t>2×2 Matrix{Int64}:</a:t>
            </a:r>
          </a:p>
        </p:txBody>
      </p:sp>
      <p:sp>
        <p:nvSpPr>
          <p:cNvPr id="26" name="文本框 25">
            <a:extLst>
              <a:ext uri="{FF2B5EF4-FFF2-40B4-BE49-F238E27FC236}">
                <a16:creationId xmlns:a16="http://schemas.microsoft.com/office/drawing/2014/main" id="{4C5428E4-1767-4157-BF4F-AC86B7BBFC4A}"/>
              </a:ext>
            </a:extLst>
          </p:cNvPr>
          <p:cNvSpPr txBox="1"/>
          <p:nvPr/>
        </p:nvSpPr>
        <p:spPr>
          <a:xfrm>
            <a:off x="8277049" y="3437587"/>
            <a:ext cx="841655" cy="646331"/>
          </a:xfrm>
          <a:prstGeom prst="rect">
            <a:avLst/>
          </a:prstGeom>
          <a:noFill/>
        </p:spPr>
        <p:txBody>
          <a:bodyPr wrap="square">
            <a:spAutoFit/>
          </a:bodyPr>
          <a:lstStyle/>
          <a:p>
            <a:r>
              <a:rPr lang="zh-CN" altLang="en-US" dirty="0">
                <a:solidFill>
                  <a:srgbClr val="00B0F0"/>
                </a:solidFill>
              </a:rPr>
              <a:t> 1  3</a:t>
            </a:r>
          </a:p>
          <a:p>
            <a:r>
              <a:rPr lang="zh-CN" altLang="en-US" dirty="0">
                <a:solidFill>
                  <a:srgbClr val="00B0F0"/>
                </a:solidFill>
              </a:rPr>
              <a:t> 4  2</a:t>
            </a:r>
          </a:p>
        </p:txBody>
      </p:sp>
      <p:sp>
        <p:nvSpPr>
          <p:cNvPr id="21" name="文本框 20">
            <a:extLst>
              <a:ext uri="{FF2B5EF4-FFF2-40B4-BE49-F238E27FC236}">
                <a16:creationId xmlns:a16="http://schemas.microsoft.com/office/drawing/2014/main" id="{EBCF00C8-C115-49C8-989D-2122465A5472}"/>
              </a:ext>
            </a:extLst>
          </p:cNvPr>
          <p:cNvSpPr txBox="1"/>
          <p:nvPr/>
        </p:nvSpPr>
        <p:spPr>
          <a:xfrm>
            <a:off x="8057836" y="1629344"/>
            <a:ext cx="1037399" cy="307777"/>
          </a:xfrm>
          <a:prstGeom prst="rect">
            <a:avLst/>
          </a:prstGeom>
          <a:noFill/>
        </p:spPr>
        <p:txBody>
          <a:bodyPr wrap="square">
            <a:spAutoFit/>
          </a:bodyPr>
          <a:lstStyle/>
          <a:p>
            <a:r>
              <a:rPr lang="zh-CN" altLang="en-US" sz="1400" b="1" kern="0" dirty="0">
                <a:solidFill>
                  <a:srgbClr val="002060"/>
                </a:solidFill>
                <a:latin typeface="微软雅黑" panose="020B0503020204020204" pitchFamily="34" charset="-122"/>
                <a:ea typeface="微软雅黑" panose="020B0503020204020204" pitchFamily="34" charset="-122"/>
              </a:rPr>
              <a:t>壹列向量</a:t>
            </a:r>
            <a:endParaRPr lang="zh-CN" altLang="en-US" sz="1400"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A07B8E1F-07F5-4CE9-9C61-8F35B017C9A4}"/>
              </a:ext>
            </a:extLst>
          </p:cNvPr>
          <p:cNvSpPr txBox="1"/>
          <p:nvPr/>
        </p:nvSpPr>
        <p:spPr>
          <a:xfrm>
            <a:off x="7136209" y="1977221"/>
            <a:ext cx="1872208" cy="307777"/>
          </a:xfrm>
          <a:prstGeom prst="rect">
            <a:avLst/>
          </a:prstGeom>
          <a:noFill/>
        </p:spPr>
        <p:txBody>
          <a:bodyPr wrap="square">
            <a:spAutoFit/>
          </a:bodyPr>
          <a:lstStyle/>
          <a:p>
            <a:r>
              <a:rPr lang="es-ES" altLang="zh-CN" sz="1400" b="1" kern="0" dirty="0">
                <a:solidFill>
                  <a:srgbClr val="002060"/>
                </a:solidFill>
                <a:latin typeface="微软雅黑" panose="020B0503020204020204" pitchFamily="34" charset="-122"/>
                <a:ea typeface="微软雅黑" panose="020B0503020204020204" pitchFamily="34" charset="-122"/>
              </a:rPr>
              <a:t>2</a:t>
            </a:r>
            <a:r>
              <a:rPr lang="zh-CN" altLang="en-US" sz="1400" b="1" kern="0" dirty="0">
                <a:solidFill>
                  <a:srgbClr val="002060"/>
                </a:solidFill>
                <a:latin typeface="微软雅黑" panose="020B0503020204020204" pitchFamily="34" charset="-122"/>
                <a:ea typeface="微软雅黑" panose="020B0503020204020204" pitchFamily="34" charset="-122"/>
              </a:rPr>
              <a:t>行</a:t>
            </a:r>
            <a:r>
              <a:rPr lang="en-US" altLang="zh-CN" sz="1400" b="1" kern="0" dirty="0">
                <a:solidFill>
                  <a:srgbClr val="002060"/>
                </a:solidFill>
                <a:latin typeface="微软雅黑" panose="020B0503020204020204" pitchFamily="34" charset="-122"/>
                <a:ea typeface="微软雅黑" panose="020B0503020204020204" pitchFamily="34" charset="-122"/>
              </a:rPr>
              <a:t>3</a:t>
            </a:r>
            <a:r>
              <a:rPr lang="zh-CN" altLang="en-US" sz="1400" b="1" kern="0" dirty="0">
                <a:solidFill>
                  <a:srgbClr val="002060"/>
                </a:solidFill>
                <a:latin typeface="微软雅黑" panose="020B0503020204020204" pitchFamily="34" charset="-122"/>
                <a:ea typeface="微软雅黑" panose="020B0503020204020204" pitchFamily="34" charset="-122"/>
              </a:rPr>
              <a:t>列的长形零矩阵</a:t>
            </a:r>
            <a:endParaRPr lang="zh-CN" altLang="en-US" sz="14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2B2EEDBE-85EF-4A0D-B4BE-D9EE0F264311}"/>
              </a:ext>
            </a:extLst>
          </p:cNvPr>
          <p:cNvSpPr txBox="1"/>
          <p:nvPr/>
        </p:nvSpPr>
        <p:spPr>
          <a:xfrm>
            <a:off x="7720290" y="2359844"/>
            <a:ext cx="1342017" cy="307777"/>
          </a:xfrm>
          <a:prstGeom prst="rect">
            <a:avLst/>
          </a:prstGeom>
          <a:noFill/>
        </p:spPr>
        <p:txBody>
          <a:bodyPr wrap="square">
            <a:spAutoFit/>
          </a:bodyPr>
          <a:lstStyle/>
          <a:p>
            <a:r>
              <a:rPr lang="zh-CN" altLang="en-US" sz="1400" b="1" kern="0" dirty="0">
                <a:solidFill>
                  <a:srgbClr val="002060"/>
                </a:solidFill>
                <a:latin typeface="微软雅黑" panose="020B0503020204020204" pitchFamily="34" charset="-122"/>
                <a:ea typeface="微软雅黑" panose="020B0503020204020204" pitchFamily="34" charset="-122"/>
              </a:rPr>
              <a:t>二阶单位方阵</a:t>
            </a:r>
            <a:endParaRPr lang="zh-CN" altLang="en-US" sz="1400"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D205BDC5-26DA-4717-BE68-FA7DEAD42C55}"/>
              </a:ext>
            </a:extLst>
          </p:cNvPr>
          <p:cNvSpPr txBox="1"/>
          <p:nvPr/>
        </p:nvSpPr>
        <p:spPr>
          <a:xfrm>
            <a:off x="7020924" y="2772837"/>
            <a:ext cx="1969828" cy="307777"/>
          </a:xfrm>
          <a:prstGeom prst="rect">
            <a:avLst/>
          </a:prstGeom>
          <a:noFill/>
        </p:spPr>
        <p:txBody>
          <a:bodyPr wrap="square">
            <a:spAutoFit/>
          </a:bodyPr>
          <a:lstStyle/>
          <a:p>
            <a:pPr algn="dist"/>
            <a:r>
              <a:rPr lang="es-ES" altLang="zh-CN" sz="1400" b="1" kern="0" dirty="0">
                <a:solidFill>
                  <a:srgbClr val="002060"/>
                </a:solidFill>
                <a:latin typeface="微软雅黑" panose="020B0503020204020204" pitchFamily="34" charset="-122"/>
                <a:ea typeface="微软雅黑" panose="020B0503020204020204" pitchFamily="34" charset="-122"/>
              </a:rPr>
              <a:t>3</a:t>
            </a:r>
            <a:r>
              <a:rPr lang="zh-CN" altLang="en-US" sz="1400" b="1" kern="0" dirty="0">
                <a:solidFill>
                  <a:srgbClr val="002060"/>
                </a:solidFill>
                <a:latin typeface="微软雅黑" panose="020B0503020204020204" pitchFamily="34" charset="-122"/>
                <a:ea typeface="微软雅黑" panose="020B0503020204020204" pitchFamily="34" charset="-122"/>
              </a:rPr>
              <a:t>个元素随机列向量</a:t>
            </a:r>
            <a:endParaRPr lang="zh-CN" altLang="en-US" sz="1400"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470184DD-4BA8-454E-9A3E-277403B5336D}"/>
              </a:ext>
            </a:extLst>
          </p:cNvPr>
          <p:cNvSpPr txBox="1"/>
          <p:nvPr/>
        </p:nvSpPr>
        <p:spPr>
          <a:xfrm>
            <a:off x="295861" y="4219462"/>
            <a:ext cx="9054403" cy="569387"/>
          </a:xfrm>
          <a:prstGeom prst="rect">
            <a:avLst/>
          </a:prstGeom>
          <a:noFill/>
        </p:spPr>
        <p:txBody>
          <a:bodyPr wrap="square">
            <a:spAutoFit/>
          </a:bodyPr>
          <a:lstStyle/>
          <a:p>
            <a:pPr marL="0" indent="0">
              <a:lnSpc>
                <a:spcPts val="1800"/>
              </a:lnSpc>
              <a:buNone/>
            </a:pPr>
            <a:r>
              <a:rPr lang="en-US" altLang="zh-CN" sz="1600" dirty="0">
                <a:solidFill>
                  <a:schemeClr val="bg1"/>
                </a:solidFill>
                <a:highlight>
                  <a:srgbClr val="003B76"/>
                </a:highlight>
              </a:rPr>
              <a:t>#matlab  zeros(n) </a:t>
            </a:r>
            <a:r>
              <a:rPr lang="zh-CN" altLang="en-US" sz="1600" dirty="0">
                <a:solidFill>
                  <a:schemeClr val="bg1"/>
                </a:solidFill>
                <a:highlight>
                  <a:srgbClr val="003B76"/>
                </a:highlight>
              </a:rPr>
              <a:t>代表建立</a:t>
            </a:r>
            <a:r>
              <a:rPr lang="en-US" altLang="zh-CN" sz="1600" dirty="0">
                <a:solidFill>
                  <a:schemeClr val="bg1"/>
                </a:solidFill>
                <a:highlight>
                  <a:srgbClr val="003B76"/>
                </a:highlight>
              </a:rPr>
              <a:t>n</a:t>
            </a:r>
            <a:r>
              <a:rPr lang="zh-CN" altLang="en-US" sz="1600" dirty="0">
                <a:solidFill>
                  <a:schemeClr val="bg1"/>
                </a:solidFill>
                <a:highlight>
                  <a:srgbClr val="003B76"/>
                </a:highlight>
              </a:rPr>
              <a:t>方阵</a:t>
            </a:r>
            <a:r>
              <a:rPr lang="en-US" altLang="zh-CN" sz="1600" dirty="0">
                <a:solidFill>
                  <a:schemeClr val="bg1"/>
                </a:solidFill>
                <a:highlight>
                  <a:srgbClr val="003B76"/>
                </a:highlight>
              </a:rPr>
              <a:t>;   zeros(n,1)</a:t>
            </a:r>
            <a:r>
              <a:rPr lang="zh-CN" altLang="en-US" sz="1600" dirty="0">
                <a:solidFill>
                  <a:schemeClr val="bg1"/>
                </a:solidFill>
                <a:highlight>
                  <a:srgbClr val="003B76"/>
                </a:highlight>
              </a:rPr>
              <a:t>代表建立列方阵</a:t>
            </a:r>
            <a:r>
              <a:rPr lang="en-US" altLang="zh-CN" sz="1600" dirty="0">
                <a:solidFill>
                  <a:schemeClr val="bg1"/>
                </a:solidFill>
                <a:highlight>
                  <a:srgbClr val="003B76"/>
                </a:highlight>
              </a:rPr>
              <a:t>; zeros(</a:t>
            </a:r>
            <a:r>
              <a:rPr lang="en-US" altLang="zh-CN" sz="1600" dirty="0" err="1">
                <a:solidFill>
                  <a:schemeClr val="bg1"/>
                </a:solidFill>
                <a:highlight>
                  <a:srgbClr val="003B76"/>
                </a:highlight>
              </a:rPr>
              <a:t>n,m</a:t>
            </a:r>
            <a:r>
              <a:rPr lang="en-US" altLang="zh-CN" sz="1600" dirty="0">
                <a:solidFill>
                  <a:schemeClr val="bg1"/>
                </a:solidFill>
                <a:highlight>
                  <a:srgbClr val="003B76"/>
                </a:highlight>
              </a:rPr>
              <a:t>)</a:t>
            </a:r>
            <a:r>
              <a:rPr lang="zh-CN" altLang="en-US" sz="1600" dirty="0">
                <a:solidFill>
                  <a:schemeClr val="bg1"/>
                </a:solidFill>
                <a:highlight>
                  <a:srgbClr val="003B76"/>
                </a:highlight>
              </a:rPr>
              <a:t>代表建立</a:t>
            </a:r>
            <a:r>
              <a:rPr lang="en-US" altLang="zh-CN" sz="1600" dirty="0">
                <a:solidFill>
                  <a:schemeClr val="bg1"/>
                </a:solidFill>
                <a:highlight>
                  <a:srgbClr val="003B76"/>
                </a:highlight>
              </a:rPr>
              <a:t>n</a:t>
            </a:r>
            <a:r>
              <a:rPr lang="zh-CN" altLang="en-US" sz="1600" dirty="0">
                <a:solidFill>
                  <a:schemeClr val="bg1"/>
                </a:solidFill>
                <a:highlight>
                  <a:srgbClr val="003B76"/>
                </a:highlight>
              </a:rPr>
              <a:t>行</a:t>
            </a:r>
            <a:r>
              <a:rPr lang="en-US" altLang="zh-CN" sz="1600" dirty="0">
                <a:solidFill>
                  <a:schemeClr val="bg1"/>
                </a:solidFill>
                <a:highlight>
                  <a:srgbClr val="003B76"/>
                </a:highlight>
              </a:rPr>
              <a:t>m</a:t>
            </a:r>
            <a:r>
              <a:rPr lang="zh-CN" altLang="en-US" sz="1600" dirty="0">
                <a:solidFill>
                  <a:schemeClr val="bg1"/>
                </a:solidFill>
                <a:highlight>
                  <a:srgbClr val="003B76"/>
                </a:highlight>
              </a:rPr>
              <a:t>列长方阵</a:t>
            </a:r>
            <a:endParaRPr lang="en-US" altLang="zh-CN" sz="1600" dirty="0">
              <a:solidFill>
                <a:schemeClr val="bg1"/>
              </a:solidFill>
              <a:highlight>
                <a:srgbClr val="003B76"/>
              </a:highlight>
            </a:endParaRPr>
          </a:p>
          <a:p>
            <a:pPr marL="0" indent="0">
              <a:buNone/>
            </a:pPr>
            <a:endParaRPr lang="en-US" altLang="zh-CN" sz="1600" dirty="0">
              <a:solidFill>
                <a:schemeClr val="bg1"/>
              </a:solidFill>
              <a:highlight>
                <a:srgbClr val="003B76"/>
              </a:highlight>
            </a:endParaRPr>
          </a:p>
        </p:txBody>
      </p:sp>
      <p:sp>
        <p:nvSpPr>
          <p:cNvPr id="35" name="AutoShape 13">
            <a:extLst>
              <a:ext uri="{FF2B5EF4-FFF2-40B4-BE49-F238E27FC236}">
                <a16:creationId xmlns:a16="http://schemas.microsoft.com/office/drawing/2014/main" id="{77FD24D1-A59B-43EA-8C3B-3720EF7ECA29}"/>
              </a:ext>
            </a:extLst>
          </p:cNvPr>
          <p:cNvSpPr>
            <a:spLocks noChangeArrowheads="1"/>
          </p:cNvSpPr>
          <p:nvPr/>
        </p:nvSpPr>
        <p:spPr bwMode="auto">
          <a:xfrm>
            <a:off x="-180528" y="4027208"/>
            <a:ext cx="706830" cy="690841"/>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注</a:t>
            </a:r>
            <a:endParaRPr lang="en-US" altLang="zh-CN" sz="1400" b="1" kern="0" dirty="0">
              <a:solidFill>
                <a:srgbClr val="FFFF00"/>
              </a:solidFill>
              <a:ea typeface="黑体" panose="02010609060101010101" pitchFamily="49" charset="-122"/>
            </a:endParaRPr>
          </a:p>
          <a:p>
            <a:r>
              <a:rPr lang="zh-CN" altLang="en-US" sz="1400" b="1" kern="0" dirty="0">
                <a:solidFill>
                  <a:srgbClr val="FFFF00"/>
                </a:solidFill>
                <a:ea typeface="黑体" panose="02010609060101010101" pitchFamily="49" charset="-122"/>
              </a:rPr>
              <a:t>意</a:t>
            </a:r>
            <a:endParaRPr lang="en-US" altLang="zh-CN" sz="1400" dirty="0">
              <a:solidFill>
                <a:srgbClr val="FF0000"/>
              </a:solidFill>
              <a:latin typeface="微软雅黑" panose="020B0503020204020204" pitchFamily="34" charset="-122"/>
              <a:ea typeface="微软雅黑" panose="020B0503020204020204" pitchFamily="34" charset="-122"/>
            </a:endParaRPr>
          </a:p>
        </p:txBody>
      </p:sp>
      <p:sp>
        <p:nvSpPr>
          <p:cNvPr id="36" name="标题 1">
            <a:extLst>
              <a:ext uri="{FF2B5EF4-FFF2-40B4-BE49-F238E27FC236}">
                <a16:creationId xmlns:a16="http://schemas.microsoft.com/office/drawing/2014/main" id="{1F0D8BC5-B138-4FC2-889B-FABAA842C8C4}"/>
              </a:ext>
            </a:extLst>
          </p:cNvPr>
          <p:cNvSpPr txBox="1">
            <a:spLocks/>
          </p:cNvSpPr>
          <p:nvPr/>
        </p:nvSpPr>
        <p:spPr bwMode="auto">
          <a:xfrm>
            <a:off x="813330" y="80394"/>
            <a:ext cx="7884546" cy="547842"/>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600" kern="0" dirty="0">
                <a:latin typeface="Helvetica Neue"/>
              </a:rPr>
            </a:br>
            <a:r>
              <a:rPr lang="en-US" altLang="zh-CN" sz="2600" kern="0" dirty="0">
                <a:latin typeface="Helvetica Neue"/>
              </a:rPr>
              <a:t>§</a:t>
            </a:r>
            <a:r>
              <a:rPr lang="en-US" altLang="zh-CN" sz="2600" dirty="0"/>
              <a:t>1.4.1.2 </a:t>
            </a:r>
            <a:r>
              <a:rPr lang="zh-CN" altLang="en-US" sz="2600" i="0" dirty="0">
                <a:effectLst/>
                <a:latin typeface="Helvetica Neue"/>
              </a:rPr>
              <a:t>创建二维</a:t>
            </a:r>
            <a:r>
              <a:rPr lang="zh-CN" altLang="en-US" sz="2600" dirty="0">
                <a:latin typeface="Helvetica Neue"/>
              </a:rPr>
              <a:t>矩阵</a:t>
            </a:r>
            <a:r>
              <a:rPr lang="en-US" altLang="zh-CN" sz="2600" dirty="0">
                <a:solidFill>
                  <a:srgbClr val="FF0000"/>
                </a:solidFill>
              </a:rPr>
              <a:t>———5. </a:t>
            </a:r>
            <a:r>
              <a:rPr lang="zh-CN" altLang="en-US" sz="2600" dirty="0">
                <a:solidFill>
                  <a:srgbClr val="FF0000"/>
                </a:solidFill>
                <a:latin typeface="Helvetica Neue"/>
                <a:cs typeface="+mn-cs"/>
              </a:rPr>
              <a:t>生成数组通用内置函数</a:t>
            </a:r>
            <a:endParaRPr lang="zh-CN" altLang="en-US" sz="2600" dirty="0">
              <a:solidFill>
                <a:srgbClr val="FF0000"/>
              </a:solidFill>
            </a:endParaRPr>
          </a:p>
        </p:txBody>
      </p:sp>
      <p:sp>
        <p:nvSpPr>
          <p:cNvPr id="30" name="矩形 29">
            <a:extLst>
              <a:ext uri="{FF2B5EF4-FFF2-40B4-BE49-F238E27FC236}">
                <a16:creationId xmlns:a16="http://schemas.microsoft.com/office/drawing/2014/main" id="{7F9A7278-6BBC-441B-9F9E-3E9F4BEAB7E2}"/>
              </a:ext>
            </a:extLst>
          </p:cNvPr>
          <p:cNvSpPr/>
          <p:nvPr/>
        </p:nvSpPr>
        <p:spPr>
          <a:xfrm>
            <a:off x="179512" y="1300973"/>
            <a:ext cx="1758238" cy="307777"/>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400" kern="0" dirty="0">
                <a:solidFill>
                  <a:schemeClr val="bg1"/>
                </a:solidFill>
                <a:highlight>
                  <a:srgbClr val="FF0000"/>
                </a:highlight>
              </a:rPr>
              <a:t>内置函数</a:t>
            </a:r>
            <a:r>
              <a:rPr lang="es-ES" altLang="zh-CN" sz="1400" kern="0" dirty="0">
                <a:solidFill>
                  <a:schemeClr val="bg1"/>
                </a:solidFill>
                <a:highlight>
                  <a:srgbClr val="FF0000"/>
                </a:highlight>
              </a:rPr>
              <a:t>(type</a:t>
            </a:r>
            <a:r>
              <a:rPr lang="en-US" altLang="zh-CN" sz="1400" kern="0" dirty="0">
                <a:solidFill>
                  <a:schemeClr val="bg1"/>
                </a:solidFill>
                <a:highlight>
                  <a:srgbClr val="FF0000"/>
                </a:highlight>
              </a:rPr>
              <a:t>,</a:t>
            </a:r>
            <a:r>
              <a:rPr lang="es-ES" altLang="zh-CN" sz="1400" kern="0" dirty="0">
                <a:solidFill>
                  <a:schemeClr val="bg1"/>
                </a:solidFill>
                <a:highlight>
                  <a:srgbClr val="FF0000"/>
                </a:highlight>
              </a:rPr>
              <a:t>dims)</a:t>
            </a:r>
            <a:endParaRPr lang="zh-CN" altLang="en-US" sz="1400" kern="0" dirty="0">
              <a:solidFill>
                <a:schemeClr val="bg1"/>
              </a:solidFill>
              <a:highlight>
                <a:srgbClr val="FF0000"/>
              </a:highlight>
            </a:endParaRPr>
          </a:p>
        </p:txBody>
      </p:sp>
      <p:sp>
        <p:nvSpPr>
          <p:cNvPr id="31" name="文本框 30">
            <a:extLst>
              <a:ext uri="{FF2B5EF4-FFF2-40B4-BE49-F238E27FC236}">
                <a16:creationId xmlns:a16="http://schemas.microsoft.com/office/drawing/2014/main" id="{548E6F8D-D03D-4793-8A68-B20A05B47035}"/>
              </a:ext>
            </a:extLst>
          </p:cNvPr>
          <p:cNvSpPr txBox="1"/>
          <p:nvPr/>
        </p:nvSpPr>
        <p:spPr>
          <a:xfrm>
            <a:off x="1937750" y="1270655"/>
            <a:ext cx="1901865" cy="307777"/>
          </a:xfrm>
          <a:prstGeom prst="rect">
            <a:avLst/>
          </a:prstGeom>
          <a:noFill/>
        </p:spPr>
        <p:txBody>
          <a:bodyPr wrap="square">
            <a:spAutoFit/>
          </a:bodyPr>
          <a:lstStyle/>
          <a:p>
            <a:pPr algn="dist"/>
            <a:r>
              <a:rPr lang="en-US" altLang="zh-CN" sz="1400" dirty="0">
                <a:solidFill>
                  <a:schemeClr val="bg1"/>
                </a:solidFill>
                <a:highlight>
                  <a:srgbClr val="3399FF"/>
                </a:highlight>
              </a:rPr>
              <a:t>type</a:t>
            </a:r>
            <a:r>
              <a:rPr lang="zh-CN" altLang="en-US" sz="1400" dirty="0">
                <a:solidFill>
                  <a:schemeClr val="bg1"/>
                </a:solidFill>
                <a:highlight>
                  <a:srgbClr val="3399FF"/>
                </a:highlight>
              </a:rPr>
              <a:t>数据类型</a:t>
            </a:r>
            <a:r>
              <a:rPr lang="en-US" altLang="zh-CN" sz="1400" dirty="0">
                <a:solidFill>
                  <a:schemeClr val="bg1"/>
                </a:solidFill>
                <a:highlight>
                  <a:srgbClr val="3399FF"/>
                </a:highlight>
              </a:rPr>
              <a:t>,</a:t>
            </a:r>
            <a:r>
              <a:rPr lang="zh-CN" altLang="en-US" sz="1400" dirty="0">
                <a:solidFill>
                  <a:schemeClr val="bg1"/>
                </a:solidFill>
                <a:highlight>
                  <a:srgbClr val="3399FF"/>
                </a:highlight>
              </a:rPr>
              <a:t>可忽略</a:t>
            </a:r>
          </a:p>
        </p:txBody>
      </p:sp>
      <p:sp>
        <p:nvSpPr>
          <p:cNvPr id="32" name="文本框 31">
            <a:extLst>
              <a:ext uri="{FF2B5EF4-FFF2-40B4-BE49-F238E27FC236}">
                <a16:creationId xmlns:a16="http://schemas.microsoft.com/office/drawing/2014/main" id="{E18997DA-CA06-4EAD-9F3A-0B5187C906B7}"/>
              </a:ext>
            </a:extLst>
          </p:cNvPr>
          <p:cNvSpPr txBox="1"/>
          <p:nvPr/>
        </p:nvSpPr>
        <p:spPr>
          <a:xfrm>
            <a:off x="6518723" y="1587573"/>
            <a:ext cx="1631862" cy="369332"/>
          </a:xfrm>
          <a:prstGeom prst="rect">
            <a:avLst/>
          </a:prstGeom>
          <a:noFill/>
        </p:spPr>
        <p:txBody>
          <a:bodyPr wrap="square">
            <a:spAutoFit/>
          </a:bodyPr>
          <a:lstStyle/>
          <a:p>
            <a:r>
              <a:rPr lang="zh-CN" altLang="en-US" sz="1800" b="1" kern="0" dirty="0">
                <a:solidFill>
                  <a:srgbClr val="66CCFF"/>
                </a:solidFill>
                <a:latin typeface="微软雅黑" panose="020B0503020204020204" pitchFamily="34" charset="-122"/>
                <a:ea typeface="微软雅黑" panose="020B0503020204020204" pitchFamily="34" charset="-122"/>
              </a:rPr>
              <a:t>或 </a:t>
            </a:r>
            <a:r>
              <a:rPr lang="en-US" altLang="zh-CN" sz="1800" b="1" kern="0" dirty="0">
                <a:solidFill>
                  <a:srgbClr val="66CCFF"/>
                </a:solidFill>
                <a:latin typeface="微软雅黑" panose="020B0503020204020204" pitchFamily="34" charset="-122"/>
                <a:ea typeface="微软雅黑" panose="020B0503020204020204" pitchFamily="34" charset="-122"/>
              </a:rPr>
              <a:t>ones(3,1)</a:t>
            </a:r>
            <a:endParaRPr lang="zh-CN" altLang="en-US" dirty="0">
              <a:solidFill>
                <a:srgbClr val="66CCFF"/>
              </a:solidFill>
            </a:endParaRPr>
          </a:p>
        </p:txBody>
      </p:sp>
      <p:sp>
        <p:nvSpPr>
          <p:cNvPr id="6" name="矩形: 圆角 5">
            <a:extLst>
              <a:ext uri="{FF2B5EF4-FFF2-40B4-BE49-F238E27FC236}">
                <a16:creationId xmlns:a16="http://schemas.microsoft.com/office/drawing/2014/main" id="{3B19FDA1-5DA4-4FB6-ADCE-8FDEE3984DC5}"/>
              </a:ext>
            </a:extLst>
          </p:cNvPr>
          <p:cNvSpPr/>
          <p:nvPr/>
        </p:nvSpPr>
        <p:spPr bwMode="auto">
          <a:xfrm>
            <a:off x="300148" y="1706514"/>
            <a:ext cx="527635" cy="1778008"/>
          </a:xfrm>
          <a:prstGeom prst="round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8" name="对话气泡: 矩形 37">
            <a:extLst>
              <a:ext uri="{FF2B5EF4-FFF2-40B4-BE49-F238E27FC236}">
                <a16:creationId xmlns:a16="http://schemas.microsoft.com/office/drawing/2014/main" id="{BE7DA052-6DC6-4761-849A-0F6830DF164E}"/>
              </a:ext>
            </a:extLst>
          </p:cNvPr>
          <p:cNvSpPr/>
          <p:nvPr/>
        </p:nvSpPr>
        <p:spPr bwMode="auto">
          <a:xfrm>
            <a:off x="1115616" y="2296030"/>
            <a:ext cx="527635" cy="276998"/>
          </a:xfrm>
          <a:prstGeom prst="wedgeRectCallout">
            <a:avLst>
              <a:gd name="adj1" fmla="val -96033"/>
              <a:gd name="adj2" fmla="val -19888"/>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9" name="文本框 38">
            <a:extLst>
              <a:ext uri="{FF2B5EF4-FFF2-40B4-BE49-F238E27FC236}">
                <a16:creationId xmlns:a16="http://schemas.microsoft.com/office/drawing/2014/main" id="{D73C4E86-50D4-48C1-9A40-BC3C09FE44D9}"/>
              </a:ext>
            </a:extLst>
          </p:cNvPr>
          <p:cNvSpPr txBox="1"/>
          <p:nvPr/>
        </p:nvSpPr>
        <p:spPr>
          <a:xfrm>
            <a:off x="1114917" y="2279226"/>
            <a:ext cx="576763" cy="327397"/>
          </a:xfrm>
          <a:prstGeom prst="rect">
            <a:avLst/>
          </a:prstGeom>
          <a:noFill/>
        </p:spPr>
        <p:txBody>
          <a:bodyPr wrap="square">
            <a:spAutoFit/>
          </a:bodyPr>
          <a:lstStyle/>
          <a:p>
            <a:pPr>
              <a:lnSpc>
                <a:spcPts val="2000"/>
              </a:lnSpc>
            </a:pPr>
            <a:r>
              <a:rPr lang="zh-CN" altLang="en-US" sz="1400" dirty="0">
                <a:solidFill>
                  <a:srgbClr val="FF0000"/>
                </a:solidFill>
                <a:latin typeface="微软雅黑" panose="020B0503020204020204" pitchFamily="34" charset="-122"/>
                <a:ea typeface="微软雅黑" panose="020B0503020204020204" pitchFamily="34" charset="-122"/>
              </a:rPr>
              <a:t>通用</a:t>
            </a:r>
          </a:p>
        </p:txBody>
      </p:sp>
      <p:sp>
        <p:nvSpPr>
          <p:cNvPr id="40" name="对话气泡: 矩形 39">
            <a:extLst>
              <a:ext uri="{FF2B5EF4-FFF2-40B4-BE49-F238E27FC236}">
                <a16:creationId xmlns:a16="http://schemas.microsoft.com/office/drawing/2014/main" id="{248AC31B-EACF-4C0B-AF8F-04A3D9639C00}"/>
              </a:ext>
            </a:extLst>
          </p:cNvPr>
          <p:cNvSpPr/>
          <p:nvPr/>
        </p:nvSpPr>
        <p:spPr bwMode="auto">
          <a:xfrm>
            <a:off x="1011747" y="3347380"/>
            <a:ext cx="576762" cy="276998"/>
          </a:xfrm>
          <a:prstGeom prst="wedgeRectCallout">
            <a:avLst>
              <a:gd name="adj1" fmla="val -93496"/>
              <a:gd name="adj2" fmla="val 77825"/>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41" name="文本框 40">
            <a:extLst>
              <a:ext uri="{FF2B5EF4-FFF2-40B4-BE49-F238E27FC236}">
                <a16:creationId xmlns:a16="http://schemas.microsoft.com/office/drawing/2014/main" id="{3CCDE143-B6D4-4B01-9A00-88B840153F48}"/>
              </a:ext>
            </a:extLst>
          </p:cNvPr>
          <p:cNvSpPr txBox="1"/>
          <p:nvPr/>
        </p:nvSpPr>
        <p:spPr>
          <a:xfrm>
            <a:off x="1042910" y="3330576"/>
            <a:ext cx="576762" cy="327397"/>
          </a:xfrm>
          <a:prstGeom prst="rect">
            <a:avLst/>
          </a:prstGeom>
          <a:noFill/>
        </p:spPr>
        <p:txBody>
          <a:bodyPr wrap="square">
            <a:spAutoFit/>
          </a:bodyPr>
          <a:lstStyle/>
          <a:p>
            <a:pPr>
              <a:lnSpc>
                <a:spcPts val="2000"/>
              </a:lnSpc>
            </a:pPr>
            <a:r>
              <a:rPr lang="zh-CN" altLang="en-US" sz="1400" dirty="0">
                <a:solidFill>
                  <a:srgbClr val="FF0000"/>
                </a:solidFill>
                <a:latin typeface="微软雅黑" panose="020B0503020204020204" pitchFamily="34" charset="-122"/>
                <a:ea typeface="微软雅黑" panose="020B0503020204020204" pitchFamily="34" charset="-122"/>
              </a:rPr>
              <a:t>专用</a:t>
            </a:r>
          </a:p>
        </p:txBody>
      </p:sp>
      <p:sp>
        <p:nvSpPr>
          <p:cNvPr id="42" name="矩形: 圆角 41">
            <a:extLst>
              <a:ext uri="{FF2B5EF4-FFF2-40B4-BE49-F238E27FC236}">
                <a16:creationId xmlns:a16="http://schemas.microsoft.com/office/drawing/2014/main" id="{0B833619-7666-4190-BFDC-E356AAB2D8B2}"/>
              </a:ext>
            </a:extLst>
          </p:cNvPr>
          <p:cNvSpPr/>
          <p:nvPr/>
        </p:nvSpPr>
        <p:spPr bwMode="auto">
          <a:xfrm>
            <a:off x="259852" y="3647973"/>
            <a:ext cx="608226" cy="267029"/>
          </a:xfrm>
          <a:prstGeom prst="round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9" name="矩形 8">
            <a:extLst>
              <a:ext uri="{FF2B5EF4-FFF2-40B4-BE49-F238E27FC236}">
                <a16:creationId xmlns:a16="http://schemas.microsoft.com/office/drawing/2014/main" id="{253DC3F9-325E-42E0-B5BF-CA6B87C04FE3}"/>
              </a:ext>
            </a:extLst>
          </p:cNvPr>
          <p:cNvSpPr/>
          <p:nvPr/>
        </p:nvSpPr>
        <p:spPr bwMode="auto">
          <a:xfrm>
            <a:off x="4067945" y="1270655"/>
            <a:ext cx="4909148" cy="2710952"/>
          </a:xfrm>
          <a:prstGeom prst="rect">
            <a:avLst/>
          </a:prstGeom>
          <a:noFill/>
          <a:ln w="1270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335691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p:bldP spid="23" grpId="0" animBg="1"/>
      <p:bldP spid="24" grpId="0"/>
      <p:bldP spid="25" grpId="0" animBg="1"/>
      <p:bldP spid="26" grpId="0"/>
      <p:bldP spid="21" grpId="0"/>
      <p:bldP spid="27" grpId="0"/>
      <p:bldP spid="28" grpId="0"/>
      <p:bldP spid="29" grpId="0"/>
      <p:bldP spid="34" grpId="0"/>
      <p:bldP spid="35" grpId="0" animBg="1"/>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4B96230-77D7-4983-BA0B-F5EBE37C178A}"/>
              </a:ext>
            </a:extLst>
          </p:cNvPr>
          <p:cNvSpPr>
            <a:spLocks noGrp="1"/>
          </p:cNvSpPr>
          <p:nvPr>
            <p:ph idx="1"/>
          </p:nvPr>
        </p:nvSpPr>
        <p:spPr>
          <a:xfrm>
            <a:off x="558621" y="1009842"/>
            <a:ext cx="3849551" cy="1785104"/>
          </a:xfrm>
        </p:spPr>
        <p:txBody>
          <a:bodyPr/>
          <a:lstStyle/>
          <a:p>
            <a:pPr marL="0" indent="0">
              <a:lnSpc>
                <a:spcPct val="100000"/>
              </a:lnSpc>
              <a:buNone/>
            </a:pPr>
            <a:r>
              <a:rPr lang="en-US" altLang="zh-CN" sz="2000" dirty="0"/>
              <a:t>julia&gt; r=rand(4)  </a:t>
            </a:r>
            <a:r>
              <a:rPr lang="en-US" altLang="zh-CN" sz="2000" dirty="0">
                <a:solidFill>
                  <a:srgbClr val="FF0000"/>
                </a:solidFill>
              </a:rPr>
              <a:t>#matlab  rand(4,1)</a:t>
            </a:r>
          </a:p>
          <a:p>
            <a:pPr marL="0" indent="0">
              <a:lnSpc>
                <a:spcPct val="100000"/>
              </a:lnSpc>
              <a:buNone/>
            </a:pPr>
            <a:r>
              <a:rPr lang="en-US" altLang="zh-CN" sz="1800" b="1" u="sng" dirty="0">
                <a:solidFill>
                  <a:srgbClr val="00B0F0"/>
                </a:solidFill>
              </a:rPr>
              <a:t>4-element </a:t>
            </a:r>
            <a:r>
              <a:rPr lang="en-US" altLang="zh-CN" sz="1800" b="1" u="sng" dirty="0">
                <a:solidFill>
                  <a:srgbClr val="FF0000"/>
                </a:solidFill>
              </a:rPr>
              <a:t>Vecto</a:t>
            </a:r>
            <a:r>
              <a:rPr lang="en-US" altLang="zh-CN" sz="1800" b="1" u="sng" dirty="0">
                <a:solidFill>
                  <a:srgbClr val="00B0F0"/>
                </a:solidFill>
              </a:rPr>
              <a:t>r{Float64}:</a:t>
            </a:r>
          </a:p>
          <a:p>
            <a:pPr marL="0" indent="0">
              <a:lnSpc>
                <a:spcPct val="100000"/>
              </a:lnSpc>
              <a:buNone/>
            </a:pPr>
            <a:r>
              <a:rPr lang="en-US" altLang="zh-CN" sz="1800" dirty="0">
                <a:solidFill>
                  <a:srgbClr val="00B0F0"/>
                </a:solidFill>
              </a:rPr>
              <a:t> 0.265546436567487</a:t>
            </a:r>
          </a:p>
          <a:p>
            <a:pPr marL="0" indent="0">
              <a:lnSpc>
                <a:spcPct val="100000"/>
              </a:lnSpc>
              <a:buNone/>
            </a:pPr>
            <a:r>
              <a:rPr lang="en-US" altLang="zh-CN" sz="1800" dirty="0">
                <a:solidFill>
                  <a:srgbClr val="00B0F0"/>
                </a:solidFill>
              </a:rPr>
              <a:t> 0.41291485134256734</a:t>
            </a:r>
          </a:p>
          <a:p>
            <a:pPr marL="0" indent="0">
              <a:lnSpc>
                <a:spcPct val="100000"/>
              </a:lnSpc>
              <a:buNone/>
            </a:pPr>
            <a:r>
              <a:rPr lang="en-US" altLang="zh-CN" sz="1800" dirty="0">
                <a:solidFill>
                  <a:srgbClr val="00B0F0"/>
                </a:solidFill>
              </a:rPr>
              <a:t> 0.16683636268944124</a:t>
            </a:r>
          </a:p>
          <a:p>
            <a:pPr marL="0" indent="0">
              <a:lnSpc>
                <a:spcPct val="100000"/>
              </a:lnSpc>
              <a:buNone/>
            </a:pPr>
            <a:r>
              <a:rPr lang="en-US" altLang="zh-CN" sz="1800" dirty="0">
                <a:solidFill>
                  <a:srgbClr val="00B0F0"/>
                </a:solidFill>
              </a:rPr>
              <a:t> 0.5270053096887943</a:t>
            </a:r>
          </a:p>
        </p:txBody>
      </p:sp>
      <p:sp>
        <p:nvSpPr>
          <p:cNvPr id="5" name="文本框 4">
            <a:extLst>
              <a:ext uri="{FF2B5EF4-FFF2-40B4-BE49-F238E27FC236}">
                <a16:creationId xmlns:a16="http://schemas.microsoft.com/office/drawing/2014/main" id="{B2381A31-7DDB-47D5-9149-1F49D80DF69E}"/>
              </a:ext>
            </a:extLst>
          </p:cNvPr>
          <p:cNvSpPr txBox="1"/>
          <p:nvPr/>
        </p:nvSpPr>
        <p:spPr>
          <a:xfrm>
            <a:off x="4622979" y="3032645"/>
            <a:ext cx="3205792" cy="1433341"/>
          </a:xfrm>
          <a:prstGeom prst="rect">
            <a:avLst/>
          </a:prstGeom>
          <a:noFill/>
        </p:spPr>
        <p:txBody>
          <a:bodyPr wrap="square">
            <a:spAutoFit/>
          </a:bodyPr>
          <a:lstStyle/>
          <a:p>
            <a:pPr eaLnBrk="0" hangingPunct="0">
              <a:lnSpc>
                <a:spcPct val="110000"/>
              </a:lnSpc>
            </a:pPr>
            <a:r>
              <a:rPr lang="de-DE" altLang="zh-CN" sz="2000" dirty="0">
                <a:solidFill>
                  <a:srgbClr val="002060"/>
                </a:solidFill>
                <a:latin typeface="华文楷体" panose="02010600040101010101" pitchFamily="2" charset="-122"/>
                <a:ea typeface="华文楷体" panose="02010600040101010101" pitchFamily="2" charset="-122"/>
              </a:rPr>
              <a:t>julia&gt; ff=zeros(</a:t>
            </a:r>
            <a:r>
              <a:rPr lang="de-DE" altLang="zh-CN" sz="2000" b="1" u="sng" dirty="0">
                <a:solidFill>
                  <a:srgbClr val="FF0000"/>
                </a:solidFill>
                <a:latin typeface="华文楷体" panose="02010600040101010101" pitchFamily="2" charset="-122"/>
                <a:ea typeface="华文楷体" panose="02010600040101010101" pitchFamily="2" charset="-122"/>
              </a:rPr>
              <a:t>Complex,</a:t>
            </a:r>
            <a:r>
              <a:rPr lang="de-DE" altLang="zh-CN" sz="2000" dirty="0">
                <a:solidFill>
                  <a:srgbClr val="002060"/>
                </a:solidFill>
                <a:latin typeface="华文楷体" panose="02010600040101010101" pitchFamily="2" charset="-122"/>
                <a:ea typeface="华文楷体" panose="02010600040101010101" pitchFamily="2" charset="-122"/>
              </a:rPr>
              <a:t>2,3)</a:t>
            </a:r>
          </a:p>
          <a:p>
            <a:pPr eaLnBrk="0" hangingPunct="0">
              <a:lnSpc>
                <a:spcPct val="110000"/>
              </a:lnSpc>
            </a:pPr>
            <a:r>
              <a:rPr lang="de-DE" altLang="zh-CN" sz="2000" dirty="0">
                <a:solidFill>
                  <a:srgbClr val="00B0F0"/>
                </a:solidFill>
                <a:latin typeface="华文楷体" panose="02010600040101010101" pitchFamily="2" charset="-122"/>
                <a:ea typeface="华文楷体" panose="02010600040101010101" pitchFamily="2" charset="-122"/>
              </a:rPr>
              <a:t>2×3 </a:t>
            </a:r>
            <a:r>
              <a:rPr lang="de-DE" altLang="zh-CN" sz="2000" b="1" u="sng" dirty="0">
                <a:solidFill>
                  <a:srgbClr val="FF0000"/>
                </a:solidFill>
                <a:latin typeface="华文楷体" panose="02010600040101010101" pitchFamily="2" charset="-122"/>
                <a:ea typeface="华文楷体" panose="02010600040101010101" pitchFamily="2" charset="-122"/>
              </a:rPr>
              <a:t>Matrix{Complex}:</a:t>
            </a:r>
          </a:p>
          <a:p>
            <a:pPr eaLnBrk="0" hangingPunct="0">
              <a:lnSpc>
                <a:spcPct val="110000"/>
              </a:lnSpc>
            </a:pPr>
            <a:r>
              <a:rPr lang="de-DE" altLang="zh-CN" sz="2000" dirty="0">
                <a:solidFill>
                  <a:srgbClr val="00B0F0"/>
                </a:solidFill>
                <a:latin typeface="华文楷体" panose="02010600040101010101" pitchFamily="2" charset="-122"/>
                <a:ea typeface="华文楷体" panose="02010600040101010101" pitchFamily="2" charset="-122"/>
              </a:rPr>
              <a:t> 0+0im  0+0im  0+0im</a:t>
            </a:r>
          </a:p>
          <a:p>
            <a:pPr eaLnBrk="0" hangingPunct="0">
              <a:lnSpc>
                <a:spcPct val="110000"/>
              </a:lnSpc>
            </a:pPr>
            <a:r>
              <a:rPr lang="de-DE" altLang="zh-CN" sz="2000" dirty="0">
                <a:solidFill>
                  <a:srgbClr val="00B0F0"/>
                </a:solidFill>
                <a:latin typeface="华文楷体" panose="02010600040101010101" pitchFamily="2" charset="-122"/>
                <a:ea typeface="华文楷体" panose="02010600040101010101" pitchFamily="2" charset="-122"/>
              </a:rPr>
              <a:t> 0+0im  0+0im  0+0im</a:t>
            </a:r>
            <a:endParaRPr lang="zh-CN" altLang="en-US" sz="2000" dirty="0">
              <a:solidFill>
                <a:srgbClr val="00B0F0"/>
              </a:solidFill>
              <a:latin typeface="华文楷体" panose="02010600040101010101" pitchFamily="2" charset="-122"/>
              <a:ea typeface="华文楷体" panose="02010600040101010101" pitchFamily="2" charset="-122"/>
            </a:endParaRPr>
          </a:p>
        </p:txBody>
      </p:sp>
      <p:sp>
        <p:nvSpPr>
          <p:cNvPr id="7" name="文本框 6">
            <a:extLst>
              <a:ext uri="{FF2B5EF4-FFF2-40B4-BE49-F238E27FC236}">
                <a16:creationId xmlns:a16="http://schemas.microsoft.com/office/drawing/2014/main" id="{7EDDD939-9402-4F62-9376-E6AEE2E241CB}"/>
              </a:ext>
            </a:extLst>
          </p:cNvPr>
          <p:cNvSpPr txBox="1"/>
          <p:nvPr/>
        </p:nvSpPr>
        <p:spPr>
          <a:xfrm>
            <a:off x="2930031" y="2317550"/>
            <a:ext cx="4683598" cy="2369880"/>
          </a:xfrm>
          <a:prstGeom prst="rect">
            <a:avLst/>
          </a:prstGeom>
          <a:noFill/>
        </p:spPr>
        <p:txBody>
          <a:bodyPr wrap="square">
            <a:spAutoFit/>
          </a:bodyPr>
          <a:lstStyle/>
          <a:p>
            <a:r>
              <a:rPr lang="en-US" altLang="zh-CN" dirty="0">
                <a:solidFill>
                  <a:srgbClr val="002060"/>
                </a:solidFill>
                <a:latin typeface="华文楷体" panose="02010600040101010101" pitchFamily="2" charset="-122"/>
                <a:ea typeface="华文楷体" panose="02010600040101010101" pitchFamily="2" charset="-122"/>
              </a:rPr>
              <a:t>julia&gt; z=zeros(2,3,2) #</a:t>
            </a:r>
            <a:r>
              <a:rPr lang="zh-CN" altLang="en-US" dirty="0">
                <a:solidFill>
                  <a:srgbClr val="002060"/>
                </a:solidFill>
                <a:latin typeface="华文楷体" panose="02010600040101010101" pitchFamily="2" charset="-122"/>
                <a:ea typeface="华文楷体" panose="02010600040101010101" pitchFamily="2" charset="-122"/>
              </a:rPr>
              <a:t>创建</a:t>
            </a:r>
            <a:r>
              <a:rPr lang="en-US" altLang="zh-CN" dirty="0">
                <a:solidFill>
                  <a:srgbClr val="002060"/>
                </a:solidFill>
                <a:latin typeface="华文楷体" panose="02010600040101010101" pitchFamily="2" charset="-122"/>
                <a:ea typeface="华文楷体" panose="02010600040101010101" pitchFamily="2" charset="-122"/>
              </a:rPr>
              <a:t>2</a:t>
            </a:r>
            <a:r>
              <a:rPr lang="zh-CN" altLang="en-US" dirty="0">
                <a:solidFill>
                  <a:srgbClr val="002060"/>
                </a:solidFill>
                <a:latin typeface="华文楷体" panose="02010600040101010101" pitchFamily="2" charset="-122"/>
                <a:ea typeface="华文楷体" panose="02010600040101010101" pitchFamily="2" charset="-122"/>
              </a:rPr>
              <a:t>行</a:t>
            </a:r>
            <a:r>
              <a:rPr lang="en-US" altLang="zh-CN" dirty="0">
                <a:solidFill>
                  <a:srgbClr val="002060"/>
                </a:solidFill>
                <a:latin typeface="华文楷体" panose="02010600040101010101" pitchFamily="2" charset="-122"/>
                <a:ea typeface="华文楷体" panose="02010600040101010101" pitchFamily="2" charset="-122"/>
              </a:rPr>
              <a:t>3</a:t>
            </a:r>
            <a:r>
              <a:rPr lang="zh-CN" altLang="en-US" dirty="0">
                <a:solidFill>
                  <a:srgbClr val="002060"/>
                </a:solidFill>
                <a:latin typeface="华文楷体" panose="02010600040101010101" pitchFamily="2" charset="-122"/>
                <a:ea typeface="华文楷体" panose="02010600040101010101" pitchFamily="2" charset="-122"/>
              </a:rPr>
              <a:t>列</a:t>
            </a:r>
            <a:r>
              <a:rPr lang="en-US" altLang="zh-CN" dirty="0">
                <a:solidFill>
                  <a:srgbClr val="002060"/>
                </a:solidFill>
                <a:latin typeface="华文楷体" panose="02010600040101010101" pitchFamily="2" charset="-122"/>
                <a:ea typeface="华文楷体" panose="02010600040101010101" pitchFamily="2" charset="-122"/>
              </a:rPr>
              <a:t>2</a:t>
            </a:r>
            <a:r>
              <a:rPr lang="zh-CN" altLang="en-US" dirty="0">
                <a:solidFill>
                  <a:srgbClr val="002060"/>
                </a:solidFill>
                <a:latin typeface="华文楷体" panose="02010600040101010101" pitchFamily="2" charset="-122"/>
                <a:ea typeface="华文楷体" panose="02010600040101010101" pitchFamily="2" charset="-122"/>
              </a:rPr>
              <a:t>页三维数组</a:t>
            </a:r>
            <a:endParaRPr lang="en-US" altLang="zh-CN" dirty="0">
              <a:solidFill>
                <a:srgbClr val="002060"/>
              </a:solidFill>
              <a:latin typeface="华文楷体" panose="02010600040101010101" pitchFamily="2" charset="-122"/>
              <a:ea typeface="华文楷体" panose="02010600040101010101" pitchFamily="2" charset="-122"/>
            </a:endParaRPr>
          </a:p>
          <a:p>
            <a:pPr eaLnBrk="0" hangingPunct="0">
              <a:lnSpc>
                <a:spcPct val="110000"/>
              </a:lnSpc>
            </a:pPr>
            <a:r>
              <a:rPr lang="en-US" altLang="zh-CN" sz="2000" b="1" dirty="0">
                <a:solidFill>
                  <a:srgbClr val="66CCFF"/>
                </a:solidFill>
                <a:latin typeface="华文楷体" panose="02010600040101010101" pitchFamily="2" charset="-122"/>
                <a:ea typeface="华文楷体" panose="02010600040101010101" pitchFamily="2" charset="-122"/>
              </a:rPr>
              <a:t>2×3×2 </a:t>
            </a:r>
            <a:r>
              <a:rPr lang="en-US" altLang="zh-CN" sz="2000" b="1" u="sng" dirty="0">
                <a:solidFill>
                  <a:srgbClr val="FF0000"/>
                </a:solidFill>
                <a:latin typeface="华文楷体" panose="02010600040101010101" pitchFamily="2" charset="-122"/>
                <a:ea typeface="华文楷体" panose="02010600040101010101" pitchFamily="2" charset="-122"/>
              </a:rPr>
              <a:t>Array{Float64, 3}:</a:t>
            </a:r>
          </a:p>
          <a:p>
            <a:r>
              <a:rPr lang="en-US" altLang="zh-CN" dirty="0">
                <a:solidFill>
                  <a:srgbClr val="00B0F0"/>
                </a:solidFill>
                <a:latin typeface="华文楷体" panose="02010600040101010101" pitchFamily="2" charset="-122"/>
                <a:ea typeface="华文楷体" panose="02010600040101010101" pitchFamily="2" charset="-122"/>
              </a:rPr>
              <a:t>[:, :, 1] =</a:t>
            </a:r>
          </a:p>
          <a:p>
            <a:r>
              <a:rPr lang="en-US" altLang="zh-CN" dirty="0">
                <a:solidFill>
                  <a:srgbClr val="00B0F0"/>
                </a:solidFill>
                <a:latin typeface="华文楷体" panose="02010600040101010101" pitchFamily="2" charset="-122"/>
                <a:ea typeface="华文楷体" panose="02010600040101010101" pitchFamily="2" charset="-122"/>
              </a:rPr>
              <a:t> 0.0  0.0  0.0</a:t>
            </a:r>
          </a:p>
          <a:p>
            <a:r>
              <a:rPr lang="en-US" altLang="zh-CN" dirty="0">
                <a:solidFill>
                  <a:srgbClr val="00B0F0"/>
                </a:solidFill>
                <a:latin typeface="华文楷体" panose="02010600040101010101" pitchFamily="2" charset="-122"/>
                <a:ea typeface="华文楷体" panose="02010600040101010101" pitchFamily="2" charset="-122"/>
              </a:rPr>
              <a:t> 0.0  0.0  0.0</a:t>
            </a:r>
          </a:p>
          <a:p>
            <a:r>
              <a:rPr lang="en-US" altLang="zh-CN" dirty="0">
                <a:solidFill>
                  <a:srgbClr val="00B0F0"/>
                </a:solidFill>
                <a:latin typeface="华文楷体" panose="02010600040101010101" pitchFamily="2" charset="-122"/>
                <a:ea typeface="华文楷体" panose="02010600040101010101" pitchFamily="2" charset="-122"/>
              </a:rPr>
              <a:t>[:, :, 2] =</a:t>
            </a:r>
          </a:p>
          <a:p>
            <a:r>
              <a:rPr lang="en-US" altLang="zh-CN" dirty="0">
                <a:solidFill>
                  <a:srgbClr val="00B0F0"/>
                </a:solidFill>
                <a:latin typeface="华文楷体" panose="02010600040101010101" pitchFamily="2" charset="-122"/>
                <a:ea typeface="华文楷体" panose="02010600040101010101" pitchFamily="2" charset="-122"/>
              </a:rPr>
              <a:t> 0.0  0.0  0.0</a:t>
            </a:r>
          </a:p>
          <a:p>
            <a:r>
              <a:rPr lang="en-US" altLang="zh-CN" dirty="0">
                <a:solidFill>
                  <a:srgbClr val="00B0F0"/>
                </a:solidFill>
                <a:latin typeface="华文楷体" panose="02010600040101010101" pitchFamily="2" charset="-122"/>
                <a:ea typeface="华文楷体" panose="02010600040101010101" pitchFamily="2" charset="-122"/>
              </a:rPr>
              <a:t> 0.0  0.0  0.0</a:t>
            </a:r>
            <a:endParaRPr lang="zh-CN" altLang="en-US" dirty="0">
              <a:solidFill>
                <a:srgbClr val="00B0F0"/>
              </a:solidFill>
              <a:latin typeface="华文楷体" panose="02010600040101010101" pitchFamily="2" charset="-122"/>
              <a:ea typeface="华文楷体" panose="02010600040101010101" pitchFamily="2" charset="-122"/>
            </a:endParaRPr>
          </a:p>
        </p:txBody>
      </p:sp>
      <p:sp>
        <p:nvSpPr>
          <p:cNvPr id="12" name="文本框 11">
            <a:extLst>
              <a:ext uri="{FF2B5EF4-FFF2-40B4-BE49-F238E27FC236}">
                <a16:creationId xmlns:a16="http://schemas.microsoft.com/office/drawing/2014/main" id="{7E8AE856-5BF2-4F27-A597-B6342BE19E62}"/>
              </a:ext>
            </a:extLst>
          </p:cNvPr>
          <p:cNvSpPr txBox="1"/>
          <p:nvPr/>
        </p:nvSpPr>
        <p:spPr>
          <a:xfrm>
            <a:off x="558621" y="2806466"/>
            <a:ext cx="2357195" cy="1880964"/>
          </a:xfrm>
          <a:prstGeom prst="rect">
            <a:avLst/>
          </a:prstGeom>
          <a:noFill/>
        </p:spPr>
        <p:txBody>
          <a:bodyPr wrap="square">
            <a:spAutoFit/>
          </a:bodyPr>
          <a:lstStyle/>
          <a:p>
            <a:r>
              <a:rPr lang="zh-CN" altLang="en-US" dirty="0"/>
              <a:t>julia&gt; rand(4,1)</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4×</a:t>
            </a:r>
            <a:r>
              <a:rPr lang="zh-CN" altLang="en-US" b="1" u="sng" dirty="0">
                <a:solidFill>
                  <a:srgbClr val="FF0000"/>
                </a:solidFill>
                <a:latin typeface="华文楷体" panose="02010600040101010101" pitchFamily="2" charset="-122"/>
                <a:ea typeface="华文楷体" panose="02010600040101010101" pitchFamily="2" charset="-122"/>
              </a:rPr>
              <a:t>1 Matrix</a:t>
            </a:r>
            <a:r>
              <a:rPr lang="zh-CN" altLang="en-US" dirty="0">
                <a:solidFill>
                  <a:srgbClr val="00B0F0"/>
                </a:solidFill>
                <a:latin typeface="华文楷体" panose="02010600040101010101" pitchFamily="2" charset="-122"/>
                <a:ea typeface="华文楷体" panose="02010600040101010101" pitchFamily="2" charset="-122"/>
              </a:rPr>
              <a:t>{Float64}:</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 0.1901694923871634</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 0.3667127064969249</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 0.6823169769985749</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 0.8896720611929743</a:t>
            </a:r>
          </a:p>
        </p:txBody>
      </p:sp>
      <p:sp>
        <p:nvSpPr>
          <p:cNvPr id="14" name="文本框 13">
            <a:extLst>
              <a:ext uri="{FF2B5EF4-FFF2-40B4-BE49-F238E27FC236}">
                <a16:creationId xmlns:a16="http://schemas.microsoft.com/office/drawing/2014/main" id="{4571BBBC-6E15-4E01-90BF-D5BDE8392076}"/>
              </a:ext>
            </a:extLst>
          </p:cNvPr>
          <p:cNvSpPr txBox="1"/>
          <p:nvPr/>
        </p:nvSpPr>
        <p:spPr>
          <a:xfrm>
            <a:off x="4918371" y="1066645"/>
            <a:ext cx="2621344" cy="1231106"/>
          </a:xfrm>
          <a:prstGeom prst="rect">
            <a:avLst/>
          </a:prstGeom>
          <a:noFill/>
        </p:spPr>
        <p:txBody>
          <a:bodyPr wrap="square">
            <a:spAutoFit/>
          </a:bodyPr>
          <a:lstStyle/>
          <a:p>
            <a:pPr marL="0" indent="0">
              <a:buNone/>
            </a:pPr>
            <a:r>
              <a:rPr lang="en-US" altLang="zh-CN" sz="1800" dirty="0" err="1"/>
              <a:t>julia</a:t>
            </a:r>
            <a:r>
              <a:rPr lang="en-US" altLang="zh-CN" sz="1800" dirty="0"/>
              <a:t>&gt; z=zeros(2,3)</a:t>
            </a:r>
          </a:p>
          <a:p>
            <a:pPr marL="0" indent="0">
              <a:buNone/>
            </a:pPr>
            <a:r>
              <a:rPr lang="en-US" altLang="zh-CN" sz="1800" u="sng" dirty="0">
                <a:solidFill>
                  <a:srgbClr val="00B0F0"/>
                </a:solidFill>
              </a:rPr>
              <a:t>2×3 </a:t>
            </a:r>
            <a:r>
              <a:rPr lang="en-US" altLang="zh-CN" sz="2000" b="1" u="sng" dirty="0">
                <a:solidFill>
                  <a:srgbClr val="FF0000"/>
                </a:solidFill>
                <a:latin typeface="华文楷体" panose="02010600040101010101" pitchFamily="2" charset="-122"/>
                <a:ea typeface="华文楷体" panose="02010600040101010101" pitchFamily="2" charset="-122"/>
              </a:rPr>
              <a:t>Matrix{Float64}:</a:t>
            </a:r>
          </a:p>
          <a:p>
            <a:pPr marL="0" indent="0">
              <a:buNone/>
            </a:pPr>
            <a:r>
              <a:rPr lang="en-US" altLang="zh-CN" sz="1800" dirty="0">
                <a:solidFill>
                  <a:srgbClr val="00B0F0"/>
                </a:solidFill>
              </a:rPr>
              <a:t> 0.0  0.0  0.0</a:t>
            </a:r>
          </a:p>
          <a:p>
            <a:pPr marL="0" indent="0">
              <a:buNone/>
            </a:pPr>
            <a:r>
              <a:rPr lang="en-US" altLang="zh-CN" sz="1800" dirty="0">
                <a:solidFill>
                  <a:srgbClr val="00B0F0"/>
                </a:solidFill>
              </a:rPr>
              <a:t> 0.0  0.0  0.0</a:t>
            </a:r>
            <a:endParaRPr lang="zh-CN" altLang="en-US" sz="1800" dirty="0">
              <a:solidFill>
                <a:srgbClr val="00B0F0"/>
              </a:solidFill>
            </a:endParaRPr>
          </a:p>
        </p:txBody>
      </p:sp>
      <p:sp>
        <p:nvSpPr>
          <p:cNvPr id="10" name="波形 9">
            <a:extLst>
              <a:ext uri="{FF2B5EF4-FFF2-40B4-BE49-F238E27FC236}">
                <a16:creationId xmlns:a16="http://schemas.microsoft.com/office/drawing/2014/main" id="{9A3E3A5E-2078-49D7-90A3-7FC54B49CCCC}"/>
              </a:ext>
            </a:extLst>
          </p:cNvPr>
          <p:cNvSpPr/>
          <p:nvPr/>
        </p:nvSpPr>
        <p:spPr>
          <a:xfrm>
            <a:off x="17430" y="680087"/>
            <a:ext cx="876188"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例141-4</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13" name="标题 1">
            <a:extLst>
              <a:ext uri="{FF2B5EF4-FFF2-40B4-BE49-F238E27FC236}">
                <a16:creationId xmlns:a16="http://schemas.microsoft.com/office/drawing/2014/main" id="{155C3A92-68C0-4972-8906-A03DB207D54B}"/>
              </a:ext>
            </a:extLst>
          </p:cNvPr>
          <p:cNvSpPr txBox="1">
            <a:spLocks/>
          </p:cNvSpPr>
          <p:nvPr/>
        </p:nvSpPr>
        <p:spPr bwMode="auto">
          <a:xfrm>
            <a:off x="796043" y="67012"/>
            <a:ext cx="7884546" cy="547842"/>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600" kern="0" dirty="0">
                <a:latin typeface="Helvetica Neue"/>
              </a:rPr>
            </a:br>
            <a:r>
              <a:rPr lang="en-US" altLang="zh-CN" sz="2600" kern="0" dirty="0">
                <a:latin typeface="Helvetica Neue"/>
              </a:rPr>
              <a:t>§</a:t>
            </a:r>
            <a:r>
              <a:rPr lang="en-US" altLang="zh-CN" sz="2600" dirty="0"/>
              <a:t>1.4.1.2 </a:t>
            </a:r>
            <a:r>
              <a:rPr lang="zh-CN" altLang="en-US" sz="2600" i="0" dirty="0">
                <a:effectLst/>
                <a:latin typeface="Helvetica Neue"/>
              </a:rPr>
              <a:t>创建二维</a:t>
            </a:r>
            <a:r>
              <a:rPr lang="zh-CN" altLang="en-US" sz="2600" dirty="0">
                <a:latin typeface="Helvetica Neue"/>
              </a:rPr>
              <a:t>矩阵</a:t>
            </a:r>
            <a:r>
              <a:rPr lang="en-US" altLang="zh-CN" sz="2600" dirty="0">
                <a:solidFill>
                  <a:srgbClr val="FF0000"/>
                </a:solidFill>
              </a:rPr>
              <a:t>———6.</a:t>
            </a:r>
            <a:r>
              <a:rPr lang="zh-CN" altLang="en-US" sz="2600" dirty="0">
                <a:solidFill>
                  <a:srgbClr val="FF0000"/>
                </a:solidFill>
                <a:latin typeface="Helvetica Neue"/>
                <a:cs typeface="+mn-cs"/>
              </a:rPr>
              <a:t> 内置函数创建数组示例</a:t>
            </a:r>
            <a:endParaRPr lang="zh-CN" altLang="en-US" sz="2600" dirty="0">
              <a:solidFill>
                <a:srgbClr val="FF0000"/>
              </a:solidFill>
            </a:endParaRPr>
          </a:p>
        </p:txBody>
      </p:sp>
      <p:sp>
        <p:nvSpPr>
          <p:cNvPr id="15" name="文本框 14">
            <a:extLst>
              <a:ext uri="{FF2B5EF4-FFF2-40B4-BE49-F238E27FC236}">
                <a16:creationId xmlns:a16="http://schemas.microsoft.com/office/drawing/2014/main" id="{C5C75881-FCA4-4E49-B464-EE216A003271}"/>
              </a:ext>
            </a:extLst>
          </p:cNvPr>
          <p:cNvSpPr txBox="1"/>
          <p:nvPr/>
        </p:nvSpPr>
        <p:spPr>
          <a:xfrm>
            <a:off x="922099" y="677514"/>
            <a:ext cx="8204471" cy="369332"/>
          </a:xfrm>
          <a:prstGeom prst="rect">
            <a:avLst/>
          </a:prstGeom>
          <a:noFill/>
        </p:spPr>
        <p:txBody>
          <a:bodyPr wrap="square">
            <a:spAutoFit/>
          </a:bodyPr>
          <a:lstStyle/>
          <a:p>
            <a:pPr algn="dist"/>
            <a:r>
              <a:rPr lang="zh-CN" altLang="en-US" b="1" kern="0" dirty="0">
                <a:solidFill>
                  <a:srgbClr val="0070C0"/>
                </a:solidFill>
                <a:latin typeface="微软雅黑" panose="020B0503020204020204" pitchFamily="34" charset="-122"/>
                <a:ea typeface="微软雅黑" panose="020B0503020204020204" pitchFamily="34" charset="-122"/>
              </a:rPr>
              <a:t>用内置函数创建向量、矩阵和三维数组，并声明和不声明定数据类型</a:t>
            </a:r>
            <a:endParaRPr lang="zh-CN" altLang="en-US" b="1" dirty="0">
              <a:solidFill>
                <a:srgbClr val="0070C0"/>
              </a:solidFill>
            </a:endParaRPr>
          </a:p>
        </p:txBody>
      </p:sp>
    </p:spTree>
    <p:extLst>
      <p:ext uri="{BB962C8B-B14F-4D97-AF65-F5344CB8AC3E}">
        <p14:creationId xmlns:p14="http://schemas.microsoft.com/office/powerpoint/2010/main" val="354720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33E7AC08-1ABA-4BA2-9AC4-4996F917FE63}"/>
              </a:ext>
            </a:extLst>
          </p:cNvPr>
          <p:cNvPicPr>
            <a:picLocks noChangeAspect="1" noChangeArrowheads="1"/>
          </p:cNvPicPr>
          <p:nvPr/>
        </p:nvPicPr>
        <p:blipFill rotWithShape="1">
          <a:blip r:embed="rId3" cstate="print"/>
          <a:srcRect l="6947"/>
          <a:stretch/>
        </p:blipFill>
        <p:spPr bwMode="auto">
          <a:xfrm>
            <a:off x="6446584" y="2064845"/>
            <a:ext cx="2521083" cy="1981607"/>
          </a:xfrm>
          <a:prstGeom prst="rect">
            <a:avLst/>
          </a:prstGeom>
          <a:noFill/>
          <a:ln w="9525">
            <a:noFill/>
            <a:miter lim="800000"/>
            <a:headEnd/>
            <a:tailEnd/>
          </a:ln>
        </p:spPr>
      </p:pic>
      <p:sp>
        <p:nvSpPr>
          <p:cNvPr id="4" name="标题 1">
            <a:extLst>
              <a:ext uri="{FF2B5EF4-FFF2-40B4-BE49-F238E27FC236}">
                <a16:creationId xmlns:a16="http://schemas.microsoft.com/office/drawing/2014/main" id="{5AC5A2B1-D080-49F4-939E-73BEA064A4A7}"/>
              </a:ext>
            </a:extLst>
          </p:cNvPr>
          <p:cNvSpPr txBox="1">
            <a:spLocks/>
          </p:cNvSpPr>
          <p:nvPr/>
        </p:nvSpPr>
        <p:spPr bwMode="auto">
          <a:xfrm>
            <a:off x="935348" y="814299"/>
            <a:ext cx="7560840"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kern="0" dirty="0">
                <a:latin typeface="Helvetica Neue"/>
              </a:rPr>
            </a:br>
            <a:r>
              <a:rPr lang="en-US" altLang="zh-CN" kern="0" dirty="0">
                <a:latin typeface="Helvetica Neue"/>
              </a:rPr>
              <a:t>§</a:t>
            </a:r>
            <a:r>
              <a:rPr lang="en-US" altLang="zh-CN" sz="2800" dirty="0"/>
              <a:t>1.4.1.3  </a:t>
            </a:r>
            <a:r>
              <a:rPr lang="zh-CN" altLang="en-US" sz="2800" dirty="0"/>
              <a:t>创建多维</a:t>
            </a:r>
            <a:r>
              <a:rPr lang="zh-CN" altLang="en-US" sz="2800" dirty="0">
                <a:latin typeface="Helvetica Neue"/>
              </a:rPr>
              <a:t>向量</a:t>
            </a:r>
            <a:r>
              <a:rPr lang="en-US" altLang="zh-CN" sz="2800" dirty="0">
                <a:solidFill>
                  <a:srgbClr val="FF0000"/>
                </a:solidFill>
              </a:rPr>
              <a:t>——</a:t>
            </a:r>
            <a:r>
              <a:rPr lang="zh-CN" altLang="en-US" sz="2800" dirty="0">
                <a:solidFill>
                  <a:srgbClr val="FF0000"/>
                </a:solidFill>
              </a:rPr>
              <a:t>采用多分号（</a:t>
            </a:r>
            <a:r>
              <a:rPr lang="en-US" altLang="zh-CN" sz="2800" dirty="0">
                <a:solidFill>
                  <a:srgbClr val="FF0000"/>
                </a:solidFill>
              </a:rPr>
              <a:t>;;;</a:t>
            </a:r>
            <a:r>
              <a:rPr lang="zh-CN" altLang="en-US" sz="2800" dirty="0">
                <a:solidFill>
                  <a:srgbClr val="FF0000"/>
                </a:solidFill>
              </a:rPr>
              <a:t>）</a:t>
            </a:r>
            <a:endParaRPr lang="zh-CN" altLang="en-US" sz="2800" kern="0" dirty="0">
              <a:solidFill>
                <a:srgbClr val="FF0000"/>
              </a:solidFill>
            </a:endParaRPr>
          </a:p>
        </p:txBody>
      </p:sp>
      <p:sp>
        <p:nvSpPr>
          <p:cNvPr id="5" name="内容占位符 2">
            <a:extLst>
              <a:ext uri="{FF2B5EF4-FFF2-40B4-BE49-F238E27FC236}">
                <a16:creationId xmlns:a16="http://schemas.microsoft.com/office/drawing/2014/main" id="{019E9D9F-D4C9-48C7-A173-D06680E829FE}"/>
              </a:ext>
            </a:extLst>
          </p:cNvPr>
          <p:cNvSpPr>
            <a:spLocks noGrp="1"/>
          </p:cNvSpPr>
          <p:nvPr>
            <p:ph idx="1"/>
          </p:nvPr>
        </p:nvSpPr>
        <p:spPr>
          <a:xfrm>
            <a:off x="180087" y="1366718"/>
            <a:ext cx="7560840" cy="3496406"/>
          </a:xfrm>
        </p:spPr>
        <p:txBody>
          <a:bodyPr/>
          <a:lstStyle/>
          <a:p>
            <a:pPr>
              <a:lnSpc>
                <a:spcPts val="4700"/>
              </a:lnSpc>
              <a:buNone/>
            </a:pPr>
            <a:r>
              <a:rPr lang="zh-CN" altLang="en-US" sz="2400" dirty="0"/>
              <a:t>采用空格和分号构造多维数组的规则：</a:t>
            </a:r>
            <a:endParaRPr lang="en-US" altLang="zh-CN" sz="2400" dirty="0"/>
          </a:p>
          <a:p>
            <a:pPr marL="457200" indent="-457200">
              <a:lnSpc>
                <a:spcPts val="4700"/>
              </a:lnSpc>
              <a:buFont typeface="+mj-ea"/>
              <a:buAutoNum type="circleNumDbPlain"/>
            </a:pPr>
            <a:r>
              <a:rPr lang="zh-CN" altLang="en-US" sz="2400" dirty="0"/>
              <a:t>三维数组的第三维度使用三分号连接形成</a:t>
            </a:r>
            <a:r>
              <a:rPr lang="en-US" altLang="zh-CN" sz="2400" dirty="0">
                <a:solidFill>
                  <a:srgbClr val="FF0000"/>
                </a:solidFill>
              </a:rPr>
              <a:t>;;; </a:t>
            </a:r>
            <a:r>
              <a:rPr lang="zh-CN" altLang="en-US" sz="2400" dirty="0"/>
              <a:t>；</a:t>
            </a:r>
            <a:endParaRPr lang="en-US" altLang="zh-CN" sz="2400" dirty="0"/>
          </a:p>
          <a:p>
            <a:pPr marL="514350" indent="-514350">
              <a:lnSpc>
                <a:spcPts val="4700"/>
              </a:lnSpc>
              <a:buFont typeface="+mj-ea"/>
              <a:buAutoNum type="circleNumDbPlain"/>
            </a:pPr>
            <a:r>
              <a:rPr lang="zh-CN" altLang="en-US" sz="2400" dirty="0"/>
              <a:t>四维数组的第四维度使用四分号连接形成</a:t>
            </a:r>
            <a:r>
              <a:rPr lang="en-US" altLang="zh-CN" sz="2400" dirty="0">
                <a:solidFill>
                  <a:srgbClr val="FF0000"/>
                </a:solidFill>
              </a:rPr>
              <a:t>;;;;</a:t>
            </a:r>
            <a:endParaRPr lang="en-US" altLang="zh-CN" sz="2400" dirty="0"/>
          </a:p>
          <a:p>
            <a:pPr marL="514350" indent="-514350">
              <a:lnSpc>
                <a:spcPts val="4700"/>
              </a:lnSpc>
              <a:buFont typeface="+mj-ea"/>
              <a:buAutoNum type="circleNumDbPlain"/>
            </a:pPr>
            <a:r>
              <a:rPr lang="zh-CN" altLang="en-US" sz="2400" dirty="0"/>
              <a:t>空格优先级高于任意数量的分号</a:t>
            </a:r>
            <a:endParaRPr lang="en-US" altLang="zh-CN" sz="2400" dirty="0"/>
          </a:p>
          <a:p>
            <a:pPr marL="457200" indent="-457200">
              <a:lnSpc>
                <a:spcPts val="4700"/>
              </a:lnSpc>
              <a:buFont typeface="+mj-ea"/>
              <a:buAutoNum type="circleNumDbPlain"/>
            </a:pPr>
            <a:r>
              <a:rPr lang="zh-CN" altLang="en-US" sz="2400" dirty="0"/>
              <a:t>数量少的分号优先级高于数量多的分号</a:t>
            </a:r>
            <a:endParaRPr lang="en-US" altLang="zh-CN" sz="2400" dirty="0"/>
          </a:p>
          <a:p>
            <a:pPr>
              <a:buNone/>
            </a:pPr>
            <a:endParaRPr lang="zh-CN" altLang="en-US" sz="2400" dirty="0"/>
          </a:p>
        </p:txBody>
      </p:sp>
      <p:sp>
        <p:nvSpPr>
          <p:cNvPr id="6" name="矩形 5">
            <a:extLst>
              <a:ext uri="{FF2B5EF4-FFF2-40B4-BE49-F238E27FC236}">
                <a16:creationId xmlns:a16="http://schemas.microsoft.com/office/drawing/2014/main" id="{D2FF84D8-02D6-4E44-AB4D-ED2F320DE326}"/>
              </a:ext>
            </a:extLst>
          </p:cNvPr>
          <p:cNvSpPr/>
          <p:nvPr/>
        </p:nvSpPr>
        <p:spPr>
          <a:xfrm>
            <a:off x="6978819" y="1412832"/>
            <a:ext cx="1584176" cy="584775"/>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kern="0" dirty="0">
                <a:solidFill>
                  <a:srgbClr val="0070C0"/>
                </a:solidFill>
              </a:rPr>
              <a:t>[x1 x2;x3 x4 </a:t>
            </a:r>
            <a:r>
              <a:rPr lang="en-US" altLang="zh-CN" sz="1600" b="1" kern="0" dirty="0">
                <a:solidFill>
                  <a:srgbClr val="FF0000"/>
                </a:solidFill>
              </a:rPr>
              <a:t>;;; </a:t>
            </a:r>
            <a:r>
              <a:rPr lang="en-US" altLang="zh-CN" sz="1600" b="1" kern="0" dirty="0">
                <a:solidFill>
                  <a:srgbClr val="0070C0"/>
                </a:solidFill>
              </a:rPr>
              <a:t>x5 x6;x7 x8]</a:t>
            </a:r>
            <a:endParaRPr lang="zh-CN" altLang="en-US" sz="1600" b="1" kern="0" dirty="0">
              <a:solidFill>
                <a:srgbClr val="0070C0"/>
              </a:solidFill>
            </a:endParaRPr>
          </a:p>
        </p:txBody>
      </p:sp>
      <p:sp>
        <p:nvSpPr>
          <p:cNvPr id="7" name="AutoShape 13">
            <a:extLst>
              <a:ext uri="{FF2B5EF4-FFF2-40B4-BE49-F238E27FC236}">
                <a16:creationId xmlns:a16="http://schemas.microsoft.com/office/drawing/2014/main" id="{239D90BE-CB97-4D60-B385-E22E7E01DAD6}"/>
              </a:ext>
            </a:extLst>
          </p:cNvPr>
          <p:cNvSpPr>
            <a:spLocks noChangeArrowheads="1"/>
          </p:cNvSpPr>
          <p:nvPr/>
        </p:nvSpPr>
        <p:spPr bwMode="auto">
          <a:xfrm>
            <a:off x="6446584" y="4013078"/>
            <a:ext cx="2521083" cy="491007"/>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200" b="1" kern="0" dirty="0">
                <a:solidFill>
                  <a:srgbClr val="FFFF00"/>
                </a:solidFill>
                <a:latin typeface="微软雅黑" panose="020B0503020204020204" pitchFamily="34" charset="-122"/>
                <a:ea typeface="微软雅黑" panose="020B0503020204020204" pitchFamily="34" charset="-122"/>
              </a:rPr>
              <a:t> 和</a:t>
            </a:r>
            <a:r>
              <a:rPr lang="en-US" altLang="zh-CN" sz="1200" b="1" kern="0" dirty="0">
                <a:solidFill>
                  <a:srgbClr val="FFFF00"/>
                </a:solidFill>
                <a:latin typeface="微软雅黑" panose="020B0503020204020204" pitchFamily="34" charset="-122"/>
                <a:ea typeface="微软雅黑" panose="020B0503020204020204" pitchFamily="34" charset="-122"/>
              </a:rPr>
              <a:t>MATLAB</a:t>
            </a:r>
            <a:r>
              <a:rPr lang="zh-CN" altLang="en-US" sz="1200" b="1" kern="0" dirty="0">
                <a:solidFill>
                  <a:srgbClr val="FFFF00"/>
                </a:solidFill>
                <a:latin typeface="微软雅黑" panose="020B0503020204020204" pitchFamily="34" charset="-122"/>
                <a:ea typeface="微软雅黑" panose="020B0503020204020204" pitchFamily="34" charset="-122"/>
              </a:rPr>
              <a:t>不同</a:t>
            </a:r>
          </a:p>
        </p:txBody>
      </p:sp>
      <p:sp>
        <p:nvSpPr>
          <p:cNvPr id="9" name="文本框 8">
            <a:extLst>
              <a:ext uri="{FF2B5EF4-FFF2-40B4-BE49-F238E27FC236}">
                <a16:creationId xmlns:a16="http://schemas.microsoft.com/office/drawing/2014/main" id="{C440DB92-4EA7-469D-9F27-AC2DCC0E19D5}"/>
              </a:ext>
            </a:extLst>
          </p:cNvPr>
          <p:cNvSpPr txBox="1"/>
          <p:nvPr/>
        </p:nvSpPr>
        <p:spPr>
          <a:xfrm>
            <a:off x="5333533" y="1398534"/>
            <a:ext cx="1645286" cy="584775"/>
          </a:xfrm>
          <a:prstGeom prst="rect">
            <a:avLst/>
          </a:prstGeom>
          <a:noFill/>
        </p:spPr>
        <p:txBody>
          <a:bodyPr wrap="square">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多个矩阵堆叠</a:t>
            </a:r>
            <a:endParaRPr lang="en-US" altLang="zh-CN" sz="1600" b="1" dirty="0">
              <a:solidFill>
                <a:srgbClr val="0070C0"/>
              </a:solidFill>
              <a:latin typeface="微软雅黑" panose="020B0503020204020204" pitchFamily="34" charset="-122"/>
              <a:ea typeface="微软雅黑" panose="020B0503020204020204" pitchFamily="34" charset="-122"/>
            </a:endParaRPr>
          </a:p>
          <a:p>
            <a:r>
              <a:rPr lang="zh-CN" altLang="en-US" sz="1600" b="1" dirty="0">
                <a:solidFill>
                  <a:srgbClr val="0070C0"/>
                </a:solidFill>
                <a:latin typeface="微软雅黑" panose="020B0503020204020204" pitchFamily="34" charset="-122"/>
                <a:ea typeface="微软雅黑" panose="020B0503020204020204" pitchFamily="34" charset="-122"/>
              </a:rPr>
              <a:t>成多维数组</a:t>
            </a:r>
          </a:p>
        </p:txBody>
      </p:sp>
    </p:spTree>
    <p:extLst>
      <p:ext uri="{BB962C8B-B14F-4D97-AF65-F5344CB8AC3E}">
        <p14:creationId xmlns:p14="http://schemas.microsoft.com/office/powerpoint/2010/main" val="3943303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CA6D9CC-0A04-415E-8867-B7EE42F3CC20}"/>
              </a:ext>
            </a:extLst>
          </p:cNvPr>
          <p:cNvSpPr txBox="1"/>
          <p:nvPr/>
        </p:nvSpPr>
        <p:spPr>
          <a:xfrm>
            <a:off x="495685" y="1867796"/>
            <a:ext cx="4417465" cy="2592441"/>
          </a:xfrm>
          <a:prstGeom prst="rect">
            <a:avLst/>
          </a:prstGeom>
          <a:noFill/>
          <a:ln>
            <a:noFill/>
          </a:ln>
        </p:spPr>
        <p:txBody>
          <a:bodyPr wrap="square">
            <a:spAutoFit/>
          </a:bodyPr>
          <a:lstStyle/>
          <a:p>
            <a:pPr>
              <a:lnSpc>
                <a:spcPts val="3300"/>
              </a:lnSpc>
            </a:pPr>
            <a:r>
              <a:rPr lang="zh-CN" altLang="en-US" sz="2400" dirty="0"/>
              <a:t>julia&gt;x=[magic(2)</a:t>
            </a:r>
            <a:r>
              <a:rPr lang="zh-CN" altLang="en-US" sz="2400" b="1" dirty="0">
                <a:solidFill>
                  <a:srgbClr val="FF0000"/>
                </a:solidFill>
              </a:rPr>
              <a:t>;;;</a:t>
            </a:r>
            <a:r>
              <a:rPr lang="zh-CN" altLang="en-US" sz="2400" dirty="0"/>
              <a:t>pascal(2)]</a:t>
            </a:r>
          </a:p>
          <a:p>
            <a:pPr>
              <a:lnSpc>
                <a:spcPts val="3300"/>
              </a:lnSpc>
            </a:pPr>
            <a:r>
              <a:rPr lang="en-US" altLang="zh-CN" sz="2200" dirty="0">
                <a:solidFill>
                  <a:srgbClr val="00B0F0"/>
                </a:solidFill>
              </a:rPr>
              <a:t>#</a:t>
            </a:r>
            <a:r>
              <a:rPr lang="zh-CN" altLang="en-US" sz="2200" dirty="0">
                <a:solidFill>
                  <a:srgbClr val="00B0F0"/>
                </a:solidFill>
              </a:rPr>
              <a:t>结果2×2×2 </a:t>
            </a:r>
            <a:r>
              <a:rPr lang="zh-CN" altLang="en-US" sz="2200" b="1" u="sng" dirty="0">
                <a:solidFill>
                  <a:srgbClr val="00B0F0"/>
                </a:solidFill>
                <a:latin typeface="微软雅黑" panose="020B0503020204020204" pitchFamily="34" charset="-122"/>
                <a:ea typeface="微软雅黑" panose="020B0503020204020204" pitchFamily="34" charset="-122"/>
              </a:rPr>
              <a:t>Array</a:t>
            </a:r>
            <a:r>
              <a:rPr lang="zh-CN" altLang="en-US" sz="2200" dirty="0">
                <a:solidFill>
                  <a:srgbClr val="00B0F0"/>
                </a:solidFill>
              </a:rPr>
              <a:t>{Int64, 3}:</a:t>
            </a:r>
          </a:p>
          <a:p>
            <a:pPr>
              <a:lnSpc>
                <a:spcPts val="3300"/>
              </a:lnSpc>
            </a:pPr>
            <a:r>
              <a:rPr lang="zh-CN" altLang="en-US" sz="2200" dirty="0">
                <a:solidFill>
                  <a:srgbClr val="00B0F0"/>
                </a:solidFill>
              </a:rPr>
              <a:t>[:, :, 1] = 1  3</a:t>
            </a:r>
          </a:p>
          <a:p>
            <a:pPr>
              <a:lnSpc>
                <a:spcPts val="3300"/>
              </a:lnSpc>
            </a:pPr>
            <a:r>
              <a:rPr lang="zh-CN" altLang="en-US" sz="2200" dirty="0">
                <a:solidFill>
                  <a:srgbClr val="00B0F0"/>
                </a:solidFill>
              </a:rPr>
              <a:t>              4  2  </a:t>
            </a:r>
            <a:r>
              <a:rPr lang="en-US" altLang="zh-CN" sz="2200" dirty="0">
                <a:solidFill>
                  <a:srgbClr val="00B0F0"/>
                </a:solidFill>
              </a:rPr>
              <a:t>#</a:t>
            </a:r>
            <a:r>
              <a:rPr lang="zh-CN" altLang="en-US" sz="2400" dirty="0">
                <a:solidFill>
                  <a:srgbClr val="0070C0"/>
                </a:solidFill>
              </a:rPr>
              <a:t>第一页</a:t>
            </a:r>
            <a:r>
              <a:rPr lang="en-US" altLang="zh-CN" sz="2400" dirty="0">
                <a:solidFill>
                  <a:srgbClr val="0070C0"/>
                </a:solidFill>
              </a:rPr>
              <a:t>magic</a:t>
            </a:r>
            <a:r>
              <a:rPr lang="zh-CN" altLang="en-US" sz="2200" dirty="0">
                <a:solidFill>
                  <a:srgbClr val="00B0F0"/>
                </a:solidFill>
              </a:rPr>
              <a:t>   </a:t>
            </a:r>
          </a:p>
          <a:p>
            <a:pPr>
              <a:lnSpc>
                <a:spcPts val="3300"/>
              </a:lnSpc>
            </a:pPr>
            <a:r>
              <a:rPr lang="zh-CN" altLang="en-US" sz="2200" dirty="0">
                <a:solidFill>
                  <a:srgbClr val="00B0F0"/>
                </a:solidFill>
              </a:rPr>
              <a:t>[:, :, 2] = 1  1</a:t>
            </a:r>
          </a:p>
          <a:p>
            <a:pPr>
              <a:lnSpc>
                <a:spcPts val="3300"/>
              </a:lnSpc>
            </a:pPr>
            <a:r>
              <a:rPr lang="zh-CN" altLang="en-US" sz="2200" dirty="0">
                <a:solidFill>
                  <a:srgbClr val="00B0F0"/>
                </a:solidFill>
              </a:rPr>
              <a:t>              1  2  </a:t>
            </a:r>
            <a:r>
              <a:rPr lang="en-US" altLang="zh-CN" sz="2200" dirty="0">
                <a:solidFill>
                  <a:srgbClr val="00B0F0"/>
                </a:solidFill>
              </a:rPr>
              <a:t>#</a:t>
            </a:r>
            <a:r>
              <a:rPr lang="zh-CN" altLang="en-US" sz="2400" dirty="0">
                <a:solidFill>
                  <a:srgbClr val="0070C0"/>
                </a:solidFill>
              </a:rPr>
              <a:t>第二页</a:t>
            </a:r>
            <a:r>
              <a:rPr lang="en-US" altLang="zh-CN" sz="2400" dirty="0">
                <a:solidFill>
                  <a:srgbClr val="0070C0"/>
                </a:solidFill>
              </a:rPr>
              <a:t>pascal</a:t>
            </a:r>
            <a:endParaRPr lang="zh-CN" altLang="en-US" sz="2200" dirty="0">
              <a:solidFill>
                <a:srgbClr val="00B0F0"/>
              </a:solidFill>
            </a:endParaRPr>
          </a:p>
        </p:txBody>
      </p:sp>
      <p:sp>
        <p:nvSpPr>
          <p:cNvPr id="7" name="文本框 6">
            <a:extLst>
              <a:ext uri="{FF2B5EF4-FFF2-40B4-BE49-F238E27FC236}">
                <a16:creationId xmlns:a16="http://schemas.microsoft.com/office/drawing/2014/main" id="{09E920C4-2EAF-478B-B8AB-FDCB3756CB52}"/>
              </a:ext>
            </a:extLst>
          </p:cNvPr>
          <p:cNvSpPr txBox="1"/>
          <p:nvPr/>
        </p:nvSpPr>
        <p:spPr>
          <a:xfrm>
            <a:off x="4945128" y="1867796"/>
            <a:ext cx="3954359" cy="2719399"/>
          </a:xfrm>
          <a:prstGeom prst="rect">
            <a:avLst/>
          </a:prstGeom>
          <a:noFill/>
          <a:ln>
            <a:noFill/>
          </a:ln>
        </p:spPr>
        <p:txBody>
          <a:bodyPr wrap="square">
            <a:spAutoFit/>
          </a:bodyPr>
          <a:lstStyle>
            <a:defPPr>
              <a:defRPr lang="zh-CN"/>
            </a:defPPr>
          </a:lstStyle>
          <a:p>
            <a:r>
              <a:rPr lang="zh-CN" altLang="en-US" sz="2400" dirty="0"/>
              <a:t>julia&gt; x=[1;2</a:t>
            </a:r>
            <a:r>
              <a:rPr lang="zh-CN" altLang="en-US" sz="2400" b="1" dirty="0">
                <a:solidFill>
                  <a:srgbClr val="FF0000"/>
                </a:solidFill>
              </a:rPr>
              <a:t>;;</a:t>
            </a:r>
            <a:r>
              <a:rPr lang="zh-CN" altLang="en-US" sz="2400" dirty="0"/>
              <a:t>3;4</a:t>
            </a:r>
            <a:r>
              <a:rPr lang="zh-CN" altLang="en-US" sz="2800" b="1" dirty="0">
                <a:solidFill>
                  <a:srgbClr val="FF0000"/>
                </a:solidFill>
              </a:rPr>
              <a:t>;;;</a:t>
            </a:r>
            <a:r>
              <a:rPr lang="zh-CN" altLang="en-US" sz="2400" dirty="0"/>
              <a:t>5;6</a:t>
            </a:r>
            <a:r>
              <a:rPr lang="zh-CN" altLang="en-US" sz="2400" b="1" dirty="0">
                <a:solidFill>
                  <a:srgbClr val="FF0000"/>
                </a:solidFill>
              </a:rPr>
              <a:t>;;</a:t>
            </a:r>
            <a:r>
              <a:rPr lang="zh-CN" altLang="en-US" sz="2400" dirty="0"/>
              <a:t>7;8]</a:t>
            </a:r>
          </a:p>
          <a:p>
            <a:pPr>
              <a:lnSpc>
                <a:spcPts val="3500"/>
              </a:lnSpc>
            </a:pPr>
            <a:r>
              <a:rPr lang="zh-CN" altLang="en-US" sz="2200" dirty="0"/>
              <a:t>2×2×2 </a:t>
            </a:r>
            <a:r>
              <a:rPr lang="zh-CN" altLang="en-US" sz="2200" b="1" u="sng" dirty="0">
                <a:solidFill>
                  <a:srgbClr val="00B0F0"/>
                </a:solidFill>
                <a:latin typeface="微软雅黑" panose="020B0503020204020204" pitchFamily="34" charset="-122"/>
                <a:ea typeface="微软雅黑" panose="020B0503020204020204" pitchFamily="34" charset="-122"/>
              </a:rPr>
              <a:t>Array</a:t>
            </a:r>
            <a:r>
              <a:rPr lang="zh-CN" altLang="en-US" sz="2200" dirty="0"/>
              <a:t>{Int64, 3}:</a:t>
            </a:r>
          </a:p>
          <a:p>
            <a:pPr>
              <a:lnSpc>
                <a:spcPts val="3500"/>
              </a:lnSpc>
            </a:pPr>
            <a:r>
              <a:rPr lang="zh-CN" altLang="en-US" sz="2200" dirty="0">
                <a:solidFill>
                  <a:srgbClr val="00B0F0"/>
                </a:solidFill>
              </a:rPr>
              <a:t>[:, :, 1] =1  3</a:t>
            </a:r>
          </a:p>
          <a:p>
            <a:pPr>
              <a:lnSpc>
                <a:spcPts val="3500"/>
              </a:lnSpc>
            </a:pPr>
            <a:r>
              <a:rPr lang="zh-CN" altLang="en-US" sz="2200" dirty="0">
                <a:solidFill>
                  <a:srgbClr val="00B0F0"/>
                </a:solidFill>
              </a:rPr>
              <a:t>              2  4</a:t>
            </a:r>
          </a:p>
          <a:p>
            <a:pPr>
              <a:lnSpc>
                <a:spcPts val="3500"/>
              </a:lnSpc>
            </a:pPr>
            <a:r>
              <a:rPr lang="zh-CN" altLang="en-US" sz="2200" dirty="0">
                <a:solidFill>
                  <a:srgbClr val="00B0F0"/>
                </a:solidFill>
              </a:rPr>
              <a:t>[:, :, 2] = 5  7</a:t>
            </a:r>
          </a:p>
          <a:p>
            <a:pPr>
              <a:lnSpc>
                <a:spcPts val="3500"/>
              </a:lnSpc>
            </a:pPr>
            <a:r>
              <a:rPr lang="zh-CN" altLang="en-US" sz="2200" dirty="0">
                <a:solidFill>
                  <a:srgbClr val="00B0F0"/>
                </a:solidFill>
              </a:rPr>
              <a:t>              6  8</a:t>
            </a:r>
          </a:p>
        </p:txBody>
      </p:sp>
      <p:sp>
        <p:nvSpPr>
          <p:cNvPr id="9" name="标题 1">
            <a:extLst>
              <a:ext uri="{FF2B5EF4-FFF2-40B4-BE49-F238E27FC236}">
                <a16:creationId xmlns:a16="http://schemas.microsoft.com/office/drawing/2014/main" id="{DE3BF0B6-47E4-461E-9426-3EB12D504412}"/>
              </a:ext>
            </a:extLst>
          </p:cNvPr>
          <p:cNvSpPr txBox="1">
            <a:spLocks/>
          </p:cNvSpPr>
          <p:nvPr/>
        </p:nvSpPr>
        <p:spPr bwMode="auto">
          <a:xfrm>
            <a:off x="791580" y="26505"/>
            <a:ext cx="7560840"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kern="0" dirty="0">
                <a:latin typeface="Helvetica Neue"/>
              </a:rPr>
              <a:t>§</a:t>
            </a:r>
            <a:r>
              <a:rPr lang="en-US" altLang="zh-CN" sz="2800" dirty="0"/>
              <a:t>1.4.1.3  </a:t>
            </a:r>
            <a:r>
              <a:rPr lang="zh-CN" altLang="en-US" sz="2800" dirty="0"/>
              <a:t>创建多维</a:t>
            </a:r>
            <a:r>
              <a:rPr lang="zh-CN" altLang="en-US" sz="2800" dirty="0">
                <a:latin typeface="Helvetica Neue"/>
              </a:rPr>
              <a:t>向量</a:t>
            </a:r>
            <a:r>
              <a:rPr lang="en-US" altLang="zh-CN" sz="2800" dirty="0">
                <a:solidFill>
                  <a:srgbClr val="FF0000"/>
                </a:solidFill>
              </a:rPr>
              <a:t>——</a:t>
            </a:r>
            <a:r>
              <a:rPr lang="zh-CN" altLang="en-US" sz="2800" dirty="0">
                <a:solidFill>
                  <a:srgbClr val="FF0000"/>
                </a:solidFill>
              </a:rPr>
              <a:t>多分号（</a:t>
            </a:r>
            <a:r>
              <a:rPr lang="en-US" altLang="zh-CN" sz="2800" dirty="0">
                <a:solidFill>
                  <a:srgbClr val="FF0000"/>
                </a:solidFill>
              </a:rPr>
              <a:t>;;;</a:t>
            </a:r>
            <a:r>
              <a:rPr lang="zh-CN" altLang="en-US" sz="2800" dirty="0">
                <a:solidFill>
                  <a:srgbClr val="FF0000"/>
                </a:solidFill>
              </a:rPr>
              <a:t>）数组示例</a:t>
            </a:r>
            <a:endParaRPr lang="zh-CN" altLang="en-US" sz="2800" kern="0" dirty="0">
              <a:solidFill>
                <a:srgbClr val="FF0000"/>
              </a:solidFill>
            </a:endParaRPr>
          </a:p>
        </p:txBody>
      </p:sp>
      <p:sp>
        <p:nvSpPr>
          <p:cNvPr id="8" name="波形 7">
            <a:extLst>
              <a:ext uri="{FF2B5EF4-FFF2-40B4-BE49-F238E27FC236}">
                <a16:creationId xmlns:a16="http://schemas.microsoft.com/office/drawing/2014/main" id="{3B6E9AEF-64C1-4907-916C-6BF6AFE2A598}"/>
              </a:ext>
            </a:extLst>
          </p:cNvPr>
          <p:cNvSpPr/>
          <p:nvPr/>
        </p:nvSpPr>
        <p:spPr>
          <a:xfrm>
            <a:off x="495684" y="747120"/>
            <a:ext cx="1051979" cy="40011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例141-7</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2" name="内容占位符 2">
            <a:extLst>
              <a:ext uri="{FF2B5EF4-FFF2-40B4-BE49-F238E27FC236}">
                <a16:creationId xmlns:a16="http://schemas.microsoft.com/office/drawing/2014/main" id="{E91B1819-42CE-4E78-A08B-EE6798EBA42C}"/>
              </a:ext>
            </a:extLst>
          </p:cNvPr>
          <p:cNvSpPr txBox="1">
            <a:spLocks/>
          </p:cNvSpPr>
          <p:nvPr/>
        </p:nvSpPr>
        <p:spPr bwMode="auto">
          <a:xfrm>
            <a:off x="1547663" y="777271"/>
            <a:ext cx="7444313"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defPPr>
              <a:defRPr lang="zh-CN"/>
            </a:defPPr>
            <a:lvl1pPr marL="457200" indent="-457200" eaLnBrk="0" hangingPunct="0">
              <a:lnSpc>
                <a:spcPct val="110000"/>
              </a:lnSpc>
              <a:buFont typeface="+mj-ea"/>
              <a:buAutoNum type="circleNumDbPlain" startAt="2"/>
              <a:defRPr sz="2000" b="1" kern="0">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marL="0" indent="0" algn="dist">
              <a:buNone/>
            </a:pPr>
            <a:r>
              <a:rPr lang="zh-CN" altLang="en-US" dirty="0"/>
              <a:t>采用双分号</a:t>
            </a:r>
            <a:r>
              <a:rPr lang="en-US" altLang="zh-CN" dirty="0"/>
              <a:t>”;;”</a:t>
            </a:r>
            <a:r>
              <a:rPr lang="zh-CN" altLang="en-US" dirty="0"/>
              <a:t>建立二维矩阵，用三分号</a:t>
            </a:r>
            <a:r>
              <a:rPr lang="en-US" altLang="zh-CN" dirty="0"/>
              <a:t>”;;;”</a:t>
            </a:r>
            <a:r>
              <a:rPr lang="zh-CN" altLang="en-US" dirty="0"/>
              <a:t>建立三维数组</a:t>
            </a:r>
          </a:p>
        </p:txBody>
      </p:sp>
      <p:sp>
        <p:nvSpPr>
          <p:cNvPr id="10" name="文本框 9">
            <a:extLst>
              <a:ext uri="{FF2B5EF4-FFF2-40B4-BE49-F238E27FC236}">
                <a16:creationId xmlns:a16="http://schemas.microsoft.com/office/drawing/2014/main" id="{42DE672A-AABF-437C-A632-E31DF1C863C6}"/>
              </a:ext>
            </a:extLst>
          </p:cNvPr>
          <p:cNvSpPr txBox="1"/>
          <p:nvPr/>
        </p:nvSpPr>
        <p:spPr>
          <a:xfrm>
            <a:off x="388540" y="1337678"/>
            <a:ext cx="4183460" cy="400110"/>
          </a:xfrm>
          <a:prstGeom prst="rect">
            <a:avLst/>
          </a:prstGeom>
          <a:noFill/>
        </p:spPr>
        <p:txBody>
          <a:bodyPr wrap="square">
            <a:spAutoFit/>
          </a:bodyPr>
          <a:lstStyle/>
          <a:p>
            <a:pPr marL="342900" indent="-342900" algn="dist">
              <a:buFont typeface="+mj-ea"/>
              <a:buAutoNum type="circleNumDbPlain"/>
            </a:pPr>
            <a:r>
              <a:rPr lang="zh-CN" altLang="en-US" sz="2000" b="1" dirty="0">
                <a:solidFill>
                  <a:srgbClr val="0070C0"/>
                </a:solidFill>
                <a:latin typeface="微软雅黑" panose="020B0503020204020204" pitchFamily="34" charset="-122"/>
                <a:ea typeface="微软雅黑" panose="020B0503020204020204" pitchFamily="34" charset="-122"/>
              </a:rPr>
              <a:t>创建</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行</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列</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页的三维数组</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E6C5D812-8E24-43FC-9ACE-9225DFC08CE3}"/>
              </a:ext>
            </a:extLst>
          </p:cNvPr>
          <p:cNvSpPr txBox="1"/>
          <p:nvPr/>
        </p:nvSpPr>
        <p:spPr>
          <a:xfrm>
            <a:off x="4927425" y="1378908"/>
            <a:ext cx="3954359" cy="400110"/>
          </a:xfrm>
          <a:prstGeom prst="rect">
            <a:avLst/>
          </a:prstGeom>
          <a:noFill/>
        </p:spPr>
        <p:txBody>
          <a:bodyPr wrap="square">
            <a:spAutoFit/>
          </a:bodyPr>
          <a:lstStyle/>
          <a:p>
            <a:pPr marL="457200" indent="-457200" algn="dist">
              <a:buFont typeface="+mj-ea"/>
              <a:buAutoNum type="circleNumDbPlain" startAt="2"/>
            </a:pPr>
            <a:r>
              <a:rPr lang="zh-CN" altLang="en-US" sz="2000" b="1" dirty="0">
                <a:solidFill>
                  <a:srgbClr val="0070C0"/>
                </a:solidFill>
                <a:latin typeface="微软雅黑" panose="020B0503020204020204" pitchFamily="34" charset="-122"/>
                <a:ea typeface="微软雅黑" panose="020B0503020204020204" pitchFamily="34" charset="-122"/>
              </a:rPr>
              <a:t>创建</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行</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列</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页的三维数组</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0002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07E2E96D-A864-45C4-8D3A-DCB0726DBA2C}"/>
              </a:ext>
            </a:extLst>
          </p:cNvPr>
          <p:cNvSpPr txBox="1">
            <a:spLocks noGrp="1"/>
          </p:cNvSpPr>
          <p:nvPr>
            <p:ph type="title"/>
          </p:nvPr>
        </p:nvSpPr>
        <p:spPr bwMode="auto">
          <a:xfrm>
            <a:off x="776662" y="175919"/>
            <a:ext cx="5585941"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400" kern="0" dirty="0">
                <a:latin typeface="Helvetica Neue"/>
              </a:rPr>
            </a:br>
            <a:r>
              <a:rPr lang="en-US" altLang="zh-CN" sz="2400" dirty="0">
                <a:latin typeface="Helvetica Neue"/>
              </a:rPr>
              <a:t>§</a:t>
            </a:r>
            <a:r>
              <a:rPr lang="en-US" altLang="zh-CN" sz="2400" kern="1200" dirty="0"/>
              <a:t>1.4.1.4 </a:t>
            </a:r>
            <a:r>
              <a:rPr lang="zh-CN" altLang="en-US" sz="2400" kern="1200" dirty="0"/>
              <a:t>数组索引</a:t>
            </a:r>
            <a:r>
              <a:rPr lang="en-US" altLang="zh-CN" sz="2400" kern="0" dirty="0">
                <a:solidFill>
                  <a:srgbClr val="FF0000"/>
                </a:solidFill>
              </a:rPr>
              <a:t>—</a:t>
            </a:r>
            <a:r>
              <a:rPr lang="zh-CN" altLang="en-US" sz="2400" dirty="0">
                <a:solidFill>
                  <a:srgbClr val="FF0000"/>
                </a:solidFill>
              </a:rPr>
              <a:t>方括号</a:t>
            </a:r>
            <a:r>
              <a:rPr lang="en-US" altLang="zh-CN" sz="2400" dirty="0">
                <a:solidFill>
                  <a:srgbClr val="FF0000"/>
                </a:solidFill>
              </a:rPr>
              <a:t>【】</a:t>
            </a:r>
            <a:r>
              <a:rPr lang="zh-CN" altLang="en-US" sz="2400" dirty="0">
                <a:solidFill>
                  <a:srgbClr val="FF0000"/>
                </a:solidFill>
              </a:rPr>
              <a:t>索引和访问方式</a:t>
            </a:r>
            <a:endParaRPr lang="zh-CN" altLang="en-US" sz="2400" dirty="0">
              <a:solidFill>
                <a:srgbClr val="FFFF00"/>
              </a:solidFill>
              <a:highlight>
                <a:srgbClr val="FF0000"/>
              </a:highlight>
            </a:endParaRPr>
          </a:p>
        </p:txBody>
      </p:sp>
      <p:pic>
        <p:nvPicPr>
          <p:cNvPr id="6" name="图片 5">
            <a:extLst>
              <a:ext uri="{FF2B5EF4-FFF2-40B4-BE49-F238E27FC236}">
                <a16:creationId xmlns:a16="http://schemas.microsoft.com/office/drawing/2014/main" id="{81E899E4-2C66-46F8-B4B2-EB1971B73B23}"/>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50000"/>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l="6296" t="23496" r="7475" b="5360"/>
          <a:stretch>
            <a:fillRect/>
          </a:stretch>
        </p:blipFill>
        <p:spPr>
          <a:xfrm>
            <a:off x="190680" y="2207217"/>
            <a:ext cx="3426863" cy="997515"/>
          </a:xfrm>
          <a:prstGeom prst="rect">
            <a:avLst/>
          </a:prstGeom>
        </p:spPr>
      </p:pic>
      <p:sp>
        <p:nvSpPr>
          <p:cNvPr id="7" name="矩形 6">
            <a:extLst>
              <a:ext uri="{FF2B5EF4-FFF2-40B4-BE49-F238E27FC236}">
                <a16:creationId xmlns:a16="http://schemas.microsoft.com/office/drawing/2014/main" id="{474011CC-54ED-4159-A4F6-4F3200C37C4D}"/>
              </a:ext>
            </a:extLst>
          </p:cNvPr>
          <p:cNvSpPr/>
          <p:nvPr/>
        </p:nvSpPr>
        <p:spPr>
          <a:xfrm>
            <a:off x="2242240" y="2788077"/>
            <a:ext cx="487734" cy="307777"/>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400" b="1" dirty="0">
                <a:solidFill>
                  <a:srgbClr val="FFFF00"/>
                </a:solidFill>
                <a:highlight>
                  <a:srgbClr val="FF0000"/>
                </a:highlight>
                <a:latin typeface="华文楷体" panose="02010600040101010101" pitchFamily="2" charset="-122"/>
                <a:ea typeface="华文楷体" panose="02010600040101010101" pitchFamily="2" charset="-122"/>
              </a:rPr>
              <a:t>【k】</a:t>
            </a:r>
            <a:endParaRPr lang="zh-CN" altLang="en-US" sz="1400" b="1" dirty="0">
              <a:solidFill>
                <a:srgbClr val="FFFF00"/>
              </a:solidFill>
              <a:highlight>
                <a:srgbClr val="FF0000"/>
              </a:highlight>
              <a:latin typeface="华文楷体" panose="02010600040101010101" pitchFamily="2" charset="-122"/>
              <a:ea typeface="华文楷体" panose="02010600040101010101" pitchFamily="2" charset="-122"/>
            </a:endParaRPr>
          </a:p>
        </p:txBody>
      </p:sp>
      <p:pic>
        <p:nvPicPr>
          <p:cNvPr id="8" name="图片 7">
            <a:extLst>
              <a:ext uri="{FF2B5EF4-FFF2-40B4-BE49-F238E27FC236}">
                <a16:creationId xmlns:a16="http://schemas.microsoft.com/office/drawing/2014/main" id="{87E2C17B-2B7F-40B1-A3AB-4961824BA3E6}"/>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t="17218" r="8263" b="8150"/>
          <a:stretch>
            <a:fillRect/>
          </a:stretch>
        </p:blipFill>
        <p:spPr>
          <a:xfrm>
            <a:off x="204870" y="1047663"/>
            <a:ext cx="3289434" cy="1020689"/>
          </a:xfrm>
          <a:prstGeom prst="rect">
            <a:avLst/>
          </a:prstGeom>
        </p:spPr>
      </p:pic>
      <p:sp>
        <p:nvSpPr>
          <p:cNvPr id="9" name="矩形 8">
            <a:extLst>
              <a:ext uri="{FF2B5EF4-FFF2-40B4-BE49-F238E27FC236}">
                <a16:creationId xmlns:a16="http://schemas.microsoft.com/office/drawing/2014/main" id="{40FC7D84-5A1B-4905-84DD-F7DBC1BE6BD7}"/>
              </a:ext>
            </a:extLst>
          </p:cNvPr>
          <p:cNvSpPr/>
          <p:nvPr/>
        </p:nvSpPr>
        <p:spPr>
          <a:xfrm>
            <a:off x="2276891" y="1706786"/>
            <a:ext cx="661049" cy="307777"/>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400" b="1" dirty="0">
                <a:solidFill>
                  <a:srgbClr val="FFFF00"/>
                </a:solidFill>
                <a:highlight>
                  <a:srgbClr val="FF0000"/>
                </a:highlight>
                <a:latin typeface="华文楷体" panose="02010600040101010101" pitchFamily="2" charset="-122"/>
                <a:ea typeface="华文楷体" panose="02010600040101010101" pitchFamily="2" charset="-122"/>
              </a:rPr>
              <a:t>【</a:t>
            </a:r>
            <a:r>
              <a:rPr lang="en-US" altLang="zh-CN" sz="1400" b="1" dirty="0" err="1">
                <a:solidFill>
                  <a:srgbClr val="FFFF00"/>
                </a:solidFill>
                <a:highlight>
                  <a:srgbClr val="FF0000"/>
                </a:highlight>
                <a:latin typeface="华文楷体" panose="02010600040101010101" pitchFamily="2" charset="-122"/>
                <a:ea typeface="华文楷体" panose="02010600040101010101" pitchFamily="2" charset="-122"/>
              </a:rPr>
              <a:t>i,j</a:t>
            </a:r>
            <a:r>
              <a:rPr lang="en-US" altLang="zh-CN" sz="1400" b="1" dirty="0">
                <a:solidFill>
                  <a:srgbClr val="FFFF00"/>
                </a:solidFill>
                <a:highlight>
                  <a:srgbClr val="FF0000"/>
                </a:highlight>
                <a:latin typeface="华文楷体" panose="02010600040101010101" pitchFamily="2" charset="-122"/>
                <a:ea typeface="华文楷体" panose="02010600040101010101" pitchFamily="2" charset="-122"/>
              </a:rPr>
              <a:t>】</a:t>
            </a:r>
            <a:endParaRPr lang="zh-CN" altLang="en-US" sz="1400" b="1" dirty="0">
              <a:solidFill>
                <a:srgbClr val="FFFF00"/>
              </a:solidFill>
              <a:highlight>
                <a:srgbClr val="FF0000"/>
              </a:highlight>
              <a:latin typeface="华文楷体" panose="02010600040101010101" pitchFamily="2" charset="-122"/>
              <a:ea typeface="华文楷体" panose="02010600040101010101" pitchFamily="2" charset="-122"/>
            </a:endParaRPr>
          </a:p>
        </p:txBody>
      </p:sp>
      <p:sp>
        <p:nvSpPr>
          <p:cNvPr id="10" name="椭圆 9">
            <a:extLst>
              <a:ext uri="{FF2B5EF4-FFF2-40B4-BE49-F238E27FC236}">
                <a16:creationId xmlns:a16="http://schemas.microsoft.com/office/drawing/2014/main" id="{AD7ABAC6-E3CA-4211-8FEE-AE5DD7F37E8D}"/>
              </a:ext>
            </a:extLst>
          </p:cNvPr>
          <p:cNvSpPr/>
          <p:nvPr/>
        </p:nvSpPr>
        <p:spPr bwMode="auto">
          <a:xfrm>
            <a:off x="2372560" y="2608423"/>
            <a:ext cx="327232" cy="251359"/>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796" indent="-177796" algn="ctr" defTabSz="914378" eaLnBrk="0" hangingPunct="0">
              <a:lnSpc>
                <a:spcPct val="110000"/>
              </a:lnSpc>
            </a:pPr>
            <a:endParaRPr lang="zh-CN" altLang="en-US" sz="1600" b="1">
              <a:latin typeface="Times New Roman" pitchFamily="18" charset="0"/>
            </a:endParaRPr>
          </a:p>
        </p:txBody>
      </p:sp>
      <p:sp>
        <p:nvSpPr>
          <p:cNvPr id="11" name="椭圆 10">
            <a:extLst>
              <a:ext uri="{FF2B5EF4-FFF2-40B4-BE49-F238E27FC236}">
                <a16:creationId xmlns:a16="http://schemas.microsoft.com/office/drawing/2014/main" id="{8D73B2E3-9004-453D-9077-10233E837653}"/>
              </a:ext>
            </a:extLst>
          </p:cNvPr>
          <p:cNvSpPr/>
          <p:nvPr/>
        </p:nvSpPr>
        <p:spPr bwMode="auto">
          <a:xfrm>
            <a:off x="2267352" y="1562045"/>
            <a:ext cx="504448" cy="20752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796" indent="-177796" algn="ctr" defTabSz="914378" eaLnBrk="0" hangingPunct="0">
              <a:lnSpc>
                <a:spcPct val="110000"/>
              </a:lnSpc>
            </a:pPr>
            <a:endParaRPr lang="zh-CN" altLang="en-US" sz="1600" b="1">
              <a:latin typeface="Times New Roman" pitchFamily="18" charset="0"/>
            </a:endParaRPr>
          </a:p>
        </p:txBody>
      </p:sp>
      <p:cxnSp>
        <p:nvCxnSpPr>
          <p:cNvPr id="13" name="直接箭头连接符 12">
            <a:extLst>
              <a:ext uri="{FF2B5EF4-FFF2-40B4-BE49-F238E27FC236}">
                <a16:creationId xmlns:a16="http://schemas.microsoft.com/office/drawing/2014/main" id="{FDB03F81-8CCC-477D-9A01-7D437BDC72B9}"/>
              </a:ext>
            </a:extLst>
          </p:cNvPr>
          <p:cNvCxnSpPr>
            <a:cxnSpLocks/>
          </p:cNvCxnSpPr>
          <p:nvPr/>
        </p:nvCxnSpPr>
        <p:spPr bwMode="auto">
          <a:xfrm>
            <a:off x="2778489" y="2235310"/>
            <a:ext cx="13037" cy="919700"/>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15" name="矩形 14">
            <a:extLst>
              <a:ext uri="{FF2B5EF4-FFF2-40B4-BE49-F238E27FC236}">
                <a16:creationId xmlns:a16="http://schemas.microsoft.com/office/drawing/2014/main" id="{FE0DF6B9-246E-4DE2-B456-88D8FA5E15DD}"/>
              </a:ext>
            </a:extLst>
          </p:cNvPr>
          <p:cNvSpPr/>
          <p:nvPr/>
        </p:nvSpPr>
        <p:spPr>
          <a:xfrm>
            <a:off x="6625434" y="1545084"/>
            <a:ext cx="1010863"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n-US" altLang="zh-CN" sz="1600" kern="0" dirty="0" err="1">
                <a:solidFill>
                  <a:schemeClr val="bg1"/>
                </a:solidFill>
                <a:highlight>
                  <a:srgbClr val="FF0000"/>
                </a:highlight>
              </a:rPr>
              <a:t>aij</a:t>
            </a:r>
            <a:r>
              <a:rPr lang="en-US" altLang="zh-CN" sz="1600" kern="0" dirty="0">
                <a:solidFill>
                  <a:schemeClr val="bg1"/>
                </a:solidFill>
                <a:highlight>
                  <a:srgbClr val="FF0000"/>
                </a:highlight>
              </a:rPr>
              <a:t>=A[</a:t>
            </a:r>
            <a:r>
              <a:rPr lang="en-US" altLang="zh-CN" sz="1600" kern="0" dirty="0" err="1">
                <a:solidFill>
                  <a:schemeClr val="bg1"/>
                </a:solidFill>
                <a:highlight>
                  <a:srgbClr val="FF0000"/>
                </a:highlight>
              </a:rPr>
              <a:t>i,j</a:t>
            </a:r>
            <a:r>
              <a:rPr lang="en-US" altLang="zh-CN" sz="1600" kern="0" dirty="0">
                <a:solidFill>
                  <a:schemeClr val="bg1"/>
                </a:solidFill>
                <a:highlight>
                  <a:srgbClr val="FF0000"/>
                </a:highlight>
              </a:rPr>
              <a:t>]</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A8D2BB11-2996-4A27-9613-9043B5CE176D}"/>
              </a:ext>
            </a:extLst>
          </p:cNvPr>
          <p:cNvSpPr txBox="1"/>
          <p:nvPr/>
        </p:nvSpPr>
        <p:spPr>
          <a:xfrm>
            <a:off x="3946755" y="1542930"/>
            <a:ext cx="2787141" cy="369332"/>
          </a:xfrm>
          <a:prstGeom prst="rect">
            <a:avLst/>
          </a:prstGeom>
          <a:noFill/>
        </p:spPr>
        <p:txBody>
          <a:bodyPr wrap="square">
            <a:spAutoFit/>
          </a:bodyPr>
          <a:lstStyle/>
          <a:p>
            <a:r>
              <a:rPr lang="zh-CN" altLang="en-US" dirty="0">
                <a:solidFill>
                  <a:srgbClr val="0070C0"/>
                </a:solidFill>
                <a:latin typeface="微软雅黑" panose="020B0503020204020204" pitchFamily="34" charset="-122"/>
                <a:ea typeface="微软雅黑" panose="020B0503020204020204" pitchFamily="34" charset="-122"/>
              </a:rPr>
              <a:t>访问矩阵</a:t>
            </a:r>
            <a:r>
              <a:rPr lang="en-US" altLang="zh-CN" dirty="0">
                <a:solidFill>
                  <a:srgbClr val="0070C0"/>
                </a:solidFill>
                <a:latin typeface="微软雅黑" panose="020B0503020204020204" pitchFamily="34" charset="-122"/>
                <a:ea typeface="微软雅黑" panose="020B0503020204020204" pitchFamily="34" charset="-122"/>
              </a:rPr>
              <a:t>A</a:t>
            </a:r>
            <a:r>
              <a:rPr lang="zh-CN" altLang="en-US" dirty="0">
                <a:solidFill>
                  <a:srgbClr val="0070C0"/>
                </a:solidFill>
                <a:latin typeface="微软雅黑" panose="020B0503020204020204" pitchFamily="34" charset="-122"/>
                <a:ea typeface="微软雅黑" panose="020B0503020204020204" pitchFamily="34" charset="-122"/>
              </a:rPr>
              <a:t>第</a:t>
            </a:r>
            <a:r>
              <a:rPr lang="en-US" altLang="zh-CN" dirty="0" err="1">
                <a:solidFill>
                  <a:srgbClr val="0070C0"/>
                </a:solidFill>
                <a:latin typeface="微软雅黑" panose="020B0503020204020204" pitchFamily="34" charset="-122"/>
                <a:ea typeface="微软雅黑" panose="020B0503020204020204" pitchFamily="34" charset="-122"/>
              </a:rPr>
              <a:t>i</a:t>
            </a:r>
            <a:r>
              <a:rPr lang="zh-CN" altLang="en-US" dirty="0">
                <a:solidFill>
                  <a:srgbClr val="0070C0"/>
                </a:solidFill>
                <a:latin typeface="微软雅黑" panose="020B0503020204020204" pitchFamily="34" charset="-122"/>
                <a:ea typeface="微软雅黑" panose="020B0503020204020204" pitchFamily="34" charset="-122"/>
              </a:rPr>
              <a:t>行第</a:t>
            </a:r>
            <a:r>
              <a:rPr lang="en-US" altLang="zh-CN" dirty="0">
                <a:solidFill>
                  <a:srgbClr val="0070C0"/>
                </a:solidFill>
                <a:latin typeface="微软雅黑" panose="020B0503020204020204" pitchFamily="34" charset="-122"/>
                <a:ea typeface="微软雅黑" panose="020B0503020204020204" pitchFamily="34" charset="-122"/>
              </a:rPr>
              <a:t>j</a:t>
            </a:r>
            <a:r>
              <a:rPr lang="zh-CN" altLang="en-US" dirty="0">
                <a:solidFill>
                  <a:srgbClr val="0070C0"/>
                </a:solidFill>
                <a:latin typeface="微软雅黑" panose="020B0503020204020204" pitchFamily="34" charset="-122"/>
                <a:ea typeface="微软雅黑" panose="020B0503020204020204" pitchFamily="34" charset="-122"/>
              </a:rPr>
              <a:t>列元素</a:t>
            </a:r>
          </a:p>
        </p:txBody>
      </p:sp>
      <p:sp>
        <p:nvSpPr>
          <p:cNvPr id="17" name="矩形 16">
            <a:extLst>
              <a:ext uri="{FF2B5EF4-FFF2-40B4-BE49-F238E27FC236}">
                <a16:creationId xmlns:a16="http://schemas.microsoft.com/office/drawing/2014/main" id="{47458107-5A0E-4BF3-8D82-565E56F980FA}"/>
              </a:ext>
            </a:extLst>
          </p:cNvPr>
          <p:cNvSpPr/>
          <p:nvPr/>
        </p:nvSpPr>
        <p:spPr>
          <a:xfrm>
            <a:off x="6408987" y="2881268"/>
            <a:ext cx="81587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n-US" altLang="zh-CN" sz="1600" kern="0" dirty="0" err="1">
                <a:solidFill>
                  <a:schemeClr val="bg1"/>
                </a:solidFill>
                <a:highlight>
                  <a:srgbClr val="FF0000"/>
                </a:highlight>
              </a:rPr>
              <a:t>ak</a:t>
            </a:r>
            <a:r>
              <a:rPr lang="en-US" altLang="zh-CN" sz="1600" kern="0" dirty="0">
                <a:solidFill>
                  <a:schemeClr val="bg1"/>
                </a:solidFill>
                <a:highlight>
                  <a:srgbClr val="FF0000"/>
                </a:highlight>
              </a:rPr>
              <a:t>=A[k]</a:t>
            </a:r>
            <a:endParaRPr lang="zh-CN" altLang="en-US" sz="1600" kern="0" dirty="0">
              <a:solidFill>
                <a:schemeClr val="bg1"/>
              </a:solidFill>
              <a:highlight>
                <a:srgbClr val="FF0000"/>
              </a:highlight>
            </a:endParaRPr>
          </a:p>
        </p:txBody>
      </p:sp>
      <p:sp>
        <p:nvSpPr>
          <p:cNvPr id="18" name="文本框 17">
            <a:extLst>
              <a:ext uri="{FF2B5EF4-FFF2-40B4-BE49-F238E27FC236}">
                <a16:creationId xmlns:a16="http://schemas.microsoft.com/office/drawing/2014/main" id="{440A396D-D326-4493-A3D2-0D455E39D015}"/>
              </a:ext>
            </a:extLst>
          </p:cNvPr>
          <p:cNvSpPr txBox="1"/>
          <p:nvPr/>
        </p:nvSpPr>
        <p:spPr>
          <a:xfrm>
            <a:off x="6379092" y="1070325"/>
            <a:ext cx="647525" cy="417678"/>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lvl1pPr marL="177800" indent="-177800" algn="dist" eaLnBrk="0" hangingPunct="0">
              <a:lnSpc>
                <a:spcPct val="110000"/>
              </a:lnSpc>
              <a:buFont typeface="Wingdings" panose="05000000000000000000" pitchFamily="2" charset="2"/>
              <a:buChar char="Ø"/>
              <a:defRPr sz="2000" b="0">
                <a:solidFill>
                  <a:schemeClr val="bg1"/>
                </a:solidFill>
                <a:highlight>
                  <a:srgbClr val="003B76"/>
                </a:highlight>
                <a:latin typeface="华文楷体" panose="02010600040101010101" pitchFamily="2" charset="-122"/>
                <a:ea typeface="华文楷体" panose="02010600040101010101" pitchFamily="2"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marL="0" indent="0">
              <a:buClr>
                <a:srgbClr val="3399FF"/>
              </a:buClr>
              <a:buNone/>
            </a:pPr>
            <a:r>
              <a:rPr lang="en-US" altLang="zh-CN" b="1" dirty="0">
                <a:highlight>
                  <a:srgbClr val="FF0000"/>
                </a:highlight>
              </a:rPr>
              <a:t>[</a:t>
            </a:r>
            <a:r>
              <a:rPr lang="en-US" altLang="zh-CN" b="1" dirty="0" err="1">
                <a:highlight>
                  <a:srgbClr val="FF0000"/>
                </a:highlight>
              </a:rPr>
              <a:t>i,j</a:t>
            </a:r>
            <a:r>
              <a:rPr lang="en-US" altLang="zh-CN" b="1" dirty="0">
                <a:highlight>
                  <a:srgbClr val="FF0000"/>
                </a:highlight>
              </a:rPr>
              <a:t>]  </a:t>
            </a:r>
            <a:endParaRPr lang="zh-CN" altLang="en-US" b="1" dirty="0">
              <a:highlight>
                <a:srgbClr val="FF0000"/>
              </a:highlight>
            </a:endParaRPr>
          </a:p>
        </p:txBody>
      </p:sp>
      <p:sp>
        <p:nvSpPr>
          <p:cNvPr id="19" name="文本框 18">
            <a:extLst>
              <a:ext uri="{FF2B5EF4-FFF2-40B4-BE49-F238E27FC236}">
                <a16:creationId xmlns:a16="http://schemas.microsoft.com/office/drawing/2014/main" id="{BB05C132-BEE7-4E3E-9D54-3EC5FA43F4EC}"/>
              </a:ext>
            </a:extLst>
          </p:cNvPr>
          <p:cNvSpPr txBox="1"/>
          <p:nvPr/>
        </p:nvSpPr>
        <p:spPr>
          <a:xfrm>
            <a:off x="6398018" y="1968346"/>
            <a:ext cx="469091" cy="417678"/>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lvl1pPr marL="177800" indent="-177800" algn="dist" eaLnBrk="0" hangingPunct="0">
              <a:lnSpc>
                <a:spcPct val="110000"/>
              </a:lnSpc>
              <a:buFont typeface="Wingdings" panose="05000000000000000000" pitchFamily="2" charset="2"/>
              <a:buChar char="Ø"/>
              <a:defRPr sz="2000" b="0">
                <a:solidFill>
                  <a:schemeClr val="bg1"/>
                </a:solidFill>
                <a:highlight>
                  <a:srgbClr val="003B76"/>
                </a:highlight>
                <a:latin typeface="华文楷体" panose="02010600040101010101" pitchFamily="2" charset="-122"/>
                <a:ea typeface="华文楷体" panose="02010600040101010101" pitchFamily="2"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marL="0" indent="0">
              <a:buClr>
                <a:srgbClr val="3399FF"/>
              </a:buClr>
              <a:buNone/>
            </a:pPr>
            <a:r>
              <a:rPr lang="en-US" altLang="zh-CN" b="1" dirty="0">
                <a:highlight>
                  <a:srgbClr val="FF0000"/>
                </a:highlight>
              </a:rPr>
              <a:t>[k]</a:t>
            </a:r>
            <a:endParaRPr lang="zh-CN" altLang="en-US" b="1" dirty="0">
              <a:highlight>
                <a:srgbClr val="FF0000"/>
              </a:highlight>
            </a:endParaRPr>
          </a:p>
        </p:txBody>
      </p:sp>
      <p:sp>
        <p:nvSpPr>
          <p:cNvPr id="20" name="文本框 13">
            <a:extLst>
              <a:ext uri="{FF2B5EF4-FFF2-40B4-BE49-F238E27FC236}">
                <a16:creationId xmlns:a16="http://schemas.microsoft.com/office/drawing/2014/main" id="{85294079-88DD-4CDC-B060-727474D28902}"/>
              </a:ext>
            </a:extLst>
          </p:cNvPr>
          <p:cNvSpPr txBox="1"/>
          <p:nvPr/>
        </p:nvSpPr>
        <p:spPr>
          <a:xfrm>
            <a:off x="3859979" y="2387664"/>
            <a:ext cx="4509241" cy="400110"/>
          </a:xfrm>
          <a:prstGeom prst="rect">
            <a:avLst/>
          </a:prstGeom>
          <a:noFill/>
        </p:spPr>
        <p:txBody>
          <a:bodyPr wrap="square">
            <a:spAutoFit/>
          </a:bodyPr>
          <a:lstStyle>
            <a:defPPr>
              <a:defRPr lang="zh-CN"/>
            </a:defPPr>
            <a:lvl1pPr>
              <a:defRPr sz="2200">
                <a:solidFill>
                  <a:srgbClr val="002060"/>
                </a:solidFill>
                <a:latin typeface="华文楷体" panose="02010600040101010101" pitchFamily="2" charset="-122"/>
                <a:ea typeface="华文楷体" panose="02010600040101010101" pitchFamily="2" charset="-122"/>
              </a:defRPr>
            </a:lvl1pPr>
          </a:lstStyle>
          <a:p>
            <a:r>
              <a:rPr lang="zh-CN" altLang="en-US" sz="2000" dirty="0"/>
              <a:t>按先左后右由上至下顺序存储的位置</a:t>
            </a:r>
          </a:p>
        </p:txBody>
      </p:sp>
      <p:sp>
        <p:nvSpPr>
          <p:cNvPr id="21" name="文本框 20">
            <a:extLst>
              <a:ext uri="{FF2B5EF4-FFF2-40B4-BE49-F238E27FC236}">
                <a16:creationId xmlns:a16="http://schemas.microsoft.com/office/drawing/2014/main" id="{4D84BB5E-9B89-4E13-B59A-C9A8B076CB99}"/>
              </a:ext>
            </a:extLst>
          </p:cNvPr>
          <p:cNvSpPr txBox="1"/>
          <p:nvPr/>
        </p:nvSpPr>
        <p:spPr>
          <a:xfrm>
            <a:off x="3893136" y="2849361"/>
            <a:ext cx="2611205" cy="369332"/>
          </a:xfrm>
          <a:prstGeom prst="rect">
            <a:avLst/>
          </a:prstGeom>
          <a:noFill/>
        </p:spPr>
        <p:txBody>
          <a:bodyPr wrap="square">
            <a:spAutoFit/>
          </a:bodyPr>
          <a:lstStyle/>
          <a:p>
            <a:r>
              <a:rPr lang="zh-CN" altLang="en-US" dirty="0">
                <a:solidFill>
                  <a:srgbClr val="0070C0"/>
                </a:solidFill>
                <a:latin typeface="微软雅黑" panose="020B0503020204020204" pitchFamily="34" charset="-122"/>
                <a:ea typeface="微软雅黑" panose="020B0503020204020204" pitchFamily="34" charset="-122"/>
              </a:rPr>
              <a:t>访问矩阵</a:t>
            </a:r>
            <a:r>
              <a:rPr lang="en-US" altLang="zh-CN" dirty="0">
                <a:solidFill>
                  <a:srgbClr val="0070C0"/>
                </a:solidFill>
                <a:latin typeface="微软雅黑" panose="020B0503020204020204" pitchFamily="34" charset="-122"/>
                <a:ea typeface="微软雅黑" panose="020B0503020204020204" pitchFamily="34" charset="-122"/>
              </a:rPr>
              <a:t>A</a:t>
            </a:r>
            <a:r>
              <a:rPr lang="zh-CN" altLang="en-US" dirty="0">
                <a:solidFill>
                  <a:srgbClr val="0070C0"/>
                </a:solidFill>
                <a:latin typeface="微软雅黑" panose="020B0503020204020204" pitchFamily="34" charset="-122"/>
                <a:ea typeface="微软雅黑" panose="020B0503020204020204" pitchFamily="34" charset="-122"/>
              </a:rPr>
              <a:t>的第</a:t>
            </a:r>
            <a:r>
              <a:rPr lang="en-US" altLang="zh-CN" dirty="0">
                <a:solidFill>
                  <a:srgbClr val="0070C0"/>
                </a:solidFill>
                <a:latin typeface="微软雅黑" panose="020B0503020204020204" pitchFamily="34" charset="-122"/>
                <a:ea typeface="微软雅黑" panose="020B0503020204020204" pitchFamily="34" charset="-122"/>
              </a:rPr>
              <a:t>k</a:t>
            </a:r>
            <a:r>
              <a:rPr lang="zh-CN" altLang="en-US" dirty="0">
                <a:solidFill>
                  <a:srgbClr val="0070C0"/>
                </a:solidFill>
                <a:latin typeface="微软雅黑" panose="020B0503020204020204" pitchFamily="34" charset="-122"/>
                <a:ea typeface="微软雅黑" panose="020B0503020204020204" pitchFamily="34" charset="-122"/>
              </a:rPr>
              <a:t>个元素</a:t>
            </a:r>
          </a:p>
        </p:txBody>
      </p:sp>
      <p:sp>
        <p:nvSpPr>
          <p:cNvPr id="24" name="矩形 23">
            <a:extLst>
              <a:ext uri="{FF2B5EF4-FFF2-40B4-BE49-F238E27FC236}">
                <a16:creationId xmlns:a16="http://schemas.microsoft.com/office/drawing/2014/main" id="{59662B1C-0D29-4BB0-B431-F7420F990BBF}"/>
              </a:ext>
            </a:extLst>
          </p:cNvPr>
          <p:cNvSpPr/>
          <p:nvPr/>
        </p:nvSpPr>
        <p:spPr>
          <a:xfrm>
            <a:off x="1659090" y="3296213"/>
            <a:ext cx="2264872" cy="40011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dirty="0">
                <a:solidFill>
                  <a:schemeClr val="bg1"/>
                </a:solidFill>
                <a:highlight>
                  <a:srgbClr val="FF0000"/>
                </a:highlight>
                <a:latin typeface="华文楷体" panose="02010600040101010101" pitchFamily="2" charset="-122"/>
                <a:ea typeface="华文楷体" panose="02010600040101010101" pitchFamily="2" charset="-122"/>
              </a:rPr>
              <a:t>Ind=[</a:t>
            </a:r>
            <a:r>
              <a:rPr lang="zh-CN" altLang="en-US" sz="2000" b="1" dirty="0">
                <a:solidFill>
                  <a:schemeClr val="bg1"/>
                </a:solidFill>
                <a:highlight>
                  <a:srgbClr val="FF0000"/>
                </a:highlight>
                <a:latin typeface="华文楷体" panose="02010600040101010101" pitchFamily="2" charset="-122"/>
                <a:ea typeface="华文楷体" panose="02010600040101010101" pitchFamily="2" charset="-122"/>
              </a:rPr>
              <a:t>逻辑关系式</a:t>
            </a:r>
            <a:r>
              <a:rPr lang="en-US" altLang="zh-CN" sz="2000" b="1" dirty="0">
                <a:solidFill>
                  <a:schemeClr val="bg1"/>
                </a:solidFill>
                <a:highlight>
                  <a:srgbClr val="FF0000"/>
                </a:highlight>
                <a:latin typeface="华文楷体" panose="02010600040101010101" pitchFamily="2" charset="-122"/>
                <a:ea typeface="华文楷体" panose="02010600040101010101" pitchFamily="2" charset="-122"/>
              </a:rPr>
              <a:t>]</a:t>
            </a:r>
            <a:endParaRPr lang="zh-CN" altLang="en-US" sz="2000" b="1" dirty="0">
              <a:solidFill>
                <a:schemeClr val="bg1"/>
              </a:solidFill>
              <a:highlight>
                <a:srgbClr val="FF0000"/>
              </a:highlight>
              <a:latin typeface="华文楷体" panose="02010600040101010101" pitchFamily="2" charset="-122"/>
              <a:ea typeface="华文楷体" panose="02010600040101010101" pitchFamily="2" charset="-122"/>
            </a:endParaRPr>
          </a:p>
        </p:txBody>
      </p:sp>
      <p:sp>
        <p:nvSpPr>
          <p:cNvPr id="25" name="文本框 24">
            <a:extLst>
              <a:ext uri="{FF2B5EF4-FFF2-40B4-BE49-F238E27FC236}">
                <a16:creationId xmlns:a16="http://schemas.microsoft.com/office/drawing/2014/main" id="{BBF14539-CA60-49E0-BE98-2E9EC52CA56C}"/>
              </a:ext>
            </a:extLst>
          </p:cNvPr>
          <p:cNvSpPr txBox="1"/>
          <p:nvPr/>
        </p:nvSpPr>
        <p:spPr>
          <a:xfrm>
            <a:off x="3702902" y="3279261"/>
            <a:ext cx="3380795" cy="400110"/>
          </a:xfrm>
          <a:prstGeom prst="rect">
            <a:avLst/>
          </a:prstGeom>
          <a:noFill/>
        </p:spPr>
        <p:txBody>
          <a:bodyPr wrap="square">
            <a:spAutoFit/>
          </a:bodyPr>
          <a:lstStyle/>
          <a:p>
            <a:r>
              <a:rPr lang="zh-CN" altLang="en-US" sz="2000" dirty="0">
                <a:solidFill>
                  <a:srgbClr val="002060"/>
                </a:solidFill>
                <a:latin typeface="华文楷体" panose="02010600040101010101" pitchFamily="2" charset="-122"/>
                <a:ea typeface="华文楷体" panose="02010600040101010101" pitchFamily="2" charset="-122"/>
              </a:rPr>
              <a:t>矩阵满足逻辑关系式位置</a:t>
            </a:r>
            <a:endParaRPr lang="en-US" altLang="zh-CN" sz="2000" dirty="0">
              <a:solidFill>
                <a:srgbClr val="002060"/>
              </a:solidFill>
              <a:latin typeface="华文楷体" panose="02010600040101010101" pitchFamily="2" charset="-122"/>
              <a:ea typeface="华文楷体" panose="02010600040101010101" pitchFamily="2" charset="-122"/>
            </a:endParaRPr>
          </a:p>
        </p:txBody>
      </p:sp>
      <p:sp>
        <p:nvSpPr>
          <p:cNvPr id="26" name="文本框 25">
            <a:extLst>
              <a:ext uri="{FF2B5EF4-FFF2-40B4-BE49-F238E27FC236}">
                <a16:creationId xmlns:a16="http://schemas.microsoft.com/office/drawing/2014/main" id="{8314182E-2786-449A-B4C4-50EBCAB8F477}"/>
              </a:ext>
            </a:extLst>
          </p:cNvPr>
          <p:cNvSpPr txBox="1"/>
          <p:nvPr/>
        </p:nvSpPr>
        <p:spPr>
          <a:xfrm>
            <a:off x="6655914" y="3247163"/>
            <a:ext cx="1784149" cy="430887"/>
          </a:xfrm>
          <a:prstGeom prst="rect">
            <a:avLst/>
          </a:prstGeom>
          <a:noFill/>
        </p:spPr>
        <p:txBody>
          <a:bodyPr wrap="square">
            <a:spAutoFit/>
          </a:bodyPr>
          <a:lstStyle/>
          <a:p>
            <a:r>
              <a:rPr lang="en-US" altLang="zh-CN" sz="2200" dirty="0" err="1">
                <a:solidFill>
                  <a:srgbClr val="0070C0"/>
                </a:solidFill>
                <a:latin typeface="华文楷体" panose="02010600040101010101" pitchFamily="2" charset="-122"/>
                <a:ea typeface="华文楷体" panose="02010600040101010101" pitchFamily="2" charset="-122"/>
              </a:rPr>
              <a:t>ind</a:t>
            </a:r>
            <a:r>
              <a:rPr lang="en-US" altLang="zh-CN" sz="2200" dirty="0">
                <a:solidFill>
                  <a:srgbClr val="0070C0"/>
                </a:solidFill>
                <a:latin typeface="华文楷体" panose="02010600040101010101" pitchFamily="2" charset="-122"/>
                <a:ea typeface="华文楷体" panose="02010600040101010101" pitchFamily="2" charset="-122"/>
              </a:rPr>
              <a:t>=[A</a:t>
            </a:r>
            <a:r>
              <a:rPr lang="en-US" altLang="zh-CN" sz="2200" b="1" dirty="0">
                <a:solidFill>
                  <a:srgbClr val="FF0000"/>
                </a:solidFill>
                <a:latin typeface="华文楷体" panose="02010600040101010101" pitchFamily="2" charset="-122"/>
                <a:ea typeface="华文楷体" panose="02010600040101010101" pitchFamily="2" charset="-122"/>
              </a:rPr>
              <a:t>. </a:t>
            </a:r>
            <a:r>
              <a:rPr lang="en-US" altLang="zh-CN" sz="2200" dirty="0">
                <a:solidFill>
                  <a:srgbClr val="0070C0"/>
                </a:solidFill>
                <a:latin typeface="华文楷体" panose="02010600040101010101" pitchFamily="2" charset="-122"/>
                <a:ea typeface="华文楷体" panose="02010600040101010101" pitchFamily="2" charset="-122"/>
              </a:rPr>
              <a:t>&gt;5]</a:t>
            </a:r>
            <a:endParaRPr lang="zh-CN" altLang="en-US" sz="2200" dirty="0">
              <a:solidFill>
                <a:srgbClr val="002060"/>
              </a:solidFill>
              <a:latin typeface="华文楷体" panose="02010600040101010101" pitchFamily="2" charset="-122"/>
              <a:ea typeface="华文楷体" panose="02010600040101010101" pitchFamily="2" charset="-122"/>
            </a:endParaRPr>
          </a:p>
        </p:txBody>
      </p:sp>
      <p:cxnSp>
        <p:nvCxnSpPr>
          <p:cNvPr id="29" name="直接箭头连接符 28">
            <a:extLst>
              <a:ext uri="{FF2B5EF4-FFF2-40B4-BE49-F238E27FC236}">
                <a16:creationId xmlns:a16="http://schemas.microsoft.com/office/drawing/2014/main" id="{651F4DCE-EC36-4662-9C0C-E58FC1A92D87}"/>
              </a:ext>
            </a:extLst>
          </p:cNvPr>
          <p:cNvCxnSpPr>
            <a:cxnSpLocks/>
          </p:cNvCxnSpPr>
          <p:nvPr/>
        </p:nvCxnSpPr>
        <p:spPr bwMode="auto">
          <a:xfrm flipH="1">
            <a:off x="2018995" y="2283718"/>
            <a:ext cx="4987" cy="920340"/>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30" name="直接箭头连接符 29">
            <a:extLst>
              <a:ext uri="{FF2B5EF4-FFF2-40B4-BE49-F238E27FC236}">
                <a16:creationId xmlns:a16="http://schemas.microsoft.com/office/drawing/2014/main" id="{BFB468FA-87FC-4565-B2C2-718706C149E9}"/>
              </a:ext>
            </a:extLst>
          </p:cNvPr>
          <p:cNvCxnSpPr>
            <a:cxnSpLocks/>
          </p:cNvCxnSpPr>
          <p:nvPr/>
        </p:nvCxnSpPr>
        <p:spPr bwMode="auto">
          <a:xfrm>
            <a:off x="3355151" y="2262794"/>
            <a:ext cx="0" cy="892216"/>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33" name="矩形 32">
            <a:extLst>
              <a:ext uri="{FF2B5EF4-FFF2-40B4-BE49-F238E27FC236}">
                <a16:creationId xmlns:a16="http://schemas.microsoft.com/office/drawing/2014/main" id="{B8775076-679D-4680-AB0B-957F1DC2C5D9}"/>
              </a:ext>
            </a:extLst>
          </p:cNvPr>
          <p:cNvSpPr/>
          <p:nvPr/>
        </p:nvSpPr>
        <p:spPr>
          <a:xfrm>
            <a:off x="2863673" y="3751543"/>
            <a:ext cx="205892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n-US" altLang="zh-CN" sz="1600" kern="0" dirty="0" err="1">
                <a:solidFill>
                  <a:schemeClr val="bg1"/>
                </a:solidFill>
                <a:highlight>
                  <a:srgbClr val="FF0000"/>
                </a:highlight>
              </a:rPr>
              <a:t>aind</a:t>
            </a:r>
            <a:r>
              <a:rPr lang="en-US" altLang="zh-CN" sz="1600" kern="0" dirty="0">
                <a:solidFill>
                  <a:schemeClr val="bg1"/>
                </a:solidFill>
                <a:highlight>
                  <a:srgbClr val="FF0000"/>
                </a:highlight>
              </a:rPr>
              <a:t>=A[</a:t>
            </a:r>
            <a:r>
              <a:rPr lang="zh-CN" altLang="en-US" sz="1600" kern="0" dirty="0">
                <a:solidFill>
                  <a:schemeClr val="bg1"/>
                </a:solidFill>
                <a:highlight>
                  <a:srgbClr val="FF0000"/>
                </a:highlight>
              </a:rPr>
              <a:t>逻辑关系式</a:t>
            </a:r>
            <a:r>
              <a:rPr lang="en-US" altLang="zh-CN" sz="1600" kern="0" dirty="0">
                <a:solidFill>
                  <a:schemeClr val="bg1"/>
                </a:solidFill>
                <a:highlight>
                  <a:srgbClr val="FF0000"/>
                </a:highlight>
              </a:rPr>
              <a:t>]</a:t>
            </a:r>
            <a:endParaRPr lang="zh-CN" altLang="en-US" sz="1600" kern="0" dirty="0">
              <a:solidFill>
                <a:schemeClr val="bg1"/>
              </a:solidFill>
              <a:highlight>
                <a:srgbClr val="FF0000"/>
              </a:highlight>
            </a:endParaRPr>
          </a:p>
        </p:txBody>
      </p:sp>
      <p:sp>
        <p:nvSpPr>
          <p:cNvPr id="34" name="文本框 33">
            <a:extLst>
              <a:ext uri="{FF2B5EF4-FFF2-40B4-BE49-F238E27FC236}">
                <a16:creationId xmlns:a16="http://schemas.microsoft.com/office/drawing/2014/main" id="{A3F03100-A68F-4142-826E-CAEE07C22995}"/>
              </a:ext>
            </a:extLst>
          </p:cNvPr>
          <p:cNvSpPr txBox="1"/>
          <p:nvPr/>
        </p:nvSpPr>
        <p:spPr>
          <a:xfrm>
            <a:off x="117254" y="3757026"/>
            <a:ext cx="2954327" cy="369332"/>
          </a:xfrm>
          <a:prstGeom prst="rect">
            <a:avLst/>
          </a:prstGeom>
          <a:noFill/>
        </p:spPr>
        <p:txBody>
          <a:bodyPr wrap="square">
            <a:spAutoFit/>
          </a:bodyPr>
          <a:lstStyle>
            <a:defPPr>
              <a:defRPr lang="zh-CN"/>
            </a:defPPr>
            <a:lvl1pPr>
              <a:defRPr>
                <a:solidFill>
                  <a:srgbClr val="0070C0"/>
                </a:solidFill>
                <a:latin typeface="微软雅黑" panose="020B0503020204020204" pitchFamily="34" charset="-122"/>
                <a:ea typeface="微软雅黑" panose="020B0503020204020204" pitchFamily="34" charset="-122"/>
              </a:defRPr>
            </a:lvl1pPr>
          </a:lstStyle>
          <a:p>
            <a:r>
              <a:rPr lang="zh-CN" altLang="en-US" dirty="0"/>
              <a:t>访问满足逻辑关系式的元素</a:t>
            </a:r>
          </a:p>
        </p:txBody>
      </p:sp>
      <p:sp>
        <p:nvSpPr>
          <p:cNvPr id="35" name="文本框 34">
            <a:extLst>
              <a:ext uri="{FF2B5EF4-FFF2-40B4-BE49-F238E27FC236}">
                <a16:creationId xmlns:a16="http://schemas.microsoft.com/office/drawing/2014/main" id="{D6C14BA8-3D52-41E5-ADD9-6DDD8ADD9739}"/>
              </a:ext>
            </a:extLst>
          </p:cNvPr>
          <p:cNvSpPr txBox="1"/>
          <p:nvPr/>
        </p:nvSpPr>
        <p:spPr>
          <a:xfrm>
            <a:off x="4850585" y="3677209"/>
            <a:ext cx="1528508" cy="430887"/>
          </a:xfrm>
          <a:prstGeom prst="rect">
            <a:avLst/>
          </a:prstGeom>
          <a:noFill/>
        </p:spPr>
        <p:txBody>
          <a:bodyPr wrap="square">
            <a:spAutoFit/>
          </a:bodyPr>
          <a:lstStyle/>
          <a:p>
            <a:r>
              <a:rPr lang="en-US" altLang="zh-CN" sz="2200" dirty="0">
                <a:solidFill>
                  <a:srgbClr val="0070C0"/>
                </a:solidFill>
                <a:latin typeface="华文楷体" panose="02010600040101010101" pitchFamily="2" charset="-122"/>
                <a:ea typeface="华文楷体" panose="02010600040101010101" pitchFamily="2" charset="-122"/>
              </a:rPr>
              <a:t>a5=A[A.&gt;5]</a:t>
            </a:r>
            <a:endParaRPr lang="zh-CN" altLang="en-US" sz="2200" dirty="0"/>
          </a:p>
        </p:txBody>
      </p:sp>
      <p:sp>
        <p:nvSpPr>
          <p:cNvPr id="3" name="思想气泡: 云 2">
            <a:extLst>
              <a:ext uri="{FF2B5EF4-FFF2-40B4-BE49-F238E27FC236}">
                <a16:creationId xmlns:a16="http://schemas.microsoft.com/office/drawing/2014/main" id="{F01B8CC6-B4A2-4EAE-9BCC-0CB17E637459}"/>
              </a:ext>
            </a:extLst>
          </p:cNvPr>
          <p:cNvSpPr/>
          <p:nvPr/>
        </p:nvSpPr>
        <p:spPr bwMode="auto">
          <a:xfrm>
            <a:off x="8248361" y="3044346"/>
            <a:ext cx="867878" cy="1200328"/>
          </a:xfrm>
          <a:prstGeom prst="cloudCallout">
            <a:avLst>
              <a:gd name="adj1" fmla="val -68819"/>
              <a:gd name="adj2" fmla="val -9972"/>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1" name="文本框 30">
            <a:extLst>
              <a:ext uri="{FF2B5EF4-FFF2-40B4-BE49-F238E27FC236}">
                <a16:creationId xmlns:a16="http://schemas.microsoft.com/office/drawing/2014/main" id="{049917C4-B695-4CEF-B8F0-535319C8493E}"/>
              </a:ext>
            </a:extLst>
          </p:cNvPr>
          <p:cNvSpPr txBox="1"/>
          <p:nvPr/>
        </p:nvSpPr>
        <p:spPr>
          <a:xfrm>
            <a:off x="8373495" y="3094140"/>
            <a:ext cx="813209" cy="1015663"/>
          </a:xfrm>
          <a:prstGeom prst="rect">
            <a:avLst/>
          </a:prstGeom>
          <a:noFill/>
          <a:ln>
            <a:noFill/>
          </a:ln>
        </p:spPr>
        <p:txBody>
          <a:bodyPr wrap="square">
            <a:spAutoFit/>
          </a:bodyPr>
          <a:lstStyle/>
          <a:p>
            <a:r>
              <a:rPr lang="zh-CN" altLang="en-US" sz="1000" b="1" dirty="0">
                <a:solidFill>
                  <a:srgbClr val="FF0000"/>
                </a:solidFill>
              </a:rPr>
              <a:t>逐元素比较，加点逻辑结果</a:t>
            </a:r>
            <a:endParaRPr lang="en-US" altLang="zh-CN" sz="1000" b="1" dirty="0">
              <a:solidFill>
                <a:srgbClr val="FF0000"/>
              </a:solidFill>
            </a:endParaRPr>
          </a:p>
          <a:p>
            <a:r>
              <a:rPr lang="en-US" altLang="zh-CN" sz="1000" b="1" dirty="0">
                <a:solidFill>
                  <a:srgbClr val="FF0000"/>
                </a:solidFill>
              </a:rPr>
              <a:t>0</a:t>
            </a:r>
            <a:r>
              <a:rPr lang="zh-CN" altLang="en-US" sz="1000" b="1" dirty="0">
                <a:solidFill>
                  <a:srgbClr val="FF0000"/>
                </a:solidFill>
              </a:rPr>
              <a:t>  0  </a:t>
            </a:r>
            <a:r>
              <a:rPr lang="en-US" altLang="zh-CN" sz="1000" b="1" dirty="0">
                <a:solidFill>
                  <a:srgbClr val="FF0000"/>
                </a:solidFill>
              </a:rPr>
              <a:t>0</a:t>
            </a:r>
            <a:endParaRPr lang="zh-CN" altLang="en-US" sz="1000" b="1" dirty="0">
              <a:solidFill>
                <a:srgbClr val="FF0000"/>
              </a:solidFill>
            </a:endParaRPr>
          </a:p>
          <a:p>
            <a:r>
              <a:rPr lang="zh-CN" altLang="en-US" sz="1000" b="1" dirty="0">
                <a:solidFill>
                  <a:srgbClr val="FF0000"/>
                </a:solidFill>
              </a:rPr>
              <a:t>0  </a:t>
            </a:r>
            <a:r>
              <a:rPr lang="en-US" altLang="zh-CN" sz="1000" b="1" dirty="0">
                <a:solidFill>
                  <a:srgbClr val="FF0000"/>
                </a:solidFill>
              </a:rPr>
              <a:t>0</a:t>
            </a:r>
            <a:r>
              <a:rPr lang="zh-CN" altLang="en-US" sz="1000" b="1" dirty="0">
                <a:solidFill>
                  <a:srgbClr val="FF0000"/>
                </a:solidFill>
              </a:rPr>
              <a:t>  </a:t>
            </a:r>
            <a:r>
              <a:rPr lang="en-US" altLang="zh-CN" sz="1000" b="1" dirty="0">
                <a:solidFill>
                  <a:srgbClr val="FF0000"/>
                </a:solidFill>
              </a:rPr>
              <a:t>0</a:t>
            </a:r>
            <a:endParaRPr lang="zh-CN" altLang="en-US" sz="1000" b="1" dirty="0">
              <a:solidFill>
                <a:srgbClr val="FF0000"/>
              </a:solidFill>
            </a:endParaRPr>
          </a:p>
          <a:p>
            <a:r>
              <a:rPr lang="zh-CN" altLang="en-US" sz="1000" b="1" dirty="0">
                <a:solidFill>
                  <a:srgbClr val="FF0000"/>
                </a:solidFill>
              </a:rPr>
              <a:t>0  1  0</a:t>
            </a:r>
          </a:p>
        </p:txBody>
      </p:sp>
      <p:sp>
        <p:nvSpPr>
          <p:cNvPr id="36" name="文本框 35">
            <a:extLst>
              <a:ext uri="{FF2B5EF4-FFF2-40B4-BE49-F238E27FC236}">
                <a16:creationId xmlns:a16="http://schemas.microsoft.com/office/drawing/2014/main" id="{BC228119-9BB5-4467-9EAB-B057EB41955D}"/>
              </a:ext>
            </a:extLst>
          </p:cNvPr>
          <p:cNvSpPr txBox="1"/>
          <p:nvPr/>
        </p:nvSpPr>
        <p:spPr>
          <a:xfrm>
            <a:off x="6341589" y="3676065"/>
            <a:ext cx="1670690" cy="430887"/>
          </a:xfrm>
          <a:prstGeom prst="rect">
            <a:avLst/>
          </a:prstGeom>
          <a:noFill/>
        </p:spPr>
        <p:txBody>
          <a:bodyPr wrap="square">
            <a:spAutoFit/>
          </a:bodyPr>
          <a:lstStyle/>
          <a:p>
            <a:r>
              <a:rPr lang="en-US" altLang="zh-CN" sz="2200" dirty="0">
                <a:solidFill>
                  <a:srgbClr val="0070C0"/>
                </a:solidFill>
                <a:latin typeface="华文楷体" panose="02010600040101010101" pitchFamily="2" charset="-122"/>
                <a:ea typeface="华文楷体" panose="02010600040101010101" pitchFamily="2" charset="-122"/>
              </a:rPr>
              <a:t>#</a:t>
            </a:r>
            <a:r>
              <a:rPr lang="zh-CN" altLang="en-US" sz="2200" dirty="0">
                <a:solidFill>
                  <a:srgbClr val="0070C0"/>
                </a:solidFill>
                <a:latin typeface="华文楷体" panose="02010600040101010101" pitchFamily="2" charset="-122"/>
                <a:ea typeface="华文楷体" panose="02010600040101010101" pitchFamily="2" charset="-122"/>
              </a:rPr>
              <a:t>结果为</a:t>
            </a:r>
            <a:r>
              <a:rPr lang="en-US" altLang="zh-CN" sz="2200" dirty="0">
                <a:solidFill>
                  <a:srgbClr val="0070C0"/>
                </a:solidFill>
                <a:latin typeface="华文楷体" panose="02010600040101010101" pitchFamily="2" charset="-122"/>
                <a:ea typeface="华文楷体" panose="02010600040101010101" pitchFamily="2" charset="-122"/>
              </a:rPr>
              <a:t>6</a:t>
            </a:r>
            <a:endParaRPr lang="zh-CN" altLang="en-US" sz="2200" dirty="0"/>
          </a:p>
        </p:txBody>
      </p:sp>
      <p:sp>
        <p:nvSpPr>
          <p:cNvPr id="37" name="AutoShape 13">
            <a:extLst>
              <a:ext uri="{FF2B5EF4-FFF2-40B4-BE49-F238E27FC236}">
                <a16:creationId xmlns:a16="http://schemas.microsoft.com/office/drawing/2014/main" id="{5F832D3C-B600-4B06-8685-4ED9E7F887ED}"/>
              </a:ext>
            </a:extLst>
          </p:cNvPr>
          <p:cNvSpPr>
            <a:spLocks noChangeArrowheads="1"/>
          </p:cNvSpPr>
          <p:nvPr/>
        </p:nvSpPr>
        <p:spPr bwMode="auto">
          <a:xfrm>
            <a:off x="-42769" y="4113498"/>
            <a:ext cx="1669008" cy="520697"/>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b="1" kern="0" dirty="0">
                <a:solidFill>
                  <a:srgbClr val="FFFF00"/>
                </a:solidFill>
                <a:latin typeface="微软雅黑" panose="020B0503020204020204" pitchFamily="34" charset="-122"/>
                <a:ea typeface="微软雅黑" panose="020B0503020204020204" pitchFamily="34" charset="-122"/>
              </a:rPr>
              <a:t> 注意</a:t>
            </a:r>
          </a:p>
        </p:txBody>
      </p:sp>
      <p:sp>
        <p:nvSpPr>
          <p:cNvPr id="39" name="文本框 38">
            <a:extLst>
              <a:ext uri="{FF2B5EF4-FFF2-40B4-BE49-F238E27FC236}">
                <a16:creationId xmlns:a16="http://schemas.microsoft.com/office/drawing/2014/main" id="{7204859D-00CF-4D92-BD86-8A3F3EBCE876}"/>
              </a:ext>
            </a:extLst>
          </p:cNvPr>
          <p:cNvSpPr txBox="1"/>
          <p:nvPr/>
        </p:nvSpPr>
        <p:spPr>
          <a:xfrm>
            <a:off x="183920" y="675276"/>
            <a:ext cx="8780846" cy="369332"/>
          </a:xfrm>
          <a:prstGeom prst="rect">
            <a:avLst/>
          </a:prstGeom>
          <a:solidFill>
            <a:schemeClr val="bg1"/>
          </a:solidFill>
        </p:spPr>
        <p:txBody>
          <a:bodyPr wrap="square">
            <a:spAutoFit/>
          </a:bodyPr>
          <a:lstStyle/>
          <a:p>
            <a:pPr algn="dist"/>
            <a:r>
              <a:rPr lang="zh-CN" altLang="en-US" b="1" kern="0" dirty="0">
                <a:solidFill>
                  <a:srgbClr val="0070C0"/>
                </a:solidFill>
                <a:latin typeface="微软雅黑" panose="020B0503020204020204" pitchFamily="34" charset="-122"/>
                <a:ea typeface="微软雅黑" panose="020B0503020204020204" pitchFamily="34" charset="-122"/>
              </a:rPr>
              <a:t>三种索引方式：位置索引</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双下标索引</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、线性索引</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单下标索引</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和逻辑索引</a:t>
            </a:r>
            <a:endParaRPr lang="zh-CN" altLang="en-US" b="1" dirty="0">
              <a:solidFill>
                <a:srgbClr val="0070C0"/>
              </a:solidFill>
            </a:endParaRPr>
          </a:p>
        </p:txBody>
      </p:sp>
      <p:sp>
        <p:nvSpPr>
          <p:cNvPr id="41" name="文本框 40">
            <a:extLst>
              <a:ext uri="{FF2B5EF4-FFF2-40B4-BE49-F238E27FC236}">
                <a16:creationId xmlns:a16="http://schemas.microsoft.com/office/drawing/2014/main" id="{BE8F068D-94D3-4F27-8322-DF1218A48718}"/>
              </a:ext>
            </a:extLst>
          </p:cNvPr>
          <p:cNvSpPr txBox="1"/>
          <p:nvPr/>
        </p:nvSpPr>
        <p:spPr>
          <a:xfrm>
            <a:off x="7502218" y="1529695"/>
            <a:ext cx="1010863" cy="369332"/>
          </a:xfrm>
          <a:prstGeom prst="rect">
            <a:avLst/>
          </a:prstGeom>
          <a:noFill/>
        </p:spPr>
        <p:txBody>
          <a:bodyPr wrap="square">
            <a:spAutoFit/>
          </a:bodyPr>
          <a:lstStyle>
            <a:defPPr>
              <a:defRPr lang="zh-CN"/>
            </a:defPPr>
            <a:lvl1pPr>
              <a:defRPr sz="1600" b="1">
                <a:solidFill>
                  <a:srgbClr val="00B0F0"/>
                </a:solidFill>
              </a:defRPr>
            </a:lvl1pPr>
          </a:lstStyle>
          <a:p>
            <a:r>
              <a:rPr lang="en-US" altLang="zh-CN" dirty="0"/>
              <a:t>a=A[2,3]</a:t>
            </a:r>
            <a:endParaRPr lang="zh-CN" altLang="en-US" dirty="0"/>
          </a:p>
        </p:txBody>
      </p:sp>
      <p:sp>
        <p:nvSpPr>
          <p:cNvPr id="40" name="文本框 39">
            <a:extLst>
              <a:ext uri="{FF2B5EF4-FFF2-40B4-BE49-F238E27FC236}">
                <a16:creationId xmlns:a16="http://schemas.microsoft.com/office/drawing/2014/main" id="{E444DB84-5297-44C1-BD30-5B0CD3A55421}"/>
              </a:ext>
            </a:extLst>
          </p:cNvPr>
          <p:cNvSpPr txBox="1"/>
          <p:nvPr/>
        </p:nvSpPr>
        <p:spPr>
          <a:xfrm>
            <a:off x="1506640" y="4264863"/>
            <a:ext cx="7637359" cy="369332"/>
          </a:xfrm>
          <a:prstGeom prst="rect">
            <a:avLst/>
          </a:prstGeom>
          <a:solidFill>
            <a:schemeClr val="bg1"/>
          </a:solidFill>
        </p:spPr>
        <p:txBody>
          <a:bodyPr wrap="square">
            <a:spAutoFit/>
          </a:bodyPr>
          <a:lstStyle/>
          <a:p>
            <a:pPr algn="dist"/>
            <a:r>
              <a:rPr lang="zh-CN" altLang="en-US" b="1" kern="0" dirty="0">
                <a:solidFill>
                  <a:srgbClr val="0070C0"/>
                </a:solidFill>
                <a:latin typeface="微软雅黑" panose="020B0503020204020204" pitchFamily="34" charset="-122"/>
                <a:ea typeface="微软雅黑" panose="020B0503020204020204" pitchFamily="34" charset="-122"/>
              </a:rPr>
              <a:t>不同于</a:t>
            </a:r>
            <a:r>
              <a:rPr lang="en-US" altLang="zh-CN" b="1" kern="0" dirty="0">
                <a:solidFill>
                  <a:srgbClr val="0070C0"/>
                </a:solidFill>
                <a:latin typeface="微软雅黑" panose="020B0503020204020204" pitchFamily="34" charset="-122"/>
                <a:ea typeface="微软雅黑" panose="020B0503020204020204" pitchFamily="34" charset="-122"/>
              </a:rPr>
              <a:t>Julia</a:t>
            </a:r>
            <a:r>
              <a:rPr lang="zh-CN" altLang="en-US" b="1" kern="0" dirty="0">
                <a:solidFill>
                  <a:srgbClr val="0070C0"/>
                </a:solidFill>
                <a:latin typeface="微软雅黑" panose="020B0503020204020204" pitchFamily="34" charset="-122"/>
                <a:ea typeface="微软雅黑" panose="020B0503020204020204" pitchFamily="34" charset="-122"/>
              </a:rPr>
              <a:t>语言索引用方括号</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a:t>
            </a:r>
            <a:r>
              <a:rPr lang="en-US" altLang="zh-CN" b="1" kern="0" dirty="0">
                <a:solidFill>
                  <a:srgbClr val="0070C0"/>
                </a:solidFill>
                <a:latin typeface="微软雅黑" panose="020B0503020204020204" pitchFamily="34" charset="-122"/>
                <a:ea typeface="微软雅黑" panose="020B0503020204020204" pitchFamily="34" charset="-122"/>
              </a:rPr>
              <a:t>MATLAB</a:t>
            </a:r>
            <a:r>
              <a:rPr lang="zh-CN" altLang="en-US" b="1" kern="0" dirty="0">
                <a:solidFill>
                  <a:srgbClr val="0070C0"/>
                </a:solidFill>
                <a:latin typeface="微软雅黑" panose="020B0503020204020204" pitchFamily="34" charset="-122"/>
                <a:ea typeface="微软雅黑" panose="020B0503020204020204" pitchFamily="34" charset="-122"/>
              </a:rPr>
              <a:t>索引用圆括号</a:t>
            </a:r>
            <a:r>
              <a:rPr lang="en-US" altLang="zh-CN" b="1" kern="0" dirty="0">
                <a:solidFill>
                  <a:srgbClr val="0070C0"/>
                </a:solidFill>
                <a:latin typeface="微软雅黑" panose="020B0503020204020204" pitchFamily="34" charset="-122"/>
                <a:ea typeface="微软雅黑" panose="020B0503020204020204" pitchFamily="34" charset="-122"/>
              </a:rPr>
              <a:t>()</a:t>
            </a:r>
            <a:endParaRPr lang="zh-CN" altLang="en-US" b="1" dirty="0">
              <a:solidFill>
                <a:srgbClr val="0070C0"/>
              </a:solidFill>
            </a:endParaRPr>
          </a:p>
        </p:txBody>
      </p:sp>
      <p:sp>
        <p:nvSpPr>
          <p:cNvPr id="43" name="文本框 42">
            <a:extLst>
              <a:ext uri="{FF2B5EF4-FFF2-40B4-BE49-F238E27FC236}">
                <a16:creationId xmlns:a16="http://schemas.microsoft.com/office/drawing/2014/main" id="{4F89555C-D2CD-495B-87B2-5CC605BDA2F0}"/>
              </a:ext>
            </a:extLst>
          </p:cNvPr>
          <p:cNvSpPr txBox="1"/>
          <p:nvPr/>
        </p:nvSpPr>
        <p:spPr>
          <a:xfrm>
            <a:off x="6953895" y="1127367"/>
            <a:ext cx="2046090" cy="584775"/>
          </a:xfrm>
          <a:prstGeom prst="rect">
            <a:avLst/>
          </a:prstGeom>
          <a:noFill/>
        </p:spPr>
        <p:txBody>
          <a:bodyPr wrap="square">
            <a:spAutoFit/>
          </a:bodyPr>
          <a:lstStyle/>
          <a:p>
            <a:r>
              <a:rPr lang="zh-CN" altLang="en-US" sz="1600" b="1" dirty="0">
                <a:solidFill>
                  <a:srgbClr val="00B0F0"/>
                </a:solidFill>
              </a:rPr>
              <a:t>A=[1 2 1;3 4 3;5 6 5]</a:t>
            </a:r>
          </a:p>
          <a:p>
            <a:endParaRPr lang="zh-CN" altLang="en-US" sz="1600" b="1" dirty="0">
              <a:solidFill>
                <a:srgbClr val="00B0F0"/>
              </a:solidFill>
            </a:endParaRPr>
          </a:p>
        </p:txBody>
      </p:sp>
      <p:sp>
        <p:nvSpPr>
          <p:cNvPr id="44" name="文本框 43">
            <a:extLst>
              <a:ext uri="{FF2B5EF4-FFF2-40B4-BE49-F238E27FC236}">
                <a16:creationId xmlns:a16="http://schemas.microsoft.com/office/drawing/2014/main" id="{9C9F84A6-A240-4EE2-9240-FB0DC9D2EDB5}"/>
              </a:ext>
            </a:extLst>
          </p:cNvPr>
          <p:cNvSpPr txBox="1"/>
          <p:nvPr/>
        </p:nvSpPr>
        <p:spPr>
          <a:xfrm>
            <a:off x="8430228" y="1546058"/>
            <a:ext cx="813209" cy="338554"/>
          </a:xfrm>
          <a:prstGeom prst="rect">
            <a:avLst/>
          </a:prstGeom>
          <a:noFill/>
        </p:spPr>
        <p:txBody>
          <a:bodyPr wrap="square">
            <a:spAutoFit/>
          </a:bodyPr>
          <a:lstStyle>
            <a:defPPr>
              <a:defRPr lang="zh-CN"/>
            </a:defPPr>
            <a:lvl1pPr>
              <a:defRPr sz="1600" b="1">
                <a:solidFill>
                  <a:srgbClr val="00B0F0"/>
                </a:solidFill>
              </a:defRPr>
            </a:lvl1pPr>
          </a:lstStyle>
          <a:p>
            <a:r>
              <a:rPr lang="zh-CN" altLang="en-US" dirty="0"/>
              <a:t>结果</a:t>
            </a:r>
            <a:r>
              <a:rPr lang="en-US" altLang="zh-CN" dirty="0"/>
              <a:t>3</a:t>
            </a:r>
            <a:endParaRPr lang="zh-CN" altLang="en-US" dirty="0"/>
          </a:p>
        </p:txBody>
      </p:sp>
      <p:sp>
        <p:nvSpPr>
          <p:cNvPr id="45" name="文本框 44">
            <a:extLst>
              <a:ext uri="{FF2B5EF4-FFF2-40B4-BE49-F238E27FC236}">
                <a16:creationId xmlns:a16="http://schemas.microsoft.com/office/drawing/2014/main" id="{528F27F4-55EC-461F-BDB5-24248C095132}"/>
              </a:ext>
            </a:extLst>
          </p:cNvPr>
          <p:cNvSpPr txBox="1"/>
          <p:nvPr/>
        </p:nvSpPr>
        <p:spPr>
          <a:xfrm>
            <a:off x="7208049" y="2860346"/>
            <a:ext cx="1010863" cy="338554"/>
          </a:xfrm>
          <a:prstGeom prst="rect">
            <a:avLst/>
          </a:prstGeom>
          <a:noFill/>
        </p:spPr>
        <p:txBody>
          <a:bodyPr wrap="square">
            <a:spAutoFit/>
          </a:bodyPr>
          <a:lstStyle>
            <a:defPPr>
              <a:defRPr lang="zh-CN"/>
            </a:defPPr>
            <a:lvl1pPr>
              <a:defRPr sz="1600" b="1">
                <a:solidFill>
                  <a:srgbClr val="00B0F0"/>
                </a:solidFill>
              </a:defRPr>
            </a:lvl1pPr>
          </a:lstStyle>
          <a:p>
            <a:r>
              <a:rPr lang="en-US" altLang="zh-CN" dirty="0"/>
              <a:t>a=A[end]</a:t>
            </a:r>
            <a:endParaRPr lang="zh-CN" altLang="en-US" dirty="0"/>
          </a:p>
        </p:txBody>
      </p:sp>
      <p:sp>
        <p:nvSpPr>
          <p:cNvPr id="46" name="文本框 45">
            <a:extLst>
              <a:ext uri="{FF2B5EF4-FFF2-40B4-BE49-F238E27FC236}">
                <a16:creationId xmlns:a16="http://schemas.microsoft.com/office/drawing/2014/main" id="{2731339F-D922-4FCA-ABFB-EC4CE95F0F2A}"/>
              </a:ext>
            </a:extLst>
          </p:cNvPr>
          <p:cNvSpPr txBox="1"/>
          <p:nvPr/>
        </p:nvSpPr>
        <p:spPr>
          <a:xfrm>
            <a:off x="8204274" y="2866456"/>
            <a:ext cx="760492" cy="338554"/>
          </a:xfrm>
          <a:prstGeom prst="rect">
            <a:avLst/>
          </a:prstGeom>
          <a:noFill/>
        </p:spPr>
        <p:txBody>
          <a:bodyPr wrap="square">
            <a:spAutoFit/>
          </a:bodyPr>
          <a:lstStyle>
            <a:defPPr>
              <a:defRPr lang="zh-CN"/>
            </a:defPPr>
            <a:lvl1pPr>
              <a:defRPr sz="1600" b="1">
                <a:solidFill>
                  <a:srgbClr val="00B0F0"/>
                </a:solidFill>
              </a:defRPr>
            </a:lvl1pPr>
          </a:lstStyle>
          <a:p>
            <a:r>
              <a:rPr lang="zh-CN" altLang="en-US" dirty="0"/>
              <a:t>结果</a:t>
            </a:r>
            <a:r>
              <a:rPr lang="en-US" altLang="zh-CN" dirty="0"/>
              <a:t>5</a:t>
            </a:r>
            <a:endParaRPr lang="zh-CN" altLang="en-US" dirty="0"/>
          </a:p>
        </p:txBody>
      </p:sp>
      <p:sp>
        <p:nvSpPr>
          <p:cNvPr id="47" name="文本框 46">
            <a:extLst>
              <a:ext uri="{FF2B5EF4-FFF2-40B4-BE49-F238E27FC236}">
                <a16:creationId xmlns:a16="http://schemas.microsoft.com/office/drawing/2014/main" id="{65BE1AF0-192C-4CBA-8C52-14D6A13A8F00}"/>
              </a:ext>
            </a:extLst>
          </p:cNvPr>
          <p:cNvSpPr txBox="1"/>
          <p:nvPr/>
        </p:nvSpPr>
        <p:spPr>
          <a:xfrm>
            <a:off x="3548040" y="1152676"/>
            <a:ext cx="2860948" cy="369332"/>
          </a:xfrm>
          <a:prstGeom prst="rect">
            <a:avLst/>
          </a:prstGeom>
          <a:noFill/>
        </p:spPr>
        <p:txBody>
          <a:bodyPr wrap="square">
            <a:spAutoFit/>
          </a:bodyPr>
          <a:lstStyle/>
          <a:p>
            <a:pPr marL="457200" indent="-457200">
              <a:buFont typeface="+mj-ea"/>
              <a:buAutoNum type="circleNumDbPlain"/>
            </a:pPr>
            <a:r>
              <a:rPr lang="zh-CN" altLang="en-US" b="1" dirty="0">
                <a:solidFill>
                  <a:srgbClr val="00B0F0"/>
                </a:solidFill>
                <a:latin typeface="微软雅黑" panose="020B0503020204020204" pitchFamily="34" charset="-122"/>
                <a:ea typeface="微软雅黑" panose="020B0503020204020204" pitchFamily="34" charset="-122"/>
              </a:rPr>
              <a:t>位置索引</a:t>
            </a:r>
            <a:r>
              <a:rPr lang="en-US" altLang="zh-CN" b="1" dirty="0">
                <a:solidFill>
                  <a:srgbClr val="00B0F0"/>
                </a:solidFill>
                <a:latin typeface="微软雅黑" panose="020B0503020204020204" pitchFamily="34" charset="-122"/>
                <a:ea typeface="微软雅黑" panose="020B0503020204020204" pitchFamily="34" charset="-122"/>
              </a:rPr>
              <a:t>(</a:t>
            </a:r>
            <a:r>
              <a:rPr lang="zh-CN" altLang="en-US" b="1" dirty="0">
                <a:solidFill>
                  <a:srgbClr val="00B0F0"/>
                </a:solidFill>
                <a:latin typeface="微软雅黑" panose="020B0503020204020204" pitchFamily="34" charset="-122"/>
                <a:ea typeface="微软雅黑" panose="020B0503020204020204" pitchFamily="34" charset="-122"/>
              </a:rPr>
              <a:t>双下标索引</a:t>
            </a:r>
            <a:r>
              <a:rPr lang="en-US" altLang="zh-CN" b="1" dirty="0">
                <a:solidFill>
                  <a:srgbClr val="00B0F0"/>
                </a:solidFill>
                <a:latin typeface="微软雅黑" panose="020B0503020204020204" pitchFamily="34" charset="-122"/>
                <a:ea typeface="微软雅黑" panose="020B0503020204020204" pitchFamily="34" charset="-122"/>
              </a:rPr>
              <a:t>)</a:t>
            </a:r>
          </a:p>
        </p:txBody>
      </p:sp>
      <p:sp>
        <p:nvSpPr>
          <p:cNvPr id="48" name="文本框 47">
            <a:extLst>
              <a:ext uri="{FF2B5EF4-FFF2-40B4-BE49-F238E27FC236}">
                <a16:creationId xmlns:a16="http://schemas.microsoft.com/office/drawing/2014/main" id="{E6FB0646-53AF-4C9F-A7BE-C0D4272C9337}"/>
              </a:ext>
            </a:extLst>
          </p:cNvPr>
          <p:cNvSpPr txBox="1"/>
          <p:nvPr/>
        </p:nvSpPr>
        <p:spPr>
          <a:xfrm>
            <a:off x="3532344" y="2036421"/>
            <a:ext cx="2860948" cy="369332"/>
          </a:xfrm>
          <a:prstGeom prst="rect">
            <a:avLst/>
          </a:prstGeom>
          <a:noFill/>
        </p:spPr>
        <p:txBody>
          <a:bodyPr wrap="square">
            <a:spAutoFit/>
          </a:bodyPr>
          <a:lstStyle/>
          <a:p>
            <a:pPr marL="457200" indent="-457200">
              <a:buFont typeface="+mj-ea"/>
              <a:buAutoNum type="circleNumDbPlain" startAt="2"/>
            </a:pPr>
            <a:r>
              <a:rPr lang="zh-CN" altLang="en-US" b="1" dirty="0">
                <a:solidFill>
                  <a:srgbClr val="00B0F0"/>
                </a:solidFill>
                <a:latin typeface="微软雅黑" panose="020B0503020204020204" pitchFamily="34" charset="-122"/>
                <a:ea typeface="微软雅黑" panose="020B0503020204020204" pitchFamily="34" charset="-122"/>
              </a:rPr>
              <a:t>线性索引</a:t>
            </a:r>
            <a:r>
              <a:rPr lang="en-US" altLang="zh-CN" b="1" dirty="0">
                <a:solidFill>
                  <a:srgbClr val="00B0F0"/>
                </a:solidFill>
                <a:latin typeface="微软雅黑" panose="020B0503020204020204" pitchFamily="34" charset="-122"/>
                <a:ea typeface="微软雅黑" panose="020B0503020204020204" pitchFamily="34" charset="-122"/>
              </a:rPr>
              <a:t>(</a:t>
            </a:r>
            <a:r>
              <a:rPr lang="zh-CN" altLang="en-US" b="1" dirty="0">
                <a:solidFill>
                  <a:srgbClr val="00B0F0"/>
                </a:solidFill>
                <a:latin typeface="微软雅黑" panose="020B0503020204020204" pitchFamily="34" charset="-122"/>
                <a:ea typeface="微软雅黑" panose="020B0503020204020204" pitchFamily="34" charset="-122"/>
              </a:rPr>
              <a:t>单下标索引</a:t>
            </a:r>
            <a:r>
              <a:rPr lang="en-US" altLang="zh-CN" b="1" dirty="0">
                <a:solidFill>
                  <a:srgbClr val="00B0F0"/>
                </a:solidFill>
                <a:latin typeface="微软雅黑" panose="020B0503020204020204" pitchFamily="34" charset="-122"/>
                <a:ea typeface="微软雅黑" panose="020B0503020204020204" pitchFamily="34" charset="-122"/>
              </a:rPr>
              <a:t>)</a:t>
            </a:r>
          </a:p>
        </p:txBody>
      </p:sp>
      <p:sp>
        <p:nvSpPr>
          <p:cNvPr id="49" name="文本框 48">
            <a:extLst>
              <a:ext uri="{FF2B5EF4-FFF2-40B4-BE49-F238E27FC236}">
                <a16:creationId xmlns:a16="http://schemas.microsoft.com/office/drawing/2014/main" id="{CE95A5CC-132E-4512-9069-4F54A7B7B2AD}"/>
              </a:ext>
            </a:extLst>
          </p:cNvPr>
          <p:cNvSpPr txBox="1"/>
          <p:nvPr/>
        </p:nvSpPr>
        <p:spPr>
          <a:xfrm>
            <a:off x="79084" y="3339516"/>
            <a:ext cx="1669008" cy="400110"/>
          </a:xfrm>
          <a:prstGeom prst="rect">
            <a:avLst/>
          </a:prstGeom>
          <a:noFill/>
        </p:spPr>
        <p:txBody>
          <a:bodyPr wrap="square">
            <a:spAutoFit/>
          </a:bodyPr>
          <a:lstStyle/>
          <a:p>
            <a:pPr marL="457200" indent="-457200">
              <a:buFont typeface="+mj-ea"/>
              <a:buAutoNum type="circleNumDbPlain" startAt="3"/>
            </a:pPr>
            <a:r>
              <a:rPr lang="zh-CN" altLang="en-US" sz="2000" b="1" dirty="0">
                <a:solidFill>
                  <a:srgbClr val="00B0F0"/>
                </a:solidFill>
                <a:latin typeface="微软雅黑" panose="020B0503020204020204" pitchFamily="34" charset="-122"/>
                <a:ea typeface="微软雅黑" panose="020B0503020204020204" pitchFamily="34" charset="-122"/>
              </a:rPr>
              <a:t>逻辑索引</a:t>
            </a:r>
            <a:endParaRPr lang="en-US" altLang="zh-CN" sz="2000" b="1" dirty="0">
              <a:solidFill>
                <a:srgbClr val="00B0F0"/>
              </a:solidFill>
              <a:latin typeface="微软雅黑" panose="020B0503020204020204" pitchFamily="34" charset="-122"/>
              <a:ea typeface="微软雅黑" panose="020B0503020204020204" pitchFamily="34" charset="-122"/>
            </a:endParaRPr>
          </a:p>
        </p:txBody>
      </p:sp>
      <p:sp>
        <p:nvSpPr>
          <p:cNvPr id="42" name="AutoShape 13">
            <a:extLst>
              <a:ext uri="{FF2B5EF4-FFF2-40B4-BE49-F238E27FC236}">
                <a16:creationId xmlns:a16="http://schemas.microsoft.com/office/drawing/2014/main" id="{E001A518-8722-4E1A-8A04-165607BB2D4A}"/>
              </a:ext>
            </a:extLst>
          </p:cNvPr>
          <p:cNvSpPr>
            <a:spLocks noChangeArrowheads="1"/>
          </p:cNvSpPr>
          <p:nvPr/>
        </p:nvSpPr>
        <p:spPr bwMode="auto">
          <a:xfrm>
            <a:off x="7321706" y="132334"/>
            <a:ext cx="1765135" cy="491007"/>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200" b="1" kern="0" dirty="0">
                <a:solidFill>
                  <a:srgbClr val="FFFF00"/>
                </a:solidFill>
                <a:latin typeface="微软雅黑" panose="020B0503020204020204" pitchFamily="34" charset="-122"/>
                <a:ea typeface="微软雅黑" panose="020B0503020204020204" pitchFamily="34" charset="-122"/>
              </a:rPr>
              <a:t>有序才索引</a:t>
            </a:r>
          </a:p>
        </p:txBody>
      </p:sp>
    </p:spTree>
    <p:extLst>
      <p:ext uri="{BB962C8B-B14F-4D97-AF65-F5344CB8AC3E}">
        <p14:creationId xmlns:p14="http://schemas.microsoft.com/office/powerpoint/2010/main" val="394086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4">
                                            <p:txEl>
                                              <p:pRg st="0" end="0"/>
                                            </p:txEl>
                                          </p:spTgt>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animBg="1"/>
      <p:bldP spid="11" grpId="0" animBg="1"/>
      <p:bldP spid="15" grpId="0" animBg="1"/>
      <p:bldP spid="17" grpId="0" animBg="1"/>
      <p:bldP spid="24" grpId="0" animBg="1"/>
      <p:bldP spid="25" grpId="0"/>
      <p:bldP spid="26" grpId="0"/>
      <p:bldP spid="33" grpId="0" animBg="1"/>
      <p:bldP spid="35" grpId="0"/>
      <p:bldP spid="3" grpId="0" animBg="1"/>
      <p:bldP spid="31" grpId="0"/>
      <p:bldP spid="36" grpId="0"/>
      <p:bldP spid="37" grpId="0" animBg="1"/>
      <p:bldP spid="41" grpId="0"/>
      <p:bldP spid="40" grpId="0" animBg="1"/>
      <p:bldP spid="44" grpId="0"/>
      <p:bldP spid="45" grpId="0"/>
      <p:bldP spid="46" grpId="0"/>
      <p:bldP spid="47" grpId="0"/>
      <p:bldP spid="48" grpId="0"/>
      <p:bldP spid="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C59CCDE-BD97-4154-B3CD-A3D288B11ABB}"/>
              </a:ext>
            </a:extLst>
          </p:cNvPr>
          <p:cNvSpPr/>
          <p:nvPr/>
        </p:nvSpPr>
        <p:spPr>
          <a:xfrm>
            <a:off x="4664655" y="1166457"/>
            <a:ext cx="1059473" cy="369332"/>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err="1">
                <a:solidFill>
                  <a:schemeClr val="bg1"/>
                </a:solidFill>
                <a:latin typeface="微软雅黑" panose="020B0503020204020204" pitchFamily="34" charset="-122"/>
                <a:ea typeface="微软雅黑" panose="020B0503020204020204" pitchFamily="34" charset="-122"/>
              </a:rPr>
              <a:t>aij</a:t>
            </a:r>
            <a:r>
              <a:rPr lang="en-US" altLang="zh-CN" kern="0" dirty="0">
                <a:solidFill>
                  <a:schemeClr val="bg1"/>
                </a:solidFill>
                <a:latin typeface="微软雅黑" panose="020B0503020204020204" pitchFamily="34" charset="-122"/>
                <a:ea typeface="微软雅黑" panose="020B0503020204020204" pitchFamily="34" charset="-122"/>
              </a:rPr>
              <a:t>=A[</a:t>
            </a:r>
            <a:r>
              <a:rPr lang="en-US" altLang="zh-CN" kern="0" dirty="0" err="1">
                <a:solidFill>
                  <a:schemeClr val="bg1"/>
                </a:solidFill>
                <a:latin typeface="微软雅黑" panose="020B0503020204020204" pitchFamily="34" charset="-122"/>
                <a:ea typeface="微软雅黑" panose="020B0503020204020204" pitchFamily="34" charset="-122"/>
              </a:rPr>
              <a:t>i</a:t>
            </a:r>
            <a:r>
              <a:rPr lang="en-US" altLang="zh-CN" kern="0" dirty="0">
                <a:solidFill>
                  <a:schemeClr val="bg1"/>
                </a:solidFill>
                <a:latin typeface="微软雅黑" panose="020B0503020204020204" pitchFamily="34" charset="-122"/>
                <a:ea typeface="微软雅黑" panose="020B0503020204020204" pitchFamily="34" charset="-122"/>
              </a:rPr>
              <a:t>,</a:t>
            </a:r>
            <a:r>
              <a:rPr lang="en-US" altLang="zh-CN" kern="0" dirty="0">
                <a:solidFill>
                  <a:schemeClr val="bg1"/>
                </a:solidFill>
                <a:highlight>
                  <a:srgbClr val="FF0000"/>
                </a:highlight>
                <a:latin typeface="微软雅黑" panose="020B0503020204020204" pitchFamily="34" charset="-122"/>
                <a:ea typeface="微软雅黑" panose="020B0503020204020204" pitchFamily="34" charset="-122"/>
              </a:rPr>
              <a:t>:</a:t>
            </a:r>
            <a:r>
              <a:rPr lang="en-US" altLang="zh-CN" kern="0" dirty="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578A57CA-2012-4E62-B099-5DF21F929B1E}"/>
              </a:ext>
            </a:extLst>
          </p:cNvPr>
          <p:cNvSpPr txBox="1"/>
          <p:nvPr/>
        </p:nvSpPr>
        <p:spPr>
          <a:xfrm>
            <a:off x="493048" y="1173981"/>
            <a:ext cx="4583007" cy="369332"/>
          </a:xfrm>
          <a:prstGeom prst="rect">
            <a:avLst/>
          </a:prstGeom>
          <a:noFill/>
        </p:spPr>
        <p:txBody>
          <a:bodyPr wrap="square">
            <a:spAutoFit/>
          </a:bodyPr>
          <a:lstStyle/>
          <a:p>
            <a:pPr marL="457200" indent="-457200">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rPr>
              <a:t>访问矩阵</a:t>
            </a:r>
            <a:r>
              <a:rPr lang="en-US" altLang="zh-CN" b="1" dirty="0">
                <a:solidFill>
                  <a:srgbClr val="0070C0"/>
                </a:solidFill>
                <a:latin typeface="微软雅黑" panose="020B0503020204020204" pitchFamily="34" charset="-122"/>
                <a:ea typeface="微软雅黑" panose="020B0503020204020204" pitchFamily="34" charset="-122"/>
              </a:rPr>
              <a:t>A</a:t>
            </a:r>
            <a:r>
              <a:rPr lang="zh-CN" altLang="en-US" b="1" dirty="0">
                <a:solidFill>
                  <a:srgbClr val="0070C0"/>
                </a:solidFill>
                <a:latin typeface="微软雅黑" panose="020B0503020204020204" pitchFamily="34" charset="-122"/>
                <a:ea typeface="微软雅黑" panose="020B0503020204020204" pitchFamily="34" charset="-122"/>
              </a:rPr>
              <a:t>第</a:t>
            </a:r>
            <a:r>
              <a:rPr lang="en-US" altLang="zh-CN" b="1" dirty="0" err="1">
                <a:solidFill>
                  <a:srgbClr val="0070C0"/>
                </a:solidFill>
                <a:latin typeface="微软雅黑" panose="020B0503020204020204" pitchFamily="34" charset="-122"/>
                <a:ea typeface="微软雅黑" panose="020B0503020204020204" pitchFamily="34" charset="-122"/>
              </a:rPr>
              <a:t>i</a:t>
            </a:r>
            <a:r>
              <a:rPr lang="zh-CN" altLang="en-US" b="1" dirty="0">
                <a:solidFill>
                  <a:srgbClr val="0070C0"/>
                </a:solidFill>
                <a:latin typeface="微软雅黑" panose="020B0503020204020204" pitchFamily="34" charset="-122"/>
                <a:ea typeface="微软雅黑" panose="020B0503020204020204" pitchFamily="34" charset="-122"/>
              </a:rPr>
              <a:t>行所有列元素</a:t>
            </a:r>
            <a:r>
              <a:rPr lang="zh-CN" altLang="en-US" b="1" dirty="0">
                <a:solidFill>
                  <a:srgbClr val="00B0F0"/>
                </a:solidFill>
                <a:latin typeface="微软雅黑" panose="020B0503020204020204" pitchFamily="34" charset="-122"/>
                <a:ea typeface="微软雅黑" panose="020B0503020204020204" pitchFamily="34" charset="-122"/>
              </a:rPr>
              <a:t>“：” </a:t>
            </a:r>
            <a:endParaRPr lang="en-US" altLang="zh-CN" b="1" dirty="0">
              <a:solidFill>
                <a:srgbClr val="00B0F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3DD698A2-647D-458A-86D8-23458D9CC654}"/>
              </a:ext>
            </a:extLst>
          </p:cNvPr>
          <p:cNvSpPr txBox="1"/>
          <p:nvPr/>
        </p:nvSpPr>
        <p:spPr>
          <a:xfrm>
            <a:off x="506030" y="2103690"/>
            <a:ext cx="4688969" cy="369332"/>
          </a:xfrm>
          <a:prstGeom prst="rect">
            <a:avLst/>
          </a:prstGeom>
          <a:noFill/>
        </p:spPr>
        <p:txBody>
          <a:bodyPr wrap="square">
            <a:spAutoFit/>
          </a:bodyPr>
          <a:lstStyle/>
          <a:p>
            <a:pPr marL="457200" indent="-457200">
              <a:buFont typeface="+mj-ea"/>
              <a:buAutoNum type="circleNumDbPlain" startAt="2"/>
            </a:pPr>
            <a:r>
              <a:rPr lang="zh-CN" altLang="en-US" b="1" dirty="0">
                <a:solidFill>
                  <a:srgbClr val="0070C0"/>
                </a:solidFill>
                <a:latin typeface="微软雅黑" panose="020B0503020204020204" pitchFamily="34" charset="-122"/>
                <a:ea typeface="微软雅黑" panose="020B0503020204020204" pitchFamily="34" charset="-122"/>
              </a:rPr>
              <a:t>访问矩阵</a:t>
            </a:r>
            <a:r>
              <a:rPr lang="en-US" altLang="zh-CN" b="1" dirty="0">
                <a:solidFill>
                  <a:srgbClr val="0070C0"/>
                </a:solidFill>
                <a:latin typeface="微软雅黑" panose="020B0503020204020204" pitchFamily="34" charset="-122"/>
                <a:ea typeface="微软雅黑" panose="020B0503020204020204" pitchFamily="34" charset="-122"/>
              </a:rPr>
              <a:t>A</a:t>
            </a:r>
            <a:r>
              <a:rPr lang="zh-CN" altLang="en-US" b="1" dirty="0">
                <a:solidFill>
                  <a:srgbClr val="0070C0"/>
                </a:solidFill>
                <a:latin typeface="微软雅黑" panose="020B0503020204020204" pitchFamily="34" charset="-122"/>
                <a:ea typeface="微软雅黑" panose="020B0503020204020204" pitchFamily="34" charset="-122"/>
              </a:rPr>
              <a:t>第</a:t>
            </a:r>
            <a:r>
              <a:rPr lang="en-US" altLang="zh-CN" b="1" dirty="0">
                <a:solidFill>
                  <a:srgbClr val="0070C0"/>
                </a:solidFill>
                <a:latin typeface="微软雅黑" panose="020B0503020204020204" pitchFamily="34" charset="-122"/>
                <a:ea typeface="微软雅黑" panose="020B0503020204020204" pitchFamily="34" charset="-122"/>
              </a:rPr>
              <a:t>j</a:t>
            </a:r>
            <a:r>
              <a:rPr lang="zh-CN" altLang="en-US" b="1" dirty="0">
                <a:solidFill>
                  <a:srgbClr val="0070C0"/>
                </a:solidFill>
                <a:latin typeface="微软雅黑" panose="020B0503020204020204" pitchFamily="34" charset="-122"/>
                <a:ea typeface="微软雅黑" panose="020B0503020204020204" pitchFamily="34" charset="-122"/>
              </a:rPr>
              <a:t>列所有行元素</a:t>
            </a:r>
            <a:r>
              <a:rPr lang="zh-CN" altLang="en-US" b="1" dirty="0">
                <a:solidFill>
                  <a:srgbClr val="00B0F0"/>
                </a:solidFill>
                <a:latin typeface="微软雅黑" panose="020B0503020204020204" pitchFamily="34" charset="-122"/>
                <a:ea typeface="微软雅黑" panose="020B0503020204020204" pitchFamily="34" charset="-122"/>
              </a:rPr>
              <a:t>“：” </a:t>
            </a:r>
            <a:endParaRPr lang="en-US" altLang="zh-CN" b="1" dirty="0">
              <a:solidFill>
                <a:srgbClr val="00B0F0"/>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25635A8D-14EE-4612-9720-D507143D10AF}"/>
              </a:ext>
            </a:extLst>
          </p:cNvPr>
          <p:cNvSpPr/>
          <p:nvPr/>
        </p:nvSpPr>
        <p:spPr>
          <a:xfrm>
            <a:off x="4664656" y="2024954"/>
            <a:ext cx="1059472" cy="369332"/>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err="1">
                <a:solidFill>
                  <a:schemeClr val="bg1"/>
                </a:solidFill>
                <a:latin typeface="微软雅黑" panose="020B0503020204020204" pitchFamily="34" charset="-122"/>
                <a:ea typeface="微软雅黑" panose="020B0503020204020204" pitchFamily="34" charset="-122"/>
              </a:rPr>
              <a:t>aij</a:t>
            </a:r>
            <a:r>
              <a:rPr lang="en-US" altLang="zh-CN" kern="0" dirty="0">
                <a:solidFill>
                  <a:schemeClr val="bg1"/>
                </a:solidFill>
                <a:latin typeface="微软雅黑" panose="020B0503020204020204" pitchFamily="34" charset="-122"/>
                <a:ea typeface="微软雅黑" panose="020B0503020204020204" pitchFamily="34" charset="-122"/>
              </a:rPr>
              <a:t>=A[</a:t>
            </a:r>
            <a:r>
              <a:rPr lang="en-US" altLang="zh-CN" kern="0" dirty="0">
                <a:solidFill>
                  <a:schemeClr val="bg1"/>
                </a:solidFill>
                <a:highlight>
                  <a:srgbClr val="FF0000"/>
                </a:highlight>
                <a:latin typeface="微软雅黑" panose="020B0503020204020204" pitchFamily="34" charset="-122"/>
                <a:ea typeface="微软雅黑" panose="020B0503020204020204" pitchFamily="34" charset="-122"/>
              </a:rPr>
              <a:t>:</a:t>
            </a:r>
            <a:r>
              <a:rPr lang="en-US" altLang="zh-CN" kern="0" dirty="0">
                <a:solidFill>
                  <a:schemeClr val="bg1"/>
                </a:solidFill>
                <a:latin typeface="微软雅黑" panose="020B0503020204020204" pitchFamily="34" charset="-122"/>
                <a:ea typeface="微软雅黑" panose="020B0503020204020204" pitchFamily="34" charset="-122"/>
              </a:rPr>
              <a:t>,j]</a:t>
            </a:r>
            <a:endParaRPr lang="zh-CN" altLang="en-US" kern="0" dirty="0">
              <a:solidFill>
                <a:schemeClr val="bg1"/>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887F15B9-334E-4025-9E5F-2009D2F6E3F8}"/>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50000"/>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l="6296" t="23496" r="7475" b="5360"/>
          <a:stretch>
            <a:fillRect/>
          </a:stretch>
        </p:blipFill>
        <p:spPr>
          <a:xfrm>
            <a:off x="6710678" y="1463787"/>
            <a:ext cx="2119264" cy="1101309"/>
          </a:xfrm>
          <a:prstGeom prst="rect">
            <a:avLst/>
          </a:prstGeom>
        </p:spPr>
      </p:pic>
      <p:cxnSp>
        <p:nvCxnSpPr>
          <p:cNvPr id="9" name="直接箭头连接符 8">
            <a:extLst>
              <a:ext uri="{FF2B5EF4-FFF2-40B4-BE49-F238E27FC236}">
                <a16:creationId xmlns:a16="http://schemas.microsoft.com/office/drawing/2014/main" id="{2871C769-6129-4551-80DE-AB663325D6E0}"/>
              </a:ext>
            </a:extLst>
          </p:cNvPr>
          <p:cNvCxnSpPr>
            <a:cxnSpLocks/>
          </p:cNvCxnSpPr>
          <p:nvPr/>
        </p:nvCxnSpPr>
        <p:spPr bwMode="auto">
          <a:xfrm>
            <a:off x="7236296" y="2216339"/>
            <a:ext cx="1446819" cy="0"/>
          </a:xfrm>
          <a:prstGeom prst="straightConnector1">
            <a:avLst/>
          </a:prstGeom>
          <a:ln>
            <a:solidFill>
              <a:srgbClr val="FF0000"/>
            </a:solidFill>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11" name="文本框 10">
            <a:extLst>
              <a:ext uri="{FF2B5EF4-FFF2-40B4-BE49-F238E27FC236}">
                <a16:creationId xmlns:a16="http://schemas.microsoft.com/office/drawing/2014/main" id="{62AF4FC8-484C-4A2A-ADFF-C121AF0A2179}"/>
              </a:ext>
            </a:extLst>
          </p:cNvPr>
          <p:cNvSpPr txBox="1"/>
          <p:nvPr/>
        </p:nvSpPr>
        <p:spPr>
          <a:xfrm>
            <a:off x="741327" y="2553722"/>
            <a:ext cx="1598425" cy="430887"/>
          </a:xfrm>
          <a:prstGeom prst="rect">
            <a:avLst/>
          </a:prstGeom>
          <a:noFill/>
        </p:spPr>
        <p:txBody>
          <a:bodyPr wrap="square">
            <a:spAutoFit/>
          </a:bodyPr>
          <a:lstStyle/>
          <a:p>
            <a:r>
              <a:rPr lang="zh-CN" altLang="en-US" sz="2200" b="1" dirty="0">
                <a:solidFill>
                  <a:srgbClr val="00B0F0"/>
                </a:solidFill>
                <a:latin typeface="华文楷体" panose="02010600040101010101" pitchFamily="2" charset="-122"/>
                <a:ea typeface="华文楷体" panose="02010600040101010101" pitchFamily="2" charset="-122"/>
              </a:rPr>
              <a:t>如</a:t>
            </a:r>
            <a:r>
              <a:rPr lang="en-US" altLang="zh-CN" sz="2200" b="1" dirty="0">
                <a:solidFill>
                  <a:srgbClr val="00B0F0"/>
                </a:solidFill>
                <a:latin typeface="华文楷体" panose="02010600040101010101" pitchFamily="2" charset="-122"/>
                <a:ea typeface="华文楷体" panose="02010600040101010101" pitchFamily="2" charset="-122"/>
              </a:rPr>
              <a:t>a=A[:,3]</a:t>
            </a:r>
            <a:endParaRPr lang="zh-CN" altLang="en-US" sz="2200" b="1" dirty="0">
              <a:solidFill>
                <a:srgbClr val="00B0F0"/>
              </a:solidFill>
              <a:latin typeface="华文楷体" panose="02010600040101010101" pitchFamily="2" charset="-122"/>
              <a:ea typeface="华文楷体" panose="02010600040101010101" pitchFamily="2" charset="-122"/>
            </a:endParaRPr>
          </a:p>
        </p:txBody>
      </p:sp>
      <p:sp>
        <p:nvSpPr>
          <p:cNvPr id="13" name="文本框 12">
            <a:extLst>
              <a:ext uri="{FF2B5EF4-FFF2-40B4-BE49-F238E27FC236}">
                <a16:creationId xmlns:a16="http://schemas.microsoft.com/office/drawing/2014/main" id="{55F3DF2B-701B-46F1-8D8C-502171478513}"/>
              </a:ext>
            </a:extLst>
          </p:cNvPr>
          <p:cNvSpPr txBox="1"/>
          <p:nvPr/>
        </p:nvSpPr>
        <p:spPr>
          <a:xfrm>
            <a:off x="480608" y="4202407"/>
            <a:ext cx="7403759" cy="400110"/>
          </a:xfrm>
          <a:prstGeom prst="rect">
            <a:avLst/>
          </a:prstGeom>
          <a:noFill/>
        </p:spPr>
        <p:txBody>
          <a:bodyPr wrap="square">
            <a:spAutoFit/>
          </a:bodyPr>
          <a:lstStyle>
            <a:defPPr>
              <a:defRPr lang="zh-CN"/>
            </a:defPPr>
            <a:lvl1pPr marL="342900" indent="-342900">
              <a:buFont typeface="Wingdings" panose="05000000000000000000" pitchFamily="2" charset="2"/>
              <a:buChar char="Ø"/>
              <a:defRPr sz="2200">
                <a:solidFill>
                  <a:srgbClr val="002060"/>
                </a:solidFill>
                <a:latin typeface="华文楷体" panose="02010600040101010101" pitchFamily="2" charset="-122"/>
                <a:ea typeface="华文楷体" panose="02010600040101010101" pitchFamily="2" charset="-122"/>
              </a:defRPr>
            </a:lvl1pPr>
          </a:lstStyle>
          <a:p>
            <a:pPr marL="457200" indent="-457200">
              <a:buFont typeface="+mj-ea"/>
              <a:buAutoNum type="circleNumDbPlain" startAt="4"/>
            </a:pPr>
            <a:r>
              <a:rPr lang="zh-CN" altLang="en-US" sz="2000" b="1" dirty="0">
                <a:solidFill>
                  <a:srgbClr val="0070C0"/>
                </a:solidFill>
                <a:latin typeface="微软雅黑" panose="020B0503020204020204" pitchFamily="34" charset="-122"/>
                <a:ea typeface="微软雅黑" panose="020B0503020204020204" pitchFamily="34" charset="-122"/>
              </a:rPr>
              <a:t>用线性索引访问</a:t>
            </a:r>
            <a:r>
              <a:rPr lang="en-US" altLang="zh-CN" sz="2000" b="1" dirty="0">
                <a:solidFill>
                  <a:srgbClr val="0070C0"/>
                </a:solidFill>
                <a:latin typeface="微软雅黑" panose="020B0503020204020204" pitchFamily="34" charset="-122"/>
                <a:ea typeface="微软雅黑" panose="020B0503020204020204" pitchFamily="34" charset="-122"/>
              </a:rPr>
              <a:t>A</a:t>
            </a:r>
            <a:r>
              <a:rPr lang="zh-CN" altLang="en-US" sz="2000" b="1" dirty="0">
                <a:solidFill>
                  <a:srgbClr val="0070C0"/>
                </a:solidFill>
                <a:latin typeface="微软雅黑" panose="020B0503020204020204" pitchFamily="34" charset="-122"/>
                <a:ea typeface="微软雅黑" panose="020B0503020204020204" pitchFamily="34" charset="-122"/>
              </a:rPr>
              <a:t>从第</a:t>
            </a:r>
            <a:r>
              <a:rPr lang="en-US" altLang="zh-CN" sz="2000" b="1" dirty="0">
                <a:solidFill>
                  <a:srgbClr val="0070C0"/>
                </a:solidFill>
                <a:latin typeface="微软雅黑" panose="020B0503020204020204" pitchFamily="34" charset="-122"/>
                <a:ea typeface="微软雅黑" panose="020B0503020204020204" pitchFamily="34" charset="-122"/>
              </a:rPr>
              <a:t>k</a:t>
            </a:r>
            <a:r>
              <a:rPr lang="zh-CN" altLang="en-US" sz="2000" b="1" dirty="0">
                <a:solidFill>
                  <a:srgbClr val="0070C0"/>
                </a:solidFill>
                <a:latin typeface="微软雅黑" panose="020B0503020204020204" pitchFamily="34" charset="-122"/>
                <a:ea typeface="微软雅黑" panose="020B0503020204020204" pitchFamily="34" charset="-122"/>
              </a:rPr>
              <a:t>个元素到第</a:t>
            </a:r>
            <a:r>
              <a:rPr lang="en-US" altLang="zh-CN" sz="2000" b="1" dirty="0">
                <a:solidFill>
                  <a:srgbClr val="0070C0"/>
                </a:solidFill>
                <a:latin typeface="微软雅黑" panose="020B0503020204020204" pitchFamily="34" charset="-122"/>
                <a:ea typeface="微软雅黑" panose="020B0503020204020204" pitchFamily="34" charset="-122"/>
              </a:rPr>
              <a:t>w</a:t>
            </a:r>
            <a:r>
              <a:rPr lang="zh-CN" altLang="en-US" sz="2000" b="1" dirty="0">
                <a:solidFill>
                  <a:srgbClr val="0070C0"/>
                </a:solidFill>
                <a:latin typeface="微软雅黑" panose="020B0503020204020204" pitchFamily="34" charset="-122"/>
                <a:ea typeface="微软雅黑" panose="020B0503020204020204" pitchFamily="34" charset="-122"/>
              </a:rPr>
              <a:t>元素，生成向量</a:t>
            </a:r>
          </a:p>
        </p:txBody>
      </p:sp>
      <p:sp>
        <p:nvSpPr>
          <p:cNvPr id="14" name="矩形 13">
            <a:extLst>
              <a:ext uri="{FF2B5EF4-FFF2-40B4-BE49-F238E27FC236}">
                <a16:creationId xmlns:a16="http://schemas.microsoft.com/office/drawing/2014/main" id="{191FB81A-E736-4FB3-95BF-67D78AC99200}"/>
              </a:ext>
            </a:extLst>
          </p:cNvPr>
          <p:cNvSpPr/>
          <p:nvPr/>
        </p:nvSpPr>
        <p:spPr>
          <a:xfrm>
            <a:off x="6008691" y="3081852"/>
            <a:ext cx="1587645" cy="369332"/>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err="1">
                <a:solidFill>
                  <a:schemeClr val="bg1"/>
                </a:solidFill>
                <a:latin typeface="微软雅黑" panose="020B0503020204020204" pitchFamily="34" charset="-122"/>
                <a:ea typeface="微软雅黑" panose="020B0503020204020204" pitchFamily="34" charset="-122"/>
              </a:rPr>
              <a:t>aij</a:t>
            </a:r>
            <a:r>
              <a:rPr lang="en-US" altLang="zh-CN" kern="0" dirty="0">
                <a:solidFill>
                  <a:schemeClr val="bg1"/>
                </a:solidFill>
                <a:latin typeface="微软雅黑" panose="020B0503020204020204" pitchFamily="34" charset="-122"/>
                <a:ea typeface="微软雅黑" panose="020B0503020204020204" pitchFamily="34" charset="-122"/>
              </a:rPr>
              <a:t>=A[</a:t>
            </a:r>
            <a:r>
              <a:rPr lang="en-US" altLang="zh-CN" kern="0" dirty="0" err="1">
                <a:solidFill>
                  <a:schemeClr val="bg1"/>
                </a:solidFill>
                <a:latin typeface="微软雅黑" panose="020B0503020204020204" pitchFamily="34" charset="-122"/>
                <a:ea typeface="微软雅黑" panose="020B0503020204020204" pitchFamily="34" charset="-122"/>
              </a:rPr>
              <a:t>i:j,n:m</a:t>
            </a:r>
            <a:r>
              <a:rPr lang="en-US" altLang="zh-CN" kern="0" dirty="0">
                <a:solidFill>
                  <a:schemeClr val="bg1"/>
                </a:solidFill>
                <a:latin typeface="微软雅黑" panose="020B0503020204020204" pitchFamily="34" charset="-122"/>
                <a:ea typeface="微软雅黑" panose="020B0503020204020204" pitchFamily="34" charset="-122"/>
              </a:rPr>
              <a:t>]</a:t>
            </a:r>
            <a:endParaRPr lang="zh-CN" altLang="en-US" kern="0" dirty="0">
              <a:solidFill>
                <a:schemeClr val="bg1"/>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A14AD1B6-3656-4E90-9379-A175BFF3C2A0}"/>
              </a:ext>
            </a:extLst>
          </p:cNvPr>
          <p:cNvSpPr txBox="1"/>
          <p:nvPr/>
        </p:nvSpPr>
        <p:spPr>
          <a:xfrm>
            <a:off x="793836" y="3451184"/>
            <a:ext cx="4365561" cy="769441"/>
          </a:xfrm>
          <a:prstGeom prst="rect">
            <a:avLst/>
          </a:prstGeom>
          <a:noFill/>
        </p:spPr>
        <p:txBody>
          <a:bodyPr wrap="square">
            <a:spAutoFit/>
          </a:bodyPr>
          <a:lstStyle/>
          <a:p>
            <a:r>
              <a:rPr lang="zh-CN" altLang="en-US" sz="2200" b="1" dirty="0">
                <a:solidFill>
                  <a:srgbClr val="00B0F0"/>
                </a:solidFill>
                <a:latin typeface="华文楷体" panose="02010600040101010101" pitchFamily="2" charset="-122"/>
                <a:ea typeface="华文楷体" panose="02010600040101010101" pitchFamily="2" charset="-122"/>
              </a:rPr>
              <a:t>如</a:t>
            </a:r>
            <a:r>
              <a:rPr lang="en-US" altLang="zh-CN" sz="2200" b="1" dirty="0">
                <a:solidFill>
                  <a:srgbClr val="00B0F0"/>
                </a:solidFill>
                <a:latin typeface="华文楷体" panose="02010600040101010101" pitchFamily="2" charset="-122"/>
                <a:ea typeface="华文楷体" panose="02010600040101010101" pitchFamily="2" charset="-122"/>
              </a:rPr>
              <a:t>a=A[2:3,1:2]  #</a:t>
            </a:r>
            <a:r>
              <a:rPr lang="zh-CN" altLang="en-US" sz="2200" b="1" dirty="0">
                <a:solidFill>
                  <a:srgbClr val="00B0F0"/>
                </a:solidFill>
                <a:latin typeface="华文楷体" panose="02010600040101010101" pitchFamily="2" charset="-122"/>
                <a:ea typeface="华文楷体" panose="02010600040101010101" pitchFamily="2" charset="-122"/>
              </a:rPr>
              <a:t>结果为</a:t>
            </a:r>
            <a:r>
              <a:rPr lang="en-US" altLang="zh-CN" sz="2200" b="1" dirty="0">
                <a:solidFill>
                  <a:srgbClr val="00B0F0"/>
                </a:solidFill>
                <a:latin typeface="华文楷体" panose="02010600040101010101" pitchFamily="2" charset="-122"/>
                <a:ea typeface="华文楷体" panose="02010600040101010101" pitchFamily="2" charset="-122"/>
              </a:rPr>
              <a:t> 3 4</a:t>
            </a:r>
          </a:p>
          <a:p>
            <a:r>
              <a:rPr lang="en-US" altLang="zh-CN" sz="2200" b="1" dirty="0">
                <a:solidFill>
                  <a:srgbClr val="00B0F0"/>
                </a:solidFill>
                <a:latin typeface="华文楷体" panose="02010600040101010101" pitchFamily="2" charset="-122"/>
                <a:ea typeface="华文楷体" panose="02010600040101010101" pitchFamily="2" charset="-122"/>
              </a:rPr>
              <a:t>                                         5 6 </a:t>
            </a:r>
            <a:r>
              <a:rPr lang="zh-CN" altLang="en-US" sz="2200" b="1" dirty="0">
                <a:solidFill>
                  <a:srgbClr val="00B0F0"/>
                </a:solidFill>
                <a:latin typeface="华文楷体" panose="02010600040101010101" pitchFamily="2" charset="-122"/>
                <a:ea typeface="华文楷体" panose="02010600040101010101" pitchFamily="2" charset="-122"/>
              </a:rPr>
              <a:t>矩阵</a:t>
            </a:r>
          </a:p>
        </p:txBody>
      </p:sp>
      <p:sp>
        <p:nvSpPr>
          <p:cNvPr id="16" name="标题 1">
            <a:extLst>
              <a:ext uri="{FF2B5EF4-FFF2-40B4-BE49-F238E27FC236}">
                <a16:creationId xmlns:a16="http://schemas.microsoft.com/office/drawing/2014/main" id="{DA5E7759-0487-436C-8805-8E26EB6F2FDE}"/>
              </a:ext>
            </a:extLst>
          </p:cNvPr>
          <p:cNvSpPr txBox="1">
            <a:spLocks noGrp="1"/>
          </p:cNvSpPr>
          <p:nvPr>
            <p:ph type="title"/>
          </p:nvPr>
        </p:nvSpPr>
        <p:spPr bwMode="auto">
          <a:xfrm>
            <a:off x="1387611" y="185637"/>
            <a:ext cx="6651217"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dirty="0">
                <a:latin typeface="Helvetica Neue"/>
              </a:rPr>
              <a:t>§</a:t>
            </a:r>
            <a:r>
              <a:rPr lang="en-US" altLang="zh-CN" sz="2800" kern="1200" dirty="0"/>
              <a:t>1.4.1.4 </a:t>
            </a:r>
            <a:r>
              <a:rPr lang="zh-CN" altLang="en-US" sz="2800" kern="1200" dirty="0"/>
              <a:t>数组索引</a:t>
            </a:r>
            <a:r>
              <a:rPr lang="en-US" altLang="zh-CN" sz="2800" kern="0" dirty="0">
                <a:solidFill>
                  <a:srgbClr val="FF0000"/>
                </a:solidFill>
              </a:rPr>
              <a:t>——</a:t>
            </a:r>
            <a:r>
              <a:rPr lang="zh-CN" altLang="en-US" sz="2800" kern="0" dirty="0">
                <a:solidFill>
                  <a:srgbClr val="FF0000"/>
                </a:solidFill>
              </a:rPr>
              <a:t>冒号在</a:t>
            </a:r>
            <a:r>
              <a:rPr lang="zh-CN" altLang="en-US" sz="2800" dirty="0">
                <a:solidFill>
                  <a:srgbClr val="FF0000"/>
                </a:solidFill>
              </a:rPr>
              <a:t>数组索引应用</a:t>
            </a:r>
          </a:p>
        </p:txBody>
      </p:sp>
      <p:sp>
        <p:nvSpPr>
          <p:cNvPr id="2" name="文本框 1">
            <a:extLst>
              <a:ext uri="{FF2B5EF4-FFF2-40B4-BE49-F238E27FC236}">
                <a16:creationId xmlns:a16="http://schemas.microsoft.com/office/drawing/2014/main" id="{FBD18311-E93C-CE33-B827-2F6D51423DC6}"/>
              </a:ext>
            </a:extLst>
          </p:cNvPr>
          <p:cNvSpPr txBox="1"/>
          <p:nvPr/>
        </p:nvSpPr>
        <p:spPr>
          <a:xfrm>
            <a:off x="741327" y="1610937"/>
            <a:ext cx="1598425" cy="430887"/>
          </a:xfrm>
          <a:prstGeom prst="rect">
            <a:avLst/>
          </a:prstGeom>
          <a:noFill/>
        </p:spPr>
        <p:txBody>
          <a:bodyPr wrap="square">
            <a:spAutoFit/>
          </a:bodyPr>
          <a:lstStyle/>
          <a:p>
            <a:r>
              <a:rPr lang="zh-CN" altLang="en-US" sz="2200" b="1" dirty="0">
                <a:solidFill>
                  <a:srgbClr val="00B0F0"/>
                </a:solidFill>
                <a:latin typeface="华文楷体" panose="02010600040101010101" pitchFamily="2" charset="-122"/>
                <a:ea typeface="华文楷体" panose="02010600040101010101" pitchFamily="2" charset="-122"/>
              </a:rPr>
              <a:t>如</a:t>
            </a:r>
            <a:r>
              <a:rPr lang="en-US" altLang="zh-CN" sz="2200" b="1" dirty="0">
                <a:solidFill>
                  <a:srgbClr val="00B0F0"/>
                </a:solidFill>
                <a:latin typeface="华文楷体" panose="02010600040101010101" pitchFamily="2" charset="-122"/>
                <a:ea typeface="华文楷体" panose="02010600040101010101" pitchFamily="2" charset="-122"/>
              </a:rPr>
              <a:t>a=A[2,:]</a:t>
            </a:r>
            <a:endParaRPr lang="zh-CN" altLang="en-US" sz="2200" b="1" dirty="0">
              <a:solidFill>
                <a:srgbClr val="00B0F0"/>
              </a:solidFill>
              <a:latin typeface="华文楷体" panose="02010600040101010101" pitchFamily="2" charset="-122"/>
              <a:ea typeface="华文楷体" panose="02010600040101010101" pitchFamily="2" charset="-122"/>
            </a:endParaRPr>
          </a:p>
        </p:txBody>
      </p:sp>
      <p:sp>
        <p:nvSpPr>
          <p:cNvPr id="17" name="文本框 16">
            <a:extLst>
              <a:ext uri="{FF2B5EF4-FFF2-40B4-BE49-F238E27FC236}">
                <a16:creationId xmlns:a16="http://schemas.microsoft.com/office/drawing/2014/main" id="{0D275D47-DE6E-4C11-9DA8-85367DC09BC0}"/>
              </a:ext>
            </a:extLst>
          </p:cNvPr>
          <p:cNvSpPr txBox="1"/>
          <p:nvPr/>
        </p:nvSpPr>
        <p:spPr>
          <a:xfrm>
            <a:off x="6794777" y="1114551"/>
            <a:ext cx="2336284" cy="369332"/>
          </a:xfrm>
          <a:prstGeom prst="rect">
            <a:avLst/>
          </a:prstGeom>
          <a:noFill/>
        </p:spPr>
        <p:txBody>
          <a:bodyPr wrap="square">
            <a:spAutoFit/>
          </a:bodyPr>
          <a:lstStyle/>
          <a:p>
            <a:r>
              <a:rPr lang="zh-CN" altLang="en-US" sz="1800" b="1" dirty="0">
                <a:solidFill>
                  <a:srgbClr val="FF0000"/>
                </a:solidFill>
                <a:latin typeface="微软雅黑" panose="020B0503020204020204" pitchFamily="34" charset="-122"/>
                <a:ea typeface="微软雅黑" panose="020B0503020204020204" pitchFamily="34" charset="-122"/>
              </a:rPr>
              <a:t>“：”代表所有元素</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E0478F7D-6448-4F22-A786-9F5FBB50B7DB}"/>
              </a:ext>
            </a:extLst>
          </p:cNvPr>
          <p:cNvSpPr txBox="1"/>
          <p:nvPr/>
        </p:nvSpPr>
        <p:spPr>
          <a:xfrm>
            <a:off x="2275323" y="1630082"/>
            <a:ext cx="2521443" cy="430887"/>
          </a:xfrm>
          <a:prstGeom prst="rect">
            <a:avLst/>
          </a:prstGeom>
          <a:noFill/>
        </p:spPr>
        <p:txBody>
          <a:bodyPr wrap="square">
            <a:spAutoFit/>
          </a:bodyPr>
          <a:lstStyle/>
          <a:p>
            <a:r>
              <a:rPr lang="en-US" altLang="zh-CN" sz="2200" b="1" dirty="0">
                <a:solidFill>
                  <a:srgbClr val="00B0F0"/>
                </a:solidFill>
                <a:latin typeface="华文楷体" panose="02010600040101010101" pitchFamily="2" charset="-122"/>
                <a:ea typeface="华文楷体" panose="02010600040101010101" pitchFamily="2" charset="-122"/>
              </a:rPr>
              <a:t>#</a:t>
            </a:r>
            <a:r>
              <a:rPr lang="zh-CN" altLang="en-US" sz="2200" b="1" dirty="0">
                <a:solidFill>
                  <a:srgbClr val="00B0F0"/>
                </a:solidFill>
                <a:latin typeface="华文楷体" panose="02010600040101010101" pitchFamily="2" charset="-122"/>
                <a:ea typeface="华文楷体" panose="02010600040101010101" pitchFamily="2" charset="-122"/>
              </a:rPr>
              <a:t>结果为</a:t>
            </a:r>
            <a:r>
              <a:rPr lang="en-US" altLang="zh-CN" sz="2200" b="1" dirty="0">
                <a:solidFill>
                  <a:srgbClr val="00B0F0"/>
                </a:solidFill>
                <a:latin typeface="华文楷体" panose="02010600040101010101" pitchFamily="2" charset="-122"/>
                <a:ea typeface="华文楷体" panose="02010600040101010101" pitchFamily="2" charset="-122"/>
              </a:rPr>
              <a:t>3 4 3</a:t>
            </a:r>
            <a:r>
              <a:rPr lang="zh-CN" altLang="en-US" sz="2200" b="1" dirty="0">
                <a:solidFill>
                  <a:srgbClr val="00B0F0"/>
                </a:solidFill>
                <a:latin typeface="华文楷体" panose="02010600040101010101" pitchFamily="2" charset="-122"/>
                <a:ea typeface="华文楷体" panose="02010600040101010101" pitchFamily="2" charset="-122"/>
              </a:rPr>
              <a:t>向量</a:t>
            </a:r>
          </a:p>
        </p:txBody>
      </p:sp>
      <p:sp>
        <p:nvSpPr>
          <p:cNvPr id="19" name="文本框 18">
            <a:extLst>
              <a:ext uri="{FF2B5EF4-FFF2-40B4-BE49-F238E27FC236}">
                <a16:creationId xmlns:a16="http://schemas.microsoft.com/office/drawing/2014/main" id="{77A11056-76F6-4D60-ADC2-BD731EF8A4FC}"/>
              </a:ext>
            </a:extLst>
          </p:cNvPr>
          <p:cNvSpPr txBox="1"/>
          <p:nvPr/>
        </p:nvSpPr>
        <p:spPr>
          <a:xfrm>
            <a:off x="8683115" y="1873416"/>
            <a:ext cx="467284" cy="523220"/>
          </a:xfrm>
          <a:prstGeom prst="rect">
            <a:avLst/>
          </a:prstGeom>
          <a:noFill/>
        </p:spPr>
        <p:txBody>
          <a:bodyPr wrap="square">
            <a:spAutoFit/>
          </a:bodyPr>
          <a:lstStyle/>
          <a:p>
            <a:r>
              <a:rPr lang="en-US" altLang="zh-CN" sz="2800" b="1" dirty="0" err="1">
                <a:solidFill>
                  <a:srgbClr val="FFFF00"/>
                </a:solidFill>
                <a:highlight>
                  <a:srgbClr val="003B76"/>
                </a:highlight>
                <a:latin typeface="华文楷体" panose="02010600040101010101" pitchFamily="2" charset="-122"/>
                <a:ea typeface="华文楷体" panose="02010600040101010101" pitchFamily="2" charset="-122"/>
              </a:rPr>
              <a:t>i</a:t>
            </a:r>
            <a:endParaRPr lang="zh-CN" altLang="en-US" sz="2800" b="1" dirty="0">
              <a:solidFill>
                <a:srgbClr val="FFFF00"/>
              </a:solidFill>
              <a:highlight>
                <a:srgbClr val="003B76"/>
              </a:highlight>
            </a:endParaRPr>
          </a:p>
        </p:txBody>
      </p:sp>
      <p:sp>
        <p:nvSpPr>
          <p:cNvPr id="10" name="矩形: 圆角 9">
            <a:extLst>
              <a:ext uri="{FF2B5EF4-FFF2-40B4-BE49-F238E27FC236}">
                <a16:creationId xmlns:a16="http://schemas.microsoft.com/office/drawing/2014/main" id="{ABBA4029-789F-440D-8138-0B98D9BAFF17}"/>
              </a:ext>
            </a:extLst>
          </p:cNvPr>
          <p:cNvSpPr/>
          <p:nvPr/>
        </p:nvSpPr>
        <p:spPr bwMode="auto">
          <a:xfrm>
            <a:off x="7403563" y="1878958"/>
            <a:ext cx="708817" cy="674763"/>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0" name="文本框 19">
            <a:extLst>
              <a:ext uri="{FF2B5EF4-FFF2-40B4-BE49-F238E27FC236}">
                <a16:creationId xmlns:a16="http://schemas.microsoft.com/office/drawing/2014/main" id="{0FC74328-7606-4140-811E-3A4686DC7A8F}"/>
              </a:ext>
            </a:extLst>
          </p:cNvPr>
          <p:cNvSpPr txBox="1"/>
          <p:nvPr/>
        </p:nvSpPr>
        <p:spPr>
          <a:xfrm>
            <a:off x="484980" y="3104048"/>
            <a:ext cx="6503350" cy="400110"/>
          </a:xfrm>
          <a:prstGeom prst="rect">
            <a:avLst/>
          </a:prstGeom>
          <a:noFill/>
        </p:spPr>
        <p:txBody>
          <a:bodyPr wrap="square">
            <a:spAutoFit/>
          </a:bodyPr>
          <a:lstStyle>
            <a:defPPr>
              <a:defRPr lang="zh-CN"/>
            </a:defPPr>
            <a:lvl1pPr marL="342900" indent="-342900">
              <a:buFont typeface="Wingdings" panose="05000000000000000000" pitchFamily="2" charset="2"/>
              <a:buChar char="Ø"/>
              <a:defRPr sz="2200">
                <a:solidFill>
                  <a:srgbClr val="002060"/>
                </a:solidFill>
                <a:latin typeface="华文楷体" panose="02010600040101010101" pitchFamily="2" charset="-122"/>
                <a:ea typeface="华文楷体" panose="02010600040101010101" pitchFamily="2" charset="-122"/>
              </a:defRPr>
            </a:lvl1pPr>
          </a:lstStyle>
          <a:p>
            <a:pPr marL="457200" indent="-457200">
              <a:buFont typeface="+mj-ea"/>
              <a:buAutoNum type="circleNumDbPlain" startAt="3"/>
            </a:pPr>
            <a:r>
              <a:rPr lang="zh-CN" altLang="en-US" sz="2000" b="1" dirty="0">
                <a:solidFill>
                  <a:srgbClr val="0070C0"/>
                </a:solidFill>
                <a:latin typeface="微软雅黑" panose="020B0503020204020204" pitchFamily="34" charset="-122"/>
                <a:ea typeface="微软雅黑" panose="020B0503020204020204" pitchFamily="34" charset="-122"/>
              </a:rPr>
              <a:t>访问</a:t>
            </a:r>
            <a:r>
              <a:rPr lang="en-US" altLang="zh-CN" sz="2000" b="1" dirty="0">
                <a:solidFill>
                  <a:srgbClr val="0070C0"/>
                </a:solidFill>
                <a:latin typeface="微软雅黑" panose="020B0503020204020204" pitchFamily="34" charset="-122"/>
                <a:ea typeface="微软雅黑" panose="020B0503020204020204" pitchFamily="34" charset="-122"/>
              </a:rPr>
              <a:t>A</a:t>
            </a:r>
            <a:r>
              <a:rPr lang="zh-CN" altLang="en-US" sz="2000" b="1" dirty="0">
                <a:solidFill>
                  <a:srgbClr val="0070C0"/>
                </a:solidFill>
                <a:latin typeface="微软雅黑" panose="020B0503020204020204" pitchFamily="34" charset="-122"/>
                <a:ea typeface="微软雅黑" panose="020B0503020204020204" pitchFamily="34" charset="-122"/>
              </a:rPr>
              <a:t>的第</a:t>
            </a:r>
            <a:r>
              <a:rPr lang="en-US" altLang="zh-CN" sz="2000" b="1" dirty="0" err="1">
                <a:solidFill>
                  <a:srgbClr val="0070C0"/>
                </a:solidFill>
                <a:latin typeface="微软雅黑" panose="020B0503020204020204" pitchFamily="34" charset="-122"/>
                <a:ea typeface="微软雅黑" panose="020B0503020204020204" pitchFamily="34" charset="-122"/>
              </a:rPr>
              <a:t>i</a:t>
            </a:r>
            <a:r>
              <a:rPr lang="zh-CN" altLang="en-US" sz="2000" b="1" dirty="0">
                <a:solidFill>
                  <a:srgbClr val="0070C0"/>
                </a:solidFill>
                <a:latin typeface="微软雅黑" panose="020B0503020204020204" pitchFamily="34" charset="-122"/>
                <a:ea typeface="微软雅黑" panose="020B0503020204020204" pitchFamily="34" charset="-122"/>
              </a:rPr>
              <a:t>行到第</a:t>
            </a:r>
            <a:r>
              <a:rPr lang="en-US" altLang="zh-CN" sz="2000" b="1" dirty="0">
                <a:solidFill>
                  <a:srgbClr val="0070C0"/>
                </a:solidFill>
                <a:latin typeface="微软雅黑" panose="020B0503020204020204" pitchFamily="34" charset="-122"/>
                <a:ea typeface="微软雅黑" panose="020B0503020204020204" pitchFamily="34" charset="-122"/>
              </a:rPr>
              <a:t>j</a:t>
            </a:r>
            <a:r>
              <a:rPr lang="zh-CN" altLang="en-US" sz="2000" b="1" dirty="0">
                <a:solidFill>
                  <a:srgbClr val="0070C0"/>
                </a:solidFill>
                <a:latin typeface="微软雅黑" panose="020B0503020204020204" pitchFamily="34" charset="-122"/>
                <a:ea typeface="微软雅黑" panose="020B0503020204020204" pitchFamily="34" charset="-122"/>
              </a:rPr>
              <a:t>行，第</a:t>
            </a:r>
            <a:r>
              <a:rPr lang="en-US" altLang="zh-CN" sz="2000" b="1" dirty="0">
                <a:solidFill>
                  <a:srgbClr val="0070C0"/>
                </a:solidFill>
                <a:latin typeface="微软雅黑" panose="020B0503020204020204" pitchFamily="34" charset="-122"/>
                <a:ea typeface="微软雅黑" panose="020B0503020204020204" pitchFamily="34" charset="-122"/>
              </a:rPr>
              <a:t>n</a:t>
            </a:r>
            <a:r>
              <a:rPr lang="zh-CN" altLang="en-US" sz="2000" b="1" dirty="0">
                <a:solidFill>
                  <a:srgbClr val="0070C0"/>
                </a:solidFill>
                <a:latin typeface="微软雅黑" panose="020B0503020204020204" pitchFamily="34" charset="-122"/>
                <a:ea typeface="微软雅黑" panose="020B0503020204020204" pitchFamily="34" charset="-122"/>
              </a:rPr>
              <a:t>列到第</a:t>
            </a:r>
            <a:r>
              <a:rPr lang="en-US" altLang="zh-CN" sz="2000" b="1" dirty="0">
                <a:solidFill>
                  <a:srgbClr val="0070C0"/>
                </a:solidFill>
                <a:latin typeface="微软雅黑" panose="020B0503020204020204" pitchFamily="34" charset="-122"/>
                <a:ea typeface="微软雅黑" panose="020B0503020204020204" pitchFamily="34" charset="-122"/>
              </a:rPr>
              <a:t>m</a:t>
            </a:r>
            <a:r>
              <a:rPr lang="zh-CN" altLang="en-US" sz="2000" b="1" dirty="0">
                <a:solidFill>
                  <a:srgbClr val="0070C0"/>
                </a:solidFill>
                <a:latin typeface="微软雅黑" panose="020B0503020204020204" pitchFamily="34" charset="-122"/>
                <a:ea typeface="微软雅黑" panose="020B0503020204020204" pitchFamily="34" charset="-122"/>
              </a:rPr>
              <a:t>列元素</a:t>
            </a:r>
          </a:p>
        </p:txBody>
      </p:sp>
      <p:sp>
        <p:nvSpPr>
          <p:cNvPr id="21" name="矩形 20">
            <a:extLst>
              <a:ext uri="{FF2B5EF4-FFF2-40B4-BE49-F238E27FC236}">
                <a16:creationId xmlns:a16="http://schemas.microsoft.com/office/drawing/2014/main" id="{E2AC76A3-EDAB-4180-BDE6-164EC0CD2EBA}"/>
              </a:ext>
            </a:extLst>
          </p:cNvPr>
          <p:cNvSpPr/>
          <p:nvPr/>
        </p:nvSpPr>
        <p:spPr>
          <a:xfrm>
            <a:off x="7079693" y="4199341"/>
            <a:ext cx="1339147" cy="369332"/>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err="1">
                <a:solidFill>
                  <a:schemeClr val="bg1"/>
                </a:solidFill>
                <a:latin typeface="微软雅黑" panose="020B0503020204020204" pitchFamily="34" charset="-122"/>
                <a:ea typeface="微软雅黑" panose="020B0503020204020204" pitchFamily="34" charset="-122"/>
              </a:rPr>
              <a:t>aij</a:t>
            </a:r>
            <a:r>
              <a:rPr lang="en-US" altLang="zh-CN" kern="0" dirty="0">
                <a:solidFill>
                  <a:schemeClr val="bg1"/>
                </a:solidFill>
                <a:latin typeface="微软雅黑" panose="020B0503020204020204" pitchFamily="34" charset="-122"/>
                <a:ea typeface="微软雅黑" panose="020B0503020204020204" pitchFamily="34" charset="-122"/>
              </a:rPr>
              <a:t>=A[</a:t>
            </a:r>
            <a:r>
              <a:rPr lang="en-US" altLang="zh-CN" kern="0" dirty="0" err="1">
                <a:solidFill>
                  <a:schemeClr val="bg1"/>
                </a:solidFill>
                <a:latin typeface="微软雅黑" panose="020B0503020204020204" pitchFamily="34" charset="-122"/>
                <a:ea typeface="微软雅黑" panose="020B0503020204020204" pitchFamily="34" charset="-122"/>
              </a:rPr>
              <a:t>k:w</a:t>
            </a:r>
            <a:r>
              <a:rPr lang="en-US" altLang="zh-CN" kern="0" dirty="0">
                <a:solidFill>
                  <a:schemeClr val="bg1"/>
                </a:solidFill>
                <a:latin typeface="微软雅黑" panose="020B0503020204020204" pitchFamily="34" charset="-122"/>
                <a:ea typeface="微软雅黑" panose="020B0503020204020204" pitchFamily="34" charset="-122"/>
              </a:rPr>
              <a:t>]</a:t>
            </a:r>
            <a:endParaRPr lang="zh-CN" altLang="en-US" kern="0" dirty="0">
              <a:solidFill>
                <a:schemeClr val="bg1"/>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9A006F36-C927-4AA8-8F42-3A596EA71BA6}"/>
              </a:ext>
            </a:extLst>
          </p:cNvPr>
          <p:cNvSpPr txBox="1"/>
          <p:nvPr/>
        </p:nvSpPr>
        <p:spPr>
          <a:xfrm>
            <a:off x="5652168" y="3437332"/>
            <a:ext cx="3146665" cy="769441"/>
          </a:xfrm>
          <a:prstGeom prst="rect">
            <a:avLst/>
          </a:prstGeom>
          <a:noFill/>
        </p:spPr>
        <p:txBody>
          <a:bodyPr wrap="square">
            <a:spAutoFit/>
          </a:bodyPr>
          <a:lstStyle/>
          <a:p>
            <a:r>
              <a:rPr lang="zh-CN" altLang="en-US" sz="2200" b="1" dirty="0">
                <a:solidFill>
                  <a:srgbClr val="00B0F0"/>
                </a:solidFill>
                <a:latin typeface="华文楷体" panose="02010600040101010101" pitchFamily="2" charset="-122"/>
                <a:ea typeface="华文楷体" panose="02010600040101010101" pitchFamily="2" charset="-122"/>
              </a:rPr>
              <a:t>如</a:t>
            </a:r>
            <a:r>
              <a:rPr lang="en-US" altLang="zh-CN" sz="2200" b="1" dirty="0">
                <a:solidFill>
                  <a:srgbClr val="00B0F0"/>
                </a:solidFill>
                <a:latin typeface="华文楷体" panose="02010600040101010101" pitchFamily="2" charset="-122"/>
                <a:ea typeface="华文楷体" panose="02010600040101010101" pitchFamily="2" charset="-122"/>
              </a:rPr>
              <a:t>a=A[2:3]  #</a:t>
            </a:r>
            <a:r>
              <a:rPr lang="zh-CN" altLang="en-US" sz="2200" b="1" dirty="0">
                <a:solidFill>
                  <a:srgbClr val="00B0F0"/>
                </a:solidFill>
                <a:latin typeface="华文楷体" panose="02010600040101010101" pitchFamily="2" charset="-122"/>
                <a:ea typeface="华文楷体" panose="02010600040101010101" pitchFamily="2" charset="-122"/>
              </a:rPr>
              <a:t>结果为</a:t>
            </a:r>
            <a:r>
              <a:rPr lang="en-US" altLang="zh-CN" sz="2200" b="1" dirty="0">
                <a:solidFill>
                  <a:srgbClr val="00B0F0"/>
                </a:solidFill>
                <a:latin typeface="华文楷体" panose="02010600040101010101" pitchFamily="2" charset="-122"/>
                <a:ea typeface="华文楷体" panose="02010600040101010101" pitchFamily="2" charset="-122"/>
              </a:rPr>
              <a:t> 3</a:t>
            </a:r>
          </a:p>
          <a:p>
            <a:r>
              <a:rPr lang="en-US" altLang="zh-CN" sz="2200" b="1" dirty="0">
                <a:solidFill>
                  <a:srgbClr val="00B0F0"/>
                </a:solidFill>
                <a:latin typeface="华文楷体" panose="02010600040101010101" pitchFamily="2" charset="-122"/>
                <a:ea typeface="华文楷体" panose="02010600040101010101" pitchFamily="2" charset="-122"/>
              </a:rPr>
              <a:t>                                   5</a:t>
            </a:r>
            <a:endParaRPr lang="zh-CN" altLang="en-US" sz="2200" b="1" dirty="0">
              <a:solidFill>
                <a:srgbClr val="00B0F0"/>
              </a:solidFill>
              <a:latin typeface="华文楷体" panose="02010600040101010101" pitchFamily="2" charset="-122"/>
              <a:ea typeface="华文楷体" panose="02010600040101010101" pitchFamily="2" charset="-122"/>
            </a:endParaRPr>
          </a:p>
        </p:txBody>
      </p:sp>
      <p:sp>
        <p:nvSpPr>
          <p:cNvPr id="23" name="内容占位符 2">
            <a:extLst>
              <a:ext uri="{FF2B5EF4-FFF2-40B4-BE49-F238E27FC236}">
                <a16:creationId xmlns:a16="http://schemas.microsoft.com/office/drawing/2014/main" id="{4F99DF91-CB1B-418A-A920-1A9480189059}"/>
              </a:ext>
            </a:extLst>
          </p:cNvPr>
          <p:cNvSpPr>
            <a:spLocks noGrp="1"/>
          </p:cNvSpPr>
          <p:nvPr>
            <p:ph idx="1"/>
          </p:nvPr>
        </p:nvSpPr>
        <p:spPr>
          <a:xfrm>
            <a:off x="541294" y="670984"/>
            <a:ext cx="8423194" cy="407291"/>
          </a:xfr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indent="0" algn="dist">
              <a:buNone/>
            </a:pPr>
            <a:r>
              <a:rPr lang="zh-CN" altLang="en-US" sz="2000" b="1" kern="1200" dirty="0">
                <a:solidFill>
                  <a:srgbClr val="0070C0"/>
                </a:solidFill>
                <a:latin typeface="微软雅黑" panose="020B0503020204020204" pitchFamily="34" charset="-122"/>
                <a:ea typeface="微软雅黑" panose="020B0503020204020204" pitchFamily="34" charset="-122"/>
              </a:rPr>
              <a:t>掌握数组索引，根据元素在数组中的位置（索引）访问抽取数组元素</a:t>
            </a:r>
            <a:endParaRPr lang="en-US" altLang="zh-CN" sz="2000" b="1" kern="1200" dirty="0">
              <a:solidFill>
                <a:srgbClr val="0070C0"/>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E2B3DB8D-1486-47B9-AD1B-E12AFFC71D0F}"/>
              </a:ext>
            </a:extLst>
          </p:cNvPr>
          <p:cNvSpPr txBox="1"/>
          <p:nvPr/>
        </p:nvSpPr>
        <p:spPr>
          <a:xfrm>
            <a:off x="2403445" y="2597217"/>
            <a:ext cx="2672610" cy="430887"/>
          </a:xfrm>
          <a:prstGeom prst="rect">
            <a:avLst/>
          </a:prstGeom>
          <a:noFill/>
        </p:spPr>
        <p:txBody>
          <a:bodyPr wrap="square">
            <a:spAutoFit/>
          </a:bodyPr>
          <a:lstStyle>
            <a:defPPr>
              <a:defRPr lang="zh-CN"/>
            </a:defPPr>
            <a:lvl1pPr>
              <a:defRPr sz="2200" b="1">
                <a:solidFill>
                  <a:srgbClr val="0070C0"/>
                </a:solidFill>
                <a:latin typeface="华文楷体" panose="02010600040101010101" pitchFamily="2" charset="-122"/>
                <a:ea typeface="华文楷体" panose="02010600040101010101" pitchFamily="2" charset="-122"/>
              </a:defRPr>
            </a:lvl1pPr>
          </a:lstStyle>
          <a:p>
            <a:r>
              <a:rPr lang="en-US" altLang="zh-CN" dirty="0">
                <a:solidFill>
                  <a:srgbClr val="00B0F0"/>
                </a:solidFill>
              </a:rPr>
              <a:t>#</a:t>
            </a:r>
            <a:r>
              <a:rPr lang="zh-CN" altLang="en-US" dirty="0">
                <a:solidFill>
                  <a:srgbClr val="00B0F0"/>
                </a:solidFill>
              </a:rPr>
              <a:t>结果为</a:t>
            </a:r>
            <a:r>
              <a:rPr lang="en-US" altLang="zh-CN" dirty="0">
                <a:solidFill>
                  <a:srgbClr val="00B0F0"/>
                </a:solidFill>
              </a:rPr>
              <a:t>1 3 5</a:t>
            </a:r>
            <a:r>
              <a:rPr lang="zh-CN" altLang="en-US" dirty="0">
                <a:solidFill>
                  <a:srgbClr val="00B0F0"/>
                </a:solidFill>
              </a:rPr>
              <a:t>向量</a:t>
            </a:r>
          </a:p>
        </p:txBody>
      </p:sp>
    </p:spTree>
    <p:extLst>
      <p:ext uri="{BB962C8B-B14F-4D97-AF65-F5344CB8AC3E}">
        <p14:creationId xmlns:p14="http://schemas.microsoft.com/office/powerpoint/2010/main" val="3782969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
                                            <p:txEl>
                                              <p:pRg st="0" end="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11" grpId="0"/>
      <p:bldP spid="13" grpId="0"/>
      <p:bldP spid="14" grpId="0" animBg="1"/>
      <p:bldP spid="2" grpId="0"/>
      <p:bldP spid="18" grpId="0"/>
      <p:bldP spid="10" grpId="0" animBg="1"/>
      <p:bldP spid="20" grpId="0"/>
      <p:bldP spid="21" grpId="0" animBg="1"/>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3C04488-9825-4A8D-806E-2DF2CD750037}"/>
              </a:ext>
            </a:extLst>
          </p:cNvPr>
          <p:cNvSpPr txBox="1"/>
          <p:nvPr/>
        </p:nvSpPr>
        <p:spPr>
          <a:xfrm>
            <a:off x="683568" y="1230420"/>
            <a:ext cx="4621306" cy="646331"/>
          </a:xfrm>
          <a:prstGeom prst="rect">
            <a:avLst/>
          </a:prstGeom>
          <a:noFill/>
        </p:spPr>
        <p:txBody>
          <a:bodyPr wrap="square">
            <a:spAutoFit/>
          </a:bodyPr>
          <a:lstStyle/>
          <a:p>
            <a:r>
              <a:rPr lang="zh-CN" altLang="en-US" dirty="0"/>
              <a:t>     a=[1 2 3;4 5 6</a:t>
            </a:r>
          </a:p>
          <a:p>
            <a:r>
              <a:rPr lang="zh-CN" altLang="en-US" dirty="0"/>
              <a:t>              6 7 8]</a:t>
            </a:r>
          </a:p>
        </p:txBody>
      </p:sp>
      <p:sp>
        <p:nvSpPr>
          <p:cNvPr id="7" name="文本框 6">
            <a:extLst>
              <a:ext uri="{FF2B5EF4-FFF2-40B4-BE49-F238E27FC236}">
                <a16:creationId xmlns:a16="http://schemas.microsoft.com/office/drawing/2014/main" id="{5F5C5306-BDBE-44D7-ADFF-95291E8D53D7}"/>
              </a:ext>
            </a:extLst>
          </p:cNvPr>
          <p:cNvSpPr txBox="1"/>
          <p:nvPr/>
        </p:nvSpPr>
        <p:spPr>
          <a:xfrm>
            <a:off x="395536" y="2931496"/>
            <a:ext cx="1873274" cy="923330"/>
          </a:xfrm>
          <a:prstGeom prst="rect">
            <a:avLst/>
          </a:prstGeom>
          <a:noFill/>
        </p:spPr>
        <p:txBody>
          <a:bodyPr wrap="square">
            <a:spAutoFit/>
          </a:bodyPr>
          <a:lstStyle/>
          <a:p>
            <a:r>
              <a:rPr lang="en-US" altLang="zh-CN" dirty="0">
                <a:solidFill>
                  <a:srgbClr val="FF0000"/>
                </a:solidFill>
              </a:rPr>
              <a:t>#</a:t>
            </a:r>
            <a:r>
              <a:rPr lang="zh-CN" altLang="en-US" dirty="0">
                <a:solidFill>
                  <a:srgbClr val="FF0000"/>
                </a:solidFill>
              </a:rPr>
              <a:t>访问第</a:t>
            </a:r>
            <a:r>
              <a:rPr lang="en-US" altLang="zh-CN" dirty="0">
                <a:solidFill>
                  <a:srgbClr val="FF0000"/>
                </a:solidFill>
              </a:rPr>
              <a:t>3</a:t>
            </a:r>
            <a:r>
              <a:rPr lang="zh-CN" altLang="en-US" dirty="0">
                <a:solidFill>
                  <a:srgbClr val="FF0000"/>
                </a:solidFill>
              </a:rPr>
              <a:t>个元素</a:t>
            </a:r>
            <a:endParaRPr lang="en-US" altLang="zh-CN" dirty="0">
              <a:solidFill>
                <a:srgbClr val="FF0000"/>
              </a:solidFill>
            </a:endParaRPr>
          </a:p>
          <a:p>
            <a:r>
              <a:rPr lang="zh-CN" altLang="en-US" dirty="0"/>
              <a:t>julia&gt; a[3]</a:t>
            </a:r>
          </a:p>
          <a:p>
            <a:r>
              <a:rPr lang="zh-CN" altLang="en-US" dirty="0">
                <a:solidFill>
                  <a:srgbClr val="00B0F0"/>
                </a:solidFill>
              </a:rPr>
              <a:t>6</a:t>
            </a:r>
          </a:p>
        </p:txBody>
      </p:sp>
      <p:sp>
        <p:nvSpPr>
          <p:cNvPr id="9" name="文本框 8">
            <a:extLst>
              <a:ext uri="{FF2B5EF4-FFF2-40B4-BE49-F238E27FC236}">
                <a16:creationId xmlns:a16="http://schemas.microsoft.com/office/drawing/2014/main" id="{B5F7F53B-DAA0-464E-BA9C-2B1FE261142E}"/>
              </a:ext>
            </a:extLst>
          </p:cNvPr>
          <p:cNvSpPr txBox="1"/>
          <p:nvPr/>
        </p:nvSpPr>
        <p:spPr>
          <a:xfrm>
            <a:off x="373688" y="3709433"/>
            <a:ext cx="2465858" cy="923330"/>
          </a:xfrm>
          <a:prstGeom prst="rect">
            <a:avLst/>
          </a:prstGeom>
          <a:noFill/>
        </p:spPr>
        <p:txBody>
          <a:bodyPr wrap="square">
            <a:spAutoFit/>
          </a:bodyPr>
          <a:lstStyle/>
          <a:p>
            <a:r>
              <a:rPr lang="en-US" altLang="zh-CN" dirty="0">
                <a:solidFill>
                  <a:srgbClr val="FF0000"/>
                </a:solidFill>
              </a:rPr>
              <a:t>#</a:t>
            </a:r>
            <a:r>
              <a:rPr lang="zh-CN" altLang="en-US" dirty="0">
                <a:solidFill>
                  <a:srgbClr val="FF0000"/>
                </a:solidFill>
              </a:rPr>
              <a:t>访问第</a:t>
            </a:r>
            <a:r>
              <a:rPr lang="en-US" altLang="zh-CN" dirty="0">
                <a:solidFill>
                  <a:srgbClr val="FF0000"/>
                </a:solidFill>
              </a:rPr>
              <a:t>3</a:t>
            </a:r>
            <a:r>
              <a:rPr lang="zh-CN" altLang="en-US" dirty="0">
                <a:solidFill>
                  <a:srgbClr val="FF0000"/>
                </a:solidFill>
              </a:rPr>
              <a:t>行</a:t>
            </a:r>
            <a:r>
              <a:rPr lang="en-US" altLang="zh-CN" dirty="0">
                <a:solidFill>
                  <a:srgbClr val="FF0000"/>
                </a:solidFill>
              </a:rPr>
              <a:t>1</a:t>
            </a:r>
            <a:r>
              <a:rPr lang="zh-CN" altLang="en-US" dirty="0">
                <a:solidFill>
                  <a:srgbClr val="FF0000"/>
                </a:solidFill>
              </a:rPr>
              <a:t>列元素</a:t>
            </a:r>
            <a:endParaRPr lang="en-US" altLang="zh-CN" dirty="0">
              <a:solidFill>
                <a:srgbClr val="FF0000"/>
              </a:solidFill>
            </a:endParaRPr>
          </a:p>
          <a:p>
            <a:r>
              <a:rPr lang="zh-CN" altLang="en-US" dirty="0"/>
              <a:t>julia&gt; a[3,1]</a:t>
            </a:r>
          </a:p>
          <a:p>
            <a:r>
              <a:rPr lang="zh-CN" altLang="en-US" dirty="0">
                <a:solidFill>
                  <a:srgbClr val="00B0F0"/>
                </a:solidFill>
              </a:rPr>
              <a:t>6</a:t>
            </a:r>
          </a:p>
        </p:txBody>
      </p:sp>
      <p:sp>
        <p:nvSpPr>
          <p:cNvPr id="11" name="文本框 10">
            <a:extLst>
              <a:ext uri="{FF2B5EF4-FFF2-40B4-BE49-F238E27FC236}">
                <a16:creationId xmlns:a16="http://schemas.microsoft.com/office/drawing/2014/main" id="{FA2415B5-5033-46E7-A6EB-DE39EB094028}"/>
              </a:ext>
            </a:extLst>
          </p:cNvPr>
          <p:cNvSpPr txBox="1"/>
          <p:nvPr/>
        </p:nvSpPr>
        <p:spPr>
          <a:xfrm>
            <a:off x="2839546" y="1203598"/>
            <a:ext cx="3388638" cy="1754326"/>
          </a:xfrm>
          <a:prstGeom prst="rect">
            <a:avLst/>
          </a:prstGeom>
          <a:noFill/>
        </p:spPr>
        <p:txBody>
          <a:bodyPr wrap="square">
            <a:spAutoFit/>
          </a:bodyPr>
          <a:lstStyle/>
          <a:p>
            <a:r>
              <a:rPr lang="en-US" altLang="zh-CN" dirty="0">
                <a:solidFill>
                  <a:srgbClr val="FF0000"/>
                </a:solidFill>
              </a:rPr>
              <a:t>#</a:t>
            </a:r>
            <a:r>
              <a:rPr lang="zh-CN" altLang="en-US" dirty="0">
                <a:solidFill>
                  <a:srgbClr val="FF0000"/>
                </a:solidFill>
              </a:rPr>
              <a:t>访问从第</a:t>
            </a:r>
            <a:r>
              <a:rPr lang="en-US" altLang="zh-CN" dirty="0">
                <a:solidFill>
                  <a:srgbClr val="FF0000"/>
                </a:solidFill>
              </a:rPr>
              <a:t>7</a:t>
            </a:r>
            <a:r>
              <a:rPr lang="zh-CN" altLang="en-US" dirty="0">
                <a:solidFill>
                  <a:srgbClr val="FF0000"/>
                </a:solidFill>
              </a:rPr>
              <a:t>到最后元素的向量</a:t>
            </a:r>
            <a:endParaRPr lang="en-US" altLang="zh-CN" dirty="0">
              <a:solidFill>
                <a:srgbClr val="FF0000"/>
              </a:solidFill>
            </a:endParaRPr>
          </a:p>
          <a:p>
            <a:r>
              <a:rPr lang="zh-CN" altLang="en-US" dirty="0"/>
              <a:t>julia&gt; a[7:</a:t>
            </a:r>
            <a:r>
              <a:rPr lang="zh-CN" altLang="en-US" b="1" dirty="0">
                <a:solidFill>
                  <a:srgbClr val="FF0000"/>
                </a:solidFill>
              </a:rPr>
              <a:t>end</a:t>
            </a:r>
            <a:r>
              <a:rPr lang="zh-CN" altLang="en-US" dirty="0"/>
              <a:t>]</a:t>
            </a:r>
          </a:p>
          <a:p>
            <a:r>
              <a:rPr lang="zh-CN" altLang="en-US" dirty="0">
                <a:solidFill>
                  <a:srgbClr val="00B0F0"/>
                </a:solidFill>
              </a:rPr>
              <a:t>3-element Vector{Int64}:</a:t>
            </a:r>
          </a:p>
          <a:p>
            <a:r>
              <a:rPr lang="zh-CN" altLang="en-US" dirty="0">
                <a:solidFill>
                  <a:srgbClr val="00B0F0"/>
                </a:solidFill>
              </a:rPr>
              <a:t> 3</a:t>
            </a:r>
          </a:p>
          <a:p>
            <a:r>
              <a:rPr lang="zh-CN" altLang="en-US" dirty="0">
                <a:solidFill>
                  <a:srgbClr val="00B0F0"/>
                </a:solidFill>
              </a:rPr>
              <a:t> 6</a:t>
            </a:r>
          </a:p>
          <a:p>
            <a:r>
              <a:rPr lang="zh-CN" altLang="en-US" dirty="0">
                <a:solidFill>
                  <a:srgbClr val="00B0F0"/>
                </a:solidFill>
              </a:rPr>
              <a:t> 8</a:t>
            </a:r>
          </a:p>
        </p:txBody>
      </p:sp>
      <p:sp>
        <p:nvSpPr>
          <p:cNvPr id="13" name="文本框 12">
            <a:extLst>
              <a:ext uri="{FF2B5EF4-FFF2-40B4-BE49-F238E27FC236}">
                <a16:creationId xmlns:a16="http://schemas.microsoft.com/office/drawing/2014/main" id="{8E038293-98F3-4E80-AEA9-8C22C8EAF26D}"/>
              </a:ext>
            </a:extLst>
          </p:cNvPr>
          <p:cNvSpPr txBox="1"/>
          <p:nvPr/>
        </p:nvSpPr>
        <p:spPr>
          <a:xfrm>
            <a:off x="2303191" y="3034702"/>
            <a:ext cx="2952328" cy="1477328"/>
          </a:xfrm>
          <a:prstGeom prst="rect">
            <a:avLst/>
          </a:prstGeom>
          <a:noFill/>
        </p:spPr>
        <p:txBody>
          <a:bodyPr wrap="square">
            <a:spAutoFit/>
          </a:bodyPr>
          <a:lstStyle/>
          <a:p>
            <a:r>
              <a:rPr lang="zh-CN" altLang="en-US" dirty="0"/>
              <a:t>julia&gt; a[2,:]  </a:t>
            </a:r>
            <a:r>
              <a:rPr lang="en-US" altLang="zh-CN" dirty="0">
                <a:solidFill>
                  <a:srgbClr val="FF0000"/>
                </a:solidFill>
              </a:rPr>
              <a:t>#</a:t>
            </a:r>
            <a:r>
              <a:rPr lang="zh-CN" altLang="en-US" dirty="0">
                <a:solidFill>
                  <a:srgbClr val="FF0000"/>
                </a:solidFill>
              </a:rPr>
              <a:t>第</a:t>
            </a:r>
            <a:r>
              <a:rPr lang="en-US" altLang="zh-CN" dirty="0">
                <a:solidFill>
                  <a:srgbClr val="FF0000"/>
                </a:solidFill>
              </a:rPr>
              <a:t>2</a:t>
            </a:r>
            <a:r>
              <a:rPr lang="zh-CN" altLang="en-US" dirty="0">
                <a:solidFill>
                  <a:srgbClr val="FF0000"/>
                </a:solidFill>
              </a:rPr>
              <a:t>行元素</a:t>
            </a:r>
          </a:p>
          <a:p>
            <a:r>
              <a:rPr lang="zh-CN" altLang="en-US" dirty="0">
                <a:solidFill>
                  <a:srgbClr val="00B0F0"/>
                </a:solidFill>
              </a:rPr>
              <a:t>3-element Vector{Int64}:</a:t>
            </a:r>
          </a:p>
          <a:p>
            <a:r>
              <a:rPr lang="zh-CN" altLang="en-US" dirty="0">
                <a:solidFill>
                  <a:srgbClr val="00B0F0"/>
                </a:solidFill>
              </a:rPr>
              <a:t> 4</a:t>
            </a:r>
          </a:p>
          <a:p>
            <a:r>
              <a:rPr lang="zh-CN" altLang="en-US" dirty="0">
                <a:solidFill>
                  <a:srgbClr val="00B0F0"/>
                </a:solidFill>
              </a:rPr>
              <a:t> 5</a:t>
            </a:r>
          </a:p>
          <a:p>
            <a:r>
              <a:rPr lang="zh-CN" altLang="en-US" dirty="0">
                <a:solidFill>
                  <a:srgbClr val="00B0F0"/>
                </a:solidFill>
              </a:rPr>
              <a:t> 6</a:t>
            </a:r>
          </a:p>
        </p:txBody>
      </p:sp>
      <p:sp>
        <p:nvSpPr>
          <p:cNvPr id="15" name="文本框 14">
            <a:extLst>
              <a:ext uri="{FF2B5EF4-FFF2-40B4-BE49-F238E27FC236}">
                <a16:creationId xmlns:a16="http://schemas.microsoft.com/office/drawing/2014/main" id="{E1B6C7A9-E73A-43EC-9873-51B9E87960BC}"/>
              </a:ext>
            </a:extLst>
          </p:cNvPr>
          <p:cNvSpPr txBox="1"/>
          <p:nvPr/>
        </p:nvSpPr>
        <p:spPr>
          <a:xfrm>
            <a:off x="5120896" y="2973609"/>
            <a:ext cx="4128251" cy="1754326"/>
          </a:xfrm>
          <a:prstGeom prst="rect">
            <a:avLst/>
          </a:prstGeom>
          <a:noFill/>
        </p:spPr>
        <p:txBody>
          <a:bodyPr wrap="square">
            <a:spAutoFit/>
          </a:bodyPr>
          <a:lstStyle/>
          <a:p>
            <a:r>
              <a:rPr lang="en-US" altLang="zh-CN" b="1" dirty="0">
                <a:solidFill>
                  <a:srgbClr val="00B0F0"/>
                </a:solidFill>
              </a:rPr>
              <a:t>#</a:t>
            </a:r>
            <a:r>
              <a:rPr lang="zh-CN" altLang="en-US" b="1" dirty="0">
                <a:solidFill>
                  <a:srgbClr val="00B0F0"/>
                </a:solidFill>
              </a:rPr>
              <a:t>加点对每个元素比较，确定位置</a:t>
            </a:r>
          </a:p>
          <a:p>
            <a:r>
              <a:rPr lang="zh-CN" altLang="en-US" dirty="0"/>
              <a:t>julia&gt; aa=</a:t>
            </a:r>
            <a:r>
              <a:rPr lang="zh-CN" altLang="en-US" b="1" dirty="0">
                <a:solidFill>
                  <a:srgbClr val="FF0000"/>
                </a:solidFill>
              </a:rPr>
              <a:t>a.&gt;=7 </a:t>
            </a:r>
            <a:endParaRPr lang="en-US" altLang="zh-CN" b="1" dirty="0">
              <a:solidFill>
                <a:srgbClr val="FF0000"/>
              </a:solidFill>
            </a:endParaRPr>
          </a:p>
          <a:p>
            <a:r>
              <a:rPr lang="zh-CN" altLang="en-US" dirty="0">
                <a:solidFill>
                  <a:srgbClr val="00B0F0"/>
                </a:solidFill>
              </a:rPr>
              <a:t>3×3 BitMatrix:</a:t>
            </a:r>
          </a:p>
          <a:p>
            <a:r>
              <a:rPr lang="zh-CN" altLang="en-US" dirty="0">
                <a:solidFill>
                  <a:srgbClr val="00B0F0"/>
                </a:solidFill>
              </a:rPr>
              <a:t> 0  0  0</a:t>
            </a:r>
          </a:p>
          <a:p>
            <a:r>
              <a:rPr lang="zh-CN" altLang="en-US" dirty="0">
                <a:solidFill>
                  <a:srgbClr val="00B0F0"/>
                </a:solidFill>
              </a:rPr>
              <a:t> 0  0  0</a:t>
            </a:r>
          </a:p>
          <a:p>
            <a:r>
              <a:rPr lang="zh-CN" altLang="en-US" dirty="0">
                <a:solidFill>
                  <a:srgbClr val="00B0F0"/>
                </a:solidFill>
              </a:rPr>
              <a:t> 0  1  1</a:t>
            </a:r>
          </a:p>
        </p:txBody>
      </p:sp>
      <p:sp>
        <p:nvSpPr>
          <p:cNvPr id="16" name="标题 1">
            <a:extLst>
              <a:ext uri="{FF2B5EF4-FFF2-40B4-BE49-F238E27FC236}">
                <a16:creationId xmlns:a16="http://schemas.microsoft.com/office/drawing/2014/main" id="{CF7EDC3D-9644-49B0-9B19-D8C4C6A1C49A}"/>
              </a:ext>
            </a:extLst>
          </p:cNvPr>
          <p:cNvSpPr txBox="1">
            <a:spLocks noGrp="1"/>
          </p:cNvSpPr>
          <p:nvPr>
            <p:ph type="title"/>
          </p:nvPr>
        </p:nvSpPr>
        <p:spPr bwMode="auto">
          <a:xfrm>
            <a:off x="1475656" y="140954"/>
            <a:ext cx="6651217"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dirty="0">
                <a:latin typeface="Helvetica Neue"/>
              </a:rPr>
              <a:t>§</a:t>
            </a:r>
            <a:r>
              <a:rPr lang="en-US" altLang="zh-CN" sz="2800" kern="1200" dirty="0"/>
              <a:t>1.4.1.4 </a:t>
            </a:r>
            <a:r>
              <a:rPr lang="zh-CN" altLang="en-US" sz="2800" kern="1200" dirty="0"/>
              <a:t>数组索引</a:t>
            </a:r>
            <a:r>
              <a:rPr lang="en-US" altLang="zh-CN" sz="2800" kern="0" dirty="0">
                <a:solidFill>
                  <a:srgbClr val="FF0000"/>
                </a:solidFill>
              </a:rPr>
              <a:t>——</a:t>
            </a:r>
            <a:r>
              <a:rPr lang="zh-CN" altLang="en-US" sz="2800" kern="0" dirty="0">
                <a:solidFill>
                  <a:srgbClr val="FF0000"/>
                </a:solidFill>
              </a:rPr>
              <a:t>修改矩阵</a:t>
            </a:r>
            <a:r>
              <a:rPr lang="zh-CN" altLang="en-US" sz="2800" dirty="0">
                <a:solidFill>
                  <a:srgbClr val="FF0000"/>
                </a:solidFill>
              </a:rPr>
              <a:t>中元素</a:t>
            </a:r>
          </a:p>
        </p:txBody>
      </p:sp>
      <p:sp>
        <p:nvSpPr>
          <p:cNvPr id="12" name="矩形 11">
            <a:extLst>
              <a:ext uri="{FF2B5EF4-FFF2-40B4-BE49-F238E27FC236}">
                <a16:creationId xmlns:a16="http://schemas.microsoft.com/office/drawing/2014/main" id="{0EBDCEDF-248B-4DC9-99CC-9049C1580E63}"/>
              </a:ext>
            </a:extLst>
          </p:cNvPr>
          <p:cNvSpPr/>
          <p:nvPr/>
        </p:nvSpPr>
        <p:spPr>
          <a:xfrm>
            <a:off x="7805999" y="744696"/>
            <a:ext cx="1120367" cy="369332"/>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en-US" altLang="zh-CN" b="1" kern="0" dirty="0">
                <a:solidFill>
                  <a:schemeClr val="bg1"/>
                </a:solidFill>
                <a:highlight>
                  <a:srgbClr val="003B76"/>
                </a:highlight>
              </a:rPr>
              <a:t>A[k]=</a:t>
            </a:r>
            <a:r>
              <a:rPr lang="zh-CN" altLang="en-US" b="1" kern="0" dirty="0">
                <a:solidFill>
                  <a:schemeClr val="bg1"/>
                </a:solidFill>
                <a:highlight>
                  <a:srgbClr val="003B76"/>
                </a:highlight>
              </a:rPr>
              <a:t>数</a:t>
            </a:r>
          </a:p>
        </p:txBody>
      </p:sp>
      <p:sp>
        <p:nvSpPr>
          <p:cNvPr id="14" name="文本框 13">
            <a:extLst>
              <a:ext uri="{FF2B5EF4-FFF2-40B4-BE49-F238E27FC236}">
                <a16:creationId xmlns:a16="http://schemas.microsoft.com/office/drawing/2014/main" id="{B7F5BE2D-62AA-46C7-B32F-4C187301A938}"/>
              </a:ext>
            </a:extLst>
          </p:cNvPr>
          <p:cNvSpPr txBox="1"/>
          <p:nvPr/>
        </p:nvSpPr>
        <p:spPr>
          <a:xfrm>
            <a:off x="390042" y="752190"/>
            <a:ext cx="3605894" cy="369332"/>
          </a:xfrm>
          <a:prstGeom prst="rect">
            <a:avLst/>
          </a:prstGeom>
          <a:solidFill>
            <a:schemeClr val="bg1"/>
          </a:solid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修改矩阵</a:t>
            </a:r>
            <a:r>
              <a:rPr lang="en-US" altLang="zh-CN" b="1" dirty="0">
                <a:solidFill>
                  <a:srgbClr val="0070C0"/>
                </a:solidFill>
                <a:latin typeface="微软雅黑" panose="020B0503020204020204" pitchFamily="34" charset="-122"/>
                <a:ea typeface="微软雅黑" panose="020B0503020204020204" pitchFamily="34" charset="-122"/>
              </a:rPr>
              <a:t>A</a:t>
            </a:r>
            <a:r>
              <a:rPr lang="zh-CN" altLang="en-US" b="1" dirty="0">
                <a:solidFill>
                  <a:srgbClr val="0070C0"/>
                </a:solidFill>
                <a:latin typeface="微软雅黑" panose="020B0503020204020204" pitchFamily="34" charset="-122"/>
                <a:ea typeface="微软雅黑" panose="020B0503020204020204" pitchFamily="34" charset="-122"/>
              </a:rPr>
              <a:t>第</a:t>
            </a:r>
            <a:r>
              <a:rPr lang="en-US" altLang="zh-CN" b="1" dirty="0" err="1">
                <a:solidFill>
                  <a:srgbClr val="0070C0"/>
                </a:solidFill>
                <a:latin typeface="微软雅黑" panose="020B0503020204020204" pitchFamily="34" charset="-122"/>
                <a:ea typeface="微软雅黑" panose="020B0503020204020204" pitchFamily="34" charset="-122"/>
              </a:rPr>
              <a:t>i</a:t>
            </a:r>
            <a:r>
              <a:rPr lang="zh-CN" altLang="en-US" b="1" dirty="0">
                <a:solidFill>
                  <a:srgbClr val="0070C0"/>
                </a:solidFill>
                <a:latin typeface="微软雅黑" panose="020B0503020204020204" pitchFamily="34" charset="-122"/>
                <a:ea typeface="微软雅黑" panose="020B0503020204020204" pitchFamily="34" charset="-122"/>
              </a:rPr>
              <a:t>行第</a:t>
            </a:r>
            <a:r>
              <a:rPr lang="en-US" altLang="zh-CN" b="1" dirty="0">
                <a:solidFill>
                  <a:srgbClr val="0070C0"/>
                </a:solidFill>
                <a:latin typeface="微软雅黑" panose="020B0503020204020204" pitchFamily="34" charset="-122"/>
                <a:ea typeface="微软雅黑" panose="020B0503020204020204" pitchFamily="34" charset="-122"/>
              </a:rPr>
              <a:t>j</a:t>
            </a:r>
            <a:r>
              <a:rPr lang="zh-CN" altLang="en-US" b="1" dirty="0">
                <a:solidFill>
                  <a:srgbClr val="0070C0"/>
                </a:solidFill>
                <a:latin typeface="微软雅黑" panose="020B0503020204020204" pitchFamily="34" charset="-122"/>
                <a:ea typeface="微软雅黑" panose="020B0503020204020204" pitchFamily="34" charset="-122"/>
              </a:rPr>
              <a:t>列元素为新数</a:t>
            </a:r>
          </a:p>
        </p:txBody>
      </p:sp>
      <p:sp>
        <p:nvSpPr>
          <p:cNvPr id="17" name="文本框 16">
            <a:extLst>
              <a:ext uri="{FF2B5EF4-FFF2-40B4-BE49-F238E27FC236}">
                <a16:creationId xmlns:a16="http://schemas.microsoft.com/office/drawing/2014/main" id="{1AAF046E-6D1A-4C90-830F-C6F70475FCF1}"/>
              </a:ext>
            </a:extLst>
          </p:cNvPr>
          <p:cNvSpPr txBox="1"/>
          <p:nvPr/>
        </p:nvSpPr>
        <p:spPr>
          <a:xfrm>
            <a:off x="4913981" y="720587"/>
            <a:ext cx="3388638" cy="369332"/>
          </a:xfrm>
          <a:prstGeom prst="rect">
            <a:avLst/>
          </a:prstGeom>
          <a:noFill/>
        </p:spPr>
        <p:txBody>
          <a:bodyPr wrap="square">
            <a:spAutoFit/>
          </a:bodyPr>
          <a:lstStyle>
            <a:defPPr>
              <a:defRPr lang="zh-CN"/>
            </a:defPPr>
            <a:lvl1pPr>
              <a:defRPr sz="2000" b="1">
                <a:solidFill>
                  <a:srgbClr val="00B0F0"/>
                </a:solidFill>
                <a:latin typeface="微软雅黑" panose="020B0503020204020204" pitchFamily="34" charset="-122"/>
                <a:ea typeface="微软雅黑" panose="020B0503020204020204" pitchFamily="34" charset="-122"/>
              </a:defRPr>
            </a:lvl1pPr>
          </a:lstStyle>
          <a:p>
            <a:r>
              <a:rPr lang="zh-CN" altLang="en-US" sz="1800" dirty="0">
                <a:solidFill>
                  <a:srgbClr val="0070C0"/>
                </a:solidFill>
              </a:rPr>
              <a:t>修改矩阵</a:t>
            </a:r>
            <a:r>
              <a:rPr lang="en-US" altLang="zh-CN" sz="1800" dirty="0">
                <a:solidFill>
                  <a:srgbClr val="0070C0"/>
                </a:solidFill>
              </a:rPr>
              <a:t>A</a:t>
            </a:r>
            <a:r>
              <a:rPr lang="zh-CN" altLang="en-US" sz="1800" dirty="0">
                <a:solidFill>
                  <a:srgbClr val="0070C0"/>
                </a:solidFill>
              </a:rPr>
              <a:t>第</a:t>
            </a:r>
            <a:r>
              <a:rPr lang="en-US" altLang="zh-CN" sz="1800" dirty="0">
                <a:solidFill>
                  <a:srgbClr val="0070C0"/>
                </a:solidFill>
              </a:rPr>
              <a:t>k</a:t>
            </a:r>
            <a:r>
              <a:rPr lang="zh-CN" altLang="en-US" sz="1800" dirty="0">
                <a:solidFill>
                  <a:srgbClr val="0070C0"/>
                </a:solidFill>
              </a:rPr>
              <a:t>个元素为新数</a:t>
            </a:r>
          </a:p>
        </p:txBody>
      </p:sp>
      <p:sp>
        <p:nvSpPr>
          <p:cNvPr id="18" name="文本框 17">
            <a:extLst>
              <a:ext uri="{FF2B5EF4-FFF2-40B4-BE49-F238E27FC236}">
                <a16:creationId xmlns:a16="http://schemas.microsoft.com/office/drawing/2014/main" id="{C961BAA0-1CDF-40F6-935F-805235711779}"/>
              </a:ext>
            </a:extLst>
          </p:cNvPr>
          <p:cNvSpPr txBox="1"/>
          <p:nvPr/>
        </p:nvSpPr>
        <p:spPr>
          <a:xfrm>
            <a:off x="6156176" y="1103330"/>
            <a:ext cx="3058466" cy="2031325"/>
          </a:xfrm>
          <a:prstGeom prst="rect">
            <a:avLst/>
          </a:prstGeom>
          <a:noFill/>
        </p:spPr>
        <p:txBody>
          <a:bodyPr wrap="square">
            <a:spAutoFit/>
          </a:bodyPr>
          <a:lstStyle/>
          <a:p>
            <a:r>
              <a:rPr lang="zh-CN" altLang="en-US" dirty="0"/>
              <a:t>julia&gt; a[1,2]=44  </a:t>
            </a:r>
            <a:r>
              <a:rPr lang="en-US" altLang="zh-CN" dirty="0">
                <a:solidFill>
                  <a:srgbClr val="FF0000"/>
                </a:solidFill>
              </a:rPr>
              <a:t>#</a:t>
            </a:r>
            <a:r>
              <a:rPr lang="zh-CN" altLang="en-US" dirty="0">
                <a:solidFill>
                  <a:srgbClr val="FF0000"/>
                </a:solidFill>
              </a:rPr>
              <a:t>修改替换</a:t>
            </a:r>
          </a:p>
          <a:p>
            <a:r>
              <a:rPr lang="zh-CN" altLang="en-US" dirty="0">
                <a:solidFill>
                  <a:srgbClr val="00B0F0"/>
                </a:solidFill>
              </a:rPr>
              <a:t>44</a:t>
            </a:r>
          </a:p>
          <a:p>
            <a:r>
              <a:rPr lang="zh-CN" altLang="en-US" dirty="0"/>
              <a:t>julia&gt; </a:t>
            </a:r>
            <a:r>
              <a:rPr lang="zh-CN" altLang="en-US" dirty="0">
                <a:solidFill>
                  <a:srgbClr val="FF0000"/>
                </a:solidFill>
              </a:rPr>
              <a:t>a</a:t>
            </a:r>
          </a:p>
          <a:p>
            <a:r>
              <a:rPr lang="zh-CN" altLang="en-US" dirty="0">
                <a:solidFill>
                  <a:srgbClr val="00B0F0"/>
                </a:solidFill>
              </a:rPr>
              <a:t>3×3 Matrix{Int64}:</a:t>
            </a:r>
          </a:p>
          <a:p>
            <a:r>
              <a:rPr lang="zh-CN" altLang="en-US" dirty="0">
                <a:solidFill>
                  <a:srgbClr val="00B0F0"/>
                </a:solidFill>
              </a:rPr>
              <a:t> 1  </a:t>
            </a:r>
            <a:r>
              <a:rPr lang="zh-CN" altLang="en-US" b="1" dirty="0">
                <a:solidFill>
                  <a:srgbClr val="FF0000"/>
                </a:solidFill>
              </a:rPr>
              <a:t>44</a:t>
            </a:r>
            <a:r>
              <a:rPr lang="zh-CN" altLang="en-US" dirty="0">
                <a:solidFill>
                  <a:srgbClr val="00B0F0"/>
                </a:solidFill>
              </a:rPr>
              <a:t>  3</a:t>
            </a:r>
          </a:p>
          <a:p>
            <a:r>
              <a:rPr lang="zh-CN" altLang="en-US" dirty="0">
                <a:solidFill>
                  <a:srgbClr val="00B0F0"/>
                </a:solidFill>
              </a:rPr>
              <a:t> 4   5  6</a:t>
            </a:r>
          </a:p>
          <a:p>
            <a:r>
              <a:rPr lang="zh-CN" altLang="en-US" dirty="0">
                <a:solidFill>
                  <a:srgbClr val="00B0F0"/>
                </a:solidFill>
              </a:rPr>
              <a:t> 6   7  8</a:t>
            </a:r>
          </a:p>
        </p:txBody>
      </p:sp>
      <p:sp>
        <p:nvSpPr>
          <p:cNvPr id="19" name="波形 18">
            <a:extLst>
              <a:ext uri="{FF2B5EF4-FFF2-40B4-BE49-F238E27FC236}">
                <a16:creationId xmlns:a16="http://schemas.microsoft.com/office/drawing/2014/main" id="{536ED254-074B-43DC-A23E-7B87C71C1670}"/>
              </a:ext>
            </a:extLst>
          </p:cNvPr>
          <p:cNvSpPr/>
          <p:nvPr/>
        </p:nvSpPr>
        <p:spPr>
          <a:xfrm>
            <a:off x="539552" y="1244018"/>
            <a:ext cx="408687" cy="42387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pitchFamily="34" charset="-122"/>
                <a:ea typeface="微软雅黑" panose="020B0503020204020204" pitchFamily="34" charset="-122"/>
              </a:rPr>
              <a:t>例</a:t>
            </a:r>
            <a:endParaRPr lang="ko-KR" altLang="en-US" sz="2000" b="1" dirty="0">
              <a:solidFill>
                <a:srgbClr val="FFFF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5FD5B76D-9EA9-1B08-2BCA-3CEA1B7B3F86}"/>
              </a:ext>
            </a:extLst>
          </p:cNvPr>
          <p:cNvSpPr txBox="1"/>
          <p:nvPr/>
        </p:nvSpPr>
        <p:spPr>
          <a:xfrm>
            <a:off x="361155" y="1776794"/>
            <a:ext cx="2302762" cy="1200329"/>
          </a:xfrm>
          <a:prstGeom prst="rect">
            <a:avLst/>
          </a:prstGeom>
          <a:noFill/>
        </p:spPr>
        <p:txBody>
          <a:bodyPr wrap="square">
            <a:spAutoFit/>
          </a:bodyPr>
          <a:lstStyle/>
          <a:p>
            <a:r>
              <a:rPr lang="zh-CN" altLang="en-US" dirty="0">
                <a:solidFill>
                  <a:srgbClr val="00B0F0"/>
                </a:solidFill>
              </a:rPr>
              <a:t> 3×3 Matrix{Int64}:</a:t>
            </a:r>
          </a:p>
          <a:p>
            <a:r>
              <a:rPr lang="zh-CN" altLang="en-US" dirty="0">
                <a:solidFill>
                  <a:srgbClr val="00B0F0"/>
                </a:solidFill>
              </a:rPr>
              <a:t> 1  2  3</a:t>
            </a:r>
          </a:p>
          <a:p>
            <a:r>
              <a:rPr lang="zh-CN" altLang="en-US" dirty="0">
                <a:solidFill>
                  <a:srgbClr val="00B0F0"/>
                </a:solidFill>
              </a:rPr>
              <a:t> 4  5  6</a:t>
            </a:r>
          </a:p>
          <a:p>
            <a:r>
              <a:rPr lang="zh-CN" altLang="en-US" dirty="0">
                <a:solidFill>
                  <a:srgbClr val="00B0F0"/>
                </a:solidFill>
              </a:rPr>
              <a:t> 6  7  8</a:t>
            </a:r>
          </a:p>
        </p:txBody>
      </p:sp>
      <p:sp>
        <p:nvSpPr>
          <p:cNvPr id="10" name="矩形 9">
            <a:extLst>
              <a:ext uri="{FF2B5EF4-FFF2-40B4-BE49-F238E27FC236}">
                <a16:creationId xmlns:a16="http://schemas.microsoft.com/office/drawing/2014/main" id="{E15E61FA-A599-46BA-85F9-4188D4B1FD6B}"/>
              </a:ext>
            </a:extLst>
          </p:cNvPr>
          <p:cNvSpPr/>
          <p:nvPr/>
        </p:nvSpPr>
        <p:spPr>
          <a:xfrm>
            <a:off x="3650466" y="767324"/>
            <a:ext cx="1283350" cy="369332"/>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n-US" altLang="zh-CN" b="1" kern="0" dirty="0">
                <a:solidFill>
                  <a:schemeClr val="bg1"/>
                </a:solidFill>
                <a:highlight>
                  <a:srgbClr val="003B76"/>
                </a:highlight>
              </a:rPr>
              <a:t>A[</a:t>
            </a:r>
            <a:r>
              <a:rPr lang="en-US" altLang="zh-CN" b="1" kern="0" dirty="0" err="1">
                <a:solidFill>
                  <a:schemeClr val="bg1"/>
                </a:solidFill>
                <a:highlight>
                  <a:srgbClr val="003B76"/>
                </a:highlight>
              </a:rPr>
              <a:t>i,j</a:t>
            </a:r>
            <a:r>
              <a:rPr lang="en-US" altLang="zh-CN" b="1" kern="0" dirty="0">
                <a:solidFill>
                  <a:schemeClr val="bg1"/>
                </a:solidFill>
                <a:highlight>
                  <a:srgbClr val="003B76"/>
                </a:highlight>
              </a:rPr>
              <a:t>]=</a:t>
            </a:r>
            <a:r>
              <a:rPr lang="zh-CN" altLang="en-US" b="1" kern="0" dirty="0">
                <a:solidFill>
                  <a:schemeClr val="bg1"/>
                </a:solidFill>
                <a:highlight>
                  <a:srgbClr val="003B76"/>
                </a:highlight>
              </a:rPr>
              <a:t>数</a:t>
            </a:r>
            <a:endParaRPr lang="zh-CN" altLang="en-US" b="1" dirty="0">
              <a:solidFill>
                <a:schemeClr val="bg1"/>
              </a:solidFill>
              <a:highlight>
                <a:srgbClr val="003B76"/>
              </a:highlight>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07EBCC7D-A90C-41EE-ADD9-6782AA9F515E}"/>
              </a:ext>
            </a:extLst>
          </p:cNvPr>
          <p:cNvSpPr txBox="1"/>
          <p:nvPr/>
        </p:nvSpPr>
        <p:spPr>
          <a:xfrm>
            <a:off x="6956997" y="3397984"/>
            <a:ext cx="2339752" cy="1323439"/>
          </a:xfrm>
          <a:prstGeom prst="rect">
            <a:avLst/>
          </a:prstGeom>
          <a:noFill/>
        </p:spPr>
        <p:txBody>
          <a:bodyPr wrap="square">
            <a:spAutoFit/>
          </a:bodyPr>
          <a:lstStyle/>
          <a:p>
            <a:r>
              <a:rPr lang="en-US" altLang="zh-CN" sz="1600" b="1" dirty="0">
                <a:solidFill>
                  <a:srgbClr val="FF0000"/>
                </a:solidFill>
              </a:rPr>
              <a:t>#</a:t>
            </a:r>
            <a:r>
              <a:rPr lang="zh-CN" altLang="en-US" sz="1600" b="1" dirty="0">
                <a:solidFill>
                  <a:srgbClr val="FF0000"/>
                </a:solidFill>
              </a:rPr>
              <a:t>访问</a:t>
            </a:r>
            <a:r>
              <a:rPr lang="en-US" altLang="zh-CN" sz="1600" b="1" dirty="0">
                <a:solidFill>
                  <a:srgbClr val="FF0000"/>
                </a:solidFill>
              </a:rPr>
              <a:t>&gt;=7</a:t>
            </a:r>
            <a:r>
              <a:rPr lang="zh-CN" altLang="en-US" sz="1600" b="1" dirty="0">
                <a:solidFill>
                  <a:srgbClr val="FF0000"/>
                </a:solidFill>
              </a:rPr>
              <a:t>的元素</a:t>
            </a:r>
            <a:endParaRPr lang="en-US" altLang="zh-CN" sz="1600" b="1" dirty="0">
              <a:solidFill>
                <a:srgbClr val="FF0000"/>
              </a:solidFill>
            </a:endParaRPr>
          </a:p>
          <a:p>
            <a:r>
              <a:rPr lang="zh-CN" altLang="en-US" sz="1600" dirty="0">
                <a:solidFill>
                  <a:srgbClr val="00B0F0"/>
                </a:solidFill>
              </a:rPr>
              <a:t>julia&gt; a[a.&gt;=7]</a:t>
            </a:r>
          </a:p>
          <a:p>
            <a:r>
              <a:rPr lang="zh-CN" altLang="en-US" sz="1600" dirty="0">
                <a:solidFill>
                  <a:srgbClr val="00B0F0"/>
                </a:solidFill>
              </a:rPr>
              <a:t>2-element Vector{Int64}:</a:t>
            </a:r>
          </a:p>
          <a:p>
            <a:r>
              <a:rPr lang="zh-CN" altLang="en-US" sz="1600" dirty="0">
                <a:solidFill>
                  <a:srgbClr val="00B0F0"/>
                </a:solidFill>
              </a:rPr>
              <a:t> 7</a:t>
            </a:r>
          </a:p>
          <a:p>
            <a:r>
              <a:rPr lang="zh-CN" altLang="en-US" sz="1600" dirty="0">
                <a:solidFill>
                  <a:srgbClr val="00B0F0"/>
                </a:solidFill>
              </a:rPr>
              <a:t> 8</a:t>
            </a:r>
          </a:p>
        </p:txBody>
      </p:sp>
    </p:spTree>
    <p:extLst>
      <p:ext uri="{BB962C8B-B14F-4D97-AF65-F5344CB8AC3E}">
        <p14:creationId xmlns:p14="http://schemas.microsoft.com/office/powerpoint/2010/main" val="498532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871FECC-6FFE-4C3C-92AB-81144350DE07}"/>
              </a:ext>
            </a:extLst>
          </p:cNvPr>
          <p:cNvSpPr/>
          <p:nvPr/>
        </p:nvSpPr>
        <p:spPr>
          <a:xfrm>
            <a:off x="333666" y="1385768"/>
            <a:ext cx="3361565" cy="3057055"/>
          </a:xfrm>
          <a:prstGeom prst="rect">
            <a:avLst/>
          </a:prstGeom>
        </p:spPr>
        <p:txBody>
          <a:bodyPr wrap="square">
            <a:spAutoFit/>
          </a:bodyPr>
          <a:lstStyle/>
          <a:p>
            <a:pPr algn="just">
              <a:lnSpc>
                <a:spcPts val="3100"/>
              </a:lnSpc>
              <a:spcAft>
                <a:spcPts val="0"/>
              </a:spcAft>
            </a:pPr>
            <a:r>
              <a:rPr lang="en-US" altLang="zh-CN" sz="2000" b="1" kern="100" dirty="0">
                <a:solidFill>
                  <a:srgbClr val="0070C0"/>
                </a:solidFill>
                <a:latin typeface="Times New Roman" panose="02020603050405020304" pitchFamily="18" charset="0"/>
                <a:ea typeface="宋体" panose="02010600030101010101" pitchFamily="2" charset="-122"/>
              </a:rPr>
              <a:t>#Julia</a:t>
            </a:r>
            <a:r>
              <a:rPr lang="zh-CN" altLang="en-US" sz="2000" b="1" kern="100" dirty="0">
                <a:solidFill>
                  <a:srgbClr val="0070C0"/>
                </a:solidFill>
                <a:latin typeface="Times New Roman" panose="02020603050405020304" pitchFamily="18" charset="0"/>
                <a:ea typeface="宋体" panose="02010600030101010101" pitchFamily="2" charset="-122"/>
              </a:rPr>
              <a:t>语言</a:t>
            </a:r>
            <a:endParaRPr lang="en-US" altLang="zh-CN" sz="2000" b="1" kern="100" dirty="0">
              <a:solidFill>
                <a:srgbClr val="0070C0"/>
              </a:solidFill>
              <a:latin typeface="Times New Roman" panose="02020603050405020304" pitchFamily="18" charset="0"/>
              <a:ea typeface="宋体" panose="02010600030101010101" pitchFamily="2" charset="-122"/>
            </a:endParaRPr>
          </a:p>
          <a:p>
            <a:pPr algn="just">
              <a:lnSpc>
                <a:spcPts val="3400"/>
              </a:lnSpc>
              <a:spcAft>
                <a:spcPts val="0"/>
              </a:spcAft>
            </a:pPr>
            <a:r>
              <a:rPr lang="en-US" altLang="zh-CN" sz="2000" b="1" kern="100" dirty="0">
                <a:solidFill>
                  <a:srgbClr val="FF0000"/>
                </a:solidFill>
                <a:latin typeface="Times New Roman" panose="02020603050405020304" pitchFamily="18" charset="0"/>
                <a:ea typeface="宋体" panose="02010600030101010101" pitchFamily="2" charset="-122"/>
              </a:rPr>
              <a:t>w=</a:t>
            </a:r>
            <a:r>
              <a:rPr lang="en-US" altLang="zh-CN" sz="2000" b="1" kern="100" dirty="0" err="1">
                <a:solidFill>
                  <a:srgbClr val="FF0000"/>
                </a:solidFill>
                <a:latin typeface="Times New Roman" panose="02020603050405020304" pitchFamily="18" charset="0"/>
                <a:ea typeface="宋体" panose="02010600030101010101" pitchFamily="2" charset="-122"/>
              </a:rPr>
              <a:t>LinRange</a:t>
            </a:r>
            <a:r>
              <a:rPr lang="en-US" altLang="zh-CN" sz="2000" b="1" kern="100" dirty="0">
                <a:solidFill>
                  <a:srgbClr val="FF0000"/>
                </a:solidFill>
                <a:latin typeface="Times New Roman" panose="02020603050405020304" pitchFamily="18" charset="0"/>
                <a:ea typeface="宋体" panose="02010600030101010101" pitchFamily="2" charset="-122"/>
              </a:rPr>
              <a:t>(0,2pi,20)</a:t>
            </a:r>
          </a:p>
          <a:p>
            <a:pPr algn="just">
              <a:lnSpc>
                <a:spcPts val="3400"/>
              </a:lnSpc>
              <a:spcAft>
                <a:spcPts val="0"/>
              </a:spcAft>
            </a:pPr>
            <a:r>
              <a:rPr lang="en-US" altLang="zh-CN" sz="2000" b="1" kern="100" dirty="0" err="1">
                <a:latin typeface="Times New Roman" panose="02020603050405020304" pitchFamily="18" charset="0"/>
                <a:ea typeface="宋体" panose="02010600030101010101" pitchFamily="2" charset="-122"/>
              </a:rPr>
              <a:t>u,v</a:t>
            </a:r>
            <a:r>
              <a:rPr lang="en-US" altLang="zh-CN" sz="2000" b="1" kern="100" dirty="0">
                <a:latin typeface="Times New Roman" panose="02020603050405020304" pitchFamily="18" charset="0"/>
                <a:ea typeface="宋体" panose="02010600030101010101" pitchFamily="2" charset="-122"/>
              </a:rPr>
              <a:t>=meshgrid2(w);   </a:t>
            </a:r>
          </a:p>
          <a:p>
            <a:pPr algn="just">
              <a:lnSpc>
                <a:spcPts val="3400"/>
              </a:lnSpc>
              <a:spcAft>
                <a:spcPts val="0"/>
              </a:spcAft>
            </a:pPr>
            <a:r>
              <a:rPr lang="en-US" altLang="zh-CN" sz="2000" b="1" kern="100" dirty="0">
                <a:latin typeface="Times New Roman" panose="02020603050405020304" pitchFamily="18" charset="0"/>
                <a:ea typeface="宋体" panose="02010600030101010101" pitchFamily="2" charset="-122"/>
              </a:rPr>
              <a:t>x=@. (6+2cos(u))*cos(v);  </a:t>
            </a:r>
          </a:p>
          <a:p>
            <a:pPr algn="just">
              <a:lnSpc>
                <a:spcPts val="3400"/>
              </a:lnSpc>
              <a:spcAft>
                <a:spcPts val="0"/>
              </a:spcAft>
            </a:pPr>
            <a:r>
              <a:rPr lang="en-US" altLang="zh-CN" sz="2000" b="1" kern="100" dirty="0">
                <a:latin typeface="Times New Roman" panose="02020603050405020304" pitchFamily="18" charset="0"/>
                <a:ea typeface="宋体" panose="02010600030101010101" pitchFamily="2" charset="-122"/>
              </a:rPr>
              <a:t>y=@.  (6+2cos(u))*sin.(v);      </a:t>
            </a:r>
          </a:p>
          <a:p>
            <a:pPr algn="just">
              <a:lnSpc>
                <a:spcPts val="3400"/>
              </a:lnSpc>
              <a:spcAft>
                <a:spcPts val="0"/>
              </a:spcAft>
            </a:pPr>
            <a:r>
              <a:rPr lang="en-US" altLang="zh-CN" sz="2000" b="1" kern="100" dirty="0">
                <a:latin typeface="Times New Roman" panose="02020603050405020304" pitchFamily="18" charset="0"/>
                <a:ea typeface="宋体" panose="02010600030101010101" pitchFamily="2" charset="-122"/>
              </a:rPr>
              <a:t>z=@. 2sin(v);     </a:t>
            </a:r>
          </a:p>
          <a:p>
            <a:pPr algn="just">
              <a:lnSpc>
                <a:spcPts val="3400"/>
              </a:lnSpc>
              <a:spcAft>
                <a:spcPts val="0"/>
              </a:spcAft>
            </a:pPr>
            <a:r>
              <a:rPr lang="en-US" altLang="zh-CN" sz="2000" b="1" kern="100" dirty="0">
                <a:latin typeface="Times New Roman" panose="02020603050405020304" pitchFamily="18" charset="0"/>
                <a:ea typeface="宋体" panose="02010600030101010101" pitchFamily="2" charset="-122"/>
              </a:rPr>
              <a:t>surf(</a:t>
            </a:r>
            <a:r>
              <a:rPr lang="en-US" altLang="zh-CN" sz="2000" b="1" kern="100" dirty="0" err="1">
                <a:latin typeface="Times New Roman" panose="02020603050405020304" pitchFamily="18" charset="0"/>
                <a:ea typeface="宋体" panose="02010600030101010101" pitchFamily="2" charset="-122"/>
              </a:rPr>
              <a:t>x,y,z</a:t>
            </a:r>
            <a:r>
              <a:rPr lang="en-US" altLang="zh-CN" sz="2000" b="1" kern="100" dirty="0">
                <a:latin typeface="Times New Roman" panose="02020603050405020304" pitchFamily="18" charset="0"/>
                <a:ea typeface="宋体" panose="02010600030101010101" pitchFamily="2" charset="-122"/>
              </a:rPr>
              <a:t>); </a:t>
            </a:r>
          </a:p>
        </p:txBody>
      </p:sp>
      <p:sp>
        <p:nvSpPr>
          <p:cNvPr id="5" name="矩形 4">
            <a:extLst>
              <a:ext uri="{FF2B5EF4-FFF2-40B4-BE49-F238E27FC236}">
                <a16:creationId xmlns:a16="http://schemas.microsoft.com/office/drawing/2014/main" id="{5A14548A-068E-48A9-BDFB-5DC206DA033B}"/>
              </a:ext>
            </a:extLst>
          </p:cNvPr>
          <p:cNvSpPr/>
          <p:nvPr/>
        </p:nvSpPr>
        <p:spPr>
          <a:xfrm>
            <a:off x="1279277" y="740478"/>
            <a:ext cx="7864723" cy="707886"/>
          </a:xfrm>
          <a:prstGeom prst="rect">
            <a:avLst/>
          </a:prstGeom>
          <a:solidFill>
            <a:schemeClr val="bg1"/>
          </a:solidFill>
        </p:spPr>
        <p:txBody>
          <a:bodyPr wrap="square">
            <a:spAutoFit/>
          </a:bodyPr>
          <a:lstStyle/>
          <a:p>
            <a:pPr>
              <a:lnSpc>
                <a:spcPts val="2400"/>
              </a:lnSpc>
            </a:pPr>
            <a:r>
              <a:rPr lang="zh-CN" altLang="en-US" b="1" dirty="0">
                <a:solidFill>
                  <a:srgbClr val="0070C0"/>
                </a:solidFill>
                <a:latin typeface="微软雅黑" panose="020B0503020204020204" pitchFamily="34" charset="-122"/>
                <a:ea typeface="微软雅黑" panose="020B0503020204020204" pitchFamily="34" charset="-122"/>
              </a:rPr>
              <a:t>在</a:t>
            </a:r>
            <a:r>
              <a:rPr lang="en-US" altLang="zh-CN" b="1" dirty="0">
                <a:solidFill>
                  <a:srgbClr val="0070C0"/>
                </a:solidFill>
                <a:latin typeface="微软雅黑" panose="020B0503020204020204" pitchFamily="34" charset="-122"/>
                <a:ea typeface="微软雅黑" panose="020B0503020204020204" pitchFamily="34" charset="-122"/>
              </a:rPr>
              <a:t>u</a:t>
            </a:r>
            <a:r>
              <a:rPr lang="zh-CN" altLang="en-US" b="1" dirty="0">
                <a:solidFill>
                  <a:srgbClr val="0070C0"/>
                </a:solidFill>
                <a:latin typeface="微软雅黑" panose="020B0503020204020204" pitchFamily="34" charset="-122"/>
                <a:ea typeface="微软雅黑" panose="020B0503020204020204" pitchFamily="34" charset="-122"/>
              </a:rPr>
              <a:t>和</a:t>
            </a:r>
            <a:r>
              <a:rPr lang="en-US" altLang="zh-CN" b="1" dirty="0">
                <a:solidFill>
                  <a:srgbClr val="0070C0"/>
                </a:solidFill>
                <a:latin typeface="微软雅黑" panose="020B0503020204020204" pitchFamily="34" charset="-122"/>
                <a:ea typeface="微软雅黑" panose="020B0503020204020204" pitchFamily="34" charset="-122"/>
              </a:rPr>
              <a:t>v</a:t>
            </a:r>
            <a:r>
              <a:rPr lang="zh-CN" altLang="en-US" b="1" dirty="0">
                <a:solidFill>
                  <a:srgbClr val="0070C0"/>
                </a:solidFill>
                <a:latin typeface="微软雅黑" panose="020B0503020204020204" pitchFamily="34" charset="-122"/>
                <a:ea typeface="微软雅黑" panose="020B0503020204020204" pitchFamily="34" charset="-122"/>
              </a:rPr>
              <a:t>都在</a:t>
            </a:r>
            <a:r>
              <a:rPr lang="en-US" altLang="zh-CN" b="1" dirty="0">
                <a:solidFill>
                  <a:srgbClr val="0070C0"/>
                </a:solidFill>
                <a:latin typeface="微软雅黑" panose="020B0503020204020204" pitchFamily="34" charset="-122"/>
                <a:ea typeface="微软雅黑" panose="020B0503020204020204" pitchFamily="34" charset="-122"/>
              </a:rPr>
              <a:t>【0,2pi】</a:t>
            </a:r>
            <a:r>
              <a:rPr lang="zh-CN" altLang="en-US" b="1" dirty="0">
                <a:solidFill>
                  <a:srgbClr val="0070C0"/>
                </a:solidFill>
                <a:latin typeface="微软雅黑" panose="020B0503020204020204" pitchFamily="34" charset="-122"/>
                <a:ea typeface="微软雅黑" panose="020B0503020204020204" pitchFamily="34" charset="-122"/>
              </a:rPr>
              <a:t>之间，绘制圆环，其</a:t>
            </a:r>
            <a:r>
              <a:rPr lang="en-US" altLang="zh-CN" b="1" dirty="0">
                <a:solidFill>
                  <a:srgbClr val="0070C0"/>
                </a:solidFill>
                <a:latin typeface="微软雅黑" panose="020B0503020204020204" pitchFamily="34" charset="-122"/>
                <a:ea typeface="微软雅黑" panose="020B0503020204020204" pitchFamily="34" charset="-122"/>
              </a:rPr>
              <a:t>x</a:t>
            </a:r>
            <a:r>
              <a:rPr lang="zh-CN" altLang="en-US" b="1" dirty="0">
                <a:solidFill>
                  <a:srgbClr val="0070C0"/>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y</a:t>
            </a:r>
            <a:r>
              <a:rPr lang="zh-CN" altLang="en-US" b="1" dirty="0">
                <a:solidFill>
                  <a:srgbClr val="0070C0"/>
                </a:solidFill>
                <a:latin typeface="微软雅黑" panose="020B0503020204020204" pitchFamily="34" charset="-122"/>
                <a:ea typeface="微软雅黑" panose="020B0503020204020204" pitchFamily="34" charset="-122"/>
              </a:rPr>
              <a:t>和</a:t>
            </a:r>
            <a:r>
              <a:rPr lang="en-US" altLang="zh-CN" b="1" dirty="0">
                <a:solidFill>
                  <a:srgbClr val="0070C0"/>
                </a:solidFill>
                <a:latin typeface="微软雅黑" panose="020B0503020204020204" pitchFamily="34" charset="-122"/>
                <a:ea typeface="微软雅黑" panose="020B0503020204020204" pitchFamily="34" charset="-122"/>
              </a:rPr>
              <a:t>z</a:t>
            </a:r>
            <a:r>
              <a:rPr lang="zh-CN" altLang="en-US" b="1" dirty="0">
                <a:solidFill>
                  <a:srgbClr val="0070C0"/>
                </a:solidFill>
                <a:latin typeface="微软雅黑" panose="020B0503020204020204" pitchFamily="34" charset="-122"/>
                <a:ea typeface="微软雅黑" panose="020B0503020204020204" pitchFamily="34" charset="-122"/>
              </a:rPr>
              <a:t>关于</a:t>
            </a:r>
            <a:r>
              <a:rPr lang="en-US" altLang="zh-CN" b="1" dirty="0">
                <a:solidFill>
                  <a:srgbClr val="0070C0"/>
                </a:solidFill>
                <a:latin typeface="微软雅黑" panose="020B0503020204020204" pitchFamily="34" charset="-122"/>
                <a:ea typeface="微软雅黑" panose="020B0503020204020204" pitchFamily="34" charset="-122"/>
              </a:rPr>
              <a:t>u</a:t>
            </a:r>
            <a:r>
              <a:rPr lang="zh-CN" altLang="en-US" b="1" dirty="0">
                <a:solidFill>
                  <a:srgbClr val="0070C0"/>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v</a:t>
            </a:r>
            <a:r>
              <a:rPr lang="zh-CN" altLang="zh-CN" b="1" dirty="0">
                <a:solidFill>
                  <a:srgbClr val="0070C0"/>
                </a:solidFill>
                <a:latin typeface="微软雅黑" panose="020B0503020204020204" pitchFamily="34" charset="-122"/>
                <a:ea typeface="微软雅黑" panose="020B0503020204020204" pitchFamily="34" charset="-122"/>
              </a:rPr>
              <a:t>参数方程</a:t>
            </a:r>
            <a:r>
              <a:rPr lang="zh-CN" altLang="en-US" b="1" dirty="0">
                <a:solidFill>
                  <a:srgbClr val="0070C0"/>
                </a:solidFill>
                <a:latin typeface="微软雅黑" panose="020B0503020204020204" pitchFamily="34" charset="-122"/>
                <a:ea typeface="微软雅黑" panose="020B0503020204020204" pitchFamily="34" charset="-122"/>
              </a:rPr>
              <a:t>如下</a:t>
            </a:r>
            <a:r>
              <a:rPr lang="zh-CN" altLang="zh-CN" b="1" dirty="0">
                <a:solidFill>
                  <a:srgbClr val="0070C0"/>
                </a:solidFill>
                <a:latin typeface="微软雅黑" panose="020B0503020204020204" pitchFamily="34" charset="-122"/>
                <a:ea typeface="微软雅黑" panose="020B0503020204020204" pitchFamily="34" charset="-122"/>
              </a:rPr>
              <a:t>：</a:t>
            </a:r>
            <a:endParaRPr lang="zh-CN" altLang="en-US" b="1" dirty="0">
              <a:solidFill>
                <a:srgbClr val="0070C0"/>
              </a:solidFill>
              <a:latin typeface="微软雅黑" panose="020B0503020204020204" pitchFamily="34" charset="-122"/>
              <a:ea typeface="微软雅黑" panose="020B0503020204020204" pitchFamily="34" charset="-122"/>
            </a:endParaRPr>
          </a:p>
          <a:p>
            <a:pPr>
              <a:lnSpc>
                <a:spcPts val="2400"/>
              </a:lnSpc>
            </a:pPr>
            <a:r>
              <a:rPr lang="en-US" altLang="zh-CN" b="1" dirty="0">
                <a:solidFill>
                  <a:srgbClr val="0070C0"/>
                </a:solidFill>
                <a:latin typeface="微软雅黑" panose="020B0503020204020204" pitchFamily="34" charset="-122"/>
                <a:ea typeface="微软雅黑" panose="020B0503020204020204" pitchFamily="34" charset="-122"/>
              </a:rPr>
              <a:t>x=(6+2cos(u))*cos(v),  y=(6+2cos(u))*sin(v),   z=2sin(v)</a:t>
            </a:r>
          </a:p>
        </p:txBody>
      </p:sp>
      <p:pic>
        <p:nvPicPr>
          <p:cNvPr id="3" name="图片 2">
            <a:extLst>
              <a:ext uri="{FF2B5EF4-FFF2-40B4-BE49-F238E27FC236}">
                <a16:creationId xmlns:a16="http://schemas.microsoft.com/office/drawing/2014/main" id="{241256B2-AE2A-48BD-B5B2-A32771273AE7}"/>
              </a:ext>
            </a:extLst>
          </p:cNvPr>
          <p:cNvPicPr>
            <a:picLocks noChangeAspect="1"/>
          </p:cNvPicPr>
          <p:nvPr/>
        </p:nvPicPr>
        <p:blipFill rotWithShape="1">
          <a:blip r:embed="rId3"/>
          <a:srcRect l="24800" t="9401" r="33463" b="26200"/>
          <a:stretch/>
        </p:blipFill>
        <p:spPr>
          <a:xfrm>
            <a:off x="6300192" y="1645785"/>
            <a:ext cx="2391627" cy="2075752"/>
          </a:xfrm>
          <a:prstGeom prst="rect">
            <a:avLst/>
          </a:prstGeom>
          <a:ln>
            <a:solidFill>
              <a:schemeClr val="bg1">
                <a:lumMod val="50000"/>
              </a:schemeClr>
            </a:solidFill>
          </a:ln>
        </p:spPr>
      </p:pic>
      <p:pic>
        <p:nvPicPr>
          <p:cNvPr id="11" name="图片 10">
            <a:extLst>
              <a:ext uri="{FF2B5EF4-FFF2-40B4-BE49-F238E27FC236}">
                <a16:creationId xmlns:a16="http://schemas.microsoft.com/office/drawing/2014/main" id="{DDF5B76D-74F6-49FF-835C-9AF71F5D0623}"/>
              </a:ext>
            </a:extLst>
          </p:cNvPr>
          <p:cNvPicPr>
            <a:picLocks noChangeAspect="1"/>
          </p:cNvPicPr>
          <p:nvPr/>
        </p:nvPicPr>
        <p:blipFill rotWithShape="1">
          <a:blip r:embed="rId4"/>
          <a:srcRect l="28749" t="4200" r="27940" b="31800"/>
          <a:stretch/>
        </p:blipFill>
        <p:spPr>
          <a:xfrm>
            <a:off x="3333800" y="1696683"/>
            <a:ext cx="2476399" cy="2036771"/>
          </a:xfrm>
          <a:prstGeom prst="rect">
            <a:avLst/>
          </a:prstGeom>
          <a:ln>
            <a:solidFill>
              <a:schemeClr val="bg1">
                <a:lumMod val="50000"/>
              </a:schemeClr>
            </a:solidFill>
          </a:ln>
        </p:spPr>
      </p:pic>
      <p:sp>
        <p:nvSpPr>
          <p:cNvPr id="12" name="标题 1">
            <a:extLst>
              <a:ext uri="{FF2B5EF4-FFF2-40B4-BE49-F238E27FC236}">
                <a16:creationId xmlns:a16="http://schemas.microsoft.com/office/drawing/2014/main" id="{0C146939-9F2A-4E55-9D08-810E7052986F}"/>
              </a:ext>
            </a:extLst>
          </p:cNvPr>
          <p:cNvSpPr txBox="1">
            <a:spLocks/>
          </p:cNvSpPr>
          <p:nvPr/>
        </p:nvSpPr>
        <p:spPr bwMode="auto">
          <a:xfrm>
            <a:off x="556827" y="111525"/>
            <a:ext cx="7560840"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kern="0" dirty="0">
                <a:latin typeface="Helvetica Neue"/>
              </a:rPr>
            </a:br>
            <a:r>
              <a:rPr lang="en-US" altLang="zh-CN" kern="0" dirty="0">
                <a:latin typeface="Helvetica Neue"/>
              </a:rPr>
              <a:t>§</a:t>
            </a:r>
            <a:r>
              <a:rPr lang="en-US" altLang="zh-CN" sz="2800" dirty="0"/>
              <a:t>1.4.1.1  </a:t>
            </a:r>
            <a:r>
              <a:rPr lang="zh-CN" altLang="en-US" sz="2800" dirty="0"/>
              <a:t>创建一维</a:t>
            </a:r>
            <a:r>
              <a:rPr lang="zh-CN" altLang="en-US" sz="2800" dirty="0">
                <a:latin typeface="Helvetica Neue"/>
              </a:rPr>
              <a:t>向量</a:t>
            </a:r>
            <a:r>
              <a:rPr lang="en-US" altLang="zh-CN" sz="2800" dirty="0">
                <a:solidFill>
                  <a:srgbClr val="FF0000"/>
                </a:solidFill>
              </a:rPr>
              <a:t>——4. </a:t>
            </a:r>
            <a:r>
              <a:rPr lang="zh-CN" altLang="en-US" sz="2800" dirty="0">
                <a:solidFill>
                  <a:srgbClr val="FF0000"/>
                </a:solidFill>
              </a:rPr>
              <a:t>创建</a:t>
            </a:r>
            <a:r>
              <a:rPr lang="zh-CN" altLang="en-US" sz="2800" b="0" i="0" dirty="0">
                <a:solidFill>
                  <a:srgbClr val="FF0000"/>
                </a:solidFill>
                <a:effectLst/>
                <a:latin typeface="-apple-system"/>
              </a:rPr>
              <a:t>线性</a:t>
            </a:r>
            <a:r>
              <a:rPr lang="zh-CN" altLang="en-US" sz="2800" dirty="0">
                <a:solidFill>
                  <a:srgbClr val="FF0000"/>
                </a:solidFill>
                <a:latin typeface="-apple-system"/>
              </a:rPr>
              <a:t>等分向量案例</a:t>
            </a:r>
            <a:endParaRPr lang="zh-CN" altLang="en-US" sz="2800" kern="0" dirty="0">
              <a:solidFill>
                <a:srgbClr val="FF0000"/>
              </a:solidFill>
            </a:endParaRPr>
          </a:p>
        </p:txBody>
      </p:sp>
      <p:sp>
        <p:nvSpPr>
          <p:cNvPr id="10" name="波形 9">
            <a:extLst>
              <a:ext uri="{FF2B5EF4-FFF2-40B4-BE49-F238E27FC236}">
                <a16:creationId xmlns:a16="http://schemas.microsoft.com/office/drawing/2014/main" id="{071C58DC-061F-439A-A4B2-8E9B74AE4136}"/>
              </a:ext>
            </a:extLst>
          </p:cNvPr>
          <p:cNvSpPr/>
          <p:nvPr/>
        </p:nvSpPr>
        <p:spPr>
          <a:xfrm>
            <a:off x="403089" y="764666"/>
            <a:ext cx="876188"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例141-2</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AF875F38-5CE5-4B1C-9728-2011E30DEEEC}"/>
              </a:ext>
            </a:extLst>
          </p:cNvPr>
          <p:cNvSpPr txBox="1"/>
          <p:nvPr/>
        </p:nvSpPr>
        <p:spPr>
          <a:xfrm>
            <a:off x="4292369" y="4056099"/>
            <a:ext cx="4592198" cy="378117"/>
          </a:xfrm>
          <a:prstGeom prst="rect">
            <a:avLst/>
          </a:prstGeom>
          <a:noFill/>
        </p:spPr>
        <p:txBody>
          <a:bodyPr wrap="square">
            <a:spAutoFit/>
          </a:bodyPr>
          <a:lstStyle/>
          <a:p>
            <a:pPr algn="dist">
              <a:lnSpc>
                <a:spcPts val="2400"/>
              </a:lnSpc>
            </a:pPr>
            <a:r>
              <a:rPr lang="zh-CN" altLang="en-US" sz="1800" b="1" dirty="0">
                <a:solidFill>
                  <a:srgbClr val="0070C0"/>
                </a:solidFill>
                <a:latin typeface="微软雅黑" panose="020B0503020204020204" pitchFamily="34" charset="-122"/>
                <a:ea typeface="微软雅黑" panose="020B0503020204020204" pitchFamily="34" charset="-122"/>
              </a:rPr>
              <a:t>请同学用冒号法</a:t>
            </a:r>
            <a:r>
              <a:rPr lang="en-US" altLang="zh-CN" sz="1800" b="1" dirty="0">
                <a:solidFill>
                  <a:srgbClr val="0070C0"/>
                </a:solidFill>
                <a:latin typeface="微软雅黑" panose="020B0503020204020204" pitchFamily="34" charset="-122"/>
                <a:ea typeface="微软雅黑" panose="020B0503020204020204" pitchFamily="34" charset="-122"/>
              </a:rPr>
              <a:t>w=0:h:2pi</a:t>
            </a:r>
            <a:r>
              <a:rPr lang="zh-CN" altLang="en-US" sz="1800" b="1" dirty="0">
                <a:solidFill>
                  <a:srgbClr val="0070C0"/>
                </a:solidFill>
                <a:latin typeface="微软雅黑" panose="020B0503020204020204" pitchFamily="34" charset="-122"/>
                <a:ea typeface="微软雅黑" panose="020B0503020204020204" pitchFamily="34" charset="-122"/>
              </a:rPr>
              <a:t>绘制封闭的环</a:t>
            </a:r>
            <a:endParaRPr lang="en-US" altLang="zh-CN" sz="1800" b="1" dirty="0">
              <a:solidFill>
                <a:srgbClr val="0070C0"/>
              </a:solidFill>
              <a:latin typeface="微软雅黑" panose="020B0503020204020204" pitchFamily="34" charset="-122"/>
              <a:ea typeface="微软雅黑" panose="020B0503020204020204" pitchFamily="34" charset="-122"/>
            </a:endParaRPr>
          </a:p>
        </p:txBody>
      </p:sp>
      <p:sp>
        <p:nvSpPr>
          <p:cNvPr id="14" name="波形 13">
            <a:extLst>
              <a:ext uri="{FF2B5EF4-FFF2-40B4-BE49-F238E27FC236}">
                <a16:creationId xmlns:a16="http://schemas.microsoft.com/office/drawing/2014/main" id="{0D83D63B-50F9-4763-A6DE-EE00FE4B39E1}"/>
              </a:ext>
            </a:extLst>
          </p:cNvPr>
          <p:cNvSpPr/>
          <p:nvPr/>
        </p:nvSpPr>
        <p:spPr>
          <a:xfrm>
            <a:off x="3297070" y="4056099"/>
            <a:ext cx="1008112"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课堂练习</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56751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3524C54-2D52-42A1-A0A3-F68F3320DBD3}"/>
              </a:ext>
            </a:extLst>
          </p:cNvPr>
          <p:cNvSpPr/>
          <p:nvPr/>
        </p:nvSpPr>
        <p:spPr>
          <a:xfrm>
            <a:off x="255913" y="1266054"/>
            <a:ext cx="3361565" cy="3331938"/>
          </a:xfrm>
          <a:prstGeom prst="rect">
            <a:avLst/>
          </a:prstGeom>
        </p:spPr>
        <p:txBody>
          <a:bodyPr wrap="square">
            <a:spAutoFit/>
          </a:bodyPr>
          <a:lstStyle/>
          <a:p>
            <a:pPr algn="just">
              <a:lnSpc>
                <a:spcPct val="200000"/>
              </a:lnSpc>
              <a:spcAft>
                <a:spcPts val="0"/>
              </a:spcAft>
            </a:pPr>
            <a:r>
              <a:rPr lang="en-US" altLang="zh-CN" b="1" kern="100" dirty="0">
                <a:solidFill>
                  <a:srgbClr val="FFFF00"/>
                </a:solidFill>
                <a:highlight>
                  <a:srgbClr val="FF0000"/>
                </a:highlight>
                <a:latin typeface="Times New Roman" panose="02020603050405020304" pitchFamily="18" charset="0"/>
                <a:ea typeface="宋体" panose="02010600030101010101" pitchFamily="2" charset="-122"/>
              </a:rPr>
              <a:t>w=0:h:2*pi; </a:t>
            </a:r>
          </a:p>
          <a:p>
            <a:pPr algn="just">
              <a:lnSpc>
                <a:spcPct val="200000"/>
              </a:lnSpc>
              <a:spcAft>
                <a:spcPts val="0"/>
              </a:spcAft>
            </a:pPr>
            <a:r>
              <a:rPr lang="en-US" altLang="zh-CN" b="1" kern="100" dirty="0" err="1">
                <a:latin typeface="Times New Roman" panose="02020603050405020304" pitchFamily="18" charset="0"/>
                <a:ea typeface="宋体" panose="02010600030101010101" pitchFamily="2" charset="-122"/>
              </a:rPr>
              <a:t>u,v</a:t>
            </a:r>
            <a:r>
              <a:rPr lang="en-US" altLang="zh-CN" b="1" kern="100" dirty="0">
                <a:latin typeface="Times New Roman" panose="02020603050405020304" pitchFamily="18" charset="0"/>
                <a:ea typeface="宋体" panose="02010600030101010101" pitchFamily="2" charset="-122"/>
              </a:rPr>
              <a:t>=meshgrid2(w);   </a:t>
            </a:r>
          </a:p>
          <a:p>
            <a:pPr algn="just">
              <a:lnSpc>
                <a:spcPct val="200000"/>
              </a:lnSpc>
              <a:spcAft>
                <a:spcPts val="0"/>
              </a:spcAft>
            </a:pPr>
            <a:r>
              <a:rPr lang="en-US" altLang="zh-CN" b="1" kern="100" dirty="0">
                <a:latin typeface="Times New Roman" panose="02020603050405020304" pitchFamily="18" charset="0"/>
                <a:ea typeface="宋体" panose="02010600030101010101" pitchFamily="2" charset="-122"/>
              </a:rPr>
              <a:t>x=@. (6+2cos(u))*cos(v);  </a:t>
            </a:r>
          </a:p>
          <a:p>
            <a:pPr algn="just">
              <a:lnSpc>
                <a:spcPct val="200000"/>
              </a:lnSpc>
              <a:spcAft>
                <a:spcPts val="0"/>
              </a:spcAft>
            </a:pPr>
            <a:r>
              <a:rPr lang="en-US" altLang="zh-CN" b="1" kern="100" dirty="0">
                <a:latin typeface="Times New Roman" panose="02020603050405020304" pitchFamily="18" charset="0"/>
                <a:ea typeface="宋体" panose="02010600030101010101" pitchFamily="2" charset="-122"/>
              </a:rPr>
              <a:t>y=@.  (6+2cos(u))*sin.(v);      </a:t>
            </a:r>
          </a:p>
          <a:p>
            <a:pPr algn="just">
              <a:lnSpc>
                <a:spcPct val="200000"/>
              </a:lnSpc>
              <a:spcAft>
                <a:spcPts val="0"/>
              </a:spcAft>
            </a:pPr>
            <a:r>
              <a:rPr lang="en-US" altLang="zh-CN" b="1" kern="100" dirty="0">
                <a:latin typeface="Times New Roman" panose="02020603050405020304" pitchFamily="18" charset="0"/>
                <a:ea typeface="宋体" panose="02010600030101010101" pitchFamily="2" charset="-122"/>
              </a:rPr>
              <a:t>z=@. 2sin(v);     </a:t>
            </a:r>
          </a:p>
          <a:p>
            <a:pPr algn="just">
              <a:lnSpc>
                <a:spcPct val="200000"/>
              </a:lnSpc>
              <a:spcAft>
                <a:spcPts val="0"/>
              </a:spcAft>
            </a:pPr>
            <a:r>
              <a:rPr lang="en-US" altLang="zh-CN" b="1" kern="100" dirty="0">
                <a:latin typeface="Times New Roman" panose="02020603050405020304" pitchFamily="18" charset="0"/>
                <a:ea typeface="宋体" panose="02010600030101010101" pitchFamily="2" charset="-122"/>
              </a:rPr>
              <a:t>surf(</a:t>
            </a:r>
            <a:r>
              <a:rPr lang="en-US" altLang="zh-CN" b="1" kern="100" dirty="0" err="1">
                <a:latin typeface="Times New Roman" panose="02020603050405020304" pitchFamily="18" charset="0"/>
                <a:ea typeface="宋体" panose="02010600030101010101" pitchFamily="2" charset="-122"/>
              </a:rPr>
              <a:t>x,y,z</a:t>
            </a:r>
            <a:r>
              <a:rPr lang="en-US" altLang="zh-CN" b="1" kern="100" dirty="0">
                <a:latin typeface="Times New Roman" panose="02020603050405020304" pitchFamily="18" charset="0"/>
                <a:ea typeface="宋体" panose="02010600030101010101" pitchFamily="2" charset="-122"/>
              </a:rPr>
              <a:t>); </a:t>
            </a:r>
          </a:p>
        </p:txBody>
      </p:sp>
      <p:sp>
        <p:nvSpPr>
          <p:cNvPr id="8" name="标题 1">
            <a:extLst>
              <a:ext uri="{FF2B5EF4-FFF2-40B4-BE49-F238E27FC236}">
                <a16:creationId xmlns:a16="http://schemas.microsoft.com/office/drawing/2014/main" id="{C04253E5-92D7-4EB3-A5F3-EF8479CD322C}"/>
              </a:ext>
            </a:extLst>
          </p:cNvPr>
          <p:cNvSpPr txBox="1">
            <a:spLocks noGrp="1"/>
          </p:cNvSpPr>
          <p:nvPr>
            <p:ph type="title"/>
          </p:nvPr>
        </p:nvSpPr>
        <p:spPr bwMode="auto">
          <a:xfrm>
            <a:off x="1475656" y="140954"/>
            <a:ext cx="6651217"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dirty="0">
                <a:latin typeface="Helvetica Neue"/>
              </a:rPr>
              <a:t>§</a:t>
            </a:r>
            <a:r>
              <a:rPr lang="en-US" altLang="zh-CN" sz="2800" kern="1200" dirty="0"/>
              <a:t>1.4.1.4 </a:t>
            </a:r>
            <a:r>
              <a:rPr lang="zh-CN" altLang="en-US" sz="2800" kern="1200" dirty="0"/>
              <a:t>数组索引</a:t>
            </a:r>
            <a:r>
              <a:rPr lang="en-US" altLang="zh-CN" sz="2800" kern="0" dirty="0">
                <a:solidFill>
                  <a:srgbClr val="FF0000"/>
                </a:solidFill>
              </a:rPr>
              <a:t>——</a:t>
            </a:r>
            <a:r>
              <a:rPr lang="zh-CN" altLang="en-US" sz="2800" kern="0" dirty="0">
                <a:solidFill>
                  <a:srgbClr val="FF0000"/>
                </a:solidFill>
              </a:rPr>
              <a:t>课堂练习</a:t>
            </a:r>
            <a:endParaRPr lang="zh-CN" altLang="en-US" sz="2800" dirty="0">
              <a:solidFill>
                <a:srgbClr val="FF0000"/>
              </a:solidFill>
            </a:endParaRPr>
          </a:p>
        </p:txBody>
      </p:sp>
      <p:sp>
        <p:nvSpPr>
          <p:cNvPr id="9" name="波形 8">
            <a:extLst>
              <a:ext uri="{FF2B5EF4-FFF2-40B4-BE49-F238E27FC236}">
                <a16:creationId xmlns:a16="http://schemas.microsoft.com/office/drawing/2014/main" id="{D2A5E667-7B65-411C-98BC-6A4AC0A690F1}"/>
              </a:ext>
            </a:extLst>
          </p:cNvPr>
          <p:cNvSpPr/>
          <p:nvPr/>
        </p:nvSpPr>
        <p:spPr>
          <a:xfrm>
            <a:off x="331127" y="727557"/>
            <a:ext cx="1149935" cy="43815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课堂练习</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59A62660-0BC6-4C5A-A0AC-7159AB345100}"/>
              </a:ext>
            </a:extLst>
          </p:cNvPr>
          <p:cNvSpPr/>
          <p:nvPr/>
        </p:nvSpPr>
        <p:spPr>
          <a:xfrm>
            <a:off x="1556275" y="710862"/>
            <a:ext cx="7552229" cy="685893"/>
          </a:xfrm>
          <a:prstGeom prst="rect">
            <a:avLst/>
          </a:prstGeom>
          <a:solidFill>
            <a:schemeClr val="bg1"/>
          </a:solidFill>
        </p:spPr>
        <p:txBody>
          <a:bodyPr wrap="square">
            <a:spAutoFit/>
          </a:bodyPr>
          <a:lstStyle/>
          <a:p>
            <a:pPr>
              <a:lnSpc>
                <a:spcPts val="2400"/>
              </a:lnSpc>
            </a:pPr>
            <a:r>
              <a:rPr lang="zh-CN" altLang="en-US" sz="1600" b="1" dirty="0">
                <a:solidFill>
                  <a:srgbClr val="0070C0"/>
                </a:solidFill>
                <a:latin typeface="微软雅黑" panose="020B0503020204020204" pitchFamily="34" charset="-122"/>
                <a:ea typeface="微软雅黑" panose="020B0503020204020204" pitchFamily="34" charset="-122"/>
              </a:rPr>
              <a:t>在</a:t>
            </a:r>
            <a:r>
              <a:rPr lang="en-US" altLang="zh-CN" sz="1600" b="1" dirty="0">
                <a:solidFill>
                  <a:srgbClr val="0070C0"/>
                </a:solidFill>
                <a:latin typeface="微软雅黑" panose="020B0503020204020204" pitchFamily="34" charset="-122"/>
                <a:ea typeface="微软雅黑" panose="020B0503020204020204" pitchFamily="34" charset="-122"/>
              </a:rPr>
              <a:t>u</a:t>
            </a:r>
            <a:r>
              <a:rPr lang="zh-CN" altLang="en-US" sz="1600" b="1" dirty="0">
                <a:solidFill>
                  <a:srgbClr val="0070C0"/>
                </a:solidFill>
                <a:latin typeface="微软雅黑" panose="020B0503020204020204" pitchFamily="34" charset="-122"/>
                <a:ea typeface="微软雅黑" panose="020B0503020204020204" pitchFamily="34" charset="-122"/>
              </a:rPr>
              <a:t>和</a:t>
            </a:r>
            <a:r>
              <a:rPr lang="en-US" altLang="zh-CN" sz="1600" b="1" dirty="0">
                <a:solidFill>
                  <a:srgbClr val="0070C0"/>
                </a:solidFill>
                <a:latin typeface="微软雅黑" panose="020B0503020204020204" pitchFamily="34" charset="-122"/>
                <a:ea typeface="微软雅黑" panose="020B0503020204020204" pitchFamily="34" charset="-122"/>
              </a:rPr>
              <a:t>v</a:t>
            </a:r>
            <a:r>
              <a:rPr lang="zh-CN" altLang="en-US" sz="1600" b="1" dirty="0">
                <a:solidFill>
                  <a:srgbClr val="0070C0"/>
                </a:solidFill>
                <a:latin typeface="微软雅黑" panose="020B0503020204020204" pitchFamily="34" charset="-122"/>
                <a:ea typeface="微软雅黑" panose="020B0503020204020204" pitchFamily="34" charset="-122"/>
              </a:rPr>
              <a:t>都在</a:t>
            </a:r>
            <a:r>
              <a:rPr lang="en-US" altLang="zh-CN" sz="1600" b="1" dirty="0">
                <a:solidFill>
                  <a:srgbClr val="0070C0"/>
                </a:solidFill>
                <a:latin typeface="微软雅黑" panose="020B0503020204020204" pitchFamily="34" charset="-122"/>
                <a:ea typeface="微软雅黑" panose="020B0503020204020204" pitchFamily="34" charset="-122"/>
              </a:rPr>
              <a:t>【0,2pi】</a:t>
            </a:r>
            <a:r>
              <a:rPr lang="zh-CN" altLang="en-US" sz="1600" b="1" dirty="0">
                <a:solidFill>
                  <a:srgbClr val="0070C0"/>
                </a:solidFill>
                <a:latin typeface="微软雅黑" panose="020B0503020204020204" pitchFamily="34" charset="-122"/>
                <a:ea typeface="微软雅黑" panose="020B0503020204020204" pitchFamily="34" charset="-122"/>
              </a:rPr>
              <a:t>之间，绘制封闭圆环，其</a:t>
            </a:r>
            <a:r>
              <a:rPr lang="en-US" altLang="zh-CN" sz="1600" b="1" dirty="0">
                <a:solidFill>
                  <a:srgbClr val="0070C0"/>
                </a:solidFill>
                <a:latin typeface="微软雅黑" panose="020B0503020204020204" pitchFamily="34" charset="-122"/>
                <a:ea typeface="微软雅黑" panose="020B0503020204020204" pitchFamily="34" charset="-122"/>
              </a:rPr>
              <a:t>x</a:t>
            </a:r>
            <a:r>
              <a:rPr lang="zh-CN" altLang="en-US" sz="1600" b="1" dirty="0">
                <a:solidFill>
                  <a:srgbClr val="0070C0"/>
                </a:solidFill>
                <a:latin typeface="微软雅黑" panose="020B0503020204020204" pitchFamily="34" charset="-122"/>
                <a:ea typeface="微软雅黑" panose="020B0503020204020204" pitchFamily="34" charset="-122"/>
              </a:rPr>
              <a:t>、</a:t>
            </a:r>
            <a:r>
              <a:rPr lang="en-US" altLang="zh-CN" sz="1600" b="1" dirty="0">
                <a:solidFill>
                  <a:srgbClr val="0070C0"/>
                </a:solidFill>
                <a:latin typeface="微软雅黑" panose="020B0503020204020204" pitchFamily="34" charset="-122"/>
                <a:ea typeface="微软雅黑" panose="020B0503020204020204" pitchFamily="34" charset="-122"/>
              </a:rPr>
              <a:t>y</a:t>
            </a:r>
            <a:r>
              <a:rPr lang="zh-CN" altLang="en-US" sz="1600" b="1" dirty="0">
                <a:solidFill>
                  <a:srgbClr val="0070C0"/>
                </a:solidFill>
                <a:latin typeface="微软雅黑" panose="020B0503020204020204" pitchFamily="34" charset="-122"/>
                <a:ea typeface="微软雅黑" panose="020B0503020204020204" pitchFamily="34" charset="-122"/>
              </a:rPr>
              <a:t>和</a:t>
            </a:r>
            <a:r>
              <a:rPr lang="en-US" altLang="zh-CN" sz="1600" b="1" dirty="0">
                <a:solidFill>
                  <a:srgbClr val="0070C0"/>
                </a:solidFill>
                <a:latin typeface="微软雅黑" panose="020B0503020204020204" pitchFamily="34" charset="-122"/>
                <a:ea typeface="微软雅黑" panose="020B0503020204020204" pitchFamily="34" charset="-122"/>
              </a:rPr>
              <a:t>z</a:t>
            </a:r>
            <a:r>
              <a:rPr lang="zh-CN" altLang="en-US" sz="1600" b="1" dirty="0">
                <a:solidFill>
                  <a:srgbClr val="0070C0"/>
                </a:solidFill>
                <a:latin typeface="微软雅黑" panose="020B0503020204020204" pitchFamily="34" charset="-122"/>
                <a:ea typeface="微软雅黑" panose="020B0503020204020204" pitchFamily="34" charset="-122"/>
              </a:rPr>
              <a:t>关于</a:t>
            </a:r>
            <a:r>
              <a:rPr lang="en-US" altLang="zh-CN" sz="1600" b="1" dirty="0">
                <a:solidFill>
                  <a:srgbClr val="0070C0"/>
                </a:solidFill>
                <a:latin typeface="微软雅黑" panose="020B0503020204020204" pitchFamily="34" charset="-122"/>
                <a:ea typeface="微软雅黑" panose="020B0503020204020204" pitchFamily="34" charset="-122"/>
              </a:rPr>
              <a:t>u</a:t>
            </a:r>
            <a:r>
              <a:rPr lang="zh-CN" altLang="en-US" sz="1600" b="1" dirty="0">
                <a:solidFill>
                  <a:srgbClr val="0070C0"/>
                </a:solidFill>
                <a:latin typeface="微软雅黑" panose="020B0503020204020204" pitchFamily="34" charset="-122"/>
                <a:ea typeface="微软雅黑" panose="020B0503020204020204" pitchFamily="34" charset="-122"/>
              </a:rPr>
              <a:t>，</a:t>
            </a:r>
            <a:r>
              <a:rPr lang="en-US" altLang="zh-CN" sz="1600" b="1" dirty="0">
                <a:solidFill>
                  <a:srgbClr val="0070C0"/>
                </a:solidFill>
                <a:latin typeface="微软雅黑" panose="020B0503020204020204" pitchFamily="34" charset="-122"/>
                <a:ea typeface="微软雅黑" panose="020B0503020204020204" pitchFamily="34" charset="-122"/>
              </a:rPr>
              <a:t>v</a:t>
            </a:r>
            <a:r>
              <a:rPr lang="zh-CN" altLang="zh-CN" sz="1600" b="1" dirty="0">
                <a:solidFill>
                  <a:srgbClr val="0070C0"/>
                </a:solidFill>
                <a:latin typeface="微软雅黑" panose="020B0503020204020204" pitchFamily="34" charset="-122"/>
                <a:ea typeface="微软雅黑" panose="020B0503020204020204" pitchFamily="34" charset="-122"/>
              </a:rPr>
              <a:t>参数方程</a:t>
            </a:r>
            <a:r>
              <a:rPr lang="zh-CN" altLang="en-US" sz="1600" b="1" dirty="0">
                <a:solidFill>
                  <a:srgbClr val="0070C0"/>
                </a:solidFill>
                <a:latin typeface="微软雅黑" panose="020B0503020204020204" pitchFamily="34" charset="-122"/>
                <a:ea typeface="微软雅黑" panose="020B0503020204020204" pitchFamily="34" charset="-122"/>
              </a:rPr>
              <a:t>如下</a:t>
            </a:r>
            <a:r>
              <a:rPr lang="zh-CN" altLang="zh-CN" sz="1600" b="1" dirty="0">
                <a:solidFill>
                  <a:srgbClr val="0070C0"/>
                </a:solidFill>
                <a:latin typeface="微软雅黑" panose="020B0503020204020204" pitchFamily="34" charset="-122"/>
                <a:ea typeface="微软雅黑" panose="020B0503020204020204" pitchFamily="34" charset="-122"/>
              </a:rPr>
              <a:t>：</a:t>
            </a:r>
            <a:r>
              <a:rPr lang="en-US" altLang="zh-CN" sz="1600" b="1" dirty="0">
                <a:solidFill>
                  <a:srgbClr val="0070C0"/>
                </a:solidFill>
                <a:latin typeface="微软雅黑" panose="020B0503020204020204" pitchFamily="34" charset="-122"/>
                <a:ea typeface="微软雅黑" panose="020B0503020204020204" pitchFamily="34" charset="-122"/>
              </a:rPr>
              <a:t>x=(6+2cos(u))*cos(v),  y=(6+2cos(u))*sin(v),   z=2sin(v)</a:t>
            </a:r>
          </a:p>
        </p:txBody>
      </p:sp>
      <p:sp>
        <p:nvSpPr>
          <p:cNvPr id="13" name="AutoShape 13">
            <a:extLst>
              <a:ext uri="{FF2B5EF4-FFF2-40B4-BE49-F238E27FC236}">
                <a16:creationId xmlns:a16="http://schemas.microsoft.com/office/drawing/2014/main" id="{091E61D0-AC80-4EBB-A823-2F9293F910A3}"/>
              </a:ext>
            </a:extLst>
          </p:cNvPr>
          <p:cNvSpPr>
            <a:spLocks noChangeArrowheads="1"/>
          </p:cNvSpPr>
          <p:nvPr/>
        </p:nvSpPr>
        <p:spPr bwMode="auto">
          <a:xfrm>
            <a:off x="2790193" y="1457154"/>
            <a:ext cx="943249" cy="540709"/>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 注</a:t>
            </a:r>
            <a:endParaRPr lang="en-US" altLang="zh-CN" sz="1400" b="1" kern="0" dirty="0">
              <a:solidFill>
                <a:srgbClr val="FFFF00"/>
              </a:solidFill>
              <a:ea typeface="黑体" panose="02010609060101010101" pitchFamily="49" charset="-122"/>
            </a:endParaRPr>
          </a:p>
          <a:p>
            <a:r>
              <a:rPr lang="zh-CN" altLang="en-US" sz="1400" b="1" kern="0" dirty="0">
                <a:solidFill>
                  <a:srgbClr val="FFFF00"/>
                </a:solidFill>
                <a:ea typeface="黑体" panose="02010609060101010101" pitchFamily="49" charset="-122"/>
              </a:rPr>
              <a:t>意</a:t>
            </a:r>
            <a:endParaRPr lang="en-US" altLang="zh-CN" sz="1400" b="1" kern="0" dirty="0">
              <a:solidFill>
                <a:srgbClr val="FFFF00"/>
              </a:solidFill>
              <a:ea typeface="黑体" panose="02010609060101010101" pitchFamily="49" charset="-122"/>
            </a:endParaRPr>
          </a:p>
        </p:txBody>
      </p:sp>
      <p:sp>
        <p:nvSpPr>
          <p:cNvPr id="14" name="文本框 13">
            <a:extLst>
              <a:ext uri="{FF2B5EF4-FFF2-40B4-BE49-F238E27FC236}">
                <a16:creationId xmlns:a16="http://schemas.microsoft.com/office/drawing/2014/main" id="{677FB784-EF52-467F-A5DE-CF5D7F14D593}"/>
              </a:ext>
            </a:extLst>
          </p:cNvPr>
          <p:cNvSpPr txBox="1"/>
          <p:nvPr/>
        </p:nvSpPr>
        <p:spPr>
          <a:xfrm>
            <a:off x="2959752" y="2406244"/>
            <a:ext cx="6112596" cy="696088"/>
          </a:xfrm>
          <a:prstGeom prst="rect">
            <a:avLst/>
          </a:prstGeom>
          <a:noFill/>
        </p:spPr>
        <p:txBody>
          <a:bodyPr wrap="square">
            <a:spAutoFit/>
          </a:bodyPr>
          <a:lstStyle/>
          <a:p>
            <a:pPr marL="342900" indent="-342900">
              <a:lnSpc>
                <a:spcPts val="2500"/>
              </a:lnSpc>
              <a:buFont typeface="+mj-ea"/>
              <a:buAutoNum type="circleNumDbPlain"/>
            </a:pPr>
            <a:r>
              <a:rPr lang="en-US" altLang="zh-CN" sz="1400" b="1" kern="0" dirty="0">
                <a:solidFill>
                  <a:srgbClr val="0070C0"/>
                </a:solidFill>
                <a:latin typeface="微软雅黑" panose="020B0503020204020204" pitchFamily="34" charset="-122"/>
                <a:ea typeface="微软雅黑" panose="020B0503020204020204" pitchFamily="34" charset="-122"/>
              </a:rPr>
              <a:t>linRange</a:t>
            </a:r>
            <a:r>
              <a:rPr lang="zh-CN" altLang="en-US" sz="1400" b="1" kern="0" dirty="0">
                <a:solidFill>
                  <a:srgbClr val="0070C0"/>
                </a:solidFill>
                <a:latin typeface="微软雅黑" panose="020B0503020204020204" pitchFamily="34" charset="-122"/>
                <a:ea typeface="微软雅黑" panose="020B0503020204020204" pitchFamily="34" charset="-122"/>
              </a:rPr>
              <a:t>创建线性向量最后元素必等于终止值</a:t>
            </a:r>
            <a:r>
              <a:rPr lang="en-US" altLang="zh-CN" sz="1400" b="1" kern="0" dirty="0">
                <a:solidFill>
                  <a:srgbClr val="0070C0"/>
                </a:solidFill>
                <a:latin typeface="微软雅黑" panose="020B0503020204020204" pitchFamily="34" charset="-122"/>
                <a:ea typeface="微软雅黑" panose="020B0503020204020204" pitchFamily="34" charset="-122"/>
              </a:rPr>
              <a:t>x2</a:t>
            </a:r>
          </a:p>
          <a:p>
            <a:pPr marL="342900" indent="-342900">
              <a:lnSpc>
                <a:spcPts val="2500"/>
              </a:lnSpc>
              <a:buFont typeface="+mj-ea"/>
              <a:buAutoNum type="circleNumDbPlain"/>
            </a:pPr>
            <a:r>
              <a:rPr lang="zh-CN" altLang="en-US" sz="1400" b="1" kern="0" dirty="0">
                <a:solidFill>
                  <a:srgbClr val="0070C0"/>
                </a:solidFill>
                <a:latin typeface="微软雅黑" panose="020B0503020204020204" pitchFamily="34" charset="-122"/>
                <a:ea typeface="微软雅黑" panose="020B0503020204020204" pitchFamily="34" charset="-122"/>
              </a:rPr>
              <a:t>冒号法创建向量，只有被等分为整数份时，最后元素才能为终止值</a:t>
            </a:r>
            <a:r>
              <a:rPr lang="en-US" altLang="zh-CN" sz="1400" b="1" kern="0" dirty="0">
                <a:solidFill>
                  <a:srgbClr val="0070C0"/>
                </a:solidFill>
                <a:latin typeface="微软雅黑" panose="020B0503020204020204" pitchFamily="34" charset="-122"/>
                <a:ea typeface="微软雅黑" panose="020B0503020204020204" pitchFamily="34" charset="-122"/>
              </a:rPr>
              <a:t>x2</a:t>
            </a:r>
            <a:endParaRPr lang="zh-CN" altLang="en-US" sz="1400" b="1" kern="0" dirty="0">
              <a:solidFill>
                <a:srgbClr val="0070C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5640ACA2-F8D0-4481-A348-FA2542681E1E}"/>
              </a:ext>
            </a:extLst>
          </p:cNvPr>
          <p:cNvSpPr txBox="1"/>
          <p:nvPr/>
        </p:nvSpPr>
        <p:spPr>
          <a:xfrm>
            <a:off x="6079722" y="1952553"/>
            <a:ext cx="29567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600" b="1">
                <a:solidFill>
                  <a:srgbClr val="00B0F0"/>
                </a:solidFill>
                <a:latin typeface="微软雅黑" panose="020B0503020204020204" pitchFamily="34" charset="-122"/>
                <a:ea typeface="微软雅黑" panose="020B0503020204020204" pitchFamily="34" charset="-122"/>
              </a:defRPr>
            </a:lvl1pPr>
          </a:lstStyle>
          <a:p>
            <a:r>
              <a:rPr lang="zh-CN" altLang="en-US" dirty="0"/>
              <a:t>元素个数</a:t>
            </a:r>
            <a:r>
              <a:rPr lang="en-US" altLang="zh-CN" dirty="0"/>
              <a:t>n=</a:t>
            </a:r>
            <a:r>
              <a:rPr lang="zh-CN" altLang="en-US" dirty="0"/>
              <a:t>（</a:t>
            </a:r>
            <a:r>
              <a:rPr lang="en-US" altLang="zh-CN" dirty="0"/>
              <a:t>x2-x1</a:t>
            </a:r>
            <a:r>
              <a:rPr lang="zh-CN" altLang="en-US" dirty="0"/>
              <a:t>）</a:t>
            </a:r>
            <a:r>
              <a:rPr lang="en-US" altLang="zh-CN" dirty="0"/>
              <a:t>/h+1</a:t>
            </a:r>
            <a:endParaRPr lang="zh-CN" altLang="en-US" dirty="0"/>
          </a:p>
        </p:txBody>
      </p:sp>
      <p:sp>
        <p:nvSpPr>
          <p:cNvPr id="16" name="矩形 15">
            <a:extLst>
              <a:ext uri="{FF2B5EF4-FFF2-40B4-BE49-F238E27FC236}">
                <a16:creationId xmlns:a16="http://schemas.microsoft.com/office/drawing/2014/main" id="{0D1EF478-F97F-4910-B773-70B17C5FA515}"/>
              </a:ext>
            </a:extLst>
          </p:cNvPr>
          <p:cNvSpPr/>
          <p:nvPr/>
        </p:nvSpPr>
        <p:spPr>
          <a:xfrm>
            <a:off x="3772263" y="1440488"/>
            <a:ext cx="1303793"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x=x1 </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h</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 x2</a:t>
            </a:r>
            <a:r>
              <a:rPr lang="zh-CN" altLang="en-US" b="1" dirty="0">
                <a:solidFill>
                  <a:schemeClr val="bg1"/>
                </a:solidFill>
                <a:latin typeface="Times New Roman" panose="02020603050405020304" pitchFamily="18" charset="0"/>
                <a:cs typeface="Times New Roman" panose="02020603050405020304" pitchFamily="18" charset="0"/>
              </a:rPr>
              <a:t>   </a:t>
            </a:r>
          </a:p>
        </p:txBody>
      </p:sp>
      <p:sp>
        <p:nvSpPr>
          <p:cNvPr id="19" name="矩形 18">
            <a:extLst>
              <a:ext uri="{FF2B5EF4-FFF2-40B4-BE49-F238E27FC236}">
                <a16:creationId xmlns:a16="http://schemas.microsoft.com/office/drawing/2014/main" id="{3E8A6F00-6EB9-40FB-9B8E-8BCE6C42F266}"/>
              </a:ext>
            </a:extLst>
          </p:cNvPr>
          <p:cNvSpPr/>
          <p:nvPr/>
        </p:nvSpPr>
        <p:spPr>
          <a:xfrm>
            <a:off x="3772263" y="1940152"/>
            <a:ext cx="2279943"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a:t>
            </a:r>
            <a:r>
              <a:rPr lang="zh-CN" altLang="zh-CN" b="1" dirty="0">
                <a:solidFill>
                  <a:schemeClr val="bg1"/>
                </a:solidFill>
                <a:latin typeface="Times New Roman" panose="02020603050405020304" pitchFamily="18" charset="0"/>
                <a:cs typeface="Times New Roman" panose="02020603050405020304" pitchFamily="18" charset="0"/>
              </a:rPr>
              <a:t>= LinRange(</a:t>
            </a:r>
            <a:r>
              <a:rPr lang="en-US" altLang="zh-CN" b="1" dirty="0">
                <a:solidFill>
                  <a:schemeClr val="bg1"/>
                </a:solidFill>
                <a:latin typeface="Times New Roman" panose="02020603050405020304" pitchFamily="18" charset="0"/>
                <a:cs typeface="Times New Roman" panose="02020603050405020304" pitchFamily="18" charset="0"/>
              </a:rPr>
              <a:t>x1</a:t>
            </a:r>
            <a:r>
              <a:rPr lang="zh-CN" altLang="zh-CN"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x2</a:t>
            </a:r>
            <a:r>
              <a:rPr lang="zh-CN" altLang="zh-CN" b="1" dirty="0">
                <a:solidFill>
                  <a:schemeClr val="bg1"/>
                </a:solidFill>
                <a:latin typeface="Times New Roman" panose="02020603050405020304" pitchFamily="18" charset="0"/>
                <a:cs typeface="Times New Roman" panose="02020603050405020304" pitchFamily="18" charset="0"/>
              </a:rPr>
              <a:t>,n)</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D0154241-D366-42C6-BD9A-0C58DFE60367}"/>
              </a:ext>
            </a:extLst>
          </p:cNvPr>
          <p:cNvSpPr/>
          <p:nvPr/>
        </p:nvSpPr>
        <p:spPr>
          <a:xfrm>
            <a:off x="5114877" y="1445931"/>
            <a:ext cx="29096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sym typeface="+mn-lt"/>
              </a:rPr>
              <a:t>x1</a:t>
            </a:r>
            <a:r>
              <a:rPr lang="zh-CN" altLang="en-US" sz="1600" b="1" dirty="0">
                <a:solidFill>
                  <a:srgbClr val="00B0F0"/>
                </a:solidFill>
                <a:latin typeface="微软雅黑" panose="020B0503020204020204" pitchFamily="34" charset="-122"/>
                <a:ea typeface="微软雅黑" panose="020B0503020204020204" pitchFamily="34" charset="-122"/>
                <a:sym typeface="+mn-lt"/>
              </a:rPr>
              <a:t>起始值</a:t>
            </a:r>
            <a:r>
              <a:rPr lang="en-US" altLang="zh-CN" sz="1600" b="1" dirty="0">
                <a:solidFill>
                  <a:srgbClr val="00B0F0"/>
                </a:solidFill>
                <a:latin typeface="微软雅黑" panose="020B0503020204020204" pitchFamily="34" charset="-122"/>
                <a:ea typeface="微软雅黑" panose="020B0503020204020204" pitchFamily="34" charset="-122"/>
                <a:sym typeface="+mn-lt"/>
              </a:rPr>
              <a:t>,x2</a:t>
            </a:r>
            <a:r>
              <a:rPr lang="zh-CN" altLang="en-US" sz="1600" b="1" dirty="0">
                <a:solidFill>
                  <a:srgbClr val="00B0F0"/>
                </a:solidFill>
                <a:latin typeface="微软雅黑" panose="020B0503020204020204" pitchFamily="34" charset="-122"/>
                <a:ea typeface="微软雅黑" panose="020B0503020204020204" pitchFamily="34" charset="-122"/>
                <a:sym typeface="+mn-lt"/>
              </a:rPr>
              <a:t>终止值</a:t>
            </a:r>
            <a:r>
              <a:rPr lang="en-US" altLang="zh-CN" sz="1600" b="1" dirty="0">
                <a:solidFill>
                  <a:srgbClr val="00B0F0"/>
                </a:solidFill>
                <a:latin typeface="微软雅黑" panose="020B0503020204020204" pitchFamily="34" charset="-122"/>
                <a:ea typeface="微软雅黑" panose="020B0503020204020204" pitchFamily="34" charset="-122"/>
                <a:sym typeface="+mn-lt"/>
              </a:rPr>
              <a:t>,,</a:t>
            </a:r>
            <a:r>
              <a:rPr lang="zh-CN" altLang="en-US" sz="1600" b="1" dirty="0">
                <a:solidFill>
                  <a:srgbClr val="00B0F0"/>
                </a:solidFill>
                <a:latin typeface="微软雅黑" panose="020B0503020204020204" pitchFamily="34" charset="-122"/>
                <a:ea typeface="微软雅黑" panose="020B0503020204020204" pitchFamily="34" charset="-122"/>
                <a:sym typeface="+mn-lt"/>
              </a:rPr>
              <a:t>步长</a:t>
            </a:r>
            <a:r>
              <a:rPr lang="en-US" altLang="zh-CN" sz="1600" b="1" dirty="0">
                <a:solidFill>
                  <a:srgbClr val="00B0F0"/>
                </a:solidFill>
                <a:latin typeface="微软雅黑" panose="020B0503020204020204" pitchFamily="34" charset="-122"/>
                <a:ea typeface="微软雅黑" panose="020B0503020204020204" pitchFamily="34" charset="-122"/>
                <a:sym typeface="+mn-lt"/>
              </a:rPr>
              <a:t>h</a:t>
            </a:r>
            <a:endParaRPr lang="zh-CN" altLang="en-US" sz="1600" b="1" dirty="0">
              <a:solidFill>
                <a:srgbClr val="00B0F0"/>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B0D9B2EC-DB8B-4C83-98BB-FDA0BA8FF31F}"/>
              </a:ext>
            </a:extLst>
          </p:cNvPr>
          <p:cNvSpPr txBox="1"/>
          <p:nvPr/>
        </p:nvSpPr>
        <p:spPr>
          <a:xfrm>
            <a:off x="2895320" y="3560545"/>
            <a:ext cx="6241461" cy="881780"/>
          </a:xfrm>
          <a:prstGeom prst="rect">
            <a:avLst/>
          </a:prstGeom>
          <a:noFill/>
        </p:spPr>
        <p:txBody>
          <a:bodyPr wrap="square">
            <a:spAutoFit/>
          </a:bodyPr>
          <a:lstStyle/>
          <a:p>
            <a:pPr marL="342900" indent="-342900">
              <a:lnSpc>
                <a:spcPts val="33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用位置索引访问最后一个元素</a:t>
            </a:r>
            <a:r>
              <a:rPr lang="en-US" altLang="zh-CN" sz="1600" dirty="0">
                <a:solidFill>
                  <a:srgbClr val="0070C0"/>
                </a:solidFill>
                <a:latin typeface="微软雅黑" panose="020B0503020204020204" pitchFamily="34" charset="-122"/>
                <a:ea typeface="微软雅黑" panose="020B0503020204020204" pitchFamily="34" charset="-122"/>
              </a:rPr>
              <a:t>we=w[end]</a:t>
            </a:r>
            <a:r>
              <a:rPr lang="zh-CN" altLang="en-US" sz="1600" dirty="0">
                <a:solidFill>
                  <a:srgbClr val="0070C0"/>
                </a:solidFill>
                <a:latin typeface="微软雅黑" panose="020B0503020204020204" pitchFamily="34" charset="-122"/>
                <a:ea typeface="微软雅黑" panose="020B0503020204020204" pitchFamily="34" charset="-122"/>
              </a:rPr>
              <a:t>，判断是否等于</a:t>
            </a:r>
            <a:r>
              <a:rPr lang="en-US" altLang="zh-CN" sz="1600" dirty="0">
                <a:solidFill>
                  <a:srgbClr val="0070C0"/>
                </a:solidFill>
                <a:latin typeface="微软雅黑" panose="020B0503020204020204" pitchFamily="34" charset="-122"/>
                <a:ea typeface="微软雅黑" panose="020B0503020204020204" pitchFamily="34" charset="-122"/>
              </a:rPr>
              <a:t>2pi</a:t>
            </a:r>
            <a:r>
              <a:rPr lang="zh-CN" altLang="en-US" sz="1600" dirty="0">
                <a:solidFill>
                  <a:srgbClr val="0070C0"/>
                </a:solidFill>
                <a:latin typeface="微软雅黑" panose="020B0503020204020204" pitchFamily="34" charset="-122"/>
                <a:ea typeface="微软雅黑" panose="020B0503020204020204" pitchFamily="34" charset="-122"/>
              </a:rPr>
              <a:t>？</a:t>
            </a:r>
            <a:endParaRPr lang="en-US" altLang="zh-CN" sz="1600" dirty="0">
              <a:solidFill>
                <a:srgbClr val="0070C0"/>
              </a:solidFill>
              <a:latin typeface="微软雅黑" panose="020B0503020204020204" pitchFamily="34" charset="-122"/>
              <a:ea typeface="微软雅黑" panose="020B0503020204020204" pitchFamily="34" charset="-122"/>
            </a:endParaRPr>
          </a:p>
          <a:p>
            <a:pPr marL="342900" indent="-342900">
              <a:lnSpc>
                <a:spcPts val="33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采用逻辑索引</a:t>
            </a:r>
            <a:r>
              <a:rPr lang="en-US" altLang="zh-CN" sz="1600" dirty="0">
                <a:solidFill>
                  <a:srgbClr val="0070C0"/>
                </a:solidFill>
                <a:latin typeface="微软雅黑" panose="020B0503020204020204" pitchFamily="34" charset="-122"/>
                <a:ea typeface="微软雅黑" panose="020B0503020204020204" pitchFamily="34" charset="-122"/>
              </a:rPr>
              <a:t>w[end]==2pi</a:t>
            </a:r>
            <a:r>
              <a:rPr lang="zh-CN" altLang="en-US" sz="1600" dirty="0">
                <a:solidFill>
                  <a:srgbClr val="0070C0"/>
                </a:solidFill>
                <a:latin typeface="微软雅黑" panose="020B0503020204020204" pitchFamily="34" charset="-122"/>
                <a:ea typeface="微软雅黑" panose="020B0503020204020204" pitchFamily="34" charset="-122"/>
              </a:rPr>
              <a:t>判断最后元素是否等于</a:t>
            </a:r>
            <a:r>
              <a:rPr lang="en-US" altLang="zh-CN" sz="1600" dirty="0">
                <a:solidFill>
                  <a:srgbClr val="0070C0"/>
                </a:solidFill>
                <a:latin typeface="微软雅黑" panose="020B0503020204020204" pitchFamily="34" charset="-122"/>
                <a:ea typeface="微软雅黑" panose="020B0503020204020204" pitchFamily="34" charset="-122"/>
              </a:rPr>
              <a:t>2pi</a:t>
            </a:r>
            <a:r>
              <a:rPr lang="zh-CN" altLang="en-US" sz="1600" dirty="0">
                <a:solidFill>
                  <a:srgbClr val="0070C0"/>
                </a:solidFill>
                <a:latin typeface="微软雅黑" panose="020B0503020204020204" pitchFamily="34" charset="-122"/>
                <a:ea typeface="微软雅黑" panose="020B0503020204020204" pitchFamily="34" charset="-122"/>
              </a:rPr>
              <a:t>？</a:t>
            </a:r>
            <a:endParaRPr lang="en-US" altLang="zh-CN" sz="1600" dirty="0">
              <a:solidFill>
                <a:srgbClr val="0070C0"/>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37526E4A-59E3-43FD-8005-21DC8F38D65A}"/>
              </a:ext>
            </a:extLst>
          </p:cNvPr>
          <p:cNvSpPr txBox="1"/>
          <p:nvPr/>
        </p:nvSpPr>
        <p:spPr>
          <a:xfrm>
            <a:off x="2905183" y="3190712"/>
            <a:ext cx="6238817" cy="378117"/>
          </a:xfrm>
          <a:prstGeom prst="rect">
            <a:avLst/>
          </a:prstGeom>
          <a:noFill/>
        </p:spPr>
        <p:txBody>
          <a:bodyPr wrap="square">
            <a:spAutoFit/>
          </a:bodyPr>
          <a:lstStyle/>
          <a:p>
            <a:pPr>
              <a:lnSpc>
                <a:spcPts val="2400"/>
              </a:lnSpc>
            </a:pPr>
            <a:r>
              <a:rPr lang="zh-CN" altLang="en-US" b="1" dirty="0">
                <a:solidFill>
                  <a:srgbClr val="FF0000"/>
                </a:solidFill>
                <a:latin typeface="微软雅黑" panose="020B0503020204020204" pitchFamily="34" charset="-122"/>
                <a:ea typeface="微软雅黑" panose="020B0503020204020204" pitchFamily="34" charset="-122"/>
              </a:rPr>
              <a:t>用冒号法</a:t>
            </a:r>
            <a:r>
              <a:rPr lang="en-US" altLang="zh-CN" b="1" dirty="0">
                <a:solidFill>
                  <a:srgbClr val="FF0000"/>
                </a:solidFill>
                <a:latin typeface="微软雅黑" panose="020B0503020204020204" pitchFamily="34" charset="-122"/>
                <a:ea typeface="微软雅黑" panose="020B0503020204020204" pitchFamily="34" charset="-122"/>
              </a:rPr>
              <a:t>w=0:h:2pi</a:t>
            </a:r>
            <a:r>
              <a:rPr lang="zh-CN" altLang="en-US" b="1" dirty="0">
                <a:solidFill>
                  <a:srgbClr val="FF0000"/>
                </a:solidFill>
                <a:latin typeface="微软雅黑" panose="020B0503020204020204" pitchFamily="34" charset="-122"/>
                <a:ea typeface="微软雅黑" panose="020B0503020204020204" pitchFamily="34" charset="-122"/>
              </a:rPr>
              <a:t>绘制封闭的环</a:t>
            </a:r>
            <a:r>
              <a:rPr lang="en-US" altLang="zh-CN" b="1" dirty="0">
                <a:solidFill>
                  <a:srgbClr val="FF0000"/>
                </a:solidFill>
                <a:latin typeface="微软雅黑" panose="020B0503020204020204" pitchFamily="34" charset="-122"/>
                <a:ea typeface="微软雅黑" panose="020B0503020204020204" pitchFamily="34" charset="-122"/>
              </a:rPr>
              <a:t>,</a:t>
            </a:r>
            <a:r>
              <a:rPr lang="zh-CN" altLang="en-US" b="1" dirty="0">
                <a:solidFill>
                  <a:srgbClr val="FF0000"/>
                </a:solidFill>
                <a:latin typeface="微软雅黑" panose="020B0503020204020204" pitchFamily="34" charset="-122"/>
                <a:ea typeface="微软雅黑" panose="020B0503020204020204" pitchFamily="34" charset="-122"/>
              </a:rPr>
              <a:t>取步长</a:t>
            </a:r>
            <a:r>
              <a:rPr lang="en-US" altLang="zh-CN" b="1" dirty="0">
                <a:solidFill>
                  <a:srgbClr val="FF0000"/>
                </a:solidFill>
                <a:latin typeface="微软雅黑" panose="020B0503020204020204" pitchFamily="34" charset="-122"/>
                <a:ea typeface="微软雅黑" panose="020B0503020204020204" pitchFamily="34" charset="-122"/>
              </a:rPr>
              <a:t>h</a:t>
            </a:r>
            <a:r>
              <a:rPr lang="zh-CN" altLang="en-US" b="1" dirty="0">
                <a:solidFill>
                  <a:srgbClr val="FF0000"/>
                </a:solidFill>
                <a:latin typeface="微软雅黑" panose="020B0503020204020204" pitchFamily="34" charset="-122"/>
                <a:ea typeface="微软雅黑" panose="020B0503020204020204" pitchFamily="34" charset="-122"/>
              </a:rPr>
              <a:t>多大时，才封闭</a:t>
            </a:r>
            <a:endParaRPr lang="en-US" altLang="zh-CN"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860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16" grpId="0" animBg="1"/>
      <p:bldP spid="19" grpId="0" animBg="1"/>
      <p:bldP spid="20"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FD2722-2E7C-4F13-81AF-B9C57BC63388}"/>
              </a:ext>
            </a:extLst>
          </p:cNvPr>
          <p:cNvSpPr>
            <a:spLocks noGrp="1"/>
          </p:cNvSpPr>
          <p:nvPr>
            <p:ph type="title"/>
          </p:nvPr>
        </p:nvSpPr>
        <p:spPr>
          <a:xfrm>
            <a:off x="773249" y="699542"/>
            <a:ext cx="7716836" cy="477697"/>
          </a:xfrm>
        </p:spPr>
        <p:txBody>
          <a:bodyPr/>
          <a:lstStyle/>
          <a:p>
            <a:pPr>
              <a:lnSpc>
                <a:spcPct val="100000"/>
              </a:lnSpc>
            </a:pPr>
            <a:br>
              <a:rPr lang="en-US" altLang="zh-CN" dirty="0"/>
            </a:br>
            <a:br>
              <a:rPr lang="en-US" altLang="zh-CN" dirty="0"/>
            </a:br>
            <a:br>
              <a:rPr lang="en-US" altLang="zh-CN" dirty="0"/>
            </a:br>
            <a:br>
              <a:rPr lang="en-US" altLang="zh-CN" dirty="0"/>
            </a:br>
            <a:br>
              <a:rPr lang="en-US" altLang="zh-CN" dirty="0"/>
            </a:br>
            <a:br>
              <a:rPr lang="en-US" altLang="zh-CN" dirty="0"/>
            </a:br>
            <a:endParaRPr lang="zh-CN" altLang="en-US" dirty="0"/>
          </a:p>
        </p:txBody>
      </p:sp>
      <p:sp>
        <p:nvSpPr>
          <p:cNvPr id="7" name="文本框 6">
            <a:extLst>
              <a:ext uri="{FF2B5EF4-FFF2-40B4-BE49-F238E27FC236}">
                <a16:creationId xmlns:a16="http://schemas.microsoft.com/office/drawing/2014/main" id="{B519F355-1773-4B94-A6A9-394B2303F5DB}"/>
              </a:ext>
            </a:extLst>
          </p:cNvPr>
          <p:cNvSpPr txBox="1"/>
          <p:nvPr/>
        </p:nvSpPr>
        <p:spPr>
          <a:xfrm>
            <a:off x="179512" y="771545"/>
            <a:ext cx="8964488" cy="3816429"/>
          </a:xfrm>
          <a:prstGeom prst="rect">
            <a:avLst/>
          </a:prstGeom>
          <a:solidFill>
            <a:schemeClr val="bg1"/>
          </a:solidFill>
          <a:ln>
            <a:solidFill>
              <a:schemeClr val="bg1">
                <a:lumMod val="85000"/>
              </a:schemeClr>
            </a:solidFill>
          </a:ln>
        </p:spPr>
        <p:txBody>
          <a:bodyPr wrap="square">
            <a:spAutoFit/>
          </a:bodyPr>
          <a:lstStyle/>
          <a:p>
            <a:r>
              <a:rPr lang="zh-CN" altLang="en-US" sz="2200" dirty="0">
                <a:latin typeface="华文楷体" panose="02010600040101010101" pitchFamily="2" charset="-122"/>
                <a:ea typeface="华文楷体" panose="02010600040101010101" pitchFamily="2" charset="-122"/>
              </a:rPr>
              <a:t>函数	          描述</a:t>
            </a:r>
          </a:p>
          <a:p>
            <a:r>
              <a:rPr lang="en-US" altLang="zh-CN" sz="2200" b="1" dirty="0" err="1">
                <a:solidFill>
                  <a:srgbClr val="3399FF"/>
                </a:solidFill>
                <a:latin typeface="华文楷体" panose="02010600040101010101" pitchFamily="2" charset="-122"/>
                <a:ea typeface="华文楷体" panose="02010600040101010101" pitchFamily="2" charset="-122"/>
              </a:rPr>
              <a:t>eltype</a:t>
            </a:r>
            <a:r>
              <a:rPr lang="en-US" altLang="zh-CN" sz="2200" b="1" dirty="0">
                <a:solidFill>
                  <a:srgbClr val="3399FF"/>
                </a:solidFill>
                <a:latin typeface="华文楷体" panose="02010600040101010101" pitchFamily="2" charset="-122"/>
                <a:ea typeface="华文楷体" panose="02010600040101010101" pitchFamily="2" charset="-122"/>
              </a:rPr>
              <a:t>(A)</a:t>
            </a:r>
            <a:r>
              <a:rPr lang="en-US" altLang="zh-CN" sz="2200" b="1" dirty="0">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A</a:t>
            </a:r>
            <a:r>
              <a:rPr lang="zh-CN" altLang="en-US" sz="2200" dirty="0">
                <a:effectLst/>
                <a:latin typeface="华文楷体" panose="02010600040101010101" pitchFamily="2" charset="-122"/>
                <a:ea typeface="华文楷体" panose="02010600040101010101" pitchFamily="2" charset="-122"/>
              </a:rPr>
              <a:t>数组元素类型</a:t>
            </a:r>
            <a:endParaRPr lang="zh-CN" altLang="en-US" sz="2200" dirty="0">
              <a:latin typeface="华文楷体" panose="02010600040101010101" pitchFamily="2" charset="-122"/>
              <a:ea typeface="华文楷体" panose="02010600040101010101" pitchFamily="2" charset="-122"/>
            </a:endParaRPr>
          </a:p>
          <a:p>
            <a:r>
              <a:rPr lang="en-US" altLang="zh-CN" sz="2200" b="1" dirty="0">
                <a:solidFill>
                  <a:srgbClr val="3399FF"/>
                </a:solidFill>
                <a:latin typeface="华文楷体" panose="02010600040101010101" pitchFamily="2" charset="-122"/>
                <a:ea typeface="华文楷体" panose="02010600040101010101" pitchFamily="2" charset="-122"/>
              </a:rPr>
              <a:t>length(A)</a:t>
            </a:r>
            <a:r>
              <a:rPr lang="en-US" altLang="zh-CN" sz="2200" b="1" dirty="0">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A</a:t>
            </a:r>
            <a:r>
              <a:rPr lang="zh-CN" altLang="en-US" sz="2200" dirty="0">
                <a:effectLst/>
                <a:latin typeface="华文楷体" panose="02010600040101010101" pitchFamily="2" charset="-122"/>
                <a:ea typeface="华文楷体" panose="02010600040101010101" pitchFamily="2" charset="-122"/>
              </a:rPr>
              <a:t>数组</a:t>
            </a:r>
            <a:r>
              <a:rPr lang="zh-CN" altLang="en-US" sz="2200" dirty="0">
                <a:latin typeface="华文楷体" panose="02010600040101010101" pitchFamily="2" charset="-122"/>
                <a:ea typeface="华文楷体" panose="02010600040101010101" pitchFamily="2" charset="-122"/>
              </a:rPr>
              <a:t>元素数量（</a:t>
            </a:r>
            <a:r>
              <a:rPr lang="zh-CN" altLang="en-US" sz="2200" dirty="0">
                <a:effectLst/>
                <a:latin typeface="华文楷体" panose="02010600040101010101" pitchFamily="2" charset="-122"/>
                <a:ea typeface="华文楷体" panose="02010600040101010101" pitchFamily="2" charset="-122"/>
              </a:rPr>
              <a:t>数组长度</a:t>
            </a:r>
            <a:r>
              <a:rPr lang="zh-CN" altLang="en-US" sz="2200" dirty="0">
                <a:latin typeface="华文楷体" panose="02010600040101010101" pitchFamily="2" charset="-122"/>
                <a:ea typeface="华文楷体" panose="02010600040101010101" pitchFamily="2" charset="-122"/>
              </a:rPr>
              <a:t>）</a:t>
            </a:r>
          </a:p>
          <a:p>
            <a:r>
              <a:rPr lang="en-US" altLang="zh-CN" sz="2200" b="1" dirty="0" err="1">
                <a:solidFill>
                  <a:srgbClr val="3399FF"/>
                </a:solidFill>
                <a:latin typeface="华文楷体" panose="02010600040101010101" pitchFamily="2" charset="-122"/>
                <a:ea typeface="华文楷体" panose="02010600040101010101" pitchFamily="2" charset="-122"/>
              </a:rPr>
              <a:t>ndims</a:t>
            </a:r>
            <a:r>
              <a:rPr lang="en-US" altLang="zh-CN" sz="2200" b="1" dirty="0">
                <a:solidFill>
                  <a:srgbClr val="3399FF"/>
                </a:solidFill>
                <a:latin typeface="华文楷体" panose="02010600040101010101" pitchFamily="2" charset="-122"/>
                <a:ea typeface="华文楷体" panose="02010600040101010101" pitchFamily="2" charset="-122"/>
              </a:rPr>
              <a:t>(A)</a:t>
            </a:r>
            <a:r>
              <a:rPr lang="en-US" altLang="zh-CN" sz="2200" b="1" dirty="0">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A</a:t>
            </a:r>
            <a:r>
              <a:rPr lang="zh-CN" altLang="en-US" sz="2200" dirty="0">
                <a:effectLst/>
                <a:latin typeface="华文楷体" panose="02010600040101010101" pitchFamily="2" charset="-122"/>
                <a:ea typeface="华文楷体" panose="02010600040101010101" pitchFamily="2" charset="-122"/>
              </a:rPr>
              <a:t>数组</a:t>
            </a:r>
            <a:r>
              <a:rPr lang="zh-CN" altLang="en-US" sz="2200" dirty="0">
                <a:latin typeface="华文楷体" panose="02010600040101010101" pitchFamily="2" charset="-122"/>
                <a:ea typeface="华文楷体" panose="02010600040101010101" pitchFamily="2" charset="-122"/>
              </a:rPr>
              <a:t>维数</a:t>
            </a:r>
          </a:p>
          <a:p>
            <a:r>
              <a:rPr lang="en-US" altLang="zh-CN" sz="2200" b="1" dirty="0">
                <a:solidFill>
                  <a:srgbClr val="3399FF"/>
                </a:solidFill>
                <a:latin typeface="华文楷体" panose="02010600040101010101" pitchFamily="2" charset="-122"/>
                <a:ea typeface="华文楷体" panose="02010600040101010101" pitchFamily="2" charset="-122"/>
              </a:rPr>
              <a:t>size(A)</a:t>
            </a:r>
            <a:r>
              <a:rPr lang="en-US" altLang="zh-CN" sz="2200" b="1" dirty="0">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          A</a:t>
            </a:r>
            <a:r>
              <a:rPr lang="zh-CN" altLang="en-US" sz="2200" dirty="0">
                <a:effectLst/>
                <a:latin typeface="华文楷体" panose="02010600040101010101" pitchFamily="2" charset="-122"/>
                <a:ea typeface="华文楷体" panose="02010600040101010101" pitchFamily="2" charset="-122"/>
              </a:rPr>
              <a:t>数组各个维度的数量</a:t>
            </a:r>
            <a:endParaRPr lang="zh-CN" altLang="en-US" sz="2200" dirty="0">
              <a:latin typeface="华文楷体" panose="02010600040101010101" pitchFamily="2" charset="-122"/>
              <a:ea typeface="华文楷体" panose="02010600040101010101" pitchFamily="2" charset="-122"/>
            </a:endParaRPr>
          </a:p>
          <a:p>
            <a:r>
              <a:rPr lang="en-US" altLang="zh-CN" sz="2200" b="1" dirty="0">
                <a:solidFill>
                  <a:srgbClr val="3399FF"/>
                </a:solidFill>
                <a:latin typeface="华文楷体" panose="02010600040101010101" pitchFamily="2" charset="-122"/>
                <a:ea typeface="华文楷体" panose="02010600040101010101" pitchFamily="2" charset="-122"/>
              </a:rPr>
              <a:t>size(</a:t>
            </a:r>
            <a:r>
              <a:rPr lang="en-US" altLang="zh-CN" sz="2200" b="1" dirty="0" err="1">
                <a:solidFill>
                  <a:srgbClr val="3399FF"/>
                </a:solidFill>
                <a:latin typeface="华文楷体" panose="02010600040101010101" pitchFamily="2" charset="-122"/>
                <a:ea typeface="华文楷体" panose="02010600040101010101" pitchFamily="2" charset="-122"/>
              </a:rPr>
              <a:t>A,n</a:t>
            </a:r>
            <a:r>
              <a:rPr lang="en-US" altLang="zh-CN" sz="2200" b="1" dirty="0">
                <a:solidFill>
                  <a:srgbClr val="3399FF"/>
                </a:solidFill>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A </a:t>
            </a:r>
            <a:r>
              <a:rPr lang="zh-CN" altLang="en-US" sz="2200" dirty="0">
                <a:latin typeface="华文楷体" panose="02010600040101010101" pitchFamily="2" charset="-122"/>
                <a:ea typeface="华文楷体" panose="02010600040101010101" pitchFamily="2" charset="-122"/>
              </a:rPr>
              <a:t>第 </a:t>
            </a:r>
            <a:r>
              <a:rPr lang="en-US" altLang="zh-CN" sz="2200" dirty="0">
                <a:latin typeface="华文楷体" panose="02010600040101010101" pitchFamily="2" charset="-122"/>
                <a:ea typeface="华文楷体" panose="02010600040101010101" pitchFamily="2" charset="-122"/>
              </a:rPr>
              <a:t>n </a:t>
            </a:r>
            <a:r>
              <a:rPr lang="zh-CN" altLang="en-US" sz="2200" dirty="0">
                <a:latin typeface="华文楷体" panose="02010600040101010101" pitchFamily="2" charset="-122"/>
                <a:ea typeface="华文楷体" panose="02010600040101010101" pitchFamily="2" charset="-122"/>
              </a:rPr>
              <a:t>维维度数量</a:t>
            </a:r>
          </a:p>
          <a:p>
            <a:r>
              <a:rPr lang="en-US" altLang="zh-CN" sz="2200" b="1" dirty="0">
                <a:solidFill>
                  <a:srgbClr val="3399FF"/>
                </a:solidFill>
                <a:latin typeface="华文楷体" panose="02010600040101010101" pitchFamily="2" charset="-122"/>
                <a:ea typeface="华文楷体" panose="02010600040101010101" pitchFamily="2" charset="-122"/>
              </a:rPr>
              <a:t>axes(A)</a:t>
            </a:r>
            <a:r>
              <a:rPr lang="en-US" altLang="zh-CN" sz="2200" dirty="0">
                <a:latin typeface="华文楷体" panose="02010600040101010101" pitchFamily="2" charset="-122"/>
                <a:ea typeface="华文楷体" panose="02010600040101010101" pitchFamily="2" charset="-122"/>
              </a:rPr>
              <a:t>	          A </a:t>
            </a:r>
            <a:r>
              <a:rPr lang="zh-CN" altLang="en-US" sz="2200" dirty="0">
                <a:latin typeface="华文楷体" panose="02010600040101010101" pitchFamily="2" charset="-122"/>
                <a:ea typeface="华文楷体" panose="02010600040101010101" pitchFamily="2" charset="-122"/>
              </a:rPr>
              <a:t>有效索引的元组</a:t>
            </a:r>
          </a:p>
          <a:p>
            <a:r>
              <a:rPr lang="en-US" altLang="zh-CN" sz="2200" b="1" dirty="0">
                <a:solidFill>
                  <a:srgbClr val="3399FF"/>
                </a:solidFill>
                <a:latin typeface="华文楷体" panose="02010600040101010101" pitchFamily="2" charset="-122"/>
                <a:ea typeface="华文楷体" panose="02010600040101010101" pitchFamily="2" charset="-122"/>
              </a:rPr>
              <a:t>axes(</a:t>
            </a:r>
            <a:r>
              <a:rPr lang="en-US" altLang="zh-CN" sz="2200" b="1" dirty="0" err="1">
                <a:solidFill>
                  <a:srgbClr val="3399FF"/>
                </a:solidFill>
                <a:latin typeface="华文楷体" panose="02010600040101010101" pitchFamily="2" charset="-122"/>
                <a:ea typeface="华文楷体" panose="02010600040101010101" pitchFamily="2" charset="-122"/>
              </a:rPr>
              <a:t>A,n</a:t>
            </a:r>
            <a:r>
              <a:rPr lang="en-US" altLang="zh-CN" sz="2200" b="1" dirty="0">
                <a:solidFill>
                  <a:srgbClr val="3399FF"/>
                </a:solidFill>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第 </a:t>
            </a:r>
            <a:r>
              <a:rPr lang="en-US" altLang="zh-CN" sz="2200" dirty="0">
                <a:latin typeface="华文楷体" panose="02010600040101010101" pitchFamily="2" charset="-122"/>
                <a:ea typeface="华文楷体" panose="02010600040101010101" pitchFamily="2" charset="-122"/>
              </a:rPr>
              <a:t>n </a:t>
            </a:r>
            <a:r>
              <a:rPr lang="zh-CN" altLang="en-US" sz="2200" dirty="0">
                <a:latin typeface="华文楷体" panose="02010600040101010101" pitchFamily="2" charset="-122"/>
                <a:ea typeface="华文楷体" panose="02010600040101010101" pitchFamily="2" charset="-122"/>
              </a:rPr>
              <a:t>维有效索引的范围</a:t>
            </a:r>
          </a:p>
          <a:p>
            <a:r>
              <a:rPr lang="en-US" altLang="zh-CN" sz="2200" b="1" dirty="0" err="1">
                <a:solidFill>
                  <a:srgbClr val="3399FF"/>
                </a:solidFill>
                <a:latin typeface="华文楷体" panose="02010600040101010101" pitchFamily="2" charset="-122"/>
                <a:ea typeface="华文楷体" panose="02010600040101010101" pitchFamily="2" charset="-122"/>
              </a:rPr>
              <a:t>eachindex</a:t>
            </a:r>
            <a:r>
              <a:rPr lang="en-US" altLang="zh-CN" sz="2200" b="1" dirty="0">
                <a:solidFill>
                  <a:srgbClr val="3399FF"/>
                </a:solidFill>
                <a:latin typeface="华文楷体" panose="02010600040101010101" pitchFamily="2" charset="-122"/>
                <a:ea typeface="华文楷体" panose="02010600040101010101" pitchFamily="2" charset="-122"/>
              </a:rPr>
              <a:t>(A)</a:t>
            </a:r>
            <a:r>
              <a:rPr lang="en-US" altLang="zh-CN" sz="2200" b="1"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一个访问 </a:t>
            </a:r>
            <a:r>
              <a:rPr lang="en-US" altLang="zh-CN" sz="2200" dirty="0">
                <a:latin typeface="华文楷体" panose="02010600040101010101" pitchFamily="2" charset="-122"/>
                <a:ea typeface="华文楷体" panose="02010600040101010101" pitchFamily="2" charset="-122"/>
              </a:rPr>
              <a:t>A </a:t>
            </a:r>
            <a:r>
              <a:rPr lang="zh-CN" altLang="en-US" sz="2200" dirty="0">
                <a:latin typeface="华文楷体" panose="02010600040101010101" pitchFamily="2" charset="-122"/>
                <a:ea typeface="华文楷体" panose="02010600040101010101" pitchFamily="2" charset="-122"/>
              </a:rPr>
              <a:t>中每一个位置的高效迭代器</a:t>
            </a:r>
          </a:p>
          <a:p>
            <a:r>
              <a:rPr lang="en-US" altLang="zh-CN" sz="2200" b="1" dirty="0">
                <a:solidFill>
                  <a:srgbClr val="3399FF"/>
                </a:solidFill>
                <a:latin typeface="华文楷体" panose="02010600040101010101" pitchFamily="2" charset="-122"/>
                <a:ea typeface="华文楷体" panose="02010600040101010101" pitchFamily="2" charset="-122"/>
              </a:rPr>
              <a:t>stride(</a:t>
            </a:r>
            <a:r>
              <a:rPr lang="en-US" altLang="zh-CN" sz="2200" b="1" dirty="0" err="1">
                <a:solidFill>
                  <a:srgbClr val="3399FF"/>
                </a:solidFill>
                <a:latin typeface="华文楷体" panose="02010600040101010101" pitchFamily="2" charset="-122"/>
                <a:ea typeface="华文楷体" panose="02010600040101010101" pitchFamily="2" charset="-122"/>
              </a:rPr>
              <a:t>A,k</a:t>
            </a:r>
            <a:r>
              <a:rPr lang="en-US" altLang="zh-CN" sz="2200" b="1" dirty="0">
                <a:solidFill>
                  <a:srgbClr val="3399FF"/>
                </a:solidFill>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在第 </a:t>
            </a:r>
            <a:r>
              <a:rPr lang="en-US" altLang="zh-CN" sz="2200" dirty="0">
                <a:latin typeface="华文楷体" panose="02010600040101010101" pitchFamily="2" charset="-122"/>
                <a:ea typeface="华文楷体" panose="02010600040101010101" pitchFamily="2" charset="-122"/>
              </a:rPr>
              <a:t>k </a:t>
            </a:r>
            <a:r>
              <a:rPr lang="zh-CN" altLang="en-US" sz="2200" dirty="0">
                <a:latin typeface="华文楷体" panose="02010600040101010101" pitchFamily="2" charset="-122"/>
                <a:ea typeface="华文楷体" panose="02010600040101010101" pitchFamily="2" charset="-122"/>
              </a:rPr>
              <a:t>维上的间隔（</a:t>
            </a:r>
            <a:r>
              <a:rPr lang="en-US" altLang="zh-CN" sz="2200" dirty="0">
                <a:latin typeface="华文楷体" panose="02010600040101010101" pitchFamily="2" charset="-122"/>
                <a:ea typeface="华文楷体" panose="02010600040101010101" pitchFamily="2" charset="-122"/>
              </a:rPr>
              <a:t>stride</a:t>
            </a:r>
            <a:r>
              <a:rPr lang="zh-CN" altLang="en-US" sz="2200" dirty="0">
                <a:latin typeface="华文楷体" panose="02010600040101010101" pitchFamily="2" charset="-122"/>
                <a:ea typeface="华文楷体" panose="02010600040101010101" pitchFamily="2" charset="-122"/>
              </a:rPr>
              <a:t>）（相邻元素间的线性索引距离）</a:t>
            </a:r>
          </a:p>
          <a:p>
            <a:r>
              <a:rPr lang="en-US" altLang="zh-CN" sz="2200" b="1" dirty="0">
                <a:solidFill>
                  <a:srgbClr val="3399FF"/>
                </a:solidFill>
                <a:latin typeface="华文楷体" panose="02010600040101010101" pitchFamily="2" charset="-122"/>
                <a:ea typeface="华文楷体" panose="02010600040101010101" pitchFamily="2" charset="-122"/>
              </a:rPr>
              <a:t>strides(A)</a:t>
            </a:r>
            <a:r>
              <a:rPr lang="en-US" altLang="zh-CN" sz="2200" b="1"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包含每一维上的间隔（</a:t>
            </a:r>
            <a:r>
              <a:rPr lang="en-US" altLang="zh-CN" sz="2200" dirty="0">
                <a:latin typeface="华文楷体" panose="02010600040101010101" pitchFamily="2" charset="-122"/>
                <a:ea typeface="华文楷体" panose="02010600040101010101" pitchFamily="2" charset="-122"/>
              </a:rPr>
              <a:t>stride</a:t>
            </a:r>
            <a:r>
              <a:rPr lang="zh-CN" altLang="en-US" sz="2200" dirty="0">
                <a:latin typeface="华文楷体" panose="02010600040101010101" pitchFamily="2" charset="-122"/>
                <a:ea typeface="华文楷体" panose="02010600040101010101" pitchFamily="2" charset="-122"/>
              </a:rPr>
              <a:t>）的元组</a:t>
            </a:r>
          </a:p>
        </p:txBody>
      </p:sp>
      <p:sp>
        <p:nvSpPr>
          <p:cNvPr id="9" name="文本框 8">
            <a:extLst>
              <a:ext uri="{FF2B5EF4-FFF2-40B4-BE49-F238E27FC236}">
                <a16:creationId xmlns:a16="http://schemas.microsoft.com/office/drawing/2014/main" id="{B706231F-7B6B-4CD1-AAB3-3BC2C0013751}"/>
              </a:ext>
            </a:extLst>
          </p:cNvPr>
          <p:cNvSpPr txBox="1"/>
          <p:nvPr/>
        </p:nvSpPr>
        <p:spPr>
          <a:xfrm>
            <a:off x="6580642" y="800721"/>
            <a:ext cx="2503180" cy="3293209"/>
          </a:xfrm>
          <a:prstGeom prst="rect">
            <a:avLst/>
          </a:prstGeom>
          <a:solidFill>
            <a:schemeClr val="bg1">
              <a:lumMod val="95000"/>
            </a:schemeClr>
          </a:solidFill>
          <a:ln>
            <a:solidFill>
              <a:schemeClr val="bg1">
                <a:lumMod val="50000"/>
              </a:schemeClr>
            </a:solidFill>
          </a:ln>
          <a:scene3d>
            <a:camera prst="orthographicFront"/>
            <a:lightRig rig="threePt" dir="t"/>
          </a:scene3d>
          <a:sp3d>
            <a:bevelT w="152400" h="50800" prst="softRound"/>
          </a:sp3d>
        </p:spPr>
        <p:txBody>
          <a:bodyPr wrap="square">
            <a:spAutoFit/>
          </a:bodyPr>
          <a:lstStyle/>
          <a:p>
            <a:r>
              <a:rPr lang="en-US" altLang="zh-CN" sz="1600" dirty="0"/>
              <a:t>julia&gt; r=rand(3,2)</a:t>
            </a:r>
          </a:p>
          <a:p>
            <a:r>
              <a:rPr lang="en-US" altLang="zh-CN" sz="1600" dirty="0">
                <a:solidFill>
                  <a:srgbClr val="00B0F0"/>
                </a:solidFill>
              </a:rPr>
              <a:t>3×2 Matrix{Float64}:</a:t>
            </a:r>
          </a:p>
          <a:p>
            <a:r>
              <a:rPr lang="en-US" altLang="zh-CN" sz="1600" dirty="0">
                <a:solidFill>
                  <a:srgbClr val="00B0F0"/>
                </a:solidFill>
              </a:rPr>
              <a:t> 0.825365  0.563285</a:t>
            </a:r>
          </a:p>
          <a:p>
            <a:r>
              <a:rPr lang="en-US" altLang="zh-CN" sz="1600" dirty="0">
                <a:solidFill>
                  <a:srgbClr val="66CCFF"/>
                </a:solidFill>
              </a:rPr>
              <a:t> 0.414225  0.168861</a:t>
            </a:r>
          </a:p>
          <a:p>
            <a:r>
              <a:rPr lang="en-US" altLang="zh-CN" sz="1600" dirty="0">
                <a:solidFill>
                  <a:srgbClr val="66CCFF"/>
                </a:solidFill>
              </a:rPr>
              <a:t> 0.376714  0.0935588</a:t>
            </a:r>
          </a:p>
          <a:p>
            <a:r>
              <a:rPr lang="en-US" altLang="zh-CN" sz="1600" dirty="0" err="1"/>
              <a:t>julia</a:t>
            </a:r>
            <a:r>
              <a:rPr lang="en-US" altLang="zh-CN" sz="1600" dirty="0"/>
              <a:t>&gt; length(r)</a:t>
            </a:r>
          </a:p>
          <a:p>
            <a:r>
              <a:rPr lang="zh-CN" altLang="en-US" sz="1600" dirty="0">
                <a:solidFill>
                  <a:srgbClr val="00B0F0"/>
                </a:solidFill>
                <a:latin typeface="微软雅黑" panose="020B0503020204020204" pitchFamily="34" charset="-122"/>
                <a:ea typeface="微软雅黑" panose="020B0503020204020204" pitchFamily="34" charset="-122"/>
              </a:rPr>
              <a:t>结果</a:t>
            </a:r>
            <a:r>
              <a:rPr lang="en-US" altLang="zh-CN" sz="1600" dirty="0">
                <a:solidFill>
                  <a:srgbClr val="00B0F0"/>
                </a:solidFill>
                <a:latin typeface="微软雅黑" panose="020B0503020204020204" pitchFamily="34" charset="-122"/>
                <a:ea typeface="微软雅黑" panose="020B0503020204020204" pitchFamily="34" charset="-122"/>
              </a:rPr>
              <a:t>6</a:t>
            </a:r>
          </a:p>
          <a:p>
            <a:r>
              <a:rPr lang="en-US" altLang="zh-CN" sz="1600" dirty="0" err="1"/>
              <a:t>julia</a:t>
            </a:r>
            <a:r>
              <a:rPr lang="en-US" altLang="zh-CN" sz="1600" dirty="0"/>
              <a:t>&gt; </a:t>
            </a:r>
            <a:r>
              <a:rPr lang="en-US" altLang="zh-CN" sz="1600" dirty="0" err="1"/>
              <a:t>ndims</a:t>
            </a:r>
            <a:r>
              <a:rPr lang="en-US" altLang="zh-CN" sz="1600" dirty="0"/>
              <a:t>(r</a:t>
            </a:r>
            <a:r>
              <a:rPr lang="en-US" altLang="zh-CN" sz="1600" dirty="0">
                <a:solidFill>
                  <a:srgbClr val="66CCFF"/>
                </a:solidFill>
              </a:rPr>
              <a:t>)</a:t>
            </a:r>
          </a:p>
          <a:p>
            <a:r>
              <a:rPr lang="zh-CN" altLang="en-US" sz="1600" dirty="0">
                <a:solidFill>
                  <a:srgbClr val="00B0F0"/>
                </a:solidFill>
                <a:latin typeface="微软雅黑" panose="020B0503020204020204" pitchFamily="34" charset="-122"/>
                <a:ea typeface="微软雅黑" panose="020B0503020204020204" pitchFamily="34" charset="-122"/>
              </a:rPr>
              <a:t>结果</a:t>
            </a:r>
            <a:r>
              <a:rPr lang="en-US" altLang="zh-CN" sz="1600" dirty="0">
                <a:solidFill>
                  <a:srgbClr val="00B0F0"/>
                </a:solidFill>
                <a:latin typeface="微软雅黑" panose="020B0503020204020204" pitchFamily="34" charset="-122"/>
                <a:ea typeface="微软雅黑" panose="020B0503020204020204" pitchFamily="34" charset="-122"/>
              </a:rPr>
              <a:t>2</a:t>
            </a:r>
          </a:p>
          <a:p>
            <a:r>
              <a:rPr lang="en-US" altLang="zh-CN" sz="1600" dirty="0" err="1"/>
              <a:t>julia</a:t>
            </a:r>
            <a:r>
              <a:rPr lang="en-US" altLang="zh-CN" sz="1600" dirty="0"/>
              <a:t>&gt; aa=size(r)</a:t>
            </a:r>
          </a:p>
          <a:p>
            <a:r>
              <a:rPr lang="zh-CN" altLang="en-US" sz="1600" dirty="0">
                <a:solidFill>
                  <a:srgbClr val="00B0F0"/>
                </a:solidFill>
                <a:latin typeface="微软雅黑" panose="020B0503020204020204" pitchFamily="34" charset="-122"/>
                <a:ea typeface="微软雅黑" panose="020B0503020204020204" pitchFamily="34" charset="-122"/>
              </a:rPr>
              <a:t>结果</a:t>
            </a:r>
            <a:r>
              <a:rPr lang="en-US" altLang="zh-CN" sz="1600" dirty="0">
                <a:solidFill>
                  <a:srgbClr val="00B0F0"/>
                </a:solidFill>
                <a:latin typeface="微软雅黑" panose="020B0503020204020204" pitchFamily="34" charset="-122"/>
                <a:ea typeface="微软雅黑" panose="020B0503020204020204" pitchFamily="34" charset="-122"/>
              </a:rPr>
              <a:t>(3, 2)</a:t>
            </a:r>
          </a:p>
          <a:p>
            <a:r>
              <a:rPr lang="pt-BR" altLang="zh-CN" sz="1600" dirty="0"/>
              <a:t>julia&gt; size(r,1)</a:t>
            </a:r>
          </a:p>
          <a:p>
            <a:r>
              <a:rPr lang="zh-CN" altLang="en-US" sz="1600" dirty="0">
                <a:solidFill>
                  <a:srgbClr val="66CCFF"/>
                </a:solidFill>
                <a:latin typeface="微软雅黑" panose="020B0503020204020204" pitchFamily="34" charset="-122"/>
                <a:ea typeface="微软雅黑" panose="020B0503020204020204" pitchFamily="34" charset="-122"/>
              </a:rPr>
              <a:t>结果</a:t>
            </a:r>
            <a:r>
              <a:rPr lang="pt-BR" altLang="zh-CN" sz="1600" dirty="0">
                <a:solidFill>
                  <a:srgbClr val="66CCFF"/>
                </a:solidFill>
                <a:latin typeface="微软雅黑" panose="020B0503020204020204" pitchFamily="34" charset="-122"/>
                <a:ea typeface="微软雅黑" panose="020B0503020204020204" pitchFamily="34" charset="-122"/>
              </a:rPr>
              <a:t>3</a:t>
            </a:r>
            <a:endParaRPr lang="zh-CN" altLang="en-US" sz="1600" dirty="0">
              <a:solidFill>
                <a:srgbClr val="66CC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422EC459-F6EA-4EA6-8CB4-098B5C985069}"/>
              </a:ext>
            </a:extLst>
          </p:cNvPr>
          <p:cNvSpPr txBox="1">
            <a:spLocks/>
          </p:cNvSpPr>
          <p:nvPr/>
        </p:nvSpPr>
        <p:spPr bwMode="auto">
          <a:xfrm>
            <a:off x="2059312" y="143822"/>
            <a:ext cx="6651217"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kern="0" dirty="0">
                <a:latin typeface="Helvetica Neue"/>
              </a:rPr>
              <a:t>§</a:t>
            </a:r>
            <a:r>
              <a:rPr lang="en-US" altLang="zh-CN" sz="2800" kern="1200" dirty="0"/>
              <a:t>1.4.1.5  </a:t>
            </a:r>
            <a:r>
              <a:rPr lang="en-US" altLang="zh-CN" sz="2800" b="1" dirty="0">
                <a:solidFill>
                  <a:srgbClr val="0070C0"/>
                </a:solidFill>
              </a:rPr>
              <a:t>Julia </a:t>
            </a:r>
            <a:r>
              <a:rPr lang="zh-CN" altLang="en-US" sz="2800" b="1" dirty="0">
                <a:solidFill>
                  <a:srgbClr val="0070C0"/>
                </a:solidFill>
              </a:rPr>
              <a:t>数组</a:t>
            </a:r>
            <a:r>
              <a:rPr lang="en-US" altLang="zh-CN" sz="2800" b="1" dirty="0">
                <a:solidFill>
                  <a:srgbClr val="0070C0"/>
                </a:solidFill>
              </a:rPr>
              <a:t>A</a:t>
            </a:r>
            <a:r>
              <a:rPr lang="zh-CN" altLang="en-US" sz="2800" b="1" dirty="0">
                <a:solidFill>
                  <a:srgbClr val="0070C0"/>
                </a:solidFill>
              </a:rPr>
              <a:t>基本操作函数</a:t>
            </a:r>
            <a:endParaRPr lang="zh-CN" altLang="en-US" sz="2800" b="1" kern="0" dirty="0">
              <a:solidFill>
                <a:srgbClr val="0070C0"/>
              </a:solidFill>
            </a:endParaRPr>
          </a:p>
        </p:txBody>
      </p:sp>
      <p:sp>
        <p:nvSpPr>
          <p:cNvPr id="8" name="文本框 7">
            <a:extLst>
              <a:ext uri="{FF2B5EF4-FFF2-40B4-BE49-F238E27FC236}">
                <a16:creationId xmlns:a16="http://schemas.microsoft.com/office/drawing/2014/main" id="{52AE1E5C-F94A-40AA-A9C4-2EB170872673}"/>
              </a:ext>
            </a:extLst>
          </p:cNvPr>
          <p:cNvSpPr txBox="1"/>
          <p:nvPr/>
        </p:nvSpPr>
        <p:spPr>
          <a:xfrm>
            <a:off x="6580642" y="4042775"/>
            <a:ext cx="2503179" cy="584775"/>
          </a:xfrm>
          <a:prstGeom prst="rect">
            <a:avLst/>
          </a:prstGeom>
          <a:solidFill>
            <a:schemeClr val="bg1">
              <a:lumMod val="95000"/>
            </a:schemeClr>
          </a:solidFill>
          <a:ln>
            <a:solidFill>
              <a:schemeClr val="bg1">
                <a:lumMod val="50000"/>
              </a:schemeClr>
            </a:solidFill>
          </a:ln>
          <a:scene3d>
            <a:camera prst="orthographicFront"/>
            <a:lightRig rig="threePt" dir="t"/>
          </a:scene3d>
          <a:sp3d>
            <a:bevelT/>
          </a:sp3d>
        </p:spPr>
        <p:txBody>
          <a:bodyPr wrap="square">
            <a:spAutoFit/>
          </a:bodyPr>
          <a:lstStyle/>
          <a:p>
            <a:r>
              <a:rPr lang="en-US" altLang="zh-CN" sz="1600" dirty="0"/>
              <a:t>x = </a:t>
            </a:r>
            <a:r>
              <a:rPr lang="en-US" altLang="zh-CN" sz="1600" dirty="0" err="1"/>
              <a:t>eltype</a:t>
            </a:r>
            <a:r>
              <a:rPr lang="en-US" altLang="zh-CN" sz="1600" dirty="0"/>
              <a:t>(r)</a:t>
            </a:r>
          </a:p>
          <a:p>
            <a:r>
              <a:rPr lang="zh-CN" altLang="en-US" sz="1600" dirty="0">
                <a:solidFill>
                  <a:srgbClr val="00B0F0"/>
                </a:solidFill>
                <a:latin typeface="微软雅黑" panose="020B0503020204020204" pitchFamily="34" charset="-122"/>
                <a:ea typeface="微软雅黑" panose="020B0503020204020204" pitchFamily="34" charset="-122"/>
              </a:rPr>
              <a:t>结果</a:t>
            </a:r>
            <a:r>
              <a:rPr lang="en-US" altLang="zh-CN" sz="1600" dirty="0">
                <a:solidFill>
                  <a:srgbClr val="00B0F0"/>
                </a:solidFill>
                <a:latin typeface="微软雅黑" panose="020B0503020204020204" pitchFamily="34" charset="-122"/>
                <a:ea typeface="微软雅黑" panose="020B0503020204020204" pitchFamily="34" charset="-122"/>
              </a:rPr>
              <a:t>x = Float64</a:t>
            </a:r>
            <a:endParaRPr lang="zh-CN" altLang="en-US" sz="1600" dirty="0">
              <a:solidFill>
                <a:srgbClr val="00B0F0"/>
              </a:solidFill>
              <a:latin typeface="微软雅黑" panose="020B0503020204020204" pitchFamily="34" charset="-122"/>
              <a:ea typeface="微软雅黑" panose="020B0503020204020204" pitchFamily="34" charset="-122"/>
            </a:endParaRPr>
          </a:p>
        </p:txBody>
      </p:sp>
      <p:sp>
        <p:nvSpPr>
          <p:cNvPr id="11" name="波形 10">
            <a:extLst>
              <a:ext uri="{FF2B5EF4-FFF2-40B4-BE49-F238E27FC236}">
                <a16:creationId xmlns:a16="http://schemas.microsoft.com/office/drawing/2014/main" id="{9828BC2E-850D-45DC-AAFB-ED9A1C4B9B41}"/>
              </a:ext>
            </a:extLst>
          </p:cNvPr>
          <p:cNvSpPr/>
          <p:nvPr/>
        </p:nvSpPr>
        <p:spPr>
          <a:xfrm>
            <a:off x="8688558" y="747120"/>
            <a:ext cx="331900" cy="51400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dirty="0">
                <a:solidFill>
                  <a:srgbClr val="FFFF00"/>
                </a:solidFill>
                <a:latin typeface="微软雅黑" panose="020B0503020204020204" pitchFamily="34" charset="-122"/>
                <a:ea typeface="微软雅黑" panose="020B0503020204020204" pitchFamily="34" charset="-122"/>
              </a:rPr>
              <a:t>例</a:t>
            </a:r>
            <a:endParaRPr lang="ko-KR" altLang="en-US" sz="1600"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9241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7D31DA4B-64CF-454D-B49F-F190A6054950}"/>
              </a:ext>
            </a:extLst>
          </p:cNvPr>
          <p:cNvGraphicFramePr>
            <a:graphicFrameLocks noGrp="1"/>
          </p:cNvGraphicFramePr>
          <p:nvPr>
            <p:extLst>
              <p:ext uri="{D42A27DB-BD31-4B8C-83A1-F6EECF244321}">
                <p14:modId xmlns:p14="http://schemas.microsoft.com/office/powerpoint/2010/main" val="968329575"/>
              </p:ext>
            </p:extLst>
          </p:nvPr>
        </p:nvGraphicFramePr>
        <p:xfrm>
          <a:off x="107504" y="701876"/>
          <a:ext cx="8928992" cy="3903640"/>
        </p:xfrm>
        <a:graphic>
          <a:graphicData uri="http://schemas.openxmlformats.org/drawingml/2006/table">
            <a:tbl>
              <a:tblPr/>
              <a:tblGrid>
                <a:gridCol w="1018218">
                  <a:extLst>
                    <a:ext uri="{9D8B030D-6E8A-4147-A177-3AD203B41FA5}">
                      <a16:colId xmlns:a16="http://schemas.microsoft.com/office/drawing/2014/main" val="1573603879"/>
                    </a:ext>
                  </a:extLst>
                </a:gridCol>
                <a:gridCol w="7910774">
                  <a:extLst>
                    <a:ext uri="{9D8B030D-6E8A-4147-A177-3AD203B41FA5}">
                      <a16:colId xmlns:a16="http://schemas.microsoft.com/office/drawing/2014/main" val="1113529815"/>
                    </a:ext>
                  </a:extLst>
                </a:gridCol>
              </a:tblGrid>
              <a:tr h="261717">
                <a:tc>
                  <a:txBody>
                    <a:bodyPr/>
                    <a:lstStyle/>
                    <a:p>
                      <a:pPr algn="l"/>
                      <a:r>
                        <a:rPr lang="zh-CN" altLang="en-US" sz="1600" b="1">
                          <a:solidFill>
                            <a:schemeClr val="bg1"/>
                          </a:solidFill>
                          <a:effectLst/>
                          <a:latin typeface="华文楷体" panose="02010600040101010101" pitchFamily="2" charset="-122"/>
                          <a:ea typeface="华文楷体" panose="02010600040101010101" pitchFamily="2" charset="-122"/>
                        </a:rPr>
                        <a:t>函数名</a:t>
                      </a: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zh-CN" altLang="en-US" sz="1600" b="1" dirty="0">
                          <a:solidFill>
                            <a:schemeClr val="bg1"/>
                          </a:solidFill>
                          <a:effectLst/>
                          <a:latin typeface="华文楷体" panose="02010600040101010101" pitchFamily="2" charset="-122"/>
                          <a:ea typeface="华文楷体" panose="02010600040101010101" pitchFamily="2" charset="-122"/>
                        </a:rPr>
                        <a:t>简介</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274229962"/>
                  </a:ext>
                </a:extLst>
              </a:tr>
              <a:tr h="291274">
                <a:tc>
                  <a:txBody>
                    <a:bodyPr/>
                    <a:lstStyle/>
                    <a:p>
                      <a:pPr algn="l"/>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sort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排序，创建副本</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4164502"/>
                  </a:ext>
                </a:extLst>
              </a:tr>
              <a:tr h="291274">
                <a:tc>
                  <a:txBody>
                    <a:bodyPr/>
                    <a:lstStyle/>
                    <a:p>
                      <a:pPr algn="l"/>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4" action="ppaction://hlinkfile">
                            <a:extLst>
                              <a:ext uri="{A12FA001-AC4F-418D-AE19-62706E023703}">
                                <ahyp:hlinkClr xmlns:ahyp="http://schemas.microsoft.com/office/drawing/2018/hyperlinkcolor" val="tx"/>
                              </a:ext>
                            </a:extLst>
                          </a:hlinkClick>
                        </a:rPr>
                        <a:t>sort!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排序，不创建副本</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0100433"/>
                  </a:ext>
                </a:extLst>
              </a:tr>
              <a:tr h="291274">
                <a:tc>
                  <a:txBody>
                    <a:bodyPr/>
                    <a:lstStyle/>
                    <a:p>
                      <a:pPr algn="l"/>
                      <a:r>
                        <a:rPr lang="en-US" sz="1800" b="1" u="none" strike="noStrike" dirty="0" err="1">
                          <a:solidFill>
                            <a:srgbClr val="00B0F0"/>
                          </a:solidFill>
                          <a:effectLst/>
                          <a:latin typeface="华文楷体" panose="02010600040101010101" pitchFamily="2" charset="-122"/>
                          <a:ea typeface="华文楷体" panose="02010600040101010101" pitchFamily="2" charset="-122"/>
                          <a:hlinkClick r:id="rId5" action="ppaction://hlinkfile">
                            <a:extLst>
                              <a:ext uri="{A12FA001-AC4F-418D-AE19-62706E023703}">
                                <ahyp:hlinkClr xmlns:ahyp="http://schemas.microsoft.com/office/drawing/2018/hyperlinkcolor" val="tx"/>
                              </a:ext>
                            </a:extLst>
                          </a:hlinkClick>
                        </a:rPr>
                        <a:t>ty_sort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对数组元素排序</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49515294"/>
                  </a:ext>
                </a:extLst>
              </a:tr>
              <a:tr h="291274">
                <a:tc>
                  <a:txBody>
                    <a:bodyPr/>
                    <a:lstStyle/>
                    <a:p>
                      <a:pPr algn="l"/>
                      <a:r>
                        <a:rPr lang="en-US" sz="1800" b="1" u="none" strike="noStrike" dirty="0" err="1">
                          <a:solidFill>
                            <a:srgbClr val="00B0F0"/>
                          </a:solidFill>
                          <a:effectLst/>
                          <a:latin typeface="华文楷体" panose="02010600040101010101" pitchFamily="2" charset="-122"/>
                          <a:ea typeface="华文楷体" panose="02010600040101010101" pitchFamily="2" charset="-122"/>
                          <a:hlinkClick r:id="rId6" action="ppaction://hlinkfile">
                            <a:extLst>
                              <a:ext uri="{A12FA001-AC4F-418D-AE19-62706E023703}">
                                <ahyp:hlinkClr xmlns:ahyp="http://schemas.microsoft.com/office/drawing/2018/hyperlinkcolor" val="tx"/>
                              </a:ext>
                            </a:extLst>
                          </a:hlinkClick>
                        </a:rPr>
                        <a:t>sortrows</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对矩阵行或表行进行排序</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6812229"/>
                  </a:ext>
                </a:extLst>
              </a:tr>
              <a:tr h="315058">
                <a:tc>
                  <a:txBody>
                    <a:bodyPr/>
                    <a:lstStyle/>
                    <a:p>
                      <a:pPr algn="l"/>
                      <a:r>
                        <a:rPr lang="en-US" sz="1800" b="1" u="none" strike="noStrike" dirty="0" err="1">
                          <a:solidFill>
                            <a:srgbClr val="00B0F0"/>
                          </a:solidFill>
                          <a:effectLst/>
                          <a:latin typeface="华文楷体" panose="02010600040101010101" pitchFamily="2" charset="-122"/>
                          <a:ea typeface="华文楷体" panose="02010600040101010101" pitchFamily="2" charset="-122"/>
                          <a:hlinkClick r:id="rId7" action="ppaction://hlinkfile">
                            <a:extLst>
                              <a:ext uri="{A12FA001-AC4F-418D-AE19-62706E023703}">
                                <ahyp:hlinkClr xmlns:ahyp="http://schemas.microsoft.com/office/drawing/2018/hyperlinkcolor" val="tx"/>
                              </a:ext>
                            </a:extLst>
                          </a:hlinkClick>
                        </a:rPr>
                        <a:t>partialsort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按照指定的顺序进行局部排序，并返回排序后索引的值，原数据的值不会被修改</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8581904"/>
                  </a:ext>
                </a:extLst>
              </a:tr>
              <a:tr h="315058">
                <a:tc>
                  <a:txBody>
                    <a:bodyPr/>
                    <a:lstStyle/>
                    <a:p>
                      <a:pPr algn="l"/>
                      <a:r>
                        <a:rPr lang="en-US" sz="1800" b="1" u="none" strike="noStrike" dirty="0" err="1">
                          <a:solidFill>
                            <a:srgbClr val="00B0F0"/>
                          </a:solidFill>
                          <a:effectLst/>
                          <a:latin typeface="华文楷体" panose="02010600040101010101" pitchFamily="2" charset="-122"/>
                          <a:ea typeface="华文楷体" panose="02010600040101010101" pitchFamily="2" charset="-122"/>
                          <a:hlinkClick r:id="rId8" action="ppaction://hlinkfile">
                            <a:extLst>
                              <a:ext uri="{A12FA001-AC4F-418D-AE19-62706E023703}">
                                <ahyp:hlinkClr xmlns:ahyp="http://schemas.microsoft.com/office/drawing/2018/hyperlinkcolor" val="tx"/>
                              </a:ext>
                            </a:extLst>
                          </a:hlinkClick>
                        </a:rPr>
                        <a:t>partialsort</a:t>
                      </a:r>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8" action="ppaction://hlinkfile">
                            <a:extLst>
                              <a:ext uri="{A12FA001-AC4F-418D-AE19-62706E023703}">
                                <ahyp:hlinkClr xmlns:ahyp="http://schemas.microsoft.com/office/drawing/2018/hyperlinkcolor" val="tx"/>
                              </a:ext>
                            </a:extLst>
                          </a:hlinkClick>
                        </a:rPr>
                        <a: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按照指定的顺序进行局部排序，并返回排序后索引的值，原数据的值修改为排序后的值</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1215699"/>
                  </a:ext>
                </a:extLst>
              </a:tr>
              <a:tr h="291274">
                <a:tc>
                  <a:txBody>
                    <a:bodyPr/>
                    <a:lstStyle/>
                    <a:p>
                      <a:pPr algn="l"/>
                      <a:r>
                        <a:rPr lang="en-US" sz="1800" b="1" u="none" strike="noStrike">
                          <a:solidFill>
                            <a:srgbClr val="00B0F0"/>
                          </a:solidFill>
                          <a:effectLst/>
                          <a:latin typeface="华文楷体" panose="02010600040101010101" pitchFamily="2" charset="-122"/>
                          <a:ea typeface="华文楷体" panose="02010600040101010101" pitchFamily="2" charset="-122"/>
                          <a:hlinkClick r:id="rId9" action="ppaction://hlinkfile">
                            <a:extLst>
                              <a:ext uri="{A12FA001-AC4F-418D-AE19-62706E023703}">
                                <ahyp:hlinkClr xmlns:ahyp="http://schemas.microsoft.com/office/drawing/2018/hyperlinkcolor" val="tx"/>
                              </a:ext>
                            </a:extLst>
                          </a:hlinkClick>
                        </a:rPr>
                        <a:t>reverse</a:t>
                      </a:r>
                      <a:endParaRPr lang="en-US" sz="1800" b="1">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kern="1200" dirty="0">
                          <a:solidFill>
                            <a:srgbClr val="FF0000"/>
                          </a:solidFill>
                          <a:effectLst/>
                          <a:latin typeface="华文楷体" panose="02010600040101010101" pitchFamily="2" charset="-122"/>
                          <a:ea typeface="华文楷体" panose="02010600040101010101" pitchFamily="2" charset="-122"/>
                          <a:cs typeface="+mn-cs"/>
                        </a:rPr>
                        <a:t>对数据进行翻转</a:t>
                      </a:r>
                      <a:r>
                        <a:rPr lang="zh-CN" altLang="en-US" sz="1600" b="1" dirty="0">
                          <a:effectLst/>
                          <a:latin typeface="华文楷体" panose="02010600040101010101" pitchFamily="2" charset="-122"/>
                          <a:ea typeface="华文楷体" panose="02010600040101010101" pitchFamily="2" charset="-122"/>
                        </a:rPr>
                        <a:t>，创建副本</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3242898"/>
                  </a:ext>
                </a:extLst>
              </a:tr>
              <a:tr h="291274">
                <a:tc>
                  <a:txBody>
                    <a:bodyPr/>
                    <a:lstStyle/>
                    <a:p>
                      <a:pPr algn="l"/>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10" action="ppaction://hlinkfile">
                            <a:extLst>
                              <a:ext uri="{A12FA001-AC4F-418D-AE19-62706E023703}">
                                <ahyp:hlinkClr xmlns:ahyp="http://schemas.microsoft.com/office/drawing/2018/hyperlinkcolor" val="tx"/>
                              </a:ext>
                            </a:extLst>
                          </a:hlinkClick>
                        </a:rPr>
                        <a:t>reverse!</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对数据进行翻转，不创建副本</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2612468"/>
                  </a:ext>
                </a:extLst>
              </a:tr>
              <a:tr h="291274">
                <a:tc>
                  <a:txBody>
                    <a:bodyPr/>
                    <a:lstStyle/>
                    <a:p>
                      <a:pPr algn="l"/>
                      <a:r>
                        <a:rPr lang="en-US" sz="1800" b="1" u="none" strike="noStrike" dirty="0">
                          <a:solidFill>
                            <a:srgbClr val="FF0000"/>
                          </a:solidFill>
                          <a:effectLst/>
                          <a:latin typeface="华文楷体" panose="02010600040101010101" pitchFamily="2" charset="-122"/>
                          <a:ea typeface="华文楷体" panose="02010600040101010101" pitchFamily="2" charset="-122"/>
                          <a:hlinkClick r:id="rId11" action="ppaction://hlinkfile">
                            <a:extLst>
                              <a:ext uri="{A12FA001-AC4F-418D-AE19-62706E023703}">
                                <ahyp:hlinkClr xmlns:ahyp="http://schemas.microsoft.com/office/drawing/2018/hyperlinkcolor" val="tx"/>
                              </a:ext>
                            </a:extLst>
                          </a:hlinkClick>
                        </a:rPr>
                        <a:t>rotr90</a:t>
                      </a:r>
                      <a:endParaRPr lang="en-US" sz="1800" b="1" dirty="0">
                        <a:solidFill>
                          <a:srgbClr val="FF000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solidFill>
                            <a:srgbClr val="FF0000"/>
                          </a:solidFill>
                          <a:effectLst/>
                          <a:latin typeface="华文楷体" panose="02010600040101010101" pitchFamily="2" charset="-122"/>
                          <a:ea typeface="华文楷体" panose="02010600040101010101" pitchFamily="2" charset="-122"/>
                        </a:rPr>
                        <a:t>将数组顺时针旋转 </a:t>
                      </a:r>
                      <a:r>
                        <a:rPr lang="en-US" altLang="zh-CN" sz="1600" b="1" dirty="0">
                          <a:effectLst/>
                          <a:latin typeface="华文楷体" panose="02010600040101010101" pitchFamily="2" charset="-122"/>
                          <a:ea typeface="华文楷体" panose="02010600040101010101" pitchFamily="2" charset="-122"/>
                        </a:rPr>
                        <a:t>90 </a:t>
                      </a:r>
                      <a:r>
                        <a:rPr lang="zh-CN" altLang="en-US" sz="1600" b="1" dirty="0">
                          <a:effectLst/>
                          <a:latin typeface="华文楷体" panose="02010600040101010101" pitchFamily="2" charset="-122"/>
                          <a:ea typeface="华文楷体" panose="02010600040101010101" pitchFamily="2" charset="-122"/>
                        </a:rPr>
                        <a:t>度</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134192"/>
                  </a:ext>
                </a:extLst>
              </a:tr>
              <a:tr h="291274">
                <a:tc>
                  <a:txBody>
                    <a:bodyPr/>
                    <a:lstStyle/>
                    <a:p>
                      <a:pPr algn="l"/>
                      <a:r>
                        <a:rPr lang="en-US" sz="1800" b="1" u="none" strike="noStrike" dirty="0">
                          <a:solidFill>
                            <a:srgbClr val="FF0000"/>
                          </a:solidFill>
                          <a:effectLst/>
                          <a:latin typeface="华文楷体" panose="02010600040101010101" pitchFamily="2" charset="-122"/>
                          <a:ea typeface="华文楷体" panose="02010600040101010101" pitchFamily="2" charset="-122"/>
                          <a:hlinkClick r:id="rId12" action="ppaction://hlinkfile">
                            <a:extLst>
                              <a:ext uri="{A12FA001-AC4F-418D-AE19-62706E023703}">
                                <ahyp:hlinkClr xmlns:ahyp="http://schemas.microsoft.com/office/drawing/2018/hyperlinkcolor" val="tx"/>
                              </a:ext>
                            </a:extLst>
                          </a:hlinkClick>
                        </a:rPr>
                        <a:t>rotl90</a:t>
                      </a:r>
                      <a:endParaRPr lang="en-US" sz="1800" b="1" dirty="0">
                        <a:solidFill>
                          <a:srgbClr val="FF000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将数组逆时针旋转 </a:t>
                      </a:r>
                      <a:r>
                        <a:rPr lang="en-US" altLang="zh-CN" sz="1600" b="1" dirty="0">
                          <a:effectLst/>
                          <a:latin typeface="华文楷体" panose="02010600040101010101" pitchFamily="2" charset="-122"/>
                          <a:ea typeface="华文楷体" panose="02010600040101010101" pitchFamily="2" charset="-122"/>
                        </a:rPr>
                        <a:t>90 </a:t>
                      </a:r>
                      <a:r>
                        <a:rPr lang="zh-CN" altLang="en-US" sz="1600" b="1" dirty="0">
                          <a:effectLst/>
                          <a:latin typeface="华文楷体" panose="02010600040101010101" pitchFamily="2" charset="-122"/>
                          <a:ea typeface="华文楷体" panose="02010600040101010101" pitchFamily="2" charset="-122"/>
                        </a:rPr>
                        <a:t>度</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673059"/>
                  </a:ext>
                </a:extLst>
              </a:tr>
              <a:tr h="291274">
                <a:tc>
                  <a:txBody>
                    <a:bodyPr/>
                    <a:lstStyle/>
                    <a:p>
                      <a:pPr algn="l"/>
                      <a:r>
                        <a:rPr lang="en-US" sz="1800" b="1" u="none" strike="noStrike" dirty="0">
                          <a:solidFill>
                            <a:srgbClr val="FF0000"/>
                          </a:solidFill>
                          <a:effectLst/>
                          <a:latin typeface="华文楷体" panose="02010600040101010101" pitchFamily="2" charset="-122"/>
                          <a:ea typeface="华文楷体" panose="02010600040101010101" pitchFamily="2" charset="-122"/>
                          <a:hlinkClick r:id="rId13" action="ppaction://hlinkfile">
                            <a:extLst>
                              <a:ext uri="{A12FA001-AC4F-418D-AE19-62706E023703}">
                                <ahyp:hlinkClr xmlns:ahyp="http://schemas.microsoft.com/office/drawing/2018/hyperlinkcolor" val="tx"/>
                              </a:ext>
                            </a:extLst>
                          </a:hlinkClick>
                        </a:rPr>
                        <a:t>rot180</a:t>
                      </a:r>
                      <a:endParaRPr lang="en-US" sz="1800" b="1" dirty="0">
                        <a:solidFill>
                          <a:srgbClr val="FF000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将数组旋转</a:t>
                      </a:r>
                      <a:r>
                        <a:rPr lang="en-US" altLang="zh-CN" sz="1600" b="1" dirty="0">
                          <a:effectLst/>
                          <a:latin typeface="华文楷体" panose="02010600040101010101" pitchFamily="2" charset="-122"/>
                          <a:ea typeface="华文楷体" panose="02010600040101010101" pitchFamily="2" charset="-122"/>
                        </a:rPr>
                        <a:t>180</a:t>
                      </a:r>
                      <a:r>
                        <a:rPr lang="zh-CN" altLang="en-US" sz="1600" b="1" dirty="0">
                          <a:effectLst/>
                          <a:latin typeface="华文楷体" panose="02010600040101010101" pitchFamily="2" charset="-122"/>
                          <a:ea typeface="华文楷体" panose="02010600040101010101" pitchFamily="2" charset="-122"/>
                        </a:rPr>
                        <a:t>度</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352426"/>
                  </a:ext>
                </a:extLst>
              </a:tr>
              <a:tr h="291274">
                <a:tc>
                  <a:txBody>
                    <a:bodyPr/>
                    <a:lstStyle/>
                    <a:p>
                      <a:pPr algn="l"/>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14" action="ppaction://hlinkfile">
                            <a:extLst>
                              <a:ext uri="{A12FA001-AC4F-418D-AE19-62706E023703}">
                                <ahyp:hlinkClr xmlns:ahyp="http://schemas.microsoft.com/office/drawing/2018/hyperlinkcolor" val="tx"/>
                              </a:ext>
                            </a:extLst>
                          </a:hlinkClick>
                        </a:rPr>
                        <a:t>transpose</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转置向量或矩阵</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9483054"/>
                  </a:ext>
                </a:extLst>
              </a:tr>
            </a:tbl>
          </a:graphicData>
        </a:graphic>
      </p:graphicFrame>
      <p:sp>
        <p:nvSpPr>
          <p:cNvPr id="5" name="标题 1">
            <a:extLst>
              <a:ext uri="{FF2B5EF4-FFF2-40B4-BE49-F238E27FC236}">
                <a16:creationId xmlns:a16="http://schemas.microsoft.com/office/drawing/2014/main" id="{924817BB-F132-4AF0-9908-EF97F27076CB}"/>
              </a:ext>
            </a:extLst>
          </p:cNvPr>
          <p:cNvSpPr txBox="1">
            <a:spLocks/>
          </p:cNvSpPr>
          <p:nvPr/>
        </p:nvSpPr>
        <p:spPr bwMode="auto">
          <a:xfrm>
            <a:off x="2123729" y="193565"/>
            <a:ext cx="4752528"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kern="0" dirty="0">
                <a:latin typeface="Helvetica Neue"/>
              </a:rPr>
              <a:t>§</a:t>
            </a:r>
            <a:r>
              <a:rPr lang="en-US" altLang="zh-CN" sz="2800" dirty="0"/>
              <a:t>1.4.1.6 </a:t>
            </a:r>
            <a:r>
              <a:rPr lang="zh-CN" altLang="en-US" sz="2800" dirty="0"/>
              <a:t>数组</a:t>
            </a:r>
            <a:r>
              <a:rPr lang="zh-CN" altLang="zh-CN" sz="2800" dirty="0"/>
              <a:t>重构和重新排列</a:t>
            </a:r>
            <a:endParaRPr lang="zh-CN" altLang="en-US" sz="2800" dirty="0"/>
          </a:p>
        </p:txBody>
      </p:sp>
      <p:sp>
        <p:nvSpPr>
          <p:cNvPr id="8" name="文本框 7">
            <a:extLst>
              <a:ext uri="{FF2B5EF4-FFF2-40B4-BE49-F238E27FC236}">
                <a16:creationId xmlns:a16="http://schemas.microsoft.com/office/drawing/2014/main" id="{C24FBE6A-39D0-4CCA-97BE-A717BF8C96E6}"/>
              </a:ext>
            </a:extLst>
          </p:cNvPr>
          <p:cNvSpPr txBox="1"/>
          <p:nvPr/>
        </p:nvSpPr>
        <p:spPr>
          <a:xfrm>
            <a:off x="5835826" y="1284898"/>
            <a:ext cx="2080862" cy="369332"/>
          </a:xfrm>
          <a:prstGeom prst="rect">
            <a:avLst/>
          </a:prstGeom>
          <a:noFill/>
        </p:spPr>
        <p:txBody>
          <a:bodyPr wrap="square">
            <a:spAutoFit/>
          </a:bodyPr>
          <a:lstStyle/>
          <a:p>
            <a:r>
              <a:rPr lang="zh-CN" altLang="en-US" dirty="0">
                <a:solidFill>
                  <a:srgbClr val="00B0F0"/>
                </a:solidFill>
              </a:rPr>
              <a:t>sort(r,dims=2)</a:t>
            </a:r>
          </a:p>
        </p:txBody>
      </p:sp>
    </p:spTree>
    <p:extLst>
      <p:ext uri="{BB962C8B-B14F-4D97-AF65-F5344CB8AC3E}">
        <p14:creationId xmlns:p14="http://schemas.microsoft.com/office/powerpoint/2010/main" val="651181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7D5CF79-3A96-4B65-945F-4A80A2234D90}"/>
              </a:ext>
            </a:extLst>
          </p:cNvPr>
          <p:cNvSpPr txBox="1"/>
          <p:nvPr/>
        </p:nvSpPr>
        <p:spPr>
          <a:xfrm>
            <a:off x="179511" y="3291830"/>
            <a:ext cx="8820471" cy="1343445"/>
          </a:xfrm>
          <a:prstGeom prst="rect">
            <a:avLst/>
          </a:prstGeom>
          <a:solidFill>
            <a:schemeClr val="bg1"/>
          </a:solidFill>
        </p:spPr>
        <p:txBody>
          <a:bodyPr wrap="square">
            <a:spAutoFit/>
          </a:bodyPr>
          <a:lstStyle/>
          <a:p>
            <a:pPr marL="285750" indent="-285750">
              <a:lnSpc>
                <a:spcPts val="2500"/>
              </a:lnSpc>
              <a:buFont typeface="Wingdings" panose="05000000000000000000" pitchFamily="2" charset="2"/>
              <a:buChar char="u"/>
            </a:pPr>
            <a:r>
              <a:rPr lang="en-US" altLang="zh-CN" sz="1600" dirty="0">
                <a:solidFill>
                  <a:srgbClr val="0070C0"/>
                </a:solidFill>
                <a:latin typeface="微软雅黑" panose="020B0503020204020204" pitchFamily="34" charset="-122"/>
                <a:ea typeface="微软雅黑" panose="020B0503020204020204" pitchFamily="34" charset="-122"/>
              </a:rPr>
              <a:t>CSV</a:t>
            </a:r>
            <a:r>
              <a:rPr lang="zh-CN" altLang="en-US" sz="1600" dirty="0">
                <a:solidFill>
                  <a:srgbClr val="0070C0"/>
                </a:solidFill>
                <a:latin typeface="微软雅黑" panose="020B0503020204020204" pitchFamily="34" charset="-122"/>
                <a:ea typeface="微软雅黑" panose="020B0503020204020204" pitchFamily="34" charset="-122"/>
              </a:rPr>
              <a:t>文件是一种纯文本格式，用逗号分隔值，速度更快，占用的内存也更少，可以轻松导入和导出</a:t>
            </a:r>
            <a:r>
              <a:rPr lang="en-US" altLang="zh-CN" sz="1600" dirty="0">
                <a:solidFill>
                  <a:srgbClr val="0070C0"/>
                </a:solidFill>
                <a:latin typeface="微软雅黑" panose="020B0503020204020204" pitchFamily="34" charset="-122"/>
                <a:ea typeface="微软雅黑" panose="020B0503020204020204" pitchFamily="34" charset="-122"/>
              </a:rPr>
              <a:t>CSV</a:t>
            </a:r>
            <a:r>
              <a:rPr lang="zh-CN" altLang="en-US" sz="1600" dirty="0">
                <a:solidFill>
                  <a:srgbClr val="0070C0"/>
                </a:solidFill>
                <a:latin typeface="微软雅黑" panose="020B0503020204020204" pitchFamily="34" charset="-122"/>
                <a:ea typeface="微软雅黑" panose="020B0503020204020204" pitchFamily="34" charset="-122"/>
              </a:rPr>
              <a:t>文件</a:t>
            </a:r>
            <a:r>
              <a:rPr lang="en-US" altLang="zh-CN" sz="1600" dirty="0">
                <a:solidFill>
                  <a:srgbClr val="0070C0"/>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默认形式 </a:t>
            </a:r>
            <a:endParaRPr lang="en-US" altLang="zh-CN" sz="1600" dirty="0">
              <a:solidFill>
                <a:srgbClr val="0070C0"/>
              </a:solidFill>
              <a:latin typeface="微软雅黑" panose="020B0503020204020204" pitchFamily="34" charset="-122"/>
              <a:ea typeface="微软雅黑" panose="020B0503020204020204" pitchFamily="34" charset="-122"/>
            </a:endParaRPr>
          </a:p>
          <a:p>
            <a:pPr marL="285750" indent="-285750">
              <a:lnSpc>
                <a:spcPts val="2500"/>
              </a:lnSpc>
              <a:buFont typeface="Wingdings" panose="05000000000000000000" pitchFamily="2" charset="2"/>
              <a:buChar char="u"/>
            </a:pPr>
            <a:r>
              <a:rPr lang="en-US" altLang="zh-CN" sz="1600" dirty="0">
                <a:solidFill>
                  <a:srgbClr val="0070C0"/>
                </a:solidFill>
                <a:latin typeface="微软雅黑" panose="020B0503020204020204" pitchFamily="34" charset="-122"/>
                <a:ea typeface="微软雅黑" panose="020B0503020204020204" pitchFamily="34" charset="-122"/>
              </a:rPr>
              <a:t>Excel</a:t>
            </a:r>
            <a:r>
              <a:rPr lang="zh-CN" altLang="en-US" sz="1600" dirty="0">
                <a:solidFill>
                  <a:srgbClr val="0070C0"/>
                </a:solidFill>
                <a:latin typeface="微软雅黑" panose="020B0503020204020204" pitchFamily="34" charset="-122"/>
                <a:ea typeface="微软雅黑" panose="020B0503020204020204" pitchFamily="34" charset="-122"/>
              </a:rPr>
              <a:t>是电子表格，一种二进制格式，可以对数据进行操作，但不能用文本编辑器打开，而 </a:t>
            </a:r>
            <a:r>
              <a:rPr lang="en-US" altLang="zh-CN" sz="1600" dirty="0">
                <a:solidFill>
                  <a:srgbClr val="0070C0"/>
                </a:solidFill>
                <a:latin typeface="微软雅黑" panose="020B0503020204020204" pitchFamily="34" charset="-122"/>
                <a:ea typeface="微软雅黑" panose="020B0503020204020204" pitchFamily="34" charset="-122"/>
              </a:rPr>
              <a:t>Excel </a:t>
            </a:r>
            <a:r>
              <a:rPr lang="zh-CN" altLang="en-US" sz="1600" dirty="0">
                <a:solidFill>
                  <a:srgbClr val="0070C0"/>
                </a:solidFill>
                <a:latin typeface="微软雅黑" panose="020B0503020204020204" pitchFamily="34" charset="-122"/>
                <a:ea typeface="微软雅黑" panose="020B0503020204020204" pitchFamily="34" charset="-122"/>
              </a:rPr>
              <a:t>在导入数据时消耗的内存更多</a:t>
            </a:r>
          </a:p>
        </p:txBody>
      </p:sp>
      <p:graphicFrame>
        <p:nvGraphicFramePr>
          <p:cNvPr id="5" name="表格 4">
            <a:extLst>
              <a:ext uri="{FF2B5EF4-FFF2-40B4-BE49-F238E27FC236}">
                <a16:creationId xmlns:a16="http://schemas.microsoft.com/office/drawing/2014/main" id="{6AF1A227-B4E4-4896-AB1A-F520ADC5391D}"/>
              </a:ext>
            </a:extLst>
          </p:cNvPr>
          <p:cNvGraphicFramePr>
            <a:graphicFrameLocks noGrp="1"/>
          </p:cNvGraphicFramePr>
          <p:nvPr>
            <p:extLst>
              <p:ext uri="{D42A27DB-BD31-4B8C-83A1-F6EECF244321}">
                <p14:modId xmlns:p14="http://schemas.microsoft.com/office/powerpoint/2010/main" val="2969372011"/>
              </p:ext>
            </p:extLst>
          </p:nvPr>
        </p:nvGraphicFramePr>
        <p:xfrm>
          <a:off x="611559" y="1131590"/>
          <a:ext cx="8312076" cy="1782160"/>
        </p:xfrm>
        <a:graphic>
          <a:graphicData uri="http://schemas.openxmlformats.org/drawingml/2006/table">
            <a:tbl>
              <a:tblPr>
                <a:effectLst>
                  <a:outerShdw blurRad="63500" sx="102000" sy="102000" algn="ctr" rotWithShape="0">
                    <a:prstClr val="black">
                      <a:alpha val="40000"/>
                    </a:prstClr>
                  </a:outerShdw>
                </a:effectLst>
              </a:tblPr>
              <a:tblGrid>
                <a:gridCol w="1544613">
                  <a:extLst>
                    <a:ext uri="{9D8B030D-6E8A-4147-A177-3AD203B41FA5}">
                      <a16:colId xmlns:a16="http://schemas.microsoft.com/office/drawing/2014/main" val="4272550392"/>
                    </a:ext>
                  </a:extLst>
                </a:gridCol>
                <a:gridCol w="1516757">
                  <a:extLst>
                    <a:ext uri="{9D8B030D-6E8A-4147-A177-3AD203B41FA5}">
                      <a16:colId xmlns:a16="http://schemas.microsoft.com/office/drawing/2014/main" val="3163237844"/>
                    </a:ext>
                  </a:extLst>
                </a:gridCol>
                <a:gridCol w="2625353">
                  <a:extLst>
                    <a:ext uri="{9D8B030D-6E8A-4147-A177-3AD203B41FA5}">
                      <a16:colId xmlns:a16="http://schemas.microsoft.com/office/drawing/2014/main" val="859130979"/>
                    </a:ext>
                  </a:extLst>
                </a:gridCol>
                <a:gridCol w="2625353">
                  <a:extLst>
                    <a:ext uri="{9D8B030D-6E8A-4147-A177-3AD203B41FA5}">
                      <a16:colId xmlns:a16="http://schemas.microsoft.com/office/drawing/2014/main" val="1446252687"/>
                    </a:ext>
                  </a:extLst>
                </a:gridCol>
              </a:tblGrid>
              <a:tr h="356432">
                <a:tc>
                  <a:txBody>
                    <a:bodyPr/>
                    <a:lstStyle/>
                    <a:p>
                      <a:pPr algn="l"/>
                      <a:r>
                        <a:rPr lang="zh-CN" altLang="en-US" sz="1400" b="1" dirty="0">
                          <a:solidFill>
                            <a:schemeClr val="bg1"/>
                          </a:solidFill>
                          <a:effectLst/>
                          <a:latin typeface="微软雅黑" panose="020B0503020204020204" pitchFamily="34" charset="-122"/>
                          <a:ea typeface="微软雅黑" panose="020B0503020204020204" pitchFamily="34" charset="-122"/>
                        </a:rPr>
                        <a:t>导入和导出</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latin typeface="微软雅黑" panose="020B0503020204020204" pitchFamily="34" charset="-122"/>
                          <a:ea typeface="微软雅黑" panose="020B0503020204020204" pitchFamily="34" charset="-122"/>
                        </a:rPr>
                        <a:t>函数库</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latin typeface="微软雅黑" panose="020B0503020204020204" pitchFamily="34" charset="-122"/>
                          <a:ea typeface="微软雅黑" panose="020B0503020204020204" pitchFamily="34" charset="-122"/>
                        </a:rPr>
                        <a:t>简介函</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latin typeface="微软雅黑" panose="020B0503020204020204" pitchFamily="34" charset="-122"/>
                          <a:ea typeface="微软雅黑" panose="020B0503020204020204" pitchFamily="34" charset="-122"/>
                        </a:rPr>
                        <a:t>函数调用格式</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337728226"/>
                  </a:ext>
                </a:extLst>
              </a:tr>
              <a:tr h="356432">
                <a:tc>
                  <a:txBody>
                    <a:bodyPr/>
                    <a:lstStyle/>
                    <a:p>
                      <a:pPr algn="l"/>
                      <a:r>
                        <a:rPr lang="en-US" sz="1400" b="1" u="none" strike="noStrike" dirty="0" err="1">
                          <a:solidFill>
                            <a:schemeClr val="bg1"/>
                          </a:solidFill>
                          <a:effectLst/>
                          <a:hlinkClick r:id="rId2" action="ppaction://hlinkfile">
                            <a:extLst>
                              <a:ext uri="{A12FA001-AC4F-418D-AE19-62706E023703}">
                                <ahyp:hlinkClr xmlns:ahyp="http://schemas.microsoft.com/office/drawing/2018/hyperlinkcolor" val="tx"/>
                              </a:ext>
                            </a:extLst>
                          </a:hlinkClick>
                        </a:rPr>
                        <a:t>readtable</a:t>
                      </a:r>
                      <a:endParaRPr 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en-US" altLang="zh-CN" sz="1400" b="1" i="0" dirty="0" err="1">
                          <a:solidFill>
                            <a:schemeClr val="bg1"/>
                          </a:solidFill>
                          <a:effectLst/>
                          <a:latin typeface="Microsoft YaHei" panose="020B0503020204020204" pitchFamily="34" charset="-122"/>
                          <a:ea typeface="Microsoft YaHei" panose="020B0503020204020204" pitchFamily="34" charset="-122"/>
                        </a:rPr>
                        <a:t>TyBase</a:t>
                      </a:r>
                      <a:endParaRPr 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rPr>
                        <a:t>基于文件创建表</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endParaRPr lang="zh-CN" alt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2198284784"/>
                  </a:ext>
                </a:extLst>
              </a:tr>
              <a:tr h="356432">
                <a:tc>
                  <a:txBody>
                    <a:bodyPr/>
                    <a:lstStyle/>
                    <a:p>
                      <a:pPr marL="0" algn="l" defTabSz="914400" rtl="0" eaLnBrk="1" latinLnBrk="0" hangingPunct="1"/>
                      <a:r>
                        <a:rPr lang="zh-CN" altLang="en-US" sz="1400" b="1" i="0" kern="1200" dirty="0">
                          <a:solidFill>
                            <a:schemeClr val="bg1"/>
                          </a:solidFill>
                          <a:effectLst/>
                          <a:latin typeface="Microsoft YaHei" panose="020B0503020204020204" pitchFamily="34" charset="-122"/>
                          <a:ea typeface="Microsoft YaHei" panose="020B0503020204020204" pitchFamily="34" charset="-122"/>
                          <a:cs typeface="+mn-cs"/>
                        </a:rPr>
                        <a:t>DataFrames</a:t>
                      </a:r>
                      <a:endParaRPr lang="en-US" sz="1400" b="1" i="0" kern="1200" dirty="0">
                        <a:solidFill>
                          <a:schemeClr val="bg1"/>
                        </a:solidFill>
                        <a:effectLst/>
                        <a:latin typeface="Microsoft YaHei" panose="020B0503020204020204" pitchFamily="34" charset="-122"/>
                        <a:ea typeface="Microsoft YaHei" panose="020B0503020204020204" pitchFamily="34" charset="-122"/>
                        <a:cs typeface="+mn-cs"/>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marL="0" algn="l" defTabSz="914400" rtl="0" eaLnBrk="1" latinLnBrk="0" hangingPunct="1"/>
                      <a:r>
                        <a:rPr lang="en-US" altLang="zh-CN" sz="1400" b="1" i="0" kern="1200" dirty="0" err="1">
                          <a:solidFill>
                            <a:schemeClr val="bg1"/>
                          </a:solidFill>
                          <a:effectLst/>
                          <a:latin typeface="Microsoft YaHei" panose="020B0503020204020204" pitchFamily="34" charset="-122"/>
                          <a:ea typeface="Microsoft YaHei" panose="020B0503020204020204" pitchFamily="34" charset="-122"/>
                          <a:cs typeface="+mn-cs"/>
                        </a:rPr>
                        <a:t>TyBase</a:t>
                      </a:r>
                      <a:endParaRPr lang="en-US" altLang="zh-CN" sz="1400" b="1" i="0" kern="1200" dirty="0">
                        <a:solidFill>
                          <a:schemeClr val="bg1"/>
                        </a:solidFill>
                        <a:effectLst/>
                        <a:latin typeface="Microsoft YaHei" panose="020B0503020204020204" pitchFamily="34" charset="-122"/>
                        <a:ea typeface="Microsoft YaHei" panose="020B0503020204020204" pitchFamily="34" charset="-122"/>
                        <a:cs typeface="+mn-cs"/>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rPr>
                        <a:t>构造与表格数据框架</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endParaRPr lang="zh-CN" alt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2731979505"/>
                  </a:ext>
                </a:extLst>
              </a:tr>
              <a:tr h="356432">
                <a:tc>
                  <a:txBody>
                    <a:bodyPr/>
                    <a:lstStyle/>
                    <a:p>
                      <a:pPr marL="0" algn="l" defTabSz="914400" rtl="0" eaLnBrk="1" latinLnBrk="0" hangingPunct="1"/>
                      <a:r>
                        <a:rPr lang="en-US" sz="1400" b="1" kern="1200" dirty="0" err="1">
                          <a:solidFill>
                            <a:schemeClr val="bg1"/>
                          </a:solidFill>
                          <a:effectLst/>
                          <a:latin typeface="微软雅黑" panose="020B0503020204020204" pitchFamily="34" charset="-122"/>
                          <a:ea typeface="微软雅黑" panose="020B0503020204020204" pitchFamily="34" charset="-122"/>
                          <a:cs typeface="+mn-cs"/>
                          <a:hlinkClick r:id="rId3" action="ppaction://hlinkfile">
                            <a:extLst>
                              <a:ext uri="{A12FA001-AC4F-418D-AE19-62706E023703}">
                                <ahyp:hlinkClr xmlns:ahyp="http://schemas.microsoft.com/office/drawing/2018/hyperlinkcolor" val="tx"/>
                              </a:ext>
                            </a:extLst>
                          </a:hlinkClick>
                        </a:rPr>
                        <a:t>CSV.read</a:t>
                      </a:r>
                      <a:endParaRPr lang="en-US" sz="1400" b="1" kern="1200" dirty="0">
                        <a:solidFill>
                          <a:schemeClr val="bg1"/>
                        </a:solidFill>
                        <a:effectLst/>
                        <a:latin typeface="微软雅黑" panose="020B0503020204020204" pitchFamily="34" charset="-122"/>
                        <a:ea typeface="微软雅黑" panose="020B0503020204020204" pitchFamily="34" charset="-122"/>
                        <a:cs typeface="+mn-cs"/>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marL="0" algn="l" defTabSz="914400" rtl="0" eaLnBrk="1" latinLnBrk="0" hangingPunct="1"/>
                      <a:r>
                        <a:rPr lang="zh-CN" altLang="zh-CN" sz="1400" b="1" kern="1200" dirty="0">
                          <a:solidFill>
                            <a:schemeClr val="bg1"/>
                          </a:solidFill>
                          <a:effectLst/>
                          <a:latin typeface="微软雅黑" panose="020B0503020204020204" pitchFamily="34" charset="-122"/>
                          <a:ea typeface="微软雅黑" panose="020B0503020204020204" pitchFamily="34" charset="-122"/>
                          <a:cs typeface="+mn-cs"/>
                        </a:rPr>
                        <a:t>CSV</a:t>
                      </a:r>
                      <a:endParaRPr lang="en-US" sz="1400" b="1" kern="1200" dirty="0">
                        <a:solidFill>
                          <a:schemeClr val="bg1"/>
                        </a:solidFill>
                        <a:effectLst/>
                        <a:latin typeface="微软雅黑" panose="020B0503020204020204" pitchFamily="34" charset="-122"/>
                        <a:ea typeface="微软雅黑" panose="020B0503020204020204" pitchFamily="34" charset="-122"/>
                        <a:cs typeface="+mn-cs"/>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rPr>
                        <a:t>读取文件</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endParaRPr lang="zh-CN" alt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685192086"/>
                  </a:ext>
                </a:extLst>
              </a:tr>
              <a:tr h="356432">
                <a:tc>
                  <a:txBody>
                    <a:bodyPr/>
                    <a:lstStyle/>
                    <a:p>
                      <a:pPr algn="l"/>
                      <a:r>
                        <a:rPr lang="en-US" sz="1400" b="1" u="none" strike="noStrike" dirty="0" err="1">
                          <a:solidFill>
                            <a:schemeClr val="bg1"/>
                          </a:solidFill>
                          <a:effectLst/>
                          <a:hlinkClick r:id="rId4" action="ppaction://hlinkfile">
                            <a:extLst>
                              <a:ext uri="{A12FA001-AC4F-418D-AE19-62706E023703}">
                                <ahyp:hlinkClr xmlns:ahyp="http://schemas.microsoft.com/office/drawing/2018/hyperlinkcolor" val="tx"/>
                              </a:ext>
                            </a:extLst>
                          </a:hlinkClick>
                        </a:rPr>
                        <a:t>CSV.write</a:t>
                      </a:r>
                      <a:endParaRPr 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en-US" sz="1400" b="1" dirty="0">
                          <a:solidFill>
                            <a:schemeClr val="bg1"/>
                          </a:solidFill>
                          <a:effectLst/>
                        </a:rPr>
                        <a:t>CSV</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rPr>
                        <a:t>将表写入文件</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endParaRPr lang="zh-CN" alt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3709948325"/>
                  </a:ext>
                </a:extLst>
              </a:tr>
            </a:tbl>
          </a:graphicData>
        </a:graphic>
      </p:graphicFrame>
      <p:sp>
        <p:nvSpPr>
          <p:cNvPr id="6" name="文本框 5">
            <a:extLst>
              <a:ext uri="{FF2B5EF4-FFF2-40B4-BE49-F238E27FC236}">
                <a16:creationId xmlns:a16="http://schemas.microsoft.com/office/drawing/2014/main" id="{92CC29E8-06D1-4E71-AE2C-FFEAC7ACC4F8}"/>
              </a:ext>
            </a:extLst>
          </p:cNvPr>
          <p:cNvSpPr txBox="1"/>
          <p:nvPr/>
        </p:nvSpPr>
        <p:spPr>
          <a:xfrm>
            <a:off x="69785" y="739742"/>
            <a:ext cx="3007366" cy="369332"/>
          </a:xfrm>
          <a:prstGeom prst="rect">
            <a:avLst/>
          </a:prstGeom>
          <a:solidFill>
            <a:schemeClr val="bg1"/>
          </a:solidFill>
        </p:spPr>
        <p:txBody>
          <a:bodyPr wrap="square">
            <a:spAutoFit/>
          </a:bodyPr>
          <a:lstStyle>
            <a:defPPr>
              <a:defRPr lang="zh-CN"/>
            </a:defPPr>
            <a:lvl1pPr>
              <a:defRPr sz="2000" b="1">
                <a:solidFill>
                  <a:srgbClr val="0070C0"/>
                </a:solidFill>
                <a:latin typeface="微软雅黑" panose="020B0503020204020204" pitchFamily="34" charset="-122"/>
                <a:ea typeface="微软雅黑" panose="020B0503020204020204" pitchFamily="34" charset="-122"/>
              </a:defRPr>
            </a:lvl1pPr>
          </a:lstStyle>
          <a:p>
            <a:pPr marL="457200" indent="-457200">
              <a:buFont typeface="+mj-ea"/>
              <a:buAutoNum type="circleNumDbPlain"/>
            </a:pPr>
            <a:r>
              <a:rPr lang="zh-CN" altLang="en-US" sz="1800" dirty="0"/>
              <a:t>读取和写入表格文件</a:t>
            </a:r>
          </a:p>
        </p:txBody>
      </p:sp>
      <p:sp>
        <p:nvSpPr>
          <p:cNvPr id="9" name="标题 1">
            <a:extLst>
              <a:ext uri="{FF2B5EF4-FFF2-40B4-BE49-F238E27FC236}">
                <a16:creationId xmlns:a16="http://schemas.microsoft.com/office/drawing/2014/main" id="{6FAFF46B-90A0-4B94-BC0A-1FB016B84857}"/>
              </a:ext>
            </a:extLst>
          </p:cNvPr>
          <p:cNvSpPr txBox="1">
            <a:spLocks/>
          </p:cNvSpPr>
          <p:nvPr/>
        </p:nvSpPr>
        <p:spPr bwMode="auto">
          <a:xfrm>
            <a:off x="637823" y="265435"/>
            <a:ext cx="6696744" cy="36200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kern="0" dirty="0">
                <a:solidFill>
                  <a:srgbClr val="0070C0"/>
                </a:solidFill>
              </a:rPr>
              <a:t>§1.4.2  </a:t>
            </a:r>
            <a:r>
              <a:rPr lang="zh-CN" altLang="en-US" sz="3000" dirty="0">
                <a:solidFill>
                  <a:srgbClr val="0070C0"/>
                </a:solidFill>
              </a:rPr>
              <a:t>列表</a:t>
            </a:r>
            <a:r>
              <a:rPr lang="en-US" altLang="zh-CN" sz="3000" dirty="0">
                <a:solidFill>
                  <a:srgbClr val="0070C0"/>
                </a:solidFill>
              </a:rPr>
              <a:t>table</a:t>
            </a:r>
            <a:r>
              <a:rPr lang="en-US" altLang="zh-CN" sz="3000" kern="0" dirty="0">
                <a:solidFill>
                  <a:srgbClr val="0070C0"/>
                </a:solidFill>
              </a:rPr>
              <a:t> </a:t>
            </a:r>
            <a:r>
              <a:rPr lang="en-US" altLang="zh-CN" sz="3000" kern="0" dirty="0">
                <a:solidFill>
                  <a:srgbClr val="FF0000"/>
                </a:solidFill>
              </a:rPr>
              <a:t>——</a:t>
            </a:r>
            <a:r>
              <a:rPr lang="zh-CN" altLang="en-US" sz="3000" kern="0" dirty="0">
                <a:solidFill>
                  <a:srgbClr val="FF0000"/>
                </a:solidFill>
              </a:rPr>
              <a:t>读取和写入表格文件函数</a:t>
            </a:r>
          </a:p>
        </p:txBody>
      </p:sp>
      <p:sp>
        <p:nvSpPr>
          <p:cNvPr id="15" name="矩形 14">
            <a:extLst>
              <a:ext uri="{FF2B5EF4-FFF2-40B4-BE49-F238E27FC236}">
                <a16:creationId xmlns:a16="http://schemas.microsoft.com/office/drawing/2014/main" id="{4FF2BEF0-7118-4D05-A2C3-6CCE4B2A9243}"/>
              </a:ext>
            </a:extLst>
          </p:cNvPr>
          <p:cNvSpPr/>
          <p:nvPr/>
        </p:nvSpPr>
        <p:spPr>
          <a:xfrm>
            <a:off x="5305416" y="2226072"/>
            <a:ext cx="3572948"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zh-CN" altLang="en-US" sz="1400" dirty="0">
                <a:highlight>
                  <a:srgbClr val="003B76"/>
                </a:highlight>
              </a:rPr>
              <a:t>表格变量</a:t>
            </a:r>
            <a:r>
              <a:rPr lang="en-US" altLang="zh-CN" sz="1400" dirty="0">
                <a:highlight>
                  <a:srgbClr val="003B76"/>
                </a:highlight>
              </a:rPr>
              <a:t>T</a:t>
            </a:r>
            <a:r>
              <a:rPr lang="zh-CN" altLang="zh-CN" sz="1400" dirty="0">
                <a:highlight>
                  <a:srgbClr val="003B76"/>
                </a:highlight>
              </a:rPr>
              <a:t> </a:t>
            </a:r>
            <a:r>
              <a:rPr lang="en-US" altLang="zh-CN" sz="1400" dirty="0">
                <a:highlight>
                  <a:srgbClr val="003B76"/>
                </a:highlight>
              </a:rPr>
              <a:t>=</a:t>
            </a:r>
            <a:r>
              <a:rPr lang="en-US" altLang="zh-CN" sz="1400" dirty="0" err="1">
                <a:highlight>
                  <a:srgbClr val="003B76"/>
                </a:highlight>
              </a:rPr>
              <a:t>CSV.read</a:t>
            </a:r>
            <a:r>
              <a:rPr lang="en-US" altLang="zh-CN" sz="1400" dirty="0">
                <a:highlight>
                  <a:srgbClr val="003B76"/>
                </a:highlight>
              </a:rPr>
              <a:t>(“file.csv",</a:t>
            </a:r>
            <a:r>
              <a:rPr lang="en-US" altLang="zh-CN" sz="1400" dirty="0" err="1">
                <a:highlight>
                  <a:srgbClr val="003B76"/>
                </a:highlight>
              </a:rPr>
              <a:t>DataFrame</a:t>
            </a:r>
            <a:r>
              <a:rPr lang="en-US" altLang="zh-CN" sz="1400" dirty="0">
                <a:highlight>
                  <a:srgbClr val="003B76"/>
                </a:highlight>
              </a:rPr>
              <a:t>)</a:t>
            </a:r>
            <a:endParaRPr lang="zh-CN" altLang="en-US" sz="1400" dirty="0">
              <a:highlight>
                <a:srgbClr val="003B76"/>
              </a:highlight>
            </a:endParaRPr>
          </a:p>
        </p:txBody>
      </p:sp>
      <p:sp>
        <p:nvSpPr>
          <p:cNvPr id="10" name="矩形 9">
            <a:extLst>
              <a:ext uri="{FF2B5EF4-FFF2-40B4-BE49-F238E27FC236}">
                <a16:creationId xmlns:a16="http://schemas.microsoft.com/office/drawing/2014/main" id="{18C65830-A458-429E-A1CD-696A4B41E360}"/>
              </a:ext>
            </a:extLst>
          </p:cNvPr>
          <p:cNvSpPr/>
          <p:nvPr/>
        </p:nvSpPr>
        <p:spPr>
          <a:xfrm>
            <a:off x="35496" y="2966394"/>
            <a:ext cx="4536504" cy="338554"/>
          </a:xfrm>
          <a:prstGeom prst="rect">
            <a:avLst/>
          </a:prstGeom>
          <a:solidFill>
            <a:schemeClr val="bg1"/>
          </a:solidFill>
        </p:spPr>
        <p:txBody>
          <a:bodyPr wrap="square">
            <a:spAutoFit/>
          </a:bodyPr>
          <a:lstStyle/>
          <a:p>
            <a:pPr marL="457200" indent="-457200">
              <a:buFont typeface="+mj-ea"/>
              <a:buAutoNum type="circleNumDbPlain" startAt="2"/>
            </a:pPr>
            <a:r>
              <a:rPr lang="zh-CN" altLang="en-US" sz="1600" b="1" dirty="0">
                <a:solidFill>
                  <a:srgbClr val="0070C0"/>
                </a:solidFill>
                <a:latin typeface="微软雅黑" panose="020B0503020204020204" pitchFamily="34" charset="-122"/>
                <a:ea typeface="微软雅黑" panose="020B0503020204020204" pitchFamily="34" charset="-122"/>
              </a:rPr>
              <a:t>数据存储和处理常用</a:t>
            </a:r>
            <a:r>
              <a:rPr lang="en-US" altLang="zh-CN" sz="1600" b="1" dirty="0">
                <a:solidFill>
                  <a:srgbClr val="0070C0"/>
                </a:solidFill>
                <a:latin typeface="微软雅黑" panose="020B0503020204020204" pitchFamily="34" charset="-122"/>
                <a:ea typeface="微软雅黑" panose="020B0503020204020204" pitchFamily="34" charset="-122"/>
              </a:rPr>
              <a:t>CSV</a:t>
            </a:r>
            <a:r>
              <a:rPr lang="zh-CN" altLang="en-US" sz="1600" b="1" dirty="0">
                <a:solidFill>
                  <a:srgbClr val="0070C0"/>
                </a:solidFill>
                <a:latin typeface="微软雅黑" panose="020B0503020204020204" pitchFamily="34" charset="-122"/>
                <a:ea typeface="微软雅黑" panose="020B0503020204020204" pitchFamily="34" charset="-122"/>
              </a:rPr>
              <a:t>文件和</a:t>
            </a:r>
            <a:r>
              <a:rPr lang="en-US" altLang="zh-CN" sz="1600" b="1" dirty="0">
                <a:solidFill>
                  <a:srgbClr val="0070C0"/>
                </a:solidFill>
                <a:latin typeface="微软雅黑" panose="020B0503020204020204" pitchFamily="34" charset="-122"/>
                <a:ea typeface="微软雅黑" panose="020B0503020204020204" pitchFamily="34" charset="-122"/>
              </a:rPr>
              <a:t>excel</a:t>
            </a:r>
            <a:r>
              <a:rPr lang="zh-CN" altLang="en-US" sz="1600" b="1" dirty="0">
                <a:solidFill>
                  <a:srgbClr val="0070C0"/>
                </a:solidFill>
                <a:latin typeface="微软雅黑" panose="020B0503020204020204" pitchFamily="34" charset="-122"/>
                <a:ea typeface="微软雅黑" panose="020B0503020204020204" pitchFamily="34" charset="-122"/>
              </a:rPr>
              <a:t>文件</a:t>
            </a:r>
          </a:p>
        </p:txBody>
      </p:sp>
      <p:sp>
        <p:nvSpPr>
          <p:cNvPr id="17" name="文本框 16">
            <a:extLst>
              <a:ext uri="{FF2B5EF4-FFF2-40B4-BE49-F238E27FC236}">
                <a16:creationId xmlns:a16="http://schemas.microsoft.com/office/drawing/2014/main" id="{1863D288-73FF-4141-BD13-7DEADDB3C990}"/>
              </a:ext>
            </a:extLst>
          </p:cNvPr>
          <p:cNvSpPr txBox="1"/>
          <p:nvPr/>
        </p:nvSpPr>
        <p:spPr>
          <a:xfrm>
            <a:off x="5974652" y="2572398"/>
            <a:ext cx="2917827"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a:defRPr sz="1600"/>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dist"/>
            <a:r>
              <a:rPr lang="zh-CN" altLang="en-US" sz="1400" dirty="0">
                <a:highlight>
                  <a:srgbClr val="003B76"/>
                </a:highlight>
              </a:rPr>
              <a:t> CSV.write</a:t>
            </a:r>
            <a:r>
              <a:rPr lang="en-US" altLang="zh-CN" sz="1400" dirty="0">
                <a:highlight>
                  <a:srgbClr val="003B76"/>
                </a:highlight>
              </a:rPr>
              <a:t> (“file.csv”,</a:t>
            </a:r>
            <a:r>
              <a:rPr lang="zh-CN" altLang="en-US" sz="1400" dirty="0">
                <a:highlight>
                  <a:srgbClr val="003B76"/>
                </a:highlight>
              </a:rPr>
              <a:t> 框架变量名)</a:t>
            </a:r>
          </a:p>
        </p:txBody>
      </p:sp>
      <p:sp>
        <p:nvSpPr>
          <p:cNvPr id="18" name="Rectangle 1">
            <a:extLst>
              <a:ext uri="{FF2B5EF4-FFF2-40B4-BE49-F238E27FC236}">
                <a16:creationId xmlns:a16="http://schemas.microsoft.com/office/drawing/2014/main" id="{C418D8C7-E51D-4FC2-9C89-FD8273DCCA24}"/>
              </a:ext>
            </a:extLst>
          </p:cNvPr>
          <p:cNvSpPr>
            <a:spLocks noChangeArrowheads="1"/>
          </p:cNvSpPr>
          <p:nvPr/>
        </p:nvSpPr>
        <p:spPr bwMode="auto">
          <a:xfrm>
            <a:off x="6047508" y="1879746"/>
            <a:ext cx="2815603"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zh-CN" altLang="en-US" sz="1400" dirty="0">
                <a:highlight>
                  <a:srgbClr val="003B76"/>
                </a:highlight>
              </a:rPr>
              <a:t>框架变量名</a:t>
            </a:r>
            <a:r>
              <a:rPr lang="zh-CN" altLang="zh-CN" sz="1400" dirty="0">
                <a:highlight>
                  <a:srgbClr val="003B76"/>
                </a:highlight>
              </a:rPr>
              <a:t>DataFram</a:t>
            </a:r>
            <a:r>
              <a:rPr lang="en-US" altLang="zh-CN" sz="1400" dirty="0">
                <a:highlight>
                  <a:srgbClr val="003B76"/>
                </a:highlight>
              </a:rPr>
              <a:t>=</a:t>
            </a:r>
            <a:r>
              <a:rPr lang="zh-CN" altLang="zh-CN" sz="1400" dirty="0">
                <a:highlight>
                  <a:srgbClr val="003B76"/>
                </a:highlight>
              </a:rPr>
              <a:t>e(</a:t>
            </a:r>
            <a:r>
              <a:rPr lang="en-US" altLang="zh-CN" sz="1400" dirty="0">
                <a:highlight>
                  <a:srgbClr val="003B76"/>
                </a:highlight>
              </a:rPr>
              <a:t>x1,…</a:t>
            </a:r>
            <a:r>
              <a:rPr lang="en-US" altLang="zh-CN" sz="1400" dirty="0" err="1">
                <a:highlight>
                  <a:srgbClr val="003B76"/>
                </a:highlight>
              </a:rPr>
              <a:t>xn</a:t>
            </a:r>
            <a:r>
              <a:rPr lang="zh-CN" altLang="zh-CN" sz="1400" dirty="0">
                <a:highlight>
                  <a:srgbClr val="003B76"/>
                </a:highlight>
              </a:rPr>
              <a:t>) </a:t>
            </a:r>
          </a:p>
        </p:txBody>
      </p:sp>
      <p:sp>
        <p:nvSpPr>
          <p:cNvPr id="19" name="矩形 18">
            <a:extLst>
              <a:ext uri="{FF2B5EF4-FFF2-40B4-BE49-F238E27FC236}">
                <a16:creationId xmlns:a16="http://schemas.microsoft.com/office/drawing/2014/main" id="{9B621A08-22DE-4A97-A051-F2996B65360D}"/>
              </a:ext>
            </a:extLst>
          </p:cNvPr>
          <p:cNvSpPr/>
          <p:nvPr/>
        </p:nvSpPr>
        <p:spPr>
          <a:xfrm>
            <a:off x="6047508" y="1473590"/>
            <a:ext cx="2815603"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zh-CN" altLang="en-US" sz="1400" dirty="0">
                <a:highlight>
                  <a:srgbClr val="003B76"/>
                </a:highlight>
              </a:rPr>
              <a:t>表格变量</a:t>
            </a:r>
            <a:r>
              <a:rPr lang="zh-CN" altLang="zh-CN" sz="1400" dirty="0">
                <a:highlight>
                  <a:srgbClr val="003B76"/>
                </a:highlight>
              </a:rPr>
              <a:t> </a:t>
            </a:r>
            <a:r>
              <a:rPr lang="en-US" altLang="zh-CN" sz="1400" dirty="0">
                <a:highlight>
                  <a:srgbClr val="003B76"/>
                </a:highlight>
              </a:rPr>
              <a:t>T</a:t>
            </a:r>
            <a:r>
              <a:rPr lang="zh-CN" altLang="zh-CN" sz="1400" dirty="0">
                <a:highlight>
                  <a:srgbClr val="003B76"/>
                </a:highlight>
              </a:rPr>
              <a:t>= readtable(</a:t>
            </a:r>
            <a:r>
              <a:rPr lang="en-US" altLang="zh-CN" sz="1400" dirty="0">
                <a:highlight>
                  <a:srgbClr val="003B76"/>
                </a:highlight>
              </a:rPr>
              <a:t>“</a:t>
            </a:r>
            <a:r>
              <a:rPr lang="zh-CN" altLang="en-US" sz="1400" dirty="0">
                <a:highlight>
                  <a:srgbClr val="003B76"/>
                </a:highlight>
              </a:rPr>
              <a:t>文件名</a:t>
            </a:r>
            <a:r>
              <a:rPr lang="en-US" altLang="zh-CN" sz="1400" dirty="0">
                <a:highlight>
                  <a:srgbClr val="003B76"/>
                </a:highlight>
              </a:rPr>
              <a:t>”</a:t>
            </a:r>
            <a:r>
              <a:rPr lang="zh-CN" altLang="zh-CN" sz="1400" dirty="0">
                <a:highlight>
                  <a:srgbClr val="003B76"/>
                </a:highlight>
              </a:rPr>
              <a:t>) </a:t>
            </a:r>
            <a:endParaRPr lang="en-US" altLang="zh-CN" sz="1400" dirty="0">
              <a:highlight>
                <a:srgbClr val="003B76"/>
              </a:highlight>
            </a:endParaRPr>
          </a:p>
        </p:txBody>
      </p:sp>
      <p:sp>
        <p:nvSpPr>
          <p:cNvPr id="20" name="矩形 19">
            <a:extLst>
              <a:ext uri="{FF2B5EF4-FFF2-40B4-BE49-F238E27FC236}">
                <a16:creationId xmlns:a16="http://schemas.microsoft.com/office/drawing/2014/main" id="{4C16868B-E000-46AF-8E32-D13556F9AFD8}"/>
              </a:ext>
            </a:extLst>
          </p:cNvPr>
          <p:cNvSpPr/>
          <p:nvPr/>
        </p:nvSpPr>
        <p:spPr>
          <a:xfrm>
            <a:off x="3077151" y="742702"/>
            <a:ext cx="5709030" cy="338554"/>
          </a:xfrm>
          <a:prstGeom prst="rect">
            <a:avLst/>
          </a:prstGeom>
          <a:solidFill>
            <a:schemeClr val="bg1"/>
          </a:solidFill>
        </p:spPr>
        <p:txBody>
          <a:bodyPr wrap="square">
            <a:spAutoFit/>
          </a:bodyPr>
          <a:lstStyle/>
          <a:p>
            <a:pPr algn="dist"/>
            <a:r>
              <a:rPr lang="zh-CN" altLang="en-US" sz="1600" dirty="0">
                <a:solidFill>
                  <a:srgbClr val="FF0000"/>
                </a:solidFill>
                <a:latin typeface="微软雅黑" panose="020B0503020204020204" pitchFamily="34" charset="-122"/>
                <a:ea typeface="微软雅黑" panose="020B0503020204020204" pitchFamily="34" charset="-122"/>
              </a:rPr>
              <a:t>位于当前目录下的文件可以不用指明文件路径</a:t>
            </a:r>
          </a:p>
        </p:txBody>
      </p:sp>
    </p:spTree>
    <p:extLst>
      <p:ext uri="{BB962C8B-B14F-4D97-AF65-F5344CB8AC3E}">
        <p14:creationId xmlns:p14="http://schemas.microsoft.com/office/powerpoint/2010/main" val="192204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0" grpId="0" animBg="1"/>
      <p:bldP spid="17"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51CA5A1-ED94-49E7-9F53-D4292D7000FA}"/>
              </a:ext>
            </a:extLst>
          </p:cNvPr>
          <p:cNvSpPr txBox="1">
            <a:spLocks/>
          </p:cNvSpPr>
          <p:nvPr/>
        </p:nvSpPr>
        <p:spPr bwMode="auto">
          <a:xfrm>
            <a:off x="6664944" y="1319750"/>
            <a:ext cx="2361243" cy="651204"/>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nSpc>
                <a:spcPts val="2300"/>
              </a:lnSpc>
              <a:buNone/>
            </a:pPr>
            <a:r>
              <a:rPr lang="en-US" altLang="zh-CN" sz="1400" b="1" kern="0" dirty="0">
                <a:solidFill>
                  <a:srgbClr val="00B0F0"/>
                </a:solidFill>
                <a:latin typeface="微软雅黑" panose="020B0503020204020204" pitchFamily="34" charset="-122"/>
                <a:ea typeface="微软雅黑" panose="020B0503020204020204" pitchFamily="34" charset="-122"/>
              </a:rPr>
              <a:t>table</a:t>
            </a:r>
            <a:r>
              <a:rPr lang="zh-CN" altLang="en-US" sz="1400" b="1" kern="0" dirty="0">
                <a:solidFill>
                  <a:srgbClr val="00B0F0"/>
                </a:solidFill>
                <a:latin typeface="微软雅黑" panose="020B0503020204020204" pitchFamily="34" charset="-122"/>
                <a:ea typeface="微软雅黑" panose="020B0503020204020204" pitchFamily="34" charset="-122"/>
              </a:rPr>
              <a:t>表格形式的数组，其指定列可以有不同类型数据</a:t>
            </a:r>
          </a:p>
        </p:txBody>
      </p:sp>
      <p:sp>
        <p:nvSpPr>
          <p:cNvPr id="7" name="标题 1">
            <a:extLst>
              <a:ext uri="{FF2B5EF4-FFF2-40B4-BE49-F238E27FC236}">
                <a16:creationId xmlns:a16="http://schemas.microsoft.com/office/drawing/2014/main" id="{55667FD8-8D7C-488E-A5FD-DACC9273A480}"/>
              </a:ext>
            </a:extLst>
          </p:cNvPr>
          <p:cNvSpPr txBox="1">
            <a:spLocks/>
          </p:cNvSpPr>
          <p:nvPr/>
        </p:nvSpPr>
        <p:spPr bwMode="auto">
          <a:xfrm>
            <a:off x="611560" y="261647"/>
            <a:ext cx="6696744" cy="36200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kern="0" dirty="0">
                <a:solidFill>
                  <a:srgbClr val="0070C0"/>
                </a:solidFill>
              </a:rPr>
              <a:t>§1.4.2  </a:t>
            </a:r>
            <a:r>
              <a:rPr lang="zh-CN" altLang="en-US" sz="3000" dirty="0">
                <a:solidFill>
                  <a:srgbClr val="0070C0"/>
                </a:solidFill>
              </a:rPr>
              <a:t>列表</a:t>
            </a:r>
            <a:r>
              <a:rPr lang="en-US" altLang="zh-CN" sz="3000" dirty="0">
                <a:solidFill>
                  <a:srgbClr val="0070C0"/>
                </a:solidFill>
              </a:rPr>
              <a:t>table</a:t>
            </a:r>
            <a:r>
              <a:rPr lang="en-US" altLang="zh-CN" sz="3000" kern="0" dirty="0">
                <a:solidFill>
                  <a:srgbClr val="0070C0"/>
                </a:solidFill>
              </a:rPr>
              <a:t> </a:t>
            </a:r>
            <a:r>
              <a:rPr lang="en-US" altLang="zh-CN" sz="3000" kern="0" dirty="0">
                <a:solidFill>
                  <a:srgbClr val="FF0000"/>
                </a:solidFill>
              </a:rPr>
              <a:t>——</a:t>
            </a:r>
            <a:r>
              <a:rPr lang="en-US" altLang="zh-CN" sz="3000" kern="0" dirty="0" err="1">
                <a:solidFill>
                  <a:srgbClr val="FF0000"/>
                </a:solidFill>
              </a:rPr>
              <a:t>readtable</a:t>
            </a:r>
            <a:r>
              <a:rPr lang="zh-CN" altLang="en-US" sz="3000" kern="0" dirty="0">
                <a:solidFill>
                  <a:srgbClr val="FF0000"/>
                </a:solidFill>
              </a:rPr>
              <a:t>基于文件创建表格</a:t>
            </a:r>
          </a:p>
        </p:txBody>
      </p:sp>
      <p:sp>
        <p:nvSpPr>
          <p:cNvPr id="12" name="Rectangle 1">
            <a:extLst>
              <a:ext uri="{FF2B5EF4-FFF2-40B4-BE49-F238E27FC236}">
                <a16:creationId xmlns:a16="http://schemas.microsoft.com/office/drawing/2014/main" id="{AAB94E26-73AF-4FB0-B025-1E63F493913E}"/>
              </a:ext>
            </a:extLst>
          </p:cNvPr>
          <p:cNvSpPr>
            <a:spLocks noChangeArrowheads="1"/>
          </p:cNvSpPr>
          <p:nvPr/>
        </p:nvSpPr>
        <p:spPr bwMode="auto">
          <a:xfrm>
            <a:off x="153248" y="1146341"/>
            <a:ext cx="6511695" cy="3512794"/>
          </a:xfrm>
          <a:prstGeom prst="rect">
            <a:avLst/>
          </a:prstGeom>
          <a:noFill/>
          <a:ln w="9525">
            <a:noFill/>
            <a:miter lim="800000"/>
            <a:headEnd/>
            <a:tailEnd/>
          </a:ln>
          <a:effectLst/>
        </p:spPr>
        <p:txBody>
          <a:bodyPr vert="horz" wrap="square" lIns="0" tIns="28566" rIns="0" bIns="57132"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indent="-457200">
              <a:lnSpc>
                <a:spcPts val="2900"/>
              </a:lnSpc>
              <a:buFont typeface="+mj-ea"/>
              <a:buAutoNum type="circleNumDbPlain"/>
            </a:pPr>
            <a:r>
              <a:rPr lang="zh-CN" altLang="en-US" sz="1600" b="1" dirty="0">
                <a:solidFill>
                  <a:srgbClr val="0070C0"/>
                </a:solidFill>
                <a:latin typeface="微软雅黑 Light" panose="020B0502040204020203" pitchFamily="34" charset="-122"/>
                <a:ea typeface="微软雅黑 Light" panose="020B0502040204020203" pitchFamily="34" charset="-122"/>
              </a:rPr>
              <a:t>读取带有扩展名</a:t>
            </a:r>
            <a:r>
              <a:rPr lang="en-US" altLang="zh-CN" sz="1600" b="1" dirty="0">
                <a:solidFill>
                  <a:srgbClr val="0070C0"/>
                </a:solidFill>
                <a:latin typeface="微软雅黑 Light" panose="020B0502040204020203" pitchFamily="34" charset="-122"/>
                <a:ea typeface="微软雅黑 Light" panose="020B0502040204020203" pitchFamily="34" charset="-122"/>
              </a:rPr>
              <a:t>filename</a:t>
            </a:r>
            <a:r>
              <a:rPr lang="zh-CN" altLang="en-US" sz="1600" b="1" dirty="0">
                <a:solidFill>
                  <a:srgbClr val="0070C0"/>
                </a:solidFill>
                <a:latin typeface="微软雅黑 Light" panose="020B0502040204020203" pitchFamily="34" charset="-122"/>
                <a:ea typeface="微软雅黑 Light" panose="020B0502040204020203" pitchFamily="34" charset="-122"/>
              </a:rPr>
              <a:t>文件，指定为字符串标量</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a:lnSpc>
                <a:spcPts val="2900"/>
              </a:lnSpc>
              <a:buFont typeface="+mj-ea"/>
              <a:buAutoNum type="circleNumDbPlain"/>
            </a:pPr>
            <a:r>
              <a:rPr lang="en-US" altLang="zh-CN" sz="1600" b="1" dirty="0">
                <a:solidFill>
                  <a:srgbClr val="0070C0"/>
                </a:solidFill>
                <a:latin typeface="微软雅黑 Light" panose="020B0502040204020203" pitchFamily="34" charset="-122"/>
                <a:ea typeface="微软雅黑 Light" panose="020B0502040204020203" pitchFamily="34" charset="-122"/>
              </a:rPr>
              <a:t>readtable </a:t>
            </a:r>
            <a:r>
              <a:rPr lang="zh-CN" altLang="en-US" sz="1600" b="1" dirty="0">
                <a:solidFill>
                  <a:srgbClr val="0070C0"/>
                </a:solidFill>
                <a:latin typeface="微软雅黑 Light" panose="020B0502040204020203" pitchFamily="34" charset="-122"/>
                <a:ea typeface="微软雅黑 Light" panose="020B0502040204020203" pitchFamily="34" charset="-122"/>
              </a:rPr>
              <a:t>基于文件扩展名确定文件格式，</a:t>
            </a:r>
            <a:r>
              <a:rPr lang="en-US" altLang="zh-CN" sz="1600" b="1" dirty="0">
                <a:solidFill>
                  <a:srgbClr val="0070C0"/>
                </a:solidFill>
                <a:latin typeface="微软雅黑 Light" panose="020B0502040204020203" pitchFamily="34" charset="-122"/>
                <a:ea typeface="微软雅黑 Light" panose="020B0502040204020203" pitchFamily="34" charset="-122"/>
              </a:rPr>
              <a:t>.xlsx</a:t>
            </a:r>
            <a:r>
              <a:rPr lang="zh-CN" altLang="en-US" sz="1600" b="1" dirty="0">
                <a:solidFill>
                  <a:srgbClr val="0070C0"/>
                </a:solidFill>
                <a:latin typeface="微软雅黑 Light" panose="020B0502040204020203" pitchFamily="34" charset="-122"/>
                <a:ea typeface="微软雅黑 Light" panose="020B0502040204020203" pitchFamily="34" charset="-122"/>
              </a:rPr>
              <a:t>（电子表格文件）、</a:t>
            </a:r>
            <a:r>
              <a:rPr lang="en-US" altLang="zh-CN" sz="1600" b="1" dirty="0">
                <a:solidFill>
                  <a:srgbClr val="0070C0"/>
                </a:solidFill>
                <a:latin typeface="微软雅黑 Light" panose="020B0502040204020203" pitchFamily="34" charset="-122"/>
                <a:ea typeface="微软雅黑 Light" panose="020B0502040204020203" pitchFamily="34" charset="-122"/>
              </a:rPr>
              <a:t>.txt</a:t>
            </a:r>
            <a:r>
              <a:rPr lang="zh-CN" altLang="en-US" sz="1600" b="1" dirty="0">
                <a:solidFill>
                  <a:srgbClr val="0070C0"/>
                </a:solidFill>
                <a:latin typeface="微软雅黑 Light" panose="020B0502040204020203" pitchFamily="34" charset="-122"/>
                <a:ea typeface="微软雅黑 Light" panose="020B0502040204020203" pitchFamily="34" charset="-122"/>
              </a:rPr>
              <a:t>、</a:t>
            </a:r>
            <a:r>
              <a:rPr lang="en-US" altLang="zh-CN" sz="1600" b="1" dirty="0">
                <a:solidFill>
                  <a:srgbClr val="0070C0"/>
                </a:solidFill>
                <a:latin typeface="微软雅黑 Light" panose="020B0502040204020203" pitchFamily="34" charset="-122"/>
                <a:ea typeface="微软雅黑 Light" panose="020B0502040204020203" pitchFamily="34" charset="-122"/>
              </a:rPr>
              <a:t>.</a:t>
            </a:r>
            <a:r>
              <a:rPr lang="en-US" altLang="zh-CN" sz="1600" b="1" dirty="0" err="1">
                <a:solidFill>
                  <a:srgbClr val="0070C0"/>
                </a:solidFill>
                <a:latin typeface="微软雅黑 Light" panose="020B0502040204020203" pitchFamily="34" charset="-122"/>
                <a:ea typeface="微软雅黑 Light" panose="020B0502040204020203" pitchFamily="34" charset="-122"/>
              </a:rPr>
              <a:t>dat</a:t>
            </a:r>
            <a:r>
              <a:rPr lang="en-US" altLang="zh-CN" sz="1600" b="1" dirty="0">
                <a:solidFill>
                  <a:srgbClr val="0070C0"/>
                </a:solidFill>
                <a:latin typeface="微软雅黑 Light" panose="020B0502040204020203" pitchFamily="34" charset="-122"/>
                <a:ea typeface="微软雅黑 Light" panose="020B0502040204020203" pitchFamily="34" charset="-122"/>
              </a:rPr>
              <a:t> </a:t>
            </a:r>
            <a:r>
              <a:rPr lang="zh-CN" altLang="en-US" sz="1600" b="1" dirty="0">
                <a:solidFill>
                  <a:srgbClr val="0070C0"/>
                </a:solidFill>
                <a:latin typeface="微软雅黑 Light" panose="020B0502040204020203" pitchFamily="34" charset="-122"/>
                <a:ea typeface="微软雅黑 Light" panose="020B0502040204020203" pitchFamily="34" charset="-122"/>
              </a:rPr>
              <a:t>或 </a:t>
            </a:r>
            <a:r>
              <a:rPr lang="en-US" altLang="zh-CN" sz="1600" b="1" dirty="0">
                <a:solidFill>
                  <a:srgbClr val="0070C0"/>
                </a:solidFill>
                <a:latin typeface="微软雅黑 Light" panose="020B0502040204020203" pitchFamily="34" charset="-122"/>
                <a:ea typeface="微软雅黑 Light" panose="020B0502040204020203" pitchFamily="34" charset="-122"/>
              </a:rPr>
              <a:t>.csv</a:t>
            </a:r>
            <a:r>
              <a:rPr lang="zh-CN" altLang="en-US" sz="1600" b="1" dirty="0">
                <a:solidFill>
                  <a:srgbClr val="0070C0"/>
                </a:solidFill>
                <a:latin typeface="微软雅黑 Light" panose="020B0502040204020203" pitchFamily="34" charset="-122"/>
                <a:ea typeface="微软雅黑 Light" panose="020B0502040204020203" pitchFamily="34" charset="-122"/>
              </a:rPr>
              <a:t>（带分隔符的文本文件）</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a:lnSpc>
                <a:spcPts val="2900"/>
              </a:lnSpc>
              <a:buFont typeface="+mj-ea"/>
              <a:buAutoNum type="circleNumDbPlain"/>
            </a:pPr>
            <a:r>
              <a:rPr lang="en-US" altLang="zh-CN" sz="1600" b="1" dirty="0">
                <a:solidFill>
                  <a:srgbClr val="0070C0"/>
                </a:solidFill>
                <a:latin typeface="微软雅黑 Light" panose="020B0502040204020203" pitchFamily="34" charset="-122"/>
                <a:ea typeface="微软雅黑 Light" panose="020B0502040204020203" pitchFamily="34" charset="-122"/>
              </a:rPr>
              <a:t>filename</a:t>
            </a:r>
            <a:r>
              <a:rPr lang="zh-CN" altLang="en-US" sz="1600" b="1" dirty="0">
                <a:solidFill>
                  <a:srgbClr val="0070C0"/>
                </a:solidFill>
                <a:latin typeface="微软雅黑 Light" panose="020B0502040204020203" pitchFamily="34" charset="-122"/>
                <a:ea typeface="微软雅黑 Light" panose="020B0502040204020203" pitchFamily="34" charset="-122"/>
              </a:rPr>
              <a:t>在当前目录文件夹，直接读取文件名</a:t>
            </a:r>
            <a:r>
              <a:rPr lang="en-US" altLang="zh-CN" sz="1600" b="1" dirty="0">
                <a:solidFill>
                  <a:srgbClr val="0070C0"/>
                </a:solidFill>
                <a:latin typeface="微软雅黑 Light" panose="020B0502040204020203" pitchFamily="34" charset="-122"/>
                <a:ea typeface="微软雅黑 Light" panose="020B0502040204020203" pitchFamily="34" charset="-122"/>
              </a:rPr>
              <a:t>filename</a:t>
            </a:r>
            <a:r>
              <a:rPr lang="zh-CN" altLang="en-US" sz="1600" b="1" dirty="0">
                <a:solidFill>
                  <a:srgbClr val="0070C0"/>
                </a:solidFill>
                <a:latin typeface="微软雅黑 Light" panose="020B0502040204020203" pitchFamily="34" charset="-122"/>
                <a:ea typeface="微软雅黑 Light" panose="020B0502040204020203" pitchFamily="34" charset="-122"/>
              </a:rPr>
              <a:t>，文件不在当前文件夹指定完整或相对路径名</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a:lnSpc>
                <a:spcPts val="2900"/>
              </a:lnSpc>
              <a:buFont typeface="+mj-ea"/>
              <a:buAutoNum type="circleNumDbPlain"/>
            </a:pPr>
            <a:r>
              <a:rPr lang="en-US" altLang="zh-CN" sz="1600" b="1" dirty="0" err="1">
                <a:solidFill>
                  <a:srgbClr val="0070C0"/>
                </a:solidFill>
                <a:latin typeface="微软雅黑 Light" panose="020B0502040204020203" pitchFamily="34" charset="-122"/>
                <a:ea typeface="微软雅黑 Light" panose="020B0502040204020203" pitchFamily="34" charset="-122"/>
              </a:rPr>
              <a:t>readtable</a:t>
            </a:r>
            <a:r>
              <a:rPr lang="zh-CN" altLang="en-US" sz="1600" b="1" dirty="0">
                <a:solidFill>
                  <a:srgbClr val="0070C0"/>
                </a:solidFill>
                <a:latin typeface="微软雅黑 Light" panose="020B0502040204020203" pitchFamily="34" charset="-122"/>
                <a:ea typeface="微软雅黑 Light" panose="020B0502040204020203" pitchFamily="34" charset="-122"/>
              </a:rPr>
              <a:t>为该文件中每列在表格</a:t>
            </a:r>
            <a:r>
              <a:rPr lang="en-US" altLang="zh-CN" sz="1600" b="1" dirty="0">
                <a:solidFill>
                  <a:srgbClr val="0070C0"/>
                </a:solidFill>
                <a:latin typeface="微软雅黑 Light" panose="020B0502040204020203" pitchFamily="34" charset="-122"/>
                <a:ea typeface="微软雅黑 Light" panose="020B0502040204020203" pitchFamily="34" charset="-122"/>
              </a:rPr>
              <a:t>T</a:t>
            </a:r>
            <a:r>
              <a:rPr lang="zh-CN" altLang="en-US" sz="1600" b="1" dirty="0">
                <a:solidFill>
                  <a:srgbClr val="0070C0"/>
                </a:solidFill>
                <a:latin typeface="微软雅黑 Light" panose="020B0502040204020203" pitchFamily="34" charset="-122"/>
                <a:ea typeface="微软雅黑 Light" panose="020B0502040204020203" pitchFamily="34" charset="-122"/>
              </a:rPr>
              <a:t>中创建一个变量，并从文件的第一行中读取变量名称 </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a:lnSpc>
                <a:spcPts val="2900"/>
              </a:lnSpc>
              <a:buFont typeface="+mj-ea"/>
              <a:buAutoNum type="circleNumDbPlain"/>
            </a:pPr>
            <a:r>
              <a:rPr lang="en-US" altLang="zh-CN" sz="1600" b="1" dirty="0">
                <a:solidFill>
                  <a:srgbClr val="0070C0"/>
                </a:solidFill>
                <a:latin typeface="微软雅黑 Light" panose="020B0502040204020203" pitchFamily="34" charset="-122"/>
                <a:ea typeface="微软雅黑 Light" panose="020B0502040204020203" pitchFamily="34" charset="-122"/>
              </a:rPr>
              <a:t>readtable</a:t>
            </a:r>
            <a:r>
              <a:rPr lang="zh-CN" altLang="en-US" sz="1600" b="1" dirty="0">
                <a:solidFill>
                  <a:srgbClr val="0070C0"/>
                </a:solidFill>
                <a:latin typeface="微软雅黑 Light" panose="020B0502040204020203" pitchFamily="34" charset="-122"/>
                <a:ea typeface="微软雅黑 Light" panose="020B0502040204020203" pitchFamily="34" charset="-122"/>
              </a:rPr>
              <a:t> 会根据在输入文件的每列中检测到的数据值来创建具有适当数据类型的变量</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p:txBody>
      </p:sp>
      <p:sp>
        <p:nvSpPr>
          <p:cNvPr id="8" name="内容占位符 2">
            <a:extLst>
              <a:ext uri="{FF2B5EF4-FFF2-40B4-BE49-F238E27FC236}">
                <a16:creationId xmlns:a16="http://schemas.microsoft.com/office/drawing/2014/main" id="{D4699D9C-F3C9-4971-9211-8D5D6D0C5B6C}"/>
              </a:ext>
            </a:extLst>
          </p:cNvPr>
          <p:cNvSpPr>
            <a:spLocks noGrp="1"/>
          </p:cNvSpPr>
          <p:nvPr>
            <p:ph idx="1"/>
          </p:nvPr>
        </p:nvSpPr>
        <p:spPr>
          <a:xfrm>
            <a:off x="120984" y="755911"/>
            <a:ext cx="5142054" cy="447687"/>
          </a:xfrm>
          <a:solidFill>
            <a:schemeClr val="bg1"/>
          </a:solidFill>
        </p:spPr>
        <p:txBody>
          <a:bodyPr/>
          <a:lstStyle/>
          <a:p>
            <a:pPr marL="0" indent="0" algn="dist">
              <a:buNone/>
            </a:pPr>
            <a:r>
              <a:rPr lang="en-US" altLang="zh-CN" sz="2200" b="1" i="0" dirty="0">
                <a:solidFill>
                  <a:srgbClr val="0070C0"/>
                </a:solidFill>
                <a:effectLst/>
                <a:latin typeface="-apple-system"/>
              </a:rPr>
              <a:t>readtable</a:t>
            </a:r>
            <a:r>
              <a:rPr lang="zh-CN" altLang="en-US" sz="2200" b="1" i="0" dirty="0">
                <a:solidFill>
                  <a:srgbClr val="0070C0"/>
                </a:solidFill>
                <a:effectLst/>
                <a:latin typeface="微软雅黑" panose="020B0503020204020204" pitchFamily="34" charset="-122"/>
                <a:ea typeface="微软雅黑" panose="020B0503020204020204" pitchFamily="34" charset="-122"/>
              </a:rPr>
              <a:t>基于文件创建表</a:t>
            </a:r>
            <a:r>
              <a:rPr lang="en-US" altLang="zh-CN" sz="2200" b="1" i="0" dirty="0">
                <a:solidFill>
                  <a:srgbClr val="0070C0"/>
                </a:solidFill>
                <a:effectLst/>
                <a:latin typeface="微软雅黑" panose="020B0503020204020204" pitchFamily="34" charset="-122"/>
                <a:ea typeface="微软雅黑" panose="020B0503020204020204" pitchFamily="34" charset="-122"/>
              </a:rPr>
              <a:t>T</a:t>
            </a:r>
            <a:r>
              <a:rPr lang="zh-CN" altLang="en-US" sz="2200" b="1" i="0" dirty="0">
                <a:solidFill>
                  <a:srgbClr val="0070C0"/>
                </a:solidFill>
                <a:effectLst/>
                <a:latin typeface="微软雅黑" panose="020B0503020204020204" pitchFamily="34" charset="-122"/>
                <a:ea typeface="微软雅黑" panose="020B0503020204020204" pitchFamily="34" charset="-122"/>
              </a:rPr>
              <a:t>的调用格式</a:t>
            </a:r>
            <a:r>
              <a:rPr lang="en-US" altLang="zh-CN" sz="2200" b="1" i="0" dirty="0">
                <a:effectLst/>
                <a:latin typeface="-apple-system"/>
              </a:rPr>
              <a:t>:</a:t>
            </a:r>
            <a:endParaRPr lang="zh-CN" altLang="en-US" sz="2200" b="1" dirty="0"/>
          </a:p>
        </p:txBody>
      </p:sp>
      <p:sp>
        <p:nvSpPr>
          <p:cNvPr id="11" name="矩形 10">
            <a:extLst>
              <a:ext uri="{FF2B5EF4-FFF2-40B4-BE49-F238E27FC236}">
                <a16:creationId xmlns:a16="http://schemas.microsoft.com/office/drawing/2014/main" id="{75685BFD-CBA3-4A4E-97C4-FB3484BCF7E8}"/>
              </a:ext>
            </a:extLst>
          </p:cNvPr>
          <p:cNvSpPr/>
          <p:nvPr/>
        </p:nvSpPr>
        <p:spPr>
          <a:xfrm>
            <a:off x="5263038" y="792252"/>
            <a:ext cx="3629442" cy="353943"/>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lvl="0" algn="dist" eaLnBrk="0" hangingPunct="0"/>
            <a:r>
              <a:rPr lang="zh-CN" altLang="zh-CN" sz="1700" b="1" dirty="0">
                <a:solidFill>
                  <a:schemeClr val="bg1">
                    <a:lumMod val="95000"/>
                  </a:schemeClr>
                </a:solidFill>
                <a:latin typeface="Arial Unicode MS"/>
                <a:ea typeface="source-code-pro"/>
              </a:rPr>
              <a:t>T = readtable(</a:t>
            </a:r>
            <a:r>
              <a:rPr lang="en-US" altLang="zh-CN" sz="1700" b="1" dirty="0">
                <a:solidFill>
                  <a:schemeClr val="bg1">
                    <a:lumMod val="95000"/>
                  </a:schemeClr>
                </a:solidFill>
                <a:latin typeface="Arial Unicode MS"/>
                <a:ea typeface="source-code-pro"/>
              </a:rPr>
              <a:t>“</a:t>
            </a:r>
            <a:r>
              <a:rPr lang="zh-CN" altLang="zh-CN" sz="1700" b="1" dirty="0">
                <a:solidFill>
                  <a:schemeClr val="bg1">
                    <a:lumMod val="95000"/>
                  </a:schemeClr>
                </a:solidFill>
                <a:latin typeface="Arial Unicode MS"/>
                <a:ea typeface="source-code-pro"/>
              </a:rPr>
              <a:t>filename</a:t>
            </a:r>
            <a:r>
              <a:rPr lang="en-US" altLang="zh-CN" sz="1700" b="1" dirty="0">
                <a:solidFill>
                  <a:schemeClr val="bg1">
                    <a:lumMod val="95000"/>
                  </a:schemeClr>
                </a:solidFill>
                <a:latin typeface="Arial Unicode MS"/>
                <a:ea typeface="source-code-pro"/>
              </a:rPr>
              <a:t>”</a:t>
            </a:r>
            <a:r>
              <a:rPr lang="zh-CN" altLang="zh-CN" sz="1700" b="1" dirty="0">
                <a:solidFill>
                  <a:schemeClr val="bg1">
                    <a:lumMod val="95000"/>
                  </a:schemeClr>
                </a:solidFill>
                <a:latin typeface="Arial Unicode MS"/>
                <a:ea typeface="source-code-pro"/>
              </a:rPr>
              <a:t>) </a:t>
            </a:r>
            <a:endParaRPr lang="en-US" altLang="zh-CN" sz="1700" b="1" dirty="0">
              <a:solidFill>
                <a:schemeClr val="bg1">
                  <a:lumMod val="95000"/>
                </a:schemeClr>
              </a:solidFill>
              <a:latin typeface="Arial Unicode MS"/>
              <a:ea typeface="source-code-pro"/>
            </a:endParaRPr>
          </a:p>
        </p:txBody>
      </p:sp>
      <p:pic>
        <p:nvPicPr>
          <p:cNvPr id="16" name="图片 15">
            <a:extLst>
              <a:ext uri="{FF2B5EF4-FFF2-40B4-BE49-F238E27FC236}">
                <a16:creationId xmlns:a16="http://schemas.microsoft.com/office/drawing/2014/main" id="{C9B0B754-19B3-44E5-8E6B-87509EF9C056}"/>
              </a:ext>
            </a:extLst>
          </p:cNvPr>
          <p:cNvPicPr>
            <a:picLocks noChangeAspect="1"/>
          </p:cNvPicPr>
          <p:nvPr/>
        </p:nvPicPr>
        <p:blipFill rotWithShape="1">
          <a:blip r:embed="rId3"/>
          <a:srcRect l="17320" t="38067" r="4736" b="19201"/>
          <a:stretch/>
        </p:blipFill>
        <p:spPr>
          <a:xfrm>
            <a:off x="6639277" y="2258693"/>
            <a:ext cx="2361243" cy="2112702"/>
          </a:xfrm>
          <a:prstGeom prst="rect">
            <a:avLst/>
          </a:prstGeom>
          <a:ln>
            <a:noFill/>
          </a:ln>
          <a:effectLst>
            <a:outerShdw blurRad="292100" dist="139700" dir="2700000" algn="tl" rotWithShape="0">
              <a:srgbClr val="333333">
                <a:alpha val="65000"/>
              </a:srgbClr>
            </a:outerShdw>
          </a:effectLst>
        </p:spPr>
      </p:pic>
      <p:sp>
        <p:nvSpPr>
          <p:cNvPr id="2" name="矩形: 圆角 1">
            <a:extLst>
              <a:ext uri="{FF2B5EF4-FFF2-40B4-BE49-F238E27FC236}">
                <a16:creationId xmlns:a16="http://schemas.microsoft.com/office/drawing/2014/main" id="{CB443E2D-36B7-4172-859F-2458588D465D}"/>
              </a:ext>
            </a:extLst>
          </p:cNvPr>
          <p:cNvSpPr/>
          <p:nvPr/>
        </p:nvSpPr>
        <p:spPr bwMode="auto">
          <a:xfrm>
            <a:off x="6664944" y="2258693"/>
            <a:ext cx="499344" cy="2092555"/>
          </a:xfrm>
          <a:prstGeom prst="round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 name="矩形 2">
            <a:extLst>
              <a:ext uri="{FF2B5EF4-FFF2-40B4-BE49-F238E27FC236}">
                <a16:creationId xmlns:a16="http://schemas.microsoft.com/office/drawing/2014/main" id="{F5AC6995-C5BA-4152-B269-AAF4904C34DA}"/>
              </a:ext>
            </a:extLst>
          </p:cNvPr>
          <p:cNvSpPr/>
          <p:nvPr/>
        </p:nvSpPr>
        <p:spPr bwMode="auto">
          <a:xfrm>
            <a:off x="6639277" y="2264665"/>
            <a:ext cx="2351475" cy="449390"/>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04813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716D1938-60B1-4293-8550-E3097FB6DAE4}"/>
              </a:ext>
            </a:extLst>
          </p:cNvPr>
          <p:cNvPicPr>
            <a:picLocks noChangeAspect="1"/>
          </p:cNvPicPr>
          <p:nvPr/>
        </p:nvPicPr>
        <p:blipFill rotWithShape="1">
          <a:blip r:embed="rId2"/>
          <a:srcRect l="21650" t="16401" r="5973" b="13601"/>
          <a:stretch/>
        </p:blipFill>
        <p:spPr>
          <a:xfrm>
            <a:off x="3635896" y="1959784"/>
            <a:ext cx="5400600" cy="2577452"/>
          </a:xfrm>
          <a:prstGeom prst="rect">
            <a:avLst/>
          </a:prstGeom>
          <a:ln>
            <a:noFill/>
          </a:ln>
          <a:effectLst>
            <a:outerShdw blurRad="190500" algn="tl" rotWithShape="0">
              <a:srgbClr val="000000">
                <a:alpha val="70000"/>
              </a:srgbClr>
            </a:outerShdw>
          </a:effectLst>
        </p:spPr>
      </p:pic>
      <p:sp>
        <p:nvSpPr>
          <p:cNvPr id="10" name="文本框 9">
            <a:extLst>
              <a:ext uri="{FF2B5EF4-FFF2-40B4-BE49-F238E27FC236}">
                <a16:creationId xmlns:a16="http://schemas.microsoft.com/office/drawing/2014/main" id="{E12AAAEC-9270-4A31-8F30-3FF499E1A1BA}"/>
              </a:ext>
            </a:extLst>
          </p:cNvPr>
          <p:cNvSpPr txBox="1"/>
          <p:nvPr/>
        </p:nvSpPr>
        <p:spPr>
          <a:xfrm>
            <a:off x="289108" y="699543"/>
            <a:ext cx="8675380" cy="369332"/>
          </a:xfrm>
          <a:prstGeom prst="rect">
            <a:avLst/>
          </a:prstGeom>
          <a:solidFill>
            <a:schemeClr val="bg1"/>
          </a:solidFill>
        </p:spPr>
        <p:txBody>
          <a:bodyPr wrap="square">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如文件不在当前文件夹或 </a:t>
            </a:r>
            <a:r>
              <a:rPr lang="en-US" altLang="zh-CN" b="1" dirty="0" err="1">
                <a:solidFill>
                  <a:srgbClr val="0070C0"/>
                </a:solidFill>
                <a:latin typeface="微软雅黑" panose="020B0503020204020204" pitchFamily="34" charset="-122"/>
                <a:ea typeface="微软雅黑" panose="020B0503020204020204" pitchFamily="34" charset="-122"/>
              </a:rPr>
              <a:t>Syslab</a:t>
            </a:r>
            <a:r>
              <a:rPr lang="en-US" altLang="zh-CN" b="1" dirty="0">
                <a:solidFill>
                  <a:srgbClr val="0070C0"/>
                </a:solidFill>
                <a:latin typeface="微软雅黑" panose="020B0503020204020204" pitchFamily="34" charset="-122"/>
                <a:ea typeface="微软雅黑" panose="020B0503020204020204" pitchFamily="34" charset="-122"/>
              </a:rPr>
              <a:t> </a:t>
            </a:r>
            <a:r>
              <a:rPr lang="zh-CN" altLang="en-US" b="1" dirty="0">
                <a:solidFill>
                  <a:srgbClr val="0070C0"/>
                </a:solidFill>
                <a:latin typeface="微软雅黑" panose="020B0503020204020204" pitchFamily="34" charset="-122"/>
                <a:ea typeface="微软雅黑" panose="020B0503020204020204" pitchFamily="34" charset="-122"/>
              </a:rPr>
              <a:t>路径下文件夹，则指定</a:t>
            </a:r>
            <a:r>
              <a:rPr lang="en-US" altLang="zh-CN" b="1" dirty="0">
                <a:solidFill>
                  <a:srgbClr val="0070C0"/>
                </a:solidFill>
                <a:latin typeface="微软雅黑" panose="020B0503020204020204" pitchFamily="34" charset="-122"/>
                <a:ea typeface="微软雅黑" panose="020B0503020204020204" pitchFamily="34" charset="-122"/>
              </a:rPr>
              <a:t>filename </a:t>
            </a:r>
            <a:r>
              <a:rPr lang="zh-CN" altLang="en-US" b="1" dirty="0">
                <a:solidFill>
                  <a:srgbClr val="0070C0"/>
                </a:solidFill>
                <a:latin typeface="微软雅黑" panose="020B0503020204020204" pitchFamily="34" charset="-122"/>
                <a:ea typeface="微软雅黑" panose="020B0503020204020204" pitchFamily="34" charset="-122"/>
              </a:rPr>
              <a:t>完整或相对路名</a:t>
            </a:r>
            <a:endParaRPr lang="en-US" altLang="zh-CN" b="1" dirty="0">
              <a:solidFill>
                <a:srgbClr val="0070C0"/>
              </a:solidFill>
              <a:latin typeface="微软雅黑" panose="020B0503020204020204" pitchFamily="34" charset="-122"/>
              <a:ea typeface="微软雅黑" panose="020B0503020204020204" pitchFamily="34" charset="-122"/>
            </a:endParaRPr>
          </a:p>
        </p:txBody>
      </p:sp>
      <p:sp>
        <p:nvSpPr>
          <p:cNvPr id="11" name="标题 1">
            <a:extLst>
              <a:ext uri="{FF2B5EF4-FFF2-40B4-BE49-F238E27FC236}">
                <a16:creationId xmlns:a16="http://schemas.microsoft.com/office/drawing/2014/main" id="{72F5F201-BF1E-4412-96D9-FF39E6A60E48}"/>
              </a:ext>
            </a:extLst>
          </p:cNvPr>
          <p:cNvSpPr txBox="1">
            <a:spLocks/>
          </p:cNvSpPr>
          <p:nvPr/>
        </p:nvSpPr>
        <p:spPr bwMode="auto">
          <a:xfrm>
            <a:off x="743808" y="294229"/>
            <a:ext cx="6696744" cy="36200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b="1" kern="0" dirty="0">
                <a:solidFill>
                  <a:srgbClr val="0070C0"/>
                </a:solidFill>
              </a:rPr>
              <a:t>§1.4.2  </a:t>
            </a:r>
            <a:r>
              <a:rPr lang="zh-CN" altLang="en-US" sz="3000" b="1" dirty="0">
                <a:solidFill>
                  <a:srgbClr val="0070C0"/>
                </a:solidFill>
              </a:rPr>
              <a:t>列表</a:t>
            </a:r>
            <a:r>
              <a:rPr lang="en-US" altLang="zh-CN" sz="3000" b="1" dirty="0">
                <a:solidFill>
                  <a:srgbClr val="0070C0"/>
                </a:solidFill>
              </a:rPr>
              <a:t>table</a:t>
            </a:r>
            <a:r>
              <a:rPr lang="en-US" altLang="zh-CN" sz="3000" b="1" kern="0" dirty="0">
                <a:solidFill>
                  <a:srgbClr val="0070C0"/>
                </a:solidFill>
              </a:rPr>
              <a:t> </a:t>
            </a:r>
            <a:r>
              <a:rPr lang="en-US" altLang="zh-CN" sz="3000" b="1" kern="0" dirty="0">
                <a:solidFill>
                  <a:srgbClr val="FF0000"/>
                </a:solidFill>
              </a:rPr>
              <a:t>——</a:t>
            </a:r>
            <a:r>
              <a:rPr lang="en-US" altLang="zh-CN" sz="3000" b="1" kern="0" dirty="0" err="1">
                <a:solidFill>
                  <a:srgbClr val="FF0000"/>
                </a:solidFill>
              </a:rPr>
              <a:t>readtable</a:t>
            </a:r>
            <a:r>
              <a:rPr lang="zh-CN" altLang="en-US" sz="3000" b="1" kern="0" dirty="0">
                <a:solidFill>
                  <a:srgbClr val="FF0000"/>
                </a:solidFill>
              </a:rPr>
              <a:t>基于</a:t>
            </a:r>
            <a:r>
              <a:rPr lang="en-US" altLang="zh-CN" sz="3000" b="1" kern="0" dirty="0">
                <a:solidFill>
                  <a:srgbClr val="FF0000"/>
                </a:solidFill>
              </a:rPr>
              <a:t>txt</a:t>
            </a:r>
            <a:r>
              <a:rPr lang="zh-CN" altLang="en-US" sz="3000" b="1" kern="0" dirty="0">
                <a:solidFill>
                  <a:srgbClr val="FF0000"/>
                </a:solidFill>
              </a:rPr>
              <a:t>文件建表格</a:t>
            </a:r>
          </a:p>
        </p:txBody>
      </p:sp>
      <p:sp>
        <p:nvSpPr>
          <p:cNvPr id="13" name="文本框 12">
            <a:extLst>
              <a:ext uri="{FF2B5EF4-FFF2-40B4-BE49-F238E27FC236}">
                <a16:creationId xmlns:a16="http://schemas.microsoft.com/office/drawing/2014/main" id="{2227A278-7CC4-48C2-BC7E-5761EC7BEF7C}"/>
              </a:ext>
            </a:extLst>
          </p:cNvPr>
          <p:cNvSpPr txBox="1"/>
          <p:nvPr/>
        </p:nvSpPr>
        <p:spPr>
          <a:xfrm>
            <a:off x="181294" y="1848611"/>
            <a:ext cx="3562812" cy="2832507"/>
          </a:xfrm>
          <a:prstGeom prst="rect">
            <a:avLst/>
          </a:prstGeom>
          <a:noFill/>
        </p:spPr>
        <p:txBody>
          <a:bodyPr wrap="square">
            <a:spAutoFit/>
          </a:bodyPr>
          <a:lstStyle/>
          <a:p>
            <a:pPr>
              <a:lnSpc>
                <a:spcPts val="2700"/>
              </a:lnSpc>
            </a:pPr>
            <a:r>
              <a:rPr lang="en-US" altLang="zh-CN" sz="1600" b="1" dirty="0">
                <a:solidFill>
                  <a:srgbClr val="002060"/>
                </a:solidFill>
                <a:latin typeface="微软雅黑 Light" panose="020B0502040204020203" pitchFamily="34" charset="-122"/>
                <a:ea typeface="微软雅黑 Light" panose="020B0502040204020203" pitchFamily="34" charset="-122"/>
              </a:rPr>
              <a:t>#</a:t>
            </a:r>
            <a:r>
              <a:rPr lang="zh-CN" altLang="en-US" sz="1600" b="1" dirty="0">
                <a:solidFill>
                  <a:srgbClr val="002060"/>
                </a:solidFill>
                <a:latin typeface="微软雅黑 Light" panose="020B0502040204020203" pitchFamily="34" charset="-122"/>
                <a:ea typeface="微软雅黑 Light" panose="020B0502040204020203" pitchFamily="34" charset="-122"/>
              </a:rPr>
              <a:t>读取当前文件，省略路径</a:t>
            </a:r>
            <a:endParaRPr lang="en-U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n-US" altLang="zh-CN" sz="1600" b="1" dirty="0" err="1">
                <a:solidFill>
                  <a:srgbClr val="002060"/>
                </a:solidFill>
                <a:latin typeface="微软雅黑 Light" panose="020B0502040204020203" pitchFamily="34" charset="-122"/>
                <a:ea typeface="微软雅黑 Light" panose="020B0502040204020203" pitchFamily="34" charset="-122"/>
              </a:rPr>
              <a:t>tt</a:t>
            </a:r>
            <a:r>
              <a:rPr lang="en-US" altLang="zh-CN" sz="1600" b="1" dirty="0">
                <a:solidFill>
                  <a:srgbClr val="002060"/>
                </a:solidFill>
                <a:latin typeface="微软雅黑 Light" panose="020B0502040204020203" pitchFamily="34" charset="-122"/>
                <a:ea typeface="微软雅黑 Light" panose="020B0502040204020203" pitchFamily="34" charset="-122"/>
              </a:rPr>
              <a:t>=</a:t>
            </a:r>
            <a:r>
              <a:rPr lang="en-US" altLang="zh-CN" sz="1600" b="1" dirty="0" err="1">
                <a:solidFill>
                  <a:srgbClr val="002060"/>
                </a:solidFill>
                <a:latin typeface="微软雅黑 Light" panose="020B0502040204020203" pitchFamily="34" charset="-122"/>
                <a:ea typeface="微软雅黑 Light" panose="020B0502040204020203" pitchFamily="34" charset="-122"/>
              </a:rPr>
              <a:t>readtable</a:t>
            </a:r>
            <a:r>
              <a:rPr lang="en-US" altLang="zh-CN" sz="1600" b="1" dirty="0">
                <a:solidFill>
                  <a:srgbClr val="002060"/>
                </a:solidFill>
                <a:latin typeface="微软雅黑 Light" panose="020B0502040204020203" pitchFamily="34" charset="-122"/>
                <a:ea typeface="微软雅黑 Light" panose="020B0502040204020203" pitchFamily="34" charset="-122"/>
              </a:rPr>
              <a:t>(“stress.</a:t>
            </a:r>
            <a:r>
              <a:rPr lang="en-US" altLang="zh-CN" sz="1600" b="1" dirty="0">
                <a:solidFill>
                  <a:srgbClr val="FF0000"/>
                </a:solidFill>
                <a:latin typeface="微软雅黑 Light" panose="020B0502040204020203" pitchFamily="34" charset="-122"/>
                <a:ea typeface="微软雅黑 Light" panose="020B0502040204020203" pitchFamily="34" charset="-122"/>
              </a:rPr>
              <a:t>txt</a:t>
            </a:r>
            <a:r>
              <a:rPr lang="en-US" altLang="zh-CN" sz="1600" b="1" dirty="0">
                <a:solidFill>
                  <a:srgbClr val="002060"/>
                </a:solidFill>
                <a:latin typeface="微软雅黑 Light" panose="020B0502040204020203" pitchFamily="34" charset="-122"/>
                <a:ea typeface="微软雅黑 Light" panose="020B0502040204020203" pitchFamily="34" charset="-122"/>
              </a:rPr>
              <a:t>”)</a:t>
            </a: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a:t>
            </a:r>
            <a:r>
              <a:rPr lang="zh-CN" altLang="en-US" sz="1600" b="1" dirty="0">
                <a:solidFill>
                  <a:srgbClr val="002060"/>
                </a:solidFill>
                <a:latin typeface="微软雅黑 Light" panose="020B0502040204020203" pitchFamily="34" charset="-122"/>
                <a:ea typeface="微软雅黑 Light" panose="020B0502040204020203" pitchFamily="34" charset="-122"/>
              </a:rPr>
              <a:t>读取第</a:t>
            </a:r>
            <a:r>
              <a:rPr lang="en-US" altLang="zh-CN" sz="1600" b="1" dirty="0">
                <a:solidFill>
                  <a:srgbClr val="002060"/>
                </a:solidFill>
                <a:latin typeface="微软雅黑 Light" panose="020B0502040204020203" pitchFamily="34" charset="-122"/>
                <a:ea typeface="微软雅黑 Light" panose="020B0502040204020203" pitchFamily="34" charset="-122"/>
              </a:rPr>
              <a:t>4</a:t>
            </a:r>
            <a:r>
              <a:rPr lang="zh-CN" altLang="en-US" sz="1600" b="1" dirty="0">
                <a:solidFill>
                  <a:srgbClr val="002060"/>
                </a:solidFill>
                <a:latin typeface="微软雅黑 Light" panose="020B0502040204020203" pitchFamily="34" charset="-122"/>
                <a:ea typeface="微软雅黑 Light" panose="020B0502040204020203" pitchFamily="34" charset="-122"/>
              </a:rPr>
              <a:t>列</a:t>
            </a:r>
            <a:r>
              <a:rPr lang="en-US" altLang="zh-CN" sz="1600" b="1" dirty="0">
                <a:solidFill>
                  <a:srgbClr val="002060"/>
                </a:solidFill>
                <a:latin typeface="微软雅黑 Light" panose="020B0502040204020203" pitchFamily="34" charset="-122"/>
                <a:ea typeface="微软雅黑 Light" panose="020B0502040204020203" pitchFamily="34" charset="-122"/>
              </a:rPr>
              <a:t>strain</a:t>
            </a:r>
            <a:r>
              <a:rPr lang="zh-CN" altLang="en-US" sz="1600" b="1" dirty="0">
                <a:solidFill>
                  <a:srgbClr val="002060"/>
                </a:solidFill>
                <a:latin typeface="微软雅黑 Light" panose="020B0502040204020203" pitchFamily="34" charset="-122"/>
                <a:ea typeface="微软雅黑 Light" panose="020B0502040204020203" pitchFamily="34" charset="-122"/>
              </a:rPr>
              <a:t>数据为</a:t>
            </a:r>
            <a:r>
              <a:rPr lang="en-US" altLang="zh-CN" sz="1600" b="1" dirty="0">
                <a:solidFill>
                  <a:srgbClr val="002060"/>
                </a:solidFill>
                <a:latin typeface="微软雅黑 Light" panose="020B0502040204020203" pitchFamily="34" charset="-122"/>
                <a:ea typeface="微软雅黑 Light" panose="020B0502040204020203" pitchFamily="34" charset="-122"/>
              </a:rPr>
              <a:t>x</a:t>
            </a:r>
            <a:r>
              <a:rPr lang="zh-CN" altLang="en-US" sz="1600" b="1" dirty="0">
                <a:solidFill>
                  <a:srgbClr val="002060"/>
                </a:solidFill>
                <a:latin typeface="微软雅黑 Light" panose="020B0502040204020203" pitchFamily="34" charset="-122"/>
                <a:ea typeface="微软雅黑 Light" panose="020B0502040204020203" pitchFamily="34" charset="-122"/>
              </a:rPr>
              <a:t>轴数据</a:t>
            </a:r>
            <a:endParaRPr lang="es-E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x=tt[:,4];  #</a:t>
            </a:r>
            <a:r>
              <a:rPr lang="en-US" altLang="zh-CN" sz="1600" b="1" dirty="0">
                <a:solidFill>
                  <a:srgbClr val="002060"/>
                </a:solidFill>
                <a:latin typeface="微软雅黑 Light" panose="020B0502040204020203" pitchFamily="34" charset="-122"/>
                <a:ea typeface="微软雅黑 Light" panose="020B0502040204020203" pitchFamily="34" charset="-122"/>
              </a:rPr>
              <a:t>strain</a:t>
            </a: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a:t>
            </a:r>
            <a:r>
              <a:rPr lang="zh-CN" altLang="en-US" sz="1600" b="1" dirty="0">
                <a:solidFill>
                  <a:srgbClr val="002060"/>
                </a:solidFill>
                <a:latin typeface="微软雅黑 Light" panose="020B0502040204020203" pitchFamily="34" charset="-122"/>
                <a:ea typeface="微软雅黑 Light" panose="020B0502040204020203" pitchFamily="34" charset="-122"/>
              </a:rPr>
              <a:t>读取第</a:t>
            </a:r>
            <a:r>
              <a:rPr lang="en-US" altLang="zh-CN" sz="1600" b="1" dirty="0">
                <a:solidFill>
                  <a:srgbClr val="002060"/>
                </a:solidFill>
                <a:latin typeface="微软雅黑 Light" panose="020B0502040204020203" pitchFamily="34" charset="-122"/>
                <a:ea typeface="微软雅黑 Light" panose="020B0502040204020203" pitchFamily="34" charset="-122"/>
              </a:rPr>
              <a:t>5</a:t>
            </a:r>
            <a:r>
              <a:rPr lang="zh-CN" altLang="en-US" sz="1600" b="1" dirty="0">
                <a:solidFill>
                  <a:srgbClr val="002060"/>
                </a:solidFill>
                <a:latin typeface="微软雅黑 Light" panose="020B0502040204020203" pitchFamily="34" charset="-122"/>
                <a:ea typeface="微软雅黑 Light" panose="020B0502040204020203" pitchFamily="34" charset="-122"/>
              </a:rPr>
              <a:t>列</a:t>
            </a:r>
            <a:r>
              <a:rPr lang="en-US" altLang="zh-CN" sz="1600" b="1" dirty="0">
                <a:solidFill>
                  <a:srgbClr val="002060"/>
                </a:solidFill>
                <a:latin typeface="微软雅黑 Light" panose="020B0502040204020203" pitchFamily="34" charset="-122"/>
                <a:ea typeface="微软雅黑 Light" panose="020B0502040204020203" pitchFamily="34" charset="-122"/>
              </a:rPr>
              <a:t>stress</a:t>
            </a:r>
            <a:r>
              <a:rPr lang="zh-CN" altLang="en-US" sz="1600" b="1" dirty="0">
                <a:solidFill>
                  <a:srgbClr val="002060"/>
                </a:solidFill>
                <a:latin typeface="微软雅黑 Light" panose="020B0502040204020203" pitchFamily="34" charset="-122"/>
                <a:ea typeface="微软雅黑 Light" panose="020B0502040204020203" pitchFamily="34" charset="-122"/>
              </a:rPr>
              <a:t>数据为</a:t>
            </a:r>
            <a:r>
              <a:rPr lang="en-US" altLang="zh-CN" sz="1600" b="1" dirty="0">
                <a:solidFill>
                  <a:srgbClr val="002060"/>
                </a:solidFill>
                <a:latin typeface="微软雅黑 Light" panose="020B0502040204020203" pitchFamily="34" charset="-122"/>
                <a:ea typeface="微软雅黑 Light" panose="020B0502040204020203" pitchFamily="34" charset="-122"/>
              </a:rPr>
              <a:t>x</a:t>
            </a:r>
            <a:r>
              <a:rPr lang="zh-CN" altLang="en-US" sz="1600" b="1" dirty="0">
                <a:solidFill>
                  <a:srgbClr val="002060"/>
                </a:solidFill>
                <a:latin typeface="微软雅黑 Light" panose="020B0502040204020203" pitchFamily="34" charset="-122"/>
                <a:ea typeface="微软雅黑 Light" panose="020B0502040204020203" pitchFamily="34" charset="-122"/>
              </a:rPr>
              <a:t>轴数据</a:t>
            </a:r>
            <a:endParaRPr lang="es-E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y=tt[:,5];  #</a:t>
            </a:r>
            <a:r>
              <a:rPr lang="en-US" altLang="zh-CN" sz="1600" b="1" dirty="0">
                <a:solidFill>
                  <a:srgbClr val="002060"/>
                </a:solidFill>
                <a:latin typeface="微软雅黑 Light" panose="020B0502040204020203" pitchFamily="34" charset="-122"/>
                <a:ea typeface="微软雅黑 Light" panose="020B0502040204020203" pitchFamily="34" charset="-122"/>
              </a:rPr>
              <a:t>stress</a:t>
            </a:r>
            <a:endParaRPr lang="es-E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a:t>
            </a:r>
            <a:r>
              <a:rPr lang="zh-CN" altLang="en-US" sz="1600" b="1" dirty="0">
                <a:solidFill>
                  <a:srgbClr val="002060"/>
                </a:solidFill>
                <a:latin typeface="微软雅黑 Light" panose="020B0502040204020203" pitchFamily="34" charset="-122"/>
                <a:ea typeface="微软雅黑 Light" panose="020B0502040204020203" pitchFamily="34" charset="-122"/>
              </a:rPr>
              <a:t>绘制应力应变曲线</a:t>
            </a:r>
            <a:endParaRPr lang="es-E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plot(-x,-y)</a:t>
            </a:r>
            <a:endParaRPr lang="zh-CN" altLang="en-US" sz="1600" b="1" dirty="0">
              <a:solidFill>
                <a:srgbClr val="002060"/>
              </a:solidFill>
              <a:latin typeface="微软雅黑 Light" panose="020B0502040204020203" pitchFamily="34" charset="-122"/>
              <a:ea typeface="微软雅黑 Light" panose="020B0502040204020203" pitchFamily="34" charset="-122"/>
            </a:endParaRPr>
          </a:p>
        </p:txBody>
      </p:sp>
      <p:sp>
        <p:nvSpPr>
          <p:cNvPr id="14" name="矩形: 圆角 13">
            <a:extLst>
              <a:ext uri="{FF2B5EF4-FFF2-40B4-BE49-F238E27FC236}">
                <a16:creationId xmlns:a16="http://schemas.microsoft.com/office/drawing/2014/main" id="{2E0F6F7E-B211-4411-8EE2-34F0A6BC7AC1}"/>
              </a:ext>
            </a:extLst>
          </p:cNvPr>
          <p:cNvSpPr/>
          <p:nvPr/>
        </p:nvSpPr>
        <p:spPr bwMode="auto">
          <a:xfrm>
            <a:off x="6509775" y="2650364"/>
            <a:ext cx="1446600" cy="1793593"/>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6" name="文本框 15">
            <a:extLst>
              <a:ext uri="{FF2B5EF4-FFF2-40B4-BE49-F238E27FC236}">
                <a16:creationId xmlns:a16="http://schemas.microsoft.com/office/drawing/2014/main" id="{53B8C4F0-369F-4BC2-836A-87DFC38802FB}"/>
              </a:ext>
            </a:extLst>
          </p:cNvPr>
          <p:cNvSpPr txBox="1"/>
          <p:nvPr/>
        </p:nvSpPr>
        <p:spPr>
          <a:xfrm>
            <a:off x="7157144" y="2339827"/>
            <a:ext cx="799232" cy="338554"/>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第</a:t>
            </a:r>
            <a:r>
              <a:rPr lang="en-US" altLang="zh-CN" sz="1600" dirty="0">
                <a:solidFill>
                  <a:srgbClr val="FF0000"/>
                </a:solidFill>
                <a:latin typeface="微软雅黑" panose="020B0503020204020204" pitchFamily="34" charset="-122"/>
                <a:ea typeface="微软雅黑" panose="020B0503020204020204" pitchFamily="34" charset="-122"/>
              </a:rPr>
              <a:t>5</a:t>
            </a:r>
            <a:r>
              <a:rPr lang="zh-CN" altLang="en-US" sz="1600" dirty="0">
                <a:solidFill>
                  <a:srgbClr val="FF0000"/>
                </a:solidFill>
                <a:latin typeface="微软雅黑" panose="020B0503020204020204" pitchFamily="34" charset="-122"/>
                <a:ea typeface="微软雅黑" panose="020B0503020204020204" pitchFamily="34" charset="-122"/>
              </a:rPr>
              <a:t>列</a:t>
            </a:r>
          </a:p>
        </p:txBody>
      </p:sp>
      <p:sp>
        <p:nvSpPr>
          <p:cNvPr id="17" name="文本框 16">
            <a:extLst>
              <a:ext uri="{FF2B5EF4-FFF2-40B4-BE49-F238E27FC236}">
                <a16:creationId xmlns:a16="http://schemas.microsoft.com/office/drawing/2014/main" id="{4CFD5C2E-95C7-4FCF-9E84-27F56A8D9E69}"/>
              </a:ext>
            </a:extLst>
          </p:cNvPr>
          <p:cNvSpPr txBox="1"/>
          <p:nvPr/>
        </p:nvSpPr>
        <p:spPr>
          <a:xfrm>
            <a:off x="6483429" y="2346434"/>
            <a:ext cx="799232" cy="338554"/>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第</a:t>
            </a:r>
            <a:r>
              <a:rPr lang="en-US" altLang="zh-CN" sz="1600" dirty="0">
                <a:solidFill>
                  <a:srgbClr val="FF0000"/>
                </a:solidFill>
                <a:latin typeface="微软雅黑" panose="020B0503020204020204" pitchFamily="34" charset="-122"/>
                <a:ea typeface="微软雅黑" panose="020B0503020204020204" pitchFamily="34" charset="-122"/>
              </a:rPr>
              <a:t>4</a:t>
            </a:r>
            <a:r>
              <a:rPr lang="zh-CN" altLang="en-US" sz="1600" dirty="0">
                <a:solidFill>
                  <a:srgbClr val="FF0000"/>
                </a:solidFill>
                <a:latin typeface="微软雅黑" panose="020B0503020204020204" pitchFamily="34" charset="-122"/>
                <a:ea typeface="微软雅黑" panose="020B0503020204020204" pitchFamily="34" charset="-122"/>
              </a:rPr>
              <a:t>列</a:t>
            </a:r>
          </a:p>
        </p:txBody>
      </p:sp>
      <p:pic>
        <p:nvPicPr>
          <p:cNvPr id="19" name="图片 18">
            <a:extLst>
              <a:ext uri="{FF2B5EF4-FFF2-40B4-BE49-F238E27FC236}">
                <a16:creationId xmlns:a16="http://schemas.microsoft.com/office/drawing/2014/main" id="{3992EA0A-38E0-44F6-AA0C-A0DDAD687597}"/>
              </a:ext>
            </a:extLst>
          </p:cNvPr>
          <p:cNvPicPr>
            <a:picLocks noChangeAspect="1"/>
          </p:cNvPicPr>
          <p:nvPr/>
        </p:nvPicPr>
        <p:blipFill rotWithShape="1">
          <a:blip r:embed="rId3"/>
          <a:srcRect l="24801" t="8000" r="31100" b="26200"/>
          <a:stretch/>
        </p:blipFill>
        <p:spPr>
          <a:xfrm>
            <a:off x="4092180" y="3024745"/>
            <a:ext cx="2069521" cy="1435542"/>
          </a:xfrm>
          <a:prstGeom prst="rect">
            <a:avLst/>
          </a:prstGeom>
        </p:spPr>
      </p:pic>
      <p:sp>
        <p:nvSpPr>
          <p:cNvPr id="15" name="文本框 14">
            <a:extLst>
              <a:ext uri="{FF2B5EF4-FFF2-40B4-BE49-F238E27FC236}">
                <a16:creationId xmlns:a16="http://schemas.microsoft.com/office/drawing/2014/main" id="{84A35EB7-6B4E-46B6-B95B-DAAD56B6C1BD}"/>
              </a:ext>
            </a:extLst>
          </p:cNvPr>
          <p:cNvSpPr txBox="1"/>
          <p:nvPr/>
        </p:nvSpPr>
        <p:spPr>
          <a:xfrm>
            <a:off x="8344768" y="2676272"/>
            <a:ext cx="619720" cy="307777"/>
          </a:xfrm>
          <a:prstGeom prst="rect">
            <a:avLst/>
          </a:prstGeom>
          <a:noFill/>
        </p:spPr>
        <p:txBody>
          <a:bodyPr wrap="square">
            <a:spAutoFit/>
          </a:bodyPr>
          <a:lstStyle/>
          <a:p>
            <a:r>
              <a:rPr lang="zh-CN" altLang="en-US" sz="1400" dirty="0">
                <a:solidFill>
                  <a:srgbClr val="FFFF00"/>
                </a:solidFill>
                <a:highlight>
                  <a:srgbClr val="3399FF"/>
                </a:highlight>
                <a:latin typeface="微软雅黑" panose="020B0503020204020204" pitchFamily="34" charset="-122"/>
                <a:ea typeface="微软雅黑" panose="020B0503020204020204" pitchFamily="34" charset="-122"/>
              </a:rPr>
              <a:t>表头</a:t>
            </a:r>
          </a:p>
        </p:txBody>
      </p:sp>
      <p:sp>
        <p:nvSpPr>
          <p:cNvPr id="12" name="文本框 11">
            <a:extLst>
              <a:ext uri="{FF2B5EF4-FFF2-40B4-BE49-F238E27FC236}">
                <a16:creationId xmlns:a16="http://schemas.microsoft.com/office/drawing/2014/main" id="{0BDE86D2-FD7C-4A53-A09E-AE6F9B46275C}"/>
              </a:ext>
            </a:extLst>
          </p:cNvPr>
          <p:cNvSpPr txBox="1"/>
          <p:nvPr/>
        </p:nvSpPr>
        <p:spPr>
          <a:xfrm>
            <a:off x="3628442" y="2079307"/>
            <a:ext cx="619720" cy="307777"/>
          </a:xfrm>
          <a:prstGeom prst="rect">
            <a:avLst/>
          </a:prstGeom>
          <a:noFill/>
        </p:spPr>
        <p:txBody>
          <a:bodyPr wrap="square">
            <a:spAutoFit/>
          </a:bodyPr>
          <a:lstStyle/>
          <a:p>
            <a:r>
              <a:rPr lang="zh-CN" altLang="en-US" sz="1400" dirty="0">
                <a:solidFill>
                  <a:srgbClr val="FFFF00"/>
                </a:solidFill>
                <a:highlight>
                  <a:srgbClr val="3399FF"/>
                </a:highlight>
                <a:latin typeface="微软雅黑" panose="020B0503020204020204" pitchFamily="34" charset="-122"/>
                <a:ea typeface="微软雅黑" panose="020B0503020204020204" pitchFamily="34" charset="-122"/>
              </a:rPr>
              <a:t>序号</a:t>
            </a:r>
          </a:p>
        </p:txBody>
      </p:sp>
      <p:sp>
        <p:nvSpPr>
          <p:cNvPr id="18" name="矩形: 圆角 17">
            <a:extLst>
              <a:ext uri="{FF2B5EF4-FFF2-40B4-BE49-F238E27FC236}">
                <a16:creationId xmlns:a16="http://schemas.microsoft.com/office/drawing/2014/main" id="{62A87380-0F12-4218-B243-C95285A52DE5}"/>
              </a:ext>
            </a:extLst>
          </p:cNvPr>
          <p:cNvSpPr/>
          <p:nvPr/>
        </p:nvSpPr>
        <p:spPr bwMode="auto">
          <a:xfrm>
            <a:off x="3744106" y="2506607"/>
            <a:ext cx="515149" cy="307777"/>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0" name="文本框 19">
            <a:extLst>
              <a:ext uri="{FF2B5EF4-FFF2-40B4-BE49-F238E27FC236}">
                <a16:creationId xmlns:a16="http://schemas.microsoft.com/office/drawing/2014/main" id="{73324815-2946-458E-A736-D2BF1BD4B15D}"/>
              </a:ext>
            </a:extLst>
          </p:cNvPr>
          <p:cNvSpPr txBox="1"/>
          <p:nvPr/>
        </p:nvSpPr>
        <p:spPr>
          <a:xfrm>
            <a:off x="179512" y="1467646"/>
            <a:ext cx="8624746" cy="408766"/>
          </a:xfrm>
          <a:prstGeom prst="rect">
            <a:avLst/>
          </a:prstGeom>
          <a:noFill/>
        </p:spPr>
        <p:txBody>
          <a:bodyPr wrap="square">
            <a:spAutoFit/>
          </a:bodyPr>
          <a:lstStyle>
            <a:defPPr>
              <a:defRPr lang="zh-CN"/>
            </a:defPPr>
            <a:lvl1pPr>
              <a:lnSpc>
                <a:spcPts val="2700"/>
              </a:lnSpc>
              <a:defRPr>
                <a:solidFill>
                  <a:srgbClr val="002060"/>
                </a:solidFill>
                <a:latin typeface="微软雅黑 Light" panose="020B0502040204020203" pitchFamily="34" charset="-122"/>
                <a:ea typeface="微软雅黑 Light" panose="020B0502040204020203" pitchFamily="34" charset="-122"/>
              </a:defRPr>
            </a:lvl1pPr>
          </a:lstStyle>
          <a:p>
            <a:r>
              <a:rPr lang="en-US" altLang="zh-CN" dirty="0"/>
              <a:t>#</a:t>
            </a:r>
            <a:r>
              <a:rPr lang="zh-CN" altLang="en-US" dirty="0"/>
              <a:t>按照指定路径读取应力应变曲线 </a:t>
            </a:r>
            <a:r>
              <a:rPr lang="en-US" altLang="zh-CN" dirty="0" err="1"/>
              <a:t>tt</a:t>
            </a:r>
            <a:r>
              <a:rPr lang="en-US" altLang="zh-CN" dirty="0"/>
              <a:t>=</a:t>
            </a:r>
            <a:r>
              <a:rPr lang="en-US" altLang="zh-CN" dirty="0" err="1"/>
              <a:t>readtable</a:t>
            </a:r>
            <a:r>
              <a:rPr lang="en-US" altLang="zh-CN" dirty="0"/>
              <a:t>(“D:/sysjulia/stress.txt”)</a:t>
            </a:r>
          </a:p>
        </p:txBody>
      </p:sp>
      <p:sp>
        <p:nvSpPr>
          <p:cNvPr id="3" name="文本框 2">
            <a:extLst>
              <a:ext uri="{FF2B5EF4-FFF2-40B4-BE49-F238E27FC236}">
                <a16:creationId xmlns:a16="http://schemas.microsoft.com/office/drawing/2014/main" id="{CB60585C-472A-14D8-FBD2-692579DC07D5}"/>
              </a:ext>
            </a:extLst>
          </p:cNvPr>
          <p:cNvSpPr txBox="1"/>
          <p:nvPr/>
        </p:nvSpPr>
        <p:spPr>
          <a:xfrm>
            <a:off x="1331640" y="1112183"/>
            <a:ext cx="7632848" cy="369332"/>
          </a:xfrm>
          <a:prstGeom prst="rect">
            <a:avLst/>
          </a:prstGeom>
          <a:solidFill>
            <a:schemeClr val="bg1"/>
          </a:solidFill>
        </p:spPr>
        <p:txBody>
          <a:bodyPr wrap="square">
            <a:spAutoFit/>
          </a:bodyPr>
          <a:lstStyle>
            <a:defPPr>
              <a:defRPr lang="zh-CN"/>
            </a:defPPr>
            <a:lvl1pPr>
              <a:defRPr b="1">
                <a:solidFill>
                  <a:srgbClr val="0070C0"/>
                </a:solidFill>
                <a:latin typeface="微软雅黑" panose="020B0503020204020204" pitchFamily="34" charset="-122"/>
                <a:ea typeface="微软雅黑" panose="020B0503020204020204" pitchFamily="34" charset="-122"/>
              </a:defRPr>
            </a:lvl1pPr>
          </a:lstStyle>
          <a:p>
            <a:pPr algn="dist"/>
            <a:r>
              <a:rPr lang="zh-CN" altLang="en-US" dirty="0">
                <a:solidFill>
                  <a:srgbClr val="00B0F0"/>
                </a:solidFill>
              </a:rPr>
              <a:t>采用</a:t>
            </a:r>
            <a:r>
              <a:rPr lang="en-US" altLang="zh-CN" dirty="0" err="1">
                <a:solidFill>
                  <a:srgbClr val="00B0F0"/>
                </a:solidFill>
              </a:rPr>
              <a:t>readtable</a:t>
            </a:r>
            <a:r>
              <a:rPr lang="zh-CN" altLang="en-US" dirty="0">
                <a:solidFill>
                  <a:srgbClr val="00B0F0"/>
                </a:solidFill>
              </a:rPr>
              <a:t>读取应力</a:t>
            </a:r>
            <a:r>
              <a:rPr lang="en-US" altLang="zh-CN" dirty="0">
                <a:solidFill>
                  <a:srgbClr val="00B0F0"/>
                </a:solidFill>
              </a:rPr>
              <a:t>-</a:t>
            </a:r>
            <a:r>
              <a:rPr lang="zh-CN" altLang="en-US" dirty="0">
                <a:solidFill>
                  <a:srgbClr val="00B0F0"/>
                </a:solidFill>
              </a:rPr>
              <a:t>应变曲线的</a:t>
            </a:r>
            <a:r>
              <a:rPr lang="en-US" altLang="zh-CN" dirty="0">
                <a:solidFill>
                  <a:srgbClr val="00B0F0"/>
                </a:solidFill>
              </a:rPr>
              <a:t>txt</a:t>
            </a:r>
            <a:r>
              <a:rPr lang="zh-CN" altLang="en-US" dirty="0">
                <a:solidFill>
                  <a:srgbClr val="00B0F0"/>
                </a:solidFill>
              </a:rPr>
              <a:t>数据，并绘制应力</a:t>
            </a:r>
            <a:r>
              <a:rPr lang="en-US" altLang="zh-CN" dirty="0">
                <a:solidFill>
                  <a:srgbClr val="00B0F0"/>
                </a:solidFill>
              </a:rPr>
              <a:t>-</a:t>
            </a:r>
            <a:r>
              <a:rPr lang="zh-CN" altLang="en-US" dirty="0">
                <a:solidFill>
                  <a:srgbClr val="00B0F0"/>
                </a:solidFill>
              </a:rPr>
              <a:t>应变曲线</a:t>
            </a:r>
          </a:p>
        </p:txBody>
      </p:sp>
      <p:sp>
        <p:nvSpPr>
          <p:cNvPr id="21" name="波形 20">
            <a:extLst>
              <a:ext uri="{FF2B5EF4-FFF2-40B4-BE49-F238E27FC236}">
                <a16:creationId xmlns:a16="http://schemas.microsoft.com/office/drawing/2014/main" id="{FC939EF5-E9A8-4502-9137-D2C492B052AA}"/>
              </a:ext>
            </a:extLst>
          </p:cNvPr>
          <p:cNvSpPr/>
          <p:nvPr/>
        </p:nvSpPr>
        <p:spPr>
          <a:xfrm>
            <a:off x="364187" y="1080508"/>
            <a:ext cx="967453"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例142-1</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2887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AF40DB51-012D-4F98-8D7F-A4464DE2AC07}"/>
              </a:ext>
            </a:extLst>
          </p:cNvPr>
          <p:cNvSpPr txBox="1"/>
          <p:nvPr/>
        </p:nvSpPr>
        <p:spPr>
          <a:xfrm>
            <a:off x="4245100" y="1320053"/>
            <a:ext cx="4719388" cy="400110"/>
          </a:xfrm>
          <a:prstGeom prst="rect">
            <a:avLst/>
          </a:prstGeom>
          <a:noFill/>
        </p:spPr>
        <p:txBody>
          <a:bodyPr wrap="square">
            <a:spAutoFit/>
          </a:bodyPr>
          <a:lstStyle/>
          <a:p>
            <a:r>
              <a:rPr lang="en-US" altLang="zh-CN" sz="2000" b="1" dirty="0" err="1">
                <a:solidFill>
                  <a:srgbClr val="00B0F0"/>
                </a:solidFill>
              </a:rPr>
              <a:t>tt</a:t>
            </a:r>
            <a:r>
              <a:rPr lang="en-US" altLang="zh-CN" sz="2000" b="1" dirty="0">
                <a:solidFill>
                  <a:srgbClr val="00B0F0"/>
                </a:solidFill>
              </a:rPr>
              <a:t>=</a:t>
            </a:r>
            <a:r>
              <a:rPr lang="en-US" altLang="zh-CN" sz="2000" b="1" dirty="0" err="1">
                <a:solidFill>
                  <a:srgbClr val="00B0F0"/>
                </a:solidFill>
              </a:rPr>
              <a:t>CSV.read</a:t>
            </a:r>
            <a:r>
              <a:rPr lang="en-US" altLang="zh-CN" sz="2000" b="1" dirty="0">
                <a:solidFill>
                  <a:srgbClr val="00B0F0"/>
                </a:solidFill>
              </a:rPr>
              <a:t>("stress.csv",</a:t>
            </a:r>
            <a:r>
              <a:rPr lang="en-US" altLang="zh-CN" sz="2000" b="1" dirty="0" err="1">
                <a:solidFill>
                  <a:srgbClr val="00B0F0"/>
                </a:solidFill>
              </a:rPr>
              <a:t>DataFrame</a:t>
            </a:r>
            <a:r>
              <a:rPr lang="en-US" altLang="zh-CN" sz="2000" b="1" dirty="0">
                <a:solidFill>
                  <a:srgbClr val="00B0F0"/>
                </a:solidFill>
              </a:rPr>
              <a:t>)</a:t>
            </a:r>
            <a:endParaRPr lang="zh-CN" altLang="en-US" sz="2000" b="1" dirty="0">
              <a:solidFill>
                <a:srgbClr val="00B0F0"/>
              </a:solidFill>
            </a:endParaRPr>
          </a:p>
        </p:txBody>
      </p:sp>
      <p:sp>
        <p:nvSpPr>
          <p:cNvPr id="8" name="Rectangle 1">
            <a:extLst>
              <a:ext uri="{FF2B5EF4-FFF2-40B4-BE49-F238E27FC236}">
                <a16:creationId xmlns:a16="http://schemas.microsoft.com/office/drawing/2014/main" id="{106D2FE0-655B-468E-AF87-8B0855842F1E}"/>
              </a:ext>
            </a:extLst>
          </p:cNvPr>
          <p:cNvSpPr>
            <a:spLocks noChangeArrowheads="1"/>
          </p:cNvSpPr>
          <p:nvPr/>
        </p:nvSpPr>
        <p:spPr bwMode="auto">
          <a:xfrm>
            <a:off x="539552" y="1454740"/>
            <a:ext cx="1284006" cy="307777"/>
          </a:xfrm>
          <a:prstGeom prst="rect">
            <a:avLst/>
          </a:prstGeom>
          <a:solidFill>
            <a:srgbClr val="F6F6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A8"/>
                </a:solidFill>
                <a:effectLst/>
                <a:latin typeface="Arial Unicode MS"/>
                <a:ea typeface="source-code-pro"/>
              </a:rPr>
              <a:t>using</a:t>
            </a:r>
            <a:r>
              <a:rPr kumimoji="0" lang="zh-CN" altLang="zh-CN" sz="2000" b="0" i="0" u="none" strike="noStrike" cap="none" normalizeH="0" baseline="0" dirty="0">
                <a:ln>
                  <a:noFill/>
                </a:ln>
                <a:solidFill>
                  <a:srgbClr val="000000"/>
                </a:solidFill>
                <a:effectLst/>
                <a:latin typeface="Arial Unicode MS"/>
                <a:ea typeface="source-code-pro"/>
              </a:rPr>
              <a:t> CSV</a:t>
            </a:r>
            <a:endParaRPr kumimoji="0" lang="en-US" altLang="zh-CN" sz="2000" b="0" i="0" u="none" strike="noStrike" cap="none" normalizeH="0" baseline="0" dirty="0">
              <a:ln>
                <a:noFill/>
              </a:ln>
              <a:solidFill>
                <a:srgbClr val="000000"/>
              </a:solidFill>
              <a:effectLst/>
              <a:latin typeface="Arial Unicode MS"/>
              <a:ea typeface="source-code-pro"/>
            </a:endParaRPr>
          </a:p>
        </p:txBody>
      </p:sp>
      <p:sp>
        <p:nvSpPr>
          <p:cNvPr id="10" name="文本框 9">
            <a:extLst>
              <a:ext uri="{FF2B5EF4-FFF2-40B4-BE49-F238E27FC236}">
                <a16:creationId xmlns:a16="http://schemas.microsoft.com/office/drawing/2014/main" id="{1D0F2D6C-37B5-4701-84E4-639F467B9639}"/>
              </a:ext>
            </a:extLst>
          </p:cNvPr>
          <p:cNvSpPr txBox="1"/>
          <p:nvPr/>
        </p:nvSpPr>
        <p:spPr>
          <a:xfrm>
            <a:off x="549935" y="1975566"/>
            <a:ext cx="8225377" cy="2462213"/>
          </a:xfrm>
          <a:prstGeom prst="rect">
            <a:avLst/>
          </a:prstGeom>
          <a:noFill/>
          <a:ln>
            <a:solidFill>
              <a:srgbClr val="736303"/>
            </a:solidFill>
          </a:ln>
        </p:spPr>
        <p:txBody>
          <a:bodyPr wrap="square">
            <a:spAutoFit/>
          </a:bodyPr>
          <a:lstStyle/>
          <a:p>
            <a:r>
              <a:rPr lang="zh-CN" altLang="en-US" sz="1400" dirty="0"/>
              <a:t>8006×6 DataFrame</a:t>
            </a:r>
          </a:p>
          <a:p>
            <a:r>
              <a:rPr lang="zh-CN" altLang="en-US" sz="1400" dirty="0"/>
              <a:t>  Row │ Time(sec)  Force(kgf)  LGauge(mm)   Strain   ⋯      │ Float64    Float64     Float64      Float64  ⋯──────┼───────────────────────────────────────────────        1 │     0.0       -7.2099  -0.00016053  -1.7113e ⋯   </a:t>
            </a:r>
            <a:endParaRPr lang="en-US" altLang="zh-CN" sz="1400" dirty="0"/>
          </a:p>
          <a:p>
            <a:r>
              <a:rPr lang="en-US" altLang="zh-CN" sz="1400" dirty="0"/>
              <a:t>   </a:t>
            </a:r>
            <a:r>
              <a:rPr lang="zh-CN" altLang="en-US" sz="1400" dirty="0"/>
              <a:t> 2 │     0.1       -8.1034  -0.00023657  -2.5823e  </a:t>
            </a:r>
          </a:p>
          <a:p>
            <a:r>
              <a:rPr lang="zh-CN" altLang="en-US" sz="1400" dirty="0"/>
              <a:t>    3 │     0.2       -7.8716  -0.00035473  -4.2897e  </a:t>
            </a:r>
          </a:p>
          <a:p>
            <a:r>
              <a:rPr lang="zh-CN" altLang="en-US" sz="1400" dirty="0"/>
              <a:t>    4 │     0.3       -7.489   -0.00029696  -3.7582e  </a:t>
            </a:r>
          </a:p>
          <a:p>
            <a:r>
              <a:rPr lang="zh-CN" altLang="en-US" sz="1400" dirty="0"/>
              <a:t>  ⋮   │     ⋮          ⋮            ⋮           ⋮    ⋱ 8004 │   800.299    -80.667   -4.95        -0.7985  ⋯ 8005 │   800.399    -79.641   -4.9499      -0.79848  </a:t>
            </a:r>
          </a:p>
          <a:p>
            <a:r>
              <a:rPr lang="zh-CN" altLang="en-US" sz="1400" dirty="0"/>
              <a:t> 8006 │   800.499    -80.714   -4.95        -0.79852  </a:t>
            </a:r>
          </a:p>
          <a:p>
            <a:r>
              <a:rPr lang="zh-CN" altLang="en-US" sz="1400" dirty="0"/>
              <a:t>                       3 columns and 7999 rows omitted</a:t>
            </a:r>
          </a:p>
        </p:txBody>
      </p:sp>
      <p:sp>
        <p:nvSpPr>
          <p:cNvPr id="6" name="文本框 5">
            <a:extLst>
              <a:ext uri="{FF2B5EF4-FFF2-40B4-BE49-F238E27FC236}">
                <a16:creationId xmlns:a16="http://schemas.microsoft.com/office/drawing/2014/main" id="{62707D3D-9B34-4D46-9FE5-1F12ED2ED4C4}"/>
              </a:ext>
            </a:extLst>
          </p:cNvPr>
          <p:cNvSpPr txBox="1"/>
          <p:nvPr/>
        </p:nvSpPr>
        <p:spPr>
          <a:xfrm>
            <a:off x="1331640" y="803225"/>
            <a:ext cx="7632848" cy="369332"/>
          </a:xfrm>
          <a:prstGeom prst="rect">
            <a:avLst/>
          </a:prstGeom>
          <a:solidFill>
            <a:schemeClr val="bg1"/>
          </a:solidFill>
        </p:spPr>
        <p:txBody>
          <a:bodyPr wrap="square">
            <a:spAutoFit/>
          </a:bodyPr>
          <a:lstStyle>
            <a:defPPr>
              <a:defRPr lang="zh-CN"/>
            </a:defPPr>
            <a:lvl1pPr>
              <a:defRPr b="1">
                <a:solidFill>
                  <a:srgbClr val="0070C0"/>
                </a:solidFill>
                <a:latin typeface="微软雅黑" panose="020B0503020204020204" pitchFamily="34" charset="-122"/>
                <a:ea typeface="微软雅黑" panose="020B0503020204020204" pitchFamily="34" charset="-122"/>
              </a:defRPr>
            </a:lvl1pPr>
          </a:lstStyle>
          <a:p>
            <a:pPr algn="dist"/>
            <a:r>
              <a:rPr lang="zh-CN" altLang="en-US" dirty="0"/>
              <a:t>用</a:t>
            </a:r>
            <a:r>
              <a:rPr lang="en-US" altLang="zh-CN" sz="1800" b="1" dirty="0" err="1"/>
              <a:t>CSV.read</a:t>
            </a:r>
            <a:r>
              <a:rPr lang="zh-CN" altLang="en-US" sz="1800" b="1" dirty="0"/>
              <a:t>或</a:t>
            </a:r>
            <a:r>
              <a:rPr lang="en-US" altLang="zh-CN" dirty="0" err="1"/>
              <a:t>readtable</a:t>
            </a:r>
            <a:r>
              <a:rPr lang="zh-CN" altLang="en-US" dirty="0"/>
              <a:t>读取复合材料应力</a:t>
            </a:r>
            <a:r>
              <a:rPr lang="en-US" altLang="zh-CN" dirty="0"/>
              <a:t>-</a:t>
            </a:r>
            <a:r>
              <a:rPr lang="zh-CN" altLang="en-US" dirty="0"/>
              <a:t>应变曲线的</a:t>
            </a:r>
            <a:r>
              <a:rPr lang="en-US" altLang="zh-CN" dirty="0"/>
              <a:t>csv</a:t>
            </a:r>
            <a:r>
              <a:rPr lang="zh-CN" altLang="en-US" dirty="0"/>
              <a:t>数据</a:t>
            </a:r>
          </a:p>
        </p:txBody>
      </p:sp>
      <p:sp>
        <p:nvSpPr>
          <p:cNvPr id="9" name="波形 8">
            <a:extLst>
              <a:ext uri="{FF2B5EF4-FFF2-40B4-BE49-F238E27FC236}">
                <a16:creationId xmlns:a16="http://schemas.microsoft.com/office/drawing/2014/main" id="{6A033CBF-B3DE-444A-9C70-91E258ECDF73}"/>
              </a:ext>
            </a:extLst>
          </p:cNvPr>
          <p:cNvSpPr/>
          <p:nvPr/>
        </p:nvSpPr>
        <p:spPr>
          <a:xfrm>
            <a:off x="364187" y="771550"/>
            <a:ext cx="967453"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例142-2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1" name="标题 1">
            <a:extLst>
              <a:ext uri="{FF2B5EF4-FFF2-40B4-BE49-F238E27FC236}">
                <a16:creationId xmlns:a16="http://schemas.microsoft.com/office/drawing/2014/main" id="{BF3ACED6-87BB-4887-A3C8-2745C351230D}"/>
              </a:ext>
            </a:extLst>
          </p:cNvPr>
          <p:cNvSpPr txBox="1">
            <a:spLocks/>
          </p:cNvSpPr>
          <p:nvPr/>
        </p:nvSpPr>
        <p:spPr bwMode="auto">
          <a:xfrm>
            <a:off x="1223628" y="273150"/>
            <a:ext cx="6696744" cy="36200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b="1" kern="0" dirty="0">
                <a:solidFill>
                  <a:srgbClr val="0070C0"/>
                </a:solidFill>
              </a:rPr>
              <a:t>§1.4.2  </a:t>
            </a:r>
            <a:r>
              <a:rPr lang="zh-CN" altLang="en-US" sz="3000" b="1" dirty="0">
                <a:solidFill>
                  <a:srgbClr val="0070C0"/>
                </a:solidFill>
              </a:rPr>
              <a:t>列表</a:t>
            </a:r>
            <a:r>
              <a:rPr lang="en-US" altLang="zh-CN" sz="3000" b="1" dirty="0">
                <a:solidFill>
                  <a:srgbClr val="0070C0"/>
                </a:solidFill>
              </a:rPr>
              <a:t>table</a:t>
            </a:r>
            <a:r>
              <a:rPr lang="en-US" altLang="zh-CN" sz="3000" b="1" kern="0" dirty="0">
                <a:solidFill>
                  <a:srgbClr val="0070C0"/>
                </a:solidFill>
              </a:rPr>
              <a:t> </a:t>
            </a:r>
            <a:r>
              <a:rPr lang="en-US" altLang="zh-CN" sz="3000" b="1" kern="0" dirty="0">
                <a:solidFill>
                  <a:srgbClr val="FF0000"/>
                </a:solidFill>
              </a:rPr>
              <a:t>——</a:t>
            </a:r>
            <a:r>
              <a:rPr lang="zh-CN" altLang="en-US" sz="3000" b="1" kern="0" dirty="0">
                <a:solidFill>
                  <a:srgbClr val="FF0000"/>
                </a:solidFill>
              </a:rPr>
              <a:t>读取</a:t>
            </a:r>
            <a:r>
              <a:rPr lang="en-US" altLang="zh-CN" sz="3000" b="1" kern="0" dirty="0">
                <a:solidFill>
                  <a:srgbClr val="FF0000"/>
                </a:solidFill>
              </a:rPr>
              <a:t>csv</a:t>
            </a:r>
            <a:r>
              <a:rPr lang="zh-CN" altLang="en-US" sz="3000" b="1" kern="0" dirty="0">
                <a:solidFill>
                  <a:srgbClr val="FF0000"/>
                </a:solidFill>
              </a:rPr>
              <a:t>文件建表格</a:t>
            </a:r>
          </a:p>
        </p:txBody>
      </p:sp>
      <p:sp>
        <p:nvSpPr>
          <p:cNvPr id="13" name="文本框 12">
            <a:extLst>
              <a:ext uri="{FF2B5EF4-FFF2-40B4-BE49-F238E27FC236}">
                <a16:creationId xmlns:a16="http://schemas.microsoft.com/office/drawing/2014/main" id="{7F452ADC-EEA1-4D7A-A27F-9245E98B0D92}"/>
              </a:ext>
            </a:extLst>
          </p:cNvPr>
          <p:cNvSpPr txBox="1"/>
          <p:nvPr/>
        </p:nvSpPr>
        <p:spPr>
          <a:xfrm>
            <a:off x="4788024" y="3932494"/>
            <a:ext cx="4355976" cy="461665"/>
          </a:xfrm>
          <a:prstGeom prst="rect">
            <a:avLst/>
          </a:prstGeom>
          <a:noFill/>
        </p:spPr>
        <p:txBody>
          <a:bodyPr wrap="square">
            <a:spAutoFit/>
          </a:bodyPr>
          <a:lstStyle/>
          <a:p>
            <a:r>
              <a:rPr lang="zh-CN" altLang="en-US" sz="2400" b="1" dirty="0">
                <a:solidFill>
                  <a:srgbClr val="00B0F0"/>
                </a:solidFill>
              </a:rPr>
              <a:t>tt=readtable("stress.csv")</a:t>
            </a:r>
          </a:p>
        </p:txBody>
      </p:sp>
    </p:spTree>
    <p:extLst>
      <p:ext uri="{BB962C8B-B14F-4D97-AF65-F5344CB8AC3E}">
        <p14:creationId xmlns:p14="http://schemas.microsoft.com/office/powerpoint/2010/main" val="1581355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2DAC2621-3213-4128-BE95-0F125DD8453B}"/>
              </a:ext>
            </a:extLst>
          </p:cNvPr>
          <p:cNvSpPr txBox="1"/>
          <p:nvPr/>
        </p:nvSpPr>
        <p:spPr>
          <a:xfrm>
            <a:off x="0" y="1211352"/>
            <a:ext cx="4572000"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pPr marL="457200" indent="-457200">
              <a:buFont typeface="+mj-ea"/>
              <a:buAutoNum type="circleNumDbPlain" startAt="2"/>
            </a:pPr>
            <a:r>
              <a:rPr lang="zh-CN" altLang="en-US" sz="2000" dirty="0"/>
              <a:t>用键值对构造变量表格数据框架</a:t>
            </a:r>
            <a:r>
              <a:rPr lang="en-US" altLang="zh-CN" sz="2000" dirty="0" err="1"/>
              <a:t>tt</a:t>
            </a:r>
            <a:endParaRPr lang="zh-CN" altLang="en-US" sz="2000" dirty="0"/>
          </a:p>
        </p:txBody>
      </p:sp>
      <p:sp>
        <p:nvSpPr>
          <p:cNvPr id="5" name="文本框 4">
            <a:extLst>
              <a:ext uri="{FF2B5EF4-FFF2-40B4-BE49-F238E27FC236}">
                <a16:creationId xmlns:a16="http://schemas.microsoft.com/office/drawing/2014/main" id="{809BC84B-3036-4F05-8F86-29F49DB8589B}"/>
              </a:ext>
            </a:extLst>
          </p:cNvPr>
          <p:cNvSpPr txBox="1"/>
          <p:nvPr/>
        </p:nvSpPr>
        <p:spPr>
          <a:xfrm>
            <a:off x="0" y="720564"/>
            <a:ext cx="4572000"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pPr marL="457200" indent="-457200">
              <a:buFont typeface="+mj-ea"/>
              <a:buAutoNum type="circleNumDbPlain"/>
            </a:pPr>
            <a:r>
              <a:rPr lang="zh-CN" altLang="en-US" sz="2000" dirty="0"/>
              <a:t>通过输入变量及数值建表格变量</a:t>
            </a:r>
            <a:r>
              <a:rPr lang="en-US" altLang="zh-CN" sz="2000" dirty="0" err="1"/>
              <a:t>tt</a:t>
            </a:r>
            <a:endParaRPr lang="zh-CN" altLang="en-US" sz="2000" dirty="0"/>
          </a:p>
        </p:txBody>
      </p:sp>
      <p:sp>
        <p:nvSpPr>
          <p:cNvPr id="8" name="Rectangle 1">
            <a:extLst>
              <a:ext uri="{FF2B5EF4-FFF2-40B4-BE49-F238E27FC236}">
                <a16:creationId xmlns:a16="http://schemas.microsoft.com/office/drawing/2014/main" id="{D344516E-33CB-4161-91B3-16DECCD36FFC}"/>
              </a:ext>
            </a:extLst>
          </p:cNvPr>
          <p:cNvSpPr>
            <a:spLocks noChangeArrowheads="1"/>
          </p:cNvSpPr>
          <p:nvPr/>
        </p:nvSpPr>
        <p:spPr bwMode="auto">
          <a:xfrm>
            <a:off x="4486481" y="1226741"/>
            <a:ext cx="4406000"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en-US" altLang="zh-CN" sz="1600" b="1" dirty="0" err="1">
                <a:solidFill>
                  <a:schemeClr val="bg1">
                    <a:lumMod val="95000"/>
                  </a:schemeClr>
                </a:solidFill>
                <a:latin typeface="Arial Unicode MS"/>
              </a:rPr>
              <a:t>tt</a:t>
            </a:r>
            <a:r>
              <a:rPr lang="en-US" altLang="zh-CN" sz="1600" b="1" dirty="0">
                <a:solidFill>
                  <a:schemeClr val="bg1">
                    <a:lumMod val="95000"/>
                  </a:schemeClr>
                </a:solidFill>
                <a:latin typeface="Arial Unicode MS"/>
              </a:rPr>
              <a:t>=</a:t>
            </a:r>
            <a:r>
              <a:rPr lang="zh-CN" altLang="zh-CN" sz="1600" b="1" dirty="0">
                <a:solidFill>
                  <a:schemeClr val="bg1">
                    <a:lumMod val="95000"/>
                  </a:schemeClr>
                </a:solidFill>
                <a:latin typeface="Arial Unicode MS"/>
              </a:rPr>
              <a:t>DataFrame(</a:t>
            </a:r>
            <a:r>
              <a:rPr lang="en-US" altLang="zh-CN" sz="1600" b="1" dirty="0">
                <a:solidFill>
                  <a:schemeClr val="bg1">
                    <a:lumMod val="95000"/>
                  </a:schemeClr>
                </a:solidFill>
                <a:latin typeface="Arial Unicode MS"/>
              </a:rPr>
              <a:t>"key1"=&gt;value1,,,</a:t>
            </a:r>
            <a:r>
              <a:rPr lang="zh-CN" altLang="zh-CN" sz="1600" b="1" dirty="0">
                <a:solidFill>
                  <a:schemeClr val="bg1">
                    <a:lumMod val="95000"/>
                  </a:schemeClr>
                </a:solidFill>
                <a:latin typeface="Arial Unicode MS"/>
              </a:rPr>
              <a:t>) </a:t>
            </a:r>
          </a:p>
        </p:txBody>
      </p:sp>
      <p:sp>
        <p:nvSpPr>
          <p:cNvPr id="14" name="Rectangle 1">
            <a:extLst>
              <a:ext uri="{FF2B5EF4-FFF2-40B4-BE49-F238E27FC236}">
                <a16:creationId xmlns:a16="http://schemas.microsoft.com/office/drawing/2014/main" id="{3FFE100B-EA77-44DE-8445-4095229DC546}"/>
              </a:ext>
            </a:extLst>
          </p:cNvPr>
          <p:cNvSpPr>
            <a:spLocks noChangeArrowheads="1"/>
          </p:cNvSpPr>
          <p:nvPr/>
        </p:nvSpPr>
        <p:spPr bwMode="auto">
          <a:xfrm>
            <a:off x="4496434" y="730618"/>
            <a:ext cx="3240360"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en-US" altLang="zh-CN" sz="1600" b="1" dirty="0" err="1">
                <a:solidFill>
                  <a:schemeClr val="bg1">
                    <a:lumMod val="95000"/>
                  </a:schemeClr>
                </a:solidFill>
                <a:latin typeface="Arial Unicode MS"/>
              </a:rPr>
              <a:t>tt</a:t>
            </a:r>
            <a:r>
              <a:rPr lang="en-US" altLang="zh-CN" sz="1600" b="1" dirty="0">
                <a:solidFill>
                  <a:schemeClr val="bg1">
                    <a:lumMod val="95000"/>
                  </a:schemeClr>
                </a:solidFill>
                <a:latin typeface="Arial Unicode MS"/>
              </a:rPr>
              <a:t>=</a:t>
            </a:r>
            <a:r>
              <a:rPr lang="zh-CN" altLang="zh-CN" sz="1600" b="1" dirty="0">
                <a:solidFill>
                  <a:schemeClr val="bg1">
                    <a:lumMod val="95000"/>
                  </a:schemeClr>
                </a:solidFill>
                <a:latin typeface="Arial Unicode MS"/>
              </a:rPr>
              <a:t>DataFrame(</a:t>
            </a:r>
            <a:r>
              <a:rPr lang="en-US" altLang="zh-CN" sz="1600" b="1" dirty="0">
                <a:solidFill>
                  <a:schemeClr val="bg1">
                    <a:lumMod val="95000"/>
                  </a:schemeClr>
                </a:solidFill>
                <a:latin typeface="Arial Unicode MS"/>
              </a:rPr>
              <a:t>x1,x2,…</a:t>
            </a:r>
            <a:r>
              <a:rPr lang="zh-CN" altLang="zh-CN" sz="1600" b="1" dirty="0">
                <a:solidFill>
                  <a:schemeClr val="bg1">
                    <a:lumMod val="95000"/>
                  </a:schemeClr>
                </a:solidFill>
                <a:latin typeface="Arial Unicode MS"/>
              </a:rPr>
              <a:t>) </a:t>
            </a:r>
          </a:p>
        </p:txBody>
      </p:sp>
      <p:sp>
        <p:nvSpPr>
          <p:cNvPr id="18" name="文本框 17">
            <a:extLst>
              <a:ext uri="{FF2B5EF4-FFF2-40B4-BE49-F238E27FC236}">
                <a16:creationId xmlns:a16="http://schemas.microsoft.com/office/drawing/2014/main" id="{4D9E9C7E-2C97-4A94-86BE-78D1F29E034F}"/>
              </a:ext>
            </a:extLst>
          </p:cNvPr>
          <p:cNvSpPr txBox="1"/>
          <p:nvPr/>
        </p:nvSpPr>
        <p:spPr>
          <a:xfrm>
            <a:off x="97739" y="2366168"/>
            <a:ext cx="5892814" cy="2143792"/>
          </a:xfrm>
          <a:prstGeom prst="rect">
            <a:avLst/>
          </a:prstGeom>
          <a:noFill/>
        </p:spPr>
        <p:txBody>
          <a:bodyPr wrap="square">
            <a:spAutoFit/>
          </a:bodyPr>
          <a:lstStyle/>
          <a:p>
            <a:pPr>
              <a:lnSpc>
                <a:spcPts val="4100"/>
              </a:lnSpc>
            </a:pPr>
            <a:r>
              <a:rPr lang="es-ES" altLang="zh-CN" sz="2800" b="1" dirty="0">
                <a:solidFill>
                  <a:srgbClr val="0070C0"/>
                </a:solidFill>
                <a:latin typeface="Times New Roman" panose="02020603050405020304" pitchFamily="18" charset="0"/>
                <a:cs typeface="Times New Roman" panose="02020603050405020304" pitchFamily="18" charset="0"/>
              </a:rPr>
              <a:t>x=1:4;</a:t>
            </a:r>
          </a:p>
          <a:p>
            <a:pPr>
              <a:lnSpc>
                <a:spcPts val="4100"/>
              </a:lnSpc>
            </a:pPr>
            <a:r>
              <a:rPr lang="es-ES" altLang="zh-CN" sz="2800" b="1" dirty="0">
                <a:solidFill>
                  <a:srgbClr val="0070C0"/>
                </a:solidFill>
                <a:latin typeface="Times New Roman" panose="02020603050405020304" pitchFamily="18" charset="0"/>
                <a:cs typeface="Times New Roman" panose="02020603050405020304" pitchFamily="18" charset="0"/>
              </a:rPr>
              <a:t>y=sin.(4);</a:t>
            </a:r>
          </a:p>
          <a:p>
            <a:pPr>
              <a:lnSpc>
                <a:spcPts val="4100"/>
              </a:lnSpc>
            </a:pPr>
            <a:r>
              <a:rPr lang="es-ES" altLang="zh-CN" sz="2800" b="1" dirty="0">
                <a:solidFill>
                  <a:srgbClr val="0070C0"/>
                </a:solidFill>
                <a:latin typeface="Times New Roman" panose="02020603050405020304" pitchFamily="18" charset="0"/>
                <a:cs typeface="Times New Roman" panose="02020603050405020304" pitchFamily="18" charset="0"/>
              </a:rPr>
              <a:t>tt=DataFrame(xx=x,yy=y)</a:t>
            </a:r>
          </a:p>
          <a:p>
            <a:pPr>
              <a:lnSpc>
                <a:spcPts val="4100"/>
              </a:lnSpc>
            </a:pPr>
            <a:r>
              <a:rPr lang="es-ES" altLang="zh-CN" sz="2800" b="1" dirty="0">
                <a:solidFill>
                  <a:srgbClr val="0070C0"/>
                </a:solidFill>
                <a:latin typeface="Times New Roman" panose="02020603050405020304" pitchFamily="18" charset="0"/>
                <a:cs typeface="Times New Roman" panose="02020603050405020304" pitchFamily="18" charset="0"/>
              </a:rPr>
              <a:t>#</a:t>
            </a:r>
            <a:r>
              <a:rPr lang="zh-CN" altLang="en-US" sz="2800" b="1" dirty="0">
                <a:solidFill>
                  <a:srgbClr val="0070C0"/>
                </a:solidFill>
                <a:latin typeface="Times New Roman" panose="02020603050405020304" pitchFamily="18" charset="0"/>
                <a:cs typeface="Times New Roman" panose="02020603050405020304" pitchFamily="18" charset="0"/>
              </a:rPr>
              <a:t>或者</a:t>
            </a:r>
            <a:r>
              <a:rPr lang="es-ES" altLang="zh-CN" sz="2800" b="1" dirty="0">
                <a:solidFill>
                  <a:srgbClr val="0070C0"/>
                </a:solidFill>
                <a:latin typeface="Times New Roman" panose="02020603050405020304" pitchFamily="18" charset="0"/>
                <a:cs typeface="Times New Roman" panose="02020603050405020304" pitchFamily="18" charset="0"/>
              </a:rPr>
              <a:t>DataFrame("xx"=&gt;x,"yy"=&gt;y)</a:t>
            </a:r>
            <a:endParaRPr lang="en-US" altLang="zh-CN" sz="2800" b="1" dirty="0">
              <a:solidFill>
                <a:srgbClr val="0070C0"/>
              </a:solidFill>
              <a:latin typeface="Times New Roman" panose="02020603050405020304" pitchFamily="18" charset="0"/>
              <a:cs typeface="Times New Roman" panose="02020603050405020304" pitchFamily="18" charset="0"/>
            </a:endParaRPr>
          </a:p>
        </p:txBody>
      </p:sp>
      <p:sp>
        <p:nvSpPr>
          <p:cNvPr id="19" name="波形 18">
            <a:extLst>
              <a:ext uri="{FF2B5EF4-FFF2-40B4-BE49-F238E27FC236}">
                <a16:creationId xmlns:a16="http://schemas.microsoft.com/office/drawing/2014/main" id="{E3F74B03-34B7-48CF-831C-3FC225560A3E}"/>
              </a:ext>
            </a:extLst>
          </p:cNvPr>
          <p:cNvSpPr/>
          <p:nvPr/>
        </p:nvSpPr>
        <p:spPr>
          <a:xfrm>
            <a:off x="163129" y="1770151"/>
            <a:ext cx="967453"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pitchFamily="34" charset="-122"/>
                <a:ea typeface="微软雅黑" panose="020B0503020204020204" pitchFamily="34" charset="-122"/>
              </a:rPr>
              <a:t>例142-3</a:t>
            </a:r>
            <a:endParaRPr lang="ko-KR" altLang="en-US" sz="2000" b="1" dirty="0">
              <a:solidFill>
                <a:srgbClr val="FFFF00"/>
              </a:solidFill>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C02E65EE-72AC-4B15-B086-E3E70F90C05E}"/>
              </a:ext>
            </a:extLst>
          </p:cNvPr>
          <p:cNvSpPr txBox="1"/>
          <p:nvPr/>
        </p:nvSpPr>
        <p:spPr>
          <a:xfrm>
            <a:off x="1229847" y="1788760"/>
            <a:ext cx="7914153"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r>
              <a:rPr lang="en-US" altLang="zh-CN" sz="2000" dirty="0">
                <a:solidFill>
                  <a:srgbClr val="00B0F0"/>
                </a:solidFill>
              </a:rPr>
              <a:t>x</a:t>
            </a:r>
            <a:r>
              <a:rPr lang="zh-CN" altLang="en-US" sz="2000" dirty="0">
                <a:solidFill>
                  <a:srgbClr val="00B0F0"/>
                </a:solidFill>
              </a:rPr>
              <a:t>为</a:t>
            </a:r>
            <a:r>
              <a:rPr lang="en-US" altLang="zh-CN" sz="2000" dirty="0">
                <a:solidFill>
                  <a:srgbClr val="00B0F0"/>
                </a:solidFill>
              </a:rPr>
              <a:t>1:4</a:t>
            </a:r>
            <a:r>
              <a:rPr lang="zh-CN" altLang="en-US" sz="2000" dirty="0">
                <a:solidFill>
                  <a:srgbClr val="00B0F0"/>
                </a:solidFill>
              </a:rPr>
              <a:t>向量，</a:t>
            </a:r>
            <a:r>
              <a:rPr lang="en-US" altLang="zh-CN" sz="2000" dirty="0">
                <a:solidFill>
                  <a:srgbClr val="00B0F0"/>
                </a:solidFill>
              </a:rPr>
              <a:t>y</a:t>
            </a:r>
            <a:r>
              <a:rPr lang="zh-CN" altLang="en-US" sz="2000" dirty="0">
                <a:solidFill>
                  <a:srgbClr val="00B0F0"/>
                </a:solidFill>
              </a:rPr>
              <a:t>为</a:t>
            </a:r>
            <a:r>
              <a:rPr lang="en-US" altLang="zh-CN" sz="2000" dirty="0">
                <a:solidFill>
                  <a:srgbClr val="00B0F0"/>
                </a:solidFill>
              </a:rPr>
              <a:t>x</a:t>
            </a:r>
            <a:r>
              <a:rPr lang="zh-CN" altLang="en-US" sz="2000" dirty="0">
                <a:solidFill>
                  <a:srgbClr val="00B0F0"/>
                </a:solidFill>
              </a:rPr>
              <a:t>向量的正弦，用两种方式创建</a:t>
            </a:r>
            <a:r>
              <a:rPr lang="en-US" altLang="zh-CN" sz="2000" dirty="0">
                <a:solidFill>
                  <a:srgbClr val="00B0F0"/>
                </a:solidFill>
              </a:rPr>
              <a:t>x</a:t>
            </a:r>
            <a:r>
              <a:rPr lang="zh-CN" altLang="en-US" sz="2000" dirty="0">
                <a:solidFill>
                  <a:srgbClr val="00B0F0"/>
                </a:solidFill>
              </a:rPr>
              <a:t>和</a:t>
            </a:r>
            <a:r>
              <a:rPr lang="en-US" altLang="zh-CN" sz="2000" dirty="0">
                <a:solidFill>
                  <a:srgbClr val="00B0F0"/>
                </a:solidFill>
              </a:rPr>
              <a:t>y</a:t>
            </a:r>
            <a:r>
              <a:rPr lang="zh-CN" altLang="en-US" sz="2000" dirty="0">
                <a:solidFill>
                  <a:srgbClr val="00B0F0"/>
                </a:solidFill>
              </a:rPr>
              <a:t>向量的表格框架</a:t>
            </a:r>
          </a:p>
        </p:txBody>
      </p:sp>
      <p:sp>
        <p:nvSpPr>
          <p:cNvPr id="21" name="标题 1">
            <a:extLst>
              <a:ext uri="{FF2B5EF4-FFF2-40B4-BE49-F238E27FC236}">
                <a16:creationId xmlns:a16="http://schemas.microsoft.com/office/drawing/2014/main" id="{7C41BC70-1CA3-43E2-AD2F-20A20D7EB970}"/>
              </a:ext>
            </a:extLst>
          </p:cNvPr>
          <p:cNvSpPr txBox="1">
            <a:spLocks/>
          </p:cNvSpPr>
          <p:nvPr/>
        </p:nvSpPr>
        <p:spPr bwMode="auto">
          <a:xfrm>
            <a:off x="923998" y="301539"/>
            <a:ext cx="7857821" cy="31118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b="1" kern="0" dirty="0">
                <a:solidFill>
                  <a:srgbClr val="0070C0"/>
                </a:solidFill>
              </a:rPr>
              <a:t>§</a:t>
            </a:r>
            <a:r>
              <a:rPr lang="en-US" altLang="zh-CN" sz="2800" b="1" kern="0" dirty="0">
                <a:solidFill>
                  <a:srgbClr val="0070C0"/>
                </a:solidFill>
              </a:rPr>
              <a:t>1.4.2  </a:t>
            </a:r>
            <a:r>
              <a:rPr lang="zh-CN" altLang="en-US" sz="2800" b="1" dirty="0">
                <a:solidFill>
                  <a:srgbClr val="0070C0"/>
                </a:solidFill>
              </a:rPr>
              <a:t>列表</a:t>
            </a:r>
            <a:r>
              <a:rPr lang="en-US" altLang="zh-CN" sz="2800" b="1" dirty="0">
                <a:solidFill>
                  <a:srgbClr val="0070C0"/>
                </a:solidFill>
              </a:rPr>
              <a:t>table</a:t>
            </a:r>
            <a:r>
              <a:rPr lang="en-US" altLang="zh-CN" sz="2800" b="1" kern="0" dirty="0">
                <a:solidFill>
                  <a:srgbClr val="0070C0"/>
                </a:solidFill>
              </a:rPr>
              <a:t> </a:t>
            </a:r>
            <a:r>
              <a:rPr lang="en-US" altLang="zh-CN" sz="2800" b="1" kern="0" dirty="0">
                <a:solidFill>
                  <a:srgbClr val="FF0000"/>
                </a:solidFill>
              </a:rPr>
              <a:t>——</a:t>
            </a:r>
            <a:r>
              <a:rPr lang="en-US" altLang="zh-CN" sz="2800" b="1" kern="0" dirty="0" err="1">
                <a:solidFill>
                  <a:srgbClr val="FF0000"/>
                </a:solidFill>
              </a:rPr>
              <a:t>DataFrame</a:t>
            </a:r>
            <a:r>
              <a:rPr lang="zh-CN" altLang="en-US" sz="2800" b="1" kern="0" dirty="0">
                <a:solidFill>
                  <a:srgbClr val="FF0000"/>
                </a:solidFill>
              </a:rPr>
              <a:t>构造表格框架</a:t>
            </a:r>
          </a:p>
        </p:txBody>
      </p:sp>
      <p:sp>
        <p:nvSpPr>
          <p:cNvPr id="13" name="文本框 12">
            <a:extLst>
              <a:ext uri="{FF2B5EF4-FFF2-40B4-BE49-F238E27FC236}">
                <a16:creationId xmlns:a16="http://schemas.microsoft.com/office/drawing/2014/main" id="{62451262-A424-49D4-A7B2-BC2485DB9A9B}"/>
              </a:ext>
            </a:extLst>
          </p:cNvPr>
          <p:cNvSpPr txBox="1"/>
          <p:nvPr/>
        </p:nvSpPr>
        <p:spPr>
          <a:xfrm>
            <a:off x="6116614" y="2266462"/>
            <a:ext cx="2618933" cy="2308324"/>
          </a:xfrm>
          <a:prstGeom prst="rect">
            <a:avLst/>
          </a:prstGeom>
          <a:noFill/>
          <a:ln>
            <a:solidFill>
              <a:schemeClr val="bg1">
                <a:lumMod val="50000"/>
              </a:schemeClr>
            </a:solidFill>
          </a:ln>
        </p:spPr>
        <p:txBody>
          <a:bodyPr wrap="square">
            <a:spAutoFit/>
          </a:bodyPr>
          <a:lstStyle/>
          <a:p>
            <a:r>
              <a:rPr lang="en-US" altLang="zh-CN" b="1" dirty="0">
                <a:solidFill>
                  <a:srgbClr val="00B0F0"/>
                </a:solidFill>
              </a:rPr>
              <a:t>4×2 </a:t>
            </a:r>
            <a:r>
              <a:rPr lang="en-US" altLang="zh-CN" b="1" dirty="0" err="1">
                <a:solidFill>
                  <a:srgbClr val="00B0F0"/>
                </a:solidFill>
              </a:rPr>
              <a:t>DataFrame</a:t>
            </a:r>
            <a:endParaRPr lang="en-US" altLang="zh-CN" b="1" dirty="0">
              <a:solidFill>
                <a:srgbClr val="00B0F0"/>
              </a:solidFill>
            </a:endParaRPr>
          </a:p>
          <a:p>
            <a:r>
              <a:rPr lang="en-US" altLang="zh-CN" b="1" dirty="0">
                <a:solidFill>
                  <a:srgbClr val="00B0F0"/>
                </a:solidFill>
              </a:rPr>
              <a:t> Row │ xx     </a:t>
            </a:r>
            <a:r>
              <a:rPr lang="en-US" altLang="zh-CN" b="1" dirty="0" err="1">
                <a:solidFill>
                  <a:srgbClr val="00B0F0"/>
                </a:solidFill>
              </a:rPr>
              <a:t>yy</a:t>
            </a:r>
            <a:r>
              <a:rPr lang="en-US" altLang="zh-CN" b="1" dirty="0">
                <a:solidFill>
                  <a:srgbClr val="00B0F0"/>
                </a:solidFill>
              </a:rPr>
              <a:t>        </a:t>
            </a:r>
          </a:p>
          <a:p>
            <a:r>
              <a:rPr lang="en-US" altLang="zh-CN" b="1" dirty="0">
                <a:solidFill>
                  <a:srgbClr val="00B0F0"/>
                </a:solidFill>
              </a:rPr>
              <a:t>     │ Int64  Float64   </a:t>
            </a:r>
          </a:p>
          <a:p>
            <a:r>
              <a:rPr lang="en-US" altLang="zh-CN" b="1" dirty="0">
                <a:solidFill>
                  <a:srgbClr val="00B0F0"/>
                </a:solidFill>
              </a:rPr>
              <a:t>─────┼─────────</a:t>
            </a:r>
          </a:p>
          <a:p>
            <a:r>
              <a:rPr lang="en-US" altLang="zh-CN" b="1" dirty="0">
                <a:solidFill>
                  <a:srgbClr val="00B0F0"/>
                </a:solidFill>
              </a:rPr>
              <a:t>   1 │     1  -0.756802</a:t>
            </a:r>
          </a:p>
          <a:p>
            <a:r>
              <a:rPr lang="en-US" altLang="zh-CN" b="1" dirty="0">
                <a:solidFill>
                  <a:srgbClr val="00B0F0"/>
                </a:solidFill>
              </a:rPr>
              <a:t>   2 │     2  -0.756802</a:t>
            </a:r>
          </a:p>
          <a:p>
            <a:r>
              <a:rPr lang="en-US" altLang="zh-CN" b="1" dirty="0">
                <a:solidFill>
                  <a:srgbClr val="00B0F0"/>
                </a:solidFill>
              </a:rPr>
              <a:t>   3 │     3  -0.756802</a:t>
            </a:r>
          </a:p>
          <a:p>
            <a:r>
              <a:rPr lang="en-US" altLang="zh-CN" b="1" dirty="0">
                <a:solidFill>
                  <a:srgbClr val="00B0F0"/>
                </a:solidFill>
              </a:rPr>
              <a:t>   4 │     4  -0.756802</a:t>
            </a:r>
            <a:endParaRPr lang="zh-CN" altLang="en-US" b="1" dirty="0">
              <a:solidFill>
                <a:srgbClr val="00B0F0"/>
              </a:solidFill>
            </a:endParaRPr>
          </a:p>
        </p:txBody>
      </p:sp>
    </p:spTree>
    <p:extLst>
      <p:ext uri="{BB962C8B-B14F-4D97-AF65-F5344CB8AC3E}">
        <p14:creationId xmlns:p14="http://schemas.microsoft.com/office/powerpoint/2010/main" val="223424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P spid="14" grpId="0" animBg="1"/>
      <p:bldP spid="19"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B8367BC-CE5C-4D46-979A-2A99DD1FC99A}"/>
              </a:ext>
            </a:extLst>
          </p:cNvPr>
          <p:cNvSpPr txBox="1"/>
          <p:nvPr/>
        </p:nvSpPr>
        <p:spPr>
          <a:xfrm>
            <a:off x="431539" y="1128404"/>
            <a:ext cx="8424936"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r>
              <a:rPr lang="zh-CN" altLang="en-US" sz="2000" b="0" dirty="0"/>
              <a:t>将矩阵作为第一个参数，第二个参数用 </a:t>
            </a:r>
            <a:r>
              <a:rPr lang="en-US" altLang="zh-CN" sz="2000" b="0" dirty="0"/>
              <a:t>:auto </a:t>
            </a:r>
            <a:r>
              <a:rPr lang="zh-CN" altLang="en-US" sz="2000" b="0" dirty="0"/>
              <a:t>自动创建表格</a:t>
            </a:r>
          </a:p>
        </p:txBody>
      </p:sp>
      <p:sp>
        <p:nvSpPr>
          <p:cNvPr id="7" name="文本框 6">
            <a:extLst>
              <a:ext uri="{FF2B5EF4-FFF2-40B4-BE49-F238E27FC236}">
                <a16:creationId xmlns:a16="http://schemas.microsoft.com/office/drawing/2014/main" id="{D25F6DC8-E228-4D30-A169-F3DD9CE5BEF4}"/>
              </a:ext>
            </a:extLst>
          </p:cNvPr>
          <p:cNvSpPr txBox="1"/>
          <p:nvPr/>
        </p:nvSpPr>
        <p:spPr>
          <a:xfrm>
            <a:off x="72008" y="712844"/>
            <a:ext cx="4572000"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pPr marL="457200" indent="-457200">
              <a:buFont typeface="+mj-ea"/>
              <a:buAutoNum type="circleNumDbPlain" startAt="3"/>
            </a:pPr>
            <a:r>
              <a:rPr lang="zh-CN" altLang="en-US" sz="2000" dirty="0">
                <a:solidFill>
                  <a:srgbClr val="00B0F0"/>
                </a:solidFill>
              </a:rPr>
              <a:t>构造矩阵数据的表格框架</a:t>
            </a:r>
            <a:r>
              <a:rPr lang="en-US" altLang="zh-CN" sz="2000" dirty="0" err="1">
                <a:solidFill>
                  <a:srgbClr val="00B0F0"/>
                </a:solidFill>
              </a:rPr>
              <a:t>tt</a:t>
            </a:r>
            <a:endParaRPr lang="zh-CN" altLang="en-US" sz="2000" dirty="0">
              <a:solidFill>
                <a:srgbClr val="00B0F0"/>
              </a:solidFill>
            </a:endParaRPr>
          </a:p>
        </p:txBody>
      </p:sp>
      <p:sp>
        <p:nvSpPr>
          <p:cNvPr id="8" name="Rectangle 1">
            <a:extLst>
              <a:ext uri="{FF2B5EF4-FFF2-40B4-BE49-F238E27FC236}">
                <a16:creationId xmlns:a16="http://schemas.microsoft.com/office/drawing/2014/main" id="{45E3DC22-D58A-4E63-B1A2-B9BC52664ACD}"/>
              </a:ext>
            </a:extLst>
          </p:cNvPr>
          <p:cNvSpPr>
            <a:spLocks noChangeArrowheads="1"/>
          </p:cNvSpPr>
          <p:nvPr/>
        </p:nvSpPr>
        <p:spPr bwMode="auto">
          <a:xfrm>
            <a:off x="3795077" y="703201"/>
            <a:ext cx="4032448"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en-US" altLang="zh-CN" sz="1600" b="1" dirty="0" err="1">
                <a:solidFill>
                  <a:schemeClr val="bg1">
                    <a:lumMod val="95000"/>
                  </a:schemeClr>
                </a:solidFill>
                <a:latin typeface="Arial Unicode MS"/>
                <a:ea typeface="source-code-pro"/>
              </a:rPr>
              <a:t>tt</a:t>
            </a:r>
            <a:r>
              <a:rPr lang="en-US" altLang="zh-CN" sz="1600" b="1" dirty="0">
                <a:solidFill>
                  <a:schemeClr val="bg1">
                    <a:lumMod val="95000"/>
                  </a:schemeClr>
                </a:solidFill>
                <a:latin typeface="Arial Unicode MS"/>
                <a:ea typeface="source-code-pro"/>
              </a:rPr>
              <a:t>=</a:t>
            </a:r>
            <a:r>
              <a:rPr lang="zh-CN" altLang="zh-CN" sz="1600" b="1" dirty="0">
                <a:solidFill>
                  <a:schemeClr val="bg1">
                    <a:lumMod val="95000"/>
                  </a:schemeClr>
                </a:solidFill>
                <a:latin typeface="Arial Unicode MS"/>
                <a:ea typeface="source-code-pro"/>
              </a:rPr>
              <a:t>DataFrame(</a:t>
            </a:r>
            <a:r>
              <a:rPr lang="en-US" altLang="zh-CN" sz="1600" b="1" dirty="0" err="1">
                <a:solidFill>
                  <a:schemeClr val="bg1">
                    <a:lumMod val="95000"/>
                  </a:schemeClr>
                </a:solidFill>
                <a:latin typeface="Arial Unicode MS"/>
                <a:ea typeface="source-code-pro"/>
              </a:rPr>
              <a:t>matrix,:auto</a:t>
            </a:r>
            <a:r>
              <a:rPr lang="zh-CN" altLang="zh-CN" sz="1600" b="1" dirty="0">
                <a:solidFill>
                  <a:schemeClr val="bg1">
                    <a:lumMod val="95000"/>
                  </a:schemeClr>
                </a:solidFill>
                <a:latin typeface="Arial Unicode MS"/>
                <a:ea typeface="source-code-pro"/>
              </a:rPr>
              <a:t>) </a:t>
            </a:r>
          </a:p>
        </p:txBody>
      </p:sp>
      <p:sp>
        <p:nvSpPr>
          <p:cNvPr id="10" name="文本框 9">
            <a:extLst>
              <a:ext uri="{FF2B5EF4-FFF2-40B4-BE49-F238E27FC236}">
                <a16:creationId xmlns:a16="http://schemas.microsoft.com/office/drawing/2014/main" id="{7EF7F352-2325-4107-B0B4-2E0070DD01B4}"/>
              </a:ext>
            </a:extLst>
          </p:cNvPr>
          <p:cNvSpPr txBox="1"/>
          <p:nvPr/>
        </p:nvSpPr>
        <p:spPr>
          <a:xfrm>
            <a:off x="6300191" y="2474530"/>
            <a:ext cx="2556284" cy="1938992"/>
          </a:xfrm>
          <a:prstGeom prst="rect">
            <a:avLst/>
          </a:prstGeom>
          <a:noFill/>
          <a:ln>
            <a:solidFill>
              <a:schemeClr val="bg1">
                <a:lumMod val="50000"/>
              </a:schemeClr>
            </a:solidFill>
          </a:ln>
        </p:spPr>
        <p:txBody>
          <a:bodyPr wrap="square">
            <a:spAutoFit/>
          </a:bodyPr>
          <a:lstStyle/>
          <a:p>
            <a:r>
              <a:rPr lang="zh-CN" altLang="en-US" sz="2000" dirty="0">
                <a:solidFill>
                  <a:srgbClr val="00B0F0"/>
                </a:solidFill>
              </a:rPr>
              <a:t>2×2 DataFrame</a:t>
            </a:r>
          </a:p>
          <a:p>
            <a:r>
              <a:rPr lang="zh-CN" altLang="en-US" sz="2000" dirty="0">
                <a:solidFill>
                  <a:srgbClr val="00B0F0"/>
                </a:solidFill>
              </a:rPr>
              <a:t> Row │ x1     x2    </a:t>
            </a:r>
          </a:p>
          <a:p>
            <a:r>
              <a:rPr lang="zh-CN" altLang="en-US" sz="2000" dirty="0">
                <a:solidFill>
                  <a:srgbClr val="00B0F0"/>
                </a:solidFill>
              </a:rPr>
              <a:t>     │ Int64  Int64 </a:t>
            </a:r>
          </a:p>
          <a:p>
            <a:r>
              <a:rPr lang="zh-CN" altLang="en-US" sz="2000" dirty="0">
                <a:solidFill>
                  <a:srgbClr val="00B0F0"/>
                </a:solidFill>
              </a:rPr>
              <a:t>─────┼───────</a:t>
            </a:r>
          </a:p>
          <a:p>
            <a:r>
              <a:rPr lang="zh-CN" altLang="en-US" sz="2000" dirty="0">
                <a:solidFill>
                  <a:srgbClr val="00B0F0"/>
                </a:solidFill>
              </a:rPr>
              <a:t>   1 │     1      3</a:t>
            </a:r>
          </a:p>
          <a:p>
            <a:r>
              <a:rPr lang="zh-CN" altLang="en-US" sz="2000" dirty="0">
                <a:solidFill>
                  <a:srgbClr val="00B0F0"/>
                </a:solidFill>
              </a:rPr>
              <a:t>   2 │     4      2</a:t>
            </a:r>
          </a:p>
        </p:txBody>
      </p:sp>
      <p:sp>
        <p:nvSpPr>
          <p:cNvPr id="12" name="文本框 11">
            <a:extLst>
              <a:ext uri="{FF2B5EF4-FFF2-40B4-BE49-F238E27FC236}">
                <a16:creationId xmlns:a16="http://schemas.microsoft.com/office/drawing/2014/main" id="{E1969A40-4877-4C51-A874-89786C2E7B22}"/>
              </a:ext>
            </a:extLst>
          </p:cNvPr>
          <p:cNvSpPr txBox="1"/>
          <p:nvPr/>
        </p:nvSpPr>
        <p:spPr>
          <a:xfrm>
            <a:off x="174696" y="2383596"/>
            <a:ext cx="6845576" cy="2708434"/>
          </a:xfrm>
          <a:prstGeom prst="rect">
            <a:avLst/>
          </a:prstGeom>
          <a:noFill/>
        </p:spPr>
        <p:txBody>
          <a:bodyPr wrap="square">
            <a:spAutoFit/>
          </a:bodyPr>
          <a:lstStyle/>
          <a:p>
            <a:pPr eaLnBrk="0" hangingPunct="0"/>
            <a:r>
              <a:rPr kumimoji="0" lang="zh-CN" altLang="zh-CN" sz="2000" b="1" i="0" u="none" strike="noStrike" cap="none" normalizeH="0" baseline="0" dirty="0">
                <a:ln>
                  <a:noFill/>
                </a:ln>
                <a:solidFill>
                  <a:srgbClr val="FF0000"/>
                </a:solidFill>
                <a:effectLst/>
                <a:latin typeface="Arial Unicode MS"/>
                <a:ea typeface="source-code-pro"/>
              </a:rPr>
              <a:t>using CSV</a:t>
            </a:r>
            <a:r>
              <a:rPr lang="en-US" altLang="zh-CN" sz="2000" b="1" dirty="0">
                <a:solidFill>
                  <a:srgbClr val="FF0000"/>
                </a:solidFill>
                <a:latin typeface="Times New Roman" panose="02020603050405020304" pitchFamily="18" charset="0"/>
                <a:cs typeface="Times New Roman" panose="02020603050405020304" pitchFamily="18" charset="0"/>
              </a:rPr>
              <a:t> </a:t>
            </a:r>
            <a:endParaRPr kumimoji="0" lang="zh-CN" altLang="zh-CN" sz="2000" b="1" i="0" u="none" strike="noStrike" cap="none" normalizeH="0" baseline="0" dirty="0">
              <a:ln>
                <a:noFill/>
              </a:ln>
              <a:solidFill>
                <a:srgbClr val="FF0000"/>
              </a:solidFill>
              <a:effectLst/>
            </a:endParaRPr>
          </a:p>
          <a:p>
            <a:r>
              <a:rPr lang="zh-CN" altLang="en-US" sz="2000" b="1" dirty="0">
                <a:solidFill>
                  <a:srgbClr val="0070C0"/>
                </a:solidFill>
              </a:rPr>
              <a:t>m=magic(2)</a:t>
            </a:r>
          </a:p>
          <a:p>
            <a:r>
              <a:rPr lang="en-US" altLang="zh-CN" sz="2000" b="1" dirty="0">
                <a:solidFill>
                  <a:srgbClr val="00B0F0"/>
                </a:solidFill>
              </a:rPr>
              <a:t>#</a:t>
            </a:r>
            <a:r>
              <a:rPr lang="zh-CN" altLang="en-US" sz="2000" b="1" dirty="0">
                <a:solidFill>
                  <a:srgbClr val="00B0F0"/>
                </a:solidFill>
              </a:rPr>
              <a:t>结果2×2 Matrix{Int64}:</a:t>
            </a:r>
          </a:p>
          <a:p>
            <a:r>
              <a:rPr lang="zh-CN" altLang="en-US" sz="2000" b="1" dirty="0">
                <a:solidFill>
                  <a:srgbClr val="00B0F0"/>
                </a:solidFill>
              </a:rPr>
              <a:t> 1  3</a:t>
            </a:r>
          </a:p>
          <a:p>
            <a:r>
              <a:rPr lang="zh-CN" altLang="en-US" sz="2000" b="1" dirty="0">
                <a:solidFill>
                  <a:srgbClr val="00B0F0"/>
                </a:solidFill>
              </a:rPr>
              <a:t> 4  2</a:t>
            </a:r>
            <a:endParaRPr lang="en-US" altLang="zh-CN" sz="2000" b="1" dirty="0">
              <a:solidFill>
                <a:srgbClr val="00B0F0"/>
              </a:solidFill>
            </a:endParaRPr>
          </a:p>
          <a:p>
            <a:r>
              <a:rPr lang="en-US" altLang="zh-CN" sz="2000" b="1" dirty="0">
                <a:solidFill>
                  <a:srgbClr val="0070C0"/>
                </a:solidFill>
              </a:rPr>
              <a:t>md=</a:t>
            </a:r>
            <a:r>
              <a:rPr lang="zh-CN" altLang="en-US" sz="2000" b="1" dirty="0">
                <a:solidFill>
                  <a:srgbClr val="0070C0"/>
                </a:solidFill>
              </a:rPr>
              <a:t>DataFrame(m,:auto)</a:t>
            </a:r>
            <a:endParaRPr lang="en-US" altLang="zh-CN" sz="2000" b="1" dirty="0">
              <a:solidFill>
                <a:srgbClr val="0070C0"/>
              </a:solidFill>
            </a:endParaRPr>
          </a:p>
          <a:p>
            <a:pPr marL="0" marR="0" lvl="0" indent="0" defTabSz="914400" eaLnBrk="0" latinLnBrk="0" hangingPunct="0">
              <a:lnSpc>
                <a:spcPct val="100000"/>
              </a:lnSpc>
              <a:buClrTx/>
              <a:buSzTx/>
              <a:buFontTx/>
              <a:buNone/>
              <a:tabLst/>
            </a:pPr>
            <a:r>
              <a:rPr lang="en-US" altLang="zh-CN" sz="2000" b="1" dirty="0" err="1">
                <a:solidFill>
                  <a:srgbClr val="0070C0"/>
                </a:solidFill>
              </a:rPr>
              <a:t>CSV.write</a:t>
            </a:r>
            <a:r>
              <a:rPr lang="en-US" altLang="zh-CN" sz="2000" b="1" dirty="0">
                <a:solidFill>
                  <a:srgbClr val="0070C0"/>
                </a:solidFill>
              </a:rPr>
              <a:t>(“</a:t>
            </a:r>
            <a:r>
              <a:rPr lang="en-US" altLang="zh-CN" sz="2000" b="1" dirty="0" err="1">
                <a:solidFill>
                  <a:srgbClr val="0070C0"/>
                </a:solidFill>
              </a:rPr>
              <a:t>mm.csv”,md</a:t>
            </a:r>
            <a:r>
              <a:rPr lang="en-US" altLang="zh-CN" sz="2000" b="1" dirty="0">
                <a:solidFill>
                  <a:srgbClr val="0070C0"/>
                </a:solidFill>
              </a:rPr>
              <a:t>) #</a:t>
            </a:r>
            <a:r>
              <a:rPr lang="zh-CN" altLang="en-US" sz="2000" b="1" dirty="0">
                <a:solidFill>
                  <a:srgbClr val="0070C0"/>
                </a:solidFill>
              </a:rPr>
              <a:t>保存表格为</a:t>
            </a:r>
            <a:r>
              <a:rPr lang="en-US" altLang="zh-CN" sz="2000" b="1" dirty="0">
                <a:solidFill>
                  <a:srgbClr val="0070C0"/>
                </a:solidFill>
              </a:rPr>
              <a:t>mm.csv</a:t>
            </a:r>
            <a:endParaRPr lang="zh-CN" altLang="zh-CN" sz="2000" b="1" dirty="0">
              <a:solidFill>
                <a:srgbClr val="0070C0"/>
              </a:solidFill>
            </a:endParaRPr>
          </a:p>
          <a:p>
            <a:endParaRPr lang="zh-CN" altLang="en-US" sz="3000" b="1" dirty="0">
              <a:solidFill>
                <a:srgbClr val="0070C0"/>
              </a:solidFill>
            </a:endParaRPr>
          </a:p>
        </p:txBody>
      </p:sp>
      <p:sp>
        <p:nvSpPr>
          <p:cNvPr id="13" name="波形 12">
            <a:extLst>
              <a:ext uri="{FF2B5EF4-FFF2-40B4-BE49-F238E27FC236}">
                <a16:creationId xmlns:a16="http://schemas.microsoft.com/office/drawing/2014/main" id="{D7037E2C-996A-477E-B954-F2F38C9CFF32}"/>
              </a:ext>
            </a:extLst>
          </p:cNvPr>
          <p:cNvSpPr/>
          <p:nvPr/>
        </p:nvSpPr>
        <p:spPr>
          <a:xfrm>
            <a:off x="268059" y="2078460"/>
            <a:ext cx="967453"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例142-4</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0DB7BE07-7153-4888-A552-21254DEA99FE}"/>
              </a:ext>
            </a:extLst>
          </p:cNvPr>
          <p:cNvSpPr txBox="1"/>
          <p:nvPr/>
        </p:nvSpPr>
        <p:spPr>
          <a:xfrm>
            <a:off x="1373317" y="2078460"/>
            <a:ext cx="4027769" cy="369332"/>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r>
              <a:rPr lang="zh-CN" altLang="en-US" sz="1800" dirty="0">
                <a:solidFill>
                  <a:srgbClr val="00B0F0"/>
                </a:solidFill>
              </a:rPr>
              <a:t>建魔方矩阵的表格框架并导出数据</a:t>
            </a:r>
          </a:p>
        </p:txBody>
      </p:sp>
      <p:sp>
        <p:nvSpPr>
          <p:cNvPr id="15" name="标题 1">
            <a:extLst>
              <a:ext uri="{FF2B5EF4-FFF2-40B4-BE49-F238E27FC236}">
                <a16:creationId xmlns:a16="http://schemas.microsoft.com/office/drawing/2014/main" id="{6D088F5C-347D-4256-B1B6-7FAB2534BBE2}"/>
              </a:ext>
            </a:extLst>
          </p:cNvPr>
          <p:cNvSpPr txBox="1">
            <a:spLocks/>
          </p:cNvSpPr>
          <p:nvPr/>
        </p:nvSpPr>
        <p:spPr bwMode="auto">
          <a:xfrm>
            <a:off x="1373317" y="321159"/>
            <a:ext cx="7857821" cy="31118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1" kern="0" dirty="0">
                <a:solidFill>
                  <a:srgbClr val="0070C0"/>
                </a:solidFill>
              </a:rPr>
              <a:t>§1.4.2  </a:t>
            </a:r>
            <a:r>
              <a:rPr lang="zh-CN" altLang="en-US" sz="2800" b="1" dirty="0">
                <a:solidFill>
                  <a:srgbClr val="0070C0"/>
                </a:solidFill>
              </a:rPr>
              <a:t>列表</a:t>
            </a:r>
            <a:r>
              <a:rPr lang="en-US" altLang="zh-CN" sz="2800" b="1" dirty="0">
                <a:solidFill>
                  <a:srgbClr val="0070C0"/>
                </a:solidFill>
              </a:rPr>
              <a:t>table</a:t>
            </a:r>
            <a:r>
              <a:rPr lang="en-US" altLang="zh-CN" sz="2800" b="1" kern="0" dirty="0">
                <a:solidFill>
                  <a:srgbClr val="0070C0"/>
                </a:solidFill>
              </a:rPr>
              <a:t> </a:t>
            </a:r>
            <a:r>
              <a:rPr lang="en-US" altLang="zh-CN" sz="2800" b="1" kern="0" dirty="0">
                <a:solidFill>
                  <a:srgbClr val="FF0000"/>
                </a:solidFill>
              </a:rPr>
              <a:t>——</a:t>
            </a:r>
            <a:r>
              <a:rPr lang="zh-CN" altLang="en-US" sz="2800" b="1" kern="0" dirty="0">
                <a:solidFill>
                  <a:srgbClr val="FF0000"/>
                </a:solidFill>
              </a:rPr>
              <a:t>表格框架和导出</a:t>
            </a:r>
          </a:p>
        </p:txBody>
      </p:sp>
      <p:sp>
        <p:nvSpPr>
          <p:cNvPr id="11" name="文本框 10">
            <a:extLst>
              <a:ext uri="{FF2B5EF4-FFF2-40B4-BE49-F238E27FC236}">
                <a16:creationId xmlns:a16="http://schemas.microsoft.com/office/drawing/2014/main" id="{FFD36F1C-4B3F-4741-B2C1-EFA3BE6190EB}"/>
              </a:ext>
            </a:extLst>
          </p:cNvPr>
          <p:cNvSpPr txBox="1"/>
          <p:nvPr/>
        </p:nvSpPr>
        <p:spPr>
          <a:xfrm>
            <a:off x="93779" y="1581361"/>
            <a:ext cx="4572000" cy="400110"/>
          </a:xfrm>
          <a:prstGeom prst="rect">
            <a:avLst/>
          </a:prstGeom>
          <a:solidFill>
            <a:schemeClr val="bg1"/>
          </a:solidFill>
        </p:spPr>
        <p:txBody>
          <a:bodyPr wrap="square">
            <a:spAutoFit/>
          </a:bodyPr>
          <a:lstStyle>
            <a:defPPr>
              <a:defRPr lang="zh-CN"/>
            </a:defPPr>
            <a:lvl1pPr marL="457200" indent="-457200">
              <a:buFont typeface="+mj-ea"/>
              <a:buAutoNum type="circleNumDbPlain" startAt="3"/>
              <a:defRPr sz="2400" b="1" i="0">
                <a:solidFill>
                  <a:srgbClr val="0070C0"/>
                </a:solidFill>
                <a:effectLst/>
                <a:latin typeface="Microsoft YaHei" panose="020B0503020204020204" pitchFamily="34" charset="-122"/>
                <a:ea typeface="Microsoft YaHei" panose="020B0503020204020204" pitchFamily="34" charset="-122"/>
              </a:defRPr>
            </a:lvl1pPr>
          </a:lstStyle>
          <a:p>
            <a:pPr>
              <a:buFont typeface="+mj-ea"/>
              <a:buAutoNum type="circleNumDbPlain" startAt="4"/>
            </a:pPr>
            <a:r>
              <a:rPr lang="en-US" altLang="zh-CN" sz="2000" dirty="0" err="1">
                <a:solidFill>
                  <a:srgbClr val="00B0F0"/>
                </a:solidFill>
              </a:rPr>
              <a:t>CSV.write</a:t>
            </a:r>
            <a:r>
              <a:rPr lang="zh-CN" altLang="en-US" sz="2000" dirty="0">
                <a:solidFill>
                  <a:srgbClr val="00B0F0"/>
                </a:solidFill>
              </a:rPr>
              <a:t>输出</a:t>
            </a:r>
            <a:r>
              <a:rPr lang="en-US" altLang="zh-CN" sz="2000" dirty="0">
                <a:solidFill>
                  <a:srgbClr val="00B0F0"/>
                </a:solidFill>
              </a:rPr>
              <a:t>CSV</a:t>
            </a:r>
            <a:r>
              <a:rPr lang="zh-CN" altLang="en-US" sz="2000" dirty="0">
                <a:solidFill>
                  <a:srgbClr val="00B0F0"/>
                </a:solidFill>
              </a:rPr>
              <a:t>文件</a:t>
            </a:r>
          </a:p>
        </p:txBody>
      </p:sp>
      <p:sp>
        <p:nvSpPr>
          <p:cNvPr id="16" name="文本框 15">
            <a:extLst>
              <a:ext uri="{FF2B5EF4-FFF2-40B4-BE49-F238E27FC236}">
                <a16:creationId xmlns:a16="http://schemas.microsoft.com/office/drawing/2014/main" id="{F435D80C-022E-4A6F-8B12-43A2B866F7D9}"/>
              </a:ext>
            </a:extLst>
          </p:cNvPr>
          <p:cNvSpPr txBox="1"/>
          <p:nvPr/>
        </p:nvSpPr>
        <p:spPr>
          <a:xfrm>
            <a:off x="3513652" y="1574201"/>
            <a:ext cx="4638843"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algn="dist" eaLnBrk="0" hangingPunct="0">
              <a:defRPr sz="2200" b="1">
                <a:solidFill>
                  <a:schemeClr val="bg1">
                    <a:lumMod val="95000"/>
                  </a:schemeClr>
                </a:solidFill>
                <a:latin typeface="Arial Unicode MS"/>
                <a:ea typeface="source-code-pro"/>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zh-CN" altLang="en-US" sz="1600" dirty="0"/>
              <a:t> CSV.write</a:t>
            </a:r>
            <a:r>
              <a:rPr lang="en-US" altLang="zh-CN" sz="1600" dirty="0"/>
              <a:t> (“file.csv”,</a:t>
            </a:r>
            <a:r>
              <a:rPr lang="zh-CN" altLang="en-US" sz="1600" dirty="0"/>
              <a:t> 框架变量名)</a:t>
            </a:r>
          </a:p>
        </p:txBody>
      </p:sp>
    </p:spTree>
    <p:extLst>
      <p:ext uri="{BB962C8B-B14F-4D97-AF65-F5344CB8AC3E}">
        <p14:creationId xmlns:p14="http://schemas.microsoft.com/office/powerpoint/2010/main" val="302722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3" grpId="0" animBg="1"/>
      <p:bldP spid="14" grpId="0" animBg="1"/>
      <p:bldP spid="11"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857FB8A-FBCA-4B8E-8121-2041637A1A21}"/>
              </a:ext>
            </a:extLst>
          </p:cNvPr>
          <p:cNvSpPr>
            <a:spLocks noGrp="1"/>
          </p:cNvSpPr>
          <p:nvPr>
            <p:ph idx="1"/>
          </p:nvPr>
        </p:nvSpPr>
        <p:spPr>
          <a:xfrm>
            <a:off x="3957891" y="1995686"/>
            <a:ext cx="3868815" cy="375809"/>
          </a:xfrm>
        </p:spPr>
        <p:txBody>
          <a:bodyPr/>
          <a:lstStyle/>
          <a:p>
            <a:pPr marL="457200" indent="-457200">
              <a:buFont typeface="+mj-ea"/>
              <a:buAutoNum type="circleNumDbPlain" startAt="2"/>
            </a:pPr>
            <a:r>
              <a:rPr lang="zh-CN" altLang="en-US" sz="1800" b="1" i="0" dirty="0">
                <a:solidFill>
                  <a:srgbClr val="00B0F0"/>
                </a:solidFill>
                <a:effectLst/>
                <a:latin typeface="微软雅黑" panose="020B0503020204020204" pitchFamily="34" charset="-122"/>
                <a:ea typeface="微软雅黑" panose="020B0503020204020204" pitchFamily="34" charset="-122"/>
              </a:rPr>
              <a:t>结构体数组</a:t>
            </a:r>
            <a:r>
              <a:rPr lang="zh-CN" altLang="en-US" sz="1800" b="1" dirty="0">
                <a:solidFill>
                  <a:srgbClr val="00B0F0"/>
                </a:solidFill>
                <a:latin typeface="微软雅黑" panose="020B0503020204020204" pitchFamily="34" charset="-122"/>
                <a:ea typeface="微软雅黑" panose="020B0503020204020204" pitchFamily="34" charset="-122"/>
              </a:rPr>
              <a:t>创建步骤：</a:t>
            </a:r>
          </a:p>
        </p:txBody>
      </p:sp>
      <p:sp>
        <p:nvSpPr>
          <p:cNvPr id="5" name="内容占位符 2">
            <a:extLst>
              <a:ext uri="{FF2B5EF4-FFF2-40B4-BE49-F238E27FC236}">
                <a16:creationId xmlns:a16="http://schemas.microsoft.com/office/drawing/2014/main" id="{6736E405-F51F-4DEF-B14D-4F1BFCD33E93}"/>
              </a:ext>
            </a:extLst>
          </p:cNvPr>
          <p:cNvSpPr txBox="1">
            <a:spLocks/>
          </p:cNvSpPr>
          <p:nvPr/>
        </p:nvSpPr>
        <p:spPr bwMode="auto">
          <a:xfrm>
            <a:off x="133832" y="717147"/>
            <a:ext cx="8920396" cy="40729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gn="dist">
              <a:buNone/>
            </a:pPr>
            <a:r>
              <a:rPr lang="zh-CN" altLang="en-US" sz="2000" b="1" i="0" dirty="0">
                <a:solidFill>
                  <a:srgbClr val="0070C0"/>
                </a:solidFill>
                <a:effectLst/>
                <a:latin typeface="微软雅黑" panose="020B0503020204020204" pitchFamily="34" charset="-122"/>
                <a:ea typeface="微软雅黑" panose="020B0503020204020204" pitchFamily="34" charset="-122"/>
              </a:rPr>
              <a:t>结构体是使用字段的数据容器，</a:t>
            </a:r>
            <a:r>
              <a:rPr lang="zh-CN" altLang="en-US" sz="2000" b="1" dirty="0">
                <a:solidFill>
                  <a:srgbClr val="0070C0"/>
                </a:solidFill>
                <a:latin typeface="微软雅黑" panose="020B0503020204020204" pitchFamily="34" charset="-122"/>
                <a:ea typeface="微软雅黑" panose="020B0503020204020204" pitchFamily="34" charset="-122"/>
              </a:rPr>
              <a:t>每个字段都可包含任意类型或任意大小的数据</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E141363D-BB74-4685-9E3F-7CE6ACFB1F7F}"/>
              </a:ext>
            </a:extLst>
          </p:cNvPr>
          <p:cNvSpPr/>
          <p:nvPr/>
        </p:nvSpPr>
        <p:spPr>
          <a:xfrm>
            <a:off x="818324" y="2843640"/>
            <a:ext cx="1248411"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number</a:t>
            </a:r>
            <a:endParaRPr lang="zh-CN" altLang="en-US" dirty="0">
              <a:solidFill>
                <a:srgbClr val="002060"/>
              </a:solidFill>
              <a:latin typeface="Arial Black" panose="020B0A04020102020204" pitchFamily="34" charset="0"/>
              <a:ea typeface="+mj-ea"/>
            </a:endParaRPr>
          </a:p>
        </p:txBody>
      </p:sp>
      <p:sp>
        <p:nvSpPr>
          <p:cNvPr id="9" name="矩形 8">
            <a:extLst>
              <a:ext uri="{FF2B5EF4-FFF2-40B4-BE49-F238E27FC236}">
                <a16:creationId xmlns:a16="http://schemas.microsoft.com/office/drawing/2014/main" id="{9EB6C35D-938A-4FF4-A05C-2B1B1A18822C}"/>
              </a:ext>
            </a:extLst>
          </p:cNvPr>
          <p:cNvSpPr/>
          <p:nvPr/>
        </p:nvSpPr>
        <p:spPr>
          <a:xfrm>
            <a:off x="836842" y="3270629"/>
            <a:ext cx="1295003"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name</a:t>
            </a:r>
            <a:endParaRPr lang="zh-CN" altLang="en-US" dirty="0">
              <a:solidFill>
                <a:srgbClr val="002060"/>
              </a:solidFill>
              <a:latin typeface="Arial Black" panose="020B0A04020102020204" pitchFamily="34" charset="0"/>
              <a:ea typeface="+mj-ea"/>
            </a:endParaRPr>
          </a:p>
        </p:txBody>
      </p:sp>
      <p:sp>
        <p:nvSpPr>
          <p:cNvPr id="10" name="矩形 9">
            <a:extLst>
              <a:ext uri="{FF2B5EF4-FFF2-40B4-BE49-F238E27FC236}">
                <a16:creationId xmlns:a16="http://schemas.microsoft.com/office/drawing/2014/main" id="{CE83E671-0973-4C6F-AF61-78EF462D64DF}"/>
              </a:ext>
            </a:extLst>
          </p:cNvPr>
          <p:cNvSpPr/>
          <p:nvPr/>
        </p:nvSpPr>
        <p:spPr>
          <a:xfrm>
            <a:off x="783200" y="3801983"/>
            <a:ext cx="1283536"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subject</a:t>
            </a:r>
            <a:endParaRPr lang="zh-CN" altLang="en-US" dirty="0">
              <a:solidFill>
                <a:srgbClr val="002060"/>
              </a:solidFill>
              <a:latin typeface="Arial Black" panose="020B0A04020102020204" pitchFamily="34" charset="0"/>
              <a:ea typeface="+mj-ea"/>
            </a:endParaRPr>
          </a:p>
        </p:txBody>
      </p:sp>
      <p:sp>
        <p:nvSpPr>
          <p:cNvPr id="11" name="矩形 10">
            <a:extLst>
              <a:ext uri="{FF2B5EF4-FFF2-40B4-BE49-F238E27FC236}">
                <a16:creationId xmlns:a16="http://schemas.microsoft.com/office/drawing/2014/main" id="{76FD9056-E9F8-459D-A1BB-53C2D258C614}"/>
              </a:ext>
            </a:extLst>
          </p:cNvPr>
          <p:cNvSpPr/>
          <p:nvPr/>
        </p:nvSpPr>
        <p:spPr>
          <a:xfrm>
            <a:off x="832848" y="4249226"/>
            <a:ext cx="1366608"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result</a:t>
            </a:r>
            <a:endParaRPr lang="zh-CN" altLang="en-US" b="1" dirty="0">
              <a:solidFill>
                <a:srgbClr val="002060"/>
              </a:solidFill>
              <a:latin typeface="Arial Black" panose="020B0A04020102020204" pitchFamily="34" charset="0"/>
              <a:ea typeface="+mj-ea"/>
            </a:endParaRPr>
          </a:p>
        </p:txBody>
      </p:sp>
      <p:cxnSp>
        <p:nvCxnSpPr>
          <p:cNvPr id="12" name="直接连接符 11">
            <a:extLst>
              <a:ext uri="{FF2B5EF4-FFF2-40B4-BE49-F238E27FC236}">
                <a16:creationId xmlns:a16="http://schemas.microsoft.com/office/drawing/2014/main" id="{EFFB2915-2E77-45E3-BF9B-7584609B1E9F}"/>
              </a:ext>
            </a:extLst>
          </p:cNvPr>
          <p:cNvCxnSpPr>
            <a:cxnSpLocks/>
          </p:cNvCxnSpPr>
          <p:nvPr/>
        </p:nvCxnSpPr>
        <p:spPr>
          <a:xfrm>
            <a:off x="591262" y="1977491"/>
            <a:ext cx="29580" cy="2557004"/>
          </a:xfrm>
          <a:prstGeom prst="line">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BE6A7353-93E8-422F-86B6-CD0664AF57BF}"/>
              </a:ext>
            </a:extLst>
          </p:cNvPr>
          <p:cNvCxnSpPr/>
          <p:nvPr/>
        </p:nvCxnSpPr>
        <p:spPr>
          <a:xfrm>
            <a:off x="620842" y="3523649"/>
            <a:ext cx="216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E008CED9-12DD-4BC8-AE33-E302958659E4}"/>
              </a:ext>
            </a:extLst>
          </p:cNvPr>
          <p:cNvSpPr/>
          <p:nvPr/>
        </p:nvSpPr>
        <p:spPr>
          <a:xfrm>
            <a:off x="2264564" y="4259872"/>
            <a:ext cx="1217862"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80</a:t>
            </a:r>
            <a:r>
              <a:rPr lang="zh-CN" altLang="en-US" b="1" dirty="0">
                <a:solidFill>
                  <a:srgbClr val="002060"/>
                </a:solidFill>
                <a:latin typeface="Arial Black" panose="020B0A04020102020204" pitchFamily="34" charset="0"/>
                <a:ea typeface="+mj-ea"/>
              </a:rPr>
              <a:t>，</a:t>
            </a:r>
            <a:r>
              <a:rPr lang="en-US" altLang="zh-CN" b="1" dirty="0">
                <a:solidFill>
                  <a:srgbClr val="002060"/>
                </a:solidFill>
                <a:latin typeface="Arial Black" panose="020B0A04020102020204" pitchFamily="34" charset="0"/>
                <a:ea typeface="+mj-ea"/>
              </a:rPr>
              <a:t>90</a:t>
            </a:r>
            <a:endParaRPr lang="zh-CN" altLang="en-US" dirty="0">
              <a:solidFill>
                <a:srgbClr val="002060"/>
              </a:solidFill>
              <a:latin typeface="Arial Black" panose="020B0A04020102020204" pitchFamily="34" charset="0"/>
              <a:ea typeface="+mj-ea"/>
            </a:endParaRPr>
          </a:p>
        </p:txBody>
      </p:sp>
      <p:sp>
        <p:nvSpPr>
          <p:cNvPr id="22" name="矩形 21">
            <a:extLst>
              <a:ext uri="{FF2B5EF4-FFF2-40B4-BE49-F238E27FC236}">
                <a16:creationId xmlns:a16="http://schemas.microsoft.com/office/drawing/2014/main" id="{81C92A9A-848A-498F-8870-FC8510F6A99F}"/>
              </a:ext>
            </a:extLst>
          </p:cNvPr>
          <p:cNvSpPr/>
          <p:nvPr/>
        </p:nvSpPr>
        <p:spPr>
          <a:xfrm>
            <a:off x="2119040" y="3788766"/>
            <a:ext cx="2127836" cy="369332"/>
          </a:xfrm>
          <a:prstGeom prst="rect">
            <a:avLst/>
          </a:prstGeom>
        </p:spPr>
        <p:txBody>
          <a:bodyPr wrap="square">
            <a:spAutoFit/>
          </a:bodyPr>
          <a:lstStyle/>
          <a:p>
            <a:r>
              <a:rPr lang="en-US" altLang="zh-CN" b="1" dirty="0">
                <a:solidFill>
                  <a:srgbClr val="002060"/>
                </a:solidFill>
                <a:latin typeface="微软雅黑" panose="020B0503020204020204" pitchFamily="34" charset="-122"/>
                <a:ea typeface="微软雅黑" panose="020B0503020204020204" pitchFamily="34" charset="-122"/>
              </a:rPr>
              <a:t>‘</a:t>
            </a:r>
            <a:r>
              <a:rPr lang="zh-CN" altLang="en-US" b="1" dirty="0">
                <a:solidFill>
                  <a:srgbClr val="002060"/>
                </a:solidFill>
                <a:latin typeface="微软雅黑" panose="020B0503020204020204" pitchFamily="34" charset="-122"/>
                <a:ea typeface="微软雅黑" panose="020B0503020204020204" pitchFamily="34" charset="-122"/>
              </a:rPr>
              <a:t>数学</a:t>
            </a:r>
            <a:r>
              <a:rPr lang="en-US" altLang="zh-CN" b="1" dirty="0">
                <a:solidFill>
                  <a:srgbClr val="002060"/>
                </a:solidFill>
                <a:latin typeface="微软雅黑" panose="020B0503020204020204" pitchFamily="34" charset="-122"/>
                <a:ea typeface="微软雅黑" panose="020B0503020204020204" pitchFamily="34" charset="-122"/>
              </a:rPr>
              <a:t>’</a:t>
            </a:r>
            <a:r>
              <a:rPr lang="zh-CN" altLang="en-US" b="1" dirty="0">
                <a:solidFill>
                  <a:srgbClr val="002060"/>
                </a:solidFill>
                <a:latin typeface="微软雅黑" panose="020B0503020204020204" pitchFamily="34" charset="-122"/>
                <a:ea typeface="微软雅黑" panose="020B0503020204020204" pitchFamily="34" charset="-122"/>
              </a:rPr>
              <a:t>英语</a:t>
            </a:r>
            <a:r>
              <a:rPr lang="en-US" altLang="zh-CN" b="1" dirty="0">
                <a:solidFill>
                  <a:srgbClr val="002060"/>
                </a:solidFill>
                <a:latin typeface="微软雅黑" panose="020B0503020204020204" pitchFamily="34" charset="-122"/>
                <a:ea typeface="微软雅黑" panose="020B0503020204020204" pitchFamily="34" charset="-122"/>
              </a:rPr>
              <a:t>’</a:t>
            </a:r>
            <a:endParaRPr lang="zh-CN" altLang="en-US" b="1" dirty="0">
              <a:solidFill>
                <a:srgbClr val="002060"/>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7CC01DE2-4F0B-4B1F-974A-D38D5C9FC8CC}"/>
              </a:ext>
            </a:extLst>
          </p:cNvPr>
          <p:cNvSpPr/>
          <p:nvPr/>
        </p:nvSpPr>
        <p:spPr>
          <a:xfrm>
            <a:off x="2177115" y="3302251"/>
            <a:ext cx="1375066" cy="369332"/>
          </a:xfrm>
          <a:prstGeom prst="rect">
            <a:avLst/>
          </a:prstGeom>
        </p:spPr>
        <p:txBody>
          <a:bodyPr wrap="square">
            <a:spAutoFit/>
          </a:bodyPr>
          <a:lstStyle/>
          <a:p>
            <a:r>
              <a:rPr lang="zh-CN" altLang="en-US" b="1" dirty="0">
                <a:solidFill>
                  <a:srgbClr val="002060"/>
                </a:solidFill>
                <a:latin typeface="微软雅黑" panose="020B0503020204020204" pitchFamily="34" charset="-122"/>
                <a:ea typeface="微软雅黑" panose="020B0503020204020204" pitchFamily="34" charset="-122"/>
              </a:rPr>
              <a:t>‘张三’</a:t>
            </a:r>
          </a:p>
        </p:txBody>
      </p:sp>
      <p:sp>
        <p:nvSpPr>
          <p:cNvPr id="24" name="矩形 23">
            <a:extLst>
              <a:ext uri="{FF2B5EF4-FFF2-40B4-BE49-F238E27FC236}">
                <a16:creationId xmlns:a16="http://schemas.microsoft.com/office/drawing/2014/main" id="{BD03FECF-E535-431C-ADCC-68EE03B3EB55}"/>
              </a:ext>
            </a:extLst>
          </p:cNvPr>
          <p:cNvSpPr/>
          <p:nvPr/>
        </p:nvSpPr>
        <p:spPr>
          <a:xfrm>
            <a:off x="2109830" y="2861670"/>
            <a:ext cx="1248412" cy="369332"/>
          </a:xfrm>
          <a:prstGeom prst="rect">
            <a:avLst/>
          </a:prstGeom>
        </p:spPr>
        <p:txBody>
          <a:bodyPr wrap="square">
            <a:spAutoFit/>
          </a:bodyPr>
          <a:lstStyle/>
          <a:p>
            <a:r>
              <a:rPr lang="zh-CN" altLang="en-US" b="1" dirty="0">
                <a:solidFill>
                  <a:srgbClr val="002060"/>
                </a:solidFill>
                <a:latin typeface="Arial Black" panose="020B0A04020102020204" pitchFamily="34" charset="0"/>
                <a:ea typeface="+mj-ea"/>
              </a:rPr>
              <a:t>‘</a:t>
            </a:r>
            <a:r>
              <a:rPr lang="en-US" altLang="zh-CN" b="1" dirty="0">
                <a:solidFill>
                  <a:srgbClr val="002060"/>
                </a:solidFill>
                <a:latin typeface="Arial Black" panose="020B0A04020102020204" pitchFamily="34" charset="0"/>
                <a:ea typeface="+mj-ea"/>
              </a:rPr>
              <a:t>2001</a:t>
            </a:r>
            <a:r>
              <a:rPr lang="zh-CN" altLang="en-US" b="1" dirty="0">
                <a:solidFill>
                  <a:srgbClr val="002060"/>
                </a:solidFill>
                <a:latin typeface="Arial Black" panose="020B0A04020102020204" pitchFamily="34" charset="0"/>
                <a:ea typeface="+mj-ea"/>
              </a:rPr>
              <a:t>’</a:t>
            </a:r>
            <a:endParaRPr lang="zh-CN" altLang="en-US" dirty="0">
              <a:solidFill>
                <a:srgbClr val="002060"/>
              </a:solidFill>
              <a:latin typeface="Arial Black" panose="020B0A04020102020204" pitchFamily="34" charset="0"/>
              <a:ea typeface="+mj-ea"/>
            </a:endParaRPr>
          </a:p>
        </p:txBody>
      </p:sp>
      <p:sp>
        <p:nvSpPr>
          <p:cNvPr id="25" name="矩形 24">
            <a:extLst>
              <a:ext uri="{FF2B5EF4-FFF2-40B4-BE49-F238E27FC236}">
                <a16:creationId xmlns:a16="http://schemas.microsoft.com/office/drawing/2014/main" id="{A163A394-F0CF-4B15-B140-6296E60D0B43}"/>
              </a:ext>
            </a:extLst>
          </p:cNvPr>
          <p:cNvSpPr/>
          <p:nvPr/>
        </p:nvSpPr>
        <p:spPr>
          <a:xfrm>
            <a:off x="167892" y="3235365"/>
            <a:ext cx="455006" cy="680058"/>
          </a:xfrm>
          <a:prstGeom prst="rect">
            <a:avLst/>
          </a:prstGeom>
          <a:noFill/>
          <a:ln w="9525">
            <a:noFill/>
            <a:miter lim="800000"/>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spAutoFit/>
          </a:bodyPr>
          <a:lstStyle/>
          <a:p>
            <a:pPr eaLnBrk="0" hangingPunct="0">
              <a:lnSpc>
                <a:spcPct val="110000"/>
              </a:lnSpc>
            </a:pPr>
            <a:r>
              <a:rPr lang="zh-CN" altLang="en-US" b="1" dirty="0">
                <a:solidFill>
                  <a:srgbClr val="002060"/>
                </a:solidFill>
                <a:latin typeface="+mn-lt"/>
                <a:ea typeface="+mn-ea"/>
              </a:rPr>
              <a:t>字段</a:t>
            </a:r>
          </a:p>
        </p:txBody>
      </p:sp>
      <p:sp>
        <p:nvSpPr>
          <p:cNvPr id="26" name="矩形 25">
            <a:extLst>
              <a:ext uri="{FF2B5EF4-FFF2-40B4-BE49-F238E27FC236}">
                <a16:creationId xmlns:a16="http://schemas.microsoft.com/office/drawing/2014/main" id="{21C1ECA6-0356-4A1E-930E-D8C332D628EA}"/>
              </a:ext>
            </a:extLst>
          </p:cNvPr>
          <p:cNvSpPr/>
          <p:nvPr/>
        </p:nvSpPr>
        <p:spPr>
          <a:xfrm>
            <a:off x="488142" y="1874361"/>
            <a:ext cx="1468108" cy="461665"/>
          </a:xfrm>
          <a:prstGeom prst="rect">
            <a:avLst/>
          </a:prstGeom>
          <a:noFill/>
          <a:scene3d>
            <a:camera prst="orthographicFront"/>
            <a:lightRig rig="threePt" dir="t"/>
          </a:scene3d>
          <a:sp3d>
            <a:bevelT prst="angle"/>
          </a:sp3d>
        </p:spPr>
        <p:txBody>
          <a:bodyPr wrap="square">
            <a:spAutoFit/>
          </a:bodyPr>
          <a:lstStyle/>
          <a:p>
            <a:pPr algn="ctr"/>
            <a:r>
              <a:rPr lang="en-US" altLang="zh-CN" sz="2400" b="1" dirty="0">
                <a:solidFill>
                  <a:srgbClr val="FFFF00"/>
                </a:solidFill>
                <a:effectLst>
                  <a:outerShdw blurRad="38100" dist="38100" dir="2700000" algn="tl">
                    <a:srgbClr val="000000">
                      <a:alpha val="43137"/>
                    </a:srgbClr>
                  </a:outerShdw>
                </a:effectLst>
                <a:highlight>
                  <a:srgbClr val="3399FF"/>
                </a:highlight>
                <a:latin typeface="黑体" panose="02010609060101010101" pitchFamily="49" charset="-122"/>
                <a:ea typeface="黑体" panose="02010609060101010101" pitchFamily="49" charset="-122"/>
              </a:rPr>
              <a:t>student0</a:t>
            </a:r>
            <a:endParaRPr lang="zh-CN" altLang="en-US" sz="2400" b="1" dirty="0">
              <a:solidFill>
                <a:srgbClr val="FFFF00"/>
              </a:solidFill>
              <a:effectLst>
                <a:outerShdw blurRad="38100" dist="38100" dir="2700000" algn="tl">
                  <a:srgbClr val="000000">
                    <a:alpha val="43137"/>
                  </a:srgbClr>
                </a:outerShdw>
              </a:effectLst>
              <a:highlight>
                <a:srgbClr val="3399FF"/>
              </a:highlight>
              <a:latin typeface="黑体" panose="02010609060101010101" pitchFamily="49" charset="-122"/>
              <a:ea typeface="黑体" panose="02010609060101010101" pitchFamily="49" charset="-122"/>
            </a:endParaRPr>
          </a:p>
        </p:txBody>
      </p:sp>
      <p:sp>
        <p:nvSpPr>
          <p:cNvPr id="28" name="文本框 27">
            <a:extLst>
              <a:ext uri="{FF2B5EF4-FFF2-40B4-BE49-F238E27FC236}">
                <a16:creationId xmlns:a16="http://schemas.microsoft.com/office/drawing/2014/main" id="{2E1E68D4-DFA1-49D9-8F0A-9179F4389554}"/>
              </a:ext>
            </a:extLst>
          </p:cNvPr>
          <p:cNvSpPr txBox="1"/>
          <p:nvPr/>
        </p:nvSpPr>
        <p:spPr>
          <a:xfrm>
            <a:off x="2734036" y="1099180"/>
            <a:ext cx="6394855" cy="918649"/>
          </a:xfrm>
          <a:prstGeom prst="rect">
            <a:avLst/>
          </a:prstGeom>
          <a:noFill/>
        </p:spPr>
        <p:txBody>
          <a:bodyPr wrap="square">
            <a:spAutoFit/>
          </a:bodyPr>
          <a:lstStyle/>
          <a:p>
            <a:pPr>
              <a:lnSpc>
                <a:spcPts val="3300"/>
              </a:lnSpc>
            </a:pPr>
            <a:r>
              <a:rPr lang="zh-CN" altLang="en-US" sz="2200" b="1" kern="0" dirty="0">
                <a:solidFill>
                  <a:srgbClr val="002060"/>
                </a:solidFill>
                <a:latin typeface="华文楷体" panose="02010600040101010101" pitchFamily="2" charset="-122"/>
                <a:ea typeface="华文楷体" panose="02010600040101010101" pitchFamily="2" charset="-122"/>
              </a:rPr>
              <a:t>将学生信息存储在含有字段 </a:t>
            </a:r>
            <a:r>
              <a:rPr lang="en-US" altLang="zh-CN" sz="2200" b="1" kern="0" dirty="0">
                <a:solidFill>
                  <a:srgbClr val="002060"/>
                </a:solidFill>
                <a:latin typeface="华文楷体" panose="02010600040101010101" pitchFamily="2" charset="-122"/>
                <a:ea typeface="华文楷体" panose="02010600040101010101" pitchFamily="2" charset="-122"/>
              </a:rPr>
              <a:t>number</a:t>
            </a:r>
            <a:r>
              <a:rPr lang="zh-CN" altLang="en-US" sz="2200" b="1" kern="0" dirty="0">
                <a:solidFill>
                  <a:srgbClr val="002060"/>
                </a:solidFill>
                <a:latin typeface="华文楷体" panose="02010600040101010101" pitchFamily="2" charset="-122"/>
                <a:ea typeface="华文楷体" panose="02010600040101010101" pitchFamily="2" charset="-122"/>
              </a:rPr>
              <a:t>、</a:t>
            </a:r>
            <a:r>
              <a:rPr lang="en-US" altLang="zh-CN" sz="2200" b="1" kern="0" dirty="0">
                <a:solidFill>
                  <a:srgbClr val="002060"/>
                </a:solidFill>
                <a:latin typeface="华文楷体" panose="02010600040101010101" pitchFamily="2" charset="-122"/>
                <a:ea typeface="华文楷体" panose="02010600040101010101" pitchFamily="2" charset="-122"/>
              </a:rPr>
              <a:t>name</a:t>
            </a:r>
            <a:r>
              <a:rPr lang="zh-CN" altLang="en-US" sz="2200" b="1" kern="0" dirty="0">
                <a:solidFill>
                  <a:srgbClr val="002060"/>
                </a:solidFill>
                <a:latin typeface="华文楷体" panose="02010600040101010101" pitchFamily="2" charset="-122"/>
                <a:ea typeface="华文楷体" panose="02010600040101010101" pitchFamily="2" charset="-122"/>
              </a:rPr>
              <a:t>、</a:t>
            </a:r>
            <a:r>
              <a:rPr lang="en-US" altLang="zh-CN" sz="2200" b="1" kern="0" dirty="0">
                <a:solidFill>
                  <a:srgbClr val="002060"/>
                </a:solidFill>
                <a:latin typeface="华文楷体" panose="02010600040101010101" pitchFamily="2" charset="-122"/>
                <a:ea typeface="华文楷体" panose="02010600040101010101" pitchFamily="2" charset="-122"/>
              </a:rPr>
              <a:t>subject </a:t>
            </a:r>
            <a:r>
              <a:rPr lang="zh-CN" altLang="en-US" sz="2200" b="1" kern="0" dirty="0">
                <a:solidFill>
                  <a:srgbClr val="002060"/>
                </a:solidFill>
                <a:latin typeface="华文楷体" panose="02010600040101010101" pitchFamily="2" charset="-122"/>
                <a:ea typeface="华文楷体" panose="02010600040101010101" pitchFamily="2" charset="-122"/>
              </a:rPr>
              <a:t>和 </a:t>
            </a:r>
            <a:r>
              <a:rPr lang="en-US" altLang="zh-CN" sz="2200" b="1" kern="0" dirty="0">
                <a:solidFill>
                  <a:srgbClr val="002060"/>
                </a:solidFill>
                <a:latin typeface="华文楷体" panose="02010600040101010101" pitchFamily="2" charset="-122"/>
                <a:ea typeface="华文楷体" panose="02010600040101010101" pitchFamily="2" charset="-122"/>
              </a:rPr>
              <a:t>result</a:t>
            </a:r>
            <a:r>
              <a:rPr lang="zh-CN" altLang="en-US" sz="2200" b="1" kern="0" dirty="0">
                <a:solidFill>
                  <a:srgbClr val="002060"/>
                </a:solidFill>
                <a:latin typeface="华文楷体" panose="02010600040101010101" pitchFamily="2" charset="-122"/>
                <a:ea typeface="华文楷体" panose="02010600040101010101" pitchFamily="2" charset="-122"/>
              </a:rPr>
              <a:t>的标量结构体名字</a:t>
            </a:r>
            <a:r>
              <a:rPr lang="en-US" altLang="zh-CN" sz="2200" b="1" kern="0" dirty="0">
                <a:solidFill>
                  <a:srgbClr val="002060"/>
                </a:solidFill>
                <a:latin typeface="华文楷体" panose="02010600040101010101" pitchFamily="2" charset="-122"/>
                <a:ea typeface="华文楷体" panose="02010600040101010101" pitchFamily="2" charset="-122"/>
              </a:rPr>
              <a:t>name</a:t>
            </a:r>
            <a:r>
              <a:rPr lang="zh-CN" altLang="en-US" sz="2200" b="1" kern="0" dirty="0">
                <a:solidFill>
                  <a:srgbClr val="002060"/>
                </a:solidFill>
                <a:latin typeface="华文楷体" panose="02010600040101010101" pitchFamily="2" charset="-122"/>
                <a:ea typeface="华文楷体" panose="02010600040101010101" pitchFamily="2" charset="-122"/>
              </a:rPr>
              <a:t>为</a:t>
            </a:r>
            <a:r>
              <a:rPr lang="en-US" altLang="zh-CN" sz="2200" b="1" kern="0" dirty="0">
                <a:solidFill>
                  <a:srgbClr val="002060"/>
                </a:solidFill>
                <a:latin typeface="华文楷体" panose="02010600040101010101" pitchFamily="2" charset="-122"/>
                <a:ea typeface="华文楷体" panose="02010600040101010101" pitchFamily="2" charset="-122"/>
              </a:rPr>
              <a:t> </a:t>
            </a:r>
            <a:r>
              <a:rPr lang="en-US" altLang="zh-CN" sz="2200" b="1" kern="0" dirty="0">
                <a:solidFill>
                  <a:srgbClr val="FF0000"/>
                </a:solidFill>
                <a:latin typeface="华文楷体" panose="02010600040101010101" pitchFamily="2" charset="-122"/>
                <a:ea typeface="华文楷体" panose="02010600040101010101" pitchFamily="2" charset="-122"/>
              </a:rPr>
              <a:t>student0</a:t>
            </a:r>
            <a:r>
              <a:rPr lang="zh-CN" altLang="en-US" sz="2200" b="1" kern="0" dirty="0">
                <a:solidFill>
                  <a:srgbClr val="002060"/>
                </a:solidFill>
                <a:latin typeface="华文楷体" panose="02010600040101010101" pitchFamily="2" charset="-122"/>
                <a:ea typeface="华文楷体" panose="02010600040101010101" pitchFamily="2" charset="-122"/>
              </a:rPr>
              <a:t>中</a:t>
            </a:r>
            <a:r>
              <a:rPr lang="zh-CN" altLang="en-US" sz="2400" b="1" kern="0" dirty="0">
                <a:solidFill>
                  <a:srgbClr val="002060"/>
                </a:solidFill>
                <a:latin typeface="华文楷体" panose="02010600040101010101" pitchFamily="2" charset="-122"/>
                <a:ea typeface="华文楷体" panose="02010600040101010101" pitchFamily="2" charset="-122"/>
              </a:rPr>
              <a:t>。</a:t>
            </a:r>
          </a:p>
        </p:txBody>
      </p:sp>
      <p:sp>
        <p:nvSpPr>
          <p:cNvPr id="27" name="内容占位符 2">
            <a:extLst>
              <a:ext uri="{FF2B5EF4-FFF2-40B4-BE49-F238E27FC236}">
                <a16:creationId xmlns:a16="http://schemas.microsoft.com/office/drawing/2014/main" id="{BE31667A-3946-4927-A999-1E7176AEF896}"/>
              </a:ext>
            </a:extLst>
          </p:cNvPr>
          <p:cNvSpPr txBox="1">
            <a:spLocks/>
          </p:cNvSpPr>
          <p:nvPr/>
        </p:nvSpPr>
        <p:spPr bwMode="auto">
          <a:xfrm>
            <a:off x="3967165" y="2256355"/>
            <a:ext cx="5025592" cy="16545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32000" indent="-468000">
              <a:lnSpc>
                <a:spcPts val="3100"/>
              </a:lnSpc>
              <a:buFont typeface="+mj-lt"/>
              <a:buAutoNum type="romanUcPeriod"/>
            </a:pPr>
            <a:r>
              <a:rPr lang="zh-CN" altLang="en-US" sz="2000" b="1" kern="0" dirty="0"/>
              <a:t>用不变</a:t>
            </a:r>
            <a:r>
              <a:rPr lang="en-US" altLang="zh-CN" sz="2000" b="1" kern="0" dirty="0"/>
              <a:t>struct</a:t>
            </a:r>
            <a:r>
              <a:rPr lang="zh-CN" altLang="en-US" sz="2000" b="1" kern="0" dirty="0"/>
              <a:t>或可变</a:t>
            </a:r>
            <a:r>
              <a:rPr lang="en-US" altLang="zh-CN" sz="2000" b="1" kern="0" dirty="0"/>
              <a:t>mutable struct</a:t>
            </a:r>
            <a:r>
              <a:rPr lang="zh-CN" altLang="en-US" sz="2000" b="1" kern="0" dirty="0"/>
              <a:t>定义字段</a:t>
            </a:r>
            <a:r>
              <a:rPr lang="zh-CN" altLang="en-US" sz="2000" b="1" kern="0" dirty="0">
                <a:solidFill>
                  <a:srgbClr val="0070C0"/>
                </a:solidFill>
              </a:rPr>
              <a:t>名</a:t>
            </a:r>
            <a:r>
              <a:rPr lang="zh-CN" altLang="zh-CN" sz="2000" b="1" kern="0" dirty="0">
                <a:solidFill>
                  <a:srgbClr val="FF0000"/>
                </a:solidFill>
              </a:rPr>
              <a:t>field</a:t>
            </a:r>
            <a:r>
              <a:rPr lang="en-US" altLang="zh-CN" sz="2000" b="1" kern="0" dirty="0">
                <a:solidFill>
                  <a:srgbClr val="FF0000"/>
                </a:solidFill>
              </a:rPr>
              <a:t>, </a:t>
            </a:r>
            <a:r>
              <a:rPr lang="zh-CN" altLang="en-US" sz="2000" b="1" kern="0" dirty="0"/>
              <a:t>完成结构体</a:t>
            </a:r>
            <a:r>
              <a:rPr lang="en-US" altLang="zh-CN" sz="2000" b="1" kern="0" dirty="0">
                <a:solidFill>
                  <a:srgbClr val="FF0000"/>
                </a:solidFill>
              </a:rPr>
              <a:t>name</a:t>
            </a:r>
            <a:r>
              <a:rPr lang="zh-CN" altLang="en-US" sz="2000" b="1" kern="0" dirty="0"/>
              <a:t>建立</a:t>
            </a:r>
            <a:endParaRPr lang="en-US" altLang="zh-CN" sz="2000" b="1" kern="0" dirty="0"/>
          </a:p>
          <a:p>
            <a:pPr marL="432000" indent="-468000">
              <a:lnSpc>
                <a:spcPts val="3100"/>
              </a:lnSpc>
              <a:buFont typeface="+mj-lt"/>
              <a:buAutoNum type="romanUcPeriod"/>
            </a:pPr>
            <a:r>
              <a:rPr lang="zh-CN" altLang="en-US" sz="2000" b="1" kern="0" dirty="0"/>
              <a:t>对结构体</a:t>
            </a:r>
            <a:r>
              <a:rPr lang="en-US" altLang="zh-CN" sz="2000" b="1" kern="0" dirty="0">
                <a:solidFill>
                  <a:srgbClr val="FF0000"/>
                </a:solidFill>
              </a:rPr>
              <a:t>name</a:t>
            </a:r>
            <a:r>
              <a:rPr lang="zh-CN" altLang="en-US" sz="2000" b="1" kern="0" dirty="0">
                <a:solidFill>
                  <a:srgbClr val="FF0000"/>
                </a:solidFill>
              </a:rPr>
              <a:t>的每个</a:t>
            </a:r>
            <a:r>
              <a:rPr lang="zh-CN" altLang="en-US" sz="2000" b="1" kern="0" dirty="0"/>
              <a:t>字段</a:t>
            </a:r>
            <a:r>
              <a:rPr lang="zh-CN" altLang="zh-CN" sz="2000" b="1" kern="0" dirty="0">
                <a:solidFill>
                  <a:srgbClr val="FF0000"/>
                </a:solidFill>
              </a:rPr>
              <a:t>field</a:t>
            </a:r>
            <a:r>
              <a:rPr lang="zh-CN" altLang="en-US" sz="2000" b="1" kern="0" dirty="0"/>
              <a:t>赋值</a:t>
            </a:r>
            <a:r>
              <a:rPr lang="en-US" altLang="zh-CN" sz="2000" b="1" kern="0" dirty="0">
                <a:solidFill>
                  <a:srgbClr val="FF0000"/>
                </a:solidFill>
              </a:rPr>
              <a:t>value, </a:t>
            </a:r>
            <a:r>
              <a:rPr lang="zh-CN" altLang="en-US" sz="2000" b="1" kern="0" dirty="0"/>
              <a:t>创建结构体数组</a:t>
            </a:r>
            <a:r>
              <a:rPr lang="en-US" altLang="zh-CN" sz="2000" b="1" kern="0" dirty="0"/>
              <a:t>ss </a:t>
            </a:r>
            <a:endParaRPr lang="zh-CN" altLang="en-US" sz="2000" b="1" kern="0" dirty="0"/>
          </a:p>
        </p:txBody>
      </p:sp>
      <p:cxnSp>
        <p:nvCxnSpPr>
          <p:cNvPr id="29" name="直接箭头连接符 28">
            <a:extLst>
              <a:ext uri="{FF2B5EF4-FFF2-40B4-BE49-F238E27FC236}">
                <a16:creationId xmlns:a16="http://schemas.microsoft.com/office/drawing/2014/main" id="{9B3E6643-1ED5-485B-863B-EB6A5CBF1235}"/>
              </a:ext>
            </a:extLst>
          </p:cNvPr>
          <p:cNvCxnSpPr>
            <a:cxnSpLocks/>
          </p:cNvCxnSpPr>
          <p:nvPr/>
        </p:nvCxnSpPr>
        <p:spPr>
          <a:xfrm>
            <a:off x="1950338" y="3485401"/>
            <a:ext cx="360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58ACA48A-886D-48AA-BE3C-9DCBF63BA7A4}"/>
              </a:ext>
            </a:extLst>
          </p:cNvPr>
          <p:cNvCxnSpPr/>
          <p:nvPr/>
        </p:nvCxnSpPr>
        <p:spPr>
          <a:xfrm>
            <a:off x="614211" y="3040888"/>
            <a:ext cx="216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9B7F177B-4320-4CD6-8D56-7E3236D737CF}"/>
              </a:ext>
            </a:extLst>
          </p:cNvPr>
          <p:cNvCxnSpPr/>
          <p:nvPr/>
        </p:nvCxnSpPr>
        <p:spPr>
          <a:xfrm>
            <a:off x="1968810" y="3040888"/>
            <a:ext cx="324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2884CD1C-6892-47A4-97C6-0B05D487256E}"/>
              </a:ext>
            </a:extLst>
          </p:cNvPr>
          <p:cNvCxnSpPr/>
          <p:nvPr/>
        </p:nvCxnSpPr>
        <p:spPr>
          <a:xfrm>
            <a:off x="608680" y="4026880"/>
            <a:ext cx="216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EDADBC20-2AA2-4C83-9204-FADD17E947DE}"/>
              </a:ext>
            </a:extLst>
          </p:cNvPr>
          <p:cNvCxnSpPr>
            <a:cxnSpLocks/>
          </p:cNvCxnSpPr>
          <p:nvPr/>
        </p:nvCxnSpPr>
        <p:spPr>
          <a:xfrm>
            <a:off x="1966282" y="4002038"/>
            <a:ext cx="360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83A31EDC-074D-488C-99B0-541001C31BBC}"/>
              </a:ext>
            </a:extLst>
          </p:cNvPr>
          <p:cNvCxnSpPr/>
          <p:nvPr/>
        </p:nvCxnSpPr>
        <p:spPr>
          <a:xfrm>
            <a:off x="628459" y="4497771"/>
            <a:ext cx="216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0AAC66EB-A81E-4FF7-8CC2-C4B85CD2968B}"/>
              </a:ext>
            </a:extLst>
          </p:cNvPr>
          <p:cNvCxnSpPr>
            <a:cxnSpLocks/>
          </p:cNvCxnSpPr>
          <p:nvPr/>
        </p:nvCxnSpPr>
        <p:spPr>
          <a:xfrm>
            <a:off x="1932060" y="4449281"/>
            <a:ext cx="360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B701A414-4038-43A2-AD75-B0002069DB80}"/>
              </a:ext>
            </a:extLst>
          </p:cNvPr>
          <p:cNvSpPr/>
          <p:nvPr/>
        </p:nvSpPr>
        <p:spPr>
          <a:xfrm>
            <a:off x="667390" y="2389408"/>
            <a:ext cx="1497688" cy="375359"/>
          </a:xfrm>
          <a:prstGeom prst="rect">
            <a:avLst/>
          </a:prstGeom>
          <a:noFill/>
          <a:ln w="9525">
            <a:noFill/>
            <a:miter lim="800000"/>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spAutoFit/>
          </a:bodyPr>
          <a:lstStyle/>
          <a:p>
            <a:pPr eaLnBrk="0" hangingPunct="0">
              <a:lnSpc>
                <a:spcPct val="110000"/>
              </a:lnSpc>
            </a:pPr>
            <a:r>
              <a:rPr lang="zh-CN" altLang="en-US" b="1" dirty="0">
                <a:solidFill>
                  <a:srgbClr val="002060"/>
                </a:solidFill>
              </a:rPr>
              <a:t>字段名</a:t>
            </a:r>
            <a:r>
              <a:rPr lang="en-US" altLang="zh-CN" b="1" dirty="0">
                <a:solidFill>
                  <a:srgbClr val="002060"/>
                </a:solidFill>
              </a:rPr>
              <a:t>field</a:t>
            </a:r>
            <a:endParaRPr lang="zh-CN" altLang="en-US" b="1" dirty="0">
              <a:solidFill>
                <a:srgbClr val="002060"/>
              </a:solidFill>
            </a:endParaRPr>
          </a:p>
        </p:txBody>
      </p:sp>
      <p:sp>
        <p:nvSpPr>
          <p:cNvPr id="39" name="矩形 38">
            <a:extLst>
              <a:ext uri="{FF2B5EF4-FFF2-40B4-BE49-F238E27FC236}">
                <a16:creationId xmlns:a16="http://schemas.microsoft.com/office/drawing/2014/main" id="{F55F61B7-3728-41E2-8B7A-8B9385DDAEC9}"/>
              </a:ext>
            </a:extLst>
          </p:cNvPr>
          <p:cNvSpPr/>
          <p:nvPr/>
        </p:nvSpPr>
        <p:spPr>
          <a:xfrm>
            <a:off x="2197795" y="2367445"/>
            <a:ext cx="1634977" cy="375359"/>
          </a:xfrm>
          <a:prstGeom prst="rect">
            <a:avLst/>
          </a:prstGeom>
          <a:noFill/>
          <a:ln w="9525">
            <a:noFill/>
            <a:miter lim="800000"/>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spAutoFit/>
          </a:bodyPr>
          <a:lstStyle/>
          <a:p>
            <a:pPr eaLnBrk="0" hangingPunct="0">
              <a:lnSpc>
                <a:spcPct val="110000"/>
              </a:lnSpc>
            </a:pPr>
            <a:r>
              <a:rPr lang="zh-CN" altLang="en-US" b="1" dirty="0">
                <a:solidFill>
                  <a:srgbClr val="002060"/>
                </a:solidFill>
              </a:rPr>
              <a:t>字段值</a:t>
            </a:r>
            <a:r>
              <a:rPr lang="en-US" altLang="zh-CN" b="1" dirty="0">
                <a:solidFill>
                  <a:srgbClr val="002060"/>
                </a:solidFill>
              </a:rPr>
              <a:t>value</a:t>
            </a:r>
            <a:endParaRPr lang="zh-CN" altLang="en-US" b="1" dirty="0">
              <a:solidFill>
                <a:srgbClr val="002060"/>
              </a:solidFill>
            </a:endParaRPr>
          </a:p>
        </p:txBody>
      </p:sp>
      <p:sp>
        <p:nvSpPr>
          <p:cNvPr id="40" name="Rectangle 1">
            <a:extLst>
              <a:ext uri="{FF2B5EF4-FFF2-40B4-BE49-F238E27FC236}">
                <a16:creationId xmlns:a16="http://schemas.microsoft.com/office/drawing/2014/main" id="{18738094-FD6A-4F53-A8F6-0518ED59B2E9}"/>
              </a:ext>
            </a:extLst>
          </p:cNvPr>
          <p:cNvSpPr>
            <a:spLocks noChangeArrowheads="1"/>
          </p:cNvSpPr>
          <p:nvPr/>
        </p:nvSpPr>
        <p:spPr bwMode="auto">
          <a:xfrm>
            <a:off x="0" y="182433"/>
            <a:ext cx="20840"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dirty="0">
                <a:ln>
                  <a:noFill/>
                </a:ln>
                <a:solidFill>
                  <a:schemeClr val="tx1"/>
                </a:solidFill>
                <a:effectLst/>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2" name="矩形 41">
            <a:extLst>
              <a:ext uri="{FF2B5EF4-FFF2-40B4-BE49-F238E27FC236}">
                <a16:creationId xmlns:a16="http://schemas.microsoft.com/office/drawing/2014/main" id="{7CD7CD55-AC65-4A68-8146-8242661B181A}"/>
              </a:ext>
            </a:extLst>
          </p:cNvPr>
          <p:cNvSpPr/>
          <p:nvPr/>
        </p:nvSpPr>
        <p:spPr>
          <a:xfrm>
            <a:off x="67426" y="1129302"/>
            <a:ext cx="2646564" cy="375809"/>
          </a:xfrm>
          <a:prstGeom prst="rect">
            <a:avLst/>
          </a:prstGeom>
          <a:noFill/>
          <a:ln w="9525">
            <a:noFill/>
            <a:miter lim="800000"/>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spAutoFit/>
          </a:bodyPr>
          <a:lstStyle/>
          <a:p>
            <a:pPr marL="457200" indent="-457200" eaLnBrk="0" hangingPunct="0">
              <a:lnSpc>
                <a:spcPct val="110000"/>
              </a:lnSpc>
              <a:buFont typeface="+mj-ea"/>
              <a:buAutoNum type="circleNumDbPlain"/>
            </a:pPr>
            <a:r>
              <a:rPr lang="zh-CN" altLang="en-US" b="1" dirty="0">
                <a:solidFill>
                  <a:srgbClr val="00B0F0"/>
                </a:solidFill>
                <a:latin typeface="微软雅黑" panose="020B0503020204020204" pitchFamily="34" charset="-122"/>
                <a:ea typeface="微软雅黑" panose="020B0503020204020204" pitchFamily="34" charset="-122"/>
              </a:rPr>
              <a:t>结构体名字</a:t>
            </a:r>
            <a:r>
              <a:rPr lang="en-US" altLang="zh-CN" b="1" dirty="0">
                <a:solidFill>
                  <a:srgbClr val="00B0F0"/>
                </a:solidFill>
                <a:latin typeface="微软雅黑" panose="020B0503020204020204" pitchFamily="34" charset="-122"/>
                <a:ea typeface="微软雅黑" panose="020B0503020204020204" pitchFamily="34" charset="-122"/>
              </a:rPr>
              <a:t>name</a:t>
            </a:r>
            <a:endParaRPr lang="zh-CN" altLang="en-US" b="1" dirty="0">
              <a:solidFill>
                <a:srgbClr val="00B0F0"/>
              </a:solidFill>
              <a:latin typeface="微软雅黑" panose="020B0503020204020204" pitchFamily="34" charset="-122"/>
              <a:ea typeface="微软雅黑" panose="020B0503020204020204" pitchFamily="34" charset="-122"/>
            </a:endParaRPr>
          </a:p>
        </p:txBody>
      </p:sp>
      <p:sp>
        <p:nvSpPr>
          <p:cNvPr id="43" name="矩形: 圆角 42">
            <a:extLst>
              <a:ext uri="{FF2B5EF4-FFF2-40B4-BE49-F238E27FC236}">
                <a16:creationId xmlns:a16="http://schemas.microsoft.com/office/drawing/2014/main" id="{E2A02D67-A77E-4A6B-AC9D-242ED4BF0201}"/>
              </a:ext>
            </a:extLst>
          </p:cNvPr>
          <p:cNvSpPr/>
          <p:nvPr/>
        </p:nvSpPr>
        <p:spPr bwMode="auto">
          <a:xfrm>
            <a:off x="811583" y="2876796"/>
            <a:ext cx="1117299" cy="414865"/>
          </a:xfrm>
          <a:prstGeom prst="roundRect">
            <a:avLst/>
          </a:prstGeom>
          <a:noFill/>
          <a:ln>
            <a:solidFill>
              <a:srgbClr val="00B0F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b="1" i="0" u="none" strike="noStrike" cap="none" normalizeH="0" baseline="0">
              <a:ln>
                <a:noFill/>
              </a:ln>
              <a:solidFill>
                <a:srgbClr val="002060"/>
              </a:solidFill>
              <a:effectLst/>
              <a:latin typeface="Times New Roman" pitchFamily="18" charset="0"/>
            </a:endParaRPr>
          </a:p>
        </p:txBody>
      </p:sp>
      <p:sp>
        <p:nvSpPr>
          <p:cNvPr id="44" name="矩形: 圆角 43">
            <a:extLst>
              <a:ext uri="{FF2B5EF4-FFF2-40B4-BE49-F238E27FC236}">
                <a16:creationId xmlns:a16="http://schemas.microsoft.com/office/drawing/2014/main" id="{71AC1F71-43DE-4EAA-8954-B0B176766CA4}"/>
              </a:ext>
            </a:extLst>
          </p:cNvPr>
          <p:cNvSpPr/>
          <p:nvPr/>
        </p:nvSpPr>
        <p:spPr bwMode="auto">
          <a:xfrm>
            <a:off x="2304493" y="2843640"/>
            <a:ext cx="899355" cy="414865"/>
          </a:xfrm>
          <a:prstGeom prst="roundRect">
            <a:avLst/>
          </a:prstGeom>
          <a:noFill/>
          <a:ln>
            <a:solidFill>
              <a:srgbClr val="00B0F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b="1" i="0" u="none" strike="noStrike" cap="none" normalizeH="0" baseline="0">
              <a:ln>
                <a:noFill/>
              </a:ln>
              <a:solidFill>
                <a:srgbClr val="002060"/>
              </a:solidFill>
              <a:effectLst/>
              <a:latin typeface="Times New Roman" pitchFamily="18" charset="0"/>
            </a:endParaRPr>
          </a:p>
        </p:txBody>
      </p:sp>
      <p:sp>
        <p:nvSpPr>
          <p:cNvPr id="33" name="标题 1">
            <a:extLst>
              <a:ext uri="{FF2B5EF4-FFF2-40B4-BE49-F238E27FC236}">
                <a16:creationId xmlns:a16="http://schemas.microsoft.com/office/drawing/2014/main" id="{68965888-0ACC-4BDD-AC05-4E5B5C54BE24}"/>
              </a:ext>
            </a:extLst>
          </p:cNvPr>
          <p:cNvSpPr txBox="1">
            <a:spLocks/>
          </p:cNvSpPr>
          <p:nvPr/>
        </p:nvSpPr>
        <p:spPr bwMode="auto">
          <a:xfrm>
            <a:off x="898028" y="294308"/>
            <a:ext cx="6949703" cy="30137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kern="0" dirty="0"/>
              <a:t>§1.4.3  </a:t>
            </a:r>
            <a:r>
              <a:rPr lang="zh-CN" altLang="en-US" sz="3000" kern="0" dirty="0"/>
              <a:t>结构体</a:t>
            </a:r>
            <a:r>
              <a:rPr lang="en-US" altLang="zh-CN" sz="3000" kern="0" dirty="0">
                <a:solidFill>
                  <a:srgbClr val="FF0000"/>
                </a:solidFill>
              </a:rPr>
              <a:t>——</a:t>
            </a:r>
            <a:r>
              <a:rPr lang="zh-CN" altLang="en-US" sz="3000" dirty="0">
                <a:solidFill>
                  <a:srgbClr val="FF0000"/>
                </a:solidFill>
              </a:rPr>
              <a:t>结构体数组</a:t>
            </a:r>
            <a:endParaRPr lang="zh-CN" altLang="en-US" sz="3000" kern="0" dirty="0">
              <a:solidFill>
                <a:srgbClr val="FF0000"/>
              </a:solidFill>
            </a:endParaRPr>
          </a:p>
        </p:txBody>
      </p:sp>
      <p:sp>
        <p:nvSpPr>
          <p:cNvPr id="41" name="AutoShape 13">
            <a:extLst>
              <a:ext uri="{FF2B5EF4-FFF2-40B4-BE49-F238E27FC236}">
                <a16:creationId xmlns:a16="http://schemas.microsoft.com/office/drawing/2014/main" id="{3ECDCE08-75AA-41DE-8B3E-44DD3E0FD25C}"/>
              </a:ext>
            </a:extLst>
          </p:cNvPr>
          <p:cNvSpPr>
            <a:spLocks noChangeArrowheads="1"/>
          </p:cNvSpPr>
          <p:nvPr/>
        </p:nvSpPr>
        <p:spPr bwMode="auto">
          <a:xfrm>
            <a:off x="6065593" y="101087"/>
            <a:ext cx="3035815" cy="491007"/>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b="1" kern="0" dirty="0">
                <a:solidFill>
                  <a:srgbClr val="FFFF00"/>
                </a:solidFill>
                <a:latin typeface="微软雅黑" panose="020B0503020204020204" pitchFamily="34" charset="-122"/>
                <a:ea typeface="微软雅黑" panose="020B0503020204020204" pitchFamily="34" charset="-122"/>
              </a:rPr>
              <a:t>创建不同</a:t>
            </a:r>
            <a:r>
              <a:rPr lang="en-US" altLang="zh-CN" sz="1600" b="1" kern="0" dirty="0">
                <a:solidFill>
                  <a:srgbClr val="FFFF00"/>
                </a:solidFill>
                <a:latin typeface="微软雅黑" panose="020B0503020204020204" pitchFamily="34" charset="-122"/>
                <a:ea typeface="微软雅黑" panose="020B0503020204020204" pitchFamily="34" charset="-122"/>
              </a:rPr>
              <a:t>MATLAB</a:t>
            </a:r>
            <a:endParaRPr lang="zh-CN" altLang="en-US" sz="1600" b="1" kern="0" dirty="0">
              <a:solidFill>
                <a:srgbClr val="FFFF00"/>
              </a:solidFill>
              <a:latin typeface="微软雅黑" panose="020B0503020204020204" pitchFamily="34" charset="-122"/>
              <a:ea typeface="微软雅黑" panose="020B0503020204020204" pitchFamily="34" charset="-122"/>
            </a:endParaRPr>
          </a:p>
        </p:txBody>
      </p:sp>
      <p:sp>
        <p:nvSpPr>
          <p:cNvPr id="2" name="波形 1">
            <a:extLst>
              <a:ext uri="{FF2B5EF4-FFF2-40B4-BE49-F238E27FC236}">
                <a16:creationId xmlns:a16="http://schemas.microsoft.com/office/drawing/2014/main" id="{ABC7B067-7B29-78A4-39DF-71445ED12BF7}"/>
              </a:ext>
            </a:extLst>
          </p:cNvPr>
          <p:cNvSpPr/>
          <p:nvPr/>
        </p:nvSpPr>
        <p:spPr>
          <a:xfrm>
            <a:off x="220243" y="1575707"/>
            <a:ext cx="687558" cy="326359"/>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例143</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4638595D-4ED8-F8CD-3AC7-6591A3BC42B4}"/>
              </a:ext>
            </a:extLst>
          </p:cNvPr>
          <p:cNvSpPr txBox="1"/>
          <p:nvPr/>
        </p:nvSpPr>
        <p:spPr>
          <a:xfrm>
            <a:off x="911557" y="1521273"/>
            <a:ext cx="1884744" cy="369332"/>
          </a:xfrm>
          <a:prstGeom prst="rect">
            <a:avLst/>
          </a:prstGeom>
          <a:noFill/>
        </p:spPr>
        <p:txBody>
          <a:bodyPr wrap="square">
            <a:spAutoFit/>
          </a:bodyPr>
          <a:lstStyle/>
          <a:p>
            <a:r>
              <a:rPr lang="zh-CN" altLang="en-US" sz="1800" b="1" i="0" dirty="0">
                <a:solidFill>
                  <a:srgbClr val="0070C0"/>
                </a:solidFill>
                <a:effectLst/>
                <a:latin typeface="微软雅黑" panose="020B0503020204020204" pitchFamily="34" charset="-122"/>
                <a:ea typeface="微软雅黑" panose="020B0503020204020204" pitchFamily="34" charset="-122"/>
              </a:rPr>
              <a:t>学生信息结构体</a:t>
            </a:r>
            <a:endParaRPr lang="zh-CN" altLang="en-US" dirty="0"/>
          </a:p>
        </p:txBody>
      </p:sp>
      <p:sp>
        <p:nvSpPr>
          <p:cNvPr id="45" name="矩形 44">
            <a:extLst>
              <a:ext uri="{FF2B5EF4-FFF2-40B4-BE49-F238E27FC236}">
                <a16:creationId xmlns:a16="http://schemas.microsoft.com/office/drawing/2014/main" id="{7158EE45-7F17-4181-A3F1-19C77D078F5C}"/>
              </a:ext>
            </a:extLst>
          </p:cNvPr>
          <p:cNvSpPr/>
          <p:nvPr/>
        </p:nvSpPr>
        <p:spPr>
          <a:xfrm>
            <a:off x="5784814" y="3890540"/>
            <a:ext cx="2127837" cy="369332"/>
          </a:xfrm>
          <a:prstGeom prst="rect">
            <a:avLst/>
          </a:prstGeom>
          <a:solidFill>
            <a:srgbClr val="FF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b="1" dirty="0">
                <a:solidFill>
                  <a:schemeClr val="bg1"/>
                </a:solidFill>
                <a:latin typeface="Times New Roman" panose="02020603050405020304" pitchFamily="18" charset="0"/>
                <a:cs typeface="Times New Roman" panose="02020603050405020304" pitchFamily="18" charset="0"/>
              </a:rPr>
              <a:t>结构数组名</a:t>
            </a:r>
            <a:r>
              <a:rPr lang="en-US" altLang="zh-CN" b="1" dirty="0">
                <a:solidFill>
                  <a:schemeClr val="bg1"/>
                </a:solidFill>
                <a:latin typeface="Times New Roman" panose="02020603050405020304" pitchFamily="18" charset="0"/>
                <a:cs typeface="Times New Roman" panose="02020603050405020304" pitchFamily="18" charset="0"/>
              </a:rPr>
              <a:t>.</a:t>
            </a:r>
            <a:r>
              <a:rPr lang="zh-CN" altLang="en-US" b="1" dirty="0">
                <a:solidFill>
                  <a:schemeClr val="bg1"/>
                </a:solidFill>
                <a:latin typeface="Times New Roman" panose="02020603050405020304" pitchFamily="18" charset="0"/>
                <a:cs typeface="Times New Roman" panose="02020603050405020304" pitchFamily="18" charset="0"/>
              </a:rPr>
              <a:t>字段名</a:t>
            </a:r>
          </a:p>
        </p:txBody>
      </p:sp>
      <p:sp>
        <p:nvSpPr>
          <p:cNvPr id="46" name="矩形 45">
            <a:extLst>
              <a:ext uri="{FF2B5EF4-FFF2-40B4-BE49-F238E27FC236}">
                <a16:creationId xmlns:a16="http://schemas.microsoft.com/office/drawing/2014/main" id="{D86724CE-77B8-40B2-8CAE-2A6726C9AF58}"/>
              </a:ext>
            </a:extLst>
          </p:cNvPr>
          <p:cNvSpPr/>
          <p:nvPr/>
        </p:nvSpPr>
        <p:spPr>
          <a:xfrm>
            <a:off x="3923928" y="3932153"/>
            <a:ext cx="2189244" cy="375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457200" indent="-457200" eaLnBrk="0" hangingPunct="0">
              <a:lnSpc>
                <a:spcPct val="110000"/>
              </a:lnSpc>
              <a:buFont typeface="+mj-ea"/>
              <a:buAutoNum type="circleNumDbPlain" startAt="3"/>
            </a:pPr>
            <a:r>
              <a:rPr lang="zh-CN" altLang="en-US" b="1" kern="0" dirty="0">
                <a:solidFill>
                  <a:srgbClr val="00B0F0"/>
                </a:solidFill>
                <a:latin typeface="微软雅黑" panose="020B0503020204020204" pitchFamily="34" charset="-122"/>
                <a:ea typeface="微软雅黑" panose="020B0503020204020204" pitchFamily="34" charset="-122"/>
              </a:rPr>
              <a:t>访问和修改</a:t>
            </a:r>
          </a:p>
        </p:txBody>
      </p:sp>
      <p:sp>
        <p:nvSpPr>
          <p:cNvPr id="47" name="文本框 46">
            <a:extLst>
              <a:ext uri="{FF2B5EF4-FFF2-40B4-BE49-F238E27FC236}">
                <a16:creationId xmlns:a16="http://schemas.microsoft.com/office/drawing/2014/main" id="{10F984B4-D7C7-412C-9E00-82972950077B}"/>
              </a:ext>
            </a:extLst>
          </p:cNvPr>
          <p:cNvSpPr txBox="1"/>
          <p:nvPr/>
        </p:nvSpPr>
        <p:spPr>
          <a:xfrm>
            <a:off x="4303133" y="4270708"/>
            <a:ext cx="4689624" cy="646331"/>
          </a:xfrm>
          <a:prstGeom prst="rect">
            <a:avLst/>
          </a:prstGeom>
          <a:noFill/>
        </p:spPr>
        <p:txBody>
          <a:bodyPr wrap="square">
            <a:spAutoFit/>
          </a:bodyPr>
          <a:lstStyle/>
          <a:p>
            <a:r>
              <a:rPr lang="en-US" altLang="zh-CN" sz="1800" b="1" kern="0" dirty="0">
                <a:solidFill>
                  <a:srgbClr val="0070C0"/>
                </a:solidFill>
              </a:rPr>
              <a:t>student0.name  </a:t>
            </a:r>
            <a:r>
              <a:rPr lang="en-US" altLang="zh-CN" sz="1800" b="1" kern="0" dirty="0"/>
              <a:t>#</a:t>
            </a:r>
            <a:r>
              <a:rPr lang="zh-CN" altLang="en-US" sz="1800" b="1" kern="0" dirty="0"/>
              <a:t>结果</a:t>
            </a:r>
            <a:r>
              <a:rPr lang="zh-CN" altLang="en-US" b="1" dirty="0">
                <a:solidFill>
                  <a:srgbClr val="00B0F0"/>
                </a:solidFill>
                <a:latin typeface="微软雅黑" panose="020B0503020204020204" pitchFamily="34" charset="-122"/>
                <a:ea typeface="微软雅黑" panose="020B0503020204020204" pitchFamily="34" charset="-122"/>
              </a:rPr>
              <a:t>‘张三’</a:t>
            </a:r>
          </a:p>
          <a:p>
            <a:endParaRPr lang="zh-CN" altLang="en-US" b="1" dirty="0"/>
          </a:p>
        </p:txBody>
      </p:sp>
    </p:spTree>
    <p:extLst>
      <p:ext uri="{BB962C8B-B14F-4D97-AF65-F5344CB8AC3E}">
        <p14:creationId xmlns:p14="http://schemas.microsoft.com/office/powerpoint/2010/main" val="91774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7">
                                            <p:txEl>
                                              <p:pRg st="0" end="0"/>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P spid="21" grpId="0"/>
      <p:bldP spid="22" grpId="0"/>
      <p:bldP spid="23" grpId="0"/>
      <p:bldP spid="24" grpId="0"/>
      <p:bldP spid="25" grpId="0"/>
      <p:bldP spid="26" grpId="0"/>
      <p:bldP spid="38" grpId="0"/>
      <p:bldP spid="39" grpId="0"/>
      <p:bldP spid="43" grpId="0" animBg="1"/>
      <p:bldP spid="44" grpId="0" animBg="1"/>
      <p:bldP spid="41" grpId="0" animBg="1"/>
      <p:bldP spid="45" grpId="0" animBg="1"/>
      <p:bldP spid="46" grpId="0"/>
      <p:bldP spid="4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B523149-90B8-479D-BF5F-17929718A173}"/>
              </a:ext>
            </a:extLst>
          </p:cNvPr>
          <p:cNvSpPr/>
          <p:nvPr/>
        </p:nvSpPr>
        <p:spPr>
          <a:xfrm>
            <a:off x="530619" y="1678641"/>
            <a:ext cx="3277198" cy="1475147"/>
          </a:xfrm>
          <a:prstGeom prst="rect">
            <a:avLst/>
          </a:prstGeom>
          <a:solidFill>
            <a:schemeClr val="bg1"/>
          </a:solidFill>
          <a:ln>
            <a:solidFill>
              <a:schemeClr val="bg1">
                <a:lumMod val="50000"/>
              </a:schemeClr>
            </a:solidFill>
          </a:ln>
        </p:spPr>
        <p:txBody>
          <a:bodyPr wrap="square">
            <a:spAutoFit/>
          </a:bodyPr>
          <a:lstStyle/>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struct Name  #</a:t>
            </a:r>
            <a:r>
              <a:rPr lang="zh-CN" altLang="en-US" sz="1400" b="1" dirty="0">
                <a:solidFill>
                  <a:srgbClr val="00B0F0"/>
                </a:solidFill>
                <a:latin typeface="微软雅黑" panose="020B0503020204020204" pitchFamily="34" charset="-122"/>
                <a:ea typeface="微软雅黑" panose="020B0503020204020204" pitchFamily="34" charset="-122"/>
              </a:rPr>
              <a:t>不可变结构名字</a:t>
            </a:r>
            <a:endParaRPr lang="en-US" altLang="zh-CN" sz="1400" b="1" dirty="0">
              <a:solidFill>
                <a:srgbClr val="00B0F0"/>
              </a:solidFill>
              <a:latin typeface="微软雅黑" panose="020B0503020204020204" pitchFamily="34" charset="-122"/>
              <a:ea typeface="微软雅黑" panose="020B0503020204020204" pitchFamily="34" charset="-122"/>
            </a:endParaRPr>
          </a:p>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    field1::Type   #</a:t>
            </a:r>
            <a:r>
              <a:rPr lang="zh-CN" altLang="en-US" sz="1400" b="1" dirty="0">
                <a:solidFill>
                  <a:srgbClr val="00B0F0"/>
                </a:solidFill>
                <a:latin typeface="微软雅黑" panose="020B0503020204020204" pitchFamily="34" charset="-122"/>
                <a:ea typeface="微软雅黑" panose="020B0503020204020204" pitchFamily="34" charset="-122"/>
              </a:rPr>
              <a:t>定义类型的字段</a:t>
            </a:r>
            <a:endParaRPr lang="en-US" altLang="zh-CN" sz="1400" b="1" dirty="0">
              <a:solidFill>
                <a:srgbClr val="00B0F0"/>
              </a:solidFill>
              <a:latin typeface="微软雅黑" panose="020B0503020204020204" pitchFamily="34" charset="-122"/>
              <a:ea typeface="微软雅黑" panose="020B0503020204020204" pitchFamily="34" charset="-122"/>
            </a:endParaRPr>
          </a:p>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    field2::Type</a:t>
            </a:r>
          </a:p>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    ...</a:t>
            </a:r>
          </a:p>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end</a:t>
            </a:r>
            <a:endParaRPr lang="zh-CN" altLang="en-US" sz="1400" b="1" dirty="0">
              <a:solidFill>
                <a:srgbClr val="00B0F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A30BEC9-E3C9-4BCD-A3E4-C6497EC32B36}"/>
              </a:ext>
            </a:extLst>
          </p:cNvPr>
          <p:cNvSpPr/>
          <p:nvPr/>
        </p:nvSpPr>
        <p:spPr>
          <a:xfrm>
            <a:off x="823150" y="3778772"/>
            <a:ext cx="2928265"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400" b="1" dirty="0">
                <a:solidFill>
                  <a:schemeClr val="bg1"/>
                </a:solidFill>
                <a:latin typeface="Times New Roman" panose="02020603050405020304" pitchFamily="18" charset="0"/>
                <a:cs typeface="Times New Roman" panose="02020603050405020304" pitchFamily="18" charset="0"/>
              </a:rPr>
              <a:t>结构数组</a:t>
            </a:r>
            <a:r>
              <a:rPr lang="en-US" altLang="zh-CN" sz="1400" b="1" dirty="0">
                <a:solidFill>
                  <a:schemeClr val="bg1"/>
                </a:solidFill>
                <a:latin typeface="Times New Roman" panose="02020603050405020304" pitchFamily="18" charset="0"/>
                <a:cs typeface="Times New Roman" panose="02020603050405020304" pitchFamily="18" charset="0"/>
              </a:rPr>
              <a:t>=Name(value1,value2,…)</a:t>
            </a:r>
            <a:endParaRPr lang="zh-CN" altLang="en-US" sz="1400" b="1" dirty="0">
              <a:solidFill>
                <a:schemeClr val="bg1"/>
              </a:solidFill>
              <a:latin typeface="Times New Roman" panose="02020603050405020304" pitchFamily="18" charset="0"/>
              <a:cs typeface="Times New Roman" panose="02020603050405020304" pitchFamily="18" charset="0"/>
            </a:endParaRPr>
          </a:p>
        </p:txBody>
      </p:sp>
      <p:sp>
        <p:nvSpPr>
          <p:cNvPr id="7" name="内容占位符 2">
            <a:extLst>
              <a:ext uri="{FF2B5EF4-FFF2-40B4-BE49-F238E27FC236}">
                <a16:creationId xmlns:a16="http://schemas.microsoft.com/office/drawing/2014/main" id="{3D32AFCE-23BD-41E9-8A16-6D0098680273}"/>
              </a:ext>
            </a:extLst>
          </p:cNvPr>
          <p:cNvSpPr txBox="1">
            <a:spLocks/>
          </p:cNvSpPr>
          <p:nvPr/>
        </p:nvSpPr>
        <p:spPr bwMode="auto">
          <a:xfrm>
            <a:off x="293141" y="1063473"/>
            <a:ext cx="3699914" cy="6151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a:pPr>
            <a:r>
              <a:rPr lang="en-US" altLang="zh-CN" sz="1600" b="1" kern="0" dirty="0">
                <a:solidFill>
                  <a:srgbClr val="0070C0"/>
                </a:solidFill>
                <a:latin typeface="微软雅黑" panose="020B0503020204020204" pitchFamily="34" charset="-122"/>
                <a:ea typeface="微软雅黑" panose="020B0503020204020204" pitchFamily="34" charset="-122"/>
              </a:rPr>
              <a:t>struct</a:t>
            </a:r>
            <a:r>
              <a:rPr lang="zh-CN" altLang="en-US" sz="1600" b="1" kern="0" dirty="0">
                <a:solidFill>
                  <a:srgbClr val="0070C0"/>
                </a:solidFill>
                <a:latin typeface="微软雅黑" panose="020B0503020204020204" pitchFamily="34" charset="-122"/>
                <a:ea typeface="微软雅黑" panose="020B0503020204020204" pitchFamily="34" charset="-122"/>
              </a:rPr>
              <a:t>定义字段名</a:t>
            </a:r>
            <a:r>
              <a:rPr lang="zh-CN" altLang="zh-CN" sz="1600" b="1" kern="0" dirty="0">
                <a:solidFill>
                  <a:srgbClr val="0070C0"/>
                </a:solidFill>
                <a:latin typeface="微软雅黑" panose="020B0503020204020204" pitchFamily="34" charset="-122"/>
                <a:ea typeface="微软雅黑" panose="020B0503020204020204" pitchFamily="34" charset="-122"/>
              </a:rPr>
              <a:t>field</a:t>
            </a:r>
            <a:r>
              <a:rPr lang="en-US" altLang="zh-CN" sz="1600" b="1" kern="0" dirty="0">
                <a:solidFill>
                  <a:srgbClr val="0070C0"/>
                </a:solidFill>
                <a:latin typeface="微软雅黑" panose="020B0503020204020204" pitchFamily="34" charset="-122"/>
                <a:ea typeface="微软雅黑" panose="020B0503020204020204" pitchFamily="34" charset="-122"/>
              </a:rPr>
              <a:t>,</a:t>
            </a:r>
          </a:p>
          <a:p>
            <a:pPr marL="0" indent="0">
              <a:buNone/>
            </a:pPr>
            <a:r>
              <a:rPr lang="zh-CN" altLang="en-US" sz="1600" b="1" kern="0" dirty="0">
                <a:solidFill>
                  <a:srgbClr val="0070C0"/>
                </a:solidFill>
                <a:latin typeface="微软雅黑" panose="020B0503020204020204" pitchFamily="34" charset="-122"/>
                <a:ea typeface="微软雅黑" panose="020B0503020204020204" pitchFamily="34" charset="-122"/>
              </a:rPr>
              <a:t>       建立结构体</a:t>
            </a:r>
            <a:r>
              <a:rPr lang="en-US" altLang="zh-CN" sz="1600" b="1" kern="0" dirty="0">
                <a:solidFill>
                  <a:srgbClr val="0070C0"/>
                </a:solidFill>
                <a:latin typeface="微软雅黑" panose="020B0503020204020204" pitchFamily="34" charset="-122"/>
                <a:ea typeface="微软雅黑" panose="020B0503020204020204" pitchFamily="34" charset="-122"/>
              </a:rPr>
              <a:t>Name</a:t>
            </a:r>
          </a:p>
        </p:txBody>
      </p:sp>
      <p:sp>
        <p:nvSpPr>
          <p:cNvPr id="8" name="内容占位符 2">
            <a:extLst>
              <a:ext uri="{FF2B5EF4-FFF2-40B4-BE49-F238E27FC236}">
                <a16:creationId xmlns:a16="http://schemas.microsoft.com/office/drawing/2014/main" id="{87DAA579-52F6-4CC1-8A8C-CEBD307F0369}"/>
              </a:ext>
            </a:extLst>
          </p:cNvPr>
          <p:cNvSpPr txBox="1">
            <a:spLocks/>
          </p:cNvSpPr>
          <p:nvPr/>
        </p:nvSpPr>
        <p:spPr bwMode="auto">
          <a:xfrm>
            <a:off x="251520" y="3121639"/>
            <a:ext cx="3600400" cy="6151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startAt="2"/>
            </a:pPr>
            <a:r>
              <a:rPr lang="zh-CN" altLang="en-US" sz="1600" b="1" kern="0" dirty="0">
                <a:solidFill>
                  <a:srgbClr val="0070C0"/>
                </a:solidFill>
                <a:latin typeface="微软雅黑" panose="020B0503020204020204" pitchFamily="34" charset="-122"/>
                <a:ea typeface="微软雅黑" panose="020B0503020204020204" pitchFamily="34" charset="-122"/>
              </a:rPr>
              <a:t>对结构体</a:t>
            </a:r>
            <a:r>
              <a:rPr lang="en-US" altLang="zh-CN" sz="1600" b="1" kern="0" dirty="0">
                <a:solidFill>
                  <a:srgbClr val="0070C0"/>
                </a:solidFill>
                <a:latin typeface="微软雅黑" panose="020B0503020204020204" pitchFamily="34" charset="-122"/>
                <a:ea typeface="微软雅黑" panose="020B0503020204020204" pitchFamily="34" charset="-122"/>
              </a:rPr>
              <a:t>Name</a:t>
            </a:r>
            <a:r>
              <a:rPr lang="zh-CN" altLang="en-US" sz="1600" b="1" kern="0" dirty="0">
                <a:solidFill>
                  <a:srgbClr val="0070C0"/>
                </a:solidFill>
                <a:latin typeface="微软雅黑" panose="020B0503020204020204" pitchFamily="34" charset="-122"/>
                <a:ea typeface="微软雅黑" panose="020B0503020204020204" pitchFamily="34" charset="-122"/>
              </a:rPr>
              <a:t>字段赋值</a:t>
            </a:r>
            <a:r>
              <a:rPr lang="en-US" altLang="zh-CN" sz="1600" b="1" kern="0" dirty="0">
                <a:solidFill>
                  <a:srgbClr val="0070C0"/>
                </a:solidFill>
                <a:latin typeface="微软雅黑" panose="020B0503020204020204" pitchFamily="34" charset="-122"/>
                <a:ea typeface="微软雅黑" panose="020B0503020204020204" pitchFamily="34" charset="-122"/>
              </a:rPr>
              <a:t>value, </a:t>
            </a:r>
          </a:p>
          <a:p>
            <a:pPr marL="0" indent="0">
              <a:buNone/>
            </a:pPr>
            <a:r>
              <a:rPr lang="en-US" altLang="zh-CN" sz="1600" b="1" kern="0" dirty="0">
                <a:solidFill>
                  <a:srgbClr val="0070C0"/>
                </a:solidFill>
                <a:latin typeface="微软雅黑" panose="020B0503020204020204" pitchFamily="34" charset="-122"/>
                <a:ea typeface="微软雅黑" panose="020B0503020204020204" pitchFamily="34" charset="-122"/>
              </a:rPr>
              <a:t>       </a:t>
            </a:r>
            <a:r>
              <a:rPr lang="zh-CN" altLang="en-US" sz="1600" b="1" kern="0" dirty="0">
                <a:solidFill>
                  <a:srgbClr val="0070C0"/>
                </a:solidFill>
                <a:latin typeface="微软雅黑" panose="020B0503020204020204" pitchFamily="34" charset="-122"/>
                <a:ea typeface="微软雅黑" panose="020B0503020204020204" pitchFamily="34" charset="-122"/>
              </a:rPr>
              <a:t>创建结构体数组实体</a:t>
            </a:r>
            <a:r>
              <a:rPr lang="en-US" altLang="zh-CN" sz="1600" b="1" kern="0" dirty="0">
                <a:solidFill>
                  <a:srgbClr val="0070C0"/>
                </a:solidFill>
                <a:latin typeface="微软雅黑" panose="020B0503020204020204" pitchFamily="34" charset="-122"/>
                <a:ea typeface="微软雅黑" panose="020B0503020204020204" pitchFamily="34" charset="-122"/>
              </a:rPr>
              <a:t>ss </a:t>
            </a:r>
            <a:endParaRPr lang="zh-CN" altLang="en-US" sz="1600" b="1" kern="0" dirty="0">
              <a:solidFill>
                <a:srgbClr val="0070C0"/>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41C079A0-0FCB-4FE7-A4B4-551CD6C0595B}"/>
              </a:ext>
            </a:extLst>
          </p:cNvPr>
          <p:cNvSpPr/>
          <p:nvPr/>
        </p:nvSpPr>
        <p:spPr>
          <a:xfrm>
            <a:off x="2105040" y="4247380"/>
            <a:ext cx="1746880" cy="306139"/>
          </a:xfrm>
          <a:prstGeom prst="rect">
            <a:avLst/>
          </a:prstGeom>
          <a:solidFill>
            <a:srgbClr val="FF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400" b="1" dirty="0">
                <a:solidFill>
                  <a:schemeClr val="bg1"/>
                </a:solidFill>
                <a:latin typeface="Times New Roman" panose="02020603050405020304" pitchFamily="18" charset="0"/>
                <a:cs typeface="Times New Roman" panose="02020603050405020304" pitchFamily="18" charset="0"/>
              </a:rPr>
              <a:t>结构数组名</a:t>
            </a:r>
            <a:r>
              <a:rPr lang="en-US" altLang="zh-CN" sz="1400" b="1" dirty="0">
                <a:solidFill>
                  <a:schemeClr val="bg1"/>
                </a:solidFill>
                <a:latin typeface="Times New Roman" panose="02020603050405020304" pitchFamily="18" charset="0"/>
                <a:cs typeface="Times New Roman" panose="02020603050405020304" pitchFamily="18" charset="0"/>
              </a:rPr>
              <a:t>.</a:t>
            </a:r>
            <a:r>
              <a:rPr lang="zh-CN" altLang="en-US" sz="1400" b="1" dirty="0">
                <a:solidFill>
                  <a:schemeClr val="bg1"/>
                </a:solidFill>
                <a:latin typeface="Times New Roman" panose="02020603050405020304" pitchFamily="18" charset="0"/>
                <a:cs typeface="Times New Roman" panose="02020603050405020304" pitchFamily="18" charset="0"/>
              </a:rPr>
              <a:t>字段名</a:t>
            </a:r>
          </a:p>
        </p:txBody>
      </p:sp>
      <p:sp>
        <p:nvSpPr>
          <p:cNvPr id="11" name="矩形 10">
            <a:extLst>
              <a:ext uri="{FF2B5EF4-FFF2-40B4-BE49-F238E27FC236}">
                <a16:creationId xmlns:a16="http://schemas.microsoft.com/office/drawing/2014/main" id="{11190F9F-725D-4ADE-AE28-066333853F62}"/>
              </a:ext>
            </a:extLst>
          </p:cNvPr>
          <p:cNvSpPr/>
          <p:nvPr/>
        </p:nvSpPr>
        <p:spPr>
          <a:xfrm>
            <a:off x="251520" y="4214965"/>
            <a:ext cx="2189244" cy="375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457200" indent="-457200" eaLnBrk="0" hangingPunct="0">
              <a:lnSpc>
                <a:spcPct val="110000"/>
              </a:lnSpc>
              <a:buFont typeface="+mj-ea"/>
              <a:buAutoNum type="circleNumDbPlain" startAt="3"/>
            </a:pPr>
            <a:r>
              <a:rPr lang="zh-CN" altLang="en-US" b="1" kern="0" dirty="0">
                <a:solidFill>
                  <a:srgbClr val="0070C0"/>
                </a:solidFill>
                <a:latin typeface="微软雅黑" panose="020B0503020204020204" pitchFamily="34" charset="-122"/>
                <a:ea typeface="微软雅黑" panose="020B0503020204020204" pitchFamily="34" charset="-122"/>
              </a:rPr>
              <a:t>访问和修改</a:t>
            </a:r>
          </a:p>
        </p:txBody>
      </p:sp>
      <p:sp>
        <p:nvSpPr>
          <p:cNvPr id="14" name="标题 1">
            <a:extLst>
              <a:ext uri="{FF2B5EF4-FFF2-40B4-BE49-F238E27FC236}">
                <a16:creationId xmlns:a16="http://schemas.microsoft.com/office/drawing/2014/main" id="{D11AC738-FB8C-4216-8349-8F05E4DB10A6}"/>
              </a:ext>
            </a:extLst>
          </p:cNvPr>
          <p:cNvSpPr txBox="1">
            <a:spLocks/>
          </p:cNvSpPr>
          <p:nvPr/>
        </p:nvSpPr>
        <p:spPr bwMode="auto">
          <a:xfrm>
            <a:off x="823150" y="283479"/>
            <a:ext cx="7624390" cy="30137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kern="0" dirty="0"/>
              <a:t>§1.4.3  </a:t>
            </a:r>
            <a:r>
              <a:rPr lang="zh-CN" altLang="en-US" sz="2800" kern="0" dirty="0"/>
              <a:t>结构体</a:t>
            </a:r>
            <a:r>
              <a:rPr lang="en-US" altLang="zh-CN" sz="2800" kern="0" dirty="0">
                <a:solidFill>
                  <a:srgbClr val="FF0000"/>
                </a:solidFill>
              </a:rPr>
              <a:t>——struct</a:t>
            </a:r>
            <a:r>
              <a:rPr lang="zh-CN" altLang="en-US" sz="2800" kern="0" dirty="0">
                <a:solidFill>
                  <a:srgbClr val="FF0000"/>
                </a:solidFill>
              </a:rPr>
              <a:t>定于不可变</a:t>
            </a:r>
            <a:r>
              <a:rPr lang="zh-CN" altLang="en-US" sz="2800" dirty="0">
                <a:solidFill>
                  <a:srgbClr val="FF0000"/>
                </a:solidFill>
              </a:rPr>
              <a:t>结构体数组</a:t>
            </a:r>
            <a:endParaRPr lang="zh-CN" altLang="en-US" sz="2800" kern="0" dirty="0">
              <a:solidFill>
                <a:srgbClr val="FF0000"/>
              </a:solidFill>
            </a:endParaRPr>
          </a:p>
        </p:txBody>
      </p:sp>
      <p:sp>
        <p:nvSpPr>
          <p:cNvPr id="12" name="文本框 11">
            <a:extLst>
              <a:ext uri="{FF2B5EF4-FFF2-40B4-BE49-F238E27FC236}">
                <a16:creationId xmlns:a16="http://schemas.microsoft.com/office/drawing/2014/main" id="{CEA6E2E0-5D44-41D5-9CFE-0487B947F26D}"/>
              </a:ext>
            </a:extLst>
          </p:cNvPr>
          <p:cNvSpPr txBox="1"/>
          <p:nvPr/>
        </p:nvSpPr>
        <p:spPr>
          <a:xfrm>
            <a:off x="3993055" y="1093626"/>
            <a:ext cx="5032425" cy="3524939"/>
          </a:xfrm>
          <a:prstGeom prst="rect">
            <a:avLst/>
          </a:prstGeom>
          <a:solidFill>
            <a:schemeClr val="bg1"/>
          </a:solidFill>
        </p:spPr>
        <p:txBody>
          <a:bodyPr wrap="square">
            <a:spAutoFit/>
          </a:bodyPr>
          <a:lstStyle/>
          <a:p>
            <a:pPr>
              <a:lnSpc>
                <a:spcPts val="1800"/>
              </a:lnSpc>
            </a:pPr>
            <a:r>
              <a:rPr lang="en-US" altLang="zh-CN" sz="1500" b="0" dirty="0">
                <a:solidFill>
                  <a:srgbClr val="002060"/>
                </a:solidFill>
                <a:effectLst/>
                <a:latin typeface="Consolas" panose="020B0609020204030204" pitchFamily="49" charset="0"/>
              </a:rPr>
              <a:t>#</a:t>
            </a:r>
            <a:r>
              <a:rPr lang="zh-CN" altLang="en-US" sz="1500" b="0" dirty="0">
                <a:solidFill>
                  <a:srgbClr val="002060"/>
                </a:solidFill>
                <a:effectLst/>
                <a:latin typeface="Consolas" panose="020B0609020204030204" pitchFamily="49" charset="0"/>
              </a:rPr>
              <a:t>创建结构体</a:t>
            </a:r>
            <a:r>
              <a:rPr lang="en-US" altLang="zh-CN" sz="1500" dirty="0">
                <a:solidFill>
                  <a:schemeClr val="bg1"/>
                </a:solidFill>
                <a:highlight>
                  <a:srgbClr val="FF0000"/>
                </a:highlight>
                <a:latin typeface="Consolas" panose="020B0609020204030204" pitchFamily="49" charset="0"/>
              </a:rPr>
              <a:t>student0</a:t>
            </a:r>
          </a:p>
          <a:p>
            <a:pPr>
              <a:lnSpc>
                <a:spcPts val="1800"/>
              </a:lnSpc>
            </a:pPr>
            <a:r>
              <a:rPr lang="en-US" altLang="zh-CN" sz="1500" b="0" dirty="0">
                <a:solidFill>
                  <a:srgbClr val="002060"/>
                </a:solidFill>
                <a:effectLst/>
                <a:latin typeface="Consolas" panose="020B0609020204030204" pitchFamily="49" charset="0"/>
              </a:rPr>
              <a:t>struct student0</a:t>
            </a:r>
          </a:p>
          <a:p>
            <a:pPr>
              <a:lnSpc>
                <a:spcPts val="1800"/>
              </a:lnSpc>
            </a:pPr>
            <a:r>
              <a:rPr lang="en-US" altLang="zh-CN" sz="1500" b="0" dirty="0">
                <a:solidFill>
                  <a:srgbClr val="002060"/>
                </a:solidFill>
                <a:effectLst/>
                <a:latin typeface="Consolas" panose="020B0609020204030204" pitchFamily="49" charset="0"/>
              </a:rPr>
              <a:t>       number</a:t>
            </a:r>
          </a:p>
          <a:p>
            <a:pPr>
              <a:lnSpc>
                <a:spcPts val="1800"/>
              </a:lnSpc>
            </a:pPr>
            <a:r>
              <a:rPr lang="en-US" altLang="zh-CN" sz="1500" b="0" dirty="0">
                <a:solidFill>
                  <a:srgbClr val="002060"/>
                </a:solidFill>
                <a:effectLst/>
                <a:latin typeface="Consolas" panose="020B0609020204030204" pitchFamily="49" charset="0"/>
              </a:rPr>
              <a:t>       name</a:t>
            </a:r>
          </a:p>
          <a:p>
            <a:pPr>
              <a:lnSpc>
                <a:spcPts val="1800"/>
              </a:lnSpc>
            </a:pPr>
            <a:r>
              <a:rPr lang="en-US" altLang="zh-CN" sz="1500" b="0" dirty="0">
                <a:solidFill>
                  <a:srgbClr val="002060"/>
                </a:solidFill>
                <a:effectLst/>
                <a:latin typeface="Consolas" panose="020B0609020204030204" pitchFamily="49" charset="0"/>
              </a:rPr>
              <a:t>       subject</a:t>
            </a:r>
          </a:p>
          <a:p>
            <a:pPr>
              <a:lnSpc>
                <a:spcPts val="1800"/>
              </a:lnSpc>
            </a:pPr>
            <a:r>
              <a:rPr lang="en-US" altLang="zh-CN" sz="1500" b="0" dirty="0">
                <a:solidFill>
                  <a:srgbClr val="002060"/>
                </a:solidFill>
                <a:effectLst/>
                <a:latin typeface="Consolas" panose="020B0609020204030204" pitchFamily="49" charset="0"/>
              </a:rPr>
              <a:t>       </a:t>
            </a:r>
            <a:r>
              <a:rPr lang="en-US" altLang="zh-CN" sz="1500" b="0" dirty="0" err="1">
                <a:solidFill>
                  <a:srgbClr val="002060"/>
                </a:solidFill>
                <a:effectLst/>
                <a:latin typeface="Consolas" panose="020B0609020204030204" pitchFamily="49" charset="0"/>
              </a:rPr>
              <a:t>resul</a:t>
            </a:r>
            <a:endParaRPr lang="en-US" altLang="zh-CN" sz="1500" b="0" dirty="0">
              <a:solidFill>
                <a:srgbClr val="002060"/>
              </a:solidFill>
              <a:effectLst/>
              <a:latin typeface="Consolas" panose="020B0609020204030204" pitchFamily="49" charset="0"/>
            </a:endParaRPr>
          </a:p>
          <a:p>
            <a:pPr>
              <a:lnSpc>
                <a:spcPts val="1800"/>
              </a:lnSpc>
            </a:pPr>
            <a:r>
              <a:rPr lang="en-US" altLang="zh-CN" sz="1500" b="0" dirty="0">
                <a:solidFill>
                  <a:srgbClr val="002060"/>
                </a:solidFill>
                <a:effectLst/>
                <a:latin typeface="Consolas" panose="020B0609020204030204" pitchFamily="49" charset="0"/>
              </a:rPr>
              <a:t>end</a:t>
            </a:r>
          </a:p>
          <a:p>
            <a:pPr>
              <a:lnSpc>
                <a:spcPts val="2400"/>
              </a:lnSpc>
            </a:pPr>
            <a:r>
              <a:rPr lang="en-US" altLang="zh-CN" sz="1500" dirty="0">
                <a:solidFill>
                  <a:srgbClr val="002060"/>
                </a:solidFill>
                <a:latin typeface="Consolas" panose="020B0609020204030204" pitchFamily="49" charset="0"/>
              </a:rPr>
              <a:t>#</a:t>
            </a:r>
            <a:r>
              <a:rPr lang="zh-CN" altLang="en-US" sz="1500" dirty="0">
                <a:solidFill>
                  <a:srgbClr val="002060"/>
                </a:solidFill>
                <a:latin typeface="Consolas" panose="020B0609020204030204" pitchFamily="49" charset="0"/>
              </a:rPr>
              <a:t>字段赋值创建结构体数组</a:t>
            </a:r>
            <a:r>
              <a:rPr lang="en-US" altLang="zh-CN" sz="1500" dirty="0">
                <a:solidFill>
                  <a:srgbClr val="002060"/>
                </a:solidFill>
                <a:latin typeface="Consolas" panose="020B0609020204030204" pitchFamily="49" charset="0"/>
              </a:rPr>
              <a:t>ss0</a:t>
            </a:r>
          </a:p>
          <a:p>
            <a:pPr>
              <a:lnSpc>
                <a:spcPts val="2400"/>
              </a:lnSpc>
            </a:pPr>
            <a:r>
              <a:rPr lang="en-US" altLang="zh-CN" sz="1500" dirty="0">
                <a:solidFill>
                  <a:srgbClr val="000000"/>
                </a:solidFill>
                <a:latin typeface="Consolas" panose="020B0609020204030204" pitchFamily="49" charset="0"/>
              </a:rPr>
              <a:t>ss0=(</a:t>
            </a:r>
            <a:r>
              <a:rPr lang="en-US" altLang="zh-CN" sz="1500" dirty="0">
                <a:solidFill>
                  <a:srgbClr val="A31515"/>
                </a:solidFill>
                <a:latin typeface="Consolas" panose="020B0609020204030204" pitchFamily="49" charset="0"/>
              </a:rPr>
              <a:t>"2022223"</a:t>
            </a:r>
            <a:r>
              <a:rPr lang="en-US" altLang="zh-CN" sz="1500" dirty="0">
                <a:solidFill>
                  <a:srgbClr val="000000"/>
                </a:solidFill>
                <a:latin typeface="Consolas" panose="020B0609020204030204" pitchFamily="49" charset="0"/>
              </a:rPr>
              <a:t>,</a:t>
            </a:r>
            <a:r>
              <a:rPr lang="en-US" altLang="zh-CN" sz="1500" dirty="0">
                <a:solidFill>
                  <a:srgbClr val="A31515"/>
                </a:solidFill>
                <a:latin typeface="Consolas" panose="020B0609020204030204" pitchFamily="49" charset="0"/>
              </a:rPr>
              <a:t>"lili"</a:t>
            </a:r>
            <a:r>
              <a:rPr lang="en-US" altLang="zh-CN" sz="1500" dirty="0">
                <a:solidFill>
                  <a:srgbClr val="000000"/>
                </a:solidFill>
                <a:latin typeface="Consolas" panose="020B0609020204030204" pitchFamily="49" charset="0"/>
              </a:rPr>
              <a:t>,[</a:t>
            </a:r>
            <a:r>
              <a:rPr lang="en-US" altLang="zh-CN" sz="1500" dirty="0">
                <a:solidFill>
                  <a:srgbClr val="A31515"/>
                </a:solidFill>
                <a:latin typeface="Consolas" panose="020B0609020204030204" pitchFamily="49" charset="0"/>
              </a:rPr>
              <a:t>"</a:t>
            </a:r>
            <a:r>
              <a:rPr lang="zh-CN" altLang="en-US" sz="1500" dirty="0">
                <a:solidFill>
                  <a:srgbClr val="A31515"/>
                </a:solidFill>
                <a:latin typeface="Consolas" panose="020B0609020204030204" pitchFamily="49" charset="0"/>
              </a:rPr>
              <a:t>高数</a:t>
            </a:r>
            <a:r>
              <a:rPr lang="en-US" altLang="zh-CN" sz="1500" dirty="0">
                <a:solidFill>
                  <a:srgbClr val="A31515"/>
                </a:solidFill>
                <a:latin typeface="Consolas" panose="020B0609020204030204" pitchFamily="49" charset="0"/>
              </a:rPr>
              <a:t>"</a:t>
            </a:r>
            <a:r>
              <a:rPr lang="en-US" altLang="zh-CN" sz="1500" dirty="0">
                <a:solidFill>
                  <a:srgbClr val="000000"/>
                </a:solidFill>
                <a:latin typeface="Consolas" panose="020B0609020204030204" pitchFamily="49" charset="0"/>
              </a:rPr>
              <a:t>,</a:t>
            </a:r>
            <a:r>
              <a:rPr lang="en-US" altLang="zh-CN" sz="1500" dirty="0">
                <a:solidFill>
                  <a:srgbClr val="A31515"/>
                </a:solidFill>
                <a:latin typeface="Consolas" panose="020B0609020204030204" pitchFamily="49" charset="0"/>
              </a:rPr>
              <a:t>"</a:t>
            </a:r>
            <a:r>
              <a:rPr lang="zh-CN" altLang="en-US" sz="1500" dirty="0">
                <a:solidFill>
                  <a:srgbClr val="A31515"/>
                </a:solidFill>
                <a:latin typeface="Consolas" panose="020B0609020204030204" pitchFamily="49" charset="0"/>
              </a:rPr>
              <a:t>英语</a:t>
            </a:r>
            <a:r>
              <a:rPr lang="en-US" altLang="zh-CN" sz="1500" dirty="0">
                <a:solidFill>
                  <a:srgbClr val="A31515"/>
                </a:solidFill>
                <a:latin typeface="Consolas" panose="020B0609020204030204" pitchFamily="49" charset="0"/>
              </a:rPr>
              <a:t>"</a:t>
            </a:r>
            <a:r>
              <a:rPr lang="en-US" altLang="zh-CN" sz="1500" dirty="0">
                <a:solidFill>
                  <a:srgbClr val="000000"/>
                </a:solidFill>
                <a:latin typeface="Consolas" panose="020B0609020204030204" pitchFamily="49" charset="0"/>
              </a:rPr>
              <a:t>],[</a:t>
            </a:r>
            <a:r>
              <a:rPr lang="en-US" altLang="zh-CN" sz="1500" dirty="0">
                <a:solidFill>
                  <a:srgbClr val="098658"/>
                </a:solidFill>
                <a:latin typeface="Consolas" panose="020B0609020204030204" pitchFamily="49" charset="0"/>
              </a:rPr>
              <a:t>78</a:t>
            </a:r>
            <a:r>
              <a:rPr lang="en-US" altLang="zh-CN" sz="1500" dirty="0">
                <a:solidFill>
                  <a:srgbClr val="000000"/>
                </a:solidFill>
                <a:latin typeface="Consolas" panose="020B0609020204030204" pitchFamily="49" charset="0"/>
              </a:rPr>
              <a:t>,</a:t>
            </a:r>
            <a:r>
              <a:rPr lang="en-US" altLang="zh-CN" sz="1500" dirty="0">
                <a:solidFill>
                  <a:srgbClr val="098658"/>
                </a:solidFill>
                <a:latin typeface="Consolas" panose="020B0609020204030204" pitchFamily="49" charset="0"/>
              </a:rPr>
              <a:t>89</a:t>
            </a:r>
            <a:r>
              <a:rPr lang="en-US" altLang="zh-CN" sz="1500" dirty="0">
                <a:solidFill>
                  <a:srgbClr val="000000"/>
                </a:solidFill>
                <a:latin typeface="Consolas" panose="020B0609020204030204" pitchFamily="49" charset="0"/>
              </a:rPr>
              <a:t>])</a:t>
            </a:r>
            <a:endParaRPr lang="en-US" altLang="zh-CN" sz="1500" dirty="0">
              <a:solidFill>
                <a:schemeClr val="bg1"/>
              </a:solidFill>
              <a:latin typeface="Consolas" panose="020B0609020204030204" pitchFamily="49" charset="0"/>
            </a:endParaRPr>
          </a:p>
          <a:p>
            <a:pPr>
              <a:lnSpc>
                <a:spcPts val="2400"/>
              </a:lnSpc>
            </a:pPr>
            <a:r>
              <a:rPr lang="en-US" altLang="zh-CN" sz="1500" b="1" dirty="0">
                <a:solidFill>
                  <a:srgbClr val="FF0000"/>
                </a:solidFill>
                <a:highlight>
                  <a:srgbClr val="FFFF00"/>
                </a:highlight>
                <a:latin typeface="Consolas" panose="020B0609020204030204" pitchFamily="49" charset="0"/>
              </a:rPr>
              <a:t>ss0.name</a:t>
            </a:r>
            <a:r>
              <a:rPr lang="en-US" altLang="zh-CN" sz="1500" dirty="0">
                <a:solidFill>
                  <a:srgbClr val="000000"/>
                </a:solidFill>
                <a:latin typeface="Consolas" panose="020B0609020204030204" pitchFamily="49" charset="0"/>
              </a:rPr>
              <a:t>=“</a:t>
            </a:r>
            <a:r>
              <a:rPr lang="en-US" altLang="zh-CN" sz="1500" dirty="0" err="1">
                <a:solidFill>
                  <a:srgbClr val="000000"/>
                </a:solidFill>
                <a:latin typeface="Consolas" panose="020B0609020204030204" pitchFamily="49" charset="0"/>
              </a:rPr>
              <a:t>yangyang</a:t>
            </a:r>
            <a:r>
              <a:rPr lang="en-US" altLang="zh-CN" sz="1500" dirty="0">
                <a:solidFill>
                  <a:srgbClr val="000000"/>
                </a:solidFill>
                <a:latin typeface="Consolas" panose="020B0609020204030204" pitchFamily="49" charset="0"/>
              </a:rPr>
              <a:t>“  #</a:t>
            </a:r>
            <a:r>
              <a:rPr lang="zh-CN" altLang="en-US" sz="1500" dirty="0">
                <a:solidFill>
                  <a:srgbClr val="000000"/>
                </a:solidFill>
                <a:latin typeface="Consolas" panose="020B0609020204030204" pitchFamily="49" charset="0"/>
              </a:rPr>
              <a:t>不能修改</a:t>
            </a:r>
            <a:endParaRPr lang="en-US" altLang="zh-CN" sz="1500" dirty="0">
              <a:solidFill>
                <a:srgbClr val="000000"/>
              </a:solidFill>
              <a:latin typeface="Consolas" panose="020B0609020204030204" pitchFamily="49" charset="0"/>
            </a:endParaRPr>
          </a:p>
          <a:p>
            <a:pPr>
              <a:lnSpc>
                <a:spcPts val="2400"/>
              </a:lnSpc>
            </a:pPr>
            <a:r>
              <a:rPr lang="en-US" altLang="zh-CN" sz="1500" dirty="0">
                <a:solidFill>
                  <a:srgbClr val="FF0000"/>
                </a:solidFill>
                <a:latin typeface="Consolas" panose="020B0609020204030204" pitchFamily="49" charset="0"/>
              </a:rPr>
              <a:t>ERROR: </a:t>
            </a:r>
            <a:r>
              <a:rPr lang="en-US" altLang="zh-CN" sz="1500" dirty="0" err="1">
                <a:solidFill>
                  <a:srgbClr val="FF0000"/>
                </a:solidFill>
                <a:latin typeface="Consolas" panose="020B0609020204030204" pitchFamily="49" charset="0"/>
              </a:rPr>
              <a:t>setfield</a:t>
            </a:r>
            <a:r>
              <a:rPr lang="en-US" altLang="zh-CN" sz="1500" dirty="0">
                <a:solidFill>
                  <a:srgbClr val="FF0000"/>
                </a:solidFill>
                <a:latin typeface="Consolas" panose="020B0609020204030204" pitchFamily="49" charset="0"/>
              </a:rPr>
              <a:t>!: immutable struct of type student0 cannot be changed</a:t>
            </a:r>
          </a:p>
          <a:p>
            <a:pPr>
              <a:lnSpc>
                <a:spcPts val="2400"/>
              </a:lnSpc>
            </a:pPr>
            <a:r>
              <a:rPr lang="en-US" altLang="zh-CN" sz="1500" dirty="0">
                <a:solidFill>
                  <a:srgbClr val="000000"/>
                </a:solidFill>
                <a:latin typeface="Consolas" panose="020B0609020204030204" pitchFamily="49" charset="0"/>
              </a:rPr>
              <a:t>#</a:t>
            </a:r>
            <a:r>
              <a:rPr lang="zh-CN" altLang="en-US" sz="1500" dirty="0">
                <a:solidFill>
                  <a:srgbClr val="2C3E50"/>
                </a:solidFill>
                <a:latin typeface="-apple-system"/>
              </a:rPr>
              <a:t>无法更改</a:t>
            </a:r>
            <a:r>
              <a:rPr lang="en-US" altLang="zh-CN" sz="1500" dirty="0">
                <a:solidFill>
                  <a:srgbClr val="000000"/>
                </a:solidFill>
                <a:latin typeface="Consolas" panose="020B0609020204030204" pitchFamily="49" charset="0"/>
              </a:rPr>
              <a:t>student0</a:t>
            </a:r>
            <a:r>
              <a:rPr lang="zh-CN" altLang="en-US" sz="1500" dirty="0">
                <a:solidFill>
                  <a:srgbClr val="2C3E50"/>
                </a:solidFill>
                <a:latin typeface="-apple-system"/>
              </a:rPr>
              <a:t>实例</a:t>
            </a:r>
            <a:r>
              <a:rPr lang="en-US" altLang="zh-CN" sz="1500" dirty="0">
                <a:solidFill>
                  <a:srgbClr val="2C3E50"/>
                </a:solidFill>
                <a:latin typeface="-apple-system"/>
              </a:rPr>
              <a:t>ss0</a:t>
            </a:r>
            <a:r>
              <a:rPr lang="zh-CN" altLang="en-US" sz="1500" dirty="0">
                <a:solidFill>
                  <a:srgbClr val="2C3E50"/>
                </a:solidFill>
                <a:latin typeface="-apple-system"/>
              </a:rPr>
              <a:t>的值</a:t>
            </a:r>
            <a:endParaRPr lang="en-US" altLang="zh-CN" sz="1500" b="0" dirty="0">
              <a:solidFill>
                <a:srgbClr val="000000"/>
              </a:solidFill>
              <a:effectLst/>
              <a:latin typeface="Consolas" panose="020B0609020204030204" pitchFamily="49" charset="0"/>
            </a:endParaRPr>
          </a:p>
        </p:txBody>
      </p:sp>
      <p:sp>
        <p:nvSpPr>
          <p:cNvPr id="13" name="内容占位符 2">
            <a:extLst>
              <a:ext uri="{FF2B5EF4-FFF2-40B4-BE49-F238E27FC236}">
                <a16:creationId xmlns:a16="http://schemas.microsoft.com/office/drawing/2014/main" id="{CF76292F-5A4F-797D-2059-885EEEAEEB0E}"/>
              </a:ext>
            </a:extLst>
          </p:cNvPr>
          <p:cNvSpPr txBox="1">
            <a:spLocks/>
          </p:cNvSpPr>
          <p:nvPr/>
        </p:nvSpPr>
        <p:spPr bwMode="auto">
          <a:xfrm>
            <a:off x="331772" y="689454"/>
            <a:ext cx="8561628" cy="37580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sz="1800" dirty="0"/>
              <a:t>不可变结构体数组</a:t>
            </a:r>
            <a:r>
              <a:rPr lang="en-US" altLang="zh-CN" sz="1800" dirty="0"/>
              <a:t>:</a:t>
            </a:r>
            <a:r>
              <a:rPr lang="zh-CN" altLang="en-US" sz="1800" dirty="0"/>
              <a:t>结构体是不可变的，构造后不能再修改这结构元素</a:t>
            </a:r>
            <a:endParaRPr lang="en-US" altLang="zh-CN" sz="1800" dirty="0"/>
          </a:p>
        </p:txBody>
      </p:sp>
      <p:sp>
        <p:nvSpPr>
          <p:cNvPr id="2" name="波形 1">
            <a:extLst>
              <a:ext uri="{FF2B5EF4-FFF2-40B4-BE49-F238E27FC236}">
                <a16:creationId xmlns:a16="http://schemas.microsoft.com/office/drawing/2014/main" id="{876893F6-C600-4BDD-3B0C-7B908CCE07E2}"/>
              </a:ext>
            </a:extLst>
          </p:cNvPr>
          <p:cNvSpPr/>
          <p:nvPr/>
        </p:nvSpPr>
        <p:spPr>
          <a:xfrm>
            <a:off x="6444208" y="1242371"/>
            <a:ext cx="687558" cy="209621"/>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例1431</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DB4D0CE8-5092-DAEC-CE5D-98BC13B3BFD7}"/>
              </a:ext>
            </a:extLst>
          </p:cNvPr>
          <p:cNvSpPr txBox="1"/>
          <p:nvPr/>
        </p:nvSpPr>
        <p:spPr>
          <a:xfrm>
            <a:off x="7221712" y="1152414"/>
            <a:ext cx="1589448" cy="646331"/>
          </a:xfrm>
          <a:prstGeom prst="rect">
            <a:avLst/>
          </a:prstGeom>
          <a:noFill/>
        </p:spPr>
        <p:txBody>
          <a:bodyPr wrap="square">
            <a:spAutoFit/>
          </a:bodyPr>
          <a:lstStyle/>
          <a:p>
            <a:pPr algn="dist"/>
            <a:r>
              <a:rPr lang="zh-CN" altLang="en-US" sz="1800" b="1" i="0" dirty="0">
                <a:solidFill>
                  <a:srgbClr val="0070C0"/>
                </a:solidFill>
                <a:effectLst/>
                <a:latin typeface="微软雅黑" panose="020B0503020204020204" pitchFamily="34" charset="-122"/>
                <a:ea typeface="微软雅黑" panose="020B0503020204020204" pitchFamily="34" charset="-122"/>
              </a:rPr>
              <a:t>学生信息不可变结构体</a:t>
            </a:r>
            <a:endParaRPr lang="zh-CN" altLang="en-US" dirty="0"/>
          </a:p>
        </p:txBody>
      </p:sp>
    </p:spTree>
    <p:extLst>
      <p:ext uri="{BB962C8B-B14F-4D97-AF65-F5344CB8AC3E}">
        <p14:creationId xmlns:p14="http://schemas.microsoft.com/office/powerpoint/2010/main" val="2088505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F6F894F-CEA3-41CB-A956-7D84D93384A5}"/>
              </a:ext>
            </a:extLst>
          </p:cNvPr>
          <p:cNvSpPr/>
          <p:nvPr/>
        </p:nvSpPr>
        <p:spPr>
          <a:xfrm>
            <a:off x="710298" y="1208047"/>
            <a:ext cx="4139534" cy="2029530"/>
          </a:xfrm>
          <a:prstGeom prst="rect">
            <a:avLst/>
          </a:prstGeom>
          <a:solidFill>
            <a:schemeClr val="bg1"/>
          </a:solidFill>
          <a:ln>
            <a:solidFill>
              <a:schemeClr val="bg1">
                <a:lumMod val="50000"/>
              </a:schemeClr>
            </a:solidFill>
          </a:ln>
        </p:spPr>
        <p:txBody>
          <a:bodyPr wrap="square">
            <a:spAutoFit/>
          </a:bodyPr>
          <a:lstStyle/>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mutable struct Name  #</a:t>
            </a:r>
            <a:r>
              <a:rPr lang="zh-CN" altLang="en-US" sz="1600" dirty="0">
                <a:solidFill>
                  <a:srgbClr val="00B0F0"/>
                </a:solidFill>
                <a:latin typeface="微软雅黑" panose="020B0503020204020204" pitchFamily="34" charset="-122"/>
                <a:ea typeface="微软雅黑" panose="020B0503020204020204" pitchFamily="34" charset="-122"/>
              </a:rPr>
              <a:t>可变结构名字</a:t>
            </a:r>
            <a:endParaRPr lang="en-US" altLang="zh-CN" sz="1600" dirty="0">
              <a:solidFill>
                <a:srgbClr val="00B0F0"/>
              </a:solidFill>
              <a:latin typeface="微软雅黑" panose="020B0503020204020204" pitchFamily="34" charset="-122"/>
              <a:ea typeface="微软雅黑" panose="020B0503020204020204" pitchFamily="34" charset="-122"/>
            </a:endParaRPr>
          </a:p>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    field::Type   #</a:t>
            </a:r>
            <a:r>
              <a:rPr lang="zh-CN" altLang="en-US" sz="1600" dirty="0">
                <a:solidFill>
                  <a:srgbClr val="00B0F0"/>
                </a:solidFill>
                <a:latin typeface="微软雅黑" panose="020B0503020204020204" pitchFamily="34" charset="-122"/>
                <a:ea typeface="微软雅黑" panose="020B0503020204020204" pitchFamily="34" charset="-122"/>
              </a:rPr>
              <a:t>定义类型的字段</a:t>
            </a:r>
            <a:endParaRPr lang="en-US" altLang="zh-CN" sz="1600" dirty="0">
              <a:solidFill>
                <a:srgbClr val="00B0F0"/>
              </a:solidFill>
              <a:latin typeface="微软雅黑" panose="020B0503020204020204" pitchFamily="34" charset="-122"/>
              <a:ea typeface="微软雅黑" panose="020B0503020204020204" pitchFamily="34" charset="-122"/>
            </a:endParaRPr>
          </a:p>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    field::Type</a:t>
            </a:r>
          </a:p>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    ...</a:t>
            </a:r>
          </a:p>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end</a:t>
            </a:r>
            <a:endParaRPr lang="zh-CN" altLang="en-US" sz="1600" dirty="0">
              <a:solidFill>
                <a:srgbClr val="00B0F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3BFA6D11-451C-4903-8544-05B1C34501ED}"/>
              </a:ext>
            </a:extLst>
          </p:cNvPr>
          <p:cNvSpPr txBox="1"/>
          <p:nvPr/>
        </p:nvSpPr>
        <p:spPr>
          <a:xfrm>
            <a:off x="683123" y="3350699"/>
            <a:ext cx="7623111" cy="369332"/>
          </a:xfrm>
          <a:prstGeom prst="rect">
            <a:avLst/>
          </a:prstGeom>
          <a:solidFill>
            <a:schemeClr val="bg1"/>
          </a:solidFill>
        </p:spPr>
        <p:txBody>
          <a:bodyPr wrap="square">
            <a:spAutoFit/>
          </a:bodyPr>
          <a:lstStyle/>
          <a:p>
            <a:pPr marL="342900" indent="-342900">
              <a:spcAft>
                <a:spcPts val="600"/>
              </a:spcAft>
              <a:buFont typeface="+mj-ea"/>
              <a:buAutoNum type="circleNumDbPlain" startAt="2"/>
            </a:pPr>
            <a:r>
              <a:rPr lang="zh-CN" altLang="en-US" b="1" dirty="0">
                <a:solidFill>
                  <a:srgbClr val="0070C0"/>
                </a:solidFill>
                <a:latin typeface="微软雅黑" panose="020B0503020204020204" pitchFamily="34" charset="-122"/>
                <a:ea typeface="微软雅黑" panose="020B0503020204020204" pitchFamily="34" charset="-122"/>
              </a:rPr>
              <a:t>字段赋值创建结构体数组</a:t>
            </a:r>
            <a:r>
              <a:rPr lang="en-US" altLang="zh-CN" b="1" dirty="0">
                <a:solidFill>
                  <a:srgbClr val="0070C0"/>
                </a:solidFill>
                <a:latin typeface="微软雅黑" panose="020B0503020204020204" pitchFamily="34" charset="-122"/>
                <a:ea typeface="微软雅黑" panose="020B0503020204020204" pitchFamily="34" charset="-122"/>
              </a:rPr>
              <a:t>ss1</a:t>
            </a:r>
          </a:p>
        </p:txBody>
      </p:sp>
      <p:sp>
        <p:nvSpPr>
          <p:cNvPr id="5" name="文本框 4">
            <a:extLst>
              <a:ext uri="{FF2B5EF4-FFF2-40B4-BE49-F238E27FC236}">
                <a16:creationId xmlns:a16="http://schemas.microsoft.com/office/drawing/2014/main" id="{CB1EA7BC-6F9C-394E-7AA8-D19BC6CEB845}"/>
              </a:ext>
            </a:extLst>
          </p:cNvPr>
          <p:cNvSpPr txBox="1"/>
          <p:nvPr/>
        </p:nvSpPr>
        <p:spPr>
          <a:xfrm>
            <a:off x="5071827" y="1500275"/>
            <a:ext cx="3754221" cy="2275366"/>
          </a:xfrm>
          <a:prstGeom prst="rect">
            <a:avLst/>
          </a:prstGeom>
          <a:solidFill>
            <a:schemeClr val="bg1"/>
          </a:solidFill>
        </p:spPr>
        <p:txBody>
          <a:bodyPr wrap="square">
            <a:spAutoFit/>
          </a:bodyPr>
          <a:lstStyle/>
          <a:p>
            <a:pPr marL="342900" indent="-342900">
              <a:spcAft>
                <a:spcPts val="600"/>
              </a:spcAft>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rPr>
              <a:t>创建变结构体</a:t>
            </a:r>
            <a:r>
              <a:rPr lang="en-US" altLang="zh-CN" b="1" dirty="0">
                <a:solidFill>
                  <a:srgbClr val="0070C0"/>
                </a:solidFill>
                <a:latin typeface="微软雅黑" panose="020B0503020204020204" pitchFamily="34" charset="-122"/>
                <a:ea typeface="微软雅黑" panose="020B0503020204020204" pitchFamily="34" charset="-122"/>
              </a:rPr>
              <a:t>student1</a:t>
            </a:r>
          </a:p>
          <a:p>
            <a:pPr>
              <a:lnSpc>
                <a:spcPts val="2300"/>
              </a:lnSpc>
            </a:pPr>
            <a:r>
              <a:rPr lang="en-US" altLang="zh-CN" b="0" dirty="0">
                <a:solidFill>
                  <a:srgbClr val="0000FF"/>
                </a:solidFill>
                <a:effectLst/>
                <a:latin typeface="Consolas" panose="020B0609020204030204" pitchFamily="49" charset="0"/>
              </a:rPr>
              <a:t>mutable struct</a:t>
            </a:r>
            <a:r>
              <a:rPr lang="en-US" altLang="zh-CN" b="0" dirty="0">
                <a:solidFill>
                  <a:srgbClr val="000000"/>
                </a:solidFill>
                <a:effectLst/>
                <a:latin typeface="Consolas" panose="020B0609020204030204" pitchFamily="49" charset="0"/>
              </a:rPr>
              <a:t> student1</a:t>
            </a:r>
          </a:p>
          <a:p>
            <a:pPr>
              <a:lnSpc>
                <a:spcPts val="2300"/>
              </a:lnSpc>
            </a:pPr>
            <a:r>
              <a:rPr lang="en-US" altLang="zh-CN" b="0" dirty="0">
                <a:solidFill>
                  <a:srgbClr val="000000"/>
                </a:solidFill>
                <a:effectLst/>
                <a:latin typeface="Consolas" panose="020B0609020204030204" pitchFamily="49" charset="0"/>
              </a:rPr>
              <a:t>       number</a:t>
            </a:r>
          </a:p>
          <a:p>
            <a:pPr>
              <a:lnSpc>
                <a:spcPts val="2300"/>
              </a:lnSpc>
            </a:pPr>
            <a:r>
              <a:rPr lang="en-US" altLang="zh-CN" b="0" dirty="0">
                <a:solidFill>
                  <a:srgbClr val="000000"/>
                </a:solidFill>
                <a:effectLst/>
                <a:latin typeface="Consolas" panose="020B0609020204030204" pitchFamily="49" charset="0"/>
              </a:rPr>
              <a:t>       name</a:t>
            </a:r>
          </a:p>
          <a:p>
            <a:pPr>
              <a:lnSpc>
                <a:spcPts val="2300"/>
              </a:lnSpc>
            </a:pPr>
            <a:r>
              <a:rPr lang="en-US" altLang="zh-CN" b="0" dirty="0">
                <a:solidFill>
                  <a:srgbClr val="000000"/>
                </a:solidFill>
                <a:effectLst/>
                <a:latin typeface="Consolas" panose="020B0609020204030204" pitchFamily="49" charset="0"/>
              </a:rPr>
              <a:t>       subject</a:t>
            </a:r>
          </a:p>
          <a:p>
            <a:pPr>
              <a:lnSpc>
                <a:spcPts val="2300"/>
              </a:lnSpc>
            </a:pPr>
            <a:r>
              <a:rPr lang="en-US" altLang="zh-CN" b="0" dirty="0">
                <a:solidFill>
                  <a:srgbClr val="000000"/>
                </a:solidFill>
                <a:effectLst/>
                <a:latin typeface="Consolas" panose="020B0609020204030204" pitchFamily="49" charset="0"/>
              </a:rPr>
              <a:t>       result</a:t>
            </a:r>
          </a:p>
          <a:p>
            <a:pPr>
              <a:lnSpc>
                <a:spcPts val="2300"/>
              </a:lnSpc>
            </a:pPr>
            <a:r>
              <a:rPr lang="en-US" altLang="zh-CN" b="0" dirty="0">
                <a:solidFill>
                  <a:srgbClr val="AF00DB"/>
                </a:solidFill>
                <a:effectLst/>
                <a:latin typeface="Consolas" panose="020B0609020204030204" pitchFamily="49" charset="0"/>
              </a:rPr>
              <a:t>end</a:t>
            </a:r>
          </a:p>
        </p:txBody>
      </p:sp>
      <p:sp>
        <p:nvSpPr>
          <p:cNvPr id="7" name="文本框 6">
            <a:extLst>
              <a:ext uri="{FF2B5EF4-FFF2-40B4-BE49-F238E27FC236}">
                <a16:creationId xmlns:a16="http://schemas.microsoft.com/office/drawing/2014/main" id="{4D8FCADD-5710-E1C9-5887-FB7BC6324AD9}"/>
              </a:ext>
            </a:extLst>
          </p:cNvPr>
          <p:cNvSpPr txBox="1"/>
          <p:nvPr/>
        </p:nvSpPr>
        <p:spPr>
          <a:xfrm>
            <a:off x="672353" y="4136888"/>
            <a:ext cx="3754221" cy="369332"/>
          </a:xfrm>
          <a:prstGeom prst="rect">
            <a:avLst/>
          </a:prstGeom>
          <a:solidFill>
            <a:schemeClr val="bg1"/>
          </a:solidFill>
        </p:spPr>
        <p:txBody>
          <a:bodyPr wrap="square">
            <a:spAutoFit/>
          </a:bodyPr>
          <a:lstStyle/>
          <a:p>
            <a:pPr marL="342900" indent="-342900">
              <a:buFont typeface="+mj-ea"/>
              <a:buAutoNum type="circleNumDbPlain" startAt="3"/>
            </a:pPr>
            <a:r>
              <a:rPr lang="en-US" altLang="zh-CN" b="1">
                <a:solidFill>
                  <a:srgbClr val="0070C0"/>
                </a:solidFill>
                <a:latin typeface="微软雅黑" panose="020B0503020204020204" pitchFamily="34" charset="-122"/>
                <a:ea typeface="微软雅黑" panose="020B0503020204020204" pitchFamily="34" charset="-122"/>
              </a:rPr>
              <a:t>#</a:t>
            </a:r>
            <a:r>
              <a:rPr lang="zh-CN" altLang="en-US" b="1">
                <a:solidFill>
                  <a:srgbClr val="0070C0"/>
                </a:solidFill>
                <a:latin typeface="微软雅黑" panose="020B0503020204020204" pitchFamily="34" charset="-122"/>
                <a:ea typeface="微软雅黑" panose="020B0503020204020204" pitchFamily="34" charset="-122"/>
              </a:rPr>
              <a:t>更改</a:t>
            </a:r>
            <a:r>
              <a:rPr lang="en-US" altLang="zh-CN" b="1">
                <a:solidFill>
                  <a:srgbClr val="0070C0"/>
                </a:solidFill>
                <a:latin typeface="微软雅黑" panose="020B0503020204020204" pitchFamily="34" charset="-122"/>
                <a:ea typeface="微软雅黑" panose="020B0503020204020204" pitchFamily="34" charset="-122"/>
              </a:rPr>
              <a:t>student1</a:t>
            </a:r>
            <a:r>
              <a:rPr lang="zh-CN" altLang="en-US" b="1">
                <a:solidFill>
                  <a:srgbClr val="0070C0"/>
                </a:solidFill>
                <a:latin typeface="微软雅黑" panose="020B0503020204020204" pitchFamily="34" charset="-122"/>
                <a:ea typeface="微软雅黑" panose="020B0503020204020204" pitchFamily="34" charset="-122"/>
              </a:rPr>
              <a:t>实例</a:t>
            </a:r>
            <a:r>
              <a:rPr lang="en-US" altLang="zh-CN" b="1">
                <a:solidFill>
                  <a:srgbClr val="0070C0"/>
                </a:solidFill>
                <a:latin typeface="微软雅黑" panose="020B0503020204020204" pitchFamily="34" charset="-122"/>
                <a:ea typeface="微软雅黑" panose="020B0503020204020204" pitchFamily="34" charset="-122"/>
              </a:rPr>
              <a:t>ss1</a:t>
            </a:r>
            <a:r>
              <a:rPr lang="zh-CN" altLang="en-US" b="1">
                <a:solidFill>
                  <a:srgbClr val="0070C0"/>
                </a:solidFill>
                <a:latin typeface="微软雅黑" panose="020B0503020204020204" pitchFamily="34" charset="-122"/>
                <a:ea typeface="微软雅黑" panose="020B0503020204020204" pitchFamily="34" charset="-122"/>
              </a:rPr>
              <a:t>的值</a:t>
            </a:r>
            <a:endParaRPr lang="en-US" altLang="zh-CN" b="1" dirty="0">
              <a:solidFill>
                <a:srgbClr val="0070C0"/>
              </a:solidFill>
              <a:latin typeface="微软雅黑" panose="020B0503020204020204" pitchFamily="34" charset="-122"/>
              <a:ea typeface="微软雅黑" panose="020B0503020204020204" pitchFamily="34" charset="-122"/>
            </a:endParaRPr>
          </a:p>
        </p:txBody>
      </p:sp>
      <p:sp>
        <p:nvSpPr>
          <p:cNvPr id="9" name="标题 1">
            <a:extLst>
              <a:ext uri="{FF2B5EF4-FFF2-40B4-BE49-F238E27FC236}">
                <a16:creationId xmlns:a16="http://schemas.microsoft.com/office/drawing/2014/main" id="{448628F9-74FE-4EB5-8157-5588ACD8AE74}"/>
              </a:ext>
            </a:extLst>
          </p:cNvPr>
          <p:cNvSpPr txBox="1">
            <a:spLocks/>
          </p:cNvSpPr>
          <p:nvPr/>
        </p:nvSpPr>
        <p:spPr bwMode="auto">
          <a:xfrm>
            <a:off x="1259632" y="366358"/>
            <a:ext cx="7624390" cy="30137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kern="0" dirty="0"/>
              <a:t>§1.4.3  </a:t>
            </a:r>
            <a:r>
              <a:rPr lang="zh-CN" altLang="en-US" kern="0" dirty="0"/>
              <a:t>结构体</a:t>
            </a:r>
            <a:r>
              <a:rPr lang="en-US" altLang="zh-CN" kern="0" dirty="0">
                <a:solidFill>
                  <a:srgbClr val="FF0000"/>
                </a:solidFill>
              </a:rPr>
              <a:t>——</a:t>
            </a:r>
            <a:r>
              <a:rPr lang="zh-CN" altLang="en-US" kern="0" dirty="0">
                <a:solidFill>
                  <a:srgbClr val="FF0000"/>
                </a:solidFill>
              </a:rPr>
              <a:t>可变</a:t>
            </a:r>
            <a:r>
              <a:rPr lang="zh-CN" altLang="en-US" sz="2800" dirty="0">
                <a:solidFill>
                  <a:srgbClr val="FF0000"/>
                </a:solidFill>
              </a:rPr>
              <a:t>结构体</a:t>
            </a:r>
            <a:r>
              <a:rPr lang="zh-CN" altLang="en-US" dirty="0">
                <a:solidFill>
                  <a:srgbClr val="FF0000"/>
                </a:solidFill>
              </a:rPr>
              <a:t>数组</a:t>
            </a:r>
            <a:endParaRPr lang="zh-CN" altLang="en-US" kern="0" dirty="0">
              <a:solidFill>
                <a:srgbClr val="FF0000"/>
              </a:solidFill>
            </a:endParaRPr>
          </a:p>
        </p:txBody>
      </p:sp>
      <p:sp>
        <p:nvSpPr>
          <p:cNvPr id="2" name="内容占位符 2">
            <a:extLst>
              <a:ext uri="{FF2B5EF4-FFF2-40B4-BE49-F238E27FC236}">
                <a16:creationId xmlns:a16="http://schemas.microsoft.com/office/drawing/2014/main" id="{A76347EE-F671-FBA6-E8E1-43D5B5252B93}"/>
              </a:ext>
            </a:extLst>
          </p:cNvPr>
          <p:cNvSpPr txBox="1">
            <a:spLocks/>
          </p:cNvSpPr>
          <p:nvPr/>
        </p:nvSpPr>
        <p:spPr bwMode="auto">
          <a:xfrm>
            <a:off x="672353" y="695963"/>
            <a:ext cx="8373948" cy="37580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sz="1800" dirty="0"/>
              <a:t>可变结构体数组：用</a:t>
            </a:r>
            <a:r>
              <a:rPr lang="en-US" altLang="zh-CN" sz="1800" kern="0" dirty="0"/>
              <a:t>mutable struct</a:t>
            </a:r>
            <a:r>
              <a:rPr lang="zh-CN" altLang="en-US" sz="1800" kern="0" dirty="0"/>
              <a:t>定义字段</a:t>
            </a:r>
            <a:r>
              <a:rPr lang="zh-CN" altLang="en-US" sz="1800" kern="0" dirty="0">
                <a:solidFill>
                  <a:srgbClr val="0070C0"/>
                </a:solidFill>
              </a:rPr>
              <a:t>名</a:t>
            </a:r>
            <a:r>
              <a:rPr lang="zh-CN" altLang="zh-CN" sz="1800" kern="0" dirty="0">
                <a:solidFill>
                  <a:srgbClr val="FF0000"/>
                </a:solidFill>
              </a:rPr>
              <a:t>field</a:t>
            </a:r>
            <a:r>
              <a:rPr lang="en-US" altLang="zh-CN" sz="1800" kern="0" dirty="0">
                <a:solidFill>
                  <a:srgbClr val="FF0000"/>
                </a:solidFill>
              </a:rPr>
              <a:t>,</a:t>
            </a:r>
            <a:r>
              <a:rPr lang="zh-CN" altLang="en-US" sz="1800" kern="0" dirty="0"/>
              <a:t>建立结构体</a:t>
            </a:r>
            <a:r>
              <a:rPr lang="en-US" altLang="zh-CN" sz="1800" kern="0" dirty="0">
                <a:solidFill>
                  <a:srgbClr val="FF0000"/>
                </a:solidFill>
              </a:rPr>
              <a:t>Name</a:t>
            </a:r>
            <a:endParaRPr lang="en-US" altLang="zh-CN" sz="1800" dirty="0"/>
          </a:p>
        </p:txBody>
      </p:sp>
      <p:sp>
        <p:nvSpPr>
          <p:cNvPr id="6" name="文本框 5">
            <a:extLst>
              <a:ext uri="{FF2B5EF4-FFF2-40B4-BE49-F238E27FC236}">
                <a16:creationId xmlns:a16="http://schemas.microsoft.com/office/drawing/2014/main" id="{157500B3-9BCA-CCB1-D683-C78CD8364274}"/>
              </a:ext>
            </a:extLst>
          </p:cNvPr>
          <p:cNvSpPr txBox="1"/>
          <p:nvPr/>
        </p:nvSpPr>
        <p:spPr>
          <a:xfrm>
            <a:off x="4283968" y="4213242"/>
            <a:ext cx="3096344" cy="369332"/>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ss1.name="</a:t>
            </a:r>
            <a:r>
              <a:rPr lang="en-US" altLang="zh-CN" b="0" dirty="0" err="1">
                <a:solidFill>
                  <a:srgbClr val="000000"/>
                </a:solidFill>
                <a:effectLst/>
                <a:latin typeface="Consolas" panose="020B0609020204030204" pitchFamily="49" charset="0"/>
              </a:rPr>
              <a:t>yangyang</a:t>
            </a:r>
            <a:r>
              <a:rPr lang="en-US" altLang="zh-CN" b="0" dirty="0">
                <a:solidFill>
                  <a:srgbClr val="000000"/>
                </a:solidFill>
                <a:effectLst/>
                <a:latin typeface="Consolas" panose="020B0609020204030204" pitchFamily="49" charset="0"/>
              </a:rPr>
              <a:t>"</a:t>
            </a:r>
          </a:p>
        </p:txBody>
      </p:sp>
      <p:sp>
        <p:nvSpPr>
          <p:cNvPr id="12" name="文本框 11">
            <a:extLst>
              <a:ext uri="{FF2B5EF4-FFF2-40B4-BE49-F238E27FC236}">
                <a16:creationId xmlns:a16="http://schemas.microsoft.com/office/drawing/2014/main" id="{6EF773EE-CB75-5C57-0BAD-4E8A301B9ABB}"/>
              </a:ext>
            </a:extLst>
          </p:cNvPr>
          <p:cNvSpPr txBox="1"/>
          <p:nvPr/>
        </p:nvSpPr>
        <p:spPr>
          <a:xfrm>
            <a:off x="1060217" y="3748258"/>
            <a:ext cx="7018478" cy="369332"/>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ss1=</a:t>
            </a:r>
            <a:r>
              <a:rPr lang="en-US" altLang="zh-CN" b="0" dirty="0">
                <a:solidFill>
                  <a:srgbClr val="795E26"/>
                </a:solidFill>
                <a:effectLst/>
                <a:latin typeface="Consolas" panose="020B0609020204030204" pitchFamily="49" charset="0"/>
              </a:rPr>
              <a:t>student1</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"2022223"</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"lili"</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高数</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英语</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89</a:t>
            </a:r>
            <a:r>
              <a:rPr lang="en-US" altLang="zh-CN" b="0" dirty="0">
                <a:solidFill>
                  <a:srgbClr val="000000"/>
                </a:solidFill>
                <a:effectLst/>
                <a:latin typeface="Consolas" panose="020B0609020204030204" pitchFamily="49" charset="0"/>
              </a:rPr>
              <a:t>])</a:t>
            </a:r>
          </a:p>
        </p:txBody>
      </p:sp>
      <p:sp>
        <p:nvSpPr>
          <p:cNvPr id="13" name="波形 12">
            <a:extLst>
              <a:ext uri="{FF2B5EF4-FFF2-40B4-BE49-F238E27FC236}">
                <a16:creationId xmlns:a16="http://schemas.microsoft.com/office/drawing/2014/main" id="{2E27EF76-CA68-00BD-DE71-0188689716AB}"/>
              </a:ext>
            </a:extLst>
          </p:cNvPr>
          <p:cNvSpPr/>
          <p:nvPr/>
        </p:nvSpPr>
        <p:spPr>
          <a:xfrm>
            <a:off x="5126158" y="1202787"/>
            <a:ext cx="1030018" cy="244959"/>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例143-2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B6B168F1-3635-C4E1-E557-81F66BA66874}"/>
              </a:ext>
            </a:extLst>
          </p:cNvPr>
          <p:cNvSpPr txBox="1"/>
          <p:nvPr/>
        </p:nvSpPr>
        <p:spPr>
          <a:xfrm>
            <a:off x="6196494" y="1122298"/>
            <a:ext cx="2543283" cy="369332"/>
          </a:xfrm>
          <a:prstGeom prst="rect">
            <a:avLst/>
          </a:prstGeom>
          <a:noFill/>
        </p:spPr>
        <p:txBody>
          <a:bodyPr wrap="square">
            <a:spAutoFit/>
          </a:bodyPr>
          <a:lstStyle/>
          <a:p>
            <a:pPr algn="dist"/>
            <a:r>
              <a:rPr lang="zh-CN" altLang="en-US" sz="1800" b="1" i="0" dirty="0">
                <a:solidFill>
                  <a:srgbClr val="0070C0"/>
                </a:solidFill>
                <a:effectLst/>
                <a:latin typeface="微软雅黑" panose="020B0503020204020204" pitchFamily="34" charset="-122"/>
                <a:ea typeface="微软雅黑" panose="020B0503020204020204" pitchFamily="34" charset="-122"/>
              </a:rPr>
              <a:t>学生信息可变结构体</a:t>
            </a:r>
            <a:endParaRPr lang="zh-CN" altLang="en-US" dirty="0"/>
          </a:p>
        </p:txBody>
      </p:sp>
    </p:spTree>
    <p:extLst>
      <p:ext uri="{BB962C8B-B14F-4D97-AF65-F5344CB8AC3E}">
        <p14:creationId xmlns:p14="http://schemas.microsoft.com/office/powerpoint/2010/main" val="321563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CB1018-9B2B-0098-C64D-F102C5AF4BF7}"/>
              </a:ext>
            </a:extLst>
          </p:cNvPr>
          <p:cNvSpPr>
            <a:spLocks noGrp="1"/>
          </p:cNvSpPr>
          <p:nvPr>
            <p:ph type="title"/>
          </p:nvPr>
        </p:nvSpPr>
        <p:spPr>
          <a:xfrm>
            <a:off x="1044393" y="64521"/>
            <a:ext cx="7667625" cy="549962"/>
          </a:xfrm>
        </p:spPr>
        <p:txBody>
          <a:bodyPr/>
          <a:lstStyle/>
          <a:p>
            <a:pPr>
              <a:lnSpc>
                <a:spcPct val="100000"/>
              </a:lnSpc>
            </a:pPr>
            <a:r>
              <a:rPr lang="en-US" altLang="zh-CN" sz="2800" b="1" dirty="0"/>
              <a:t>§1.4.4 Julia </a:t>
            </a:r>
            <a:r>
              <a:rPr lang="zh-CN" altLang="en-US" sz="2800" b="1" dirty="0"/>
              <a:t>元组（</a:t>
            </a:r>
            <a:r>
              <a:rPr lang="en-US" altLang="zh-CN" sz="2800" b="1" dirty="0"/>
              <a:t>tuple</a:t>
            </a:r>
            <a:r>
              <a:rPr lang="zh-CN" altLang="en-US" sz="2800" b="1" dirty="0"/>
              <a:t>）</a:t>
            </a:r>
            <a:r>
              <a:rPr lang="en-US" altLang="zh-CN" sz="2800" b="1" dirty="0"/>
              <a:t>——</a:t>
            </a:r>
            <a:r>
              <a:rPr lang="zh-CN" altLang="en-US" sz="2800" b="1" dirty="0">
                <a:solidFill>
                  <a:srgbClr val="FF0000"/>
                </a:solidFill>
              </a:rPr>
              <a:t>元组特点创建  </a:t>
            </a:r>
            <a:r>
              <a:rPr lang="en-US" altLang="zh-CN" sz="2800" b="1" dirty="0">
                <a:solidFill>
                  <a:srgbClr val="FF0000"/>
                </a:solidFill>
              </a:rPr>
              <a:t>( )</a:t>
            </a:r>
            <a:r>
              <a:rPr lang="zh-CN" altLang="en-US" sz="2800" b="1" dirty="0">
                <a:solidFill>
                  <a:srgbClr val="FF0000"/>
                </a:solidFill>
              </a:rPr>
              <a:t> </a:t>
            </a:r>
          </a:p>
        </p:txBody>
      </p:sp>
      <p:sp>
        <p:nvSpPr>
          <p:cNvPr id="3" name="内容占位符 2">
            <a:extLst>
              <a:ext uri="{FF2B5EF4-FFF2-40B4-BE49-F238E27FC236}">
                <a16:creationId xmlns:a16="http://schemas.microsoft.com/office/drawing/2014/main" id="{E67BE7B2-F439-C732-4B35-42C0E8D4EF95}"/>
              </a:ext>
            </a:extLst>
          </p:cNvPr>
          <p:cNvSpPr>
            <a:spLocks noGrp="1"/>
          </p:cNvSpPr>
          <p:nvPr>
            <p:ph idx="1"/>
          </p:nvPr>
        </p:nvSpPr>
        <p:spPr>
          <a:xfrm>
            <a:off x="475851" y="1222280"/>
            <a:ext cx="8399296" cy="1273875"/>
          </a:xfrm>
          <a:ln>
            <a:solidFill>
              <a:schemeClr val="bg1">
                <a:lumMod val="75000"/>
              </a:schemeClr>
            </a:solidFill>
          </a:ln>
        </p:spPr>
        <p:txBody>
          <a:bodyPr/>
          <a:lstStyle/>
          <a:p>
            <a:pPr marL="457200" indent="-457200">
              <a:buFont typeface="+mj-ea"/>
              <a:buAutoNum type="circleNumDbPlain"/>
            </a:pPr>
            <a:r>
              <a:rPr lang="zh-CN" altLang="en-US" sz="1800" b="1" i="0" dirty="0">
                <a:effectLst/>
                <a:latin typeface="宋体" panose="02010600030101010101" pitchFamily="2" charset="-122"/>
                <a:ea typeface="宋体" panose="02010600030101010101" pitchFamily="2" charset="-122"/>
              </a:rPr>
              <a:t>元组创建用</a:t>
            </a:r>
            <a:r>
              <a:rPr lang="zh-CN" altLang="en-US" sz="1800" b="1" dirty="0">
                <a:latin typeface="宋体" panose="02010600030101010101" pitchFamily="2" charset="-122"/>
                <a:ea typeface="宋体" panose="02010600030101010101" pitchFamily="2" charset="-122"/>
              </a:rPr>
              <a:t>小括号</a:t>
            </a:r>
            <a:r>
              <a:rPr lang="zh-CN" altLang="en-US" sz="1800" b="1" dirty="0">
                <a:solidFill>
                  <a:schemeClr val="bg1"/>
                </a:solidFill>
                <a:latin typeface="宋体" panose="02010600030101010101" pitchFamily="2" charset="-122"/>
                <a:ea typeface="宋体" panose="02010600030101010101" pitchFamily="2" charset="-122"/>
              </a:rPr>
              <a:t> </a:t>
            </a:r>
            <a:r>
              <a:rPr lang="en-US" altLang="zh-CN" sz="1800" b="1" dirty="0">
                <a:solidFill>
                  <a:schemeClr val="bg1"/>
                </a:solidFill>
                <a:highlight>
                  <a:srgbClr val="FF0000"/>
                </a:highlight>
                <a:latin typeface="宋体" panose="02010600030101010101" pitchFamily="2" charset="-122"/>
                <a:ea typeface="宋体" panose="02010600030101010101" pitchFamily="2" charset="-122"/>
              </a:rPr>
              <a:t>(…)</a:t>
            </a:r>
            <a:r>
              <a:rPr lang="zh-CN" altLang="en-US" sz="1800" b="1" dirty="0">
                <a:solidFill>
                  <a:schemeClr val="bg1"/>
                </a:solidFill>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，也可用</a:t>
            </a:r>
            <a:r>
              <a:rPr lang="en-US" altLang="zh-CN" sz="1800" b="1" dirty="0">
                <a:solidFill>
                  <a:schemeClr val="bg1"/>
                </a:solidFill>
                <a:highlight>
                  <a:srgbClr val="FF0000"/>
                </a:highlight>
                <a:latin typeface="宋体" panose="02010600030101010101" pitchFamily="2" charset="-122"/>
                <a:ea typeface="宋体" panose="02010600030101010101" pitchFamily="2" charset="-122"/>
              </a:rPr>
              <a:t>tuple(…),</a:t>
            </a:r>
            <a:r>
              <a:rPr lang="zh-CN" altLang="en-US" sz="1800" b="1" dirty="0">
                <a:latin typeface="宋体" panose="02010600030101010101" pitchFamily="2" charset="-122"/>
                <a:ea typeface="宋体" panose="02010600030101010101" pitchFamily="2" charset="-122"/>
              </a:rPr>
              <a:t>元素间用逗号隔开</a:t>
            </a:r>
            <a:r>
              <a:rPr lang="en-US" altLang="zh-CN" sz="1800" b="1" dirty="0">
                <a:latin typeface="宋体" panose="02010600030101010101" pitchFamily="2" charset="-122"/>
                <a:ea typeface="宋体" panose="02010600030101010101" pitchFamily="2" charset="-122"/>
              </a:rPr>
              <a:t> </a:t>
            </a:r>
          </a:p>
          <a:p>
            <a:pPr marL="457200" indent="-457200">
              <a:buFont typeface="+mj-ea"/>
              <a:buAutoNum type="circleNumDbPlain"/>
            </a:pPr>
            <a:r>
              <a:rPr lang="zh-CN" altLang="en-US" sz="1800" b="1" dirty="0">
                <a:latin typeface="宋体" panose="02010600030101010101" pitchFamily="2" charset="-122"/>
                <a:ea typeface="宋体" panose="02010600030101010101" pitchFamily="2" charset="-122"/>
              </a:rPr>
              <a:t>向量中元素可以是任意类型和大小</a:t>
            </a:r>
          </a:p>
          <a:p>
            <a:pPr marL="457200" indent="-457200">
              <a:buFont typeface="+mj-ea"/>
              <a:buAutoNum type="circleNumDbPlain"/>
            </a:pPr>
            <a:r>
              <a:rPr lang="zh-CN" altLang="en-US" sz="1800" b="1" dirty="0">
                <a:latin typeface="宋体" panose="02010600030101010101" pitchFamily="2" charset="-122"/>
                <a:ea typeface="宋体" panose="02010600030101010101" pitchFamily="2" charset="-122"/>
              </a:rPr>
              <a:t>元组元素可以通过索引</a:t>
            </a: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来访问</a:t>
            </a:r>
            <a:endParaRPr lang="en-US" altLang="zh-CN" sz="1800" b="1" dirty="0">
              <a:latin typeface="宋体" panose="02010600030101010101" pitchFamily="2" charset="-122"/>
              <a:ea typeface="宋体" panose="02010600030101010101" pitchFamily="2" charset="-122"/>
            </a:endParaRPr>
          </a:p>
          <a:p>
            <a:pPr marL="457200" indent="-457200">
              <a:buFont typeface="+mj-ea"/>
              <a:buAutoNum type="circleNumDbPlain"/>
            </a:pPr>
            <a:r>
              <a:rPr lang="zh-CN" altLang="en-US" sz="1800" b="1" dirty="0">
                <a:latin typeface="宋体" panose="02010600030101010101" pitchFamily="2" charset="-122"/>
                <a:ea typeface="宋体" panose="02010600030101010101" pitchFamily="2" charset="-122"/>
              </a:rPr>
              <a:t>数组中的很多函数也可以在元组中使用</a:t>
            </a:r>
          </a:p>
        </p:txBody>
      </p:sp>
      <p:sp>
        <p:nvSpPr>
          <p:cNvPr id="8" name="文本框 7">
            <a:extLst>
              <a:ext uri="{FF2B5EF4-FFF2-40B4-BE49-F238E27FC236}">
                <a16:creationId xmlns:a16="http://schemas.microsoft.com/office/drawing/2014/main" id="{6CEA9D3B-FC87-4630-8FC0-F1522752F967}"/>
              </a:ext>
            </a:extLst>
          </p:cNvPr>
          <p:cNvSpPr txBox="1"/>
          <p:nvPr/>
        </p:nvSpPr>
        <p:spPr>
          <a:xfrm>
            <a:off x="493184" y="2624948"/>
            <a:ext cx="8384526" cy="1938992"/>
          </a:xfrm>
          <a:prstGeom prst="rect">
            <a:avLst/>
          </a:prstGeom>
          <a:solidFill>
            <a:schemeClr val="bg1"/>
          </a:solidFill>
          <a:ln>
            <a:solidFill>
              <a:schemeClr val="bg1">
                <a:lumMod val="50000"/>
              </a:schemeClr>
            </a:solidFill>
          </a:ln>
        </p:spPr>
        <p:txBody>
          <a:bodyPr wrap="square">
            <a:spAutoFit/>
          </a:bodyPr>
          <a:lstStyle/>
          <a:p>
            <a:r>
              <a:rPr lang="es-ES" altLang="zh-CN" sz="2000" b="1" dirty="0">
                <a:solidFill>
                  <a:srgbClr val="002060"/>
                </a:solidFill>
                <a:latin typeface="华文楷体" panose="02010600040101010101" pitchFamily="2" charset="-122"/>
                <a:ea typeface="华文楷体" panose="02010600040101010101" pitchFamily="2" charset="-122"/>
              </a:rPr>
              <a:t>julia&gt; a=(1,2,3,4)    #</a:t>
            </a:r>
            <a:r>
              <a:rPr lang="zh-CN" altLang="en-US" sz="2000" b="1" dirty="0">
                <a:solidFill>
                  <a:srgbClr val="002060"/>
                </a:solidFill>
                <a:latin typeface="华文楷体" panose="02010600040101010101" pitchFamily="2" charset="-122"/>
                <a:ea typeface="华文楷体" panose="02010600040101010101" pitchFamily="2" charset="-122"/>
              </a:rPr>
              <a:t>创建一维元组或</a:t>
            </a:r>
            <a:r>
              <a:rPr lang="en-US" altLang="zh-CN" sz="2000" b="1" dirty="0">
                <a:solidFill>
                  <a:srgbClr val="002060"/>
                </a:solidFill>
                <a:latin typeface="华文楷体" panose="02010600040101010101" pitchFamily="2" charset="-122"/>
                <a:ea typeface="华文楷体" panose="02010600040101010101" pitchFamily="2" charset="-122"/>
              </a:rPr>
              <a:t>b=tuple(</a:t>
            </a:r>
            <a:r>
              <a:rPr lang="es-ES" altLang="zh-CN" sz="2000" b="1" dirty="0">
                <a:solidFill>
                  <a:srgbClr val="002060"/>
                </a:solidFill>
                <a:latin typeface="华文楷体" panose="02010600040101010101" pitchFamily="2" charset="-122"/>
                <a:ea typeface="华文楷体" panose="02010600040101010101" pitchFamily="2" charset="-122"/>
              </a:rPr>
              <a:t>1,2,3,4</a:t>
            </a:r>
            <a:r>
              <a:rPr lang="en-US" altLang="zh-CN" sz="2000" b="1" dirty="0">
                <a:solidFill>
                  <a:srgbClr val="002060"/>
                </a:solidFill>
                <a:latin typeface="华文楷体" panose="02010600040101010101" pitchFamily="2" charset="-122"/>
                <a:ea typeface="华文楷体" panose="02010600040101010101" pitchFamily="2" charset="-122"/>
              </a:rPr>
              <a:t>)  </a:t>
            </a:r>
            <a:r>
              <a:rPr lang="en-US" altLang="zh-CN" sz="2000" b="1" dirty="0">
                <a:solidFill>
                  <a:srgbClr val="00B0F0"/>
                </a:solidFill>
                <a:latin typeface="华文楷体" panose="02010600040101010101" pitchFamily="2" charset="-122"/>
                <a:ea typeface="华文楷体" panose="02010600040101010101" pitchFamily="2" charset="-122"/>
              </a:rPr>
              <a:t>#</a:t>
            </a:r>
            <a:r>
              <a:rPr lang="zh-CN" altLang="en-US" sz="2000" b="1" dirty="0">
                <a:solidFill>
                  <a:srgbClr val="00B0F0"/>
                </a:solidFill>
                <a:latin typeface="华文楷体" panose="02010600040101010101" pitchFamily="2" charset="-122"/>
                <a:ea typeface="华文楷体" panose="02010600040101010101" pitchFamily="2" charset="-122"/>
              </a:rPr>
              <a:t>结果</a:t>
            </a:r>
            <a:r>
              <a:rPr lang="es-ES" altLang="zh-CN" sz="2000" b="1" dirty="0">
                <a:solidFill>
                  <a:srgbClr val="00B0F0"/>
                </a:solidFill>
                <a:latin typeface="华文楷体" panose="02010600040101010101" pitchFamily="2" charset="-122"/>
                <a:ea typeface="华文楷体" panose="02010600040101010101" pitchFamily="2" charset="-122"/>
              </a:rPr>
              <a:t>(1, 2, 3, 4)</a:t>
            </a:r>
          </a:p>
          <a:p>
            <a:r>
              <a:rPr lang="en-US" altLang="zh-CN" sz="2000" b="1" dirty="0" err="1">
                <a:solidFill>
                  <a:srgbClr val="002060"/>
                </a:solidFill>
                <a:latin typeface="华文楷体" panose="02010600040101010101" pitchFamily="2" charset="-122"/>
                <a:ea typeface="华文楷体" panose="02010600040101010101" pitchFamily="2" charset="-122"/>
              </a:rPr>
              <a:t>julia</a:t>
            </a:r>
            <a:r>
              <a:rPr lang="en-US" altLang="zh-CN" sz="2000" b="1" dirty="0">
                <a:solidFill>
                  <a:srgbClr val="002060"/>
                </a:solidFill>
                <a:latin typeface="华文楷体" panose="02010600040101010101" pitchFamily="2" charset="-122"/>
                <a:ea typeface="华文楷体" panose="02010600040101010101" pitchFamily="2" charset="-122"/>
              </a:rPr>
              <a:t>&gt; a[2]=33    </a:t>
            </a:r>
            <a:r>
              <a:rPr lang="es-E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修改第</a:t>
            </a:r>
            <a:r>
              <a:rPr lang="en-US" altLang="zh-CN" sz="2000" b="1" dirty="0">
                <a:solidFill>
                  <a:srgbClr val="002060"/>
                </a:solidFill>
                <a:latin typeface="华文楷体" panose="02010600040101010101" pitchFamily="2" charset="-122"/>
                <a:ea typeface="华文楷体" panose="02010600040101010101" pitchFamily="2" charset="-122"/>
              </a:rPr>
              <a:t>2</a:t>
            </a:r>
            <a:r>
              <a:rPr lang="zh-CN" altLang="en-US" sz="2000" b="1" dirty="0">
                <a:solidFill>
                  <a:srgbClr val="002060"/>
                </a:solidFill>
                <a:latin typeface="华文楷体" panose="02010600040101010101" pitchFamily="2" charset="-122"/>
                <a:ea typeface="华文楷体" panose="02010600040101010101" pitchFamily="2" charset="-122"/>
              </a:rPr>
              <a:t>个元素</a:t>
            </a:r>
            <a:endParaRPr lang="en-US" altLang="zh-CN" sz="2000" b="1" dirty="0">
              <a:solidFill>
                <a:srgbClr val="002060"/>
              </a:solidFill>
              <a:latin typeface="华文楷体" panose="02010600040101010101" pitchFamily="2" charset="-122"/>
              <a:ea typeface="华文楷体" panose="02010600040101010101" pitchFamily="2" charset="-122"/>
            </a:endParaRPr>
          </a:p>
          <a:p>
            <a:r>
              <a:rPr lang="en-US" altLang="zh-CN" sz="2000" b="1" dirty="0">
                <a:solidFill>
                  <a:srgbClr val="FF0000"/>
                </a:solidFill>
                <a:latin typeface="华文楷体" panose="02010600040101010101" pitchFamily="2" charset="-122"/>
                <a:ea typeface="华文楷体" panose="02010600040101010101" pitchFamily="2" charset="-122"/>
              </a:rPr>
              <a:t>ERROR: </a:t>
            </a:r>
            <a:r>
              <a:rPr lang="en-US" altLang="zh-CN" sz="2000" b="1" dirty="0" err="1">
                <a:solidFill>
                  <a:srgbClr val="FF0000"/>
                </a:solidFill>
                <a:latin typeface="华文楷体" panose="02010600040101010101" pitchFamily="2" charset="-122"/>
                <a:ea typeface="华文楷体" panose="02010600040101010101" pitchFamily="2" charset="-122"/>
              </a:rPr>
              <a:t>MethodError</a:t>
            </a:r>
            <a:r>
              <a:rPr lang="en-US" altLang="zh-CN" sz="2000" b="1" dirty="0">
                <a:solidFill>
                  <a:srgbClr val="FF0000"/>
                </a:solidFill>
                <a:latin typeface="华文楷体" panose="02010600040101010101" pitchFamily="2" charset="-122"/>
                <a:ea typeface="华文楷体" panose="02010600040101010101" pitchFamily="2" charset="-122"/>
              </a:rPr>
              <a:t>: no method matching </a:t>
            </a:r>
            <a:r>
              <a:rPr lang="en-US" altLang="zh-CN" sz="2000" b="1" dirty="0" err="1">
                <a:solidFill>
                  <a:srgbClr val="FF0000"/>
                </a:solidFill>
                <a:latin typeface="华文楷体" panose="02010600040101010101" pitchFamily="2" charset="-122"/>
                <a:ea typeface="华文楷体" panose="02010600040101010101" pitchFamily="2" charset="-122"/>
              </a:rPr>
              <a:t>setindex</a:t>
            </a:r>
            <a:r>
              <a:rPr lang="en-US" altLang="zh-CN" sz="2000" b="1" dirty="0">
                <a:solidFill>
                  <a:srgbClr val="FF0000"/>
                </a:solidFill>
                <a:latin typeface="华文楷体" panose="02010600040101010101" pitchFamily="2" charset="-122"/>
                <a:ea typeface="华文楷体" panose="02010600040101010101" pitchFamily="2" charset="-122"/>
              </a:rPr>
              <a:t>!(::</a:t>
            </a:r>
            <a:r>
              <a:rPr lang="en-US" altLang="zh-CN" sz="2000" b="1" dirty="0" err="1">
                <a:solidFill>
                  <a:srgbClr val="FF0000"/>
                </a:solidFill>
                <a:latin typeface="华文楷体" panose="02010600040101010101" pitchFamily="2" charset="-122"/>
                <a:ea typeface="华文楷体" panose="02010600040101010101" pitchFamily="2" charset="-122"/>
              </a:rPr>
              <a:t>NTuple</a:t>
            </a:r>
            <a:r>
              <a:rPr lang="en-US" altLang="zh-CN" sz="2000" b="1" dirty="0">
                <a:solidFill>
                  <a:srgbClr val="FF0000"/>
                </a:solidFill>
                <a:latin typeface="华文楷体" panose="02010600040101010101" pitchFamily="2" charset="-122"/>
                <a:ea typeface="华文楷体" panose="02010600040101010101" pitchFamily="2" charset="-122"/>
              </a:rPr>
              <a:t>{4, Int64}, ::Int64, ::Int64)</a:t>
            </a:r>
            <a:r>
              <a:rPr lang="es-ES" altLang="zh-CN" sz="2000" b="1" dirty="0">
                <a:solidFill>
                  <a:srgbClr val="FF0000"/>
                </a:solidFill>
                <a:latin typeface="华文楷体" panose="02010600040101010101" pitchFamily="2" charset="-122"/>
                <a:ea typeface="华文楷体" panose="02010600040101010101" pitchFamily="2" charset="-122"/>
              </a:rPr>
              <a:t>      #</a:t>
            </a:r>
            <a:r>
              <a:rPr lang="zh-CN" altLang="en-US" sz="2000" b="1" dirty="0">
                <a:solidFill>
                  <a:srgbClr val="FF0000"/>
                </a:solidFill>
                <a:latin typeface="华文楷体" panose="02010600040101010101" pitchFamily="2" charset="-122"/>
                <a:ea typeface="华文楷体" panose="02010600040101010101" pitchFamily="2" charset="-122"/>
              </a:rPr>
              <a:t>元组元素不能修改</a:t>
            </a:r>
            <a:endParaRPr lang="en-US" altLang="zh-CN" sz="2000" b="1" dirty="0">
              <a:solidFill>
                <a:srgbClr val="FF0000"/>
              </a:solidFill>
              <a:latin typeface="华文楷体" panose="02010600040101010101" pitchFamily="2" charset="-122"/>
              <a:ea typeface="华文楷体" panose="02010600040101010101" pitchFamily="2" charset="-122"/>
            </a:endParaRPr>
          </a:p>
          <a:p>
            <a:r>
              <a:rPr lang="es-ES" altLang="zh-CN" sz="2000" b="1" dirty="0">
                <a:solidFill>
                  <a:srgbClr val="002060"/>
                </a:solidFill>
                <a:latin typeface="华文楷体" panose="02010600040101010101" pitchFamily="2" charset="-122"/>
                <a:ea typeface="华文楷体" panose="02010600040101010101" pitchFamily="2" charset="-122"/>
              </a:rPr>
              <a:t>julia&gt; a=(1,2,magic(2),'4’)</a:t>
            </a:r>
          </a:p>
          <a:p>
            <a:r>
              <a:rPr lang="es-ES" altLang="zh-CN" sz="2000" b="1" dirty="0">
                <a:solidFill>
                  <a:srgbClr val="00B0F0"/>
                </a:solidFill>
                <a:latin typeface="华文楷体" panose="02010600040101010101" pitchFamily="2" charset="-122"/>
                <a:ea typeface="华文楷体" panose="02010600040101010101" pitchFamily="2" charset="-122"/>
              </a:rPr>
              <a:t>#</a:t>
            </a:r>
            <a:r>
              <a:rPr lang="zh-CN" altLang="en-US" sz="2000" b="1" dirty="0">
                <a:solidFill>
                  <a:srgbClr val="00B0F0"/>
                </a:solidFill>
                <a:latin typeface="华文楷体" panose="02010600040101010101" pitchFamily="2" charset="-122"/>
                <a:ea typeface="华文楷体" panose="02010600040101010101" pitchFamily="2" charset="-122"/>
              </a:rPr>
              <a:t>结果</a:t>
            </a:r>
            <a:r>
              <a:rPr lang="es-ES" altLang="zh-CN" sz="2000" b="1" dirty="0">
                <a:solidFill>
                  <a:srgbClr val="00B0F0"/>
                </a:solidFill>
                <a:latin typeface="华文楷体" panose="02010600040101010101" pitchFamily="2" charset="-122"/>
                <a:ea typeface="华文楷体" panose="02010600040101010101" pitchFamily="2" charset="-122"/>
              </a:rPr>
              <a:t>(1, 2, [1 3; 4 2], '4')</a:t>
            </a:r>
            <a:endParaRPr lang="en-US" altLang="zh-CN" sz="2000" b="1" dirty="0">
              <a:solidFill>
                <a:srgbClr val="00B0F0"/>
              </a:solidFill>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C52F4344-2A29-4BD0-9E4C-9BA3852A1009}"/>
              </a:ext>
            </a:extLst>
          </p:cNvPr>
          <p:cNvSpPr txBox="1"/>
          <p:nvPr/>
        </p:nvSpPr>
        <p:spPr>
          <a:xfrm>
            <a:off x="6524633" y="1652742"/>
            <a:ext cx="1889051" cy="646331"/>
          </a:xfrm>
          <a:prstGeom prst="rect">
            <a:avLst/>
          </a:prstGeom>
          <a:noFill/>
          <a:ln>
            <a:solidFill>
              <a:schemeClr val="bg1">
                <a:lumMod val="50000"/>
              </a:schemeClr>
            </a:solidFill>
          </a:ln>
        </p:spPr>
        <p:txBody>
          <a:bodyPr wrap="square">
            <a:spAutoFit/>
          </a:bodyPr>
          <a:lstStyle/>
          <a:p>
            <a:r>
              <a:rPr lang="zh-CN" altLang="en-US" dirty="0">
                <a:solidFill>
                  <a:srgbClr val="00B0F0"/>
                </a:solidFill>
              </a:rPr>
              <a:t>julia&gt; typeof(a)</a:t>
            </a:r>
          </a:p>
          <a:p>
            <a:r>
              <a:rPr lang="zh-CN" altLang="en-US" dirty="0">
                <a:solidFill>
                  <a:srgbClr val="00B0F0"/>
                </a:solidFill>
              </a:rPr>
              <a:t>NTuple{4, Int64}</a:t>
            </a:r>
          </a:p>
        </p:txBody>
      </p:sp>
      <p:sp>
        <p:nvSpPr>
          <p:cNvPr id="7" name="AutoShape 13">
            <a:extLst>
              <a:ext uri="{FF2B5EF4-FFF2-40B4-BE49-F238E27FC236}">
                <a16:creationId xmlns:a16="http://schemas.microsoft.com/office/drawing/2014/main" id="{F467DD8C-A3BC-41AB-A9E0-E887C097AD61}"/>
              </a:ext>
            </a:extLst>
          </p:cNvPr>
          <p:cNvSpPr>
            <a:spLocks noChangeArrowheads="1"/>
          </p:cNvSpPr>
          <p:nvPr/>
        </p:nvSpPr>
        <p:spPr bwMode="auto">
          <a:xfrm>
            <a:off x="5925990" y="4072933"/>
            <a:ext cx="3035815" cy="491007"/>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kern="0" dirty="0">
                <a:solidFill>
                  <a:srgbClr val="FFFF00"/>
                </a:solidFill>
                <a:latin typeface="微软雅黑" panose="020B0503020204020204" pitchFamily="34" charset="-122"/>
                <a:ea typeface="微软雅黑" panose="020B0503020204020204" pitchFamily="34" charset="-122"/>
              </a:rPr>
              <a:t>有序才能索引</a:t>
            </a:r>
          </a:p>
        </p:txBody>
      </p:sp>
      <p:sp>
        <p:nvSpPr>
          <p:cNvPr id="5" name="内容占位符 2">
            <a:extLst>
              <a:ext uri="{FF2B5EF4-FFF2-40B4-BE49-F238E27FC236}">
                <a16:creationId xmlns:a16="http://schemas.microsoft.com/office/drawing/2014/main" id="{596AEE07-5B50-F8CB-3AD8-9F7DB869822C}"/>
              </a:ext>
            </a:extLst>
          </p:cNvPr>
          <p:cNvSpPr txBox="1">
            <a:spLocks/>
          </p:cNvSpPr>
          <p:nvPr/>
        </p:nvSpPr>
        <p:spPr bwMode="auto">
          <a:xfrm>
            <a:off x="493184" y="686196"/>
            <a:ext cx="8569741" cy="40729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lgn="l"/>
            <a:r>
              <a:rPr lang="zh-CN" altLang="en-US" dirty="0"/>
              <a:t>元组：类似数组</a:t>
            </a:r>
            <a:r>
              <a:rPr lang="en-US" altLang="zh-CN" dirty="0"/>
              <a:t>,</a:t>
            </a:r>
            <a:r>
              <a:rPr lang="zh-CN" altLang="en-US" dirty="0"/>
              <a:t>是有序元素集合</a:t>
            </a:r>
            <a:r>
              <a:rPr lang="en-US" altLang="zh-CN" dirty="0"/>
              <a:t>,</a:t>
            </a:r>
            <a:r>
              <a:rPr lang="zh-CN" altLang="en-US" dirty="0"/>
              <a:t>可容纳任意类型任何值，且</a:t>
            </a:r>
            <a:r>
              <a:rPr lang="zh-CN" altLang="en-US" dirty="0">
                <a:solidFill>
                  <a:srgbClr val="FF0000"/>
                </a:solidFill>
              </a:rPr>
              <a:t>元素不能修改</a:t>
            </a:r>
            <a:endParaRPr lang="en-US" altLang="zh-CN" dirty="0">
              <a:solidFill>
                <a:srgbClr val="FF0000"/>
              </a:solidFill>
            </a:endParaRPr>
          </a:p>
        </p:txBody>
      </p:sp>
    </p:spTree>
    <p:extLst>
      <p:ext uri="{BB962C8B-B14F-4D97-AF65-F5344CB8AC3E}">
        <p14:creationId xmlns:p14="http://schemas.microsoft.com/office/powerpoint/2010/main" val="1811004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8595BA1-8033-4955-B1D7-AA0D5787EFA6}"/>
              </a:ext>
            </a:extLst>
          </p:cNvPr>
          <p:cNvSpPr txBox="1"/>
          <p:nvPr/>
        </p:nvSpPr>
        <p:spPr>
          <a:xfrm>
            <a:off x="557831" y="3645941"/>
            <a:ext cx="4289171" cy="461665"/>
          </a:xfrm>
          <a:prstGeom prst="rect">
            <a:avLst/>
          </a:prstGeom>
          <a:noFill/>
        </p:spPr>
        <p:txBody>
          <a:bodyPr wrap="square">
            <a:spAutoFit/>
          </a:bodyPr>
          <a:lstStyle/>
          <a:p>
            <a:pPr>
              <a:lnSpc>
                <a:spcPct val="100000"/>
              </a:lnSpc>
              <a:buFont typeface="Wingdings" panose="05000000000000000000" pitchFamily="2" charset="2"/>
              <a:buNone/>
            </a:pPr>
            <a:r>
              <a:rPr lang="en-US" altLang="zh-CN" sz="2400" kern="0" dirty="0" err="1"/>
              <a:t>julia</a:t>
            </a:r>
            <a:r>
              <a:rPr lang="en-US" altLang="zh-CN" sz="2400" kern="0" dirty="0"/>
              <a:t>&gt; </a:t>
            </a:r>
            <a:r>
              <a:rPr lang="en-US" altLang="zh-CN" sz="2400" kern="0" dirty="0" err="1"/>
              <a:t>x,y</a:t>
            </a:r>
            <a:r>
              <a:rPr lang="en-US" altLang="zh-CN" sz="2400" kern="0" dirty="0"/>
              <a:t>=1,2   </a:t>
            </a:r>
            <a:r>
              <a:rPr lang="zh-CN" altLang="en-US" sz="2400" b="1" dirty="0">
                <a:solidFill>
                  <a:srgbClr val="00B0F0"/>
                </a:solidFill>
              </a:rPr>
              <a:t>结果</a:t>
            </a:r>
            <a:r>
              <a:rPr lang="en-US" altLang="zh-CN" sz="2400" b="1" dirty="0">
                <a:solidFill>
                  <a:srgbClr val="00B0F0"/>
                </a:solidFill>
              </a:rPr>
              <a:t>(1, 2)</a:t>
            </a:r>
          </a:p>
        </p:txBody>
      </p:sp>
      <p:sp>
        <p:nvSpPr>
          <p:cNvPr id="7" name="文本框 6">
            <a:extLst>
              <a:ext uri="{FF2B5EF4-FFF2-40B4-BE49-F238E27FC236}">
                <a16:creationId xmlns:a16="http://schemas.microsoft.com/office/drawing/2014/main" id="{96EA4718-5C7A-4150-B8D1-CF6434D153B9}"/>
              </a:ext>
            </a:extLst>
          </p:cNvPr>
          <p:cNvSpPr txBox="1"/>
          <p:nvPr/>
        </p:nvSpPr>
        <p:spPr>
          <a:xfrm>
            <a:off x="467544" y="1064984"/>
            <a:ext cx="5027530" cy="1200329"/>
          </a:xfrm>
          <a:prstGeom prst="rect">
            <a:avLst/>
          </a:prstGeom>
          <a:noFill/>
        </p:spPr>
        <p:txBody>
          <a:bodyPr wrap="square">
            <a:spAutoFit/>
          </a:bodyPr>
          <a:lstStyle/>
          <a:p>
            <a:r>
              <a:rPr lang="en-US" altLang="zh-CN" sz="2400" dirty="0"/>
              <a:t>julia&gt; ab=(a=1,b=2 </a:t>
            </a:r>
            <a:r>
              <a:rPr lang="zh-CN" altLang="en-US" sz="2400" dirty="0"/>
              <a:t>）</a:t>
            </a:r>
            <a:endParaRPr lang="en-US" altLang="zh-CN" sz="2400" dirty="0"/>
          </a:p>
          <a:p>
            <a:r>
              <a:rPr lang="zh-CN" altLang="en-US" sz="2400" b="1" dirty="0">
                <a:solidFill>
                  <a:srgbClr val="00B0F0"/>
                </a:solidFill>
              </a:rPr>
              <a:t>结果</a:t>
            </a:r>
            <a:r>
              <a:rPr lang="en-US" altLang="zh-CN" sz="2400" b="1" dirty="0">
                <a:solidFill>
                  <a:srgbClr val="00B0F0"/>
                </a:solidFill>
              </a:rPr>
              <a:t>(a = 1, b = 2)</a:t>
            </a:r>
          </a:p>
          <a:p>
            <a:r>
              <a:rPr lang="en-US" altLang="zh-CN" sz="2400" dirty="0">
                <a:solidFill>
                  <a:srgbClr val="002060"/>
                </a:solidFill>
                <a:latin typeface="华文楷体" panose="02010600040101010101" pitchFamily="2" charset="-122"/>
                <a:ea typeface="华文楷体" panose="02010600040101010101" pitchFamily="2" charset="-122"/>
              </a:rPr>
              <a:t>julia&gt; </a:t>
            </a:r>
            <a:r>
              <a:rPr lang="en-US" altLang="zh-CN" sz="2400" dirty="0" err="1">
                <a:solidFill>
                  <a:srgbClr val="002060"/>
                </a:solidFill>
                <a:latin typeface="华文楷体" panose="02010600040101010101" pitchFamily="2" charset="-122"/>
                <a:ea typeface="华文楷体" panose="02010600040101010101" pitchFamily="2" charset="-122"/>
              </a:rPr>
              <a:t>ab.b</a:t>
            </a:r>
            <a:r>
              <a:rPr lang="en-US" altLang="zh-CN" sz="2400" dirty="0">
                <a:solidFill>
                  <a:srgbClr val="002060"/>
                </a:solidFill>
                <a:latin typeface="华文楷体" panose="02010600040101010101" pitchFamily="2" charset="-122"/>
                <a:ea typeface="华文楷体" panose="02010600040101010101" pitchFamily="2" charset="-122"/>
              </a:rPr>
              <a:t>  #</a:t>
            </a:r>
            <a:r>
              <a:rPr lang="zh-CN" altLang="en-US" sz="2400" dirty="0">
                <a:solidFill>
                  <a:srgbClr val="0070C0"/>
                </a:solidFill>
                <a:latin typeface="华文楷体" panose="02010600040101010101" pitchFamily="2" charset="-122"/>
                <a:ea typeface="华文楷体" panose="02010600040101010101" pitchFamily="2" charset="-122"/>
              </a:rPr>
              <a:t>变量和元素间加点访问</a:t>
            </a:r>
            <a:endParaRPr lang="en-US" altLang="zh-CN" sz="2400" dirty="0">
              <a:solidFill>
                <a:srgbClr val="0070C0"/>
              </a:solidFill>
            </a:endParaRPr>
          </a:p>
        </p:txBody>
      </p:sp>
      <p:sp>
        <p:nvSpPr>
          <p:cNvPr id="9" name="文本框 8">
            <a:extLst>
              <a:ext uri="{FF2B5EF4-FFF2-40B4-BE49-F238E27FC236}">
                <a16:creationId xmlns:a16="http://schemas.microsoft.com/office/drawing/2014/main" id="{E632979B-B383-431E-8826-813B12957FFE}"/>
              </a:ext>
            </a:extLst>
          </p:cNvPr>
          <p:cNvSpPr txBox="1"/>
          <p:nvPr/>
        </p:nvSpPr>
        <p:spPr>
          <a:xfrm>
            <a:off x="470738" y="699542"/>
            <a:ext cx="5764384" cy="400110"/>
          </a:xfrm>
          <a:prstGeom prst="rect">
            <a:avLst/>
          </a:prstGeom>
          <a:noFill/>
        </p:spPr>
        <p:txBody>
          <a:bodyPr wrap="square">
            <a:spAutoFit/>
          </a:bodyPr>
          <a:lstStyle/>
          <a:p>
            <a:pPr marL="342900" indent="-342900">
              <a:buFont typeface="Wingdings" panose="05000000000000000000" pitchFamily="2" charset="2"/>
              <a:buChar char="p"/>
            </a:pPr>
            <a:r>
              <a:rPr lang="zh-CN" altLang="en-US" sz="2000" b="1" dirty="0">
                <a:solidFill>
                  <a:srgbClr val="0070C0"/>
                </a:solidFill>
                <a:latin typeface="微软雅黑" panose="020B0503020204020204" pitchFamily="34" charset="-122"/>
                <a:ea typeface="微软雅黑" panose="020B0503020204020204" pitchFamily="34" charset="-122"/>
              </a:rPr>
              <a:t>可创建元组的键</a:t>
            </a:r>
            <a:r>
              <a:rPr lang="en-US" altLang="zh-CN" sz="2000" b="1" dirty="0">
                <a:solidFill>
                  <a:srgbClr val="0070C0"/>
                </a:solidFill>
                <a:latin typeface="微软雅黑" panose="020B0503020204020204" pitchFamily="34" charset="-122"/>
                <a:ea typeface="微软雅黑" panose="020B0503020204020204" pitchFamily="34" charset="-122"/>
              </a:rPr>
              <a:t>a</a:t>
            </a:r>
            <a:r>
              <a:rPr lang="zh-CN" altLang="en-US" sz="2000" b="1" dirty="0">
                <a:solidFill>
                  <a:srgbClr val="0070C0"/>
                </a:solidFill>
                <a:latin typeface="微软雅黑" panose="020B0503020204020204" pitchFamily="34" charset="-122"/>
                <a:ea typeface="微软雅黑" panose="020B0503020204020204" pitchFamily="34" charset="-122"/>
              </a:rPr>
              <a:t>和值</a:t>
            </a:r>
            <a:r>
              <a:rPr lang="en-US" altLang="zh-CN" sz="2000" b="1" dirty="0">
                <a:solidFill>
                  <a:srgbClr val="0070C0"/>
                </a:solidFill>
                <a:latin typeface="微软雅黑" panose="020B0503020204020204" pitchFamily="34" charset="-122"/>
                <a:ea typeface="微软雅黑" panose="020B0503020204020204" pitchFamily="34" charset="-122"/>
              </a:rPr>
              <a:t>1</a:t>
            </a:r>
            <a:r>
              <a:rPr lang="zh-CN" altLang="en-US" sz="2000" b="1" dirty="0">
                <a:solidFill>
                  <a:srgbClr val="0070C0"/>
                </a:solidFill>
                <a:latin typeface="微软雅黑" panose="020B0503020204020204" pitchFamily="34" charset="-122"/>
                <a:ea typeface="微软雅黑" panose="020B0503020204020204" pitchFamily="34" charset="-122"/>
              </a:rPr>
              <a:t>同在一个元组</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64AE9067-24B0-4771-A224-E750E51D8230}"/>
              </a:ext>
            </a:extLst>
          </p:cNvPr>
          <p:cNvSpPr txBox="1"/>
          <p:nvPr/>
        </p:nvSpPr>
        <p:spPr>
          <a:xfrm>
            <a:off x="503097" y="3281183"/>
            <a:ext cx="5764384" cy="400110"/>
          </a:xfrm>
          <a:prstGeom prst="rect">
            <a:avLst/>
          </a:prstGeom>
          <a:noFill/>
        </p:spPr>
        <p:txBody>
          <a:bodyPr wrap="square">
            <a:spAutoFit/>
          </a:bodyPr>
          <a:lstStyle>
            <a:defPPr>
              <a:defRPr lang="zh-CN"/>
            </a:defPPr>
            <a:lvl1pPr marL="342900" indent="-342900">
              <a:buFont typeface="Wingdings" panose="05000000000000000000" pitchFamily="2" charset="2"/>
              <a:buChar char="p"/>
              <a:defRPr sz="2400">
                <a:solidFill>
                  <a:srgbClr val="0070C0"/>
                </a:solidFill>
                <a:latin typeface="微软雅黑" panose="020B0503020204020204" pitchFamily="34" charset="-122"/>
                <a:ea typeface="微软雅黑" panose="020B0503020204020204" pitchFamily="34" charset="-122"/>
              </a:defRPr>
            </a:lvl1pPr>
          </a:lstStyle>
          <a:p>
            <a:r>
              <a:rPr lang="zh-CN" altLang="en-US" sz="2000" b="1" dirty="0"/>
              <a:t>定义多个变量使用</a:t>
            </a:r>
            <a:r>
              <a:rPr lang="zh-CN" altLang="en-US" sz="2000" b="1" dirty="0">
                <a:solidFill>
                  <a:schemeClr val="bg1"/>
                </a:solidFill>
                <a:highlight>
                  <a:srgbClr val="FF0000"/>
                </a:highlight>
              </a:rPr>
              <a:t>平行赋值法</a:t>
            </a:r>
            <a:r>
              <a:rPr lang="zh-CN" altLang="en-US" sz="2000" b="1" dirty="0"/>
              <a:t>创建元组</a:t>
            </a:r>
            <a:endParaRPr lang="en-US" altLang="zh-CN" sz="2000" b="1" dirty="0"/>
          </a:p>
        </p:txBody>
      </p:sp>
      <p:sp>
        <p:nvSpPr>
          <p:cNvPr id="11" name="标题 1">
            <a:extLst>
              <a:ext uri="{FF2B5EF4-FFF2-40B4-BE49-F238E27FC236}">
                <a16:creationId xmlns:a16="http://schemas.microsoft.com/office/drawing/2014/main" id="{64F0F415-67CE-4807-B84D-6613E5F8276E}"/>
              </a:ext>
            </a:extLst>
          </p:cNvPr>
          <p:cNvSpPr>
            <a:spLocks noGrp="1"/>
          </p:cNvSpPr>
          <p:nvPr>
            <p:ph type="title"/>
          </p:nvPr>
        </p:nvSpPr>
        <p:spPr>
          <a:xfrm>
            <a:off x="1044393" y="-210460"/>
            <a:ext cx="7667625" cy="870198"/>
          </a:xfrm>
        </p:spPr>
        <p:txBody>
          <a:bodyPr/>
          <a:lstStyle/>
          <a:p>
            <a:r>
              <a:rPr lang="en-US" altLang="zh-CN" sz="2800" dirty="0"/>
              <a:t>§1.4.4 Julia </a:t>
            </a:r>
            <a:r>
              <a:rPr lang="zh-CN" altLang="en-US" sz="2800" dirty="0"/>
              <a:t>元组（</a:t>
            </a:r>
            <a:r>
              <a:rPr lang="en-US" altLang="zh-CN" sz="2800" dirty="0"/>
              <a:t>tuple</a:t>
            </a:r>
            <a:r>
              <a:rPr lang="zh-CN" altLang="en-US" sz="2800" dirty="0"/>
              <a:t>）</a:t>
            </a:r>
            <a:r>
              <a:rPr lang="en-US" altLang="zh-CN" sz="2800" dirty="0">
                <a:solidFill>
                  <a:srgbClr val="FF0000"/>
                </a:solidFill>
              </a:rPr>
              <a:t>——</a:t>
            </a:r>
            <a:r>
              <a:rPr lang="zh-CN" altLang="en-US" sz="2800" dirty="0">
                <a:solidFill>
                  <a:srgbClr val="FF0000"/>
                </a:solidFill>
              </a:rPr>
              <a:t>元组特点创建 </a:t>
            </a:r>
          </a:p>
        </p:txBody>
      </p:sp>
      <p:sp>
        <p:nvSpPr>
          <p:cNvPr id="14" name="文本框 13">
            <a:extLst>
              <a:ext uri="{FF2B5EF4-FFF2-40B4-BE49-F238E27FC236}">
                <a16:creationId xmlns:a16="http://schemas.microsoft.com/office/drawing/2014/main" id="{C724A009-F615-4A10-8D92-E6D03E0244C7}"/>
              </a:ext>
            </a:extLst>
          </p:cNvPr>
          <p:cNvSpPr txBox="1"/>
          <p:nvPr/>
        </p:nvSpPr>
        <p:spPr>
          <a:xfrm>
            <a:off x="559701" y="4078156"/>
            <a:ext cx="4012435" cy="461665"/>
          </a:xfrm>
          <a:prstGeom prst="rect">
            <a:avLst/>
          </a:prstGeom>
          <a:noFill/>
        </p:spPr>
        <p:txBody>
          <a:bodyPr wrap="square">
            <a:spAutoFit/>
          </a:bodyPr>
          <a:lstStyle/>
          <a:p>
            <a:r>
              <a:rPr lang="zh-CN" altLang="en-US" sz="2400" dirty="0"/>
              <a:t>julia&gt; x+y   </a:t>
            </a:r>
            <a:r>
              <a:rPr lang="zh-CN" altLang="en-US" sz="2400" b="1" dirty="0">
                <a:solidFill>
                  <a:srgbClr val="00B0F0"/>
                </a:solidFill>
              </a:rPr>
              <a:t>结果3</a:t>
            </a:r>
          </a:p>
        </p:txBody>
      </p:sp>
      <p:sp>
        <p:nvSpPr>
          <p:cNvPr id="19" name="文本框 18">
            <a:extLst>
              <a:ext uri="{FF2B5EF4-FFF2-40B4-BE49-F238E27FC236}">
                <a16:creationId xmlns:a16="http://schemas.microsoft.com/office/drawing/2014/main" id="{FB3D1831-6E9C-4883-92CA-DECDE373E697}"/>
              </a:ext>
            </a:extLst>
          </p:cNvPr>
          <p:cNvSpPr txBox="1"/>
          <p:nvPr/>
        </p:nvSpPr>
        <p:spPr>
          <a:xfrm>
            <a:off x="6291874" y="2512413"/>
            <a:ext cx="2483769" cy="707886"/>
          </a:xfrm>
          <a:prstGeom prst="rect">
            <a:avLst/>
          </a:prstGeom>
          <a:noFill/>
        </p:spPr>
        <p:txBody>
          <a:bodyPr wrap="square">
            <a:spAutoFit/>
          </a:bodyPr>
          <a:lstStyle/>
          <a:p>
            <a:r>
              <a:rPr lang="zh-CN" altLang="en-US" sz="2000" dirty="0"/>
              <a:t>访问a2[1] 结果</a:t>
            </a:r>
            <a:r>
              <a:rPr lang="zh-CN" altLang="en-US" sz="2000" dirty="0">
                <a:solidFill>
                  <a:srgbClr val="00B0F0"/>
                </a:solidFill>
              </a:rPr>
              <a:t>(2, 3)</a:t>
            </a:r>
          </a:p>
          <a:p>
            <a:r>
              <a:rPr lang="zh-CN" altLang="en-US" sz="2000" dirty="0"/>
              <a:t>访问a2[1][1]结果</a:t>
            </a:r>
            <a:r>
              <a:rPr lang="zh-CN" altLang="en-US" sz="2000" dirty="0">
                <a:solidFill>
                  <a:srgbClr val="00B0F0"/>
                </a:solidFill>
              </a:rPr>
              <a:t>2</a:t>
            </a:r>
          </a:p>
        </p:txBody>
      </p:sp>
      <p:sp>
        <p:nvSpPr>
          <p:cNvPr id="16" name="文本框 15">
            <a:extLst>
              <a:ext uri="{FF2B5EF4-FFF2-40B4-BE49-F238E27FC236}">
                <a16:creationId xmlns:a16="http://schemas.microsoft.com/office/drawing/2014/main" id="{C9B8D3F8-A413-4E36-B6A2-9898F4A132C8}"/>
              </a:ext>
            </a:extLst>
          </p:cNvPr>
          <p:cNvSpPr txBox="1"/>
          <p:nvPr/>
        </p:nvSpPr>
        <p:spPr>
          <a:xfrm>
            <a:off x="5487022" y="1776227"/>
            <a:ext cx="1296145" cy="461665"/>
          </a:xfrm>
          <a:prstGeom prst="rect">
            <a:avLst/>
          </a:prstGeom>
          <a:noFill/>
        </p:spPr>
        <p:txBody>
          <a:bodyPr wrap="square">
            <a:spAutoFit/>
          </a:bodyPr>
          <a:lstStyle/>
          <a:p>
            <a:r>
              <a:rPr lang="zh-CN" altLang="en-US" sz="2400" b="1" dirty="0">
                <a:solidFill>
                  <a:srgbClr val="00B0F0"/>
                </a:solidFill>
              </a:rPr>
              <a:t>结果为</a:t>
            </a:r>
            <a:r>
              <a:rPr lang="en-US" altLang="zh-CN" sz="2400" b="1" dirty="0">
                <a:solidFill>
                  <a:srgbClr val="00B0F0"/>
                </a:solidFill>
              </a:rPr>
              <a:t>2</a:t>
            </a:r>
            <a:endParaRPr lang="zh-CN" altLang="en-US" sz="2400" b="1" dirty="0">
              <a:solidFill>
                <a:srgbClr val="00B0F0"/>
              </a:solidFill>
            </a:endParaRPr>
          </a:p>
        </p:txBody>
      </p:sp>
      <p:sp>
        <p:nvSpPr>
          <p:cNvPr id="2" name="文本框 1">
            <a:extLst>
              <a:ext uri="{FF2B5EF4-FFF2-40B4-BE49-F238E27FC236}">
                <a16:creationId xmlns:a16="http://schemas.microsoft.com/office/drawing/2014/main" id="{B7F2BB4F-C492-41DB-BCFC-96E164916C6F}"/>
              </a:ext>
            </a:extLst>
          </p:cNvPr>
          <p:cNvSpPr txBox="1"/>
          <p:nvPr/>
        </p:nvSpPr>
        <p:spPr>
          <a:xfrm>
            <a:off x="510082" y="2328279"/>
            <a:ext cx="5764384" cy="400110"/>
          </a:xfrm>
          <a:prstGeom prst="rect">
            <a:avLst/>
          </a:prstGeom>
          <a:noFill/>
        </p:spPr>
        <p:txBody>
          <a:bodyPr wrap="square">
            <a:spAutoFit/>
          </a:bodyPr>
          <a:lstStyle>
            <a:defPPr>
              <a:defRPr lang="zh-CN"/>
            </a:defPPr>
            <a:lvl1pPr marL="342900" indent="-342900">
              <a:buFont typeface="Wingdings" panose="05000000000000000000" pitchFamily="2" charset="2"/>
              <a:buChar char="p"/>
              <a:defRPr sz="2400">
                <a:solidFill>
                  <a:srgbClr val="0070C0"/>
                </a:solidFill>
                <a:latin typeface="微软雅黑" panose="020B0503020204020204" pitchFamily="34" charset="-122"/>
                <a:ea typeface="微软雅黑" panose="020B0503020204020204" pitchFamily="34" charset="-122"/>
              </a:defRPr>
            </a:lvl1pPr>
          </a:lstStyle>
          <a:p>
            <a:r>
              <a:rPr lang="zh-CN" altLang="en-US" sz="2000" b="1" dirty="0"/>
              <a:t>创建二维元组</a:t>
            </a:r>
            <a:endParaRPr lang="en-US" altLang="zh-CN" sz="2000" b="1" dirty="0"/>
          </a:p>
        </p:txBody>
      </p:sp>
      <p:sp>
        <p:nvSpPr>
          <p:cNvPr id="3" name="矩形 2">
            <a:extLst>
              <a:ext uri="{FF2B5EF4-FFF2-40B4-BE49-F238E27FC236}">
                <a16:creationId xmlns:a16="http://schemas.microsoft.com/office/drawing/2014/main" id="{195E8C60-5151-40A2-A1E1-AEFB39077F03}"/>
              </a:ext>
            </a:extLst>
          </p:cNvPr>
          <p:cNvSpPr/>
          <p:nvPr/>
        </p:nvSpPr>
        <p:spPr>
          <a:xfrm>
            <a:off x="2793721" y="2288389"/>
            <a:ext cx="2726844" cy="40011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kern="0" dirty="0">
                <a:solidFill>
                  <a:schemeClr val="bg1"/>
                </a:solidFill>
                <a:highlight>
                  <a:srgbClr val="FF0000"/>
                </a:highlight>
              </a:rPr>
              <a:t>( (x1,x2) , (x3,x4) )</a:t>
            </a:r>
            <a:endParaRPr lang="zh-CN" altLang="en-US" sz="20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59219A0C-F740-49E2-82B1-58AE705C7D7C}"/>
              </a:ext>
            </a:extLst>
          </p:cNvPr>
          <p:cNvSpPr txBox="1"/>
          <p:nvPr/>
        </p:nvSpPr>
        <p:spPr>
          <a:xfrm>
            <a:off x="566789" y="2751578"/>
            <a:ext cx="5720373" cy="461665"/>
          </a:xfrm>
          <a:prstGeom prst="rect">
            <a:avLst/>
          </a:prstGeom>
          <a:noFill/>
        </p:spPr>
        <p:txBody>
          <a:bodyPr wrap="square">
            <a:spAutoFit/>
          </a:bodyPr>
          <a:lstStyle/>
          <a:p>
            <a:r>
              <a:rPr lang="zh-CN" altLang="en-US" sz="2400" dirty="0"/>
              <a:t>julia&gt; a2=((2,3),(3,4))  </a:t>
            </a:r>
            <a:r>
              <a:rPr lang="en-US" altLang="zh-CN" sz="2400" b="1" dirty="0">
                <a:solidFill>
                  <a:srgbClr val="00B0F0"/>
                </a:solidFill>
              </a:rPr>
              <a:t>#</a:t>
            </a:r>
            <a:r>
              <a:rPr lang="zh-CN" altLang="en-US" sz="2400" b="1" dirty="0">
                <a:solidFill>
                  <a:srgbClr val="00B0F0"/>
                </a:solidFill>
              </a:rPr>
              <a:t>结果((2, 3), (3, 4))</a:t>
            </a:r>
          </a:p>
        </p:txBody>
      </p:sp>
    </p:spTree>
    <p:extLst>
      <p:ext uri="{BB962C8B-B14F-4D97-AF65-F5344CB8AC3E}">
        <p14:creationId xmlns:p14="http://schemas.microsoft.com/office/powerpoint/2010/main" val="334466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AEF3AFF-784D-4D51-860B-1069E72223ED}"/>
              </a:ext>
            </a:extLst>
          </p:cNvPr>
          <p:cNvSpPr txBox="1">
            <a:spLocks/>
          </p:cNvSpPr>
          <p:nvPr/>
        </p:nvSpPr>
        <p:spPr bwMode="auto">
          <a:xfrm>
            <a:off x="1907705" y="241820"/>
            <a:ext cx="6696744"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kern="0" dirty="0"/>
              <a:t>§1.4.5 </a:t>
            </a:r>
            <a:r>
              <a:rPr lang="zh-CN" altLang="en-US" sz="3000" kern="0" dirty="0"/>
              <a:t>字典</a:t>
            </a:r>
            <a:r>
              <a:rPr lang="en-US" altLang="zh-CN" sz="3000" dirty="0">
                <a:solidFill>
                  <a:srgbClr val="FF0000"/>
                </a:solidFill>
              </a:rPr>
              <a:t>——</a:t>
            </a:r>
            <a:r>
              <a:rPr lang="en-US" altLang="zh-CN" sz="3000" dirty="0" err="1">
                <a:solidFill>
                  <a:srgbClr val="FF0000"/>
                </a:solidFill>
              </a:rPr>
              <a:t>Dict</a:t>
            </a:r>
            <a:r>
              <a:rPr lang="zh-CN" altLang="en-US" sz="3000" dirty="0">
                <a:solidFill>
                  <a:srgbClr val="FF0000"/>
                </a:solidFill>
              </a:rPr>
              <a:t>创建字典 </a:t>
            </a:r>
            <a:endParaRPr lang="zh-CN" altLang="en-US" sz="3000" kern="0" dirty="0">
              <a:solidFill>
                <a:srgbClr val="FF0000"/>
              </a:solidFill>
            </a:endParaRPr>
          </a:p>
        </p:txBody>
      </p:sp>
      <p:sp>
        <p:nvSpPr>
          <p:cNvPr id="5" name="内容占位符 2">
            <a:extLst>
              <a:ext uri="{FF2B5EF4-FFF2-40B4-BE49-F238E27FC236}">
                <a16:creationId xmlns:a16="http://schemas.microsoft.com/office/drawing/2014/main" id="{DB7B8CBC-D84E-43E0-B757-63F7127C9C72}"/>
              </a:ext>
            </a:extLst>
          </p:cNvPr>
          <p:cNvSpPr>
            <a:spLocks noGrp="1"/>
          </p:cNvSpPr>
          <p:nvPr>
            <p:ph idx="1"/>
          </p:nvPr>
        </p:nvSpPr>
        <p:spPr>
          <a:xfrm>
            <a:off x="467543" y="1347614"/>
            <a:ext cx="8434683" cy="438774"/>
          </a:xfrm>
        </p:spPr>
        <p:txBody>
          <a:bodyPr/>
          <a:lstStyle/>
          <a:p>
            <a:pPr algn="dist">
              <a:buNone/>
            </a:pPr>
            <a:r>
              <a:rPr lang="zh-CN" altLang="en-US" sz="2200" b="1" dirty="0">
                <a:latin typeface="微软雅黑" panose="020B0503020204020204" pitchFamily="34" charset="-122"/>
                <a:ea typeface="微软雅黑" panose="020B0503020204020204" pitchFamily="34" charset="-122"/>
              </a:rPr>
              <a:t>如通讯录人名和电话</a:t>
            </a:r>
            <a:r>
              <a:rPr lang="en-US" altLang="zh-CN" sz="2200" b="1" dirty="0">
                <a:latin typeface="微软雅黑" panose="020B0503020204020204" pitchFamily="34" charset="-122"/>
                <a:ea typeface="微软雅黑" panose="020B0503020204020204" pitchFamily="34" charset="-122"/>
              </a:rPr>
              <a:t>,</a:t>
            </a:r>
            <a:r>
              <a:rPr lang="zh-CN" altLang="en-US" sz="2200" b="1" dirty="0">
                <a:latin typeface="微软雅黑" panose="020B0503020204020204" pitchFamily="34" charset="-122"/>
                <a:ea typeface="微软雅黑" panose="020B0503020204020204" pitchFamily="34" charset="-122"/>
              </a:rPr>
              <a:t>不同元组数组</a:t>
            </a:r>
            <a:r>
              <a:rPr lang="en-US" altLang="zh-CN" sz="2200" b="1" dirty="0">
                <a:latin typeface="微软雅黑" panose="020B0503020204020204" pitchFamily="34" charset="-122"/>
                <a:ea typeface="微软雅黑" panose="020B0503020204020204" pitchFamily="34" charset="-122"/>
              </a:rPr>
              <a:t>,</a:t>
            </a:r>
            <a:r>
              <a:rPr lang="zh-CN" altLang="en-US" sz="2200" b="1" dirty="0">
                <a:solidFill>
                  <a:srgbClr val="FFFF00"/>
                </a:solidFill>
                <a:highlight>
                  <a:srgbClr val="FF0000"/>
                </a:highlight>
                <a:latin typeface="微软雅黑" panose="020B0503020204020204" pitchFamily="34" charset="-122"/>
                <a:ea typeface="微软雅黑" panose="020B0503020204020204" pitchFamily="34" charset="-122"/>
              </a:rPr>
              <a:t>无序</a:t>
            </a:r>
            <a:r>
              <a:rPr lang="zh-CN" altLang="en-US" sz="2200" b="1" dirty="0">
                <a:latin typeface="微软雅黑" panose="020B0503020204020204" pitchFamily="34" charset="-122"/>
                <a:ea typeface="微软雅黑" panose="020B0503020204020204" pitchFamily="34" charset="-122"/>
              </a:rPr>
              <a:t>字典元素</a:t>
            </a:r>
            <a:r>
              <a:rPr lang="en-US" altLang="zh-CN" sz="2200" b="1" dirty="0">
                <a:latin typeface="微软雅黑" panose="020B0503020204020204" pitchFamily="34" charset="-122"/>
                <a:ea typeface="微软雅黑" panose="020B0503020204020204" pitchFamily="34" charset="-122"/>
              </a:rPr>
              <a:t>,</a:t>
            </a:r>
            <a:r>
              <a:rPr lang="zh-CN" altLang="en-US" sz="2200" b="1" dirty="0">
                <a:latin typeface="微软雅黑" panose="020B0503020204020204" pitchFamily="34" charset="-122"/>
                <a:ea typeface="微软雅黑" panose="020B0503020204020204" pitchFamily="34" charset="-122"/>
              </a:rPr>
              <a:t>字典</a:t>
            </a:r>
            <a:r>
              <a:rPr lang="zh-CN" altLang="en-US" sz="2200" b="1" dirty="0">
                <a:solidFill>
                  <a:srgbClr val="FFFF00"/>
                </a:solidFill>
                <a:highlight>
                  <a:srgbClr val="FF0000"/>
                </a:highlight>
                <a:latin typeface="微软雅黑" panose="020B0503020204020204" pitchFamily="34" charset="-122"/>
                <a:ea typeface="微软雅黑" panose="020B0503020204020204" pitchFamily="34" charset="-122"/>
              </a:rPr>
              <a:t>不能索引</a:t>
            </a:r>
          </a:p>
        </p:txBody>
      </p:sp>
      <p:sp>
        <p:nvSpPr>
          <p:cNvPr id="6" name="矩形 5">
            <a:extLst>
              <a:ext uri="{FF2B5EF4-FFF2-40B4-BE49-F238E27FC236}">
                <a16:creationId xmlns:a16="http://schemas.microsoft.com/office/drawing/2014/main" id="{F845B685-061C-4C5F-AC1B-64E3689A89EF}"/>
              </a:ext>
            </a:extLst>
          </p:cNvPr>
          <p:cNvSpPr/>
          <p:nvPr/>
        </p:nvSpPr>
        <p:spPr>
          <a:xfrm>
            <a:off x="1907704" y="1942718"/>
            <a:ext cx="6994521" cy="369332"/>
          </a:xfrm>
          <a:prstGeom prst="rect">
            <a:avLst/>
          </a:prstGeom>
          <a:solidFill>
            <a:srgbClr val="0070C0"/>
          </a:solidFill>
          <a:ln>
            <a:noFill/>
          </a:ln>
          <a:scene3d>
            <a:camera prst="orthographicFront"/>
            <a:lightRig rig="threePt" dir="t"/>
          </a:scene3d>
          <a:sp3d>
            <a:bevelT prst="relaxedInset"/>
          </a:sp3d>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en-US" altLang="zh-CN" kern="0" dirty="0">
                <a:solidFill>
                  <a:schemeClr val="bg1"/>
                </a:solidFill>
              </a:rPr>
              <a:t>D=</a:t>
            </a:r>
            <a:r>
              <a:rPr lang="en-US" altLang="zh-CN" kern="0" dirty="0" err="1">
                <a:solidFill>
                  <a:schemeClr val="bg1"/>
                </a:solidFill>
              </a:rPr>
              <a:t>Dict</a:t>
            </a:r>
            <a:r>
              <a:rPr lang="en-US" altLang="zh-CN" kern="0" dirty="0">
                <a:solidFill>
                  <a:schemeClr val="bg1"/>
                </a:solidFill>
              </a:rPr>
              <a:t>("key1" =&gt; value1, "key2" =&gt; value2,,…, "</a:t>
            </a:r>
            <a:r>
              <a:rPr lang="en-US" altLang="zh-CN" kern="0" dirty="0" err="1">
                <a:solidFill>
                  <a:schemeClr val="bg1"/>
                </a:solidFill>
              </a:rPr>
              <a:t>keyn</a:t>
            </a:r>
            <a:r>
              <a:rPr lang="en-US" altLang="zh-CN" kern="0" dirty="0">
                <a:solidFill>
                  <a:schemeClr val="bg1"/>
                </a:solidFill>
              </a:rPr>
              <a:t>" =&gt; </a:t>
            </a:r>
            <a:r>
              <a:rPr lang="en-US" altLang="zh-CN" kern="0" dirty="0" err="1">
                <a:solidFill>
                  <a:schemeClr val="bg1"/>
                </a:solidFill>
              </a:rPr>
              <a:t>valuen</a:t>
            </a:r>
            <a:r>
              <a:rPr lang="en-US" altLang="zh-CN" kern="0" dirty="0">
                <a:solidFill>
                  <a:schemeClr val="bg1"/>
                </a:solidFill>
              </a:rPr>
              <a:t>)</a:t>
            </a:r>
            <a:endParaRPr lang="zh-CN" altLang="en-US" kern="0" dirty="0">
              <a:solidFill>
                <a:schemeClr val="bg1"/>
              </a:solidFill>
            </a:endParaRPr>
          </a:p>
        </p:txBody>
      </p:sp>
      <p:sp>
        <p:nvSpPr>
          <p:cNvPr id="7" name="矩形 6">
            <a:extLst>
              <a:ext uri="{FF2B5EF4-FFF2-40B4-BE49-F238E27FC236}">
                <a16:creationId xmlns:a16="http://schemas.microsoft.com/office/drawing/2014/main" id="{93D71650-D547-43D9-9D82-D2A3CFCF31CB}"/>
              </a:ext>
            </a:extLst>
          </p:cNvPr>
          <p:cNvSpPr/>
          <p:nvPr/>
        </p:nvSpPr>
        <p:spPr>
          <a:xfrm>
            <a:off x="438551" y="2438674"/>
            <a:ext cx="8604448" cy="1919308"/>
          </a:xfrm>
          <a:prstGeom prst="rect">
            <a:avLst/>
          </a:prstGeom>
        </p:spPr>
        <p:txBody>
          <a:bodyPr wrap="square">
            <a:spAutoFit/>
          </a:bodyPr>
          <a:lstStyle/>
          <a:p>
            <a:pPr marL="457200" indent="-457200">
              <a:lnSpc>
                <a:spcPts val="3700"/>
              </a:lnSpc>
              <a:buFont typeface="+mj-ea"/>
              <a:buAutoNum type="circleNumDbPlain"/>
            </a:pPr>
            <a:r>
              <a:rPr lang="zh-CN" altLang="en-US" sz="2200" b="1" dirty="0">
                <a:solidFill>
                  <a:srgbClr val="002060"/>
                </a:solidFill>
                <a:latin typeface="宋体" panose="02010600030101010101" pitchFamily="2" charset="-122"/>
                <a:ea typeface="宋体" panose="02010600030101010101" pitchFamily="2" charset="-122"/>
              </a:rPr>
              <a:t>字典的每对键</a:t>
            </a:r>
            <a:r>
              <a:rPr lang="en-US" altLang="zh-CN" sz="2200" b="1" dirty="0">
                <a:solidFill>
                  <a:srgbClr val="002060"/>
                </a:solidFill>
                <a:latin typeface="宋体" panose="02010600030101010101" pitchFamily="2" charset="-122"/>
                <a:ea typeface="宋体" panose="02010600030101010101" pitchFamily="2" charset="-122"/>
              </a:rPr>
              <a:t>key</a:t>
            </a:r>
            <a:r>
              <a:rPr lang="zh-CN" altLang="en-US" sz="2200" b="1" dirty="0">
                <a:solidFill>
                  <a:srgbClr val="002060"/>
                </a:solidFill>
                <a:latin typeface="宋体" panose="02010600030101010101" pitchFamily="2" charset="-122"/>
                <a:ea typeface="宋体" panose="02010600030101010101" pitchFamily="2" charset="-122"/>
              </a:rPr>
              <a:t>值</a:t>
            </a:r>
            <a:r>
              <a:rPr lang="en-US" altLang="zh-CN" sz="2200" b="1" dirty="0">
                <a:solidFill>
                  <a:srgbClr val="002060"/>
                </a:solidFill>
                <a:latin typeface="宋体" panose="02010600030101010101" pitchFamily="2" charset="-122"/>
                <a:ea typeface="宋体" panose="02010600030101010101" pitchFamily="2" charset="-122"/>
              </a:rPr>
              <a:t>value</a:t>
            </a:r>
            <a:r>
              <a:rPr lang="zh-CN" altLang="en-US" sz="2200" b="1" dirty="0">
                <a:solidFill>
                  <a:srgbClr val="002060"/>
                </a:solidFill>
                <a:latin typeface="宋体" panose="02010600030101010101" pitchFamily="2" charset="-122"/>
                <a:ea typeface="宋体" panose="02010600030101010101" pitchFamily="2" charset="-122"/>
              </a:rPr>
              <a:t>用</a:t>
            </a:r>
            <a:r>
              <a:rPr lang="en-US" altLang="zh-CN" sz="2200" b="1" dirty="0">
                <a:solidFill>
                  <a:srgbClr val="002060"/>
                </a:solidFill>
                <a:latin typeface="宋体" panose="02010600030101010101" pitchFamily="2" charset="-122"/>
                <a:ea typeface="宋体" panose="02010600030101010101" pitchFamily="2" charset="-122"/>
              </a:rPr>
              <a:t>=&gt;</a:t>
            </a:r>
            <a:r>
              <a:rPr lang="zh-CN" altLang="en-US" sz="2200" b="1" dirty="0">
                <a:solidFill>
                  <a:srgbClr val="002060"/>
                </a:solidFill>
                <a:latin typeface="宋体" panose="02010600030101010101" pitchFamily="2" charset="-122"/>
                <a:ea typeface="宋体" panose="02010600030101010101" pitchFamily="2" charset="-122"/>
              </a:rPr>
              <a:t> 分割，每个键值对用逗号分割，键</a:t>
            </a:r>
            <a:r>
              <a:rPr lang="en-US" altLang="zh-CN" sz="2200" b="1" dirty="0">
                <a:solidFill>
                  <a:srgbClr val="002060"/>
                </a:solidFill>
                <a:latin typeface="宋体" panose="02010600030101010101" pitchFamily="2" charset="-122"/>
                <a:ea typeface="宋体" panose="02010600030101010101" pitchFamily="2" charset="-122"/>
              </a:rPr>
              <a:t>key</a:t>
            </a:r>
            <a:r>
              <a:rPr lang="zh-CN" altLang="en-US" sz="2200" b="1" dirty="0">
                <a:solidFill>
                  <a:srgbClr val="002060"/>
                </a:solidFill>
                <a:latin typeface="宋体" panose="02010600030101010101" pitchFamily="2" charset="-122"/>
                <a:ea typeface="宋体" panose="02010600030101010101" pitchFamily="2" charset="-122"/>
              </a:rPr>
              <a:t>是唯一的，可以字符串也可以是数据，</a:t>
            </a:r>
            <a:endParaRPr lang="en-US" altLang="zh-CN" sz="2200" b="1" dirty="0">
              <a:solidFill>
                <a:srgbClr val="002060"/>
              </a:solidFill>
              <a:latin typeface="宋体" panose="02010600030101010101" pitchFamily="2" charset="-122"/>
              <a:ea typeface="宋体" panose="02010600030101010101" pitchFamily="2" charset="-122"/>
            </a:endParaRPr>
          </a:p>
          <a:p>
            <a:pPr marL="457200" indent="-457200">
              <a:lnSpc>
                <a:spcPts val="3700"/>
              </a:lnSpc>
              <a:buFont typeface="+mj-ea"/>
              <a:buAutoNum type="circleNumDbPlain"/>
            </a:pPr>
            <a:r>
              <a:rPr lang="zh-CN" altLang="en-US" sz="2200" b="1" dirty="0">
                <a:solidFill>
                  <a:srgbClr val="002060"/>
                </a:solidFill>
                <a:latin typeface="宋体" panose="02010600030101010101" pitchFamily="2" charset="-122"/>
                <a:ea typeface="宋体" panose="02010600030101010101" pitchFamily="2" charset="-122"/>
              </a:rPr>
              <a:t>如键已经分配一个值，不能再创建一个新的，而是修改现有的键，</a:t>
            </a:r>
            <a:endParaRPr lang="en-US" altLang="zh-CN" sz="2200" b="1" dirty="0">
              <a:solidFill>
                <a:srgbClr val="002060"/>
              </a:solidFill>
              <a:latin typeface="宋体" panose="02010600030101010101" pitchFamily="2" charset="-122"/>
              <a:ea typeface="宋体" panose="02010600030101010101" pitchFamily="2" charset="-122"/>
            </a:endParaRPr>
          </a:p>
          <a:p>
            <a:pPr marL="457200" indent="-457200">
              <a:lnSpc>
                <a:spcPts val="3700"/>
              </a:lnSpc>
              <a:buFont typeface="+mj-ea"/>
              <a:buAutoNum type="circleNumDbPlain"/>
            </a:pPr>
            <a:r>
              <a:rPr lang="zh-CN" altLang="en-US" sz="2200" b="1" dirty="0">
                <a:solidFill>
                  <a:srgbClr val="002060"/>
                </a:solidFill>
                <a:latin typeface="宋体" panose="02010600030101010101" pitchFamily="2" charset="-122"/>
                <a:ea typeface="宋体" panose="02010600030101010101" pitchFamily="2" charset="-122"/>
              </a:rPr>
              <a:t>用</a:t>
            </a:r>
            <a:r>
              <a:rPr lang="en-US" altLang="zh-CN" sz="2200" b="1" dirty="0" err="1">
                <a:solidFill>
                  <a:srgbClr val="002060"/>
                </a:solidFill>
                <a:latin typeface="宋体" panose="02010600030101010101" pitchFamily="2" charset="-122"/>
                <a:ea typeface="宋体" panose="02010600030101010101" pitchFamily="2" charset="-122"/>
              </a:rPr>
              <a:t>dict</a:t>
            </a:r>
            <a:r>
              <a:rPr lang="zh-CN" altLang="en-US" sz="2200" b="1" dirty="0">
                <a:solidFill>
                  <a:srgbClr val="002060"/>
                </a:solidFill>
                <a:latin typeface="宋体" panose="02010600030101010101" pitchFamily="2" charset="-122"/>
                <a:ea typeface="宋体" panose="02010600030101010101" pitchFamily="2" charset="-122"/>
              </a:rPr>
              <a:t>可以将数组或元组转化为字典</a:t>
            </a:r>
          </a:p>
        </p:txBody>
      </p:sp>
      <p:sp>
        <p:nvSpPr>
          <p:cNvPr id="2" name="内容占位符 2">
            <a:extLst>
              <a:ext uri="{FF2B5EF4-FFF2-40B4-BE49-F238E27FC236}">
                <a16:creationId xmlns:a16="http://schemas.microsoft.com/office/drawing/2014/main" id="{DE151B71-4255-C7D1-9A3A-86DB1DE46765}"/>
              </a:ext>
            </a:extLst>
          </p:cNvPr>
          <p:cNvSpPr txBox="1">
            <a:spLocks/>
          </p:cNvSpPr>
          <p:nvPr/>
        </p:nvSpPr>
        <p:spPr bwMode="auto">
          <a:xfrm>
            <a:off x="539553" y="794657"/>
            <a:ext cx="8604448" cy="42300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lgn="l"/>
            <a:r>
              <a:rPr lang="zh-CN" altLang="en-US" sz="2100" dirty="0"/>
              <a:t>字典：是一种可变容器模型，且可</a:t>
            </a:r>
            <a:r>
              <a:rPr lang="zh-CN" altLang="en-US" sz="2100" dirty="0">
                <a:solidFill>
                  <a:srgbClr val="FF0000"/>
                </a:solidFill>
              </a:rPr>
              <a:t>无序</a:t>
            </a:r>
            <a:r>
              <a:rPr lang="zh-CN" altLang="en-US" sz="2100" dirty="0"/>
              <a:t>存储任意类型、任意大小的对象</a:t>
            </a:r>
            <a:endParaRPr lang="en-US" altLang="zh-CN" sz="2100" dirty="0">
              <a:solidFill>
                <a:srgbClr val="FF0000"/>
              </a:solidFill>
            </a:endParaRPr>
          </a:p>
        </p:txBody>
      </p:sp>
      <p:sp>
        <p:nvSpPr>
          <p:cNvPr id="8" name="文本框 7">
            <a:extLst>
              <a:ext uri="{FF2B5EF4-FFF2-40B4-BE49-F238E27FC236}">
                <a16:creationId xmlns:a16="http://schemas.microsoft.com/office/drawing/2014/main" id="{A3C72AFB-809E-814E-B3A9-DADB418BF169}"/>
              </a:ext>
            </a:extLst>
          </p:cNvPr>
          <p:cNvSpPr txBox="1"/>
          <p:nvPr/>
        </p:nvSpPr>
        <p:spPr>
          <a:xfrm>
            <a:off x="438551" y="1924839"/>
            <a:ext cx="1469154" cy="430887"/>
          </a:xfrm>
          <a:prstGeom prst="rect">
            <a:avLst/>
          </a:prstGeom>
          <a:noFill/>
        </p:spPr>
        <p:txBody>
          <a:bodyPr wrap="square">
            <a:spAutoFit/>
          </a:bodyPr>
          <a:lstStyle/>
          <a:p>
            <a:r>
              <a:rPr lang="zh-CN" altLang="en-US" sz="2200" b="1" kern="0" dirty="0">
                <a:solidFill>
                  <a:srgbClr val="0070C0"/>
                </a:solidFill>
                <a:latin typeface="微软雅黑" panose="020B0503020204020204" pitchFamily="34" charset="-122"/>
                <a:ea typeface="微软雅黑" panose="020B0503020204020204" pitchFamily="34" charset="-122"/>
              </a:rPr>
              <a:t>创建形式：</a:t>
            </a:r>
            <a:endParaRPr lang="zh-CN" altLang="en-US" sz="2200"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34821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4185BFE-2EE0-E8FA-2F91-6A78531CDB6E}"/>
              </a:ext>
            </a:extLst>
          </p:cNvPr>
          <p:cNvSpPr/>
          <p:nvPr/>
        </p:nvSpPr>
        <p:spPr>
          <a:xfrm>
            <a:off x="283690" y="679970"/>
            <a:ext cx="4572000" cy="1323439"/>
          </a:xfrm>
          <a:prstGeom prst="rect">
            <a:avLst/>
          </a:prstGeom>
          <a:solidFill>
            <a:schemeClr val="bg1"/>
          </a:solidFill>
        </p:spPr>
        <p:txBody>
          <a:bodyPr>
            <a:spAutoFit/>
          </a:bodyPr>
          <a:lstStyle/>
          <a:p>
            <a:r>
              <a:rPr lang="en-US" altLang="zh-CN" sz="2000" dirty="0" err="1">
                <a:solidFill>
                  <a:srgbClr val="002060"/>
                </a:solidFill>
              </a:rPr>
              <a:t>julia</a:t>
            </a:r>
            <a:r>
              <a:rPr lang="en-US" altLang="zh-CN" sz="2000" dirty="0">
                <a:solidFill>
                  <a:srgbClr val="002060"/>
                </a:solidFill>
              </a:rPr>
              <a:t>&gt; dic1=</a:t>
            </a:r>
            <a:r>
              <a:rPr lang="en-US" altLang="zh-CN" sz="2000" dirty="0" err="1">
                <a:solidFill>
                  <a:srgbClr val="002060"/>
                </a:solidFill>
              </a:rPr>
              <a:t>Dict</a:t>
            </a:r>
            <a:r>
              <a:rPr lang="en-US" altLang="zh-CN" sz="2000" dirty="0">
                <a:solidFill>
                  <a:srgbClr val="002060"/>
                </a:solidFill>
              </a:rPr>
              <a:t>("</a:t>
            </a:r>
            <a:r>
              <a:rPr lang="en-US" altLang="zh-CN" sz="2000" dirty="0" err="1">
                <a:solidFill>
                  <a:srgbClr val="002060"/>
                </a:solidFill>
              </a:rPr>
              <a:t>zz</a:t>
            </a:r>
            <a:r>
              <a:rPr lang="en-US" altLang="zh-CN" sz="2000" dirty="0">
                <a:solidFill>
                  <a:srgbClr val="002060"/>
                </a:solidFill>
              </a:rPr>
              <a:t>"=&gt;123,"ll"=&gt;456)</a:t>
            </a:r>
          </a:p>
          <a:p>
            <a:r>
              <a:rPr lang="en-US" altLang="zh-CN" sz="2000" dirty="0" err="1">
                <a:solidFill>
                  <a:srgbClr val="00B0F0"/>
                </a:solidFill>
              </a:rPr>
              <a:t>Dict</a:t>
            </a:r>
            <a:r>
              <a:rPr lang="en-US" altLang="zh-CN" sz="2000" dirty="0">
                <a:solidFill>
                  <a:srgbClr val="00B0F0"/>
                </a:solidFill>
              </a:rPr>
              <a:t>{String, Int64} with 2 entries:</a:t>
            </a:r>
          </a:p>
          <a:p>
            <a:r>
              <a:rPr lang="en-US" altLang="zh-CN" sz="2000" dirty="0">
                <a:solidFill>
                  <a:srgbClr val="00B0F0"/>
                </a:solidFill>
              </a:rPr>
              <a:t>  "</a:t>
            </a:r>
            <a:r>
              <a:rPr lang="en-US" altLang="zh-CN" sz="2000" dirty="0" err="1">
                <a:solidFill>
                  <a:srgbClr val="00B0F0"/>
                </a:solidFill>
              </a:rPr>
              <a:t>ll</a:t>
            </a:r>
            <a:r>
              <a:rPr lang="en-US" altLang="zh-CN" sz="2000" dirty="0">
                <a:solidFill>
                  <a:srgbClr val="00B0F0"/>
                </a:solidFill>
              </a:rPr>
              <a:t>" =&gt; 456</a:t>
            </a:r>
          </a:p>
          <a:p>
            <a:r>
              <a:rPr lang="en-US" altLang="zh-CN" sz="2000" dirty="0">
                <a:solidFill>
                  <a:srgbClr val="00B0F0"/>
                </a:solidFill>
              </a:rPr>
              <a:t>  "</a:t>
            </a:r>
            <a:r>
              <a:rPr lang="en-US" altLang="zh-CN" sz="2000" dirty="0" err="1">
                <a:solidFill>
                  <a:srgbClr val="00B0F0"/>
                </a:solidFill>
              </a:rPr>
              <a:t>zz</a:t>
            </a:r>
            <a:r>
              <a:rPr lang="en-US" altLang="zh-CN" sz="2000" dirty="0">
                <a:solidFill>
                  <a:srgbClr val="00B0F0"/>
                </a:solidFill>
              </a:rPr>
              <a:t>" =&gt; 123</a:t>
            </a:r>
          </a:p>
        </p:txBody>
      </p:sp>
      <p:sp>
        <p:nvSpPr>
          <p:cNvPr id="5" name="矩形 4">
            <a:extLst>
              <a:ext uri="{FF2B5EF4-FFF2-40B4-BE49-F238E27FC236}">
                <a16:creationId xmlns:a16="http://schemas.microsoft.com/office/drawing/2014/main" id="{28C3D145-17EA-9F7E-ACFB-2CF433E71CAE}"/>
              </a:ext>
            </a:extLst>
          </p:cNvPr>
          <p:cNvSpPr/>
          <p:nvPr/>
        </p:nvSpPr>
        <p:spPr>
          <a:xfrm>
            <a:off x="276583" y="2346780"/>
            <a:ext cx="4572000" cy="2246769"/>
          </a:xfrm>
          <a:prstGeom prst="rect">
            <a:avLst/>
          </a:prstGeom>
          <a:solidFill>
            <a:schemeClr val="bg1"/>
          </a:solidFill>
        </p:spPr>
        <p:txBody>
          <a:bodyPr wrap="square">
            <a:spAutoFit/>
          </a:bodyPr>
          <a:lstStyle/>
          <a:p>
            <a:r>
              <a:rPr lang="en-US" altLang="zh-CN" sz="2000" dirty="0">
                <a:solidFill>
                  <a:srgbClr val="002060"/>
                </a:solidFill>
              </a:rPr>
              <a:t>julia&gt; ttt=[('a',1),('b',222)]</a:t>
            </a:r>
          </a:p>
          <a:p>
            <a:r>
              <a:rPr lang="en-US" altLang="zh-CN" sz="2000" dirty="0">
                <a:solidFill>
                  <a:srgbClr val="00B0F0"/>
                </a:solidFill>
              </a:rPr>
              <a:t>2-element Vector{Tuple{Char, Int64}}:</a:t>
            </a:r>
          </a:p>
          <a:p>
            <a:r>
              <a:rPr lang="en-US" altLang="zh-CN" sz="2000" dirty="0">
                <a:solidFill>
                  <a:srgbClr val="00B0F0"/>
                </a:solidFill>
              </a:rPr>
              <a:t> ('a', 1)</a:t>
            </a:r>
          </a:p>
          <a:p>
            <a:r>
              <a:rPr lang="en-US" altLang="zh-CN" sz="2000" dirty="0">
                <a:solidFill>
                  <a:srgbClr val="00B0F0"/>
                </a:solidFill>
              </a:rPr>
              <a:t> ('b', 222)</a:t>
            </a:r>
          </a:p>
          <a:p>
            <a:r>
              <a:rPr lang="en-US" altLang="zh-CN" sz="2000" dirty="0">
                <a:solidFill>
                  <a:srgbClr val="002060"/>
                </a:solidFill>
              </a:rPr>
              <a:t>julia&gt; </a:t>
            </a:r>
            <a:r>
              <a:rPr lang="en-US" altLang="zh-CN" sz="2000" dirty="0" err="1">
                <a:solidFill>
                  <a:srgbClr val="002060"/>
                </a:solidFill>
              </a:rPr>
              <a:t>typeof</a:t>
            </a:r>
            <a:r>
              <a:rPr lang="en-US" altLang="zh-CN" sz="2000" dirty="0">
                <a:solidFill>
                  <a:srgbClr val="002060"/>
                </a:solidFill>
              </a:rPr>
              <a:t>(</a:t>
            </a:r>
            <a:r>
              <a:rPr lang="en-US" altLang="zh-CN" sz="2000" dirty="0" err="1">
                <a:solidFill>
                  <a:srgbClr val="002060"/>
                </a:solidFill>
              </a:rPr>
              <a:t>ttt</a:t>
            </a:r>
            <a:r>
              <a:rPr lang="en-US" altLang="zh-CN" sz="2000" dirty="0">
                <a:solidFill>
                  <a:srgbClr val="002060"/>
                </a:solidFill>
              </a:rPr>
              <a:t>)</a:t>
            </a:r>
          </a:p>
          <a:p>
            <a:r>
              <a:rPr lang="en-US" altLang="zh-CN" sz="2000" dirty="0">
                <a:solidFill>
                  <a:srgbClr val="00B0F0"/>
                </a:solidFill>
              </a:rPr>
              <a:t>Vector{Tuple{Char, Int64}} (alias for Array{Tuple{Char, Int64}, 1})</a:t>
            </a:r>
            <a:endParaRPr lang="en-US" altLang="zh-CN" sz="2000" dirty="0">
              <a:solidFill>
                <a:srgbClr val="002060"/>
              </a:solidFill>
            </a:endParaRPr>
          </a:p>
        </p:txBody>
      </p:sp>
      <p:sp>
        <p:nvSpPr>
          <p:cNvPr id="6" name="矩形 5">
            <a:extLst>
              <a:ext uri="{FF2B5EF4-FFF2-40B4-BE49-F238E27FC236}">
                <a16:creationId xmlns:a16="http://schemas.microsoft.com/office/drawing/2014/main" id="{E8A9D730-1E43-8CB7-FBB0-5B07939E0546}"/>
              </a:ext>
            </a:extLst>
          </p:cNvPr>
          <p:cNvSpPr/>
          <p:nvPr/>
        </p:nvSpPr>
        <p:spPr>
          <a:xfrm>
            <a:off x="4904365" y="843922"/>
            <a:ext cx="3955945" cy="1477328"/>
          </a:xfrm>
          <a:prstGeom prst="rect">
            <a:avLst/>
          </a:prstGeom>
          <a:noFill/>
          <a:ln>
            <a:noFill/>
          </a:ln>
        </p:spPr>
        <p:txBody>
          <a:bodyPr wrap="square">
            <a:spAutoFit/>
          </a:bodyPr>
          <a:lstStyle/>
          <a:p>
            <a:endParaRPr lang="en-US" altLang="zh-CN" dirty="0">
              <a:solidFill>
                <a:srgbClr val="002060"/>
              </a:solidFill>
            </a:endParaRPr>
          </a:p>
          <a:p>
            <a:r>
              <a:rPr lang="en-US" altLang="zh-CN" dirty="0">
                <a:solidFill>
                  <a:srgbClr val="002060"/>
                </a:solidFill>
              </a:rPr>
              <a:t>julia&gt; dic1=Dict(12=&gt;123,22=&gt;456)</a:t>
            </a:r>
          </a:p>
          <a:p>
            <a:r>
              <a:rPr lang="en-US" altLang="zh-CN" dirty="0">
                <a:solidFill>
                  <a:srgbClr val="00B0F0"/>
                </a:solidFill>
              </a:rPr>
              <a:t>Dict{Int64, Int64} with 2 entries:</a:t>
            </a:r>
          </a:p>
          <a:p>
            <a:r>
              <a:rPr lang="en-US" altLang="zh-CN" dirty="0">
                <a:solidFill>
                  <a:srgbClr val="00B0F0"/>
                </a:solidFill>
              </a:rPr>
              <a:t>  22 =&gt; 456</a:t>
            </a:r>
          </a:p>
          <a:p>
            <a:r>
              <a:rPr lang="en-US" altLang="zh-CN" dirty="0">
                <a:solidFill>
                  <a:srgbClr val="00B0F0"/>
                </a:solidFill>
              </a:rPr>
              <a:t>  12 =&gt; 123</a:t>
            </a:r>
            <a:endParaRPr lang="zh-CN" altLang="en-US" dirty="0">
              <a:solidFill>
                <a:srgbClr val="00B0F0"/>
              </a:solidFill>
            </a:endParaRPr>
          </a:p>
        </p:txBody>
      </p:sp>
      <p:sp>
        <p:nvSpPr>
          <p:cNvPr id="7" name="矩形 6">
            <a:extLst>
              <a:ext uri="{FF2B5EF4-FFF2-40B4-BE49-F238E27FC236}">
                <a16:creationId xmlns:a16="http://schemas.microsoft.com/office/drawing/2014/main" id="{A37D1E67-32DC-D503-1015-2C39E6B165CA}"/>
              </a:ext>
            </a:extLst>
          </p:cNvPr>
          <p:cNvSpPr/>
          <p:nvPr/>
        </p:nvSpPr>
        <p:spPr>
          <a:xfrm>
            <a:off x="4932040" y="2571750"/>
            <a:ext cx="3779912" cy="1938992"/>
          </a:xfrm>
          <a:prstGeom prst="rect">
            <a:avLst/>
          </a:prstGeom>
          <a:solidFill>
            <a:schemeClr val="bg1"/>
          </a:solidFill>
        </p:spPr>
        <p:txBody>
          <a:bodyPr wrap="square">
            <a:spAutoFit/>
          </a:bodyPr>
          <a:lstStyle/>
          <a:p>
            <a:r>
              <a:rPr lang="en-US" altLang="zh-CN" sz="2000" dirty="0">
                <a:solidFill>
                  <a:srgbClr val="002060"/>
                </a:solidFill>
              </a:rPr>
              <a:t>julia&gt; </a:t>
            </a:r>
            <a:r>
              <a:rPr lang="en-US" altLang="zh-CN" sz="2000" dirty="0" err="1">
                <a:solidFill>
                  <a:srgbClr val="002060"/>
                </a:solidFill>
              </a:rPr>
              <a:t>zd</a:t>
            </a:r>
            <a:r>
              <a:rPr lang="en-US" altLang="zh-CN" sz="2000" dirty="0">
                <a:solidFill>
                  <a:srgbClr val="002060"/>
                </a:solidFill>
              </a:rPr>
              <a:t>=Dict(ttt)</a:t>
            </a:r>
          </a:p>
          <a:p>
            <a:r>
              <a:rPr lang="en-US" altLang="zh-CN" sz="2000" dirty="0">
                <a:solidFill>
                  <a:srgbClr val="00B0F0"/>
                </a:solidFill>
              </a:rPr>
              <a:t>Dict{Char, Int64} with 2 entries:</a:t>
            </a:r>
          </a:p>
          <a:p>
            <a:r>
              <a:rPr lang="en-US" altLang="zh-CN" sz="2000" dirty="0">
                <a:solidFill>
                  <a:srgbClr val="00B0F0"/>
                </a:solidFill>
              </a:rPr>
              <a:t>  'a' =&gt; 1</a:t>
            </a:r>
          </a:p>
          <a:p>
            <a:r>
              <a:rPr lang="en-US" altLang="zh-CN" sz="2000" dirty="0">
                <a:solidFill>
                  <a:srgbClr val="00B0F0"/>
                </a:solidFill>
              </a:rPr>
              <a:t>  'b' =&gt; 222</a:t>
            </a:r>
          </a:p>
          <a:p>
            <a:r>
              <a:rPr lang="en-US" altLang="zh-CN" sz="2000" dirty="0">
                <a:solidFill>
                  <a:srgbClr val="002060"/>
                </a:solidFill>
              </a:rPr>
              <a:t>julia&gt; </a:t>
            </a:r>
            <a:r>
              <a:rPr lang="en-US" altLang="zh-CN" sz="2000" dirty="0" err="1">
                <a:solidFill>
                  <a:srgbClr val="002060"/>
                </a:solidFill>
              </a:rPr>
              <a:t>typeof</a:t>
            </a:r>
            <a:r>
              <a:rPr lang="en-US" altLang="zh-CN" sz="2000" dirty="0">
                <a:solidFill>
                  <a:srgbClr val="002060"/>
                </a:solidFill>
              </a:rPr>
              <a:t>(</a:t>
            </a:r>
            <a:r>
              <a:rPr lang="en-US" altLang="zh-CN" sz="2000" dirty="0" err="1">
                <a:solidFill>
                  <a:srgbClr val="002060"/>
                </a:solidFill>
              </a:rPr>
              <a:t>zd</a:t>
            </a:r>
            <a:r>
              <a:rPr lang="en-US" altLang="zh-CN" sz="2000" dirty="0">
                <a:solidFill>
                  <a:srgbClr val="002060"/>
                </a:solidFill>
              </a:rPr>
              <a:t>)</a:t>
            </a:r>
          </a:p>
          <a:p>
            <a:r>
              <a:rPr lang="en-US" altLang="zh-CN" sz="2000" dirty="0">
                <a:solidFill>
                  <a:srgbClr val="00B0F0"/>
                </a:solidFill>
              </a:rPr>
              <a:t>Dict{Char, Int64}</a:t>
            </a:r>
          </a:p>
        </p:txBody>
      </p:sp>
      <p:sp>
        <p:nvSpPr>
          <p:cNvPr id="8" name="内容占位符 2">
            <a:extLst>
              <a:ext uri="{FF2B5EF4-FFF2-40B4-BE49-F238E27FC236}">
                <a16:creationId xmlns:a16="http://schemas.microsoft.com/office/drawing/2014/main" id="{B2AD7E51-6795-7F16-2FEC-9CB6AB06F08C}"/>
              </a:ext>
            </a:extLst>
          </p:cNvPr>
          <p:cNvSpPr txBox="1">
            <a:spLocks/>
          </p:cNvSpPr>
          <p:nvPr/>
        </p:nvSpPr>
        <p:spPr bwMode="auto">
          <a:xfrm>
            <a:off x="242813" y="1970493"/>
            <a:ext cx="2639233"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0" indent="0" eaLnBrk="0" hangingPunct="0">
              <a:lnSpc>
                <a:spcPct val="110000"/>
              </a:lnSpc>
              <a:buFont typeface="Wingdings" panose="05000000000000000000" pitchFamily="2" charset="2"/>
              <a:buNone/>
              <a:defRPr sz="2000" b="1">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dirty="0"/>
              <a:t>元组</a:t>
            </a:r>
            <a:r>
              <a:rPr lang="en-US" altLang="zh-CN" dirty="0" err="1"/>
              <a:t>ttt</a:t>
            </a:r>
            <a:r>
              <a:rPr lang="zh-CN" altLang="en-US" dirty="0"/>
              <a:t>转化为字典</a:t>
            </a:r>
            <a:r>
              <a:rPr lang="en-US" altLang="zh-CN" dirty="0" err="1"/>
              <a:t>zd</a:t>
            </a:r>
            <a:endParaRPr lang="zh-CN" altLang="en-US" dirty="0"/>
          </a:p>
        </p:txBody>
      </p:sp>
      <p:sp>
        <p:nvSpPr>
          <p:cNvPr id="9" name="标题 1">
            <a:extLst>
              <a:ext uri="{FF2B5EF4-FFF2-40B4-BE49-F238E27FC236}">
                <a16:creationId xmlns:a16="http://schemas.microsoft.com/office/drawing/2014/main" id="{55E85D03-2C84-40B3-8BF7-4E96B5468944}"/>
              </a:ext>
            </a:extLst>
          </p:cNvPr>
          <p:cNvSpPr txBox="1">
            <a:spLocks/>
          </p:cNvSpPr>
          <p:nvPr/>
        </p:nvSpPr>
        <p:spPr bwMode="auto">
          <a:xfrm>
            <a:off x="1907705" y="241820"/>
            <a:ext cx="6696744"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kern="0" dirty="0"/>
              <a:t>§1.4.5 </a:t>
            </a:r>
            <a:r>
              <a:rPr lang="zh-CN" altLang="en-US" kern="0" dirty="0"/>
              <a:t>字典</a:t>
            </a:r>
            <a:r>
              <a:rPr lang="en-US" altLang="zh-CN" dirty="0">
                <a:solidFill>
                  <a:srgbClr val="FF0000"/>
                </a:solidFill>
              </a:rPr>
              <a:t>——</a:t>
            </a:r>
            <a:r>
              <a:rPr lang="zh-CN" altLang="en-US" dirty="0">
                <a:solidFill>
                  <a:srgbClr val="FF0000"/>
                </a:solidFill>
              </a:rPr>
              <a:t>创建字典示例 </a:t>
            </a:r>
            <a:endParaRPr lang="zh-CN" altLang="en-US" kern="0" dirty="0">
              <a:solidFill>
                <a:srgbClr val="FF0000"/>
              </a:solidFill>
            </a:endParaRPr>
          </a:p>
        </p:txBody>
      </p:sp>
      <p:sp>
        <p:nvSpPr>
          <p:cNvPr id="3" name="内容占位符 2">
            <a:extLst>
              <a:ext uri="{FF2B5EF4-FFF2-40B4-BE49-F238E27FC236}">
                <a16:creationId xmlns:a16="http://schemas.microsoft.com/office/drawing/2014/main" id="{A4536B76-ACA3-A4C2-2C52-F40C5C8D47F2}"/>
              </a:ext>
            </a:extLst>
          </p:cNvPr>
          <p:cNvSpPr>
            <a:spLocks noGrp="1"/>
          </p:cNvSpPr>
          <p:nvPr>
            <p:ph idx="1"/>
          </p:nvPr>
        </p:nvSpPr>
        <p:spPr>
          <a:xfrm>
            <a:off x="4932040" y="719816"/>
            <a:ext cx="4027724" cy="417678"/>
          </a:xfrm>
        </p:spPr>
        <p:txBody>
          <a:bodyPr/>
          <a:lstStyle/>
          <a:p>
            <a:pPr marL="0" indent="0">
              <a:buNone/>
            </a:pPr>
            <a:r>
              <a:rPr lang="en-US" altLang="zh-CN" sz="2000" b="1" dirty="0">
                <a:solidFill>
                  <a:srgbClr val="0070C0"/>
                </a:solidFill>
                <a:latin typeface="微软雅黑" panose="020B0503020204020204" pitchFamily="34" charset="-122"/>
                <a:ea typeface="微软雅黑" panose="020B0503020204020204" pitchFamily="34" charset="-122"/>
              </a:rPr>
              <a:t>Key</a:t>
            </a:r>
            <a:r>
              <a:rPr lang="zh-CN" altLang="en-US" sz="2000" b="1" dirty="0">
                <a:solidFill>
                  <a:srgbClr val="0070C0"/>
                </a:solidFill>
                <a:latin typeface="微软雅黑" panose="020B0503020204020204" pitchFamily="34" charset="-122"/>
                <a:ea typeface="微软雅黑" panose="020B0503020204020204" pitchFamily="34" charset="-122"/>
              </a:rPr>
              <a:t>可以是字符也可以数值</a:t>
            </a:r>
          </a:p>
        </p:txBody>
      </p:sp>
    </p:spTree>
    <p:extLst>
      <p:ext uri="{BB962C8B-B14F-4D97-AF65-F5344CB8AC3E}">
        <p14:creationId xmlns:p14="http://schemas.microsoft.com/office/powerpoint/2010/main" val="2312498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D3372D6-066E-4D30-97FE-B8996A458B25}"/>
              </a:ext>
            </a:extLst>
          </p:cNvPr>
          <p:cNvSpPr>
            <a:spLocks noGrp="1"/>
          </p:cNvSpPr>
          <p:nvPr>
            <p:ph type="title"/>
          </p:nvPr>
        </p:nvSpPr>
        <p:spPr>
          <a:xfrm>
            <a:off x="2048162" y="438527"/>
            <a:ext cx="5760640" cy="508084"/>
          </a:xfrm>
        </p:spPr>
        <p:txBody>
          <a:bodyPr/>
          <a:lstStyle/>
          <a:p>
            <a:r>
              <a:rPr lang="en-US" altLang="zh-CN" sz="2800" b="1" dirty="0"/>
              <a:t>§1.4.5  </a:t>
            </a:r>
            <a:r>
              <a:rPr lang="zh-CN" altLang="en-US" sz="2800" b="1" dirty="0"/>
              <a:t>集合</a:t>
            </a:r>
            <a:r>
              <a:rPr lang="en-US" altLang="zh-CN" sz="2800" b="1" dirty="0">
                <a:solidFill>
                  <a:srgbClr val="FF0000"/>
                </a:solidFill>
              </a:rPr>
              <a:t>——Set</a:t>
            </a:r>
            <a:r>
              <a:rPr lang="zh-CN" altLang="en-US" sz="2800" b="1" dirty="0">
                <a:solidFill>
                  <a:srgbClr val="FF0000"/>
                </a:solidFill>
              </a:rPr>
              <a:t>创建集合 </a:t>
            </a:r>
            <a:br>
              <a:rPr lang="zh-CN" altLang="en-US" sz="2800" b="1" kern="0" dirty="0">
                <a:solidFill>
                  <a:srgbClr val="FF0000"/>
                </a:solidFill>
              </a:rPr>
            </a:br>
            <a:endParaRPr lang="zh-CN" altLang="en-US" sz="2800" b="1" dirty="0"/>
          </a:p>
        </p:txBody>
      </p:sp>
      <p:sp>
        <p:nvSpPr>
          <p:cNvPr id="5" name="内容占位符 2">
            <a:extLst>
              <a:ext uri="{FF2B5EF4-FFF2-40B4-BE49-F238E27FC236}">
                <a16:creationId xmlns:a16="http://schemas.microsoft.com/office/drawing/2014/main" id="{3BF5FBE7-ACD4-4C9A-962A-8584C94F5074}"/>
              </a:ext>
            </a:extLst>
          </p:cNvPr>
          <p:cNvSpPr>
            <a:spLocks noGrp="1"/>
          </p:cNvSpPr>
          <p:nvPr>
            <p:ph idx="1"/>
          </p:nvPr>
        </p:nvSpPr>
        <p:spPr>
          <a:xfrm>
            <a:off x="429345" y="1153713"/>
            <a:ext cx="4214663" cy="407291"/>
          </a:xfrm>
        </p:spPr>
        <p:txBody>
          <a:bodyPr/>
          <a:lstStyle/>
          <a:p>
            <a:pPr>
              <a:buNone/>
            </a:pPr>
            <a:r>
              <a:rPr lang="en-US" altLang="zh-CN" sz="2000" b="1" dirty="0">
                <a:solidFill>
                  <a:srgbClr val="0070C0"/>
                </a:solidFill>
                <a:latin typeface="微软雅黑" panose="020B0503020204020204" pitchFamily="34" charset="-122"/>
                <a:ea typeface="微软雅黑" panose="020B0503020204020204" pitchFamily="34" charset="-122"/>
              </a:rPr>
              <a:t>Set </a:t>
            </a:r>
            <a:r>
              <a:rPr lang="zh-CN" altLang="en-US" sz="2000" b="1" dirty="0">
                <a:solidFill>
                  <a:srgbClr val="0070C0"/>
                </a:solidFill>
                <a:latin typeface="微软雅黑" panose="020B0503020204020204" pitchFamily="34" charset="-122"/>
                <a:ea typeface="微软雅黑" panose="020B0503020204020204" pitchFamily="34" charset="-122"/>
              </a:rPr>
              <a:t>用于创建不重复列表</a:t>
            </a:r>
            <a:r>
              <a:rPr lang="en-US" altLang="zh-CN" sz="2000" b="1" dirty="0">
                <a:solidFill>
                  <a:srgbClr val="0070C0"/>
                </a:solidFill>
                <a:latin typeface="微软雅黑" panose="020B0503020204020204" pitchFamily="34" charset="-122"/>
                <a:ea typeface="微软雅黑" panose="020B0503020204020204" pitchFamily="34" charset="-122"/>
              </a:rPr>
              <a:t>,Type</a:t>
            </a:r>
            <a:r>
              <a:rPr lang="zh-CN" altLang="en-US" sz="2000" b="1" dirty="0">
                <a:solidFill>
                  <a:srgbClr val="0070C0"/>
                </a:solidFill>
                <a:latin typeface="微软雅黑" panose="020B0503020204020204" pitchFamily="34" charset="-122"/>
                <a:ea typeface="微软雅黑" panose="020B0503020204020204" pitchFamily="34" charset="-122"/>
              </a:rPr>
              <a:t>类型</a:t>
            </a:r>
          </a:p>
        </p:txBody>
      </p:sp>
      <p:sp>
        <p:nvSpPr>
          <p:cNvPr id="6" name="矩形 5">
            <a:extLst>
              <a:ext uri="{FF2B5EF4-FFF2-40B4-BE49-F238E27FC236}">
                <a16:creationId xmlns:a16="http://schemas.microsoft.com/office/drawing/2014/main" id="{D924D6E4-48C7-4108-9D63-AE03A2410B7C}"/>
              </a:ext>
            </a:extLst>
          </p:cNvPr>
          <p:cNvSpPr/>
          <p:nvPr/>
        </p:nvSpPr>
        <p:spPr>
          <a:xfrm>
            <a:off x="4957032" y="1188081"/>
            <a:ext cx="3754474" cy="338554"/>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en-US" altLang="zh-CN" sz="1600" b="1" kern="0" dirty="0">
                <a:solidFill>
                  <a:schemeClr val="bg1"/>
                </a:solidFill>
              </a:rPr>
              <a:t>S=Set{Type}[ </a:t>
            </a:r>
            <a:r>
              <a:rPr lang="zh-CN" altLang="en-US" sz="1600" b="1" kern="0" dirty="0">
                <a:solidFill>
                  <a:schemeClr val="bg1"/>
                </a:solidFill>
              </a:rPr>
              <a:t>元素</a:t>
            </a:r>
            <a:r>
              <a:rPr lang="en-US" altLang="zh-CN" sz="1600" b="1" kern="0" dirty="0">
                <a:solidFill>
                  <a:schemeClr val="bg1"/>
                </a:solidFill>
              </a:rPr>
              <a:t>1</a:t>
            </a:r>
            <a:r>
              <a:rPr lang="zh-CN" altLang="en-US" sz="1600" b="1" kern="0" dirty="0">
                <a:solidFill>
                  <a:schemeClr val="bg1"/>
                </a:solidFill>
              </a:rPr>
              <a:t>，</a:t>
            </a:r>
            <a:r>
              <a:rPr lang="en-US" altLang="zh-CN" sz="1600" b="1" kern="0" dirty="0">
                <a:solidFill>
                  <a:schemeClr val="bg1"/>
                </a:solidFill>
              </a:rPr>
              <a:t>…,</a:t>
            </a:r>
            <a:r>
              <a:rPr lang="zh-CN" altLang="en-US" sz="1600" b="1" kern="0" dirty="0">
                <a:solidFill>
                  <a:schemeClr val="bg1"/>
                </a:solidFill>
              </a:rPr>
              <a:t>元素</a:t>
            </a:r>
            <a:r>
              <a:rPr lang="en-US" altLang="zh-CN" sz="1600" b="1" kern="0" dirty="0">
                <a:solidFill>
                  <a:schemeClr val="bg1"/>
                </a:solidFill>
              </a:rPr>
              <a:t>n]</a:t>
            </a:r>
            <a:endParaRPr lang="zh-CN" altLang="en-US" sz="1600" b="1" kern="0" dirty="0">
              <a:solidFill>
                <a:schemeClr val="bg1"/>
              </a:solidFill>
            </a:endParaRPr>
          </a:p>
        </p:txBody>
      </p:sp>
      <p:sp>
        <p:nvSpPr>
          <p:cNvPr id="7" name="文本框 6">
            <a:extLst>
              <a:ext uri="{FF2B5EF4-FFF2-40B4-BE49-F238E27FC236}">
                <a16:creationId xmlns:a16="http://schemas.microsoft.com/office/drawing/2014/main" id="{EE1F466D-2CEA-4B8B-A717-3659695B2D16}"/>
              </a:ext>
            </a:extLst>
          </p:cNvPr>
          <p:cNvSpPr txBox="1"/>
          <p:nvPr/>
        </p:nvSpPr>
        <p:spPr>
          <a:xfrm>
            <a:off x="465102" y="1498102"/>
            <a:ext cx="4536504" cy="3138103"/>
          </a:xfrm>
          <a:prstGeom prst="rect">
            <a:avLst/>
          </a:prstGeom>
          <a:noFill/>
        </p:spPr>
        <p:txBody>
          <a:bodyPr wrap="square">
            <a:spAutoFit/>
          </a:bodyPr>
          <a:lstStyle/>
          <a:p>
            <a:pPr>
              <a:lnSpc>
                <a:spcPts val="3000"/>
              </a:lnSpc>
            </a:pPr>
            <a:r>
              <a:rPr lang="pt-BR" altLang="zh-CN" sz="2200" dirty="0">
                <a:solidFill>
                  <a:srgbClr val="FF0000"/>
                </a:solidFill>
              </a:rPr>
              <a:t>#</a:t>
            </a:r>
            <a:r>
              <a:rPr lang="zh-CN" altLang="en-US" sz="2200" dirty="0">
                <a:solidFill>
                  <a:srgbClr val="FF0000"/>
                </a:solidFill>
              </a:rPr>
              <a:t>建立字符串集合</a:t>
            </a:r>
            <a:endParaRPr lang="pt-BR" altLang="zh-CN" sz="2200" dirty="0">
              <a:solidFill>
                <a:srgbClr val="FF0000"/>
              </a:solidFill>
            </a:endParaRPr>
          </a:p>
          <a:p>
            <a:pPr>
              <a:lnSpc>
                <a:spcPts val="3000"/>
              </a:lnSpc>
            </a:pPr>
            <a:r>
              <a:rPr lang="pt-BR" altLang="zh-CN" sz="2200" dirty="0">
                <a:solidFill>
                  <a:srgbClr val="002060"/>
                </a:solidFill>
              </a:rPr>
              <a:t>var=Set{String}(["Te","Bai","Tao"])</a:t>
            </a:r>
          </a:p>
          <a:p>
            <a:pPr>
              <a:lnSpc>
                <a:spcPts val="3000"/>
              </a:lnSpc>
            </a:pPr>
            <a:r>
              <a:rPr lang="pt-BR" altLang="zh-CN" sz="2200" dirty="0">
                <a:solidFill>
                  <a:srgbClr val="00B0F0"/>
                </a:solidFill>
              </a:rPr>
              <a:t>Set{String} with 3 elements:</a:t>
            </a:r>
          </a:p>
          <a:p>
            <a:pPr>
              <a:lnSpc>
                <a:spcPts val="3000"/>
              </a:lnSpc>
            </a:pPr>
            <a:r>
              <a:rPr lang="pt-BR" altLang="zh-CN" sz="2200" dirty="0">
                <a:solidFill>
                  <a:srgbClr val="00B0F0"/>
                </a:solidFill>
              </a:rPr>
              <a:t>  "Te"</a:t>
            </a:r>
          </a:p>
          <a:p>
            <a:pPr>
              <a:lnSpc>
                <a:spcPts val="3000"/>
              </a:lnSpc>
            </a:pPr>
            <a:r>
              <a:rPr lang="pt-BR" altLang="zh-CN" sz="2200" dirty="0">
                <a:solidFill>
                  <a:srgbClr val="00B0F0"/>
                </a:solidFill>
              </a:rPr>
              <a:t>  "Bai"</a:t>
            </a:r>
          </a:p>
          <a:p>
            <a:pPr>
              <a:lnSpc>
                <a:spcPts val="3000"/>
              </a:lnSpc>
            </a:pPr>
            <a:r>
              <a:rPr lang="pt-BR" altLang="zh-CN" sz="2200" dirty="0">
                <a:solidFill>
                  <a:srgbClr val="00B0F0"/>
                </a:solidFill>
              </a:rPr>
              <a:t>  "Tao" </a:t>
            </a:r>
          </a:p>
          <a:p>
            <a:pPr>
              <a:lnSpc>
                <a:spcPts val="3000"/>
              </a:lnSpc>
            </a:pPr>
            <a:r>
              <a:rPr lang="en-US" altLang="zh-CN" sz="2200" dirty="0" err="1">
                <a:solidFill>
                  <a:srgbClr val="002060"/>
                </a:solidFill>
              </a:rPr>
              <a:t>typeof</a:t>
            </a:r>
            <a:r>
              <a:rPr lang="en-US" altLang="zh-CN" sz="2200" dirty="0">
                <a:solidFill>
                  <a:srgbClr val="002060"/>
                </a:solidFill>
              </a:rPr>
              <a:t>(var)  #</a:t>
            </a:r>
            <a:r>
              <a:rPr lang="zh-CN" altLang="en-US" sz="2200" dirty="0">
                <a:solidFill>
                  <a:srgbClr val="002060"/>
                </a:solidFill>
              </a:rPr>
              <a:t>判断类型</a:t>
            </a:r>
            <a:endParaRPr lang="en-US" altLang="zh-CN" sz="2200" dirty="0">
              <a:solidFill>
                <a:srgbClr val="002060"/>
              </a:solidFill>
            </a:endParaRPr>
          </a:p>
          <a:p>
            <a:pPr>
              <a:lnSpc>
                <a:spcPts val="3000"/>
              </a:lnSpc>
            </a:pPr>
            <a:r>
              <a:rPr lang="en-US" altLang="zh-CN" sz="2200" dirty="0">
                <a:solidFill>
                  <a:srgbClr val="00B0F0"/>
                </a:solidFill>
              </a:rPr>
              <a:t>Set{String}</a:t>
            </a:r>
            <a:endParaRPr lang="zh-CN" altLang="en-US" dirty="0">
              <a:solidFill>
                <a:srgbClr val="0070C0"/>
              </a:solidFill>
            </a:endParaRPr>
          </a:p>
        </p:txBody>
      </p:sp>
      <p:sp>
        <p:nvSpPr>
          <p:cNvPr id="8" name="文本框 7">
            <a:extLst>
              <a:ext uri="{FF2B5EF4-FFF2-40B4-BE49-F238E27FC236}">
                <a16:creationId xmlns:a16="http://schemas.microsoft.com/office/drawing/2014/main" id="{4EC236E5-C8A4-4228-BA15-872EA2D0AD32}"/>
              </a:ext>
            </a:extLst>
          </p:cNvPr>
          <p:cNvSpPr txBox="1"/>
          <p:nvPr/>
        </p:nvSpPr>
        <p:spPr>
          <a:xfrm>
            <a:off x="4957032" y="1602467"/>
            <a:ext cx="4215518" cy="2862322"/>
          </a:xfrm>
          <a:prstGeom prst="rect">
            <a:avLst/>
          </a:prstGeom>
          <a:solidFill>
            <a:schemeClr val="bg1"/>
          </a:solidFill>
        </p:spPr>
        <p:txBody>
          <a:bodyPr wrap="square">
            <a:spAutoFit/>
          </a:bodyPr>
          <a:lstStyle/>
          <a:p>
            <a:r>
              <a:rPr lang="en-US" altLang="zh-CN" sz="2000" dirty="0"/>
              <a:t>se = Set{Int64}([1 2]) #</a:t>
            </a:r>
            <a:r>
              <a:rPr lang="zh-CN" altLang="en-US" sz="2000" dirty="0">
                <a:solidFill>
                  <a:srgbClr val="FF0000"/>
                </a:solidFill>
              </a:rPr>
              <a:t>定义类型</a:t>
            </a:r>
            <a:endParaRPr lang="en-US" altLang="zh-CN" sz="2000" dirty="0">
              <a:solidFill>
                <a:srgbClr val="FF0000"/>
              </a:solidFill>
            </a:endParaRPr>
          </a:p>
          <a:p>
            <a:r>
              <a:rPr lang="en-US" altLang="zh-CN" sz="2000" dirty="0">
                <a:solidFill>
                  <a:srgbClr val="0070C0"/>
                </a:solidFill>
              </a:rPr>
              <a:t>Set{Int64} with 2 elements:</a:t>
            </a:r>
          </a:p>
          <a:p>
            <a:r>
              <a:rPr lang="en-US" altLang="zh-CN" sz="2000" dirty="0">
                <a:solidFill>
                  <a:srgbClr val="0070C0"/>
                </a:solidFill>
              </a:rPr>
              <a:t>  2</a:t>
            </a:r>
          </a:p>
          <a:p>
            <a:r>
              <a:rPr lang="en-US" altLang="zh-CN" sz="2000" dirty="0">
                <a:solidFill>
                  <a:srgbClr val="0070C0"/>
                </a:solidFill>
              </a:rPr>
              <a:t>  1</a:t>
            </a:r>
          </a:p>
          <a:p>
            <a:r>
              <a:rPr lang="en-US" altLang="zh-CN" sz="2000" dirty="0" err="1">
                <a:solidFill>
                  <a:srgbClr val="0070C0"/>
                </a:solidFill>
              </a:rPr>
              <a:t>julia</a:t>
            </a:r>
            <a:r>
              <a:rPr lang="en-US" altLang="zh-CN" sz="2000" dirty="0">
                <a:solidFill>
                  <a:srgbClr val="0070C0"/>
                </a:solidFill>
              </a:rPr>
              <a:t>&gt; Set([1,2,3,2]) </a:t>
            </a:r>
            <a:r>
              <a:rPr lang="en-US" altLang="zh-CN" sz="2000" dirty="0">
                <a:solidFill>
                  <a:srgbClr val="FF0000"/>
                </a:solidFill>
              </a:rPr>
              <a:t>#</a:t>
            </a:r>
            <a:r>
              <a:rPr lang="zh-CN" altLang="en-US" sz="2000" dirty="0">
                <a:solidFill>
                  <a:srgbClr val="FF0000"/>
                </a:solidFill>
              </a:rPr>
              <a:t>不重复</a:t>
            </a:r>
            <a:endParaRPr lang="en-US" altLang="zh-CN" sz="2000" dirty="0">
              <a:solidFill>
                <a:srgbClr val="0070C0"/>
              </a:solidFill>
            </a:endParaRPr>
          </a:p>
          <a:p>
            <a:r>
              <a:rPr lang="en-US" altLang="zh-CN" sz="2000" dirty="0">
                <a:solidFill>
                  <a:srgbClr val="0070C0"/>
                </a:solidFill>
              </a:rPr>
              <a:t>Set{Int64} with 3 elements:</a:t>
            </a:r>
          </a:p>
          <a:p>
            <a:r>
              <a:rPr lang="en-US" altLang="zh-CN" sz="2000" dirty="0">
                <a:solidFill>
                  <a:srgbClr val="0070C0"/>
                </a:solidFill>
              </a:rPr>
              <a:t>  2</a:t>
            </a:r>
          </a:p>
          <a:p>
            <a:r>
              <a:rPr lang="en-US" altLang="zh-CN" sz="2000" dirty="0">
                <a:solidFill>
                  <a:srgbClr val="0070C0"/>
                </a:solidFill>
              </a:rPr>
              <a:t>  3</a:t>
            </a:r>
          </a:p>
          <a:p>
            <a:r>
              <a:rPr lang="en-US" altLang="zh-CN" sz="2000" dirty="0">
                <a:solidFill>
                  <a:srgbClr val="0070C0"/>
                </a:solidFill>
              </a:rPr>
              <a:t>  1</a:t>
            </a:r>
            <a:endParaRPr lang="zh-CN" altLang="en-US" sz="2000" dirty="0">
              <a:solidFill>
                <a:srgbClr val="0070C0"/>
              </a:solidFill>
            </a:endParaRPr>
          </a:p>
        </p:txBody>
      </p:sp>
      <p:sp>
        <p:nvSpPr>
          <p:cNvPr id="2" name="内容占位符 2">
            <a:extLst>
              <a:ext uri="{FF2B5EF4-FFF2-40B4-BE49-F238E27FC236}">
                <a16:creationId xmlns:a16="http://schemas.microsoft.com/office/drawing/2014/main" id="{4F7DD11B-CBE3-0B74-562D-866A38807F3C}"/>
              </a:ext>
            </a:extLst>
          </p:cNvPr>
          <p:cNvSpPr txBox="1">
            <a:spLocks/>
          </p:cNvSpPr>
          <p:nvPr/>
        </p:nvSpPr>
        <p:spPr bwMode="auto">
          <a:xfrm>
            <a:off x="478784" y="678711"/>
            <a:ext cx="8341688" cy="42300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sz="2100" b="0" dirty="0">
                <a:solidFill>
                  <a:srgbClr val="002060"/>
                </a:solidFill>
              </a:rPr>
              <a:t>集合：容纳同类型、互不相等（即唯一）元素，且集合中元素是无序</a:t>
            </a:r>
            <a:endParaRPr lang="en-US" altLang="zh-CN" sz="2100" b="0" dirty="0">
              <a:solidFill>
                <a:srgbClr val="002060"/>
              </a:solidFill>
            </a:endParaRPr>
          </a:p>
        </p:txBody>
      </p:sp>
    </p:spTree>
    <p:extLst>
      <p:ext uri="{BB962C8B-B14F-4D97-AF65-F5344CB8AC3E}">
        <p14:creationId xmlns:p14="http://schemas.microsoft.com/office/powerpoint/2010/main" val="237734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9A010B-4490-2674-B10E-935D5CB6EF9E}"/>
              </a:ext>
            </a:extLst>
          </p:cNvPr>
          <p:cNvSpPr>
            <a:spLocks noGrp="1"/>
          </p:cNvSpPr>
          <p:nvPr>
            <p:ph type="title"/>
          </p:nvPr>
        </p:nvSpPr>
        <p:spPr>
          <a:xfrm>
            <a:off x="611560" y="794891"/>
            <a:ext cx="7704856" cy="924133"/>
          </a:xfrm>
        </p:spPr>
        <p:txBody>
          <a:bodyPr/>
          <a:lstStyle/>
          <a:p>
            <a:br>
              <a:rPr lang="zh-CN" altLang="en-US" dirty="0"/>
            </a:br>
            <a:endParaRPr lang="zh-CN" altLang="en-US" dirty="0"/>
          </a:p>
        </p:txBody>
      </p:sp>
      <p:sp>
        <p:nvSpPr>
          <p:cNvPr id="3" name="内容占位符 2">
            <a:extLst>
              <a:ext uri="{FF2B5EF4-FFF2-40B4-BE49-F238E27FC236}">
                <a16:creationId xmlns:a16="http://schemas.microsoft.com/office/drawing/2014/main" id="{E59C4390-913D-AB42-B7B2-37763439C4FD}"/>
              </a:ext>
            </a:extLst>
          </p:cNvPr>
          <p:cNvSpPr>
            <a:spLocks noGrp="1"/>
          </p:cNvSpPr>
          <p:nvPr>
            <p:ph idx="1"/>
          </p:nvPr>
        </p:nvSpPr>
        <p:spPr>
          <a:xfrm>
            <a:off x="424510" y="1606259"/>
            <a:ext cx="8719490" cy="438774"/>
          </a:xfrm>
        </p:spPr>
        <p:txBody>
          <a:bodyPr/>
          <a:lstStyle/>
          <a:p>
            <a:pPr marL="0" indent="0" algn="dist">
              <a:buNone/>
            </a:pPr>
            <a:r>
              <a:rPr lang="zh-CN" altLang="en-US" sz="2200" b="1" dirty="0">
                <a:solidFill>
                  <a:srgbClr val="0070C0"/>
                </a:solidFill>
                <a:latin typeface="微软雅黑" panose="020B0503020204020204" pitchFamily="34" charset="-122"/>
                <a:ea typeface="微软雅黑" panose="020B0503020204020204" pitchFamily="34" charset="-122"/>
              </a:rPr>
              <a:t>并集</a:t>
            </a:r>
            <a:r>
              <a:rPr lang="en-US" altLang="zh-CN" sz="2200" b="1" dirty="0">
                <a:solidFill>
                  <a:srgbClr val="0070C0"/>
                </a:solidFill>
                <a:latin typeface="微软雅黑" panose="020B0503020204020204" pitchFamily="34" charset="-122"/>
                <a:ea typeface="微软雅黑" panose="020B0503020204020204" pitchFamily="34" charset="-122"/>
              </a:rPr>
              <a:t>union()</a:t>
            </a:r>
            <a:r>
              <a:rPr lang="zh-CN" altLang="en-US" sz="2200" b="1" dirty="0">
                <a:solidFill>
                  <a:srgbClr val="0070C0"/>
                </a:solidFill>
                <a:latin typeface="微软雅黑" panose="020B0503020204020204" pitchFamily="34" charset="-122"/>
                <a:ea typeface="微软雅黑" panose="020B0503020204020204" pitchFamily="34" charset="-122"/>
              </a:rPr>
              <a:t>、交集</a:t>
            </a:r>
            <a:r>
              <a:rPr lang="en-US" altLang="zh-CN" sz="2200" b="1" dirty="0">
                <a:solidFill>
                  <a:srgbClr val="0070C0"/>
                </a:solidFill>
                <a:latin typeface="微软雅黑" panose="020B0503020204020204" pitchFamily="34" charset="-122"/>
                <a:ea typeface="微软雅黑" panose="020B0503020204020204" pitchFamily="34" charset="-122"/>
              </a:rPr>
              <a:t>intersect()</a:t>
            </a:r>
            <a:r>
              <a:rPr lang="zh-CN" altLang="en-US" sz="2200" b="1" dirty="0">
                <a:solidFill>
                  <a:srgbClr val="0070C0"/>
                </a:solidFill>
                <a:latin typeface="微软雅黑" panose="020B0503020204020204" pitchFamily="34" charset="-122"/>
                <a:ea typeface="微软雅黑" panose="020B0503020204020204" pitchFamily="34" charset="-122"/>
              </a:rPr>
              <a:t>和差集</a:t>
            </a:r>
            <a:r>
              <a:rPr lang="en-US" altLang="zh-CN" sz="2200" b="1" dirty="0" err="1">
                <a:solidFill>
                  <a:srgbClr val="0070C0"/>
                </a:solidFill>
                <a:latin typeface="微软雅黑" panose="020B0503020204020204" pitchFamily="34" charset="-122"/>
                <a:ea typeface="微软雅黑" panose="020B0503020204020204" pitchFamily="34" charset="-122"/>
              </a:rPr>
              <a:t>setdiff</a:t>
            </a:r>
            <a:r>
              <a:rPr lang="en-US" altLang="zh-CN" sz="2200" b="1" dirty="0">
                <a:solidFill>
                  <a:srgbClr val="0070C0"/>
                </a:solidFill>
                <a:latin typeface="微软雅黑" panose="020B0503020204020204" pitchFamily="34" charset="-122"/>
                <a:ea typeface="微软雅黑" panose="020B0503020204020204" pitchFamily="34" charset="-122"/>
              </a:rPr>
              <a:t>()</a:t>
            </a:r>
            <a:r>
              <a:rPr lang="zh-CN" altLang="en-US" sz="2200" b="1" dirty="0">
                <a:solidFill>
                  <a:srgbClr val="0070C0"/>
                </a:solidFill>
                <a:latin typeface="微软雅黑" panose="020B0503020204020204" pitchFamily="34" charset="-122"/>
                <a:ea typeface="微软雅黑" panose="020B0503020204020204" pitchFamily="34" charset="-122"/>
              </a:rPr>
              <a:t>是集合常用的操作</a:t>
            </a:r>
          </a:p>
        </p:txBody>
      </p:sp>
      <p:sp>
        <p:nvSpPr>
          <p:cNvPr id="4" name="内容占位符 2">
            <a:extLst>
              <a:ext uri="{FF2B5EF4-FFF2-40B4-BE49-F238E27FC236}">
                <a16:creationId xmlns:a16="http://schemas.microsoft.com/office/drawing/2014/main" id="{27CC72E7-D74E-5F40-3E48-B9EEB1DC34DA}"/>
              </a:ext>
            </a:extLst>
          </p:cNvPr>
          <p:cNvSpPr txBox="1">
            <a:spLocks/>
          </p:cNvSpPr>
          <p:nvPr/>
        </p:nvSpPr>
        <p:spPr bwMode="auto">
          <a:xfrm>
            <a:off x="356197" y="2125303"/>
            <a:ext cx="8588716" cy="18145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a:lnSpc>
                <a:spcPts val="4600"/>
              </a:lnSpc>
              <a:buFont typeface="Wingdings" panose="05000000000000000000" pitchFamily="2" charset="2"/>
              <a:buNone/>
            </a:pPr>
            <a:r>
              <a:rPr lang="en-US" altLang="zh-CN" kern="0" dirty="0"/>
              <a:t>intersect(A,B)</a:t>
            </a:r>
            <a:r>
              <a:rPr lang="zh-CN" altLang="en-US" kern="0" dirty="0"/>
              <a:t>用于求交集</a:t>
            </a:r>
            <a:endParaRPr lang="en-US" altLang="zh-CN" kern="0" dirty="0"/>
          </a:p>
          <a:p>
            <a:pPr>
              <a:lnSpc>
                <a:spcPts val="4600"/>
              </a:lnSpc>
              <a:buFont typeface="Wingdings" panose="05000000000000000000" pitchFamily="2" charset="2"/>
              <a:buNone/>
            </a:pPr>
            <a:r>
              <a:rPr lang="en-US" altLang="zh-CN" kern="0" dirty="0" err="1"/>
              <a:t>setdiff</a:t>
            </a:r>
            <a:r>
              <a:rPr lang="en-US" altLang="zh-CN" kern="0" dirty="0"/>
              <a:t>(A,B)</a:t>
            </a:r>
            <a:r>
              <a:rPr lang="zh-CN" altLang="en-US" kern="0" dirty="0"/>
              <a:t>用于求差集</a:t>
            </a:r>
            <a:endParaRPr lang="en-US" altLang="zh-CN" kern="0" dirty="0"/>
          </a:p>
          <a:p>
            <a:pPr>
              <a:lnSpc>
                <a:spcPts val="4600"/>
              </a:lnSpc>
              <a:buFont typeface="Wingdings" panose="05000000000000000000" pitchFamily="2" charset="2"/>
              <a:buNone/>
            </a:pPr>
            <a:r>
              <a:rPr lang="en-US" altLang="zh-CN" kern="0" dirty="0"/>
              <a:t>union(A,B)</a:t>
            </a:r>
            <a:r>
              <a:rPr lang="zh-CN" altLang="en-US" kern="0" dirty="0"/>
              <a:t>用于求并集</a:t>
            </a:r>
          </a:p>
        </p:txBody>
      </p:sp>
      <p:pic>
        <p:nvPicPr>
          <p:cNvPr id="5" name="图片 4">
            <a:extLst>
              <a:ext uri="{FF2B5EF4-FFF2-40B4-BE49-F238E27FC236}">
                <a16:creationId xmlns:a16="http://schemas.microsoft.com/office/drawing/2014/main" id="{E93870BD-1CA1-2A79-6D6F-E3BA4B24B0FC}"/>
              </a:ext>
            </a:extLst>
          </p:cNvPr>
          <p:cNvPicPr>
            <a:picLocks noChangeAspect="1"/>
          </p:cNvPicPr>
          <p:nvPr/>
        </p:nvPicPr>
        <p:blipFill rotWithShape="1">
          <a:blip r:embed="rId3"/>
          <a:srcRect l="21651" t="38800" r="24013" b="22602"/>
          <a:stretch/>
        </p:blipFill>
        <p:spPr>
          <a:xfrm>
            <a:off x="4650555" y="2229064"/>
            <a:ext cx="4313933" cy="1300769"/>
          </a:xfrm>
          <a:prstGeom prst="rect">
            <a:avLst/>
          </a:prstGeom>
        </p:spPr>
      </p:pic>
      <p:sp>
        <p:nvSpPr>
          <p:cNvPr id="6" name="标题 1">
            <a:extLst>
              <a:ext uri="{FF2B5EF4-FFF2-40B4-BE49-F238E27FC236}">
                <a16:creationId xmlns:a16="http://schemas.microsoft.com/office/drawing/2014/main" id="{62B91A15-3843-4F37-8497-5647FD7D19EA}"/>
              </a:ext>
            </a:extLst>
          </p:cNvPr>
          <p:cNvSpPr txBox="1">
            <a:spLocks/>
          </p:cNvSpPr>
          <p:nvPr/>
        </p:nvSpPr>
        <p:spPr bwMode="auto">
          <a:xfrm>
            <a:off x="1675051" y="909845"/>
            <a:ext cx="5256584" cy="1014214"/>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kern="0" dirty="0"/>
              <a:t>§1.4.5  </a:t>
            </a:r>
            <a:r>
              <a:rPr lang="zh-CN" altLang="en-US" kern="0" dirty="0"/>
              <a:t>集合</a:t>
            </a:r>
            <a:r>
              <a:rPr lang="en-US" altLang="zh-CN" kern="0" dirty="0">
                <a:solidFill>
                  <a:srgbClr val="FF0000"/>
                </a:solidFill>
              </a:rPr>
              <a:t>—— </a:t>
            </a:r>
            <a:r>
              <a:rPr lang="zh-CN" altLang="en-US" kern="0" dirty="0">
                <a:solidFill>
                  <a:srgbClr val="FF0000"/>
                </a:solidFill>
              </a:rPr>
              <a:t>集合</a:t>
            </a:r>
            <a:r>
              <a:rPr lang="zh-CN" altLang="en-US" dirty="0">
                <a:solidFill>
                  <a:srgbClr val="FF0000"/>
                </a:solidFill>
              </a:rPr>
              <a:t>常用操作</a:t>
            </a:r>
            <a:br>
              <a:rPr lang="zh-CN" altLang="en-US" kern="0" dirty="0">
                <a:solidFill>
                  <a:srgbClr val="FF0000"/>
                </a:solidFill>
              </a:rPr>
            </a:br>
            <a:endParaRPr lang="zh-CN" altLang="en-US" kern="0" dirty="0"/>
          </a:p>
        </p:txBody>
      </p:sp>
    </p:spTree>
    <p:extLst>
      <p:ext uri="{BB962C8B-B14F-4D97-AF65-F5344CB8AC3E}">
        <p14:creationId xmlns:p14="http://schemas.microsoft.com/office/powerpoint/2010/main" val="2317208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596CE8C-4D0D-8D72-0047-7580AF387ACE}"/>
              </a:ext>
            </a:extLst>
          </p:cNvPr>
          <p:cNvSpPr txBox="1"/>
          <p:nvPr/>
        </p:nvSpPr>
        <p:spPr>
          <a:xfrm>
            <a:off x="633191" y="755457"/>
            <a:ext cx="3971799" cy="4001095"/>
          </a:xfrm>
          <a:prstGeom prst="rect">
            <a:avLst/>
          </a:prstGeom>
          <a:noFill/>
        </p:spPr>
        <p:txBody>
          <a:bodyPr wrap="square">
            <a:spAutoFit/>
          </a:bodyPr>
          <a:lstStyle/>
          <a:p>
            <a:r>
              <a:rPr lang="en-US" altLang="zh-CN" sz="1600" b="0" i="0" dirty="0">
                <a:solidFill>
                  <a:srgbClr val="000000"/>
                </a:solidFill>
                <a:effectLst/>
                <a:latin typeface="Menlo"/>
              </a:rPr>
              <a:t>A = </a:t>
            </a: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C93D39"/>
                </a:solidFill>
                <a:effectLst/>
                <a:latin typeface="Menlo"/>
              </a:rPr>
              <a:t>"</a:t>
            </a:r>
            <a:r>
              <a:rPr lang="en-US" altLang="zh-CN" sz="1600" b="0" i="0" dirty="0" err="1">
                <a:solidFill>
                  <a:srgbClr val="C93D39"/>
                </a:solidFill>
                <a:effectLst/>
                <a:latin typeface="Menlo"/>
              </a:rPr>
              <a:t>red"</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"green"</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"blue</a:t>
            </a:r>
            <a:r>
              <a:rPr lang="en-US" altLang="zh-CN" sz="1600" b="0" i="0" dirty="0">
                <a:solidFill>
                  <a:srgbClr val="C93D39"/>
                </a:solidFill>
                <a:effectLst/>
                <a:latin typeface="Menlo"/>
              </a:rPr>
              <a:t>"</a:t>
            </a:r>
            <a:r>
              <a:rPr lang="en-US" altLang="zh-CN" sz="1600" b="0" i="0" dirty="0">
                <a:solidFill>
                  <a:srgbClr val="000000"/>
                </a:solidFill>
                <a:effectLst/>
                <a:latin typeface="Menlo"/>
              </a:rPr>
              <a:t>, </a:t>
            </a:r>
            <a:r>
              <a:rPr lang="en-US" altLang="zh-CN" sz="1600" b="0" i="0" dirty="0">
                <a:solidFill>
                  <a:srgbClr val="C93D39"/>
                </a:solidFill>
                <a:effectLst/>
                <a:latin typeface="Menlo"/>
              </a:rPr>
              <a:t>"black"</a:t>
            </a:r>
            <a:r>
              <a:rPr lang="en-US" altLang="zh-CN" sz="1600" b="0" i="0" dirty="0">
                <a:solidFill>
                  <a:srgbClr val="3B972E"/>
                </a:solidFill>
                <a:effectLst/>
                <a:latin typeface="Menlo"/>
              </a:rPr>
              <a:t>])</a:t>
            </a:r>
            <a:br>
              <a:rPr lang="en-US" altLang="zh-CN" sz="1600" dirty="0"/>
            </a:b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000000"/>
                </a:solidFill>
                <a:effectLst/>
                <a:latin typeface="Menlo"/>
              </a:rPr>
              <a:t> with 4 elements:</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"blue"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"green"</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"black"</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"red"</a:t>
            </a:r>
            <a:br>
              <a:rPr lang="en-US" altLang="zh-CN" sz="1600" dirty="0"/>
            </a:br>
            <a:r>
              <a:rPr lang="en-US" altLang="zh-CN" sz="1600" b="0" i="0" dirty="0">
                <a:solidFill>
                  <a:srgbClr val="000000"/>
                </a:solidFill>
                <a:effectLst/>
                <a:latin typeface="Menlo"/>
              </a:rPr>
              <a:t>B= </a:t>
            </a: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0" i="0" dirty="0">
                <a:solidFill>
                  <a:srgbClr val="C93D39"/>
                </a:solidFill>
                <a:effectLst/>
                <a:latin typeface="Menlo"/>
              </a:rPr>
              <a:t>"</a:t>
            </a:r>
            <a:r>
              <a:rPr lang="en-US" altLang="zh-CN" sz="1600" b="0" i="0" dirty="0" err="1">
                <a:solidFill>
                  <a:srgbClr val="C93D39"/>
                </a:solidFill>
                <a:effectLst/>
                <a:latin typeface="Menlo"/>
              </a:rPr>
              <a:t>red"</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"orange"</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"yellow"</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"green"</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"blue"</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"indigo"</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"violet</a:t>
            </a:r>
            <a:r>
              <a:rPr lang="en-US" altLang="zh-CN" sz="1600" b="0" i="0" dirty="0">
                <a:solidFill>
                  <a:srgbClr val="C93D39"/>
                </a:solidFill>
                <a:effectLst/>
                <a:latin typeface="Menlo"/>
              </a:rPr>
              <a:t>"</a:t>
            </a:r>
            <a:r>
              <a:rPr lang="en-US" altLang="zh-CN" sz="1600" b="0" i="0" dirty="0">
                <a:solidFill>
                  <a:srgbClr val="3B972E"/>
                </a:solidFill>
                <a:effectLst/>
                <a:latin typeface="Menlo"/>
              </a:rPr>
              <a:t>])</a:t>
            </a:r>
            <a:br>
              <a:rPr lang="en-US" altLang="zh-CN" sz="1600" dirty="0"/>
            </a:b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000000"/>
                </a:solidFill>
                <a:effectLst/>
                <a:latin typeface="Menlo"/>
              </a:rPr>
              <a:t> with 7 elements:</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"indigo"</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"yellow"</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"orange"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"blue"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"violet"</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"green"</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"red"</a:t>
            </a:r>
            <a:endParaRPr lang="en-US" altLang="zh-CN" sz="1600" dirty="0">
              <a:solidFill>
                <a:srgbClr val="002060"/>
              </a:solidFill>
            </a:endParaRPr>
          </a:p>
        </p:txBody>
      </p:sp>
      <p:sp>
        <p:nvSpPr>
          <p:cNvPr id="7" name="文本框 6">
            <a:extLst>
              <a:ext uri="{FF2B5EF4-FFF2-40B4-BE49-F238E27FC236}">
                <a16:creationId xmlns:a16="http://schemas.microsoft.com/office/drawing/2014/main" id="{A08527B4-F5D2-54E8-B194-B3CB2A4417CF}"/>
              </a:ext>
            </a:extLst>
          </p:cNvPr>
          <p:cNvSpPr txBox="1"/>
          <p:nvPr/>
        </p:nvSpPr>
        <p:spPr>
          <a:xfrm>
            <a:off x="4940597" y="746374"/>
            <a:ext cx="4203403" cy="3785652"/>
          </a:xfrm>
          <a:prstGeom prst="rect">
            <a:avLst/>
          </a:prstGeom>
          <a:noFill/>
        </p:spPr>
        <p:txBody>
          <a:bodyPr wrap="square">
            <a:spAutoFit/>
          </a:bodyPr>
          <a:lstStyle/>
          <a:p>
            <a:r>
              <a:rPr lang="en-US" altLang="zh-CN" sz="1600" b="0" i="0" dirty="0">
                <a:solidFill>
                  <a:srgbClr val="000000"/>
                </a:solidFill>
                <a:effectLst/>
                <a:latin typeface="Menlo"/>
              </a:rPr>
              <a:t>julia</a:t>
            </a:r>
            <a:r>
              <a:rPr lang="en-US" altLang="zh-CN" sz="1600" b="0" i="0" dirty="0">
                <a:solidFill>
                  <a:srgbClr val="6BAB5B"/>
                </a:solidFill>
                <a:effectLst/>
                <a:latin typeface="Menlo"/>
              </a:rPr>
              <a:t>&gt;</a:t>
            </a:r>
            <a:r>
              <a:rPr lang="en-US" altLang="zh-CN" sz="1600" b="0" i="0" dirty="0">
                <a:solidFill>
                  <a:srgbClr val="000000"/>
                </a:solidFill>
                <a:effectLst/>
                <a:latin typeface="Menlo"/>
              </a:rPr>
              <a:t> </a:t>
            </a:r>
            <a:r>
              <a:rPr lang="en-US" altLang="zh-CN" sz="1600" b="1" i="0" dirty="0">
                <a:solidFill>
                  <a:srgbClr val="0000A8"/>
                </a:solidFill>
                <a:effectLst/>
                <a:latin typeface="Menlo"/>
              </a:rPr>
              <a:t>union</a:t>
            </a:r>
            <a:r>
              <a:rPr lang="en-US" altLang="zh-CN" sz="1600" b="0" i="0" dirty="0">
                <a:solidFill>
                  <a:srgbClr val="3B972E"/>
                </a:solidFill>
                <a:effectLst/>
                <a:latin typeface="Menlo"/>
              </a:rPr>
              <a:t>(</a:t>
            </a:r>
            <a:r>
              <a:rPr lang="en-US" altLang="zh-CN" sz="1600" b="0" i="0" dirty="0">
                <a:solidFill>
                  <a:srgbClr val="000000"/>
                </a:solidFill>
                <a:effectLst/>
                <a:latin typeface="Menlo"/>
              </a:rPr>
              <a:t>A, B</a:t>
            </a:r>
            <a:r>
              <a:rPr lang="en-US" altLang="zh-CN" sz="1600" b="0" i="0" dirty="0">
                <a:solidFill>
                  <a:srgbClr val="3B972E"/>
                </a:solidFill>
                <a:effectLst/>
                <a:latin typeface="Menlo"/>
              </a:rPr>
              <a:t>)  # A</a:t>
            </a:r>
            <a:r>
              <a:rPr lang="zh-CN" altLang="en-US" sz="1600" b="0" i="0" dirty="0">
                <a:solidFill>
                  <a:srgbClr val="3B972E"/>
                </a:solidFill>
                <a:effectLst/>
                <a:latin typeface="Menlo"/>
              </a:rPr>
              <a:t>和</a:t>
            </a:r>
            <a:r>
              <a:rPr lang="en-US" altLang="zh-CN" sz="1600" b="0" i="0" dirty="0">
                <a:solidFill>
                  <a:srgbClr val="3B972E"/>
                </a:solidFill>
                <a:effectLst/>
                <a:latin typeface="Menlo"/>
              </a:rPr>
              <a:t>B</a:t>
            </a:r>
            <a:r>
              <a:rPr lang="zh-CN" altLang="en-US" sz="1600" b="0" i="0" dirty="0">
                <a:solidFill>
                  <a:srgbClr val="3B972E"/>
                </a:solidFill>
                <a:effectLst/>
                <a:latin typeface="Menlo"/>
              </a:rPr>
              <a:t>并集</a:t>
            </a:r>
            <a:br>
              <a:rPr lang="en-US" altLang="zh-CN" sz="1600" dirty="0"/>
            </a:b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000000"/>
                </a:solidFill>
                <a:effectLst/>
                <a:latin typeface="Menlo"/>
              </a:rPr>
              <a:t> with 8 elements:</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"indigo"</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"green"</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"black"</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"yellow"</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"orange"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"blue"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"violet"</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"red“</a:t>
            </a:r>
          </a:p>
          <a:p>
            <a:r>
              <a:rPr lang="en-US" altLang="zh-CN" sz="1600" b="0" i="0" dirty="0">
                <a:solidFill>
                  <a:srgbClr val="000000"/>
                </a:solidFill>
                <a:effectLst/>
                <a:latin typeface="Menlo"/>
              </a:rPr>
              <a:t>julia</a:t>
            </a:r>
            <a:r>
              <a:rPr lang="en-US" altLang="zh-CN" sz="1600" b="0" i="0" dirty="0">
                <a:solidFill>
                  <a:srgbClr val="6BAB5B"/>
                </a:solidFill>
                <a:effectLst/>
                <a:latin typeface="Menlo"/>
              </a:rPr>
              <a:t>&gt;</a:t>
            </a:r>
            <a:r>
              <a:rPr lang="en-US" altLang="zh-CN" sz="1600" b="0" i="0" dirty="0">
                <a:solidFill>
                  <a:srgbClr val="000000"/>
                </a:solidFill>
                <a:effectLst/>
                <a:latin typeface="Menlo"/>
              </a:rPr>
              <a:t> </a:t>
            </a:r>
            <a:r>
              <a:rPr lang="en-US" altLang="zh-CN" sz="1600" b="1" i="0" dirty="0">
                <a:solidFill>
                  <a:srgbClr val="0000A8"/>
                </a:solidFill>
                <a:effectLst/>
                <a:latin typeface="Menlo"/>
              </a:rPr>
              <a:t>intersect</a:t>
            </a:r>
            <a:r>
              <a:rPr lang="en-US" altLang="zh-CN" sz="1600" b="0" i="0" dirty="0">
                <a:solidFill>
                  <a:srgbClr val="3B972E"/>
                </a:solidFill>
                <a:effectLst/>
                <a:latin typeface="Menlo"/>
              </a:rPr>
              <a:t>(</a:t>
            </a:r>
            <a:r>
              <a:rPr lang="en-US" altLang="zh-CN" sz="1600" b="0" i="0" dirty="0">
                <a:solidFill>
                  <a:srgbClr val="000000"/>
                </a:solidFill>
                <a:effectLst/>
                <a:latin typeface="Menlo"/>
              </a:rPr>
              <a:t>A, B</a:t>
            </a:r>
            <a:r>
              <a:rPr lang="en-US" altLang="zh-CN" sz="1600" b="0" i="0" dirty="0">
                <a:solidFill>
                  <a:srgbClr val="3B972E"/>
                </a:solidFill>
                <a:effectLst/>
                <a:latin typeface="Menlo"/>
              </a:rPr>
              <a:t>)  #A</a:t>
            </a:r>
            <a:r>
              <a:rPr lang="zh-CN" altLang="en-US" sz="1600" b="0" i="0" dirty="0">
                <a:solidFill>
                  <a:srgbClr val="3B972E"/>
                </a:solidFill>
                <a:effectLst/>
                <a:latin typeface="Menlo"/>
              </a:rPr>
              <a:t>和</a:t>
            </a:r>
            <a:r>
              <a:rPr lang="en-US" altLang="zh-CN" sz="1600" b="0" i="0" dirty="0">
                <a:solidFill>
                  <a:srgbClr val="3B972E"/>
                </a:solidFill>
                <a:effectLst/>
                <a:latin typeface="Menlo"/>
              </a:rPr>
              <a:t>B</a:t>
            </a:r>
            <a:r>
              <a:rPr lang="zh-CN" altLang="en-US" sz="1600" b="0" i="0" dirty="0">
                <a:solidFill>
                  <a:srgbClr val="3B972E"/>
                </a:solidFill>
                <a:effectLst/>
                <a:latin typeface="Menlo"/>
              </a:rPr>
              <a:t>交集</a:t>
            </a:r>
            <a:br>
              <a:rPr lang="en-US" altLang="zh-CN" sz="1600" dirty="0"/>
            </a:b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000000"/>
                </a:solidFill>
                <a:effectLst/>
                <a:latin typeface="Menlo"/>
              </a:rPr>
              <a:t> with 3 elements:</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"blue"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"green"</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"red"</a:t>
            </a:r>
            <a:endParaRPr lang="en-US" altLang="zh-CN" sz="1600" dirty="0">
              <a:solidFill>
                <a:srgbClr val="002060"/>
              </a:solidFill>
            </a:endParaRPr>
          </a:p>
        </p:txBody>
      </p:sp>
      <p:sp>
        <p:nvSpPr>
          <p:cNvPr id="9" name="文本框 8">
            <a:extLst>
              <a:ext uri="{FF2B5EF4-FFF2-40B4-BE49-F238E27FC236}">
                <a16:creationId xmlns:a16="http://schemas.microsoft.com/office/drawing/2014/main" id="{686A3973-C76A-D271-0474-A4D02AFB6A9C}"/>
              </a:ext>
            </a:extLst>
          </p:cNvPr>
          <p:cNvSpPr txBox="1"/>
          <p:nvPr/>
        </p:nvSpPr>
        <p:spPr>
          <a:xfrm>
            <a:off x="6012160" y="1715870"/>
            <a:ext cx="3096344" cy="923330"/>
          </a:xfrm>
          <a:prstGeom prst="rect">
            <a:avLst/>
          </a:prstGeom>
          <a:noFill/>
        </p:spPr>
        <p:txBody>
          <a:bodyPr wrap="square">
            <a:spAutoFit/>
          </a:bodyPr>
          <a:lstStyle/>
          <a:p>
            <a:r>
              <a:rPr lang="en-US" altLang="zh-CN" b="0" i="0" dirty="0">
                <a:solidFill>
                  <a:srgbClr val="000000"/>
                </a:solidFill>
                <a:effectLst/>
                <a:latin typeface="Menlo"/>
              </a:rPr>
              <a:t>julia</a:t>
            </a:r>
            <a:r>
              <a:rPr lang="en-US" altLang="zh-CN" b="0" i="0" dirty="0">
                <a:solidFill>
                  <a:srgbClr val="6BAB5B"/>
                </a:solidFill>
                <a:effectLst/>
                <a:latin typeface="Menlo"/>
              </a:rPr>
              <a:t>&gt;</a:t>
            </a:r>
            <a:r>
              <a:rPr lang="en-US" altLang="zh-CN" b="0" i="0" dirty="0">
                <a:solidFill>
                  <a:srgbClr val="000000"/>
                </a:solidFill>
                <a:effectLst/>
                <a:latin typeface="Menlo"/>
              </a:rPr>
              <a:t> </a:t>
            </a:r>
            <a:r>
              <a:rPr lang="en-US" altLang="zh-CN" b="1" i="0" dirty="0" err="1">
                <a:solidFill>
                  <a:srgbClr val="0000A8"/>
                </a:solidFill>
                <a:effectLst/>
                <a:latin typeface="Menlo"/>
              </a:rPr>
              <a:t>setdiff</a:t>
            </a:r>
            <a:r>
              <a:rPr lang="en-US" altLang="zh-CN" b="0" i="0" dirty="0">
                <a:solidFill>
                  <a:srgbClr val="3B972E"/>
                </a:solidFill>
                <a:effectLst/>
                <a:latin typeface="Menlo"/>
              </a:rPr>
              <a:t>(</a:t>
            </a:r>
            <a:r>
              <a:rPr lang="en-US" altLang="zh-CN" b="0" i="0" dirty="0">
                <a:solidFill>
                  <a:srgbClr val="000000"/>
                </a:solidFill>
                <a:effectLst/>
                <a:latin typeface="Menlo"/>
              </a:rPr>
              <a:t>A, B</a:t>
            </a:r>
            <a:r>
              <a:rPr lang="en-US" altLang="zh-CN" b="0" i="0" dirty="0">
                <a:solidFill>
                  <a:srgbClr val="3B972E"/>
                </a:solidFill>
                <a:effectLst/>
                <a:latin typeface="Menlo"/>
              </a:rPr>
              <a:t>) # A</a:t>
            </a:r>
            <a:r>
              <a:rPr lang="zh-CN" altLang="en-US" b="0" i="0" dirty="0">
                <a:solidFill>
                  <a:srgbClr val="3B972E"/>
                </a:solidFill>
                <a:effectLst/>
                <a:latin typeface="Menlo"/>
              </a:rPr>
              <a:t>和</a:t>
            </a:r>
            <a:r>
              <a:rPr lang="en-US" altLang="zh-CN" b="0" i="0" dirty="0">
                <a:solidFill>
                  <a:srgbClr val="3B972E"/>
                </a:solidFill>
                <a:effectLst/>
                <a:latin typeface="Menlo"/>
              </a:rPr>
              <a:t>B</a:t>
            </a:r>
            <a:r>
              <a:rPr lang="zh-CN" altLang="en-US" b="0" i="0" dirty="0">
                <a:solidFill>
                  <a:srgbClr val="3B972E"/>
                </a:solidFill>
                <a:effectLst/>
                <a:latin typeface="Menlo"/>
              </a:rPr>
              <a:t>差集</a:t>
            </a:r>
            <a:br>
              <a:rPr lang="en-US" altLang="zh-CN" dirty="0"/>
            </a:br>
            <a:r>
              <a:rPr lang="en-US" altLang="zh-CN" b="1" i="0" dirty="0">
                <a:solidFill>
                  <a:srgbClr val="0000A8"/>
                </a:solidFill>
                <a:effectLst/>
                <a:latin typeface="Menlo"/>
              </a:rPr>
              <a:t>Set</a:t>
            </a:r>
            <a:r>
              <a:rPr lang="en-US" altLang="zh-CN" b="0" i="0" dirty="0">
                <a:solidFill>
                  <a:srgbClr val="3B972E"/>
                </a:solidFill>
                <a:effectLst/>
                <a:latin typeface="Menlo"/>
              </a:rPr>
              <a:t>{</a:t>
            </a:r>
            <a:r>
              <a:rPr lang="en-US" altLang="zh-CN" b="1" i="0" dirty="0">
                <a:solidFill>
                  <a:srgbClr val="0000A8"/>
                </a:solidFill>
                <a:effectLst/>
                <a:latin typeface="Menlo"/>
              </a:rPr>
              <a:t>String</a:t>
            </a:r>
            <a:r>
              <a:rPr lang="en-US" altLang="zh-CN" b="0" i="0" dirty="0">
                <a:solidFill>
                  <a:srgbClr val="3B972E"/>
                </a:solidFill>
                <a:effectLst/>
                <a:latin typeface="Menlo"/>
              </a:rPr>
              <a:t>}</a:t>
            </a:r>
            <a:r>
              <a:rPr lang="en-US" altLang="zh-CN" b="0" i="0" dirty="0">
                <a:solidFill>
                  <a:srgbClr val="000000"/>
                </a:solidFill>
                <a:effectLst/>
                <a:latin typeface="Menlo"/>
              </a:rPr>
              <a:t> with 1 element:</a:t>
            </a:r>
            <a:br>
              <a:rPr lang="en-US" altLang="zh-CN" dirty="0"/>
            </a:br>
            <a:r>
              <a:rPr lang="en-US" altLang="zh-CN" b="0" i="0" dirty="0">
                <a:solidFill>
                  <a:srgbClr val="000000"/>
                </a:solidFill>
                <a:effectLst/>
                <a:latin typeface="Menlo"/>
              </a:rPr>
              <a:t>  </a:t>
            </a:r>
            <a:r>
              <a:rPr lang="en-US" altLang="zh-CN" b="0" i="0" dirty="0">
                <a:solidFill>
                  <a:srgbClr val="C93D39"/>
                </a:solidFill>
                <a:effectLst/>
                <a:latin typeface="Menlo"/>
              </a:rPr>
              <a:t>"black"</a:t>
            </a:r>
            <a:endParaRPr lang="zh-CN" altLang="en-US" dirty="0"/>
          </a:p>
        </p:txBody>
      </p:sp>
      <p:sp>
        <p:nvSpPr>
          <p:cNvPr id="10" name="标题 1">
            <a:extLst>
              <a:ext uri="{FF2B5EF4-FFF2-40B4-BE49-F238E27FC236}">
                <a16:creationId xmlns:a16="http://schemas.microsoft.com/office/drawing/2014/main" id="{1F4CD9B1-AD61-480C-B8F7-E06FF2FDC945}"/>
              </a:ext>
            </a:extLst>
          </p:cNvPr>
          <p:cNvSpPr>
            <a:spLocks noGrp="1"/>
          </p:cNvSpPr>
          <p:nvPr>
            <p:ph type="title"/>
          </p:nvPr>
        </p:nvSpPr>
        <p:spPr>
          <a:xfrm>
            <a:off x="1100968" y="0"/>
            <a:ext cx="8034212" cy="1014214"/>
          </a:xfrm>
        </p:spPr>
        <p:txBody>
          <a:bodyPr/>
          <a:lstStyle/>
          <a:p>
            <a:r>
              <a:rPr lang="zh-CN" altLang="zh-CN" dirty="0">
                <a:ea typeface="等线" panose="02010600030101010101" pitchFamily="2" charset="-122"/>
                <a:cs typeface="Times New Roman" panose="02020603050405020304" pitchFamily="18" charset="0"/>
              </a:rPr>
              <a:t>§ </a:t>
            </a:r>
            <a:r>
              <a:rPr lang="en-US" altLang="zh-CN" dirty="0"/>
              <a:t>1.4.5  </a:t>
            </a:r>
            <a:r>
              <a:rPr lang="zh-CN" altLang="en-US" dirty="0"/>
              <a:t>集合</a:t>
            </a:r>
            <a:r>
              <a:rPr lang="en-US" altLang="zh-CN" dirty="0">
                <a:solidFill>
                  <a:srgbClr val="FF0000"/>
                </a:solidFill>
              </a:rPr>
              <a:t>——</a:t>
            </a:r>
            <a:r>
              <a:rPr lang="zh-CN" altLang="en-US" dirty="0">
                <a:solidFill>
                  <a:srgbClr val="FF0000"/>
                </a:solidFill>
              </a:rPr>
              <a:t>常用集合操作示例 </a:t>
            </a:r>
            <a:br>
              <a:rPr lang="zh-CN" altLang="en-US" kern="0" dirty="0">
                <a:solidFill>
                  <a:srgbClr val="FF0000"/>
                </a:solidFill>
              </a:rPr>
            </a:br>
            <a:endParaRPr lang="zh-CN" altLang="en-US" dirty="0"/>
          </a:p>
        </p:txBody>
      </p:sp>
    </p:spTree>
    <p:extLst>
      <p:ext uri="{BB962C8B-B14F-4D97-AF65-F5344CB8AC3E}">
        <p14:creationId xmlns:p14="http://schemas.microsoft.com/office/powerpoint/2010/main" val="3621331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AC3C6F9-6880-2AA1-22A7-060DF36C91DD}"/>
              </a:ext>
            </a:extLst>
          </p:cNvPr>
          <p:cNvSpPr txBox="1"/>
          <p:nvPr/>
        </p:nvSpPr>
        <p:spPr>
          <a:xfrm>
            <a:off x="107504" y="832812"/>
            <a:ext cx="4621530" cy="3477875"/>
          </a:xfrm>
          <a:prstGeom prst="rect">
            <a:avLst/>
          </a:prstGeom>
          <a:noFill/>
        </p:spPr>
        <p:txBody>
          <a:bodyPr wrap="square">
            <a:spAutoFit/>
          </a:bodyPr>
          <a:lstStyle/>
          <a:p>
            <a:r>
              <a:rPr lang="en-US" altLang="zh-CN" sz="2000" dirty="0"/>
              <a:t>julia&gt; dict1 = </a:t>
            </a:r>
            <a:r>
              <a:rPr lang="en-US" altLang="zh-CN" sz="2000" dirty="0" err="1"/>
              <a:t>Dict</a:t>
            </a:r>
            <a:r>
              <a:rPr lang="en-US" altLang="zh-CN" sz="2000" dirty="0"/>
              <a:t>(100=&gt;"X", 220 =&gt; "Y")</a:t>
            </a:r>
          </a:p>
          <a:p>
            <a:r>
              <a:rPr lang="en-US" altLang="zh-CN" sz="2000" dirty="0" err="1">
                <a:solidFill>
                  <a:srgbClr val="0070C0"/>
                </a:solidFill>
              </a:rPr>
              <a:t>Dict</a:t>
            </a:r>
            <a:r>
              <a:rPr lang="en-US" altLang="zh-CN" sz="2000" dirty="0">
                <a:solidFill>
                  <a:srgbClr val="0070C0"/>
                </a:solidFill>
              </a:rPr>
              <a:t>{Int64,String} with 2 entries:</a:t>
            </a:r>
          </a:p>
          <a:p>
            <a:r>
              <a:rPr lang="en-US" altLang="zh-CN" sz="2000" dirty="0">
                <a:solidFill>
                  <a:srgbClr val="0070C0"/>
                </a:solidFill>
              </a:rPr>
              <a:t> 100 =&gt; "X"</a:t>
            </a:r>
          </a:p>
          <a:p>
            <a:r>
              <a:rPr lang="en-US" altLang="zh-CN" sz="2000" dirty="0">
                <a:solidFill>
                  <a:srgbClr val="0070C0"/>
                </a:solidFill>
              </a:rPr>
              <a:t> 220 =&gt; "Y"</a:t>
            </a:r>
          </a:p>
          <a:p>
            <a:r>
              <a:rPr lang="en-US" altLang="zh-CN" sz="2000" dirty="0"/>
              <a:t> </a:t>
            </a:r>
          </a:p>
          <a:p>
            <a:r>
              <a:rPr lang="en-US" altLang="zh-CN" sz="2000" dirty="0" err="1"/>
              <a:t>julia</a:t>
            </a:r>
            <a:r>
              <a:rPr lang="en-US" altLang="zh-CN" sz="2000" dirty="0"/>
              <a:t>&gt; dict2 = </a:t>
            </a:r>
            <a:r>
              <a:rPr lang="en-US" altLang="zh-CN" sz="2000" dirty="0" err="1"/>
              <a:t>Dict</a:t>
            </a:r>
            <a:r>
              <a:rPr lang="en-US" altLang="zh-CN" sz="2000" dirty="0"/>
              <a:t>(220 =&gt; "Y", 300 =&gt; "Z", 450 =&gt; "W")</a:t>
            </a:r>
          </a:p>
          <a:p>
            <a:r>
              <a:rPr lang="en-US" altLang="zh-CN" sz="2000" dirty="0" err="1">
                <a:solidFill>
                  <a:srgbClr val="0070C0"/>
                </a:solidFill>
              </a:rPr>
              <a:t>Dict</a:t>
            </a:r>
            <a:r>
              <a:rPr lang="en-US" altLang="zh-CN" sz="2000" dirty="0">
                <a:solidFill>
                  <a:srgbClr val="0070C0"/>
                </a:solidFill>
              </a:rPr>
              <a:t>{Int64,String} with 3 entries:</a:t>
            </a:r>
          </a:p>
          <a:p>
            <a:r>
              <a:rPr lang="en-US" altLang="zh-CN" sz="2000" dirty="0">
                <a:solidFill>
                  <a:srgbClr val="0070C0"/>
                </a:solidFill>
              </a:rPr>
              <a:t> 450 =&gt; "W"</a:t>
            </a:r>
          </a:p>
          <a:p>
            <a:r>
              <a:rPr lang="en-US" altLang="zh-CN" sz="2000" dirty="0">
                <a:solidFill>
                  <a:srgbClr val="0070C0"/>
                </a:solidFill>
              </a:rPr>
              <a:t> 220 =&gt; "Y"</a:t>
            </a:r>
          </a:p>
          <a:p>
            <a:r>
              <a:rPr lang="en-US" altLang="zh-CN" sz="2000" dirty="0">
                <a:solidFill>
                  <a:srgbClr val="0070C0"/>
                </a:solidFill>
              </a:rPr>
              <a:t> 300 =&gt; "Z"</a:t>
            </a:r>
            <a:endParaRPr lang="zh-CN" altLang="en-US" sz="2000" dirty="0">
              <a:solidFill>
                <a:srgbClr val="0070C0"/>
              </a:solidFill>
            </a:endParaRPr>
          </a:p>
        </p:txBody>
      </p:sp>
      <p:sp>
        <p:nvSpPr>
          <p:cNvPr id="7" name="文本框 6">
            <a:extLst>
              <a:ext uri="{FF2B5EF4-FFF2-40B4-BE49-F238E27FC236}">
                <a16:creationId xmlns:a16="http://schemas.microsoft.com/office/drawing/2014/main" id="{C0254CCD-3036-1723-C539-E3E4A30662FF}"/>
              </a:ext>
            </a:extLst>
          </p:cNvPr>
          <p:cNvSpPr txBox="1"/>
          <p:nvPr/>
        </p:nvSpPr>
        <p:spPr>
          <a:xfrm>
            <a:off x="4572000" y="1251392"/>
            <a:ext cx="4752528" cy="3323987"/>
          </a:xfrm>
          <a:prstGeom prst="rect">
            <a:avLst/>
          </a:prstGeom>
          <a:noFill/>
        </p:spPr>
        <p:txBody>
          <a:bodyPr wrap="square">
            <a:spAutoFit/>
          </a:bodyPr>
          <a:lstStyle/>
          <a:p>
            <a:r>
              <a:rPr lang="en-US" altLang="zh-CN" sz="2100" b="0" i="0" dirty="0">
                <a:solidFill>
                  <a:srgbClr val="000000"/>
                </a:solidFill>
                <a:effectLst/>
                <a:latin typeface="+mn-ea"/>
                <a:ea typeface="+mn-ea"/>
              </a:rPr>
              <a:t>julia</a:t>
            </a:r>
            <a:r>
              <a:rPr lang="en-US" altLang="zh-CN" sz="2100" b="0" i="0" dirty="0">
                <a:solidFill>
                  <a:srgbClr val="6BAB5B"/>
                </a:solidFill>
                <a:effectLst/>
                <a:latin typeface="+mn-ea"/>
                <a:ea typeface="+mn-ea"/>
              </a:rPr>
              <a:t>&gt;</a:t>
            </a:r>
            <a:r>
              <a:rPr lang="en-US" altLang="zh-CN" sz="2100" b="0" i="0" dirty="0">
                <a:solidFill>
                  <a:srgbClr val="000000"/>
                </a:solidFill>
                <a:effectLst/>
                <a:latin typeface="+mn-ea"/>
                <a:ea typeface="+mn-ea"/>
              </a:rPr>
              <a:t> </a:t>
            </a:r>
            <a:r>
              <a:rPr lang="en-US" altLang="zh-CN" sz="2100" b="1" i="0" dirty="0">
                <a:solidFill>
                  <a:srgbClr val="0000A8"/>
                </a:solidFill>
                <a:effectLst/>
                <a:latin typeface="+mn-ea"/>
                <a:ea typeface="+mn-ea"/>
              </a:rPr>
              <a:t>union</a:t>
            </a:r>
            <a:r>
              <a:rPr lang="en-US" altLang="zh-CN" sz="2100" b="0" i="0" dirty="0">
                <a:solidFill>
                  <a:srgbClr val="3B972E"/>
                </a:solidFill>
                <a:effectLst/>
                <a:latin typeface="+mn-ea"/>
                <a:ea typeface="+mn-ea"/>
              </a:rPr>
              <a:t>(</a:t>
            </a:r>
            <a:r>
              <a:rPr lang="en-US" altLang="zh-CN" sz="2100" b="0" i="0" dirty="0">
                <a:solidFill>
                  <a:srgbClr val="000000"/>
                </a:solidFill>
                <a:effectLst/>
                <a:latin typeface="+mn-ea"/>
                <a:ea typeface="+mn-ea"/>
              </a:rPr>
              <a:t>dict1, dict2</a:t>
            </a:r>
            <a:r>
              <a:rPr lang="en-US" altLang="zh-CN" sz="2100" b="0" i="0" dirty="0">
                <a:solidFill>
                  <a:srgbClr val="3B972E"/>
                </a:solidFill>
                <a:effectLst/>
                <a:latin typeface="+mn-ea"/>
                <a:ea typeface="+mn-ea"/>
              </a:rPr>
              <a:t>)</a:t>
            </a:r>
            <a:br>
              <a:rPr lang="en-US" altLang="zh-CN" sz="2100" dirty="0">
                <a:latin typeface="+mn-ea"/>
                <a:ea typeface="+mn-ea"/>
              </a:rPr>
            </a:br>
            <a:r>
              <a:rPr lang="en-US" altLang="zh-CN" sz="2100" dirty="0">
                <a:solidFill>
                  <a:srgbClr val="0070C0"/>
                </a:solidFill>
                <a:latin typeface="+mn-ea"/>
                <a:ea typeface="+mn-ea"/>
              </a:rPr>
              <a:t>4-element Array{Pair{Int64,String},1}:</a:t>
            </a:r>
            <a:br>
              <a:rPr lang="en-US" altLang="zh-CN" sz="2100" dirty="0">
                <a:solidFill>
                  <a:srgbClr val="0070C0"/>
                </a:solidFill>
                <a:latin typeface="+mn-ea"/>
                <a:ea typeface="+mn-ea"/>
              </a:rPr>
            </a:br>
            <a:r>
              <a:rPr lang="en-US" altLang="zh-CN" sz="2100" dirty="0">
                <a:solidFill>
                  <a:srgbClr val="0070C0"/>
                </a:solidFill>
                <a:latin typeface="+mn-ea"/>
                <a:ea typeface="+mn-ea"/>
              </a:rPr>
              <a:t> 100 =&gt; "X"</a:t>
            </a:r>
            <a:br>
              <a:rPr lang="en-US" altLang="zh-CN" sz="2100" dirty="0">
                <a:solidFill>
                  <a:srgbClr val="0070C0"/>
                </a:solidFill>
                <a:latin typeface="+mn-ea"/>
                <a:ea typeface="+mn-ea"/>
              </a:rPr>
            </a:br>
            <a:r>
              <a:rPr lang="en-US" altLang="zh-CN" sz="2100" dirty="0">
                <a:solidFill>
                  <a:srgbClr val="0070C0"/>
                </a:solidFill>
                <a:latin typeface="+mn-ea"/>
                <a:ea typeface="+mn-ea"/>
              </a:rPr>
              <a:t> 220 =&gt; "Y"</a:t>
            </a:r>
            <a:br>
              <a:rPr lang="en-US" altLang="zh-CN" sz="2100" dirty="0">
                <a:solidFill>
                  <a:srgbClr val="0070C0"/>
                </a:solidFill>
                <a:latin typeface="+mn-ea"/>
                <a:ea typeface="+mn-ea"/>
              </a:rPr>
            </a:br>
            <a:r>
              <a:rPr lang="en-US" altLang="zh-CN" sz="2100" dirty="0">
                <a:solidFill>
                  <a:srgbClr val="0070C0"/>
                </a:solidFill>
                <a:latin typeface="+mn-ea"/>
                <a:ea typeface="+mn-ea"/>
              </a:rPr>
              <a:t> 450 =&gt; "W"</a:t>
            </a:r>
            <a:br>
              <a:rPr lang="en-US" altLang="zh-CN" sz="2100" dirty="0">
                <a:solidFill>
                  <a:srgbClr val="0070C0"/>
                </a:solidFill>
                <a:latin typeface="+mn-ea"/>
                <a:ea typeface="+mn-ea"/>
              </a:rPr>
            </a:br>
            <a:r>
              <a:rPr lang="en-US" altLang="zh-CN" sz="2100" dirty="0">
                <a:solidFill>
                  <a:srgbClr val="0070C0"/>
                </a:solidFill>
                <a:latin typeface="+mn-ea"/>
                <a:ea typeface="+mn-ea"/>
              </a:rPr>
              <a:t> 300 =&gt; "Z"</a:t>
            </a:r>
            <a:br>
              <a:rPr lang="en-US" altLang="zh-CN" sz="2100" dirty="0">
                <a:latin typeface="+mn-ea"/>
                <a:ea typeface="+mn-ea"/>
              </a:rPr>
            </a:br>
            <a:r>
              <a:rPr lang="en-US" altLang="zh-CN" sz="2100" b="0" i="0" dirty="0">
                <a:solidFill>
                  <a:srgbClr val="000000"/>
                </a:solidFill>
                <a:effectLst/>
                <a:latin typeface="+mn-ea"/>
                <a:ea typeface="+mn-ea"/>
              </a:rPr>
              <a:t>Intersect</a:t>
            </a:r>
            <a:br>
              <a:rPr lang="en-US" altLang="zh-CN" sz="2100" dirty="0">
                <a:latin typeface="+mn-ea"/>
                <a:ea typeface="+mn-ea"/>
              </a:rPr>
            </a:br>
            <a:r>
              <a:rPr lang="en-US" altLang="zh-CN" sz="2100" b="0" i="0" dirty="0">
                <a:solidFill>
                  <a:srgbClr val="000000"/>
                </a:solidFill>
                <a:effectLst/>
                <a:latin typeface="+mn-ea"/>
                <a:ea typeface="+mn-ea"/>
              </a:rPr>
              <a:t>julia</a:t>
            </a:r>
            <a:r>
              <a:rPr lang="en-US" altLang="zh-CN" sz="2100" b="0" i="0" dirty="0">
                <a:solidFill>
                  <a:srgbClr val="6BAB5B"/>
                </a:solidFill>
                <a:effectLst/>
                <a:latin typeface="+mn-ea"/>
                <a:ea typeface="+mn-ea"/>
              </a:rPr>
              <a:t>&gt;</a:t>
            </a:r>
            <a:r>
              <a:rPr lang="en-US" altLang="zh-CN" sz="2100" b="0" i="0" dirty="0">
                <a:solidFill>
                  <a:srgbClr val="000000"/>
                </a:solidFill>
                <a:effectLst/>
                <a:latin typeface="+mn-ea"/>
                <a:ea typeface="+mn-ea"/>
              </a:rPr>
              <a:t> </a:t>
            </a:r>
            <a:r>
              <a:rPr lang="en-US" altLang="zh-CN" sz="2100" b="1" i="0" dirty="0">
                <a:solidFill>
                  <a:srgbClr val="0000A8"/>
                </a:solidFill>
                <a:effectLst/>
                <a:latin typeface="+mn-ea"/>
                <a:ea typeface="+mn-ea"/>
              </a:rPr>
              <a:t>intersect</a:t>
            </a:r>
            <a:r>
              <a:rPr lang="en-US" altLang="zh-CN" sz="2100" b="0" i="0" dirty="0">
                <a:solidFill>
                  <a:srgbClr val="3B972E"/>
                </a:solidFill>
                <a:effectLst/>
                <a:latin typeface="+mn-ea"/>
                <a:ea typeface="+mn-ea"/>
              </a:rPr>
              <a:t>(</a:t>
            </a:r>
            <a:r>
              <a:rPr lang="en-US" altLang="zh-CN" sz="2100" b="0" i="0" dirty="0">
                <a:solidFill>
                  <a:srgbClr val="000000"/>
                </a:solidFill>
                <a:effectLst/>
                <a:latin typeface="+mn-ea"/>
                <a:ea typeface="+mn-ea"/>
              </a:rPr>
              <a:t>dict1, dict2</a:t>
            </a:r>
            <a:r>
              <a:rPr lang="en-US" altLang="zh-CN" sz="2100" b="0" i="0" dirty="0">
                <a:solidFill>
                  <a:srgbClr val="3B972E"/>
                </a:solidFill>
                <a:effectLst/>
                <a:latin typeface="+mn-ea"/>
                <a:ea typeface="+mn-ea"/>
              </a:rPr>
              <a:t>)</a:t>
            </a:r>
            <a:br>
              <a:rPr lang="en-US" altLang="zh-CN" sz="2100" dirty="0">
                <a:latin typeface="+mn-ea"/>
                <a:ea typeface="+mn-ea"/>
              </a:rPr>
            </a:br>
            <a:r>
              <a:rPr lang="en-US" altLang="zh-CN" sz="2100" dirty="0">
                <a:solidFill>
                  <a:srgbClr val="0070C0"/>
                </a:solidFill>
                <a:latin typeface="+mn-ea"/>
                <a:ea typeface="+mn-ea"/>
              </a:rPr>
              <a:t>1-element Array{Pair{Int64,String},1}:</a:t>
            </a:r>
            <a:br>
              <a:rPr lang="en-US" altLang="zh-CN" sz="2100" dirty="0">
                <a:solidFill>
                  <a:srgbClr val="0070C0"/>
                </a:solidFill>
                <a:latin typeface="+mn-ea"/>
                <a:ea typeface="+mn-ea"/>
              </a:rPr>
            </a:br>
            <a:r>
              <a:rPr lang="en-US" altLang="zh-CN" sz="2100" dirty="0">
                <a:solidFill>
                  <a:srgbClr val="0070C0"/>
                </a:solidFill>
                <a:latin typeface="+mn-ea"/>
                <a:ea typeface="+mn-ea"/>
              </a:rPr>
              <a:t> 220 =&gt; "Y"</a:t>
            </a:r>
            <a:endParaRPr lang="zh-CN" altLang="en-US" sz="2100" dirty="0">
              <a:solidFill>
                <a:srgbClr val="0070C0"/>
              </a:solidFill>
              <a:latin typeface="+mn-ea"/>
              <a:ea typeface="+mn-ea"/>
            </a:endParaRPr>
          </a:p>
        </p:txBody>
      </p:sp>
      <p:sp>
        <p:nvSpPr>
          <p:cNvPr id="6" name="标题 1">
            <a:extLst>
              <a:ext uri="{FF2B5EF4-FFF2-40B4-BE49-F238E27FC236}">
                <a16:creationId xmlns:a16="http://schemas.microsoft.com/office/drawing/2014/main" id="{D5BFC43F-A59C-4D2E-A18B-6A0DE7B66B3D}"/>
              </a:ext>
            </a:extLst>
          </p:cNvPr>
          <p:cNvSpPr txBox="1">
            <a:spLocks/>
          </p:cNvSpPr>
          <p:nvPr/>
        </p:nvSpPr>
        <p:spPr bwMode="auto">
          <a:xfrm>
            <a:off x="1451173" y="234427"/>
            <a:ext cx="6831835" cy="777614"/>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endParaRPr lang="en-US" altLang="zh-CN" dirty="0">
              <a:ea typeface="等线" panose="02010600030101010101" pitchFamily="2" charset="-122"/>
              <a:cs typeface="Times New Roman" panose="02020603050405020304" pitchFamily="18" charset="0"/>
            </a:endParaRPr>
          </a:p>
          <a:p>
            <a:r>
              <a:rPr lang="zh-CN" altLang="zh-CN" dirty="0">
                <a:ea typeface="等线" panose="02010600030101010101" pitchFamily="2" charset="-122"/>
                <a:cs typeface="Times New Roman" panose="02020603050405020304" pitchFamily="18" charset="0"/>
              </a:rPr>
              <a:t>§ </a:t>
            </a:r>
            <a:r>
              <a:rPr lang="en-US" altLang="zh-CN" kern="0" dirty="0"/>
              <a:t>1.4.5  </a:t>
            </a:r>
            <a:r>
              <a:rPr lang="zh-CN" altLang="en-US" kern="0" dirty="0"/>
              <a:t>集合</a:t>
            </a:r>
            <a:r>
              <a:rPr lang="en-US" altLang="zh-CN" kern="0" dirty="0">
                <a:solidFill>
                  <a:srgbClr val="FF0000"/>
                </a:solidFill>
              </a:rPr>
              <a:t>——</a:t>
            </a:r>
            <a:r>
              <a:rPr lang="zh-CN" altLang="en-US" sz="2800" b="1" i="0" dirty="0">
                <a:solidFill>
                  <a:srgbClr val="FF0000"/>
                </a:solidFill>
                <a:effectLst/>
                <a:latin typeface="Helvetica Neue"/>
              </a:rPr>
              <a:t>字典与集合常用函数实例</a:t>
            </a:r>
            <a:br>
              <a:rPr lang="zh-CN" altLang="en-US" sz="2800" kern="0" dirty="0">
                <a:solidFill>
                  <a:srgbClr val="FF0000"/>
                </a:solidFill>
              </a:rPr>
            </a:br>
            <a:endParaRPr lang="zh-CN" altLang="en-US" sz="2800" kern="0" dirty="0">
              <a:solidFill>
                <a:srgbClr val="FF0000"/>
              </a:solidFill>
            </a:endParaRPr>
          </a:p>
        </p:txBody>
      </p:sp>
    </p:spTree>
    <p:extLst>
      <p:ext uri="{BB962C8B-B14F-4D97-AF65-F5344CB8AC3E}">
        <p14:creationId xmlns:p14="http://schemas.microsoft.com/office/powerpoint/2010/main" val="1550718249"/>
      </p:ext>
    </p:extLst>
  </p:cSld>
  <p:clrMapOvr>
    <a:masterClrMapping/>
  </p:clrMapOvr>
</p:sld>
</file>

<file path=ppt/theme/theme1.xml><?xml version="1.0" encoding="utf-8"?>
<a:theme xmlns:a="http://schemas.openxmlformats.org/drawingml/2006/main" name="主题1">
  <a:themeElements>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arpa">
      <a:majorFont>
        <a:latin typeface="Helvetic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arp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arp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arp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rp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arp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arp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11676</TotalTime>
  <Pages>154</Pages>
  <Words>6871</Words>
  <Characters>0</Characters>
  <Application>Microsoft Office PowerPoint</Application>
  <DocSecurity>0</DocSecurity>
  <PresentationFormat>全屏显示(16:9)</PresentationFormat>
  <Lines>0</Lines>
  <Paragraphs>865</Paragraphs>
  <Slides>37</Slides>
  <Notes>29</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63" baseType="lpstr">
      <vt:lpstr>-apple-system</vt:lpstr>
      <vt:lpstr>Arial Unicode MS</vt:lpstr>
      <vt:lpstr>Helvetica Neue</vt:lpstr>
      <vt:lpstr>Inter</vt:lpstr>
      <vt:lpstr>Menlo</vt:lpstr>
      <vt:lpstr>SFMono-Regular</vt:lpstr>
      <vt:lpstr>黑体</vt:lpstr>
      <vt:lpstr>华文楷体</vt:lpstr>
      <vt:lpstr>楷体</vt:lpstr>
      <vt:lpstr>隶书</vt:lpstr>
      <vt:lpstr>宋体</vt:lpstr>
      <vt:lpstr>Microsoft YaHei</vt:lpstr>
      <vt:lpstr>Microsoft YaHei</vt:lpstr>
      <vt:lpstr>微软雅黑 Light</vt:lpstr>
      <vt:lpstr>新宋体</vt:lpstr>
      <vt:lpstr>Arial</vt:lpstr>
      <vt:lpstr>Arial Black</vt:lpstr>
      <vt:lpstr>Calibri</vt:lpstr>
      <vt:lpstr>Cambria Math</vt:lpstr>
      <vt:lpstr>Consolas</vt:lpstr>
      <vt:lpstr>Helvetica</vt:lpstr>
      <vt:lpstr>Segoe UI</vt:lpstr>
      <vt:lpstr>Times New Roman</vt:lpstr>
      <vt:lpstr>Wingdings</vt:lpstr>
      <vt:lpstr>主题1</vt:lpstr>
      <vt:lpstr>Equation</vt:lpstr>
      <vt:lpstr>§1. 4 数组 、列表、结构、元组、字典、集合</vt:lpstr>
      <vt:lpstr>§1. 4 .1  数组 和索引</vt:lpstr>
      <vt:lpstr>§1.4.1.1创建一维向量——1. 用方括号[ ]创建</vt:lpstr>
      <vt:lpstr>           </vt:lpstr>
      <vt:lpstr>PowerPoint 演示文稿</vt:lpstr>
      <vt:lpstr>      §1.4.1.2 创建矩阵——1. 方括号[ ]创建  行矩阵</vt:lpstr>
      <vt:lpstr> §1.4.1.2 创建二维矩阵——2. 方括号[ ]创建</vt:lpstr>
      <vt:lpstr> §1.4.1.2 创建向量和矩阵——3.创建线性方程向量和矩阵</vt:lpstr>
      <vt:lpstr>PowerPoint 演示文稿</vt:lpstr>
      <vt:lpstr>PowerPoint 演示文稿</vt:lpstr>
      <vt:lpstr>PowerPoint 演示文稿</vt:lpstr>
      <vt:lpstr>PowerPoint 演示文稿</vt:lpstr>
      <vt:lpstr>PowerPoint 演示文稿</vt:lpstr>
      <vt:lpstr> §1.4.1.4 数组索引—方括号【】索引和访问方式</vt:lpstr>
      <vt:lpstr> §1.4.1.4 数组索引——冒号在数组索引应用</vt:lpstr>
      <vt:lpstr> §1.4.1.4 数组索引——修改矩阵中元素</vt:lpstr>
      <vt:lpstr>PowerPoint 演示文稿</vt:lpstr>
      <vt:lpstr> §1.4.1.4 数组索引——课堂练习</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§1.4.4 Julia 元组（tuple）——元组特点创建  ( ) </vt:lpstr>
      <vt:lpstr>§1.4.4 Julia 元组（tuple）——元组特点创建 </vt:lpstr>
      <vt:lpstr>PowerPoint 演示文稿</vt:lpstr>
      <vt:lpstr>PowerPoint 演示文稿</vt:lpstr>
      <vt:lpstr>§1.4.5  集合——Set创建集合  </vt:lpstr>
      <vt:lpstr> </vt:lpstr>
      <vt:lpstr>§ 1.4.5  集合——常用集合操作示例  </vt:lpstr>
      <vt:lpstr>PowerPoint 演示文稿</vt:lpstr>
    </vt:vector>
  </TitlesOfParts>
  <Company>微软中国</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 aibin</cp:lastModifiedBy>
  <cp:revision>909</cp:revision>
  <dcterms:modified xsi:type="dcterms:W3CDTF">2025-03-10T06:42:33Z</dcterms:modified>
</cp:coreProperties>
</file>