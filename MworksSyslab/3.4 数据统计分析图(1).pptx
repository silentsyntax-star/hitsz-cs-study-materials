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75" r:id="rId1"/>
  </p:sldMasterIdLst>
  <p:notesMasterIdLst>
    <p:notesMasterId r:id="rId19"/>
  </p:notesMasterIdLst>
  <p:sldIdLst>
    <p:sldId id="1320" r:id="rId2"/>
    <p:sldId id="1388" r:id="rId3"/>
    <p:sldId id="1324" r:id="rId4"/>
    <p:sldId id="1373" r:id="rId5"/>
    <p:sldId id="1379" r:id="rId6"/>
    <p:sldId id="1383" r:id="rId7"/>
    <p:sldId id="1367" r:id="rId8"/>
    <p:sldId id="1380" r:id="rId9"/>
    <p:sldId id="1384" r:id="rId10"/>
    <p:sldId id="1374" r:id="rId11"/>
    <p:sldId id="1377" r:id="rId12"/>
    <p:sldId id="1387" r:id="rId13"/>
    <p:sldId id="1371" r:id="rId14"/>
    <p:sldId id="1370" r:id="rId15"/>
    <p:sldId id="1368" r:id="rId16"/>
    <p:sldId id="1381" r:id="rId17"/>
    <p:sldId id="755" r:id="rId18"/>
  </p:sldIdLst>
  <p:sldSz cx="9144000" cy="5143500" type="screen16x9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4201" userDrawn="1">
          <p15:clr>
            <a:srgbClr val="A4A3A4"/>
          </p15:clr>
        </p15:guide>
        <p15:guide id="4" pos="2879">
          <p15:clr>
            <a:srgbClr val="A4A3A4"/>
          </p15:clr>
        </p15:guide>
        <p15:guide id="5" orient="horz" pos="315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  <p15:guide id="3" orient="horz" pos="4200">
          <p15:clr>
            <a:srgbClr val="A4A3A4"/>
          </p15:clr>
        </p15:guide>
        <p15:guide id="4" pos="2879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爱滨 李" initials="爱李" lastIdx="1" clrIdx="0">
    <p:extLst>
      <p:ext uri="{19B8F6BF-5375-455C-9EA6-DF929625EA0E}">
        <p15:presenceInfo xmlns:p15="http://schemas.microsoft.com/office/powerpoint/2012/main" userId="88969518991ecbca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browse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B76"/>
    <a:srgbClr val="3399FF"/>
    <a:srgbClr val="33CCFF"/>
    <a:srgbClr val="66CCFF"/>
    <a:srgbClr val="F0DA04"/>
    <a:srgbClr val="3366FF"/>
    <a:srgbClr val="736303"/>
    <a:srgbClr val="6D629C"/>
    <a:srgbClr val="7F62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D27102A9-8310-4765-A935-A1911B00CA55}" styleName="浅色样式 1 - 强调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E171933-4619-4E11-9A3F-F7608DF75F80}" styleName="中度样式 1 - 强调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C7853C-536D-4A76-A0AE-DD22124D55A5}" styleName="主题样式 1 - 强调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C4B1156A-380E-4F78-BDF5-A606A8083BF9}" styleName="中度样式 4 - 强调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97" autoAdjust="0"/>
    <p:restoredTop sz="85144" autoAdjust="0"/>
  </p:normalViewPr>
  <p:slideViewPr>
    <p:cSldViewPr snapToObjects="1">
      <p:cViewPr varScale="1">
        <p:scale>
          <a:sx n="74" d="100"/>
          <a:sy n="74" d="100"/>
        </p:scale>
        <p:origin x="1052" y="48"/>
      </p:cViewPr>
      <p:guideLst>
        <p:guide orient="horz" pos="4201"/>
        <p:guide pos="2879"/>
        <p:guide orient="horz" pos="3151"/>
      </p:guideLst>
    </p:cSldViewPr>
  </p:slideViewPr>
  <p:notesTextViewPr>
    <p:cViewPr>
      <p:scale>
        <a:sx n="300" d="100"/>
        <a:sy n="300" d="100"/>
      </p:scale>
      <p:origin x="0" y="0"/>
    </p:cViewPr>
  </p:notesTextViewPr>
  <p:sorterViewPr>
    <p:cViewPr>
      <p:scale>
        <a:sx n="100" d="100"/>
        <a:sy n="100" d="100"/>
      </p:scale>
      <p:origin x="0" y="-26472"/>
    </p:cViewPr>
  </p:sorterViewPr>
  <p:notesViewPr>
    <p:cSldViewPr snapToObjects="1">
      <p:cViewPr varScale="1">
        <p:scale>
          <a:sx n="47" d="100"/>
          <a:sy n="47" d="100"/>
        </p:scale>
        <p:origin x="2694" y="60"/>
      </p:cViewPr>
      <p:guideLst>
        <p:guide orient="horz" pos="2880"/>
        <p:guide pos="2160"/>
        <p:guide orient="horz" pos="4200"/>
        <p:guide pos="2879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F4DA7F0C-A8F0-4487-826C-000FF0B66B21}" type="datetimeFigureOut">
              <a:rPr lang="zh-CN" altLang="en-US"/>
              <a:pPr>
                <a:defRPr/>
              </a:pPr>
              <a:t>2025/3/20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B6C58412-F58B-4DA5-9529-CC0CDE19399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516533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baijiahao.baidu.com/s?id=1652708312435518314&amp;wfr=spider&amp;for=pc" TargetMode="External"/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10944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 = 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2008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2017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生成时间的行向量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 = [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4.598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5.110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6.101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7.573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8.561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9.607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10.482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11.065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11.191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12.238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plt_update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更新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52037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45422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在条形序列的末端上方显示值</a:t>
            </a:r>
            <a:endParaRPr lang="en-US" altLang="zh-CN" sz="1200" b="0" dirty="0">
              <a:solidFill>
                <a:srgbClr val="795E26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bar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t,g,text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=g) </a:t>
            </a:r>
            <a:r>
              <a:rPr lang="en-US" altLang="zh-CN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显示文本的条形图</a:t>
            </a:r>
            <a:endParaRPr lang="en-US" altLang="zh-CN" sz="1200" b="0" dirty="0">
              <a:solidFill>
                <a:srgbClr val="008000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bar(</a:t>
            </a:r>
            <a:r>
              <a:rPr lang="en-US" altLang="zh-C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t,g,text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g,width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=0.5) #</a:t>
            </a:r>
            <a:r>
              <a:rPr lang="zh-CN" alt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显示文本的条形图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15936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t=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2008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2017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生成时间的向量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g=[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4.598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5.110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6.101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7.573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8.561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9.607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10.482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11.065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11.191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12.238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r>
              <a:rPr lang="en-US" altLang="zh-C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bar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t,g,text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g,width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0.5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72684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将各条形的宽度设置为各条形可用总空间的 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59551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81139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X </a:t>
            </a:r>
            <a:r>
              <a:rPr lang="zh-CN" altLang="en-US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指定为分类数组。</a:t>
            </a:r>
            <a:r>
              <a:rPr lang="en-US" altLang="zh-CN" dirty="0"/>
              <a:t>bar</a:t>
            </a:r>
            <a:r>
              <a:rPr lang="zh-CN" altLang="en-US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 函数使用经过排序的类别列表，因此条形的显示顺序可能与您预期的有所不同。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68823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01386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>
                <a:hlinkClick r:id="rId3"/>
              </a:rPr>
              <a:t>https://baijiahao.baidu.com/s?id=1652708312435518314&amp;wfr=spider&amp;for=pc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09134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34601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566309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A839A6-78F6-48CF-87A6-6BD8E9022CF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30276" y="195486"/>
            <a:ext cx="7667625" cy="438150"/>
          </a:xfrm>
        </p:spPr>
        <p:txBody>
          <a:bodyPr/>
          <a:lstStyle>
            <a:lvl1pPr>
              <a:defRPr sz="32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73100" y="802481"/>
            <a:ext cx="6515100" cy="547842"/>
          </a:xfrm>
        </p:spPr>
        <p:txBody>
          <a:bodyPr/>
          <a:lstStyle>
            <a:lvl1pPr marL="177800" indent="-177800">
              <a:buFont typeface="Wingdings" panose="05000000000000000000" pitchFamily="2" charset="2"/>
              <a:buChar char="Ø"/>
              <a:defRPr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 marL="635000" indent="-177800">
              <a:buFont typeface="Wingdings" panose="05000000000000000000" pitchFamily="2" charset="2"/>
              <a:buChar char="Ø"/>
              <a:defRPr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2pPr>
            <a:lvl3pPr marL="1092200" indent="-177800">
              <a:buFont typeface="Wingdings" panose="05000000000000000000" pitchFamily="2" charset="2"/>
              <a:buChar char="Ø"/>
              <a:defRPr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3pPr>
            <a:lvl4pPr marL="1549400" indent="-177800">
              <a:buFont typeface="Wingdings" panose="05000000000000000000" pitchFamily="2" charset="2"/>
              <a:buChar char="Ø"/>
              <a:defRPr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4pPr>
            <a:lvl5pPr marL="2006600" indent="-177800">
              <a:buFont typeface="Wingdings" panose="05000000000000000000" pitchFamily="2" charset="2"/>
              <a:buChar char="Ø"/>
              <a:defRPr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5pPr>
          </a:lstStyle>
          <a:p>
            <a:pPr lvl="0"/>
            <a:endParaRPr lang="zh-CN" altLang="en-US" dirty="0"/>
          </a:p>
        </p:txBody>
      </p:sp>
      <p:pic>
        <p:nvPicPr>
          <p:cNvPr id="5" name="Picture 11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9024" y="4726213"/>
            <a:ext cx="8784976" cy="417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76BB9768-376B-0637-C297-1B5D054A51BD}"/>
              </a:ext>
            </a:extLst>
          </p:cNvPr>
          <p:cNvCxnSpPr/>
          <p:nvPr userDrawn="1"/>
        </p:nvCxnSpPr>
        <p:spPr bwMode="auto">
          <a:xfrm>
            <a:off x="6626" y="4645735"/>
            <a:ext cx="9144000" cy="0"/>
          </a:xfrm>
          <a:prstGeom prst="line">
            <a:avLst/>
          </a:prstGeom>
          <a:ln w="19050">
            <a:solidFill>
              <a:srgbClr val="736303"/>
            </a:solidFill>
            <a:headEnd type="none" w="med" len="med"/>
            <a:tailEnd type="none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2BEE3A-E9D9-4E9F-BCF8-FFCE31090B4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  <p:pic>
        <p:nvPicPr>
          <p:cNvPr id="3" name="Picture 11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300" y="4515966"/>
            <a:ext cx="9113837" cy="6275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685800" y="42862"/>
            <a:ext cx="7772400" cy="614363"/>
          </a:xfrm>
          <a:prstGeom prst="rect">
            <a:avLst/>
          </a:prstGeom>
          <a:noFill/>
          <a:ln>
            <a:noFill/>
          </a:ln>
        </p:spPr>
        <p:txBody>
          <a:bodyPr lIns="90488" tIns="44450" rIns="90488" bIns="44450" anchor="b"/>
          <a:lstStyle/>
          <a:p>
            <a:pPr>
              <a:lnSpc>
                <a:spcPct val="85000"/>
              </a:lnSpc>
              <a:defRPr/>
            </a:pPr>
            <a:endParaRPr lang="zh-CN" altLang="en-US" sz="3400">
              <a:solidFill>
                <a:srgbClr val="002E5C"/>
              </a:solidFill>
              <a:latin typeface="Helvetica" pitchFamily="34" charset="0"/>
              <a:ea typeface="宋体" pitchFamily="2" charset="-122"/>
            </a:endParaRP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930276" y="250031"/>
            <a:ext cx="7667625" cy="438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73100" y="802481"/>
            <a:ext cx="6515100" cy="20559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altLang="zh-CN"/>
              <a:t>Click to edit Master text 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pic>
        <p:nvPicPr>
          <p:cNvPr id="1029" name="Picture 5" descr="symbol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" y="330994"/>
            <a:ext cx="942975" cy="681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0" name="Line 6"/>
          <p:cNvSpPr>
            <a:spLocks noChangeShapeType="1"/>
          </p:cNvSpPr>
          <p:nvPr/>
        </p:nvSpPr>
        <p:spPr bwMode="auto">
          <a:xfrm>
            <a:off x="906463" y="660797"/>
            <a:ext cx="8121650" cy="0"/>
          </a:xfrm>
          <a:prstGeom prst="line">
            <a:avLst/>
          </a:prstGeom>
          <a:noFill/>
          <a:ln w="28575">
            <a:solidFill>
              <a:srgbClr val="003B76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>
              <a:defRPr/>
            </a:pPr>
            <a:endParaRPr lang="zh-CN" altLang="en-US">
              <a:ea typeface="宋体" pitchFamily="2" charset="-122"/>
            </a:endParaRPr>
          </a:p>
        </p:txBody>
      </p:sp>
      <p:sp>
        <p:nvSpPr>
          <p:cNvPr id="1031" name="Line 7"/>
          <p:cNvSpPr>
            <a:spLocks noChangeShapeType="1"/>
          </p:cNvSpPr>
          <p:nvPr/>
        </p:nvSpPr>
        <p:spPr bwMode="auto">
          <a:xfrm>
            <a:off x="915988" y="653653"/>
            <a:ext cx="8108950" cy="0"/>
          </a:xfrm>
          <a:prstGeom prst="line">
            <a:avLst/>
          </a:prstGeom>
          <a:noFill/>
          <a:ln w="12700">
            <a:solidFill>
              <a:srgbClr val="F0DA04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zh-CN" altLang="en-US">
              <a:ea typeface="宋体" pitchFamily="2" charset="-122"/>
            </a:endParaRPr>
          </a:p>
        </p:txBody>
      </p:sp>
      <p:sp>
        <p:nvSpPr>
          <p:cNvPr id="1032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4683919"/>
            <a:ext cx="2133600" cy="357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>
                <a:latin typeface="+mn-lt"/>
                <a:ea typeface="宋体" pitchFamily="2" charset="-122"/>
              </a:defRPr>
            </a:lvl1pPr>
          </a:lstStyle>
          <a:p>
            <a:pPr>
              <a:defRPr/>
            </a:pPr>
            <a:fld id="{FD990E54-9BDD-4FF4-80FA-301FCBFF661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1" r:id="rId2"/>
    <p:sldLayoutId id="2147483666" r:id="rId3"/>
  </p:sldLayoutIdLst>
  <p:txStyles>
    <p:titleStyle>
      <a:lvl1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400" b="1">
          <a:solidFill>
            <a:srgbClr val="002E5C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400" b="1">
          <a:solidFill>
            <a:srgbClr val="002E5C"/>
          </a:solidFill>
          <a:latin typeface="Helvetica" pitchFamily="34" charset="0"/>
        </a:defRPr>
      </a:lvl2pPr>
      <a:lvl3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400" b="1">
          <a:solidFill>
            <a:srgbClr val="002E5C"/>
          </a:solidFill>
          <a:latin typeface="Helvetica" pitchFamily="34" charset="0"/>
        </a:defRPr>
      </a:lvl3pPr>
      <a:lvl4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400" b="1">
          <a:solidFill>
            <a:srgbClr val="002E5C"/>
          </a:solidFill>
          <a:latin typeface="Helvetica" pitchFamily="34" charset="0"/>
        </a:defRPr>
      </a:lvl4pPr>
      <a:lvl5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400" b="1">
          <a:solidFill>
            <a:srgbClr val="002E5C"/>
          </a:solidFill>
          <a:latin typeface="Helvetica" pitchFamily="34" charset="0"/>
        </a:defRPr>
      </a:lvl5pPr>
      <a:lvl6pPr marL="4572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400" b="1">
          <a:solidFill>
            <a:srgbClr val="002E5C"/>
          </a:solidFill>
          <a:latin typeface="Helvetica" pitchFamily="34" charset="0"/>
        </a:defRPr>
      </a:lvl6pPr>
      <a:lvl7pPr marL="9144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400" b="1">
          <a:solidFill>
            <a:srgbClr val="002E5C"/>
          </a:solidFill>
          <a:latin typeface="Helvetica" pitchFamily="34" charset="0"/>
        </a:defRPr>
      </a:lvl7pPr>
      <a:lvl8pPr marL="13716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400" b="1">
          <a:solidFill>
            <a:srgbClr val="002E5C"/>
          </a:solidFill>
          <a:latin typeface="Helvetica" pitchFamily="34" charset="0"/>
        </a:defRPr>
      </a:lvl8pPr>
      <a:lvl9pPr marL="18288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400" b="1">
          <a:solidFill>
            <a:srgbClr val="002E5C"/>
          </a:solidFill>
          <a:latin typeface="Helvetica" pitchFamily="34" charset="0"/>
        </a:defRPr>
      </a:lvl9pPr>
    </p:titleStyle>
    <p:bodyStyle>
      <a:lvl1pPr marL="177800" indent="-177800" algn="l" rtl="0" eaLnBrk="0" fontAlgn="base" hangingPunct="0">
        <a:lnSpc>
          <a:spcPct val="110000"/>
        </a:lnSpc>
        <a:spcBef>
          <a:spcPct val="0"/>
        </a:spcBef>
        <a:spcAft>
          <a:spcPct val="0"/>
        </a:spcAft>
        <a:buChar char="•"/>
        <a:defRPr sz="2800" b="1">
          <a:solidFill>
            <a:srgbClr val="A50021"/>
          </a:solidFill>
          <a:latin typeface="+mn-lt"/>
          <a:ea typeface="+mn-ea"/>
          <a:cs typeface="+mn-cs"/>
        </a:defRPr>
      </a:lvl1pPr>
      <a:lvl2pPr marL="635000" indent="-177800" algn="l" rtl="0" eaLnBrk="0" fontAlgn="base" hangingPunct="0">
        <a:lnSpc>
          <a:spcPct val="110000"/>
        </a:lnSpc>
        <a:spcBef>
          <a:spcPct val="0"/>
        </a:spcBef>
        <a:spcAft>
          <a:spcPct val="0"/>
        </a:spcAft>
        <a:buChar char="•"/>
        <a:defRPr sz="2400" b="1">
          <a:solidFill>
            <a:schemeClr val="tx1"/>
          </a:solidFill>
          <a:latin typeface="+mn-lt"/>
        </a:defRPr>
      </a:lvl2pPr>
      <a:lvl3pPr marL="1092200" indent="-177800" algn="l" rtl="0" eaLnBrk="0" fontAlgn="base" hangingPunct="0">
        <a:lnSpc>
          <a:spcPct val="110000"/>
        </a:lnSpc>
        <a:spcBef>
          <a:spcPct val="0"/>
        </a:spcBef>
        <a:spcAft>
          <a:spcPct val="0"/>
        </a:spcAft>
        <a:buChar char="•"/>
        <a:defRPr sz="2400" b="1">
          <a:solidFill>
            <a:srgbClr val="002E5C"/>
          </a:solidFill>
          <a:latin typeface="+mn-lt"/>
        </a:defRPr>
      </a:lvl3pPr>
      <a:lvl4pPr marL="1549400" indent="-177800" algn="l" rtl="0" eaLnBrk="0" fontAlgn="base" hangingPunct="0">
        <a:lnSpc>
          <a:spcPct val="110000"/>
        </a:lnSpc>
        <a:spcBef>
          <a:spcPct val="0"/>
        </a:spcBef>
        <a:spcAft>
          <a:spcPct val="0"/>
        </a:spcAft>
        <a:buChar char="•"/>
        <a:defRPr sz="2000" b="1">
          <a:solidFill>
            <a:srgbClr val="002E5C"/>
          </a:solidFill>
          <a:latin typeface="+mn-lt"/>
        </a:defRPr>
      </a:lvl4pPr>
      <a:lvl5pPr marL="2006600" indent="-177800" algn="l" rtl="0" eaLnBrk="0" fontAlgn="base" hangingPunct="0">
        <a:lnSpc>
          <a:spcPct val="110000"/>
        </a:lnSpc>
        <a:spcBef>
          <a:spcPct val="0"/>
        </a:spcBef>
        <a:spcAft>
          <a:spcPct val="0"/>
        </a:spcAft>
        <a:buChar char="•"/>
        <a:defRPr sz="2000" b="1">
          <a:solidFill>
            <a:srgbClr val="002E5C"/>
          </a:solidFill>
          <a:latin typeface="+mn-lt"/>
        </a:defRPr>
      </a:lvl5pPr>
      <a:lvl6pPr marL="2463800" indent="-177800" algn="l" rtl="0" eaLnBrk="1" fontAlgn="base" hangingPunct="1">
        <a:lnSpc>
          <a:spcPct val="110000"/>
        </a:lnSpc>
        <a:spcBef>
          <a:spcPct val="0"/>
        </a:spcBef>
        <a:spcAft>
          <a:spcPct val="0"/>
        </a:spcAft>
        <a:buChar char="•"/>
        <a:defRPr b="1">
          <a:solidFill>
            <a:srgbClr val="002E5C"/>
          </a:solidFill>
          <a:latin typeface="+mn-lt"/>
        </a:defRPr>
      </a:lvl6pPr>
      <a:lvl7pPr marL="2921000" indent="-177800" algn="l" rtl="0" eaLnBrk="1" fontAlgn="base" hangingPunct="1">
        <a:lnSpc>
          <a:spcPct val="110000"/>
        </a:lnSpc>
        <a:spcBef>
          <a:spcPct val="0"/>
        </a:spcBef>
        <a:spcAft>
          <a:spcPct val="0"/>
        </a:spcAft>
        <a:buChar char="•"/>
        <a:defRPr b="1">
          <a:solidFill>
            <a:srgbClr val="002E5C"/>
          </a:solidFill>
          <a:latin typeface="+mn-lt"/>
        </a:defRPr>
      </a:lvl7pPr>
      <a:lvl8pPr marL="3378200" indent="-177800" algn="l" rtl="0" eaLnBrk="1" fontAlgn="base" hangingPunct="1">
        <a:lnSpc>
          <a:spcPct val="110000"/>
        </a:lnSpc>
        <a:spcBef>
          <a:spcPct val="0"/>
        </a:spcBef>
        <a:spcAft>
          <a:spcPct val="0"/>
        </a:spcAft>
        <a:buChar char="•"/>
        <a:defRPr b="1">
          <a:solidFill>
            <a:srgbClr val="002E5C"/>
          </a:solidFill>
          <a:latin typeface="+mn-lt"/>
        </a:defRPr>
      </a:lvl8pPr>
      <a:lvl9pPr marL="3835400" indent="-177800" algn="l" rtl="0" eaLnBrk="1" fontAlgn="base" hangingPunct="1">
        <a:lnSpc>
          <a:spcPct val="110000"/>
        </a:lnSpc>
        <a:spcBef>
          <a:spcPct val="0"/>
        </a:spcBef>
        <a:spcAft>
          <a:spcPct val="0"/>
        </a:spcAft>
        <a:buChar char="•"/>
        <a:defRPr b="1">
          <a:solidFill>
            <a:srgbClr val="002E5C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emf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microsoft.com/office/2007/relationships/hdphoto" Target="../media/hdphoto2.wdp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1">
            <a:extLst>
              <a:ext uri="{FF2B5EF4-FFF2-40B4-BE49-F238E27FC236}">
                <a16:creationId xmlns:a16="http://schemas.microsoft.com/office/drawing/2014/main" id="{88542C8C-D4C5-9B0F-EA79-ED0147198FC9}"/>
              </a:ext>
            </a:extLst>
          </p:cNvPr>
          <p:cNvSpPr txBox="1">
            <a:spLocks/>
          </p:cNvSpPr>
          <p:nvPr/>
        </p:nvSpPr>
        <p:spPr bwMode="auto">
          <a:xfrm>
            <a:off x="1153487" y="4878858"/>
            <a:ext cx="2133600" cy="357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r" rtl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kern="1200">
                <a:solidFill>
                  <a:schemeClr val="tx1"/>
                </a:solidFill>
                <a:latin typeface="+mn-lt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pPr>
              <a:defRPr/>
            </a:pPr>
            <a:fld id="{25E81C68-AD67-4B59-A707-20F6CB98CF04}" type="datetime1">
              <a:rPr lang="zh-CN" altLang="en-US" smtClean="0"/>
              <a:pPr>
                <a:defRPr/>
              </a:pPr>
              <a:t>2025/3/20</a:t>
            </a:fld>
            <a:endParaRPr lang="zh-CN" altLang="en-US" sz="180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31CB2F5-AC2B-6E27-00BA-558DE1E122A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7897" t="23827" r="64643" b="37583"/>
          <a:stretch/>
        </p:blipFill>
        <p:spPr>
          <a:xfrm>
            <a:off x="6472618" y="861108"/>
            <a:ext cx="1590905" cy="3654858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A7551012-4EA4-E231-F063-D2618E8963E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630" t="23700" r="75268" b="27502"/>
          <a:stretch/>
        </p:blipFill>
        <p:spPr>
          <a:xfrm>
            <a:off x="3883956" y="880230"/>
            <a:ext cx="1590904" cy="3635736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7D88CB62-F96E-EBFB-5E48-21AC8D8183C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073" t="23490" r="83442" b="17357"/>
          <a:stretch/>
        </p:blipFill>
        <p:spPr>
          <a:xfrm>
            <a:off x="844704" y="823382"/>
            <a:ext cx="1918638" cy="3692584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B48271A6-CEAE-D781-DB33-8482CD2C5047}"/>
              </a:ext>
            </a:extLst>
          </p:cNvPr>
          <p:cNvSpPr/>
          <p:nvPr/>
        </p:nvSpPr>
        <p:spPr>
          <a:xfrm>
            <a:off x="460726" y="878251"/>
            <a:ext cx="418704" cy="369332"/>
          </a:xfrm>
          <a:prstGeom prst="rect">
            <a:avLst/>
          </a:prstGeom>
          <a:solidFill>
            <a:srgbClr val="0070C0"/>
          </a:solidFill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1.</a:t>
            </a:r>
            <a:endParaRPr lang="zh-CN" altLang="en-US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0D2781C-FDE8-81F1-5CBA-73D66F0A16B0}"/>
              </a:ext>
            </a:extLst>
          </p:cNvPr>
          <p:cNvSpPr/>
          <p:nvPr/>
        </p:nvSpPr>
        <p:spPr>
          <a:xfrm>
            <a:off x="3435586" y="833615"/>
            <a:ext cx="418704" cy="369332"/>
          </a:xfrm>
          <a:prstGeom prst="rect">
            <a:avLst/>
          </a:prstGeom>
          <a:solidFill>
            <a:srgbClr val="0070C0"/>
          </a:solidFill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2.</a:t>
            </a:r>
            <a:endParaRPr lang="zh-CN" altLang="en-US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BA174D5-F47D-7698-BCF7-A06F126DF0B8}"/>
              </a:ext>
            </a:extLst>
          </p:cNvPr>
          <p:cNvSpPr/>
          <p:nvPr/>
        </p:nvSpPr>
        <p:spPr>
          <a:xfrm>
            <a:off x="6151122" y="838232"/>
            <a:ext cx="444352" cy="400110"/>
          </a:xfrm>
          <a:prstGeom prst="rect">
            <a:avLst/>
          </a:prstGeom>
          <a:solidFill>
            <a:srgbClr val="0070C0"/>
          </a:solidFill>
        </p:spPr>
        <p:txBody>
          <a:bodyPr wrap="none">
            <a:spAutoFit/>
          </a:bodyPr>
          <a:lstStyle/>
          <a:p>
            <a:r>
              <a:rPr lang="en-US" altLang="zh-CN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3.</a:t>
            </a:r>
            <a:endParaRPr lang="zh-CN" altLang="en-US" sz="2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E65708A-AB00-A1DA-97F6-5F82032FFE80}"/>
              </a:ext>
            </a:extLst>
          </p:cNvPr>
          <p:cNvSpPr/>
          <p:nvPr/>
        </p:nvSpPr>
        <p:spPr>
          <a:xfrm>
            <a:off x="2346862" y="964811"/>
            <a:ext cx="11128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kern="0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面积图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64EC142-ED35-30A3-63A1-1EE91D68ABF6}"/>
              </a:ext>
            </a:extLst>
          </p:cNvPr>
          <p:cNvSpPr/>
          <p:nvPr/>
        </p:nvSpPr>
        <p:spPr>
          <a:xfrm>
            <a:off x="2170300" y="1652366"/>
            <a:ext cx="8034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kern="0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饼图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79F9243-8196-9021-5581-7341A42BEF18}"/>
              </a:ext>
            </a:extLst>
          </p:cNvPr>
          <p:cNvSpPr/>
          <p:nvPr/>
        </p:nvSpPr>
        <p:spPr>
          <a:xfrm>
            <a:off x="2346862" y="3300232"/>
            <a:ext cx="11128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kern="0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  <a:sym typeface="Arial" panose="020B0604020202020204" pitchFamily="34" charset="0"/>
              </a:rPr>
              <a:t>条形图</a:t>
            </a:r>
            <a:endParaRPr lang="zh-CN" altLang="en-US" sz="2000" kern="0" dirty="0">
              <a:solidFill>
                <a:srgbClr val="FF00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E61F4A7-D6A5-2A88-8E4E-E8ECE0138476}"/>
              </a:ext>
            </a:extLst>
          </p:cNvPr>
          <p:cNvSpPr/>
          <p:nvPr/>
        </p:nvSpPr>
        <p:spPr>
          <a:xfrm>
            <a:off x="5127505" y="1018281"/>
            <a:ext cx="95410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kern="0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阶梯图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6EB3516-2DD9-442B-370F-D89C9BBC6FB7}"/>
              </a:ext>
            </a:extLst>
          </p:cNvPr>
          <p:cNvSpPr/>
          <p:nvPr/>
        </p:nvSpPr>
        <p:spPr>
          <a:xfrm>
            <a:off x="5200335" y="1734092"/>
            <a:ext cx="8034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kern="0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  <a:sym typeface="Arial" panose="020B0604020202020204" pitchFamily="34" charset="0"/>
              </a:rPr>
              <a:t>杆图</a:t>
            </a:r>
            <a:endParaRPr lang="zh-CN" altLang="en-US" sz="2000" kern="0" dirty="0">
              <a:solidFill>
                <a:srgbClr val="FF00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5903C8A-478A-34EB-1719-5361DE4FD6BD}"/>
              </a:ext>
            </a:extLst>
          </p:cNvPr>
          <p:cNvSpPr/>
          <p:nvPr/>
        </p:nvSpPr>
        <p:spPr>
          <a:xfrm>
            <a:off x="5196217" y="3073263"/>
            <a:ext cx="95410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散点图</a:t>
            </a:r>
            <a:endParaRPr lang="zh-CN" altLang="en-US" sz="2000" b="1" kern="0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2156CA3-9170-CC21-DBBC-296D87CE9780}"/>
              </a:ext>
            </a:extLst>
          </p:cNvPr>
          <p:cNvSpPr/>
          <p:nvPr/>
        </p:nvSpPr>
        <p:spPr>
          <a:xfrm>
            <a:off x="7496116" y="1072722"/>
            <a:ext cx="14221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kern="0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  <a:sym typeface="Arial" panose="020B0604020202020204" pitchFamily="34" charset="0"/>
              </a:rPr>
              <a:t>极坐标图</a:t>
            </a:r>
            <a:endParaRPr lang="zh-CN" altLang="en-US" sz="2000" kern="0" dirty="0">
              <a:solidFill>
                <a:srgbClr val="FF00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0E0610EF-077F-5FBE-C7B3-6DB98F47CBC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25908" b="69667" l="9815" r="88337"/>
                    </a14:imgEffect>
                  </a14:imgLayer>
                </a14:imgProps>
              </a:ext>
            </a:extLst>
          </a:blip>
          <a:srcRect l="18324" t="27246" r="31190" b="24864"/>
          <a:stretch/>
        </p:blipFill>
        <p:spPr>
          <a:xfrm>
            <a:off x="5210638" y="4111918"/>
            <a:ext cx="2380694" cy="1042593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7F91E90E-12EE-5E21-BA24-AA58F041AB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1341" y="3777810"/>
            <a:ext cx="2365652" cy="1196952"/>
          </a:xfrm>
          <a:prstGeom prst="rect">
            <a:avLst/>
          </a:prstGeom>
        </p:spPr>
      </p:pic>
      <p:sp>
        <p:nvSpPr>
          <p:cNvPr id="21" name="文本框 20">
            <a:extLst>
              <a:ext uri="{FF2B5EF4-FFF2-40B4-BE49-F238E27FC236}">
                <a16:creationId xmlns:a16="http://schemas.microsoft.com/office/drawing/2014/main" id="{D162A6EB-2B3B-146F-66B1-B87A664A97B6}"/>
              </a:ext>
            </a:extLst>
          </p:cNvPr>
          <p:cNvSpPr txBox="1"/>
          <p:nvPr/>
        </p:nvSpPr>
        <p:spPr>
          <a:xfrm>
            <a:off x="1249085" y="113767"/>
            <a:ext cx="75493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隶书" panose="02010509060101010101" charset="-122"/>
              </a:rPr>
              <a:t>§</a:t>
            </a:r>
            <a:r>
              <a:rPr lang="en-US" altLang="zh-CN" sz="28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3.4 </a:t>
            </a:r>
            <a:r>
              <a:rPr lang="zh-CN" altLang="en-US" sz="28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数据统计分析图</a:t>
            </a:r>
            <a:r>
              <a:rPr lang="en-US" altLang="zh-CN" sz="28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</a:t>
            </a:r>
            <a:r>
              <a:rPr lang="zh-CN" altLang="en-US" sz="28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常见绘图命令</a:t>
            </a:r>
            <a:endParaRPr lang="zh-CN" altLang="en-US" sz="28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54236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DD695B90-C798-C202-A861-E4F6070CB6E9}"/>
              </a:ext>
            </a:extLst>
          </p:cNvPr>
          <p:cNvSpPr/>
          <p:nvPr/>
        </p:nvSpPr>
        <p:spPr>
          <a:xfrm>
            <a:off x="82882" y="1712792"/>
            <a:ext cx="8889788" cy="2587503"/>
          </a:xfrm>
          <a:prstGeom prst="rect">
            <a:avLst/>
          </a:prstGeom>
          <a:noFill/>
          <a:ln>
            <a:solidFill>
              <a:schemeClr val="tx2"/>
            </a:solidFill>
            <a:prstDash val="sysDash"/>
          </a:ln>
        </p:spPr>
        <p:txBody>
          <a:bodyPr wrap="square">
            <a:spAutoFit/>
          </a:bodyPr>
          <a:lstStyle/>
          <a:p>
            <a:pPr defTabSz="0">
              <a:lnSpc>
                <a:spcPts val="2800"/>
              </a:lnSpc>
              <a:spcBef>
                <a:spcPts val="0"/>
              </a:spcBef>
              <a:defRPr/>
            </a:pPr>
            <a:endParaRPr lang="en-US" altLang="zh-CN" sz="200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defTabSz="0">
              <a:lnSpc>
                <a:spcPts val="2800"/>
              </a:lnSpc>
              <a:spcBef>
                <a:spcPts val="0"/>
              </a:spcBef>
              <a:defRPr/>
            </a:pPr>
            <a:r>
              <a:rPr lang="zh-CN" altLang="en-US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折线图：</a:t>
            </a:r>
            <a:r>
              <a:rPr lang="zh-CN" altLang="en-US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相邻两点标记符连接成线</a:t>
            </a:r>
            <a:endParaRPr lang="en-US" altLang="zh-CN" b="1" kern="0" dirty="0">
              <a:solidFill>
                <a:srgbClr val="0070C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defTabSz="0">
              <a:lnSpc>
                <a:spcPts val="2800"/>
              </a:lnSpc>
              <a:spcBef>
                <a:spcPts val="0"/>
              </a:spcBef>
              <a:defRPr/>
            </a:pPr>
            <a:r>
              <a:rPr lang="zh-CN" altLang="en-US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散点图：</a:t>
            </a:r>
            <a:r>
              <a:rPr lang="en-US" altLang="zh-CN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 </a:t>
            </a:r>
            <a:r>
              <a:rPr lang="zh-CN" altLang="en-US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数据点无需连线</a:t>
            </a:r>
            <a:endParaRPr lang="en-US" altLang="zh-CN" b="1" kern="0" dirty="0">
              <a:solidFill>
                <a:srgbClr val="0070C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defTabSz="0">
              <a:lnSpc>
                <a:spcPts val="2800"/>
              </a:lnSpc>
              <a:spcBef>
                <a:spcPts val="0"/>
              </a:spcBef>
              <a:defRPr/>
            </a:pPr>
            <a:r>
              <a:rPr lang="zh-CN" altLang="en-US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面积图：</a:t>
            </a:r>
            <a:r>
              <a:rPr lang="zh-CN" altLang="en-US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颜色填曲线和</a:t>
            </a:r>
            <a:r>
              <a:rPr lang="en-US" altLang="zh-CN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x</a:t>
            </a:r>
            <a:r>
              <a:rPr lang="zh-CN" altLang="en-US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轴间区域</a:t>
            </a:r>
            <a:endParaRPr lang="en-US" altLang="zh-CN" kern="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defTabSz="0">
              <a:lnSpc>
                <a:spcPts val="2800"/>
              </a:lnSpc>
              <a:spcBef>
                <a:spcPts val="0"/>
              </a:spcBef>
              <a:defRPr/>
            </a:pPr>
            <a:r>
              <a:rPr lang="zh-CN" altLang="en-US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条形图：</a:t>
            </a:r>
            <a:r>
              <a:rPr lang="zh-CN" altLang="en-US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宽度相同的条形高度表示数据</a:t>
            </a:r>
            <a:endParaRPr lang="en-US" altLang="zh-CN" kern="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Arial" panose="020B0604020202020204" pitchFamily="34" charset="0"/>
            </a:endParaRPr>
          </a:p>
          <a:p>
            <a:pPr defTabSz="0">
              <a:lnSpc>
                <a:spcPts val="2800"/>
              </a:lnSpc>
              <a:spcBef>
                <a:spcPts val="0"/>
              </a:spcBef>
              <a:defRPr/>
            </a:pPr>
            <a:r>
              <a:rPr lang="zh-CN" altLang="en-US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针状图</a:t>
            </a:r>
            <a:r>
              <a:rPr lang="zh-CN" altLang="en-US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：</a:t>
            </a:r>
            <a:r>
              <a:rPr lang="en-US" altLang="zh-CN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 </a:t>
            </a:r>
            <a:r>
              <a:rPr lang="en-US" altLang="zh-CN" b="1" kern="0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(</a:t>
            </a:r>
            <a:r>
              <a:rPr lang="zh-CN" altLang="en-US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杆图</a:t>
            </a:r>
            <a:r>
              <a:rPr lang="en-US" altLang="zh-CN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)</a:t>
            </a:r>
            <a:r>
              <a:rPr lang="zh-CN" altLang="en-US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数据</a:t>
            </a:r>
            <a:r>
              <a:rPr lang="zh-CN" altLang="en-US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用火柴杆高度表示</a:t>
            </a:r>
            <a:endParaRPr lang="en-US" altLang="zh-CN" kern="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Arial" panose="020B0604020202020204" pitchFamily="34" charset="0"/>
            </a:endParaRPr>
          </a:p>
          <a:p>
            <a:pPr defTabSz="0">
              <a:lnSpc>
                <a:spcPts val="2800"/>
              </a:lnSpc>
              <a:spcBef>
                <a:spcPts val="0"/>
              </a:spcBef>
              <a:defRPr/>
            </a:pPr>
            <a:r>
              <a:rPr lang="zh-CN" altLang="en-US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阶梯图：</a:t>
            </a:r>
            <a:r>
              <a:rPr lang="zh-CN" altLang="en-US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水平线和垂直线连接两数据点</a:t>
            </a:r>
            <a:endParaRPr lang="en-US" altLang="zh-CN" kern="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Arial" panose="020B0604020202020204" pitchFamily="34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967DF3C-7578-6A32-3E48-7B57777B3FCC}"/>
              </a:ext>
            </a:extLst>
          </p:cNvPr>
          <p:cNvSpPr/>
          <p:nvPr/>
        </p:nvSpPr>
        <p:spPr>
          <a:xfrm>
            <a:off x="89172" y="677885"/>
            <a:ext cx="8971946" cy="747256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ts val="2600"/>
              </a:lnSpc>
            </a:pPr>
            <a:r>
              <a:rPr lang="en-US" altLang="zh-CN" sz="20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William </a:t>
            </a:r>
            <a:r>
              <a:rPr lang="en-US" altLang="zh-CN" sz="2000" b="1" dirty="0" err="1">
                <a:latin typeface="华文楷体" panose="02010600040101010101" pitchFamily="2" charset="-122"/>
                <a:ea typeface="华文楷体" panose="02010600040101010101" pitchFamily="2" charset="-122"/>
              </a:rPr>
              <a:t>Playfair</a:t>
            </a:r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，苏格兰工程师和政治经济学家，他发明了</a:t>
            </a:r>
            <a:r>
              <a:rPr lang="zh-CN" altLang="en-US" sz="20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折线图、面积图、条形图、饼图</a:t>
            </a:r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等，是图形化统计方法的创始人。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471B772-0BC5-86F1-0B3B-E347BECDBCAC}"/>
              </a:ext>
            </a:extLst>
          </p:cNvPr>
          <p:cNvSpPr/>
          <p:nvPr/>
        </p:nvSpPr>
        <p:spPr>
          <a:xfrm>
            <a:off x="27366" y="4236625"/>
            <a:ext cx="1774668" cy="418191"/>
          </a:xfrm>
          <a:prstGeom prst="rect">
            <a:avLst/>
          </a:prstGeom>
          <a:ln>
            <a:noFill/>
            <a:prstDash val="sysDash"/>
          </a:ln>
        </p:spPr>
        <p:txBody>
          <a:bodyPr wrap="square">
            <a:spAutoFit/>
          </a:bodyPr>
          <a:lstStyle/>
          <a:p>
            <a:pPr lvl="0" defTabSz="0">
              <a:lnSpc>
                <a:spcPct val="150000"/>
              </a:lnSpc>
              <a:spcBef>
                <a:spcPts val="0"/>
              </a:spcBef>
            </a:pPr>
            <a:r>
              <a:rPr lang="zh-CN" altLang="en-US" sz="1600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操作和</a:t>
            </a:r>
            <a:r>
              <a:rPr lang="en-US" altLang="zh-CN" sz="1600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plot</a:t>
            </a:r>
            <a:r>
              <a:rPr lang="zh-CN" altLang="en-US" sz="1600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一样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9A66E8C-F300-4FB8-ACC4-40E0FEDF0538}"/>
              </a:ext>
            </a:extLst>
          </p:cNvPr>
          <p:cNvSpPr txBox="1"/>
          <p:nvPr/>
        </p:nvSpPr>
        <p:spPr>
          <a:xfrm>
            <a:off x="1511791" y="108236"/>
            <a:ext cx="75493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kern="0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隶书" panose="02010509060101010101" charset="-122"/>
              </a:rPr>
              <a:t>22. </a:t>
            </a:r>
            <a:r>
              <a:rPr lang="zh-CN" altLang="en-US" sz="2800" kern="0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数据统计分析图</a:t>
            </a:r>
            <a:r>
              <a:rPr lang="en-US" altLang="zh-CN" sz="2800" kern="0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</a:t>
            </a:r>
            <a:r>
              <a:rPr lang="zh-CN" altLang="en-US" sz="2800" kern="0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常见绘图命令</a:t>
            </a:r>
            <a:endParaRPr lang="zh-CN" altLang="en-US" sz="2800" dirty="0">
              <a:solidFill>
                <a:srgbClr val="0070C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8F7E022-9FA9-4428-A1DC-FFA40F79196E}"/>
              </a:ext>
            </a:extLst>
          </p:cNvPr>
          <p:cNvSpPr/>
          <p:nvPr/>
        </p:nvSpPr>
        <p:spPr>
          <a:xfrm>
            <a:off x="5004048" y="2068888"/>
            <a:ext cx="3320549" cy="338554"/>
          </a:xfrm>
          <a:prstGeom prst="rect">
            <a:avLst/>
          </a:prstGeom>
          <a:noFill/>
          <a:ln w="38100"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rgbClr val="FFFF00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句柄</a:t>
            </a:r>
            <a:r>
              <a:rPr lang="en-US" altLang="zh-CN" sz="1600" b="1" dirty="0">
                <a:solidFill>
                  <a:srgbClr val="FFFF00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h</a:t>
            </a:r>
            <a:r>
              <a:rPr lang="en-US" altLang="zh-CN" sz="1600" b="1" dirty="0">
                <a:solidFill>
                  <a:schemeClr val="bg1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=</a:t>
            </a:r>
            <a:r>
              <a:rPr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plot</a:t>
            </a:r>
            <a:r>
              <a:rPr lang="en-US" altLang="zh-CN" sz="1600" b="1" dirty="0">
                <a:solidFill>
                  <a:schemeClr val="bg1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(</a:t>
            </a:r>
            <a:r>
              <a:rPr lang="zh-CN" altLang="en-US" sz="1600" b="1" dirty="0">
                <a:solidFill>
                  <a:srgbClr val="FFFF00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坐标区</a:t>
            </a:r>
            <a:r>
              <a:rPr lang="en-US" altLang="zh-CN" sz="1600" b="1" dirty="0" err="1">
                <a:solidFill>
                  <a:srgbClr val="FFFF00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ax,</a:t>
            </a:r>
            <a:r>
              <a:rPr lang="en-US" altLang="zh-CN" sz="1600" b="1" dirty="0" err="1">
                <a:solidFill>
                  <a:schemeClr val="bg1"/>
                </a:solidFill>
                <a:highlight>
                  <a:srgbClr val="FF0000"/>
                </a:highlight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x,y,</a:t>
            </a:r>
            <a:r>
              <a:rPr lang="en-US" altLang="zh-CN" sz="1600" b="1" dirty="0" err="1">
                <a:solidFill>
                  <a:srgbClr val="FFFF00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key</a:t>
            </a:r>
            <a:r>
              <a:rPr lang="en-US" altLang="zh-CN" sz="1600" b="1" dirty="0">
                <a:solidFill>
                  <a:srgbClr val="FFFF00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=value</a:t>
            </a:r>
            <a:r>
              <a:rPr lang="en-US" altLang="zh-CN" sz="1600" b="1" dirty="0">
                <a:solidFill>
                  <a:schemeClr val="bg1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)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2BFDD88A-741D-466D-8AE1-1C82799B81A8}"/>
              </a:ext>
            </a:extLst>
          </p:cNvPr>
          <p:cNvSpPr/>
          <p:nvPr/>
        </p:nvSpPr>
        <p:spPr>
          <a:xfrm>
            <a:off x="5042557" y="2456958"/>
            <a:ext cx="3453371" cy="338554"/>
          </a:xfrm>
          <a:prstGeom prst="rect">
            <a:avLst/>
          </a:prstGeom>
          <a:noFill/>
          <a:ln w="38100"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rgbClr val="FFFF00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句柄</a:t>
            </a:r>
            <a:r>
              <a:rPr lang="en-US" altLang="zh-CN" sz="1600" b="1" dirty="0">
                <a:solidFill>
                  <a:srgbClr val="FFFF00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h</a:t>
            </a:r>
            <a:r>
              <a:rPr lang="en-US" altLang="zh-CN" sz="1600" b="1" dirty="0">
                <a:solidFill>
                  <a:schemeClr val="bg1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=</a:t>
            </a:r>
            <a:r>
              <a:rPr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scatter</a:t>
            </a:r>
            <a:r>
              <a:rPr lang="en-US" altLang="zh-CN" sz="1600" b="1" dirty="0">
                <a:solidFill>
                  <a:schemeClr val="bg1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(</a:t>
            </a:r>
            <a:r>
              <a:rPr lang="zh-CN" altLang="en-US" sz="1600" b="1" dirty="0">
                <a:solidFill>
                  <a:srgbClr val="FFFF00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坐标区</a:t>
            </a:r>
            <a:r>
              <a:rPr lang="en-US" altLang="zh-CN" sz="1600" b="1" dirty="0" err="1">
                <a:solidFill>
                  <a:srgbClr val="FFFF00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ax,</a:t>
            </a:r>
            <a:r>
              <a:rPr lang="en-US" altLang="zh-CN" sz="1600" b="1" dirty="0" err="1">
                <a:solidFill>
                  <a:schemeClr val="bg1"/>
                </a:solidFill>
                <a:highlight>
                  <a:srgbClr val="FF0000"/>
                </a:highlight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x,y</a:t>
            </a:r>
            <a:r>
              <a:rPr lang="en-US" altLang="zh-CN" sz="1600" b="1" dirty="0" err="1">
                <a:solidFill>
                  <a:schemeClr val="bg1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,</a:t>
            </a:r>
            <a:r>
              <a:rPr lang="en-US" altLang="zh-CN" sz="1600" b="1" dirty="0" err="1">
                <a:solidFill>
                  <a:srgbClr val="FFFF00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key</a:t>
            </a:r>
            <a:r>
              <a:rPr lang="en-US" altLang="zh-CN" sz="1600" b="1" dirty="0">
                <a:solidFill>
                  <a:srgbClr val="FFFF00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=value</a:t>
            </a:r>
            <a:r>
              <a:rPr lang="en-US" altLang="zh-CN" sz="1600" b="1" dirty="0">
                <a:solidFill>
                  <a:schemeClr val="bg1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)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77D60453-767B-4AAB-BA34-99BDD5170D2D}"/>
              </a:ext>
            </a:extLst>
          </p:cNvPr>
          <p:cNvSpPr/>
          <p:nvPr/>
        </p:nvSpPr>
        <p:spPr>
          <a:xfrm>
            <a:off x="5042557" y="2835138"/>
            <a:ext cx="3453371" cy="338554"/>
          </a:xfrm>
          <a:prstGeom prst="rect">
            <a:avLst/>
          </a:prstGeom>
          <a:noFill/>
          <a:ln w="38100"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rgbClr val="FFFF00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句柄</a:t>
            </a:r>
            <a:r>
              <a:rPr lang="en-US" altLang="zh-CN" sz="1600" b="1" dirty="0">
                <a:solidFill>
                  <a:srgbClr val="FFFF00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h</a:t>
            </a:r>
            <a:r>
              <a:rPr lang="en-US" altLang="zh-CN" sz="1600" b="1" dirty="0">
                <a:solidFill>
                  <a:schemeClr val="bg1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=</a:t>
            </a:r>
            <a:r>
              <a:rPr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area</a:t>
            </a:r>
            <a:r>
              <a:rPr lang="en-US" altLang="zh-CN" sz="1600" b="1" dirty="0">
                <a:solidFill>
                  <a:schemeClr val="bg1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(</a:t>
            </a:r>
            <a:r>
              <a:rPr lang="zh-CN" altLang="en-US" sz="1600" b="1" dirty="0">
                <a:solidFill>
                  <a:srgbClr val="FFFF00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坐标区</a:t>
            </a:r>
            <a:r>
              <a:rPr lang="en-US" altLang="zh-CN" sz="1600" b="1" dirty="0" err="1">
                <a:solidFill>
                  <a:srgbClr val="FFFF00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ax,</a:t>
            </a:r>
            <a:r>
              <a:rPr lang="en-US" altLang="zh-CN" sz="1600" b="1" dirty="0" err="1">
                <a:solidFill>
                  <a:schemeClr val="bg1"/>
                </a:solidFill>
                <a:highlight>
                  <a:srgbClr val="FF0000"/>
                </a:highlight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x,y</a:t>
            </a:r>
            <a:r>
              <a:rPr lang="en-US" altLang="zh-CN" sz="1600" b="1" dirty="0" err="1">
                <a:solidFill>
                  <a:schemeClr val="bg1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,</a:t>
            </a:r>
            <a:r>
              <a:rPr lang="en-US" altLang="zh-CN" sz="1600" b="1" dirty="0" err="1">
                <a:solidFill>
                  <a:srgbClr val="FFFF00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key</a:t>
            </a:r>
            <a:r>
              <a:rPr lang="en-US" altLang="zh-CN" sz="1600" b="1" dirty="0">
                <a:solidFill>
                  <a:srgbClr val="FFFF00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=value</a:t>
            </a:r>
            <a:r>
              <a:rPr lang="en-US" altLang="zh-CN" sz="1600" b="1" dirty="0">
                <a:solidFill>
                  <a:schemeClr val="bg1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)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8B67A54-022A-4821-82AE-B0B209674662}"/>
              </a:ext>
            </a:extLst>
          </p:cNvPr>
          <p:cNvSpPr/>
          <p:nvPr/>
        </p:nvSpPr>
        <p:spPr>
          <a:xfrm>
            <a:off x="5042557" y="3214960"/>
            <a:ext cx="3453371" cy="338554"/>
          </a:xfrm>
          <a:prstGeom prst="rect">
            <a:avLst/>
          </a:prstGeom>
          <a:noFill/>
          <a:ln w="38100"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rgbClr val="FFFF00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句柄</a:t>
            </a:r>
            <a:r>
              <a:rPr lang="en-US" altLang="zh-CN" sz="1600" b="1" dirty="0">
                <a:solidFill>
                  <a:srgbClr val="FFFF00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h</a:t>
            </a:r>
            <a:r>
              <a:rPr lang="en-US" altLang="zh-CN" sz="1600" b="1" dirty="0">
                <a:solidFill>
                  <a:schemeClr val="bg1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=</a:t>
            </a:r>
            <a:r>
              <a:rPr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bar</a:t>
            </a:r>
            <a:r>
              <a:rPr lang="en-US" altLang="zh-CN" sz="1600" b="1" dirty="0">
                <a:solidFill>
                  <a:schemeClr val="bg1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(</a:t>
            </a:r>
            <a:r>
              <a:rPr lang="zh-CN" altLang="en-US" sz="1600" b="1" dirty="0">
                <a:solidFill>
                  <a:srgbClr val="FFFF00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坐标区</a:t>
            </a:r>
            <a:r>
              <a:rPr lang="en-US" altLang="zh-CN" sz="1600" b="1" dirty="0" err="1">
                <a:solidFill>
                  <a:srgbClr val="FFFF00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ax,</a:t>
            </a:r>
            <a:r>
              <a:rPr lang="en-US" altLang="zh-CN" sz="1600" b="1" dirty="0" err="1">
                <a:solidFill>
                  <a:schemeClr val="bg1"/>
                </a:solidFill>
                <a:highlight>
                  <a:srgbClr val="FF0000"/>
                </a:highlight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x,y</a:t>
            </a:r>
            <a:r>
              <a:rPr lang="en-US" altLang="zh-CN" sz="1600" b="1" dirty="0" err="1">
                <a:solidFill>
                  <a:schemeClr val="bg1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,</a:t>
            </a:r>
            <a:r>
              <a:rPr lang="en-US" altLang="zh-CN" sz="1600" b="1" dirty="0" err="1">
                <a:solidFill>
                  <a:srgbClr val="FFFF00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key</a:t>
            </a:r>
            <a:r>
              <a:rPr lang="en-US" altLang="zh-CN" sz="1600" b="1" dirty="0">
                <a:solidFill>
                  <a:srgbClr val="FFFF00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=value</a:t>
            </a:r>
            <a:r>
              <a:rPr lang="en-US" altLang="zh-CN" sz="1600" b="1" dirty="0">
                <a:solidFill>
                  <a:schemeClr val="bg1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)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97B8E068-7E8E-4378-8DE6-C500C7DB0799}"/>
              </a:ext>
            </a:extLst>
          </p:cNvPr>
          <p:cNvSpPr/>
          <p:nvPr/>
        </p:nvSpPr>
        <p:spPr>
          <a:xfrm>
            <a:off x="5031296" y="3568035"/>
            <a:ext cx="3235686" cy="338554"/>
          </a:xfrm>
          <a:prstGeom prst="rect">
            <a:avLst/>
          </a:prstGeom>
          <a:noFill/>
          <a:ln w="38100"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rgbClr val="FFFF00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句柄</a:t>
            </a:r>
            <a:r>
              <a:rPr lang="en-US" altLang="zh-CN" sz="1600" b="1" dirty="0">
                <a:solidFill>
                  <a:srgbClr val="FFFF00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h</a:t>
            </a:r>
            <a:r>
              <a:rPr lang="en-US" altLang="zh-CN" sz="1600" b="1" dirty="0">
                <a:solidFill>
                  <a:schemeClr val="bg1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=</a:t>
            </a:r>
            <a:r>
              <a:rPr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stem</a:t>
            </a:r>
            <a:r>
              <a:rPr lang="en-US" altLang="zh-CN" sz="1600" b="1" dirty="0">
                <a:solidFill>
                  <a:schemeClr val="bg1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(</a:t>
            </a:r>
            <a:r>
              <a:rPr lang="zh-CN" altLang="en-US" sz="1600" b="1" dirty="0">
                <a:solidFill>
                  <a:srgbClr val="FFFF00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坐标区</a:t>
            </a:r>
            <a:r>
              <a:rPr lang="en-US" altLang="zh-CN" sz="1600" b="1" dirty="0" err="1">
                <a:solidFill>
                  <a:srgbClr val="FFFF00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ax,</a:t>
            </a:r>
            <a:r>
              <a:rPr lang="en-US" altLang="zh-CN" sz="1600" b="1" dirty="0" err="1">
                <a:solidFill>
                  <a:schemeClr val="bg1"/>
                </a:solidFill>
                <a:highlight>
                  <a:srgbClr val="FF0000"/>
                </a:highlight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x,y</a:t>
            </a:r>
            <a:r>
              <a:rPr lang="en-US" altLang="zh-CN" sz="1600" b="1" dirty="0" err="1">
                <a:solidFill>
                  <a:schemeClr val="bg1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,</a:t>
            </a:r>
            <a:r>
              <a:rPr lang="en-US" altLang="zh-CN" sz="1600" b="1" dirty="0" err="1">
                <a:solidFill>
                  <a:srgbClr val="FFFF00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key</a:t>
            </a:r>
            <a:r>
              <a:rPr lang="en-US" altLang="zh-CN" sz="1600" b="1" dirty="0">
                <a:solidFill>
                  <a:srgbClr val="FFFF00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=value</a:t>
            </a:r>
            <a:r>
              <a:rPr lang="en-US" altLang="zh-CN" sz="1600" b="1" dirty="0">
                <a:solidFill>
                  <a:schemeClr val="bg1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)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6EA910A9-92D1-4639-A48C-D5EE5B7632F8}"/>
              </a:ext>
            </a:extLst>
          </p:cNvPr>
          <p:cNvSpPr/>
          <p:nvPr/>
        </p:nvSpPr>
        <p:spPr>
          <a:xfrm>
            <a:off x="5070093" y="3926081"/>
            <a:ext cx="3453371" cy="338554"/>
          </a:xfrm>
          <a:prstGeom prst="rect">
            <a:avLst/>
          </a:prstGeom>
          <a:noFill/>
          <a:ln w="38100"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rgbClr val="FFFF00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句柄</a:t>
            </a:r>
            <a:r>
              <a:rPr lang="en-US" altLang="zh-CN" sz="1600" b="1" dirty="0">
                <a:solidFill>
                  <a:srgbClr val="FFFF00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h</a:t>
            </a:r>
            <a:r>
              <a:rPr lang="en-US" altLang="zh-CN" sz="1600" b="1" dirty="0">
                <a:solidFill>
                  <a:schemeClr val="bg1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=</a:t>
            </a:r>
            <a:r>
              <a:rPr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stairs</a:t>
            </a:r>
            <a:r>
              <a:rPr lang="en-US" altLang="zh-CN" sz="1600" b="1" dirty="0">
                <a:solidFill>
                  <a:schemeClr val="bg1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(</a:t>
            </a:r>
            <a:r>
              <a:rPr lang="zh-CN" altLang="en-US" sz="1600" b="1" dirty="0">
                <a:solidFill>
                  <a:srgbClr val="FFFF00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坐标区</a:t>
            </a:r>
            <a:r>
              <a:rPr lang="en-US" altLang="zh-CN" sz="1600" b="1" dirty="0" err="1">
                <a:solidFill>
                  <a:srgbClr val="FFFF00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ax,</a:t>
            </a:r>
            <a:r>
              <a:rPr lang="en-US" altLang="zh-CN" sz="1600" b="1" dirty="0" err="1">
                <a:solidFill>
                  <a:schemeClr val="bg1"/>
                </a:solidFill>
                <a:highlight>
                  <a:srgbClr val="FF0000"/>
                </a:highlight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x,y</a:t>
            </a:r>
            <a:r>
              <a:rPr lang="en-US" altLang="zh-CN" sz="1600" b="1" dirty="0" err="1">
                <a:solidFill>
                  <a:schemeClr val="bg1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,</a:t>
            </a:r>
            <a:r>
              <a:rPr lang="en-US" altLang="zh-CN" sz="1600" b="1" dirty="0" err="1">
                <a:solidFill>
                  <a:srgbClr val="FFFF00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key</a:t>
            </a:r>
            <a:r>
              <a:rPr lang="en-US" altLang="zh-CN" sz="1600" b="1" dirty="0">
                <a:solidFill>
                  <a:srgbClr val="FFFF00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=value</a:t>
            </a:r>
            <a:r>
              <a:rPr lang="en-US" altLang="zh-CN" sz="1600" b="1" dirty="0">
                <a:solidFill>
                  <a:schemeClr val="bg1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) 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FEC8432-17F2-4E56-B1EE-7BB43F7393F3}"/>
              </a:ext>
            </a:extLst>
          </p:cNvPr>
          <p:cNvSpPr/>
          <p:nvPr/>
        </p:nvSpPr>
        <p:spPr>
          <a:xfrm>
            <a:off x="4123095" y="2119443"/>
            <a:ext cx="1224136" cy="338554"/>
          </a:xfrm>
          <a:prstGeom prst="rect">
            <a:avLst/>
          </a:prstGeom>
          <a:noFill/>
          <a:ln w="38100"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>
            <a:spAutoFit/>
          </a:bodyPr>
          <a:lstStyle/>
          <a:p>
            <a:r>
              <a:rPr lang="en-US" altLang="zh-CN" sz="1600" b="1" dirty="0">
                <a:solidFill>
                  <a:schemeClr val="bg1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plot(</a:t>
            </a:r>
            <a:r>
              <a:rPr lang="en-US" altLang="zh-CN" sz="1600" b="1" dirty="0" err="1">
                <a:solidFill>
                  <a:schemeClr val="bg1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x,y</a:t>
            </a:r>
            <a:r>
              <a:rPr lang="en-US" altLang="zh-CN" sz="1600" b="1" dirty="0">
                <a:solidFill>
                  <a:schemeClr val="bg1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)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511CE8F-1FB9-49F1-A9E3-DEABDDF0503A}"/>
              </a:ext>
            </a:extLst>
          </p:cNvPr>
          <p:cNvSpPr/>
          <p:nvPr/>
        </p:nvSpPr>
        <p:spPr>
          <a:xfrm>
            <a:off x="4123671" y="2464514"/>
            <a:ext cx="1224136" cy="338554"/>
          </a:xfrm>
          <a:prstGeom prst="rect">
            <a:avLst/>
          </a:prstGeom>
          <a:noFill/>
          <a:ln w="38100"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>
            <a:spAutoFit/>
          </a:bodyPr>
          <a:lstStyle/>
          <a:p>
            <a:r>
              <a:rPr lang="en-US" altLang="zh-CN" sz="1600" b="1" dirty="0">
                <a:solidFill>
                  <a:schemeClr val="bg1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scatter(</a:t>
            </a:r>
            <a:r>
              <a:rPr lang="en-US" altLang="zh-CN" sz="1600" b="1" dirty="0" err="1">
                <a:solidFill>
                  <a:schemeClr val="bg1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x,y</a:t>
            </a:r>
            <a:r>
              <a:rPr lang="en-US" altLang="zh-CN" sz="1600" b="1" dirty="0">
                <a:solidFill>
                  <a:schemeClr val="bg1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)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E7AE729-C8E7-4042-A575-D91CEF210F7E}"/>
              </a:ext>
            </a:extLst>
          </p:cNvPr>
          <p:cNvSpPr/>
          <p:nvPr/>
        </p:nvSpPr>
        <p:spPr>
          <a:xfrm>
            <a:off x="4136372" y="2826798"/>
            <a:ext cx="855367" cy="348366"/>
          </a:xfrm>
          <a:prstGeom prst="rect">
            <a:avLst/>
          </a:prstGeom>
          <a:noFill/>
          <a:ln w="38100"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>
            <a:spAutoFit/>
          </a:bodyPr>
          <a:lstStyle/>
          <a:p>
            <a:r>
              <a:rPr lang="en-US" altLang="zh-CN" sz="1600" b="1" dirty="0">
                <a:solidFill>
                  <a:schemeClr val="bg1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area(</a:t>
            </a:r>
            <a:r>
              <a:rPr lang="en-US" altLang="zh-CN" sz="1600" b="1" dirty="0" err="1">
                <a:solidFill>
                  <a:schemeClr val="bg1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x,y</a:t>
            </a:r>
            <a:r>
              <a:rPr lang="en-US" altLang="zh-CN" sz="1600" b="1" dirty="0">
                <a:solidFill>
                  <a:schemeClr val="bg1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)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3E86A80-2179-4138-8ED7-AB6F27199ADC}"/>
              </a:ext>
            </a:extLst>
          </p:cNvPr>
          <p:cNvSpPr/>
          <p:nvPr/>
        </p:nvSpPr>
        <p:spPr>
          <a:xfrm>
            <a:off x="4136372" y="3208067"/>
            <a:ext cx="1027303" cy="338554"/>
          </a:xfrm>
          <a:prstGeom prst="rect">
            <a:avLst/>
          </a:prstGeom>
          <a:noFill/>
          <a:ln w="38100"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>
            <a:spAutoFit/>
          </a:bodyPr>
          <a:lstStyle/>
          <a:p>
            <a:r>
              <a:rPr lang="en-US" altLang="zh-CN" sz="1600" b="1" dirty="0">
                <a:solidFill>
                  <a:schemeClr val="bg1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bar(</a:t>
            </a:r>
            <a:r>
              <a:rPr lang="en-US" altLang="zh-CN" sz="1600" b="1" dirty="0" err="1">
                <a:solidFill>
                  <a:schemeClr val="bg1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x,y</a:t>
            </a:r>
            <a:r>
              <a:rPr lang="en-US" altLang="zh-CN" sz="1600" b="1" dirty="0">
                <a:solidFill>
                  <a:schemeClr val="bg1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)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30CFC78-29E6-4590-A760-1FA0BF2DBE37}"/>
              </a:ext>
            </a:extLst>
          </p:cNvPr>
          <p:cNvSpPr/>
          <p:nvPr/>
        </p:nvSpPr>
        <p:spPr>
          <a:xfrm>
            <a:off x="4145252" y="3558276"/>
            <a:ext cx="1224136" cy="338554"/>
          </a:xfrm>
          <a:prstGeom prst="rect">
            <a:avLst/>
          </a:prstGeom>
          <a:noFill/>
          <a:ln w="38100"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>
            <a:spAutoFit/>
          </a:bodyPr>
          <a:lstStyle/>
          <a:p>
            <a:r>
              <a:rPr lang="en-US" altLang="zh-CN" sz="1600" b="1" dirty="0">
                <a:solidFill>
                  <a:schemeClr val="bg1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stem(</a:t>
            </a:r>
            <a:r>
              <a:rPr lang="en-US" altLang="zh-CN" sz="1600" b="1" dirty="0" err="1">
                <a:solidFill>
                  <a:schemeClr val="bg1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x,y</a:t>
            </a:r>
            <a:r>
              <a:rPr lang="en-US" altLang="zh-CN" sz="1600" b="1" dirty="0">
                <a:solidFill>
                  <a:schemeClr val="bg1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)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BE5C045-D19F-468F-939A-AE386A11C2B5}"/>
              </a:ext>
            </a:extLst>
          </p:cNvPr>
          <p:cNvSpPr/>
          <p:nvPr/>
        </p:nvSpPr>
        <p:spPr>
          <a:xfrm>
            <a:off x="4146293" y="3929733"/>
            <a:ext cx="1027303" cy="338554"/>
          </a:xfrm>
          <a:prstGeom prst="rect">
            <a:avLst/>
          </a:prstGeom>
          <a:noFill/>
          <a:ln w="38100"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>
            <a:spAutoFit/>
          </a:bodyPr>
          <a:lstStyle/>
          <a:p>
            <a:r>
              <a:rPr lang="en-US" altLang="zh-CN" sz="1600" b="1" dirty="0">
                <a:solidFill>
                  <a:schemeClr val="bg1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stairs(</a:t>
            </a:r>
            <a:r>
              <a:rPr lang="en-US" altLang="zh-CN" sz="1600" b="1" dirty="0" err="1">
                <a:solidFill>
                  <a:schemeClr val="bg1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x,y</a:t>
            </a:r>
            <a:r>
              <a:rPr lang="en-US" altLang="zh-CN" sz="1600" b="1" dirty="0">
                <a:solidFill>
                  <a:schemeClr val="bg1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)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D1CE97E-5231-465D-A780-31457E7E0303}"/>
              </a:ext>
            </a:extLst>
          </p:cNvPr>
          <p:cNvSpPr/>
          <p:nvPr/>
        </p:nvSpPr>
        <p:spPr>
          <a:xfrm>
            <a:off x="89171" y="1455404"/>
            <a:ext cx="8932773" cy="327053"/>
          </a:xfrm>
          <a:prstGeom prst="rect">
            <a:avLst/>
          </a:prstGeom>
          <a:gradFill flip="none" rotWithShape="1">
            <a:gsLst>
              <a:gs pos="0">
                <a:srgbClr val="0070C0">
                  <a:shade val="30000"/>
                  <a:satMod val="115000"/>
                </a:srgbClr>
              </a:gs>
              <a:gs pos="50000">
                <a:srgbClr val="0070C0">
                  <a:shade val="67500"/>
                  <a:satMod val="115000"/>
                </a:srgbClr>
              </a:gs>
              <a:gs pos="100000">
                <a:srgbClr val="0070C0">
                  <a:shade val="100000"/>
                  <a:satMod val="115000"/>
                </a:srgbClr>
              </a:gs>
            </a:gsLst>
            <a:lin ang="13500000" scaled="1"/>
            <a:tileRect/>
          </a:gradFill>
          <a:ln>
            <a:solidFill>
              <a:schemeClr val="bg1"/>
            </a:solidFill>
          </a:ln>
        </p:spPr>
        <p:txBody>
          <a:bodyPr wrap="square" rtlCol="0" anchor="t">
            <a:spAutoFit/>
          </a:bodyPr>
          <a:lstStyle/>
          <a:p>
            <a:pPr algn="dist" defTabSz="0" eaLnBrk="1" latinLnBrk="0" hangingPunct="1">
              <a:lnSpc>
                <a:spcPts val="1800"/>
              </a:lnSpc>
              <a:spcBef>
                <a:spcPts val="0"/>
              </a:spcBef>
            </a:pPr>
            <a:r>
              <a:rPr lang="zh-CN" altLang="en-US" sz="1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同一组数据</a:t>
            </a:r>
            <a:r>
              <a:rPr lang="en-US" altLang="zh-CN" sz="1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(</a:t>
            </a:r>
            <a:r>
              <a:rPr lang="en-US" altLang="zh-CN" sz="1600" dirty="0" err="1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x,y</a:t>
            </a:r>
            <a:r>
              <a:rPr lang="en-US" altLang="zh-CN" sz="1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)</a:t>
            </a:r>
            <a:r>
              <a:rPr lang="zh-CN" altLang="en-US" sz="1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可用不同方式可视化，如折线图、散点图、面积图、条形图、针状图和阶梯图</a:t>
            </a:r>
            <a:endParaRPr lang="en-US" altLang="zh-CN" sz="16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Arial" panose="020B0604020202020204" pitchFamily="34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570FCED-F485-485B-8999-745DECB08FA3}"/>
              </a:ext>
            </a:extLst>
          </p:cNvPr>
          <p:cNvSpPr txBox="1"/>
          <p:nvPr/>
        </p:nvSpPr>
        <p:spPr>
          <a:xfrm>
            <a:off x="82881" y="1779662"/>
            <a:ext cx="25449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kern="0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常见数据统计绘图命令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065C3793-1786-4EAE-BCA3-F1B69241866D}"/>
              </a:ext>
            </a:extLst>
          </p:cNvPr>
          <p:cNvSpPr txBox="1"/>
          <p:nvPr/>
        </p:nvSpPr>
        <p:spPr>
          <a:xfrm>
            <a:off x="4067944" y="1777183"/>
            <a:ext cx="11840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kern="0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简化形式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31FBD71D-7161-4E1B-9C85-774F4B392F2E}"/>
              </a:ext>
            </a:extLst>
          </p:cNvPr>
          <p:cNvSpPr txBox="1"/>
          <p:nvPr/>
        </p:nvSpPr>
        <p:spPr>
          <a:xfrm>
            <a:off x="5358126" y="1772667"/>
            <a:ext cx="11840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kern="0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完整形式</a:t>
            </a:r>
            <a:endParaRPr lang="zh-CN" altLang="en-US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30" name="图片 29">
            <a:extLst>
              <a:ext uri="{FF2B5EF4-FFF2-40B4-BE49-F238E27FC236}">
                <a16:creationId xmlns:a16="http://schemas.microsoft.com/office/drawing/2014/main" id="{5E58F6D4-078C-406F-9E67-03F250F720E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073" t="24373" r="84957" b="66959"/>
          <a:stretch/>
        </p:blipFill>
        <p:spPr>
          <a:xfrm>
            <a:off x="8154982" y="2481273"/>
            <a:ext cx="817688" cy="541051"/>
          </a:xfrm>
          <a:prstGeom prst="rect">
            <a:avLst/>
          </a:prstGeom>
        </p:spPr>
      </p:pic>
      <p:pic>
        <p:nvPicPr>
          <p:cNvPr id="31" name="图片 30">
            <a:extLst>
              <a:ext uri="{FF2B5EF4-FFF2-40B4-BE49-F238E27FC236}">
                <a16:creationId xmlns:a16="http://schemas.microsoft.com/office/drawing/2014/main" id="{3F2366BE-48F2-4788-9022-703B67C890F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073" t="51842" r="85180" b="36802"/>
          <a:stretch/>
        </p:blipFill>
        <p:spPr>
          <a:xfrm>
            <a:off x="8148191" y="2975659"/>
            <a:ext cx="773661" cy="612019"/>
          </a:xfrm>
          <a:prstGeom prst="rect">
            <a:avLst/>
          </a:prstGeom>
        </p:spPr>
      </p:pic>
      <p:pic>
        <p:nvPicPr>
          <p:cNvPr id="32" name="图片 31">
            <a:extLst>
              <a:ext uri="{FF2B5EF4-FFF2-40B4-BE49-F238E27FC236}">
                <a16:creationId xmlns:a16="http://schemas.microsoft.com/office/drawing/2014/main" id="{6CB1EAEB-B818-458C-B532-4950DE9743A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7630" t="33557" r="76628" b="56829"/>
          <a:stretch/>
        </p:blipFill>
        <p:spPr>
          <a:xfrm>
            <a:off x="8224169" y="3490431"/>
            <a:ext cx="748502" cy="585801"/>
          </a:xfrm>
          <a:prstGeom prst="rect">
            <a:avLst/>
          </a:prstGeom>
        </p:spPr>
      </p:pic>
      <p:pic>
        <p:nvPicPr>
          <p:cNvPr id="33" name="图片 32">
            <a:extLst>
              <a:ext uri="{FF2B5EF4-FFF2-40B4-BE49-F238E27FC236}">
                <a16:creationId xmlns:a16="http://schemas.microsoft.com/office/drawing/2014/main" id="{19FE02A4-2709-4D6F-8177-BCF4F94E2EA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7630" t="23700" r="76686" b="66268"/>
          <a:stretch/>
        </p:blipFill>
        <p:spPr>
          <a:xfrm>
            <a:off x="8224168" y="4115478"/>
            <a:ext cx="748502" cy="523220"/>
          </a:xfrm>
          <a:prstGeom prst="rect">
            <a:avLst/>
          </a:prstGeom>
        </p:spPr>
      </p:pic>
      <p:pic>
        <p:nvPicPr>
          <p:cNvPr id="34" name="图片 33">
            <a:extLst>
              <a:ext uri="{FF2B5EF4-FFF2-40B4-BE49-F238E27FC236}">
                <a16:creationId xmlns:a16="http://schemas.microsoft.com/office/drawing/2014/main" id="{FE1E0F4C-BDA0-4301-88C3-AAC1769C37E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7630" t="52057" r="76628" b="38053"/>
          <a:stretch/>
        </p:blipFill>
        <p:spPr>
          <a:xfrm>
            <a:off x="8191778" y="1901494"/>
            <a:ext cx="780892" cy="584897"/>
          </a:xfrm>
          <a:prstGeom prst="rect">
            <a:avLst/>
          </a:prstGeom>
        </p:spPr>
      </p:pic>
      <p:pic>
        <p:nvPicPr>
          <p:cNvPr id="35" name="图片 34">
            <a:extLst>
              <a:ext uri="{FF2B5EF4-FFF2-40B4-BE49-F238E27FC236}">
                <a16:creationId xmlns:a16="http://schemas.microsoft.com/office/drawing/2014/main" id="{56A5B022-DE4C-424D-8569-02F133382ED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92" t="23756" r="93282" b="66626"/>
          <a:stretch/>
        </p:blipFill>
        <p:spPr>
          <a:xfrm>
            <a:off x="7149162" y="1772667"/>
            <a:ext cx="656857" cy="512581"/>
          </a:xfrm>
          <a:prstGeom prst="rect">
            <a:avLst/>
          </a:prstGeom>
        </p:spPr>
      </p:pic>
      <p:sp>
        <p:nvSpPr>
          <p:cNvPr id="36" name="文本框 35">
            <a:extLst>
              <a:ext uri="{FF2B5EF4-FFF2-40B4-BE49-F238E27FC236}">
                <a16:creationId xmlns:a16="http://schemas.microsoft.com/office/drawing/2014/main" id="{05C3F3BD-1187-44B4-AE08-87A9B932E908}"/>
              </a:ext>
            </a:extLst>
          </p:cNvPr>
          <p:cNvSpPr txBox="1"/>
          <p:nvPr/>
        </p:nvSpPr>
        <p:spPr>
          <a:xfrm>
            <a:off x="1746518" y="4238878"/>
            <a:ext cx="6281866" cy="425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0">
              <a:lnSpc>
                <a:spcPts val="2800"/>
              </a:lnSpc>
              <a:spcBef>
                <a:spcPts val="0"/>
              </a:spcBef>
              <a:defRPr/>
            </a:pPr>
            <a:r>
              <a:rPr lang="zh-CN" altLang="en-US" sz="1800" b="1" kern="0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句柄</a:t>
            </a:r>
            <a:r>
              <a:rPr lang="en-US" altLang="zh-CN" sz="1800" b="1" kern="0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h,</a:t>
            </a:r>
            <a:r>
              <a:rPr lang="zh-CN" altLang="en-US" sz="1800" b="1" kern="0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坐标区</a:t>
            </a:r>
            <a:r>
              <a:rPr lang="en-US" altLang="zh-CN" sz="1800" b="1" kern="0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ax</a:t>
            </a:r>
            <a:r>
              <a:rPr lang="zh-CN" altLang="en-US" sz="1800" b="1" kern="0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和属性名</a:t>
            </a:r>
            <a:r>
              <a:rPr lang="en-US" altLang="zh-CN" sz="1800" b="1" kern="0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Key</a:t>
            </a:r>
            <a:r>
              <a:rPr lang="zh-CN" altLang="en-US" sz="1800" b="1" kern="0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和属性值</a:t>
            </a:r>
            <a:r>
              <a:rPr lang="en-US" altLang="zh-CN" sz="1800" b="1" kern="0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Value</a:t>
            </a:r>
            <a:r>
              <a:rPr lang="zh-CN" altLang="en-US" sz="1800" b="1" kern="0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可以缺省</a:t>
            </a:r>
            <a:endParaRPr lang="en-US" altLang="zh-CN" sz="1800" b="1" kern="0" dirty="0">
              <a:solidFill>
                <a:srgbClr val="00B0F0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61569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2" grpId="0"/>
      <p:bldP spid="23" grpId="0"/>
      <p:bldP spid="24" grpId="0"/>
      <p:bldP spid="25" grpId="0"/>
      <p:bldP spid="26" grpId="0"/>
      <p:bldP spid="27" grpId="0"/>
      <p:bldP spid="13" grpId="0"/>
      <p:bldP spid="14" grpId="0"/>
      <p:bldP spid="15" grpId="0"/>
      <p:bldP spid="16" grpId="0"/>
      <p:bldP spid="17" grpId="0"/>
      <p:bldP spid="18" grpId="0"/>
      <p:bldP spid="19" grpId="0" animBg="1"/>
      <p:bldP spid="21" grpId="0"/>
      <p:bldP spid="28" grpId="0"/>
      <p:bldP spid="29" grpId="0"/>
      <p:bldP spid="3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3F763E7B-4542-5622-10DF-1102FA6884D8}"/>
              </a:ext>
            </a:extLst>
          </p:cNvPr>
          <p:cNvSpPr txBox="1">
            <a:spLocks/>
          </p:cNvSpPr>
          <p:nvPr/>
        </p:nvSpPr>
        <p:spPr>
          <a:xfrm>
            <a:off x="310690" y="1078316"/>
            <a:ext cx="8686800" cy="3283340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marL="1778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sz="2800" b="1">
                <a:solidFill>
                  <a:srgbClr val="A50021"/>
                </a:solidFill>
                <a:latin typeface="+mn-lt"/>
                <a:ea typeface="+mn-ea"/>
                <a:cs typeface="+mn-cs"/>
              </a:defRPr>
            </a:lvl1pPr>
            <a:lvl2pPr marL="6350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</a:defRPr>
            </a:lvl2pPr>
            <a:lvl3pPr marL="10922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sz="2400" b="1">
                <a:solidFill>
                  <a:srgbClr val="002E5C"/>
                </a:solidFill>
                <a:latin typeface="+mn-lt"/>
              </a:defRPr>
            </a:lvl3pPr>
            <a:lvl4pPr marL="15494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sz="2000" b="1">
                <a:solidFill>
                  <a:srgbClr val="002E5C"/>
                </a:solidFill>
                <a:latin typeface="+mn-lt"/>
              </a:defRPr>
            </a:lvl4pPr>
            <a:lvl5pPr marL="20066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sz="2000" b="1">
                <a:solidFill>
                  <a:srgbClr val="002E5C"/>
                </a:solidFill>
                <a:latin typeface="+mn-lt"/>
              </a:defRPr>
            </a:lvl5pPr>
            <a:lvl6pPr marL="24638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6pPr>
            <a:lvl7pPr marL="29210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7pPr>
            <a:lvl8pPr marL="33782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8pPr>
            <a:lvl9pPr marL="38354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endParaRPr lang="zh-CN" altLang="en-US" sz="1600" kern="0" dirty="0"/>
          </a:p>
        </p:txBody>
      </p:sp>
      <p:sp>
        <p:nvSpPr>
          <p:cNvPr id="9" name="波形 8">
            <a:extLst>
              <a:ext uri="{FF2B5EF4-FFF2-40B4-BE49-F238E27FC236}">
                <a16:creationId xmlns:a16="http://schemas.microsoft.com/office/drawing/2014/main" id="{72E8CCD9-C036-D58C-7382-9B0E0D084362}"/>
              </a:ext>
            </a:extLst>
          </p:cNvPr>
          <p:cNvSpPr/>
          <p:nvPr/>
        </p:nvSpPr>
        <p:spPr>
          <a:xfrm>
            <a:off x="26572" y="439185"/>
            <a:ext cx="403365" cy="508035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68580" tIns="34290" rIns="68580" bIns="3429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b="1" dirty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例1</a:t>
            </a:r>
            <a:endParaRPr lang="ko-KR" altLang="en-US" b="1" dirty="0">
              <a:solidFill>
                <a:srgbClr val="FFFF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031ABDC-7F18-49D6-90FA-E894F5FAAC6E}"/>
              </a:ext>
            </a:extLst>
          </p:cNvPr>
          <p:cNvSpPr txBox="1"/>
          <p:nvPr/>
        </p:nvSpPr>
        <p:spPr>
          <a:xfrm>
            <a:off x="1187624" y="13370"/>
            <a:ext cx="7549327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6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隶书" panose="02010509060101010101" charset="-122"/>
              </a:rPr>
              <a:t>§</a:t>
            </a:r>
            <a:r>
              <a:rPr lang="en-US" altLang="zh-CN" sz="26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3.4 </a:t>
            </a:r>
            <a:r>
              <a:rPr lang="zh-CN" altLang="en-US" sz="26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数据统计分析图</a:t>
            </a:r>
            <a:r>
              <a:rPr lang="en-US" altLang="zh-CN" sz="26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</a:t>
            </a:r>
            <a:r>
              <a:rPr lang="zh-CN" altLang="en-US" sz="26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常见绘图命令案例</a:t>
            </a:r>
            <a:endParaRPr lang="zh-CN" altLang="en-US" sz="26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969CE90-9538-442E-ABC9-9C6CFEB1FB20}"/>
              </a:ext>
            </a:extLst>
          </p:cNvPr>
          <p:cNvSpPr txBox="1"/>
          <p:nvPr/>
        </p:nvSpPr>
        <p:spPr>
          <a:xfrm>
            <a:off x="116550" y="876192"/>
            <a:ext cx="9001948" cy="378565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</a:pP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t=</a:t>
            </a:r>
            <a:r>
              <a:rPr lang="en-US" altLang="zh-CN" dirty="0">
                <a:solidFill>
                  <a:srgbClr val="098658"/>
                </a:solidFill>
                <a:latin typeface="Consolas" panose="020B0609020204030204" pitchFamily="49" charset="0"/>
              </a:rPr>
              <a:t>2008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US" altLang="zh-CN" dirty="0">
                <a:solidFill>
                  <a:srgbClr val="098658"/>
                </a:solidFill>
                <a:latin typeface="Consolas" panose="020B0609020204030204" pitchFamily="49" charset="0"/>
              </a:rPr>
              <a:t>2017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altLang="zh-CN" dirty="0">
                <a:solidFill>
                  <a:srgbClr val="008000"/>
                </a:solidFill>
                <a:latin typeface="Consolas" panose="020B0609020204030204" pitchFamily="49" charset="0"/>
              </a:rPr>
              <a:t>#</a:t>
            </a:r>
            <a:r>
              <a:rPr lang="zh-CN" altLang="en-US" dirty="0">
                <a:solidFill>
                  <a:srgbClr val="008000"/>
                </a:solidFill>
                <a:latin typeface="Consolas" panose="020B0609020204030204" pitchFamily="49" charset="0"/>
              </a:rPr>
              <a:t>生成时间的向量</a:t>
            </a:r>
            <a:endParaRPr lang="zh-CN" alt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</a:pP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g=[</a:t>
            </a:r>
            <a:r>
              <a:rPr lang="en-US" altLang="zh-CN" dirty="0">
                <a:solidFill>
                  <a:srgbClr val="098658"/>
                </a:solidFill>
                <a:latin typeface="Consolas" panose="020B0609020204030204" pitchFamily="49" charset="0"/>
              </a:rPr>
              <a:t>4.598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>
                <a:solidFill>
                  <a:srgbClr val="098658"/>
                </a:solidFill>
                <a:latin typeface="Consolas" panose="020B0609020204030204" pitchFamily="49" charset="0"/>
              </a:rPr>
              <a:t>5.110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>
                <a:solidFill>
                  <a:srgbClr val="098658"/>
                </a:solidFill>
                <a:latin typeface="Consolas" panose="020B0609020204030204" pitchFamily="49" charset="0"/>
              </a:rPr>
              <a:t>6.101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>
                <a:solidFill>
                  <a:srgbClr val="098658"/>
                </a:solidFill>
                <a:latin typeface="Consolas" panose="020B0609020204030204" pitchFamily="49" charset="0"/>
              </a:rPr>
              <a:t>7.573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>
                <a:solidFill>
                  <a:srgbClr val="098658"/>
                </a:solidFill>
                <a:latin typeface="Consolas" panose="020B0609020204030204" pitchFamily="49" charset="0"/>
              </a:rPr>
              <a:t>8.561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>
                <a:solidFill>
                  <a:srgbClr val="098658"/>
                </a:solidFill>
                <a:latin typeface="Consolas" panose="020B0609020204030204" pitchFamily="49" charset="0"/>
              </a:rPr>
              <a:t>9.607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>
                <a:solidFill>
                  <a:srgbClr val="098658"/>
                </a:solidFill>
                <a:latin typeface="Consolas" panose="020B0609020204030204" pitchFamily="49" charset="0"/>
              </a:rPr>
              <a:t>10.482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>
                <a:solidFill>
                  <a:srgbClr val="098658"/>
                </a:solidFill>
                <a:latin typeface="Consolas" panose="020B0609020204030204" pitchFamily="49" charset="0"/>
              </a:rPr>
              <a:t>11.065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>
                <a:solidFill>
                  <a:srgbClr val="098658"/>
                </a:solidFill>
                <a:latin typeface="Consolas" panose="020B0609020204030204" pitchFamily="49" charset="0"/>
              </a:rPr>
              <a:t>11.191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>
                <a:solidFill>
                  <a:srgbClr val="098658"/>
                </a:solidFill>
                <a:latin typeface="Consolas" panose="020B0609020204030204" pitchFamily="49" charset="0"/>
              </a:rPr>
              <a:t>12.238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pPr>
              <a:lnSpc>
                <a:spcPts val="1800"/>
              </a:lnSpc>
            </a:pPr>
            <a:r>
              <a:rPr lang="en-US" altLang="zh-CN" dirty="0">
                <a:solidFill>
                  <a:srgbClr val="795E26"/>
                </a:solidFill>
                <a:latin typeface="Consolas" panose="020B0609020204030204" pitchFamily="49" charset="0"/>
              </a:rPr>
              <a:t>subplot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098658"/>
                </a:solidFill>
                <a:latin typeface="Consolas" panose="020B0609020204030204" pitchFamily="49" charset="0"/>
              </a:rPr>
              <a:t>3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zh-CN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zh-CN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800"/>
              </a:lnSpc>
            </a:pPr>
            <a:r>
              <a:rPr lang="en-US" altLang="zh-CN" dirty="0">
                <a:solidFill>
                  <a:srgbClr val="795E26"/>
                </a:solidFill>
                <a:latin typeface="Consolas" panose="020B0609020204030204" pitchFamily="49" charset="0"/>
              </a:rPr>
              <a:t>scatter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(t, g, 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markerfacecolor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"r"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r>
              <a:rPr lang="en-US" altLang="zh-CN" dirty="0">
                <a:solidFill>
                  <a:srgbClr val="795E26"/>
                </a:solidFill>
                <a:latin typeface="Consolas" panose="020B0609020204030204" pitchFamily="49" charset="0"/>
              </a:rPr>
              <a:t>title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zh-CN" altLang="en-US" dirty="0">
                <a:solidFill>
                  <a:srgbClr val="A31515"/>
                </a:solidFill>
                <a:latin typeface="Consolas" panose="020B0609020204030204" pitchFamily="49" charset="0"/>
              </a:rPr>
              <a:t>散点图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800"/>
              </a:lnSpc>
            </a:pPr>
            <a:r>
              <a:rPr lang="en-US" altLang="zh-CN" dirty="0">
                <a:solidFill>
                  <a:srgbClr val="795E26"/>
                </a:solidFill>
                <a:latin typeface="Consolas" panose="020B0609020204030204" pitchFamily="49" charset="0"/>
              </a:rPr>
              <a:t>subplot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098658"/>
                </a:solidFill>
                <a:latin typeface="Consolas" panose="020B0609020204030204" pitchFamily="49" charset="0"/>
              </a:rPr>
              <a:t>3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zh-CN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zh-CN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800"/>
              </a:lnSpc>
            </a:pPr>
            <a:r>
              <a:rPr lang="en-US" altLang="zh-CN" dirty="0">
                <a:solidFill>
                  <a:srgbClr val="795E26"/>
                </a:solidFill>
                <a:latin typeface="Consolas" panose="020B0609020204030204" pitchFamily="49" charset="0"/>
              </a:rPr>
              <a:t>stem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(t, g, 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markerfacecolor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"b"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r>
              <a:rPr lang="en-US" altLang="zh-CN" dirty="0">
                <a:solidFill>
                  <a:srgbClr val="795E26"/>
                </a:solidFill>
                <a:latin typeface="Consolas" panose="020B0609020204030204" pitchFamily="49" charset="0"/>
              </a:rPr>
              <a:t>title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zh-CN" altLang="en-US" dirty="0">
                <a:solidFill>
                  <a:srgbClr val="A31515"/>
                </a:solidFill>
                <a:latin typeface="Consolas" panose="020B0609020204030204" pitchFamily="49" charset="0"/>
              </a:rPr>
              <a:t>杆图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800"/>
              </a:lnSpc>
            </a:pPr>
            <a:r>
              <a:rPr lang="en-US" altLang="zh-CN" dirty="0">
                <a:solidFill>
                  <a:srgbClr val="795E26"/>
                </a:solidFill>
                <a:latin typeface="Consolas" panose="020B0609020204030204" pitchFamily="49" charset="0"/>
              </a:rPr>
              <a:t>subplot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098658"/>
                </a:solidFill>
                <a:latin typeface="Consolas" panose="020B0609020204030204" pitchFamily="49" charset="0"/>
              </a:rPr>
              <a:t>3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zh-CN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zh-CN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US" altLang="zh-CN" dirty="0">
                <a:solidFill>
                  <a:srgbClr val="008000"/>
                </a:solidFill>
                <a:latin typeface="Consolas" panose="020B0609020204030204" pitchFamily="49" charset="0"/>
              </a:rPr>
              <a:t>#</a:t>
            </a:r>
            <a:r>
              <a:rPr lang="zh-CN" altLang="en-US" dirty="0">
                <a:solidFill>
                  <a:srgbClr val="008000"/>
                </a:solidFill>
                <a:latin typeface="Consolas" panose="020B0609020204030204" pitchFamily="49" charset="0"/>
              </a:rPr>
              <a:t>在第</a:t>
            </a:r>
            <a:r>
              <a:rPr lang="en-US" altLang="zh-CN" dirty="0">
                <a:solidFill>
                  <a:srgbClr val="008000"/>
                </a:solidFill>
                <a:latin typeface="Consolas" panose="020B0609020204030204" pitchFamily="49" charset="0"/>
              </a:rPr>
              <a:t>2</a:t>
            </a:r>
            <a:r>
              <a:rPr lang="zh-CN" altLang="en-US" dirty="0">
                <a:solidFill>
                  <a:srgbClr val="008000"/>
                </a:solidFill>
                <a:latin typeface="Consolas" panose="020B0609020204030204" pitchFamily="49" charset="0"/>
              </a:rPr>
              <a:t>行</a:t>
            </a:r>
            <a:r>
              <a:rPr lang="en-US" altLang="zh-CN" dirty="0">
                <a:solidFill>
                  <a:srgbClr val="008000"/>
                </a:solidFill>
                <a:latin typeface="Consolas" panose="020B0609020204030204" pitchFamily="49" charset="0"/>
              </a:rPr>
              <a:t>1</a:t>
            </a:r>
            <a:r>
              <a:rPr lang="zh-CN" altLang="en-US" dirty="0">
                <a:solidFill>
                  <a:srgbClr val="008000"/>
                </a:solidFill>
                <a:latin typeface="Consolas" panose="020B0609020204030204" pitchFamily="49" charset="0"/>
              </a:rPr>
              <a:t>整列画一图（占</a:t>
            </a:r>
            <a:r>
              <a:rPr lang="en-US" altLang="zh-CN" dirty="0">
                <a:solidFill>
                  <a:srgbClr val="008000"/>
                </a:solidFill>
                <a:latin typeface="Consolas" panose="020B0609020204030204" pitchFamily="49" charset="0"/>
              </a:rPr>
              <a:t>2</a:t>
            </a:r>
            <a:r>
              <a:rPr lang="zh-CN" altLang="en-US" dirty="0">
                <a:solidFill>
                  <a:srgbClr val="008000"/>
                </a:solidFill>
                <a:latin typeface="Consolas" panose="020B0609020204030204" pitchFamily="49" charset="0"/>
              </a:rPr>
              <a:t>个位置）</a:t>
            </a:r>
            <a:endParaRPr lang="zh-CN" alt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</a:pPr>
            <a:r>
              <a:rPr lang="en-US" altLang="zh-CN" dirty="0">
                <a:solidFill>
                  <a:srgbClr val="795E26"/>
                </a:solidFill>
                <a:latin typeface="Consolas" panose="020B0609020204030204" pitchFamily="49" charset="0"/>
              </a:rPr>
              <a:t>plot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(t, g, 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"-*c"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800"/>
              </a:lnSpc>
            </a:pPr>
            <a:r>
              <a:rPr lang="en-US" altLang="zh-CN" dirty="0">
                <a:solidFill>
                  <a:srgbClr val="795E26"/>
                </a:solidFill>
                <a:latin typeface="Consolas" panose="020B0609020204030204" pitchFamily="49" charset="0"/>
              </a:rPr>
              <a:t>hold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"on"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r>
              <a:rPr lang="en-US" altLang="zh-CN" dirty="0">
                <a:solidFill>
                  <a:srgbClr val="008000"/>
                </a:solidFill>
                <a:latin typeface="Consolas" panose="020B0609020204030204" pitchFamily="49" charset="0"/>
              </a:rPr>
              <a:t>#</a:t>
            </a:r>
            <a:r>
              <a:rPr lang="zh-CN" altLang="en-US" dirty="0">
                <a:solidFill>
                  <a:srgbClr val="008000"/>
                </a:solidFill>
                <a:latin typeface="Consolas" panose="020B0609020204030204" pitchFamily="49" charset="0"/>
              </a:rPr>
              <a:t>叠加图</a:t>
            </a:r>
            <a:endParaRPr lang="zh-CN" alt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</a:pPr>
            <a:r>
              <a:rPr lang="en-US" altLang="zh-CN" dirty="0">
                <a:solidFill>
                  <a:srgbClr val="795E26"/>
                </a:solidFill>
                <a:latin typeface="Consolas" panose="020B0609020204030204" pitchFamily="49" charset="0"/>
              </a:rPr>
              <a:t>stairs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(t, g, color=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"r"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800"/>
              </a:lnSpc>
            </a:pPr>
            <a:r>
              <a:rPr lang="en-US" altLang="zh-CN" dirty="0" err="1">
                <a:solidFill>
                  <a:srgbClr val="795E26"/>
                </a:solidFill>
                <a:latin typeface="Consolas" panose="020B0609020204030204" pitchFamily="49" charset="0"/>
              </a:rPr>
              <a:t>xlabel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zh-CN" altLang="en-US" dirty="0">
                <a:solidFill>
                  <a:srgbClr val="A31515"/>
                </a:solidFill>
                <a:latin typeface="Consolas" panose="020B0609020204030204" pitchFamily="49" charset="0"/>
              </a:rPr>
              <a:t>时间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,</a:t>
            </a:r>
            <a:r>
              <a:rPr lang="zh-CN" altLang="en-US" dirty="0">
                <a:solidFill>
                  <a:srgbClr val="A31515"/>
                </a:solidFill>
                <a:latin typeface="Consolas" panose="020B0609020204030204" pitchFamily="49" charset="0"/>
              </a:rPr>
              <a:t>年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en-US" altLang="zh-CN" dirty="0" err="1">
                <a:solidFill>
                  <a:srgbClr val="795E26"/>
                </a:solidFill>
                <a:latin typeface="Consolas" panose="020B0609020204030204" pitchFamily="49" charset="0"/>
              </a:rPr>
              <a:t>ylabel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"GDP,</a:t>
            </a:r>
            <a:r>
              <a:rPr lang="zh-CN" altLang="en-US" dirty="0">
                <a:solidFill>
                  <a:srgbClr val="A31515"/>
                </a:solidFill>
                <a:latin typeface="Consolas" panose="020B0609020204030204" pitchFamily="49" charset="0"/>
              </a:rPr>
              <a:t>亿元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800"/>
              </a:lnSpc>
            </a:pPr>
            <a:r>
              <a:rPr lang="en-US" altLang="zh-CN" dirty="0">
                <a:solidFill>
                  <a:srgbClr val="795E26"/>
                </a:solidFill>
                <a:latin typeface="Consolas" panose="020B0609020204030204" pitchFamily="49" charset="0"/>
              </a:rPr>
              <a:t>subplot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098658"/>
                </a:solidFill>
                <a:latin typeface="Consolas" panose="020B0609020204030204" pitchFamily="49" charset="0"/>
              </a:rPr>
              <a:t>3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zh-CN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zh-CN" dirty="0">
                <a:solidFill>
                  <a:srgbClr val="098658"/>
                </a:solidFill>
                <a:latin typeface="Consolas" panose="020B0609020204030204" pitchFamily="49" charset="0"/>
              </a:rPr>
              <a:t>5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800"/>
              </a:lnSpc>
            </a:pPr>
            <a:r>
              <a:rPr lang="en-US" altLang="zh-CN" dirty="0">
                <a:solidFill>
                  <a:srgbClr val="795E26"/>
                </a:solidFill>
                <a:latin typeface="Consolas" panose="020B0609020204030204" pitchFamily="49" charset="0"/>
              </a:rPr>
              <a:t>area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(t, g, color=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"g"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r>
              <a:rPr lang="en-US" altLang="zh-CN" dirty="0">
                <a:solidFill>
                  <a:srgbClr val="795E26"/>
                </a:solidFill>
                <a:latin typeface="Consolas" panose="020B0609020204030204" pitchFamily="49" charset="0"/>
              </a:rPr>
              <a:t>title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zh-CN" altLang="en-US" dirty="0">
                <a:solidFill>
                  <a:srgbClr val="A31515"/>
                </a:solidFill>
                <a:latin typeface="Consolas" panose="020B0609020204030204" pitchFamily="49" charset="0"/>
              </a:rPr>
              <a:t>面积图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800"/>
              </a:lnSpc>
            </a:pPr>
            <a:r>
              <a:rPr lang="en-US" altLang="zh-CN" dirty="0">
                <a:solidFill>
                  <a:srgbClr val="795E26"/>
                </a:solidFill>
                <a:latin typeface="Consolas" panose="020B0609020204030204" pitchFamily="49" charset="0"/>
              </a:rPr>
              <a:t>subplot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098658"/>
                </a:solidFill>
                <a:latin typeface="Consolas" panose="020B0609020204030204" pitchFamily="49" charset="0"/>
              </a:rPr>
              <a:t>3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zh-CN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zh-CN" dirty="0">
                <a:solidFill>
                  <a:srgbClr val="098658"/>
                </a:solidFill>
                <a:latin typeface="Consolas" panose="020B0609020204030204" pitchFamily="49" charset="0"/>
              </a:rPr>
              <a:t>6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800"/>
              </a:lnSpc>
            </a:pPr>
            <a:r>
              <a:rPr lang="en-US" altLang="zh-CN" b="1" dirty="0">
                <a:solidFill>
                  <a:srgbClr val="0070C0"/>
                </a:solidFill>
                <a:latin typeface="Consolas" panose="020B0609020204030204" pitchFamily="49" charset="0"/>
              </a:rPr>
              <a:t>bar(t, g, color="y");title("</a:t>
            </a:r>
            <a:r>
              <a:rPr lang="zh-CN" altLang="en-US" b="1" dirty="0">
                <a:solidFill>
                  <a:srgbClr val="0070C0"/>
                </a:solidFill>
                <a:latin typeface="Consolas" panose="020B0609020204030204" pitchFamily="49" charset="0"/>
              </a:rPr>
              <a:t>条形图</a:t>
            </a:r>
            <a:r>
              <a:rPr lang="en-US" altLang="zh-CN" b="1" dirty="0">
                <a:solidFill>
                  <a:srgbClr val="0070C0"/>
                </a:solidFill>
                <a:latin typeface="Consolas" panose="020B0609020204030204" pitchFamily="49" charset="0"/>
              </a:rPr>
              <a:t>");</a:t>
            </a:r>
          </a:p>
          <a:p>
            <a:pPr>
              <a:lnSpc>
                <a:spcPts val="1800"/>
              </a:lnSpc>
            </a:pPr>
            <a:r>
              <a:rPr lang="en-US" altLang="zh-CN" dirty="0" err="1">
                <a:solidFill>
                  <a:srgbClr val="795E26"/>
                </a:solidFill>
                <a:latin typeface="Consolas" panose="020B0609020204030204" pitchFamily="49" charset="0"/>
              </a:rPr>
              <a:t>tightlayout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(); </a:t>
            </a:r>
            <a:r>
              <a:rPr lang="en-US" altLang="zh-CN" dirty="0">
                <a:solidFill>
                  <a:srgbClr val="008000"/>
                </a:solidFill>
                <a:latin typeface="Consolas" panose="020B0609020204030204" pitchFamily="49" charset="0"/>
              </a:rPr>
              <a:t>#</a:t>
            </a:r>
            <a:r>
              <a:rPr lang="zh-CN" altLang="en-US" dirty="0">
                <a:solidFill>
                  <a:srgbClr val="008000"/>
                </a:solidFill>
                <a:latin typeface="Consolas" panose="020B0609020204030204" pitchFamily="49" charset="0"/>
              </a:rPr>
              <a:t>紧凑布局防止题目和曲线重叠</a:t>
            </a:r>
            <a:endParaRPr lang="zh-CN" alt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pic>
        <p:nvPicPr>
          <p:cNvPr id="2" name="Picture 2" descr="http://5b0988e595225.cdn.sohucs.com/images/20180712/9a46cefa7315405f9cf3cfe9876de54c.png">
            <a:extLst>
              <a:ext uri="{FF2B5EF4-FFF2-40B4-BE49-F238E27FC236}">
                <a16:creationId xmlns:a16="http://schemas.microsoft.com/office/drawing/2014/main" id="{DD453163-17AE-E1D4-0783-7FE7D457514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302" t="10027" r="27076"/>
          <a:stretch/>
        </p:blipFill>
        <p:spPr bwMode="auto">
          <a:xfrm>
            <a:off x="7385103" y="1739354"/>
            <a:ext cx="1749161" cy="28079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http://5b0988e595225.cdn.sohucs.com/images/20180712/9a46cefa7315405f9cf3cfe9876de54c.png">
            <a:extLst>
              <a:ext uri="{FF2B5EF4-FFF2-40B4-BE49-F238E27FC236}">
                <a16:creationId xmlns:a16="http://schemas.microsoft.com/office/drawing/2014/main" id="{DA954F06-FB1E-B521-3F8E-1FA603FFDA9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027" r="88200"/>
          <a:stretch/>
        </p:blipFill>
        <p:spPr bwMode="auto">
          <a:xfrm>
            <a:off x="6451868" y="1750487"/>
            <a:ext cx="966278" cy="28079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55B1F774-5683-D654-DAF8-BDA2526E1322}"/>
              </a:ext>
            </a:extLst>
          </p:cNvPr>
          <p:cNvSpPr/>
          <p:nvPr/>
        </p:nvSpPr>
        <p:spPr>
          <a:xfrm>
            <a:off x="494779" y="545292"/>
            <a:ext cx="8582812" cy="3231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dist"/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绘制</a:t>
            </a:r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2008</a:t>
            </a: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-2017</a:t>
            </a: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年中国</a:t>
            </a:r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GDP</a:t>
            </a: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的散点图、折线图、面积图、条形图、杆图和阶梯图</a:t>
            </a:r>
            <a:endParaRPr lang="en-US" altLang="zh-CN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0542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731B540-BF88-452A-9218-889CD878EF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36657"/>
            <a:ext cx="9144000" cy="3597447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3B7CFA15-47D4-4CFC-8192-4E0FDA7B1757}"/>
              </a:ext>
            </a:extLst>
          </p:cNvPr>
          <p:cNvSpPr txBox="1"/>
          <p:nvPr/>
        </p:nvSpPr>
        <p:spPr>
          <a:xfrm>
            <a:off x="1115616" y="113767"/>
            <a:ext cx="75493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隶书" panose="02010509060101010101" charset="-122"/>
              </a:rPr>
              <a:t>§</a:t>
            </a:r>
            <a:r>
              <a:rPr lang="en-US" altLang="zh-CN" sz="28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3.4 </a:t>
            </a:r>
            <a:r>
              <a:rPr lang="zh-CN" altLang="en-US" sz="28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数据统计分析图</a:t>
            </a:r>
            <a:r>
              <a:rPr lang="en-US" altLang="zh-CN" sz="28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</a:t>
            </a:r>
            <a:r>
              <a:rPr lang="zh-CN" altLang="en-US" sz="28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常见绘图命令案例</a:t>
            </a:r>
            <a:endParaRPr lang="zh-CN" altLang="en-US" sz="28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EC8F903-0D4C-41A8-9A90-BD9D6252115D}"/>
              </a:ext>
            </a:extLst>
          </p:cNvPr>
          <p:cNvSpPr txBox="1"/>
          <p:nvPr/>
        </p:nvSpPr>
        <p:spPr>
          <a:xfrm>
            <a:off x="7390948" y="3363021"/>
            <a:ext cx="12739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0" i="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条形序列</a:t>
            </a:r>
            <a:endParaRPr lang="zh-CN" altLang="en-US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D34A3A2-BFA7-4253-A5B8-2BAD9FADE084}"/>
              </a:ext>
            </a:extLst>
          </p:cNvPr>
          <p:cNvSpPr/>
          <p:nvPr/>
        </p:nvSpPr>
        <p:spPr>
          <a:xfrm>
            <a:off x="444638" y="693203"/>
            <a:ext cx="8582812" cy="33855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dist"/>
            <a:r>
              <a:rPr lang="zh-CN" altLang="en-US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绘制</a:t>
            </a:r>
            <a:r>
              <a:rPr lang="en-US" altLang="zh-CN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2008</a:t>
            </a:r>
            <a:r>
              <a:rPr lang="zh-CN" altLang="en-US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-2017</a:t>
            </a:r>
            <a:r>
              <a:rPr lang="zh-CN" altLang="en-US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年中国</a:t>
            </a:r>
            <a:r>
              <a:rPr lang="en-US" altLang="zh-CN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GDP</a:t>
            </a:r>
            <a:r>
              <a:rPr lang="zh-CN" altLang="en-US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散点图、折线图、面积图、条形图、杆图和阶梯图</a:t>
            </a:r>
            <a:endParaRPr lang="en-US" altLang="zh-CN" sz="16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9" name="波形 8">
            <a:extLst>
              <a:ext uri="{FF2B5EF4-FFF2-40B4-BE49-F238E27FC236}">
                <a16:creationId xmlns:a16="http://schemas.microsoft.com/office/drawing/2014/main" id="{604BAFA9-3F3D-442F-B459-93BCBCC7F32B}"/>
              </a:ext>
            </a:extLst>
          </p:cNvPr>
          <p:cNvSpPr/>
          <p:nvPr/>
        </p:nvSpPr>
        <p:spPr>
          <a:xfrm>
            <a:off x="41273" y="688303"/>
            <a:ext cx="437784" cy="338554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68580" tIns="34290" rIns="68580" bIns="3429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b="1" dirty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例1</a:t>
            </a:r>
            <a:endParaRPr lang="ko-KR" altLang="en-US" b="1" dirty="0">
              <a:solidFill>
                <a:srgbClr val="FFFF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68278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FD6E2F76-E7AC-47E2-95B3-7D60DEF68A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F373214-09F4-40DF-AD2D-360FAA9FB604}"/>
              </a:ext>
            </a:extLst>
          </p:cNvPr>
          <p:cNvSpPr txBox="1"/>
          <p:nvPr/>
        </p:nvSpPr>
        <p:spPr>
          <a:xfrm>
            <a:off x="919195" y="101069"/>
            <a:ext cx="8285234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6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隶书" panose="02010509060101010101" charset="-122"/>
              </a:rPr>
              <a:t>§</a:t>
            </a:r>
            <a:r>
              <a:rPr lang="en-US" altLang="zh-CN" sz="26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3.4 </a:t>
            </a:r>
            <a:r>
              <a:rPr lang="zh-CN" altLang="en-US" sz="26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数据统计分析图</a:t>
            </a:r>
            <a:r>
              <a:rPr lang="en-US" altLang="zh-CN" sz="26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——bar</a:t>
            </a:r>
            <a:r>
              <a:rPr lang="zh-CN" altLang="en-US" sz="26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绘制</a:t>
            </a:r>
            <a:r>
              <a:rPr lang="en-US" altLang="zh-CN" sz="26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y</a:t>
            </a:r>
            <a:r>
              <a:rPr lang="zh-CN" altLang="en-US" sz="26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为向量的条形图 </a:t>
            </a:r>
            <a:endParaRPr lang="zh-CN" altLang="en-US" sz="26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A0B17CA-ABCA-B64B-9DB1-628BEE940D19}"/>
              </a:ext>
            </a:extLst>
          </p:cNvPr>
          <p:cNvSpPr/>
          <p:nvPr/>
        </p:nvSpPr>
        <p:spPr>
          <a:xfrm>
            <a:off x="107504" y="1171872"/>
            <a:ext cx="5751111" cy="2598019"/>
          </a:xfrm>
          <a:prstGeom prst="rect">
            <a:avLst/>
          </a:prstGeom>
          <a:ln>
            <a:noFill/>
            <a:prstDash val="sysDash"/>
          </a:ln>
        </p:spPr>
        <p:txBody>
          <a:bodyPr wrap="square">
            <a:spAutoFit/>
          </a:bodyPr>
          <a:lstStyle/>
          <a:p>
            <a:pPr marL="396000" lvl="0" indent="-457200" defTabSz="0">
              <a:lnSpc>
                <a:spcPts val="4000"/>
              </a:lnSpc>
              <a:spcBef>
                <a:spcPts val="0"/>
              </a:spcBef>
              <a:buFont typeface="+mj-ea"/>
              <a:buAutoNum type="circleNumDbPlain"/>
            </a:pPr>
            <a:r>
              <a:rPr lang="zh-CN" altLang="en-US" sz="2000" kern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相同长度的向量</a:t>
            </a:r>
            <a:r>
              <a:rPr lang="en-US" altLang="zh-CN" sz="2000" kern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x</a:t>
            </a:r>
            <a:r>
              <a:rPr lang="zh-CN" altLang="en-US" sz="2000" kern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和</a:t>
            </a:r>
            <a:r>
              <a:rPr lang="en-US" altLang="zh-CN" sz="2000" kern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y</a:t>
            </a:r>
            <a:r>
              <a:rPr lang="zh-CN" altLang="en-US" sz="2000" kern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分别为</a:t>
            </a:r>
            <a:r>
              <a:rPr lang="en-US" altLang="zh-CN" sz="2000" kern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x</a:t>
            </a:r>
            <a:r>
              <a:rPr lang="zh-CN" altLang="en-US" sz="2000" kern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和</a:t>
            </a:r>
            <a:r>
              <a:rPr lang="en-US" altLang="zh-CN" sz="2000" kern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y</a:t>
            </a:r>
            <a:r>
              <a:rPr lang="zh-CN" altLang="en-US" sz="2000" kern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轴数据 </a:t>
            </a:r>
            <a:endParaRPr lang="en-US" altLang="zh-CN" sz="2000" kern="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marL="396000" lvl="0" indent="-457200" defTabSz="0">
              <a:lnSpc>
                <a:spcPts val="4000"/>
              </a:lnSpc>
              <a:spcBef>
                <a:spcPts val="0"/>
              </a:spcBef>
              <a:buFont typeface="+mj-ea"/>
              <a:buAutoNum type="circleNumDbPlain"/>
            </a:pPr>
            <a:r>
              <a:rPr lang="zh-CN" altLang="en-US" sz="2000" kern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在每个</a:t>
            </a:r>
            <a:r>
              <a:rPr lang="en-US" altLang="zh-CN" sz="2000" kern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x</a:t>
            </a:r>
            <a:r>
              <a:rPr lang="zh-CN" altLang="en-US" sz="2000" kern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指定位置绘制相应高度为</a:t>
            </a:r>
            <a:r>
              <a:rPr lang="en-US" altLang="zh-CN" sz="2000" kern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y</a:t>
            </a:r>
            <a:r>
              <a:rPr lang="zh-CN" altLang="en-US" sz="2000" kern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的</a:t>
            </a:r>
            <a:r>
              <a:rPr lang="zh-CN" altLang="en-US" sz="20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条形</a:t>
            </a:r>
            <a:endParaRPr lang="en-US" altLang="zh-CN" sz="2000" kern="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marL="396000" indent="-457200" defTabSz="0">
              <a:lnSpc>
                <a:spcPts val="4000"/>
              </a:lnSpc>
              <a:spcBef>
                <a:spcPts val="0"/>
              </a:spcBef>
              <a:buFont typeface="+mj-ea"/>
              <a:buAutoNum type="circleNumDbPlain"/>
            </a:pPr>
            <a:r>
              <a:rPr lang="zh-CN" altLang="en-US" sz="2000" kern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句柄</a:t>
            </a:r>
            <a:r>
              <a:rPr lang="en-US" altLang="zh-CN" sz="2000" kern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h</a:t>
            </a:r>
            <a:r>
              <a:rPr lang="zh-CN" altLang="en-US" sz="2000" kern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、坐标区</a:t>
            </a:r>
            <a:r>
              <a:rPr lang="en-US" altLang="zh-CN" sz="2000" kern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ax</a:t>
            </a:r>
            <a:r>
              <a:rPr lang="zh-CN" altLang="en-US" sz="2000" kern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和属性对组参数 </a:t>
            </a:r>
            <a:r>
              <a:rPr lang="en-US" altLang="zh-CN" sz="2000" kern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key=value</a:t>
            </a:r>
            <a:r>
              <a:rPr lang="zh-CN" altLang="en-US" sz="2000" kern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与</a:t>
            </a:r>
            <a:r>
              <a:rPr lang="en-US" altLang="zh-CN" sz="2000" kern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plot</a:t>
            </a:r>
            <a:r>
              <a:rPr lang="zh-CN" altLang="en-US" sz="2000" kern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操作相似，可省略</a:t>
            </a:r>
            <a:endParaRPr lang="en-US" altLang="zh-CN" sz="2000" kern="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marL="396000" indent="-457200" defTabSz="0">
              <a:lnSpc>
                <a:spcPts val="4000"/>
              </a:lnSpc>
              <a:spcBef>
                <a:spcPts val="0"/>
              </a:spcBef>
              <a:buFont typeface="+mj-ea"/>
              <a:buAutoNum type="circleNumDbPlain"/>
            </a:pPr>
            <a:r>
              <a:rPr lang="zh-CN" altLang="en-US" sz="2000" kern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主要属性</a:t>
            </a:r>
            <a:r>
              <a:rPr lang="zh-CN" altLang="en-US" sz="2000" kern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对组参数</a:t>
            </a:r>
            <a:r>
              <a:rPr lang="en-US" altLang="zh-CN" sz="2000" kern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key=value</a:t>
            </a:r>
            <a:r>
              <a:rPr lang="zh-CN" altLang="en-US" sz="2000" kern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2200" kern="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Arial" panose="020B0604020202020204" pitchFamily="34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FB177C6-A266-9AAF-D9B7-0A2997F5378B}"/>
              </a:ext>
            </a:extLst>
          </p:cNvPr>
          <p:cNvSpPr/>
          <p:nvPr/>
        </p:nvSpPr>
        <p:spPr>
          <a:xfrm>
            <a:off x="4427984" y="769516"/>
            <a:ext cx="4631590" cy="400110"/>
          </a:xfrm>
          <a:prstGeom prst="rect">
            <a:avLst/>
          </a:prstGeom>
          <a:noFill/>
          <a:ln w="38100"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>
            <a:spAutoFit/>
          </a:bodyPr>
          <a:lstStyle/>
          <a:p>
            <a:pPr algn="dist"/>
            <a:r>
              <a:rPr lang="zh-CN" altLang="en-US" sz="2000" b="1" dirty="0">
                <a:solidFill>
                  <a:srgbClr val="FFFF00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句柄</a:t>
            </a:r>
            <a:r>
              <a:rPr lang="en-US" altLang="zh-CN" sz="2000" b="1" dirty="0">
                <a:solidFill>
                  <a:srgbClr val="FFFF00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h</a:t>
            </a:r>
            <a:r>
              <a:rPr lang="en-US" altLang="zh-CN" sz="2000" b="1" dirty="0">
                <a:solidFill>
                  <a:schemeClr val="bg1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=</a:t>
            </a:r>
            <a:r>
              <a:rPr lang="en-US" altLang="zh-CN" sz="2000" b="1" dirty="0">
                <a:solidFill>
                  <a:schemeClr val="bg1"/>
                </a:solidFill>
                <a:highlight>
                  <a:srgbClr val="FF0000"/>
                </a:highlight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bar</a:t>
            </a:r>
            <a:r>
              <a:rPr lang="en-US" altLang="zh-CN" sz="2000" b="1" dirty="0">
                <a:solidFill>
                  <a:schemeClr val="bg1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(</a:t>
            </a:r>
            <a:r>
              <a:rPr lang="zh-CN" altLang="en-US" sz="2000" b="1" dirty="0">
                <a:solidFill>
                  <a:srgbClr val="FFFF00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坐标区</a:t>
            </a:r>
            <a:r>
              <a:rPr lang="en-US" altLang="zh-CN" sz="2000" b="1" dirty="0" err="1">
                <a:solidFill>
                  <a:srgbClr val="FFFF00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ax,</a:t>
            </a:r>
            <a:r>
              <a:rPr lang="en-US" altLang="zh-CN" sz="2000" b="1" dirty="0" err="1">
                <a:solidFill>
                  <a:schemeClr val="bg1"/>
                </a:solidFill>
                <a:highlight>
                  <a:srgbClr val="FF0000"/>
                </a:highlight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x,y</a:t>
            </a:r>
            <a:r>
              <a:rPr lang="en-US" altLang="zh-CN" sz="2000" b="1" dirty="0" err="1">
                <a:solidFill>
                  <a:schemeClr val="bg1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,</a:t>
            </a:r>
            <a:r>
              <a:rPr lang="en-US" altLang="zh-CN" sz="2000" b="1" dirty="0" err="1">
                <a:solidFill>
                  <a:srgbClr val="FFFF00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key</a:t>
            </a:r>
            <a:r>
              <a:rPr lang="en-US" altLang="zh-CN" sz="2000" b="1" dirty="0">
                <a:solidFill>
                  <a:srgbClr val="FFFF00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=value</a:t>
            </a:r>
            <a:r>
              <a:rPr lang="en-US" altLang="zh-CN" sz="2000" b="1" dirty="0">
                <a:solidFill>
                  <a:schemeClr val="bg1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)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57C67465-F752-4459-1BC1-17C2DC47F90C}"/>
              </a:ext>
            </a:extLst>
          </p:cNvPr>
          <p:cNvSpPr txBox="1"/>
          <p:nvPr/>
        </p:nvSpPr>
        <p:spPr>
          <a:xfrm>
            <a:off x="65" y="3735233"/>
            <a:ext cx="9036431" cy="865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ts val="3200"/>
              </a:lnSpc>
              <a:buFont typeface="Wingdings" panose="05000000000000000000" pitchFamily="2" charset="2"/>
              <a:buChar char="u"/>
            </a:pPr>
            <a:r>
              <a:rPr lang="zh-CN" altLang="en-US" sz="1900" b="1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标注文本：</a:t>
            </a:r>
            <a:r>
              <a:rPr lang="zh-CN" altLang="zh-CN" sz="1900" b="1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text = </a:t>
            </a:r>
            <a:r>
              <a:rPr lang="en-US" altLang="zh-CN" sz="1900" b="1" kern="0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yval</a:t>
            </a:r>
            <a:r>
              <a:rPr lang="zh-CN" altLang="en-US" sz="1900" b="1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，条形序列顶端上方显示</a:t>
            </a:r>
            <a:r>
              <a:rPr lang="en-US" altLang="zh-CN" sz="1900" b="1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zh-CN" altLang="en-US" sz="1900" b="1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值</a:t>
            </a:r>
            <a:r>
              <a:rPr lang="en-US" altLang="zh-CN" sz="1900" b="1" kern="0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yval</a:t>
            </a:r>
            <a:endParaRPr lang="en-US" altLang="zh-CN" sz="1900" b="1" kern="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ts val="3200"/>
              </a:lnSpc>
              <a:buFont typeface="Wingdings" panose="05000000000000000000" pitchFamily="2" charset="2"/>
              <a:buChar char="u"/>
            </a:pPr>
            <a:r>
              <a:rPr lang="zh-CN" altLang="en-US" sz="1900" b="1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条形宽度：</a:t>
            </a:r>
            <a:r>
              <a:rPr lang="en-US" altLang="zh-CN" sz="1900" b="1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width=value,</a:t>
            </a:r>
            <a:r>
              <a:rPr lang="zh-CN" altLang="en-US" sz="1900" b="1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条形宽度占条形和空白空间之和的百分比，默认</a:t>
            </a:r>
            <a:r>
              <a:rPr lang="en-US" altLang="zh-CN" sz="1900" b="1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0.8</a:t>
            </a: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F3A1A2E1-31EC-4CB8-8231-04314D77CC3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972" t="13600" r="5972" b="6601"/>
          <a:stretch/>
        </p:blipFill>
        <p:spPr>
          <a:xfrm>
            <a:off x="5751176" y="1310710"/>
            <a:ext cx="3213312" cy="198112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2F5A03CA-0398-47D4-8241-7663E5939BD7}"/>
              </a:ext>
            </a:extLst>
          </p:cNvPr>
          <p:cNvSpPr txBox="1"/>
          <p:nvPr/>
        </p:nvSpPr>
        <p:spPr>
          <a:xfrm>
            <a:off x="84427" y="785906"/>
            <a:ext cx="2039301" cy="4001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条形图调用格式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68E9CA6-5965-47E5-BDA6-FB7EF6203CB3}"/>
              </a:ext>
            </a:extLst>
          </p:cNvPr>
          <p:cNvSpPr/>
          <p:nvPr/>
        </p:nvSpPr>
        <p:spPr>
          <a:xfrm>
            <a:off x="4067770" y="776855"/>
            <a:ext cx="568253" cy="430887"/>
          </a:xfrm>
          <a:prstGeom prst="rect">
            <a:avLst/>
          </a:prstGeom>
          <a:noFill/>
          <a:ln w="38100"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>
            <a:spAutoFit/>
          </a:bodyPr>
          <a:lstStyle/>
          <a:p>
            <a:pPr algn="dist"/>
            <a:r>
              <a:rPr lang="zh-CN" altLang="en-US" sz="22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或</a:t>
            </a:r>
            <a:endParaRPr lang="en-US" altLang="zh-CN" sz="22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1F3F86A-D69B-49FA-B8E2-71AED3FECDFB}"/>
              </a:ext>
            </a:extLst>
          </p:cNvPr>
          <p:cNvSpPr/>
          <p:nvPr/>
        </p:nvSpPr>
        <p:spPr>
          <a:xfrm>
            <a:off x="1996994" y="765059"/>
            <a:ext cx="2218871" cy="430887"/>
          </a:xfrm>
          <a:prstGeom prst="rect">
            <a:avLst/>
          </a:prstGeom>
          <a:noFill/>
          <a:ln w="38100"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>
            <a:spAutoFit/>
          </a:bodyPr>
          <a:lstStyle/>
          <a:p>
            <a:pPr algn="dist"/>
            <a:r>
              <a:rPr lang="en-US" altLang="zh-CN" sz="2200" b="1" dirty="0">
                <a:solidFill>
                  <a:schemeClr val="bg1"/>
                </a:solidFill>
                <a:highlight>
                  <a:srgbClr val="FF0000"/>
                </a:highlight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bar(</a:t>
            </a:r>
            <a:r>
              <a:rPr lang="en-US" altLang="zh-CN" sz="2200" b="1" dirty="0" err="1">
                <a:solidFill>
                  <a:schemeClr val="bg1"/>
                </a:solidFill>
                <a:highlight>
                  <a:srgbClr val="FF0000"/>
                </a:highlight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x,y</a:t>
            </a:r>
            <a:r>
              <a:rPr lang="en-US" altLang="zh-CN" sz="2200" b="1" dirty="0" err="1">
                <a:solidFill>
                  <a:schemeClr val="bg1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,</a:t>
            </a:r>
            <a:r>
              <a:rPr lang="en-US" altLang="zh-CN" sz="2200" b="1" dirty="0" err="1">
                <a:solidFill>
                  <a:srgbClr val="FFFF00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key</a:t>
            </a:r>
            <a:r>
              <a:rPr lang="en-US" altLang="zh-CN" sz="2200" b="1" dirty="0">
                <a:solidFill>
                  <a:srgbClr val="FFFF00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=value</a:t>
            </a:r>
            <a:r>
              <a:rPr lang="en-US" altLang="zh-CN" sz="2200" b="1" dirty="0">
                <a:solidFill>
                  <a:schemeClr val="bg1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)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714196D-A78B-4EA2-A0A8-7DC742F627B4}"/>
              </a:ext>
            </a:extLst>
          </p:cNvPr>
          <p:cNvSpPr/>
          <p:nvPr/>
        </p:nvSpPr>
        <p:spPr>
          <a:xfrm>
            <a:off x="3986980" y="3350873"/>
            <a:ext cx="5049516" cy="400110"/>
          </a:xfrm>
          <a:prstGeom prst="rect">
            <a:avLst/>
          </a:prstGeom>
          <a:noFill/>
          <a:ln w="38100"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>
            <a:spAutoFit/>
          </a:bodyPr>
          <a:lstStyle/>
          <a:p>
            <a:pPr algn="dist"/>
            <a:r>
              <a:rPr lang="en-US" altLang="zh-CN" sz="2000" b="1" dirty="0">
                <a:solidFill>
                  <a:schemeClr val="bg1"/>
                </a:solidFill>
                <a:highlight>
                  <a:srgbClr val="FF0000"/>
                </a:highlight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bar</a:t>
            </a:r>
            <a:r>
              <a:rPr lang="en-US" altLang="zh-CN" sz="2000" b="1" dirty="0">
                <a:solidFill>
                  <a:schemeClr val="bg1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(</a:t>
            </a:r>
            <a:r>
              <a:rPr lang="en-US" altLang="zh-CN" sz="2000" b="1" dirty="0" err="1">
                <a:solidFill>
                  <a:schemeClr val="bg1"/>
                </a:solidFill>
                <a:highlight>
                  <a:srgbClr val="FF0000"/>
                </a:highlight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x,y</a:t>
            </a:r>
            <a:r>
              <a:rPr lang="en-US" altLang="zh-CN" sz="2000" b="1" dirty="0" err="1">
                <a:solidFill>
                  <a:schemeClr val="bg1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,</a:t>
            </a:r>
            <a:r>
              <a:rPr lang="en-US" altLang="zh-CN" sz="2000" b="1" dirty="0" err="1">
                <a:solidFill>
                  <a:srgbClr val="FFFF00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text</a:t>
            </a:r>
            <a:r>
              <a:rPr lang="en-US" altLang="zh-CN" sz="2000" b="1" dirty="0">
                <a:solidFill>
                  <a:srgbClr val="FFFF00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=</a:t>
            </a:r>
            <a:r>
              <a:rPr lang="en-US" altLang="zh-CN" sz="2000" b="1" dirty="0" err="1">
                <a:solidFill>
                  <a:srgbClr val="FFFF00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yval,width</a:t>
            </a:r>
            <a:r>
              <a:rPr lang="en-US" altLang="zh-CN" sz="2000" b="1" dirty="0">
                <a:solidFill>
                  <a:srgbClr val="FFFF00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=value)</a:t>
            </a:r>
            <a:endParaRPr lang="en-US" altLang="zh-CN" sz="2000" b="1" dirty="0">
              <a:solidFill>
                <a:schemeClr val="bg1"/>
              </a:solidFill>
              <a:highlight>
                <a:srgbClr val="003B76"/>
              </a:highlight>
              <a:latin typeface="华文楷体" panose="02010600040101010101" pitchFamily="2" charset="-122"/>
              <a:ea typeface="华文楷体" panose="02010600040101010101" pitchFamily="2" charset="-122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3201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59E48391-FBE6-4E0F-BCB9-DCE692C74B19}"/>
              </a:ext>
            </a:extLst>
          </p:cNvPr>
          <p:cNvSpPr txBox="1"/>
          <p:nvPr/>
        </p:nvSpPr>
        <p:spPr>
          <a:xfrm>
            <a:off x="61408" y="1271441"/>
            <a:ext cx="8900176" cy="313534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ts val="3000"/>
              </a:lnSpc>
            </a:pPr>
            <a:r>
              <a:rPr lang="en-US" altLang="zh-CN" sz="2000" dirty="0">
                <a:solidFill>
                  <a:srgbClr val="008000"/>
                </a:solidFill>
                <a:latin typeface="Consolas" panose="020B0609020204030204" pitchFamily="49" charset="0"/>
              </a:rPr>
              <a:t>#</a:t>
            </a:r>
            <a:r>
              <a:rPr lang="zh-CN" alt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生成时间的行向量</a:t>
            </a:r>
            <a:endParaRPr lang="en-US" altLang="zh-CN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3000"/>
              </a:lnSpc>
            </a:pP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t=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2008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2017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 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3000"/>
              </a:lnSpc>
            </a:pP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g=[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4.598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5.110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6.101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7.573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8.561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9.607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10.482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11.065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11.191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12.238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pPr>
              <a:lnSpc>
                <a:spcPts val="3000"/>
              </a:lnSpc>
            </a:pP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3000"/>
              </a:lnSpc>
            </a:pPr>
            <a:r>
              <a:rPr lang="en-US" altLang="zh-CN" sz="2000" dirty="0">
                <a:solidFill>
                  <a:schemeClr val="bg1"/>
                </a:solidFill>
              </a:rPr>
              <a:t>bar(</a:t>
            </a:r>
            <a:r>
              <a:rPr lang="en-US" altLang="zh-CN" sz="2000" dirty="0" err="1">
                <a:solidFill>
                  <a:schemeClr val="bg1"/>
                </a:solidFill>
              </a:rPr>
              <a:t>t,g,text</a:t>
            </a:r>
            <a:r>
              <a:rPr lang="en-US" altLang="zh-CN" sz="2000" dirty="0">
                <a:solidFill>
                  <a:schemeClr val="bg1"/>
                </a:solidFill>
              </a:rPr>
              <a:t>=</a:t>
            </a:r>
            <a:r>
              <a:rPr lang="en-US" altLang="zh-CN" sz="2000" dirty="0" err="1">
                <a:solidFill>
                  <a:schemeClr val="bg1"/>
                </a:solidFill>
              </a:rPr>
              <a:t>g,width</a:t>
            </a:r>
            <a:r>
              <a:rPr lang="en-US" altLang="zh-CN" sz="2000" dirty="0">
                <a:solidFill>
                  <a:schemeClr val="bg1"/>
                </a:solidFill>
              </a:rPr>
              <a:t>=0.5) </a:t>
            </a:r>
          </a:p>
          <a:p>
            <a:pPr>
              <a:lnSpc>
                <a:spcPts val="3000"/>
              </a:lnSpc>
            </a:pPr>
            <a:r>
              <a:rPr lang="en-US" altLang="zh-CN" sz="2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ylim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([</a:t>
            </a:r>
            <a:r>
              <a:rPr lang="en-US" altLang="zh-CN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14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 </a:t>
            </a:r>
            <a:r>
              <a:rPr lang="en-US" altLang="zh-CN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调整</a:t>
            </a:r>
            <a:r>
              <a:rPr lang="en-US" altLang="zh-CN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zh-CN" alt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轴</a:t>
            </a:r>
            <a:endParaRPr lang="zh-CN" alt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3000"/>
              </a:lnSpc>
            </a:pPr>
            <a:r>
              <a:rPr lang="en-US" altLang="zh-CN" sz="2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xlabel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zh-CN" alt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时间</a:t>
            </a:r>
            <a:r>
              <a:rPr lang="en-US" altLang="zh-CN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zh-CN" alt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年</a:t>
            </a:r>
            <a:r>
              <a:rPr lang="en-US" altLang="zh-CN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3000"/>
              </a:lnSpc>
            </a:pPr>
            <a:r>
              <a:rPr lang="en-US" altLang="zh-CN" sz="2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ylabel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"GDP,</a:t>
            </a:r>
            <a:r>
              <a:rPr lang="zh-CN" alt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亿元</a:t>
            </a:r>
            <a:r>
              <a:rPr lang="en-US" altLang="zh-CN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3EF8066-F340-4FEE-A343-99A97CB49731}"/>
              </a:ext>
            </a:extLst>
          </p:cNvPr>
          <p:cNvSpPr/>
          <p:nvPr/>
        </p:nvSpPr>
        <p:spPr>
          <a:xfrm>
            <a:off x="919195" y="853169"/>
            <a:ext cx="8042389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绘制</a:t>
            </a:r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2008</a:t>
            </a: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-2017</a:t>
            </a: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年中国</a:t>
            </a:r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GDP</a:t>
            </a: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条形图，设置条形宽度和顶端</a:t>
            </a:r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GDP</a:t>
            </a: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值</a:t>
            </a:r>
            <a:endParaRPr lang="en-US" altLang="zh-CN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F252BD4-0E9F-289D-68C6-15C32E5EAFAA}"/>
              </a:ext>
            </a:extLst>
          </p:cNvPr>
          <p:cNvSpPr txBox="1"/>
          <p:nvPr/>
        </p:nvSpPr>
        <p:spPr>
          <a:xfrm>
            <a:off x="919195" y="101069"/>
            <a:ext cx="8285234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6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隶书" panose="02010509060101010101" charset="-122"/>
              </a:rPr>
              <a:t>§</a:t>
            </a:r>
            <a:r>
              <a:rPr lang="en-US" altLang="zh-CN" sz="26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3.4 </a:t>
            </a:r>
            <a:r>
              <a:rPr lang="zh-CN" altLang="en-US" sz="26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数据统计分析图</a:t>
            </a:r>
            <a:r>
              <a:rPr lang="en-US" altLang="zh-CN" sz="26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——bar</a:t>
            </a:r>
            <a:r>
              <a:rPr lang="zh-CN" altLang="en-US" sz="26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绘制</a:t>
            </a:r>
            <a:r>
              <a:rPr lang="en-US" altLang="zh-CN" sz="26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y</a:t>
            </a:r>
            <a:r>
              <a:rPr lang="zh-CN" altLang="en-US" sz="26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为向量的条形图 </a:t>
            </a:r>
            <a:endParaRPr lang="zh-CN" altLang="en-US" sz="26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C67DEB99-3FAD-9CF4-E577-8CD68B16F5B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8000" t="8000" r="5072" b="6602"/>
          <a:stretch/>
        </p:blipFill>
        <p:spPr>
          <a:xfrm>
            <a:off x="6444208" y="2839113"/>
            <a:ext cx="2448272" cy="1722128"/>
          </a:xfrm>
          <a:prstGeom prst="rect">
            <a:avLst/>
          </a:prstGeom>
        </p:spPr>
      </p:pic>
      <p:sp>
        <p:nvSpPr>
          <p:cNvPr id="7" name="日期占位符 1">
            <a:extLst>
              <a:ext uri="{FF2B5EF4-FFF2-40B4-BE49-F238E27FC236}">
                <a16:creationId xmlns:a16="http://schemas.microsoft.com/office/drawing/2014/main" id="{70EF11BC-CBD2-4D4A-9088-F13E6B4A4F98}"/>
              </a:ext>
            </a:extLst>
          </p:cNvPr>
          <p:cNvSpPr txBox="1">
            <a:spLocks/>
          </p:cNvSpPr>
          <p:nvPr/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pPr>
              <a:defRPr/>
            </a:pPr>
            <a:fld id="{25E81C68-AD67-4B59-A707-20F6CB98CF04}" type="datetime1">
              <a:rPr lang="zh-CN" altLang="en-US" smtClean="0"/>
              <a:pPr>
                <a:defRPr/>
              </a:pPr>
              <a:t>2025/3/20</a:t>
            </a:fld>
            <a:endParaRPr lang="zh-CN" altLang="en-US"/>
          </a:p>
        </p:txBody>
      </p:sp>
      <p:sp>
        <p:nvSpPr>
          <p:cNvPr id="8" name="波形 7">
            <a:extLst>
              <a:ext uri="{FF2B5EF4-FFF2-40B4-BE49-F238E27FC236}">
                <a16:creationId xmlns:a16="http://schemas.microsoft.com/office/drawing/2014/main" id="{2F0B6425-2EC4-4307-A896-B2D669D0D6D2}"/>
              </a:ext>
            </a:extLst>
          </p:cNvPr>
          <p:cNvSpPr/>
          <p:nvPr/>
        </p:nvSpPr>
        <p:spPr>
          <a:xfrm>
            <a:off x="-1805" y="784351"/>
            <a:ext cx="1117422" cy="438150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课堂练习</a:t>
            </a:r>
            <a:r>
              <a:rPr lang="en-US" altLang="zh-CN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ko-KR" altLang="en-US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59543CC-FAFA-4B9C-9DBF-E5F59862BE98}"/>
              </a:ext>
            </a:extLst>
          </p:cNvPr>
          <p:cNvSpPr/>
          <p:nvPr/>
        </p:nvSpPr>
        <p:spPr>
          <a:xfrm>
            <a:off x="66042" y="2601453"/>
            <a:ext cx="5049516" cy="400110"/>
          </a:xfrm>
          <a:prstGeom prst="rect">
            <a:avLst/>
          </a:prstGeom>
          <a:noFill/>
          <a:ln w="38100"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>
            <a:spAutoFit/>
          </a:bodyPr>
          <a:lstStyle/>
          <a:p>
            <a:pPr algn="dist"/>
            <a:r>
              <a:rPr lang="en-US" altLang="zh-CN" sz="2000" b="1" dirty="0">
                <a:solidFill>
                  <a:schemeClr val="bg1"/>
                </a:solidFill>
                <a:highlight>
                  <a:srgbClr val="FF0000"/>
                </a:highlight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bar</a:t>
            </a:r>
            <a:r>
              <a:rPr lang="en-US" altLang="zh-CN" sz="2000" b="1" dirty="0">
                <a:solidFill>
                  <a:schemeClr val="bg1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(</a:t>
            </a:r>
            <a:r>
              <a:rPr lang="en-US" altLang="zh-CN" sz="2000" b="1" dirty="0" err="1">
                <a:solidFill>
                  <a:schemeClr val="bg1"/>
                </a:solidFill>
                <a:highlight>
                  <a:srgbClr val="FF0000"/>
                </a:highlight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x,y</a:t>
            </a:r>
            <a:r>
              <a:rPr lang="en-US" altLang="zh-CN" sz="2000" b="1" dirty="0" err="1">
                <a:solidFill>
                  <a:schemeClr val="bg1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,</a:t>
            </a:r>
            <a:r>
              <a:rPr lang="en-US" altLang="zh-CN" sz="2000" b="1" dirty="0" err="1">
                <a:solidFill>
                  <a:srgbClr val="FFFF00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text</a:t>
            </a:r>
            <a:r>
              <a:rPr lang="en-US" altLang="zh-CN" sz="2000" b="1" dirty="0">
                <a:solidFill>
                  <a:srgbClr val="FFFF00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=</a:t>
            </a:r>
            <a:r>
              <a:rPr lang="en-US" altLang="zh-CN" sz="2000" b="1" dirty="0" err="1">
                <a:solidFill>
                  <a:srgbClr val="FFFF00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yval,width</a:t>
            </a:r>
            <a:r>
              <a:rPr lang="en-US" altLang="zh-CN" sz="2000" b="1" dirty="0">
                <a:solidFill>
                  <a:srgbClr val="FFFF00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=value)</a:t>
            </a:r>
            <a:endParaRPr lang="en-US" altLang="zh-CN" sz="2000" b="1" dirty="0">
              <a:solidFill>
                <a:schemeClr val="bg1"/>
              </a:solidFill>
              <a:highlight>
                <a:srgbClr val="003B76"/>
              </a:highlight>
              <a:latin typeface="华文楷体" panose="02010600040101010101" pitchFamily="2" charset="-122"/>
              <a:ea typeface="华文楷体" panose="02010600040101010101" pitchFamily="2" charset="-122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123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>
            <a:extLst>
              <a:ext uri="{FF2B5EF4-FFF2-40B4-BE49-F238E27FC236}">
                <a16:creationId xmlns:a16="http://schemas.microsoft.com/office/drawing/2014/main" id="{C43E5879-275A-4081-A82C-9FBB6F13FC3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8263" t="10800" r="6545" b="9401"/>
          <a:stretch/>
        </p:blipFill>
        <p:spPr>
          <a:xfrm>
            <a:off x="4727092" y="2086821"/>
            <a:ext cx="4087706" cy="243260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DB278E1D-242C-4D1A-B8CD-2468A2878963}"/>
              </a:ext>
            </a:extLst>
          </p:cNvPr>
          <p:cNvSpPr/>
          <p:nvPr/>
        </p:nvSpPr>
        <p:spPr>
          <a:xfrm>
            <a:off x="4416429" y="710439"/>
            <a:ext cx="4587768" cy="400110"/>
          </a:xfrm>
          <a:prstGeom prst="rect">
            <a:avLst/>
          </a:prstGeom>
          <a:noFill/>
          <a:ln w="38100"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>
            <a:spAutoFit/>
          </a:bodyPr>
          <a:lstStyle/>
          <a:p>
            <a:pPr algn="dist"/>
            <a:r>
              <a:rPr lang="zh-CN" altLang="en-US" sz="2000" b="1" dirty="0">
                <a:solidFill>
                  <a:srgbClr val="FFFF00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条形图句柄</a:t>
            </a:r>
            <a:r>
              <a:rPr lang="en-US" altLang="zh-CN" sz="2000" b="1" dirty="0">
                <a:solidFill>
                  <a:srgbClr val="FFFF00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h</a:t>
            </a:r>
            <a:r>
              <a:rPr lang="en-US" altLang="zh-CN" sz="2000" b="1" dirty="0">
                <a:solidFill>
                  <a:schemeClr val="bg1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=</a:t>
            </a:r>
            <a:r>
              <a:rPr lang="en-US" altLang="zh-CN" sz="2000" b="1" dirty="0">
                <a:solidFill>
                  <a:schemeClr val="bg1"/>
                </a:solidFill>
                <a:highlight>
                  <a:srgbClr val="FF0000"/>
                </a:highlight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bar</a:t>
            </a:r>
            <a:r>
              <a:rPr lang="en-US" altLang="zh-CN" sz="2000" b="1" dirty="0">
                <a:solidFill>
                  <a:schemeClr val="bg1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(</a:t>
            </a:r>
            <a:r>
              <a:rPr lang="zh-CN" altLang="en-US" sz="2000" b="1" dirty="0">
                <a:solidFill>
                  <a:srgbClr val="FFFF00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坐标区</a:t>
            </a:r>
            <a:r>
              <a:rPr lang="en-US" altLang="zh-CN" sz="2000" b="1" dirty="0" err="1">
                <a:solidFill>
                  <a:srgbClr val="FFFF00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ax,</a:t>
            </a:r>
            <a:r>
              <a:rPr lang="en-US" altLang="zh-CN" sz="2000" b="1" dirty="0" err="1">
                <a:solidFill>
                  <a:schemeClr val="bg1"/>
                </a:solidFill>
                <a:highlight>
                  <a:srgbClr val="FF0000"/>
                </a:highlight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x,y</a:t>
            </a:r>
            <a:r>
              <a:rPr lang="en-US" altLang="zh-CN" sz="2000" b="1" dirty="0" err="1">
                <a:solidFill>
                  <a:schemeClr val="bg1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,</a:t>
            </a:r>
            <a:r>
              <a:rPr lang="en-US" altLang="zh-CN" sz="2000" b="1" dirty="0" err="1">
                <a:solidFill>
                  <a:srgbClr val="FFFF00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key</a:t>
            </a:r>
            <a:r>
              <a:rPr lang="en-US" altLang="zh-CN" sz="2000" b="1" dirty="0">
                <a:solidFill>
                  <a:srgbClr val="FFFF00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=value</a:t>
            </a:r>
            <a:r>
              <a:rPr lang="en-US" altLang="zh-CN" sz="2000" b="1" dirty="0">
                <a:solidFill>
                  <a:schemeClr val="bg1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)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A8D9D28-183E-4656-9E4C-D02350EF4C23}"/>
              </a:ext>
            </a:extLst>
          </p:cNvPr>
          <p:cNvSpPr/>
          <p:nvPr/>
        </p:nvSpPr>
        <p:spPr>
          <a:xfrm>
            <a:off x="14695" y="3269404"/>
            <a:ext cx="5275583" cy="1349537"/>
          </a:xfrm>
          <a:prstGeom prst="rect">
            <a:avLst/>
          </a:prstGeom>
          <a:ln>
            <a:noFill/>
            <a:prstDash val="sysDash"/>
          </a:ln>
        </p:spPr>
        <p:txBody>
          <a:bodyPr wrap="square">
            <a:spAutoFit/>
          </a:bodyPr>
          <a:lstStyle/>
          <a:p>
            <a:pPr marL="396000" lvl="0" indent="-457200" defTabSz="0">
              <a:lnSpc>
                <a:spcPts val="2500"/>
              </a:lnSpc>
              <a:spcBef>
                <a:spcPts val="0"/>
              </a:spcBef>
              <a:buFont typeface="+mj-ea"/>
              <a:buAutoNum type="circleNumDbPlain"/>
            </a:pPr>
            <a:r>
              <a:rPr lang="zh-CN" altLang="en-US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plot</a:t>
            </a:r>
            <a:r>
              <a:rPr lang="zh-CN" altLang="en-US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绘制矩阵一样</a:t>
            </a:r>
            <a:endParaRPr lang="en-US" altLang="zh-CN" kern="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96000" lvl="0" indent="-457200" defTabSz="0">
              <a:lnSpc>
                <a:spcPts val="2500"/>
              </a:lnSpc>
              <a:spcBef>
                <a:spcPts val="0"/>
              </a:spcBef>
              <a:buFont typeface="+mj-ea"/>
              <a:buAutoNum type="circleNumDbPlain"/>
            </a:pPr>
            <a:r>
              <a:rPr lang="zh-CN" altLang="en-US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向量</a:t>
            </a:r>
            <a:r>
              <a:rPr lang="en-US" altLang="zh-CN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  <a:r>
              <a:rPr lang="en-US" altLang="zh-CN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个元素构成</a:t>
            </a:r>
            <a:r>
              <a:rPr lang="en-US" altLang="zh-CN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kern="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96000" lvl="0" indent="-457200" defTabSz="0">
              <a:lnSpc>
                <a:spcPts val="2500"/>
              </a:lnSpc>
              <a:spcBef>
                <a:spcPts val="0"/>
              </a:spcBef>
              <a:buFont typeface="+mj-ea"/>
              <a:buAutoNum type="circleNumDbPlain"/>
            </a:pPr>
            <a:r>
              <a:rPr lang="zh-CN" altLang="en-US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矩阵</a:t>
            </a:r>
            <a:r>
              <a:rPr lang="en-US" altLang="zh-CN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 (3</a:t>
            </a:r>
            <a:r>
              <a:rPr lang="zh-CN" altLang="en-US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</a:t>
            </a:r>
            <a:r>
              <a:rPr lang="en-US" altLang="zh-CN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*10</a:t>
            </a:r>
            <a:r>
              <a:rPr lang="zh-CN" altLang="en-US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列</a:t>
            </a:r>
            <a:r>
              <a:rPr lang="en-US" altLang="zh-CN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 </a:t>
            </a:r>
            <a:r>
              <a:rPr lang="zh-CN" altLang="en-US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或（</a:t>
            </a:r>
            <a:r>
              <a:rPr lang="en-US" altLang="zh-CN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</a:t>
            </a:r>
            <a:r>
              <a:rPr lang="en-US" altLang="zh-CN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*3</a:t>
            </a:r>
            <a:r>
              <a:rPr lang="zh-CN" altLang="en-US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列）</a:t>
            </a:r>
            <a:endParaRPr lang="en-US" altLang="zh-CN" kern="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96000" lvl="0" indent="-457200" defTabSz="0">
              <a:lnSpc>
                <a:spcPts val="2500"/>
              </a:lnSpc>
              <a:spcBef>
                <a:spcPts val="0"/>
              </a:spcBef>
              <a:buFont typeface="+mj-ea"/>
              <a:buAutoNum type="circleNumDbPlain"/>
            </a:pPr>
            <a:r>
              <a:rPr lang="zh-CN" altLang="en-US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绘制的条形序列个数为</a:t>
            </a:r>
            <a:r>
              <a:rPr lang="en-US" altLang="zh-CN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kern="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6" name="Rectangle 1">
            <a:extLst>
              <a:ext uri="{FF2B5EF4-FFF2-40B4-BE49-F238E27FC236}">
                <a16:creationId xmlns:a16="http://schemas.microsoft.com/office/drawing/2014/main" id="{D9B8E914-EA3E-4A86-9DC4-CCC534EBB7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EFC2B4D-C6F3-490E-8C29-1EFB8BBF5B85}"/>
              </a:ext>
            </a:extLst>
          </p:cNvPr>
          <p:cNvSpPr txBox="1"/>
          <p:nvPr/>
        </p:nvSpPr>
        <p:spPr>
          <a:xfrm>
            <a:off x="317998" y="48532"/>
            <a:ext cx="8829880" cy="52322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zh-CN" sz="28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隶书" panose="02010509060101010101" charset="-122"/>
              </a:rPr>
              <a:t>§</a:t>
            </a:r>
            <a:r>
              <a:rPr lang="en-US" altLang="zh-CN" sz="28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3.4 </a:t>
            </a:r>
            <a:r>
              <a:rPr lang="zh-CN" altLang="en-US" sz="28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数据统计分析图</a:t>
            </a:r>
            <a:r>
              <a:rPr lang="en-US" altLang="zh-CN" sz="28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——bar</a:t>
            </a:r>
            <a:r>
              <a:rPr lang="zh-CN" altLang="en-US" sz="28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绘制</a:t>
            </a:r>
            <a:r>
              <a:rPr lang="en-US" altLang="zh-CN" sz="28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y</a:t>
            </a:r>
            <a:r>
              <a:rPr lang="zh-CN" altLang="en-US" sz="28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为矩阵的条形组图 </a:t>
            </a:r>
            <a:endParaRPr lang="zh-CN" altLang="en-US" sz="28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pic>
        <p:nvPicPr>
          <p:cNvPr id="13" name="Picture 2" descr="http://5b0988e595225.cdn.sohucs.com/images/20180712/9a46cefa7315405f9cf3cfe9876de54c.png">
            <a:extLst>
              <a:ext uri="{FF2B5EF4-FFF2-40B4-BE49-F238E27FC236}">
                <a16:creationId xmlns:a16="http://schemas.microsoft.com/office/drawing/2014/main" id="{3E30EBD5-1976-4FA9-BD7B-708E3A2802D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346" t="25262" r="66425"/>
          <a:stretch/>
        </p:blipFill>
        <p:spPr bwMode="auto">
          <a:xfrm>
            <a:off x="2203209" y="1419622"/>
            <a:ext cx="994086" cy="1872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 descr="http://5b0988e595225.cdn.sohucs.com/images/20180712/9a46cefa7315405f9cf3cfe9876de54c.png">
            <a:extLst>
              <a:ext uri="{FF2B5EF4-FFF2-40B4-BE49-F238E27FC236}">
                <a16:creationId xmlns:a16="http://schemas.microsoft.com/office/drawing/2014/main" id="{6BEE5BAA-6152-452D-932D-022B0BDFBCF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096" r="88180"/>
          <a:stretch/>
        </p:blipFill>
        <p:spPr bwMode="auto">
          <a:xfrm>
            <a:off x="107504" y="1406516"/>
            <a:ext cx="1046496" cy="17829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2" descr="http://5b0988e595225.cdn.sohucs.com/images/20180712/9a46cefa7315405f9cf3cfe9876de54c.png">
            <a:extLst>
              <a:ext uri="{FF2B5EF4-FFF2-40B4-BE49-F238E27FC236}">
                <a16:creationId xmlns:a16="http://schemas.microsoft.com/office/drawing/2014/main" id="{92CB3B65-7F2C-4F70-84C9-E3AC353AC54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656" t="24936" r="14788"/>
          <a:stretch/>
        </p:blipFill>
        <p:spPr bwMode="auto">
          <a:xfrm>
            <a:off x="3192370" y="1424804"/>
            <a:ext cx="1023132" cy="179719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2" descr="http://5b0988e595225.cdn.sohucs.com/images/20180712/9a46cefa7315405f9cf3cfe9876de54c.png">
            <a:extLst>
              <a:ext uri="{FF2B5EF4-FFF2-40B4-BE49-F238E27FC236}">
                <a16:creationId xmlns:a16="http://schemas.microsoft.com/office/drawing/2014/main" id="{FBAC9F4F-0A87-4844-ABDF-5D0160C8A05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531" t="24437" r="42126"/>
          <a:stretch/>
        </p:blipFill>
        <p:spPr bwMode="auto">
          <a:xfrm>
            <a:off x="1235891" y="1395765"/>
            <a:ext cx="915634" cy="18593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F9FA4466-79E3-4DDA-806C-4D314D82E3DD}"/>
              </a:ext>
            </a:extLst>
          </p:cNvPr>
          <p:cNvSpPr txBox="1"/>
          <p:nvPr/>
        </p:nvSpPr>
        <p:spPr>
          <a:xfrm>
            <a:off x="107504" y="1029193"/>
            <a:ext cx="1037320" cy="37732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>
            <a:defPPr>
              <a:defRPr lang="zh-CN"/>
            </a:defPPr>
            <a:lvl1pPr>
              <a:defRPr>
                <a:highlight>
                  <a:srgbClr val="FFFF00"/>
                </a:highlight>
              </a:defRPr>
            </a:lvl1pPr>
          </a:lstStyle>
          <a:p>
            <a:pPr algn="dist"/>
            <a:r>
              <a:rPr lang="zh-CN" altLang="en-US" dirty="0"/>
              <a:t>时间</a:t>
            </a:r>
            <a:r>
              <a:rPr lang="en-US" altLang="zh-CN" dirty="0"/>
              <a:t>x</a:t>
            </a:r>
            <a:endParaRPr lang="zh-CN" altLang="en-US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0AEA10B-981F-41F6-B004-21B2FF42A00E}"/>
              </a:ext>
            </a:extLst>
          </p:cNvPr>
          <p:cNvSpPr txBox="1"/>
          <p:nvPr/>
        </p:nvSpPr>
        <p:spPr>
          <a:xfrm>
            <a:off x="2129239" y="1037183"/>
            <a:ext cx="1046496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dist"/>
            <a:r>
              <a:rPr lang="en-US" altLang="zh-CN" dirty="0" err="1">
                <a:highlight>
                  <a:srgbClr val="FFFF00"/>
                </a:highlight>
              </a:rPr>
              <a:t>Gdp</a:t>
            </a:r>
            <a:r>
              <a:rPr lang="en-US" altLang="zh-CN" dirty="0">
                <a:highlight>
                  <a:srgbClr val="FFFF00"/>
                </a:highlight>
              </a:rPr>
              <a:t>-US</a:t>
            </a:r>
            <a:endParaRPr lang="zh-CN" altLang="en-US" dirty="0">
              <a:highlight>
                <a:srgbClr val="FFFF00"/>
              </a:highlight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A230E448-3BE2-4E99-8137-97552DEA49A8}"/>
              </a:ext>
            </a:extLst>
          </p:cNvPr>
          <p:cNvSpPr txBox="1"/>
          <p:nvPr/>
        </p:nvSpPr>
        <p:spPr>
          <a:xfrm>
            <a:off x="1144824" y="1022437"/>
            <a:ext cx="1046496" cy="37731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dist"/>
            <a:r>
              <a:rPr lang="en-US" altLang="zh-CN" dirty="0" err="1">
                <a:highlight>
                  <a:srgbClr val="FFFF00"/>
                </a:highlight>
              </a:rPr>
              <a:t>Gdp</a:t>
            </a:r>
            <a:r>
              <a:rPr lang="en-US" altLang="zh-CN" dirty="0">
                <a:highlight>
                  <a:srgbClr val="FFFF00"/>
                </a:highlight>
              </a:rPr>
              <a:t>-CN</a:t>
            </a:r>
            <a:endParaRPr lang="zh-CN" altLang="en-US" dirty="0">
              <a:highlight>
                <a:srgbClr val="FFFF00"/>
              </a:highlight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61E35F48-E4D4-44BF-AB2D-FB0F83BBB11C}"/>
              </a:ext>
            </a:extLst>
          </p:cNvPr>
          <p:cNvSpPr txBox="1"/>
          <p:nvPr/>
        </p:nvSpPr>
        <p:spPr>
          <a:xfrm>
            <a:off x="3247348" y="1004054"/>
            <a:ext cx="1234287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>
            <a:defPPr>
              <a:defRPr lang="zh-CN"/>
            </a:defPPr>
            <a:lvl1pPr>
              <a:defRPr>
                <a:highlight>
                  <a:srgbClr val="FFFF00"/>
                </a:highlight>
              </a:defRPr>
            </a:lvl1pPr>
          </a:lstStyle>
          <a:p>
            <a:r>
              <a:rPr lang="en-US" altLang="zh-CN" dirty="0" err="1"/>
              <a:t>Gdp</a:t>
            </a:r>
            <a:r>
              <a:rPr lang="en-US" altLang="zh-CN" dirty="0"/>
              <a:t>-JP</a:t>
            </a:r>
            <a:endParaRPr lang="zh-CN" altLang="en-US" dirty="0"/>
          </a:p>
        </p:txBody>
      </p:sp>
      <p:pic>
        <p:nvPicPr>
          <p:cNvPr id="7" name="Picture 2" descr="http://5b0988e595225.cdn.sohucs.com/images/20180712/9a46cefa7315405f9cf3cfe9876de54c.png">
            <a:extLst>
              <a:ext uri="{FF2B5EF4-FFF2-40B4-BE49-F238E27FC236}">
                <a16:creationId xmlns:a16="http://schemas.microsoft.com/office/drawing/2014/main" id="{08EEFEAA-76D8-BE91-91E2-7B52929A20F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47" r="4659" b="88789"/>
          <a:stretch/>
        </p:blipFill>
        <p:spPr bwMode="auto">
          <a:xfrm>
            <a:off x="107504" y="2847992"/>
            <a:ext cx="4236963" cy="3929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DFCA4C00-A60F-9A28-3D53-D09B8BCDD084}"/>
              </a:ext>
            </a:extLst>
          </p:cNvPr>
          <p:cNvSpPr/>
          <p:nvPr/>
        </p:nvSpPr>
        <p:spPr>
          <a:xfrm>
            <a:off x="5018701" y="1429408"/>
            <a:ext cx="3790278" cy="33855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dist"/>
            <a:r>
              <a:rPr lang="en-US" altLang="zh-CN" sz="16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2008</a:t>
            </a:r>
            <a:r>
              <a:rPr lang="zh-CN" altLang="en-US" sz="16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到</a:t>
            </a:r>
            <a:r>
              <a:rPr lang="en-US" altLang="zh-CN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2017</a:t>
            </a:r>
            <a:r>
              <a:rPr lang="zh-CN" altLang="en-US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年中美</a:t>
            </a:r>
            <a:r>
              <a:rPr lang="zh-CN" altLang="en-US" sz="16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日三国</a:t>
            </a:r>
            <a:r>
              <a:rPr lang="en-US" altLang="zh-CN" sz="16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sz="16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GDP</a:t>
            </a:r>
            <a:endParaRPr lang="zh-CN" altLang="en-US" sz="16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波形 4">
            <a:extLst>
              <a:ext uri="{FF2B5EF4-FFF2-40B4-BE49-F238E27FC236}">
                <a16:creationId xmlns:a16="http://schemas.microsoft.com/office/drawing/2014/main" id="{5066A84A-99DF-21B1-6546-3DF0F05CD9F2}"/>
              </a:ext>
            </a:extLst>
          </p:cNvPr>
          <p:cNvSpPr/>
          <p:nvPr/>
        </p:nvSpPr>
        <p:spPr>
          <a:xfrm>
            <a:off x="4644008" y="1347614"/>
            <a:ext cx="374692" cy="454742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例3</a:t>
            </a:r>
            <a:endParaRPr lang="ko-KR" altLang="en-US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34A36316-9018-4592-A3E7-7749005E6884}"/>
              </a:ext>
            </a:extLst>
          </p:cNvPr>
          <p:cNvSpPr/>
          <p:nvPr/>
        </p:nvSpPr>
        <p:spPr bwMode="auto">
          <a:xfrm>
            <a:off x="1265098" y="1387231"/>
            <a:ext cx="2886156" cy="1434395"/>
          </a:xfrm>
          <a:prstGeom prst="roundRect">
            <a:avLst/>
          </a:prstGeom>
          <a:noFill/>
          <a:ln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7800" marR="0" indent="-17780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CC6702A1-4115-4F8D-ACA6-202B83511A66}"/>
              </a:ext>
            </a:extLst>
          </p:cNvPr>
          <p:cNvSpPr/>
          <p:nvPr/>
        </p:nvSpPr>
        <p:spPr bwMode="auto">
          <a:xfrm>
            <a:off x="1316107" y="1397894"/>
            <a:ext cx="562716" cy="207071"/>
          </a:xfrm>
          <a:prstGeom prst="ellipse">
            <a:avLst/>
          </a:prstGeom>
          <a:noFill/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7800" marR="0" indent="-17780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DC2BD91C-0267-4CA7-BCCE-DDFE05BBC068}"/>
              </a:ext>
            </a:extLst>
          </p:cNvPr>
          <p:cNvCxnSpPr>
            <a:cxnSpLocks/>
          </p:cNvCxnSpPr>
          <p:nvPr/>
        </p:nvCxnSpPr>
        <p:spPr bwMode="auto">
          <a:xfrm flipH="1">
            <a:off x="1273618" y="1608429"/>
            <a:ext cx="2854342" cy="0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988AB76A-FAB0-4EAC-BA37-16F5F41BECFA}"/>
              </a:ext>
            </a:extLst>
          </p:cNvPr>
          <p:cNvSpPr txBox="1"/>
          <p:nvPr/>
        </p:nvSpPr>
        <p:spPr>
          <a:xfrm>
            <a:off x="5563305" y="2175748"/>
            <a:ext cx="22255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0" i="0" dirty="0">
                <a:solidFill>
                  <a:srgbClr val="0020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800" b="0" i="0" dirty="0">
                <a:solidFill>
                  <a:srgbClr val="0020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个条形序列</a:t>
            </a:r>
            <a:endParaRPr lang="zh-CN" altLang="en-US" dirty="0">
              <a:solidFill>
                <a:srgbClr val="002060"/>
              </a:solidFill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FB91C9AF-09D6-473F-8EA6-92818FA41669}"/>
              </a:ext>
            </a:extLst>
          </p:cNvPr>
          <p:cNvSpPr/>
          <p:nvPr/>
        </p:nvSpPr>
        <p:spPr>
          <a:xfrm>
            <a:off x="4018755" y="701160"/>
            <a:ext cx="568253" cy="400110"/>
          </a:xfrm>
          <a:prstGeom prst="rect">
            <a:avLst/>
          </a:prstGeom>
          <a:noFill/>
          <a:ln w="38100"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>
            <a:spAutoFit/>
          </a:bodyPr>
          <a:lstStyle/>
          <a:p>
            <a:pPr algn="dist"/>
            <a:r>
              <a:rPr lang="zh-CN" altLang="en-US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或</a:t>
            </a:r>
            <a:endParaRPr lang="en-US" altLang="zh-CN" sz="20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48C54E40-56DD-419E-8E8F-24DF8A635B7D}"/>
              </a:ext>
            </a:extLst>
          </p:cNvPr>
          <p:cNvSpPr txBox="1"/>
          <p:nvPr/>
        </p:nvSpPr>
        <p:spPr>
          <a:xfrm>
            <a:off x="35496" y="695375"/>
            <a:ext cx="1993465" cy="4001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条形图调用格式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6B95F4C-7147-4836-93E3-F7DCEB1FE2D4}"/>
              </a:ext>
            </a:extLst>
          </p:cNvPr>
          <p:cNvSpPr/>
          <p:nvPr/>
        </p:nvSpPr>
        <p:spPr>
          <a:xfrm>
            <a:off x="1932382" y="697478"/>
            <a:ext cx="2218871" cy="400110"/>
          </a:xfrm>
          <a:prstGeom prst="rect">
            <a:avLst/>
          </a:prstGeom>
          <a:noFill/>
          <a:ln w="38100"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>
            <a:spAutoFit/>
          </a:bodyPr>
          <a:lstStyle/>
          <a:p>
            <a:pPr algn="dist"/>
            <a:r>
              <a:rPr lang="en-US" altLang="zh-CN" sz="2000" b="1" dirty="0">
                <a:solidFill>
                  <a:schemeClr val="bg1"/>
                </a:solidFill>
                <a:highlight>
                  <a:srgbClr val="FF0000"/>
                </a:highlight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bar(</a:t>
            </a:r>
            <a:r>
              <a:rPr lang="en-US" altLang="zh-CN" sz="2000" b="1" dirty="0" err="1">
                <a:solidFill>
                  <a:schemeClr val="bg1"/>
                </a:solidFill>
                <a:highlight>
                  <a:srgbClr val="FF0000"/>
                </a:highlight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x,y,</a:t>
            </a:r>
            <a:r>
              <a:rPr lang="en-US" altLang="zh-CN" sz="2000" b="1" dirty="0" err="1">
                <a:solidFill>
                  <a:srgbClr val="FFFF00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key</a:t>
            </a:r>
            <a:r>
              <a:rPr lang="en-US" altLang="zh-CN" sz="2000" b="1" dirty="0">
                <a:solidFill>
                  <a:srgbClr val="FFFF00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=value</a:t>
            </a:r>
            <a:r>
              <a:rPr lang="en-US" altLang="zh-CN" sz="2000" b="1" dirty="0">
                <a:solidFill>
                  <a:schemeClr val="bg1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)</a:t>
            </a:r>
          </a:p>
        </p:txBody>
      </p:sp>
      <p:sp>
        <p:nvSpPr>
          <p:cNvPr id="11" name="弧形 10">
            <a:extLst>
              <a:ext uri="{FF2B5EF4-FFF2-40B4-BE49-F238E27FC236}">
                <a16:creationId xmlns:a16="http://schemas.microsoft.com/office/drawing/2014/main" id="{27C71087-B798-418B-90C5-F9A2729FE385}"/>
              </a:ext>
            </a:extLst>
          </p:cNvPr>
          <p:cNvSpPr/>
          <p:nvPr/>
        </p:nvSpPr>
        <p:spPr bwMode="auto">
          <a:xfrm flipV="1">
            <a:off x="5916114" y="3660055"/>
            <a:ext cx="705621" cy="144016"/>
          </a:xfrm>
          <a:prstGeom prst="arc">
            <a:avLst/>
          </a:prstGeom>
          <a:noFill/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7800" marR="0" indent="-17780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cxnSp>
        <p:nvCxnSpPr>
          <p:cNvPr id="30" name="连接符: 肘形 29">
            <a:extLst>
              <a:ext uri="{FF2B5EF4-FFF2-40B4-BE49-F238E27FC236}">
                <a16:creationId xmlns:a16="http://schemas.microsoft.com/office/drawing/2014/main" id="{918C36EC-0602-4865-8E64-59072E89A93C}"/>
              </a:ext>
            </a:extLst>
          </p:cNvPr>
          <p:cNvCxnSpPr/>
          <p:nvPr/>
        </p:nvCxnSpPr>
        <p:spPr bwMode="auto">
          <a:xfrm rot="16200000" flipV="1">
            <a:off x="5558675" y="3880228"/>
            <a:ext cx="9155" cy="105"/>
          </a:xfrm>
          <a:prstGeom prst="bentConnector3">
            <a:avLst>
              <a:gd name="adj1" fmla="val 50005"/>
            </a:avLst>
          </a:prstGeom>
          <a:noFill/>
          <a:ln w="12700" cap="flat" cmpd="sng" algn="ctr">
            <a:noFill/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5" name="箭头: 右 34">
            <a:extLst>
              <a:ext uri="{FF2B5EF4-FFF2-40B4-BE49-F238E27FC236}">
                <a16:creationId xmlns:a16="http://schemas.microsoft.com/office/drawing/2014/main" id="{EC7E8293-9A40-4E1A-8E5F-F2E2382DC699}"/>
              </a:ext>
            </a:extLst>
          </p:cNvPr>
          <p:cNvSpPr/>
          <p:nvPr/>
        </p:nvSpPr>
        <p:spPr bwMode="auto">
          <a:xfrm>
            <a:off x="5563200" y="2910968"/>
            <a:ext cx="3214176" cy="893103"/>
          </a:xfrm>
          <a:prstGeom prst="rightArrow">
            <a:avLst/>
          </a:prstGeom>
          <a:noFill/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7800" marR="0" indent="-17780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36" name="箭头: 右 35">
            <a:extLst>
              <a:ext uri="{FF2B5EF4-FFF2-40B4-BE49-F238E27FC236}">
                <a16:creationId xmlns:a16="http://schemas.microsoft.com/office/drawing/2014/main" id="{4745BC1E-45FF-4D5B-8348-823626515194}"/>
              </a:ext>
            </a:extLst>
          </p:cNvPr>
          <p:cNvSpPr/>
          <p:nvPr/>
        </p:nvSpPr>
        <p:spPr bwMode="auto">
          <a:xfrm rot="20909583">
            <a:off x="5038069" y="3336561"/>
            <a:ext cx="3432489" cy="54704"/>
          </a:xfrm>
          <a:prstGeom prst="rightArrow">
            <a:avLst/>
          </a:prstGeom>
          <a:solidFill>
            <a:srgbClr val="00B0F0"/>
          </a:solidFill>
          <a:ln>
            <a:solidFill>
              <a:srgbClr val="33CCFF"/>
            </a:solidFill>
            <a:headEnd type="none" w="med" len="med"/>
            <a:tailEnd type="none" w="med" len="med"/>
          </a:ln>
          <a:scene3d>
            <a:camera prst="orthographicFront"/>
            <a:lightRig rig="threePt" dir="t"/>
          </a:scene3d>
          <a:sp3d>
            <a:bevelT prst="convex"/>
          </a:sp3d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7800" marR="0" indent="-17780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2655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31357565-29A8-4FAA-A4D8-50EC08810B95}"/>
              </a:ext>
            </a:extLst>
          </p:cNvPr>
          <p:cNvSpPr txBox="1"/>
          <p:nvPr/>
        </p:nvSpPr>
        <p:spPr>
          <a:xfrm>
            <a:off x="673100" y="132394"/>
            <a:ext cx="8285234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6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隶书" panose="02010509060101010101" charset="-122"/>
              </a:rPr>
              <a:t>§</a:t>
            </a:r>
            <a:r>
              <a:rPr lang="en-US" altLang="zh-CN" sz="26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3.4 </a:t>
            </a:r>
            <a:r>
              <a:rPr lang="zh-CN" altLang="en-US" sz="26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数据统计分析图</a:t>
            </a:r>
            <a:r>
              <a:rPr lang="en-US" altLang="zh-CN" sz="26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</a:t>
            </a:r>
            <a:r>
              <a:rPr lang="en-US" altLang="zh-CN" sz="24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bar</a:t>
            </a:r>
            <a:r>
              <a:rPr lang="zh-CN" altLang="en-US" sz="24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绘制</a:t>
            </a:r>
            <a:r>
              <a:rPr lang="en-US" altLang="zh-CN" sz="24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y</a:t>
            </a:r>
            <a:r>
              <a:rPr lang="zh-CN" altLang="en-US" sz="24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为矩阵的条形组图代码 </a:t>
            </a:r>
            <a:endParaRPr lang="zh-CN" altLang="en-US" sz="26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9" name="波形 8">
            <a:extLst>
              <a:ext uri="{FF2B5EF4-FFF2-40B4-BE49-F238E27FC236}">
                <a16:creationId xmlns:a16="http://schemas.microsoft.com/office/drawing/2014/main" id="{FED580BC-45D5-4588-BCBF-8FEB37D4B8B0}"/>
              </a:ext>
            </a:extLst>
          </p:cNvPr>
          <p:cNvSpPr/>
          <p:nvPr/>
        </p:nvSpPr>
        <p:spPr>
          <a:xfrm>
            <a:off x="22529" y="254625"/>
            <a:ext cx="523442" cy="492992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24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例3</a:t>
            </a:r>
            <a:endParaRPr lang="ko-KR" altLang="en-US" sz="24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0A66702-F6AB-46EF-849F-CA0E584BE4EA}"/>
              </a:ext>
            </a:extLst>
          </p:cNvPr>
          <p:cNvSpPr txBox="1"/>
          <p:nvPr/>
        </p:nvSpPr>
        <p:spPr>
          <a:xfrm>
            <a:off x="545971" y="595930"/>
            <a:ext cx="8625126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t=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2008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2017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altLang="zh-CN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时间列向量</a:t>
            </a:r>
            <a:endParaRPr lang="zh-CN" alt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#3*10</a:t>
            </a:r>
            <a:r>
              <a:rPr lang="zh-CN" alt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的</a:t>
            </a:r>
            <a:r>
              <a:rPr lang="en-US" altLang="zh-CN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gdp</a:t>
            </a:r>
            <a:r>
              <a:rPr lang="zh-CN" alt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矩阵</a:t>
            </a:r>
            <a:endParaRPr lang="zh-CN" alt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gdp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=[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4.598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5.110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6.101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7.573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8.561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9.607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10.482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11.065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11.191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12.238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14.719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14.419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14.964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15.518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16.155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16.692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17.428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18.121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18.624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19.39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5.038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5.231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5.700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6.157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6.203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5.156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4.850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4.395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4.949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4.872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r>
              <a:rPr lang="en-US" altLang="zh-CN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#bar(t,gdp) #bar(t,gdp,text=gdp)</a:t>
            </a:r>
            <a:r>
              <a:rPr lang="zh-CN" alt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无法执行顶端标注</a:t>
            </a:r>
            <a:endParaRPr lang="zh-CN" alt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画</a:t>
            </a:r>
            <a:r>
              <a:rPr lang="en-US" altLang="zh-CN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2008-2017</a:t>
            </a:r>
            <a:r>
              <a:rPr lang="zh-CN" alt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各国</a:t>
            </a:r>
            <a:r>
              <a:rPr lang="en-US" altLang="zh-CN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GDP</a:t>
            </a:r>
            <a:r>
              <a:rPr lang="zh-CN" alt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的条形组图</a:t>
            </a:r>
            <a:endParaRPr lang="zh-CN" alt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gdpt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gdp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' </a:t>
            </a:r>
            <a:r>
              <a:rPr lang="en-US" altLang="zh-CN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转置</a:t>
            </a:r>
            <a:endParaRPr lang="zh-CN" alt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bar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t,gdpt,text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gdpt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zh-CN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调整</a:t>
            </a:r>
            <a:r>
              <a:rPr lang="en-US" altLang="zh-CN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zh-CN" alt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轴</a:t>
            </a:r>
            <a:endParaRPr lang="zh-CN" alt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ylim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([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21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 </a:t>
            </a:r>
          </a:p>
          <a:p>
            <a:r>
              <a:rPr lang="en-US" altLang="zh-CN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坐标轴标签</a:t>
            </a:r>
            <a:endParaRPr lang="zh-CN" alt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xlabel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zh-CN" alt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时间</a:t>
            </a:r>
            <a:r>
              <a:rPr lang="en-US" altLang="zh-C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zh-CN" alt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年</a:t>
            </a:r>
            <a:r>
              <a:rPr lang="en-US" altLang="zh-C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zh-CN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ylabel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"GDP,</a:t>
            </a:r>
            <a:r>
              <a:rPr lang="zh-CN" alt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亿元</a:t>
            </a:r>
            <a:r>
              <a:rPr lang="en-US" altLang="zh-C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</a:p>
          <a:p>
            <a:r>
              <a:rPr lang="en-US" altLang="zh-CN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三个国家</a:t>
            </a:r>
            <a:r>
              <a:rPr lang="en-US" altLang="zh-CN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GDP</a:t>
            </a:r>
            <a:r>
              <a:rPr lang="zh-CN" alt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图例</a:t>
            </a:r>
            <a:endParaRPr lang="zh-CN" alt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legend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([</a:t>
            </a:r>
            <a:r>
              <a:rPr lang="en-US" altLang="zh-C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"CN"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"US"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"JP"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9060855-C6FC-4951-891F-28DC51E03C6B}"/>
              </a:ext>
            </a:extLst>
          </p:cNvPr>
          <p:cNvSpPr txBox="1"/>
          <p:nvPr/>
        </p:nvSpPr>
        <p:spPr>
          <a:xfrm>
            <a:off x="3223257" y="732475"/>
            <a:ext cx="5920743" cy="33855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>
            <a:defPPr>
              <a:defRPr lang="zh-CN"/>
            </a:defPPr>
            <a:lvl1pPr algn="dist">
              <a:defRPr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1600" dirty="0"/>
              <a:t>组样式属性对组参数：</a:t>
            </a:r>
            <a:r>
              <a:rPr lang="en-US" altLang="zh-CN" sz="1600" dirty="0"/>
              <a:t>style=</a:t>
            </a:r>
            <a:r>
              <a:rPr lang="zh-CN" altLang="en-US" sz="1600" dirty="0"/>
              <a:t>“</a:t>
            </a:r>
            <a:r>
              <a:rPr lang="en-US" altLang="zh-CN" sz="1600" dirty="0"/>
              <a:t>grouped”,</a:t>
            </a:r>
            <a:r>
              <a:rPr lang="zh-CN" altLang="en-US" sz="1600" dirty="0"/>
              <a:t> 即分组样式，默认</a:t>
            </a:r>
            <a:endParaRPr lang="en-US" altLang="zh-CN" sz="160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DD07ACF-E303-4F34-87F7-98EC2F0A11B8}"/>
              </a:ext>
            </a:extLst>
          </p:cNvPr>
          <p:cNvSpPr txBox="1"/>
          <p:nvPr/>
        </p:nvSpPr>
        <p:spPr>
          <a:xfrm>
            <a:off x="2634968" y="3608370"/>
            <a:ext cx="259228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i="0" dirty="0">
                <a:solidFill>
                  <a:srgbClr val="FF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US\CN\JP</a:t>
            </a:r>
            <a:r>
              <a:rPr lang="zh-CN" altLang="en-US" b="1" i="0" dirty="0">
                <a:solidFill>
                  <a:srgbClr val="FF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三个条形构成条形组，即分组样式 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2" name="AutoShape 13">
            <a:extLst>
              <a:ext uri="{FF2B5EF4-FFF2-40B4-BE49-F238E27FC236}">
                <a16:creationId xmlns:a16="http://schemas.microsoft.com/office/drawing/2014/main" id="{82F6F24A-9073-4D57-B504-90FC7C555B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4706" y="2040428"/>
            <a:ext cx="1222565" cy="603330"/>
          </a:xfrm>
          <a:prstGeom prst="irregularSeal2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>
            <a:solidFill>
              <a:srgbClr val="00FF00"/>
            </a:solidFill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none" anchor="ctr"/>
          <a:lstStyle/>
          <a:p>
            <a:pPr eaLnBrk="0" hangingPunct="0">
              <a:lnSpc>
                <a:spcPct val="150000"/>
              </a:lnSpc>
              <a:defRPr/>
            </a:pPr>
            <a:r>
              <a:rPr lang="zh-CN" altLang="en-US" sz="16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</a:t>
            </a:r>
            <a:endParaRPr lang="en-US" altLang="zh-CN" sz="16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B59D5CA-5613-4493-8E3D-F53528660B0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633" t="12148" r="7361" b="8000"/>
          <a:stretch/>
        </p:blipFill>
        <p:spPr>
          <a:xfrm>
            <a:off x="5554929" y="2553472"/>
            <a:ext cx="3288494" cy="1984045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7C9E438F-ABCC-4CDC-9AAE-F43D8F3AE2CD}"/>
              </a:ext>
            </a:extLst>
          </p:cNvPr>
          <p:cNvSpPr txBox="1"/>
          <p:nvPr/>
        </p:nvSpPr>
        <p:spPr>
          <a:xfrm>
            <a:off x="4781639" y="2009745"/>
            <a:ext cx="4386334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hangingPunct="0">
              <a:lnSpc>
                <a:spcPct val="150000"/>
              </a:lnSpc>
              <a:defRPr/>
            </a:pPr>
            <a:r>
              <a:rPr lang="zh-CN" altLang="en-US" sz="1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向量</a:t>
            </a:r>
            <a:r>
              <a:rPr lang="en-US" altLang="zh-CN" sz="1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1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元素个数等于矩阵</a:t>
            </a:r>
            <a:r>
              <a:rPr lang="en-US" altLang="zh-CN" sz="1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zh-CN" altLang="en-US" sz="1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行数</a:t>
            </a:r>
            <a:r>
              <a:rPr lang="en-US" altLang="zh-CN" sz="1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zh-CN" altLang="en-US" sz="1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或列数</a:t>
            </a:r>
            <a:r>
              <a:rPr lang="en-US" altLang="zh-CN" sz="1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</a:p>
        </p:txBody>
      </p:sp>
    </p:spTree>
    <p:extLst>
      <p:ext uri="{BB962C8B-B14F-4D97-AF65-F5344CB8AC3E}">
        <p14:creationId xmlns:p14="http://schemas.microsoft.com/office/powerpoint/2010/main" val="40075975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5D36AEC1-F67C-4A0B-8DD6-15626246A072}"/>
              </a:ext>
            </a:extLst>
          </p:cNvPr>
          <p:cNvSpPr txBox="1"/>
          <p:nvPr/>
        </p:nvSpPr>
        <p:spPr>
          <a:xfrm>
            <a:off x="20249" y="1936730"/>
            <a:ext cx="8885544" cy="2677656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zh-CN" altLang="en-US" sz="1400" dirty="0"/>
              <a:t>julia&gt; gdp  </a:t>
            </a:r>
            <a:r>
              <a:rPr lang="en-US" altLang="zh-CN" sz="1400" dirty="0"/>
              <a:t>#10*3</a:t>
            </a:r>
            <a:r>
              <a:rPr lang="zh-CN" altLang="en-US" sz="1400" dirty="0"/>
              <a:t>列的矩阵</a:t>
            </a:r>
          </a:p>
          <a:p>
            <a:r>
              <a:rPr lang="zh-CN" altLang="en-US" sz="1400" dirty="0">
                <a:solidFill>
                  <a:srgbClr val="00B0F0"/>
                </a:solidFill>
              </a:rPr>
              <a:t>10×3 adjoint(::Matrix{Float64}) with eltype Float64:</a:t>
            </a:r>
          </a:p>
          <a:p>
            <a:r>
              <a:rPr lang="zh-CN" altLang="en-US" sz="1400" b="1" dirty="0">
                <a:solidFill>
                  <a:srgbClr val="FF0000"/>
                </a:solidFill>
              </a:rPr>
              <a:t>  4.598  14.719  5.038</a:t>
            </a:r>
          </a:p>
          <a:p>
            <a:r>
              <a:rPr lang="zh-CN" altLang="en-US" sz="1400" dirty="0">
                <a:solidFill>
                  <a:srgbClr val="00B0F0"/>
                </a:solidFill>
              </a:rPr>
              <a:t>  5.11   14.419  5.231</a:t>
            </a:r>
          </a:p>
          <a:p>
            <a:r>
              <a:rPr lang="zh-CN" altLang="en-US" sz="1400" dirty="0">
                <a:solidFill>
                  <a:srgbClr val="00B0F0"/>
                </a:solidFill>
              </a:rPr>
              <a:t>  6.101  14.964  5.7</a:t>
            </a:r>
          </a:p>
          <a:p>
            <a:r>
              <a:rPr lang="zh-CN" altLang="en-US" sz="1400" dirty="0">
                <a:solidFill>
                  <a:srgbClr val="00B0F0"/>
                </a:solidFill>
              </a:rPr>
              <a:t>  7.573  15.518  6.157</a:t>
            </a:r>
          </a:p>
          <a:p>
            <a:r>
              <a:rPr lang="zh-CN" altLang="en-US" sz="1400" dirty="0">
                <a:solidFill>
                  <a:srgbClr val="00B0F0"/>
                </a:solidFill>
              </a:rPr>
              <a:t>  8.561  16.155  6.203</a:t>
            </a:r>
          </a:p>
          <a:p>
            <a:r>
              <a:rPr lang="zh-CN" altLang="en-US" sz="1400" dirty="0">
                <a:solidFill>
                  <a:srgbClr val="00B0F0"/>
                </a:solidFill>
              </a:rPr>
              <a:t>  9.607  16.692  5.156</a:t>
            </a:r>
          </a:p>
          <a:p>
            <a:r>
              <a:rPr lang="zh-CN" altLang="en-US" sz="1400" dirty="0">
                <a:solidFill>
                  <a:srgbClr val="00B0F0"/>
                </a:solidFill>
              </a:rPr>
              <a:t> 10.482  17.428  4.85 </a:t>
            </a:r>
          </a:p>
          <a:p>
            <a:r>
              <a:rPr lang="zh-CN" altLang="en-US" sz="1400" dirty="0">
                <a:solidFill>
                  <a:srgbClr val="00B0F0"/>
                </a:solidFill>
              </a:rPr>
              <a:t> 11.065  18.121  4.395</a:t>
            </a:r>
          </a:p>
          <a:p>
            <a:r>
              <a:rPr lang="zh-CN" altLang="en-US" sz="1400" dirty="0">
                <a:solidFill>
                  <a:srgbClr val="00B0F0"/>
                </a:solidFill>
              </a:rPr>
              <a:t> 11.191  18.624  4.949</a:t>
            </a:r>
          </a:p>
          <a:p>
            <a:r>
              <a:rPr lang="zh-CN" altLang="en-US" sz="1400" dirty="0">
                <a:solidFill>
                  <a:srgbClr val="00B0F0"/>
                </a:solidFill>
              </a:rPr>
              <a:t> 12.238  19.39   4.872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2C6D055-7C51-4636-8E89-09D8D29916BF}"/>
              </a:ext>
            </a:extLst>
          </p:cNvPr>
          <p:cNvSpPr txBox="1"/>
          <p:nvPr/>
        </p:nvSpPr>
        <p:spPr>
          <a:xfrm>
            <a:off x="20249" y="979007"/>
            <a:ext cx="9036496" cy="1231106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t=</a:t>
            </a:r>
            <a:r>
              <a:rPr lang="en-US" altLang="zh-CN" sz="2000" dirty="0">
                <a:solidFill>
                  <a:srgbClr val="098658"/>
                </a:solidFill>
                <a:latin typeface="Consolas" panose="020B0609020204030204" pitchFamily="49" charset="0"/>
              </a:rPr>
              <a:t>2008</a:t>
            </a: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US" altLang="zh-CN" sz="2000" dirty="0">
                <a:solidFill>
                  <a:srgbClr val="098658"/>
                </a:solidFill>
                <a:latin typeface="Consolas" panose="020B0609020204030204" pitchFamily="49" charset="0"/>
              </a:rPr>
              <a:t>2017</a:t>
            </a: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altLang="zh-CN" sz="2000" dirty="0">
                <a:solidFill>
                  <a:srgbClr val="008000"/>
                </a:solidFill>
                <a:latin typeface="Consolas" panose="020B0609020204030204" pitchFamily="49" charset="0"/>
              </a:rPr>
              <a:t>#</a:t>
            </a:r>
            <a:r>
              <a:rPr lang="zh-CN" alt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生成时间的列向量</a:t>
            </a:r>
            <a:endParaRPr lang="zh-CN" alt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gdp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=[</a:t>
            </a:r>
            <a:r>
              <a:rPr lang="en-US" altLang="zh-CN" dirty="0">
                <a:solidFill>
                  <a:srgbClr val="098658"/>
                </a:solidFill>
                <a:latin typeface="Consolas" panose="020B0609020204030204" pitchFamily="49" charset="0"/>
              </a:rPr>
              <a:t>4.598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098658"/>
                </a:solidFill>
                <a:latin typeface="Consolas" panose="020B0609020204030204" pitchFamily="49" charset="0"/>
              </a:rPr>
              <a:t>5.110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098658"/>
                </a:solidFill>
                <a:latin typeface="Consolas" panose="020B0609020204030204" pitchFamily="49" charset="0"/>
              </a:rPr>
              <a:t>6.101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098658"/>
                </a:solidFill>
                <a:latin typeface="Consolas" panose="020B0609020204030204" pitchFamily="49" charset="0"/>
              </a:rPr>
              <a:t>7.573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098658"/>
                </a:solidFill>
                <a:latin typeface="Consolas" panose="020B0609020204030204" pitchFamily="49" charset="0"/>
              </a:rPr>
              <a:t>8.561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098658"/>
                </a:solidFill>
                <a:latin typeface="Consolas" panose="020B0609020204030204" pitchFamily="49" charset="0"/>
              </a:rPr>
              <a:t>9.607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098658"/>
                </a:solidFill>
                <a:latin typeface="Consolas" panose="020B0609020204030204" pitchFamily="49" charset="0"/>
              </a:rPr>
              <a:t>10.482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098658"/>
                </a:solidFill>
                <a:latin typeface="Consolas" panose="020B0609020204030204" pitchFamily="49" charset="0"/>
              </a:rPr>
              <a:t>11.065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098658"/>
                </a:solidFill>
                <a:latin typeface="Consolas" panose="020B0609020204030204" pitchFamily="49" charset="0"/>
              </a:rPr>
              <a:t>11.191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098658"/>
                </a:solidFill>
                <a:latin typeface="Consolas" panose="020B0609020204030204" pitchFamily="49" charset="0"/>
              </a:rPr>
              <a:t>12.238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altLang="zh-CN" dirty="0">
                <a:solidFill>
                  <a:srgbClr val="098658"/>
                </a:solidFill>
                <a:latin typeface="Consolas" panose="020B0609020204030204" pitchFamily="49" charset="0"/>
              </a:rPr>
              <a:t>14.719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098658"/>
                </a:solidFill>
                <a:latin typeface="Consolas" panose="020B0609020204030204" pitchFamily="49" charset="0"/>
              </a:rPr>
              <a:t>14.419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098658"/>
                </a:solidFill>
                <a:latin typeface="Consolas" panose="020B0609020204030204" pitchFamily="49" charset="0"/>
              </a:rPr>
              <a:t>14.964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098658"/>
                </a:solidFill>
                <a:latin typeface="Consolas" panose="020B0609020204030204" pitchFamily="49" charset="0"/>
              </a:rPr>
              <a:t>15.518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098658"/>
                </a:solidFill>
                <a:latin typeface="Consolas" panose="020B0609020204030204" pitchFamily="49" charset="0"/>
              </a:rPr>
              <a:t>16.155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098658"/>
                </a:solidFill>
                <a:latin typeface="Consolas" panose="020B0609020204030204" pitchFamily="49" charset="0"/>
              </a:rPr>
              <a:t>16.692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098658"/>
                </a:solidFill>
                <a:latin typeface="Consolas" panose="020B0609020204030204" pitchFamily="49" charset="0"/>
              </a:rPr>
              <a:t>17.428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098658"/>
                </a:solidFill>
                <a:latin typeface="Consolas" panose="020B0609020204030204" pitchFamily="49" charset="0"/>
              </a:rPr>
              <a:t>18.121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098658"/>
                </a:solidFill>
                <a:latin typeface="Consolas" panose="020B0609020204030204" pitchFamily="49" charset="0"/>
              </a:rPr>
              <a:t>18.624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098658"/>
                </a:solidFill>
                <a:latin typeface="Consolas" panose="020B0609020204030204" pitchFamily="49" charset="0"/>
              </a:rPr>
              <a:t>19.39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altLang="zh-CN" dirty="0">
                <a:solidFill>
                  <a:srgbClr val="098658"/>
                </a:solidFill>
                <a:latin typeface="Consolas" panose="020B0609020204030204" pitchFamily="49" charset="0"/>
              </a:rPr>
              <a:t>5.038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098658"/>
                </a:solidFill>
                <a:latin typeface="Consolas" panose="020B0609020204030204" pitchFamily="49" charset="0"/>
              </a:rPr>
              <a:t>5.231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098658"/>
                </a:solidFill>
                <a:latin typeface="Consolas" panose="020B0609020204030204" pitchFamily="49" charset="0"/>
              </a:rPr>
              <a:t>5.700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098658"/>
                </a:solidFill>
                <a:latin typeface="Consolas" panose="020B0609020204030204" pitchFamily="49" charset="0"/>
              </a:rPr>
              <a:t>6.157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098658"/>
                </a:solidFill>
                <a:latin typeface="Consolas" panose="020B0609020204030204" pitchFamily="49" charset="0"/>
              </a:rPr>
              <a:t>6.203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098658"/>
                </a:solidFill>
                <a:latin typeface="Consolas" panose="020B0609020204030204" pitchFamily="49" charset="0"/>
              </a:rPr>
              <a:t>5.156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098658"/>
                </a:solidFill>
                <a:latin typeface="Consolas" panose="020B0609020204030204" pitchFamily="49" charset="0"/>
              </a:rPr>
              <a:t>4.850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098658"/>
                </a:solidFill>
                <a:latin typeface="Consolas" panose="020B0609020204030204" pitchFamily="49" charset="0"/>
              </a:rPr>
              <a:t>4.395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098658"/>
                </a:solidFill>
                <a:latin typeface="Consolas" panose="020B0609020204030204" pitchFamily="49" charset="0"/>
              </a:rPr>
              <a:t>4.949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098658"/>
                </a:solidFill>
                <a:latin typeface="Consolas" panose="020B0609020204030204" pitchFamily="49" charset="0"/>
              </a:rPr>
              <a:t>4.872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]'; </a:t>
            </a:r>
            <a:r>
              <a:rPr lang="en-US" altLang="zh-CN" dirty="0">
                <a:solidFill>
                  <a:srgbClr val="008000"/>
                </a:solidFill>
                <a:latin typeface="Consolas" panose="020B0609020204030204" pitchFamily="49" charset="0"/>
              </a:rPr>
              <a:t>#</a:t>
            </a:r>
            <a:r>
              <a:rPr lang="zh-CN" altLang="en-US" dirty="0">
                <a:solidFill>
                  <a:srgbClr val="008000"/>
                </a:solidFill>
                <a:latin typeface="Consolas" panose="020B0609020204030204" pitchFamily="49" charset="0"/>
              </a:rPr>
              <a:t>转置</a:t>
            </a:r>
            <a:endParaRPr lang="zh-CN" alt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B3398A0-D961-4614-B81C-686D33EC893F}"/>
              </a:ext>
            </a:extLst>
          </p:cNvPr>
          <p:cNvSpPr txBox="1"/>
          <p:nvPr/>
        </p:nvSpPr>
        <p:spPr>
          <a:xfrm>
            <a:off x="899592" y="105455"/>
            <a:ext cx="809431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隶书" panose="02010509060101010101" charset="-122"/>
              </a:rPr>
              <a:t>§</a:t>
            </a:r>
            <a:r>
              <a:rPr lang="en-US" altLang="zh-CN" sz="28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3.4 </a:t>
            </a:r>
            <a:r>
              <a:rPr lang="zh-CN" altLang="en-US" sz="28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数据统计分析图</a:t>
            </a:r>
            <a:r>
              <a:rPr lang="en-US" altLang="zh-CN" sz="28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——bar</a:t>
            </a:r>
            <a:r>
              <a:rPr lang="zh-CN" altLang="en-US" sz="28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绘制</a:t>
            </a:r>
            <a:r>
              <a:rPr lang="en-US" altLang="zh-CN" sz="28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y</a:t>
            </a:r>
            <a:r>
              <a:rPr lang="zh-CN" altLang="en-US" sz="28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矩阵堆叠条形图</a:t>
            </a:r>
            <a:endParaRPr lang="zh-CN" altLang="en-US" sz="28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C8BAF62-45AE-413C-A9E9-782418C05B75}"/>
              </a:ext>
            </a:extLst>
          </p:cNvPr>
          <p:cNvSpPr txBox="1"/>
          <p:nvPr/>
        </p:nvSpPr>
        <p:spPr>
          <a:xfrm>
            <a:off x="28504" y="682516"/>
            <a:ext cx="8965349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>
            <a:defPPr>
              <a:defRPr lang="zh-CN"/>
            </a:defPPr>
            <a:lvl1pPr algn="dist">
              <a:defRPr sz="2000" b="1" bmk="OLE_LINK3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l"/>
            <a:r>
              <a:rPr lang="zh-CN" altLang="en-US" sz="1800" dirty="0"/>
              <a:t>组样式是常见条形图属性之一，</a:t>
            </a:r>
            <a:r>
              <a:rPr lang="en-US" altLang="zh-CN" sz="1800" dirty="0"/>
              <a:t>style</a:t>
            </a:r>
            <a:r>
              <a:rPr lang="zh-CN" altLang="en-US" sz="1800" dirty="0"/>
              <a:t>值为分组“</a:t>
            </a:r>
            <a:r>
              <a:rPr lang="en-US" altLang="zh-CN" sz="1800" dirty="0"/>
              <a:t>grouped”(</a:t>
            </a:r>
            <a:r>
              <a:rPr lang="zh-CN" altLang="en-US" sz="1800" dirty="0"/>
              <a:t>默认）和堆叠</a:t>
            </a:r>
            <a:r>
              <a:rPr lang="zh-CN" altLang="zh-CN" sz="1800" dirty="0"/>
              <a:t>“stacked”</a:t>
            </a:r>
            <a:endParaRPr lang="en-US" altLang="zh-CN" sz="1800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75D5FC0-CA31-48A4-BDA6-7D753955A79E}"/>
              </a:ext>
            </a:extLst>
          </p:cNvPr>
          <p:cNvSpPr txBox="1"/>
          <p:nvPr/>
        </p:nvSpPr>
        <p:spPr>
          <a:xfrm>
            <a:off x="2471094" y="2558557"/>
            <a:ext cx="2820986" cy="11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堆叠为矩阵每一行元素之和作为条形的高度</a:t>
            </a:r>
            <a:r>
              <a:rPr lang="en-US" altLang="zh-CN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;</a:t>
            </a:r>
          </a:p>
          <a:p>
            <a:pPr>
              <a:lnSpc>
                <a:spcPts val="2900"/>
              </a:lnSpc>
            </a:pPr>
            <a:endParaRPr lang="zh-CN" altLang="zh-CN" sz="1800" kern="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波形 11">
            <a:extLst>
              <a:ext uri="{FF2B5EF4-FFF2-40B4-BE49-F238E27FC236}">
                <a16:creationId xmlns:a16="http://schemas.microsoft.com/office/drawing/2014/main" id="{D3428272-1F89-4105-94F4-B7BF98609897}"/>
              </a:ext>
            </a:extLst>
          </p:cNvPr>
          <p:cNvSpPr/>
          <p:nvPr/>
        </p:nvSpPr>
        <p:spPr>
          <a:xfrm>
            <a:off x="22529" y="254625"/>
            <a:ext cx="523442" cy="492992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24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例4</a:t>
            </a:r>
            <a:endParaRPr lang="ko-KR" altLang="en-US" sz="24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8663E0E8-8F05-4866-B037-3AD75DE70F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672" y="2933388"/>
            <a:ext cx="3069342" cy="1647580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5DFA817B-E5CF-496A-B1E4-03152F66C4A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633" t="12148" r="7361" b="8000"/>
          <a:stretch/>
        </p:blipFill>
        <p:spPr>
          <a:xfrm>
            <a:off x="5751130" y="1138347"/>
            <a:ext cx="3069342" cy="1596765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9633D225-99C1-4042-9872-C0C7C548A502}"/>
              </a:ext>
            </a:extLst>
          </p:cNvPr>
          <p:cNvSpPr txBox="1"/>
          <p:nvPr/>
        </p:nvSpPr>
        <p:spPr>
          <a:xfrm>
            <a:off x="2494923" y="3397238"/>
            <a:ext cx="3069342" cy="11793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堆叠图可以</a:t>
            </a:r>
            <a:r>
              <a:rPr lang="zh-CN" altLang="zh-CN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显示</a:t>
            </a:r>
            <a:r>
              <a:rPr lang="zh-CN" altLang="en-US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各部区域</a:t>
            </a:r>
            <a:r>
              <a:rPr lang="zh-CN" altLang="zh-CN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占</a:t>
            </a:r>
            <a:r>
              <a:rPr lang="zh-CN" altLang="en-US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总区域</a:t>
            </a:r>
            <a:r>
              <a:rPr lang="zh-CN" altLang="zh-CN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相对量</a:t>
            </a:r>
            <a:r>
              <a:rPr lang="zh-CN" altLang="en-US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，更好表征总体和个体关系</a:t>
            </a:r>
          </a:p>
        </p:txBody>
      </p:sp>
    </p:spTree>
    <p:extLst>
      <p:ext uri="{BB962C8B-B14F-4D97-AF65-F5344CB8AC3E}">
        <p14:creationId xmlns:p14="http://schemas.microsoft.com/office/powerpoint/2010/main" val="1534222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1" grpId="0"/>
      <p:bldP spid="1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8A894056-3782-4894-80A6-AC877B34295B}"/>
              </a:ext>
            </a:extLst>
          </p:cNvPr>
          <p:cNvSpPr txBox="1"/>
          <p:nvPr/>
        </p:nvSpPr>
        <p:spPr>
          <a:xfrm>
            <a:off x="761651" y="111480"/>
            <a:ext cx="8382349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6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隶书" panose="02010509060101010101" charset="-122"/>
              </a:rPr>
              <a:t>§</a:t>
            </a:r>
            <a:r>
              <a:rPr lang="en-US" altLang="zh-CN" sz="26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3.4 </a:t>
            </a:r>
            <a:r>
              <a:rPr lang="zh-CN" altLang="en-US" sz="26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数据统计分析图</a:t>
            </a:r>
            <a:r>
              <a:rPr lang="en-US" altLang="zh-CN" sz="26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——bar</a:t>
            </a:r>
            <a:r>
              <a:rPr lang="zh-CN" altLang="en-US" sz="26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绘制</a:t>
            </a:r>
            <a:r>
              <a:rPr lang="en-US" altLang="zh-CN" sz="26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y</a:t>
            </a:r>
            <a:r>
              <a:rPr lang="zh-CN" altLang="en-US" sz="26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矩阵堆叠条形图代码</a:t>
            </a:r>
            <a:endParaRPr lang="zh-CN" altLang="en-US" sz="26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8" name="波形 7">
            <a:extLst>
              <a:ext uri="{FF2B5EF4-FFF2-40B4-BE49-F238E27FC236}">
                <a16:creationId xmlns:a16="http://schemas.microsoft.com/office/drawing/2014/main" id="{C66D05D1-7EA9-490C-B627-4CA92AA2A434}"/>
              </a:ext>
            </a:extLst>
          </p:cNvPr>
          <p:cNvSpPr/>
          <p:nvPr/>
        </p:nvSpPr>
        <p:spPr>
          <a:xfrm>
            <a:off x="248917" y="707372"/>
            <a:ext cx="523442" cy="339408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20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例4</a:t>
            </a:r>
            <a:endParaRPr lang="ko-KR" altLang="en-US" sz="20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6475F5A-06A3-4A9E-AB40-AB4DAAD67AD5}"/>
              </a:ext>
            </a:extLst>
          </p:cNvPr>
          <p:cNvSpPr/>
          <p:nvPr/>
        </p:nvSpPr>
        <p:spPr>
          <a:xfrm>
            <a:off x="899592" y="711843"/>
            <a:ext cx="8136904" cy="4001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dist"/>
            <a:r>
              <a:rPr lang="en-US" altLang="zh-CN" sz="2000" b="1" dirty="0" bmk="OLE_LINK3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2008</a:t>
            </a:r>
            <a:r>
              <a:rPr lang="zh-CN" altLang="en-US" sz="2000" b="1" dirty="0" bmk="OLE_LINK3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到</a:t>
            </a:r>
            <a:r>
              <a:rPr lang="en-US" altLang="zh-CN" sz="2000" b="1" dirty="0" bmk="OLE_LINK3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2017</a:t>
            </a:r>
            <a:r>
              <a:rPr lang="zh-CN" altLang="en-US" sz="2000" b="1" dirty="0" bmk="OLE_LINK3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年中美日三国</a:t>
            </a:r>
            <a:r>
              <a:rPr lang="en-US" altLang="zh-CN" sz="2000" b="1" dirty="0" bmk="OLE_LINK3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sz="2000" b="1" dirty="0" bmk="OLE_LINK3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2000" b="1" dirty="0" bmk="OLE_LINK3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GDP</a:t>
            </a:r>
            <a:r>
              <a:rPr lang="zh-CN" altLang="en-US" sz="2000" b="1" dirty="0" bmk="OLE_LINK3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的堆叠条形图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72A6426-E89D-40BE-9B73-488E8BC82304}"/>
              </a:ext>
            </a:extLst>
          </p:cNvPr>
          <p:cNvSpPr txBox="1"/>
          <p:nvPr/>
        </p:nvSpPr>
        <p:spPr>
          <a:xfrm>
            <a:off x="107504" y="1046780"/>
            <a:ext cx="6984776" cy="3598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500"/>
              </a:lnSpc>
            </a:pP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t=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2008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2017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生成时间的列向量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500"/>
              </a:lnSpc>
            </a:pP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gdp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=[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4.598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5.110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6.101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7.573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8.561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9.607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10.482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11.065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11.191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12.238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500"/>
              </a:lnSpc>
            </a:pP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14.719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14.419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14.964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15.518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16.155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16.692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17.428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18.121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18.624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19.39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500"/>
              </a:lnSpc>
            </a:pP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5.038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5.231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5.700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6.157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6.203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5.156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4.850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4.395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4.949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4.872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]'; 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转置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500"/>
              </a:lnSpc>
            </a:pPr>
            <a:r>
              <a:rPr lang="en-US" altLang="zh-CN" b="1" dirty="0">
                <a:solidFill>
                  <a:srgbClr val="0070C0"/>
                </a:solidFill>
                <a:effectLst/>
                <a:latin typeface="Consolas" panose="020B0609020204030204" pitchFamily="49" charset="0"/>
              </a:rPr>
              <a:t>bar(</a:t>
            </a:r>
            <a:r>
              <a:rPr lang="en-US" altLang="zh-CN" b="1" dirty="0" err="1">
                <a:solidFill>
                  <a:srgbClr val="0070C0"/>
                </a:solidFill>
                <a:effectLst/>
                <a:latin typeface="Consolas" panose="020B0609020204030204" pitchFamily="49" charset="0"/>
              </a:rPr>
              <a:t>t,gdp,style</a:t>
            </a:r>
            <a:r>
              <a:rPr lang="en-US" altLang="zh-CN" b="1" dirty="0">
                <a:solidFill>
                  <a:srgbClr val="0070C0"/>
                </a:solidFill>
                <a:effectLst/>
                <a:latin typeface="Consolas" panose="020B0609020204030204" pitchFamily="49" charset="0"/>
              </a:rPr>
              <a:t>="stacked")</a:t>
            </a:r>
          </a:p>
          <a:p>
            <a:pPr>
              <a:lnSpc>
                <a:spcPts val="2500"/>
              </a:lnSpc>
            </a:pPr>
            <a:r>
              <a:rPr lang="en-US" altLang="zh-C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zh-CN" alt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美国、中国和日本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zh-CN" alt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年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GDP</a:t>
            </a:r>
            <a:r>
              <a:rPr lang="zh-CN" alt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堆叠条形图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2500"/>
              </a:lnSpc>
            </a:pPr>
            <a:r>
              <a:rPr lang="en-US" altLang="zh-C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xlabel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zh-CN" alt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时间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zh-CN" alt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年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altLang="zh-C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ylabel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"GDP,</a:t>
            </a:r>
            <a:r>
              <a:rPr lang="zh-CN" alt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亿元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</a:p>
          <a:p>
            <a:pPr>
              <a:lnSpc>
                <a:spcPts val="2500"/>
              </a:lnSpc>
            </a:pPr>
            <a:r>
              <a:rPr lang="en-US" altLang="zh-C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legend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([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"CN"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"US"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"JP"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755903E-D8FA-4E4E-8195-CD04A40E38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2400" y="2931790"/>
            <a:ext cx="2583123" cy="1635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22430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7EDE7A9C-9F0D-49CD-B9EB-CEB96F0197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519107"/>
              </p:ext>
            </p:extLst>
          </p:nvPr>
        </p:nvGraphicFramePr>
        <p:xfrm>
          <a:off x="297302" y="2023110"/>
          <a:ext cx="8519523" cy="54864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77963">
                  <a:extLst>
                    <a:ext uri="{9D8B030D-6E8A-4147-A177-3AD203B41FA5}">
                      <a16:colId xmlns:a16="http://schemas.microsoft.com/office/drawing/2014/main" val="1970638745"/>
                    </a:ext>
                  </a:extLst>
                </a:gridCol>
                <a:gridCol w="1467538">
                  <a:extLst>
                    <a:ext uri="{9D8B030D-6E8A-4147-A177-3AD203B41FA5}">
                      <a16:colId xmlns:a16="http://schemas.microsoft.com/office/drawing/2014/main" val="3223011762"/>
                    </a:ext>
                  </a:extLst>
                </a:gridCol>
                <a:gridCol w="1813072">
                  <a:extLst>
                    <a:ext uri="{9D8B030D-6E8A-4147-A177-3AD203B41FA5}">
                      <a16:colId xmlns:a16="http://schemas.microsoft.com/office/drawing/2014/main" val="3421729077"/>
                    </a:ext>
                  </a:extLst>
                </a:gridCol>
                <a:gridCol w="1780477">
                  <a:extLst>
                    <a:ext uri="{9D8B030D-6E8A-4147-A177-3AD203B41FA5}">
                      <a16:colId xmlns:a16="http://schemas.microsoft.com/office/drawing/2014/main" val="2786465323"/>
                    </a:ext>
                  </a:extLst>
                </a:gridCol>
                <a:gridCol w="1577263">
                  <a:extLst>
                    <a:ext uri="{9D8B030D-6E8A-4147-A177-3AD203B41FA5}">
                      <a16:colId xmlns:a16="http://schemas.microsoft.com/office/drawing/2014/main" val="2748496235"/>
                    </a:ext>
                  </a:extLst>
                </a:gridCol>
                <a:gridCol w="203210">
                  <a:extLst>
                    <a:ext uri="{9D8B030D-6E8A-4147-A177-3AD203B41FA5}">
                      <a16:colId xmlns:a16="http://schemas.microsoft.com/office/drawing/2014/main" val="2471845968"/>
                    </a:ext>
                  </a:extLst>
                </a:gridCol>
              </a:tblGrid>
              <a:tr h="110755"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CN" sz="1800" b="0" i="0" u="none" strike="noStrike" cap="none" normalizeH="0" baseline="0" dirty="0" err="1" bmk="OLE_LINK3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SiC</a:t>
                      </a:r>
                      <a:r>
                        <a:rPr kumimoji="0" lang="en-US" altLang="zh-CN" sz="1800" b="0" i="0" u="none" strike="noStrike" cap="none" normalizeH="0" baseline="-30000" dirty="0" err="1" bmk="OLE_LINK3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  <a:endParaRPr lang="zh-CN" sz="1800" b="0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gradFill flip="none" rotWithShape="1">
                      <a:gsLst>
                        <a:gs pos="0">
                          <a:srgbClr val="0070C0">
                            <a:shade val="30000"/>
                            <a:satMod val="115000"/>
                          </a:srgbClr>
                        </a:gs>
                        <a:gs pos="50000">
                          <a:srgbClr val="0070C0">
                            <a:shade val="67500"/>
                            <a:satMod val="115000"/>
                          </a:srgbClr>
                        </a:gs>
                        <a:gs pos="100000">
                          <a:srgbClr val="0070C0">
                            <a:shade val="100000"/>
                            <a:satMod val="115000"/>
                          </a:srgbClr>
                        </a:gs>
                      </a:gsLst>
                      <a:path path="circle">
                        <a:fillToRect t="100000" r="100000"/>
                      </a:path>
                      <a:tileRect l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kern="100" dirty="0">
                          <a:solidFill>
                            <a:schemeClr val="bg1"/>
                          </a:solidFill>
                          <a:effectLst/>
                        </a:rPr>
                        <a:t>40</a:t>
                      </a:r>
                      <a:r>
                        <a:rPr lang="en-US" altLang="zh-CN" sz="1800" b="0" kern="100" dirty="0">
                          <a:solidFill>
                            <a:schemeClr val="bg1"/>
                          </a:solidFill>
                          <a:effectLst/>
                        </a:rPr>
                        <a:t>nm</a:t>
                      </a:r>
                      <a:r>
                        <a:rPr lang="zh-CN" altLang="en-US" sz="1800" b="0" kern="100" dirty="0">
                          <a:solidFill>
                            <a:schemeClr val="bg1"/>
                          </a:solidFill>
                          <a:effectLst/>
                        </a:rPr>
                        <a:t>纳米级</a:t>
                      </a:r>
                      <a:endParaRPr lang="zh-CN" sz="1800" b="0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gradFill flip="none" rotWithShape="1">
                      <a:gsLst>
                        <a:gs pos="0">
                          <a:srgbClr val="0070C0">
                            <a:shade val="30000"/>
                            <a:satMod val="115000"/>
                          </a:srgbClr>
                        </a:gs>
                        <a:gs pos="50000">
                          <a:srgbClr val="0070C0">
                            <a:shade val="67500"/>
                            <a:satMod val="115000"/>
                          </a:srgbClr>
                        </a:gs>
                        <a:gs pos="100000">
                          <a:srgbClr val="0070C0">
                            <a:shade val="100000"/>
                            <a:satMod val="115000"/>
                          </a:srgbClr>
                        </a:gs>
                      </a:gsLst>
                      <a:path path="circle">
                        <a:fillToRect t="100000" r="100000"/>
                      </a:path>
                      <a:tileRect l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kern="100" dirty="0">
                          <a:solidFill>
                            <a:schemeClr val="bg1"/>
                          </a:solidFill>
                          <a:effectLst/>
                        </a:rPr>
                        <a:t>500</a:t>
                      </a:r>
                      <a:r>
                        <a:rPr lang="en-US" altLang="zh-CN" sz="1800" b="0" kern="100" dirty="0">
                          <a:solidFill>
                            <a:schemeClr val="bg1"/>
                          </a:solidFill>
                          <a:effectLst/>
                        </a:rPr>
                        <a:t>nm</a:t>
                      </a:r>
                      <a:r>
                        <a:rPr lang="zh-CN" altLang="en-US" sz="1800" b="0" kern="100" dirty="0">
                          <a:solidFill>
                            <a:schemeClr val="bg1"/>
                          </a:solidFill>
                          <a:effectLst/>
                        </a:rPr>
                        <a:t>亚微米级</a:t>
                      </a:r>
                      <a:endParaRPr lang="zh-CN" sz="1800" b="0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gradFill flip="none" rotWithShape="1">
                      <a:gsLst>
                        <a:gs pos="0">
                          <a:srgbClr val="0070C0">
                            <a:shade val="30000"/>
                            <a:satMod val="115000"/>
                          </a:srgbClr>
                        </a:gs>
                        <a:gs pos="50000">
                          <a:srgbClr val="0070C0">
                            <a:shade val="67500"/>
                            <a:satMod val="115000"/>
                          </a:srgbClr>
                        </a:gs>
                        <a:gs pos="100000">
                          <a:srgbClr val="0070C0">
                            <a:shade val="100000"/>
                            <a:satMod val="115000"/>
                          </a:srgbClr>
                        </a:gs>
                      </a:gsLst>
                      <a:path path="circle">
                        <a:fillToRect t="100000" r="100000"/>
                      </a:path>
                      <a:tileRect l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kern="100" dirty="0">
                          <a:solidFill>
                            <a:schemeClr val="bg1"/>
                          </a:solidFill>
                          <a:effectLst/>
                        </a:rPr>
                        <a:t>1</a:t>
                      </a:r>
                      <a:r>
                        <a:rPr lang="el-GR" altLang="zh-CN" sz="1800" b="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μ</a:t>
                      </a:r>
                      <a:r>
                        <a:rPr lang="en-US" altLang="zh-CN" sz="1800" b="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m</a:t>
                      </a:r>
                      <a:r>
                        <a:rPr lang="zh-CN" altLang="en-US" sz="1800" b="0" kern="100" dirty="0">
                          <a:solidFill>
                            <a:schemeClr val="bg1"/>
                          </a:solidFill>
                          <a:effectLst/>
                        </a:rPr>
                        <a:t>微米级</a:t>
                      </a:r>
                      <a:endParaRPr lang="zh-CN" sz="1800" b="0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gradFill flip="none" rotWithShape="1">
                      <a:gsLst>
                        <a:gs pos="0">
                          <a:srgbClr val="0070C0">
                            <a:shade val="30000"/>
                            <a:satMod val="115000"/>
                          </a:srgbClr>
                        </a:gs>
                        <a:gs pos="50000">
                          <a:srgbClr val="0070C0">
                            <a:shade val="67500"/>
                            <a:satMod val="115000"/>
                          </a:srgbClr>
                        </a:gs>
                        <a:gs pos="100000">
                          <a:srgbClr val="0070C0">
                            <a:shade val="100000"/>
                            <a:satMod val="115000"/>
                          </a:srgbClr>
                        </a:gs>
                      </a:gsLst>
                      <a:path path="circle">
                        <a:fillToRect t="100000" r="100000"/>
                      </a:path>
                      <a:tileRect l="-100000" b="-100000"/>
                    </a:gra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1800" b="0" kern="100" dirty="0">
                          <a:solidFill>
                            <a:schemeClr val="bg1"/>
                          </a:solidFill>
                          <a:effectLst/>
                        </a:rPr>
                        <a:t>5</a:t>
                      </a:r>
                      <a:r>
                        <a:rPr lang="el-GR" altLang="zh-CN" sz="1800" b="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μ</a:t>
                      </a:r>
                      <a:r>
                        <a:rPr lang="en-US" altLang="zh-CN" sz="1800" b="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m</a:t>
                      </a:r>
                      <a:r>
                        <a:rPr lang="zh-CN" altLang="en-US" sz="1800" b="0" kern="100" dirty="0">
                          <a:solidFill>
                            <a:schemeClr val="bg1"/>
                          </a:solidFill>
                          <a:effectLst/>
                        </a:rPr>
                        <a:t>微米级</a:t>
                      </a:r>
                      <a:endParaRPr lang="zh-CN" sz="1800" b="0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gradFill flip="none" rotWithShape="1">
                      <a:gsLst>
                        <a:gs pos="0">
                          <a:srgbClr val="0070C0">
                            <a:shade val="30000"/>
                            <a:satMod val="115000"/>
                          </a:srgbClr>
                        </a:gs>
                        <a:gs pos="50000">
                          <a:srgbClr val="0070C0">
                            <a:shade val="67500"/>
                            <a:satMod val="115000"/>
                          </a:srgbClr>
                        </a:gs>
                        <a:gs pos="100000">
                          <a:srgbClr val="0070C0">
                            <a:shade val="100000"/>
                            <a:satMod val="115000"/>
                          </a:srgbClr>
                        </a:gs>
                      </a:gsLst>
                      <a:path path="circle">
                        <a:fillToRect t="100000" r="100000"/>
                      </a:path>
                      <a:tileRect l="-100000" b="-100000"/>
                    </a:gra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68478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kern="100" dirty="0">
                          <a:solidFill>
                            <a:schemeClr val="bg1"/>
                          </a:solidFill>
                          <a:effectLst/>
                        </a:rPr>
                        <a:t>强度</a:t>
                      </a:r>
                      <a:r>
                        <a:rPr lang="en-US" sz="1800" b="0" kern="100" dirty="0" err="1">
                          <a:solidFill>
                            <a:schemeClr val="bg1"/>
                          </a:solidFill>
                          <a:effectLst/>
                        </a:rPr>
                        <a:t>σ</a:t>
                      </a:r>
                      <a:r>
                        <a:rPr lang="en-US" sz="1800" b="0" kern="100" baseline="-25000" dirty="0" err="1">
                          <a:solidFill>
                            <a:schemeClr val="bg1"/>
                          </a:solidFill>
                          <a:effectLst/>
                        </a:rPr>
                        <a:t>b</a:t>
                      </a:r>
                      <a:r>
                        <a:rPr lang="en-US" sz="1800" b="0" kern="100" dirty="0">
                          <a:solidFill>
                            <a:schemeClr val="bg1"/>
                          </a:solidFill>
                          <a:effectLst/>
                        </a:rPr>
                        <a:t>(MPa)</a:t>
                      </a:r>
                      <a:endParaRPr lang="zh-CN" sz="1800" b="0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gradFill flip="none" rotWithShape="1">
                      <a:gsLst>
                        <a:gs pos="0">
                          <a:srgbClr val="0070C0">
                            <a:shade val="30000"/>
                            <a:satMod val="115000"/>
                          </a:srgbClr>
                        </a:gs>
                        <a:gs pos="50000">
                          <a:srgbClr val="0070C0">
                            <a:shade val="67500"/>
                            <a:satMod val="115000"/>
                          </a:srgbClr>
                        </a:gs>
                        <a:gs pos="100000">
                          <a:srgbClr val="0070C0">
                            <a:shade val="100000"/>
                            <a:satMod val="115000"/>
                          </a:srgbClr>
                        </a:gs>
                      </a:gsLst>
                      <a:path path="circle">
                        <a:fillToRect t="100000" r="100000"/>
                      </a:path>
                      <a:tileRect l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kern="100" dirty="0">
                          <a:solidFill>
                            <a:schemeClr val="bg1"/>
                          </a:solidFill>
                          <a:effectLst/>
                        </a:rPr>
                        <a:t>395</a:t>
                      </a:r>
                      <a:endParaRPr lang="zh-CN" sz="1800" b="0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gradFill flip="none" rotWithShape="1">
                      <a:gsLst>
                        <a:gs pos="0">
                          <a:srgbClr val="0070C0">
                            <a:shade val="30000"/>
                            <a:satMod val="115000"/>
                          </a:srgbClr>
                        </a:gs>
                        <a:gs pos="50000">
                          <a:srgbClr val="0070C0">
                            <a:shade val="67500"/>
                            <a:satMod val="115000"/>
                          </a:srgbClr>
                        </a:gs>
                        <a:gs pos="100000">
                          <a:srgbClr val="0070C0">
                            <a:shade val="100000"/>
                            <a:satMod val="115000"/>
                          </a:srgbClr>
                        </a:gs>
                      </a:gsLst>
                      <a:path path="circle">
                        <a:fillToRect t="100000" r="100000"/>
                      </a:path>
                      <a:tileRect l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kern="100" dirty="0">
                          <a:solidFill>
                            <a:schemeClr val="bg1"/>
                          </a:solidFill>
                          <a:effectLst/>
                        </a:rPr>
                        <a:t>365 </a:t>
                      </a:r>
                      <a:endParaRPr lang="zh-CN" sz="1800" b="0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gradFill flip="none" rotWithShape="1">
                      <a:gsLst>
                        <a:gs pos="0">
                          <a:srgbClr val="0070C0">
                            <a:shade val="30000"/>
                            <a:satMod val="115000"/>
                          </a:srgbClr>
                        </a:gs>
                        <a:gs pos="50000">
                          <a:srgbClr val="0070C0">
                            <a:shade val="67500"/>
                            <a:satMod val="115000"/>
                          </a:srgbClr>
                        </a:gs>
                        <a:gs pos="100000">
                          <a:srgbClr val="0070C0">
                            <a:shade val="100000"/>
                            <a:satMod val="115000"/>
                          </a:srgbClr>
                        </a:gs>
                      </a:gsLst>
                      <a:path path="circle">
                        <a:fillToRect t="100000" r="100000"/>
                      </a:path>
                      <a:tileRect l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kern="100" dirty="0">
                          <a:solidFill>
                            <a:schemeClr val="bg1"/>
                          </a:solidFill>
                          <a:effectLst/>
                        </a:rPr>
                        <a:t>316 </a:t>
                      </a:r>
                      <a:endParaRPr lang="zh-CN" sz="1800" b="0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gradFill flip="none" rotWithShape="1">
                      <a:gsLst>
                        <a:gs pos="0">
                          <a:srgbClr val="0070C0">
                            <a:shade val="30000"/>
                            <a:satMod val="115000"/>
                          </a:srgbClr>
                        </a:gs>
                        <a:gs pos="50000">
                          <a:srgbClr val="0070C0">
                            <a:shade val="67500"/>
                            <a:satMod val="115000"/>
                          </a:srgbClr>
                        </a:gs>
                        <a:gs pos="100000">
                          <a:srgbClr val="0070C0">
                            <a:shade val="100000"/>
                            <a:satMod val="115000"/>
                          </a:srgbClr>
                        </a:gs>
                      </a:gsLst>
                      <a:path path="circle">
                        <a:fillToRect t="100000" r="100000"/>
                      </a:path>
                      <a:tileRect l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kern="100" dirty="0">
                          <a:solidFill>
                            <a:schemeClr val="bg1"/>
                          </a:solidFill>
                          <a:effectLst/>
                        </a:rPr>
                        <a:t>305</a:t>
                      </a:r>
                      <a:endParaRPr lang="zh-CN" sz="1800" b="0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gradFill flip="none" rotWithShape="1">
                      <a:gsLst>
                        <a:gs pos="0">
                          <a:srgbClr val="0070C0">
                            <a:shade val="30000"/>
                            <a:satMod val="115000"/>
                          </a:srgbClr>
                        </a:gs>
                        <a:gs pos="50000">
                          <a:srgbClr val="0070C0">
                            <a:shade val="67500"/>
                            <a:satMod val="115000"/>
                          </a:srgbClr>
                        </a:gs>
                        <a:gs pos="100000">
                          <a:srgbClr val="0070C0">
                            <a:shade val="100000"/>
                            <a:satMod val="115000"/>
                          </a:srgbClr>
                        </a:gs>
                      </a:gsLst>
                      <a:path path="circle">
                        <a:fillToRect t="100000" r="100000"/>
                      </a:path>
                      <a:tileRect l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kern="100" dirty="0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  <a:endParaRPr lang="zh-CN" sz="1800" b="0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gradFill flip="none" rotWithShape="1">
                      <a:gsLst>
                        <a:gs pos="0">
                          <a:srgbClr val="0070C0">
                            <a:shade val="30000"/>
                            <a:satMod val="115000"/>
                          </a:srgbClr>
                        </a:gs>
                        <a:gs pos="50000">
                          <a:srgbClr val="0070C0">
                            <a:shade val="67500"/>
                            <a:satMod val="115000"/>
                          </a:srgbClr>
                        </a:gs>
                        <a:gs pos="100000">
                          <a:srgbClr val="0070C0">
                            <a:shade val="100000"/>
                            <a:satMod val="115000"/>
                          </a:srgbClr>
                        </a:gs>
                      </a:gsLst>
                      <a:path path="circle">
                        <a:fillToRect t="100000" r="100000"/>
                      </a:path>
                      <a:tileRect l="-100000" b="-10000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210295453"/>
                  </a:ext>
                </a:extLst>
              </a:tr>
            </a:tbl>
          </a:graphicData>
        </a:graphic>
      </p:graphicFrame>
      <p:sp>
        <p:nvSpPr>
          <p:cNvPr id="7" name="Rectangle 1">
            <a:extLst>
              <a:ext uri="{FF2B5EF4-FFF2-40B4-BE49-F238E27FC236}">
                <a16:creationId xmlns:a16="http://schemas.microsoft.com/office/drawing/2014/main" id="{351E616B-437A-4EF3-8788-DC1D62D615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6761" y="1600476"/>
            <a:ext cx="8737845" cy="369332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dist" defTabSz="914400" eaLnBrk="0" latinLnBrk="0" hangingPunct="0">
              <a:lnSpc>
                <a:spcPct val="100000"/>
              </a:lnSpc>
              <a:buClrTx/>
              <a:buSzTx/>
              <a:tabLst/>
            </a:pPr>
            <a:r>
              <a:rPr lang="zh-CN" altLang="en-US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不同颗粒尺寸的</a:t>
            </a:r>
            <a:r>
              <a:rPr lang="en-US" altLang="zh-CN" kern="0" dirty="0" err="1" bmk="OLE_LINK3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SiCp</a:t>
            </a:r>
            <a:r>
              <a:rPr lang="en-US" altLang="zh-CN" kern="0" dirty="0" bmk="OLE_LINK3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/Al</a:t>
            </a:r>
            <a:r>
              <a:rPr lang="zh-CN" altLang="en-US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复合材料抗拉强度</a:t>
            </a:r>
            <a:r>
              <a:rPr lang="en-US" altLang="zh-CN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(MPa),</a:t>
            </a:r>
            <a:r>
              <a:rPr lang="zh-CN" altLang="en-US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绘制条形图</a:t>
            </a:r>
            <a:endParaRPr kumimoji="0" lang="zh-CN" altLang="en-US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波形 7">
            <a:extLst>
              <a:ext uri="{FF2B5EF4-FFF2-40B4-BE49-F238E27FC236}">
                <a16:creationId xmlns:a16="http://schemas.microsoft.com/office/drawing/2014/main" id="{4EBFFC68-B6CD-4147-BC60-7B5D69D31D3A}"/>
              </a:ext>
            </a:extLst>
          </p:cNvPr>
          <p:cNvSpPr/>
          <p:nvPr/>
        </p:nvSpPr>
        <p:spPr>
          <a:xfrm>
            <a:off x="325910" y="730788"/>
            <a:ext cx="674298" cy="291001"/>
          </a:xfrm>
          <a:prstGeom prst="wave">
            <a:avLst>
              <a:gd name="adj1" fmla="val 12500"/>
              <a:gd name="adj2" fmla="val 0"/>
            </a:avLst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20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例5</a:t>
            </a:r>
            <a:endParaRPr lang="ko-KR" altLang="en-US" sz="20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7469E2F-51B9-4BD1-B7EC-360389520844}"/>
              </a:ext>
            </a:extLst>
          </p:cNvPr>
          <p:cNvSpPr/>
          <p:nvPr/>
        </p:nvSpPr>
        <p:spPr>
          <a:xfrm>
            <a:off x="1115617" y="697310"/>
            <a:ext cx="77790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lang="zh-CN" altLang="en-US" b="1" dirty="0" bmk="OLE_LINK3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条形图常用于实验数据较少的绘图，特别需要数据对比情况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257D88A-954E-4622-A5B8-43B35C33FF45}"/>
              </a:ext>
            </a:extLst>
          </p:cNvPr>
          <p:cNvSpPr txBox="1"/>
          <p:nvPr/>
        </p:nvSpPr>
        <p:spPr>
          <a:xfrm>
            <a:off x="755576" y="61869"/>
            <a:ext cx="8208911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600" b="1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隶书" panose="02010509060101010101" charset="-122"/>
              </a:rPr>
              <a:t>§</a:t>
            </a:r>
            <a:r>
              <a:rPr lang="en-US" altLang="zh-CN" sz="2600" b="1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3.4 </a:t>
            </a:r>
            <a:r>
              <a:rPr lang="zh-CN" altLang="en-US" sz="2600" b="1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数据统计分析图</a:t>
            </a:r>
            <a:r>
              <a:rPr lang="en-US" altLang="zh-CN" sz="2600" b="1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——bar</a:t>
            </a:r>
            <a:r>
              <a:rPr lang="zh-CN" altLang="en-US" sz="2600" b="1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绘制</a:t>
            </a:r>
            <a:r>
              <a:rPr lang="en-US" altLang="zh-CN" sz="2600" b="1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x</a:t>
            </a:r>
            <a:r>
              <a:rPr lang="zh-CN" altLang="en-US" sz="2600" b="1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为分类数组的条形图</a:t>
            </a:r>
            <a:endParaRPr lang="zh-CN" altLang="en-US" sz="26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4EDAAA36-0C07-4CF2-8D08-55CC6253D47B}"/>
              </a:ext>
            </a:extLst>
          </p:cNvPr>
          <p:cNvSpPr txBox="1"/>
          <p:nvPr/>
        </p:nvSpPr>
        <p:spPr>
          <a:xfrm>
            <a:off x="325910" y="2651842"/>
            <a:ext cx="6163123" cy="220374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</a:pPr>
            <a:r>
              <a:rPr lang="en-US" altLang="zh-CN" sz="2000" dirty="0"/>
              <a:t>c=[“40nm”, “500nm”,“1um”, “5um”] #</a:t>
            </a:r>
            <a:r>
              <a:rPr lang="zh-CN" altLang="en-US" sz="2000" dirty="0"/>
              <a:t>材料类型</a:t>
            </a:r>
            <a:endParaRPr lang="en-US" altLang="zh-CN" sz="2000" dirty="0"/>
          </a:p>
          <a:p>
            <a:pPr>
              <a:lnSpc>
                <a:spcPts val="2800"/>
              </a:lnSpc>
            </a:pPr>
            <a:r>
              <a:rPr lang="en-US" altLang="zh-CN" sz="2000" dirty="0"/>
              <a:t>s=[395 365 316 305;zeros(1,4)]'; #</a:t>
            </a:r>
            <a:r>
              <a:rPr lang="zh-CN" altLang="en-US" sz="2000" dirty="0"/>
              <a:t>强度</a:t>
            </a:r>
          </a:p>
          <a:p>
            <a:pPr>
              <a:lnSpc>
                <a:spcPts val="2800"/>
              </a:lnSpc>
            </a:pPr>
            <a:r>
              <a:rPr lang="en-US" altLang="zh-CN" sz="2000" dirty="0"/>
              <a:t>b1=bar(</a:t>
            </a:r>
            <a:r>
              <a:rPr lang="en-US" altLang="zh-CN" sz="2000" dirty="0" err="1"/>
              <a:t>c,s</a:t>
            </a:r>
            <a:r>
              <a:rPr lang="en-US" altLang="zh-CN" sz="2000" dirty="0"/>
              <a:t>); #</a:t>
            </a:r>
            <a:r>
              <a:rPr lang="zh-CN" altLang="en-US" sz="2000" dirty="0"/>
              <a:t>条形图</a:t>
            </a:r>
          </a:p>
          <a:p>
            <a:pPr>
              <a:lnSpc>
                <a:spcPts val="2800"/>
              </a:lnSpc>
            </a:pPr>
            <a:r>
              <a:rPr lang="en-US" altLang="zh-CN" sz="2000" dirty="0" err="1"/>
              <a:t>xlabel</a:t>
            </a:r>
            <a:r>
              <a:rPr lang="en-US" altLang="zh-CN" sz="2000" dirty="0"/>
              <a:t>("</a:t>
            </a:r>
            <a:r>
              <a:rPr lang="zh-CN" altLang="en-US" sz="2000" dirty="0"/>
              <a:t>颗粒尺寸</a:t>
            </a:r>
            <a:r>
              <a:rPr lang="en-US" altLang="zh-CN" sz="2000" dirty="0"/>
              <a:t>")</a:t>
            </a:r>
          </a:p>
          <a:p>
            <a:pPr>
              <a:lnSpc>
                <a:spcPts val="2800"/>
              </a:lnSpc>
            </a:pPr>
            <a:r>
              <a:rPr lang="en-US" altLang="zh-CN" sz="2000" dirty="0" err="1"/>
              <a:t>ylabel</a:t>
            </a:r>
            <a:r>
              <a:rPr lang="en-US" altLang="zh-CN" sz="2000" dirty="0"/>
              <a:t>("</a:t>
            </a:r>
            <a:r>
              <a:rPr lang="zh-CN" altLang="en-US" sz="2000" dirty="0"/>
              <a:t>抗拉强度</a:t>
            </a:r>
            <a:r>
              <a:rPr lang="en-US" altLang="zh-CN" sz="2000" dirty="0"/>
              <a:t>/MPa")</a:t>
            </a:r>
          </a:p>
          <a:p>
            <a:pPr>
              <a:lnSpc>
                <a:spcPts val="2600"/>
              </a:lnSpc>
            </a:pPr>
            <a:endParaRPr lang="zh-CN" altLang="en-US" sz="2000" b="1" dirty="0">
              <a:solidFill>
                <a:srgbClr val="002060"/>
              </a:solidFill>
              <a:latin typeface="Consolas" panose="020B0609020204030204" pitchFamily="49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8CDD099-C915-4530-807A-ED6787D7374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0811" t="9401" r="6644" b="8000"/>
          <a:stretch/>
        </p:blipFill>
        <p:spPr>
          <a:xfrm>
            <a:off x="6228184" y="2787774"/>
            <a:ext cx="2588639" cy="174203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39BDCE74-EC26-4F2C-89DC-00F467530F43}"/>
              </a:ext>
            </a:extLst>
          </p:cNvPr>
          <p:cNvSpPr/>
          <p:nvPr/>
        </p:nvSpPr>
        <p:spPr>
          <a:xfrm>
            <a:off x="219394" y="1111086"/>
            <a:ext cx="2984454" cy="461665"/>
          </a:xfrm>
          <a:prstGeom prst="rect">
            <a:avLst/>
          </a:prstGeom>
          <a:noFill/>
          <a:ln w="38100"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>
            <a:spAutoFit/>
          </a:bodyPr>
          <a:lstStyle/>
          <a:p>
            <a:pPr algn="dist"/>
            <a:r>
              <a:rPr lang="en-US" altLang="zh-CN" sz="2400" b="1" dirty="0">
                <a:solidFill>
                  <a:schemeClr val="bg1"/>
                </a:solidFill>
                <a:highlight>
                  <a:srgbClr val="FF0000"/>
                </a:highlight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bar(</a:t>
            </a:r>
            <a:r>
              <a:rPr lang="en-US" altLang="zh-CN" sz="2400" b="1" dirty="0" err="1">
                <a:solidFill>
                  <a:schemeClr val="bg1"/>
                </a:solidFill>
                <a:highlight>
                  <a:srgbClr val="FF0000"/>
                </a:highlight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x,y</a:t>
            </a:r>
            <a:r>
              <a:rPr lang="en-US" altLang="zh-CN" sz="2400" b="1" dirty="0" err="1">
                <a:solidFill>
                  <a:schemeClr val="bg1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,</a:t>
            </a:r>
            <a:r>
              <a:rPr lang="en-US" altLang="zh-CN" sz="2400" b="1" dirty="0" err="1">
                <a:solidFill>
                  <a:srgbClr val="FFFF00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key</a:t>
            </a:r>
            <a:r>
              <a:rPr lang="en-US" altLang="zh-CN" sz="2400" b="1" dirty="0">
                <a:solidFill>
                  <a:srgbClr val="FFFF00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=value</a:t>
            </a:r>
            <a:r>
              <a:rPr lang="en-US" altLang="zh-CN" sz="2400" b="1" dirty="0">
                <a:solidFill>
                  <a:schemeClr val="bg1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)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9BFCBC3-3528-46C8-86C8-7E530D3B7192}"/>
              </a:ext>
            </a:extLst>
          </p:cNvPr>
          <p:cNvSpPr txBox="1"/>
          <p:nvPr/>
        </p:nvSpPr>
        <p:spPr>
          <a:xfrm>
            <a:off x="3073750" y="1115207"/>
            <a:ext cx="585085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lang="en-US" altLang="zh-CN" sz="2000" b="1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2000" b="1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为类型变量时，</a:t>
            </a:r>
            <a:r>
              <a:rPr lang="en-US" altLang="zh-CN" sz="2000" b="1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2000" b="1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要用字符串数组，属性可省略</a:t>
            </a:r>
            <a:endParaRPr lang="zh-CN" altLang="en-US" sz="2000" b="1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81244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D29ECA95-C864-4A4C-AED0-9399D500CE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2077768"/>
              </p:ext>
            </p:extLst>
          </p:nvPr>
        </p:nvGraphicFramePr>
        <p:xfrm>
          <a:off x="264898" y="1059582"/>
          <a:ext cx="8660733" cy="73152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05776">
                  <a:extLst>
                    <a:ext uri="{9D8B030D-6E8A-4147-A177-3AD203B41FA5}">
                      <a16:colId xmlns:a16="http://schemas.microsoft.com/office/drawing/2014/main" val="1970638745"/>
                    </a:ext>
                  </a:extLst>
                </a:gridCol>
                <a:gridCol w="1308488">
                  <a:extLst>
                    <a:ext uri="{9D8B030D-6E8A-4147-A177-3AD203B41FA5}">
                      <a16:colId xmlns:a16="http://schemas.microsoft.com/office/drawing/2014/main" val="3223011762"/>
                    </a:ext>
                  </a:extLst>
                </a:gridCol>
                <a:gridCol w="183374">
                  <a:extLst>
                    <a:ext uri="{9D8B030D-6E8A-4147-A177-3AD203B41FA5}">
                      <a16:colId xmlns:a16="http://schemas.microsoft.com/office/drawing/2014/main" val="1818862416"/>
                    </a:ext>
                  </a:extLst>
                </a:gridCol>
                <a:gridCol w="1571429">
                  <a:extLst>
                    <a:ext uri="{9D8B030D-6E8A-4147-A177-3AD203B41FA5}">
                      <a16:colId xmlns:a16="http://schemas.microsoft.com/office/drawing/2014/main" val="3421729077"/>
                    </a:ext>
                  </a:extLst>
                </a:gridCol>
                <a:gridCol w="271694">
                  <a:extLst>
                    <a:ext uri="{9D8B030D-6E8A-4147-A177-3AD203B41FA5}">
                      <a16:colId xmlns:a16="http://schemas.microsoft.com/office/drawing/2014/main" val="1072514683"/>
                    </a:ext>
                  </a:extLst>
                </a:gridCol>
                <a:gridCol w="1526980">
                  <a:extLst>
                    <a:ext uri="{9D8B030D-6E8A-4147-A177-3AD203B41FA5}">
                      <a16:colId xmlns:a16="http://schemas.microsoft.com/office/drawing/2014/main" val="2786465323"/>
                    </a:ext>
                  </a:extLst>
                </a:gridCol>
                <a:gridCol w="283008">
                  <a:extLst>
                    <a:ext uri="{9D8B030D-6E8A-4147-A177-3AD203B41FA5}">
                      <a16:colId xmlns:a16="http://schemas.microsoft.com/office/drawing/2014/main" val="257718166"/>
                    </a:ext>
                  </a:extLst>
                </a:gridCol>
                <a:gridCol w="1603405">
                  <a:extLst>
                    <a:ext uri="{9D8B030D-6E8A-4147-A177-3AD203B41FA5}">
                      <a16:colId xmlns:a16="http://schemas.microsoft.com/office/drawing/2014/main" val="2748496235"/>
                    </a:ext>
                  </a:extLst>
                </a:gridCol>
                <a:gridCol w="206579">
                  <a:extLst>
                    <a:ext uri="{9D8B030D-6E8A-4147-A177-3AD203B41FA5}">
                      <a16:colId xmlns:a16="http://schemas.microsoft.com/office/drawing/2014/main" val="2471845968"/>
                    </a:ext>
                  </a:extLst>
                </a:gridCol>
              </a:tblGrid>
              <a:tr h="140324"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CN" sz="1600" b="0" i="0" u="none" strike="noStrike" cap="none" normalizeH="0" baseline="0" dirty="0" err="1" bmk="OLE_LINK3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SiC</a:t>
                      </a:r>
                      <a:r>
                        <a:rPr kumimoji="0" lang="en-US" altLang="zh-CN" sz="1600" b="0" i="0" u="none" strike="noStrike" cap="none" normalizeH="0" baseline="-30000" dirty="0" err="1" bmk="OLE_LINK3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  <a:endParaRPr lang="zh-CN" sz="1600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gradFill flip="none" rotWithShape="1">
                      <a:gsLst>
                        <a:gs pos="0">
                          <a:srgbClr val="0070C0">
                            <a:shade val="30000"/>
                            <a:satMod val="115000"/>
                          </a:srgbClr>
                        </a:gs>
                        <a:gs pos="50000">
                          <a:srgbClr val="0070C0">
                            <a:shade val="67500"/>
                            <a:satMod val="115000"/>
                          </a:srgbClr>
                        </a:gs>
                        <a:gs pos="100000">
                          <a:srgbClr val="0070C0">
                            <a:shade val="100000"/>
                            <a:satMod val="115000"/>
                          </a:srgbClr>
                        </a:gs>
                      </a:gsLst>
                      <a:path path="circle">
                        <a:fillToRect t="100000" r="100000"/>
                      </a:path>
                      <a:tileRect l="-100000" b="-100000"/>
                    </a:gra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600" kern="100" dirty="0">
                          <a:solidFill>
                            <a:schemeClr val="bg1"/>
                          </a:solidFill>
                          <a:effectLst/>
                        </a:rPr>
                        <a:t>40</a:t>
                      </a:r>
                      <a:r>
                        <a:rPr lang="zh-CN" altLang="en-US" sz="1600" kern="100" dirty="0">
                          <a:solidFill>
                            <a:schemeClr val="bg1"/>
                          </a:solidFill>
                          <a:effectLst/>
                        </a:rPr>
                        <a:t>纳米</a:t>
                      </a:r>
                      <a:endParaRPr lang="zh-CN" sz="1600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gradFill flip="none" rotWithShape="1">
                      <a:gsLst>
                        <a:gs pos="0">
                          <a:srgbClr val="0070C0">
                            <a:shade val="30000"/>
                            <a:satMod val="115000"/>
                          </a:srgbClr>
                        </a:gs>
                        <a:gs pos="50000">
                          <a:srgbClr val="0070C0">
                            <a:shade val="67500"/>
                            <a:satMod val="115000"/>
                          </a:srgbClr>
                        </a:gs>
                        <a:gs pos="100000">
                          <a:srgbClr val="0070C0">
                            <a:shade val="100000"/>
                            <a:satMod val="115000"/>
                          </a:srgbClr>
                        </a:gs>
                      </a:gsLst>
                      <a:path path="circle">
                        <a:fillToRect t="100000" r="100000"/>
                      </a:path>
                      <a:tileRect l="-100000" b="-100000"/>
                    </a:gra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600" kern="100" dirty="0">
                          <a:solidFill>
                            <a:schemeClr val="bg1"/>
                          </a:solidFill>
                          <a:effectLst/>
                        </a:rPr>
                        <a:t>500</a:t>
                      </a:r>
                      <a:r>
                        <a:rPr lang="zh-CN" altLang="en-US" sz="1600" kern="100" dirty="0">
                          <a:solidFill>
                            <a:schemeClr val="bg1"/>
                          </a:solidFill>
                          <a:effectLst/>
                        </a:rPr>
                        <a:t>纳米</a:t>
                      </a:r>
                      <a:endParaRPr lang="zh-CN" sz="1600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gradFill flip="none" rotWithShape="1">
                      <a:gsLst>
                        <a:gs pos="0">
                          <a:srgbClr val="0070C0">
                            <a:shade val="30000"/>
                            <a:satMod val="115000"/>
                          </a:srgbClr>
                        </a:gs>
                        <a:gs pos="50000">
                          <a:srgbClr val="0070C0">
                            <a:shade val="67500"/>
                            <a:satMod val="115000"/>
                          </a:srgbClr>
                        </a:gs>
                        <a:gs pos="100000">
                          <a:srgbClr val="0070C0">
                            <a:shade val="100000"/>
                            <a:satMod val="115000"/>
                          </a:srgbClr>
                        </a:gs>
                      </a:gsLst>
                      <a:path path="circle">
                        <a:fillToRect t="100000" r="100000"/>
                      </a:path>
                      <a:tileRect l="-100000" b="-100000"/>
                    </a:gra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600" kern="100" dirty="0">
                          <a:solidFill>
                            <a:schemeClr val="bg1"/>
                          </a:solidFill>
                          <a:effectLst/>
                        </a:rPr>
                        <a:t>1</a:t>
                      </a:r>
                      <a:r>
                        <a:rPr lang="zh-CN" altLang="en-US" sz="1600" kern="100" dirty="0">
                          <a:solidFill>
                            <a:schemeClr val="bg1"/>
                          </a:solidFill>
                          <a:effectLst/>
                        </a:rPr>
                        <a:t>微米</a:t>
                      </a:r>
                      <a:endParaRPr lang="zh-CN" sz="1600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gradFill flip="none" rotWithShape="1">
                      <a:gsLst>
                        <a:gs pos="0">
                          <a:srgbClr val="0070C0">
                            <a:shade val="30000"/>
                            <a:satMod val="115000"/>
                          </a:srgbClr>
                        </a:gs>
                        <a:gs pos="50000">
                          <a:srgbClr val="0070C0">
                            <a:shade val="67500"/>
                            <a:satMod val="115000"/>
                          </a:srgbClr>
                        </a:gs>
                        <a:gs pos="100000">
                          <a:srgbClr val="0070C0">
                            <a:shade val="100000"/>
                            <a:satMod val="115000"/>
                          </a:srgbClr>
                        </a:gs>
                      </a:gsLst>
                      <a:path path="circle">
                        <a:fillToRect t="100000" r="100000"/>
                      </a:path>
                      <a:tileRect l="-100000" b="-100000"/>
                    </a:gra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1600" kern="100" dirty="0">
                          <a:solidFill>
                            <a:schemeClr val="bg1"/>
                          </a:solidFill>
                          <a:effectLst/>
                        </a:rPr>
                        <a:t>5</a:t>
                      </a:r>
                      <a:r>
                        <a:rPr lang="zh-CN" altLang="en-US" sz="1600" kern="100" dirty="0">
                          <a:solidFill>
                            <a:schemeClr val="bg1"/>
                          </a:solidFill>
                          <a:effectLst/>
                        </a:rPr>
                        <a:t>微米</a:t>
                      </a:r>
                      <a:endParaRPr lang="zh-CN" sz="1600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gradFill flip="none" rotWithShape="1">
                      <a:gsLst>
                        <a:gs pos="0">
                          <a:srgbClr val="0070C0">
                            <a:shade val="30000"/>
                            <a:satMod val="115000"/>
                          </a:srgbClr>
                        </a:gs>
                        <a:gs pos="50000">
                          <a:srgbClr val="0070C0">
                            <a:shade val="67500"/>
                            <a:satMod val="115000"/>
                          </a:srgbClr>
                        </a:gs>
                        <a:gs pos="100000">
                          <a:srgbClr val="0070C0">
                            <a:shade val="100000"/>
                            <a:satMod val="115000"/>
                          </a:srgbClr>
                        </a:gs>
                      </a:gsLst>
                      <a:path path="circle">
                        <a:fillToRect t="100000" r="100000"/>
                      </a:path>
                      <a:tileRect l="-100000" b="-100000"/>
                    </a:gra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68478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kern="100" dirty="0">
                          <a:solidFill>
                            <a:schemeClr val="bg1"/>
                          </a:solidFill>
                          <a:effectLst/>
                        </a:rPr>
                        <a:t>强度</a:t>
                      </a:r>
                      <a:r>
                        <a:rPr lang="en-US" sz="1600" kern="100" dirty="0" err="1">
                          <a:solidFill>
                            <a:schemeClr val="bg1"/>
                          </a:solidFill>
                          <a:effectLst/>
                        </a:rPr>
                        <a:t>σ</a:t>
                      </a:r>
                      <a:r>
                        <a:rPr lang="en-US" sz="1600" kern="100" baseline="-25000" dirty="0" err="1">
                          <a:solidFill>
                            <a:schemeClr val="bg1"/>
                          </a:solidFill>
                          <a:effectLst/>
                        </a:rPr>
                        <a:t>b</a:t>
                      </a:r>
                      <a:r>
                        <a:rPr lang="en-US" sz="1600" kern="100" dirty="0">
                          <a:solidFill>
                            <a:schemeClr val="bg1"/>
                          </a:solidFill>
                          <a:effectLst/>
                        </a:rPr>
                        <a:t>(MPa)</a:t>
                      </a:r>
                      <a:endParaRPr lang="zh-CN" sz="1600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gradFill flip="none" rotWithShape="1">
                      <a:gsLst>
                        <a:gs pos="0">
                          <a:srgbClr val="0070C0">
                            <a:shade val="30000"/>
                            <a:satMod val="115000"/>
                          </a:srgbClr>
                        </a:gs>
                        <a:gs pos="50000">
                          <a:srgbClr val="0070C0">
                            <a:shade val="67500"/>
                            <a:satMod val="115000"/>
                          </a:srgbClr>
                        </a:gs>
                        <a:gs pos="100000">
                          <a:srgbClr val="0070C0">
                            <a:shade val="100000"/>
                            <a:satMod val="115000"/>
                          </a:srgbClr>
                        </a:gs>
                      </a:gsLst>
                      <a:path path="circle">
                        <a:fillToRect t="100000" r="100000"/>
                      </a:path>
                      <a:tileRect l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00" dirty="0">
                          <a:solidFill>
                            <a:schemeClr val="bg1"/>
                          </a:solidFill>
                          <a:effectLst/>
                        </a:rPr>
                        <a:t>395</a:t>
                      </a:r>
                      <a:endParaRPr lang="zh-CN" sz="1600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gradFill flip="none" rotWithShape="1">
                      <a:gsLst>
                        <a:gs pos="0">
                          <a:srgbClr val="0070C0">
                            <a:shade val="30000"/>
                            <a:satMod val="115000"/>
                          </a:srgbClr>
                        </a:gs>
                        <a:gs pos="50000">
                          <a:srgbClr val="0070C0">
                            <a:shade val="67500"/>
                            <a:satMod val="115000"/>
                          </a:srgbClr>
                        </a:gs>
                        <a:gs pos="100000">
                          <a:srgbClr val="0070C0">
                            <a:shade val="100000"/>
                            <a:satMod val="115000"/>
                          </a:srgbClr>
                        </a:gs>
                      </a:gsLst>
                      <a:path path="circle">
                        <a:fillToRect t="100000" r="100000"/>
                      </a:path>
                      <a:tileRect l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00" dirty="0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  <a:endParaRPr lang="zh-CN" sz="1600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gradFill flip="none" rotWithShape="1">
                      <a:gsLst>
                        <a:gs pos="0">
                          <a:srgbClr val="0070C0">
                            <a:shade val="30000"/>
                            <a:satMod val="115000"/>
                          </a:srgbClr>
                        </a:gs>
                        <a:gs pos="50000">
                          <a:srgbClr val="0070C0">
                            <a:shade val="67500"/>
                            <a:satMod val="115000"/>
                          </a:srgbClr>
                        </a:gs>
                        <a:gs pos="100000">
                          <a:srgbClr val="0070C0">
                            <a:shade val="100000"/>
                            <a:satMod val="115000"/>
                          </a:srgbClr>
                        </a:gs>
                      </a:gsLst>
                      <a:path path="circle">
                        <a:fillToRect t="100000" r="100000"/>
                      </a:path>
                      <a:tileRect l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00">
                          <a:solidFill>
                            <a:schemeClr val="bg1"/>
                          </a:solidFill>
                          <a:effectLst/>
                        </a:rPr>
                        <a:t>365</a:t>
                      </a:r>
                      <a:endParaRPr lang="zh-CN" sz="1600" kern="1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gradFill flip="none" rotWithShape="1">
                      <a:gsLst>
                        <a:gs pos="0">
                          <a:srgbClr val="0070C0">
                            <a:shade val="30000"/>
                            <a:satMod val="115000"/>
                          </a:srgbClr>
                        </a:gs>
                        <a:gs pos="50000">
                          <a:srgbClr val="0070C0">
                            <a:shade val="67500"/>
                            <a:satMod val="115000"/>
                          </a:srgbClr>
                        </a:gs>
                        <a:gs pos="100000">
                          <a:srgbClr val="0070C0">
                            <a:shade val="100000"/>
                            <a:satMod val="115000"/>
                          </a:srgbClr>
                        </a:gs>
                      </a:gsLst>
                      <a:path path="circle">
                        <a:fillToRect t="100000" r="100000"/>
                      </a:path>
                      <a:tileRect l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00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  <a:endParaRPr lang="zh-CN" sz="1600" kern="1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gradFill flip="none" rotWithShape="1">
                      <a:gsLst>
                        <a:gs pos="0">
                          <a:srgbClr val="0070C0">
                            <a:shade val="30000"/>
                            <a:satMod val="115000"/>
                          </a:srgbClr>
                        </a:gs>
                        <a:gs pos="50000">
                          <a:srgbClr val="0070C0">
                            <a:shade val="67500"/>
                            <a:satMod val="115000"/>
                          </a:srgbClr>
                        </a:gs>
                        <a:gs pos="100000">
                          <a:srgbClr val="0070C0">
                            <a:shade val="100000"/>
                            <a:satMod val="115000"/>
                          </a:srgbClr>
                        </a:gs>
                      </a:gsLst>
                      <a:path path="circle">
                        <a:fillToRect t="100000" r="100000"/>
                      </a:path>
                      <a:tileRect l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00">
                          <a:solidFill>
                            <a:schemeClr val="bg1"/>
                          </a:solidFill>
                          <a:effectLst/>
                        </a:rPr>
                        <a:t>316</a:t>
                      </a:r>
                      <a:endParaRPr lang="zh-CN" sz="1600" kern="1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gradFill flip="none" rotWithShape="1">
                      <a:gsLst>
                        <a:gs pos="0">
                          <a:srgbClr val="0070C0">
                            <a:shade val="30000"/>
                            <a:satMod val="115000"/>
                          </a:srgbClr>
                        </a:gs>
                        <a:gs pos="50000">
                          <a:srgbClr val="0070C0">
                            <a:shade val="67500"/>
                            <a:satMod val="115000"/>
                          </a:srgbClr>
                        </a:gs>
                        <a:gs pos="100000">
                          <a:srgbClr val="0070C0">
                            <a:shade val="100000"/>
                            <a:satMod val="115000"/>
                          </a:srgbClr>
                        </a:gs>
                      </a:gsLst>
                      <a:path path="circle">
                        <a:fillToRect t="100000" r="100000"/>
                      </a:path>
                      <a:tileRect l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00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  <a:endParaRPr lang="zh-CN" sz="1600" kern="1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gradFill flip="none" rotWithShape="1">
                      <a:gsLst>
                        <a:gs pos="0">
                          <a:srgbClr val="0070C0">
                            <a:shade val="30000"/>
                            <a:satMod val="115000"/>
                          </a:srgbClr>
                        </a:gs>
                        <a:gs pos="50000">
                          <a:srgbClr val="0070C0">
                            <a:shade val="67500"/>
                            <a:satMod val="115000"/>
                          </a:srgbClr>
                        </a:gs>
                        <a:gs pos="100000">
                          <a:srgbClr val="0070C0">
                            <a:shade val="100000"/>
                            <a:satMod val="115000"/>
                          </a:srgbClr>
                        </a:gs>
                      </a:gsLst>
                      <a:path path="circle">
                        <a:fillToRect t="100000" r="100000"/>
                      </a:path>
                      <a:tileRect l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00" dirty="0">
                          <a:solidFill>
                            <a:schemeClr val="bg1"/>
                          </a:solidFill>
                          <a:effectLst/>
                        </a:rPr>
                        <a:t>305</a:t>
                      </a:r>
                      <a:endParaRPr lang="zh-CN" sz="1600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gradFill flip="none" rotWithShape="1">
                      <a:gsLst>
                        <a:gs pos="0">
                          <a:srgbClr val="0070C0">
                            <a:shade val="30000"/>
                            <a:satMod val="115000"/>
                          </a:srgbClr>
                        </a:gs>
                        <a:gs pos="50000">
                          <a:srgbClr val="0070C0">
                            <a:shade val="67500"/>
                            <a:satMod val="115000"/>
                          </a:srgbClr>
                        </a:gs>
                        <a:gs pos="100000">
                          <a:srgbClr val="0070C0">
                            <a:shade val="100000"/>
                            <a:satMod val="115000"/>
                          </a:srgbClr>
                        </a:gs>
                      </a:gsLst>
                      <a:path path="circle">
                        <a:fillToRect t="100000" r="100000"/>
                      </a:path>
                      <a:tileRect l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00" dirty="0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  <a:endParaRPr lang="zh-CN" sz="1600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gradFill flip="none" rotWithShape="1">
                      <a:gsLst>
                        <a:gs pos="0">
                          <a:srgbClr val="0070C0">
                            <a:shade val="30000"/>
                            <a:satMod val="115000"/>
                          </a:srgbClr>
                        </a:gs>
                        <a:gs pos="50000">
                          <a:srgbClr val="0070C0">
                            <a:shade val="67500"/>
                            <a:satMod val="115000"/>
                          </a:srgbClr>
                        </a:gs>
                        <a:gs pos="100000">
                          <a:srgbClr val="0070C0">
                            <a:shade val="100000"/>
                            <a:satMod val="115000"/>
                          </a:srgbClr>
                        </a:gs>
                      </a:gsLst>
                      <a:path path="circle">
                        <a:fillToRect t="100000" r="100000"/>
                      </a:path>
                      <a:tileRect l="-100000" b="-10000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2102954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kern="100" dirty="0">
                          <a:solidFill>
                            <a:schemeClr val="bg1"/>
                          </a:solidFill>
                          <a:effectLst/>
                        </a:rPr>
                        <a:t>延伸率</a:t>
                      </a:r>
                      <a:r>
                        <a:rPr lang="zh-CN" sz="1600" kern="100" dirty="0">
                          <a:solidFill>
                            <a:schemeClr val="bg1"/>
                          </a:solidFill>
                          <a:effectLst/>
                        </a:rPr>
                        <a:t>δ</a:t>
                      </a:r>
                      <a:r>
                        <a:rPr lang="en-US" sz="1600" kern="100" dirty="0">
                          <a:solidFill>
                            <a:schemeClr val="bg1"/>
                          </a:solidFill>
                          <a:effectLst/>
                        </a:rPr>
                        <a:t>(%)</a:t>
                      </a:r>
                      <a:endParaRPr lang="zh-CN" sz="1600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gradFill flip="none" rotWithShape="1">
                      <a:gsLst>
                        <a:gs pos="0">
                          <a:srgbClr val="0070C0">
                            <a:shade val="30000"/>
                            <a:satMod val="115000"/>
                          </a:srgbClr>
                        </a:gs>
                        <a:gs pos="50000">
                          <a:srgbClr val="0070C0">
                            <a:shade val="67500"/>
                            <a:satMod val="115000"/>
                          </a:srgbClr>
                        </a:gs>
                        <a:gs pos="100000">
                          <a:srgbClr val="0070C0">
                            <a:shade val="100000"/>
                            <a:satMod val="115000"/>
                          </a:srgbClr>
                        </a:gs>
                      </a:gsLst>
                      <a:path path="circle">
                        <a:fillToRect t="100000" r="100000"/>
                      </a:path>
                      <a:tileRect l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00">
                          <a:solidFill>
                            <a:schemeClr val="bg1"/>
                          </a:solidFill>
                          <a:effectLst/>
                        </a:rPr>
                        <a:t>12.5</a:t>
                      </a:r>
                      <a:endParaRPr lang="zh-CN" sz="1600" kern="1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gradFill flip="none" rotWithShape="1">
                      <a:gsLst>
                        <a:gs pos="0">
                          <a:srgbClr val="0070C0">
                            <a:shade val="30000"/>
                            <a:satMod val="115000"/>
                          </a:srgbClr>
                        </a:gs>
                        <a:gs pos="50000">
                          <a:srgbClr val="0070C0">
                            <a:shade val="67500"/>
                            <a:satMod val="115000"/>
                          </a:srgbClr>
                        </a:gs>
                        <a:gs pos="100000">
                          <a:srgbClr val="0070C0">
                            <a:shade val="100000"/>
                            <a:satMod val="115000"/>
                          </a:srgbClr>
                        </a:gs>
                      </a:gsLst>
                      <a:path path="circle">
                        <a:fillToRect t="100000" r="100000"/>
                      </a:path>
                      <a:tileRect l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00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  <a:endParaRPr lang="zh-CN" sz="1600" kern="1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gradFill flip="none" rotWithShape="1">
                      <a:gsLst>
                        <a:gs pos="0">
                          <a:srgbClr val="0070C0">
                            <a:shade val="30000"/>
                            <a:satMod val="115000"/>
                          </a:srgbClr>
                        </a:gs>
                        <a:gs pos="50000">
                          <a:srgbClr val="0070C0">
                            <a:shade val="67500"/>
                            <a:satMod val="115000"/>
                          </a:srgbClr>
                        </a:gs>
                        <a:gs pos="100000">
                          <a:srgbClr val="0070C0">
                            <a:shade val="100000"/>
                            <a:satMod val="115000"/>
                          </a:srgbClr>
                        </a:gs>
                      </a:gsLst>
                      <a:path path="circle">
                        <a:fillToRect t="100000" r="100000"/>
                      </a:path>
                      <a:tileRect l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00" dirty="0">
                          <a:solidFill>
                            <a:schemeClr val="bg1"/>
                          </a:solidFill>
                          <a:effectLst/>
                        </a:rPr>
                        <a:t>11.4</a:t>
                      </a:r>
                      <a:endParaRPr lang="zh-CN" sz="1600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gradFill flip="none" rotWithShape="1">
                      <a:gsLst>
                        <a:gs pos="0">
                          <a:srgbClr val="0070C0">
                            <a:shade val="30000"/>
                            <a:satMod val="115000"/>
                          </a:srgbClr>
                        </a:gs>
                        <a:gs pos="50000">
                          <a:srgbClr val="0070C0">
                            <a:shade val="67500"/>
                            <a:satMod val="115000"/>
                          </a:srgbClr>
                        </a:gs>
                        <a:gs pos="100000">
                          <a:srgbClr val="0070C0">
                            <a:shade val="100000"/>
                            <a:satMod val="115000"/>
                          </a:srgbClr>
                        </a:gs>
                      </a:gsLst>
                      <a:path path="circle">
                        <a:fillToRect t="100000" r="100000"/>
                      </a:path>
                      <a:tileRect l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00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  <a:endParaRPr lang="zh-CN" sz="1600" kern="1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gradFill flip="none" rotWithShape="1">
                      <a:gsLst>
                        <a:gs pos="0">
                          <a:srgbClr val="0070C0">
                            <a:shade val="30000"/>
                            <a:satMod val="115000"/>
                          </a:srgbClr>
                        </a:gs>
                        <a:gs pos="50000">
                          <a:srgbClr val="0070C0">
                            <a:shade val="67500"/>
                            <a:satMod val="115000"/>
                          </a:srgbClr>
                        </a:gs>
                        <a:gs pos="100000">
                          <a:srgbClr val="0070C0">
                            <a:shade val="100000"/>
                            <a:satMod val="115000"/>
                          </a:srgbClr>
                        </a:gs>
                      </a:gsLst>
                      <a:path path="circle">
                        <a:fillToRect t="100000" r="100000"/>
                      </a:path>
                      <a:tileRect l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00">
                          <a:solidFill>
                            <a:schemeClr val="bg1"/>
                          </a:solidFill>
                          <a:effectLst/>
                        </a:rPr>
                        <a:t>7.2</a:t>
                      </a:r>
                      <a:endParaRPr lang="zh-CN" sz="1600" kern="1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gradFill flip="none" rotWithShape="1">
                      <a:gsLst>
                        <a:gs pos="0">
                          <a:srgbClr val="0070C0">
                            <a:shade val="30000"/>
                            <a:satMod val="115000"/>
                          </a:srgbClr>
                        </a:gs>
                        <a:gs pos="50000">
                          <a:srgbClr val="0070C0">
                            <a:shade val="67500"/>
                            <a:satMod val="115000"/>
                          </a:srgbClr>
                        </a:gs>
                        <a:gs pos="100000">
                          <a:srgbClr val="0070C0">
                            <a:shade val="100000"/>
                            <a:satMod val="115000"/>
                          </a:srgbClr>
                        </a:gs>
                      </a:gsLst>
                      <a:path path="circle">
                        <a:fillToRect t="100000" r="100000"/>
                      </a:path>
                      <a:tileRect l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00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  <a:endParaRPr lang="zh-CN" sz="1600" kern="1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gradFill flip="none" rotWithShape="1">
                      <a:gsLst>
                        <a:gs pos="0">
                          <a:srgbClr val="0070C0">
                            <a:shade val="30000"/>
                            <a:satMod val="115000"/>
                          </a:srgbClr>
                        </a:gs>
                        <a:gs pos="50000">
                          <a:srgbClr val="0070C0">
                            <a:shade val="67500"/>
                            <a:satMod val="115000"/>
                          </a:srgbClr>
                        </a:gs>
                        <a:gs pos="100000">
                          <a:srgbClr val="0070C0">
                            <a:shade val="100000"/>
                            <a:satMod val="115000"/>
                          </a:srgbClr>
                        </a:gs>
                      </a:gsLst>
                      <a:path path="circle">
                        <a:fillToRect t="100000" r="100000"/>
                      </a:path>
                      <a:tileRect l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00" dirty="0">
                          <a:solidFill>
                            <a:schemeClr val="bg1"/>
                          </a:solidFill>
                          <a:effectLst/>
                        </a:rPr>
                        <a:t>4.0</a:t>
                      </a:r>
                      <a:endParaRPr lang="zh-CN" sz="1600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gradFill flip="none" rotWithShape="1">
                      <a:gsLst>
                        <a:gs pos="0">
                          <a:srgbClr val="0070C0">
                            <a:shade val="30000"/>
                            <a:satMod val="115000"/>
                          </a:srgbClr>
                        </a:gs>
                        <a:gs pos="50000">
                          <a:srgbClr val="0070C0">
                            <a:shade val="67500"/>
                            <a:satMod val="115000"/>
                          </a:srgbClr>
                        </a:gs>
                        <a:gs pos="100000">
                          <a:srgbClr val="0070C0">
                            <a:shade val="100000"/>
                            <a:satMod val="115000"/>
                          </a:srgbClr>
                        </a:gs>
                      </a:gsLst>
                      <a:path path="circle">
                        <a:fillToRect t="100000" r="100000"/>
                      </a:path>
                      <a:tileRect l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00" dirty="0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  <a:endParaRPr lang="zh-CN" sz="1600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gradFill flip="none" rotWithShape="1">
                      <a:gsLst>
                        <a:gs pos="0">
                          <a:srgbClr val="0070C0">
                            <a:shade val="30000"/>
                            <a:satMod val="115000"/>
                          </a:srgbClr>
                        </a:gs>
                        <a:gs pos="50000">
                          <a:srgbClr val="0070C0">
                            <a:shade val="67500"/>
                            <a:satMod val="115000"/>
                          </a:srgbClr>
                        </a:gs>
                        <a:gs pos="100000">
                          <a:srgbClr val="0070C0">
                            <a:shade val="100000"/>
                            <a:satMod val="115000"/>
                          </a:srgbClr>
                        </a:gs>
                      </a:gsLst>
                      <a:path path="circle">
                        <a:fillToRect t="100000" r="100000"/>
                      </a:path>
                      <a:tileRect l="-100000" b="-10000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751521391"/>
                  </a:ext>
                </a:extLst>
              </a:tr>
            </a:tbl>
          </a:graphicData>
        </a:graphic>
      </p:graphicFrame>
      <p:sp>
        <p:nvSpPr>
          <p:cNvPr id="6" name="Rectangle 1">
            <a:extLst>
              <a:ext uri="{FF2B5EF4-FFF2-40B4-BE49-F238E27FC236}">
                <a16:creationId xmlns:a16="http://schemas.microsoft.com/office/drawing/2014/main" id="{89FAE003-3EDB-4B9E-8995-E9D2BB687B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3754" y="706687"/>
            <a:ext cx="8660734" cy="338554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defTabSz="914400" eaLnBrk="0" latinLnBrk="0" hangingPunct="0">
              <a:lnSpc>
                <a:spcPct val="100000"/>
              </a:lnSpc>
              <a:buClrTx/>
              <a:buSzTx/>
              <a:tabLst/>
            </a:pPr>
            <a:r>
              <a:rPr lang="zh-CN" altLang="en-US" sz="1600" kern="0" dirty="0">
                <a:solidFill>
                  <a:srgbClr val="FFFF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不同颗粒尺寸复合材料强度和延伸率不同量纲的性能，绘制不同颗粒的强度和延伸率的条形图</a:t>
            </a:r>
            <a:endParaRPr kumimoji="0" lang="zh-CN" altLang="en-US" sz="1600" i="0" u="none" strike="noStrike" cap="none" normalizeH="0" baseline="0" dirty="0">
              <a:ln>
                <a:noFill/>
              </a:ln>
              <a:solidFill>
                <a:srgbClr val="FFFF00"/>
              </a:solidFill>
              <a:effectLst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DEBD3FFB-71DE-44E4-B437-5A4085004B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7635" y="2355726"/>
            <a:ext cx="3087996" cy="2063835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A61645CE-4755-4A40-B8B7-39CE67E38FB8}"/>
              </a:ext>
            </a:extLst>
          </p:cNvPr>
          <p:cNvSpPr txBox="1"/>
          <p:nvPr/>
        </p:nvSpPr>
        <p:spPr>
          <a:xfrm>
            <a:off x="239433" y="1843856"/>
            <a:ext cx="7667625" cy="2898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ts val="2000"/>
              </a:lnSpc>
              <a:buNone/>
            </a:pP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c=[</a:t>
            </a:r>
            <a:r>
              <a:rPr lang="en-US" altLang="zh-C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"40nm"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"500nm"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"1um"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"5um"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 marL="0" indent="0">
              <a:lnSpc>
                <a:spcPts val="2000"/>
              </a:lnSpc>
              <a:buNone/>
            </a:pPr>
            <a:r>
              <a:rPr lang="en-US" altLang="zh-CN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xlabel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zh-CN" alt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颗粒尺寸</a:t>
            </a:r>
            <a:r>
              <a:rPr lang="en-US" altLang="zh-C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lnSpc>
                <a:spcPts val="2000"/>
              </a:lnSpc>
              <a:buNone/>
            </a:pPr>
            <a:r>
              <a:rPr lang="en-US" altLang="zh-CN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yyaxis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"left"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 </a:t>
            </a:r>
            <a:r>
              <a:rPr lang="en-US" altLang="zh-CN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激活</a:t>
            </a:r>
            <a:r>
              <a:rPr lang="en-US" altLang="zh-CN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zh-CN" alt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左轴</a:t>
            </a:r>
            <a:endParaRPr lang="zh-CN" alt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ts val="2000"/>
              </a:lnSpc>
              <a:buNone/>
            </a:pP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z=</a:t>
            </a:r>
            <a:r>
              <a:rPr lang="en-US" altLang="zh-CN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zeros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altLang="zh-CN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设置大小一样的零的行向量</a:t>
            </a:r>
            <a:endParaRPr lang="zh-CN" alt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ts val="2000"/>
              </a:lnSpc>
              <a:buNone/>
            </a:pP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s=[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395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365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316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305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altLang="zh-CN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zeros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)]'; </a:t>
            </a:r>
            <a:r>
              <a:rPr lang="en-US" altLang="zh-CN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强度</a:t>
            </a:r>
            <a:endParaRPr lang="zh-CN" alt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ts val="2000"/>
              </a:lnSpc>
              <a:buNone/>
            </a:pP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b1=</a:t>
            </a:r>
            <a:r>
              <a:rPr lang="en-US" altLang="zh-CN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bar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c,s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altLang="zh-CN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条形图</a:t>
            </a:r>
            <a:endParaRPr lang="zh-CN" alt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ts val="2000"/>
              </a:lnSpc>
              <a:buNone/>
            </a:pPr>
            <a:r>
              <a:rPr lang="en-US" altLang="zh-CN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ylabel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zh-CN" alt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抗拉强度</a:t>
            </a:r>
            <a:r>
              <a:rPr lang="en-US" altLang="zh-C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/MPa"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lnSpc>
                <a:spcPts val="2000"/>
              </a:lnSpc>
              <a:buNone/>
            </a:pPr>
            <a:r>
              <a:rPr lang="en-US" altLang="zh-CN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yyaxis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"right"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zh-CN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激活</a:t>
            </a:r>
            <a:r>
              <a:rPr lang="en-US" altLang="zh-CN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zh-CN" alt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右轴</a:t>
            </a:r>
            <a:endParaRPr lang="zh-CN" alt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ts val="2000"/>
              </a:lnSpc>
              <a:buNone/>
            </a:pPr>
            <a:r>
              <a:rPr lang="en-US" altLang="zh-CN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ee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=[</a:t>
            </a:r>
            <a:r>
              <a:rPr lang="en-US" altLang="zh-CN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zeros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0.125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0.114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0.072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0.04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]' ; </a:t>
            </a:r>
            <a:r>
              <a:rPr lang="en-US" altLang="zh-CN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延伸率</a:t>
            </a:r>
            <a:endParaRPr lang="zh-CN" alt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ts val="2000"/>
              </a:lnSpc>
              <a:buNone/>
            </a:pPr>
            <a:r>
              <a:rPr lang="en-US" altLang="zh-CN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bar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c,ee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altLang="zh-CN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条形图</a:t>
            </a:r>
            <a:endParaRPr lang="zh-CN" alt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ts val="2000"/>
              </a:lnSpc>
              <a:buNone/>
            </a:pPr>
            <a:r>
              <a:rPr lang="en-US" altLang="zh-CN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ylabel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zh-CN" alt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延伸率</a:t>
            </a:r>
            <a:r>
              <a:rPr lang="en-US" altLang="zh-C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/%"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A198A32-978D-45AF-AF3D-EC3CFE7A8B10}"/>
              </a:ext>
            </a:extLst>
          </p:cNvPr>
          <p:cNvSpPr txBox="1"/>
          <p:nvPr/>
        </p:nvSpPr>
        <p:spPr>
          <a:xfrm>
            <a:off x="611560" y="125131"/>
            <a:ext cx="8208911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600" b="1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隶书" panose="02010509060101010101" charset="-122"/>
              </a:rPr>
              <a:t>§</a:t>
            </a:r>
            <a:r>
              <a:rPr lang="en-US" altLang="zh-CN" sz="2600" b="1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3.4 </a:t>
            </a:r>
            <a:r>
              <a:rPr lang="zh-CN" altLang="en-US" sz="2600" b="1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数据统计分析图</a:t>
            </a:r>
            <a:r>
              <a:rPr lang="en-US" altLang="zh-CN" sz="2600" b="1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——bar</a:t>
            </a:r>
            <a:r>
              <a:rPr lang="zh-CN" altLang="en-US" sz="2600" b="1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绘制</a:t>
            </a:r>
            <a:r>
              <a:rPr lang="en-US" altLang="zh-CN" sz="2600" b="1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x</a:t>
            </a:r>
            <a:r>
              <a:rPr lang="zh-CN" altLang="en-US" sz="2600" b="1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为分类数组的条形图</a:t>
            </a:r>
            <a:endParaRPr lang="zh-CN" altLang="en-US" sz="26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843175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4903FB8B-BAF6-4EF1-99B1-B4803EA7BD2E}"/>
              </a:ext>
            </a:extLst>
          </p:cNvPr>
          <p:cNvSpPr/>
          <p:nvPr/>
        </p:nvSpPr>
        <p:spPr>
          <a:xfrm>
            <a:off x="118791" y="1347614"/>
            <a:ext cx="6677425" cy="32635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/>
          <a:p>
            <a:pPr marL="457200" indent="-457200">
              <a:lnSpc>
                <a:spcPts val="3600"/>
              </a:lnSpc>
              <a:buFont typeface="+mj-ea"/>
              <a:buAutoNum type="circleNumDbPlain"/>
            </a:pPr>
            <a:r>
              <a:rPr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</a:t>
            </a:r>
            <a:r>
              <a:rPr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是数组，数组</a:t>
            </a:r>
            <a:r>
              <a:rPr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x</a:t>
            </a:r>
            <a:r>
              <a:rPr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每个元素占</a:t>
            </a:r>
            <a:r>
              <a:rPr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数组</a:t>
            </a:r>
            <a:r>
              <a:rPr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x</a:t>
            </a:r>
            <a:r>
              <a:rPr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元素</a:t>
            </a:r>
            <a:r>
              <a:rPr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总和的百分比代表一个</a:t>
            </a:r>
            <a:r>
              <a:rPr lang="zh-CN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扇区</a:t>
            </a:r>
            <a:r>
              <a:rPr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457200" indent="-457200">
              <a:lnSpc>
                <a:spcPts val="3600"/>
              </a:lnSpc>
              <a:buFont typeface="+mj-ea"/>
              <a:buAutoNum type="circleNumDbPlain"/>
            </a:pPr>
            <a:r>
              <a:rPr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主要属性</a:t>
            </a:r>
            <a:r>
              <a:rPr lang="zh-CN" altLang="en-US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对组参数</a:t>
            </a:r>
            <a:r>
              <a:rPr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key=value</a:t>
            </a:r>
            <a:r>
              <a:rPr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有：</a:t>
            </a:r>
            <a:endParaRPr lang="en-US" altLang="zh-CN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457200" indent="-457200">
              <a:lnSpc>
                <a:spcPts val="36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偏移扇区</a:t>
            </a:r>
            <a:r>
              <a:rPr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explode:</a:t>
            </a:r>
            <a:r>
              <a:rPr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将扇区从饼图偏移</a:t>
            </a:r>
            <a:r>
              <a:rPr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其值是一个与</a:t>
            </a:r>
            <a:r>
              <a:rPr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大小相同向量</a:t>
            </a:r>
            <a:r>
              <a:rPr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非零元素所对应部分将从饼图独立，可缺省；</a:t>
            </a:r>
            <a:endParaRPr lang="en-US" altLang="zh-CN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ts val="36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图例</a:t>
            </a:r>
            <a:r>
              <a:rPr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labels :</a:t>
            </a:r>
            <a:r>
              <a:rPr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为每个扇形指定标签，缺省为百分比；</a:t>
            </a:r>
            <a:endParaRPr lang="en-US" altLang="zh-CN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ts val="3600"/>
              </a:lnSpc>
              <a:buFont typeface="+mj-ea"/>
              <a:buAutoNum type="circleNumDbPlain" startAt="3"/>
            </a:pPr>
            <a:r>
              <a:rPr lang="zh-CN" altLang="en-US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句柄</a:t>
            </a:r>
            <a:r>
              <a:rPr lang="en-US" altLang="zh-CN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h</a:t>
            </a:r>
            <a:r>
              <a:rPr lang="zh-CN" altLang="en-US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和坐标区</a:t>
            </a:r>
            <a:r>
              <a:rPr lang="en-US" altLang="zh-CN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ax</a:t>
            </a:r>
            <a:r>
              <a:rPr lang="zh-CN" altLang="en-US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与</a:t>
            </a:r>
            <a:r>
              <a:rPr lang="en-US" altLang="zh-CN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plot</a:t>
            </a:r>
            <a:r>
              <a:rPr lang="zh-CN" altLang="en-US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操作相似，可省略 </a:t>
            </a:r>
            <a:r>
              <a:rPr lang="zh-CN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3" name="Picture 2" descr="https://pics6.baidu.com/feed/94cad1c8a786c9170246102f2d7093ca3bc75736.jpeg?token=981df487b325323d1fdbd4c864659a6b&amp;s=DAB621C17187E15F4A2C2DD80300C0B2">
            <a:extLst>
              <a:ext uri="{FF2B5EF4-FFF2-40B4-BE49-F238E27FC236}">
                <a16:creationId xmlns:a16="http://schemas.microsoft.com/office/drawing/2014/main" id="{EF5F2FBA-A425-450E-9733-BE4B47C27A6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42281" r="569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0454" r="41273"/>
          <a:stretch/>
        </p:blipFill>
        <p:spPr bwMode="auto">
          <a:xfrm>
            <a:off x="6612522" y="1734278"/>
            <a:ext cx="794601" cy="31595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D6556677-BFBB-45D0-8960-A133F279D190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33443" t="41019" r="61054" b="26953"/>
          <a:stretch/>
        </p:blipFill>
        <p:spPr>
          <a:xfrm>
            <a:off x="7173310" y="1938360"/>
            <a:ext cx="856064" cy="2592331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361CC41E-1B88-4E34-8FD7-7F876EB030C2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49100" t="41049" r="44882" b="26787"/>
          <a:stretch/>
        </p:blipFill>
        <p:spPr>
          <a:xfrm>
            <a:off x="7990314" y="1946794"/>
            <a:ext cx="936104" cy="2603401"/>
          </a:xfrm>
          <a:prstGeom prst="rect">
            <a:avLst/>
          </a:prstGeom>
        </p:spPr>
      </p:pic>
      <p:sp>
        <p:nvSpPr>
          <p:cNvPr id="7" name="Rectangle 3">
            <a:extLst>
              <a:ext uri="{FF2B5EF4-FFF2-40B4-BE49-F238E27FC236}">
                <a16:creationId xmlns:a16="http://schemas.microsoft.com/office/drawing/2014/main" id="{AA9B1862-5A63-44E3-B2A1-540081EAC7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5080" y="741435"/>
            <a:ext cx="6973237" cy="36933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>
            <a:spAutoFit/>
          </a:bodyPr>
          <a:lstStyle>
            <a:lvl1pPr marL="342900" indent="-3429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742950" indent="-28575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2pPr>
            <a:lvl3pPr marL="11430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3pPr>
            <a:lvl4pPr marL="16002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4pPr>
            <a:lvl5pPr marL="20574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5pPr>
            <a:lvl6pPr marL="2514600" indent="-228600" algn="l" defTabSz="0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6pPr>
            <a:lvl7pPr marL="2971800" indent="-228600" algn="l" defTabSz="0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7pPr>
            <a:lvl8pPr marL="3429000" indent="-228600" algn="l" defTabSz="0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8pPr>
            <a:lvl9pPr marL="3886200" indent="-228600" algn="l" defTabSz="0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9pPr>
          </a:lstStyle>
          <a:p>
            <a:pPr marL="0" indent="0" algn="dist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1800" b="1" kern="12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饼图以圆面积表示</a:t>
            </a:r>
            <a:r>
              <a:rPr lang="zh-CN" altLang="en-US" sz="18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</a:t>
            </a:r>
            <a:r>
              <a:rPr lang="zh-CN" altLang="en-US" sz="1800" b="1" kern="12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体，以扇形面积表示每部分占总体百分</a:t>
            </a:r>
            <a:endParaRPr lang="en-US" altLang="zh-CN" sz="1800" b="1" kern="12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ABA490A-C379-46D4-8B84-19432FF44B9B}"/>
              </a:ext>
            </a:extLst>
          </p:cNvPr>
          <p:cNvSpPr txBox="1"/>
          <p:nvPr/>
        </p:nvSpPr>
        <p:spPr>
          <a:xfrm>
            <a:off x="935089" y="88686"/>
            <a:ext cx="6157191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6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隶书" panose="02010509060101010101" charset="-122"/>
              </a:rPr>
              <a:t>§</a:t>
            </a:r>
            <a:r>
              <a:rPr lang="en-US" altLang="zh-CN" sz="26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3.4 </a:t>
            </a:r>
            <a:r>
              <a:rPr lang="zh-CN" altLang="en-US" sz="26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数据统计分析图</a:t>
            </a:r>
            <a:r>
              <a:rPr lang="en-US" altLang="zh-CN" sz="26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——pie</a:t>
            </a:r>
            <a:r>
              <a:rPr lang="zh-CN" altLang="en-US" sz="26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绘制饼图</a:t>
            </a:r>
            <a:endParaRPr lang="zh-CN" altLang="en-US" sz="26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945683A-1034-4FBC-9387-8B2C240E5A09}"/>
              </a:ext>
            </a:extLst>
          </p:cNvPr>
          <p:cNvSpPr txBox="1"/>
          <p:nvPr/>
        </p:nvSpPr>
        <p:spPr>
          <a:xfrm>
            <a:off x="2530086" y="3507854"/>
            <a:ext cx="40106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kern="0" dirty="0">
                <a:solidFill>
                  <a:srgbClr val="FF0000"/>
                </a:solidFill>
                <a:latin typeface="Consolas" panose="020B0609020204030204" pitchFamily="49" charset="0"/>
              </a:rPr>
              <a:t>explode=[0.2, 0, 0, 0, 0, 0.2]) 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CF704F26-1924-4B2B-BA7E-F67D2EA34B05}"/>
              </a:ext>
            </a:extLst>
          </p:cNvPr>
          <p:cNvSpPr txBox="1"/>
          <p:nvPr/>
        </p:nvSpPr>
        <p:spPr>
          <a:xfrm>
            <a:off x="6914748" y="1570730"/>
            <a:ext cx="222925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2019</a:t>
            </a:r>
            <a:r>
              <a:rPr lang="zh-CN" altLang="en-US" sz="14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年火箭发射成功数量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75E3B220-118E-48B6-994C-236586817D0F}"/>
              </a:ext>
            </a:extLst>
          </p:cNvPr>
          <p:cNvSpPr txBox="1"/>
          <p:nvPr/>
        </p:nvSpPr>
        <p:spPr>
          <a:xfrm>
            <a:off x="1948205" y="1914994"/>
            <a:ext cx="28302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800" b="1" kern="0">
                <a:solidFill>
                  <a:srgbClr val="FF0000"/>
                </a:solidFill>
                <a:latin typeface="Consolas" panose="020B0609020204030204" pitchFamily="49" charset="0"/>
              </a:defRPr>
            </a:lvl1pPr>
          </a:lstStyle>
          <a:p>
            <a:r>
              <a:rPr lang="en-US" altLang="zh-CN" dirty="0"/>
              <a:t>x=[29,5,5,2,21,25];</a:t>
            </a: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D0596E7C-42BF-4EB5-AF7A-6024FC8CF8B0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16925" t="10800" r="36613" b="12399"/>
          <a:stretch/>
        </p:blipFill>
        <p:spPr>
          <a:xfrm>
            <a:off x="7118317" y="82794"/>
            <a:ext cx="1906892" cy="1539011"/>
          </a:xfrm>
          <a:prstGeom prst="rect">
            <a:avLst/>
          </a:prstGeom>
        </p:spPr>
      </p:pic>
      <p:sp>
        <p:nvSpPr>
          <p:cNvPr id="21" name="矩形 20">
            <a:extLst>
              <a:ext uri="{FF2B5EF4-FFF2-40B4-BE49-F238E27FC236}">
                <a16:creationId xmlns:a16="http://schemas.microsoft.com/office/drawing/2014/main" id="{EE2CFC6F-0158-48BC-ACAE-56A13704CC72}"/>
              </a:ext>
            </a:extLst>
          </p:cNvPr>
          <p:cNvSpPr/>
          <p:nvPr/>
        </p:nvSpPr>
        <p:spPr>
          <a:xfrm>
            <a:off x="118791" y="1147181"/>
            <a:ext cx="2231750" cy="369332"/>
          </a:xfrm>
          <a:prstGeom prst="rect">
            <a:avLst/>
          </a:prstGeom>
          <a:noFill/>
          <a:ln w="38100"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>
            <a:spAutoFit/>
          </a:bodyPr>
          <a:lstStyle/>
          <a:p>
            <a:pPr algn="dist"/>
            <a:r>
              <a:rPr lang="en-US" altLang="zh-CN" b="1" dirty="0">
                <a:solidFill>
                  <a:schemeClr val="bg1"/>
                </a:solidFill>
                <a:highlight>
                  <a:srgbClr val="FF0000"/>
                </a:highlight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pie(</a:t>
            </a:r>
            <a:r>
              <a:rPr lang="en-US" altLang="zh-CN" b="1" dirty="0" err="1">
                <a:solidFill>
                  <a:schemeClr val="bg1"/>
                </a:solidFill>
                <a:highlight>
                  <a:srgbClr val="FF0000"/>
                </a:highlight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x</a:t>
            </a:r>
            <a:r>
              <a:rPr lang="en-US" altLang="zh-CN" b="1" dirty="0" err="1">
                <a:solidFill>
                  <a:schemeClr val="bg1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,</a:t>
            </a:r>
            <a:r>
              <a:rPr lang="en-US" altLang="zh-CN" b="1" dirty="0" err="1">
                <a:solidFill>
                  <a:srgbClr val="FFFF00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key</a:t>
            </a:r>
            <a:r>
              <a:rPr lang="en-US" altLang="zh-CN" b="1" dirty="0">
                <a:solidFill>
                  <a:srgbClr val="FFFF00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=value</a:t>
            </a:r>
            <a:r>
              <a:rPr lang="en-US" altLang="zh-CN" b="1" dirty="0">
                <a:solidFill>
                  <a:schemeClr val="bg1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)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DFC4061-FFAD-4C8A-8A65-5A405718B9B1}"/>
              </a:ext>
            </a:extLst>
          </p:cNvPr>
          <p:cNvSpPr txBox="1"/>
          <p:nvPr/>
        </p:nvSpPr>
        <p:spPr>
          <a:xfrm>
            <a:off x="2246380" y="1126156"/>
            <a:ext cx="78537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608959E-723A-4240-A488-808668BEA659}"/>
              </a:ext>
            </a:extLst>
          </p:cNvPr>
          <p:cNvSpPr/>
          <p:nvPr/>
        </p:nvSpPr>
        <p:spPr>
          <a:xfrm>
            <a:off x="2646004" y="1141545"/>
            <a:ext cx="4662300" cy="369332"/>
          </a:xfrm>
          <a:prstGeom prst="rect">
            <a:avLst/>
          </a:prstGeom>
          <a:noFill/>
          <a:ln w="38100"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>
            <a:spAutoFit/>
          </a:bodyPr>
          <a:lstStyle/>
          <a:p>
            <a:pPr algn="dist"/>
            <a:r>
              <a:rPr lang="zh-CN" altLang="en-US" b="1" dirty="0">
                <a:solidFill>
                  <a:srgbClr val="FFFF00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句柄</a:t>
            </a:r>
            <a:r>
              <a:rPr lang="en-US" altLang="zh-CN" b="1" dirty="0">
                <a:solidFill>
                  <a:srgbClr val="FFFF00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h</a:t>
            </a:r>
            <a:r>
              <a:rPr lang="en-US" altLang="zh-CN" b="1" dirty="0">
                <a:solidFill>
                  <a:schemeClr val="bg1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=</a:t>
            </a:r>
            <a:r>
              <a:rPr lang="en-US" altLang="zh-CN" b="1" dirty="0">
                <a:solidFill>
                  <a:schemeClr val="bg1"/>
                </a:solidFill>
                <a:highlight>
                  <a:srgbClr val="FF0000"/>
                </a:highlight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pie</a:t>
            </a:r>
            <a:r>
              <a:rPr lang="en-US" altLang="zh-CN" b="1" dirty="0">
                <a:solidFill>
                  <a:schemeClr val="bg1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(</a:t>
            </a:r>
            <a:r>
              <a:rPr lang="zh-CN" altLang="en-US" b="1" dirty="0">
                <a:solidFill>
                  <a:srgbClr val="FFFF00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坐标区</a:t>
            </a:r>
            <a:r>
              <a:rPr lang="en-US" altLang="zh-CN" b="1" dirty="0" err="1">
                <a:solidFill>
                  <a:srgbClr val="FFFF00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ax,</a:t>
            </a:r>
            <a:r>
              <a:rPr lang="en-US" altLang="zh-CN" b="1" dirty="0" err="1">
                <a:solidFill>
                  <a:schemeClr val="bg1"/>
                </a:solidFill>
                <a:highlight>
                  <a:srgbClr val="FF0000"/>
                </a:highlight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x</a:t>
            </a:r>
            <a:r>
              <a:rPr lang="en-US" altLang="zh-CN" b="1" dirty="0" err="1">
                <a:solidFill>
                  <a:schemeClr val="bg1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,</a:t>
            </a:r>
            <a:r>
              <a:rPr lang="en-US" altLang="zh-CN" b="1" dirty="0" err="1">
                <a:solidFill>
                  <a:srgbClr val="FFFF00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key</a:t>
            </a:r>
            <a:r>
              <a:rPr lang="en-US" altLang="zh-CN" b="1" dirty="0">
                <a:solidFill>
                  <a:srgbClr val="FFFF00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=value</a:t>
            </a:r>
            <a:r>
              <a:rPr lang="en-US" altLang="zh-CN" b="1" dirty="0">
                <a:solidFill>
                  <a:schemeClr val="bg1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)</a:t>
            </a:r>
          </a:p>
        </p:txBody>
      </p:sp>
      <p:sp>
        <p:nvSpPr>
          <p:cNvPr id="16" name="波形 15">
            <a:extLst>
              <a:ext uri="{FF2B5EF4-FFF2-40B4-BE49-F238E27FC236}">
                <a16:creationId xmlns:a16="http://schemas.microsoft.com/office/drawing/2014/main" id="{5AAB4A2A-C522-41DD-B05D-8DEB8A842DD4}"/>
              </a:ext>
            </a:extLst>
          </p:cNvPr>
          <p:cNvSpPr/>
          <p:nvPr/>
        </p:nvSpPr>
        <p:spPr>
          <a:xfrm>
            <a:off x="6755641" y="1571632"/>
            <a:ext cx="241021" cy="279355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例6</a:t>
            </a:r>
            <a:endParaRPr lang="ko-KR" altLang="en-US" sz="14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44746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>
            <a:extLst>
              <a:ext uri="{FF2B5EF4-FFF2-40B4-BE49-F238E27FC236}">
                <a16:creationId xmlns:a16="http://schemas.microsoft.com/office/drawing/2014/main" id="{4969E748-77AC-430F-BECC-52E4C74C2C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352" t="16927" r="38974" b="12399"/>
          <a:stretch/>
        </p:blipFill>
        <p:spPr>
          <a:xfrm>
            <a:off x="7020272" y="2877825"/>
            <a:ext cx="1928803" cy="1678799"/>
          </a:xfrm>
          <a:prstGeom prst="rect">
            <a:avLst/>
          </a:prstGeom>
        </p:spPr>
      </p:pic>
      <p:sp>
        <p:nvSpPr>
          <p:cNvPr id="4" name="内容占位符 2">
            <a:extLst>
              <a:ext uri="{FF2B5EF4-FFF2-40B4-BE49-F238E27FC236}">
                <a16:creationId xmlns:a16="http://schemas.microsoft.com/office/drawing/2014/main" id="{863A8B93-2C9D-4952-A066-7BEF470F1A36}"/>
              </a:ext>
            </a:extLst>
          </p:cNvPr>
          <p:cNvSpPr txBox="1">
            <a:spLocks/>
          </p:cNvSpPr>
          <p:nvPr/>
        </p:nvSpPr>
        <p:spPr>
          <a:xfrm>
            <a:off x="319693" y="1115645"/>
            <a:ext cx="9220859" cy="2232248"/>
          </a:xfrm>
          <a:prstGeom prst="rect">
            <a:avLst/>
          </a:prstGeom>
          <a:noFill/>
        </p:spPr>
        <p:txBody>
          <a:bodyPr/>
          <a:lstStyle>
            <a:lvl1pPr marL="1778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sz="2800" b="1">
                <a:solidFill>
                  <a:srgbClr val="A50021"/>
                </a:solidFill>
                <a:latin typeface="+mn-lt"/>
                <a:ea typeface="+mn-ea"/>
                <a:cs typeface="+mn-cs"/>
              </a:defRPr>
            </a:lvl1pPr>
            <a:lvl2pPr marL="6350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</a:defRPr>
            </a:lvl2pPr>
            <a:lvl3pPr marL="10922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sz="2400" b="1">
                <a:solidFill>
                  <a:srgbClr val="002E5C"/>
                </a:solidFill>
                <a:latin typeface="+mn-lt"/>
              </a:defRPr>
            </a:lvl3pPr>
            <a:lvl4pPr marL="15494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sz="2000" b="1">
                <a:solidFill>
                  <a:srgbClr val="002E5C"/>
                </a:solidFill>
                <a:latin typeface="+mn-lt"/>
              </a:defRPr>
            </a:lvl4pPr>
            <a:lvl5pPr marL="20066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sz="2000" b="1">
                <a:solidFill>
                  <a:srgbClr val="002E5C"/>
                </a:solidFill>
                <a:latin typeface="+mn-lt"/>
              </a:defRPr>
            </a:lvl5pPr>
            <a:lvl6pPr marL="24638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6pPr>
            <a:lvl7pPr marL="29210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7pPr>
            <a:lvl8pPr marL="33782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8pPr>
            <a:lvl9pPr marL="38354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altLang="zh-CN" sz="2000" b="0" kern="0" dirty="0">
                <a:solidFill>
                  <a:srgbClr val="008000"/>
                </a:solidFill>
                <a:latin typeface="Consolas" panose="020B0609020204030204" pitchFamily="49" charset="0"/>
              </a:rPr>
              <a:t>#</a:t>
            </a:r>
            <a:r>
              <a:rPr lang="zh-CN" altLang="en-US" sz="2000" b="0" kern="0" dirty="0">
                <a:solidFill>
                  <a:srgbClr val="008000"/>
                </a:solidFill>
                <a:latin typeface="Consolas" panose="020B0609020204030204" pitchFamily="49" charset="0"/>
              </a:rPr>
              <a:t>各国火箭成功</a:t>
            </a:r>
            <a:r>
              <a:rPr lang="en-US" altLang="zh-CN" sz="2000" b="0" kern="0" dirty="0">
                <a:solidFill>
                  <a:srgbClr val="008000"/>
                </a:solidFill>
                <a:latin typeface="Consolas" panose="020B0609020204030204" pitchFamily="49" charset="0"/>
              </a:rPr>
              <a:t>CN’,‘EU’,‘IN’,‘JP’,‘RUS’,‘US’</a:t>
            </a:r>
            <a:endParaRPr lang="zh-CN" altLang="en-US" sz="2000" b="0" kern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altLang="zh-CN" sz="2000" b="0" kern="0" dirty="0">
                <a:solidFill>
                  <a:srgbClr val="000000"/>
                </a:solidFill>
                <a:latin typeface="Consolas" panose="020B0609020204030204" pitchFamily="49" charset="0"/>
              </a:rPr>
              <a:t>x=[</a:t>
            </a:r>
            <a:r>
              <a:rPr lang="en-US" altLang="zh-CN" sz="2000" b="0" kern="0" dirty="0">
                <a:solidFill>
                  <a:srgbClr val="098658"/>
                </a:solidFill>
                <a:latin typeface="Consolas" panose="020B0609020204030204" pitchFamily="49" charset="0"/>
              </a:rPr>
              <a:t>29</a:t>
            </a:r>
            <a:r>
              <a:rPr lang="en-US" altLang="zh-CN" sz="2000" b="0" kern="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sz="2000" b="0" kern="0" dirty="0">
                <a:solidFill>
                  <a:srgbClr val="098658"/>
                </a:solidFill>
                <a:latin typeface="Consolas" panose="020B0609020204030204" pitchFamily="49" charset="0"/>
              </a:rPr>
              <a:t>5</a:t>
            </a:r>
            <a:r>
              <a:rPr lang="en-US" altLang="zh-CN" sz="2000" b="0" kern="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sz="2000" b="0" kern="0" dirty="0">
                <a:solidFill>
                  <a:srgbClr val="098658"/>
                </a:solidFill>
                <a:latin typeface="Consolas" panose="020B0609020204030204" pitchFamily="49" charset="0"/>
              </a:rPr>
              <a:t>5</a:t>
            </a:r>
            <a:r>
              <a:rPr lang="en-US" altLang="zh-CN" sz="2000" b="0" kern="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sz="2000" b="0" kern="0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altLang="zh-CN" sz="2000" b="0" kern="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sz="2000" b="0" kern="0" dirty="0">
                <a:solidFill>
                  <a:srgbClr val="098658"/>
                </a:solidFill>
                <a:latin typeface="Consolas" panose="020B0609020204030204" pitchFamily="49" charset="0"/>
              </a:rPr>
              <a:t>21</a:t>
            </a:r>
            <a:r>
              <a:rPr lang="en-US" altLang="zh-CN" sz="2000" b="0" kern="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sz="2000" b="0" kern="0" dirty="0">
                <a:solidFill>
                  <a:srgbClr val="098658"/>
                </a:solidFill>
                <a:latin typeface="Consolas" panose="020B0609020204030204" pitchFamily="49" charset="0"/>
              </a:rPr>
              <a:t>25</a:t>
            </a:r>
            <a:r>
              <a:rPr lang="en-US" altLang="zh-CN" sz="2000" b="0" kern="0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pPr marL="0" indent="0">
              <a:buNone/>
            </a:pPr>
            <a:r>
              <a:rPr lang="en-US" altLang="zh-CN" sz="2000" b="0" kern="0" dirty="0">
                <a:solidFill>
                  <a:srgbClr val="008000"/>
                </a:solidFill>
                <a:latin typeface="Consolas" panose="020B0609020204030204" pitchFamily="49" charset="0"/>
              </a:rPr>
              <a:t>#</a:t>
            </a:r>
            <a:r>
              <a:rPr lang="zh-CN" altLang="en-US" sz="2000" b="0" kern="0" dirty="0">
                <a:solidFill>
                  <a:srgbClr val="008000"/>
                </a:solidFill>
                <a:latin typeface="Consolas" panose="020B0609020204030204" pitchFamily="49" charset="0"/>
              </a:rPr>
              <a:t>突出中国和美国</a:t>
            </a:r>
            <a:endParaRPr lang="zh-CN" altLang="en-US" sz="2000" b="0" kern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altLang="zh-CN" sz="2000" b="0" kern="0" dirty="0">
                <a:solidFill>
                  <a:srgbClr val="008000"/>
                </a:solidFill>
                <a:latin typeface="Consolas" panose="020B0609020204030204" pitchFamily="49" charset="0"/>
              </a:rPr>
              <a:t>pie(x, explode=[0.2, 0, 0, 0, 0, 0.2])</a:t>
            </a:r>
            <a:endParaRPr lang="zh-CN" altLang="en-US" sz="2000" kern="0" dirty="0"/>
          </a:p>
          <a:p>
            <a:pPr marL="0" indent="0">
              <a:buNone/>
            </a:pPr>
            <a:r>
              <a:rPr lang="en-US" altLang="zh-CN" sz="2000" b="0" kern="0" dirty="0">
                <a:solidFill>
                  <a:srgbClr val="008000"/>
                </a:solidFill>
                <a:latin typeface="Consolas" panose="020B0609020204030204" pitchFamily="49" charset="0"/>
              </a:rPr>
              <a:t>#</a:t>
            </a:r>
            <a:r>
              <a:rPr lang="zh-CN" altLang="en-US" sz="2000" b="0" kern="0" dirty="0">
                <a:solidFill>
                  <a:srgbClr val="008000"/>
                </a:solidFill>
                <a:latin typeface="Consolas" panose="020B0609020204030204" pitchFamily="49" charset="0"/>
              </a:rPr>
              <a:t>将对应 </a:t>
            </a:r>
            <a:r>
              <a:rPr lang="en-US" altLang="zh-CN" sz="2000" b="0" kern="0" dirty="0">
                <a:solidFill>
                  <a:srgbClr val="008000"/>
                </a:solidFill>
                <a:latin typeface="Consolas" panose="020B0609020204030204" pitchFamily="49" charset="0"/>
              </a:rPr>
              <a:t>explode </a:t>
            </a:r>
            <a:r>
              <a:rPr lang="zh-CN" altLang="en-US" sz="2000" b="0" kern="0" dirty="0">
                <a:solidFill>
                  <a:srgbClr val="008000"/>
                </a:solidFill>
                <a:latin typeface="Consolas" panose="020B0609020204030204" pitchFamily="49" charset="0"/>
              </a:rPr>
              <a:t>元素设置为 </a:t>
            </a:r>
            <a:r>
              <a:rPr lang="en-US" altLang="zh-CN" sz="2000" b="0" kern="0" dirty="0">
                <a:solidFill>
                  <a:srgbClr val="008000"/>
                </a:solidFill>
                <a:latin typeface="Consolas" panose="020B0609020204030204" pitchFamily="49" charset="0"/>
              </a:rPr>
              <a:t>0.2 </a:t>
            </a:r>
            <a:r>
              <a:rPr lang="zh-CN" altLang="en-US" sz="2000" b="0" kern="0" dirty="0">
                <a:solidFill>
                  <a:srgbClr val="008000"/>
                </a:solidFill>
                <a:latin typeface="Consolas" panose="020B0609020204030204" pitchFamily="49" charset="0"/>
              </a:rPr>
              <a:t>来偏移第</a:t>
            </a:r>
            <a:r>
              <a:rPr lang="en-US" altLang="zh-CN" sz="2000" b="0" kern="0" dirty="0">
                <a:solidFill>
                  <a:srgbClr val="008000"/>
                </a:solidFill>
                <a:latin typeface="Consolas" panose="020B0609020204030204" pitchFamily="49" charset="0"/>
              </a:rPr>
              <a:t>1</a:t>
            </a:r>
            <a:r>
              <a:rPr lang="zh-CN" altLang="en-US" sz="2000" b="0" kern="0" dirty="0">
                <a:solidFill>
                  <a:srgbClr val="008000"/>
                </a:solidFill>
                <a:latin typeface="Consolas" panose="020B0609020204030204" pitchFamily="49" charset="0"/>
              </a:rPr>
              <a:t>和第</a:t>
            </a:r>
            <a:r>
              <a:rPr lang="en-US" altLang="zh-CN" sz="2000" b="0" kern="0" dirty="0">
                <a:solidFill>
                  <a:srgbClr val="008000"/>
                </a:solidFill>
                <a:latin typeface="Consolas" panose="020B0609020204030204" pitchFamily="49" charset="0"/>
              </a:rPr>
              <a:t>6</a:t>
            </a:r>
            <a:r>
              <a:rPr lang="zh-CN" altLang="en-US" sz="2000" b="0" kern="0" dirty="0">
                <a:solidFill>
                  <a:srgbClr val="008000"/>
                </a:solidFill>
                <a:latin typeface="Consolas" panose="020B0609020204030204" pitchFamily="49" charset="0"/>
              </a:rPr>
              <a:t>块饼图扇区</a:t>
            </a:r>
            <a:endParaRPr lang="zh-CN" altLang="en-US" sz="2000" b="0" kern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altLang="zh-CN" sz="2000" b="0" kern="0" dirty="0">
                <a:solidFill>
                  <a:srgbClr val="795E26"/>
                </a:solidFill>
                <a:latin typeface="Consolas" panose="020B0609020204030204" pitchFamily="49" charset="0"/>
              </a:rPr>
              <a:t>title</a:t>
            </a:r>
            <a:r>
              <a:rPr lang="en-US" altLang="zh-CN" sz="2000" b="0" kern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2000" b="0" kern="0" dirty="0">
                <a:solidFill>
                  <a:srgbClr val="A31515"/>
                </a:solidFill>
                <a:latin typeface="Consolas" panose="020B0609020204030204" pitchFamily="49" charset="0"/>
              </a:rPr>
              <a:t>"2019</a:t>
            </a:r>
            <a:r>
              <a:rPr lang="zh-CN" altLang="en-US" sz="2000" b="0" kern="0" dirty="0">
                <a:solidFill>
                  <a:srgbClr val="A31515"/>
                </a:solidFill>
                <a:latin typeface="Consolas" panose="020B0609020204030204" pitchFamily="49" charset="0"/>
              </a:rPr>
              <a:t>年全球火箭发射数量饼图</a:t>
            </a:r>
            <a:r>
              <a:rPr lang="en-US" altLang="zh-CN" sz="2000" b="0" kern="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altLang="zh-CN" sz="2000" b="0" kern="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endParaRPr lang="zh-CN" altLang="en-US" sz="2000" kern="0" dirty="0"/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6B5E44AC-2F33-495D-8297-3079A9FA9C69}"/>
              </a:ext>
            </a:extLst>
          </p:cNvPr>
          <p:cNvSpPr txBox="1">
            <a:spLocks/>
          </p:cNvSpPr>
          <p:nvPr/>
        </p:nvSpPr>
        <p:spPr>
          <a:xfrm>
            <a:off x="4697914" y="570559"/>
            <a:ext cx="3928112" cy="752560"/>
          </a:xfrm>
          <a:prstGeom prst="rect">
            <a:avLst/>
          </a:prstGeom>
          <a:noFill/>
        </p:spPr>
        <p:txBody>
          <a:bodyPr/>
          <a:lstStyle>
            <a:lvl1pPr marL="1778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sz="2800" b="1">
                <a:solidFill>
                  <a:srgbClr val="A50021"/>
                </a:solidFill>
                <a:latin typeface="+mn-lt"/>
                <a:ea typeface="+mn-ea"/>
                <a:cs typeface="+mn-cs"/>
              </a:defRPr>
            </a:lvl1pPr>
            <a:lvl2pPr marL="6350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</a:defRPr>
            </a:lvl2pPr>
            <a:lvl3pPr marL="10922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sz="2400" b="1">
                <a:solidFill>
                  <a:srgbClr val="002E5C"/>
                </a:solidFill>
                <a:latin typeface="+mn-lt"/>
              </a:defRPr>
            </a:lvl3pPr>
            <a:lvl4pPr marL="15494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sz="2000" b="1">
                <a:solidFill>
                  <a:srgbClr val="002E5C"/>
                </a:solidFill>
                <a:latin typeface="+mn-lt"/>
              </a:defRPr>
            </a:lvl4pPr>
            <a:lvl5pPr marL="20066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sz="2000" b="1">
                <a:solidFill>
                  <a:srgbClr val="002E5C"/>
                </a:solidFill>
                <a:latin typeface="+mn-lt"/>
              </a:defRPr>
            </a:lvl5pPr>
            <a:lvl6pPr marL="24638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6pPr>
            <a:lvl7pPr marL="29210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7pPr>
            <a:lvl8pPr marL="33782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8pPr>
            <a:lvl9pPr marL="38354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9pPr>
          </a:lstStyle>
          <a:p>
            <a:pPr marL="0" indent="0">
              <a:buNone/>
            </a:pPr>
            <a:endParaRPr lang="zh-CN" altLang="en-US" kern="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2F7B9AC-F636-4035-984F-40688078F5ED}"/>
              </a:ext>
            </a:extLst>
          </p:cNvPr>
          <p:cNvSpPr txBox="1"/>
          <p:nvPr/>
        </p:nvSpPr>
        <p:spPr>
          <a:xfrm>
            <a:off x="1143132" y="159584"/>
            <a:ext cx="7245292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6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隶书" panose="02010509060101010101" charset="-122"/>
              </a:rPr>
              <a:t>§</a:t>
            </a:r>
            <a:r>
              <a:rPr lang="en-US" altLang="zh-CN" sz="26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3.4 </a:t>
            </a:r>
            <a:r>
              <a:rPr lang="zh-CN" altLang="en-US" sz="26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数据统计分析图</a:t>
            </a:r>
            <a:r>
              <a:rPr lang="en-US" altLang="zh-CN" sz="26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——pie</a:t>
            </a:r>
            <a:r>
              <a:rPr lang="zh-CN" altLang="en-US" sz="26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绘制饼图的案例</a:t>
            </a:r>
            <a:endParaRPr lang="zh-CN" altLang="en-US" sz="26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9" name="波形 8">
            <a:extLst>
              <a:ext uri="{FF2B5EF4-FFF2-40B4-BE49-F238E27FC236}">
                <a16:creationId xmlns:a16="http://schemas.microsoft.com/office/drawing/2014/main" id="{C3D51D3D-0C4F-4661-8EF5-8B33BBBBE0DE}"/>
              </a:ext>
            </a:extLst>
          </p:cNvPr>
          <p:cNvSpPr/>
          <p:nvPr/>
        </p:nvSpPr>
        <p:spPr>
          <a:xfrm>
            <a:off x="82092" y="679470"/>
            <a:ext cx="475203" cy="452120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20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例6</a:t>
            </a:r>
            <a:endParaRPr lang="ko-KR" altLang="en-US" sz="20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719C4D6-751A-4B65-91A2-0FB1417A7795}"/>
              </a:ext>
            </a:extLst>
          </p:cNvPr>
          <p:cNvSpPr/>
          <p:nvPr/>
        </p:nvSpPr>
        <p:spPr>
          <a:xfrm>
            <a:off x="348115" y="711128"/>
            <a:ext cx="273630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绘制百分比的饼图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7769B59-893E-45F5-8503-376DCED04ACC}"/>
              </a:ext>
            </a:extLst>
          </p:cNvPr>
          <p:cNvSpPr/>
          <p:nvPr/>
        </p:nvSpPr>
        <p:spPr>
          <a:xfrm>
            <a:off x="611560" y="3219822"/>
            <a:ext cx="266429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绘制具有标签的饼图</a:t>
            </a:r>
          </a:p>
        </p:txBody>
      </p:sp>
      <p:sp>
        <p:nvSpPr>
          <p:cNvPr id="12" name="波形 11">
            <a:extLst>
              <a:ext uri="{FF2B5EF4-FFF2-40B4-BE49-F238E27FC236}">
                <a16:creationId xmlns:a16="http://schemas.microsoft.com/office/drawing/2014/main" id="{F8A258E9-0736-4836-BD31-AD826D66180B}"/>
              </a:ext>
            </a:extLst>
          </p:cNvPr>
          <p:cNvSpPr/>
          <p:nvPr/>
        </p:nvSpPr>
        <p:spPr>
          <a:xfrm>
            <a:off x="142096" y="3142503"/>
            <a:ext cx="475203" cy="452120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20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例7</a:t>
            </a:r>
            <a:endParaRPr lang="ko-KR" altLang="en-US" sz="20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A3FBE598-6BA6-4884-98CA-C845C11F253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6925" t="10800" r="36613" b="12399"/>
          <a:stretch/>
        </p:blipFill>
        <p:spPr>
          <a:xfrm>
            <a:off x="7020272" y="725754"/>
            <a:ext cx="1731285" cy="1609752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7B178A14-3A80-4F3B-B78F-1185BFD6DA03}"/>
              </a:ext>
            </a:extLst>
          </p:cNvPr>
          <p:cNvSpPr txBox="1"/>
          <p:nvPr/>
        </p:nvSpPr>
        <p:spPr>
          <a:xfrm>
            <a:off x="258755" y="3364714"/>
            <a:ext cx="8129669" cy="1244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endParaRPr lang="en-US" altLang="zh-CN" sz="1800" b="0" kern="0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r>
              <a:rPr lang="en-US" altLang="zh-CN" sz="1800" b="0" kern="0" dirty="0">
                <a:solidFill>
                  <a:srgbClr val="008000"/>
                </a:solidFill>
                <a:latin typeface="Consolas" panose="020B0609020204030204" pitchFamily="49" charset="0"/>
              </a:rPr>
              <a:t>lab=["CN","EU","IN","JP","RUS","US"]</a:t>
            </a:r>
          </a:p>
          <a:p>
            <a:pPr marL="0" indent="0">
              <a:buNone/>
            </a:pPr>
            <a:r>
              <a:rPr lang="en-US" altLang="zh-CN" sz="1800" b="0" kern="0" dirty="0">
                <a:solidFill>
                  <a:srgbClr val="008000"/>
                </a:solidFill>
                <a:latin typeface="Consolas" panose="020B0609020204030204" pitchFamily="49" charset="0"/>
              </a:rPr>
              <a:t>pie(x, explode=[0.2, 0, 0, 0, 0, 0.2],labels=lab) #</a:t>
            </a:r>
            <a:r>
              <a:rPr lang="zh-CN" altLang="en-US" sz="1800" b="0" kern="0" dirty="0">
                <a:solidFill>
                  <a:srgbClr val="008000"/>
                </a:solidFill>
                <a:latin typeface="Consolas" panose="020B0609020204030204" pitchFamily="49" charset="0"/>
              </a:rPr>
              <a:t>标签</a:t>
            </a:r>
            <a:endParaRPr lang="zh-CN" altLang="en-US" sz="1800" kern="0" dirty="0"/>
          </a:p>
          <a:p>
            <a:pPr marL="0" indent="0">
              <a:buNone/>
            </a:pPr>
            <a:r>
              <a:rPr lang="en-US" altLang="zh-CN" sz="1800" b="0" kern="0" dirty="0">
                <a:solidFill>
                  <a:srgbClr val="795E26"/>
                </a:solidFill>
                <a:latin typeface="Consolas" panose="020B0609020204030204" pitchFamily="49" charset="0"/>
              </a:rPr>
              <a:t>title</a:t>
            </a:r>
            <a:r>
              <a:rPr lang="en-US" altLang="zh-CN" sz="1800" b="0" kern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800" b="0" kern="0" dirty="0">
                <a:solidFill>
                  <a:srgbClr val="A31515"/>
                </a:solidFill>
                <a:latin typeface="Consolas" panose="020B0609020204030204" pitchFamily="49" charset="0"/>
              </a:rPr>
              <a:t>"2019</a:t>
            </a:r>
            <a:r>
              <a:rPr lang="zh-CN" altLang="en-US" sz="1800" b="0" kern="0" dirty="0">
                <a:solidFill>
                  <a:srgbClr val="A31515"/>
                </a:solidFill>
                <a:latin typeface="Consolas" panose="020B0609020204030204" pitchFamily="49" charset="0"/>
              </a:rPr>
              <a:t>年全球火箭发射数量饼图</a:t>
            </a:r>
            <a:r>
              <a:rPr lang="en-US" altLang="zh-CN" sz="1800" b="0" kern="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altLang="zh-CN" sz="1800" b="0" kern="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432277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1" grpId="0" animBg="1"/>
      <p:bldP spid="1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240F0D87-55E9-4391-ABB0-FB089DF9141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988" t="12676" r="36612" b="10801"/>
          <a:stretch/>
        </p:blipFill>
        <p:spPr>
          <a:xfrm>
            <a:off x="6012161" y="1773957"/>
            <a:ext cx="2943672" cy="2237953"/>
          </a:xfrm>
          <a:prstGeom prst="rect">
            <a:avLst/>
          </a:prstGeom>
        </p:spPr>
      </p:pic>
      <p:sp>
        <p:nvSpPr>
          <p:cNvPr id="4" name="内容占位符 2">
            <a:extLst>
              <a:ext uri="{FF2B5EF4-FFF2-40B4-BE49-F238E27FC236}">
                <a16:creationId xmlns:a16="http://schemas.microsoft.com/office/drawing/2014/main" id="{026A347C-B596-40A3-A802-BD98100A9F17}"/>
              </a:ext>
            </a:extLst>
          </p:cNvPr>
          <p:cNvSpPr txBox="1">
            <a:spLocks/>
          </p:cNvSpPr>
          <p:nvPr/>
        </p:nvSpPr>
        <p:spPr>
          <a:xfrm>
            <a:off x="169041" y="1171708"/>
            <a:ext cx="7250112" cy="3384376"/>
          </a:xfrm>
          <a:prstGeom prst="rect">
            <a:avLst/>
          </a:prstGeom>
          <a:noFill/>
        </p:spPr>
        <p:txBody>
          <a:bodyPr/>
          <a:lstStyle>
            <a:lvl1pPr marL="1778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sz="2800" b="1">
                <a:solidFill>
                  <a:srgbClr val="A50021"/>
                </a:solidFill>
                <a:latin typeface="+mn-lt"/>
                <a:ea typeface="+mn-ea"/>
                <a:cs typeface="+mn-cs"/>
              </a:defRPr>
            </a:lvl1pPr>
            <a:lvl2pPr marL="6350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</a:defRPr>
            </a:lvl2pPr>
            <a:lvl3pPr marL="10922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sz="2400" b="1">
                <a:solidFill>
                  <a:srgbClr val="002E5C"/>
                </a:solidFill>
                <a:latin typeface="+mn-lt"/>
              </a:defRPr>
            </a:lvl3pPr>
            <a:lvl4pPr marL="15494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sz="2000" b="1">
                <a:solidFill>
                  <a:srgbClr val="002E5C"/>
                </a:solidFill>
                <a:latin typeface="+mn-lt"/>
              </a:defRPr>
            </a:lvl4pPr>
            <a:lvl5pPr marL="20066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sz="2000" b="1">
                <a:solidFill>
                  <a:srgbClr val="002E5C"/>
                </a:solidFill>
                <a:latin typeface="+mn-lt"/>
              </a:defRPr>
            </a:lvl5pPr>
            <a:lvl6pPr marL="24638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6pPr>
            <a:lvl7pPr marL="29210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7pPr>
            <a:lvl8pPr marL="33782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8pPr>
            <a:lvl9pPr marL="38354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altLang="zh-CN" sz="1800" b="0" kern="0" dirty="0" err="1">
                <a:solidFill>
                  <a:srgbClr val="000000"/>
                </a:solidFill>
                <a:latin typeface="Consolas" panose="020B0609020204030204" pitchFamily="49" charset="0"/>
              </a:rPr>
              <a:t>x_names</a:t>
            </a:r>
            <a:r>
              <a:rPr lang="en-US" altLang="zh-CN" sz="1800" b="0" kern="0" dirty="0">
                <a:solidFill>
                  <a:srgbClr val="000000"/>
                </a:solidFill>
                <a:latin typeface="Consolas" panose="020B0609020204030204" pitchFamily="49" charset="0"/>
              </a:rPr>
              <a:t> = [</a:t>
            </a:r>
            <a:r>
              <a:rPr lang="en-US" altLang="zh-CN" sz="1800" b="0" kern="0" dirty="0">
                <a:solidFill>
                  <a:srgbClr val="A31515"/>
                </a:solidFill>
                <a:latin typeface="Consolas" panose="020B0609020204030204" pitchFamily="49" charset="0"/>
              </a:rPr>
              <a:t>"CN"</a:t>
            </a:r>
            <a:r>
              <a:rPr lang="en-US" altLang="zh-CN" sz="1800" b="0" kern="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zh-CN" sz="1800" b="0" kern="0" dirty="0">
                <a:solidFill>
                  <a:srgbClr val="A31515"/>
                </a:solidFill>
                <a:latin typeface="Consolas" panose="020B0609020204030204" pitchFamily="49" charset="0"/>
              </a:rPr>
              <a:t>"EU"</a:t>
            </a:r>
            <a:r>
              <a:rPr lang="en-US" altLang="zh-CN" sz="1800" b="0" kern="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zh-CN" sz="1800" b="0" kern="0" dirty="0">
                <a:solidFill>
                  <a:srgbClr val="A31515"/>
                </a:solidFill>
                <a:latin typeface="Consolas" panose="020B0609020204030204" pitchFamily="49" charset="0"/>
              </a:rPr>
              <a:t>"IN"</a:t>
            </a:r>
            <a:r>
              <a:rPr lang="en-US" altLang="zh-CN" sz="1800" b="0" kern="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zh-CN" sz="1800" b="0" kern="0" dirty="0">
                <a:solidFill>
                  <a:srgbClr val="A31515"/>
                </a:solidFill>
                <a:latin typeface="Consolas" panose="020B0609020204030204" pitchFamily="49" charset="0"/>
              </a:rPr>
              <a:t>"JP"</a:t>
            </a:r>
            <a:r>
              <a:rPr lang="en-US" altLang="zh-CN" sz="1800" b="0" kern="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zh-CN" sz="1800" b="0" kern="0" dirty="0">
                <a:solidFill>
                  <a:srgbClr val="A31515"/>
                </a:solidFill>
                <a:latin typeface="Consolas" panose="020B0609020204030204" pitchFamily="49" charset="0"/>
              </a:rPr>
              <a:t>"RUS"</a:t>
            </a:r>
            <a:r>
              <a:rPr lang="en-US" altLang="zh-CN" sz="1800" b="0" kern="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zh-CN" sz="1800" b="0" kern="0" dirty="0">
                <a:solidFill>
                  <a:srgbClr val="A31515"/>
                </a:solidFill>
                <a:latin typeface="Consolas" panose="020B0609020204030204" pitchFamily="49" charset="0"/>
              </a:rPr>
              <a:t>"US"</a:t>
            </a:r>
            <a:r>
              <a:rPr lang="en-US" altLang="zh-CN" sz="1800" b="0" kern="0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</a:p>
          <a:p>
            <a:pPr marL="0" indent="0">
              <a:buNone/>
            </a:pPr>
            <a:r>
              <a:rPr lang="en-US" altLang="zh-CN" sz="1800" b="0" kern="0" dirty="0" err="1">
                <a:solidFill>
                  <a:srgbClr val="000000"/>
                </a:solidFill>
                <a:latin typeface="Consolas" panose="020B0609020204030204" pitchFamily="49" charset="0"/>
              </a:rPr>
              <a:t>x_values</a:t>
            </a:r>
            <a:r>
              <a:rPr lang="en-US" altLang="zh-CN" sz="1800" b="0" kern="0" dirty="0">
                <a:solidFill>
                  <a:srgbClr val="000000"/>
                </a:solidFill>
                <a:latin typeface="Consolas" panose="020B0609020204030204" pitchFamily="49" charset="0"/>
              </a:rPr>
              <a:t> = [</a:t>
            </a:r>
            <a:r>
              <a:rPr lang="en-US" altLang="zh-CN" sz="1800" b="0" kern="0" dirty="0">
                <a:solidFill>
                  <a:srgbClr val="098658"/>
                </a:solidFill>
                <a:latin typeface="Consolas" panose="020B0609020204030204" pitchFamily="49" charset="0"/>
              </a:rPr>
              <a:t>29</a:t>
            </a:r>
            <a:r>
              <a:rPr lang="en-US" altLang="zh-CN" sz="1800" b="0" kern="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zh-CN" sz="1800" b="0" kern="0" dirty="0">
                <a:solidFill>
                  <a:srgbClr val="098658"/>
                </a:solidFill>
                <a:latin typeface="Consolas" panose="020B0609020204030204" pitchFamily="49" charset="0"/>
              </a:rPr>
              <a:t>5</a:t>
            </a:r>
            <a:r>
              <a:rPr lang="en-US" altLang="zh-CN" sz="1800" b="0" kern="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zh-CN" sz="1800" b="0" kern="0" dirty="0">
                <a:solidFill>
                  <a:srgbClr val="098658"/>
                </a:solidFill>
                <a:latin typeface="Consolas" panose="020B0609020204030204" pitchFamily="49" charset="0"/>
              </a:rPr>
              <a:t>5</a:t>
            </a:r>
            <a:r>
              <a:rPr lang="en-US" altLang="zh-CN" sz="1800" b="0" kern="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zh-CN" sz="1800" b="0" kern="0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altLang="zh-CN" sz="1800" b="0" kern="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zh-CN" sz="1800" b="0" kern="0" dirty="0">
                <a:solidFill>
                  <a:srgbClr val="098658"/>
                </a:solidFill>
                <a:latin typeface="Consolas" panose="020B0609020204030204" pitchFamily="49" charset="0"/>
              </a:rPr>
              <a:t>21</a:t>
            </a:r>
            <a:r>
              <a:rPr lang="en-US" altLang="zh-CN" sz="1800" b="0" kern="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zh-CN" sz="1800" b="0" kern="0" dirty="0">
                <a:solidFill>
                  <a:srgbClr val="098658"/>
                </a:solidFill>
                <a:latin typeface="Consolas" panose="020B0609020204030204" pitchFamily="49" charset="0"/>
              </a:rPr>
              <a:t>25</a:t>
            </a:r>
            <a:r>
              <a:rPr lang="en-US" altLang="zh-CN" sz="1800" b="0" kern="0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pPr marL="0" indent="0">
              <a:buNone/>
            </a:pPr>
            <a:r>
              <a:rPr lang="en-US" altLang="zh-CN" sz="1800" b="0" kern="0" dirty="0" err="1">
                <a:solidFill>
                  <a:srgbClr val="000000"/>
                </a:solidFill>
                <a:latin typeface="Consolas" panose="020B0609020204030204" pitchFamily="49" charset="0"/>
              </a:rPr>
              <a:t>x_labels</a:t>
            </a:r>
            <a:r>
              <a:rPr lang="en-US" altLang="zh-CN" sz="1800" b="0" kern="0" dirty="0">
                <a:solidFill>
                  <a:srgbClr val="000000"/>
                </a:solidFill>
                <a:latin typeface="Consolas" panose="020B0609020204030204" pitchFamily="49" charset="0"/>
              </a:rPr>
              <a:t> = []</a:t>
            </a:r>
          </a:p>
          <a:p>
            <a:pPr marL="0" indent="0">
              <a:buNone/>
            </a:pPr>
            <a:r>
              <a:rPr lang="en-US" altLang="zh-CN" sz="1800" b="0" kern="0" dirty="0">
                <a:solidFill>
                  <a:srgbClr val="000000"/>
                </a:solidFill>
                <a:latin typeface="Consolas" panose="020B0609020204030204" pitchFamily="49" charset="0"/>
              </a:rPr>
              <a:t>amount = </a:t>
            </a:r>
            <a:r>
              <a:rPr lang="en-US" altLang="zh-CN" sz="1800" b="0" kern="0" dirty="0">
                <a:solidFill>
                  <a:srgbClr val="795E26"/>
                </a:solidFill>
                <a:latin typeface="Consolas" panose="020B0609020204030204" pitchFamily="49" charset="0"/>
              </a:rPr>
              <a:t>sum</a:t>
            </a:r>
            <a:r>
              <a:rPr lang="en-US" altLang="zh-CN" sz="1800" b="0" kern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800" b="0" kern="0" dirty="0" err="1">
                <a:solidFill>
                  <a:srgbClr val="000000"/>
                </a:solidFill>
                <a:latin typeface="Consolas" panose="020B0609020204030204" pitchFamily="49" charset="0"/>
              </a:rPr>
              <a:t>x_values</a:t>
            </a:r>
            <a:r>
              <a:rPr lang="en-US" altLang="zh-CN" sz="1800" b="0" kern="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US" altLang="zh-CN" sz="1800" b="0" kern="0" dirty="0">
                <a:solidFill>
                  <a:srgbClr val="AF00DB"/>
                </a:solidFill>
                <a:latin typeface="Consolas" panose="020B0609020204030204" pitchFamily="49" charset="0"/>
              </a:rPr>
              <a:t>for</a:t>
            </a:r>
            <a:r>
              <a:rPr lang="en-US" altLang="zh-CN" sz="1800" b="0" kern="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800" b="0" kern="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zh-CN" sz="1800" b="0" kern="0" dirty="0">
                <a:solidFill>
                  <a:srgbClr val="000000"/>
                </a:solidFill>
                <a:latin typeface="Consolas" panose="020B0609020204030204" pitchFamily="49" charset="0"/>
              </a:rPr>
              <a:t> in </a:t>
            </a:r>
            <a:r>
              <a:rPr lang="en-US" altLang="zh-CN" sz="1800" b="0" kern="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altLang="zh-CN" sz="1800" b="0" kern="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US" altLang="zh-CN" sz="1800" b="0" kern="0" dirty="0">
                <a:solidFill>
                  <a:srgbClr val="795E26"/>
                </a:solidFill>
                <a:latin typeface="Consolas" panose="020B0609020204030204" pitchFamily="49" charset="0"/>
              </a:rPr>
              <a:t>length</a:t>
            </a:r>
            <a:r>
              <a:rPr lang="en-US" altLang="zh-CN" sz="1800" b="0" kern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800" b="0" kern="0" dirty="0" err="1">
                <a:solidFill>
                  <a:srgbClr val="000000"/>
                </a:solidFill>
                <a:latin typeface="Consolas" panose="020B0609020204030204" pitchFamily="49" charset="0"/>
              </a:rPr>
              <a:t>x_names</a:t>
            </a:r>
            <a:r>
              <a:rPr lang="en-US" altLang="zh-CN" sz="1800" b="0" kern="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US" altLang="zh-CN" sz="1800" b="0" kern="0" dirty="0">
                <a:solidFill>
                  <a:srgbClr val="000000"/>
                </a:solidFill>
                <a:latin typeface="Consolas" panose="020B0609020204030204" pitchFamily="49" charset="0"/>
              </a:rPr>
              <a:t>    value::</a:t>
            </a:r>
            <a:r>
              <a:rPr lang="en-US" altLang="zh-CN" sz="1800" b="0" kern="0" dirty="0">
                <a:solidFill>
                  <a:srgbClr val="267F99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sz="1800" b="0" kern="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altLang="zh-CN" sz="1800" b="0" kern="0" dirty="0">
                <a:solidFill>
                  <a:srgbClr val="795E26"/>
                </a:solidFill>
                <a:latin typeface="Consolas" panose="020B0609020204030204" pitchFamily="49" charset="0"/>
              </a:rPr>
              <a:t>round</a:t>
            </a:r>
            <a:r>
              <a:rPr lang="en-US" altLang="zh-CN" sz="1800" b="0" kern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800" b="0" kern="0" dirty="0" err="1">
                <a:solidFill>
                  <a:srgbClr val="000000"/>
                </a:solidFill>
                <a:latin typeface="Consolas" panose="020B0609020204030204" pitchFamily="49" charset="0"/>
              </a:rPr>
              <a:t>x_values</a:t>
            </a:r>
            <a:r>
              <a:rPr lang="en-US" altLang="zh-CN" sz="1800" b="0" kern="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altLang="zh-CN" sz="1800" b="0" kern="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zh-CN" sz="1800" b="0" kern="0" dirty="0">
                <a:solidFill>
                  <a:srgbClr val="000000"/>
                </a:solidFill>
                <a:latin typeface="Consolas" panose="020B0609020204030204" pitchFamily="49" charset="0"/>
              </a:rPr>
              <a:t>] / amount * </a:t>
            </a:r>
            <a:r>
              <a:rPr lang="en-US" altLang="zh-CN" sz="1800" b="0" kern="0" dirty="0">
                <a:solidFill>
                  <a:srgbClr val="098658"/>
                </a:solidFill>
                <a:latin typeface="Consolas" panose="020B0609020204030204" pitchFamily="49" charset="0"/>
              </a:rPr>
              <a:t>100</a:t>
            </a:r>
            <a:r>
              <a:rPr lang="en-US" altLang="zh-CN" sz="1800" b="0" kern="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US" altLang="zh-CN" sz="1800" b="0" kern="0" dirty="0">
                <a:solidFill>
                  <a:srgbClr val="000000"/>
                </a:solidFill>
                <a:latin typeface="Consolas" panose="020B0609020204030204" pitchFamily="49" charset="0"/>
              </a:rPr>
              <a:t>    name = </a:t>
            </a:r>
            <a:r>
              <a:rPr lang="en-US" altLang="zh-CN" sz="1800" b="0" kern="0" dirty="0" err="1">
                <a:solidFill>
                  <a:srgbClr val="000000"/>
                </a:solidFill>
                <a:latin typeface="Consolas" panose="020B0609020204030204" pitchFamily="49" charset="0"/>
              </a:rPr>
              <a:t>x_names</a:t>
            </a:r>
            <a:r>
              <a:rPr lang="en-US" altLang="zh-CN" sz="1800" b="0" kern="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altLang="zh-CN" sz="1800" b="0" kern="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zh-CN" sz="1800" b="0" kern="0" dirty="0">
                <a:solidFill>
                  <a:srgbClr val="000000"/>
                </a:solidFill>
                <a:latin typeface="Consolas" panose="020B0609020204030204" pitchFamily="49" charset="0"/>
              </a:rPr>
              <a:t>] * </a:t>
            </a:r>
            <a:r>
              <a:rPr lang="en-US" altLang="zh-CN" sz="1800" b="0" kern="0" dirty="0">
                <a:solidFill>
                  <a:srgbClr val="A31515"/>
                </a:solidFill>
                <a:latin typeface="Consolas" panose="020B0609020204030204" pitchFamily="49" charset="0"/>
              </a:rPr>
              <a:t>"("</a:t>
            </a:r>
            <a:r>
              <a:rPr lang="en-US" altLang="zh-CN" sz="1800" b="0" kern="0" dirty="0">
                <a:solidFill>
                  <a:srgbClr val="000000"/>
                </a:solidFill>
                <a:latin typeface="Consolas" panose="020B0609020204030204" pitchFamily="49" charset="0"/>
              </a:rPr>
              <a:t> * </a:t>
            </a:r>
            <a:r>
              <a:rPr lang="en-US" altLang="zh-CN" sz="1800" b="0" kern="0" dirty="0">
                <a:solidFill>
                  <a:srgbClr val="795E26"/>
                </a:solidFill>
                <a:latin typeface="Consolas" panose="020B0609020204030204" pitchFamily="49" charset="0"/>
              </a:rPr>
              <a:t>string</a:t>
            </a:r>
            <a:r>
              <a:rPr lang="en-US" altLang="zh-CN" sz="1800" b="0" kern="0" dirty="0">
                <a:solidFill>
                  <a:srgbClr val="000000"/>
                </a:solidFill>
                <a:latin typeface="Consolas" panose="020B0609020204030204" pitchFamily="49" charset="0"/>
              </a:rPr>
              <a:t>(value) * </a:t>
            </a:r>
            <a:r>
              <a:rPr lang="en-US" altLang="zh-CN" sz="1800" b="0" kern="0" dirty="0">
                <a:solidFill>
                  <a:srgbClr val="A31515"/>
                </a:solidFill>
                <a:latin typeface="Consolas" panose="020B0609020204030204" pitchFamily="49" charset="0"/>
              </a:rPr>
              <a:t>"%)"</a:t>
            </a:r>
            <a:endParaRPr lang="en-US" altLang="zh-CN" sz="1800" b="0" kern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altLang="zh-CN" sz="1800" b="0" kern="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altLang="zh-CN" sz="1800" b="0" kern="0" dirty="0">
                <a:solidFill>
                  <a:srgbClr val="795E26"/>
                </a:solidFill>
                <a:latin typeface="Consolas" panose="020B0609020204030204" pitchFamily="49" charset="0"/>
              </a:rPr>
              <a:t>push!</a:t>
            </a:r>
            <a:r>
              <a:rPr lang="en-US" altLang="zh-CN" sz="1800" b="0" kern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800" b="0" kern="0" dirty="0" err="1">
                <a:solidFill>
                  <a:srgbClr val="000000"/>
                </a:solidFill>
                <a:latin typeface="Consolas" panose="020B0609020204030204" pitchFamily="49" charset="0"/>
              </a:rPr>
              <a:t>x_labels</a:t>
            </a:r>
            <a:r>
              <a:rPr lang="en-US" altLang="zh-CN" sz="1800" b="0" kern="0" dirty="0">
                <a:solidFill>
                  <a:srgbClr val="000000"/>
                </a:solidFill>
                <a:latin typeface="Consolas" panose="020B0609020204030204" pitchFamily="49" charset="0"/>
              </a:rPr>
              <a:t>, name)</a:t>
            </a:r>
          </a:p>
          <a:p>
            <a:pPr marL="0" indent="0">
              <a:buNone/>
            </a:pPr>
            <a:r>
              <a:rPr lang="en-US" altLang="zh-CN" sz="1800" b="0" kern="0" dirty="0">
                <a:solidFill>
                  <a:srgbClr val="AF00DB"/>
                </a:solidFill>
                <a:latin typeface="Consolas" panose="020B0609020204030204" pitchFamily="49" charset="0"/>
              </a:rPr>
              <a:t>end</a:t>
            </a:r>
            <a:endParaRPr lang="en-US" altLang="zh-CN" sz="1800" b="0" kern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altLang="zh-CN" sz="1800" b="0" kern="0" dirty="0">
                <a:solidFill>
                  <a:srgbClr val="795E26"/>
                </a:solidFill>
                <a:latin typeface="Consolas" panose="020B0609020204030204" pitchFamily="49" charset="0"/>
              </a:rPr>
              <a:t>pie</a:t>
            </a:r>
            <a:r>
              <a:rPr lang="en-US" altLang="zh-CN" sz="1800" b="0" kern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800" b="0" kern="0" dirty="0" err="1">
                <a:solidFill>
                  <a:srgbClr val="000000"/>
                </a:solidFill>
                <a:latin typeface="Consolas" panose="020B0609020204030204" pitchFamily="49" charset="0"/>
              </a:rPr>
              <a:t>x_values</a:t>
            </a:r>
            <a:r>
              <a:rPr lang="en-US" altLang="zh-CN" sz="1800" b="0" kern="0" dirty="0">
                <a:solidFill>
                  <a:srgbClr val="000000"/>
                </a:solidFill>
                <a:latin typeface="Consolas" panose="020B0609020204030204" pitchFamily="49" charset="0"/>
              </a:rPr>
              <a:t>, labels=</a:t>
            </a:r>
            <a:r>
              <a:rPr lang="en-US" altLang="zh-CN" sz="1800" b="0" kern="0" dirty="0" err="1">
                <a:solidFill>
                  <a:srgbClr val="000000"/>
                </a:solidFill>
                <a:latin typeface="Consolas" panose="020B0609020204030204" pitchFamily="49" charset="0"/>
              </a:rPr>
              <a:t>x_labels</a:t>
            </a:r>
            <a:r>
              <a:rPr lang="en-US" altLang="zh-CN" sz="1800" b="0" kern="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US" altLang="zh-CN" sz="1800" b="0" kern="0" dirty="0">
                <a:solidFill>
                  <a:srgbClr val="795E26"/>
                </a:solidFill>
                <a:latin typeface="Consolas" panose="020B0609020204030204" pitchFamily="49" charset="0"/>
              </a:rPr>
              <a:t>title</a:t>
            </a:r>
            <a:r>
              <a:rPr lang="en-US" altLang="zh-CN" sz="1800" b="0" kern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800" b="0" kern="0" dirty="0">
                <a:solidFill>
                  <a:srgbClr val="A31515"/>
                </a:solidFill>
                <a:latin typeface="Consolas" panose="020B0609020204030204" pitchFamily="49" charset="0"/>
              </a:rPr>
              <a:t>"2019</a:t>
            </a:r>
            <a:r>
              <a:rPr lang="zh-CN" altLang="en-US" sz="1800" b="0" kern="0" dirty="0">
                <a:solidFill>
                  <a:srgbClr val="A31515"/>
                </a:solidFill>
                <a:latin typeface="Consolas" panose="020B0609020204030204" pitchFamily="49" charset="0"/>
              </a:rPr>
              <a:t>年全球火箭发射数量饼图</a:t>
            </a:r>
            <a:r>
              <a:rPr lang="en-US" altLang="zh-CN" sz="1800" b="0" kern="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altLang="zh-CN" sz="1800" b="0" kern="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endParaRPr lang="zh-CN" altLang="en-US" kern="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4539926-3171-4475-9172-4E8AEECC4C83}"/>
              </a:ext>
            </a:extLst>
          </p:cNvPr>
          <p:cNvSpPr txBox="1"/>
          <p:nvPr/>
        </p:nvSpPr>
        <p:spPr>
          <a:xfrm>
            <a:off x="1143132" y="159584"/>
            <a:ext cx="7245292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6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隶书" panose="02010509060101010101" charset="-122"/>
              </a:rPr>
              <a:t>§</a:t>
            </a:r>
            <a:r>
              <a:rPr lang="en-US" altLang="zh-CN" sz="26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3.4 </a:t>
            </a:r>
            <a:r>
              <a:rPr lang="zh-CN" altLang="en-US" sz="26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数据统计分析图</a:t>
            </a:r>
            <a:r>
              <a:rPr lang="en-US" altLang="zh-CN" sz="26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——pie</a:t>
            </a:r>
            <a:r>
              <a:rPr lang="zh-CN" altLang="en-US" sz="26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绘制饼图的案例</a:t>
            </a:r>
            <a:endParaRPr lang="zh-CN" altLang="en-US" sz="26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7" name="波形 6">
            <a:extLst>
              <a:ext uri="{FF2B5EF4-FFF2-40B4-BE49-F238E27FC236}">
                <a16:creationId xmlns:a16="http://schemas.microsoft.com/office/drawing/2014/main" id="{23E6BA61-1B92-41B3-A5F2-1707321C365E}"/>
              </a:ext>
            </a:extLst>
          </p:cNvPr>
          <p:cNvSpPr/>
          <p:nvPr/>
        </p:nvSpPr>
        <p:spPr>
          <a:xfrm>
            <a:off x="173237" y="719588"/>
            <a:ext cx="475203" cy="452120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20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例8</a:t>
            </a:r>
            <a:endParaRPr lang="ko-KR" altLang="en-US" sz="20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CC6DE26-56AA-4634-B2E6-629ED93566AC}"/>
              </a:ext>
            </a:extLst>
          </p:cNvPr>
          <p:cNvSpPr/>
          <p:nvPr/>
        </p:nvSpPr>
        <p:spPr>
          <a:xfrm>
            <a:off x="648440" y="766196"/>
            <a:ext cx="363552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绘制具有百分比和标签的饼图</a:t>
            </a:r>
          </a:p>
        </p:txBody>
      </p:sp>
    </p:spTree>
    <p:extLst>
      <p:ext uri="{BB962C8B-B14F-4D97-AF65-F5344CB8AC3E}">
        <p14:creationId xmlns:p14="http://schemas.microsoft.com/office/powerpoint/2010/main" val="5981421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DBEC88A8-9729-4F3B-A31D-7D868C8D0D8C}"/>
              </a:ext>
            </a:extLst>
          </p:cNvPr>
          <p:cNvSpPr/>
          <p:nvPr/>
        </p:nvSpPr>
        <p:spPr>
          <a:xfrm>
            <a:off x="345264" y="2525842"/>
            <a:ext cx="8496944" cy="21137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hangingPunct="0">
              <a:lnSpc>
                <a:spcPts val="3200"/>
              </a:lnSpc>
            </a:pPr>
            <a:r>
              <a:rPr lang="es-ES" altLang="zh-CN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theta=L</a:t>
            </a:r>
            <a:r>
              <a:rPr lang="en-US" altLang="zh-CN" sz="24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inRange</a:t>
            </a:r>
            <a:r>
              <a:rPr lang="es-ES" altLang="zh-CN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(0,1,500);</a:t>
            </a:r>
          </a:p>
          <a:p>
            <a:pPr eaLnBrk="0" hangingPunct="0">
              <a:lnSpc>
                <a:spcPts val="3200"/>
              </a:lnSpc>
            </a:pPr>
            <a:r>
              <a:rPr lang="es-ES" altLang="zh-CN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=@. exp(theta)*sin(100*theta);</a:t>
            </a:r>
          </a:p>
          <a:p>
            <a:pPr eaLnBrk="0" hangingPunct="0">
              <a:lnSpc>
                <a:spcPts val="3200"/>
              </a:lnSpc>
            </a:pPr>
            <a:r>
              <a:rPr lang="es-ES" altLang="zh-CN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 =@.exp(theta)*cos(100*theta);</a:t>
            </a:r>
          </a:p>
          <a:p>
            <a:pPr eaLnBrk="0" hangingPunct="0">
              <a:lnSpc>
                <a:spcPts val="3200"/>
              </a:lnSpc>
            </a:pPr>
            <a:r>
              <a:rPr lang="es-ES" altLang="zh-CN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scatter(x,y, markerfacecolor="r");</a:t>
            </a:r>
          </a:p>
          <a:p>
            <a:pPr eaLnBrk="0" hangingPunct="0">
              <a:lnSpc>
                <a:spcPts val="3200"/>
              </a:lnSpc>
            </a:pPr>
            <a:r>
              <a:rPr lang="es-ES" altLang="zh-CN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axis("off")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B278E1D-242C-4D1A-B8CD-2468A2878963}"/>
              </a:ext>
            </a:extLst>
          </p:cNvPr>
          <p:cNvSpPr/>
          <p:nvPr/>
        </p:nvSpPr>
        <p:spPr>
          <a:xfrm>
            <a:off x="3419872" y="781578"/>
            <a:ext cx="5544616" cy="461665"/>
          </a:xfrm>
          <a:prstGeom prst="rect">
            <a:avLst/>
          </a:prstGeom>
          <a:noFill/>
          <a:ln w="38100"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>
            <a:spAutoFit/>
          </a:bodyPr>
          <a:lstStyle/>
          <a:p>
            <a:pPr algn="dist"/>
            <a:r>
              <a:rPr lang="zh-CN" altLang="en-US" sz="2400" b="1" dirty="0">
                <a:solidFill>
                  <a:srgbClr val="FFFF00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句柄</a:t>
            </a:r>
            <a:r>
              <a:rPr lang="en-US" altLang="zh-CN" sz="2400" b="1" dirty="0">
                <a:solidFill>
                  <a:srgbClr val="FFFF00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h</a:t>
            </a:r>
            <a:r>
              <a:rPr lang="en-US" altLang="zh-CN" sz="2400" b="1" dirty="0">
                <a:solidFill>
                  <a:schemeClr val="bg1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=</a:t>
            </a:r>
            <a:r>
              <a:rPr lang="en-US" altLang="zh-CN" sz="2400" b="1" dirty="0">
                <a:solidFill>
                  <a:schemeClr val="bg1"/>
                </a:solidFill>
                <a:highlight>
                  <a:srgbClr val="FF0000"/>
                </a:highlight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scatter</a:t>
            </a:r>
            <a:r>
              <a:rPr lang="en-US" altLang="zh-CN" sz="2400" b="1" dirty="0">
                <a:solidFill>
                  <a:schemeClr val="bg1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(</a:t>
            </a:r>
            <a:r>
              <a:rPr lang="zh-CN" altLang="en-US" sz="2400" b="1" dirty="0">
                <a:solidFill>
                  <a:srgbClr val="FFFF00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坐标区</a:t>
            </a:r>
            <a:r>
              <a:rPr lang="en-US" altLang="zh-CN" sz="2400" b="1" dirty="0" err="1">
                <a:solidFill>
                  <a:srgbClr val="FFFF00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ax,</a:t>
            </a:r>
            <a:r>
              <a:rPr lang="en-US" altLang="zh-CN" sz="2400" b="1" dirty="0" err="1">
                <a:solidFill>
                  <a:schemeClr val="bg1"/>
                </a:solidFill>
                <a:highlight>
                  <a:srgbClr val="FF0000"/>
                </a:highlight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x,y</a:t>
            </a:r>
            <a:r>
              <a:rPr lang="en-US" altLang="zh-CN" sz="2400" b="1" dirty="0" err="1">
                <a:solidFill>
                  <a:schemeClr val="bg1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,</a:t>
            </a:r>
            <a:r>
              <a:rPr lang="en-US" altLang="zh-CN" sz="2400" b="1" dirty="0" err="1">
                <a:solidFill>
                  <a:srgbClr val="FFFF00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key</a:t>
            </a:r>
            <a:r>
              <a:rPr lang="en-US" altLang="zh-CN" sz="2400" b="1" dirty="0">
                <a:solidFill>
                  <a:srgbClr val="FFFF00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=value</a:t>
            </a:r>
            <a:r>
              <a:rPr lang="en-US" altLang="zh-CN" sz="2400" b="1" dirty="0">
                <a:solidFill>
                  <a:schemeClr val="bg1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)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A8D9D28-183E-4656-9E4C-D02350EF4C23}"/>
              </a:ext>
            </a:extLst>
          </p:cNvPr>
          <p:cNvSpPr/>
          <p:nvPr/>
        </p:nvSpPr>
        <p:spPr>
          <a:xfrm>
            <a:off x="204621" y="1162153"/>
            <a:ext cx="8939379" cy="889090"/>
          </a:xfrm>
          <a:prstGeom prst="rect">
            <a:avLst/>
          </a:prstGeom>
          <a:ln>
            <a:noFill/>
            <a:prstDash val="sysDash"/>
          </a:ln>
        </p:spPr>
        <p:txBody>
          <a:bodyPr wrap="square">
            <a:spAutoFit/>
          </a:bodyPr>
          <a:lstStyle/>
          <a:p>
            <a:pPr marL="396000" lvl="0" indent="-457200" defTabSz="0">
              <a:lnSpc>
                <a:spcPts val="32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altLang="zh-CN" sz="22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x</a:t>
            </a:r>
            <a:r>
              <a:rPr lang="zh-CN" altLang="en-US" sz="22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和</a:t>
            </a:r>
            <a:r>
              <a:rPr lang="en-US" altLang="zh-CN" sz="22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y</a:t>
            </a:r>
            <a:r>
              <a:rPr lang="zh-CN" altLang="en-US" sz="22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分别为</a:t>
            </a:r>
            <a:r>
              <a:rPr lang="en-US" altLang="zh-CN" sz="22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x</a:t>
            </a:r>
            <a:r>
              <a:rPr lang="zh-CN" altLang="en-US" sz="22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和</a:t>
            </a:r>
            <a:r>
              <a:rPr lang="en-US" altLang="zh-CN" sz="22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y</a:t>
            </a:r>
            <a:r>
              <a:rPr lang="zh-CN" altLang="en-US" sz="22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轴数据；</a:t>
            </a:r>
            <a:endParaRPr lang="en-US" altLang="zh-CN" sz="2200" kern="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Arial" panose="020B0604020202020204" pitchFamily="34" charset="0"/>
            </a:endParaRPr>
          </a:p>
          <a:p>
            <a:pPr marL="396000" lvl="0" indent="-457200" defTabSz="0">
              <a:lnSpc>
                <a:spcPts val="32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sz="22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句柄</a:t>
            </a:r>
            <a:r>
              <a:rPr lang="en-US" altLang="zh-CN" sz="22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h</a:t>
            </a:r>
            <a:r>
              <a:rPr lang="zh-CN" altLang="en-US" sz="22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、坐标区</a:t>
            </a:r>
            <a:r>
              <a:rPr lang="en-US" altLang="zh-CN" sz="22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ax</a:t>
            </a:r>
            <a:r>
              <a:rPr lang="zh-CN" altLang="en-US" sz="22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和属性对组参数</a:t>
            </a:r>
            <a:r>
              <a:rPr lang="en-US" altLang="zh-CN" sz="22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  <a:sym typeface="+mn-ea"/>
              </a:rPr>
              <a:t>key=value</a:t>
            </a:r>
            <a:r>
              <a:rPr lang="zh-CN" altLang="en-US" sz="22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与</a:t>
            </a:r>
            <a:r>
              <a:rPr lang="en-US" altLang="zh-CN" sz="2200" b="1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plot</a:t>
            </a:r>
            <a:r>
              <a:rPr lang="zh-CN" altLang="en-US" sz="2200" b="1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操作相似</a:t>
            </a:r>
            <a:r>
              <a:rPr lang="zh-CN" altLang="en-US" sz="22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，可省略 </a:t>
            </a:r>
          </a:p>
        </p:txBody>
      </p:sp>
      <p:sp>
        <p:nvSpPr>
          <p:cNvPr id="16" name="Rectangle 1">
            <a:extLst>
              <a:ext uri="{FF2B5EF4-FFF2-40B4-BE49-F238E27FC236}">
                <a16:creationId xmlns:a16="http://schemas.microsoft.com/office/drawing/2014/main" id="{D9B8E914-EA3E-4A86-9DC4-CCC534EBB7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3B5545F9-D517-4EFD-BCB3-621CBA718CD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t="17984" r="31694"/>
          <a:stretch/>
        </p:blipFill>
        <p:spPr>
          <a:xfrm>
            <a:off x="4929854" y="2525842"/>
            <a:ext cx="3312368" cy="2237172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85A72C51-98A6-4452-AEDD-930C19825847}"/>
              </a:ext>
            </a:extLst>
          </p:cNvPr>
          <p:cNvSpPr txBox="1"/>
          <p:nvPr/>
        </p:nvSpPr>
        <p:spPr>
          <a:xfrm>
            <a:off x="928822" y="129460"/>
            <a:ext cx="767734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6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隶书" panose="02010509060101010101" charset="-122"/>
              </a:rPr>
              <a:t>§</a:t>
            </a:r>
            <a:r>
              <a:rPr lang="en-US" altLang="zh-CN" sz="26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3.4 </a:t>
            </a:r>
            <a:r>
              <a:rPr lang="zh-CN" altLang="en-US" sz="26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数据统计分析图</a:t>
            </a:r>
            <a:r>
              <a:rPr lang="en-US" altLang="zh-CN" sz="26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——scatter</a:t>
            </a:r>
            <a:r>
              <a:rPr lang="zh-CN" altLang="en-US" sz="26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绘制散点图的案例</a:t>
            </a:r>
            <a:endParaRPr lang="zh-CN" altLang="en-US" sz="26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9" name="波形 8">
            <a:extLst>
              <a:ext uri="{FF2B5EF4-FFF2-40B4-BE49-F238E27FC236}">
                <a16:creationId xmlns:a16="http://schemas.microsoft.com/office/drawing/2014/main" id="{6E4D5845-010C-4E08-9394-17F68FA9D359}"/>
              </a:ext>
            </a:extLst>
          </p:cNvPr>
          <p:cNvSpPr/>
          <p:nvPr/>
        </p:nvSpPr>
        <p:spPr>
          <a:xfrm>
            <a:off x="330492" y="2098515"/>
            <a:ext cx="475203" cy="452120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20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例9</a:t>
            </a:r>
            <a:endParaRPr lang="ko-KR" altLang="en-US" sz="20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E321051-C40B-4497-80D5-9D900178C2C1}"/>
              </a:ext>
            </a:extLst>
          </p:cNvPr>
          <p:cNvSpPr/>
          <p:nvPr/>
        </p:nvSpPr>
        <p:spPr>
          <a:xfrm>
            <a:off x="323528" y="774287"/>
            <a:ext cx="2736304" cy="461665"/>
          </a:xfrm>
          <a:prstGeom prst="rect">
            <a:avLst/>
          </a:prstGeom>
          <a:noFill/>
          <a:ln w="38100"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>
            <a:spAutoFit/>
          </a:bodyPr>
          <a:lstStyle/>
          <a:p>
            <a:pPr algn="dist"/>
            <a:r>
              <a:rPr lang="en-US" altLang="zh-CN" sz="2400" b="1" dirty="0">
                <a:solidFill>
                  <a:schemeClr val="bg1"/>
                </a:solidFill>
                <a:highlight>
                  <a:srgbClr val="FF0000"/>
                </a:highlight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scatter(</a:t>
            </a:r>
            <a:r>
              <a:rPr lang="en-US" altLang="zh-CN" sz="2400" b="1" dirty="0" err="1">
                <a:solidFill>
                  <a:schemeClr val="bg1"/>
                </a:solidFill>
                <a:highlight>
                  <a:srgbClr val="FF0000"/>
                </a:highlight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x,y,</a:t>
            </a:r>
            <a:r>
              <a:rPr lang="en-US" altLang="zh-CN" sz="2400" b="1" dirty="0" err="1">
                <a:solidFill>
                  <a:srgbClr val="FFFF00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key</a:t>
            </a:r>
            <a:r>
              <a:rPr lang="en-US" altLang="zh-CN" sz="2400" b="1" dirty="0">
                <a:solidFill>
                  <a:srgbClr val="FFFF00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=value</a:t>
            </a:r>
            <a:r>
              <a:rPr lang="en-US" altLang="zh-CN" sz="2400" b="1" dirty="0">
                <a:solidFill>
                  <a:schemeClr val="bg1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)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79948F9-575A-45F7-806D-0C6A37CA9DC9}"/>
              </a:ext>
            </a:extLst>
          </p:cNvPr>
          <p:cNvSpPr txBox="1"/>
          <p:nvPr/>
        </p:nvSpPr>
        <p:spPr>
          <a:xfrm>
            <a:off x="3027183" y="774287"/>
            <a:ext cx="78537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CC2690-1CE6-4006-A828-564910031CEE}"/>
              </a:ext>
            </a:extLst>
          </p:cNvPr>
          <p:cNvSpPr txBox="1"/>
          <p:nvPr/>
        </p:nvSpPr>
        <p:spPr>
          <a:xfrm>
            <a:off x="827584" y="2119748"/>
            <a:ext cx="813690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1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绘制参数方程</a:t>
            </a:r>
            <a:r>
              <a:rPr lang="en-US" altLang="zh-CN" sz="2200" b="1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x=</a:t>
            </a:r>
            <a:r>
              <a:rPr lang="es-ES" altLang="zh-CN" sz="2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exp(</a:t>
            </a:r>
            <a:r>
              <a:rPr lang="en-US" altLang="zh-CN" sz="2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θ</a:t>
            </a:r>
            <a:r>
              <a:rPr lang="es-ES" altLang="zh-CN" sz="2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)*sin(100*</a:t>
            </a:r>
            <a:r>
              <a:rPr lang="en-US" altLang="zh-CN" sz="2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θ</a:t>
            </a:r>
            <a:r>
              <a:rPr lang="es-ES" altLang="zh-CN" sz="2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s-ES" altLang="zh-CN" sz="2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y=exp(</a:t>
            </a:r>
            <a:r>
              <a:rPr lang="en-US" altLang="zh-CN" sz="2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θ</a:t>
            </a:r>
            <a:r>
              <a:rPr lang="es-ES" altLang="zh-CN" sz="2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)*cos(100*</a:t>
            </a:r>
            <a:r>
              <a:rPr lang="en-US" altLang="zh-CN" sz="2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θ</a:t>
            </a:r>
            <a:r>
              <a:rPr lang="es-ES" altLang="zh-CN" sz="2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散点图</a:t>
            </a:r>
            <a:endParaRPr lang="zh-CN" altLang="en-US" sz="2200" b="1" dirty="0"/>
          </a:p>
        </p:txBody>
      </p:sp>
    </p:spTree>
    <p:extLst>
      <p:ext uri="{BB962C8B-B14F-4D97-AF65-F5344CB8AC3E}">
        <p14:creationId xmlns:p14="http://schemas.microsoft.com/office/powerpoint/2010/main" val="14970375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1120741-9F6D-4BA8-A6FC-0A48AB38F3A3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auto">
          <a:xfrm>
            <a:off x="457200" y="4683919"/>
            <a:ext cx="2133600" cy="35718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869D5C21-8453-4E8B-8FA6-9D282B0DEA91}" type="datetime1">
              <a:rPr lang="zh-CN" altLang="en-US" smtClean="0"/>
              <a:pPr>
                <a:defRPr/>
              </a:pPr>
              <a:t>2025/3/20</a:t>
            </a:fld>
            <a:endParaRPr lang="zh-CN" altLang="en-US" sz="1800"/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D6EAFE40-0CC8-47D1-8BEC-93199881E3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524" y="2247714"/>
            <a:ext cx="7956884" cy="1848301"/>
          </a:xfrm>
        </p:spPr>
        <p:txBody>
          <a:bodyPr/>
          <a:lstStyle/>
          <a:p>
            <a:pPr algn="l"/>
            <a:r>
              <a:rPr lang="en-US" altLang="zh-CN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altLang="zh-CN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zh-CN" altLang="en-US" sz="28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F95CB83-987A-46E7-B510-C3ABBAB9AA8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8535" b="7587"/>
          <a:stretch/>
        </p:blipFill>
        <p:spPr>
          <a:xfrm>
            <a:off x="6612534" y="2859151"/>
            <a:ext cx="2531466" cy="170286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标题 1">
                <a:extLst>
                  <a:ext uri="{FF2B5EF4-FFF2-40B4-BE49-F238E27FC236}">
                    <a16:creationId xmlns:a16="http://schemas.microsoft.com/office/drawing/2014/main" id="{6BE088C3-AE97-4252-B235-E3EAE1D4FD77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789896" y="2241647"/>
                <a:ext cx="7221927" cy="65427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vert="horz" wrap="square" lIns="91440" tIns="45720" rIns="91440" bIns="45720" numCol="1" anchor="ctr" anchorCtr="0" compatLnSpc="1"/>
              <a:lstStyle>
                <a:lvl1pPr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+mj-lt"/>
                    <a:ea typeface="+mj-ea"/>
                    <a:cs typeface="+mj-cs"/>
                    <a:sym typeface="Arial" panose="020B0604020202020204" pitchFamily="34" charset="0"/>
                  </a:defRPr>
                </a:lvl1pPr>
                <a:lvl2pPr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  <a:ea typeface="楷体_GB2312" pitchFamily="49" charset="-122"/>
                    <a:sym typeface="Arial" panose="020B0604020202020204" pitchFamily="34" charset="0"/>
                  </a:defRPr>
                </a:lvl2pPr>
                <a:lvl3pPr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  <a:ea typeface="楷体_GB2312" pitchFamily="49" charset="-122"/>
                    <a:sym typeface="Arial" panose="020B0604020202020204" pitchFamily="34" charset="0"/>
                  </a:defRPr>
                </a:lvl3pPr>
                <a:lvl4pPr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  <a:ea typeface="楷体_GB2312" pitchFamily="49" charset="-122"/>
                    <a:sym typeface="Arial" panose="020B0604020202020204" pitchFamily="34" charset="0"/>
                  </a:defRPr>
                </a:lvl4pPr>
                <a:lvl5pPr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  <a:ea typeface="楷体_GB2312" pitchFamily="49" charset="-122"/>
                    <a:sym typeface="Arial" panose="020B0604020202020204" pitchFamily="34" charset="0"/>
                  </a:defRPr>
                </a:lvl5pPr>
                <a:lvl6pPr marL="457200" algn="ctr" rtl="0" fontAlgn="base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  <a:ea typeface="楷体_GB2312" pitchFamily="49" charset="-122"/>
                    <a:sym typeface="Arial" panose="020B0604020202020204" pitchFamily="34" charset="0"/>
                  </a:defRPr>
                </a:lvl6pPr>
                <a:lvl7pPr marL="914400" algn="ctr" rtl="0" fontAlgn="base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  <a:ea typeface="楷体_GB2312" pitchFamily="49" charset="-122"/>
                    <a:sym typeface="Arial" panose="020B0604020202020204" pitchFamily="34" charset="0"/>
                  </a:defRPr>
                </a:lvl7pPr>
                <a:lvl8pPr marL="1371600" algn="ctr" rtl="0" fontAlgn="base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  <a:ea typeface="楷体_GB2312" pitchFamily="49" charset="-122"/>
                    <a:sym typeface="Arial" panose="020B0604020202020204" pitchFamily="34" charset="0"/>
                  </a:defRPr>
                </a:lvl8pPr>
                <a:lvl9pPr marL="1828800" algn="ctr" rtl="0" fontAlgn="base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  <a:ea typeface="楷体_GB2312" pitchFamily="49" charset="-122"/>
                    <a:sym typeface="Arial" panose="020B0604020202020204" pitchFamily="34" charset="0"/>
                  </a:defRPr>
                </a:lvl9pPr>
              </a:lstStyle>
              <a:p>
                <a:pPr algn="l"/>
                <a:r>
                  <a:rPr lang="zh-CN" altLang="en-US" sz="2400" kern="0" dirty="0">
                    <a:solidFill>
                      <a:srgbClr val="00206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蝴蝶曲线表达式</a:t>
                </a:r>
                <a14:m>
                  <m:oMath xmlns:m="http://schemas.openxmlformats.org/officeDocument/2006/math">
                    <m:r>
                      <a:rPr lang="el-GR" altLang="zh-CN" sz="2400" i="1" kern="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US" altLang="zh-CN" sz="2400" kern="0" dirty="0">
                    <a:solidFill>
                      <a:srgbClr val="00206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=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 kern="0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kern="0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sz="2400" b="0" i="1" kern="0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𝑠𝑖𝑛</m:t>
                        </m:r>
                        <m:r>
                          <a:rPr lang="zh-CN" altLang="en-US" sz="2400" b="0" i="1" kern="0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sup>
                    </m:sSup>
                    <m:r>
                      <a:rPr lang="en-US" altLang="zh-CN" sz="2400" b="0" i="1" kern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−2</m:t>
                    </m:r>
                    <m:func>
                      <m:funcPr>
                        <m:ctrlPr>
                          <a:rPr lang="en-US" altLang="zh-CN" sz="2400" b="0" i="1" kern="0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2400" b="0" i="0" kern="0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n-US" altLang="zh-CN" sz="2400" b="0" i="1" kern="0" dirty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0" i="1" kern="0" dirty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zh-CN" altLang="en-US" sz="2400" b="0" i="1" kern="0" dirty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func>
                    <m:r>
                      <a:rPr lang="en-US" altLang="zh-CN" sz="2400" b="0" i="1" kern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altLang="zh-CN" sz="2400" b="0" i="1" kern="0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kern="0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𝑠𝑖𝑛</m:t>
                        </m:r>
                      </m:e>
                      <m:sup>
                        <m:r>
                          <a:rPr lang="en-US" altLang="zh-CN" sz="2400" b="0" i="1" kern="0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a:rPr lang="en-US" altLang="zh-CN" sz="2400" b="0" i="1" kern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ctrlPr>
                          <a:rPr lang="en-US" altLang="zh-CN" sz="2400" b="0" i="1" kern="0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0" i="1" kern="0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zh-CN" altLang="en-US" sz="2400" b="0" i="1" kern="0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 altLang="zh-CN" sz="2400" b="0" i="1" kern="0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zh-CN" altLang="en-US" sz="2400" b="0" i="1" kern="0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n-US" altLang="zh-CN" sz="2400" b="0" i="1" kern="0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den>
                    </m:f>
                    <m:r>
                      <a:rPr lang="en-US" altLang="zh-CN" sz="2400" b="0" i="1" kern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en-US" sz="2400" kern="0" dirty="0">
                  <a:solidFill>
                    <a:srgbClr val="00206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7" name="标题 1">
                <a:extLst>
                  <a:ext uri="{FF2B5EF4-FFF2-40B4-BE49-F238E27FC236}">
                    <a16:creationId xmlns:a16="http://schemas.microsoft.com/office/drawing/2014/main" id="{6BE088C3-AE97-4252-B235-E3EAE1D4FD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89896" y="2241647"/>
                <a:ext cx="7221927" cy="654273"/>
              </a:xfrm>
              <a:prstGeom prst="rect">
                <a:avLst/>
              </a:prstGeom>
              <a:blipFill>
                <a:blip r:embed="rId4"/>
                <a:stretch>
                  <a:fillRect l="-1351" b="-9346"/>
                </a:stretch>
              </a:blipFill>
              <a:ln w="9525">
                <a:noFill/>
                <a:miter lim="800000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文本框 7">
            <a:extLst>
              <a:ext uri="{FF2B5EF4-FFF2-40B4-BE49-F238E27FC236}">
                <a16:creationId xmlns:a16="http://schemas.microsoft.com/office/drawing/2014/main" id="{73327E71-68DE-46EC-BEBB-36C52E1B0ACC}"/>
              </a:ext>
            </a:extLst>
          </p:cNvPr>
          <p:cNvSpPr txBox="1"/>
          <p:nvPr/>
        </p:nvSpPr>
        <p:spPr>
          <a:xfrm>
            <a:off x="65075" y="2925751"/>
            <a:ext cx="782487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altLang="zh-CN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θ</a:t>
            </a:r>
            <a:r>
              <a:rPr lang="en-US" altLang="zh-CN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2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zh-CN" sz="2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pi</a:t>
            </a:r>
            <a:r>
              <a:rPr lang="en-US" altLang="zh-CN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altLang="zh-CN" sz="2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64</a:t>
            </a:r>
            <a:r>
              <a:rPr lang="en-US" altLang="zh-CN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zh-CN" sz="2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altLang="zh-CN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zh-CN" sz="2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pi</a:t>
            </a:r>
            <a:r>
              <a:rPr lang="en-US" altLang="zh-CN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  </a:t>
            </a:r>
            <a:r>
              <a:rPr lang="en-US" altLang="zh-CN" sz="2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sz="2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线性等分向量</a:t>
            </a:r>
            <a:endParaRPr lang="zh-CN" altLang="en-US" sz="2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l-GR" altLang="zh-CN" sz="2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ρ</a:t>
            </a:r>
            <a:r>
              <a:rPr lang="en-US" altLang="zh-CN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l-GR" altLang="zh-CN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θ</a:t>
            </a:r>
            <a:r>
              <a:rPr lang="en-US" altLang="zh-CN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)=</a:t>
            </a:r>
            <a:r>
              <a:rPr lang="en-US" altLang="zh-CN" sz="2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exp</a:t>
            </a:r>
            <a:r>
              <a:rPr lang="en-US" altLang="zh-CN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sin</a:t>
            </a:r>
            <a:r>
              <a:rPr lang="en-US" altLang="zh-CN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l-GR" altLang="zh-CN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θ</a:t>
            </a:r>
            <a:r>
              <a:rPr lang="en-US" altLang="zh-CN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))-</a:t>
            </a:r>
            <a:r>
              <a:rPr lang="en-US" altLang="zh-CN" sz="2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zh-CN" sz="2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cos</a:t>
            </a:r>
            <a:r>
              <a:rPr lang="en-US" altLang="zh-CN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zh-CN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l-GR" altLang="zh-CN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θ</a:t>
            </a:r>
            <a:r>
              <a:rPr lang="en-US" altLang="zh-CN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)-(</a:t>
            </a:r>
            <a:r>
              <a:rPr lang="en-US" altLang="zh-CN" sz="2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sin</a:t>
            </a:r>
            <a:r>
              <a:rPr lang="en-US" altLang="zh-CN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((</a:t>
            </a:r>
            <a:r>
              <a:rPr lang="en-US" altLang="zh-CN" sz="2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l-GR" altLang="zh-CN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θ</a:t>
            </a:r>
            <a:r>
              <a:rPr lang="en-US" altLang="zh-CN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altLang="zh-CN" sz="2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pi</a:t>
            </a:r>
            <a:r>
              <a:rPr lang="en-US" altLang="zh-CN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)/</a:t>
            </a:r>
            <a:r>
              <a:rPr lang="en-US" altLang="zh-CN" sz="2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24</a:t>
            </a:r>
            <a:r>
              <a:rPr lang="en-US" altLang="zh-CN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))^</a:t>
            </a:r>
            <a:r>
              <a:rPr lang="en-US" altLang="zh-CN" sz="2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endParaRPr lang="en-US" altLang="zh-CN" sz="2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2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polarplot</a:t>
            </a:r>
            <a:r>
              <a:rPr lang="en-US" altLang="zh-CN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l-GR" altLang="zh-CN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θ</a:t>
            </a:r>
            <a:r>
              <a:rPr lang="en-US" altLang="zh-CN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l-GR" altLang="zh-CN" sz="2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 ρ</a:t>
            </a:r>
            <a:r>
              <a:rPr lang="en-US" altLang="zh-CN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.(</a:t>
            </a:r>
            <a:r>
              <a:rPr lang="el-GR" altLang="zh-CN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θ</a:t>
            </a:r>
            <a:r>
              <a:rPr lang="en-US" altLang="zh-CN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 </a:t>
            </a:r>
            <a:r>
              <a:rPr lang="en-US" altLang="zh-CN" sz="2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sz="2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函数点运算绘制极坐标图</a:t>
            </a:r>
            <a:endParaRPr lang="zh-CN" altLang="en-US" sz="2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84E3D7F-8E59-4045-8E83-CE821C8AC4D0}"/>
              </a:ext>
            </a:extLst>
          </p:cNvPr>
          <p:cNvSpPr/>
          <p:nvPr/>
        </p:nvSpPr>
        <p:spPr>
          <a:xfrm>
            <a:off x="25206" y="1249860"/>
            <a:ext cx="8939379" cy="922497"/>
          </a:xfrm>
          <a:prstGeom prst="rect">
            <a:avLst/>
          </a:prstGeom>
          <a:ln>
            <a:noFill/>
            <a:prstDash val="sysDash"/>
          </a:ln>
        </p:spPr>
        <p:txBody>
          <a:bodyPr wrap="square">
            <a:spAutoFit/>
          </a:bodyPr>
          <a:lstStyle/>
          <a:p>
            <a:pPr marL="396000" lvl="0" indent="-457200" defTabSz="0">
              <a:lnSpc>
                <a:spcPts val="336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altLang="zh-CN" sz="2200" kern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theta</a:t>
            </a:r>
            <a:r>
              <a:rPr lang="zh-CN" altLang="en-US" sz="2200" kern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为极坐标极角；</a:t>
            </a:r>
            <a:r>
              <a:rPr lang="en-US" altLang="zh-CN" sz="2200" kern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rho</a:t>
            </a:r>
            <a:r>
              <a:rPr lang="zh-CN" altLang="en-US" sz="2200" kern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为极坐标极径；</a:t>
            </a:r>
            <a:endParaRPr lang="en-US" altLang="zh-CN" sz="2200" kern="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marL="396000" lvl="0" indent="-457200" algn="dist" defTabSz="0">
              <a:lnSpc>
                <a:spcPts val="336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sz="2200" kern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句柄</a:t>
            </a:r>
            <a:r>
              <a:rPr lang="en-US" altLang="zh-CN" sz="2200" kern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h</a:t>
            </a:r>
            <a:r>
              <a:rPr lang="zh-CN" altLang="en-US" sz="2200" kern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、极坐标和线属性</a:t>
            </a:r>
            <a:r>
              <a:rPr lang="en-US" altLang="zh-CN" sz="2200" kern="0" dirty="0" err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fmt</a:t>
            </a:r>
            <a:r>
              <a:rPr lang="zh-CN" altLang="en-US" sz="2200" kern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或</a:t>
            </a:r>
            <a:r>
              <a:rPr lang="en-US" altLang="zh-CN" sz="22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key=value</a:t>
            </a:r>
            <a:r>
              <a:rPr lang="zh-CN" altLang="en-US" sz="2200" b="1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与</a:t>
            </a:r>
            <a:r>
              <a:rPr lang="en-US" altLang="zh-CN" sz="2200" b="1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plot</a:t>
            </a:r>
            <a:r>
              <a:rPr lang="zh-CN" altLang="en-US" sz="2200" b="1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操作</a:t>
            </a:r>
            <a:r>
              <a:rPr lang="zh-CN" altLang="en-US" sz="2200" kern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相似，可省略 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E774D30-B640-4A20-9823-8FC0FE05E950}"/>
              </a:ext>
            </a:extLst>
          </p:cNvPr>
          <p:cNvSpPr/>
          <p:nvPr/>
        </p:nvSpPr>
        <p:spPr>
          <a:xfrm>
            <a:off x="2749019" y="853477"/>
            <a:ext cx="6373688" cy="400110"/>
          </a:xfrm>
          <a:prstGeom prst="rect">
            <a:avLst/>
          </a:prstGeom>
          <a:noFill/>
          <a:ln w="38100"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>
            <a:spAutoFit/>
          </a:bodyPr>
          <a:lstStyle/>
          <a:p>
            <a:pPr algn="dist"/>
            <a:r>
              <a:rPr lang="zh-CN" altLang="en-US" sz="2000" b="1" dirty="0">
                <a:solidFill>
                  <a:srgbClr val="FFFF00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句柄</a:t>
            </a:r>
            <a:r>
              <a:rPr lang="en-US" altLang="zh-CN" sz="2000" b="1" dirty="0">
                <a:solidFill>
                  <a:srgbClr val="FFFF00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h</a:t>
            </a:r>
            <a:r>
              <a:rPr lang="en-US" altLang="zh-CN" sz="2000" b="1" dirty="0">
                <a:solidFill>
                  <a:schemeClr val="bg1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=</a:t>
            </a:r>
            <a:r>
              <a:rPr lang="en-US" altLang="zh-CN" sz="2000" b="1" dirty="0" err="1">
                <a:solidFill>
                  <a:schemeClr val="bg1"/>
                </a:solidFill>
                <a:highlight>
                  <a:srgbClr val="FF0000"/>
                </a:highlight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polarplot</a:t>
            </a:r>
            <a:r>
              <a:rPr lang="en-US" altLang="zh-CN" sz="2000" b="1" dirty="0">
                <a:solidFill>
                  <a:schemeClr val="bg1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(</a:t>
            </a:r>
            <a:r>
              <a:rPr lang="zh-CN" altLang="en-US" sz="2000" b="1" dirty="0">
                <a:solidFill>
                  <a:srgbClr val="FFFF00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极坐标</a:t>
            </a:r>
            <a:r>
              <a:rPr lang="en-US" altLang="zh-CN" sz="2000" b="0" i="0" dirty="0" err="1">
                <a:solidFill>
                  <a:srgbClr val="FFFF00"/>
                </a:solidFill>
                <a:effectLst/>
                <a:highlight>
                  <a:srgbClr val="003B76"/>
                </a:highlight>
                <a:latin typeface="-apple-system"/>
              </a:rPr>
              <a:t>P</a:t>
            </a:r>
            <a:r>
              <a:rPr lang="en-US" altLang="zh-CN" sz="2000" b="1" dirty="0" err="1">
                <a:solidFill>
                  <a:srgbClr val="FFFF00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olarAxes</a:t>
            </a:r>
            <a:r>
              <a:rPr lang="en-US" altLang="zh-CN" sz="2000" dirty="0" err="1">
                <a:solidFill>
                  <a:srgbClr val="2C3E50"/>
                </a:solidFill>
                <a:highlight>
                  <a:srgbClr val="003B76"/>
                </a:highlight>
                <a:latin typeface="-apple-system"/>
                <a:ea typeface="华文楷体" panose="02010600040101010101" pitchFamily="2" charset="-122"/>
              </a:rPr>
              <a:t>,</a:t>
            </a:r>
            <a:r>
              <a:rPr lang="en-US" altLang="zh-CN" sz="2000" b="1" dirty="0" err="1">
                <a:solidFill>
                  <a:schemeClr val="bg1"/>
                </a:solidFill>
                <a:highlight>
                  <a:srgbClr val="FF0000"/>
                </a:highlight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theta,rho</a:t>
            </a:r>
            <a:r>
              <a:rPr lang="en-US" altLang="zh-CN" sz="2000" b="1" dirty="0">
                <a:solidFill>
                  <a:schemeClr val="bg1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,</a:t>
            </a:r>
            <a:r>
              <a:rPr lang="zh-CN" altLang="en-US" sz="2000" b="1" dirty="0">
                <a:solidFill>
                  <a:srgbClr val="FFFF00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  <a:sym typeface="+mn-ea"/>
              </a:rPr>
              <a:t>属性</a:t>
            </a:r>
            <a:r>
              <a:rPr lang="en-US" altLang="zh-CN" sz="2000" b="1" dirty="0">
                <a:solidFill>
                  <a:schemeClr val="bg1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)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5F1AEB0-5FC7-46BA-9A7D-80C4BEC56253}"/>
              </a:ext>
            </a:extLst>
          </p:cNvPr>
          <p:cNvSpPr txBox="1"/>
          <p:nvPr/>
        </p:nvSpPr>
        <p:spPr>
          <a:xfrm>
            <a:off x="856814" y="87623"/>
            <a:ext cx="770485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隶书" panose="02010509060101010101" charset="-122"/>
              </a:rPr>
              <a:t>§</a:t>
            </a:r>
            <a:r>
              <a:rPr lang="en-US" altLang="zh-CN" sz="28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3.4 </a:t>
            </a:r>
            <a:r>
              <a:rPr lang="zh-CN" altLang="en-US" sz="28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数据统计分析图</a:t>
            </a:r>
            <a:r>
              <a:rPr lang="en-US" altLang="zh-CN" sz="28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</a:t>
            </a:r>
            <a:r>
              <a:rPr lang="en-US" altLang="zh-CN" sz="2800" b="1" dirty="0" err="1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polarplot</a:t>
            </a:r>
            <a:r>
              <a:rPr lang="zh-CN" altLang="en-US" sz="28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绘制极坐标图</a:t>
            </a:r>
            <a:endParaRPr lang="zh-CN" altLang="en-US" sz="2800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4" name="波形 13">
            <a:extLst>
              <a:ext uri="{FF2B5EF4-FFF2-40B4-BE49-F238E27FC236}">
                <a16:creationId xmlns:a16="http://schemas.microsoft.com/office/drawing/2014/main" id="{F8C6A4CF-C129-439C-ADCF-4F5F268943D8}"/>
              </a:ext>
            </a:extLst>
          </p:cNvPr>
          <p:cNvSpPr/>
          <p:nvPr/>
        </p:nvSpPr>
        <p:spPr>
          <a:xfrm>
            <a:off x="188883" y="2323004"/>
            <a:ext cx="566693" cy="452120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6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例10</a:t>
            </a:r>
            <a:endParaRPr lang="ko-KR" altLang="en-US" sz="16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DB2ABC3-E82C-4768-97BB-47DCC63CB307}"/>
              </a:ext>
            </a:extLst>
          </p:cNvPr>
          <p:cNvSpPr/>
          <p:nvPr/>
        </p:nvSpPr>
        <p:spPr>
          <a:xfrm>
            <a:off x="53615" y="814629"/>
            <a:ext cx="2508993" cy="461665"/>
          </a:xfrm>
          <a:prstGeom prst="rect">
            <a:avLst/>
          </a:prstGeom>
          <a:noFill/>
          <a:ln w="38100"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>
            <a:spAutoFit/>
          </a:bodyPr>
          <a:lstStyle/>
          <a:p>
            <a:pPr algn="dist"/>
            <a:r>
              <a:rPr lang="en-US" altLang="zh-CN" sz="2400" b="1" dirty="0" err="1">
                <a:solidFill>
                  <a:schemeClr val="bg1"/>
                </a:solidFill>
                <a:highlight>
                  <a:srgbClr val="FF0000"/>
                </a:highlight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polarplot</a:t>
            </a:r>
            <a:r>
              <a:rPr lang="en-US" altLang="zh-CN" sz="2400" b="1" dirty="0">
                <a:solidFill>
                  <a:schemeClr val="bg1"/>
                </a:solidFill>
                <a:highlight>
                  <a:srgbClr val="FF0000"/>
                </a:highlight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(</a:t>
            </a:r>
            <a:r>
              <a:rPr lang="en-US" altLang="zh-CN" sz="2400" b="1" dirty="0" err="1">
                <a:solidFill>
                  <a:schemeClr val="bg1"/>
                </a:solidFill>
                <a:highlight>
                  <a:srgbClr val="FF0000"/>
                </a:highlight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theta,rho</a:t>
            </a:r>
            <a:r>
              <a:rPr lang="en-US" altLang="zh-CN" sz="2400" b="1" dirty="0">
                <a:solidFill>
                  <a:schemeClr val="bg1"/>
                </a:solidFill>
                <a:highlight>
                  <a:srgbClr val="FF0000"/>
                </a:highlight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)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D4CF3DC-2145-484E-902D-0B4571FF8E71}"/>
              </a:ext>
            </a:extLst>
          </p:cNvPr>
          <p:cNvSpPr txBox="1"/>
          <p:nvPr/>
        </p:nvSpPr>
        <p:spPr>
          <a:xfrm>
            <a:off x="2429272" y="849750"/>
            <a:ext cx="78537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</a:p>
        </p:txBody>
      </p:sp>
    </p:spTree>
    <p:extLst>
      <p:ext uri="{BB962C8B-B14F-4D97-AF65-F5344CB8AC3E}">
        <p14:creationId xmlns:p14="http://schemas.microsoft.com/office/powerpoint/2010/main" val="2649882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主题1">
  <a:themeElements>
    <a:clrScheme name="darpa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arpa">
      <a:majorFont>
        <a:latin typeface="Helvetic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177800" marR="0" indent="-177800" algn="ctr" defTabSz="914400" rtl="0" eaLnBrk="0" fontAlgn="base" latinLnBrk="0" hangingPunct="0">
          <a:lnSpc>
            <a:spcPct val="11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177800" marR="0" indent="-177800" algn="ctr" defTabSz="914400" rtl="0" eaLnBrk="0" fontAlgn="base" latinLnBrk="0" hangingPunct="0">
          <a:lnSpc>
            <a:spcPct val="11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darpa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rpa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rpa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rpa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rpa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rpa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rpa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12813</TotalTime>
  <Pages>154</Pages>
  <Words>2730</Words>
  <Characters>0</Characters>
  <Application>Microsoft Office PowerPoint</Application>
  <DocSecurity>0</DocSecurity>
  <PresentationFormat>全屏显示(16:9)</PresentationFormat>
  <Lines>0</Lines>
  <Paragraphs>308</Paragraphs>
  <Slides>17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31" baseType="lpstr">
      <vt:lpstr>-apple-system</vt:lpstr>
      <vt:lpstr>黑体</vt:lpstr>
      <vt:lpstr>华文楷体</vt:lpstr>
      <vt:lpstr>隶书</vt:lpstr>
      <vt:lpstr>Microsoft YaHei</vt:lpstr>
      <vt:lpstr>Microsoft YaHei</vt:lpstr>
      <vt:lpstr>Arial</vt:lpstr>
      <vt:lpstr>Calibri</vt:lpstr>
      <vt:lpstr>Cambria Math</vt:lpstr>
      <vt:lpstr>Consolas</vt:lpstr>
      <vt:lpstr>Helvetica</vt:lpstr>
      <vt:lpstr>Times New Roman</vt:lpstr>
      <vt:lpstr>Wingdings</vt:lpstr>
      <vt:lpstr>主题1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  </vt:lpstr>
    </vt:vector>
  </TitlesOfParts>
  <Company>微软中国</Company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li aibin</cp:lastModifiedBy>
  <cp:revision>1048</cp:revision>
  <dcterms:modified xsi:type="dcterms:W3CDTF">2025-03-20T09:14:00Z</dcterms:modified>
</cp:coreProperties>
</file>