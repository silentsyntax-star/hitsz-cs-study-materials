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5" r:id="rId1"/>
  </p:sldMasterIdLst>
  <p:notesMasterIdLst>
    <p:notesMasterId r:id="rId38"/>
  </p:notesMasterIdLst>
  <p:sldIdLst>
    <p:sldId id="800" r:id="rId2"/>
    <p:sldId id="788" r:id="rId3"/>
    <p:sldId id="789" r:id="rId4"/>
    <p:sldId id="793" r:id="rId5"/>
    <p:sldId id="754" r:id="rId6"/>
    <p:sldId id="2213" r:id="rId7"/>
    <p:sldId id="1235" r:id="rId8"/>
    <p:sldId id="2210" r:id="rId9"/>
    <p:sldId id="2114" r:id="rId10"/>
    <p:sldId id="2209" r:id="rId11"/>
    <p:sldId id="1295" r:id="rId12"/>
    <p:sldId id="1228" r:id="rId13"/>
    <p:sldId id="825" r:id="rId14"/>
    <p:sldId id="1369" r:id="rId15"/>
    <p:sldId id="2212" r:id="rId16"/>
    <p:sldId id="1294" r:id="rId17"/>
    <p:sldId id="1366" r:id="rId18"/>
    <p:sldId id="1299" r:id="rId19"/>
    <p:sldId id="1367" r:id="rId20"/>
    <p:sldId id="1292" r:id="rId21"/>
    <p:sldId id="1293" r:id="rId22"/>
    <p:sldId id="835" r:id="rId23"/>
    <p:sldId id="1296" r:id="rId24"/>
    <p:sldId id="1300" r:id="rId25"/>
    <p:sldId id="1384" r:id="rId26"/>
    <p:sldId id="1247" r:id="rId27"/>
    <p:sldId id="1246" r:id="rId28"/>
    <p:sldId id="1248" r:id="rId29"/>
    <p:sldId id="1252" r:id="rId30"/>
    <p:sldId id="791" r:id="rId31"/>
    <p:sldId id="790" r:id="rId32"/>
    <p:sldId id="1378" r:id="rId33"/>
    <p:sldId id="1382" r:id="rId34"/>
    <p:sldId id="1383" r:id="rId35"/>
    <p:sldId id="1377" r:id="rId36"/>
    <p:sldId id="1385" r:id="rId3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爱滨 李" initials="爱李" lastIdx="1" clrIdx="0">
    <p:extLst>
      <p:ext uri="{19B8F6BF-5375-455C-9EA6-DF929625EA0E}">
        <p15:presenceInfo xmlns:p15="http://schemas.microsoft.com/office/powerpoint/2012/main" userId="88969518991ecbc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3B76"/>
    <a:srgbClr val="3399FF"/>
    <a:srgbClr val="33CCFF"/>
    <a:srgbClr val="736303"/>
    <a:srgbClr val="F0DA04"/>
    <a:srgbClr val="66CCFF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673" autoAdjust="0"/>
  </p:normalViewPr>
  <p:slideViewPr>
    <p:cSldViewPr snapToObjects="1">
      <p:cViewPr varScale="1">
        <p:scale>
          <a:sx n="81" d="100"/>
          <a:sy n="81" d="100"/>
        </p:scale>
        <p:origin x="860" y="56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 err="1">
                <a:solidFill>
                  <a:srgbClr val="C45400"/>
                </a:solidFill>
                <a:effectLst/>
                <a:latin typeface="Arial" panose="020B0604020202020204" pitchFamily="34" charset="0"/>
              </a:rPr>
              <a:t>wordcloud</a:t>
            </a:r>
            <a:endParaRPr lang="en-US" altLang="zh-CN" b="0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zh-CN" altLang="en-US" b="0" i="0" dirty="0">
                <a:solidFill>
                  <a:srgbClr val="6A6A6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使用文本数据创建文字云图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76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007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可视化图形，更直观观察到数据内在特点，挖掘其相应规律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097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图形和图片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是强大的视觉工具，</a:t>
            </a:r>
            <a:r>
              <a:rPr lang="zh-CN" altLang="en-US" sz="1200" dirty="0">
                <a:solidFill>
                  <a:srgbClr val="FFFF00"/>
                </a:solidFill>
                <a:latin typeface="+mj-ea"/>
                <a:ea typeface="+mj-ea"/>
              </a:rPr>
              <a:t>通过图形曲线阐述研究内容、结果、特点，分析原因，揭示其内在规律</a:t>
            </a:r>
            <a:endParaRPr lang="en-US" altLang="zh-CN" sz="1200" dirty="0">
              <a:solidFill>
                <a:srgbClr val="FFFF00"/>
              </a:solidFill>
              <a:latin typeface="+mj-ea"/>
              <a:ea typeface="+mj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FFFF00"/>
                </a:solidFill>
                <a:latin typeface="+mj-ea"/>
                <a:ea typeface="+mj-ea"/>
              </a:rPr>
              <a:t>22</a:t>
            </a:r>
            <a:r>
              <a:rPr lang="zh-CN" altLang="en-US" sz="1200" dirty="0">
                <a:solidFill>
                  <a:srgbClr val="FFFF00"/>
                </a:solidFill>
                <a:latin typeface="+mj-ea"/>
                <a:ea typeface="+mj-ea"/>
              </a:rPr>
              <a:t>年省检查各高校当年毕业的硕士毕业论文质量，排第</a:t>
            </a:r>
            <a:r>
              <a:rPr lang="en-US" altLang="zh-CN" sz="1200" dirty="0">
                <a:solidFill>
                  <a:srgbClr val="FFFF00"/>
                </a:solidFill>
                <a:latin typeface="+mj-ea"/>
                <a:ea typeface="+mj-ea"/>
              </a:rPr>
              <a:t>3</a:t>
            </a:r>
            <a:endParaRPr lang="zh-CN" altLang="en-US" sz="1200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zh-CN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首先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描述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关键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实验结果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，接着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解释结果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产生的原因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，然后对结果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进行讨论</a:t>
            </a:r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/>
          </a:p>
          <a:p>
            <a:r>
              <a:rPr lang="en-US" altLang="zh-CN" dirty="0"/>
              <a:t>ppt</a:t>
            </a:r>
            <a:r>
              <a:rPr lang="zh-CN" altLang="en-US" dirty="0"/>
              <a:t>图和曲线比文字多得多，切记图曲线旁堆放大量文字。实验都是自己做，自然知道实验结果的图和曲线描述的是什么，你就把你从图和曲线实验结果看到的和观察到讲出来就好，看图说话。此外，将隐藏在图曲线背后的内在特点和相应规律挖掘，这才能是你研究内容升华，否则成了个工程实验报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1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cylinder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17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722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325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327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 err="1">
                <a:solidFill>
                  <a:srgbClr val="C45400"/>
                </a:solidFill>
                <a:effectLst/>
                <a:latin typeface="Arial" panose="020B0604020202020204" pitchFamily="34" charset="0"/>
              </a:rPr>
              <a:t>wordcloud</a:t>
            </a:r>
            <a:endParaRPr lang="en-US" altLang="zh-CN" b="0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zh-CN" altLang="en-US" b="0" i="0">
                <a:solidFill>
                  <a:srgbClr val="6A6A6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使用文本数据创建文字云图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218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CC0000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图形对象是图形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系统中最基本、最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底层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的单元，每个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图形对象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都可以被独立地操作</a:t>
            </a:r>
            <a:endParaRPr lang="en-US" altLang="zh-CN" b="0" i="0" dirty="0">
              <a:solidFill>
                <a:srgbClr val="CC0000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图形对象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是由其属性来描述的。高层绘图函数对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图形对象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的描述一般是缺省的或由高层绘图函数自动设置。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底层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绘图函数用句柄设置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图形对象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的属性。 句柄属性的设置与修改 </a:t>
            </a:r>
            <a:r>
              <a:rPr lang="en-US" altLang="zh-CN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get 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获得句柄</a:t>
            </a:r>
            <a:r>
              <a:rPr lang="zh-CN" alt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图形对象</a:t>
            </a:r>
            <a:r>
              <a:rPr lang="zh-CN" altLang="en-US" b="0" i="0" dirty="0">
                <a:solidFill>
                  <a:srgbClr val="71777D"/>
                </a:solidFill>
                <a:effectLst/>
                <a:latin typeface="Arial" panose="020B0604020202020204" pitchFamily="34" charset="0"/>
              </a:rPr>
              <a:t>的属性</a:t>
            </a:r>
            <a:endParaRPr lang="en-US" altLang="zh-CN" b="0" i="0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/>
              <a:t>4-x</a:t>
            </a:r>
            <a:r>
              <a:rPr lang="zh-CN" altLang="en-US" kern="0" dirty="0"/>
              <a:t>的正确代码</a:t>
            </a:r>
            <a:r>
              <a:rPr lang="en-US" altLang="zh-CN" kern="0" dirty="0"/>
              <a:t>4 .–x</a:t>
            </a:r>
            <a:r>
              <a:rPr lang="zh-CN" altLang="en-US" kern="0" dirty="0"/>
              <a:t>（</a:t>
            </a:r>
            <a:r>
              <a:rPr lang="en-US" altLang="zh-CN" kern="0" dirty="0"/>
              <a:t>4</a:t>
            </a:r>
            <a:r>
              <a:rPr lang="zh-CN" altLang="en-US" kern="0" dirty="0"/>
              <a:t>后要空格），错误</a:t>
            </a:r>
            <a:r>
              <a:rPr lang="en-US" altLang="zh-CN" kern="0" dirty="0"/>
              <a:t>4.-x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kern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图像底层特征指的是：轮廓、边缘、颜色、纹理和形状特征</a:t>
            </a:r>
            <a:endParaRPr lang="zh-CN" altLang="en-US" kern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390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539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Key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为参数名称，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-apple-system"/>
              </a:rPr>
              <a:t>Value 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为对应的值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394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cannot define function y; it already has a value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51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clear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-apple-system"/>
              </a:rPr>
              <a:t> 从当前工作区中删除所有变量，并将它们从系统内存中释放。函数、结构体内容暂不支持删除。</a:t>
            </a:r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r>
              <a:rPr lang="en-US" altLang="zh-CN" dirty="0" err="1"/>
              <a:t>Sysplorer</a:t>
            </a:r>
            <a:r>
              <a:rPr lang="en-US" altLang="zh-CN" dirty="0" err="1">
                <a:solidFill>
                  <a:srgbClr val="999999"/>
                </a:solidFill>
                <a:effectLst/>
              </a:rPr>
              <a:t>.</a:t>
            </a:r>
            <a:r>
              <a:rPr lang="en-US" altLang="zh-CN" dirty="0" err="1"/>
              <a:t>ClearAll</a:t>
            </a:r>
            <a:r>
              <a:rPr lang="en-US" altLang="zh-CN" dirty="0">
                <a:solidFill>
                  <a:srgbClr val="999999"/>
                </a:solidFill>
                <a:effectLst/>
              </a:rPr>
              <a:t>()</a:t>
            </a:r>
            <a:endParaRPr lang="en-US" altLang="zh-CN" b="0" i="0" dirty="0">
              <a:solidFill>
                <a:srgbClr val="2C3E50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8A8A8A"/>
                </a:solidFill>
                <a:effectLst/>
                <a:latin typeface="-apple-system"/>
              </a:rPr>
              <a:t>清除系统所有内容，恢复到启动状态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32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PLT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格式是一种</a:t>
            </a:r>
            <a:r>
              <a:rPr lang="zh-CN" altLang="en-US" b="1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向量图形格式</a:t>
            </a:r>
            <a:endParaRPr lang="en-US" altLang="zh-CN" b="0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CN" b="0" i="0" dirty="0" err="1">
                <a:solidFill>
                  <a:srgbClr val="C45400"/>
                </a:solidFill>
                <a:effectLst/>
                <a:latin typeface="Arial" panose="020B0604020202020204" pitchFamily="34" charset="0"/>
              </a:rPr>
              <a:t>wordcloud</a:t>
            </a:r>
            <a:endParaRPr lang="en-US" altLang="zh-CN" b="0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zh-CN" altLang="en-US" b="0" i="0" dirty="0">
                <a:solidFill>
                  <a:srgbClr val="6A6A6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使用文本数据创建文字云图</a:t>
            </a:r>
            <a:endParaRPr lang="en-US" altLang="zh-CN" b="0" i="0" dirty="0">
              <a:solidFill>
                <a:srgbClr val="6A6A6A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endParaRPr lang="en-US" altLang="zh-CN" b="0" i="0" dirty="0">
              <a:solidFill>
                <a:srgbClr val="6A6A6A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h.set_Key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(Value) </a:t>
            </a:r>
          </a:p>
          <a:p>
            <a:pPr algn="l"/>
            <a:endParaRPr lang="zh-CN" altLang="en-US" b="0" i="0" dirty="0">
              <a:solidFill>
                <a:srgbClr val="6A6A6A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709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164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67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200" b="1" dirty="0">
                <a:solidFill>
                  <a:srgbClr val="FFFF00"/>
                </a:solidFill>
                <a:latin typeface="Menlo"/>
              </a:rPr>
              <a:t>不用括号直接函数命令如</a:t>
            </a:r>
            <a:r>
              <a:rPr lang="en-US" altLang="zh-CN" sz="1200" b="1" i="0" dirty="0">
                <a:solidFill>
                  <a:srgbClr val="FFFF00"/>
                </a:solidFill>
                <a:effectLst/>
                <a:latin typeface="Menlo"/>
              </a:rPr>
              <a:t>figure</a:t>
            </a:r>
            <a:r>
              <a:rPr lang="zh-CN" altLang="en-US" sz="1200" b="1" i="0" dirty="0">
                <a:solidFill>
                  <a:srgbClr val="FFFF00"/>
                </a:solidFill>
                <a:effectLst/>
                <a:latin typeface="Menlo"/>
              </a:rPr>
              <a:t> ，</a:t>
            </a:r>
            <a:r>
              <a:rPr lang="en-US" altLang="zh-CN" sz="1200" b="1" i="0" dirty="0">
                <a:solidFill>
                  <a:srgbClr val="FFFF00"/>
                </a:solidFill>
                <a:effectLst/>
                <a:latin typeface="Menlo"/>
              </a:rPr>
              <a:t>clear</a:t>
            </a:r>
            <a:r>
              <a:rPr lang="zh-CN" altLang="en-US" sz="1200" b="1" i="0" dirty="0">
                <a:solidFill>
                  <a:srgbClr val="FFFF00"/>
                </a:solidFill>
                <a:effectLst/>
                <a:latin typeface="Menlo"/>
              </a:rPr>
              <a:t>等</a:t>
            </a:r>
            <a:endParaRPr lang="zh-CN" altLang="en-US" sz="1200" b="1" dirty="0">
              <a:solidFill>
                <a:srgbClr val="FFFF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129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PLT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格式是一种</a:t>
            </a:r>
            <a:r>
              <a:rPr lang="zh-CN" altLang="en-US" b="1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向量图形格式</a:t>
            </a:r>
            <a:endParaRPr lang="en-US" altLang="zh-CN" b="0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178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657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1334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PLT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格式是一种</a:t>
            </a:r>
            <a:r>
              <a:rPr lang="zh-CN" altLang="en-US" b="1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向量图形格式</a:t>
            </a:r>
            <a:endParaRPr lang="en-US" altLang="zh-CN" b="0" i="0" dirty="0">
              <a:solidFill>
                <a:srgbClr val="C45400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8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8292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4033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009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rgbClr val="FF0000"/>
                </a:solidFill>
              </a:rPr>
              <a:t>Syslab</a:t>
            </a:r>
            <a:r>
              <a:rPr lang="zh-CN" altLang="en-US" sz="1200" dirty="0">
                <a:solidFill>
                  <a:srgbClr val="FF0000"/>
                </a:solidFill>
              </a:rPr>
              <a:t>自创建图扩展名.syslabfig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490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像素是在模拟图像数字化时对连续空间进行离散化得到的。每个像素具有整数行（高）和列（宽）位置坐标，同时每个像素都具有整数灰度值或颜色值。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251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TyImages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ax1=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plt_axes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拉伸曲线坐标区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读取铝和铝基复合材料的拉伸曲线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readtable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"nt1.xlsx"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(ax1,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1534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1534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 strain"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 stress, MPa"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"SiC_n/Al"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#Al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断口坐标区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ax2=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plt_axes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"Al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.jpg"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复合材料断口坐标区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ax3=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plt_axes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"Com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.jpg"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saveas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gcf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拉伸曲线和断口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图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.jpg"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2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B2925C6A-BDCB-414D-A0A9-7FB0AD1905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3583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单击此处编辑母版标题样式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2614651-DDB3-4C0A-BD61-AD6C1F7C88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352551"/>
            <a:ext cx="8229600" cy="2031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en-US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en-US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en-US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5CE8D21-5C1D-491A-8877-3C952709A6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05600" y="48363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8ABA973-6A2D-4F59-9937-EDB7F4325938}" type="slidenum">
              <a:rPr lang="zh-CN" altLang="en-US" smtClean="0"/>
              <a:pPr>
                <a:defRPr/>
              </a:pPr>
              <a:t>‹#›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080971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66" r:id="rId3"/>
    <p:sldLayoutId id="2147483676" r:id="rId4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&#25110;=@.f(1:2)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30.png"/><Relationship Id="rId4" Type="http://schemas.microsoft.com/office/2007/relationships/hdphoto" Target="../media/hdphoto6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32.png"/><Relationship Id="rId4" Type="http://schemas.microsoft.com/office/2007/relationships/hdphoto" Target="../media/hdphoto8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FormattingandAnnotation/AxesAppearance/figure.html#&#24403;&#21069;&#22270;&#31383;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2Dand3DPlots/LinePlots/plot.html#ax-&#30446;&#26631;&#22352;&#26631;&#21306;"/><Relationship Id="rId2" Type="http://schemas.openxmlformats.org/officeDocument/2006/relationships/hyperlink" Target="#/Doc/TyPlot/2Dand3DPlots/LinePlots/plot.html#y-y&#20540;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PrintingandSaving/saveas.html#fig-&#35201;&#20445;&#23384;&#30340;&#22270;&#31383;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#/Doc/TyPlot/PrintingandSaving/saveas.html#filename-&#25991;&#20214;&#21517;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#/Doc/TyImages/Images/imwrite.html"/><Relationship Id="rId3" Type="http://schemas.openxmlformats.org/officeDocument/2006/relationships/hyperlink" Target="#/Doc/TyImages/Images/imshow.html"/><Relationship Id="rId7" Type="http://schemas.openxmlformats.org/officeDocument/2006/relationships/hyperlink" Target="#/Doc/TyImages/Images/imresize.ht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Images/Images/imread.html"/><Relationship Id="rId5" Type="http://schemas.openxmlformats.org/officeDocument/2006/relationships/hyperlink" Target="#/Doc/TyImages/Images/imagesc.html"/><Relationship Id="rId10" Type="http://schemas.openxmlformats.org/officeDocument/2006/relationships/image" Target="../media/image42.png"/><Relationship Id="rId4" Type="http://schemas.openxmlformats.org/officeDocument/2006/relationships/hyperlink" Target="#/Doc/TyImages/Images/image.html"/><Relationship Id="rId9" Type="http://schemas.openxmlformats.org/officeDocument/2006/relationships/hyperlink" Target="#/Doc/TyImages/Images/imshow.html#filename-&#25991;&#20214;&#21517;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809D6C8D-F987-40C5-BB5E-7D72C63227C2}"/>
              </a:ext>
            </a:extLst>
          </p:cNvPr>
          <p:cNvSpPr txBox="1"/>
          <p:nvPr/>
        </p:nvSpPr>
        <p:spPr>
          <a:xfrm>
            <a:off x="4295976" y="762258"/>
            <a:ext cx="296817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函数库：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TyImages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B64EAD-B844-4002-B818-9A5F03F39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5" y="2211010"/>
            <a:ext cx="4066884" cy="22555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4F0717-CAE5-47B2-AE68-029263324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8946" y="757100"/>
            <a:ext cx="1791198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using TyImages 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552FA9E-4194-4C54-9A2E-9F5778375B5C}"/>
              </a:ext>
            </a:extLst>
          </p:cNvPr>
          <p:cNvSpPr txBox="1">
            <a:spLocks/>
          </p:cNvSpPr>
          <p:nvPr/>
        </p:nvSpPr>
        <p:spPr bwMode="auto">
          <a:xfrm>
            <a:off x="2094498" y="-28243"/>
            <a:ext cx="5544616" cy="8080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r>
              <a:rPr lang="zh-CN" altLang="en-US" sz="2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第三章科学计算可视化</a:t>
            </a:r>
            <a:r>
              <a:rPr lang="en-US" altLang="zh-CN" sz="2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02349C-5145-45DF-80EC-4DC8C54E52F7}"/>
              </a:ext>
            </a:extLst>
          </p:cNvPr>
          <p:cNvSpPr txBox="1"/>
          <p:nvPr/>
        </p:nvSpPr>
        <p:spPr>
          <a:xfrm>
            <a:off x="147722" y="1315809"/>
            <a:ext cx="8794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使用图形</a:t>
            </a:r>
            <a:r>
              <a:rPr lang="en-US" altLang="zh-CN" sz="1600" b="1" i="0" dirty="0" err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TyPlot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和图像函数库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TyImage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之前，需通过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using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来实现加载 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F890A7-62E7-4B09-BC14-449E5884EF37}"/>
              </a:ext>
            </a:extLst>
          </p:cNvPr>
          <p:cNvSpPr txBox="1"/>
          <p:nvPr/>
        </p:nvSpPr>
        <p:spPr>
          <a:xfrm>
            <a:off x="179512" y="759280"/>
            <a:ext cx="258005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图形函数库：</a:t>
            </a:r>
            <a:r>
              <a:rPr lang="en-US" altLang="zh-CN" b="1" i="0" dirty="0" err="1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TyPlot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90D60D9-9B9E-485F-9E3B-E45F33036E56}"/>
              </a:ext>
            </a:extLst>
          </p:cNvPr>
          <p:cNvSpPr txBox="1"/>
          <p:nvPr/>
        </p:nvSpPr>
        <p:spPr>
          <a:xfrm>
            <a:off x="2572765" y="790826"/>
            <a:ext cx="1495179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dirty="0">
                <a:highlight>
                  <a:srgbClr val="3399FF"/>
                </a:highlight>
              </a:rPr>
              <a:t>using TyPlot </a:t>
            </a:r>
            <a:endParaRPr lang="en-US" altLang="zh-CN" dirty="0">
              <a:highlight>
                <a:srgbClr val="3399FF"/>
              </a:highlight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83E34EF-C6D9-4C32-B85E-BEB82B3D5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3030362"/>
            <a:ext cx="2033213" cy="119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using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TyPlot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3B76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X,Y,Z = peaks(); contourf(Z) 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022DBD9-BE36-49D9-986E-80821C68CC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801" t="30038" r="29525" b="12201"/>
          <a:stretch/>
        </p:blipFill>
        <p:spPr>
          <a:xfrm>
            <a:off x="4788024" y="2211710"/>
            <a:ext cx="4072120" cy="22265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4577D262-86C1-4891-8823-D4BDB86B6E09}"/>
              </a:ext>
            </a:extLst>
          </p:cNvPr>
          <p:cNvSpPr txBox="1"/>
          <p:nvPr/>
        </p:nvSpPr>
        <p:spPr>
          <a:xfrm>
            <a:off x="6516216" y="3562378"/>
            <a:ext cx="2441498" cy="87588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zh-CN"/>
            </a:defPPr>
            <a:lvl1pPr eaLnBrk="0" hangingPunct="0">
              <a:lnSpc>
                <a:spcPct val="85000"/>
              </a:lnSpc>
              <a:defRPr sz="1800" b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eaLnBrk="0" hangingPunct="0">
              <a:lnSpc>
                <a:spcPct val="85000"/>
              </a:lnSpc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r>
              <a:rPr lang="zh-CN" altLang="en-US" sz="1200" dirty="0">
                <a:highlight>
                  <a:srgbClr val="003B76"/>
                </a:highlight>
              </a:rPr>
              <a:t>为了每次调用函数时不必使用</a:t>
            </a:r>
            <a:r>
              <a:rPr lang="en-US" altLang="zh-CN" sz="1200" dirty="0">
                <a:highlight>
                  <a:srgbClr val="003B76"/>
                </a:highlight>
              </a:rPr>
              <a:t>using</a:t>
            </a:r>
            <a:r>
              <a:rPr lang="zh-CN" altLang="en-US" sz="1200" dirty="0">
                <a:highlight>
                  <a:srgbClr val="003B76"/>
                </a:highlight>
              </a:rPr>
              <a:t>加载函数库，首次使用</a:t>
            </a:r>
            <a:r>
              <a:rPr lang="en-US" altLang="zh-CN" sz="1200" dirty="0" err="1">
                <a:highlight>
                  <a:srgbClr val="003B76"/>
                </a:highlight>
              </a:rPr>
              <a:t>syslab</a:t>
            </a:r>
            <a:r>
              <a:rPr lang="zh-CN" altLang="en-US" sz="1200" dirty="0">
                <a:highlight>
                  <a:srgbClr val="003B76"/>
                </a:highlight>
              </a:rPr>
              <a:t>需要在首选项中预加载要用的同元工具箱，</a:t>
            </a:r>
            <a:r>
              <a:rPr lang="zh-CN" altLang="en-US" sz="1200" dirty="0">
                <a:highlight>
                  <a:srgbClr val="3399FF"/>
                </a:highlight>
              </a:rPr>
              <a:t>每次打开</a:t>
            </a:r>
            <a:r>
              <a:rPr lang="en-US" altLang="zh-CN" sz="1200" dirty="0" err="1">
                <a:highlight>
                  <a:srgbClr val="3399FF"/>
                </a:highlight>
              </a:rPr>
              <a:t>syslab</a:t>
            </a:r>
            <a:r>
              <a:rPr lang="zh-CN" altLang="en-US" sz="1200" dirty="0">
                <a:highlight>
                  <a:srgbClr val="3399FF"/>
                </a:highlight>
              </a:rPr>
              <a:t>会自动加载选中函数库</a:t>
            </a:r>
            <a:r>
              <a:rPr lang="en-US" altLang="zh-CN" sz="1200" dirty="0">
                <a:highlight>
                  <a:srgbClr val="3399FF"/>
                </a:highlight>
              </a:rPr>
              <a:t>,</a:t>
            </a:r>
            <a:r>
              <a:rPr lang="zh-CN" altLang="en-US" sz="1200" dirty="0">
                <a:highlight>
                  <a:srgbClr val="3399FF"/>
                </a:highlight>
              </a:rPr>
              <a:t>不必再用</a:t>
            </a:r>
            <a:r>
              <a:rPr lang="en-US" altLang="zh-CN" sz="1200" dirty="0">
                <a:highlight>
                  <a:srgbClr val="3399FF"/>
                </a:highlight>
              </a:rPr>
              <a:t>using</a:t>
            </a:r>
            <a:endParaRPr lang="zh-CN" altLang="en-US" sz="1200" dirty="0">
              <a:highlight>
                <a:srgbClr val="3399FF"/>
              </a:highlight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91808A-EDA5-4F0F-B523-112BC287A2BF}"/>
              </a:ext>
            </a:extLst>
          </p:cNvPr>
          <p:cNvSpPr txBox="1"/>
          <p:nvPr/>
        </p:nvSpPr>
        <p:spPr>
          <a:xfrm>
            <a:off x="162952" y="1721441"/>
            <a:ext cx="87714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为了编程不必每次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using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加载函数库，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首选项中要预加载需要使用同元工具箱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58AD399-7EF8-4BC8-A8D2-CA742BA927B0}"/>
              </a:ext>
            </a:extLst>
          </p:cNvPr>
          <p:cNvSpPr/>
          <p:nvPr/>
        </p:nvSpPr>
        <p:spPr bwMode="auto">
          <a:xfrm>
            <a:off x="5357314" y="4055281"/>
            <a:ext cx="288032" cy="411231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88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7" grpId="0" animBg="1"/>
      <p:bldP spid="18" grpId="0"/>
      <p:bldP spid="23" grpId="0"/>
      <p:bldP spid="16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2" t="19791" r="37599" b="26612"/>
          <a:stretch/>
        </p:blipFill>
        <p:spPr bwMode="auto">
          <a:xfrm>
            <a:off x="153574" y="777337"/>
            <a:ext cx="8806061" cy="3631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13"/>
          <p:cNvSpPr/>
          <p:nvPr/>
        </p:nvSpPr>
        <p:spPr bwMode="auto">
          <a:xfrm>
            <a:off x="3863236" y="411510"/>
            <a:ext cx="5127190" cy="626598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numCol="1" anchor="ctr">
            <a:noAutofit/>
          </a:bodyPr>
          <a:lstStyle/>
          <a:p>
            <a:pPr marL="0" indent="0" algn="l" defTabSz="914400" eaLnBrk="0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b="0" cap="none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05983" y="495153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一种离散的试验数据可视化</a:t>
            </a: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EAC27060-94A7-053E-E0AB-6CBEB8A6CC12}"/>
              </a:ext>
            </a:extLst>
          </p:cNvPr>
          <p:cNvSpPr/>
          <p:nvPr/>
        </p:nvSpPr>
        <p:spPr>
          <a:xfrm>
            <a:off x="5652120" y="1391765"/>
            <a:ext cx="3024336" cy="31589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250"/>
              <a:gd name="adj6" fmla="val -57963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80112" y="4220615"/>
            <a:ext cx="3306472" cy="313932"/>
          </a:xfrm>
          <a:prstGeom prst="rect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哈工大百篇优秀本科论文奖</a:t>
            </a:r>
            <a:endParaRPr lang="en-US" altLang="zh-CN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5FD0E8-1DA1-4301-9870-82F712D01BC1}"/>
              </a:ext>
            </a:extLst>
          </p:cNvPr>
          <p:cNvSpPr txBox="1"/>
          <p:nvPr/>
        </p:nvSpPr>
        <p:spPr>
          <a:xfrm>
            <a:off x="824212" y="693738"/>
            <a:ext cx="2709788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的两种类型</a:t>
            </a:r>
            <a:endParaRPr lang="ko-KR" altLang="en-US" sz="2800" b="1" cap="none" dirty="0">
              <a:solidFill>
                <a:srgbClr val="0070C0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31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3206"/>
          <a:stretch/>
        </p:blipFill>
        <p:spPr bwMode="auto">
          <a:xfrm>
            <a:off x="215516" y="159470"/>
            <a:ext cx="8928484" cy="404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13"/>
          <p:cNvSpPr/>
          <p:nvPr/>
        </p:nvSpPr>
        <p:spPr bwMode="auto">
          <a:xfrm>
            <a:off x="5072659" y="1084909"/>
            <a:ext cx="4470255" cy="659998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numCol="1" anchor="ctr">
            <a:noAutofit/>
          </a:bodyPr>
          <a:lstStyle/>
          <a:p>
            <a:pPr marL="0" indent="0" algn="l" defTabSz="914400" eaLnBrk="0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800" b="0" cap="none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64829" y="1207297"/>
            <a:ext cx="35619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一种连续函数的可视化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915816" y="1131590"/>
            <a:ext cx="2156843" cy="6751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23527" y="4241348"/>
            <a:ext cx="8770393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离散数据和函数可视化，直观观察到数据内在特点，挖掘相应规律</a:t>
            </a:r>
          </a:p>
        </p:txBody>
      </p:sp>
    </p:spTree>
    <p:extLst>
      <p:ext uri="{BB962C8B-B14F-4D97-AF65-F5344CB8AC3E}">
        <p14:creationId xmlns:p14="http://schemas.microsoft.com/office/powerpoint/2010/main" val="328386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BC715-1B9B-41A2-A1AD-A78566F8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2025/3/18</a:t>
            </a:fld>
            <a:endParaRPr lang="zh-CN" altLang="en-US" sz="18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DFE4D27-4895-4581-9A2A-972709962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5" y="699541"/>
            <a:ext cx="1518888" cy="39354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2365542-62C2-45F1-8906-664E20BE5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514" y="699541"/>
            <a:ext cx="1364427" cy="392370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5FBF2A9-7EC1-4E37-851D-D65C24ABF0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494" y="699540"/>
            <a:ext cx="1518888" cy="391594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1D55C1B-F4D4-4ADA-9D01-060525807F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254" y="699541"/>
            <a:ext cx="1489787" cy="392915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9203B9D8-F312-4116-A240-DABBE71D7D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482" y="699541"/>
            <a:ext cx="1453171" cy="387806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A33C2D64-45EF-4249-BC8E-56E74DE8BD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950" y="699541"/>
            <a:ext cx="1453171" cy="392370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C29883B1-F1EF-4AFB-BDD0-1BC5B76927DA}"/>
              </a:ext>
            </a:extLst>
          </p:cNvPr>
          <p:cNvSpPr/>
          <p:nvPr/>
        </p:nvSpPr>
        <p:spPr>
          <a:xfrm>
            <a:off x="4708936" y="4253917"/>
            <a:ext cx="4334279" cy="369332"/>
          </a:xfrm>
          <a:prstGeom prst="rect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哈工大百篇优秀本科</a:t>
            </a:r>
            <a:r>
              <a:rPr lang="zh-CN" alt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论文奖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PPT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971983-1A3B-4F13-B014-266F5073C859}"/>
              </a:ext>
            </a:extLst>
          </p:cNvPr>
          <p:cNvSpPr/>
          <p:nvPr/>
        </p:nvSpPr>
        <p:spPr>
          <a:xfrm>
            <a:off x="3279532" y="3366877"/>
            <a:ext cx="4334279" cy="4247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marL="177800" lvl="0" indent="-177800">
              <a:lnSpc>
                <a:spcPct val="90000"/>
              </a:lnSpc>
            </a:pPr>
            <a:endParaRPr lang="en-US" altLang="zh-CN" sz="2400" dirty="0">
              <a:solidFill>
                <a:srgbClr val="FF0000"/>
              </a:solidFill>
              <a:highlight>
                <a:srgbClr val="FFFF00"/>
              </a:highlight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38" name="AutoShape 13">
            <a:extLst>
              <a:ext uri="{FF2B5EF4-FFF2-40B4-BE49-F238E27FC236}">
                <a16:creationId xmlns:a16="http://schemas.microsoft.com/office/drawing/2014/main" id="{0B64933F-C4AA-496B-AB29-6553A7B8BC2C}"/>
              </a:ext>
            </a:extLst>
          </p:cNvPr>
          <p:cNvSpPr/>
          <p:nvPr/>
        </p:nvSpPr>
        <p:spPr bwMode="auto">
          <a:xfrm>
            <a:off x="515385" y="2771147"/>
            <a:ext cx="5203271" cy="1152128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numCol="1" anchor="ctr">
            <a:noAutofit/>
          </a:bodyPr>
          <a:lstStyle/>
          <a:p>
            <a:pPr ea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>
              <a:solidFill>
                <a:srgbClr val="FFFF00"/>
              </a:solidFill>
              <a:ea typeface="Arial" panose="020B0604020202020204" pitchFamily="34" charset="0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 </a:t>
            </a:r>
            <a:endParaRPr lang="en-US" altLang="zh-CN" sz="2400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marL="0" indent="0" algn="l" defTabSz="914400" eaLnBrk="0" fontAlgn="base" latinLnBrk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dirty="0">
                <a:solidFill>
                  <a:srgbClr val="FFFF00"/>
                </a:solidFill>
                <a:ea typeface="Arial" panose="020B0604020202020204" pitchFamily="34" charset="0"/>
              </a:rPr>
              <a:t>，</a:t>
            </a:r>
            <a:endParaRPr lang="ko-KR" altLang="en-US" sz="1800" b="0" cap="none" dirty="0">
              <a:solidFill>
                <a:srgbClr val="FFFF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E07D9B-0340-4B06-9183-BE8505E77405}"/>
              </a:ext>
            </a:extLst>
          </p:cNvPr>
          <p:cNvSpPr/>
          <p:nvPr/>
        </p:nvSpPr>
        <p:spPr>
          <a:xfrm>
            <a:off x="39729" y="312496"/>
            <a:ext cx="9003486" cy="327892"/>
          </a:xfrm>
          <a:prstGeom prst="rect">
            <a:avLst/>
          </a:prstGeom>
          <a:solidFill>
            <a:srgbClr val="0070C0"/>
          </a:solidFill>
          <a:ln w="57150" cap="flat" cmpd="sng">
            <a:noFill/>
            <a:prstDash val="solid"/>
            <a:miter lim="800000"/>
          </a:ln>
        </p:spPr>
        <p:txBody>
          <a:bodyPr vert="horz" wrap="none" lIns="91440" tIns="45720" rIns="91440" bIns="45720" numCol="1" anchor="ctr">
            <a:no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FFFF00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图形图片比文字描述中具有更强大的视觉效果，能更好展示研究结果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图形质量重要 </a:t>
            </a:r>
          </a:p>
          <a:p>
            <a:pPr algn="dist" eaLnBrk="0"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002060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911DD5-4148-431D-AC6C-CAE2D5B31F08}"/>
              </a:ext>
            </a:extLst>
          </p:cNvPr>
          <p:cNvSpPr txBox="1"/>
          <p:nvPr/>
        </p:nvSpPr>
        <p:spPr>
          <a:xfrm>
            <a:off x="1619673" y="3024046"/>
            <a:ext cx="2808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掌握论文的图形格式规范，</a:t>
            </a:r>
            <a:endParaRPr lang="en-US" altLang="zh-CN" sz="1800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学会用图形讲好毕业故事</a:t>
            </a:r>
            <a:endParaRPr lang="en-US" altLang="zh-CN" sz="1800" dirty="0">
              <a:solidFill>
                <a:srgbClr val="FFFF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圆角矩形 3">
            <a:extLst>
              <a:ext uri="{FF2B5EF4-FFF2-40B4-BE49-F238E27FC236}">
                <a16:creationId xmlns:a16="http://schemas.microsoft.com/office/drawing/2014/main" id="{6D1938DB-D603-47D2-861A-7ED015DDD955}"/>
              </a:ext>
            </a:extLst>
          </p:cNvPr>
          <p:cNvSpPr/>
          <p:nvPr/>
        </p:nvSpPr>
        <p:spPr>
          <a:xfrm>
            <a:off x="377793" y="2324951"/>
            <a:ext cx="1123601" cy="6751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9444F6-7996-4242-8BF4-6EC5AB4E3F7A}"/>
              </a:ext>
            </a:extLst>
          </p:cNvPr>
          <p:cNvSpPr txBox="1"/>
          <p:nvPr/>
        </p:nvSpPr>
        <p:spPr>
          <a:xfrm>
            <a:off x="36005" y="2662506"/>
            <a:ext cx="791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目录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94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691" y="703350"/>
            <a:ext cx="8787208" cy="3921971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绘图特点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图形对象、图形属性、图形句柄、图窗、坐标区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B0F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§3.2 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图形标注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叠加图形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多子图和坐标轴设置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§3.3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二维曲线图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plot,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双纵坐标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误差条图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§3.4 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数据统计分析图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§3.5 </a:t>
            </a:r>
            <a:r>
              <a:rPr lang="zh-CN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数值和函数图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000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plot3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mesh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surf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函数图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B6102CC-427F-448F-957A-5A057D8DFF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6" t="13232" r="32741" b="20954"/>
          <a:stretch/>
        </p:blipFill>
        <p:spPr>
          <a:xfrm>
            <a:off x="6873971" y="3262093"/>
            <a:ext cx="1971928" cy="13632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05970A5-D36D-4D00-98F4-8D3791435B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1500" b="39500" l="57245" r="87136"/>
                    </a14:imgEffect>
                  </a14:imgLayer>
                </a14:imgProps>
              </a:ext>
            </a:extLst>
          </a:blip>
          <a:srcRect l="53508" t="8000" r="9128" b="57000"/>
          <a:stretch/>
        </p:blipFill>
        <p:spPr>
          <a:xfrm>
            <a:off x="6578702" y="-228243"/>
            <a:ext cx="2562466" cy="1800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591D4F-1767-486F-90C7-20515C7651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1592" t="20078" r="37436" b="41953"/>
          <a:stretch/>
        </p:blipFill>
        <p:spPr>
          <a:xfrm>
            <a:off x="6228185" y="998895"/>
            <a:ext cx="2732470" cy="188425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A99F6E-5854-40BB-8E69-A655369FBCE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238" t="10290" r="1326" b="5900"/>
          <a:stretch/>
        </p:blipFill>
        <p:spPr>
          <a:xfrm>
            <a:off x="4716016" y="2483946"/>
            <a:ext cx="1983284" cy="1311191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81331E9A-D037-4D9C-8732-6942A288A222}"/>
              </a:ext>
            </a:extLst>
          </p:cNvPr>
          <p:cNvSpPr txBox="1">
            <a:spLocks/>
          </p:cNvSpPr>
          <p:nvPr/>
        </p:nvSpPr>
        <p:spPr bwMode="auto">
          <a:xfrm>
            <a:off x="828620" y="-46285"/>
            <a:ext cx="5750082" cy="8080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第三章科学计算可视化</a:t>
            </a:r>
            <a:r>
              <a:rPr lang="en-US" altLang="zh-CN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</a:t>
            </a:r>
          </a:p>
        </p:txBody>
      </p:sp>
    </p:spTree>
    <p:extLst>
      <p:ext uri="{BB962C8B-B14F-4D97-AF65-F5344CB8AC3E}">
        <p14:creationId xmlns:p14="http://schemas.microsoft.com/office/powerpoint/2010/main" val="132754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838ED7E-2C3A-46A4-9E7C-E9B89FCC00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108" r="3374" b="5372"/>
          <a:stretch/>
        </p:blipFill>
        <p:spPr>
          <a:xfrm>
            <a:off x="154277" y="699542"/>
            <a:ext cx="8835446" cy="3937354"/>
          </a:xfrm>
          <a:prstGeom prst="rect">
            <a:avLst/>
          </a:prstGeom>
        </p:spPr>
      </p:pic>
      <p:sp>
        <p:nvSpPr>
          <p:cNvPr id="5" name="AutoShape 13">
            <a:extLst>
              <a:ext uri="{FF2B5EF4-FFF2-40B4-BE49-F238E27FC236}">
                <a16:creationId xmlns:a16="http://schemas.microsoft.com/office/drawing/2014/main" id="{1C87E02C-9A8C-4B49-A0C6-BEE0A323FD0D}"/>
              </a:ext>
            </a:extLst>
          </p:cNvPr>
          <p:cNvSpPr/>
          <p:nvPr/>
        </p:nvSpPr>
        <p:spPr bwMode="auto">
          <a:xfrm>
            <a:off x="6152016" y="3549821"/>
            <a:ext cx="936104" cy="659998"/>
          </a:xfrm>
          <a:prstGeom prst="irregularSeal2">
            <a:avLst/>
          </a:prstGeom>
          <a:solidFill>
            <a:srgbClr val="FF0000"/>
          </a:soli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numCol="1" anchor="ctr">
            <a:noAutofit/>
          </a:bodyPr>
          <a:lstStyle/>
          <a:p>
            <a:pPr marL="0" indent="0" algn="l" defTabSz="914400" eaLnBrk="0" fontAlgn="base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400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注意</a:t>
            </a:r>
            <a:endParaRPr lang="ko-KR" altLang="en-US" sz="1400" b="0" cap="none" dirty="0">
              <a:solidFill>
                <a:srgbClr val="FFFF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B27B14-EEA0-417F-85F3-EA129ACF29DF}"/>
              </a:ext>
            </a:extLst>
          </p:cNvPr>
          <p:cNvSpPr txBox="1"/>
          <p:nvPr/>
        </p:nvSpPr>
        <p:spPr>
          <a:xfrm>
            <a:off x="7020273" y="3723878"/>
            <a:ext cx="22250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对标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语言开发的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绘图函数，其函数语法几乎完全一样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E28999-0136-4198-93BC-A530D09DAA88}"/>
              </a:ext>
            </a:extLst>
          </p:cNvPr>
          <p:cNvSpPr txBox="1"/>
          <p:nvPr/>
        </p:nvSpPr>
        <p:spPr>
          <a:xfrm>
            <a:off x="2339752" y="4061686"/>
            <a:ext cx="2880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隶书" panose="02010509060101010101" charset="-122"/>
              </a:rPr>
              <a:t>MATLAB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隶书" panose="02010509060101010101" charset="-122"/>
              </a:rPr>
              <a:t>绘图函数汇总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297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>
            <a:extLst>
              <a:ext uri="{FF2B5EF4-FFF2-40B4-BE49-F238E27FC236}">
                <a16:creationId xmlns:a16="http://schemas.microsoft.com/office/drawing/2014/main" id="{F11B5836-951A-7950-93E7-2794AC2A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43" y="689104"/>
            <a:ext cx="8876419" cy="3189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ts val="3700"/>
              </a:lnSpc>
              <a:buNone/>
            </a:pPr>
            <a:r>
              <a:rPr lang="en-US" altLang="zh-CN" sz="2000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掌握图形对象、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句柄和属性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，坐标区，方便自定义高质量图形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7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图形标注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坐标轴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叠加图形和多子图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700"/>
              </a:lnSpc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学会常用二维绘图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plot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、对数图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双纵坐标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误差条的线图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3700"/>
              </a:lnSpc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学会统计分析图：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scatter,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条形图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bar,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area,</a:t>
            </a:r>
            <a:r>
              <a:rPr lang="zh-CN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pie</a:t>
            </a:r>
          </a:p>
          <a:p>
            <a:pPr marL="0" indent="0">
              <a:lnSpc>
                <a:spcPts val="3700"/>
              </a:lnSpc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学会三维图形：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三维曲线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plot3 ,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mesh ,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曲面图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surf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和等高线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</a:t>
            </a:r>
          </a:p>
          <a:p>
            <a:pPr marL="0" indent="0">
              <a:lnSpc>
                <a:spcPts val="3700"/>
              </a:lnSpc>
              <a:buNone/>
            </a:pP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掌握函数图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fplot,fplot3,fmesh,fsurf,fcontour</a:t>
            </a: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FC470992-1797-CD9A-3EAA-C1CE9AD4C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658" y="173098"/>
            <a:ext cx="2339102" cy="4801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sz="2800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本章学习目标</a:t>
            </a:r>
            <a:endParaRPr lang="en-US" altLang="zh-CN" sz="2800" kern="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08752C-BD2F-42CD-B012-15EBB3D9EFCA}"/>
              </a:ext>
            </a:extLst>
          </p:cNvPr>
          <p:cNvSpPr/>
          <p:nvPr/>
        </p:nvSpPr>
        <p:spPr>
          <a:xfrm>
            <a:off x="7257571" y="4147086"/>
            <a:ext cx="1737166" cy="3139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>
              <a:lnSpc>
                <a:spcPct val="9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函数命令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数据）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4C2BE2-C214-4C72-A17B-94CCB9C0C7EA}"/>
              </a:ext>
            </a:extLst>
          </p:cNvPr>
          <p:cNvSpPr/>
          <p:nvPr/>
        </p:nvSpPr>
        <p:spPr>
          <a:xfrm>
            <a:off x="2641377" y="208859"/>
            <a:ext cx="6353360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>
              <a:lnSpc>
                <a:spcPct val="9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图形句柄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绘图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函数命令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指定坐标区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axes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属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AE890E-4F1C-434B-A713-936E4F57D11D}"/>
              </a:ext>
            </a:extLst>
          </p:cNvPr>
          <p:cNvSpPr txBox="1"/>
          <p:nvPr/>
        </p:nvSpPr>
        <p:spPr>
          <a:xfrm>
            <a:off x="539552" y="4082008"/>
            <a:ext cx="6804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如默认属性能满足你对曲线图形要求，则函数命令可简化为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9CB5AE-BD39-41AD-BDD1-0DF4366B9B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r="4450" b="26668"/>
          <a:stretch/>
        </p:blipFill>
        <p:spPr>
          <a:xfrm>
            <a:off x="6804248" y="777956"/>
            <a:ext cx="2241966" cy="14933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B630D84-31CB-4000-A143-B889265D7B61}"/>
              </a:ext>
            </a:extLst>
          </p:cNvPr>
          <p:cNvSpPr txBox="1"/>
          <p:nvPr/>
        </p:nvSpPr>
        <p:spPr>
          <a:xfrm>
            <a:off x="7452320" y="1998915"/>
            <a:ext cx="1593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800" b="1" dirty="0">
                <a:solidFill>
                  <a:srgbClr val="FF0000"/>
                </a:solidFill>
              </a:rPr>
              <a:t>polarplot(q,r)</a:t>
            </a:r>
            <a:endParaRPr lang="it-IT" altLang="zh-CN" sz="1800" b="1" dirty="0">
              <a:solidFill>
                <a:srgbClr val="FF0000"/>
              </a:solidFill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A9491F57-D4AC-4451-9C59-E0E98DBD8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8033" y="3994078"/>
            <a:ext cx="2088233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默认属性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277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FAAAEAE-2B1F-49FD-8DF5-7D2690D7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71142"/>
            <a:ext cx="8145345" cy="442372"/>
          </a:xfrm>
        </p:spPr>
        <p:txBody>
          <a:bodyPr/>
          <a:lstStyle/>
          <a:p>
            <a:pPr algn="dist"/>
            <a:r>
              <a:rPr lang="en-US" altLang="zh-CN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</a:t>
            </a:r>
            <a:r>
              <a:rPr lang="en-US" altLang="zh-CN" sz="19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绘图需根据离散自变量</a:t>
            </a:r>
            <a:r>
              <a:rPr lang="en-US" altLang="zh-CN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逐元素</a:t>
            </a:r>
            <a:r>
              <a:rPr lang="zh-CN" altLang="en-US" sz="1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  <a:r>
              <a:rPr lang="zh-CN" altLang="en-US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计算因变量</a:t>
            </a:r>
            <a:r>
              <a:rPr lang="en-US" altLang="zh-CN" sz="19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19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6CC99A2-43C8-4AD0-89DF-67D49C863A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4527" r="9719" b="28321"/>
          <a:stretch/>
        </p:blipFill>
        <p:spPr>
          <a:xfrm>
            <a:off x="323529" y="2045112"/>
            <a:ext cx="2611526" cy="24708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D951A27-17C9-4793-8EB1-2DC539DD86A4}"/>
              </a:ext>
            </a:extLst>
          </p:cNvPr>
          <p:cNvSpPr txBox="1"/>
          <p:nvPr/>
        </p:nvSpPr>
        <p:spPr>
          <a:xfrm>
            <a:off x="221103" y="699680"/>
            <a:ext cx="8599368" cy="12311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spcAft>
                <a:spcPts val="0"/>
              </a:spcAft>
            </a:pPr>
            <a:r>
              <a:rPr lang="it-IT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绘制蝴蝶曲线</a:t>
            </a:r>
            <a:endParaRPr lang="it-IT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it-IT" altLang="zh-CN" b="1" dirty="0">
                <a:solidFill>
                  <a:srgbClr val="0070C0"/>
                </a:solidFill>
              </a:rPr>
              <a:t>q=0:pi/64:8*pi  </a:t>
            </a:r>
            <a:r>
              <a:rPr lang="it-IT" altLang="zh-CN" dirty="0">
                <a:solidFill>
                  <a:srgbClr val="00B0F0"/>
                </a:solidFill>
              </a:rPr>
              <a:t>#513</a:t>
            </a:r>
            <a:r>
              <a:rPr lang="zh-CN" altLang="en-US" dirty="0">
                <a:solidFill>
                  <a:srgbClr val="00B0F0"/>
                </a:solidFill>
              </a:rPr>
              <a:t>个</a:t>
            </a:r>
            <a:r>
              <a:rPr lang="en-US" altLang="zh-CN" dirty="0">
                <a:solidFill>
                  <a:srgbClr val="00B0F0"/>
                </a:solidFill>
              </a:rPr>
              <a:t>q</a:t>
            </a:r>
            <a:r>
              <a:rPr lang="zh-CN" altLang="en-US" dirty="0">
                <a:solidFill>
                  <a:srgbClr val="00B0F0"/>
                </a:solidFill>
              </a:rPr>
              <a:t>向量</a:t>
            </a:r>
            <a:endParaRPr lang="it-IT" altLang="zh-CN" dirty="0">
              <a:solidFill>
                <a:srgbClr val="00B0F0"/>
              </a:solidFill>
            </a:endParaRPr>
          </a:p>
          <a:p>
            <a:r>
              <a:rPr lang="es-ES" altLang="zh-CN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r=exp.(sin.(q)).-2cos.(4q).-(sin.((2q.-pi)/24)).^5  </a:t>
            </a:r>
          </a:p>
          <a:p>
            <a:r>
              <a:rPr lang="es-ES" altLang="zh-CN" b="1" dirty="0">
                <a:solidFill>
                  <a:srgbClr val="00B0F0"/>
                </a:solidFill>
              </a:rPr>
              <a:t>polarplot(q,r)</a:t>
            </a:r>
            <a:endParaRPr lang="it-IT" altLang="zh-CN" b="1" dirty="0">
              <a:solidFill>
                <a:srgbClr val="00B0F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742198-1B2A-4263-9577-8E413F5151B1}"/>
              </a:ext>
            </a:extLst>
          </p:cNvPr>
          <p:cNvSpPr txBox="1"/>
          <p:nvPr/>
        </p:nvSpPr>
        <p:spPr>
          <a:xfrm>
            <a:off x="2990493" y="1658363"/>
            <a:ext cx="4176464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绘制三维封闭环</a:t>
            </a:r>
            <a:endParaRPr lang="en-US" altLang="zh-CN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0070C0"/>
                </a:solidFill>
              </a:rPr>
              <a:t>w=</a:t>
            </a:r>
            <a:r>
              <a:rPr lang="en-US" altLang="zh-CN" b="1" dirty="0" err="1">
                <a:solidFill>
                  <a:srgbClr val="0070C0"/>
                </a:solidFill>
              </a:rPr>
              <a:t>LinRange</a:t>
            </a:r>
            <a:r>
              <a:rPr lang="en-US" altLang="zh-CN" b="1" dirty="0">
                <a:solidFill>
                  <a:srgbClr val="0070C0"/>
                </a:solidFill>
              </a:rPr>
              <a:t>(0,2*pi,200)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u,v</a:t>
            </a:r>
            <a:r>
              <a:rPr lang="en-US" altLang="zh-CN" b="1" kern="1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=meshgrid2(w);   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xx=@. (6+2cos(u))*cos(v);  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yy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=@. (6+2cos(u))*sin(v);      </a:t>
            </a:r>
          </a:p>
          <a:p>
            <a:pPr algn="just">
              <a:lnSpc>
                <a:spcPts val="26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zz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=@. 2sin(v);     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00B0F0"/>
                </a:solidFill>
              </a:rPr>
              <a:t>surf(</a:t>
            </a:r>
            <a:r>
              <a:rPr lang="en-US" altLang="zh-CN" b="1" dirty="0" err="1">
                <a:solidFill>
                  <a:srgbClr val="00B0F0"/>
                </a:solidFill>
              </a:rPr>
              <a:t>xx,yy,zz</a:t>
            </a:r>
            <a:r>
              <a:rPr lang="en-US" altLang="zh-CN" b="1" dirty="0">
                <a:solidFill>
                  <a:srgbClr val="00B0F0"/>
                </a:solidFill>
              </a:rPr>
              <a:t>); 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574EF0-EC2D-4004-98EB-3F3A43DA0F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r="15707"/>
          <a:stretch/>
        </p:blipFill>
        <p:spPr>
          <a:xfrm rot="6637420">
            <a:off x="5725981" y="731009"/>
            <a:ext cx="4156693" cy="2573166"/>
          </a:xfrm>
          <a:prstGeom prst="rect">
            <a:avLst/>
          </a:prstGeom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067525BD-7638-4A25-9733-8109DC96F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8" y="127794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C510F7-989D-47AF-AA34-45FDAE44B91B}"/>
              </a:ext>
            </a:extLst>
          </p:cNvPr>
          <p:cNvSpPr txBox="1"/>
          <p:nvPr/>
        </p:nvSpPr>
        <p:spPr>
          <a:xfrm rot="1936567">
            <a:off x="7093514" y="1772286"/>
            <a:ext cx="1059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向量和矩阵</a:t>
            </a:r>
            <a:endParaRPr lang="en-US" altLang="zh-CN" sz="2000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E24983-C692-48F6-9CA9-E6EBE64C9EC3}"/>
              </a:ext>
            </a:extLst>
          </p:cNvPr>
          <p:cNvSpPr txBox="1"/>
          <p:nvPr/>
        </p:nvSpPr>
        <p:spPr>
          <a:xfrm>
            <a:off x="3874402" y="4173399"/>
            <a:ext cx="522007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2000" b="1" dirty="0">
                <a:solidFill>
                  <a:srgbClr val="002060"/>
                </a:solidFill>
              </a:rPr>
              <a:t>因变量</a:t>
            </a:r>
            <a:r>
              <a:rPr lang="en-US" altLang="zh-CN" sz="2000" b="1" dirty="0">
                <a:solidFill>
                  <a:srgbClr val="002060"/>
                </a:solidFill>
              </a:rPr>
              <a:t>y=f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  <a:r>
              <a:rPr lang="en-US" altLang="zh-CN" sz="2000" b="1" dirty="0">
                <a:solidFill>
                  <a:srgbClr val="002060"/>
                </a:solidFill>
              </a:rPr>
              <a:t>(</a:t>
            </a:r>
            <a:r>
              <a:rPr lang="zh-CN" altLang="en-US" sz="2000" b="1" dirty="0">
                <a:solidFill>
                  <a:srgbClr val="002060"/>
                </a:solidFill>
              </a:rPr>
              <a:t>自变量</a:t>
            </a:r>
            <a:r>
              <a:rPr lang="en-US" altLang="zh-CN" sz="2000" b="1" dirty="0">
                <a:solidFill>
                  <a:srgbClr val="002060"/>
                </a:solidFill>
              </a:rPr>
              <a:t>x)= expression</a:t>
            </a:r>
            <a:r>
              <a:rPr lang="zh-CN" altLang="en-US" sz="2000" b="1" dirty="0">
                <a:solidFill>
                  <a:srgbClr val="002060"/>
                </a:solidFill>
              </a:rPr>
              <a:t>的点运算</a:t>
            </a: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602246F1-F331-4AC0-8C3E-980341A6C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017" y="4085469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EE50C3-A8D3-4E7C-842F-8354D51A5AEB}"/>
              </a:ext>
            </a:extLst>
          </p:cNvPr>
          <p:cNvSpPr txBox="1"/>
          <p:nvPr/>
        </p:nvSpPr>
        <p:spPr>
          <a:xfrm>
            <a:off x="3449033" y="727583"/>
            <a:ext cx="4338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向量和矩阵可视化常要逐元素点运算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5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1" grpId="0" animBg="1"/>
      <p:bldP spid="15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9BC6C5D9-F087-404C-A551-5A8B114FDC0E}"/>
              </a:ext>
            </a:extLst>
          </p:cNvPr>
          <p:cNvSpPr txBox="1"/>
          <p:nvPr/>
        </p:nvSpPr>
        <p:spPr>
          <a:xfrm>
            <a:off x="3275856" y="697640"/>
            <a:ext cx="579127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已知自变量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数组，根据表达式求因变量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A4ECD6-68CC-443E-80B1-EA933D7C8FB8}"/>
              </a:ext>
            </a:extLst>
          </p:cNvPr>
          <p:cNvSpPr txBox="1"/>
          <p:nvPr/>
        </p:nvSpPr>
        <p:spPr>
          <a:xfrm>
            <a:off x="0" y="1548169"/>
            <a:ext cx="90010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向量点运算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自变量为数组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向量或矩阵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针对数组每个元素逐点进行运算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11B555-F356-4A5E-B870-630DCE2A7BBE}"/>
              </a:ext>
            </a:extLst>
          </p:cNvPr>
          <p:cNvSpPr/>
          <p:nvPr/>
        </p:nvSpPr>
        <p:spPr>
          <a:xfrm>
            <a:off x="104234" y="745560"/>
            <a:ext cx="317162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dist"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因变量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y=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0" lang="ko-KR" altLang="en-US" sz="1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3BC0382F-DD4B-4395-98E2-C0397FED7E45}"/>
              </a:ext>
            </a:extLst>
          </p:cNvPr>
          <p:cNvSpPr txBox="1">
            <a:spLocks/>
          </p:cNvSpPr>
          <p:nvPr/>
        </p:nvSpPr>
        <p:spPr bwMode="auto">
          <a:xfrm>
            <a:off x="944146" y="70674"/>
            <a:ext cx="3636101" cy="5714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240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向量点运算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(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逐元素运算）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0A40BB4-F2DE-4971-BB4E-F40655CB34DF}"/>
              </a:ext>
            </a:extLst>
          </p:cNvPr>
          <p:cNvSpPr txBox="1"/>
          <p:nvPr/>
        </p:nvSpPr>
        <p:spPr>
          <a:xfrm>
            <a:off x="3933781" y="3363938"/>
            <a:ext cx="5133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s-ES" altLang="zh-CN" sz="1600" b="1" dirty="0">
                <a:solidFill>
                  <a:srgbClr val="00B0F0"/>
                </a:solidFill>
              </a:rPr>
              <a:t>exp(sin(q))-2cos(4q)-(sin((2q-pi)/24))^5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蝴蝶曲线</a:t>
            </a:r>
            <a:endParaRPr lang="es-E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波形 22">
            <a:extLst>
              <a:ext uri="{FF2B5EF4-FFF2-40B4-BE49-F238E27FC236}">
                <a16:creationId xmlns:a16="http://schemas.microsoft.com/office/drawing/2014/main" id="{EF711B0F-574D-473D-9E1F-926F600209D1}"/>
              </a:ext>
            </a:extLst>
          </p:cNvPr>
          <p:cNvSpPr/>
          <p:nvPr/>
        </p:nvSpPr>
        <p:spPr>
          <a:xfrm>
            <a:off x="153190" y="3486922"/>
            <a:ext cx="329639" cy="27560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68A114-5AF4-4030-B77A-8034F68F4177}"/>
              </a:ext>
            </a:extLst>
          </p:cNvPr>
          <p:cNvSpPr txBox="1"/>
          <p:nvPr/>
        </p:nvSpPr>
        <p:spPr>
          <a:xfrm>
            <a:off x="1690045" y="2557244"/>
            <a:ext cx="2003397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sz="1400" dirty="0">
                <a:sym typeface="Wingdings" panose="05000000000000000000" pitchFamily="2" charset="2"/>
              </a:rPr>
              <a:t>表达式中运算符要加点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68C3F4-2846-4EE7-A0F6-DA9E0926B2F3}"/>
              </a:ext>
            </a:extLst>
          </p:cNvPr>
          <p:cNvSpPr txBox="1"/>
          <p:nvPr/>
        </p:nvSpPr>
        <p:spPr>
          <a:xfrm>
            <a:off x="21567" y="2070583"/>
            <a:ext cx="4106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两种数组点运算方法计算因变量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9E39CF-6CB2-4DB9-86D4-74D392F68F42}"/>
              </a:ext>
            </a:extLst>
          </p:cNvPr>
          <p:cNvSpPr txBox="1"/>
          <p:nvPr/>
        </p:nvSpPr>
        <p:spPr>
          <a:xfrm>
            <a:off x="2482807" y="3029443"/>
            <a:ext cx="108108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400" dirty="0">
                <a:sym typeface="Wingdings" panose="05000000000000000000" pitchFamily="2" charset="2"/>
              </a:rPr>
              <a:t>@. </a:t>
            </a:r>
            <a:r>
              <a:rPr lang="zh-CN" altLang="en-US" sz="1400" dirty="0">
                <a:sym typeface="Wingdings" panose="05000000000000000000" pitchFamily="2" charset="2"/>
              </a:rPr>
              <a:t>表达式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A8A3FD-EB27-49A8-AF8D-FCB4442D1F87}"/>
              </a:ext>
            </a:extLst>
          </p:cNvPr>
          <p:cNvSpPr txBox="1"/>
          <p:nvPr/>
        </p:nvSpPr>
        <p:spPr>
          <a:xfrm>
            <a:off x="73320" y="2564866"/>
            <a:ext cx="2169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romanUcPeriod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用点运算符：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4332B86-57A1-4848-9087-79432DBFAEB4}"/>
              </a:ext>
            </a:extLst>
          </p:cNvPr>
          <p:cNvSpPr txBox="1"/>
          <p:nvPr/>
        </p:nvSpPr>
        <p:spPr>
          <a:xfrm>
            <a:off x="3991276" y="2458785"/>
            <a:ext cx="4608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.+, .-, .*, ./,.^,sin.(),cos.(),exp.(),log.() 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EE78840-2BD3-476C-9C86-63674A3EF79A}"/>
              </a:ext>
            </a:extLst>
          </p:cNvPr>
          <p:cNvSpPr txBox="1"/>
          <p:nvPr/>
        </p:nvSpPr>
        <p:spPr>
          <a:xfrm>
            <a:off x="83429" y="3013125"/>
            <a:ext cx="2514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2"/>
            </a:pP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”@.”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操作符：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8E27DF-0A95-4267-BC53-82F4B9AF6BAC}"/>
              </a:ext>
            </a:extLst>
          </p:cNvPr>
          <p:cNvSpPr txBox="1"/>
          <p:nvPr/>
        </p:nvSpPr>
        <p:spPr>
          <a:xfrm>
            <a:off x="3801798" y="2984780"/>
            <a:ext cx="493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表达式中运算符不用再加点，只用</a:t>
            </a:r>
            <a:r>
              <a:rPr lang="en-US" altLang="zh-CN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@. 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后加空格</a:t>
            </a:r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B9640985-F775-4D13-8801-0156EF4C2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67" y="1179665"/>
            <a:ext cx="2137065" cy="375809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altLang="zh-CN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8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创建线性向量 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561B9B-82BE-4220-829B-6EAF57D3BE5B}"/>
              </a:ext>
            </a:extLst>
          </p:cNvPr>
          <p:cNvSpPr/>
          <p:nvPr/>
        </p:nvSpPr>
        <p:spPr>
          <a:xfrm>
            <a:off x="3132130" y="1162887"/>
            <a:ext cx="26563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x1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起始值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,x2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终止值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,,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步长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06F2FD-7F55-4966-81C2-675678FC8F2E}"/>
              </a:ext>
            </a:extLst>
          </p:cNvPr>
          <p:cNvSpPr/>
          <p:nvPr/>
        </p:nvSpPr>
        <p:spPr>
          <a:xfrm>
            <a:off x="1948903" y="1179665"/>
            <a:ext cx="1205524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x1 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x2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8635A3-434A-4C5F-A2C9-4FDE9C45FEA4}"/>
              </a:ext>
            </a:extLst>
          </p:cNvPr>
          <p:cNvSpPr/>
          <p:nvPr/>
        </p:nvSpPr>
        <p:spPr>
          <a:xfrm>
            <a:off x="5704156" y="1155239"/>
            <a:ext cx="229563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=LinRange(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zh-CN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zh-CN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,n)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F16DD3-290A-4D2B-97D7-3FD5C6DEC1C4}"/>
              </a:ext>
            </a:extLst>
          </p:cNvPr>
          <p:cNvSpPr/>
          <p:nvPr/>
        </p:nvSpPr>
        <p:spPr>
          <a:xfrm>
            <a:off x="7999787" y="1155239"/>
            <a:ext cx="12867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元素个数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n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AutoShape 13">
            <a:extLst>
              <a:ext uri="{FF2B5EF4-FFF2-40B4-BE49-F238E27FC236}">
                <a16:creationId xmlns:a16="http://schemas.microsoft.com/office/drawing/2014/main" id="{AD5DEEBA-0A7E-4A48-A88C-61A3E1FB6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508" y="1891075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87A2D9-FD84-4D16-994F-D398839469E0}"/>
              </a:ext>
            </a:extLst>
          </p:cNvPr>
          <p:cNvSpPr txBox="1"/>
          <p:nvPr/>
        </p:nvSpPr>
        <p:spPr>
          <a:xfrm>
            <a:off x="4580247" y="2084431"/>
            <a:ext cx="3513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x=</a:t>
            </a:r>
            <a:r>
              <a:rPr lang="en-US" altLang="zh-CN" sz="1600" dirty="0">
                <a:solidFill>
                  <a:schemeClr val="bg1"/>
                </a:solidFill>
                <a:highlight>
                  <a:srgbClr val="FF0000"/>
                </a:highlight>
              </a:rPr>
              <a:t>[x1:h:x2] 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冒号等分向量不能加括号</a:t>
            </a:r>
          </a:p>
        </p:txBody>
      </p:sp>
      <p:sp>
        <p:nvSpPr>
          <p:cNvPr id="37" name="AutoShape 13">
            <a:extLst>
              <a:ext uri="{FF2B5EF4-FFF2-40B4-BE49-F238E27FC236}">
                <a16:creationId xmlns:a16="http://schemas.microsoft.com/office/drawing/2014/main" id="{6A7C3BAD-FD88-4F71-93B6-D8F881854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8" y="127794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C3DEC9B-27FD-4F23-B793-8F6004332368}"/>
              </a:ext>
            </a:extLst>
          </p:cNvPr>
          <p:cNvSpPr txBox="1"/>
          <p:nvPr/>
        </p:nvSpPr>
        <p:spPr>
          <a:xfrm>
            <a:off x="4867576" y="227424"/>
            <a:ext cx="386897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2000" dirty="0">
                <a:solidFill>
                  <a:srgbClr val="0070C0"/>
                </a:solidFill>
              </a:rPr>
              <a:t>因变量</a:t>
            </a:r>
            <a:r>
              <a:rPr lang="en-US" altLang="zh-CN" sz="2000" dirty="0">
                <a:solidFill>
                  <a:srgbClr val="0070C0"/>
                </a:solidFill>
              </a:rPr>
              <a:t>y=expression</a:t>
            </a:r>
            <a:r>
              <a:rPr lang="zh-CN" altLang="en-US" sz="2000" dirty="0">
                <a:solidFill>
                  <a:srgbClr val="0070C0"/>
                </a:solidFill>
              </a:rPr>
              <a:t>的点运算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99EEAB-8538-45F5-8A04-A1DF834BCFF6}"/>
              </a:ext>
            </a:extLst>
          </p:cNvPr>
          <p:cNvSpPr txBox="1"/>
          <p:nvPr/>
        </p:nvSpPr>
        <p:spPr>
          <a:xfrm>
            <a:off x="482829" y="3367997"/>
            <a:ext cx="668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#513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向量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(q))-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q)-(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#r=exp.(sin.(q)).-2cos.(4q).-(sin.((2q.-pi)/24)).^5 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polarplot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q,r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7CC0851A-40EB-44F6-9852-3F545F0598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4527" r="9719" b="28321"/>
          <a:stretch/>
        </p:blipFill>
        <p:spPr>
          <a:xfrm>
            <a:off x="7530570" y="3114532"/>
            <a:ext cx="1536562" cy="145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0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23" grpId="0" animBg="1"/>
      <p:bldP spid="25" grpId="0" animBg="1"/>
      <p:bldP spid="15" grpId="0"/>
      <p:bldP spid="17" grpId="0" animBg="1"/>
      <p:bldP spid="20" grpId="0"/>
      <p:bldP spid="24" grpId="0"/>
      <p:bldP spid="26" grpId="0"/>
      <p:bldP spid="27" grpId="0"/>
      <p:bldP spid="30" grpId="0" build="p" animBg="1"/>
      <p:bldP spid="31" grpId="0"/>
      <p:bldP spid="32" grpId="0" animBg="1"/>
      <p:bldP spid="33" grpId="0" animBg="1"/>
      <p:bldP spid="34" grpId="0"/>
      <p:bldP spid="35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0C643DF-EB3E-433A-8ED5-0B19D3DC1623}"/>
              </a:ext>
            </a:extLst>
          </p:cNvPr>
          <p:cNvSpPr txBox="1"/>
          <p:nvPr/>
        </p:nvSpPr>
        <p:spPr>
          <a:xfrm>
            <a:off x="0" y="2580287"/>
            <a:ext cx="2735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函数点调用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三种形式：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6DCC0B-7DE6-4A4B-A394-2FAC2F0E1572}"/>
              </a:ext>
            </a:extLst>
          </p:cNvPr>
          <p:cNvSpPr/>
          <p:nvPr/>
        </p:nvSpPr>
        <p:spPr>
          <a:xfrm>
            <a:off x="7068894" y="1446749"/>
            <a:ext cx="1956600" cy="352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f(x)=x.^2 .-log.(x)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075DD6-47DF-46D0-A344-4B0795A1E96C}"/>
              </a:ext>
            </a:extLst>
          </p:cNvPr>
          <p:cNvSpPr/>
          <p:nvPr/>
        </p:nvSpPr>
        <p:spPr>
          <a:xfrm>
            <a:off x="31948" y="1168362"/>
            <a:ext cx="25826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三种简化函数</a:t>
            </a:r>
            <a:r>
              <a:rPr lang="en-US" altLang="zh-CN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  <a:endParaRPr lang="zh-CN" altLang="en-US" sz="16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72523A-56A6-4C55-94A2-D210FC673CD0}"/>
              </a:ext>
            </a:extLst>
          </p:cNvPr>
          <p:cNvSpPr/>
          <p:nvPr/>
        </p:nvSpPr>
        <p:spPr>
          <a:xfrm>
            <a:off x="21067" y="1824062"/>
            <a:ext cx="21973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2"/>
            </a:pP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定义匿名函数</a:t>
            </a:r>
            <a:r>
              <a:rPr lang="en-US" altLang="zh-CN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1600" b="1" kern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A24A41-CF61-4423-8A69-EC2FD992E2B2}"/>
              </a:ext>
            </a:extLst>
          </p:cNvPr>
          <p:cNvSpPr txBox="1"/>
          <p:nvPr/>
        </p:nvSpPr>
        <p:spPr>
          <a:xfrm>
            <a:off x="2029336" y="1841217"/>
            <a:ext cx="1854586" cy="29238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1300" dirty="0"/>
              <a:t>f=(</a:t>
            </a:r>
            <a:r>
              <a:rPr lang="zh-CN" altLang="en-US" sz="1300" dirty="0"/>
              <a:t>自变量</a:t>
            </a:r>
            <a:r>
              <a:rPr lang="en-US" altLang="zh-CN" sz="1300" dirty="0"/>
              <a:t>x)-&gt;</a:t>
            </a:r>
            <a:r>
              <a:rPr lang="zh-CN" altLang="en-US" sz="1300" dirty="0"/>
              <a:t>表达式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938402-2BC7-40FE-B551-295F4817A06D}"/>
              </a:ext>
            </a:extLst>
          </p:cNvPr>
          <p:cNvSpPr txBox="1"/>
          <p:nvPr/>
        </p:nvSpPr>
        <p:spPr>
          <a:xfrm>
            <a:off x="3042281" y="3882832"/>
            <a:ext cx="3707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3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00B0F0"/>
                </a:solidFill>
              </a:rPr>
              <a:t>函数定义加点：</a:t>
            </a:r>
            <a:r>
              <a:rPr lang="es-ES" altLang="zh-CN" sz="1600" dirty="0">
                <a:solidFill>
                  <a:srgbClr val="00B0F0"/>
                </a:solidFill>
              </a:rPr>
              <a:t> </a:t>
            </a:r>
            <a:r>
              <a:rPr lang="en-US" altLang="zh-CN" sz="1600" dirty="0">
                <a:solidFill>
                  <a:srgbClr val="0070C0"/>
                </a:solidFill>
              </a:rPr>
              <a:t>f</a:t>
            </a:r>
            <a:r>
              <a:rPr lang="es-ES" altLang="zh-CN" sz="1600" dirty="0">
                <a:solidFill>
                  <a:srgbClr val="0070C0"/>
                </a:solidFill>
              </a:rPr>
              <a:t>(</a:t>
            </a:r>
            <a:r>
              <a:rPr lang="en-US" altLang="zh-CN" sz="1600" dirty="0">
                <a:solidFill>
                  <a:srgbClr val="0070C0"/>
                </a:solidFill>
              </a:rPr>
              <a:t>x)</a:t>
            </a:r>
            <a:r>
              <a:rPr lang="es-ES" altLang="zh-CN" sz="1600" dirty="0">
                <a:solidFill>
                  <a:srgbClr val="0070C0"/>
                </a:solidFill>
              </a:rPr>
              <a:t>=</a:t>
            </a:r>
            <a:r>
              <a:rPr lang="es-ES" altLang="zh-CN" dirty="0">
                <a:solidFill>
                  <a:srgbClr val="FF0000"/>
                </a:solidFill>
                <a:latin typeface="Arial" charset="0"/>
                <a:ea typeface="宋体" charset="-122"/>
              </a:rPr>
              <a:t>@. </a:t>
            </a:r>
            <a:r>
              <a:rPr lang="es-ES" altLang="zh-CN" sz="1600" dirty="0">
                <a:solidFill>
                  <a:srgbClr val="0070C0"/>
                </a:solidFill>
              </a:rPr>
              <a:t>x^</a:t>
            </a:r>
            <a:r>
              <a:rPr lang="en-US" altLang="zh-CN" sz="1600" dirty="0">
                <a:solidFill>
                  <a:srgbClr val="0070C0"/>
                </a:solidFill>
              </a:rPr>
              <a:t>2-log(x)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6A814E-FD72-427C-80D4-5BE8B713226D}"/>
              </a:ext>
            </a:extLst>
          </p:cNvPr>
          <p:cNvSpPr txBox="1"/>
          <p:nvPr/>
        </p:nvSpPr>
        <p:spPr>
          <a:xfrm>
            <a:off x="2231844" y="1153709"/>
            <a:ext cx="1873391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>
              <a:buFont typeface="+mj-ea"/>
              <a:buAutoNum type="circleNumDbPlain"/>
            </a:pPr>
            <a:r>
              <a:rPr lang="en-US" altLang="zh-CN" dirty="0"/>
              <a:t>f(</a:t>
            </a:r>
            <a:r>
              <a:rPr lang="zh-CN" altLang="en-US" dirty="0"/>
              <a:t>自变量</a:t>
            </a:r>
            <a:r>
              <a:rPr lang="en-US" altLang="zh-CN" dirty="0"/>
              <a:t>x)=</a:t>
            </a:r>
            <a:r>
              <a:rPr lang="zh-CN" altLang="en-US" dirty="0"/>
              <a:t>表达式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DE1050D-C8F8-4846-B9D6-FBF6F12D0906}"/>
              </a:ext>
            </a:extLst>
          </p:cNvPr>
          <p:cNvSpPr txBox="1"/>
          <p:nvPr/>
        </p:nvSpPr>
        <p:spPr>
          <a:xfrm>
            <a:off x="-18853" y="729109"/>
            <a:ext cx="486269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1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定义函数三种方式：加不加点都行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309E4D5-0515-490C-AB85-C528B3FB0917}"/>
              </a:ext>
            </a:extLst>
          </p:cNvPr>
          <p:cNvSpPr txBox="1"/>
          <p:nvPr/>
        </p:nvSpPr>
        <p:spPr>
          <a:xfrm>
            <a:off x="4629977" y="700379"/>
            <a:ext cx="44302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y=f(x)=x^2-log(x)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函数形式，求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x=1:2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es-E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波形 34">
            <a:extLst>
              <a:ext uri="{FF2B5EF4-FFF2-40B4-BE49-F238E27FC236}">
                <a16:creationId xmlns:a16="http://schemas.microsoft.com/office/drawing/2014/main" id="{47701082-753B-4AB9-8CDF-AF012C959805}"/>
              </a:ext>
            </a:extLst>
          </p:cNvPr>
          <p:cNvSpPr/>
          <p:nvPr/>
        </p:nvSpPr>
        <p:spPr>
          <a:xfrm>
            <a:off x="4191221" y="728953"/>
            <a:ext cx="329639" cy="275605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286A48-3DB6-4BFF-8D6A-0A33BCAD2E80}"/>
              </a:ext>
            </a:extLst>
          </p:cNvPr>
          <p:cNvSpPr txBox="1"/>
          <p:nvPr/>
        </p:nvSpPr>
        <p:spPr>
          <a:xfrm>
            <a:off x="4297876" y="1131623"/>
            <a:ext cx="2210778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>
              <a:buFont typeface="+mj-ea"/>
              <a:buAutoNum type="circleNumDbPlain" startAt="2"/>
            </a:pPr>
            <a:r>
              <a:rPr lang="en-US" altLang="zh-CN" dirty="0"/>
              <a:t> f(</a:t>
            </a:r>
            <a:r>
              <a:rPr lang="zh-CN" altLang="en-US" dirty="0"/>
              <a:t>自变量</a:t>
            </a:r>
            <a:r>
              <a:rPr lang="en-US" altLang="zh-CN" dirty="0"/>
              <a:t>x)=</a:t>
            </a:r>
            <a:r>
              <a:rPr lang="en-US" altLang="zh-CN" dirty="0">
                <a:highlight>
                  <a:srgbClr val="FF0000"/>
                </a:highlight>
              </a:rPr>
              <a:t>@. </a:t>
            </a:r>
            <a:r>
              <a:rPr lang="zh-CN" altLang="en-US" dirty="0"/>
              <a:t>表达式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F19E4D0-12DA-4EFF-BA71-D05623B3557B}"/>
              </a:ext>
            </a:extLst>
          </p:cNvPr>
          <p:cNvSpPr txBox="1"/>
          <p:nvPr/>
        </p:nvSpPr>
        <p:spPr>
          <a:xfrm>
            <a:off x="4292206" y="1839097"/>
            <a:ext cx="2101091" cy="29238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1300" dirty="0"/>
              <a:t>f=</a:t>
            </a:r>
            <a:r>
              <a:rPr lang="en-US" altLang="zh-CN" sz="1300" dirty="0">
                <a:highlight>
                  <a:srgbClr val="FF0000"/>
                </a:highlight>
              </a:rPr>
              <a:t>@. </a:t>
            </a:r>
            <a:r>
              <a:rPr lang="en-US" altLang="zh-CN" sz="1300" dirty="0"/>
              <a:t> (</a:t>
            </a:r>
            <a:r>
              <a:rPr lang="zh-CN" altLang="en-US" sz="1300" dirty="0"/>
              <a:t>自变量</a:t>
            </a:r>
            <a:r>
              <a:rPr lang="en-US" altLang="zh-CN" sz="1300" dirty="0"/>
              <a:t>x)-&gt;</a:t>
            </a:r>
            <a:r>
              <a:rPr lang="zh-CN" altLang="en-US" sz="1300" dirty="0"/>
              <a:t>表达式 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9765AB7-0F64-4CD6-849E-7344DAEF1CD4}"/>
              </a:ext>
            </a:extLst>
          </p:cNvPr>
          <p:cNvSpPr txBox="1"/>
          <p:nvPr/>
        </p:nvSpPr>
        <p:spPr>
          <a:xfrm>
            <a:off x="6701295" y="1109992"/>
            <a:ext cx="235898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algn="dist">
              <a:defRPr sz="1400" b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l">
              <a:buFont typeface="+mj-ea"/>
              <a:buAutoNum type="circleNumDbPlain" startAt="3"/>
            </a:pPr>
            <a:r>
              <a:rPr lang="en-US" altLang="zh-CN" dirty="0"/>
              <a:t>f(</a:t>
            </a:r>
            <a:r>
              <a:rPr lang="zh-CN" altLang="en-US" dirty="0"/>
              <a:t>自变量</a:t>
            </a:r>
            <a:r>
              <a:rPr lang="en-US" altLang="zh-CN" dirty="0"/>
              <a:t>x)=</a:t>
            </a:r>
            <a:r>
              <a:rPr lang="zh-CN" altLang="en-US" dirty="0"/>
              <a:t>运算符都加点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661BCA7-F0E2-4D33-A430-BC519EE647B0}"/>
              </a:ext>
            </a:extLst>
          </p:cNvPr>
          <p:cNvSpPr txBox="1"/>
          <p:nvPr/>
        </p:nvSpPr>
        <p:spPr>
          <a:xfrm>
            <a:off x="6840604" y="1826596"/>
            <a:ext cx="2268766" cy="29238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300"/>
              <a:t>f</a:t>
            </a:r>
            <a:r>
              <a:rPr lang="en-US" altLang="zh-CN" sz="1300" dirty="0"/>
              <a:t> </a:t>
            </a:r>
            <a:r>
              <a:rPr lang="en-US" altLang="zh-CN" sz="1300"/>
              <a:t>=(</a:t>
            </a:r>
            <a:r>
              <a:rPr lang="zh-CN" altLang="en-US" sz="1300"/>
              <a:t>自变量</a:t>
            </a:r>
            <a:r>
              <a:rPr lang="en-US" altLang="zh-CN" sz="1300" dirty="0"/>
              <a:t>x)-&gt;</a:t>
            </a:r>
            <a:r>
              <a:rPr lang="zh-CN" altLang="en-US" sz="1300" dirty="0"/>
              <a:t>表达式都加点 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D5AB551-29CE-4425-8518-E765A9C5D52B}"/>
              </a:ext>
            </a:extLst>
          </p:cNvPr>
          <p:cNvSpPr txBox="1"/>
          <p:nvPr/>
        </p:nvSpPr>
        <p:spPr>
          <a:xfrm>
            <a:off x="6902884" y="2167188"/>
            <a:ext cx="23304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f=x-&gt; x.^2 .-log.(x) </a:t>
            </a:r>
            <a:endParaRPr lang="zh-CN" altLang="en-US" sz="16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63E80D-79DD-4171-A4F1-FF6C0AA1ADC2}"/>
              </a:ext>
            </a:extLst>
          </p:cNvPr>
          <p:cNvSpPr txBox="1"/>
          <p:nvPr/>
        </p:nvSpPr>
        <p:spPr>
          <a:xfrm>
            <a:off x="2322698" y="1438836"/>
            <a:ext cx="1990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</a:rPr>
              <a:t>f(x)=x^2-log(x</a:t>
            </a:r>
            <a:r>
              <a:rPr lang="zh-CN" altLang="en-US" sz="1800" b="1" dirty="0">
                <a:solidFill>
                  <a:srgbClr val="0070C0"/>
                </a:solidFill>
              </a:rPr>
              <a:t>） 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74877BC-28C4-454C-8BDF-F7842E831157}"/>
              </a:ext>
            </a:extLst>
          </p:cNvPr>
          <p:cNvSpPr txBox="1"/>
          <p:nvPr/>
        </p:nvSpPr>
        <p:spPr>
          <a:xfrm>
            <a:off x="2044229" y="2152703"/>
            <a:ext cx="210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</a:rPr>
              <a:t>f=x-&gt; x^2-log(x)) 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9987BA7-EEC9-4CD6-9C5E-C05F0B908AEF}"/>
              </a:ext>
            </a:extLst>
          </p:cNvPr>
          <p:cNvSpPr txBox="1"/>
          <p:nvPr/>
        </p:nvSpPr>
        <p:spPr>
          <a:xfrm>
            <a:off x="4133281" y="2179621"/>
            <a:ext cx="24122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3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</a:rPr>
              <a:t>f</a:t>
            </a:r>
            <a:r>
              <a:rPr lang="es-ES" altLang="zh-CN" sz="1600" dirty="0">
                <a:solidFill>
                  <a:srgbClr val="0070C0"/>
                </a:solidFill>
              </a:rPr>
              <a:t>=@. (</a:t>
            </a:r>
            <a:r>
              <a:rPr lang="en-US" altLang="zh-CN" sz="1600" dirty="0">
                <a:solidFill>
                  <a:srgbClr val="0070C0"/>
                </a:solidFill>
              </a:rPr>
              <a:t>x)-&gt;</a:t>
            </a:r>
            <a:r>
              <a:rPr lang="es-ES" altLang="zh-CN" sz="1600" dirty="0">
                <a:solidFill>
                  <a:srgbClr val="0070C0"/>
                </a:solidFill>
              </a:rPr>
              <a:t>x^</a:t>
            </a:r>
            <a:r>
              <a:rPr lang="en-US" altLang="zh-CN" sz="1600" dirty="0">
                <a:solidFill>
                  <a:srgbClr val="0070C0"/>
                </a:solidFill>
              </a:rPr>
              <a:t>2-log(x)</a:t>
            </a:r>
            <a:r>
              <a:rPr lang="es-ES" altLang="zh-CN" sz="1600" dirty="0">
                <a:solidFill>
                  <a:srgbClr val="0070C0"/>
                </a:solidFill>
              </a:rPr>
              <a:t>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BBD9CE-B47F-478C-9246-6A6D6649CF5C}"/>
              </a:ext>
            </a:extLst>
          </p:cNvPr>
          <p:cNvSpPr txBox="1"/>
          <p:nvPr/>
        </p:nvSpPr>
        <p:spPr>
          <a:xfrm>
            <a:off x="-14128" y="3479936"/>
            <a:ext cx="3341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定义或调用时有一个点运算</a:t>
            </a:r>
            <a:r>
              <a:rPr lang="zh-CN" altLang="en-US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28DF234-C2FC-4722-B604-27ADF5A7CDCF}"/>
              </a:ext>
            </a:extLst>
          </p:cNvPr>
          <p:cNvSpPr/>
          <p:nvPr/>
        </p:nvSpPr>
        <p:spPr>
          <a:xfrm>
            <a:off x="561232" y="3049232"/>
            <a:ext cx="2350173" cy="29238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300" dirty="0"/>
              <a:t>输出参数</a:t>
            </a:r>
            <a:r>
              <a:rPr lang="en-US" altLang="zh-CN" sz="1300" dirty="0"/>
              <a:t>y=</a:t>
            </a:r>
            <a:r>
              <a:rPr lang="en-US" altLang="ko-KR" sz="1300" dirty="0" err="1"/>
              <a:t>函数名</a:t>
            </a:r>
            <a:r>
              <a:rPr lang="en-US" altLang="ko-KR" sz="1300" dirty="0"/>
              <a:t>(</a:t>
            </a:r>
            <a:r>
              <a:rPr lang="en-US" altLang="ko-KR" sz="1300" dirty="0" err="1"/>
              <a:t>输入</a:t>
            </a:r>
            <a:r>
              <a:rPr lang="zh-CN" altLang="en-US" sz="1300" dirty="0"/>
              <a:t>参数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81DA3C8-F19D-4F37-8FA8-70447BBD244C}"/>
              </a:ext>
            </a:extLst>
          </p:cNvPr>
          <p:cNvSpPr/>
          <p:nvPr/>
        </p:nvSpPr>
        <p:spPr>
          <a:xfrm>
            <a:off x="3543976" y="3027467"/>
            <a:ext cx="2331866" cy="29238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300" dirty="0"/>
              <a:t>输出参数</a:t>
            </a:r>
            <a:r>
              <a:rPr lang="en-US" altLang="zh-CN" sz="1300" dirty="0"/>
              <a:t>y=</a:t>
            </a:r>
            <a:r>
              <a:rPr lang="en-US" altLang="ko-KR" sz="1300" dirty="0" err="1"/>
              <a:t>函数名</a:t>
            </a:r>
            <a:r>
              <a:rPr lang="en-US" altLang="ko-KR" sz="1300" dirty="0"/>
              <a:t>.(</a:t>
            </a:r>
            <a:r>
              <a:rPr lang="en-US" altLang="ko-KR" sz="1300" dirty="0" err="1"/>
              <a:t>输入</a:t>
            </a:r>
            <a:r>
              <a:rPr lang="zh-CN" altLang="en-US" sz="1300" dirty="0"/>
              <a:t>参数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064F97B-37C2-423D-9FA1-7C3FE21BB591}"/>
              </a:ext>
            </a:extLst>
          </p:cNvPr>
          <p:cNvSpPr txBox="1"/>
          <p:nvPr/>
        </p:nvSpPr>
        <p:spPr>
          <a:xfrm>
            <a:off x="4843847" y="2812163"/>
            <a:ext cx="290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FFFF00"/>
                </a:solidFill>
              </a:rPr>
              <a:t>. 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81AC675-2FA6-4DBB-B9BF-E7FEEAF77433}"/>
              </a:ext>
            </a:extLst>
          </p:cNvPr>
          <p:cNvSpPr/>
          <p:nvPr/>
        </p:nvSpPr>
        <p:spPr>
          <a:xfrm>
            <a:off x="6555359" y="3003798"/>
            <a:ext cx="2588641" cy="29238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300" dirty="0"/>
              <a:t>输出参数</a:t>
            </a:r>
            <a:r>
              <a:rPr lang="en-US" altLang="zh-CN" sz="1300" dirty="0"/>
              <a:t>y=@  </a:t>
            </a:r>
            <a:r>
              <a:rPr lang="en-US" altLang="ko-KR" sz="1300" dirty="0" err="1"/>
              <a:t>函数名</a:t>
            </a:r>
            <a:r>
              <a:rPr lang="en-US" altLang="ko-KR" sz="1300" dirty="0"/>
              <a:t>(</a:t>
            </a:r>
            <a:r>
              <a:rPr lang="en-US" altLang="ko-KR" sz="1300" dirty="0" err="1"/>
              <a:t>输入</a:t>
            </a:r>
            <a:r>
              <a:rPr lang="zh-CN" altLang="en-US" sz="1300" dirty="0"/>
              <a:t>参数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878C942-8E35-4488-9C25-2BE3CD93D53D}"/>
              </a:ext>
            </a:extLst>
          </p:cNvPr>
          <p:cNvSpPr txBox="1"/>
          <p:nvPr/>
        </p:nvSpPr>
        <p:spPr>
          <a:xfrm>
            <a:off x="7519310" y="2812163"/>
            <a:ext cx="349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</a:rPr>
              <a:t>.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442E5EA-C699-47B2-9869-FE02A46CC1CE}"/>
              </a:ext>
            </a:extLst>
          </p:cNvPr>
          <p:cNvSpPr txBox="1"/>
          <p:nvPr/>
        </p:nvSpPr>
        <p:spPr>
          <a:xfrm>
            <a:off x="-50190" y="3049232"/>
            <a:ext cx="781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ea"/>
              <a:buAutoNum type="circleNumDbPlain"/>
            </a:pPr>
            <a:r>
              <a:rPr lang="zh-CN" altLang="en-US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无点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46FF996-0D7B-4C2F-AE89-41AE45B5A337}"/>
              </a:ext>
            </a:extLst>
          </p:cNvPr>
          <p:cNvSpPr txBox="1"/>
          <p:nvPr/>
        </p:nvSpPr>
        <p:spPr>
          <a:xfrm>
            <a:off x="2865207" y="3019772"/>
            <a:ext cx="1093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ea"/>
              <a:buAutoNum type="circleNumDbPlain" startAt="2"/>
            </a:pPr>
            <a:r>
              <a:rPr lang="zh-CN" altLang="en-US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加点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D4F7E01-60B9-42D5-9D30-D4D61E8938BB}"/>
              </a:ext>
            </a:extLst>
          </p:cNvPr>
          <p:cNvSpPr txBox="1"/>
          <p:nvPr/>
        </p:nvSpPr>
        <p:spPr>
          <a:xfrm>
            <a:off x="5875842" y="3006525"/>
            <a:ext cx="12429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ea"/>
              <a:buAutoNum type="circleNumDbPlain" startAt="3"/>
            </a:pPr>
            <a:r>
              <a:rPr lang="zh-CN" altLang="en-US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1E0B721-20CA-41AD-A155-61D92E7ECA66}"/>
              </a:ext>
            </a:extLst>
          </p:cNvPr>
          <p:cNvSpPr txBox="1"/>
          <p:nvPr/>
        </p:nvSpPr>
        <p:spPr>
          <a:xfrm>
            <a:off x="3275856" y="3451798"/>
            <a:ext cx="271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定义无点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800" b="1" dirty="0">
                <a:solidFill>
                  <a:srgbClr val="0070C0"/>
                </a:solidFill>
              </a:rPr>
              <a:t>f(x)=x^2-log(x</a:t>
            </a:r>
            <a:r>
              <a:rPr lang="zh-CN" altLang="en-US" sz="1800" b="1" dirty="0">
                <a:solidFill>
                  <a:srgbClr val="0070C0"/>
                </a:solidFill>
              </a:rPr>
              <a:t>） 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0B088A9-DCA9-4EE6-AC17-6716CDD6F0D3}"/>
              </a:ext>
            </a:extLst>
          </p:cNvPr>
          <p:cNvSpPr txBox="1"/>
          <p:nvPr/>
        </p:nvSpPr>
        <p:spPr>
          <a:xfrm>
            <a:off x="5894268" y="3435846"/>
            <a:ext cx="3341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调用加点：</a:t>
            </a:r>
            <a:r>
              <a:rPr lang="en-US" altLang="zh-CN" b="1" dirty="0">
                <a:solidFill>
                  <a:srgbClr val="00B0F0"/>
                </a:solidFill>
              </a:rPr>
              <a:t>y=f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00B0F0"/>
                </a:solidFill>
              </a:rPr>
              <a:t>(1:2) </a:t>
            </a:r>
            <a:r>
              <a:rPr lang="zh-CN" altLang="en-US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或</a:t>
            </a:r>
            <a:r>
              <a:rPr lang="en-US" altLang="zh-CN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=@</a:t>
            </a:r>
            <a:r>
              <a:rPr lang="en-US" altLang="zh-CN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altLang="zh-CN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f(1:2)</a:t>
            </a:r>
            <a:r>
              <a:rPr lang="en-US" altLang="zh-CN" b="1" dirty="0">
                <a:solidFill>
                  <a:srgbClr val="00B0F0"/>
                </a:solidFill>
              </a:rPr>
              <a:t> 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B28C062-83DB-4C18-94E5-5DB0441B05FE}"/>
              </a:ext>
            </a:extLst>
          </p:cNvPr>
          <p:cNvSpPr txBox="1"/>
          <p:nvPr/>
        </p:nvSpPr>
        <p:spPr>
          <a:xfrm>
            <a:off x="4404161" y="1482587"/>
            <a:ext cx="2210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3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600" dirty="0">
                <a:solidFill>
                  <a:srgbClr val="0070C0"/>
                </a:solidFill>
              </a:rPr>
              <a:t>f</a:t>
            </a:r>
            <a:r>
              <a:rPr lang="es-ES" altLang="zh-CN" sz="1600" dirty="0">
                <a:solidFill>
                  <a:srgbClr val="0070C0"/>
                </a:solidFill>
              </a:rPr>
              <a:t>(</a:t>
            </a:r>
            <a:r>
              <a:rPr lang="en-US" altLang="zh-CN" sz="1600" dirty="0">
                <a:solidFill>
                  <a:srgbClr val="0070C0"/>
                </a:solidFill>
              </a:rPr>
              <a:t>x)</a:t>
            </a:r>
            <a:r>
              <a:rPr lang="es-ES" altLang="zh-CN" sz="1600" dirty="0">
                <a:solidFill>
                  <a:srgbClr val="0070C0"/>
                </a:solidFill>
              </a:rPr>
              <a:t>=@. x^</a:t>
            </a:r>
            <a:r>
              <a:rPr lang="en-US" altLang="zh-CN" sz="1600" dirty="0">
                <a:solidFill>
                  <a:srgbClr val="0070C0"/>
                </a:solidFill>
              </a:rPr>
              <a:t>2-log(x)</a:t>
            </a:r>
            <a:r>
              <a:rPr lang="es-ES" altLang="zh-CN" sz="1600" dirty="0">
                <a:solidFill>
                  <a:srgbClr val="0070C0"/>
                </a:solidFill>
              </a:rPr>
              <a:t>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68B719B-FAB7-4A8C-81E0-7F58096E5485}"/>
              </a:ext>
            </a:extLst>
          </p:cNvPr>
          <p:cNvSpPr txBox="1"/>
          <p:nvPr/>
        </p:nvSpPr>
        <p:spPr>
          <a:xfrm>
            <a:off x="21067" y="4313867"/>
            <a:ext cx="3189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 startAt="2"/>
            </a:pPr>
            <a:r>
              <a:rPr lang="zh-CN" altLang="en-US" sz="1600" b="1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函数定义和调用都点运算：</a:t>
            </a:r>
            <a:endParaRPr lang="zh-CN" altLang="en-US" sz="1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F8A6EB0-75A0-4105-BF8A-B69809BD57DA}"/>
              </a:ext>
            </a:extLst>
          </p:cNvPr>
          <p:cNvSpPr txBox="1"/>
          <p:nvPr/>
        </p:nvSpPr>
        <p:spPr>
          <a:xfrm>
            <a:off x="6644403" y="3875074"/>
            <a:ext cx="2448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调用无点：</a:t>
            </a:r>
            <a:r>
              <a:rPr lang="en-US" altLang="zh-CN" sz="1800" b="1" dirty="0">
                <a:solidFill>
                  <a:srgbClr val="00B0F0"/>
                </a:solidFill>
              </a:rPr>
              <a:t>y=f(1:2)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FB2103-6110-46E9-8DE8-9EB9B8A60245}"/>
              </a:ext>
            </a:extLst>
          </p:cNvPr>
          <p:cNvSpPr txBox="1"/>
          <p:nvPr/>
        </p:nvSpPr>
        <p:spPr>
          <a:xfrm>
            <a:off x="2896705" y="4269777"/>
            <a:ext cx="3064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73630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00B0F0"/>
                </a:solidFill>
              </a:rPr>
              <a:t>定义加点</a:t>
            </a:r>
            <a:r>
              <a:rPr lang="en-US" altLang="zh-CN" sz="1600" dirty="0">
                <a:solidFill>
                  <a:srgbClr val="0070C0"/>
                </a:solidFill>
              </a:rPr>
              <a:t>f</a:t>
            </a:r>
            <a:r>
              <a:rPr lang="es-ES" altLang="zh-CN" sz="1600" dirty="0">
                <a:solidFill>
                  <a:srgbClr val="0070C0"/>
                </a:solidFill>
              </a:rPr>
              <a:t> (</a:t>
            </a:r>
            <a:r>
              <a:rPr lang="en-US" altLang="zh-CN" sz="1600" dirty="0">
                <a:solidFill>
                  <a:srgbClr val="0070C0"/>
                </a:solidFill>
              </a:rPr>
              <a:t>x)</a:t>
            </a:r>
            <a:r>
              <a:rPr lang="es-ES" altLang="zh-CN" sz="1600" dirty="0">
                <a:solidFill>
                  <a:srgbClr val="0070C0"/>
                </a:solidFill>
              </a:rPr>
              <a:t>=</a:t>
            </a:r>
            <a:r>
              <a:rPr lang="es-ES" altLang="zh-CN" dirty="0">
                <a:solidFill>
                  <a:srgbClr val="FF0000"/>
                </a:solidFill>
                <a:latin typeface="Arial" charset="0"/>
                <a:ea typeface="宋体" charset="-122"/>
              </a:rPr>
              <a:t>@.</a:t>
            </a:r>
            <a:r>
              <a:rPr lang="es-ES" altLang="zh-CN" sz="1600" dirty="0">
                <a:solidFill>
                  <a:srgbClr val="0070C0"/>
                </a:solidFill>
              </a:rPr>
              <a:t> x^</a:t>
            </a:r>
            <a:r>
              <a:rPr lang="en-US" altLang="zh-CN" sz="1600" dirty="0">
                <a:solidFill>
                  <a:srgbClr val="0070C0"/>
                </a:solidFill>
              </a:rPr>
              <a:t>2-log(x)</a:t>
            </a:r>
            <a:r>
              <a:rPr lang="es-ES" altLang="zh-CN" sz="1600" dirty="0">
                <a:solidFill>
                  <a:srgbClr val="0070C0"/>
                </a:solidFill>
              </a:rPr>
              <a:t> </a:t>
            </a:r>
            <a:endParaRPr lang="zh-CN" altLang="en-US" sz="1600" dirty="0">
              <a:solidFill>
                <a:srgbClr val="0070C0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F90F1A6-B9CD-4ADD-8DFD-B3923A79C3B9}"/>
              </a:ext>
            </a:extLst>
          </p:cNvPr>
          <p:cNvSpPr txBox="1"/>
          <p:nvPr/>
        </p:nvSpPr>
        <p:spPr>
          <a:xfrm>
            <a:off x="6033231" y="4313867"/>
            <a:ext cx="3341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调用加点</a:t>
            </a:r>
            <a:r>
              <a:rPr lang="en-US" altLang="zh-CN" b="1" dirty="0">
                <a:solidFill>
                  <a:srgbClr val="00B0F0"/>
                </a:solidFill>
              </a:rPr>
              <a:t>y=f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00B0F0"/>
                </a:solidFill>
              </a:rPr>
              <a:t>(1:2) </a:t>
            </a:r>
            <a:r>
              <a:rPr lang="zh-CN" altLang="en-US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或</a:t>
            </a:r>
            <a:r>
              <a:rPr lang="en-US" altLang="zh-CN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</a:t>
            </a:r>
            <a:r>
              <a:rPr lang="en-US" altLang="zh-CN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@.</a:t>
            </a:r>
            <a:r>
              <a:rPr lang="en-US" altLang="zh-CN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f(1:2)</a:t>
            </a:r>
            <a:r>
              <a:rPr lang="en-US" altLang="zh-CN" b="1" dirty="0">
                <a:solidFill>
                  <a:srgbClr val="00B0F0"/>
                </a:solidFill>
              </a:rPr>
              <a:t> 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5F31E7A-8883-47A9-B416-29FD07061BA6}"/>
              </a:ext>
            </a:extLst>
          </p:cNvPr>
          <p:cNvSpPr txBox="1"/>
          <p:nvPr/>
        </p:nvSpPr>
        <p:spPr>
          <a:xfrm>
            <a:off x="6500437" y="2525144"/>
            <a:ext cx="2592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es-E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显示结果</a:t>
            </a:r>
            <a:r>
              <a:rPr lang="zh-CN" altLang="en-US" dirty="0"/>
              <a:t>1.0  3.30685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2CECDD5-6771-4F60-B8E6-D3224304B066}"/>
              </a:ext>
            </a:extLst>
          </p:cNvPr>
          <p:cNvSpPr txBox="1"/>
          <p:nvPr/>
        </p:nvSpPr>
        <p:spPr>
          <a:xfrm>
            <a:off x="4729613" y="2532100"/>
            <a:ext cx="2019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println(“y=$y”) </a:t>
            </a:r>
          </a:p>
        </p:txBody>
      </p:sp>
      <p:sp>
        <p:nvSpPr>
          <p:cNvPr id="66" name="AutoShape 13">
            <a:extLst>
              <a:ext uri="{FF2B5EF4-FFF2-40B4-BE49-F238E27FC236}">
                <a16:creationId xmlns:a16="http://schemas.microsoft.com/office/drawing/2014/main" id="{AE43AD0E-2AE5-4982-A288-8F43CF24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8" y="127794"/>
            <a:ext cx="1008112" cy="57596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E73B83D-908F-4E41-A830-A64D2E70BA9D}"/>
              </a:ext>
            </a:extLst>
          </p:cNvPr>
          <p:cNvSpPr txBox="1"/>
          <p:nvPr/>
        </p:nvSpPr>
        <p:spPr>
          <a:xfrm>
            <a:off x="4738201" y="152776"/>
            <a:ext cx="322372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0070C0"/>
                </a:solidFill>
              </a:rPr>
              <a:t>因变量</a:t>
            </a:r>
            <a:r>
              <a:rPr lang="en-US" altLang="zh-CN" sz="1800" b="1" dirty="0">
                <a:solidFill>
                  <a:srgbClr val="0070C0"/>
                </a:solidFill>
              </a:rPr>
              <a:t>y=f(</a:t>
            </a:r>
            <a:r>
              <a:rPr lang="zh-CN" altLang="en-US" sz="1800" b="1" dirty="0">
                <a:solidFill>
                  <a:srgbClr val="0070C0"/>
                </a:solidFill>
              </a:rPr>
              <a:t>自变量</a:t>
            </a:r>
            <a:r>
              <a:rPr lang="en-US" altLang="zh-CN" sz="1800" b="1" dirty="0">
                <a:solidFill>
                  <a:srgbClr val="0070C0"/>
                </a:solidFill>
              </a:rPr>
              <a:t>x)=</a:t>
            </a:r>
            <a:r>
              <a:rPr lang="zh-CN" altLang="en-US" sz="1800" b="1" dirty="0">
                <a:solidFill>
                  <a:srgbClr val="0070C0"/>
                </a:solidFill>
              </a:rPr>
              <a:t>表达式</a:t>
            </a: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BC720DA5-41F8-41B7-945C-1363D2011F21}"/>
              </a:ext>
            </a:extLst>
          </p:cNvPr>
          <p:cNvSpPr txBox="1">
            <a:spLocks/>
          </p:cNvSpPr>
          <p:nvPr/>
        </p:nvSpPr>
        <p:spPr bwMode="auto">
          <a:xfrm>
            <a:off x="1054548" y="11330"/>
            <a:ext cx="2725938" cy="5714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endParaRPr lang="en-US" altLang="zh-CN" sz="2400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函数定义和函数点调用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E7F0A87-11A4-4DCC-89C4-37FB20071DCE}"/>
              </a:ext>
            </a:extLst>
          </p:cNvPr>
          <p:cNvSpPr/>
          <p:nvPr/>
        </p:nvSpPr>
        <p:spPr bwMode="auto">
          <a:xfrm>
            <a:off x="5796136" y="140739"/>
            <a:ext cx="1917489" cy="3968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6F6FE27-D369-4A3C-A224-619652EC72C7}"/>
              </a:ext>
            </a:extLst>
          </p:cNvPr>
          <p:cNvSpPr txBox="1"/>
          <p:nvPr/>
        </p:nvSpPr>
        <p:spPr>
          <a:xfrm>
            <a:off x="2665753" y="2571508"/>
            <a:ext cx="2019763" cy="33855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rgbClr val="0070C0"/>
                </a:solidFill>
              </a:rPr>
              <a:t>因变量</a:t>
            </a:r>
            <a:r>
              <a:rPr lang="en-US" altLang="zh-CN" b="1" dirty="0">
                <a:solidFill>
                  <a:srgbClr val="0070C0"/>
                </a:solidFill>
              </a:rPr>
              <a:t>y=f(</a:t>
            </a:r>
            <a:r>
              <a:rPr lang="zh-CN" altLang="en-US" b="1" dirty="0">
                <a:solidFill>
                  <a:srgbClr val="0070C0"/>
                </a:solidFill>
              </a:rPr>
              <a:t>自变量</a:t>
            </a:r>
            <a:r>
              <a:rPr lang="en-US" altLang="zh-CN" b="1" dirty="0">
                <a:solidFill>
                  <a:srgbClr val="0070C0"/>
                </a:solidFill>
              </a:rPr>
              <a:t>x</a:t>
            </a:r>
            <a:r>
              <a:rPr lang="zh-CN" altLang="en-US" b="1" dirty="0">
                <a:solidFill>
                  <a:srgbClr val="0070C0"/>
                </a:solidFill>
              </a:rPr>
              <a:t>）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58B1EBE-BC16-4375-9F26-79D120811873}"/>
              </a:ext>
            </a:extLst>
          </p:cNvPr>
          <p:cNvSpPr/>
          <p:nvPr/>
        </p:nvSpPr>
        <p:spPr bwMode="auto">
          <a:xfrm>
            <a:off x="4738201" y="98970"/>
            <a:ext cx="2124979" cy="499656"/>
          </a:xfrm>
          <a:prstGeom prst="roundRect">
            <a:avLst>
              <a:gd name="adj" fmla="val 0"/>
            </a:avLst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25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6" grpId="0"/>
      <p:bldP spid="17" grpId="0" animBg="1"/>
      <p:bldP spid="22" grpId="0"/>
      <p:bldP spid="24" grpId="0" animBg="1"/>
      <p:bldP spid="28" grpId="0" animBg="1"/>
      <p:bldP spid="37" grpId="0" animBg="1"/>
      <p:bldP spid="38" grpId="0" animBg="1"/>
      <p:bldP spid="41" grpId="0" animBg="1"/>
      <p:bldP spid="42" grpId="0"/>
      <p:bldP spid="43" grpId="0"/>
      <p:bldP spid="44" grpId="0"/>
      <p:bldP spid="45" grpId="0"/>
      <p:bldP spid="46" grpId="0"/>
      <p:bldP spid="48" grpId="0" animBg="1"/>
      <p:bldP spid="49" grpId="0" animBg="1"/>
      <p:bldP spid="50" grpId="0"/>
      <p:bldP spid="51" grpId="0" animBg="1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2" grpId="0" animBg="1"/>
      <p:bldP spid="69" grpId="0" animBg="1"/>
      <p:bldP spid="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BF4BDCC-45FD-CF9C-B593-84117E573F7A}"/>
              </a:ext>
            </a:extLst>
          </p:cNvPr>
          <p:cNvSpPr/>
          <p:nvPr/>
        </p:nvSpPr>
        <p:spPr>
          <a:xfrm>
            <a:off x="467544" y="915566"/>
            <a:ext cx="52565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 </a:t>
            </a:r>
            <a:r>
              <a:rPr lang="zh-CN" altLang="en-US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图形绘制特点</a:t>
            </a:r>
            <a:r>
              <a:rPr lang="en-US" altLang="zh-CN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A0AD1F-44E1-C1F6-56D3-1907A3B14C31}"/>
              </a:ext>
            </a:extLst>
          </p:cNvPr>
          <p:cNvSpPr/>
          <p:nvPr/>
        </p:nvSpPr>
        <p:spPr>
          <a:xfrm>
            <a:off x="474670" y="1635646"/>
            <a:ext cx="8561826" cy="279711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43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§3.1.1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图形对象、图形属性和图形句柄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ts val="43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§3.1.2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图形窗口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figure</a:t>
            </a:r>
          </a:p>
          <a:p>
            <a:pPr>
              <a:lnSpc>
                <a:spcPts val="43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§3.1.3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axes</a:t>
            </a:r>
          </a:p>
          <a:p>
            <a:pPr>
              <a:lnSpc>
                <a:spcPts val="43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§3.1.4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图像写入、显示和读取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3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§3.1.5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两类绘图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——plot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离散数据绘图和</a:t>
            </a:r>
            <a:r>
              <a:rPr lang="en-US" altLang="zh-CN" sz="24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fplot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函数图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9E5519-19AB-4DFA-AF40-09EEF4BC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843558"/>
            <a:ext cx="2849723" cy="23557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8615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733E8D9-7513-44C4-9AD0-C375084B5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325" y="2361132"/>
            <a:ext cx="3144240" cy="22198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DA85FA9C-D233-9153-6BFB-04C2CBC53924}"/>
              </a:ext>
            </a:extLst>
          </p:cNvPr>
          <p:cNvSpPr/>
          <p:nvPr/>
        </p:nvSpPr>
        <p:spPr>
          <a:xfrm>
            <a:off x="19606" y="4321194"/>
            <a:ext cx="5904316" cy="338554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心曲线图形由</a:t>
            </a:r>
            <a:r>
              <a:rPr lang="en-US" altLang="zh-CN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图窗、</a:t>
            </a:r>
            <a:r>
              <a:rPr lang="en-US" altLang="zh-CN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坐标区和</a:t>
            </a:r>
            <a:r>
              <a:rPr lang="en-US" altLang="zh-CN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FF000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曲线三个图形对象构成</a:t>
            </a:r>
            <a:endParaRPr lang="en-US" altLang="zh-CN" sz="1600" b="1" dirty="0">
              <a:solidFill>
                <a:srgbClr val="FF0000">
                  <a:alpha val="59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5AAAB0-AE56-B9A7-A29A-8C2DA561C550}"/>
              </a:ext>
            </a:extLst>
          </p:cNvPr>
          <p:cNvSpPr txBox="1"/>
          <p:nvPr/>
        </p:nvSpPr>
        <p:spPr>
          <a:xfrm>
            <a:off x="817793" y="100330"/>
            <a:ext cx="808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3.1.1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\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图形属性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\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图形句柄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3C8B34A-3D36-3D75-9DF6-4F4361B993B6}"/>
              </a:ext>
            </a:extLst>
          </p:cNvPr>
          <p:cNvSpPr txBox="1">
            <a:spLocks noChangeArrowheads="1"/>
          </p:cNvSpPr>
          <p:nvPr/>
        </p:nvSpPr>
        <p:spPr>
          <a:xfrm>
            <a:off x="1259632" y="1800983"/>
            <a:ext cx="430943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r>
              <a:rPr lang="zh-CN" altLang="en-US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将相邻离散点</a:t>
            </a:r>
            <a:r>
              <a:rPr lang="en-US" altLang="zh-CN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sz="18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x,y</a:t>
            </a:r>
            <a:r>
              <a:rPr lang="en-US" altLang="zh-CN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sz="18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数据连接成线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42495B-5EFA-3EE3-4A03-E52D0F7D1750}"/>
              </a:ext>
            </a:extLst>
          </p:cNvPr>
          <p:cNvSpPr/>
          <p:nvPr/>
        </p:nvSpPr>
        <p:spPr>
          <a:xfrm>
            <a:off x="107503" y="1047985"/>
            <a:ext cx="9036497" cy="730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图形对象</a:t>
            </a:r>
            <a:r>
              <a:rPr lang="en-US" altLang="zh-CN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 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创建可视化数据的组件，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是图形系统中最基本、最底层的单元，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图形是由一系列不同图形对象组件构成，如图窗、坐标区、线条、文本等</a:t>
            </a:r>
            <a:endParaRPr lang="en-US" altLang="zh-CN" sz="1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F77C781-867D-EA62-FE44-C20797B67217}"/>
              </a:ext>
            </a:extLst>
          </p:cNvPr>
          <p:cNvSpPr txBox="1">
            <a:spLocks noChangeArrowheads="1"/>
          </p:cNvSpPr>
          <p:nvPr/>
        </p:nvSpPr>
        <p:spPr>
          <a:xfrm>
            <a:off x="168428" y="2681210"/>
            <a:ext cx="5674963" cy="156690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 = -2:0.02:2;  #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冒号法得到线性向量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点运算计算变量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值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y=(x.^2).^(1/3)+0.9(4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.-x.^2).^(1/2).*sin.(31.4x)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plot(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x,y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 #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绘制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的二维线图线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默认属性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4112B4C-4A3C-95AC-3A04-CA8EE82CA175}"/>
              </a:ext>
            </a:extLst>
          </p:cNvPr>
          <p:cNvSpPr txBox="1">
            <a:spLocks noChangeArrowheads="1"/>
          </p:cNvSpPr>
          <p:nvPr/>
        </p:nvSpPr>
        <p:spPr>
          <a:xfrm>
            <a:off x="541435" y="2289131"/>
            <a:ext cx="6009701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</a:t>
            </a:r>
            <a:r>
              <a:rPr lang="en-US" altLang="zh-CN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[-2,2]</a:t>
            </a:r>
            <a:r>
              <a:rPr lang="zh-CN" altLang="en-US" sz="16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s-E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y=(x</a:t>
            </a:r>
            <a:r>
              <a:rPr lang="es-ES" altLang="zh-CN" sz="16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s-E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s-ES" altLang="zh-CN" sz="16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(1/3)</a:t>
            </a:r>
            <a:r>
              <a:rPr lang="es-E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+0.9 (4- x</a:t>
            </a:r>
            <a:r>
              <a:rPr lang="es-ES" altLang="zh-CN" sz="16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s-E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s-ES" altLang="zh-CN" sz="16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(1/2)</a:t>
            </a:r>
            <a:r>
              <a:rPr lang="es-E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 (31.4x)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曲线</a:t>
            </a:r>
            <a:endParaRPr lang="zh-CN" altLang="en-US" sz="1600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波形 12">
            <a:extLst>
              <a:ext uri="{FF2B5EF4-FFF2-40B4-BE49-F238E27FC236}">
                <a16:creationId xmlns:a16="http://schemas.microsoft.com/office/drawing/2014/main" id="{E39A48D4-D8BF-AC1C-3E3E-9627BBF62C8F}"/>
              </a:ext>
            </a:extLst>
          </p:cNvPr>
          <p:cNvSpPr/>
          <p:nvPr/>
        </p:nvSpPr>
        <p:spPr>
          <a:xfrm>
            <a:off x="212172" y="2279910"/>
            <a:ext cx="330684" cy="3282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例1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740870-078E-0E9F-7DC4-53F96726FA6B}"/>
              </a:ext>
            </a:extLst>
          </p:cNvPr>
          <p:cNvSpPr/>
          <p:nvPr/>
        </p:nvSpPr>
        <p:spPr>
          <a:xfrm>
            <a:off x="8026913" y="2363438"/>
            <a:ext cx="107919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图形窗口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6CFAB8-DAC7-BEA9-06A1-43C39B93568C}"/>
              </a:ext>
            </a:extLst>
          </p:cNvPr>
          <p:cNvSpPr/>
          <p:nvPr/>
        </p:nvSpPr>
        <p:spPr>
          <a:xfrm>
            <a:off x="6084168" y="2685436"/>
            <a:ext cx="285248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AD7147-573B-EB39-B242-8A1FB01DEF11}"/>
              </a:ext>
            </a:extLst>
          </p:cNvPr>
          <p:cNvSpPr/>
          <p:nvPr/>
        </p:nvSpPr>
        <p:spPr>
          <a:xfrm>
            <a:off x="8214464" y="3401753"/>
            <a:ext cx="79208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C58053-51AF-3F59-BDCB-416F1146BDA5}"/>
              </a:ext>
            </a:extLst>
          </p:cNvPr>
          <p:cNvSpPr/>
          <p:nvPr/>
        </p:nvSpPr>
        <p:spPr>
          <a:xfrm>
            <a:off x="6445744" y="3931191"/>
            <a:ext cx="2473813" cy="523220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2060">
                    <a:alpha val="59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心曲线外观是由线形、标记符和线颜色等属性构成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9AACC9-0122-48C6-A571-9F8A2B91D20F}"/>
              </a:ext>
            </a:extLst>
          </p:cNvPr>
          <p:cNvSpPr/>
          <p:nvPr/>
        </p:nvSpPr>
        <p:spPr>
          <a:xfrm>
            <a:off x="168428" y="1791279"/>
            <a:ext cx="1029270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plot( 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</a:p>
        </p:txBody>
      </p:sp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1DD14559-109A-426D-BC90-F486FE66484F}"/>
              </a:ext>
            </a:extLst>
          </p:cNvPr>
          <p:cNvSpPr/>
          <p:nvPr/>
        </p:nvSpPr>
        <p:spPr bwMode="auto">
          <a:xfrm>
            <a:off x="8005157" y="2246319"/>
            <a:ext cx="914400" cy="483104"/>
          </a:xfrm>
          <a:prstGeom prst="wedgeEllipseCallout">
            <a:avLst>
              <a:gd name="adj1" fmla="val -257327"/>
              <a:gd name="adj2" fmla="val -1582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A53EE2-37A4-4CC7-84EB-A4CAEE4B96E1}"/>
              </a:ext>
            </a:extLst>
          </p:cNvPr>
          <p:cNvSpPr/>
          <p:nvPr/>
        </p:nvSpPr>
        <p:spPr>
          <a:xfrm>
            <a:off x="107503" y="727209"/>
            <a:ext cx="903649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绘制线图，介绍图形对象、图形属性、图形句柄，实现通过设置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底层对象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的属性自定义图形</a:t>
            </a:r>
            <a:endParaRPr lang="en-US" altLang="zh-CN" sz="1600" b="1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813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" grpId="0"/>
      <p:bldP spid="12" grpId="0"/>
      <p:bldP spid="13" grpId="0" animBg="1"/>
      <p:bldP spid="15" grpId="0"/>
      <p:bldP spid="16" grpId="0"/>
      <p:bldP spid="17" grpId="0"/>
      <p:bldP spid="20" grpId="0" animBg="1"/>
      <p:bldP spid="19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8C4C24B-7065-4C16-80E6-CFB90FEB34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31"/>
          <a:stretch/>
        </p:blipFill>
        <p:spPr>
          <a:xfrm>
            <a:off x="119892" y="1536207"/>
            <a:ext cx="5532228" cy="2907751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2610B118-7E64-42C9-91D5-C6D3A348675F}"/>
              </a:ext>
            </a:extLst>
          </p:cNvPr>
          <p:cNvSpPr/>
          <p:nvPr/>
        </p:nvSpPr>
        <p:spPr>
          <a:xfrm>
            <a:off x="0" y="668181"/>
            <a:ext cx="897533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图形对象的属性：描述图形外观和特点，每个对象都具有一组固定属性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注: 线形 20">
            <a:extLst>
              <a:ext uri="{FF2B5EF4-FFF2-40B4-BE49-F238E27FC236}">
                <a16:creationId xmlns:a16="http://schemas.microsoft.com/office/drawing/2014/main" id="{B51B65EB-9388-4569-B818-8F5C68812690}"/>
              </a:ext>
            </a:extLst>
          </p:cNvPr>
          <p:cNvSpPr/>
          <p:nvPr/>
        </p:nvSpPr>
        <p:spPr>
          <a:xfrm>
            <a:off x="3996774" y="1939500"/>
            <a:ext cx="647235" cy="276999"/>
          </a:xfrm>
          <a:prstGeom prst="borderCallout1">
            <a:avLst>
              <a:gd name="adj1" fmla="val 18750"/>
              <a:gd name="adj2" fmla="val -8333"/>
              <a:gd name="adj3" fmla="val 13234"/>
              <a:gd name="adj4" fmla="val 21402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坐标区</a:t>
            </a:r>
          </a:p>
        </p:txBody>
      </p:sp>
      <p:sp>
        <p:nvSpPr>
          <p:cNvPr id="22" name="标注: 线形 21">
            <a:extLst>
              <a:ext uri="{FF2B5EF4-FFF2-40B4-BE49-F238E27FC236}">
                <a16:creationId xmlns:a16="http://schemas.microsoft.com/office/drawing/2014/main" id="{259DC5A8-1335-4BB8-AF00-2A254DA33907}"/>
              </a:ext>
            </a:extLst>
          </p:cNvPr>
          <p:cNvSpPr/>
          <p:nvPr/>
        </p:nvSpPr>
        <p:spPr>
          <a:xfrm>
            <a:off x="4678777" y="1605185"/>
            <a:ext cx="507945" cy="276999"/>
          </a:xfrm>
          <a:prstGeom prst="borderCallout1">
            <a:avLst>
              <a:gd name="adj1" fmla="val 18750"/>
              <a:gd name="adj2" fmla="val -8333"/>
              <a:gd name="adj3" fmla="val 65496"/>
              <a:gd name="adj4" fmla="val -34403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曲线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CA829F-20E6-4FA4-BA77-02326A7AC412}"/>
              </a:ext>
            </a:extLst>
          </p:cNvPr>
          <p:cNvSpPr/>
          <p:nvPr/>
        </p:nvSpPr>
        <p:spPr>
          <a:xfrm>
            <a:off x="3298502" y="3250063"/>
            <a:ext cx="1054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kern="0" dirty="0">
                <a:solidFill>
                  <a:schemeClr val="bg1"/>
                </a:solidFill>
                <a:highlight>
                  <a:srgbClr val="808000"/>
                </a:highlight>
                <a:ea typeface="隶书" panose="020105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属性名</a:t>
            </a:r>
            <a:endParaRPr lang="en-US" altLang="zh-CN" sz="1400" kern="0" dirty="0">
              <a:solidFill>
                <a:schemeClr val="bg1"/>
              </a:solidFill>
              <a:highlight>
                <a:srgbClr val="808000"/>
              </a:highlight>
              <a:ea typeface="隶书" panose="020105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/>
            <a:r>
              <a:rPr lang="en-US" altLang="zh-CN" sz="1400" kern="0" dirty="0">
                <a:solidFill>
                  <a:schemeClr val="bg1"/>
                </a:solidFill>
                <a:highlight>
                  <a:srgbClr val="808000"/>
                </a:highlight>
                <a:ea typeface="隶书" panose="020105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key</a:t>
            </a:r>
            <a:endParaRPr lang="zh-CN" altLang="en-US" sz="1400" dirty="0">
              <a:solidFill>
                <a:schemeClr val="bg1"/>
              </a:solidFill>
              <a:highlight>
                <a:srgbClr val="808000"/>
              </a:highlight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50829B-208B-446D-B282-F5334855C88D}"/>
              </a:ext>
            </a:extLst>
          </p:cNvPr>
          <p:cNvSpPr/>
          <p:nvPr/>
        </p:nvSpPr>
        <p:spPr>
          <a:xfrm>
            <a:off x="4088133" y="3222751"/>
            <a:ext cx="1203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kern="0" dirty="0">
                <a:solidFill>
                  <a:schemeClr val="bg1"/>
                </a:solidFill>
                <a:highlight>
                  <a:srgbClr val="808000"/>
                </a:highlight>
                <a:ea typeface="隶书" panose="020105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属性值</a:t>
            </a:r>
            <a:endParaRPr lang="en-US" altLang="zh-CN" sz="1400" kern="0" dirty="0">
              <a:solidFill>
                <a:schemeClr val="bg1"/>
              </a:solidFill>
              <a:highlight>
                <a:srgbClr val="808000"/>
              </a:highlight>
              <a:ea typeface="隶书" panose="02010509060101010101" pitchFamily="49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/>
            <a:r>
              <a:rPr lang="en-US" altLang="zh-CN" sz="1400" kern="0" dirty="0">
                <a:solidFill>
                  <a:schemeClr val="bg1"/>
                </a:solidFill>
                <a:highlight>
                  <a:srgbClr val="808000"/>
                </a:highlight>
                <a:ea typeface="隶书" panose="020105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value </a:t>
            </a:r>
            <a:endParaRPr lang="zh-CN" altLang="en-US" sz="1400" kern="0" dirty="0">
              <a:solidFill>
                <a:schemeClr val="bg1"/>
              </a:solidFill>
              <a:highlight>
                <a:srgbClr val="808000"/>
              </a:highlight>
              <a:ea typeface="隶书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标注: 线形 18">
            <a:extLst>
              <a:ext uri="{FF2B5EF4-FFF2-40B4-BE49-F238E27FC236}">
                <a16:creationId xmlns:a16="http://schemas.microsoft.com/office/drawing/2014/main" id="{307C6540-D82F-4E4B-8A2D-C5AD7B8AC45D}"/>
              </a:ext>
            </a:extLst>
          </p:cNvPr>
          <p:cNvSpPr/>
          <p:nvPr/>
        </p:nvSpPr>
        <p:spPr>
          <a:xfrm>
            <a:off x="3135606" y="1946663"/>
            <a:ext cx="808825" cy="276999"/>
          </a:xfrm>
          <a:prstGeom prst="borderCallout1">
            <a:avLst>
              <a:gd name="adj1" fmla="val 18750"/>
              <a:gd name="adj2" fmla="val -8333"/>
              <a:gd name="adj3" fmla="val -36290"/>
              <a:gd name="adj4" fmla="val 19774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图形窗口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BD7516F4-B591-F3D4-0029-3CB8974A5C3A}"/>
              </a:ext>
            </a:extLst>
          </p:cNvPr>
          <p:cNvSpPr/>
          <p:nvPr/>
        </p:nvSpPr>
        <p:spPr bwMode="auto">
          <a:xfrm>
            <a:off x="5692027" y="1030007"/>
            <a:ext cx="3425358" cy="3639073"/>
          </a:xfrm>
          <a:prstGeom prst="wedgeRectCallout">
            <a:avLst>
              <a:gd name="adj1" fmla="val 57030"/>
              <a:gd name="adj2" fmla="val 91868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700"/>
              </a:lnSpc>
            </a:pP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(1)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属性检查器：直接可查看和设置、修改图形对象的属性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2700"/>
              </a:lnSpc>
            </a:pP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(2)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属性检查器列出的图窗对象、坐标区对象和曲线的所有属性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2700"/>
              </a:lnSpc>
            </a:pP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(3)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属性由成对属性名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key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与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value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值构成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,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改变属性值改变图形对象的外观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2700"/>
              </a:lnSpc>
            </a:pP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(4) 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用属性检查器直接修改图形对象的属性改变图形对象的外观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2700"/>
              </a:lnSpc>
            </a:pP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(5)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绘图函数在属性缺省绘图时，窗口、坐标区和曲线对象都采用默认属性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对话气泡: 椭圆形 10">
            <a:extLst>
              <a:ext uri="{FF2B5EF4-FFF2-40B4-BE49-F238E27FC236}">
                <a16:creationId xmlns:a16="http://schemas.microsoft.com/office/drawing/2014/main" id="{746DD68F-9432-E041-1CCB-52EBD87BECC6}"/>
              </a:ext>
            </a:extLst>
          </p:cNvPr>
          <p:cNvSpPr/>
          <p:nvPr/>
        </p:nvSpPr>
        <p:spPr>
          <a:xfrm>
            <a:off x="2748565" y="1781532"/>
            <a:ext cx="293509" cy="193646"/>
          </a:xfrm>
          <a:prstGeom prst="wedgeEllipseCallout">
            <a:avLst>
              <a:gd name="adj1" fmla="val 201619"/>
              <a:gd name="adj2" fmla="val -10422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330935-9077-44D1-B715-115309EFBC41}"/>
              </a:ext>
            </a:extLst>
          </p:cNvPr>
          <p:cNvSpPr txBox="1"/>
          <p:nvPr/>
        </p:nvSpPr>
        <p:spPr>
          <a:xfrm>
            <a:off x="703154" y="76449"/>
            <a:ext cx="8280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图形对象图形属性和图形句柄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图形属性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4168BF9-6302-4423-9E29-B974E5C6A543}"/>
              </a:ext>
            </a:extLst>
          </p:cNvPr>
          <p:cNvSpPr txBox="1"/>
          <p:nvPr/>
        </p:nvSpPr>
        <p:spPr>
          <a:xfrm>
            <a:off x="7537" y="1081068"/>
            <a:ext cx="536970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属性检查器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不编写代码，直接设置对象属性来自定义图形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6E7B502-6176-497F-B3B0-A146C76673D6}"/>
              </a:ext>
            </a:extLst>
          </p:cNvPr>
          <p:cNvSpPr/>
          <p:nvPr/>
        </p:nvSpPr>
        <p:spPr bwMode="auto">
          <a:xfrm>
            <a:off x="3552005" y="2154757"/>
            <a:ext cx="542761" cy="993057"/>
          </a:xfrm>
          <a:prstGeom prst="wedgeRoundRectCallout">
            <a:avLst/>
          </a:prstGeom>
          <a:noFill/>
          <a:ln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对话气泡: 圆角矩形 27">
            <a:extLst>
              <a:ext uri="{FF2B5EF4-FFF2-40B4-BE49-F238E27FC236}">
                <a16:creationId xmlns:a16="http://schemas.microsoft.com/office/drawing/2014/main" id="{D7F56035-D5C9-44CB-8FE0-49E007891F12}"/>
              </a:ext>
            </a:extLst>
          </p:cNvPr>
          <p:cNvSpPr/>
          <p:nvPr/>
        </p:nvSpPr>
        <p:spPr bwMode="auto">
          <a:xfrm>
            <a:off x="4336856" y="2152375"/>
            <a:ext cx="647235" cy="792785"/>
          </a:xfrm>
          <a:prstGeom prst="wedgeRoundRectCallout">
            <a:avLst>
              <a:gd name="adj1" fmla="val -22117"/>
              <a:gd name="adj2" fmla="val 88470"/>
              <a:gd name="adj3" fmla="val 16667"/>
            </a:avLst>
          </a:prstGeom>
          <a:noFill/>
          <a:ln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1BDCFF7-B55C-4E8C-B65F-DA47B7286F86}"/>
              </a:ext>
            </a:extLst>
          </p:cNvPr>
          <p:cNvSpPr/>
          <p:nvPr/>
        </p:nvSpPr>
        <p:spPr bwMode="auto">
          <a:xfrm>
            <a:off x="5126139" y="2093101"/>
            <a:ext cx="256767" cy="261121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0B2FD4-A374-4FF7-BB21-1A3E1B12BA61}"/>
              </a:ext>
            </a:extLst>
          </p:cNvPr>
          <p:cNvSpPr/>
          <p:nvPr/>
        </p:nvSpPr>
        <p:spPr>
          <a:xfrm>
            <a:off x="3811600" y="3910307"/>
            <a:ext cx="148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kern="0" dirty="0">
                <a:solidFill>
                  <a:srgbClr val="FFFF00"/>
                </a:solidFill>
                <a:highlight>
                  <a:srgbClr val="003B76"/>
                </a:highlight>
                <a:ea typeface="隶书" panose="02010509060101010101" pitchFamily="49" charset="-122"/>
                <a:cs typeface="Arial" panose="020B0604020202020204" pitchFamily="34" charset="0"/>
                <a:sym typeface="Arial" panose="020B0604020202020204" pitchFamily="34" charset="0"/>
              </a:rPr>
              <a:t>改成红色线</a:t>
            </a:r>
            <a:endParaRPr lang="zh-CN" altLang="en-US" sz="1400" kern="0" dirty="0">
              <a:solidFill>
                <a:srgbClr val="FFFF00"/>
              </a:solidFill>
              <a:highlight>
                <a:srgbClr val="003B76"/>
              </a:highlight>
              <a:ea typeface="隶书" panose="020105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81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F96CDB-512A-4806-BA77-94525FA867AC}"/>
              </a:ext>
            </a:extLst>
          </p:cNvPr>
          <p:cNvSpPr/>
          <p:nvPr/>
        </p:nvSpPr>
        <p:spPr>
          <a:xfrm>
            <a:off x="238123" y="1203453"/>
            <a:ext cx="213792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plot(</a:t>
            </a:r>
            <a:r>
              <a:rPr lang="en-US" altLang="zh-CN" dirty="0" err="1">
                <a:solidFill>
                  <a:schemeClr val="bg1"/>
                </a:solidFill>
                <a:latin typeface="Arial Unicode MS"/>
                <a:ea typeface="source-code-pro"/>
              </a:rPr>
              <a:t>x,y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,</a:t>
            </a:r>
            <a:r>
              <a:rPr lang="zh-CN" altLang="zh-CN" dirty="0">
                <a:solidFill>
                  <a:schemeClr val="bg1"/>
                </a:solidFill>
                <a:highlight>
                  <a:srgbClr val="FF0000"/>
                </a:highlight>
                <a:latin typeface="Arial Unicode MS"/>
                <a:ea typeface="source-code-pro"/>
              </a:rPr>
              <a:t>Key=Value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source-code-pro"/>
              </a:rPr>
              <a:t>)</a:t>
            </a:r>
            <a:r>
              <a:rPr lang="zh-CN" altLang="zh-CN" dirty="0">
                <a:solidFill>
                  <a:schemeClr val="bg1"/>
                </a:solidFill>
              </a:rPr>
              <a:t> </a:t>
            </a:r>
            <a:endParaRPr lang="zh-CN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5CB3D9C3-37B7-4249-ADD2-FDA698932AB4}"/>
              </a:ext>
            </a:extLst>
          </p:cNvPr>
          <p:cNvSpPr txBox="1">
            <a:spLocks/>
          </p:cNvSpPr>
          <p:nvPr/>
        </p:nvSpPr>
        <p:spPr bwMode="auto">
          <a:xfrm>
            <a:off x="2368005" y="1073901"/>
            <a:ext cx="6660232" cy="6337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对属性名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和属性值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对组参数</a:t>
            </a:r>
            <a:r>
              <a:rPr lang="zh-CN" altLang="en-US" sz="20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赋值指定线条属性</a:t>
            </a: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08B70B90-8438-45DC-B401-AB5FDBD58692}"/>
              </a:ext>
            </a:extLst>
          </p:cNvPr>
          <p:cNvSpPr txBox="1">
            <a:spLocks/>
          </p:cNvSpPr>
          <p:nvPr/>
        </p:nvSpPr>
        <p:spPr bwMode="auto">
          <a:xfrm>
            <a:off x="179512" y="1595887"/>
            <a:ext cx="8280920" cy="32445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>
              <a:lnSpc>
                <a:spcPts val="2400"/>
              </a:lnSpc>
            </a:pPr>
            <a:r>
              <a:rPr lang="en-US" altLang="zh-CN" sz="22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color</a:t>
            </a:r>
            <a:r>
              <a:rPr lang="en-US" altLang="zh-CN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线条颜色</a:t>
            </a:r>
            <a:endParaRPr lang="en-US" altLang="zh-CN" sz="220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linestyle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线型</a:t>
            </a:r>
            <a:endParaRPr lang="en-US" altLang="zh-CN" sz="2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linewidth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线宽</a:t>
            </a:r>
            <a:endParaRPr lang="en-US" altLang="zh-CN" sz="2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marker</a:t>
            </a:r>
            <a:r>
              <a:rPr lang="en-US" altLang="zh-CN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标记符号</a:t>
            </a:r>
            <a:endParaRPr lang="en-US" altLang="zh-CN" sz="220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markersize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标记大小</a:t>
            </a:r>
            <a:endParaRPr lang="en-US" altLang="zh-CN" sz="2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markeredgecolor</a:t>
            </a:r>
            <a:r>
              <a:rPr lang="en-US" altLang="zh-CN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标记轮廓颜色</a:t>
            </a:r>
            <a:endParaRPr lang="en-US" altLang="zh-CN" sz="220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markerfacecolor</a:t>
            </a:r>
            <a:r>
              <a:rPr lang="en-US" altLang="zh-CN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标记填充颜色</a:t>
            </a:r>
            <a:endParaRPr lang="en-US" altLang="zh-CN" sz="220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markevery</a:t>
            </a:r>
            <a:r>
              <a:rPr lang="en-US" altLang="zh-CN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- </a:t>
            </a:r>
            <a:r>
              <a:rPr lang="zh-CN" altLang="en-US" sz="2200" i="0" dirty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要显示标记的数据点的索引</a:t>
            </a:r>
            <a:endParaRPr lang="en-US" altLang="zh-CN" sz="2200" i="0" dirty="0"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ts val="2400"/>
              </a:lnSpc>
            </a:pPr>
            <a:r>
              <a:rPr lang="en-US" altLang="zh-CN" sz="22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alpha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透明度，介于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【0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1】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全透明，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不透明</a:t>
            </a:r>
          </a:p>
          <a:p>
            <a:pPr algn="l"/>
            <a:endParaRPr lang="zh-CN" altLang="en-US" sz="24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772770-5225-41C9-BA4E-4337ED7F8333}"/>
              </a:ext>
            </a:extLst>
          </p:cNvPr>
          <p:cNvSpPr txBox="1"/>
          <p:nvPr/>
        </p:nvSpPr>
        <p:spPr>
          <a:xfrm>
            <a:off x="2679522" y="1759338"/>
            <a:ext cx="6215312" cy="1031116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 defTabSz="0">
              <a:lnSpc>
                <a:spcPts val="25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属性名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对应属性值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value ,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值如是文本加双引号，如数值不加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defTabSz="0">
              <a:lnSpc>
                <a:spcPts val="25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可设置多属性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采用任意顺序指定多个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名-值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 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key1=value1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key2=value2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...,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N,ValueN 。 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2D3942-12BA-4F24-8849-99190E137FA6}"/>
              </a:ext>
            </a:extLst>
          </p:cNvPr>
          <p:cNvSpPr txBox="1"/>
          <p:nvPr/>
        </p:nvSpPr>
        <p:spPr>
          <a:xfrm>
            <a:off x="683568" y="106543"/>
            <a:ext cx="8568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线条属性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FB8F46-A429-4DA2-B34F-1D46AD80A9DF}"/>
              </a:ext>
            </a:extLst>
          </p:cNvPr>
          <p:cNvSpPr txBox="1"/>
          <p:nvPr/>
        </p:nvSpPr>
        <p:spPr>
          <a:xfrm>
            <a:off x="238123" y="4405068"/>
            <a:ext cx="886993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prstTxWarp prst="textWave1">
              <a:avLst/>
            </a:prstTxWarp>
            <a:spAutoFit/>
          </a:bodyPr>
          <a:lstStyle/>
          <a:p>
            <a:r>
              <a:rPr lang="zh-CN" altLang="en-US" sz="1600" kern="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编程结果后处理如需可视化，建议用</a:t>
            </a:r>
            <a:r>
              <a:rPr lang="zh-CN" altLang="en-US" sz="1600" b="0" kern="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绘图函数</a:t>
            </a:r>
            <a:r>
              <a:rPr lang="zh-CN" altLang="en-US" sz="1600" kern="0" dirty="0">
                <a:solidFill>
                  <a:schemeClr val="bg1"/>
                </a:solidFill>
                <a:highlight>
                  <a:srgbClr val="3399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设置图形属性而不是属性检查器</a:t>
            </a:r>
            <a:endParaRPr lang="zh-CN" altLang="en-US" sz="1600" dirty="0">
              <a:solidFill>
                <a:schemeClr val="bg1"/>
              </a:solidFill>
              <a:highlight>
                <a:srgbClr val="3399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3522AE-37E6-4902-B89D-1EAF77FA954A}"/>
              </a:ext>
            </a:extLst>
          </p:cNvPr>
          <p:cNvSpPr/>
          <p:nvPr/>
        </p:nvSpPr>
        <p:spPr>
          <a:xfrm>
            <a:off x="1536524" y="699352"/>
            <a:ext cx="735830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输入参数只有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轴数据点时，用默认属性绘制二维线图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40776A-3F14-41A8-A5EA-FC0010876F1D}"/>
              </a:ext>
            </a:extLst>
          </p:cNvPr>
          <p:cNvSpPr/>
          <p:nvPr/>
        </p:nvSpPr>
        <p:spPr>
          <a:xfrm>
            <a:off x="238123" y="738432"/>
            <a:ext cx="1185568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plot( 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11ADA808-85A3-4920-80EE-E439E8AE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999" y="3145017"/>
            <a:ext cx="3024336" cy="72381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rgbClr val="FFFF00"/>
                </a:solidFill>
                <a:latin typeface="Menlo"/>
              </a:rPr>
              <a:t>同</a:t>
            </a:r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latin typeface="Menlo"/>
              </a:rPr>
              <a:t>一样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2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13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E63B3-395D-4EDF-B81A-A7E3ECDB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949052-7DF4-46E4-8ACD-A07771E50F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2626" r="3018" b="1065"/>
          <a:stretch/>
        </p:blipFill>
        <p:spPr>
          <a:xfrm rot="16200000">
            <a:off x="2931652" y="-1487002"/>
            <a:ext cx="3744416" cy="82615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B22FF-7151-469A-805B-EB7789F77911}"/>
              </a:ext>
            </a:extLst>
          </p:cNvPr>
          <p:cNvSpPr txBox="1"/>
          <p:nvPr/>
        </p:nvSpPr>
        <p:spPr>
          <a:xfrm>
            <a:off x="634233" y="104314"/>
            <a:ext cx="8568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线条属性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5754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DA67B5E-6AFC-DF64-EEDD-C262D3E03BA4}"/>
              </a:ext>
            </a:extLst>
          </p:cNvPr>
          <p:cNvSpPr txBox="1"/>
          <p:nvPr/>
        </p:nvSpPr>
        <p:spPr>
          <a:xfrm>
            <a:off x="528382" y="670358"/>
            <a:ext cx="8390552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/>
            <a:r>
              <a:rPr lang="es-ES" altLang="zh-CN" sz="1600" dirty="0">
                <a:solidFill>
                  <a:srgbClr val="0070C0"/>
                </a:solidFill>
              </a:rPr>
              <a:t>y=(x2) (1/3)+0.9 (4- x2) (1/2)sin (31.4x)</a:t>
            </a:r>
            <a:r>
              <a:rPr lang="zh-CN" altLang="en-US" sz="1600" dirty="0">
                <a:solidFill>
                  <a:srgbClr val="0070C0"/>
                </a:solidFill>
                <a:sym typeface="+mn-ea"/>
              </a:rPr>
              <a:t>菱形记符、三元素颜色标记边，红色</a:t>
            </a:r>
            <a:r>
              <a:rPr lang="zh-CN" altLang="en-US" sz="1600" dirty="0">
                <a:solidFill>
                  <a:srgbClr val="0070C0"/>
                </a:solidFill>
              </a:rPr>
              <a:t>标记</a:t>
            </a:r>
            <a:r>
              <a:rPr lang="zh-CN" altLang="en-US" sz="1600" dirty="0">
                <a:solidFill>
                  <a:srgbClr val="0070C0"/>
                </a:solidFill>
                <a:sym typeface="+mn-ea"/>
              </a:rPr>
              <a:t>心</a:t>
            </a:r>
            <a:endParaRPr lang="zh-CN" altLang="en-US" sz="1600" dirty="0">
              <a:solidFill>
                <a:srgbClr val="0070C0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67D821-D465-4C3F-BB40-4FEF62B96B1C}"/>
              </a:ext>
            </a:extLst>
          </p:cNvPr>
          <p:cNvSpPr txBox="1"/>
          <p:nvPr/>
        </p:nvSpPr>
        <p:spPr>
          <a:xfrm>
            <a:off x="528381" y="126004"/>
            <a:ext cx="8390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线条属性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2B35811A-449E-42D9-95A1-EB94584F4657}"/>
              </a:ext>
            </a:extLst>
          </p:cNvPr>
          <p:cNvSpPr/>
          <p:nvPr/>
        </p:nvSpPr>
        <p:spPr>
          <a:xfrm>
            <a:off x="127997" y="605444"/>
            <a:ext cx="425431" cy="375458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例2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7FAE3C-C83F-4BF4-95EF-709317FF4BB9}"/>
              </a:ext>
            </a:extLst>
          </p:cNvPr>
          <p:cNvSpPr txBox="1"/>
          <p:nvPr/>
        </p:nvSpPr>
        <p:spPr>
          <a:xfrm>
            <a:off x="501481" y="975172"/>
            <a:ext cx="8694927" cy="374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生成步长为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线性等分向量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LinRange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26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采用点调用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@. 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计算相应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轴数据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y=(x.^2).^(1/3)+0.9.*(4</a:t>
            </a:r>
            <a:r>
              <a:rPr lang="zh-CN" altLang="en-US" sz="2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.-x.^2).^(1/2).*sin.(31.4x) #8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个点的点运算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x))#y</a:t>
            </a:r>
            <a:r>
              <a:rPr lang="zh-CN" alt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变量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绘制多属性的曲线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marker=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, 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markersize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markeredgecolor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markerfacecolor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57404F-B15A-4CAF-99C8-13B35C24D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2746884"/>
            <a:ext cx="2868195" cy="17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5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E3F1A9C-A1D5-46A6-9BCD-948D32E71601}"/>
              </a:ext>
            </a:extLst>
          </p:cNvPr>
          <p:cNvSpPr/>
          <p:nvPr/>
        </p:nvSpPr>
        <p:spPr>
          <a:xfrm>
            <a:off x="2267744" y="899844"/>
            <a:ext cx="667619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设置线型、线颜色和标记符号三种线条基本属性</a:t>
            </a:r>
            <a:r>
              <a:rPr lang="en-US" altLang="zh-CN" sz="20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5476E6-2952-4EC7-9DC7-67D781DA10EB}"/>
              </a:ext>
            </a:extLst>
          </p:cNvPr>
          <p:cNvSpPr txBox="1"/>
          <p:nvPr/>
        </p:nvSpPr>
        <p:spPr>
          <a:xfrm>
            <a:off x="641769" y="144594"/>
            <a:ext cx="82431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线条基本属性</a:t>
            </a:r>
            <a:r>
              <a:rPr lang="en-US" altLang="zh-CN" sz="28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2FC34D7-9A13-433E-A22F-AAC5FD71E6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38" t="27743" r="20075" b="9402"/>
          <a:stretch/>
        </p:blipFill>
        <p:spPr>
          <a:xfrm>
            <a:off x="370490" y="1451634"/>
            <a:ext cx="8480664" cy="28483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793EB6E-B1AB-4A07-9103-B10FA1B45F5B}"/>
              </a:ext>
            </a:extLst>
          </p:cNvPr>
          <p:cNvSpPr/>
          <p:nvPr/>
        </p:nvSpPr>
        <p:spPr>
          <a:xfrm>
            <a:off x="611560" y="3291830"/>
            <a:ext cx="262472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设置数据点的线型和标记符号列表 </a:t>
            </a:r>
            <a:endParaRPr lang="en-US" altLang="zh-CN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359FAC-460D-4367-B5BB-93E1BB86B523}"/>
              </a:ext>
            </a:extLst>
          </p:cNvPr>
          <p:cNvSpPr/>
          <p:nvPr/>
        </p:nvSpPr>
        <p:spPr>
          <a:xfrm>
            <a:off x="363354" y="930622"/>
            <a:ext cx="1793314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plot(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x,y,</a:t>
            </a:r>
            <a:r>
              <a:rPr lang="en-US" altLang="zh-CN" sz="2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fmt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) </a:t>
            </a:r>
          </a:p>
        </p:txBody>
      </p:sp>
      <p:sp>
        <p:nvSpPr>
          <p:cNvPr id="18" name="标注: 线形 17">
            <a:extLst>
              <a:ext uri="{FF2B5EF4-FFF2-40B4-BE49-F238E27FC236}">
                <a16:creationId xmlns:a16="http://schemas.microsoft.com/office/drawing/2014/main" id="{5950517E-D553-46E2-886F-16505905C214}"/>
              </a:ext>
            </a:extLst>
          </p:cNvPr>
          <p:cNvSpPr/>
          <p:nvPr/>
        </p:nvSpPr>
        <p:spPr>
          <a:xfrm>
            <a:off x="5907719" y="3797483"/>
            <a:ext cx="320465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8</a:t>
            </a:r>
            <a:endParaRPr lang="zh-CN" altLang="en-US" sz="1200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" name="标注: 线形 19">
            <a:extLst>
              <a:ext uri="{FF2B5EF4-FFF2-40B4-BE49-F238E27FC236}">
                <a16:creationId xmlns:a16="http://schemas.microsoft.com/office/drawing/2014/main" id="{0CF3AE7D-6053-4FFB-99AC-F0B59C7EB933}"/>
              </a:ext>
            </a:extLst>
          </p:cNvPr>
          <p:cNvSpPr/>
          <p:nvPr/>
        </p:nvSpPr>
        <p:spPr>
          <a:xfrm>
            <a:off x="8316416" y="1707654"/>
            <a:ext cx="320465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endParaRPr lang="zh-CN" altLang="en-US" sz="1200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2" name="标注: 线形 21">
            <a:extLst>
              <a:ext uri="{FF2B5EF4-FFF2-40B4-BE49-F238E27FC236}">
                <a16:creationId xmlns:a16="http://schemas.microsoft.com/office/drawing/2014/main" id="{3971C2A8-ACCD-4BF6-9AC9-E01DE5CAD9EB}"/>
              </a:ext>
            </a:extLst>
          </p:cNvPr>
          <p:cNvSpPr/>
          <p:nvPr/>
        </p:nvSpPr>
        <p:spPr>
          <a:xfrm>
            <a:off x="8301400" y="2315285"/>
            <a:ext cx="320465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6</a:t>
            </a:r>
            <a:endParaRPr lang="zh-CN" altLang="en-US" sz="1200" dirty="0">
              <a:solidFill>
                <a:srgbClr val="FFFF00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AutoShape 13">
            <a:extLst>
              <a:ext uri="{FF2B5EF4-FFF2-40B4-BE49-F238E27FC236}">
                <a16:creationId xmlns:a16="http://schemas.microsoft.com/office/drawing/2014/main" id="{F43FE73D-A372-4504-8CB0-10327FE45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60" y="2704635"/>
            <a:ext cx="3240360" cy="495966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  <a:latin typeface="Menlo"/>
              </a:rPr>
              <a:t>线型和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一样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0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0" grpId="0" animBg="1"/>
      <p:bldP spid="22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5BEA7F4-2F18-7609-75E6-1BB8ACFB59FB}"/>
              </a:ext>
            </a:extLst>
          </p:cNvPr>
          <p:cNvSpPr txBox="1">
            <a:spLocks/>
          </p:cNvSpPr>
          <p:nvPr/>
        </p:nvSpPr>
        <p:spPr bwMode="auto">
          <a:xfrm>
            <a:off x="683568" y="861159"/>
            <a:ext cx="8594758" cy="250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dist"/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线条颜色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color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颜色全称、简称、</a:t>
            </a:r>
            <a:r>
              <a:rPr lang="en-US" altLang="zh-CN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2000" b="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三元素、十六进制颜色四种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AE1713-D4A4-4DD4-A3F2-08C7620E0A40}"/>
              </a:ext>
            </a:extLst>
          </p:cNvPr>
          <p:cNvSpPr/>
          <p:nvPr/>
        </p:nvSpPr>
        <p:spPr>
          <a:xfrm>
            <a:off x="346780" y="3436439"/>
            <a:ext cx="8572968" cy="11440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线条基本属性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fmt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采用字符串表示，三种属性可以按任意顺序排列，“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en-US" altLang="zh-CN" sz="16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rd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,”r-d”</a:t>
            </a: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不需要同时指定线型、标记和颜色三个特征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plot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如果忽略线型，只指定标记，则绘图只显示标记，不显示线条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相当散点图。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FC7C4D-78CA-4B14-8FCF-802B892C95D7}"/>
              </a:ext>
            </a:extLst>
          </p:cNvPr>
          <p:cNvSpPr txBox="1"/>
          <p:nvPr/>
        </p:nvSpPr>
        <p:spPr>
          <a:xfrm>
            <a:off x="683568" y="62669"/>
            <a:ext cx="81072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线条基本属性</a:t>
            </a:r>
            <a:r>
              <a:rPr lang="en-US" altLang="zh-CN" sz="28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B130CE-952B-4BBF-911F-745DF88FC8C3}"/>
              </a:ext>
            </a:extLst>
          </p:cNvPr>
          <p:cNvSpPr txBox="1"/>
          <p:nvPr/>
        </p:nvSpPr>
        <p:spPr>
          <a:xfrm>
            <a:off x="2699792" y="2036119"/>
            <a:ext cx="100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青绿色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38B030-DA99-4568-9C84-2E189CF694C6}"/>
              </a:ext>
            </a:extLst>
          </p:cNvPr>
          <p:cNvSpPr txBox="1"/>
          <p:nvPr/>
        </p:nvSpPr>
        <p:spPr>
          <a:xfrm>
            <a:off x="2699792" y="2318010"/>
            <a:ext cx="100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洋红色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539178-DE68-DA0E-BA58-2B5B22CBBD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9" t="26900" r="8860" b="16463"/>
          <a:stretch/>
        </p:blipFill>
        <p:spPr>
          <a:xfrm>
            <a:off x="355382" y="1127574"/>
            <a:ext cx="8564366" cy="23082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标注: 线形 10">
            <a:extLst>
              <a:ext uri="{FF2B5EF4-FFF2-40B4-BE49-F238E27FC236}">
                <a16:creationId xmlns:a16="http://schemas.microsoft.com/office/drawing/2014/main" id="{58A07050-A329-4DA3-90F1-159CB790DB93}"/>
              </a:ext>
            </a:extLst>
          </p:cNvPr>
          <p:cNvSpPr/>
          <p:nvPr/>
        </p:nvSpPr>
        <p:spPr>
          <a:xfrm>
            <a:off x="2483768" y="2036119"/>
            <a:ext cx="608497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青色</a:t>
            </a: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5770BE45-6F61-4FB4-8161-A50A548A3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20" y="3075806"/>
            <a:ext cx="3382029" cy="39232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  <a:latin typeface="Menlo"/>
              </a:rPr>
              <a:t>和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命令一样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16" name="标注: 线形 15">
            <a:extLst>
              <a:ext uri="{FF2B5EF4-FFF2-40B4-BE49-F238E27FC236}">
                <a16:creationId xmlns:a16="http://schemas.microsoft.com/office/drawing/2014/main" id="{99769B81-9335-4264-BBA0-446E58541767}"/>
              </a:ext>
            </a:extLst>
          </p:cNvPr>
          <p:cNvSpPr/>
          <p:nvPr/>
        </p:nvSpPr>
        <p:spPr>
          <a:xfrm>
            <a:off x="2483768" y="2222743"/>
            <a:ext cx="608497" cy="276999"/>
          </a:xfrm>
          <a:prstGeom prst="borderCallout1">
            <a:avLst>
              <a:gd name="adj1" fmla="val 18750"/>
              <a:gd name="adj2" fmla="val -8333"/>
              <a:gd name="adj3" fmla="val -23361"/>
              <a:gd name="adj4" fmla="val -124901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FF00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</a:rPr>
              <a:t>洋红</a:t>
            </a:r>
          </a:p>
        </p:txBody>
      </p:sp>
    </p:spTree>
    <p:extLst>
      <p:ext uri="{BB962C8B-B14F-4D97-AF65-F5344CB8AC3E}">
        <p14:creationId xmlns:p14="http://schemas.microsoft.com/office/powerpoint/2010/main" val="333504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7E94E61-4929-42D6-AC6A-EE8933299F35}"/>
              </a:ext>
            </a:extLst>
          </p:cNvPr>
          <p:cNvSpPr/>
          <p:nvPr/>
        </p:nvSpPr>
        <p:spPr>
          <a:xfrm>
            <a:off x="158373" y="1766940"/>
            <a:ext cx="8572822" cy="2157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生成步长</a:t>
            </a: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0.02 </a:t>
            </a:r>
            <a:r>
              <a:rPr lang="zh-CN" altLang="en-US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共</a:t>
            </a: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201</a:t>
            </a:r>
            <a:r>
              <a:rPr lang="zh-CN" altLang="en-US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个元素的向量</a:t>
            </a: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</a:p>
          <a:p>
            <a:pPr>
              <a:lnSpc>
                <a:spcPts val="27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x=-2:0.02:2;  </a:t>
            </a:r>
            <a:endParaRPr lang="en-US" altLang="zh-CN" sz="2400" dirty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7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建立函数</a:t>
            </a: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f(x) </a:t>
            </a:r>
          </a:p>
          <a:p>
            <a:pPr>
              <a:lnSpc>
                <a:spcPts val="26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y=@. ((x^2)^(1/3)+0.9*(4-x^2)^(1/2)*sin(31.4x))</a:t>
            </a:r>
          </a:p>
          <a:p>
            <a:pPr>
              <a:lnSpc>
                <a:spcPts val="2700"/>
              </a:lnSpc>
            </a:pP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采用点运算计算</a:t>
            </a:r>
            <a:r>
              <a:rPr lang="en-US" altLang="zh-CN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4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轴数据</a:t>
            </a:r>
            <a:endParaRPr lang="en-US" altLang="zh-CN" sz="2400" dirty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7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plot(x,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y,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"--g1")  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A4353B36-1829-49B5-911C-45F077D3F9F2}"/>
              </a:ext>
            </a:extLst>
          </p:cNvPr>
          <p:cNvSpPr txBox="1">
            <a:spLocks noChangeArrowheads="1"/>
          </p:cNvSpPr>
          <p:nvPr/>
        </p:nvSpPr>
        <p:spPr>
          <a:xfrm>
            <a:off x="669884" y="808785"/>
            <a:ext cx="8474116" cy="35394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 eaLnBrk="0" hangingPunct="0">
              <a:defRPr sz="1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/>
            <a:r>
              <a:rPr lang="zh-CN" altLang="en-US" sz="1700" dirty="0"/>
              <a:t>绘制</a:t>
            </a:r>
            <a:r>
              <a:rPr lang="es-ES" altLang="zh-CN" sz="1700" dirty="0"/>
              <a:t>y=f(x)=(x2)(1/3)+0.9(4- x2)(1/2)sin(31.4x)</a:t>
            </a:r>
            <a:r>
              <a:rPr lang="zh-CN" altLang="en-US" sz="1700" dirty="0"/>
              <a:t>曲线在</a:t>
            </a:r>
            <a:r>
              <a:rPr lang="en-US" altLang="zh-CN" sz="1700" dirty="0"/>
              <a:t>x [-2,2]</a:t>
            </a:r>
            <a:r>
              <a:rPr lang="zh-CN" altLang="en-US" sz="1700" dirty="0"/>
              <a:t> 绿色、虚线、</a:t>
            </a:r>
            <a:r>
              <a:rPr lang="en-US" altLang="zh-CN" sz="1700" dirty="0"/>
              <a:t>Y</a:t>
            </a:r>
            <a:r>
              <a:rPr lang="zh-CN" altLang="en-US" sz="1700" dirty="0"/>
              <a:t>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2872756-52DE-4C0A-8905-B102F9716FDA}"/>
              </a:ext>
            </a:extLst>
          </p:cNvPr>
          <p:cNvSpPr txBox="1"/>
          <p:nvPr/>
        </p:nvSpPr>
        <p:spPr>
          <a:xfrm>
            <a:off x="0" y="1203598"/>
            <a:ext cx="9103458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#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先建立函数表达式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f(x),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再调用函数点运算</a:t>
            </a:r>
            <a:r>
              <a:rPr lang="en-US" altLang="zh-CN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f.(x),f</a:t>
            </a:r>
            <a:r>
              <a:rPr lang="zh-CN" altLang="en-US" dirty="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Arial" panose="020B0604020202020204" pitchFamily="34" charset="0"/>
              </a:rPr>
              <a:t>(x)=(x^2)^(1/3)+0.9*(4-x^2)^(1/2)*sin(31.4x)</a:t>
            </a:r>
            <a:endParaRPr lang="en-US" altLang="zh-CN" dirty="0">
              <a:solidFill>
                <a:schemeClr val="bg1"/>
              </a:solidFill>
              <a:highlight>
                <a:srgbClr val="003B76"/>
              </a:highlight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8CA2268-640D-4D9E-B11A-21EA0B8EDCD9}"/>
              </a:ext>
            </a:extLst>
          </p:cNvPr>
          <p:cNvSpPr txBox="1"/>
          <p:nvPr/>
        </p:nvSpPr>
        <p:spPr>
          <a:xfrm>
            <a:off x="755576" y="60085"/>
            <a:ext cx="817818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线条基本属性</a:t>
            </a:r>
            <a:r>
              <a:rPr lang="en-US" altLang="zh-CN" sz="28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波形 7">
            <a:extLst>
              <a:ext uri="{FF2B5EF4-FFF2-40B4-BE49-F238E27FC236}">
                <a16:creationId xmlns:a16="http://schemas.microsoft.com/office/drawing/2014/main" id="{00670DD3-60A2-45F9-A540-BDB3F05EF241}"/>
              </a:ext>
            </a:extLst>
          </p:cNvPr>
          <p:cNvSpPr/>
          <p:nvPr/>
        </p:nvSpPr>
        <p:spPr>
          <a:xfrm>
            <a:off x="77054" y="791918"/>
            <a:ext cx="561879" cy="33236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例3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41AEA1-BE5F-4809-A3F3-CEF2FFFF38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350" t="12200" r="12988" b="17800"/>
          <a:stretch/>
        </p:blipFill>
        <p:spPr>
          <a:xfrm>
            <a:off x="6075776" y="2099379"/>
            <a:ext cx="2857268" cy="156992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2AAE04B-FF2E-4418-B510-A80AAA727D16}"/>
              </a:ext>
            </a:extLst>
          </p:cNvPr>
          <p:cNvSpPr txBox="1"/>
          <p:nvPr/>
        </p:nvSpPr>
        <p:spPr>
          <a:xfrm>
            <a:off x="1186342" y="4172324"/>
            <a:ext cx="788459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LinRange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</a:t>
            </a:r>
            <a:r>
              <a:rPr lang="zh-CN" altLang="en-US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个元素，并定义和调用函数，再绘曲线，设置任意</a:t>
            </a:r>
            <a:r>
              <a:rPr lang="en-US" altLang="zh-CN" b="1" kern="1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endParaRPr lang="zh-CN" altLang="en-US" dirty="0"/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EA344E7B-FBDA-46D7-9F68-A630AF12F615}"/>
              </a:ext>
            </a:extLst>
          </p:cNvPr>
          <p:cNvSpPr/>
          <p:nvPr/>
        </p:nvSpPr>
        <p:spPr>
          <a:xfrm>
            <a:off x="175642" y="4155926"/>
            <a:ext cx="1013424" cy="38573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2994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EEC93ED-9B54-D96E-A895-BD834A323881}"/>
              </a:ext>
            </a:extLst>
          </p:cNvPr>
          <p:cNvSpPr/>
          <p:nvPr/>
        </p:nvSpPr>
        <p:spPr>
          <a:xfrm>
            <a:off x="367856" y="764549"/>
            <a:ext cx="8672392" cy="36049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4000"/>
              </a:lnSpc>
              <a:buFont typeface="+mj-ea"/>
              <a:buAutoNum type="circleNumDbPlain"/>
            </a:pP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图形句柄</a:t>
            </a:r>
            <a:r>
              <a:rPr lang="en-US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handle:</a:t>
            </a: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图形对象的名字</a:t>
            </a:r>
            <a:r>
              <a:rPr lang="en-US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是唯一标识符，一个句柄代表一个图形对象。</a:t>
            </a:r>
            <a:endParaRPr lang="en-US" altLang="zh-CN" sz="22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4000"/>
              </a:lnSpc>
              <a:buFont typeface="+mj-ea"/>
              <a:buAutoNum type="circleNumDbPlain" startAt="2"/>
            </a:pP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图形句柄存储图形对象的全部属性，用句柄查询和设置对象属性，完成对图形对象的操作。</a:t>
            </a:r>
            <a:endParaRPr lang="en-US" altLang="zh-CN" sz="22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4000"/>
              </a:lnSpc>
              <a:buFont typeface="+mj-ea"/>
              <a:buAutoNum type="circleNumDbPlain" startAt="2"/>
            </a:pP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查询图形对象属性</a:t>
            </a:r>
            <a:endParaRPr lang="en-US" altLang="zh-CN" sz="22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4000"/>
              </a:lnSpc>
              <a:buFont typeface="+mj-ea"/>
              <a:buAutoNum type="circleNumDbPlain" startAt="2"/>
            </a:pPr>
            <a:r>
              <a:rPr lang="en-US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设置图形对象</a:t>
            </a:r>
            <a:r>
              <a:rPr lang="zh-CN" altLang="en-US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zh-CN" sz="22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属性</a:t>
            </a:r>
            <a:endParaRPr lang="en-US" altLang="zh-CN" sz="22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3800"/>
              </a:lnSpc>
            </a:pPr>
            <a:endParaRPr lang="en-US" altLang="zh-CN" sz="22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4A02FC-6E0E-B045-D559-FC549349B5E7}"/>
              </a:ext>
            </a:extLst>
          </p:cNvPr>
          <p:cNvSpPr/>
          <p:nvPr/>
        </p:nvSpPr>
        <p:spPr>
          <a:xfrm>
            <a:off x="2483768" y="1378360"/>
            <a:ext cx="32919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如给曲线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图形对象起名</a:t>
            </a:r>
            <a:endParaRPr lang="en-US" altLang="zh-CN" sz="2000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6F7BCE-F34E-FCB2-6B25-D44E08892370}"/>
              </a:ext>
            </a:extLst>
          </p:cNvPr>
          <p:cNvSpPr/>
          <p:nvPr/>
        </p:nvSpPr>
        <p:spPr>
          <a:xfrm>
            <a:off x="5300334" y="1378360"/>
            <a:ext cx="1143874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h=plot( )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2709A02-DE8C-F8B2-DD84-57C8A82F3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" y="716129"/>
            <a:ext cx="184731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680A80-B940-4131-BA87-7F5EEF9B0333}"/>
              </a:ext>
            </a:extLst>
          </p:cNvPr>
          <p:cNvSpPr txBox="1"/>
          <p:nvPr/>
        </p:nvSpPr>
        <p:spPr>
          <a:xfrm>
            <a:off x="903344" y="69048"/>
            <a:ext cx="813690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句柄设置属性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2F7489-97EA-4103-BAE6-17C7E0E2B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852" y="2888234"/>
            <a:ext cx="1578188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v = plt_get(h)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C452A3-A37B-47DD-A138-FDB818138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82" y="4005624"/>
            <a:ext cx="2377066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plt_set(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h,</a:t>
            </a: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Key=Value) </a:t>
            </a: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629F0F77-35FA-4E3A-9813-F79AC861F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427" y="3867894"/>
            <a:ext cx="985059" cy="61381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rgbClr val="FFFF00"/>
                </a:solidFill>
              </a:rPr>
              <a:t>注意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C38121-8A8F-4EAD-BD60-1FF43FA792E9}"/>
              </a:ext>
            </a:extLst>
          </p:cNvPr>
          <p:cNvSpPr txBox="1"/>
          <p:nvPr/>
        </p:nvSpPr>
        <p:spPr>
          <a:xfrm>
            <a:off x="5788417" y="2888234"/>
            <a:ext cx="2884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plt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是一种向量图形格式</a:t>
            </a:r>
            <a:endParaRPr lang="en-US" altLang="zh-CN" sz="2000" b="1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91AABC-421A-4A25-AFA9-B128BFDD7815}"/>
              </a:ext>
            </a:extLst>
          </p:cNvPr>
          <p:cNvSpPr txBox="1"/>
          <p:nvPr/>
        </p:nvSpPr>
        <p:spPr>
          <a:xfrm>
            <a:off x="5148064" y="4023113"/>
            <a:ext cx="3786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或圆点法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299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2" grpId="0" animBg="1"/>
      <p:bldP spid="3" grpId="0" animBg="1"/>
      <p:bldP spid="12" grpId="0" animBg="1"/>
      <p:bldP spid="14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>
            <a:extLst>
              <a:ext uri="{FF2B5EF4-FFF2-40B4-BE49-F238E27FC236}">
                <a16:creationId xmlns:a16="http://schemas.microsoft.com/office/drawing/2014/main" id="{2BC4214E-586D-3D12-96B8-518D76FFFA1F}"/>
              </a:ext>
            </a:extLst>
          </p:cNvPr>
          <p:cNvSpPr txBox="1">
            <a:spLocks/>
          </p:cNvSpPr>
          <p:nvPr/>
        </p:nvSpPr>
        <p:spPr bwMode="auto">
          <a:xfrm>
            <a:off x="483134" y="2211710"/>
            <a:ext cx="4877088" cy="2649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生成步长</a:t>
            </a: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0.02</a:t>
            </a:r>
            <a:r>
              <a:rPr lang="zh-CN" altLang="en-US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线性等分向量</a:t>
            </a: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x = </a:t>
            </a:r>
            <a:r>
              <a:rPr lang="en-US" altLang="zh-CN" sz="20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LinRange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(-2,2,201);  </a:t>
            </a:r>
            <a:endParaRPr lang="en-US" altLang="zh-CN" sz="2000" dirty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建立函数</a:t>
            </a: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y(x) 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(x)=(x^2)^(1/3)+0.9*(4-x^2)^(1/2)*sin(31.4x)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采用函数点运算</a:t>
            </a: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y.(x)</a:t>
            </a:r>
            <a:r>
              <a:rPr lang="zh-CN" altLang="en-US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r>
              <a:rPr lang="en-US" altLang="zh-CN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00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轴数据</a:t>
            </a:r>
            <a:endParaRPr lang="en-US" altLang="zh-CN" sz="2000" dirty="0">
              <a:solidFill>
                <a:srgbClr val="00B05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y=f.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(x)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h=plot(x,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y,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“--g1”)  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线句柄名字为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#set</a:t>
            </a:r>
            <a:r>
              <a:rPr lang="zh-CN" altLang="en-US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改变曲线属性</a:t>
            </a:r>
            <a:endParaRPr lang="zh-CN" altLang="en-US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600"/>
              </a:lnSpc>
            </a:pPr>
            <a:r>
              <a:rPr lang="en-US" altLang="zh-CN" sz="2000" b="0" dirty="0" err="1">
                <a:solidFill>
                  <a:srgbClr val="795E26"/>
                </a:solidFill>
                <a:latin typeface="Consolas" panose="020B0609020204030204" pitchFamily="49" charset="0"/>
              </a:rPr>
              <a:t>plt_set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h,color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A31515"/>
                </a:solidFill>
                <a:latin typeface="Consolas" panose="020B0609020204030204" pitchFamily="49" charset="0"/>
              </a:rPr>
              <a:t>"m"</a:t>
            </a:r>
            <a:r>
              <a:rPr lang="en-US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600"/>
              </a:lnSpc>
            </a:pPr>
            <a:r>
              <a:rPr lang="da-DK" altLang="zh-CN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plt_set(h,marker="h")</a:t>
            </a:r>
            <a:endParaRPr lang="zh-CN" altLang="en-US" sz="2000" b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endParaRPr lang="en-US" altLang="zh-CN" sz="2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69E44F-8BAC-9238-E6AF-5F485070750F}"/>
              </a:ext>
            </a:extLst>
          </p:cNvPr>
          <p:cNvSpPr txBox="1"/>
          <p:nvPr/>
        </p:nvSpPr>
        <p:spPr>
          <a:xfrm>
            <a:off x="678536" y="735175"/>
            <a:ext cx="835796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 eaLnBrk="0" hangingPunct="0"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s-ES" altLang="zh-CN" sz="1800" dirty="0"/>
              <a:t>y=(x</a:t>
            </a:r>
            <a:r>
              <a:rPr lang="es-ES" altLang="zh-CN" sz="1800" baseline="30000" dirty="0"/>
              <a:t>2</a:t>
            </a:r>
            <a:r>
              <a:rPr lang="es-ES" altLang="zh-CN" sz="1800" dirty="0"/>
              <a:t>) </a:t>
            </a:r>
            <a:r>
              <a:rPr lang="es-ES" altLang="zh-CN" sz="1800" baseline="30000" dirty="0"/>
              <a:t>(1/3)</a:t>
            </a:r>
            <a:r>
              <a:rPr lang="es-ES" altLang="zh-CN" sz="1800" dirty="0"/>
              <a:t>+0.9 (4- x</a:t>
            </a:r>
            <a:r>
              <a:rPr lang="es-ES" altLang="zh-CN" sz="1800" baseline="30000" dirty="0"/>
              <a:t>2</a:t>
            </a:r>
            <a:r>
              <a:rPr lang="es-ES" altLang="zh-CN" sz="1800" dirty="0"/>
              <a:t>) </a:t>
            </a:r>
            <a:r>
              <a:rPr lang="es-ES" altLang="zh-CN" sz="1800" baseline="30000" dirty="0"/>
              <a:t>(1/2)</a:t>
            </a:r>
            <a:r>
              <a:rPr lang="es-ES" altLang="zh-CN" sz="1800" dirty="0"/>
              <a:t>sin (31.4x)</a:t>
            </a:r>
            <a:r>
              <a:rPr lang="zh-CN" altLang="en-US" sz="1800" dirty="0">
                <a:sym typeface="+mn-ea"/>
              </a:rPr>
              <a:t>图形句柄设置标记符为六边形</a:t>
            </a:r>
            <a:endParaRPr lang="zh-CN" altLang="en-US" sz="1800" dirty="0">
              <a:sym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48B635-8D1D-4FB6-A58A-0F96D5AD25FC}"/>
              </a:ext>
            </a:extLst>
          </p:cNvPr>
          <p:cNvSpPr txBox="1"/>
          <p:nvPr/>
        </p:nvSpPr>
        <p:spPr>
          <a:xfrm>
            <a:off x="789064" y="106813"/>
            <a:ext cx="81369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6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图形句柄设置属性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波形 9">
            <a:extLst>
              <a:ext uri="{FF2B5EF4-FFF2-40B4-BE49-F238E27FC236}">
                <a16:creationId xmlns:a16="http://schemas.microsoft.com/office/drawing/2014/main" id="{3A55F222-0600-4B0D-895B-CB523D1D1CFE}"/>
              </a:ext>
            </a:extLst>
          </p:cNvPr>
          <p:cNvSpPr/>
          <p:nvPr/>
        </p:nvSpPr>
        <p:spPr>
          <a:xfrm>
            <a:off x="292790" y="772141"/>
            <a:ext cx="380688" cy="33236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例4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9B9ED7E-CE41-46C7-992C-575073BD79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350" t="12200" r="12988" b="17800"/>
          <a:stretch/>
        </p:blipFill>
        <p:spPr>
          <a:xfrm>
            <a:off x="5591974" y="1212148"/>
            <a:ext cx="2857268" cy="15699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D04055-FD00-4836-8A6D-82B1358A9F6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4563" t="15012" r="11413" b="17800"/>
          <a:stretch/>
        </p:blipFill>
        <p:spPr>
          <a:xfrm>
            <a:off x="5730884" y="2751606"/>
            <a:ext cx="3074965" cy="156992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FAD0267-EB3C-4FC5-8168-7FDA90051138}"/>
              </a:ext>
            </a:extLst>
          </p:cNvPr>
          <p:cNvSpPr txBox="1"/>
          <p:nvPr/>
        </p:nvSpPr>
        <p:spPr>
          <a:xfrm>
            <a:off x="3921395" y="4090311"/>
            <a:ext cx="3074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plt_set(h,color=[1,0.1,0.6])</a:t>
            </a:r>
          </a:p>
        </p:txBody>
      </p:sp>
    </p:spTree>
    <p:extLst>
      <p:ext uri="{BB962C8B-B14F-4D97-AF65-F5344CB8AC3E}">
        <p14:creationId xmlns:p14="http://schemas.microsoft.com/office/powerpoint/2010/main" val="2381709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30F8DE25-814A-48F9-B567-B125220B1AC7}"/>
              </a:ext>
            </a:extLst>
          </p:cNvPr>
          <p:cNvSpPr txBox="1">
            <a:spLocks noChangeArrowheads="1"/>
          </p:cNvSpPr>
          <p:nvPr/>
        </p:nvSpPr>
        <p:spPr>
          <a:xfrm>
            <a:off x="883795" y="1133994"/>
            <a:ext cx="8024484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sz="1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dist"/>
            <a:r>
              <a:rPr lang="zh-CN" altLang="en-US" dirty="0"/>
              <a:t>绘制</a:t>
            </a:r>
            <a:r>
              <a:rPr lang="en-US" altLang="zh-CN" dirty="0"/>
              <a:t>a=31.4</a:t>
            </a:r>
            <a:r>
              <a:rPr lang="zh-CN" altLang="en-US" dirty="0"/>
              <a:t>和</a:t>
            </a:r>
            <a:r>
              <a:rPr lang="en-US" altLang="zh-CN" dirty="0"/>
              <a:t>314</a:t>
            </a:r>
            <a:r>
              <a:rPr lang="zh-CN" altLang="en-US" dirty="0"/>
              <a:t>时</a:t>
            </a:r>
            <a:r>
              <a:rPr lang="es-ES" altLang="zh-CN" dirty="0"/>
              <a:t>y=(x^2)(1/3)+0.9(4- x^2)^(1/2)sin(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*</a:t>
            </a:r>
            <a:r>
              <a:rPr lang="es-ES" altLang="zh-CN" dirty="0"/>
              <a:t>x)</a:t>
            </a:r>
            <a:r>
              <a:rPr lang="zh-CN" altLang="en-US" dirty="0"/>
              <a:t>两曲线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49E45D5-B1A6-4DD3-8CDF-E1BB999227CD}"/>
              </a:ext>
            </a:extLst>
          </p:cNvPr>
          <p:cNvSpPr txBox="1">
            <a:spLocks/>
          </p:cNvSpPr>
          <p:nvPr/>
        </p:nvSpPr>
        <p:spPr bwMode="auto">
          <a:xfrm>
            <a:off x="303188" y="790772"/>
            <a:ext cx="6260016" cy="3180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endParaRPr lang="en-US" altLang="zh-CN" sz="2000" b="1" i="0" dirty="0">
              <a:solidFill>
                <a:srgbClr val="0070C0"/>
              </a:solidFill>
              <a:effectLst/>
              <a:latin typeface="-apple-system"/>
            </a:endParaRPr>
          </a:p>
          <a:p>
            <a:pPr algn="l"/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在同一坐标区绘制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-apple-system"/>
              </a:rPr>
              <a:t>x1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-apple-system"/>
              </a:rPr>
              <a:t>和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-apple-system"/>
              </a:rPr>
              <a:t>y1</a:t>
            </a:r>
            <a:r>
              <a:rPr lang="en-US" altLang="zh-CN" sz="2000" b="1" dirty="0">
                <a:solidFill>
                  <a:srgbClr val="0070C0"/>
                </a:solidFill>
                <a:latin typeface="-apple-system"/>
              </a:rPr>
              <a:t>…</a:t>
            </a:r>
            <a:r>
              <a:rPr lang="en-US" altLang="zh-CN" sz="2000" b="1" dirty="0" err="1">
                <a:solidFill>
                  <a:srgbClr val="0070C0"/>
                </a:solidFill>
                <a:latin typeface="-apple-system"/>
              </a:rPr>
              <a:t>xn</a:t>
            </a:r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和</a:t>
            </a:r>
            <a:r>
              <a:rPr lang="en-US" altLang="zh-CN" sz="2000" b="1" dirty="0" err="1">
                <a:solidFill>
                  <a:srgbClr val="0070C0"/>
                </a:solidFill>
                <a:latin typeface="-apple-system"/>
              </a:rPr>
              <a:t>yn</a:t>
            </a:r>
            <a:r>
              <a:rPr lang="zh-CN" altLang="en-US" sz="2000" b="1" dirty="0">
                <a:solidFill>
                  <a:srgbClr val="0070C0"/>
                </a:solidFill>
                <a:latin typeface="-apple-system"/>
              </a:rPr>
              <a:t>多对数据的多条曲线</a:t>
            </a:r>
            <a:br>
              <a:rPr lang="en-US" altLang="zh-CN" sz="2000" b="1" kern="0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endParaRPr lang="zh-CN" altLang="en-US" sz="2000" b="1" kern="0" dirty="0">
              <a:solidFill>
                <a:srgbClr val="0070C0"/>
              </a:solidFill>
            </a:endParaRP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61E9D182-3BBD-03B1-424B-F1EC8FB574A5}"/>
              </a:ext>
            </a:extLst>
          </p:cNvPr>
          <p:cNvSpPr/>
          <p:nvPr/>
        </p:nvSpPr>
        <p:spPr>
          <a:xfrm>
            <a:off x="395536" y="1190404"/>
            <a:ext cx="477586" cy="31805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例5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86D030B-04CE-EB68-361D-6F761B12A5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093" b="69116" l="37428" r="65960"/>
                    </a14:imgEffect>
                  </a14:imgLayer>
                </a14:imgProps>
              </a:ext>
            </a:extLst>
          </a:blip>
          <a:srcRect l="33862" t="19590" r="30474" b="25381"/>
          <a:stretch/>
        </p:blipFill>
        <p:spPr>
          <a:xfrm>
            <a:off x="5970963" y="2375498"/>
            <a:ext cx="3372809" cy="2426562"/>
          </a:xfrm>
          <a:prstGeom prst="rect">
            <a:avLst/>
          </a:prstGeom>
          <a:effectLst/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5E638C2-8C8D-092D-274A-7F804E352BC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812" b="70491" l="36780" r="65788"/>
                    </a14:imgEffect>
                  </a14:imgLayer>
                </a14:imgProps>
              </a:ext>
            </a:extLst>
          </a:blip>
          <a:srcRect l="33154" t="20227" r="30586" b="23924"/>
          <a:stretch/>
        </p:blipFill>
        <p:spPr>
          <a:xfrm>
            <a:off x="6664046" y="1349431"/>
            <a:ext cx="2478996" cy="1752528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617D02-5A3D-4005-96BD-3A89CCB3AB3E}"/>
              </a:ext>
            </a:extLst>
          </p:cNvPr>
          <p:cNvSpPr txBox="1"/>
          <p:nvPr/>
        </p:nvSpPr>
        <p:spPr>
          <a:xfrm>
            <a:off x="683568" y="76657"/>
            <a:ext cx="84969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图形对象、属性和句柄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图形句柄设置属性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A06EBB-A139-4C88-ADB7-17A0392B4A98}"/>
              </a:ext>
            </a:extLst>
          </p:cNvPr>
          <p:cNvSpPr/>
          <p:nvPr/>
        </p:nvSpPr>
        <p:spPr>
          <a:xfrm>
            <a:off x="6473925" y="758676"/>
            <a:ext cx="2366887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dist" eaLnBrk="0" hangingPunct="0"/>
            <a:r>
              <a:rPr lang="zh-CN" altLang="zh-CN" sz="1600" dirty="0">
                <a:solidFill>
                  <a:schemeClr val="bg1"/>
                </a:solidFill>
                <a:latin typeface="Arial Unicode MS"/>
                <a:ea typeface="source-code-pro"/>
              </a:rPr>
              <a:t>plot(X1,Y1,...,Xn,Yn)</a:t>
            </a:r>
            <a:r>
              <a:rPr lang="zh-CN" altLang="zh-CN" sz="1600" dirty="0">
                <a:solidFill>
                  <a:schemeClr val="bg1"/>
                </a:solidFill>
              </a:rPr>
              <a:t> </a:t>
            </a:r>
            <a:endParaRPr lang="zh-CN" altLang="zh-CN" sz="1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7467A9A-C7A7-43D8-A110-454DE23D3B9B}"/>
              </a:ext>
            </a:extLst>
          </p:cNvPr>
          <p:cNvSpPr txBox="1"/>
          <p:nvPr/>
        </p:nvSpPr>
        <p:spPr>
          <a:xfrm>
            <a:off x="303188" y="1481751"/>
            <a:ext cx="6693174" cy="3187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xx=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定义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关于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的函数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</a:t>
            </a:r>
            <a:r>
              <a:rPr lang="en-US" altLang="zh-CN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)=(x^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-x^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(a*x); </a:t>
            </a:r>
          </a:p>
          <a:p>
            <a:pPr>
              <a:lnSpc>
                <a:spcPts val="27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点运算的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两条曲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线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h=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.(xx,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.(xx,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314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线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用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Y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标记符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plt_set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],marker=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27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线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用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标记符</a:t>
            </a:r>
            <a:endParaRPr lang="en-US" altLang="zh-CN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plt_set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],marker=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53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80E6E39-D7B9-F0C9-669C-815B2E2852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6" t="1142" r="29525" b="4285"/>
          <a:stretch/>
        </p:blipFill>
        <p:spPr>
          <a:xfrm>
            <a:off x="5407603" y="1703277"/>
            <a:ext cx="3321830" cy="21911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E604D1C-A774-E364-22A1-BD1203B51929}"/>
              </a:ext>
            </a:extLst>
          </p:cNvPr>
          <p:cNvSpPr/>
          <p:nvPr/>
        </p:nvSpPr>
        <p:spPr>
          <a:xfrm>
            <a:off x="528569" y="743434"/>
            <a:ext cx="8291904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dist" eaLnBrk="0" hangingPunct="0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图形窗口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figure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提供绘制窗口或输出图形，图形窗口打开方式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B7B733-887F-AF22-B0AD-E6C7A20CE32D}"/>
              </a:ext>
            </a:extLst>
          </p:cNvPr>
          <p:cNvSpPr/>
          <p:nvPr/>
        </p:nvSpPr>
        <p:spPr>
          <a:xfrm>
            <a:off x="6173541" y="3216488"/>
            <a:ext cx="21611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plot(sin.(1:200))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642E44-38E3-4F89-4DC5-83741D746041}"/>
              </a:ext>
            </a:extLst>
          </p:cNvPr>
          <p:cNvSpPr/>
          <p:nvPr/>
        </p:nvSpPr>
        <p:spPr>
          <a:xfrm>
            <a:off x="5245469" y="1234279"/>
            <a:ext cx="3575004" cy="370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00050" indent="-400050" algn="dist">
              <a:lnSpc>
                <a:spcPts val="2300"/>
              </a:lnSpc>
              <a:buFont typeface="+mj-lt"/>
              <a:buAutoNum type="romanUcPeriod" startAt="2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调用绘图函数自动打开图窗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D6E925-4590-CBEE-0A2E-10A3E1A55987}"/>
              </a:ext>
            </a:extLst>
          </p:cNvPr>
          <p:cNvSpPr txBox="1"/>
          <p:nvPr/>
        </p:nvSpPr>
        <p:spPr>
          <a:xfrm>
            <a:off x="1331640" y="83964"/>
            <a:ext cx="6624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 </a:t>
            </a:r>
            <a:r>
              <a:rPr lang="zh-CN" altLang="en-US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图形窗口</a:t>
            </a:r>
            <a:r>
              <a:rPr lang="en-US" altLang="zh-CN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figure 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图窗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打开方式</a:t>
            </a:r>
            <a:endParaRPr lang="en-US" altLang="zh-CN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A640D87B-400B-480D-9964-7CFC4D156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964" y="4092676"/>
            <a:ext cx="1233756" cy="47253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b="1" dirty="0">
                <a:solidFill>
                  <a:srgbClr val="FFFF00"/>
                </a:solidFill>
              </a:rPr>
              <a:t>注意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5382C9-1AC2-4033-BE45-259B5CA8F9AA}"/>
              </a:ext>
            </a:extLst>
          </p:cNvPr>
          <p:cNvSpPr txBox="1"/>
          <p:nvPr/>
        </p:nvSpPr>
        <p:spPr>
          <a:xfrm>
            <a:off x="1679481" y="4165096"/>
            <a:ext cx="7043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0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不用括号，直接函数命令如</a:t>
            </a:r>
            <a:r>
              <a:rPr lang="en-US" altLang="zh-CN" sz="20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figure</a:t>
            </a:r>
            <a:r>
              <a:rPr lang="zh-CN" altLang="en-US" sz="20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clear</a:t>
            </a:r>
            <a:r>
              <a:rPr lang="zh-CN" altLang="en-US" sz="200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09D1AC-FF1E-4364-B165-EC5FA9B14314}"/>
              </a:ext>
            </a:extLst>
          </p:cNvPr>
          <p:cNvSpPr txBox="1"/>
          <p:nvPr/>
        </p:nvSpPr>
        <p:spPr>
          <a:xfrm>
            <a:off x="5830763" y="2129221"/>
            <a:ext cx="2547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0" dirty="0">
                <a:solidFill>
                  <a:schemeClr val="bg1"/>
                </a:solidFill>
                <a:highlight>
                  <a:srgbClr val="3399FF"/>
                </a:highlight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图形函数绘图时自动打开图窗并创建坐标区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5ABD7D5-E53B-4CBB-BE0A-55CF58F262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978" t="3086" r="28370" b="27965"/>
          <a:stretch/>
        </p:blipFill>
        <p:spPr>
          <a:xfrm>
            <a:off x="624035" y="1748792"/>
            <a:ext cx="3274665" cy="216000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E1F783FF-BE15-499E-89E5-968636A4A959}"/>
              </a:ext>
            </a:extLst>
          </p:cNvPr>
          <p:cNvSpPr/>
          <p:nvPr/>
        </p:nvSpPr>
        <p:spPr>
          <a:xfrm>
            <a:off x="941281" y="3366150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</a:t>
            </a:r>
            <a:r>
              <a:rPr lang="zh-CN" altLang="en-US" sz="2000" b="1" dirty="0">
                <a:solidFill>
                  <a:srgbClr val="FF0000"/>
                </a:solidFill>
              </a:rPr>
              <a:t>igure</a:t>
            </a:r>
            <a:r>
              <a:rPr lang="en-US" altLang="zh-CN" sz="2000" b="1" dirty="0">
                <a:solidFill>
                  <a:srgbClr val="FF0000"/>
                </a:solidFill>
              </a:rPr>
              <a:t>() #</a:t>
            </a:r>
            <a:r>
              <a:rPr lang="zh-CN" altLang="en-US" sz="2000" b="1" dirty="0">
                <a:solidFill>
                  <a:srgbClr val="FF0000"/>
                </a:solidFill>
              </a:rPr>
              <a:t>必须带括号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106F16-1DF0-4EF2-BDF4-BA3BBC368B1A}"/>
              </a:ext>
            </a:extLst>
          </p:cNvPr>
          <p:cNvSpPr/>
          <p:nvPr/>
        </p:nvSpPr>
        <p:spPr>
          <a:xfrm>
            <a:off x="528569" y="1253083"/>
            <a:ext cx="3395359" cy="370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00050" indent="-400050" algn="dist">
              <a:lnSpc>
                <a:spcPts val="2300"/>
              </a:lnSpc>
              <a:buFont typeface="+mj-lt"/>
              <a:buAutoNum type="romanUcPeriod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输入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figure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打开空图窗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166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1" grpId="0" animBg="1"/>
      <p:bldP spid="17" grpId="0"/>
      <p:bldP spid="21" grpId="0"/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C523229-5E1F-C56D-2E81-86FF6B34C478}"/>
              </a:ext>
            </a:extLst>
          </p:cNvPr>
          <p:cNvSpPr/>
          <p:nvPr/>
        </p:nvSpPr>
        <p:spPr>
          <a:xfrm>
            <a:off x="1568298" y="2672049"/>
            <a:ext cx="44444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图形句柄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查询或修改窗口属性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40ABF4-75D6-7699-3A18-88276F0D7FA8}"/>
              </a:ext>
            </a:extLst>
          </p:cNvPr>
          <p:cNvSpPr/>
          <p:nvPr/>
        </p:nvSpPr>
        <p:spPr>
          <a:xfrm>
            <a:off x="273383" y="1245961"/>
            <a:ext cx="992458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figure(n)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A30F78-54AA-9C83-36BE-F8486E522BA3}"/>
              </a:ext>
            </a:extLst>
          </p:cNvPr>
          <p:cNvSpPr/>
          <p:nvPr/>
        </p:nvSpPr>
        <p:spPr>
          <a:xfrm>
            <a:off x="1265841" y="1222164"/>
            <a:ext cx="29161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创建编号为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的图形窗口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BB0836-A162-9B71-59BD-F89AB68405ED}"/>
              </a:ext>
            </a:extLst>
          </p:cNvPr>
          <p:cNvSpPr/>
          <p:nvPr/>
        </p:nvSpPr>
        <p:spPr>
          <a:xfrm>
            <a:off x="277584" y="773160"/>
            <a:ext cx="885390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figure( 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800F79-1BF3-6306-C2AB-52E3A25B4640}"/>
              </a:ext>
            </a:extLst>
          </p:cNvPr>
          <p:cNvSpPr/>
          <p:nvPr/>
        </p:nvSpPr>
        <p:spPr>
          <a:xfrm>
            <a:off x="1215082" y="745144"/>
            <a:ext cx="403187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用默认属性建新窗口，为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当前图窗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66E40E-4705-6AF9-E588-350E6DC3DD5A}"/>
              </a:ext>
            </a:extLst>
          </p:cNvPr>
          <p:cNvSpPr/>
          <p:nvPr/>
        </p:nvSpPr>
        <p:spPr>
          <a:xfrm>
            <a:off x="2182880" y="2156379"/>
            <a:ext cx="3855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值对组参数修改图窗的属性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41A611-F82C-FA70-6E9C-8CC59B6BFC12}"/>
              </a:ext>
            </a:extLst>
          </p:cNvPr>
          <p:cNvSpPr/>
          <p:nvPr/>
        </p:nvSpPr>
        <p:spPr>
          <a:xfrm>
            <a:off x="269516" y="2209235"/>
            <a:ext cx="1901569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figure(Key=Value)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580E52-FAA0-6A72-0C69-7B575CDC2F7B}"/>
              </a:ext>
            </a:extLst>
          </p:cNvPr>
          <p:cNvSpPr/>
          <p:nvPr/>
        </p:nvSpPr>
        <p:spPr>
          <a:xfrm>
            <a:off x="254768" y="2713104"/>
            <a:ext cx="1213001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f=figure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（）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105A4E-0CD7-9C5A-617E-86DE5F6C722E}"/>
              </a:ext>
            </a:extLst>
          </p:cNvPr>
          <p:cNvSpPr/>
          <p:nvPr/>
        </p:nvSpPr>
        <p:spPr>
          <a:xfrm>
            <a:off x="269192" y="1731214"/>
            <a:ext cx="1399390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figure(name)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D7785C-6F10-03AA-0097-E93963D7E251}"/>
              </a:ext>
            </a:extLst>
          </p:cNvPr>
          <p:cNvSpPr/>
          <p:nvPr/>
        </p:nvSpPr>
        <p:spPr>
          <a:xfrm>
            <a:off x="1728424" y="1686969"/>
            <a:ext cx="34355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创建名字为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的图形窗口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379E53-5270-4D83-A1BE-FC33620AF566}"/>
              </a:ext>
            </a:extLst>
          </p:cNvPr>
          <p:cNvSpPr txBox="1"/>
          <p:nvPr/>
        </p:nvSpPr>
        <p:spPr>
          <a:xfrm>
            <a:off x="987116" y="91865"/>
            <a:ext cx="7733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</a:t>
            </a:r>
            <a:r>
              <a:rPr lang="zh-CN" altLang="en-US" sz="28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图形窗口</a:t>
            </a:r>
            <a:r>
              <a:rPr lang="en-US" altLang="zh-CN" sz="28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figure 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———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图形窗口常用命令</a:t>
            </a:r>
            <a:endParaRPr lang="en-US" altLang="zh-CN" sz="28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669822-C9F9-4496-8349-08FA8FE661B9}"/>
              </a:ext>
            </a:extLst>
          </p:cNvPr>
          <p:cNvSpPr/>
          <p:nvPr/>
        </p:nvSpPr>
        <p:spPr>
          <a:xfrm>
            <a:off x="270373" y="3194456"/>
            <a:ext cx="676576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gcf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 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8344DF-C3A3-4933-881A-B2558EEAF0F2}"/>
              </a:ext>
            </a:extLst>
          </p:cNvPr>
          <p:cNvSpPr txBox="1"/>
          <p:nvPr/>
        </p:nvSpPr>
        <p:spPr>
          <a:xfrm>
            <a:off x="1018956" y="3166211"/>
            <a:ext cx="49938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当前图窗的句柄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即代表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正在操作的图窗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E54F1FA-04EE-4CF3-AFC3-B617B3D7A3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46" b="9791"/>
          <a:stretch/>
        </p:blipFill>
        <p:spPr>
          <a:xfrm>
            <a:off x="6012775" y="1826434"/>
            <a:ext cx="2880917" cy="22549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60E75EA7-E504-4AE8-9A7E-0148FD4F74D9}"/>
              </a:ext>
            </a:extLst>
          </p:cNvPr>
          <p:cNvSpPr/>
          <p:nvPr/>
        </p:nvSpPr>
        <p:spPr>
          <a:xfrm>
            <a:off x="3219597" y="4139943"/>
            <a:ext cx="5637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关闭当前图窗或指定图窗或全部图窗，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6D15D1-2DD1-4FFC-98FF-57B6ED203436}"/>
              </a:ext>
            </a:extLst>
          </p:cNvPr>
          <p:cNvSpPr/>
          <p:nvPr/>
        </p:nvSpPr>
        <p:spPr>
          <a:xfrm>
            <a:off x="254768" y="3696089"/>
            <a:ext cx="563681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clf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( 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）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AD4D1F-FAAD-4332-9D57-A5057F98C73D}"/>
              </a:ext>
            </a:extLst>
          </p:cNvPr>
          <p:cNvSpPr/>
          <p:nvPr/>
        </p:nvSpPr>
        <p:spPr>
          <a:xfrm>
            <a:off x="251520" y="4155925"/>
            <a:ext cx="2855669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_</a:t>
            </a:r>
            <a:r>
              <a:rPr lang="zh-CN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close(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_ </a:t>
            </a: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close("all")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DF8494-DF08-412A-AF23-32AE0866A067}"/>
              </a:ext>
            </a:extLst>
          </p:cNvPr>
          <p:cNvSpPr/>
          <p:nvPr/>
        </p:nvSpPr>
        <p:spPr>
          <a:xfrm>
            <a:off x="861268" y="3652056"/>
            <a:ext cx="273630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清除当前窗口的图形</a:t>
            </a:r>
          </a:p>
        </p:txBody>
      </p:sp>
      <p:sp>
        <p:nvSpPr>
          <p:cNvPr id="28" name="AutoShape 13">
            <a:extLst>
              <a:ext uri="{FF2B5EF4-FFF2-40B4-BE49-F238E27FC236}">
                <a16:creationId xmlns:a16="http://schemas.microsoft.com/office/drawing/2014/main" id="{C2A27D87-8472-4E21-BA0F-36B09C38A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886" y="752294"/>
            <a:ext cx="3435556" cy="904509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latin typeface="Menlo"/>
              </a:rPr>
              <a:t>直接</a:t>
            </a:r>
            <a:r>
              <a:rPr lang="en-US" altLang="zh-CN" sz="1600" b="1" i="0" dirty="0">
                <a:solidFill>
                  <a:srgbClr val="FFFF00"/>
                </a:solidFill>
                <a:effectLst/>
                <a:latin typeface="Menlo"/>
              </a:rPr>
              <a:t>figure</a:t>
            </a:r>
            <a:r>
              <a:rPr lang="zh-CN" altLang="en-US" sz="1600" b="1" i="0" dirty="0">
                <a:solidFill>
                  <a:srgbClr val="FFFF00"/>
                </a:solidFill>
                <a:effectLst/>
                <a:latin typeface="Menlo"/>
              </a:rPr>
              <a:t>，</a:t>
            </a:r>
            <a:endParaRPr lang="en-US" altLang="zh-CN" sz="1600" b="1" i="0" dirty="0">
              <a:solidFill>
                <a:srgbClr val="FFFF00"/>
              </a:solidFill>
              <a:effectLst/>
              <a:latin typeface="Menlo"/>
            </a:endParaRPr>
          </a:p>
          <a:p>
            <a:r>
              <a:rPr lang="zh-CN" altLang="en-US" sz="1600" b="1" i="0" dirty="0">
                <a:solidFill>
                  <a:srgbClr val="FFFF00"/>
                </a:solidFill>
                <a:effectLst/>
                <a:latin typeface="Menlo"/>
              </a:rPr>
              <a:t>不用括号</a:t>
            </a:r>
            <a:endParaRPr lang="zh-CN" alt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16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12" grpId="0"/>
      <p:bldP spid="14" grpId="0" animBg="1"/>
      <p:bldP spid="15" grpId="0" animBg="1"/>
      <p:bldP spid="19" grpId="0" animBg="1"/>
      <p:bldP spid="20" grpId="0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7CE168E7-4996-4A8E-B3A1-E5CCBFAF3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51" y="1454345"/>
            <a:ext cx="8924949" cy="3139321"/>
          </a:xfr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plt_close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xx=-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0.02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x,a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)=(x^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)^(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)+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0.9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-x^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)^(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(a*x);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设置第一窗口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 pitchFamily="49" charset="0"/>
              </a:rPr>
              <a:t>a=31.4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句柄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"a=31.4"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</a:t>
            </a: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.(xx,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设置第二窗口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a=6.28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句柄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f2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f2=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"a=6.28"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</a:t>
            </a:r>
            <a:r>
              <a:rPr lang="en-US" altLang="zh-C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.(xx,</a:t>
            </a:r>
            <a:r>
              <a:rPr lang="en-US" altLang="zh-CN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6.28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设置第一窗口</a:t>
            </a:r>
            <a:r>
              <a:rPr lang="en-US" altLang="zh-CN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zh-CN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为绿色</a:t>
            </a:r>
            <a:endParaRPr lang="zh-CN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f1.</a:t>
            </a:r>
            <a:r>
              <a:rPr lang="en-US" altLang="zh-C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set_facecolor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"y"</a:t>
            </a:r>
            <a:r>
              <a:rPr lang="en-US" altLang="zh-C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800" dirty="0"/>
          </a:p>
        </p:txBody>
      </p: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3D7AD569-55F1-4E74-8E9B-B20D1683FA53}"/>
              </a:ext>
            </a:extLst>
          </p:cNvPr>
          <p:cNvSpPr txBox="1">
            <a:spLocks/>
          </p:cNvSpPr>
          <p:nvPr/>
        </p:nvSpPr>
        <p:spPr bwMode="auto">
          <a:xfrm>
            <a:off x="17512" y="703684"/>
            <a:ext cx="9121498" cy="369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algn="dist" eaLnBrk="0" hangingPunct="0"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635000" indent="-177800" eaLnBrk="0" hangingPunct="0">
              <a:lnSpc>
                <a:spcPct val="110000"/>
              </a:lnSpc>
              <a:buChar char="•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 eaLnBrk="0" hangingPunct="0">
              <a:lnSpc>
                <a:spcPct val="110000"/>
              </a:lnSpc>
              <a:buChar char="•"/>
              <a:defRPr sz="24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 eaLnBrk="0" hangingPunct="0">
              <a:lnSpc>
                <a:spcPct val="110000"/>
              </a:lnSpc>
              <a:buChar char="•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 eaLnBrk="0" hangingPunct="0">
              <a:lnSpc>
                <a:spcPct val="110000"/>
              </a:lnSpc>
              <a:buChar char="•"/>
              <a:defRPr sz="20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  <a:lvl6pPr marL="24638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>
              <a:lnSpc>
                <a:spcPts val="1800"/>
              </a:lnSpc>
            </a:pPr>
            <a:r>
              <a:rPr lang="zh-CN" altLang="en-US" sz="1800" dirty="0"/>
              <a:t>当前图窗通常正在运行的图形窗口</a:t>
            </a:r>
            <a:r>
              <a:rPr lang="en-US" altLang="zh-CN" sz="1800" dirty="0"/>
              <a:t>,</a:t>
            </a:r>
            <a:r>
              <a:rPr lang="zh-CN" altLang="en-US" sz="1800" dirty="0"/>
              <a:t> 是图形函数要绘图的窗口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951C92F-745A-4C4D-A630-666FB8766D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63" t="19705" r="30640" b="24800"/>
          <a:stretch/>
        </p:blipFill>
        <p:spPr>
          <a:xfrm>
            <a:off x="6732240" y="1518163"/>
            <a:ext cx="2166554" cy="170345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9343A39-D611-4F87-98AE-228AE80225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463" t="19705" r="30313" b="24800"/>
          <a:stretch/>
        </p:blipFill>
        <p:spPr>
          <a:xfrm>
            <a:off x="6266399" y="3402338"/>
            <a:ext cx="2042821" cy="13991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DAE2514A-794A-466E-BF04-49441739D414}"/>
              </a:ext>
            </a:extLst>
          </p:cNvPr>
          <p:cNvSpPr txBox="1">
            <a:spLocks noChangeArrowheads="1"/>
          </p:cNvSpPr>
          <p:nvPr/>
        </p:nvSpPr>
        <p:spPr>
          <a:xfrm>
            <a:off x="676360" y="1059582"/>
            <a:ext cx="8494259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在两个窗口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f2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</a:t>
            </a:r>
            <a:r>
              <a:rPr lang="en-US" altLang="zh-CN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a=31.4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6.28</a:t>
            </a:r>
            <a:r>
              <a:rPr lang="zh-CN" altLang="en-US" sz="1800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s-E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y=(x</a:t>
            </a:r>
            <a:r>
              <a:rPr lang="es-ES" altLang="zh-CN" sz="18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s-E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s-ES" altLang="zh-CN" sz="18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(1/3)</a:t>
            </a:r>
            <a:r>
              <a:rPr lang="es-E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+0.9 (4- x</a:t>
            </a:r>
            <a:r>
              <a:rPr lang="es-ES" altLang="zh-CN" sz="18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s-E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(</a:t>
            </a:r>
            <a:r>
              <a:rPr lang="es-ES" altLang="zh-CN" sz="18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1/2)</a:t>
            </a:r>
            <a:r>
              <a:rPr lang="es-E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 (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a*</a:t>
            </a:r>
            <a:r>
              <a:rPr lang="es-E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x)</a:t>
            </a:r>
            <a:endParaRPr lang="zh-CN" altLang="en-US" sz="1800" b="1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A59437-3FE9-481B-95C8-55C28144F041}"/>
              </a:ext>
            </a:extLst>
          </p:cNvPr>
          <p:cNvSpPr txBox="1"/>
          <p:nvPr/>
        </p:nvSpPr>
        <p:spPr>
          <a:xfrm>
            <a:off x="1043608" y="105041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</a:t>
            </a:r>
            <a:r>
              <a:rPr lang="zh-CN" altLang="en-US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图形窗口</a:t>
            </a:r>
            <a:r>
              <a:rPr lang="en-US" altLang="zh-CN" sz="28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figure 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————</a:t>
            </a:r>
            <a:r>
              <a:rPr lang="zh-CN" altLang="en-US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图形窗口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案例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波形 18">
            <a:extLst>
              <a:ext uri="{FF2B5EF4-FFF2-40B4-BE49-F238E27FC236}">
                <a16:creationId xmlns:a16="http://schemas.microsoft.com/office/drawing/2014/main" id="{307AA871-1300-4DF5-8404-9645927C127A}"/>
              </a:ext>
            </a:extLst>
          </p:cNvPr>
          <p:cNvSpPr/>
          <p:nvPr/>
        </p:nvSpPr>
        <p:spPr>
          <a:xfrm>
            <a:off x="130109" y="1096092"/>
            <a:ext cx="565900" cy="33236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例6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07434EC-F187-47CA-9561-699CD51D35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801" t="8001" r="31100" b="25560"/>
          <a:stretch/>
        </p:blipFill>
        <p:spPr>
          <a:xfrm>
            <a:off x="3533742" y="2855899"/>
            <a:ext cx="2358658" cy="15942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1" name="箭头: 虚尾 20">
            <a:extLst>
              <a:ext uri="{FF2B5EF4-FFF2-40B4-BE49-F238E27FC236}">
                <a16:creationId xmlns:a16="http://schemas.microsoft.com/office/drawing/2014/main" id="{A1CC6634-92AD-4B1D-AA68-3F5587837BAC}"/>
              </a:ext>
            </a:extLst>
          </p:cNvPr>
          <p:cNvSpPr/>
          <p:nvPr/>
        </p:nvSpPr>
        <p:spPr bwMode="auto">
          <a:xfrm rot="1731241">
            <a:off x="5806319" y="3722395"/>
            <a:ext cx="546162" cy="484632"/>
          </a:xfrm>
          <a:prstGeom prst="stripedRightArrow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箭头: 虚尾 21">
            <a:extLst>
              <a:ext uri="{FF2B5EF4-FFF2-40B4-BE49-F238E27FC236}">
                <a16:creationId xmlns:a16="http://schemas.microsoft.com/office/drawing/2014/main" id="{05D7121C-1364-4558-9216-4CDBEA5C8769}"/>
              </a:ext>
            </a:extLst>
          </p:cNvPr>
          <p:cNvSpPr/>
          <p:nvPr/>
        </p:nvSpPr>
        <p:spPr bwMode="auto">
          <a:xfrm rot="17845254">
            <a:off x="7538854" y="3121627"/>
            <a:ext cx="546162" cy="484632"/>
          </a:xfrm>
          <a:prstGeom prst="stripedRightArrow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FB282E-DE39-4EEB-B7C8-D50FCE5D9F7A}"/>
              </a:ext>
            </a:extLst>
          </p:cNvPr>
          <p:cNvSpPr/>
          <p:nvPr/>
        </p:nvSpPr>
        <p:spPr>
          <a:xfrm>
            <a:off x="3459620" y="3029630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f1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F866607-5917-4EFC-858B-8D1409C18E4A}"/>
              </a:ext>
            </a:extLst>
          </p:cNvPr>
          <p:cNvSpPr/>
          <p:nvPr/>
        </p:nvSpPr>
        <p:spPr>
          <a:xfrm>
            <a:off x="6243801" y="340233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f2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F708A2-F5AE-4071-A44D-F20C549991C6}"/>
              </a:ext>
            </a:extLst>
          </p:cNvPr>
          <p:cNvSpPr/>
          <p:nvPr/>
        </p:nvSpPr>
        <p:spPr>
          <a:xfrm>
            <a:off x="6681741" y="1684046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f1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17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1" grpId="0" animBg="1"/>
      <p:bldP spid="22" grpId="0" animBg="1"/>
      <p:bldP spid="2" grpId="0"/>
      <p:bldP spid="23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31FCD6-AEF6-F095-A798-A3C3FF6F58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2" r="26769" b="919"/>
          <a:stretch/>
        </p:blipFill>
        <p:spPr>
          <a:xfrm>
            <a:off x="4957502" y="1395799"/>
            <a:ext cx="3993909" cy="2904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71FFC6-EECD-C7C7-72DA-0407183E4734}"/>
              </a:ext>
            </a:extLst>
          </p:cNvPr>
          <p:cNvSpPr/>
          <p:nvPr/>
        </p:nvSpPr>
        <p:spPr>
          <a:xfrm>
            <a:off x="197905" y="1275606"/>
            <a:ext cx="4497784" cy="3130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坐标区是图形窗口的子对象，是曲线曲面对象的父对象，是图形图像的容器。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可同时打多个图形窗口及其坐标区，也可一个图形窗口多个坐标区，但只有一个坐标区正在操作，即为当前坐标区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gca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当前坐标区或图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不指明坐标区时，图形图像都在当前坐标区中输出。 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DAA4C9-1DD8-F77B-CD57-4831B147E9CC}"/>
              </a:ext>
            </a:extLst>
          </p:cNvPr>
          <p:cNvSpPr/>
          <p:nvPr/>
        </p:nvSpPr>
        <p:spPr>
          <a:xfrm>
            <a:off x="226488" y="786832"/>
            <a:ext cx="8917512" cy="339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dist" eaLnBrk="0" hangingPunct="0">
              <a:lnSpc>
                <a:spcPts val="24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坐标区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: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在图形窗口中定义一个画图区域，绘图函数会在绘图时自动建坐标区</a:t>
            </a:r>
          </a:p>
        </p:txBody>
      </p:sp>
      <p:sp>
        <p:nvSpPr>
          <p:cNvPr id="8" name="下箭头 16">
            <a:extLst>
              <a:ext uri="{FF2B5EF4-FFF2-40B4-BE49-F238E27FC236}">
                <a16:creationId xmlns:a16="http://schemas.microsoft.com/office/drawing/2014/main" id="{4F8E9F36-2175-71A0-2295-DAC124569BE5}"/>
              </a:ext>
            </a:extLst>
          </p:cNvPr>
          <p:cNvSpPr/>
          <p:nvPr/>
        </p:nvSpPr>
        <p:spPr>
          <a:xfrm rot="16200000">
            <a:off x="6149898" y="2755287"/>
            <a:ext cx="264110" cy="662519"/>
          </a:xfrm>
          <a:prstGeom prst="downArrow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endParaRPr lang="zh-CN" altLang="en-US" sz="1600" b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1ABCE5-1602-070F-EFB3-AFAFD9BB92D2}"/>
              </a:ext>
            </a:extLst>
          </p:cNvPr>
          <p:cNvSpPr/>
          <p:nvPr/>
        </p:nvSpPr>
        <p:spPr>
          <a:xfrm>
            <a:off x="4984473" y="1639207"/>
            <a:ext cx="382751" cy="120032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图形窗口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9358A-0BEC-081F-84F2-19469FA12801}"/>
              </a:ext>
            </a:extLst>
          </p:cNvPr>
          <p:cNvSpPr/>
          <p:nvPr/>
        </p:nvSpPr>
        <p:spPr>
          <a:xfrm>
            <a:off x="5530690" y="2660142"/>
            <a:ext cx="540060" cy="92333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08545A-09AF-0763-2D96-991AA805EC4A}"/>
              </a:ext>
            </a:extLst>
          </p:cNvPr>
          <p:cNvSpPr/>
          <p:nvPr/>
        </p:nvSpPr>
        <p:spPr>
          <a:xfrm>
            <a:off x="6554869" y="2763382"/>
            <a:ext cx="393395" cy="646331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曲</a:t>
            </a:r>
            <a:endParaRPr lang="en-US" altLang="zh-CN" dirty="0">
              <a:solidFill>
                <a:schemeClr val="bg1"/>
              </a:solidFill>
              <a:highlight>
                <a:srgbClr val="FF00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3CC41D-3B10-E47B-4610-6FE7E83AFB4C}"/>
              </a:ext>
            </a:extLst>
          </p:cNvPr>
          <p:cNvSpPr txBox="1"/>
          <p:nvPr/>
        </p:nvSpPr>
        <p:spPr>
          <a:xfrm>
            <a:off x="971600" y="89814"/>
            <a:ext cx="7945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§3.1.3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plt_axes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————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笛卡尔坐标区特点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箭头: 虚尾 12">
            <a:extLst>
              <a:ext uri="{FF2B5EF4-FFF2-40B4-BE49-F238E27FC236}">
                <a16:creationId xmlns:a16="http://schemas.microsoft.com/office/drawing/2014/main" id="{6D04718A-CB1D-4596-B1AE-2D00D4F17ECE}"/>
              </a:ext>
            </a:extLst>
          </p:cNvPr>
          <p:cNvSpPr/>
          <p:nvPr/>
        </p:nvSpPr>
        <p:spPr bwMode="auto">
          <a:xfrm rot="3051694" flipV="1">
            <a:off x="5190254" y="2260102"/>
            <a:ext cx="646331" cy="240810"/>
          </a:xfrm>
          <a:prstGeom prst="stripedRightArrow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2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7BA7A1E-62A2-F936-7E4A-727BF824A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0238" y="1582515"/>
            <a:ext cx="500661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 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cax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指定的坐标区或设置为当前坐标区</a:t>
            </a:r>
            <a:endParaRPr lang="zh-CN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8224A7-1221-7DFF-7ACF-64E5879D5F93}"/>
              </a:ext>
            </a:extLst>
          </p:cNvPr>
          <p:cNvSpPr/>
          <p:nvPr/>
        </p:nvSpPr>
        <p:spPr>
          <a:xfrm>
            <a:off x="111915" y="673479"/>
            <a:ext cx="9032085" cy="4745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dist" eaLnBrk="0" hangingPunct="0">
              <a:lnSpc>
                <a:spcPts val="24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绘图函数绘图时自动建笛卡尔坐标区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默认坐标区属性，用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plt_axes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可建坐标区及属性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967972-5F70-2718-B586-46EA941BD494}"/>
              </a:ext>
            </a:extLst>
          </p:cNvPr>
          <p:cNvSpPr/>
          <p:nvPr/>
        </p:nvSpPr>
        <p:spPr>
          <a:xfrm>
            <a:off x="121079" y="2399757"/>
            <a:ext cx="6830163" cy="732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6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属性名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Key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和属性值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Value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，可设置坐标区外观属性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.</a:t>
            </a:r>
          </a:p>
          <a:p>
            <a:pPr marL="342900" indent="-342900">
              <a:lnSpc>
                <a:spcPts val="26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输出参数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ax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是坐标区句柄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可查询和修改坐标区属性，可省略，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DFD9B9-8851-1C8D-C68D-9BE59AD8A694}"/>
              </a:ext>
            </a:extLst>
          </p:cNvPr>
          <p:cNvSpPr/>
          <p:nvPr/>
        </p:nvSpPr>
        <p:spPr>
          <a:xfrm>
            <a:off x="181154" y="2069748"/>
            <a:ext cx="2518638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ax=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plt_</a:t>
            </a:r>
            <a:r>
              <a:rPr lang="en-US" altLang="zh-CN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axes</a:t>
            </a:r>
            <a:r>
              <a:rPr lang="zh-CN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Key=</a:t>
            </a:r>
            <a:r>
              <a:rPr lang="zh-CN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Value)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7D5C1A-6113-AED3-BEF7-09A0248EF6AC}"/>
              </a:ext>
            </a:extLst>
          </p:cNvPr>
          <p:cNvSpPr/>
          <p:nvPr/>
        </p:nvSpPr>
        <p:spPr>
          <a:xfrm>
            <a:off x="46093" y="3516563"/>
            <a:ext cx="8927510" cy="71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)代表坐标区左下角位置，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w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分别代表坐标区宽度和高度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</a:t>
            </a:r>
            <a:r>
              <a:rPr lang="zh-CN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图窗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归一化，</a:t>
            </a:r>
            <a:r>
              <a:rPr lang="zh-CN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左下角映射到 (0,0)，右上角映射到 (1,1)</a:t>
            </a:r>
            <a:endParaRPr lang="zh-CN" altLang="en-US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609BE61-11C5-4AEE-F008-E3970B9CDFDE}"/>
              </a:ext>
            </a:extLst>
          </p:cNvPr>
          <p:cNvSpPr/>
          <p:nvPr/>
        </p:nvSpPr>
        <p:spPr>
          <a:xfrm>
            <a:off x="1250844" y="1137498"/>
            <a:ext cx="716392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当前图窗中，创建当前坐标区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默认坐标区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F6DC19-8D44-1C69-99AE-E2B44AC76BC4}"/>
              </a:ext>
            </a:extLst>
          </p:cNvPr>
          <p:cNvSpPr/>
          <p:nvPr/>
        </p:nvSpPr>
        <p:spPr>
          <a:xfrm>
            <a:off x="194391" y="1160387"/>
            <a:ext cx="1069690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plt_axes</a:t>
            </a: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60FE82-7856-F840-2D35-FFA8147693B5}"/>
              </a:ext>
            </a:extLst>
          </p:cNvPr>
          <p:cNvSpPr/>
          <p:nvPr/>
        </p:nvSpPr>
        <p:spPr>
          <a:xfrm>
            <a:off x="1981064" y="3147814"/>
            <a:ext cx="345503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设置坐标区的位置和大小的属性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956ADB-4703-F569-E975-FE21DEBC230D}"/>
              </a:ext>
            </a:extLst>
          </p:cNvPr>
          <p:cNvSpPr/>
          <p:nvPr/>
        </p:nvSpPr>
        <p:spPr>
          <a:xfrm>
            <a:off x="179512" y="1611419"/>
            <a:ext cx="143972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indent="-342900" algn="just" defTabSz="0">
              <a:spcBef>
                <a:spcPts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plt_axes</a:t>
            </a:r>
            <a:r>
              <a:rPr lang="zh-CN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cax</a:t>
            </a:r>
            <a:r>
              <a:rPr lang="zh-CN" altLang="zh-CN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AF2413-9417-E324-EF13-4A5D8B9BD1CC}"/>
              </a:ext>
            </a:extLst>
          </p:cNvPr>
          <p:cNvSpPr/>
          <p:nvPr/>
        </p:nvSpPr>
        <p:spPr>
          <a:xfrm>
            <a:off x="6905614" y="2732186"/>
            <a:ext cx="2051720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cla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（）清除坐标区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573557-4DC8-4D26-8FE9-EAEC331E48AF}"/>
              </a:ext>
            </a:extLst>
          </p:cNvPr>
          <p:cNvSpPr txBox="1"/>
          <p:nvPr/>
        </p:nvSpPr>
        <p:spPr>
          <a:xfrm>
            <a:off x="840984" y="51319"/>
            <a:ext cx="8200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plt_axes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———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笛卡尔坐标区常用函数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2B5CD2-6063-4292-898C-BE67E5EF276B}"/>
              </a:ext>
            </a:extLst>
          </p:cNvPr>
          <p:cNvSpPr txBox="1"/>
          <p:nvPr/>
        </p:nvSpPr>
        <p:spPr>
          <a:xfrm>
            <a:off x="5490685" y="3139182"/>
            <a:ext cx="330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70C0"/>
                </a:solidFill>
              </a:rPr>
              <a:t>plt_axes</a:t>
            </a:r>
            <a:r>
              <a:rPr lang="en-US" altLang="zh-CN" sz="1800" dirty="0">
                <a:solidFill>
                  <a:srgbClr val="0070C0"/>
                </a:solidFill>
              </a:rPr>
              <a:t>([0.05 0.05 0.5 0.5])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2DE6D8D-0783-403B-9BEB-FD42099E05E5}"/>
              </a:ext>
            </a:extLst>
          </p:cNvPr>
          <p:cNvSpPr/>
          <p:nvPr/>
        </p:nvSpPr>
        <p:spPr>
          <a:xfrm>
            <a:off x="6372200" y="2202418"/>
            <a:ext cx="720080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342900" algn="just" defTabSz="0">
              <a:spcBef>
                <a:spcPts val="0"/>
              </a:spcBef>
            </a:pPr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gca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( 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7C84739-9792-4DB6-BBEF-64F133DAB3A1}"/>
              </a:ext>
            </a:extLst>
          </p:cNvPr>
          <p:cNvSpPr txBox="1"/>
          <p:nvPr/>
        </p:nvSpPr>
        <p:spPr>
          <a:xfrm>
            <a:off x="7114512" y="2202418"/>
            <a:ext cx="184997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indent="-342900" algn="just" defTabSz="0">
              <a:spcBef>
                <a:spcPts val="0"/>
              </a:spcBef>
              <a:defRPr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当前坐标区或图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AE5A1F9-CBFB-4637-A08D-B7308046657B}"/>
              </a:ext>
            </a:extLst>
          </p:cNvPr>
          <p:cNvSpPr txBox="1"/>
          <p:nvPr/>
        </p:nvSpPr>
        <p:spPr>
          <a:xfrm>
            <a:off x="154242" y="3159239"/>
            <a:ext cx="1801928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800" dirty="0" err="1"/>
              <a:t>plt</a:t>
            </a:r>
            <a:r>
              <a:rPr lang="en-US" altLang="zh-CN" sz="1800" err="1"/>
              <a:t>_</a:t>
            </a:r>
            <a:r>
              <a:rPr lang="en-US" altLang="zh-CN" sz="1800"/>
              <a:t>axes</a:t>
            </a:r>
            <a:r>
              <a:rPr lang="en-US" altLang="zh-CN" sz="1800" dirty="0"/>
              <a:t>([a b w h])</a:t>
            </a:r>
            <a:endParaRPr lang="zh-CN" altLang="en-US" sz="18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B83F97-C54E-4A1C-B132-2AC8BF2D00A1}"/>
              </a:ext>
            </a:extLst>
          </p:cNvPr>
          <p:cNvSpPr/>
          <p:nvPr/>
        </p:nvSpPr>
        <p:spPr>
          <a:xfrm>
            <a:off x="2550824" y="4211120"/>
            <a:ext cx="518952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在指定坐标区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ax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绘图时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第一输入参数为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ax,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可省略</a:t>
            </a:r>
            <a:endParaRPr lang="en-US" altLang="zh-CN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8B8E519-3DD0-4D70-877C-F33273F6C3B7}"/>
              </a:ext>
            </a:extLst>
          </p:cNvPr>
          <p:cNvSpPr/>
          <p:nvPr/>
        </p:nvSpPr>
        <p:spPr>
          <a:xfrm>
            <a:off x="136222" y="4235307"/>
            <a:ext cx="2419554" cy="320958"/>
          </a:xfrm>
          <a:prstGeom prst="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绘图函数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5327DF7-F3B2-48F2-9658-0EFF26B4A02D}"/>
              </a:ext>
            </a:extLst>
          </p:cNvPr>
          <p:cNvSpPr/>
          <p:nvPr/>
        </p:nvSpPr>
        <p:spPr>
          <a:xfrm>
            <a:off x="7766148" y="4212645"/>
            <a:ext cx="1259633" cy="3436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plot(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ax,x,y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) </a:t>
            </a:r>
          </a:p>
        </p:txBody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8A454B61-59B9-4BAD-B648-06C764113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9692" y="1505356"/>
            <a:ext cx="2628800" cy="599802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省去</a:t>
            </a:r>
            <a:r>
              <a:rPr lang="en-US" altLang="zh-CN" sz="1400" b="1" i="0" dirty="0" err="1">
                <a:solidFill>
                  <a:srgbClr val="FFFF00"/>
                </a:solidFill>
                <a:effectLst/>
                <a:latin typeface="Menlo"/>
              </a:rPr>
              <a:t>plt</a:t>
            </a:r>
            <a:endParaRPr lang="en-US" altLang="zh-CN" sz="1400" b="1" i="0" dirty="0">
              <a:solidFill>
                <a:srgbClr val="FFFF00"/>
              </a:solidFill>
              <a:effectLst/>
              <a:latin typeface="Menlo"/>
            </a:endParaRPr>
          </a:p>
          <a:p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直接</a:t>
            </a:r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axes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FA4109-5265-4A3D-82CE-7873705BD9BA}"/>
              </a:ext>
            </a:extLst>
          </p:cNvPr>
          <p:cNvSpPr txBox="1"/>
          <p:nvPr/>
        </p:nvSpPr>
        <p:spPr>
          <a:xfrm>
            <a:off x="6534825" y="1090650"/>
            <a:ext cx="2628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 err="1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plt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是一种向量图形格式</a:t>
            </a:r>
            <a:endParaRPr lang="en-US" altLang="zh-CN" b="1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02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2" grpId="0"/>
      <p:bldP spid="33" grpId="0" animBg="1"/>
      <p:bldP spid="34" grpId="0" animBg="1"/>
      <p:bldP spid="35" grpId="0" animBg="1"/>
      <p:bldP spid="21" grpId="0" animBg="1"/>
      <p:bldP spid="36" grpId="0" animBg="1"/>
      <p:bldP spid="37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F8A30F-A24F-DB35-8FD4-2060550D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00" y="1325017"/>
            <a:ext cx="8792183" cy="3057119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200" b="1" dirty="0" err="1"/>
              <a:t>plt_close</a:t>
            </a:r>
            <a:r>
              <a:rPr lang="en-US" altLang="zh-CN" sz="2200" b="1" dirty="0"/>
              <a:t>("all")</a:t>
            </a:r>
          </a:p>
          <a:p>
            <a:pPr marL="0" indent="0">
              <a:buNone/>
            </a:pPr>
            <a:r>
              <a:rPr lang="en-US" altLang="zh-CN" sz="2200" b="1" dirty="0"/>
              <a:t>ff(x)=(x^2)^(1/3)+0.9*(4 -x^2)^(1/2) * sin(31.4* x); #</a:t>
            </a:r>
            <a:r>
              <a:rPr lang="zh-CN" altLang="en-US" sz="2200" b="1" dirty="0"/>
              <a:t>关于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函数</a:t>
            </a:r>
            <a:r>
              <a:rPr lang="en-US" altLang="zh-CN" sz="2200" b="1" dirty="0"/>
              <a:t>f</a:t>
            </a:r>
          </a:p>
          <a:p>
            <a:pPr marL="0" indent="0">
              <a:buNone/>
            </a:pPr>
            <a:r>
              <a:rPr lang="en-US" altLang="zh-CN" sz="2200" b="1" dirty="0"/>
              <a:t>ax1=</a:t>
            </a:r>
            <a:r>
              <a:rPr lang="en-US" altLang="zh-CN" sz="2200" b="1" dirty="0" err="1"/>
              <a:t>plt_axes</a:t>
            </a:r>
            <a:r>
              <a:rPr lang="en-US" altLang="zh-CN" sz="2200" b="1" dirty="0"/>
              <a:t>([0.15 0.05 0.45 0.45]); #</a:t>
            </a:r>
            <a:r>
              <a:rPr lang="zh-CN" altLang="en-US" sz="2200" b="1" dirty="0"/>
              <a:t>建坐标区</a:t>
            </a:r>
            <a:r>
              <a:rPr lang="en-US" altLang="zh-CN" sz="2200" b="1" dirty="0"/>
              <a:t>1</a:t>
            </a:r>
          </a:p>
          <a:p>
            <a:pPr marL="0" indent="0">
              <a:buNone/>
            </a:pPr>
            <a:r>
              <a:rPr lang="en-US" altLang="zh-CN" sz="2200" b="1" dirty="0"/>
              <a:t>ax2=</a:t>
            </a:r>
            <a:r>
              <a:rPr lang="en-US" altLang="zh-CN" sz="2200" b="1" dirty="0" err="1"/>
              <a:t>plt_axes</a:t>
            </a:r>
            <a:r>
              <a:rPr lang="en-US" altLang="zh-CN" sz="2200" b="1" dirty="0"/>
              <a:t>([0.45 0.55 0.45 0.45]); #</a:t>
            </a:r>
            <a:r>
              <a:rPr lang="zh-CN" altLang="en-US" sz="2200" b="1" dirty="0"/>
              <a:t>建坐标区</a:t>
            </a:r>
            <a:r>
              <a:rPr lang="en-US" altLang="zh-CN" sz="2200" b="1" dirty="0"/>
              <a:t>2</a:t>
            </a:r>
          </a:p>
          <a:p>
            <a:pPr marL="0" indent="0">
              <a:buNone/>
            </a:pPr>
            <a:r>
              <a:rPr lang="en-US" altLang="zh-CN" sz="2200" b="1" dirty="0"/>
              <a:t>x1=-2:0.2:2;  #</a:t>
            </a:r>
            <a:r>
              <a:rPr lang="zh-CN" altLang="en-US" sz="2200" b="1" dirty="0"/>
              <a:t>步长为</a:t>
            </a:r>
            <a:r>
              <a:rPr lang="en-US" altLang="zh-CN" sz="2200" b="1" dirty="0"/>
              <a:t>0.2</a:t>
            </a:r>
          </a:p>
          <a:p>
            <a:pPr marL="0" indent="0">
              <a:buNone/>
            </a:pPr>
            <a:r>
              <a:rPr lang="en-US" altLang="zh-CN" sz="2200" b="1" dirty="0"/>
              <a:t>plot(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ax1</a:t>
            </a:r>
            <a:r>
              <a:rPr lang="en-US" altLang="zh-CN" sz="2200" b="1" dirty="0"/>
              <a:t>, x1, ff.(x1),"-or"); #</a:t>
            </a:r>
            <a:r>
              <a:rPr lang="zh-CN" altLang="en-US" sz="2200" b="1" dirty="0"/>
              <a:t>坐标区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绘图 </a:t>
            </a:r>
          </a:p>
          <a:p>
            <a:pPr marL="0" indent="0">
              <a:buNone/>
            </a:pPr>
            <a:r>
              <a:rPr lang="en-US" altLang="zh-CN" sz="2200" b="1" dirty="0"/>
              <a:t>x2 =-2:0.02:2; #</a:t>
            </a:r>
            <a:r>
              <a:rPr lang="zh-CN" altLang="en-US" sz="2200" b="1" dirty="0"/>
              <a:t>步长为</a:t>
            </a:r>
            <a:r>
              <a:rPr lang="en-US" altLang="zh-CN" sz="2200" b="1" dirty="0"/>
              <a:t>0.02</a:t>
            </a:r>
          </a:p>
          <a:p>
            <a:pPr marL="0" indent="0">
              <a:buNone/>
            </a:pPr>
            <a:r>
              <a:rPr lang="en-US" altLang="zh-CN" sz="2200" b="1" dirty="0"/>
              <a:t>plot(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ax2, </a:t>
            </a:r>
            <a:r>
              <a:rPr lang="en-US" altLang="zh-CN" sz="2200" b="1" dirty="0"/>
              <a:t>x2, ff.(x2), "-*b");  #</a:t>
            </a:r>
            <a:r>
              <a:rPr lang="zh-CN" altLang="en-US" sz="2200" b="1" dirty="0"/>
              <a:t>坐标区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绘图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77BF8E-73DC-4597-B61E-979655C7FC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8" b="5201"/>
          <a:stretch/>
        </p:blipFill>
        <p:spPr>
          <a:xfrm>
            <a:off x="5796136" y="2120971"/>
            <a:ext cx="3347864" cy="231285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4924ABB2-D107-7B8F-6F28-AB3277F2B521}"/>
              </a:ext>
            </a:extLst>
          </p:cNvPr>
          <p:cNvSpPr txBox="1">
            <a:spLocks noChangeArrowheads="1"/>
          </p:cNvSpPr>
          <p:nvPr/>
        </p:nvSpPr>
        <p:spPr>
          <a:xfrm>
            <a:off x="313364" y="726573"/>
            <a:ext cx="8692536" cy="4099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algn="dist" eaLnBrk="0" hangingPunct="0">
              <a:lnSpc>
                <a:spcPts val="2400"/>
              </a:lnSpc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r"/>
            <a:r>
              <a:rPr lang="zh-CN" altLang="en-US" sz="1700" dirty="0">
                <a:solidFill>
                  <a:srgbClr val="00B0F0"/>
                </a:solidFill>
              </a:rPr>
              <a:t>两个坐标区分别绘</a:t>
            </a:r>
            <a:r>
              <a:rPr lang="en-US" altLang="zh-CN" sz="1700" dirty="0">
                <a:solidFill>
                  <a:srgbClr val="00B0F0"/>
                </a:solidFill>
              </a:rPr>
              <a:t>x</a:t>
            </a:r>
            <a:r>
              <a:rPr lang="zh-CN" altLang="en-US" sz="1700" dirty="0">
                <a:solidFill>
                  <a:srgbClr val="00B0F0"/>
                </a:solidFill>
              </a:rPr>
              <a:t>向量步长</a:t>
            </a:r>
            <a:r>
              <a:rPr lang="en-US" altLang="zh-CN" sz="1700" dirty="0">
                <a:solidFill>
                  <a:srgbClr val="00B0F0"/>
                </a:solidFill>
              </a:rPr>
              <a:t>0.2</a:t>
            </a:r>
            <a:r>
              <a:rPr lang="zh-CN" altLang="en-US" sz="1700" dirty="0">
                <a:solidFill>
                  <a:srgbClr val="00B0F0"/>
                </a:solidFill>
              </a:rPr>
              <a:t>和</a:t>
            </a:r>
            <a:r>
              <a:rPr lang="en-US" altLang="zh-CN" sz="1700" dirty="0">
                <a:solidFill>
                  <a:srgbClr val="00B0F0"/>
                </a:solidFill>
              </a:rPr>
              <a:t>0.02</a:t>
            </a:r>
            <a:r>
              <a:rPr lang="zh-CN" altLang="en-US" sz="1700" dirty="0">
                <a:solidFill>
                  <a:srgbClr val="00B0F0"/>
                </a:solidFill>
              </a:rPr>
              <a:t>的</a:t>
            </a:r>
            <a:r>
              <a:rPr lang="es-ES" altLang="zh-CN" sz="1700" dirty="0">
                <a:solidFill>
                  <a:srgbClr val="00B0F0"/>
                </a:solidFill>
              </a:rPr>
              <a:t>y=(x2)(1/3)+0.9(4- x2)(1/2)sin(</a:t>
            </a:r>
            <a:r>
              <a:rPr lang="en-US" altLang="zh-CN" sz="1700" dirty="0">
                <a:solidFill>
                  <a:srgbClr val="00B0F0"/>
                </a:solidFill>
              </a:rPr>
              <a:t>31.4</a:t>
            </a:r>
            <a:r>
              <a:rPr lang="es-ES" altLang="zh-CN" sz="1700" dirty="0">
                <a:solidFill>
                  <a:srgbClr val="00B0F0"/>
                </a:solidFill>
              </a:rPr>
              <a:t>x)</a:t>
            </a:r>
            <a:r>
              <a:rPr lang="zh-CN" altLang="en-US" sz="170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EDC1A5-4C92-425E-874F-8AE8C0C5B859}"/>
              </a:ext>
            </a:extLst>
          </p:cNvPr>
          <p:cNvSpPr txBox="1"/>
          <p:nvPr/>
        </p:nvSpPr>
        <p:spPr>
          <a:xfrm>
            <a:off x="1035776" y="94387"/>
            <a:ext cx="7784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  <a:r>
              <a:rPr lang="en-US" altLang="zh-CN" sz="2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plt_axes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———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两个坐标区绘图案例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79D0E61F-2F89-4178-95F1-9A6446892167}"/>
              </a:ext>
            </a:extLst>
          </p:cNvPr>
          <p:cNvSpPr/>
          <p:nvPr/>
        </p:nvSpPr>
        <p:spPr>
          <a:xfrm>
            <a:off x="138100" y="800191"/>
            <a:ext cx="565900" cy="33236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例7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C938C5-AF22-41DD-91D8-D5D4FFC297C0}"/>
              </a:ext>
            </a:extLst>
          </p:cNvPr>
          <p:cNvSpPr/>
          <p:nvPr/>
        </p:nvSpPr>
        <p:spPr>
          <a:xfrm>
            <a:off x="7377714" y="3972172"/>
            <a:ext cx="9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sz="1600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63ADA6-9D2B-457D-AE2B-45D32DDE6D91}"/>
              </a:ext>
            </a:extLst>
          </p:cNvPr>
          <p:cNvSpPr/>
          <p:nvPr/>
        </p:nvSpPr>
        <p:spPr>
          <a:xfrm>
            <a:off x="7083018" y="2299531"/>
            <a:ext cx="1077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sz="1600" dirty="0">
                <a:solidFill>
                  <a:srgbClr val="FFFF00"/>
                </a:solidFill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dirty="0">
              <a:solidFill>
                <a:srgbClr val="FFFF00"/>
              </a:solidFill>
              <a:highlight>
                <a:srgbClr val="FF00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059642-D308-417B-A1BE-BA957F83B641}"/>
              </a:ext>
            </a:extLst>
          </p:cNvPr>
          <p:cNvSpPr txBox="1"/>
          <p:nvPr/>
        </p:nvSpPr>
        <p:spPr>
          <a:xfrm>
            <a:off x="2627785" y="1171328"/>
            <a:ext cx="625698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离散数据绘图时，采样数据点不当，无法反应函数本身形貌</a:t>
            </a:r>
            <a:endParaRPr lang="ko-KR" altLang="en-US" b="1" dirty="0">
              <a:solidFill>
                <a:srgbClr val="FF0000"/>
              </a:solidFill>
              <a:latin typeface="微软雅黑" panose="020B0503020204020204" pitchFamily="34" charset="-122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692FFA-6074-4ECA-8EA1-ED8D65AB6F1F}"/>
              </a:ext>
            </a:extLst>
          </p:cNvPr>
          <p:cNvSpPr txBox="1"/>
          <p:nvPr/>
        </p:nvSpPr>
        <p:spPr>
          <a:xfrm>
            <a:off x="5734737" y="2369226"/>
            <a:ext cx="150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图窗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归一化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285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754FB87-8F19-BCD6-3A11-CFA80CF14A61}"/>
              </a:ext>
            </a:extLst>
          </p:cNvPr>
          <p:cNvSpPr txBox="1"/>
          <p:nvPr/>
        </p:nvSpPr>
        <p:spPr>
          <a:xfrm>
            <a:off x="170836" y="1132369"/>
            <a:ext cx="8712968" cy="302948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5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plot(X,Y)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输入参数只有绘图数据，属性采用默认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plot(X1,Y1,...,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Xn,Yn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同一坐标区绘制多条曲线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plot(Y)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中数据对每个值索引的二维线图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X,Y,fmt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线型基本属性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fmt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为数据点标记符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线型和颜色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plot(X1,Y1,fmt1,...,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Xn,Yn,fmtn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同一坐标区绘制可设置属性多条曲线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</a:t>
            </a:r>
            <a:r>
              <a:rPr lang="en-US" altLang="zh-CN" sz="16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Y,fmt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设置线型、标记符号和颜色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plot(___,Key=Value)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使用一个或多个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Key=Value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对组参数指定线条属性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plot(ax,___)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将在由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指定的坐标区中，而不是在当前坐标区（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gca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）中创建线条</a:t>
            </a:r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= plot(___)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曲线句柄。在创建特定的图形线条后，可以使用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修改其属性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FD7270-D912-4905-BF99-45B63C8B7594}"/>
              </a:ext>
            </a:extLst>
          </p:cNvPr>
          <p:cNvSpPr txBox="1"/>
          <p:nvPr/>
        </p:nvSpPr>
        <p:spPr>
          <a:xfrm>
            <a:off x="1668274" y="110186"/>
            <a:ext cx="641258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§3.1.4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两类绘图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离散数据绘图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14C64C-FED5-48B9-8B12-C33D935F7DEE}"/>
              </a:ext>
            </a:extLst>
          </p:cNvPr>
          <p:cNvSpPr/>
          <p:nvPr/>
        </p:nvSpPr>
        <p:spPr>
          <a:xfrm>
            <a:off x="170836" y="4232050"/>
            <a:ext cx="1560768" cy="30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eaLnBrk="0" hangingPunct="0">
              <a:lnSpc>
                <a:spcPts val="24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归纳形式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28AE1F-4BE2-4B1A-A572-0786BE422588}"/>
              </a:ext>
            </a:extLst>
          </p:cNvPr>
          <p:cNvSpPr/>
          <p:nvPr/>
        </p:nvSpPr>
        <p:spPr>
          <a:xfrm>
            <a:off x="1403649" y="4227934"/>
            <a:ext cx="7480156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曲线句柄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指定坐标区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axes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设置线属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EE2C2D-BF5B-4DB7-82B7-7A3FB7137A99}"/>
              </a:ext>
            </a:extLst>
          </p:cNvPr>
          <p:cNvSpPr txBox="1"/>
          <p:nvPr/>
        </p:nvSpPr>
        <p:spPr>
          <a:xfrm>
            <a:off x="225892" y="753360"/>
            <a:ext cx="3095152" cy="37811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0" hangingPunct="0">
              <a:lnSpc>
                <a:spcPts val="2400"/>
              </a:lnSpc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2200" dirty="0">
                <a:cs typeface="+mn-cs"/>
              </a:rPr>
              <a:t>plot</a:t>
            </a:r>
            <a:r>
              <a:rPr lang="zh-CN" altLang="en-US" sz="2200" dirty="0">
                <a:cs typeface="+mn-cs"/>
              </a:rPr>
              <a:t>二维线图多种语法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2709371-1914-44E7-887B-1779C70631A1}"/>
              </a:ext>
            </a:extLst>
          </p:cNvPr>
          <p:cNvSpPr/>
          <p:nvPr/>
        </p:nvSpPr>
        <p:spPr>
          <a:xfrm>
            <a:off x="3237157" y="731367"/>
            <a:ext cx="56802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将相邻离散两点数据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(X,Y)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连接成线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267442-9BBA-4FEB-8797-D9B9B8AD042F}"/>
              </a:ext>
            </a:extLst>
          </p:cNvPr>
          <p:cNvSpPr/>
          <p:nvPr/>
        </p:nvSpPr>
        <p:spPr>
          <a:xfrm>
            <a:off x="5922657" y="1191317"/>
            <a:ext cx="1379949" cy="369332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FFFF00"/>
                </a:solidFill>
                <a:highlight>
                  <a:srgbClr val="003B76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最简化形式</a:t>
            </a: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1B3CB619-ED80-40BA-A240-04F684D52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645" y="1831821"/>
            <a:ext cx="2428968" cy="708000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离散数据绘图和</a:t>
            </a:r>
            <a:endParaRPr lang="en-US" altLang="zh-CN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i="0" dirty="0">
                <a:solidFill>
                  <a:srgbClr val="FFFF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1200" b="1" i="0" dirty="0">
                <a:solidFill>
                  <a:srgbClr val="FFFF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一样</a:t>
            </a:r>
            <a:endParaRPr lang="zh-CN" altLang="en-US" sz="12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C3F572-E49D-4555-BDCF-2822A0E46753}"/>
              </a:ext>
            </a:extLst>
          </p:cNvPr>
          <p:cNvSpPr/>
          <p:nvPr/>
        </p:nvSpPr>
        <p:spPr>
          <a:xfrm>
            <a:off x="7302606" y="1191317"/>
            <a:ext cx="1517866" cy="371512"/>
          </a:xfrm>
          <a:prstGeom prst="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plot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（数据）</a:t>
            </a:r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75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0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04A2076F-EF25-4E23-90D8-72262A18B5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6423" r="4367" b="8970"/>
          <a:stretch/>
        </p:blipFill>
        <p:spPr>
          <a:xfrm>
            <a:off x="5621703" y="1894364"/>
            <a:ext cx="3377136" cy="26691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68D01CC-D06A-44AC-8EBB-6363E603CF58}"/>
              </a:ext>
            </a:extLst>
          </p:cNvPr>
          <p:cNvSpPr/>
          <p:nvPr/>
        </p:nvSpPr>
        <p:spPr>
          <a:xfrm>
            <a:off x="107504" y="731480"/>
            <a:ext cx="1632771" cy="400110"/>
          </a:xfrm>
          <a:prstGeom prst="rect">
            <a:avLst/>
          </a:prstGeom>
          <a:solidFill>
            <a:srgbClr val="0070C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dist">
              <a:buFont typeface="+mj-lt"/>
              <a:buAutoNum type="romanUcPeriod"/>
            </a:pPr>
            <a:r>
              <a:rPr lang="zh-CN" altLang="en-US" sz="20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归纳形式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7893690-AD3D-455B-B7F5-15AECF3ED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4" y="1262291"/>
            <a:ext cx="5453731" cy="28387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700"/>
              </a:lnSpc>
              <a:buClr>
                <a:srgbClr val="3399FF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输出是图像句柄</a:t>
            </a: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，通过图形句柄</a:t>
            </a: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设置和修改图形对象的属性，可缺省</a:t>
            </a:r>
            <a:endParaRPr lang="en-US" altLang="zh-CN" sz="200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700"/>
              </a:lnSpc>
              <a:buClr>
                <a:srgbClr val="3399FF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第一输入为指定绘图坐标区</a:t>
            </a: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axes</a:t>
            </a: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而不是在当前坐标区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缺省自动创建坐标</a:t>
            </a:r>
            <a:endParaRPr lang="en-US" altLang="zh-CN" sz="200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700"/>
              </a:lnSpc>
              <a:buClr>
                <a:srgbClr val="3399FF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为相同长度实向量，分别是横坐标和纵坐标值；</a:t>
            </a:r>
            <a:endParaRPr lang="en-US" altLang="zh-CN" sz="200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700"/>
              </a:lnSpc>
              <a:buClr>
                <a:srgbClr val="3399FF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最后输入参数为线属性，缺省将用默认属性</a:t>
            </a:r>
            <a:endParaRPr lang="en-US" altLang="zh-CN" sz="200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700"/>
              </a:lnSpc>
              <a:buClr>
                <a:srgbClr val="3399FF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默认属性时，将离散数据点自动连线成曲线</a:t>
            </a:r>
            <a:endParaRPr lang="en-US" altLang="zh-CN" sz="200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150CDA-6D75-4D87-9032-3F6A054B4101}"/>
              </a:ext>
            </a:extLst>
          </p:cNvPr>
          <p:cNvSpPr/>
          <p:nvPr/>
        </p:nvSpPr>
        <p:spPr>
          <a:xfrm>
            <a:off x="1740275" y="743342"/>
            <a:ext cx="728844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曲线句柄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指定坐标区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axes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设置线属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3D6A24-57D2-4D80-8711-3A03E11E0231}"/>
              </a:ext>
            </a:extLst>
          </p:cNvPr>
          <p:cNvSpPr txBox="1"/>
          <p:nvPr/>
        </p:nvSpPr>
        <p:spPr>
          <a:xfrm>
            <a:off x="1403648" y="123478"/>
            <a:ext cx="6504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§3.1.4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两类绘图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离散数据绘图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日期占位符 1">
            <a:extLst>
              <a:ext uri="{FF2B5EF4-FFF2-40B4-BE49-F238E27FC236}">
                <a16:creationId xmlns:a16="http://schemas.microsoft.com/office/drawing/2014/main" id="{42E5D28D-A644-4547-A9A0-97B7B2EDDF55}"/>
              </a:ext>
            </a:extLst>
          </p:cNvPr>
          <p:cNvSpPr txBox="1">
            <a:spLocks/>
          </p:cNvSpPr>
          <p:nvPr/>
        </p:nvSpPr>
        <p:spPr>
          <a:xfrm>
            <a:off x="388986" y="5310906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2025/3/18</a:t>
            </a:fld>
            <a:endParaRPr lang="zh-CN" altLang="en-US"/>
          </a:p>
        </p:txBody>
      </p:sp>
      <p:sp>
        <p:nvSpPr>
          <p:cNvPr id="13" name="日期占位符 1">
            <a:extLst>
              <a:ext uri="{FF2B5EF4-FFF2-40B4-BE49-F238E27FC236}">
                <a16:creationId xmlns:a16="http://schemas.microsoft.com/office/drawing/2014/main" id="{192CE720-914D-4163-B4D4-C05C4377DF3C}"/>
              </a:ext>
            </a:extLst>
          </p:cNvPr>
          <p:cNvSpPr txBox="1">
            <a:spLocks/>
          </p:cNvSpPr>
          <p:nvPr/>
        </p:nvSpPr>
        <p:spPr>
          <a:xfrm>
            <a:off x="388986" y="5310906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2025/3/18</a:t>
            </a:fld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1C9022-BFDF-4DD7-ACA4-3494DAA45ADF}"/>
              </a:ext>
            </a:extLst>
          </p:cNvPr>
          <p:cNvSpPr txBox="1"/>
          <p:nvPr/>
        </p:nvSpPr>
        <p:spPr>
          <a:xfrm>
            <a:off x="7759501" y="3446475"/>
            <a:ext cx="838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-2:0.2:2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7C57AF-93F0-4013-9184-F4E2734D5DA4}"/>
              </a:ext>
            </a:extLst>
          </p:cNvPr>
          <p:cNvSpPr txBox="1"/>
          <p:nvPr/>
        </p:nvSpPr>
        <p:spPr>
          <a:xfrm>
            <a:off x="5624496" y="1893416"/>
            <a:ext cx="9858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dirty="0"/>
              <a:t>-2:0.02:2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97AD62-1200-4E3D-9425-722EA29DB29C}"/>
              </a:ext>
            </a:extLst>
          </p:cNvPr>
          <p:cNvSpPr txBox="1"/>
          <p:nvPr/>
        </p:nvSpPr>
        <p:spPr>
          <a:xfrm>
            <a:off x="5580112" y="2231970"/>
            <a:ext cx="1267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201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个数据点绘制曲线</a:t>
            </a:r>
            <a:endParaRPr lang="en-US" altLang="zh-CN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54E6DD-922C-4A6C-878F-74DC15DF1C5C}"/>
              </a:ext>
            </a:extLst>
          </p:cNvPr>
          <p:cNvSpPr txBox="1"/>
          <p:nvPr/>
        </p:nvSpPr>
        <p:spPr>
          <a:xfrm>
            <a:off x="7724596" y="3832150"/>
            <a:ext cx="12785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21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个数据点绘制曲线</a:t>
            </a:r>
            <a:endParaRPr lang="en-US" altLang="zh-CN" sz="16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C13109-2040-4022-933F-3E364BE52850}"/>
              </a:ext>
            </a:extLst>
          </p:cNvPr>
          <p:cNvSpPr txBox="1"/>
          <p:nvPr/>
        </p:nvSpPr>
        <p:spPr>
          <a:xfrm>
            <a:off x="-59752" y="4151995"/>
            <a:ext cx="5695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设计离散采样数据点要适当，才能反映函数本来形貌</a:t>
            </a:r>
            <a:endParaRPr lang="ko-KR" altLang="en-US" b="1" dirty="0">
              <a:solidFill>
                <a:srgbClr val="0070C0"/>
              </a:solidFill>
              <a:latin typeface="微软雅黑" panose="020B0503020204020204" pitchFamily="34" charset="-122"/>
              <a:ea typeface="+mj-ea"/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CA6BD71E-9439-4E5A-A47E-50519C0E8527}"/>
              </a:ext>
            </a:extLst>
          </p:cNvPr>
          <p:cNvSpPr/>
          <p:nvPr/>
        </p:nvSpPr>
        <p:spPr bwMode="auto">
          <a:xfrm>
            <a:off x="5622139" y="1172478"/>
            <a:ext cx="3419105" cy="614353"/>
          </a:xfrm>
          <a:prstGeom prst="wedgeRoundRectCallout">
            <a:avLst>
              <a:gd name="adj1" fmla="val 6188"/>
              <a:gd name="adj2" fmla="val 69592"/>
              <a:gd name="adj3" fmla="val 16667"/>
            </a:avLst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不同离散步长绘制</a:t>
            </a:r>
            <a:r>
              <a:rPr lang="es-E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y=(x</a:t>
            </a:r>
            <a:r>
              <a:rPr lang="es-ES" altLang="zh-CN" sz="1400" b="1" baseline="30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s-E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s-ES" altLang="zh-CN" sz="1400" b="1" baseline="30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(1/3)</a:t>
            </a:r>
            <a:r>
              <a:rPr lang="es-E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+0.9 (4- x</a:t>
            </a:r>
            <a:r>
              <a:rPr lang="es-ES" altLang="zh-CN" sz="1400" b="1" baseline="30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s-E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(</a:t>
            </a:r>
            <a:r>
              <a:rPr lang="es-ES" altLang="zh-CN" sz="1400" b="1" baseline="30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1/2)</a:t>
            </a:r>
            <a:r>
              <a:rPr lang="es-E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sin (</a:t>
            </a:r>
            <a:r>
              <a:rPr lang="en-U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a*</a:t>
            </a:r>
            <a:r>
              <a:rPr lang="es-ES" altLang="zh-CN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x)</a:t>
            </a:r>
            <a:r>
              <a:rPr lang="zh-CN" altLang="en-US" sz="1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曲线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波形 27">
            <a:extLst>
              <a:ext uri="{FF2B5EF4-FFF2-40B4-BE49-F238E27FC236}">
                <a16:creationId xmlns:a16="http://schemas.microsoft.com/office/drawing/2014/main" id="{8164D732-C0CD-436C-A2B6-274075E17A3E}"/>
              </a:ext>
            </a:extLst>
          </p:cNvPr>
          <p:cNvSpPr/>
          <p:nvPr/>
        </p:nvSpPr>
        <p:spPr>
          <a:xfrm>
            <a:off x="8564909" y="1544957"/>
            <a:ext cx="413930" cy="232622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例7</a:t>
            </a:r>
            <a:endParaRPr lang="ko-KR" altLang="en-US" sz="14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631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23" grpId="0"/>
      <p:bldP spid="24" grpId="0"/>
      <p:bldP spid="25" grpId="0"/>
      <p:bldP spid="26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2025/3/18</a:t>
            </a:fld>
            <a:endParaRPr lang="zh-CN" altLang="en-US" sz="1800"/>
          </a:p>
        </p:txBody>
      </p:sp>
      <p:sp>
        <p:nvSpPr>
          <p:cNvPr id="6" name="矩形 5"/>
          <p:cNvSpPr/>
          <p:nvPr/>
        </p:nvSpPr>
        <p:spPr>
          <a:xfrm>
            <a:off x="1619672" y="820333"/>
            <a:ext cx="7272808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24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不用函数向量化点运算，直接用函数表达式绘制精确图形</a:t>
            </a:r>
          </a:p>
        </p:txBody>
      </p:sp>
      <p:sp>
        <p:nvSpPr>
          <p:cNvPr id="7" name="矩形 6"/>
          <p:cNvSpPr/>
          <p:nvPr/>
        </p:nvSpPr>
        <p:spPr>
          <a:xfrm>
            <a:off x="384081" y="1382905"/>
            <a:ext cx="8516208" cy="310488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Syslab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提供了直接绘制函数图的命令，不需要采用线性离散的采样点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可以快速直接地绘制函数表达式，简单方便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图形准确；</a:t>
            </a:r>
            <a:endParaRPr lang="en-US" altLang="zh-CN" sz="2000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绘图会在给定绘图范围，根据函数表达式变动的激烈程度自动选择相应的计算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函数平坦处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取数据点较稀疏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;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变化剧烈处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将自动取较密的数据点；</a:t>
            </a:r>
            <a:endParaRPr lang="en-US" altLang="zh-CN" sz="2000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这种绘图特别适用很难数值化的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隐式函数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方程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f2(</a:t>
            </a:r>
            <a:r>
              <a:rPr lang="en-US" altLang="zh-CN" sz="2000" b="1" kern="0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x,y</a:t>
            </a:r>
            <a:r>
              <a:rPr lang="en-US" altLang="zh-CN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)=0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，</a:t>
            </a:r>
            <a:endParaRPr lang="en-US" altLang="zh-CN" sz="2000" b="1" kern="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marL="285750" indent="-285750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适合任何函数创建的函数表达式，简化形式、匿名函数或函数标准形式</a:t>
            </a:r>
          </a:p>
        </p:txBody>
      </p:sp>
      <p:sp>
        <p:nvSpPr>
          <p:cNvPr id="8" name="矩形 7"/>
          <p:cNvSpPr/>
          <p:nvPr/>
        </p:nvSpPr>
        <p:spPr>
          <a:xfrm>
            <a:off x="367928" y="843558"/>
            <a:ext cx="1139526" cy="4001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dist">
              <a:lnSpc>
                <a:spcPts val="2400"/>
              </a:lnSpc>
            </a:pPr>
            <a:r>
              <a:rPr lang="zh-CN" altLang="en-US" sz="2400" kern="0" dirty="0">
                <a:solidFill>
                  <a:schemeClr val="bg1"/>
                </a:solidFill>
                <a:highlight>
                  <a:srgbClr val="FF0000"/>
                </a:highlight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函数图</a:t>
            </a:r>
            <a:endParaRPr lang="zh-CN" altLang="en-US" sz="2400" kern="0" dirty="0">
              <a:solidFill>
                <a:schemeClr val="bg1"/>
              </a:solidFill>
              <a:highlight>
                <a:srgbClr val="FF0000"/>
              </a:highligh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067FDB-2080-5674-0D85-FBD01DBAD460}"/>
              </a:ext>
            </a:extLst>
          </p:cNvPr>
          <p:cNvSpPr txBox="1"/>
          <p:nvPr/>
        </p:nvSpPr>
        <p:spPr>
          <a:xfrm>
            <a:off x="2411760" y="119016"/>
            <a:ext cx="6048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§3.1.4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两类绘图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endParaRPr lang="en-US" altLang="zh-CN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313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237719" y="1333046"/>
            <a:ext cx="8804421" cy="19827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fun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：可以是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函数标准形式、简化形式、匿名函数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limits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轴范围向量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xmin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0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xmax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endParaRPr lang="zh-CN" altLang="en-US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ct val="125000"/>
              </a:lnSpc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输出是图像句柄，通过图形句柄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设置和修改图形对象的属性，可省略 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ct val="125000"/>
              </a:lnSpc>
              <a:buSzPct val="80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第一输入为指定坐标区绘图，缺省时自动创建坐标区</a:t>
            </a:r>
            <a:r>
              <a:rPr lang="en-US" altLang="zh-CN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;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最后输入参数为设置线属性</a:t>
            </a:r>
            <a:r>
              <a:rPr lang="zh-CN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缺省时将采用默认属性</a:t>
            </a:r>
            <a:endParaRPr lang="en-US" altLang="zh-CN" sz="20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6437" y="786169"/>
            <a:ext cx="1313180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绘函数图</a:t>
            </a:r>
            <a:endParaRPr lang="ko-KR" altLang="en-US" sz="2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299289" y="703550"/>
            <a:ext cx="7812868" cy="461665"/>
          </a:xfrm>
          <a:prstGeom prst="rect">
            <a:avLst/>
          </a:prstGeom>
          <a:noFill/>
          <a:ln w="9525">
            <a:noFill/>
            <a:prstDash val="solid"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ts val="3300"/>
              </a:lnSpc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57061" y="786169"/>
            <a:ext cx="4685079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/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句柄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fplot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fun,limits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线属性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0E2A01-8761-9DDA-46F6-7262B789B12A}"/>
              </a:ext>
            </a:extLst>
          </p:cNvPr>
          <p:cNvSpPr txBox="1"/>
          <p:nvPr/>
        </p:nvSpPr>
        <p:spPr>
          <a:xfrm>
            <a:off x="126563" y="3745409"/>
            <a:ext cx="8736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定义函数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f(x)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(x)=(x^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 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)^(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31.4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x); 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7" name="波形 6">
            <a:extLst>
              <a:ext uri="{FF2B5EF4-FFF2-40B4-BE49-F238E27FC236}">
                <a16:creationId xmlns:a16="http://schemas.microsoft.com/office/drawing/2014/main" id="{5CC9EAD7-D520-1C1D-53FF-2E07F4636A00}"/>
              </a:ext>
            </a:extLst>
          </p:cNvPr>
          <p:cNvSpPr/>
          <p:nvPr/>
        </p:nvSpPr>
        <p:spPr>
          <a:xfrm>
            <a:off x="237720" y="3400095"/>
            <a:ext cx="600303" cy="34531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1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例8</a:t>
            </a:r>
            <a:endParaRPr lang="ko-KR" altLang="en-US" sz="21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3C2A62-1B34-FE01-9C97-857EFADC58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320" t="28460" r="32436" b="27211"/>
          <a:stretch/>
        </p:blipFill>
        <p:spPr>
          <a:xfrm>
            <a:off x="7020273" y="2497269"/>
            <a:ext cx="1886008" cy="14426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E20FDAF-BBD0-43DD-AD8A-B8F08DDFDB96}"/>
              </a:ext>
            </a:extLst>
          </p:cNvPr>
          <p:cNvSpPr txBox="1"/>
          <p:nvPr/>
        </p:nvSpPr>
        <p:spPr>
          <a:xfrm>
            <a:off x="1259632" y="96295"/>
            <a:ext cx="662473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§3.1.4 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两类绘图</a:t>
            </a:r>
            <a:r>
              <a:rPr lang="en-US" altLang="zh-CN" sz="28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fplot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绘制二维函数图</a:t>
            </a:r>
            <a:endParaRPr lang="en-US" altLang="zh-CN" sz="2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C3B1624-E863-4B53-A1D9-0F0C3F46DD4B}"/>
              </a:ext>
            </a:extLst>
          </p:cNvPr>
          <p:cNvSpPr txBox="1">
            <a:spLocks noChangeArrowheads="1"/>
          </p:cNvSpPr>
          <p:nvPr/>
        </p:nvSpPr>
        <p:spPr>
          <a:xfrm>
            <a:off x="873177" y="3383613"/>
            <a:ext cx="6363119" cy="4099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algn="dist" eaLnBrk="0" hangingPunct="0">
              <a:lnSpc>
                <a:spcPts val="2400"/>
              </a:lnSpc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/>
            <a:r>
              <a:rPr lang="zh-CN" altLang="en-US" dirty="0">
                <a:solidFill>
                  <a:srgbClr val="00B0F0"/>
                </a:solidFill>
              </a:rPr>
              <a:t>绘制</a:t>
            </a:r>
            <a:r>
              <a:rPr lang="es-ES" altLang="zh-CN" dirty="0">
                <a:solidFill>
                  <a:srgbClr val="00B0F0"/>
                </a:solidFill>
              </a:rPr>
              <a:t>y=(x2)(1/3)+0.9(4- x2)(1/2)sin(</a:t>
            </a:r>
            <a:r>
              <a:rPr lang="en-US" altLang="zh-CN" dirty="0">
                <a:solidFill>
                  <a:srgbClr val="00B0F0"/>
                </a:solidFill>
              </a:rPr>
              <a:t>a*</a:t>
            </a:r>
            <a:r>
              <a:rPr lang="es-ES" altLang="zh-CN" dirty="0">
                <a:solidFill>
                  <a:srgbClr val="00B0F0"/>
                </a:solidFill>
              </a:rPr>
              <a:t>x)</a:t>
            </a:r>
            <a:r>
              <a:rPr lang="zh-CN" altLang="en-US" dirty="0">
                <a:solidFill>
                  <a:srgbClr val="00B0F0"/>
                </a:solidFill>
              </a:rPr>
              <a:t>函数图并保存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CF3A380-072A-4F12-9066-FD4257FA1470}"/>
              </a:ext>
            </a:extLst>
          </p:cNvPr>
          <p:cNvSpPr/>
          <p:nvPr/>
        </p:nvSpPr>
        <p:spPr bwMode="auto">
          <a:xfrm>
            <a:off x="5796136" y="4228154"/>
            <a:ext cx="3357538" cy="423592"/>
          </a:xfrm>
          <a:prstGeom prst="wedgeRoundRectCallout">
            <a:avLst>
              <a:gd name="adj1" fmla="val 8791"/>
              <a:gd name="adj2" fmla="val -111290"/>
              <a:gd name="adj3" fmla="val 16667"/>
            </a:avLst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saveas(gcf(),“</a:t>
            </a:r>
            <a:r>
              <a:rPr lang="en-US" altLang="zh-CN" b="1" dirty="0" err="1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xin</a:t>
            </a: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.jpg”) </a:t>
            </a:r>
            <a:r>
              <a:rPr lang="en-US" altLang="zh-CN" b="1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b="1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保存图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highlight>
                <a:srgbClr val="FF0000"/>
              </a:highlight>
              <a:latin typeface="Times New Roman" pitchFamily="18" charset="0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523D6AE-911F-4EED-9B35-00906E315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699" y="1282822"/>
            <a:ext cx="2419469" cy="779936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Menlo"/>
              </a:rPr>
              <a:t>函数图和</a:t>
            </a:r>
            <a:endParaRPr lang="en-US" altLang="zh-CN" sz="1400" b="1" dirty="0">
              <a:solidFill>
                <a:srgbClr val="FFFF00"/>
              </a:solidFill>
              <a:latin typeface="Menlo"/>
            </a:endParaRPr>
          </a:p>
          <a:p>
            <a:pPr algn="ctr"/>
            <a:r>
              <a:rPr lang="en-US" altLang="zh-CN" sz="1400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sz="1400" b="1" i="0" dirty="0">
                <a:solidFill>
                  <a:srgbClr val="FFFF00"/>
                </a:solidFill>
                <a:effectLst/>
                <a:latin typeface="Menlo"/>
              </a:rPr>
              <a:t>一样</a:t>
            </a:r>
            <a:endParaRPr lang="zh-CN" altLang="en-US" sz="1400" b="1" dirty="0">
              <a:solidFill>
                <a:srgbClr val="FFFF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51C828-180D-4B99-A130-12B0AB5A2A2D}"/>
              </a:ext>
            </a:extLst>
          </p:cNvPr>
          <p:cNvSpPr/>
          <p:nvPr/>
        </p:nvSpPr>
        <p:spPr>
          <a:xfrm>
            <a:off x="1538725" y="800413"/>
            <a:ext cx="2241188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fplot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fun ,limits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71D713-D27A-4A47-85BD-09764E16C0AC}"/>
              </a:ext>
            </a:extLst>
          </p:cNvPr>
          <p:cNvSpPr/>
          <p:nvPr/>
        </p:nvSpPr>
        <p:spPr>
          <a:xfrm>
            <a:off x="3886789" y="791057"/>
            <a:ext cx="44384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112923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  <p:bldP spid="17" grpId="0"/>
      <p:bldP spid="2" grpId="0" animBg="1"/>
      <p:bldP spid="13" grpId="0" animBg="1"/>
      <p:bldP spid="18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>
            <a:extLst>
              <a:ext uri="{FF2B5EF4-FFF2-40B4-BE49-F238E27FC236}">
                <a16:creationId xmlns:a16="http://schemas.microsoft.com/office/drawing/2014/main" id="{494BDBA5-376E-4AFC-A8B8-A80F327B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2" y="1755363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4CDC76-000C-4611-A878-60B7A965CCB8}"/>
              </a:ext>
            </a:extLst>
          </p:cNvPr>
          <p:cNvSpPr txBox="1"/>
          <p:nvPr/>
        </p:nvSpPr>
        <p:spPr>
          <a:xfrm>
            <a:off x="-39773" y="1137195"/>
            <a:ext cx="5583373" cy="1283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</a:t>
            </a:r>
            <a:r>
              <a:rPr lang="en-US" altLang="zh-CN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指定图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形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窗口保存到</a:t>
            </a:r>
            <a:r>
              <a:rPr lang="en-US" altLang="zh-CN" b="1" i="0" u="none" strike="noStrike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filename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</a:t>
            </a:r>
            <a:endParaRPr lang="en-US" altLang="zh-CN" b="1" i="0" dirty="0">
              <a:solidFill>
                <a:srgbClr val="0070C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带扩展名的文件名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为字符串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如“</a:t>
            </a:r>
            <a:r>
              <a:rPr lang="en-US" altLang="zh-CN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mypl.jpg”</a:t>
            </a:r>
          </a:p>
          <a:p>
            <a:pPr marL="285750" indent="-28575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文件扩展名用于</a:t>
            </a:r>
            <a:r>
              <a:rPr lang="zh-CN" altLang="en-US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特定</a:t>
            </a:r>
            <a:r>
              <a:rPr lang="zh-CN" altLang="en-US" b="1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文件格式</a:t>
            </a:r>
            <a:endParaRPr lang="zh-CN" altLang="en-US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AAFACA-E541-49CF-96E5-178EB5B4EDB0}"/>
              </a:ext>
            </a:extLst>
          </p:cNvPr>
          <p:cNvSpPr txBox="1"/>
          <p:nvPr/>
        </p:nvSpPr>
        <p:spPr>
          <a:xfrm>
            <a:off x="-11889" y="2763837"/>
            <a:ext cx="5921784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</a:t>
            </a:r>
            <a:r>
              <a:rPr lang="en-US" altLang="zh-CN" b="0" i="0" u="none" strike="noStrike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</a:t>
            </a:r>
            <a:r>
              <a:rPr lang="zh-CN" altLang="en-US" u="none" strike="noStrike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也可以指定</a:t>
            </a:r>
            <a:r>
              <a:rPr lang="zh-CN" altLang="en-US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</a:t>
            </a:r>
            <a:r>
              <a:rPr lang="zh-CN" altLang="en-US" u="none" strike="noStrike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当前窗口</a:t>
            </a:r>
            <a:r>
              <a:rPr lang="en-US" altLang="zh-CN" u="none" strike="noStrike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gcf</a:t>
            </a:r>
            <a:r>
              <a:rPr lang="en-US" altLang="zh-CN" u="none" strike="noStrike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 )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endParaRPr lang="en-US" altLang="zh-CN" sz="2000" b="0" i="0" dirty="0">
              <a:solidFill>
                <a:srgbClr val="0070C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可以有文件扩展名，也可以没有</a:t>
            </a:r>
            <a:r>
              <a:rPr lang="en-US" altLang="zh-CN" b="0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b="0" i="0" dirty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</a:t>
            </a:r>
            <a:r>
              <a:rPr lang="en-US" altLang="zh-CN" b="0" i="0" dirty="0" err="1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png</a:t>
            </a:r>
            <a:endParaRPr lang="en-US" altLang="zh-CN" b="0" i="0" dirty="0">
              <a:solidFill>
                <a:srgbClr val="0070C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默认保存在当前工作目录，否则指明路径</a:t>
            </a:r>
            <a:endParaRPr lang="en-US" altLang="zh-CN" b="0" i="0" dirty="0">
              <a:solidFill>
                <a:srgbClr val="0070C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8D0BDCE4-DDC2-44BF-809D-1D6C50C8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8" y="2338825"/>
            <a:ext cx="1534930" cy="465849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2400" b="1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2461C4B-BDE6-4D60-98CA-73A39BCEC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968" y="78250"/>
            <a:ext cx="7812360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§3.1.5</a:t>
            </a:r>
            <a:r>
              <a:rPr lang="en-US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图像</a:t>
            </a:r>
            <a:r>
              <a:rPr lang="zh-CN" altLang="en-US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处理</a:t>
            </a:r>
            <a:r>
              <a:rPr lang="en-US" altLang="zh-CN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————</a:t>
            </a:r>
            <a:r>
              <a:rPr lang="zh-CN" altLang="en-US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图形和图像</a:t>
            </a:r>
            <a:r>
              <a:rPr lang="zh-CN" altLang="en-US" sz="3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保存</a:t>
            </a:r>
            <a:endParaRPr kumimoji="0" lang="zh-CN" altLang="zh-CN" sz="3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B12EC8-214F-41A4-A2AF-B18E9B6AE6DF}"/>
              </a:ext>
            </a:extLst>
          </p:cNvPr>
          <p:cNvSpPr txBox="1"/>
          <p:nvPr/>
        </p:nvSpPr>
        <p:spPr>
          <a:xfrm>
            <a:off x="9676" y="723661"/>
            <a:ext cx="2343533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2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图形和图像</a:t>
            </a:r>
            <a:r>
              <a:rPr lang="zh-CN" altLang="en-US" sz="2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B521DC3-8A1F-4A4A-9D93-54607F36D872}"/>
              </a:ext>
            </a:extLst>
          </p:cNvPr>
          <p:cNvSpPr txBox="1"/>
          <p:nvPr/>
        </p:nvSpPr>
        <p:spPr>
          <a:xfrm>
            <a:off x="56267" y="3099412"/>
            <a:ext cx="4641001" cy="44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ctr" eaLnBrk="0" hangingPunct="0">
              <a:lnSpc>
                <a:spcPct val="110000"/>
              </a:lnSpc>
            </a:pPr>
            <a:r>
              <a:rPr lang="zh-CN" altLang="en-US" sz="22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saveas(gcf( ),“</a:t>
            </a:r>
            <a:r>
              <a:rPr lang="en-US" altLang="zh-CN" sz="2200" b="1" dirty="0" err="1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xin</a:t>
            </a:r>
            <a:r>
              <a:rPr lang="zh-CN" altLang="en-US" sz="22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.jpg”) </a:t>
            </a:r>
            <a:r>
              <a:rPr lang="en-US" altLang="zh-CN" sz="22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200" b="1" dirty="0">
                <a:solidFill>
                  <a:schemeClr val="bg1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保存图形</a:t>
            </a:r>
            <a:endParaRPr kumimoji="0" lang="zh-CN" altLang="en-US" sz="2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3399FF"/>
              </a:highlight>
              <a:latin typeface="Times New Roman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8034F3-73AB-433B-B3CE-5A090678F65C}"/>
              </a:ext>
            </a:extLst>
          </p:cNvPr>
          <p:cNvSpPr txBox="1"/>
          <p:nvPr/>
        </p:nvSpPr>
        <p:spPr>
          <a:xfrm>
            <a:off x="13747" y="4149986"/>
            <a:ext cx="4641001" cy="4502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177800" indent="-177800" algn="ctr" eaLnBrk="0" hangingPunct="0">
              <a:lnSpc>
                <a:spcPct val="110000"/>
              </a:lnSpc>
              <a:defRPr sz="2000">
                <a:solidFill>
                  <a:schemeClr val="bg1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sz="2200" b="1" dirty="0" err="1">
                <a:highlight>
                  <a:srgbClr val="3399FF"/>
                </a:highlight>
              </a:rPr>
              <a:t>saveas</a:t>
            </a:r>
            <a:r>
              <a:rPr lang="en-US" altLang="zh-CN" sz="2200" b="1" dirty="0">
                <a:highlight>
                  <a:srgbClr val="3399FF"/>
                </a:highlight>
              </a:rPr>
              <a:t>(</a:t>
            </a:r>
            <a:r>
              <a:rPr lang="en-US" altLang="zh-CN" sz="2200" b="1" dirty="0" err="1">
                <a:highlight>
                  <a:srgbClr val="3399FF"/>
                </a:highlight>
              </a:rPr>
              <a:t>gcf</a:t>
            </a:r>
            <a:r>
              <a:rPr lang="en-US" altLang="zh-CN" sz="2200" b="1" dirty="0">
                <a:highlight>
                  <a:srgbClr val="3399FF"/>
                </a:highlight>
              </a:rPr>
              <a:t>( ),</a:t>
            </a:r>
            <a:r>
              <a:rPr lang="zh-CN" altLang="en-US" sz="2200" b="1" dirty="0">
                <a:highlight>
                  <a:srgbClr val="3399FF"/>
                </a:highlight>
              </a:rPr>
              <a:t> </a:t>
            </a:r>
            <a:r>
              <a:rPr lang="en-US" altLang="zh-CN" sz="2200" b="1" dirty="0">
                <a:highlight>
                  <a:srgbClr val="3399FF"/>
                </a:highlight>
              </a:rPr>
              <a:t>"D:/syslabex/xin.jpg")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62C1A2-55B8-417D-99B4-7472EDF874A3}"/>
              </a:ext>
            </a:extLst>
          </p:cNvPr>
          <p:cNvSpPr/>
          <p:nvPr/>
        </p:nvSpPr>
        <p:spPr>
          <a:xfrm>
            <a:off x="2139972" y="746555"/>
            <a:ext cx="2320501" cy="43088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zh-CN" altLang="zh-CN" sz="22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saveas(fig,filename) </a:t>
            </a:r>
            <a:endParaRPr lang="en-US" altLang="zh-CN" sz="22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95030F-4D4C-4698-9635-7ADAAFE9F129}"/>
              </a:ext>
            </a:extLst>
          </p:cNvPr>
          <p:cNvSpPr txBox="1"/>
          <p:nvPr/>
        </p:nvSpPr>
        <p:spPr>
          <a:xfrm>
            <a:off x="5364088" y="713424"/>
            <a:ext cx="3456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将图窗保存为特定文件格式</a:t>
            </a:r>
          </a:p>
        </p:txBody>
      </p:sp>
      <p:graphicFrame>
        <p:nvGraphicFramePr>
          <p:cNvPr id="17" name="内容占位符 3">
            <a:extLst>
              <a:ext uri="{FF2B5EF4-FFF2-40B4-BE49-F238E27FC236}">
                <a16:creationId xmlns:a16="http://schemas.microsoft.com/office/drawing/2014/main" id="{7CD3F170-68B8-4ED0-BA93-4FD9594B4D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890010"/>
              </p:ext>
            </p:extLst>
          </p:nvPr>
        </p:nvGraphicFramePr>
        <p:xfrm>
          <a:off x="5375042" y="1235255"/>
          <a:ext cx="3615531" cy="3319975"/>
        </p:xfrm>
        <a:graphic>
          <a:graphicData uri="http://schemas.openxmlformats.org/drawingml/2006/table">
            <a:tbl>
              <a:tblPr/>
              <a:tblGrid>
                <a:gridCol w="807942">
                  <a:extLst>
                    <a:ext uri="{9D8B030D-6E8A-4147-A177-3AD203B41FA5}">
                      <a16:colId xmlns:a16="http://schemas.microsoft.com/office/drawing/2014/main" val="276594636"/>
                    </a:ext>
                  </a:extLst>
                </a:gridCol>
                <a:gridCol w="2807589">
                  <a:extLst>
                    <a:ext uri="{9D8B030D-6E8A-4147-A177-3AD203B41FA5}">
                      <a16:colId xmlns:a16="http://schemas.microsoft.com/office/drawing/2014/main" val="3644021728"/>
                    </a:ext>
                  </a:extLst>
                </a:gridCol>
              </a:tblGrid>
              <a:tr h="17800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扩展名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生成的格式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91698"/>
                  </a:ext>
                </a:extLst>
              </a:tr>
              <a:tr h="29864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.syslabfig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Syslab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FIG 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012598"/>
                  </a:ext>
                </a:extLst>
              </a:tr>
              <a:tr h="22910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.jpg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JPEG 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406328"/>
                  </a:ext>
                </a:extLst>
              </a:tr>
              <a:tr h="28448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.png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可移植网络图形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259878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.eps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EPS 3 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级黑白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834654"/>
                  </a:ext>
                </a:extLst>
              </a:tr>
              <a:tr h="34170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.pdf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可移植文档格式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22676"/>
                  </a:ext>
                </a:extLst>
              </a:tr>
              <a:tr h="24678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.jpeg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JPEG 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90561"/>
                  </a:ext>
                </a:extLst>
              </a:tr>
              <a:tr h="31664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.tif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TIFF 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图像，标签图像文件格式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111452"/>
                  </a:ext>
                </a:extLst>
              </a:tr>
              <a:tr h="26387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“PDF”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整页可移植文档格式 （</a:t>
                      </a:r>
                      <a:r>
                        <a:rPr lang="en-US" altLang="zh-CN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PDF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 颜色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06639"/>
                  </a:ext>
                </a:extLst>
              </a:tr>
              <a:tr h="219377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“EPS”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PostScript® （EPS） 3 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级黑白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76720"/>
                  </a:ext>
                </a:extLst>
              </a:tr>
              <a:tr h="60651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lang="en-US" sz="1400" dirty="0" err="1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ps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全页 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PostScript （PS） 3 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级黑白</a:t>
                      </a:r>
                    </a:p>
                  </a:txBody>
                  <a:tcPr marL="8719" marR="8719" marT="4359" marB="4359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47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62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/>
      <p:bldP spid="27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内容占位符 3">
            <a:extLst>
              <a:ext uri="{FF2B5EF4-FFF2-40B4-BE49-F238E27FC236}">
                <a16:creationId xmlns:a16="http://schemas.microsoft.com/office/drawing/2014/main" id="{7F11F81E-2CF2-467E-9B59-33C37D637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537567"/>
              </p:ext>
            </p:extLst>
          </p:nvPr>
        </p:nvGraphicFramePr>
        <p:xfrm>
          <a:off x="206921" y="2746758"/>
          <a:ext cx="3511799" cy="905112"/>
        </p:xfrm>
        <a:graphic>
          <a:graphicData uri="http://schemas.openxmlformats.org/drawingml/2006/table">
            <a:tbl>
              <a:tblPr/>
              <a:tblGrid>
                <a:gridCol w="952352">
                  <a:extLst>
                    <a:ext uri="{9D8B030D-6E8A-4147-A177-3AD203B41FA5}">
                      <a16:colId xmlns:a16="http://schemas.microsoft.com/office/drawing/2014/main" val="2174332990"/>
                    </a:ext>
                  </a:extLst>
                </a:gridCol>
                <a:gridCol w="2559447">
                  <a:extLst>
                    <a:ext uri="{9D8B030D-6E8A-4147-A177-3AD203B41FA5}">
                      <a16:colId xmlns:a16="http://schemas.microsoft.com/office/drawing/2014/main" val="2891876446"/>
                    </a:ext>
                  </a:extLst>
                </a:gridCol>
              </a:tblGrid>
              <a:tr h="109538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 err="1">
                          <a:solidFill>
                            <a:srgbClr val="0070C0"/>
                          </a:solidFill>
                          <a:effectLst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imshow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27384" marR="27384" marT="13692" marB="1369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</a:rPr>
                        <a:t>显示图像</a:t>
                      </a:r>
                    </a:p>
                  </a:txBody>
                  <a:tcPr marL="27384" marR="27384" marT="13692" marB="1369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89124"/>
                  </a:ext>
                </a:extLst>
              </a:tr>
              <a:tr h="109538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>
                          <a:solidFill>
                            <a:srgbClr val="0070C0"/>
                          </a:solidFill>
                          <a:effectLst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image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27384" marR="27384" marT="13692" marB="1369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</a:rPr>
                        <a:t>从数组显示图像</a:t>
                      </a:r>
                    </a:p>
                  </a:txBody>
                  <a:tcPr marL="27384" marR="27384" marT="13692" marB="1369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66444"/>
                  </a:ext>
                </a:extLst>
              </a:tr>
              <a:tr h="109538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 strike="noStrike" dirty="0" err="1">
                          <a:solidFill>
                            <a:srgbClr val="0070C0"/>
                          </a:solidFill>
                          <a:effectLst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imagesc</a:t>
                      </a:r>
                      <a:endParaRPr lang="en-US" sz="1800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27384" marR="27384" marT="13692" marB="1369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rgbClr val="0070C0"/>
                          </a:solidFill>
                          <a:effectLst/>
                        </a:rPr>
                        <a:t>使用缩放颜色显示图像</a:t>
                      </a:r>
                    </a:p>
                  </a:txBody>
                  <a:tcPr marL="27384" marR="27384" marT="13692" marB="13692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987433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10B86F60-B3CA-4B43-8450-43DA8C758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92" y="2347484"/>
            <a:ext cx="298864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和修改</a:t>
            </a:r>
            <a:r>
              <a:rPr lang="zh-CN" altLang="zh-CN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99F71C7-0CD6-4DF6-B814-B7D3DCDF0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939549"/>
              </p:ext>
            </p:extLst>
          </p:nvPr>
        </p:nvGraphicFramePr>
        <p:xfrm>
          <a:off x="204384" y="1169214"/>
          <a:ext cx="3426198" cy="1051560"/>
        </p:xfrm>
        <a:graphic>
          <a:graphicData uri="http://schemas.openxmlformats.org/drawingml/2006/table">
            <a:tbl>
              <a:tblPr/>
              <a:tblGrid>
                <a:gridCol w="1074432">
                  <a:extLst>
                    <a:ext uri="{9D8B030D-6E8A-4147-A177-3AD203B41FA5}">
                      <a16:colId xmlns:a16="http://schemas.microsoft.com/office/drawing/2014/main" val="3699018007"/>
                    </a:ext>
                  </a:extLst>
                </a:gridCol>
                <a:gridCol w="2351766">
                  <a:extLst>
                    <a:ext uri="{9D8B030D-6E8A-4147-A177-3AD203B41FA5}">
                      <a16:colId xmlns:a16="http://schemas.microsoft.com/office/drawing/2014/main" val="175533159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imread</a:t>
                      </a:r>
                      <a:endParaRPr lang="en-US" sz="1800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图形文件读取图像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11109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imresize</a:t>
                      </a:r>
                      <a:endParaRPr lang="en-US" sz="1800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调整图像大小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4119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imwrite</a:t>
                      </a:r>
                      <a:endParaRPr lang="en-US" sz="1800" kern="120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将图像写入图形文件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73092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CDD19FCE-A8CF-45BD-82DA-DFECD9164BAA}"/>
              </a:ext>
            </a:extLst>
          </p:cNvPr>
          <p:cNvSpPr txBox="1"/>
          <p:nvPr/>
        </p:nvSpPr>
        <p:spPr>
          <a:xfrm>
            <a:off x="128393" y="716332"/>
            <a:ext cx="3690156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读取、写入图像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0B0AB0-9A27-418F-B93C-204331CF8D18}"/>
              </a:ext>
            </a:extLst>
          </p:cNvPr>
          <p:cNvSpPr txBox="1"/>
          <p:nvPr/>
        </p:nvSpPr>
        <p:spPr>
          <a:xfrm>
            <a:off x="4911806" y="2762400"/>
            <a:ext cx="4104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 i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将数组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中数据显示为图像。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的每个元素指定图像的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个像素的颜色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B8D6E7-4371-4C72-8837-54EFF76BE2A8}"/>
              </a:ext>
            </a:extLst>
          </p:cNvPr>
          <p:cNvSpPr/>
          <p:nvPr/>
        </p:nvSpPr>
        <p:spPr>
          <a:xfrm>
            <a:off x="3904439" y="2784894"/>
            <a:ext cx="102046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image(C)</a:t>
            </a: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9BADDB80-3861-4D32-8803-F06F46F14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876" y="18080"/>
            <a:ext cx="7762039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§3.1.5</a:t>
            </a:r>
            <a:r>
              <a:rPr lang="en-US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图像</a:t>
            </a:r>
            <a:r>
              <a:rPr lang="zh-CN" altLang="en-US" sz="3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处理</a:t>
            </a:r>
            <a:r>
              <a:rPr lang="en-US" altLang="zh-CN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0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</a:t>
            </a:r>
            <a:r>
              <a:rPr lang="zh-CN" altLang="zh-CN" sz="3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读取、显示</a:t>
            </a:r>
            <a:r>
              <a:rPr kumimoji="0" lang="zh-CN" altLang="en-US" sz="3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kumimoji="0" lang="zh-CN" altLang="zh-CN" sz="3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写入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BA4A4BD-B006-4295-8931-FB0600A75A87}"/>
              </a:ext>
            </a:extLst>
          </p:cNvPr>
          <p:cNvSpPr/>
          <p:nvPr/>
        </p:nvSpPr>
        <p:spPr>
          <a:xfrm>
            <a:off x="3905108" y="746493"/>
            <a:ext cx="246709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en-US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C</a:t>
            </a:r>
            <a:r>
              <a:rPr lang="zh-CN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 = imread(filename)</a:t>
            </a:r>
            <a:r>
              <a:rPr lang="zh-CN" altLang="zh-CN" b="1" dirty="0">
                <a:solidFill>
                  <a:schemeClr val="bg1"/>
                </a:solidFill>
              </a:rPr>
              <a:t> </a:t>
            </a:r>
            <a:endParaRPr lang="zh-CN" altLang="zh-CN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1FD4674-ABA4-4013-995C-4C8C6CC5083D}"/>
              </a:ext>
            </a:extLst>
          </p:cNvPr>
          <p:cNvSpPr txBox="1"/>
          <p:nvPr/>
        </p:nvSpPr>
        <p:spPr>
          <a:xfrm>
            <a:off x="3789725" y="1127775"/>
            <a:ext cx="5425098" cy="636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 i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从图像文件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filename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读取图像数据到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变量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可是灰度图二维矩阵 ，也可是真彩图三维数组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5E6048-C4B5-4C3F-87D6-46C74DCF864B}"/>
              </a:ext>
            </a:extLst>
          </p:cNvPr>
          <p:cNvSpPr/>
          <p:nvPr/>
        </p:nvSpPr>
        <p:spPr>
          <a:xfrm>
            <a:off x="3913267" y="1747379"/>
            <a:ext cx="231491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eaLnBrk="0" hangingPunct="0"/>
            <a:r>
              <a:rPr lang="zh-CN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imwrite(</a:t>
            </a:r>
            <a:r>
              <a:rPr lang="en-US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C</a:t>
            </a:r>
            <a:r>
              <a:rPr lang="zh-CN" altLang="zh-CN" b="1" dirty="0">
                <a:solidFill>
                  <a:schemeClr val="bg1"/>
                </a:solidFill>
                <a:latin typeface="Arial Unicode MS"/>
                <a:ea typeface="source-code-pro"/>
              </a:rPr>
              <a:t>,filename)</a:t>
            </a:r>
            <a:r>
              <a:rPr lang="zh-CN" altLang="zh-CN" b="1" dirty="0">
                <a:solidFill>
                  <a:schemeClr val="bg1"/>
                </a:solidFill>
              </a:rPr>
              <a:t> </a:t>
            </a:r>
            <a:endParaRPr lang="zh-CN" altLang="zh-CN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FA692F5-D16C-4A20-8721-4E83EBA81070}"/>
              </a:ext>
            </a:extLst>
          </p:cNvPr>
          <p:cNvSpPr txBox="1"/>
          <p:nvPr/>
        </p:nvSpPr>
        <p:spPr>
          <a:xfrm>
            <a:off x="3797249" y="2129010"/>
            <a:ext cx="4827984" cy="6814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0" i="0">
                <a:solidFill>
                  <a:srgbClr val="00206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将图像矩阵数据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写入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filename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指定的文件，</a:t>
            </a:r>
            <a:endParaRPr lang="en-US" altLang="zh-CN" sz="16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由扩展名决定文件导出格式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D9F4EE3-35D9-4B08-97C6-16A901722DA9}"/>
              </a:ext>
            </a:extLst>
          </p:cNvPr>
          <p:cNvSpPr txBox="1"/>
          <p:nvPr/>
        </p:nvSpPr>
        <p:spPr>
          <a:xfrm>
            <a:off x="5845818" y="4011835"/>
            <a:ext cx="3298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b="1" i="0">
                <a:solidFill>
                  <a:srgbClr val="0070C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1600" dirty="0"/>
              <a:t>直接显示存储在</a:t>
            </a:r>
            <a:r>
              <a:rPr lang="en-US" altLang="zh-CN" sz="1600" dirty="0"/>
              <a:t>filename</a:t>
            </a:r>
            <a:r>
              <a:rPr lang="zh-CN" altLang="en-US" sz="1600" dirty="0"/>
              <a:t>图形文件中图像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76CAD4C-BA88-451A-8C52-D5DD16FC5BAA}"/>
              </a:ext>
            </a:extLst>
          </p:cNvPr>
          <p:cNvSpPr/>
          <p:nvPr/>
        </p:nvSpPr>
        <p:spPr>
          <a:xfrm>
            <a:off x="3904438" y="4034262"/>
            <a:ext cx="185112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imshow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filename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6E9059-2183-45CC-B7B2-8EF44EC12E4E}"/>
              </a:ext>
            </a:extLst>
          </p:cNvPr>
          <p:cNvSpPr/>
          <p:nvPr/>
        </p:nvSpPr>
        <p:spPr>
          <a:xfrm>
            <a:off x="3911646" y="3452537"/>
            <a:ext cx="1120607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imshow</a:t>
            </a:r>
            <a:r>
              <a: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(C)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B20B3C7-FC33-4D9E-8DAA-EBF234B52BAD}"/>
              </a:ext>
            </a:extLst>
          </p:cNvPr>
          <p:cNvSpPr/>
          <p:nvPr/>
        </p:nvSpPr>
        <p:spPr>
          <a:xfrm>
            <a:off x="4980070" y="3449487"/>
            <a:ext cx="3831403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显示</a:t>
            </a:r>
            <a:r>
              <a:rPr lang="en-US" altLang="zh-CN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zh-CN" altLang="en-US" sz="16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数组的图像，采用优化图窗、坐标区和图像对象属性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D514C64-CA9C-4829-8DEC-435BED175EC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9838" t="17800" r="33463" b="8000"/>
          <a:stretch/>
        </p:blipFill>
        <p:spPr>
          <a:xfrm>
            <a:off x="197372" y="3810126"/>
            <a:ext cx="3521348" cy="735455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DD28465B-C24C-4E08-A86D-BE4A8C4AF3A2}"/>
              </a:ext>
            </a:extLst>
          </p:cNvPr>
          <p:cNvSpPr txBox="1"/>
          <p:nvPr/>
        </p:nvSpPr>
        <p:spPr>
          <a:xfrm>
            <a:off x="890187" y="3994516"/>
            <a:ext cx="216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 image(magic(24))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F738417-5119-4A74-BF41-9DD4BE74BCE7}"/>
              </a:ext>
            </a:extLst>
          </p:cNvPr>
          <p:cNvSpPr txBox="1"/>
          <p:nvPr/>
        </p:nvSpPr>
        <p:spPr>
          <a:xfrm>
            <a:off x="6774371" y="735987"/>
            <a:ext cx="2303393" cy="379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FF00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函数库：</a:t>
            </a:r>
            <a:r>
              <a:rPr lang="en-US" altLang="zh-CN" b="1" i="0" dirty="0" err="1">
                <a:solidFill>
                  <a:srgbClr val="FFFF00"/>
                </a:solidFill>
                <a:effectLst/>
                <a:highlight>
                  <a:srgbClr val="FF00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TyImages</a:t>
            </a:r>
            <a:endParaRPr lang="zh-CN" altLang="en-US"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325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8" grpId="0"/>
      <p:bldP spid="29" grpId="0" animBg="1"/>
      <p:bldP spid="31" grpId="0" animBg="1"/>
      <p:bldP spid="33" grpId="0" animBg="1"/>
      <p:bldP spid="35" grpId="0"/>
      <p:bldP spid="36" grpId="0" animBg="1"/>
      <p:bldP spid="37" grpId="0" animBg="1"/>
      <p:bldP spid="38" grpId="0" animBg="1"/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1FF83635-100B-41A5-971E-3618AD4DE461}"/>
              </a:ext>
            </a:extLst>
          </p:cNvPr>
          <p:cNvSpPr txBox="1"/>
          <p:nvPr/>
        </p:nvSpPr>
        <p:spPr>
          <a:xfrm>
            <a:off x="70421" y="698643"/>
            <a:ext cx="7994110" cy="43262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读取铝和铝基复合材料的拉伸曲线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readtable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"nano.csv"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ax1=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plt_axes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曲线坐标区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(ax1,tt[:,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[:,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 strain"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"True stress, MPa"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350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"SiC_n/Al"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#Al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断口坐标区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ax2=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plt_axes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"Al.jpg"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复合材料断口坐标区</a:t>
            </a:r>
            <a:endParaRPr lang="zh-CN" alt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ax3=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plt_axes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"Com.jpg"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saveas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gcf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拉伸曲线和断口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SEM</a:t>
            </a:r>
            <a:r>
              <a:rPr lang="zh-CN" alt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图</a:t>
            </a:r>
            <a:r>
              <a:rPr lang="en-US" altLang="zh-CN" sz="2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.jpg"</a:t>
            </a:r>
            <a:r>
              <a:rPr lang="en-US" altLang="zh-CN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B2C784-C40F-4A9C-B571-C4D994FC07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5" t="26900" r="14457" b="16632"/>
          <a:stretch/>
        </p:blipFill>
        <p:spPr>
          <a:xfrm>
            <a:off x="6322380" y="819577"/>
            <a:ext cx="2771800" cy="10436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C71D048-AA7B-4F45-8D98-B42309C28929}"/>
              </a:ext>
            </a:extLst>
          </p:cNvPr>
          <p:cNvSpPr txBox="1"/>
          <p:nvPr/>
        </p:nvSpPr>
        <p:spPr>
          <a:xfrm>
            <a:off x="76784" y="155854"/>
            <a:ext cx="57193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§3.1.5</a:t>
            </a:r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图像和曲线布局在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坐标区的案例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波形 10">
            <a:extLst>
              <a:ext uri="{FF2B5EF4-FFF2-40B4-BE49-F238E27FC236}">
                <a16:creationId xmlns:a16="http://schemas.microsoft.com/office/drawing/2014/main" id="{C500BDD7-794A-42E8-A1B3-F99A703909A7}"/>
              </a:ext>
            </a:extLst>
          </p:cNvPr>
          <p:cNvSpPr/>
          <p:nvPr/>
        </p:nvSpPr>
        <p:spPr>
          <a:xfrm>
            <a:off x="5309139" y="227940"/>
            <a:ext cx="565900" cy="332366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</a:t>
            </a:r>
            <a:endParaRPr lang="ko-KR" altLang="en-US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AC64D7-B8E0-4450-8CB1-4EE82BCD2298}"/>
              </a:ext>
            </a:extLst>
          </p:cNvPr>
          <p:cNvSpPr/>
          <p:nvPr/>
        </p:nvSpPr>
        <p:spPr>
          <a:xfrm>
            <a:off x="5883197" y="198335"/>
            <a:ext cx="323619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材料的拉伸曲线和断口形貌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36DAD3-5EAA-417B-AFB3-F708DC69F2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6" t="13232" r="34709" b="20954"/>
          <a:stretch/>
        </p:blipFill>
        <p:spPr>
          <a:xfrm>
            <a:off x="5309139" y="2177817"/>
            <a:ext cx="3834861" cy="2733726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B852F5D-2457-46F8-A8A0-E16C0CC7D3A3}"/>
              </a:ext>
            </a:extLst>
          </p:cNvPr>
          <p:cNvSpPr/>
          <p:nvPr/>
        </p:nvSpPr>
        <p:spPr>
          <a:xfrm>
            <a:off x="7117982" y="2110152"/>
            <a:ext cx="1826145" cy="27699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 defTabSz="0">
              <a:spcBef>
                <a:spcPts val="0"/>
              </a:spcBef>
            </a:pPr>
            <a:r>
              <a:rPr lang="en-US" altLang="zh-CN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ax3</a:t>
            </a:r>
            <a:r>
              <a:rPr lang="zh-CN" altLang="en-US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为复合材料断口形貌</a:t>
            </a:r>
            <a:endParaRPr lang="en-US" altLang="zh-CN" sz="1200" b="1" kern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74DB0D-FCA8-4F98-821D-A5EBF470612A}"/>
              </a:ext>
            </a:extLst>
          </p:cNvPr>
          <p:cNvSpPr/>
          <p:nvPr/>
        </p:nvSpPr>
        <p:spPr>
          <a:xfrm>
            <a:off x="7346312" y="4496750"/>
            <a:ext cx="1773078" cy="27699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 defTabSz="0">
              <a:spcBef>
                <a:spcPts val="0"/>
              </a:spcBef>
            </a:pPr>
            <a:r>
              <a:rPr lang="en-US" altLang="zh-CN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ax2</a:t>
            </a:r>
            <a:r>
              <a:rPr lang="zh-CN" altLang="en-US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坐标区</a:t>
            </a:r>
            <a:r>
              <a:rPr lang="en-US" altLang="zh-CN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r>
              <a:rPr lang="zh-CN" altLang="en-US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断口形貌</a:t>
            </a:r>
            <a:endParaRPr lang="en-US" altLang="zh-CN" sz="1200" b="1" kern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CADF63-8702-4CFC-AA81-93397A9FBDFA}"/>
              </a:ext>
            </a:extLst>
          </p:cNvPr>
          <p:cNvSpPr/>
          <p:nvPr/>
        </p:nvSpPr>
        <p:spPr>
          <a:xfrm>
            <a:off x="5823939" y="3406181"/>
            <a:ext cx="2141762" cy="27699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just" defTabSz="0">
              <a:spcBef>
                <a:spcPts val="0"/>
              </a:spcBef>
            </a:pPr>
            <a:r>
              <a:rPr lang="en-US" altLang="zh-CN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ax1</a:t>
            </a:r>
            <a:r>
              <a:rPr lang="zh-CN" altLang="en-US" sz="1200" b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坐标区两种材料拉伸曲线</a:t>
            </a:r>
            <a:endParaRPr lang="en-US" altLang="zh-CN" sz="1200" b="1" kern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波形 11">
            <a:extLst>
              <a:ext uri="{FF2B5EF4-FFF2-40B4-BE49-F238E27FC236}">
                <a16:creationId xmlns:a16="http://schemas.microsoft.com/office/drawing/2014/main" id="{05DE020A-24FE-4A49-A28C-473A969EE8CD}"/>
              </a:ext>
            </a:extLst>
          </p:cNvPr>
          <p:cNvSpPr/>
          <p:nvPr/>
        </p:nvSpPr>
        <p:spPr>
          <a:xfrm>
            <a:off x="6517679" y="2041837"/>
            <a:ext cx="600303" cy="345314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68580" tIns="34290" rIns="68580" bIns="3429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例9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1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AE889F5-79F3-406A-AECE-6771362D5A4A}"/>
              </a:ext>
            </a:extLst>
          </p:cNvPr>
          <p:cNvSpPr/>
          <p:nvPr/>
        </p:nvSpPr>
        <p:spPr>
          <a:xfrm>
            <a:off x="323528" y="3363838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julia&gt; figure(1)</a:t>
            </a:r>
          </a:p>
          <a:p>
            <a:r>
              <a:rPr lang="zh-CN" altLang="en-US" dirty="0"/>
              <a:t>julia&gt; surf(m24)</a:t>
            </a:r>
          </a:p>
          <a:p>
            <a:r>
              <a:rPr lang="zh-CN" altLang="en-US" dirty="0"/>
              <a:t>julia&gt; figure(2)</a:t>
            </a:r>
          </a:p>
          <a:p>
            <a:r>
              <a:rPr lang="zh-CN" altLang="en-US" dirty="0"/>
              <a:t>julia&gt; image(m24)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0E60B1-64F5-47C8-9578-07A462422948}"/>
              </a:ext>
            </a:extLst>
          </p:cNvPr>
          <p:cNvSpPr/>
          <p:nvPr/>
        </p:nvSpPr>
        <p:spPr>
          <a:xfrm>
            <a:off x="2915817" y="633636"/>
            <a:ext cx="590465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julia&gt; m24=magic(24)</a:t>
            </a:r>
          </a:p>
          <a:p>
            <a:r>
              <a:rPr lang="zh-CN" altLang="en-US" sz="1600" dirty="0"/>
              <a:t>24×24 Matrix{Int64}:</a:t>
            </a:r>
          </a:p>
          <a:p>
            <a:r>
              <a:rPr lang="zh-CN" altLang="en-US" sz="1600" dirty="0"/>
              <a:t> 576    2    3  573  572    6  …   19  557  556   22   23  553      </a:t>
            </a:r>
          </a:p>
          <a:p>
            <a:r>
              <a:rPr lang="zh-CN" altLang="en-US" sz="1600" dirty="0"/>
              <a:t>  25  551  550   28   29  547     534   44   45  531  530   48      </a:t>
            </a:r>
          </a:p>
          <a:p>
            <a:r>
              <a:rPr lang="zh-CN" altLang="en-US" sz="1600" dirty="0"/>
              <a:t>  49  527  526   52   53  523     510   68   69  507  506   72      </a:t>
            </a:r>
          </a:p>
          <a:p>
            <a:r>
              <a:rPr lang="zh-CN" altLang="en-US" sz="1600" dirty="0"/>
              <a:t> 504   74   75  501  500   78      91  485  484   94   95  481</a:t>
            </a:r>
          </a:p>
          <a:p>
            <a:r>
              <a:rPr lang="zh-CN" altLang="en-US" sz="1600" dirty="0"/>
              <a:t> 480   98   99  477  476  102     115  461  460  118  119  457      </a:t>
            </a:r>
          </a:p>
          <a:p>
            <a:r>
              <a:rPr lang="zh-CN" altLang="en-US" sz="1600" dirty="0"/>
              <a:t> 121  455  454  124  125  451  …  438  140  141  435  434  144      </a:t>
            </a:r>
          </a:p>
          <a:p>
            <a:r>
              <a:rPr lang="zh-CN" altLang="en-US" sz="1600" dirty="0"/>
              <a:t> 145  431  430  148  149  427     414  164  165  411  410  168      </a:t>
            </a:r>
          </a:p>
          <a:p>
            <a:r>
              <a:rPr lang="zh-CN" altLang="en-US" sz="1600" dirty="0"/>
              <a:t>   ⋮                        ⋮  ⋱              ⋮</a:t>
            </a:r>
          </a:p>
          <a:p>
            <a:r>
              <a:rPr lang="zh-CN" altLang="en-US" sz="1600" dirty="0"/>
              <a:t> 433  143  142  436  437  139     126  452  453  123  122  456</a:t>
            </a:r>
          </a:p>
          <a:p>
            <a:r>
              <a:rPr lang="zh-CN" altLang="en-US" sz="1600" dirty="0"/>
              <a:t> 120  458  459  117  116  462     475  101  100  478  479   97      </a:t>
            </a:r>
          </a:p>
          <a:p>
            <a:r>
              <a:rPr lang="zh-CN" altLang="en-US" sz="1600" dirty="0"/>
              <a:t>  96  482  483   93   92  486  …  499   77   76  502  503   73      </a:t>
            </a:r>
          </a:p>
          <a:p>
            <a:r>
              <a:rPr lang="zh-CN" altLang="en-US" sz="1600" dirty="0"/>
              <a:t> 505   71   70  508  509   67      54  524  525   51   50  528      </a:t>
            </a:r>
          </a:p>
          <a:p>
            <a:r>
              <a:rPr lang="zh-CN" altLang="en-US" sz="1600" dirty="0"/>
              <a:t> 529   47   46  532  533   43      30  548  549   27   26  552</a:t>
            </a:r>
          </a:p>
          <a:p>
            <a:r>
              <a:rPr lang="zh-CN" altLang="en-US" sz="1600" dirty="0"/>
              <a:t>  24  554  555   21   20  558     571    5    4  574  575    1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CFA35A-B089-4467-9AC2-9C73AD485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13" t="12319" r="10626" b="13601"/>
          <a:stretch/>
        </p:blipFill>
        <p:spPr>
          <a:xfrm>
            <a:off x="179513" y="219146"/>
            <a:ext cx="2376264" cy="13817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35AAB1-C1F2-4C8C-9E23-EB4B1C0B9B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39" t="8000" r="6687" b="9294"/>
          <a:stretch/>
        </p:blipFill>
        <p:spPr>
          <a:xfrm>
            <a:off x="251521" y="1707654"/>
            <a:ext cx="2232248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7086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15828</TotalTime>
  <Pages>154</Pages>
  <Words>5865</Words>
  <Characters>0</Characters>
  <Application>Microsoft Office PowerPoint</Application>
  <DocSecurity>0</DocSecurity>
  <PresentationFormat>全屏显示(16:9)</PresentationFormat>
  <Lines>0</Lines>
  <Paragraphs>621</Paragraphs>
  <Slides>36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-apple-system</vt:lpstr>
      <vt:lpstr>Arial Unicode MS</vt:lpstr>
      <vt:lpstr>Menlo</vt:lpstr>
      <vt:lpstr>华文楷体</vt:lpstr>
      <vt:lpstr>隶书</vt:lpstr>
      <vt:lpstr>宋体</vt:lpstr>
      <vt:lpstr>Microsoft YaHei</vt:lpstr>
      <vt:lpstr>Microsoft YaHei</vt:lpstr>
      <vt:lpstr>微软雅黑 Light</vt:lpstr>
      <vt:lpstr>Arial</vt:lpstr>
      <vt:lpstr>Calibri</vt:lpstr>
      <vt:lpstr>Consolas</vt:lpstr>
      <vt:lpstr>Helvetica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Julia和M语言plot(x,y)绘图需根据离散自变量x逐元素点运算计算因变量y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1181</cp:revision>
  <dcterms:modified xsi:type="dcterms:W3CDTF">2025-03-18T01:47:39Z</dcterms:modified>
</cp:coreProperties>
</file>