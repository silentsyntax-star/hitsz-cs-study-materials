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5" r:id="rId1"/>
  </p:sldMasterIdLst>
  <p:notesMasterIdLst>
    <p:notesMasterId r:id="rId20"/>
  </p:notesMasterIdLst>
  <p:sldIdLst>
    <p:sldId id="777" r:id="rId2"/>
    <p:sldId id="1304" r:id="rId3"/>
    <p:sldId id="717" r:id="rId4"/>
    <p:sldId id="1375" r:id="rId5"/>
    <p:sldId id="1374" r:id="rId6"/>
    <p:sldId id="2171" r:id="rId7"/>
    <p:sldId id="719" r:id="rId8"/>
    <p:sldId id="1305" r:id="rId9"/>
    <p:sldId id="2167" r:id="rId10"/>
    <p:sldId id="2168" r:id="rId11"/>
    <p:sldId id="1326" r:id="rId12"/>
    <p:sldId id="1308" r:id="rId13"/>
    <p:sldId id="1309" r:id="rId14"/>
    <p:sldId id="1306" r:id="rId15"/>
    <p:sldId id="1372" r:id="rId16"/>
    <p:sldId id="2118" r:id="rId17"/>
    <p:sldId id="2170" r:id="rId18"/>
    <p:sldId id="2165" r:id="rId19"/>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p15:clr>
            <a:srgbClr val="A4A3A4"/>
          </p15:clr>
        </p15:guide>
        <p15:guide id="5" orient="horz" pos="315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4200">
          <p15:clr>
            <a:srgbClr val="A4A3A4"/>
          </p15:clr>
        </p15:guide>
        <p15:guide id="4" pos="287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爱滨 李" initials="爱李" lastIdx="1" clrIdx="0">
    <p:extLst>
      <p:ext uri="{19B8F6BF-5375-455C-9EA6-DF929625EA0E}">
        <p15:presenceInfo xmlns:p15="http://schemas.microsoft.com/office/powerpoint/2012/main" userId="88969518991ecbca" providerId="Windows Live"/>
      </p:ext>
    </p:extLst>
  </p:cmAuthor>
  <p:cmAuthor id="2" name="li aibin" initials="la" lastIdx="1" clrIdx="1">
    <p:extLst>
      <p:ext uri="{19B8F6BF-5375-455C-9EA6-DF929625EA0E}">
        <p15:presenceInfo xmlns:p15="http://schemas.microsoft.com/office/powerpoint/2012/main" userId="90c17591930e933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a:srgbClr val="3399FF"/>
    <a:srgbClr val="003B76"/>
    <a:srgbClr val="3366FF"/>
    <a:srgbClr val="66CCFF"/>
    <a:srgbClr val="F0DA04"/>
    <a:srgbClr val="736303"/>
    <a:srgbClr val="6D629C"/>
    <a:srgbClr val="7F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97" autoAdjust="0"/>
    <p:restoredTop sz="86933" autoAdjust="0"/>
  </p:normalViewPr>
  <p:slideViewPr>
    <p:cSldViewPr snapToObjects="1">
      <p:cViewPr varScale="1">
        <p:scale>
          <a:sx n="75" d="100"/>
          <a:sy n="75" d="100"/>
        </p:scale>
        <p:origin x="1012" y="48"/>
      </p:cViewPr>
      <p:guideLst>
        <p:guide orient="horz" pos="4201"/>
        <p:guide pos="2879"/>
        <p:guide orient="horz" pos="3151"/>
      </p:guideLst>
    </p:cSldViewPr>
  </p:slideViewPr>
  <p:notesTextViewPr>
    <p:cViewPr>
      <p:scale>
        <a:sx n="300" d="100"/>
        <a:sy n="300" d="100"/>
      </p:scale>
      <p:origin x="0" y="0"/>
    </p:cViewPr>
  </p:notesTextViewPr>
  <p:sorterViewPr>
    <p:cViewPr>
      <p:scale>
        <a:sx n="100" d="100"/>
        <a:sy n="100" d="100"/>
      </p:scale>
      <p:origin x="0" y="-26472"/>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pPr>
                <a:defRPr/>
              </a:pPr>
              <a:t>2025/3/20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pPr>
                <a:defRPr/>
              </a:pPr>
              <a:t>‹#›</a:t>
            </a:fld>
            <a:endParaRPr lang="zh-CN" altLang="en-US"/>
          </a:p>
        </p:txBody>
      </p:sp>
    </p:spTree>
    <p:extLst>
      <p:ext uri="{BB962C8B-B14F-4D97-AF65-F5344CB8AC3E}">
        <p14:creationId xmlns:p14="http://schemas.microsoft.com/office/powerpoint/2010/main" val="2565165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zhuanlan.zhihu.com/p/43673909"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关于符号函数绘图，可以有多种思路。第一种，可以用 </a:t>
            </a:r>
            <a:r>
              <a:rPr lang="en-US" altLang="zh-CN" sz="1200" b="0" i="0" kern="1200" dirty="0" err="1">
                <a:solidFill>
                  <a:schemeClr val="tx1"/>
                </a:solidFill>
                <a:effectLst/>
                <a:latin typeface="+mn-lt"/>
                <a:ea typeface="+mn-ea"/>
                <a:cs typeface="+mn-cs"/>
              </a:rPr>
              <a:t>fplot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，可以直接画函数或者是隐函数；第二种，用符号函数产生数据点再画图</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从符号结果获得数值绘图数据。符号绘图</a:t>
            </a:r>
            <a:r>
              <a:rPr lang="en-US" altLang="zh-CN" sz="1200" b="0" i="0" kern="1200" dirty="0" err="1">
                <a:solidFill>
                  <a:schemeClr val="tx1"/>
                </a:solidFill>
                <a:effectLst/>
                <a:latin typeface="+mn-lt"/>
                <a:ea typeface="+mn-ea"/>
                <a:cs typeface="+mn-cs"/>
              </a:rPr>
              <a:t>matlab</a:t>
            </a:r>
            <a:r>
              <a:rPr lang="zh-CN" altLang="en-US" dirty="0">
                <a:solidFill>
                  <a:srgbClr val="4D4D4D"/>
                </a:solidFill>
                <a:latin typeface="-apple-system"/>
              </a:rPr>
              <a:t>系统将根据函数变动的激烈程度自动选择相应的计算栅格</a:t>
            </a:r>
            <a:endParaRPr lang="en-US" altLang="zh-CN" dirty="0">
              <a:solidFill>
                <a:srgbClr val="4D4D4D"/>
              </a:solidFill>
              <a:latin typeface="-apple-system"/>
            </a:endParaRPr>
          </a:p>
          <a:p>
            <a:endParaRPr lang="en-US" altLang="zh-CN" dirty="0">
              <a:solidFill>
                <a:srgbClr val="4D4D4D"/>
              </a:solidFill>
              <a:latin typeface="-apple-system"/>
            </a:endParaRPr>
          </a:p>
          <a:p>
            <a:r>
              <a:rPr lang="zh-CN" altLang="en-US" b="0" i="0" dirty="0">
                <a:solidFill>
                  <a:srgbClr val="8A8A8A"/>
                </a:solidFill>
                <a:effectLst/>
                <a:latin typeface="-apple-system"/>
              </a:rPr>
              <a:t>通过设置底层图形对象的属性自定义图形</a:t>
            </a:r>
            <a:endParaRPr lang="zh-CN" altLang="en-US" dirty="0"/>
          </a:p>
        </p:txBody>
      </p:sp>
      <p:sp>
        <p:nvSpPr>
          <p:cNvPr id="4" name="灯片编号占位符 3"/>
          <p:cNvSpPr>
            <a:spLocks noGrp="1"/>
          </p:cNvSpPr>
          <p:nvPr>
            <p:ph type="sldNum" sz="quarter" idx="10"/>
          </p:nvPr>
        </p:nvSpPr>
        <p:spPr/>
        <p:txBody>
          <a:bodyPr/>
          <a:lstStyle/>
          <a:p>
            <a:pPr>
              <a:defRPr/>
            </a:pPr>
            <a:fld id="{EAF5D7B6-9300-482A-AC6E-3BA105FED359}" type="slidenum">
              <a:rPr lang="zh-CN" altLang="en-US" smtClean="0"/>
              <a:t>1</a:t>
            </a:fld>
            <a:endParaRPr lang="zh-CN" altLang="en-US"/>
          </a:p>
        </p:txBody>
      </p:sp>
    </p:spTree>
    <p:extLst>
      <p:ext uri="{BB962C8B-B14F-4D97-AF65-F5344CB8AC3E}">
        <p14:creationId xmlns:p14="http://schemas.microsoft.com/office/powerpoint/2010/main" val="2150215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3</a:t>
            </a:fld>
            <a:endParaRPr lang="zh-CN" altLang="en-US"/>
          </a:p>
        </p:txBody>
      </p:sp>
    </p:spTree>
    <p:extLst>
      <p:ext uri="{BB962C8B-B14F-4D97-AF65-F5344CB8AC3E}">
        <p14:creationId xmlns:p14="http://schemas.microsoft.com/office/powerpoint/2010/main" val="312131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不可重复的实验结果，是不可相信的结果</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4</a:t>
            </a:fld>
            <a:endParaRPr lang="zh-CN" altLang="en-US"/>
          </a:p>
        </p:txBody>
      </p:sp>
    </p:spTree>
    <p:extLst>
      <p:ext uri="{BB962C8B-B14F-4D97-AF65-F5344CB8AC3E}">
        <p14:creationId xmlns:p14="http://schemas.microsoft.com/office/powerpoint/2010/main" val="2468779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AF5D7B6-9300-482A-AC6E-3BA105FED359}" type="slidenum">
              <a:rPr lang="zh-CN" altLang="en-US" smtClean="0"/>
              <a:t>5</a:t>
            </a:fld>
            <a:endParaRPr lang="zh-CN" altLang="en-US"/>
          </a:p>
        </p:txBody>
      </p:sp>
    </p:spTree>
    <p:extLst>
      <p:ext uri="{BB962C8B-B14F-4D97-AF65-F5344CB8AC3E}">
        <p14:creationId xmlns:p14="http://schemas.microsoft.com/office/powerpoint/2010/main" val="1179519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6</a:t>
            </a:fld>
            <a:endParaRPr lang="zh-CN" altLang="en-US"/>
          </a:p>
        </p:txBody>
      </p:sp>
    </p:spTree>
    <p:extLst>
      <p:ext uri="{BB962C8B-B14F-4D97-AF65-F5344CB8AC3E}">
        <p14:creationId xmlns:p14="http://schemas.microsoft.com/office/powerpoint/2010/main" val="2914775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en-US" altLang="zh-CN" b="1" i="0" dirty="0">
                <a:solidFill>
                  <a:srgbClr val="D57747"/>
                </a:solidFill>
                <a:effectLst/>
                <a:latin typeface="-apple-system"/>
              </a:rPr>
              <a:t>mean!</a:t>
            </a:r>
          </a:p>
          <a:p>
            <a:pPr algn="l"/>
            <a:r>
              <a:rPr lang="zh-CN" altLang="en-US" b="0" i="0" dirty="0">
                <a:solidFill>
                  <a:srgbClr val="8A8A8A"/>
                </a:solidFill>
                <a:effectLst/>
                <a:latin typeface="-apple-system"/>
              </a:rPr>
              <a:t>计算均值</a:t>
            </a: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7</a:t>
            </a:fld>
            <a:endParaRPr lang="zh-CN" altLang="en-US"/>
          </a:p>
        </p:txBody>
      </p:sp>
    </p:spTree>
    <p:extLst>
      <p:ext uri="{BB962C8B-B14F-4D97-AF65-F5344CB8AC3E}">
        <p14:creationId xmlns:p14="http://schemas.microsoft.com/office/powerpoint/2010/main" val="3476642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误差大小直接决定实验的准确度和可信度</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8</a:t>
            </a:fld>
            <a:endParaRPr lang="zh-CN" altLang="en-US"/>
          </a:p>
        </p:txBody>
      </p:sp>
    </p:spTree>
    <p:extLst>
      <p:ext uri="{BB962C8B-B14F-4D97-AF65-F5344CB8AC3E}">
        <p14:creationId xmlns:p14="http://schemas.microsoft.com/office/powerpoint/2010/main" val="295740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0" dirty="0" err="1">
                <a:solidFill>
                  <a:srgbClr val="795E26"/>
                </a:solidFill>
                <a:effectLst/>
                <a:latin typeface="Consolas" panose="020B0609020204030204" pitchFamily="49" charset="0"/>
              </a:rPr>
              <a:t>errorbar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x,ym,yer,fmt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"-or"</a:t>
            </a:r>
            <a:r>
              <a:rPr lang="en-US" altLang="zh-CN" b="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9</a:t>
            </a:fld>
            <a:endParaRPr lang="zh-CN" altLang="en-US"/>
          </a:p>
        </p:txBody>
      </p:sp>
    </p:spTree>
    <p:extLst>
      <p:ext uri="{BB962C8B-B14F-4D97-AF65-F5344CB8AC3E}">
        <p14:creationId xmlns:p14="http://schemas.microsoft.com/office/powerpoint/2010/main" val="891776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10</a:t>
            </a:fld>
            <a:endParaRPr lang="zh-CN" altLang="en-US"/>
          </a:p>
        </p:txBody>
      </p:sp>
    </p:spTree>
    <p:extLst>
      <p:ext uri="{BB962C8B-B14F-4D97-AF65-F5344CB8AC3E}">
        <p14:creationId xmlns:p14="http://schemas.microsoft.com/office/powerpoint/2010/main" val="3032644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11</a:t>
            </a:fld>
            <a:endParaRPr lang="zh-CN" altLang="en-US"/>
          </a:p>
        </p:txBody>
      </p:sp>
    </p:spTree>
    <p:extLst>
      <p:ext uri="{BB962C8B-B14F-4D97-AF65-F5344CB8AC3E}">
        <p14:creationId xmlns:p14="http://schemas.microsoft.com/office/powerpoint/2010/main" val="3033966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13</a:t>
            </a:fld>
            <a:endParaRPr lang="zh-CN" altLang="en-US"/>
          </a:p>
        </p:txBody>
      </p:sp>
    </p:spTree>
    <p:extLst>
      <p:ext uri="{BB962C8B-B14F-4D97-AF65-F5344CB8AC3E}">
        <p14:creationId xmlns:p14="http://schemas.microsoft.com/office/powerpoint/2010/main" val="730181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FF0000"/>
                </a:solidFill>
                <a:latin typeface="华文楷体" panose="02010600040101010101" pitchFamily="2" charset="-122"/>
                <a:ea typeface="华文楷体" panose="02010600040101010101" pitchFamily="2" charset="-122"/>
                <a:hlinkClick r:id="rId3">
                  <a:extLst>
                    <a:ext uri="{A12FA001-AC4F-418D-AE19-62706E023703}">
                      <ahyp:hlinkClr xmlns:ahyp="http://schemas.microsoft.com/office/drawing/2018/hyperlinkcolor" val="tx"/>
                    </a:ext>
                  </a:extLst>
                </a:hlinkClick>
              </a:rPr>
              <a:t>对数坐标 </a:t>
            </a:r>
            <a:r>
              <a:rPr lang="en-US" altLang="zh-CN" dirty="0">
                <a:solidFill>
                  <a:srgbClr val="FF0000"/>
                </a:solidFill>
                <a:latin typeface="华文楷体" panose="02010600040101010101" pitchFamily="2" charset="-122"/>
                <a:ea typeface="华文楷体" panose="02010600040101010101" pitchFamily="2" charset="-122"/>
                <a:hlinkClick r:id="rId3">
                  <a:extLst>
                    <a:ext uri="{A12FA001-AC4F-418D-AE19-62706E023703}">
                      <ahyp:hlinkClr xmlns:ahyp="http://schemas.microsoft.com/office/drawing/2018/hyperlinkcolor" val="tx"/>
                    </a:ext>
                  </a:extLst>
                </a:hlinkClick>
              </a:rPr>
              <a:t>- </a:t>
            </a:r>
            <a:r>
              <a:rPr lang="zh-CN" altLang="en-US" dirty="0">
                <a:solidFill>
                  <a:srgbClr val="FF0000"/>
                </a:solidFill>
                <a:latin typeface="华文楷体" panose="02010600040101010101" pitchFamily="2" charset="-122"/>
                <a:ea typeface="华文楷体" panose="02010600040101010101" pitchFamily="2" charset="-122"/>
                <a:hlinkClick r:id="rId3">
                  <a:extLst>
                    <a:ext uri="{A12FA001-AC4F-418D-AE19-62706E023703}">
                      <ahyp:hlinkClr xmlns:ahyp="http://schemas.microsoft.com/office/drawing/2018/hyperlinkcolor" val="tx"/>
                    </a:ext>
                  </a:extLst>
                </a:hlinkClick>
              </a:rPr>
              <a:t>知乎 </a:t>
            </a:r>
            <a:r>
              <a:rPr lang="en-US" altLang="zh-CN" dirty="0">
                <a:solidFill>
                  <a:srgbClr val="FF0000"/>
                </a:solidFill>
                <a:latin typeface="华文楷体" panose="02010600040101010101" pitchFamily="2" charset="-122"/>
                <a:ea typeface="华文楷体" panose="02010600040101010101" pitchFamily="2" charset="-122"/>
                <a:hlinkClick r:id="rId3">
                  <a:extLst>
                    <a:ext uri="{A12FA001-AC4F-418D-AE19-62706E023703}">
                      <ahyp:hlinkClr xmlns:ahyp="http://schemas.microsoft.com/office/drawing/2018/hyperlinkcolor" val="tx"/>
                    </a:ext>
                  </a:extLst>
                </a:hlinkClick>
              </a:rPr>
              <a:t>(zhihu.com)</a:t>
            </a:r>
            <a:endParaRPr lang="zh-CN" altLang="en-US" dirty="0">
              <a:solidFill>
                <a:srgbClr val="FF0000"/>
              </a:solidFill>
              <a:latin typeface="华文楷体" panose="02010600040101010101" pitchFamily="2" charset="-122"/>
              <a:ea typeface="华文楷体" panose="0201060004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14</a:t>
            </a:fld>
            <a:endParaRPr lang="zh-CN" altLang="en-US"/>
          </a:p>
        </p:txBody>
      </p:sp>
    </p:spTree>
    <p:extLst>
      <p:ext uri="{BB962C8B-B14F-4D97-AF65-F5344CB8AC3E}">
        <p14:creationId xmlns:p14="http://schemas.microsoft.com/office/powerpoint/2010/main" val="1299903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121212"/>
                </a:solidFill>
                <a:effectLst/>
                <a:latin typeface="-apple-system"/>
              </a:rPr>
              <a:t>对数的应用很广泛，当 </a:t>
            </a:r>
            <a:r>
              <a:rPr lang="en-US" altLang="zh-CN" b="0" i="0" dirty="0">
                <a:solidFill>
                  <a:srgbClr val="121212"/>
                </a:solidFill>
                <a:effectLst/>
                <a:latin typeface="-apple-system"/>
              </a:rPr>
              <a:t>x</a:t>
            </a:r>
            <a:r>
              <a:rPr lang="zh-CN" altLang="en-US" b="0" i="0" dirty="0">
                <a:solidFill>
                  <a:srgbClr val="121212"/>
                </a:solidFill>
                <a:effectLst/>
                <a:latin typeface="-apple-system"/>
              </a:rPr>
              <a:t> 或</a:t>
            </a:r>
            <a:r>
              <a:rPr lang="en-US" altLang="zh-CN" b="0" i="0" dirty="0">
                <a:solidFill>
                  <a:srgbClr val="121212"/>
                </a:solidFill>
                <a:effectLst/>
                <a:latin typeface="-apple-system"/>
              </a:rPr>
              <a:t>y</a:t>
            </a:r>
            <a:r>
              <a:rPr lang="zh-CN" altLang="en-US" b="0" i="0" dirty="0">
                <a:solidFill>
                  <a:srgbClr val="121212"/>
                </a:solidFill>
                <a:effectLst/>
                <a:latin typeface="-apple-system"/>
              </a:rPr>
              <a:t> 或两者出现大范围的变化时，你既不可能把坐标轴拉得很长很长，又不能取大单位（因为小范围的情况就会看不到）。将坐标轴做一下对数函数的变换，事物的本质很可能会一下子暴露 。</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15</a:t>
            </a:fld>
            <a:endParaRPr lang="zh-CN" altLang="en-US"/>
          </a:p>
        </p:txBody>
      </p:sp>
    </p:spTree>
    <p:extLst>
      <p:ext uri="{BB962C8B-B14F-4D97-AF65-F5344CB8AC3E}">
        <p14:creationId xmlns:p14="http://schemas.microsoft.com/office/powerpoint/2010/main" val="171926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4F6BED"/>
                </a:solidFill>
                <a:effectLst/>
                <a:latin typeface="Arial" panose="020B0604020202020204" pitchFamily="34" charset="0"/>
              </a:rPr>
              <a:t>冥王星被国际天文学联合会重新定义为矮行星</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16</a:t>
            </a:fld>
            <a:endParaRPr lang="zh-CN" altLang="en-US"/>
          </a:p>
        </p:txBody>
      </p:sp>
    </p:spTree>
    <p:extLst>
      <p:ext uri="{BB962C8B-B14F-4D97-AF65-F5344CB8AC3E}">
        <p14:creationId xmlns:p14="http://schemas.microsoft.com/office/powerpoint/2010/main" val="3250625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r=[</a:t>
            </a:r>
            <a:r>
              <a:rPr lang="en-US" altLang="zh-CN" b="0" dirty="0">
                <a:solidFill>
                  <a:srgbClr val="098658"/>
                </a:solidFill>
                <a:effectLst/>
                <a:latin typeface="Consolas" panose="020B0609020204030204" pitchFamily="49" charset="0"/>
              </a:rPr>
              <a:t>58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228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778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1427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2870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4497</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a:t>
            </a:r>
            <a:r>
              <a:rPr lang="en-US" altLang="zh-CN" b="0" dirty="0">
                <a:solidFill>
                  <a:srgbClr val="098658"/>
                </a:solidFill>
                <a:effectLst/>
                <a:latin typeface="Consolas" panose="020B0609020204030204" pitchFamily="49" charset="0"/>
              </a:rPr>
              <a:t>39419.12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11236.32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5916.00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2544.48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217.84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62.79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16.16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6.48</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L=[</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行星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水星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金星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地球</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火星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木星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土星</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天王</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#8</a:t>
            </a:r>
            <a:r>
              <a:rPr lang="zh-CN" altLang="en-US" b="0" dirty="0">
                <a:solidFill>
                  <a:srgbClr val="008000"/>
                </a:solidFill>
                <a:effectLst/>
                <a:latin typeface="Consolas" panose="020B0609020204030204" pitchFamily="49" charset="0"/>
              </a:rPr>
              <a:t>个标注</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scatter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r,a</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平均距离</a:t>
            </a:r>
            <a:r>
              <a:rPr lang="en-US" altLang="zh-CN" b="0" dirty="0">
                <a:solidFill>
                  <a:srgbClr val="A31515"/>
                </a:solidFill>
                <a:effectLst/>
                <a:latin typeface="Consolas" panose="020B0609020204030204" pitchFamily="49" charset="0"/>
              </a:rPr>
              <a:t>R"</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加速度</a:t>
            </a:r>
            <a:r>
              <a:rPr lang="en-US" altLang="zh-CN" b="0" dirty="0">
                <a:solidFill>
                  <a:srgbClr val="A31515"/>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(r[ii]+</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,a[ii]+</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,L[ii])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ii=</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r,a,</a:t>
            </a:r>
            <a:r>
              <a:rPr lang="en-US" altLang="zh-CN" b="0" dirty="0" err="1">
                <a:solidFill>
                  <a:srgbClr val="A31515"/>
                </a:solidFill>
                <a:effectLst/>
                <a:latin typeface="Consolas" panose="020B0609020204030204" pitchFamily="49" charset="0"/>
              </a:rPr>
              <a:t>"b</a:t>
            </a:r>
            <a:r>
              <a:rPr lang="en-US" altLang="zh-CN" b="0" dirty="0">
                <a:solidFill>
                  <a:srgbClr val="A31515"/>
                </a:solidFill>
                <a:effectLst/>
                <a:latin typeface="Consolas" panose="020B0609020204030204" pitchFamily="49" charset="0"/>
              </a:rPr>
              <a:t>&gt;"</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logr</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log10</a:t>
            </a:r>
            <a:r>
              <a:rPr lang="en-US" altLang="zh-CN" b="0" dirty="0">
                <a:solidFill>
                  <a:srgbClr val="000000"/>
                </a:solidFill>
                <a:effectLst/>
                <a:latin typeface="Consolas" panose="020B0609020204030204" pitchFamily="49" charset="0"/>
              </a:rPr>
              <a:t>.(r);</a:t>
            </a:r>
            <a:r>
              <a:rPr lang="en-US" altLang="zh-CN" b="0" dirty="0" err="1">
                <a:solidFill>
                  <a:srgbClr val="000000"/>
                </a:solidFill>
                <a:effectLst/>
                <a:latin typeface="Consolas" panose="020B0609020204030204" pitchFamily="49" charset="0"/>
              </a:rPr>
              <a:t>loga</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log10</a:t>
            </a:r>
            <a:r>
              <a:rPr lang="en-US" altLang="zh-CN" b="0" dirty="0">
                <a:solidFill>
                  <a:srgbClr val="000000"/>
                </a:solidFill>
                <a:effectLst/>
                <a:latin typeface="Consolas" panose="020B0609020204030204" pitchFamily="49" charset="0"/>
              </a:rPr>
              <a:t>.(a);</a:t>
            </a: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logr,loga</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"-r*"</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"log10 r"</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"log10 a"</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subplot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loglog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r,a</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"-hg"</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平均距离</a:t>
            </a:r>
            <a:r>
              <a:rPr lang="en-US" altLang="zh-CN" b="0" dirty="0">
                <a:solidFill>
                  <a:srgbClr val="A31515"/>
                </a:solidFill>
                <a:effectLst/>
                <a:latin typeface="Consolas" panose="020B0609020204030204" pitchFamily="49" charset="0"/>
              </a:rPr>
              <a:t>r"</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加速度</a:t>
            </a:r>
            <a:r>
              <a:rPr lang="en-US" altLang="zh-CN" b="0" dirty="0">
                <a:solidFill>
                  <a:srgbClr val="A31515"/>
                </a:solidFill>
                <a:effectLst/>
                <a:latin typeface="Consolas" panose="020B0609020204030204" pitchFamily="49" charset="0"/>
              </a:rPr>
              <a:t>a"</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(r[ii]+</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,a[ii]+</a:t>
            </a:r>
            <a:r>
              <a:rPr lang="en-US" altLang="zh-CN" b="0" dirty="0">
                <a:solidFill>
                  <a:srgbClr val="098658"/>
                </a:solidFill>
                <a:effectLst/>
                <a:latin typeface="Consolas" panose="020B0609020204030204" pitchFamily="49" charset="0"/>
              </a:rPr>
              <a:t>0.1</a:t>
            </a:r>
            <a:r>
              <a:rPr lang="en-US" altLang="zh-CN" b="0" dirty="0">
                <a:solidFill>
                  <a:srgbClr val="000000"/>
                </a:solidFill>
                <a:effectLst/>
                <a:latin typeface="Consolas" panose="020B0609020204030204" pitchFamily="49" charset="0"/>
              </a:rPr>
              <a:t>,L[ii]) </a:t>
            </a:r>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ii=</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tightlayout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紧凑布局</a:t>
            </a:r>
            <a:r>
              <a:rPr lang="en-US" altLang="zh-CN" b="0" dirty="0">
                <a:solidFill>
                  <a:srgbClr val="008000"/>
                </a:solidFill>
                <a:effectLst/>
                <a:latin typeface="Consolas" panose="020B0609020204030204" pitchFamily="49" charset="0"/>
              </a:rPr>
              <a:t>subplot(4,1,1)</a:t>
            </a:r>
            <a:endParaRPr lang="en-US" altLang="zh-CN" b="0" dirty="0">
              <a:solidFill>
                <a:srgbClr val="000000"/>
              </a:solidFill>
              <a:effectLst/>
              <a:latin typeface="Consolas" panose="020B0609020204030204" pitchFamily="49" charset="0"/>
            </a:endParaRPr>
          </a:p>
          <a:p>
            <a:br>
              <a:rPr lang="en-US" altLang="zh-CN" b="0">
                <a:solidFill>
                  <a:srgbClr val="000000"/>
                </a:solidFill>
                <a:effectLst/>
                <a:latin typeface="Consolas" panose="020B0609020204030204" pitchFamily="49" charset="0"/>
              </a:rPr>
            </a:br>
            <a:endParaRPr lang="en-US" altLang="zh-CN" b="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17</a:t>
            </a:fld>
            <a:endParaRPr lang="zh-CN" altLang="en-US"/>
          </a:p>
        </p:txBody>
      </p:sp>
    </p:spTree>
    <p:extLst>
      <p:ext uri="{BB962C8B-B14F-4D97-AF65-F5344CB8AC3E}">
        <p14:creationId xmlns:p14="http://schemas.microsoft.com/office/powerpoint/2010/main" val="2745030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1900"/>
              </a:lnSpc>
            </a:pP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p>
          <a:p>
            <a:pPr>
              <a:lnSpc>
                <a:spcPts val="1900"/>
              </a:lnSpc>
            </a:pPr>
            <a:r>
              <a:rPr lang="en-US" altLang="zh-CN" sz="1200" b="0" dirty="0">
                <a:solidFill>
                  <a:srgbClr val="795E26"/>
                </a:solidFill>
                <a:effectLst/>
                <a:latin typeface="Consolas" panose="020B0609020204030204" pitchFamily="49" charset="0"/>
              </a:rPr>
              <a:t>loglog</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r,a</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"-hg"</a:t>
            </a:r>
            <a:r>
              <a:rPr lang="en-US" altLang="zh-CN" sz="1200" b="0" dirty="0">
                <a:solidFill>
                  <a:srgbClr val="000000"/>
                </a:solidFill>
                <a:effectLst/>
                <a:latin typeface="Consolas" panose="020B0609020204030204" pitchFamily="49" charset="0"/>
              </a:rPr>
              <a:t>)</a:t>
            </a:r>
          </a:p>
          <a:p>
            <a:pPr>
              <a:lnSpc>
                <a:spcPts val="1900"/>
              </a:lnSpc>
            </a:pP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平均距离</a:t>
            </a:r>
            <a:r>
              <a:rPr lang="en-US" altLang="zh-CN" sz="1200" b="0" dirty="0">
                <a:solidFill>
                  <a:srgbClr val="A31515"/>
                </a:solidFill>
                <a:effectLst/>
                <a:latin typeface="Consolas" panose="020B0609020204030204" pitchFamily="49" charset="0"/>
              </a:rPr>
              <a:t>r"</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加速度</a:t>
            </a:r>
            <a:r>
              <a:rPr lang="en-US" altLang="zh-CN" sz="1200" b="0" dirty="0">
                <a:solidFill>
                  <a:srgbClr val="A31515"/>
                </a:solidFill>
                <a:effectLst/>
                <a:latin typeface="Consolas" panose="020B0609020204030204" pitchFamily="49" charset="0"/>
              </a:rPr>
              <a:t>a"</a:t>
            </a:r>
            <a:r>
              <a:rPr lang="en-US" altLang="zh-CN" sz="1200" b="0" dirty="0">
                <a:solidFill>
                  <a:srgbClr val="000000"/>
                </a:solidFill>
                <a:effectLst/>
                <a:latin typeface="Consolas" panose="020B0609020204030204" pitchFamily="49" charset="0"/>
              </a:rPr>
              <a:t>);</a:t>
            </a:r>
          </a:p>
          <a:p>
            <a:pPr>
              <a:lnSpc>
                <a:spcPts val="1900"/>
              </a:lnSpc>
            </a:pP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text</a:t>
            </a:r>
            <a:r>
              <a:rPr lang="en-US" altLang="zh-CN" sz="1200" b="0" dirty="0">
                <a:solidFill>
                  <a:srgbClr val="000000"/>
                </a:solidFill>
                <a:effectLst/>
                <a:latin typeface="Consolas" panose="020B0609020204030204" pitchFamily="49" charset="0"/>
              </a:rPr>
              <a:t>(r[ii]+</a:t>
            </a:r>
            <a:r>
              <a:rPr lang="en-US" altLang="zh-CN" sz="1200" b="0" dirty="0">
                <a:solidFill>
                  <a:srgbClr val="098658"/>
                </a:solidFill>
                <a:effectLst/>
                <a:latin typeface="Consolas" panose="020B0609020204030204" pitchFamily="49" charset="0"/>
              </a:rPr>
              <a:t>0.1</a:t>
            </a:r>
            <a:r>
              <a:rPr lang="en-US" altLang="zh-CN" sz="1200" b="0" dirty="0">
                <a:solidFill>
                  <a:srgbClr val="000000"/>
                </a:solidFill>
                <a:effectLst/>
                <a:latin typeface="Consolas" panose="020B0609020204030204" pitchFamily="49" charset="0"/>
              </a:rPr>
              <a:t>,a[ii]+</a:t>
            </a:r>
            <a:r>
              <a:rPr lang="en-US" altLang="zh-CN" sz="1200" b="0" dirty="0">
                <a:solidFill>
                  <a:srgbClr val="098658"/>
                </a:solidFill>
                <a:effectLst/>
                <a:latin typeface="Consolas" panose="020B0609020204030204" pitchFamily="49" charset="0"/>
              </a:rPr>
              <a:t>0.1</a:t>
            </a:r>
            <a:r>
              <a:rPr lang="en-US" altLang="zh-CN" sz="1200" b="0" dirty="0">
                <a:solidFill>
                  <a:srgbClr val="000000"/>
                </a:solidFill>
                <a:effectLst/>
                <a:latin typeface="Consolas" panose="020B0609020204030204" pitchFamily="49" charset="0"/>
              </a:rPr>
              <a:t>,L[ii]) </a:t>
            </a: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ii=</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8</a:t>
            </a:r>
            <a:r>
              <a:rPr lang="en-US" altLang="zh-CN" sz="1200" b="0" dirty="0">
                <a:solidFill>
                  <a:srgbClr val="000000"/>
                </a:solidFill>
                <a:effectLst/>
                <a:latin typeface="Consolas" panose="020B0609020204030204" pitchFamily="49" charset="0"/>
              </a:rPr>
              <a:t>]</a:t>
            </a:r>
          </a:p>
          <a:p>
            <a:pPr>
              <a:lnSpc>
                <a:spcPts val="1900"/>
              </a:lnSpc>
            </a:pPr>
            <a:r>
              <a:rPr lang="en-US" altLang="zh-CN" sz="1200" b="0" dirty="0" err="1">
                <a:solidFill>
                  <a:srgbClr val="000000"/>
                </a:solidFill>
                <a:effectLst/>
                <a:latin typeface="Consolas" panose="020B0609020204030204" pitchFamily="49" charset="0"/>
              </a:rPr>
              <a:t>tightlayout</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紧凑布局</a:t>
            </a:r>
            <a:endParaRPr lang="en-US" altLang="zh-CN" sz="1200"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pPr>
                <a:defRPr/>
              </a:pPr>
              <a:t>18</a:t>
            </a:fld>
            <a:endParaRPr lang="zh-CN" altLang="en-US"/>
          </a:p>
        </p:txBody>
      </p:sp>
    </p:spTree>
    <p:extLst>
      <p:ext uri="{BB962C8B-B14F-4D97-AF65-F5344CB8AC3E}">
        <p14:creationId xmlns:p14="http://schemas.microsoft.com/office/powerpoint/2010/main" val="4219238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a:ln/>
        </p:spPr>
        <p:txBody>
          <a:bodyPr/>
          <a:lstStyle>
            <a:lvl1pPr>
              <a:defRPr/>
            </a:lvl1pPr>
          </a:lstStyle>
          <a:p>
            <a:pPr>
              <a:defRPr/>
            </a:pPr>
            <a:fld id="{C6A839A6-78F6-48CF-87A6-6BD8E9022CF6}"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a:extLst>
              <a:ext uri="{FF2B5EF4-FFF2-40B4-BE49-F238E27FC236}">
                <a16:creationId xmlns:a16="http://schemas.microsoft.com/office/drawing/2014/main" id="{76BB9768-376B-0637-C297-1B5D054A51BD}"/>
              </a:ext>
            </a:extLst>
          </p:cNvPr>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32BEE3A-E9D9-4E9F-BCF8-FFCE31090B4C}" type="slidenum">
              <a:rPr lang="zh-CN" altLang="en-US"/>
              <a:pPr>
                <a:defRPr/>
              </a:pPr>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25E81C68-AD67-4B59-A707-20F6CB98CF04}" type="datetime1">
              <a:rPr lang="zh-CN" altLang="en-US"/>
              <a:t>2025/3/20</a:t>
            </a:fld>
            <a:endParaRPr lang="zh-CN" altLang="en-US" sz="1800"/>
          </a:p>
        </p:txBody>
      </p:sp>
      <p:sp>
        <p:nvSpPr>
          <p:cNvPr id="3" name="Rectangle 5"/>
          <p:cNvSpPr>
            <a:spLocks noGrp="1" noChangeArrowheads="1"/>
          </p:cNvSpPr>
          <p:nvPr>
            <p:ph type="ftr" sz="quarter" idx="11"/>
          </p:nvPr>
        </p:nvSpPr>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p:txBody>
          <a:bodyPr/>
          <a:lstStyle>
            <a:lvl1pPr>
              <a:defRPr/>
            </a:lvl1pPr>
          </a:lstStyle>
          <a:p>
            <a:pPr>
              <a:defRPr/>
            </a:pPr>
            <a:fld id="{E8F0069A-7361-49F0-82E9-1A201C34E57F}" type="slidenum">
              <a:rPr lang="zh-CN" altLang="en-US"/>
              <a:t>‹#›</a:t>
            </a:fld>
            <a:endParaRPr lang="zh-CN" altLang="en-US" sz="1800"/>
          </a:p>
        </p:txBody>
      </p:sp>
      <p:pic>
        <p:nvPicPr>
          <p:cNvPr id="5" name="Picture 3" descr="11"/>
          <p:cNvPicPr>
            <a:picLocks noChangeAspect="1" noChangeArrowheads="1"/>
          </p:cNvPicPr>
          <p:nvPr userDrawn="1"/>
        </p:nvPicPr>
        <p:blipFill>
          <a:blip r:embed="rId2" cstate="print"/>
          <a:srcRect/>
          <a:stretch>
            <a:fillRect/>
          </a:stretch>
        </p:blipFill>
        <p:spPr bwMode="auto">
          <a:xfrm>
            <a:off x="107504" y="65668"/>
            <a:ext cx="1258887" cy="708422"/>
          </a:xfrm>
          <a:prstGeom prst="rect">
            <a:avLst/>
          </a:prstGeom>
          <a:noFill/>
          <a:ln w="9525">
            <a:noFill/>
            <a:miter lim="800000"/>
            <a:headEnd/>
            <a:tailEnd/>
          </a:ln>
        </p:spPr>
      </p:pic>
      <p:sp>
        <p:nvSpPr>
          <p:cNvPr id="7" name="内容占位符 6">
            <a:extLst>
              <a:ext uri="{FF2B5EF4-FFF2-40B4-BE49-F238E27FC236}">
                <a16:creationId xmlns:a16="http://schemas.microsoft.com/office/drawing/2014/main" id="{E353C2E0-A5DB-4F2A-B6FC-F5380193305D}"/>
              </a:ext>
            </a:extLst>
          </p:cNvPr>
          <p:cNvSpPr>
            <a:spLocks noGrp="1"/>
          </p:cNvSpPr>
          <p:nvPr>
            <p:ph sz="quarter" idx="13"/>
          </p:nvPr>
        </p:nvSpPr>
        <p:spPr>
          <a:xfrm>
            <a:off x="457200" y="1059582"/>
            <a:ext cx="8263545" cy="3132348"/>
          </a:xfrm>
        </p:spPr>
        <p:txBody>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单击此处编辑母</a:t>
            </a:r>
          </a:p>
        </p:txBody>
      </p:sp>
      <p:sp>
        <p:nvSpPr>
          <p:cNvPr id="10" name="标题 9">
            <a:extLst>
              <a:ext uri="{FF2B5EF4-FFF2-40B4-BE49-F238E27FC236}">
                <a16:creationId xmlns:a16="http://schemas.microsoft.com/office/drawing/2014/main" id="{14DEEAFA-320C-433E-9AC6-3EC68FAFF3CA}"/>
              </a:ext>
            </a:extLst>
          </p:cNvPr>
          <p:cNvSpPr>
            <a:spLocks noGrp="1"/>
          </p:cNvSpPr>
          <p:nvPr>
            <p:ph type="title"/>
          </p:nvPr>
        </p:nvSpPr>
        <p:spPr>
          <a:xfrm>
            <a:off x="457200" y="205979"/>
            <a:ext cx="8229600" cy="568111"/>
          </a:xfrm>
        </p:spPr>
        <p:txBody>
          <a:bodyPr/>
          <a:lstStyle>
            <a:lvl1pPr>
              <a:defRPr sz="3200">
                <a:latin typeface="+mn-ea"/>
                <a:ea typeface="+mn-ea"/>
              </a:defRPr>
            </a:lvl1pPr>
          </a:lstStyle>
          <a:p>
            <a:r>
              <a:rPr lang="zh-CN" altLang="en-US" dirty="0"/>
              <a:t>单击此处编辑母版标题样式</a:t>
            </a:r>
          </a:p>
        </p:txBody>
      </p:sp>
    </p:spTree>
    <p:extLst>
      <p:ext uri="{BB962C8B-B14F-4D97-AF65-F5344CB8AC3E}">
        <p14:creationId xmlns:p14="http://schemas.microsoft.com/office/powerpoint/2010/main" val="21458933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headEnd/>
            <a:tailEnd/>
          </a:ln>
        </p:spPr>
        <p:txBody>
          <a:bodyPr vert="horz" wrap="non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6"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headEnd/>
            <a:tailEnd/>
          </a:ln>
        </p:spPr>
        <p:txBody>
          <a:bodyPr lIns="0" tIns="0" rIns="0" bIns="0" anchor="ctr">
            <a:spAutoFit/>
          </a:bodyPr>
          <a:lstStyle/>
          <a:p>
            <a:pPr>
              <a:defRPr/>
            </a:pPr>
            <a:endParaRPr lang="zh-CN" altLang="en-US">
              <a:ea typeface="宋体"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headEnd/>
            <a:tailEnd/>
          </a:ln>
        </p:spPr>
        <p:txBody>
          <a:bodyPr wrap="none" anchor="ctr"/>
          <a:lstStyle/>
          <a:p>
            <a:pPr>
              <a:defRPr/>
            </a:pPr>
            <a:endParaRPr lang="zh-CN" altLang="en-US">
              <a:ea typeface="宋体"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lnSpc>
                <a:spcPct val="100000"/>
              </a:lnSpc>
              <a:spcBef>
                <a:spcPts val="0"/>
              </a:spcBef>
              <a:spcAft>
                <a:spcPts val="0"/>
              </a:spcAft>
              <a:defRPr sz="1400" b="0">
                <a:latin typeface="+mn-lt"/>
                <a:ea typeface="宋体" pitchFamily="2" charset="-122"/>
              </a:defRPr>
            </a:lvl1pPr>
          </a:lstStyle>
          <a:p>
            <a:pPr>
              <a:defRPr/>
            </a:pPr>
            <a:fld id="{FD990E54-9BDD-4FF4-80FA-301FCBFF661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1" r:id="rId2"/>
    <p:sldLayoutId id="2147483666" r:id="rId3"/>
    <p:sldLayoutId id="2147483676" r:id="rId4"/>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Doc/TyPlot/2Dand3DPlots/LinePlots/plot.html#ax-&#30446;&#26631;&#22352;&#26631;&#21306;"/></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file:///D:\sysjulia\nano.csv"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BBDED9-B7F7-4A68-B87A-28787EB30844}"/>
              </a:ext>
            </a:extLst>
          </p:cNvPr>
          <p:cNvSpPr>
            <a:spLocks noGrp="1"/>
          </p:cNvSpPr>
          <p:nvPr>
            <p:ph type="dt" sz="half" idx="10"/>
          </p:nvPr>
        </p:nvSpPr>
        <p:spPr>
          <a:xfrm>
            <a:off x="272751" y="4339901"/>
            <a:ext cx="2133600" cy="357188"/>
          </a:xfrm>
        </p:spPr>
        <p:txBody>
          <a:bodyPr/>
          <a:lstStyle/>
          <a:p>
            <a:pPr>
              <a:defRPr/>
            </a:pPr>
            <a:fld id="{25E81C68-AD67-4B59-A707-20F6CB98CF04}" type="datetime1">
              <a:rPr lang="zh-CN" altLang="en-US" smtClean="0">
                <a:solidFill>
                  <a:srgbClr val="00B0F0"/>
                </a:solidFill>
              </a:rPr>
              <a:t>2025/3/20</a:t>
            </a:fld>
            <a:endParaRPr lang="zh-CN" altLang="en-US" sz="1800">
              <a:solidFill>
                <a:srgbClr val="00B0F0"/>
              </a:solidFill>
            </a:endParaRPr>
          </a:p>
        </p:txBody>
      </p:sp>
      <p:pic>
        <p:nvPicPr>
          <p:cNvPr id="5" name="图片 4">
            <a:extLst>
              <a:ext uri="{FF2B5EF4-FFF2-40B4-BE49-F238E27FC236}">
                <a16:creationId xmlns:a16="http://schemas.microsoft.com/office/drawing/2014/main" id="{8D47EC07-72A3-4298-AC82-9AA1DE73A5D9}"/>
              </a:ext>
            </a:extLst>
          </p:cNvPr>
          <p:cNvPicPr>
            <a:picLocks noChangeAspect="1"/>
          </p:cNvPicPr>
          <p:nvPr/>
        </p:nvPicPr>
        <p:blipFill rotWithShape="1">
          <a:blip r:embed="rId3"/>
          <a:srcRect t="12091" r="1708" b="5373"/>
          <a:stretch/>
        </p:blipFill>
        <p:spPr>
          <a:xfrm>
            <a:off x="57034" y="280184"/>
            <a:ext cx="8987761" cy="4638662"/>
          </a:xfrm>
          <a:prstGeom prst="rect">
            <a:avLst/>
          </a:prstGeom>
        </p:spPr>
      </p:pic>
      <p:sp>
        <p:nvSpPr>
          <p:cNvPr id="14" name="Rectangle 2">
            <a:extLst>
              <a:ext uri="{FF2B5EF4-FFF2-40B4-BE49-F238E27FC236}">
                <a16:creationId xmlns:a16="http://schemas.microsoft.com/office/drawing/2014/main" id="{B8E99298-28A1-4D9E-9B8C-B30D257AD3AB}"/>
              </a:ext>
            </a:extLst>
          </p:cNvPr>
          <p:cNvSpPr txBox="1">
            <a:spLocks noChangeArrowheads="1"/>
          </p:cNvSpPr>
          <p:nvPr/>
        </p:nvSpPr>
        <p:spPr bwMode="auto">
          <a:xfrm>
            <a:off x="199190" y="67404"/>
            <a:ext cx="5911919" cy="552338"/>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r>
              <a:rPr lang="zh-CN" altLang="en-US" sz="3200" kern="0" dirty="0">
                <a:solidFill>
                  <a:srgbClr val="002060"/>
                </a:solidFill>
                <a:latin typeface="华文楷体" panose="02010600040101010101" pitchFamily="2" charset="-122"/>
                <a:ea typeface="华文楷体" panose="02010600040101010101" pitchFamily="2" charset="-122"/>
                <a:cs typeface="隶书" panose="02010509060101010101" charset="-122"/>
              </a:rPr>
              <a:t>绘图特点汇总</a:t>
            </a:r>
          </a:p>
        </p:txBody>
      </p:sp>
      <p:sp>
        <p:nvSpPr>
          <p:cNvPr id="15" name="矩形 14"/>
          <p:cNvSpPr/>
          <p:nvPr/>
        </p:nvSpPr>
        <p:spPr>
          <a:xfrm>
            <a:off x="5067536" y="224655"/>
            <a:ext cx="3943963" cy="387735"/>
          </a:xfrm>
          <a:prstGeom prst="rect">
            <a:avLst/>
          </a:prstGeom>
          <a:solidFill>
            <a:schemeClr val="bg1"/>
          </a:solidFill>
        </p:spPr>
        <p:txBody>
          <a:bodyPr wrap="square">
            <a:spAutoFit/>
          </a:bodyPr>
          <a:lstStyle/>
          <a:p>
            <a:pPr algn="dist">
              <a:lnSpc>
                <a:spcPts val="2500"/>
              </a:lnSpc>
            </a:pPr>
            <a:r>
              <a:rPr lang="zh-CN" altLang="en-US" b="1" dirty="0">
                <a:solidFill>
                  <a:srgbClr val="00B0F0"/>
                </a:solidFill>
                <a:latin typeface="微软雅黑" panose="020B0503020204020204" pitchFamily="34" charset="-122"/>
                <a:ea typeface="微软雅黑" panose="020B0503020204020204" pitchFamily="34" charset="-122"/>
              </a:rPr>
              <a:t>掌握绘图命令方便程序编写 </a:t>
            </a:r>
          </a:p>
        </p:txBody>
      </p:sp>
      <p:sp>
        <p:nvSpPr>
          <p:cNvPr id="16" name="矩形 15"/>
          <p:cNvSpPr/>
          <p:nvPr/>
        </p:nvSpPr>
        <p:spPr>
          <a:xfrm>
            <a:off x="118232" y="1152197"/>
            <a:ext cx="8833809" cy="307777"/>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dirty="0">
                <a:solidFill>
                  <a:srgbClr val="FF0000"/>
                </a:solidFill>
                <a:latin typeface="-apple-system"/>
              </a:rPr>
              <a:t>如绘图命令有图形句柄时，可通过图形句柄设置和修改图形属性，如</a:t>
            </a:r>
            <a:r>
              <a:rPr lang="en-US" altLang="zh-CN" sz="1400" b="1" dirty="0" err="1">
                <a:solidFill>
                  <a:srgbClr val="FF0000"/>
                </a:solidFill>
                <a:latin typeface="Consolas" panose="020B0609020204030204" pitchFamily="49" charset="0"/>
              </a:rPr>
              <a:t>plt_set</a:t>
            </a:r>
            <a:r>
              <a:rPr lang="en-US" altLang="zh-CN" sz="1400" b="1" dirty="0">
                <a:solidFill>
                  <a:srgbClr val="FF0000"/>
                </a:solidFill>
                <a:latin typeface="Consolas" panose="020B0609020204030204" pitchFamily="49" charset="0"/>
              </a:rPr>
              <a:t>(</a:t>
            </a:r>
            <a:r>
              <a:rPr lang="en-US" altLang="zh-CN" sz="1400" b="1" dirty="0" err="1">
                <a:solidFill>
                  <a:srgbClr val="FF0000"/>
                </a:solidFill>
                <a:latin typeface="Consolas" panose="020B0609020204030204" pitchFamily="49" charset="0"/>
              </a:rPr>
              <a:t>h,color</a:t>
            </a:r>
            <a:r>
              <a:rPr lang="en-US" altLang="zh-CN" sz="1400" b="1" dirty="0">
                <a:solidFill>
                  <a:srgbClr val="FF0000"/>
                </a:solidFill>
                <a:latin typeface="Consolas" panose="020B0609020204030204" pitchFamily="49" charset="0"/>
              </a:rPr>
              <a:t>="m")</a:t>
            </a:r>
            <a:r>
              <a:rPr lang="zh-CN" altLang="en-US" sz="1400" dirty="0">
                <a:solidFill>
                  <a:srgbClr val="FF0000"/>
                </a:solidFill>
                <a:latin typeface="-apple-system"/>
              </a:rPr>
              <a:t> </a:t>
            </a:r>
          </a:p>
        </p:txBody>
      </p:sp>
      <p:sp>
        <p:nvSpPr>
          <p:cNvPr id="19" name="矩形 18">
            <a:extLst>
              <a:ext uri="{FF2B5EF4-FFF2-40B4-BE49-F238E27FC236}">
                <a16:creationId xmlns:a16="http://schemas.microsoft.com/office/drawing/2014/main" id="{0202BD02-1010-4297-B5EF-B064D986F874}"/>
              </a:ext>
            </a:extLst>
          </p:cNvPr>
          <p:cNvSpPr/>
          <p:nvPr/>
        </p:nvSpPr>
        <p:spPr>
          <a:xfrm>
            <a:off x="85566" y="4091338"/>
            <a:ext cx="8931692" cy="400110"/>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2000" dirty="0">
                <a:solidFill>
                  <a:srgbClr val="00B0F0"/>
                </a:solidFill>
                <a:latin typeface="-apple-system"/>
              </a:rPr>
              <a:t>简单绘图采用默认属性</a:t>
            </a:r>
            <a:r>
              <a:rPr lang="en-US" altLang="zh-CN" sz="2000" dirty="0">
                <a:solidFill>
                  <a:srgbClr val="00B0F0"/>
                </a:solidFill>
                <a:latin typeface="-apple-system"/>
              </a:rPr>
              <a:t>,</a:t>
            </a:r>
            <a:r>
              <a:rPr lang="zh-CN" altLang="en-US" sz="2000" dirty="0">
                <a:solidFill>
                  <a:srgbClr val="00B0F0"/>
                </a:solidFill>
                <a:latin typeface="-apple-system"/>
              </a:rPr>
              <a:t>即</a:t>
            </a:r>
            <a:r>
              <a:rPr lang="en-US" altLang="zh-CN" sz="2000" dirty="0" err="1">
                <a:solidFill>
                  <a:srgbClr val="00B0F0"/>
                </a:solidFill>
                <a:latin typeface="-apple-system"/>
              </a:rPr>
              <a:t>h,ax,key</a:t>
            </a:r>
            <a:r>
              <a:rPr lang="en-US" altLang="zh-CN" sz="2000" dirty="0">
                <a:solidFill>
                  <a:srgbClr val="00B0F0"/>
                </a:solidFill>
                <a:latin typeface="-apple-system"/>
              </a:rPr>
              <a:t>=value</a:t>
            </a:r>
            <a:r>
              <a:rPr lang="zh-CN" altLang="en-US" sz="2000" dirty="0">
                <a:solidFill>
                  <a:srgbClr val="00B0F0"/>
                </a:solidFill>
                <a:latin typeface="-apple-system"/>
              </a:rPr>
              <a:t>省略，不用自定义底层图形对象的属性 </a:t>
            </a:r>
            <a:endParaRPr lang="zh-CN" altLang="en-US" sz="2000" dirty="0">
              <a:solidFill>
                <a:srgbClr val="00B0F0"/>
              </a:solidFill>
            </a:endParaRPr>
          </a:p>
        </p:txBody>
      </p:sp>
      <p:sp>
        <p:nvSpPr>
          <p:cNvPr id="21" name="矩形 20">
            <a:extLst>
              <a:ext uri="{FF2B5EF4-FFF2-40B4-BE49-F238E27FC236}">
                <a16:creationId xmlns:a16="http://schemas.microsoft.com/office/drawing/2014/main" id="{23138E57-009A-4230-8C9C-83155D9CE16D}"/>
              </a:ext>
            </a:extLst>
          </p:cNvPr>
          <p:cNvSpPr/>
          <p:nvPr/>
        </p:nvSpPr>
        <p:spPr>
          <a:xfrm>
            <a:off x="212380" y="3315100"/>
            <a:ext cx="8753460" cy="307777"/>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400" dirty="0">
                <a:solidFill>
                  <a:srgbClr val="FF0000"/>
                </a:solidFill>
                <a:latin typeface="-apple-system"/>
              </a:rPr>
              <a:t>绘图命令中</a:t>
            </a:r>
            <a:r>
              <a:rPr lang="en-US" altLang="zh-CN" sz="1400" dirty="0" err="1">
                <a:solidFill>
                  <a:srgbClr val="FF0000"/>
                </a:solidFill>
                <a:latin typeface="-apple-system"/>
              </a:rPr>
              <a:t>fmt</a:t>
            </a:r>
            <a:r>
              <a:rPr lang="en-US" altLang="zh-CN" sz="1400" dirty="0">
                <a:solidFill>
                  <a:srgbClr val="FF0000"/>
                </a:solidFill>
                <a:latin typeface="-apple-system"/>
              </a:rPr>
              <a:t>(</a:t>
            </a:r>
            <a:r>
              <a:rPr lang="zh-CN" altLang="en-US" sz="1400" dirty="0">
                <a:solidFill>
                  <a:srgbClr val="FF0000"/>
                </a:solidFill>
                <a:latin typeface="-apple-system"/>
              </a:rPr>
              <a:t>线型、线颜色和标记符</a:t>
            </a:r>
            <a:r>
              <a:rPr lang="en-US" altLang="zh-CN" sz="1400" dirty="0">
                <a:solidFill>
                  <a:srgbClr val="FF0000"/>
                </a:solidFill>
                <a:latin typeface="-apple-system"/>
              </a:rPr>
              <a:t>)</a:t>
            </a:r>
            <a:r>
              <a:rPr lang="zh-CN" altLang="en-US" sz="1400" dirty="0">
                <a:solidFill>
                  <a:srgbClr val="FF0000"/>
                </a:solidFill>
                <a:latin typeface="-apple-system"/>
              </a:rPr>
              <a:t>或属性名</a:t>
            </a:r>
            <a:r>
              <a:rPr lang="en-US" altLang="zh-CN" sz="1400" dirty="0">
                <a:solidFill>
                  <a:srgbClr val="FF0000"/>
                </a:solidFill>
                <a:latin typeface="-apple-system"/>
              </a:rPr>
              <a:t>key</a:t>
            </a:r>
            <a:r>
              <a:rPr lang="zh-CN" altLang="en-US" sz="1400" dirty="0">
                <a:solidFill>
                  <a:srgbClr val="FF0000"/>
                </a:solidFill>
                <a:latin typeface="-apple-system"/>
              </a:rPr>
              <a:t>和值</a:t>
            </a:r>
            <a:r>
              <a:rPr lang="en-US" altLang="zh-CN" sz="1400" dirty="0">
                <a:solidFill>
                  <a:srgbClr val="FF0000"/>
                </a:solidFill>
                <a:latin typeface="-apple-system"/>
              </a:rPr>
              <a:t>value</a:t>
            </a:r>
            <a:r>
              <a:rPr lang="zh-CN" altLang="en-US" sz="1400" dirty="0">
                <a:solidFill>
                  <a:srgbClr val="FF0000"/>
                </a:solidFill>
                <a:latin typeface="-apple-system"/>
              </a:rPr>
              <a:t>时，可设置曲线或曲面属性</a:t>
            </a:r>
            <a:r>
              <a:rPr lang="en-US" altLang="zh-CN" sz="1400" b="1" dirty="0">
                <a:solidFill>
                  <a:srgbClr val="FF0000"/>
                </a:solidFill>
                <a:latin typeface="Consolas" panose="020B0609020204030204" pitchFamily="49" charset="0"/>
              </a:rPr>
              <a:t>color</a:t>
            </a:r>
            <a:r>
              <a:rPr lang="zh-CN" altLang="en-US" sz="1400" b="1" dirty="0">
                <a:solidFill>
                  <a:srgbClr val="FF0000"/>
                </a:solidFill>
                <a:latin typeface="Consolas" panose="020B0609020204030204" pitchFamily="49" charset="0"/>
              </a:rPr>
              <a:t>=</a:t>
            </a:r>
            <a:r>
              <a:rPr lang="en-US" altLang="zh-CN" sz="1400" b="1" dirty="0">
                <a:solidFill>
                  <a:srgbClr val="FF0000"/>
                </a:solidFill>
                <a:latin typeface="Consolas" panose="020B0609020204030204" pitchFamily="49" charset="0"/>
              </a:rPr>
              <a:t>“r”</a:t>
            </a:r>
            <a:endParaRPr lang="zh-CN" altLang="en-US" sz="1400" b="1" dirty="0">
              <a:solidFill>
                <a:srgbClr val="FF0000"/>
              </a:solidFill>
              <a:latin typeface="Consolas" panose="020B0609020204030204" pitchFamily="49" charset="0"/>
            </a:endParaRPr>
          </a:p>
        </p:txBody>
      </p:sp>
      <p:sp>
        <p:nvSpPr>
          <p:cNvPr id="22" name="矩形 21">
            <a:extLst>
              <a:ext uri="{FF2B5EF4-FFF2-40B4-BE49-F238E27FC236}">
                <a16:creationId xmlns:a16="http://schemas.microsoft.com/office/drawing/2014/main" id="{41F0822D-D543-4416-B762-26D519FA166C}"/>
              </a:ext>
            </a:extLst>
          </p:cNvPr>
          <p:cNvSpPr/>
          <p:nvPr/>
        </p:nvSpPr>
        <p:spPr>
          <a:xfrm>
            <a:off x="176645" y="4592114"/>
            <a:ext cx="1616213" cy="307777"/>
          </a:xfrm>
          <a:prstGeom prst="rect">
            <a:avLst/>
          </a:prstGeom>
          <a:solidFill>
            <a:srgbClr val="0070C0"/>
          </a:solidFill>
          <a:ln>
            <a:solidFill>
              <a:schemeClr val="tx1">
                <a:lumMod val="50000"/>
                <a:lumOff val="50000"/>
              </a:schemeClr>
            </a:solidFill>
          </a:ln>
        </p:spPr>
        <p:txBody>
          <a:bodyPr wrap="square">
            <a:spAutoFit/>
          </a:bodyPr>
          <a:lstStyle/>
          <a:p>
            <a:pPr marL="514350" indent="-514350">
              <a:buFont typeface="+mj-lt"/>
              <a:buAutoNum type="romanUcPeriod" startAt="2"/>
            </a:pPr>
            <a:r>
              <a:rPr lang="zh-CN" altLang="en-US" sz="1400" b="1" kern="0" dirty="0">
                <a:solidFill>
                  <a:srgbClr val="FFFF00"/>
                </a:solidFill>
                <a:latin typeface="微软雅黑" panose="020B0503020204020204" pitchFamily="34" charset="-122"/>
                <a:ea typeface="微软雅黑" panose="020B0503020204020204" pitchFamily="34" charset="-122"/>
              </a:rPr>
              <a:t>简单格式</a:t>
            </a:r>
            <a:endParaRPr lang="ko-KR" altLang="en-US" sz="1400" b="1" kern="0" dirty="0">
              <a:solidFill>
                <a:srgbClr val="FFFF00"/>
              </a:solidFill>
              <a:latin typeface="微软雅黑" panose="020B0503020204020204" pitchFamily="34" charset="-122"/>
            </a:endParaRPr>
          </a:p>
        </p:txBody>
      </p:sp>
      <p:sp>
        <p:nvSpPr>
          <p:cNvPr id="23" name="矩形 22">
            <a:extLst>
              <a:ext uri="{FF2B5EF4-FFF2-40B4-BE49-F238E27FC236}">
                <a16:creationId xmlns:a16="http://schemas.microsoft.com/office/drawing/2014/main" id="{F638964D-DB3F-473E-8704-4658BBFC1EF0}"/>
              </a:ext>
            </a:extLst>
          </p:cNvPr>
          <p:cNvSpPr/>
          <p:nvPr/>
        </p:nvSpPr>
        <p:spPr>
          <a:xfrm>
            <a:off x="4395399" y="4592114"/>
            <a:ext cx="4612216" cy="287771"/>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lnSpc>
                <a:spcPct val="90000"/>
              </a:lnSpc>
            </a:pPr>
            <a:r>
              <a:rPr lang="zh-CN" altLang="en-US" sz="1400" b="1" dirty="0">
                <a:solidFill>
                  <a:schemeClr val="bg1"/>
                </a:solidFill>
                <a:highlight>
                  <a:srgbClr val="FF0000"/>
                </a:highlight>
                <a:latin typeface="华文楷体" panose="02010600040101010101" pitchFamily="2" charset="-122"/>
                <a:ea typeface="华文楷体" panose="02010600040101010101" pitchFamily="2" charset="-122"/>
              </a:rPr>
              <a:t>绘图函数</a:t>
            </a:r>
            <a:r>
              <a:rPr lang="en-US" altLang="zh-CN" sz="1400" b="1" dirty="0">
                <a:solidFill>
                  <a:schemeClr val="bg1"/>
                </a:solidFill>
                <a:highlight>
                  <a:srgbClr val="FF0000"/>
                </a:highlight>
                <a:latin typeface="华文楷体" panose="02010600040101010101" pitchFamily="2" charset="-122"/>
                <a:ea typeface="华文楷体" panose="02010600040101010101" pitchFamily="2" charset="-122"/>
              </a:rPr>
              <a:t>(</a:t>
            </a:r>
            <a:r>
              <a:rPr lang="zh-CN" altLang="en-US" sz="1400" b="1" dirty="0">
                <a:solidFill>
                  <a:schemeClr val="bg1"/>
                </a:solidFill>
                <a:highlight>
                  <a:srgbClr val="FF0000"/>
                </a:highlight>
                <a:latin typeface="华文楷体" panose="02010600040101010101" pitchFamily="2" charset="-122"/>
                <a:ea typeface="华文楷体" panose="02010600040101010101" pitchFamily="2" charset="-122"/>
              </a:rPr>
              <a:t>数据</a:t>
            </a:r>
            <a:r>
              <a:rPr lang="zh-CN" altLang="en-US" sz="1400" b="1" dirty="0">
                <a:solidFill>
                  <a:srgbClr val="FFFF00"/>
                </a:solidFill>
                <a:latin typeface="华文楷体" panose="02010600040101010101" pitchFamily="2" charset="-122"/>
                <a:ea typeface="华文楷体" panose="02010600040101010101" pitchFamily="2" charset="-122"/>
              </a:rPr>
              <a:t>，设置线属</a:t>
            </a:r>
            <a:r>
              <a:rPr lang="zh-CN" altLang="en-US" sz="1400" b="1" dirty="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性</a:t>
            </a:r>
            <a:r>
              <a:rPr lang="en-US" altLang="zh-CN" sz="1400" b="1" dirty="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key=value</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 </a:t>
            </a:r>
            <a:endParaRPr lang="ko-KR" altLang="en-US" sz="1400" b="1" dirty="0">
              <a:solidFill>
                <a:srgbClr val="FFFF00"/>
              </a:solidFill>
              <a:latin typeface="华文楷体" panose="02010600040101010101" pitchFamily="2" charset="-122"/>
            </a:endParaRPr>
          </a:p>
        </p:txBody>
      </p:sp>
      <p:sp>
        <p:nvSpPr>
          <p:cNvPr id="25" name="文本框 24">
            <a:extLst>
              <a:ext uri="{FF2B5EF4-FFF2-40B4-BE49-F238E27FC236}">
                <a16:creationId xmlns:a16="http://schemas.microsoft.com/office/drawing/2014/main" id="{FFA686D3-1482-45E5-829A-0E3B4119AB0C}"/>
              </a:ext>
            </a:extLst>
          </p:cNvPr>
          <p:cNvSpPr txBox="1"/>
          <p:nvPr/>
        </p:nvSpPr>
        <p:spPr>
          <a:xfrm>
            <a:off x="157098" y="2360958"/>
            <a:ext cx="8864024" cy="307777"/>
          </a:xfrm>
          <a:prstGeom prst="rect">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defRPr sz="2000">
                <a:solidFill>
                  <a:srgbClr val="00B0F0"/>
                </a:solidFill>
                <a:latin typeface="-apple-system"/>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sz="1400" dirty="0">
                <a:solidFill>
                  <a:srgbClr val="FF0000"/>
                </a:solidFill>
              </a:rPr>
              <a:t>如绘图命令有坐标区，将由</a:t>
            </a:r>
            <a:r>
              <a:rPr lang="en-US" altLang="zh-CN" sz="1400" dirty="0">
                <a:solidFill>
                  <a:srgbClr val="FF0000"/>
                </a:solidFill>
                <a:hlinkClick r:id="rId4" action="ppaction://hlinkfile">
                  <a:extLst>
                    <a:ext uri="{A12FA001-AC4F-418D-AE19-62706E023703}">
                      <ahyp:hlinkClr xmlns:ahyp="http://schemas.microsoft.com/office/drawing/2018/hyperlinkcolor" val="tx"/>
                    </a:ext>
                  </a:extLst>
                </a:hlinkClick>
              </a:rPr>
              <a:t>ax</a:t>
            </a:r>
            <a:r>
              <a:rPr lang="zh-CN" altLang="en-US" sz="1400" dirty="0">
                <a:solidFill>
                  <a:srgbClr val="FF0000"/>
                </a:solidFill>
              </a:rPr>
              <a:t>指定坐标区绘图，而不是在当前坐标区，如</a:t>
            </a:r>
            <a:r>
              <a:rPr lang="en-US" altLang="zh-CN" sz="1400" b="1" dirty="0">
                <a:solidFill>
                  <a:srgbClr val="FF0000"/>
                </a:solidFill>
                <a:latin typeface="Consolas" panose="020B0609020204030204" pitchFamily="49" charset="0"/>
              </a:rPr>
              <a:t>plot(</a:t>
            </a:r>
            <a:r>
              <a:rPr lang="en-US" altLang="zh-CN" sz="1400" b="1" dirty="0" err="1">
                <a:solidFill>
                  <a:srgbClr val="FF0000"/>
                </a:solidFill>
                <a:latin typeface="Consolas" panose="020B0609020204030204" pitchFamily="49" charset="0"/>
              </a:rPr>
              <a:t>ax,x,y</a:t>
            </a:r>
            <a:r>
              <a:rPr lang="en-US" altLang="zh-CN" sz="1400" b="1" dirty="0">
                <a:solidFill>
                  <a:srgbClr val="FF0000"/>
                </a:solidFill>
                <a:latin typeface="Consolas" panose="020B0609020204030204" pitchFamily="49" charset="0"/>
              </a:rPr>
              <a:t>) </a:t>
            </a:r>
            <a:endParaRPr lang="zh-CN" altLang="en-US" sz="1400" b="1" dirty="0">
              <a:solidFill>
                <a:srgbClr val="FF0000"/>
              </a:solidFill>
              <a:latin typeface="Consolas" panose="020B0609020204030204" pitchFamily="49" charset="0"/>
            </a:endParaRPr>
          </a:p>
        </p:txBody>
      </p:sp>
      <p:sp>
        <p:nvSpPr>
          <p:cNvPr id="17" name="矩形 16">
            <a:extLst>
              <a:ext uri="{FF2B5EF4-FFF2-40B4-BE49-F238E27FC236}">
                <a16:creationId xmlns:a16="http://schemas.microsoft.com/office/drawing/2014/main" id="{EE148C13-F756-49BB-AAA1-7F35A19E0C8C}"/>
              </a:ext>
            </a:extLst>
          </p:cNvPr>
          <p:cNvSpPr/>
          <p:nvPr/>
        </p:nvSpPr>
        <p:spPr>
          <a:xfrm>
            <a:off x="1919054" y="656687"/>
            <a:ext cx="7129033" cy="287771"/>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400050" indent="-400050" algn="dist">
              <a:lnSpc>
                <a:spcPct val="90000"/>
              </a:lnSpc>
              <a:buFont typeface="+mj-lt"/>
              <a:buAutoNum type="romanUcPeriod"/>
            </a:pPr>
            <a:r>
              <a:rPr lang="zh-CN" altLang="en-US" sz="1400" b="1" dirty="0">
                <a:solidFill>
                  <a:srgbClr val="FFFF00"/>
                </a:solidFill>
                <a:latin typeface="华文楷体" panose="02010600040101010101" pitchFamily="2" charset="-122"/>
                <a:ea typeface="华文楷体" panose="02010600040101010101" pitchFamily="2" charset="-122"/>
              </a:rPr>
              <a:t>图形句柄</a:t>
            </a:r>
            <a:r>
              <a:rPr lang="en-US" altLang="zh-CN" sz="1400" b="1" dirty="0">
                <a:solidFill>
                  <a:srgbClr val="FFFF00"/>
                </a:solidFill>
                <a:latin typeface="华文楷体" panose="02010600040101010101" pitchFamily="2" charset="-122"/>
                <a:ea typeface="华文楷体" panose="02010600040101010101" pitchFamily="2" charset="-122"/>
              </a:rPr>
              <a:t>h</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zh-CN" altLang="en-US" sz="1400" b="1" dirty="0">
                <a:solidFill>
                  <a:schemeClr val="bg1"/>
                </a:solidFill>
                <a:effectLst>
                  <a:outerShdw blurRad="38100" dist="38100" dir="2700000" algn="tl">
                    <a:srgbClr val="000000">
                      <a:alpha val="43137"/>
                    </a:srgbClr>
                  </a:outerShdw>
                </a:effectLst>
                <a:highlight>
                  <a:srgbClr val="FF0000"/>
                </a:highlight>
                <a:latin typeface="华文楷体" panose="02010600040101010101" pitchFamily="2" charset="-122"/>
                <a:ea typeface="华文楷体" panose="02010600040101010101" pitchFamily="2" charset="-122"/>
              </a:rPr>
              <a:t>绘图函数</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zh-CN" altLang="en-US" sz="1400" b="1" dirty="0">
                <a:solidFill>
                  <a:srgbClr val="FFFF00"/>
                </a:solidFill>
                <a:latin typeface="华文楷体" panose="02010600040101010101" pitchFamily="2" charset="-122"/>
                <a:ea typeface="华文楷体" panose="02010600040101010101" pitchFamily="2" charset="-122"/>
              </a:rPr>
              <a:t>指定坐标区</a:t>
            </a:r>
            <a:r>
              <a:rPr lang="en-US" altLang="zh-CN" sz="1400" b="1" dirty="0">
                <a:solidFill>
                  <a:srgbClr val="FFFF00"/>
                </a:solidFill>
                <a:latin typeface="华文楷体" panose="02010600040101010101" pitchFamily="2" charset="-122"/>
                <a:ea typeface="华文楷体" panose="02010600040101010101" pitchFamily="2" charset="-122"/>
              </a:rPr>
              <a:t>axes</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zh-CN" altLang="en-US" sz="1400" b="1" dirty="0">
                <a:solidFill>
                  <a:schemeClr val="bg1"/>
                </a:solidFill>
                <a:effectLst>
                  <a:outerShdw blurRad="38100" dist="38100" dir="2700000" algn="tl">
                    <a:srgbClr val="000000">
                      <a:alpha val="43137"/>
                    </a:srgbClr>
                  </a:outerShdw>
                </a:effectLst>
                <a:highlight>
                  <a:srgbClr val="FF0000"/>
                </a:highlight>
                <a:latin typeface="华文楷体" panose="02010600040101010101" pitchFamily="2" charset="-122"/>
                <a:ea typeface="华文楷体" panose="02010600040101010101" pitchFamily="2" charset="-122"/>
              </a:rPr>
              <a:t>数据</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zh-CN" altLang="en-US" sz="1400" b="1" dirty="0">
                <a:solidFill>
                  <a:srgbClr val="FFFF00"/>
                </a:solidFill>
                <a:latin typeface="华文楷体" panose="02010600040101010101" pitchFamily="2" charset="-122"/>
                <a:ea typeface="华文楷体" panose="02010600040101010101" pitchFamily="2" charset="-122"/>
              </a:rPr>
              <a:t>设置线属</a:t>
            </a:r>
            <a:r>
              <a:rPr lang="zh-CN" altLang="en-US" sz="1400" b="1" dirty="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性</a:t>
            </a:r>
            <a:r>
              <a:rPr lang="en-US" altLang="zh-CN" sz="1400" b="1" dirty="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key=value</a:t>
            </a:r>
            <a:r>
              <a:rPr lang="en-US" altLang="zh-CN" sz="1400" b="1"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 </a:t>
            </a:r>
          </a:p>
        </p:txBody>
      </p:sp>
      <p:sp>
        <p:nvSpPr>
          <p:cNvPr id="20" name="矩形 19">
            <a:extLst>
              <a:ext uri="{FF2B5EF4-FFF2-40B4-BE49-F238E27FC236}">
                <a16:creationId xmlns:a16="http://schemas.microsoft.com/office/drawing/2014/main" id="{831E302D-5759-4B41-9CA3-F5ED575439CE}"/>
              </a:ext>
            </a:extLst>
          </p:cNvPr>
          <p:cNvSpPr/>
          <p:nvPr/>
        </p:nvSpPr>
        <p:spPr>
          <a:xfrm>
            <a:off x="169749" y="667919"/>
            <a:ext cx="1718645" cy="307777"/>
          </a:xfrm>
          <a:prstGeom prst="rect">
            <a:avLst/>
          </a:prstGeom>
          <a:solidFill>
            <a:srgbClr val="0070C0"/>
          </a:solidFill>
          <a:ln>
            <a:solidFill>
              <a:schemeClr val="tx1">
                <a:lumMod val="50000"/>
                <a:lumOff val="50000"/>
              </a:schemeClr>
            </a:solidFill>
          </a:ln>
        </p:spPr>
        <p:txBody>
          <a:bodyPr wrap="square">
            <a:spAutoFit/>
          </a:bodyPr>
          <a:lstStyle/>
          <a:p>
            <a:pPr marL="514350" indent="-514350">
              <a:buFont typeface="+mj-lt"/>
              <a:buAutoNum type="romanUcPeriod"/>
            </a:pPr>
            <a:r>
              <a:rPr lang="zh-CN" altLang="en-US" sz="1400" b="1" kern="0" dirty="0">
                <a:solidFill>
                  <a:srgbClr val="FFFF00"/>
                </a:solidFill>
                <a:latin typeface="微软雅黑" panose="020B0503020204020204" pitchFamily="34" charset="-122"/>
                <a:ea typeface="微软雅黑" panose="020B0503020204020204" pitchFamily="34" charset="-122"/>
              </a:rPr>
              <a:t>完整形式</a:t>
            </a:r>
          </a:p>
        </p:txBody>
      </p:sp>
      <p:sp>
        <p:nvSpPr>
          <p:cNvPr id="26" name="矩形 25">
            <a:extLst>
              <a:ext uri="{FF2B5EF4-FFF2-40B4-BE49-F238E27FC236}">
                <a16:creationId xmlns:a16="http://schemas.microsoft.com/office/drawing/2014/main" id="{0985072B-7D7D-4206-9126-73D9264FFB62}"/>
              </a:ext>
            </a:extLst>
          </p:cNvPr>
          <p:cNvSpPr/>
          <p:nvPr/>
        </p:nvSpPr>
        <p:spPr>
          <a:xfrm>
            <a:off x="1840211" y="4582272"/>
            <a:ext cx="2218930" cy="287771"/>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a:lnSpc>
                <a:spcPct val="90000"/>
              </a:lnSpc>
            </a:pPr>
            <a:r>
              <a:rPr lang="zh-CN" altLang="en-US" sz="1400" dirty="0">
                <a:solidFill>
                  <a:schemeClr val="bg1"/>
                </a:solidFill>
                <a:highlight>
                  <a:srgbClr val="FF0000"/>
                </a:highlight>
                <a:latin typeface="华文楷体" panose="02010600040101010101" pitchFamily="2" charset="-122"/>
                <a:ea typeface="华文楷体" panose="02010600040101010101" pitchFamily="2" charset="-122"/>
              </a:rPr>
              <a:t>绘图</a:t>
            </a:r>
            <a:r>
              <a:rPr lang="zh-CN" altLang="en-US" sz="1400" b="1" dirty="0">
                <a:solidFill>
                  <a:schemeClr val="bg1"/>
                </a:solidFill>
                <a:highlight>
                  <a:srgbClr val="FF0000"/>
                </a:highlight>
                <a:latin typeface="华文楷体" panose="02010600040101010101" pitchFamily="2" charset="-122"/>
                <a:ea typeface="华文楷体" panose="02010600040101010101" pitchFamily="2" charset="-122"/>
              </a:rPr>
              <a:t>函数</a:t>
            </a:r>
            <a:r>
              <a:rPr lang="en-US" altLang="zh-CN" sz="1400" dirty="0">
                <a:solidFill>
                  <a:schemeClr val="bg1"/>
                </a:solidFill>
                <a:highlight>
                  <a:srgbClr val="FF0000"/>
                </a:highlight>
                <a:latin typeface="华文楷体" panose="02010600040101010101" pitchFamily="2" charset="-122"/>
                <a:ea typeface="华文楷体" panose="02010600040101010101" pitchFamily="2" charset="-122"/>
              </a:rPr>
              <a:t>(</a:t>
            </a:r>
            <a:r>
              <a:rPr lang="zh-CN" altLang="en-US" sz="1400" dirty="0">
                <a:solidFill>
                  <a:schemeClr val="bg1"/>
                </a:solidFill>
                <a:highlight>
                  <a:srgbClr val="FF0000"/>
                </a:highlight>
                <a:latin typeface="华文楷体" panose="02010600040101010101" pitchFamily="2" charset="-122"/>
                <a:ea typeface="华文楷体" panose="02010600040101010101" pitchFamily="2" charset="-122"/>
              </a:rPr>
              <a:t>数据</a:t>
            </a:r>
            <a:r>
              <a:rPr lang="en-US" altLang="zh-CN" sz="1400" b="1" dirty="0">
                <a:solidFill>
                  <a:schemeClr val="bg1"/>
                </a:solidFill>
                <a:effectLst>
                  <a:outerShdw blurRad="38100" dist="38100" dir="2700000" algn="tl">
                    <a:srgbClr val="000000">
                      <a:alpha val="43137"/>
                    </a:srgbClr>
                  </a:outerShdw>
                </a:effectLst>
                <a:highlight>
                  <a:srgbClr val="FF0000"/>
                </a:highlight>
                <a:latin typeface="华文楷体" panose="02010600040101010101" pitchFamily="2" charset="-122"/>
                <a:ea typeface="华文楷体" panose="02010600040101010101" pitchFamily="2" charset="-122"/>
              </a:rPr>
              <a:t>) </a:t>
            </a:r>
            <a:endParaRPr lang="ko-KR" altLang="en-US" sz="1400" dirty="0">
              <a:solidFill>
                <a:srgbClr val="FFFF00"/>
              </a:solidFill>
              <a:highlight>
                <a:srgbClr val="FF0000"/>
              </a:highlight>
              <a:latin typeface="华文楷体" panose="02010600040101010101" pitchFamily="2" charset="-122"/>
            </a:endParaRPr>
          </a:p>
        </p:txBody>
      </p:sp>
      <p:sp>
        <p:nvSpPr>
          <p:cNvPr id="27" name="文本框 26">
            <a:extLst>
              <a:ext uri="{FF2B5EF4-FFF2-40B4-BE49-F238E27FC236}">
                <a16:creationId xmlns:a16="http://schemas.microsoft.com/office/drawing/2014/main" id="{6EDFE37F-EF92-4D11-B1BA-807D7DFCF8F1}"/>
              </a:ext>
            </a:extLst>
          </p:cNvPr>
          <p:cNvSpPr txBox="1"/>
          <p:nvPr/>
        </p:nvSpPr>
        <p:spPr>
          <a:xfrm>
            <a:off x="4028899" y="4578682"/>
            <a:ext cx="474254"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或</a:t>
            </a:r>
            <a:endParaRPr lang="zh-CN" altLang="en-US" dirty="0">
              <a:solidFill>
                <a:srgbClr val="0070C0"/>
              </a:solidFill>
            </a:endParaRPr>
          </a:p>
        </p:txBody>
      </p:sp>
    </p:spTree>
    <p:extLst>
      <p:ext uri="{BB962C8B-B14F-4D97-AF65-F5344CB8AC3E}">
        <p14:creationId xmlns:p14="http://schemas.microsoft.com/office/powerpoint/2010/main" val="177973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1" grpId="0" animBg="1"/>
      <p:bldP spid="22" grpId="0" animBg="1"/>
      <p:bldP spid="23" grpId="0" animBg="1"/>
      <p:bldP spid="25" grpId="0" animBg="1"/>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7862A1F9-20A5-CCEB-A1C7-02D4B86F5B05}"/>
              </a:ext>
            </a:extLst>
          </p:cNvPr>
          <p:cNvSpPr txBox="1">
            <a:spLocks noChangeArrowheads="1"/>
          </p:cNvSpPr>
          <p:nvPr/>
        </p:nvSpPr>
        <p:spPr>
          <a:xfrm>
            <a:off x="1344133" y="1912771"/>
            <a:ext cx="7550117" cy="2346498"/>
          </a:xfrm>
          <a:prstGeom prst="rect">
            <a:avLst/>
          </a:prstGeom>
          <a:ln>
            <a:solidFill>
              <a:schemeClr val="accent3">
                <a:lumMod val="50000"/>
              </a:schemeClr>
            </a:solidFill>
          </a:ln>
        </p:spPr>
        <p:txBody>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eaLnBrk="1" hangingPunct="1">
              <a:lnSpc>
                <a:spcPts val="3700"/>
              </a:lnSpc>
              <a:buNone/>
              <a:defRPr/>
            </a:pPr>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800" kern="0" dirty="0">
                <a:solidFill>
                  <a:srgbClr val="002060"/>
                </a:solidFill>
                <a:latin typeface="华文楷体" panose="02010600040101010101" pitchFamily="2" charset="-122"/>
                <a:ea typeface="华文楷体" panose="02010600040101010101" pitchFamily="2" charset="-122"/>
              </a:rPr>
              <a:t>3.3.1 </a:t>
            </a:r>
            <a:r>
              <a:rPr lang="en-US" altLang="zh-CN" sz="2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plot</a:t>
            </a:r>
            <a:r>
              <a:rPr lang="zh-CN" altLang="en-US" sz="2800" kern="0" dirty="0">
                <a:solidFill>
                  <a:srgbClr val="002060"/>
                </a:solidFill>
                <a:latin typeface="华文楷体" panose="02010600040101010101" pitchFamily="2" charset="-122"/>
                <a:ea typeface="华文楷体" panose="02010600040101010101" pitchFamily="2" charset="-122"/>
              </a:rPr>
              <a:t>绘制多条二维曲线 </a:t>
            </a:r>
            <a:endParaRPr lang="en-US" altLang="zh-CN" sz="2800" kern="0" dirty="0">
              <a:solidFill>
                <a:srgbClr val="002060"/>
              </a:solidFill>
              <a:latin typeface="华文楷体" panose="02010600040101010101" pitchFamily="2" charset="-122"/>
              <a:ea typeface="华文楷体" panose="02010600040101010101" pitchFamily="2" charset="-122"/>
            </a:endParaRPr>
          </a:p>
          <a:p>
            <a:pPr marL="0" indent="0" eaLnBrk="1" hangingPunct="1">
              <a:lnSpc>
                <a:spcPts val="3700"/>
              </a:lnSpc>
              <a:buNone/>
              <a:defRPr/>
            </a:pPr>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800" kern="0" dirty="0">
                <a:solidFill>
                  <a:srgbClr val="002060"/>
                </a:solidFill>
                <a:latin typeface="华文楷体" panose="02010600040101010101" pitchFamily="2" charset="-122"/>
                <a:ea typeface="华文楷体" panose="02010600040101010101" pitchFamily="2" charset="-122"/>
              </a:rPr>
              <a:t>3.3.2 </a:t>
            </a:r>
            <a:r>
              <a:rPr lang="en-US" altLang="zh-CN" sz="2800" b="1" dirty="0" err="1">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sym typeface="+mn-ea"/>
              </a:rPr>
              <a:t>errorbar</a:t>
            </a:r>
            <a:r>
              <a:rPr lang="zh-CN" altLang="en-US" sz="2800" kern="0" dirty="0">
                <a:solidFill>
                  <a:srgbClr val="002060"/>
                </a:solidFill>
                <a:latin typeface="华文楷体" panose="02010600040101010101" pitchFamily="2" charset="-122"/>
                <a:ea typeface="华文楷体" panose="02010600040101010101" pitchFamily="2" charset="-122"/>
              </a:rPr>
              <a:t>绘制误差条线图</a:t>
            </a:r>
            <a:endParaRPr lang="en-US" altLang="zh-CN" sz="2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sym typeface="+mn-ea"/>
            </a:endParaRPr>
          </a:p>
          <a:p>
            <a:pPr marL="0" indent="0" eaLnBrk="1" hangingPunct="1">
              <a:lnSpc>
                <a:spcPts val="3700"/>
              </a:lnSpc>
              <a:buNone/>
              <a:defRPr/>
            </a:pPr>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800" b="1" dirty="0">
                <a:solidFill>
                  <a:srgbClr val="002060"/>
                </a:solidFill>
                <a:latin typeface="华文楷体" panose="02010600040101010101" pitchFamily="2" charset="-122"/>
                <a:ea typeface="华文楷体" panose="02010600040101010101" pitchFamily="2" charset="-122"/>
                <a:cs typeface="Times New Roman" panose="02020603050405020304" pitchFamily="18" charset="0"/>
              </a:rPr>
              <a:t>3.3.3 </a:t>
            </a:r>
            <a:r>
              <a:rPr lang="en-US" altLang="zh-CN" sz="2800" b="1" dirty="0" err="1">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yyaxis</a:t>
            </a:r>
            <a:r>
              <a:rPr lang="zh-CN" altLang="en-US" sz="2800" kern="0" dirty="0">
                <a:solidFill>
                  <a:srgbClr val="002060"/>
                </a:solidFill>
                <a:latin typeface="华文楷体" panose="02010600040101010101" pitchFamily="2" charset="-122"/>
                <a:ea typeface="华文楷体" panose="02010600040101010101" pitchFamily="2" charset="-122"/>
              </a:rPr>
              <a:t>创建双纵坐标轴</a:t>
            </a:r>
            <a:r>
              <a:rPr lang="en-US" altLang="zh-CN" sz="2800" kern="0" dirty="0">
                <a:solidFill>
                  <a:srgbClr val="002060"/>
                </a:solidFill>
                <a:latin typeface="华文楷体" panose="02010600040101010101" pitchFamily="2" charset="-122"/>
                <a:ea typeface="华文楷体" panose="02010600040101010101" pitchFamily="2" charset="-122"/>
              </a:rPr>
              <a:t> </a:t>
            </a:r>
          </a:p>
          <a:p>
            <a:pPr marL="0" indent="0" eaLnBrk="1" hangingPunct="1">
              <a:lnSpc>
                <a:spcPts val="3700"/>
              </a:lnSpc>
              <a:buNone/>
              <a:defRPr/>
            </a:pPr>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800" kern="0" dirty="0">
                <a:solidFill>
                  <a:srgbClr val="002060"/>
                </a:solidFill>
                <a:latin typeface="华文楷体" panose="02010600040101010101" pitchFamily="2" charset="-122"/>
                <a:ea typeface="华文楷体" panose="02010600040101010101" pitchFamily="2" charset="-122"/>
              </a:rPr>
              <a:t>3.3.4 </a:t>
            </a:r>
            <a:r>
              <a:rPr lang="en-US" altLang="zh-CN" sz="2800" b="1" dirty="0" err="1">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semilogx</a:t>
            </a:r>
            <a:r>
              <a:rPr lang="en-US" altLang="zh-CN" sz="2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 loglog</a:t>
            </a:r>
            <a:r>
              <a:rPr lang="zh-CN" altLang="en-US" sz="2800" kern="0" dirty="0">
                <a:solidFill>
                  <a:srgbClr val="002060"/>
                </a:solidFill>
                <a:latin typeface="华文楷体" panose="02010600040101010101" pitchFamily="2" charset="-122"/>
                <a:ea typeface="华文楷体" panose="02010600040101010101" pitchFamily="2" charset="-122"/>
              </a:rPr>
              <a:t>绘制对数坐标曲线</a:t>
            </a:r>
          </a:p>
        </p:txBody>
      </p:sp>
      <p:sp>
        <p:nvSpPr>
          <p:cNvPr id="6" name="Rectangle 2">
            <a:extLst>
              <a:ext uri="{FF2B5EF4-FFF2-40B4-BE49-F238E27FC236}">
                <a16:creationId xmlns:a16="http://schemas.microsoft.com/office/drawing/2014/main" id="{DD1B3274-D4B6-B797-C813-82D7977A36F4}"/>
              </a:ext>
            </a:extLst>
          </p:cNvPr>
          <p:cNvSpPr txBox="1">
            <a:spLocks noChangeArrowheads="1"/>
          </p:cNvSpPr>
          <p:nvPr/>
        </p:nvSpPr>
        <p:spPr bwMode="auto">
          <a:xfrm>
            <a:off x="2339753" y="1633039"/>
            <a:ext cx="5976664" cy="45719"/>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r>
              <a:rPr lang="en-US" altLang="zh-CN" sz="4000" kern="0" dirty="0">
                <a:solidFill>
                  <a:srgbClr val="002060"/>
                </a:solidFill>
                <a:latin typeface="华文楷体" panose="02010600040101010101" pitchFamily="2" charset="-122"/>
                <a:ea typeface="华文楷体" panose="02010600040101010101" pitchFamily="2" charset="-122"/>
                <a:cs typeface="隶书" panose="02010509060101010101" charset="-122"/>
              </a:rPr>
              <a:t>§3.3 </a:t>
            </a:r>
            <a:r>
              <a:rPr lang="zh-CN" altLang="en-US" sz="4000" kern="0" dirty="0">
                <a:solidFill>
                  <a:srgbClr val="002060"/>
                </a:solidFill>
                <a:latin typeface="华文楷体" panose="02010600040101010101" pitchFamily="2" charset="-122"/>
                <a:ea typeface="华文楷体" panose="02010600040101010101" pitchFamily="2" charset="-122"/>
                <a:cs typeface="隶书" panose="02010509060101010101" charset="-122"/>
              </a:rPr>
              <a:t>常用二维线图绘制</a:t>
            </a:r>
            <a:br>
              <a:rPr lang="en-US" altLang="zh-CN" sz="4000" kern="0" dirty="0">
                <a:solidFill>
                  <a:srgbClr val="002060"/>
                </a:solidFill>
                <a:latin typeface="华文楷体" panose="02010600040101010101" pitchFamily="2" charset="-122"/>
                <a:ea typeface="华文楷体" panose="02010600040101010101" pitchFamily="2" charset="-122"/>
                <a:cs typeface="隶书" panose="02010509060101010101" charset="-122"/>
              </a:rPr>
            </a:br>
            <a:endParaRPr lang="zh-CN" altLang="en-US" sz="40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pic>
        <p:nvPicPr>
          <p:cNvPr id="7" name="图片 6">
            <a:extLst>
              <a:ext uri="{FF2B5EF4-FFF2-40B4-BE49-F238E27FC236}">
                <a16:creationId xmlns:a16="http://schemas.microsoft.com/office/drawing/2014/main" id="{A6D3150C-B868-6EAA-A6F5-9E15E44DCE4D}"/>
              </a:ext>
            </a:extLst>
          </p:cNvPr>
          <p:cNvPicPr>
            <a:picLocks noChangeAspect="1"/>
          </p:cNvPicPr>
          <p:nvPr/>
        </p:nvPicPr>
        <p:blipFill rotWithShape="1">
          <a:blip r:embed="rId2"/>
          <a:srcRect t="51768" r="91226" b="5373"/>
          <a:stretch/>
        </p:blipFill>
        <p:spPr>
          <a:xfrm>
            <a:off x="341229" y="1953444"/>
            <a:ext cx="802305" cy="2346498"/>
          </a:xfrm>
          <a:prstGeom prst="rect">
            <a:avLst/>
          </a:prstGeom>
          <a:solidFill>
            <a:srgbClr val="0070C0"/>
          </a:solidFill>
          <a:ln>
            <a:solidFill>
              <a:srgbClr val="00B0F0"/>
            </a:solidFill>
          </a:ln>
        </p:spPr>
      </p:pic>
      <p:pic>
        <p:nvPicPr>
          <p:cNvPr id="8" name="图片 7">
            <a:extLst>
              <a:ext uri="{FF2B5EF4-FFF2-40B4-BE49-F238E27FC236}">
                <a16:creationId xmlns:a16="http://schemas.microsoft.com/office/drawing/2014/main" id="{AE9856B6-C436-EF50-2A8B-9F70F79C0406}"/>
              </a:ext>
            </a:extLst>
          </p:cNvPr>
          <p:cNvPicPr>
            <a:picLocks noChangeAspect="1"/>
          </p:cNvPicPr>
          <p:nvPr/>
        </p:nvPicPr>
        <p:blipFill rotWithShape="1">
          <a:blip r:embed="rId2"/>
          <a:srcRect t="16661" r="91731" b="65649"/>
          <a:stretch/>
        </p:blipFill>
        <p:spPr>
          <a:xfrm>
            <a:off x="341228" y="945634"/>
            <a:ext cx="802305" cy="972109"/>
          </a:xfrm>
          <a:prstGeom prst="rect">
            <a:avLst/>
          </a:prstGeom>
          <a:solidFill>
            <a:srgbClr val="0070C0"/>
          </a:solidFill>
          <a:ln>
            <a:solidFill>
              <a:srgbClr val="00B0F0"/>
            </a:solidFill>
          </a:ln>
        </p:spPr>
      </p:pic>
    </p:spTree>
    <p:extLst>
      <p:ext uri="{BB962C8B-B14F-4D97-AF65-F5344CB8AC3E}">
        <p14:creationId xmlns:p14="http://schemas.microsoft.com/office/powerpoint/2010/main" val="406550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
          <p:cNvSpPr txBox="1">
            <a:spLocks noChangeArrowheads="1"/>
          </p:cNvSpPr>
          <p:nvPr/>
        </p:nvSpPr>
        <p:spPr bwMode="auto">
          <a:xfrm>
            <a:off x="4606" y="1114599"/>
            <a:ext cx="8649763" cy="1825104"/>
          </a:xfrm>
          <a:prstGeom prst="rect">
            <a:avLst/>
          </a:prstGeom>
          <a:solidFill>
            <a:schemeClr val="bg1"/>
          </a:solidFill>
          <a:ln w="3175">
            <a:noFill/>
            <a:prstDash val="lgDashDot"/>
          </a:ln>
        </p:spPr>
        <p:txBody>
          <a:bodyPr/>
          <a:lstStyle>
            <a:lvl1pPr marL="342900" indent="-34290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5pPr>
            <a:lvl6pPr marL="25146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6pPr>
            <a:lvl7pPr marL="29718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7pPr>
            <a:lvl8pPr marL="34290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8pPr>
            <a:lvl9pPr marL="3886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9pPr>
          </a:lstStyle>
          <a:p>
            <a:pPr eaLnBrk="1" hangingPunct="1">
              <a:lnSpc>
                <a:spcPts val="2600"/>
              </a:lnSpc>
              <a:spcBef>
                <a:spcPts val="0"/>
              </a:spcBef>
              <a:buFont typeface="Wingdings" panose="05000000000000000000" pitchFamily="2" charset="2"/>
              <a:buChar char="p"/>
              <a:defRPr/>
            </a:pPr>
            <a:r>
              <a:rPr lang="en-US" altLang="zh-CN" sz="2000" kern="0" dirty="0">
                <a:solidFill>
                  <a:srgbClr val="002060"/>
                </a:solidFill>
                <a:latin typeface="华文楷体" panose="02010600040101010101" pitchFamily="2" charset="-122"/>
                <a:ea typeface="华文楷体" panose="02010600040101010101" pitchFamily="2" charset="-122"/>
              </a:rPr>
              <a:t>x1</a:t>
            </a:r>
            <a:r>
              <a:rPr lang="zh-CN" altLang="en-US" sz="2000" kern="0" dirty="0">
                <a:solidFill>
                  <a:srgbClr val="002060"/>
                </a:solidFill>
                <a:latin typeface="华文楷体" panose="02010600040101010101" pitchFamily="2" charset="-122"/>
                <a:ea typeface="华文楷体" panose="02010600040101010101" pitchFamily="2" charset="-122"/>
              </a:rPr>
              <a:t>和</a:t>
            </a:r>
            <a:r>
              <a:rPr lang="en-US" altLang="zh-CN" sz="2000" kern="0" dirty="0">
                <a:solidFill>
                  <a:srgbClr val="002060"/>
                </a:solidFill>
                <a:latin typeface="华文楷体" panose="02010600040101010101" pitchFamily="2" charset="-122"/>
                <a:ea typeface="华文楷体" panose="02010600040101010101" pitchFamily="2" charset="-122"/>
              </a:rPr>
              <a:t>y1,…</a:t>
            </a:r>
            <a:r>
              <a:rPr lang="zh-CN" altLang="en-US" sz="2000" kern="0" dirty="0">
                <a:solidFill>
                  <a:srgbClr val="002060"/>
                </a:solidFill>
                <a:latin typeface="华文楷体" panose="02010600040101010101" pitchFamily="2" charset="-122"/>
                <a:ea typeface="华文楷体" panose="02010600040101010101" pitchFamily="2" charset="-122"/>
              </a:rPr>
              <a:t>，</a:t>
            </a:r>
            <a:r>
              <a:rPr lang="en-US" altLang="zh-CN" sz="2000" kern="0" dirty="0" err="1">
                <a:solidFill>
                  <a:srgbClr val="002060"/>
                </a:solidFill>
                <a:latin typeface="华文楷体" panose="02010600040101010101" pitchFamily="2" charset="-122"/>
                <a:ea typeface="华文楷体" panose="02010600040101010101" pitchFamily="2" charset="-122"/>
              </a:rPr>
              <a:t>xn</a:t>
            </a:r>
            <a:r>
              <a:rPr lang="zh-CN" altLang="en-US" sz="2000" kern="0" dirty="0">
                <a:solidFill>
                  <a:srgbClr val="002060"/>
                </a:solidFill>
                <a:latin typeface="华文楷体" panose="02010600040101010101" pitchFamily="2" charset="-122"/>
                <a:ea typeface="华文楷体" panose="02010600040101010101" pitchFamily="2" charset="-122"/>
              </a:rPr>
              <a:t>和</a:t>
            </a:r>
            <a:r>
              <a:rPr lang="en-US" altLang="zh-CN" sz="2000" kern="0" dirty="0" err="1">
                <a:solidFill>
                  <a:srgbClr val="002060"/>
                </a:solidFill>
                <a:latin typeface="华文楷体" panose="02010600040101010101" pitchFamily="2" charset="-122"/>
                <a:ea typeface="华文楷体" panose="02010600040101010101" pitchFamily="2" charset="-122"/>
              </a:rPr>
              <a:t>yn</a:t>
            </a:r>
            <a:r>
              <a:rPr lang="zh-CN" altLang="en-US" sz="2000" kern="0" dirty="0">
                <a:solidFill>
                  <a:srgbClr val="002060"/>
                </a:solidFill>
                <a:latin typeface="华文楷体" panose="02010600040101010101" pitchFamily="2" charset="-122"/>
                <a:ea typeface="华文楷体" panose="02010600040101010101" pitchFamily="2" charset="-122"/>
              </a:rPr>
              <a:t>分别组成</a:t>
            </a:r>
            <a:r>
              <a:rPr lang="en-US" altLang="zh-CN" sz="2000" kern="0" dirty="0">
                <a:solidFill>
                  <a:srgbClr val="002060"/>
                </a:solidFill>
                <a:latin typeface="华文楷体" panose="02010600040101010101" pitchFamily="2" charset="-122"/>
                <a:ea typeface="华文楷体" panose="02010600040101010101" pitchFamily="2" charset="-122"/>
              </a:rPr>
              <a:t>n</a:t>
            </a:r>
            <a:r>
              <a:rPr lang="zh-CN" altLang="en-US" sz="2000" kern="0" dirty="0">
                <a:solidFill>
                  <a:srgbClr val="002060"/>
                </a:solidFill>
                <a:latin typeface="华文楷体" panose="02010600040101010101" pitchFamily="2" charset="-122"/>
                <a:ea typeface="华文楷体" panose="02010600040101010101" pitchFamily="2" charset="-122"/>
              </a:rPr>
              <a:t>对向量， 对应</a:t>
            </a:r>
            <a:r>
              <a:rPr lang="en-US" altLang="zh-CN" sz="2000" kern="0" dirty="0">
                <a:solidFill>
                  <a:srgbClr val="002060"/>
                </a:solidFill>
                <a:latin typeface="华文楷体" panose="02010600040101010101" pitchFamily="2" charset="-122"/>
                <a:ea typeface="华文楷体" panose="02010600040101010101" pitchFamily="2" charset="-122"/>
              </a:rPr>
              <a:t>n</a:t>
            </a:r>
            <a:r>
              <a:rPr lang="zh-CN" altLang="en-US" sz="2000" kern="0" dirty="0">
                <a:solidFill>
                  <a:srgbClr val="002060"/>
                </a:solidFill>
                <a:latin typeface="华文楷体" panose="02010600040101010101" pitchFamily="2" charset="-122"/>
                <a:ea typeface="华文楷体" panose="02010600040101010101" pitchFamily="2" charset="-122"/>
              </a:rPr>
              <a:t>条曲线</a:t>
            </a:r>
            <a:endParaRPr lang="en-US" altLang="zh-CN" sz="2000" kern="0" dirty="0">
              <a:solidFill>
                <a:srgbClr val="002060"/>
              </a:solidFill>
              <a:latin typeface="华文楷体" panose="02010600040101010101" pitchFamily="2" charset="-122"/>
              <a:ea typeface="华文楷体" panose="02010600040101010101" pitchFamily="2" charset="-122"/>
            </a:endParaRPr>
          </a:p>
          <a:p>
            <a:pPr eaLnBrk="1" hangingPunct="1">
              <a:lnSpc>
                <a:spcPts val="2600"/>
              </a:lnSpc>
              <a:spcBef>
                <a:spcPts val="0"/>
              </a:spcBef>
              <a:buFont typeface="Wingdings" panose="05000000000000000000" pitchFamily="2" charset="2"/>
              <a:buChar char="p"/>
              <a:defRPr/>
            </a:pPr>
            <a:r>
              <a:rPr lang="zh-CN" altLang="en-US" sz="2000" kern="0" dirty="0">
                <a:solidFill>
                  <a:srgbClr val="002060"/>
                </a:solidFill>
                <a:latin typeface="华文楷体" panose="02010600040101010101" pitchFamily="2" charset="-122"/>
                <a:ea typeface="华文楷体" panose="02010600040101010101" pitchFamily="2" charset="-122"/>
              </a:rPr>
              <a:t>每一对</a:t>
            </a:r>
            <a:r>
              <a:rPr lang="en-US" altLang="zh-CN" sz="2000" kern="0" dirty="0">
                <a:solidFill>
                  <a:srgbClr val="002060"/>
                </a:solidFill>
                <a:latin typeface="华文楷体" panose="02010600040101010101" pitchFamily="2" charset="-122"/>
                <a:ea typeface="华文楷体" panose="02010600040101010101" pitchFamily="2" charset="-122"/>
              </a:rPr>
              <a:t>x</a:t>
            </a:r>
            <a:r>
              <a:rPr lang="zh-CN" altLang="en-US" sz="2000" kern="0" dirty="0">
                <a:solidFill>
                  <a:srgbClr val="002060"/>
                </a:solidFill>
                <a:latin typeface="华文楷体" panose="02010600040101010101" pitchFamily="2" charset="-122"/>
                <a:ea typeface="华文楷体" panose="02010600040101010101" pitchFamily="2" charset="-122"/>
              </a:rPr>
              <a:t>和</a:t>
            </a:r>
            <a:r>
              <a:rPr lang="en-US" altLang="zh-CN" sz="2000" kern="0" dirty="0">
                <a:solidFill>
                  <a:srgbClr val="002060"/>
                </a:solidFill>
                <a:latin typeface="华文楷体" panose="02010600040101010101" pitchFamily="2" charset="-122"/>
                <a:ea typeface="华文楷体" panose="02010600040101010101" pitchFamily="2" charset="-122"/>
              </a:rPr>
              <a:t>y</a:t>
            </a:r>
            <a:r>
              <a:rPr lang="zh-CN" altLang="en-US" sz="2000" kern="0" dirty="0">
                <a:solidFill>
                  <a:srgbClr val="002060"/>
                </a:solidFill>
                <a:latin typeface="华文楷体" panose="02010600040101010101" pitchFamily="2" charset="-122"/>
                <a:ea typeface="华文楷体" panose="02010600040101010101" pitchFamily="2" charset="-122"/>
              </a:rPr>
              <a:t>向量绘一条曲线，要求每对长度必须相同</a:t>
            </a:r>
            <a:endParaRPr lang="en-US" altLang="zh-CN" sz="2000" kern="0" dirty="0">
              <a:solidFill>
                <a:srgbClr val="002060"/>
              </a:solidFill>
              <a:latin typeface="华文楷体" panose="02010600040101010101" pitchFamily="2" charset="-122"/>
              <a:ea typeface="华文楷体" panose="02010600040101010101" pitchFamily="2" charset="-122"/>
            </a:endParaRPr>
          </a:p>
          <a:p>
            <a:pPr eaLnBrk="1" hangingPunct="1">
              <a:lnSpc>
                <a:spcPts val="2600"/>
              </a:lnSpc>
              <a:spcBef>
                <a:spcPts val="0"/>
              </a:spcBef>
              <a:buFont typeface="Wingdings" panose="05000000000000000000" pitchFamily="2" charset="2"/>
              <a:buChar char="p"/>
              <a:defRPr/>
            </a:pPr>
            <a:r>
              <a:rPr lang="zh-CN" altLang="en-US" sz="2000" kern="0" dirty="0">
                <a:solidFill>
                  <a:srgbClr val="002060"/>
                </a:solidFill>
                <a:latin typeface="华文楷体" panose="02010600040101010101" pitchFamily="2" charset="-122"/>
                <a:ea typeface="华文楷体" panose="02010600040101010101" pitchFamily="2" charset="-122"/>
              </a:rPr>
              <a:t>各对向量的长度可以不同，长度不同的多组数据文件读取绘图时，</a:t>
            </a:r>
            <a:r>
              <a:rPr lang="en-US" altLang="zh-CN" sz="2000" kern="0" dirty="0">
                <a:solidFill>
                  <a:srgbClr val="002060"/>
                </a:solidFill>
                <a:latin typeface="华文楷体" panose="02010600040101010101" pitchFamily="2" charset="-122"/>
                <a:ea typeface="华文楷体" panose="02010600040101010101" pitchFamily="2" charset="-122"/>
              </a:rPr>
              <a:t> </a:t>
            </a:r>
            <a:r>
              <a:rPr lang="zh-CN" altLang="en-US" sz="2000" kern="0" dirty="0">
                <a:solidFill>
                  <a:srgbClr val="002060"/>
                </a:solidFill>
                <a:latin typeface="华文楷体" panose="02010600040101010101" pitchFamily="2" charset="-122"/>
                <a:ea typeface="华文楷体" panose="02010600040101010101" pitchFamily="2" charset="-122"/>
              </a:rPr>
              <a:t>建议采用逗号分隔值文本文件 </a:t>
            </a:r>
            <a:r>
              <a:rPr lang="en-US" altLang="zh-CN" sz="2000" kern="0" dirty="0">
                <a:solidFill>
                  <a:srgbClr val="002060"/>
                </a:solidFill>
                <a:latin typeface="华文楷体" panose="02010600040101010101" pitchFamily="2" charset="-122"/>
                <a:ea typeface="华文楷体" panose="02010600040101010101" pitchFamily="2" charset="-122"/>
              </a:rPr>
              <a:t>(.csv),</a:t>
            </a:r>
            <a:r>
              <a:rPr lang="zh-CN" altLang="en-US" sz="2000" kern="0" dirty="0">
                <a:solidFill>
                  <a:srgbClr val="002060"/>
                </a:solidFill>
                <a:latin typeface="华文楷体" panose="02010600040101010101" pitchFamily="2" charset="-122"/>
                <a:ea typeface="华文楷体" panose="02010600040101010101" pitchFamily="2" charset="-122"/>
              </a:rPr>
              <a:t>方便直接用</a:t>
            </a:r>
            <a:r>
              <a:rPr lang="en-US" altLang="zh-CN" sz="2000" kern="0" dirty="0">
                <a:solidFill>
                  <a:srgbClr val="002060"/>
                </a:solidFill>
                <a:latin typeface="华文楷体" panose="02010600040101010101" pitchFamily="2" charset="-122"/>
                <a:ea typeface="华文楷体" panose="02010600040101010101" pitchFamily="2" charset="-122"/>
              </a:rPr>
              <a:t>plot</a:t>
            </a:r>
            <a:r>
              <a:rPr lang="zh-CN" altLang="en-US" sz="2000" kern="0" dirty="0">
                <a:solidFill>
                  <a:srgbClr val="002060"/>
                </a:solidFill>
                <a:latin typeface="华文楷体" panose="02010600040101010101" pitchFamily="2" charset="-122"/>
                <a:ea typeface="华文楷体" panose="02010600040101010101" pitchFamily="2" charset="-122"/>
              </a:rPr>
              <a:t>绘图</a:t>
            </a:r>
            <a:endParaRPr lang="en-US" altLang="zh-CN" sz="2000" kern="0" dirty="0">
              <a:solidFill>
                <a:srgbClr val="002060"/>
              </a:solidFill>
              <a:latin typeface="华文楷体" panose="02010600040101010101" pitchFamily="2" charset="-122"/>
              <a:ea typeface="华文楷体" panose="02010600040101010101" pitchFamily="2" charset="-122"/>
            </a:endParaRPr>
          </a:p>
          <a:p>
            <a:pPr eaLnBrk="1" hangingPunct="1">
              <a:lnSpc>
                <a:spcPts val="2600"/>
              </a:lnSpc>
              <a:spcBef>
                <a:spcPts val="0"/>
              </a:spcBef>
              <a:buFont typeface="Wingdings" panose="05000000000000000000" pitchFamily="2" charset="2"/>
              <a:buChar char="p"/>
              <a:defRPr/>
            </a:pPr>
            <a:r>
              <a:rPr lang="zh-CN" altLang="en-US" sz="2000" kern="0" dirty="0">
                <a:solidFill>
                  <a:srgbClr val="002060"/>
                </a:solidFill>
                <a:latin typeface="华文楷体" panose="02010600040101010101" pitchFamily="2" charset="-122"/>
                <a:ea typeface="华文楷体" panose="02010600040101010101" pitchFamily="2" charset="-122"/>
              </a:rPr>
              <a:t>图形句柄、坐标区和线属性</a:t>
            </a:r>
            <a:r>
              <a:rPr lang="en-US" altLang="zh-CN" sz="2000" kern="0" dirty="0" err="1">
                <a:solidFill>
                  <a:srgbClr val="002060"/>
                </a:solidFill>
                <a:latin typeface="华文楷体" panose="02010600040101010101" pitchFamily="2" charset="-122"/>
                <a:ea typeface="华文楷体" panose="02010600040101010101" pitchFamily="2" charset="-122"/>
              </a:rPr>
              <a:t>fmt</a:t>
            </a:r>
            <a:r>
              <a:rPr lang="zh-CN" altLang="en-US" sz="2000" kern="0" dirty="0">
                <a:solidFill>
                  <a:srgbClr val="002060"/>
                </a:solidFill>
                <a:latin typeface="华文楷体" panose="02010600040101010101" pitchFamily="2" charset="-122"/>
                <a:ea typeface="华文楷体" panose="02010600040101010101" pitchFamily="2" charset="-122"/>
              </a:rPr>
              <a:t>可以缺省</a:t>
            </a:r>
          </a:p>
        </p:txBody>
      </p:sp>
      <p:sp>
        <p:nvSpPr>
          <p:cNvPr id="14" name="Rectangle 2">
            <a:extLst>
              <a:ext uri="{FF2B5EF4-FFF2-40B4-BE49-F238E27FC236}">
                <a16:creationId xmlns:a16="http://schemas.microsoft.com/office/drawing/2014/main" id="{39D87ABC-C28A-4C97-875E-8273FE26E1F6}"/>
              </a:ext>
            </a:extLst>
          </p:cNvPr>
          <p:cNvSpPr txBox="1">
            <a:spLocks noChangeArrowheads="1"/>
          </p:cNvSpPr>
          <p:nvPr/>
        </p:nvSpPr>
        <p:spPr bwMode="auto">
          <a:xfrm>
            <a:off x="530864" y="134174"/>
            <a:ext cx="8195223" cy="514023"/>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just" eaLnBrk="1" hangingPunct="1"/>
            <a:endPar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a:p>
            <a:pPr algn="just" eaLnBrk="1" hangingPunct="1"/>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a:t>
            </a:r>
            <a:r>
              <a:rPr lang="en-US" altLang="zh-CN" sz="2600" kern="0" dirty="0">
                <a:solidFill>
                  <a:srgbClr val="002060"/>
                </a:solidFill>
                <a:latin typeface="华文楷体" panose="02010600040101010101" pitchFamily="2" charset="-122"/>
                <a:ea typeface="华文楷体" panose="02010600040101010101" pitchFamily="2" charset="-122"/>
              </a:rPr>
              <a:t>3.3.1 plot</a:t>
            </a:r>
            <a:r>
              <a:rPr lang="zh-CN" altLang="en-US" sz="2600" kern="0" dirty="0">
                <a:solidFill>
                  <a:srgbClr val="002060"/>
                </a:solidFill>
                <a:latin typeface="华文楷体" panose="02010600040101010101" pitchFamily="2" charset="-122"/>
                <a:ea typeface="华文楷体" panose="02010600040101010101" pitchFamily="2" charset="-122"/>
              </a:rPr>
              <a:t>绘制多条曲线</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输入多对向量的多条曲线</a:t>
            </a:r>
            <a:b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br>
            <a:endParaRPr lang="zh-CN" altLang="en-US"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sp>
        <p:nvSpPr>
          <p:cNvPr id="10" name="矩形 9">
            <a:extLst>
              <a:ext uri="{FF2B5EF4-FFF2-40B4-BE49-F238E27FC236}">
                <a16:creationId xmlns:a16="http://schemas.microsoft.com/office/drawing/2014/main" id="{26268E15-3970-411F-B8A9-77857E65BB3A}"/>
              </a:ext>
            </a:extLst>
          </p:cNvPr>
          <p:cNvSpPr/>
          <p:nvPr/>
        </p:nvSpPr>
        <p:spPr>
          <a:xfrm>
            <a:off x="3660150" y="740171"/>
            <a:ext cx="5415394"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r">
              <a:lnSpc>
                <a:spcPct val="90000"/>
              </a:lnSpc>
            </a:pP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句柄</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h=</a:t>
            </a: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plot(</a:t>
            </a: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坐标区</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ax,</a:t>
            </a: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x1,y1</a:t>
            </a:r>
            <a:r>
              <a:rPr lang="es-E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,fmt.</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xn,yn</a:t>
            </a:r>
            <a:r>
              <a:rPr lang="es-E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,fmt)</a:t>
            </a:r>
            <a:endPar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15" name="文本框 14">
            <a:extLst>
              <a:ext uri="{FF2B5EF4-FFF2-40B4-BE49-F238E27FC236}">
                <a16:creationId xmlns:a16="http://schemas.microsoft.com/office/drawing/2014/main" id="{BFFCB928-F325-4D49-A269-2424D0DF07B8}"/>
              </a:ext>
            </a:extLst>
          </p:cNvPr>
          <p:cNvSpPr txBox="1"/>
          <p:nvPr/>
        </p:nvSpPr>
        <p:spPr>
          <a:xfrm>
            <a:off x="109466" y="3157686"/>
            <a:ext cx="6336703" cy="1477328"/>
          </a:xfrm>
          <a:prstGeom prst="rect">
            <a:avLst/>
          </a:prstGeom>
          <a:solidFill>
            <a:schemeClr val="bg1"/>
          </a:solidFill>
        </p:spPr>
        <p:txBody>
          <a:bodyPr wrap="square">
            <a:spAutoFit/>
          </a:bodyPr>
          <a:lstStyle/>
          <a:p>
            <a:r>
              <a:rPr lang="en-US" altLang="zh-CN" b="0" dirty="0" err="1">
                <a:solidFill>
                  <a:srgbClr val="000000"/>
                </a:solidFill>
                <a:effectLst/>
                <a:latin typeface="Consolas" panose="020B0609020204030204" pitchFamily="49" charset="0"/>
              </a:rPr>
              <a:t>tt</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readtable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"nano.csv"</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tt</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legend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"Al"</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a:t>
            </a:r>
            <a:r>
              <a:rPr lang="en-US" altLang="zh-CN" b="0" dirty="0" err="1">
                <a:solidFill>
                  <a:srgbClr val="A31515"/>
                </a:solidFill>
                <a:effectLst/>
                <a:latin typeface="Consolas" panose="020B0609020204030204" pitchFamily="49" charset="0"/>
              </a:rPr>
              <a:t>SiC_n</a:t>
            </a:r>
            <a:r>
              <a:rPr lang="en-US" altLang="zh-CN" b="0" dirty="0">
                <a:solidFill>
                  <a:srgbClr val="A31515"/>
                </a:solidFill>
                <a:effectLst/>
                <a:latin typeface="Consolas" panose="020B0609020204030204" pitchFamily="49" charset="0"/>
              </a:rPr>
              <a:t>/Al"</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"True strain"</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"True stress, MPa"</a:t>
            </a:r>
            <a:r>
              <a:rPr lang="en-US" altLang="zh-CN" b="0" dirty="0">
                <a:solidFill>
                  <a:srgbClr val="000000"/>
                </a:solidFill>
                <a:effectLst/>
                <a:latin typeface="Consolas" panose="020B0609020204030204" pitchFamily="49" charset="0"/>
              </a:rPr>
              <a:t>) </a:t>
            </a:r>
          </a:p>
        </p:txBody>
      </p:sp>
      <p:sp>
        <p:nvSpPr>
          <p:cNvPr id="16" name="矩形 15">
            <a:extLst>
              <a:ext uri="{FF2B5EF4-FFF2-40B4-BE49-F238E27FC236}">
                <a16:creationId xmlns:a16="http://schemas.microsoft.com/office/drawing/2014/main" id="{CC2F3321-842C-4C5F-9EA1-354447EB2E43}"/>
              </a:ext>
            </a:extLst>
          </p:cNvPr>
          <p:cNvSpPr/>
          <p:nvPr/>
        </p:nvSpPr>
        <p:spPr>
          <a:xfrm>
            <a:off x="705079" y="2834426"/>
            <a:ext cx="3960165" cy="400110"/>
          </a:xfrm>
          <a:prstGeom prst="rect">
            <a:avLst/>
          </a:prstGeom>
          <a:noFill/>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纯铝和铝基复合材料的拉伸曲线 </a:t>
            </a:r>
          </a:p>
        </p:txBody>
      </p:sp>
      <p:pic>
        <p:nvPicPr>
          <p:cNvPr id="17" name="图片 16">
            <a:extLst>
              <a:ext uri="{FF2B5EF4-FFF2-40B4-BE49-F238E27FC236}">
                <a16:creationId xmlns:a16="http://schemas.microsoft.com/office/drawing/2014/main" id="{2F24A0E5-2075-456D-AEDB-274D0C2A9C98}"/>
              </a:ext>
            </a:extLst>
          </p:cNvPr>
          <p:cNvPicPr>
            <a:picLocks noChangeAspect="1"/>
          </p:cNvPicPr>
          <p:nvPr/>
        </p:nvPicPr>
        <p:blipFill rotWithShape="1">
          <a:blip r:embed="rId4"/>
          <a:srcRect l="5953" t="11865" r="6688" b="6602"/>
          <a:stretch/>
        </p:blipFill>
        <p:spPr>
          <a:xfrm>
            <a:off x="5982188" y="2454010"/>
            <a:ext cx="3070496" cy="2181004"/>
          </a:xfrm>
          <a:prstGeom prst="rect">
            <a:avLst/>
          </a:prstGeom>
        </p:spPr>
      </p:pic>
      <p:sp>
        <p:nvSpPr>
          <p:cNvPr id="18" name="波形 17">
            <a:extLst>
              <a:ext uri="{FF2B5EF4-FFF2-40B4-BE49-F238E27FC236}">
                <a16:creationId xmlns:a16="http://schemas.microsoft.com/office/drawing/2014/main" id="{82BEC836-1B1C-4235-AE33-358A3538AAC4}"/>
              </a:ext>
            </a:extLst>
          </p:cNvPr>
          <p:cNvSpPr/>
          <p:nvPr/>
        </p:nvSpPr>
        <p:spPr>
          <a:xfrm>
            <a:off x="191806" y="2770679"/>
            <a:ext cx="404223" cy="430887"/>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例1</a:t>
            </a:r>
            <a:endParaRPr lang="ko-KR" altLang="en-US" sz="1600" b="1" dirty="0">
              <a:solidFill>
                <a:srgbClr val="FFFF00"/>
              </a:solidFill>
              <a:latin typeface="微软雅黑" panose="020B0503020204020204" charset="-122"/>
              <a:ea typeface="微软雅黑" panose="020B0503020204020204" charset="-122"/>
            </a:endParaRPr>
          </a:p>
        </p:txBody>
      </p:sp>
      <p:graphicFrame>
        <p:nvGraphicFramePr>
          <p:cNvPr id="2" name="对象 1">
            <a:extLst>
              <a:ext uri="{FF2B5EF4-FFF2-40B4-BE49-F238E27FC236}">
                <a16:creationId xmlns:a16="http://schemas.microsoft.com/office/drawing/2014/main" id="{317987DE-5CCF-4C38-AB8B-29B06C6F37EA}"/>
              </a:ext>
            </a:extLst>
          </p:cNvPr>
          <p:cNvGraphicFramePr>
            <a:graphicFrameLocks noChangeAspect="1"/>
          </p:cNvGraphicFramePr>
          <p:nvPr>
            <p:extLst>
              <p:ext uri="{D42A27DB-BD31-4B8C-83A1-F6EECF244321}">
                <p14:modId xmlns:p14="http://schemas.microsoft.com/office/powerpoint/2010/main" val="1300332734"/>
              </p:ext>
            </p:extLst>
          </p:nvPr>
        </p:nvGraphicFramePr>
        <p:xfrm>
          <a:off x="8155217" y="1161708"/>
          <a:ext cx="914400" cy="787400"/>
        </p:xfrm>
        <a:graphic>
          <a:graphicData uri="http://schemas.openxmlformats.org/presentationml/2006/ole">
            <mc:AlternateContent xmlns:mc="http://schemas.openxmlformats.org/markup-compatibility/2006">
              <mc:Choice xmlns:v="urn:schemas-microsoft-com:vml" Requires="v">
                <p:oleObj spid="_x0000_s4261" name="Macro-Enabled Worksheet" showAsIcon="1" r:id="rId5" imgW="914597" imgH="787283" progId="Excel.SheetMacroEnabled.12">
                  <p:link updateAutomatic="1"/>
                </p:oleObj>
              </mc:Choice>
              <mc:Fallback>
                <p:oleObj name="Macro-Enabled Worksheet" showAsIcon="1" r:id="rId5" imgW="914597" imgH="787283" progId="Excel.SheetMacroEnabled.12">
                  <p:link updateAutomatic="1"/>
                  <p:pic>
                    <p:nvPicPr>
                      <p:cNvPr id="0" name=""/>
                      <p:cNvPicPr/>
                      <p:nvPr/>
                    </p:nvPicPr>
                    <p:blipFill>
                      <a:blip r:embed="rId6"/>
                      <a:stretch>
                        <a:fillRect/>
                      </a:stretch>
                    </p:blipFill>
                    <p:spPr>
                      <a:xfrm>
                        <a:off x="8155217" y="1161708"/>
                        <a:ext cx="914400" cy="787400"/>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93688DBE-DDEA-462F-B327-F40A58C999F9}"/>
              </a:ext>
            </a:extLst>
          </p:cNvPr>
          <p:cNvSpPr/>
          <p:nvPr/>
        </p:nvSpPr>
        <p:spPr>
          <a:xfrm>
            <a:off x="0" y="740171"/>
            <a:ext cx="3398564"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plot(x1,y1</a:t>
            </a:r>
            <a:r>
              <a:rPr lang="es-E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,fmt.</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xn,yn</a:t>
            </a:r>
            <a:r>
              <a:rPr lang="es-E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,fmt)</a:t>
            </a:r>
            <a:endPar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22" name="文本框 21">
            <a:extLst>
              <a:ext uri="{FF2B5EF4-FFF2-40B4-BE49-F238E27FC236}">
                <a16:creationId xmlns:a16="http://schemas.microsoft.com/office/drawing/2014/main" id="{6C1D95B2-CAFC-401A-AF6F-A2329427434F}"/>
              </a:ext>
            </a:extLst>
          </p:cNvPr>
          <p:cNvSpPr txBox="1"/>
          <p:nvPr/>
        </p:nvSpPr>
        <p:spPr>
          <a:xfrm>
            <a:off x="3333674" y="725980"/>
            <a:ext cx="475217"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或</a:t>
            </a:r>
            <a:endParaRPr lang="zh-CN" altLang="en-US" b="1" dirty="0"/>
          </a:p>
        </p:txBody>
      </p:sp>
      <p:sp>
        <p:nvSpPr>
          <p:cNvPr id="12" name="AutoShape 13">
            <a:extLst>
              <a:ext uri="{FF2B5EF4-FFF2-40B4-BE49-F238E27FC236}">
                <a16:creationId xmlns:a16="http://schemas.microsoft.com/office/drawing/2014/main" id="{6D3CA326-84A9-4CDB-803B-B92C8B01373F}"/>
              </a:ext>
            </a:extLst>
          </p:cNvPr>
          <p:cNvSpPr/>
          <p:nvPr/>
        </p:nvSpPr>
        <p:spPr bwMode="auto">
          <a:xfrm>
            <a:off x="6519862" y="2890456"/>
            <a:ext cx="2448272" cy="54307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l" defTabSz="914400" eaLnBrk="0" fontAlgn="base" latinLnBrk="0">
              <a:lnSpc>
                <a:spcPct val="150000"/>
              </a:lnSpc>
              <a:spcBef>
                <a:spcPts val="0"/>
              </a:spcBef>
              <a:spcAft>
                <a:spcPts val="0"/>
              </a:spcAft>
              <a:buFontTx/>
              <a:buNone/>
            </a:pPr>
            <a:r>
              <a:rPr lang="en-US" altLang="ko-KR" sz="1600" b="0" cap="none" dirty="0" err="1">
                <a:latin typeface="Arial" panose="020B0604020202020204" pitchFamily="34" charset="0"/>
                <a:ea typeface="Arial" panose="020B0604020202020204" pitchFamily="34" charset="0"/>
              </a:rPr>
              <a:t>shi</a:t>
            </a:r>
            <a:endParaRPr lang="ko-KR" altLang="en-US" sz="1600" b="0" cap="none" dirty="0">
              <a:latin typeface="Arial" panose="020B0604020202020204" pitchFamily="34" charset="0"/>
              <a:ea typeface="Arial" panose="020B0604020202020204" pitchFamily="34" charset="0"/>
            </a:endParaRPr>
          </a:p>
        </p:txBody>
      </p:sp>
      <p:sp>
        <p:nvSpPr>
          <p:cNvPr id="20" name="矩形 19">
            <a:extLst>
              <a:ext uri="{FF2B5EF4-FFF2-40B4-BE49-F238E27FC236}">
                <a16:creationId xmlns:a16="http://schemas.microsoft.com/office/drawing/2014/main" id="{4BBE308F-849D-47FC-9D3A-383312A89E81}"/>
              </a:ext>
            </a:extLst>
          </p:cNvPr>
          <p:cNvSpPr/>
          <p:nvPr/>
        </p:nvSpPr>
        <p:spPr>
          <a:xfrm>
            <a:off x="6765914" y="3011372"/>
            <a:ext cx="1696447" cy="313932"/>
          </a:xfrm>
          <a:prstGeom prst="rect">
            <a:avLst/>
          </a:prstGeom>
        </p:spPr>
        <p:txBody>
          <a:bodyPr vert="horz" wrap="square" lIns="91440" tIns="45720" rIns="91440" bIns="45720" numCol="1" anchor="t">
            <a:spAutoFit/>
          </a:bodyPr>
          <a:lstStyle/>
          <a:p>
            <a:pPr marL="177800" indent="-177800">
              <a:lnSpc>
                <a:spcPct val="90000"/>
              </a:lnSpc>
            </a:pPr>
            <a:r>
              <a:rPr lang="zh-CN" altLang="en-US" sz="1600" kern="0" dirty="0">
                <a:solidFill>
                  <a:srgbClr val="FFFF00"/>
                </a:solidFill>
                <a:latin typeface="隶书" panose="02010509060101010101" pitchFamily="49" charset="-122"/>
                <a:ea typeface="隶书" panose="02010509060101010101" pitchFamily="49" charset="-122"/>
              </a:rPr>
              <a:t> </a:t>
            </a:r>
            <a:r>
              <a:rPr lang="zh-CN" altLang="en-US" sz="1200" b="1" kern="0" dirty="0">
                <a:solidFill>
                  <a:srgbClr val="FFFF00"/>
                </a:solidFill>
                <a:latin typeface="微软雅黑" panose="020B0503020204020204" pitchFamily="34" charset="-122"/>
                <a:ea typeface="微软雅黑" panose="020B0503020204020204" pitchFamily="34" charset="-122"/>
              </a:rPr>
              <a:t>每曲线长度可不同</a:t>
            </a:r>
            <a:endParaRPr lang="ko-KR" altLang="en-US" sz="1200" b="1" cap="none"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389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animBg="1"/>
      <p:bldP spid="12" grpId="0" animBg="1"/>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396D1798-45B6-471B-9D43-904C7ECB8D35}"/>
              </a:ext>
            </a:extLst>
          </p:cNvPr>
          <p:cNvSpPr txBox="1"/>
          <p:nvPr/>
        </p:nvSpPr>
        <p:spPr>
          <a:xfrm>
            <a:off x="84273" y="2840730"/>
            <a:ext cx="9059727" cy="2214324"/>
          </a:xfrm>
          <a:prstGeom prst="rect">
            <a:avLst/>
          </a:prstGeom>
          <a:solidFill>
            <a:schemeClr val="bg1"/>
          </a:solidFill>
          <a:effectLst/>
        </p:spPr>
        <p:txBody>
          <a:bodyPr wrap="square">
            <a:spAutoFit/>
          </a:bodyPr>
          <a:lstStyle/>
          <a:p>
            <a:pPr>
              <a:lnSpc>
                <a:spcPts val="2400"/>
              </a:lnSpc>
            </a:pPr>
            <a:r>
              <a:rPr lang="en-US" altLang="zh-CN" sz="1600" dirty="0"/>
              <a:t>x=1:7;</a:t>
            </a:r>
          </a:p>
          <a:p>
            <a:pPr>
              <a:lnSpc>
                <a:spcPts val="2400"/>
              </a:lnSpc>
            </a:pPr>
            <a:r>
              <a:rPr lang="en-US" altLang="zh-CN" sz="1600" dirty="0"/>
              <a:t>y1=[8.82 7.91 6.74 5.82 4.62 3.92 2.84];#</a:t>
            </a:r>
            <a:r>
              <a:rPr lang="zh-CN" altLang="en-US" sz="1600" dirty="0"/>
              <a:t>早浓度</a:t>
            </a:r>
          </a:p>
          <a:p>
            <a:pPr>
              <a:lnSpc>
                <a:spcPts val="2400"/>
              </a:lnSpc>
            </a:pPr>
            <a:r>
              <a:rPr lang="en-US" altLang="zh-CN" sz="1600" dirty="0"/>
              <a:t>y2=[8.41 7.22 6.38 5.51 4.21 3.25 2.51];#</a:t>
            </a:r>
            <a:r>
              <a:rPr lang="zh-CN" altLang="en-US" sz="1600" dirty="0"/>
              <a:t>中浓度</a:t>
            </a:r>
          </a:p>
          <a:p>
            <a:pPr>
              <a:lnSpc>
                <a:spcPts val="2400"/>
              </a:lnSpc>
            </a:pPr>
            <a:r>
              <a:rPr lang="en-US" altLang="zh-CN" sz="1600" dirty="0"/>
              <a:t>y3=[8.23 7.04 6.02 5.21 4.01 3.01 2.24];#</a:t>
            </a:r>
            <a:r>
              <a:rPr lang="zh-CN" altLang="en-US" sz="1600" dirty="0"/>
              <a:t>晚浓度</a:t>
            </a:r>
          </a:p>
          <a:p>
            <a:pPr>
              <a:lnSpc>
                <a:spcPts val="2400"/>
              </a:lnSpc>
            </a:pPr>
            <a:r>
              <a:rPr lang="en-US" altLang="zh-CN" sz="1600" dirty="0"/>
              <a:t>plot(x,y1,"-rd",x,y2,"-bo",x,y3,"-g*");</a:t>
            </a:r>
          </a:p>
          <a:p>
            <a:pPr>
              <a:lnSpc>
                <a:spcPts val="2400"/>
              </a:lnSpc>
            </a:pPr>
            <a:r>
              <a:rPr lang="en-US" altLang="zh-CN" sz="1600" dirty="0" err="1"/>
              <a:t>xlabel</a:t>
            </a:r>
            <a:r>
              <a:rPr lang="en-US" altLang="zh-CN" sz="1600" dirty="0"/>
              <a:t>("</a:t>
            </a:r>
            <a:r>
              <a:rPr lang="zh-CN" altLang="en-US" sz="1600" dirty="0"/>
              <a:t>天</a:t>
            </a:r>
            <a:r>
              <a:rPr lang="en-US" altLang="zh-CN" sz="1600" dirty="0"/>
              <a:t>");</a:t>
            </a:r>
            <a:r>
              <a:rPr lang="en-US" altLang="zh-CN" sz="1600" dirty="0" err="1"/>
              <a:t>ylabel</a:t>
            </a:r>
            <a:r>
              <a:rPr lang="en-US" altLang="zh-CN" sz="1600" dirty="0"/>
              <a:t>("</a:t>
            </a:r>
            <a:r>
              <a:rPr lang="zh-CN" altLang="en-US" sz="1600" dirty="0"/>
              <a:t>浓度</a:t>
            </a:r>
            <a:r>
              <a:rPr lang="en-US" altLang="zh-CN" sz="1600" dirty="0"/>
              <a:t>")</a:t>
            </a:r>
          </a:p>
          <a:p>
            <a:pPr>
              <a:lnSpc>
                <a:spcPts val="2400"/>
              </a:lnSpc>
            </a:pPr>
            <a:r>
              <a:rPr lang="en-US" altLang="zh-CN" sz="1600" dirty="0"/>
              <a:t>legend("</a:t>
            </a:r>
            <a:r>
              <a:rPr lang="zh-CN" altLang="en-US" sz="1600" dirty="0"/>
              <a:t>早</a:t>
            </a:r>
            <a:r>
              <a:rPr lang="en-US" altLang="zh-CN" sz="1600" dirty="0"/>
              <a:t>","</a:t>
            </a:r>
            <a:r>
              <a:rPr lang="zh-CN" altLang="en-US" sz="1600" dirty="0"/>
              <a:t>中</a:t>
            </a:r>
            <a:r>
              <a:rPr lang="en-US" altLang="zh-CN" sz="1600" dirty="0"/>
              <a:t>","</a:t>
            </a:r>
            <a:r>
              <a:rPr lang="zh-CN" altLang="en-US" sz="1600" dirty="0"/>
              <a:t>晚</a:t>
            </a:r>
            <a:r>
              <a:rPr lang="en-US" altLang="zh-CN" sz="1600" dirty="0"/>
              <a:t>")</a:t>
            </a:r>
          </a:p>
        </p:txBody>
      </p:sp>
      <p:graphicFrame>
        <p:nvGraphicFramePr>
          <p:cNvPr id="4" name="表格 12">
            <a:extLst>
              <a:ext uri="{FF2B5EF4-FFF2-40B4-BE49-F238E27FC236}">
                <a16:creationId xmlns:a16="http://schemas.microsoft.com/office/drawing/2014/main" id="{7938BDBC-CB77-4D50-BADD-1958343671F3}"/>
              </a:ext>
            </a:extLst>
          </p:cNvPr>
          <p:cNvGraphicFramePr>
            <a:graphicFrameLocks noGrp="1"/>
          </p:cNvGraphicFramePr>
          <p:nvPr>
            <p:extLst>
              <p:ext uri="{D42A27DB-BD31-4B8C-83A1-F6EECF244321}">
                <p14:modId xmlns:p14="http://schemas.microsoft.com/office/powerpoint/2010/main" val="1092481168"/>
              </p:ext>
            </p:extLst>
          </p:nvPr>
        </p:nvGraphicFramePr>
        <p:xfrm>
          <a:off x="135687" y="1419622"/>
          <a:ext cx="8900810" cy="1361636"/>
        </p:xfrm>
        <a:graphic>
          <a:graphicData uri="http://schemas.openxmlformats.org/drawingml/2006/table">
            <a:tbl>
              <a:tblPr firstRow="1" bandRow="1">
                <a:tableStyleId>{5C22544A-7EE6-4342-B048-85BDC9FD1C3A}</a:tableStyleId>
              </a:tblPr>
              <a:tblGrid>
                <a:gridCol w="1228289">
                  <a:extLst>
                    <a:ext uri="{9D8B030D-6E8A-4147-A177-3AD203B41FA5}">
                      <a16:colId xmlns:a16="http://schemas.microsoft.com/office/drawing/2014/main" val="541699250"/>
                    </a:ext>
                  </a:extLst>
                </a:gridCol>
                <a:gridCol w="996913">
                  <a:extLst>
                    <a:ext uri="{9D8B030D-6E8A-4147-A177-3AD203B41FA5}">
                      <a16:colId xmlns:a16="http://schemas.microsoft.com/office/drawing/2014/main" val="1155264031"/>
                    </a:ext>
                  </a:extLst>
                </a:gridCol>
                <a:gridCol w="902966">
                  <a:extLst>
                    <a:ext uri="{9D8B030D-6E8A-4147-A177-3AD203B41FA5}">
                      <a16:colId xmlns:a16="http://schemas.microsoft.com/office/drawing/2014/main" val="1068678342"/>
                    </a:ext>
                  </a:extLst>
                </a:gridCol>
                <a:gridCol w="982695">
                  <a:extLst>
                    <a:ext uri="{9D8B030D-6E8A-4147-A177-3AD203B41FA5}">
                      <a16:colId xmlns:a16="http://schemas.microsoft.com/office/drawing/2014/main" val="1662740188"/>
                    </a:ext>
                  </a:extLst>
                </a:gridCol>
                <a:gridCol w="1146479">
                  <a:extLst>
                    <a:ext uri="{9D8B030D-6E8A-4147-A177-3AD203B41FA5}">
                      <a16:colId xmlns:a16="http://schemas.microsoft.com/office/drawing/2014/main" val="3934056993"/>
                    </a:ext>
                  </a:extLst>
                </a:gridCol>
                <a:gridCol w="1080966">
                  <a:extLst>
                    <a:ext uri="{9D8B030D-6E8A-4147-A177-3AD203B41FA5}">
                      <a16:colId xmlns:a16="http://schemas.microsoft.com/office/drawing/2014/main" val="2950420248"/>
                    </a:ext>
                  </a:extLst>
                </a:gridCol>
                <a:gridCol w="1048210">
                  <a:extLst>
                    <a:ext uri="{9D8B030D-6E8A-4147-A177-3AD203B41FA5}">
                      <a16:colId xmlns:a16="http://schemas.microsoft.com/office/drawing/2014/main" val="347168986"/>
                    </a:ext>
                  </a:extLst>
                </a:gridCol>
                <a:gridCol w="1514292">
                  <a:extLst>
                    <a:ext uri="{9D8B030D-6E8A-4147-A177-3AD203B41FA5}">
                      <a16:colId xmlns:a16="http://schemas.microsoft.com/office/drawing/2014/main" val="871629726"/>
                    </a:ext>
                  </a:extLst>
                </a:gridCol>
              </a:tblGrid>
              <a:tr h="361250">
                <a:tc>
                  <a:txBody>
                    <a:bodyPr/>
                    <a:lstStyle/>
                    <a:p>
                      <a:pPr algn="ctr"/>
                      <a:r>
                        <a:rPr lang="zh-CN" altLang="en-US" sz="1400" dirty="0"/>
                        <a:t>时间</a:t>
                      </a:r>
                      <a:r>
                        <a:rPr lang="en-US" altLang="zh-CN" sz="1400" dirty="0"/>
                        <a:t>(</a:t>
                      </a:r>
                      <a:r>
                        <a:rPr lang="zh-CN" altLang="en-US" sz="1400" dirty="0"/>
                        <a:t>天</a:t>
                      </a:r>
                      <a:r>
                        <a:rPr lang="en-US" altLang="zh-CN" sz="1400" dirty="0"/>
                        <a:t>)</a:t>
                      </a:r>
                      <a:r>
                        <a:rPr lang="en-US" altLang="zh-CN" sz="1400" dirty="0">
                          <a:solidFill>
                            <a:srgbClr val="FFFF00"/>
                          </a:solidFill>
                          <a:latin typeface="微软雅黑" panose="020B0503020204020204" pitchFamily="34" charset="-122"/>
                          <a:ea typeface="微软雅黑" panose="020B0503020204020204" pitchFamily="34" charset="-122"/>
                        </a:rPr>
                        <a:t>x</a:t>
                      </a:r>
                      <a:endParaRPr lang="zh-CN" altLang="en-US" sz="1400" dirty="0">
                        <a:solidFill>
                          <a:srgbClr val="FFFF00"/>
                        </a:solidFill>
                        <a:latin typeface="微软雅黑" panose="020B0503020204020204" pitchFamily="34" charset="-122"/>
                        <a:ea typeface="微软雅黑" panose="020B0503020204020204" pitchFamily="34" charset="-122"/>
                      </a:endParaRPr>
                    </a:p>
                  </a:txBody>
                  <a:tcPr>
                    <a:solidFill>
                      <a:srgbClr val="0070C0"/>
                    </a:solidFill>
                  </a:tcPr>
                </a:tc>
                <a:tc>
                  <a:txBody>
                    <a:bodyPr/>
                    <a:lstStyle/>
                    <a:p>
                      <a:pPr algn="ctr"/>
                      <a:r>
                        <a:rPr lang="en-US" altLang="zh-CN" sz="1400" dirty="0"/>
                        <a:t>8</a:t>
                      </a:r>
                      <a:r>
                        <a:rPr lang="zh-CN" altLang="en-US" sz="1400" dirty="0"/>
                        <a:t>月</a:t>
                      </a:r>
                      <a:r>
                        <a:rPr lang="en-US" altLang="zh-CN" sz="1400" dirty="0"/>
                        <a:t>1</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2</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3</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4</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5</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6</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7</a:t>
                      </a:r>
                      <a:r>
                        <a:rPr lang="zh-CN" altLang="en-US" sz="1400" dirty="0"/>
                        <a:t>日</a:t>
                      </a:r>
                    </a:p>
                  </a:txBody>
                  <a:tcPr>
                    <a:solidFill>
                      <a:srgbClr val="0070C0"/>
                    </a:solidFill>
                  </a:tcPr>
                </a:tc>
                <a:extLst>
                  <a:ext uri="{0D108BD9-81ED-4DB2-BD59-A6C34878D82A}">
                    <a16:rowId xmlns:a16="http://schemas.microsoft.com/office/drawing/2014/main" val="3826039287"/>
                  </a:ext>
                </a:extLst>
              </a:tr>
              <a:tr h="333462">
                <a:tc>
                  <a:txBody>
                    <a:bodyPr/>
                    <a:lstStyle/>
                    <a:p>
                      <a:pPr algn="ctr"/>
                      <a:r>
                        <a:rPr lang="zh-CN" altLang="en-US" sz="1400" b="1" kern="0" dirty="0">
                          <a:solidFill>
                            <a:schemeClr val="accent1">
                              <a:lumMod val="10000"/>
                            </a:schemeClr>
                          </a:solidFill>
                          <a:latin typeface="微软雅黑" panose="020B0503020204020204" pitchFamily="34" charset="-122"/>
                          <a:ea typeface="微软雅黑" panose="020B0503020204020204" pitchFamily="34" charset="-122"/>
                          <a:cs typeface="+mn-cs"/>
                        </a:rPr>
                        <a:t>早</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y1</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400" dirty="0">
                          <a:solidFill>
                            <a:schemeClr val="accent1">
                              <a:lumMod val="10000"/>
                            </a:schemeClr>
                          </a:solidFill>
                        </a:rPr>
                        <a:t>8.82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7.91</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6.74</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5.82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4.62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3.92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2.84</a:t>
                      </a:r>
                      <a:endParaRPr lang="zh-CN" altLang="en-US" sz="1400" dirty="0">
                        <a:solidFill>
                          <a:schemeClr val="accent1">
                            <a:lumMod val="10000"/>
                          </a:schemeClr>
                        </a:solidFill>
                      </a:endParaRPr>
                    </a:p>
                  </a:txBody>
                  <a:tcPr/>
                </a:tc>
                <a:extLst>
                  <a:ext uri="{0D108BD9-81ED-4DB2-BD59-A6C34878D82A}">
                    <a16:rowId xmlns:a16="http://schemas.microsoft.com/office/drawing/2014/main" val="3194453009"/>
                  </a:ext>
                </a:extLst>
              </a:tr>
              <a:tr h="333462">
                <a:tc>
                  <a:txBody>
                    <a:bodyPr/>
                    <a:lstStyle/>
                    <a:p>
                      <a:pPr algn="ctr"/>
                      <a:r>
                        <a:rPr lang="zh-CN" altLang="en-US" sz="1400" dirty="0">
                          <a:solidFill>
                            <a:schemeClr val="accent1">
                              <a:lumMod val="10000"/>
                            </a:schemeClr>
                          </a:solidFill>
                        </a:rPr>
                        <a:t>中</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y2</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8.41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7.22</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6.38</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5.51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4.21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3.25</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2.51</a:t>
                      </a:r>
                      <a:endParaRPr lang="zh-CN" altLang="en-US" sz="1400" dirty="0">
                        <a:solidFill>
                          <a:schemeClr val="accent1">
                            <a:lumMod val="10000"/>
                          </a:schemeClr>
                        </a:solidFill>
                      </a:endParaRPr>
                    </a:p>
                  </a:txBody>
                  <a:tcPr/>
                </a:tc>
                <a:extLst>
                  <a:ext uri="{0D108BD9-81ED-4DB2-BD59-A6C34878D82A}">
                    <a16:rowId xmlns:a16="http://schemas.microsoft.com/office/drawing/2014/main" val="3103778959"/>
                  </a:ext>
                </a:extLst>
              </a:tr>
              <a:tr h="333462">
                <a:tc>
                  <a:txBody>
                    <a:bodyPr/>
                    <a:lstStyle/>
                    <a:p>
                      <a:pPr algn="ctr"/>
                      <a:r>
                        <a:rPr lang="zh-CN" altLang="en-US" sz="1400" dirty="0">
                          <a:solidFill>
                            <a:schemeClr val="accent1">
                              <a:lumMod val="10000"/>
                            </a:schemeClr>
                          </a:solidFill>
                        </a:rPr>
                        <a:t>晚</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y3</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8.23</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7.04</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6.02</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5.21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4.01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3.01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2.24</a:t>
                      </a:r>
                      <a:endParaRPr lang="zh-CN" altLang="en-US" sz="1400" dirty="0">
                        <a:solidFill>
                          <a:schemeClr val="accent1">
                            <a:lumMod val="10000"/>
                          </a:schemeClr>
                        </a:solidFill>
                      </a:endParaRPr>
                    </a:p>
                  </a:txBody>
                  <a:tcPr/>
                </a:tc>
                <a:extLst>
                  <a:ext uri="{0D108BD9-81ED-4DB2-BD59-A6C34878D82A}">
                    <a16:rowId xmlns:a16="http://schemas.microsoft.com/office/drawing/2014/main" val="272027335"/>
                  </a:ext>
                </a:extLst>
              </a:tr>
            </a:tbl>
          </a:graphicData>
        </a:graphic>
      </p:graphicFrame>
      <p:sp>
        <p:nvSpPr>
          <p:cNvPr id="5" name="矩形 4">
            <a:extLst>
              <a:ext uri="{FF2B5EF4-FFF2-40B4-BE49-F238E27FC236}">
                <a16:creationId xmlns:a16="http://schemas.microsoft.com/office/drawing/2014/main" id="{972BA24B-FA8D-4428-979C-1B362C0CC505}"/>
              </a:ext>
            </a:extLst>
          </p:cNvPr>
          <p:cNvSpPr/>
          <p:nvPr/>
        </p:nvSpPr>
        <p:spPr>
          <a:xfrm>
            <a:off x="539552" y="992127"/>
            <a:ext cx="8547132" cy="400110"/>
          </a:xfrm>
          <a:prstGeom prst="rect">
            <a:avLst/>
          </a:prstGeom>
          <a:noFill/>
        </p:spPr>
        <p:txBody>
          <a:bodyPr wrap="square">
            <a:spAutoFit/>
          </a:bodyPr>
          <a:lstStyle/>
          <a:p>
            <a:pPr algn="dist"/>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cs typeface="Times New Roman" panose="02020603050405020304" pitchFamily="18" charset="0"/>
              </a:rPr>
              <a:t>连续测量</a:t>
            </a:r>
            <a:r>
              <a:rPr lang="en-US" altLang="zh-CN" sz="2000" dirty="0">
                <a:solidFill>
                  <a:schemeClr val="bg1"/>
                </a:solidFill>
                <a:highlight>
                  <a:srgbClr val="003B76"/>
                </a:highlight>
                <a:latin typeface="华文楷体" panose="02010600040101010101" pitchFamily="2" charset="-122"/>
                <a:ea typeface="华文楷体" panose="02010600040101010101" pitchFamily="2" charset="-122"/>
                <a:cs typeface="Times New Roman" panose="02020603050405020304" pitchFamily="18" charset="0"/>
              </a:rPr>
              <a:t>7</a:t>
            </a:r>
            <a:r>
              <a:rPr lang="zh-CN" altLang="en-US" sz="2000" dirty="0">
                <a:solidFill>
                  <a:schemeClr val="bg1"/>
                </a:solidFill>
                <a:highlight>
                  <a:srgbClr val="003B76"/>
                </a:highlight>
                <a:latin typeface="华文楷体" panose="02010600040101010101" pitchFamily="2" charset="-122"/>
                <a:ea typeface="华文楷体" panose="02010600040101010101" pitchFamily="2" charset="-122"/>
                <a:cs typeface="Times New Roman" panose="02020603050405020304" pitchFamily="18" charset="0"/>
              </a:rPr>
              <a:t>天液体浓度，每天重复三次，分别绘制三次浓度随时间变化曲线</a:t>
            </a:r>
          </a:p>
        </p:txBody>
      </p:sp>
      <p:sp>
        <p:nvSpPr>
          <p:cNvPr id="6" name="矩形 5">
            <a:extLst>
              <a:ext uri="{FF2B5EF4-FFF2-40B4-BE49-F238E27FC236}">
                <a16:creationId xmlns:a16="http://schemas.microsoft.com/office/drawing/2014/main" id="{2282AC08-56A6-4393-8C36-9F4B188EE027}"/>
              </a:ext>
            </a:extLst>
          </p:cNvPr>
          <p:cNvSpPr/>
          <p:nvPr/>
        </p:nvSpPr>
        <p:spPr>
          <a:xfrm>
            <a:off x="210888" y="678074"/>
            <a:ext cx="8750407" cy="338554"/>
          </a:xfrm>
          <a:prstGeom prst="rect">
            <a:avLst/>
          </a:prstGeom>
          <a:solidFill>
            <a:schemeClr val="bg1"/>
          </a:solidFill>
        </p:spPr>
        <p:txBody>
          <a:bodyPr wrap="square">
            <a:spAutoFit/>
          </a:bodyPr>
          <a:lstStyle/>
          <a:p>
            <a:pPr algn="dist"/>
            <a:r>
              <a:rPr lang="zh-CN" altLang="en-US" sz="1600" dirty="0">
                <a:solidFill>
                  <a:srgbClr val="0070C0"/>
                </a:solidFill>
                <a:latin typeface="微软雅黑" panose="020B0503020204020204" pitchFamily="34" charset="-122"/>
                <a:ea typeface="微软雅黑" panose="020B0503020204020204" pitchFamily="34" charset="-122"/>
              </a:rPr>
              <a:t>科研过程中往往通过多次重复试验的方法来提高试验结果的准确性</a:t>
            </a:r>
          </a:p>
        </p:txBody>
      </p:sp>
      <p:sp>
        <p:nvSpPr>
          <p:cNvPr id="8" name="波形 7">
            <a:extLst>
              <a:ext uri="{FF2B5EF4-FFF2-40B4-BE49-F238E27FC236}">
                <a16:creationId xmlns:a16="http://schemas.microsoft.com/office/drawing/2014/main" id="{3EEDE283-461A-4858-9A6E-558E1719B533}"/>
              </a:ext>
            </a:extLst>
          </p:cNvPr>
          <p:cNvSpPr/>
          <p:nvPr/>
        </p:nvSpPr>
        <p:spPr>
          <a:xfrm>
            <a:off x="109974" y="958112"/>
            <a:ext cx="489965" cy="493074"/>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例2</a:t>
            </a:r>
            <a:endParaRPr lang="ko-KR" altLang="en-US" sz="1600" b="1" dirty="0">
              <a:solidFill>
                <a:srgbClr val="FFFF00"/>
              </a:solidFill>
              <a:latin typeface="微软雅黑" panose="020B0503020204020204" charset="-122"/>
              <a:ea typeface="微软雅黑" panose="020B0503020204020204" charset="-122"/>
            </a:endParaRPr>
          </a:p>
        </p:txBody>
      </p:sp>
      <p:sp>
        <p:nvSpPr>
          <p:cNvPr id="10" name="AutoShape 13">
            <a:extLst>
              <a:ext uri="{FF2B5EF4-FFF2-40B4-BE49-F238E27FC236}">
                <a16:creationId xmlns:a16="http://schemas.microsoft.com/office/drawing/2014/main" id="{08D41C63-4ACB-4C7F-9106-8A3EB511CA57}"/>
              </a:ext>
            </a:extLst>
          </p:cNvPr>
          <p:cNvSpPr/>
          <p:nvPr/>
        </p:nvSpPr>
        <p:spPr bwMode="auto">
          <a:xfrm>
            <a:off x="2689974" y="4539005"/>
            <a:ext cx="1233954" cy="459748"/>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l" defTabSz="914400" eaLnBrk="0" fontAlgn="base" latinLnBrk="0">
              <a:lnSpc>
                <a:spcPct val="150000"/>
              </a:lnSpc>
              <a:spcBef>
                <a:spcPts val="0"/>
              </a:spcBef>
              <a:spcAft>
                <a:spcPts val="0"/>
              </a:spcAft>
              <a:buFontTx/>
              <a:buNone/>
            </a:pPr>
            <a:r>
              <a:rPr lang="zh-CN" altLang="en-US" sz="1600" dirty="0">
                <a:solidFill>
                  <a:schemeClr val="bg1"/>
                </a:solidFill>
                <a:latin typeface="Arial" panose="020B0604020202020204" pitchFamily="34" charset="0"/>
                <a:ea typeface="Arial" panose="020B0604020202020204" pitchFamily="34" charset="0"/>
              </a:rPr>
              <a:t>注意</a:t>
            </a:r>
            <a:endParaRPr lang="ko-KR" altLang="en-US" sz="1600" b="0" cap="none" dirty="0">
              <a:solidFill>
                <a:schemeClr val="bg1"/>
              </a:solidFill>
              <a:latin typeface="Arial" panose="020B0604020202020204" pitchFamily="34" charset="0"/>
              <a:ea typeface="Arial" panose="020B0604020202020204" pitchFamily="34" charset="0"/>
            </a:endParaRPr>
          </a:p>
        </p:txBody>
      </p:sp>
      <p:sp>
        <p:nvSpPr>
          <p:cNvPr id="11" name="矩形 10">
            <a:extLst>
              <a:ext uri="{FF2B5EF4-FFF2-40B4-BE49-F238E27FC236}">
                <a16:creationId xmlns:a16="http://schemas.microsoft.com/office/drawing/2014/main" id="{71998103-132F-43A2-8CBA-ED689F0DF1F1}"/>
              </a:ext>
            </a:extLst>
          </p:cNvPr>
          <p:cNvSpPr/>
          <p:nvPr/>
        </p:nvSpPr>
        <p:spPr>
          <a:xfrm rot="20984705">
            <a:off x="3829528" y="4266427"/>
            <a:ext cx="2258890" cy="535531"/>
          </a:xfrm>
          <a:prstGeom prst="rect">
            <a:avLst/>
          </a:prstGeom>
        </p:spPr>
        <p:txBody>
          <a:bodyPr vert="horz" wrap="square" lIns="91440" tIns="45720" rIns="91440" bIns="45720" numCol="1" anchor="t">
            <a:spAutoFit/>
          </a:bodyPr>
          <a:lstStyle/>
          <a:p>
            <a:pPr marL="177800" indent="-177800">
              <a:lnSpc>
                <a:spcPct val="90000"/>
              </a:lnSpc>
            </a:pPr>
            <a:r>
              <a:rPr lang="zh-CN" altLang="en-US" sz="1600" kern="0" dirty="0">
                <a:solidFill>
                  <a:srgbClr val="FF0000"/>
                </a:solidFill>
                <a:latin typeface="隶书" panose="02010509060101010101" pitchFamily="49" charset="-122"/>
                <a:ea typeface="隶书" panose="02010509060101010101" pitchFamily="49" charset="-122"/>
              </a:rPr>
              <a:t>  实验存在误差        </a:t>
            </a:r>
            <a:endParaRPr lang="en-US" altLang="zh-CN" sz="1600" kern="0" dirty="0">
              <a:solidFill>
                <a:srgbClr val="FF0000"/>
              </a:solidFill>
              <a:latin typeface="隶书" panose="02010509060101010101" pitchFamily="49" charset="-122"/>
              <a:ea typeface="隶书" panose="02010509060101010101" pitchFamily="49" charset="-122"/>
            </a:endParaRPr>
          </a:p>
          <a:p>
            <a:pPr marL="177800" indent="-177800">
              <a:lnSpc>
                <a:spcPct val="90000"/>
              </a:lnSpc>
            </a:pPr>
            <a:r>
              <a:rPr lang="zh-CN" altLang="en-US" sz="1600" kern="0" dirty="0">
                <a:solidFill>
                  <a:srgbClr val="FF0000"/>
                </a:solidFill>
                <a:latin typeface="隶书" panose="02010509060101010101" pitchFamily="49" charset="-122"/>
                <a:ea typeface="隶书" panose="02010509060101010101" pitchFamily="49" charset="-122"/>
              </a:rPr>
              <a:t>故要重复三次以上</a:t>
            </a:r>
            <a:endParaRPr lang="ko-KR" altLang="en-US" sz="1600" cap="none" dirty="0">
              <a:solidFill>
                <a:srgbClr val="FF0000"/>
              </a:solidFill>
              <a:latin typeface="隶书" panose="02010509060101010101" pitchFamily="49" charset="-122"/>
              <a:ea typeface="微软雅黑" panose="020B0503020204020204" pitchFamily="34" charset="-122"/>
            </a:endParaRPr>
          </a:p>
        </p:txBody>
      </p:sp>
      <p:sp>
        <p:nvSpPr>
          <p:cNvPr id="12" name="Rectangle 2">
            <a:extLst>
              <a:ext uri="{FF2B5EF4-FFF2-40B4-BE49-F238E27FC236}">
                <a16:creationId xmlns:a16="http://schemas.microsoft.com/office/drawing/2014/main" id="{8CBCE950-18A9-402D-B369-E0D69161938E}"/>
              </a:ext>
            </a:extLst>
          </p:cNvPr>
          <p:cNvSpPr txBox="1">
            <a:spLocks noChangeArrowheads="1"/>
          </p:cNvSpPr>
          <p:nvPr/>
        </p:nvSpPr>
        <p:spPr bwMode="auto">
          <a:xfrm>
            <a:off x="84273" y="113561"/>
            <a:ext cx="8857911" cy="514023"/>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just" eaLnBrk="1" hangingPunct="1"/>
            <a:endPar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a:p>
            <a:pPr algn="just" eaLnBrk="1" hangingPunct="1"/>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a:t>
            </a:r>
            <a:r>
              <a:rPr lang="en-US" altLang="zh-CN" sz="2600" kern="0" dirty="0">
                <a:solidFill>
                  <a:srgbClr val="002060"/>
                </a:solidFill>
                <a:latin typeface="华文楷体" panose="02010600040101010101" pitchFamily="2" charset="-122"/>
                <a:ea typeface="华文楷体" panose="02010600040101010101" pitchFamily="2" charset="-122"/>
              </a:rPr>
              <a:t>3.3.1 plot</a:t>
            </a:r>
            <a:r>
              <a:rPr lang="zh-CN" altLang="en-US" sz="2600" kern="0" dirty="0">
                <a:solidFill>
                  <a:srgbClr val="002060"/>
                </a:solidFill>
                <a:latin typeface="华文楷体" panose="02010600040101010101" pitchFamily="2" charset="-122"/>
                <a:ea typeface="华文楷体" panose="02010600040101010101" pitchFamily="2" charset="-122"/>
              </a:rPr>
              <a:t>绘制多条曲线</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输入多对向量的多条曲线案例</a:t>
            </a:r>
            <a:b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br>
            <a:endParaRPr lang="zh-CN" altLang="en-US"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sp>
        <p:nvSpPr>
          <p:cNvPr id="13" name="矩形: 圆角 12">
            <a:extLst>
              <a:ext uri="{FF2B5EF4-FFF2-40B4-BE49-F238E27FC236}">
                <a16:creationId xmlns:a16="http://schemas.microsoft.com/office/drawing/2014/main" id="{B8C9D3E8-4E31-445D-B2EA-7BB1C0A84839}"/>
              </a:ext>
            </a:extLst>
          </p:cNvPr>
          <p:cNvSpPr/>
          <p:nvPr/>
        </p:nvSpPr>
        <p:spPr bwMode="auto">
          <a:xfrm>
            <a:off x="1403647" y="1782361"/>
            <a:ext cx="7604665" cy="998897"/>
          </a:xfrm>
          <a:prstGeom prst="roundRect">
            <a:avLst/>
          </a:prstGeom>
          <a:noFill/>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7" name="矩形 16">
            <a:extLst>
              <a:ext uri="{FF2B5EF4-FFF2-40B4-BE49-F238E27FC236}">
                <a16:creationId xmlns:a16="http://schemas.microsoft.com/office/drawing/2014/main" id="{1F9B923E-2BA0-4572-9787-23C1E42B740D}"/>
              </a:ext>
            </a:extLst>
          </p:cNvPr>
          <p:cNvSpPr/>
          <p:nvPr/>
        </p:nvSpPr>
        <p:spPr>
          <a:xfrm>
            <a:off x="2336916" y="2116218"/>
            <a:ext cx="2235084"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s-E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plot(x,y1,</a:t>
            </a:r>
            <a:r>
              <a:rPr lang="en-U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x,y2,x,y3</a:t>
            </a:r>
            <a:r>
              <a:rPr lang="es-E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endParaRPr lang="en-U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pic>
        <p:nvPicPr>
          <p:cNvPr id="9" name="图片 8">
            <a:extLst>
              <a:ext uri="{FF2B5EF4-FFF2-40B4-BE49-F238E27FC236}">
                <a16:creationId xmlns:a16="http://schemas.microsoft.com/office/drawing/2014/main" id="{7149098F-C25B-4169-ABF8-64C286AF09F6}"/>
              </a:ext>
            </a:extLst>
          </p:cNvPr>
          <p:cNvPicPr>
            <a:picLocks noChangeAspect="1"/>
          </p:cNvPicPr>
          <p:nvPr/>
        </p:nvPicPr>
        <p:blipFill>
          <a:blip r:embed="rId3"/>
          <a:stretch>
            <a:fillRect/>
          </a:stretch>
        </p:blipFill>
        <p:spPr>
          <a:xfrm>
            <a:off x="6161305" y="3084711"/>
            <a:ext cx="2819167" cy="1684168"/>
          </a:xfrm>
          <a:prstGeom prst="rect">
            <a:avLst/>
          </a:prstGeom>
        </p:spPr>
      </p:pic>
      <p:sp>
        <p:nvSpPr>
          <p:cNvPr id="15" name="AutoShape 13">
            <a:extLst>
              <a:ext uri="{FF2B5EF4-FFF2-40B4-BE49-F238E27FC236}">
                <a16:creationId xmlns:a16="http://schemas.microsoft.com/office/drawing/2014/main" id="{1CA6810E-3201-4B5F-AE60-EE3E44A1B26C}"/>
              </a:ext>
            </a:extLst>
          </p:cNvPr>
          <p:cNvSpPr/>
          <p:nvPr/>
        </p:nvSpPr>
        <p:spPr bwMode="auto">
          <a:xfrm>
            <a:off x="6519862" y="2890456"/>
            <a:ext cx="2448272" cy="54307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l" defTabSz="914400" eaLnBrk="0" fontAlgn="base" latinLnBrk="0">
              <a:lnSpc>
                <a:spcPct val="150000"/>
              </a:lnSpc>
              <a:spcBef>
                <a:spcPts val="0"/>
              </a:spcBef>
              <a:spcAft>
                <a:spcPts val="0"/>
              </a:spcAft>
              <a:buFontTx/>
              <a:buNone/>
            </a:pPr>
            <a:r>
              <a:rPr lang="en-US" altLang="ko-KR" sz="1600" b="0" cap="none" dirty="0" err="1">
                <a:latin typeface="Arial" panose="020B0604020202020204" pitchFamily="34" charset="0"/>
                <a:ea typeface="Arial" panose="020B0604020202020204" pitchFamily="34" charset="0"/>
              </a:rPr>
              <a:t>shi</a:t>
            </a:r>
            <a:endParaRPr lang="ko-KR" altLang="en-US" sz="1600" b="0" cap="none" dirty="0">
              <a:latin typeface="Arial" panose="020B0604020202020204" pitchFamily="34" charset="0"/>
              <a:ea typeface="Arial" panose="020B0604020202020204" pitchFamily="34" charset="0"/>
            </a:endParaRPr>
          </a:p>
        </p:txBody>
      </p:sp>
      <p:sp>
        <p:nvSpPr>
          <p:cNvPr id="16" name="矩形 15">
            <a:extLst>
              <a:ext uri="{FF2B5EF4-FFF2-40B4-BE49-F238E27FC236}">
                <a16:creationId xmlns:a16="http://schemas.microsoft.com/office/drawing/2014/main" id="{39C64587-9A80-4734-9B5B-D970E4C9CEC0}"/>
              </a:ext>
            </a:extLst>
          </p:cNvPr>
          <p:cNvSpPr/>
          <p:nvPr/>
        </p:nvSpPr>
        <p:spPr>
          <a:xfrm>
            <a:off x="6765914" y="3011372"/>
            <a:ext cx="1696447" cy="313932"/>
          </a:xfrm>
          <a:prstGeom prst="rect">
            <a:avLst/>
          </a:prstGeom>
        </p:spPr>
        <p:txBody>
          <a:bodyPr vert="horz" wrap="square" lIns="91440" tIns="45720" rIns="91440" bIns="45720" numCol="1" anchor="t">
            <a:spAutoFit/>
          </a:bodyPr>
          <a:lstStyle/>
          <a:p>
            <a:pPr marL="177800" indent="-177800">
              <a:lnSpc>
                <a:spcPct val="90000"/>
              </a:lnSpc>
            </a:pPr>
            <a:r>
              <a:rPr lang="zh-CN" altLang="en-US" sz="1600" kern="0" dirty="0">
                <a:solidFill>
                  <a:srgbClr val="FFFF00"/>
                </a:solidFill>
                <a:latin typeface="隶书" panose="02010509060101010101" pitchFamily="49" charset="-122"/>
                <a:ea typeface="隶书" panose="02010509060101010101" pitchFamily="49" charset="-122"/>
              </a:rPr>
              <a:t> </a:t>
            </a:r>
            <a:r>
              <a:rPr lang="zh-CN" altLang="en-US" sz="1200" b="1" kern="0" dirty="0">
                <a:solidFill>
                  <a:srgbClr val="FFFF00"/>
                </a:solidFill>
                <a:latin typeface="微软雅黑" panose="020B0503020204020204" pitchFamily="34" charset="-122"/>
                <a:ea typeface="微软雅黑" panose="020B0503020204020204" pitchFamily="34" charset="-122"/>
              </a:rPr>
              <a:t>每曲线长度相同时</a:t>
            </a:r>
            <a:endParaRPr lang="ko-KR" altLang="en-US" sz="1200" b="1" cap="none"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734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5"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12">
            <a:extLst>
              <a:ext uri="{FF2B5EF4-FFF2-40B4-BE49-F238E27FC236}">
                <a16:creationId xmlns:a16="http://schemas.microsoft.com/office/drawing/2014/main" id="{76AC4DFC-D4A0-41A0-9FC8-D4F20546A5D0}"/>
              </a:ext>
            </a:extLst>
          </p:cNvPr>
          <p:cNvGraphicFramePr>
            <a:graphicFrameLocks noGrp="1"/>
          </p:cNvGraphicFramePr>
          <p:nvPr>
            <p:extLst>
              <p:ext uri="{D42A27DB-BD31-4B8C-83A1-F6EECF244321}">
                <p14:modId xmlns:p14="http://schemas.microsoft.com/office/powerpoint/2010/main" val="1316209221"/>
              </p:ext>
            </p:extLst>
          </p:nvPr>
        </p:nvGraphicFramePr>
        <p:xfrm>
          <a:off x="725384" y="1065520"/>
          <a:ext cx="8297021" cy="1317068"/>
        </p:xfrm>
        <a:graphic>
          <a:graphicData uri="http://schemas.openxmlformats.org/drawingml/2006/table">
            <a:tbl>
              <a:tblPr firstRow="1" bandRow="1">
                <a:tableStyleId>{5C22544A-7EE6-4342-B048-85BDC9FD1C3A}</a:tableStyleId>
              </a:tblPr>
              <a:tblGrid>
                <a:gridCol w="1144968">
                  <a:extLst>
                    <a:ext uri="{9D8B030D-6E8A-4147-A177-3AD203B41FA5}">
                      <a16:colId xmlns:a16="http://schemas.microsoft.com/office/drawing/2014/main" val="541699250"/>
                    </a:ext>
                  </a:extLst>
                </a:gridCol>
                <a:gridCol w="929287">
                  <a:extLst>
                    <a:ext uri="{9D8B030D-6E8A-4147-A177-3AD203B41FA5}">
                      <a16:colId xmlns:a16="http://schemas.microsoft.com/office/drawing/2014/main" val="1155264031"/>
                    </a:ext>
                  </a:extLst>
                </a:gridCol>
                <a:gridCol w="841713">
                  <a:extLst>
                    <a:ext uri="{9D8B030D-6E8A-4147-A177-3AD203B41FA5}">
                      <a16:colId xmlns:a16="http://schemas.microsoft.com/office/drawing/2014/main" val="1068678342"/>
                    </a:ext>
                  </a:extLst>
                </a:gridCol>
                <a:gridCol w="916034">
                  <a:extLst>
                    <a:ext uri="{9D8B030D-6E8A-4147-A177-3AD203B41FA5}">
                      <a16:colId xmlns:a16="http://schemas.microsoft.com/office/drawing/2014/main" val="1662740188"/>
                    </a:ext>
                  </a:extLst>
                </a:gridCol>
                <a:gridCol w="1068707">
                  <a:extLst>
                    <a:ext uri="{9D8B030D-6E8A-4147-A177-3AD203B41FA5}">
                      <a16:colId xmlns:a16="http://schemas.microsoft.com/office/drawing/2014/main" val="3934056993"/>
                    </a:ext>
                  </a:extLst>
                </a:gridCol>
                <a:gridCol w="1007638">
                  <a:extLst>
                    <a:ext uri="{9D8B030D-6E8A-4147-A177-3AD203B41FA5}">
                      <a16:colId xmlns:a16="http://schemas.microsoft.com/office/drawing/2014/main" val="2950420248"/>
                    </a:ext>
                  </a:extLst>
                </a:gridCol>
                <a:gridCol w="977104">
                  <a:extLst>
                    <a:ext uri="{9D8B030D-6E8A-4147-A177-3AD203B41FA5}">
                      <a16:colId xmlns:a16="http://schemas.microsoft.com/office/drawing/2014/main" val="347168986"/>
                    </a:ext>
                  </a:extLst>
                </a:gridCol>
                <a:gridCol w="1411570">
                  <a:extLst>
                    <a:ext uri="{9D8B030D-6E8A-4147-A177-3AD203B41FA5}">
                      <a16:colId xmlns:a16="http://schemas.microsoft.com/office/drawing/2014/main" val="871629726"/>
                    </a:ext>
                  </a:extLst>
                </a:gridCol>
              </a:tblGrid>
              <a:tr h="126125">
                <a:tc>
                  <a:txBody>
                    <a:bodyPr/>
                    <a:lstStyle/>
                    <a:p>
                      <a:pPr algn="ctr"/>
                      <a:r>
                        <a:rPr lang="zh-CN" altLang="en-US" sz="1400" dirty="0"/>
                        <a:t>时间</a:t>
                      </a:r>
                      <a:r>
                        <a:rPr lang="en-US" altLang="zh-CN" sz="1400" dirty="0"/>
                        <a:t>(</a:t>
                      </a:r>
                      <a:r>
                        <a:rPr lang="zh-CN" altLang="en-US" sz="1400" dirty="0"/>
                        <a:t>天</a:t>
                      </a:r>
                      <a:r>
                        <a:rPr lang="en-US" altLang="zh-CN" sz="1400" dirty="0"/>
                        <a:t>)</a:t>
                      </a:r>
                      <a:endParaRPr lang="zh-CN" altLang="en-US" sz="1400" dirty="0"/>
                    </a:p>
                  </a:txBody>
                  <a:tcPr>
                    <a:solidFill>
                      <a:srgbClr val="0070C0"/>
                    </a:solidFill>
                  </a:tcPr>
                </a:tc>
                <a:tc>
                  <a:txBody>
                    <a:bodyPr/>
                    <a:lstStyle/>
                    <a:p>
                      <a:pPr algn="ctr"/>
                      <a:r>
                        <a:rPr lang="en-US" altLang="zh-CN" sz="1400" dirty="0"/>
                        <a:t>8</a:t>
                      </a:r>
                      <a:r>
                        <a:rPr lang="zh-CN" altLang="en-US" sz="1400" dirty="0"/>
                        <a:t>月</a:t>
                      </a:r>
                      <a:r>
                        <a:rPr lang="en-US" altLang="zh-CN" sz="1400" dirty="0"/>
                        <a:t>1</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2</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3</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4</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5</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6</a:t>
                      </a:r>
                      <a:r>
                        <a:rPr lang="zh-CN" altLang="en-US" sz="1400" dirty="0"/>
                        <a:t>日</a:t>
                      </a:r>
                    </a:p>
                  </a:txBody>
                  <a:tcPr>
                    <a:solidFill>
                      <a:srgbClr val="0070C0"/>
                    </a:solidFill>
                  </a:tcPr>
                </a:tc>
                <a:tc>
                  <a:txBody>
                    <a:bodyPr/>
                    <a:lstStyle/>
                    <a:p>
                      <a:pPr algn="ctr"/>
                      <a:r>
                        <a:rPr lang="en-US" altLang="zh-CN" sz="1400" dirty="0"/>
                        <a:t>8</a:t>
                      </a:r>
                      <a:r>
                        <a:rPr lang="zh-CN" altLang="en-US" sz="1400" dirty="0"/>
                        <a:t>月</a:t>
                      </a:r>
                      <a:r>
                        <a:rPr lang="en-US" altLang="zh-CN" sz="1400" dirty="0"/>
                        <a:t>7</a:t>
                      </a:r>
                      <a:r>
                        <a:rPr lang="zh-CN" altLang="en-US" sz="1400" dirty="0"/>
                        <a:t>日</a:t>
                      </a:r>
                    </a:p>
                  </a:txBody>
                  <a:tcPr>
                    <a:solidFill>
                      <a:srgbClr val="0070C0"/>
                    </a:solidFill>
                  </a:tcPr>
                </a:tc>
                <a:extLst>
                  <a:ext uri="{0D108BD9-81ED-4DB2-BD59-A6C34878D82A}">
                    <a16:rowId xmlns:a16="http://schemas.microsoft.com/office/drawing/2014/main" val="3826039287"/>
                  </a:ext>
                </a:extLst>
              </a:tr>
              <a:tr h="353734">
                <a:tc>
                  <a:txBody>
                    <a:bodyPr/>
                    <a:lstStyle/>
                    <a:p>
                      <a:pPr algn="ctr"/>
                      <a:r>
                        <a:rPr lang="zh-CN" altLang="en-US" sz="1400" b="1" kern="0" dirty="0">
                          <a:solidFill>
                            <a:schemeClr val="accent1">
                              <a:lumMod val="10000"/>
                            </a:schemeClr>
                          </a:solidFill>
                          <a:latin typeface="微软雅黑" panose="020B0503020204020204" pitchFamily="34" charset="-122"/>
                          <a:ea typeface="微软雅黑" panose="020B0503020204020204" pitchFamily="34" charset="-122"/>
                          <a:cs typeface="+mn-cs"/>
                        </a:rPr>
                        <a:t>早</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y1</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400" dirty="0">
                          <a:solidFill>
                            <a:schemeClr val="accent1">
                              <a:lumMod val="10000"/>
                            </a:schemeClr>
                          </a:solidFill>
                        </a:rPr>
                        <a:t>8.82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7.91</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6.74</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5.32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4.32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3.92</a:t>
                      </a:r>
                      <a:endParaRPr lang="zh-CN" altLang="en-US" sz="1400" dirty="0">
                        <a:solidFill>
                          <a:schemeClr val="accent1">
                            <a:lumMod val="10000"/>
                          </a:schemeClr>
                        </a:solidFill>
                      </a:endParaRPr>
                    </a:p>
                  </a:txBody>
                  <a:tcPr/>
                </a:tc>
                <a:tc>
                  <a:txBody>
                    <a:bodyPr/>
                    <a:lstStyle/>
                    <a:p>
                      <a:pPr algn="ctr"/>
                      <a:r>
                        <a:rPr lang="en-US" altLang="zh-CN" sz="1400" dirty="0">
                          <a:solidFill>
                            <a:schemeClr val="accent1">
                              <a:lumMod val="10000"/>
                            </a:schemeClr>
                          </a:solidFill>
                        </a:rPr>
                        <a:t>2.84</a:t>
                      </a:r>
                      <a:endParaRPr lang="zh-CN" altLang="en-US" sz="1400" dirty="0">
                        <a:solidFill>
                          <a:schemeClr val="accent1">
                            <a:lumMod val="10000"/>
                          </a:schemeClr>
                        </a:solidFill>
                      </a:endParaRPr>
                    </a:p>
                  </a:txBody>
                  <a:tcPr/>
                </a:tc>
                <a:extLst>
                  <a:ext uri="{0D108BD9-81ED-4DB2-BD59-A6C34878D82A}">
                    <a16:rowId xmlns:a16="http://schemas.microsoft.com/office/drawing/2014/main" val="3194453009"/>
                  </a:ext>
                </a:extLst>
              </a:tr>
              <a:tr h="0">
                <a:tc>
                  <a:txBody>
                    <a:bodyPr/>
                    <a:lstStyle/>
                    <a:p>
                      <a:pPr algn="ctr"/>
                      <a:r>
                        <a:rPr lang="zh-CN" altLang="en-US" sz="1400" dirty="0">
                          <a:solidFill>
                            <a:schemeClr val="accent1">
                              <a:lumMod val="10000"/>
                            </a:schemeClr>
                          </a:solidFill>
                        </a:rPr>
                        <a:t>中</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y2</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8.41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7.22</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6.38</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5.51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4.21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3.25</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2.51</a:t>
                      </a:r>
                      <a:endParaRPr lang="zh-CN" altLang="en-US" sz="1400" dirty="0">
                        <a:solidFill>
                          <a:schemeClr val="accent1">
                            <a:lumMod val="10000"/>
                          </a:schemeClr>
                        </a:solidFill>
                      </a:endParaRPr>
                    </a:p>
                  </a:txBody>
                  <a:tcPr/>
                </a:tc>
                <a:extLst>
                  <a:ext uri="{0D108BD9-81ED-4DB2-BD59-A6C34878D82A}">
                    <a16:rowId xmlns:a16="http://schemas.microsoft.com/office/drawing/2014/main" val="3103778959"/>
                  </a:ext>
                </a:extLst>
              </a:tr>
              <a:tr h="353734">
                <a:tc>
                  <a:txBody>
                    <a:bodyPr/>
                    <a:lstStyle/>
                    <a:p>
                      <a:pPr algn="ctr"/>
                      <a:r>
                        <a:rPr lang="zh-CN" altLang="en-US" sz="1400" dirty="0">
                          <a:solidFill>
                            <a:schemeClr val="accent1">
                              <a:lumMod val="10000"/>
                            </a:schemeClr>
                          </a:solidFill>
                        </a:rPr>
                        <a:t>晚</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y3</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8.23</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7.04</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6.02</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5.21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4.01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3.51</a:t>
                      </a:r>
                      <a:endParaRPr lang="zh-CN" altLang="en-US" sz="14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accent1">
                              <a:lumMod val="10000"/>
                            </a:schemeClr>
                          </a:solidFill>
                        </a:rPr>
                        <a:t>2.24</a:t>
                      </a:r>
                      <a:endParaRPr lang="zh-CN" altLang="en-US" sz="1400" dirty="0">
                        <a:solidFill>
                          <a:schemeClr val="accent1">
                            <a:lumMod val="10000"/>
                          </a:schemeClr>
                        </a:solidFill>
                      </a:endParaRPr>
                    </a:p>
                  </a:txBody>
                  <a:tcPr/>
                </a:tc>
                <a:extLst>
                  <a:ext uri="{0D108BD9-81ED-4DB2-BD59-A6C34878D82A}">
                    <a16:rowId xmlns:a16="http://schemas.microsoft.com/office/drawing/2014/main" val="272027335"/>
                  </a:ext>
                </a:extLst>
              </a:tr>
            </a:tbl>
          </a:graphicData>
        </a:graphic>
      </p:graphicFrame>
      <p:sp>
        <p:nvSpPr>
          <p:cNvPr id="8" name="矩形 7">
            <a:extLst>
              <a:ext uri="{FF2B5EF4-FFF2-40B4-BE49-F238E27FC236}">
                <a16:creationId xmlns:a16="http://schemas.microsoft.com/office/drawing/2014/main" id="{C0421942-6823-4A8E-A75C-E37951B6EB49}"/>
              </a:ext>
            </a:extLst>
          </p:cNvPr>
          <p:cNvSpPr/>
          <p:nvPr/>
        </p:nvSpPr>
        <p:spPr>
          <a:xfrm>
            <a:off x="611560" y="699542"/>
            <a:ext cx="8388507" cy="338554"/>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algn="dist" defTabSz="0" eaLnBrk="0" hangingPunct="0">
              <a:buClr>
                <a:srgbClr val="00B0F0"/>
              </a:buClr>
            </a:pPr>
            <a:r>
              <a:rPr lang="zh-CN" altLang="en-US" sz="1600" b="1" dirty="0">
                <a:solidFill>
                  <a:srgbClr val="0070C0"/>
                </a:solidFill>
                <a:latin typeface="微软雅黑" panose="020B0503020204020204" pitchFamily="34" charset="-122"/>
                <a:ea typeface="微软雅黑" panose="020B0503020204020204" pitchFamily="34" charset="-122"/>
              </a:rPr>
              <a:t>采用矩阵为输入参数绘制三次浓度随时间变化曲线</a:t>
            </a:r>
          </a:p>
        </p:txBody>
      </p:sp>
      <p:sp>
        <p:nvSpPr>
          <p:cNvPr id="14" name="矩形 13"/>
          <p:cNvSpPr/>
          <p:nvPr/>
        </p:nvSpPr>
        <p:spPr>
          <a:xfrm>
            <a:off x="85581" y="1334479"/>
            <a:ext cx="881276" cy="923330"/>
          </a:xfrm>
          <a:prstGeom prst="rect">
            <a:avLst/>
          </a:prstGeom>
          <a:solidFill>
            <a:schemeClr val="accent5"/>
          </a:solidFill>
        </p:spPr>
        <p:txBody>
          <a:bodyPr wrap="square">
            <a:spAutoFit/>
          </a:bodyPr>
          <a:lstStyle/>
          <a:p>
            <a:r>
              <a:rPr lang="zh-CN" altLang="en-US" dirty="0">
                <a:solidFill>
                  <a:schemeClr val="bg1"/>
                </a:solidFill>
                <a:highlight>
                  <a:srgbClr val="3399FF"/>
                </a:highlight>
                <a:latin typeface="微软雅黑" panose="020B0503020204020204" pitchFamily="34" charset="-122"/>
                <a:ea typeface="微软雅黑" panose="020B0503020204020204" pitchFamily="34" charset="-122"/>
              </a:rPr>
              <a:t>浓度</a:t>
            </a:r>
            <a:r>
              <a:rPr lang="en-US" altLang="zh-CN" dirty="0">
                <a:solidFill>
                  <a:schemeClr val="bg1"/>
                </a:solidFill>
                <a:highlight>
                  <a:srgbClr val="3399FF"/>
                </a:highlight>
                <a:latin typeface="微软雅黑" panose="020B0503020204020204" pitchFamily="34" charset="-122"/>
                <a:ea typeface="微软雅黑" panose="020B0503020204020204" pitchFamily="34" charset="-122"/>
              </a:rPr>
              <a:t>y</a:t>
            </a:r>
          </a:p>
          <a:p>
            <a:r>
              <a:rPr lang="zh-CN" altLang="en-US" dirty="0">
                <a:solidFill>
                  <a:schemeClr val="bg1"/>
                </a:solidFill>
                <a:highlight>
                  <a:srgbClr val="3399FF"/>
                </a:highlight>
                <a:latin typeface="微软雅黑" panose="020B0503020204020204" pitchFamily="34" charset="-122"/>
                <a:ea typeface="微软雅黑" panose="020B0503020204020204" pitchFamily="34" charset="-122"/>
              </a:rPr>
              <a:t>为</a:t>
            </a:r>
            <a:r>
              <a:rPr lang="en-US" altLang="zh-CN" dirty="0">
                <a:solidFill>
                  <a:schemeClr val="bg1"/>
                </a:solidFill>
                <a:highlight>
                  <a:srgbClr val="3399FF"/>
                </a:highlight>
                <a:latin typeface="微软雅黑" panose="020B0503020204020204" pitchFamily="34" charset="-122"/>
                <a:ea typeface="微软雅黑" panose="020B0503020204020204" pitchFamily="34" charset="-122"/>
              </a:rPr>
              <a:t>3</a:t>
            </a:r>
            <a:r>
              <a:rPr lang="zh-CN" altLang="en-US" dirty="0">
                <a:solidFill>
                  <a:schemeClr val="bg1"/>
                </a:solidFill>
                <a:highlight>
                  <a:srgbClr val="3399FF"/>
                </a:highlight>
                <a:latin typeface="微软雅黑" panose="020B0503020204020204" pitchFamily="34" charset="-122"/>
                <a:ea typeface="微软雅黑" panose="020B0503020204020204" pitchFamily="34" charset="-122"/>
              </a:rPr>
              <a:t>x7矩阵</a:t>
            </a:r>
          </a:p>
        </p:txBody>
      </p:sp>
      <p:sp>
        <p:nvSpPr>
          <p:cNvPr id="13" name="波形 12"/>
          <p:cNvSpPr/>
          <p:nvPr/>
        </p:nvSpPr>
        <p:spPr>
          <a:xfrm>
            <a:off x="124453" y="627534"/>
            <a:ext cx="489965" cy="40011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例3</a:t>
            </a:r>
            <a:endParaRPr lang="ko-KR" altLang="en-US" b="1" dirty="0">
              <a:solidFill>
                <a:srgbClr val="FFFF00"/>
              </a:solidFill>
              <a:latin typeface="微软雅黑" panose="020B0503020204020204" charset="-122"/>
              <a:ea typeface="微软雅黑" panose="020B0503020204020204" charset="-122"/>
            </a:endParaRPr>
          </a:p>
        </p:txBody>
      </p:sp>
      <p:sp>
        <p:nvSpPr>
          <p:cNvPr id="15" name="矩形 14">
            <a:extLst>
              <a:ext uri="{FF2B5EF4-FFF2-40B4-BE49-F238E27FC236}">
                <a16:creationId xmlns:a16="http://schemas.microsoft.com/office/drawing/2014/main" id="{7630B2F7-B999-496E-B0FC-D815EB4F69B2}"/>
              </a:ext>
            </a:extLst>
          </p:cNvPr>
          <p:cNvSpPr/>
          <p:nvPr/>
        </p:nvSpPr>
        <p:spPr>
          <a:xfrm>
            <a:off x="85581" y="1059582"/>
            <a:ext cx="715260" cy="338554"/>
          </a:xfrm>
          <a:prstGeom prst="rect">
            <a:avLst/>
          </a:prstGeom>
          <a:solidFill>
            <a:schemeClr val="accent5"/>
          </a:solidFill>
        </p:spPr>
        <p:txBody>
          <a:bodyPr wrap="none">
            <a:spAutoFit/>
          </a:bodyPr>
          <a:lstStyle/>
          <a:p>
            <a:r>
              <a:rPr lang="zh-CN" altLang="en-US" sz="1600" b="1" dirty="0">
                <a:solidFill>
                  <a:schemeClr val="bg1"/>
                </a:solidFill>
                <a:highlight>
                  <a:srgbClr val="000080"/>
                </a:highlight>
                <a:latin typeface="微软雅黑" panose="020B0503020204020204" pitchFamily="34" charset="-122"/>
                <a:ea typeface="微软雅黑" panose="020B0503020204020204" pitchFamily="34" charset="-122"/>
              </a:rPr>
              <a:t>时间</a:t>
            </a:r>
            <a:r>
              <a:rPr lang="en-US" altLang="zh-CN" sz="1600" b="1" dirty="0">
                <a:solidFill>
                  <a:schemeClr val="bg1"/>
                </a:solidFill>
                <a:highlight>
                  <a:srgbClr val="000080"/>
                </a:highlight>
                <a:latin typeface="微软雅黑" panose="020B0503020204020204" pitchFamily="34" charset="-122"/>
                <a:ea typeface="微软雅黑" panose="020B0503020204020204" pitchFamily="34" charset="-122"/>
              </a:rPr>
              <a:t>x</a:t>
            </a:r>
            <a:endParaRPr lang="zh-CN" altLang="en-US" sz="1600" b="1" dirty="0">
              <a:solidFill>
                <a:schemeClr val="bg1"/>
              </a:solidFill>
              <a:highlight>
                <a:srgbClr val="000080"/>
              </a:highlight>
              <a:latin typeface="微软雅黑" panose="020B0503020204020204" pitchFamily="34" charset="-122"/>
              <a:ea typeface="微软雅黑" panose="020B0503020204020204" pitchFamily="34" charset="-122"/>
            </a:endParaRPr>
          </a:p>
        </p:txBody>
      </p:sp>
      <p:sp>
        <p:nvSpPr>
          <p:cNvPr id="18" name="Rectangle 2">
            <a:extLst>
              <a:ext uri="{FF2B5EF4-FFF2-40B4-BE49-F238E27FC236}">
                <a16:creationId xmlns:a16="http://schemas.microsoft.com/office/drawing/2014/main" id="{E7C9C5D5-1B02-49D3-A0AE-C6BA5FC8FEAE}"/>
              </a:ext>
            </a:extLst>
          </p:cNvPr>
          <p:cNvSpPr txBox="1">
            <a:spLocks noChangeArrowheads="1"/>
          </p:cNvSpPr>
          <p:nvPr/>
        </p:nvSpPr>
        <p:spPr bwMode="auto">
          <a:xfrm>
            <a:off x="179513" y="71782"/>
            <a:ext cx="8842893" cy="566414"/>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a:t>
            </a:r>
            <a:r>
              <a:rPr lang="en-US" altLang="zh-CN" sz="2600" kern="0" dirty="0">
                <a:solidFill>
                  <a:srgbClr val="002060"/>
                </a:solidFill>
                <a:latin typeface="华文楷体" panose="02010600040101010101" pitchFamily="2" charset="-122"/>
                <a:ea typeface="华文楷体" panose="02010600040101010101" pitchFamily="2" charset="-122"/>
              </a:rPr>
              <a:t>3.3.1 plot</a:t>
            </a:r>
            <a:r>
              <a:rPr lang="zh-CN" altLang="en-US" sz="2600" kern="0" dirty="0">
                <a:solidFill>
                  <a:srgbClr val="002060"/>
                </a:solidFill>
                <a:latin typeface="华文楷体" panose="02010600040101010101" pitchFamily="2" charset="-122"/>
                <a:ea typeface="华文楷体" panose="02010600040101010101" pitchFamily="2" charset="-122"/>
              </a:rPr>
              <a:t>绘制多条二维曲线</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输入矩阵的多条曲线案例</a:t>
            </a:r>
            <a:endParaRPr lang="zh-CN" altLang="en-US"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sp>
        <p:nvSpPr>
          <p:cNvPr id="19" name="文本框 18">
            <a:extLst>
              <a:ext uri="{FF2B5EF4-FFF2-40B4-BE49-F238E27FC236}">
                <a16:creationId xmlns:a16="http://schemas.microsoft.com/office/drawing/2014/main" id="{03A5871C-D2B1-404E-9857-2DA37236A404}"/>
              </a:ext>
            </a:extLst>
          </p:cNvPr>
          <p:cNvSpPr txBox="1"/>
          <p:nvPr/>
        </p:nvSpPr>
        <p:spPr>
          <a:xfrm>
            <a:off x="124453" y="2427734"/>
            <a:ext cx="8840035" cy="2554545"/>
          </a:xfrm>
          <a:prstGeom prst="rect">
            <a:avLst/>
          </a:prstGeom>
          <a:solidFill>
            <a:schemeClr val="bg1"/>
          </a:solidFill>
          <a:ln>
            <a:solidFill>
              <a:schemeClr val="bg1">
                <a:lumMod val="50000"/>
              </a:schemeClr>
            </a:solidFill>
          </a:ln>
          <a:effectLst>
            <a:outerShdw blurRad="63500" sx="102000" sy="102000" algn="ctr" rotWithShape="0">
              <a:prstClr val="black">
                <a:alpha val="40000"/>
              </a:prstClr>
            </a:outerShdw>
          </a:effectLst>
        </p:spPr>
        <p:txBody>
          <a:bodyPr wrap="square">
            <a:spAutoFit/>
          </a:bodyPr>
          <a:lstStyle/>
          <a:p>
            <a:pPr>
              <a:lnSpc>
                <a:spcPts val="2400"/>
              </a:lnSpc>
            </a:pPr>
            <a:r>
              <a:rPr lang="en-US" altLang="zh-CN" sz="1600" dirty="0"/>
              <a:t>x = 1:7;</a:t>
            </a:r>
          </a:p>
          <a:p>
            <a:pPr>
              <a:lnSpc>
                <a:spcPts val="2400"/>
              </a:lnSpc>
            </a:pPr>
            <a:r>
              <a:rPr lang="en-US" altLang="zh-CN" sz="1600" dirty="0"/>
              <a:t># </a:t>
            </a:r>
            <a:r>
              <a:rPr lang="zh-CN" altLang="en-US" sz="1600" dirty="0"/>
              <a:t>三次浓度矩阵</a:t>
            </a:r>
            <a:r>
              <a:rPr lang="en-US" altLang="zh-CN" sz="1600" dirty="0"/>
              <a:t>y</a:t>
            </a:r>
          </a:p>
          <a:p>
            <a:pPr>
              <a:lnSpc>
                <a:spcPts val="2400"/>
              </a:lnSpc>
            </a:pPr>
            <a:r>
              <a:rPr lang="en-US" altLang="zh-CN" sz="1600" dirty="0"/>
              <a:t>y=[8.82 7.91 6.74 5.82 4.62 3.92 2.84;</a:t>
            </a:r>
          </a:p>
          <a:p>
            <a:pPr>
              <a:lnSpc>
                <a:spcPts val="2400"/>
              </a:lnSpc>
            </a:pPr>
            <a:r>
              <a:rPr lang="en-US" altLang="zh-CN" sz="1600" dirty="0"/>
              <a:t>   8.41 7.22 6.38 5.51 4.21 3.25 2.51;</a:t>
            </a:r>
          </a:p>
          <a:p>
            <a:pPr>
              <a:lnSpc>
                <a:spcPts val="2400"/>
              </a:lnSpc>
            </a:pPr>
            <a:r>
              <a:rPr lang="en-US" altLang="zh-CN" sz="1600" dirty="0"/>
              <a:t>   8.23 7.04 6.02 5.21 4.01 3.01 2.24];</a:t>
            </a:r>
          </a:p>
          <a:p>
            <a:pPr>
              <a:lnSpc>
                <a:spcPts val="2400"/>
              </a:lnSpc>
            </a:pPr>
            <a:r>
              <a:rPr lang="en-US" altLang="zh-CN" sz="1600" dirty="0"/>
              <a:t>plot(</a:t>
            </a:r>
            <a:r>
              <a:rPr lang="en-US" altLang="zh-CN" sz="1600" dirty="0" err="1"/>
              <a:t>x,y</a:t>
            </a:r>
            <a:r>
              <a:rPr lang="en-US" altLang="zh-CN" sz="1600" dirty="0"/>
              <a:t>,"-o") #</a:t>
            </a:r>
            <a:r>
              <a:rPr lang="zh-CN" altLang="en-US" sz="1600" dirty="0"/>
              <a:t>绘制输入矩阵的多条曲线</a:t>
            </a:r>
          </a:p>
          <a:p>
            <a:pPr>
              <a:lnSpc>
                <a:spcPts val="2400"/>
              </a:lnSpc>
            </a:pPr>
            <a:r>
              <a:rPr lang="en-US" altLang="zh-CN" sz="1600" dirty="0" err="1"/>
              <a:t>xlabel</a:t>
            </a:r>
            <a:r>
              <a:rPr lang="en-US" altLang="zh-CN" sz="1600" dirty="0"/>
              <a:t>("</a:t>
            </a:r>
            <a:r>
              <a:rPr lang="zh-CN" altLang="en-US" sz="1600" dirty="0"/>
              <a:t>天</a:t>
            </a:r>
            <a:r>
              <a:rPr lang="en-US" altLang="zh-CN" sz="1600" dirty="0"/>
              <a:t>");</a:t>
            </a:r>
            <a:r>
              <a:rPr lang="en-US" altLang="zh-CN" sz="1600" dirty="0" err="1"/>
              <a:t>ylabel</a:t>
            </a:r>
            <a:r>
              <a:rPr lang="en-US" altLang="zh-CN" sz="1600" dirty="0"/>
              <a:t>("</a:t>
            </a:r>
            <a:r>
              <a:rPr lang="zh-CN" altLang="en-US" sz="1600" dirty="0"/>
              <a:t>浓度</a:t>
            </a:r>
            <a:r>
              <a:rPr lang="en-US" altLang="zh-CN" sz="1600" dirty="0"/>
              <a:t>");</a:t>
            </a:r>
          </a:p>
          <a:p>
            <a:pPr>
              <a:lnSpc>
                <a:spcPts val="2400"/>
              </a:lnSpc>
            </a:pPr>
            <a:r>
              <a:rPr lang="en-US" altLang="zh-CN" sz="1600" dirty="0"/>
              <a:t>legend("</a:t>
            </a:r>
            <a:r>
              <a:rPr lang="zh-CN" altLang="en-US" sz="1600" dirty="0"/>
              <a:t>早</a:t>
            </a:r>
            <a:r>
              <a:rPr lang="en-US" altLang="zh-CN" sz="1600" dirty="0"/>
              <a:t>","</a:t>
            </a:r>
            <a:r>
              <a:rPr lang="zh-CN" altLang="en-US" sz="1600" dirty="0"/>
              <a:t>中</a:t>
            </a:r>
            <a:r>
              <a:rPr lang="en-US" altLang="zh-CN" sz="1600" dirty="0"/>
              <a:t>","</a:t>
            </a:r>
            <a:r>
              <a:rPr lang="zh-CN" altLang="en-US" sz="1600" dirty="0"/>
              <a:t>晚</a:t>
            </a:r>
            <a:r>
              <a:rPr lang="en-US" altLang="zh-CN" sz="1600" dirty="0"/>
              <a:t>")</a:t>
            </a:r>
          </a:p>
        </p:txBody>
      </p:sp>
      <p:pic>
        <p:nvPicPr>
          <p:cNvPr id="5" name="图片 4">
            <a:extLst>
              <a:ext uri="{FF2B5EF4-FFF2-40B4-BE49-F238E27FC236}">
                <a16:creationId xmlns:a16="http://schemas.microsoft.com/office/drawing/2014/main" id="{41EC22FE-862A-4C86-8FF0-E84498707A8B}"/>
              </a:ext>
            </a:extLst>
          </p:cNvPr>
          <p:cNvPicPr>
            <a:picLocks noChangeAspect="1"/>
          </p:cNvPicPr>
          <p:nvPr/>
        </p:nvPicPr>
        <p:blipFill rotWithShape="1">
          <a:blip r:embed="rId3"/>
          <a:srcRect l="7932" t="10801" r="6687" b="6958"/>
          <a:stretch/>
        </p:blipFill>
        <p:spPr>
          <a:xfrm>
            <a:off x="6516216" y="3066698"/>
            <a:ext cx="2118013" cy="1648083"/>
          </a:xfrm>
          <a:prstGeom prst="rect">
            <a:avLst/>
          </a:prstGeom>
          <a:effectLst>
            <a:outerShdw blurRad="63500" sx="102000" sy="102000" algn="ctr" rotWithShape="0">
              <a:prstClr val="black">
                <a:alpha val="40000"/>
              </a:prstClr>
            </a:outerShdw>
          </a:effectLst>
        </p:spPr>
      </p:pic>
      <p:sp>
        <p:nvSpPr>
          <p:cNvPr id="10" name="文本框 9">
            <a:extLst>
              <a:ext uri="{FF2B5EF4-FFF2-40B4-BE49-F238E27FC236}">
                <a16:creationId xmlns:a16="http://schemas.microsoft.com/office/drawing/2014/main" id="{E4288366-A7DD-4781-8A5B-2124D0625E84}"/>
              </a:ext>
            </a:extLst>
          </p:cNvPr>
          <p:cNvSpPr txBox="1"/>
          <p:nvPr/>
        </p:nvSpPr>
        <p:spPr>
          <a:xfrm>
            <a:off x="6932481" y="1420633"/>
            <a:ext cx="2062564" cy="338554"/>
          </a:xfrm>
          <a:prstGeom prst="rect">
            <a:avLst/>
          </a:prstGeom>
          <a:noFill/>
        </p:spPr>
        <p:txBody>
          <a:bodyPr wrap="square">
            <a:spAutoFit/>
          </a:bodyPr>
          <a:lstStyle>
            <a:defPPr>
              <a:defRPr lang="zh-CN"/>
            </a:defPPr>
            <a:lvl1pPr>
              <a:defRPr b="1" kern="0">
                <a:solidFill>
                  <a:srgbClr val="FFFF00"/>
                </a:solidFill>
                <a:highlight>
                  <a:srgbClr val="FF0000"/>
                </a:highlight>
                <a:latin typeface="微软雅黑" panose="020B0503020204020204" pitchFamily="34" charset="-122"/>
                <a:ea typeface="微软雅黑" panose="020B0503020204020204" pitchFamily="34" charset="-122"/>
              </a:defRPr>
            </a:lvl1pPr>
          </a:lstStyle>
          <a:p>
            <a:r>
              <a:rPr lang="zh-CN" altLang="en-US" sz="1600" dirty="0">
                <a:highlight>
                  <a:srgbClr val="000080"/>
                </a:highlight>
              </a:rPr>
              <a:t>矩阵</a:t>
            </a:r>
            <a:r>
              <a:rPr lang="es-ES" altLang="zh-CN" sz="1600" dirty="0">
                <a:highlight>
                  <a:srgbClr val="000080"/>
                </a:highlight>
              </a:rPr>
              <a:t>y=</a:t>
            </a:r>
            <a:r>
              <a:rPr lang="en-US" altLang="zh-CN" sz="1600" dirty="0">
                <a:highlight>
                  <a:srgbClr val="000080"/>
                </a:highlight>
              </a:rPr>
              <a:t>【y1;y2;y3】</a:t>
            </a:r>
            <a:endParaRPr lang="zh-CN" altLang="en-US" sz="1600" dirty="0">
              <a:highlight>
                <a:srgbClr val="000080"/>
              </a:highlight>
            </a:endParaRPr>
          </a:p>
        </p:txBody>
      </p:sp>
      <p:sp>
        <p:nvSpPr>
          <p:cNvPr id="16" name="文本框 15">
            <a:extLst>
              <a:ext uri="{FF2B5EF4-FFF2-40B4-BE49-F238E27FC236}">
                <a16:creationId xmlns:a16="http://schemas.microsoft.com/office/drawing/2014/main" id="{9BBD5A8E-375F-463C-848C-311F8C602EDE}"/>
              </a:ext>
            </a:extLst>
          </p:cNvPr>
          <p:cNvSpPr txBox="1"/>
          <p:nvPr/>
        </p:nvSpPr>
        <p:spPr>
          <a:xfrm>
            <a:off x="4648342" y="2477330"/>
            <a:ext cx="3591731" cy="338554"/>
          </a:xfrm>
          <a:prstGeom prst="rect">
            <a:avLst/>
          </a:prstGeom>
          <a:solidFill>
            <a:schemeClr val="bg1"/>
          </a:solidFill>
        </p:spPr>
        <p:txBody>
          <a:bodyPr wrap="square">
            <a:spAutoFit/>
          </a:bodyPr>
          <a:lstStyle/>
          <a:p>
            <a:r>
              <a:rPr lang="zh-CN" altLang="en-US" sz="1600" b="1" kern="0" dirty="0">
                <a:solidFill>
                  <a:srgbClr val="0070C0"/>
                </a:solidFill>
                <a:latin typeface="微软雅黑" panose="020B0503020204020204" pitchFamily="34" charset="-122"/>
                <a:ea typeface="微软雅黑" panose="020B0503020204020204" pitchFamily="34" charset="-122"/>
              </a:rPr>
              <a:t>简化为输入向量</a:t>
            </a:r>
            <a:r>
              <a:rPr lang="en-US" altLang="zh-CN" sz="1600" b="1" kern="0" dirty="0">
                <a:solidFill>
                  <a:srgbClr val="0070C0"/>
                </a:solidFill>
                <a:latin typeface="微软雅黑" panose="020B0503020204020204" pitchFamily="34" charset="-122"/>
                <a:ea typeface="微软雅黑" panose="020B0503020204020204" pitchFamily="34" charset="-122"/>
              </a:rPr>
              <a:t>x</a:t>
            </a:r>
            <a:r>
              <a:rPr lang="zh-CN" altLang="en-US" sz="1600" b="1" kern="0" dirty="0">
                <a:solidFill>
                  <a:srgbClr val="0070C0"/>
                </a:solidFill>
                <a:latin typeface="微软雅黑" panose="020B0503020204020204" pitchFamily="34" charset="-122"/>
                <a:ea typeface="微软雅黑" panose="020B0503020204020204" pitchFamily="34" charset="-122"/>
              </a:rPr>
              <a:t>矩阵</a:t>
            </a:r>
            <a:r>
              <a:rPr lang="en-US" altLang="zh-CN" sz="1600" b="1" kern="0" dirty="0">
                <a:solidFill>
                  <a:srgbClr val="0070C0"/>
                </a:solidFill>
                <a:latin typeface="微软雅黑" panose="020B0503020204020204" pitchFamily="34" charset="-122"/>
                <a:ea typeface="微软雅黑" panose="020B0503020204020204" pitchFamily="34" charset="-122"/>
              </a:rPr>
              <a:t>y</a:t>
            </a:r>
            <a:r>
              <a:rPr lang="zh-CN" altLang="en-US" sz="1600" b="1" kern="0" dirty="0">
                <a:solidFill>
                  <a:srgbClr val="0070C0"/>
                </a:solidFill>
                <a:latin typeface="微软雅黑" panose="020B0503020204020204" pitchFamily="34" charset="-122"/>
                <a:ea typeface="微软雅黑" panose="020B0503020204020204" pitchFamily="34" charset="-122"/>
              </a:rPr>
              <a:t>绘多条曲线</a:t>
            </a:r>
          </a:p>
        </p:txBody>
      </p:sp>
      <p:sp>
        <p:nvSpPr>
          <p:cNvPr id="11" name="矩形 10">
            <a:extLst>
              <a:ext uri="{FF2B5EF4-FFF2-40B4-BE49-F238E27FC236}">
                <a16:creationId xmlns:a16="http://schemas.microsoft.com/office/drawing/2014/main" id="{3E0BCCA7-7943-4845-9177-747CF4E792AA}"/>
              </a:ext>
            </a:extLst>
          </p:cNvPr>
          <p:cNvSpPr/>
          <p:nvPr/>
        </p:nvSpPr>
        <p:spPr>
          <a:xfrm>
            <a:off x="7884368" y="2450640"/>
            <a:ext cx="1080120" cy="313932"/>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s-ES" altLang="zh-CN" sz="16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plot(x</a:t>
            </a:r>
            <a:r>
              <a:rPr lang="en-US" altLang="zh-CN" sz="16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a:t>
            </a:r>
            <a:r>
              <a:rPr lang="es-ES" altLang="zh-CN" sz="16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y</a:t>
            </a:r>
            <a:r>
              <a:rPr lang="es-E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endParaRPr lang="en-U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20" name="矩形 19">
            <a:extLst>
              <a:ext uri="{FF2B5EF4-FFF2-40B4-BE49-F238E27FC236}">
                <a16:creationId xmlns:a16="http://schemas.microsoft.com/office/drawing/2014/main" id="{564814D2-F7A2-4E2D-AB39-0CFCA2747715}"/>
              </a:ext>
            </a:extLst>
          </p:cNvPr>
          <p:cNvSpPr/>
          <p:nvPr/>
        </p:nvSpPr>
        <p:spPr>
          <a:xfrm>
            <a:off x="2361985" y="2512974"/>
            <a:ext cx="2235084"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s-E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plot(x,y1,</a:t>
            </a:r>
            <a:r>
              <a:rPr lang="en-U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x,y2,x,y3</a:t>
            </a:r>
            <a:r>
              <a:rPr lang="es-E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endParaRPr lang="en-US" altLang="zh-CN" sz="16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17" name="矩形: 圆角 16">
            <a:extLst>
              <a:ext uri="{FF2B5EF4-FFF2-40B4-BE49-F238E27FC236}">
                <a16:creationId xmlns:a16="http://schemas.microsoft.com/office/drawing/2014/main" id="{73385721-3C64-4C8F-8AE4-FBDB52982797}"/>
              </a:ext>
            </a:extLst>
          </p:cNvPr>
          <p:cNvSpPr/>
          <p:nvPr/>
        </p:nvSpPr>
        <p:spPr bwMode="auto">
          <a:xfrm>
            <a:off x="1835697" y="1384286"/>
            <a:ext cx="7128792" cy="998897"/>
          </a:xfrm>
          <a:prstGeom prst="roundRect">
            <a:avLst/>
          </a:prstGeom>
          <a:noFill/>
          <a:ln>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0777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animBg="1"/>
      <p:bldP spid="11"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7683" y="213972"/>
            <a:ext cx="3231004" cy="514024"/>
          </a:xfrm>
        </p:spPr>
        <p:txBody>
          <a:bodyPr/>
          <a:lstStyle/>
          <a:p>
            <a:br>
              <a:rPr lang="en-US" altLang="zh-CN" sz="2800" dirty="0">
                <a:solidFill>
                  <a:srgbClr val="C00000"/>
                </a:solidFill>
              </a:rPr>
            </a:br>
            <a:endParaRPr lang="zh-CN" altLang="en-US" sz="2800" dirty="0">
              <a:solidFill>
                <a:srgbClr val="C00000"/>
              </a:solidFill>
            </a:endParaRPr>
          </a:p>
        </p:txBody>
      </p:sp>
      <p:sp>
        <p:nvSpPr>
          <p:cNvPr id="4" name="Rectangle 3"/>
          <p:cNvSpPr>
            <a:spLocks noChangeArrowheads="1"/>
          </p:cNvSpPr>
          <p:nvPr/>
        </p:nvSpPr>
        <p:spPr bwMode="auto">
          <a:xfrm>
            <a:off x="-169500" y="1140845"/>
            <a:ext cx="8934194" cy="1170000"/>
          </a:xfrm>
          <a:prstGeom prst="rect">
            <a:avLst/>
          </a:prstGeom>
          <a:noFill/>
          <a:ln w="9525">
            <a:noFill/>
            <a:miter lim="800000"/>
          </a:ln>
        </p:spPr>
        <p:txBody>
          <a:bodyPr wrap="square">
            <a:spAutoFit/>
          </a:bodyPr>
          <a:lstStyle/>
          <a:p>
            <a:pPr marL="342900" eaLnBrk="0" hangingPunct="0">
              <a:lnSpc>
                <a:spcPts val="2900"/>
              </a:lnSpc>
              <a:buClr>
                <a:srgbClr val="002060"/>
              </a:buClr>
              <a:buSzPct val="80000"/>
              <a:buFont typeface="Wingdings" panose="05000000000000000000" pitchFamily="2" charset="2"/>
              <a:buChar char="Ø"/>
            </a:pPr>
            <a:r>
              <a:rPr lang="en-US" altLang="zh-CN" dirty="0">
                <a:solidFill>
                  <a:srgbClr val="0070C0"/>
                </a:solidFill>
                <a:latin typeface="微软雅黑" panose="020B0503020204020204" pitchFamily="34" charset="-122"/>
                <a:ea typeface="微软雅黑" panose="020B0503020204020204" pitchFamily="34" charset="-122"/>
              </a:rPr>
              <a:t>x</a:t>
            </a:r>
            <a:r>
              <a:rPr lang="zh-CN" altLang="en-US" dirty="0">
                <a:solidFill>
                  <a:srgbClr val="0070C0"/>
                </a:solidFill>
                <a:latin typeface="微软雅黑" panose="020B0503020204020204" pitchFamily="34" charset="-122"/>
                <a:ea typeface="微软雅黑" panose="020B0503020204020204" pitchFamily="34" charset="-122"/>
              </a:rPr>
              <a:t>为</a:t>
            </a:r>
            <a:r>
              <a:rPr lang="en-US" altLang="zh-CN" dirty="0">
                <a:solidFill>
                  <a:srgbClr val="0070C0"/>
                </a:solidFill>
                <a:latin typeface="微软雅黑" panose="020B0503020204020204" pitchFamily="34" charset="-122"/>
                <a:ea typeface="微软雅黑" panose="020B0503020204020204" pitchFamily="34" charset="-122"/>
              </a:rPr>
              <a:t>k</a:t>
            </a:r>
            <a:r>
              <a:rPr lang="zh-CN" altLang="en-US" dirty="0">
                <a:solidFill>
                  <a:srgbClr val="0070C0"/>
                </a:solidFill>
                <a:latin typeface="微软雅黑" panose="020B0503020204020204" pitchFamily="34" charset="-122"/>
                <a:ea typeface="微软雅黑" panose="020B0503020204020204" pitchFamily="34" charset="-122"/>
              </a:rPr>
              <a:t>个元素构成的向量</a:t>
            </a:r>
            <a:r>
              <a:rPr lang="en-US" altLang="zh-CN" dirty="0">
                <a:solidFill>
                  <a:srgbClr val="0070C0"/>
                </a:solidFill>
                <a:latin typeface="微软雅黑" panose="020B0503020204020204" pitchFamily="34" charset="-122"/>
                <a:ea typeface="微软雅黑" panose="020B0503020204020204" pitchFamily="34" charset="-122"/>
              </a:rPr>
              <a:t>x(k) ;y</a:t>
            </a:r>
            <a:r>
              <a:rPr lang="zh-CN" altLang="en-US" dirty="0">
                <a:solidFill>
                  <a:srgbClr val="0070C0"/>
                </a:solidFill>
                <a:latin typeface="微软雅黑" panose="020B0503020204020204" pitchFamily="34" charset="-122"/>
                <a:ea typeface="微软雅黑" panose="020B0503020204020204" pitchFamily="34" charset="-122"/>
              </a:rPr>
              <a:t>为</a:t>
            </a:r>
            <a:r>
              <a:rPr lang="en-US" altLang="zh-CN" dirty="0">
                <a:solidFill>
                  <a:srgbClr val="0070C0"/>
                </a:solidFill>
                <a:latin typeface="微软雅黑" panose="020B0503020204020204" pitchFamily="34" charset="-122"/>
                <a:ea typeface="微软雅黑" panose="020B0503020204020204" pitchFamily="34" charset="-122"/>
              </a:rPr>
              <a:t>m</a:t>
            </a:r>
            <a:r>
              <a:rPr lang="zh-CN" altLang="en-US" dirty="0">
                <a:solidFill>
                  <a:srgbClr val="0070C0"/>
                </a:solidFill>
                <a:latin typeface="微软雅黑" panose="020B0503020204020204" pitchFamily="34" charset="-122"/>
                <a:ea typeface="微软雅黑" panose="020B0503020204020204" pitchFamily="34" charset="-122"/>
              </a:rPr>
              <a:t>行</a:t>
            </a:r>
            <a:r>
              <a:rPr lang="en-US" altLang="zh-CN" dirty="0">
                <a:solidFill>
                  <a:srgbClr val="0070C0"/>
                </a:solidFill>
                <a:latin typeface="微软雅黑" panose="020B0503020204020204" pitchFamily="34" charset="-122"/>
                <a:ea typeface="微软雅黑" panose="020B0503020204020204" pitchFamily="34" charset="-122"/>
              </a:rPr>
              <a:t>n</a:t>
            </a:r>
            <a:r>
              <a:rPr lang="zh-CN" altLang="en-US" dirty="0">
                <a:solidFill>
                  <a:srgbClr val="0070C0"/>
                </a:solidFill>
                <a:latin typeface="微软雅黑" panose="020B0503020204020204" pitchFamily="34" charset="-122"/>
                <a:ea typeface="微软雅黑" panose="020B0503020204020204" pitchFamily="34" charset="-122"/>
              </a:rPr>
              <a:t>列构成的矩阵</a:t>
            </a:r>
            <a:r>
              <a:rPr lang="en-US" altLang="zh-CN" dirty="0">
                <a:solidFill>
                  <a:srgbClr val="0070C0"/>
                </a:solidFill>
                <a:latin typeface="微软雅黑" panose="020B0503020204020204" pitchFamily="34" charset="-122"/>
                <a:ea typeface="微软雅黑" panose="020B0503020204020204" pitchFamily="34" charset="-122"/>
              </a:rPr>
              <a:t>y(</a:t>
            </a:r>
            <a:r>
              <a:rPr lang="en-US" altLang="zh-CN" dirty="0" err="1">
                <a:solidFill>
                  <a:srgbClr val="0070C0"/>
                </a:solidFill>
                <a:latin typeface="微软雅黑" panose="020B0503020204020204" pitchFamily="34" charset="-122"/>
                <a:ea typeface="微软雅黑" panose="020B0503020204020204" pitchFamily="34" charset="-122"/>
              </a:rPr>
              <a:t>m,n</a:t>
            </a:r>
            <a:r>
              <a:rPr lang="en-US" altLang="zh-CN" dirty="0">
                <a:solidFill>
                  <a:srgbClr val="0070C0"/>
                </a:solidFill>
                <a:latin typeface="微软雅黑" panose="020B0503020204020204" pitchFamily="34" charset="-122"/>
                <a:ea typeface="微软雅黑" panose="020B0503020204020204" pitchFamily="34" charset="-122"/>
              </a:rPr>
              <a:t>),</a:t>
            </a:r>
          </a:p>
          <a:p>
            <a:pPr marL="342900" eaLnBrk="0" hangingPunct="0">
              <a:lnSpc>
                <a:spcPts val="2900"/>
              </a:lnSpc>
              <a:buClr>
                <a:srgbClr val="002060"/>
              </a:buClr>
              <a:buSzPct val="80000"/>
              <a:buFont typeface="Wingdings" panose="05000000000000000000" pitchFamily="2" charset="2"/>
              <a:buChar char="Ø"/>
            </a:pPr>
            <a:r>
              <a:rPr lang="zh-CN" altLang="en-US" dirty="0">
                <a:solidFill>
                  <a:srgbClr val="0070C0"/>
                </a:solidFill>
                <a:latin typeface="微软雅黑" panose="020B0503020204020204" pitchFamily="34" charset="-122"/>
                <a:ea typeface="微软雅黑" panose="020B0503020204020204" pitchFamily="34" charset="-122"/>
              </a:rPr>
              <a:t>绘制矩阵</a:t>
            </a:r>
            <a:r>
              <a:rPr lang="en-US" altLang="zh-CN" dirty="0">
                <a:solidFill>
                  <a:srgbClr val="0070C0"/>
                </a:solidFill>
                <a:latin typeface="微软雅黑" panose="020B0503020204020204" pitchFamily="34" charset="-122"/>
                <a:ea typeface="微软雅黑" panose="020B0503020204020204" pitchFamily="34" charset="-122"/>
              </a:rPr>
              <a:t>y (</a:t>
            </a:r>
            <a:r>
              <a:rPr lang="en-US" altLang="zh-CN" dirty="0" err="1">
                <a:solidFill>
                  <a:srgbClr val="0070C0"/>
                </a:solidFill>
                <a:latin typeface="微软雅黑" panose="020B0503020204020204" pitchFamily="34" charset="-122"/>
                <a:ea typeface="微软雅黑" panose="020B0503020204020204" pitchFamily="34" charset="-122"/>
              </a:rPr>
              <a:t>m,n</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曲线时，绘制曲线的每对数组长度必须相同，故要求</a:t>
            </a:r>
            <a:r>
              <a:rPr lang="en-US" altLang="zh-CN" dirty="0">
                <a:solidFill>
                  <a:srgbClr val="0070C0"/>
                </a:solidFill>
                <a:latin typeface="微软雅黑" panose="020B0503020204020204" pitchFamily="34" charset="-122"/>
                <a:ea typeface="微软雅黑" panose="020B0503020204020204" pitchFamily="34" charset="-122"/>
              </a:rPr>
              <a:t>k=m</a:t>
            </a:r>
            <a:r>
              <a:rPr lang="zh-CN" altLang="en-US" dirty="0">
                <a:solidFill>
                  <a:srgbClr val="0070C0"/>
                </a:solidFill>
                <a:latin typeface="微软雅黑" panose="020B0503020204020204" pitchFamily="34" charset="-122"/>
                <a:ea typeface="微软雅黑" panose="020B0503020204020204" pitchFamily="34" charset="-122"/>
              </a:rPr>
              <a:t>或</a:t>
            </a:r>
            <a:r>
              <a:rPr lang="en-US" altLang="zh-CN" dirty="0">
                <a:solidFill>
                  <a:srgbClr val="0070C0"/>
                </a:solidFill>
                <a:latin typeface="微软雅黑" panose="020B0503020204020204" pitchFamily="34" charset="-122"/>
                <a:ea typeface="微软雅黑" panose="020B0503020204020204" pitchFamily="34" charset="-122"/>
              </a:rPr>
              <a:t>k=n</a:t>
            </a:r>
          </a:p>
          <a:p>
            <a:pPr marL="342900" eaLnBrk="0" hangingPunct="0">
              <a:lnSpc>
                <a:spcPts val="2900"/>
              </a:lnSpc>
              <a:buClr>
                <a:srgbClr val="002060"/>
              </a:buClr>
              <a:buSzPct val="80000"/>
              <a:buFont typeface="Wingdings" panose="05000000000000000000" pitchFamily="2" charset="2"/>
              <a:buChar char="Ø"/>
            </a:pPr>
            <a:r>
              <a:rPr lang="zh-CN" altLang="en-US" dirty="0">
                <a:solidFill>
                  <a:srgbClr val="0070C0"/>
                </a:solidFill>
                <a:latin typeface="微软雅黑" panose="020B0503020204020204" pitchFamily="34" charset="-122"/>
                <a:ea typeface="微软雅黑" panose="020B0503020204020204" pitchFamily="34" charset="-122"/>
              </a:rPr>
              <a:t>当</a:t>
            </a:r>
            <a:r>
              <a:rPr lang="en-US" altLang="zh-CN" dirty="0">
                <a:solidFill>
                  <a:srgbClr val="0070C0"/>
                </a:solidFill>
                <a:latin typeface="微软雅黑" panose="020B0503020204020204" pitchFamily="34" charset="-122"/>
                <a:ea typeface="微软雅黑" panose="020B0503020204020204" pitchFamily="34" charset="-122"/>
              </a:rPr>
              <a:t>k=m</a:t>
            </a:r>
            <a:r>
              <a:rPr lang="zh-CN" altLang="en-US" dirty="0">
                <a:solidFill>
                  <a:srgbClr val="0070C0"/>
                </a:solidFill>
                <a:latin typeface="微软雅黑" panose="020B0503020204020204" pitchFamily="34" charset="-122"/>
                <a:ea typeface="微软雅黑" panose="020B0503020204020204" pitchFamily="34" charset="-122"/>
              </a:rPr>
              <a:t>时，那么绘制曲线条数就等于</a:t>
            </a:r>
            <a:r>
              <a:rPr lang="en-US" altLang="zh-CN" dirty="0">
                <a:solidFill>
                  <a:srgbClr val="0070C0"/>
                </a:solidFill>
                <a:latin typeface="微软雅黑" panose="020B0503020204020204" pitchFamily="34" charset="-122"/>
                <a:ea typeface="微软雅黑" panose="020B0503020204020204" pitchFamily="34" charset="-122"/>
              </a:rPr>
              <a:t>n;    </a:t>
            </a:r>
            <a:r>
              <a:rPr lang="zh-CN" altLang="en-US" dirty="0">
                <a:solidFill>
                  <a:srgbClr val="0070C0"/>
                </a:solidFill>
                <a:latin typeface="微软雅黑" panose="020B0503020204020204" pitchFamily="34" charset="-122"/>
                <a:ea typeface="微软雅黑" panose="020B0503020204020204" pitchFamily="34" charset="-122"/>
              </a:rPr>
              <a:t>当</a:t>
            </a:r>
            <a:r>
              <a:rPr lang="en-US" altLang="zh-CN" dirty="0">
                <a:solidFill>
                  <a:srgbClr val="0070C0"/>
                </a:solidFill>
                <a:latin typeface="微软雅黑" panose="020B0503020204020204" pitchFamily="34" charset="-122"/>
                <a:ea typeface="微软雅黑" panose="020B0503020204020204" pitchFamily="34" charset="-122"/>
              </a:rPr>
              <a:t>k=n</a:t>
            </a:r>
            <a:r>
              <a:rPr lang="zh-CN" altLang="en-US" dirty="0">
                <a:solidFill>
                  <a:srgbClr val="0070C0"/>
                </a:solidFill>
                <a:latin typeface="微软雅黑" panose="020B0503020204020204" pitchFamily="34" charset="-122"/>
                <a:ea typeface="微软雅黑" panose="020B0503020204020204" pitchFamily="34" charset="-122"/>
              </a:rPr>
              <a:t>时，那么绘制曲线条数就等于</a:t>
            </a:r>
            <a:r>
              <a:rPr lang="en-US" altLang="zh-CN" dirty="0">
                <a:solidFill>
                  <a:srgbClr val="0070C0"/>
                </a:solidFill>
                <a:latin typeface="微软雅黑" panose="020B0503020204020204" pitchFamily="34" charset="-122"/>
                <a:ea typeface="微软雅黑" panose="020B0503020204020204" pitchFamily="34" charset="-122"/>
              </a:rPr>
              <a:t>m</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17" name="日期占位符 3">
            <a:extLst>
              <a:ext uri="{FF2B5EF4-FFF2-40B4-BE49-F238E27FC236}">
                <a16:creationId xmlns:a16="http://schemas.microsoft.com/office/drawing/2014/main" id="{4E2B6EFC-3BB8-4A47-B03B-497975ECD74C}"/>
              </a:ext>
            </a:extLst>
          </p:cNvPr>
          <p:cNvSpPr>
            <a:spLocks noGrp="1"/>
          </p:cNvSpPr>
          <p:nvPr>
            <p:ph type="dt" sz="half" idx="10"/>
          </p:nvPr>
        </p:nvSpPr>
        <p:spPr bwMode="auto">
          <a:xfrm>
            <a:off x="714859" y="4207189"/>
            <a:ext cx="2133600" cy="357188"/>
          </a:xfrm>
          <a:prstGeom prst="rect">
            <a:avLst/>
          </a:prstGeom>
          <a:noFill/>
          <a:ln>
            <a:noFill/>
          </a:ln>
        </p:spPr>
        <p:txBody>
          <a:bodyPr vert="horz" wrap="square" lIns="91440" tIns="45720" rIns="91440" bIns="45720" numCol="1" anchor="t" anchorCtr="0" compatLnSpc="1"/>
          <a:lstStyle>
            <a:defPPr>
              <a:defRPr lang="zh-CN"/>
            </a:defPPr>
            <a:lvl1pPr algn="l"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869D5C21-8453-4E8B-8FA6-9D282B0DEA91}" type="datetime1">
              <a:rPr lang="zh-CN" altLang="en-US" sz="1600" smtClean="0"/>
              <a:pPr>
                <a:defRPr/>
              </a:pPr>
              <a:t>2025/3/20</a:t>
            </a:fld>
            <a:endParaRPr lang="zh-CN" altLang="en-US" sz="1600"/>
          </a:p>
        </p:txBody>
      </p:sp>
      <p:sp>
        <p:nvSpPr>
          <p:cNvPr id="18" name="Rectangle 3">
            <a:extLst>
              <a:ext uri="{FF2B5EF4-FFF2-40B4-BE49-F238E27FC236}">
                <a16:creationId xmlns:a16="http://schemas.microsoft.com/office/drawing/2014/main" id="{8781E0F5-43B9-4E0C-9080-E6BA9E7D715F}"/>
              </a:ext>
            </a:extLst>
          </p:cNvPr>
          <p:cNvSpPr txBox="1">
            <a:spLocks noGrp="1" noChangeArrowheads="1"/>
          </p:cNvSpPr>
          <p:nvPr>
            <p:ph idx="1"/>
          </p:nvPr>
        </p:nvSpPr>
        <p:spPr bwMode="auto">
          <a:xfrm>
            <a:off x="376844" y="2722083"/>
            <a:ext cx="4422583" cy="1290353"/>
          </a:xfrm>
          <a:prstGeom prst="rect">
            <a:avLst/>
          </a:prstGeom>
          <a:solidFill>
            <a:schemeClr val="bg1"/>
          </a:solidFill>
          <a:ln>
            <a:noFill/>
            <a:prstDash val="dash"/>
          </a:ln>
        </p:spPr>
        <p:txBody>
          <a:bodyPr/>
          <a:lstStyle>
            <a:lvl1pPr marL="342900" indent="-34290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5pPr>
            <a:lvl6pPr marL="25146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6pPr>
            <a:lvl7pPr marL="29718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7pPr>
            <a:lvl8pPr marL="34290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8pPr>
            <a:lvl9pPr marL="3886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9pPr>
          </a:lstStyle>
          <a:p>
            <a:pPr marL="0" indent="0" eaLnBrk="1" hangingPunct="1">
              <a:buNone/>
              <a:defRPr/>
            </a:pPr>
            <a:r>
              <a:rPr lang="en-US" altLang="zh-CN" sz="1600" kern="0" dirty="0">
                <a:solidFill>
                  <a:srgbClr val="002060"/>
                </a:solidFill>
                <a:latin typeface="隶书" panose="02010509060101010101" pitchFamily="49" charset="-122"/>
                <a:ea typeface="隶书" panose="02010509060101010101" pitchFamily="49" charset="-122"/>
              </a:rPr>
              <a:t>x =[x1,  x2,   x3,  x4]</a:t>
            </a:r>
          </a:p>
          <a:p>
            <a:pPr marL="0" indent="0" eaLnBrk="1" hangingPunct="1">
              <a:buNone/>
              <a:defRPr/>
            </a:pPr>
            <a:r>
              <a:rPr lang="es-ES" altLang="zh-CN" sz="1600" kern="0" dirty="0">
                <a:solidFill>
                  <a:srgbClr val="002060"/>
                </a:solidFill>
                <a:latin typeface="隶书" panose="02010509060101010101" pitchFamily="49" charset="-122"/>
                <a:ea typeface="隶书" panose="02010509060101010101" pitchFamily="49" charset="-122"/>
              </a:rPr>
              <a:t>y =[y11, y12, y13, y14]</a:t>
            </a:r>
          </a:p>
          <a:p>
            <a:pPr marL="0" indent="0" eaLnBrk="1" hangingPunct="1">
              <a:buNone/>
              <a:defRPr/>
            </a:pPr>
            <a:r>
              <a:rPr lang="es-ES" altLang="zh-CN" sz="1600" kern="0" dirty="0">
                <a:solidFill>
                  <a:srgbClr val="002060"/>
                </a:solidFill>
                <a:latin typeface="隶书" panose="02010509060101010101" pitchFamily="49" charset="-122"/>
                <a:ea typeface="隶书" panose="02010509060101010101" pitchFamily="49" charset="-122"/>
              </a:rPr>
              <a:t>   [y21, y22, y23, y24]</a:t>
            </a:r>
          </a:p>
          <a:p>
            <a:pPr marL="0" indent="0" eaLnBrk="1" hangingPunct="1">
              <a:buNone/>
              <a:defRPr/>
            </a:pPr>
            <a:r>
              <a:rPr lang="es-ES" altLang="zh-CN" sz="1600" kern="0" dirty="0">
                <a:solidFill>
                  <a:srgbClr val="002060"/>
                </a:solidFill>
                <a:latin typeface="隶书" panose="02010509060101010101" pitchFamily="49" charset="-122"/>
                <a:ea typeface="隶书" panose="02010509060101010101" pitchFamily="49" charset="-122"/>
              </a:rPr>
              <a:t>   [y31, y32, y33, y34]</a:t>
            </a:r>
            <a:endParaRPr lang="zh-CN" altLang="en-US" sz="1600" kern="0" dirty="0">
              <a:solidFill>
                <a:srgbClr val="002060"/>
              </a:solidFill>
              <a:latin typeface="隶书" panose="02010509060101010101" pitchFamily="49" charset="-122"/>
              <a:ea typeface="隶书" panose="02010509060101010101" pitchFamily="49" charset="-122"/>
            </a:endParaRPr>
          </a:p>
        </p:txBody>
      </p:sp>
      <p:sp>
        <p:nvSpPr>
          <p:cNvPr id="19" name="Rectangle 3">
            <a:extLst>
              <a:ext uri="{FF2B5EF4-FFF2-40B4-BE49-F238E27FC236}">
                <a16:creationId xmlns:a16="http://schemas.microsoft.com/office/drawing/2014/main" id="{D9EA572F-A506-43CC-B681-BD4DB73CE4C9}"/>
              </a:ext>
            </a:extLst>
          </p:cNvPr>
          <p:cNvSpPr txBox="1">
            <a:spLocks noChangeArrowheads="1"/>
          </p:cNvSpPr>
          <p:nvPr/>
        </p:nvSpPr>
        <p:spPr bwMode="auto">
          <a:xfrm>
            <a:off x="4572000" y="2634831"/>
            <a:ext cx="2944591" cy="1665111"/>
          </a:xfrm>
          <a:prstGeom prst="rect">
            <a:avLst/>
          </a:prstGeom>
          <a:solidFill>
            <a:schemeClr val="bg1"/>
          </a:solidFill>
          <a:ln w="9525">
            <a:noFill/>
            <a:prstDash val="dashDot"/>
            <a:miter lim="800000"/>
          </a:ln>
        </p:spPr>
        <p:txBody>
          <a:bodyPr vert="horz" wrap="square" lIns="91440" tIns="45720" rIns="91440" bIns="45720" numCol="1" anchor="t"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5pPr>
            <a:lvl6pPr marL="25146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6pPr>
            <a:lvl7pPr marL="29718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7pPr>
            <a:lvl8pPr marL="34290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8pPr>
            <a:lvl9pPr marL="3886200" indent="-228600" algn="l" defTabSz="0" rtl="0" eaLnBrk="0" fontAlgn="base" hangingPunct="0">
              <a:spcBef>
                <a:spcPct val="20000"/>
              </a:spcBef>
              <a:spcAft>
                <a:spcPct val="0"/>
              </a:spcAft>
              <a:buFont typeface="Arial" panose="020B0604020202020204" pitchFamily="34" charset="0"/>
              <a:buChar char="»"/>
              <a:defRPr sz="1800">
                <a:solidFill>
                  <a:schemeClr val="tx1"/>
                </a:solidFill>
                <a:latin typeface="+mn-lt"/>
                <a:ea typeface="+mn-ea"/>
                <a:sym typeface="Arial" panose="020B0604020202020204" pitchFamily="34" charset="0"/>
              </a:defRPr>
            </a:lvl9pPr>
          </a:lstStyle>
          <a:p>
            <a:pPr marL="0" indent="0" eaLnBrk="1" hangingPunct="1">
              <a:buFont typeface="Arial" panose="020B0604020202020204" pitchFamily="34" charset="0"/>
              <a:buNone/>
              <a:defRPr/>
            </a:pPr>
            <a:r>
              <a:rPr lang="en-US" altLang="zh-CN" sz="1800" kern="0" dirty="0">
                <a:solidFill>
                  <a:srgbClr val="002060"/>
                </a:solidFill>
                <a:latin typeface="华文楷体" panose="02010600040101010101" pitchFamily="2" charset="-122"/>
                <a:ea typeface="华文楷体" panose="02010600040101010101" pitchFamily="2" charset="-122"/>
              </a:rPr>
              <a:t>x =[x1, x2,  x3, x4]</a:t>
            </a:r>
          </a:p>
          <a:p>
            <a:pPr marL="0" indent="0" eaLnBrk="1" hangingPunct="1">
              <a:buNone/>
              <a:defRPr/>
            </a:pPr>
            <a:r>
              <a:rPr lang="es-ES" altLang="zh-CN" sz="1800" kern="0" dirty="0">
                <a:solidFill>
                  <a:srgbClr val="002060"/>
                </a:solidFill>
                <a:latin typeface="华文楷体" panose="02010600040101010101" pitchFamily="2" charset="-122"/>
                <a:ea typeface="华文楷体" panose="02010600040101010101" pitchFamily="2" charset="-122"/>
              </a:rPr>
              <a:t>y =[y11, y12, y13]</a:t>
            </a:r>
          </a:p>
          <a:p>
            <a:pPr marL="0" indent="0" eaLnBrk="1" hangingPunct="1">
              <a:buNone/>
              <a:defRPr/>
            </a:pPr>
            <a:r>
              <a:rPr lang="es-ES" altLang="zh-CN" sz="1800" kern="0" dirty="0">
                <a:solidFill>
                  <a:srgbClr val="002060"/>
                </a:solidFill>
                <a:latin typeface="华文楷体" panose="02010600040101010101" pitchFamily="2" charset="-122"/>
                <a:ea typeface="华文楷体" panose="02010600040101010101" pitchFamily="2" charset="-122"/>
              </a:rPr>
              <a:t>     [y21, y22, y23]</a:t>
            </a:r>
          </a:p>
          <a:p>
            <a:pPr marL="0" indent="0" eaLnBrk="1" hangingPunct="1">
              <a:buNone/>
              <a:defRPr/>
            </a:pPr>
            <a:r>
              <a:rPr lang="es-ES" altLang="zh-CN" sz="1800" kern="0" dirty="0">
                <a:solidFill>
                  <a:srgbClr val="002060"/>
                </a:solidFill>
                <a:latin typeface="华文楷体" panose="02010600040101010101" pitchFamily="2" charset="-122"/>
                <a:ea typeface="华文楷体" panose="02010600040101010101" pitchFamily="2" charset="-122"/>
              </a:rPr>
              <a:t>     [y31, y32, y33]</a:t>
            </a:r>
          </a:p>
          <a:p>
            <a:pPr marL="0" indent="0" eaLnBrk="1" hangingPunct="1">
              <a:buNone/>
              <a:defRPr/>
            </a:pPr>
            <a:r>
              <a:rPr lang="es-ES" altLang="zh-CN" sz="1800" kern="0" dirty="0">
                <a:solidFill>
                  <a:srgbClr val="002060"/>
                </a:solidFill>
                <a:latin typeface="华文楷体" panose="02010600040101010101" pitchFamily="2" charset="-122"/>
                <a:ea typeface="华文楷体" panose="02010600040101010101" pitchFamily="2" charset="-122"/>
              </a:rPr>
              <a:t>     [y41, y42, y43]</a:t>
            </a:r>
            <a:endParaRPr lang="zh-CN" altLang="en-US" sz="1800" kern="0" dirty="0">
              <a:solidFill>
                <a:srgbClr val="002060"/>
              </a:solidFill>
              <a:latin typeface="华文楷体" panose="02010600040101010101" pitchFamily="2" charset="-122"/>
              <a:ea typeface="华文楷体" panose="02010600040101010101" pitchFamily="2" charset="-122"/>
            </a:endParaRPr>
          </a:p>
        </p:txBody>
      </p:sp>
      <p:sp>
        <p:nvSpPr>
          <p:cNvPr id="23" name="内容占位符 2">
            <a:extLst>
              <a:ext uri="{FF2B5EF4-FFF2-40B4-BE49-F238E27FC236}">
                <a16:creationId xmlns:a16="http://schemas.microsoft.com/office/drawing/2014/main" id="{58EDABDB-D4EE-4DC1-9882-086EDA8D98D4}"/>
              </a:ext>
            </a:extLst>
          </p:cNvPr>
          <p:cNvSpPr txBox="1">
            <a:spLocks/>
          </p:cNvSpPr>
          <p:nvPr/>
        </p:nvSpPr>
        <p:spPr bwMode="auto">
          <a:xfrm>
            <a:off x="292189" y="3988580"/>
            <a:ext cx="4943081" cy="513484"/>
          </a:xfrm>
          <a:prstGeom prst="rect">
            <a:avLst/>
          </a:prstGeom>
          <a:solidFill>
            <a:schemeClr val="bg1"/>
          </a:solidFill>
          <a:ln w="9525">
            <a:noFill/>
            <a:miter lim="800000"/>
          </a:ln>
        </p:spPr>
        <p:txBody>
          <a:bodyPr vert="horz" wrap="square" lIns="91440" tIns="45720" rIns="91440" bIns="45720" numCol="1" anchor="t" anchorCtr="0" compatLnSpc="1"/>
          <a:lstStyle>
            <a:defPPr>
              <a:defRPr lang="zh-CN"/>
            </a:defPPr>
            <a:lvl1pPr marL="342900" indent="-342900" defTabSz="0" eaLnBrk="0" hangingPunct="0">
              <a:buClr>
                <a:srgbClr val="002060"/>
              </a:buClr>
              <a:buFont typeface="Wingdings" panose="05000000000000000000" pitchFamily="2" charset="2"/>
              <a:buChar char="Ø"/>
              <a:defRPr sz="2000" kern="0">
                <a:solidFill>
                  <a:srgbClr val="002060"/>
                </a:solidFill>
                <a:latin typeface="隶书" panose="02010509060101010101" pitchFamily="49" charset="-122"/>
                <a:ea typeface="隶书" panose="02010509060101010101" pitchFamily="49"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r>
              <a:rPr lang="zh-CN" altLang="en-US" sz="1600" kern="1200" dirty="0">
                <a:latin typeface="华文楷体" panose="02010600040101010101" pitchFamily="2" charset="-122"/>
                <a:ea typeface="华文楷体" panose="02010600040101010101" pitchFamily="2" charset="-122"/>
              </a:rPr>
              <a:t>向量</a:t>
            </a:r>
            <a:r>
              <a:rPr lang="en-US" altLang="zh-CN" sz="1600" kern="1200" dirty="0">
                <a:latin typeface="华文楷体" panose="02010600040101010101" pitchFamily="2" charset="-122"/>
                <a:ea typeface="华文楷体" panose="02010600040101010101" pitchFamily="2" charset="-122"/>
              </a:rPr>
              <a:t>x</a:t>
            </a:r>
            <a:r>
              <a:rPr lang="zh-CN" altLang="en-US" sz="1600" kern="1200" dirty="0">
                <a:latin typeface="华文楷体" panose="02010600040101010101" pitchFamily="2" charset="-122"/>
                <a:ea typeface="华文楷体" panose="02010600040101010101" pitchFamily="2" charset="-122"/>
              </a:rPr>
              <a:t>和矩阵</a:t>
            </a:r>
            <a:r>
              <a:rPr lang="en-US" altLang="zh-CN" sz="1600" kern="1200" dirty="0">
                <a:latin typeface="华文楷体" panose="02010600040101010101" pitchFamily="2" charset="-122"/>
                <a:ea typeface="华文楷体" panose="02010600040101010101" pitchFamily="2" charset="-122"/>
              </a:rPr>
              <a:t>y</a:t>
            </a:r>
            <a:r>
              <a:rPr lang="zh-CN" altLang="en-US" sz="1600" kern="1200" dirty="0">
                <a:latin typeface="华文楷体" panose="02010600040101010101" pitchFamily="2" charset="-122"/>
                <a:ea typeface="华文楷体" panose="02010600040101010101" pitchFamily="2" charset="-122"/>
              </a:rPr>
              <a:t>每一行元素构成一条曲线</a:t>
            </a:r>
          </a:p>
        </p:txBody>
      </p:sp>
      <p:sp>
        <p:nvSpPr>
          <p:cNvPr id="24" name="内容占位符 2">
            <a:extLst>
              <a:ext uri="{FF2B5EF4-FFF2-40B4-BE49-F238E27FC236}">
                <a16:creationId xmlns:a16="http://schemas.microsoft.com/office/drawing/2014/main" id="{268EB674-A9EE-4368-8FD3-1E3966C2A8A5}"/>
              </a:ext>
            </a:extLst>
          </p:cNvPr>
          <p:cNvSpPr txBox="1">
            <a:spLocks/>
          </p:cNvSpPr>
          <p:nvPr/>
        </p:nvSpPr>
        <p:spPr bwMode="auto">
          <a:xfrm>
            <a:off x="328287" y="4320394"/>
            <a:ext cx="5448364" cy="513484"/>
          </a:xfrm>
          <a:prstGeom prst="rect">
            <a:avLst/>
          </a:prstGeom>
          <a:noFill/>
          <a:ln w="9525">
            <a:noFill/>
            <a:miter lim="800000"/>
          </a:ln>
        </p:spPr>
        <p:txBody>
          <a:bodyPr vert="horz" wrap="square" lIns="91440" tIns="45720" rIns="91440" bIns="45720" numCol="1" anchor="t"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spcBef>
                <a:spcPct val="0"/>
              </a:spcBef>
              <a:buClr>
                <a:srgbClr val="002060"/>
              </a:buClr>
              <a:buFont typeface="Wingdings" panose="05000000000000000000" pitchFamily="2" charset="2"/>
              <a:buChar char="Ø"/>
            </a:pPr>
            <a:r>
              <a:rPr lang="zh-CN" altLang="en-US" sz="1600" kern="0" dirty="0">
                <a:solidFill>
                  <a:srgbClr val="002060"/>
                </a:solidFill>
                <a:latin typeface="华文楷体" panose="02010600040101010101" pitchFamily="2" charset="-122"/>
                <a:ea typeface="华文楷体" panose="02010600040101010101" pitchFamily="2" charset="-122"/>
              </a:rPr>
              <a:t> 有多少行就绘制多少条曲线</a:t>
            </a:r>
            <a:endParaRPr lang="en-US" altLang="zh-CN" sz="1600" kern="0" dirty="0">
              <a:solidFill>
                <a:srgbClr val="002060"/>
              </a:solidFill>
              <a:latin typeface="华文楷体" panose="02010600040101010101" pitchFamily="2" charset="-122"/>
              <a:ea typeface="华文楷体" panose="02010600040101010101" pitchFamily="2" charset="-122"/>
            </a:endParaRPr>
          </a:p>
        </p:txBody>
      </p:sp>
      <p:sp>
        <p:nvSpPr>
          <p:cNvPr id="26" name="内容占位符 2">
            <a:extLst>
              <a:ext uri="{FF2B5EF4-FFF2-40B4-BE49-F238E27FC236}">
                <a16:creationId xmlns:a16="http://schemas.microsoft.com/office/drawing/2014/main" id="{874FAEA5-7524-416E-9DA6-2793EDACE0A0}"/>
              </a:ext>
            </a:extLst>
          </p:cNvPr>
          <p:cNvSpPr txBox="1">
            <a:spLocks/>
          </p:cNvSpPr>
          <p:nvPr/>
        </p:nvSpPr>
        <p:spPr bwMode="auto">
          <a:xfrm>
            <a:off x="6471846" y="3622643"/>
            <a:ext cx="2353828" cy="513484"/>
          </a:xfrm>
          <a:prstGeom prst="rect">
            <a:avLst/>
          </a:prstGeom>
          <a:noFill/>
          <a:ln w="9525">
            <a:noFill/>
            <a:miter lim="800000"/>
          </a:ln>
        </p:spPr>
        <p:txBody>
          <a:bodyPr vert="horz" wrap="square" lIns="91440" tIns="45720" rIns="91440" bIns="45720" numCol="1" anchor="t"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a:spcBef>
                <a:spcPct val="0"/>
              </a:spcBef>
              <a:buClr>
                <a:srgbClr val="002060"/>
              </a:buClr>
              <a:buFont typeface="Wingdings" panose="05000000000000000000" pitchFamily="2" charset="2"/>
              <a:buChar char="Ø"/>
            </a:pPr>
            <a:r>
              <a:rPr lang="zh-CN" altLang="en-US" sz="1800" kern="0" dirty="0">
                <a:solidFill>
                  <a:srgbClr val="002060"/>
                </a:solidFill>
                <a:latin typeface="华文楷体" panose="02010600040101010101" pitchFamily="2" charset="-122"/>
                <a:ea typeface="华文楷体" panose="02010600040101010101" pitchFamily="2" charset="-122"/>
              </a:rPr>
              <a:t>有多少列就绘制多少条曲线</a:t>
            </a:r>
            <a:endParaRPr lang="en-US" altLang="zh-CN" sz="1800" kern="0" dirty="0">
              <a:solidFill>
                <a:srgbClr val="002060"/>
              </a:solidFill>
              <a:latin typeface="华文楷体" panose="02010600040101010101" pitchFamily="2" charset="-122"/>
              <a:ea typeface="华文楷体" panose="02010600040101010101" pitchFamily="2" charset="-122"/>
            </a:endParaRPr>
          </a:p>
        </p:txBody>
      </p:sp>
      <p:cxnSp>
        <p:nvCxnSpPr>
          <p:cNvPr id="27" name="直接连接符 26">
            <a:extLst>
              <a:ext uri="{FF2B5EF4-FFF2-40B4-BE49-F238E27FC236}">
                <a16:creationId xmlns:a16="http://schemas.microsoft.com/office/drawing/2014/main" id="{78FAA24F-3D30-4F46-A360-8BC0FF1D6352}"/>
              </a:ext>
            </a:extLst>
          </p:cNvPr>
          <p:cNvCxnSpPr>
            <a:cxnSpLocks/>
          </p:cNvCxnSpPr>
          <p:nvPr/>
        </p:nvCxnSpPr>
        <p:spPr>
          <a:xfrm flipV="1">
            <a:off x="609546" y="3054161"/>
            <a:ext cx="2141191" cy="31693"/>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8" name="直接连接符 27">
            <a:extLst>
              <a:ext uri="{FF2B5EF4-FFF2-40B4-BE49-F238E27FC236}">
                <a16:creationId xmlns:a16="http://schemas.microsoft.com/office/drawing/2014/main" id="{BEF6C622-2AC6-4E4E-9E43-4F5023397049}"/>
              </a:ext>
            </a:extLst>
          </p:cNvPr>
          <p:cNvCxnSpPr>
            <a:cxnSpLocks/>
          </p:cNvCxnSpPr>
          <p:nvPr/>
        </p:nvCxnSpPr>
        <p:spPr>
          <a:xfrm flipV="1">
            <a:off x="810433" y="3333201"/>
            <a:ext cx="1991552" cy="40829"/>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29" name="直接连接符 28">
            <a:extLst>
              <a:ext uri="{FF2B5EF4-FFF2-40B4-BE49-F238E27FC236}">
                <a16:creationId xmlns:a16="http://schemas.microsoft.com/office/drawing/2014/main" id="{B75D55FA-353F-4F48-A79B-19C66939930A}"/>
              </a:ext>
            </a:extLst>
          </p:cNvPr>
          <p:cNvCxnSpPr>
            <a:cxnSpLocks/>
          </p:cNvCxnSpPr>
          <p:nvPr/>
        </p:nvCxnSpPr>
        <p:spPr>
          <a:xfrm>
            <a:off x="4626856" y="2965807"/>
            <a:ext cx="1982268" cy="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30" name="直接连接符 29">
            <a:extLst>
              <a:ext uri="{FF2B5EF4-FFF2-40B4-BE49-F238E27FC236}">
                <a16:creationId xmlns:a16="http://schemas.microsoft.com/office/drawing/2014/main" id="{E82B6DDA-66D5-45B6-ABAA-2D4F33F505AA}"/>
              </a:ext>
            </a:extLst>
          </p:cNvPr>
          <p:cNvCxnSpPr>
            <a:cxnSpLocks/>
          </p:cNvCxnSpPr>
          <p:nvPr/>
        </p:nvCxnSpPr>
        <p:spPr>
          <a:xfrm>
            <a:off x="5395040" y="3054022"/>
            <a:ext cx="0" cy="11880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1" name="直接连接符 30">
            <a:extLst>
              <a:ext uri="{FF2B5EF4-FFF2-40B4-BE49-F238E27FC236}">
                <a16:creationId xmlns:a16="http://schemas.microsoft.com/office/drawing/2014/main" id="{03801344-AA12-49F1-8AC6-D5028905F3C4}"/>
              </a:ext>
            </a:extLst>
          </p:cNvPr>
          <p:cNvCxnSpPr>
            <a:cxnSpLocks/>
          </p:cNvCxnSpPr>
          <p:nvPr/>
        </p:nvCxnSpPr>
        <p:spPr>
          <a:xfrm flipV="1">
            <a:off x="825045" y="3689994"/>
            <a:ext cx="1976940" cy="21350"/>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2" name="直接连接符 31">
            <a:extLst>
              <a:ext uri="{FF2B5EF4-FFF2-40B4-BE49-F238E27FC236}">
                <a16:creationId xmlns:a16="http://schemas.microsoft.com/office/drawing/2014/main" id="{C58344D2-6D0B-4FCD-843C-8FF5ED9AC9E1}"/>
              </a:ext>
            </a:extLst>
          </p:cNvPr>
          <p:cNvCxnSpPr>
            <a:cxnSpLocks/>
          </p:cNvCxnSpPr>
          <p:nvPr/>
        </p:nvCxnSpPr>
        <p:spPr>
          <a:xfrm flipV="1">
            <a:off x="775756" y="3932790"/>
            <a:ext cx="2096330" cy="22284"/>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3" name="直接连接符 32">
            <a:extLst>
              <a:ext uri="{FF2B5EF4-FFF2-40B4-BE49-F238E27FC236}">
                <a16:creationId xmlns:a16="http://schemas.microsoft.com/office/drawing/2014/main" id="{DA3DCADF-B2B4-4A83-B79D-C0399B681129}"/>
              </a:ext>
            </a:extLst>
          </p:cNvPr>
          <p:cNvCxnSpPr>
            <a:cxnSpLocks/>
          </p:cNvCxnSpPr>
          <p:nvPr/>
        </p:nvCxnSpPr>
        <p:spPr>
          <a:xfrm>
            <a:off x="5827088" y="3054022"/>
            <a:ext cx="0" cy="12240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cxnSp>
        <p:nvCxnSpPr>
          <p:cNvPr id="34" name="直接连接符 33">
            <a:extLst>
              <a:ext uri="{FF2B5EF4-FFF2-40B4-BE49-F238E27FC236}">
                <a16:creationId xmlns:a16="http://schemas.microsoft.com/office/drawing/2014/main" id="{28246B04-9D16-451D-A61A-6F7AAD46A5F0}"/>
              </a:ext>
            </a:extLst>
          </p:cNvPr>
          <p:cNvCxnSpPr>
            <a:cxnSpLocks/>
          </p:cNvCxnSpPr>
          <p:nvPr/>
        </p:nvCxnSpPr>
        <p:spPr>
          <a:xfrm>
            <a:off x="6259136" y="3018022"/>
            <a:ext cx="0" cy="126000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35" name="AutoShape 13">
            <a:extLst>
              <a:ext uri="{FF2B5EF4-FFF2-40B4-BE49-F238E27FC236}">
                <a16:creationId xmlns:a16="http://schemas.microsoft.com/office/drawing/2014/main" id="{0248C0E5-DB9B-4524-89BF-DA5DB4E2B04C}"/>
              </a:ext>
            </a:extLst>
          </p:cNvPr>
          <p:cNvSpPr>
            <a:spLocks noChangeArrowheads="1"/>
          </p:cNvSpPr>
          <p:nvPr/>
        </p:nvSpPr>
        <p:spPr bwMode="auto">
          <a:xfrm>
            <a:off x="4297597" y="4152310"/>
            <a:ext cx="1009563" cy="491184"/>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pPr eaLnBrk="0" hangingPunct="0">
              <a:lnSpc>
                <a:spcPct val="150000"/>
              </a:lnSpc>
              <a:defRPr/>
            </a:pPr>
            <a:r>
              <a:rPr lang="en-US" altLang="zh-CN" sz="1400" dirty="0">
                <a:solidFill>
                  <a:schemeClr val="bg1"/>
                </a:solidFill>
              </a:rPr>
              <a:t> </a:t>
            </a:r>
            <a:r>
              <a:rPr lang="zh-CN" altLang="en-US" sz="1400" dirty="0">
                <a:solidFill>
                  <a:schemeClr val="bg1"/>
                </a:solidFill>
              </a:rPr>
              <a:t>注意</a:t>
            </a:r>
            <a:endParaRPr lang="en-US" altLang="zh-CN" sz="1400" dirty="0">
              <a:solidFill>
                <a:schemeClr val="bg1"/>
              </a:solidFill>
            </a:endParaRPr>
          </a:p>
        </p:txBody>
      </p:sp>
      <p:sp>
        <p:nvSpPr>
          <p:cNvPr id="5" name="Rectangle 2">
            <a:extLst>
              <a:ext uri="{FF2B5EF4-FFF2-40B4-BE49-F238E27FC236}">
                <a16:creationId xmlns:a16="http://schemas.microsoft.com/office/drawing/2014/main" id="{BB8CB1F9-1BDC-8475-378B-CFAE86AF4585}"/>
              </a:ext>
            </a:extLst>
          </p:cNvPr>
          <p:cNvSpPr txBox="1">
            <a:spLocks noChangeArrowheads="1"/>
          </p:cNvSpPr>
          <p:nvPr/>
        </p:nvSpPr>
        <p:spPr bwMode="auto">
          <a:xfrm>
            <a:off x="485313" y="11809"/>
            <a:ext cx="8634133" cy="326943"/>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endParaRPr lang="en-US" altLang="zh-CN" sz="24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a:p>
            <a:pPr algn="l" eaLnBrk="1" hangingPunct="1"/>
            <a:r>
              <a:rPr lang="en-US" altLang="zh-CN" sz="2400" kern="0" dirty="0">
                <a:solidFill>
                  <a:srgbClr val="002060"/>
                </a:solidFill>
                <a:latin typeface="华文楷体" panose="02010600040101010101" pitchFamily="2" charset="-122"/>
                <a:ea typeface="华文楷体" panose="02010600040101010101" pitchFamily="2" charset="-122"/>
                <a:cs typeface="隶书" panose="02010509060101010101" charset="-122"/>
              </a:rPr>
              <a:t>§</a:t>
            </a:r>
            <a:r>
              <a:rPr lang="en-US" altLang="zh-CN" sz="2400" kern="0" dirty="0">
                <a:solidFill>
                  <a:srgbClr val="002060"/>
                </a:solidFill>
                <a:latin typeface="华文楷体" panose="02010600040101010101" pitchFamily="2" charset="-122"/>
                <a:ea typeface="华文楷体" panose="02010600040101010101" pitchFamily="2" charset="-122"/>
              </a:rPr>
              <a:t>3.3.1 plot</a:t>
            </a:r>
            <a:r>
              <a:rPr lang="zh-CN" altLang="en-US" sz="2400" kern="0" dirty="0">
                <a:solidFill>
                  <a:srgbClr val="002060"/>
                </a:solidFill>
                <a:latin typeface="华文楷体" panose="02010600040101010101" pitchFamily="2" charset="-122"/>
                <a:ea typeface="华文楷体" panose="02010600040101010101" pitchFamily="2" charset="-122"/>
              </a:rPr>
              <a:t>绘制多条二维曲线</a:t>
            </a:r>
            <a:r>
              <a:rPr lang="en-US" altLang="zh-CN" sz="2400" b="0" kern="0" dirty="0">
                <a:solidFill>
                  <a:srgbClr val="FF0000"/>
                </a:solidFill>
                <a:latin typeface="华文楷体" panose="02010600040101010101" pitchFamily="2" charset="-122"/>
                <a:ea typeface="华文楷体" panose="02010600040101010101" pitchFamily="2" charset="-122"/>
              </a:rPr>
              <a:t>——</a:t>
            </a:r>
            <a:r>
              <a:rPr lang="zh-CN" altLang="en-US" sz="2200" b="1" kern="0" dirty="0">
                <a:solidFill>
                  <a:srgbClr val="FF0000"/>
                </a:solidFill>
                <a:latin typeface="微软雅黑" panose="020B0503020204020204" pitchFamily="34" charset="-122"/>
                <a:ea typeface="微软雅黑" panose="020B0503020204020204" pitchFamily="34" charset="-122"/>
              </a:rPr>
              <a:t>输入向量</a:t>
            </a:r>
            <a:r>
              <a:rPr lang="en-US" altLang="zh-CN" sz="2200" b="1" kern="0" dirty="0">
                <a:solidFill>
                  <a:srgbClr val="FF0000"/>
                </a:solidFill>
                <a:latin typeface="微软雅黑" panose="020B0503020204020204" pitchFamily="34" charset="-122"/>
                <a:ea typeface="微软雅黑" panose="020B0503020204020204" pitchFamily="34" charset="-122"/>
              </a:rPr>
              <a:t>x</a:t>
            </a:r>
            <a:r>
              <a:rPr lang="zh-CN" altLang="en-US" sz="2200" b="1" kern="0" dirty="0">
                <a:solidFill>
                  <a:srgbClr val="FF0000"/>
                </a:solidFill>
                <a:latin typeface="微软雅黑" panose="020B0503020204020204" pitchFamily="34" charset="-122"/>
                <a:ea typeface="微软雅黑" panose="020B0503020204020204" pitchFamily="34" charset="-122"/>
              </a:rPr>
              <a:t>和矩阵</a:t>
            </a:r>
            <a:r>
              <a:rPr lang="en-US" altLang="zh-CN" sz="2200" b="1" kern="0" dirty="0">
                <a:solidFill>
                  <a:srgbClr val="FF0000"/>
                </a:solidFill>
                <a:latin typeface="微软雅黑" panose="020B0503020204020204" pitchFamily="34" charset="-122"/>
                <a:ea typeface="微软雅黑" panose="020B0503020204020204" pitchFamily="34" charset="-122"/>
              </a:rPr>
              <a:t>y</a:t>
            </a:r>
            <a:r>
              <a:rPr lang="zh-CN" altLang="en-US" sz="2400" kern="0" dirty="0">
                <a:solidFill>
                  <a:srgbClr val="FF0000"/>
                </a:solidFill>
                <a:latin typeface="华文楷体" panose="02010600040101010101" pitchFamily="2" charset="-122"/>
                <a:ea typeface="华文楷体" panose="02010600040101010101" pitchFamily="2" charset="-122"/>
              </a:rPr>
              <a:t>绘多条曲线</a:t>
            </a:r>
            <a:endParaRPr lang="zh-CN" altLang="en-US" sz="24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sp>
        <p:nvSpPr>
          <p:cNvPr id="25" name="内容占位符 2">
            <a:extLst>
              <a:ext uri="{FF2B5EF4-FFF2-40B4-BE49-F238E27FC236}">
                <a16:creationId xmlns:a16="http://schemas.microsoft.com/office/drawing/2014/main" id="{B3AE9E5D-105A-41DE-8457-9B552F6A6B62}"/>
              </a:ext>
            </a:extLst>
          </p:cNvPr>
          <p:cNvSpPr txBox="1">
            <a:spLocks/>
          </p:cNvSpPr>
          <p:nvPr/>
        </p:nvSpPr>
        <p:spPr bwMode="auto">
          <a:xfrm>
            <a:off x="6476656" y="2878289"/>
            <a:ext cx="2585802" cy="513484"/>
          </a:xfrm>
          <a:prstGeom prst="rect">
            <a:avLst/>
          </a:prstGeom>
          <a:noFill/>
          <a:ln w="9525">
            <a:noFill/>
            <a:miter lim="800000"/>
          </a:ln>
        </p:spPr>
        <p:txBody>
          <a:bodyPr vert="horz" wrap="square" lIns="91440" tIns="45720" rIns="91440" bIns="45720" numCol="1" anchor="t"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a:spcBef>
                <a:spcPct val="0"/>
              </a:spcBef>
              <a:buClr>
                <a:srgbClr val="002060"/>
              </a:buClr>
              <a:buFont typeface="Wingdings" panose="05000000000000000000" pitchFamily="2" charset="2"/>
              <a:buChar char="Ø"/>
            </a:pPr>
            <a:r>
              <a:rPr lang="zh-CN" altLang="en-US" sz="1800" kern="0" dirty="0">
                <a:solidFill>
                  <a:srgbClr val="002060"/>
                </a:solidFill>
                <a:latin typeface="华文楷体" panose="02010600040101010101" pitchFamily="2" charset="-122"/>
                <a:ea typeface="华文楷体" panose="02010600040101010101" pitchFamily="2" charset="-122"/>
              </a:rPr>
              <a:t>向量</a:t>
            </a:r>
            <a:r>
              <a:rPr lang="en-US" altLang="zh-CN" sz="1800" kern="0" dirty="0">
                <a:solidFill>
                  <a:srgbClr val="002060"/>
                </a:solidFill>
                <a:latin typeface="华文楷体" panose="02010600040101010101" pitchFamily="2" charset="-122"/>
                <a:ea typeface="华文楷体" panose="02010600040101010101" pitchFamily="2" charset="-122"/>
              </a:rPr>
              <a:t>x</a:t>
            </a:r>
            <a:r>
              <a:rPr lang="zh-CN" altLang="en-US" sz="1800" kern="0" dirty="0">
                <a:solidFill>
                  <a:srgbClr val="002060"/>
                </a:solidFill>
                <a:latin typeface="华文楷体" panose="02010600040101010101" pitchFamily="2" charset="-122"/>
                <a:ea typeface="华文楷体" panose="02010600040101010101" pitchFamily="2" charset="-122"/>
              </a:rPr>
              <a:t>和矩阵</a:t>
            </a:r>
            <a:r>
              <a:rPr lang="en-US" altLang="zh-CN" sz="1800" kern="0" dirty="0">
                <a:solidFill>
                  <a:srgbClr val="002060"/>
                </a:solidFill>
                <a:latin typeface="华文楷体" panose="02010600040101010101" pitchFamily="2" charset="-122"/>
                <a:ea typeface="华文楷体" panose="02010600040101010101" pitchFamily="2" charset="-122"/>
              </a:rPr>
              <a:t>y</a:t>
            </a:r>
            <a:r>
              <a:rPr lang="zh-CN" altLang="en-US" sz="1800" kern="0" dirty="0">
                <a:solidFill>
                  <a:srgbClr val="002060"/>
                </a:solidFill>
                <a:latin typeface="华文楷体" panose="02010600040101010101" pitchFamily="2" charset="-122"/>
                <a:ea typeface="华文楷体" panose="02010600040101010101" pitchFamily="2" charset="-122"/>
              </a:rPr>
              <a:t>每一列元素构成一条曲线</a:t>
            </a:r>
          </a:p>
        </p:txBody>
      </p:sp>
      <p:sp>
        <p:nvSpPr>
          <p:cNvPr id="37" name="矩形 36">
            <a:extLst>
              <a:ext uri="{FF2B5EF4-FFF2-40B4-BE49-F238E27FC236}">
                <a16:creationId xmlns:a16="http://schemas.microsoft.com/office/drawing/2014/main" id="{D7F2F4B1-132E-4DE0-B81B-136DE30FE77D}"/>
              </a:ext>
            </a:extLst>
          </p:cNvPr>
          <p:cNvSpPr/>
          <p:nvPr/>
        </p:nvSpPr>
        <p:spPr>
          <a:xfrm>
            <a:off x="2137465" y="727996"/>
            <a:ext cx="6815454" cy="369332"/>
          </a:xfrm>
          <a:prstGeom prst="rect">
            <a:avLst/>
          </a:prstGeom>
          <a:solidFill>
            <a:srgbClr val="00206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句柄</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h =</a:t>
            </a:r>
            <a:r>
              <a:rPr lang="en-U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plot</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坐标区</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ax,</a:t>
            </a: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数据</a:t>
            </a:r>
            <a:r>
              <a:rPr lang="en-US" altLang="zh-CN" sz="2000" b="1" dirty="0" err="1">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x,y</a:t>
            </a:r>
            <a:r>
              <a:rPr lang="zh-CN" altLang="en-US"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a:t>
            </a:r>
            <a:r>
              <a:rPr lang="en-US" altLang="zh-CN" sz="2000" b="1" dirty="0" err="1">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fmt</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 </a:t>
            </a:r>
            <a:r>
              <a:rPr lang="zh-CN" altLang="en-US"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或</a:t>
            </a:r>
            <a:r>
              <a:rPr lang="en-US" altLang="zh-CN" sz="2000" dirty="0">
                <a:solidFill>
                  <a:schemeClr val="bg1"/>
                </a:solidFill>
              </a:rPr>
              <a:t>Key=Value</a:t>
            </a:r>
            <a:r>
              <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 ) </a:t>
            </a:r>
          </a:p>
        </p:txBody>
      </p:sp>
      <p:sp>
        <p:nvSpPr>
          <p:cNvPr id="39" name="矩形 38">
            <a:extLst>
              <a:ext uri="{FF2B5EF4-FFF2-40B4-BE49-F238E27FC236}">
                <a16:creationId xmlns:a16="http://schemas.microsoft.com/office/drawing/2014/main" id="{1C413BEB-13F4-4E26-98A7-A35AF5A8F356}"/>
              </a:ext>
            </a:extLst>
          </p:cNvPr>
          <p:cNvSpPr/>
          <p:nvPr/>
        </p:nvSpPr>
        <p:spPr>
          <a:xfrm>
            <a:off x="207446" y="741815"/>
            <a:ext cx="1471521" cy="369332"/>
          </a:xfrm>
          <a:prstGeom prst="rect">
            <a:avLst/>
          </a:prstGeom>
          <a:solidFill>
            <a:srgbClr val="FF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plot(x</a:t>
            </a:r>
            <a:r>
              <a:rPr lang="zh-CN" altLang="en-US"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a:t>
            </a:r>
            <a:r>
              <a:rPr lang="es-ES" altLang="zh-CN" sz="2000" b="1" dirty="0">
                <a:solidFill>
                  <a:schemeClr val="bg1"/>
                </a:solidFill>
                <a:effectLst>
                  <a:outerShdw blurRad="38100" dist="38100" dir="2700000" algn="tl">
                    <a:srgbClr val="000000">
                      <a:alpha val="43137"/>
                    </a:srgbClr>
                  </a:outerShdw>
                </a:effectLst>
                <a:highlight>
                  <a:srgbClr val="FF0000"/>
                </a:highlight>
                <a:latin typeface="隶书" panose="02010509060101010101" pitchFamily="49" charset="-122"/>
                <a:ea typeface="隶书" panose="02010509060101010101" pitchFamily="49" charset="-122"/>
              </a:rPr>
              <a:t>y</a:t>
            </a:r>
            <a:r>
              <a:rPr lang="es-E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a:t>
            </a:r>
            <a:endParaRPr lang="en-US" altLang="zh-CN" sz="2000" b="1"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sym typeface="Arial" panose="020B0604020202020204" pitchFamily="34" charset="0"/>
            </a:endParaRPr>
          </a:p>
        </p:txBody>
      </p:sp>
      <p:sp>
        <p:nvSpPr>
          <p:cNvPr id="40" name="文本框 39">
            <a:extLst>
              <a:ext uri="{FF2B5EF4-FFF2-40B4-BE49-F238E27FC236}">
                <a16:creationId xmlns:a16="http://schemas.microsoft.com/office/drawing/2014/main" id="{56DA5524-91C4-4F33-81BF-204C0F2CFCFB}"/>
              </a:ext>
            </a:extLst>
          </p:cNvPr>
          <p:cNvSpPr txBox="1"/>
          <p:nvPr/>
        </p:nvSpPr>
        <p:spPr>
          <a:xfrm>
            <a:off x="1695588" y="740846"/>
            <a:ext cx="475217"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或</a:t>
            </a:r>
            <a:endParaRPr lang="zh-CN" altLang="en-US" b="1" dirty="0"/>
          </a:p>
        </p:txBody>
      </p:sp>
      <p:sp>
        <p:nvSpPr>
          <p:cNvPr id="41" name="文本框 40">
            <a:extLst>
              <a:ext uri="{FF2B5EF4-FFF2-40B4-BE49-F238E27FC236}">
                <a16:creationId xmlns:a16="http://schemas.microsoft.com/office/drawing/2014/main" id="{7BDAD57A-2579-4D89-9734-1BEE29EDD1A8}"/>
              </a:ext>
            </a:extLst>
          </p:cNvPr>
          <p:cNvSpPr txBox="1"/>
          <p:nvPr/>
        </p:nvSpPr>
        <p:spPr>
          <a:xfrm>
            <a:off x="5114380" y="4259608"/>
            <a:ext cx="4044358" cy="369332"/>
          </a:xfrm>
          <a:prstGeom prst="rect">
            <a:avLst/>
          </a:prstGeom>
          <a:noFill/>
        </p:spPr>
        <p:txBody>
          <a:bodyPr wrap="square">
            <a:spAutoFit/>
          </a:bodyPr>
          <a:lstStyle/>
          <a:p>
            <a:pPr algn="ctr" eaLnBrk="1" hangingPunct="1">
              <a:defRPr/>
            </a:pPr>
            <a:r>
              <a:rPr lang="zh-CN" altLang="en-US" sz="1800" b="1" kern="0" dirty="0">
                <a:solidFill>
                  <a:srgbClr val="FF0000"/>
                </a:solidFill>
                <a:latin typeface="微软雅黑" panose="020B0503020204020204" pitchFamily="34" charset="-122"/>
                <a:ea typeface="微软雅黑" panose="020B0503020204020204" pitchFamily="34" charset="-122"/>
              </a:rPr>
              <a:t>如果</a:t>
            </a:r>
            <a:r>
              <a:rPr lang="en-US" altLang="zh-CN" sz="1800" b="1" kern="0" dirty="0">
                <a:solidFill>
                  <a:srgbClr val="FF0000"/>
                </a:solidFill>
                <a:latin typeface="微软雅黑" panose="020B0503020204020204" pitchFamily="34" charset="-122"/>
                <a:ea typeface="微软雅黑" panose="020B0503020204020204" pitchFamily="34" charset="-122"/>
              </a:rPr>
              <a:t>y</a:t>
            </a:r>
            <a:r>
              <a:rPr lang="zh-CN" altLang="en-US" sz="1800" b="1" kern="0" dirty="0">
                <a:solidFill>
                  <a:srgbClr val="FF0000"/>
                </a:solidFill>
                <a:latin typeface="微软雅黑" panose="020B0503020204020204" pitchFamily="34" charset="-122"/>
                <a:ea typeface="微软雅黑" panose="020B0503020204020204" pitchFamily="34" charset="-122"/>
              </a:rPr>
              <a:t>是方阵，则绘制每列向量曲线</a:t>
            </a:r>
          </a:p>
        </p:txBody>
      </p:sp>
      <p:sp>
        <p:nvSpPr>
          <p:cNvPr id="42" name="文本框 41">
            <a:extLst>
              <a:ext uri="{FF2B5EF4-FFF2-40B4-BE49-F238E27FC236}">
                <a16:creationId xmlns:a16="http://schemas.microsoft.com/office/drawing/2014/main" id="{B975B6EB-77EA-4A27-85F7-45AB52F52DFA}"/>
              </a:ext>
            </a:extLst>
          </p:cNvPr>
          <p:cNvSpPr txBox="1"/>
          <p:nvPr/>
        </p:nvSpPr>
        <p:spPr>
          <a:xfrm>
            <a:off x="197277" y="2397734"/>
            <a:ext cx="4357034" cy="338554"/>
          </a:xfrm>
          <a:prstGeom prst="rect">
            <a:avLst/>
          </a:prstGeom>
          <a:noFill/>
        </p:spPr>
        <p:txBody>
          <a:bodyPr wrap="square">
            <a:spAutoFit/>
          </a:bodyPr>
          <a:lstStyle/>
          <a:p>
            <a:pPr marL="342900" indent="-342900">
              <a:buFont typeface="+mj-ea"/>
              <a:buAutoNum type="circleNumDbPlain"/>
            </a:pPr>
            <a:r>
              <a:rPr lang="en-US" altLang="zh-CN" sz="1600" b="1" dirty="0">
                <a:solidFill>
                  <a:srgbClr val="00B0F0"/>
                </a:solidFill>
                <a:latin typeface="微软雅黑" panose="020B0503020204020204" pitchFamily="34" charset="-122"/>
                <a:ea typeface="微软雅黑" panose="020B0503020204020204" pitchFamily="34" charset="-122"/>
              </a:rPr>
              <a:t>X</a:t>
            </a:r>
            <a:r>
              <a:rPr lang="zh-CN" altLang="en-US" sz="1600" b="1" dirty="0">
                <a:solidFill>
                  <a:srgbClr val="00B0F0"/>
                </a:solidFill>
                <a:latin typeface="微软雅黑" panose="020B0503020204020204" pitchFamily="34" charset="-122"/>
                <a:ea typeface="微软雅黑" panose="020B0503020204020204" pitchFamily="34" charset="-122"/>
              </a:rPr>
              <a:t>向量元素个数</a:t>
            </a:r>
            <a:r>
              <a:rPr lang="en-US" altLang="zh-CN" sz="1600" b="1" dirty="0">
                <a:solidFill>
                  <a:srgbClr val="00B0F0"/>
                </a:solidFill>
                <a:latin typeface="微软雅黑" panose="020B0503020204020204" pitchFamily="34" charset="-122"/>
                <a:ea typeface="微软雅黑" panose="020B0503020204020204" pitchFamily="34" charset="-122"/>
              </a:rPr>
              <a:t>k=</a:t>
            </a:r>
            <a:r>
              <a:rPr lang="zh-CN" altLang="en-US" sz="1600" b="1" dirty="0">
                <a:solidFill>
                  <a:srgbClr val="00B0F0"/>
                </a:solidFill>
                <a:latin typeface="微软雅黑" panose="020B0503020204020204" pitchFamily="34" charset="-122"/>
                <a:ea typeface="微软雅黑" panose="020B0503020204020204" pitchFamily="34" charset="-122"/>
              </a:rPr>
              <a:t>矩阵</a:t>
            </a:r>
            <a:r>
              <a:rPr lang="en-US" altLang="zh-CN" sz="1600" b="1" dirty="0">
                <a:solidFill>
                  <a:srgbClr val="00B0F0"/>
                </a:solidFill>
                <a:latin typeface="微软雅黑" panose="020B0503020204020204" pitchFamily="34" charset="-122"/>
                <a:ea typeface="微软雅黑" panose="020B0503020204020204" pitchFamily="34" charset="-122"/>
              </a:rPr>
              <a:t>y</a:t>
            </a:r>
            <a:r>
              <a:rPr lang="zh-CN" altLang="en-US" sz="1600" b="1" dirty="0">
                <a:solidFill>
                  <a:srgbClr val="00B0F0"/>
                </a:solidFill>
                <a:latin typeface="微软雅黑" panose="020B0503020204020204" pitchFamily="34" charset="-122"/>
                <a:ea typeface="微软雅黑" panose="020B0503020204020204" pitchFamily="34" charset="-122"/>
              </a:rPr>
              <a:t>每行元素个数</a:t>
            </a:r>
            <a:r>
              <a:rPr lang="en-US" altLang="zh-CN" sz="1600" b="1" dirty="0">
                <a:solidFill>
                  <a:srgbClr val="00B0F0"/>
                </a:solidFill>
                <a:latin typeface="微软雅黑" panose="020B0503020204020204" pitchFamily="34" charset="-122"/>
                <a:ea typeface="微软雅黑" panose="020B0503020204020204" pitchFamily="34" charset="-122"/>
              </a:rPr>
              <a:t>n</a:t>
            </a:r>
            <a:r>
              <a:rPr lang="zh-CN" altLang="en-US" sz="1600" b="1" dirty="0">
                <a:solidFill>
                  <a:srgbClr val="00B0F0"/>
                </a:solidFill>
                <a:latin typeface="微软雅黑" panose="020B0503020204020204" pitchFamily="34" charset="-122"/>
                <a:ea typeface="微软雅黑" panose="020B0503020204020204" pitchFamily="34" charset="-122"/>
              </a:rPr>
              <a:t>时</a:t>
            </a:r>
            <a:endParaRPr lang="zh-CN" altLang="en-US" sz="1600" dirty="0">
              <a:solidFill>
                <a:srgbClr val="00B0F0"/>
              </a:solidFill>
            </a:endParaRPr>
          </a:p>
        </p:txBody>
      </p:sp>
      <p:sp>
        <p:nvSpPr>
          <p:cNvPr id="43" name="文本框 42">
            <a:extLst>
              <a:ext uri="{FF2B5EF4-FFF2-40B4-BE49-F238E27FC236}">
                <a16:creationId xmlns:a16="http://schemas.microsoft.com/office/drawing/2014/main" id="{D98859CD-AE51-4E1D-B413-2BFF5661E6CB}"/>
              </a:ext>
            </a:extLst>
          </p:cNvPr>
          <p:cNvSpPr txBox="1"/>
          <p:nvPr/>
        </p:nvSpPr>
        <p:spPr>
          <a:xfrm>
            <a:off x="4626856" y="2363965"/>
            <a:ext cx="4357034" cy="338554"/>
          </a:xfrm>
          <a:prstGeom prst="rect">
            <a:avLst/>
          </a:prstGeom>
          <a:noFill/>
        </p:spPr>
        <p:txBody>
          <a:bodyPr wrap="square">
            <a:spAutoFit/>
          </a:bodyPr>
          <a:lstStyle/>
          <a:p>
            <a:pPr marL="342900" indent="-342900">
              <a:buFont typeface="+mj-ea"/>
              <a:buAutoNum type="circleNumDbPlain" startAt="2"/>
            </a:pPr>
            <a:r>
              <a:rPr lang="en-US" altLang="zh-CN" sz="1600" b="1" dirty="0">
                <a:solidFill>
                  <a:srgbClr val="00B0F0"/>
                </a:solidFill>
                <a:latin typeface="微软雅黑" panose="020B0503020204020204" pitchFamily="34" charset="-122"/>
                <a:ea typeface="微软雅黑" panose="020B0503020204020204" pitchFamily="34" charset="-122"/>
              </a:rPr>
              <a:t>X</a:t>
            </a:r>
            <a:r>
              <a:rPr lang="zh-CN" altLang="en-US" sz="1600" b="1" dirty="0">
                <a:solidFill>
                  <a:srgbClr val="00B0F0"/>
                </a:solidFill>
                <a:latin typeface="微软雅黑" panose="020B0503020204020204" pitchFamily="34" charset="-122"/>
                <a:ea typeface="微软雅黑" panose="020B0503020204020204" pitchFamily="34" charset="-122"/>
              </a:rPr>
              <a:t>向量元素个数</a:t>
            </a:r>
            <a:r>
              <a:rPr lang="en-US" altLang="zh-CN" sz="1600" b="1" dirty="0">
                <a:solidFill>
                  <a:srgbClr val="00B0F0"/>
                </a:solidFill>
                <a:latin typeface="微软雅黑" panose="020B0503020204020204" pitchFamily="34" charset="-122"/>
                <a:ea typeface="微软雅黑" panose="020B0503020204020204" pitchFamily="34" charset="-122"/>
              </a:rPr>
              <a:t>k=</a:t>
            </a:r>
            <a:r>
              <a:rPr lang="zh-CN" altLang="en-US" sz="1600" b="1" dirty="0">
                <a:solidFill>
                  <a:srgbClr val="00B0F0"/>
                </a:solidFill>
                <a:latin typeface="微软雅黑" panose="020B0503020204020204" pitchFamily="34" charset="-122"/>
                <a:ea typeface="微软雅黑" panose="020B0503020204020204" pitchFamily="34" charset="-122"/>
              </a:rPr>
              <a:t>矩阵</a:t>
            </a:r>
            <a:r>
              <a:rPr lang="en-US" altLang="zh-CN" sz="1600" b="1" dirty="0">
                <a:solidFill>
                  <a:srgbClr val="00B0F0"/>
                </a:solidFill>
                <a:latin typeface="微软雅黑" panose="020B0503020204020204" pitchFamily="34" charset="-122"/>
                <a:ea typeface="微软雅黑" panose="020B0503020204020204" pitchFamily="34" charset="-122"/>
              </a:rPr>
              <a:t>y</a:t>
            </a:r>
            <a:r>
              <a:rPr lang="zh-CN" altLang="en-US" sz="1600" b="1" dirty="0">
                <a:solidFill>
                  <a:srgbClr val="00B0F0"/>
                </a:solidFill>
                <a:latin typeface="微软雅黑" panose="020B0503020204020204" pitchFamily="34" charset="-122"/>
                <a:ea typeface="微软雅黑" panose="020B0503020204020204" pitchFamily="34" charset="-122"/>
              </a:rPr>
              <a:t>每列元素个数</a:t>
            </a:r>
            <a:r>
              <a:rPr lang="en-US" altLang="zh-CN" sz="1600" b="1" dirty="0">
                <a:solidFill>
                  <a:srgbClr val="00B0F0"/>
                </a:solidFill>
                <a:latin typeface="微软雅黑" panose="020B0503020204020204" pitchFamily="34" charset="-122"/>
                <a:ea typeface="微软雅黑" panose="020B0503020204020204" pitchFamily="34" charset="-122"/>
              </a:rPr>
              <a:t>m</a:t>
            </a:r>
            <a:r>
              <a:rPr lang="zh-CN" altLang="en-US" sz="1600" b="1" dirty="0">
                <a:solidFill>
                  <a:srgbClr val="00B0F0"/>
                </a:solidFill>
                <a:latin typeface="微软雅黑" panose="020B0503020204020204" pitchFamily="34" charset="-122"/>
                <a:ea typeface="微软雅黑" panose="020B0503020204020204" pitchFamily="34" charset="-122"/>
              </a:rPr>
              <a:t>时</a:t>
            </a:r>
            <a:endParaRPr lang="zh-CN" altLang="en-US" sz="1600" dirty="0">
              <a:solidFill>
                <a:srgbClr val="00B0F0"/>
              </a:solidFill>
            </a:endParaRPr>
          </a:p>
        </p:txBody>
      </p:sp>
    </p:spTree>
    <p:extLst>
      <p:ext uri="{BB962C8B-B14F-4D97-AF65-F5344CB8AC3E}">
        <p14:creationId xmlns:p14="http://schemas.microsoft.com/office/powerpoint/2010/main" val="395341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02CD8AF-2DE0-4E07-847A-BFBA9EC76228}"/>
              </a:ext>
            </a:extLst>
          </p:cNvPr>
          <p:cNvSpPr/>
          <p:nvPr/>
        </p:nvSpPr>
        <p:spPr>
          <a:xfrm>
            <a:off x="467544" y="687957"/>
            <a:ext cx="8550950" cy="338554"/>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algn="dist" defTabSz="0" eaLnBrk="0" hangingPunct="0">
              <a:buClr>
                <a:srgbClr val="00B0F0"/>
              </a:buClr>
            </a:pPr>
            <a:r>
              <a:rPr lang="zh-CN" altLang="en-US" sz="1600" b="1" dirty="0">
                <a:solidFill>
                  <a:srgbClr val="0070C0"/>
                </a:solidFill>
                <a:latin typeface="微软雅黑" panose="020B0503020204020204" pitchFamily="34" charset="-122"/>
                <a:ea typeface="微软雅黑" panose="020B0503020204020204" pitchFamily="34" charset="-122"/>
              </a:rPr>
              <a:t>  用实验浓度平均值可以更好表征浓度关于时间的关系</a:t>
            </a:r>
            <a:endParaRPr lang="en-US" altLang="zh-CN" sz="1600" b="1" dirty="0">
              <a:solidFill>
                <a:srgbClr val="0070C0"/>
              </a:solidFill>
              <a:latin typeface="微软雅黑" panose="020B0503020204020204" pitchFamily="34" charset="-122"/>
              <a:ea typeface="微软雅黑" panose="020B0503020204020204" pitchFamily="34" charset="-122"/>
            </a:endParaRPr>
          </a:p>
        </p:txBody>
      </p:sp>
      <p:graphicFrame>
        <p:nvGraphicFramePr>
          <p:cNvPr id="6" name="表格 12">
            <a:extLst>
              <a:ext uri="{FF2B5EF4-FFF2-40B4-BE49-F238E27FC236}">
                <a16:creationId xmlns:a16="http://schemas.microsoft.com/office/drawing/2014/main" id="{81E24519-E617-4267-B7AC-287263ECF983}"/>
              </a:ext>
            </a:extLst>
          </p:cNvPr>
          <p:cNvGraphicFramePr>
            <a:graphicFrameLocks noGrp="1"/>
          </p:cNvGraphicFramePr>
          <p:nvPr>
            <p:extLst>
              <p:ext uri="{D42A27DB-BD31-4B8C-83A1-F6EECF244321}">
                <p14:modId xmlns:p14="http://schemas.microsoft.com/office/powerpoint/2010/main" val="2915886123"/>
              </p:ext>
            </p:extLst>
          </p:nvPr>
        </p:nvGraphicFramePr>
        <p:xfrm>
          <a:off x="125506" y="1491630"/>
          <a:ext cx="8802979" cy="1524000"/>
        </p:xfrm>
        <a:graphic>
          <a:graphicData uri="http://schemas.openxmlformats.org/drawingml/2006/table">
            <a:tbl>
              <a:tblPr firstRow="1" bandRow="1">
                <a:tableStyleId>{5C22544A-7EE6-4342-B048-85BDC9FD1C3A}</a:tableStyleId>
              </a:tblPr>
              <a:tblGrid>
                <a:gridCol w="1354304">
                  <a:extLst>
                    <a:ext uri="{9D8B030D-6E8A-4147-A177-3AD203B41FA5}">
                      <a16:colId xmlns:a16="http://schemas.microsoft.com/office/drawing/2014/main" val="541699250"/>
                    </a:ext>
                  </a:extLst>
                </a:gridCol>
                <a:gridCol w="846441">
                  <a:extLst>
                    <a:ext uri="{9D8B030D-6E8A-4147-A177-3AD203B41FA5}">
                      <a16:colId xmlns:a16="http://schemas.microsoft.com/office/drawing/2014/main" val="1155264031"/>
                    </a:ext>
                  </a:extLst>
                </a:gridCol>
                <a:gridCol w="893041">
                  <a:extLst>
                    <a:ext uri="{9D8B030D-6E8A-4147-A177-3AD203B41FA5}">
                      <a16:colId xmlns:a16="http://schemas.microsoft.com/office/drawing/2014/main" val="1068678342"/>
                    </a:ext>
                  </a:extLst>
                </a:gridCol>
                <a:gridCol w="971894">
                  <a:extLst>
                    <a:ext uri="{9D8B030D-6E8A-4147-A177-3AD203B41FA5}">
                      <a16:colId xmlns:a16="http://schemas.microsoft.com/office/drawing/2014/main" val="1662740188"/>
                    </a:ext>
                  </a:extLst>
                </a:gridCol>
                <a:gridCol w="1133878">
                  <a:extLst>
                    <a:ext uri="{9D8B030D-6E8A-4147-A177-3AD203B41FA5}">
                      <a16:colId xmlns:a16="http://schemas.microsoft.com/office/drawing/2014/main" val="3934056993"/>
                    </a:ext>
                  </a:extLst>
                </a:gridCol>
                <a:gridCol w="1069084">
                  <a:extLst>
                    <a:ext uri="{9D8B030D-6E8A-4147-A177-3AD203B41FA5}">
                      <a16:colId xmlns:a16="http://schemas.microsoft.com/office/drawing/2014/main" val="2950420248"/>
                    </a:ext>
                  </a:extLst>
                </a:gridCol>
                <a:gridCol w="1036688">
                  <a:extLst>
                    <a:ext uri="{9D8B030D-6E8A-4147-A177-3AD203B41FA5}">
                      <a16:colId xmlns:a16="http://schemas.microsoft.com/office/drawing/2014/main" val="347168986"/>
                    </a:ext>
                  </a:extLst>
                </a:gridCol>
                <a:gridCol w="1497649">
                  <a:extLst>
                    <a:ext uri="{9D8B030D-6E8A-4147-A177-3AD203B41FA5}">
                      <a16:colId xmlns:a16="http://schemas.microsoft.com/office/drawing/2014/main" val="871629726"/>
                    </a:ext>
                  </a:extLst>
                </a:gridCol>
              </a:tblGrid>
              <a:tr h="263971">
                <a:tc>
                  <a:txBody>
                    <a:bodyPr/>
                    <a:lstStyle/>
                    <a:p>
                      <a:pPr algn="ctr"/>
                      <a:r>
                        <a:rPr lang="zh-CN" altLang="en-US" sz="1200" dirty="0"/>
                        <a:t>时间</a:t>
                      </a:r>
                    </a:p>
                  </a:txBody>
                  <a:tcPr>
                    <a:solidFill>
                      <a:srgbClr val="00B0F0"/>
                    </a:solidFill>
                  </a:tcPr>
                </a:tc>
                <a:tc>
                  <a:txBody>
                    <a:bodyPr/>
                    <a:lstStyle/>
                    <a:p>
                      <a:pPr algn="ctr"/>
                      <a:r>
                        <a:rPr lang="en-US" altLang="zh-CN" sz="1200" dirty="0"/>
                        <a:t>8</a:t>
                      </a:r>
                      <a:r>
                        <a:rPr lang="zh-CN" altLang="en-US" sz="1200" dirty="0"/>
                        <a:t>月</a:t>
                      </a:r>
                      <a:r>
                        <a:rPr lang="en-US" altLang="zh-CN" sz="1200" dirty="0"/>
                        <a:t>1</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2</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3</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4</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5</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6</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7</a:t>
                      </a:r>
                      <a:r>
                        <a:rPr lang="zh-CN" altLang="en-US" sz="1200" dirty="0"/>
                        <a:t>日</a:t>
                      </a:r>
                    </a:p>
                  </a:txBody>
                  <a:tcPr>
                    <a:solidFill>
                      <a:srgbClr val="00B0F0"/>
                    </a:solidFill>
                  </a:tcPr>
                </a:tc>
                <a:extLst>
                  <a:ext uri="{0D108BD9-81ED-4DB2-BD59-A6C34878D82A}">
                    <a16:rowId xmlns:a16="http://schemas.microsoft.com/office/drawing/2014/main" val="3826039287"/>
                  </a:ext>
                </a:extLst>
              </a:tr>
              <a:tr h="263971">
                <a:tc>
                  <a:txBody>
                    <a:bodyPr/>
                    <a:lstStyle/>
                    <a:p>
                      <a:pPr algn="ctr"/>
                      <a:r>
                        <a:rPr lang="zh-CN" altLang="en-US" sz="1400" b="1" kern="0" dirty="0">
                          <a:solidFill>
                            <a:schemeClr val="accent1">
                              <a:lumMod val="10000"/>
                            </a:schemeClr>
                          </a:solidFill>
                          <a:latin typeface="微软雅黑" panose="020B0503020204020204" pitchFamily="34" charset="-122"/>
                          <a:ea typeface="微软雅黑" panose="020B0503020204020204" pitchFamily="34" charset="-122"/>
                          <a:cs typeface="+mn-cs"/>
                        </a:rPr>
                        <a:t>早</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y1</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200" dirty="0">
                          <a:solidFill>
                            <a:schemeClr val="accent1">
                              <a:lumMod val="10000"/>
                            </a:schemeClr>
                          </a:solidFill>
                        </a:rPr>
                        <a:t>8.82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7.91</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6.74</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5.32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4.32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3.92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2.84</a:t>
                      </a:r>
                      <a:endParaRPr lang="zh-CN" altLang="en-US" sz="1200" dirty="0">
                        <a:solidFill>
                          <a:schemeClr val="accent1">
                            <a:lumMod val="10000"/>
                          </a:schemeClr>
                        </a:solidFill>
                      </a:endParaRPr>
                    </a:p>
                  </a:txBody>
                  <a:tcPr/>
                </a:tc>
                <a:extLst>
                  <a:ext uri="{0D108BD9-81ED-4DB2-BD59-A6C34878D82A}">
                    <a16:rowId xmlns:a16="http://schemas.microsoft.com/office/drawing/2014/main" val="3194453009"/>
                  </a:ext>
                </a:extLst>
              </a:tr>
              <a:tr h="263971">
                <a:tc>
                  <a:txBody>
                    <a:bodyPr/>
                    <a:lstStyle/>
                    <a:p>
                      <a:pPr algn="ctr"/>
                      <a:r>
                        <a:rPr lang="zh-CN" altLang="en-US" sz="1400" dirty="0">
                          <a:solidFill>
                            <a:schemeClr val="accent1">
                              <a:lumMod val="10000"/>
                            </a:schemeClr>
                          </a:solidFill>
                        </a:rPr>
                        <a:t>中</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y2</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8.41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7.22</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6.38</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5.51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4.21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3.25</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2.51</a:t>
                      </a:r>
                      <a:endParaRPr lang="zh-CN" altLang="en-US" sz="1200" dirty="0">
                        <a:solidFill>
                          <a:schemeClr val="accent1">
                            <a:lumMod val="10000"/>
                          </a:schemeClr>
                        </a:solidFill>
                      </a:endParaRPr>
                    </a:p>
                  </a:txBody>
                  <a:tcPr/>
                </a:tc>
                <a:extLst>
                  <a:ext uri="{0D108BD9-81ED-4DB2-BD59-A6C34878D82A}">
                    <a16:rowId xmlns:a16="http://schemas.microsoft.com/office/drawing/2014/main" val="3103778959"/>
                  </a:ext>
                </a:extLst>
              </a:tr>
              <a:tr h="263971">
                <a:tc>
                  <a:txBody>
                    <a:bodyPr/>
                    <a:lstStyle/>
                    <a:p>
                      <a:pPr algn="ctr"/>
                      <a:r>
                        <a:rPr lang="zh-CN" altLang="en-US" sz="1400" dirty="0">
                          <a:solidFill>
                            <a:schemeClr val="accent1">
                              <a:lumMod val="10000"/>
                            </a:schemeClr>
                          </a:solidFill>
                        </a:rPr>
                        <a:t>晚</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y3</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8.23</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7.04</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6.02</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5.21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4.01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3.51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2.24</a:t>
                      </a:r>
                      <a:endParaRPr lang="zh-CN" altLang="en-US" sz="1200" dirty="0">
                        <a:solidFill>
                          <a:schemeClr val="accent1">
                            <a:lumMod val="10000"/>
                          </a:schemeClr>
                        </a:solidFill>
                      </a:endParaRPr>
                    </a:p>
                  </a:txBody>
                  <a:tcPr/>
                </a:tc>
                <a:extLst>
                  <a:ext uri="{0D108BD9-81ED-4DB2-BD59-A6C34878D82A}">
                    <a16:rowId xmlns:a16="http://schemas.microsoft.com/office/drawing/2014/main" val="272027335"/>
                  </a:ext>
                </a:extLst>
              </a:tr>
              <a:tr h="322631">
                <a:tc>
                  <a:txBody>
                    <a:bodyPr/>
                    <a:lstStyle/>
                    <a:p>
                      <a:pPr algn="ctr"/>
                      <a:r>
                        <a:rPr lang="zh-CN" altLang="en-US" sz="1600" b="1" dirty="0">
                          <a:solidFill>
                            <a:schemeClr val="bg1"/>
                          </a:solidFill>
                          <a:highlight>
                            <a:srgbClr val="FF0000"/>
                          </a:highlight>
                        </a:rPr>
                        <a:t>均值</a:t>
                      </a:r>
                      <a:r>
                        <a:rPr lang="en-US" altLang="zh-CN" sz="1600" b="1" dirty="0">
                          <a:solidFill>
                            <a:schemeClr val="bg1"/>
                          </a:solidFill>
                          <a:highlight>
                            <a:srgbClr val="FF0000"/>
                          </a:highlight>
                        </a:rPr>
                        <a:t>mean(y</a:t>
                      </a:r>
                      <a:r>
                        <a:rPr lang="en-US" altLang="zh-CN" sz="1600" b="1" dirty="0">
                          <a:solidFill>
                            <a:schemeClr val="bg1"/>
                          </a:solidFill>
                          <a:highlight>
                            <a:srgbClr val="808000"/>
                          </a:highlight>
                        </a:rPr>
                        <a:t>)</a:t>
                      </a:r>
                      <a:endParaRPr lang="zh-CN" altLang="en-US" sz="1600" b="1" dirty="0">
                        <a:solidFill>
                          <a:schemeClr val="bg1"/>
                        </a:solidFill>
                        <a:highlight>
                          <a:srgbClr val="808000"/>
                        </a:highlight>
                      </a:endParaRPr>
                    </a:p>
                  </a:txBody>
                  <a:tcPr>
                    <a:solidFill>
                      <a:srgbClr val="0070C0"/>
                    </a:solidFill>
                  </a:tcPr>
                </a:tc>
                <a:tc>
                  <a:txBody>
                    <a:bodyPr/>
                    <a:lstStyle/>
                    <a:p>
                      <a:pPr algn="ctr"/>
                      <a:r>
                        <a:rPr lang="en-US" altLang="zh-CN" sz="1200" dirty="0">
                          <a:solidFill>
                            <a:schemeClr val="bg1"/>
                          </a:solidFill>
                        </a:rPr>
                        <a:t>8.4867</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7.3900</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6.3800</a:t>
                      </a:r>
                      <a:endParaRPr lang="zh-CN" altLang="en-US" sz="1200" dirty="0">
                        <a:solidFill>
                          <a:schemeClr val="bg1"/>
                        </a:solidFill>
                      </a:endParaRPr>
                    </a:p>
                  </a:txBody>
                  <a:tcP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rPr>
                        <a:t>5.3467</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4.2167 </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3.5600</a:t>
                      </a:r>
                      <a:endParaRPr lang="zh-CN" altLang="en-US" sz="1200" dirty="0">
                        <a:solidFill>
                          <a:schemeClr val="bg1"/>
                        </a:solidFill>
                      </a:endParaRPr>
                    </a:p>
                  </a:txBody>
                  <a:tcP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rPr>
                        <a:t>2.5300</a:t>
                      </a:r>
                      <a:endParaRPr lang="zh-CN" altLang="en-US" sz="1200" dirty="0">
                        <a:solidFill>
                          <a:schemeClr val="bg1"/>
                        </a:solidFill>
                      </a:endParaRPr>
                    </a:p>
                  </a:txBody>
                  <a:tcPr>
                    <a:solidFill>
                      <a:srgbClr val="0070C0"/>
                    </a:solidFill>
                  </a:tcPr>
                </a:tc>
                <a:extLst>
                  <a:ext uri="{0D108BD9-81ED-4DB2-BD59-A6C34878D82A}">
                    <a16:rowId xmlns:a16="http://schemas.microsoft.com/office/drawing/2014/main" val="3285997151"/>
                  </a:ext>
                </a:extLst>
              </a:tr>
            </a:tbl>
          </a:graphicData>
        </a:graphic>
      </p:graphicFrame>
      <p:sp>
        <p:nvSpPr>
          <p:cNvPr id="10" name="矩形 9">
            <a:extLst>
              <a:ext uri="{FF2B5EF4-FFF2-40B4-BE49-F238E27FC236}">
                <a16:creationId xmlns:a16="http://schemas.microsoft.com/office/drawing/2014/main" id="{E362AED8-C071-4BA5-96BE-46AA528497F5}"/>
              </a:ext>
            </a:extLst>
          </p:cNvPr>
          <p:cNvSpPr/>
          <p:nvPr/>
        </p:nvSpPr>
        <p:spPr>
          <a:xfrm>
            <a:off x="87943" y="3378259"/>
            <a:ext cx="6534726" cy="1107996"/>
          </a:xfrm>
          <a:prstGeom prst="rect">
            <a:avLst/>
          </a:prstGeom>
          <a:solidFill>
            <a:schemeClr val="bg1"/>
          </a:solidFill>
          <a:ln>
            <a:solidFill>
              <a:schemeClr val="bg1">
                <a:lumMod val="65000"/>
              </a:schemeClr>
            </a:solidFill>
            <a:prstDash val="sysDash"/>
          </a:ln>
        </p:spPr>
        <p:txBody>
          <a:bodyPr wrap="square">
            <a:spAutoFit/>
          </a:bodyPr>
          <a:lstStyle/>
          <a:p>
            <a:r>
              <a:rPr lang="en-US" altLang="zh-CN" sz="2200" dirty="0" err="1">
                <a:solidFill>
                  <a:srgbClr val="002060"/>
                </a:solidFill>
                <a:latin typeface="华文楷体" panose="02010600040101010101" pitchFamily="2" charset="-122"/>
                <a:ea typeface="华文楷体" panose="02010600040101010101" pitchFamily="2" charset="-122"/>
              </a:rPr>
              <a:t>ym</a:t>
            </a:r>
            <a:r>
              <a:rPr lang="en-US" altLang="zh-CN" sz="2200" dirty="0">
                <a:solidFill>
                  <a:srgbClr val="002060"/>
                </a:solidFill>
                <a:latin typeface="华文楷体" panose="02010600040101010101" pitchFamily="2" charset="-122"/>
                <a:ea typeface="华文楷体" panose="02010600040101010101" pitchFamily="2" charset="-122"/>
              </a:rPr>
              <a:t>=mean(</a:t>
            </a:r>
            <a:r>
              <a:rPr lang="en-US" altLang="zh-CN" sz="2200" dirty="0" err="1">
                <a:solidFill>
                  <a:srgbClr val="002060"/>
                </a:solidFill>
                <a:latin typeface="华文楷体" panose="02010600040101010101" pitchFamily="2" charset="-122"/>
                <a:ea typeface="华文楷体" panose="02010600040101010101" pitchFamily="2" charset="-122"/>
              </a:rPr>
              <a:t>y,dims</a:t>
            </a:r>
            <a:r>
              <a:rPr lang="en-US" altLang="zh-CN" sz="2200" dirty="0">
                <a:solidFill>
                  <a:srgbClr val="002060"/>
                </a:solidFill>
                <a:latin typeface="华文楷体" panose="02010600040101010101" pitchFamily="2" charset="-122"/>
                <a:ea typeface="华文楷体" panose="02010600040101010101" pitchFamily="2" charset="-122"/>
              </a:rPr>
              <a:t>=1)</a:t>
            </a:r>
          </a:p>
          <a:p>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每天</a:t>
            </a:r>
            <a:r>
              <a:rPr lang="en-US" altLang="zh-CN" sz="2200" dirty="0">
                <a:solidFill>
                  <a:srgbClr val="002060"/>
                </a:solidFill>
                <a:latin typeface="华文楷体" panose="02010600040101010101" pitchFamily="2" charset="-122"/>
                <a:ea typeface="华文楷体" panose="02010600040101010101" pitchFamily="2" charset="-122"/>
              </a:rPr>
              <a:t>3</a:t>
            </a:r>
            <a:r>
              <a:rPr lang="zh-CN" altLang="en-US" sz="2200" dirty="0">
                <a:solidFill>
                  <a:srgbClr val="002060"/>
                </a:solidFill>
                <a:latin typeface="华文楷体" panose="02010600040101010101" pitchFamily="2" charset="-122"/>
                <a:ea typeface="华文楷体" panose="02010600040101010101" pitchFamily="2" charset="-122"/>
              </a:rPr>
              <a:t>次浓度均值随时间变化曲线</a:t>
            </a:r>
          </a:p>
          <a:p>
            <a:r>
              <a:rPr lang="en-US" altLang="zh-CN" sz="2200" dirty="0">
                <a:solidFill>
                  <a:srgbClr val="002060"/>
                </a:solidFill>
                <a:latin typeface="华文楷体" panose="02010600040101010101" pitchFamily="2" charset="-122"/>
                <a:ea typeface="华文楷体" panose="02010600040101010101" pitchFamily="2" charset="-122"/>
              </a:rPr>
              <a:t>plot(x, </a:t>
            </a:r>
            <a:r>
              <a:rPr lang="en-US" altLang="zh-CN" sz="2200" dirty="0" err="1">
                <a:solidFill>
                  <a:srgbClr val="002060"/>
                </a:solidFill>
                <a:latin typeface="华文楷体" panose="02010600040101010101" pitchFamily="2" charset="-122"/>
                <a:ea typeface="华文楷体" panose="02010600040101010101" pitchFamily="2" charset="-122"/>
              </a:rPr>
              <a:t>ym</a:t>
            </a:r>
            <a:r>
              <a:rPr lang="en-US" altLang="zh-CN" sz="2200" dirty="0">
                <a:solidFill>
                  <a:srgbClr val="002060"/>
                </a:solidFill>
                <a:latin typeface="华文楷体" panose="02010600040101010101" pitchFamily="2" charset="-122"/>
                <a:ea typeface="华文楷体" panose="02010600040101010101" pitchFamily="2" charset="-122"/>
              </a:rPr>
              <a:t>, marker="*", </a:t>
            </a:r>
            <a:r>
              <a:rPr lang="en-US" altLang="zh-CN" sz="2200" dirty="0" err="1">
                <a:solidFill>
                  <a:srgbClr val="002060"/>
                </a:solidFill>
                <a:latin typeface="华文楷体" panose="02010600040101010101" pitchFamily="2" charset="-122"/>
                <a:ea typeface="华文楷体" panose="02010600040101010101" pitchFamily="2" charset="-122"/>
              </a:rPr>
              <a:t>markersize</a:t>
            </a:r>
            <a:r>
              <a:rPr lang="en-US" altLang="zh-CN" sz="2200" dirty="0">
                <a:solidFill>
                  <a:srgbClr val="002060"/>
                </a:solidFill>
                <a:latin typeface="华文楷体" panose="02010600040101010101" pitchFamily="2" charset="-122"/>
                <a:ea typeface="华文楷体" panose="02010600040101010101" pitchFamily="2" charset="-122"/>
              </a:rPr>
              <a:t>=20; label="</a:t>
            </a:r>
            <a:r>
              <a:rPr lang="zh-CN" altLang="en-US" sz="2200" dirty="0">
                <a:solidFill>
                  <a:srgbClr val="002060"/>
                </a:solidFill>
                <a:latin typeface="华文楷体" panose="02010600040101010101" pitchFamily="2" charset="-122"/>
                <a:ea typeface="华文楷体" panose="02010600040101010101" pitchFamily="2" charset="-122"/>
              </a:rPr>
              <a:t>平均值</a:t>
            </a:r>
            <a:r>
              <a:rPr lang="en-US" altLang="zh-CN" sz="2200" dirty="0">
                <a:solidFill>
                  <a:srgbClr val="002060"/>
                </a:solidFill>
                <a:latin typeface="华文楷体" panose="02010600040101010101" pitchFamily="2" charset="-122"/>
                <a:ea typeface="华文楷体" panose="02010600040101010101" pitchFamily="2" charset="-122"/>
              </a:rPr>
              <a:t>")</a:t>
            </a:r>
          </a:p>
        </p:txBody>
      </p:sp>
      <p:sp>
        <p:nvSpPr>
          <p:cNvPr id="2" name="箭头: 下 1">
            <a:extLst>
              <a:ext uri="{FF2B5EF4-FFF2-40B4-BE49-F238E27FC236}">
                <a16:creationId xmlns:a16="http://schemas.microsoft.com/office/drawing/2014/main" id="{8385FFC0-F24E-6D63-84CF-A73FDA965A6A}"/>
              </a:ext>
            </a:extLst>
          </p:cNvPr>
          <p:cNvSpPr/>
          <p:nvPr/>
        </p:nvSpPr>
        <p:spPr>
          <a:xfrm rot="16200000">
            <a:off x="5104826" y="-689345"/>
            <a:ext cx="109462" cy="7308812"/>
          </a:xfrm>
          <a:prstGeom prst="downArrow">
            <a:avLst/>
          </a:prstGeom>
          <a:solidFill>
            <a:srgbClr val="FFFF00"/>
          </a:solidFill>
          <a:ln>
            <a:noFill/>
          </a:ln>
          <a:scene3d>
            <a:camera prst="orthographicFront"/>
            <a:lightRig rig="threePt" dir="t"/>
          </a:scene3d>
          <a:sp3d>
            <a:bevelT prst="angle"/>
          </a:sp3d>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9452411-7CB0-BB73-A040-F0185D0523E2}"/>
              </a:ext>
            </a:extLst>
          </p:cNvPr>
          <p:cNvSpPr/>
          <p:nvPr/>
        </p:nvSpPr>
        <p:spPr>
          <a:xfrm>
            <a:off x="37529" y="3097292"/>
            <a:ext cx="2735142" cy="338554"/>
          </a:xfrm>
          <a:prstGeom prst="rect">
            <a:avLst/>
          </a:prstGeom>
          <a:noFill/>
        </p:spPr>
        <p:txBody>
          <a:bodyPr wrap="square">
            <a:spAutoFit/>
          </a:bodyPr>
          <a:lstStyle/>
          <a:p>
            <a:r>
              <a:rPr lang="zh-CN" altLang="en-US"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取每天三次浓度的平均值</a:t>
            </a:r>
          </a:p>
        </p:txBody>
      </p:sp>
      <p:sp>
        <p:nvSpPr>
          <p:cNvPr id="20" name="矩形 19">
            <a:extLst>
              <a:ext uri="{FF2B5EF4-FFF2-40B4-BE49-F238E27FC236}">
                <a16:creationId xmlns:a16="http://schemas.microsoft.com/office/drawing/2014/main" id="{65E8D027-B617-4F8C-BA90-07D5A35ED147}"/>
              </a:ext>
            </a:extLst>
          </p:cNvPr>
          <p:cNvSpPr/>
          <p:nvPr/>
        </p:nvSpPr>
        <p:spPr>
          <a:xfrm>
            <a:off x="124453" y="1077923"/>
            <a:ext cx="8799005" cy="361061"/>
          </a:xfrm>
          <a:prstGeom prst="rect">
            <a:avLst/>
          </a:prstGeom>
          <a:solidFill>
            <a:srgbClr val="002060"/>
          </a:solidFill>
          <a:ln w="9525">
            <a:solidFill>
              <a:schemeClr val="bg1">
                <a:lumMod val="50000"/>
              </a:schemeClr>
            </a:solidFill>
            <a:prstDash val="solid"/>
            <a:miter lim="800000"/>
          </a:ln>
        </p:spPr>
        <p:txBody>
          <a:bodyPr vert="horz" wrap="square" lIns="91440" tIns="45720" rIns="91440" bIns="45720" numCol="1" anchor="t" anchorCtr="0" compatLnSpc="1">
            <a:spAutoFit/>
          </a:bodyPr>
          <a:lstStyle/>
          <a:p>
            <a:pPr defTabSz="0" eaLnBrk="0" hangingPunct="0">
              <a:lnSpc>
                <a:spcPts val="2200"/>
              </a:lnSpc>
              <a:buClr>
                <a:schemeClr val="tx1"/>
              </a:buClr>
            </a:pPr>
            <a:r>
              <a:rPr lang="zh-CN" altLang="en-US" sz="1600" dirty="0">
                <a:solidFill>
                  <a:schemeClr val="bg1"/>
                </a:solidFill>
                <a:highlight>
                  <a:srgbClr val="003B76"/>
                </a:highlight>
                <a:latin typeface="华文楷体" panose="02010600040101010101" pitchFamily="2" charset="-122"/>
                <a:ea typeface="华文楷体" panose="02010600040101010101" pitchFamily="2" charset="-122"/>
              </a:rPr>
              <a:t>矩阵</a:t>
            </a:r>
            <a:r>
              <a:rPr lang="en-US" altLang="zh-CN" sz="1600" dirty="0">
                <a:solidFill>
                  <a:schemeClr val="bg1"/>
                </a:solidFill>
                <a:highlight>
                  <a:srgbClr val="003B76"/>
                </a:highlight>
                <a:latin typeface="华文楷体" panose="02010600040101010101" pitchFamily="2" charset="-122"/>
                <a:ea typeface="华文楷体" panose="02010600040101010101" pitchFamily="2" charset="-122"/>
              </a:rPr>
              <a:t>A</a:t>
            </a:r>
            <a:r>
              <a:rPr lang="zh-CN" altLang="en-US" sz="1600" dirty="0">
                <a:solidFill>
                  <a:schemeClr val="bg1"/>
                </a:solidFill>
                <a:highlight>
                  <a:srgbClr val="003B76"/>
                </a:highlight>
                <a:latin typeface="华文楷体" panose="02010600040101010101" pitchFamily="2" charset="-122"/>
                <a:ea typeface="华文楷体" panose="02010600040101010101" pitchFamily="2" charset="-122"/>
              </a:rPr>
              <a:t>均值</a:t>
            </a:r>
            <a:r>
              <a:rPr lang="en-US" altLang="zh-CN" sz="1600" dirty="0">
                <a:solidFill>
                  <a:schemeClr val="bg1"/>
                </a:solidFill>
                <a:highlight>
                  <a:srgbClr val="003B76"/>
                </a:highlight>
                <a:latin typeface="华文楷体" panose="02010600040101010101" pitchFamily="2" charset="-122"/>
                <a:ea typeface="华文楷体" panose="02010600040101010101" pitchFamily="2" charset="-122"/>
              </a:rPr>
              <a:t>mean</a:t>
            </a:r>
          </a:p>
        </p:txBody>
      </p:sp>
      <p:sp>
        <p:nvSpPr>
          <p:cNvPr id="21" name="Rectangle 1">
            <a:extLst>
              <a:ext uri="{FF2B5EF4-FFF2-40B4-BE49-F238E27FC236}">
                <a16:creationId xmlns:a16="http://schemas.microsoft.com/office/drawing/2014/main" id="{6496503D-8225-4B50-9688-B73400E00B39}"/>
              </a:ext>
            </a:extLst>
          </p:cNvPr>
          <p:cNvSpPr>
            <a:spLocks noChangeArrowheads="1"/>
          </p:cNvSpPr>
          <p:nvPr/>
        </p:nvSpPr>
        <p:spPr bwMode="auto">
          <a:xfrm>
            <a:off x="1980583" y="1080521"/>
            <a:ext cx="1584176" cy="379889"/>
          </a:xfrm>
          <a:prstGeom prst="rect">
            <a:avLst/>
          </a:prstGeom>
          <a:noFill/>
          <a:ln>
            <a:noFill/>
          </a:ln>
          <a:effectLst/>
        </p:spPr>
        <p:txBody>
          <a:bodyPr vert="horz" wrap="square" lIns="0" tIns="23805" rIns="0" bIns="47610" numCol="1" anchor="ctr" anchorCtr="0" compatLnSpc="1">
            <a:prstTxWarp prst="textNoShape">
              <a:avLst/>
            </a:prstTxWarp>
            <a:spAutoFit/>
          </a:bodyPr>
          <a:lstStyle/>
          <a:p>
            <a:pPr eaLnBrk="0" hangingPunct="0"/>
            <a:r>
              <a:rPr lang="en-US" altLang="zh-CN" sz="2000" dirty="0">
                <a:solidFill>
                  <a:schemeClr val="bg1"/>
                </a:solidFill>
                <a:highlight>
                  <a:srgbClr val="3399FF"/>
                </a:highlight>
                <a:latin typeface="华文楷体" panose="02010600040101010101" pitchFamily="2" charset="-122"/>
                <a:ea typeface="华文楷体" panose="02010600040101010101" pitchFamily="2" charset="-122"/>
              </a:rPr>
              <a:t>A</a:t>
            </a:r>
            <a:r>
              <a:rPr lang="zh-CN" altLang="en-US" sz="2000" dirty="0">
                <a:solidFill>
                  <a:schemeClr val="bg1"/>
                </a:solidFill>
                <a:highlight>
                  <a:srgbClr val="3399FF"/>
                </a:highlight>
                <a:latin typeface="华文楷体" panose="02010600040101010101" pitchFamily="2" charset="-122"/>
                <a:ea typeface="华文楷体" panose="02010600040101010101" pitchFamily="2" charset="-122"/>
              </a:rPr>
              <a:t>各列求均值</a:t>
            </a:r>
            <a:endParaRPr lang="en-US" altLang="zh-CN" sz="2000" dirty="0">
              <a:solidFill>
                <a:schemeClr val="bg1"/>
              </a:solidFill>
              <a:highlight>
                <a:srgbClr val="3399FF"/>
              </a:highlight>
              <a:latin typeface="华文楷体" panose="02010600040101010101" pitchFamily="2" charset="-122"/>
              <a:ea typeface="华文楷体" panose="02010600040101010101" pitchFamily="2" charset="-122"/>
            </a:endParaRPr>
          </a:p>
        </p:txBody>
      </p:sp>
      <p:sp>
        <p:nvSpPr>
          <p:cNvPr id="22" name="标题 4">
            <a:extLst>
              <a:ext uri="{FF2B5EF4-FFF2-40B4-BE49-F238E27FC236}">
                <a16:creationId xmlns:a16="http://schemas.microsoft.com/office/drawing/2014/main" id="{2D2A4663-EA3A-4C10-881E-0818334A40FF}"/>
              </a:ext>
            </a:extLst>
          </p:cNvPr>
          <p:cNvSpPr txBox="1">
            <a:spLocks/>
          </p:cNvSpPr>
          <p:nvPr/>
        </p:nvSpPr>
        <p:spPr bwMode="auto">
          <a:xfrm>
            <a:off x="3607061" y="1059582"/>
            <a:ext cx="1900281" cy="338554"/>
          </a:xfrm>
          <a:prstGeom prst="rect">
            <a:avLst/>
          </a:prstGeom>
          <a:noFill/>
          <a:ln w="38100" cap="flat" cmpd="sng" algn="ctr">
            <a:noFill/>
            <a:prstDash val="solid"/>
            <a:miter lim="800000"/>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1pPr>
            <a:lvl2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2pPr>
            <a:lvl3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3pPr>
            <a:lvl4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4pPr>
            <a:lvl5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5pPr>
            <a:lvl6pPr marL="457200" algn="ctr" rtl="0" fontAlgn="base">
              <a:spcBef>
                <a:spcPct val="0"/>
              </a:spcBef>
              <a:spcAft>
                <a:spcPct val="0"/>
              </a:spcAft>
              <a:defRPr sz="4400">
                <a:solidFill>
                  <a:schemeClr val="lt1"/>
                </a:solidFill>
                <a:latin typeface="+mn-lt"/>
                <a:ea typeface="+mn-ea"/>
                <a:cs typeface="+mn-cs"/>
                <a:sym typeface="Arial" panose="020B0604020202020204" pitchFamily="34" charset="0"/>
              </a:defRPr>
            </a:lvl6pPr>
            <a:lvl7pPr marL="914400" algn="ctr" rtl="0" fontAlgn="base">
              <a:spcBef>
                <a:spcPct val="0"/>
              </a:spcBef>
              <a:spcAft>
                <a:spcPct val="0"/>
              </a:spcAft>
              <a:defRPr sz="4400">
                <a:solidFill>
                  <a:schemeClr val="lt1"/>
                </a:solidFill>
                <a:latin typeface="+mn-lt"/>
                <a:ea typeface="+mn-ea"/>
                <a:cs typeface="+mn-cs"/>
                <a:sym typeface="Arial" panose="020B0604020202020204" pitchFamily="34" charset="0"/>
              </a:defRPr>
            </a:lvl7pPr>
            <a:lvl8pPr marL="1371600" algn="ctr" rtl="0" fontAlgn="base">
              <a:spcBef>
                <a:spcPct val="0"/>
              </a:spcBef>
              <a:spcAft>
                <a:spcPct val="0"/>
              </a:spcAft>
              <a:defRPr sz="4400">
                <a:solidFill>
                  <a:schemeClr val="lt1"/>
                </a:solidFill>
                <a:latin typeface="+mn-lt"/>
                <a:ea typeface="+mn-ea"/>
                <a:cs typeface="+mn-cs"/>
                <a:sym typeface="Arial" panose="020B0604020202020204" pitchFamily="34" charset="0"/>
              </a:defRPr>
            </a:lvl8pPr>
            <a:lvl9pPr marL="1828800" algn="ctr" rtl="0" fontAlgn="base">
              <a:spcBef>
                <a:spcPct val="0"/>
              </a:spcBef>
              <a:spcAft>
                <a:spcPct val="0"/>
              </a:spcAft>
              <a:defRPr sz="4400">
                <a:solidFill>
                  <a:schemeClr val="lt1"/>
                </a:solidFill>
                <a:latin typeface="+mn-lt"/>
                <a:ea typeface="+mn-ea"/>
                <a:cs typeface="+mn-cs"/>
                <a:sym typeface="Arial" panose="020B0604020202020204" pitchFamily="34" charset="0"/>
              </a:defRPr>
            </a:lvl9pPr>
          </a:lstStyle>
          <a:p>
            <a:pPr lvl="0" algn="l"/>
            <a:r>
              <a:rPr lang="zh-CN" altLang="zh-CN" sz="1600" dirty="0">
                <a:solidFill>
                  <a:srgbClr val="FFFF00"/>
                </a:solidFill>
                <a:highlight>
                  <a:srgbClr val="003B76"/>
                </a:highlight>
                <a:latin typeface="Arial Unicode MS"/>
                <a:ea typeface="source-code-pro"/>
              </a:rPr>
              <a:t>mean(A, dims = 1)</a:t>
            </a:r>
            <a:r>
              <a:rPr lang="zh-CN" altLang="zh-CN" sz="1600" dirty="0">
                <a:solidFill>
                  <a:srgbClr val="FFFF00"/>
                </a:solidFill>
                <a:highlight>
                  <a:srgbClr val="003B76"/>
                </a:highlight>
              </a:rPr>
              <a:t> </a:t>
            </a:r>
            <a:endParaRPr lang="zh-CN" altLang="zh-CN" sz="1600" dirty="0">
              <a:solidFill>
                <a:srgbClr val="FFFF00"/>
              </a:solidFill>
              <a:highlight>
                <a:srgbClr val="003B76"/>
              </a:highlight>
              <a:latin typeface="Arial" panose="020B0604020202020204" pitchFamily="34" charset="0"/>
            </a:endParaRPr>
          </a:p>
        </p:txBody>
      </p:sp>
      <p:sp>
        <p:nvSpPr>
          <p:cNvPr id="23" name="标题 4">
            <a:extLst>
              <a:ext uri="{FF2B5EF4-FFF2-40B4-BE49-F238E27FC236}">
                <a16:creationId xmlns:a16="http://schemas.microsoft.com/office/drawing/2014/main" id="{1F168E50-C9B1-449B-8F2B-1B776E4B9197}"/>
              </a:ext>
            </a:extLst>
          </p:cNvPr>
          <p:cNvSpPr txBox="1">
            <a:spLocks/>
          </p:cNvSpPr>
          <p:nvPr/>
        </p:nvSpPr>
        <p:spPr bwMode="auto">
          <a:xfrm>
            <a:off x="7014942" y="1083226"/>
            <a:ext cx="1913542" cy="338554"/>
          </a:xfrm>
          <a:prstGeom prst="rect">
            <a:avLst/>
          </a:prstGeom>
          <a:noFill/>
          <a:ln w="38100" cap="flat" cmpd="sng" algn="ctr">
            <a:noFill/>
            <a:prstDash val="solid"/>
            <a:miter lim="800000"/>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spAutoFit/>
          </a:bodyPr>
          <a:lstStyle>
            <a:defPPr>
              <a:defRPr lang="zh-CN"/>
            </a:defPPr>
            <a:lvl1pPr lvl="0" eaLnBrk="0" hangingPunct="0">
              <a:defRPr sz="1600">
                <a:solidFill>
                  <a:srgbClr val="FFFF00"/>
                </a:solidFill>
                <a:highlight>
                  <a:srgbClr val="003B76"/>
                </a:highlight>
                <a:latin typeface="Arial Unicode MS"/>
                <a:ea typeface="source-code-pro"/>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r>
              <a:rPr lang="zh-CN" altLang="zh-CN" dirty="0"/>
              <a:t>mean(A, dims = </a:t>
            </a:r>
            <a:r>
              <a:rPr lang="en-US" altLang="zh-CN" dirty="0"/>
              <a:t>2</a:t>
            </a:r>
            <a:r>
              <a:rPr lang="zh-CN" altLang="zh-CN" dirty="0"/>
              <a:t>) </a:t>
            </a:r>
          </a:p>
        </p:txBody>
      </p:sp>
      <p:sp>
        <p:nvSpPr>
          <p:cNvPr id="24" name="Rectangle 1">
            <a:extLst>
              <a:ext uri="{FF2B5EF4-FFF2-40B4-BE49-F238E27FC236}">
                <a16:creationId xmlns:a16="http://schemas.microsoft.com/office/drawing/2014/main" id="{48437F9C-E5F6-45D4-BE52-963ACAAC34FB}"/>
              </a:ext>
            </a:extLst>
          </p:cNvPr>
          <p:cNvSpPr>
            <a:spLocks noChangeArrowheads="1"/>
          </p:cNvSpPr>
          <p:nvPr/>
        </p:nvSpPr>
        <p:spPr bwMode="auto">
          <a:xfrm>
            <a:off x="5508104" y="1065689"/>
            <a:ext cx="1506838" cy="379889"/>
          </a:xfrm>
          <a:prstGeom prst="rect">
            <a:avLst/>
          </a:prstGeom>
          <a:noFill/>
          <a:ln>
            <a:noFill/>
          </a:ln>
          <a:effectLst/>
        </p:spPr>
        <p:txBody>
          <a:bodyPr vert="horz" wrap="square" lIns="0" tIns="23805" rIns="0" bIns="47610" numCol="1" anchor="ctr" anchorCtr="0" compatLnSpc="1">
            <a:prstTxWarp prst="textNoShape">
              <a:avLst/>
            </a:prstTxWarp>
            <a:spAutoFit/>
          </a:bodyPr>
          <a:lstStyle/>
          <a:p>
            <a:pPr eaLnBrk="0" hangingPunct="0"/>
            <a:r>
              <a:rPr lang="en-US" altLang="zh-CN" sz="2000" dirty="0">
                <a:solidFill>
                  <a:schemeClr val="bg1"/>
                </a:solidFill>
                <a:highlight>
                  <a:srgbClr val="3399FF"/>
                </a:highlight>
                <a:latin typeface="华文楷体" panose="02010600040101010101" pitchFamily="2" charset="-122"/>
                <a:ea typeface="华文楷体" panose="02010600040101010101" pitchFamily="2" charset="-122"/>
              </a:rPr>
              <a:t>A</a:t>
            </a:r>
            <a:r>
              <a:rPr lang="zh-CN" altLang="en-US" sz="2000" dirty="0">
                <a:solidFill>
                  <a:schemeClr val="bg1"/>
                </a:solidFill>
                <a:highlight>
                  <a:srgbClr val="3399FF"/>
                </a:highlight>
                <a:latin typeface="华文楷体" panose="02010600040101010101" pitchFamily="2" charset="-122"/>
                <a:ea typeface="华文楷体" panose="02010600040101010101" pitchFamily="2" charset="-122"/>
              </a:rPr>
              <a:t>各行求均值</a:t>
            </a:r>
            <a:endParaRPr lang="en-US" altLang="zh-CN" sz="2000" dirty="0">
              <a:solidFill>
                <a:schemeClr val="bg1"/>
              </a:solidFill>
              <a:highlight>
                <a:srgbClr val="3399FF"/>
              </a:highlight>
              <a:latin typeface="华文楷体" panose="02010600040101010101" pitchFamily="2" charset="-122"/>
              <a:ea typeface="华文楷体" panose="02010600040101010101" pitchFamily="2" charset="-122"/>
            </a:endParaRPr>
          </a:p>
        </p:txBody>
      </p:sp>
      <p:sp>
        <p:nvSpPr>
          <p:cNvPr id="15" name="Rectangle 2">
            <a:extLst>
              <a:ext uri="{FF2B5EF4-FFF2-40B4-BE49-F238E27FC236}">
                <a16:creationId xmlns:a16="http://schemas.microsoft.com/office/drawing/2014/main" id="{A7F7D16B-39DA-4394-90D0-0319CB5C9D4B}"/>
              </a:ext>
            </a:extLst>
          </p:cNvPr>
          <p:cNvSpPr txBox="1">
            <a:spLocks noChangeArrowheads="1"/>
          </p:cNvSpPr>
          <p:nvPr/>
        </p:nvSpPr>
        <p:spPr bwMode="auto">
          <a:xfrm>
            <a:off x="179513" y="71782"/>
            <a:ext cx="8842893" cy="566414"/>
          </a:xfrm>
          <a:prstGeom prst="rect">
            <a:avLst/>
          </a:prstGeom>
          <a:solidFill>
            <a:schemeClr val="bg1"/>
          </a:solid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l" eaLnBrk="1" hangingPunct="1"/>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a:t>
            </a:r>
            <a:r>
              <a:rPr lang="en-US" altLang="zh-CN" sz="2600" kern="0" dirty="0">
                <a:solidFill>
                  <a:srgbClr val="002060"/>
                </a:solidFill>
                <a:latin typeface="华文楷体" panose="02010600040101010101" pitchFamily="2" charset="-122"/>
                <a:ea typeface="华文楷体" panose="02010600040101010101" pitchFamily="2" charset="-122"/>
              </a:rPr>
              <a:t>3.3.1 plot</a:t>
            </a:r>
            <a:r>
              <a:rPr lang="zh-CN" altLang="en-US" sz="2600" kern="0" dirty="0">
                <a:solidFill>
                  <a:srgbClr val="002060"/>
                </a:solidFill>
                <a:latin typeface="华文楷体" panose="02010600040101010101" pitchFamily="2" charset="-122"/>
                <a:ea typeface="华文楷体" panose="02010600040101010101" pitchFamily="2" charset="-122"/>
              </a:rPr>
              <a:t>绘制多条二维曲线</a:t>
            </a:r>
            <a:r>
              <a:rPr lang="en-US" altLang="zh-CN" sz="2600" b="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输入矩阵的多条曲线案例</a:t>
            </a:r>
            <a:endParaRPr lang="zh-CN" altLang="en-US" sz="2600" kern="0" dirty="0">
              <a:solidFill>
                <a:srgbClr val="002060"/>
              </a:solidFill>
              <a:latin typeface="华文楷体" panose="02010600040101010101" pitchFamily="2" charset="-122"/>
              <a:ea typeface="华文楷体" panose="02010600040101010101" pitchFamily="2" charset="-122"/>
              <a:cs typeface="隶书" panose="02010509060101010101" charset="-122"/>
            </a:endParaRPr>
          </a:p>
        </p:txBody>
      </p:sp>
      <p:sp>
        <p:nvSpPr>
          <p:cNvPr id="18" name="波形 17">
            <a:extLst>
              <a:ext uri="{FF2B5EF4-FFF2-40B4-BE49-F238E27FC236}">
                <a16:creationId xmlns:a16="http://schemas.microsoft.com/office/drawing/2014/main" id="{1A7BB035-696E-4186-AF03-D98351A4A231}"/>
              </a:ext>
            </a:extLst>
          </p:cNvPr>
          <p:cNvSpPr/>
          <p:nvPr/>
        </p:nvSpPr>
        <p:spPr>
          <a:xfrm>
            <a:off x="124453" y="653032"/>
            <a:ext cx="489965" cy="400110"/>
          </a:xfrm>
          <a:prstGeom prst="wave">
            <a:avLst/>
          </a:prstGeom>
          <a:no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例4</a:t>
            </a:r>
            <a:endParaRPr lang="ko-KR" altLang="en-US" b="1" dirty="0">
              <a:solidFill>
                <a:srgbClr val="FFFF00"/>
              </a:solidFill>
              <a:latin typeface="微软雅黑" panose="020B0503020204020204" charset="-122"/>
              <a:ea typeface="微软雅黑" panose="020B0503020204020204" charset="-122"/>
            </a:endParaRPr>
          </a:p>
        </p:txBody>
      </p:sp>
      <p:sp>
        <p:nvSpPr>
          <p:cNvPr id="19" name="波形 18">
            <a:extLst>
              <a:ext uri="{FF2B5EF4-FFF2-40B4-BE49-F238E27FC236}">
                <a16:creationId xmlns:a16="http://schemas.microsoft.com/office/drawing/2014/main" id="{DC356EEC-FB78-4141-AB62-C7672499207B}"/>
              </a:ext>
            </a:extLst>
          </p:cNvPr>
          <p:cNvSpPr/>
          <p:nvPr/>
        </p:nvSpPr>
        <p:spPr>
          <a:xfrm>
            <a:off x="124453" y="627534"/>
            <a:ext cx="489965" cy="40011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例4</a:t>
            </a:r>
            <a:endParaRPr lang="ko-KR" altLang="en-US" b="1" dirty="0">
              <a:solidFill>
                <a:srgbClr val="FFFF00"/>
              </a:solidFill>
              <a:latin typeface="微软雅黑" panose="020B0503020204020204" charset="-122"/>
              <a:ea typeface="微软雅黑" panose="020B0503020204020204" charset="-122"/>
            </a:endParaRPr>
          </a:p>
        </p:txBody>
      </p:sp>
      <p:pic>
        <p:nvPicPr>
          <p:cNvPr id="8" name="图片 7">
            <a:extLst>
              <a:ext uri="{FF2B5EF4-FFF2-40B4-BE49-F238E27FC236}">
                <a16:creationId xmlns:a16="http://schemas.microsoft.com/office/drawing/2014/main" id="{56440120-3B93-4DBE-BCD0-57AAF462DB38}"/>
              </a:ext>
            </a:extLst>
          </p:cNvPr>
          <p:cNvPicPr>
            <a:picLocks noChangeAspect="1"/>
          </p:cNvPicPr>
          <p:nvPr/>
        </p:nvPicPr>
        <p:blipFill rotWithShape="1">
          <a:blip r:embed="rId3"/>
          <a:srcRect l="8264" t="12200" r="6687" b="6601"/>
          <a:stretch/>
        </p:blipFill>
        <p:spPr>
          <a:xfrm>
            <a:off x="6586760" y="2980391"/>
            <a:ext cx="2393337" cy="1671558"/>
          </a:xfrm>
          <a:prstGeom prst="rect">
            <a:avLst/>
          </a:prstGeom>
        </p:spPr>
      </p:pic>
      <p:sp>
        <p:nvSpPr>
          <p:cNvPr id="14" name="AutoShape 13">
            <a:extLst>
              <a:ext uri="{FF2B5EF4-FFF2-40B4-BE49-F238E27FC236}">
                <a16:creationId xmlns:a16="http://schemas.microsoft.com/office/drawing/2014/main" id="{24BC171B-3B04-38A0-06DF-59A3A518304F}"/>
              </a:ext>
            </a:extLst>
          </p:cNvPr>
          <p:cNvSpPr/>
          <p:nvPr/>
        </p:nvSpPr>
        <p:spPr bwMode="auto">
          <a:xfrm>
            <a:off x="4184243" y="3132554"/>
            <a:ext cx="3599185" cy="476524"/>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l" defTabSz="914400" eaLnBrk="0" fontAlgn="base" latinLnBrk="0">
              <a:lnSpc>
                <a:spcPct val="150000"/>
              </a:lnSpc>
              <a:spcBef>
                <a:spcPts val="0"/>
              </a:spcBef>
              <a:spcAft>
                <a:spcPts val="0"/>
              </a:spcAft>
              <a:buFontTx/>
              <a:buNone/>
            </a:pPr>
            <a:r>
              <a:rPr lang="zh-CN" altLang="en-US" sz="1400" dirty="0">
                <a:solidFill>
                  <a:srgbClr val="FFFF00"/>
                </a:solidFill>
                <a:ea typeface="Arial" panose="020B0604020202020204" pitchFamily="34" charset="0"/>
              </a:rPr>
              <a:t>无法显示误差的影响</a:t>
            </a:r>
            <a:endParaRPr lang="ko-KR" altLang="en-US" sz="1400" b="0" cap="none" dirty="0">
              <a:solidFill>
                <a:srgbClr val="FFFF00"/>
              </a:solidFill>
              <a:ea typeface="Arial" panose="020B0604020202020204" pitchFamily="34" charset="0"/>
            </a:endParaRPr>
          </a:p>
        </p:txBody>
      </p:sp>
      <p:sp>
        <p:nvSpPr>
          <p:cNvPr id="27" name="日期占位符 1">
            <a:extLst>
              <a:ext uri="{FF2B5EF4-FFF2-40B4-BE49-F238E27FC236}">
                <a16:creationId xmlns:a16="http://schemas.microsoft.com/office/drawing/2014/main" id="{66825012-3B16-4361-A9B4-E6E06526910D}"/>
              </a:ext>
            </a:extLst>
          </p:cNvPr>
          <p:cNvSpPr txBox="1">
            <a:spLocks/>
          </p:cNvSpPr>
          <p:nvPr/>
        </p:nvSpPr>
        <p:spPr>
          <a:xfrm>
            <a:off x="111971" y="4662834"/>
            <a:ext cx="2133600" cy="357188"/>
          </a:xfrm>
          <a:prstGeom prst="rect">
            <a:avLst/>
          </a:prstGeo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25E81C68-AD67-4B59-A707-20F6CB98CF04}" type="datetime1">
              <a:rPr lang="zh-CN" altLang="en-US" smtClean="0"/>
              <a:pPr>
                <a:defRPr/>
              </a:pPr>
              <a:t>2025/3/20</a:t>
            </a:fld>
            <a:endParaRPr lang="zh-CN" altLang="en-US"/>
          </a:p>
        </p:txBody>
      </p:sp>
    </p:spTree>
    <p:extLst>
      <p:ext uri="{BB962C8B-B14F-4D97-AF65-F5344CB8AC3E}">
        <p14:creationId xmlns:p14="http://schemas.microsoft.com/office/powerpoint/2010/main" val="167860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4266ACA-D105-9552-CD97-FD2549A6B53D}"/>
              </a:ext>
            </a:extLst>
          </p:cNvPr>
          <p:cNvSpPr/>
          <p:nvPr/>
        </p:nvSpPr>
        <p:spPr>
          <a:xfrm>
            <a:off x="1206929" y="39102"/>
            <a:ext cx="7730748" cy="584775"/>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32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3200" kern="0" dirty="0">
                <a:solidFill>
                  <a:srgbClr val="002060"/>
                </a:solidFill>
                <a:latin typeface="华文楷体" panose="02010600040101010101" pitchFamily="2" charset="-122"/>
                <a:ea typeface="华文楷体" panose="02010600040101010101" pitchFamily="2" charset="-122"/>
              </a:rPr>
              <a:t>3.3.2 </a:t>
            </a:r>
            <a:r>
              <a:rPr lang="zh-CN" altLang="en-US" sz="3200" kern="0" dirty="0">
                <a:solidFill>
                  <a:srgbClr val="002060"/>
                </a:solidFill>
                <a:latin typeface="华文楷体" panose="02010600040101010101" pitchFamily="2" charset="-122"/>
                <a:ea typeface="华文楷体" panose="02010600040101010101" pitchFamily="2" charset="-122"/>
              </a:rPr>
              <a:t>绘制误差条线图</a:t>
            </a:r>
            <a:r>
              <a:rPr lang="en-US" altLang="zh-CN" sz="3200" kern="0" dirty="0">
                <a:solidFill>
                  <a:srgbClr val="FF0000"/>
                </a:solidFill>
                <a:latin typeface="华文楷体" panose="02010600040101010101" pitchFamily="2" charset="-122"/>
                <a:ea typeface="华文楷体" panose="02010600040101010101" pitchFamily="2" charset="-122"/>
              </a:rPr>
              <a:t>——</a:t>
            </a:r>
            <a:r>
              <a:rPr lang="en-US" altLang="zh-CN" sz="3200" kern="0" dirty="0" err="1">
                <a:solidFill>
                  <a:srgbClr val="FF0000"/>
                </a:solidFill>
                <a:latin typeface="华文楷体" panose="02010600040101010101" pitchFamily="2" charset="-122"/>
                <a:ea typeface="华文楷体" panose="02010600040101010101" pitchFamily="2" charset="-122"/>
              </a:rPr>
              <a:t>errobar</a:t>
            </a:r>
            <a:r>
              <a:rPr lang="zh-CN" altLang="en-US" sz="2800" dirty="0">
                <a:solidFill>
                  <a:srgbClr val="FF0000"/>
                </a:solidFill>
                <a:latin typeface="华文楷体" panose="02010600040101010101" pitchFamily="2" charset="-122"/>
                <a:ea typeface="华文楷体" panose="02010600040101010101" pitchFamily="2" charset="-122"/>
              </a:rPr>
              <a:t>语法</a:t>
            </a:r>
            <a:endParaRPr lang="en-US" altLang="zh-CN" sz="2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5" name="矩形 4">
            <a:extLst>
              <a:ext uri="{FF2B5EF4-FFF2-40B4-BE49-F238E27FC236}">
                <a16:creationId xmlns:a16="http://schemas.microsoft.com/office/drawing/2014/main" id="{D54A8264-77B0-C1B6-A9BC-2408F8C69C80}"/>
              </a:ext>
            </a:extLst>
          </p:cNvPr>
          <p:cNvSpPr/>
          <p:nvPr/>
        </p:nvSpPr>
        <p:spPr>
          <a:xfrm>
            <a:off x="176564" y="3234262"/>
            <a:ext cx="1875155" cy="400110"/>
          </a:xfrm>
          <a:prstGeom prst="rect">
            <a:avLst/>
          </a:prstGeom>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rPr>
              <a:t>对称误差条图</a:t>
            </a:r>
          </a:p>
        </p:txBody>
      </p:sp>
      <p:sp>
        <p:nvSpPr>
          <p:cNvPr id="6" name="AutoShape 2" descr="https://wkbjcloudbos.bdimg.com/v1/docconvert1425/wk/c9635c14e6e302420c0972203fd1d78b/0.png?responseCacheControl=max-age%3D3888000&amp;responseExpires=Fri%2C%2027%20Dec%202019%2007%3A40%3A30%20%2B0800&amp;authorization=bce-auth-v1%2Ffa1126e91489401fa7cc85045ce7179e%2F2019-11-11T23%3A40%3A30Z%2F3600%2Fhost%2F10e85afb43336525e6a8e2ada3aed9fa03a37bf970b577e871a69b23db46b65d&amp;x-bce-range=0-4770&amp;token=eyJ0eXAiOiJKSVQiLCJ2ZXIiOiIxLjAiLCJhbGciOiJIUzI1NiIsImV4cCI6MTU3MzUxOTIzMCwidXJpIjp0cnVlLCJwYXJhbXMiOlsicmVzcG9uc2VDYWNoZUNvbnRyb2wiLCJyZXNwb25zZUV4cGlyZXMiLCJ4LWJjZS1yYW5nZSJdfQ%3D%3D.c1ePnFytySWAu5vixcHUN14kmUma3x3BALeGlbRasUI%3D.1573519230">
            <a:extLst>
              <a:ext uri="{FF2B5EF4-FFF2-40B4-BE49-F238E27FC236}">
                <a16:creationId xmlns:a16="http://schemas.microsoft.com/office/drawing/2014/main" id="{E444A467-3640-CB8D-87CA-858CCD0426BA}"/>
              </a:ext>
            </a:extLst>
          </p:cNvPr>
          <p:cNvSpPr>
            <a:spLocks noChangeAspect="1" noChangeArrowheads="1"/>
          </p:cNvSpPr>
          <p:nvPr/>
        </p:nvSpPr>
        <p:spPr bwMode="auto">
          <a:xfrm>
            <a:off x="155575" y="-108347"/>
            <a:ext cx="3048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矩形 10">
            <a:extLst>
              <a:ext uri="{FF2B5EF4-FFF2-40B4-BE49-F238E27FC236}">
                <a16:creationId xmlns:a16="http://schemas.microsoft.com/office/drawing/2014/main" id="{CCC88306-2F40-020D-3930-7413683FD593}"/>
              </a:ext>
            </a:extLst>
          </p:cNvPr>
          <p:cNvSpPr/>
          <p:nvPr/>
        </p:nvSpPr>
        <p:spPr>
          <a:xfrm>
            <a:off x="107504" y="3692396"/>
            <a:ext cx="8905086" cy="820546"/>
          </a:xfrm>
          <a:prstGeom prst="rect">
            <a:avLst/>
          </a:prstGeom>
          <a:solidFill>
            <a:schemeClr val="bg1"/>
          </a:solidFill>
          <a:ln>
            <a:solidFill>
              <a:schemeClr val="bg1"/>
            </a:solidFill>
          </a:ln>
        </p:spPr>
        <p:txBody>
          <a:bodyPr wrap="square">
            <a:spAutoFit/>
          </a:bodyPr>
          <a:lstStyle/>
          <a:p>
            <a:pPr>
              <a:lnSpc>
                <a:spcPts val="3000"/>
              </a:lnSpc>
              <a:buFont typeface="Wingdings" panose="05000000000000000000" pitchFamily="2" charset="2"/>
              <a:buChar char="Ø"/>
            </a:pPr>
            <a:r>
              <a:rPr lang="zh-CN" altLang="zh-CN" dirty="0">
                <a:solidFill>
                  <a:srgbClr val="0070C0"/>
                </a:solidFill>
                <a:latin typeface="微软雅黑" panose="020B0503020204020204" pitchFamily="34" charset="-122"/>
                <a:ea typeface="微软雅黑" panose="020B0503020204020204" pitchFamily="34" charset="-122"/>
              </a:rPr>
              <a:t>绘制 x</a:t>
            </a:r>
            <a:r>
              <a:rPr lang="zh-CN" altLang="en-US" dirty="0">
                <a:solidFill>
                  <a:srgbClr val="0070C0"/>
                </a:solidFill>
                <a:latin typeface="微软雅黑" panose="020B0503020204020204" pitchFamily="34" charset="-122"/>
                <a:ea typeface="微软雅黑" panose="020B0503020204020204" pitchFamily="34" charset="-122"/>
              </a:rPr>
              <a:t>处均值</a:t>
            </a:r>
            <a:r>
              <a:rPr lang="zh-CN" altLang="zh-CN" dirty="0">
                <a:solidFill>
                  <a:srgbClr val="0070C0"/>
                </a:solidFill>
                <a:latin typeface="微软雅黑" panose="020B0503020204020204" pitchFamily="34" charset="-122"/>
                <a:ea typeface="微软雅黑" panose="020B0503020204020204" pitchFamily="34" charset="-122"/>
              </a:rPr>
              <a:t>y 的</a:t>
            </a:r>
            <a:r>
              <a:rPr lang="zh-CN" altLang="en-US" dirty="0">
                <a:solidFill>
                  <a:srgbClr val="0070C0"/>
                </a:solidFill>
                <a:latin typeface="微软雅黑" panose="020B0503020204020204" pitchFamily="34" charset="-122"/>
                <a:ea typeface="微软雅黑" panose="020B0503020204020204" pitchFamily="34" charset="-122"/>
              </a:rPr>
              <a:t>误差条</a:t>
            </a:r>
            <a:r>
              <a:rPr lang="zh-CN" altLang="zh-CN" dirty="0">
                <a:solidFill>
                  <a:srgbClr val="0070C0"/>
                </a:solidFill>
                <a:latin typeface="微软雅黑" panose="020B0503020204020204" pitchFamily="34" charset="-122"/>
                <a:ea typeface="微软雅黑" panose="020B0503020204020204" pitchFamily="34" charset="-122"/>
              </a:rPr>
              <a:t>图，</a:t>
            </a:r>
            <a:r>
              <a:rPr lang="zh-CN" altLang="en-US" dirty="0">
                <a:solidFill>
                  <a:srgbClr val="0070C0"/>
                </a:solidFill>
                <a:latin typeface="微软雅黑" panose="020B0503020204020204" pitchFamily="34" charset="-122"/>
                <a:ea typeface="微软雅黑" panose="020B0503020204020204" pitchFamily="34" charset="-122"/>
              </a:rPr>
              <a:t>即</a:t>
            </a:r>
            <a:r>
              <a:rPr lang="zh-CN" altLang="zh-CN" dirty="0">
                <a:solidFill>
                  <a:srgbClr val="0070C0"/>
                </a:solidFill>
                <a:latin typeface="微软雅黑" panose="020B0503020204020204" pitchFamily="34" charset="-122"/>
                <a:ea typeface="微软雅黑" panose="020B0503020204020204" pitchFamily="34" charset="-122"/>
              </a:rPr>
              <a:t>在每个</a:t>
            </a:r>
            <a:r>
              <a:rPr lang="en-US" altLang="zh-CN" dirty="0">
                <a:solidFill>
                  <a:srgbClr val="0070C0"/>
                </a:solidFill>
                <a:latin typeface="微软雅黑" panose="020B0503020204020204" pitchFamily="34" charset="-122"/>
                <a:ea typeface="微软雅黑" panose="020B0503020204020204" pitchFamily="34" charset="-122"/>
              </a:rPr>
              <a:t>(</a:t>
            </a:r>
            <a:r>
              <a:rPr lang="en-US" altLang="zh-CN" dirty="0" err="1">
                <a:solidFill>
                  <a:srgbClr val="0070C0"/>
                </a:solidFill>
                <a:latin typeface="微软雅黑" panose="020B0503020204020204" pitchFamily="34" charset="-122"/>
                <a:ea typeface="微软雅黑" panose="020B0503020204020204" pitchFamily="34" charset="-122"/>
              </a:rPr>
              <a:t>x,y</a:t>
            </a:r>
            <a:r>
              <a:rPr lang="en-US" altLang="zh-CN" dirty="0">
                <a:solidFill>
                  <a:srgbClr val="0070C0"/>
                </a:solidFill>
                <a:latin typeface="微软雅黑" panose="020B0503020204020204" pitchFamily="34" charset="-122"/>
                <a:ea typeface="微软雅黑" panose="020B0503020204020204" pitchFamily="34" charset="-122"/>
              </a:rPr>
              <a:t>)</a:t>
            </a:r>
            <a:r>
              <a:rPr lang="zh-CN" altLang="zh-CN" dirty="0">
                <a:solidFill>
                  <a:srgbClr val="0070C0"/>
                </a:solidFill>
                <a:latin typeface="微软雅黑" panose="020B0503020204020204" pitchFamily="34" charset="-122"/>
                <a:ea typeface="微软雅黑" panose="020B0503020204020204" pitchFamily="34" charset="-122"/>
              </a:rPr>
              <a:t>数据点处绘制一垂直误差条</a:t>
            </a:r>
            <a:r>
              <a:rPr lang="en-US" altLang="zh-CN" dirty="0" err="1">
                <a:solidFill>
                  <a:srgbClr val="0070C0"/>
                </a:solidFill>
                <a:latin typeface="微软雅黑" panose="020B0503020204020204" pitchFamily="34" charset="-122"/>
                <a:ea typeface="微软雅黑" panose="020B0503020204020204" pitchFamily="34" charset="-122"/>
              </a:rPr>
              <a:t>err</a:t>
            </a:r>
            <a:r>
              <a:rPr lang="en-US" altLang="zh-CN" dirty="0" err="1">
                <a:solidFill>
                  <a:srgbClr val="0070C0"/>
                </a:solidFill>
                <a:latin typeface="微软雅黑" panose="020B0503020204020204" pitchFamily="34" charset="-122"/>
                <a:ea typeface="微软雅黑" panose="020B0503020204020204" pitchFamily="34" charset="-122"/>
                <a:sym typeface="+mn-ea"/>
              </a:rPr>
              <a:t>err</a:t>
            </a:r>
            <a:r>
              <a:rPr lang="zh-CN" altLang="zh-CN" dirty="0">
                <a:solidFill>
                  <a:srgbClr val="0070C0"/>
                </a:solidFill>
                <a:latin typeface="微软雅黑" panose="020B0503020204020204" pitchFamily="34" charset="-122"/>
                <a:ea typeface="微软雅黑" panose="020B0503020204020204" pitchFamily="34" charset="-122"/>
              </a:rPr>
              <a:t> </a:t>
            </a:r>
          </a:p>
          <a:p>
            <a:pPr>
              <a:lnSpc>
                <a:spcPts val="3000"/>
              </a:lnSpc>
              <a:buFont typeface="Wingdings" panose="05000000000000000000" pitchFamily="2" charset="2"/>
              <a:buChar char="Ø"/>
            </a:pPr>
            <a:r>
              <a:rPr lang="zh-CN" altLang="en-US" dirty="0">
                <a:solidFill>
                  <a:srgbClr val="0070C0"/>
                </a:solidFill>
                <a:latin typeface="微软雅黑" panose="020B0503020204020204" pitchFamily="34" charset="-122"/>
                <a:ea typeface="微软雅黑" panose="020B0503020204020204" pitchFamily="34" charset="-122"/>
              </a:rPr>
              <a:t>误差条对称</a:t>
            </a:r>
            <a:r>
              <a:rPr lang="en-US" altLang="zh-CN" dirty="0">
                <a:solidFill>
                  <a:srgbClr val="0070C0"/>
                </a:solidFill>
                <a:latin typeface="微软雅黑" panose="020B0503020204020204" pitchFamily="34" charset="-122"/>
                <a:ea typeface="微软雅黑" panose="020B0503020204020204" pitchFamily="34" charset="-122"/>
              </a:rPr>
              <a:t>y</a:t>
            </a:r>
            <a:r>
              <a:rPr lang="zh-CN" altLang="en-US" dirty="0">
                <a:solidFill>
                  <a:srgbClr val="0070C0"/>
                </a:solidFill>
                <a:latin typeface="微软雅黑" panose="020B0503020204020204" pitchFamily="34" charset="-122"/>
                <a:ea typeface="微软雅黑" panose="020B0503020204020204" pitchFamily="34" charset="-122"/>
              </a:rPr>
              <a:t>均值</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其长度为</a:t>
            </a:r>
            <a:r>
              <a:rPr lang="en-US" altLang="zh-CN" dirty="0">
                <a:solidFill>
                  <a:srgbClr val="0070C0"/>
                </a:solidFill>
                <a:latin typeface="微软雅黑" panose="020B0503020204020204" pitchFamily="34" charset="-122"/>
                <a:ea typeface="微软雅黑" panose="020B0503020204020204" pitchFamily="34" charset="-122"/>
              </a:rPr>
              <a:t>err</a:t>
            </a:r>
            <a:r>
              <a:rPr lang="zh-CN" altLang="en-US" dirty="0">
                <a:solidFill>
                  <a:srgbClr val="0070C0"/>
                </a:solidFill>
                <a:latin typeface="微软雅黑" panose="020B0503020204020204" pitchFamily="34" charset="-122"/>
                <a:ea typeface="微软雅黑" panose="020B0503020204020204" pitchFamily="34" charset="-122"/>
              </a:rPr>
              <a:t>标准差</a:t>
            </a:r>
            <a:r>
              <a:rPr lang="en-US" altLang="zh-CN" dirty="0">
                <a:solidFill>
                  <a:srgbClr val="0070C0"/>
                </a:solidFill>
                <a:latin typeface="微软雅黑" panose="020B0503020204020204" pitchFamily="34" charset="-122"/>
                <a:ea typeface="微软雅黑" panose="020B0503020204020204" pitchFamily="34" charset="-122"/>
              </a:rPr>
              <a:t>, </a:t>
            </a:r>
            <a:r>
              <a:rPr lang="zh-CN" altLang="en-US" dirty="0">
                <a:solidFill>
                  <a:srgbClr val="0070C0"/>
                </a:solidFill>
                <a:latin typeface="微软雅黑" panose="020B0503020204020204" pitchFamily="34" charset="-122"/>
                <a:ea typeface="微软雅黑" panose="020B0503020204020204" pitchFamily="34" charset="-122"/>
              </a:rPr>
              <a:t>上下方长短一样</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总误差条长度是 </a:t>
            </a:r>
            <a:r>
              <a:rPr lang="en-US" altLang="zh-CN" dirty="0">
                <a:solidFill>
                  <a:srgbClr val="0070C0"/>
                </a:solidFill>
                <a:latin typeface="微软雅黑" panose="020B0503020204020204" pitchFamily="34" charset="-122"/>
                <a:ea typeface="微软雅黑" panose="020B0503020204020204" pitchFamily="34" charset="-122"/>
              </a:rPr>
              <a:t>err </a:t>
            </a:r>
            <a:r>
              <a:rPr lang="zh-CN" altLang="en-US" dirty="0">
                <a:solidFill>
                  <a:srgbClr val="0070C0"/>
                </a:solidFill>
                <a:latin typeface="微软雅黑" panose="020B0503020204020204" pitchFamily="34" charset="-122"/>
                <a:ea typeface="微软雅黑" panose="020B0503020204020204" pitchFamily="34" charset="-122"/>
              </a:rPr>
              <a:t>值的两倍</a:t>
            </a:r>
          </a:p>
        </p:txBody>
      </p:sp>
      <p:sp>
        <p:nvSpPr>
          <p:cNvPr id="16" name="矩形 15">
            <a:extLst>
              <a:ext uri="{FF2B5EF4-FFF2-40B4-BE49-F238E27FC236}">
                <a16:creationId xmlns:a16="http://schemas.microsoft.com/office/drawing/2014/main" id="{1BCB7A41-1309-1C5D-7AE0-BA70817ABDDE}"/>
              </a:ext>
            </a:extLst>
          </p:cNvPr>
          <p:cNvSpPr/>
          <p:nvPr/>
        </p:nvSpPr>
        <p:spPr>
          <a:xfrm>
            <a:off x="224056" y="1218756"/>
            <a:ext cx="8788533" cy="849079"/>
          </a:xfrm>
          <a:prstGeom prst="rect">
            <a:avLst/>
          </a:prstGeom>
        </p:spPr>
        <p:txBody>
          <a:bodyPr wrap="square">
            <a:spAutoFit/>
          </a:bodyPr>
          <a:lstStyle/>
          <a:p>
            <a:pPr>
              <a:lnSpc>
                <a:spcPts val="3100"/>
              </a:lnSpc>
            </a:pPr>
            <a:r>
              <a:rPr lang="zh-CN" altLang="en-US" sz="2000" b="1" dirty="0">
                <a:solidFill>
                  <a:srgbClr val="0070C0"/>
                </a:solidFill>
                <a:latin typeface="微软雅黑" panose="020B0503020204020204" pitchFamily="34" charset="-122"/>
                <a:ea typeface="微软雅黑" panose="020B0503020204020204" pitchFamily="34" charset="-122"/>
              </a:rPr>
              <a:t>误差条常用标准差</a:t>
            </a:r>
            <a:r>
              <a:rPr lang="en-US" altLang="zh-CN" sz="2000" dirty="0">
                <a:solidFill>
                  <a:srgbClr val="0070C0"/>
                </a:solidFill>
                <a:latin typeface="微软雅黑" panose="020B0503020204020204" pitchFamily="34" charset="-122"/>
                <a:ea typeface="微软雅黑" panose="020B0503020204020204" pitchFamily="34" charset="-122"/>
              </a:rPr>
              <a:t>(Standard Deviation)</a:t>
            </a:r>
            <a:r>
              <a:rPr lang="zh-CN" altLang="en-US" sz="2000" dirty="0">
                <a:solidFill>
                  <a:srgbClr val="0070C0"/>
                </a:solidFill>
                <a:latin typeface="微软雅黑" panose="020B0503020204020204" pitchFamily="34" charset="-122"/>
                <a:ea typeface="微软雅黑" panose="020B0503020204020204" pitchFamily="34" charset="-122"/>
              </a:rPr>
              <a:t>表示，</a:t>
            </a:r>
            <a:r>
              <a:rPr lang="en-US" altLang="zh-CN" sz="2000" dirty="0">
                <a:solidFill>
                  <a:srgbClr val="0070C0"/>
                </a:solidFill>
                <a:latin typeface="微软雅黑" panose="020B0503020204020204" pitchFamily="34" charset="-122"/>
                <a:ea typeface="微软雅黑" panose="020B0503020204020204" pitchFamily="34" charset="-122"/>
              </a:rPr>
              <a:t> </a:t>
            </a:r>
            <a:r>
              <a:rPr lang="zh-CN" altLang="en-US" sz="2000" dirty="0">
                <a:solidFill>
                  <a:srgbClr val="0070C0"/>
                </a:solidFill>
                <a:latin typeface="微软雅黑" panose="020B0503020204020204" pitchFamily="34" charset="-122"/>
                <a:ea typeface="微软雅黑" panose="020B0503020204020204" pitchFamily="34" charset="-122"/>
              </a:rPr>
              <a:t>缩写</a:t>
            </a:r>
            <a:r>
              <a:rPr lang="en-US" altLang="zh-CN" sz="2000" dirty="0">
                <a:solidFill>
                  <a:srgbClr val="0070C0"/>
                </a:solidFill>
                <a:latin typeface="微软雅黑" panose="020B0503020204020204" pitchFamily="34" charset="-122"/>
                <a:ea typeface="微软雅黑" panose="020B0503020204020204" pitchFamily="34" charset="-122"/>
              </a:rPr>
              <a:t>S.D.</a:t>
            </a:r>
            <a:r>
              <a:rPr lang="zh-CN" altLang="en-US" sz="2000" dirty="0">
                <a:solidFill>
                  <a:srgbClr val="0070C0"/>
                </a:solidFill>
                <a:latin typeface="微软雅黑" panose="020B0503020204020204" pitchFamily="34" charset="-122"/>
                <a:ea typeface="微软雅黑" panose="020B0503020204020204" pitchFamily="34" charset="-122"/>
              </a:rPr>
              <a:t>是描述数据点在均值</a:t>
            </a:r>
            <a:r>
              <a:rPr lang="en-US" altLang="zh-CN" sz="2000" dirty="0">
                <a:solidFill>
                  <a:srgbClr val="0070C0"/>
                </a:solidFill>
                <a:latin typeface="微软雅黑" panose="020B0503020204020204" pitchFamily="34" charset="-122"/>
                <a:ea typeface="微软雅黑" panose="020B0503020204020204" pitchFamily="34" charset="-122"/>
              </a:rPr>
              <a:t>(mean)</a:t>
            </a:r>
            <a:r>
              <a:rPr lang="zh-CN" altLang="en-US" sz="2000" dirty="0">
                <a:solidFill>
                  <a:srgbClr val="0070C0"/>
                </a:solidFill>
                <a:latin typeface="微软雅黑" panose="020B0503020204020204" pitchFamily="34" charset="-122"/>
                <a:ea typeface="微软雅黑" panose="020B0503020204020204" pitchFamily="34" charset="-122"/>
              </a:rPr>
              <a:t>周围聚集程度的指标，可用</a:t>
            </a:r>
            <a:r>
              <a:rPr lang="en-US" altLang="zh-CN" sz="2000" dirty="0" err="1">
                <a:solidFill>
                  <a:srgbClr val="0070C0"/>
                </a:solidFill>
                <a:latin typeface="微软雅黑" panose="020B0503020204020204" pitchFamily="34" charset="-122"/>
                <a:ea typeface="微软雅黑" panose="020B0503020204020204" pitchFamily="34" charset="-122"/>
              </a:rPr>
              <a:t>std</a:t>
            </a:r>
            <a:r>
              <a:rPr lang="zh-CN" altLang="en-US" sz="2000" dirty="0">
                <a:solidFill>
                  <a:srgbClr val="0070C0"/>
                </a:solidFill>
                <a:latin typeface="微软雅黑" panose="020B0503020204020204" pitchFamily="34" charset="-122"/>
                <a:ea typeface="微软雅黑" panose="020B0503020204020204" pitchFamily="34" charset="-122"/>
              </a:rPr>
              <a:t>计算。</a:t>
            </a:r>
          </a:p>
        </p:txBody>
      </p:sp>
      <p:sp>
        <p:nvSpPr>
          <p:cNvPr id="18" name="AutoShape 13">
            <a:extLst>
              <a:ext uri="{FF2B5EF4-FFF2-40B4-BE49-F238E27FC236}">
                <a16:creationId xmlns:a16="http://schemas.microsoft.com/office/drawing/2014/main" id="{576C52DA-D358-F2F0-5B82-BC3D2C978FEC}"/>
              </a:ext>
            </a:extLst>
          </p:cNvPr>
          <p:cNvSpPr/>
          <p:nvPr/>
        </p:nvSpPr>
        <p:spPr bwMode="auto">
          <a:xfrm rot="172911">
            <a:off x="237209" y="698873"/>
            <a:ext cx="1216094" cy="553778"/>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l" defTabSz="914400" eaLnBrk="0" fontAlgn="base" latinLnBrk="0">
              <a:lnSpc>
                <a:spcPct val="150000"/>
              </a:lnSpc>
              <a:spcBef>
                <a:spcPts val="0"/>
              </a:spcBef>
              <a:spcAft>
                <a:spcPts val="0"/>
              </a:spcAft>
              <a:buFontTx/>
              <a:buNone/>
            </a:pPr>
            <a:r>
              <a:rPr lang="zh-CN" altLang="en-US" dirty="0">
                <a:solidFill>
                  <a:schemeClr val="bg1"/>
                </a:solidFill>
                <a:latin typeface="Arial" panose="020B0604020202020204" pitchFamily="34" charset="0"/>
                <a:ea typeface="Arial" panose="020B0604020202020204" pitchFamily="34" charset="0"/>
              </a:rPr>
              <a:t>注意</a:t>
            </a:r>
            <a:endParaRPr lang="ko-KR" altLang="en-US" sz="1800" b="0" cap="none" dirty="0">
              <a:solidFill>
                <a:schemeClr val="bg1"/>
              </a:solidFill>
              <a:latin typeface="Arial" panose="020B0604020202020204" pitchFamily="34" charset="0"/>
              <a:ea typeface="Arial" panose="020B0604020202020204" pitchFamily="34" charset="0"/>
            </a:endParaRPr>
          </a:p>
        </p:txBody>
      </p:sp>
      <p:sp>
        <p:nvSpPr>
          <p:cNvPr id="19" name="矩形 18">
            <a:extLst>
              <a:ext uri="{FF2B5EF4-FFF2-40B4-BE49-F238E27FC236}">
                <a16:creationId xmlns:a16="http://schemas.microsoft.com/office/drawing/2014/main" id="{BBDAD0FF-4DD2-AB40-85E7-69F961A6F826}"/>
              </a:ext>
            </a:extLst>
          </p:cNvPr>
          <p:cNvSpPr/>
          <p:nvPr/>
        </p:nvSpPr>
        <p:spPr>
          <a:xfrm>
            <a:off x="1412475" y="759888"/>
            <a:ext cx="7566166" cy="430887"/>
          </a:xfrm>
          <a:prstGeom prst="rect">
            <a:avLst/>
          </a:prstGeom>
        </p:spPr>
        <p:txBody>
          <a:bodyPr wrap="square">
            <a:spAutoFit/>
          </a:bodyPr>
          <a:lstStyle/>
          <a:p>
            <a:pPr algn="dist"/>
            <a:r>
              <a:rPr lang="zh-CN" altLang="en-US" sz="2200" dirty="0">
                <a:solidFill>
                  <a:srgbClr val="FF0000"/>
                </a:solidFill>
                <a:latin typeface="隶书" panose="02010509060101010101" pitchFamily="49" charset="-122"/>
                <a:ea typeface="隶书" panose="02010509060101010101" pitchFamily="49" charset="-122"/>
              </a:rPr>
              <a:t>实验结果用实验均值</a:t>
            </a:r>
            <a:r>
              <a:rPr lang="en-US" altLang="zh-CN" sz="2200" dirty="0">
                <a:solidFill>
                  <a:srgbClr val="FF0000"/>
                </a:solidFill>
                <a:latin typeface="隶书" panose="02010509060101010101" pitchFamily="49" charset="-122"/>
                <a:ea typeface="隶书" panose="02010509060101010101" pitchFamily="49" charset="-122"/>
              </a:rPr>
              <a:t>mean</a:t>
            </a:r>
            <a:r>
              <a:rPr lang="zh-CN" altLang="en-US" sz="2200" dirty="0">
                <a:solidFill>
                  <a:srgbClr val="FF0000"/>
                </a:solidFill>
                <a:latin typeface="隶书" panose="02010509060101010101" pitchFamily="49" charset="-122"/>
                <a:ea typeface="隶书" panose="02010509060101010101" pitchFamily="49" charset="-122"/>
              </a:rPr>
              <a:t>和误差表征</a:t>
            </a:r>
            <a:r>
              <a:rPr lang="zh-CN" altLang="en-US" dirty="0">
                <a:solidFill>
                  <a:srgbClr val="FFFF00"/>
                </a:solidFill>
                <a:latin typeface="隶书" panose="02010509060101010101" pitchFamily="49" charset="-122"/>
                <a:ea typeface="隶书" panose="02010509060101010101" pitchFamily="49" charset="-122"/>
              </a:rPr>
              <a:t>：</a:t>
            </a:r>
            <a:r>
              <a:rPr lang="zh-CN" altLang="en-US" sz="1800" dirty="0">
                <a:solidFill>
                  <a:schemeClr val="bg1"/>
                </a:solidFill>
                <a:highlight>
                  <a:srgbClr val="FF0000"/>
                </a:highlight>
                <a:latin typeface="+mj-ea"/>
                <a:ea typeface="+mj-ea"/>
              </a:rPr>
              <a:t>实验均值</a:t>
            </a:r>
            <a:r>
              <a:rPr lang="en-US" altLang="zh-CN" sz="1800" dirty="0">
                <a:solidFill>
                  <a:schemeClr val="bg1"/>
                </a:solidFill>
                <a:highlight>
                  <a:srgbClr val="FF0000"/>
                </a:highlight>
                <a:latin typeface="+mj-ea"/>
                <a:ea typeface="+mj-ea"/>
              </a:rPr>
              <a:t>y± </a:t>
            </a:r>
            <a:r>
              <a:rPr lang="zh-CN" altLang="en-US" sz="1800" dirty="0">
                <a:solidFill>
                  <a:schemeClr val="bg1"/>
                </a:solidFill>
                <a:highlight>
                  <a:srgbClr val="FF0000"/>
                </a:highlight>
                <a:latin typeface="+mj-ea"/>
                <a:ea typeface="+mj-ea"/>
              </a:rPr>
              <a:t>误差</a:t>
            </a:r>
            <a:r>
              <a:rPr lang="en-US" altLang="zh-CN" sz="1800" dirty="0">
                <a:solidFill>
                  <a:schemeClr val="bg1"/>
                </a:solidFill>
                <a:highlight>
                  <a:srgbClr val="FF0000"/>
                </a:highlight>
                <a:latin typeface="+mj-ea"/>
                <a:ea typeface="+mj-ea"/>
              </a:rPr>
              <a:t>delta</a:t>
            </a:r>
            <a:endParaRPr lang="zh-CN" altLang="en-US" dirty="0">
              <a:solidFill>
                <a:srgbClr val="FFFF00"/>
              </a:solidFill>
              <a:latin typeface="隶书" panose="02010509060101010101" pitchFamily="49" charset="-122"/>
              <a:ea typeface="隶书" panose="02010509060101010101" pitchFamily="49" charset="-122"/>
            </a:endParaRPr>
          </a:p>
        </p:txBody>
      </p:sp>
      <p:sp>
        <p:nvSpPr>
          <p:cNvPr id="20" name="矩形 19">
            <a:extLst>
              <a:ext uri="{FF2B5EF4-FFF2-40B4-BE49-F238E27FC236}">
                <a16:creationId xmlns:a16="http://schemas.microsoft.com/office/drawing/2014/main" id="{C6508541-FF91-280A-4794-CCD039D73781}"/>
              </a:ext>
            </a:extLst>
          </p:cNvPr>
          <p:cNvSpPr/>
          <p:nvPr/>
        </p:nvSpPr>
        <p:spPr>
          <a:xfrm>
            <a:off x="4015906" y="2621399"/>
            <a:ext cx="4567283" cy="369332"/>
          </a:xfrm>
          <a:prstGeom prst="rect">
            <a:avLst/>
          </a:prstGeom>
        </p:spPr>
        <p:txBody>
          <a:bodyPr wrap="square">
            <a:spAutoFit/>
          </a:bodyPr>
          <a:lstStyle/>
          <a:p>
            <a:r>
              <a:rPr lang="zh-CN" altLang="zh-CN" dirty="0">
                <a:solidFill>
                  <a:srgbClr val="002060"/>
                </a:solidFill>
                <a:latin typeface="微软雅黑" panose="020B0503020204020204" pitchFamily="34" charset="-122"/>
                <a:ea typeface="微软雅黑" panose="020B0503020204020204" pitchFamily="34" charset="-122"/>
              </a:rPr>
              <a:t>矩阵A每列标准差</a:t>
            </a:r>
            <a:r>
              <a:rPr lang="en-US" altLang="zh-CN" dirty="0">
                <a:solidFill>
                  <a:srgbClr val="002060"/>
                </a:solidFill>
                <a:latin typeface="微软雅黑" panose="020B0503020204020204" pitchFamily="34" charset="-122"/>
                <a:ea typeface="微软雅黑" panose="020B0503020204020204" pitchFamily="34" charset="-122"/>
              </a:rPr>
              <a:t>,</a:t>
            </a:r>
            <a:r>
              <a:rPr lang="zh-CN" altLang="en-US" dirty="0">
                <a:solidFill>
                  <a:srgbClr val="002060"/>
                </a:solidFill>
                <a:latin typeface="微软雅黑" panose="020B0503020204020204" pitchFamily="34" charset="-122"/>
                <a:ea typeface="微软雅黑" panose="020B0503020204020204" pitchFamily="34" charset="-122"/>
              </a:rPr>
              <a:t>其结果构成</a:t>
            </a:r>
            <a:r>
              <a:rPr lang="zh-CN" altLang="zh-CN" dirty="0">
                <a:solidFill>
                  <a:srgbClr val="002060"/>
                </a:solidFill>
                <a:latin typeface="微软雅黑" panose="020B0503020204020204" pitchFamily="34" charset="-122"/>
                <a:ea typeface="微软雅黑" panose="020B0503020204020204" pitchFamily="34" charset="-122"/>
              </a:rPr>
              <a:t>向量</a:t>
            </a:r>
          </a:p>
        </p:txBody>
      </p:sp>
      <p:sp>
        <p:nvSpPr>
          <p:cNvPr id="21" name="Rectangle 66">
            <a:extLst>
              <a:ext uri="{FF2B5EF4-FFF2-40B4-BE49-F238E27FC236}">
                <a16:creationId xmlns:a16="http://schemas.microsoft.com/office/drawing/2014/main" id="{2F2064FB-8F47-4A1D-0C75-1236A8B9E9F2}"/>
              </a:ext>
            </a:extLst>
          </p:cNvPr>
          <p:cNvSpPr>
            <a:spLocks noChangeArrowheads="1"/>
          </p:cNvSpPr>
          <p:nvPr/>
        </p:nvSpPr>
        <p:spPr bwMode="auto">
          <a:xfrm>
            <a:off x="0" y="54044"/>
            <a:ext cx="65" cy="349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3805" rIns="0" bIns="4761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2" name="矩形 21">
            <a:extLst>
              <a:ext uri="{FF2B5EF4-FFF2-40B4-BE49-F238E27FC236}">
                <a16:creationId xmlns:a16="http://schemas.microsoft.com/office/drawing/2014/main" id="{2EF2AEF5-A907-5535-86DD-2D30DE0DB233}"/>
              </a:ext>
            </a:extLst>
          </p:cNvPr>
          <p:cNvSpPr/>
          <p:nvPr/>
        </p:nvSpPr>
        <p:spPr>
          <a:xfrm>
            <a:off x="297991" y="2631902"/>
            <a:ext cx="1352577" cy="387735"/>
          </a:xfrm>
          <a:prstGeom prst="rect">
            <a:avLst/>
          </a:prstGeom>
          <a:solidFill>
            <a:srgbClr val="0070C0"/>
          </a:solidFill>
          <a:ln w="9525">
            <a:solidFill>
              <a:schemeClr val="tx1"/>
            </a:solidFill>
            <a:prstDash val="lgDashDot"/>
            <a:miter lim="800000"/>
          </a:ln>
        </p:spPr>
        <p:txBody>
          <a:bodyPr vert="horz" wrap="square" lIns="91440" tIns="45720" rIns="91440" bIns="45720" numCol="1" anchor="t" anchorCtr="0" compatLnSpc="1">
            <a:spAutoFit/>
          </a:bodyPr>
          <a:lstStyle/>
          <a:p>
            <a:pPr defTabSz="0" eaLnBrk="0" hangingPunct="0">
              <a:lnSpc>
                <a:spcPts val="2500"/>
              </a:lnSpc>
              <a:buClr>
                <a:schemeClr val="tx1"/>
              </a:buClr>
            </a:pPr>
            <a:r>
              <a:rPr lang="zh-CN" altLang="en-US" b="1" dirty="0">
                <a:solidFill>
                  <a:srgbClr val="FFFF00"/>
                </a:solidFill>
                <a:latin typeface="微软雅黑" panose="020B0503020204020204" pitchFamily="34" charset="-122"/>
                <a:ea typeface="微软雅黑" panose="020B0503020204020204" pitchFamily="34" charset="-122"/>
              </a:rPr>
              <a:t>标准差</a:t>
            </a:r>
            <a:r>
              <a:rPr lang="en-US" altLang="zh-CN" b="1" dirty="0">
                <a:solidFill>
                  <a:srgbClr val="FFFF00"/>
                </a:solidFill>
                <a:latin typeface="微软雅黑" panose="020B0503020204020204" pitchFamily="34" charset="-122"/>
                <a:ea typeface="微软雅黑" panose="020B0503020204020204" pitchFamily="34" charset="-122"/>
              </a:rPr>
              <a:t>std</a:t>
            </a:r>
          </a:p>
        </p:txBody>
      </p:sp>
      <p:sp>
        <p:nvSpPr>
          <p:cNvPr id="23" name="标题 4">
            <a:extLst>
              <a:ext uri="{FF2B5EF4-FFF2-40B4-BE49-F238E27FC236}">
                <a16:creationId xmlns:a16="http://schemas.microsoft.com/office/drawing/2014/main" id="{191DBAB9-5553-3B93-8CBC-F0E2374B4526}"/>
              </a:ext>
            </a:extLst>
          </p:cNvPr>
          <p:cNvSpPr txBox="1">
            <a:spLocks/>
          </p:cNvSpPr>
          <p:nvPr/>
        </p:nvSpPr>
        <p:spPr bwMode="auto">
          <a:xfrm>
            <a:off x="1719354" y="2633626"/>
            <a:ext cx="2184117" cy="369332"/>
          </a:xfrm>
          <a:prstGeom prst="rect">
            <a:avLst/>
          </a:prstGeom>
          <a:solidFill>
            <a:srgbClr val="0070C0"/>
          </a:solidFill>
          <a:ln w="38100" cap="flat" cmpd="sng" algn="ctr">
            <a:solidFill>
              <a:schemeClr val="lt1"/>
            </a:solidFill>
            <a:prstDash val="solid"/>
            <a:miter lim="800000"/>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spAutoFit/>
          </a:bodyPr>
          <a:lstStyle>
            <a:defPPr>
              <a:defRPr lang="zh-CN"/>
            </a:defPPr>
            <a:lvl1pPr lvl="0" eaLnBrk="0" hangingPunct="0">
              <a:defRPr sz="1600">
                <a:solidFill>
                  <a:srgbClr val="FFFF00"/>
                </a:solidFill>
                <a:latin typeface="Arial Unicode MS"/>
                <a:ea typeface="source-code-pro"/>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r>
              <a:rPr lang="en-US" altLang="zh-CN" sz="1800" dirty="0">
                <a:solidFill>
                  <a:schemeClr val="bg1"/>
                </a:solidFill>
              </a:rPr>
              <a:t>err= std(</a:t>
            </a:r>
            <a:r>
              <a:rPr lang="en-US" altLang="zh-CN" sz="1800" dirty="0" err="1">
                <a:solidFill>
                  <a:schemeClr val="bg1"/>
                </a:solidFill>
              </a:rPr>
              <a:t>A,dims</a:t>
            </a:r>
            <a:r>
              <a:rPr lang="en-US" altLang="zh-CN" sz="1800" dirty="0">
                <a:solidFill>
                  <a:schemeClr val="bg1"/>
                </a:solidFill>
              </a:rPr>
              <a:t>=1)</a:t>
            </a:r>
          </a:p>
        </p:txBody>
      </p:sp>
      <p:sp>
        <p:nvSpPr>
          <p:cNvPr id="25" name="矩形 24">
            <a:extLst>
              <a:ext uri="{FF2B5EF4-FFF2-40B4-BE49-F238E27FC236}">
                <a16:creationId xmlns:a16="http://schemas.microsoft.com/office/drawing/2014/main" id="{B367AD01-D982-43F7-9901-70E9F02BE148}"/>
              </a:ext>
            </a:extLst>
          </p:cNvPr>
          <p:cNvSpPr/>
          <p:nvPr/>
        </p:nvSpPr>
        <p:spPr>
          <a:xfrm>
            <a:off x="3903471" y="3183156"/>
            <a:ext cx="5028224" cy="430887"/>
          </a:xfrm>
          <a:prstGeom prst="rect">
            <a:avLst/>
          </a:prstGeom>
          <a:noFill/>
          <a:ln w="38100">
            <a:noFill/>
          </a:ln>
          <a:scene3d>
            <a:camera prst="orthographicFront"/>
            <a:lightRig rig="threePt" dir="t"/>
          </a:scene3d>
          <a:sp3d>
            <a:bevelT prst="angle"/>
          </a:sp3d>
        </p:spPr>
        <p:txBody>
          <a:bodyPr wrap="square">
            <a:spAutoFit/>
          </a:bodyPr>
          <a:lstStyle/>
          <a:p>
            <a:pPr algn="dist"/>
            <a:r>
              <a:rPr lang="zh-CN" altLang="en-US" sz="22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句柄</a:t>
            </a:r>
            <a:r>
              <a:rPr lang="en-US" altLang="zh-CN" sz="22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h</a:t>
            </a:r>
            <a:r>
              <a:rPr lang="en-US" altLang="zh-CN" sz="22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22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errobar</a:t>
            </a:r>
            <a:r>
              <a:rPr lang="en-US" altLang="zh-CN" sz="22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zh-CN" altLang="en-US" sz="22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坐标区</a:t>
            </a:r>
            <a:r>
              <a:rPr lang="en-US" altLang="zh-CN" sz="2200" b="1" dirty="0" err="1">
                <a:solidFill>
                  <a:srgbClr val="FFFF00"/>
                </a:solidFill>
                <a:highlight>
                  <a:srgbClr val="003B76"/>
                </a:highlight>
                <a:latin typeface="华文楷体" panose="02010600040101010101" pitchFamily="2" charset="-122"/>
                <a:ea typeface="华文楷体" panose="02010600040101010101" pitchFamily="2" charset="-122"/>
              </a:rPr>
              <a:t>ax,</a:t>
            </a:r>
            <a:r>
              <a:rPr lang="en-US" altLang="zh-CN" sz="22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x,y,err</a:t>
            </a:r>
            <a:r>
              <a:rPr lang="en-US" altLang="zh-CN" sz="22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2200" b="1" dirty="0" err="1">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key</a:t>
            </a:r>
            <a:r>
              <a:rPr lang="en-US" altLang="zh-CN" sz="22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22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7" name="标题 4">
            <a:extLst>
              <a:ext uri="{FF2B5EF4-FFF2-40B4-BE49-F238E27FC236}">
                <a16:creationId xmlns:a16="http://schemas.microsoft.com/office/drawing/2014/main" id="{6CF62A3E-71EF-424F-A69D-934A19E8A807}"/>
              </a:ext>
            </a:extLst>
          </p:cNvPr>
          <p:cNvSpPr txBox="1">
            <a:spLocks/>
          </p:cNvSpPr>
          <p:nvPr/>
        </p:nvSpPr>
        <p:spPr bwMode="auto">
          <a:xfrm>
            <a:off x="1693866" y="2139702"/>
            <a:ext cx="2314675" cy="369332"/>
          </a:xfrm>
          <a:prstGeom prst="rect">
            <a:avLst/>
          </a:prstGeom>
          <a:solidFill>
            <a:srgbClr val="0070C0"/>
          </a:solidFill>
          <a:ln w="38100" cap="flat" cmpd="sng" algn="ctr">
            <a:solidFill>
              <a:schemeClr val="lt1"/>
            </a:solidFill>
            <a:prstDash val="solid"/>
            <a:miter lim="800000"/>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1pPr>
            <a:lvl2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2pPr>
            <a:lvl3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3pPr>
            <a:lvl4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4pPr>
            <a:lvl5pPr algn="ctr" rtl="0" eaLnBrk="0" fontAlgn="base" hangingPunct="0">
              <a:spcBef>
                <a:spcPct val="0"/>
              </a:spcBef>
              <a:spcAft>
                <a:spcPct val="0"/>
              </a:spcAft>
              <a:defRPr sz="4400">
                <a:solidFill>
                  <a:schemeClr val="lt1"/>
                </a:solidFill>
                <a:latin typeface="+mn-lt"/>
                <a:ea typeface="+mn-ea"/>
                <a:cs typeface="+mn-cs"/>
                <a:sym typeface="Arial" panose="020B0604020202020204" pitchFamily="34" charset="0"/>
              </a:defRPr>
            </a:lvl5pPr>
            <a:lvl6pPr marL="457200" algn="ctr" rtl="0" fontAlgn="base">
              <a:spcBef>
                <a:spcPct val="0"/>
              </a:spcBef>
              <a:spcAft>
                <a:spcPct val="0"/>
              </a:spcAft>
              <a:defRPr sz="4400">
                <a:solidFill>
                  <a:schemeClr val="lt1"/>
                </a:solidFill>
                <a:latin typeface="+mn-lt"/>
                <a:ea typeface="+mn-ea"/>
                <a:cs typeface="+mn-cs"/>
                <a:sym typeface="Arial" panose="020B0604020202020204" pitchFamily="34" charset="0"/>
              </a:defRPr>
            </a:lvl6pPr>
            <a:lvl7pPr marL="914400" algn="ctr" rtl="0" fontAlgn="base">
              <a:spcBef>
                <a:spcPct val="0"/>
              </a:spcBef>
              <a:spcAft>
                <a:spcPct val="0"/>
              </a:spcAft>
              <a:defRPr sz="4400">
                <a:solidFill>
                  <a:schemeClr val="lt1"/>
                </a:solidFill>
                <a:latin typeface="+mn-lt"/>
                <a:ea typeface="+mn-ea"/>
                <a:cs typeface="+mn-cs"/>
                <a:sym typeface="Arial" panose="020B0604020202020204" pitchFamily="34" charset="0"/>
              </a:defRPr>
            </a:lvl7pPr>
            <a:lvl8pPr marL="1371600" algn="ctr" rtl="0" fontAlgn="base">
              <a:spcBef>
                <a:spcPct val="0"/>
              </a:spcBef>
              <a:spcAft>
                <a:spcPct val="0"/>
              </a:spcAft>
              <a:defRPr sz="4400">
                <a:solidFill>
                  <a:schemeClr val="lt1"/>
                </a:solidFill>
                <a:latin typeface="+mn-lt"/>
                <a:ea typeface="+mn-ea"/>
                <a:cs typeface="+mn-cs"/>
                <a:sym typeface="Arial" panose="020B0604020202020204" pitchFamily="34" charset="0"/>
              </a:defRPr>
            </a:lvl8pPr>
            <a:lvl9pPr marL="1828800" algn="ctr" rtl="0" fontAlgn="base">
              <a:spcBef>
                <a:spcPct val="0"/>
              </a:spcBef>
              <a:spcAft>
                <a:spcPct val="0"/>
              </a:spcAft>
              <a:defRPr sz="4400">
                <a:solidFill>
                  <a:schemeClr val="lt1"/>
                </a:solidFill>
                <a:latin typeface="+mn-lt"/>
                <a:ea typeface="+mn-ea"/>
                <a:cs typeface="+mn-cs"/>
                <a:sym typeface="Arial" panose="020B0604020202020204" pitchFamily="34" charset="0"/>
              </a:defRPr>
            </a:lvl9pPr>
          </a:lstStyle>
          <a:p>
            <a:pPr lvl="0" algn="l"/>
            <a:r>
              <a:rPr lang="en-US" altLang="zh-CN" sz="1800" dirty="0">
                <a:solidFill>
                  <a:schemeClr val="bg1"/>
                </a:solidFill>
                <a:latin typeface="Arial Unicode MS"/>
                <a:ea typeface="source-code-pro"/>
              </a:rPr>
              <a:t>y=</a:t>
            </a:r>
            <a:r>
              <a:rPr lang="zh-CN" altLang="zh-CN" sz="1800" dirty="0">
                <a:solidFill>
                  <a:schemeClr val="bg1"/>
                </a:solidFill>
                <a:latin typeface="Arial Unicode MS"/>
                <a:ea typeface="source-code-pro"/>
              </a:rPr>
              <a:t>mean(A, dims = 1)</a:t>
            </a:r>
            <a:r>
              <a:rPr lang="zh-CN" altLang="zh-CN" sz="1800" dirty="0">
                <a:solidFill>
                  <a:schemeClr val="bg1"/>
                </a:solidFill>
              </a:rPr>
              <a:t> </a:t>
            </a:r>
            <a:endParaRPr lang="zh-CN" altLang="zh-CN" sz="1800" dirty="0">
              <a:solidFill>
                <a:schemeClr val="bg1"/>
              </a:solidFill>
              <a:latin typeface="Arial" panose="020B0604020202020204" pitchFamily="34" charset="0"/>
            </a:endParaRPr>
          </a:p>
        </p:txBody>
      </p:sp>
      <p:sp>
        <p:nvSpPr>
          <p:cNvPr id="24" name="矩形 23">
            <a:extLst>
              <a:ext uri="{FF2B5EF4-FFF2-40B4-BE49-F238E27FC236}">
                <a16:creationId xmlns:a16="http://schemas.microsoft.com/office/drawing/2014/main" id="{65EE2A4A-90A4-4792-9137-E2C853FE0A1F}"/>
              </a:ext>
            </a:extLst>
          </p:cNvPr>
          <p:cNvSpPr/>
          <p:nvPr/>
        </p:nvSpPr>
        <p:spPr>
          <a:xfrm>
            <a:off x="4058207" y="2141248"/>
            <a:ext cx="3888432" cy="369332"/>
          </a:xfrm>
          <a:prstGeom prst="rect">
            <a:avLst/>
          </a:prstGeom>
        </p:spPr>
        <p:txBody>
          <a:bodyPr wrap="square">
            <a:spAutoFit/>
          </a:bodyPr>
          <a:lstStyle/>
          <a:p>
            <a:r>
              <a:rPr lang="zh-CN" altLang="zh-CN" dirty="0">
                <a:solidFill>
                  <a:srgbClr val="002060"/>
                </a:solidFill>
                <a:latin typeface="微软雅黑" panose="020B0503020204020204" pitchFamily="34" charset="-122"/>
                <a:ea typeface="微软雅黑" panose="020B0503020204020204" pitchFamily="34" charset="-122"/>
              </a:rPr>
              <a:t>矩阵A每列</a:t>
            </a:r>
            <a:r>
              <a:rPr lang="zh-CN" altLang="en-US" dirty="0">
                <a:solidFill>
                  <a:srgbClr val="002060"/>
                </a:solidFill>
                <a:latin typeface="微软雅黑" panose="020B0503020204020204" pitchFamily="34" charset="-122"/>
                <a:ea typeface="微软雅黑" panose="020B0503020204020204" pitchFamily="34" charset="-122"/>
              </a:rPr>
              <a:t>均值</a:t>
            </a:r>
            <a:r>
              <a:rPr lang="en-US" altLang="zh-CN" dirty="0">
                <a:solidFill>
                  <a:srgbClr val="002060"/>
                </a:solidFill>
                <a:latin typeface="微软雅黑" panose="020B0503020204020204" pitchFamily="34" charset="-122"/>
                <a:ea typeface="微软雅黑" panose="020B0503020204020204" pitchFamily="34" charset="-122"/>
              </a:rPr>
              <a:t>,</a:t>
            </a:r>
            <a:r>
              <a:rPr lang="zh-CN" altLang="en-US" dirty="0">
                <a:solidFill>
                  <a:srgbClr val="002060"/>
                </a:solidFill>
                <a:latin typeface="微软雅黑" panose="020B0503020204020204" pitchFamily="34" charset="-122"/>
                <a:ea typeface="微软雅黑" panose="020B0503020204020204" pitchFamily="34" charset="-122"/>
              </a:rPr>
              <a:t>其结果构成</a:t>
            </a:r>
            <a:r>
              <a:rPr lang="zh-CN" altLang="zh-CN" dirty="0">
                <a:solidFill>
                  <a:srgbClr val="002060"/>
                </a:solidFill>
                <a:latin typeface="微软雅黑" panose="020B0503020204020204" pitchFamily="34" charset="-122"/>
                <a:ea typeface="微软雅黑" panose="020B0503020204020204" pitchFamily="34" charset="-122"/>
              </a:rPr>
              <a:t>向量</a:t>
            </a:r>
          </a:p>
        </p:txBody>
      </p:sp>
      <p:sp>
        <p:nvSpPr>
          <p:cNvPr id="28" name="矩形 27">
            <a:extLst>
              <a:ext uri="{FF2B5EF4-FFF2-40B4-BE49-F238E27FC236}">
                <a16:creationId xmlns:a16="http://schemas.microsoft.com/office/drawing/2014/main" id="{517BB31D-1330-44ED-BF96-FA34E49FE058}"/>
              </a:ext>
            </a:extLst>
          </p:cNvPr>
          <p:cNvSpPr/>
          <p:nvPr/>
        </p:nvSpPr>
        <p:spPr>
          <a:xfrm>
            <a:off x="291056" y="2152768"/>
            <a:ext cx="1352577" cy="387735"/>
          </a:xfrm>
          <a:prstGeom prst="rect">
            <a:avLst/>
          </a:prstGeom>
          <a:solidFill>
            <a:srgbClr val="0070C0"/>
          </a:solidFill>
          <a:ln w="9525">
            <a:solidFill>
              <a:schemeClr val="tx1"/>
            </a:solidFill>
            <a:prstDash val="lgDashDot"/>
            <a:miter lim="800000"/>
          </a:ln>
        </p:spPr>
        <p:txBody>
          <a:bodyPr vert="horz" wrap="square" lIns="91440" tIns="45720" rIns="91440" bIns="45720" numCol="1" anchor="t" anchorCtr="0" compatLnSpc="1">
            <a:spAutoFit/>
          </a:bodyPr>
          <a:lstStyle/>
          <a:p>
            <a:pPr defTabSz="0" eaLnBrk="0" hangingPunct="0">
              <a:lnSpc>
                <a:spcPts val="2500"/>
              </a:lnSpc>
              <a:buClr>
                <a:schemeClr val="tx1"/>
              </a:buClr>
            </a:pPr>
            <a:r>
              <a:rPr lang="zh-CN" altLang="en-US" b="1" dirty="0">
                <a:solidFill>
                  <a:srgbClr val="FFFF00"/>
                </a:solidFill>
                <a:latin typeface="微软雅黑" panose="020B0503020204020204" pitchFamily="34" charset="-122"/>
                <a:ea typeface="微软雅黑" panose="020B0503020204020204" pitchFamily="34" charset="-122"/>
              </a:rPr>
              <a:t>均值</a:t>
            </a:r>
            <a:r>
              <a:rPr lang="en-US" altLang="zh-CN" b="1" dirty="0">
                <a:solidFill>
                  <a:srgbClr val="FFFF00"/>
                </a:solidFill>
                <a:latin typeface="微软雅黑" panose="020B0503020204020204" pitchFamily="34" charset="-122"/>
                <a:ea typeface="微软雅黑" panose="020B0503020204020204" pitchFamily="34" charset="-122"/>
              </a:rPr>
              <a:t>mean</a:t>
            </a:r>
          </a:p>
        </p:txBody>
      </p:sp>
      <p:sp>
        <p:nvSpPr>
          <p:cNvPr id="17" name="矩形 16">
            <a:extLst>
              <a:ext uri="{FF2B5EF4-FFF2-40B4-BE49-F238E27FC236}">
                <a16:creationId xmlns:a16="http://schemas.microsoft.com/office/drawing/2014/main" id="{3F721A05-A4E0-4E92-8F23-6832720B9B27}"/>
              </a:ext>
            </a:extLst>
          </p:cNvPr>
          <p:cNvSpPr/>
          <p:nvPr/>
        </p:nvSpPr>
        <p:spPr>
          <a:xfrm>
            <a:off x="1892278" y="3213933"/>
            <a:ext cx="1724649" cy="369332"/>
          </a:xfrm>
          <a:prstGeom prst="rect">
            <a:avLst/>
          </a:prstGeom>
          <a:solidFill>
            <a:srgbClr val="0070C0"/>
          </a:solidFill>
          <a:ln w="38100" cap="flat" cmpd="sng" algn="ctr">
            <a:solidFill>
              <a:schemeClr val="lt1"/>
            </a:solidFill>
            <a:prstDash val="solid"/>
            <a:miter lim="800000"/>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spAutoFit/>
          </a:bodyPr>
          <a:lstStyle/>
          <a:p>
            <a:pPr eaLnBrk="0" hangingPunct="0"/>
            <a:r>
              <a:rPr lang="en-US" altLang="zh-CN" dirty="0" err="1">
                <a:solidFill>
                  <a:schemeClr val="bg1"/>
                </a:solidFill>
                <a:latin typeface="Arial Unicode MS"/>
                <a:sym typeface="Arial" panose="020B0604020202020204" pitchFamily="34" charset="0"/>
              </a:rPr>
              <a:t>errobar</a:t>
            </a:r>
            <a:r>
              <a:rPr lang="en-US" altLang="zh-CN" dirty="0">
                <a:solidFill>
                  <a:schemeClr val="bg1"/>
                </a:solidFill>
                <a:latin typeface="Arial Unicode MS"/>
                <a:sym typeface="Arial" panose="020B0604020202020204" pitchFamily="34" charset="0"/>
              </a:rPr>
              <a:t>(</a:t>
            </a:r>
            <a:r>
              <a:rPr lang="en-US" altLang="zh-CN" dirty="0" err="1">
                <a:solidFill>
                  <a:schemeClr val="bg1"/>
                </a:solidFill>
                <a:latin typeface="Arial Unicode MS"/>
                <a:sym typeface="Arial" panose="020B0604020202020204" pitchFamily="34" charset="0"/>
              </a:rPr>
              <a:t>x,y,err</a:t>
            </a:r>
            <a:r>
              <a:rPr lang="en-US" altLang="zh-CN" dirty="0">
                <a:solidFill>
                  <a:schemeClr val="bg1"/>
                </a:solidFill>
                <a:latin typeface="Arial Unicode MS"/>
                <a:sym typeface="Arial" panose="020B0604020202020204" pitchFamily="34" charset="0"/>
              </a:rPr>
              <a:t>)</a:t>
            </a:r>
          </a:p>
        </p:txBody>
      </p:sp>
      <p:sp>
        <p:nvSpPr>
          <p:cNvPr id="26" name="文本框 25">
            <a:extLst>
              <a:ext uri="{FF2B5EF4-FFF2-40B4-BE49-F238E27FC236}">
                <a16:creationId xmlns:a16="http://schemas.microsoft.com/office/drawing/2014/main" id="{4A1E7D5D-8492-4857-BB10-277C02696A6E}"/>
              </a:ext>
            </a:extLst>
          </p:cNvPr>
          <p:cNvSpPr txBox="1"/>
          <p:nvPr/>
        </p:nvSpPr>
        <p:spPr>
          <a:xfrm>
            <a:off x="3616927" y="3249651"/>
            <a:ext cx="525810" cy="369332"/>
          </a:xfrm>
          <a:prstGeom prst="rect">
            <a:avLst/>
          </a:prstGeom>
          <a:noFill/>
        </p:spPr>
        <p:txBody>
          <a:bodyPr wrap="square">
            <a:spAutoFit/>
          </a:bodyPr>
          <a:lstStyle/>
          <a:p>
            <a:r>
              <a:rPr lang="zh-CN" altLang="en-US" b="1" dirty="0">
                <a:solidFill>
                  <a:srgbClr val="0070C0"/>
                </a:solidFill>
                <a:latin typeface="微软雅黑" panose="020B0503020204020204" pitchFamily="34" charset="-122"/>
                <a:ea typeface="微软雅黑" panose="020B0503020204020204" pitchFamily="34" charset="-122"/>
              </a:rPr>
              <a:t>或</a:t>
            </a:r>
            <a:endParaRPr lang="zh-CN" altLang="en-US" dirty="0"/>
          </a:p>
        </p:txBody>
      </p:sp>
    </p:spTree>
    <p:extLst>
      <p:ext uri="{BB962C8B-B14F-4D97-AF65-F5344CB8AC3E}">
        <p14:creationId xmlns:p14="http://schemas.microsoft.com/office/powerpoint/2010/main" val="237349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p:bldP spid="22" grpId="0" animBg="1"/>
      <p:bldP spid="23" grpId="0" animBg="1"/>
      <p:bldP spid="25" grpId="0"/>
      <p:bldP spid="27" grpId="0" animBg="1"/>
      <p:bldP spid="24" grpId="0"/>
      <p:bldP spid="28" grpId="0" animBg="1"/>
      <p:bldP spid="17" grpId="0" animBg="1"/>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descr="https://wkbjcloudbos.bdimg.com/v1/docconvert1425/wk/c9635c14e6e302420c0972203fd1d78b/0.png?responseCacheControl=max-age%3D3888000&amp;responseExpires=Fri%2C%2027%20Dec%202019%2007%3A40%3A30%20%2B0800&amp;authorization=bce-auth-v1%2Ffa1126e91489401fa7cc85045ce7179e%2F2019-11-11T23%3A40%3A30Z%2F3600%2Fhost%2F10e85afb43336525e6a8e2ada3aed9fa03a37bf970b577e871a69b23db46b65d&amp;x-bce-range=0-4770&amp;token=eyJ0eXAiOiJKSVQiLCJ2ZXIiOiIxLjAiLCJhbGciOiJIUzI1NiIsImV4cCI6MTU3MzUxOTIzMCwidXJpIjp0cnVlLCJwYXJhbXMiOlsicmVzcG9uc2VDYWNoZUNvbnRyb2wiLCJyZXNwb25zZUV4cGlyZXMiLCJ4LWJjZS1yYW5nZSJdfQ%3D%3D.c1ePnFytySWAu5vixcHUN14kmUma3x3BALeGlbRasUI%3D.1573519230">
            <a:extLst>
              <a:ext uri="{FF2B5EF4-FFF2-40B4-BE49-F238E27FC236}">
                <a16:creationId xmlns:a16="http://schemas.microsoft.com/office/drawing/2014/main" id="{E444A467-3640-CB8D-87CA-858CCD0426BA}"/>
              </a:ext>
            </a:extLst>
          </p:cNvPr>
          <p:cNvSpPr>
            <a:spLocks noChangeAspect="1" noChangeArrowheads="1"/>
          </p:cNvSpPr>
          <p:nvPr/>
        </p:nvSpPr>
        <p:spPr bwMode="auto">
          <a:xfrm>
            <a:off x="155575" y="-108347"/>
            <a:ext cx="3048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17" name="表格 12">
            <a:extLst>
              <a:ext uri="{FF2B5EF4-FFF2-40B4-BE49-F238E27FC236}">
                <a16:creationId xmlns:a16="http://schemas.microsoft.com/office/drawing/2014/main" id="{24609B78-8796-40C5-8DFD-D30FF54946FB}"/>
              </a:ext>
            </a:extLst>
          </p:cNvPr>
          <p:cNvGraphicFramePr>
            <a:graphicFrameLocks noGrp="1"/>
          </p:cNvGraphicFramePr>
          <p:nvPr>
            <p:extLst>
              <p:ext uri="{D42A27DB-BD31-4B8C-83A1-F6EECF244321}">
                <p14:modId xmlns:p14="http://schemas.microsoft.com/office/powerpoint/2010/main" val="1047702150"/>
              </p:ext>
            </p:extLst>
          </p:nvPr>
        </p:nvGraphicFramePr>
        <p:xfrm>
          <a:off x="128381" y="843558"/>
          <a:ext cx="8892988" cy="1850535"/>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541699250"/>
                    </a:ext>
                  </a:extLst>
                </a:gridCol>
                <a:gridCol w="855096">
                  <a:extLst>
                    <a:ext uri="{9D8B030D-6E8A-4147-A177-3AD203B41FA5}">
                      <a16:colId xmlns:a16="http://schemas.microsoft.com/office/drawing/2014/main" val="1155264031"/>
                    </a:ext>
                  </a:extLst>
                </a:gridCol>
                <a:gridCol w="902172">
                  <a:extLst>
                    <a:ext uri="{9D8B030D-6E8A-4147-A177-3AD203B41FA5}">
                      <a16:colId xmlns:a16="http://schemas.microsoft.com/office/drawing/2014/main" val="1068678342"/>
                    </a:ext>
                  </a:extLst>
                </a:gridCol>
                <a:gridCol w="981832">
                  <a:extLst>
                    <a:ext uri="{9D8B030D-6E8A-4147-A177-3AD203B41FA5}">
                      <a16:colId xmlns:a16="http://schemas.microsoft.com/office/drawing/2014/main" val="1662740188"/>
                    </a:ext>
                  </a:extLst>
                </a:gridCol>
                <a:gridCol w="1145471">
                  <a:extLst>
                    <a:ext uri="{9D8B030D-6E8A-4147-A177-3AD203B41FA5}">
                      <a16:colId xmlns:a16="http://schemas.microsoft.com/office/drawing/2014/main" val="3934056993"/>
                    </a:ext>
                  </a:extLst>
                </a:gridCol>
                <a:gridCol w="1080015">
                  <a:extLst>
                    <a:ext uri="{9D8B030D-6E8A-4147-A177-3AD203B41FA5}">
                      <a16:colId xmlns:a16="http://schemas.microsoft.com/office/drawing/2014/main" val="2950420248"/>
                    </a:ext>
                  </a:extLst>
                </a:gridCol>
                <a:gridCol w="1047288">
                  <a:extLst>
                    <a:ext uri="{9D8B030D-6E8A-4147-A177-3AD203B41FA5}">
                      <a16:colId xmlns:a16="http://schemas.microsoft.com/office/drawing/2014/main" val="347168986"/>
                    </a:ext>
                  </a:extLst>
                </a:gridCol>
                <a:gridCol w="1512962">
                  <a:extLst>
                    <a:ext uri="{9D8B030D-6E8A-4147-A177-3AD203B41FA5}">
                      <a16:colId xmlns:a16="http://schemas.microsoft.com/office/drawing/2014/main" val="871629726"/>
                    </a:ext>
                  </a:extLst>
                </a:gridCol>
              </a:tblGrid>
              <a:tr h="276033">
                <a:tc>
                  <a:txBody>
                    <a:bodyPr/>
                    <a:lstStyle/>
                    <a:p>
                      <a:pPr algn="ctr"/>
                      <a:r>
                        <a:rPr lang="zh-CN" altLang="en-US" sz="1200" dirty="0"/>
                        <a:t>时间</a:t>
                      </a:r>
                    </a:p>
                  </a:txBody>
                  <a:tcPr>
                    <a:solidFill>
                      <a:srgbClr val="00B0F0"/>
                    </a:solidFill>
                  </a:tcPr>
                </a:tc>
                <a:tc>
                  <a:txBody>
                    <a:bodyPr/>
                    <a:lstStyle/>
                    <a:p>
                      <a:pPr algn="ctr"/>
                      <a:r>
                        <a:rPr lang="en-US" altLang="zh-CN" sz="1200" dirty="0"/>
                        <a:t>8</a:t>
                      </a:r>
                      <a:r>
                        <a:rPr lang="zh-CN" altLang="en-US" sz="1200" dirty="0"/>
                        <a:t>月</a:t>
                      </a:r>
                      <a:r>
                        <a:rPr lang="en-US" altLang="zh-CN" sz="1200" dirty="0"/>
                        <a:t>1</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2</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3</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4</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5</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6</a:t>
                      </a:r>
                      <a:r>
                        <a:rPr lang="zh-CN" altLang="en-US" sz="1200" dirty="0"/>
                        <a:t>日</a:t>
                      </a:r>
                    </a:p>
                  </a:txBody>
                  <a:tcPr>
                    <a:solidFill>
                      <a:srgbClr val="00B0F0"/>
                    </a:solidFill>
                  </a:tcPr>
                </a:tc>
                <a:tc>
                  <a:txBody>
                    <a:bodyPr/>
                    <a:lstStyle/>
                    <a:p>
                      <a:pPr algn="ctr"/>
                      <a:r>
                        <a:rPr lang="en-US" altLang="zh-CN" sz="1200" dirty="0"/>
                        <a:t>8</a:t>
                      </a:r>
                      <a:r>
                        <a:rPr lang="zh-CN" altLang="en-US" sz="1200" dirty="0"/>
                        <a:t>月</a:t>
                      </a:r>
                      <a:r>
                        <a:rPr lang="en-US" altLang="zh-CN" sz="1200" dirty="0"/>
                        <a:t>7</a:t>
                      </a:r>
                      <a:r>
                        <a:rPr lang="zh-CN" altLang="en-US" sz="1200" dirty="0"/>
                        <a:t>日</a:t>
                      </a:r>
                    </a:p>
                  </a:txBody>
                  <a:tcPr>
                    <a:solidFill>
                      <a:srgbClr val="00B0F0"/>
                    </a:solidFill>
                  </a:tcPr>
                </a:tc>
                <a:extLst>
                  <a:ext uri="{0D108BD9-81ED-4DB2-BD59-A6C34878D82A}">
                    <a16:rowId xmlns:a16="http://schemas.microsoft.com/office/drawing/2014/main" val="3826039287"/>
                  </a:ext>
                </a:extLst>
              </a:tr>
              <a:tr h="276033">
                <a:tc>
                  <a:txBody>
                    <a:bodyPr/>
                    <a:lstStyle/>
                    <a:p>
                      <a:pPr algn="ctr"/>
                      <a:r>
                        <a:rPr lang="zh-CN" altLang="en-US" sz="1400" b="1" kern="0" dirty="0">
                          <a:solidFill>
                            <a:schemeClr val="accent1">
                              <a:lumMod val="10000"/>
                            </a:schemeClr>
                          </a:solidFill>
                          <a:latin typeface="微软雅黑" panose="020B0503020204020204" pitchFamily="34" charset="-122"/>
                          <a:ea typeface="微软雅黑" panose="020B0503020204020204" pitchFamily="34" charset="-122"/>
                          <a:cs typeface="+mn-cs"/>
                        </a:rPr>
                        <a:t>早</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y1</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1200" dirty="0">
                          <a:solidFill>
                            <a:schemeClr val="accent1">
                              <a:lumMod val="10000"/>
                            </a:schemeClr>
                          </a:solidFill>
                        </a:rPr>
                        <a:t>8.82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7.91</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6.74</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5.32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4.32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3.92</a:t>
                      </a:r>
                      <a:endParaRPr lang="zh-CN" altLang="en-US" sz="1200" dirty="0">
                        <a:solidFill>
                          <a:schemeClr val="accent1">
                            <a:lumMod val="10000"/>
                          </a:schemeClr>
                        </a:solidFill>
                      </a:endParaRPr>
                    </a:p>
                  </a:txBody>
                  <a:tcPr/>
                </a:tc>
                <a:tc>
                  <a:txBody>
                    <a:bodyPr/>
                    <a:lstStyle/>
                    <a:p>
                      <a:pPr algn="ctr"/>
                      <a:r>
                        <a:rPr lang="en-US" altLang="zh-CN" sz="1200" dirty="0">
                          <a:solidFill>
                            <a:schemeClr val="accent1">
                              <a:lumMod val="10000"/>
                            </a:schemeClr>
                          </a:solidFill>
                        </a:rPr>
                        <a:t>2.84</a:t>
                      </a:r>
                      <a:endParaRPr lang="zh-CN" altLang="en-US" sz="1200" dirty="0">
                        <a:solidFill>
                          <a:schemeClr val="accent1">
                            <a:lumMod val="10000"/>
                          </a:schemeClr>
                        </a:solidFill>
                      </a:endParaRPr>
                    </a:p>
                  </a:txBody>
                  <a:tcPr/>
                </a:tc>
                <a:extLst>
                  <a:ext uri="{0D108BD9-81ED-4DB2-BD59-A6C34878D82A}">
                    <a16:rowId xmlns:a16="http://schemas.microsoft.com/office/drawing/2014/main" val="3194453009"/>
                  </a:ext>
                </a:extLst>
              </a:tr>
              <a:tr h="276033">
                <a:tc>
                  <a:txBody>
                    <a:bodyPr/>
                    <a:lstStyle/>
                    <a:p>
                      <a:pPr algn="ctr"/>
                      <a:r>
                        <a:rPr lang="zh-CN" altLang="en-US" sz="1400" dirty="0">
                          <a:solidFill>
                            <a:schemeClr val="accent1">
                              <a:lumMod val="10000"/>
                            </a:schemeClr>
                          </a:solidFill>
                        </a:rPr>
                        <a:t>中</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y2</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8.41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7.22</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6.38</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5.51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4.21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3.25</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2.51</a:t>
                      </a:r>
                      <a:endParaRPr lang="zh-CN" altLang="en-US" sz="1200" dirty="0">
                        <a:solidFill>
                          <a:schemeClr val="accent1">
                            <a:lumMod val="10000"/>
                          </a:schemeClr>
                        </a:solidFill>
                      </a:endParaRPr>
                    </a:p>
                  </a:txBody>
                  <a:tcPr/>
                </a:tc>
                <a:extLst>
                  <a:ext uri="{0D108BD9-81ED-4DB2-BD59-A6C34878D82A}">
                    <a16:rowId xmlns:a16="http://schemas.microsoft.com/office/drawing/2014/main" val="3103778959"/>
                  </a:ext>
                </a:extLst>
              </a:tr>
              <a:tr h="276033">
                <a:tc>
                  <a:txBody>
                    <a:bodyPr/>
                    <a:lstStyle/>
                    <a:p>
                      <a:pPr algn="ctr"/>
                      <a:r>
                        <a:rPr lang="zh-CN" altLang="en-US" sz="1400" dirty="0">
                          <a:solidFill>
                            <a:schemeClr val="accent1">
                              <a:lumMod val="10000"/>
                            </a:schemeClr>
                          </a:solidFill>
                        </a:rPr>
                        <a:t>晚</a:t>
                      </a:r>
                      <a:r>
                        <a:rPr lang="en-US" altLang="zh-CN" sz="1400" b="1" kern="0" dirty="0">
                          <a:solidFill>
                            <a:srgbClr val="FF0000"/>
                          </a:solidFill>
                          <a:latin typeface="微软雅黑" panose="020B0503020204020204" pitchFamily="34" charset="-122"/>
                          <a:ea typeface="微软雅黑" panose="020B0503020204020204" pitchFamily="34" charset="-122"/>
                          <a:cs typeface="+mn-cs"/>
                        </a:rPr>
                        <a:t>y3</a:t>
                      </a:r>
                      <a:endParaRPr lang="zh-CN" altLang="en-US" sz="1400" b="1" kern="0" dirty="0">
                        <a:solidFill>
                          <a:srgbClr val="FF0000"/>
                        </a:solidFill>
                        <a:latin typeface="微软雅黑" panose="020B0503020204020204" pitchFamily="34" charset="-122"/>
                        <a:ea typeface="微软雅黑" panose="020B0503020204020204" pitchFamily="34"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8.23</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7.04</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6.02</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5.21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4.01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3.51</a:t>
                      </a:r>
                      <a:endParaRPr lang="zh-CN" altLang="en-US" sz="1200" dirty="0">
                        <a:solidFill>
                          <a:schemeClr val="accent1">
                            <a:lumMod val="10000"/>
                          </a:schemeClr>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accent1">
                              <a:lumMod val="10000"/>
                            </a:schemeClr>
                          </a:solidFill>
                        </a:rPr>
                        <a:t>2.24</a:t>
                      </a:r>
                      <a:endParaRPr lang="zh-CN" altLang="en-US" sz="1200" dirty="0">
                        <a:solidFill>
                          <a:schemeClr val="accent1">
                            <a:lumMod val="10000"/>
                          </a:schemeClr>
                        </a:solidFill>
                      </a:endParaRPr>
                    </a:p>
                  </a:txBody>
                  <a:tcPr/>
                </a:tc>
                <a:extLst>
                  <a:ext uri="{0D108BD9-81ED-4DB2-BD59-A6C34878D82A}">
                    <a16:rowId xmlns:a16="http://schemas.microsoft.com/office/drawing/2014/main" val="272027335"/>
                  </a:ext>
                </a:extLst>
              </a:tr>
              <a:tr h="276033">
                <a:tc>
                  <a:txBody>
                    <a:bodyPr/>
                    <a:lstStyle/>
                    <a:p>
                      <a:pPr algn="ctr"/>
                      <a:r>
                        <a:rPr lang="zh-CN" altLang="en-US" sz="1200" dirty="0">
                          <a:solidFill>
                            <a:schemeClr val="bg1"/>
                          </a:solidFill>
                        </a:rPr>
                        <a:t>均值</a:t>
                      </a:r>
                      <a:r>
                        <a:rPr lang="en-US" altLang="zh-CN" sz="1200" dirty="0">
                          <a:solidFill>
                            <a:schemeClr val="bg1"/>
                          </a:solidFill>
                        </a:rPr>
                        <a:t>mean(y)</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8.4867</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7.3900</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6.3800</a:t>
                      </a:r>
                      <a:endParaRPr lang="zh-CN" altLang="en-US" sz="1200" dirty="0">
                        <a:solidFill>
                          <a:schemeClr val="bg1"/>
                        </a:solidFill>
                      </a:endParaRPr>
                    </a:p>
                  </a:txBody>
                  <a:tcP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rPr>
                        <a:t>5.3467</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4.2167 </a:t>
                      </a:r>
                      <a:endParaRPr lang="zh-CN" altLang="en-US" sz="1200" dirty="0">
                        <a:solidFill>
                          <a:schemeClr val="bg1"/>
                        </a:solidFill>
                      </a:endParaRPr>
                    </a:p>
                  </a:txBody>
                  <a:tcPr>
                    <a:solidFill>
                      <a:srgbClr val="0070C0"/>
                    </a:solidFill>
                  </a:tcPr>
                </a:tc>
                <a:tc>
                  <a:txBody>
                    <a:bodyPr/>
                    <a:lstStyle/>
                    <a:p>
                      <a:pPr algn="ctr"/>
                      <a:r>
                        <a:rPr lang="en-US" altLang="zh-CN" sz="1200" dirty="0">
                          <a:solidFill>
                            <a:schemeClr val="bg1"/>
                          </a:solidFill>
                        </a:rPr>
                        <a:t>3.5600</a:t>
                      </a:r>
                      <a:endParaRPr lang="zh-CN" altLang="en-US" sz="1200" dirty="0">
                        <a:solidFill>
                          <a:schemeClr val="bg1"/>
                        </a:solidFill>
                      </a:endParaRPr>
                    </a:p>
                  </a:txBody>
                  <a:tcPr>
                    <a:solidFill>
                      <a:srgbClr val="0070C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rPr>
                        <a:t>2.5300</a:t>
                      </a:r>
                      <a:endParaRPr lang="zh-CN" altLang="en-US" sz="1200" dirty="0">
                        <a:solidFill>
                          <a:schemeClr val="bg1"/>
                        </a:solidFill>
                      </a:endParaRPr>
                    </a:p>
                  </a:txBody>
                  <a:tcPr>
                    <a:solidFill>
                      <a:srgbClr val="0070C0"/>
                    </a:solidFill>
                  </a:tcPr>
                </a:tc>
                <a:extLst>
                  <a:ext uri="{0D108BD9-81ED-4DB2-BD59-A6C34878D82A}">
                    <a16:rowId xmlns:a16="http://schemas.microsoft.com/office/drawing/2014/main" val="3285997151"/>
                  </a:ext>
                </a:extLst>
              </a:tr>
              <a:tr h="384069">
                <a:tc>
                  <a:txBody>
                    <a:bodyPr/>
                    <a:lstStyle/>
                    <a:p>
                      <a:pPr algn="ctr"/>
                      <a:r>
                        <a:rPr lang="zh-CN" altLang="en-US" sz="1200" dirty="0">
                          <a:solidFill>
                            <a:schemeClr val="bg1"/>
                          </a:solidFill>
                          <a:highlight>
                            <a:srgbClr val="FF0000"/>
                          </a:highlight>
                        </a:rPr>
                        <a:t>标准差</a:t>
                      </a:r>
                      <a:r>
                        <a:rPr lang="en-US" altLang="zh-CN" sz="1200" dirty="0">
                          <a:solidFill>
                            <a:schemeClr val="bg1"/>
                          </a:solidFill>
                          <a:highlight>
                            <a:srgbClr val="FF0000"/>
                          </a:highlight>
                        </a:rPr>
                        <a:t>std(y)</a:t>
                      </a:r>
                      <a:endParaRPr lang="zh-CN" altLang="en-US" sz="1200" dirty="0">
                        <a:solidFill>
                          <a:schemeClr val="bg1"/>
                        </a:solidFill>
                        <a:highlight>
                          <a:srgbClr val="FF0000"/>
                        </a:highlight>
                      </a:endParaRPr>
                    </a:p>
                  </a:txBody>
                  <a:tcPr>
                    <a:solidFill>
                      <a:srgbClr val="00B0F0"/>
                    </a:solidFill>
                  </a:tcPr>
                </a:tc>
                <a:tc>
                  <a:txBody>
                    <a:bodyPr/>
                    <a:lstStyle/>
                    <a:p>
                      <a:pPr algn="ctr"/>
                      <a:r>
                        <a:rPr lang="en-US" altLang="zh-CN" sz="1200" dirty="0">
                          <a:solidFill>
                            <a:schemeClr val="bg1"/>
                          </a:solidFill>
                          <a:highlight>
                            <a:srgbClr val="FF0000"/>
                          </a:highlight>
                        </a:rPr>
                        <a:t>0.3024</a:t>
                      </a:r>
                      <a:endParaRPr lang="zh-CN" altLang="en-US" sz="1200" dirty="0">
                        <a:solidFill>
                          <a:schemeClr val="bg1"/>
                        </a:solidFill>
                        <a:highlight>
                          <a:srgbClr val="FF0000"/>
                        </a:highlight>
                      </a:endParaRPr>
                    </a:p>
                  </a:txBody>
                  <a:tcPr>
                    <a:solidFill>
                      <a:srgbClr val="00B0F0"/>
                    </a:solidFill>
                  </a:tcPr>
                </a:tc>
                <a:tc>
                  <a:txBody>
                    <a:bodyPr/>
                    <a:lstStyle/>
                    <a:p>
                      <a:pPr algn="ctr"/>
                      <a:r>
                        <a:rPr lang="en-US" altLang="zh-CN" sz="1200" dirty="0">
                          <a:solidFill>
                            <a:schemeClr val="bg1"/>
                          </a:solidFill>
                          <a:highlight>
                            <a:srgbClr val="FF0000"/>
                          </a:highlight>
                        </a:rPr>
                        <a:t>0.4592</a:t>
                      </a:r>
                      <a:endParaRPr lang="zh-CN" altLang="en-US" sz="1200" dirty="0">
                        <a:solidFill>
                          <a:schemeClr val="bg1"/>
                        </a:solidFill>
                        <a:highlight>
                          <a:srgbClr val="FF0000"/>
                        </a:highlight>
                      </a:endParaRPr>
                    </a:p>
                  </a:txBody>
                  <a:tcPr>
                    <a:solidFill>
                      <a:srgbClr val="00B0F0"/>
                    </a:solidFill>
                  </a:tcPr>
                </a:tc>
                <a:tc>
                  <a:txBody>
                    <a:bodyPr/>
                    <a:lstStyle/>
                    <a:p>
                      <a:pPr algn="ctr"/>
                      <a:r>
                        <a:rPr lang="en-US" altLang="zh-CN" sz="1200" dirty="0">
                          <a:solidFill>
                            <a:schemeClr val="bg1"/>
                          </a:solidFill>
                          <a:highlight>
                            <a:srgbClr val="FF0000"/>
                          </a:highlight>
                        </a:rPr>
                        <a:t>0.3600</a:t>
                      </a:r>
                      <a:endParaRPr lang="zh-CN" altLang="en-US" sz="1200" dirty="0">
                        <a:solidFill>
                          <a:schemeClr val="bg1"/>
                        </a:solidFill>
                        <a:highlight>
                          <a:srgbClr val="FF0000"/>
                        </a:highlight>
                      </a:endParaRPr>
                    </a:p>
                  </a:txBody>
                  <a:tcP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highlight>
                            <a:srgbClr val="FF0000"/>
                          </a:highlight>
                        </a:rPr>
                        <a:t>0.1518</a:t>
                      </a:r>
                      <a:endParaRPr lang="zh-CN" altLang="en-US" sz="1200" dirty="0">
                        <a:solidFill>
                          <a:schemeClr val="bg1"/>
                        </a:solidFill>
                        <a:highlight>
                          <a:srgbClr val="FF0000"/>
                        </a:highlight>
                      </a:endParaRPr>
                    </a:p>
                  </a:txBody>
                  <a:tcPr>
                    <a:solidFill>
                      <a:srgbClr val="00B0F0"/>
                    </a:solidFill>
                  </a:tcPr>
                </a:tc>
                <a:tc>
                  <a:txBody>
                    <a:bodyPr/>
                    <a:lstStyle/>
                    <a:p>
                      <a:pPr algn="ctr"/>
                      <a:r>
                        <a:rPr lang="zh-CN" altLang="en-US" sz="1200" dirty="0">
                          <a:solidFill>
                            <a:schemeClr val="bg1"/>
                          </a:solidFill>
                          <a:highlight>
                            <a:srgbClr val="FF0000"/>
                          </a:highlight>
                        </a:rPr>
                        <a:t> </a:t>
                      </a:r>
                      <a:r>
                        <a:rPr lang="en-US" altLang="zh-CN" sz="1200" dirty="0">
                          <a:solidFill>
                            <a:schemeClr val="bg1"/>
                          </a:solidFill>
                          <a:highlight>
                            <a:srgbClr val="FF0000"/>
                          </a:highlight>
                        </a:rPr>
                        <a:t>0.2101</a:t>
                      </a:r>
                      <a:endParaRPr lang="zh-CN" altLang="en-US" sz="1200" dirty="0">
                        <a:solidFill>
                          <a:schemeClr val="bg1"/>
                        </a:solidFill>
                        <a:highlight>
                          <a:srgbClr val="FF0000"/>
                        </a:highlight>
                      </a:endParaRPr>
                    </a:p>
                  </a:txBody>
                  <a:tcPr>
                    <a:solidFill>
                      <a:srgbClr val="00B0F0"/>
                    </a:solidFill>
                  </a:tcPr>
                </a:tc>
                <a:tc>
                  <a:txBody>
                    <a:bodyPr/>
                    <a:lstStyle/>
                    <a:p>
                      <a:pPr algn="ctr"/>
                      <a:r>
                        <a:rPr lang="en-US" altLang="zh-CN" sz="1200" dirty="0">
                          <a:solidFill>
                            <a:schemeClr val="bg1"/>
                          </a:solidFill>
                          <a:highlight>
                            <a:srgbClr val="FF0000"/>
                          </a:highlight>
                        </a:rPr>
                        <a:t>0.3378</a:t>
                      </a:r>
                      <a:endParaRPr lang="zh-CN" altLang="en-US" sz="1200" dirty="0">
                        <a:solidFill>
                          <a:schemeClr val="bg1"/>
                        </a:solidFill>
                        <a:highlight>
                          <a:srgbClr val="FF0000"/>
                        </a:highlight>
                      </a:endParaRPr>
                    </a:p>
                  </a:txBody>
                  <a:tcP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solidFill>
                            <a:schemeClr val="bg1"/>
                          </a:solidFill>
                          <a:highlight>
                            <a:srgbClr val="FF0000"/>
                          </a:highlight>
                        </a:rPr>
                        <a:t>0.3005</a:t>
                      </a:r>
                      <a:endParaRPr lang="zh-CN" altLang="en-US" sz="1200" dirty="0">
                        <a:solidFill>
                          <a:schemeClr val="bg1"/>
                        </a:solidFill>
                        <a:highlight>
                          <a:srgbClr val="FF0000"/>
                        </a:highlight>
                      </a:endParaRPr>
                    </a:p>
                  </a:txBody>
                  <a:tcPr>
                    <a:solidFill>
                      <a:srgbClr val="00B0F0"/>
                    </a:solidFill>
                  </a:tcPr>
                </a:tc>
                <a:extLst>
                  <a:ext uri="{0D108BD9-81ED-4DB2-BD59-A6C34878D82A}">
                    <a16:rowId xmlns:a16="http://schemas.microsoft.com/office/drawing/2014/main" val="2939257036"/>
                  </a:ext>
                </a:extLst>
              </a:tr>
            </a:tbl>
          </a:graphicData>
        </a:graphic>
      </p:graphicFrame>
      <p:sp>
        <p:nvSpPr>
          <p:cNvPr id="26" name="日期占位符 1">
            <a:extLst>
              <a:ext uri="{FF2B5EF4-FFF2-40B4-BE49-F238E27FC236}">
                <a16:creationId xmlns:a16="http://schemas.microsoft.com/office/drawing/2014/main" id="{F51AB5A3-1A1D-4C59-9C2D-5C7EF8DD4393}"/>
              </a:ext>
            </a:extLst>
          </p:cNvPr>
          <p:cNvSpPr txBox="1">
            <a:spLocks/>
          </p:cNvSpPr>
          <p:nvPr/>
        </p:nvSpPr>
        <p:spPr>
          <a:xfrm>
            <a:off x="510952" y="4683919"/>
            <a:ext cx="2133600" cy="357188"/>
          </a:xfrm>
          <a:prstGeom prst="rect">
            <a:avLst/>
          </a:prstGeom>
        </p:spPr>
        <p:txBody>
          <a:bodyPr/>
          <a:ls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25E81C68-AD67-4B59-A707-20F6CB98CF04}" type="datetime1">
              <a:rPr lang="zh-CN" altLang="en-US" smtClean="0"/>
              <a:pPr>
                <a:defRPr/>
              </a:pPr>
              <a:t>2025/3/20</a:t>
            </a:fld>
            <a:endParaRPr lang="zh-CN" altLang="en-US"/>
          </a:p>
        </p:txBody>
      </p:sp>
      <p:sp>
        <p:nvSpPr>
          <p:cNvPr id="29" name="矩形 28">
            <a:extLst>
              <a:ext uri="{FF2B5EF4-FFF2-40B4-BE49-F238E27FC236}">
                <a16:creationId xmlns:a16="http://schemas.microsoft.com/office/drawing/2014/main" id="{4FBE8A92-44D6-4C59-A414-36FFD01469F4}"/>
              </a:ext>
            </a:extLst>
          </p:cNvPr>
          <p:cNvSpPr/>
          <p:nvPr/>
        </p:nvSpPr>
        <p:spPr>
          <a:xfrm>
            <a:off x="98905" y="2500908"/>
            <a:ext cx="8892987" cy="2585323"/>
          </a:xfrm>
          <a:prstGeom prst="rect">
            <a:avLst/>
          </a:prstGeom>
          <a:solidFill>
            <a:schemeClr val="bg1"/>
          </a:solidFill>
          <a:ln>
            <a:solidFill>
              <a:schemeClr val="tx1"/>
            </a:solidFill>
            <a:prstDash val="sysDash"/>
          </a:ln>
        </p:spPr>
        <p:txBody>
          <a:bodyPr wrap="square">
            <a:spAutoFit/>
          </a:bodyPr>
          <a:lstStyle/>
          <a:p>
            <a:r>
              <a:rPr lang="es-ES" altLang="zh-CN" dirty="0">
                <a:latin typeface="华文楷体" panose="02010600040101010101" pitchFamily="2" charset="-122"/>
                <a:ea typeface="华文楷体" panose="02010600040101010101" pitchFamily="2" charset="-122"/>
              </a:rPr>
              <a:t>x=1:7;</a:t>
            </a:r>
          </a:p>
          <a:p>
            <a:r>
              <a:rPr lang="es-ES" altLang="zh-CN" dirty="0">
                <a:latin typeface="华文楷体" panose="02010600040101010101" pitchFamily="2" charset="-122"/>
                <a:ea typeface="华文楷体" panose="02010600040101010101" pitchFamily="2" charset="-122"/>
              </a:rPr>
              <a:t>y=[8.82 7.91 6.74 5.32 4.43 3.92 2.84;</a:t>
            </a:r>
          </a:p>
          <a:p>
            <a:r>
              <a:rPr lang="es-ES" altLang="zh-CN" dirty="0">
                <a:latin typeface="华文楷体" panose="02010600040101010101" pitchFamily="2" charset="-122"/>
                <a:ea typeface="华文楷体" panose="02010600040101010101" pitchFamily="2" charset="-122"/>
              </a:rPr>
              <a:t>8.41 7.22 6.38 5.51 4.21 3.25 2.51;</a:t>
            </a:r>
          </a:p>
          <a:p>
            <a:r>
              <a:rPr lang="es-ES" altLang="zh-CN" dirty="0">
                <a:latin typeface="华文楷体" panose="02010600040101010101" pitchFamily="2" charset="-122"/>
                <a:ea typeface="华文楷体" panose="02010600040101010101" pitchFamily="2" charset="-122"/>
              </a:rPr>
              <a:t>8.23 7.04 6.02 5.21 4.01 3.51 2.24];</a:t>
            </a:r>
          </a:p>
          <a:p>
            <a:r>
              <a:rPr lang="en-US" altLang="zh-CN" dirty="0" err="1">
                <a:latin typeface="华文楷体" panose="02010600040101010101" pitchFamily="2" charset="-122"/>
                <a:ea typeface="华文楷体" panose="02010600040101010101" pitchFamily="2" charset="-122"/>
              </a:rPr>
              <a:t>ym</a:t>
            </a:r>
            <a:r>
              <a:rPr lang="en-US" altLang="zh-CN" dirty="0">
                <a:latin typeface="华文楷体" panose="02010600040101010101" pitchFamily="2" charset="-122"/>
                <a:ea typeface="华文楷体" panose="02010600040101010101" pitchFamily="2" charset="-122"/>
              </a:rPr>
              <a:t>=mean(</a:t>
            </a:r>
            <a:r>
              <a:rPr lang="en-US" altLang="zh-CN" dirty="0" err="1">
                <a:latin typeface="华文楷体" panose="02010600040101010101" pitchFamily="2" charset="-122"/>
                <a:ea typeface="华文楷体" panose="02010600040101010101" pitchFamily="2" charset="-122"/>
              </a:rPr>
              <a:t>y,dims</a:t>
            </a:r>
            <a:r>
              <a:rPr lang="en-US" altLang="zh-CN" dirty="0">
                <a:latin typeface="华文楷体" panose="02010600040101010101" pitchFamily="2" charset="-122"/>
                <a:ea typeface="华文楷体" panose="02010600040101010101" pitchFamily="2" charset="-122"/>
              </a:rPr>
              <a:t>=1) ; #</a:t>
            </a:r>
            <a:r>
              <a:rPr lang="zh-CN" altLang="en-US" dirty="0">
                <a:latin typeface="华文楷体" panose="02010600040101010101" pitchFamily="2" charset="-122"/>
                <a:ea typeface="华文楷体" panose="02010600040101010101" pitchFamily="2" charset="-122"/>
              </a:rPr>
              <a:t>每列均值即每天浓度均值</a:t>
            </a:r>
          </a:p>
          <a:p>
            <a:r>
              <a:rPr lang="en-US" altLang="zh-CN" dirty="0" err="1">
                <a:latin typeface="华文楷体" panose="02010600040101010101" pitchFamily="2" charset="-122"/>
                <a:ea typeface="华文楷体" panose="02010600040101010101" pitchFamily="2" charset="-122"/>
              </a:rPr>
              <a:t>astd</a:t>
            </a:r>
            <a:r>
              <a:rPr lang="en-US" altLang="zh-CN" dirty="0">
                <a:latin typeface="华文楷体" panose="02010600040101010101" pitchFamily="2" charset="-122"/>
                <a:ea typeface="华文楷体" panose="02010600040101010101" pitchFamily="2" charset="-122"/>
              </a:rPr>
              <a:t>=std(</a:t>
            </a:r>
            <a:r>
              <a:rPr lang="en-US" altLang="zh-CN" dirty="0" err="1">
                <a:latin typeface="华文楷体" panose="02010600040101010101" pitchFamily="2" charset="-122"/>
                <a:ea typeface="华文楷体" panose="02010600040101010101" pitchFamily="2" charset="-122"/>
              </a:rPr>
              <a:t>y,dims</a:t>
            </a:r>
            <a:r>
              <a:rPr lang="en-US" altLang="zh-CN" dirty="0">
                <a:latin typeface="华文楷体" panose="02010600040101010101" pitchFamily="2" charset="-122"/>
                <a:ea typeface="华文楷体" panose="02010600040101010101" pitchFamily="2" charset="-122"/>
              </a:rPr>
              <a:t>=1) ; #</a:t>
            </a:r>
            <a:r>
              <a:rPr lang="zh-CN" altLang="en-US" dirty="0">
                <a:latin typeface="华文楷体" panose="02010600040101010101" pitchFamily="2" charset="-122"/>
                <a:ea typeface="华文楷体" panose="02010600040101010101" pitchFamily="2" charset="-122"/>
              </a:rPr>
              <a:t>每列标准差即每天浓度误差</a:t>
            </a:r>
          </a:p>
          <a:p>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绘制平均浓度随时间变化曲线</a:t>
            </a:r>
          </a:p>
          <a:p>
            <a:r>
              <a:rPr lang="en-US" altLang="zh-CN" dirty="0" err="1">
                <a:latin typeface="华文楷体" panose="02010600040101010101" pitchFamily="2" charset="-122"/>
                <a:ea typeface="华文楷体" panose="02010600040101010101" pitchFamily="2" charset="-122"/>
              </a:rPr>
              <a:t>errorbar</a:t>
            </a:r>
            <a:r>
              <a:rPr lang="en-US" altLang="zh-CN" dirty="0">
                <a:latin typeface="华文楷体" panose="02010600040101010101" pitchFamily="2" charset="-122"/>
                <a:ea typeface="华文楷体" panose="02010600040101010101" pitchFamily="2" charset="-122"/>
              </a:rPr>
              <a:t>(</a:t>
            </a:r>
            <a:r>
              <a:rPr lang="en-US" altLang="zh-CN" dirty="0" err="1">
                <a:latin typeface="华文楷体" panose="02010600040101010101" pitchFamily="2" charset="-122"/>
                <a:ea typeface="华文楷体" panose="02010600040101010101" pitchFamily="2" charset="-122"/>
              </a:rPr>
              <a:t>x,ym,astd</a:t>
            </a: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fmt</a:t>
            </a:r>
            <a:r>
              <a:rPr lang="en-US" altLang="zh-CN" dirty="0">
                <a:latin typeface="华文楷体" panose="02010600040101010101" pitchFamily="2" charset="-122"/>
                <a:ea typeface="华文楷体" panose="02010600040101010101" pitchFamily="2" charset="-122"/>
              </a:rPr>
              <a:t>="-s",</a:t>
            </a:r>
            <a:r>
              <a:rPr lang="en-US" altLang="zh-CN" dirty="0" err="1">
                <a:latin typeface="华文楷体" panose="02010600040101010101" pitchFamily="2" charset="-122"/>
                <a:ea typeface="华文楷体" panose="02010600040101010101" pitchFamily="2" charset="-122"/>
              </a:rPr>
              <a:t>markersize</a:t>
            </a:r>
            <a:r>
              <a:rPr lang="en-US" altLang="zh-CN" dirty="0">
                <a:latin typeface="华文楷体" panose="02010600040101010101" pitchFamily="2" charset="-122"/>
                <a:ea typeface="华文楷体" panose="02010600040101010101" pitchFamily="2" charset="-122"/>
              </a:rPr>
              <a:t>=10, </a:t>
            </a:r>
            <a:r>
              <a:rPr lang="en-US" altLang="zh-CN" dirty="0" err="1">
                <a:latin typeface="华文楷体" panose="02010600040101010101" pitchFamily="2" charset="-122"/>
                <a:ea typeface="华文楷体" panose="02010600040101010101" pitchFamily="2" charset="-122"/>
              </a:rPr>
              <a:t>markeredgecolor</a:t>
            </a:r>
            <a:r>
              <a:rPr lang="en-US" altLang="zh-CN" dirty="0">
                <a:latin typeface="华文楷体" panose="02010600040101010101" pitchFamily="2" charset="-122"/>
                <a:ea typeface="华文楷体" panose="02010600040101010101" pitchFamily="2" charset="-122"/>
              </a:rPr>
              <a:t>="r", </a:t>
            </a:r>
            <a:r>
              <a:rPr lang="en-US" altLang="zh-CN" dirty="0" err="1">
                <a:latin typeface="华文楷体" panose="02010600040101010101" pitchFamily="2" charset="-122"/>
                <a:ea typeface="华文楷体" panose="02010600040101010101" pitchFamily="2" charset="-122"/>
              </a:rPr>
              <a:t>markerfacecolor</a:t>
            </a:r>
            <a:r>
              <a:rPr lang="en-US" altLang="zh-CN" dirty="0">
                <a:latin typeface="华文楷体" panose="02010600040101010101" pitchFamily="2" charset="-122"/>
                <a:ea typeface="华文楷体" panose="02010600040101010101" pitchFamily="2" charset="-122"/>
              </a:rPr>
              <a:t>="r") </a:t>
            </a:r>
          </a:p>
          <a:p>
            <a:r>
              <a:rPr lang="en-US" altLang="zh-CN" dirty="0" err="1">
                <a:latin typeface="华文楷体" panose="02010600040101010101" pitchFamily="2" charset="-122"/>
                <a:ea typeface="华文楷体" panose="02010600040101010101" pitchFamily="2" charset="-122"/>
              </a:rPr>
              <a:t>xlabel</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时间 </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天</a:t>
            </a:r>
            <a:r>
              <a:rPr lang="en-US" altLang="zh-CN" dirty="0">
                <a:latin typeface="华文楷体" panose="02010600040101010101" pitchFamily="2" charset="-122"/>
                <a:ea typeface="华文楷体" panose="02010600040101010101" pitchFamily="2" charset="-122"/>
              </a:rPr>
              <a:t>") ;</a:t>
            </a:r>
            <a:r>
              <a:rPr lang="en-US" altLang="zh-CN" dirty="0" err="1">
                <a:latin typeface="华文楷体" panose="02010600040101010101" pitchFamily="2" charset="-122"/>
                <a:ea typeface="华文楷体" panose="02010600040101010101" pitchFamily="2" charset="-122"/>
              </a:rPr>
              <a:t>ylabel</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浓度</a:t>
            </a:r>
            <a:r>
              <a:rPr lang="en-US" altLang="zh-CN" dirty="0">
                <a:latin typeface="华文楷体" panose="02010600040101010101" pitchFamily="2" charset="-122"/>
                <a:ea typeface="华文楷体" panose="02010600040101010101" pitchFamily="2" charset="-122"/>
              </a:rPr>
              <a:t>/%") ;</a:t>
            </a:r>
            <a:endParaRPr lang="en-US" altLang="zh-CN"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30" name="波形 29">
            <a:extLst>
              <a:ext uri="{FF2B5EF4-FFF2-40B4-BE49-F238E27FC236}">
                <a16:creationId xmlns:a16="http://schemas.microsoft.com/office/drawing/2014/main" id="{4040C541-F9D4-4BD0-9310-8D2E04FD1265}"/>
              </a:ext>
            </a:extLst>
          </p:cNvPr>
          <p:cNvSpPr/>
          <p:nvPr/>
        </p:nvSpPr>
        <p:spPr>
          <a:xfrm>
            <a:off x="143509" y="646243"/>
            <a:ext cx="551269"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2000" b="1" dirty="0">
                <a:solidFill>
                  <a:srgbClr val="FFFF00"/>
                </a:solidFill>
                <a:latin typeface="微软雅黑" panose="020B0503020204020204" charset="-122"/>
                <a:ea typeface="微软雅黑" panose="020B0503020204020204" charset="-122"/>
              </a:rPr>
              <a:t>例</a:t>
            </a:r>
            <a:r>
              <a:rPr lang="en-US" altLang="zh-CN" sz="2000" b="1" dirty="0">
                <a:solidFill>
                  <a:srgbClr val="FFFF00"/>
                </a:solidFill>
                <a:latin typeface="微软雅黑" panose="020B0503020204020204" charset="-122"/>
                <a:ea typeface="微软雅黑" panose="020B0503020204020204" charset="-122"/>
              </a:rPr>
              <a:t>5</a:t>
            </a:r>
            <a:endParaRPr lang="ko-KR" altLang="en-US" sz="2000" b="1" dirty="0">
              <a:solidFill>
                <a:srgbClr val="FFFF00"/>
              </a:solidFill>
              <a:latin typeface="微软雅黑" panose="020B0503020204020204" charset="-122"/>
              <a:ea typeface="微软雅黑" panose="020B0503020204020204" charset="-122"/>
            </a:endParaRPr>
          </a:p>
        </p:txBody>
      </p:sp>
      <p:sp>
        <p:nvSpPr>
          <p:cNvPr id="31" name="矩形 30">
            <a:extLst>
              <a:ext uri="{FF2B5EF4-FFF2-40B4-BE49-F238E27FC236}">
                <a16:creationId xmlns:a16="http://schemas.microsoft.com/office/drawing/2014/main" id="{A280A356-57BD-4899-9585-25187217B6FF}"/>
              </a:ext>
            </a:extLst>
          </p:cNvPr>
          <p:cNvSpPr/>
          <p:nvPr/>
        </p:nvSpPr>
        <p:spPr>
          <a:xfrm>
            <a:off x="709906" y="681453"/>
            <a:ext cx="8340939" cy="400110"/>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algn="dist" defTabSz="0" eaLnBrk="0" hangingPunct="0">
              <a:buClr>
                <a:srgbClr val="00B0F0"/>
              </a:buClr>
            </a:pPr>
            <a:r>
              <a:rPr lang="en-US" altLang="zh-CN" sz="2000" b="1" dirty="0" err="1">
                <a:solidFill>
                  <a:srgbClr val="0070C0"/>
                </a:solidFill>
                <a:latin typeface="微软雅黑" panose="020B0503020204020204" pitchFamily="34" charset="-122"/>
                <a:ea typeface="微软雅黑" panose="020B0503020204020204" pitchFamily="34" charset="-122"/>
              </a:rPr>
              <a:t>errorbar</a:t>
            </a:r>
            <a:r>
              <a:rPr lang="zh-CN" altLang="en-US" sz="2000" b="1" dirty="0">
                <a:solidFill>
                  <a:srgbClr val="0070C0"/>
                </a:solidFill>
                <a:latin typeface="微软雅黑" panose="020B0503020204020204" pitchFamily="34" charset="-122"/>
                <a:ea typeface="微软雅黑" panose="020B0503020204020204" pitchFamily="34" charset="-122"/>
              </a:rPr>
              <a:t>绘制带有误差条的平均浓度关于时间的多条曲线</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A63F049D-EFA2-4836-81C5-BD720AEAABC4}"/>
              </a:ext>
            </a:extLst>
          </p:cNvPr>
          <p:cNvSpPr/>
          <p:nvPr/>
        </p:nvSpPr>
        <p:spPr>
          <a:xfrm>
            <a:off x="873897" y="153800"/>
            <a:ext cx="7817888" cy="492443"/>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600" kern="0" dirty="0">
                <a:solidFill>
                  <a:srgbClr val="002060"/>
                </a:solidFill>
                <a:latin typeface="华文楷体" panose="02010600040101010101" pitchFamily="2" charset="-122"/>
                <a:ea typeface="华文楷体" panose="02010600040101010101" pitchFamily="2" charset="-122"/>
              </a:rPr>
              <a:t>3.3.2 </a:t>
            </a:r>
            <a:r>
              <a:rPr lang="zh-CN" altLang="en-US" sz="2600" kern="0" dirty="0">
                <a:solidFill>
                  <a:srgbClr val="002060"/>
                </a:solidFill>
                <a:latin typeface="华文楷体" panose="02010600040101010101" pitchFamily="2" charset="-122"/>
                <a:ea typeface="华文楷体" panose="02010600040101010101" pitchFamily="2" charset="-122"/>
              </a:rPr>
              <a:t>绘制误差条线图</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dirty="0">
                <a:solidFill>
                  <a:srgbClr val="FF0000"/>
                </a:solidFill>
                <a:latin typeface="华文楷体" panose="02010600040101010101" pitchFamily="2" charset="-122"/>
                <a:ea typeface="华文楷体" panose="02010600040101010101" pitchFamily="2" charset="-122"/>
              </a:rPr>
              <a:t>误差条线图</a:t>
            </a:r>
            <a:r>
              <a:rPr lang="en-US" altLang="zh-CN" sz="2600"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errorbar</a:t>
            </a:r>
            <a:r>
              <a:rPr lang="zh-CN" altLang="en-US" sz="26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案例</a:t>
            </a:r>
            <a:endParaRPr lang="en-US" altLang="zh-CN" sz="2600" dirty="0">
              <a:solidFill>
                <a:srgbClr val="FF0000"/>
              </a:solidFill>
              <a:latin typeface="华文楷体" panose="02010600040101010101" pitchFamily="2" charset="-122"/>
              <a:ea typeface="华文楷体" panose="02010600040101010101" pitchFamily="2" charset="-122"/>
            </a:endParaRPr>
          </a:p>
        </p:txBody>
      </p:sp>
      <p:pic>
        <p:nvPicPr>
          <p:cNvPr id="33" name="图片 32">
            <a:extLst>
              <a:ext uri="{FF2B5EF4-FFF2-40B4-BE49-F238E27FC236}">
                <a16:creationId xmlns:a16="http://schemas.microsoft.com/office/drawing/2014/main" id="{F9DB51A8-483A-455A-A7CA-6C850F425FF4}"/>
              </a:ext>
            </a:extLst>
          </p:cNvPr>
          <p:cNvPicPr>
            <a:picLocks noChangeAspect="1"/>
          </p:cNvPicPr>
          <p:nvPr/>
        </p:nvPicPr>
        <p:blipFill rotWithShape="1">
          <a:blip r:embed="rId3"/>
          <a:srcRect l="33463" t="19550" r="30313" b="24801"/>
          <a:stretch/>
        </p:blipFill>
        <p:spPr>
          <a:xfrm>
            <a:off x="6516216" y="2607792"/>
            <a:ext cx="2334119" cy="1832177"/>
          </a:xfrm>
          <a:prstGeom prst="rect">
            <a:avLst/>
          </a:prstGeom>
          <a:ln>
            <a:solidFill>
              <a:schemeClr val="bg1">
                <a:lumMod val="65000"/>
              </a:schemeClr>
            </a:solidFill>
          </a:ln>
        </p:spPr>
      </p:pic>
      <p:sp>
        <p:nvSpPr>
          <p:cNvPr id="34" name="文本框 33">
            <a:extLst>
              <a:ext uri="{FF2B5EF4-FFF2-40B4-BE49-F238E27FC236}">
                <a16:creationId xmlns:a16="http://schemas.microsoft.com/office/drawing/2014/main" id="{731DF255-C4F7-4352-869C-5648EB7ADD9E}"/>
              </a:ext>
            </a:extLst>
          </p:cNvPr>
          <p:cNvSpPr txBox="1"/>
          <p:nvPr/>
        </p:nvSpPr>
        <p:spPr>
          <a:xfrm>
            <a:off x="6012939" y="4681468"/>
            <a:ext cx="2951549" cy="338554"/>
          </a:xfrm>
          <a:prstGeom prst="rect">
            <a:avLst/>
          </a:prstGeom>
          <a:noFill/>
        </p:spPr>
        <p:txBody>
          <a:bodyPr wrap="square">
            <a:spAutoFit/>
          </a:bodyPr>
          <a:lstStyle/>
          <a:p>
            <a:r>
              <a:rPr lang="zh-CN" altLang="en-US" sz="1600" b="0" i="0" dirty="0">
                <a:solidFill>
                  <a:srgbClr val="33CCFF"/>
                </a:solidFill>
                <a:effectLst/>
                <a:latin typeface="微软雅黑" panose="020B0503020204020204" pitchFamily="34" charset="-122"/>
                <a:ea typeface="微软雅黑" panose="020B0503020204020204" pitchFamily="34" charset="-122"/>
              </a:rPr>
              <a:t>每个数据点处创建误差条线图 </a:t>
            </a:r>
            <a:endParaRPr lang="zh-CN" altLang="en-US" sz="1600" dirty="0">
              <a:solidFill>
                <a:srgbClr val="33CC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759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F1BF3628-6F73-442E-91F9-B60DB48394C3}"/>
              </a:ext>
            </a:extLst>
          </p:cNvPr>
          <p:cNvPicPr>
            <a:picLocks noChangeAspect="1"/>
          </p:cNvPicPr>
          <p:nvPr/>
        </p:nvPicPr>
        <p:blipFill rotWithShape="1">
          <a:blip r:embed="rId3"/>
          <a:srcRect l="35468" t="27610" r="32732" b="25606"/>
          <a:stretch/>
        </p:blipFill>
        <p:spPr>
          <a:xfrm>
            <a:off x="3491880" y="2075921"/>
            <a:ext cx="2388107" cy="1800384"/>
          </a:xfrm>
          <a:prstGeom prst="rect">
            <a:avLst/>
          </a:prstGeom>
          <a:effectLst>
            <a:outerShdw blurRad="63500" sx="102000" sy="102000" algn="ctr" rotWithShape="0">
              <a:prstClr val="black">
                <a:alpha val="40000"/>
              </a:prstClr>
            </a:outerShdw>
          </a:effectLst>
        </p:spPr>
      </p:pic>
      <p:sp>
        <p:nvSpPr>
          <p:cNvPr id="29" name="文本框 28">
            <a:extLst>
              <a:ext uri="{FF2B5EF4-FFF2-40B4-BE49-F238E27FC236}">
                <a16:creationId xmlns:a16="http://schemas.microsoft.com/office/drawing/2014/main" id="{D6153F4D-76CB-42AD-9AF5-FB406F0EA658}"/>
              </a:ext>
            </a:extLst>
          </p:cNvPr>
          <p:cNvSpPr txBox="1"/>
          <p:nvPr/>
        </p:nvSpPr>
        <p:spPr>
          <a:xfrm>
            <a:off x="155049" y="3925309"/>
            <a:ext cx="3156285" cy="707886"/>
          </a:xfrm>
          <a:prstGeom prst="rect">
            <a:avLst/>
          </a:prstGeom>
          <a:solidFill>
            <a:schemeClr val="bg1"/>
          </a:solidFill>
        </p:spPr>
        <p:txBody>
          <a:bodyPr wrap="square">
            <a:spAutoFit/>
          </a:bodyPr>
          <a:lstStyle>
            <a:defPPr>
              <a:defRPr lang="zh-CN"/>
            </a:defPPr>
            <a:lvl1pPr>
              <a:defRPr b="0" i="0">
                <a:solidFill>
                  <a:srgbClr val="2C3E50"/>
                </a:solidFill>
                <a:effectLst/>
                <a:latin typeface="-apple-system"/>
              </a:defRPr>
            </a:lvl1pPr>
          </a:lstStyle>
          <a:p>
            <a:r>
              <a:rPr lang="en-US" altLang="zh-CN" sz="2000" dirty="0" err="1">
                <a:solidFill>
                  <a:srgbClr val="0070C0"/>
                </a:solidFill>
              </a:rPr>
              <a:t>errorbar</a:t>
            </a:r>
            <a:r>
              <a:rPr lang="en-US" altLang="zh-CN" sz="2000" dirty="0">
                <a:solidFill>
                  <a:srgbClr val="0070C0"/>
                </a:solidFill>
              </a:rPr>
              <a:t>(</a:t>
            </a:r>
            <a:r>
              <a:rPr lang="en-US" altLang="zh-CN" sz="2000" dirty="0" err="1">
                <a:solidFill>
                  <a:srgbClr val="0070C0"/>
                </a:solidFill>
              </a:rPr>
              <a:t>x,ym,astd,fmt</a:t>
            </a:r>
            <a:r>
              <a:rPr lang="en-US" altLang="zh-CN" sz="2000" dirty="0">
                <a:solidFill>
                  <a:srgbClr val="0070C0"/>
                </a:solidFill>
              </a:rPr>
              <a:t>="-s", </a:t>
            </a:r>
            <a:r>
              <a:rPr lang="zh-CN" altLang="zh-CN" sz="2000" b="1" dirty="0">
                <a:solidFill>
                  <a:srgbClr val="FF0000"/>
                </a:solidFill>
              </a:rPr>
              <a:t>ornt="horizontal</a:t>
            </a:r>
            <a:r>
              <a:rPr lang="zh-CN" altLang="zh-CN" sz="2000" dirty="0"/>
              <a:t>"</a:t>
            </a:r>
            <a:r>
              <a:rPr lang="en-US" altLang="zh-CN" sz="2000" dirty="0"/>
              <a:t>)</a:t>
            </a:r>
          </a:p>
        </p:txBody>
      </p:sp>
      <p:pic>
        <p:nvPicPr>
          <p:cNvPr id="30" name="图片 29">
            <a:extLst>
              <a:ext uri="{FF2B5EF4-FFF2-40B4-BE49-F238E27FC236}">
                <a16:creationId xmlns:a16="http://schemas.microsoft.com/office/drawing/2014/main" id="{85704471-D306-4F6B-875F-E41C7EBBD7F5}"/>
              </a:ext>
            </a:extLst>
          </p:cNvPr>
          <p:cNvPicPr>
            <a:picLocks noChangeAspect="1"/>
          </p:cNvPicPr>
          <p:nvPr/>
        </p:nvPicPr>
        <p:blipFill rotWithShape="1">
          <a:blip r:embed="rId4"/>
          <a:srcRect l="35783" t="29411" r="32416" b="26641"/>
          <a:stretch/>
        </p:blipFill>
        <p:spPr>
          <a:xfrm>
            <a:off x="299019" y="2114379"/>
            <a:ext cx="2436510" cy="1800000"/>
          </a:xfrm>
          <a:prstGeom prst="rect">
            <a:avLst/>
          </a:prstGeom>
          <a:effectLst>
            <a:outerShdw blurRad="63500" sx="102000" sy="102000" algn="ctr" rotWithShape="0">
              <a:prstClr val="black">
                <a:alpha val="40000"/>
              </a:prstClr>
            </a:outerShdw>
          </a:effectLst>
        </p:spPr>
      </p:pic>
      <p:sp>
        <p:nvSpPr>
          <p:cNvPr id="31" name="矩形 30">
            <a:extLst>
              <a:ext uri="{FF2B5EF4-FFF2-40B4-BE49-F238E27FC236}">
                <a16:creationId xmlns:a16="http://schemas.microsoft.com/office/drawing/2014/main" id="{5C311C4C-EC31-4749-BC33-A4E223549ADD}"/>
              </a:ext>
            </a:extLst>
          </p:cNvPr>
          <p:cNvSpPr/>
          <p:nvPr/>
        </p:nvSpPr>
        <p:spPr>
          <a:xfrm>
            <a:off x="768759" y="116433"/>
            <a:ext cx="8110992" cy="492443"/>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26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600" kern="0" dirty="0">
                <a:solidFill>
                  <a:srgbClr val="002060"/>
                </a:solidFill>
                <a:latin typeface="华文楷体" panose="02010600040101010101" pitchFamily="2" charset="-122"/>
                <a:ea typeface="华文楷体" panose="02010600040101010101" pitchFamily="2" charset="-122"/>
              </a:rPr>
              <a:t>3.3.2 </a:t>
            </a:r>
            <a:r>
              <a:rPr lang="zh-CN" altLang="en-US" sz="2600" kern="0" dirty="0">
                <a:solidFill>
                  <a:srgbClr val="002060"/>
                </a:solidFill>
                <a:latin typeface="华文楷体" panose="02010600040101010101" pitchFamily="2" charset="-122"/>
                <a:ea typeface="华文楷体" panose="02010600040101010101" pitchFamily="2" charset="-122"/>
              </a:rPr>
              <a:t>绘制误差条线图</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dirty="0">
                <a:solidFill>
                  <a:srgbClr val="FF0000"/>
                </a:solidFill>
                <a:latin typeface="华文楷体" panose="02010600040101010101" pitchFamily="2" charset="-122"/>
                <a:ea typeface="华文楷体" panose="02010600040101010101" pitchFamily="2" charset="-122"/>
              </a:rPr>
              <a:t>误差条线图</a:t>
            </a:r>
            <a:r>
              <a:rPr lang="en-US" altLang="zh-CN" sz="2600" b="1"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errorbar</a:t>
            </a:r>
            <a:r>
              <a:rPr lang="zh-CN" altLang="en-US" sz="26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案例</a:t>
            </a:r>
            <a:endParaRPr lang="en-US" altLang="zh-CN" sz="2600" b="1" dirty="0">
              <a:solidFill>
                <a:srgbClr val="FF0000"/>
              </a:solidFill>
              <a:latin typeface="华文楷体" panose="02010600040101010101" pitchFamily="2" charset="-122"/>
              <a:ea typeface="华文楷体" panose="02010600040101010101" pitchFamily="2" charset="-122"/>
            </a:endParaRPr>
          </a:p>
        </p:txBody>
      </p:sp>
      <p:pic>
        <p:nvPicPr>
          <p:cNvPr id="32" name="图片 31">
            <a:extLst>
              <a:ext uri="{FF2B5EF4-FFF2-40B4-BE49-F238E27FC236}">
                <a16:creationId xmlns:a16="http://schemas.microsoft.com/office/drawing/2014/main" id="{E84935F5-619B-41FB-8866-82C47DC7657F}"/>
              </a:ext>
            </a:extLst>
          </p:cNvPr>
          <p:cNvPicPr>
            <a:picLocks noChangeAspect="1"/>
          </p:cNvPicPr>
          <p:nvPr/>
        </p:nvPicPr>
        <p:blipFill rotWithShape="1">
          <a:blip r:embed="rId5"/>
          <a:srcRect l="35147" t="28391" r="31169" b="26696"/>
          <a:stretch/>
        </p:blipFill>
        <p:spPr>
          <a:xfrm>
            <a:off x="6635019" y="2094874"/>
            <a:ext cx="2329469" cy="1800000"/>
          </a:xfrm>
          <a:prstGeom prst="rect">
            <a:avLst/>
          </a:prstGeom>
          <a:effectLst>
            <a:outerShdw blurRad="63500" sx="102000" sy="102000" algn="ctr" rotWithShape="0">
              <a:prstClr val="black">
                <a:alpha val="40000"/>
              </a:prstClr>
            </a:outerShdw>
          </a:effectLst>
        </p:spPr>
      </p:pic>
      <p:sp>
        <p:nvSpPr>
          <p:cNvPr id="33" name="文本框 32">
            <a:extLst>
              <a:ext uri="{FF2B5EF4-FFF2-40B4-BE49-F238E27FC236}">
                <a16:creationId xmlns:a16="http://schemas.microsoft.com/office/drawing/2014/main" id="{1279E744-5B5A-426F-B0E5-81C4A3D850D7}"/>
              </a:ext>
            </a:extLst>
          </p:cNvPr>
          <p:cNvSpPr txBox="1"/>
          <p:nvPr/>
        </p:nvSpPr>
        <p:spPr>
          <a:xfrm>
            <a:off x="6610149" y="3950893"/>
            <a:ext cx="2269602" cy="646331"/>
          </a:xfrm>
          <a:prstGeom prst="rect">
            <a:avLst/>
          </a:prstGeom>
          <a:solidFill>
            <a:schemeClr val="bg1"/>
          </a:solidFill>
        </p:spPr>
        <p:txBody>
          <a:bodyPr wrap="square">
            <a:spAutoFit/>
          </a:bodyPr>
          <a:lstStyle/>
          <a:p>
            <a:r>
              <a:rPr lang="en-US" altLang="zh-CN" b="0" i="0" dirty="0">
                <a:solidFill>
                  <a:srgbClr val="2C3E50"/>
                </a:solidFill>
                <a:effectLst/>
                <a:latin typeface="-apple-system"/>
              </a:rPr>
              <a:t> </a:t>
            </a:r>
            <a:r>
              <a:rPr lang="en-US" altLang="zh-CN" b="0" i="0" dirty="0" err="1">
                <a:solidFill>
                  <a:srgbClr val="0070C0"/>
                </a:solidFill>
                <a:effectLst/>
                <a:latin typeface="-apple-system"/>
              </a:rPr>
              <a:t>errorbar</a:t>
            </a:r>
            <a:r>
              <a:rPr lang="en-US" altLang="zh-CN" b="0" i="0" dirty="0">
                <a:solidFill>
                  <a:srgbClr val="0070C0"/>
                </a:solidFill>
                <a:effectLst/>
                <a:latin typeface="-apple-system"/>
              </a:rPr>
              <a:t>(x, </a:t>
            </a:r>
            <a:r>
              <a:rPr lang="en-US" altLang="zh-CN" b="0" i="0" dirty="0" err="1">
                <a:solidFill>
                  <a:srgbClr val="0070C0"/>
                </a:solidFill>
                <a:effectLst/>
                <a:latin typeface="-apple-system"/>
              </a:rPr>
              <a:t>ym</a:t>
            </a:r>
            <a:r>
              <a:rPr lang="en-US" altLang="zh-CN" b="0" i="0" dirty="0">
                <a:solidFill>
                  <a:srgbClr val="0070C0"/>
                </a:solidFill>
                <a:effectLst/>
                <a:latin typeface="-apple-system"/>
              </a:rPr>
              <a:t>, </a:t>
            </a:r>
            <a:r>
              <a:rPr lang="en-US" altLang="zh-CN" b="0" i="0" dirty="0" err="1">
                <a:solidFill>
                  <a:srgbClr val="0070C0"/>
                </a:solidFill>
                <a:effectLst/>
                <a:latin typeface="-apple-system"/>
              </a:rPr>
              <a:t>astd</a:t>
            </a:r>
            <a:r>
              <a:rPr lang="en-US" altLang="zh-CN" b="0" i="0" dirty="0">
                <a:solidFill>
                  <a:srgbClr val="0070C0"/>
                </a:solidFill>
                <a:effectLst/>
                <a:latin typeface="-apple-system"/>
              </a:rPr>
              <a:t>; </a:t>
            </a:r>
            <a:r>
              <a:rPr lang="en-US" altLang="zh-CN" b="0" i="0" dirty="0" err="1">
                <a:solidFill>
                  <a:srgbClr val="FF0000"/>
                </a:solidFill>
                <a:effectLst/>
                <a:latin typeface="-apple-system"/>
              </a:rPr>
              <a:t>ornt</a:t>
            </a:r>
            <a:r>
              <a:rPr lang="en-US" altLang="zh-CN" b="0" i="0" dirty="0">
                <a:solidFill>
                  <a:srgbClr val="FF0000"/>
                </a:solidFill>
                <a:effectLst/>
                <a:latin typeface="-apple-system"/>
              </a:rPr>
              <a:t>="both</a:t>
            </a:r>
            <a:r>
              <a:rPr lang="en-US" altLang="zh-CN" b="1" dirty="0">
                <a:solidFill>
                  <a:srgbClr val="FF0000"/>
                </a:solidFill>
                <a:latin typeface="-apple-system"/>
              </a:rPr>
              <a:t>", </a:t>
            </a:r>
            <a:r>
              <a:rPr lang="en-US" altLang="zh-CN" b="1" dirty="0" err="1">
                <a:solidFill>
                  <a:srgbClr val="FF0000"/>
                </a:solidFill>
                <a:latin typeface="-apple-system"/>
              </a:rPr>
              <a:t>fmt</a:t>
            </a:r>
            <a:r>
              <a:rPr lang="en-US" altLang="zh-CN" b="1" dirty="0">
                <a:solidFill>
                  <a:srgbClr val="FF0000"/>
                </a:solidFill>
                <a:latin typeface="-apple-system"/>
              </a:rPr>
              <a:t>="o")</a:t>
            </a:r>
            <a:endParaRPr lang="zh-CN" altLang="en-US" b="1" dirty="0">
              <a:solidFill>
                <a:srgbClr val="FF0000"/>
              </a:solidFill>
              <a:latin typeface="-apple-system"/>
            </a:endParaRPr>
          </a:p>
        </p:txBody>
      </p:sp>
      <p:sp>
        <p:nvSpPr>
          <p:cNvPr id="34" name="文本框 33">
            <a:extLst>
              <a:ext uri="{FF2B5EF4-FFF2-40B4-BE49-F238E27FC236}">
                <a16:creationId xmlns:a16="http://schemas.microsoft.com/office/drawing/2014/main" id="{6B087F00-1EDA-4782-9E1E-9F13C8EE388E}"/>
              </a:ext>
            </a:extLst>
          </p:cNvPr>
          <p:cNvSpPr txBox="1"/>
          <p:nvPr/>
        </p:nvSpPr>
        <p:spPr>
          <a:xfrm>
            <a:off x="6302974" y="1599829"/>
            <a:ext cx="2817610" cy="369332"/>
          </a:xfrm>
          <a:prstGeom prst="rect">
            <a:avLst/>
          </a:prstGeom>
          <a:solidFill>
            <a:schemeClr val="bg1"/>
          </a:solidFill>
        </p:spPr>
        <p:txBody>
          <a:bodyPr wrap="square">
            <a:spAutoFit/>
          </a:bodyPr>
          <a:lstStyle>
            <a:defPPr>
              <a:defRPr lang="zh-CN"/>
            </a:defPPr>
            <a:lvl1pPr>
              <a:defRPr sz="2000" b="1" i="0">
                <a:solidFill>
                  <a:srgbClr val="33CCFF"/>
                </a:solidFill>
                <a:effectLst/>
                <a:latin typeface="微软雅黑" panose="020B0503020204020204" pitchFamily="34" charset="-122"/>
                <a:ea typeface="微软雅黑" panose="020B0503020204020204" pitchFamily="34" charset="-122"/>
              </a:defRPr>
            </a:lvl1pPr>
          </a:lstStyle>
          <a:p>
            <a:pPr marL="342900" indent="-342900">
              <a:buFont typeface="+mj-ea"/>
              <a:buAutoNum type="circleNumDbPlain" startAt="3"/>
            </a:pPr>
            <a:r>
              <a:rPr lang="zh-CN" altLang="en-US" sz="1800" dirty="0">
                <a:solidFill>
                  <a:srgbClr val="00B0F0"/>
                </a:solidFill>
              </a:rPr>
              <a:t>绘制不带线条的误差条</a:t>
            </a:r>
          </a:p>
        </p:txBody>
      </p:sp>
      <p:sp>
        <p:nvSpPr>
          <p:cNvPr id="35" name="文本框 34">
            <a:extLst>
              <a:ext uri="{FF2B5EF4-FFF2-40B4-BE49-F238E27FC236}">
                <a16:creationId xmlns:a16="http://schemas.microsoft.com/office/drawing/2014/main" id="{12F89E17-5525-4EC3-A96C-49AEA6124DC8}"/>
              </a:ext>
            </a:extLst>
          </p:cNvPr>
          <p:cNvSpPr txBox="1"/>
          <p:nvPr/>
        </p:nvSpPr>
        <p:spPr>
          <a:xfrm>
            <a:off x="3236118" y="1577794"/>
            <a:ext cx="2899630" cy="369332"/>
          </a:xfrm>
          <a:prstGeom prst="rect">
            <a:avLst/>
          </a:prstGeom>
          <a:solidFill>
            <a:schemeClr val="bg1"/>
          </a:solidFill>
        </p:spPr>
        <p:txBody>
          <a:bodyPr wrap="square">
            <a:spAutoFit/>
          </a:bodyPr>
          <a:lstStyle>
            <a:defPPr>
              <a:defRPr lang="zh-CN"/>
            </a:defPPr>
            <a:lvl1pPr>
              <a:defRPr sz="1800" b="1" i="0">
                <a:solidFill>
                  <a:srgbClr val="33CCFF"/>
                </a:solidFill>
                <a:effectLst/>
                <a:latin typeface="微软雅黑" panose="020B0503020204020204" pitchFamily="34" charset="-122"/>
                <a:ea typeface="微软雅黑" panose="020B0503020204020204" pitchFamily="34" charset="-122"/>
              </a:defRPr>
            </a:lvl1pPr>
          </a:lstStyle>
          <a:p>
            <a:pPr marL="342900" indent="-342900">
              <a:buFont typeface="+mj-ea"/>
              <a:buAutoNum type="circleNumDbPlain" startAt="2"/>
            </a:pPr>
            <a:r>
              <a:rPr lang="zh-CN" altLang="en-US" dirty="0">
                <a:solidFill>
                  <a:srgbClr val="00B0F0"/>
                </a:solidFill>
              </a:rPr>
              <a:t>绘制垂直和水平误差条</a:t>
            </a:r>
          </a:p>
        </p:txBody>
      </p:sp>
      <p:sp>
        <p:nvSpPr>
          <p:cNvPr id="36" name="文本框 35">
            <a:extLst>
              <a:ext uri="{FF2B5EF4-FFF2-40B4-BE49-F238E27FC236}">
                <a16:creationId xmlns:a16="http://schemas.microsoft.com/office/drawing/2014/main" id="{149A863B-477A-45AC-A1BB-73168A168229}"/>
              </a:ext>
            </a:extLst>
          </p:cNvPr>
          <p:cNvSpPr txBox="1"/>
          <p:nvPr/>
        </p:nvSpPr>
        <p:spPr>
          <a:xfrm>
            <a:off x="145495" y="1615075"/>
            <a:ext cx="2208134" cy="369332"/>
          </a:xfrm>
          <a:prstGeom prst="rect">
            <a:avLst/>
          </a:prstGeom>
          <a:solidFill>
            <a:schemeClr val="bg1"/>
          </a:solidFill>
        </p:spPr>
        <p:txBody>
          <a:bodyPr wrap="square">
            <a:spAutoFit/>
          </a:bodyPr>
          <a:lstStyle>
            <a:defPPr>
              <a:defRPr lang="zh-CN"/>
            </a:defPPr>
            <a:lvl1pPr>
              <a:defRPr sz="1600" b="0" i="0">
                <a:solidFill>
                  <a:srgbClr val="33CCFF"/>
                </a:solidFill>
                <a:effectLst/>
                <a:latin typeface="华文楷体" panose="02010600040101010101" pitchFamily="2" charset="-122"/>
                <a:ea typeface="华文楷体" panose="02010600040101010101" pitchFamily="2" charset="-122"/>
              </a:defRPr>
            </a:lvl1pPr>
          </a:lstStyle>
          <a:p>
            <a:pPr marL="342900" indent="-342900">
              <a:buFont typeface="+mj-ea"/>
              <a:buAutoNum type="circleNumDbPlain"/>
            </a:pPr>
            <a:r>
              <a:rPr lang="zh-CN" altLang="en-US" sz="1800" b="1" dirty="0">
                <a:solidFill>
                  <a:srgbClr val="00B0F0"/>
                </a:solidFill>
                <a:latin typeface="微软雅黑" panose="020B0503020204020204" pitchFamily="34" charset="-122"/>
                <a:ea typeface="微软雅黑" panose="020B0503020204020204" pitchFamily="34" charset="-122"/>
              </a:rPr>
              <a:t>绘制水平误差条</a:t>
            </a:r>
          </a:p>
        </p:txBody>
      </p:sp>
      <p:sp>
        <p:nvSpPr>
          <p:cNvPr id="37" name="波形 36">
            <a:extLst>
              <a:ext uri="{FF2B5EF4-FFF2-40B4-BE49-F238E27FC236}">
                <a16:creationId xmlns:a16="http://schemas.microsoft.com/office/drawing/2014/main" id="{DEA6AB7C-318D-4F68-8038-3E0FFB7DD522}"/>
              </a:ext>
            </a:extLst>
          </p:cNvPr>
          <p:cNvSpPr/>
          <p:nvPr/>
        </p:nvSpPr>
        <p:spPr>
          <a:xfrm>
            <a:off x="0" y="226324"/>
            <a:ext cx="551269" cy="36933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sz="2000" b="1" dirty="0">
                <a:solidFill>
                  <a:srgbClr val="FFFF00"/>
                </a:solidFill>
                <a:latin typeface="微软雅黑" panose="020B0503020204020204" charset="-122"/>
                <a:ea typeface="微软雅黑" panose="020B0503020204020204" charset="-122"/>
              </a:rPr>
              <a:t>例</a:t>
            </a:r>
            <a:r>
              <a:rPr lang="en-US" altLang="zh-CN" sz="2000" b="1" dirty="0">
                <a:solidFill>
                  <a:srgbClr val="FFFF00"/>
                </a:solidFill>
                <a:latin typeface="微软雅黑" panose="020B0503020204020204" charset="-122"/>
                <a:ea typeface="微软雅黑" panose="020B0503020204020204" charset="-122"/>
              </a:rPr>
              <a:t>5</a:t>
            </a:r>
            <a:endParaRPr lang="ko-KR" altLang="en-US" sz="2000" b="1" dirty="0">
              <a:solidFill>
                <a:srgbClr val="FFFF00"/>
              </a:solidFill>
              <a:latin typeface="微软雅黑" panose="020B0503020204020204" charset="-122"/>
              <a:ea typeface="微软雅黑" panose="020B0503020204020204" charset="-122"/>
            </a:endParaRPr>
          </a:p>
        </p:txBody>
      </p:sp>
      <p:sp>
        <p:nvSpPr>
          <p:cNvPr id="38" name="文本框 37">
            <a:extLst>
              <a:ext uri="{FF2B5EF4-FFF2-40B4-BE49-F238E27FC236}">
                <a16:creationId xmlns:a16="http://schemas.microsoft.com/office/drawing/2014/main" id="{29A64E76-AFFB-416F-B430-59CA0C45DC92}"/>
              </a:ext>
            </a:extLst>
          </p:cNvPr>
          <p:cNvSpPr txBox="1"/>
          <p:nvPr/>
        </p:nvSpPr>
        <p:spPr>
          <a:xfrm>
            <a:off x="275634" y="714227"/>
            <a:ext cx="2280142" cy="430887"/>
          </a:xfrm>
          <a:prstGeom prst="rect">
            <a:avLst/>
          </a:prstGeom>
          <a:solidFill>
            <a:schemeClr val="bg1"/>
          </a:solidFill>
        </p:spPr>
        <p:txBody>
          <a:bodyPr wrap="square">
            <a:spAutoFit/>
          </a:bodyPr>
          <a:lstStyle>
            <a:defPPr>
              <a:defRPr lang="zh-CN"/>
            </a:defPPr>
            <a:lvl1pPr>
              <a:defRPr sz="1800" b="1" i="0">
                <a:solidFill>
                  <a:srgbClr val="33CCFF"/>
                </a:solidFill>
                <a:effectLst/>
                <a:latin typeface="微软雅黑" panose="020B0503020204020204" pitchFamily="34" charset="-122"/>
                <a:ea typeface="微软雅黑" panose="020B0503020204020204" pitchFamily="34" charset="-122"/>
              </a:defRPr>
            </a:lvl1pPr>
          </a:lstStyle>
          <a:p>
            <a:r>
              <a:rPr lang="zh-CN" altLang="en-US" sz="2200" dirty="0">
                <a:solidFill>
                  <a:srgbClr val="0070C0"/>
                </a:solidFill>
              </a:rPr>
              <a:t>误差条方向</a:t>
            </a:r>
            <a:r>
              <a:rPr lang="en-US" altLang="zh-CN" sz="2200" dirty="0" err="1">
                <a:solidFill>
                  <a:srgbClr val="0070C0"/>
                </a:solidFill>
              </a:rPr>
              <a:t>ornt</a:t>
            </a:r>
            <a:endParaRPr lang="zh-CN" altLang="en-US" sz="2200" dirty="0">
              <a:solidFill>
                <a:srgbClr val="0070C0"/>
              </a:solidFill>
            </a:endParaRPr>
          </a:p>
        </p:txBody>
      </p:sp>
      <p:sp>
        <p:nvSpPr>
          <p:cNvPr id="39" name="文本框 38">
            <a:extLst>
              <a:ext uri="{FF2B5EF4-FFF2-40B4-BE49-F238E27FC236}">
                <a16:creationId xmlns:a16="http://schemas.microsoft.com/office/drawing/2014/main" id="{A10B5B74-9A17-40D6-9605-51B0F2B55429}"/>
              </a:ext>
            </a:extLst>
          </p:cNvPr>
          <p:cNvSpPr txBox="1"/>
          <p:nvPr/>
        </p:nvSpPr>
        <p:spPr>
          <a:xfrm>
            <a:off x="35496" y="1164651"/>
            <a:ext cx="9108504" cy="369332"/>
          </a:xfrm>
          <a:prstGeom prst="rect">
            <a:avLst/>
          </a:prstGeom>
          <a:noFill/>
        </p:spPr>
        <p:txBody>
          <a:bodyPr wrap="square">
            <a:spAutoFit/>
          </a:bodyPr>
          <a:lstStyle/>
          <a:p>
            <a:pPr algn="l"/>
            <a:r>
              <a:rPr lang="en-US" altLang="zh-CN" b="1" i="0" dirty="0">
                <a:solidFill>
                  <a:srgbClr val="FF0000"/>
                </a:solidFill>
                <a:effectLst/>
                <a:latin typeface="微软雅黑" panose="020B0503020204020204" pitchFamily="34" charset="-122"/>
                <a:ea typeface="微软雅黑" panose="020B0503020204020204" pitchFamily="34" charset="-122"/>
              </a:rPr>
              <a:t>“vertical”</a:t>
            </a:r>
            <a:r>
              <a:rPr lang="zh-CN" altLang="en-US" b="1" i="0" dirty="0">
                <a:solidFill>
                  <a:srgbClr val="0070C0"/>
                </a:solidFill>
                <a:effectLst/>
                <a:latin typeface="微软雅黑" panose="020B0503020204020204" pitchFamily="34" charset="-122"/>
                <a:ea typeface="微软雅黑" panose="020B0503020204020204" pitchFamily="34" charset="-122"/>
              </a:rPr>
              <a:t>垂直误差，默认</a:t>
            </a:r>
            <a:r>
              <a:rPr lang="en-US" altLang="zh-CN" b="1" i="0" dirty="0">
                <a:solidFill>
                  <a:srgbClr val="0070C0"/>
                </a:solidFill>
                <a:effectLst/>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a:t>
            </a:r>
            <a:r>
              <a:rPr lang="en-US" altLang="zh-CN" b="1" dirty="0">
                <a:solidFill>
                  <a:srgbClr val="FF0000"/>
                </a:solidFill>
                <a:latin typeface="微软雅黑" panose="020B0503020204020204" pitchFamily="34" charset="-122"/>
                <a:ea typeface="微软雅黑" panose="020B0503020204020204" pitchFamily="34" charset="-122"/>
              </a:rPr>
              <a:t>horizontal”</a:t>
            </a:r>
            <a:r>
              <a:rPr lang="zh-CN" altLang="en-US" b="1" i="0" dirty="0">
                <a:solidFill>
                  <a:srgbClr val="0070C0"/>
                </a:solidFill>
                <a:effectLst/>
                <a:latin typeface="微软雅黑" panose="020B0503020204020204" pitchFamily="34" charset="-122"/>
                <a:ea typeface="微软雅黑" panose="020B0503020204020204" pitchFamily="34" charset="-122"/>
              </a:rPr>
              <a:t>水平误差</a:t>
            </a:r>
            <a:r>
              <a:rPr lang="en-US" altLang="zh-CN" b="1" i="0" dirty="0">
                <a:solidFill>
                  <a:srgbClr val="0070C0"/>
                </a:solidFill>
                <a:effectLst/>
                <a:latin typeface="微软雅黑" panose="020B0503020204020204" pitchFamily="34" charset="-122"/>
                <a:ea typeface="微软雅黑" panose="020B0503020204020204" pitchFamily="34" charset="-122"/>
              </a:rPr>
              <a:t>;</a:t>
            </a:r>
            <a:r>
              <a:rPr lang="zh-CN" altLang="en-US" b="1" dirty="0">
                <a:solidFill>
                  <a:srgbClr val="FF0000"/>
                </a:solidFill>
                <a:latin typeface="微软雅黑" panose="020B0503020204020204" pitchFamily="34" charset="-122"/>
                <a:ea typeface="微软雅黑" panose="020B0503020204020204" pitchFamily="34" charset="-122"/>
              </a:rPr>
              <a:t>“</a:t>
            </a:r>
            <a:r>
              <a:rPr lang="en-US" altLang="zh-CN" b="1" dirty="0">
                <a:solidFill>
                  <a:srgbClr val="FF0000"/>
                </a:solidFill>
                <a:latin typeface="微软雅黑" panose="020B0503020204020204" pitchFamily="34" charset="-122"/>
                <a:ea typeface="微软雅黑" panose="020B0503020204020204" pitchFamily="34" charset="-122"/>
              </a:rPr>
              <a:t>both”</a:t>
            </a:r>
            <a:r>
              <a:rPr lang="zh-CN" altLang="en-US" b="1" i="0" dirty="0">
                <a:solidFill>
                  <a:srgbClr val="0070C0"/>
                </a:solidFill>
                <a:effectLst/>
                <a:latin typeface="微软雅黑" panose="020B0503020204020204" pitchFamily="34" charset="-122"/>
                <a:ea typeface="微软雅黑" panose="020B0503020204020204" pitchFamily="34" charset="-122"/>
              </a:rPr>
              <a:t>水平垂直误差</a:t>
            </a:r>
          </a:p>
        </p:txBody>
      </p:sp>
      <p:sp>
        <p:nvSpPr>
          <p:cNvPr id="18" name="矩形 17">
            <a:extLst>
              <a:ext uri="{FF2B5EF4-FFF2-40B4-BE49-F238E27FC236}">
                <a16:creationId xmlns:a16="http://schemas.microsoft.com/office/drawing/2014/main" id="{690C40E0-8DB3-4EF9-AAF5-AC7798492419}"/>
              </a:ext>
            </a:extLst>
          </p:cNvPr>
          <p:cNvSpPr/>
          <p:nvPr/>
        </p:nvSpPr>
        <p:spPr>
          <a:xfrm>
            <a:off x="2472567" y="715637"/>
            <a:ext cx="3692865" cy="430887"/>
          </a:xfrm>
          <a:prstGeom prst="rect">
            <a:avLst/>
          </a:prstGeom>
          <a:noFill/>
          <a:ln w="38100">
            <a:noFill/>
          </a:ln>
          <a:scene3d>
            <a:camera prst="orthographicFront"/>
            <a:lightRig rig="threePt" dir="t"/>
          </a:scene3d>
          <a:sp3d>
            <a:bevelT prst="angle"/>
          </a:sp3d>
        </p:spPr>
        <p:txBody>
          <a:bodyPr wrap="square">
            <a:spAutoFit/>
          </a:bodyPr>
          <a:lstStyle/>
          <a:p>
            <a:pPr algn="dist"/>
            <a:r>
              <a:rPr lang="en-US" altLang="zh-CN" sz="2200" b="1" dirty="0" err="1">
                <a:solidFill>
                  <a:schemeClr val="bg1"/>
                </a:solidFill>
                <a:highlight>
                  <a:srgbClr val="3399FF"/>
                </a:highlight>
                <a:latin typeface="华文楷体" panose="02010600040101010101" pitchFamily="2" charset="-122"/>
                <a:ea typeface="华文楷体" panose="02010600040101010101" pitchFamily="2" charset="-122"/>
                <a:sym typeface="Arial" panose="020B0604020202020204" pitchFamily="34" charset="0"/>
              </a:rPr>
              <a:t>errorbar</a:t>
            </a:r>
            <a:r>
              <a:rPr lang="en-US" altLang="zh-CN" sz="2200" b="1" dirty="0">
                <a:solidFill>
                  <a:schemeClr val="bg1"/>
                </a:solidFill>
                <a:highlight>
                  <a:srgbClr val="3399FF"/>
                </a:highlight>
                <a:latin typeface="华文楷体" panose="02010600040101010101" pitchFamily="2" charset="-122"/>
                <a:ea typeface="华文楷体" panose="02010600040101010101" pitchFamily="2" charset="-122"/>
                <a:sym typeface="Arial" panose="020B0604020202020204" pitchFamily="34" charset="0"/>
              </a:rPr>
              <a:t>(</a:t>
            </a:r>
            <a:r>
              <a:rPr lang="en-US" altLang="zh-CN" sz="2200" b="1" dirty="0" err="1">
                <a:solidFill>
                  <a:schemeClr val="bg1"/>
                </a:solidFill>
                <a:highlight>
                  <a:srgbClr val="3399FF"/>
                </a:highlight>
                <a:latin typeface="华文楷体" panose="02010600040101010101" pitchFamily="2" charset="-122"/>
                <a:ea typeface="华文楷体" panose="02010600040101010101" pitchFamily="2" charset="-122"/>
                <a:sym typeface="Arial" panose="020B0604020202020204" pitchFamily="34" charset="0"/>
              </a:rPr>
              <a:t>x,y,err,</a:t>
            </a:r>
            <a:r>
              <a:rPr lang="en-US" altLang="zh-CN" sz="2200" b="1" dirty="0" err="1">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ornt</a:t>
            </a:r>
            <a:r>
              <a:rPr lang="en-US" altLang="zh-CN" sz="2200" b="1" dirty="0">
                <a:solidFill>
                  <a:srgbClr val="FFFF00"/>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=value</a:t>
            </a:r>
            <a:r>
              <a:rPr lang="en-US" altLang="zh-CN" sz="2200" b="1" dirty="0">
                <a:solidFill>
                  <a:schemeClr val="bg1"/>
                </a:solidFill>
                <a:highlight>
                  <a:srgbClr val="003B76"/>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17" name="文本框 16">
            <a:extLst>
              <a:ext uri="{FF2B5EF4-FFF2-40B4-BE49-F238E27FC236}">
                <a16:creationId xmlns:a16="http://schemas.microsoft.com/office/drawing/2014/main" id="{1C7F9CB8-3A15-43CE-BC8D-9D14FA74AD35}"/>
              </a:ext>
            </a:extLst>
          </p:cNvPr>
          <p:cNvSpPr txBox="1"/>
          <p:nvPr/>
        </p:nvSpPr>
        <p:spPr>
          <a:xfrm>
            <a:off x="3385986" y="3920116"/>
            <a:ext cx="3156285" cy="707886"/>
          </a:xfrm>
          <a:prstGeom prst="rect">
            <a:avLst/>
          </a:prstGeom>
          <a:solidFill>
            <a:schemeClr val="bg1"/>
          </a:solidFill>
        </p:spPr>
        <p:txBody>
          <a:bodyPr wrap="square">
            <a:spAutoFit/>
          </a:bodyPr>
          <a:lstStyle>
            <a:defPPr>
              <a:defRPr lang="zh-CN"/>
            </a:defPPr>
            <a:lvl1pPr>
              <a:defRPr sz="2000" b="0" i="0">
                <a:solidFill>
                  <a:srgbClr val="2C3E50"/>
                </a:solidFill>
                <a:effectLst/>
                <a:latin typeface="-apple-system"/>
              </a:defRPr>
            </a:lvl1pPr>
          </a:lstStyle>
          <a:p>
            <a:r>
              <a:rPr lang="en-US" altLang="zh-CN" dirty="0" err="1">
                <a:solidFill>
                  <a:srgbClr val="0070C0"/>
                </a:solidFill>
              </a:rPr>
              <a:t>errorbar</a:t>
            </a:r>
            <a:r>
              <a:rPr lang="en-US" altLang="zh-CN" dirty="0">
                <a:solidFill>
                  <a:srgbClr val="0070C0"/>
                </a:solidFill>
              </a:rPr>
              <a:t>(</a:t>
            </a:r>
            <a:r>
              <a:rPr lang="en-US" altLang="zh-CN" dirty="0" err="1">
                <a:solidFill>
                  <a:srgbClr val="0070C0"/>
                </a:solidFill>
              </a:rPr>
              <a:t>x,ym,astd,fmt</a:t>
            </a:r>
            <a:r>
              <a:rPr lang="en-US" altLang="zh-CN" dirty="0">
                <a:solidFill>
                  <a:srgbClr val="0070C0"/>
                </a:solidFill>
              </a:rPr>
              <a:t>="-s", </a:t>
            </a:r>
            <a:r>
              <a:rPr lang="en-US" altLang="zh-CN" b="1" dirty="0" err="1">
                <a:solidFill>
                  <a:srgbClr val="FF0000"/>
                </a:solidFill>
              </a:rPr>
              <a:t>ornt</a:t>
            </a:r>
            <a:r>
              <a:rPr lang="en-US" altLang="zh-CN" b="1" dirty="0">
                <a:solidFill>
                  <a:srgbClr val="FF0000"/>
                </a:solidFill>
              </a:rPr>
              <a:t>="both</a:t>
            </a:r>
            <a:r>
              <a:rPr lang="en-US" altLang="zh-CN" dirty="0"/>
              <a:t>")</a:t>
            </a:r>
          </a:p>
        </p:txBody>
      </p:sp>
    </p:spTree>
    <p:extLst>
      <p:ext uri="{BB962C8B-B14F-4D97-AF65-F5344CB8AC3E}">
        <p14:creationId xmlns:p14="http://schemas.microsoft.com/office/powerpoint/2010/main" val="295756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3" grpId="0" animBg="1"/>
      <p:bldP spid="34" grpId="0" animBg="1"/>
      <p:bldP spid="35" grpId="0" animBg="1"/>
      <p:bldP spid="36" grpId="0" animBg="1"/>
      <p:bldP spid="39" grpId="0"/>
      <p:bldP spid="18" grpId="0"/>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EEF77498-AB9F-0693-AD13-4D14007B97FD}"/>
              </a:ext>
            </a:extLst>
          </p:cNvPr>
          <p:cNvPicPr>
            <a:picLocks noChangeAspect="1"/>
          </p:cNvPicPr>
          <p:nvPr/>
        </p:nvPicPr>
        <p:blipFill rotWithShape="1">
          <a:blip r:embed="rId3"/>
          <a:srcRect l="55512" t="12201" r="8263" b="33200"/>
          <a:stretch/>
        </p:blipFill>
        <p:spPr>
          <a:xfrm>
            <a:off x="509341" y="2747493"/>
            <a:ext cx="2935409" cy="1856335"/>
          </a:xfrm>
          <a:prstGeom prst="rect">
            <a:avLst/>
          </a:prstGeom>
          <a:ln>
            <a:solidFill>
              <a:schemeClr val="bg1">
                <a:lumMod val="50000"/>
              </a:schemeClr>
            </a:solidFill>
          </a:ln>
        </p:spPr>
      </p:pic>
      <p:sp>
        <p:nvSpPr>
          <p:cNvPr id="3" name="波形 2">
            <a:extLst>
              <a:ext uri="{FF2B5EF4-FFF2-40B4-BE49-F238E27FC236}">
                <a16:creationId xmlns:a16="http://schemas.microsoft.com/office/drawing/2014/main" id="{56135FE8-0A67-A88D-0753-623ACE82AA2C}"/>
              </a:ext>
            </a:extLst>
          </p:cNvPr>
          <p:cNvSpPr/>
          <p:nvPr/>
        </p:nvSpPr>
        <p:spPr>
          <a:xfrm>
            <a:off x="67604" y="640922"/>
            <a:ext cx="531794" cy="41866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68580" tIns="34290" rIns="68580" bIns="3429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例6</a:t>
            </a:r>
            <a:endParaRPr lang="ko-KR" altLang="en-US" b="1" dirty="0">
              <a:solidFill>
                <a:srgbClr val="FFFF00"/>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1D304A0A-278D-4F77-A2E2-CAC37E5E43B8}"/>
              </a:ext>
            </a:extLst>
          </p:cNvPr>
          <p:cNvSpPr/>
          <p:nvPr/>
        </p:nvSpPr>
        <p:spPr>
          <a:xfrm>
            <a:off x="743495" y="95537"/>
            <a:ext cx="8378825" cy="523220"/>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 </a:t>
            </a:r>
            <a:r>
              <a:rPr lang="en-US" altLang="zh-CN" sz="2800" kern="0" dirty="0">
                <a:solidFill>
                  <a:srgbClr val="002060"/>
                </a:solidFill>
                <a:latin typeface="华文楷体" panose="02010600040101010101" pitchFamily="2" charset="-122"/>
                <a:ea typeface="华文楷体" panose="02010600040101010101" pitchFamily="2" charset="-122"/>
              </a:rPr>
              <a:t>3.3.2 </a:t>
            </a:r>
            <a:r>
              <a:rPr lang="zh-CN" altLang="en-US" sz="2800" kern="0" dirty="0">
                <a:solidFill>
                  <a:srgbClr val="002060"/>
                </a:solidFill>
                <a:latin typeface="华文楷体" panose="02010600040101010101" pitchFamily="2" charset="-122"/>
                <a:ea typeface="华文楷体" panose="02010600040101010101" pitchFamily="2" charset="-122"/>
              </a:rPr>
              <a:t>绘制误差条图</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误差条图</a:t>
            </a:r>
            <a:r>
              <a:rPr lang="en-US" altLang="zh-CN" sz="2800" b="1"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errorbar</a:t>
            </a:r>
            <a:r>
              <a:rPr lang="zh-CN" altLang="en-US" sz="28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案例</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sp>
        <p:nvSpPr>
          <p:cNvPr id="2" name="标题 1">
            <a:extLst>
              <a:ext uri="{FF2B5EF4-FFF2-40B4-BE49-F238E27FC236}">
                <a16:creationId xmlns:a16="http://schemas.microsoft.com/office/drawing/2014/main" id="{4ABBE966-EBB6-9710-C341-22DDA124F8C8}"/>
              </a:ext>
            </a:extLst>
          </p:cNvPr>
          <p:cNvSpPr>
            <a:spLocks noGrp="1"/>
          </p:cNvSpPr>
          <p:nvPr>
            <p:ph type="title"/>
          </p:nvPr>
        </p:nvSpPr>
        <p:spPr>
          <a:xfrm>
            <a:off x="1056625" y="2747494"/>
            <a:ext cx="2519845" cy="328559"/>
          </a:xfrm>
          <a:solidFill>
            <a:schemeClr val="bg1"/>
          </a:solidFill>
        </p:spPr>
        <p:txBody>
          <a:bodyPr/>
          <a:lstStyle/>
          <a:p>
            <a:br>
              <a:rPr lang="en-US" altLang="zh-CN" sz="2000" b="1" i="0" dirty="0">
                <a:solidFill>
                  <a:srgbClr val="D57747"/>
                </a:solidFill>
                <a:effectLst/>
                <a:latin typeface="-apple-system"/>
              </a:rPr>
            </a:br>
            <a:br>
              <a:rPr lang="en-US" altLang="zh-CN" sz="2000" b="1" i="0" dirty="0">
                <a:solidFill>
                  <a:srgbClr val="D57747"/>
                </a:solidFill>
                <a:effectLst/>
                <a:latin typeface="-apple-system"/>
              </a:rPr>
            </a:br>
            <a:br>
              <a:rPr lang="en-US" altLang="zh-CN" sz="2000" b="1" i="0" dirty="0">
                <a:solidFill>
                  <a:srgbClr val="D57747"/>
                </a:solidFill>
                <a:effectLst/>
                <a:latin typeface="-apple-system"/>
              </a:rPr>
            </a:br>
            <a:br>
              <a:rPr lang="en-US" altLang="zh-CN" sz="2000" b="1" i="0" dirty="0">
                <a:solidFill>
                  <a:srgbClr val="D57747"/>
                </a:solidFill>
                <a:effectLst/>
                <a:latin typeface="-apple-system"/>
              </a:rPr>
            </a:br>
            <a:br>
              <a:rPr lang="en-US" altLang="zh-CN" sz="2000" b="1" i="0" dirty="0">
                <a:solidFill>
                  <a:srgbClr val="D57747"/>
                </a:solidFill>
                <a:effectLst/>
                <a:latin typeface="-apple-system"/>
              </a:rPr>
            </a:br>
            <a:br>
              <a:rPr lang="en-US" altLang="zh-CN" sz="2000" b="1" i="0" dirty="0">
                <a:solidFill>
                  <a:srgbClr val="D57747"/>
                </a:solidFill>
                <a:effectLst/>
                <a:latin typeface="-apple-system"/>
              </a:rPr>
            </a:br>
            <a:br>
              <a:rPr lang="en-US" altLang="zh-CN" sz="2000" b="1" i="0" dirty="0">
                <a:solidFill>
                  <a:srgbClr val="D57747"/>
                </a:solidFill>
                <a:effectLst/>
                <a:latin typeface="-apple-system"/>
              </a:rPr>
            </a:br>
            <a:r>
              <a:rPr lang="zh-CN" altLang="en-US" sz="2000" b="1" i="0" dirty="0">
                <a:solidFill>
                  <a:srgbClr val="D57747"/>
                </a:solidFill>
                <a:effectLst/>
                <a:latin typeface="-apple-system"/>
              </a:rPr>
              <a:t>带有误差条的条形图</a:t>
            </a:r>
            <a:endParaRPr lang="zh-CN" altLang="en-US" sz="2000" dirty="0"/>
          </a:p>
        </p:txBody>
      </p:sp>
      <p:sp>
        <p:nvSpPr>
          <p:cNvPr id="8" name="文本框 7">
            <a:extLst>
              <a:ext uri="{FF2B5EF4-FFF2-40B4-BE49-F238E27FC236}">
                <a16:creationId xmlns:a16="http://schemas.microsoft.com/office/drawing/2014/main" id="{DAD5C6F2-9C65-414F-BD27-5A397E16571D}"/>
              </a:ext>
            </a:extLst>
          </p:cNvPr>
          <p:cNvSpPr txBox="1"/>
          <p:nvPr/>
        </p:nvSpPr>
        <p:spPr>
          <a:xfrm>
            <a:off x="4627847" y="949235"/>
            <a:ext cx="4061053" cy="3747180"/>
          </a:xfrm>
          <a:prstGeom prst="rect">
            <a:avLst/>
          </a:prstGeom>
          <a:noFill/>
        </p:spPr>
        <p:txBody>
          <a:bodyPr wrap="square">
            <a:spAutoFit/>
          </a:bodyPr>
          <a:lstStyle/>
          <a:p>
            <a:pPr>
              <a:lnSpc>
                <a:spcPts val="1900"/>
              </a:lnSpc>
            </a:pPr>
            <a:r>
              <a:rPr lang="en-US" altLang="zh-CN" b="1" dirty="0">
                <a:solidFill>
                  <a:srgbClr val="FF0000"/>
                </a:solidFill>
                <a:latin typeface="华文楷体" panose="02010600040101010101" pitchFamily="2" charset="-122"/>
                <a:ea typeface="华文楷体" panose="02010600040101010101" pitchFamily="2" charset="-122"/>
              </a:rPr>
              <a:t>bar(</a:t>
            </a:r>
            <a:r>
              <a:rPr lang="en-US" altLang="zh-CN" b="1" dirty="0" err="1">
                <a:solidFill>
                  <a:srgbClr val="FF0000"/>
                </a:solidFill>
                <a:latin typeface="华文楷体" panose="02010600040101010101" pitchFamily="2" charset="-122"/>
                <a:ea typeface="华文楷体" panose="02010600040101010101" pitchFamily="2" charset="-122"/>
              </a:rPr>
              <a:t>x,ym</a:t>
            </a:r>
            <a:r>
              <a:rPr lang="en-US" altLang="zh-CN" b="1" dirty="0">
                <a:solidFill>
                  <a:srgbClr val="FF0000"/>
                </a:solidFill>
                <a:latin typeface="华文楷体" panose="02010600040101010101" pitchFamily="2" charset="-122"/>
                <a:ea typeface="华文楷体" panose="02010600040101010101" pitchFamily="2" charset="-122"/>
              </a:rPr>
              <a:t>)</a:t>
            </a:r>
          </a:p>
          <a:p>
            <a:pPr>
              <a:lnSpc>
                <a:spcPts val="1900"/>
              </a:lnSpc>
            </a:pPr>
            <a:r>
              <a:rPr lang="en-US" altLang="zh-CN" b="1" dirty="0">
                <a:solidFill>
                  <a:srgbClr val="FF0000"/>
                </a:solidFill>
                <a:latin typeface="华文楷体" panose="02010600040101010101" pitchFamily="2" charset="-122"/>
                <a:ea typeface="华文楷体" panose="02010600040101010101" pitchFamily="2" charset="-122"/>
              </a:rPr>
              <a:t>hold("on")</a:t>
            </a:r>
          </a:p>
          <a:p>
            <a:pPr>
              <a:lnSpc>
                <a:spcPts val="1900"/>
              </a:lnSpc>
            </a:pP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er = </a:t>
            </a:r>
            <a:r>
              <a:rPr lang="en-US" altLang="zh-CN" b="1"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errorbar</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(x, </a:t>
            </a:r>
            <a:r>
              <a:rPr lang="en-US" altLang="zh-CN" b="1"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ym</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t>
            </a:r>
            <a:r>
              <a:rPr lang="en-US" altLang="zh-CN" b="1"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astd</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er[1].</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set_linestyle</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("none"); </a:t>
            </a:r>
          </a:p>
          <a:p>
            <a:pPr>
              <a:lnSpc>
                <a:spcPts val="1900"/>
              </a:lnSpc>
            </a:pP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plt_update</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set_colors</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(er, [0 0 0])</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er[1].</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set_linestyle</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("none"); </a:t>
            </a:r>
          </a:p>
          <a:p>
            <a:pPr>
              <a:lnSpc>
                <a:spcPts val="1900"/>
              </a:lnSpc>
            </a:pP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plt_update</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function </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set_colors</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(obj, colors)</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for </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i</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 1:length(obj[2])</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obj[2][</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i</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set_color</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(colors)</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end</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obj[3][1].</a:t>
            </a:r>
            <a:r>
              <a:rPr lang="en-US" altLang="zh-CN" sz="1600" b="1" dirty="0" err="1">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set_color</a:t>
            </a: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(colors)</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       end</a:t>
            </a:r>
          </a:p>
          <a:p>
            <a:pPr>
              <a:lnSpc>
                <a:spcPts val="1900"/>
              </a:lnSpc>
            </a:pPr>
            <a:r>
              <a:rPr lang="en-US" altLang="zh-CN"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hold("off")</a:t>
            </a:r>
            <a:endParaRPr lang="zh-CN" altLang="en-US" sz="16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0" name="矩形 9">
            <a:extLst>
              <a:ext uri="{FF2B5EF4-FFF2-40B4-BE49-F238E27FC236}">
                <a16:creationId xmlns:a16="http://schemas.microsoft.com/office/drawing/2014/main" id="{8DEB96C3-9905-4682-AFF1-4C7D7595B285}"/>
              </a:ext>
            </a:extLst>
          </p:cNvPr>
          <p:cNvSpPr/>
          <p:nvPr/>
        </p:nvSpPr>
        <p:spPr>
          <a:xfrm>
            <a:off x="697572" y="682028"/>
            <a:ext cx="8378824" cy="338554"/>
          </a:xfrm>
          <a:prstGeom prst="rect">
            <a:avLst/>
          </a:prstGeom>
          <a:noFill/>
          <a:ln w="9525">
            <a:noFill/>
            <a:miter lim="800000"/>
          </a:ln>
        </p:spPr>
        <p:txBody>
          <a:bodyPr vert="horz" wrap="square" lIns="91440" tIns="45720" rIns="91440" bIns="45720" numCol="1" anchor="t" anchorCtr="0" compatLnSpc="1">
            <a:spAutoFit/>
          </a:bodyPr>
          <a:lstStyle/>
          <a:p>
            <a:pPr algn="dist" defTabSz="0" eaLnBrk="0" hangingPunct="0">
              <a:buClr>
                <a:srgbClr val="00B0F0"/>
              </a:buClr>
            </a:pPr>
            <a:r>
              <a:rPr lang="zh-CN" altLang="en-US" sz="1600" b="1" dirty="0">
                <a:solidFill>
                  <a:srgbClr val="0070C0"/>
                </a:solidFill>
                <a:latin typeface="微软雅黑" panose="020B0503020204020204" pitchFamily="34" charset="-122"/>
                <a:ea typeface="微软雅黑" panose="020B0503020204020204" pitchFamily="34" charset="-122"/>
              </a:rPr>
              <a:t>条形图</a:t>
            </a:r>
            <a:r>
              <a:rPr lang="en-US" altLang="zh-CN" sz="1600" b="1" dirty="0">
                <a:solidFill>
                  <a:srgbClr val="0070C0"/>
                </a:solidFill>
                <a:latin typeface="微软雅黑" panose="020B0503020204020204" pitchFamily="34" charset="-122"/>
                <a:ea typeface="微软雅黑" panose="020B0503020204020204" pitchFamily="34" charset="-122"/>
              </a:rPr>
              <a:t>bar</a:t>
            </a:r>
            <a:r>
              <a:rPr lang="zh-CN" altLang="en-US" sz="1600" b="1" dirty="0">
                <a:solidFill>
                  <a:srgbClr val="0070C0"/>
                </a:solidFill>
                <a:latin typeface="微软雅黑" panose="020B0503020204020204" pitchFamily="34" charset="-122"/>
                <a:ea typeface="微软雅黑" panose="020B0503020204020204" pitchFamily="34" charset="-122"/>
              </a:rPr>
              <a:t>和</a:t>
            </a:r>
            <a:r>
              <a:rPr lang="en-US" altLang="zh-CN" sz="1600" b="1" dirty="0" err="1">
                <a:solidFill>
                  <a:srgbClr val="0070C0"/>
                </a:solidFill>
                <a:latin typeface="微软雅黑" panose="020B0503020204020204" pitchFamily="34" charset="-122"/>
                <a:ea typeface="微软雅黑" panose="020B0503020204020204" pitchFamily="34" charset="-122"/>
              </a:rPr>
              <a:t>errorbar</a:t>
            </a:r>
            <a:r>
              <a:rPr lang="zh-CN" altLang="en-US" sz="1600" b="1" dirty="0">
                <a:solidFill>
                  <a:srgbClr val="0070C0"/>
                </a:solidFill>
                <a:latin typeface="微软雅黑" panose="020B0503020204020204" pitchFamily="34" charset="-122"/>
                <a:ea typeface="微软雅黑" panose="020B0503020204020204" pitchFamily="34" charset="-122"/>
              </a:rPr>
              <a:t>绘制带有误差条的平均浓度关于时间的条形图</a:t>
            </a:r>
            <a:endParaRPr lang="en-US" altLang="zh-CN" sz="1600" b="1" dirty="0">
              <a:solidFill>
                <a:srgbClr val="0070C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61C9C022-3D9A-7730-1713-824A72B59306}"/>
              </a:ext>
            </a:extLst>
          </p:cNvPr>
          <p:cNvSpPr txBox="1"/>
          <p:nvPr/>
        </p:nvSpPr>
        <p:spPr>
          <a:xfrm>
            <a:off x="364551" y="949235"/>
            <a:ext cx="4061053" cy="2031325"/>
          </a:xfrm>
          <a:prstGeom prst="rect">
            <a:avLst/>
          </a:prstGeom>
          <a:noFill/>
        </p:spPr>
        <p:txBody>
          <a:bodyPr wrap="square">
            <a:spAutoFit/>
          </a:bodyPr>
          <a:lstStyle/>
          <a:p>
            <a:r>
              <a:rPr lang="es-ES" altLang="zh-CN" b="1" dirty="0">
                <a:solidFill>
                  <a:srgbClr val="0070C0"/>
                </a:solidFill>
                <a:latin typeface="华文楷体" panose="02010600040101010101" pitchFamily="2" charset="-122"/>
                <a:ea typeface="华文楷体" panose="02010600040101010101" pitchFamily="2" charset="-122"/>
              </a:rPr>
              <a:t>x=1:7;</a:t>
            </a:r>
          </a:p>
          <a:p>
            <a:r>
              <a:rPr lang="es-ES" altLang="zh-CN" b="1" dirty="0">
                <a:solidFill>
                  <a:srgbClr val="0070C0"/>
                </a:solidFill>
                <a:latin typeface="华文楷体" panose="02010600040101010101" pitchFamily="2" charset="-122"/>
                <a:ea typeface="华文楷体" panose="02010600040101010101" pitchFamily="2" charset="-122"/>
              </a:rPr>
              <a:t>y=[8.82 7.91 6.74 5.32 4.43 3.92 2.84;</a:t>
            </a:r>
          </a:p>
          <a:p>
            <a:r>
              <a:rPr lang="es-ES" altLang="zh-CN" b="1" dirty="0">
                <a:solidFill>
                  <a:srgbClr val="0070C0"/>
                </a:solidFill>
                <a:latin typeface="华文楷体" panose="02010600040101010101" pitchFamily="2" charset="-122"/>
                <a:ea typeface="华文楷体" panose="02010600040101010101" pitchFamily="2" charset="-122"/>
              </a:rPr>
              <a:t>8.41 7.22 6.38 5.51 4.21 3.25 2.51;</a:t>
            </a:r>
          </a:p>
          <a:p>
            <a:r>
              <a:rPr lang="es-ES" altLang="zh-CN" b="1" dirty="0">
                <a:solidFill>
                  <a:srgbClr val="0070C0"/>
                </a:solidFill>
                <a:latin typeface="华文楷体" panose="02010600040101010101" pitchFamily="2" charset="-122"/>
                <a:ea typeface="华文楷体" panose="02010600040101010101" pitchFamily="2" charset="-122"/>
              </a:rPr>
              <a:t>8.23 7.04 6.02 5.21 4.01 3.51 2.24];</a:t>
            </a:r>
          </a:p>
          <a:p>
            <a:r>
              <a:rPr lang="en-US" altLang="zh-CN" b="1" dirty="0" err="1">
                <a:solidFill>
                  <a:srgbClr val="0070C0"/>
                </a:solidFill>
                <a:latin typeface="华文楷体" panose="02010600040101010101" pitchFamily="2" charset="-122"/>
                <a:ea typeface="华文楷体" panose="02010600040101010101" pitchFamily="2" charset="-122"/>
              </a:rPr>
              <a:t>ym</a:t>
            </a:r>
            <a:r>
              <a:rPr lang="en-US" altLang="zh-CN" b="1" dirty="0">
                <a:solidFill>
                  <a:srgbClr val="0070C0"/>
                </a:solidFill>
                <a:latin typeface="华文楷体" panose="02010600040101010101" pitchFamily="2" charset="-122"/>
                <a:ea typeface="华文楷体" panose="02010600040101010101" pitchFamily="2" charset="-122"/>
              </a:rPr>
              <a:t>=mean(</a:t>
            </a:r>
            <a:r>
              <a:rPr lang="en-US" altLang="zh-CN" b="1" dirty="0" err="1">
                <a:solidFill>
                  <a:srgbClr val="0070C0"/>
                </a:solidFill>
                <a:latin typeface="华文楷体" panose="02010600040101010101" pitchFamily="2" charset="-122"/>
                <a:ea typeface="华文楷体" panose="02010600040101010101" pitchFamily="2" charset="-122"/>
              </a:rPr>
              <a:t>y,dims</a:t>
            </a:r>
            <a:r>
              <a:rPr lang="en-US" altLang="zh-CN" b="1" dirty="0">
                <a:solidFill>
                  <a:srgbClr val="0070C0"/>
                </a:solidFill>
                <a:latin typeface="华文楷体" panose="02010600040101010101" pitchFamily="2" charset="-122"/>
                <a:ea typeface="华文楷体" panose="02010600040101010101" pitchFamily="2" charset="-122"/>
              </a:rPr>
              <a:t>=1) ; #</a:t>
            </a:r>
            <a:r>
              <a:rPr lang="zh-CN" altLang="en-US" b="1" dirty="0">
                <a:solidFill>
                  <a:srgbClr val="0070C0"/>
                </a:solidFill>
                <a:latin typeface="华文楷体" panose="02010600040101010101" pitchFamily="2" charset="-122"/>
                <a:ea typeface="华文楷体" panose="02010600040101010101" pitchFamily="2" charset="-122"/>
              </a:rPr>
              <a:t>每列浓度均值</a:t>
            </a:r>
          </a:p>
          <a:p>
            <a:r>
              <a:rPr lang="en-US" altLang="zh-CN" b="1" dirty="0" err="1">
                <a:solidFill>
                  <a:srgbClr val="0070C0"/>
                </a:solidFill>
                <a:latin typeface="华文楷体" panose="02010600040101010101" pitchFamily="2" charset="-122"/>
                <a:ea typeface="华文楷体" panose="02010600040101010101" pitchFamily="2" charset="-122"/>
              </a:rPr>
              <a:t>astd</a:t>
            </a:r>
            <a:r>
              <a:rPr lang="en-US" altLang="zh-CN" b="1" dirty="0">
                <a:solidFill>
                  <a:srgbClr val="0070C0"/>
                </a:solidFill>
                <a:latin typeface="华文楷体" panose="02010600040101010101" pitchFamily="2" charset="-122"/>
                <a:ea typeface="华文楷体" panose="02010600040101010101" pitchFamily="2" charset="-122"/>
              </a:rPr>
              <a:t>=std(</a:t>
            </a:r>
            <a:r>
              <a:rPr lang="en-US" altLang="zh-CN" b="1" dirty="0" err="1">
                <a:solidFill>
                  <a:srgbClr val="0070C0"/>
                </a:solidFill>
                <a:latin typeface="华文楷体" panose="02010600040101010101" pitchFamily="2" charset="-122"/>
                <a:ea typeface="华文楷体" panose="02010600040101010101" pitchFamily="2" charset="-122"/>
              </a:rPr>
              <a:t>y,dims</a:t>
            </a:r>
            <a:r>
              <a:rPr lang="en-US" altLang="zh-CN" b="1" dirty="0">
                <a:solidFill>
                  <a:srgbClr val="0070C0"/>
                </a:solidFill>
                <a:latin typeface="华文楷体" panose="02010600040101010101" pitchFamily="2" charset="-122"/>
                <a:ea typeface="华文楷体" panose="02010600040101010101" pitchFamily="2" charset="-122"/>
              </a:rPr>
              <a:t>=1) ; #</a:t>
            </a:r>
            <a:r>
              <a:rPr lang="zh-CN" altLang="en-US" b="1" dirty="0">
                <a:solidFill>
                  <a:srgbClr val="0070C0"/>
                </a:solidFill>
                <a:latin typeface="华文楷体" panose="02010600040101010101" pitchFamily="2" charset="-122"/>
                <a:ea typeface="华文楷体" panose="02010600040101010101" pitchFamily="2" charset="-122"/>
              </a:rPr>
              <a:t>每列度误差</a:t>
            </a:r>
          </a:p>
          <a:p>
            <a:endParaRPr lang="zh-CN" altLang="en-US" dirty="0"/>
          </a:p>
        </p:txBody>
      </p:sp>
      <p:sp>
        <p:nvSpPr>
          <p:cNvPr id="12" name="文本框 11">
            <a:extLst>
              <a:ext uri="{FF2B5EF4-FFF2-40B4-BE49-F238E27FC236}">
                <a16:creationId xmlns:a16="http://schemas.microsoft.com/office/drawing/2014/main" id="{220CA416-68AF-4D24-9D23-6F3F42BFB164}"/>
              </a:ext>
            </a:extLst>
          </p:cNvPr>
          <p:cNvSpPr txBox="1"/>
          <p:nvPr/>
        </p:nvSpPr>
        <p:spPr>
          <a:xfrm>
            <a:off x="5559332" y="949235"/>
            <a:ext cx="3584668" cy="416589"/>
          </a:xfrm>
          <a:prstGeom prst="rect">
            <a:avLst/>
          </a:prstGeom>
          <a:noFill/>
        </p:spPr>
        <p:txBody>
          <a:bodyPr wrap="square">
            <a:spAutoFit/>
          </a:bodyPr>
          <a:lstStyle/>
          <a:p>
            <a:pPr defTabSz="0">
              <a:lnSpc>
                <a:spcPts val="2800"/>
              </a:lnSpc>
              <a:spcBef>
                <a:spcPts val="0"/>
              </a:spcBef>
              <a:defRPr/>
            </a:pPr>
            <a:r>
              <a:rPr lang="zh-CN" altLang="en-US" sz="16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条形图：</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同宽度条形高度表示数据</a:t>
            </a:r>
            <a:r>
              <a:rPr lang="en-US" altLang="zh-CN"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sz="1600"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值</a:t>
            </a:r>
            <a:endParaRPr lang="en-US" altLang="zh-CN" sz="16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3" name="矩形 12">
            <a:extLst>
              <a:ext uri="{FF2B5EF4-FFF2-40B4-BE49-F238E27FC236}">
                <a16:creationId xmlns:a16="http://schemas.microsoft.com/office/drawing/2014/main" id="{FFECB86A-D76F-4F4F-8EE8-0B1EFCAD40BB}"/>
              </a:ext>
            </a:extLst>
          </p:cNvPr>
          <p:cNvSpPr/>
          <p:nvPr/>
        </p:nvSpPr>
        <p:spPr>
          <a:xfrm>
            <a:off x="7913916" y="1331070"/>
            <a:ext cx="1208404" cy="400110"/>
          </a:xfrm>
          <a:prstGeom prst="rect">
            <a:avLst/>
          </a:prstGeom>
          <a:noFill/>
          <a:ln w="38100">
            <a:noFill/>
          </a:ln>
          <a:scene3d>
            <a:camera prst="orthographicFront"/>
            <a:lightRig rig="threePt" dir="t"/>
          </a:scene3d>
          <a:sp3d>
            <a:bevelT prst="angle"/>
          </a:sp3d>
        </p:spPr>
        <p:txBody>
          <a:bodyPr wrap="square">
            <a:spAutoFit/>
          </a:bodyPr>
          <a:lstStyle/>
          <a:p>
            <a:pPr algn="dist"/>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bar(</a:t>
            </a:r>
            <a:r>
              <a:rPr lang="en-US" altLang="zh-CN" sz="2000"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2000" b="1" dirty="0">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a:t>
            </a:r>
          </a:p>
        </p:txBody>
      </p:sp>
      <p:pic>
        <p:nvPicPr>
          <p:cNvPr id="11" name="图片 10">
            <a:extLst>
              <a:ext uri="{FF2B5EF4-FFF2-40B4-BE49-F238E27FC236}">
                <a16:creationId xmlns:a16="http://schemas.microsoft.com/office/drawing/2014/main" id="{FC364AFE-BC63-46A1-9B11-A497743C1AF0}"/>
              </a:ext>
            </a:extLst>
          </p:cNvPr>
          <p:cNvPicPr>
            <a:picLocks noChangeAspect="1"/>
          </p:cNvPicPr>
          <p:nvPr/>
        </p:nvPicPr>
        <p:blipFill rotWithShape="1">
          <a:blip r:embed="rId4"/>
          <a:srcRect l="33463" t="19550" r="30313" b="24801"/>
          <a:stretch/>
        </p:blipFill>
        <p:spPr>
          <a:xfrm>
            <a:off x="2978092" y="3129436"/>
            <a:ext cx="1566999" cy="1230023"/>
          </a:xfrm>
          <a:prstGeom prst="rect">
            <a:avLst/>
          </a:prstGeom>
          <a:ln>
            <a:solidFill>
              <a:schemeClr val="bg1">
                <a:lumMod val="65000"/>
              </a:schemeClr>
            </a:solidFill>
          </a:ln>
        </p:spPr>
      </p:pic>
    </p:spTree>
    <p:extLst>
      <p:ext uri="{BB962C8B-B14F-4D97-AF65-F5344CB8AC3E}">
        <p14:creationId xmlns:p14="http://schemas.microsoft.com/office/powerpoint/2010/main" val="2492807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5EBAEA4-5D4C-F5C2-D8CB-7628ECE562A5}"/>
              </a:ext>
            </a:extLst>
          </p:cNvPr>
          <p:cNvSpPr/>
          <p:nvPr/>
        </p:nvSpPr>
        <p:spPr>
          <a:xfrm>
            <a:off x="121245" y="1498426"/>
            <a:ext cx="2312966" cy="707886"/>
          </a:xfrm>
          <a:prstGeom prst="rect">
            <a:avLst/>
          </a:prstGeom>
        </p:spPr>
        <p:txBody>
          <a:bodyPr wrap="square">
            <a:spAutoFit/>
          </a:bodyPr>
          <a:lstStyle/>
          <a:p>
            <a:pPr eaLnBrk="0" hangingPunct="0"/>
            <a:r>
              <a:rPr lang="en-US" altLang="zh-CN" sz="2000" b="1" kern="0" dirty="0" err="1">
                <a:solidFill>
                  <a:srgbClr val="FF0000"/>
                </a:solidFill>
                <a:latin typeface="微软雅黑" panose="020B0503020204020204" pitchFamily="34" charset="-122"/>
                <a:ea typeface="微软雅黑" panose="020B0503020204020204" pitchFamily="34" charset="-122"/>
              </a:rPr>
              <a:t>yyaxis</a:t>
            </a:r>
            <a:r>
              <a:rPr lang="zh-CN" altLang="en-US" sz="2000" b="1" kern="0" dirty="0">
                <a:solidFill>
                  <a:srgbClr val="0070C0"/>
                </a:solidFill>
                <a:latin typeface="微软雅黑" panose="020B0503020204020204" pitchFamily="34" charset="-122"/>
                <a:ea typeface="微软雅黑" panose="020B0503020204020204" pitchFamily="34" charset="-122"/>
              </a:rPr>
              <a:t>创建</a:t>
            </a:r>
            <a:endParaRPr lang="en-US" altLang="zh-CN" sz="2000" b="1" kern="0" dirty="0">
              <a:solidFill>
                <a:srgbClr val="0070C0"/>
              </a:solidFill>
              <a:latin typeface="微软雅黑" panose="020B0503020204020204" pitchFamily="34" charset="-122"/>
              <a:ea typeface="微软雅黑" panose="020B0503020204020204" pitchFamily="34" charset="-122"/>
            </a:endParaRPr>
          </a:p>
          <a:p>
            <a:pPr eaLnBrk="0" hangingPunct="0"/>
            <a:r>
              <a:rPr lang="zh-CN" altLang="en-US" sz="2000" b="1" kern="0" dirty="0">
                <a:solidFill>
                  <a:srgbClr val="0070C0"/>
                </a:solidFill>
                <a:latin typeface="微软雅黑" panose="020B0503020204020204" pitchFamily="34" charset="-122"/>
                <a:ea typeface="微软雅黑" panose="020B0503020204020204" pitchFamily="34" charset="-122"/>
              </a:rPr>
              <a:t>有两个</a:t>
            </a:r>
            <a:r>
              <a:rPr lang="en-US" altLang="zh-CN" sz="2000" b="1" kern="0" dirty="0">
                <a:solidFill>
                  <a:srgbClr val="0070C0"/>
                </a:solidFill>
                <a:latin typeface="微软雅黑" panose="020B0503020204020204" pitchFamily="34" charset="-122"/>
                <a:ea typeface="微软雅黑" panose="020B0503020204020204" pitchFamily="34" charset="-122"/>
              </a:rPr>
              <a:t>y</a:t>
            </a:r>
            <a:r>
              <a:rPr lang="zh-CN" altLang="en-US" sz="2000" b="1" kern="0" dirty="0">
                <a:solidFill>
                  <a:srgbClr val="0070C0"/>
                </a:solidFill>
                <a:latin typeface="微软雅黑" panose="020B0503020204020204" pitchFamily="34" charset="-122"/>
                <a:ea typeface="微软雅黑" panose="020B0503020204020204" pitchFamily="34" charset="-122"/>
              </a:rPr>
              <a:t>轴的图</a:t>
            </a:r>
          </a:p>
        </p:txBody>
      </p:sp>
      <p:sp>
        <p:nvSpPr>
          <p:cNvPr id="7" name="矩形 6">
            <a:extLst>
              <a:ext uri="{FF2B5EF4-FFF2-40B4-BE49-F238E27FC236}">
                <a16:creationId xmlns:a16="http://schemas.microsoft.com/office/drawing/2014/main" id="{A553A560-C0A2-B356-92F7-97AAB3E23EDE}"/>
              </a:ext>
            </a:extLst>
          </p:cNvPr>
          <p:cNvSpPr/>
          <p:nvPr/>
        </p:nvSpPr>
        <p:spPr>
          <a:xfrm>
            <a:off x="71395" y="2342080"/>
            <a:ext cx="1760418" cy="369332"/>
          </a:xfrm>
          <a:prstGeom prst="rect">
            <a:avLst/>
          </a:prstGeom>
        </p:spPr>
        <p:txBody>
          <a:bodyPr wrap="none">
            <a:spAutoFit/>
          </a:bodyPr>
          <a:lstStyle/>
          <a:p>
            <a:pPr marL="285750" indent="-285750" eaLnBrk="0" hangingPunct="0">
              <a:buFont typeface="Wingdings" panose="05000000000000000000" pitchFamily="2" charset="2"/>
              <a:buChar char="Ø"/>
            </a:pPr>
            <a:r>
              <a:rPr lang="zh-CN" altLang="en-US" b="1" kern="0" dirty="0">
                <a:solidFill>
                  <a:srgbClr val="0070C0"/>
                </a:solidFill>
                <a:latin typeface="微软雅黑" panose="020B0503020204020204" pitchFamily="34" charset="-122"/>
                <a:ea typeface="微软雅黑" panose="020B0503020204020204" pitchFamily="34" charset="-122"/>
              </a:rPr>
              <a:t>激活左侧</a:t>
            </a:r>
            <a:r>
              <a:rPr lang="en-US" altLang="zh-CN" b="1" kern="0" dirty="0">
                <a:solidFill>
                  <a:srgbClr val="0070C0"/>
                </a:solidFill>
                <a:latin typeface="微软雅黑" panose="020B0503020204020204" pitchFamily="34" charset="-122"/>
                <a:ea typeface="微软雅黑" panose="020B0503020204020204" pitchFamily="34" charset="-122"/>
              </a:rPr>
              <a:t>y</a:t>
            </a:r>
            <a:r>
              <a:rPr lang="zh-CN" altLang="en-US" b="1" kern="0" dirty="0">
                <a:solidFill>
                  <a:srgbClr val="0070C0"/>
                </a:solidFill>
                <a:latin typeface="微软雅黑" panose="020B0503020204020204" pitchFamily="34" charset="-122"/>
                <a:ea typeface="微软雅黑" panose="020B0503020204020204" pitchFamily="34" charset="-122"/>
              </a:rPr>
              <a:t>轴</a:t>
            </a:r>
            <a:endParaRPr lang="zh-CN" altLang="zh-CN" b="1" kern="0" dirty="0">
              <a:solidFill>
                <a:srgbClr val="0070C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7A74D907-7614-F5B2-8A36-5F8ACDBEBCF9}"/>
              </a:ext>
            </a:extLst>
          </p:cNvPr>
          <p:cNvSpPr/>
          <p:nvPr/>
        </p:nvSpPr>
        <p:spPr>
          <a:xfrm>
            <a:off x="75372" y="3373795"/>
            <a:ext cx="1760418" cy="369332"/>
          </a:xfrm>
          <a:prstGeom prst="rect">
            <a:avLst/>
          </a:prstGeom>
        </p:spPr>
        <p:txBody>
          <a:bodyPr wrap="none">
            <a:spAutoFit/>
          </a:bodyPr>
          <a:lstStyle/>
          <a:p>
            <a:pPr marL="285750" indent="-285750" eaLnBrk="0" hangingPunct="0">
              <a:buFont typeface="Wingdings" panose="05000000000000000000" pitchFamily="2" charset="2"/>
              <a:buChar char="Ø"/>
            </a:pPr>
            <a:r>
              <a:rPr lang="zh-CN" altLang="en-US" b="1" kern="0" dirty="0">
                <a:solidFill>
                  <a:srgbClr val="0070C0"/>
                </a:solidFill>
                <a:latin typeface="微软雅黑" panose="020B0503020204020204" pitchFamily="34" charset="-122"/>
                <a:ea typeface="微软雅黑" panose="020B0503020204020204" pitchFamily="34" charset="-122"/>
              </a:rPr>
              <a:t>激活右侧</a:t>
            </a:r>
            <a:r>
              <a:rPr lang="en-US" altLang="zh-CN" b="1" kern="0" dirty="0">
                <a:solidFill>
                  <a:srgbClr val="0070C0"/>
                </a:solidFill>
                <a:latin typeface="微软雅黑" panose="020B0503020204020204" pitchFamily="34" charset="-122"/>
                <a:ea typeface="微软雅黑" panose="020B0503020204020204" pitchFamily="34" charset="-122"/>
              </a:rPr>
              <a:t>y</a:t>
            </a:r>
            <a:r>
              <a:rPr lang="zh-CN" altLang="en-US" b="1" kern="0" dirty="0">
                <a:solidFill>
                  <a:srgbClr val="0070C0"/>
                </a:solidFill>
                <a:latin typeface="微软雅黑" panose="020B0503020204020204" pitchFamily="34" charset="-122"/>
                <a:ea typeface="微软雅黑" panose="020B0503020204020204" pitchFamily="34" charset="-122"/>
              </a:rPr>
              <a:t>轴</a:t>
            </a:r>
            <a:endParaRPr lang="zh-CN" altLang="zh-CN" b="1" kern="0" dirty="0">
              <a:solidFill>
                <a:srgbClr val="0070C0"/>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2D5A7B5D-20E8-46BE-18E9-45A6AEF20F5B}"/>
              </a:ext>
            </a:extLst>
          </p:cNvPr>
          <p:cNvSpPr/>
          <p:nvPr/>
        </p:nvSpPr>
        <p:spPr>
          <a:xfrm>
            <a:off x="1144207" y="118603"/>
            <a:ext cx="7316226" cy="523220"/>
          </a:xfrm>
          <a:prstGeom prst="rect">
            <a:avLst/>
          </a:prstGeom>
          <a:solidFill>
            <a:schemeClr val="bg1"/>
          </a:solidFill>
        </p:spPr>
        <p:txBody>
          <a:bodyPr wrap="square">
            <a:spAutoFit/>
          </a:bodyPr>
          <a:lstStyle/>
          <a:p>
            <a:pPr eaLnBrk="0" hangingPunct="0">
              <a:defRPr/>
            </a:pPr>
            <a:r>
              <a:rPr lang="en-US" altLang="zh-CN" sz="2800" b="1" kern="0" dirty="0">
                <a:solidFill>
                  <a:srgbClr val="002060"/>
                </a:solidFill>
                <a:latin typeface="华文楷体" panose="02010600040101010101" pitchFamily="2" charset="-122"/>
                <a:ea typeface="华文楷体" panose="02010600040101010101" pitchFamily="2" charset="-122"/>
              </a:rPr>
              <a:t> </a:t>
            </a:r>
            <a:r>
              <a:rPr lang="en-US" altLang="zh-CN" sz="2800" b="1" kern="0" dirty="0">
                <a:solidFill>
                  <a:srgbClr val="002060"/>
                </a:solidFill>
                <a:latin typeface="华文楷体" panose="02010600040101010101" pitchFamily="2" charset="-122"/>
                <a:ea typeface="华文楷体" panose="02010600040101010101" pitchFamily="2" charset="-122"/>
                <a:cs typeface="隶书" panose="02010509060101010101" charset="-122"/>
              </a:rPr>
              <a:t>§3.3.3  </a:t>
            </a:r>
            <a:r>
              <a:rPr lang="en-US" altLang="zh-CN" sz="2800" b="1" kern="0" dirty="0" err="1">
                <a:solidFill>
                  <a:srgbClr val="002060"/>
                </a:solidFill>
                <a:latin typeface="华文楷体" panose="02010600040101010101" pitchFamily="2" charset="-122"/>
                <a:ea typeface="华文楷体" panose="02010600040101010101" pitchFamily="2" charset="-122"/>
              </a:rPr>
              <a:t>yyaxis</a:t>
            </a:r>
            <a:r>
              <a:rPr lang="zh-CN" altLang="en-US" sz="2800" b="1" kern="0" dirty="0">
                <a:solidFill>
                  <a:srgbClr val="002060"/>
                </a:solidFill>
                <a:latin typeface="华文楷体" panose="02010600040101010101" pitchFamily="2" charset="-122"/>
                <a:ea typeface="华文楷体" panose="02010600040101010101" pitchFamily="2" charset="-122"/>
              </a:rPr>
              <a:t>创建双纵坐标轴 </a:t>
            </a:r>
            <a:r>
              <a:rPr lang="en-US" altLang="zh-CN" sz="2800" b="1" kern="0" dirty="0">
                <a:solidFill>
                  <a:srgbClr val="FF0000"/>
                </a:solidFill>
                <a:latin typeface="华文楷体" panose="02010600040101010101" pitchFamily="2" charset="-122"/>
                <a:ea typeface="华文楷体" panose="02010600040101010101" pitchFamily="2" charset="-122"/>
              </a:rPr>
              <a:t>——</a:t>
            </a:r>
            <a:r>
              <a:rPr lang="en-US" altLang="zh-CN" sz="2800" b="1" kern="0" dirty="0" err="1">
                <a:solidFill>
                  <a:srgbClr val="FF0000"/>
                </a:solidFill>
                <a:latin typeface="华文楷体" panose="02010600040101010101" pitchFamily="2" charset="-122"/>
                <a:ea typeface="华文楷体" panose="02010600040101010101" pitchFamily="2" charset="-122"/>
              </a:rPr>
              <a:t>yyaxis</a:t>
            </a:r>
            <a:r>
              <a:rPr lang="zh-CN" altLang="en-US" sz="2800" b="1" kern="0" dirty="0">
                <a:solidFill>
                  <a:srgbClr val="FF0000"/>
                </a:solidFill>
                <a:latin typeface="华文楷体" panose="02010600040101010101" pitchFamily="2" charset="-122"/>
                <a:ea typeface="华文楷体" panose="02010600040101010101" pitchFamily="2" charset="-122"/>
              </a:rPr>
              <a:t>语法</a:t>
            </a:r>
            <a:endParaRPr lang="zh-CN" altLang="en-US" sz="2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10" name="AutoShape 13">
            <a:extLst>
              <a:ext uri="{FF2B5EF4-FFF2-40B4-BE49-F238E27FC236}">
                <a16:creationId xmlns:a16="http://schemas.microsoft.com/office/drawing/2014/main" id="{D7CDDCE7-F26C-A743-9CBA-A03073A38A50}"/>
              </a:ext>
            </a:extLst>
          </p:cNvPr>
          <p:cNvSpPr>
            <a:spLocks noChangeArrowheads="1"/>
          </p:cNvSpPr>
          <p:nvPr/>
        </p:nvSpPr>
        <p:spPr bwMode="auto">
          <a:xfrm>
            <a:off x="182313" y="716326"/>
            <a:ext cx="1114143" cy="671091"/>
          </a:xfrm>
          <a:prstGeom prst="irregularSeal2">
            <a:avLst/>
          </a:prstGeom>
          <a:solidFill>
            <a:srgbClr val="FF0000"/>
          </a:solidFill>
          <a:ln w="57150">
            <a:solidFill>
              <a:srgbClr val="00FF00"/>
            </a:solidFill>
            <a:miter lim="800000"/>
          </a:ln>
          <a:scene3d>
            <a:camera prst="orthographicFront"/>
            <a:lightRig rig="threePt" dir="t"/>
          </a:scene3d>
          <a:sp3d>
            <a:bevelT prst="angle"/>
          </a:sp3d>
        </p:spPr>
        <p:txBody>
          <a:bodyPr wrap="none" anchor="ctr"/>
          <a:lstStyle/>
          <a:p>
            <a:pPr eaLnBrk="0" hangingPunct="0">
              <a:lnSpc>
                <a:spcPct val="150000"/>
              </a:lnSpc>
              <a:defRPr/>
            </a:pPr>
            <a:r>
              <a:rPr lang="zh-CN" altLang="en-US" sz="1400" b="1" dirty="0">
                <a:solidFill>
                  <a:srgbClr val="FFFF00"/>
                </a:solidFill>
                <a:latin typeface="微软雅黑" panose="020B0503020204020204" pitchFamily="34" charset="-122"/>
                <a:ea typeface="微软雅黑" panose="020B0503020204020204" pitchFamily="34" charset="-122"/>
              </a:rPr>
              <a:t>注意</a:t>
            </a:r>
            <a:endParaRPr lang="en-US" altLang="zh-CN" sz="1400" b="1" dirty="0">
              <a:solidFill>
                <a:srgbClr val="FFFF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0385112B-1AD4-0F90-7B69-12C61FC79A63}"/>
              </a:ext>
            </a:extLst>
          </p:cNvPr>
          <p:cNvSpPr/>
          <p:nvPr/>
        </p:nvSpPr>
        <p:spPr>
          <a:xfrm>
            <a:off x="1306098" y="716327"/>
            <a:ext cx="7853172" cy="646331"/>
          </a:xfrm>
          <a:prstGeom prst="rect">
            <a:avLst/>
          </a:prstGeom>
        </p:spPr>
        <p:txBody>
          <a:bodyPr wrap="square">
            <a:spAutoFit/>
          </a:bodyPr>
          <a:lstStyle/>
          <a:p>
            <a:pPr defTabSz="0" eaLnBrk="0" hangingPunct="0">
              <a:spcBef>
                <a:spcPct val="30000"/>
              </a:spcBef>
              <a:defRPr/>
            </a:pPr>
            <a:r>
              <a:rPr lang="zh-CN" altLang="en-US" b="1" dirty="0">
                <a:solidFill>
                  <a:srgbClr val="0070C0"/>
                </a:solidFill>
                <a:latin typeface="微软雅黑" panose="020B0503020204020204" pitchFamily="34" charset="-122"/>
                <a:ea typeface="微软雅黑" panose="020B0503020204020204" pitchFamily="34" charset="-122"/>
              </a:rPr>
              <a:t>同一自变量的两个不同量纲的曲线或两个不同数量级曲线绘制在同一张图时上， 要求提供两个纵坐标</a:t>
            </a:r>
          </a:p>
        </p:txBody>
      </p:sp>
      <p:pic>
        <p:nvPicPr>
          <p:cNvPr id="14" name="Picture 2">
            <a:extLst>
              <a:ext uri="{FF2B5EF4-FFF2-40B4-BE49-F238E27FC236}">
                <a16:creationId xmlns:a16="http://schemas.microsoft.com/office/drawing/2014/main" id="{49CCA3AB-FBE8-6CCB-DD86-4E4F121F01E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30" b="1303"/>
          <a:stretch/>
        </p:blipFill>
        <p:spPr bwMode="auto">
          <a:xfrm>
            <a:off x="2572919" y="1970622"/>
            <a:ext cx="3024334" cy="2177306"/>
          </a:xfrm>
          <a:prstGeom prst="rect">
            <a:avLst/>
          </a:prstGeom>
          <a:noFill/>
          <a:ln>
            <a:solidFill>
              <a:schemeClr val="tx1">
                <a:lumMod val="95000"/>
                <a:lumOff val="5000"/>
              </a:schemeClr>
            </a:solidFill>
          </a:ln>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83B3F28B-989F-C213-4F02-FB9FE8445B88}"/>
              </a:ext>
            </a:extLst>
          </p:cNvPr>
          <p:cNvSpPr/>
          <p:nvPr/>
        </p:nvSpPr>
        <p:spPr>
          <a:xfrm>
            <a:off x="3029870" y="1431982"/>
            <a:ext cx="6025581" cy="369332"/>
          </a:xfrm>
          <a:prstGeom prst="rect">
            <a:avLst/>
          </a:prstGeom>
          <a:noFill/>
          <a:ln w="9525">
            <a:noFill/>
            <a:miter lim="800000"/>
          </a:ln>
        </p:spPr>
        <p:txBody>
          <a:bodyPr vert="horz" wrap="square" lIns="91440" tIns="45720" rIns="91440" bIns="45720" numCol="1" anchor="t" anchorCtr="0" compatLnSpc="1">
            <a:spAutoFit/>
          </a:bodyPr>
          <a:lstStyle/>
          <a:p>
            <a:pPr algn="dist" defTabSz="0" eaLnBrk="0" hangingPunct="0">
              <a:buClr>
                <a:srgbClr val="00B0F0"/>
              </a:buClr>
            </a:pPr>
            <a:r>
              <a:rPr lang="zh-CN" altLang="en-US" b="1" dirty="0">
                <a:solidFill>
                  <a:srgbClr val="0070C0"/>
                </a:solidFill>
                <a:latin typeface="微软雅黑" panose="020B0503020204020204" pitchFamily="34" charset="-122"/>
                <a:ea typeface="微软雅黑" panose="020B0503020204020204" pitchFamily="34" charset="-122"/>
              </a:rPr>
              <a:t>绘制某冰箱厂家全年生产冰箱</a:t>
            </a:r>
            <a:r>
              <a:rPr lang="en-US" altLang="zh-CN" b="1" dirty="0">
                <a:solidFill>
                  <a:srgbClr val="0070C0"/>
                </a:solidFill>
                <a:latin typeface="微软雅黑" panose="020B0503020204020204" pitchFamily="34" charset="-122"/>
                <a:ea typeface="微软雅黑" panose="020B0503020204020204" pitchFamily="34" charset="-122"/>
              </a:rPr>
              <a:t>12</a:t>
            </a:r>
            <a:r>
              <a:rPr lang="zh-CN" altLang="en-US" b="1" dirty="0">
                <a:solidFill>
                  <a:srgbClr val="0070C0"/>
                </a:solidFill>
                <a:latin typeface="微软雅黑" panose="020B0503020204020204" pitchFamily="34" charset="-122"/>
                <a:ea typeface="微软雅黑" panose="020B0503020204020204" pitchFamily="34" charset="-122"/>
              </a:rPr>
              <a:t>个月销量和增长率</a:t>
            </a:r>
          </a:p>
        </p:txBody>
      </p:sp>
      <p:sp>
        <p:nvSpPr>
          <p:cNvPr id="12" name="波形 11">
            <a:extLst>
              <a:ext uri="{FF2B5EF4-FFF2-40B4-BE49-F238E27FC236}">
                <a16:creationId xmlns:a16="http://schemas.microsoft.com/office/drawing/2014/main" id="{A3C00D40-89E7-4D20-9813-3818A96A9DA5}"/>
              </a:ext>
            </a:extLst>
          </p:cNvPr>
          <p:cNvSpPr/>
          <p:nvPr/>
        </p:nvSpPr>
        <p:spPr>
          <a:xfrm>
            <a:off x="2548789" y="1419622"/>
            <a:ext cx="481081" cy="39405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68580" tIns="34290" rIns="68580" bIns="3429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charset="-122"/>
                <a:ea typeface="微软雅黑" panose="020B0503020204020204" charset="-122"/>
              </a:rPr>
              <a:t>例7</a:t>
            </a:r>
            <a:endParaRPr lang="ko-KR" altLang="en-US" b="1" dirty="0">
              <a:solidFill>
                <a:srgbClr val="FFFF00"/>
              </a:solidFill>
              <a:latin typeface="微软雅黑" panose="020B0503020204020204" charset="-122"/>
              <a:ea typeface="微软雅黑" panose="020B0503020204020204" charset="-122"/>
            </a:endParaRPr>
          </a:p>
        </p:txBody>
      </p:sp>
      <p:sp>
        <p:nvSpPr>
          <p:cNvPr id="2" name="Rectangle 1">
            <a:extLst>
              <a:ext uri="{FF2B5EF4-FFF2-40B4-BE49-F238E27FC236}">
                <a16:creationId xmlns:a16="http://schemas.microsoft.com/office/drawing/2014/main" id="{30783C9F-16DC-4DCF-B3FB-1EDA11317C2A}"/>
              </a:ext>
            </a:extLst>
          </p:cNvPr>
          <p:cNvSpPr>
            <a:spLocks noChangeArrowheads="1"/>
          </p:cNvSpPr>
          <p:nvPr/>
        </p:nvSpPr>
        <p:spPr bwMode="auto">
          <a:xfrm>
            <a:off x="195103" y="2809789"/>
            <a:ext cx="1424569" cy="37151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zh-CN" sz="20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yyaxis("left") </a:t>
            </a:r>
            <a:endParaRPr lang="en-US" altLang="zh-CN" sz="20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16" name="文本框 15">
            <a:extLst>
              <a:ext uri="{FF2B5EF4-FFF2-40B4-BE49-F238E27FC236}">
                <a16:creationId xmlns:a16="http://schemas.microsoft.com/office/drawing/2014/main" id="{059A9BE6-58E7-4C68-9080-20D53152A023}"/>
              </a:ext>
            </a:extLst>
          </p:cNvPr>
          <p:cNvSpPr txBox="1"/>
          <p:nvPr/>
        </p:nvSpPr>
        <p:spPr>
          <a:xfrm>
            <a:off x="195103" y="3765509"/>
            <a:ext cx="1544533" cy="37151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zh-CN" sz="2000" dirty="0">
                <a:solidFill>
                  <a:schemeClr val="bg1"/>
                </a:solidFill>
              </a:rPr>
              <a:t>yyaxis("right") </a:t>
            </a:r>
          </a:p>
        </p:txBody>
      </p:sp>
      <p:pic>
        <p:nvPicPr>
          <p:cNvPr id="18" name="图片 17">
            <a:extLst>
              <a:ext uri="{FF2B5EF4-FFF2-40B4-BE49-F238E27FC236}">
                <a16:creationId xmlns:a16="http://schemas.microsoft.com/office/drawing/2014/main" id="{CD561BDC-0D36-43EC-9954-9F727F0A6428}"/>
              </a:ext>
            </a:extLst>
          </p:cNvPr>
          <p:cNvPicPr>
            <a:picLocks noChangeAspect="1"/>
          </p:cNvPicPr>
          <p:nvPr/>
        </p:nvPicPr>
        <p:blipFill rotWithShape="1">
          <a:blip r:embed="rId3"/>
          <a:srcRect l="5237" t="10290" r="2596" b="5900"/>
          <a:stretch/>
        </p:blipFill>
        <p:spPr>
          <a:xfrm>
            <a:off x="5987941" y="1935904"/>
            <a:ext cx="2946256" cy="2381332"/>
          </a:xfrm>
          <a:prstGeom prst="rect">
            <a:avLst/>
          </a:prstGeom>
        </p:spPr>
      </p:pic>
      <p:sp>
        <p:nvSpPr>
          <p:cNvPr id="17" name="AutoShape 13">
            <a:extLst>
              <a:ext uri="{FF2B5EF4-FFF2-40B4-BE49-F238E27FC236}">
                <a16:creationId xmlns:a16="http://schemas.microsoft.com/office/drawing/2014/main" id="{A008509A-AED0-4559-B68B-648FAFA3BA6E}"/>
              </a:ext>
            </a:extLst>
          </p:cNvPr>
          <p:cNvSpPr>
            <a:spLocks noChangeArrowheads="1"/>
          </p:cNvSpPr>
          <p:nvPr/>
        </p:nvSpPr>
        <p:spPr bwMode="auto">
          <a:xfrm>
            <a:off x="-23853" y="4268711"/>
            <a:ext cx="1210092" cy="427362"/>
          </a:xfrm>
          <a:prstGeom prst="irregularSeal2">
            <a:avLst/>
          </a:prstGeom>
          <a:solidFill>
            <a:srgbClr val="C00000"/>
          </a:solidFill>
          <a:ln w="57150">
            <a:solidFill>
              <a:srgbClr val="00FF00"/>
            </a:solidFill>
            <a:miter lim="800000"/>
          </a:ln>
          <a:scene3d>
            <a:camera prst="orthographicFront"/>
            <a:lightRig rig="threePt" dir="t"/>
          </a:scene3d>
          <a:sp3d>
            <a:bevelT prst="angle"/>
          </a:sp3d>
        </p:spPr>
        <p:txBody>
          <a:bodyPr wrap="none" anchor="ctr"/>
          <a:lstStyle/>
          <a:p>
            <a:r>
              <a:rPr lang="zh-CN" altLang="en-US" sz="1600" b="1" dirty="0">
                <a:solidFill>
                  <a:srgbClr val="FFFF00"/>
                </a:solidFill>
                <a:latin typeface="微软雅黑" panose="020B0503020204020204" pitchFamily="34" charset="-122"/>
                <a:ea typeface="微软雅黑" panose="020B0503020204020204" pitchFamily="34" charset="-122"/>
              </a:rPr>
              <a:t>注意</a:t>
            </a:r>
            <a:endParaRPr lang="en-US" altLang="zh-CN" sz="1600" b="1" i="0" dirty="0">
              <a:solidFill>
                <a:srgbClr val="FFFF00"/>
              </a:solidFill>
              <a:effectLst/>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F72600BB-A778-41D9-A857-700904AFD652}"/>
              </a:ext>
            </a:extLst>
          </p:cNvPr>
          <p:cNvSpPr txBox="1"/>
          <p:nvPr/>
        </p:nvSpPr>
        <p:spPr>
          <a:xfrm>
            <a:off x="4802320" y="4171385"/>
            <a:ext cx="3024334" cy="416589"/>
          </a:xfrm>
          <a:prstGeom prst="rect">
            <a:avLst/>
          </a:prstGeom>
          <a:solidFill>
            <a:schemeClr val="bg1"/>
          </a:solidFill>
        </p:spPr>
        <p:txBody>
          <a:bodyPr wrap="square">
            <a:spAutoFit/>
          </a:bodyPr>
          <a:lstStyle/>
          <a:p>
            <a:pPr defTabSz="0">
              <a:lnSpc>
                <a:spcPts val="2800"/>
              </a:lnSpc>
              <a:spcBef>
                <a:spcPts val="0"/>
              </a:spcBef>
              <a:defRPr/>
            </a:pPr>
            <a:r>
              <a:rPr lang="zh-CN" altLang="en-US" sz="14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条形图</a:t>
            </a:r>
            <a:r>
              <a:rPr lang="en-US" altLang="zh-CN" sz="1400" b="1" kern="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400" b="1" kern="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同宽度条形高度表示数据</a:t>
            </a:r>
            <a:r>
              <a:rPr lang="en-US" altLang="zh-CN" sz="1400" b="1" kern="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sz="1400" b="1" kern="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值</a:t>
            </a:r>
            <a:endParaRPr lang="en-US" altLang="zh-CN" sz="1400" b="1"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0" name="矩形 19">
            <a:extLst>
              <a:ext uri="{FF2B5EF4-FFF2-40B4-BE49-F238E27FC236}">
                <a16:creationId xmlns:a16="http://schemas.microsoft.com/office/drawing/2014/main" id="{A4F6D321-DC75-498C-BC22-CF2BA80B079C}"/>
              </a:ext>
            </a:extLst>
          </p:cNvPr>
          <p:cNvSpPr/>
          <p:nvPr/>
        </p:nvSpPr>
        <p:spPr>
          <a:xfrm>
            <a:off x="7688357" y="4242507"/>
            <a:ext cx="1357753" cy="338554"/>
          </a:xfrm>
          <a:prstGeom prst="rect">
            <a:avLst/>
          </a:prstGeom>
          <a:noFill/>
          <a:ln w="38100">
            <a:noFill/>
          </a:ln>
          <a:scene3d>
            <a:camera prst="orthographicFront"/>
            <a:lightRig rig="threePt" dir="t"/>
          </a:scene3d>
          <a:sp3d>
            <a:bevelT prst="angle"/>
          </a:sp3d>
        </p:spPr>
        <p:txBody>
          <a:bodyPr wrap="square">
            <a:spAutoFit/>
          </a:bodyPr>
          <a:lstStyle/>
          <a:p>
            <a:pPr algn="dist"/>
            <a:r>
              <a:rPr lang="en-US" altLang="zh-CN" sz="1600" b="1" dirty="0">
                <a:solidFill>
                  <a:srgbClr val="FFFF00"/>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bar(</a:t>
            </a:r>
            <a:r>
              <a:rPr lang="en-US" altLang="zh-CN" sz="1600" b="1" dirty="0" err="1">
                <a:solidFill>
                  <a:srgbClr val="FFFF00"/>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x,y</a:t>
            </a:r>
            <a:r>
              <a:rPr lang="en-US" altLang="zh-CN" sz="1600" b="1" dirty="0">
                <a:solidFill>
                  <a:srgbClr val="FFFF00"/>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a:t>
            </a:r>
          </a:p>
        </p:txBody>
      </p:sp>
      <p:sp>
        <p:nvSpPr>
          <p:cNvPr id="21" name="文本框 20">
            <a:extLst>
              <a:ext uri="{FF2B5EF4-FFF2-40B4-BE49-F238E27FC236}">
                <a16:creationId xmlns:a16="http://schemas.microsoft.com/office/drawing/2014/main" id="{90E6549D-8233-43D5-B63B-A2A765865E61}"/>
              </a:ext>
            </a:extLst>
          </p:cNvPr>
          <p:cNvSpPr txBox="1"/>
          <p:nvPr/>
        </p:nvSpPr>
        <p:spPr>
          <a:xfrm>
            <a:off x="1116855" y="4242507"/>
            <a:ext cx="3623114" cy="369332"/>
          </a:xfrm>
          <a:prstGeom prst="rect">
            <a:avLst/>
          </a:prstGeom>
          <a:noFill/>
        </p:spPr>
        <p:txBody>
          <a:bodyPr wrap="square">
            <a:spAutoFit/>
          </a:bodyPr>
          <a:lstStyle/>
          <a:p>
            <a:r>
              <a:rPr lang="en-US" altLang="zh-CN" sz="1800" i="0" dirty="0">
                <a:solidFill>
                  <a:srgbClr val="FF0000"/>
                </a:solidFill>
                <a:latin typeface="微软雅黑" panose="020B0503020204020204" pitchFamily="34" charset="-122"/>
                <a:ea typeface="微软雅黑" panose="020B0503020204020204" pitchFamily="34" charset="-122"/>
              </a:rPr>
              <a:t>M</a:t>
            </a:r>
            <a:r>
              <a:rPr lang="zh-CN" altLang="en-US" sz="1800" i="0" dirty="0">
                <a:solidFill>
                  <a:srgbClr val="FF0000"/>
                </a:solidFill>
                <a:latin typeface="微软雅黑" panose="020B0503020204020204" pitchFamily="34" charset="-122"/>
                <a:ea typeface="微软雅黑" panose="020B0503020204020204" pitchFamily="34" charset="-122"/>
              </a:rPr>
              <a:t>语言</a:t>
            </a:r>
            <a:r>
              <a:rPr lang="en-US" altLang="zh-CN" sz="1800" i="0" dirty="0">
                <a:solidFill>
                  <a:srgbClr val="FF0000"/>
                </a:solidFill>
                <a:latin typeface="微软雅黑" panose="020B0503020204020204" pitchFamily="34" charset="-122"/>
                <a:ea typeface="微软雅黑" panose="020B0503020204020204" pitchFamily="34" charset="-122"/>
              </a:rPr>
              <a:t>:</a:t>
            </a:r>
            <a:r>
              <a:rPr lang="en-US" altLang="zh-CN" sz="1800" kern="0" dirty="0" err="1">
                <a:solidFill>
                  <a:srgbClr val="FF0000"/>
                </a:solidFill>
                <a:latin typeface="微软雅黑" panose="020B0503020204020204" pitchFamily="34" charset="-122"/>
                <a:ea typeface="微软雅黑" panose="020B0503020204020204" pitchFamily="34" charset="-122"/>
              </a:rPr>
              <a:t>yyaxis</a:t>
            </a:r>
            <a:r>
              <a:rPr lang="en-US" altLang="zh-CN" sz="1800" kern="0" dirty="0">
                <a:solidFill>
                  <a:srgbClr val="FF0000"/>
                </a:solidFill>
                <a:latin typeface="微软雅黑" panose="020B0503020204020204" pitchFamily="34" charset="-122"/>
                <a:ea typeface="微软雅黑" panose="020B0503020204020204" pitchFamily="34" charset="-122"/>
              </a:rPr>
              <a:t> right, </a:t>
            </a:r>
            <a:r>
              <a:rPr lang="en-US" altLang="zh-CN" sz="1800" kern="0" dirty="0" err="1">
                <a:solidFill>
                  <a:srgbClr val="FF0000"/>
                </a:solidFill>
                <a:latin typeface="微软雅黑" panose="020B0503020204020204" pitchFamily="34" charset="-122"/>
                <a:ea typeface="微软雅黑" panose="020B0503020204020204" pitchFamily="34" charset="-122"/>
              </a:rPr>
              <a:t>yyaxis</a:t>
            </a:r>
            <a:r>
              <a:rPr lang="en-US" altLang="zh-CN" sz="1800" kern="0" dirty="0">
                <a:solidFill>
                  <a:srgbClr val="FF0000"/>
                </a:solidFill>
                <a:latin typeface="微软雅黑" panose="020B0503020204020204" pitchFamily="34" charset="-122"/>
                <a:ea typeface="微软雅黑" panose="020B0503020204020204" pitchFamily="34" charset="-122"/>
              </a:rPr>
              <a:t> left</a:t>
            </a:r>
            <a:endParaRPr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3" name="椭圆 2">
            <a:extLst>
              <a:ext uri="{FF2B5EF4-FFF2-40B4-BE49-F238E27FC236}">
                <a16:creationId xmlns:a16="http://schemas.microsoft.com/office/drawing/2014/main" id="{84F9834E-264C-4999-B9A7-8B2BB08D140A}"/>
              </a:ext>
            </a:extLst>
          </p:cNvPr>
          <p:cNvSpPr/>
          <p:nvPr/>
        </p:nvSpPr>
        <p:spPr bwMode="auto">
          <a:xfrm>
            <a:off x="5220072" y="2206312"/>
            <a:ext cx="377181" cy="13576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8850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animBg="1"/>
      <p:bldP spid="16" grpId="0" animBg="1"/>
      <p:bldP spid="17" grpId="0" animBg="1"/>
      <p:bldP spid="19" grpId="0" animBg="1"/>
      <p:bldP spid="20"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24843BC-FB5F-ADC1-AA56-C570EC9F1E0F}"/>
              </a:ext>
            </a:extLst>
          </p:cNvPr>
          <p:cNvSpPr/>
          <p:nvPr/>
        </p:nvSpPr>
        <p:spPr>
          <a:xfrm>
            <a:off x="436137" y="697062"/>
            <a:ext cx="8600359" cy="400110"/>
          </a:xfrm>
          <a:prstGeom prst="rect">
            <a:avLst/>
          </a:prstGeom>
          <a:solidFill>
            <a:schemeClr val="bg1"/>
          </a:solidFill>
        </p:spPr>
        <p:txBody>
          <a:bodyPr wrap="square">
            <a:spAutoFit/>
          </a:bodyPr>
          <a:lstStyle/>
          <a:p>
            <a:pPr algn="dist" defTabSz="0" eaLnBrk="0" hangingPunct="0">
              <a:spcBef>
                <a:spcPct val="30000"/>
              </a:spcBef>
            </a:pPr>
            <a:r>
              <a:rPr lang="zh-CN" altLang="en-US" sz="2000" b="1" dirty="0">
                <a:solidFill>
                  <a:srgbClr val="0070C0"/>
                </a:solidFill>
                <a:latin typeface="微软雅黑" panose="020B0503020204020204" pitchFamily="34" charset="-122"/>
                <a:ea typeface="微软雅黑" panose="020B0503020204020204" pitchFamily="34" charset="-122"/>
              </a:rPr>
              <a:t>绘制某冰箱厂家一年</a:t>
            </a:r>
            <a:r>
              <a:rPr lang="en-US" altLang="zh-CN" sz="2000" b="1" dirty="0">
                <a:solidFill>
                  <a:srgbClr val="0070C0"/>
                </a:solidFill>
                <a:latin typeface="微软雅黑" panose="020B0503020204020204" pitchFamily="34" charset="-122"/>
                <a:ea typeface="微软雅黑" panose="020B0503020204020204" pitchFamily="34" charset="-122"/>
              </a:rPr>
              <a:t>12</a:t>
            </a:r>
            <a:r>
              <a:rPr lang="zh-CN" altLang="en-US" sz="2000" b="1" dirty="0">
                <a:solidFill>
                  <a:srgbClr val="0070C0"/>
                </a:solidFill>
                <a:latin typeface="微软雅黑" panose="020B0503020204020204" pitchFamily="34" charset="-122"/>
                <a:ea typeface="微软雅黑" panose="020B0503020204020204" pitchFamily="34" charset="-122"/>
              </a:rPr>
              <a:t>个月的冰箱月销售量和增长率的双纵坐标轴图</a:t>
            </a:r>
          </a:p>
        </p:txBody>
      </p:sp>
      <p:sp>
        <p:nvSpPr>
          <p:cNvPr id="8" name="矩形 7">
            <a:extLst>
              <a:ext uri="{FF2B5EF4-FFF2-40B4-BE49-F238E27FC236}">
                <a16:creationId xmlns:a16="http://schemas.microsoft.com/office/drawing/2014/main" id="{6F817655-42ED-47C4-B1C6-4DBC9A6AD269}"/>
              </a:ext>
            </a:extLst>
          </p:cNvPr>
          <p:cNvSpPr/>
          <p:nvPr/>
        </p:nvSpPr>
        <p:spPr>
          <a:xfrm>
            <a:off x="684251" y="118603"/>
            <a:ext cx="8352245" cy="523220"/>
          </a:xfrm>
          <a:prstGeom prst="rect">
            <a:avLst/>
          </a:prstGeom>
          <a:solidFill>
            <a:schemeClr val="bg1"/>
          </a:solidFill>
        </p:spPr>
        <p:txBody>
          <a:bodyPr wrap="square">
            <a:spAutoFit/>
          </a:bodyPr>
          <a:lstStyle/>
          <a:p>
            <a:pPr eaLnBrk="0" hangingPunct="0">
              <a:defRPr/>
            </a:pPr>
            <a:r>
              <a:rPr lang="en-US" altLang="zh-CN" sz="2800" kern="0" dirty="0">
                <a:solidFill>
                  <a:srgbClr val="002060"/>
                </a:solidFill>
                <a:latin typeface="华文楷体" panose="02010600040101010101" pitchFamily="2" charset="-122"/>
                <a:ea typeface="华文楷体" panose="02010600040101010101" pitchFamily="2" charset="-122"/>
              </a:rPr>
              <a:t> </a:t>
            </a:r>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§3.3.3 </a:t>
            </a:r>
            <a:r>
              <a:rPr lang="en-US" altLang="zh-CN" sz="2800" b="1" kern="0" dirty="0" err="1">
                <a:solidFill>
                  <a:srgbClr val="002060"/>
                </a:solidFill>
                <a:latin typeface="华文楷体" panose="02010600040101010101" pitchFamily="2" charset="-122"/>
                <a:ea typeface="华文楷体" panose="02010600040101010101" pitchFamily="2" charset="-122"/>
              </a:rPr>
              <a:t>yyaxis</a:t>
            </a:r>
            <a:r>
              <a:rPr lang="zh-CN" altLang="en-US" sz="2800" kern="0" dirty="0">
                <a:solidFill>
                  <a:srgbClr val="002060"/>
                </a:solidFill>
                <a:latin typeface="华文楷体" panose="02010600040101010101" pitchFamily="2" charset="-122"/>
                <a:ea typeface="华文楷体" panose="02010600040101010101" pitchFamily="2" charset="-122"/>
              </a:rPr>
              <a:t>创建双纵坐标轴 </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双纵坐标轴案例</a:t>
            </a:r>
            <a:endParaRPr lang="zh-CN" altLang="en-US" sz="2800"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9" name="波形 8">
            <a:extLst>
              <a:ext uri="{FF2B5EF4-FFF2-40B4-BE49-F238E27FC236}">
                <a16:creationId xmlns:a16="http://schemas.microsoft.com/office/drawing/2014/main" id="{8E75924A-A8A1-4470-BDC9-EB08A5BA20E8}"/>
              </a:ext>
            </a:extLst>
          </p:cNvPr>
          <p:cNvSpPr/>
          <p:nvPr/>
        </p:nvSpPr>
        <p:spPr>
          <a:xfrm>
            <a:off x="107504" y="627534"/>
            <a:ext cx="328633" cy="394052"/>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68580" tIns="34290" rIns="68580" bIns="3429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charset="-122"/>
                <a:ea typeface="微软雅黑" panose="020B0503020204020204" charset="-122"/>
              </a:rPr>
              <a:t>例7</a:t>
            </a:r>
            <a:endParaRPr lang="ko-KR" altLang="en-US" sz="1600" b="1" dirty="0">
              <a:solidFill>
                <a:srgbClr val="FFFF00"/>
              </a:solidFill>
              <a:latin typeface="微软雅黑" panose="020B0503020204020204" charset="-122"/>
              <a:ea typeface="微软雅黑" panose="020B0503020204020204" charset="-122"/>
            </a:endParaRPr>
          </a:p>
        </p:txBody>
      </p:sp>
      <p:pic>
        <p:nvPicPr>
          <p:cNvPr id="13" name="图片 12">
            <a:extLst>
              <a:ext uri="{FF2B5EF4-FFF2-40B4-BE49-F238E27FC236}">
                <a16:creationId xmlns:a16="http://schemas.microsoft.com/office/drawing/2014/main" id="{6596878E-9954-443D-A31B-EBB41D215CE5}"/>
              </a:ext>
            </a:extLst>
          </p:cNvPr>
          <p:cNvPicPr>
            <a:picLocks noChangeAspect="1"/>
          </p:cNvPicPr>
          <p:nvPr/>
        </p:nvPicPr>
        <p:blipFill rotWithShape="1">
          <a:blip r:embed="rId3"/>
          <a:srcRect l="5237" t="10290" r="2596" b="5900"/>
          <a:stretch/>
        </p:blipFill>
        <p:spPr>
          <a:xfrm>
            <a:off x="6012160" y="1779662"/>
            <a:ext cx="2946256" cy="2165308"/>
          </a:xfrm>
          <a:prstGeom prst="rect">
            <a:avLst/>
          </a:prstGeom>
        </p:spPr>
      </p:pic>
      <p:sp>
        <p:nvSpPr>
          <p:cNvPr id="14" name="文本框 13">
            <a:extLst>
              <a:ext uri="{FF2B5EF4-FFF2-40B4-BE49-F238E27FC236}">
                <a16:creationId xmlns:a16="http://schemas.microsoft.com/office/drawing/2014/main" id="{A2D54D84-86A7-4334-A3DA-03EAA7E29827}"/>
              </a:ext>
            </a:extLst>
          </p:cNvPr>
          <p:cNvSpPr txBox="1"/>
          <p:nvPr/>
        </p:nvSpPr>
        <p:spPr>
          <a:xfrm>
            <a:off x="107505" y="1002121"/>
            <a:ext cx="9036496" cy="3462486"/>
          </a:xfrm>
          <a:prstGeom prst="rect">
            <a:avLst/>
          </a:prstGeom>
          <a:noFill/>
        </p:spPr>
        <p:txBody>
          <a:bodyPr wrap="square">
            <a:spAutoFit/>
          </a:bodyPr>
          <a:lstStyle/>
          <a:p>
            <a:pPr>
              <a:lnSpc>
                <a:spcPts val="1800"/>
              </a:lnSpc>
            </a:pP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p>
          <a:p>
            <a:pPr>
              <a:lnSpc>
                <a:spcPts val="1800"/>
              </a:lnSpc>
            </a:pPr>
            <a:r>
              <a:rPr lang="en-US" altLang="zh-CN" b="0" dirty="0" err="1">
                <a:solidFill>
                  <a:srgbClr val="000000"/>
                </a:solidFill>
                <a:effectLst/>
                <a:latin typeface="Consolas" panose="020B0609020204030204" pitchFamily="49" charset="0"/>
              </a:rPr>
              <a:t>yx</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15241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35245</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39574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34569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48578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49542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52142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56478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64524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74854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74958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84562</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销量</a:t>
            </a:r>
            <a:endParaRPr lang="zh-CN" altLang="en-US" b="0" dirty="0">
              <a:solidFill>
                <a:srgbClr val="000000"/>
              </a:solidFill>
              <a:effectLst/>
              <a:latin typeface="Consolas" panose="020B0609020204030204" pitchFamily="49" charset="0"/>
            </a:endParaRPr>
          </a:p>
          <a:p>
            <a:pPr>
              <a:lnSpc>
                <a:spcPts val="1800"/>
              </a:lnSpc>
            </a:pPr>
            <a:r>
              <a:rPr lang="en-US" altLang="zh-CN" b="0" dirty="0">
                <a:solidFill>
                  <a:srgbClr val="008000"/>
                </a:solidFill>
                <a:effectLst/>
                <a:latin typeface="Consolas" panose="020B0609020204030204" pitchFamily="49" charset="0"/>
              </a:rPr>
              <a:t>#yyaxis("left") #</a:t>
            </a:r>
            <a:r>
              <a:rPr lang="zh-CN" altLang="en-US" b="0" dirty="0">
                <a:solidFill>
                  <a:srgbClr val="008000"/>
                </a:solidFill>
                <a:effectLst/>
                <a:latin typeface="Consolas" panose="020B0609020204030204" pitchFamily="49" charset="0"/>
              </a:rPr>
              <a:t>左坐标绘制销量</a:t>
            </a:r>
            <a:endParaRPr lang="zh-CN" altLang="en-US" b="0" dirty="0">
              <a:solidFill>
                <a:srgbClr val="000000"/>
              </a:solidFill>
              <a:effectLst/>
              <a:latin typeface="Consolas" panose="020B0609020204030204" pitchFamily="49" charset="0"/>
            </a:endParaRPr>
          </a:p>
          <a:p>
            <a:pPr>
              <a:lnSpc>
                <a:spcPts val="1800"/>
              </a:lnSpc>
            </a:pPr>
            <a:r>
              <a:rPr lang="en-US" altLang="zh-CN" b="0" dirty="0">
                <a:solidFill>
                  <a:srgbClr val="795E26"/>
                </a:solidFill>
                <a:effectLst/>
                <a:latin typeface="Consolas" panose="020B0609020204030204" pitchFamily="49" charset="0"/>
              </a:rPr>
              <a:t>bar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x,yx</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左坐标绘制销量条形图</a:t>
            </a:r>
            <a:endParaRPr lang="zh-CN" altLang="en-US" b="0" dirty="0">
              <a:solidFill>
                <a:srgbClr val="000000"/>
              </a:solidFill>
              <a:effectLst/>
              <a:latin typeface="Consolas" panose="020B0609020204030204" pitchFamily="49" charset="0"/>
            </a:endParaRPr>
          </a:p>
          <a:p>
            <a:pPr>
              <a:lnSpc>
                <a:spcPts val="1800"/>
              </a:lnSpc>
            </a:pPr>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月</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件</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pPr>
              <a:lnSpc>
                <a:spcPts val="1800"/>
              </a:lnSpc>
            </a:pPr>
            <a:r>
              <a:rPr lang="en-US" altLang="zh-CN" b="0" dirty="0" err="1">
                <a:solidFill>
                  <a:srgbClr val="795E26"/>
                </a:solidFill>
                <a:effectLst/>
                <a:latin typeface="Consolas" panose="020B0609020204030204" pitchFamily="49" charset="0"/>
              </a:rPr>
              <a:t>yyaxis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"right"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右坐标绘制增长率</a:t>
            </a:r>
            <a:endParaRPr lang="zh-CN" altLang="en-US" b="0" dirty="0">
              <a:solidFill>
                <a:srgbClr val="000000"/>
              </a:solidFill>
              <a:effectLst/>
              <a:latin typeface="Consolas" panose="020B0609020204030204" pitchFamily="49" charset="0"/>
            </a:endParaRPr>
          </a:p>
          <a:p>
            <a:pPr>
              <a:lnSpc>
                <a:spcPts val="1800"/>
              </a:lnSpc>
            </a:pPr>
            <a:r>
              <a:rPr lang="en-US" altLang="zh-CN" b="0" dirty="0" err="1">
                <a:solidFill>
                  <a:srgbClr val="000000"/>
                </a:solidFill>
                <a:effectLst/>
                <a:latin typeface="Consolas" panose="020B0609020204030204" pitchFamily="49" charset="0"/>
              </a:rPr>
              <a:t>yz</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56.76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10.94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14.48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28.84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1.95</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4.99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7.68</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12.47</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13.80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0.14</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11.36</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增长率</a:t>
            </a:r>
            <a:endParaRPr lang="zh-CN" altLang="en-US" b="0" dirty="0">
              <a:solidFill>
                <a:srgbClr val="000000"/>
              </a:solidFill>
              <a:effectLst/>
              <a:latin typeface="Consolas" panose="020B0609020204030204" pitchFamily="49" charset="0"/>
            </a:endParaRPr>
          </a:p>
          <a:p>
            <a:pPr>
              <a:lnSpc>
                <a:spcPts val="1800"/>
              </a:lnSpc>
            </a:pPr>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end</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yz</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"-*r"</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右坐标绘制增长率的折线图</a:t>
            </a:r>
            <a:endParaRPr lang="zh-CN" altLang="en-US" b="0" dirty="0">
              <a:solidFill>
                <a:srgbClr val="000000"/>
              </a:solidFill>
              <a:effectLst/>
              <a:latin typeface="Consolas" panose="020B0609020204030204" pitchFamily="49" charset="0"/>
            </a:endParaRPr>
          </a:p>
          <a:p>
            <a:pPr>
              <a:lnSpc>
                <a:spcPts val="1800"/>
              </a:lnSpc>
            </a:pP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增长率，</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AF00DB"/>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 k =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text</a:t>
            </a:r>
            <a:r>
              <a:rPr lang="en-US" altLang="zh-CN" b="0" dirty="0">
                <a:solidFill>
                  <a:srgbClr val="000000"/>
                </a:solidFill>
                <a:effectLst/>
                <a:latin typeface="Consolas" panose="020B0609020204030204" pitchFamily="49" charset="0"/>
              </a:rPr>
              <a:t>(x[k+</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yz</a:t>
            </a:r>
            <a:r>
              <a:rPr lang="en-US" altLang="zh-CN" b="0" dirty="0">
                <a:solidFill>
                  <a:srgbClr val="000000"/>
                </a:solidFill>
                <a:effectLst/>
                <a:latin typeface="Consolas" panose="020B0609020204030204" pitchFamily="49" charset="0"/>
              </a:rPr>
              <a:t>[k], </a:t>
            </a:r>
            <a:r>
              <a:rPr lang="en-US" altLang="zh-CN" b="0" dirty="0">
                <a:solidFill>
                  <a:srgbClr val="795E26"/>
                </a:solidFill>
                <a:effectLst/>
                <a:latin typeface="Consolas" panose="020B0609020204030204" pitchFamily="49" charset="0"/>
              </a:rPr>
              <a:t>string</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yz</a:t>
            </a:r>
            <a:r>
              <a:rPr lang="en-US" altLang="zh-CN" b="0" dirty="0">
                <a:solidFill>
                  <a:srgbClr val="000000"/>
                </a:solidFill>
                <a:effectLst/>
                <a:latin typeface="Consolas" panose="020B0609020204030204" pitchFamily="49" charset="0"/>
              </a:rPr>
              <a:t>[k]))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注释每月增长率</a:t>
            </a:r>
            <a:endParaRPr lang="zh-CN" altLang="en-US" b="0" dirty="0">
              <a:solidFill>
                <a:srgbClr val="000000"/>
              </a:solidFill>
              <a:effectLst/>
              <a:latin typeface="Consolas" panose="020B0609020204030204" pitchFamily="49" charset="0"/>
            </a:endParaRPr>
          </a:p>
          <a:p>
            <a:r>
              <a:rPr lang="en-US" altLang="zh-CN" b="0" dirty="0">
                <a:solidFill>
                  <a:srgbClr val="AF00DB"/>
                </a:solidFill>
                <a:effectLst/>
                <a:latin typeface="Consolas" panose="020B0609020204030204" pitchFamily="49" charset="0"/>
              </a:rPr>
              <a:t>end</a:t>
            </a:r>
            <a:endParaRPr lang="en-US" altLang="zh-CN" b="0" dirty="0">
              <a:solidFill>
                <a:srgbClr val="000000"/>
              </a:solidFill>
              <a:effectLst/>
              <a:latin typeface="Consolas" panose="020B0609020204030204" pitchFamily="49" charset="0"/>
            </a:endParaRPr>
          </a:p>
        </p:txBody>
      </p:sp>
      <p:sp>
        <p:nvSpPr>
          <p:cNvPr id="15" name="AutoShape 13">
            <a:extLst>
              <a:ext uri="{FF2B5EF4-FFF2-40B4-BE49-F238E27FC236}">
                <a16:creationId xmlns:a16="http://schemas.microsoft.com/office/drawing/2014/main" id="{C7985863-65CE-45D3-ABB7-8A195F9763CE}"/>
              </a:ext>
            </a:extLst>
          </p:cNvPr>
          <p:cNvSpPr>
            <a:spLocks noChangeArrowheads="1"/>
          </p:cNvSpPr>
          <p:nvPr/>
        </p:nvSpPr>
        <p:spPr bwMode="auto">
          <a:xfrm>
            <a:off x="-21316" y="4349267"/>
            <a:ext cx="1664474" cy="400110"/>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p>
            <a:pPr eaLnBrk="0" hangingPunct="0">
              <a:lnSpc>
                <a:spcPct val="150000"/>
              </a:lnSpc>
              <a:defRPr/>
            </a:pPr>
            <a:r>
              <a:rPr lang="zh-CN" altLang="en-US" sz="1800" b="1" dirty="0">
                <a:solidFill>
                  <a:srgbClr val="FFFF00"/>
                </a:solidFill>
                <a:latin typeface="微软雅黑" panose="020B0503020204020204" pitchFamily="34" charset="-122"/>
                <a:ea typeface="微软雅黑" panose="020B0503020204020204" pitchFamily="34" charset="-122"/>
              </a:rPr>
              <a:t>注意</a:t>
            </a:r>
            <a:endParaRPr lang="en-US" altLang="zh-CN" sz="1800" b="1" dirty="0">
              <a:solidFill>
                <a:srgbClr val="FFFF00"/>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3F17C1E9-CC28-4F93-8870-2A06E8DEFB32}"/>
              </a:ext>
            </a:extLst>
          </p:cNvPr>
          <p:cNvSpPr/>
          <p:nvPr/>
        </p:nvSpPr>
        <p:spPr>
          <a:xfrm>
            <a:off x="1437928" y="4227963"/>
            <a:ext cx="7560840" cy="369332"/>
          </a:xfrm>
          <a:prstGeom prst="rect">
            <a:avLst/>
          </a:prstGeom>
          <a:solidFill>
            <a:schemeClr val="bg1"/>
          </a:solidFill>
        </p:spPr>
        <p:txBody>
          <a:bodyPr wrap="square">
            <a:spAutoFit/>
          </a:bodyPr>
          <a:lstStyle/>
          <a:p>
            <a:pPr algn="dist" defTabSz="0" eaLnBrk="0" hangingPunct="0">
              <a:spcBef>
                <a:spcPct val="30000"/>
              </a:spcBef>
              <a:defRPr/>
            </a:pPr>
            <a:r>
              <a:rPr lang="zh-CN" altLang="en-US" b="1" dirty="0">
                <a:solidFill>
                  <a:srgbClr val="0070C0"/>
                </a:solidFill>
                <a:latin typeface="微软雅黑" panose="020B0503020204020204" pitchFamily="34" charset="-122"/>
                <a:ea typeface="微软雅黑" panose="020B0503020204020204" pitchFamily="34" charset="-122"/>
              </a:rPr>
              <a:t>两个不同量纲的两条曲线绘制在同一个图时，必须采用两个纵坐标 </a:t>
            </a:r>
          </a:p>
        </p:txBody>
      </p:sp>
    </p:spTree>
    <p:extLst>
      <p:ext uri="{BB962C8B-B14F-4D97-AF65-F5344CB8AC3E}">
        <p14:creationId xmlns:p14="http://schemas.microsoft.com/office/powerpoint/2010/main" val="4249372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4890DF2-F34B-27C1-B715-738B5638E532}"/>
              </a:ext>
            </a:extLst>
          </p:cNvPr>
          <p:cNvSpPr/>
          <p:nvPr/>
        </p:nvSpPr>
        <p:spPr>
          <a:xfrm>
            <a:off x="321778" y="1877449"/>
            <a:ext cx="1030787" cy="313932"/>
          </a:xfrm>
          <a:prstGeom prst="rect">
            <a:avLst/>
          </a:prstGeom>
        </p:spPr>
        <p:txBody>
          <a:bodyPr wrap="square">
            <a:spAutoFit/>
          </a:bodyPr>
          <a:lstStyle/>
          <a:p>
            <a:pPr defTabSz="0">
              <a:lnSpc>
                <a:spcPct val="80000"/>
              </a:lnSpc>
              <a:spcBef>
                <a:spcPct val="20000"/>
              </a:spcBef>
            </a:pPr>
            <a:r>
              <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x</a:t>
            </a:r>
            <a:r>
              <a:rPr lang="zh-CN" altLang="en-US"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取对数</a:t>
            </a:r>
            <a:endPar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 name="矩形 4">
            <a:extLst>
              <a:ext uri="{FF2B5EF4-FFF2-40B4-BE49-F238E27FC236}">
                <a16:creationId xmlns:a16="http://schemas.microsoft.com/office/drawing/2014/main" id="{8E9A70AC-9926-164F-152D-508918C44D50}"/>
              </a:ext>
            </a:extLst>
          </p:cNvPr>
          <p:cNvSpPr/>
          <p:nvPr/>
        </p:nvSpPr>
        <p:spPr>
          <a:xfrm>
            <a:off x="1610129" y="1791072"/>
            <a:ext cx="4095647" cy="369332"/>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p>
            <a:r>
              <a:rPr lang="en-US" altLang="zh-CN" b="1" dirty="0" err="1">
                <a:solidFill>
                  <a:schemeClr val="bg1"/>
                </a:solidFill>
                <a:latin typeface="华文楷体" panose="02010600040101010101" pitchFamily="2" charset="-122"/>
                <a:ea typeface="华文楷体" panose="02010600040101010101" pitchFamily="2" charset="-122"/>
                <a:sym typeface="Arial" panose="020B0604020202020204" pitchFamily="34" charset="0"/>
              </a:rPr>
              <a:t>semilog</a:t>
            </a:r>
            <a:r>
              <a:rPr lang="en-US" altLang="zh-CN"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x</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(x1,y1,</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,x2,y2,</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 </a:t>
            </a:r>
          </a:p>
        </p:txBody>
      </p:sp>
      <p:sp>
        <p:nvSpPr>
          <p:cNvPr id="6" name="矩形 5">
            <a:extLst>
              <a:ext uri="{FF2B5EF4-FFF2-40B4-BE49-F238E27FC236}">
                <a16:creationId xmlns:a16="http://schemas.microsoft.com/office/drawing/2014/main" id="{836D11DA-11D8-8862-65E9-8E5C54D74290}"/>
              </a:ext>
            </a:extLst>
          </p:cNvPr>
          <p:cNvSpPr/>
          <p:nvPr/>
        </p:nvSpPr>
        <p:spPr>
          <a:xfrm>
            <a:off x="323927" y="2811602"/>
            <a:ext cx="1061976" cy="313932"/>
          </a:xfrm>
          <a:prstGeom prst="rect">
            <a:avLst/>
          </a:prstGeom>
        </p:spPr>
        <p:txBody>
          <a:bodyPr wrap="square">
            <a:spAutoFit/>
          </a:bodyPr>
          <a:lstStyle/>
          <a:p>
            <a:pPr defTabSz="0">
              <a:lnSpc>
                <a:spcPct val="80000"/>
              </a:lnSpc>
              <a:spcBef>
                <a:spcPct val="20000"/>
              </a:spcBef>
            </a:pPr>
            <a:r>
              <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取对数</a:t>
            </a:r>
            <a:endPar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7" name="矩形 6">
            <a:extLst>
              <a:ext uri="{FF2B5EF4-FFF2-40B4-BE49-F238E27FC236}">
                <a16:creationId xmlns:a16="http://schemas.microsoft.com/office/drawing/2014/main" id="{A820249A-F882-535D-1FDB-8E38B6391CBC}"/>
              </a:ext>
            </a:extLst>
          </p:cNvPr>
          <p:cNvSpPr/>
          <p:nvPr/>
        </p:nvSpPr>
        <p:spPr>
          <a:xfrm>
            <a:off x="1753546" y="3706874"/>
            <a:ext cx="3798815" cy="369332"/>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p>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loglog(x1,y1,</a:t>
            </a:r>
            <a:r>
              <a:rPr lang="en-US" altLang="zh-CN" b="1"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,x2,y2,</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a:t>
            </a:r>
          </a:p>
        </p:txBody>
      </p:sp>
      <p:sp>
        <p:nvSpPr>
          <p:cNvPr id="8" name="矩形 7">
            <a:extLst>
              <a:ext uri="{FF2B5EF4-FFF2-40B4-BE49-F238E27FC236}">
                <a16:creationId xmlns:a16="http://schemas.microsoft.com/office/drawing/2014/main" id="{C48920F8-B8BD-CF27-79EB-C71088F0704B}"/>
              </a:ext>
            </a:extLst>
          </p:cNvPr>
          <p:cNvSpPr/>
          <p:nvPr/>
        </p:nvSpPr>
        <p:spPr>
          <a:xfrm>
            <a:off x="268517" y="3805185"/>
            <a:ext cx="1412009" cy="313932"/>
          </a:xfrm>
          <a:prstGeom prst="rect">
            <a:avLst/>
          </a:prstGeom>
        </p:spPr>
        <p:txBody>
          <a:bodyPr wrap="square">
            <a:spAutoFit/>
          </a:bodyPr>
          <a:lstStyle/>
          <a:p>
            <a:pPr defTabSz="0">
              <a:lnSpc>
                <a:spcPct val="80000"/>
              </a:lnSpc>
              <a:spcBef>
                <a:spcPct val="20000"/>
              </a:spcBef>
            </a:pPr>
            <a:r>
              <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x</a:t>
            </a:r>
            <a:r>
              <a:rPr lang="zh-CN" altLang="en-US"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y</a:t>
            </a:r>
            <a:r>
              <a:rPr lang="zh-CN" altLang="en-US"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取对数</a:t>
            </a:r>
            <a:endParaRPr lang="en-US" altLang="zh-CN" b="1" kern="0" dirty="0">
              <a:solidFill>
                <a:srgbClr val="00B0F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8">
            <a:extLst>
              <a:ext uri="{FF2B5EF4-FFF2-40B4-BE49-F238E27FC236}">
                <a16:creationId xmlns:a16="http://schemas.microsoft.com/office/drawing/2014/main" id="{4ED2B899-CCB2-574B-FBE6-B9218EF69C93}"/>
              </a:ext>
            </a:extLst>
          </p:cNvPr>
          <p:cNvSpPr/>
          <p:nvPr/>
        </p:nvSpPr>
        <p:spPr>
          <a:xfrm>
            <a:off x="1543047" y="2780091"/>
            <a:ext cx="4009314" cy="369332"/>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p>
            <a:r>
              <a:rPr lang="en-US" altLang="zh-CN" b="1" dirty="0" err="1">
                <a:solidFill>
                  <a:schemeClr val="bg1"/>
                </a:solidFill>
                <a:latin typeface="华文楷体" panose="02010600040101010101" pitchFamily="2" charset="-122"/>
                <a:ea typeface="华文楷体" panose="02010600040101010101" pitchFamily="2" charset="-122"/>
                <a:sym typeface="Arial" panose="020B0604020202020204" pitchFamily="34" charset="0"/>
              </a:rPr>
              <a:t>semilog</a:t>
            </a:r>
            <a:r>
              <a:rPr lang="en-US" altLang="zh-CN" b="1" dirty="0" err="1">
                <a:solidFill>
                  <a:schemeClr val="bg1"/>
                </a:solidFill>
                <a:highlight>
                  <a:srgbClr val="FF0000"/>
                </a:highlight>
                <a:latin typeface="华文楷体" panose="02010600040101010101" pitchFamily="2" charset="-122"/>
                <a:ea typeface="华文楷体" panose="02010600040101010101" pitchFamily="2" charset="-122"/>
                <a:sym typeface="Arial" panose="020B0604020202020204" pitchFamily="34" charset="0"/>
              </a:rPr>
              <a:t>y</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(x1,y1,</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,x2,y2,</a:t>
            </a:r>
            <a:r>
              <a:rPr lang="en-US" altLang="zh-CN"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 </a:t>
            </a:r>
            <a:r>
              <a:rPr lang="en-US" altLang="zh-CN" b="1" dirty="0" err="1">
                <a:solidFill>
                  <a:srgbClr val="FFFF00"/>
                </a:solidFill>
                <a:latin typeface="华文楷体" panose="02010600040101010101" pitchFamily="2" charset="-122"/>
                <a:ea typeface="华文楷体" panose="02010600040101010101" pitchFamily="2" charset="-122"/>
                <a:cs typeface="Times New Roman" panose="02020603050405020304" pitchFamily="18" charset="0"/>
                <a:sym typeface="+mn-ea"/>
              </a:rPr>
              <a:t>LineSpec</a:t>
            </a:r>
            <a:r>
              <a:rPr lang="en-US" altLang="zh-CN" b="1" dirty="0">
                <a:solidFill>
                  <a:schemeClr val="bg1"/>
                </a:solidFill>
                <a:latin typeface="华文楷体" panose="02010600040101010101" pitchFamily="2" charset="-122"/>
                <a:ea typeface="华文楷体" panose="02010600040101010101" pitchFamily="2" charset="-122"/>
                <a:sym typeface="Arial" panose="020B0604020202020204" pitchFamily="34" charset="0"/>
              </a:rPr>
              <a:t>) </a:t>
            </a:r>
          </a:p>
        </p:txBody>
      </p:sp>
      <p:sp>
        <p:nvSpPr>
          <p:cNvPr id="11" name="矩形 10">
            <a:extLst>
              <a:ext uri="{FF2B5EF4-FFF2-40B4-BE49-F238E27FC236}">
                <a16:creationId xmlns:a16="http://schemas.microsoft.com/office/drawing/2014/main" id="{C46A2DCE-B9C3-8CC7-BC13-63225C63DA63}"/>
              </a:ext>
            </a:extLst>
          </p:cNvPr>
          <p:cNvSpPr/>
          <p:nvPr/>
        </p:nvSpPr>
        <p:spPr>
          <a:xfrm>
            <a:off x="35496" y="3247104"/>
            <a:ext cx="2492990" cy="461665"/>
          </a:xfrm>
          <a:prstGeom prst="rect">
            <a:avLst/>
          </a:prstGeom>
        </p:spPr>
        <p:txBody>
          <a:bodyPr wrap="none">
            <a:spAutoFit/>
          </a:bodyPr>
          <a:lstStyle/>
          <a:p>
            <a:pPr marL="457200" indent="-457200">
              <a:buFont typeface="Wingdings" panose="05000000000000000000" pitchFamily="2" charset="2"/>
              <a:buChar char="Ø"/>
            </a:pPr>
            <a:r>
              <a:rPr lang="zh-CN" altLang="en-US" sz="2400" dirty="0">
                <a:solidFill>
                  <a:srgbClr val="002060"/>
                </a:solidFill>
                <a:latin typeface="华文楷体" panose="02010600040101010101" pitchFamily="2" charset="-122"/>
                <a:ea typeface="华文楷体" panose="02010600040101010101" pitchFamily="2" charset="-122"/>
              </a:rPr>
              <a:t>双对数刻度图</a:t>
            </a:r>
          </a:p>
        </p:txBody>
      </p:sp>
      <p:sp>
        <p:nvSpPr>
          <p:cNvPr id="12" name="矩形 11">
            <a:extLst>
              <a:ext uri="{FF2B5EF4-FFF2-40B4-BE49-F238E27FC236}">
                <a16:creationId xmlns:a16="http://schemas.microsoft.com/office/drawing/2014/main" id="{9E8C83D4-2DEC-DC86-2F99-3A8E56273868}"/>
              </a:ext>
            </a:extLst>
          </p:cNvPr>
          <p:cNvSpPr/>
          <p:nvPr/>
        </p:nvSpPr>
        <p:spPr>
          <a:xfrm>
            <a:off x="35496" y="2223120"/>
            <a:ext cx="4750018" cy="461665"/>
          </a:xfrm>
          <a:prstGeom prst="rect">
            <a:avLst/>
          </a:prstGeom>
        </p:spPr>
        <p:txBody>
          <a:bodyPr wrap="none">
            <a:spAutoFit/>
          </a:bodyPr>
          <a:lstStyle/>
          <a:p>
            <a:pPr marL="457200" indent="-457200">
              <a:buFont typeface="Wingdings" panose="05000000000000000000" pitchFamily="2" charset="2"/>
              <a:buChar char="Ø"/>
            </a:pPr>
            <a:r>
              <a:rPr lang="zh-CN" altLang="en-US" sz="2400" dirty="0">
                <a:solidFill>
                  <a:srgbClr val="002060"/>
                </a:solidFill>
                <a:latin typeface="华文楷体" panose="02010600040101010101" pitchFamily="2" charset="-122"/>
                <a:ea typeface="华文楷体" panose="02010600040101010101" pitchFamily="2" charset="-122"/>
              </a:rPr>
              <a:t>按照 </a:t>
            </a:r>
            <a:r>
              <a:rPr lang="en-US" altLang="zh-CN" sz="2400" dirty="0">
                <a:solidFill>
                  <a:srgbClr val="002060"/>
                </a:solidFill>
                <a:latin typeface="华文楷体" panose="02010600040101010101" pitchFamily="2" charset="-122"/>
                <a:ea typeface="华文楷体" panose="02010600040101010101" pitchFamily="2" charset="-122"/>
              </a:rPr>
              <a:t>y</a:t>
            </a:r>
            <a:r>
              <a:rPr lang="zh-CN" altLang="en-US" sz="2400" dirty="0">
                <a:solidFill>
                  <a:srgbClr val="002060"/>
                </a:solidFill>
                <a:latin typeface="华文楷体" panose="02010600040101010101" pitchFamily="2" charset="-122"/>
                <a:ea typeface="华文楷体" panose="02010600040101010101" pitchFamily="2" charset="-122"/>
              </a:rPr>
              <a:t> 轴的对数刻度绘制</a:t>
            </a:r>
            <a:r>
              <a:rPr lang="en-US" altLang="zh-CN" sz="2400" dirty="0">
                <a:solidFill>
                  <a:srgbClr val="002060"/>
                </a:solidFill>
                <a:latin typeface="华文楷体" panose="02010600040101010101" pitchFamily="2" charset="-122"/>
                <a:ea typeface="华文楷体" panose="02010600040101010101" pitchFamily="2" charset="-122"/>
              </a:rPr>
              <a:t>y</a:t>
            </a:r>
            <a:r>
              <a:rPr lang="zh-CN" altLang="en-US" sz="2400" dirty="0">
                <a:solidFill>
                  <a:srgbClr val="002060"/>
                </a:solidFill>
                <a:latin typeface="华文楷体" panose="02010600040101010101" pitchFamily="2" charset="-122"/>
                <a:ea typeface="华文楷体" panose="02010600040101010101" pitchFamily="2" charset="-122"/>
              </a:rPr>
              <a:t>数据</a:t>
            </a:r>
          </a:p>
        </p:txBody>
      </p:sp>
      <p:sp>
        <p:nvSpPr>
          <p:cNvPr id="13" name="矩形 12">
            <a:extLst>
              <a:ext uri="{FF2B5EF4-FFF2-40B4-BE49-F238E27FC236}">
                <a16:creationId xmlns:a16="http://schemas.microsoft.com/office/drawing/2014/main" id="{A0E464D4-D65D-C9E4-25F3-40450536A723}"/>
              </a:ext>
            </a:extLst>
          </p:cNvPr>
          <p:cNvSpPr/>
          <p:nvPr/>
        </p:nvSpPr>
        <p:spPr>
          <a:xfrm>
            <a:off x="35496" y="1353068"/>
            <a:ext cx="4775666" cy="461665"/>
          </a:xfrm>
          <a:prstGeom prst="rect">
            <a:avLst/>
          </a:prstGeom>
        </p:spPr>
        <p:txBody>
          <a:bodyPr wrap="none">
            <a:spAutoFit/>
          </a:bodyPr>
          <a:lstStyle/>
          <a:p>
            <a:pPr marL="457200" indent="-457200">
              <a:buFont typeface="Wingdings" panose="05000000000000000000" pitchFamily="2" charset="2"/>
              <a:buChar char="Ø"/>
            </a:pPr>
            <a:r>
              <a:rPr lang="zh-CN" altLang="en-US" sz="2400" dirty="0">
                <a:solidFill>
                  <a:srgbClr val="002060"/>
                </a:solidFill>
                <a:latin typeface="华文楷体" panose="02010600040101010101" pitchFamily="2" charset="-122"/>
                <a:ea typeface="华文楷体" panose="02010600040101010101" pitchFamily="2" charset="-122"/>
              </a:rPr>
              <a:t>按照 </a:t>
            </a:r>
            <a:r>
              <a:rPr lang="en-US" altLang="zh-CN" sz="2400" dirty="0">
                <a:solidFill>
                  <a:srgbClr val="002060"/>
                </a:solidFill>
                <a:latin typeface="华文楷体" panose="02010600040101010101" pitchFamily="2" charset="-122"/>
                <a:ea typeface="华文楷体" panose="02010600040101010101" pitchFamily="2" charset="-122"/>
              </a:rPr>
              <a:t>x</a:t>
            </a:r>
            <a:r>
              <a:rPr lang="zh-CN" altLang="en-US" sz="2400" dirty="0">
                <a:solidFill>
                  <a:srgbClr val="002060"/>
                </a:solidFill>
                <a:latin typeface="华文楷体" panose="02010600040101010101" pitchFamily="2" charset="-122"/>
                <a:ea typeface="华文楷体" panose="02010600040101010101" pitchFamily="2" charset="-122"/>
              </a:rPr>
              <a:t> 轴的对数刻度绘制</a:t>
            </a:r>
            <a:r>
              <a:rPr lang="en-US" altLang="zh-CN" sz="2400" dirty="0">
                <a:solidFill>
                  <a:srgbClr val="002060"/>
                </a:solidFill>
                <a:latin typeface="华文楷体" panose="02010600040101010101" pitchFamily="2" charset="-122"/>
                <a:ea typeface="华文楷体" panose="02010600040101010101" pitchFamily="2" charset="-122"/>
              </a:rPr>
              <a:t>x</a:t>
            </a:r>
            <a:r>
              <a:rPr lang="zh-CN" altLang="en-US" sz="2400" dirty="0">
                <a:solidFill>
                  <a:srgbClr val="002060"/>
                </a:solidFill>
                <a:latin typeface="华文楷体" panose="02010600040101010101" pitchFamily="2" charset="-122"/>
                <a:ea typeface="华文楷体" panose="02010600040101010101" pitchFamily="2" charset="-122"/>
              </a:rPr>
              <a:t>数据</a:t>
            </a:r>
          </a:p>
        </p:txBody>
      </p:sp>
      <p:sp>
        <p:nvSpPr>
          <p:cNvPr id="14" name="矩形 13">
            <a:extLst>
              <a:ext uri="{FF2B5EF4-FFF2-40B4-BE49-F238E27FC236}">
                <a16:creationId xmlns:a16="http://schemas.microsoft.com/office/drawing/2014/main" id="{EEB808D6-5668-A726-E946-5495A062BF56}"/>
              </a:ext>
            </a:extLst>
          </p:cNvPr>
          <p:cNvSpPr/>
          <p:nvPr/>
        </p:nvSpPr>
        <p:spPr>
          <a:xfrm>
            <a:off x="743256" y="104987"/>
            <a:ext cx="8378825" cy="523220"/>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§3.3.4 </a:t>
            </a:r>
            <a:r>
              <a:rPr lang="zh-CN" altLang="en-US" sz="2800" kern="0" dirty="0">
                <a:solidFill>
                  <a:srgbClr val="002060"/>
                </a:solidFill>
                <a:latin typeface="华文楷体" panose="02010600040101010101" pitchFamily="2" charset="-122"/>
                <a:ea typeface="华文楷体" panose="02010600040101010101" pitchFamily="2" charset="-122"/>
              </a:rPr>
              <a:t>绘制对数坐标曲线</a:t>
            </a:r>
            <a:r>
              <a:rPr lang="en-US" altLang="zh-CN" sz="2800" kern="0" dirty="0">
                <a:solidFill>
                  <a:srgbClr val="FF0000"/>
                </a:solidFill>
                <a:latin typeface="华文楷体" panose="02010600040101010101" pitchFamily="2" charset="-122"/>
                <a:ea typeface="华文楷体" panose="02010600040101010101" pitchFamily="2" charset="-122"/>
              </a:rPr>
              <a:t>——</a:t>
            </a:r>
            <a:r>
              <a:rPr lang="en-US" altLang="zh-CN" sz="2800"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semilogx</a:t>
            </a:r>
            <a:r>
              <a:rPr lang="en-US" altLang="zh-CN"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 </a:t>
            </a:r>
            <a:r>
              <a:rPr lang="zh-CN" altLang="en-US"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与</a:t>
            </a:r>
            <a:r>
              <a:rPr lang="en-US" altLang="zh-CN"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loglog</a:t>
            </a:r>
            <a:r>
              <a:rPr lang="zh-CN" altLang="en-US"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语法</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5" name="矩形 14">
            <a:extLst>
              <a:ext uri="{FF2B5EF4-FFF2-40B4-BE49-F238E27FC236}">
                <a16:creationId xmlns:a16="http://schemas.microsoft.com/office/drawing/2014/main" id="{81051336-A621-EBB2-FCBF-1526EAE07A66}"/>
              </a:ext>
            </a:extLst>
          </p:cNvPr>
          <p:cNvSpPr/>
          <p:nvPr/>
        </p:nvSpPr>
        <p:spPr>
          <a:xfrm>
            <a:off x="35496" y="4265249"/>
            <a:ext cx="8325132" cy="348429"/>
          </a:xfrm>
          <a:prstGeom prst="rect">
            <a:avLst/>
          </a:prstGeom>
        </p:spPr>
        <p:txBody>
          <a:bodyPr wrap="square">
            <a:spAutoFit/>
          </a:bodyPr>
          <a:lstStyle/>
          <a:p>
            <a:pPr defTabSz="0">
              <a:lnSpc>
                <a:spcPct val="80000"/>
              </a:lnSpc>
              <a:spcBef>
                <a:spcPct val="20000"/>
              </a:spcBef>
              <a:buFont typeface="Wingdings" panose="05000000000000000000" pitchFamily="2" charset="2"/>
              <a:buChar char="Ø"/>
            </a:pP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输入参数和</a:t>
            </a:r>
            <a:r>
              <a:rPr lang="en-US" altLang="zh-CN"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plot</a:t>
            </a: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一样，</a:t>
            </a:r>
            <a:r>
              <a:rPr lang="en-US" altLang="zh-CN"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x</a:t>
            </a: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和</a:t>
            </a:r>
            <a:r>
              <a:rPr lang="en-US" altLang="zh-CN"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y</a:t>
            </a: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是</a:t>
            </a:r>
            <a:r>
              <a:rPr lang="en-US" altLang="zh-CN"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x</a:t>
            </a: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轴和</a:t>
            </a:r>
            <a:r>
              <a:rPr lang="en-US" altLang="zh-CN"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y</a:t>
            </a:r>
            <a:r>
              <a:rPr lang="zh-CN" altLang="en-US" sz="2000" b="1" kern="0" dirty="0">
                <a:solidFill>
                  <a:srgbClr val="0070C0"/>
                </a:solidFill>
                <a:latin typeface="华文楷体" panose="02010600040101010101" pitchFamily="2" charset="-122"/>
                <a:ea typeface="华文楷体" panose="02010600040101010101" pitchFamily="2" charset="-122"/>
                <a:sym typeface="Arial" panose="020B0604020202020204" pitchFamily="34" charset="0"/>
              </a:rPr>
              <a:t>轴的数据，线型属性 </a:t>
            </a:r>
          </a:p>
        </p:txBody>
      </p:sp>
      <p:sp>
        <p:nvSpPr>
          <p:cNvPr id="17" name="文本框 16">
            <a:extLst>
              <a:ext uri="{FF2B5EF4-FFF2-40B4-BE49-F238E27FC236}">
                <a16:creationId xmlns:a16="http://schemas.microsoft.com/office/drawing/2014/main" id="{3777B931-9FD4-B3BA-FF56-F26949CE0C0F}"/>
              </a:ext>
            </a:extLst>
          </p:cNvPr>
          <p:cNvSpPr txBox="1"/>
          <p:nvPr/>
        </p:nvSpPr>
        <p:spPr>
          <a:xfrm>
            <a:off x="80814" y="705107"/>
            <a:ext cx="8955681" cy="707886"/>
          </a:xfrm>
          <a:prstGeom prst="rect">
            <a:avLst/>
          </a:prstGeom>
          <a:solidFill>
            <a:schemeClr val="bg1"/>
          </a:solidFill>
        </p:spPr>
        <p:txBody>
          <a:bodyPr wrap="square">
            <a:spAutoFit/>
          </a:bodyPr>
          <a:lstStyle/>
          <a:p>
            <a:pPr algn="dist"/>
            <a:r>
              <a:rPr lang="zh-CN" altLang="en-US" sz="2000" b="1" dirty="0">
                <a:solidFill>
                  <a:srgbClr val="0070C0"/>
                </a:solidFill>
                <a:latin typeface="华文楷体" panose="02010600040101010101" pitchFamily="2" charset="-122"/>
                <a:ea typeface="华文楷体" panose="02010600040101010101" pitchFamily="2" charset="-122"/>
              </a:rPr>
              <a:t>当</a:t>
            </a:r>
            <a:r>
              <a:rPr lang="en-US" altLang="zh-CN" sz="2000" b="1" i="0" dirty="0">
                <a:solidFill>
                  <a:srgbClr val="0070C0"/>
                </a:solidFill>
                <a:effectLst/>
                <a:latin typeface="华文楷体" panose="02010600040101010101" pitchFamily="2" charset="-122"/>
                <a:ea typeface="华文楷体" panose="02010600040101010101" pitchFamily="2" charset="-122"/>
              </a:rPr>
              <a:t>x</a:t>
            </a:r>
            <a:r>
              <a:rPr lang="zh-CN" altLang="en-US" sz="2000" b="1" i="0" dirty="0">
                <a:solidFill>
                  <a:srgbClr val="0070C0"/>
                </a:solidFill>
                <a:effectLst/>
                <a:latin typeface="华文楷体" panose="02010600040101010101" pitchFamily="2" charset="-122"/>
                <a:ea typeface="华文楷体" panose="02010600040101010101" pitchFamily="2" charset="-122"/>
              </a:rPr>
              <a:t> 或</a:t>
            </a:r>
            <a:r>
              <a:rPr lang="en-US" altLang="zh-CN" sz="2000" b="1" i="0" dirty="0">
                <a:solidFill>
                  <a:srgbClr val="0070C0"/>
                </a:solidFill>
                <a:effectLst/>
                <a:latin typeface="华文楷体" panose="02010600040101010101" pitchFamily="2" charset="-122"/>
                <a:ea typeface="华文楷体" panose="02010600040101010101" pitchFamily="2" charset="-122"/>
              </a:rPr>
              <a:t>y</a:t>
            </a:r>
            <a:r>
              <a:rPr lang="zh-CN" altLang="en-US" sz="2000" b="1" i="0" dirty="0">
                <a:solidFill>
                  <a:srgbClr val="0070C0"/>
                </a:solidFill>
                <a:effectLst/>
                <a:latin typeface="华文楷体" panose="02010600040101010101" pitchFamily="2" charset="-122"/>
                <a:ea typeface="华文楷体" panose="02010600040101010101" pitchFamily="2" charset="-122"/>
              </a:rPr>
              <a:t> 或两者出现大范围变化时，不可能把坐标轴拉得很长，又不能取大单位（因为小范围的情况就会看不到）</a:t>
            </a:r>
            <a:r>
              <a:rPr lang="en-US" altLang="zh-CN" sz="2000" b="1" i="0" dirty="0">
                <a:solidFill>
                  <a:srgbClr val="0070C0"/>
                </a:solidFill>
                <a:effectLst/>
                <a:latin typeface="华文楷体" panose="02010600040101010101" pitchFamily="2" charset="-122"/>
                <a:ea typeface="华文楷体" panose="02010600040101010101" pitchFamily="2" charset="-122"/>
              </a:rPr>
              <a:t>,</a:t>
            </a:r>
            <a:r>
              <a:rPr lang="zh-CN" altLang="en-US" sz="2000" b="1" i="0" dirty="0">
                <a:solidFill>
                  <a:srgbClr val="0070C0"/>
                </a:solidFill>
                <a:effectLst/>
                <a:latin typeface="华文楷体" panose="02010600040101010101" pitchFamily="2" charset="-122"/>
                <a:ea typeface="华文楷体" panose="02010600040101010101" pitchFamily="2" charset="-122"/>
              </a:rPr>
              <a:t>最好办法将坐标轴做对</a:t>
            </a:r>
            <a:r>
              <a:rPr lang="zh-CN" altLang="en-US" sz="2000" b="1" dirty="0">
                <a:solidFill>
                  <a:srgbClr val="0070C0"/>
                </a:solidFill>
                <a:latin typeface="华文楷体" panose="02010600040101010101" pitchFamily="2" charset="-122"/>
                <a:ea typeface="华文楷体" panose="02010600040101010101" pitchFamily="2" charset="-122"/>
              </a:rPr>
              <a:t>数</a:t>
            </a:r>
            <a:r>
              <a:rPr lang="zh-CN" altLang="en-US" sz="2000" b="1" i="0" dirty="0">
                <a:solidFill>
                  <a:srgbClr val="0070C0"/>
                </a:solidFill>
                <a:effectLst/>
                <a:latin typeface="华文楷体" panose="02010600040101010101" pitchFamily="2" charset="-122"/>
                <a:ea typeface="华文楷体" panose="02010600040101010101" pitchFamily="2" charset="-122"/>
              </a:rPr>
              <a:t>变换</a:t>
            </a:r>
            <a:endParaRPr lang="zh-CN" altLang="en-US" sz="2000" b="1" dirty="0">
              <a:solidFill>
                <a:srgbClr val="0070C0"/>
              </a:solidFill>
              <a:latin typeface="华文楷体" panose="02010600040101010101" pitchFamily="2" charset="-122"/>
              <a:ea typeface="华文楷体" panose="02010600040101010101" pitchFamily="2" charset="-122"/>
            </a:endParaRPr>
          </a:p>
        </p:txBody>
      </p:sp>
      <p:sp>
        <p:nvSpPr>
          <p:cNvPr id="21" name="文本框 20">
            <a:extLst>
              <a:ext uri="{FF2B5EF4-FFF2-40B4-BE49-F238E27FC236}">
                <a16:creationId xmlns:a16="http://schemas.microsoft.com/office/drawing/2014/main" id="{B6D58BA9-56EC-4E04-972E-4119B94E725F}"/>
              </a:ext>
            </a:extLst>
          </p:cNvPr>
          <p:cNvSpPr txBox="1"/>
          <p:nvPr/>
        </p:nvSpPr>
        <p:spPr>
          <a:xfrm>
            <a:off x="2501368" y="3273694"/>
            <a:ext cx="5282200" cy="369332"/>
          </a:xfrm>
          <a:prstGeom prst="rect">
            <a:avLst/>
          </a:prstGeom>
          <a:noFill/>
        </p:spPr>
        <p:txBody>
          <a:bodyPr wrap="square">
            <a:spAutoFit/>
          </a:bodyPr>
          <a:lstStyle>
            <a:defPPr>
              <a:defRPr lang="zh-CN"/>
            </a:defPPr>
            <a:lvl1pPr>
              <a:defRPr b="0" i="0">
                <a:solidFill>
                  <a:srgbClr val="00B0F0"/>
                </a:solidFill>
                <a:effectLst/>
                <a:latin typeface="华文楷体" panose="02010600040101010101" pitchFamily="2" charset="-122"/>
                <a:ea typeface="华文楷体" panose="02010600040101010101" pitchFamily="2" charset="-122"/>
              </a:defRPr>
            </a:lvl1pPr>
          </a:lstStyle>
          <a:p>
            <a:r>
              <a:rPr lang="en-US" altLang="zh-CN" b="1" dirty="0"/>
              <a:t>x </a:t>
            </a:r>
            <a:r>
              <a:rPr lang="zh-CN" altLang="en-US" b="1" dirty="0"/>
              <a:t>轴和 </a:t>
            </a:r>
            <a:r>
              <a:rPr lang="en-US" altLang="zh-CN" b="1" dirty="0"/>
              <a:t>y </a:t>
            </a:r>
            <a:r>
              <a:rPr lang="zh-CN" altLang="en-US" b="1" dirty="0"/>
              <a:t>轴上用对数刻度绘制 </a:t>
            </a:r>
            <a:r>
              <a:rPr lang="en-US" altLang="zh-CN" b="1" dirty="0"/>
              <a:t>x </a:t>
            </a:r>
            <a:r>
              <a:rPr lang="zh-CN" altLang="en-US" b="1" dirty="0"/>
              <a:t>和 </a:t>
            </a:r>
            <a:r>
              <a:rPr lang="en-US" altLang="zh-CN" b="1" dirty="0"/>
              <a:t>y </a:t>
            </a:r>
            <a:r>
              <a:rPr lang="zh-CN" altLang="en-US" b="1" dirty="0"/>
              <a:t>坐标</a:t>
            </a:r>
          </a:p>
        </p:txBody>
      </p:sp>
      <p:pic>
        <p:nvPicPr>
          <p:cNvPr id="20" name="图片 19">
            <a:extLst>
              <a:ext uri="{FF2B5EF4-FFF2-40B4-BE49-F238E27FC236}">
                <a16:creationId xmlns:a16="http://schemas.microsoft.com/office/drawing/2014/main" id="{978CB3A5-2FEA-4936-95E3-E1BFD9D83F6C}"/>
              </a:ext>
            </a:extLst>
          </p:cNvPr>
          <p:cNvPicPr>
            <a:picLocks noChangeAspect="1"/>
          </p:cNvPicPr>
          <p:nvPr/>
        </p:nvPicPr>
        <p:blipFill rotWithShape="1">
          <a:blip r:embed="rId3"/>
          <a:srcRect l="24648" t="8000" r="31100" b="26068"/>
          <a:stretch/>
        </p:blipFill>
        <p:spPr>
          <a:xfrm>
            <a:off x="6680700" y="1563638"/>
            <a:ext cx="2205736" cy="1575893"/>
          </a:xfrm>
          <a:prstGeom prst="rect">
            <a:avLst/>
          </a:prstGeom>
        </p:spPr>
      </p:pic>
      <p:sp>
        <p:nvSpPr>
          <p:cNvPr id="22" name="椭圆 21">
            <a:extLst>
              <a:ext uri="{FF2B5EF4-FFF2-40B4-BE49-F238E27FC236}">
                <a16:creationId xmlns:a16="http://schemas.microsoft.com/office/drawing/2014/main" id="{F011734E-BEED-445D-A400-AF47D2D3E801}"/>
              </a:ext>
            </a:extLst>
          </p:cNvPr>
          <p:cNvSpPr/>
          <p:nvPr/>
        </p:nvSpPr>
        <p:spPr bwMode="auto">
          <a:xfrm>
            <a:off x="6921364" y="2620556"/>
            <a:ext cx="836733" cy="333626"/>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pic>
        <p:nvPicPr>
          <p:cNvPr id="18" name="图片 17">
            <a:extLst>
              <a:ext uri="{FF2B5EF4-FFF2-40B4-BE49-F238E27FC236}">
                <a16:creationId xmlns:a16="http://schemas.microsoft.com/office/drawing/2014/main" id="{18F1DF28-9DDC-4674-8C38-AD2FAA837ED6}"/>
              </a:ext>
            </a:extLst>
          </p:cNvPr>
          <p:cNvPicPr>
            <a:picLocks noChangeAspect="1"/>
          </p:cNvPicPr>
          <p:nvPr/>
        </p:nvPicPr>
        <p:blipFill rotWithShape="1">
          <a:blip r:embed="rId4"/>
          <a:srcRect l="24801" t="7432" r="31989" b="25272"/>
          <a:stretch/>
        </p:blipFill>
        <p:spPr>
          <a:xfrm>
            <a:off x="6686744" y="3147815"/>
            <a:ext cx="2162174" cy="1469228"/>
          </a:xfrm>
          <a:prstGeom prst="rect">
            <a:avLst/>
          </a:prstGeom>
          <a:ln>
            <a:solidFill>
              <a:schemeClr val="bg1">
                <a:lumMod val="50000"/>
              </a:schemeClr>
            </a:solidFill>
          </a:ln>
        </p:spPr>
      </p:pic>
      <p:cxnSp>
        <p:nvCxnSpPr>
          <p:cNvPr id="23" name="直接连接符 22">
            <a:extLst>
              <a:ext uri="{FF2B5EF4-FFF2-40B4-BE49-F238E27FC236}">
                <a16:creationId xmlns:a16="http://schemas.microsoft.com/office/drawing/2014/main" id="{7862D9AF-9E98-413E-9539-D58E99286A09}"/>
              </a:ext>
            </a:extLst>
          </p:cNvPr>
          <p:cNvCxnSpPr>
            <a:cxnSpLocks/>
          </p:cNvCxnSpPr>
          <p:nvPr/>
        </p:nvCxnSpPr>
        <p:spPr>
          <a:xfrm>
            <a:off x="8232275" y="3147814"/>
            <a:ext cx="0" cy="1460945"/>
          </a:xfrm>
          <a:prstGeom prst="line">
            <a:avLst/>
          </a:prstGeom>
          <a:ln>
            <a:solidFill>
              <a:srgbClr val="FF0000"/>
            </a:solidFill>
            <a:prstDash val="sysDot"/>
          </a:ln>
        </p:spPr>
        <p:style>
          <a:lnRef idx="3">
            <a:schemeClr val="accent2"/>
          </a:lnRef>
          <a:fillRef idx="0">
            <a:schemeClr val="accent2"/>
          </a:fillRef>
          <a:effectRef idx="2">
            <a:schemeClr val="accent2"/>
          </a:effectRef>
          <a:fontRef idx="minor">
            <a:schemeClr val="tx1"/>
          </a:fontRef>
        </p:style>
      </p:cxnSp>
      <p:sp>
        <p:nvSpPr>
          <p:cNvPr id="24" name="文本框 23">
            <a:extLst>
              <a:ext uri="{FF2B5EF4-FFF2-40B4-BE49-F238E27FC236}">
                <a16:creationId xmlns:a16="http://schemas.microsoft.com/office/drawing/2014/main" id="{7158334D-A061-47FA-9591-F87D1AB3301D}"/>
              </a:ext>
            </a:extLst>
          </p:cNvPr>
          <p:cNvSpPr txBox="1"/>
          <p:nvPr/>
        </p:nvSpPr>
        <p:spPr>
          <a:xfrm>
            <a:off x="6951362" y="3574124"/>
            <a:ext cx="1604492" cy="369332"/>
          </a:xfrm>
          <a:prstGeom prst="rect">
            <a:avLst/>
          </a:prstGeom>
          <a:noFill/>
        </p:spPr>
        <p:txBody>
          <a:bodyPr wrap="square">
            <a:spAutoFit/>
          </a:bodyPr>
          <a:lstStyle/>
          <a:p>
            <a:r>
              <a:rPr lang="zh-CN" altLang="en-US" kern="100" dirty="0">
                <a:solidFill>
                  <a:srgbClr val="FF0000"/>
                </a:solidFill>
                <a:latin typeface="黑体" panose="02010609060101010101" pitchFamily="49" charset="-122"/>
                <a:ea typeface="黑体" panose="02010609060101010101" pitchFamily="49" charset="-122"/>
              </a:rPr>
              <a:t>半对数坐标</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9" name="文本框 18">
            <a:extLst>
              <a:ext uri="{FF2B5EF4-FFF2-40B4-BE49-F238E27FC236}">
                <a16:creationId xmlns:a16="http://schemas.microsoft.com/office/drawing/2014/main" id="{269CBB94-0BB9-4259-8B9B-7523F905FF1F}"/>
              </a:ext>
            </a:extLst>
          </p:cNvPr>
          <p:cNvSpPr txBox="1"/>
          <p:nvPr/>
        </p:nvSpPr>
        <p:spPr>
          <a:xfrm>
            <a:off x="5765042" y="1454292"/>
            <a:ext cx="3180660" cy="461665"/>
          </a:xfrm>
          <a:prstGeom prst="rect">
            <a:avLst/>
          </a:prstGeom>
          <a:solidFill>
            <a:schemeClr val="bg1"/>
          </a:solidFill>
          <a:ln>
            <a:noFill/>
          </a:ln>
        </p:spPr>
        <p:txBody>
          <a:bodyPr wrap="square">
            <a:spAutoFit/>
          </a:bodyPr>
          <a:lstStyle/>
          <a:p>
            <a:r>
              <a:rPr kumimoji="0" lang="zh-CN" altLang="en-US"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观察低</a:t>
            </a:r>
            <a:r>
              <a:rPr kumimoji="0" lang="zh-CN" altLang="zh-CN"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应变</a:t>
            </a:r>
            <a:r>
              <a:rPr kumimoji="0" lang="zh-CN" altLang="en-US"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振幅</a:t>
            </a:r>
            <a:r>
              <a:rPr kumimoji="0" lang="zh-CN" altLang="zh-CN"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范围：</a:t>
            </a:r>
            <a:r>
              <a:rPr kumimoji="0" lang="en-US" altLang="zh-CN"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5E-3~1.0E-1(m) </a:t>
            </a:r>
            <a:r>
              <a:rPr kumimoji="0" lang="zh-CN" altLang="en-US"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的阻尼，太小，笛</a:t>
            </a:r>
            <a:r>
              <a:rPr lang="zh-CN" altLang="en-US" sz="1200" kern="100" dirty="0">
                <a:solidFill>
                  <a:srgbClr val="FF0000"/>
                </a:solidFill>
                <a:latin typeface="华文楷体" panose="02010600040101010101" pitchFamily="2" charset="-122"/>
                <a:ea typeface="华文楷体" panose="02010600040101010101" pitchFamily="2" charset="-122"/>
              </a:rPr>
              <a:t>卡尔坐标无法直接</a:t>
            </a:r>
            <a:r>
              <a:rPr kumimoji="0" lang="zh-CN" altLang="en-US" sz="1200" b="0" i="0" u="none" strike="noStrike" kern="1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rPr>
              <a:t>反映变化</a:t>
            </a:r>
            <a:endParaRPr lang="zh-CN" altLang="en-US" sz="1200" dirty="0">
              <a:solidFill>
                <a:srgbClr val="FF0000"/>
              </a:solidFill>
            </a:endParaRPr>
          </a:p>
        </p:txBody>
      </p:sp>
    </p:spTree>
    <p:extLst>
      <p:ext uri="{BB962C8B-B14F-4D97-AF65-F5344CB8AC3E}">
        <p14:creationId xmlns:p14="http://schemas.microsoft.com/office/powerpoint/2010/main" val="271306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animBg="1"/>
      <p:bldP spid="11" grpId="0"/>
      <p:bldP spid="12" grpId="0"/>
      <p:bldP spid="21" grpId="0"/>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AA43A6C3-4D41-43FE-AF51-DB40B91BEB35}"/>
              </a:ext>
            </a:extLst>
          </p:cNvPr>
          <p:cNvPicPr>
            <a:picLocks noChangeAspect="1"/>
          </p:cNvPicPr>
          <p:nvPr/>
        </p:nvPicPr>
        <p:blipFill rotWithShape="1">
          <a:blip r:embed="rId3"/>
          <a:srcRect l="24801" t="7432" r="31989" b="25272"/>
          <a:stretch/>
        </p:blipFill>
        <p:spPr>
          <a:xfrm>
            <a:off x="7166042" y="2172818"/>
            <a:ext cx="1898577" cy="1414441"/>
          </a:xfrm>
          <a:prstGeom prst="rect">
            <a:avLst/>
          </a:prstGeom>
          <a:ln>
            <a:solidFill>
              <a:schemeClr val="bg1">
                <a:lumMod val="50000"/>
              </a:schemeClr>
            </a:solidFill>
          </a:ln>
        </p:spPr>
      </p:pic>
      <p:sp>
        <p:nvSpPr>
          <p:cNvPr id="4" name="矩形 3">
            <a:extLst>
              <a:ext uri="{FF2B5EF4-FFF2-40B4-BE49-F238E27FC236}">
                <a16:creationId xmlns:a16="http://schemas.microsoft.com/office/drawing/2014/main" id="{2A5D499F-77CC-4C2F-ACA3-67BDDD0B82C7}"/>
              </a:ext>
            </a:extLst>
          </p:cNvPr>
          <p:cNvSpPr/>
          <p:nvPr/>
        </p:nvSpPr>
        <p:spPr>
          <a:xfrm>
            <a:off x="558642" y="104987"/>
            <a:ext cx="8563439" cy="523220"/>
          </a:xfrm>
          <a:prstGeom prst="rect">
            <a:avLst/>
          </a:prstGeom>
          <a:solidFill>
            <a:schemeClr val="bg1"/>
          </a:solidFill>
          <a:ln w="9525">
            <a:noFill/>
            <a:miter lim="800000"/>
          </a:ln>
        </p:spPr>
        <p:txBody>
          <a:bodyPr vert="horz" wrap="square" lIns="91440" tIns="45720" rIns="91440" bIns="45720" numCol="1" anchor="t" anchorCtr="0" compatLnSpc="1">
            <a:spAutoFit/>
          </a:bodyPr>
          <a:lstStyle/>
          <a:p>
            <a:pPr defTabSz="0" eaLnBrk="0" hangingPunct="0"/>
            <a:r>
              <a:rPr lang="en-US" altLang="zh-CN" sz="2800" kern="0" dirty="0">
                <a:solidFill>
                  <a:srgbClr val="002060"/>
                </a:solidFill>
                <a:latin typeface="华文楷体" panose="02010600040101010101" pitchFamily="2" charset="-122"/>
                <a:ea typeface="华文楷体" panose="02010600040101010101" pitchFamily="2" charset="-122"/>
                <a:cs typeface="隶书" panose="02010509060101010101" charset="-122"/>
              </a:rPr>
              <a:t>§3.3.4 </a:t>
            </a:r>
            <a:r>
              <a:rPr lang="zh-CN" altLang="en-US" sz="2800" kern="0" dirty="0">
                <a:solidFill>
                  <a:srgbClr val="002060"/>
                </a:solidFill>
                <a:latin typeface="华文楷体" panose="02010600040101010101" pitchFamily="2" charset="-122"/>
                <a:ea typeface="华文楷体" panose="02010600040101010101" pitchFamily="2" charset="-122"/>
              </a:rPr>
              <a:t>绘制对数坐标曲线</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绘制半</a:t>
            </a:r>
            <a:r>
              <a:rPr lang="zh-CN" altLang="en-US" sz="28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对数坐标区案例</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6" name="矩形 5">
            <a:extLst>
              <a:ext uri="{FF2B5EF4-FFF2-40B4-BE49-F238E27FC236}">
                <a16:creationId xmlns:a16="http://schemas.microsoft.com/office/drawing/2014/main" id="{F578EDDD-C8F2-4BB7-9CC1-53867B49CB93}"/>
              </a:ext>
            </a:extLst>
          </p:cNvPr>
          <p:cNvSpPr/>
          <p:nvPr/>
        </p:nvSpPr>
        <p:spPr>
          <a:xfrm>
            <a:off x="247141" y="1808989"/>
            <a:ext cx="8448274" cy="463204"/>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endParaRPr kumimoji="0" lang="en-US" altLang="zh-CN" sz="2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6FCEDB7D-C71F-4768-8818-080E3316383D}"/>
              </a:ext>
            </a:extLst>
          </p:cNvPr>
          <p:cNvSpPr/>
          <p:nvPr/>
        </p:nvSpPr>
        <p:spPr>
          <a:xfrm>
            <a:off x="539496" y="697630"/>
            <a:ext cx="8449127" cy="1015663"/>
          </a:xfrm>
          <a:prstGeom prst="rect">
            <a:avLst/>
          </a:prstGeom>
        </p:spPr>
        <p:txBody>
          <a:bodyPr wrap="square">
            <a:spAutoFit/>
          </a:bodyPr>
          <a:lstStyle/>
          <a:p>
            <a:pPr lvl="0">
              <a:defRPr/>
            </a:pPr>
            <a:r>
              <a:rPr lang="zh-CN" altLang="en-US" sz="2000" dirty="0">
                <a:solidFill>
                  <a:srgbClr val="002060"/>
                </a:solidFill>
                <a:latin typeface="华文楷体" panose="02010600040101010101" pitchFamily="2" charset="-122"/>
                <a:ea typeface="华文楷体" panose="02010600040101010101" pitchFamily="2" charset="-122"/>
              </a:rPr>
              <a:t>绘制孔隙率达到</a:t>
            </a:r>
            <a:r>
              <a:rPr lang="en-US" altLang="zh-CN" sz="2000" dirty="0">
                <a:solidFill>
                  <a:srgbClr val="002060"/>
                </a:solidFill>
                <a:latin typeface="华文楷体" panose="02010600040101010101" pitchFamily="2" charset="-122"/>
                <a:ea typeface="华文楷体" panose="02010600040101010101" pitchFamily="2" charset="-122"/>
              </a:rPr>
              <a:t>71%</a:t>
            </a:r>
            <a:r>
              <a:rPr lang="zh-CN" altLang="en-US" sz="2000" dirty="0">
                <a:solidFill>
                  <a:srgbClr val="002060"/>
                </a:solidFill>
                <a:latin typeface="华文楷体" panose="02010600040101010101" pitchFamily="2" charset="-122"/>
                <a:ea typeface="华文楷体" panose="02010600040101010101" pitchFamily="2" charset="-122"/>
              </a:rPr>
              <a:t>的</a:t>
            </a:r>
            <a:r>
              <a:rPr lang="en-US" altLang="zh-CN" sz="2000" dirty="0" err="1">
                <a:solidFill>
                  <a:srgbClr val="002060"/>
                </a:solidFill>
                <a:latin typeface="华文楷体" panose="02010600040101010101" pitchFamily="2" charset="-122"/>
                <a:ea typeface="华文楷体" panose="02010600040101010101" pitchFamily="2" charset="-122"/>
              </a:rPr>
              <a:t>SiCp</a:t>
            </a:r>
            <a:r>
              <a:rPr lang="en-US" altLang="zh-CN" sz="2000" dirty="0">
                <a:solidFill>
                  <a:srgbClr val="002060"/>
                </a:solidFill>
                <a:latin typeface="华文楷体" panose="02010600040101010101" pitchFamily="2" charset="-122"/>
                <a:ea typeface="华文楷体" panose="02010600040101010101" pitchFamily="2" charset="-122"/>
              </a:rPr>
              <a:t>/2024Al</a:t>
            </a:r>
            <a:r>
              <a:rPr lang="zh-CN" altLang="zh-CN" sz="2000" dirty="0">
                <a:solidFill>
                  <a:srgbClr val="002060"/>
                </a:solidFill>
                <a:latin typeface="华文楷体" panose="02010600040101010101" pitchFamily="2" charset="-122"/>
                <a:ea typeface="华文楷体" panose="02010600040101010101" pitchFamily="2" charset="-122"/>
              </a:rPr>
              <a:t>泡沫复合材料的阻尼</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zh-CN" sz="2000" dirty="0">
                <a:solidFill>
                  <a:srgbClr val="002060"/>
                </a:solidFill>
                <a:latin typeface="华文楷体" panose="02010600040101010101" pitchFamily="2" charset="-122"/>
                <a:ea typeface="华文楷体" panose="02010600040101010101" pitchFamily="2" charset="-122"/>
              </a:rPr>
              <a:t>应变谱</a:t>
            </a:r>
            <a:r>
              <a:rPr lang="zh-CN" altLang="en-US" sz="2000" dirty="0">
                <a:solidFill>
                  <a:srgbClr val="002060"/>
                </a:solidFill>
                <a:latin typeface="华文楷体" panose="02010600040101010101" pitchFamily="2" charset="-122"/>
                <a:ea typeface="华文楷体" panose="02010600040101010101" pitchFamily="2" charset="-122"/>
              </a:rPr>
              <a:t>复合</a:t>
            </a:r>
            <a:r>
              <a:rPr lang="zh-CN" altLang="zh-CN" sz="2000" dirty="0">
                <a:solidFill>
                  <a:srgbClr val="002060"/>
                </a:solidFill>
                <a:latin typeface="华文楷体" panose="02010600040101010101" pitchFamily="2" charset="-122"/>
                <a:ea typeface="华文楷体" panose="02010600040101010101" pitchFamily="2" charset="-122"/>
              </a:rPr>
              <a:t>材料</a:t>
            </a:r>
            <a:r>
              <a:rPr lang="zh-CN" altLang="en-US" sz="2000" dirty="0">
                <a:solidFill>
                  <a:srgbClr val="002060"/>
                </a:solidFill>
                <a:latin typeface="华文楷体" panose="02010600040101010101" pitchFamily="2" charset="-122"/>
                <a:ea typeface="华文楷体" panose="02010600040101010101" pitchFamily="2" charset="-122"/>
              </a:rPr>
              <a:t>阻</a:t>
            </a:r>
            <a:r>
              <a:rPr lang="zh-CN" altLang="zh-CN" sz="2000" dirty="0">
                <a:solidFill>
                  <a:srgbClr val="002060"/>
                </a:solidFill>
                <a:latin typeface="华文楷体" panose="02010600040101010101" pitchFamily="2" charset="-122"/>
                <a:ea typeface="华文楷体" panose="02010600040101010101" pitchFamily="2" charset="-122"/>
              </a:rPr>
              <a:t>尼</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zh-CN" sz="2000" dirty="0">
                <a:solidFill>
                  <a:srgbClr val="002060"/>
                </a:solidFill>
                <a:latin typeface="华文楷体" panose="02010600040101010101" pitchFamily="2" charset="-122"/>
                <a:ea typeface="华文楷体" panose="02010600040101010101" pitchFamily="2" charset="-122"/>
              </a:rPr>
              <a:t>应变谱</a:t>
            </a:r>
            <a:r>
              <a:rPr lang="zh-CN" altLang="en-US"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半对数坐标曲线</a:t>
            </a:r>
            <a:r>
              <a:rPr lang="en-US" altLang="zh-CN"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a:t>
            </a:r>
            <a:r>
              <a:rPr lang="zh-CN" altLang="zh-CN" sz="2000" dirty="0">
                <a:solidFill>
                  <a:srgbClr val="002060"/>
                </a:solidFill>
                <a:latin typeface="华文楷体" panose="02010600040101010101" pitchFamily="2" charset="-122"/>
                <a:ea typeface="华文楷体" panose="02010600040101010101" pitchFamily="2" charset="-122"/>
              </a:rPr>
              <a:t>应变</a:t>
            </a:r>
            <a:r>
              <a:rPr lang="zh-CN" altLang="en-US" sz="2000" dirty="0">
                <a:solidFill>
                  <a:srgbClr val="002060"/>
                </a:solidFill>
                <a:latin typeface="华文楷体" panose="02010600040101010101" pitchFamily="2" charset="-122"/>
                <a:ea typeface="华文楷体" panose="02010600040101010101" pitchFamily="2" charset="-122"/>
              </a:rPr>
              <a:t>振幅</a:t>
            </a:r>
            <a:r>
              <a:rPr lang="zh-CN" altLang="zh-CN" sz="2000" dirty="0">
                <a:solidFill>
                  <a:srgbClr val="002060"/>
                </a:solidFill>
                <a:latin typeface="华文楷体" panose="02010600040101010101" pitchFamily="2" charset="-122"/>
                <a:ea typeface="华文楷体" panose="02010600040101010101" pitchFamily="2" charset="-122"/>
              </a:rPr>
              <a:t>范围：</a:t>
            </a:r>
            <a:r>
              <a:rPr lang="en-US" altLang="zh-CN" sz="2000" dirty="0">
                <a:solidFill>
                  <a:srgbClr val="002060"/>
                </a:solidFill>
                <a:latin typeface="华文楷体" panose="02010600040101010101" pitchFamily="2" charset="-122"/>
                <a:ea typeface="华文楷体" panose="02010600040101010101" pitchFamily="2" charset="-122"/>
              </a:rPr>
              <a:t>5E-4~3E-1(m) </a:t>
            </a:r>
            <a:r>
              <a:rPr lang="zh-CN" altLang="en-US" sz="2000" dirty="0">
                <a:solidFill>
                  <a:srgbClr val="002060"/>
                </a:solidFill>
                <a:latin typeface="华文楷体" panose="02010600040101010101" pitchFamily="2" charset="-122"/>
                <a:ea typeface="华文楷体" panose="02010600040101010101" pitchFamily="2" charset="-122"/>
              </a:rPr>
              <a:t>太小，笛卡尔坐标无法直接反映变化，所以对</a:t>
            </a:r>
            <a:r>
              <a:rPr lang="en-US" altLang="zh-CN" sz="2000" dirty="0">
                <a:solidFill>
                  <a:srgbClr val="002060"/>
                </a:solidFill>
                <a:latin typeface="华文楷体" panose="02010600040101010101" pitchFamily="2" charset="-122"/>
                <a:ea typeface="华文楷体" panose="02010600040101010101" pitchFamily="2" charset="-122"/>
              </a:rPr>
              <a:t>x</a:t>
            </a:r>
            <a:r>
              <a:rPr lang="zh-CN" altLang="en-US" sz="2000" dirty="0">
                <a:solidFill>
                  <a:srgbClr val="002060"/>
                </a:solidFill>
                <a:latin typeface="华文楷体" panose="02010600040101010101" pitchFamily="2" charset="-122"/>
                <a:ea typeface="华文楷体" panose="02010600040101010101" pitchFamily="2" charset="-122"/>
              </a:rPr>
              <a:t>轴</a:t>
            </a:r>
            <a:r>
              <a:rPr lang="zh-CN" altLang="zh-CN" sz="2000" dirty="0">
                <a:solidFill>
                  <a:srgbClr val="002060"/>
                </a:solidFill>
                <a:latin typeface="华文楷体" panose="02010600040101010101" pitchFamily="2" charset="-122"/>
                <a:ea typeface="华文楷体" panose="02010600040101010101" pitchFamily="2" charset="-122"/>
              </a:rPr>
              <a:t>应变</a:t>
            </a:r>
            <a:r>
              <a:rPr lang="zh-CN" altLang="en-US" sz="2000" dirty="0">
                <a:solidFill>
                  <a:srgbClr val="002060"/>
                </a:solidFill>
                <a:latin typeface="华文楷体" panose="02010600040101010101" pitchFamily="2" charset="-122"/>
                <a:ea typeface="华文楷体" panose="02010600040101010101" pitchFamily="2" charset="-122"/>
              </a:rPr>
              <a:t>振幅取对数</a:t>
            </a:r>
            <a:r>
              <a:rPr lang="en-US" altLang="zh-CN" sz="2000" dirty="0">
                <a:solidFill>
                  <a:srgbClr val="002060"/>
                </a:solidFill>
                <a:latin typeface="华文楷体" panose="02010600040101010101" pitchFamily="2" charset="-122"/>
                <a:ea typeface="华文楷体" panose="02010600040101010101" pitchFamily="2" charset="-122"/>
                <a:sym typeface="Arial" panose="020B0604020202020204" pitchFamily="34" charset="0"/>
              </a:rPr>
              <a:t>)</a:t>
            </a:r>
            <a:endParaRPr lang="zh-CN" altLang="en-US" sz="2000" dirty="0">
              <a:solidFill>
                <a:srgbClr val="002060"/>
              </a:solidFill>
              <a:latin typeface="华文楷体" panose="02010600040101010101" pitchFamily="2" charset="-122"/>
              <a:ea typeface="华文楷体" panose="02010600040101010101" pitchFamily="2" charset="-122"/>
            </a:endParaRPr>
          </a:p>
        </p:txBody>
      </p:sp>
      <p:sp>
        <p:nvSpPr>
          <p:cNvPr id="9" name="矩形 8">
            <a:extLst>
              <a:ext uri="{FF2B5EF4-FFF2-40B4-BE49-F238E27FC236}">
                <a16:creationId xmlns:a16="http://schemas.microsoft.com/office/drawing/2014/main" id="{76B342A2-1055-4171-8E3D-412522043C91}"/>
              </a:ext>
            </a:extLst>
          </p:cNvPr>
          <p:cNvSpPr/>
          <p:nvPr/>
        </p:nvSpPr>
        <p:spPr>
          <a:xfrm>
            <a:off x="5280322" y="4673461"/>
            <a:ext cx="4572000" cy="40011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0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隶书" panose="02010509060101010101" pitchFamily="49" charset="-122"/>
              <a:ea typeface="隶书" panose="02010509060101010101" pitchFamily="49" charset="-122"/>
              <a:cs typeface="+mn-cs"/>
            </a:endParaRPr>
          </a:p>
        </p:txBody>
      </p:sp>
      <p:sp>
        <p:nvSpPr>
          <p:cNvPr id="10" name="矩形 9">
            <a:extLst>
              <a:ext uri="{FF2B5EF4-FFF2-40B4-BE49-F238E27FC236}">
                <a16:creationId xmlns:a16="http://schemas.microsoft.com/office/drawing/2014/main" id="{B647A5FE-3FAB-43C6-884F-1E6D069555A2}"/>
              </a:ext>
            </a:extLst>
          </p:cNvPr>
          <p:cNvSpPr/>
          <p:nvPr/>
        </p:nvSpPr>
        <p:spPr>
          <a:xfrm>
            <a:off x="6110059" y="1526306"/>
            <a:ext cx="2877711" cy="40011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2000" b="0"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位错型阻尼</a:t>
            </a:r>
            <a:r>
              <a:rPr kumimoji="0" lang="en-US" altLang="zh-CN" sz="2000" b="0"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a:t>
            </a:r>
            <a:r>
              <a:rPr kumimoji="0" lang="zh-CN" altLang="zh-CN" sz="2000" b="0"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应变谱特征</a:t>
            </a:r>
          </a:p>
        </p:txBody>
      </p:sp>
      <p:sp>
        <p:nvSpPr>
          <p:cNvPr id="11" name="波形 10">
            <a:extLst>
              <a:ext uri="{FF2B5EF4-FFF2-40B4-BE49-F238E27FC236}">
                <a16:creationId xmlns:a16="http://schemas.microsoft.com/office/drawing/2014/main" id="{A2855B95-CB0F-469F-A88D-9C7867843038}"/>
              </a:ext>
            </a:extLst>
          </p:cNvPr>
          <p:cNvSpPr/>
          <p:nvPr/>
        </p:nvSpPr>
        <p:spPr>
          <a:xfrm>
            <a:off x="174000" y="739415"/>
            <a:ext cx="384642" cy="52322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marL="0" marR="0" lvl="0" indent="0" algn="ctr" defTabSz="914400" rtl="0" eaLnBrk="0" fontAlgn="auto" latinLnBrk="0" hangingPunct="1">
              <a:lnSpc>
                <a:spcPct val="140000"/>
              </a:lnSpc>
              <a:spcBef>
                <a:spcPts val="0"/>
              </a:spcBef>
              <a:spcAft>
                <a:spcPts val="0"/>
              </a:spcAft>
              <a:buClrTx/>
              <a:buSzTx/>
              <a:buFontTx/>
              <a:buNone/>
              <a:tabLst/>
              <a:defRPr/>
            </a:pPr>
            <a:r>
              <a:rPr kumimoji="0" lang="en-US" altLang="ko-KR" sz="20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例8</a:t>
            </a:r>
            <a:endParaRPr kumimoji="0" lang="ko-KR" altLang="en-US" sz="2000" b="1"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cxnSp>
        <p:nvCxnSpPr>
          <p:cNvPr id="12" name="直接连接符 11">
            <a:extLst>
              <a:ext uri="{FF2B5EF4-FFF2-40B4-BE49-F238E27FC236}">
                <a16:creationId xmlns:a16="http://schemas.microsoft.com/office/drawing/2014/main" id="{F05B4830-F039-4BA8-87A4-01DE6CCC109B}"/>
              </a:ext>
            </a:extLst>
          </p:cNvPr>
          <p:cNvCxnSpPr>
            <a:cxnSpLocks/>
          </p:cNvCxnSpPr>
          <p:nvPr/>
        </p:nvCxnSpPr>
        <p:spPr>
          <a:xfrm>
            <a:off x="8476423" y="2172818"/>
            <a:ext cx="0" cy="1460945"/>
          </a:xfrm>
          <a:prstGeom prst="line">
            <a:avLst/>
          </a:prstGeom>
          <a:ln>
            <a:solidFill>
              <a:srgbClr val="FF0000"/>
            </a:solidFill>
            <a:prstDash val="sysDot"/>
          </a:ln>
        </p:spPr>
        <p:style>
          <a:lnRef idx="3">
            <a:schemeClr val="accent2"/>
          </a:lnRef>
          <a:fillRef idx="0">
            <a:schemeClr val="accent2"/>
          </a:fillRef>
          <a:effectRef idx="2">
            <a:schemeClr val="accent2"/>
          </a:effectRef>
          <a:fontRef idx="minor">
            <a:schemeClr val="tx1"/>
          </a:fontRef>
        </p:style>
      </p:cxnSp>
      <p:sp>
        <p:nvSpPr>
          <p:cNvPr id="14" name="形状 209924">
            <a:extLst>
              <a:ext uri="{FF2B5EF4-FFF2-40B4-BE49-F238E27FC236}">
                <a16:creationId xmlns:a16="http://schemas.microsoft.com/office/drawing/2014/main" id="{B4C24A9B-4671-424E-A295-9F7488DD3B7A}"/>
              </a:ext>
            </a:extLst>
          </p:cNvPr>
          <p:cNvSpPr/>
          <p:nvPr/>
        </p:nvSpPr>
        <p:spPr>
          <a:xfrm>
            <a:off x="174000" y="4087460"/>
            <a:ext cx="1066303" cy="605357"/>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defRPr/>
            </a:pPr>
            <a:r>
              <a:rPr kumimoji="0" lang="zh-CN" altLang="en-US" sz="2000" b="1" i="0" u="none" strike="noStrike" kern="1200" cap="none" spc="0" normalizeH="0" baseline="0" noProof="0" dirty="0">
                <a:ln>
                  <a:noFill/>
                </a:ln>
                <a:solidFill>
                  <a:srgbClr val="FFFF00"/>
                </a:solidFill>
                <a:effectLst/>
                <a:uLnTx/>
                <a:uFillTx/>
                <a:latin typeface="隶书" panose="02010509060101010101" pitchFamily="49" charset="-122"/>
                <a:ea typeface="隶书" panose="02010509060101010101" pitchFamily="49" charset="-122"/>
                <a:cs typeface="+mn-cs"/>
              </a:rPr>
              <a:t>注意</a:t>
            </a:r>
          </a:p>
        </p:txBody>
      </p:sp>
      <p:sp>
        <p:nvSpPr>
          <p:cNvPr id="15" name="文本框 14">
            <a:extLst>
              <a:ext uri="{FF2B5EF4-FFF2-40B4-BE49-F238E27FC236}">
                <a16:creationId xmlns:a16="http://schemas.microsoft.com/office/drawing/2014/main" id="{9E6C53B0-BF59-4041-B15B-30DD7F64F99C}"/>
              </a:ext>
            </a:extLst>
          </p:cNvPr>
          <p:cNvSpPr txBox="1"/>
          <p:nvPr/>
        </p:nvSpPr>
        <p:spPr>
          <a:xfrm>
            <a:off x="280574" y="1696415"/>
            <a:ext cx="4995948" cy="2418675"/>
          </a:xfrm>
          <a:prstGeom prst="rect">
            <a:avLst/>
          </a:prstGeom>
          <a:noFill/>
        </p:spPr>
        <p:txBody>
          <a:bodyPr wrap="square">
            <a:spAutoFit/>
          </a:bodyPr>
          <a:lstStyle/>
          <a:p>
            <a:pPr>
              <a:lnSpc>
                <a:spcPts val="3700"/>
              </a:lnSpc>
            </a:pPr>
            <a:r>
              <a:rPr lang="en-US" altLang="zh-CN" sz="2200" b="0" dirty="0">
                <a:solidFill>
                  <a:srgbClr val="795E26"/>
                </a:solidFill>
                <a:effectLst/>
                <a:latin typeface="Consolas" panose="020B0609020204030204" pitchFamily="49" charset="0"/>
              </a:rPr>
              <a:t>d=</a:t>
            </a:r>
            <a:r>
              <a:rPr lang="en-US" altLang="zh-CN" sz="2200" b="0" dirty="0" err="1">
                <a:solidFill>
                  <a:srgbClr val="795E26"/>
                </a:solidFill>
                <a:effectLst/>
                <a:latin typeface="Consolas" panose="020B0609020204030204" pitchFamily="49" charset="0"/>
              </a:rPr>
              <a:t>readtable</a:t>
            </a:r>
            <a:r>
              <a:rPr lang="en-US" altLang="zh-CN" sz="2200" b="0" dirty="0">
                <a:solidFill>
                  <a:srgbClr val="795E26"/>
                </a:solidFill>
                <a:effectLst/>
                <a:latin typeface="Consolas" panose="020B0609020204030204" pitchFamily="49" charset="0"/>
              </a:rPr>
              <a:t>("damc.csv")</a:t>
            </a:r>
            <a:endParaRPr lang="en-US" altLang="zh-CN" sz="2200" b="0" dirty="0">
              <a:solidFill>
                <a:srgbClr val="000000"/>
              </a:solidFill>
              <a:effectLst/>
              <a:latin typeface="Consolas" panose="020B0609020204030204" pitchFamily="49" charset="0"/>
            </a:endParaRPr>
          </a:p>
          <a:p>
            <a:pPr>
              <a:lnSpc>
                <a:spcPts val="3700"/>
              </a:lnSpc>
            </a:pPr>
            <a:r>
              <a:rPr lang="en-US" altLang="zh-CN" sz="2200" b="0" dirty="0" err="1">
                <a:solidFill>
                  <a:srgbClr val="795E26"/>
                </a:solidFill>
                <a:effectLst/>
                <a:latin typeface="Consolas" panose="020B0609020204030204" pitchFamily="49" charset="0"/>
              </a:rPr>
              <a:t>semilogx</a:t>
            </a:r>
            <a:r>
              <a:rPr lang="en-US" altLang="zh-CN" sz="2200" b="0" dirty="0">
                <a:solidFill>
                  <a:srgbClr val="000000"/>
                </a:solidFill>
                <a:effectLst/>
                <a:latin typeface="Consolas" panose="020B0609020204030204" pitchFamily="49" charset="0"/>
              </a:rPr>
              <a:t>(d[:,</a:t>
            </a:r>
            <a:r>
              <a:rPr lang="en-US" altLang="zh-CN" sz="2200" b="0" dirty="0">
                <a:solidFill>
                  <a:srgbClr val="098658"/>
                </a:solidFill>
                <a:effectLst/>
                <a:latin typeface="Consolas" panose="020B0609020204030204" pitchFamily="49" charset="0"/>
              </a:rPr>
              <a:t>1</a:t>
            </a:r>
            <a:r>
              <a:rPr lang="en-US" altLang="zh-CN" sz="2200" b="0" dirty="0">
                <a:solidFill>
                  <a:srgbClr val="000000"/>
                </a:solidFill>
                <a:effectLst/>
                <a:latin typeface="Consolas" panose="020B0609020204030204" pitchFamily="49" charset="0"/>
              </a:rPr>
              <a:t>],d[:,</a:t>
            </a:r>
            <a:r>
              <a:rPr lang="en-US" altLang="zh-CN" sz="2200" b="0" dirty="0">
                <a:solidFill>
                  <a:srgbClr val="098658"/>
                </a:solidFill>
                <a:effectLst/>
                <a:latin typeface="Consolas" panose="020B0609020204030204" pitchFamily="49" charset="0"/>
              </a:rPr>
              <a:t>2</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"-or"</a:t>
            </a:r>
            <a:r>
              <a:rPr lang="en-US" altLang="zh-CN" sz="2200" b="0" dirty="0">
                <a:solidFill>
                  <a:srgbClr val="000000"/>
                </a:solidFill>
                <a:effectLst/>
                <a:latin typeface="Consolas" panose="020B0609020204030204" pitchFamily="49" charset="0"/>
              </a:rPr>
              <a:t>)</a:t>
            </a:r>
          </a:p>
          <a:p>
            <a:pPr>
              <a:lnSpc>
                <a:spcPts val="3700"/>
              </a:lnSpc>
            </a:pPr>
            <a:r>
              <a:rPr lang="en-US" altLang="zh-CN" sz="2200" b="0" dirty="0" err="1">
                <a:solidFill>
                  <a:srgbClr val="795E26"/>
                </a:solidFill>
                <a:effectLst/>
                <a:latin typeface="Consolas" panose="020B0609020204030204" pitchFamily="49" charset="0"/>
              </a:rPr>
              <a:t>xlabel</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a:t>
            </a:r>
            <a:r>
              <a:rPr lang="zh-CN" altLang="en-US" sz="2200" b="0" dirty="0">
                <a:solidFill>
                  <a:srgbClr val="A31515"/>
                </a:solidFill>
                <a:effectLst/>
                <a:latin typeface="Consolas" panose="020B0609020204030204" pitchFamily="49" charset="0"/>
              </a:rPr>
              <a:t>应变</a:t>
            </a:r>
            <a:r>
              <a:rPr lang="en-US" altLang="zh-CN" sz="2200" b="0" dirty="0">
                <a:solidFill>
                  <a:srgbClr val="A31515"/>
                </a:solidFill>
                <a:effectLst/>
                <a:latin typeface="Consolas" panose="020B0609020204030204" pitchFamily="49" charset="0"/>
              </a:rPr>
              <a:t>"</a:t>
            </a:r>
            <a:r>
              <a:rPr lang="en-US" altLang="zh-CN" sz="2200" b="0" dirty="0">
                <a:solidFill>
                  <a:srgbClr val="000000"/>
                </a:solidFill>
                <a:effectLst/>
                <a:latin typeface="Consolas" panose="020B0609020204030204" pitchFamily="49" charset="0"/>
              </a:rPr>
              <a:t>)</a:t>
            </a:r>
          </a:p>
          <a:p>
            <a:pPr>
              <a:lnSpc>
                <a:spcPts val="3700"/>
              </a:lnSpc>
            </a:pPr>
            <a:r>
              <a:rPr lang="en-US" altLang="zh-CN" sz="2200" b="0" dirty="0" err="1">
                <a:solidFill>
                  <a:srgbClr val="795E26"/>
                </a:solidFill>
                <a:effectLst/>
                <a:latin typeface="Consolas" panose="020B0609020204030204" pitchFamily="49" charset="0"/>
              </a:rPr>
              <a:t>ylabel</a:t>
            </a:r>
            <a:r>
              <a:rPr lang="en-US" altLang="zh-CN" sz="2200" b="0" dirty="0">
                <a:solidFill>
                  <a:srgbClr val="000000"/>
                </a:solidFill>
                <a:effectLst/>
                <a:latin typeface="Consolas" panose="020B0609020204030204" pitchFamily="49" charset="0"/>
              </a:rPr>
              <a:t>(</a:t>
            </a:r>
            <a:r>
              <a:rPr lang="en-US" altLang="zh-CN" sz="2200" b="0" dirty="0">
                <a:solidFill>
                  <a:srgbClr val="A31515"/>
                </a:solidFill>
                <a:effectLst/>
                <a:latin typeface="Consolas" panose="020B0609020204030204" pitchFamily="49" charset="0"/>
              </a:rPr>
              <a:t>"</a:t>
            </a:r>
            <a:r>
              <a:rPr lang="zh-CN" altLang="en-US" sz="2200" b="0" dirty="0">
                <a:solidFill>
                  <a:srgbClr val="A31515"/>
                </a:solidFill>
                <a:effectLst/>
                <a:latin typeface="Consolas" panose="020B0609020204030204" pitchFamily="49" charset="0"/>
              </a:rPr>
              <a:t>阻尼值</a:t>
            </a:r>
            <a:r>
              <a:rPr lang="en-US" altLang="zh-CN" sz="2200" b="0" dirty="0">
                <a:solidFill>
                  <a:srgbClr val="A31515"/>
                </a:solidFill>
                <a:effectLst/>
                <a:latin typeface="Consolas" panose="020B0609020204030204" pitchFamily="49" charset="0"/>
              </a:rPr>
              <a:t>"</a:t>
            </a:r>
            <a:r>
              <a:rPr lang="en-US" altLang="zh-CN" sz="2200" b="0" dirty="0">
                <a:solidFill>
                  <a:srgbClr val="000000"/>
                </a:solidFill>
                <a:effectLst/>
                <a:latin typeface="Consolas" panose="020B0609020204030204" pitchFamily="49" charset="0"/>
              </a:rPr>
              <a:t>)</a:t>
            </a:r>
          </a:p>
          <a:p>
            <a:pPr>
              <a:lnSpc>
                <a:spcPts val="3700"/>
              </a:lnSpc>
            </a:pPr>
            <a:r>
              <a:rPr lang="en-US" altLang="zh-CN" sz="2200" b="0" dirty="0" err="1">
                <a:solidFill>
                  <a:srgbClr val="795E26"/>
                </a:solidFill>
                <a:effectLst/>
                <a:latin typeface="Consolas" panose="020B0609020204030204" pitchFamily="49" charset="0"/>
              </a:rPr>
              <a:t>xlim</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10</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3</a:t>
            </a:r>
            <a:r>
              <a:rPr lang="en-US" altLang="zh-CN" sz="2200" b="0" dirty="0">
                <a:solidFill>
                  <a:srgbClr val="000000"/>
                </a:solidFill>
                <a:effectLst/>
                <a:latin typeface="Consolas" panose="020B0609020204030204" pitchFamily="49" charset="0"/>
              </a:rPr>
              <a:t>,</a:t>
            </a:r>
            <a:r>
              <a:rPr lang="en-US" altLang="zh-CN" sz="2200" b="0" dirty="0">
                <a:solidFill>
                  <a:srgbClr val="098658"/>
                </a:solidFill>
                <a:effectLst/>
                <a:latin typeface="Consolas" panose="020B0609020204030204" pitchFamily="49" charset="0"/>
              </a:rPr>
              <a:t>0.3</a:t>
            </a:r>
            <a:r>
              <a:rPr lang="en-US" altLang="zh-CN" sz="2200" b="0" dirty="0">
                <a:solidFill>
                  <a:srgbClr val="000000"/>
                </a:solidFill>
                <a:effectLst/>
                <a:latin typeface="Consolas" panose="020B0609020204030204" pitchFamily="49" charset="0"/>
              </a:rPr>
              <a:t>])</a:t>
            </a:r>
          </a:p>
        </p:txBody>
      </p:sp>
      <p:pic>
        <p:nvPicPr>
          <p:cNvPr id="3" name="图片 2">
            <a:extLst>
              <a:ext uri="{FF2B5EF4-FFF2-40B4-BE49-F238E27FC236}">
                <a16:creationId xmlns:a16="http://schemas.microsoft.com/office/drawing/2014/main" id="{71D0519D-8283-47B9-96BA-09CC33D66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3084" y="1574693"/>
            <a:ext cx="3270418" cy="1676486"/>
          </a:xfrm>
          <a:prstGeom prst="rect">
            <a:avLst/>
          </a:prstGeom>
        </p:spPr>
      </p:pic>
      <p:pic>
        <p:nvPicPr>
          <p:cNvPr id="16" name="图片 15">
            <a:extLst>
              <a:ext uri="{FF2B5EF4-FFF2-40B4-BE49-F238E27FC236}">
                <a16:creationId xmlns:a16="http://schemas.microsoft.com/office/drawing/2014/main" id="{3879B5A5-60E3-4183-8105-61DE5F57C5FF}"/>
              </a:ext>
            </a:extLst>
          </p:cNvPr>
          <p:cNvPicPr>
            <a:picLocks noChangeAspect="1"/>
          </p:cNvPicPr>
          <p:nvPr/>
        </p:nvPicPr>
        <p:blipFill rotWithShape="1">
          <a:blip r:embed="rId5"/>
          <a:srcRect l="24648" t="8000" r="31100" b="26068"/>
          <a:stretch/>
        </p:blipFill>
        <p:spPr>
          <a:xfrm>
            <a:off x="4985103" y="3147814"/>
            <a:ext cx="1898577" cy="1323318"/>
          </a:xfrm>
          <a:prstGeom prst="rect">
            <a:avLst/>
          </a:prstGeom>
          <a:ln>
            <a:solidFill>
              <a:schemeClr val="bg1">
                <a:lumMod val="50000"/>
              </a:schemeClr>
            </a:solidFill>
          </a:ln>
        </p:spPr>
      </p:pic>
      <p:sp>
        <p:nvSpPr>
          <p:cNvPr id="18" name="椭圆 17">
            <a:extLst>
              <a:ext uri="{FF2B5EF4-FFF2-40B4-BE49-F238E27FC236}">
                <a16:creationId xmlns:a16="http://schemas.microsoft.com/office/drawing/2014/main" id="{DC1FBB1F-D238-4930-BDDD-5EEB038D4004}"/>
              </a:ext>
            </a:extLst>
          </p:cNvPr>
          <p:cNvSpPr/>
          <p:nvPr/>
        </p:nvSpPr>
        <p:spPr bwMode="auto">
          <a:xfrm>
            <a:off x="5035123" y="3948277"/>
            <a:ext cx="836733" cy="333626"/>
          </a:xfrm>
          <a:prstGeom prst="ellipse">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cxnSp>
        <p:nvCxnSpPr>
          <p:cNvPr id="19" name="直接连接符 18">
            <a:extLst>
              <a:ext uri="{FF2B5EF4-FFF2-40B4-BE49-F238E27FC236}">
                <a16:creationId xmlns:a16="http://schemas.microsoft.com/office/drawing/2014/main" id="{C69320B0-912C-42D5-BF9D-53D83F777DCD}"/>
              </a:ext>
            </a:extLst>
          </p:cNvPr>
          <p:cNvCxnSpPr>
            <a:cxnSpLocks/>
          </p:cNvCxnSpPr>
          <p:nvPr/>
        </p:nvCxnSpPr>
        <p:spPr>
          <a:xfrm>
            <a:off x="5883034" y="3164198"/>
            <a:ext cx="3104" cy="1172407"/>
          </a:xfrm>
          <a:prstGeom prst="line">
            <a:avLst/>
          </a:prstGeom>
          <a:ln>
            <a:solidFill>
              <a:srgbClr val="FF0000"/>
            </a:solidFill>
            <a:prstDash val="sysDot"/>
          </a:ln>
        </p:spPr>
        <p:style>
          <a:lnRef idx="3">
            <a:schemeClr val="accent2"/>
          </a:lnRef>
          <a:fillRef idx="0">
            <a:schemeClr val="accent2"/>
          </a:fillRef>
          <a:effectRef idx="2">
            <a:schemeClr val="accent2"/>
          </a:effectRef>
          <a:fontRef idx="minor">
            <a:schemeClr val="tx1"/>
          </a:fontRef>
        </p:style>
      </p:cxnSp>
      <p:sp>
        <p:nvSpPr>
          <p:cNvPr id="20" name="文本框 19">
            <a:extLst>
              <a:ext uri="{FF2B5EF4-FFF2-40B4-BE49-F238E27FC236}">
                <a16:creationId xmlns:a16="http://schemas.microsoft.com/office/drawing/2014/main" id="{5178EAA0-B16E-469E-B1EC-7530C6516CA9}"/>
              </a:ext>
            </a:extLst>
          </p:cNvPr>
          <p:cNvSpPr txBox="1"/>
          <p:nvPr/>
        </p:nvSpPr>
        <p:spPr>
          <a:xfrm>
            <a:off x="5039174" y="3300941"/>
            <a:ext cx="1604492" cy="369332"/>
          </a:xfrm>
          <a:prstGeom prst="rect">
            <a:avLst/>
          </a:prstGeom>
          <a:noFill/>
        </p:spPr>
        <p:txBody>
          <a:bodyPr wrap="square">
            <a:spAutoFit/>
          </a:bodyPr>
          <a:lstStyle/>
          <a:p>
            <a:r>
              <a:rPr kumimoji="0" lang="zh-CN" altLang="en-US" sz="1800" b="0" i="0" u="none" strike="noStrike" kern="1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笛</a:t>
            </a:r>
            <a:r>
              <a:rPr lang="zh-CN" altLang="en-US" sz="1800" kern="100" dirty="0">
                <a:solidFill>
                  <a:srgbClr val="FF0000"/>
                </a:solidFill>
                <a:latin typeface="黑体" panose="02010609060101010101" pitchFamily="49" charset="-122"/>
                <a:ea typeface="黑体" panose="02010609060101010101" pitchFamily="49" charset="-122"/>
              </a:rPr>
              <a:t>卡尔坐标</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1" name="文本框 20">
            <a:extLst>
              <a:ext uri="{FF2B5EF4-FFF2-40B4-BE49-F238E27FC236}">
                <a16:creationId xmlns:a16="http://schemas.microsoft.com/office/drawing/2014/main" id="{45D20C2D-115B-4A91-99F9-2B3C56B390BB}"/>
              </a:ext>
            </a:extLst>
          </p:cNvPr>
          <p:cNvSpPr txBox="1"/>
          <p:nvPr/>
        </p:nvSpPr>
        <p:spPr>
          <a:xfrm>
            <a:off x="7195510" y="2423940"/>
            <a:ext cx="1604492" cy="369332"/>
          </a:xfrm>
          <a:prstGeom prst="rect">
            <a:avLst/>
          </a:prstGeom>
          <a:noFill/>
        </p:spPr>
        <p:txBody>
          <a:bodyPr wrap="square">
            <a:spAutoFit/>
          </a:bodyPr>
          <a:lstStyle/>
          <a:p>
            <a:r>
              <a:rPr lang="zh-CN" altLang="en-US" kern="100" dirty="0">
                <a:solidFill>
                  <a:srgbClr val="FF0000"/>
                </a:solidFill>
                <a:latin typeface="黑体" panose="02010609060101010101" pitchFamily="49" charset="-122"/>
                <a:ea typeface="黑体" panose="02010609060101010101" pitchFamily="49" charset="-122"/>
              </a:rPr>
              <a:t>半对数坐标</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2" name="文本框 21">
            <a:extLst>
              <a:ext uri="{FF2B5EF4-FFF2-40B4-BE49-F238E27FC236}">
                <a16:creationId xmlns:a16="http://schemas.microsoft.com/office/drawing/2014/main" id="{9141CB4F-A546-4819-86AA-46C01F2EF637}"/>
              </a:ext>
            </a:extLst>
          </p:cNvPr>
          <p:cNvSpPr txBox="1"/>
          <p:nvPr/>
        </p:nvSpPr>
        <p:spPr>
          <a:xfrm>
            <a:off x="1198154" y="4173826"/>
            <a:ext cx="4944532" cy="400110"/>
          </a:xfrm>
          <a:prstGeom prst="rect">
            <a:avLst/>
          </a:prstGeom>
          <a:noFill/>
        </p:spPr>
        <p:txBody>
          <a:bodyPr wrap="square">
            <a:spAutoFit/>
          </a:bodyPr>
          <a:lstStyle/>
          <a:p>
            <a:pPr>
              <a:defRPr/>
            </a:pPr>
            <a:r>
              <a:rPr kumimoji="0" lang="zh-CN" altLang="en-US" sz="2000" b="1" i="0" u="none" strike="noStrike" kern="1200" cap="none" spc="0" normalizeH="0" baseline="0" noProof="0" dirty="0">
                <a:ln>
                  <a:noFill/>
                </a:ln>
                <a:solidFill>
                  <a:srgbClr val="FF0000"/>
                </a:solidFill>
                <a:effectLst/>
                <a:uLnTx/>
                <a:uFillTx/>
                <a:latin typeface="隶书" panose="02010509060101010101" pitchFamily="49" charset="-122"/>
                <a:ea typeface="隶书" panose="02010509060101010101" pitchFamily="49" charset="-122"/>
                <a:cs typeface="+mn-cs"/>
              </a:rPr>
              <a:t>对数坐标上可能体现规律</a:t>
            </a:r>
          </a:p>
        </p:txBody>
      </p:sp>
    </p:spTree>
    <p:extLst>
      <p:ext uri="{BB962C8B-B14F-4D97-AF65-F5344CB8AC3E}">
        <p14:creationId xmlns:p14="http://schemas.microsoft.com/office/powerpoint/2010/main" val="214215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nodePh="1">
                                  <p:stCondLst>
                                    <p:cond delay="0"/>
                                  </p:stCondLst>
                                  <p:endCondLst>
                                    <p:cond evt="begin" delay="0">
                                      <p:tn val="13"/>
                                    </p:cond>
                                  </p:end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animBg="1"/>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FC8FA7C-4C8D-49EE-A7D3-94D70BB52A46}"/>
              </a:ext>
            </a:extLst>
          </p:cNvPr>
          <p:cNvPicPr>
            <a:picLocks noChangeAspect="1"/>
          </p:cNvPicPr>
          <p:nvPr/>
        </p:nvPicPr>
        <p:blipFill rotWithShape="1">
          <a:blip r:embed="rId3"/>
          <a:srcRect l="15572" t="36000" r="17698" b="27468"/>
          <a:stretch/>
        </p:blipFill>
        <p:spPr>
          <a:xfrm>
            <a:off x="273991" y="1734842"/>
            <a:ext cx="8552349" cy="2203002"/>
          </a:xfrm>
          <a:prstGeom prst="rect">
            <a:avLst/>
          </a:prstGeom>
          <a:ln>
            <a:solidFill>
              <a:schemeClr val="bg1">
                <a:lumMod val="50000"/>
              </a:schemeClr>
            </a:solidFill>
          </a:ln>
          <a:effectLst>
            <a:outerShdw blurRad="63500" sx="102000" sy="102000" algn="ctr" rotWithShape="0">
              <a:prstClr val="black">
                <a:alpha val="40000"/>
              </a:prstClr>
            </a:outerShdw>
          </a:effectLst>
        </p:spPr>
      </p:pic>
      <p:sp>
        <p:nvSpPr>
          <p:cNvPr id="7" name="文本框 6">
            <a:extLst>
              <a:ext uri="{FF2B5EF4-FFF2-40B4-BE49-F238E27FC236}">
                <a16:creationId xmlns:a16="http://schemas.microsoft.com/office/drawing/2014/main" id="{8002245E-57C2-463D-B426-022AD110948D}"/>
              </a:ext>
            </a:extLst>
          </p:cNvPr>
          <p:cNvSpPr txBox="1"/>
          <p:nvPr/>
        </p:nvSpPr>
        <p:spPr>
          <a:xfrm>
            <a:off x="127803" y="3997552"/>
            <a:ext cx="8698537" cy="695255"/>
          </a:xfrm>
          <a:prstGeom prst="rect">
            <a:avLst/>
          </a:prstGeom>
          <a:noFill/>
        </p:spPr>
        <p:txBody>
          <a:bodyPr wrap="square">
            <a:spAutoFit/>
          </a:bodyPr>
          <a:lstStyle/>
          <a:p>
            <a:pPr>
              <a:lnSpc>
                <a:spcPts val="2400"/>
              </a:lnSpc>
            </a:pPr>
            <a:r>
              <a:rPr lang="zh-CN" altLang="en-US" dirty="0">
                <a:solidFill>
                  <a:srgbClr val="121212"/>
                </a:solidFill>
                <a:latin typeface="华文楷体" panose="02010600040101010101" pitchFamily="2" charset="-122"/>
                <a:ea typeface="华文楷体" panose="02010600040101010101" pitchFamily="2" charset="-122"/>
              </a:rPr>
              <a:t>加速度</a:t>
            </a:r>
            <a:r>
              <a:rPr lang="en-US" altLang="zh-CN" dirty="0">
                <a:solidFill>
                  <a:srgbClr val="121212"/>
                </a:solidFill>
                <a:latin typeface="华文楷体" panose="02010600040101010101" pitchFamily="2" charset="-122"/>
                <a:ea typeface="华文楷体" panose="02010600040101010101" pitchFamily="2" charset="-122"/>
              </a:rPr>
              <a:t>a</a:t>
            </a:r>
            <a:r>
              <a:rPr lang="zh-CN" altLang="en-US" dirty="0">
                <a:solidFill>
                  <a:srgbClr val="121212"/>
                </a:solidFill>
                <a:latin typeface="华文楷体" panose="02010600040101010101" pitchFamily="2" charset="-122"/>
                <a:ea typeface="华文楷体" panose="02010600040101010101" pitchFamily="2" charset="-122"/>
              </a:rPr>
              <a:t>和平均距离</a:t>
            </a:r>
            <a:r>
              <a:rPr lang="en-US" altLang="zh-CN" dirty="0">
                <a:solidFill>
                  <a:srgbClr val="121212"/>
                </a:solidFill>
                <a:latin typeface="华文楷体" panose="02010600040101010101" pitchFamily="2" charset="-122"/>
                <a:ea typeface="华文楷体" panose="02010600040101010101" pitchFamily="2" charset="-122"/>
              </a:rPr>
              <a:t>R</a:t>
            </a:r>
            <a:r>
              <a:rPr lang="zh-CN" altLang="en-US" i="0" dirty="0">
                <a:solidFill>
                  <a:srgbClr val="121212"/>
                </a:solidFill>
                <a:effectLst/>
                <a:latin typeface="华文楷体" panose="02010600040101010101" pitchFamily="2" charset="-122"/>
                <a:ea typeface="华文楷体" panose="02010600040101010101" pitchFamily="2" charset="-122"/>
              </a:rPr>
              <a:t>数据点呈指数型增长</a:t>
            </a:r>
            <a:r>
              <a:rPr lang="zh-CN" altLang="en-US" dirty="0">
                <a:solidFill>
                  <a:srgbClr val="121212"/>
                </a:solidFill>
                <a:latin typeface="华文楷体" panose="02010600040101010101" pitchFamily="2" charset="-122"/>
                <a:ea typeface="华文楷体" panose="02010600040101010101" pitchFamily="2" charset="-122"/>
              </a:rPr>
              <a:t>关系</a:t>
            </a:r>
            <a:r>
              <a:rPr lang="en-US" altLang="zh-CN" dirty="0">
                <a:solidFill>
                  <a:srgbClr val="FFFF00"/>
                </a:solidFill>
                <a:highlight>
                  <a:srgbClr val="FF0000"/>
                </a:highlight>
                <a:latin typeface="华文楷体" panose="02010600040101010101" pitchFamily="2" charset="-122"/>
                <a:ea typeface="华文楷体" panose="02010600040101010101" pitchFamily="2" charset="-122"/>
              </a:rPr>
              <a:t>a=</a:t>
            </a:r>
            <a:r>
              <a:rPr lang="en-US" altLang="zh-CN" dirty="0">
                <a:solidFill>
                  <a:srgbClr val="FFFF00"/>
                </a:solidFill>
                <a:highlight>
                  <a:srgbClr val="3366FF"/>
                </a:highlight>
                <a:latin typeface="华文楷体" panose="02010600040101010101" pitchFamily="2" charset="-122"/>
                <a:ea typeface="华文楷体" panose="02010600040101010101" pitchFamily="2" charset="-122"/>
              </a:rPr>
              <a:t>c</a:t>
            </a:r>
            <a:r>
              <a:rPr lang="en-US" altLang="zh-CN" dirty="0">
                <a:solidFill>
                  <a:srgbClr val="FFFF00"/>
                </a:solidFill>
                <a:highlight>
                  <a:srgbClr val="FF0000"/>
                </a:highlight>
                <a:latin typeface="华文楷体" panose="02010600040101010101" pitchFamily="2" charset="-122"/>
                <a:ea typeface="华文楷体" panose="02010600040101010101" pitchFamily="2" charset="-122"/>
              </a:rPr>
              <a:t>*exp</a:t>
            </a:r>
            <a:r>
              <a:rPr lang="zh-CN" altLang="en-US" dirty="0">
                <a:solidFill>
                  <a:srgbClr val="FFFF00"/>
                </a:solidFill>
                <a:highlight>
                  <a:srgbClr val="FF0000"/>
                </a:highlight>
                <a:latin typeface="华文楷体" panose="02010600040101010101" pitchFamily="2" charset="-122"/>
                <a:ea typeface="华文楷体" panose="02010600040101010101" pitchFamily="2" charset="-122"/>
              </a:rPr>
              <a:t>（</a:t>
            </a:r>
            <a:r>
              <a:rPr lang="en-US" altLang="zh-CN" dirty="0">
                <a:solidFill>
                  <a:srgbClr val="FFFF00"/>
                </a:solidFill>
                <a:highlight>
                  <a:srgbClr val="3366FF"/>
                </a:highlight>
                <a:latin typeface="华文楷体" panose="02010600040101010101" pitchFamily="2" charset="-122"/>
                <a:ea typeface="华文楷体" panose="02010600040101010101" pitchFamily="2" charset="-122"/>
              </a:rPr>
              <a:t>d</a:t>
            </a:r>
            <a:r>
              <a:rPr lang="en-US" altLang="zh-CN" dirty="0">
                <a:solidFill>
                  <a:srgbClr val="FFFF00"/>
                </a:solidFill>
                <a:highlight>
                  <a:srgbClr val="FF0000"/>
                </a:highlight>
                <a:latin typeface="华文楷体" panose="02010600040101010101" pitchFamily="2" charset="-122"/>
                <a:ea typeface="华文楷体" panose="02010600040101010101" pitchFamily="2" charset="-122"/>
              </a:rPr>
              <a:t>*r</a:t>
            </a:r>
            <a:r>
              <a:rPr lang="zh-CN" altLang="en-US" dirty="0">
                <a:solidFill>
                  <a:srgbClr val="FFFF00"/>
                </a:solidFill>
                <a:highlight>
                  <a:srgbClr val="FF0000"/>
                </a:highlight>
                <a:latin typeface="华文楷体" panose="02010600040101010101" pitchFamily="2" charset="-122"/>
                <a:ea typeface="华文楷体" panose="02010600040101010101" pitchFamily="2" charset="-122"/>
              </a:rPr>
              <a:t>）</a:t>
            </a:r>
            <a:r>
              <a:rPr lang="zh-CN" altLang="en-US" i="0" dirty="0">
                <a:solidFill>
                  <a:srgbClr val="121212"/>
                </a:solidFill>
                <a:effectLst/>
                <a:latin typeface="华文楷体" panose="02010600040101010101" pitchFamily="2" charset="-122"/>
                <a:ea typeface="华文楷体" panose="02010600040101010101" pitchFamily="2" charset="-122"/>
              </a:rPr>
              <a:t>。然手工指数拟合得不到最佳拟合曲线，因解方程会困难，故用</a:t>
            </a:r>
            <a:r>
              <a:rPr lang="zh-CN" altLang="en-US" dirty="0">
                <a:solidFill>
                  <a:srgbClr val="FF0000"/>
                </a:solidFill>
                <a:latin typeface="华文楷体" panose="02010600040101010101" pitchFamily="2" charset="-122"/>
                <a:ea typeface="华文楷体" panose="02010600040101010101" pitchFamily="2" charset="-122"/>
              </a:rPr>
              <a:t>指数</a:t>
            </a:r>
            <a:r>
              <a:rPr lang="en-US" altLang="ko-KR" dirty="0" err="1">
                <a:solidFill>
                  <a:srgbClr val="FF0000"/>
                </a:solidFill>
                <a:latin typeface="华文楷体" panose="02010600040101010101" pitchFamily="2" charset="-122"/>
                <a:ea typeface="华文楷体" panose="02010600040101010101" pitchFamily="2" charset="-122"/>
              </a:rPr>
              <a:t>函数</a:t>
            </a:r>
            <a:r>
              <a:rPr lang="zh-CN" altLang="en-US" dirty="0">
                <a:solidFill>
                  <a:srgbClr val="FF0000"/>
                </a:solidFill>
                <a:latin typeface="华文楷体" panose="02010600040101010101" pitchFamily="2" charset="-122"/>
                <a:ea typeface="华文楷体" panose="02010600040101010101" pitchFamily="2" charset="-122"/>
              </a:rPr>
              <a:t>线性化</a:t>
            </a:r>
            <a:r>
              <a:rPr lang="zh-CN" altLang="en-US" i="0" dirty="0">
                <a:solidFill>
                  <a:srgbClr val="121212"/>
                </a:solidFill>
                <a:effectLst/>
                <a:latin typeface="华文楷体" panose="02010600040101010101" pitchFamily="2" charset="-122"/>
                <a:ea typeface="华文楷体" panose="02010600040101010101" pitchFamily="2" charset="-122"/>
              </a:rPr>
              <a:t> </a:t>
            </a:r>
            <a:endParaRPr lang="zh-CN" altLang="en-US" dirty="0">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EF41B408-6CBF-458C-802B-62A4748EFE50}"/>
              </a:ext>
            </a:extLst>
          </p:cNvPr>
          <p:cNvSpPr txBox="1"/>
          <p:nvPr/>
        </p:nvSpPr>
        <p:spPr>
          <a:xfrm>
            <a:off x="1053741" y="60742"/>
            <a:ext cx="7889164" cy="560346"/>
          </a:xfrm>
          <a:prstGeom prst="rect">
            <a:avLst/>
          </a:prstGeom>
          <a:noFill/>
        </p:spPr>
        <p:txBody>
          <a:bodyPr wrap="square">
            <a:spAutoFit/>
          </a:bodyPr>
          <a:lstStyle/>
          <a:p>
            <a:pPr eaLnBrk="0">
              <a:lnSpc>
                <a:spcPts val="3900"/>
              </a:lnSpc>
              <a:spcBef>
                <a:spcPts val="0"/>
              </a:spcBef>
              <a:spcAft>
                <a:spcPts val="0"/>
              </a:spcAft>
            </a:pPr>
            <a:r>
              <a:rPr lang="en-US" altLang="ko-KR" sz="2600" b="1" dirty="0">
                <a:solidFill>
                  <a:srgbClr val="002060"/>
                </a:solidFill>
                <a:latin typeface="华文楷体" panose="02010600040101010101" pitchFamily="2" charset="-122"/>
                <a:ea typeface="华文楷体" panose="02010600040101010101" pitchFamily="2" charset="-122"/>
              </a:rPr>
              <a:t>§3.3.4</a:t>
            </a:r>
            <a:r>
              <a:rPr lang="zh-CN" altLang="en-US" sz="2400" kern="0" dirty="0">
                <a:solidFill>
                  <a:srgbClr val="002060"/>
                </a:solidFill>
                <a:latin typeface="华文楷体" panose="02010600040101010101" pitchFamily="2" charset="-122"/>
                <a:ea typeface="华文楷体" panose="02010600040101010101" pitchFamily="2" charset="-122"/>
              </a:rPr>
              <a:t>绘制对数坐标曲线</a:t>
            </a:r>
            <a:r>
              <a:rPr lang="en-US" altLang="zh-CN" sz="2600" b="1" kern="0" dirty="0">
                <a:solidFill>
                  <a:srgbClr val="FF0000"/>
                </a:solidFill>
                <a:latin typeface="华文楷体" panose="02010600040101010101" pitchFamily="2" charset="-122"/>
                <a:ea typeface="华文楷体" panose="02010600040101010101" pitchFamily="2" charset="-122"/>
              </a:rPr>
              <a:t>——</a:t>
            </a:r>
            <a:r>
              <a:rPr lang="zh-CN" altLang="en-US" sz="2600" b="1" dirty="0">
                <a:solidFill>
                  <a:srgbClr val="FF0000"/>
                </a:solidFill>
                <a:latin typeface="华文楷体" panose="02010600040101010101" pitchFamily="2" charset="-122"/>
                <a:ea typeface="华文楷体" panose="02010600040101010101" pitchFamily="2" charset="-122"/>
              </a:rPr>
              <a:t>指数</a:t>
            </a:r>
            <a:r>
              <a:rPr lang="en-US" altLang="ko-KR" sz="2600" b="1" dirty="0" err="1">
                <a:solidFill>
                  <a:srgbClr val="FF0000"/>
                </a:solidFill>
                <a:latin typeface="华文楷体" panose="02010600040101010101" pitchFamily="2" charset="-122"/>
                <a:ea typeface="华文楷体" panose="02010600040101010101" pitchFamily="2" charset="-122"/>
              </a:rPr>
              <a:t>函数</a:t>
            </a:r>
            <a:r>
              <a:rPr lang="zh-CN" altLang="en-US" sz="2600" b="1" dirty="0">
                <a:solidFill>
                  <a:srgbClr val="FF0000"/>
                </a:solidFill>
                <a:latin typeface="华文楷体" panose="02010600040101010101" pitchFamily="2" charset="-122"/>
                <a:ea typeface="华文楷体" panose="02010600040101010101" pitchFamily="2" charset="-122"/>
              </a:rPr>
              <a:t>线性化案例</a:t>
            </a:r>
            <a:endParaRPr lang="en-US" altLang="zh-CN" sz="2600" b="1" dirty="0">
              <a:solidFill>
                <a:srgbClr val="FF0000"/>
              </a:solidFill>
              <a:latin typeface="华文楷体" panose="02010600040101010101" pitchFamily="2" charset="-122"/>
              <a:ea typeface="华文楷体" panose="02010600040101010101" pitchFamily="2" charset="-122"/>
            </a:endParaRPr>
          </a:p>
        </p:txBody>
      </p:sp>
      <p:sp>
        <p:nvSpPr>
          <p:cNvPr id="2" name="矩形 1">
            <a:extLst>
              <a:ext uri="{FF2B5EF4-FFF2-40B4-BE49-F238E27FC236}">
                <a16:creationId xmlns:a16="http://schemas.microsoft.com/office/drawing/2014/main" id="{F8A5A0CB-4887-4AA8-B685-28080F34F38B}"/>
              </a:ext>
            </a:extLst>
          </p:cNvPr>
          <p:cNvSpPr/>
          <p:nvPr/>
        </p:nvSpPr>
        <p:spPr bwMode="auto">
          <a:xfrm>
            <a:off x="6660232" y="2192714"/>
            <a:ext cx="2166108" cy="1745130"/>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0" name="矩形 9">
            <a:extLst>
              <a:ext uri="{FF2B5EF4-FFF2-40B4-BE49-F238E27FC236}">
                <a16:creationId xmlns:a16="http://schemas.microsoft.com/office/drawing/2014/main" id="{B95F0571-5750-49B2-89DC-3AF077DE15FD}"/>
              </a:ext>
            </a:extLst>
          </p:cNvPr>
          <p:cNvSpPr/>
          <p:nvPr/>
        </p:nvSpPr>
        <p:spPr bwMode="auto">
          <a:xfrm>
            <a:off x="905346" y="2199560"/>
            <a:ext cx="1620105" cy="1741459"/>
          </a:xfrm>
          <a:prstGeom prst="rect">
            <a:avLst/>
          </a:prstGeom>
          <a:noFill/>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177800" marR="0" indent="-177800" algn="ctr" defTabSz="914400" rtl="0" eaLnBrk="0" fontAlgn="base" latinLnBrk="0" hangingPunct="0">
              <a:lnSpc>
                <a:spcPct val="110000"/>
              </a:lnSpc>
              <a:spcBef>
                <a:spcPct val="0"/>
              </a:spcBef>
              <a:spcAft>
                <a:spcPct val="0"/>
              </a:spcAft>
              <a:buClrTx/>
              <a:buSzTx/>
              <a:buFontTx/>
              <a:buNone/>
              <a:tabLst/>
            </a:pPr>
            <a:endParaRPr kumimoji="0" lang="zh-CN" altLang="en-US" sz="1600" b="1" i="0" u="none" strike="noStrike" cap="none" normalizeH="0" baseline="0">
              <a:ln>
                <a:noFill/>
              </a:ln>
              <a:solidFill>
                <a:schemeClr val="tx1"/>
              </a:solidFill>
              <a:effectLst/>
              <a:latin typeface="Times New Roman" pitchFamily="18" charset="0"/>
            </a:endParaRPr>
          </a:p>
        </p:txBody>
      </p:sp>
      <p:sp>
        <p:nvSpPr>
          <p:cNvPr id="11" name="文本框 10">
            <a:extLst>
              <a:ext uri="{FF2B5EF4-FFF2-40B4-BE49-F238E27FC236}">
                <a16:creationId xmlns:a16="http://schemas.microsoft.com/office/drawing/2014/main" id="{2A36D211-8B7F-492B-BC51-CB925538B8AB}"/>
              </a:ext>
            </a:extLst>
          </p:cNvPr>
          <p:cNvSpPr txBox="1"/>
          <p:nvPr/>
        </p:nvSpPr>
        <p:spPr>
          <a:xfrm>
            <a:off x="536188" y="742291"/>
            <a:ext cx="8406717" cy="353943"/>
          </a:xfrm>
          <a:prstGeom prst="rect">
            <a:avLst/>
          </a:prstGeom>
          <a:noFill/>
        </p:spPr>
        <p:txBody>
          <a:bodyPr wrap="square">
            <a:spAutoFit/>
          </a:bodyPr>
          <a:lstStyle/>
          <a:p>
            <a:pPr algn="dist"/>
            <a:r>
              <a:rPr lang="zh-CN" altLang="en-US" sz="1700" b="1" dirty="0">
                <a:solidFill>
                  <a:srgbClr val="0070C0"/>
                </a:solidFill>
                <a:latin typeface="微软雅黑" panose="020B0503020204020204" pitchFamily="34" charset="-122"/>
                <a:ea typeface="微软雅黑" panose="020B0503020204020204" pitchFamily="34" charset="-122"/>
              </a:rPr>
              <a:t>水星、金星、地球、火星、木星、土星、天王星、海王星平均距离和加速度</a:t>
            </a:r>
          </a:p>
        </p:txBody>
      </p:sp>
      <p:sp>
        <p:nvSpPr>
          <p:cNvPr id="12" name="波形 11">
            <a:extLst>
              <a:ext uri="{FF2B5EF4-FFF2-40B4-BE49-F238E27FC236}">
                <a16:creationId xmlns:a16="http://schemas.microsoft.com/office/drawing/2014/main" id="{299C97FA-F767-4586-A5D5-42EFFBCFE9B5}"/>
              </a:ext>
            </a:extLst>
          </p:cNvPr>
          <p:cNvSpPr/>
          <p:nvPr/>
        </p:nvSpPr>
        <p:spPr>
          <a:xfrm>
            <a:off x="107504" y="713832"/>
            <a:ext cx="379312" cy="41775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例9</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211C6688-35E7-4A38-82B1-762919734823}"/>
              </a:ext>
            </a:extLst>
          </p:cNvPr>
          <p:cNvSpPr txBox="1"/>
          <p:nvPr/>
        </p:nvSpPr>
        <p:spPr>
          <a:xfrm>
            <a:off x="3959563" y="2462926"/>
            <a:ext cx="1829742" cy="369332"/>
          </a:xfrm>
          <a:prstGeom prst="rect">
            <a:avLst/>
          </a:prstGeom>
          <a:solidFill>
            <a:schemeClr val="bg1"/>
          </a:solidFill>
        </p:spPr>
        <p:txBody>
          <a:bodyPr wrap="square">
            <a:spAutoFit/>
          </a:bodyPr>
          <a:lstStyle/>
          <a:p>
            <a:r>
              <a:rPr lang="zh-CN" altLang="en-US" b="0" i="0" dirty="0">
                <a:solidFill>
                  <a:srgbClr val="FF0000"/>
                </a:solidFill>
                <a:effectLst/>
                <a:latin typeface="Microsoft YaHei" panose="020B0503020204020204" pitchFamily="34" charset="-122"/>
                <a:ea typeface="Microsoft YaHei" panose="020B0503020204020204" pitchFamily="34" charset="-122"/>
              </a:rPr>
              <a:t>太阳系</a:t>
            </a:r>
            <a:r>
              <a:rPr lang="zh-CN" altLang="en-US" dirty="0">
                <a:solidFill>
                  <a:srgbClr val="FF0000"/>
                </a:solidFill>
                <a:latin typeface="Microsoft YaHei" panose="020B0503020204020204" pitchFamily="34" charset="-122"/>
                <a:ea typeface="Microsoft YaHei" panose="020B0503020204020204" pitchFamily="34" charset="-122"/>
              </a:rPr>
              <a:t>八</a:t>
            </a:r>
            <a:r>
              <a:rPr lang="zh-CN" altLang="en-US" b="0" i="0" dirty="0">
                <a:solidFill>
                  <a:srgbClr val="FF0000"/>
                </a:solidFill>
                <a:effectLst/>
                <a:latin typeface="Microsoft YaHei" panose="020B0503020204020204" pitchFamily="34" charset="-122"/>
                <a:ea typeface="Microsoft YaHei" panose="020B0503020204020204" pitchFamily="34" charset="-122"/>
              </a:rPr>
              <a:t>大行星</a:t>
            </a:r>
            <a:endParaRPr lang="zh-CN" altLang="en-US" dirty="0">
              <a:solidFill>
                <a:srgbClr val="FF0000"/>
              </a:solidFill>
            </a:endParaRPr>
          </a:p>
        </p:txBody>
      </p:sp>
      <p:sp>
        <p:nvSpPr>
          <p:cNvPr id="15" name="文本框 14">
            <a:extLst>
              <a:ext uri="{FF2B5EF4-FFF2-40B4-BE49-F238E27FC236}">
                <a16:creationId xmlns:a16="http://schemas.microsoft.com/office/drawing/2014/main" id="{60FEB491-8351-44BB-A053-76A008AABFB9}"/>
              </a:ext>
            </a:extLst>
          </p:cNvPr>
          <p:cNvSpPr txBox="1"/>
          <p:nvPr/>
        </p:nvSpPr>
        <p:spPr>
          <a:xfrm>
            <a:off x="6156176" y="4296748"/>
            <a:ext cx="1918509" cy="338554"/>
          </a:xfrm>
          <a:prstGeom prst="rect">
            <a:avLst/>
          </a:prstGeom>
          <a:noFill/>
        </p:spPr>
        <p:txBody>
          <a:bodyPr wrap="square">
            <a:spAutoFit/>
          </a:bodyPr>
          <a:lstStyle/>
          <a:p>
            <a:r>
              <a:rPr lang="en-US" altLang="zh-CN" sz="1600" b="0" i="0" dirty="0">
                <a:solidFill>
                  <a:schemeClr val="bg1"/>
                </a:solidFill>
                <a:effectLst/>
                <a:highlight>
                  <a:srgbClr val="FF0000"/>
                </a:highlight>
                <a:latin typeface="-apple-system"/>
              </a:rPr>
              <a:t>Log(a)=</a:t>
            </a:r>
            <a:r>
              <a:rPr lang="en-US" altLang="zh-CN" sz="1600" b="0" i="0" dirty="0">
                <a:solidFill>
                  <a:schemeClr val="bg1"/>
                </a:solidFill>
                <a:effectLst/>
                <a:highlight>
                  <a:srgbClr val="003B76"/>
                </a:highlight>
                <a:latin typeface="-apple-system"/>
              </a:rPr>
              <a:t>log(c)+d*R</a:t>
            </a:r>
            <a:endParaRPr lang="zh-CN" altLang="en-US" sz="1600" dirty="0">
              <a:solidFill>
                <a:schemeClr val="bg1"/>
              </a:solidFill>
              <a:highlight>
                <a:srgbClr val="FF0000"/>
              </a:highlight>
            </a:endParaRPr>
          </a:p>
        </p:txBody>
      </p:sp>
      <p:sp>
        <p:nvSpPr>
          <p:cNvPr id="16" name="Rectangle 1">
            <a:extLst>
              <a:ext uri="{FF2B5EF4-FFF2-40B4-BE49-F238E27FC236}">
                <a16:creationId xmlns:a16="http://schemas.microsoft.com/office/drawing/2014/main" id="{A6C8C4E8-18AE-48D5-9984-A9F2B11DA946}"/>
              </a:ext>
            </a:extLst>
          </p:cNvPr>
          <p:cNvSpPr>
            <a:spLocks noChangeArrowheads="1"/>
          </p:cNvSpPr>
          <p:nvPr/>
        </p:nvSpPr>
        <p:spPr bwMode="auto">
          <a:xfrm>
            <a:off x="4788024" y="4032402"/>
            <a:ext cx="1535699" cy="31566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zh-CN" sz="1600" b="1" kern="0" dirty="0">
                <a:solidFill>
                  <a:schemeClr val="bg1"/>
                </a:solidFill>
                <a:effectLst>
                  <a:outerShdw blurRad="38100" dist="38100" dir="2700000" algn="tl">
                    <a:srgbClr val="000000">
                      <a:alpha val="43137"/>
                    </a:srgbClr>
                  </a:outerShdw>
                </a:effectLst>
                <a:highlight>
                  <a:srgbClr val="FF0000"/>
                </a:highlight>
                <a:latin typeface="华文楷体" panose="02010600040101010101" pitchFamily="2" charset="-122"/>
                <a:ea typeface="华文楷体" panose="02010600040101010101" pitchFamily="2" charset="-122"/>
              </a:rPr>
              <a:t>a</a:t>
            </a:r>
            <a:r>
              <a:rPr lang="en-US" altLang="zh-CN"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=c*exp</a:t>
            </a:r>
            <a:r>
              <a:rPr lang="zh-CN" altLang="en-US"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r>
              <a:rPr lang="en-US" altLang="zh-CN"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d*</a:t>
            </a:r>
            <a:r>
              <a:rPr lang="en-US" altLang="zh-CN" sz="1600" b="1" kern="0" dirty="0">
                <a:solidFill>
                  <a:schemeClr val="bg1"/>
                </a:solidFill>
                <a:effectLst>
                  <a:outerShdw blurRad="38100" dist="38100" dir="2700000" algn="tl">
                    <a:srgbClr val="000000">
                      <a:alpha val="43137"/>
                    </a:srgbClr>
                  </a:outerShdw>
                </a:effectLst>
                <a:highlight>
                  <a:srgbClr val="FF0000"/>
                </a:highlight>
                <a:latin typeface="华文楷体" panose="02010600040101010101" pitchFamily="2" charset="-122"/>
                <a:ea typeface="华文楷体" panose="02010600040101010101" pitchFamily="2" charset="-122"/>
              </a:rPr>
              <a:t>R</a:t>
            </a:r>
            <a:r>
              <a:rPr lang="zh-CN" altLang="en-US"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a:t>
            </a:r>
            <a:endParaRPr lang="en-US" altLang="zh-CN"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pic>
        <p:nvPicPr>
          <p:cNvPr id="18" name="图片 17">
            <a:extLst>
              <a:ext uri="{FF2B5EF4-FFF2-40B4-BE49-F238E27FC236}">
                <a16:creationId xmlns:a16="http://schemas.microsoft.com/office/drawing/2014/main" id="{3613D040-E498-4308-B0F8-7F20F4C0A425}"/>
              </a:ext>
            </a:extLst>
          </p:cNvPr>
          <p:cNvPicPr>
            <a:picLocks noChangeAspect="1"/>
          </p:cNvPicPr>
          <p:nvPr/>
        </p:nvPicPr>
        <p:blipFill rotWithShape="1">
          <a:blip r:embed="rId4"/>
          <a:srcRect b="73032"/>
          <a:stretch/>
        </p:blipFill>
        <p:spPr>
          <a:xfrm>
            <a:off x="273991" y="1122347"/>
            <a:ext cx="8552349" cy="80133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7995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10" grpId="0" animBg="1"/>
      <p:bldP spid="13" grpId="0" animBg="1"/>
      <p:bldP spid="15"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37EEEB4-710B-4C58-828F-4A1BAAB1D98A}"/>
              </a:ext>
            </a:extLst>
          </p:cNvPr>
          <p:cNvPicPr>
            <a:picLocks noChangeAspect="1"/>
          </p:cNvPicPr>
          <p:nvPr/>
        </p:nvPicPr>
        <p:blipFill rotWithShape="1">
          <a:blip r:embed="rId3"/>
          <a:srcRect t="69327" r="1924"/>
          <a:stretch/>
        </p:blipFill>
        <p:spPr>
          <a:xfrm>
            <a:off x="841395" y="3497521"/>
            <a:ext cx="8141738" cy="1059711"/>
          </a:xfrm>
          <a:prstGeom prst="rect">
            <a:avLst/>
          </a:prstGeom>
        </p:spPr>
      </p:pic>
      <p:pic>
        <p:nvPicPr>
          <p:cNvPr id="27" name="图片 26">
            <a:extLst>
              <a:ext uri="{FF2B5EF4-FFF2-40B4-BE49-F238E27FC236}">
                <a16:creationId xmlns:a16="http://schemas.microsoft.com/office/drawing/2014/main" id="{CAB80338-0C01-4EEC-9B88-6A4E6E0A706A}"/>
              </a:ext>
            </a:extLst>
          </p:cNvPr>
          <p:cNvPicPr>
            <a:picLocks noChangeAspect="1"/>
          </p:cNvPicPr>
          <p:nvPr/>
        </p:nvPicPr>
        <p:blipFill rotWithShape="1">
          <a:blip r:embed="rId3"/>
          <a:srcRect t="34211" r="1114" b="35102"/>
          <a:stretch/>
        </p:blipFill>
        <p:spPr>
          <a:xfrm>
            <a:off x="826342" y="2334921"/>
            <a:ext cx="8156791" cy="1060189"/>
          </a:xfrm>
          <a:prstGeom prst="rect">
            <a:avLst/>
          </a:prstGeom>
        </p:spPr>
      </p:pic>
      <p:pic>
        <p:nvPicPr>
          <p:cNvPr id="3" name="图片 2">
            <a:extLst>
              <a:ext uri="{FF2B5EF4-FFF2-40B4-BE49-F238E27FC236}">
                <a16:creationId xmlns:a16="http://schemas.microsoft.com/office/drawing/2014/main" id="{FA1A2ADE-E990-4971-B9E0-A210A2894A7C}"/>
              </a:ext>
            </a:extLst>
          </p:cNvPr>
          <p:cNvPicPr>
            <a:picLocks noChangeAspect="1"/>
          </p:cNvPicPr>
          <p:nvPr/>
        </p:nvPicPr>
        <p:blipFill rotWithShape="1">
          <a:blip r:embed="rId3"/>
          <a:srcRect b="73032"/>
          <a:stretch/>
        </p:blipFill>
        <p:spPr>
          <a:xfrm>
            <a:off x="826342" y="1161439"/>
            <a:ext cx="8164655" cy="931722"/>
          </a:xfrm>
          <a:prstGeom prst="rect">
            <a:avLst/>
          </a:prstGeom>
        </p:spPr>
      </p:pic>
      <p:sp>
        <p:nvSpPr>
          <p:cNvPr id="7" name="文本框 6">
            <a:extLst>
              <a:ext uri="{FF2B5EF4-FFF2-40B4-BE49-F238E27FC236}">
                <a16:creationId xmlns:a16="http://schemas.microsoft.com/office/drawing/2014/main" id="{2B89D1CE-2247-48DC-8ED3-91720C52ACAA}"/>
              </a:ext>
            </a:extLst>
          </p:cNvPr>
          <p:cNvSpPr txBox="1"/>
          <p:nvPr/>
        </p:nvSpPr>
        <p:spPr>
          <a:xfrm>
            <a:off x="1265568" y="213464"/>
            <a:ext cx="7590565" cy="430887"/>
          </a:xfrm>
          <a:prstGeom prst="rect">
            <a:avLst/>
          </a:prstGeom>
          <a:solidFill>
            <a:schemeClr val="bg1"/>
          </a:solid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rPr>
              <a:t>加速度</a:t>
            </a:r>
            <a:r>
              <a:rPr lang="en-US" altLang="zh-CN" sz="2000" b="1" dirty="0">
                <a:solidFill>
                  <a:srgbClr val="0070C0"/>
                </a:solidFill>
                <a:latin typeface="微软雅黑" panose="020B0503020204020204" pitchFamily="34" charset="-122"/>
                <a:ea typeface="微软雅黑" panose="020B0503020204020204" pitchFamily="34" charset="-122"/>
              </a:rPr>
              <a:t>a</a:t>
            </a:r>
            <a:r>
              <a:rPr lang="zh-CN" altLang="en-US" sz="2000" b="1" dirty="0">
                <a:solidFill>
                  <a:srgbClr val="0070C0"/>
                </a:solidFill>
                <a:latin typeface="微软雅黑" panose="020B0503020204020204" pitchFamily="34" charset="-122"/>
                <a:ea typeface="微软雅黑" panose="020B0503020204020204" pitchFamily="34" charset="-122"/>
              </a:rPr>
              <a:t>和平均距离</a:t>
            </a:r>
            <a:r>
              <a:rPr lang="en-US" altLang="zh-CN" sz="2000" b="1" dirty="0">
                <a:solidFill>
                  <a:srgbClr val="0070C0"/>
                </a:solidFill>
                <a:latin typeface="微软雅黑" panose="020B0503020204020204" pitchFamily="34" charset="-122"/>
                <a:ea typeface="微软雅黑" panose="020B0503020204020204" pitchFamily="34" charset="-122"/>
              </a:rPr>
              <a:t>r</a:t>
            </a:r>
            <a:r>
              <a:rPr lang="zh-CN" altLang="en-US" sz="2000" b="1" i="0" dirty="0">
                <a:solidFill>
                  <a:srgbClr val="0070C0"/>
                </a:solidFill>
                <a:effectLst/>
                <a:latin typeface="微软雅黑" panose="020B0503020204020204" pitchFamily="34" charset="-122"/>
                <a:ea typeface="微软雅黑" panose="020B0503020204020204" pitchFamily="34" charset="-122"/>
              </a:rPr>
              <a:t>数据点呈指数型增长</a:t>
            </a:r>
            <a:r>
              <a:rPr lang="zh-CN" altLang="en-US" sz="2000" b="1" dirty="0">
                <a:solidFill>
                  <a:srgbClr val="0070C0"/>
                </a:solidFill>
                <a:latin typeface="微软雅黑" panose="020B0503020204020204" pitchFamily="34" charset="-122"/>
                <a:ea typeface="微软雅黑" panose="020B0503020204020204" pitchFamily="34" charset="-122"/>
              </a:rPr>
              <a:t>关系图</a:t>
            </a:r>
            <a:r>
              <a:rPr lang="en-US" altLang="zh-CN" sz="2200" b="1" dirty="0">
                <a:solidFill>
                  <a:srgbClr val="0070C0"/>
                </a:solidFill>
                <a:latin typeface="微软雅黑" panose="020B0503020204020204" pitchFamily="34" charset="-122"/>
                <a:ea typeface="微软雅黑" panose="020B0503020204020204" pitchFamily="34" charset="-122"/>
              </a:rPr>
              <a:t>a=</a:t>
            </a:r>
            <a:r>
              <a:rPr lang="en-US" altLang="zh-CN" sz="2200" b="1" dirty="0">
                <a:solidFill>
                  <a:srgbClr val="FF0000"/>
                </a:solidFill>
                <a:latin typeface="微软雅黑" panose="020B0503020204020204" pitchFamily="34" charset="-122"/>
                <a:ea typeface="微软雅黑" panose="020B0503020204020204" pitchFamily="34" charset="-122"/>
              </a:rPr>
              <a:t>c</a:t>
            </a:r>
            <a:r>
              <a:rPr lang="en-US" altLang="zh-CN" sz="2200" b="1" dirty="0">
                <a:solidFill>
                  <a:srgbClr val="0070C0"/>
                </a:solidFill>
                <a:latin typeface="微软雅黑" panose="020B0503020204020204" pitchFamily="34" charset="-122"/>
                <a:ea typeface="微软雅黑" panose="020B0503020204020204" pitchFamily="34" charset="-122"/>
              </a:rPr>
              <a:t>*exp</a:t>
            </a:r>
            <a:r>
              <a:rPr lang="zh-CN" altLang="en-US" sz="2200" b="1" dirty="0">
                <a:solidFill>
                  <a:srgbClr val="0070C0"/>
                </a:solidFill>
                <a:latin typeface="微软雅黑" panose="020B0503020204020204" pitchFamily="34" charset="-122"/>
                <a:ea typeface="微软雅黑" panose="020B0503020204020204" pitchFamily="34" charset="-122"/>
              </a:rPr>
              <a:t>（</a:t>
            </a:r>
            <a:r>
              <a:rPr lang="en-US" altLang="zh-CN" sz="2200" b="1" dirty="0">
                <a:solidFill>
                  <a:srgbClr val="FF0000"/>
                </a:solidFill>
                <a:latin typeface="微软雅黑" panose="020B0503020204020204" pitchFamily="34" charset="-122"/>
                <a:ea typeface="微软雅黑" panose="020B0503020204020204" pitchFamily="34" charset="-122"/>
              </a:rPr>
              <a:t>d</a:t>
            </a:r>
            <a:r>
              <a:rPr lang="en-US" altLang="zh-CN" sz="2200" b="1" dirty="0">
                <a:solidFill>
                  <a:srgbClr val="0070C0"/>
                </a:solidFill>
                <a:latin typeface="微软雅黑" panose="020B0503020204020204" pitchFamily="34" charset="-122"/>
                <a:ea typeface="微软雅黑" panose="020B0503020204020204" pitchFamily="34" charset="-122"/>
              </a:rPr>
              <a:t>*r</a:t>
            </a:r>
            <a:r>
              <a:rPr lang="zh-CN" altLang="en-US" sz="2200" b="1" dirty="0">
                <a:solidFill>
                  <a:srgbClr val="0070C0"/>
                </a:solidFill>
                <a:latin typeface="微软雅黑" panose="020B0503020204020204" pitchFamily="34" charset="-122"/>
                <a:ea typeface="微软雅黑" panose="020B0503020204020204" pitchFamily="34" charset="-122"/>
              </a:rPr>
              <a:t>）</a:t>
            </a:r>
          </a:p>
        </p:txBody>
      </p:sp>
      <p:sp>
        <p:nvSpPr>
          <p:cNvPr id="8" name="波形 7">
            <a:extLst>
              <a:ext uri="{FF2B5EF4-FFF2-40B4-BE49-F238E27FC236}">
                <a16:creationId xmlns:a16="http://schemas.microsoft.com/office/drawing/2014/main" id="{D0934FE5-AE65-4598-BC42-F2EB1F4188AD}"/>
              </a:ext>
            </a:extLst>
          </p:cNvPr>
          <p:cNvSpPr/>
          <p:nvPr/>
        </p:nvSpPr>
        <p:spPr>
          <a:xfrm>
            <a:off x="681630" y="226996"/>
            <a:ext cx="583938" cy="427182"/>
          </a:xfrm>
          <a:prstGeom prst="wave">
            <a:avLst/>
          </a:prstGeom>
          <a:solidFill>
            <a:srgbClr val="0070C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9</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9079FCA0-E5E3-48AF-BA3B-4080E55F05A2}"/>
              </a:ext>
            </a:extLst>
          </p:cNvPr>
          <p:cNvSpPr txBox="1"/>
          <p:nvPr/>
        </p:nvSpPr>
        <p:spPr>
          <a:xfrm>
            <a:off x="6615348" y="2087219"/>
            <a:ext cx="1918509" cy="373384"/>
          </a:xfrm>
          <a:prstGeom prst="rect">
            <a:avLst/>
          </a:prstGeom>
          <a:noFill/>
        </p:spPr>
        <p:txBody>
          <a:bodyPr wrap="square">
            <a:spAutoFit/>
          </a:bodyPr>
          <a:lstStyle>
            <a:defPPr>
              <a:defRPr lang="zh-CN"/>
            </a:defPPr>
            <a:lvl1pPr>
              <a:defRPr b="1" i="0">
                <a:solidFill>
                  <a:srgbClr val="00B0F0"/>
                </a:solidFill>
                <a:effectLst/>
                <a:latin typeface="-apple-system"/>
              </a:defRPr>
            </a:lvl1pPr>
          </a:lstStyle>
          <a:p>
            <a:r>
              <a:rPr lang="en-US" altLang="zh-CN" dirty="0"/>
              <a:t>Log(a)=log(c)+d*r</a:t>
            </a:r>
            <a:endParaRPr lang="zh-CN" altLang="en-US" dirty="0"/>
          </a:p>
        </p:txBody>
      </p:sp>
      <p:sp>
        <p:nvSpPr>
          <p:cNvPr id="11" name="矩形 10">
            <a:extLst>
              <a:ext uri="{FF2B5EF4-FFF2-40B4-BE49-F238E27FC236}">
                <a16:creationId xmlns:a16="http://schemas.microsoft.com/office/drawing/2014/main" id="{F9B3F3C5-200F-4B8C-83CE-611CAFD7F3D5}"/>
              </a:ext>
            </a:extLst>
          </p:cNvPr>
          <p:cNvSpPr/>
          <p:nvPr/>
        </p:nvSpPr>
        <p:spPr>
          <a:xfrm>
            <a:off x="1567564" y="3868486"/>
            <a:ext cx="1564276" cy="317779"/>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p>
            <a:pPr>
              <a:lnSpc>
                <a:spcPts val="1900"/>
              </a:lnSpc>
            </a:pPr>
            <a:r>
              <a:rPr lang="en-US" altLang="zh-CN" sz="1400" dirty="0">
                <a:solidFill>
                  <a:schemeClr val="bg1"/>
                </a:solidFill>
                <a:latin typeface="微软雅黑" panose="020B0503020204020204" pitchFamily="34" charset="-122"/>
                <a:ea typeface="微软雅黑" panose="020B0503020204020204" pitchFamily="34" charset="-122"/>
              </a:rPr>
              <a:t>loglog(</a:t>
            </a:r>
            <a:r>
              <a:rPr lang="en-US" altLang="zh-CN" sz="1400" dirty="0" err="1">
                <a:solidFill>
                  <a:schemeClr val="bg1"/>
                </a:solidFill>
                <a:latin typeface="微软雅黑" panose="020B0503020204020204" pitchFamily="34" charset="-122"/>
                <a:ea typeface="微软雅黑" panose="020B0503020204020204" pitchFamily="34" charset="-122"/>
              </a:rPr>
              <a:t>r,a</a:t>
            </a:r>
            <a:r>
              <a:rPr lang="en-US" altLang="zh-CN" sz="1400" dirty="0">
                <a:solidFill>
                  <a:schemeClr val="bg1"/>
                </a:solidFill>
                <a:latin typeface="微软雅黑" panose="020B0503020204020204" pitchFamily="34" charset="-122"/>
                <a:ea typeface="微软雅黑" panose="020B0503020204020204" pitchFamily="34" charset="-122"/>
              </a:rPr>
              <a:t>,"-hg")</a:t>
            </a:r>
          </a:p>
        </p:txBody>
      </p:sp>
      <p:sp>
        <p:nvSpPr>
          <p:cNvPr id="13" name="文本框 12">
            <a:extLst>
              <a:ext uri="{FF2B5EF4-FFF2-40B4-BE49-F238E27FC236}">
                <a16:creationId xmlns:a16="http://schemas.microsoft.com/office/drawing/2014/main" id="{A925966D-8978-4632-A709-88D0285CD72B}"/>
              </a:ext>
            </a:extLst>
          </p:cNvPr>
          <p:cNvSpPr txBox="1"/>
          <p:nvPr/>
        </p:nvSpPr>
        <p:spPr>
          <a:xfrm>
            <a:off x="1541172" y="2690288"/>
            <a:ext cx="1809187" cy="317779"/>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defPPr>
              <a:defRPr lang="zh-CN"/>
            </a:defPPr>
            <a:lvl1pPr>
              <a:lnSpc>
                <a:spcPts val="1900"/>
              </a:lnSpc>
              <a:defRPr sz="1400" b="0">
                <a:solidFill>
                  <a:schemeClr val="bg1"/>
                </a:solidFill>
                <a:effectLst/>
                <a:latin typeface="微软雅黑" panose="020B0503020204020204" pitchFamily="34" charset="-122"/>
                <a:ea typeface="微软雅黑" panose="020B0503020204020204" pitchFamily="34" charset="-122"/>
              </a:defRPr>
            </a:lvl1pPr>
          </a:lstStyle>
          <a:p>
            <a:r>
              <a:rPr lang="en-US" altLang="zh-CN" dirty="0"/>
              <a:t>plot(</a:t>
            </a:r>
            <a:r>
              <a:rPr lang="en-US" altLang="zh-CN" dirty="0" err="1"/>
              <a:t>logr,loga</a:t>
            </a:r>
            <a:r>
              <a:rPr lang="en-US" altLang="zh-CN" dirty="0"/>
              <a:t>,"-r*")</a:t>
            </a:r>
          </a:p>
        </p:txBody>
      </p:sp>
      <p:sp>
        <p:nvSpPr>
          <p:cNvPr id="14" name="矩形 13">
            <a:extLst>
              <a:ext uri="{FF2B5EF4-FFF2-40B4-BE49-F238E27FC236}">
                <a16:creationId xmlns:a16="http://schemas.microsoft.com/office/drawing/2014/main" id="{5E5C2B1E-B61E-44DC-B39B-83C435132A6B}"/>
              </a:ext>
            </a:extLst>
          </p:cNvPr>
          <p:cNvSpPr/>
          <p:nvPr/>
        </p:nvSpPr>
        <p:spPr>
          <a:xfrm>
            <a:off x="2066852" y="1309848"/>
            <a:ext cx="1407878" cy="317779"/>
          </a:xfrm>
          <a:prstGeom prst="rect">
            <a:avLst/>
          </a:prstGeom>
          <a:solidFill>
            <a:srgbClr val="0070C0"/>
          </a:solidFill>
          <a:ln w="38100">
            <a:solidFill>
              <a:schemeClr val="bg1"/>
            </a:solidFill>
          </a:ln>
          <a:scene3d>
            <a:camera prst="orthographicFront"/>
            <a:lightRig rig="threePt" dir="t"/>
          </a:scene3d>
          <a:sp3d>
            <a:bevelT prst="angle"/>
          </a:sp3d>
        </p:spPr>
        <p:txBody>
          <a:bodyPr wrap="square">
            <a:spAutoFit/>
          </a:bodyPr>
          <a:lstStyle/>
          <a:p>
            <a:pPr>
              <a:lnSpc>
                <a:spcPts val="1900"/>
              </a:lnSpc>
            </a:pPr>
            <a:r>
              <a:rPr lang="en-US" altLang="zh-CN" sz="1400" b="0" dirty="0">
                <a:solidFill>
                  <a:schemeClr val="bg1"/>
                </a:solidFill>
                <a:effectLst/>
                <a:latin typeface="微软雅黑" panose="020B0503020204020204" pitchFamily="34" charset="-122"/>
                <a:ea typeface="微软雅黑" panose="020B0503020204020204" pitchFamily="34" charset="-122"/>
              </a:rPr>
              <a:t>plot(</a:t>
            </a:r>
            <a:r>
              <a:rPr lang="en-US" altLang="zh-CN" sz="1400" b="0" dirty="0" err="1">
                <a:solidFill>
                  <a:schemeClr val="bg1"/>
                </a:solidFill>
                <a:effectLst/>
                <a:latin typeface="微软雅黑" panose="020B0503020204020204" pitchFamily="34" charset="-122"/>
                <a:ea typeface="微软雅黑" panose="020B0503020204020204" pitchFamily="34" charset="-122"/>
              </a:rPr>
              <a:t>r,a</a:t>
            </a:r>
            <a:r>
              <a:rPr lang="en-US" altLang="zh-CN" sz="1400" b="0" dirty="0">
                <a:solidFill>
                  <a:schemeClr val="bg1"/>
                </a:solidFill>
                <a:effectLst/>
                <a:latin typeface="微软雅黑" panose="020B0503020204020204" pitchFamily="34" charset="-122"/>
                <a:ea typeface="微软雅黑" panose="020B0503020204020204" pitchFamily="34" charset="-122"/>
              </a:rPr>
              <a:t>,"-b&gt;")</a:t>
            </a:r>
          </a:p>
        </p:txBody>
      </p:sp>
      <p:sp>
        <p:nvSpPr>
          <p:cNvPr id="15" name="文本框 14">
            <a:extLst>
              <a:ext uri="{FF2B5EF4-FFF2-40B4-BE49-F238E27FC236}">
                <a16:creationId xmlns:a16="http://schemas.microsoft.com/office/drawing/2014/main" id="{09A5191D-01C2-447F-A292-337512E6F7C3}"/>
              </a:ext>
            </a:extLst>
          </p:cNvPr>
          <p:cNvSpPr txBox="1"/>
          <p:nvPr/>
        </p:nvSpPr>
        <p:spPr>
          <a:xfrm>
            <a:off x="4793006" y="2475002"/>
            <a:ext cx="3719315" cy="335989"/>
          </a:xfrm>
          <a:prstGeom prst="rect">
            <a:avLst/>
          </a:prstGeom>
          <a:noFill/>
        </p:spPr>
        <p:txBody>
          <a:bodyPr wrap="square">
            <a:spAutoFit/>
          </a:bodyPr>
          <a:lstStyle/>
          <a:p>
            <a:pPr>
              <a:lnSpc>
                <a:spcPts val="1900"/>
              </a:lnSpc>
            </a:pPr>
            <a:r>
              <a:rPr lang="en-US" altLang="zh-CN" b="0" dirty="0" err="1">
                <a:solidFill>
                  <a:srgbClr val="FF0000"/>
                </a:solidFill>
                <a:effectLst/>
                <a:latin typeface="Consolas" panose="020B0609020204030204" pitchFamily="49" charset="0"/>
              </a:rPr>
              <a:t>logr</a:t>
            </a:r>
            <a:r>
              <a:rPr lang="en-US" altLang="zh-CN" b="0" dirty="0">
                <a:solidFill>
                  <a:srgbClr val="FF0000"/>
                </a:solidFill>
                <a:effectLst/>
                <a:latin typeface="Consolas" panose="020B0609020204030204" pitchFamily="49" charset="0"/>
              </a:rPr>
              <a:t>=log10.(r);</a:t>
            </a:r>
            <a:r>
              <a:rPr lang="en-US" altLang="zh-CN" b="0" dirty="0" err="1">
                <a:solidFill>
                  <a:srgbClr val="FF0000"/>
                </a:solidFill>
                <a:effectLst/>
                <a:latin typeface="Consolas" panose="020B0609020204030204" pitchFamily="49" charset="0"/>
              </a:rPr>
              <a:t>loga</a:t>
            </a:r>
            <a:r>
              <a:rPr lang="en-US" altLang="zh-CN" b="0" dirty="0">
                <a:solidFill>
                  <a:srgbClr val="FF0000"/>
                </a:solidFill>
                <a:effectLst/>
                <a:latin typeface="Consolas" panose="020B0609020204030204" pitchFamily="49" charset="0"/>
              </a:rPr>
              <a:t>=log10.(a)</a:t>
            </a:r>
          </a:p>
        </p:txBody>
      </p:sp>
      <p:sp>
        <p:nvSpPr>
          <p:cNvPr id="16" name="文本框 15">
            <a:extLst>
              <a:ext uri="{FF2B5EF4-FFF2-40B4-BE49-F238E27FC236}">
                <a16:creationId xmlns:a16="http://schemas.microsoft.com/office/drawing/2014/main" id="{2FC49327-82AD-4E26-B34D-01658FB922FD}"/>
              </a:ext>
            </a:extLst>
          </p:cNvPr>
          <p:cNvSpPr txBox="1"/>
          <p:nvPr/>
        </p:nvSpPr>
        <p:spPr>
          <a:xfrm>
            <a:off x="6654807" y="1313222"/>
            <a:ext cx="1653280" cy="369332"/>
          </a:xfrm>
          <a:prstGeom prst="rect">
            <a:avLst/>
          </a:prstGeom>
          <a:noFill/>
        </p:spPr>
        <p:txBody>
          <a:bodyPr wrap="square">
            <a:spAutoFit/>
          </a:bodyPr>
          <a:lstStyle>
            <a:defPPr>
              <a:defRPr lang="zh-CN"/>
            </a:defPPr>
            <a:lvl1pPr>
              <a:defRPr b="0" i="0">
                <a:solidFill>
                  <a:schemeClr val="bg1"/>
                </a:solidFill>
                <a:effectLst/>
                <a:highlight>
                  <a:srgbClr val="FF0000"/>
                </a:highlight>
                <a:latin typeface="-apple-system"/>
              </a:defRPr>
            </a:lvl1pPr>
          </a:lstStyle>
          <a:p>
            <a:r>
              <a:rPr lang="en-US" altLang="zh-CN" b="1" dirty="0"/>
              <a:t>a=c*exp</a:t>
            </a:r>
            <a:r>
              <a:rPr lang="zh-CN" altLang="en-US" b="1" dirty="0"/>
              <a:t>（</a:t>
            </a:r>
            <a:r>
              <a:rPr lang="en-US" altLang="zh-CN" b="1" dirty="0"/>
              <a:t>d*r</a:t>
            </a:r>
            <a:r>
              <a:rPr lang="zh-CN" altLang="en-US" b="1" dirty="0"/>
              <a:t>）</a:t>
            </a:r>
          </a:p>
        </p:txBody>
      </p:sp>
      <p:sp>
        <p:nvSpPr>
          <p:cNvPr id="18" name="文本框 17">
            <a:extLst>
              <a:ext uri="{FF2B5EF4-FFF2-40B4-BE49-F238E27FC236}">
                <a16:creationId xmlns:a16="http://schemas.microsoft.com/office/drawing/2014/main" id="{ADF9CE87-5835-411E-8848-0B5AB10B3A02}"/>
              </a:ext>
            </a:extLst>
          </p:cNvPr>
          <p:cNvSpPr txBox="1"/>
          <p:nvPr/>
        </p:nvSpPr>
        <p:spPr>
          <a:xfrm>
            <a:off x="6699604" y="3685975"/>
            <a:ext cx="1918509" cy="373384"/>
          </a:xfrm>
          <a:prstGeom prst="rect">
            <a:avLst/>
          </a:prstGeom>
          <a:noFill/>
        </p:spPr>
        <p:txBody>
          <a:bodyPr wrap="square">
            <a:spAutoFit/>
          </a:bodyPr>
          <a:lstStyle>
            <a:defPPr>
              <a:defRPr lang="zh-CN"/>
            </a:defPPr>
            <a:lvl1pPr>
              <a:defRPr b="1" i="0">
                <a:solidFill>
                  <a:srgbClr val="00B0F0"/>
                </a:solidFill>
                <a:effectLst/>
                <a:latin typeface="-apple-system"/>
              </a:defRPr>
            </a:lvl1pPr>
          </a:lstStyle>
          <a:p>
            <a:r>
              <a:rPr lang="en-US" altLang="zh-CN" dirty="0"/>
              <a:t>Log(a)=log(c)+d*r</a:t>
            </a:r>
            <a:endParaRPr lang="zh-CN" altLang="en-US" dirty="0"/>
          </a:p>
        </p:txBody>
      </p:sp>
      <p:sp>
        <p:nvSpPr>
          <p:cNvPr id="20" name="文本框 19">
            <a:extLst>
              <a:ext uri="{FF2B5EF4-FFF2-40B4-BE49-F238E27FC236}">
                <a16:creationId xmlns:a16="http://schemas.microsoft.com/office/drawing/2014/main" id="{67A08A42-377D-4995-AFFD-B53F6A4A8343}"/>
              </a:ext>
            </a:extLst>
          </p:cNvPr>
          <p:cNvSpPr txBox="1"/>
          <p:nvPr/>
        </p:nvSpPr>
        <p:spPr>
          <a:xfrm>
            <a:off x="7155301" y="758909"/>
            <a:ext cx="1835696" cy="338554"/>
          </a:xfrm>
          <a:prstGeom prst="rect">
            <a:avLst/>
          </a:prstGeom>
          <a:noFill/>
        </p:spPr>
        <p:txBody>
          <a:bodyPr wrap="square">
            <a:spAutoFit/>
          </a:bodyPr>
          <a:lstStyle/>
          <a:p>
            <a:r>
              <a:rPr lang="en-US" altLang="zh-CN" sz="1600" b="1" dirty="0">
                <a:solidFill>
                  <a:srgbClr val="FF0000"/>
                </a:solidFill>
                <a:latin typeface="微软雅黑" panose="020B0503020204020204" pitchFamily="34" charset="-122"/>
                <a:ea typeface="微软雅黑" panose="020B0503020204020204" pitchFamily="34" charset="-122"/>
              </a:rPr>
              <a:t>c</a:t>
            </a:r>
            <a:r>
              <a:rPr lang="zh-CN" altLang="en-US" sz="1600" b="1" dirty="0">
                <a:solidFill>
                  <a:srgbClr val="FF0000"/>
                </a:solidFill>
                <a:latin typeface="微软雅黑" panose="020B0503020204020204" pitchFamily="34" charset="-122"/>
                <a:ea typeface="微软雅黑" panose="020B0503020204020204" pitchFamily="34" charset="-122"/>
              </a:rPr>
              <a:t>和</a:t>
            </a:r>
            <a:r>
              <a:rPr lang="en-US" altLang="zh-CN" sz="1600" b="1" dirty="0">
                <a:solidFill>
                  <a:srgbClr val="FF0000"/>
                </a:solidFill>
                <a:latin typeface="微软雅黑" panose="020B0503020204020204" pitchFamily="34" charset="-122"/>
                <a:ea typeface="微软雅黑" panose="020B0503020204020204" pitchFamily="34" charset="-122"/>
              </a:rPr>
              <a:t>d</a:t>
            </a:r>
            <a:r>
              <a:rPr lang="zh-CN" altLang="en-US" sz="1600" b="1" dirty="0">
                <a:solidFill>
                  <a:srgbClr val="FF0000"/>
                </a:solidFill>
                <a:latin typeface="微软雅黑" panose="020B0503020204020204" pitchFamily="34" charset="-122"/>
                <a:ea typeface="微软雅黑" panose="020B0503020204020204" pitchFamily="34" charset="-122"/>
              </a:rPr>
              <a:t>是待定参数</a:t>
            </a:r>
            <a:endParaRPr lang="zh-CN" altLang="en-US" sz="1600" dirty="0"/>
          </a:p>
        </p:txBody>
      </p:sp>
      <p:sp>
        <p:nvSpPr>
          <p:cNvPr id="22" name="文本框 21">
            <a:extLst>
              <a:ext uri="{FF2B5EF4-FFF2-40B4-BE49-F238E27FC236}">
                <a16:creationId xmlns:a16="http://schemas.microsoft.com/office/drawing/2014/main" id="{FB45B84D-0B3F-4BED-A0BC-563729E90558}"/>
              </a:ext>
            </a:extLst>
          </p:cNvPr>
          <p:cNvSpPr txBox="1"/>
          <p:nvPr/>
        </p:nvSpPr>
        <p:spPr>
          <a:xfrm>
            <a:off x="5004048" y="1306485"/>
            <a:ext cx="1842386" cy="369332"/>
          </a:xfrm>
          <a:prstGeom prst="rect">
            <a:avLst/>
          </a:prstGeom>
          <a:noFill/>
        </p:spPr>
        <p:txBody>
          <a:bodyPr wrap="square">
            <a:spAutoFit/>
          </a:bodyPr>
          <a:lstStyle/>
          <a:p>
            <a:r>
              <a:rPr lang="zh-CN" altLang="en-US" sz="1800" b="1" i="0" dirty="0">
                <a:solidFill>
                  <a:srgbClr val="00B0F0"/>
                </a:solidFill>
                <a:effectLst/>
                <a:latin typeface="微软雅黑" panose="020B0503020204020204" pitchFamily="34" charset="-122"/>
                <a:ea typeface="微软雅黑" panose="020B0503020204020204" pitchFamily="34" charset="-122"/>
              </a:rPr>
              <a:t>指数型增长</a:t>
            </a:r>
            <a:r>
              <a:rPr lang="zh-CN" altLang="en-US" sz="1800" b="1" dirty="0">
                <a:solidFill>
                  <a:srgbClr val="00B0F0"/>
                </a:solidFill>
                <a:latin typeface="微软雅黑" panose="020B0503020204020204" pitchFamily="34" charset="-122"/>
                <a:ea typeface="微软雅黑" panose="020B0503020204020204" pitchFamily="34" charset="-122"/>
              </a:rPr>
              <a:t>关系</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96CC83EA-AD5D-42FD-B310-2C3504F18BC9}"/>
              </a:ext>
            </a:extLst>
          </p:cNvPr>
          <p:cNvSpPr txBox="1"/>
          <p:nvPr/>
        </p:nvSpPr>
        <p:spPr>
          <a:xfrm>
            <a:off x="3779912" y="2113339"/>
            <a:ext cx="2852775" cy="338554"/>
          </a:xfrm>
          <a:prstGeom prst="rect">
            <a:avLst/>
          </a:prstGeom>
          <a:noFill/>
        </p:spPr>
        <p:txBody>
          <a:bodyPr wrap="square">
            <a:spAutoFit/>
          </a:bodyPr>
          <a:lstStyle>
            <a:defPPr>
              <a:defRPr lang="zh-CN"/>
            </a:defPPr>
            <a:lvl1pPr>
              <a:defRPr sz="1600" b="1" i="0">
                <a:solidFill>
                  <a:srgbClr val="00B0F0"/>
                </a:solidFill>
                <a:effectLst/>
                <a:latin typeface="微软雅黑" panose="020B0503020204020204" pitchFamily="34" charset="-122"/>
                <a:ea typeface="微软雅黑" panose="020B0503020204020204" pitchFamily="34" charset="-122"/>
              </a:defRPr>
            </a:lvl1pPr>
          </a:lstStyle>
          <a:p>
            <a:r>
              <a:rPr lang="zh-CN" altLang="en-US" dirty="0"/>
              <a:t>取对数，判断曲线是否呈线性</a:t>
            </a:r>
          </a:p>
        </p:txBody>
      </p:sp>
      <p:sp>
        <p:nvSpPr>
          <p:cNvPr id="24" name="文本框 23">
            <a:extLst>
              <a:ext uri="{FF2B5EF4-FFF2-40B4-BE49-F238E27FC236}">
                <a16:creationId xmlns:a16="http://schemas.microsoft.com/office/drawing/2014/main" id="{A9EB586F-CCB0-4DD9-BC47-5B02BA08C17D}"/>
              </a:ext>
            </a:extLst>
          </p:cNvPr>
          <p:cNvSpPr txBox="1"/>
          <p:nvPr/>
        </p:nvSpPr>
        <p:spPr>
          <a:xfrm>
            <a:off x="3969911" y="3741580"/>
            <a:ext cx="2689168" cy="317779"/>
          </a:xfrm>
          <a:prstGeom prst="rect">
            <a:avLst/>
          </a:prstGeom>
          <a:noFill/>
        </p:spPr>
        <p:txBody>
          <a:bodyPr wrap="square">
            <a:spAutoFit/>
          </a:bodyPr>
          <a:lstStyle/>
          <a:p>
            <a:r>
              <a:rPr lang="zh-CN" altLang="en-US" sz="1400" b="1" i="0" dirty="0">
                <a:solidFill>
                  <a:srgbClr val="00B0F0"/>
                </a:solidFill>
                <a:effectLst/>
                <a:latin typeface="微软雅黑" panose="020B0503020204020204" pitchFamily="34" charset="-122"/>
                <a:ea typeface="微软雅黑" panose="020B0503020204020204" pitchFamily="34" charset="-122"/>
              </a:rPr>
              <a:t>取对数，判断曲线是否是呈线性</a:t>
            </a:r>
            <a:endParaRPr lang="zh-CN" altLang="en-US" sz="1400" b="1" dirty="0">
              <a:solidFill>
                <a:srgbClr val="00B0F0"/>
              </a:solidFill>
              <a:latin typeface="微软雅黑" panose="020B0503020204020204" pitchFamily="34" charset="-122"/>
              <a:ea typeface="微软雅黑" panose="020B0503020204020204" pitchFamily="34" charset="-122"/>
            </a:endParaRPr>
          </a:p>
        </p:txBody>
      </p:sp>
      <p:sp>
        <p:nvSpPr>
          <p:cNvPr id="25" name="形状 209924">
            <a:extLst>
              <a:ext uri="{FF2B5EF4-FFF2-40B4-BE49-F238E27FC236}">
                <a16:creationId xmlns:a16="http://schemas.microsoft.com/office/drawing/2014/main" id="{39B67CD8-F41D-41FB-A975-AE13455F8616}"/>
              </a:ext>
            </a:extLst>
          </p:cNvPr>
          <p:cNvSpPr/>
          <p:nvPr/>
        </p:nvSpPr>
        <p:spPr>
          <a:xfrm>
            <a:off x="179513" y="628064"/>
            <a:ext cx="1008112" cy="681582"/>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600" dirty="0">
                <a:solidFill>
                  <a:srgbClr val="FFFF00"/>
                </a:solidFill>
                <a:latin typeface="华文楷体" panose="02010600040101010101" pitchFamily="2" charset="-122"/>
                <a:ea typeface="华文楷体" panose="02010600040101010101" pitchFamily="2" charset="-122"/>
                <a:sym typeface="+mn-ea"/>
              </a:rPr>
              <a:t>注意</a:t>
            </a:r>
            <a:endParaRPr lang="en-US" altLang="zh-CN" sz="1600" dirty="0">
              <a:solidFill>
                <a:srgbClr val="FFFF00"/>
              </a:solidFill>
              <a:latin typeface="华文楷体" panose="02010600040101010101" pitchFamily="2" charset="-122"/>
              <a:ea typeface="华文楷体" panose="02010600040101010101" pitchFamily="2" charset="-122"/>
              <a:sym typeface="+mn-ea"/>
            </a:endParaRPr>
          </a:p>
        </p:txBody>
      </p:sp>
      <p:sp>
        <p:nvSpPr>
          <p:cNvPr id="26" name="文本框 25">
            <a:extLst>
              <a:ext uri="{FF2B5EF4-FFF2-40B4-BE49-F238E27FC236}">
                <a16:creationId xmlns:a16="http://schemas.microsoft.com/office/drawing/2014/main" id="{040D9A12-52F2-4614-97AA-32493292212A}"/>
              </a:ext>
            </a:extLst>
          </p:cNvPr>
          <p:cNvSpPr txBox="1"/>
          <p:nvPr/>
        </p:nvSpPr>
        <p:spPr>
          <a:xfrm>
            <a:off x="1106629" y="745679"/>
            <a:ext cx="6048672" cy="369332"/>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普通的直角坐标系和对数直角坐标系上曲线特征不同</a:t>
            </a:r>
            <a:endParaRPr lang="en-US" altLang="zh-CN" b="1" dirty="0">
              <a:solidFill>
                <a:srgbClr val="0070C0"/>
              </a:solidFill>
              <a:latin typeface="微软雅黑" panose="020B0503020204020204" pitchFamily="34" charset="-122"/>
              <a:ea typeface="微软雅黑" panose="020B0503020204020204" pitchFamily="34" charset="-122"/>
              <a:sym typeface="+mn-ea"/>
            </a:endParaRPr>
          </a:p>
        </p:txBody>
      </p:sp>
    </p:spTree>
    <p:extLst>
      <p:ext uri="{BB962C8B-B14F-4D97-AF65-F5344CB8AC3E}">
        <p14:creationId xmlns:p14="http://schemas.microsoft.com/office/powerpoint/2010/main" val="401391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P spid="15" grpId="0"/>
      <p:bldP spid="18" grpId="0"/>
      <p:bldP spid="23"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C1C0223-F3FC-493E-A280-6E7495B7479D}"/>
              </a:ext>
            </a:extLst>
          </p:cNvPr>
          <p:cNvSpPr txBox="1"/>
          <p:nvPr/>
        </p:nvSpPr>
        <p:spPr>
          <a:xfrm>
            <a:off x="377788" y="1039454"/>
            <a:ext cx="8511757" cy="335989"/>
          </a:xfrm>
          <a:prstGeom prst="rect">
            <a:avLst/>
          </a:prstGeom>
          <a:solidFill>
            <a:schemeClr val="bg1"/>
          </a:solidFill>
        </p:spPr>
        <p:txBody>
          <a:bodyPr wrap="square">
            <a:spAutoFit/>
          </a:bodyPr>
          <a:lstStyle/>
          <a:p>
            <a:pPr>
              <a:lnSpc>
                <a:spcPts val="1900"/>
              </a:lnSpc>
            </a:pPr>
            <a:endParaRPr lang="en-US" altLang="zh-CN" sz="1600" b="0" dirty="0">
              <a:solidFill>
                <a:srgbClr val="000000"/>
              </a:solidFill>
              <a:effectLst/>
              <a:latin typeface="Consolas" panose="020B0609020204030204" pitchFamily="49" charset="0"/>
            </a:endParaRPr>
          </a:p>
        </p:txBody>
      </p:sp>
      <p:sp>
        <p:nvSpPr>
          <p:cNvPr id="8" name="文本框 7">
            <a:extLst>
              <a:ext uri="{FF2B5EF4-FFF2-40B4-BE49-F238E27FC236}">
                <a16:creationId xmlns:a16="http://schemas.microsoft.com/office/drawing/2014/main" id="{D97F3BB4-9B64-490A-A700-FF50440C4708}"/>
              </a:ext>
            </a:extLst>
          </p:cNvPr>
          <p:cNvSpPr txBox="1"/>
          <p:nvPr/>
        </p:nvSpPr>
        <p:spPr>
          <a:xfrm>
            <a:off x="994076" y="7730"/>
            <a:ext cx="8326625" cy="560346"/>
          </a:xfrm>
          <a:prstGeom prst="rect">
            <a:avLst/>
          </a:prstGeom>
          <a:noFill/>
        </p:spPr>
        <p:txBody>
          <a:bodyPr wrap="square">
            <a:spAutoFit/>
          </a:bodyPr>
          <a:lstStyle/>
          <a:p>
            <a:pPr eaLnBrk="0">
              <a:lnSpc>
                <a:spcPts val="3900"/>
              </a:lnSpc>
              <a:spcBef>
                <a:spcPts val="0"/>
              </a:spcBef>
              <a:spcAft>
                <a:spcPts val="0"/>
              </a:spcAft>
            </a:pPr>
            <a:r>
              <a:rPr lang="en-US" altLang="ko-KR" sz="2600" b="1" dirty="0">
                <a:solidFill>
                  <a:srgbClr val="002060"/>
                </a:solidFill>
                <a:latin typeface="华文楷体" panose="02010600040101010101" pitchFamily="2" charset="-122"/>
                <a:ea typeface="华文楷体" panose="02010600040101010101" pitchFamily="2" charset="-122"/>
              </a:rPr>
              <a:t>§3.3.4</a:t>
            </a:r>
            <a:r>
              <a:rPr lang="zh-CN" altLang="en-US" sz="2400" kern="0" dirty="0">
                <a:solidFill>
                  <a:srgbClr val="002060"/>
                </a:solidFill>
                <a:latin typeface="华文楷体" panose="02010600040101010101" pitchFamily="2" charset="-122"/>
                <a:ea typeface="华文楷体" panose="02010600040101010101" pitchFamily="2" charset="-122"/>
              </a:rPr>
              <a:t>绘制对数坐标曲线</a:t>
            </a:r>
            <a:r>
              <a:rPr lang="en-US" altLang="zh-CN" sz="2600" b="1" kern="0" dirty="0">
                <a:solidFill>
                  <a:srgbClr val="FF0000"/>
                </a:solidFill>
                <a:latin typeface="华文楷体" panose="02010600040101010101" pitchFamily="2" charset="-122"/>
                <a:ea typeface="华文楷体" panose="02010600040101010101" pitchFamily="2" charset="-122"/>
              </a:rPr>
              <a:t>——</a:t>
            </a:r>
            <a:r>
              <a:rPr lang="zh-CN" altLang="en-US" sz="2600" b="1" dirty="0">
                <a:solidFill>
                  <a:srgbClr val="FF0000"/>
                </a:solidFill>
                <a:latin typeface="华文楷体" panose="02010600040101010101" pitchFamily="2" charset="-122"/>
                <a:ea typeface="华文楷体" panose="02010600040101010101" pitchFamily="2" charset="-122"/>
              </a:rPr>
              <a:t>指数</a:t>
            </a:r>
            <a:r>
              <a:rPr lang="en-US" altLang="ko-KR" sz="2600" b="1" dirty="0" err="1">
                <a:solidFill>
                  <a:srgbClr val="FF0000"/>
                </a:solidFill>
                <a:latin typeface="华文楷体" panose="02010600040101010101" pitchFamily="2" charset="-122"/>
                <a:ea typeface="华文楷体" panose="02010600040101010101" pitchFamily="2" charset="-122"/>
              </a:rPr>
              <a:t>函数</a:t>
            </a:r>
            <a:r>
              <a:rPr lang="zh-CN" altLang="en-US" sz="2600" b="1" dirty="0">
                <a:solidFill>
                  <a:srgbClr val="FF0000"/>
                </a:solidFill>
                <a:latin typeface="华文楷体" panose="02010600040101010101" pitchFamily="2" charset="-122"/>
                <a:ea typeface="华文楷体" panose="02010600040101010101" pitchFamily="2" charset="-122"/>
              </a:rPr>
              <a:t>线性化案例</a:t>
            </a:r>
            <a:endParaRPr lang="en-US" altLang="zh-CN" sz="2600" b="1" dirty="0">
              <a:solidFill>
                <a:srgbClr val="FF0000"/>
              </a:solidFill>
              <a:latin typeface="华文楷体" panose="02010600040101010101" pitchFamily="2" charset="-122"/>
              <a:ea typeface="华文楷体" panose="02010600040101010101" pitchFamily="2" charset="-122"/>
            </a:endParaRPr>
          </a:p>
        </p:txBody>
      </p:sp>
      <p:sp>
        <p:nvSpPr>
          <p:cNvPr id="11" name="波形 10">
            <a:extLst>
              <a:ext uri="{FF2B5EF4-FFF2-40B4-BE49-F238E27FC236}">
                <a16:creationId xmlns:a16="http://schemas.microsoft.com/office/drawing/2014/main" id="{F07ABDC2-6903-4032-87E0-061E2679D4E7}"/>
              </a:ext>
            </a:extLst>
          </p:cNvPr>
          <p:cNvSpPr/>
          <p:nvPr/>
        </p:nvSpPr>
        <p:spPr>
          <a:xfrm>
            <a:off x="47790" y="483518"/>
            <a:ext cx="491762" cy="504056"/>
          </a:xfrm>
          <a:prstGeom prst="wave">
            <a:avLst/>
          </a:prstGeom>
          <a:solidFill>
            <a:srgbClr val="0070C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9</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3EC69931-BD59-45CA-AD84-4950FA71B21C}"/>
              </a:ext>
            </a:extLst>
          </p:cNvPr>
          <p:cNvSpPr txBox="1"/>
          <p:nvPr/>
        </p:nvSpPr>
        <p:spPr>
          <a:xfrm>
            <a:off x="690863" y="500186"/>
            <a:ext cx="8273625" cy="338554"/>
          </a:xfrm>
          <a:prstGeom prst="rect">
            <a:avLst/>
          </a:prstGeom>
          <a:solidFill>
            <a:schemeClr val="bg1"/>
          </a:solidFill>
        </p:spPr>
        <p:txBody>
          <a:bodyPr wrap="square">
            <a:spAutoFit/>
          </a:bodyPr>
          <a:lstStyle/>
          <a:p>
            <a:pPr algn="dist"/>
            <a:r>
              <a:rPr lang="zh-CN" altLang="en-US" sz="1600" b="1" dirty="0">
                <a:solidFill>
                  <a:srgbClr val="0070C0"/>
                </a:solidFill>
                <a:latin typeface="微软雅黑" panose="020B0503020204020204" pitchFamily="34" charset="-122"/>
                <a:ea typeface="微软雅黑" panose="020B0503020204020204" pitchFamily="34" charset="-122"/>
              </a:rPr>
              <a:t>加速度</a:t>
            </a:r>
            <a:r>
              <a:rPr lang="en-US" altLang="zh-CN" sz="1600" b="1" dirty="0">
                <a:solidFill>
                  <a:srgbClr val="0070C0"/>
                </a:solidFill>
                <a:latin typeface="微软雅黑" panose="020B0503020204020204" pitchFamily="34" charset="-122"/>
                <a:ea typeface="微软雅黑" panose="020B0503020204020204" pitchFamily="34" charset="-122"/>
              </a:rPr>
              <a:t>a</a:t>
            </a:r>
            <a:r>
              <a:rPr lang="zh-CN" altLang="en-US" sz="1600" b="1" dirty="0">
                <a:solidFill>
                  <a:srgbClr val="0070C0"/>
                </a:solidFill>
                <a:latin typeface="微软雅黑" panose="020B0503020204020204" pitchFamily="34" charset="-122"/>
                <a:ea typeface="微软雅黑" panose="020B0503020204020204" pitchFamily="34" charset="-122"/>
              </a:rPr>
              <a:t>和平均距离</a:t>
            </a:r>
            <a:r>
              <a:rPr lang="en-US" altLang="zh-CN" sz="1600" b="1" dirty="0">
                <a:solidFill>
                  <a:srgbClr val="0070C0"/>
                </a:solidFill>
                <a:latin typeface="微软雅黑" panose="020B0503020204020204" pitchFamily="34" charset="-122"/>
                <a:ea typeface="微软雅黑" panose="020B0503020204020204" pitchFamily="34" charset="-122"/>
              </a:rPr>
              <a:t>r</a:t>
            </a:r>
            <a:r>
              <a:rPr lang="zh-CN" altLang="en-US" sz="1600" b="1" i="0" dirty="0">
                <a:solidFill>
                  <a:srgbClr val="0070C0"/>
                </a:solidFill>
                <a:effectLst/>
                <a:latin typeface="微软雅黑" panose="020B0503020204020204" pitchFamily="34" charset="-122"/>
                <a:ea typeface="微软雅黑" panose="020B0503020204020204" pitchFamily="34" charset="-122"/>
              </a:rPr>
              <a:t>数据点呈指数型增长</a:t>
            </a:r>
            <a:r>
              <a:rPr lang="zh-CN" altLang="en-US" sz="1600" b="1" dirty="0">
                <a:solidFill>
                  <a:srgbClr val="0070C0"/>
                </a:solidFill>
                <a:latin typeface="微软雅黑" panose="020B0503020204020204" pitchFamily="34" charset="-122"/>
                <a:ea typeface="微软雅黑" panose="020B0503020204020204" pitchFamily="34" charset="-122"/>
              </a:rPr>
              <a:t>关系</a:t>
            </a:r>
            <a:r>
              <a:rPr lang="en-US" altLang="zh-CN" sz="1600" b="1" dirty="0">
                <a:solidFill>
                  <a:schemeClr val="bg1"/>
                </a:solidFill>
                <a:highlight>
                  <a:srgbClr val="33CCFF"/>
                </a:highlight>
                <a:latin typeface="微软雅黑" panose="020B0503020204020204" pitchFamily="34" charset="-122"/>
                <a:ea typeface="微软雅黑" panose="020B0503020204020204" pitchFamily="34" charset="-122"/>
              </a:rPr>
              <a:t>a=c*exp</a:t>
            </a:r>
            <a:r>
              <a:rPr lang="zh-CN" altLang="en-US" sz="1600" b="1" dirty="0">
                <a:solidFill>
                  <a:schemeClr val="bg1"/>
                </a:solidFill>
                <a:highlight>
                  <a:srgbClr val="33CCFF"/>
                </a:highlight>
                <a:latin typeface="微软雅黑" panose="020B0503020204020204" pitchFamily="34" charset="-122"/>
                <a:ea typeface="微软雅黑" panose="020B0503020204020204" pitchFamily="34" charset="-122"/>
              </a:rPr>
              <a:t>（</a:t>
            </a:r>
            <a:r>
              <a:rPr lang="en-US" altLang="zh-CN" sz="1600" b="1" dirty="0">
                <a:solidFill>
                  <a:schemeClr val="bg1"/>
                </a:solidFill>
                <a:highlight>
                  <a:srgbClr val="33CCFF"/>
                </a:highlight>
                <a:latin typeface="微软雅黑" panose="020B0503020204020204" pitchFamily="34" charset="-122"/>
                <a:ea typeface="微软雅黑" panose="020B0503020204020204" pitchFamily="34" charset="-122"/>
              </a:rPr>
              <a:t>d*r</a:t>
            </a:r>
            <a:r>
              <a:rPr lang="zh-CN" altLang="en-US" sz="1600" b="1" dirty="0">
                <a:solidFill>
                  <a:schemeClr val="bg1"/>
                </a:solidFill>
                <a:highlight>
                  <a:srgbClr val="33CCFF"/>
                </a:highlight>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BCE6EFBF-8DFC-478E-8268-5E4816F43453}"/>
              </a:ext>
            </a:extLst>
          </p:cNvPr>
          <p:cNvSpPr txBox="1"/>
          <p:nvPr/>
        </p:nvSpPr>
        <p:spPr>
          <a:xfrm>
            <a:off x="425578" y="771550"/>
            <a:ext cx="8292844" cy="3245119"/>
          </a:xfrm>
          <a:prstGeom prst="rect">
            <a:avLst/>
          </a:prstGeom>
          <a:noFill/>
        </p:spPr>
        <p:txBody>
          <a:bodyPr wrap="square">
            <a:spAutoFit/>
          </a:bodyPr>
          <a:lstStyle/>
          <a:p>
            <a:pPr>
              <a:lnSpc>
                <a:spcPts val="1900"/>
              </a:lnSpc>
            </a:pPr>
            <a:r>
              <a:rPr lang="en-US" altLang="zh-CN" sz="1400" b="0" dirty="0">
                <a:solidFill>
                  <a:srgbClr val="000000"/>
                </a:solidFill>
                <a:effectLst/>
                <a:latin typeface="Consolas" panose="020B0609020204030204" pitchFamily="49" charset="0"/>
              </a:rPr>
              <a:t>r=[</a:t>
            </a:r>
            <a:r>
              <a:rPr lang="en-US" altLang="zh-CN" sz="1400" b="0" dirty="0">
                <a:solidFill>
                  <a:srgbClr val="098658"/>
                </a:solidFill>
                <a:effectLst/>
                <a:latin typeface="Consolas" panose="020B0609020204030204" pitchFamily="49" charset="0"/>
              </a:rPr>
              <a:t>58</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108</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150</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228</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778</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1427</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2870</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4497</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a:solidFill>
                  <a:srgbClr val="000000"/>
                </a:solidFill>
                <a:effectLst/>
                <a:latin typeface="Consolas" panose="020B0609020204030204" pitchFamily="49" charset="0"/>
              </a:rPr>
              <a:t>a=[</a:t>
            </a:r>
            <a:r>
              <a:rPr lang="en-US" altLang="zh-CN" sz="1400" b="0" dirty="0">
                <a:solidFill>
                  <a:srgbClr val="098658"/>
                </a:solidFill>
                <a:effectLst/>
                <a:latin typeface="Consolas" panose="020B0609020204030204" pitchFamily="49" charset="0"/>
              </a:rPr>
              <a:t>39419.12</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11236.32</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5916.00</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2544.48</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217.84</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62.79</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16.16</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6.48</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a:solidFill>
                  <a:srgbClr val="000000"/>
                </a:solidFill>
                <a:effectLst/>
                <a:latin typeface="Consolas" panose="020B0609020204030204" pitchFamily="49" charset="0"/>
              </a:rPr>
              <a:t>L=[</a:t>
            </a:r>
            <a:r>
              <a:rPr lang="zh-CN" altLang="en-US" sz="1400" b="0" dirty="0">
                <a:solidFill>
                  <a:srgbClr val="A31515"/>
                </a:solidFill>
                <a:effectLst/>
                <a:latin typeface="Consolas" panose="020B0609020204030204" pitchFamily="49" charset="0"/>
              </a:rPr>
              <a:t>水星</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金星</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地球</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火星</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木星</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土星</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天王</a:t>
            </a:r>
            <a:r>
              <a:rPr lang="en-US" altLang="zh-CN" sz="1400" dirty="0">
                <a:solidFill>
                  <a:srgbClr val="A31515"/>
                </a:solidFill>
                <a:latin typeface="Consolas" panose="020B0609020204030204" pitchFamily="49" charset="0"/>
              </a:rPr>
              <a:t>“, “</a:t>
            </a:r>
            <a:r>
              <a:rPr lang="zh-CN" altLang="en-US" sz="1400" dirty="0">
                <a:solidFill>
                  <a:srgbClr val="A31515"/>
                </a:solidFill>
                <a:latin typeface="Consolas" panose="020B0609020204030204" pitchFamily="49" charset="0"/>
              </a:rPr>
              <a:t>海王星</a:t>
            </a:r>
            <a:r>
              <a:rPr lang="en-US" altLang="zh-CN" sz="1400" dirty="0">
                <a:solidFill>
                  <a:srgbClr val="A31515"/>
                </a:solidFill>
                <a:latin typeface="Consolas" panose="020B0609020204030204" pitchFamily="49" charset="0"/>
              </a:rPr>
              <a:t>"</a:t>
            </a:r>
            <a:r>
              <a:rPr lang="en-US" altLang="zh-CN" sz="1400" b="0" dirty="0">
                <a:solidFill>
                  <a:srgbClr val="000000"/>
                </a:solidFill>
                <a:effectLst/>
                <a:latin typeface="Consolas" panose="020B0609020204030204" pitchFamily="49" charset="0"/>
              </a:rPr>
              <a:t>];</a:t>
            </a:r>
            <a:r>
              <a:rPr lang="en-US" altLang="zh-CN" sz="1400" b="0" dirty="0">
                <a:solidFill>
                  <a:srgbClr val="008000"/>
                </a:solidFill>
                <a:effectLst/>
                <a:latin typeface="Consolas" panose="020B0609020204030204" pitchFamily="49" charset="0"/>
              </a:rPr>
              <a:t>#8</a:t>
            </a:r>
            <a:r>
              <a:rPr lang="zh-CN" altLang="en-US" sz="1400" b="0" dirty="0">
                <a:solidFill>
                  <a:srgbClr val="008000"/>
                </a:solidFill>
                <a:effectLst/>
                <a:latin typeface="Consolas" panose="020B0609020204030204" pitchFamily="49" charset="0"/>
              </a:rPr>
              <a:t>个标注</a:t>
            </a:r>
            <a:endParaRPr lang="zh-CN" altLang="en-US" sz="1400" b="0" dirty="0">
              <a:solidFill>
                <a:srgbClr val="000000"/>
              </a:solidFill>
              <a:effectLst/>
              <a:latin typeface="Consolas" panose="020B0609020204030204" pitchFamily="49" charset="0"/>
            </a:endParaRPr>
          </a:p>
          <a:p>
            <a:pPr>
              <a:lnSpc>
                <a:spcPts val="1900"/>
              </a:lnSpc>
            </a:pPr>
            <a:r>
              <a:rPr lang="en-US" altLang="zh-CN" sz="1400" b="0" dirty="0">
                <a:solidFill>
                  <a:srgbClr val="795E26"/>
                </a:solidFill>
                <a:effectLst/>
                <a:latin typeface="Consolas" panose="020B0609020204030204" pitchFamily="49" charset="0"/>
              </a:rPr>
              <a:t>subplot</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3</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a:solidFill>
                  <a:srgbClr val="795E26"/>
                </a:solidFill>
                <a:effectLst/>
                <a:latin typeface="Consolas" panose="020B0609020204030204" pitchFamily="49" charset="0"/>
              </a:rPr>
              <a:t>plot</a:t>
            </a:r>
            <a:r>
              <a:rPr lang="en-US" altLang="zh-CN" sz="1400" b="0" dirty="0">
                <a:solidFill>
                  <a:srgbClr val="000000"/>
                </a:solidFill>
                <a:effectLst/>
                <a:latin typeface="Consolas" panose="020B0609020204030204" pitchFamily="49" charset="0"/>
              </a:rPr>
              <a:t>(</a:t>
            </a:r>
            <a:r>
              <a:rPr lang="en-US" altLang="zh-CN" sz="1400" b="0" dirty="0" err="1">
                <a:solidFill>
                  <a:srgbClr val="000000"/>
                </a:solidFill>
                <a:effectLst/>
                <a:latin typeface="Consolas" panose="020B0609020204030204" pitchFamily="49" charset="0"/>
              </a:rPr>
              <a:t>r,a</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"-b&gt;"</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err="1">
                <a:solidFill>
                  <a:srgbClr val="795E26"/>
                </a:solidFill>
                <a:effectLst/>
                <a:latin typeface="Consolas" panose="020B0609020204030204" pitchFamily="49" charset="0"/>
              </a:rPr>
              <a:t>xlabel</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平均距离</a:t>
            </a:r>
            <a:r>
              <a:rPr lang="en-US" altLang="zh-CN" sz="1400" b="0" dirty="0">
                <a:solidFill>
                  <a:srgbClr val="A31515"/>
                </a:solidFill>
                <a:effectLst/>
                <a:latin typeface="Consolas" panose="020B0609020204030204" pitchFamily="49" charset="0"/>
              </a:rPr>
              <a:t>R"</a:t>
            </a:r>
            <a:r>
              <a:rPr lang="en-US" altLang="zh-CN" sz="1400" b="0" dirty="0">
                <a:solidFill>
                  <a:srgbClr val="000000"/>
                </a:solidFill>
                <a:effectLst/>
                <a:latin typeface="Consolas" panose="020B0609020204030204" pitchFamily="49" charset="0"/>
              </a:rPr>
              <a:t>);</a:t>
            </a:r>
            <a:r>
              <a:rPr lang="en-US" altLang="zh-CN" sz="1400" b="0" dirty="0" err="1">
                <a:solidFill>
                  <a:srgbClr val="795E26"/>
                </a:solidFill>
                <a:effectLst/>
                <a:latin typeface="Consolas" panose="020B0609020204030204" pitchFamily="49" charset="0"/>
              </a:rPr>
              <a:t>ylabel</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加速度</a:t>
            </a:r>
            <a:r>
              <a:rPr lang="en-US" altLang="zh-CN" sz="1400" b="0" dirty="0">
                <a:solidFill>
                  <a:srgbClr val="A31515"/>
                </a:solidFill>
                <a:effectLst/>
                <a:latin typeface="Consolas" panose="020B0609020204030204" pitchFamily="49" charset="0"/>
              </a:rPr>
              <a:t>a"</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a:solidFill>
                  <a:srgbClr val="000000"/>
                </a:solidFill>
                <a:effectLst/>
                <a:latin typeface="Consolas" panose="020B0609020204030204" pitchFamily="49" charset="0"/>
              </a:rPr>
              <a:t>[</a:t>
            </a:r>
            <a:r>
              <a:rPr lang="en-US" altLang="zh-CN" sz="1400" b="0" dirty="0">
                <a:solidFill>
                  <a:srgbClr val="795E26"/>
                </a:solidFill>
                <a:effectLst/>
                <a:latin typeface="Consolas" panose="020B0609020204030204" pitchFamily="49" charset="0"/>
              </a:rPr>
              <a:t>text</a:t>
            </a:r>
            <a:r>
              <a:rPr lang="en-US" altLang="zh-CN" sz="1400" b="0" dirty="0">
                <a:solidFill>
                  <a:srgbClr val="000000"/>
                </a:solidFill>
                <a:effectLst/>
                <a:latin typeface="Consolas" panose="020B0609020204030204" pitchFamily="49" charset="0"/>
              </a:rPr>
              <a:t>(r[ii]+</a:t>
            </a:r>
            <a:r>
              <a:rPr lang="en-US" altLang="zh-CN" sz="1400" b="0" dirty="0">
                <a:solidFill>
                  <a:srgbClr val="098658"/>
                </a:solidFill>
                <a:effectLst/>
                <a:latin typeface="Consolas" panose="020B0609020204030204" pitchFamily="49" charset="0"/>
              </a:rPr>
              <a:t>0.1</a:t>
            </a:r>
            <a:r>
              <a:rPr lang="en-US" altLang="zh-CN" sz="1400" b="0" dirty="0">
                <a:solidFill>
                  <a:srgbClr val="000000"/>
                </a:solidFill>
                <a:effectLst/>
                <a:latin typeface="Consolas" panose="020B0609020204030204" pitchFamily="49" charset="0"/>
              </a:rPr>
              <a:t>,a[ii]+</a:t>
            </a:r>
            <a:r>
              <a:rPr lang="en-US" altLang="zh-CN" sz="1400" b="0" dirty="0">
                <a:solidFill>
                  <a:srgbClr val="098658"/>
                </a:solidFill>
                <a:effectLst/>
                <a:latin typeface="Consolas" panose="020B0609020204030204" pitchFamily="49" charset="0"/>
              </a:rPr>
              <a:t>0.1</a:t>
            </a:r>
            <a:r>
              <a:rPr lang="en-US" altLang="zh-CN" sz="1400" b="0" dirty="0">
                <a:solidFill>
                  <a:srgbClr val="000000"/>
                </a:solidFill>
                <a:effectLst/>
                <a:latin typeface="Consolas" panose="020B0609020204030204" pitchFamily="49" charset="0"/>
              </a:rPr>
              <a:t>,L[ii]) </a:t>
            </a:r>
            <a:r>
              <a:rPr lang="en-US" altLang="zh-CN" sz="1400" b="0" dirty="0">
                <a:solidFill>
                  <a:srgbClr val="AF00DB"/>
                </a:solidFill>
                <a:effectLst/>
                <a:latin typeface="Consolas" panose="020B0609020204030204" pitchFamily="49" charset="0"/>
              </a:rPr>
              <a:t>for</a:t>
            </a:r>
            <a:r>
              <a:rPr lang="en-US" altLang="zh-CN" sz="1400" b="0" dirty="0">
                <a:solidFill>
                  <a:srgbClr val="000000"/>
                </a:solidFill>
                <a:effectLst/>
                <a:latin typeface="Consolas" panose="020B0609020204030204" pitchFamily="49" charset="0"/>
              </a:rPr>
              <a:t> ii=</a:t>
            </a:r>
            <a:r>
              <a:rPr lang="en-US" altLang="zh-CN" sz="1400" b="0" dirty="0">
                <a:solidFill>
                  <a:srgbClr val="098658"/>
                </a:solidFill>
                <a:effectLst/>
                <a:latin typeface="Consolas" panose="020B0609020204030204" pitchFamily="49" charset="0"/>
              </a:rPr>
              <a:t>1</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8</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a:solidFill>
                  <a:srgbClr val="795E26"/>
                </a:solidFill>
                <a:effectLst/>
                <a:latin typeface="Consolas" panose="020B0609020204030204" pitchFamily="49" charset="0"/>
              </a:rPr>
              <a:t>subplot</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3</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err="1">
                <a:solidFill>
                  <a:srgbClr val="000000"/>
                </a:solidFill>
                <a:effectLst/>
                <a:latin typeface="Consolas" panose="020B0609020204030204" pitchFamily="49" charset="0"/>
              </a:rPr>
              <a:t>logr</a:t>
            </a:r>
            <a:r>
              <a:rPr lang="en-US" altLang="zh-CN" sz="1400" b="0" dirty="0">
                <a:solidFill>
                  <a:srgbClr val="000000"/>
                </a:solidFill>
                <a:effectLst/>
                <a:latin typeface="Consolas" panose="020B0609020204030204" pitchFamily="49" charset="0"/>
              </a:rPr>
              <a:t>=</a:t>
            </a:r>
            <a:r>
              <a:rPr lang="en-US" altLang="zh-CN" sz="1400" b="0" dirty="0">
                <a:solidFill>
                  <a:srgbClr val="795E26"/>
                </a:solidFill>
                <a:effectLst/>
                <a:latin typeface="Consolas" panose="020B0609020204030204" pitchFamily="49" charset="0"/>
              </a:rPr>
              <a:t>log10</a:t>
            </a:r>
            <a:r>
              <a:rPr lang="en-US" altLang="zh-CN" sz="1400" b="0" dirty="0">
                <a:solidFill>
                  <a:srgbClr val="000000"/>
                </a:solidFill>
                <a:effectLst/>
                <a:latin typeface="Consolas" panose="020B0609020204030204" pitchFamily="49" charset="0"/>
              </a:rPr>
              <a:t>.(r);</a:t>
            </a:r>
            <a:r>
              <a:rPr lang="en-US" altLang="zh-CN" sz="1400" b="0" dirty="0" err="1">
                <a:solidFill>
                  <a:srgbClr val="000000"/>
                </a:solidFill>
                <a:effectLst/>
                <a:latin typeface="Consolas" panose="020B0609020204030204" pitchFamily="49" charset="0"/>
              </a:rPr>
              <a:t>loga</a:t>
            </a:r>
            <a:r>
              <a:rPr lang="en-US" altLang="zh-CN" sz="1400" b="0" dirty="0">
                <a:solidFill>
                  <a:srgbClr val="000000"/>
                </a:solidFill>
                <a:effectLst/>
                <a:latin typeface="Consolas" panose="020B0609020204030204" pitchFamily="49" charset="0"/>
              </a:rPr>
              <a:t>=</a:t>
            </a:r>
            <a:r>
              <a:rPr lang="en-US" altLang="zh-CN" sz="1400" b="0" dirty="0">
                <a:solidFill>
                  <a:srgbClr val="795E26"/>
                </a:solidFill>
                <a:effectLst/>
                <a:latin typeface="Consolas" panose="020B0609020204030204" pitchFamily="49" charset="0"/>
              </a:rPr>
              <a:t>log10</a:t>
            </a:r>
            <a:r>
              <a:rPr lang="en-US" altLang="zh-CN" sz="1400" b="0" dirty="0">
                <a:solidFill>
                  <a:srgbClr val="000000"/>
                </a:solidFill>
                <a:effectLst/>
                <a:latin typeface="Consolas" panose="020B0609020204030204" pitchFamily="49" charset="0"/>
              </a:rPr>
              <a:t>.(a);</a:t>
            </a:r>
          </a:p>
          <a:p>
            <a:pPr>
              <a:lnSpc>
                <a:spcPts val="1900"/>
              </a:lnSpc>
            </a:pPr>
            <a:r>
              <a:rPr lang="en-US" altLang="zh-CN" sz="1400" b="0" dirty="0">
                <a:solidFill>
                  <a:srgbClr val="795E26"/>
                </a:solidFill>
                <a:effectLst/>
                <a:latin typeface="Consolas" panose="020B0609020204030204" pitchFamily="49" charset="0"/>
              </a:rPr>
              <a:t>plot</a:t>
            </a:r>
            <a:r>
              <a:rPr lang="en-US" altLang="zh-CN" sz="1400" b="0" dirty="0">
                <a:solidFill>
                  <a:srgbClr val="000000"/>
                </a:solidFill>
                <a:effectLst/>
                <a:latin typeface="Consolas" panose="020B0609020204030204" pitchFamily="49" charset="0"/>
              </a:rPr>
              <a:t>(</a:t>
            </a:r>
            <a:r>
              <a:rPr lang="en-US" altLang="zh-CN" sz="1400" b="0" dirty="0" err="1">
                <a:solidFill>
                  <a:srgbClr val="000000"/>
                </a:solidFill>
                <a:effectLst/>
                <a:latin typeface="Consolas" panose="020B0609020204030204" pitchFamily="49" charset="0"/>
              </a:rPr>
              <a:t>logr,loga</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"-r*"</a:t>
            </a:r>
            <a:r>
              <a:rPr lang="en-US" altLang="zh-CN" sz="1400" b="0" dirty="0">
                <a:solidFill>
                  <a:srgbClr val="000000"/>
                </a:solidFill>
                <a:effectLst/>
                <a:latin typeface="Consolas" panose="020B0609020204030204" pitchFamily="49" charset="0"/>
              </a:rPr>
              <a:t>)</a:t>
            </a:r>
          </a:p>
          <a:p>
            <a:pPr>
              <a:lnSpc>
                <a:spcPts val="1900"/>
              </a:lnSpc>
            </a:pPr>
            <a:r>
              <a:rPr lang="en-US" altLang="zh-CN" sz="1400" b="0" dirty="0" err="1">
                <a:solidFill>
                  <a:srgbClr val="795E26"/>
                </a:solidFill>
                <a:effectLst/>
                <a:latin typeface="Consolas" panose="020B0609020204030204" pitchFamily="49" charset="0"/>
              </a:rPr>
              <a:t>xlabel</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"log10 r"</a:t>
            </a:r>
            <a:r>
              <a:rPr lang="en-US" altLang="zh-CN" sz="1400" b="0" dirty="0">
                <a:solidFill>
                  <a:srgbClr val="000000"/>
                </a:solidFill>
                <a:effectLst/>
                <a:latin typeface="Consolas" panose="020B0609020204030204" pitchFamily="49" charset="0"/>
              </a:rPr>
              <a:t>);</a:t>
            </a:r>
            <a:r>
              <a:rPr lang="en-US" altLang="zh-CN" sz="1400" b="0" dirty="0" err="1">
                <a:solidFill>
                  <a:srgbClr val="795E26"/>
                </a:solidFill>
                <a:effectLst/>
                <a:latin typeface="Consolas" panose="020B0609020204030204" pitchFamily="49" charset="0"/>
              </a:rPr>
              <a:t>ylabel</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"log10 a"</a:t>
            </a:r>
            <a:r>
              <a:rPr lang="en-US" altLang="zh-CN" sz="1400" b="0" dirty="0">
                <a:solidFill>
                  <a:srgbClr val="000000"/>
                </a:solidFill>
                <a:effectLst/>
                <a:latin typeface="Consolas" panose="020B0609020204030204" pitchFamily="49" charset="0"/>
              </a:rPr>
              <a:t>);</a:t>
            </a:r>
          </a:p>
          <a:p>
            <a:pPr>
              <a:lnSpc>
                <a:spcPts val="1900"/>
              </a:lnSpc>
            </a:pPr>
            <a:r>
              <a:rPr lang="en-US" altLang="zh-CN" sz="1400" dirty="0">
                <a:solidFill>
                  <a:srgbClr val="795E26"/>
                </a:solidFill>
                <a:latin typeface="Consolas" panose="020B0609020204030204" pitchFamily="49" charset="0"/>
              </a:rPr>
              <a:t>subplot</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3</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1</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2</a:t>
            </a:r>
            <a:r>
              <a:rPr lang="en-US" altLang="zh-CN" sz="1400" dirty="0">
                <a:solidFill>
                  <a:srgbClr val="000000"/>
                </a:solidFill>
                <a:latin typeface="Consolas" panose="020B0609020204030204" pitchFamily="49" charset="0"/>
              </a:rPr>
              <a:t>)</a:t>
            </a:r>
          </a:p>
          <a:p>
            <a:pPr>
              <a:lnSpc>
                <a:spcPts val="1900"/>
              </a:lnSpc>
            </a:pPr>
            <a:endParaRPr lang="en-US" altLang="zh-CN" sz="1400" b="0" dirty="0">
              <a:solidFill>
                <a:srgbClr val="000000"/>
              </a:solidFill>
              <a:effectLst/>
              <a:latin typeface="Consolas" panose="020B0609020204030204" pitchFamily="49" charset="0"/>
            </a:endParaRPr>
          </a:p>
        </p:txBody>
      </p:sp>
      <p:pic>
        <p:nvPicPr>
          <p:cNvPr id="6" name="图片 5">
            <a:extLst>
              <a:ext uri="{FF2B5EF4-FFF2-40B4-BE49-F238E27FC236}">
                <a16:creationId xmlns:a16="http://schemas.microsoft.com/office/drawing/2014/main" id="{0D17A7FF-673A-4695-AD6C-160AE8C1EC46}"/>
              </a:ext>
            </a:extLst>
          </p:cNvPr>
          <p:cNvPicPr>
            <a:picLocks noChangeAspect="1"/>
          </p:cNvPicPr>
          <p:nvPr/>
        </p:nvPicPr>
        <p:blipFill>
          <a:blip r:embed="rId3"/>
          <a:stretch>
            <a:fillRect/>
          </a:stretch>
        </p:blipFill>
        <p:spPr>
          <a:xfrm>
            <a:off x="4947857" y="1671484"/>
            <a:ext cx="3960440" cy="2669145"/>
          </a:xfrm>
          <a:prstGeom prst="rect">
            <a:avLst/>
          </a:prstGeom>
        </p:spPr>
      </p:pic>
      <p:sp>
        <p:nvSpPr>
          <p:cNvPr id="13" name="波形 12">
            <a:extLst>
              <a:ext uri="{FF2B5EF4-FFF2-40B4-BE49-F238E27FC236}">
                <a16:creationId xmlns:a16="http://schemas.microsoft.com/office/drawing/2014/main" id="{76EE5A94-73B2-4297-96BB-B6B652D9AE5D}"/>
              </a:ext>
            </a:extLst>
          </p:cNvPr>
          <p:cNvSpPr/>
          <p:nvPr/>
        </p:nvSpPr>
        <p:spPr>
          <a:xfrm>
            <a:off x="229280" y="4132679"/>
            <a:ext cx="994840" cy="438150"/>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课堂练习</a:t>
            </a:r>
            <a:r>
              <a:rPr lang="en-US" altLang="zh-CN" b="1" dirty="0">
                <a:solidFill>
                  <a:srgbClr val="FFFF00"/>
                </a:solidFill>
                <a:latin typeface="微软雅黑" panose="020B0503020204020204" pitchFamily="34" charset="-122"/>
                <a:ea typeface="微软雅黑" panose="020B0503020204020204" pitchFamily="34" charset="-122"/>
              </a:rPr>
              <a:t>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9C5C0FBC-91CE-45BC-A8B0-C9CEAC667E6A}"/>
              </a:ext>
            </a:extLst>
          </p:cNvPr>
          <p:cNvSpPr/>
          <p:nvPr/>
        </p:nvSpPr>
        <p:spPr>
          <a:xfrm>
            <a:off x="1282392" y="4187284"/>
            <a:ext cx="7749992" cy="369332"/>
          </a:xfrm>
          <a:prstGeom prst="rect">
            <a:avLst/>
          </a:prstGeom>
          <a:solidFill>
            <a:schemeClr val="bg1"/>
          </a:solidFill>
        </p:spPr>
        <p:txBody>
          <a:bodyPr wrap="square">
            <a:spAutoFit/>
          </a:bodyPr>
          <a:lstStyle/>
          <a:p>
            <a:pPr algn="dist" latinLnBrk="1">
              <a:buClr>
                <a:schemeClr val="tx1"/>
              </a:buClr>
            </a:pPr>
            <a:r>
              <a:rPr lang="zh-CN" altLang="en-US" b="1" kern="0" dirty="0">
                <a:solidFill>
                  <a:srgbClr val="0070C0"/>
                </a:solidFill>
                <a:latin typeface="微软雅黑" panose="020B0503020204020204" pitchFamily="34" charset="-122"/>
                <a:ea typeface="微软雅黑" panose="020B0503020204020204" pitchFamily="34" charset="-122"/>
                <a:cs typeface="+mj-cs"/>
              </a:rPr>
              <a:t>用</a:t>
            </a:r>
            <a:r>
              <a:rPr lang="en-US" altLang="zh-CN"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loglog(</a:t>
            </a:r>
            <a:r>
              <a:rPr lang="en-US" altLang="zh-CN" b="1" kern="0" dirty="0" err="1">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x,y</a:t>
            </a:r>
            <a:r>
              <a:rPr lang="zh-CN" altLang="en-US"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绘制</a:t>
            </a:r>
            <a:r>
              <a:rPr lang="en-US" altLang="zh-CN"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x</a:t>
            </a:r>
            <a:r>
              <a:rPr lang="zh-CN" altLang="en-US"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和</a:t>
            </a:r>
            <a:r>
              <a:rPr lang="en-US" altLang="zh-CN"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y</a:t>
            </a:r>
            <a:r>
              <a:rPr lang="zh-CN" altLang="en-US"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轴都取对数时，加速度</a:t>
            </a:r>
            <a:r>
              <a:rPr lang="en-US" altLang="zh-CN"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a</a:t>
            </a:r>
            <a:r>
              <a:rPr lang="zh-CN" altLang="en-US"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关于半径</a:t>
            </a:r>
            <a:r>
              <a:rPr lang="en-US" altLang="zh-CN"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r</a:t>
            </a:r>
            <a:r>
              <a:rPr lang="zh-CN" altLang="en-US" b="1" kern="0" dirty="0">
                <a:solidFill>
                  <a:srgbClr val="0070C0"/>
                </a:solidFill>
                <a:latin typeface="微软雅黑" panose="020B0503020204020204" pitchFamily="34" charset="-122"/>
                <a:ea typeface="微软雅黑" panose="020B0503020204020204" pitchFamily="34" charset="-122"/>
                <a:cs typeface="+mj-cs"/>
                <a:sym typeface="Arial" panose="020B0604020202020204" pitchFamily="34" charset="0"/>
              </a:rPr>
              <a:t>的曲线</a:t>
            </a:r>
            <a:endParaRPr lang="zh-CN" altLang="en-US" b="1" kern="0" dirty="0">
              <a:solidFill>
                <a:srgbClr val="0070C0"/>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126079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77800" marR="0" indent="-177800" algn="ctr" defTabSz="914400" rtl="0" eaLnBrk="0" fontAlgn="base" latinLnBrk="0" hangingPunct="0">
          <a:lnSpc>
            <a:spcPct val="110000"/>
          </a:lnSpc>
          <a:spcBef>
            <a:spcPct val="0"/>
          </a:spcBef>
          <a:spcAft>
            <a:spcPct val="0"/>
          </a:spcAft>
          <a:buClrTx/>
          <a:buSzTx/>
          <a:buFontTx/>
          <a:buNone/>
          <a:tabLst/>
          <a:defRPr kumimoji="0" lang="en-US" sz="16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12447</TotalTime>
  <Pages>154</Pages>
  <Words>3535</Words>
  <Characters>0</Characters>
  <Application>Microsoft Office PowerPoint</Application>
  <DocSecurity>0</DocSecurity>
  <PresentationFormat>全屏显示(16:9)</PresentationFormat>
  <Lines>0</Lines>
  <Paragraphs>485</Paragraphs>
  <Slides>18</Slides>
  <Notes>16</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链接</vt:lpstr>
      </vt:variant>
      <vt:variant>
        <vt:i4>1</vt:i4>
      </vt:variant>
      <vt:variant>
        <vt:lpstr>幻灯片标题</vt:lpstr>
      </vt:variant>
      <vt:variant>
        <vt:i4>18</vt:i4>
      </vt:variant>
    </vt:vector>
  </HeadingPairs>
  <TitlesOfParts>
    <vt:vector size="33" baseType="lpstr">
      <vt:lpstr>-apple-system</vt:lpstr>
      <vt:lpstr>Arial Unicode MS</vt:lpstr>
      <vt:lpstr>黑体</vt:lpstr>
      <vt:lpstr>华文楷体</vt:lpstr>
      <vt:lpstr>隶书</vt:lpstr>
      <vt:lpstr>Microsoft YaHei</vt:lpstr>
      <vt:lpstr>Microsoft YaHei</vt:lpstr>
      <vt:lpstr>Arial</vt:lpstr>
      <vt:lpstr>Calibri</vt:lpstr>
      <vt:lpstr>Consolas</vt:lpstr>
      <vt:lpstr>Helvetica</vt:lpstr>
      <vt:lpstr>Times New Roman</vt:lpstr>
      <vt:lpstr>Wingdings</vt:lpstr>
      <vt:lpstr>主题1</vt:lpstr>
      <vt:lpstr>file:///D:\sysjulia\nano.csv</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       带有误差条的条形图</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1039</cp:revision>
  <dcterms:modified xsi:type="dcterms:W3CDTF">2025-03-20T08:48:03Z</dcterms:modified>
</cp:coreProperties>
</file>