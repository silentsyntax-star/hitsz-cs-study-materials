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29"/>
  </p:notesMasterIdLst>
  <p:sldIdLst>
    <p:sldId id="685" r:id="rId2"/>
    <p:sldId id="1253" r:id="rId3"/>
    <p:sldId id="1301" r:id="rId4"/>
    <p:sldId id="1297" r:id="rId5"/>
    <p:sldId id="10115" r:id="rId6"/>
    <p:sldId id="1286" r:id="rId7"/>
    <p:sldId id="10117" r:id="rId8"/>
    <p:sldId id="10116" r:id="rId9"/>
    <p:sldId id="1290" r:id="rId10"/>
    <p:sldId id="796" r:id="rId11"/>
    <p:sldId id="710" r:id="rId12"/>
    <p:sldId id="1304" r:id="rId13"/>
    <p:sldId id="738" r:id="rId14"/>
    <p:sldId id="1262" r:id="rId15"/>
    <p:sldId id="1263" r:id="rId16"/>
    <p:sldId id="1264" r:id="rId17"/>
    <p:sldId id="10118" r:id="rId18"/>
    <p:sldId id="1265" r:id="rId19"/>
    <p:sldId id="1309" r:id="rId20"/>
    <p:sldId id="1267" r:id="rId21"/>
    <p:sldId id="1269" r:id="rId22"/>
    <p:sldId id="1270" r:id="rId23"/>
    <p:sldId id="1272" r:id="rId24"/>
    <p:sldId id="1275" r:id="rId25"/>
    <p:sldId id="1302" r:id="rId26"/>
    <p:sldId id="1273" r:id="rId27"/>
    <p:sldId id="1258" r:id="rId28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爱滨 李" initials="爱李" lastIdx="1" clrIdx="0">
    <p:extLst>
      <p:ext uri="{19B8F6BF-5375-455C-9EA6-DF929625EA0E}">
        <p15:presenceInfo xmlns:p15="http://schemas.microsoft.com/office/powerpoint/2012/main" userId="88969518991ecbc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33CCFF"/>
    <a:srgbClr val="003B76"/>
    <a:srgbClr val="736303"/>
    <a:srgbClr val="66CCFF"/>
    <a:srgbClr val="F0DA04"/>
    <a:srgbClr val="3366FF"/>
    <a:srgbClr val="6D629C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7" autoAdjust="0"/>
    <p:restoredTop sz="61348" autoAdjust="0"/>
  </p:normalViewPr>
  <p:slideViewPr>
    <p:cSldViewPr snapToObjects="1">
      <p:cViewPr varScale="1">
        <p:scale>
          <a:sx n="53" d="100"/>
          <a:sy n="53" d="100"/>
        </p:scale>
        <p:origin x="1652" y="36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创建注释，例如突出显示特定区域数据的矩形、椭圆形、箭头、垂直线或水平线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52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无法画出连续函数</a:t>
            </a:r>
            <a:r>
              <a:rPr lang="en-US" altLang="zh-CN" dirty="0"/>
              <a:t>, </a:t>
            </a:r>
            <a:r>
              <a:rPr lang="zh-CN" altLang="en-US" dirty="0"/>
              <a:t>共同点起始值</a:t>
            </a:r>
            <a:r>
              <a:rPr lang="en-US" altLang="zh-CN" dirty="0"/>
              <a:t>x1</a:t>
            </a:r>
            <a:r>
              <a:rPr lang="zh-CN" altLang="en-US" dirty="0"/>
              <a:t>注意终止值</a:t>
            </a:r>
            <a:r>
              <a:rPr lang="en-US" altLang="zh-CN" dirty="0"/>
              <a:t>x2</a:t>
            </a:r>
            <a:r>
              <a:rPr lang="zh-CN" altLang="en-US" dirty="0"/>
              <a:t>，不同点为步长</a:t>
            </a:r>
            <a:r>
              <a:rPr lang="en-US" altLang="zh-CN" dirty="0"/>
              <a:t>h</a:t>
            </a:r>
            <a:r>
              <a:rPr lang="zh-CN" altLang="en-US" dirty="0"/>
              <a:t>和元素个数</a:t>
            </a:r>
            <a:r>
              <a:rPr lang="en-US" altLang="zh-CN" dirty="0"/>
              <a:t>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278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println</a:t>
            </a:r>
            <a:r>
              <a:rPr lang="en-US" altLang="zh-CN" dirty="0"/>
              <a:t>("x=",x)</a:t>
            </a:r>
          </a:p>
          <a:p>
            <a:r>
              <a:rPr lang="en-US" altLang="zh-CN" dirty="0"/>
              <a:t>x=[38.075, 38.125, 38.175, 38.225, 38.275, 38.325, 38.375, 38.425, 38.475, 38.525, 38.575, 38.625, 38.675, 38.725, 38.775, 38.825, 38.875, 38.925, 38.975, 39.025] </a:t>
            </a:r>
          </a:p>
          <a:p>
            <a:r>
              <a:rPr lang="es-ES" altLang="zh-CN" dirty="0"/>
              <a:t>julia&gt; println("x=",x)</a:t>
            </a:r>
          </a:p>
          <a:p>
            <a:r>
              <a:rPr lang="es-ES" altLang="zh-CN" dirty="0"/>
              <a:t>x=[38.075, 38.125, 38.175, 38.225, 38.275, 38.325, 38.375, 38.425, 38.475, 38.525, 38.575, 38.625, 38.675, 38.725, 38.775, 38.825, 38.875, 38.925, 38.975, 39.025]      </a:t>
            </a:r>
          </a:p>
          <a:p>
            <a:endParaRPr lang="es-ES" altLang="zh-CN" dirty="0"/>
          </a:p>
          <a:p>
            <a:r>
              <a:rPr lang="es-ES" altLang="zh-CN" dirty="0"/>
              <a:t>julia&gt; println("y=",y)</a:t>
            </a:r>
          </a:p>
          <a:p>
            <a:r>
              <a:rPr lang="es-ES" altLang="zh-CN" dirty="0"/>
              <a:t>y=[267, 318, 487, 815, 1502, 3162, 6207, 8414, 8156, 5975, 3473, 1601, 710, 386, 325, 247, 232, 207, 182, 157]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991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541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084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63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\^p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Tab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键生成上标</a:t>
            </a:r>
            <a:r>
              <a:rPr lang="en-US" altLang="zh-CN" sz="1200" kern="0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ᵖ</a:t>
            </a:r>
            <a:r>
              <a:rPr lang="zh-CN" altLang="en-US" sz="1200" kern="0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\_p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Tab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键生成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下标</a:t>
            </a:r>
            <a:r>
              <a:rPr lang="en-US" altLang="zh-CN" sz="1200" kern="0" baseline="-25000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ᵖ</a:t>
            </a:r>
            <a:endParaRPr lang="zh-CN" altLang="en-US" baseline="-25000" dirty="0"/>
          </a:p>
          <a:p>
            <a:pPr>
              <a:lnSpc>
                <a:spcPts val="2900"/>
              </a:lnSpc>
              <a:buNone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900"/>
              </a:lnSpc>
              <a:buNone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900"/>
              </a:lnSpc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特殊数学符号可以使用反斜杠加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LaTeX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符号名，再按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Tab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健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900"/>
              </a:lnSpc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如创建</a:t>
            </a:r>
            <a:r>
              <a:rPr lang="el-GR" altLang="zh-CN" sz="1200" dirty="0">
                <a:ea typeface="宋体" panose="02010600030101010101" pitchFamily="2" charset="-122"/>
              </a:rPr>
              <a:t>α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ᵖ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，先转义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alpha+Tab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键生成</a:t>
            </a:r>
            <a:r>
              <a:rPr lang="el-GR" altLang="zh-CN" sz="1200" dirty="0">
                <a:ea typeface="宋体" panose="02010600030101010101" pitchFamily="2" charset="-122"/>
              </a:rPr>
              <a:t>α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，再转义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\^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p+Tab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键生成上标</a:t>
            </a:r>
            <a:r>
              <a:rPr lang="en-US" altLang="zh-CN" sz="1200" kern="0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ᵖ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图形标注支持部分</a:t>
            </a:r>
            <a:r>
              <a:rPr lang="zh-CN" altLang="en-US" sz="1200" kern="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文本排版系统</a:t>
            </a:r>
            <a:r>
              <a:rPr lang="en-US" altLang="zh-CN" sz="1200" dirty="0" err="1">
                <a:solidFill>
                  <a:srgbClr val="FF0000"/>
                </a:solidFill>
                <a:latin typeface="+mj-ea"/>
                <a:ea typeface="+mj-ea"/>
              </a:rPr>
              <a:t>TeX</a:t>
            </a:r>
            <a:r>
              <a:rPr lang="zh-CN" altLang="en-US" sz="1200" dirty="0">
                <a:solidFill>
                  <a:srgbClr val="FF0000"/>
                </a:solidFill>
                <a:latin typeface="+mj-ea"/>
                <a:ea typeface="+mj-ea"/>
              </a:rPr>
              <a:t>标记</a:t>
            </a:r>
            <a:endParaRPr lang="en-US" altLang="zh-CN" sz="1200" dirty="0">
              <a:solidFill>
                <a:schemeClr val="bg1"/>
              </a:solidFill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dirty="0">
                <a:solidFill>
                  <a:schemeClr val="bg1"/>
                </a:solidFill>
                <a:latin typeface="Cambria Math" panose="02040503050406030204" pitchFamily="18" charset="0"/>
              </a:rPr>
              <a:t>xlabel(raw"$-2\pi \leq x \leq 2\pi$") </a:t>
            </a:r>
            <a:endParaRPr lang="en-US" altLang="zh-CN" sz="1200" dirty="0">
              <a:solidFill>
                <a:schemeClr val="bg1"/>
              </a:solidFill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bg1"/>
              </a:solidFill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文档字符串包含</a:t>
            </a:r>
            <a:r>
              <a:rPr lang="en-US" altLang="zh-CN" sz="12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TeX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或 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Julia 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源代码 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标签函数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(raw“”) 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字符串可以用来避 免对它们进行转义</a:t>
            </a:r>
            <a:endParaRPr lang="en-US" altLang="zh-CN" sz="1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‌三、输入法直接生成示例‌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Unicode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符号输入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上标数字：输入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²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Unicode U+00B2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³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U+00B3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）等，可通过部分输入法的符号库直接选择‌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8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下标数字：输入 ₁（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U+2081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）、₂（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U+2082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）等，方法同上‌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8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搜狗输入法示例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输入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up,2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生成“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²”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，输入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down,2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生成“₂”‌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8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。</a:t>
            </a:r>
          </a:p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‌四、复杂场景示例‌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汉字注音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+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上下标组合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</a:t>
            </a:r>
            <a:b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输入“汉（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PingFang SC"/>
              </a:rPr>
              <a:t>hàn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）字”并添加化学式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H₂O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dirty="0">
              <a:solidFill>
                <a:schemeClr val="bg1"/>
              </a:solidFill>
              <a:latin typeface="Cambria Math" panose="020405030504060302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61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左下角位于 (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)点处，宽度和高度分别为 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注释点坐标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y: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分别代表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 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轴和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轴位置，标量时将文本添加到单个点，向量 时将文本添加到多个点</a:t>
            </a:r>
            <a:endParaRPr lang="en-US" altLang="zh-CN" sz="1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文本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txt 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：单个数据点的文本时，将 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txt 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指定为字符向量或字符串标量。如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text(.5,.5,“my text”)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。多个数据点的文本时，要在每个位置显示相同文本，将 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txt 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指定为字符向量或字符串。如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text([0 0.1],[0 0.62],"my text") 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1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896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imshow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"hit0.jpg"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ginput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imshow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"hand.png"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ginput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reverse!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reverse!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xr,yr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imshow</a:t>
            </a:r>
            <a:r>
              <a:rPr lang="en-US" altLang="zh-CN" dirty="0"/>
              <a:t>("hit0.jpg") </a:t>
            </a:r>
          </a:p>
          <a:p>
            <a:r>
              <a:rPr lang="en-US" altLang="zh-CN" dirty="0" err="1"/>
              <a:t>x,y</a:t>
            </a:r>
            <a:r>
              <a:rPr lang="en-US" altLang="zh-CN" dirty="0"/>
              <a:t>=</a:t>
            </a:r>
            <a:r>
              <a:rPr lang="en-US" altLang="zh-CN" dirty="0" err="1"/>
              <a:t>ginput</a:t>
            </a:r>
            <a:r>
              <a:rPr lang="en-US" altLang="zh-CN" dirty="0"/>
              <a:t>(30)</a:t>
            </a:r>
          </a:p>
          <a:p>
            <a:r>
              <a:rPr lang="en-US" altLang="zh-CN" dirty="0"/>
              <a:t>plot(x,550 .-y)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554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text</a:t>
            </a:r>
            <a:r>
              <a:rPr lang="en-US" altLang="zh-CN" dirty="0">
                <a:solidFill>
                  <a:srgbClr val="CCCCCC"/>
                </a:solidFill>
                <a:effectLst/>
              </a:rPr>
              <a:t>(</a:t>
            </a:r>
            <a:r>
              <a:rPr lang="en-US" altLang="zh-CN" dirty="0">
                <a:solidFill>
                  <a:srgbClr val="F8C555"/>
                </a:solidFill>
                <a:effectLst/>
              </a:rPr>
              <a:t>pi</a:t>
            </a:r>
            <a:r>
              <a:rPr lang="en-US" altLang="zh-CN" dirty="0">
                <a:solidFill>
                  <a:srgbClr val="CCCCCC"/>
                </a:solidFill>
                <a:effectLst/>
              </a:rPr>
              <a:t>,</a:t>
            </a:r>
            <a:r>
              <a:rPr lang="en-US" altLang="zh-CN" dirty="0">
                <a:solidFill>
                  <a:srgbClr val="F08D49"/>
                </a:solidFill>
                <a:effectLst/>
              </a:rPr>
              <a:t>0</a:t>
            </a:r>
            <a:r>
              <a:rPr lang="en-US" altLang="zh-CN" dirty="0">
                <a:solidFill>
                  <a:srgbClr val="CCCCCC"/>
                </a:solidFill>
                <a:effectLst/>
              </a:rPr>
              <a:t>,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7EC699"/>
                </a:solidFill>
                <a:effectLst/>
              </a:rPr>
              <a:t>raw"$\</a:t>
            </a:r>
            <a:r>
              <a:rPr lang="en-US" altLang="zh-CN" dirty="0" err="1">
                <a:solidFill>
                  <a:srgbClr val="7EC699"/>
                </a:solidFill>
                <a:effectLst/>
              </a:rPr>
              <a:t>leftarrow</a:t>
            </a:r>
            <a:r>
              <a:rPr lang="en-US" altLang="zh-CN" dirty="0">
                <a:solidFill>
                  <a:srgbClr val="7EC699"/>
                </a:solidFill>
                <a:effectLst/>
              </a:rPr>
              <a:t> sin(\pi)$"</a:t>
            </a:r>
            <a:r>
              <a:rPr lang="en-US" altLang="zh-CN" dirty="0">
                <a:solidFill>
                  <a:srgbClr val="CCCCCC"/>
                </a:solidFill>
                <a:effectLst/>
              </a:rPr>
              <a:t>)</a:t>
            </a:r>
          </a:p>
          <a:p>
            <a:r>
              <a:rPr lang="en-US" altLang="zh-CN" dirty="0"/>
              <a:t>color</a:t>
            </a:r>
            <a:r>
              <a:rPr lang="en-US" altLang="zh-CN" dirty="0">
                <a:solidFill>
                  <a:srgbClr val="67CDCC"/>
                </a:solidFill>
                <a:effectLst/>
              </a:rPr>
              <a:t>=</a:t>
            </a:r>
            <a:r>
              <a:rPr lang="en-US" altLang="zh-CN" dirty="0">
                <a:solidFill>
                  <a:srgbClr val="7EC699"/>
                </a:solidFill>
                <a:effectLst/>
              </a:rPr>
              <a:t>"red"</a:t>
            </a:r>
            <a:r>
              <a:rPr lang="en-US" altLang="zh-CN" dirty="0">
                <a:solidFill>
                  <a:srgbClr val="CCCCCC"/>
                </a:solidFill>
                <a:effectLst/>
              </a:rPr>
              <a:t>,</a:t>
            </a:r>
            <a:r>
              <a:rPr lang="en-US" altLang="zh-CN" dirty="0"/>
              <a:t> </a:t>
            </a:r>
            <a:r>
              <a:rPr lang="en-US" altLang="zh-CN" dirty="0" err="1"/>
              <a:t>fontsize</a:t>
            </a:r>
            <a:r>
              <a:rPr lang="en-US" altLang="zh-CN" dirty="0">
                <a:solidFill>
                  <a:srgbClr val="67CDCC"/>
                </a:solidFill>
                <a:effectLst/>
              </a:rPr>
              <a:t>=</a:t>
            </a:r>
            <a:r>
              <a:rPr lang="en-US" altLang="zh-CN" dirty="0">
                <a:solidFill>
                  <a:srgbClr val="F08D49"/>
                </a:solidFill>
                <a:effectLst/>
              </a:rPr>
              <a:t>14</a:t>
            </a:r>
          </a:p>
          <a:p>
            <a:r>
              <a:rPr lang="en-US" altLang="zh-CN" dirty="0"/>
              <a:t>dim </a:t>
            </a:r>
            <a:r>
              <a:rPr lang="en-US" altLang="zh-CN" dirty="0">
                <a:solidFill>
                  <a:srgbClr val="67CDCC"/>
                </a:solidFill>
                <a:effectLst/>
              </a:rPr>
              <a:t>=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CCCCC"/>
                </a:solidFill>
                <a:effectLst/>
              </a:rPr>
              <a:t>[</a:t>
            </a:r>
            <a:r>
              <a:rPr lang="en-US" altLang="zh-CN" dirty="0">
                <a:solidFill>
                  <a:srgbClr val="F08D49"/>
                </a:solidFill>
                <a:effectLst/>
              </a:rPr>
              <a:t>0.2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08D49"/>
                </a:solidFill>
                <a:effectLst/>
              </a:rPr>
              <a:t>0.74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08D49"/>
                </a:solidFill>
                <a:effectLst/>
              </a:rPr>
              <a:t>0.25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08D49"/>
                </a:solidFill>
                <a:effectLst/>
              </a:rPr>
              <a:t>0.15</a:t>
            </a:r>
            <a:r>
              <a:rPr lang="en-US" altLang="zh-CN" dirty="0">
                <a:solidFill>
                  <a:srgbClr val="CCCCCC"/>
                </a:solidFill>
                <a:effectLst/>
              </a:rPr>
              <a:t>];</a:t>
            </a:r>
            <a:r>
              <a:rPr lang="en-US" altLang="zh-CN" dirty="0"/>
              <a:t> annotation</a:t>
            </a:r>
            <a:r>
              <a:rPr lang="en-US" altLang="zh-CN" dirty="0">
                <a:solidFill>
                  <a:srgbClr val="CCCCCC"/>
                </a:solidFill>
                <a:effectLst/>
              </a:rPr>
              <a:t>(</a:t>
            </a:r>
            <a:r>
              <a:rPr lang="en-US" altLang="zh-CN" dirty="0">
                <a:solidFill>
                  <a:srgbClr val="7EC699"/>
                </a:solidFill>
                <a:effectLst/>
              </a:rPr>
              <a:t>"ellipse"</a:t>
            </a:r>
            <a:r>
              <a:rPr lang="en-US" altLang="zh-CN" dirty="0">
                <a:solidFill>
                  <a:srgbClr val="CCCCCC"/>
                </a:solidFill>
                <a:effectLst/>
              </a:rPr>
              <a:t>,</a:t>
            </a:r>
            <a:r>
              <a:rPr lang="en-US" altLang="zh-CN" dirty="0"/>
              <a:t> dim</a:t>
            </a:r>
            <a:r>
              <a:rPr lang="en-US" altLang="zh-CN" dirty="0">
                <a:solidFill>
                  <a:srgbClr val="CCCCCC"/>
                </a:solidFill>
                <a:effectLst/>
              </a:rPr>
              <a:t>);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176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145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626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6628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tightlayout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(); #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紧凑布局防止题目和曲线重叠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357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ax1=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建第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个子图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"oy"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markersize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元素序号为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轴数据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ax1.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set_facecolor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散点图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建第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个子图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"-o"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markerfacecolor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折线图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#p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指定在位置序号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3,4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显示图片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TyImages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pkg_dir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pkgdir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TyImages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source_path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pkg_dir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"/examples/hit.jpg"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imread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source_path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哈工大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911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103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整个坐标轴范围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6083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6832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787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200" dirty="0"/>
              <a:t>‘</a:t>
            </a:r>
            <a:r>
              <a:rPr lang="en-US" altLang="zh-CN" sz="1200" dirty="0" err="1"/>
              <a:t>Xtick</a:t>
            </a:r>
            <a:r>
              <a:rPr lang="en-US" altLang="zh-CN" sz="1200" dirty="0"/>
              <a:t>’,‘</a:t>
            </a:r>
            <a:r>
              <a:rPr lang="en-US" altLang="zh-CN" sz="1200" dirty="0" err="1"/>
              <a:t>Ytick</a:t>
            </a:r>
            <a:r>
              <a:rPr lang="en-US" altLang="zh-CN" sz="1200" dirty="0"/>
              <a:t>’,‘</a:t>
            </a:r>
            <a:r>
              <a:rPr lang="en-US" altLang="zh-CN" sz="1200" dirty="0" err="1"/>
              <a:t>Ztick</a:t>
            </a:r>
            <a:r>
              <a:rPr lang="en-US" altLang="zh-CN" sz="1200" dirty="0"/>
              <a:t>’------</a:t>
            </a:r>
            <a:r>
              <a:rPr lang="zh-CN" altLang="en-US" sz="1200" dirty="0"/>
              <a:t>标度的位置</a:t>
            </a:r>
            <a:r>
              <a:rPr lang="en-US" altLang="zh-CN" sz="1200" dirty="0"/>
              <a:t>,</a:t>
            </a:r>
            <a:r>
              <a:rPr lang="zh-CN" altLang="en-US" sz="1200" dirty="0"/>
              <a:t>值为向量，刻度单位为</a:t>
            </a:r>
            <a:r>
              <a:rPr lang="en-US" altLang="zh-CN" sz="1200" dirty="0"/>
              <a:t>2</a:t>
            </a:r>
            <a:r>
              <a:rPr lang="zh-CN" altLang="en-US" sz="1200" dirty="0"/>
              <a:t>，</a:t>
            </a:r>
            <a:r>
              <a:rPr lang="en-US" altLang="zh-CN" sz="1200" dirty="0"/>
              <a:t>,x</a:t>
            </a:r>
            <a:r>
              <a:rPr lang="zh-CN" altLang="en-US" sz="1200" dirty="0"/>
              <a:t>轴确定等分刻度位置，</a:t>
            </a:r>
          </a:p>
          <a:p>
            <a:pPr marL="0" indent="0">
              <a:buNone/>
            </a:pPr>
            <a:r>
              <a:rPr lang="en-US" altLang="zh-CN" sz="1200" dirty="0"/>
              <a:t>'</a:t>
            </a:r>
            <a:r>
              <a:rPr lang="en-US" altLang="zh-CN" sz="1200" dirty="0" err="1"/>
              <a:t>Xticklabel</a:t>
            </a:r>
            <a:r>
              <a:rPr lang="en-US" altLang="zh-CN" sz="1200" dirty="0"/>
              <a:t>','</a:t>
            </a:r>
            <a:r>
              <a:rPr lang="en-US" altLang="zh-CN" sz="1200" dirty="0" err="1"/>
              <a:t>Yticklabel</a:t>
            </a:r>
            <a:r>
              <a:rPr lang="en-US" altLang="zh-CN" sz="1200" dirty="0"/>
              <a:t>','</a:t>
            </a:r>
            <a:r>
              <a:rPr lang="en-US" altLang="zh-CN" sz="1200" dirty="0" err="1"/>
              <a:t>Zticklabel</a:t>
            </a:r>
            <a:r>
              <a:rPr lang="en-US" altLang="zh-CN" sz="1200" dirty="0"/>
              <a:t>'------</a:t>
            </a:r>
            <a:r>
              <a:rPr lang="zh-CN" altLang="en-US" sz="1200" dirty="0"/>
              <a:t>轴上标度的符号</a:t>
            </a:r>
            <a:r>
              <a:rPr lang="en-US" altLang="zh-CN" sz="1200" dirty="0"/>
              <a:t>,</a:t>
            </a:r>
            <a:r>
              <a:rPr lang="zh-CN" altLang="en-US" sz="1200" dirty="0"/>
              <a:t>它的值为与标度位置向量同样大小</a:t>
            </a:r>
            <a:r>
              <a:rPr lang="en-US" altLang="zh-CN" sz="1200" dirty="0"/>
              <a:t>(</a:t>
            </a:r>
            <a:r>
              <a:rPr lang="zh-CN" altLang="en-US" sz="1200" dirty="0"/>
              <a:t>向量个数相同</a:t>
            </a:r>
            <a:r>
              <a:rPr lang="en-US" altLang="zh-CN" sz="1200" dirty="0"/>
              <a:t>)</a:t>
            </a:r>
            <a:r>
              <a:rPr lang="zh-CN" altLang="en-US" sz="1200" dirty="0"/>
              <a:t>的向量</a:t>
            </a:r>
            <a:r>
              <a:rPr lang="en-US" altLang="zh-CN" sz="1200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48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C2FA86BA-94D4-43BD-8582-8D99D00A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0F3196CB-0228-4B26-A139-519BC6194F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8" y="1460849"/>
            <a:ext cx="8317234" cy="547842"/>
          </a:xfrm>
        </p:spPr>
        <p:txBody>
          <a:bodyPr/>
          <a:lstStyle>
            <a:lvl1pPr marL="0" indent="0">
              <a:buNone/>
              <a:defRPr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D005765-5928-918C-9641-106C51E8BE88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62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81C68-AD67-4B59-A707-20F6CB98CF04}" type="datetime1">
              <a:rPr lang="zh-CN" altLang="en-US"/>
              <a:t>2025/3/18</a:t>
            </a:fld>
            <a:endParaRPr lang="zh-CN" altLang="en-US" sz="180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069A-7361-49F0-82E9-1A201C34E57F}" type="slidenum">
              <a:rPr lang="zh-CN" altLang="en-US"/>
              <a:t>‹#›</a:t>
            </a:fld>
            <a:endParaRPr lang="zh-CN" altLang="en-US" sz="180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C2FA86BA-94D4-43BD-8582-8D99D00A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0F3196CB-0228-4B26-A139-519BC6194F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8" y="1563688"/>
            <a:ext cx="8317234" cy="241221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8668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66" r:id="rId3"/>
    <p:sldLayoutId id="2147483677" r:id="rId4"/>
    <p:sldLayoutId id="2147483678" r:id="rId5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file:///D:\mworks2024\Syslab%202024a\Docs\Help\index.html#/Doc/TyPlot/FormattingandAnnotation/LabelsandAnnotations/legend.html#labels-%E6%A0%87%E7%AD%BE%EF%BC%88%E6%8C%87%E5%AE%9A%E4%B8%BA%E6%95%B0%E7%BB%84%EF%BC%89" TargetMode="External"/><Relationship Id="rId3" Type="http://schemas.openxmlformats.org/officeDocument/2006/relationships/hyperlink" Target="#/Doc/TyPlot/FormattingandAnnotation/LabelsandAnnotations/title.html#title"/><Relationship Id="rId7" Type="http://schemas.openxmlformats.org/officeDocument/2006/relationships/hyperlink" Target="#/Doc/TyPlot/FormattingandAnnotation/LabelsandAnnotations/legend.ht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Plot/FormattingandAnnotation/LabelsandAnnotations/zlabel.html#zlabel"/><Relationship Id="rId5" Type="http://schemas.openxmlformats.org/officeDocument/2006/relationships/hyperlink" Target="#/Doc/TyPlot/FormattingandAnnotation/LabelsandAnnotations/ylabel.html#ylabel"/><Relationship Id="rId4" Type="http://schemas.openxmlformats.org/officeDocument/2006/relationships/hyperlink" Target="#/Doc/TyPlot/FormattingandAnnotation/LabelsandAnnotations/xlabel.html#xlabe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#/Doc/TyPlot/FormattingandAnnotation/AxesAppearance/legend.html#labels-&#26631;&#31614;-&#25351;&#23450;&#20026;&#25968;&#32452;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5.xml"/><Relationship Id="rId5" Type="http://schemas.microsoft.com/office/2007/relationships/hdphoto" Target="../media/hdphoto2.wdp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#/Doc/TyPlot/FormattingandAnnotation/AxesAppearance/hold.html#ax-&#30446;&#26631;&#22352;&#26631;&#21306;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11760" y="685023"/>
            <a:ext cx="5784588" cy="58477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altLang="zh-CN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 </a:t>
            </a:r>
            <a:r>
              <a:rPr lang="zh-CN" altLang="en-US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绘图的基础知识</a:t>
            </a:r>
            <a:endParaRPr lang="en-US" altLang="zh-CN" sz="3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536" y="1312491"/>
            <a:ext cx="82802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eaLnBrk="1" hangingPunct="1">
              <a:buNone/>
            </a:pPr>
            <a:r>
              <a:rPr lang="zh-CN" altLang="en-US" sz="28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以最基本、最常见的二维绘图</a:t>
            </a:r>
            <a:r>
              <a:rPr lang="en-US" altLang="zh-CN" sz="28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plot</a:t>
            </a:r>
            <a:r>
              <a:rPr lang="zh-CN" altLang="en-US" sz="28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为基础</a:t>
            </a:r>
            <a:endParaRPr lang="en-US" altLang="zh-CN" sz="2800" b="1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8260" y="1779662"/>
            <a:ext cx="4815794" cy="27970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 3.2.1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绘图步骤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 3.2.2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图形标注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 3.2.3 hold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叠加图形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 3.2.4 subplot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创建多子图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 3.2.5 axis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设置坐标轴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F68ED9-17A4-03BA-7279-C2E8A49F3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256" y="2011038"/>
            <a:ext cx="3801949" cy="26719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4885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38784" y="3445858"/>
            <a:ext cx="8896787" cy="1178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ts val="2900"/>
              </a:lnSpc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用绘图函数如</a:t>
            </a:r>
            <a:r>
              <a:rPr lang="en-US" altLang="zh-CN" b="1" kern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plot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en-US" altLang="zh-CN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x,y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离散数据点连接成线；</a:t>
            </a:r>
            <a:endParaRPr lang="en-US" altLang="zh-CN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>
              <a:lnSpc>
                <a:spcPts val="2900"/>
              </a:lnSpc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添加坐标轴标注、图例、文本标注等图形标注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；</a:t>
            </a:r>
            <a:endParaRPr lang="en-US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>
              <a:lnSpc>
                <a:spcPts val="2900"/>
              </a:lnSpc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调整坐标大小</a:t>
            </a:r>
            <a:endParaRPr lang="en-US" altLang="zh-CN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3C89C0-0635-49E9-A29F-CF81882CB7E2}"/>
              </a:ext>
            </a:extLst>
          </p:cNvPr>
          <p:cNvSpPr/>
          <p:nvPr/>
        </p:nvSpPr>
        <p:spPr>
          <a:xfrm>
            <a:off x="335969" y="1166913"/>
            <a:ext cx="5748199" cy="769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Font typeface="Wingdings" panose="05000000000000000000" pitchFamily="2" charset="2"/>
              <a:buChar char="l"/>
            </a:pPr>
            <a:r>
              <a:rPr lang="zh-CN" altLang="en-US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读取离散数据：读取当前目录下表格数据</a:t>
            </a:r>
            <a:endParaRPr lang="en-US" altLang="zh-CN" b="1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表格列向量数据</a:t>
            </a:r>
            <a:r>
              <a:rPr lang="en-US" altLang="zh-CN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x=</a:t>
            </a:r>
            <a:r>
              <a:rPr lang="en-US" altLang="zh-CN" b="1" kern="0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xy</a:t>
            </a:r>
            <a:r>
              <a:rPr lang="en-US" altLang="zh-CN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[:,1],y=</a:t>
            </a:r>
            <a:r>
              <a:rPr lang="en-US" altLang="zh-CN" b="1" kern="0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xy</a:t>
            </a:r>
            <a:r>
              <a:rPr lang="en-US" altLang="zh-CN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[:,2] </a:t>
            </a:r>
            <a:r>
              <a:rPr lang="zh-CN" altLang="en-US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作为</a:t>
            </a:r>
            <a:r>
              <a:rPr lang="en-US" altLang="zh-CN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轴和</a:t>
            </a:r>
            <a:r>
              <a:rPr lang="en-US" altLang="zh-CN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zh-CN" altLang="en-US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轴数据</a:t>
            </a:r>
            <a:endParaRPr lang="en-US" altLang="zh-CN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32C9547E-7EB4-4E18-ABB0-1BC30ACF0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831" y="2688975"/>
            <a:ext cx="3803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rgbClr val="FF5050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3600">
                <a:solidFill>
                  <a:srgbClr val="FF5050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3600">
                <a:solidFill>
                  <a:srgbClr val="FF5050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3600">
                <a:solidFill>
                  <a:srgbClr val="FF5050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3600">
                <a:solidFill>
                  <a:srgbClr val="FF5050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5050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5050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5050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5050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x1</a:t>
            </a:r>
            <a:r>
              <a:rPr lang="zh-CN" altLang="en-US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起始值</a:t>
            </a:r>
            <a:r>
              <a:rPr lang="en-US" altLang="zh-CN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,h</a:t>
            </a:r>
            <a:r>
              <a:rPr lang="zh-CN" altLang="en-US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步长</a:t>
            </a:r>
            <a:r>
              <a:rPr lang="en-US" altLang="zh-CN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,x2</a:t>
            </a:r>
            <a:r>
              <a:rPr lang="zh-CN" altLang="en-US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终止值</a:t>
            </a:r>
            <a:r>
              <a:rPr lang="en-US" altLang="zh-CN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,n</a:t>
            </a:r>
            <a:r>
              <a:rPr lang="zh-CN" altLang="en-US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个元素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AF78AF-E4EE-49D5-97A9-23185B53D8B7}"/>
              </a:ext>
            </a:extLst>
          </p:cNvPr>
          <p:cNvSpPr/>
          <p:nvPr/>
        </p:nvSpPr>
        <p:spPr>
          <a:xfrm>
            <a:off x="914758" y="2719753"/>
            <a:ext cx="992946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x1 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x2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2ADC07-72EF-47AB-88C1-909C7A414BAC}"/>
              </a:ext>
            </a:extLst>
          </p:cNvPr>
          <p:cNvSpPr/>
          <p:nvPr/>
        </p:nvSpPr>
        <p:spPr>
          <a:xfrm>
            <a:off x="287671" y="1891398"/>
            <a:ext cx="8699603" cy="159806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函数表达式数值化</a:t>
            </a:r>
            <a:r>
              <a:rPr lang="en-US" altLang="zh-CN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y=f(x)=expression</a:t>
            </a:r>
            <a:r>
              <a:rPr lang="zh-CN" altLang="en-US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b="1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lphaLcParenR"/>
            </a:pPr>
            <a:r>
              <a:rPr lang="zh-CN" altLang="en-US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先将自变量</a:t>
            </a:r>
            <a:r>
              <a:rPr lang="en-US" altLang="zh-CN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离散成线性等分向量</a:t>
            </a:r>
            <a:endParaRPr lang="en-US" altLang="zh-CN" b="1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lphaLcParenR"/>
            </a:pPr>
            <a:endParaRPr lang="en-US" altLang="zh-CN" b="1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lphaLcParenR"/>
            </a:pPr>
            <a:r>
              <a:rPr lang="zh-CN" altLang="en-US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求因变量</a:t>
            </a:r>
            <a:r>
              <a:rPr lang="en-US" altLang="zh-CN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zh-CN" altLang="en-US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值可通过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函数点运算或点调用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@. 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获得</a:t>
            </a:r>
            <a:endParaRPr lang="en-US" altLang="zh-CN" b="1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134403-A5DA-4292-B0C7-A3133C2CE06E}"/>
              </a:ext>
            </a:extLst>
          </p:cNvPr>
          <p:cNvSpPr/>
          <p:nvPr/>
        </p:nvSpPr>
        <p:spPr>
          <a:xfrm>
            <a:off x="2261176" y="2715766"/>
            <a:ext cx="1806768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kern="0" dirty="0" err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LinRange</a:t>
            </a: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(x1,x2,n) </a:t>
            </a:r>
            <a:endParaRPr lang="zh-CN" altLang="en-US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6CA6BA-6BF1-4E9C-918E-D8C70FEC7F76}"/>
              </a:ext>
            </a:extLst>
          </p:cNvPr>
          <p:cNvSpPr/>
          <p:nvPr/>
        </p:nvSpPr>
        <p:spPr>
          <a:xfrm>
            <a:off x="171782" y="699542"/>
            <a:ext cx="4908784" cy="4472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获取离散数据</a:t>
            </a:r>
            <a:r>
              <a:rPr lang="en-US" altLang="zh-CN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en-US" altLang="zh-CN" b="1" kern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x,y</a:t>
            </a:r>
            <a:r>
              <a:rPr lang="en-US" altLang="zh-CN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的两种方法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9ADF4B-D52C-C7E2-FC8A-09A53EB8AB12}"/>
              </a:ext>
            </a:extLst>
          </p:cNvPr>
          <p:cNvSpPr/>
          <p:nvPr/>
        </p:nvSpPr>
        <p:spPr>
          <a:xfrm>
            <a:off x="4906679" y="1178226"/>
            <a:ext cx="2577121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kern="0" dirty="0" err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xy</a:t>
            </a:r>
            <a:r>
              <a:rPr lang="zh-CN" altLang="zh-CN" sz="1600" b="1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 readtable(</a:t>
            </a:r>
            <a:r>
              <a:rPr lang="zh-CN" altLang="en-US" sz="1600" b="1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</a:t>
            </a:r>
            <a:r>
              <a:rPr lang="zh-CN" altLang="zh-CN" sz="1600" b="1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filename</a:t>
            </a:r>
            <a:r>
              <a:rPr lang="zh-CN" altLang="en-US" sz="1600" b="1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</a:t>
            </a:r>
            <a:r>
              <a:rPr lang="zh-CN" altLang="zh-CN" sz="1600" b="1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endParaRPr lang="zh-CN" altLang="en-US" sz="1600" b="1" kern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A75F23-3CBB-C68D-C4A3-45ADB4548A91}"/>
              </a:ext>
            </a:extLst>
          </p:cNvPr>
          <p:cNvSpPr txBox="1"/>
          <p:nvPr/>
        </p:nvSpPr>
        <p:spPr>
          <a:xfrm>
            <a:off x="1327470" y="112748"/>
            <a:ext cx="6542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§3.2.1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绘图步骤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离散数据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绘图步骤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413A6A-10C6-400D-ADD9-9C902A0127DB}"/>
              </a:ext>
            </a:extLst>
          </p:cNvPr>
          <p:cNvSpPr/>
          <p:nvPr/>
        </p:nvSpPr>
        <p:spPr>
          <a:xfrm>
            <a:off x="3891233" y="755249"/>
            <a:ext cx="1015446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plot( 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x,y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 </a:t>
            </a: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9C0F302C-8884-4D7D-84D9-63BE7A5AA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4705" y="4189456"/>
            <a:ext cx="1182495" cy="578894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rgbClr val="FFFF00"/>
                </a:solidFill>
              </a:rPr>
              <a:t>注意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3C971E-1223-44B0-A94D-720856168B79}"/>
              </a:ext>
            </a:extLst>
          </p:cNvPr>
          <p:cNvSpPr/>
          <p:nvPr/>
        </p:nvSpPr>
        <p:spPr>
          <a:xfrm>
            <a:off x="7683622" y="3199371"/>
            <a:ext cx="1152128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f.(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赋值的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x)</a:t>
            </a:r>
            <a:endParaRPr lang="zh-CN" altLang="en-US" sz="1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0B5EC8-202E-4798-96D9-906EFB307B53}"/>
              </a:ext>
            </a:extLst>
          </p:cNvPr>
          <p:cNvSpPr/>
          <p:nvPr/>
        </p:nvSpPr>
        <p:spPr>
          <a:xfrm>
            <a:off x="7532097" y="3634848"/>
            <a:ext cx="1455177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@.expression</a:t>
            </a:r>
            <a:endParaRPr lang="zh-CN" altLang="en-US" sz="1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6B2F27D-8740-480C-8760-758DC04BEDC6}"/>
              </a:ext>
            </a:extLst>
          </p:cNvPr>
          <p:cNvSpPr txBox="1"/>
          <p:nvPr/>
        </p:nvSpPr>
        <p:spPr>
          <a:xfrm>
            <a:off x="6430991" y="3216766"/>
            <a:ext cx="12373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函数点运算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414DC2-EA70-4789-8CB5-A183DB806977}"/>
              </a:ext>
            </a:extLst>
          </p:cNvPr>
          <p:cNvSpPr txBox="1"/>
          <p:nvPr/>
        </p:nvSpPr>
        <p:spPr>
          <a:xfrm>
            <a:off x="6397326" y="3618894"/>
            <a:ext cx="1086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@.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点调用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6A69FD-6447-4811-AA87-3B26D9C07698}"/>
              </a:ext>
            </a:extLst>
          </p:cNvPr>
          <p:cNvSpPr txBox="1"/>
          <p:nvPr/>
        </p:nvSpPr>
        <p:spPr>
          <a:xfrm>
            <a:off x="4118600" y="4268619"/>
            <a:ext cx="504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除了函数点运算和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LinRange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不同，其它</a:t>
            </a:r>
            <a:r>
              <a:rPr lang="en-US" altLang="zh-CN" sz="1600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MATLB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接近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841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2" grpId="0" animBg="1"/>
      <p:bldP spid="14" grpId="0" animBg="1"/>
      <p:bldP spid="15" grpId="0" animBg="1"/>
      <p:bldP spid="17" grpId="0" animBg="1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3E3E907-7032-52B2-901B-5F85BF2CDECC}"/>
              </a:ext>
            </a:extLst>
          </p:cNvPr>
          <p:cNvSpPr/>
          <p:nvPr/>
        </p:nvSpPr>
        <p:spPr>
          <a:xfrm>
            <a:off x="89606" y="672098"/>
            <a:ext cx="1830689" cy="4131900"/>
          </a:xfrm>
          <a:prstGeom prst="rect">
            <a:avLst/>
          </a:prstGeom>
          <a:solidFill>
            <a:schemeClr val="accent1">
              <a:lumMod val="50000"/>
              <a:alpha val="8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>
            <a:spAutoFit/>
          </a:bodyPr>
          <a:lstStyle/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角度</a:t>
            </a: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             </a:t>
            </a:r>
            <a:r>
              <a:rPr lang="zh-CN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强度</a:t>
            </a:r>
            <a:endParaRPr lang="en-US" altLang="zh-CN" sz="1200" b="1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38.025	      221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38.075	      267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38.125	      318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38.175	      487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38.225	      815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38.275	      1502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38.325	      3162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38.375	      6207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38.425	      8414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38.475	      8156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38.525	      5975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38.575	      3473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38.625	      1601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38.675	      710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38.725	      386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38.775	      325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38.825	      247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38.875	      232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38.925	      207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38.975	     182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685800"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39.025 </a:t>
            </a:r>
            <a:endParaRPr lang="ko-KR" alt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212A5CF-D936-E746-2F5D-F1EF3B4BDB78}"/>
              </a:ext>
            </a:extLst>
          </p:cNvPr>
          <p:cNvCxnSpPr/>
          <p:nvPr/>
        </p:nvCxnSpPr>
        <p:spPr bwMode="auto">
          <a:xfrm>
            <a:off x="827584" y="593252"/>
            <a:ext cx="0" cy="41218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BEC2B50-6793-2649-B86C-4C620086797C}"/>
              </a:ext>
            </a:extLst>
          </p:cNvPr>
          <p:cNvCxnSpPr/>
          <p:nvPr/>
        </p:nvCxnSpPr>
        <p:spPr bwMode="auto">
          <a:xfrm>
            <a:off x="1901409" y="683648"/>
            <a:ext cx="30070" cy="397466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910824AD-1EA7-F9F4-1210-A0956C790D53}"/>
              </a:ext>
            </a:extLst>
          </p:cNvPr>
          <p:cNvSpPr/>
          <p:nvPr/>
        </p:nvSpPr>
        <p:spPr>
          <a:xfrm>
            <a:off x="572038" y="597489"/>
            <a:ext cx="348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x</a:t>
            </a:r>
            <a:endParaRPr lang="zh-CN" altLang="en-US" b="1" dirty="0">
              <a:solidFill>
                <a:srgbClr val="FFFF00"/>
              </a:solidFill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A69996-090B-05BC-AA62-CEE90A693304}"/>
              </a:ext>
            </a:extLst>
          </p:cNvPr>
          <p:cNvSpPr/>
          <p:nvPr/>
        </p:nvSpPr>
        <p:spPr>
          <a:xfrm>
            <a:off x="1573308" y="593252"/>
            <a:ext cx="348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y</a:t>
            </a:r>
            <a:endParaRPr lang="zh-CN" altLang="en-US" b="1" dirty="0">
              <a:solidFill>
                <a:srgbClr val="FFFF00"/>
              </a:solidFill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9A438B32-9D36-B9D7-A26E-9F6D5B702882}"/>
              </a:ext>
            </a:extLst>
          </p:cNvPr>
          <p:cNvSpPr txBox="1">
            <a:spLocks/>
          </p:cNvSpPr>
          <p:nvPr/>
        </p:nvSpPr>
        <p:spPr>
          <a:xfrm>
            <a:off x="2665545" y="777918"/>
            <a:ext cx="5098815" cy="56614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dist"/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绘制复合材料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XRD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离散试验数据曲线</a:t>
            </a:r>
          </a:p>
        </p:txBody>
      </p:sp>
      <p:sp>
        <p:nvSpPr>
          <p:cNvPr id="21" name="波形 20">
            <a:extLst>
              <a:ext uri="{FF2B5EF4-FFF2-40B4-BE49-F238E27FC236}">
                <a16:creationId xmlns:a16="http://schemas.microsoft.com/office/drawing/2014/main" id="{B567C481-C6DB-1A7D-4F7A-C3870B3C3FE4}"/>
              </a:ext>
            </a:extLst>
          </p:cNvPr>
          <p:cNvSpPr/>
          <p:nvPr/>
        </p:nvSpPr>
        <p:spPr>
          <a:xfrm flipH="1">
            <a:off x="2163515" y="843557"/>
            <a:ext cx="462591" cy="27158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例1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14F6D2F-8803-4D28-AEF9-BBD94F32D29D}"/>
              </a:ext>
            </a:extLst>
          </p:cNvPr>
          <p:cNvSpPr txBox="1"/>
          <p:nvPr/>
        </p:nvSpPr>
        <p:spPr>
          <a:xfrm>
            <a:off x="1747794" y="98873"/>
            <a:ext cx="6492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§3.2.1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绘图步骤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离散数据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绘图步骤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3CCDFD-EA2F-40FB-20BB-6DA00C5337E1}"/>
              </a:ext>
            </a:extLst>
          </p:cNvPr>
          <p:cNvSpPr/>
          <p:nvPr/>
        </p:nvSpPr>
        <p:spPr>
          <a:xfrm>
            <a:off x="2135601" y="1151487"/>
            <a:ext cx="6682362" cy="3454792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contourClr>
              <a:srgbClr val="000000"/>
            </a:contourClr>
          </a:sp3d>
        </p:spPr>
        <p:txBody>
          <a:bodyPr vert="horz" wrap="square" lIns="68580" tIns="34290" rIns="68580" bIns="34290" numCol="1" anchor="t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读取实验数据 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xrd1=</a:t>
            </a: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readtable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"xrd.txt"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从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xrd1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表格中抽取第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列数据为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x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轴值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x = xrd1[:, 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从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xrd1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表格中抽取第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列数据为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y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轴值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y = xrd1[:, 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plot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(x, y, 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"-*"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绘制曲线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xlabel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"2</a:t>
            </a:r>
            <a:r>
              <a:rPr lang="el-GR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θ,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deg"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#x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轴标注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ylabel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Intensity,cps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dim = [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0.38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0.82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0.15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0.1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注释图形位置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annotation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"ellipse"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 dim); 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椭圆注释图形位置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8A639A8-7D82-51C6-1C62-C9CFDBADB1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27344"/>
              </p:ext>
            </p:extLst>
          </p:nvPr>
        </p:nvGraphicFramePr>
        <p:xfrm>
          <a:off x="7513638" y="738188"/>
          <a:ext cx="13970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" name="包装程序外壳对象" showAsIcon="1" r:id="rId4" imgW="1066899" imgH="914532" progId="Package">
                  <p:embed/>
                </p:oleObj>
              </mc:Choice>
              <mc:Fallback>
                <p:oleObj name="包装程序外壳对象" showAsIcon="1" r:id="rId4" imgW="1066899" imgH="914532" progId="Package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39B4989-818E-40A4-93A8-6C796CE75F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13638" y="738188"/>
                        <a:ext cx="1397000" cy="1196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A540BB65-9EB3-436C-9847-6CE17C0107F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962" t="12228" r="30312" b="4468"/>
          <a:stretch/>
        </p:blipFill>
        <p:spPr>
          <a:xfrm>
            <a:off x="6687307" y="2054312"/>
            <a:ext cx="2321789" cy="165528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776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43649DC3-4E52-CC09-7C0F-146577354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7" y="1133005"/>
            <a:ext cx="4872340" cy="3017879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571500" marR="0" lvl="0" indent="-571500" algn="l" defTabSz="0" rtl="0" eaLnBrk="1" fontAlgn="base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图形标题用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haroni" panose="02010803020104030203" pitchFamily="2" charset="-79"/>
                <a:sym typeface="Arial" panose="020B0604020202020204" pitchFamily="34" charset="0"/>
              </a:rPr>
              <a:t>title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标注为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Ti</a:t>
            </a:r>
            <a:r>
              <a:rPr lang="en-US" altLang="zh-CN" sz="1800" b="1" kern="0" baseline="-25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5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Si</a:t>
            </a:r>
            <a:r>
              <a:rPr lang="en-US" altLang="zh-CN" sz="1800" b="1" kern="0" baseline="-25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3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/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TiAl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两种多孔材料应变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-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应力曲线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;</a:t>
            </a:r>
          </a:p>
          <a:p>
            <a:pPr marL="571500" marR="0" lvl="0" indent="-571500" algn="l" defTabSz="0" rtl="0" eaLnBrk="1" fontAlgn="base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坐标轴分别用</a:t>
            </a:r>
            <a:r>
              <a:rPr lang="en-US" altLang="zh-CN" sz="1800" b="1" dirty="0" err="1">
                <a:solidFill>
                  <a:srgbClr val="21A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10803020104030203" pitchFamily="2" charset="-79"/>
              </a:rPr>
              <a:t>xlabel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1800" b="1" dirty="0" err="1">
                <a:solidFill>
                  <a:srgbClr val="21A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10803020104030203" pitchFamily="2" charset="-79"/>
              </a:rPr>
              <a:t>ylabel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标注为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,%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和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σ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1A4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,MPa.</a:t>
            </a:r>
          </a:p>
          <a:p>
            <a:pPr marL="571500" indent="-571500" eaLnBrk="1" hangingPunct="1">
              <a:lnSpc>
                <a:spcPts val="3200"/>
              </a:lnSpc>
              <a:buFont typeface="+mj-lt"/>
              <a:buAutoNum type="romanUcPeriod"/>
              <a:defRPr/>
            </a:pPr>
            <a:r>
              <a:rPr lang="zh-CN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图例</a:t>
            </a:r>
            <a:r>
              <a:rPr lang="en-US" altLang="zh-CN" sz="1800" b="1" dirty="0">
                <a:solidFill>
                  <a:srgbClr val="21A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10803020104030203" pitchFamily="2" charset="-79"/>
              </a:rPr>
              <a:t>legend</a:t>
            </a:r>
            <a:r>
              <a:rPr lang="zh-CN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标注不同颜色曲线</a:t>
            </a:r>
            <a:endParaRPr lang="en-US" altLang="zh-CN" sz="18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71500" marR="0" lvl="0" indent="-571500" algn="l" defTabSz="0" rtl="0" eaLnBrk="1" fontAlgn="base" latinLnBrk="0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en-US" altLang="zh-CN" sz="1800" b="1" dirty="0">
                <a:solidFill>
                  <a:srgbClr val="21A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10803020104030203" pitchFamily="2" charset="-79"/>
              </a:rPr>
              <a:t>text</a:t>
            </a:r>
            <a:r>
              <a:rPr lang="zh-CN" altLang="en-US" sz="1800" b="1" dirty="0">
                <a:solidFill>
                  <a:srgbClr val="21A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10803020104030203" pitchFamily="2" charset="-79"/>
              </a:rPr>
              <a:t>标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.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%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Ti5Si3/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TiAl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最大应力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571500" marR="0" lvl="0" indent="-571500" algn="l" defTabSz="0" rtl="0" eaLnBrk="1" fontAlgn="base" latinLnBrk="0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en-US" altLang="zh-CN" sz="1800" b="1" dirty="0">
                <a:solidFill>
                  <a:srgbClr val="21A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10803020104030203" pitchFamily="2" charset="-79"/>
              </a:rPr>
              <a:t>gtext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标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.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%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Ti5Si3/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TiAl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最大应力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571500" marR="0" lvl="0" indent="-571500" algn="l" defTabSz="0" rtl="0" eaLnBrk="1" fontAlgn="base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用</a:t>
            </a:r>
            <a:r>
              <a:rPr lang="en-US" altLang="zh-CN" sz="1800" b="1" dirty="0">
                <a:solidFill>
                  <a:srgbClr val="21A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10803020104030203" pitchFamily="2" charset="-79"/>
              </a:rPr>
              <a:t>axis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调整坐标系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177C57-5F36-0CEA-B14F-3A12A09E4BE4}"/>
              </a:ext>
            </a:extLst>
          </p:cNvPr>
          <p:cNvSpPr txBox="1"/>
          <p:nvPr/>
        </p:nvSpPr>
        <p:spPr>
          <a:xfrm>
            <a:off x="1439908" y="40721"/>
            <a:ext cx="694851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§3.2.2 </a:t>
            </a:r>
            <a:r>
              <a:rPr lang="zh-CN" altLang="en-US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图形标签和注释</a:t>
            </a:r>
            <a:r>
              <a:rPr lang="en-US" altLang="zh-CN" sz="30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0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标注案例 </a:t>
            </a:r>
            <a:endParaRPr lang="en-US" altLang="zh-CN" sz="3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波形 18">
            <a:extLst>
              <a:ext uri="{FF2B5EF4-FFF2-40B4-BE49-F238E27FC236}">
                <a16:creationId xmlns:a16="http://schemas.microsoft.com/office/drawing/2014/main" id="{23AFC064-B974-D720-58ED-8FF328C2CD7C}"/>
              </a:ext>
            </a:extLst>
          </p:cNvPr>
          <p:cNvSpPr/>
          <p:nvPr/>
        </p:nvSpPr>
        <p:spPr>
          <a:xfrm>
            <a:off x="54170" y="696334"/>
            <a:ext cx="701405" cy="38377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marL="0" marR="0" lvl="0" indent="0" algn="ctr" defTabSz="914400" rtl="0" eaLnBrk="0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A7239C-E1F7-8714-FAB6-949BE7A25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524" y="1324850"/>
            <a:ext cx="4599012" cy="2913267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75865BA-CB85-C50D-5FE1-ED83DC938BED}"/>
              </a:ext>
            </a:extLst>
          </p:cNvPr>
          <p:cNvSpPr/>
          <p:nvPr/>
        </p:nvSpPr>
        <p:spPr>
          <a:xfrm>
            <a:off x="7254480" y="1610491"/>
            <a:ext cx="4067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80"/>
                </a:highligh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文本</a:t>
            </a:r>
            <a:r>
              <a:rPr lang="zh-CN" altLang="en-US" sz="1400" dirty="0">
                <a:solidFill>
                  <a:srgbClr val="FFFF00"/>
                </a:solidFill>
                <a:highlight>
                  <a:srgbClr val="00008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注释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highlight>
                <a:srgbClr val="000080"/>
              </a:highligh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302E4F-38EB-2CD0-1714-7B1F141FF656}"/>
              </a:ext>
            </a:extLst>
          </p:cNvPr>
          <p:cNvSpPr/>
          <p:nvPr/>
        </p:nvSpPr>
        <p:spPr>
          <a:xfrm>
            <a:off x="8343667" y="2137227"/>
            <a:ext cx="5610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80"/>
                </a:highligh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图例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EB0840-C0FF-0FCD-0F98-9F4251595813}"/>
              </a:ext>
            </a:extLst>
          </p:cNvPr>
          <p:cNvSpPr/>
          <p:nvPr/>
        </p:nvSpPr>
        <p:spPr>
          <a:xfrm rot="2180503">
            <a:off x="5489619" y="3318265"/>
            <a:ext cx="1354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80"/>
                </a:highligh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坐标轴标注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highlight>
                <a:srgbClr val="000080"/>
              </a:highligh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70521C-18EF-C444-9BA7-C04CEF223BF2}"/>
              </a:ext>
            </a:extLst>
          </p:cNvPr>
          <p:cNvSpPr/>
          <p:nvPr/>
        </p:nvSpPr>
        <p:spPr>
          <a:xfrm>
            <a:off x="5039139" y="1167554"/>
            <a:ext cx="3516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FF00"/>
                </a:solidFill>
                <a:highlight>
                  <a:srgbClr val="00008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标题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E40210AA-08AF-7B5A-3707-FEE3C4C7288F}"/>
              </a:ext>
            </a:extLst>
          </p:cNvPr>
          <p:cNvSpPr/>
          <p:nvPr/>
        </p:nvSpPr>
        <p:spPr>
          <a:xfrm>
            <a:off x="5632452" y="1300574"/>
            <a:ext cx="3242476" cy="277290"/>
          </a:xfrm>
          <a:prstGeom prst="wedgeRoundRectCallout">
            <a:avLst>
              <a:gd name="adj1" fmla="val -60012"/>
              <a:gd name="adj2" fmla="val 14234"/>
              <a:gd name="adj3" fmla="val 16667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2" name="对话气泡: 椭圆形 11">
            <a:extLst>
              <a:ext uri="{FF2B5EF4-FFF2-40B4-BE49-F238E27FC236}">
                <a16:creationId xmlns:a16="http://schemas.microsoft.com/office/drawing/2014/main" id="{EDBD9B99-8974-A699-330F-E08F902D47EA}"/>
              </a:ext>
            </a:extLst>
          </p:cNvPr>
          <p:cNvSpPr/>
          <p:nvPr/>
        </p:nvSpPr>
        <p:spPr>
          <a:xfrm>
            <a:off x="4789509" y="2195266"/>
            <a:ext cx="351696" cy="1008112"/>
          </a:xfrm>
          <a:prstGeom prst="wedgeEllipseCallout">
            <a:avLst>
              <a:gd name="adj1" fmla="val 189952"/>
              <a:gd name="adj2" fmla="val 43465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3" name="对话气泡: 椭圆形 12">
            <a:extLst>
              <a:ext uri="{FF2B5EF4-FFF2-40B4-BE49-F238E27FC236}">
                <a16:creationId xmlns:a16="http://schemas.microsoft.com/office/drawing/2014/main" id="{B044A0D2-E7C0-EC1F-34C4-B6DCBC9BB6EE}"/>
              </a:ext>
            </a:extLst>
          </p:cNvPr>
          <p:cNvSpPr/>
          <p:nvPr/>
        </p:nvSpPr>
        <p:spPr>
          <a:xfrm>
            <a:off x="6878740" y="3971263"/>
            <a:ext cx="727996" cy="320905"/>
          </a:xfrm>
          <a:prstGeom prst="wedgeEllipseCallout">
            <a:avLst>
              <a:gd name="adj1" fmla="val -127377"/>
              <a:gd name="adj2" fmla="val -135047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4" name="对话气泡: 椭圆形 13">
            <a:extLst>
              <a:ext uri="{FF2B5EF4-FFF2-40B4-BE49-F238E27FC236}">
                <a16:creationId xmlns:a16="http://schemas.microsoft.com/office/drawing/2014/main" id="{93A1791D-62EC-910E-6AA3-0D8A8A964DCD}"/>
              </a:ext>
            </a:extLst>
          </p:cNvPr>
          <p:cNvSpPr/>
          <p:nvPr/>
        </p:nvSpPr>
        <p:spPr>
          <a:xfrm>
            <a:off x="5815859" y="2013882"/>
            <a:ext cx="1591134" cy="400110"/>
          </a:xfrm>
          <a:prstGeom prst="wedgeEllipseCallout">
            <a:avLst>
              <a:gd name="adj1" fmla="val 46044"/>
              <a:gd name="adj2" fmla="val -58897"/>
            </a:avLst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15" name="对象 14">
            <a:hlinkClick r:id="" action="ppaction://ole?verb=1"/>
            <a:extLst>
              <a:ext uri="{FF2B5EF4-FFF2-40B4-BE49-F238E27FC236}">
                <a16:creationId xmlns:a16="http://schemas.microsoft.com/office/drawing/2014/main" id="{6061CCC8-F198-B184-158A-9847F2E305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129690"/>
              </p:ext>
            </p:extLst>
          </p:nvPr>
        </p:nvGraphicFramePr>
        <p:xfrm>
          <a:off x="8398442" y="3881916"/>
          <a:ext cx="864096" cy="74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" name="Worksheet" showAsIcon="1" r:id="rId5" imgW="1066899" imgH="914532" progId="Excel.Sheet.12">
                  <p:embed/>
                </p:oleObj>
              </mc:Choice>
              <mc:Fallback>
                <p:oleObj name="Worksheet" showAsIcon="1" r:id="rId5" imgW="1066899" imgH="914532" progId="Excel.Sheet.12">
                  <p:embed/>
                  <p:pic>
                    <p:nvPicPr>
                      <p:cNvPr id="18" name="对象 17">
                        <a:hlinkClick r:id="" action="ppaction://ole?verb=1"/>
                        <a:extLst>
                          <a:ext uri="{FF2B5EF4-FFF2-40B4-BE49-F238E27FC236}">
                            <a16:creationId xmlns:a16="http://schemas.microsoft.com/office/drawing/2014/main" id="{D5F12638-987E-9AE3-A53B-EBD706A070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98442" y="3881916"/>
                        <a:ext cx="864096" cy="740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对话气泡: 椭圆形 15">
            <a:extLst>
              <a:ext uri="{FF2B5EF4-FFF2-40B4-BE49-F238E27FC236}">
                <a16:creationId xmlns:a16="http://schemas.microsoft.com/office/drawing/2014/main" id="{A253C0C9-09E6-499E-81E3-CF122CB881A7}"/>
              </a:ext>
            </a:extLst>
          </p:cNvPr>
          <p:cNvSpPr/>
          <p:nvPr/>
        </p:nvSpPr>
        <p:spPr>
          <a:xfrm>
            <a:off x="7872600" y="1674424"/>
            <a:ext cx="1152415" cy="359361"/>
          </a:xfrm>
          <a:prstGeom prst="wedgeEllipseCallout">
            <a:avLst>
              <a:gd name="adj1" fmla="val 18363"/>
              <a:gd name="adj2" fmla="val 95838"/>
            </a:avLst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0" name="对话气泡: 椭圆形 19">
            <a:extLst>
              <a:ext uri="{FF2B5EF4-FFF2-40B4-BE49-F238E27FC236}">
                <a16:creationId xmlns:a16="http://schemas.microsoft.com/office/drawing/2014/main" id="{5BA0A2C6-4388-40FE-BE51-29EAB0641E1B}"/>
              </a:ext>
            </a:extLst>
          </p:cNvPr>
          <p:cNvSpPr/>
          <p:nvPr/>
        </p:nvSpPr>
        <p:spPr>
          <a:xfrm>
            <a:off x="5882597" y="1622764"/>
            <a:ext cx="957618" cy="359360"/>
          </a:xfrm>
          <a:prstGeom prst="wedgeEllipseCallout">
            <a:avLst>
              <a:gd name="adj1" fmla="val 102316"/>
              <a:gd name="adj2" fmla="val 35020"/>
            </a:avLst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2" name="AutoShape 13">
            <a:extLst>
              <a:ext uri="{FF2B5EF4-FFF2-40B4-BE49-F238E27FC236}">
                <a16:creationId xmlns:a16="http://schemas.microsoft.com/office/drawing/2014/main" id="{C5445DF6-431F-4988-8568-39DF8179A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798" y="4150884"/>
            <a:ext cx="1096738" cy="657366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86F48FBE-B08F-4E12-97FF-D008CA860A3A}"/>
              </a:ext>
            </a:extLst>
          </p:cNvPr>
          <p:cNvSpPr txBox="1">
            <a:spLocks/>
          </p:cNvSpPr>
          <p:nvPr/>
        </p:nvSpPr>
        <p:spPr>
          <a:xfrm>
            <a:off x="755575" y="696334"/>
            <a:ext cx="8303139" cy="38377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dist"/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1.2%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3.6%Ti</a:t>
            </a:r>
            <a:r>
              <a:rPr lang="en-US" altLang="zh-CN" sz="2000" b="1" kern="0" baseline="-25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en-US" altLang="zh-CN" sz="2000" b="1" kern="0" baseline="-25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</a:t>
            </a:r>
            <a:r>
              <a:rPr lang="en-US" altLang="zh-CN" sz="20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TiAl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多孔复合材料应力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应变压缩曲线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1D0051-9143-4B66-B3AC-8F260E815182}"/>
              </a:ext>
            </a:extLst>
          </p:cNvPr>
          <p:cNvSpPr txBox="1"/>
          <p:nvPr/>
        </p:nvSpPr>
        <p:spPr>
          <a:xfrm>
            <a:off x="4035795" y="4280744"/>
            <a:ext cx="4885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标注图形的文字使用字符串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一定用双引号“”</a:t>
            </a:r>
          </a:p>
        </p:txBody>
      </p:sp>
    </p:spTree>
    <p:extLst>
      <p:ext uri="{BB962C8B-B14F-4D97-AF65-F5344CB8AC3E}">
        <p14:creationId xmlns:p14="http://schemas.microsoft.com/office/powerpoint/2010/main" val="429120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6" grpId="0" animBg="1"/>
      <p:bldP spid="20" grpId="0" animBg="1"/>
      <p:bldP spid="22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4">
            <a:extLst>
              <a:ext uri="{FF2B5EF4-FFF2-40B4-BE49-F238E27FC236}">
                <a16:creationId xmlns:a16="http://schemas.microsoft.com/office/drawing/2014/main" id="{5041A6F5-6A82-E5BE-E6B5-677013F416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8237581"/>
              </p:ext>
            </p:extLst>
          </p:nvPr>
        </p:nvGraphicFramePr>
        <p:xfrm>
          <a:off x="447581" y="1104124"/>
          <a:ext cx="4449367" cy="201168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732629">
                  <a:extLst>
                    <a:ext uri="{9D8B030D-6E8A-4147-A177-3AD203B41FA5}">
                      <a16:colId xmlns:a16="http://schemas.microsoft.com/office/drawing/2014/main" val="4125068355"/>
                    </a:ext>
                  </a:extLst>
                </a:gridCol>
                <a:gridCol w="3716738">
                  <a:extLst>
                    <a:ext uri="{9D8B030D-6E8A-4147-A177-3AD203B41FA5}">
                      <a16:colId xmlns:a16="http://schemas.microsoft.com/office/drawing/2014/main" val="4173496542"/>
                    </a:ext>
                  </a:extLst>
                </a:gridCol>
              </a:tblGrid>
              <a:tr h="32751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函数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简介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663305"/>
                  </a:ext>
                </a:extLst>
              </a:tr>
              <a:tr h="32751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title</a:t>
                      </a:r>
                      <a:endParaRPr lang="en-US" sz="1600" b="1">
                        <a:solidFill>
                          <a:srgbClr val="00206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添加标题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848506"/>
                  </a:ext>
                </a:extLst>
              </a:tr>
              <a:tr h="32751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xlabel</a:t>
                      </a:r>
                      <a:endParaRPr lang="en-US" sz="1600" b="1">
                        <a:solidFill>
                          <a:srgbClr val="00206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添加</a:t>
                      </a:r>
                      <a:r>
                        <a:rPr lang="en-US" altLang="zh-CN" sz="1600" b="1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 </a:t>
                      </a:r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轴标签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025836"/>
                  </a:ext>
                </a:extLst>
              </a:tr>
              <a:tr h="32751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 dirty="0" err="1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ylabel</a:t>
                      </a:r>
                      <a:endParaRPr lang="en-US" sz="1600" b="1" dirty="0">
                        <a:solidFill>
                          <a:srgbClr val="00206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添加</a:t>
                      </a:r>
                      <a:r>
                        <a:rPr lang="en-US" altLang="zh-CN" sz="1600" b="1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y </a:t>
                      </a:r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轴标签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34981"/>
                  </a:ext>
                </a:extLst>
              </a:tr>
              <a:tr h="32751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 dirty="0" err="1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zlabel</a:t>
                      </a:r>
                      <a:endParaRPr lang="en-US" sz="1600" b="1" dirty="0">
                        <a:solidFill>
                          <a:srgbClr val="00206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z </a:t>
                      </a:r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轴添加标签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09215"/>
                  </a:ext>
                </a:extLst>
              </a:tr>
              <a:tr h="32751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hlinkClick r:id="rId7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legend</a:t>
                      </a:r>
                      <a:endParaRPr lang="en-US" sz="1600" b="1" dirty="0">
                        <a:solidFill>
                          <a:srgbClr val="00206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字符串数组设置图例标签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92800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28969991-64A5-EAA0-646D-FEEBCCF4B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33"/>
            <a:ext cx="20840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标题 2">
            <a:extLst>
              <a:ext uri="{FF2B5EF4-FFF2-40B4-BE49-F238E27FC236}">
                <a16:creationId xmlns:a16="http://schemas.microsoft.com/office/drawing/2014/main" id="{07AA159F-398C-D93E-705B-9C14C801DE8F}"/>
              </a:ext>
            </a:extLst>
          </p:cNvPr>
          <p:cNvSpPr txBox="1">
            <a:spLocks/>
          </p:cNvSpPr>
          <p:nvPr/>
        </p:nvSpPr>
        <p:spPr bwMode="auto">
          <a:xfrm>
            <a:off x="5080885" y="1643257"/>
            <a:ext cx="3784766" cy="12390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>
              <a:lnSpc>
                <a:spcPts val="22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通用文字属性</a:t>
            </a:r>
            <a:r>
              <a:rPr lang="zh-CN" altLang="en-US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：名称</a:t>
            </a:r>
            <a:r>
              <a:rPr lang="en-US" altLang="zh-CN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Key-</a:t>
            </a:r>
            <a:r>
              <a:rPr lang="zh-CN" altLang="en-US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</a:t>
            </a:r>
            <a:r>
              <a:rPr lang="en-US" altLang="zh-CN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Value</a:t>
            </a:r>
            <a:endParaRPr lang="zh-CN" altLang="en-US" sz="1600" b="1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 eaLnBrk="1" hangingPunct="1">
              <a:lnSpc>
                <a:spcPts val="2200"/>
              </a:lnSpc>
            </a:pPr>
            <a:r>
              <a:rPr lang="en-US" altLang="zh-CN" sz="1600" b="1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fontsize</a:t>
            </a:r>
            <a:r>
              <a:rPr lang="en-US" altLang="zh-CN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- </a:t>
            </a:r>
            <a:r>
              <a:rPr lang="zh-CN" altLang="en-US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字体大小</a:t>
            </a:r>
            <a:r>
              <a:rPr lang="en-US" altLang="zh-CN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</a:p>
          <a:p>
            <a:pPr algn="l" eaLnBrk="1" hangingPunct="1">
              <a:lnSpc>
                <a:spcPts val="2200"/>
              </a:lnSpc>
            </a:pPr>
            <a:r>
              <a:rPr lang="en-US" altLang="zh-CN" sz="1600" b="1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fontweight</a:t>
            </a:r>
            <a:r>
              <a:rPr lang="en-US" altLang="zh-CN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- </a:t>
            </a:r>
            <a:r>
              <a:rPr lang="zh-CN" altLang="en-US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文本字符的粗细</a:t>
            </a:r>
            <a:endParaRPr lang="en-US" altLang="zh-CN" sz="1600" b="1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 eaLnBrk="1" hangingPunct="1">
              <a:lnSpc>
                <a:spcPts val="2200"/>
              </a:lnSpc>
            </a:pPr>
            <a:r>
              <a:rPr lang="en-US" altLang="zh-CN" sz="1600" b="1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fontname</a:t>
            </a:r>
            <a:r>
              <a:rPr lang="en-US" altLang="zh-CN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- </a:t>
            </a:r>
            <a:r>
              <a:rPr lang="zh-CN" altLang="en-US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字体名称   </a:t>
            </a:r>
            <a:r>
              <a:rPr lang="en-US" altLang="zh-CN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color - </a:t>
            </a:r>
            <a:r>
              <a:rPr lang="zh-CN" altLang="en-US" sz="1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文本颜色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8C505B-4FA9-43CB-BEE3-58C25BC21B2D}"/>
              </a:ext>
            </a:extLst>
          </p:cNvPr>
          <p:cNvSpPr txBox="1"/>
          <p:nvPr/>
        </p:nvSpPr>
        <p:spPr>
          <a:xfrm>
            <a:off x="899592" y="87708"/>
            <a:ext cx="8091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§3.2.2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图形标签和注释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标注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图形的函数</a:t>
            </a:r>
            <a:endParaRPr lang="en-US" altLang="zh-CN" sz="2800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E1FBAF73-E9E5-4148-8D33-BB09A0B3D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650" y="4229207"/>
            <a:ext cx="2518484" cy="379651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b="1" dirty="0">
                <a:solidFill>
                  <a:srgbClr val="FFFF00"/>
                </a:solidFill>
                <a:latin typeface="Menlo"/>
              </a:rPr>
              <a:t>和</a:t>
            </a:r>
            <a:r>
              <a:rPr lang="en-US" altLang="zh-CN" sz="1200" b="1" i="0" dirty="0">
                <a:solidFill>
                  <a:srgbClr val="FFFF00"/>
                </a:solidFill>
                <a:effectLst/>
                <a:latin typeface="Menlo"/>
              </a:rPr>
              <a:t>MATLAB</a:t>
            </a:r>
            <a:r>
              <a:rPr lang="zh-CN" altLang="en-US" sz="1200" b="1" i="0" dirty="0">
                <a:solidFill>
                  <a:srgbClr val="FFFF00"/>
                </a:solidFill>
                <a:effectLst/>
                <a:latin typeface="Menlo"/>
              </a:rPr>
              <a:t>命令一样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18950986-A67B-4671-993B-89F137B9C4FB}"/>
              </a:ext>
            </a:extLst>
          </p:cNvPr>
          <p:cNvSpPr txBox="1">
            <a:spLocks/>
          </p:cNvSpPr>
          <p:nvPr/>
        </p:nvSpPr>
        <p:spPr bwMode="auto">
          <a:xfrm>
            <a:off x="11515" y="695363"/>
            <a:ext cx="2196512" cy="3796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eaLnBrk="0" hangingPunct="0">
              <a:lnSpc>
                <a:spcPts val="2300"/>
              </a:lnSpc>
              <a:defRPr sz="2400" b="1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342900" indent="-342900">
              <a:buClr>
                <a:srgbClr val="0070C0"/>
              </a:buClr>
              <a:buFont typeface="+mj-ea"/>
              <a:buAutoNum type="circleNumDbPlain"/>
            </a:pPr>
            <a:r>
              <a:rPr lang="zh-CN" altLang="en-US" sz="1800" dirty="0"/>
              <a:t>图形的标签函数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337F12-3FEB-4B86-AA69-6951C5220E3F}"/>
              </a:ext>
            </a:extLst>
          </p:cNvPr>
          <p:cNvSpPr/>
          <p:nvPr/>
        </p:nvSpPr>
        <p:spPr>
          <a:xfrm>
            <a:off x="4696408" y="769850"/>
            <a:ext cx="1921242" cy="2487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342900" indent="-342900" eaLnBrk="0" hangingPunct="0">
              <a:lnSpc>
                <a:spcPts val="1900"/>
              </a:lnSpc>
              <a:buClr>
                <a:srgbClr val="0070C0"/>
              </a:buClr>
              <a:buFont typeface="+mj-ea"/>
              <a:buAutoNum type="circleNumDbPlain" startAt="2"/>
            </a:pP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设置字符属性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33B11B-FBA1-412C-BD85-57549FF06198}"/>
              </a:ext>
            </a:extLst>
          </p:cNvPr>
          <p:cNvSpPr txBox="1"/>
          <p:nvPr/>
        </p:nvSpPr>
        <p:spPr>
          <a:xfrm>
            <a:off x="2796076" y="1441108"/>
            <a:ext cx="13681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>
                <a:solidFill>
                  <a:srgbClr val="FF0000"/>
                </a:solidFill>
                <a:effectLst/>
                <a:latin typeface="var(--ds-font-family-code)"/>
                <a:ea typeface="宋体" panose="02010600030101010101" pitchFamily="2" charset="-122"/>
                <a:cs typeface="宋体" panose="02010600030101010101" pitchFamily="2" charset="-122"/>
              </a:rPr>
              <a:t>title("</a:t>
            </a:r>
            <a:r>
              <a:rPr lang="zh-CN" altLang="zh-CN" sz="1600" b="1" kern="0" dirty="0">
                <a:solidFill>
                  <a:srgbClr val="FF0000"/>
                </a:solidFill>
                <a:effectLst/>
                <a:latin typeface="var(--ds-font-family-code)"/>
                <a:ea typeface="宋体" panose="02010600030101010101" pitchFamily="2" charset="-122"/>
                <a:cs typeface="宋体" panose="02010600030101010101" pitchFamily="2" charset="-122"/>
              </a:rPr>
              <a:t>标题</a:t>
            </a:r>
            <a:r>
              <a:rPr lang="en-US" altLang="zh-CN" sz="1600" b="1" kern="0" dirty="0">
                <a:solidFill>
                  <a:srgbClr val="FF0000"/>
                </a:solidFill>
                <a:effectLst/>
                <a:latin typeface="var(--ds-font-family-code)"/>
                <a:ea typeface="宋体" panose="02010600030101010101" pitchFamily="2" charset="-122"/>
                <a:cs typeface="宋体" panose="02010600030101010101" pitchFamily="2" charset="-122"/>
              </a:rPr>
              <a:t>")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071A9C-75F1-4E8C-9320-316E3B63A9F9}"/>
              </a:ext>
            </a:extLst>
          </p:cNvPr>
          <p:cNvSpPr txBox="1"/>
          <p:nvPr/>
        </p:nvSpPr>
        <p:spPr>
          <a:xfrm>
            <a:off x="2807273" y="1796233"/>
            <a:ext cx="1809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 err="1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xlabel</a:t>
            </a:r>
            <a:r>
              <a:rPr lang="en-US" altLang="zh-CN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("x</a:t>
            </a:r>
            <a:r>
              <a:rPr lang="zh-CN" altLang="zh-CN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轴标签</a:t>
            </a:r>
            <a:r>
              <a:rPr lang="en-US" altLang="zh-CN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")</a:t>
            </a:r>
            <a:endParaRPr lang="zh-CN" altLang="en-US" sz="1600" b="1" kern="0" dirty="0">
              <a:solidFill>
                <a:srgbClr val="FF0000"/>
              </a:solidFill>
              <a:latin typeface="var(--ds-font-family-code)"/>
              <a:ea typeface="宋体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D21384-12D0-4E8F-B72B-BB43F88493C3}"/>
              </a:ext>
            </a:extLst>
          </p:cNvPr>
          <p:cNvSpPr txBox="1"/>
          <p:nvPr/>
        </p:nvSpPr>
        <p:spPr>
          <a:xfrm>
            <a:off x="2800431" y="2117910"/>
            <a:ext cx="1809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 err="1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ylabel</a:t>
            </a:r>
            <a:r>
              <a:rPr lang="en-US" altLang="zh-CN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("x</a:t>
            </a:r>
            <a:r>
              <a:rPr lang="zh-CN" altLang="zh-CN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轴标签</a:t>
            </a:r>
            <a:r>
              <a:rPr lang="en-US" altLang="zh-CN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")</a:t>
            </a:r>
            <a:endParaRPr lang="zh-CN" altLang="en-US" sz="1600" b="1" kern="0" dirty="0">
              <a:solidFill>
                <a:srgbClr val="FF0000"/>
              </a:solidFill>
              <a:latin typeface="var(--ds-font-family-code)"/>
              <a:ea typeface="宋体" panose="0201060003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9A42F96-F608-4604-9AA5-CE316CCD3107}"/>
              </a:ext>
            </a:extLst>
          </p:cNvPr>
          <p:cNvSpPr txBox="1"/>
          <p:nvPr/>
        </p:nvSpPr>
        <p:spPr>
          <a:xfrm>
            <a:off x="2800431" y="2446757"/>
            <a:ext cx="1809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 err="1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zlabel</a:t>
            </a:r>
            <a:r>
              <a:rPr lang="en-US" altLang="zh-CN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("x</a:t>
            </a:r>
            <a:r>
              <a:rPr lang="zh-CN" altLang="zh-CN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轴标签</a:t>
            </a:r>
            <a:r>
              <a:rPr lang="en-US" altLang="zh-CN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")</a:t>
            </a:r>
            <a:endParaRPr lang="zh-CN" altLang="en-US" sz="1600" b="1" kern="0" dirty="0">
              <a:solidFill>
                <a:srgbClr val="FF0000"/>
              </a:solidFill>
              <a:latin typeface="var(--ds-font-family-code)"/>
              <a:ea typeface="宋体" panose="0201060003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02273F-1696-40B5-BB2F-7BA8C9F16C7E}"/>
              </a:ext>
            </a:extLst>
          </p:cNvPr>
          <p:cNvSpPr/>
          <p:nvPr/>
        </p:nvSpPr>
        <p:spPr>
          <a:xfrm>
            <a:off x="2218918" y="727601"/>
            <a:ext cx="1715710" cy="287771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791" indent="-177791" algn="dist" defTabSz="914378">
              <a:lnSpc>
                <a:spcPct val="9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标签函数</a:t>
            </a:r>
            <a:r>
              <a:rPr lang="en-US" altLang="zh-CN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("</a:t>
            </a:r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文本</a:t>
            </a:r>
            <a:r>
              <a:rPr lang="en-US" altLang="zh-CN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")</a:t>
            </a:r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FA4FCBC3-9DEC-447A-B4A5-8EF37104A4D1}"/>
              </a:ext>
            </a:extLst>
          </p:cNvPr>
          <p:cNvSpPr txBox="1">
            <a:spLocks/>
          </p:cNvSpPr>
          <p:nvPr/>
        </p:nvSpPr>
        <p:spPr bwMode="auto">
          <a:xfrm>
            <a:off x="-15194" y="3833735"/>
            <a:ext cx="2773945" cy="3796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eaLnBrk="0" hangingPunct="0">
              <a:lnSpc>
                <a:spcPts val="2300"/>
              </a:lnSpc>
              <a:defRPr sz="2400" b="1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342900" indent="-342900">
              <a:buFont typeface="+mj-ea"/>
              <a:buAutoNum type="circleNumDbPlain" startAt="4"/>
            </a:pPr>
            <a:r>
              <a:rPr lang="zh-CN" altLang="en-US" sz="1600" kern="1200" dirty="0">
                <a:cs typeface="+mn-cs"/>
              </a:rPr>
              <a:t>图形标签函数的完整形式</a:t>
            </a:r>
            <a:endParaRPr lang="zh-CN" altLang="en-US" sz="18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84C8127-8DD5-4690-B280-D4DFDDB6356C}"/>
              </a:ext>
            </a:extLst>
          </p:cNvPr>
          <p:cNvSpPr/>
          <p:nvPr/>
        </p:nvSpPr>
        <p:spPr>
          <a:xfrm>
            <a:off x="2807273" y="3876422"/>
            <a:ext cx="6165688" cy="287771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791" indent="-177791" algn="dist" defTabSz="914378">
              <a:lnSpc>
                <a:spcPct val="9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标签句柄</a:t>
            </a:r>
            <a:r>
              <a:rPr lang="en-US" altLang="zh-CN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标签函数 </a:t>
            </a:r>
            <a:r>
              <a:rPr lang="en-US" altLang="zh-CN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目标对象</a:t>
            </a:r>
            <a:r>
              <a:rPr lang="zh-CN" altLang="zh-CN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</a:t>
            </a:r>
            <a:r>
              <a:rPr lang="zh-CN" altLang="zh-CN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arget</a:t>
            </a:r>
            <a:r>
              <a:rPr lang="zh-CN" altLang="zh-CN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“文本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txt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21A4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en-US" altLang="zh-CN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Key=Value)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4BF2D8-1E8B-CE31-F978-699B2B42F110}"/>
              </a:ext>
            </a:extLst>
          </p:cNvPr>
          <p:cNvSpPr/>
          <p:nvPr/>
        </p:nvSpPr>
        <p:spPr>
          <a:xfrm>
            <a:off x="5087021" y="1000445"/>
            <a:ext cx="3885940" cy="67364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标注图形的文字使用字符串，可通过文字属性</a:t>
            </a:r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Key-Value</a:t>
            </a:r>
            <a:r>
              <a:rPr lang="zh-CN" altLang="en-US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修改标注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546159CE-C2F4-4C7A-823E-BBC4D7D1EBE3}"/>
              </a:ext>
            </a:extLst>
          </p:cNvPr>
          <p:cNvSpPr txBox="1">
            <a:spLocks/>
          </p:cNvSpPr>
          <p:nvPr/>
        </p:nvSpPr>
        <p:spPr bwMode="auto">
          <a:xfrm>
            <a:off x="345218" y="4132737"/>
            <a:ext cx="6475163" cy="455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1400"/>
              </a:lnSpc>
              <a:defRPr sz="1600" b="1" i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lang="en-US" altLang="zh-CN" dirty="0"/>
          </a:p>
          <a:p>
            <a:r>
              <a:rPr lang="zh-CN" altLang="en-US" dirty="0"/>
              <a:t>例如坐标轴标签：</a:t>
            </a:r>
            <a:r>
              <a:rPr lang="en-US" altLang="zh-CN" dirty="0"/>
              <a:t> t=</a:t>
            </a:r>
            <a:r>
              <a:rPr lang="en-US" altLang="zh-CN" dirty="0" err="1"/>
              <a:t>xlabel</a:t>
            </a:r>
            <a:r>
              <a:rPr lang="en-US" altLang="zh-CN" dirty="0"/>
              <a:t>(ax,"</a:t>
            </a:r>
            <a:r>
              <a:rPr lang="zh-CN" altLang="en-US" dirty="0"/>
              <a:t>速度</a:t>
            </a:r>
            <a:r>
              <a:rPr lang="en-US" altLang="zh-CN" dirty="0"/>
              <a:t>",color="r",</a:t>
            </a:r>
            <a:r>
              <a:rPr lang="en-US" altLang="zh-CN" dirty="0" err="1"/>
              <a:t>fontsize</a:t>
            </a:r>
            <a:r>
              <a:rPr lang="en-US" altLang="zh-CN" dirty="0"/>
              <a:t>=12)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7C53317-9E8F-4C9C-AB76-EAC5182E1A87}"/>
              </a:ext>
            </a:extLst>
          </p:cNvPr>
          <p:cNvSpPr txBox="1"/>
          <p:nvPr/>
        </p:nvSpPr>
        <p:spPr>
          <a:xfrm>
            <a:off x="3093153" y="2785311"/>
            <a:ext cx="1921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legend</a:t>
            </a:r>
            <a:r>
              <a:rPr lang="zh-CN" altLang="en-US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（标签</a:t>
            </a:r>
            <a:r>
              <a:rPr lang="en-US" altLang="zh-CN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labels</a:t>
            </a:r>
            <a:r>
              <a:rPr lang="zh-CN" altLang="en-US" sz="1600" b="1" kern="0" dirty="0">
                <a:solidFill>
                  <a:srgbClr val="FF0000"/>
                </a:solidFill>
                <a:latin typeface="var(--ds-font-family-code)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A1459AA-1E3B-4A38-B510-C5AF8FA737B7}"/>
              </a:ext>
            </a:extLst>
          </p:cNvPr>
          <p:cNvSpPr txBox="1">
            <a:spLocks/>
          </p:cNvSpPr>
          <p:nvPr/>
        </p:nvSpPr>
        <p:spPr bwMode="auto">
          <a:xfrm>
            <a:off x="5090227" y="2713013"/>
            <a:ext cx="3784766" cy="455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1400"/>
              </a:lnSpc>
              <a:defRPr sz="1600" b="1" i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lang="en-US" altLang="zh-CN" sz="1400" dirty="0"/>
          </a:p>
          <a:p>
            <a:r>
              <a:rPr lang="zh-CN" altLang="en-US" sz="1400" dirty="0"/>
              <a:t>例如：</a:t>
            </a:r>
            <a:r>
              <a:rPr lang="en-US" altLang="zh-CN" sz="1400" dirty="0" err="1"/>
              <a:t>ylabel</a:t>
            </a:r>
            <a:r>
              <a:rPr lang="en-US" altLang="zh-CN" sz="1400" dirty="0"/>
              <a:t>(“</a:t>
            </a:r>
            <a:r>
              <a:rPr lang="zh-CN" altLang="en-US" sz="1400" dirty="0"/>
              <a:t>应力，</a:t>
            </a:r>
            <a:r>
              <a:rPr lang="en-US" altLang="zh-CN" sz="1400" dirty="0"/>
              <a:t>MPa", </a:t>
            </a:r>
            <a:r>
              <a:rPr lang="en-US" altLang="zh-CN" sz="1400" dirty="0" err="1"/>
              <a:t>fontsize</a:t>
            </a:r>
            <a:r>
              <a:rPr lang="en-US" altLang="zh-CN" sz="1400" dirty="0"/>
              <a:t>=12)</a:t>
            </a:r>
            <a:endParaRPr lang="zh-CN" altLang="en-US" sz="1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055D2A8-E8E3-4C3F-BE8D-5F447D4A0834}"/>
              </a:ext>
            </a:extLst>
          </p:cNvPr>
          <p:cNvSpPr/>
          <p:nvPr/>
        </p:nvSpPr>
        <p:spPr>
          <a:xfrm>
            <a:off x="11514" y="2997117"/>
            <a:ext cx="9103780" cy="6585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342900" indent="-342900" algn="dist" eaLnBrk="0" hangingPunct="0">
              <a:lnSpc>
                <a:spcPts val="2300"/>
              </a:lnSpc>
              <a:buClr>
                <a:srgbClr val="0070C0"/>
              </a:buClr>
              <a:buFont typeface="+mj-ea"/>
              <a:buAutoNum type="circleNumDbPlain" startAt="3"/>
            </a:pP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图例</a:t>
            </a: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legend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按绘制线条先后顺序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标注不同颜色线型</a:t>
            </a: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,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即给每条曲线定义个标签</a:t>
            </a:r>
            <a:endParaRPr lang="en-US" altLang="zh-CN" sz="16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2941F4AA-6A55-402F-B239-B55087C4C6EA}"/>
              </a:ext>
            </a:extLst>
          </p:cNvPr>
          <p:cNvSpPr txBox="1">
            <a:spLocks/>
          </p:cNvSpPr>
          <p:nvPr/>
        </p:nvSpPr>
        <p:spPr bwMode="auto">
          <a:xfrm>
            <a:off x="345217" y="3377561"/>
            <a:ext cx="7899191" cy="455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1400"/>
              </a:lnSpc>
              <a:defRPr sz="1600" b="1" i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lang="en-US" altLang="zh-CN" dirty="0"/>
          </a:p>
          <a:p>
            <a:r>
              <a:rPr lang="zh-CN" altLang="en-US" dirty="0"/>
              <a:t>例如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legend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[“1.2%”,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3.6%”]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 </a:t>
            </a:r>
            <a:r>
              <a:rPr lang="zh-CN" altLang="en-US" dirty="0"/>
              <a:t>注意字符串数组一定用方括号</a:t>
            </a:r>
            <a:r>
              <a:rPr lang="en-US" altLang="zh-CN" dirty="0"/>
              <a:t>【】</a:t>
            </a:r>
            <a:r>
              <a:rPr lang="zh-CN" altLang="en-US" dirty="0"/>
              <a:t>括起来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6C92CC-499B-4003-ACFE-3FF81336B1EA}"/>
              </a:ext>
            </a:extLst>
          </p:cNvPr>
          <p:cNvSpPr/>
          <p:nvPr/>
        </p:nvSpPr>
        <p:spPr>
          <a:xfrm>
            <a:off x="6559345" y="715726"/>
            <a:ext cx="2424228" cy="2862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791" indent="-177791" algn="dist" defTabSz="914378">
              <a:lnSpc>
                <a:spcPct val="9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标签函数</a:t>
            </a:r>
            <a:r>
              <a:rPr lang="en-US" altLang="zh-CN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("</a:t>
            </a:r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文本</a:t>
            </a:r>
            <a:r>
              <a:rPr lang="en-US" altLang="zh-CN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",key=value)</a:t>
            </a:r>
          </a:p>
        </p:txBody>
      </p:sp>
    </p:spTree>
    <p:extLst>
      <p:ext uri="{BB962C8B-B14F-4D97-AF65-F5344CB8AC3E}">
        <p14:creationId xmlns:p14="http://schemas.microsoft.com/office/powerpoint/2010/main" val="228148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20" grpId="0"/>
      <p:bldP spid="21" grpId="0"/>
      <p:bldP spid="22" grpId="0"/>
      <p:bldP spid="23" grpId="0"/>
      <p:bldP spid="26" grpId="0" animBg="1"/>
      <p:bldP spid="25" grpId="0" animBg="1"/>
      <p:bldP spid="27" grpId="0"/>
      <p:bldP spid="29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C66779-F518-83CA-87BE-B74045CEC6EB}"/>
              </a:ext>
            </a:extLst>
          </p:cNvPr>
          <p:cNvGraphicFramePr>
            <a:graphicFrameLocks noGrp="1"/>
          </p:cNvGraphicFramePr>
          <p:nvPr/>
        </p:nvGraphicFramePr>
        <p:xfrm>
          <a:off x="323528" y="1126761"/>
          <a:ext cx="3744416" cy="3486749"/>
        </p:xfrm>
        <a:graphic>
          <a:graphicData uri="http://schemas.openxmlformats.org/drawingml/2006/table">
            <a:tbl>
              <a:tblPr/>
              <a:tblGrid>
                <a:gridCol w="1409713">
                  <a:extLst>
                    <a:ext uri="{9D8B030D-6E8A-4147-A177-3AD203B41FA5}">
                      <a16:colId xmlns:a16="http://schemas.microsoft.com/office/drawing/2014/main" val="2820493250"/>
                    </a:ext>
                  </a:extLst>
                </a:gridCol>
                <a:gridCol w="2334703">
                  <a:extLst>
                    <a:ext uri="{9D8B030D-6E8A-4147-A177-3AD203B41FA5}">
                      <a16:colId xmlns:a16="http://schemas.microsoft.com/office/drawing/2014/main" val="581496080"/>
                    </a:ext>
                  </a:extLst>
                </a:gridCol>
              </a:tblGrid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值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说明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78391"/>
                  </a:ext>
                </a:extLst>
              </a:tr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"north"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坐标区中的顶部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008903"/>
                  </a:ext>
                </a:extLst>
              </a:tr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"south"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坐标区中的底部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304896"/>
                  </a:ext>
                </a:extLst>
              </a:tr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"east"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坐标区中的右侧区域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129445"/>
                  </a:ext>
                </a:extLst>
              </a:tr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"west"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坐标区中的左侧区域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115332"/>
                  </a:ext>
                </a:extLst>
              </a:tr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"northeast"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坐标区中的右上角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455000"/>
                  </a:ext>
                </a:extLst>
              </a:tr>
              <a:tr h="294443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"northwest"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坐标区中的左上角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94944"/>
                  </a:ext>
                </a:extLst>
              </a:tr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"southeast"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坐标区中的顶部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539130"/>
                  </a:ext>
                </a:extLst>
              </a:tr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"southwest"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坐标区中的左下角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702762"/>
                  </a:ext>
                </a:extLst>
              </a:tr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"upper right"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等价于</a:t>
                      </a:r>
                      <a:r>
                        <a:rPr lang="en-US" sz="14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northeast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859608"/>
                  </a:ext>
                </a:extLst>
              </a:tr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"upper left"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等价于</a:t>
                      </a:r>
                      <a:r>
                        <a:rPr lang="en-US" sz="14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northwest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165304"/>
                  </a:ext>
                </a:extLst>
              </a:tr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"lower left"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等价于</a:t>
                      </a:r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southwest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535399"/>
                  </a:ext>
                </a:extLst>
              </a:tr>
              <a:tr h="238678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"lower right"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等价于</a:t>
                      </a:r>
                      <a:r>
                        <a:rPr lang="en-US" sz="14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southeast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95654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"right"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等价于</a:t>
                      </a:r>
                      <a:r>
                        <a:rPr lang="en-US" sz="14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east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33894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D7AC4DB-F7F7-3D27-F676-472359A41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732229"/>
            <a:ext cx="360786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378"/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图例相对于坐标区的位置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C53C615-592F-B4D4-FEFF-11937133A26C}"/>
              </a:ext>
            </a:extLst>
          </p:cNvPr>
          <p:cNvGraphicFramePr>
            <a:graphicFrameLocks noGrp="1"/>
          </p:cNvGraphicFramePr>
          <p:nvPr/>
        </p:nvGraphicFramePr>
        <p:xfrm>
          <a:off x="3779912" y="2455592"/>
          <a:ext cx="5256584" cy="2226086"/>
        </p:xfrm>
        <a:graphic>
          <a:graphicData uri="http://schemas.openxmlformats.org/drawingml/2006/table">
            <a:tbl>
              <a:tblPr/>
              <a:tblGrid>
                <a:gridCol w="1225390">
                  <a:extLst>
                    <a:ext uri="{9D8B030D-6E8A-4147-A177-3AD203B41FA5}">
                      <a16:colId xmlns:a16="http://schemas.microsoft.com/office/drawing/2014/main" val="3492329245"/>
                    </a:ext>
                  </a:extLst>
                </a:gridCol>
                <a:gridCol w="4031194">
                  <a:extLst>
                    <a:ext uri="{9D8B030D-6E8A-4147-A177-3AD203B41FA5}">
                      <a16:colId xmlns:a16="http://schemas.microsoft.com/office/drawing/2014/main" val="1330677513"/>
                    </a:ext>
                  </a:extLst>
                </a:gridCol>
              </a:tblGrid>
              <a:tr h="217104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"center left"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坐标区中的垂直方向中心，水平方位居左区域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174074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"center right"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坐标区中的垂直方向中心，水平方位居右区域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090350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"lower center"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坐标区中的水平方向中心，垂直方位居下区域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222550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"upper center"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坐标区中的水平方向中心，垂直方位居上区域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189926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"center"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坐标区中的水平和垂直方向中心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68253"/>
                  </a:ext>
                </a:extLst>
              </a:tr>
              <a:tr h="928806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"best"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创建图例时坐标区内与绘图数据冲突最小的位置。如果绘图数据发生变化，您可能需要将</a:t>
                      </a:r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33CCFF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位置重置为 </a:t>
                      </a:r>
                      <a:r>
                        <a:rPr lang="en-US" altLang="zh-CN" sz="15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33CCFF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"best"</a:t>
                      </a:r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33CCFF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。 （二维坐标区的默认值）</a:t>
                      </a:r>
                    </a:p>
                  </a:txBody>
                  <a:tcPr marL="30855" marR="30855" marT="15428" marB="15428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484"/>
                  </a:ext>
                </a:extLst>
              </a:tr>
            </a:tbl>
          </a:graphicData>
        </a:graphic>
      </p:graphicFrame>
      <p:sp>
        <p:nvSpPr>
          <p:cNvPr id="7" name="圆角矩形 1">
            <a:extLst>
              <a:ext uri="{FF2B5EF4-FFF2-40B4-BE49-F238E27FC236}">
                <a16:creationId xmlns:a16="http://schemas.microsoft.com/office/drawing/2014/main" id="{A059AF6B-6C47-A931-A489-E49B007AE666}"/>
              </a:ext>
            </a:extLst>
          </p:cNvPr>
          <p:cNvSpPr/>
          <p:nvPr/>
        </p:nvSpPr>
        <p:spPr bwMode="auto">
          <a:xfrm>
            <a:off x="5970646" y="1199719"/>
            <a:ext cx="2849826" cy="1002929"/>
          </a:xfrm>
          <a:prstGeom prst="roundRect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 prst="angle"/>
          </a:sp3d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highlight>
                <a:srgbClr val="003B76"/>
              </a:highligh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F7C785-5BF0-EA4B-2822-AE21A2B3D0DE}"/>
              </a:ext>
            </a:extLst>
          </p:cNvPr>
          <p:cNvSpPr/>
          <p:nvPr/>
        </p:nvSpPr>
        <p:spPr>
          <a:xfrm>
            <a:off x="6748821" y="1249320"/>
            <a:ext cx="968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北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north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D1C86E-721F-CF94-6FD0-82CCDF326B2B}"/>
              </a:ext>
            </a:extLst>
          </p:cNvPr>
          <p:cNvSpPr/>
          <p:nvPr/>
        </p:nvSpPr>
        <p:spPr>
          <a:xfrm>
            <a:off x="6751496" y="1873156"/>
            <a:ext cx="9492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南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south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EE6FA7-5110-9D71-A226-E85074075D69}"/>
              </a:ext>
            </a:extLst>
          </p:cNvPr>
          <p:cNvSpPr/>
          <p:nvPr/>
        </p:nvSpPr>
        <p:spPr>
          <a:xfrm>
            <a:off x="5898360" y="1618022"/>
            <a:ext cx="8483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西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west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B18B86-206B-41FB-124C-9C736CFBD227}"/>
              </a:ext>
            </a:extLst>
          </p:cNvPr>
          <p:cNvSpPr/>
          <p:nvPr/>
        </p:nvSpPr>
        <p:spPr>
          <a:xfrm>
            <a:off x="7851509" y="1531907"/>
            <a:ext cx="80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东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38D85E-7E51-B70E-8160-1CC009B5405F}"/>
              </a:ext>
            </a:extLst>
          </p:cNvPr>
          <p:cNvSpPr txBox="1"/>
          <p:nvPr/>
        </p:nvSpPr>
        <p:spPr>
          <a:xfrm>
            <a:off x="827584" y="72652"/>
            <a:ext cx="7992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§3.2.2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图形标签和注释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图例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legend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标注位置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2A942B-E29D-4ADE-9EC4-4CF7A0638491}"/>
              </a:ext>
            </a:extLst>
          </p:cNvPr>
          <p:cNvSpPr/>
          <p:nvPr/>
        </p:nvSpPr>
        <p:spPr>
          <a:xfrm>
            <a:off x="3931460" y="780956"/>
            <a:ext cx="4889012" cy="313932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791" indent="-177791" algn="dist" defTabSz="914378">
              <a:lnSpc>
                <a:spcPct val="9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legend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“标签</a:t>
            </a:r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labelst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21A4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,loc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=Value 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52574D-DC12-4C4B-9E43-02C15AFE3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125" y="1164212"/>
            <a:ext cx="2339092" cy="1200843"/>
          </a:xfrm>
          <a:prstGeom prst="rect">
            <a:avLst/>
          </a:prstGeom>
        </p:spPr>
      </p:pic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1964154E-CDB7-ADEF-3B55-FCF4AEEEE9BF}"/>
              </a:ext>
            </a:extLst>
          </p:cNvPr>
          <p:cNvSpPr txBox="1">
            <a:spLocks/>
          </p:cNvSpPr>
          <p:nvPr/>
        </p:nvSpPr>
        <p:spPr>
          <a:xfrm>
            <a:off x="3892711" y="1199719"/>
            <a:ext cx="2144740" cy="453567"/>
          </a:xfrm>
          <a:prstGeom prst="rect">
            <a:avLst/>
          </a:prstGeom>
          <a:noFill/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zh-CN" sz="1400" kern="0" dirty="0">
                <a:solidFill>
                  <a:srgbClr val="FF0000"/>
                </a:solidFill>
                <a:latin typeface="-apple-system"/>
              </a:rPr>
              <a:t>loc="northeast"</a:t>
            </a:r>
            <a:endParaRPr lang="zh-CN" altLang="en-US" sz="14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28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290E217-F77C-83E8-5197-D31F6E626C4A}"/>
              </a:ext>
            </a:extLst>
          </p:cNvPr>
          <p:cNvSpPr txBox="1"/>
          <p:nvPr/>
        </p:nvSpPr>
        <p:spPr>
          <a:xfrm>
            <a:off x="827584" y="88527"/>
            <a:ext cx="8352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15. </a:t>
            </a:r>
            <a:r>
              <a:rPr lang="zh-CN" altLang="en-US" sz="2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图形标签</a:t>
            </a:r>
            <a:r>
              <a:rPr lang="en-US" altLang="zh-CN" sz="2800" b="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希腊</a:t>
            </a:r>
            <a:r>
              <a:rPr lang="zh-CN" altLang="en-US" sz="2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文字</a:t>
            </a:r>
            <a:r>
              <a:rPr lang="zh-CN" altLang="en-US" sz="28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标注、</a:t>
            </a:r>
            <a:r>
              <a:rPr lang="zh-CN" altLang="en-US" sz="2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文字</a:t>
            </a:r>
            <a:r>
              <a:rPr lang="zh-CN" altLang="en-US" sz="2800" b="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上下标的</a:t>
            </a:r>
            <a:r>
              <a:rPr lang="zh-CN" altLang="en-US" sz="2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标注</a:t>
            </a:r>
            <a:endParaRPr lang="en-US" altLang="zh-CN" sz="28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D94938A5-D434-7460-6A59-065DA4D81063}"/>
              </a:ext>
            </a:extLst>
          </p:cNvPr>
          <p:cNvSpPr txBox="1">
            <a:spLocks/>
          </p:cNvSpPr>
          <p:nvPr/>
        </p:nvSpPr>
        <p:spPr>
          <a:xfrm>
            <a:off x="91631" y="699542"/>
            <a:ext cx="2223454" cy="34971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342900" indent="-342900">
              <a:buFont typeface="+mj-ea"/>
              <a:buAutoNum type="circleNumDbPlain"/>
            </a:pPr>
            <a:r>
              <a:rPr lang="zh-CN" altLang="en-US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文本排版系统</a:t>
            </a:r>
            <a:r>
              <a:rPr lang="en-US" altLang="zh-CN" sz="1600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</a:t>
            </a:r>
            <a:endParaRPr lang="zh-CN" altLang="en-US" sz="1400" b="0" kern="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CD01F3-FC70-DA44-3A11-611625EA8129}"/>
              </a:ext>
            </a:extLst>
          </p:cNvPr>
          <p:cNvSpPr txBox="1"/>
          <p:nvPr/>
        </p:nvSpPr>
        <p:spPr>
          <a:xfrm>
            <a:off x="52404" y="1937528"/>
            <a:ext cx="5006693" cy="964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Font typeface="Wingdings" panose="05000000000000000000" pitchFamily="2" charset="2"/>
              <a:buChar char="Ø"/>
            </a:pP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文档字符串</a:t>
            </a:r>
            <a:r>
              <a:rPr lang="en-US" altLang="zh-CN" sz="17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TeX</a:t>
            </a:r>
            <a:r>
              <a:rPr lang="en-US" altLang="zh-CN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代码 </a:t>
            </a:r>
            <a:r>
              <a:rPr lang="en-US" altLang="zh-CN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标签函数要输入</a:t>
            </a:r>
            <a:r>
              <a:rPr lang="en-US" altLang="zh-CN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(raw“”) </a:t>
            </a:r>
          </a:p>
          <a:p>
            <a:pPr>
              <a:lnSpc>
                <a:spcPts val="2300"/>
              </a:lnSpc>
              <a:buFont typeface="Wingdings" panose="05000000000000000000" pitchFamily="2" charset="2"/>
              <a:buChar char="Ø"/>
            </a:pPr>
            <a:r>
              <a:rPr lang="en-US" altLang="zh-CN" sz="17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$ +</a:t>
            </a:r>
            <a:r>
              <a:rPr lang="zh-CN" altLang="en-US" sz="17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反斜杠</a:t>
            </a:r>
            <a:r>
              <a:rPr lang="en-US" altLang="zh-CN" sz="17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\ 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字符仍然被解析为</a:t>
            </a:r>
            <a:r>
              <a:rPr lang="zh-CN" altLang="en-US" sz="17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字符串转义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序列的开始字符 </a:t>
            </a:r>
            <a:r>
              <a:rPr lang="en-US" altLang="zh-CN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, $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作为字符串转义结束</a:t>
            </a:r>
            <a:endParaRPr lang="en-US" altLang="zh-CN" sz="17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0ECAFE16-1582-0E6A-52F1-4B26EB821F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846" r="1372"/>
          <a:stretch/>
        </p:blipFill>
        <p:spPr bwMode="auto">
          <a:xfrm>
            <a:off x="5646502" y="1491056"/>
            <a:ext cx="3389993" cy="3096918"/>
          </a:xfrm>
          <a:prstGeom prst="rect">
            <a:avLst/>
          </a:prstGeom>
          <a:noFill/>
          <a:ln w="9525">
            <a:solidFill>
              <a:schemeClr val="tx2">
                <a:lumMod val="95000"/>
                <a:lumOff val="5000"/>
              </a:schemeClr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CDCDC6B9-D1F6-50C7-029A-95F1A39861E5}"/>
              </a:ext>
            </a:extLst>
          </p:cNvPr>
          <p:cNvSpPr/>
          <p:nvPr/>
        </p:nvSpPr>
        <p:spPr>
          <a:xfrm rot="16200000">
            <a:off x="8072243" y="3066758"/>
            <a:ext cx="274143" cy="14867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C9ADE19-2652-5DE7-EBFE-5FB66697AE23}"/>
              </a:ext>
            </a:extLst>
          </p:cNvPr>
          <p:cNvSpPr/>
          <p:nvPr/>
        </p:nvSpPr>
        <p:spPr>
          <a:xfrm rot="16200000">
            <a:off x="6131877" y="2610898"/>
            <a:ext cx="321060" cy="11365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866C983-086F-D764-B69E-CEC34B08863A}"/>
              </a:ext>
            </a:extLst>
          </p:cNvPr>
          <p:cNvSpPr/>
          <p:nvPr/>
        </p:nvSpPr>
        <p:spPr>
          <a:xfrm rot="16200000">
            <a:off x="6117513" y="3792057"/>
            <a:ext cx="288031" cy="13038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1C5DD39-F4AD-9203-0C79-01AB76EF3D11}"/>
              </a:ext>
            </a:extLst>
          </p:cNvPr>
          <p:cNvSpPr/>
          <p:nvPr/>
        </p:nvSpPr>
        <p:spPr>
          <a:xfrm rot="16200000">
            <a:off x="7877078" y="3479930"/>
            <a:ext cx="271869" cy="18002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19A8312-034E-405F-B354-020CA92B012D}"/>
              </a:ext>
            </a:extLst>
          </p:cNvPr>
          <p:cNvSpPr/>
          <p:nvPr/>
        </p:nvSpPr>
        <p:spPr>
          <a:xfrm rot="16200000">
            <a:off x="7182185" y="1884559"/>
            <a:ext cx="321060" cy="189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7">
            <a:extLst>
              <a:ext uri="{FF2B5EF4-FFF2-40B4-BE49-F238E27FC236}">
                <a16:creationId xmlns:a16="http://schemas.microsoft.com/office/drawing/2014/main" id="{5E603349-6EFE-4B97-ACE3-792A21AC9D37}"/>
              </a:ext>
            </a:extLst>
          </p:cNvPr>
          <p:cNvSpPr/>
          <p:nvPr/>
        </p:nvSpPr>
        <p:spPr bwMode="auto">
          <a:xfrm>
            <a:off x="6756751" y="1437762"/>
            <a:ext cx="2370357" cy="300094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 prst="angle"/>
          </a:sp3d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使用</a:t>
            </a:r>
            <a:r>
              <a:rPr kumimoji="0" lang="en-US" altLang="zh-CN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Tex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标记一般“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</a:rPr>
              <a:t>\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</a:rPr>
              <a:t>”开始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3997304-F62B-3FA7-E185-9589CF58C014}"/>
                  </a:ext>
                </a:extLst>
              </p:cNvPr>
              <p:cNvSpPr/>
              <p:nvPr/>
            </p:nvSpPr>
            <p:spPr>
              <a:xfrm>
                <a:off x="6971400" y="3035149"/>
                <a:ext cx="2055315" cy="271869"/>
              </a:xfrm>
              <a:prstGeom prst="rect">
                <a:avLst/>
              </a:prstGeom>
              <a:solidFill>
                <a:srgbClr val="0070C0">
                  <a:alpha val="72000"/>
                </a:srgbClr>
              </a:solidFill>
              <a:ln w="9525">
                <a:solidFill>
                  <a:schemeClr val="tx2">
                    <a:lumMod val="95000"/>
                    <a:lumOff val="5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14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xlabel</m:t>
                      </m:r>
                      <m:r>
                        <a:rPr lang="en-US" altLang="zh-CN" sz="12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2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raw</m:t>
                      </m:r>
                      <m:r>
                        <a:rPr lang="en-US" altLang="zh-CN" sz="12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"$\</m:t>
                      </m:r>
                      <m:r>
                        <m:rPr>
                          <m:sty m:val="p"/>
                        </m:rPr>
                        <a:rPr lang="en-US" altLang="zh-CN" sz="12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epsilon</m:t>
                      </m:r>
                      <m:r>
                        <a:rPr lang="en-US" altLang="zh-CN" sz="12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$, %")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3997304-F62B-3FA7-E185-9589CF58C0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400" y="3035149"/>
                <a:ext cx="2055315" cy="271869"/>
              </a:xfrm>
              <a:prstGeom prst="rect">
                <a:avLst/>
              </a:prstGeom>
              <a:blipFill>
                <a:blip r:embed="rId4"/>
                <a:stretch>
                  <a:fillRect b="-8696"/>
                </a:stretch>
              </a:blipFill>
              <a:ln w="9525">
                <a:solidFill>
                  <a:schemeClr val="tx2">
                    <a:lumMod val="95000"/>
                    <a:lumOff val="5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0B25C39-6AFB-4DE3-D277-420101ABD25E}"/>
                  </a:ext>
                </a:extLst>
              </p:cNvPr>
              <p:cNvSpPr/>
              <p:nvPr/>
            </p:nvSpPr>
            <p:spPr>
              <a:xfrm>
                <a:off x="5724128" y="3665758"/>
                <a:ext cx="1388784" cy="271869"/>
              </a:xfrm>
              <a:prstGeom prst="rect">
                <a:avLst/>
              </a:prstGeom>
              <a:solidFill>
                <a:srgbClr val="0070C0">
                  <a:alpha val="72000"/>
                </a:srgbClr>
              </a:solidFill>
              <a:ln w="9525">
                <a:solidFill>
                  <a:schemeClr val="tx2">
                    <a:lumMod val="95000"/>
                    <a:lumOff val="5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14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ylabel</m:t>
                      </m:r>
                      <m:r>
                        <m:rPr>
                          <m:nor/>
                        </m:rP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("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  <m:r>
                        <m:rPr>
                          <m:nor/>
                        </m:rP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  <m:r>
                        <m:rPr>
                          <m:nor/>
                        </m:rP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")</m:t>
                      </m:r>
                    </m:oMath>
                  </m:oMathPara>
                </a14:m>
                <a:endParaRPr lang="en-US" altLang="zh-CN" sz="12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0B25C39-6AFB-4DE3-D277-420101ABD2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3665758"/>
                <a:ext cx="1388784" cy="271869"/>
              </a:xfrm>
              <a:prstGeom prst="rect">
                <a:avLst/>
              </a:prstGeom>
              <a:blipFill>
                <a:blip r:embed="rId5"/>
                <a:stretch>
                  <a:fillRect b="-6383"/>
                </a:stretch>
              </a:blipFill>
              <a:ln w="9525">
                <a:solidFill>
                  <a:schemeClr val="tx2">
                    <a:lumMod val="95000"/>
                    <a:lumOff val="5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3DB7524E-B612-3A9D-0782-84523C0EFEDC}"/>
              </a:ext>
            </a:extLst>
          </p:cNvPr>
          <p:cNvSpPr/>
          <p:nvPr/>
        </p:nvSpPr>
        <p:spPr>
          <a:xfrm>
            <a:off x="1326870" y="1568744"/>
            <a:ext cx="3389993" cy="31566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791" indent="-177791" defTabSz="914378">
              <a:lnSpc>
                <a:spcPct val="9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标签函数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raw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$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\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希腊英文字母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$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16" name="内容占位符 3">
            <a:extLst>
              <a:ext uri="{FF2B5EF4-FFF2-40B4-BE49-F238E27FC236}">
                <a16:creationId xmlns:a16="http://schemas.microsoft.com/office/drawing/2014/main" id="{BE1D2724-9F87-4B34-8ABC-DD1A89A53F9A}"/>
              </a:ext>
            </a:extLst>
          </p:cNvPr>
          <p:cNvSpPr txBox="1">
            <a:spLocks/>
          </p:cNvSpPr>
          <p:nvPr/>
        </p:nvSpPr>
        <p:spPr>
          <a:xfrm>
            <a:off x="69706" y="3455186"/>
            <a:ext cx="5186878" cy="856167"/>
          </a:xfrm>
          <a:prstGeom prst="rect">
            <a:avLst/>
          </a:prstGeom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800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 </a:t>
            </a:r>
            <a:r>
              <a:rPr lang="en-US" altLang="zh-CN" sz="1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“^” </a:t>
            </a:r>
            <a:r>
              <a:rPr lang="zh-CN" altLang="en-US" sz="1800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 </a:t>
            </a:r>
            <a:r>
              <a:rPr lang="en-US" altLang="zh-CN" sz="1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“_”</a:t>
            </a:r>
            <a:r>
              <a:rPr lang="en-US" altLang="zh-CN" sz="1800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字符分别创建上标和下标 </a:t>
            </a:r>
            <a:endParaRPr lang="en-US" altLang="zh-CN" sz="1800" b="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800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多个字符做为上下标时，用花括号</a:t>
            </a:r>
            <a:r>
              <a:rPr lang="zh-CN" altLang="en-US" sz="1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{}</a:t>
            </a:r>
            <a:r>
              <a:rPr lang="zh-CN" altLang="en-US" sz="1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endParaRPr lang="en-US" altLang="zh-CN" sz="1800" kern="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endParaRPr lang="zh-CN" altLang="en-US" sz="1800" kern="0" dirty="0">
              <a:solidFill>
                <a:srgbClr val="00206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FE132CF-F38B-447B-B557-C0307BAAE25C}"/>
              </a:ext>
            </a:extLst>
          </p:cNvPr>
          <p:cNvSpPr/>
          <p:nvPr/>
        </p:nvSpPr>
        <p:spPr>
          <a:xfrm>
            <a:off x="1763688" y="3022206"/>
            <a:ext cx="3215658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791" indent="-177791" algn="dist" defTabSz="914378">
              <a:lnSpc>
                <a:spcPct val="9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标签函数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raw“$txt</a:t>
            </a:r>
            <a:r>
              <a:rPr lang="en-US" altLang="zh-CN" sz="1600" dirty="0">
                <a:solidFill>
                  <a:schemeClr val="bg1"/>
                </a:solidFill>
                <a:latin typeface="+mj-ea"/>
              </a:rPr>
              <a:t>^{} </a:t>
            </a:r>
            <a:r>
              <a:rPr lang="zh-CN" altLang="en-US" sz="1600" dirty="0">
                <a:solidFill>
                  <a:schemeClr val="bg1"/>
                </a:solidFill>
                <a:latin typeface="+mj-ea"/>
              </a:rPr>
              <a:t>或</a:t>
            </a:r>
            <a:r>
              <a:rPr lang="en-US" altLang="zh-CN" sz="1600" dirty="0">
                <a:solidFill>
                  <a:schemeClr val="bg1"/>
                </a:solidFill>
                <a:latin typeface="+mj-ea"/>
              </a:rPr>
              <a:t>txt_{}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$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8DDC252-81CB-4A1A-AFBF-6800F7B983CA}"/>
              </a:ext>
            </a:extLst>
          </p:cNvPr>
          <p:cNvSpPr txBox="1"/>
          <p:nvPr/>
        </p:nvSpPr>
        <p:spPr>
          <a:xfrm>
            <a:off x="0" y="3025284"/>
            <a:ext cx="17636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标注格式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187EB81-A7C8-44B1-AF21-8A3E099F260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4650" t="12832" r="61165" b="78375"/>
          <a:stretch/>
        </p:blipFill>
        <p:spPr>
          <a:xfrm>
            <a:off x="31711" y="4299942"/>
            <a:ext cx="705631" cy="3089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10C3EFFE-8D21-48DA-8359-1288F723CC38}"/>
              </a:ext>
            </a:extLst>
          </p:cNvPr>
          <p:cNvSpPr txBox="1"/>
          <p:nvPr/>
        </p:nvSpPr>
        <p:spPr>
          <a:xfrm>
            <a:off x="82802" y="1022098"/>
            <a:ext cx="4201166" cy="3925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eaLnBrk="0" hangingPunct="0">
              <a:lnSpc>
                <a:spcPts val="2600"/>
              </a:lnSpc>
              <a:spcBef>
                <a:spcPct val="0"/>
              </a:spcBef>
              <a:defRPr/>
            </a:pP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种方法：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搜狗等汉字输入法输入（</a:t>
            </a:r>
            <a:r>
              <a:rPr lang="el-GR" altLang="zh-CN" sz="16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δ</a:t>
            </a:r>
            <a:r>
              <a:rPr lang="en-US" altLang="zh-CN" sz="16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≠） </a:t>
            </a:r>
            <a:endParaRPr lang="en-US" altLang="zh-CN" sz="1600" b="1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EA4B77-1280-4754-AF53-F56687470707}"/>
              </a:ext>
            </a:extLst>
          </p:cNvPr>
          <p:cNvSpPr txBox="1"/>
          <p:nvPr/>
        </p:nvSpPr>
        <p:spPr>
          <a:xfrm>
            <a:off x="69706" y="1563064"/>
            <a:ext cx="14904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种方法：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A89CDED-050C-48AD-8EBF-C6414C6800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3538" y="1030764"/>
            <a:ext cx="2884726" cy="397425"/>
          </a:xfrm>
          <a:prstGeom prst="rect">
            <a:avLst/>
          </a:prstGeom>
          <a:ln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6" name="椭圆 25">
            <a:extLst>
              <a:ext uri="{FF2B5EF4-FFF2-40B4-BE49-F238E27FC236}">
                <a16:creationId xmlns:a16="http://schemas.microsoft.com/office/drawing/2014/main" id="{243EA9C5-1F96-4D5A-A538-19EE7F7DFBF4}"/>
              </a:ext>
            </a:extLst>
          </p:cNvPr>
          <p:cNvSpPr/>
          <p:nvPr/>
        </p:nvSpPr>
        <p:spPr bwMode="auto">
          <a:xfrm>
            <a:off x="6318194" y="1096309"/>
            <a:ext cx="342038" cy="246323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D479F0-1DB9-44D8-A89E-8B981CF9C339}"/>
              </a:ext>
            </a:extLst>
          </p:cNvPr>
          <p:cNvSpPr txBox="1"/>
          <p:nvPr/>
        </p:nvSpPr>
        <p:spPr>
          <a:xfrm>
            <a:off x="7010505" y="1049253"/>
            <a:ext cx="2058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文本排版系统</a:t>
            </a:r>
            <a:r>
              <a:rPr lang="en-US" altLang="zh-CN" sz="16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</a:t>
            </a:r>
            <a:r>
              <a:rPr lang="zh-CN" altLang="en-US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960AF09-8C04-4A4D-A2BC-41342C65AE7F}"/>
              </a:ext>
            </a:extLst>
          </p:cNvPr>
          <p:cNvSpPr txBox="1"/>
          <p:nvPr/>
        </p:nvSpPr>
        <p:spPr>
          <a:xfrm>
            <a:off x="2315085" y="696572"/>
            <a:ext cx="6737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标记将希腊字母和其他特殊数学字符包括在标签中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296CC25-478E-403F-B881-9459C44E117E}"/>
              </a:ext>
            </a:extLst>
          </p:cNvPr>
          <p:cNvSpPr txBox="1"/>
          <p:nvPr/>
        </p:nvSpPr>
        <p:spPr>
          <a:xfrm>
            <a:off x="832618" y="4299942"/>
            <a:ext cx="42806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s-E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(x,y,</a:t>
            </a:r>
            <a:r>
              <a:rPr lang="es-ES" altLang="zh-CN" sz="14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raw"$\sigma_{max}$="*</a:t>
            </a:r>
            <a:r>
              <a:rPr lang="es-E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E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</a:t>
            </a:r>
            <a:r>
              <a:rPr lang="es-ES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841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 animBg="1"/>
      <p:bldP spid="3" grpId="0" animBg="1"/>
      <p:bldP spid="17" grpId="0"/>
      <p:bldP spid="6" grpId="0" animBg="1"/>
      <p:bldP spid="5" grpId="0" animBg="1"/>
      <p:bldP spid="8" grpId="0" animBg="1"/>
      <p:bldP spid="18" grpId="0" animBg="1"/>
      <p:bldP spid="19" grpId="0"/>
      <p:bldP spid="24" grpId="0" animBg="1"/>
      <p:bldP spid="27" grpId="0"/>
      <p:bldP spid="26" grpId="0" animBg="1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>
            <a:extLst>
              <a:ext uri="{FF2B5EF4-FFF2-40B4-BE49-F238E27FC236}">
                <a16:creationId xmlns:a16="http://schemas.microsoft.com/office/drawing/2014/main" id="{FC170A4C-3B5E-5D99-B7CE-466683F779CF}"/>
              </a:ext>
            </a:extLst>
          </p:cNvPr>
          <p:cNvSpPr txBox="1">
            <a:spLocks/>
          </p:cNvSpPr>
          <p:nvPr/>
        </p:nvSpPr>
        <p:spPr bwMode="auto">
          <a:xfrm>
            <a:off x="385539" y="687214"/>
            <a:ext cx="1669541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342900" indent="-342900">
              <a:buFont typeface="+mj-ea"/>
              <a:buAutoNum type="circleNumDbPlain"/>
            </a:pPr>
            <a:r>
              <a:rPr lang="zh-CN" altLang="en-US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图形注释</a:t>
            </a:r>
            <a:r>
              <a:rPr lang="en-US" altLang="zh-CN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r>
              <a:rPr lang="zh-CN" altLang="en-US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35060B-CB35-1286-427F-88297A2B0314}"/>
              </a:ext>
            </a:extLst>
          </p:cNvPr>
          <p:cNvSpPr txBox="1"/>
          <p:nvPr/>
        </p:nvSpPr>
        <p:spPr>
          <a:xfrm>
            <a:off x="2408633" y="666396"/>
            <a:ext cx="5619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在图中指定坐标点（</a:t>
            </a:r>
            <a:r>
              <a:rPr lang="en-US" altLang="zh-CN" b="1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x,y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）添加文本说明</a:t>
            </a:r>
            <a:r>
              <a:rPr lang="en-US" altLang="zh-CN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txt</a:t>
            </a:r>
            <a:endParaRPr lang="zh-CN" altLang="en-US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2B6DFC-288D-45C5-B294-AED9F18C671E}"/>
              </a:ext>
            </a:extLst>
          </p:cNvPr>
          <p:cNvSpPr txBox="1"/>
          <p:nvPr/>
        </p:nvSpPr>
        <p:spPr>
          <a:xfrm>
            <a:off x="334699" y="3032479"/>
            <a:ext cx="8745342" cy="3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0">
              <a:lnSpc>
                <a:spcPts val="2500"/>
              </a:lnSpc>
              <a:spcBef>
                <a:spcPts val="0"/>
              </a:spcBef>
            </a:pPr>
            <a:r>
              <a:rPr lang="en-US" altLang="zh-CN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gtext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将鼠标指针移至所需位置并点击图窗或按任意键（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Enter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键除外）添加文本说明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txt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02FB89-EEBD-46F5-A896-579FC64F78B2}"/>
              </a:ext>
            </a:extLst>
          </p:cNvPr>
          <p:cNvSpPr txBox="1"/>
          <p:nvPr/>
        </p:nvSpPr>
        <p:spPr>
          <a:xfrm>
            <a:off x="337217" y="3372447"/>
            <a:ext cx="2719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注释图形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annotation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CC11B05-EAF9-4D04-8996-323EDE529396}"/>
              </a:ext>
            </a:extLst>
          </p:cNvPr>
          <p:cNvSpPr txBox="1"/>
          <p:nvPr/>
        </p:nvSpPr>
        <p:spPr>
          <a:xfrm>
            <a:off x="2915816" y="3395674"/>
            <a:ext cx="5682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200" b="0" i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800" b="1" dirty="0">
                <a:solidFill>
                  <a:srgbClr val="0070C0"/>
                </a:solidFill>
              </a:rPr>
              <a:t>当前图窗创建特定大小位置的矩形或椭圆文本框注释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E785518-BF19-4B03-953F-ABBE3642DC2F}"/>
              </a:ext>
            </a:extLst>
          </p:cNvPr>
          <p:cNvSpPr txBox="1"/>
          <p:nvPr/>
        </p:nvSpPr>
        <p:spPr>
          <a:xfrm>
            <a:off x="310171" y="4044115"/>
            <a:ext cx="8726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200" b="0" i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800" dirty="0" err="1"/>
              <a:t>shapeType</a:t>
            </a:r>
            <a:r>
              <a:rPr lang="zh-CN" altLang="en-US" sz="1800" dirty="0"/>
              <a:t>为</a:t>
            </a:r>
            <a:r>
              <a:rPr lang="en-US" altLang="zh-CN" sz="1800" dirty="0"/>
              <a:t>“rectangle”</a:t>
            </a:r>
            <a:r>
              <a:rPr lang="zh-CN" altLang="en-US" sz="1800" dirty="0"/>
              <a:t>、</a:t>
            </a:r>
            <a:r>
              <a:rPr lang="en-US" altLang="zh-CN" sz="1800" dirty="0"/>
              <a:t>“ellipse”</a:t>
            </a:r>
            <a:r>
              <a:rPr lang="zh-CN" altLang="en-US" sz="1800" dirty="0"/>
              <a:t>等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800" dirty="0"/>
              <a:t>dim</a:t>
            </a:r>
            <a:r>
              <a:rPr lang="zh-CN" altLang="en-US" sz="1800" dirty="0"/>
              <a:t>为</a:t>
            </a:r>
            <a:r>
              <a:rPr lang="en-US" altLang="zh-CN" sz="1800" dirty="0"/>
              <a:t>[x y w h]</a:t>
            </a:r>
            <a:r>
              <a:rPr lang="zh-CN" altLang="en-US" sz="1800" dirty="0"/>
              <a:t> 向量，</a:t>
            </a:r>
            <a:r>
              <a:rPr lang="en-US" altLang="zh-CN" sz="1800" dirty="0"/>
              <a:t>x</a:t>
            </a:r>
            <a:r>
              <a:rPr lang="zh-CN" altLang="en-US" sz="1800" dirty="0"/>
              <a:t>和</a:t>
            </a:r>
            <a:r>
              <a:rPr lang="en-US" altLang="zh-CN" sz="1800" dirty="0"/>
              <a:t>y</a:t>
            </a:r>
            <a:r>
              <a:rPr lang="zh-CN" altLang="en-US" sz="1800" dirty="0"/>
              <a:t>左下角位置，</a:t>
            </a:r>
            <a:r>
              <a:rPr lang="en-US" altLang="zh-CN" sz="1800" dirty="0"/>
              <a:t>w</a:t>
            </a:r>
            <a:r>
              <a:rPr lang="zh-CN" altLang="en-US" sz="1800" dirty="0"/>
              <a:t>和</a:t>
            </a:r>
            <a:r>
              <a:rPr lang="en-US" altLang="zh-CN" sz="1800" dirty="0"/>
              <a:t>h</a:t>
            </a:r>
            <a:r>
              <a:rPr lang="zh-CN" altLang="en-US" sz="1800" dirty="0"/>
              <a:t>为宽和高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368C242-866E-EC2D-3E8E-CB34243DF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66" y="1324956"/>
            <a:ext cx="8568952" cy="1158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algn="just" defTabSz="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注释句柄</a:t>
            </a:r>
            <a:r>
              <a:rPr lang="en-US" altLang="zh-CN" sz="1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</a:t>
            </a:r>
            <a:r>
              <a:rPr lang="zh-CN" altLang="en-US" sz="1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、坐标区</a:t>
            </a:r>
            <a:r>
              <a:rPr lang="en-US" altLang="zh-CN" sz="1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</a:t>
            </a:r>
            <a:r>
              <a:rPr lang="zh-CN" altLang="en-US" sz="1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和对组参数</a:t>
            </a:r>
            <a:r>
              <a:rPr lang="en-US" altLang="zh-CN" sz="1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Key=Value</a:t>
            </a:r>
            <a:r>
              <a:rPr lang="zh-CN" altLang="en-US" sz="1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与图形标签一样，可缺省</a:t>
            </a:r>
            <a:r>
              <a:rPr lang="en-US" altLang="zh-CN" sz="1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1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hlinkClick r:id="rId3" action="ppaction://hlinkfile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just" defTabSz="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注释点坐标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y:</a:t>
            </a: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分别代表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 </a:t>
            </a: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轴和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轴位置</a:t>
            </a:r>
            <a:endParaRPr lang="en-US" altLang="zh-CN" sz="1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defTabSz="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文本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txt </a:t>
            </a: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：在指定位置标注文本</a:t>
            </a:r>
            <a:endParaRPr lang="en-US" altLang="zh-CN" sz="1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F2D2EA-2907-0A57-1E6B-06522C4E148F}"/>
              </a:ext>
            </a:extLst>
          </p:cNvPr>
          <p:cNvSpPr/>
          <p:nvPr/>
        </p:nvSpPr>
        <p:spPr>
          <a:xfrm>
            <a:off x="3514627" y="1075040"/>
            <a:ext cx="5378422" cy="31566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791" indent="-177791" algn="dist" defTabSz="914378">
              <a:lnSpc>
                <a:spcPct val="9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注释句柄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t=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text(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坐标区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</a:t>
            </a:r>
            <a:r>
              <a:rPr lang="zh-CN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21A4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坐标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21A4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x,y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21A4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21A4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文本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21A4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txt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,Key=Value 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6975F8A-4C36-427E-9834-EF60686CE276}"/>
              </a:ext>
            </a:extLst>
          </p:cNvPr>
          <p:cNvSpPr txBox="1"/>
          <p:nvPr/>
        </p:nvSpPr>
        <p:spPr>
          <a:xfrm>
            <a:off x="2291565" y="2275882"/>
            <a:ext cx="4656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使用鼠标选添加位置将文本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txt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添加到图形中</a:t>
            </a:r>
            <a:endParaRPr lang="zh-CN" altLang="en-US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标题 2">
            <a:extLst>
              <a:ext uri="{FF2B5EF4-FFF2-40B4-BE49-F238E27FC236}">
                <a16:creationId xmlns:a16="http://schemas.microsoft.com/office/drawing/2014/main" id="{60542B2A-C7CE-420A-84D6-5C1C2519D663}"/>
              </a:ext>
            </a:extLst>
          </p:cNvPr>
          <p:cNvSpPr txBox="1">
            <a:spLocks/>
          </p:cNvSpPr>
          <p:nvPr/>
        </p:nvSpPr>
        <p:spPr bwMode="auto">
          <a:xfrm>
            <a:off x="337216" y="2290685"/>
            <a:ext cx="2141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20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342900" indent="-342900" algn="l">
              <a:buFont typeface="+mj-ea"/>
              <a:buAutoNum type="circleNumDbPlain" startAt="2"/>
            </a:pP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图形注释</a:t>
            </a: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gtext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04EABC-B869-42B2-BF7D-D3A341F1D261}"/>
              </a:ext>
            </a:extLst>
          </p:cNvPr>
          <p:cNvSpPr/>
          <p:nvPr/>
        </p:nvSpPr>
        <p:spPr>
          <a:xfrm>
            <a:off x="3221650" y="2690850"/>
            <a:ext cx="5695260" cy="31566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791" indent="-177791" algn="dist" defTabSz="914378">
              <a:lnSpc>
                <a:spcPct val="9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注释句柄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t=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gtext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21A4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21A4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文本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21A4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txt ",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Key=Value 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81F53D-713F-4E58-85A9-9657675812FE}"/>
              </a:ext>
            </a:extLst>
          </p:cNvPr>
          <p:cNvSpPr/>
          <p:nvPr/>
        </p:nvSpPr>
        <p:spPr>
          <a:xfrm>
            <a:off x="394814" y="3748561"/>
            <a:ext cx="2521002" cy="2862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791" indent="-177791" defTabSz="914378">
              <a:lnSpc>
                <a:spcPct val="9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annotation(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shapeType</a:t>
            </a:r>
            <a:r>
              <a:rPr lang="en-US" altLang="zh-CN" sz="1400" dirty="0" err="1"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400" dirty="0" err="1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dim</a:t>
            </a:r>
            <a:r>
              <a:rPr lang="en-US" altLang="zh-CN" sz="1400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b="1" dirty="0">
              <a:solidFill>
                <a:srgbClr val="FFFF00"/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93A4EE5-F5B2-46EE-AB51-DEC7AF436C56}"/>
                  </a:ext>
                </a:extLst>
              </p:cNvPr>
              <p:cNvSpPr/>
              <p:nvPr/>
            </p:nvSpPr>
            <p:spPr>
              <a:xfrm>
                <a:off x="474144" y="1033301"/>
                <a:ext cx="2052357" cy="319575"/>
              </a:xfrm>
              <a:prstGeom prst="rect">
                <a:avLst/>
              </a:prstGeom>
              <a:solidFill>
                <a:srgbClr val="0070C0"/>
              </a:solidFill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177791" indent="-177791" algn="dist" defTabSz="914378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600" b="1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text</m:t>
                      </m:r>
                      <m:r>
                        <m:rPr>
                          <m:nor/>
                        </m:rPr>
                        <a:rPr lang="en-US" altLang="zh-CN" sz="1600" b="1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zh-CN" altLang="en-US" sz="16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坐标</m:t>
                      </m:r>
                      <m:r>
                        <m:rPr>
                          <m:nor/>
                        </m:rPr>
                        <a:rPr lang="en-US" altLang="zh-CN" sz="16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CN" sz="16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CN" sz="16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y</m:t>
                      </m:r>
                      <m:r>
                        <m:rPr>
                          <m:nor/>
                        </m:rPr>
                        <a:rPr lang="en-US" altLang="zh-CN" sz="16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,"</m:t>
                      </m:r>
                      <m:r>
                        <a:rPr lang="zh-CN" altLang="en-US" sz="16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文本</m:t>
                      </m:r>
                      <m:r>
                        <m:rPr>
                          <m:nor/>
                        </m:rPr>
                        <a:rPr lang="en-US" altLang="zh-CN" sz="16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")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93A4EE5-F5B2-46EE-AB51-DEC7AF436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44" y="1033301"/>
                <a:ext cx="2052357" cy="3195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DC5BF75-1257-4B39-97D3-401ADDAF0B57}"/>
                  </a:ext>
                </a:extLst>
              </p:cNvPr>
              <p:cNvSpPr/>
              <p:nvPr/>
            </p:nvSpPr>
            <p:spPr>
              <a:xfrm>
                <a:off x="394814" y="2707556"/>
                <a:ext cx="1423490" cy="320601"/>
              </a:xfrm>
              <a:prstGeom prst="rect">
                <a:avLst/>
              </a:prstGeom>
              <a:solidFill>
                <a:srgbClr val="0070C0"/>
              </a:solidFill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177791" indent="-177791" algn="dist" defTabSz="914378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6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gte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CN" sz="16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CN" sz="16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("</m:t>
                      </m:r>
                      <m:r>
                        <a:rPr lang="zh-CN" altLang="en-US" sz="16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文本</m:t>
                      </m:r>
                      <m:r>
                        <m:rPr>
                          <m:nor/>
                        </m:rPr>
                        <a:rPr lang="en-US" altLang="zh-CN" sz="16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")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DC5BF75-1257-4B39-97D3-401ADDAF0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14" y="2707556"/>
                <a:ext cx="1423490" cy="3206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B197E5F8-625D-42B5-BDAB-BEC8C8CABAF0}"/>
              </a:ext>
            </a:extLst>
          </p:cNvPr>
          <p:cNvSpPr txBox="1"/>
          <p:nvPr/>
        </p:nvSpPr>
        <p:spPr>
          <a:xfrm>
            <a:off x="1914433" y="2680572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完整格式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AB54B47-0165-4381-8720-B65DF66E1FEA}"/>
              </a:ext>
            </a:extLst>
          </p:cNvPr>
          <p:cNvSpPr txBox="1"/>
          <p:nvPr/>
        </p:nvSpPr>
        <p:spPr>
          <a:xfrm>
            <a:off x="2799681" y="1033301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完整</a:t>
            </a:r>
            <a:endParaRPr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97D2F2E-458C-442F-9F24-45045750E7D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475" t="9420" r="5000" b="6601"/>
          <a:stretch/>
        </p:blipFill>
        <p:spPr>
          <a:xfrm>
            <a:off x="6852437" y="1249375"/>
            <a:ext cx="1968297" cy="149720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333C66F0-0B32-4564-A46B-AE5EEE7F65DC}"/>
              </a:ext>
            </a:extLst>
          </p:cNvPr>
          <p:cNvSpPr txBox="1"/>
          <p:nvPr/>
        </p:nvSpPr>
        <p:spPr>
          <a:xfrm>
            <a:off x="2915816" y="3694464"/>
            <a:ext cx="3217759" cy="35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dim=[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0.45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B57A30E-1EFB-46B9-A53A-6085469B18A0}"/>
              </a:ext>
            </a:extLst>
          </p:cNvPr>
          <p:cNvSpPr txBox="1"/>
          <p:nvPr/>
        </p:nvSpPr>
        <p:spPr>
          <a:xfrm>
            <a:off x="5989455" y="3696088"/>
            <a:ext cx="3141507" cy="35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"ellipse"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dim)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8A8943C7-328D-47CB-81FF-C719E854C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456" y="222654"/>
            <a:ext cx="6297928" cy="438150"/>
          </a:xfrm>
        </p:spPr>
        <p:txBody>
          <a:bodyPr/>
          <a:lstStyle/>
          <a:p>
            <a:r>
              <a:rPr lang="en-US" altLang="zh-CN" sz="2800" b="1" dirty="0"/>
              <a:t>§3.2.2</a:t>
            </a:r>
            <a:r>
              <a:rPr lang="en-US" altLang="zh-CN" sz="2800" b="1" dirty="0">
                <a:solidFill>
                  <a:srgbClr val="002060"/>
                </a:solidFill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</a:rPr>
              <a:t>图形标签和注释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-apple-system"/>
              </a:rPr>
              <a:t>图形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-apple-system"/>
              </a:rPr>
              <a:t>注释</a:t>
            </a:r>
            <a:r>
              <a:rPr lang="en-US" altLang="zh-CN" sz="2800" b="1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69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13" grpId="0"/>
      <p:bldP spid="9" grpId="0"/>
      <p:bldP spid="10" grpId="0" animBg="1"/>
      <p:bldP spid="17" grpId="0" animBg="1"/>
      <p:bldP spid="22" grpId="0" animBg="1"/>
      <p:bldP spid="23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4A691-74FE-DEA7-66A6-358E24FF7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48357"/>
            <a:ext cx="7962204" cy="438150"/>
          </a:xfrm>
        </p:spPr>
        <p:txBody>
          <a:bodyPr/>
          <a:lstStyle/>
          <a:p>
            <a:r>
              <a:rPr lang="en-US" altLang="zh-CN" sz="2800" b="1" dirty="0"/>
              <a:t>§3.2.2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图形标签和注释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800" b="1" dirty="0" err="1">
                <a:solidFill>
                  <a:srgbClr val="FF0000"/>
                </a:solidFill>
              </a:rPr>
              <a:t>ginput</a:t>
            </a:r>
            <a:r>
              <a:rPr lang="zh-CN" altLang="en-US" sz="2800" b="1" dirty="0">
                <a:solidFill>
                  <a:srgbClr val="FF0000"/>
                </a:solidFill>
              </a:rPr>
              <a:t>标识坐标区坐标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4172CD-FD47-89DC-913C-7D870FECD8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359" y="2183554"/>
            <a:ext cx="3034111" cy="1994249"/>
          </a:xfrm>
          <a:prstGeom prst="rect">
            <a:avLst/>
          </a:prstGeom>
        </p:spPr>
      </p:pic>
      <p:sp>
        <p:nvSpPr>
          <p:cNvPr id="8" name="日期占位符 1">
            <a:extLst>
              <a:ext uri="{FF2B5EF4-FFF2-40B4-BE49-F238E27FC236}">
                <a16:creationId xmlns:a16="http://schemas.microsoft.com/office/drawing/2014/main" id="{05A367D3-888B-49E6-D7E8-20ADE505A9FB}"/>
              </a:ext>
            </a:extLst>
          </p:cNvPr>
          <p:cNvSpPr txBox="1">
            <a:spLocks/>
          </p:cNvSpPr>
          <p:nvPr/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pPr>
                <a:defRPr/>
              </a:pPr>
              <a:t>2025/3/18</a:t>
            </a:fld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B82E96-CABC-6A5C-1CF1-31F4EA161101}"/>
              </a:ext>
            </a:extLst>
          </p:cNvPr>
          <p:cNvSpPr/>
          <p:nvPr/>
        </p:nvSpPr>
        <p:spPr>
          <a:xfrm>
            <a:off x="5904148" y="212336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	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11EBB9-E5A5-54CD-8B1B-3CCC95708F7A}"/>
              </a:ext>
            </a:extLst>
          </p:cNvPr>
          <p:cNvSpPr/>
          <p:nvPr/>
        </p:nvSpPr>
        <p:spPr>
          <a:xfrm>
            <a:off x="379169" y="1294625"/>
            <a:ext cx="161322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x,y = ginput(n)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C32ABA5-725B-AF53-21E1-2BBC5E84D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818" y="1157000"/>
            <a:ext cx="7002417" cy="584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用于标识 n 个点的坐标。将光标移至所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选择一个点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位置，按下鼠标键。在选中全部 n 个点之前，按 Return 键可停止选择 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8CEBF95-13C5-E40F-D760-274C169E28D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74" b="89974" l="2132" r="982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467" b="8371"/>
          <a:stretch/>
        </p:blipFill>
        <p:spPr>
          <a:xfrm rot="5400000">
            <a:off x="827464" y="1234463"/>
            <a:ext cx="2331014" cy="3354672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5809271-A56F-1483-08C7-3D5894B67C83}"/>
              </a:ext>
            </a:extLst>
          </p:cNvPr>
          <p:cNvSpPr/>
          <p:nvPr/>
        </p:nvSpPr>
        <p:spPr>
          <a:xfrm>
            <a:off x="294691" y="742605"/>
            <a:ext cx="485337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latinLnBrk="1"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获取二维图形数据坐标的命令ginput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FB86C781-1DF9-C10F-C1F4-A5668C8F8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38" y="3778642"/>
            <a:ext cx="393935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lvl="0" eaLnBrk="0" hangingPunct="0">
              <a:defRPr kumimoji="0" sz="24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/>
            <a:lvl3pPr eaLnBrk="0" hangingPunct="0"/>
            <a:lvl4pPr eaLnBrk="0" hangingPunct="0"/>
            <a:lvl5pPr eaLnBrk="0" hangingPunct="0"/>
            <a:lvl6pPr eaLnBrk="0" fontAlgn="base" hangingPunct="0">
              <a:spcBef>
                <a:spcPct val="0"/>
              </a:spcBef>
              <a:spcAft>
                <a:spcPct val="0"/>
              </a:spcAft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sz="1800" dirty="0">
                <a:solidFill>
                  <a:srgbClr val="FF0000"/>
                </a:solidFill>
              </a:rPr>
              <a:t>使用鼠标在选定位置识别坐标区坐标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8335FF-D79C-42F6-B93B-AC44B020AAEF}"/>
              </a:ext>
            </a:extLst>
          </p:cNvPr>
          <p:cNvSpPr txBox="1"/>
          <p:nvPr/>
        </p:nvSpPr>
        <p:spPr>
          <a:xfrm>
            <a:off x="5904148" y="2224605"/>
            <a:ext cx="3034111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sz="20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imshow</a:t>
            </a:r>
            <a:r>
              <a:rPr lang="en-US" altLang="zh-CN" sz="20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("hand.png");</a:t>
            </a:r>
          </a:p>
          <a:p>
            <a:r>
              <a:rPr lang="en-US" altLang="zh-CN" sz="20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sz="20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ginput</a:t>
            </a:r>
            <a:r>
              <a:rPr lang="en-US" altLang="zh-CN" sz="20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(30)</a:t>
            </a:r>
          </a:p>
          <a:p>
            <a:r>
              <a:rPr lang="en-US" altLang="zh-CN" sz="20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plot(x,-y)</a:t>
            </a:r>
          </a:p>
          <a:p>
            <a:r>
              <a:rPr lang="en-US" altLang="zh-CN" sz="20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#plot(x,y)</a:t>
            </a:r>
            <a:r>
              <a:rPr lang="zh-CN" altLang="en-US" sz="20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是倒的数据</a:t>
            </a:r>
            <a:endParaRPr lang="en-US" altLang="zh-CN" sz="2000" b="0" dirty="0">
              <a:solidFill>
                <a:srgbClr val="0070C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9D09F13F-5C32-42F2-A679-F26C9720B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6614" y="3575635"/>
            <a:ext cx="4320480" cy="578894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endParaRPr lang="en-US" altLang="zh-CN" sz="1600" b="1" i="0" dirty="0">
              <a:solidFill>
                <a:srgbClr val="FFFF00"/>
              </a:solidFill>
              <a:effectLst/>
              <a:latin typeface="Menlo"/>
            </a:endParaRPr>
          </a:p>
          <a:p>
            <a:endParaRPr lang="en-US" altLang="zh-CN" sz="1600" b="1" dirty="0">
              <a:solidFill>
                <a:srgbClr val="FFFF00"/>
              </a:solidFill>
              <a:latin typeface="Menlo"/>
            </a:endParaRPr>
          </a:p>
          <a:p>
            <a:r>
              <a:rPr lang="en-US" altLang="zh-CN" sz="1600" b="1" i="0" dirty="0">
                <a:solidFill>
                  <a:srgbClr val="FFFF00"/>
                </a:solidFill>
                <a:effectLst/>
                <a:latin typeface="Menlo"/>
              </a:rPr>
              <a:t>MATLAB:[</a:t>
            </a:r>
            <a:r>
              <a:rPr lang="zh-CN" altLang="en-US" sz="1600" dirty="0">
                <a:solidFill>
                  <a:srgbClr val="FFFF00"/>
                </a:solidFill>
              </a:rPr>
              <a:t> x,y </a:t>
            </a:r>
            <a:r>
              <a:rPr lang="en-US" altLang="zh-CN" sz="1600" b="1" i="0" dirty="0">
                <a:solidFill>
                  <a:srgbClr val="FFFF00"/>
                </a:solidFill>
                <a:effectLst/>
                <a:latin typeface="Menlo"/>
              </a:rPr>
              <a:t>]</a:t>
            </a:r>
            <a:r>
              <a:rPr lang="zh-CN" altLang="en-US" sz="1600" dirty="0">
                <a:solidFill>
                  <a:srgbClr val="FFFF00"/>
                </a:solidFill>
              </a:rPr>
              <a:t>= ginput(n)</a:t>
            </a:r>
          </a:p>
          <a:p>
            <a:endParaRPr lang="en-US" altLang="zh-CN" sz="1600" b="1" dirty="0">
              <a:solidFill>
                <a:srgbClr val="FFFF00"/>
              </a:solidFill>
            </a:endParaRPr>
          </a:p>
          <a:p>
            <a:endParaRPr lang="zh-CN" altLang="en-US" sz="1600" b="1" dirty="0">
              <a:solidFill>
                <a:srgbClr val="FFFF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EA0F29-1914-4B86-BD24-5AD9F67A58F6}"/>
              </a:ext>
            </a:extLst>
          </p:cNvPr>
          <p:cNvSpPr/>
          <p:nvPr/>
        </p:nvSpPr>
        <p:spPr>
          <a:xfrm>
            <a:off x="2106707" y="1755257"/>
            <a:ext cx="412644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atinLnBrk="1">
              <a:buClr>
                <a:schemeClr val="tx1"/>
              </a:buClr>
            </a:pP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用命令ginput根据手照片绘制手型</a:t>
            </a:r>
          </a:p>
        </p:txBody>
      </p:sp>
      <p:sp>
        <p:nvSpPr>
          <p:cNvPr id="19" name="波形 18">
            <a:extLst>
              <a:ext uri="{FF2B5EF4-FFF2-40B4-BE49-F238E27FC236}">
                <a16:creationId xmlns:a16="http://schemas.microsoft.com/office/drawing/2014/main" id="{FDB93C13-3827-4AF6-83DA-E5D9162762E5}"/>
              </a:ext>
            </a:extLst>
          </p:cNvPr>
          <p:cNvSpPr/>
          <p:nvPr/>
        </p:nvSpPr>
        <p:spPr>
          <a:xfrm>
            <a:off x="368940" y="4169205"/>
            <a:ext cx="1299885" cy="43815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042A4B-8374-411E-AC85-299F783CB37D}"/>
              </a:ext>
            </a:extLst>
          </p:cNvPr>
          <p:cNvSpPr/>
          <p:nvPr/>
        </p:nvSpPr>
        <p:spPr>
          <a:xfrm>
            <a:off x="1697359" y="4218642"/>
            <a:ext cx="739488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 latinLnBrk="1">
              <a:buClr>
                <a:schemeClr val="tx1"/>
              </a:buClr>
            </a:pP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根据哈尔滨工业大学主楼照片</a:t>
            </a: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,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采用</a:t>
            </a:r>
            <a:r>
              <a:rPr lang="en-US" altLang="zh-CN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ginput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绘制哈工大轮廓图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04308C6-54C9-4B20-A268-042844A648B9}"/>
                  </a:ext>
                </a:extLst>
              </p:cNvPr>
              <p:cNvSpPr/>
              <p:nvPr/>
            </p:nvSpPr>
            <p:spPr>
              <a:xfrm>
                <a:off x="6888739" y="732921"/>
                <a:ext cx="2052357" cy="319575"/>
              </a:xfrm>
              <a:prstGeom prst="rect">
                <a:avLst/>
              </a:prstGeom>
              <a:solidFill>
                <a:srgbClr val="0070C0"/>
              </a:solidFill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177791" indent="-177791" algn="dist" defTabSz="914378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600" b="1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text</m:t>
                      </m:r>
                      <m:r>
                        <m:rPr>
                          <m:nor/>
                        </m:rPr>
                        <a:rPr lang="en-US" altLang="zh-CN" sz="1600" b="1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zh-CN" altLang="en-US" sz="16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坐标</m:t>
                      </m:r>
                      <m:r>
                        <m:rPr>
                          <m:nor/>
                        </m:rPr>
                        <a:rPr lang="en-US" altLang="zh-CN" sz="16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CN" sz="16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CN" sz="16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y</m:t>
                      </m:r>
                      <m:r>
                        <m:rPr>
                          <m:nor/>
                        </m:rPr>
                        <a:rPr lang="en-US" altLang="zh-CN" sz="16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,"</m:t>
                      </m:r>
                      <m:r>
                        <a:rPr lang="zh-CN" altLang="en-US" sz="16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文本</m:t>
                      </m:r>
                      <m:r>
                        <m:rPr>
                          <m:nor/>
                        </m:rPr>
                        <a:rPr lang="en-US" altLang="zh-CN" sz="16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")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04308C6-54C9-4B20-A268-042844A648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739" y="732921"/>
                <a:ext cx="2052357" cy="3195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波形 17">
            <a:extLst>
              <a:ext uri="{FF2B5EF4-FFF2-40B4-BE49-F238E27FC236}">
                <a16:creationId xmlns:a16="http://schemas.microsoft.com/office/drawing/2014/main" id="{87E84FF9-825B-DA54-DC75-BA3DBA10C820}"/>
              </a:ext>
            </a:extLst>
          </p:cNvPr>
          <p:cNvSpPr/>
          <p:nvPr/>
        </p:nvSpPr>
        <p:spPr>
          <a:xfrm>
            <a:off x="5849477" y="1800307"/>
            <a:ext cx="383671" cy="26752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5002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extLst>
              <a:ext uri="{FF2B5EF4-FFF2-40B4-BE49-F238E27FC236}">
                <a16:creationId xmlns:a16="http://schemas.microsoft.com/office/drawing/2014/main" id="{E7DA8C17-9FB5-44A4-A33C-76F53FF1A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896" y="666928"/>
            <a:ext cx="3666902" cy="255949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9EEFFC8-7A80-4CDB-80BD-B102D93C8B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989" t="31640" r="25143" b="31961"/>
          <a:stretch/>
        </p:blipFill>
        <p:spPr>
          <a:xfrm>
            <a:off x="395537" y="3097156"/>
            <a:ext cx="8496941" cy="17552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A659327-2FB2-4F7A-A160-FE80A6262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453" b="79178" l="16747" r="84733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49" t="9738" r="6768" b="13106"/>
          <a:stretch/>
        </p:blipFill>
        <p:spPr>
          <a:xfrm>
            <a:off x="-612576" y="915021"/>
            <a:ext cx="5702826" cy="295287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922B3A7-50FA-4874-B575-AD597AA9E07F}"/>
              </a:ext>
            </a:extLst>
          </p:cNvPr>
          <p:cNvSpPr/>
          <p:nvPr/>
        </p:nvSpPr>
        <p:spPr>
          <a:xfrm>
            <a:off x="492990" y="2599350"/>
            <a:ext cx="9353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7,44</a:t>
            </a:r>
            <a:r>
              <a:rPr lang="en-US" altLang="zh-CN" sz="2000" dirty="0">
                <a:solidFill>
                  <a:srgbClr val="002060"/>
                </a:solidFill>
                <a:highlight>
                  <a:srgbClr val="FFFF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endParaRPr lang="zh-CN" altLang="en-US" sz="2000" dirty="0">
              <a:solidFill>
                <a:srgbClr val="002060"/>
              </a:solidFill>
              <a:highlight>
                <a:srgbClr val="FFFF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BBEA3A-9F4F-4059-9F04-AC852D548669}"/>
              </a:ext>
            </a:extLst>
          </p:cNvPr>
          <p:cNvSpPr/>
          <p:nvPr/>
        </p:nvSpPr>
        <p:spPr>
          <a:xfrm>
            <a:off x="3452340" y="1832620"/>
            <a:ext cx="12202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158,68</a:t>
            </a:r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endParaRPr lang="zh-CN" altLang="en-US" sz="20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AA14FE36-084E-46F5-8B5E-A27EB53ED602}"/>
              </a:ext>
            </a:extLst>
          </p:cNvPr>
          <p:cNvSpPr/>
          <p:nvPr/>
        </p:nvSpPr>
        <p:spPr>
          <a:xfrm>
            <a:off x="1092504" y="2711784"/>
            <a:ext cx="144016" cy="144016"/>
          </a:xfrm>
          <a:prstGeom prst="flowChartConnector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流程图: 接点 17">
            <a:extLst>
              <a:ext uri="{FF2B5EF4-FFF2-40B4-BE49-F238E27FC236}">
                <a16:creationId xmlns:a16="http://schemas.microsoft.com/office/drawing/2014/main" id="{C3818CA8-A432-4E9F-AC47-7614E8FC620B}"/>
              </a:ext>
            </a:extLst>
          </p:cNvPr>
          <p:cNvSpPr/>
          <p:nvPr/>
        </p:nvSpPr>
        <p:spPr>
          <a:xfrm>
            <a:off x="4946233" y="1990873"/>
            <a:ext cx="144016" cy="144016"/>
          </a:xfrm>
          <a:prstGeom prst="flowChartConnector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C775F4B-0659-4404-9660-744FDC242969}"/>
              </a:ext>
            </a:extLst>
          </p:cNvPr>
          <p:cNvCxnSpPr/>
          <p:nvPr/>
        </p:nvCxnSpPr>
        <p:spPr>
          <a:xfrm>
            <a:off x="2367517" y="836578"/>
            <a:ext cx="0" cy="1987971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D57FF9A-7BCE-48EB-B3FF-1ED5894A8F97}"/>
              </a:ext>
            </a:extLst>
          </p:cNvPr>
          <p:cNvSpPr/>
          <p:nvPr/>
        </p:nvSpPr>
        <p:spPr>
          <a:xfrm>
            <a:off x="1852503" y="2383682"/>
            <a:ext cx="1350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40.5,38</a:t>
            </a:r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endParaRPr lang="zh-CN" altLang="en-US" sz="20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9" name="流程图: 接点 28">
            <a:extLst>
              <a:ext uri="{FF2B5EF4-FFF2-40B4-BE49-F238E27FC236}">
                <a16:creationId xmlns:a16="http://schemas.microsoft.com/office/drawing/2014/main" id="{C2B4AD81-97D5-4F52-93FF-2268198C464D}"/>
              </a:ext>
            </a:extLst>
          </p:cNvPr>
          <p:cNvSpPr/>
          <p:nvPr/>
        </p:nvSpPr>
        <p:spPr>
          <a:xfrm>
            <a:off x="1859955" y="2661491"/>
            <a:ext cx="144016" cy="144016"/>
          </a:xfrm>
          <a:prstGeom prst="flowChartConnector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流程图: 接点 30">
            <a:extLst>
              <a:ext uri="{FF2B5EF4-FFF2-40B4-BE49-F238E27FC236}">
                <a16:creationId xmlns:a16="http://schemas.microsoft.com/office/drawing/2014/main" id="{9DB9173D-E946-4D84-AA2F-17A0CE4F3386}"/>
              </a:ext>
            </a:extLst>
          </p:cNvPr>
          <p:cNvSpPr/>
          <p:nvPr/>
        </p:nvSpPr>
        <p:spPr>
          <a:xfrm>
            <a:off x="1863006" y="1851180"/>
            <a:ext cx="144016" cy="144016"/>
          </a:xfrm>
          <a:prstGeom prst="flowChartConnector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E50197-F265-4A02-B8AE-A88C62991E91}"/>
              </a:ext>
            </a:extLst>
          </p:cNvPr>
          <p:cNvSpPr/>
          <p:nvPr/>
        </p:nvSpPr>
        <p:spPr>
          <a:xfrm>
            <a:off x="1850106" y="1175617"/>
            <a:ext cx="14798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40.5,100</a:t>
            </a:r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endParaRPr lang="zh-CN" altLang="en-US" sz="20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5C0A433-B7CC-4C73-8015-C13C68BF342A}"/>
              </a:ext>
            </a:extLst>
          </p:cNvPr>
          <p:cNvSpPr/>
          <p:nvPr/>
        </p:nvSpPr>
        <p:spPr>
          <a:xfrm>
            <a:off x="7074709" y="2514439"/>
            <a:ext cx="364202" cy="556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635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altLang="ko-KR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x</a:t>
            </a:r>
            <a:endParaRPr lang="ko-KR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2C95D33-DF07-4E85-B5D2-2ECB1F49C74F}"/>
              </a:ext>
            </a:extLst>
          </p:cNvPr>
          <p:cNvSpPr/>
          <p:nvPr/>
        </p:nvSpPr>
        <p:spPr>
          <a:xfrm>
            <a:off x="982411" y="910687"/>
            <a:ext cx="364202" cy="556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635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altLang="ko-KR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y</a:t>
            </a:r>
            <a:endParaRPr lang="ko-KR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9E6D3B6-D538-4CC3-83E9-3246C5D47A74}"/>
              </a:ext>
            </a:extLst>
          </p:cNvPr>
          <p:cNvSpPr/>
          <p:nvPr/>
        </p:nvSpPr>
        <p:spPr>
          <a:xfrm>
            <a:off x="4015075" y="2661491"/>
            <a:ext cx="1175322" cy="4241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635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下边界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y</a:t>
            </a:r>
            <a:r>
              <a:rPr lang="en-US" altLang="zh-CN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endParaRPr lang="ko-KR" altLang="en-US" sz="20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CDE54B2-F837-4CA0-96EF-0B1F94A23E29}"/>
              </a:ext>
            </a:extLst>
          </p:cNvPr>
          <p:cNvCxnSpPr>
            <a:cxnSpLocks/>
          </p:cNvCxnSpPr>
          <p:nvPr/>
        </p:nvCxnSpPr>
        <p:spPr>
          <a:xfrm flipH="1" flipV="1">
            <a:off x="4622563" y="2626831"/>
            <a:ext cx="297044" cy="90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6343D137-DB01-4D4B-99D8-35D18CEB3902}"/>
              </a:ext>
            </a:extLst>
          </p:cNvPr>
          <p:cNvSpPr/>
          <p:nvPr/>
        </p:nvSpPr>
        <p:spPr>
          <a:xfrm>
            <a:off x="3862557" y="999481"/>
            <a:ext cx="1175322" cy="4241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635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上边界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y</a:t>
            </a:r>
            <a:r>
              <a:rPr lang="en-US" altLang="zh-CN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endParaRPr lang="ko-KR" altLang="en-US" sz="20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3033C9C-FB72-45AD-965E-09EAFC8BB069}"/>
              </a:ext>
            </a:extLst>
          </p:cNvPr>
          <p:cNvCxnSpPr>
            <a:cxnSpLocks/>
          </p:cNvCxnSpPr>
          <p:nvPr/>
        </p:nvCxnSpPr>
        <p:spPr>
          <a:xfrm flipH="1">
            <a:off x="3733173" y="1248675"/>
            <a:ext cx="152400" cy="1809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4F8912CE-917C-4D69-8F90-783D68CCCB9F}"/>
              </a:ext>
            </a:extLst>
          </p:cNvPr>
          <p:cNvSpPr/>
          <p:nvPr/>
        </p:nvSpPr>
        <p:spPr>
          <a:xfrm>
            <a:off x="6620538" y="1616391"/>
            <a:ext cx="1268296" cy="556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635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27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组数</a:t>
            </a:r>
            <a:endParaRPr lang="ko-KR" altLang="en-US" sz="28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隶书" panose="02010509060101010101" pitchFamily="49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A165F7-FC50-4C78-AE28-4ECF711ADC34}"/>
              </a:ext>
            </a:extLst>
          </p:cNvPr>
          <p:cNvSpPr/>
          <p:nvPr/>
        </p:nvSpPr>
        <p:spPr>
          <a:xfrm>
            <a:off x="1747742" y="2027456"/>
            <a:ext cx="164840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x,y = ginput(n)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275ED2C-F367-4C87-A2E4-ED57D8E0ED06}"/>
              </a:ext>
            </a:extLst>
          </p:cNvPr>
          <p:cNvSpPr/>
          <p:nvPr/>
        </p:nvSpPr>
        <p:spPr>
          <a:xfrm>
            <a:off x="527082" y="686117"/>
            <a:ext cx="43284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atinLnBrk="1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用命令ginput获取地图的坐标轴数据</a:t>
            </a:r>
          </a:p>
        </p:txBody>
      </p:sp>
      <p:sp>
        <p:nvSpPr>
          <p:cNvPr id="3" name="波形 2">
            <a:extLst>
              <a:ext uri="{FF2B5EF4-FFF2-40B4-BE49-F238E27FC236}">
                <a16:creationId xmlns:a16="http://schemas.microsoft.com/office/drawing/2014/main" id="{4FA9D118-995D-3E91-87FA-54D79676F811}"/>
              </a:ext>
            </a:extLst>
          </p:cNvPr>
          <p:cNvSpPr/>
          <p:nvPr/>
        </p:nvSpPr>
        <p:spPr>
          <a:xfrm>
            <a:off x="101323" y="572312"/>
            <a:ext cx="418244" cy="504516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8C2F467-5EA7-B8D5-3A99-BE2C07CC1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94" y="195486"/>
            <a:ext cx="7667625" cy="438150"/>
          </a:xfrm>
        </p:spPr>
        <p:txBody>
          <a:bodyPr/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§3.2.2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图形标签和注释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标识坐标区坐标</a:t>
            </a:r>
            <a:r>
              <a:rPr lang="en-US" altLang="zh-CN" sz="280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ginput</a:t>
            </a:r>
            <a:endParaRPr lang="zh-CN" altLang="en-US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3961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2025/3/18</a:t>
            </a:fld>
            <a:endParaRPr lang="zh-CN" altLang="en-US" sz="1800" dirty="0"/>
          </a:p>
        </p:txBody>
      </p:sp>
      <p:sp>
        <p:nvSpPr>
          <p:cNvPr id="11" name="波形 10"/>
          <p:cNvSpPr/>
          <p:nvPr/>
        </p:nvSpPr>
        <p:spPr>
          <a:xfrm>
            <a:off x="227837" y="644040"/>
            <a:ext cx="446126" cy="56200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F8E8CF-10C4-3EEB-42AE-5D15CA80A08F}"/>
              </a:ext>
            </a:extLst>
          </p:cNvPr>
          <p:cNvSpPr txBox="1"/>
          <p:nvPr/>
        </p:nvSpPr>
        <p:spPr>
          <a:xfrm>
            <a:off x="814631" y="84060"/>
            <a:ext cx="8136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§3.2.2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图形标签和注释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离散试验数据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绘图案例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3A9079A-4F8F-4898-8D52-D5100F5A01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75" t="9420" r="5000" b="6601"/>
          <a:stretch/>
        </p:blipFill>
        <p:spPr>
          <a:xfrm>
            <a:off x="7058144" y="2929444"/>
            <a:ext cx="1968297" cy="1754475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graphicFrame>
        <p:nvGraphicFramePr>
          <p:cNvPr id="9" name="对象 8">
            <a:hlinkClick r:id="" action="ppaction://ole?verb=1"/>
            <a:extLst>
              <a:ext uri="{FF2B5EF4-FFF2-40B4-BE49-F238E27FC236}">
                <a16:creationId xmlns:a16="http://schemas.microsoft.com/office/drawing/2014/main" id="{A937B3CC-4799-4D66-AC34-DE5722D2A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220300"/>
              </p:ext>
            </p:extLst>
          </p:nvPr>
        </p:nvGraphicFramePr>
        <p:xfrm>
          <a:off x="7321592" y="1824665"/>
          <a:ext cx="1881187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6" name="Worksheet" showAsIcon="1" r:id="rId5" imgW="1066899" imgH="914532" progId="Excel.Sheet.12">
                  <p:embed/>
                </p:oleObj>
              </mc:Choice>
              <mc:Fallback>
                <p:oleObj name="Worksheet" showAsIcon="1" r:id="rId5" imgW="1066899" imgH="914532" progId="Excel.Sheet.12">
                  <p:embed/>
                  <p:pic>
                    <p:nvPicPr>
                      <p:cNvPr id="15" name="对象 14">
                        <a:hlinkClick r:id="" action="ppaction://ole?verb=1"/>
                        <a:extLst>
                          <a:ext uri="{FF2B5EF4-FFF2-40B4-BE49-F238E27FC236}">
                            <a16:creationId xmlns:a16="http://schemas.microsoft.com/office/drawing/2014/main" id="{6061CCC8-F198-B184-158A-9847F2E305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21592" y="1824665"/>
                        <a:ext cx="1881187" cy="161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A344F329-9983-4FF7-B89D-E42547101544}"/>
              </a:ext>
            </a:extLst>
          </p:cNvPr>
          <p:cNvSpPr txBox="1"/>
          <p:nvPr/>
        </p:nvSpPr>
        <p:spPr>
          <a:xfrm>
            <a:off x="182863" y="1206044"/>
            <a:ext cx="827757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tial=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readtable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"tisi.xlsx"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(tial[:,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tial[:,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tial[:,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tial[:,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"$\epsilon$,%"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l-GR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σ,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MPa"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"$Ti_5Si_3$ </a:t>
            </a:r>
            <a:r>
              <a:rPr lang="zh-CN" alt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复合材料应力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应变曲线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it-IT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#title(raw"$Ti_5Si_3 stress-strain curve $")</a:t>
            </a:r>
            <a:endParaRPr lang="en-US" altLang="zh-C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"1.2% $Ti_5Si_3$"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"3.6% $Ti_5Si_3$"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ginput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"$\sigma_{max}$ ="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(y)*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"MPa"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gtext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raw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"$ \</a:t>
            </a:r>
            <a:r>
              <a:rPr lang="en-US" altLang="zh-CN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leftarrow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\sigma_{max}$"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dim = 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0.45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0.38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"ellipse"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dim);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73EB4EF1-8418-465A-AD56-390263AA9E7A}"/>
              </a:ext>
            </a:extLst>
          </p:cNvPr>
          <p:cNvSpPr txBox="1">
            <a:spLocks/>
          </p:cNvSpPr>
          <p:nvPr/>
        </p:nvSpPr>
        <p:spPr>
          <a:xfrm>
            <a:off x="755575" y="696334"/>
            <a:ext cx="8303139" cy="38377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dist"/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1.2%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3.6%Ti5Si3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</a:t>
            </a:r>
            <a:r>
              <a:rPr lang="en-US" altLang="zh-CN" sz="20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TiAl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多孔复合材料应力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应变压缩曲线</a:t>
            </a:r>
          </a:p>
        </p:txBody>
      </p:sp>
    </p:spTree>
    <p:extLst>
      <p:ext uri="{BB962C8B-B14F-4D97-AF65-F5344CB8AC3E}">
        <p14:creationId xmlns:p14="http://schemas.microsoft.com/office/powerpoint/2010/main" val="415044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9DDBC14-5E35-496E-A486-FF6D4CDDA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99" t="10801" r="5929" b="6601"/>
          <a:stretch/>
        </p:blipFill>
        <p:spPr>
          <a:xfrm>
            <a:off x="1403648" y="836425"/>
            <a:ext cx="6583670" cy="3260726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7FDA2D64-FDD3-41E6-87D6-0A6DA14DD2C4}"/>
              </a:ext>
            </a:extLst>
          </p:cNvPr>
          <p:cNvSpPr txBox="1">
            <a:spLocks/>
          </p:cNvSpPr>
          <p:nvPr/>
        </p:nvSpPr>
        <p:spPr>
          <a:xfrm>
            <a:off x="497409" y="4243529"/>
            <a:ext cx="8303139" cy="38377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dist"/>
            <a:r>
              <a:rPr lang="zh-CN" altLang="en-US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1.2%</a:t>
            </a:r>
            <a:r>
              <a:rPr lang="zh-CN" altLang="en-US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3.6%Ti5Si3</a:t>
            </a:r>
            <a:r>
              <a:rPr lang="zh-CN" altLang="en-US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</a:t>
            </a:r>
            <a:r>
              <a:rPr lang="en-US" altLang="zh-CN" sz="1800" b="1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TiAl</a:t>
            </a:r>
            <a:r>
              <a:rPr lang="zh-CN" altLang="en-US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多孔复合材料应力</a:t>
            </a:r>
            <a:r>
              <a:rPr lang="en-US" altLang="zh-CN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应变压缩曲线</a:t>
            </a:r>
          </a:p>
        </p:txBody>
      </p:sp>
      <p:sp>
        <p:nvSpPr>
          <p:cNvPr id="7" name="波形 6">
            <a:extLst>
              <a:ext uri="{FF2B5EF4-FFF2-40B4-BE49-F238E27FC236}">
                <a16:creationId xmlns:a16="http://schemas.microsoft.com/office/drawing/2014/main" id="{FCF7AB17-6A96-4EA5-A6D2-7AC83F01483A}"/>
              </a:ext>
            </a:extLst>
          </p:cNvPr>
          <p:cNvSpPr/>
          <p:nvPr/>
        </p:nvSpPr>
        <p:spPr>
          <a:xfrm>
            <a:off x="227837" y="644040"/>
            <a:ext cx="446126" cy="56200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4F8017-2B6B-4B73-BC0A-D68A196C5DD3}"/>
              </a:ext>
            </a:extLst>
          </p:cNvPr>
          <p:cNvSpPr txBox="1"/>
          <p:nvPr/>
        </p:nvSpPr>
        <p:spPr>
          <a:xfrm>
            <a:off x="814631" y="84060"/>
            <a:ext cx="8136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§3.2.2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图形标签和注释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离散试验数据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绘图案例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69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4592888-644E-4FF6-9AF0-CE67DE1507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11" t="11850" r="1065"/>
          <a:stretch/>
        </p:blipFill>
        <p:spPr>
          <a:xfrm>
            <a:off x="6225313" y="1135646"/>
            <a:ext cx="2660792" cy="1622411"/>
          </a:xfrm>
          <a:prstGeom prst="rect">
            <a:avLst/>
          </a:prstGeom>
        </p:spPr>
      </p:pic>
      <p:sp>
        <p:nvSpPr>
          <p:cNvPr id="7" name="波形 6"/>
          <p:cNvSpPr/>
          <p:nvPr/>
        </p:nvSpPr>
        <p:spPr>
          <a:xfrm>
            <a:off x="289319" y="704904"/>
            <a:ext cx="549517" cy="39703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1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例4</a:t>
            </a:r>
            <a:endParaRPr lang="ko-KR" altLang="en-US" sz="21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38836" y="671054"/>
            <a:ext cx="81256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根据参数方程x=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cos(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)和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y=5sin(t)</a:t>
            </a:r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绘制圆曲线</a:t>
            </a:r>
            <a:r>
              <a:rPr lang="zh-CN" altLang="en-US" sz="2200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endParaRPr lang="en-US" altLang="zh-CN" sz="2200" b="1" dirty="0">
              <a:solidFill>
                <a:srgbClr val="0070C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03EFE4-F09A-4DCF-B199-F2F80934F249}"/>
              </a:ext>
            </a:extLst>
          </p:cNvPr>
          <p:cNvSpPr txBox="1"/>
          <p:nvPr/>
        </p:nvSpPr>
        <p:spPr>
          <a:xfrm>
            <a:off x="6514647" y="1618612"/>
            <a:ext cx="223651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矩形坐标系</a:t>
            </a:r>
            <a:r>
              <a:rPr lang="en-US" altLang="zh-CN" sz="20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(</a:t>
            </a:r>
            <a:r>
              <a:rPr lang="zh-CN" altLang="en-US" sz="20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默认</a:t>
            </a:r>
            <a:r>
              <a:rPr lang="en-US" altLang="zh-CN" sz="20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)</a:t>
            </a:r>
            <a:endParaRPr lang="zh-CN" altLang="en-US" sz="2000" kern="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2B5701-58A7-B80F-5195-BC6045BDF167}"/>
              </a:ext>
            </a:extLst>
          </p:cNvPr>
          <p:cNvSpPr txBox="1"/>
          <p:nvPr/>
        </p:nvSpPr>
        <p:spPr>
          <a:xfrm>
            <a:off x="1153329" y="86291"/>
            <a:ext cx="72203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§3.2.3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叠加图形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函数表达式数值化绘图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3E515C-2EDD-4A21-9F4B-3C661A806756}"/>
              </a:ext>
            </a:extLst>
          </p:cNvPr>
          <p:cNvSpPr txBox="1"/>
          <p:nvPr/>
        </p:nvSpPr>
        <p:spPr>
          <a:xfrm>
            <a:off x="289319" y="1163484"/>
            <a:ext cx="5515045" cy="3409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线性等分向量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angle=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LinRange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</a:t>
            </a: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环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坐标值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x=5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.(angle);</a:t>
            </a: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环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坐标值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y=5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.(angle);</a:t>
            </a: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绘制环 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"-or"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6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6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F40C85-559D-4343-A00D-6FD9D2A43C74}"/>
              </a:ext>
            </a:extLst>
          </p:cNvPr>
          <p:cNvSpPr txBox="1"/>
          <p:nvPr/>
        </p:nvSpPr>
        <p:spPr>
          <a:xfrm>
            <a:off x="3016396" y="3174344"/>
            <a:ext cx="3831394" cy="130176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轴线性等分向量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((x^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-x^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)*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31.4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x))#y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变量</a:t>
            </a:r>
            <a:endParaRPr lang="en-US" altLang="zh-C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y, marker=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画心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18C260-62C5-460D-A5A0-DD1D5A74B49E}"/>
              </a:ext>
            </a:extLst>
          </p:cNvPr>
          <p:cNvSpPr/>
          <p:nvPr/>
        </p:nvSpPr>
        <p:spPr>
          <a:xfrm>
            <a:off x="2894597" y="2854634"/>
            <a:ext cx="6168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sz="16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y= (x^2)^(1/3)+0.9*(4-x^2)^(1/2)*sin(31.4x)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爱心曲线</a:t>
            </a:r>
            <a:endParaRPr lang="en-US" altLang="zh-CN" sz="16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4073FB-3C48-4BA9-8A4A-E3F7F4FCFD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43" t="12146" r="3812"/>
          <a:stretch/>
        </p:blipFill>
        <p:spPr>
          <a:xfrm>
            <a:off x="6951817" y="3197900"/>
            <a:ext cx="1934288" cy="130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17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647588-3B56-438C-9384-FE9CE23CAA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49" t="12186" r="5113" b="8001"/>
          <a:stretch/>
        </p:blipFill>
        <p:spPr>
          <a:xfrm>
            <a:off x="6005770" y="1066474"/>
            <a:ext cx="2880320" cy="1495998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53BC8F5-3680-869D-A2F2-57230D051EAA}"/>
              </a:ext>
            </a:extLst>
          </p:cNvPr>
          <p:cNvSpPr txBox="1">
            <a:spLocks/>
          </p:cNvSpPr>
          <p:nvPr/>
        </p:nvSpPr>
        <p:spPr bwMode="auto">
          <a:xfrm>
            <a:off x="362833" y="1005607"/>
            <a:ext cx="7776864" cy="18513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buNone/>
            </a:pP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6F073DC-2541-C2C3-87FB-48063E0121DE}"/>
              </a:ext>
            </a:extLst>
          </p:cNvPr>
          <p:cNvSpPr txBox="1">
            <a:spLocks noChangeArrowheads="1"/>
          </p:cNvSpPr>
          <p:nvPr/>
        </p:nvSpPr>
        <p:spPr>
          <a:xfrm>
            <a:off x="772517" y="675738"/>
            <a:ext cx="808915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dist"/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将心程序和圆程序合在一起绘制圆环套爱心的图 </a:t>
            </a:r>
          </a:p>
        </p:txBody>
      </p:sp>
      <p:sp>
        <p:nvSpPr>
          <p:cNvPr id="16" name="波形 15">
            <a:extLst>
              <a:ext uri="{FF2B5EF4-FFF2-40B4-BE49-F238E27FC236}">
                <a16:creationId xmlns:a16="http://schemas.microsoft.com/office/drawing/2014/main" id="{070CDCB9-C50E-AF50-59CC-7FB88852EA1F}"/>
              </a:ext>
            </a:extLst>
          </p:cNvPr>
          <p:cNvSpPr/>
          <p:nvPr/>
        </p:nvSpPr>
        <p:spPr>
          <a:xfrm>
            <a:off x="257910" y="675738"/>
            <a:ext cx="514608" cy="40011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1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例5</a:t>
            </a:r>
            <a:endParaRPr lang="ko-KR" altLang="en-US" sz="21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160D31F1-2829-3498-B48E-D32B2D0F1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7316" y="1263544"/>
            <a:ext cx="1607822" cy="918542"/>
          </a:xfrm>
          <a:prstGeom prst="irregularSeal2">
            <a:avLst/>
          </a:prstGeom>
          <a:solidFill>
            <a:schemeClr val="bg1"/>
          </a:solidFill>
          <a:ln w="57150">
            <a:solidFill>
              <a:srgbClr val="FF00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eaLnBrk="0" hangingPunct="0">
              <a:defRPr/>
            </a:pPr>
            <a:r>
              <a:rPr lang="zh-CN" altLang="en-US" sz="14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只见心</a:t>
            </a:r>
            <a:endParaRPr lang="en-US" altLang="zh-CN" sz="14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0" hangingPunct="0">
              <a:defRPr/>
            </a:pPr>
            <a:r>
              <a:rPr lang="zh-CN" altLang="en-US" sz="14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不见圆</a:t>
            </a:r>
            <a:endParaRPr lang="en-US" altLang="zh-CN" sz="14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327DE1-4390-30AB-37BA-E1BFD6012E9B}"/>
              </a:ext>
            </a:extLst>
          </p:cNvPr>
          <p:cNvSpPr/>
          <p:nvPr/>
        </p:nvSpPr>
        <p:spPr>
          <a:xfrm>
            <a:off x="158132" y="3212232"/>
            <a:ext cx="6765044" cy="140038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通常默认情况，绘图函数绘新图将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清除当前窗口及其图形，并重置标注等坐标区属性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所以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图形标注和坐标轴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等操作应该在绘图函数绘好曲线图形后再设置，否则都被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窗口重置而清除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21" name="AutoShape 13">
            <a:extLst>
              <a:ext uri="{FF2B5EF4-FFF2-40B4-BE49-F238E27FC236}">
                <a16:creationId xmlns:a16="http://schemas.microsoft.com/office/drawing/2014/main" id="{1B85684E-9791-04F5-D824-1C8B1D438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4467" y="2877689"/>
            <a:ext cx="1299362" cy="486149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  <a:endParaRPr lang="en-US" altLang="zh-CN" sz="20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88174B-E3AA-4E56-B795-552248B0E5C0}"/>
              </a:ext>
            </a:extLst>
          </p:cNvPr>
          <p:cNvSpPr txBox="1"/>
          <p:nvPr/>
        </p:nvSpPr>
        <p:spPr>
          <a:xfrm>
            <a:off x="1153329" y="86291"/>
            <a:ext cx="72203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§3.2.3 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叠加图形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函数表达式数值化绘图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575686-EF73-44AF-9910-094F01F53E32}"/>
              </a:ext>
            </a:extLst>
          </p:cNvPr>
          <p:cNvSpPr txBox="1"/>
          <p:nvPr/>
        </p:nvSpPr>
        <p:spPr>
          <a:xfrm>
            <a:off x="282326" y="1039839"/>
            <a:ext cx="6992652" cy="19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angle=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LinRange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</a:t>
            </a: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.(angle);y=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.(angle);</a:t>
            </a: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y,marker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画圆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轴线性等分向量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((x^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-x^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)*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31.4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x))#y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变量</a:t>
            </a:r>
            <a:endParaRPr lang="en-US" altLang="zh-C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y, marker=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画心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8D09565-39FF-425B-A5AD-F4B14156B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954" y="2891160"/>
            <a:ext cx="2170328" cy="168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5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63A61BA-4EAD-C110-64ED-E66EF24462D9}"/>
              </a:ext>
            </a:extLst>
          </p:cNvPr>
          <p:cNvSpPr txBox="1"/>
          <p:nvPr/>
        </p:nvSpPr>
        <p:spPr>
          <a:xfrm>
            <a:off x="1475656" y="50563"/>
            <a:ext cx="66247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§3.2.3</a:t>
            </a:r>
            <a:r>
              <a:rPr lang="zh-CN" altLang="en-US" sz="2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叠加图形</a:t>
            </a:r>
            <a:r>
              <a:rPr lang="en-US" altLang="zh-CN" sz="2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hold 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——hold 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操作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C6E2BFB1-F053-BAFA-2930-EC52A6E56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283718"/>
            <a:ext cx="8496943" cy="22264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altLang="zh-CN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 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保留当前图时添加新绘图</a:t>
            </a:r>
            <a:r>
              <a:rPr lang="en-US" altLang="zh-CN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但不会重置标题或坐标轴标签等坐标属性</a:t>
            </a:r>
            <a:r>
              <a:rPr lang="en-US" altLang="zh-CN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坐标区范围和刻度值可能会自动调整以适应新数据，</a:t>
            </a:r>
            <a:endParaRPr lang="en-US" altLang="zh-CN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4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       关闭图形叠加，使新添加到坐标区中的绘图清除现有绘图</a:t>
            </a:r>
            <a:r>
              <a:rPr lang="en-US" altLang="zh-CN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并重置所有的坐标区属性。</a:t>
            </a:r>
            <a:endParaRPr lang="en-US" altLang="zh-CN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ts val="3400"/>
              </a:lnSpc>
            </a:pPr>
            <a:r>
              <a:rPr lang="en-US" altLang="zh-CN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</a:t>
            </a:r>
            <a:r>
              <a:rPr lang="zh-CN" altLang="en-US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</a:t>
            </a:r>
            <a:r>
              <a:rPr lang="en-US" altLang="zh-CN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</a:t>
            </a:r>
            <a:r>
              <a:rPr lang="zh-CN" altLang="en-US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指定的坐标区而非当前坐标区设置</a:t>
            </a:r>
            <a:r>
              <a:rPr lang="en-US" altLang="zh-CN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hold</a:t>
            </a:r>
            <a:r>
              <a:rPr lang="zh-CN" altLang="en-US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状态</a:t>
            </a:r>
            <a:r>
              <a:rPr lang="en-US" altLang="zh-CN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.</a:t>
            </a:r>
            <a:endParaRPr lang="zh-CN" altLang="en-US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5D252D-E484-F4C9-349E-B57D65608D3A}"/>
              </a:ext>
            </a:extLst>
          </p:cNvPr>
          <p:cNvSpPr/>
          <p:nvPr/>
        </p:nvSpPr>
        <p:spPr>
          <a:xfrm>
            <a:off x="323528" y="1860379"/>
            <a:ext cx="3841116" cy="348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hold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添加新绘图时保留当前绘图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B36D03-700E-1753-76DD-7578A426ABDD}"/>
              </a:ext>
            </a:extLst>
          </p:cNvPr>
          <p:cNvSpPr/>
          <p:nvPr/>
        </p:nvSpPr>
        <p:spPr>
          <a:xfrm>
            <a:off x="389856" y="2362466"/>
            <a:ext cx="171142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hold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（“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on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E563C6-EAC0-AE16-415C-34C93975C047}"/>
              </a:ext>
            </a:extLst>
          </p:cNvPr>
          <p:cNvSpPr/>
          <p:nvPr/>
        </p:nvSpPr>
        <p:spPr>
          <a:xfrm>
            <a:off x="421463" y="3225185"/>
            <a:ext cx="171142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hold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（“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off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7A7AA1-DAA0-2252-323B-8F047F08A116}"/>
              </a:ext>
            </a:extLst>
          </p:cNvPr>
          <p:cNvSpPr/>
          <p:nvPr/>
        </p:nvSpPr>
        <p:spPr>
          <a:xfrm>
            <a:off x="395536" y="4070693"/>
            <a:ext cx="122257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hold (ax,_)</a:t>
            </a:r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E4098306-6449-4124-98EC-9BFA8A208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6" y="874174"/>
            <a:ext cx="998937" cy="400110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endParaRPr lang="en-US" altLang="zh-CN" sz="1600" b="1" i="0" dirty="0">
              <a:solidFill>
                <a:srgbClr val="FFFF00"/>
              </a:solidFill>
              <a:effectLst/>
              <a:latin typeface="Menlo"/>
            </a:endParaRPr>
          </a:p>
          <a:p>
            <a:r>
              <a:rPr lang="zh-CN" altLang="en-US" sz="1600" b="1" dirty="0">
                <a:solidFill>
                  <a:srgbClr val="FFFF00"/>
                </a:solidFill>
              </a:rPr>
              <a:t>注意</a:t>
            </a:r>
            <a:endParaRPr lang="en-US" altLang="zh-CN" sz="1600" b="1" dirty="0">
              <a:solidFill>
                <a:srgbClr val="FFFF00"/>
              </a:solidFill>
            </a:endParaRPr>
          </a:p>
          <a:p>
            <a:endParaRPr lang="zh-CN" altLang="en-US" sz="1600" b="1" dirty="0">
              <a:solidFill>
                <a:srgbClr val="FFFF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FF4F5D1-6794-47FF-92EE-7CD19CE01C6C}"/>
              </a:ext>
            </a:extLst>
          </p:cNvPr>
          <p:cNvSpPr txBox="1"/>
          <p:nvPr/>
        </p:nvSpPr>
        <p:spPr>
          <a:xfrm>
            <a:off x="435990" y="929794"/>
            <a:ext cx="33031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为了避免绘图函数绘新图时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将清除当前图形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9BB166-84E1-4975-81C0-EF840ABB6186}"/>
              </a:ext>
            </a:extLst>
          </p:cNvPr>
          <p:cNvSpPr txBox="1"/>
          <p:nvPr/>
        </p:nvSpPr>
        <p:spPr>
          <a:xfrm>
            <a:off x="4126710" y="1266314"/>
            <a:ext cx="288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>
                <a:solidFill>
                  <a:srgbClr val="FF0000"/>
                </a:solidFill>
                <a:effectLst/>
                <a:latin typeface="Menlo"/>
              </a:rPr>
              <a:t>MATLAB: hold </a:t>
            </a:r>
            <a:r>
              <a:rPr lang="en-US" altLang="zh-CN" sz="1800" b="1" i="0" dirty="0" err="1">
                <a:solidFill>
                  <a:srgbClr val="FF0000"/>
                </a:solidFill>
                <a:effectLst/>
                <a:latin typeface="Menlo"/>
              </a:rPr>
              <a:t>on,hold</a:t>
            </a:r>
            <a:r>
              <a:rPr lang="en-US" altLang="zh-CN" sz="1800" b="1" i="0" dirty="0">
                <a:solidFill>
                  <a:srgbClr val="FF0000"/>
                </a:solidFill>
                <a:effectLst/>
                <a:latin typeface="Menlo"/>
              </a:rPr>
              <a:t> off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1077106-D05F-437B-BA75-2EA356297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712" y="739828"/>
            <a:ext cx="1882296" cy="14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9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9868F9A-3F25-86F7-B848-F49C31CF3B25}"/>
              </a:ext>
            </a:extLst>
          </p:cNvPr>
          <p:cNvSpPr txBox="1">
            <a:spLocks/>
          </p:cNvSpPr>
          <p:nvPr/>
        </p:nvSpPr>
        <p:spPr>
          <a:xfrm>
            <a:off x="483415" y="1029210"/>
            <a:ext cx="8229600" cy="357423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plt_close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"all"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关闭全部图窗</a:t>
            </a:r>
            <a:endParaRPr lang="en-US" altLang="zh-CN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angle=</a:t>
            </a:r>
            <a:r>
              <a:rPr lang="en-US" altLang="zh-C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LinRange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xb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.(angle);</a:t>
            </a:r>
          </a:p>
          <a:p>
            <a:pPr marL="0" indent="0">
              <a:buNone/>
            </a:pP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yb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.(angle);</a:t>
            </a:r>
          </a:p>
          <a:p>
            <a:pPr marL="0" indent="0">
              <a:buNone/>
            </a:pP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xb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yb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marker=</a:t>
            </a:r>
            <a:r>
              <a:rPr lang="en-US" altLang="zh-C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画圆</a:t>
            </a: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hold("on") #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叠加图</a:t>
            </a:r>
          </a:p>
          <a:p>
            <a:pPr marL="0" indent="0">
              <a:buNone/>
            </a:pP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-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轴线性等分向量</a:t>
            </a: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(x .^ 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.^ 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.* 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.- x .^ 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.^ 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.* 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31.4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x) .- 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y, marker=</a:t>
            </a:r>
            <a:r>
              <a:rPr lang="en-US" altLang="zh-C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画心</a:t>
            </a: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hold("off") #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关闭叠加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7E3F91-8E38-8656-9794-BD0B4BB7C607}"/>
              </a:ext>
            </a:extLst>
          </p:cNvPr>
          <p:cNvSpPr txBox="1"/>
          <p:nvPr/>
        </p:nvSpPr>
        <p:spPr>
          <a:xfrm>
            <a:off x="1705368" y="80051"/>
            <a:ext cx="69847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§3.2.3</a:t>
            </a:r>
            <a:r>
              <a:rPr lang="zh-CN" altLang="en-US" sz="2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叠加图形</a:t>
            </a:r>
            <a:r>
              <a:rPr lang="en-US" altLang="zh-CN" sz="2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hold 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叠加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E152671-C5D4-82F7-51C9-3C921F7141C2}"/>
              </a:ext>
            </a:extLst>
          </p:cNvPr>
          <p:cNvSpPr txBox="1">
            <a:spLocks noChangeArrowheads="1"/>
          </p:cNvSpPr>
          <p:nvPr/>
        </p:nvSpPr>
        <p:spPr>
          <a:xfrm>
            <a:off x="1088082" y="700552"/>
            <a:ext cx="775040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dist"/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hold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将心程序和圆程序合在一起绘制圆环套爱心的曲线图 </a:t>
            </a: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0C0C101D-8671-77F6-A5F6-3D329420947E}"/>
              </a:ext>
            </a:extLst>
          </p:cNvPr>
          <p:cNvSpPr/>
          <p:nvPr/>
        </p:nvSpPr>
        <p:spPr>
          <a:xfrm>
            <a:off x="608886" y="700552"/>
            <a:ext cx="479195" cy="34356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1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例6</a:t>
            </a:r>
            <a:endParaRPr lang="ko-KR" altLang="en-US" sz="21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6EA913-B9E1-46C0-BDB5-ACD105EF8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609" y="4119844"/>
            <a:ext cx="34724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 Unicode MS"/>
                <a:ea typeface="source-code-pro"/>
              </a:rPr>
              <a:t>xlabel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highlight>
                  <a:srgbClr val="FFFF00"/>
                </a:highlight>
                <a:latin typeface="Arial Unicode MS"/>
                <a:ea typeface="source-code-pro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93D39"/>
                </a:solidFill>
                <a:effectLst/>
                <a:highlight>
                  <a:srgbClr val="FFFF00"/>
                </a:highlight>
                <a:latin typeface="Arial Unicode MS"/>
                <a:ea typeface="source-code-pro"/>
              </a:rPr>
              <a:t>raw"$-2\pi \leq x \leq 2\pi$"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highlight>
                  <a:srgbClr val="FFFF00"/>
                </a:highlight>
                <a:latin typeface="Arial Unicode MS"/>
                <a:ea typeface="source-code-pro"/>
              </a:rPr>
              <a:t>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C0CC16-8AE3-4BD5-8589-06B7C2687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248" y="1197943"/>
            <a:ext cx="2696675" cy="205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59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E0F2BC89-045E-B8EF-0526-C866719ED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717825"/>
            <a:ext cx="6480720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9pPr>
          </a:lstStyle>
          <a:p>
            <a:pPr algn="dist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subplot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在同一窗口的不同坐标子区域显示多个绘图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A56B340-AE1A-5174-C549-AEE237CB6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2" y="1114204"/>
            <a:ext cx="4734407" cy="37445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457200" indent="-457200" eaLnBrk="1" hangingPunct="1">
              <a:lnSpc>
                <a:spcPts val="3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zh-CN" sz="16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将图窗划分为 m×n 网格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，</a:t>
            </a:r>
            <a:endParaRPr lang="en-US" altLang="zh-CN" sz="16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 eaLnBrk="1" hangingPunct="1">
              <a:lnSpc>
                <a:spcPts val="3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按行列号对子图位置进行编号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其顺序</a:t>
            </a:r>
            <a:r>
              <a:rPr lang="en-US" altLang="zh-CN" sz="16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: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第一个子图是第一行的第一列，第二个子图是第一行的第二列，依此类推 </a:t>
            </a:r>
            <a:endParaRPr lang="en-US" altLang="zh-CN" sz="16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 eaLnBrk="1" hangingPunct="1">
              <a:lnSpc>
                <a:spcPts val="3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为子图位置序号，在 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指定子图位置创建坐标区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并且在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指定坐标区域内调用绘图函数进行子图绘制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;</a:t>
            </a:r>
          </a:p>
          <a:p>
            <a:pPr marL="457200" indent="-457200" eaLnBrk="1" hangingPunct="1">
              <a:lnSpc>
                <a:spcPts val="3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创建子图可占据网格多行或多列坐标区 </a:t>
            </a:r>
            <a:endParaRPr lang="en-US" altLang="zh-CN" sz="16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 eaLnBrk="1" hangingPunct="1">
              <a:lnSpc>
                <a:spcPts val="3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紧凑布局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tightlayout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防止题目和曲线重叠</a:t>
            </a:r>
          </a:p>
          <a:p>
            <a:pPr marL="457200" indent="-457200" eaLnBrk="1" hangingPunct="1">
              <a:lnSpc>
                <a:spcPts val="2300"/>
              </a:lnSpc>
              <a:spcBef>
                <a:spcPct val="0"/>
              </a:spcBef>
              <a:buFont typeface="+mj-ea"/>
              <a:buAutoNum type="circleNumDbPlain"/>
            </a:pPr>
            <a:endParaRPr lang="en-US" altLang="zh-CN" sz="20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BB7EE1-6B6A-28EC-70DD-7D8E3F0C3B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12" t="2481" r="5721" b="6080"/>
          <a:stretch/>
        </p:blipFill>
        <p:spPr>
          <a:xfrm>
            <a:off x="4880587" y="1879634"/>
            <a:ext cx="4030154" cy="2525541"/>
          </a:xfrm>
          <a:prstGeom prst="rect">
            <a:avLst/>
          </a:prstGeom>
          <a:noFill/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0FA6429-1240-B461-6489-0D41CA1F66D6}"/>
              </a:ext>
            </a:extLst>
          </p:cNvPr>
          <p:cNvSpPr/>
          <p:nvPr/>
        </p:nvSpPr>
        <p:spPr>
          <a:xfrm>
            <a:off x="5292080" y="3827824"/>
            <a:ext cx="265392" cy="400110"/>
          </a:xfrm>
          <a:prstGeom prst="rect">
            <a:avLst/>
          </a:prstGeom>
          <a:solidFill>
            <a:srgbClr val="FFC000">
              <a:alpha val="57000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dirty="0">
              <a:solidFill>
                <a:srgbClr val="FFFF00"/>
              </a:solidFill>
              <a:highlight>
                <a:srgbClr val="FF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A228E2-F384-E9CD-46C8-3C67994A9493}"/>
              </a:ext>
            </a:extLst>
          </p:cNvPr>
          <p:cNvSpPr/>
          <p:nvPr/>
        </p:nvSpPr>
        <p:spPr>
          <a:xfrm>
            <a:off x="7665716" y="3655997"/>
            <a:ext cx="567142" cy="307777"/>
          </a:xfrm>
          <a:prstGeom prst="rect">
            <a:avLst/>
          </a:prstGeom>
          <a:solidFill>
            <a:srgbClr val="FFC000">
              <a:alpha val="57000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p=4</a:t>
            </a:r>
            <a:endParaRPr lang="zh-CN" altLang="en-US" sz="1400" dirty="0">
              <a:solidFill>
                <a:srgbClr val="FFFF00"/>
              </a:solidFill>
              <a:highlight>
                <a:srgbClr val="FF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BA8FA0-0565-DBFD-9DC5-41549584E3C6}"/>
              </a:ext>
            </a:extLst>
          </p:cNvPr>
          <p:cNvSpPr/>
          <p:nvPr/>
        </p:nvSpPr>
        <p:spPr>
          <a:xfrm>
            <a:off x="5426743" y="2305203"/>
            <a:ext cx="649407" cy="307777"/>
          </a:xfrm>
          <a:prstGeom prst="rect">
            <a:avLst/>
          </a:prstGeom>
          <a:solidFill>
            <a:srgbClr val="FFC000">
              <a:alpha val="57000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p=1</a:t>
            </a:r>
            <a:endParaRPr lang="zh-CN" altLang="en-US" sz="1400" dirty="0">
              <a:solidFill>
                <a:srgbClr val="FFFF00"/>
              </a:solidFill>
              <a:highlight>
                <a:srgbClr val="FF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376F8C9-86F7-550B-AC3C-4819627FE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205" y="1101380"/>
            <a:ext cx="2691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9pPr>
          </a:lstStyle>
          <a:p>
            <a:r>
              <a:rPr lang="en-US" altLang="zh-CN" sz="1600" b="0" dirty="0"/>
              <a:t>2</a:t>
            </a:r>
            <a:r>
              <a:rPr lang="zh-CN" altLang="en-US" sz="1600" b="0" dirty="0"/>
              <a:t>行</a:t>
            </a:r>
            <a:r>
              <a:rPr lang="en-US" altLang="zh-CN" sz="1600" b="0" dirty="0"/>
              <a:t>2</a:t>
            </a:r>
            <a:r>
              <a:rPr lang="zh-CN" altLang="en-US" sz="1600" b="0" dirty="0"/>
              <a:t>列共</a:t>
            </a:r>
            <a:r>
              <a:rPr lang="en-US" altLang="zh-CN" sz="1600" b="0" dirty="0"/>
              <a:t>4</a:t>
            </a:r>
            <a:r>
              <a:rPr lang="zh-CN" altLang="en-US" sz="1600" b="0" dirty="0"/>
              <a:t>个子图位置序号</a:t>
            </a:r>
            <a:endParaRPr lang="en-US" altLang="zh-CN" sz="1600" b="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3F37E8-4A57-60A9-7F08-F3EC31D2B488}"/>
              </a:ext>
            </a:extLst>
          </p:cNvPr>
          <p:cNvSpPr/>
          <p:nvPr/>
        </p:nvSpPr>
        <p:spPr>
          <a:xfrm>
            <a:off x="192923" y="750961"/>
            <a:ext cx="212419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-342900" algn="just" defTabSz="0">
              <a:spcBef>
                <a:spcPts val="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ax=subplot(</a:t>
            </a:r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m,n,p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7028B5-4E4E-F8BA-BD55-135B3CCA755C}"/>
              </a:ext>
            </a:extLst>
          </p:cNvPr>
          <p:cNvSpPr/>
          <p:nvPr/>
        </p:nvSpPr>
        <p:spPr>
          <a:xfrm>
            <a:off x="7826662" y="2243500"/>
            <a:ext cx="265264" cy="400110"/>
          </a:xfrm>
          <a:prstGeom prst="rect">
            <a:avLst/>
          </a:prstGeom>
          <a:solidFill>
            <a:srgbClr val="FFC000">
              <a:alpha val="57000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dirty="0">
              <a:solidFill>
                <a:srgbClr val="FFFF00"/>
              </a:solidFill>
              <a:highlight>
                <a:srgbClr val="FF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F49D0FF-D106-4079-9F2E-47CFCF40F971}"/>
              </a:ext>
            </a:extLst>
          </p:cNvPr>
          <p:cNvSpPr txBox="1"/>
          <p:nvPr/>
        </p:nvSpPr>
        <p:spPr>
          <a:xfrm>
            <a:off x="5090933" y="1449603"/>
            <a:ext cx="1800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subplot(2,2,1)</a:t>
            </a:r>
            <a:endParaRPr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A54B5A-B393-46B4-B043-BF5C24ECF756}"/>
              </a:ext>
            </a:extLst>
          </p:cNvPr>
          <p:cNvSpPr txBox="1"/>
          <p:nvPr/>
        </p:nvSpPr>
        <p:spPr>
          <a:xfrm>
            <a:off x="7297908" y="1471885"/>
            <a:ext cx="16128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subplot(2,2,2)</a:t>
            </a:r>
            <a:endParaRPr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EB2DFD5-1B19-4D82-B82D-85BDCA6D2194}"/>
              </a:ext>
            </a:extLst>
          </p:cNvPr>
          <p:cNvSpPr txBox="1"/>
          <p:nvPr/>
        </p:nvSpPr>
        <p:spPr>
          <a:xfrm>
            <a:off x="5077203" y="4269976"/>
            <a:ext cx="1800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subplot(2,2,3)</a:t>
            </a:r>
            <a:endParaRPr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BCEC34-2CFF-416B-85EA-390FF9594657}"/>
              </a:ext>
            </a:extLst>
          </p:cNvPr>
          <p:cNvSpPr txBox="1"/>
          <p:nvPr/>
        </p:nvSpPr>
        <p:spPr>
          <a:xfrm>
            <a:off x="7138319" y="4303502"/>
            <a:ext cx="15381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subplot(2,2,4)</a:t>
            </a:r>
            <a:endParaRPr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975445-9847-4F24-AA84-239D73B0DCFF}"/>
              </a:ext>
            </a:extLst>
          </p:cNvPr>
          <p:cNvSpPr txBox="1"/>
          <p:nvPr/>
        </p:nvSpPr>
        <p:spPr>
          <a:xfrm>
            <a:off x="4772515" y="1081068"/>
            <a:ext cx="15526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a typeface="楷体_GB2312" pitchFamily="49" charset="-122"/>
              </a:defRPr>
            </a:lvl9pPr>
          </a:lstStyle>
          <a:p>
            <a:r>
              <a:rPr lang="en-US" altLang="zh-CN" b="0" dirty="0">
                <a:sym typeface="Arial" panose="020B0604020202020204" pitchFamily="34" charset="0"/>
              </a:rPr>
              <a:t>subplot(2,2,p)</a:t>
            </a:r>
            <a:endParaRPr lang="zh-CN" altLang="en-US" b="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CD557F2-C847-470D-9469-58169D2D7F10}"/>
              </a:ext>
            </a:extLst>
          </p:cNvPr>
          <p:cNvSpPr txBox="1"/>
          <p:nvPr/>
        </p:nvSpPr>
        <p:spPr>
          <a:xfrm>
            <a:off x="971600" y="127769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§3.2.4 subplot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创建多子图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多子图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subplot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514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/>
      <p:bldP spid="15" grpId="0" animBg="1"/>
      <p:bldP spid="17" grpId="0"/>
      <p:bldP spid="18" grpId="0"/>
      <p:bldP spid="19" grpId="0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C59684-D9D0-2DBA-79D7-0EFC8842A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46" y="1851670"/>
            <a:ext cx="7776864" cy="276236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建第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个子图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ax1=subplot(2,1,1)</a:t>
            </a: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元素序号为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轴数据</a:t>
            </a: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plot(rand(1,20),"oy",</a:t>
            </a:r>
            <a:r>
              <a:rPr lang="en-US" altLang="zh-CN" sz="2000" b="1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markersize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=24); </a:t>
            </a: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ax1.set_facecolor("b")</a:t>
            </a: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title("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散点图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",color="b") </a:t>
            </a: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subplot(2,1,2) #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建第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个子图</a:t>
            </a: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plot(rand(1,20),"-o",</a:t>
            </a:r>
            <a:r>
              <a:rPr lang="en-US" altLang="zh-CN" sz="2000" b="1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markerfacecolor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="r");</a:t>
            </a: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title("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折线图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",color="r") </a:t>
            </a:r>
          </a:p>
          <a:p>
            <a:pPr marL="0" indent="0">
              <a:buNone/>
            </a:pP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波形 9">
            <a:extLst>
              <a:ext uri="{FF2B5EF4-FFF2-40B4-BE49-F238E27FC236}">
                <a16:creationId xmlns:a16="http://schemas.microsoft.com/office/drawing/2014/main" id="{67FEBFEF-7531-91DC-514F-06445ECC1A53}"/>
              </a:ext>
            </a:extLst>
          </p:cNvPr>
          <p:cNvSpPr/>
          <p:nvPr/>
        </p:nvSpPr>
        <p:spPr>
          <a:xfrm>
            <a:off x="461213" y="794404"/>
            <a:ext cx="721336" cy="31938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1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例7</a:t>
            </a:r>
            <a:endParaRPr lang="ko-KR" altLang="en-US" sz="21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D68F654-336F-5C3F-D018-9ED1C5ACC9F8}"/>
              </a:ext>
            </a:extLst>
          </p:cNvPr>
          <p:cNvSpPr txBox="1">
            <a:spLocks noChangeArrowheads="1"/>
          </p:cNvSpPr>
          <p:nvPr/>
        </p:nvSpPr>
        <p:spPr>
          <a:xfrm>
            <a:off x="1187624" y="764081"/>
            <a:ext cx="767022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dist"/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subplot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创建两行一列两个子图：随机数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rand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的散点图和折线图</a:t>
            </a:r>
            <a:endParaRPr lang="en-US" altLang="zh-CN" sz="20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802EE02-716A-4A63-854F-633F337CF663}"/>
              </a:ext>
            </a:extLst>
          </p:cNvPr>
          <p:cNvSpPr txBox="1"/>
          <p:nvPr/>
        </p:nvSpPr>
        <p:spPr>
          <a:xfrm>
            <a:off x="1187624" y="99400"/>
            <a:ext cx="7956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§3.2.4 subplot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创建多子图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多子图案例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1BCBEF8-7ACA-4DA6-9D65-6026631661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625" t="27041" r="36875" b="33200"/>
          <a:stretch/>
        </p:blipFill>
        <p:spPr>
          <a:xfrm>
            <a:off x="5119449" y="1458122"/>
            <a:ext cx="3687625" cy="290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7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3FC4276-B842-43CD-8A8E-CBA2E64E6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070" y="1884774"/>
            <a:ext cx="4470724" cy="274535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16A7CCA-581A-4E87-97E4-AE5167BBC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" y="1894316"/>
            <a:ext cx="4363820" cy="254435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ax1=subplot(2,2,1)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plot(rand(1,20),"oy",</a:t>
            </a:r>
            <a:r>
              <a:rPr lang="en-US" altLang="zh-CN" sz="1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markersize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=24);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ax1.set_facecolor(“b") 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title("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散点图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",color="r")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subplot(2,2,2) #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建第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个子图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plot(rand(1,20),"-o",</a:t>
            </a:r>
            <a:r>
              <a:rPr lang="en-US" altLang="zh-CN" sz="1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markerfacecolor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="r");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title("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折线图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",color="r")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subplot(2,1,2)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#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建第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个子图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bar(rand(1,20));title("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条形图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",color="r")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tightlayout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(); #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紧凑布局</a:t>
            </a:r>
            <a:endParaRPr lang="en-US" altLang="zh-CN" sz="1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E38385-5775-4BE6-9E11-5613699FE780}"/>
              </a:ext>
            </a:extLst>
          </p:cNvPr>
          <p:cNvSpPr txBox="1"/>
          <p:nvPr/>
        </p:nvSpPr>
        <p:spPr>
          <a:xfrm>
            <a:off x="95250" y="742565"/>
            <a:ext cx="9036496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2000" dirty="0"/>
              <a:t>多子图采用两种网格划分方式：</a:t>
            </a:r>
            <a:endParaRPr lang="en-US" altLang="zh-CN" sz="2000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sz="2000" dirty="0"/>
              <a:t>subplot(2,2) 2</a:t>
            </a:r>
            <a:r>
              <a:rPr lang="zh-CN" altLang="en-US" sz="2000" dirty="0"/>
              <a:t>行</a:t>
            </a:r>
            <a:r>
              <a:rPr lang="en-US" altLang="zh-CN" sz="2000" dirty="0"/>
              <a:t>2</a:t>
            </a:r>
            <a:r>
              <a:rPr lang="zh-CN" altLang="en-US" sz="2000" dirty="0"/>
              <a:t>列共</a:t>
            </a:r>
            <a:r>
              <a:rPr lang="en-US" altLang="zh-CN" sz="2000" dirty="0"/>
              <a:t>4</a:t>
            </a:r>
            <a:r>
              <a:rPr lang="zh-CN" altLang="en-US" sz="2000" dirty="0"/>
              <a:t>个网格，每行</a:t>
            </a:r>
            <a:r>
              <a:rPr lang="en-US" altLang="zh-CN" sz="2000" dirty="0"/>
              <a:t>2</a:t>
            </a:r>
            <a:r>
              <a:rPr lang="zh-CN" altLang="en-US" sz="2000" dirty="0"/>
              <a:t>个子图，第</a:t>
            </a:r>
            <a:r>
              <a:rPr lang="en-US" altLang="zh-CN" sz="2000" dirty="0"/>
              <a:t>1</a:t>
            </a:r>
            <a:r>
              <a:rPr lang="zh-CN" altLang="en-US" sz="2000" dirty="0"/>
              <a:t>和</a:t>
            </a:r>
            <a:r>
              <a:rPr lang="en-US" altLang="zh-CN" sz="2000" dirty="0"/>
              <a:t>2</a:t>
            </a:r>
            <a:r>
              <a:rPr lang="zh-CN" altLang="en-US" sz="2000" dirty="0"/>
              <a:t>子图绘散点图和折线图</a:t>
            </a:r>
            <a:endParaRPr lang="en-US" altLang="zh-CN" sz="2000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sz="2000" dirty="0"/>
              <a:t>Subplot(2,1</a:t>
            </a:r>
            <a:r>
              <a:rPr lang="zh-CN" altLang="en-US" sz="2000" dirty="0"/>
              <a:t>）划</a:t>
            </a:r>
            <a:r>
              <a:rPr lang="en-US" altLang="zh-CN" sz="2000" dirty="0"/>
              <a:t>2</a:t>
            </a:r>
            <a:r>
              <a:rPr lang="zh-CN" altLang="en-US" sz="2000" dirty="0"/>
              <a:t>行</a:t>
            </a:r>
            <a:r>
              <a:rPr lang="en-US" altLang="zh-CN" sz="2000" dirty="0"/>
              <a:t>1</a:t>
            </a:r>
            <a:r>
              <a:rPr lang="zh-CN" altLang="en-US" sz="2000" dirty="0"/>
              <a:t>列共</a:t>
            </a:r>
            <a:r>
              <a:rPr lang="en-US" altLang="zh-CN" sz="2000" dirty="0"/>
              <a:t>2</a:t>
            </a:r>
            <a:r>
              <a:rPr lang="zh-CN" altLang="en-US" sz="2000" dirty="0"/>
              <a:t>个网格，每行</a:t>
            </a:r>
            <a:r>
              <a:rPr lang="en-US" altLang="zh-CN" sz="2000" dirty="0"/>
              <a:t>1</a:t>
            </a:r>
            <a:r>
              <a:rPr lang="zh-CN" altLang="en-US" sz="2000" dirty="0"/>
              <a:t>个子图，第</a:t>
            </a:r>
            <a:r>
              <a:rPr lang="en-US" altLang="zh-CN" sz="2000" dirty="0"/>
              <a:t>2</a:t>
            </a:r>
            <a:r>
              <a:rPr lang="zh-CN" altLang="en-US" sz="2000" dirty="0"/>
              <a:t>子图绘条形图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BFF8E070-3057-4C02-85AF-B9C050116C15}"/>
              </a:ext>
            </a:extLst>
          </p:cNvPr>
          <p:cNvSpPr txBox="1">
            <a:spLocks/>
          </p:cNvSpPr>
          <p:nvPr/>
        </p:nvSpPr>
        <p:spPr>
          <a:xfrm>
            <a:off x="3635896" y="762855"/>
            <a:ext cx="5056717" cy="38377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/>
            <a:r>
              <a:rPr lang="zh-CN" altLang="en-US" sz="1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绘随机数生成的散点图、折线图和条形图构成的三个子图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1D29F6-250E-4D51-ADA9-C341A57418D9}"/>
              </a:ext>
            </a:extLst>
          </p:cNvPr>
          <p:cNvSpPr txBox="1"/>
          <p:nvPr/>
        </p:nvSpPr>
        <p:spPr>
          <a:xfrm>
            <a:off x="3777224" y="2499742"/>
            <a:ext cx="1363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highlight>
                  <a:srgbClr val="3399FF"/>
                </a:highlight>
              </a:rPr>
              <a:t>subplot(2,2) </a:t>
            </a:r>
            <a:endParaRPr lang="zh-CN" altLang="en-US" sz="1400" b="1" dirty="0">
              <a:solidFill>
                <a:schemeClr val="bg1"/>
              </a:solidFill>
              <a:highlight>
                <a:srgbClr val="3399FF"/>
              </a:highlight>
            </a:endParaRPr>
          </a:p>
        </p:txBody>
      </p:sp>
      <p:sp>
        <p:nvSpPr>
          <p:cNvPr id="6" name="波形 5">
            <a:extLst>
              <a:ext uri="{FF2B5EF4-FFF2-40B4-BE49-F238E27FC236}">
                <a16:creationId xmlns:a16="http://schemas.microsoft.com/office/drawing/2014/main" id="{17405221-5463-49FD-9929-DC52D1699D9E}"/>
              </a:ext>
            </a:extLst>
          </p:cNvPr>
          <p:cNvSpPr/>
          <p:nvPr/>
        </p:nvSpPr>
        <p:spPr>
          <a:xfrm>
            <a:off x="8264108" y="733804"/>
            <a:ext cx="648072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例8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51D408-3CB0-4E78-ADDC-60F0E1E4E55E}"/>
              </a:ext>
            </a:extLst>
          </p:cNvPr>
          <p:cNvSpPr txBox="1"/>
          <p:nvPr/>
        </p:nvSpPr>
        <p:spPr>
          <a:xfrm>
            <a:off x="971600" y="128767"/>
            <a:ext cx="7632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§3.2.4 subplot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创建多子图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大小不同多子图</a:t>
            </a:r>
            <a:r>
              <a:rPr lang="en-US" altLang="zh-CN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subplot</a:t>
            </a:r>
            <a:r>
              <a:rPr lang="zh-CN" altLang="en-US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4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D09E2D-9C99-4CA0-B656-E712A1CF8983}"/>
              </a:ext>
            </a:extLst>
          </p:cNvPr>
          <p:cNvSpPr txBox="1"/>
          <p:nvPr/>
        </p:nvSpPr>
        <p:spPr>
          <a:xfrm>
            <a:off x="3777223" y="3723878"/>
            <a:ext cx="1363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highlight>
                  <a:srgbClr val="3399FF"/>
                </a:highlight>
              </a:rPr>
              <a:t>subplot(2,1) </a:t>
            </a:r>
            <a:endParaRPr lang="zh-CN" altLang="en-US" sz="1400" b="1" dirty="0">
              <a:solidFill>
                <a:schemeClr val="bg1"/>
              </a:solidFill>
              <a:highlight>
                <a:srgbClr val="3399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4856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829903B-0551-7627-98B1-60BE55035F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511" t="17801" r="9046" b="27600"/>
          <a:stretch/>
        </p:blipFill>
        <p:spPr>
          <a:xfrm>
            <a:off x="6350453" y="1927798"/>
            <a:ext cx="2187927" cy="175823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" name="标题 4">
            <a:extLst>
              <a:ext uri="{FF2B5EF4-FFF2-40B4-BE49-F238E27FC236}">
                <a16:creationId xmlns:a16="http://schemas.microsoft.com/office/drawing/2014/main" id="{136109EB-070C-CF29-AB4F-D7115BEB9A8B}"/>
              </a:ext>
            </a:extLst>
          </p:cNvPr>
          <p:cNvSpPr txBox="1">
            <a:spLocks/>
          </p:cNvSpPr>
          <p:nvPr/>
        </p:nvSpPr>
        <p:spPr bwMode="auto">
          <a:xfrm>
            <a:off x="1607875" y="1159143"/>
            <a:ext cx="2808635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indent="-342900" algn="just" defTabSz="0">
              <a:spcBef>
                <a:spcPts val="0"/>
              </a:spcBef>
              <a:defRPr sz="2000" b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800" dirty="0">
                <a:sym typeface="Arial" panose="020B0604020202020204" pitchFamily="34" charset="0"/>
              </a:rPr>
              <a:t>subplot( position=</a:t>
            </a:r>
            <a:r>
              <a:rPr lang="en-US" altLang="zh-CN" sz="1800" dirty="0"/>
              <a:t> [</a:t>
            </a:r>
            <a:r>
              <a:rPr lang="en-US" altLang="zh-CN" sz="1800" dirty="0" err="1"/>
              <a:t>a,b,w,h</a:t>
            </a:r>
            <a:r>
              <a:rPr lang="en-US" altLang="zh-CN" sz="1800" dirty="0"/>
              <a:t>] </a:t>
            </a:r>
            <a:r>
              <a:rPr lang="en-US" altLang="zh-CN" sz="1800" dirty="0">
                <a:sym typeface="Arial" panose="020B0604020202020204" pitchFamily="34" charset="0"/>
              </a:rPr>
              <a:t>)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78BB76EE-6057-95E1-733C-2678967F33EF}"/>
              </a:ext>
            </a:extLst>
          </p:cNvPr>
          <p:cNvSpPr txBox="1">
            <a:spLocks/>
          </p:cNvSpPr>
          <p:nvPr/>
        </p:nvSpPr>
        <p:spPr>
          <a:xfrm>
            <a:off x="323528" y="1555070"/>
            <a:ext cx="8581928" cy="2596224"/>
          </a:xfrm>
          <a:prstGeom prst="rect">
            <a:avLst/>
          </a:prstGeom>
          <a:noFill/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lnSpc>
                <a:spcPts val="2200"/>
              </a:lnSpc>
              <a:buNone/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plt_close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"all"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altLang="zh-CN" sz="2000" b="0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x,a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)=(x^</a:t>
            </a:r>
            <a:r>
              <a:rPr lang="en-US" altLang="zh-CN" sz="2000" b="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)^(</a:t>
            </a:r>
            <a:r>
              <a:rPr lang="en-US" altLang="zh-CN" sz="2000" b="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000" b="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)+</a:t>
            </a:r>
            <a:r>
              <a:rPr lang="en-US" altLang="zh-CN" sz="2000" b="0" dirty="0">
                <a:solidFill>
                  <a:srgbClr val="098658"/>
                </a:solidFill>
                <a:latin typeface="Consolas" panose="020B0609020204030204" pitchFamily="49" charset="0"/>
              </a:rPr>
              <a:t>0.9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*(</a:t>
            </a:r>
            <a:r>
              <a:rPr lang="en-US" altLang="zh-CN" sz="2000" b="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-x^</a:t>
            </a:r>
            <a:r>
              <a:rPr lang="en-US" altLang="zh-CN" sz="2000" b="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)^(</a:t>
            </a:r>
            <a:r>
              <a:rPr lang="en-US" altLang="zh-CN" sz="2000" b="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000" b="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2000" b="0" dirty="0">
                <a:solidFill>
                  <a:srgbClr val="795E26"/>
                </a:solidFill>
                <a:latin typeface="Consolas" panose="020B0609020204030204" pitchFamily="49" charset="0"/>
              </a:rPr>
              <a:t>sin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(a*x); 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xx= 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altLang="zh-CN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创建子图</a:t>
            </a:r>
            <a:r>
              <a:rPr lang="en-US" altLang="zh-CN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(position=[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0.28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0.45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.(xx,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altLang="zh-CN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#</a:t>
            </a:r>
            <a:r>
              <a:rPr lang="zh-CN" altLang="en-US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创建子图</a:t>
            </a:r>
            <a:r>
              <a:rPr lang="en-US" altLang="zh-CN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endParaRPr lang="en-US" altLang="zh-C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(position=[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0.85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 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.(xx,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6.28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endParaRPr lang="zh-CN" altLang="en-US" sz="20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37A445B-75DD-9521-AFE2-D8017499D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09" y="780074"/>
            <a:ext cx="8445947" cy="2855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创建包含两个未与网格位置对齐的子图的图窗。为每个子图指定一个自定义位置 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247F4E-94E4-338D-631D-5A60144C4267}"/>
              </a:ext>
            </a:extLst>
          </p:cNvPr>
          <p:cNvSpPr txBox="1"/>
          <p:nvPr/>
        </p:nvSpPr>
        <p:spPr>
          <a:xfrm>
            <a:off x="738933" y="108698"/>
            <a:ext cx="82244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§3.2.4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绘图基础知识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自定义位置多子图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subplot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5015C1-AC3A-C24A-1A5C-6439A1438162}"/>
              </a:ext>
            </a:extLst>
          </p:cNvPr>
          <p:cNvSpPr txBox="1"/>
          <p:nvPr/>
        </p:nvSpPr>
        <p:spPr>
          <a:xfrm>
            <a:off x="323528" y="1138194"/>
            <a:ext cx="14229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调用格式</a:t>
            </a: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0AA2362A-51AA-67E2-41FB-78A0DC718E4A}"/>
              </a:ext>
            </a:extLst>
          </p:cNvPr>
          <p:cNvSpPr/>
          <p:nvPr/>
        </p:nvSpPr>
        <p:spPr>
          <a:xfrm>
            <a:off x="7860719" y="1585854"/>
            <a:ext cx="648773" cy="38080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1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</a:t>
            </a:r>
            <a:endParaRPr lang="ko-KR" altLang="en-US" sz="21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8D26A08-D346-429D-B6EC-4FB78824A4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46" t="13232" r="32741" b="20954"/>
          <a:stretch/>
        </p:blipFill>
        <p:spPr>
          <a:xfrm>
            <a:off x="7496483" y="3225161"/>
            <a:ext cx="1301781" cy="8999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C7B09CD-60C3-49C1-8653-51BAC2C66EDD}"/>
              </a:ext>
            </a:extLst>
          </p:cNvPr>
          <p:cNvSpPr/>
          <p:nvPr/>
        </p:nvSpPr>
        <p:spPr>
          <a:xfrm>
            <a:off x="459509" y="4244790"/>
            <a:ext cx="6142644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§3.1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坐标区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axes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：坐标区的位置和大小的属性设置</a:t>
            </a:r>
            <a:r>
              <a:rPr lang="en-US" altLang="zh-CN" sz="1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plt_axes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25A1F03-6778-4B26-8855-1FEA7845F699}"/>
              </a:ext>
            </a:extLst>
          </p:cNvPr>
          <p:cNvSpPr txBox="1"/>
          <p:nvPr/>
        </p:nvSpPr>
        <p:spPr>
          <a:xfrm>
            <a:off x="6845058" y="4194149"/>
            <a:ext cx="2031321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indent="-342900" defTabSz="0">
              <a:spcBef>
                <a:spcPts val="0"/>
              </a:spcBef>
              <a:defRPr sz="1800" b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defRPr>
            </a:lvl1pPr>
            <a:lvl2pPr eaLnBrk="0" hangingPunct="0">
              <a:lnSpc>
                <a:spcPct val="85000"/>
              </a:lnSpc>
              <a:defRPr sz="3400" b="1"/>
            </a:lvl2pPr>
            <a:lvl3pPr eaLnBrk="0" hangingPunct="0">
              <a:lnSpc>
                <a:spcPct val="85000"/>
              </a:lnSpc>
              <a:defRPr sz="3400" b="1"/>
            </a:lvl3pPr>
            <a:lvl4pPr eaLnBrk="0" hangingPunct="0">
              <a:lnSpc>
                <a:spcPct val="85000"/>
              </a:lnSpc>
              <a:defRPr sz="3400" b="1"/>
            </a:lvl4pPr>
            <a:lvl5pPr eaLnBrk="0" hangingPunct="0">
              <a:lnSpc>
                <a:spcPct val="85000"/>
              </a:lnSpc>
              <a:defRPr sz="3400" b="1"/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/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/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/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/>
            </a:lvl9pPr>
          </a:lstStyle>
          <a:p>
            <a:pPr algn="dist"/>
            <a:r>
              <a:rPr lang="en-US" altLang="zh-CN" sz="1600" dirty="0"/>
              <a:t>ax=</a:t>
            </a:r>
            <a:r>
              <a:rPr lang="en-US" altLang="zh-CN" sz="1600" dirty="0" err="1"/>
              <a:t>plt_axes</a:t>
            </a:r>
            <a:r>
              <a:rPr lang="en-US" altLang="zh-CN" sz="1600" dirty="0"/>
              <a:t>([a b w h])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A4B303-984A-46F7-8FD0-B45FE931935B}"/>
              </a:ext>
            </a:extLst>
          </p:cNvPr>
          <p:cNvSpPr txBox="1"/>
          <p:nvPr/>
        </p:nvSpPr>
        <p:spPr>
          <a:xfrm>
            <a:off x="4633588" y="1066123"/>
            <a:ext cx="3729072" cy="71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)代表坐标区左下角位置，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w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分别代表坐标区宽度和高度</a:t>
            </a:r>
            <a:endParaRPr lang="en-US" altLang="zh-CN" sz="16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6790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276A8F97-2085-ED44-CEF4-2084D3BE3625}"/>
              </a:ext>
            </a:extLst>
          </p:cNvPr>
          <p:cNvSpPr txBox="1"/>
          <p:nvPr/>
        </p:nvSpPr>
        <p:spPr>
          <a:xfrm>
            <a:off x="2024132" y="818201"/>
            <a:ext cx="7212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指定当前坐标区范围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以包含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个或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个元素的向量形式指定范围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4">
            <a:extLst>
              <a:ext uri="{FF2B5EF4-FFF2-40B4-BE49-F238E27FC236}">
                <a16:creationId xmlns:a16="http://schemas.microsoft.com/office/drawing/2014/main" id="{FD025051-61B6-0E01-BD6E-C02F00B6CD29}"/>
              </a:ext>
            </a:extLst>
          </p:cNvPr>
          <p:cNvSpPr txBox="1">
            <a:spLocks/>
          </p:cNvSpPr>
          <p:nvPr/>
        </p:nvSpPr>
        <p:spPr bwMode="auto">
          <a:xfrm>
            <a:off x="330500" y="865958"/>
            <a:ext cx="1729535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 algn="dist">
              <a:lnSpc>
                <a:spcPct val="90000"/>
              </a:lnSpc>
              <a:defRPr sz="20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9pPr>
          </a:lstStyle>
          <a:p>
            <a:r>
              <a:rPr lang="en-US" altLang="zh-CN" sz="1800" b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axis(limits)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70D5C6-FA2F-71B5-A2E1-A29BB25C28A0}"/>
              </a:ext>
            </a:extLst>
          </p:cNvPr>
          <p:cNvSpPr/>
          <p:nvPr/>
        </p:nvSpPr>
        <p:spPr>
          <a:xfrm>
            <a:off x="351133" y="3033146"/>
            <a:ext cx="5300987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axis([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xmin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xmax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ymin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ymax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zmin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zmax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4A742B-188B-1D6E-4B83-74BB9A9065D2}"/>
              </a:ext>
            </a:extLst>
          </p:cNvPr>
          <p:cNvSpPr/>
          <p:nvPr/>
        </p:nvSpPr>
        <p:spPr>
          <a:xfrm>
            <a:off x="346022" y="1930037"/>
            <a:ext cx="4514010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axis([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xmin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xmax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ymin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ymax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B9DFF64-B6A5-C26D-C4D0-4CDC47135276}"/>
              </a:ext>
            </a:extLst>
          </p:cNvPr>
          <p:cNvSpPr txBox="1"/>
          <p:nvPr/>
        </p:nvSpPr>
        <p:spPr>
          <a:xfrm>
            <a:off x="241681" y="1398649"/>
            <a:ext cx="3528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设置二维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轴的坐标范围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B5458E-1244-D8FB-8A91-1465B76195F8}"/>
              </a:ext>
            </a:extLst>
          </p:cNvPr>
          <p:cNvSpPr txBox="1"/>
          <p:nvPr/>
        </p:nvSpPr>
        <p:spPr>
          <a:xfrm>
            <a:off x="247045" y="2468637"/>
            <a:ext cx="43499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设置三维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轴、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轴的坐标范围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842525C-AECD-10A2-6314-859788826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045" y="3487961"/>
            <a:ext cx="5765115" cy="441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0">
              <a:lnSpc>
                <a:spcPct val="125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xlim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ylim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zlim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</a:t>
            </a:r>
            <a:r>
              <a:rPr lang="zh-CN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各单</a:t>
            </a:r>
            <a:r>
              <a:rPr lang="zh-CN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坐标轴范围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3E8F5FF-A9FA-4122-6B83-F74EFBA046B8}"/>
              </a:ext>
            </a:extLst>
          </p:cNvPr>
          <p:cNvSpPr/>
          <p:nvPr/>
        </p:nvSpPr>
        <p:spPr>
          <a:xfrm>
            <a:off x="3203848" y="4103871"/>
            <a:ext cx="2637951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ylim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([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ymin,ymax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D93B6B-5804-1FBA-5DB4-9926E79D873E}"/>
              </a:ext>
            </a:extLst>
          </p:cNvPr>
          <p:cNvSpPr/>
          <p:nvPr/>
        </p:nvSpPr>
        <p:spPr>
          <a:xfrm>
            <a:off x="301275" y="4102326"/>
            <a:ext cx="2411339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xlim([xmin,xmax])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F601DA0-4D5B-373B-30F5-027A816B1BED}"/>
              </a:ext>
            </a:extLst>
          </p:cNvPr>
          <p:cNvSpPr/>
          <p:nvPr/>
        </p:nvSpPr>
        <p:spPr>
          <a:xfrm>
            <a:off x="6158336" y="4075631"/>
            <a:ext cx="2735000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zylim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([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zmin,zmax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BF6785-FD9E-403A-9B91-4030CB7B7803}"/>
              </a:ext>
            </a:extLst>
          </p:cNvPr>
          <p:cNvSpPr txBox="1"/>
          <p:nvPr/>
        </p:nvSpPr>
        <p:spPr>
          <a:xfrm>
            <a:off x="1361196" y="85510"/>
            <a:ext cx="75579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§3.2.5 axis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设置坐标轴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——axis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指定坐标轴范围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6FFDB1-84EB-47F5-AF0C-E2FFD66E8E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38" t="9401" r="6232" b="10800"/>
          <a:stretch/>
        </p:blipFill>
        <p:spPr>
          <a:xfrm>
            <a:off x="6012160" y="1512488"/>
            <a:ext cx="2898527" cy="19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0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/>
      <p:bldP spid="19" grpId="0"/>
      <p:bldP spid="22" grpId="0" animBg="1"/>
      <p:bldP spid="23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4">
            <a:extLst>
              <a:ext uri="{FF2B5EF4-FFF2-40B4-BE49-F238E27FC236}">
                <a16:creationId xmlns:a16="http://schemas.microsoft.com/office/drawing/2014/main" id="{6F83CDC1-9758-6B60-E3FD-5058931AB1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1901240"/>
              </p:ext>
            </p:extLst>
          </p:nvPr>
        </p:nvGraphicFramePr>
        <p:xfrm>
          <a:off x="395536" y="1203598"/>
          <a:ext cx="8344078" cy="3416473"/>
        </p:xfrm>
        <a:graphic>
          <a:graphicData uri="http://schemas.openxmlformats.org/drawingml/2006/table">
            <a:tbl>
              <a:tblPr/>
              <a:tblGrid>
                <a:gridCol w="1330215">
                  <a:extLst>
                    <a:ext uri="{9D8B030D-6E8A-4147-A177-3AD203B41FA5}">
                      <a16:colId xmlns:a16="http://schemas.microsoft.com/office/drawing/2014/main" val="2369689519"/>
                    </a:ext>
                  </a:extLst>
                </a:gridCol>
                <a:gridCol w="7013863">
                  <a:extLst>
                    <a:ext uri="{9D8B030D-6E8A-4147-A177-3AD203B41FA5}">
                      <a16:colId xmlns:a16="http://schemas.microsoft.com/office/drawing/2014/main" val="1150511469"/>
                    </a:ext>
                  </a:extLst>
                </a:gridCol>
              </a:tblGrid>
              <a:tr h="2241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"square"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0070C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更改图形比例，显示为长方形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31638"/>
                  </a:ext>
                </a:extLst>
              </a:tr>
              <a:tr h="224112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"on"</a:t>
                      </a: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打开轴线和标签。</a:t>
                      </a: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950951"/>
                  </a:ext>
                </a:extLst>
              </a:tr>
              <a:tr h="414068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"off"</a:t>
                      </a: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关闭轴线和标签。</a:t>
                      </a: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399069"/>
                  </a:ext>
                </a:extLst>
              </a:tr>
              <a:tr h="672676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qual"</a:t>
                      </a: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kern="1200" dirty="0">
                          <a:solidFill>
                            <a:srgbClr val="00B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等刻度</a:t>
                      </a:r>
                      <a:r>
                        <a:rPr lang="zh-CN" altLang="en-US" sz="18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，通过更改轴限制设置相等的缩放比例（即使圆成为圆形）。在这种情况下，可能不会遵守明确的数据限制。</a:t>
                      </a: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28787"/>
                  </a:ext>
                </a:extLst>
              </a:tr>
              <a:tr h="56028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"tight"</a:t>
                      </a: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设置大到足以显示所有数据的限制，然后禁用进一步的自动缩放。</a:t>
                      </a:r>
                      <a:r>
                        <a:rPr lang="zh-CN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将</a:t>
                      </a:r>
                      <a:r>
                        <a:rPr lang="zh-CN" altLang="en-US" sz="1800" b="1" kern="1200" dirty="0">
                          <a:solidFill>
                            <a:srgbClr val="00B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坐标轴范围设置为等于数据范围，</a:t>
                      </a:r>
                      <a:r>
                        <a:rPr lang="zh-CN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这样绘图可以扩展到</a:t>
                      </a:r>
                      <a:r>
                        <a:rPr lang="zh-CN" altLang="en-US" sz="1800" b="1" i="0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66CCFF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坐标区边缘</a:t>
                      </a:r>
                      <a:endParaRPr lang="zh-CN" altLang="en-US" sz="1800" b="1" dirty="0">
                        <a:solidFill>
                          <a:schemeClr val="bg1"/>
                        </a:solidFill>
                        <a:effectLst/>
                        <a:highlight>
                          <a:srgbClr val="66CCFF"/>
                        </a:highlight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984311"/>
                  </a:ext>
                </a:extLst>
              </a:tr>
              <a:tr h="392197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"auto"</a:t>
                      </a: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自动缩放（用数据填充绘图框）</a:t>
                      </a:r>
                      <a:r>
                        <a:rPr lang="en-US" altLang="zh-CN" sz="18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,</a:t>
                      </a:r>
                      <a:r>
                        <a:rPr lang="zh-CN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坐标区自动选择合适的范围，即将范围模式</a:t>
                      </a:r>
                      <a:r>
                        <a:rPr lang="zh-CN" altLang="en-US" sz="1800" b="1" kern="0" dirty="0">
                          <a:solidFill>
                            <a:srgbClr val="00206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Arial" panose="020B0604020202020204" pitchFamily="34" charset="0"/>
                        </a:rPr>
                        <a:t>返回</a:t>
                      </a:r>
                      <a:r>
                        <a:rPr lang="zh-CN" altLang="en-US" sz="1800" b="1" kern="1200" dirty="0">
                          <a:solidFill>
                            <a:srgbClr val="00B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默认设置</a:t>
                      </a:r>
                      <a:r>
                        <a:rPr lang="zh-CN" altLang="en-US" sz="18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。</a:t>
                      </a: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89061"/>
                  </a:ext>
                </a:extLst>
              </a:tr>
              <a:tr h="392197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"manual"</a:t>
                      </a: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18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将所有</a:t>
                      </a:r>
                      <a:r>
                        <a:rPr lang="zh-CN" altLang="en-US" sz="1800" b="1" kern="1200" dirty="0">
                          <a:solidFill>
                            <a:srgbClr val="00B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坐标轴范围冻结</a:t>
                      </a:r>
                      <a:r>
                        <a:rPr lang="zh-CN" altLang="en-US" sz="18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在它们的当前值</a:t>
                      </a:r>
                      <a:r>
                        <a:rPr lang="en-US" altLang="zh-CN" sz="18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,</a:t>
                      </a:r>
                      <a:r>
                        <a:rPr lang="zh-CN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保留</a:t>
                      </a:r>
                      <a:r>
                        <a:rPr lang="zh-CN" altLang="en-US" sz="1800" b="1" kern="1200" dirty="0">
                          <a:solidFill>
                            <a:srgbClr val="00B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当前的坐标轴范围</a:t>
                      </a:r>
                      <a:r>
                        <a:rPr lang="zh-CN" altLang="en-US" sz="18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。</a:t>
                      </a:r>
                    </a:p>
                  </a:txBody>
                  <a:tcPr marL="46404" marR="46404" marT="23202" marB="2320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150400"/>
                  </a:ext>
                </a:extLst>
              </a:tr>
            </a:tbl>
          </a:graphicData>
        </a:graphic>
      </p:graphicFrame>
      <p:sp>
        <p:nvSpPr>
          <p:cNvPr id="5" name="标题 4">
            <a:extLst>
              <a:ext uri="{FF2B5EF4-FFF2-40B4-BE49-F238E27FC236}">
                <a16:creationId xmlns:a16="http://schemas.microsoft.com/office/drawing/2014/main" id="{61F436BE-C4D0-CA37-620A-24BE09EFD60F}"/>
              </a:ext>
            </a:extLst>
          </p:cNvPr>
          <p:cNvSpPr txBox="1">
            <a:spLocks/>
          </p:cNvSpPr>
          <p:nvPr/>
        </p:nvSpPr>
        <p:spPr bwMode="auto">
          <a:xfrm>
            <a:off x="395536" y="775442"/>
            <a:ext cx="1291584" cy="408766"/>
          </a:xfrm>
          <a:prstGeom prst="rect">
            <a:avLst/>
          </a:prstGeom>
          <a:solidFill>
            <a:srgbClr val="0070C0"/>
          </a:solidFill>
          <a:ln w="38100" cap="flat" cmpd="sng" algn="ctr">
            <a:solidFill>
              <a:schemeClr val="lt1"/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9pPr>
          </a:lstStyle>
          <a:p>
            <a:pPr marL="342900" indent="-342900" algn="just" defTabSz="0">
              <a:lnSpc>
                <a:spcPct val="125000"/>
              </a:lnSpc>
              <a:spcBef>
                <a:spcPct val="20000"/>
              </a:spcBef>
            </a:pPr>
            <a:r>
              <a:rPr lang="en-US" altLang="zh-CN" sz="1800" b="1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axis( style)</a:t>
            </a: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783E18F5-063B-4E74-3175-B9D6273120BE}"/>
              </a:ext>
            </a:extLst>
          </p:cNvPr>
          <p:cNvSpPr txBox="1">
            <a:spLocks/>
          </p:cNvSpPr>
          <p:nvPr/>
        </p:nvSpPr>
        <p:spPr bwMode="auto">
          <a:xfrm>
            <a:off x="7108912" y="690623"/>
            <a:ext cx="2043766" cy="523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/>
            <a:endParaRPr lang="en-US" altLang="zh-CN" sz="20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zh-CN" sz="20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是字符串</a:t>
            </a:r>
            <a:br>
              <a:rPr lang="en-US" altLang="zh-CN" sz="20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0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0D7DB1-4A0D-41A1-C789-32102E027081}"/>
              </a:ext>
            </a:extLst>
          </p:cNvPr>
          <p:cNvSpPr txBox="1"/>
          <p:nvPr/>
        </p:nvSpPr>
        <p:spPr>
          <a:xfrm>
            <a:off x="899592" y="94375"/>
            <a:ext cx="82819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§3.2.5 axis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设置坐标轴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axis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设置坐标轴纵横比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7A9E3E-F19B-475E-886C-C1FE79E2C8AF}"/>
              </a:ext>
            </a:extLst>
          </p:cNvPr>
          <p:cNvSpPr txBox="1"/>
          <p:nvPr/>
        </p:nvSpPr>
        <p:spPr>
          <a:xfrm>
            <a:off x="1677763" y="765727"/>
            <a:ext cx="6192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00B0F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使用预定义样式设置轴范围和尺度，默认长方形</a:t>
            </a:r>
            <a:endParaRPr lang="zh-CN" altLang="en-US" sz="2000" b="1" dirty="0">
              <a:solidFill>
                <a:srgbClr val="00B0F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4ED5DD-96F3-4EFF-896E-BB416B7E4B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88" t="14888" r="31100" b="5201"/>
          <a:stretch/>
        </p:blipFill>
        <p:spPr>
          <a:xfrm>
            <a:off x="7870163" y="1223947"/>
            <a:ext cx="946659" cy="684000"/>
          </a:xfrm>
          <a:prstGeom prst="rect">
            <a:avLst/>
          </a:prstGeom>
        </p:spPr>
      </p:pic>
      <p:sp>
        <p:nvSpPr>
          <p:cNvPr id="8" name="AutoShape 13">
            <a:extLst>
              <a:ext uri="{FF2B5EF4-FFF2-40B4-BE49-F238E27FC236}">
                <a16:creationId xmlns:a16="http://schemas.microsoft.com/office/drawing/2014/main" id="{5D7DFF09-52F0-407D-ADFE-B66CE3C88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523" y="1643447"/>
            <a:ext cx="937622" cy="613525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endParaRPr lang="en-US" altLang="zh-CN" sz="1200" b="1" i="0" dirty="0">
              <a:solidFill>
                <a:srgbClr val="FFFF0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12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注意</a:t>
            </a:r>
            <a:endParaRPr lang="en-US" altLang="zh-CN" sz="12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 sz="12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B12158-BDE1-414B-BB3B-91836F0E248C}"/>
              </a:ext>
            </a:extLst>
          </p:cNvPr>
          <p:cNvSpPr txBox="1"/>
          <p:nvPr/>
        </p:nvSpPr>
        <p:spPr>
          <a:xfrm>
            <a:off x="5501414" y="1223947"/>
            <a:ext cx="2137124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矩形坐标系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(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默认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)</a:t>
            </a:r>
            <a:endParaRPr lang="zh-CN" altLang="en-US" sz="2000" b="1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AAE52B1-A16B-4EBE-8B17-401EC01A2B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85" t="15045" r="32746" b="5900"/>
          <a:stretch/>
        </p:blipFill>
        <p:spPr>
          <a:xfrm>
            <a:off x="7856446" y="2106074"/>
            <a:ext cx="976924" cy="684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06FF168-3890-428F-A92B-600C45A875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201" t="15447" r="36218" b="4004"/>
          <a:stretch/>
        </p:blipFill>
        <p:spPr>
          <a:xfrm>
            <a:off x="7819062" y="2877610"/>
            <a:ext cx="1048859" cy="756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A35449D-38F3-4B91-ABC6-A19AC84A520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460" t="17685" r="31494" b="8935"/>
          <a:stretch/>
        </p:blipFill>
        <p:spPr>
          <a:xfrm>
            <a:off x="3707904" y="1675348"/>
            <a:ext cx="937622" cy="684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E4AD4F7-3174-4D80-9896-78C99DFF7DB5}"/>
              </a:ext>
            </a:extLst>
          </p:cNvPr>
          <p:cNvSpPr txBox="1"/>
          <p:nvPr/>
        </p:nvSpPr>
        <p:spPr>
          <a:xfrm>
            <a:off x="5924196" y="1815197"/>
            <a:ext cx="30422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en-US" altLang="zh-CN" sz="160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axis on,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axis equal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650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5C5A035D-00F9-FD95-40D4-D4303A810BAF}"/>
              </a:ext>
            </a:extLst>
          </p:cNvPr>
          <p:cNvSpPr txBox="1"/>
          <p:nvPr/>
        </p:nvSpPr>
        <p:spPr>
          <a:xfrm>
            <a:off x="683568" y="1139633"/>
            <a:ext cx="570077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</a:pP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(x)= (x^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 x^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)*</a:t>
            </a: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31.4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x); </a:t>
            </a:r>
            <a:r>
              <a:rPr lang="en-US" altLang="zh-CN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300"/>
              </a:lnSpc>
            </a:pPr>
            <a:r>
              <a:rPr lang="en-US" altLang="zh-CN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fplot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(f,[-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hold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"on"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叠加图</a:t>
            </a:r>
            <a:endParaRPr lang="zh-CN" alt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angle=</a:t>
            </a:r>
            <a:r>
              <a:rPr lang="en-US" altLang="zh-CN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LinRange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zh-CN" alt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xb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.(angle);</a:t>
            </a:r>
          </a:p>
          <a:p>
            <a:pPr marL="0" indent="0"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yb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 .+ 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xb,yb,marker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画圆</a:t>
            </a:r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C61847F-185D-E941-FAD0-85B730D4B1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92" t="31529" r="45275" b="20601"/>
          <a:stretch/>
        </p:blipFill>
        <p:spPr>
          <a:xfrm>
            <a:off x="6552729" y="918333"/>
            <a:ext cx="2351322" cy="159976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32E3B61-46B2-4BD2-E714-21B9DD9362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62" t="31800" r="46063" b="22001"/>
          <a:stretch/>
        </p:blipFill>
        <p:spPr>
          <a:xfrm>
            <a:off x="6588224" y="2956734"/>
            <a:ext cx="2347875" cy="1616440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D832DD-3456-E5C3-5F51-21E99D944391}"/>
              </a:ext>
            </a:extLst>
          </p:cNvPr>
          <p:cNvSpPr txBox="1">
            <a:spLocks/>
          </p:cNvSpPr>
          <p:nvPr/>
        </p:nvSpPr>
        <p:spPr>
          <a:xfrm>
            <a:off x="5220072" y="694517"/>
            <a:ext cx="38695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pt-BR" altLang="zh-CN" sz="1600" dirty="0"/>
              <a:t>axis([-2 2 -2 2]) </a:t>
            </a:r>
            <a:r>
              <a:rPr lang="en-US" altLang="zh-CN" sz="1600" dirty="0"/>
              <a:t>#x</a:t>
            </a:r>
            <a:r>
              <a:rPr lang="zh-CN" altLang="en-US" sz="1600" dirty="0"/>
              <a:t>和</a:t>
            </a:r>
            <a:r>
              <a:rPr lang="en-US" altLang="zh-CN" sz="1600" dirty="0"/>
              <a:t>y</a:t>
            </a:r>
            <a:r>
              <a:rPr lang="zh-CN" altLang="en-US" sz="1600" dirty="0"/>
              <a:t>都在</a:t>
            </a:r>
            <a:r>
              <a:rPr lang="en-US" altLang="zh-CN" sz="1600" dirty="0"/>
              <a:t>[-2,2]</a:t>
            </a:r>
            <a:r>
              <a:rPr lang="zh-CN" altLang="en-US" sz="1600" dirty="0"/>
              <a:t>之间</a:t>
            </a:r>
          </a:p>
        </p:txBody>
      </p:sp>
      <p:sp>
        <p:nvSpPr>
          <p:cNvPr id="7" name="内容占位符 3">
            <a:extLst>
              <a:ext uri="{FF2B5EF4-FFF2-40B4-BE49-F238E27FC236}">
                <a16:creationId xmlns:a16="http://schemas.microsoft.com/office/drawing/2014/main" id="{68F250F1-1C77-944E-840E-F7B8B869DF03}"/>
              </a:ext>
            </a:extLst>
          </p:cNvPr>
          <p:cNvSpPr txBox="1">
            <a:spLocks/>
          </p:cNvSpPr>
          <p:nvPr/>
        </p:nvSpPr>
        <p:spPr bwMode="auto">
          <a:xfrm>
            <a:off x="6156177" y="2576148"/>
            <a:ext cx="29334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pt-BR" altLang="zh-CN" dirty="0"/>
              <a:t>xlim([-3,0])#</a:t>
            </a:r>
            <a:r>
              <a:rPr lang="en-US" altLang="zh-CN" dirty="0"/>
              <a:t>x</a:t>
            </a:r>
            <a:r>
              <a:rPr lang="zh-CN" altLang="en-US" dirty="0"/>
              <a:t>在</a:t>
            </a:r>
            <a:r>
              <a:rPr lang="en-US" altLang="zh-CN" dirty="0"/>
              <a:t>-3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之间</a:t>
            </a:r>
            <a:endParaRPr lang="pt-BR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B1AE8C-E67C-4E63-8E40-99071371436E}"/>
              </a:ext>
            </a:extLst>
          </p:cNvPr>
          <p:cNvSpPr txBox="1"/>
          <p:nvPr/>
        </p:nvSpPr>
        <p:spPr>
          <a:xfrm>
            <a:off x="1115616" y="108293"/>
            <a:ext cx="756083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§3.2.5 axis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设置坐标轴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设置坐标轴范围</a:t>
            </a:r>
            <a:r>
              <a:rPr lang="en-US" altLang="zh-CN" sz="2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axis</a:t>
            </a:r>
            <a:r>
              <a:rPr lang="zh-CN" altLang="en-US" sz="2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endParaRPr lang="en-US" altLang="zh-CN" sz="2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波形 9">
            <a:extLst>
              <a:ext uri="{FF2B5EF4-FFF2-40B4-BE49-F238E27FC236}">
                <a16:creationId xmlns:a16="http://schemas.microsoft.com/office/drawing/2014/main" id="{E29500AA-D70D-4B20-82F3-31271AA498AE}"/>
              </a:ext>
            </a:extLst>
          </p:cNvPr>
          <p:cNvSpPr/>
          <p:nvPr/>
        </p:nvSpPr>
        <p:spPr>
          <a:xfrm>
            <a:off x="311174" y="779886"/>
            <a:ext cx="506525" cy="31938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例10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4C846B-0402-46C9-B47F-F44F5E0C72FB}"/>
              </a:ext>
            </a:extLst>
          </p:cNvPr>
          <p:cNvSpPr txBox="1"/>
          <p:nvPr/>
        </p:nvSpPr>
        <p:spPr>
          <a:xfrm>
            <a:off x="783085" y="670129"/>
            <a:ext cx="4364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axis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命令改变爱心圆的坐标轴范围</a:t>
            </a:r>
          </a:p>
        </p:txBody>
      </p:sp>
    </p:spTree>
    <p:extLst>
      <p:ext uri="{BB962C8B-B14F-4D97-AF65-F5344CB8AC3E}">
        <p14:creationId xmlns:p14="http://schemas.microsoft.com/office/powerpoint/2010/main" val="1279416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05AEA659-10FA-F96F-9AD0-928572764967}"/>
              </a:ext>
            </a:extLst>
          </p:cNvPr>
          <p:cNvSpPr txBox="1"/>
          <p:nvPr/>
        </p:nvSpPr>
        <p:spPr>
          <a:xfrm>
            <a:off x="336615" y="986359"/>
            <a:ext cx="6844503" cy="161916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(x)=(x^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 x^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31.4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x);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(f,[-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hold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"on"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叠加图</a:t>
            </a: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7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angle=</a:t>
            </a:r>
            <a:r>
              <a:rPr lang="en-US" altLang="zh-C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LinRange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角度线性等分向量</a:t>
            </a: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700"/>
              </a:lnSpc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xb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.(angle);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yb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.(angle).+ 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xb,yb,marker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画圆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8425C6-AFBE-10ED-09F1-0F1EBC6D3D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60" t="17685" r="31494" b="8935"/>
          <a:stretch/>
        </p:blipFill>
        <p:spPr>
          <a:xfrm>
            <a:off x="6785990" y="2618051"/>
            <a:ext cx="2088234" cy="1523371"/>
          </a:xfrm>
          <a:prstGeom prst="rect">
            <a:avLst/>
          </a:prstGeom>
        </p:spPr>
      </p:pic>
      <p:sp>
        <p:nvSpPr>
          <p:cNvPr id="5" name="标题 2">
            <a:extLst>
              <a:ext uri="{FF2B5EF4-FFF2-40B4-BE49-F238E27FC236}">
                <a16:creationId xmlns:a16="http://schemas.microsoft.com/office/drawing/2014/main" id="{1FDD9CEF-15CB-F0C1-1BC7-60C21C54AE49}"/>
              </a:ext>
            </a:extLst>
          </p:cNvPr>
          <p:cNvSpPr txBox="1">
            <a:spLocks/>
          </p:cNvSpPr>
          <p:nvPr/>
        </p:nvSpPr>
        <p:spPr bwMode="auto">
          <a:xfrm>
            <a:off x="6638075" y="4262404"/>
            <a:ext cx="2505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dirty="0"/>
              <a:t>axis("off")#</a:t>
            </a:r>
            <a:r>
              <a:rPr lang="zh-CN" altLang="en-US" dirty="0"/>
              <a:t>关闭坐标轴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AA3FA2-9C10-713A-4DCE-9D086B6ED9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85" t="15045" r="32746" b="5900"/>
          <a:stretch/>
        </p:blipFill>
        <p:spPr>
          <a:xfrm>
            <a:off x="441646" y="2648052"/>
            <a:ext cx="2158971" cy="15116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510DA57-18A3-6DC1-0A01-B5FC5D1ABF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201" t="15447" r="36218" b="4004"/>
          <a:stretch/>
        </p:blipFill>
        <p:spPr>
          <a:xfrm>
            <a:off x="3826753" y="2544862"/>
            <a:ext cx="2026013" cy="1661685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6CBE2B6-4D7C-8E48-8867-13CB26D15874}"/>
              </a:ext>
            </a:extLst>
          </p:cNvPr>
          <p:cNvSpPr txBox="1">
            <a:spLocks/>
          </p:cNvSpPr>
          <p:nvPr/>
        </p:nvSpPr>
        <p:spPr>
          <a:xfrm>
            <a:off x="3794341" y="4299131"/>
            <a:ext cx="23033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dirty="0"/>
              <a:t>axis(“tight") #</a:t>
            </a:r>
            <a:r>
              <a:rPr lang="zh-CN" altLang="en-US" dirty="0"/>
              <a:t>紧贴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342074A-3771-337D-F51D-8798101D2D24}"/>
              </a:ext>
            </a:extLst>
          </p:cNvPr>
          <p:cNvSpPr txBox="1">
            <a:spLocks/>
          </p:cNvSpPr>
          <p:nvPr/>
        </p:nvSpPr>
        <p:spPr>
          <a:xfrm>
            <a:off x="441646" y="4311626"/>
            <a:ext cx="24008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dirty="0"/>
              <a:t>axis("equal")#</a:t>
            </a:r>
            <a:r>
              <a:rPr lang="zh-CN" altLang="en-US" dirty="0"/>
              <a:t>等刻度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F7D908B-A46F-10B1-5DD3-91006693F01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180" t="14577" r="30187" b="5200"/>
          <a:stretch/>
        </p:blipFill>
        <p:spPr>
          <a:xfrm>
            <a:off x="6768753" y="800275"/>
            <a:ext cx="2267744" cy="1633845"/>
          </a:xfrm>
          <a:prstGeom prst="rect">
            <a:avLst/>
          </a:prstGeo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2E7D75D0-1628-095D-5B2B-BC5AF21E4D57}"/>
              </a:ext>
            </a:extLst>
          </p:cNvPr>
          <p:cNvSpPr txBox="1">
            <a:spLocks/>
          </p:cNvSpPr>
          <p:nvPr/>
        </p:nvSpPr>
        <p:spPr>
          <a:xfrm>
            <a:off x="7477999" y="1502192"/>
            <a:ext cx="704217" cy="383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defTabSz="0" eaLnBrk="0" hangingPunct="0">
              <a:lnSpc>
                <a:spcPct val="85000"/>
              </a:lnSpc>
              <a:spcBef>
                <a:spcPct val="20000"/>
              </a:spcBef>
              <a:defRPr sz="1600" b="0">
                <a:solidFill>
                  <a:srgbClr val="FFFF00"/>
                </a:solidFill>
                <a:highlight>
                  <a:srgbClr val="003B76"/>
                </a:highlight>
                <a:latin typeface="Consolas" panose="020B0609020204030204" pitchFamily="49" charset="0"/>
                <a:ea typeface="+mn-ea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>
                <a:highlight>
                  <a:srgbClr val="FF0000"/>
                </a:highlight>
              </a:rPr>
              <a:t>#</a:t>
            </a:r>
            <a:r>
              <a:rPr lang="zh-CN" altLang="en-US" dirty="0">
                <a:highlight>
                  <a:srgbClr val="FF0000"/>
                </a:highlight>
              </a:rPr>
              <a:t>原图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0EC55EE-DEAE-F0F9-95A7-85876E07D895}"/>
              </a:ext>
            </a:extLst>
          </p:cNvPr>
          <p:cNvSpPr txBox="1"/>
          <p:nvPr/>
        </p:nvSpPr>
        <p:spPr>
          <a:xfrm>
            <a:off x="314410" y="91548"/>
            <a:ext cx="882958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§3.2.5 axis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设置坐标轴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设置坐标轴范围和纵横比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axis 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endParaRPr lang="en-US" altLang="zh-CN" sz="24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波形 13">
            <a:extLst>
              <a:ext uri="{FF2B5EF4-FFF2-40B4-BE49-F238E27FC236}">
                <a16:creationId xmlns:a16="http://schemas.microsoft.com/office/drawing/2014/main" id="{D75A6F5C-4657-1F7A-3F44-810EBBBF1904}"/>
              </a:ext>
            </a:extLst>
          </p:cNvPr>
          <p:cNvSpPr/>
          <p:nvPr/>
        </p:nvSpPr>
        <p:spPr>
          <a:xfrm>
            <a:off x="0" y="630934"/>
            <a:ext cx="586943" cy="35542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例11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5CB2F6-5AAA-4788-AAD1-CD573C722A3A}"/>
              </a:ext>
            </a:extLst>
          </p:cNvPr>
          <p:cNvSpPr txBox="1"/>
          <p:nvPr/>
        </p:nvSpPr>
        <p:spPr>
          <a:xfrm>
            <a:off x="539552" y="646156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改变原图的坐标轴形式，包括等刻度、关闭坐标轴、紧贴形式</a:t>
            </a:r>
          </a:p>
        </p:txBody>
      </p:sp>
    </p:spTree>
    <p:extLst>
      <p:ext uri="{BB962C8B-B14F-4D97-AF65-F5344CB8AC3E}">
        <p14:creationId xmlns:p14="http://schemas.microsoft.com/office/powerpoint/2010/main" val="241335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159F056-86CF-E77E-1D33-62206C6AEAB2}"/>
              </a:ext>
            </a:extLst>
          </p:cNvPr>
          <p:cNvSpPr txBox="1"/>
          <p:nvPr/>
        </p:nvSpPr>
        <p:spPr>
          <a:xfrm>
            <a:off x="432042" y="124245"/>
            <a:ext cx="8807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§3.2.5 axis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设置坐标轴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设置坐标轴范围和纵横比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axis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830E58EE-4803-D160-226B-3AA2F4317335}"/>
              </a:ext>
            </a:extLst>
          </p:cNvPr>
          <p:cNvSpPr txBox="1">
            <a:spLocks/>
          </p:cNvSpPr>
          <p:nvPr/>
        </p:nvSpPr>
        <p:spPr>
          <a:xfrm>
            <a:off x="580108" y="1068197"/>
            <a:ext cx="8317234" cy="3804589"/>
          </a:xfrm>
          <a:prstGeom prst="rect">
            <a:avLst/>
          </a:prstGeom>
          <a:noFill/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lnSpc>
                <a:spcPts val="2100"/>
              </a:lnSpc>
              <a:buNone/>
            </a:pP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plt_close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"all"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  </a:t>
            </a:r>
            <a:r>
              <a:rPr lang="en-US" altLang="zh-CN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关闭全部图窗</a:t>
            </a:r>
            <a:endParaRPr lang="zh-CN" altLang="en-US" sz="18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画心</a:t>
            </a:r>
            <a:endParaRPr lang="zh-CN" altLang="en-US" sz="18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x=-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0.02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CN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#x</a:t>
            </a:r>
            <a:r>
              <a:rPr lang="zh-CN" altLang="en-US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轴线性等分向量</a:t>
            </a:r>
            <a:endParaRPr lang="zh-CN" altLang="en-US" sz="18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((x^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-x^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)*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31.4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x))#y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变量</a:t>
            </a:r>
            <a:endParaRPr lang="en-US" altLang="zh-C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plot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(x, y, marker=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"*"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altLang="zh-CN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画心</a:t>
            </a:r>
            <a:endParaRPr lang="zh-CN" altLang="en-US" sz="18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hold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"on"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叠加图</a:t>
            </a:r>
            <a:endParaRPr lang="zh-CN" altLang="en-US" sz="18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axis("manual")  </a:t>
            </a:r>
            <a:r>
              <a:rPr lang="en-US" altLang="zh-CN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手控保持当前的坐标轴范围</a:t>
            </a:r>
            <a:endParaRPr lang="zh-CN" altLang="en-US" sz="18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##</a:t>
            </a:r>
            <a:r>
              <a:rPr lang="zh-CN" altLang="en-US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画圆</a:t>
            </a:r>
            <a:endParaRPr lang="zh-CN" altLang="en-US" sz="18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angle=</a:t>
            </a:r>
            <a:r>
              <a:rPr lang="en-US" altLang="zh-CN" sz="1800" b="0" kern="0" dirty="0" err="1">
                <a:solidFill>
                  <a:srgbClr val="795E26"/>
                </a:solidFill>
                <a:latin typeface="Consolas" panose="020B0609020204030204" pitchFamily="49" charset="0"/>
              </a:rPr>
              <a:t>LinRange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pi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9pi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);  </a:t>
            </a:r>
            <a:r>
              <a:rPr lang="en-US" altLang="zh-CN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角度线性等分向量</a:t>
            </a:r>
            <a:endParaRPr lang="zh-CN" altLang="en-US" sz="18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xb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2.5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cos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.(angle);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yb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2.5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sin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.(angle) .+ 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0.7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plot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xb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yb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marker=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"o"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  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hold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"off"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关闭叠加</a:t>
            </a:r>
            <a:endParaRPr lang="zh-CN" altLang="en-US" sz="1600" kern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9809B5-FFE3-AC4B-94EA-A9C7270F4F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82" t="13600" r="31100" b="4005"/>
          <a:stretch/>
        </p:blipFill>
        <p:spPr>
          <a:xfrm>
            <a:off x="7008587" y="776682"/>
            <a:ext cx="2022045" cy="1516000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89E411B-878B-A79B-D60E-758B0B37529E}"/>
              </a:ext>
            </a:extLst>
          </p:cNvPr>
          <p:cNvSpPr txBox="1">
            <a:spLocks/>
          </p:cNvSpPr>
          <p:nvPr/>
        </p:nvSpPr>
        <p:spPr>
          <a:xfrm>
            <a:off x="5652120" y="2462043"/>
            <a:ext cx="3587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sz="1400" dirty="0"/>
              <a:t>axis(“manual")#</a:t>
            </a:r>
            <a:r>
              <a:rPr lang="zh-CN" altLang="en-US" sz="1400" dirty="0"/>
              <a:t>保持当前的坐标轴范围</a:t>
            </a:r>
            <a:endParaRPr lang="en-US" altLang="zh-CN" sz="1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5E7E53B-B6B9-B5C4-EF0B-F823FB9F9A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90" t="17101" r="31494" b="4005"/>
          <a:stretch/>
        </p:blipFill>
        <p:spPr>
          <a:xfrm>
            <a:off x="7008587" y="2837970"/>
            <a:ext cx="2032244" cy="1454254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7987431-4C6C-10E8-7FBD-25B9F2AC6B13}"/>
              </a:ext>
            </a:extLst>
          </p:cNvPr>
          <p:cNvSpPr txBox="1">
            <a:spLocks/>
          </p:cNvSpPr>
          <p:nvPr/>
        </p:nvSpPr>
        <p:spPr>
          <a:xfrm>
            <a:off x="5700140" y="4342548"/>
            <a:ext cx="367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dirty="0"/>
              <a:t>axis(“auto")#</a:t>
            </a:r>
            <a:r>
              <a:rPr lang="zh-CN" altLang="en-US" dirty="0"/>
              <a:t>坐标区自动选择合适范围</a:t>
            </a:r>
            <a:endParaRPr lang="en-US" altLang="zh-CN" dirty="0"/>
          </a:p>
        </p:txBody>
      </p:sp>
      <p:sp>
        <p:nvSpPr>
          <p:cNvPr id="10" name="波形 9">
            <a:extLst>
              <a:ext uri="{FF2B5EF4-FFF2-40B4-BE49-F238E27FC236}">
                <a16:creationId xmlns:a16="http://schemas.microsoft.com/office/drawing/2014/main" id="{A2E7A965-AA7E-9B40-52F8-B182E5BC0E4F}"/>
              </a:ext>
            </a:extLst>
          </p:cNvPr>
          <p:cNvSpPr/>
          <p:nvPr/>
        </p:nvSpPr>
        <p:spPr>
          <a:xfrm>
            <a:off x="72184" y="723582"/>
            <a:ext cx="499647" cy="35697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例11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5E7E2E-2366-44E6-BF29-E532667DA9D9}"/>
              </a:ext>
            </a:extLst>
          </p:cNvPr>
          <p:cNvSpPr txBox="1"/>
          <p:nvPr/>
        </p:nvSpPr>
        <p:spPr>
          <a:xfrm>
            <a:off x="602334" y="711224"/>
            <a:ext cx="612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改变原图的坐标轴形式，包括保持当前坐标和恢复原图</a:t>
            </a:r>
          </a:p>
        </p:txBody>
      </p:sp>
    </p:spTree>
    <p:extLst>
      <p:ext uri="{BB962C8B-B14F-4D97-AF65-F5344CB8AC3E}">
        <p14:creationId xmlns:p14="http://schemas.microsoft.com/office/powerpoint/2010/main" val="1983489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B8B4058-0C68-8FD4-6969-B4584AB21C68}"/>
              </a:ext>
            </a:extLst>
          </p:cNvPr>
          <p:cNvSpPr txBox="1"/>
          <p:nvPr/>
        </p:nvSpPr>
        <p:spPr>
          <a:xfrm>
            <a:off x="971600" y="123478"/>
            <a:ext cx="75968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§3.2.6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绘图其它基础知识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坐标的网格线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grid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4BD1DEC-56E8-A309-4D02-5490C8B3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23" y="1893779"/>
            <a:ext cx="5181035" cy="21640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eaLnBrk="1" hangingPunct="1">
              <a:lnSpc>
                <a:spcPts val="4100"/>
              </a:lnSpc>
              <a:buNone/>
            </a:pPr>
            <a:r>
              <a:rPr lang="en-US" altLang="zh-CN" b="1" kern="0" dirty="0">
                <a:solidFill>
                  <a:srgbClr val="21A4FF"/>
                </a:solidFill>
                <a:cs typeface="Times New Roman" panose="02020603050405020304" pitchFamily="18" charset="0"/>
              </a:rPr>
              <a:t>grid(</a:t>
            </a:r>
            <a:r>
              <a:rPr lang="en-US" altLang="zh-CN" dirty="0"/>
              <a:t>"</a:t>
            </a:r>
            <a:r>
              <a:rPr lang="en-US" altLang="zh-CN" b="1" kern="0" dirty="0">
                <a:solidFill>
                  <a:srgbClr val="21A4FF"/>
                </a:solidFill>
                <a:cs typeface="Times New Roman" panose="02020603050405020304" pitchFamily="18" charset="0"/>
              </a:rPr>
              <a:t>on</a:t>
            </a:r>
            <a:r>
              <a:rPr lang="en-US" altLang="zh-CN" dirty="0"/>
              <a:t>"</a:t>
            </a:r>
            <a:r>
              <a:rPr lang="en-US" altLang="zh-CN" b="1" kern="0" dirty="0">
                <a:solidFill>
                  <a:srgbClr val="21A4FF"/>
                </a:solidFill>
                <a:cs typeface="Times New Roman" panose="02020603050405020304" pitchFamily="18" charset="0"/>
              </a:rPr>
              <a:t>)   </a:t>
            </a:r>
            <a:r>
              <a:rPr lang="zh-CN" altLang="en-US" kern="0" dirty="0"/>
              <a:t>打开网格线</a:t>
            </a:r>
            <a:endParaRPr lang="en-US" altLang="zh-CN" b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eaLnBrk="1" hangingPunct="1">
              <a:lnSpc>
                <a:spcPts val="4100"/>
              </a:lnSpc>
              <a:buNone/>
            </a:pPr>
            <a:r>
              <a:rPr lang="en-US" altLang="zh-CN" b="1" kern="0" dirty="0">
                <a:solidFill>
                  <a:srgbClr val="21A4FF"/>
                </a:solidFill>
                <a:cs typeface="Times New Roman" panose="02020603050405020304" pitchFamily="18" charset="0"/>
              </a:rPr>
              <a:t>grid</a:t>
            </a:r>
            <a:r>
              <a:rPr lang="zh-CN" altLang="en-US" b="1" kern="0" dirty="0">
                <a:solidFill>
                  <a:srgbClr val="21A4FF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dirty="0"/>
              <a:t>"off"</a:t>
            </a:r>
            <a:r>
              <a:rPr lang="en-US" altLang="zh-CN" b="1" kern="0" dirty="0">
                <a:solidFill>
                  <a:srgbClr val="21A4FF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kern="0" dirty="0">
                <a:solidFill>
                  <a:srgbClr val="21A4FF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kern="0" dirty="0"/>
              <a:t>关闭网格线 </a:t>
            </a:r>
            <a:endParaRPr lang="en-US" altLang="zh-CN" b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eaLnBrk="1" hangingPunct="1">
              <a:lnSpc>
                <a:spcPts val="4100"/>
              </a:lnSpc>
              <a:buFont typeface="Wingdings" panose="05000000000000000000" pitchFamily="2" charset="2"/>
              <a:buNone/>
            </a:pPr>
            <a:r>
              <a:rPr lang="en-US" altLang="zh-CN" b="1" kern="0" dirty="0">
                <a:solidFill>
                  <a:srgbClr val="21A4FF"/>
                </a:solidFill>
                <a:cs typeface="Times New Roman" panose="02020603050405020304" pitchFamily="18" charset="0"/>
              </a:rPr>
              <a:t>grid( )</a:t>
            </a:r>
            <a:r>
              <a:rPr lang="en-US" altLang="zh-CN" b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    </a:t>
            </a:r>
            <a:r>
              <a:rPr lang="zh-CN" altLang="en-US" kern="0" dirty="0"/>
              <a:t>网格线切换</a:t>
            </a:r>
            <a:endParaRPr lang="en-US" altLang="zh-CN" b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eaLnBrk="1" hangingPunct="1">
              <a:lnSpc>
                <a:spcPts val="4100"/>
              </a:lnSpc>
              <a:buNone/>
            </a:pPr>
            <a:r>
              <a:rPr lang="en-US" altLang="zh-CN" b="1" kern="0" dirty="0">
                <a:solidFill>
                  <a:srgbClr val="21A4FF"/>
                </a:solidFill>
                <a:cs typeface="Times New Roman" panose="02020603050405020304" pitchFamily="18" charset="0"/>
              </a:rPr>
              <a:t>grid("minor") </a:t>
            </a:r>
            <a:r>
              <a:rPr lang="zh-CN" altLang="en-US" kern="0" dirty="0"/>
              <a:t>更细化网格线</a:t>
            </a:r>
            <a:endParaRPr lang="zh-CN" altLang="en-US" kern="0" dirty="0">
              <a:solidFill>
                <a:srgbClr val="99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BA154E-A364-E173-CB18-C0190B8BE2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70" t="31601" r="45856" b="22001"/>
          <a:stretch/>
        </p:blipFill>
        <p:spPr>
          <a:xfrm>
            <a:off x="5796921" y="1782557"/>
            <a:ext cx="3024336" cy="238649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F0BD818-81D9-3347-CDE0-4740EAC88FC5}"/>
              </a:ext>
            </a:extLst>
          </p:cNvPr>
          <p:cNvSpPr txBox="1"/>
          <p:nvPr/>
        </p:nvSpPr>
        <p:spPr>
          <a:xfrm>
            <a:off x="344623" y="1050676"/>
            <a:ext cx="5750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grid</a:t>
            </a:r>
            <a:r>
              <a:rPr lang="zh-CN" altLang="en-US" sz="2800" b="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显示或隐藏坐标区网格线</a:t>
            </a:r>
            <a:endParaRPr lang="zh-CN" altLang="en-US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466962F0-0AC5-421D-BCBA-EB2A7DBF8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3291" y="1026472"/>
            <a:ext cx="3816424" cy="578894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endParaRPr lang="en-US" altLang="zh-CN" sz="1600" b="1" i="0" dirty="0">
              <a:solidFill>
                <a:srgbClr val="FFFF00"/>
              </a:solidFill>
              <a:effectLst/>
              <a:latin typeface="Menlo"/>
            </a:endParaRPr>
          </a:p>
          <a:p>
            <a:endParaRPr lang="en-US" altLang="zh-CN" sz="1600" b="1" dirty="0">
              <a:solidFill>
                <a:srgbClr val="FFFF00"/>
              </a:solidFill>
              <a:latin typeface="Menlo"/>
            </a:endParaRPr>
          </a:p>
          <a:p>
            <a:r>
              <a:rPr lang="en-US" altLang="zh-CN" sz="1600" b="1" i="0" dirty="0">
                <a:solidFill>
                  <a:srgbClr val="FFFF00"/>
                </a:solidFill>
                <a:effectLst/>
                <a:latin typeface="Menlo"/>
              </a:rPr>
              <a:t>MATLAB: grid </a:t>
            </a:r>
            <a:r>
              <a:rPr lang="en-US" altLang="zh-CN" sz="1600" b="1" i="0" dirty="0" err="1">
                <a:solidFill>
                  <a:srgbClr val="FFFF00"/>
                </a:solidFill>
                <a:effectLst/>
                <a:latin typeface="Menlo"/>
              </a:rPr>
              <a:t>on,grid</a:t>
            </a:r>
            <a:r>
              <a:rPr lang="en-US" altLang="zh-CN" sz="1600" b="1" i="0" dirty="0">
                <a:solidFill>
                  <a:srgbClr val="FFFF00"/>
                </a:solidFill>
                <a:effectLst/>
                <a:latin typeface="Menlo"/>
              </a:rPr>
              <a:t> off</a:t>
            </a:r>
            <a:endParaRPr lang="zh-CN" altLang="en-US" sz="1600" dirty="0">
              <a:solidFill>
                <a:srgbClr val="FFFF00"/>
              </a:solidFill>
            </a:endParaRPr>
          </a:p>
          <a:p>
            <a:endParaRPr lang="en-US" altLang="zh-CN" sz="1600" b="1" dirty="0">
              <a:solidFill>
                <a:srgbClr val="FFFF00"/>
              </a:solidFill>
            </a:endParaRPr>
          </a:p>
          <a:p>
            <a:endParaRPr lang="zh-CN" altLang="en-US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68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2025/3/18</a:t>
            </a:fld>
            <a:endParaRPr lang="zh-CN" altLang="en-US" sz="1800"/>
          </a:p>
        </p:txBody>
      </p:sp>
      <p:sp>
        <p:nvSpPr>
          <p:cNvPr id="11" name="波形 10"/>
          <p:cNvSpPr/>
          <p:nvPr/>
        </p:nvSpPr>
        <p:spPr>
          <a:xfrm>
            <a:off x="10720" y="612551"/>
            <a:ext cx="580108" cy="43931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例12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902920-A18C-57C2-8714-A5A983FC09B7}"/>
              </a:ext>
            </a:extLst>
          </p:cNvPr>
          <p:cNvSpPr txBox="1"/>
          <p:nvPr/>
        </p:nvSpPr>
        <p:spPr>
          <a:xfrm>
            <a:off x="423413" y="1114629"/>
            <a:ext cx="70399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angle=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xb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.(angle)*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yb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.(angle)*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xb,yb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"minor"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细化网格线    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xv=-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等分刻度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位置对应数值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xticks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(xv);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等分刻度位置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=([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l-G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π/2"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l-G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"-π/4"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l-G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l-G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"π/4"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l-G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"π/2"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l-G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"3*π/4"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l-G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"π"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l-G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"5*π/4"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l-G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"π/2"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l-G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"7*π/4"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l-G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"2*π"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l-GR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等分刻度位置的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标识符元胞数组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xticklabels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等分刻度位置的标识符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C6AF764-0D50-8318-225C-6B515EA5EB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463" t="19201" r="30313" b="24801"/>
          <a:stretch/>
        </p:blipFill>
        <p:spPr>
          <a:xfrm>
            <a:off x="5565221" y="1151376"/>
            <a:ext cx="3312368" cy="288032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422B8BE-DA33-47CE-B00F-D306D9BACA4A}"/>
              </a:ext>
            </a:extLst>
          </p:cNvPr>
          <p:cNvSpPr txBox="1"/>
          <p:nvPr/>
        </p:nvSpPr>
        <p:spPr>
          <a:xfrm>
            <a:off x="762523" y="65119"/>
            <a:ext cx="84899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§3.2.6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绘图其它基础知识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网格线和刻度重新设置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A52962-EF52-45D9-A4E0-F9CC9B17801E}"/>
              </a:ext>
            </a:extLst>
          </p:cNvPr>
          <p:cNvSpPr txBox="1"/>
          <p:nvPr/>
        </p:nvSpPr>
        <p:spPr>
          <a:xfrm>
            <a:off x="580108" y="700160"/>
            <a:ext cx="5915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重新设置圆的刻度和在圆上划网格线</a:t>
            </a:r>
          </a:p>
        </p:txBody>
      </p:sp>
    </p:spTree>
    <p:extLst>
      <p:ext uri="{BB962C8B-B14F-4D97-AF65-F5344CB8AC3E}">
        <p14:creationId xmlns:p14="http://schemas.microsoft.com/office/powerpoint/2010/main" val="3083214301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16981</TotalTime>
  <Pages>154</Pages>
  <Words>4948</Words>
  <Characters>0</Characters>
  <Application>Microsoft Office PowerPoint</Application>
  <DocSecurity>0</DocSecurity>
  <PresentationFormat>全屏显示(16:9)</PresentationFormat>
  <Lines>0</Lines>
  <Paragraphs>572</Paragraphs>
  <Slides>27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8" baseType="lpstr">
      <vt:lpstr>-apple-system</vt:lpstr>
      <vt:lpstr>Arial Unicode MS</vt:lpstr>
      <vt:lpstr>Menlo</vt:lpstr>
      <vt:lpstr>PingFang SC</vt:lpstr>
      <vt:lpstr>var(--ds-font-family-code)</vt:lpstr>
      <vt:lpstr>华文楷体</vt:lpstr>
      <vt:lpstr>隶书</vt:lpstr>
      <vt:lpstr>宋体</vt:lpstr>
      <vt:lpstr>微软雅黑</vt:lpstr>
      <vt:lpstr>微软雅黑 Light</vt:lpstr>
      <vt:lpstr>Arial</vt:lpstr>
      <vt:lpstr>Calibri</vt:lpstr>
      <vt:lpstr>Cambria Math</vt:lpstr>
      <vt:lpstr>Consolas</vt:lpstr>
      <vt:lpstr>Franklin Gothic Book</vt:lpstr>
      <vt:lpstr>Helvetica</vt:lpstr>
      <vt:lpstr>Times New Roman</vt:lpstr>
      <vt:lpstr>Wingdings</vt:lpstr>
      <vt:lpstr>主题1</vt:lpstr>
      <vt:lpstr>包装程序外壳对象</vt:lpstr>
      <vt:lpstr>Worksheet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§3.2.2 图形标签和注释——图形注释 </vt:lpstr>
      <vt:lpstr>§3.2.2图形标签和注释——ginput标识坐标区坐标</vt:lpstr>
      <vt:lpstr>§3.2.2 图形标签和注释——标识坐标区坐标ginput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1081</cp:revision>
  <dcterms:modified xsi:type="dcterms:W3CDTF">2025-03-18T08:02:38Z</dcterms:modified>
</cp:coreProperties>
</file>