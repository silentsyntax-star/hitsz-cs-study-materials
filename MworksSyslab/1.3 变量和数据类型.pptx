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5" r:id="rId1"/>
  </p:sldMasterIdLst>
  <p:notesMasterIdLst>
    <p:notesMasterId r:id="rId29"/>
  </p:notesMasterIdLst>
  <p:sldIdLst>
    <p:sldId id="1338" r:id="rId2"/>
    <p:sldId id="1264" r:id="rId3"/>
    <p:sldId id="1265" r:id="rId4"/>
    <p:sldId id="1324" r:id="rId5"/>
    <p:sldId id="1259" r:id="rId6"/>
    <p:sldId id="1209" r:id="rId7"/>
    <p:sldId id="1203" r:id="rId8"/>
    <p:sldId id="1256" r:id="rId9"/>
    <p:sldId id="1211" r:id="rId10"/>
    <p:sldId id="1335" r:id="rId11"/>
    <p:sldId id="1336" r:id="rId12"/>
    <p:sldId id="1213" r:id="rId13"/>
    <p:sldId id="1227" r:id="rId14"/>
    <p:sldId id="1229" r:id="rId15"/>
    <p:sldId id="1328" r:id="rId16"/>
    <p:sldId id="1235" r:id="rId17"/>
    <p:sldId id="1337" r:id="rId18"/>
    <p:sldId id="1329" r:id="rId19"/>
    <p:sldId id="1341" r:id="rId20"/>
    <p:sldId id="1339" r:id="rId21"/>
    <p:sldId id="1250" r:id="rId22"/>
    <p:sldId id="1251" r:id="rId23"/>
    <p:sldId id="1253" r:id="rId24"/>
    <p:sldId id="1340" r:id="rId25"/>
    <p:sldId id="1312" r:id="rId26"/>
    <p:sldId id="1313" r:id="rId27"/>
    <p:sldId id="1260" r:id="rId28"/>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3" orient="horz" pos="4201" userDrawn="1">
          <p15:clr>
            <a:srgbClr val="A4A3A4"/>
          </p15:clr>
        </p15:guide>
        <p15:guide id="4" pos="2879">
          <p15:clr>
            <a:srgbClr val="A4A3A4"/>
          </p15:clr>
        </p15:guide>
        <p15:guide id="5" orient="horz" pos="315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guide id="3" orient="horz" pos="4200">
          <p15:clr>
            <a:srgbClr val="A4A3A4"/>
          </p15:clr>
        </p15:guide>
        <p15:guide id="4" pos="28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3B76"/>
    <a:srgbClr val="3366FF"/>
    <a:srgbClr val="66CCFF"/>
    <a:srgbClr val="F0DA04"/>
    <a:srgbClr val="33CCFF"/>
    <a:srgbClr val="736303"/>
    <a:srgbClr val="6D629C"/>
    <a:srgbClr val="7F6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7" autoAdjust="0"/>
    <p:restoredTop sz="83356" autoAdjust="0"/>
  </p:normalViewPr>
  <p:slideViewPr>
    <p:cSldViewPr snapToObjects="1">
      <p:cViewPr varScale="1">
        <p:scale>
          <a:sx n="72" d="100"/>
          <a:sy n="72" d="100"/>
        </p:scale>
        <p:origin x="1112" y="72"/>
      </p:cViewPr>
      <p:guideLst>
        <p:guide orient="horz" pos="4201"/>
        <p:guide pos="2879"/>
        <p:guide orient="horz" pos="3151"/>
      </p:guideLst>
    </p:cSldViewPr>
  </p:slideViewPr>
  <p:notesTextViewPr>
    <p:cViewPr>
      <p:scale>
        <a:sx n="300" d="100"/>
        <a:sy n="300" d="100"/>
      </p:scale>
      <p:origin x="0" y="0"/>
    </p:cViewPr>
  </p:notesTextViewPr>
  <p:sorterViewPr>
    <p:cViewPr>
      <p:scale>
        <a:sx n="100" d="100"/>
        <a:sy n="100" d="100"/>
      </p:scale>
      <p:origin x="0" y="-4419"/>
    </p:cViewPr>
  </p:sorterViewPr>
  <p:notesViewPr>
    <p:cSldViewPr snapToObjects="1">
      <p:cViewPr varScale="1">
        <p:scale>
          <a:sx n="47" d="100"/>
          <a:sy n="47" d="100"/>
        </p:scale>
        <p:origin x="2694" y="60"/>
      </p:cViewPr>
      <p:guideLst>
        <p:guide orient="horz" pos="2880"/>
        <p:guide pos="2160"/>
        <p:guide orient="horz" pos="4200"/>
        <p:guide pos="287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F4DA7F0C-A8F0-4487-826C-000FF0B66B21}" type="datetimeFigureOut">
              <a:rPr lang="zh-CN" altLang="en-US"/>
              <a:pPr>
                <a:defRPr/>
              </a:pPr>
              <a:t>2025/3/6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6C58412-F58B-4DA5-9529-CC0CDE193992}" type="slidenum">
              <a:rPr lang="zh-CN" altLang="en-US"/>
              <a:pPr>
                <a:defRPr/>
              </a:pPr>
              <a:t>‹#›</a:t>
            </a:fld>
            <a:endParaRPr lang="zh-CN" altLang="en-US"/>
          </a:p>
        </p:txBody>
      </p:sp>
    </p:spTree>
    <p:extLst>
      <p:ext uri="{BB962C8B-B14F-4D97-AF65-F5344CB8AC3E}">
        <p14:creationId xmlns:p14="http://schemas.microsoft.com/office/powerpoint/2010/main" val="2565165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heatsheet.juliadocs.org/zh-cn/"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docs.juliacn.com/latest/manual/workflow-tip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zhuanlan.zhihu.com/p/267297141"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C3E50"/>
                </a:solidFill>
                <a:effectLst/>
                <a:latin typeface="-apple-system"/>
              </a:rPr>
              <a:t>Julia </a:t>
            </a:r>
            <a:r>
              <a:rPr lang="zh-CN" altLang="en-US" b="0" i="0" dirty="0">
                <a:solidFill>
                  <a:srgbClr val="2C3E50"/>
                </a:solidFill>
                <a:effectLst/>
                <a:latin typeface="-apple-system"/>
              </a:rPr>
              <a:t>有一个基于</a:t>
            </a:r>
            <a:r>
              <a:rPr lang="en-US" altLang="zh-CN" b="0" i="0" u="none" strike="noStrike" dirty="0">
                <a:solidFill>
                  <a:srgbClr val="407DBC"/>
                </a:solidFill>
                <a:effectLst/>
                <a:latin typeface="-apple-system"/>
                <a:hlinkClick r:id="rId3"/>
              </a:rPr>
              <a:t>LLVM </a:t>
            </a:r>
            <a:r>
              <a:rPr lang="zh-CN" altLang="en-US" b="0" i="0" u="none" strike="noStrike" dirty="0">
                <a:solidFill>
                  <a:srgbClr val="407DBC"/>
                </a:solidFill>
                <a:effectLst/>
                <a:latin typeface="-apple-system"/>
                <a:hlinkClick r:id="rId3"/>
              </a:rPr>
              <a:t>（英语） （打开新窗口）</a:t>
            </a:r>
            <a:r>
              <a:rPr lang="zh-CN" altLang="en-US" b="0" i="0" dirty="0">
                <a:solidFill>
                  <a:srgbClr val="2C3E50"/>
                </a:solidFill>
                <a:effectLst/>
                <a:latin typeface="-apple-system"/>
              </a:rPr>
              <a:t>的</a:t>
            </a:r>
            <a:r>
              <a:rPr lang="en-US" altLang="zh-CN" b="0" i="0" u="none" strike="noStrike" dirty="0">
                <a:solidFill>
                  <a:srgbClr val="407DBC"/>
                </a:solidFill>
                <a:effectLst/>
                <a:latin typeface="-apple-system"/>
                <a:hlinkClick r:id="rId3"/>
              </a:rPr>
              <a:t>JIT</a:t>
            </a:r>
            <a:r>
              <a:rPr lang="zh-CN" altLang="en-US" b="0" i="0" u="none" strike="noStrike" dirty="0">
                <a:solidFill>
                  <a:srgbClr val="407DBC"/>
                </a:solidFill>
                <a:effectLst/>
                <a:latin typeface="-apple-system"/>
                <a:hlinkClick r:id="rId3"/>
              </a:rPr>
              <a:t>技术 （打开新窗口）</a:t>
            </a:r>
            <a:r>
              <a:rPr lang="zh-CN" altLang="en-US" b="0" i="0" dirty="0">
                <a:solidFill>
                  <a:srgbClr val="2C3E50"/>
                </a:solidFill>
                <a:effectLst/>
                <a:latin typeface="-apple-system"/>
              </a:rPr>
              <a:t>编译器，这让使用者无需编写底层的代码也能拥有像 </a:t>
            </a:r>
            <a:r>
              <a:rPr lang="en-US" altLang="zh-CN" b="0" i="0" dirty="0">
                <a:solidFill>
                  <a:srgbClr val="2C3E50"/>
                </a:solidFill>
                <a:effectLst/>
                <a:latin typeface="-apple-system"/>
              </a:rPr>
              <a:t>C </a:t>
            </a:r>
            <a:r>
              <a:rPr lang="zh-CN" altLang="en-US" b="0" i="0" dirty="0">
                <a:solidFill>
                  <a:srgbClr val="2C3E50"/>
                </a:solidFill>
                <a:effectLst/>
                <a:latin typeface="-apple-system"/>
              </a:rPr>
              <a:t>与 </a:t>
            </a:r>
            <a:r>
              <a:rPr lang="en-US" altLang="zh-CN" b="0" i="0" dirty="0">
                <a:solidFill>
                  <a:srgbClr val="2C3E50"/>
                </a:solidFill>
                <a:effectLst/>
                <a:latin typeface="-apple-system"/>
              </a:rPr>
              <a:t>FORTRAN </a:t>
            </a:r>
            <a:r>
              <a:rPr lang="zh-CN" altLang="en-US" b="0" i="0" dirty="0">
                <a:solidFill>
                  <a:srgbClr val="2C3E50"/>
                </a:solidFill>
                <a:effectLst/>
                <a:latin typeface="-apple-system"/>
              </a:rPr>
              <a:t>那样的性能。因为代码在运行中编译，你可以在 </a:t>
            </a:r>
            <a:r>
              <a:rPr lang="en-US" altLang="zh-CN" b="0" i="0" dirty="0">
                <a:solidFill>
                  <a:srgbClr val="2C3E50"/>
                </a:solidFill>
                <a:effectLst/>
                <a:latin typeface="-apple-system"/>
              </a:rPr>
              <a:t>shell </a:t>
            </a:r>
            <a:r>
              <a:rPr lang="zh-CN" altLang="en-US" b="0" i="0" dirty="0">
                <a:solidFill>
                  <a:srgbClr val="2C3E50"/>
                </a:solidFill>
                <a:effectLst/>
                <a:latin typeface="-apple-system"/>
              </a:rPr>
              <a:t>或</a:t>
            </a:r>
            <a:r>
              <a:rPr lang="en-US" altLang="zh-CN" b="0" i="0" u="none" strike="noStrike" dirty="0">
                <a:solidFill>
                  <a:srgbClr val="407DBC"/>
                </a:solidFill>
                <a:effectLst/>
                <a:latin typeface="-apple-system"/>
                <a:hlinkClick r:id="rId3"/>
              </a:rPr>
              <a:t>REPL</a:t>
            </a:r>
            <a:r>
              <a:rPr lang="zh-CN" altLang="en-US" b="0" i="0" u="none" strike="noStrike" dirty="0">
                <a:solidFill>
                  <a:srgbClr val="407DBC"/>
                </a:solidFill>
                <a:effectLst/>
                <a:latin typeface="-apple-system"/>
                <a:hlinkClick r:id="rId3"/>
              </a:rPr>
              <a:t>（</a:t>
            </a:r>
            <a:r>
              <a:rPr lang="en-US" altLang="zh-CN" b="0" i="0" u="none" strike="noStrike" dirty="0">
                <a:solidFill>
                  <a:srgbClr val="407DBC"/>
                </a:solidFill>
                <a:effectLst/>
                <a:latin typeface="-apple-system"/>
                <a:hlinkClick r:id="rId3"/>
              </a:rPr>
              <a:t>Read-Eval-Print-Loop</a:t>
            </a:r>
            <a:r>
              <a:rPr lang="zh-CN" altLang="en-US" b="0" i="0" u="none" strike="noStrike" dirty="0">
                <a:solidFill>
                  <a:srgbClr val="407DBC"/>
                </a:solidFill>
                <a:effectLst/>
                <a:latin typeface="-apple-system"/>
                <a:hlinkClick r:id="rId3"/>
              </a:rPr>
              <a:t>，即交互式命令行） （打开新窗口）</a:t>
            </a:r>
            <a:r>
              <a:rPr lang="zh-CN" altLang="en-US" b="0" i="0" dirty="0">
                <a:solidFill>
                  <a:srgbClr val="2C3E50"/>
                </a:solidFill>
                <a:effectLst/>
                <a:latin typeface="-apple-system"/>
              </a:rPr>
              <a:t>中运行代码，这也是一种推荐的</a:t>
            </a:r>
            <a:r>
              <a:rPr lang="zh-CN" altLang="en-US" b="0" i="0" u="none" strike="noStrike" dirty="0">
                <a:solidFill>
                  <a:srgbClr val="407DBC"/>
                </a:solidFill>
                <a:effectLst/>
                <a:latin typeface="-apple-system"/>
                <a:hlinkClick r:id="rId4"/>
              </a:rPr>
              <a:t>工作流程 （打开新窗口）</a:t>
            </a:r>
            <a:r>
              <a:rPr lang="zh-CN" altLang="en-US" b="0" i="0" dirty="0">
                <a:solidFill>
                  <a:srgbClr val="2C3E50"/>
                </a:solidFill>
                <a:effectLst/>
                <a:latin typeface="-apple-system"/>
              </a:rPr>
              <a:t>。</a:t>
            </a:r>
          </a:p>
          <a:p>
            <a:pPr algn="l"/>
            <a:r>
              <a:rPr lang="en-US" altLang="zh-CN" b="0" i="0" dirty="0">
                <a:solidFill>
                  <a:srgbClr val="2C3E50"/>
                </a:solidFill>
                <a:effectLst/>
                <a:latin typeface="-apple-system"/>
              </a:rPr>
              <a:t>Julia </a:t>
            </a:r>
            <a:r>
              <a:rPr lang="zh-CN" altLang="en-US" b="0" i="0" dirty="0">
                <a:solidFill>
                  <a:srgbClr val="2C3E50"/>
                </a:solidFill>
                <a:effectLst/>
                <a:latin typeface="-apple-system"/>
              </a:rPr>
              <a:t>是动态类型的。并且提供了为并行计算和分布式运算设计的</a:t>
            </a:r>
            <a:r>
              <a:rPr lang="zh-CN" altLang="en-US" b="0" i="0" u="none" strike="noStrike" dirty="0">
                <a:solidFill>
                  <a:srgbClr val="407DBC"/>
                </a:solidFill>
                <a:effectLst/>
                <a:latin typeface="-apple-system"/>
                <a:hlinkClick r:id="rId3"/>
              </a:rPr>
              <a:t>多重派发 （打开新窗口）</a:t>
            </a:r>
            <a:r>
              <a:rPr lang="zh-CN" altLang="en-US" b="0" i="0" dirty="0">
                <a:solidFill>
                  <a:srgbClr val="2C3E50"/>
                </a:solidFill>
                <a:effectLst/>
                <a:latin typeface="-apple-system"/>
              </a:rPr>
              <a:t>机制。</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a:t>
            </a:fld>
            <a:endParaRPr lang="zh-CN" altLang="en-US"/>
          </a:p>
        </p:txBody>
      </p:sp>
    </p:spTree>
    <p:extLst>
      <p:ext uri="{BB962C8B-B14F-4D97-AF65-F5344CB8AC3E}">
        <p14:creationId xmlns:p14="http://schemas.microsoft.com/office/powerpoint/2010/main" val="3767814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命名规则灵活</a:t>
            </a:r>
            <a:endParaRPr lang="en-US" altLang="zh-CN" dirty="0"/>
          </a:p>
          <a:p>
            <a:pPr algn="l">
              <a:buFont typeface="Arial" panose="020B0604020202020204" pitchFamily="34" charset="0"/>
              <a:buChar char="•"/>
            </a:pPr>
            <a:r>
              <a:rPr lang="en-US" altLang="zh-CN" b="0" i="0" dirty="0">
                <a:solidFill>
                  <a:srgbClr val="2C3E50"/>
                </a:solidFill>
                <a:effectLst/>
                <a:latin typeface="-apple-system"/>
              </a:rPr>
              <a:t>Julia </a:t>
            </a:r>
            <a:r>
              <a:rPr lang="zh-CN" altLang="en-US" b="0" i="0" dirty="0">
                <a:solidFill>
                  <a:srgbClr val="2C3E50"/>
                </a:solidFill>
                <a:effectLst/>
                <a:latin typeface="-apple-system"/>
              </a:rPr>
              <a:t>代码风格主要的约定是：尽量避免使用下划线，除非不用就难于理解。</a:t>
            </a:r>
          </a:p>
          <a:p>
            <a:pPr algn="l">
              <a:buFont typeface="Arial" panose="020B0604020202020204" pitchFamily="34" charset="0"/>
              <a:buChar char="•"/>
            </a:pPr>
            <a:r>
              <a:rPr lang="zh-CN" altLang="en-US" b="0" i="0" dirty="0">
                <a:solidFill>
                  <a:srgbClr val="2C3E50"/>
                </a:solidFill>
                <a:effectLst/>
                <a:latin typeface="-apple-system"/>
              </a:rPr>
              <a:t>变量名小写或使用蛇形命名（</a:t>
            </a:r>
            <a:r>
              <a:rPr lang="en-US" altLang="zh-CN" b="0" i="0" dirty="0" err="1">
                <a:solidFill>
                  <a:srgbClr val="2C3E50"/>
                </a:solidFill>
                <a:effectLst/>
                <a:latin typeface="-apple-system"/>
              </a:rPr>
              <a:t>snake_case</a:t>
            </a:r>
            <a:r>
              <a:rPr lang="zh-CN" altLang="en-US" b="0" i="0" dirty="0">
                <a:solidFill>
                  <a:srgbClr val="2C3E50"/>
                </a:solidFill>
                <a:effectLst/>
                <a:latin typeface="-apple-system"/>
              </a:rPr>
              <a:t>）：。</a:t>
            </a:r>
            <a:r>
              <a:rPr lang="en-US" altLang="zh-CN" b="0" i="0" dirty="0" err="1">
                <a:solidFill>
                  <a:srgbClr val="2C3E50"/>
                </a:solidFill>
                <a:effectLst/>
                <a:latin typeface="-apple-system"/>
              </a:rPr>
              <a:t>somevariable</a:t>
            </a:r>
            <a:endParaRPr lang="en-US" altLang="zh-CN" b="0" i="0" dirty="0">
              <a:solidFill>
                <a:srgbClr val="2C3E50"/>
              </a:solidFill>
              <a:effectLst/>
              <a:latin typeface="-apple-system"/>
            </a:endParaRPr>
          </a:p>
          <a:p>
            <a:pPr algn="l">
              <a:buFont typeface="Arial" panose="020B0604020202020204" pitchFamily="34" charset="0"/>
              <a:buChar char="•"/>
            </a:pPr>
            <a:r>
              <a:rPr lang="zh-CN" altLang="en-US" b="0" i="0" dirty="0">
                <a:solidFill>
                  <a:srgbClr val="2C3E50"/>
                </a:solidFill>
                <a:effectLst/>
                <a:latin typeface="-apple-system"/>
              </a:rPr>
              <a:t>常数全部大写：。</a:t>
            </a:r>
            <a:r>
              <a:rPr lang="en-US" altLang="zh-CN" b="0" i="0" dirty="0">
                <a:solidFill>
                  <a:srgbClr val="2C3E50"/>
                </a:solidFill>
                <a:effectLst/>
                <a:latin typeface="-apple-system"/>
              </a:rPr>
              <a:t>SOMECONSTANT</a:t>
            </a:r>
          </a:p>
          <a:p>
            <a:pPr algn="l">
              <a:buFont typeface="Arial" panose="020B0604020202020204" pitchFamily="34" charset="0"/>
              <a:buChar char="•"/>
            </a:pPr>
            <a:r>
              <a:rPr lang="zh-CN" altLang="en-US" b="0" i="0" dirty="0">
                <a:solidFill>
                  <a:srgbClr val="2C3E50"/>
                </a:solidFill>
                <a:effectLst/>
                <a:latin typeface="-apple-system"/>
              </a:rPr>
              <a:t>函数名小写或使用蛇形命名（</a:t>
            </a:r>
            <a:r>
              <a:rPr lang="en-US" altLang="zh-CN" b="0" i="0" dirty="0" err="1">
                <a:solidFill>
                  <a:srgbClr val="2C3E50"/>
                </a:solidFill>
                <a:effectLst/>
                <a:latin typeface="-apple-system"/>
              </a:rPr>
              <a:t>snake_case</a:t>
            </a:r>
            <a:r>
              <a:rPr lang="zh-CN" altLang="en-US" b="0" i="0" dirty="0">
                <a:solidFill>
                  <a:srgbClr val="2C3E50"/>
                </a:solidFill>
                <a:effectLst/>
                <a:latin typeface="-apple-system"/>
              </a:rPr>
              <a:t>）：。</a:t>
            </a:r>
            <a:r>
              <a:rPr lang="en-US" altLang="zh-CN" b="0" i="0" dirty="0" err="1">
                <a:solidFill>
                  <a:srgbClr val="2C3E50"/>
                </a:solidFill>
                <a:effectLst/>
                <a:latin typeface="-apple-system"/>
              </a:rPr>
              <a:t>somefunction</a:t>
            </a:r>
            <a:endParaRPr lang="en-US" altLang="zh-CN" b="0" i="0" dirty="0">
              <a:solidFill>
                <a:srgbClr val="2C3E50"/>
              </a:solidFill>
              <a:effectLst/>
              <a:latin typeface="-apple-system"/>
            </a:endParaRPr>
          </a:p>
          <a:p>
            <a:pPr algn="l">
              <a:buFont typeface="Arial" panose="020B0604020202020204" pitchFamily="34" charset="0"/>
              <a:buChar char="•"/>
            </a:pPr>
            <a:r>
              <a:rPr lang="zh-CN" altLang="en-US" b="0" i="0" dirty="0">
                <a:solidFill>
                  <a:srgbClr val="2C3E50"/>
                </a:solidFill>
                <a:effectLst/>
                <a:latin typeface="-apple-system"/>
              </a:rPr>
              <a:t>宏小写或使用蛇形命名（</a:t>
            </a:r>
            <a:r>
              <a:rPr lang="en-US" altLang="zh-CN" b="0" i="0" dirty="0" err="1">
                <a:solidFill>
                  <a:srgbClr val="2C3E50"/>
                </a:solidFill>
                <a:effectLst/>
                <a:latin typeface="-apple-system"/>
              </a:rPr>
              <a:t>snake_case</a:t>
            </a:r>
            <a:r>
              <a:rPr lang="zh-CN" altLang="en-US" b="0" i="0" dirty="0">
                <a:solidFill>
                  <a:srgbClr val="2C3E50"/>
                </a:solidFill>
                <a:effectLst/>
                <a:latin typeface="-apple-system"/>
              </a:rPr>
              <a:t>）：。</a:t>
            </a:r>
            <a:r>
              <a:rPr lang="en-US" altLang="zh-CN" b="0" i="0" dirty="0">
                <a:solidFill>
                  <a:srgbClr val="2C3E50"/>
                </a:solidFill>
                <a:effectLst/>
                <a:latin typeface="-apple-system"/>
              </a:rPr>
              <a:t>@somemacro</a:t>
            </a:r>
          </a:p>
          <a:p>
            <a:pPr algn="l">
              <a:buFont typeface="Arial" panose="020B0604020202020204" pitchFamily="34" charset="0"/>
              <a:buChar char="•"/>
            </a:pPr>
            <a:r>
              <a:rPr lang="zh-CN" altLang="en-US" b="0" i="0" dirty="0">
                <a:solidFill>
                  <a:srgbClr val="2C3E50"/>
                </a:solidFill>
                <a:effectLst/>
                <a:latin typeface="-apple-system"/>
              </a:rPr>
              <a:t>类型名用首字母大写的驼峰命名：。</a:t>
            </a:r>
            <a:r>
              <a:rPr lang="en-US" altLang="zh-CN" b="0" i="0" dirty="0" err="1">
                <a:solidFill>
                  <a:srgbClr val="2C3E50"/>
                </a:solidFill>
                <a:effectLst/>
                <a:latin typeface="-apple-system"/>
              </a:rPr>
              <a:t>SomeType</a:t>
            </a:r>
            <a:endParaRPr lang="en-US" altLang="zh-CN" b="0" i="0" dirty="0">
              <a:solidFill>
                <a:srgbClr val="2C3E50"/>
              </a:solidFill>
              <a:effectLst/>
              <a:latin typeface="-apple-system"/>
            </a:endParaRPr>
          </a:p>
          <a:p>
            <a:pPr algn="l">
              <a:buFont typeface="Arial" panose="020B0604020202020204" pitchFamily="34" charset="0"/>
              <a:buChar char="•"/>
            </a:pPr>
            <a:r>
              <a:rPr lang="en-US" altLang="zh-CN" b="0" i="0" dirty="0">
                <a:solidFill>
                  <a:srgbClr val="2C3E50"/>
                </a:solidFill>
                <a:effectLst/>
                <a:latin typeface="-apple-system"/>
              </a:rPr>
              <a:t>Julia </a:t>
            </a:r>
            <a:r>
              <a:rPr lang="zh-CN" altLang="en-US" b="0" i="0" dirty="0">
                <a:solidFill>
                  <a:srgbClr val="2C3E50"/>
                </a:solidFill>
                <a:effectLst/>
                <a:latin typeface="-apple-system"/>
              </a:rPr>
              <a:t>代码文件以 为后缀。</a:t>
            </a:r>
            <a:r>
              <a:rPr lang="en-US" altLang="zh-CN" b="0" i="0" dirty="0">
                <a:solidFill>
                  <a:srgbClr val="2C3E50"/>
                </a:solidFill>
                <a:effectLst/>
                <a:latin typeface="-apple-system"/>
              </a:rPr>
              <a:t>.</a:t>
            </a:r>
            <a:r>
              <a:rPr lang="en-US" altLang="zh-CN" b="0" i="0" dirty="0" err="1">
                <a:solidFill>
                  <a:srgbClr val="2C3E50"/>
                </a:solidFill>
                <a:effectLst/>
                <a:latin typeface="-apple-system"/>
              </a:rPr>
              <a:t>jl</a:t>
            </a:r>
            <a:endParaRPr lang="en-US" altLang="zh-CN" b="0" i="0" dirty="0">
              <a:solidFill>
                <a:srgbClr val="2C3E50"/>
              </a:solidFill>
              <a:effectLst/>
              <a:latin typeface="-apple-system"/>
            </a:endParaRPr>
          </a:p>
          <a:p>
            <a:pPr algn="l">
              <a:buFont typeface="Arial" panose="020B0604020202020204" pitchFamily="34" charset="0"/>
              <a:buChar char="•"/>
            </a:pPr>
            <a:endParaRPr lang="en-US" altLang="zh-CN" b="0" i="0" dirty="0">
              <a:solidFill>
                <a:srgbClr val="2C3E50"/>
              </a:solidFill>
              <a:effectLst/>
              <a:latin typeface="-apple-system"/>
            </a:endParaRPr>
          </a:p>
          <a:p>
            <a:pPr algn="l">
              <a:buFont typeface="Arial" panose="020B0604020202020204" pitchFamily="34" charset="0"/>
              <a:buChar char="•"/>
            </a:pPr>
            <a:r>
              <a:rPr lang="zh-CN" altLang="en-US" b="0" i="0" dirty="0">
                <a:solidFill>
                  <a:srgbClr val="121212"/>
                </a:solidFill>
                <a:effectLst/>
                <a:latin typeface="-apple-system"/>
              </a:rPr>
              <a:t>蛇形命名起源于</a:t>
            </a:r>
            <a:r>
              <a:rPr lang="en-US" altLang="zh-CN" b="0" i="0" dirty="0">
                <a:solidFill>
                  <a:srgbClr val="121212"/>
                </a:solidFill>
                <a:effectLst/>
                <a:latin typeface="-apple-system"/>
              </a:rPr>
              <a:t>1960</a:t>
            </a:r>
            <a:r>
              <a:rPr lang="zh-CN" altLang="en-US" b="0" i="0" dirty="0">
                <a:solidFill>
                  <a:srgbClr val="121212"/>
                </a:solidFill>
                <a:effectLst/>
                <a:latin typeface="-apple-system"/>
              </a:rPr>
              <a:t>年，但那时候它还没有特定的名称，后来</a:t>
            </a:r>
            <a:r>
              <a:rPr lang="en-US" altLang="zh-CN" b="0" i="0" dirty="0">
                <a:solidFill>
                  <a:srgbClr val="121212"/>
                </a:solidFill>
                <a:effectLst/>
                <a:latin typeface="-apple-system"/>
              </a:rPr>
              <a:t>Python</a:t>
            </a:r>
            <a:r>
              <a:rPr lang="zh-CN" altLang="en-US" b="0" i="0" dirty="0">
                <a:solidFill>
                  <a:srgbClr val="121212"/>
                </a:solidFill>
                <a:effectLst/>
                <a:latin typeface="-apple-system"/>
              </a:rPr>
              <a:t>从</a:t>
            </a:r>
            <a:r>
              <a:rPr lang="en-US" altLang="zh-CN" b="0" i="0" dirty="0">
                <a:solidFill>
                  <a:srgbClr val="121212"/>
                </a:solidFill>
                <a:effectLst/>
                <a:latin typeface="-apple-system"/>
              </a:rPr>
              <a:t>C</a:t>
            </a:r>
            <a:r>
              <a:rPr lang="zh-CN" altLang="en-US" b="0" i="0" dirty="0">
                <a:solidFill>
                  <a:srgbClr val="121212"/>
                </a:solidFill>
                <a:effectLst/>
                <a:latin typeface="-apple-system"/>
              </a:rPr>
              <a:t>语言中借鉴过来后，给它起名为“</a:t>
            </a:r>
            <a:r>
              <a:rPr lang="en-US" altLang="zh-CN" b="0" i="0" dirty="0" err="1">
                <a:solidFill>
                  <a:srgbClr val="121212"/>
                </a:solidFill>
                <a:effectLst/>
                <a:latin typeface="-apple-system"/>
              </a:rPr>
              <a:t>lower_case_with_underscores</a:t>
            </a:r>
            <a:r>
              <a:rPr lang="en-US" altLang="zh-CN" b="0" i="0" dirty="0">
                <a:solidFill>
                  <a:srgbClr val="121212"/>
                </a:solidFill>
                <a:effectLst/>
                <a:latin typeface="-apple-system"/>
              </a:rPr>
              <a:t>”</a:t>
            </a:r>
            <a:r>
              <a:rPr lang="zh-CN" altLang="en-US" b="0" i="0" dirty="0">
                <a:solidFill>
                  <a:srgbClr val="121212"/>
                </a:solidFill>
                <a:effectLst/>
                <a:latin typeface="-apple-system"/>
              </a:rPr>
              <a:t>，即带下划线的小写命名。</a:t>
            </a:r>
            <a:endParaRPr lang="en-US" altLang="zh-CN" b="0" i="0" dirty="0">
              <a:solidFill>
                <a:srgbClr val="2C3E50"/>
              </a:solidFill>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333333"/>
                </a:solidFill>
                <a:effectLst/>
                <a:latin typeface="Helvetica Neue"/>
              </a:rPr>
              <a:t>类型 </a:t>
            </a:r>
            <a:r>
              <a:rPr lang="en-US" altLang="zh-CN" b="1" i="0" dirty="0">
                <a:solidFill>
                  <a:srgbClr val="333333"/>
                </a:solidFill>
                <a:effectLst/>
                <a:latin typeface="SFMono-Regular"/>
              </a:rPr>
              <a:t>Type</a:t>
            </a:r>
            <a:r>
              <a:rPr lang="zh-CN" altLang="en-US" b="0" i="0" dirty="0">
                <a:solidFill>
                  <a:srgbClr val="333333"/>
                </a:solidFill>
                <a:effectLst/>
                <a:latin typeface="Helvetica Neue"/>
              </a:rPr>
              <a:t> 和模块 </a:t>
            </a:r>
            <a:r>
              <a:rPr lang="en-US" altLang="zh-CN" b="1" i="0" dirty="0">
                <a:solidFill>
                  <a:srgbClr val="333333"/>
                </a:solidFill>
                <a:effectLst/>
                <a:latin typeface="SFMono-Regular"/>
              </a:rPr>
              <a:t>Module</a:t>
            </a:r>
            <a:r>
              <a:rPr lang="zh-CN" altLang="en-US" b="0" i="0" dirty="0">
                <a:solidFill>
                  <a:srgbClr val="333333"/>
                </a:solidFill>
                <a:effectLst/>
                <a:latin typeface="Helvetica Neue"/>
              </a:rPr>
              <a:t> 的名称使用大写字母开头，并且用大写字母而不是用下划线分隔单词。</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a:t>
            </a:fld>
            <a:endParaRPr lang="zh-CN" altLang="en-US"/>
          </a:p>
        </p:txBody>
      </p:sp>
    </p:spTree>
    <p:extLst>
      <p:ext uri="{BB962C8B-B14F-4D97-AF65-F5344CB8AC3E}">
        <p14:creationId xmlns:p14="http://schemas.microsoft.com/office/powerpoint/2010/main" val="2624513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a:t>
            </a:r>
            <a:r>
              <a:rPr lang="zh-CN" altLang="en-US" sz="1200" dirty="0"/>
              <a:t>使用反斜杠加 </a:t>
            </a:r>
            <a:r>
              <a:rPr lang="en-US" altLang="zh-CN" sz="1200" dirty="0"/>
              <a:t>\  tab </a:t>
            </a:r>
            <a:r>
              <a:rPr lang="zh-CN" altLang="en-US" sz="1200" dirty="0"/>
              <a:t>制表键</a:t>
            </a:r>
            <a:endParaRPr lang="en-US" altLang="zh-CN" sz="1200" dirty="0"/>
          </a:p>
          <a:p>
            <a:r>
              <a:rPr lang="en-US" altLang="zh-CN" kern="0" dirty="0"/>
              <a:t>Unicode</a:t>
            </a:r>
            <a:r>
              <a:rPr lang="zh-CN" altLang="en-US" dirty="0"/>
              <a:t>统一字符编码</a:t>
            </a:r>
            <a:r>
              <a:rPr lang="en-US" altLang="zh-CN" dirty="0"/>
              <a:t>;</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a:t>
            </a:fld>
            <a:endParaRPr lang="zh-CN" altLang="en-US"/>
          </a:p>
        </p:txBody>
      </p:sp>
    </p:spTree>
    <p:extLst>
      <p:ext uri="{BB962C8B-B14F-4D97-AF65-F5344CB8AC3E}">
        <p14:creationId xmlns:p14="http://schemas.microsoft.com/office/powerpoint/2010/main" val="4144966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03030"/>
                </a:solidFill>
                <a:effectLst/>
                <a:latin typeface="Helvetica Neue"/>
              </a:rPr>
              <a:t>Julia </a:t>
            </a:r>
            <a:r>
              <a:rPr lang="zh-CN" altLang="en-US" b="0" i="0" dirty="0">
                <a:solidFill>
                  <a:srgbClr val="303030"/>
                </a:solidFill>
                <a:effectLst/>
                <a:latin typeface="Helvetica Neue"/>
              </a:rPr>
              <a:t>是一种可选类型化的编程语言。</a:t>
            </a:r>
            <a:r>
              <a:rPr lang="en-US" altLang="zh-CN" b="0" i="0" dirty="0">
                <a:solidFill>
                  <a:srgbClr val="303030"/>
                </a:solidFill>
                <a:effectLst/>
                <a:latin typeface="Helvetica Neue"/>
              </a:rPr>
              <a:t>Julia </a:t>
            </a:r>
            <a:r>
              <a:rPr lang="zh-CN" altLang="en-US" b="0" i="0" dirty="0">
                <a:solidFill>
                  <a:srgbClr val="303030"/>
                </a:solidFill>
                <a:effectLst/>
                <a:latin typeface="Helvetica Neue"/>
              </a:rPr>
              <a:t>代码中的任何值都是有类型的。而一个区别在于，一个值的类型是由我们显式指定的，还是由 </a:t>
            </a:r>
            <a:r>
              <a:rPr lang="en-US" altLang="zh-CN" b="0" i="0" dirty="0">
                <a:solidFill>
                  <a:srgbClr val="303030"/>
                </a:solidFill>
                <a:effectLst/>
                <a:latin typeface="Helvetica Neue"/>
              </a:rPr>
              <a:t>Julia </a:t>
            </a:r>
            <a:r>
              <a:rPr lang="zh-CN" altLang="en-US" b="0" i="0" dirty="0">
                <a:solidFill>
                  <a:srgbClr val="303030"/>
                </a:solidFill>
                <a:effectLst/>
                <a:latin typeface="Helvetica Neue"/>
              </a:rPr>
              <a:t>在自行推断之后附加上的</a:t>
            </a:r>
            <a:endParaRPr lang="en-US" altLang="zh-CN" dirty="0"/>
          </a:p>
          <a:p>
            <a:r>
              <a:rPr lang="zh-CN" altLang="en-US" dirty="0"/>
              <a:t>动态语言</a:t>
            </a:r>
            <a:endParaRPr lang="en-US" altLang="zh-CN" dirty="0"/>
          </a:p>
          <a:p>
            <a:r>
              <a:rPr lang="zh-CN" altLang="en-US" dirty="0"/>
              <a:t>会对输入参数进行更改的函数要使用 </a:t>
            </a:r>
            <a:r>
              <a:rPr lang="en-US" altLang="zh-CN" dirty="0"/>
              <a:t>! </a:t>
            </a:r>
            <a:r>
              <a:rPr lang="zh-CN" altLang="en-US" dirty="0"/>
              <a:t>结尾。这些函数有时叫做 </a:t>
            </a:r>
            <a:r>
              <a:rPr lang="en-US" altLang="zh-CN" dirty="0"/>
              <a:t>"mutating" </a:t>
            </a:r>
            <a:r>
              <a:rPr lang="zh-CN" altLang="en-US" dirty="0"/>
              <a:t>或 </a:t>
            </a:r>
            <a:r>
              <a:rPr lang="en-US" altLang="zh-CN" dirty="0"/>
              <a:t>"in-place" </a:t>
            </a:r>
            <a:r>
              <a:rPr lang="zh-CN" altLang="en-US" dirty="0"/>
              <a:t>函数，因为它们在被调用后会修改他们的输入参数的内容而不仅仅只是返回一个值。</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a:t>
            </a:fld>
            <a:endParaRPr lang="zh-CN" altLang="en-US"/>
          </a:p>
        </p:txBody>
      </p:sp>
    </p:spTree>
    <p:extLst>
      <p:ext uri="{BB962C8B-B14F-4D97-AF65-F5344CB8AC3E}">
        <p14:creationId xmlns:p14="http://schemas.microsoft.com/office/powerpoint/2010/main" val="792253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7</a:t>
            </a:fld>
            <a:endParaRPr lang="zh-CN" altLang="en-US"/>
          </a:p>
        </p:txBody>
      </p:sp>
    </p:spTree>
    <p:extLst>
      <p:ext uri="{BB962C8B-B14F-4D97-AF65-F5344CB8AC3E}">
        <p14:creationId xmlns:p14="http://schemas.microsoft.com/office/powerpoint/2010/main" val="3470616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191B1F"/>
                </a:solidFill>
                <a:effectLst/>
                <a:latin typeface="-apple-system"/>
              </a:rPr>
              <a:t>f (generic function with 2 methods)</a:t>
            </a:r>
          </a:p>
          <a:p>
            <a:pPr algn="l"/>
            <a:r>
              <a:rPr lang="zh-CN" altLang="en-US" b="0" i="0" dirty="0">
                <a:solidFill>
                  <a:srgbClr val="191B1F"/>
                </a:solidFill>
                <a:effectLst/>
                <a:latin typeface="-apple-system"/>
              </a:rPr>
              <a:t>此输出告诉我们，这是一个函数对象，具有两种方法。</a:t>
            </a:r>
          </a:p>
          <a:p>
            <a:r>
              <a:rPr lang="en-US" altLang="zh-CN" dirty="0">
                <a:hlinkClick r:id="rId3"/>
              </a:rPr>
              <a:t>【JULIA</a:t>
            </a:r>
            <a:r>
              <a:rPr lang="zh-CN" altLang="en-US" dirty="0">
                <a:hlinkClick r:id="rId3"/>
              </a:rPr>
              <a:t>第三课</a:t>
            </a:r>
            <a:r>
              <a:rPr lang="en-US" altLang="zh-CN" dirty="0">
                <a:hlinkClick r:id="rId3"/>
              </a:rPr>
              <a:t>】《Julia——</a:t>
            </a:r>
            <a:r>
              <a:rPr lang="zh-CN" altLang="en-US" dirty="0">
                <a:hlinkClick r:id="rId3"/>
              </a:rPr>
              <a:t>数学编程工具书</a:t>
            </a:r>
            <a:r>
              <a:rPr lang="en-US" altLang="zh-CN" dirty="0">
                <a:hlinkClick r:id="rId3"/>
              </a:rPr>
              <a:t>》3.4.3 - </a:t>
            </a:r>
            <a:r>
              <a:rPr lang="zh-CN" altLang="en-US" dirty="0">
                <a:hlinkClick r:id="rId3"/>
              </a:rPr>
              <a:t>知乎 </a:t>
            </a:r>
            <a:r>
              <a:rPr lang="en-US" altLang="zh-CN" dirty="0">
                <a:hlinkClick r:id="rId3"/>
              </a:rPr>
              <a:t>(zhihu.com)</a:t>
            </a:r>
            <a:endParaRPr lang="en-US" altLang="zh-CN" dirty="0"/>
          </a:p>
          <a:p>
            <a:pPr algn="l"/>
            <a:r>
              <a:rPr lang="zh-CN" altLang="en-US" b="0" i="0" dirty="0">
                <a:solidFill>
                  <a:srgbClr val="191B1F"/>
                </a:solidFill>
                <a:effectLst/>
                <a:latin typeface="-apple-system"/>
              </a:rPr>
              <a:t>通过在交互式会话中输入函数对象本身，可以轻松查看函数存在哪些方法：</a:t>
            </a:r>
          </a:p>
          <a:p>
            <a:pPr algn="l"/>
            <a:r>
              <a:rPr lang="en-US" altLang="zh-CN" b="0" i="0" dirty="0">
                <a:solidFill>
                  <a:srgbClr val="191B1F"/>
                </a:solidFill>
                <a:effectLst/>
                <a:latin typeface="-apple-system"/>
              </a:rPr>
              <a:t>julia&gt; f</a:t>
            </a:r>
          </a:p>
          <a:p>
            <a:pPr algn="l"/>
            <a:r>
              <a:rPr lang="en-US" altLang="zh-CN" b="0" i="0" dirty="0">
                <a:solidFill>
                  <a:srgbClr val="191B1F"/>
                </a:solidFill>
                <a:effectLst/>
                <a:latin typeface="-apple-system"/>
              </a:rPr>
              <a:t>f (generic function with 2 methods)</a:t>
            </a:r>
          </a:p>
          <a:p>
            <a:pPr algn="l"/>
            <a:r>
              <a:rPr lang="zh-CN" altLang="en-US" b="0" i="0" dirty="0">
                <a:solidFill>
                  <a:srgbClr val="191B1F"/>
                </a:solidFill>
                <a:effectLst/>
                <a:latin typeface="-apple-system"/>
              </a:rPr>
              <a:t>此输出告诉我们，这是一个函数对象，具有两种方法。要了解这些方法的签名是什么，请使用 方法函数：</a:t>
            </a:r>
            <a:r>
              <a:rPr lang="en-US" altLang="zh-CN" b="0" i="0" dirty="0">
                <a:solidFill>
                  <a:srgbClr val="191B1F"/>
                </a:solidFill>
                <a:effectLst/>
                <a:latin typeface="-apple-system"/>
              </a:rPr>
              <a:t>f</a:t>
            </a:r>
          </a:p>
          <a:p>
            <a:pPr algn="l"/>
            <a:r>
              <a:rPr lang="en-US" altLang="zh-CN" b="0" i="0" dirty="0">
                <a:solidFill>
                  <a:srgbClr val="191B1F"/>
                </a:solidFill>
                <a:effectLst/>
                <a:latin typeface="-apple-system"/>
              </a:rPr>
              <a:t>julia&gt; methods(f)</a:t>
            </a:r>
          </a:p>
          <a:p>
            <a:pPr algn="l"/>
            <a:r>
              <a:rPr lang="en-US" altLang="zh-CN" b="0" i="0" dirty="0">
                <a:solidFill>
                  <a:srgbClr val="191B1F"/>
                </a:solidFill>
                <a:effectLst/>
                <a:latin typeface="-apple-system"/>
              </a:rPr>
              <a:t># 2 methods for generic function "f":</a:t>
            </a:r>
          </a:p>
          <a:p>
            <a:pPr algn="l"/>
            <a:r>
              <a:rPr lang="en-US" altLang="zh-CN" b="0" i="0" dirty="0">
                <a:solidFill>
                  <a:srgbClr val="191B1F"/>
                </a:solidFill>
                <a:effectLst/>
                <a:latin typeface="-apple-system"/>
              </a:rPr>
              <a:t>[1] f(x::Float64, y::Float64) in Main at none:1</a:t>
            </a:r>
          </a:p>
          <a:p>
            <a:pPr algn="l"/>
            <a:r>
              <a:rPr lang="en-US" altLang="zh-CN" b="0" i="0" dirty="0">
                <a:solidFill>
                  <a:srgbClr val="191B1F"/>
                </a:solidFill>
                <a:effectLst/>
                <a:latin typeface="-apple-system"/>
              </a:rPr>
              <a:t>[2] f(x::Number, y::Number) in Main at none:1</a:t>
            </a:r>
          </a:p>
          <a:p>
            <a:pPr algn="l"/>
            <a:r>
              <a:rPr lang="zh-CN" altLang="en-US" b="0" i="0" dirty="0">
                <a:solidFill>
                  <a:srgbClr val="191B1F"/>
                </a:solidFill>
                <a:effectLst/>
                <a:latin typeface="-apple-system"/>
              </a:rPr>
              <a:t>这表明有两种方法，一个采用两个参数，一个采用类型参数。它还指示定义方法的文件和行号：由于这些方法是在 </a:t>
            </a:r>
            <a:r>
              <a:rPr lang="en-US" altLang="zh-CN" b="0" i="0" dirty="0">
                <a:solidFill>
                  <a:srgbClr val="191B1F"/>
                </a:solidFill>
                <a:effectLst/>
                <a:latin typeface="-apple-system"/>
              </a:rPr>
              <a:t>REPL </a:t>
            </a:r>
            <a:r>
              <a:rPr lang="zh-CN" altLang="en-US" b="0" i="0" dirty="0">
                <a:solidFill>
                  <a:srgbClr val="191B1F"/>
                </a:solidFill>
                <a:effectLst/>
                <a:latin typeface="-apple-system"/>
              </a:rPr>
              <a:t>中定义的，因此我们得到明显的行号 。</a:t>
            </a:r>
            <a:r>
              <a:rPr lang="en-US" altLang="zh-CN" b="0" i="0" dirty="0">
                <a:solidFill>
                  <a:srgbClr val="191B1F"/>
                </a:solidFill>
                <a:effectLst/>
                <a:latin typeface="-apple-system"/>
              </a:rPr>
              <a:t>fFloat64Numbernone:1</a:t>
            </a:r>
          </a:p>
          <a:p>
            <a:pPr algn="l"/>
            <a:r>
              <a:rPr lang="zh-CN" altLang="en-US" b="0" i="0" dirty="0">
                <a:solidFill>
                  <a:srgbClr val="191B1F"/>
                </a:solidFill>
                <a:effectLst/>
                <a:latin typeface="-apple-system"/>
              </a:rPr>
              <a:t>如果没有 具有 的类型声明，则方法参数的类型默认为 ，这意味着它是不受约束的，因为 </a:t>
            </a:r>
            <a:r>
              <a:rPr lang="en-US" altLang="zh-CN" b="0" i="0" dirty="0">
                <a:solidFill>
                  <a:srgbClr val="191B1F"/>
                </a:solidFill>
                <a:effectLst/>
                <a:latin typeface="-apple-system"/>
              </a:rPr>
              <a:t>Julia </a:t>
            </a:r>
            <a:r>
              <a:rPr lang="zh-CN" altLang="en-US" b="0" i="0" dirty="0">
                <a:solidFill>
                  <a:srgbClr val="191B1F"/>
                </a:solidFill>
                <a:effectLst/>
                <a:latin typeface="-apple-system"/>
              </a:rPr>
              <a:t>中的所有值都是抽象类型的实例。因此，我们可以定义一个捕获所有的方法，这样：</a:t>
            </a:r>
            <a:r>
              <a:rPr lang="en-US" altLang="zh-CN" b="0" i="0" dirty="0">
                <a:solidFill>
                  <a:srgbClr val="191B1F"/>
                </a:solidFill>
                <a:effectLst/>
                <a:latin typeface="-apple-system"/>
              </a:rPr>
              <a:t>::</a:t>
            </a:r>
            <a:r>
              <a:rPr lang="en-US" altLang="zh-CN" b="0" i="0" dirty="0" err="1">
                <a:solidFill>
                  <a:srgbClr val="191B1F"/>
                </a:solidFill>
                <a:effectLst/>
                <a:latin typeface="-apple-system"/>
              </a:rPr>
              <a:t>AnyAnyf</a:t>
            </a:r>
            <a:endParaRPr lang="en-US" altLang="zh-CN" b="0" i="0" dirty="0">
              <a:solidFill>
                <a:srgbClr val="191B1F"/>
              </a:solidFill>
              <a:effectLst/>
              <a:latin typeface="-apple-system"/>
            </a:endParaRPr>
          </a:p>
          <a:p>
            <a:pPr algn="l"/>
            <a:r>
              <a:rPr lang="en-US" altLang="zh-CN" b="0" i="0" dirty="0">
                <a:solidFill>
                  <a:srgbClr val="191B1F"/>
                </a:solidFill>
                <a:effectLst/>
                <a:latin typeface="-apple-system"/>
              </a:rPr>
              <a:t>julia&gt; f(</a:t>
            </a:r>
            <a:r>
              <a:rPr lang="en-US" altLang="zh-CN" b="0" i="0" dirty="0" err="1">
                <a:solidFill>
                  <a:srgbClr val="191B1F"/>
                </a:solidFill>
                <a:effectLst/>
                <a:latin typeface="-apple-system"/>
              </a:rPr>
              <a:t>x,y</a:t>
            </a:r>
            <a:r>
              <a:rPr lang="en-US" altLang="zh-CN" b="0" i="0" dirty="0">
                <a:solidFill>
                  <a:srgbClr val="191B1F"/>
                </a:solidFill>
                <a:effectLst/>
                <a:latin typeface="-apple-system"/>
              </a:rPr>
              <a:t>) = </a:t>
            </a:r>
            <a:r>
              <a:rPr lang="en-US" altLang="zh-CN" b="0" i="0" dirty="0" err="1">
                <a:solidFill>
                  <a:srgbClr val="191B1F"/>
                </a:solidFill>
                <a:effectLst/>
                <a:latin typeface="-apple-system"/>
              </a:rPr>
              <a:t>println</a:t>
            </a:r>
            <a:r>
              <a:rPr lang="en-US" altLang="zh-CN" b="0" i="0" dirty="0">
                <a:solidFill>
                  <a:srgbClr val="191B1F"/>
                </a:solidFill>
                <a:effectLst/>
                <a:latin typeface="-apple-system"/>
              </a:rPr>
              <a:t>("Whoa there, Nelly.")</a:t>
            </a:r>
          </a:p>
          <a:p>
            <a:pPr algn="l"/>
            <a:r>
              <a:rPr lang="en-US" altLang="zh-CN" b="0" i="0" dirty="0">
                <a:solidFill>
                  <a:srgbClr val="191B1F"/>
                </a:solidFill>
                <a:effectLst/>
                <a:latin typeface="-apple-system"/>
              </a:rPr>
              <a:t>f (generic function with 3 methods)</a:t>
            </a:r>
          </a:p>
          <a:p>
            <a:pPr algn="l"/>
            <a:br>
              <a:rPr lang="en-US" altLang="zh-CN" b="0" i="0" dirty="0">
                <a:solidFill>
                  <a:srgbClr val="191B1F"/>
                </a:solidFill>
                <a:effectLst/>
                <a:latin typeface="-apple-system"/>
              </a:rPr>
            </a:br>
            <a:endParaRPr lang="en-US" altLang="zh-CN" b="0" i="0" dirty="0">
              <a:solidFill>
                <a:srgbClr val="191B1F"/>
              </a:solidFill>
              <a:effectLst/>
              <a:latin typeface="-apple-system"/>
            </a:endParaRPr>
          </a:p>
          <a:p>
            <a:pPr algn="l"/>
            <a:r>
              <a:rPr lang="en-US" altLang="zh-CN" b="0" i="0" dirty="0">
                <a:solidFill>
                  <a:srgbClr val="191B1F"/>
                </a:solidFill>
                <a:effectLst/>
                <a:latin typeface="-apple-system"/>
              </a:rPr>
              <a:t>julia&gt; f("foo", 1)</a:t>
            </a:r>
          </a:p>
          <a:p>
            <a:pPr algn="l"/>
            <a:r>
              <a:rPr lang="en-US" altLang="zh-CN" b="0" i="0" dirty="0">
                <a:solidFill>
                  <a:srgbClr val="191B1F"/>
                </a:solidFill>
                <a:effectLst/>
                <a:latin typeface="-apple-system"/>
              </a:rPr>
              <a:t>Whoa there, Nelly.</a:t>
            </a:r>
          </a:p>
          <a:p>
            <a:pPr algn="l"/>
            <a:r>
              <a:rPr lang="zh-CN" altLang="en-US" b="0" i="0" dirty="0">
                <a:solidFill>
                  <a:srgbClr val="191B1F"/>
                </a:solidFill>
                <a:effectLst/>
                <a:latin typeface="-apple-system"/>
              </a:rPr>
              <a:t>此捕获 </a:t>
            </a:r>
            <a:r>
              <a:rPr lang="en-US" altLang="zh-CN" b="0" i="0" dirty="0">
                <a:solidFill>
                  <a:srgbClr val="191B1F"/>
                </a:solidFill>
                <a:effectLst/>
                <a:latin typeface="-apple-system"/>
              </a:rPr>
              <a:t>all </a:t>
            </a:r>
            <a:r>
              <a:rPr lang="zh-CN" altLang="en-US" b="0" i="0" dirty="0">
                <a:solidFill>
                  <a:srgbClr val="191B1F"/>
                </a:solidFill>
                <a:effectLst/>
                <a:latin typeface="-apple-system"/>
              </a:rPr>
              <a:t>不如对一对参数值的任何其他可能的方法定义具体，因此将仅对没有其他方法定义适用的参数对调用它。</a:t>
            </a:r>
          </a:p>
          <a:p>
            <a:pPr algn="l"/>
            <a:r>
              <a:rPr lang="zh-CN" altLang="en-US" b="0" i="0" dirty="0">
                <a:solidFill>
                  <a:srgbClr val="191B1F"/>
                </a:solidFill>
                <a:effectLst/>
                <a:latin typeface="-apple-system"/>
              </a:rPr>
              <a:t>虽然这似乎是一个简单的概念，但对值类型的多次调度也许是</a:t>
            </a:r>
            <a:r>
              <a:rPr lang="en-US" altLang="zh-CN" b="0" i="0" dirty="0">
                <a:solidFill>
                  <a:srgbClr val="191B1F"/>
                </a:solidFill>
                <a:effectLst/>
                <a:latin typeface="-apple-system"/>
              </a:rPr>
              <a:t>Ju julia </a:t>
            </a:r>
            <a:r>
              <a:rPr lang="zh-CN" altLang="en-US" b="0" i="0" dirty="0">
                <a:solidFill>
                  <a:srgbClr val="191B1F"/>
                </a:solidFill>
                <a:effectLst/>
                <a:latin typeface="-apple-system"/>
              </a:rPr>
              <a:t>语言最强大和最核心的功能。核心操作通常有几十种方法：</a:t>
            </a:r>
          </a:p>
          <a:p>
            <a:pPr algn="l"/>
            <a:r>
              <a:rPr lang="en-US" altLang="zh-CN" b="0" i="0" dirty="0">
                <a:solidFill>
                  <a:srgbClr val="191B1F"/>
                </a:solidFill>
                <a:effectLst/>
                <a:latin typeface="-apple-system"/>
              </a:rPr>
              <a:t>julia&gt; methods(+)</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8</a:t>
            </a:fld>
            <a:endParaRPr lang="zh-CN" altLang="en-US"/>
          </a:p>
        </p:txBody>
      </p:sp>
    </p:spTree>
    <p:extLst>
      <p:ext uri="{BB962C8B-B14F-4D97-AF65-F5344CB8AC3E}">
        <p14:creationId xmlns:p14="http://schemas.microsoft.com/office/powerpoint/2010/main" val="997626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x, y, z = 1, [1:10; ], "A string"</a:t>
            </a:r>
            <a:br>
              <a:rPr lang="en-US" altLang="zh-CN" dirty="0"/>
            </a:br>
            <a:r>
              <a:rPr lang="en-US" altLang="zh-CN" dirty="0"/>
              <a:t>x, y = y, x # </a:t>
            </a:r>
            <a:r>
              <a:rPr lang="zh-CN" altLang="en-US" dirty="0"/>
              <a:t>交换 </a:t>
            </a:r>
            <a:r>
              <a:rPr lang="en-US" altLang="zh-CN" dirty="0"/>
              <a:t>x, y</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9</a:t>
            </a:fld>
            <a:endParaRPr lang="zh-CN" altLang="en-US"/>
          </a:p>
        </p:txBody>
      </p:sp>
    </p:spTree>
    <p:extLst>
      <p:ext uri="{BB962C8B-B14F-4D97-AF65-F5344CB8AC3E}">
        <p14:creationId xmlns:p14="http://schemas.microsoft.com/office/powerpoint/2010/main" val="4260136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10</a:t>
            </a:fld>
            <a:endParaRPr lang="zh-CN" altLang="en-US"/>
          </a:p>
        </p:txBody>
      </p:sp>
    </p:spTree>
    <p:extLst>
      <p:ext uri="{BB962C8B-B14F-4D97-AF65-F5344CB8AC3E}">
        <p14:creationId xmlns:p14="http://schemas.microsoft.com/office/powerpoint/2010/main" val="603895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2100"/>
              </a:lnSpc>
            </a:pPr>
            <a:r>
              <a:rPr lang="zh-CN" altLang="en-US" dirty="0">
                <a:solidFill>
                  <a:srgbClr val="002060"/>
                </a:solidFill>
              </a:rPr>
              <a:t>julia&gt; pi=8  </a:t>
            </a:r>
            <a:r>
              <a:rPr lang="en-US" altLang="zh-CN" kern="0" dirty="0">
                <a:solidFill>
                  <a:srgbClr val="00B0F0"/>
                </a:solidFill>
                <a:latin typeface="宋体" panose="02010600030101010101" pitchFamily="2" charset="-122"/>
                <a:ea typeface="宋体" panose="02010600030101010101" pitchFamily="2" charset="-122"/>
              </a:rPr>
              <a:t># </a:t>
            </a:r>
            <a:r>
              <a:rPr lang="zh-CN" altLang="en-US" kern="0" dirty="0">
                <a:solidFill>
                  <a:srgbClr val="00B0F0"/>
                </a:solidFill>
                <a:latin typeface="宋体" panose="02010600030101010101" pitchFamily="2" charset="-122"/>
                <a:ea typeface="宋体" panose="02010600030101010101" pitchFamily="2" charset="-122"/>
              </a:rPr>
              <a:t>未运行常量可重新定义</a:t>
            </a:r>
          </a:p>
          <a:p>
            <a:pPr>
              <a:lnSpc>
                <a:spcPts val="2100"/>
              </a:lnSpc>
            </a:pPr>
            <a:r>
              <a:rPr lang="zh-CN" altLang="en-US" dirty="0">
                <a:solidFill>
                  <a:srgbClr val="002060"/>
                </a:solidFill>
              </a:rPr>
              <a:t>julia&gt; </a:t>
            </a:r>
            <a:r>
              <a:rPr lang="en-US" altLang="zh-CN" dirty="0">
                <a:solidFill>
                  <a:srgbClr val="002060"/>
                </a:solidFill>
              </a:rPr>
              <a:t>sin(pi)  </a:t>
            </a:r>
            <a:r>
              <a:rPr lang="en-US" altLang="zh-CN" kern="0" dirty="0">
                <a:solidFill>
                  <a:srgbClr val="00B0F0"/>
                </a:solidFill>
                <a:latin typeface="宋体" panose="02010600030101010101" pitchFamily="2" charset="-122"/>
                <a:ea typeface="宋体" panose="02010600030101010101" pitchFamily="2" charset="-122"/>
              </a:rPr>
              <a:t>#</a:t>
            </a:r>
            <a:r>
              <a:rPr lang="zh-CN" altLang="en-US" kern="0" dirty="0">
                <a:solidFill>
                  <a:srgbClr val="00B0F0"/>
                </a:solidFill>
                <a:latin typeface="宋体" panose="02010600030101010101" pitchFamily="2" charset="-122"/>
                <a:ea typeface="宋体" panose="02010600030101010101" pitchFamily="2" charset="-122"/>
              </a:rPr>
              <a:t>结果</a:t>
            </a:r>
            <a:r>
              <a:rPr lang="en-US" altLang="zh-CN" kern="0" dirty="0">
                <a:solidFill>
                  <a:srgbClr val="00B0F0"/>
                </a:solidFill>
                <a:latin typeface="宋体" panose="02010600030101010101" pitchFamily="2" charset="-122"/>
                <a:ea typeface="宋体" panose="02010600030101010101" pitchFamily="2" charset="-122"/>
              </a:rPr>
              <a:t>0.9893582466233818 </a:t>
            </a:r>
          </a:p>
          <a:p>
            <a:pPr>
              <a:lnSpc>
                <a:spcPts val="2100"/>
              </a:lnSpc>
            </a:pPr>
            <a:r>
              <a:rPr lang="en-US" altLang="zh-CN" kern="0" dirty="0">
                <a:solidFill>
                  <a:schemeClr val="tx2">
                    <a:lumMod val="95000"/>
                    <a:lumOff val="5000"/>
                  </a:schemeClr>
                </a:solidFill>
                <a:latin typeface="宋体" panose="02010600030101010101" pitchFamily="2" charset="-122"/>
                <a:ea typeface="宋体" panose="02010600030101010101" pitchFamily="2" charset="-122"/>
              </a:rPr>
              <a:t>#</a:t>
            </a:r>
            <a:r>
              <a:rPr lang="zh-CN" altLang="en-US" kern="0" dirty="0">
                <a:solidFill>
                  <a:schemeClr val="tx2">
                    <a:lumMod val="95000"/>
                    <a:lumOff val="5000"/>
                  </a:schemeClr>
                </a:solidFill>
                <a:latin typeface="宋体" panose="02010600030101010101" pitchFamily="2" charset="-122"/>
                <a:ea typeface="宋体" panose="02010600030101010101" pitchFamily="2" charset="-122"/>
              </a:rPr>
              <a:t>如果重启</a:t>
            </a:r>
            <a:r>
              <a:rPr lang="en-US" altLang="zh-CN" kern="0" dirty="0" err="1">
                <a:solidFill>
                  <a:schemeClr val="tx2">
                    <a:lumMod val="95000"/>
                    <a:lumOff val="5000"/>
                  </a:schemeClr>
                </a:solidFill>
                <a:latin typeface="宋体" panose="02010600030101010101" pitchFamily="2" charset="-122"/>
                <a:ea typeface="宋体" panose="02010600030101010101" pitchFamily="2" charset="-122"/>
              </a:rPr>
              <a:t>syslab</a:t>
            </a:r>
            <a:r>
              <a:rPr lang="zh-CN" altLang="en-US" kern="0" dirty="0">
                <a:solidFill>
                  <a:schemeClr val="tx2">
                    <a:lumMod val="95000"/>
                    <a:lumOff val="5000"/>
                  </a:schemeClr>
                </a:solidFill>
                <a:latin typeface="宋体" panose="02010600030101010101" pitchFamily="2" charset="-122"/>
                <a:ea typeface="宋体" panose="02010600030101010101" pitchFamily="2" charset="-122"/>
              </a:rPr>
              <a:t>，再调用</a:t>
            </a:r>
            <a:r>
              <a:rPr lang="en-US" altLang="zh-CN" kern="0" dirty="0">
                <a:solidFill>
                  <a:schemeClr val="tx2">
                    <a:lumMod val="95000"/>
                    <a:lumOff val="5000"/>
                  </a:schemeClr>
                </a:solidFill>
                <a:latin typeface="宋体" panose="02010600030101010101" pitchFamily="2" charset="-122"/>
                <a:ea typeface="宋体" panose="02010600030101010101" pitchFamily="2" charset="-122"/>
              </a:rPr>
              <a:t>pi</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11</a:t>
            </a:fld>
            <a:endParaRPr lang="zh-CN" altLang="en-US"/>
          </a:p>
        </p:txBody>
      </p:sp>
    </p:spTree>
    <p:extLst>
      <p:ext uri="{BB962C8B-B14F-4D97-AF65-F5344CB8AC3E}">
        <p14:creationId xmlns:p14="http://schemas.microsoft.com/office/powerpoint/2010/main" val="4060554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常量和变量都是用来存储数据的。但是它们有很大的区别，主要体现在以下几个方面：</a:t>
            </a:r>
          </a:p>
          <a:p>
            <a:r>
              <a:rPr lang="en-US" altLang="zh-CN" dirty="0"/>
              <a:t>1.</a:t>
            </a:r>
            <a:r>
              <a:rPr lang="zh-CN" altLang="en-US" dirty="0"/>
              <a:t>值的可变性：常量的值是不可变的，一旦被定义后就不能被修改，而变量的值可以被修改。</a:t>
            </a:r>
          </a:p>
          <a:p>
            <a:r>
              <a:rPr lang="en-US" altLang="zh-CN" dirty="0"/>
              <a:t>2.</a:t>
            </a:r>
            <a:r>
              <a:rPr lang="zh-CN" altLang="en-US" dirty="0"/>
              <a:t>类型的确定性：常量的类型在定义时就必须确定，而变量的类型可以在定义后再进行赋值时确定。</a:t>
            </a:r>
          </a:p>
          <a:p>
            <a:r>
              <a:rPr lang="en-US" altLang="zh-CN" dirty="0"/>
              <a:t>3.</a:t>
            </a:r>
            <a:r>
              <a:rPr lang="zh-CN" altLang="en-US" dirty="0"/>
              <a:t>作用域：常量的作用域通常是全局的，而变量的作用域可以是全局的也可以是局部的。</a:t>
            </a:r>
          </a:p>
          <a:p>
            <a:r>
              <a:rPr lang="zh-CN" altLang="en-US" dirty="0"/>
              <a:t>以下是一个简单的</a:t>
            </a:r>
            <a:r>
              <a:rPr lang="en-US" altLang="zh-CN" dirty="0"/>
              <a:t>Java</a:t>
            </a:r>
            <a:r>
              <a:rPr lang="zh-CN" altLang="en-US" dirty="0"/>
              <a:t>案例，展示了常量和变量的使用：</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ffectLst/>
              </a:rPr>
              <a:t>using </a:t>
            </a:r>
            <a:r>
              <a:rPr lang="en-US" altLang="zh-CN" dirty="0" err="1">
                <a:effectLst/>
              </a:rPr>
              <a:t>Base.MathConstants</a:t>
            </a:r>
            <a:endParaRPr lang="en-US" altLang="zh-CN" dirty="0">
              <a:effectLst/>
            </a:endParaRPr>
          </a:p>
          <a:p>
            <a:endParaRPr lang="zh-CN" altLang="en-US" dirty="0"/>
          </a:p>
          <a:p>
            <a:br>
              <a:rPr lang="zh-CN" altLang="en-US" dirty="0"/>
            </a:b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12</a:t>
            </a:fld>
            <a:endParaRPr lang="zh-CN" altLang="en-US"/>
          </a:p>
        </p:txBody>
      </p:sp>
    </p:spTree>
    <p:extLst>
      <p:ext uri="{BB962C8B-B14F-4D97-AF65-F5344CB8AC3E}">
        <p14:creationId xmlns:p14="http://schemas.microsoft.com/office/powerpoint/2010/main" val="3190107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i="0" dirty="0">
                <a:solidFill>
                  <a:srgbClr val="333333"/>
                </a:solidFill>
                <a:effectLst/>
                <a:latin typeface="Helvetica Neue"/>
              </a:rPr>
              <a:t>"</a:t>
            </a:r>
            <a:r>
              <a:rPr lang="zh-CN" altLang="en-US" b="1" i="0" dirty="0">
                <a:solidFill>
                  <a:srgbClr val="333333"/>
                </a:solidFill>
                <a:effectLst/>
                <a:latin typeface="Helvetica Neue"/>
              </a:rPr>
              <a:t>字面量</a:t>
            </a:r>
            <a:r>
              <a:rPr lang="en-US" altLang="zh-CN" b="1" i="0" dirty="0">
                <a:solidFill>
                  <a:srgbClr val="333333"/>
                </a:solidFill>
                <a:effectLst/>
                <a:latin typeface="Helvetica Neue"/>
              </a:rPr>
              <a:t>"</a:t>
            </a:r>
            <a:r>
              <a:rPr lang="zh-CN" altLang="en-US" b="0" i="0" dirty="0">
                <a:solidFill>
                  <a:srgbClr val="333333"/>
                </a:solidFill>
                <a:effectLst/>
                <a:latin typeface="Helvetica Neue"/>
              </a:rPr>
              <a:t>的术语，字面量（</a:t>
            </a:r>
            <a:r>
              <a:rPr lang="en-US" altLang="zh-CN" b="0" i="0" dirty="0">
                <a:solidFill>
                  <a:srgbClr val="333333"/>
                </a:solidFill>
                <a:effectLst/>
                <a:latin typeface="Helvetica Neue"/>
              </a:rPr>
              <a:t>literal</a:t>
            </a:r>
            <a:r>
              <a:rPr lang="zh-CN" altLang="en-US" b="0" i="0" dirty="0">
                <a:solidFill>
                  <a:srgbClr val="333333"/>
                </a:solidFill>
                <a:effectLst/>
                <a:latin typeface="Helvetica Neue"/>
              </a:rPr>
              <a:t>）用于表达源代码中一个固定值的表示法（</a:t>
            </a:r>
            <a:r>
              <a:rPr lang="en-US" altLang="zh-CN" b="0" i="0" dirty="0">
                <a:solidFill>
                  <a:srgbClr val="333333"/>
                </a:solidFill>
                <a:effectLst/>
                <a:latin typeface="Helvetica Neue"/>
              </a:rPr>
              <a:t>notation</a:t>
            </a:r>
            <a:r>
              <a:rPr lang="zh-CN" altLang="en-US" b="0" i="0" dirty="0">
                <a:solidFill>
                  <a:srgbClr val="333333"/>
                </a:solidFill>
                <a:effectLst/>
                <a:latin typeface="Helvetica Neue"/>
              </a:rPr>
              <a:t>），整数、浮点数以及字符串等等都是字面量。</a:t>
            </a:r>
            <a:endParaRPr lang="en-US" altLang="zh-CN" b="0" i="0" dirty="0">
              <a:solidFill>
                <a:srgbClr val="333333"/>
              </a:solidFill>
              <a:effectLst/>
              <a:latin typeface="Helvetica Neue"/>
            </a:endParaRPr>
          </a:p>
          <a:p>
            <a:r>
              <a:rPr lang="zh-CN" altLang="en-US" b="0" i="0" dirty="0">
                <a:solidFill>
                  <a:srgbClr val="121212"/>
                </a:solidFill>
                <a:effectLst/>
                <a:latin typeface="-apple-system"/>
              </a:rPr>
              <a:t>数字字面量是不可变的（不可更改）。数字字面量可以属于</a:t>
            </a:r>
            <a:r>
              <a:rPr lang="en-US" altLang="zh-CN" b="0" i="0" dirty="0">
                <a:solidFill>
                  <a:srgbClr val="121212"/>
                </a:solidFill>
                <a:effectLst/>
                <a:latin typeface="-apple-system"/>
              </a:rPr>
              <a:t>3</a:t>
            </a:r>
            <a:r>
              <a:rPr lang="zh-CN" altLang="en-US" b="0" i="0" dirty="0">
                <a:solidFill>
                  <a:srgbClr val="121212"/>
                </a:solidFill>
                <a:effectLst/>
                <a:latin typeface="-apple-system"/>
              </a:rPr>
              <a:t>种不同的数值类型：</a:t>
            </a:r>
            <a:r>
              <a:rPr lang="en-US" altLang="zh-CN" b="0" i="0" dirty="0">
                <a:solidFill>
                  <a:srgbClr val="121212"/>
                </a:solidFill>
                <a:effectLst/>
                <a:latin typeface="-apple-system"/>
              </a:rPr>
              <a:t>Integer</a:t>
            </a:r>
            <a:r>
              <a:rPr lang="zh-CN" altLang="en-US" b="0" i="0" dirty="0">
                <a:solidFill>
                  <a:srgbClr val="121212"/>
                </a:solidFill>
                <a:effectLst/>
                <a:latin typeface="-apple-system"/>
              </a:rPr>
              <a:t>，</a:t>
            </a:r>
            <a:r>
              <a:rPr lang="en-US" altLang="zh-CN" b="0" i="0" dirty="0">
                <a:solidFill>
                  <a:srgbClr val="121212"/>
                </a:solidFill>
                <a:effectLst/>
                <a:latin typeface="-apple-system"/>
              </a:rPr>
              <a:t>Float </a:t>
            </a:r>
            <a:r>
              <a:rPr lang="zh-CN" altLang="en-US" b="0" i="0" dirty="0">
                <a:solidFill>
                  <a:srgbClr val="121212"/>
                </a:solidFill>
                <a:effectLst/>
                <a:latin typeface="-apple-system"/>
              </a:rPr>
              <a:t>和 </a:t>
            </a:r>
            <a:r>
              <a:rPr lang="en-US" altLang="zh-CN" b="0" i="0" dirty="0">
                <a:solidFill>
                  <a:srgbClr val="121212"/>
                </a:solidFill>
                <a:effectLst/>
                <a:latin typeface="-apple-system"/>
              </a:rPr>
              <a:t>Complex</a:t>
            </a:r>
            <a:r>
              <a:rPr lang="zh-CN" altLang="en-US" b="0" i="0" dirty="0">
                <a:solidFill>
                  <a:srgbClr val="121212"/>
                </a:solidFill>
                <a:effectLst/>
                <a:latin typeface="-apple-system"/>
              </a:rPr>
              <a:t>。</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13</a:t>
            </a:fld>
            <a:endParaRPr lang="zh-CN" altLang="en-US"/>
          </a:p>
        </p:txBody>
      </p:sp>
    </p:spTree>
    <p:extLst>
      <p:ext uri="{BB962C8B-B14F-4D97-AF65-F5344CB8AC3E}">
        <p14:creationId xmlns:p14="http://schemas.microsoft.com/office/powerpoint/2010/main" val="1642976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0070C0"/>
                </a:solidFill>
                <a:latin typeface="微软雅黑" panose="020B0503020204020204" pitchFamily="34" charset="-122"/>
                <a:ea typeface="微软雅黑" panose="020B0503020204020204" pitchFamily="34" charset="-122"/>
              </a:rPr>
              <a:t>整型字面值以标准形式表示，有符号整数类型取决于计算机系统二进制位数</a:t>
            </a:r>
            <a:endParaRPr lang="en-US" altLang="zh-CN" b="1" dirty="0">
              <a:solidFill>
                <a:srgbClr val="0070C0"/>
              </a:solidFill>
              <a:latin typeface="微软雅黑" panose="020B0503020204020204" pitchFamily="34" charset="-122"/>
              <a:ea typeface="微软雅黑" panose="020B0503020204020204" pitchFamily="34" charset="-122"/>
            </a:endParaRPr>
          </a:p>
          <a:p>
            <a:endParaRPr lang="en-US" altLang="zh-CN" b="0" i="0" dirty="0">
              <a:solidFill>
                <a:srgbClr val="CC0000"/>
              </a:solidFill>
              <a:effectLst/>
              <a:latin typeface="Arial" panose="020B0604020202020204" pitchFamily="34" charset="0"/>
            </a:endParaRPr>
          </a:p>
          <a:p>
            <a:r>
              <a:rPr lang="zh-CN" altLang="en-US" b="0" i="0" dirty="0">
                <a:solidFill>
                  <a:srgbClr val="CC0000"/>
                </a:solidFill>
                <a:effectLst/>
                <a:latin typeface="Arial" panose="020B0604020202020204" pitchFamily="34" charset="0"/>
              </a:rPr>
              <a:t> </a:t>
            </a:r>
            <a:endParaRPr lang="en-US" altLang="zh-CN" b="0" i="0" dirty="0">
              <a:solidFill>
                <a:srgbClr val="CC0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a:solidFill>
                  <a:srgbClr val="FFFF00"/>
                </a:solidFill>
                <a:latin typeface="Times New Roman" panose="02020603050405020304" pitchFamily="18" charset="0"/>
              </a:rPr>
              <a:t>MATLAB</a:t>
            </a:r>
            <a:r>
              <a:rPr lang="zh-CN" altLang="en-US" sz="1200" b="1" dirty="0">
                <a:solidFill>
                  <a:srgbClr val="FFFF00"/>
                </a:solidFill>
                <a:latin typeface="Times New Roman" panose="02020603050405020304" pitchFamily="18" charset="0"/>
              </a:rPr>
              <a:t>窗口敲入整数为浮点数，需转化函数生成整数</a:t>
            </a:r>
            <a:endParaRPr lang="en-US" altLang="zh-CN" sz="1200" b="1" dirty="0">
              <a:solidFill>
                <a:srgbClr val="FFFF00"/>
              </a:solidFill>
              <a:latin typeface="Times New Roman" panose="02020603050405020304" pitchFamily="18" charset="0"/>
            </a:endParaRPr>
          </a:p>
          <a:p>
            <a:r>
              <a:rPr lang="en-US" altLang="zh-CN" b="0" i="0" dirty="0">
                <a:solidFill>
                  <a:srgbClr val="CC0000"/>
                </a:solidFill>
                <a:effectLst/>
                <a:latin typeface="Arial" panose="020B0604020202020204" pitchFamily="34" charset="0"/>
              </a:rPr>
              <a:t>bool</a:t>
            </a:r>
            <a:r>
              <a:rPr lang="zh-CN" altLang="en-US" b="0" i="0" dirty="0">
                <a:solidFill>
                  <a:srgbClr val="111111"/>
                </a:solidFill>
                <a:effectLst/>
                <a:latin typeface="Arial" panose="020B0604020202020204" pitchFamily="34" charset="0"/>
              </a:rPr>
              <a:t> 类是 </a:t>
            </a:r>
            <a:r>
              <a:rPr lang="en-US" altLang="zh-CN" b="0" i="0" dirty="0">
                <a:solidFill>
                  <a:srgbClr val="111111"/>
                </a:solidFill>
                <a:effectLst/>
                <a:latin typeface="Arial" panose="020B0604020202020204" pitchFamily="34" charset="0"/>
              </a:rPr>
              <a:t>int </a:t>
            </a:r>
            <a:r>
              <a:rPr lang="zh-CN" altLang="en-US" b="0" i="0" dirty="0">
                <a:solidFill>
                  <a:srgbClr val="111111"/>
                </a:solidFill>
                <a:effectLst/>
                <a:latin typeface="Arial" panose="020B0604020202020204" pitchFamily="34" charset="0"/>
              </a:rPr>
              <a:t>类的子类。</a:t>
            </a:r>
            <a:r>
              <a:rPr lang="zh-CN" altLang="en-US" b="0" i="0" dirty="0">
                <a:solidFill>
                  <a:srgbClr val="CC0000"/>
                </a:solidFill>
                <a:effectLst/>
                <a:latin typeface="Arial" panose="020B0604020202020204" pitchFamily="34" charset="0"/>
              </a:rPr>
              <a:t> 布尔类型提供了两个布尔值来表示真（对）或假（错）</a:t>
            </a:r>
            <a:endParaRPr lang="en-US" altLang="zh-CN" b="0" i="0" dirty="0">
              <a:solidFill>
                <a:srgbClr val="CC0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整数类型取决于计算机系统二进制位数</a:t>
            </a:r>
            <a:endParaRPr lang="en-US" altLang="zh-CN"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kern="1200" dirty="0">
                <a:solidFill>
                  <a:srgbClr val="FFFF00"/>
                </a:solidFill>
                <a:latin typeface="Helvetica Neue"/>
                <a:ea typeface="宋体" charset="-122"/>
              </a:rPr>
              <a:t>默认有符号整数位数取决与当前使用计算机系统的位数，一般为</a:t>
            </a:r>
            <a:r>
              <a:rPr lang="en-US" altLang="zh-CN" sz="1200" b="1" kern="1200" dirty="0">
                <a:solidFill>
                  <a:srgbClr val="FFFF00"/>
                </a:solidFill>
                <a:latin typeface="Helvetica Neue"/>
                <a:ea typeface="宋体" charset="-122"/>
              </a:rPr>
              <a:t>64</a:t>
            </a:r>
            <a:r>
              <a:rPr lang="zh-CN" altLang="en-US" sz="1200" b="1" kern="1200" dirty="0">
                <a:solidFill>
                  <a:srgbClr val="FFFF00"/>
                </a:solidFill>
                <a:latin typeface="Helvetica Neue"/>
                <a:ea typeface="宋体" charset="-122"/>
              </a:rPr>
              <a:t>位</a:t>
            </a:r>
            <a:endParaRPr lang="en-US" altLang="zh-CN" sz="1200" b="1" kern="1200" dirty="0">
              <a:solidFill>
                <a:srgbClr val="FFFF00"/>
              </a:solidFill>
              <a:latin typeface="Helvetica Neue"/>
              <a:ea typeface="宋体"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mn-lt"/>
                <a:ea typeface="+mn-ea"/>
                <a:cs typeface="+mn-cs"/>
              </a:rPr>
              <a:t>彩色图像，也称为</a:t>
            </a:r>
            <a:r>
              <a:rPr lang="en-US" altLang="zh-CN" sz="1200" b="0" i="0" kern="1200" dirty="0">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图像，使用红（</a:t>
            </a:r>
            <a:r>
              <a:rPr lang="en-US" altLang="zh-CN" sz="1200" b="0" i="0" kern="1200" dirty="0">
                <a:solidFill>
                  <a:schemeClr val="tx1"/>
                </a:solidFill>
                <a:effectLst/>
                <a:latin typeface="+mn-lt"/>
                <a:ea typeface="+mn-ea"/>
                <a:cs typeface="+mn-cs"/>
              </a:rPr>
              <a:t>R</a:t>
            </a:r>
            <a:r>
              <a:rPr lang="zh-CN" altLang="en-US" sz="1200" b="0" i="0" kern="1200" dirty="0">
                <a:solidFill>
                  <a:schemeClr val="tx1"/>
                </a:solidFill>
                <a:effectLst/>
                <a:latin typeface="+mn-lt"/>
                <a:ea typeface="+mn-ea"/>
                <a:cs typeface="+mn-cs"/>
              </a:rPr>
              <a:t>）、绿（</a:t>
            </a:r>
            <a:r>
              <a:rPr lang="en-US" altLang="zh-CN" sz="1200" b="0" i="0" kern="1200" dirty="0">
                <a:solidFill>
                  <a:schemeClr val="tx1"/>
                </a:solidFill>
                <a:effectLst/>
                <a:latin typeface="+mn-lt"/>
                <a:ea typeface="+mn-ea"/>
                <a:cs typeface="+mn-cs"/>
              </a:rPr>
              <a:t>G</a:t>
            </a:r>
            <a:r>
              <a:rPr lang="zh-CN" altLang="en-US" sz="1200" b="0" i="0" kern="1200" dirty="0">
                <a:solidFill>
                  <a:schemeClr val="tx1"/>
                </a:solidFill>
                <a:effectLst/>
                <a:latin typeface="+mn-lt"/>
                <a:ea typeface="+mn-ea"/>
                <a:cs typeface="+mn-cs"/>
              </a:rPr>
              <a:t>）、蓝（</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）三个通道的颜色信息来描述每个像素的颜色。 每个通道的取值范围通常为</a:t>
            </a:r>
            <a:r>
              <a:rPr lang="en-US" altLang="zh-CN" sz="1200" b="1" i="0" kern="1200" dirty="0">
                <a:solidFill>
                  <a:schemeClr val="tx1"/>
                </a:solidFill>
                <a:effectLst/>
                <a:latin typeface="+mn-lt"/>
                <a:ea typeface="+mn-ea"/>
                <a:cs typeface="+mn-cs"/>
              </a:rPr>
              <a:t>0-255</a:t>
            </a:r>
            <a:r>
              <a:rPr lang="zh-CN" altLang="en-US" sz="1200" b="0" i="0" kern="1200" dirty="0">
                <a:solidFill>
                  <a:schemeClr val="tx1"/>
                </a:solidFill>
                <a:effectLst/>
                <a:latin typeface="+mn-lt"/>
                <a:ea typeface="+mn-ea"/>
                <a:cs typeface="+mn-cs"/>
              </a:rPr>
              <a:t>，这意味着每个像素点可以由三个</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位无符号整数表示，总共可以表示约</a:t>
            </a:r>
            <a:r>
              <a:rPr lang="en-US" altLang="zh-CN" sz="1200" b="0" i="0" kern="1200" dirty="0">
                <a:solidFill>
                  <a:schemeClr val="tx1"/>
                </a:solidFill>
                <a:effectLst/>
                <a:latin typeface="+mn-lt"/>
                <a:ea typeface="+mn-ea"/>
                <a:cs typeface="+mn-cs"/>
              </a:rPr>
              <a:t>1677</a:t>
            </a:r>
            <a:r>
              <a:rPr lang="zh-CN" altLang="en-US" sz="1200" b="0" i="0" kern="1200" dirty="0">
                <a:solidFill>
                  <a:schemeClr val="tx1"/>
                </a:solidFill>
                <a:effectLst/>
                <a:latin typeface="+mn-lt"/>
                <a:ea typeface="+mn-ea"/>
                <a:cs typeface="+mn-cs"/>
              </a:rPr>
              <a:t>万种颜色，也即真彩色。</a:t>
            </a:r>
            <a:endParaRPr lang="zh-CN" altLang="en-US" sz="1200" b="1" kern="1200" dirty="0">
              <a:solidFill>
                <a:srgbClr val="FFFF00"/>
              </a:solidFill>
              <a:latin typeface="Helvetica Neue"/>
              <a:ea typeface="宋体"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14</a:t>
            </a:fld>
            <a:endParaRPr lang="zh-CN" altLang="en-US"/>
          </a:p>
        </p:txBody>
      </p:sp>
    </p:spTree>
    <p:extLst>
      <p:ext uri="{BB962C8B-B14F-4D97-AF65-F5344CB8AC3E}">
        <p14:creationId xmlns:p14="http://schemas.microsoft.com/office/powerpoint/2010/main" val="1558063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15</a:t>
            </a:fld>
            <a:endParaRPr lang="zh-CN" altLang="en-US"/>
          </a:p>
        </p:txBody>
      </p:sp>
    </p:spTree>
    <p:extLst>
      <p:ext uri="{BB962C8B-B14F-4D97-AF65-F5344CB8AC3E}">
        <p14:creationId xmlns:p14="http://schemas.microsoft.com/office/powerpoint/2010/main" val="243433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rtl="0" eaLnBrk="1" fontAlgn="ctr" latinLnBrk="0" hangingPunct="1">
              <a:spcBef>
                <a:spcPts val="0"/>
              </a:spcBef>
              <a:spcAft>
                <a:spcPts val="0"/>
              </a:spcAft>
            </a:pPr>
            <a:r>
              <a:rPr lang="zh-CN" altLang="zh-CN" sz="1800" b="0" i="0" u="none" strike="noStrike" kern="1200" dirty="0">
                <a:solidFill>
                  <a:srgbClr val="000000"/>
                </a:solidFill>
                <a:effectLst/>
                <a:latin typeface="Arial" panose="020B0604020202020204" pitchFamily="34" charset="0"/>
              </a:rPr>
              <a:t>空值（</a:t>
            </a:r>
            <a:r>
              <a:rPr lang="en-US" altLang="zh-CN" sz="1800" b="0" i="0" u="none" strike="noStrike" kern="1200" dirty="0" err="1">
                <a:solidFill>
                  <a:srgbClr val="000000"/>
                </a:solidFill>
                <a:effectLst/>
                <a:latin typeface="Arial" panose="020B0604020202020204" pitchFamily="34" charset="0"/>
              </a:rPr>
              <a:t>Null）nothing</a:t>
            </a:r>
            <a:r>
              <a:rPr lang="zh-CN" altLang="en-US" sz="1800" b="0" i="0" u="none" strike="noStrike" kern="1200" dirty="0">
                <a:solidFill>
                  <a:srgbClr val="000000"/>
                </a:solidFill>
                <a:effectLst/>
                <a:latin typeface="Arial" panose="020B0604020202020204" pitchFamily="34" charset="0"/>
              </a:rPr>
              <a:t>和</a:t>
            </a:r>
            <a:endParaRPr lang="en-US" altLang="zh-CN" sz="1800" b="0" i="0" u="none" strike="noStrike" kern="1200" dirty="0">
              <a:solidFill>
                <a:srgbClr val="000000"/>
              </a:solidFill>
              <a:effectLst/>
              <a:latin typeface="Arial" panose="020B0604020202020204" pitchFamily="34" charset="0"/>
            </a:endParaRPr>
          </a:p>
          <a:p>
            <a:pPr marL="0" algn="l" rtl="0" eaLnBrk="1" fontAlgn="ctr" latinLnBrk="0" hangingPunct="1">
              <a:spcBef>
                <a:spcPts val="0"/>
              </a:spcBef>
              <a:spcAft>
                <a:spcPts val="0"/>
              </a:spcAft>
            </a:pPr>
            <a:r>
              <a:rPr lang="zh-CN" altLang="zh-CN" sz="1800" b="0" i="0" u="none" strike="noStrike" kern="1200" dirty="0">
                <a:solidFill>
                  <a:srgbClr val="000000"/>
                </a:solidFill>
                <a:effectLst/>
                <a:latin typeface="Arial" panose="020B0604020202020204" pitchFamily="34" charset="0"/>
              </a:rPr>
              <a:t>缺失数据</a:t>
            </a:r>
            <a:r>
              <a:rPr lang="en-US" altLang="zh-CN" sz="1800" b="0" i="0" u="none" strike="noStrike" kern="1200" dirty="0">
                <a:solidFill>
                  <a:srgbClr val="000000"/>
                </a:solidFill>
                <a:effectLst/>
                <a:latin typeface="Arial" panose="020B0604020202020204" pitchFamily="34" charset="0"/>
              </a:rPr>
              <a:t>missing</a:t>
            </a:r>
          </a:p>
          <a:p>
            <a:pPr marL="0" algn="l" rtl="0" eaLnBrk="1" fontAlgn="ctr" latinLnBrk="0" hangingPunct="1">
              <a:spcBef>
                <a:spcPts val="0"/>
              </a:spcBef>
              <a:spcAft>
                <a:spcPts val="0"/>
              </a:spcAft>
            </a:pPr>
            <a:r>
              <a:rPr lang="en-US" altLang="zh-CN" sz="1800" b="0" i="0" u="none" strike="noStrike" kern="1200" dirty="0" err="1">
                <a:solidFill>
                  <a:srgbClr val="000000"/>
                </a:solidFill>
                <a:effectLst/>
                <a:latin typeface="Arial" panose="020B0604020202020204" pitchFamily="34" charset="0"/>
              </a:rPr>
              <a:t>matlab</a:t>
            </a:r>
            <a:endParaRPr lang="en-US" altLang="zh-CN" sz="1800" b="0" i="0" u="none" strike="noStrike" kern="1200" dirty="0">
              <a:solidFill>
                <a:srgbClr val="000000"/>
              </a:solidFill>
              <a:effectLst/>
              <a:latin typeface="Arial" panose="020B0604020202020204" pitchFamily="34" charset="0"/>
            </a:endParaRPr>
          </a:p>
          <a:p>
            <a:pPr algn="l">
              <a:buFont typeface="Arial" panose="020B0604020202020204" pitchFamily="34" charset="0"/>
              <a:buChar char="•"/>
            </a:pPr>
            <a:r>
              <a:rPr lang="en-US" altLang="zh-CN" sz="2800" b="0" i="0" dirty="0">
                <a:solidFill>
                  <a:srgbClr val="404040"/>
                </a:solidFill>
                <a:effectLst/>
                <a:latin typeface="Inter"/>
              </a:rPr>
              <a:t>inf </a:t>
            </a:r>
            <a:r>
              <a:rPr lang="zh-CN" altLang="en-US" sz="2800" b="0" i="0" dirty="0">
                <a:solidFill>
                  <a:srgbClr val="404040"/>
                </a:solidFill>
                <a:effectLst/>
                <a:latin typeface="Inter"/>
              </a:rPr>
              <a:t>默认是双精度。</a:t>
            </a:r>
          </a:p>
          <a:p>
            <a:pPr algn="l">
              <a:buFont typeface="Arial" panose="020B0604020202020204" pitchFamily="34" charset="0"/>
              <a:buChar char="•"/>
            </a:pPr>
            <a:r>
              <a:rPr lang="en-US" altLang="zh-CN" sz="2800" b="0" i="0" dirty="0">
                <a:solidFill>
                  <a:srgbClr val="404040"/>
                </a:solidFill>
                <a:effectLst/>
                <a:latin typeface="Inter"/>
              </a:rPr>
              <a:t>single(inf) </a:t>
            </a:r>
            <a:r>
              <a:rPr lang="zh-CN" altLang="en-US" sz="2800" b="0" i="0" dirty="0">
                <a:solidFill>
                  <a:srgbClr val="404040"/>
                </a:solidFill>
                <a:effectLst/>
                <a:latin typeface="Inter"/>
              </a:rPr>
              <a:t>是单精度无穷大。</a:t>
            </a:r>
          </a:p>
          <a:p>
            <a:pPr algn="l">
              <a:buFont typeface="Arial" panose="020B0604020202020204" pitchFamily="34" charset="0"/>
              <a:buChar char="•"/>
            </a:pPr>
            <a:r>
              <a:rPr lang="en-US" altLang="zh-CN" sz="2800" b="0" i="0" dirty="0">
                <a:solidFill>
                  <a:srgbClr val="404040"/>
                </a:solidFill>
                <a:effectLst/>
                <a:latin typeface="Inter"/>
              </a:rPr>
              <a:t>half(inf) </a:t>
            </a:r>
            <a:r>
              <a:rPr lang="zh-CN" altLang="en-US" sz="2800" b="0" i="0" dirty="0">
                <a:solidFill>
                  <a:srgbClr val="404040"/>
                </a:solidFill>
                <a:effectLst/>
                <a:latin typeface="Inter"/>
              </a:rPr>
              <a:t>是半精度无穷大，但实际存储时会转换为双精度</a:t>
            </a:r>
          </a:p>
          <a:p>
            <a:pPr marL="0" algn="l" rtl="0" eaLnBrk="1" fontAlgn="ctr" latinLnBrk="0" hangingPunct="1">
              <a:spcBef>
                <a:spcPts val="0"/>
              </a:spcBef>
              <a:spcAft>
                <a:spcPts val="0"/>
              </a:spcAft>
            </a:pPr>
            <a:endParaRPr lang="zh-CN" altLang="zh-CN" sz="1800" b="0" i="0" u="none" strike="noStrike" dirty="0">
              <a:effectLst/>
              <a:latin typeface="Arial" panose="020B0604020202020204" pitchFamily="34" charset="0"/>
            </a:endParaRPr>
          </a:p>
          <a:p>
            <a:pPr marL="0" algn="l" rtl="0" eaLnBrk="1" fontAlgn="ctr" latinLnBrk="0" hangingPunct="1">
              <a:spcBef>
                <a:spcPts val="0"/>
              </a:spcBef>
              <a:spcAft>
                <a:spcPts val="0"/>
              </a:spcAft>
            </a:pPr>
            <a:endParaRPr lang="zh-CN" altLang="zh-CN" sz="1800" b="0" i="0" u="none" strike="noStrike" dirty="0">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16</a:t>
            </a:fld>
            <a:endParaRPr lang="zh-CN" altLang="en-US"/>
          </a:p>
        </p:txBody>
      </p:sp>
    </p:spTree>
    <p:extLst>
      <p:ext uri="{BB962C8B-B14F-4D97-AF65-F5344CB8AC3E}">
        <p14:creationId xmlns:p14="http://schemas.microsoft.com/office/powerpoint/2010/main" val="2534265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生成</a:t>
            </a:r>
            <a:r>
              <a:rPr lang="en-US" altLang="zh-CN" sz="1200" b="0" dirty="0">
                <a:solidFill>
                  <a:srgbClr val="008000"/>
                </a:solidFill>
                <a:effectLst/>
                <a:latin typeface="Consolas" panose="020B0609020204030204" pitchFamily="49" charset="0"/>
              </a:rPr>
              <a:t>x</a:t>
            </a:r>
            <a:r>
              <a:rPr lang="zh-CN" altLang="en-US" sz="1200" b="0" dirty="0">
                <a:solidFill>
                  <a:srgbClr val="008000"/>
                </a:solidFill>
                <a:effectLst/>
                <a:latin typeface="Consolas" panose="020B0609020204030204" pitchFamily="49" charset="0"/>
              </a:rPr>
              <a:t>和</a:t>
            </a:r>
            <a:r>
              <a:rPr lang="en-US" altLang="zh-CN" sz="1200" b="0" dirty="0">
                <a:solidFill>
                  <a:srgbClr val="008000"/>
                </a:solidFill>
                <a:effectLst/>
                <a:latin typeface="Consolas" panose="020B0609020204030204" pitchFamily="49" charset="0"/>
              </a:rPr>
              <a:t>y</a:t>
            </a:r>
            <a:r>
              <a:rPr lang="zh-CN" altLang="en-US" sz="1200" b="0" dirty="0">
                <a:solidFill>
                  <a:srgbClr val="008000"/>
                </a:solidFill>
                <a:effectLst/>
                <a:latin typeface="Consolas" panose="020B0609020204030204" pitchFamily="49" charset="0"/>
              </a:rPr>
              <a:t>轴的网格矩阵</a:t>
            </a:r>
            <a:endParaRPr lang="zh-CN" altLang="en-US" sz="1200" b="0" dirty="0">
              <a:solidFill>
                <a:srgbClr val="000000"/>
              </a:solidFill>
              <a:effectLst/>
              <a:latin typeface="Consolas" panose="020B0609020204030204" pitchFamily="49" charset="0"/>
            </a:endParaRPr>
          </a:p>
          <a:p>
            <a:r>
              <a:rPr lang="en-US" altLang="zh-CN" sz="1200" b="0" dirty="0" err="1">
                <a:solidFill>
                  <a:srgbClr val="000000"/>
                </a:solidFill>
                <a:effectLst/>
                <a:latin typeface="Consolas" panose="020B0609020204030204" pitchFamily="49" charset="0"/>
              </a:rPr>
              <a:t>x,y</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meshgrid2</a:t>
            </a:r>
            <a:r>
              <a:rPr lang="en-US" altLang="zh-CN" sz="1200" b="0" dirty="0">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LinRange</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260</a:t>
            </a:r>
            <a:r>
              <a:rPr lang="en-US" altLang="zh-CN" sz="1200" b="0" dirty="0">
                <a:solidFill>
                  <a:srgbClr val="000000"/>
                </a:solidFill>
                <a:effectLst/>
                <a:latin typeface="Consolas" panose="020B0609020204030204" pitchFamily="49" charset="0"/>
              </a:rPr>
              <a:t>)); </a:t>
            </a:r>
          </a:p>
          <a:p>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根据表达式点运算计算网格矩阵</a:t>
            </a:r>
            <a:r>
              <a:rPr lang="en-US" altLang="zh-CN" sz="1200" b="0" dirty="0">
                <a:solidFill>
                  <a:srgbClr val="008000"/>
                </a:solidFill>
                <a:effectLst/>
                <a:latin typeface="Consolas" panose="020B0609020204030204" pitchFamily="49" charset="0"/>
              </a:rPr>
              <a:t>z   </a:t>
            </a:r>
            <a:endParaRPr lang="en-US" altLang="zh-CN" sz="1200" b="0" dirty="0">
              <a:solidFill>
                <a:srgbClr val="000000"/>
              </a:solidFill>
              <a:effectLst/>
              <a:latin typeface="Consolas" panose="020B0609020204030204" pitchFamily="49" charset="0"/>
            </a:endParaRPr>
          </a:p>
          <a:p>
            <a:r>
              <a:rPr lang="en-US" altLang="zh-CN" sz="1200" b="0" dirty="0">
                <a:solidFill>
                  <a:srgbClr val="008000"/>
                </a:solidFill>
                <a:effectLst/>
                <a:latin typeface="Consolas" panose="020B0609020204030204" pitchFamily="49" charset="0"/>
              </a:rPr>
              <a:t>#z(x,y)=cos(200/(3sqrt(x^2+y^2)))</a:t>
            </a:r>
            <a:endParaRPr lang="en-US" altLang="zh-CN" sz="1200" b="0" dirty="0">
              <a:solidFill>
                <a:srgbClr val="000000"/>
              </a:solidFill>
              <a:effectLst/>
              <a:latin typeface="Consolas" panose="020B0609020204030204" pitchFamily="49" charset="0"/>
            </a:endParaRPr>
          </a:p>
          <a:p>
            <a:r>
              <a:rPr lang="en-US" altLang="zh-CN" sz="1200" b="0" dirty="0">
                <a:solidFill>
                  <a:srgbClr val="795E26"/>
                </a:solidFill>
                <a:effectLst/>
                <a:latin typeface="Consolas" panose="020B0609020204030204" pitchFamily="49" charset="0"/>
              </a:rPr>
              <a:t>z</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cos</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200</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sqrt</a:t>
            </a:r>
            <a:r>
              <a:rPr lang="en-US" altLang="zh-CN" sz="1200" b="0" dirty="0">
                <a:solidFill>
                  <a:srgbClr val="000000"/>
                </a:solidFill>
                <a:effectLst/>
                <a:latin typeface="Consolas" panose="020B0609020204030204" pitchFamily="49" charset="0"/>
              </a:rPr>
              <a:t>(x^</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+y^</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a:t>
            </a:r>
          </a:p>
          <a:p>
            <a:r>
              <a:rPr lang="en-US" altLang="zh-CN" sz="1200" b="0" dirty="0" err="1">
                <a:solidFill>
                  <a:srgbClr val="000000"/>
                </a:solidFill>
                <a:effectLst/>
                <a:latin typeface="Consolas" panose="020B0609020204030204" pitchFamily="49" charset="0"/>
              </a:rPr>
              <a:t>zz</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z</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a:t>
            </a:r>
            <a:r>
              <a:rPr lang="en-US" altLang="zh-CN" sz="1200" b="0" dirty="0">
                <a:solidFill>
                  <a:srgbClr val="000000"/>
                </a:solidFill>
                <a:effectLst/>
                <a:latin typeface="Consolas" panose="020B0609020204030204" pitchFamily="49" charset="0"/>
              </a:rPr>
              <a:t>)</a:t>
            </a:r>
          </a:p>
          <a:p>
            <a:r>
              <a:rPr lang="en-US" altLang="zh-CN" sz="1200" b="0" dirty="0">
                <a:solidFill>
                  <a:srgbClr val="795E26"/>
                </a:solidFill>
                <a:effectLst/>
                <a:latin typeface="Consolas" panose="020B0609020204030204" pitchFamily="49" charset="0"/>
              </a:rPr>
              <a:t>contour</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x,y,zz</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等高线</a:t>
            </a:r>
            <a:endParaRPr lang="zh-CN" altLang="en-US" sz="1200"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18</a:t>
            </a:fld>
            <a:endParaRPr lang="zh-CN" altLang="en-US"/>
          </a:p>
        </p:txBody>
      </p:sp>
    </p:spTree>
    <p:extLst>
      <p:ext uri="{BB962C8B-B14F-4D97-AF65-F5344CB8AC3E}">
        <p14:creationId xmlns:p14="http://schemas.microsoft.com/office/powerpoint/2010/main" val="1453365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注意 </a:t>
            </a:r>
            <a:r>
              <a:rPr lang="en-US" altLang="zh-CN" dirty="0"/>
              <a:t>3/4im == 3/(4*</a:t>
            </a:r>
            <a:r>
              <a:rPr lang="en-US" altLang="zh-CN" dirty="0" err="1"/>
              <a:t>im</a:t>
            </a:r>
            <a:r>
              <a:rPr lang="en-US" altLang="zh-CN" dirty="0"/>
              <a:t>) == -(3/4*</a:t>
            </a:r>
            <a:r>
              <a:rPr lang="en-US" altLang="zh-CN" dirty="0" err="1"/>
              <a:t>im</a:t>
            </a:r>
            <a:r>
              <a:rPr lang="en-US" altLang="zh-CN" dirty="0"/>
              <a:t>)</a:t>
            </a:r>
            <a:r>
              <a:rPr lang="zh-CN" altLang="en-US" dirty="0"/>
              <a:t>，因为系数比除法的优先级更高。</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22</a:t>
            </a:fld>
            <a:endParaRPr lang="zh-CN" altLang="en-US"/>
          </a:p>
        </p:txBody>
      </p:sp>
    </p:spTree>
    <p:extLst>
      <p:ext uri="{BB962C8B-B14F-4D97-AF65-F5344CB8AC3E}">
        <p14:creationId xmlns:p14="http://schemas.microsoft.com/office/powerpoint/2010/main" val="4202676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de-DE" altLang="zh-CN" dirty="0"/>
              <a:t>julia&gt; 1+2//3im</a:t>
            </a:r>
          </a:p>
          <a:p>
            <a:r>
              <a:rPr lang="zh-CN" altLang="en-US" b="0" i="0" dirty="0">
                <a:solidFill>
                  <a:srgbClr val="2C3E50"/>
                </a:solidFill>
                <a:effectLst/>
                <a:latin typeface="-apple-system"/>
              </a:rPr>
              <a:t>创建有理数数组，表示形式为分数</a:t>
            </a:r>
            <a:endParaRPr lang="de-DE" altLang="zh-CN" dirty="0"/>
          </a:p>
          <a:p>
            <a:r>
              <a:rPr lang="de-DE" altLang="zh-CN" dirty="0"/>
              <a:t>1//1 - 2//3*im</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333333"/>
              </a:solidFill>
              <a:effectLst/>
              <a:latin typeface="Helvetica Neu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333333"/>
              </a:solidFill>
              <a:effectLst/>
              <a:latin typeface="Helvetica Neu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333333"/>
              </a:solidFill>
              <a:effectLst/>
              <a:latin typeface="Helvetica Neu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333333"/>
                </a:solidFill>
                <a:effectLst/>
                <a:latin typeface="Helvetica Neue"/>
              </a:rPr>
              <a:t>无理数的小数部分是无限不循环的数</a:t>
            </a:r>
            <a:endParaRPr lang="en-US" altLang="zh-CN" b="0" i="0" dirty="0">
              <a:solidFill>
                <a:srgbClr val="333333"/>
              </a:solidFill>
              <a:effectLst/>
              <a:latin typeface="Helvetica Neu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333333"/>
              </a:solidFill>
              <a:effectLst/>
              <a:latin typeface="Helvetica Neu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333333"/>
                </a:solidFill>
                <a:effectLst/>
                <a:latin typeface="Helvetica Neue"/>
              </a:rPr>
              <a:t>数学上，可以表达为两个整数比的数</a:t>
            </a:r>
            <a:r>
              <a:rPr lang="en-US" altLang="zh-CN" b="0" i="0" dirty="0">
                <a:solidFill>
                  <a:srgbClr val="333333"/>
                </a:solidFill>
                <a:effectLst/>
                <a:latin typeface="Helvetica Neue"/>
              </a:rPr>
              <a:t>(a/b)</a:t>
            </a:r>
            <a:r>
              <a:rPr lang="zh-CN" altLang="en-US" b="0" i="0" dirty="0">
                <a:solidFill>
                  <a:srgbClr val="333333"/>
                </a:solidFill>
                <a:effectLst/>
                <a:latin typeface="Helvetica Neue"/>
              </a:rPr>
              <a:t>被定义为有理数，例如，</a:t>
            </a:r>
            <a:r>
              <a:rPr lang="en-US" altLang="zh-CN" b="0" i="0" dirty="0">
                <a:solidFill>
                  <a:srgbClr val="333333"/>
                </a:solidFill>
                <a:effectLst/>
                <a:latin typeface="Helvetica Neue"/>
              </a:rPr>
              <a:t>0.75(</a:t>
            </a:r>
            <a:r>
              <a:rPr lang="zh-CN" altLang="en-US" b="0" i="0" dirty="0">
                <a:solidFill>
                  <a:srgbClr val="333333"/>
                </a:solidFill>
                <a:effectLst/>
                <a:latin typeface="Helvetica Neue"/>
              </a:rPr>
              <a:t>可被表达为</a:t>
            </a:r>
            <a:r>
              <a:rPr lang="en-US" altLang="zh-CN" b="0" i="0" dirty="0">
                <a:solidFill>
                  <a:srgbClr val="333333"/>
                </a:solidFill>
                <a:effectLst/>
                <a:latin typeface="Helvetica Neue"/>
              </a:rPr>
              <a:t>3/4)</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333333"/>
                </a:solidFill>
                <a:effectLst/>
                <a:latin typeface="Helvetica Neue"/>
              </a:rPr>
              <a:t>整数和分数统称为有理数。与有理数相对的是无理数，如</a:t>
            </a:r>
            <a:r>
              <a:rPr lang="en-US" altLang="zh-CN" b="0" i="0" dirty="0">
                <a:solidFill>
                  <a:srgbClr val="333333"/>
                </a:solidFill>
                <a:effectLst/>
                <a:latin typeface="Helvetica Neue"/>
              </a:rPr>
              <a:t>sqrt(2)</a:t>
            </a:r>
            <a:r>
              <a:rPr lang="zh-CN" altLang="en-US" b="0" i="0" dirty="0">
                <a:solidFill>
                  <a:srgbClr val="333333"/>
                </a:solidFill>
                <a:effectLst/>
                <a:latin typeface="Helvetica Neue"/>
              </a:rPr>
              <a:t>无法用整数比表示。</a:t>
            </a:r>
            <a:endParaRPr lang="en-US" altLang="zh-CN" b="0" i="0" dirty="0">
              <a:solidFill>
                <a:srgbClr val="333333"/>
              </a:solidFill>
              <a:effectLst/>
              <a:latin typeface="Helvetica Neue"/>
            </a:endParaRPr>
          </a:p>
          <a:p>
            <a:pPr>
              <a:lnSpc>
                <a:spcPct val="100000"/>
              </a:lnSpc>
              <a:spcBef>
                <a:spcPts val="0"/>
              </a:spcBef>
              <a:buNone/>
            </a:pPr>
            <a:r>
              <a:rPr lang="zh-CN" altLang="en-US" dirty="0"/>
              <a:t>分 数值的标准化分子和分母可以使用 </a:t>
            </a:r>
            <a:r>
              <a:rPr lang="en-US" altLang="zh-CN" dirty="0"/>
              <a:t>numerator </a:t>
            </a:r>
            <a:r>
              <a:rPr lang="zh-CN" altLang="en-US" dirty="0"/>
              <a:t>和 </a:t>
            </a:r>
            <a:r>
              <a:rPr lang="en-US" altLang="zh-CN" dirty="0"/>
              <a:t>denominator </a:t>
            </a:r>
            <a:r>
              <a:rPr lang="zh-CN" altLang="en-US" dirty="0"/>
              <a:t>函数得到： </a:t>
            </a:r>
            <a:endParaRPr lang="en-US" altLang="zh-CN" dirty="0"/>
          </a:p>
          <a:p>
            <a:pPr>
              <a:lnSpc>
                <a:spcPct val="100000"/>
              </a:lnSpc>
              <a:spcBef>
                <a:spcPts val="0"/>
              </a:spcBef>
              <a:buNone/>
            </a:pPr>
            <a:r>
              <a:rPr lang="en-US" altLang="zh-CN" dirty="0"/>
              <a:t>julia&gt; numerator(5//-15)</a:t>
            </a:r>
          </a:p>
          <a:p>
            <a:pPr>
              <a:lnSpc>
                <a:spcPct val="100000"/>
              </a:lnSpc>
              <a:spcBef>
                <a:spcPts val="0"/>
              </a:spcBef>
              <a:buNone/>
            </a:pPr>
            <a:r>
              <a:rPr lang="en-US" altLang="zh-CN" dirty="0"/>
              <a:t>-1</a:t>
            </a:r>
          </a:p>
          <a:p>
            <a:pPr>
              <a:lnSpc>
                <a:spcPct val="100000"/>
              </a:lnSpc>
              <a:spcBef>
                <a:spcPts val="0"/>
              </a:spcBef>
              <a:buNone/>
            </a:pPr>
            <a:r>
              <a:rPr lang="en-US" altLang="zh-CN" dirty="0"/>
              <a:t>julia&gt; denominator(5//-15)</a:t>
            </a:r>
          </a:p>
          <a:p>
            <a:pPr>
              <a:lnSpc>
                <a:spcPct val="100000"/>
              </a:lnSpc>
              <a:spcBef>
                <a:spcPts val="0"/>
              </a:spcBef>
              <a:buNone/>
            </a:pPr>
            <a:r>
              <a:rPr lang="en-US" altLang="zh-CN" dirty="0"/>
              <a:t>3</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23</a:t>
            </a:fld>
            <a:endParaRPr lang="zh-CN" altLang="en-US"/>
          </a:p>
        </p:txBody>
      </p:sp>
    </p:spTree>
    <p:extLst>
      <p:ext uri="{BB962C8B-B14F-4D97-AF65-F5344CB8AC3E}">
        <p14:creationId xmlns:p14="http://schemas.microsoft.com/office/powerpoint/2010/main" val="3078394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chemeClr val="bg1"/>
                </a:solidFill>
              </a:rPr>
              <a:t>字符串是由有限个字符组成的序列。而字符在英文中一般包括字母 </a:t>
            </a:r>
            <a:r>
              <a:rPr lang="en-US" altLang="zh-CN" dirty="0">
                <a:solidFill>
                  <a:schemeClr val="bg1"/>
                </a:solidFill>
              </a:rPr>
              <a:t>A,B, C </a:t>
            </a:r>
            <a:r>
              <a:rPr lang="zh-CN" altLang="en-US" dirty="0">
                <a:solidFill>
                  <a:schemeClr val="bg1"/>
                </a:solidFill>
              </a:rPr>
              <a:t>等、数字和常用的标点符 号。这些字符由 </a:t>
            </a:r>
            <a:r>
              <a:rPr lang="en-US" altLang="zh-CN" dirty="0">
                <a:solidFill>
                  <a:schemeClr val="bg1"/>
                </a:solidFill>
              </a:rPr>
              <a:t>ASCII </a:t>
            </a:r>
            <a:r>
              <a:rPr lang="zh-CN" altLang="en-US" dirty="0">
                <a:solidFill>
                  <a:schemeClr val="bg1"/>
                </a:solidFill>
              </a:rPr>
              <a:t>标准统一标准化并且与 </a:t>
            </a:r>
            <a:r>
              <a:rPr lang="en-US" altLang="zh-CN" dirty="0">
                <a:solidFill>
                  <a:schemeClr val="bg1"/>
                </a:solidFill>
              </a:rPr>
              <a:t>0 </a:t>
            </a:r>
            <a:r>
              <a:rPr lang="zh-CN" altLang="en-US" dirty="0">
                <a:solidFill>
                  <a:schemeClr val="bg1"/>
                </a:solidFill>
              </a:rPr>
              <a:t>到 </a:t>
            </a:r>
            <a:r>
              <a:rPr lang="en-US" altLang="zh-CN" dirty="0">
                <a:solidFill>
                  <a:schemeClr val="bg1"/>
                </a:solidFill>
              </a:rPr>
              <a:t>127 </a:t>
            </a:r>
            <a:r>
              <a:rPr lang="zh-CN" altLang="en-US" dirty="0">
                <a:solidFill>
                  <a:schemeClr val="bg1"/>
                </a:solidFill>
              </a:rPr>
              <a:t>范围内的整数一一对应。当然，还有很多非英 文字符，包括 </a:t>
            </a:r>
            <a:r>
              <a:rPr lang="en-US" altLang="zh-CN" dirty="0">
                <a:solidFill>
                  <a:schemeClr val="bg1"/>
                </a:solidFill>
              </a:rPr>
              <a:t>ASCII </a:t>
            </a:r>
            <a:r>
              <a:rPr lang="zh-CN" altLang="en-US" dirty="0">
                <a:solidFill>
                  <a:schemeClr val="bg1"/>
                </a:solidFill>
              </a:rPr>
              <a:t>字符在注音或其他方面的变体，例如西里尔字母和希腊字母，以及与 </a:t>
            </a:r>
            <a:r>
              <a:rPr lang="en-US" altLang="zh-CN" dirty="0">
                <a:solidFill>
                  <a:schemeClr val="bg1"/>
                </a:solidFill>
              </a:rPr>
              <a:t>ASCII </a:t>
            </a:r>
            <a:r>
              <a:rPr lang="zh-CN" altLang="en-US" dirty="0">
                <a:solidFill>
                  <a:schemeClr val="bg1"/>
                </a:solidFill>
              </a:rPr>
              <a:t>和英 文均完全无关的字母系统，包括阿拉伯语，中文，希伯来语，印度语，日本语，和韩语。</a:t>
            </a:r>
            <a:r>
              <a:rPr lang="en-US" altLang="zh-CN" dirty="0">
                <a:solidFill>
                  <a:schemeClr val="bg1"/>
                </a:solidFill>
              </a:rPr>
              <a:t>Unicode </a:t>
            </a:r>
            <a:r>
              <a:rPr lang="zh-CN" altLang="en-US" dirty="0">
                <a:solidFill>
                  <a:schemeClr val="bg1"/>
                </a:solidFill>
              </a:rPr>
              <a:t>标 准对这些复杂的字符做了统一的定义，是一种大家普遍接受标准。根据需求，写代码时可以忽略这 种复杂性而只处理 </a:t>
            </a:r>
            <a:r>
              <a:rPr lang="en-US" altLang="zh-CN" dirty="0">
                <a:solidFill>
                  <a:schemeClr val="bg1"/>
                </a:solidFill>
              </a:rPr>
              <a:t>ASCII </a:t>
            </a:r>
            <a:r>
              <a:rPr lang="zh-CN" altLang="en-US" dirty="0">
                <a:solidFill>
                  <a:schemeClr val="bg1"/>
                </a:solidFill>
              </a:rPr>
              <a:t>字符，也可针对可能出现的非 </a:t>
            </a:r>
            <a:r>
              <a:rPr lang="en-US" altLang="zh-CN" dirty="0">
                <a:solidFill>
                  <a:schemeClr val="bg1"/>
                </a:solidFill>
              </a:rPr>
              <a:t>ASCII </a:t>
            </a:r>
            <a:r>
              <a:rPr lang="zh-CN" altLang="en-US" dirty="0">
                <a:solidFill>
                  <a:schemeClr val="bg1"/>
                </a:solidFill>
              </a:rPr>
              <a:t>文本而处理所有的字符或编码。</a:t>
            </a:r>
            <a:r>
              <a:rPr lang="en-US" altLang="zh-CN" dirty="0">
                <a:solidFill>
                  <a:schemeClr val="bg1"/>
                </a:solidFill>
              </a:rPr>
              <a:t>Julia </a:t>
            </a:r>
            <a:r>
              <a:rPr lang="zh-CN" altLang="en-US" dirty="0">
                <a:solidFill>
                  <a:schemeClr val="bg1"/>
                </a:solidFill>
              </a:rPr>
              <a:t>可 以简单高效地处理纯粹的 </a:t>
            </a:r>
            <a:r>
              <a:rPr lang="en-US" altLang="zh-CN" dirty="0">
                <a:solidFill>
                  <a:schemeClr val="bg1"/>
                </a:solidFill>
              </a:rPr>
              <a:t>ASCII </a:t>
            </a:r>
            <a:r>
              <a:rPr lang="zh-CN" altLang="en-US" dirty="0">
                <a:solidFill>
                  <a:schemeClr val="bg1"/>
                </a:solidFill>
              </a:rPr>
              <a:t>文本以及 </a:t>
            </a:r>
            <a:r>
              <a:rPr lang="en-US" altLang="zh-CN" dirty="0">
                <a:solidFill>
                  <a:schemeClr val="bg1"/>
                </a:solidFill>
              </a:rPr>
              <a:t>Unicode </a:t>
            </a:r>
            <a:r>
              <a:rPr lang="zh-CN" altLang="en-US" dirty="0">
                <a:solidFill>
                  <a:schemeClr val="bg1"/>
                </a:solidFill>
              </a:rPr>
              <a:t>文本。甚至，在 </a:t>
            </a:r>
            <a:r>
              <a:rPr lang="en-US" altLang="zh-CN" dirty="0">
                <a:solidFill>
                  <a:schemeClr val="bg1"/>
                </a:solidFill>
              </a:rPr>
              <a:t>Julia </a:t>
            </a:r>
            <a:r>
              <a:rPr lang="zh-CN" altLang="en-US" dirty="0">
                <a:solidFill>
                  <a:schemeClr val="bg1"/>
                </a:solidFill>
              </a:rPr>
              <a:t>中用 </a:t>
            </a:r>
            <a:r>
              <a:rPr lang="en-US" altLang="zh-CN" dirty="0">
                <a:solidFill>
                  <a:schemeClr val="bg1"/>
                </a:solidFill>
              </a:rPr>
              <a:t>C </a:t>
            </a:r>
            <a:r>
              <a:rPr lang="zh-CN" altLang="en-US" dirty="0">
                <a:solidFill>
                  <a:schemeClr val="bg1"/>
                </a:solidFill>
              </a:rPr>
              <a:t>语言风格的代码来处理 </a:t>
            </a:r>
            <a:r>
              <a:rPr lang="en-US" altLang="zh-CN" dirty="0">
                <a:solidFill>
                  <a:schemeClr val="bg1"/>
                </a:solidFill>
              </a:rPr>
              <a:t>ASCII </a:t>
            </a:r>
            <a:r>
              <a:rPr lang="zh-CN" altLang="en-US" dirty="0">
                <a:solidFill>
                  <a:schemeClr val="bg1"/>
                </a:solidFill>
              </a:rPr>
              <a:t>字符串，可以在不失性能和易读性的前提下达到预期效果。当遇到非 </a:t>
            </a:r>
            <a:r>
              <a:rPr lang="en-US" altLang="zh-CN" dirty="0">
                <a:solidFill>
                  <a:schemeClr val="bg1"/>
                </a:solidFill>
              </a:rPr>
              <a:t>ASCII </a:t>
            </a:r>
            <a:r>
              <a:rPr lang="zh-CN" altLang="en-US" dirty="0">
                <a:solidFill>
                  <a:schemeClr val="bg1"/>
                </a:solidFill>
              </a:rPr>
              <a:t>文本时，</a:t>
            </a:r>
            <a:r>
              <a:rPr lang="en-US" altLang="zh-CN" dirty="0">
                <a:solidFill>
                  <a:schemeClr val="bg1"/>
                </a:solidFill>
              </a:rPr>
              <a:t>Julia </a:t>
            </a:r>
            <a:r>
              <a:rPr lang="zh-CN" altLang="en-US" dirty="0">
                <a:solidFill>
                  <a:schemeClr val="bg1"/>
                </a:solidFill>
              </a:rPr>
              <a:t>会优 雅明确地提示错误信息而不是引入乱码。这时，直接修改代码使其可以处理非 </a:t>
            </a:r>
            <a:r>
              <a:rPr lang="en-US" altLang="zh-CN" dirty="0">
                <a:solidFill>
                  <a:schemeClr val="bg1"/>
                </a:solidFill>
              </a:rPr>
              <a:t>ASCII </a:t>
            </a:r>
            <a:r>
              <a:rPr lang="zh-CN" altLang="en-US" dirty="0">
                <a:solidFill>
                  <a:schemeClr val="bg1"/>
                </a:solidFill>
              </a:rPr>
              <a:t>数据即可。</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a:t>用</a:t>
            </a:r>
            <a:r>
              <a:rPr lang="en-US" altLang="zh-CN" sz="1200" kern="0" dirty="0"/>
              <a:t>Char</a:t>
            </a:r>
            <a:r>
              <a:rPr lang="zh-CN" altLang="en-US" sz="1200" kern="0" dirty="0"/>
              <a:t>可以将整数型</a:t>
            </a:r>
            <a:r>
              <a:rPr lang="en-US" altLang="zh-CN" sz="1200" kern="0" dirty="0"/>
              <a:t>Unicode</a:t>
            </a:r>
            <a:r>
              <a:rPr lang="zh-CN" altLang="en-US" sz="1200" kern="0" dirty="0"/>
              <a:t>代码转化为字符或字符串</a:t>
            </a:r>
            <a:endParaRPr lang="en-US" altLang="zh-CN" sz="1200" kern="0"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25</a:t>
            </a:fld>
            <a:endParaRPr lang="zh-CN" altLang="en-US"/>
          </a:p>
        </p:txBody>
      </p:sp>
    </p:spTree>
    <p:extLst>
      <p:ext uri="{BB962C8B-B14F-4D97-AF65-F5344CB8AC3E}">
        <p14:creationId xmlns:p14="http://schemas.microsoft.com/office/powerpoint/2010/main" val="2161824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333333"/>
                </a:solidFill>
                <a:effectLst/>
                <a:latin typeface="Helvetica Neue"/>
              </a:rPr>
              <a:t>原始字符串字面量</a:t>
            </a:r>
          </a:p>
          <a:p>
            <a:pPr algn="l" latinLnBrk="1"/>
            <a:r>
              <a:rPr lang="zh-CN" altLang="en-US" b="0" i="0" dirty="0">
                <a:solidFill>
                  <a:srgbClr val="333333"/>
                </a:solidFill>
                <a:effectLst/>
                <a:latin typeface="Helvetica Neue"/>
              </a:rPr>
              <a:t>无插值和非转义的原始字符串可用 </a:t>
            </a:r>
            <a:r>
              <a:rPr lang="en-US" altLang="zh-CN" b="1" i="0" dirty="0">
                <a:solidFill>
                  <a:srgbClr val="333333"/>
                </a:solidFill>
                <a:effectLst/>
                <a:latin typeface="SFMono-Regular"/>
              </a:rPr>
              <a:t>raw"..."</a:t>
            </a:r>
            <a:r>
              <a:rPr lang="zh-CN" altLang="en-US" b="0" i="0" dirty="0">
                <a:solidFill>
                  <a:srgbClr val="333333"/>
                </a:solidFill>
                <a:effectLst/>
                <a:latin typeface="Helvetica Neue"/>
              </a:rPr>
              <a:t> 形式的非标准字符串字面量表示。原始字符串字面量生成普通的 </a:t>
            </a:r>
            <a:r>
              <a:rPr lang="en-US" altLang="zh-CN" b="0" i="0" dirty="0">
                <a:solidFill>
                  <a:srgbClr val="333333"/>
                </a:solidFill>
                <a:effectLst/>
                <a:latin typeface="Helvetica Neue"/>
              </a:rPr>
              <a:t>String </a:t>
            </a:r>
            <a:r>
              <a:rPr lang="zh-CN" altLang="en-US" b="0" i="0" dirty="0">
                <a:solidFill>
                  <a:srgbClr val="333333"/>
                </a:solidFill>
                <a:effectLst/>
                <a:latin typeface="Helvetica Neue"/>
              </a:rPr>
              <a:t>对象，它无需插值和非转义地包含和输入完全一样的封闭式内容。这对于包含其他语言中使用 </a:t>
            </a:r>
            <a:r>
              <a:rPr lang="en-US" altLang="zh-CN" b="1" i="0" dirty="0">
                <a:solidFill>
                  <a:srgbClr val="333333"/>
                </a:solidFill>
                <a:effectLst/>
                <a:latin typeface="SFMono-Regular"/>
              </a:rPr>
              <a:t>"</a:t>
            </a:r>
            <a:r>
              <a:rPr lang="zh-CN" altLang="en-US" b="0" i="0" dirty="0">
                <a:solidFill>
                  <a:srgbClr val="333333"/>
                </a:solidFill>
                <a:effectLst/>
                <a:latin typeface="Helvetica Neue"/>
              </a:rPr>
              <a:t> 或 </a:t>
            </a:r>
            <a:r>
              <a:rPr lang="en-US" altLang="zh-CN" b="1" i="0" dirty="0">
                <a:solidFill>
                  <a:srgbClr val="333333"/>
                </a:solidFill>
                <a:effectLst/>
                <a:latin typeface="SFMono-Regular"/>
              </a:rPr>
              <a:t>\"</a:t>
            </a:r>
            <a:r>
              <a:rPr lang="zh-CN" altLang="en-US" b="0" i="0" dirty="0">
                <a:solidFill>
                  <a:srgbClr val="333333"/>
                </a:solidFill>
                <a:effectLst/>
                <a:latin typeface="Helvetica Neue"/>
              </a:rPr>
              <a:t> 作为特殊字符的代码或标记的字符串很有用。</a:t>
            </a:r>
          </a:p>
          <a:p>
            <a:pPr algn="l" latinLnBrk="1"/>
            <a:r>
              <a:rPr lang="zh-CN" altLang="en-US" b="0" i="0" dirty="0">
                <a:solidFill>
                  <a:srgbClr val="333333"/>
                </a:solidFill>
                <a:effectLst/>
                <a:latin typeface="Helvetica Neue"/>
              </a:rPr>
              <a:t>例外的是，引号仍必须转义，例如 </a:t>
            </a:r>
            <a:r>
              <a:rPr lang="en-US" altLang="zh-CN" b="1" i="0" dirty="0">
                <a:solidFill>
                  <a:srgbClr val="333333"/>
                </a:solidFill>
                <a:effectLst/>
                <a:latin typeface="SFMono-Regular"/>
              </a:rPr>
              <a:t>raw"\""</a:t>
            </a:r>
            <a:r>
              <a:rPr lang="zh-CN" altLang="en-US" b="0" i="0" dirty="0">
                <a:solidFill>
                  <a:srgbClr val="333333"/>
                </a:solidFill>
                <a:effectLst/>
                <a:latin typeface="Helvetica Neue"/>
              </a:rPr>
              <a:t> 等效于 </a:t>
            </a:r>
            <a:r>
              <a:rPr lang="en-US" altLang="zh-CN" b="1" i="0" dirty="0">
                <a:solidFill>
                  <a:srgbClr val="333333"/>
                </a:solidFill>
                <a:effectLst/>
                <a:latin typeface="SFMono-Regular"/>
              </a:rPr>
              <a:t>"\""</a:t>
            </a:r>
            <a:r>
              <a:rPr lang="zh-CN" altLang="en-US" b="0" i="0" dirty="0">
                <a:solidFill>
                  <a:srgbClr val="333333"/>
                </a:solidFill>
                <a:effectLst/>
                <a:latin typeface="Helvetica Neue"/>
              </a:rPr>
              <a:t>。为了能够表达所有字符串，反斜杠也必须转义，不过只是当它刚好出现在引号前面时。</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26</a:t>
            </a:fld>
            <a:endParaRPr lang="zh-CN" altLang="en-US"/>
          </a:p>
        </p:txBody>
      </p:sp>
    </p:spTree>
    <p:extLst>
      <p:ext uri="{BB962C8B-B14F-4D97-AF65-F5344CB8AC3E}">
        <p14:creationId xmlns:p14="http://schemas.microsoft.com/office/powerpoint/2010/main" val="11286564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dirty="0">
                <a:effectLst/>
                <a:latin typeface="-apple-system"/>
              </a:rPr>
              <a:t>及大小和类型 </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27</a:t>
            </a:fld>
            <a:endParaRPr lang="zh-CN" altLang="en-US"/>
          </a:p>
        </p:txBody>
      </p:sp>
    </p:spTree>
    <p:extLst>
      <p:ext uri="{BB962C8B-B14F-4D97-AF65-F5344CB8AC3E}">
        <p14:creationId xmlns:p14="http://schemas.microsoft.com/office/powerpoint/2010/main" val="362221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56630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8"/>
          <p:cNvSpPr>
            <a:spLocks noGrp="1" noChangeArrowheads="1"/>
          </p:cNvSpPr>
          <p:nvPr>
            <p:ph type="sldNum" sz="quarter" idx="10"/>
          </p:nvPr>
        </p:nvSpPr>
        <p:spPr>
          <a:ln/>
        </p:spPr>
        <p:txBody>
          <a:bodyPr/>
          <a:lstStyle>
            <a:lvl1pPr>
              <a:defRPr/>
            </a:lvl1pPr>
          </a:lstStyle>
          <a:p>
            <a:pPr>
              <a:defRPr/>
            </a:pPr>
            <a:fld id="{C6A839A6-78F6-48CF-87A6-6BD8E9022CF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30276" y="195486"/>
            <a:ext cx="7667625" cy="438150"/>
          </a:xfrm>
        </p:spPr>
        <p:txBody>
          <a:bodyPr/>
          <a:lstStyle>
            <a:lvl1pPr>
              <a:defRPr sz="3200" b="0">
                <a:solidFill>
                  <a:srgbClr val="002060"/>
                </a:solidFill>
                <a:latin typeface="华文楷体" panose="02010600040101010101" pitchFamily="2" charset="-122"/>
                <a:ea typeface="华文楷体"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673100" y="802481"/>
            <a:ext cx="6515100" cy="547842"/>
          </a:xfrm>
        </p:spPr>
        <p:txBody>
          <a:bodyPr/>
          <a:lstStyle>
            <a:lvl1pPr marL="1778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1pPr>
            <a:lvl2pPr marL="6350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2pPr>
            <a:lvl3pPr marL="10922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3pPr>
            <a:lvl4pPr marL="15494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4pPr>
            <a:lvl5pPr marL="20066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5pPr>
          </a:lstStyle>
          <a:p>
            <a:pPr lvl="0"/>
            <a:endParaRPr lang="zh-CN" altLang="en-US" dirty="0"/>
          </a:p>
        </p:txBody>
      </p:sp>
      <p:pic>
        <p:nvPicPr>
          <p:cNvPr id="5" name="Picture 11"/>
          <p:cNvPicPr>
            <a:picLocks noChangeAspect="1" noChangeArrowheads="1"/>
          </p:cNvPicPr>
          <p:nvPr userDrawn="1"/>
        </p:nvPicPr>
        <p:blipFill>
          <a:blip r:embed="rId2" cstate="print"/>
          <a:srcRect/>
          <a:stretch>
            <a:fillRect/>
          </a:stretch>
        </p:blipFill>
        <p:spPr bwMode="auto">
          <a:xfrm>
            <a:off x="359024" y="4726213"/>
            <a:ext cx="8784976" cy="417287"/>
          </a:xfrm>
          <a:prstGeom prst="rect">
            <a:avLst/>
          </a:prstGeom>
          <a:noFill/>
          <a:ln w="9525">
            <a:noFill/>
            <a:miter lim="800000"/>
            <a:headEnd/>
            <a:tailEnd/>
          </a:ln>
        </p:spPr>
      </p:pic>
      <p:cxnSp>
        <p:nvCxnSpPr>
          <p:cNvPr id="8" name="直接连接符 7">
            <a:extLst>
              <a:ext uri="{FF2B5EF4-FFF2-40B4-BE49-F238E27FC236}">
                <a16:creationId xmlns:a16="http://schemas.microsoft.com/office/drawing/2014/main" id="{76BB9768-376B-0637-C297-1B5D054A51BD}"/>
              </a:ext>
            </a:extLst>
          </p:cNvPr>
          <p:cNvCxnSpPr/>
          <p:nvPr userDrawn="1"/>
        </p:nvCxnSpPr>
        <p:spPr bwMode="auto">
          <a:xfrm>
            <a:off x="6626" y="4645735"/>
            <a:ext cx="9144000" cy="0"/>
          </a:xfrm>
          <a:prstGeom prst="line">
            <a:avLst/>
          </a:prstGeom>
          <a:ln w="19050">
            <a:solidFill>
              <a:srgbClr val="736303"/>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874288"/>
            <a:ext cx="7772400" cy="4308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8F1CB138-D962-4159-86D4-69744E72DFCB}"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7310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00685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82AC858E-3DCE-4D01-A80F-DEA7F14DD0EB}"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32559"/>
            <a:ext cx="4040188"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32559"/>
            <a:ext cx="4041775"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sldNum" sz="quarter" idx="10"/>
          </p:nvPr>
        </p:nvSpPr>
        <p:spPr>
          <a:ln/>
        </p:spPr>
        <p:txBody>
          <a:bodyPr/>
          <a:lstStyle>
            <a:lvl1pPr>
              <a:defRPr/>
            </a:lvl1pPr>
          </a:lstStyle>
          <a:p>
            <a:pPr>
              <a:defRPr/>
            </a:pPr>
            <a:fld id="{59E2ED9D-B9E8-4415-A1AA-A51EE65F1343}"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sldNum" sz="quarter" idx="10"/>
          </p:nvPr>
        </p:nvSpPr>
        <p:spPr>
          <a:ln/>
        </p:spPr>
        <p:txBody>
          <a:bodyPr/>
          <a:lstStyle>
            <a:lvl1pPr>
              <a:defRPr/>
            </a:lvl1pPr>
          </a:lstStyle>
          <a:p>
            <a:pPr>
              <a:defRPr/>
            </a:pPr>
            <a:fld id="{148DE395-C011-4FCA-B35B-9450E02CE85B}"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132BEE3A-E9D9-4E9F-BCF8-FFCE31090B4C}" type="slidenum">
              <a:rPr lang="zh-CN" altLang="en-US"/>
              <a:pPr>
                <a:defRPr/>
              </a:pPr>
              <a:t>‹#›</a:t>
            </a:fld>
            <a:endParaRPr lang="zh-CN" altLang="en-US"/>
          </a:p>
        </p:txBody>
      </p:sp>
      <p:pic>
        <p:nvPicPr>
          <p:cNvPr id="3" name="Picture 11"/>
          <p:cNvPicPr>
            <a:picLocks noChangeAspect="1" noChangeArrowheads="1"/>
          </p:cNvPicPr>
          <p:nvPr userDrawn="1"/>
        </p:nvPicPr>
        <p:blipFill>
          <a:blip r:embed="rId2" cstate="print"/>
          <a:srcRect/>
          <a:stretch>
            <a:fillRect/>
          </a:stretch>
        </p:blipFill>
        <p:spPr bwMode="auto">
          <a:xfrm>
            <a:off x="4300" y="4515966"/>
            <a:ext cx="9113837" cy="627534"/>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27330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E6FB4065-B1B7-4E06-9A01-41AE3A9EC04A}"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6340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4025503"/>
            <a:ext cx="5486400"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2428D4F1-5252-4CE3-8F75-35C51027C8D7}"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2331486" y="802481"/>
            <a:ext cx="4856714" cy="205594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87EE522D-DF1B-4BE4-9E38-6362FBF71D06}"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6700" y="250031"/>
            <a:ext cx="1981200" cy="195381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607586" y="250031"/>
            <a:ext cx="4856714" cy="195381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3F913E49-A68C-484C-9771-B00D1343D1B8}"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30276" y="250031"/>
            <a:ext cx="7667625" cy="438150"/>
          </a:xfrm>
        </p:spPr>
        <p:txBody>
          <a:bodyPr/>
          <a:lstStyle/>
          <a:p>
            <a:r>
              <a:rPr lang="zh-CN" altLang="en-US"/>
              <a:t>单击此处编辑母版标题样式</a:t>
            </a:r>
          </a:p>
        </p:txBody>
      </p:sp>
      <p:sp>
        <p:nvSpPr>
          <p:cNvPr id="3" name="表格占位符 2"/>
          <p:cNvSpPr>
            <a:spLocks noGrp="1"/>
          </p:cNvSpPr>
          <p:nvPr>
            <p:ph type="tbl" idx="1"/>
          </p:nvPr>
        </p:nvSpPr>
        <p:spPr>
          <a:xfrm>
            <a:off x="673100" y="802481"/>
            <a:ext cx="6515100" cy="566309"/>
          </a:xfrm>
        </p:spPr>
        <p:txBody>
          <a:bodyPr/>
          <a:lstStyle/>
          <a:p>
            <a:pPr lvl="0"/>
            <a:r>
              <a:rPr lang="zh-CN" altLang="en-US" noProof="0"/>
              <a:t>单击图标添加表格</a:t>
            </a:r>
          </a:p>
        </p:txBody>
      </p:sp>
      <p:sp>
        <p:nvSpPr>
          <p:cNvPr id="4" name="Rectangle 8"/>
          <p:cNvSpPr>
            <a:spLocks noGrp="1" noChangeArrowheads="1"/>
          </p:cNvSpPr>
          <p:nvPr>
            <p:ph type="sldNum" sz="quarter" idx="10"/>
          </p:nvPr>
        </p:nvSpPr>
        <p:spPr>
          <a:ln/>
        </p:spPr>
        <p:txBody>
          <a:bodyPr/>
          <a:lstStyle>
            <a:lvl1pPr>
              <a:defRPr/>
            </a:lvl1pPr>
          </a:lstStyle>
          <a:p>
            <a:pPr>
              <a:defRPr/>
            </a:pPr>
            <a:fld id="{53CA134C-C122-4DE6-ABA6-CD4CFACFA387}"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685800" y="42862"/>
            <a:ext cx="7772400" cy="614363"/>
          </a:xfrm>
          <a:prstGeom prst="rect">
            <a:avLst/>
          </a:prstGeom>
          <a:noFill/>
          <a:ln>
            <a:noFill/>
          </a:ln>
        </p:spPr>
        <p:txBody>
          <a:bodyPr lIns="90488" tIns="44450" rIns="90488" bIns="44450" anchor="b"/>
          <a:lstStyle/>
          <a:p>
            <a:pPr>
              <a:lnSpc>
                <a:spcPct val="85000"/>
              </a:lnSpc>
              <a:defRPr/>
            </a:pPr>
            <a:endParaRPr lang="zh-CN" altLang="en-US" sz="3400">
              <a:solidFill>
                <a:srgbClr val="002E5C"/>
              </a:solidFill>
              <a:latin typeface="Helvetica" pitchFamily="34" charset="0"/>
              <a:ea typeface="宋体" pitchFamily="2" charset="-122"/>
            </a:endParaRPr>
          </a:p>
        </p:txBody>
      </p:sp>
      <p:sp>
        <p:nvSpPr>
          <p:cNvPr id="1027" name="Rectangle 3"/>
          <p:cNvSpPr>
            <a:spLocks noGrp="1" noChangeArrowheads="1"/>
          </p:cNvSpPr>
          <p:nvPr>
            <p:ph type="title"/>
          </p:nvPr>
        </p:nvSpPr>
        <p:spPr bwMode="auto">
          <a:xfrm>
            <a:off x="930276" y="250031"/>
            <a:ext cx="7667625"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1028" name="Rectangle 4"/>
          <p:cNvSpPr>
            <a:spLocks noGrp="1" noChangeArrowheads="1"/>
          </p:cNvSpPr>
          <p:nvPr>
            <p:ph type="body" idx="1"/>
          </p:nvPr>
        </p:nvSpPr>
        <p:spPr bwMode="auto">
          <a:xfrm>
            <a:off x="673100" y="802481"/>
            <a:ext cx="6515100" cy="20559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29" name="Picture 5" descr="symbol"/>
          <p:cNvPicPr>
            <a:picLocks noChangeAspect="1" noChangeArrowheads="1"/>
          </p:cNvPicPr>
          <p:nvPr/>
        </p:nvPicPr>
        <p:blipFill>
          <a:blip r:embed="rId14" cstate="print"/>
          <a:srcRect/>
          <a:stretch>
            <a:fillRect/>
          </a:stretch>
        </p:blipFill>
        <p:spPr bwMode="auto">
          <a:xfrm>
            <a:off x="1" y="330994"/>
            <a:ext cx="942975" cy="681038"/>
          </a:xfrm>
          <a:prstGeom prst="rect">
            <a:avLst/>
          </a:prstGeom>
          <a:noFill/>
          <a:ln w="9525">
            <a:noFill/>
            <a:miter lim="800000"/>
            <a:headEnd/>
            <a:tailEnd/>
          </a:ln>
        </p:spPr>
      </p:pic>
      <p:sp>
        <p:nvSpPr>
          <p:cNvPr id="1030" name="Line 6"/>
          <p:cNvSpPr>
            <a:spLocks noChangeShapeType="1"/>
          </p:cNvSpPr>
          <p:nvPr/>
        </p:nvSpPr>
        <p:spPr bwMode="auto">
          <a:xfrm>
            <a:off x="906463" y="660797"/>
            <a:ext cx="8121650" cy="0"/>
          </a:xfrm>
          <a:prstGeom prst="line">
            <a:avLst/>
          </a:prstGeom>
          <a:noFill/>
          <a:ln w="28575">
            <a:solidFill>
              <a:srgbClr val="003B76"/>
            </a:solidFill>
            <a:round/>
            <a:headEnd/>
            <a:tailEnd/>
          </a:ln>
        </p:spPr>
        <p:txBody>
          <a:bodyPr lIns="0" tIns="0" rIns="0" bIns="0" anchor="ctr">
            <a:spAutoFit/>
          </a:bodyPr>
          <a:lstStyle/>
          <a:p>
            <a:pPr>
              <a:defRPr/>
            </a:pPr>
            <a:endParaRPr lang="zh-CN" altLang="en-US">
              <a:ea typeface="宋体" pitchFamily="2" charset="-122"/>
            </a:endParaRPr>
          </a:p>
        </p:txBody>
      </p:sp>
      <p:sp>
        <p:nvSpPr>
          <p:cNvPr id="1031" name="Line 7"/>
          <p:cNvSpPr>
            <a:spLocks noChangeShapeType="1"/>
          </p:cNvSpPr>
          <p:nvPr/>
        </p:nvSpPr>
        <p:spPr bwMode="auto">
          <a:xfrm>
            <a:off x="915988" y="653653"/>
            <a:ext cx="8108950" cy="0"/>
          </a:xfrm>
          <a:prstGeom prst="line">
            <a:avLst/>
          </a:prstGeom>
          <a:noFill/>
          <a:ln w="12700">
            <a:solidFill>
              <a:srgbClr val="F0DA04"/>
            </a:solidFill>
            <a:round/>
            <a:headEnd/>
            <a:tailEnd/>
          </a:ln>
        </p:spPr>
        <p:txBody>
          <a:bodyPr wrap="none" anchor="ctr"/>
          <a:lstStyle/>
          <a:p>
            <a:pPr>
              <a:defRPr/>
            </a:pPr>
            <a:endParaRPr lang="zh-CN" altLang="en-US">
              <a:ea typeface="宋体" pitchFamily="2" charset="-122"/>
            </a:endParaRPr>
          </a:p>
        </p:txBody>
      </p:sp>
      <p:sp>
        <p:nvSpPr>
          <p:cNvPr id="1032" name="Rectangle 8"/>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lnSpc>
                <a:spcPct val="100000"/>
              </a:lnSpc>
              <a:spcBef>
                <a:spcPts val="0"/>
              </a:spcBef>
              <a:spcAft>
                <a:spcPts val="0"/>
              </a:spcAft>
              <a:defRPr sz="1400" b="0">
                <a:latin typeface="+mn-lt"/>
                <a:ea typeface="宋体" pitchFamily="2" charset="-122"/>
              </a:defRPr>
            </a:lvl1pPr>
          </a:lstStyle>
          <a:p>
            <a:pPr>
              <a:defRPr/>
            </a:pPr>
            <a:fld id="{FD990E54-9BDD-4FF4-80FA-301FCBFF661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Lst>
  <p:txStyles>
    <p:title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p:titleStyle>
    <p:body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0.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D020A6-A9EE-4A7D-92CE-B53AF89A63F2}"/>
              </a:ext>
            </a:extLst>
          </p:cNvPr>
          <p:cNvSpPr>
            <a:spLocks noGrp="1"/>
          </p:cNvSpPr>
          <p:nvPr>
            <p:ph type="title"/>
          </p:nvPr>
        </p:nvSpPr>
        <p:spPr>
          <a:xfrm>
            <a:off x="2051720" y="839012"/>
            <a:ext cx="4753146" cy="438150"/>
          </a:xfrm>
        </p:spPr>
        <p:txBody>
          <a:bodyPr/>
          <a:lstStyle/>
          <a:p>
            <a:r>
              <a:rPr lang="zh-CN" altLang="en-US" sz="3600" dirty="0"/>
              <a:t>第一章  </a:t>
            </a:r>
            <a:r>
              <a:rPr lang="en-US" altLang="zh-CN" sz="3600" dirty="0"/>
              <a:t>Julia</a:t>
            </a:r>
            <a:r>
              <a:rPr lang="zh-CN" altLang="en-US" sz="3600" dirty="0"/>
              <a:t>的基础语法</a:t>
            </a:r>
          </a:p>
        </p:txBody>
      </p:sp>
      <p:sp>
        <p:nvSpPr>
          <p:cNvPr id="4" name="文本框 3">
            <a:extLst>
              <a:ext uri="{FF2B5EF4-FFF2-40B4-BE49-F238E27FC236}">
                <a16:creationId xmlns:a16="http://schemas.microsoft.com/office/drawing/2014/main" id="{A2F32496-5580-4951-A583-D6B2A1F78B79}"/>
              </a:ext>
            </a:extLst>
          </p:cNvPr>
          <p:cNvSpPr txBox="1"/>
          <p:nvPr/>
        </p:nvSpPr>
        <p:spPr>
          <a:xfrm>
            <a:off x="495144" y="4061455"/>
            <a:ext cx="8460432" cy="716609"/>
          </a:xfrm>
          <a:prstGeom prst="rect">
            <a:avLst/>
          </a:prstGeom>
          <a:noFill/>
        </p:spPr>
        <p:txBody>
          <a:bodyPr wrap="square">
            <a:prstTxWarp prst="textDoubleWave1">
              <a:avLst/>
            </a:prstTxWarp>
            <a:spAutoFit/>
          </a:bodyPr>
          <a:lstStyle/>
          <a:p>
            <a:r>
              <a:rPr lang="en-US" altLang="zh-CN" sz="1600" dirty="0">
                <a:solidFill>
                  <a:schemeClr val="bg1"/>
                </a:solidFill>
                <a:highlight>
                  <a:srgbClr val="003B76"/>
                </a:highlight>
              </a:rPr>
              <a:t>Julia</a:t>
            </a:r>
            <a:r>
              <a:rPr lang="zh-CN" altLang="en-US" sz="1600" dirty="0">
                <a:solidFill>
                  <a:schemeClr val="bg1"/>
                </a:solidFill>
                <a:highlight>
                  <a:srgbClr val="003B76"/>
                </a:highlight>
              </a:rPr>
              <a:t>是高性能动态编译型语言，具有</a:t>
            </a:r>
            <a:r>
              <a:rPr lang="en-US" altLang="zh-CN" sz="1600" dirty="0" err="1">
                <a:solidFill>
                  <a:schemeClr val="bg1"/>
                </a:solidFill>
                <a:highlight>
                  <a:srgbClr val="003B76"/>
                </a:highlight>
              </a:rPr>
              <a:t>matlab</a:t>
            </a:r>
            <a:r>
              <a:rPr lang="zh-CN" altLang="en-US" sz="1600" dirty="0">
                <a:solidFill>
                  <a:schemeClr val="bg1"/>
                </a:solidFill>
                <a:highlight>
                  <a:srgbClr val="003B76"/>
                </a:highlight>
              </a:rPr>
              <a:t>和</a:t>
            </a:r>
            <a:r>
              <a:rPr lang="en-US" altLang="zh-CN" sz="1600" dirty="0">
                <a:solidFill>
                  <a:schemeClr val="bg1"/>
                </a:solidFill>
                <a:highlight>
                  <a:srgbClr val="003B76"/>
                </a:highlight>
              </a:rPr>
              <a:t>python</a:t>
            </a:r>
            <a:r>
              <a:rPr lang="zh-CN" altLang="en-US" sz="1600" dirty="0">
                <a:solidFill>
                  <a:schemeClr val="bg1"/>
                </a:solidFill>
                <a:highlight>
                  <a:srgbClr val="003B76"/>
                </a:highlight>
              </a:rPr>
              <a:t>优点，强大而灵活语言</a:t>
            </a:r>
            <a:endParaRPr lang="zh-CN" altLang="en-US" sz="1600" dirty="0">
              <a:solidFill>
                <a:schemeClr val="bg1"/>
              </a:solidFill>
            </a:endParaRPr>
          </a:p>
          <a:p>
            <a:endParaRPr lang="zh-CN" altLang="en-US" sz="1600" dirty="0">
              <a:solidFill>
                <a:schemeClr val="bg1"/>
              </a:solidFill>
              <a:highlight>
                <a:srgbClr val="003B76"/>
              </a:highlight>
            </a:endParaRPr>
          </a:p>
        </p:txBody>
      </p:sp>
      <p:sp>
        <p:nvSpPr>
          <p:cNvPr id="5" name="内容占位符 3">
            <a:extLst>
              <a:ext uri="{FF2B5EF4-FFF2-40B4-BE49-F238E27FC236}">
                <a16:creationId xmlns:a16="http://schemas.microsoft.com/office/drawing/2014/main" id="{60189F50-DAF2-44B4-B6D0-3C8377DF5EA9}"/>
              </a:ext>
            </a:extLst>
          </p:cNvPr>
          <p:cNvSpPr txBox="1">
            <a:spLocks/>
          </p:cNvSpPr>
          <p:nvPr/>
        </p:nvSpPr>
        <p:spPr>
          <a:xfrm>
            <a:off x="495144" y="2139702"/>
            <a:ext cx="8325328" cy="1696298"/>
          </a:xfrm>
          <a:prstGeom prst="rect">
            <a:avLst/>
          </a:prstGeom>
          <a:ln w="9525">
            <a:solidFill>
              <a:schemeClr val="tx1"/>
            </a:solidFill>
          </a:ln>
        </p:spPr>
        <p:txBody>
          <a:bodyPr wrap="square">
            <a:spAutoFit/>
          </a:bodyPr>
          <a:lstStyle>
            <a:lvl1pPr marL="177800" indent="-177800" algn="l" rtl="0" eaLnBrk="0" fontAlgn="base" hangingPunct="0">
              <a:lnSpc>
                <a:spcPct val="110000"/>
              </a:lnSpc>
              <a:spcBef>
                <a:spcPct val="0"/>
              </a:spcBef>
              <a:spcAft>
                <a:spcPct val="0"/>
              </a:spcAft>
              <a:buChar char="•"/>
              <a:defRPr sz="2800" b="1">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Char char="•"/>
              <a:defRPr sz="2400" b="1">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Char char="•"/>
              <a:defRPr sz="2400" b="1">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Char char="•"/>
              <a:defRPr sz="2000" b="1">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Char char="•"/>
              <a:defRPr sz="2000" b="1">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pPr>
            <a:r>
              <a:rPr lang="en-US" altLang="zh-CN" sz="3200" b="0" dirty="0">
                <a:latin typeface="+mj-ea"/>
              </a:rPr>
              <a:t>§ </a:t>
            </a:r>
            <a:r>
              <a:rPr lang="en-US" altLang="zh-CN" sz="3200" b="0" kern="0" dirty="0">
                <a:latin typeface="隶书" panose="02010509060101010101" pitchFamily="49" charset="-122"/>
                <a:ea typeface="隶书" panose="02010509060101010101" pitchFamily="49" charset="-122"/>
              </a:rPr>
              <a:t>1</a:t>
            </a:r>
            <a:r>
              <a:rPr lang="en-US" altLang="zh-CN" sz="3200" b="0" kern="0" dirty="0"/>
              <a:t>.</a:t>
            </a:r>
            <a:r>
              <a:rPr lang="en-US" altLang="zh-CN" sz="3200" b="0" kern="0" dirty="0">
                <a:latin typeface="隶书" panose="02010509060101010101" pitchFamily="49" charset="-122"/>
                <a:ea typeface="隶书" panose="02010509060101010101" pitchFamily="49" charset="-122"/>
              </a:rPr>
              <a:t>3 </a:t>
            </a:r>
            <a:r>
              <a:rPr lang="zh-CN" altLang="en-US" sz="3200" b="0" kern="0" dirty="0"/>
              <a:t>变量及变量类型</a:t>
            </a:r>
            <a:endParaRPr lang="en-US" altLang="zh-CN" sz="3200" b="0" kern="0" dirty="0"/>
          </a:p>
          <a:p>
            <a:pPr marL="0" indent="0">
              <a:buNone/>
            </a:pPr>
            <a:r>
              <a:rPr lang="en-US" altLang="zh-CN" sz="3200" b="0" dirty="0">
                <a:latin typeface="+mj-ea"/>
              </a:rPr>
              <a:t>§ </a:t>
            </a:r>
            <a:r>
              <a:rPr lang="en-US" altLang="zh-CN" sz="3200" b="0" kern="0" dirty="0"/>
              <a:t>1.4  </a:t>
            </a:r>
            <a:r>
              <a:rPr lang="zh-CN" altLang="en-US" sz="3200" b="0" kern="0" dirty="0"/>
              <a:t>数组、列表和元组</a:t>
            </a:r>
            <a:endParaRPr lang="en-US" altLang="zh-CN" sz="3200" b="0" kern="0" dirty="0"/>
          </a:p>
          <a:p>
            <a:pPr marL="0" indent="0">
              <a:buNone/>
            </a:pPr>
            <a:r>
              <a:rPr lang="en-US" altLang="zh-CN" sz="3200" b="0" dirty="0">
                <a:latin typeface="+mj-ea"/>
              </a:rPr>
              <a:t>§ </a:t>
            </a:r>
            <a:r>
              <a:rPr lang="en-US" altLang="zh-CN" sz="3200" b="0" kern="0" dirty="0"/>
              <a:t>1.5  </a:t>
            </a:r>
            <a:r>
              <a:rPr lang="zh-CN" altLang="en-US" sz="3200" b="0" kern="0" dirty="0"/>
              <a:t>运算符和数学函数</a:t>
            </a:r>
            <a:endParaRPr lang="zh-CN" altLang="zh-CN" sz="3200" b="0" kern="0" dirty="0"/>
          </a:p>
        </p:txBody>
      </p:sp>
      <p:sp>
        <p:nvSpPr>
          <p:cNvPr id="6" name="文本框 5">
            <a:extLst>
              <a:ext uri="{FF2B5EF4-FFF2-40B4-BE49-F238E27FC236}">
                <a16:creationId xmlns:a16="http://schemas.microsoft.com/office/drawing/2014/main" id="{73182794-2AD0-4AF7-98C3-B8869DA3E9A9}"/>
              </a:ext>
            </a:extLst>
          </p:cNvPr>
          <p:cNvSpPr txBox="1"/>
          <p:nvPr/>
        </p:nvSpPr>
        <p:spPr>
          <a:xfrm>
            <a:off x="6664246" y="2811011"/>
            <a:ext cx="1927560" cy="455944"/>
          </a:xfrm>
          <a:prstGeom prst="rect">
            <a:avLst/>
          </a:prstGeom>
          <a:noFill/>
        </p:spPr>
        <p:txBody>
          <a:bodyPr wrap="square">
            <a:prstTxWarp prst="textDeflateTop">
              <a:avLst/>
            </a:prstTxWarp>
            <a:spAutoFit/>
          </a:bodyPr>
          <a:lstStyle/>
          <a:p>
            <a:r>
              <a:rPr lang="zh-CN" altLang="en-US" b="1" dirty="0">
                <a:solidFill>
                  <a:schemeClr val="bg1"/>
                </a:solidFill>
                <a:highlight>
                  <a:srgbClr val="003B76"/>
                </a:highlight>
              </a:rPr>
              <a:t>年轻的编程语言</a:t>
            </a:r>
          </a:p>
        </p:txBody>
      </p:sp>
      <p:pic>
        <p:nvPicPr>
          <p:cNvPr id="7" name="Picture 2" descr="Julia语言简介及编程环境搭建_julia 语言-CSDN博客">
            <a:extLst>
              <a:ext uri="{FF2B5EF4-FFF2-40B4-BE49-F238E27FC236}">
                <a16:creationId xmlns:a16="http://schemas.microsoft.com/office/drawing/2014/main" id="{77A65A6C-8785-4F12-A616-5B0DB7DFAA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48264" y="2191155"/>
            <a:ext cx="1124826" cy="693914"/>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AE5811F5-0BFE-45A8-BCC3-B97A8FF53E95}"/>
              </a:ext>
            </a:extLst>
          </p:cNvPr>
          <p:cNvSpPr txBox="1"/>
          <p:nvPr/>
        </p:nvSpPr>
        <p:spPr>
          <a:xfrm>
            <a:off x="501062" y="1526150"/>
            <a:ext cx="8460432" cy="369332"/>
          </a:xfrm>
          <a:prstGeom prst="rect">
            <a:avLst/>
          </a:prstGeom>
          <a:noFill/>
        </p:spPr>
        <p:txBody>
          <a:bodyPr wrap="square">
            <a:prstTxWarp prst="textDoubleWave1">
              <a:avLst/>
            </a:prstTxWarp>
            <a:spAutoFit/>
          </a:bodyPr>
          <a:lstStyle/>
          <a:p>
            <a:r>
              <a:rPr lang="en-US" altLang="zh-CN" sz="1600" dirty="0">
                <a:solidFill>
                  <a:schemeClr val="bg1"/>
                </a:solidFill>
                <a:highlight>
                  <a:srgbClr val="003B76"/>
                </a:highlight>
              </a:rPr>
              <a:t>Julia</a:t>
            </a:r>
            <a:r>
              <a:rPr lang="zh-CN" altLang="en-US" sz="1600" dirty="0">
                <a:solidFill>
                  <a:schemeClr val="bg1"/>
                </a:solidFill>
                <a:highlight>
                  <a:srgbClr val="003B76"/>
                </a:highlight>
              </a:rPr>
              <a:t>基本语法包括变量、变量类型、运算符和运算特点</a:t>
            </a:r>
          </a:p>
        </p:txBody>
      </p:sp>
      <p:sp>
        <p:nvSpPr>
          <p:cNvPr id="11" name="文本框 10">
            <a:extLst>
              <a:ext uri="{FF2B5EF4-FFF2-40B4-BE49-F238E27FC236}">
                <a16:creationId xmlns:a16="http://schemas.microsoft.com/office/drawing/2014/main" id="{FFD17023-52DA-4022-B16F-1B102B599D0D}"/>
              </a:ext>
            </a:extLst>
          </p:cNvPr>
          <p:cNvSpPr txBox="1"/>
          <p:nvPr/>
        </p:nvSpPr>
        <p:spPr>
          <a:xfrm>
            <a:off x="6516216" y="3394730"/>
            <a:ext cx="2217375" cy="400110"/>
          </a:xfrm>
          <a:prstGeom prst="rect">
            <a:avLst/>
          </a:prstGeom>
          <a:noFill/>
        </p:spPr>
        <p:txBody>
          <a:bodyPr wrap="square">
            <a:spAutoFit/>
          </a:bodyPr>
          <a:lstStyle/>
          <a:p>
            <a:pPr algn="dist"/>
            <a:r>
              <a:rPr lang="zh-CN" altLang="en-US" sz="2000" b="1" i="0" dirty="0">
                <a:solidFill>
                  <a:schemeClr val="bg1"/>
                </a:solidFill>
                <a:effectLst/>
                <a:highlight>
                  <a:srgbClr val="FF0000"/>
                </a:highlight>
                <a:latin typeface="Microsoft YaHei" panose="020B0503020204020204" pitchFamily="34" charset="-122"/>
                <a:ea typeface="Microsoft YaHei" panose="020B0503020204020204" pitchFamily="34" charset="-122"/>
              </a:rPr>
              <a:t>函数库</a:t>
            </a:r>
            <a:r>
              <a:rPr lang="en-US" altLang="zh-CN" sz="2000" b="1" i="0" dirty="0">
                <a:solidFill>
                  <a:schemeClr val="bg1"/>
                </a:solidFill>
                <a:effectLst/>
                <a:highlight>
                  <a:srgbClr val="FF0000"/>
                </a:highlight>
                <a:latin typeface="Microsoft YaHei" panose="020B0503020204020204" pitchFamily="34" charset="-122"/>
                <a:ea typeface="Microsoft YaHei" panose="020B0503020204020204" pitchFamily="34" charset="-122"/>
              </a:rPr>
              <a:t>: </a:t>
            </a:r>
            <a:r>
              <a:rPr lang="en-US" altLang="zh-CN" sz="2000" b="1" i="0" dirty="0" err="1">
                <a:solidFill>
                  <a:schemeClr val="bg1"/>
                </a:solidFill>
                <a:effectLst/>
                <a:highlight>
                  <a:srgbClr val="FF0000"/>
                </a:highlight>
                <a:latin typeface="Microsoft YaHei" panose="020B0503020204020204" pitchFamily="34" charset="-122"/>
                <a:ea typeface="Microsoft YaHei" panose="020B0503020204020204" pitchFamily="34" charset="-122"/>
              </a:rPr>
              <a:t>TyBase</a:t>
            </a:r>
            <a:endParaRPr lang="en-US" altLang="zh-CN" sz="2000" b="1" i="0" dirty="0">
              <a:solidFill>
                <a:schemeClr val="bg1"/>
              </a:solidFill>
              <a:effectLst/>
              <a:highlight>
                <a:srgbClr val="FF0000"/>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64167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229633-6FF1-FD4B-D320-DF0AAC124ECB}"/>
              </a:ext>
            </a:extLst>
          </p:cNvPr>
          <p:cNvSpPr>
            <a:spLocks noGrp="1"/>
          </p:cNvSpPr>
          <p:nvPr>
            <p:ph type="title"/>
          </p:nvPr>
        </p:nvSpPr>
        <p:spPr>
          <a:xfrm>
            <a:off x="2091668" y="1067130"/>
            <a:ext cx="5104680" cy="438150"/>
          </a:xfrm>
        </p:spPr>
        <p:txBody>
          <a:bodyPr/>
          <a:lstStyle/>
          <a:p>
            <a:r>
              <a:rPr lang="zh-CN" altLang="zh-CN" sz="3600" dirty="0">
                <a:effectLst/>
                <a:ea typeface="等线" panose="02010600030101010101" pitchFamily="2" charset="-122"/>
                <a:cs typeface="Times New Roman" panose="02020603050405020304" pitchFamily="18" charset="0"/>
              </a:rPr>
              <a:t>§ </a:t>
            </a:r>
            <a:r>
              <a:rPr lang="en-US" altLang="zh-CN" sz="3600" dirty="0"/>
              <a:t>1.3 </a:t>
            </a:r>
            <a:r>
              <a:rPr lang="zh-CN" altLang="en-US" sz="3600" dirty="0"/>
              <a:t>变量和变量类型</a:t>
            </a:r>
          </a:p>
        </p:txBody>
      </p:sp>
      <p:sp>
        <p:nvSpPr>
          <p:cNvPr id="3" name="内容占位符 2">
            <a:extLst>
              <a:ext uri="{FF2B5EF4-FFF2-40B4-BE49-F238E27FC236}">
                <a16:creationId xmlns:a16="http://schemas.microsoft.com/office/drawing/2014/main" id="{58D67EEB-D3C3-E02F-4411-0A5C2B9837F2}"/>
              </a:ext>
            </a:extLst>
          </p:cNvPr>
          <p:cNvSpPr>
            <a:spLocks noGrp="1"/>
          </p:cNvSpPr>
          <p:nvPr>
            <p:ph idx="1"/>
          </p:nvPr>
        </p:nvSpPr>
        <p:spPr>
          <a:xfrm>
            <a:off x="395536" y="1779663"/>
            <a:ext cx="8496943" cy="2305696"/>
          </a:xfrm>
          <a:ln>
            <a:solidFill>
              <a:schemeClr val="bg1">
                <a:lumMod val="50000"/>
              </a:schemeClr>
            </a:solidFill>
          </a:ln>
        </p:spPr>
        <p:txBody>
          <a:bodyPr/>
          <a:lstStyle/>
          <a:p>
            <a:pPr marL="0" indent="0">
              <a:buNone/>
            </a:pPr>
            <a:r>
              <a:rPr lang="en-US" altLang="zh-CN" sz="3200" dirty="0"/>
              <a:t>§1.3.1  </a:t>
            </a:r>
            <a:r>
              <a:rPr lang="zh-CN" altLang="en-US" sz="3200" dirty="0"/>
              <a:t>变量、常量和关键字</a:t>
            </a:r>
            <a:endParaRPr lang="en-US" altLang="zh-CN" sz="3200" dirty="0"/>
          </a:p>
          <a:p>
            <a:pPr marL="0" indent="0">
              <a:buNone/>
            </a:pPr>
            <a:r>
              <a:rPr lang="en-US" altLang="zh-CN" sz="3200" dirty="0"/>
              <a:t>§1.3.2  </a:t>
            </a:r>
            <a:r>
              <a:rPr lang="zh-CN" altLang="en-US" sz="3200" dirty="0"/>
              <a:t>数值型数据</a:t>
            </a:r>
            <a:r>
              <a:rPr lang="en-US" altLang="zh-CN" sz="3200" dirty="0"/>
              <a:t> </a:t>
            </a:r>
          </a:p>
          <a:p>
            <a:pPr marL="0" indent="0">
              <a:buNone/>
            </a:pPr>
            <a:r>
              <a:rPr lang="zh-CN" altLang="en-US" sz="3200" dirty="0"/>
              <a:t>   数值型</a:t>
            </a:r>
            <a:r>
              <a:rPr lang="en-US" altLang="zh-CN" sz="3600" dirty="0">
                <a:solidFill>
                  <a:srgbClr val="0070C0"/>
                </a:solidFill>
              </a:rPr>
              <a:t>——</a:t>
            </a:r>
            <a:r>
              <a:rPr lang="zh-CN" altLang="en-US" sz="3200" b="1" dirty="0">
                <a:solidFill>
                  <a:srgbClr val="0070C0"/>
                </a:solidFill>
              </a:rPr>
              <a:t>整数、浮点数、复数、有理分数</a:t>
            </a:r>
            <a:endParaRPr lang="en-US" altLang="zh-CN" sz="3200" b="1" dirty="0">
              <a:solidFill>
                <a:srgbClr val="0070C0"/>
              </a:solidFill>
            </a:endParaRPr>
          </a:p>
          <a:p>
            <a:pPr marL="0" indent="0">
              <a:buNone/>
            </a:pPr>
            <a:r>
              <a:rPr lang="en-US" altLang="zh-CN" sz="3200" dirty="0"/>
              <a:t>§1.3.3  </a:t>
            </a:r>
            <a:r>
              <a:rPr lang="zh-CN" altLang="en-US" sz="3200" dirty="0"/>
              <a:t>字符及字符串</a:t>
            </a:r>
          </a:p>
        </p:txBody>
      </p:sp>
    </p:spTree>
    <p:extLst>
      <p:ext uri="{BB962C8B-B14F-4D97-AF65-F5344CB8AC3E}">
        <p14:creationId xmlns:p14="http://schemas.microsoft.com/office/powerpoint/2010/main" val="219388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9B3025F-31D4-89A0-5B1B-290FB4CB634C}"/>
              </a:ext>
            </a:extLst>
          </p:cNvPr>
          <p:cNvSpPr>
            <a:spLocks noGrp="1"/>
          </p:cNvSpPr>
          <p:nvPr>
            <p:ph idx="1"/>
          </p:nvPr>
        </p:nvSpPr>
        <p:spPr>
          <a:xfrm>
            <a:off x="111902" y="737026"/>
            <a:ext cx="1718589" cy="407291"/>
          </a:xfrm>
          <a:solidFill>
            <a:schemeClr val="bg1"/>
          </a:solidFill>
        </p:spPr>
        <p:txBody>
          <a:bodyPr/>
          <a:lstStyle/>
          <a:p>
            <a:pPr marL="514350" indent="-514350">
              <a:buFont typeface="+mj-ea"/>
              <a:buAutoNum type="circleNumDbPlain"/>
            </a:pPr>
            <a:r>
              <a:rPr lang="zh-CN" altLang="en-US" sz="2000" b="1" dirty="0">
                <a:solidFill>
                  <a:srgbClr val="0070C0"/>
                </a:solidFill>
                <a:latin typeface="微软雅黑" panose="020B0503020204020204" pitchFamily="34" charset="-122"/>
                <a:ea typeface="微软雅黑" panose="020B0503020204020204" pitchFamily="34" charset="-122"/>
              </a:rPr>
              <a:t>英文命名</a:t>
            </a:r>
          </a:p>
        </p:txBody>
      </p:sp>
      <p:sp>
        <p:nvSpPr>
          <p:cNvPr id="5" name="Rectangle 3">
            <a:extLst>
              <a:ext uri="{FF2B5EF4-FFF2-40B4-BE49-F238E27FC236}">
                <a16:creationId xmlns:a16="http://schemas.microsoft.com/office/drawing/2014/main" id="{8DD7E112-58D7-D692-11CA-7517FE6126A4}"/>
              </a:ext>
            </a:extLst>
          </p:cNvPr>
          <p:cNvSpPr txBox="1">
            <a:spLocks noChangeArrowheads="1"/>
          </p:cNvSpPr>
          <p:nvPr/>
        </p:nvSpPr>
        <p:spPr>
          <a:xfrm>
            <a:off x="117482" y="1144317"/>
            <a:ext cx="8784169" cy="3189835"/>
          </a:xfrm>
          <a:prstGeom prst="rect">
            <a:avLst/>
          </a:prstGeom>
          <a:ln>
            <a:solidFill>
              <a:schemeClr val="bg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ts val="3300"/>
              </a:lnSpc>
              <a:spcBef>
                <a:spcPts val="0"/>
              </a:spcBef>
              <a:spcAft>
                <a:spcPts val="0"/>
              </a:spcAft>
              <a:buFont typeface="Wingdings" panose="05000000000000000000" pitchFamily="2" charset="2"/>
              <a:buChar char="Ø"/>
            </a:pPr>
            <a:r>
              <a:rPr lang="zh-CN" altLang="en-US" sz="2000" dirty="0">
                <a:solidFill>
                  <a:srgbClr val="002060"/>
                </a:solidFill>
                <a:latin typeface="华文楷体" panose="02010600040101010101" pitchFamily="2" charset="-122"/>
                <a:ea typeface="华文楷体" panose="02010600040101010101" pitchFamily="2" charset="-122"/>
              </a:rPr>
              <a:t>英文开头，后接字母、数字，数字不能开头；</a:t>
            </a:r>
            <a:endParaRPr lang="en-US" altLang="zh-CN" sz="2000" dirty="0">
              <a:solidFill>
                <a:srgbClr val="002060"/>
              </a:solidFill>
              <a:latin typeface="华文楷体" panose="02010600040101010101" pitchFamily="2" charset="-122"/>
              <a:ea typeface="华文楷体" panose="02010600040101010101" pitchFamily="2" charset="-122"/>
            </a:endParaRPr>
          </a:p>
          <a:p>
            <a:pPr marL="0" indent="0" fontAlgn="auto">
              <a:lnSpc>
                <a:spcPts val="3300"/>
              </a:lnSpc>
              <a:spcBef>
                <a:spcPts val="0"/>
              </a:spcBef>
              <a:spcAft>
                <a:spcPts val="0"/>
              </a:spcAft>
              <a:buFont typeface="Wingdings" panose="05000000000000000000" pitchFamily="2" charset="2"/>
              <a:buChar char="Ø"/>
            </a:pPr>
            <a:r>
              <a:rPr lang="zh-CN" altLang="en-US" sz="2000" dirty="0">
                <a:solidFill>
                  <a:srgbClr val="002060"/>
                </a:solidFill>
                <a:latin typeface="华文楷体" panose="02010600040101010101" pitchFamily="2" charset="-122"/>
                <a:ea typeface="华文楷体" panose="02010600040101010101" pitchFamily="2" charset="-122"/>
              </a:rPr>
              <a:t>区分字母大小写，字母间不可留空格和标点符号；</a:t>
            </a:r>
            <a:endParaRPr lang="en-US" altLang="zh-CN" sz="2000" dirty="0">
              <a:solidFill>
                <a:srgbClr val="002060"/>
              </a:solidFill>
              <a:latin typeface="华文楷体" panose="02010600040101010101" pitchFamily="2" charset="-122"/>
              <a:ea typeface="华文楷体" panose="02010600040101010101" pitchFamily="2" charset="-122"/>
            </a:endParaRPr>
          </a:p>
          <a:p>
            <a:pPr marL="0" indent="0" fontAlgn="auto">
              <a:lnSpc>
                <a:spcPts val="3300"/>
              </a:lnSpc>
              <a:spcBef>
                <a:spcPts val="0"/>
              </a:spcBef>
              <a:spcAft>
                <a:spcPts val="0"/>
              </a:spcAft>
              <a:buFont typeface="Wingdings" panose="05000000000000000000" pitchFamily="2" charset="2"/>
              <a:buChar char="Ø"/>
            </a:pPr>
            <a:r>
              <a:rPr lang="zh-CN" altLang="en-US" sz="2000" dirty="0">
                <a:solidFill>
                  <a:srgbClr val="002060"/>
                </a:solidFill>
                <a:latin typeface="华文楷体" panose="02010600040101010101" pitchFamily="2" charset="-122"/>
                <a:ea typeface="华文楷体" panose="02010600040101010101" pitchFamily="2" charset="-122"/>
              </a:rPr>
              <a:t>变量名、函数名</a:t>
            </a:r>
            <a:r>
              <a:rPr lang="zh-CN" altLang="en-US" sz="2000" dirty="0">
                <a:solidFill>
                  <a:srgbClr val="FF0000"/>
                </a:solidFill>
                <a:latin typeface="微软雅黑" panose="020B0503020204020204" pitchFamily="34" charset="-122"/>
                <a:ea typeface="微软雅黑" panose="020B0503020204020204" pitchFamily="34" charset="-122"/>
              </a:rPr>
              <a:t>一般小写</a:t>
            </a:r>
            <a:r>
              <a:rPr lang="zh-CN" altLang="en-US" sz="2000" dirty="0">
                <a:solidFill>
                  <a:srgbClr val="002060"/>
                </a:solidFill>
                <a:latin typeface="华文楷体" panose="02010600040101010101" pitchFamily="2" charset="-122"/>
                <a:ea typeface="华文楷体" panose="02010600040101010101" pitchFamily="2" charset="-122"/>
              </a:rPr>
              <a:t>或使用蛇形命名</a:t>
            </a:r>
            <a:endParaRPr lang="en-US" altLang="zh-CN" sz="2000" dirty="0">
              <a:solidFill>
                <a:srgbClr val="002060"/>
              </a:solidFill>
              <a:latin typeface="华文楷体" panose="02010600040101010101" pitchFamily="2" charset="-122"/>
              <a:ea typeface="华文楷体" panose="02010600040101010101" pitchFamily="2" charset="-122"/>
            </a:endParaRPr>
          </a:p>
          <a:p>
            <a:pPr marL="0" indent="0" fontAlgn="auto">
              <a:lnSpc>
                <a:spcPts val="3300"/>
              </a:lnSpc>
              <a:spcBef>
                <a:spcPts val="0"/>
              </a:spcBef>
              <a:spcAft>
                <a:spcPts val="0"/>
              </a:spcAft>
              <a:buNone/>
            </a:pPr>
            <a:r>
              <a:rPr lang="zh-CN" altLang="en-US" sz="2000" dirty="0">
                <a:solidFill>
                  <a:srgbClr val="002060"/>
                </a:solidFill>
                <a:latin typeface="华文楷体" panose="02010600040101010101" pitchFamily="2" charset="-122"/>
                <a:ea typeface="华文楷体" panose="02010600040101010101" pitchFamily="2" charset="-122"/>
              </a:rPr>
              <a:t>    蛇形即带下划线的小写命名（</a:t>
            </a:r>
            <a:r>
              <a:rPr lang="en-US" altLang="zh-CN" sz="1800" b="1" dirty="0">
                <a:solidFill>
                  <a:srgbClr val="00B0F0"/>
                </a:solidFill>
                <a:latin typeface="微软雅黑" panose="020B0503020204020204" pitchFamily="34" charset="-122"/>
                <a:ea typeface="微软雅黑" panose="020B0503020204020204" pitchFamily="34" charset="-122"/>
              </a:rPr>
              <a:t>ss_ca_11</a:t>
            </a:r>
            <a:r>
              <a:rPr lang="zh-CN" altLang="en-US" sz="2000" dirty="0">
                <a:solidFill>
                  <a:srgbClr val="002060"/>
                </a:solidFill>
                <a:latin typeface="华文楷体" panose="02010600040101010101" pitchFamily="2" charset="-122"/>
                <a:ea typeface="华文楷体" panose="02010600040101010101" pitchFamily="2" charset="-122"/>
              </a:rPr>
              <a:t>）</a:t>
            </a:r>
            <a:endParaRPr lang="en-US" altLang="zh-CN" sz="2000" dirty="0">
              <a:solidFill>
                <a:srgbClr val="002060"/>
              </a:solidFill>
              <a:latin typeface="华文楷体" panose="02010600040101010101" pitchFamily="2" charset="-122"/>
              <a:ea typeface="华文楷体" panose="02010600040101010101" pitchFamily="2" charset="-122"/>
            </a:endParaRPr>
          </a:p>
          <a:p>
            <a:pPr marL="0" indent="0" fontAlgn="auto">
              <a:lnSpc>
                <a:spcPts val="3300"/>
              </a:lnSpc>
              <a:spcBef>
                <a:spcPts val="0"/>
              </a:spcBef>
              <a:spcAft>
                <a:spcPts val="0"/>
              </a:spcAft>
              <a:buFont typeface="Wingdings" panose="05000000000000000000" pitchFamily="2" charset="2"/>
              <a:buChar char="Ø"/>
            </a:pPr>
            <a:r>
              <a:rPr lang="zh-CN" altLang="en-US" sz="2000" dirty="0">
                <a:solidFill>
                  <a:srgbClr val="002060"/>
                </a:solidFill>
                <a:latin typeface="华文楷体" panose="02010600040101010101" pitchFamily="2" charset="-122"/>
                <a:ea typeface="华文楷体" panose="02010600040101010101" pitchFamily="2" charset="-122"/>
              </a:rPr>
              <a:t>数据变量类型</a:t>
            </a:r>
            <a:r>
              <a:rPr lang="en-US" altLang="zh-CN" sz="2000" dirty="0">
                <a:solidFill>
                  <a:srgbClr val="002060"/>
                </a:solidFill>
                <a:latin typeface="华文楷体" panose="02010600040101010101" pitchFamily="2" charset="-122"/>
                <a:ea typeface="华文楷体" panose="02010600040101010101" pitchFamily="2" charset="-122"/>
              </a:rPr>
              <a:t>Type</a:t>
            </a:r>
            <a:r>
              <a:rPr lang="zh-CN" altLang="en-US" sz="2000" dirty="0">
                <a:solidFill>
                  <a:srgbClr val="002060"/>
                </a:solidFill>
                <a:latin typeface="华文楷体" panose="02010600040101010101" pitchFamily="2" charset="-122"/>
                <a:ea typeface="华文楷体" panose="02010600040101010101" pitchFamily="2" charset="-122"/>
              </a:rPr>
              <a:t> 名字用</a:t>
            </a:r>
            <a:r>
              <a:rPr lang="zh-CN" altLang="en-US" sz="2000" dirty="0">
                <a:solidFill>
                  <a:srgbClr val="FF0000"/>
                </a:solidFill>
                <a:latin typeface="微软雅黑" panose="020B0503020204020204" pitchFamily="34" charset="-122"/>
                <a:ea typeface="微软雅黑" panose="020B0503020204020204" pitchFamily="34" charset="-122"/>
              </a:rPr>
              <a:t>大写字母</a:t>
            </a:r>
            <a:r>
              <a:rPr lang="zh-CN" altLang="en-US" sz="2000" dirty="0">
                <a:solidFill>
                  <a:srgbClr val="002060"/>
                </a:solidFill>
                <a:latin typeface="华文楷体" panose="02010600040101010101" pitchFamily="2" charset="-122"/>
                <a:ea typeface="华文楷体" panose="02010600040101010101" pitchFamily="2" charset="-122"/>
              </a:rPr>
              <a:t>开头</a:t>
            </a:r>
            <a:r>
              <a:rPr lang="en-US" altLang="zh-CN" sz="2000" dirty="0">
                <a:solidFill>
                  <a:srgbClr val="002060"/>
                </a:solidFill>
                <a:latin typeface="华文楷体" panose="02010600040101010101" pitchFamily="2" charset="-122"/>
                <a:ea typeface="华文楷体" panose="02010600040101010101" pitchFamily="2" charset="-122"/>
              </a:rPr>
              <a:t>(</a:t>
            </a:r>
            <a:r>
              <a:rPr lang="en-US" altLang="zh-CN" sz="1800" b="1" dirty="0">
                <a:solidFill>
                  <a:srgbClr val="00B0F0"/>
                </a:solidFill>
                <a:latin typeface="微软雅黑" panose="020B0503020204020204" pitchFamily="34" charset="-122"/>
                <a:ea typeface="微软雅黑" panose="020B0503020204020204" pitchFamily="34" charset="-122"/>
              </a:rPr>
              <a:t>Int64,Float64</a:t>
            </a:r>
            <a:r>
              <a:rPr lang="en-US" altLang="zh-CN" sz="2000" dirty="0">
                <a:solidFill>
                  <a:srgbClr val="002060"/>
                </a:solidFill>
                <a:latin typeface="华文楷体" panose="02010600040101010101" pitchFamily="2" charset="-122"/>
                <a:ea typeface="华文楷体" panose="02010600040101010101" pitchFamily="2" charset="-122"/>
              </a:rPr>
              <a:t>)</a:t>
            </a:r>
          </a:p>
          <a:p>
            <a:pPr marL="0" indent="0" fontAlgn="auto">
              <a:lnSpc>
                <a:spcPts val="3300"/>
              </a:lnSpc>
              <a:spcBef>
                <a:spcPts val="0"/>
              </a:spcBef>
              <a:spcAft>
                <a:spcPts val="0"/>
              </a:spcAft>
              <a:buFont typeface="Wingdings" panose="05000000000000000000" pitchFamily="2" charset="2"/>
              <a:buChar char="Ø"/>
            </a:pPr>
            <a:r>
              <a:rPr lang="zh-CN" altLang="en-US" sz="2000" dirty="0">
                <a:solidFill>
                  <a:srgbClr val="002060"/>
                </a:solidFill>
                <a:latin typeface="华文楷体" panose="02010600040101010101" pitchFamily="2" charset="-122"/>
                <a:ea typeface="华文楷体" panose="02010600040101010101" pitchFamily="2" charset="-122"/>
              </a:rPr>
              <a:t>函数库（包模块 </a:t>
            </a:r>
            <a:r>
              <a:rPr lang="en-US" altLang="zh-CN" sz="2000" dirty="0">
                <a:solidFill>
                  <a:srgbClr val="002060"/>
                </a:solidFill>
                <a:latin typeface="华文楷体" panose="02010600040101010101" pitchFamily="2" charset="-122"/>
                <a:ea typeface="华文楷体" panose="02010600040101010101" pitchFamily="2" charset="-122"/>
              </a:rPr>
              <a:t>Module</a:t>
            </a:r>
            <a:r>
              <a:rPr lang="zh-CN" altLang="en-US" sz="2000" dirty="0">
                <a:solidFill>
                  <a:srgbClr val="002060"/>
                </a:solidFill>
                <a:latin typeface="华文楷体" panose="02010600040101010101" pitchFamily="2" charset="-122"/>
                <a:ea typeface="华文楷体" panose="02010600040101010101" pitchFamily="2" charset="-122"/>
              </a:rPr>
              <a:t> ）用</a:t>
            </a:r>
            <a:r>
              <a:rPr lang="zh-CN" altLang="en-US" sz="2000" dirty="0">
                <a:solidFill>
                  <a:srgbClr val="FF0000"/>
                </a:solidFill>
                <a:latin typeface="微软雅黑" panose="020B0503020204020204" pitchFamily="34" charset="-122"/>
                <a:ea typeface="微软雅黑" panose="020B0503020204020204" pitchFamily="34" charset="-122"/>
              </a:rPr>
              <a:t>首字母大写的驼峰命名</a:t>
            </a:r>
            <a:r>
              <a:rPr lang="zh-CN" altLang="en-US" sz="2000" dirty="0">
                <a:solidFill>
                  <a:srgbClr val="002060"/>
                </a:solidFill>
                <a:latin typeface="华文楷体" panose="02010600040101010101" pitchFamily="2" charset="-122"/>
                <a:ea typeface="华文楷体" panose="02010600040101010101" pitchFamily="2" charset="-122"/>
              </a:rPr>
              <a:t>，即指混合使用</a:t>
            </a:r>
            <a:r>
              <a:rPr lang="zh-CN" altLang="en-US" sz="2000" dirty="0">
                <a:solidFill>
                  <a:srgbClr val="FF0000"/>
                </a:solidFill>
                <a:latin typeface="微软雅黑" panose="020B0503020204020204" pitchFamily="34" charset="-122"/>
                <a:ea typeface="微软雅黑" panose="020B0503020204020204" pitchFamily="34" charset="-122"/>
              </a:rPr>
              <a:t>大小写字母</a:t>
            </a:r>
            <a:r>
              <a:rPr lang="zh-CN" altLang="en-US" sz="2000" dirty="0">
                <a:solidFill>
                  <a:srgbClr val="002060"/>
                </a:solidFill>
                <a:latin typeface="华文楷体" panose="02010600040101010101" pitchFamily="2" charset="-122"/>
                <a:ea typeface="华文楷体" panose="02010600040101010101" pitchFamily="2" charset="-122"/>
              </a:rPr>
              <a:t>来构成变量名字（</a:t>
            </a:r>
            <a:r>
              <a:rPr lang="en-US" altLang="zh-CN" sz="2000" dirty="0" err="1">
                <a:solidFill>
                  <a:srgbClr val="00B0F0"/>
                </a:solidFill>
                <a:latin typeface="华文楷体" panose="02010600040101010101" pitchFamily="2" charset="-122"/>
                <a:ea typeface="华文楷体" panose="02010600040101010101" pitchFamily="2" charset="-122"/>
              </a:rPr>
              <a:t>SomeType</a:t>
            </a:r>
            <a:r>
              <a:rPr lang="zh-CN" altLang="en-US" sz="2000" dirty="0">
                <a:solidFill>
                  <a:srgbClr val="002060"/>
                </a:solidFill>
                <a:latin typeface="华文楷体" panose="02010600040101010101" pitchFamily="2" charset="-122"/>
                <a:ea typeface="华文楷体" panose="02010600040101010101" pitchFamily="2" charset="-122"/>
              </a:rPr>
              <a:t>）</a:t>
            </a:r>
            <a:endParaRPr lang="en-US" altLang="zh-CN" sz="2000" dirty="0">
              <a:solidFill>
                <a:srgbClr val="002060"/>
              </a:solidFill>
              <a:latin typeface="华文楷体" panose="02010600040101010101" pitchFamily="2" charset="-122"/>
              <a:ea typeface="华文楷体" panose="02010600040101010101" pitchFamily="2" charset="-122"/>
            </a:endParaRPr>
          </a:p>
          <a:p>
            <a:pPr marL="0" indent="0" fontAlgn="auto">
              <a:lnSpc>
                <a:spcPts val="3300"/>
              </a:lnSpc>
              <a:spcBef>
                <a:spcPts val="0"/>
              </a:spcBef>
              <a:spcAft>
                <a:spcPts val="0"/>
              </a:spcAft>
              <a:buFont typeface="Wingdings" panose="05000000000000000000" pitchFamily="2" charset="2"/>
              <a:buChar char="Ø"/>
            </a:pPr>
            <a:r>
              <a:rPr lang="zh-CN" altLang="en-US" sz="2000" dirty="0">
                <a:solidFill>
                  <a:srgbClr val="002060"/>
                </a:solidFill>
                <a:latin typeface="华文楷体" panose="02010600040101010101" pitchFamily="2" charset="-122"/>
                <a:ea typeface="华文楷体" panose="02010600040101010101" pitchFamily="2" charset="-122"/>
              </a:rPr>
              <a:t>常数全部大写（</a:t>
            </a:r>
            <a:r>
              <a:rPr lang="en-US" altLang="zh-CN" sz="2000" dirty="0">
                <a:solidFill>
                  <a:srgbClr val="00B0F0"/>
                </a:solidFill>
                <a:latin typeface="华文楷体" panose="02010600040101010101" pitchFamily="2" charset="-122"/>
                <a:ea typeface="华文楷体" panose="02010600040101010101" pitchFamily="2" charset="-122"/>
              </a:rPr>
              <a:t>SOMECONSTANT</a:t>
            </a:r>
            <a:r>
              <a:rPr lang="zh-CN" altLang="en-US" sz="2000" dirty="0">
                <a:solidFill>
                  <a:srgbClr val="002060"/>
                </a:solidFill>
                <a:latin typeface="华文楷体" panose="02010600040101010101" pitchFamily="2" charset="-122"/>
                <a:ea typeface="华文楷体" panose="02010600040101010101" pitchFamily="2" charset="-122"/>
              </a:rPr>
              <a:t>）</a:t>
            </a:r>
            <a:endParaRPr lang="en-US" altLang="zh-CN" sz="2000" dirty="0">
              <a:solidFill>
                <a:srgbClr val="002060"/>
              </a:solidFill>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063E6F74-4976-4624-8302-C4173F8C360E}"/>
              </a:ext>
            </a:extLst>
          </p:cNvPr>
          <p:cNvSpPr txBox="1"/>
          <p:nvPr/>
        </p:nvSpPr>
        <p:spPr>
          <a:xfrm>
            <a:off x="5029202" y="4134097"/>
            <a:ext cx="4114799" cy="400110"/>
          </a:xfrm>
          <a:prstGeom prst="rect">
            <a:avLst/>
          </a:prstGeom>
          <a:noFill/>
        </p:spPr>
        <p:txBody>
          <a:bodyPr wrap="square">
            <a:spAutoFit/>
          </a:bodyPr>
          <a:lstStyle>
            <a:defPPr>
              <a:defRPr lang="zh-CN"/>
            </a:defPPr>
            <a:lvl1pPr latinLnBrk="1">
              <a:defRPr sz="2200">
                <a:solidFill>
                  <a:srgbClr val="00B0F0"/>
                </a:solidFill>
                <a:latin typeface="微软雅黑" panose="020B0503020204020204" pitchFamily="34" charset="-122"/>
                <a:ea typeface="微软雅黑" panose="020B0503020204020204" pitchFamily="34" charset="-122"/>
              </a:defRPr>
            </a:lvl1pPr>
          </a:lstStyle>
          <a:p>
            <a:r>
              <a:rPr lang="en-US" altLang="zh-CN" sz="2000" dirty="0"/>
              <a:t>const DATE_OF_BIRTH = 2012</a:t>
            </a:r>
            <a:endParaRPr lang="zh-CN" altLang="en-US" sz="2000" dirty="0"/>
          </a:p>
        </p:txBody>
      </p:sp>
      <p:sp>
        <p:nvSpPr>
          <p:cNvPr id="10" name="标题 1">
            <a:extLst>
              <a:ext uri="{FF2B5EF4-FFF2-40B4-BE49-F238E27FC236}">
                <a16:creationId xmlns:a16="http://schemas.microsoft.com/office/drawing/2014/main" id="{EECAF938-BCB9-4194-8D64-C0452793540B}"/>
              </a:ext>
            </a:extLst>
          </p:cNvPr>
          <p:cNvSpPr>
            <a:spLocks noGrp="1"/>
          </p:cNvSpPr>
          <p:nvPr>
            <p:ph type="title"/>
          </p:nvPr>
        </p:nvSpPr>
        <p:spPr>
          <a:xfrm>
            <a:off x="1619672" y="226157"/>
            <a:ext cx="5581024" cy="438150"/>
          </a:xfrm>
        </p:spPr>
        <p:txBody>
          <a:bodyPr/>
          <a:lstStyle/>
          <a:p>
            <a:r>
              <a:rPr lang="en-US" altLang="zh-CN" sz="3200" dirty="0">
                <a:solidFill>
                  <a:srgbClr val="002060"/>
                </a:solidFill>
                <a:latin typeface="隶书" panose="02010509060101010101" pitchFamily="49" charset="-122"/>
                <a:ea typeface="隶书" panose="02010509060101010101" pitchFamily="49" charset="-122"/>
              </a:rPr>
              <a:t>§</a:t>
            </a:r>
            <a:r>
              <a:rPr lang="en-US" altLang="zh-CN" sz="3200" dirty="0"/>
              <a:t>1.3.1.1  </a:t>
            </a:r>
            <a:r>
              <a:rPr lang="zh-CN" altLang="en-US" sz="3200" dirty="0"/>
              <a:t>变量</a:t>
            </a:r>
            <a:r>
              <a:rPr lang="en-US" altLang="zh-CN" dirty="0">
                <a:solidFill>
                  <a:srgbClr val="FF0000"/>
                </a:solidFill>
              </a:rPr>
              <a:t>——1.</a:t>
            </a:r>
            <a:r>
              <a:rPr lang="zh-CN" altLang="en-US" dirty="0">
                <a:solidFill>
                  <a:srgbClr val="FF0000"/>
                </a:solidFill>
              </a:rPr>
              <a:t>变量命名规范</a:t>
            </a:r>
          </a:p>
        </p:txBody>
      </p:sp>
      <p:sp>
        <p:nvSpPr>
          <p:cNvPr id="9" name="AutoShape 13">
            <a:extLst>
              <a:ext uri="{FF2B5EF4-FFF2-40B4-BE49-F238E27FC236}">
                <a16:creationId xmlns:a16="http://schemas.microsoft.com/office/drawing/2014/main" id="{624F4B00-0277-4139-94AB-89654DA79EFC}"/>
              </a:ext>
            </a:extLst>
          </p:cNvPr>
          <p:cNvSpPr>
            <a:spLocks noChangeArrowheads="1"/>
          </p:cNvSpPr>
          <p:nvPr/>
        </p:nvSpPr>
        <p:spPr bwMode="auto">
          <a:xfrm>
            <a:off x="1619672" y="4534207"/>
            <a:ext cx="7746254" cy="518323"/>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p>
            <a:r>
              <a:rPr lang="zh-CN" altLang="en-US" sz="1600" b="1" i="0" dirty="0">
                <a:solidFill>
                  <a:srgbClr val="FFFF00"/>
                </a:solidFill>
                <a:effectLst/>
                <a:latin typeface="-apple-system"/>
              </a:rPr>
              <a:t>尽量避免使用下划线，除非不用就难于理解</a:t>
            </a:r>
            <a:endParaRPr lang="zh-CN" altLang="en-US" sz="1600" b="1" dirty="0">
              <a:solidFill>
                <a:srgbClr val="FFFF00"/>
              </a:solidFill>
            </a:endParaRPr>
          </a:p>
        </p:txBody>
      </p:sp>
      <p:sp>
        <p:nvSpPr>
          <p:cNvPr id="8" name="矩形 1">
            <a:extLst>
              <a:ext uri="{FF2B5EF4-FFF2-40B4-BE49-F238E27FC236}">
                <a16:creationId xmlns:a16="http://schemas.microsoft.com/office/drawing/2014/main" id="{635E1AD2-A7A5-4DC7-B45A-C88F750263CF}"/>
              </a:ext>
            </a:extLst>
          </p:cNvPr>
          <p:cNvSpPr txBox="1">
            <a:spLocks noChangeArrowheads="1"/>
          </p:cNvSpPr>
          <p:nvPr/>
        </p:nvSpPr>
        <p:spPr bwMode="auto">
          <a:xfrm>
            <a:off x="1812544" y="790374"/>
            <a:ext cx="7200799" cy="338554"/>
          </a:xfrm>
          <a:prstGeom prst="rect">
            <a:avLst/>
          </a:prstGeom>
          <a:solidFill>
            <a:srgbClr val="0070C0"/>
          </a:solidFill>
          <a:ln w="9525">
            <a:noFill/>
            <a:miter lim="800000"/>
          </a:ln>
        </p:spPr>
        <p:txBody>
          <a:bodyPr vert="horz" wrap="square" lIns="91440" tIns="45720" rIns="91440" bIns="45720" rtlCol="0">
            <a:spAutoFit/>
          </a:bodyPr>
          <a:lstStyle/>
          <a:p>
            <a:pPr algn="dist" fontAlgn="auto">
              <a:spcBef>
                <a:spcPts val="0"/>
              </a:spcBef>
              <a:spcAft>
                <a:spcPts val="0"/>
              </a:spcAft>
            </a:pPr>
            <a:r>
              <a:rPr lang="zh-CN" altLang="en-US" sz="1600" b="1" i="0" dirty="0">
                <a:solidFill>
                  <a:schemeClr val="bg1"/>
                </a:solidFill>
                <a:effectLst/>
                <a:latin typeface="Helvetica Neue"/>
              </a:rPr>
              <a:t>变量是任何程序设计基本元素之一，包括数值型、字符类型和逻辑类型等</a:t>
            </a:r>
            <a:endParaRPr lang="zh-CN" altLang="en-US" sz="1600" b="1" dirty="0">
              <a:solidFill>
                <a:schemeClr val="bg1"/>
              </a:solidFill>
              <a:latin typeface="华文楷体" panose="02010600040101010101" pitchFamily="2" charset="-122"/>
              <a:ea typeface="华文楷体" panose="02010600040101010101" pitchFamily="2" charset="-122"/>
            </a:endParaRPr>
          </a:p>
        </p:txBody>
      </p:sp>
      <p:sp>
        <p:nvSpPr>
          <p:cNvPr id="11" name="文本框 10">
            <a:extLst>
              <a:ext uri="{FF2B5EF4-FFF2-40B4-BE49-F238E27FC236}">
                <a16:creationId xmlns:a16="http://schemas.microsoft.com/office/drawing/2014/main" id="{58500AEC-53A1-40EC-AE71-3EDE6AB51BFC}"/>
              </a:ext>
            </a:extLst>
          </p:cNvPr>
          <p:cNvSpPr txBox="1"/>
          <p:nvPr/>
        </p:nvSpPr>
        <p:spPr>
          <a:xfrm>
            <a:off x="4164062" y="3733987"/>
            <a:ext cx="2899176" cy="369332"/>
          </a:xfrm>
          <a:prstGeom prst="rect">
            <a:avLst/>
          </a:prstGeom>
          <a:noFill/>
        </p:spPr>
        <p:txBody>
          <a:bodyPr wrap="square">
            <a:spAutoFit/>
          </a:bodyPr>
          <a:lstStyle/>
          <a:p>
            <a:pPr algn="l" latinLnBrk="1"/>
            <a:r>
              <a:rPr lang="zh-CN" altLang="en-US" b="1" dirty="0">
                <a:solidFill>
                  <a:srgbClr val="00B0F0"/>
                </a:solidFill>
                <a:latin typeface="微软雅黑" panose="020B0503020204020204" pitchFamily="34" charset="-122"/>
                <a:ea typeface="微软雅黑" panose="020B0503020204020204" pitchFamily="34" charset="-122"/>
              </a:rPr>
              <a:t>同元基础库</a:t>
            </a:r>
            <a:r>
              <a:rPr lang="en-US" altLang="zh-CN" b="1" dirty="0">
                <a:solidFill>
                  <a:srgbClr val="00B0F0"/>
                </a:solidFill>
                <a:latin typeface="微软雅黑" panose="020B0503020204020204" pitchFamily="34" charset="-122"/>
                <a:ea typeface="微软雅黑" panose="020B0503020204020204" pitchFamily="34" charset="-122"/>
              </a:rPr>
              <a:t>(</a:t>
            </a:r>
            <a:r>
              <a:rPr lang="en-US" altLang="zh-CN" b="1" dirty="0" err="1">
                <a:solidFill>
                  <a:srgbClr val="00B0F0"/>
                </a:solidFill>
                <a:latin typeface="微软雅黑" panose="020B0503020204020204" pitchFamily="34" charset="-122"/>
                <a:ea typeface="微软雅黑" panose="020B0503020204020204" pitchFamily="34" charset="-122"/>
              </a:rPr>
              <a:t>TyBase</a:t>
            </a:r>
            <a:r>
              <a:rPr lang="en-US" altLang="zh-CN" b="1" kern="1200" dirty="0">
                <a:solidFill>
                  <a:srgbClr val="00B0F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175128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7691660-31F4-4A33-A453-12A83814BB65}"/>
              </a:ext>
            </a:extLst>
          </p:cNvPr>
          <p:cNvSpPr txBox="1">
            <a:spLocks/>
          </p:cNvSpPr>
          <p:nvPr/>
        </p:nvSpPr>
        <p:spPr bwMode="auto">
          <a:xfrm>
            <a:off x="179512" y="733685"/>
            <a:ext cx="5729271" cy="961289"/>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540000" indent="-540000">
              <a:lnSpc>
                <a:spcPts val="3600"/>
              </a:lnSpc>
              <a:buFont typeface="+mj-ea"/>
              <a:buAutoNum type="circleNumDbPlain" startAt="2"/>
            </a:pPr>
            <a:r>
              <a:rPr lang="zh-CN" altLang="en-US" sz="2000" b="1" dirty="0">
                <a:solidFill>
                  <a:srgbClr val="0070C0"/>
                </a:solidFill>
                <a:latin typeface="微软雅黑" panose="020B0503020204020204" pitchFamily="34" charset="-122"/>
                <a:ea typeface="微软雅黑" panose="020B0503020204020204" pitchFamily="34" charset="-122"/>
              </a:rPr>
              <a:t>变量名为中文的命名：</a:t>
            </a:r>
            <a:endParaRPr lang="en-US" altLang="zh-CN" sz="2000" kern="0" dirty="0">
              <a:solidFill>
                <a:srgbClr val="00B0F0"/>
              </a:solidFill>
              <a:latin typeface="微软雅黑" panose="020B0503020204020204" pitchFamily="34" charset="-122"/>
              <a:ea typeface="微软雅黑" panose="020B0503020204020204" pitchFamily="34" charset="-122"/>
            </a:endParaRPr>
          </a:p>
          <a:p>
            <a:pPr marL="540000" indent="-540000">
              <a:lnSpc>
                <a:spcPts val="3600"/>
              </a:lnSpc>
              <a:buFont typeface="+mj-ea"/>
              <a:buAutoNum type="circleNumDbPlain" startAt="2"/>
            </a:pPr>
            <a:r>
              <a:rPr lang="zh-CN" altLang="en-US" sz="2000" b="1" dirty="0">
                <a:solidFill>
                  <a:srgbClr val="0070C0"/>
                </a:solidFill>
                <a:latin typeface="微软雅黑" panose="020B0503020204020204" pitchFamily="34" charset="-122"/>
                <a:ea typeface="微软雅黑" panose="020B0503020204020204" pitchFamily="34" charset="-122"/>
              </a:rPr>
              <a:t>变量名为希腊字母命名：</a:t>
            </a:r>
          </a:p>
        </p:txBody>
      </p:sp>
      <p:sp>
        <p:nvSpPr>
          <p:cNvPr id="6" name="内容占位符 2">
            <a:extLst>
              <a:ext uri="{FF2B5EF4-FFF2-40B4-BE49-F238E27FC236}">
                <a16:creationId xmlns:a16="http://schemas.microsoft.com/office/drawing/2014/main" id="{A51B7BA1-8EA3-4CFC-8D00-733891A2E15F}"/>
              </a:ext>
            </a:extLst>
          </p:cNvPr>
          <p:cNvSpPr txBox="1">
            <a:spLocks/>
          </p:cNvSpPr>
          <p:nvPr/>
        </p:nvSpPr>
        <p:spPr>
          <a:xfrm>
            <a:off x="251520" y="2952963"/>
            <a:ext cx="8064896" cy="1649689"/>
          </a:xfrm>
          <a:prstGeom prst="rect">
            <a:avLst/>
          </a:prstGeom>
          <a:ln>
            <a:noFill/>
          </a:ln>
        </p:spPr>
        <p:txBody>
          <a:bodyPr vert="horz" lIns="91440" tIns="45720" rIns="91440" bIns="45720" rtlCol="0">
            <a:noAutofit/>
          </a:bodyPr>
          <a:lstStyle>
            <a:lvl1pPr marL="228600" indent="-228600" algn="l" defTabSz="914400" rtl="0" eaLnBrk="1" latinLnBrk="0" hangingPunct="1">
              <a:lnSpc>
                <a:spcPct val="125000"/>
              </a:lnSpc>
              <a:spcBef>
                <a:spcPts val="1000"/>
              </a:spcBef>
              <a:buFont typeface="Wingdings" pitchFamily="2" charset="2"/>
              <a:buChar char="p"/>
              <a:defRPr sz="2400" kern="1200">
                <a:solidFill>
                  <a:schemeClr val="tx1"/>
                </a:solidFill>
                <a:latin typeface="华文楷体" panose="02010600040101010101" pitchFamily="2" charset="-122"/>
                <a:ea typeface="华文楷体" panose="02010600040101010101" pitchFamily="2" charset="-122"/>
                <a:cs typeface="+mn-cs"/>
              </a:defRPr>
            </a:lvl1pPr>
            <a:lvl2pPr marL="685800" indent="-228600" algn="l" defTabSz="914400" rtl="0" eaLnBrk="1" latinLnBrk="0" hangingPunct="1">
              <a:lnSpc>
                <a:spcPct val="125000"/>
              </a:lnSpc>
              <a:spcBef>
                <a:spcPts val="500"/>
              </a:spcBef>
              <a:buFont typeface="Wingdings" pitchFamily="2" charset="2"/>
              <a:buChar char="p"/>
              <a:defRPr sz="2400" kern="1200">
                <a:solidFill>
                  <a:schemeClr val="tx1"/>
                </a:solidFill>
                <a:latin typeface="华文楷体" panose="02010600040101010101" pitchFamily="2" charset="-122"/>
                <a:ea typeface="华文楷体" panose="02010600040101010101" pitchFamily="2" charset="-122"/>
                <a:cs typeface="+mn-cs"/>
              </a:defRPr>
            </a:lvl2pPr>
            <a:lvl3pPr marL="1143000" indent="-228600" algn="l" defTabSz="914400" rtl="0" eaLnBrk="1" latinLnBrk="0" hangingPunct="1">
              <a:lnSpc>
                <a:spcPct val="125000"/>
              </a:lnSpc>
              <a:spcBef>
                <a:spcPts val="500"/>
              </a:spcBef>
              <a:buFont typeface="Wingdings" pitchFamily="2" charset="2"/>
              <a:buChar char="p"/>
              <a:defRPr sz="2000" kern="1200">
                <a:solidFill>
                  <a:schemeClr val="tx1"/>
                </a:solidFill>
                <a:latin typeface="华文楷体" panose="02010600040101010101" pitchFamily="2" charset="-122"/>
                <a:ea typeface="华文楷体" panose="02010600040101010101" pitchFamily="2" charset="-122"/>
                <a:cs typeface="+mn-cs"/>
              </a:defRPr>
            </a:lvl3pPr>
            <a:lvl4pPr marL="1600200" indent="-228600" algn="l" defTabSz="914400" rtl="0" eaLnBrk="1" latinLnBrk="0" hangingPunct="1">
              <a:lnSpc>
                <a:spcPct val="125000"/>
              </a:lnSpc>
              <a:spcBef>
                <a:spcPts val="500"/>
              </a:spcBef>
              <a:buFont typeface="Wingdings" pitchFamily="2" charset="2"/>
              <a:buChar char="p"/>
              <a:defRPr sz="1800" kern="1200">
                <a:solidFill>
                  <a:schemeClr val="tx1"/>
                </a:solidFill>
                <a:latin typeface="华文楷体" panose="02010600040101010101" pitchFamily="2" charset="-122"/>
                <a:ea typeface="华文楷体" panose="02010600040101010101" pitchFamily="2" charset="-122"/>
                <a:cs typeface="+mn-cs"/>
              </a:defRPr>
            </a:lvl4pPr>
            <a:lvl5pPr marL="2057400" indent="-228600" algn="l" defTabSz="914400" rtl="0" eaLnBrk="1" latinLnBrk="0" hangingPunct="1">
              <a:lnSpc>
                <a:spcPct val="125000"/>
              </a:lnSpc>
              <a:spcBef>
                <a:spcPts val="500"/>
              </a:spcBef>
              <a:buFont typeface="Wingdings" pitchFamily="2" charset="2"/>
              <a:buChar char="p"/>
              <a:defRPr sz="1800" kern="1200">
                <a:solidFill>
                  <a:schemeClr val="tx1"/>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0000" lvl="0" indent="-540000" eaLnBrk="0" hangingPunct="0">
              <a:lnSpc>
                <a:spcPts val="3800"/>
              </a:lnSpc>
              <a:spcBef>
                <a:spcPct val="0"/>
              </a:spcBef>
              <a:buFont typeface="+mj-ea"/>
              <a:buAutoNum type="circleNumDbPlain"/>
              <a:defRPr/>
            </a:pPr>
            <a:r>
              <a:rPr lang="zh-CN" altLang="en-US" sz="2000" b="1" kern="0" dirty="0">
                <a:solidFill>
                  <a:srgbClr val="0070C0"/>
                </a:solidFill>
                <a:latin typeface="微软雅黑 Light" panose="020B0502040204020203" pitchFamily="34" charset="-122"/>
                <a:ea typeface="微软雅黑 Light" panose="020B0502040204020203" pitchFamily="34" charset="-122"/>
              </a:rPr>
              <a:t>特殊符号也可通过搜狗等汉字输入法输入（</a:t>
            </a:r>
            <a:r>
              <a:rPr lang="el-GR" altLang="zh-CN" sz="2000" b="1" kern="0" dirty="0">
                <a:solidFill>
                  <a:srgbClr val="0070C0"/>
                </a:solidFill>
                <a:latin typeface="微软雅黑 Light" panose="020B0502040204020203" pitchFamily="34" charset="-122"/>
                <a:ea typeface="微软雅黑 Light" panose="020B0502040204020203" pitchFamily="34" charset="-122"/>
              </a:rPr>
              <a:t> δ</a:t>
            </a:r>
            <a:r>
              <a:rPr lang="en-US" altLang="zh-CN" sz="2000" b="1" kern="0" dirty="0">
                <a:solidFill>
                  <a:srgbClr val="0070C0"/>
                </a:solidFill>
                <a:latin typeface="微软雅黑 Light" panose="020B0502040204020203" pitchFamily="34" charset="-122"/>
                <a:ea typeface="微软雅黑 Light" panose="020B0502040204020203" pitchFamily="34" charset="-122"/>
              </a:rPr>
              <a:t>,</a:t>
            </a:r>
            <a:r>
              <a:rPr lang="zh-CN" altLang="en-US" sz="2000" b="1" kern="0" dirty="0">
                <a:solidFill>
                  <a:srgbClr val="0070C0"/>
                </a:solidFill>
                <a:latin typeface="微软雅黑 Light" panose="020B0502040204020203" pitchFamily="34" charset="-122"/>
                <a:ea typeface="微软雅黑 Light" panose="020B0502040204020203" pitchFamily="34" charset="-122"/>
              </a:rPr>
              <a:t>不等于≠） </a:t>
            </a:r>
            <a:endParaRPr lang="en-US" altLang="zh-CN" sz="2000" b="1" kern="0" dirty="0">
              <a:solidFill>
                <a:srgbClr val="0070C0"/>
              </a:solidFill>
              <a:latin typeface="微软雅黑 Light" panose="020B0502040204020203" pitchFamily="34" charset="-122"/>
              <a:ea typeface="微软雅黑 Light" panose="020B0502040204020203" pitchFamily="34" charset="-122"/>
            </a:endParaRPr>
          </a:p>
          <a:p>
            <a:pPr marL="540000" marR="0" lvl="0" indent="-540000" defTabSz="914400" eaLnBrk="0" latinLnBrk="0" hangingPunct="0">
              <a:lnSpc>
                <a:spcPts val="3800"/>
              </a:lnSpc>
              <a:spcBef>
                <a:spcPct val="0"/>
              </a:spcBef>
              <a:buClrTx/>
              <a:buSzTx/>
              <a:buFont typeface="+mj-ea"/>
              <a:buAutoNum type="circleNumDbPlain"/>
              <a:tabLst/>
              <a:defRPr/>
            </a:pPr>
            <a:r>
              <a:rPr lang="zh-CN" altLang="en-US" sz="2000" b="1" kern="0" dirty="0">
                <a:solidFill>
                  <a:srgbClr val="0070C0"/>
                </a:solidFill>
                <a:latin typeface="微软雅黑 Light" panose="020B0502040204020203" pitchFamily="34" charset="-122"/>
                <a:ea typeface="微软雅黑 Light" panose="020B0502040204020203" pitchFamily="34" charset="-122"/>
              </a:rPr>
              <a:t>不推荐使用中文变量名 </a:t>
            </a:r>
            <a:endParaRPr lang="en-US" altLang="zh-CN" sz="2000" b="1" kern="0" dirty="0">
              <a:solidFill>
                <a:srgbClr val="0070C0"/>
              </a:solidFill>
              <a:latin typeface="微软雅黑 Light" panose="020B0502040204020203" pitchFamily="34" charset="-122"/>
              <a:ea typeface="微软雅黑 Light" panose="020B0502040204020203" pitchFamily="34" charset="-122"/>
            </a:endParaRPr>
          </a:p>
          <a:p>
            <a:pPr marL="540000" marR="0" lvl="0" indent="-540000" defTabSz="914400" eaLnBrk="0" latinLnBrk="0" hangingPunct="0">
              <a:lnSpc>
                <a:spcPts val="3800"/>
              </a:lnSpc>
              <a:spcBef>
                <a:spcPct val="0"/>
              </a:spcBef>
              <a:buClrTx/>
              <a:buSzTx/>
              <a:buFont typeface="+mj-ea"/>
              <a:buAutoNum type="circleNumDbPlain"/>
              <a:tabLst/>
              <a:defRPr/>
            </a:pPr>
            <a:r>
              <a:rPr lang="zh-CN" altLang="en-US" sz="2000" b="1" kern="0" dirty="0">
                <a:solidFill>
                  <a:srgbClr val="0070C0"/>
                </a:solidFill>
                <a:latin typeface="微软雅黑 Light" panose="020B0502040204020203" pitchFamily="34" charset="-122"/>
                <a:ea typeface="微软雅黑 Light" panose="020B0502040204020203" pitchFamily="34" charset="-122"/>
              </a:rPr>
              <a:t>不能和内置函数、常量及其关键词同名</a:t>
            </a:r>
          </a:p>
          <a:p>
            <a:pPr marR="0" lvl="0" algn="l" defTabSz="914400" rtl="0" eaLnBrk="1" fontAlgn="auto" latinLnBrk="0" hangingPunct="1">
              <a:lnSpc>
                <a:spcPct val="125000"/>
              </a:lnSpc>
              <a:spcBef>
                <a:spcPts val="1000"/>
              </a:spcBef>
              <a:spcAft>
                <a:spcPts val="0"/>
              </a:spcAft>
              <a:buClrTx/>
              <a:buSzTx/>
              <a:buFont typeface="Wingdings" panose="05000000000000000000" pitchFamily="2" charset="2"/>
              <a:buChar char="Ø"/>
              <a:tabLst/>
              <a:defRPr/>
            </a:pPr>
            <a:endParaRPr kumimoji="0" lang="en-US" altLang="zh-CN" b="1" i="0" u="none" strike="noStrike" kern="1200" cap="none" spc="0" normalizeH="0" baseline="0" noProof="0" dirty="0">
              <a:ln>
                <a:noFill/>
              </a:ln>
              <a:solidFill>
                <a:srgbClr val="002060"/>
              </a:solidFill>
              <a:effectLst/>
              <a:uLnTx/>
              <a:uFillTx/>
            </a:endParaRPr>
          </a:p>
          <a:p>
            <a:pPr marR="0" lvl="0" algn="l" defTabSz="914400" rtl="0" eaLnBrk="1" fontAlgn="auto" latinLnBrk="0" hangingPunct="1">
              <a:lnSpc>
                <a:spcPct val="125000"/>
              </a:lnSpc>
              <a:spcBef>
                <a:spcPts val="1000"/>
              </a:spcBef>
              <a:spcAft>
                <a:spcPts val="0"/>
              </a:spcAft>
              <a:buClrTx/>
              <a:buSzTx/>
              <a:buFont typeface="Wingdings" panose="05000000000000000000" pitchFamily="2" charset="2"/>
              <a:buChar char="Ø"/>
              <a:tabLst/>
              <a:defRPr/>
            </a:pPr>
            <a:endParaRPr kumimoji="0" lang="en-US" altLang="zh-CN" b="1" i="0" u="none" strike="noStrike" kern="1200" cap="none" spc="0" normalizeH="0" baseline="0" noProof="0" dirty="0">
              <a:ln>
                <a:noFill/>
              </a:ln>
              <a:solidFill>
                <a:srgbClr val="002060"/>
              </a:solidFill>
              <a:effectLst/>
              <a:uLnTx/>
              <a:uFillTx/>
            </a:endParaRPr>
          </a:p>
          <a:p>
            <a:pPr marL="742950" marR="0" lvl="0" indent="-742950" algn="l" defTabSz="914400" rtl="0" eaLnBrk="1" fontAlgn="auto" latinLnBrk="0" hangingPunct="1">
              <a:lnSpc>
                <a:spcPct val="125000"/>
              </a:lnSpc>
              <a:spcBef>
                <a:spcPts val="1000"/>
              </a:spcBef>
              <a:spcAft>
                <a:spcPts val="0"/>
              </a:spcAft>
              <a:buClrTx/>
              <a:buSzTx/>
              <a:buFont typeface="Wingdings" pitchFamily="2" charset="2"/>
              <a:buNone/>
              <a:tabLst/>
              <a:defRPr/>
            </a:pPr>
            <a:r>
              <a:rPr kumimoji="0" lang="en-US" altLang="zh-CN" b="1" i="0" u="none" strike="noStrike" kern="1200" cap="none" spc="0" normalizeH="0" baseline="0" noProof="0" dirty="0">
                <a:ln>
                  <a:noFill/>
                </a:ln>
                <a:solidFill>
                  <a:srgbClr val="002060"/>
                </a:solidFill>
                <a:effectLst/>
                <a:uLnTx/>
                <a:uFillTx/>
              </a:rPr>
              <a:t>     </a:t>
            </a:r>
          </a:p>
          <a:p>
            <a:pPr marL="742950" marR="0" lvl="0" indent="-742950" algn="l" defTabSz="914400" rtl="0" eaLnBrk="1" fontAlgn="auto" latinLnBrk="0" hangingPunct="1">
              <a:lnSpc>
                <a:spcPct val="125000"/>
              </a:lnSpc>
              <a:spcBef>
                <a:spcPts val="1000"/>
              </a:spcBef>
              <a:spcAft>
                <a:spcPts val="0"/>
              </a:spcAft>
              <a:buClrTx/>
              <a:buSzTx/>
              <a:buFont typeface="Wingdings" pitchFamily="2" charset="2"/>
              <a:buChar char="p"/>
              <a:tabLst/>
              <a:defRPr/>
            </a:pPr>
            <a:endParaRPr kumimoji="0" lang="zh-CN" altLang="en-US" b="1" i="0" u="none" strike="noStrike" kern="1200" cap="none" spc="0" normalizeH="0" baseline="0" noProof="0" dirty="0">
              <a:ln>
                <a:noFill/>
              </a:ln>
              <a:solidFill>
                <a:srgbClr val="002060"/>
              </a:solidFill>
              <a:effectLst/>
              <a:uLnTx/>
              <a:uFillTx/>
            </a:endParaRPr>
          </a:p>
        </p:txBody>
      </p:sp>
      <p:sp>
        <p:nvSpPr>
          <p:cNvPr id="7" name="AutoShape 13">
            <a:extLst>
              <a:ext uri="{FF2B5EF4-FFF2-40B4-BE49-F238E27FC236}">
                <a16:creationId xmlns:a16="http://schemas.microsoft.com/office/drawing/2014/main" id="{5666F6DC-B820-4525-8728-F2CF4DFF5C2F}"/>
              </a:ext>
            </a:extLst>
          </p:cNvPr>
          <p:cNvSpPr>
            <a:spLocks noChangeArrowheads="1"/>
          </p:cNvSpPr>
          <p:nvPr/>
        </p:nvSpPr>
        <p:spPr bwMode="auto">
          <a:xfrm>
            <a:off x="156636" y="2715126"/>
            <a:ext cx="994594" cy="365294"/>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rgbClr val="FFFF00"/>
                </a:solidFill>
                <a:ea typeface="黑体" panose="02010609060101010101" pitchFamily="49" charset="-122"/>
              </a:rPr>
              <a:t>注意</a:t>
            </a:r>
          </a:p>
        </p:txBody>
      </p:sp>
      <p:sp>
        <p:nvSpPr>
          <p:cNvPr id="21" name="文本框 20">
            <a:extLst>
              <a:ext uri="{FF2B5EF4-FFF2-40B4-BE49-F238E27FC236}">
                <a16:creationId xmlns:a16="http://schemas.microsoft.com/office/drawing/2014/main" id="{C01B0343-BB4D-4281-A537-D892599A1774}"/>
              </a:ext>
            </a:extLst>
          </p:cNvPr>
          <p:cNvSpPr txBox="1"/>
          <p:nvPr/>
        </p:nvSpPr>
        <p:spPr>
          <a:xfrm>
            <a:off x="582447" y="1769541"/>
            <a:ext cx="8814089" cy="338554"/>
          </a:xfrm>
          <a:prstGeom prst="rect">
            <a:avLst/>
          </a:prstGeom>
          <a:noFill/>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 </a:t>
            </a:r>
            <a:r>
              <a:rPr lang="zh-CN" altLang="en-US" sz="1600" kern="0" dirty="0">
                <a:solidFill>
                  <a:srgbClr val="0070C0"/>
                </a:solidFill>
                <a:latin typeface="微软雅黑" panose="020B0503020204020204" pitchFamily="34" charset="-122"/>
                <a:ea typeface="微软雅黑" panose="020B0503020204020204" pitchFamily="34" charset="-122"/>
              </a:rPr>
              <a:t>希腊字母属于</a:t>
            </a:r>
            <a:r>
              <a:rPr lang="en-US" altLang="zh-CN" sz="1600" kern="0" dirty="0">
                <a:solidFill>
                  <a:srgbClr val="0070C0"/>
                </a:solidFill>
                <a:latin typeface="微软雅黑" panose="020B0503020204020204" pitchFamily="34" charset="-122"/>
                <a:ea typeface="微软雅黑" panose="020B0503020204020204" pitchFamily="34" charset="-122"/>
              </a:rPr>
              <a:t>LaTeX </a:t>
            </a:r>
            <a:r>
              <a:rPr lang="zh-CN" altLang="en-US" sz="1600" kern="0" dirty="0">
                <a:solidFill>
                  <a:srgbClr val="0070C0"/>
                </a:solidFill>
                <a:latin typeface="微软雅黑" panose="020B0503020204020204" pitchFamily="34" charset="-122"/>
                <a:ea typeface="微软雅黑" panose="020B0503020204020204" pitchFamily="34" charset="-122"/>
              </a:rPr>
              <a:t>排版系统特殊符号，可直接转义表示，一般用转义操作符“</a:t>
            </a:r>
            <a:r>
              <a:rPr lang="en-US" altLang="zh-CN" sz="1600" kern="0" dirty="0">
                <a:solidFill>
                  <a:srgbClr val="0070C0"/>
                </a:solidFill>
                <a:latin typeface="微软雅黑" panose="020B0503020204020204" pitchFamily="34" charset="-122"/>
                <a:ea typeface="微软雅黑" panose="020B0503020204020204" pitchFamily="34" charset="-122"/>
              </a:rPr>
              <a:t>\</a:t>
            </a:r>
            <a:r>
              <a:rPr lang="zh-CN" altLang="en-US" sz="1600" kern="0" dirty="0">
                <a:solidFill>
                  <a:srgbClr val="0070C0"/>
                </a:solidFill>
                <a:latin typeface="微软雅黑" panose="020B0503020204020204" pitchFamily="34" charset="-122"/>
                <a:ea typeface="微软雅黑" panose="020B0503020204020204" pitchFamily="34" charset="-122"/>
              </a:rPr>
              <a:t>”</a:t>
            </a:r>
            <a:r>
              <a:rPr lang="en-US" altLang="zh-CN" sz="1600" kern="0" dirty="0">
                <a:solidFill>
                  <a:srgbClr val="0070C0"/>
                </a:solidFill>
                <a:latin typeface="微软雅黑" panose="020B0503020204020204" pitchFamily="34" charset="-122"/>
                <a:ea typeface="微软雅黑" panose="020B0503020204020204" pitchFamily="34" charset="-122"/>
              </a:rPr>
              <a:t>(</a:t>
            </a:r>
            <a:r>
              <a:rPr lang="zh-CN" altLang="en-US" sz="1600" kern="0" dirty="0">
                <a:solidFill>
                  <a:srgbClr val="0070C0"/>
                </a:solidFill>
                <a:latin typeface="微软雅黑" panose="020B0503020204020204" pitchFamily="34" charset="-122"/>
                <a:ea typeface="微软雅黑" panose="020B0503020204020204" pitchFamily="34" charset="-122"/>
              </a:rPr>
              <a:t>即反斜杠</a:t>
            </a:r>
            <a:r>
              <a:rPr lang="en-US" altLang="zh-CN" sz="1600" kern="0" dirty="0">
                <a:solidFill>
                  <a:srgbClr val="0070C0"/>
                </a:solidFill>
                <a:latin typeface="微软雅黑" panose="020B0503020204020204" pitchFamily="34" charset="-122"/>
                <a:ea typeface="微软雅黑" panose="020B0503020204020204" pitchFamily="34" charset="-122"/>
              </a:rPr>
              <a:t>)</a:t>
            </a:r>
            <a:endParaRPr lang="zh-CN" altLang="en-US" sz="1600" kern="0" dirty="0">
              <a:solidFill>
                <a:srgbClr val="0070C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0B68EF1A-FA55-408D-937F-136EFB09DE73}"/>
              </a:ext>
            </a:extLst>
          </p:cNvPr>
          <p:cNvSpPr txBox="1"/>
          <p:nvPr/>
        </p:nvSpPr>
        <p:spPr>
          <a:xfrm>
            <a:off x="3906180" y="2136252"/>
            <a:ext cx="5220072" cy="524952"/>
          </a:xfrm>
          <a:prstGeom prst="rect">
            <a:avLst/>
          </a:prstGeom>
          <a:noFill/>
        </p:spPr>
        <p:txBody>
          <a:bodyPr wrap="square">
            <a:spAutoFit/>
          </a:bodyPr>
          <a:lstStyle/>
          <a:p>
            <a:pPr eaLnBrk="0" hangingPunct="0">
              <a:lnSpc>
                <a:spcPts val="3800"/>
              </a:lnSpc>
            </a:pPr>
            <a:r>
              <a:rPr lang="zh-CN" altLang="en-US" b="1" kern="0" dirty="0">
                <a:solidFill>
                  <a:srgbClr val="00B0F0"/>
                </a:solidFill>
                <a:latin typeface="微软雅黑" panose="020B0503020204020204" pitchFamily="34" charset="-122"/>
                <a:ea typeface="微软雅黑" panose="020B0503020204020204" pitchFamily="34" charset="-122"/>
              </a:rPr>
              <a:t>     如</a:t>
            </a:r>
            <a:r>
              <a:rPr lang="el-GR" altLang="zh-CN" b="1" kern="0" dirty="0">
                <a:solidFill>
                  <a:srgbClr val="00B0F0"/>
                </a:solidFill>
                <a:latin typeface="微软雅黑" panose="020B0503020204020204" pitchFamily="34" charset="-122"/>
                <a:ea typeface="微软雅黑" panose="020B0503020204020204" pitchFamily="34" charset="-122"/>
              </a:rPr>
              <a:t>δ </a:t>
            </a:r>
            <a:r>
              <a:rPr lang="zh-CN" altLang="en-US" b="1" kern="0" dirty="0">
                <a:solidFill>
                  <a:srgbClr val="00B0F0"/>
                </a:solidFill>
                <a:latin typeface="微软雅黑" panose="020B0503020204020204" pitchFamily="34" charset="-122"/>
                <a:ea typeface="微软雅黑" panose="020B0503020204020204" pitchFamily="34" charset="-122"/>
              </a:rPr>
              <a:t>≠ </a:t>
            </a:r>
            <a:r>
              <a:rPr lang="en-US" altLang="zh-CN" b="1" kern="0" dirty="0">
                <a:solidFill>
                  <a:srgbClr val="00B0F0"/>
                </a:solidFill>
                <a:latin typeface="微软雅黑" panose="020B0503020204020204" pitchFamily="34" charset="-122"/>
                <a:ea typeface="微软雅黑" panose="020B0503020204020204" pitchFamily="34" charset="-122"/>
              </a:rPr>
              <a:t>\delta</a:t>
            </a:r>
            <a:r>
              <a:rPr lang="zh-CN" altLang="en-US" b="1" kern="0" dirty="0">
                <a:solidFill>
                  <a:srgbClr val="00B0F0"/>
                </a:solidFill>
                <a:latin typeface="微软雅黑" panose="020B0503020204020204" pitchFamily="34" charset="-122"/>
                <a:ea typeface="微软雅黑" panose="020B0503020204020204" pitchFamily="34" charset="-122"/>
              </a:rPr>
              <a:t>再按 </a:t>
            </a:r>
            <a:r>
              <a:rPr lang="en-US" altLang="zh-CN" b="1" kern="0" dirty="0">
                <a:solidFill>
                  <a:srgbClr val="00B0F0"/>
                </a:solidFill>
                <a:latin typeface="微软雅黑" panose="020B0503020204020204" pitchFamily="34" charset="-122"/>
                <a:ea typeface="微软雅黑" panose="020B0503020204020204" pitchFamily="34" charset="-122"/>
              </a:rPr>
              <a:t>tab </a:t>
            </a:r>
            <a:r>
              <a:rPr lang="zh-CN" altLang="en-US" b="1" kern="0" dirty="0">
                <a:solidFill>
                  <a:srgbClr val="00B0F0"/>
                </a:solidFill>
                <a:latin typeface="微软雅黑" panose="020B0503020204020204" pitchFamily="34" charset="-122"/>
                <a:ea typeface="微软雅黑" panose="020B0503020204020204" pitchFamily="34" charset="-122"/>
              </a:rPr>
              <a:t>健   </a:t>
            </a:r>
            <a:r>
              <a:rPr lang="en-US" altLang="zh-CN" b="1" kern="0" dirty="0">
                <a:solidFill>
                  <a:srgbClr val="00B0F0"/>
                </a:solidFill>
                <a:latin typeface="微软雅黑" panose="020B0503020204020204" pitchFamily="34" charset="-122"/>
                <a:ea typeface="微软雅黑" panose="020B0503020204020204" pitchFamily="34" charset="-122"/>
              </a:rPr>
              <a:t>julia&gt;</a:t>
            </a:r>
            <a:r>
              <a:rPr lang="el-GR" altLang="zh-CN" b="1" kern="0" dirty="0">
                <a:solidFill>
                  <a:srgbClr val="00B0F0"/>
                </a:solidFill>
                <a:latin typeface="微软雅黑" panose="020B0503020204020204" pitchFamily="34" charset="-122"/>
                <a:ea typeface="微软雅黑" panose="020B0503020204020204" pitchFamily="34" charset="-122"/>
              </a:rPr>
              <a:t>δ</a:t>
            </a:r>
            <a:endParaRPr lang="zh-CN" altLang="en-US" b="1" kern="0" dirty="0">
              <a:solidFill>
                <a:srgbClr val="00B0F0"/>
              </a:solidFill>
              <a:latin typeface="微软雅黑" panose="020B0503020204020204" pitchFamily="34" charset="-122"/>
              <a:ea typeface="微软雅黑" panose="020B0503020204020204" pitchFamily="34" charset="-122"/>
            </a:endParaRPr>
          </a:p>
        </p:txBody>
      </p:sp>
      <p:sp>
        <p:nvSpPr>
          <p:cNvPr id="28" name="标题 1">
            <a:extLst>
              <a:ext uri="{FF2B5EF4-FFF2-40B4-BE49-F238E27FC236}">
                <a16:creationId xmlns:a16="http://schemas.microsoft.com/office/drawing/2014/main" id="{017268B2-41CD-486B-9D8A-E4A6FBB864FF}"/>
              </a:ext>
            </a:extLst>
          </p:cNvPr>
          <p:cNvSpPr>
            <a:spLocks noGrp="1"/>
          </p:cNvSpPr>
          <p:nvPr>
            <p:ph type="title"/>
          </p:nvPr>
        </p:nvSpPr>
        <p:spPr>
          <a:xfrm>
            <a:off x="1462138" y="196952"/>
            <a:ext cx="7560840" cy="438150"/>
          </a:xfrm>
        </p:spPr>
        <p:txBody>
          <a:bodyPr/>
          <a:lstStyle/>
          <a:p>
            <a:r>
              <a:rPr lang="en-US" altLang="zh-CN" sz="2800" dirty="0">
                <a:solidFill>
                  <a:srgbClr val="002060"/>
                </a:solidFill>
                <a:latin typeface="隶书" panose="02010509060101010101" pitchFamily="49" charset="-122"/>
                <a:ea typeface="隶书" panose="02010509060101010101" pitchFamily="49" charset="-122"/>
              </a:rPr>
              <a:t>§</a:t>
            </a:r>
            <a:r>
              <a:rPr lang="en-US" altLang="zh-CN" sz="2800" dirty="0"/>
              <a:t>1.3.1.1  </a:t>
            </a:r>
            <a:r>
              <a:rPr lang="zh-CN" altLang="en-US" sz="2800" dirty="0"/>
              <a:t>变量</a:t>
            </a:r>
            <a:r>
              <a:rPr lang="en-US" altLang="zh-CN" sz="2800" dirty="0">
                <a:solidFill>
                  <a:srgbClr val="FF0000"/>
                </a:solidFill>
              </a:rPr>
              <a:t>——1.</a:t>
            </a:r>
            <a:r>
              <a:rPr lang="zh-CN" altLang="en-US" sz="2800" dirty="0">
                <a:solidFill>
                  <a:srgbClr val="FF0000"/>
                </a:solidFill>
              </a:rPr>
              <a:t>变量命名规范</a:t>
            </a:r>
          </a:p>
        </p:txBody>
      </p:sp>
      <p:pic>
        <p:nvPicPr>
          <p:cNvPr id="3" name="图片 2">
            <a:extLst>
              <a:ext uri="{FF2B5EF4-FFF2-40B4-BE49-F238E27FC236}">
                <a16:creationId xmlns:a16="http://schemas.microsoft.com/office/drawing/2014/main" id="{A1A7BC56-75E7-4A9A-93B6-0005C707D3A1}"/>
              </a:ext>
            </a:extLst>
          </p:cNvPr>
          <p:cNvPicPr>
            <a:picLocks noChangeAspect="1"/>
          </p:cNvPicPr>
          <p:nvPr/>
        </p:nvPicPr>
        <p:blipFill>
          <a:blip r:embed="rId3"/>
          <a:stretch>
            <a:fillRect/>
          </a:stretch>
        </p:blipFill>
        <p:spPr>
          <a:xfrm>
            <a:off x="5740060" y="3723759"/>
            <a:ext cx="3282918" cy="596414"/>
          </a:xfrm>
          <a:prstGeom prst="rect">
            <a:avLst/>
          </a:prstGeom>
          <a:ln>
            <a:noFill/>
          </a:ln>
          <a:effectLst>
            <a:outerShdw blurRad="292100" dist="139700" dir="2700000" algn="tl" rotWithShape="0">
              <a:srgbClr val="333333">
                <a:alpha val="65000"/>
              </a:srgbClr>
            </a:outerShdw>
          </a:effectLst>
        </p:spPr>
      </p:pic>
      <p:sp>
        <p:nvSpPr>
          <p:cNvPr id="5" name="椭圆 4">
            <a:extLst>
              <a:ext uri="{FF2B5EF4-FFF2-40B4-BE49-F238E27FC236}">
                <a16:creationId xmlns:a16="http://schemas.microsoft.com/office/drawing/2014/main" id="{36B0A4E3-9EC1-4F4A-80A4-8E5ECE0BA8A4}"/>
              </a:ext>
            </a:extLst>
          </p:cNvPr>
          <p:cNvSpPr/>
          <p:nvPr/>
        </p:nvSpPr>
        <p:spPr bwMode="auto">
          <a:xfrm>
            <a:off x="8116324" y="3890107"/>
            <a:ext cx="360040" cy="432048"/>
          </a:xfrm>
          <a:prstGeom prst="ellipse">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7" name="文本框 16">
            <a:extLst>
              <a:ext uri="{FF2B5EF4-FFF2-40B4-BE49-F238E27FC236}">
                <a16:creationId xmlns:a16="http://schemas.microsoft.com/office/drawing/2014/main" id="{E5E43DFA-0B1D-434C-864B-1D7BC69EE655}"/>
              </a:ext>
            </a:extLst>
          </p:cNvPr>
          <p:cNvSpPr txBox="1"/>
          <p:nvPr/>
        </p:nvSpPr>
        <p:spPr>
          <a:xfrm>
            <a:off x="5619346" y="823327"/>
            <a:ext cx="2013610" cy="369332"/>
          </a:xfrm>
          <a:prstGeom prst="rect">
            <a:avLst/>
          </a:prstGeom>
          <a:noFill/>
        </p:spPr>
        <p:txBody>
          <a:bodyPr wrap="square">
            <a:spAutoFit/>
          </a:bodyPr>
          <a:lstStyle/>
          <a:p>
            <a:r>
              <a:rPr lang="zh-CN" altLang="en-US" sz="1800" b="1" kern="0" dirty="0">
                <a:solidFill>
                  <a:srgbClr val="00B0F0"/>
                </a:solidFill>
                <a:latin typeface="微软雅黑" panose="020B0503020204020204" pitchFamily="34" charset="-122"/>
                <a:ea typeface="微软雅黑" panose="020B0503020204020204" pitchFamily="34" charset="-122"/>
              </a:rPr>
              <a:t>哈工大</a:t>
            </a:r>
            <a:r>
              <a:rPr lang="en-US" altLang="zh-CN" sz="1800" b="1" kern="0" dirty="0">
                <a:solidFill>
                  <a:srgbClr val="00B0F0"/>
                </a:solidFill>
                <a:latin typeface="微软雅黑" panose="020B0503020204020204" pitchFamily="34" charset="-122"/>
                <a:ea typeface="微软雅黑" panose="020B0503020204020204" pitchFamily="34" charset="-122"/>
              </a:rPr>
              <a:t>=985</a:t>
            </a:r>
            <a:endParaRPr lang="zh-CN" altLang="en-US" b="1" dirty="0"/>
          </a:p>
        </p:txBody>
      </p:sp>
      <p:sp>
        <p:nvSpPr>
          <p:cNvPr id="18" name="矩形 17">
            <a:extLst>
              <a:ext uri="{FF2B5EF4-FFF2-40B4-BE49-F238E27FC236}">
                <a16:creationId xmlns:a16="http://schemas.microsoft.com/office/drawing/2014/main" id="{493C6951-40CA-41FA-8D09-E74D304B08FB}"/>
              </a:ext>
            </a:extLst>
          </p:cNvPr>
          <p:cNvSpPr/>
          <p:nvPr/>
        </p:nvSpPr>
        <p:spPr>
          <a:xfrm>
            <a:off x="3491880" y="849880"/>
            <a:ext cx="1789076"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dirty="0">
                <a:solidFill>
                  <a:schemeClr val="bg1"/>
                </a:solidFill>
                <a:latin typeface="微软雅黑" panose="020B0503020204020204" pitchFamily="34" charset="-122"/>
                <a:ea typeface="微软雅黑" panose="020B0503020204020204" pitchFamily="34" charset="-122"/>
              </a:rPr>
              <a:t>汉字变量名</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数据</a:t>
            </a:r>
          </a:p>
        </p:txBody>
      </p:sp>
      <p:sp>
        <p:nvSpPr>
          <p:cNvPr id="20" name="矩形 19">
            <a:extLst>
              <a:ext uri="{FF2B5EF4-FFF2-40B4-BE49-F238E27FC236}">
                <a16:creationId xmlns:a16="http://schemas.microsoft.com/office/drawing/2014/main" id="{F50766D6-5F41-4C2E-8CC2-9EFE934E6720}"/>
              </a:ext>
            </a:extLst>
          </p:cNvPr>
          <p:cNvSpPr/>
          <p:nvPr/>
        </p:nvSpPr>
        <p:spPr>
          <a:xfrm>
            <a:off x="3678853" y="1301008"/>
            <a:ext cx="2238085"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dirty="0">
                <a:solidFill>
                  <a:schemeClr val="bg1"/>
                </a:solidFill>
                <a:latin typeface="微软雅黑" panose="020B0503020204020204" pitchFamily="34" charset="-122"/>
                <a:ea typeface="微软雅黑" panose="020B0503020204020204" pitchFamily="34" charset="-122"/>
              </a:rPr>
              <a:t>希腊字母变量名</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数据</a:t>
            </a:r>
          </a:p>
        </p:txBody>
      </p:sp>
      <p:sp>
        <p:nvSpPr>
          <p:cNvPr id="16" name="矩形 15">
            <a:extLst>
              <a:ext uri="{FF2B5EF4-FFF2-40B4-BE49-F238E27FC236}">
                <a16:creationId xmlns:a16="http://schemas.microsoft.com/office/drawing/2014/main" id="{36A4B911-6759-4AD9-BD82-74B794A8A444}"/>
              </a:ext>
            </a:extLst>
          </p:cNvPr>
          <p:cNvSpPr/>
          <p:nvPr/>
        </p:nvSpPr>
        <p:spPr>
          <a:xfrm>
            <a:off x="1480878" y="2282717"/>
            <a:ext cx="2659074"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英文拼写希腊字母</a:t>
            </a:r>
            <a:r>
              <a:rPr lang="zh-CN" altLang="zh-CN" sz="1600" dirty="0">
                <a:solidFill>
                  <a:schemeClr val="bg1"/>
                </a:solidFill>
                <a:latin typeface="微软雅黑" panose="020B0503020204020204" pitchFamily="34" charset="-122"/>
                <a:ea typeface="微软雅黑" panose="020B0503020204020204" pitchFamily="34" charset="-122"/>
              </a:rPr>
              <a:t>+Tab 键</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49CDC953-0051-4D29-9051-161A6E722243}"/>
              </a:ext>
            </a:extLst>
          </p:cNvPr>
          <p:cNvSpPr txBox="1"/>
          <p:nvPr/>
        </p:nvSpPr>
        <p:spPr>
          <a:xfrm>
            <a:off x="744567" y="2274426"/>
            <a:ext cx="1203057" cy="369332"/>
          </a:xfrm>
          <a:prstGeom prst="rect">
            <a:avLst/>
          </a:prstGeom>
          <a:noFill/>
        </p:spPr>
        <p:txBody>
          <a:bodyPr wrap="square">
            <a:spAutoFit/>
          </a:bodyPr>
          <a:lstStyle/>
          <a:p>
            <a:r>
              <a:rPr lang="zh-CN" altLang="en-US" sz="1800" b="1" kern="0" dirty="0">
                <a:solidFill>
                  <a:srgbClr val="00B0F0"/>
                </a:solidFill>
                <a:latin typeface="微软雅黑" panose="020B0503020204020204" pitchFamily="34" charset="-122"/>
                <a:ea typeface="微软雅黑" panose="020B0503020204020204" pitchFamily="34" charset="-122"/>
              </a:rPr>
              <a:t>操作</a:t>
            </a:r>
            <a:endParaRPr lang="zh-CN" altLang="en-US" dirty="0"/>
          </a:p>
        </p:txBody>
      </p:sp>
      <p:sp>
        <p:nvSpPr>
          <p:cNvPr id="22" name="文本框 21">
            <a:extLst>
              <a:ext uri="{FF2B5EF4-FFF2-40B4-BE49-F238E27FC236}">
                <a16:creationId xmlns:a16="http://schemas.microsoft.com/office/drawing/2014/main" id="{0873CE30-85F4-4C8C-A2E1-51A2A851E6CC}"/>
              </a:ext>
            </a:extLst>
          </p:cNvPr>
          <p:cNvSpPr txBox="1"/>
          <p:nvPr/>
        </p:nvSpPr>
        <p:spPr>
          <a:xfrm>
            <a:off x="6258725" y="1259158"/>
            <a:ext cx="1643741" cy="369332"/>
          </a:xfrm>
          <a:prstGeom prst="rect">
            <a:avLst/>
          </a:prstGeom>
          <a:noFill/>
        </p:spPr>
        <p:txBody>
          <a:bodyPr wrap="square">
            <a:spAutoFit/>
          </a:bodyPr>
          <a:lstStyle>
            <a:defPPr>
              <a:defRPr lang="zh-CN"/>
            </a:defPPr>
            <a:lvl1pPr>
              <a:defRPr sz="1800" b="1" kern="0">
                <a:solidFill>
                  <a:srgbClr val="00B0F0"/>
                </a:solidFill>
                <a:latin typeface="微软雅黑" panose="020B0503020204020204" pitchFamily="34" charset="-122"/>
                <a:ea typeface="微软雅黑" panose="020B0503020204020204" pitchFamily="34" charset="-122"/>
              </a:defRPr>
            </a:lvl1pPr>
          </a:lstStyle>
          <a:p>
            <a:r>
              <a:rPr lang="zh-CN" altLang="en-US" dirty="0"/>
              <a:t> α=34</a:t>
            </a:r>
          </a:p>
        </p:txBody>
      </p:sp>
    </p:spTree>
    <p:extLst>
      <p:ext uri="{BB962C8B-B14F-4D97-AF65-F5344CB8AC3E}">
        <p14:creationId xmlns:p14="http://schemas.microsoft.com/office/powerpoint/2010/main" val="330193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p:bldP spid="25" grpId="0"/>
      <p:bldP spid="5" grpId="0" animBg="1"/>
      <p:bldP spid="17" grpId="0"/>
      <p:bldP spid="18" grpId="0" animBg="1"/>
      <p:bldP spid="20" grpId="0" animBg="1"/>
      <p:bldP spid="16" grpId="0" animBg="1"/>
      <p:bldP spid="19"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EFA1677-93B8-57E8-752E-52456BBF350F}"/>
              </a:ext>
            </a:extLst>
          </p:cNvPr>
          <p:cNvSpPr/>
          <p:nvPr/>
        </p:nvSpPr>
        <p:spPr>
          <a:xfrm>
            <a:off x="115088" y="1114284"/>
            <a:ext cx="9028912" cy="3427028"/>
          </a:xfrm>
          <a:prstGeom prst="rect">
            <a:avLst/>
          </a:prstGeom>
          <a:noFill/>
          <a:ln w="12700" cap="flat" cmpd="sng" algn="ctr">
            <a:solidFill>
              <a:srgbClr val="E7E6E6"/>
            </a:solidFill>
            <a:prstDash val="solid"/>
            <a:miter lim="800000"/>
          </a:ln>
          <a:effectLst/>
        </p:spPr>
        <p:txBody>
          <a:bodyPr wrap="square">
            <a:spAutoFit/>
          </a:bodyPr>
          <a:lstStyle/>
          <a:p>
            <a:pPr marL="457200" indent="-457200" fontAlgn="auto">
              <a:lnSpc>
                <a:spcPts val="3300"/>
              </a:lnSpc>
              <a:spcBef>
                <a:spcPts val="0"/>
              </a:spcBef>
              <a:spcAft>
                <a:spcPts val="0"/>
              </a:spcAft>
              <a:buClr>
                <a:prstClr val="black"/>
              </a:buClr>
              <a:buFont typeface="+mj-ea"/>
              <a:buAutoNum type="circleNumDbPlain"/>
            </a:pPr>
            <a:r>
              <a:rPr lang="zh-CN" altLang="en-US" kern="0" dirty="0">
                <a:solidFill>
                  <a:srgbClr val="002060"/>
                </a:solidFill>
                <a:latin typeface="微软雅黑" panose="020B0503020204020204" pitchFamily="34" charset="-122"/>
                <a:ea typeface="微软雅黑" panose="020B0503020204020204" pitchFamily="34" charset="-122"/>
                <a:sym typeface="Arial" panose="020B0604020202020204" pitchFamily="34" charset="0"/>
              </a:rPr>
              <a:t>变量名不能单独存在，它和不同类型数据绑定</a:t>
            </a:r>
            <a:r>
              <a:rPr lang="zh-CN" altLang="en-US" sz="2000" kern="0" dirty="0">
                <a:solidFill>
                  <a:srgbClr val="002060"/>
                </a:solidFill>
                <a:latin typeface="微软雅黑" panose="020B0503020204020204" pitchFamily="34" charset="-122"/>
                <a:ea typeface="微软雅黑" panose="020B0503020204020204" pitchFamily="34" charset="-122"/>
                <a:sym typeface="Arial" panose="020B0604020202020204" pitchFamily="34" charset="0"/>
              </a:rPr>
              <a:t>，所以运算前必须给变量赋值</a:t>
            </a:r>
            <a:r>
              <a:rPr lang="zh-CN" altLang="en-US" sz="2000" kern="0" dirty="0">
                <a:solidFill>
                  <a:srgbClr val="002060"/>
                </a:solidFill>
                <a:latin typeface="微软雅黑" panose="020B0503020204020204" pitchFamily="34" charset="-122"/>
                <a:ea typeface="微软雅黑" panose="020B0503020204020204" pitchFamily="34" charset="-122"/>
              </a:rPr>
              <a:t> </a:t>
            </a:r>
            <a:endParaRPr lang="en-US" altLang="zh-CN" sz="2000" kern="0" dirty="0">
              <a:solidFill>
                <a:srgbClr val="002060"/>
              </a:solidFill>
              <a:latin typeface="微软雅黑" panose="020B0503020204020204" pitchFamily="34" charset="-122"/>
              <a:ea typeface="微软雅黑" panose="020B0503020204020204" pitchFamily="34" charset="-122"/>
            </a:endParaRPr>
          </a:p>
          <a:p>
            <a:pPr marL="457200" indent="-457200" fontAlgn="auto">
              <a:lnSpc>
                <a:spcPts val="3300"/>
              </a:lnSpc>
              <a:spcBef>
                <a:spcPts val="0"/>
              </a:spcBef>
              <a:spcAft>
                <a:spcPts val="0"/>
              </a:spcAft>
              <a:buClr>
                <a:prstClr val="black"/>
              </a:buClr>
              <a:buFont typeface="+mj-ea"/>
              <a:buAutoNum type="circleNumDbPlain"/>
            </a:pPr>
            <a:r>
              <a:rPr lang="zh-CN" altLang="en-US" kern="0" dirty="0">
                <a:solidFill>
                  <a:srgbClr val="002060"/>
                </a:solidFill>
                <a:latin typeface="微软雅黑" panose="020B0503020204020204" pitchFamily="34" charset="-122"/>
                <a:ea typeface="微软雅黑" panose="020B0503020204020204" pitchFamily="34" charset="-122"/>
                <a:sym typeface="Arial" panose="020B0604020202020204" pitchFamily="34" charset="0"/>
              </a:rPr>
              <a:t>变量赋值可以各种类型的数据，如数值型、字符串和逻辑变量等，</a:t>
            </a:r>
            <a:endParaRPr lang="en-US" altLang="zh-CN" kern="0" dirty="0">
              <a:solidFill>
                <a:srgbClr val="002060"/>
              </a:solidFill>
              <a:latin typeface="微软雅黑" panose="020B0503020204020204" pitchFamily="34" charset="-122"/>
              <a:ea typeface="微软雅黑" panose="020B0503020204020204" pitchFamily="34" charset="-122"/>
              <a:sym typeface="Arial" panose="020B0604020202020204" pitchFamily="34" charset="0"/>
            </a:endParaRPr>
          </a:p>
          <a:p>
            <a:pPr marL="457200" indent="-457200" fontAlgn="auto">
              <a:lnSpc>
                <a:spcPts val="3300"/>
              </a:lnSpc>
              <a:spcBef>
                <a:spcPts val="0"/>
              </a:spcBef>
              <a:spcAft>
                <a:spcPts val="0"/>
              </a:spcAft>
              <a:buClr>
                <a:prstClr val="black"/>
              </a:buClr>
              <a:buFont typeface="+mj-ea"/>
              <a:buAutoNum type="circleNumDbPlain"/>
            </a:pPr>
            <a:r>
              <a:rPr lang="en-US" altLang="zh-CN" kern="0" dirty="0">
                <a:solidFill>
                  <a:srgbClr val="002060"/>
                </a:solidFill>
                <a:latin typeface="微软雅黑" panose="020B0503020204020204" pitchFamily="34" charset="-122"/>
                <a:ea typeface="微软雅黑" panose="020B0503020204020204" pitchFamily="34" charset="-122"/>
              </a:rPr>
              <a:t>Julia </a:t>
            </a:r>
            <a:r>
              <a:rPr lang="zh-CN" altLang="en-US" kern="0" dirty="0">
                <a:solidFill>
                  <a:srgbClr val="002060"/>
                </a:solidFill>
                <a:latin typeface="微软雅黑" panose="020B0503020204020204" pitchFamily="34" charset="-122"/>
                <a:ea typeface="微软雅黑" panose="020B0503020204020204" pitchFamily="34" charset="-122"/>
              </a:rPr>
              <a:t>变量赋值可以</a:t>
            </a:r>
            <a:r>
              <a:rPr lang="zh-CN" altLang="en-US" kern="0" dirty="0">
                <a:solidFill>
                  <a:srgbClr val="FF0000"/>
                </a:solidFill>
                <a:latin typeface="微软雅黑" panose="020B0503020204020204" pitchFamily="34" charset="-122"/>
                <a:ea typeface="微软雅黑" panose="020B0503020204020204" pitchFamily="34" charset="-122"/>
              </a:rPr>
              <a:t>事先不声明类型</a:t>
            </a:r>
            <a:r>
              <a:rPr lang="en-US" altLang="zh-CN" kern="0" dirty="0">
                <a:solidFill>
                  <a:srgbClr val="002060"/>
                </a:solidFill>
                <a:latin typeface="微软雅黑" panose="020B0503020204020204" pitchFamily="34" charset="-122"/>
                <a:ea typeface="微软雅黑" panose="020B0503020204020204" pitchFamily="34" charset="-122"/>
              </a:rPr>
              <a:t>, </a:t>
            </a:r>
            <a:r>
              <a:rPr lang="zh-CN" altLang="en-US" kern="0" dirty="0">
                <a:solidFill>
                  <a:srgbClr val="002060"/>
                </a:solidFill>
                <a:latin typeface="微软雅黑" panose="020B0503020204020204" pitchFamily="34" charset="-122"/>
                <a:ea typeface="微软雅黑" panose="020B0503020204020204" pitchFamily="34" charset="-122"/>
              </a:rPr>
              <a:t>根据赋值特点确定变量类型；</a:t>
            </a:r>
            <a:r>
              <a:rPr lang="en-US" altLang="zh-CN" kern="0" dirty="0">
                <a:solidFill>
                  <a:srgbClr val="002060"/>
                </a:solidFill>
                <a:latin typeface="微软雅黑" panose="020B0503020204020204" pitchFamily="34" charset="-122"/>
                <a:ea typeface="微软雅黑" panose="020B0503020204020204" pitchFamily="34" charset="-122"/>
              </a:rPr>
              <a:t> </a:t>
            </a:r>
            <a:r>
              <a:rPr lang="zh-CN" altLang="en-US" kern="0" dirty="0">
                <a:solidFill>
                  <a:srgbClr val="002060"/>
                </a:solidFill>
                <a:latin typeface="微软雅黑" panose="020B0503020204020204" pitchFamily="34" charset="-122"/>
                <a:ea typeface="微软雅黑" panose="020B0503020204020204" pitchFamily="34" charset="-122"/>
              </a:rPr>
              <a:t>同时</a:t>
            </a:r>
            <a:r>
              <a:rPr lang="en-US" altLang="zh-CN" kern="0" dirty="0">
                <a:solidFill>
                  <a:srgbClr val="002060"/>
                </a:solidFill>
                <a:latin typeface="微软雅黑" panose="020B0503020204020204" pitchFamily="34" charset="-122"/>
                <a:ea typeface="微软雅黑" panose="020B0503020204020204" pitchFamily="34" charset="-122"/>
              </a:rPr>
              <a:t>Julia</a:t>
            </a:r>
            <a:r>
              <a:rPr lang="zh-CN" altLang="en-US" kern="0" dirty="0">
                <a:solidFill>
                  <a:srgbClr val="002060"/>
                </a:solidFill>
                <a:latin typeface="微软雅黑" panose="020B0503020204020204" pitchFamily="34" charset="-122"/>
                <a:ea typeface="微软雅黑" panose="020B0503020204020204" pitchFamily="34" charset="-122"/>
              </a:rPr>
              <a:t>也是可选类型化的编程语言，可用</a:t>
            </a:r>
            <a:r>
              <a:rPr lang="zh-CN" altLang="en-US" kern="0" dirty="0">
                <a:solidFill>
                  <a:srgbClr val="FF0000"/>
                </a:solidFill>
                <a:latin typeface="微软雅黑" panose="020B0503020204020204" pitchFamily="34" charset="-122"/>
                <a:ea typeface="微软雅黑" panose="020B0503020204020204" pitchFamily="34" charset="-122"/>
              </a:rPr>
              <a:t>双冒号操作符</a:t>
            </a:r>
            <a:r>
              <a:rPr lang="en-US" altLang="zh-CN" kern="0" dirty="0">
                <a:solidFill>
                  <a:srgbClr val="FF0000"/>
                </a:solidFill>
                <a:latin typeface="微软雅黑" panose="020B0503020204020204" pitchFamily="34" charset="-122"/>
                <a:ea typeface="微软雅黑" panose="020B0503020204020204" pitchFamily="34" charset="-122"/>
              </a:rPr>
              <a:t>::</a:t>
            </a:r>
            <a:r>
              <a:rPr lang="zh-CN" altLang="en-US" kern="0" dirty="0">
                <a:solidFill>
                  <a:srgbClr val="FF0000"/>
                </a:solidFill>
                <a:latin typeface="微软雅黑" panose="020B0503020204020204" pitchFamily="34" charset="-122"/>
                <a:ea typeface="微软雅黑" panose="020B0503020204020204" pitchFamily="34" charset="-122"/>
              </a:rPr>
              <a:t>指定变量类型</a:t>
            </a:r>
            <a:r>
              <a:rPr lang="en-US" altLang="zh-CN" kern="0" dirty="0">
                <a:solidFill>
                  <a:srgbClr val="FF0000"/>
                </a:solidFill>
                <a:latin typeface="微软雅黑" panose="020B0503020204020204" pitchFamily="34" charset="-122"/>
                <a:ea typeface="微软雅黑" panose="020B0503020204020204" pitchFamily="34" charset="-122"/>
              </a:rPr>
              <a:t> </a:t>
            </a:r>
          </a:p>
          <a:p>
            <a:pPr marL="457200" indent="-457200" fontAlgn="auto">
              <a:lnSpc>
                <a:spcPts val="3300"/>
              </a:lnSpc>
              <a:spcBef>
                <a:spcPts val="0"/>
              </a:spcBef>
              <a:spcAft>
                <a:spcPts val="0"/>
              </a:spcAft>
              <a:buClr>
                <a:prstClr val="black"/>
              </a:buClr>
              <a:buFont typeface="+mj-ea"/>
              <a:buAutoNum type="circleNumDbPlain"/>
            </a:pPr>
            <a:r>
              <a:rPr lang="zh-CN" altLang="en-US" dirty="0">
                <a:solidFill>
                  <a:srgbClr val="002060"/>
                </a:solidFill>
                <a:latin typeface="微软雅黑" panose="020B0503020204020204" pitchFamily="34" charset="-122"/>
                <a:ea typeface="微软雅黑" panose="020B0503020204020204" pitchFamily="34" charset="-122"/>
              </a:rPr>
              <a:t>每次运行命令行时，系统会自动创建特殊变量</a:t>
            </a:r>
            <a:r>
              <a:rPr lang="en-US" altLang="zh-CN" dirty="0" err="1">
                <a:solidFill>
                  <a:srgbClr val="002060"/>
                </a:solidFill>
                <a:latin typeface="微软雅黑" panose="020B0503020204020204" pitchFamily="34" charset="-122"/>
                <a:ea typeface="微软雅黑" panose="020B0503020204020204" pitchFamily="34" charset="-122"/>
              </a:rPr>
              <a:t>ans</a:t>
            </a:r>
            <a:r>
              <a:rPr lang="zh-CN" altLang="en-US" dirty="0">
                <a:solidFill>
                  <a:srgbClr val="002060"/>
                </a:solidFill>
                <a:latin typeface="微软雅黑" panose="020B0503020204020204" pitchFamily="34" charset="-122"/>
                <a:ea typeface="微软雅黑" panose="020B0503020204020204" pitchFamily="34" charset="-122"/>
              </a:rPr>
              <a:t>，并赋值给刚运行完的结果变量</a:t>
            </a:r>
            <a:r>
              <a:rPr lang="en-US" altLang="zh-CN" dirty="0">
                <a:solidFill>
                  <a:srgbClr val="002060"/>
                </a:solidFill>
                <a:latin typeface="微软雅黑" panose="020B0503020204020204" pitchFamily="34" charset="-122"/>
                <a:ea typeface="微软雅黑" panose="020B0503020204020204" pitchFamily="34" charset="-122"/>
              </a:rPr>
              <a:t> </a:t>
            </a:r>
            <a:r>
              <a:rPr lang="zh-CN" altLang="en-US" kern="0" dirty="0">
                <a:solidFill>
                  <a:srgbClr val="002060"/>
                </a:solidFill>
                <a:latin typeface="微软雅黑" panose="020B0503020204020204" pitchFamily="34" charset="-122"/>
                <a:ea typeface="微软雅黑" panose="020B0503020204020204" pitchFamily="34" charset="-122"/>
              </a:rPr>
              <a:t>，</a:t>
            </a:r>
            <a:endParaRPr lang="en-US" altLang="zh-CN" kern="0" dirty="0">
              <a:solidFill>
                <a:srgbClr val="002060"/>
              </a:solidFill>
              <a:latin typeface="微软雅黑" panose="020B0503020204020204" pitchFamily="34" charset="-122"/>
              <a:ea typeface="微软雅黑" panose="020B0503020204020204" pitchFamily="34" charset="-122"/>
            </a:endParaRPr>
          </a:p>
          <a:p>
            <a:pPr marL="457200" indent="-457200" fontAlgn="auto">
              <a:lnSpc>
                <a:spcPts val="3300"/>
              </a:lnSpc>
              <a:spcBef>
                <a:spcPts val="0"/>
              </a:spcBef>
              <a:spcAft>
                <a:spcPts val="0"/>
              </a:spcAft>
              <a:buClr>
                <a:prstClr val="black"/>
              </a:buClr>
              <a:buFont typeface="+mj-ea"/>
              <a:buAutoNum type="circleNumDbPlain"/>
            </a:pPr>
            <a:r>
              <a:rPr lang="zh-CN" altLang="en-US" kern="0" dirty="0">
                <a:solidFill>
                  <a:srgbClr val="002060"/>
                </a:solidFill>
                <a:latin typeface="微软雅黑" panose="020B0503020204020204" pitchFamily="34" charset="-122"/>
                <a:ea typeface="微软雅黑" panose="020B0503020204020204" pitchFamily="34" charset="-122"/>
              </a:rPr>
              <a:t>赋值中，如变量已存在，再新赋值将覆盖旧值</a:t>
            </a:r>
            <a:endParaRPr lang="en-US" altLang="zh-CN" kern="0" dirty="0">
              <a:solidFill>
                <a:srgbClr val="002060"/>
              </a:solidFill>
              <a:latin typeface="微软雅黑" panose="020B0503020204020204" pitchFamily="34" charset="-122"/>
              <a:ea typeface="微软雅黑" panose="020B0503020204020204" pitchFamily="34" charset="-122"/>
            </a:endParaRPr>
          </a:p>
          <a:p>
            <a:pPr marL="457200" indent="-457200" fontAlgn="auto">
              <a:lnSpc>
                <a:spcPts val="3300"/>
              </a:lnSpc>
              <a:spcBef>
                <a:spcPts val="0"/>
              </a:spcBef>
              <a:spcAft>
                <a:spcPts val="0"/>
              </a:spcAft>
              <a:buClr>
                <a:prstClr val="black"/>
              </a:buClr>
              <a:buFont typeface="+mj-ea"/>
              <a:buAutoNum type="circleNumDbPlain"/>
            </a:pPr>
            <a:r>
              <a:rPr lang="zh-CN" altLang="en-US" kern="0" dirty="0">
                <a:solidFill>
                  <a:srgbClr val="002060"/>
                </a:solidFill>
                <a:latin typeface="微软雅黑" panose="020B0503020204020204" pitchFamily="34" charset="-122"/>
                <a:ea typeface="微软雅黑" panose="020B0503020204020204" pitchFamily="34" charset="-122"/>
              </a:rPr>
              <a:t>如命令行末端加分号，结果不显示在命令行窗口，但存在于内存工作区中</a:t>
            </a:r>
            <a:endParaRPr lang="en-US" altLang="zh-CN" kern="0" dirty="0">
              <a:solidFill>
                <a:srgbClr val="002060"/>
              </a:solidFill>
              <a:latin typeface="微软雅黑" panose="020B0503020204020204" pitchFamily="34" charset="-122"/>
              <a:ea typeface="微软雅黑" panose="020B0503020204020204" pitchFamily="34" charset="-122"/>
            </a:endParaRPr>
          </a:p>
          <a:p>
            <a:pPr marL="457200" indent="-457200" fontAlgn="auto">
              <a:lnSpc>
                <a:spcPts val="3300"/>
              </a:lnSpc>
              <a:spcBef>
                <a:spcPts val="0"/>
              </a:spcBef>
              <a:spcAft>
                <a:spcPts val="0"/>
              </a:spcAft>
              <a:buClr>
                <a:prstClr val="black"/>
              </a:buClr>
              <a:buFont typeface="+mj-ea"/>
              <a:buAutoNum type="circleNumDbPlain"/>
            </a:pPr>
            <a:r>
              <a:rPr lang="zh-CN" altLang="en-US" dirty="0">
                <a:solidFill>
                  <a:srgbClr val="002060"/>
                </a:solidFill>
                <a:latin typeface="微软雅黑" panose="020B0503020204020204" pitchFamily="34" charset="-122"/>
                <a:ea typeface="微软雅黑" panose="020B0503020204020204" pitchFamily="34" charset="-122"/>
              </a:rPr>
              <a:t>用</a:t>
            </a:r>
            <a:r>
              <a:rPr lang="en-US" altLang="zh-CN" dirty="0" err="1">
                <a:solidFill>
                  <a:srgbClr val="002060"/>
                </a:solidFill>
                <a:latin typeface="微软雅黑" panose="020B0503020204020204" pitchFamily="34" charset="-122"/>
                <a:ea typeface="微软雅黑" panose="020B0503020204020204" pitchFamily="34" charset="-122"/>
              </a:rPr>
              <a:t>typeof</a:t>
            </a:r>
            <a:r>
              <a:rPr lang="zh-CN" altLang="en-US" dirty="0">
                <a:solidFill>
                  <a:srgbClr val="002060"/>
                </a:solidFill>
                <a:latin typeface="微软雅黑" panose="020B0503020204020204" pitchFamily="34" charset="-122"/>
                <a:ea typeface="微软雅黑" panose="020B0503020204020204" pitchFamily="34" charset="-122"/>
              </a:rPr>
              <a:t>判断变量的数据类型</a:t>
            </a:r>
          </a:p>
        </p:txBody>
      </p:sp>
      <p:sp>
        <p:nvSpPr>
          <p:cNvPr id="7" name="矩形 1">
            <a:extLst>
              <a:ext uri="{FF2B5EF4-FFF2-40B4-BE49-F238E27FC236}">
                <a16:creationId xmlns:a16="http://schemas.microsoft.com/office/drawing/2014/main" id="{2EAAE959-273D-A2B0-7E37-DE2F9440C8F3}"/>
              </a:ext>
            </a:extLst>
          </p:cNvPr>
          <p:cNvSpPr txBox="1">
            <a:spLocks noChangeArrowheads="1"/>
          </p:cNvSpPr>
          <p:nvPr/>
        </p:nvSpPr>
        <p:spPr bwMode="auto">
          <a:xfrm>
            <a:off x="173832" y="761650"/>
            <a:ext cx="8893495" cy="338554"/>
          </a:xfrm>
          <a:prstGeom prst="rect">
            <a:avLst/>
          </a:prstGeom>
          <a:solidFill>
            <a:srgbClr val="0070C0"/>
          </a:solidFill>
          <a:ln w="9525">
            <a:noFill/>
            <a:miter lim="800000"/>
          </a:ln>
        </p:spPr>
        <p:txBody>
          <a:bodyPr vert="horz" wrap="square" lIns="91440" tIns="45720" rIns="91440" bIns="45720" rtlCol="0">
            <a:spAutoFit/>
          </a:bodyPr>
          <a:lstStyle/>
          <a:p>
            <a:pPr fontAlgn="auto">
              <a:spcBef>
                <a:spcPts val="0"/>
              </a:spcBef>
              <a:spcAft>
                <a:spcPts val="0"/>
              </a:spcAft>
            </a:pPr>
            <a:r>
              <a:rPr lang="en-US" altLang="zh-CN" sz="1600" b="1" i="0" dirty="0">
                <a:solidFill>
                  <a:schemeClr val="bg1"/>
                </a:solidFill>
                <a:effectLst/>
                <a:latin typeface="Helvetica Neue"/>
              </a:rPr>
              <a:t>Julia </a:t>
            </a:r>
            <a:r>
              <a:rPr lang="zh-CN" altLang="en-US" sz="1600" b="1" i="0" dirty="0">
                <a:solidFill>
                  <a:schemeClr val="bg1"/>
                </a:solidFill>
                <a:effectLst/>
                <a:latin typeface="Helvetica Neue"/>
              </a:rPr>
              <a:t>变量使用简单，只需赋值即可，</a:t>
            </a:r>
            <a:r>
              <a:rPr lang="zh-CN" altLang="en-US" sz="1600" b="1" dirty="0">
                <a:solidFill>
                  <a:schemeClr val="bg1"/>
                </a:solidFill>
                <a:latin typeface="Helvetica Neue"/>
              </a:rPr>
              <a:t>即用等号“</a:t>
            </a:r>
            <a:r>
              <a:rPr lang="en-US" altLang="zh-CN" sz="1600" b="1" dirty="0">
                <a:solidFill>
                  <a:schemeClr val="bg1"/>
                </a:solidFill>
                <a:latin typeface="Helvetica Neue"/>
              </a:rPr>
              <a:t>=</a:t>
            </a:r>
            <a:r>
              <a:rPr lang="zh-CN" altLang="en-US" sz="1600" b="1" dirty="0">
                <a:solidFill>
                  <a:schemeClr val="bg1"/>
                </a:solidFill>
                <a:latin typeface="Helvetica Neue"/>
              </a:rPr>
              <a:t>”将不同类型数据储存到变量中 </a:t>
            </a:r>
            <a:endParaRPr lang="zh-CN" altLang="en-US" sz="1600" b="1" dirty="0">
              <a:solidFill>
                <a:schemeClr val="bg1"/>
              </a:solidFill>
              <a:latin typeface="华文楷体" panose="02010600040101010101" pitchFamily="2" charset="-122"/>
              <a:ea typeface="华文楷体" panose="02010600040101010101" pitchFamily="2" charset="-122"/>
            </a:endParaRPr>
          </a:p>
        </p:txBody>
      </p:sp>
      <p:sp>
        <p:nvSpPr>
          <p:cNvPr id="4" name="矩形 3">
            <a:extLst>
              <a:ext uri="{FF2B5EF4-FFF2-40B4-BE49-F238E27FC236}">
                <a16:creationId xmlns:a16="http://schemas.microsoft.com/office/drawing/2014/main" id="{B2141A5C-4548-95A5-B648-F770733E7EA2}"/>
              </a:ext>
            </a:extLst>
          </p:cNvPr>
          <p:cNvSpPr/>
          <p:nvPr/>
        </p:nvSpPr>
        <p:spPr>
          <a:xfrm>
            <a:off x="7727180" y="775730"/>
            <a:ext cx="1573007" cy="371512"/>
          </a:xfrm>
          <a:prstGeom prst="rect">
            <a:avLst/>
          </a:prstGeom>
          <a:solidFill>
            <a:srgbClr val="002060"/>
          </a:solidFill>
          <a:ln w="12700" cap="flat" cmpd="sng" algn="ctr">
            <a:noFill/>
            <a:prstDash val="solid"/>
            <a:miter lim="800000"/>
          </a:ln>
          <a:effectLst>
            <a:glow rad="63500">
              <a:srgbClr val="5B9BD5">
                <a:satMod val="175000"/>
                <a:alpha val="40000"/>
              </a:srgbClr>
            </a:glow>
            <a:innerShdw blurRad="63500" dist="50800" dir="8100000">
              <a:prstClr val="black">
                <a:alpha val="50000"/>
              </a:prstClr>
            </a:innerShdw>
            <a:reflection blurRad="6350" stA="52000" endA="300" endPos="35000" dir="5400000" sy="-100000" algn="bl" rotWithShape="0"/>
            <a:softEdge rad="635000"/>
          </a:effectLst>
          <a:scene3d>
            <a:camera prst="orthographicFront">
              <a:rot lat="0" lon="0" rev="0"/>
            </a:camera>
            <a:lightRig rig="contrasting" dir="t">
              <a:rot lat="0" lon="0" rev="1500000"/>
            </a:lightRig>
          </a:scene3d>
          <a:sp3d prstMaterial="metal"/>
        </p:spPr>
        <p:txBody>
          <a:bodyPr wrap="square">
            <a:spAutoFit/>
          </a:bodyPr>
          <a:lstStyle/>
          <a:p>
            <a:pPr marL="0" marR="0" lvl="0" indent="0" defTabSz="914400" eaLnBrk="1" fontAlgn="auto" latinLnBrk="0" hangingPunct="1">
              <a:lnSpc>
                <a:spcPct val="90000"/>
              </a:lnSpc>
              <a:spcBef>
                <a:spcPts val="0"/>
              </a:spcBef>
              <a:spcAft>
                <a:spcPts val="0"/>
              </a:spcAft>
              <a:buClr>
                <a:prstClr val="black"/>
              </a:buClr>
              <a:buSzTx/>
              <a:buFontTx/>
              <a:buNone/>
              <a:tabLst/>
              <a:defRPr/>
            </a:pPr>
            <a:r>
              <a:rPr kumimoji="0" lang="zh-CN" altLang="en-US" sz="2000" b="0" i="0" u="none" strike="noStrike" kern="0" cap="none" spc="0" normalizeH="0" baseline="0" noProof="0" dirty="0">
                <a:ln>
                  <a:noFill/>
                </a:ln>
                <a:solidFill>
                  <a:prstClr val="white"/>
                </a:solidFill>
                <a:effectLst/>
                <a:highlight>
                  <a:srgbClr val="FF0000"/>
                </a:highlight>
                <a:uLnTx/>
                <a:uFillTx/>
                <a:latin typeface="华文楷体" panose="02010600040101010101" pitchFamily="2" charset="-122"/>
                <a:ea typeface="华文楷体" panose="02010600040101010101" pitchFamily="2" charset="-122"/>
                <a:cs typeface="+mn-cs"/>
              </a:rPr>
              <a:t>变量</a:t>
            </a:r>
            <a:r>
              <a:rPr kumimoji="0" lang="en-US" altLang="zh-CN" sz="2000" b="0" i="0" u="none" strike="noStrike" kern="0" cap="none" spc="0" normalizeH="0" baseline="0" noProof="0" dirty="0">
                <a:ln>
                  <a:noFill/>
                </a:ln>
                <a:solidFill>
                  <a:prstClr val="white"/>
                </a:solidFill>
                <a:effectLst/>
                <a:highlight>
                  <a:srgbClr val="FF0000"/>
                </a:highligh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0" dirty="0">
                <a:ln>
                  <a:noFill/>
                </a:ln>
                <a:solidFill>
                  <a:prstClr val="white"/>
                </a:solidFill>
                <a:effectLst/>
                <a:highlight>
                  <a:srgbClr val="FF0000"/>
                </a:highlight>
                <a:uLnTx/>
                <a:uFillTx/>
                <a:latin typeface="华文楷体" panose="02010600040101010101" pitchFamily="2" charset="-122"/>
                <a:ea typeface="华文楷体" panose="02010600040101010101" pitchFamily="2" charset="-122"/>
                <a:cs typeface="+mn-cs"/>
              </a:rPr>
              <a:t>数据</a:t>
            </a:r>
            <a:r>
              <a:rPr kumimoji="0" lang="en-US" altLang="zh-CN" sz="2000" b="0" i="0" u="none" strike="noStrike" kern="0" cap="none" spc="0" normalizeH="0" baseline="0" noProof="0" dirty="0">
                <a:ln>
                  <a:noFill/>
                </a:ln>
                <a:solidFill>
                  <a:prstClr val="white"/>
                </a:solidFill>
                <a:effectLst/>
                <a:highlight>
                  <a:srgbClr val="FF0000"/>
                </a:highlight>
                <a:uLnTx/>
                <a:uFillTx/>
                <a:latin typeface="华文楷体" panose="02010600040101010101" pitchFamily="2" charset="-122"/>
                <a:ea typeface="华文楷体" panose="02010600040101010101" pitchFamily="2" charset="-122"/>
                <a:cs typeface="+mn-cs"/>
              </a:rPr>
              <a:t> </a:t>
            </a:r>
            <a:endParaRPr kumimoji="0" lang="zh-CN" altLang="en-US" sz="2000" b="0" i="0" u="none" strike="noStrike" kern="0" cap="none" spc="0" normalizeH="0" baseline="0" noProof="0" dirty="0">
              <a:ln>
                <a:noFill/>
              </a:ln>
              <a:solidFill>
                <a:prstClr val="white"/>
              </a:solidFill>
              <a:effectLst/>
              <a:highlight>
                <a:srgbClr val="FF0000"/>
              </a:highlight>
              <a:uLnTx/>
              <a:uFillTx/>
              <a:latin typeface="华文楷体" panose="02010600040101010101" pitchFamily="2" charset="-122"/>
              <a:ea typeface="华文楷体" panose="02010600040101010101" pitchFamily="2" charset="-122"/>
              <a:cs typeface="+mn-cs"/>
            </a:endParaRPr>
          </a:p>
        </p:txBody>
      </p:sp>
      <p:sp>
        <p:nvSpPr>
          <p:cNvPr id="3" name="矩形 2">
            <a:extLst>
              <a:ext uri="{FF2B5EF4-FFF2-40B4-BE49-F238E27FC236}">
                <a16:creationId xmlns:a16="http://schemas.microsoft.com/office/drawing/2014/main" id="{930B33D8-4DFC-9C7B-EC30-E710A1D00903}"/>
              </a:ext>
            </a:extLst>
          </p:cNvPr>
          <p:cNvSpPr/>
          <p:nvPr/>
        </p:nvSpPr>
        <p:spPr>
          <a:xfrm>
            <a:off x="3851920" y="4155926"/>
            <a:ext cx="1352407"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kern="0">
                <a:solidFill>
                  <a:schemeClr val="bg1"/>
                </a:solidFill>
              </a:rPr>
              <a:t>typeof(</a:t>
            </a:r>
            <a:r>
              <a:rPr lang="zh-CN" altLang="en-US" sz="1600" kern="0">
                <a:solidFill>
                  <a:schemeClr val="bg1"/>
                </a:solidFill>
              </a:rPr>
              <a:t>变量</a:t>
            </a:r>
            <a:r>
              <a:rPr lang="en-US" altLang="zh-CN" sz="1600" kern="0">
                <a:solidFill>
                  <a:schemeClr val="bg1"/>
                </a:solidFill>
              </a:rPr>
              <a:t>)</a:t>
            </a:r>
            <a:r>
              <a:rPr lang="en-US" altLang="zh-CN" sz="1600" kern="0" dirty="0">
                <a:solidFill>
                  <a:schemeClr val="bg1"/>
                </a:solidFill>
              </a:rPr>
              <a:t> </a:t>
            </a:r>
            <a:endParaRPr lang="zh-CN" altLang="en-US" sz="1600" kern="0" dirty="0">
              <a:solidFill>
                <a:schemeClr val="bg1"/>
              </a:solidFill>
            </a:endParaRPr>
          </a:p>
        </p:txBody>
      </p:sp>
      <p:sp>
        <p:nvSpPr>
          <p:cNvPr id="9" name="标题 1">
            <a:extLst>
              <a:ext uri="{FF2B5EF4-FFF2-40B4-BE49-F238E27FC236}">
                <a16:creationId xmlns:a16="http://schemas.microsoft.com/office/drawing/2014/main" id="{4AD72F8F-F9AD-4B5A-A1A3-E37A90D1B5E4}"/>
              </a:ext>
            </a:extLst>
          </p:cNvPr>
          <p:cNvSpPr>
            <a:spLocks noGrp="1"/>
          </p:cNvSpPr>
          <p:nvPr>
            <p:ph type="title"/>
          </p:nvPr>
        </p:nvSpPr>
        <p:spPr>
          <a:xfrm>
            <a:off x="1547664" y="189187"/>
            <a:ext cx="6966020" cy="438150"/>
          </a:xfrm>
        </p:spPr>
        <p:txBody>
          <a:bodyPr/>
          <a:lstStyle/>
          <a:p>
            <a:r>
              <a:rPr lang="en-US" altLang="zh-CN" sz="3200" dirty="0">
                <a:solidFill>
                  <a:srgbClr val="002060"/>
                </a:solidFill>
                <a:latin typeface="隶书" panose="02010509060101010101" pitchFamily="49" charset="-122"/>
                <a:ea typeface="隶书" panose="02010509060101010101" pitchFamily="49" charset="-122"/>
              </a:rPr>
              <a:t>§</a:t>
            </a:r>
            <a:r>
              <a:rPr lang="en-US" altLang="zh-CN" sz="3200" dirty="0"/>
              <a:t>1.3.1</a:t>
            </a:r>
            <a:r>
              <a:rPr lang="en-US" altLang="zh-CN" dirty="0"/>
              <a:t>.1</a:t>
            </a:r>
            <a:r>
              <a:rPr lang="en-US" altLang="zh-CN" sz="3200" dirty="0"/>
              <a:t>  </a:t>
            </a:r>
            <a:r>
              <a:rPr lang="zh-CN" altLang="en-US" dirty="0"/>
              <a:t>变量</a:t>
            </a:r>
            <a:r>
              <a:rPr lang="en-US" altLang="zh-CN" dirty="0">
                <a:solidFill>
                  <a:srgbClr val="FF0000"/>
                </a:solidFill>
              </a:rPr>
              <a:t>——2.</a:t>
            </a:r>
            <a:r>
              <a:rPr lang="zh-CN" altLang="en-US" dirty="0">
                <a:solidFill>
                  <a:srgbClr val="FF0000"/>
                </a:solidFill>
              </a:rPr>
              <a:t>变量赋值</a:t>
            </a:r>
          </a:p>
        </p:txBody>
      </p:sp>
      <p:sp>
        <p:nvSpPr>
          <p:cNvPr id="8" name="矩形 7">
            <a:extLst>
              <a:ext uri="{FF2B5EF4-FFF2-40B4-BE49-F238E27FC236}">
                <a16:creationId xmlns:a16="http://schemas.microsoft.com/office/drawing/2014/main" id="{59DB84FF-E33C-4616-AFD9-9354C0CA6F6E}"/>
              </a:ext>
            </a:extLst>
          </p:cNvPr>
          <p:cNvSpPr/>
          <p:nvPr/>
        </p:nvSpPr>
        <p:spPr>
          <a:xfrm>
            <a:off x="6372200" y="2434839"/>
            <a:ext cx="1609826"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kern="0" dirty="0">
                <a:solidFill>
                  <a:schemeClr val="bg1"/>
                </a:solidFill>
              </a:rPr>
              <a:t>var::TypeName</a:t>
            </a:r>
            <a:endParaRPr lang="zh-CN" altLang="zh-CN" sz="1600" kern="100" dirty="0">
              <a:solidFill>
                <a:schemeClr val="bg1"/>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B1AAFB8F-A472-41AC-A901-D753277DB29F}"/>
              </a:ext>
            </a:extLst>
          </p:cNvPr>
          <p:cNvSpPr txBox="1"/>
          <p:nvPr/>
        </p:nvSpPr>
        <p:spPr>
          <a:xfrm>
            <a:off x="7982026" y="2449220"/>
            <a:ext cx="1342502" cy="338554"/>
          </a:xfrm>
          <a:prstGeom prst="rect">
            <a:avLst/>
          </a:prstGeom>
          <a:noFill/>
        </p:spPr>
        <p:txBody>
          <a:bodyPr wrap="square">
            <a:spAutoFit/>
          </a:bodyPr>
          <a:lstStyle/>
          <a:p>
            <a:r>
              <a:rPr lang="en-US" altLang="zh-CN" sz="1600" b="1" kern="0" dirty="0">
                <a:solidFill>
                  <a:srgbClr val="00B0F0"/>
                </a:solidFill>
                <a:latin typeface="微软雅黑" panose="020B0503020204020204" pitchFamily="34" charset="-122"/>
                <a:ea typeface="微软雅黑" panose="020B0503020204020204" pitchFamily="34" charset="-122"/>
              </a:rPr>
              <a:t>x::Float64</a:t>
            </a:r>
            <a:endParaRPr lang="zh-CN" altLang="en-US" sz="1600" b="1" dirty="0"/>
          </a:p>
        </p:txBody>
      </p:sp>
    </p:spTree>
    <p:extLst>
      <p:ext uri="{BB962C8B-B14F-4D97-AF65-F5344CB8AC3E}">
        <p14:creationId xmlns:p14="http://schemas.microsoft.com/office/powerpoint/2010/main" val="145485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8" grpId="0" animBg="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B640AA3-92E0-3D66-60CD-5DBD0A0E886D}"/>
              </a:ext>
            </a:extLst>
          </p:cNvPr>
          <p:cNvSpPr txBox="1">
            <a:spLocks/>
          </p:cNvSpPr>
          <p:nvPr/>
        </p:nvSpPr>
        <p:spPr bwMode="auto">
          <a:xfrm>
            <a:off x="429481" y="823837"/>
            <a:ext cx="8545652" cy="38164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buNone/>
            </a:pPr>
            <a:r>
              <a:rPr lang="en-US" altLang="zh-CN" sz="2400" kern="0" dirty="0">
                <a:solidFill>
                  <a:schemeClr val="accent6">
                    <a:lumMod val="50000"/>
                  </a:schemeClr>
                </a:solidFill>
              </a:rPr>
              <a:t>julia&gt; x=123; </a:t>
            </a:r>
            <a:r>
              <a:rPr lang="en-US" altLang="zh-CN" sz="2400" b="1" kern="0" dirty="0">
                <a:solidFill>
                  <a:srgbClr val="0070C0"/>
                </a:solidFill>
              </a:rPr>
              <a:t>#</a:t>
            </a:r>
            <a:r>
              <a:rPr lang="zh-CN" altLang="en-US" sz="2400" b="1" kern="0" dirty="0">
                <a:solidFill>
                  <a:srgbClr val="0070C0"/>
                </a:solidFill>
              </a:rPr>
              <a:t>命令行结尾使用分号不显示结果</a:t>
            </a:r>
            <a:endParaRPr lang="en-US" altLang="zh-CN" sz="2400" b="1" kern="0" dirty="0">
              <a:solidFill>
                <a:srgbClr val="0070C0"/>
              </a:solidFill>
            </a:endParaRPr>
          </a:p>
          <a:p>
            <a:pPr>
              <a:buFont typeface="Wingdings" panose="05000000000000000000" pitchFamily="2" charset="2"/>
              <a:buNone/>
            </a:pPr>
            <a:r>
              <a:rPr lang="en-US" altLang="zh-CN" sz="2400" kern="0" dirty="0"/>
              <a:t>julia&gt; </a:t>
            </a:r>
            <a:r>
              <a:rPr lang="en-US" altLang="zh-CN" sz="2400" kern="0" dirty="0" err="1"/>
              <a:t>typeof</a:t>
            </a:r>
            <a:r>
              <a:rPr lang="en-US" altLang="zh-CN" sz="2400" kern="0" dirty="0"/>
              <a:t>(x)  </a:t>
            </a:r>
            <a:r>
              <a:rPr lang="en-US" altLang="zh-CN" sz="2400" b="1" kern="0" dirty="0">
                <a:solidFill>
                  <a:srgbClr val="0070C0"/>
                </a:solidFill>
              </a:rPr>
              <a:t>#</a:t>
            </a:r>
            <a:r>
              <a:rPr lang="zh-CN" altLang="en-US" sz="2400" b="1" kern="0" dirty="0">
                <a:solidFill>
                  <a:srgbClr val="0070C0"/>
                </a:solidFill>
              </a:rPr>
              <a:t>结果</a:t>
            </a:r>
            <a:r>
              <a:rPr lang="en-US" altLang="zh-CN" sz="2400" b="1" kern="0" dirty="0">
                <a:solidFill>
                  <a:srgbClr val="0070C0"/>
                </a:solidFill>
              </a:rPr>
              <a:t>Int64  </a:t>
            </a:r>
          </a:p>
          <a:p>
            <a:pPr>
              <a:buFont typeface="Wingdings" panose="05000000000000000000" pitchFamily="2" charset="2"/>
              <a:buNone/>
            </a:pPr>
            <a:r>
              <a:rPr lang="en-US" altLang="zh-CN" sz="2400" kern="0" dirty="0">
                <a:solidFill>
                  <a:schemeClr val="accent6">
                    <a:lumMod val="50000"/>
                  </a:schemeClr>
                </a:solidFill>
              </a:rPr>
              <a:t>julia&gt; y=a+2  </a:t>
            </a:r>
            <a:r>
              <a:rPr lang="en-US" altLang="zh-CN" sz="2400" b="1" kern="0" dirty="0">
                <a:solidFill>
                  <a:srgbClr val="0070C0"/>
                </a:solidFill>
              </a:rPr>
              <a:t>#</a:t>
            </a:r>
            <a:r>
              <a:rPr lang="zh-CN" altLang="en-US" sz="2400" b="1" kern="0" dirty="0">
                <a:solidFill>
                  <a:srgbClr val="0070C0"/>
                </a:solidFill>
                <a:sym typeface="Arial" panose="020B0604020202020204" pitchFamily="34" charset="0"/>
              </a:rPr>
              <a:t>运算前必须对变量赋值</a:t>
            </a:r>
            <a:endParaRPr lang="en-US" altLang="zh-CN" sz="2400" b="1" kern="0" dirty="0">
              <a:solidFill>
                <a:srgbClr val="0070C0"/>
              </a:solidFill>
            </a:endParaRPr>
          </a:p>
          <a:p>
            <a:pPr>
              <a:buNone/>
            </a:pPr>
            <a:r>
              <a:rPr lang="en-US" altLang="zh-CN" sz="2400" b="1" dirty="0">
                <a:solidFill>
                  <a:srgbClr val="FF0000"/>
                </a:solidFill>
              </a:rPr>
              <a:t>ERROR: </a:t>
            </a:r>
            <a:r>
              <a:rPr lang="en-US" altLang="zh-CN" sz="2400" dirty="0" err="1">
                <a:solidFill>
                  <a:srgbClr val="FF0000"/>
                </a:solidFill>
              </a:rPr>
              <a:t>UndefVarError</a:t>
            </a:r>
            <a:r>
              <a:rPr lang="en-US" altLang="zh-CN" sz="2400" dirty="0">
                <a:solidFill>
                  <a:srgbClr val="FF0000"/>
                </a:solidFill>
              </a:rPr>
              <a:t>: a not defined</a:t>
            </a:r>
          </a:p>
          <a:p>
            <a:pPr>
              <a:buNone/>
            </a:pPr>
            <a:r>
              <a:rPr lang="en-US" altLang="zh-CN" sz="2400" dirty="0">
                <a:solidFill>
                  <a:schemeClr val="accent6">
                    <a:lumMod val="50000"/>
                  </a:schemeClr>
                </a:solidFill>
              </a:rPr>
              <a:t>julia&gt; a=321;</a:t>
            </a:r>
          </a:p>
          <a:p>
            <a:pPr>
              <a:buNone/>
            </a:pPr>
            <a:r>
              <a:rPr lang="en-US" altLang="zh-CN" sz="2400" dirty="0">
                <a:solidFill>
                  <a:schemeClr val="accent6">
                    <a:lumMod val="50000"/>
                  </a:schemeClr>
                </a:solidFill>
              </a:rPr>
              <a:t>julia&gt; y=a+2  </a:t>
            </a:r>
            <a:r>
              <a:rPr lang="en-US" altLang="zh-CN" sz="2400" b="1" kern="0" dirty="0">
                <a:solidFill>
                  <a:srgbClr val="00B0F0"/>
                </a:solidFill>
              </a:rPr>
              <a:t> </a:t>
            </a:r>
            <a:r>
              <a:rPr lang="en-US" altLang="zh-CN" sz="2400" b="1" kern="0" dirty="0">
                <a:solidFill>
                  <a:srgbClr val="0070C0"/>
                </a:solidFill>
              </a:rPr>
              <a:t>#323</a:t>
            </a:r>
          </a:p>
          <a:p>
            <a:pPr>
              <a:buNone/>
            </a:pPr>
            <a:r>
              <a:rPr lang="en-US" altLang="zh-CN" sz="2400" dirty="0">
                <a:solidFill>
                  <a:schemeClr val="accent6">
                    <a:lumMod val="50000"/>
                  </a:schemeClr>
                </a:solidFill>
              </a:rPr>
              <a:t>julia&gt; y(a)=a+2  </a:t>
            </a:r>
            <a:r>
              <a:rPr lang="en-US" altLang="zh-CN" sz="2400" b="1" kern="0" dirty="0">
                <a:solidFill>
                  <a:srgbClr val="0070C0"/>
                </a:solidFill>
              </a:rPr>
              <a:t>#</a:t>
            </a:r>
            <a:r>
              <a:rPr lang="zh-CN" altLang="en-US" sz="2400" b="1" kern="0" dirty="0">
                <a:solidFill>
                  <a:srgbClr val="0070C0"/>
                </a:solidFill>
                <a:sym typeface="Arial" panose="020B0604020202020204" pitchFamily="34" charset="0"/>
              </a:rPr>
              <a:t>定义函数 结果</a:t>
            </a:r>
            <a:r>
              <a:rPr lang="en-US" altLang="zh-CN" sz="2400" b="1" kern="0" dirty="0">
                <a:solidFill>
                  <a:srgbClr val="0070C0"/>
                </a:solidFill>
              </a:rPr>
              <a:t>y (generic function with 1 method)</a:t>
            </a:r>
          </a:p>
          <a:p>
            <a:pPr>
              <a:buNone/>
            </a:pPr>
            <a:r>
              <a:rPr lang="en-US" altLang="zh-CN" sz="2400" dirty="0">
                <a:solidFill>
                  <a:schemeClr val="accent6">
                    <a:lumMod val="50000"/>
                  </a:schemeClr>
                </a:solidFill>
              </a:rPr>
              <a:t>julia&gt; y(231) </a:t>
            </a:r>
            <a:r>
              <a:rPr lang="en-US" altLang="zh-CN" sz="2400" b="1" kern="0" dirty="0">
                <a:solidFill>
                  <a:srgbClr val="0070C0"/>
                </a:solidFill>
              </a:rPr>
              <a:t>#a=231y</a:t>
            </a:r>
            <a:r>
              <a:rPr lang="zh-CN" altLang="en-US" sz="2400" b="1" kern="0" dirty="0">
                <a:solidFill>
                  <a:srgbClr val="0070C0"/>
                </a:solidFill>
              </a:rPr>
              <a:t>的结果</a:t>
            </a:r>
            <a:r>
              <a:rPr lang="en-US" altLang="zh-CN" sz="2400" b="1" kern="0" dirty="0">
                <a:solidFill>
                  <a:srgbClr val="0070C0"/>
                </a:solidFill>
              </a:rPr>
              <a:t>233</a:t>
            </a:r>
          </a:p>
          <a:p>
            <a:pPr>
              <a:buNone/>
            </a:pPr>
            <a:r>
              <a:rPr lang="en-US" altLang="zh-CN" sz="2400" dirty="0">
                <a:solidFill>
                  <a:schemeClr val="accent6">
                    <a:lumMod val="50000"/>
                  </a:schemeClr>
                </a:solidFill>
              </a:rPr>
              <a:t>julia&gt; </a:t>
            </a:r>
            <a:r>
              <a:rPr lang="zh-CN" altLang="en-US" sz="2400" dirty="0"/>
              <a:t>哈工大</a:t>
            </a:r>
            <a:r>
              <a:rPr lang="en-US" altLang="zh-CN" sz="2400" dirty="0"/>
              <a:t>=“c9 </a:t>
            </a:r>
            <a:r>
              <a:rPr lang="zh-CN" altLang="en-US" sz="2400" dirty="0"/>
              <a:t>高校</a:t>
            </a:r>
            <a:r>
              <a:rPr lang="en-US" altLang="zh-CN" sz="2400" dirty="0"/>
              <a:t>" </a:t>
            </a:r>
            <a:r>
              <a:rPr lang="en-US" altLang="zh-CN" sz="2400" b="1" kern="0" dirty="0">
                <a:solidFill>
                  <a:srgbClr val="00B0F0"/>
                </a:solidFill>
              </a:rPr>
              <a:t>  </a:t>
            </a:r>
            <a:r>
              <a:rPr lang="en-US" altLang="zh-CN" sz="2400" b="1" kern="0" dirty="0">
                <a:solidFill>
                  <a:srgbClr val="0070C0"/>
                </a:solidFill>
              </a:rPr>
              <a:t>#</a:t>
            </a:r>
            <a:r>
              <a:rPr lang="zh-CN" altLang="en-US" sz="2400" b="1" kern="0" dirty="0">
                <a:solidFill>
                  <a:srgbClr val="0070C0"/>
                </a:solidFill>
              </a:rPr>
              <a:t>无需事先声明变量类型</a:t>
            </a:r>
            <a:endParaRPr lang="en-US" altLang="zh-CN" sz="2400" b="1" kern="0" dirty="0">
              <a:solidFill>
                <a:srgbClr val="0070C0"/>
              </a:solidFill>
            </a:endParaRPr>
          </a:p>
          <a:p>
            <a:pPr>
              <a:buNone/>
            </a:pPr>
            <a:endParaRPr lang="zh-CN" altLang="en-US" sz="2400" dirty="0"/>
          </a:p>
        </p:txBody>
      </p:sp>
      <p:sp>
        <p:nvSpPr>
          <p:cNvPr id="7" name="标题 1">
            <a:extLst>
              <a:ext uri="{FF2B5EF4-FFF2-40B4-BE49-F238E27FC236}">
                <a16:creationId xmlns:a16="http://schemas.microsoft.com/office/drawing/2014/main" id="{D9388E5F-85A7-4D9D-B4E8-A73D015DAC25}"/>
              </a:ext>
            </a:extLst>
          </p:cNvPr>
          <p:cNvSpPr>
            <a:spLocks noGrp="1"/>
          </p:cNvSpPr>
          <p:nvPr>
            <p:ph type="title"/>
          </p:nvPr>
        </p:nvSpPr>
        <p:spPr>
          <a:xfrm>
            <a:off x="1439018" y="210618"/>
            <a:ext cx="7536115" cy="438150"/>
          </a:xfrm>
        </p:spPr>
        <p:txBody>
          <a:bodyPr>
            <a:noAutofit/>
          </a:bodyPr>
          <a:lstStyle/>
          <a:p>
            <a:pPr algn="dist"/>
            <a:r>
              <a:rPr lang="zh-CN" altLang="en-US" sz="2400" kern="100" dirty="0">
                <a:solidFill>
                  <a:srgbClr val="0070C0"/>
                </a:solidFill>
                <a:latin typeface="微软雅黑" panose="020B0503020204020204" pitchFamily="34" charset="-122"/>
                <a:ea typeface="微软雅黑" panose="020B0503020204020204" pitchFamily="34" charset="-122"/>
              </a:rPr>
              <a:t>变量赋值特点的示例，在命令窗口</a:t>
            </a:r>
            <a:r>
              <a:rPr lang="en-US" altLang="zh-CN" sz="2400" kern="100" dirty="0">
                <a:solidFill>
                  <a:srgbClr val="0070C0"/>
                </a:solidFill>
                <a:latin typeface="微软雅黑" panose="020B0503020204020204" pitchFamily="34" charset="-122"/>
                <a:ea typeface="微软雅黑" panose="020B0503020204020204" pitchFamily="34" charset="-122"/>
              </a:rPr>
              <a:t>julia REPL</a:t>
            </a:r>
            <a:r>
              <a:rPr lang="zh-CN" altLang="en-US" sz="2400" kern="100" dirty="0">
                <a:solidFill>
                  <a:srgbClr val="0070C0"/>
                </a:solidFill>
                <a:latin typeface="微软雅黑" panose="020B0503020204020204" pitchFamily="34" charset="-122"/>
                <a:ea typeface="微软雅黑" panose="020B0503020204020204" pitchFamily="34" charset="-122"/>
              </a:rPr>
              <a:t>操作</a:t>
            </a:r>
          </a:p>
        </p:txBody>
      </p:sp>
      <p:sp>
        <p:nvSpPr>
          <p:cNvPr id="8" name="波形 7">
            <a:extLst>
              <a:ext uri="{FF2B5EF4-FFF2-40B4-BE49-F238E27FC236}">
                <a16:creationId xmlns:a16="http://schemas.microsoft.com/office/drawing/2014/main" id="{B3ECFEA8-95F2-43B0-AB3A-73635F961A4C}"/>
              </a:ext>
            </a:extLst>
          </p:cNvPr>
          <p:cNvSpPr/>
          <p:nvPr/>
        </p:nvSpPr>
        <p:spPr>
          <a:xfrm>
            <a:off x="502724" y="189090"/>
            <a:ext cx="936294" cy="43500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例131-1</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382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cstate="print"/>
          <a:srcRect/>
          <a:stretch>
            <a:fillRect/>
          </a:stretch>
        </p:blipFill>
        <p:spPr bwMode="auto">
          <a:xfrm>
            <a:off x="6987139" y="2914990"/>
            <a:ext cx="1905341" cy="1583660"/>
          </a:xfrm>
          <a:prstGeom prst="rect">
            <a:avLst/>
          </a:prstGeom>
          <a:noFill/>
          <a:ln w="9525">
            <a:noFill/>
            <a:miter lim="800000"/>
            <a:headEnd/>
            <a:tailEnd/>
          </a:ln>
        </p:spPr>
      </p:pic>
      <p:sp>
        <p:nvSpPr>
          <p:cNvPr id="3" name="内容占位符 2"/>
          <p:cNvSpPr>
            <a:spLocks noGrp="1"/>
          </p:cNvSpPr>
          <p:nvPr>
            <p:ph idx="1"/>
          </p:nvPr>
        </p:nvSpPr>
        <p:spPr>
          <a:xfrm>
            <a:off x="404132" y="1161376"/>
            <a:ext cx="8335736" cy="3447710"/>
          </a:xfrm>
        </p:spPr>
        <p:txBody>
          <a:bodyPr>
            <a:normAutofit fontScale="92500" lnSpcReduction="20000"/>
          </a:bodyPr>
          <a:lstStyle/>
          <a:p>
            <a:pPr>
              <a:buNone/>
            </a:pPr>
            <a:r>
              <a:rPr lang="en-US" altLang="zh-CN" dirty="0"/>
              <a:t>julia&gt; a=123</a:t>
            </a:r>
          </a:p>
          <a:p>
            <a:pPr>
              <a:buNone/>
            </a:pPr>
            <a:r>
              <a:rPr lang="en-US" altLang="zh-CN" dirty="0"/>
              <a:t>123</a:t>
            </a:r>
          </a:p>
          <a:p>
            <a:pPr>
              <a:buNone/>
            </a:pPr>
            <a:r>
              <a:rPr lang="en-US" altLang="zh-CN" dirty="0"/>
              <a:t>julia&gt; </a:t>
            </a:r>
          </a:p>
          <a:p>
            <a:pPr>
              <a:buNone/>
            </a:pPr>
            <a:r>
              <a:rPr lang="en-US" altLang="zh-CN" dirty="0"/>
              <a:t>julia&gt; a=111</a:t>
            </a:r>
          </a:p>
          <a:p>
            <a:pPr>
              <a:buNone/>
            </a:pPr>
            <a:r>
              <a:rPr lang="en-US" altLang="zh-CN" dirty="0"/>
              <a:t>111</a:t>
            </a:r>
          </a:p>
          <a:p>
            <a:pPr>
              <a:buNone/>
            </a:pPr>
            <a:r>
              <a:rPr lang="en-US" altLang="zh-CN" dirty="0"/>
              <a:t>julia&gt; A=111</a:t>
            </a:r>
          </a:p>
          <a:p>
            <a:pPr>
              <a:buNone/>
            </a:pPr>
            <a:r>
              <a:rPr lang="en-US" altLang="zh-CN" dirty="0"/>
              <a:t>111</a:t>
            </a:r>
          </a:p>
          <a:p>
            <a:pPr>
              <a:buNone/>
            </a:pPr>
            <a:r>
              <a:rPr lang="en-US" altLang="zh-CN" dirty="0"/>
              <a:t>julia&gt; a</a:t>
            </a:r>
          </a:p>
          <a:p>
            <a:pPr>
              <a:buNone/>
            </a:pPr>
            <a:r>
              <a:rPr lang="en-US" altLang="zh-CN" dirty="0"/>
              <a:t>111</a:t>
            </a:r>
            <a:endParaRPr lang="zh-CN" altLang="en-US" dirty="0"/>
          </a:p>
        </p:txBody>
      </p:sp>
      <p:sp>
        <p:nvSpPr>
          <p:cNvPr id="5" name="对话气泡: 矩形 22">
            <a:extLst>
              <a:ext uri="{FF2B5EF4-FFF2-40B4-BE49-F238E27FC236}">
                <a16:creationId xmlns:a16="http://schemas.microsoft.com/office/drawing/2014/main" id="{417DD271-620C-0D56-74AA-763A422B4CCA}"/>
              </a:ext>
            </a:extLst>
          </p:cNvPr>
          <p:cNvSpPr/>
          <p:nvPr/>
        </p:nvSpPr>
        <p:spPr>
          <a:xfrm>
            <a:off x="467544" y="725068"/>
            <a:ext cx="8424936" cy="263447"/>
          </a:xfrm>
          <a:prstGeom prst="wedgeRectCallout">
            <a:avLst>
              <a:gd name="adj1" fmla="val -35344"/>
              <a:gd name="adj2" fmla="val 121349"/>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lnSpc>
                <a:spcPct val="90000"/>
              </a:lnSpc>
              <a:buClr>
                <a:schemeClr val="tx1"/>
              </a:buClr>
            </a:pPr>
            <a:r>
              <a:rPr lang="zh-CN" altLang="en-US" kern="0" dirty="0">
                <a:solidFill>
                  <a:schemeClr val="bg1"/>
                </a:solidFill>
                <a:latin typeface="华文楷体" panose="02010600040101010101" pitchFamily="2" charset="-122"/>
                <a:ea typeface="华文楷体" panose="02010600040101010101" pitchFamily="2" charset="-122"/>
                <a:sym typeface="Arial" panose="020B0604020202020204" pitchFamily="34" charset="0"/>
              </a:rPr>
              <a:t>可赋值各类数据，如数值型、字符串</a:t>
            </a:r>
            <a:r>
              <a:rPr lang="en-US" altLang="zh-CN" kern="0" dirty="0">
                <a:solidFill>
                  <a:schemeClr val="bg1"/>
                </a:solidFill>
                <a:latin typeface="华文楷体" panose="02010600040101010101" pitchFamily="2" charset="-122"/>
                <a:ea typeface="华文楷体" panose="02010600040101010101" pitchFamily="2" charset="-122"/>
                <a:sym typeface="Arial" panose="020B0604020202020204" pitchFamily="34" charset="0"/>
              </a:rPr>
              <a:t>,</a:t>
            </a:r>
            <a:r>
              <a:rPr lang="zh-CN" altLang="en-US" kern="0" dirty="0">
                <a:solidFill>
                  <a:schemeClr val="bg1"/>
                </a:solidFill>
                <a:latin typeface="华文楷体" panose="02010600040101010101" pitchFamily="2" charset="-122"/>
                <a:ea typeface="华文楷体" panose="02010600040101010101" pitchFamily="2" charset="-122"/>
                <a:sym typeface="Arial" panose="020B0604020202020204" pitchFamily="34" charset="0"/>
              </a:rPr>
              <a:t>可以无需事先声明变量类型</a:t>
            </a:r>
            <a:endParaRPr lang="en-US" altLang="zh-CN" kern="0" dirty="0">
              <a:solidFill>
                <a:schemeClr val="bg1"/>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6" name="对话气泡: 矩形 10">
            <a:extLst>
              <a:ext uri="{FF2B5EF4-FFF2-40B4-BE49-F238E27FC236}">
                <a16:creationId xmlns:a16="http://schemas.microsoft.com/office/drawing/2014/main" id="{33ED2304-9A66-E3EC-43EB-2140241F9581}"/>
              </a:ext>
            </a:extLst>
          </p:cNvPr>
          <p:cNvSpPr/>
          <p:nvPr/>
        </p:nvSpPr>
        <p:spPr>
          <a:xfrm>
            <a:off x="2029856" y="4086919"/>
            <a:ext cx="4680519" cy="308702"/>
          </a:xfrm>
          <a:prstGeom prst="wedgeRectCallout">
            <a:avLst>
              <a:gd name="adj1" fmla="val -61917"/>
              <a:gd name="adj2" fmla="val -4906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kern="0" dirty="0">
                <a:solidFill>
                  <a:srgbClr val="002060"/>
                </a:solidFill>
                <a:latin typeface="隶书" panose="02010509060101010101" pitchFamily="49" charset="-122"/>
                <a:ea typeface="隶书" panose="02010509060101010101" pitchFamily="49" charset="-122"/>
              </a:rPr>
              <a:t>每次输入变量会自动将结果保存为ans变量</a:t>
            </a:r>
            <a:endParaRPr lang="zh-CN" altLang="en-US" dirty="0"/>
          </a:p>
        </p:txBody>
      </p:sp>
      <p:pic>
        <p:nvPicPr>
          <p:cNvPr id="2050" name="Picture 2"/>
          <p:cNvPicPr>
            <a:picLocks noChangeAspect="1" noChangeArrowheads="1"/>
          </p:cNvPicPr>
          <p:nvPr/>
        </p:nvPicPr>
        <p:blipFill rotWithShape="1">
          <a:blip r:embed="rId4" cstate="print"/>
          <a:srcRect l="-1" t="45595" r="-4291"/>
          <a:stretch/>
        </p:blipFill>
        <p:spPr bwMode="auto">
          <a:xfrm>
            <a:off x="7023220" y="1295318"/>
            <a:ext cx="2083423" cy="1446811"/>
          </a:xfrm>
          <a:prstGeom prst="rect">
            <a:avLst/>
          </a:prstGeom>
          <a:noFill/>
          <a:ln w="9525">
            <a:noFill/>
            <a:miter lim="800000"/>
            <a:headEnd/>
            <a:tailEnd/>
          </a:ln>
        </p:spPr>
      </p:pic>
      <p:sp>
        <p:nvSpPr>
          <p:cNvPr id="10" name="圆角矩形 9"/>
          <p:cNvSpPr/>
          <p:nvPr/>
        </p:nvSpPr>
        <p:spPr>
          <a:xfrm>
            <a:off x="7330911" y="1822780"/>
            <a:ext cx="1289957" cy="19594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7248677" y="3568875"/>
            <a:ext cx="1194836" cy="2134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对话气泡: 矩形 12">
            <a:extLst>
              <a:ext uri="{FF2B5EF4-FFF2-40B4-BE49-F238E27FC236}">
                <a16:creationId xmlns:a16="http://schemas.microsoft.com/office/drawing/2014/main" id="{ED8CEA0D-EA2C-CC1D-9B92-72A8D3ED0842}"/>
              </a:ext>
            </a:extLst>
          </p:cNvPr>
          <p:cNvSpPr/>
          <p:nvPr/>
        </p:nvSpPr>
        <p:spPr>
          <a:xfrm>
            <a:off x="2064835" y="1931790"/>
            <a:ext cx="5014330" cy="394280"/>
          </a:xfrm>
          <a:prstGeom prst="wedgeRectCallout">
            <a:avLst>
              <a:gd name="adj1" fmla="val -52397"/>
              <a:gd name="adj2" fmla="val 4072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kern="0" dirty="0">
                <a:solidFill>
                  <a:srgbClr val="002060"/>
                </a:solidFill>
                <a:latin typeface="隶书" panose="02010509060101010101" pitchFamily="49" charset="-122"/>
                <a:ea typeface="隶书" panose="02010509060101010101" pitchFamily="49" charset="-122"/>
              </a:rPr>
              <a:t>已存在变量，赋予新值将覆盖旧值</a:t>
            </a:r>
            <a:r>
              <a:rPr lang="en-US" altLang="zh-CN" kern="0" dirty="0">
                <a:solidFill>
                  <a:srgbClr val="002060"/>
                </a:solidFill>
                <a:latin typeface="隶书" panose="02010509060101010101" pitchFamily="49" charset="-122"/>
                <a:ea typeface="隶书" panose="02010509060101010101" pitchFamily="49" charset="-122"/>
              </a:rPr>
              <a:t>,123</a:t>
            </a:r>
            <a:r>
              <a:rPr lang="zh-CN" altLang="en-US" kern="0" dirty="0">
                <a:solidFill>
                  <a:srgbClr val="002060"/>
                </a:solidFill>
                <a:latin typeface="隶书" panose="02010509060101010101" pitchFamily="49" charset="-122"/>
                <a:ea typeface="隶书" panose="02010509060101010101" pitchFamily="49" charset="-122"/>
              </a:rPr>
              <a:t>替换</a:t>
            </a:r>
            <a:r>
              <a:rPr lang="en-US" altLang="zh-CN" kern="0" dirty="0">
                <a:solidFill>
                  <a:srgbClr val="002060"/>
                </a:solidFill>
                <a:latin typeface="隶书" panose="02010509060101010101" pitchFamily="49" charset="-122"/>
                <a:ea typeface="隶书" panose="02010509060101010101" pitchFamily="49" charset="-122"/>
              </a:rPr>
              <a:t>111</a:t>
            </a:r>
          </a:p>
        </p:txBody>
      </p:sp>
      <p:sp>
        <p:nvSpPr>
          <p:cNvPr id="13" name="对话气泡: 矩形 12">
            <a:extLst>
              <a:ext uri="{FF2B5EF4-FFF2-40B4-BE49-F238E27FC236}">
                <a16:creationId xmlns:a16="http://schemas.microsoft.com/office/drawing/2014/main" id="{ED8CEA0D-EA2C-CC1D-9B92-72A8D3ED0842}"/>
              </a:ext>
            </a:extLst>
          </p:cNvPr>
          <p:cNvSpPr/>
          <p:nvPr/>
        </p:nvSpPr>
        <p:spPr>
          <a:xfrm>
            <a:off x="2489658" y="2864841"/>
            <a:ext cx="1686297" cy="394280"/>
          </a:xfrm>
          <a:prstGeom prst="wedgeRectCallout">
            <a:avLst>
              <a:gd name="adj1" fmla="val -66625"/>
              <a:gd name="adj2" fmla="val -1097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kern="0" dirty="0">
                <a:solidFill>
                  <a:srgbClr val="002060"/>
                </a:solidFill>
                <a:latin typeface="隶书" panose="02010509060101010101" pitchFamily="49" charset="-122"/>
                <a:ea typeface="隶书" panose="02010509060101010101" pitchFamily="49" charset="-122"/>
              </a:rPr>
              <a:t>变量分大小写</a:t>
            </a:r>
            <a:endParaRPr lang="en-US" altLang="zh-CN" kern="0" dirty="0">
              <a:solidFill>
                <a:srgbClr val="002060"/>
              </a:solidFill>
              <a:latin typeface="隶书" panose="02010509060101010101" pitchFamily="49" charset="-122"/>
              <a:ea typeface="隶书" panose="02010509060101010101" pitchFamily="49" charset="-122"/>
            </a:endParaRPr>
          </a:p>
        </p:txBody>
      </p:sp>
      <p:sp>
        <p:nvSpPr>
          <p:cNvPr id="15" name="对话气泡: 矩形 12">
            <a:extLst>
              <a:ext uri="{FF2B5EF4-FFF2-40B4-BE49-F238E27FC236}">
                <a16:creationId xmlns:a16="http://schemas.microsoft.com/office/drawing/2014/main" id="{ED8CEA0D-EA2C-CC1D-9B92-72A8D3ED0842}"/>
              </a:ext>
            </a:extLst>
          </p:cNvPr>
          <p:cNvSpPr/>
          <p:nvPr/>
        </p:nvSpPr>
        <p:spPr>
          <a:xfrm>
            <a:off x="2299795" y="3479177"/>
            <a:ext cx="4541436" cy="394278"/>
          </a:xfrm>
          <a:prstGeom prst="wedgeRectCallout">
            <a:avLst>
              <a:gd name="adj1" fmla="val -67840"/>
              <a:gd name="adj2" fmla="val 3900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kern="0" dirty="0">
                <a:solidFill>
                  <a:srgbClr val="002060"/>
                </a:solidFill>
                <a:latin typeface="隶书" panose="02010509060101010101" pitchFamily="49" charset="-122"/>
                <a:ea typeface="隶书" panose="02010509060101010101" pitchFamily="49" charset="-122"/>
              </a:rPr>
              <a:t>输入已存在变量名，命令窗口显示变量数值</a:t>
            </a:r>
            <a:endParaRPr lang="en-US" altLang="zh-CN" kern="0" dirty="0">
              <a:solidFill>
                <a:srgbClr val="002060"/>
              </a:solidFill>
              <a:latin typeface="隶书" panose="02010509060101010101" pitchFamily="49" charset="-122"/>
              <a:ea typeface="隶书" panose="02010509060101010101" pitchFamily="49" charset="-122"/>
            </a:endParaRPr>
          </a:p>
        </p:txBody>
      </p:sp>
      <p:sp>
        <p:nvSpPr>
          <p:cNvPr id="9" name="圆角矩形 7">
            <a:extLst>
              <a:ext uri="{FF2B5EF4-FFF2-40B4-BE49-F238E27FC236}">
                <a16:creationId xmlns:a16="http://schemas.microsoft.com/office/drawing/2014/main" id="{CC2E4DE2-9822-F0E1-94AC-80E60B37A5E7}"/>
              </a:ext>
            </a:extLst>
          </p:cNvPr>
          <p:cNvSpPr/>
          <p:nvPr/>
        </p:nvSpPr>
        <p:spPr>
          <a:xfrm>
            <a:off x="7265596" y="3873455"/>
            <a:ext cx="1194836" cy="2134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标题 1">
            <a:extLst>
              <a:ext uri="{FF2B5EF4-FFF2-40B4-BE49-F238E27FC236}">
                <a16:creationId xmlns:a16="http://schemas.microsoft.com/office/drawing/2014/main" id="{3C9F751C-9D1C-44C3-9BA4-883DEA05D8DA}"/>
              </a:ext>
            </a:extLst>
          </p:cNvPr>
          <p:cNvSpPr>
            <a:spLocks noGrp="1"/>
          </p:cNvSpPr>
          <p:nvPr>
            <p:ph type="title"/>
          </p:nvPr>
        </p:nvSpPr>
        <p:spPr>
          <a:xfrm>
            <a:off x="1439018" y="145006"/>
            <a:ext cx="7667625" cy="438150"/>
          </a:xfrm>
        </p:spPr>
        <p:txBody>
          <a:bodyPr>
            <a:noAutofit/>
          </a:bodyPr>
          <a:lstStyle/>
          <a:p>
            <a:pPr algn="dist"/>
            <a:r>
              <a:rPr lang="zh-CN" altLang="en-US" sz="2400" b="1" kern="100" dirty="0">
                <a:solidFill>
                  <a:srgbClr val="0070C0"/>
                </a:solidFill>
                <a:latin typeface="微软雅黑" panose="020B0503020204020204" pitchFamily="34" charset="-122"/>
                <a:ea typeface="微软雅黑" panose="020B0503020204020204" pitchFamily="34" charset="-122"/>
              </a:rPr>
              <a:t>变量赋值特点的示例，在命令窗口</a:t>
            </a:r>
            <a:r>
              <a:rPr lang="en-US" altLang="zh-CN" sz="2400" b="1" kern="100" dirty="0">
                <a:solidFill>
                  <a:srgbClr val="0070C0"/>
                </a:solidFill>
                <a:latin typeface="微软雅黑" panose="020B0503020204020204" pitchFamily="34" charset="-122"/>
                <a:ea typeface="微软雅黑" panose="020B0503020204020204" pitchFamily="34" charset="-122"/>
              </a:rPr>
              <a:t>julia REPL</a:t>
            </a:r>
            <a:r>
              <a:rPr lang="zh-CN" altLang="en-US" sz="2400" b="1" kern="100" dirty="0">
                <a:solidFill>
                  <a:srgbClr val="0070C0"/>
                </a:solidFill>
                <a:latin typeface="微软雅黑" panose="020B0503020204020204" pitchFamily="34" charset="-122"/>
                <a:ea typeface="微软雅黑" panose="020B0503020204020204" pitchFamily="34" charset="-122"/>
              </a:rPr>
              <a:t>操作</a:t>
            </a:r>
          </a:p>
        </p:txBody>
      </p:sp>
      <p:sp>
        <p:nvSpPr>
          <p:cNvPr id="18" name="波形 17">
            <a:extLst>
              <a:ext uri="{FF2B5EF4-FFF2-40B4-BE49-F238E27FC236}">
                <a16:creationId xmlns:a16="http://schemas.microsoft.com/office/drawing/2014/main" id="{8824E2E2-F620-4268-9C9F-090734808CA2}"/>
              </a:ext>
            </a:extLst>
          </p:cNvPr>
          <p:cNvSpPr/>
          <p:nvPr/>
        </p:nvSpPr>
        <p:spPr>
          <a:xfrm>
            <a:off x="502724" y="123478"/>
            <a:ext cx="883698" cy="43500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例131-1</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DE7A1363-D446-6525-E356-A38859325786}"/>
              </a:ext>
            </a:extLst>
          </p:cNvPr>
          <p:cNvSpPr txBox="1">
            <a:spLocks/>
          </p:cNvSpPr>
          <p:nvPr/>
        </p:nvSpPr>
        <p:spPr bwMode="auto">
          <a:xfrm>
            <a:off x="2522187" y="758203"/>
            <a:ext cx="6615626" cy="40729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400" b="1">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2000" dirty="0"/>
              <a:t>变量或变量表达式</a:t>
            </a:r>
            <a:r>
              <a:rPr lang="en-US" altLang="zh-CN" sz="2000" dirty="0"/>
              <a:t>var</a:t>
            </a:r>
            <a:r>
              <a:rPr lang="zh-CN" altLang="en-US" sz="2000" dirty="0"/>
              <a:t>结果必须为</a:t>
            </a:r>
            <a:r>
              <a:rPr lang="en-US" altLang="zh-CN" sz="2000" dirty="0"/>
              <a:t>TypeName</a:t>
            </a:r>
            <a:r>
              <a:rPr lang="zh-CN" altLang="en-US" sz="2000" dirty="0"/>
              <a:t>指定类型</a:t>
            </a:r>
          </a:p>
        </p:txBody>
      </p:sp>
      <p:sp>
        <p:nvSpPr>
          <p:cNvPr id="7" name="内容占位符 2">
            <a:extLst>
              <a:ext uri="{FF2B5EF4-FFF2-40B4-BE49-F238E27FC236}">
                <a16:creationId xmlns:a16="http://schemas.microsoft.com/office/drawing/2014/main" id="{728E35A9-0C34-1604-24D9-E0AEC62BF709}"/>
              </a:ext>
            </a:extLst>
          </p:cNvPr>
          <p:cNvSpPr>
            <a:spLocks noGrp="1"/>
          </p:cNvSpPr>
          <p:nvPr>
            <p:ph idx="1"/>
          </p:nvPr>
        </p:nvSpPr>
        <p:spPr>
          <a:xfrm>
            <a:off x="437442" y="1315435"/>
            <a:ext cx="8599054" cy="3193823"/>
          </a:xfrm>
          <a:solidFill>
            <a:schemeClr val="bg1"/>
          </a:solidFill>
          <a:ln>
            <a:solidFill>
              <a:schemeClr val="bg1">
                <a:lumMod val="50000"/>
              </a:schemeClr>
            </a:solidFill>
          </a:ln>
        </p:spPr>
        <p:txBody>
          <a:bodyPr/>
          <a:lstStyle/>
          <a:p>
            <a:pPr marL="0" indent="0">
              <a:buNone/>
            </a:pPr>
            <a:r>
              <a:rPr lang="en-US" altLang="zh-CN" sz="2400" dirty="0"/>
              <a:t>julia&gt; f(x::Int64)=x^2  #</a:t>
            </a:r>
            <a:r>
              <a:rPr lang="zh-CN" altLang="en-US" sz="2400" dirty="0"/>
              <a:t>指定函数中变量</a:t>
            </a:r>
            <a:r>
              <a:rPr lang="en-US" altLang="zh-CN" sz="2400" dirty="0"/>
              <a:t>x</a:t>
            </a:r>
            <a:r>
              <a:rPr lang="zh-CN" altLang="en-US" sz="2400" dirty="0"/>
              <a:t>为整数</a:t>
            </a:r>
            <a:endParaRPr lang="en-US" altLang="zh-CN" sz="2400" dirty="0"/>
          </a:p>
          <a:p>
            <a:pPr marL="0" indent="0">
              <a:buNone/>
            </a:pPr>
            <a:r>
              <a:rPr lang="en-US" altLang="zh-CN" sz="2400" dirty="0"/>
              <a:t>julia&gt; f(2)   #</a:t>
            </a:r>
            <a:r>
              <a:rPr lang="zh-CN" altLang="en-US" sz="2400" dirty="0"/>
              <a:t>当</a:t>
            </a:r>
            <a:r>
              <a:rPr lang="en-US" altLang="zh-CN" sz="2400" dirty="0"/>
              <a:t>x=4</a:t>
            </a:r>
          </a:p>
          <a:p>
            <a:pPr marL="0" indent="0">
              <a:buNone/>
            </a:pPr>
            <a:r>
              <a:rPr lang="en-US" altLang="zh-CN" sz="2400" dirty="0"/>
              <a:t>julia&gt; f(2.3) #</a:t>
            </a:r>
            <a:r>
              <a:rPr lang="zh-CN" altLang="en-US" sz="2400" dirty="0"/>
              <a:t>当</a:t>
            </a:r>
            <a:r>
              <a:rPr lang="en-US" altLang="zh-CN" sz="2400" dirty="0"/>
              <a:t>x=2.3</a:t>
            </a:r>
            <a:r>
              <a:rPr lang="zh-CN" altLang="en-US" sz="2400" dirty="0"/>
              <a:t>时结果</a:t>
            </a:r>
            <a:endParaRPr lang="en-US" altLang="zh-CN" sz="2400" dirty="0"/>
          </a:p>
          <a:p>
            <a:pPr marL="0" indent="0">
              <a:buNone/>
            </a:pPr>
            <a:r>
              <a:rPr lang="en-US" altLang="zh-CN" sz="2000" b="1" dirty="0">
                <a:solidFill>
                  <a:srgbClr val="FF0000"/>
                </a:solidFill>
              </a:rPr>
              <a:t>ERROR: </a:t>
            </a:r>
            <a:r>
              <a:rPr lang="en-US" altLang="zh-CN" sz="2000" b="1" dirty="0" err="1">
                <a:solidFill>
                  <a:srgbClr val="FF0000"/>
                </a:solidFill>
              </a:rPr>
              <a:t>TypeError</a:t>
            </a:r>
            <a:r>
              <a:rPr lang="en-US" altLang="zh-CN" sz="2000" b="1" dirty="0">
                <a:solidFill>
                  <a:srgbClr val="FF0000"/>
                </a:solidFill>
              </a:rPr>
              <a:t>: in </a:t>
            </a:r>
            <a:r>
              <a:rPr lang="en-US" altLang="zh-CN" sz="2000" b="1" dirty="0" err="1">
                <a:solidFill>
                  <a:srgbClr val="FF0000"/>
                </a:solidFill>
              </a:rPr>
              <a:t>typeassert</a:t>
            </a:r>
            <a:r>
              <a:rPr lang="en-US" altLang="zh-CN" sz="2000" b="1" dirty="0">
                <a:solidFill>
                  <a:srgbClr val="FF0000"/>
                </a:solidFill>
              </a:rPr>
              <a:t>, expected Int64, got a value of type Float64</a:t>
            </a:r>
          </a:p>
          <a:p>
            <a:pPr marL="0" indent="0">
              <a:buNone/>
            </a:pPr>
            <a:r>
              <a:rPr lang="en-US" altLang="zh-CN" sz="2400" dirty="0"/>
              <a:t>julia&gt; ff(x)=(x^2)::Int64 #</a:t>
            </a:r>
            <a:r>
              <a:rPr lang="zh-CN" altLang="en-US" sz="2400" dirty="0"/>
              <a:t>指定函数</a:t>
            </a:r>
            <a:r>
              <a:rPr lang="en-US" altLang="zh-CN" sz="2400" dirty="0"/>
              <a:t>f</a:t>
            </a:r>
            <a:r>
              <a:rPr lang="zh-CN" altLang="en-US" sz="2400" dirty="0"/>
              <a:t>为整数</a:t>
            </a:r>
            <a:endParaRPr lang="en-US" altLang="zh-CN" sz="2400" dirty="0"/>
          </a:p>
          <a:p>
            <a:pPr marL="0" indent="0">
              <a:buNone/>
            </a:pPr>
            <a:r>
              <a:rPr lang="en-US" altLang="zh-CN" sz="2400" dirty="0"/>
              <a:t>julia&gt; ff(2)  # </a:t>
            </a:r>
            <a:r>
              <a:rPr lang="zh-CN" altLang="en-US" sz="2400" dirty="0"/>
              <a:t>当</a:t>
            </a:r>
            <a:r>
              <a:rPr lang="en-US" altLang="zh-CN" sz="2400" dirty="0"/>
              <a:t>x=2</a:t>
            </a:r>
            <a:r>
              <a:rPr lang="zh-CN" altLang="en-US" sz="2400" dirty="0"/>
              <a:t>时</a:t>
            </a:r>
            <a:r>
              <a:rPr lang="en-US" altLang="zh-CN" sz="2400" dirty="0"/>
              <a:t>f</a:t>
            </a:r>
            <a:r>
              <a:rPr lang="zh-CN" altLang="en-US" sz="2400" dirty="0"/>
              <a:t>结果</a:t>
            </a:r>
            <a:r>
              <a:rPr lang="en-US" altLang="zh-CN" sz="2400" dirty="0"/>
              <a:t>4</a:t>
            </a:r>
          </a:p>
          <a:p>
            <a:pPr marL="0" indent="0">
              <a:buNone/>
            </a:pPr>
            <a:r>
              <a:rPr lang="en-US" altLang="zh-CN" sz="2400" dirty="0"/>
              <a:t>julia&gt; f(2.3)</a:t>
            </a:r>
          </a:p>
          <a:p>
            <a:pPr marL="0" indent="0">
              <a:buNone/>
            </a:pPr>
            <a:r>
              <a:rPr lang="en-US" altLang="zh-CN" sz="2000" b="1" dirty="0">
                <a:solidFill>
                  <a:srgbClr val="FF0000"/>
                </a:solidFill>
              </a:rPr>
              <a:t>#</a:t>
            </a:r>
            <a:r>
              <a:rPr lang="zh-CN" altLang="en-US" sz="2000" b="1" dirty="0">
                <a:solidFill>
                  <a:srgbClr val="FF0000"/>
                </a:solidFill>
              </a:rPr>
              <a:t>结果</a:t>
            </a:r>
            <a:r>
              <a:rPr lang="en-US" altLang="zh-CN" sz="2000" b="1" dirty="0">
                <a:solidFill>
                  <a:srgbClr val="FF0000"/>
                </a:solidFill>
              </a:rPr>
              <a:t>ERROR: </a:t>
            </a:r>
            <a:r>
              <a:rPr lang="en-US" altLang="zh-CN" sz="2000" b="1" dirty="0" err="1">
                <a:solidFill>
                  <a:srgbClr val="FF0000"/>
                </a:solidFill>
              </a:rPr>
              <a:t>TypeError</a:t>
            </a:r>
            <a:r>
              <a:rPr lang="en-US" altLang="zh-CN" sz="2000" b="1" dirty="0">
                <a:solidFill>
                  <a:srgbClr val="FF0000"/>
                </a:solidFill>
              </a:rPr>
              <a:t>: in </a:t>
            </a:r>
            <a:r>
              <a:rPr lang="en-US" altLang="zh-CN" sz="2000" b="1" dirty="0" err="1">
                <a:solidFill>
                  <a:srgbClr val="FF0000"/>
                </a:solidFill>
              </a:rPr>
              <a:t>typeassert</a:t>
            </a:r>
            <a:r>
              <a:rPr lang="en-US" altLang="zh-CN" sz="2000" b="1" dirty="0">
                <a:solidFill>
                  <a:srgbClr val="FF0000"/>
                </a:solidFill>
              </a:rPr>
              <a:t>, expected Int64, got a value of type Float64</a:t>
            </a:r>
          </a:p>
        </p:txBody>
      </p:sp>
      <p:sp>
        <p:nvSpPr>
          <p:cNvPr id="6" name="AutoShape 13">
            <a:extLst>
              <a:ext uri="{FF2B5EF4-FFF2-40B4-BE49-F238E27FC236}">
                <a16:creationId xmlns:a16="http://schemas.microsoft.com/office/drawing/2014/main" id="{BB8E4230-CF14-4379-898F-0F15B61DD8C6}"/>
              </a:ext>
            </a:extLst>
          </p:cNvPr>
          <p:cNvSpPr>
            <a:spLocks noChangeArrowheads="1"/>
          </p:cNvSpPr>
          <p:nvPr/>
        </p:nvSpPr>
        <p:spPr bwMode="auto">
          <a:xfrm>
            <a:off x="3600399" y="3507854"/>
            <a:ext cx="5112568" cy="652273"/>
          </a:xfrm>
          <a:prstGeom prst="irregularSeal2">
            <a:avLst/>
          </a:prstGeom>
          <a:solidFill>
            <a:schemeClr val="accent2"/>
          </a:solidFill>
          <a:ln w="57150">
            <a:solidFill>
              <a:srgbClr val="00FF00"/>
            </a:solidFill>
            <a:miter lim="800000"/>
          </a:ln>
          <a:scene3d>
            <a:camera prst="orthographicFront"/>
            <a:lightRig rig="threePt" dir="t"/>
          </a:scene3d>
          <a:sp3d>
            <a:bevelT prst="angle"/>
          </a:sp3d>
        </p:spPr>
        <p:txBody>
          <a:bodyPr wrap="none" anchor="ctr"/>
          <a:lstStyle/>
          <a:p>
            <a:r>
              <a:rPr lang="en-US" altLang="zh-CN" sz="1600" b="1" dirty="0">
                <a:solidFill>
                  <a:schemeClr val="bg1"/>
                </a:solidFill>
                <a:latin typeface="华文楷体" panose="02010600040101010101" pitchFamily="2" charset="-122"/>
                <a:ea typeface="华文楷体" panose="02010600040101010101" pitchFamily="2" charset="-122"/>
              </a:rPr>
              <a:t>MATLAB</a:t>
            </a:r>
            <a:r>
              <a:rPr lang="zh-CN" altLang="en-US" sz="1600" b="1" dirty="0">
                <a:solidFill>
                  <a:schemeClr val="bg1"/>
                </a:solidFill>
                <a:latin typeface="华文楷体" panose="02010600040101010101" pitchFamily="2" charset="-122"/>
                <a:ea typeface="华文楷体" panose="02010600040101010101" pitchFamily="2" charset="-122"/>
              </a:rPr>
              <a:t>不能定义变量类型</a:t>
            </a:r>
            <a:endParaRPr lang="zh-CN" altLang="en-US" sz="1600" b="1" kern="0" dirty="0">
              <a:solidFill>
                <a:schemeClr val="bg1"/>
              </a:solidFill>
              <a:ea typeface="黑体" panose="02010609060101010101" pitchFamily="49" charset="-122"/>
            </a:endParaRPr>
          </a:p>
        </p:txBody>
      </p:sp>
      <p:sp>
        <p:nvSpPr>
          <p:cNvPr id="8" name="标题 1">
            <a:extLst>
              <a:ext uri="{FF2B5EF4-FFF2-40B4-BE49-F238E27FC236}">
                <a16:creationId xmlns:a16="http://schemas.microsoft.com/office/drawing/2014/main" id="{759B75AF-5B7B-4DEF-A0B4-48A800CBD32F}"/>
              </a:ext>
            </a:extLst>
          </p:cNvPr>
          <p:cNvSpPr txBox="1">
            <a:spLocks/>
          </p:cNvSpPr>
          <p:nvPr/>
        </p:nvSpPr>
        <p:spPr bwMode="auto">
          <a:xfrm>
            <a:off x="755576" y="170112"/>
            <a:ext cx="8064896"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600" b="1" kern="0" dirty="0">
                <a:latin typeface="隶书" panose="02010509060101010101" pitchFamily="49" charset="-122"/>
                <a:ea typeface="隶书" panose="02010509060101010101" pitchFamily="49" charset="-122"/>
              </a:rPr>
              <a:t>§</a:t>
            </a:r>
            <a:r>
              <a:rPr lang="en-US" altLang="zh-CN" sz="2600" b="1" kern="0" dirty="0"/>
              <a:t>1.3.1.1  </a:t>
            </a:r>
            <a:r>
              <a:rPr lang="zh-CN" altLang="en-US" sz="2600" b="1" kern="0" dirty="0"/>
              <a:t>变量</a:t>
            </a:r>
            <a:r>
              <a:rPr lang="en-US" altLang="zh-CN" sz="2600" b="1" kern="0" dirty="0">
                <a:solidFill>
                  <a:srgbClr val="FF0000"/>
                </a:solidFill>
              </a:rPr>
              <a:t>——3. </a:t>
            </a:r>
            <a:r>
              <a:rPr lang="zh-CN" altLang="en-US" sz="2600" b="1" kern="0" dirty="0">
                <a:solidFill>
                  <a:srgbClr val="FF0000"/>
                </a:solidFill>
              </a:rPr>
              <a:t>用</a:t>
            </a:r>
            <a:r>
              <a:rPr lang="zh-CN" altLang="en-US" sz="2600" b="1" dirty="0">
                <a:solidFill>
                  <a:srgbClr val="FF0000"/>
                </a:solidFill>
              </a:rPr>
              <a:t>：：</a:t>
            </a:r>
            <a:r>
              <a:rPr lang="zh-CN" altLang="en-US" sz="2600" b="1" kern="0" dirty="0">
                <a:solidFill>
                  <a:srgbClr val="FF0000"/>
                </a:solidFill>
              </a:rPr>
              <a:t>声</a:t>
            </a:r>
            <a:r>
              <a:rPr lang="zh-CN" altLang="en-US" sz="2600" b="1" dirty="0">
                <a:solidFill>
                  <a:srgbClr val="FF0000"/>
                </a:solidFill>
              </a:rPr>
              <a:t>明变量类型（针对函数）</a:t>
            </a:r>
            <a:endParaRPr lang="zh-CN" altLang="en-US" sz="2600" b="1" kern="0" dirty="0">
              <a:solidFill>
                <a:srgbClr val="FF0000"/>
              </a:solidFill>
            </a:endParaRPr>
          </a:p>
        </p:txBody>
      </p:sp>
      <p:sp>
        <p:nvSpPr>
          <p:cNvPr id="10" name="矩形 9">
            <a:extLst>
              <a:ext uri="{FF2B5EF4-FFF2-40B4-BE49-F238E27FC236}">
                <a16:creationId xmlns:a16="http://schemas.microsoft.com/office/drawing/2014/main" id="{C4660ECB-B1AC-4F82-A9C2-E63EF8AF1F45}"/>
              </a:ext>
            </a:extLst>
          </p:cNvPr>
          <p:cNvSpPr/>
          <p:nvPr/>
        </p:nvSpPr>
        <p:spPr>
          <a:xfrm>
            <a:off x="490669" y="775489"/>
            <a:ext cx="2040712"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kern="0" dirty="0">
                <a:solidFill>
                  <a:schemeClr val="bg1"/>
                </a:solidFill>
              </a:rPr>
              <a:t>var::TypeName</a:t>
            </a:r>
            <a:endParaRPr lang="zh-CN" altLang="zh-CN" sz="2000" kern="100" dirty="0">
              <a:solidFill>
                <a:schemeClr val="bg1"/>
              </a:solidFill>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6952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B83987-243D-8987-4D47-475870C170DE}"/>
              </a:ext>
            </a:extLst>
          </p:cNvPr>
          <p:cNvSpPr>
            <a:spLocks noGrp="1"/>
          </p:cNvSpPr>
          <p:nvPr>
            <p:ph type="title"/>
          </p:nvPr>
        </p:nvSpPr>
        <p:spPr>
          <a:xfrm>
            <a:off x="1835697" y="51470"/>
            <a:ext cx="6336704" cy="648072"/>
          </a:xfrm>
        </p:spPr>
        <p:txBody>
          <a:bodyPr/>
          <a:lstStyle/>
          <a:p>
            <a:br>
              <a:rPr lang="en-US" altLang="zh-CN" dirty="0"/>
            </a:br>
            <a:br>
              <a:rPr lang="en-US" altLang="zh-CN" dirty="0"/>
            </a:br>
            <a:endParaRPr lang="zh-CN" altLang="en-US" dirty="0"/>
          </a:p>
        </p:txBody>
      </p:sp>
      <p:sp>
        <p:nvSpPr>
          <p:cNvPr id="3" name="内容占位符 2">
            <a:extLst>
              <a:ext uri="{FF2B5EF4-FFF2-40B4-BE49-F238E27FC236}">
                <a16:creationId xmlns:a16="http://schemas.microsoft.com/office/drawing/2014/main" id="{6CE80257-2DF6-F53A-5839-F0F63387DA41}"/>
              </a:ext>
            </a:extLst>
          </p:cNvPr>
          <p:cNvSpPr>
            <a:spLocks noGrp="1"/>
          </p:cNvSpPr>
          <p:nvPr>
            <p:ph idx="1"/>
          </p:nvPr>
        </p:nvSpPr>
        <p:spPr>
          <a:xfrm>
            <a:off x="330374" y="692385"/>
            <a:ext cx="8837295" cy="916405"/>
          </a:xfrm>
          <a:solidFill>
            <a:schemeClr val="bg1"/>
          </a:solidFill>
        </p:spPr>
        <p:txBody>
          <a:bodyPr/>
          <a:lstStyle/>
          <a:p>
            <a:pPr marL="457200" indent="-457200">
              <a:lnSpc>
                <a:spcPts val="3400"/>
              </a:lnSpc>
              <a:buFont typeface="+mj-ea"/>
              <a:buAutoNum type="circleNumDbPlain"/>
            </a:pPr>
            <a:r>
              <a:rPr lang="en-US" altLang="zh-CN" sz="2000" b="1" dirty="0">
                <a:solidFill>
                  <a:srgbClr val="0070C0"/>
                </a:solidFill>
                <a:latin typeface="微软雅黑" panose="020B0503020204020204" pitchFamily="34" charset="-122"/>
                <a:ea typeface="微软雅黑" panose="020B0503020204020204" pitchFamily="34" charset="-122"/>
              </a:rPr>
              <a:t>Julia </a:t>
            </a:r>
            <a:r>
              <a:rPr lang="zh-CN" altLang="en-US" sz="2000" b="1" dirty="0">
                <a:solidFill>
                  <a:srgbClr val="0070C0"/>
                </a:solidFill>
                <a:latin typeface="微软雅黑" panose="020B0503020204020204" pitchFamily="34" charset="-122"/>
                <a:ea typeface="微软雅黑" panose="020B0503020204020204" pitchFamily="34" charset="-122"/>
              </a:rPr>
              <a:t>中单行注释以 </a:t>
            </a:r>
            <a:r>
              <a:rPr lang="en-US" altLang="zh-CN" sz="2000" b="1" dirty="0">
                <a:solidFill>
                  <a:srgbClr val="0070C0"/>
                </a:solidFill>
                <a:latin typeface="微软雅黑" panose="020B0503020204020204" pitchFamily="34" charset="-122"/>
                <a:ea typeface="微软雅黑" panose="020B0503020204020204" pitchFamily="34" charset="-122"/>
              </a:rPr>
              <a:t># </a:t>
            </a:r>
            <a:r>
              <a:rPr lang="zh-CN" altLang="en-US" sz="2000" b="1" dirty="0">
                <a:solidFill>
                  <a:srgbClr val="0070C0"/>
                </a:solidFill>
                <a:latin typeface="微软雅黑" panose="020B0503020204020204" pitchFamily="34" charset="-122"/>
                <a:ea typeface="微软雅黑" panose="020B0503020204020204" pitchFamily="34" charset="-122"/>
              </a:rPr>
              <a:t>开头</a:t>
            </a:r>
            <a:endParaRPr lang="en-US" altLang="zh-CN" sz="2000" b="1" dirty="0">
              <a:solidFill>
                <a:srgbClr val="0070C0"/>
              </a:solidFill>
              <a:latin typeface="微软雅黑" panose="020B0503020204020204" pitchFamily="34" charset="-122"/>
              <a:ea typeface="微软雅黑" panose="020B0503020204020204" pitchFamily="34" charset="-122"/>
            </a:endParaRPr>
          </a:p>
          <a:p>
            <a:pPr marL="0" indent="0">
              <a:lnSpc>
                <a:spcPts val="3400"/>
              </a:lnSpc>
              <a:buNone/>
            </a:pP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4" name="标题 1">
            <a:extLst>
              <a:ext uri="{FF2B5EF4-FFF2-40B4-BE49-F238E27FC236}">
                <a16:creationId xmlns:a16="http://schemas.microsoft.com/office/drawing/2014/main" id="{BE14D1B7-23A2-4E07-7A89-1F7148675C8D}"/>
              </a:ext>
            </a:extLst>
          </p:cNvPr>
          <p:cNvSpPr txBox="1">
            <a:spLocks/>
          </p:cNvSpPr>
          <p:nvPr/>
        </p:nvSpPr>
        <p:spPr bwMode="auto">
          <a:xfrm>
            <a:off x="1525960" y="182223"/>
            <a:ext cx="6696744"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b="1" dirty="0">
                <a:solidFill>
                  <a:srgbClr val="002060"/>
                </a:solidFill>
                <a:latin typeface="隶书" panose="02010509060101010101" pitchFamily="49" charset="-122"/>
                <a:ea typeface="隶书" panose="02010509060101010101" pitchFamily="49" charset="-122"/>
              </a:rPr>
              <a:t>§</a:t>
            </a:r>
            <a:r>
              <a:rPr lang="en-US" altLang="zh-CN" sz="3000" b="1" dirty="0"/>
              <a:t>1.3.1.1 </a:t>
            </a:r>
            <a:r>
              <a:rPr lang="zh-CN" altLang="en-US" sz="3000" b="1" dirty="0"/>
              <a:t>变量</a:t>
            </a:r>
            <a:r>
              <a:rPr lang="en-US" altLang="zh-CN" sz="3000" b="1" dirty="0">
                <a:solidFill>
                  <a:srgbClr val="FF0000"/>
                </a:solidFill>
              </a:rPr>
              <a:t>——4. </a:t>
            </a:r>
            <a:r>
              <a:rPr lang="zh-CN" altLang="en-US" sz="3000" b="1" dirty="0">
                <a:solidFill>
                  <a:srgbClr val="FF0000"/>
                </a:solidFill>
              </a:rPr>
              <a:t>单行和多行注释</a:t>
            </a:r>
            <a:r>
              <a:rPr lang="en-US" altLang="zh-CN" sz="3000" b="1" dirty="0">
                <a:solidFill>
                  <a:srgbClr val="FFFF00"/>
                </a:solidFill>
                <a:highlight>
                  <a:srgbClr val="FF0000"/>
                </a:highlight>
              </a:rPr>
              <a:t>#</a:t>
            </a:r>
            <a:endParaRPr lang="zh-CN" altLang="en-US" sz="3000" b="1" kern="0" dirty="0">
              <a:solidFill>
                <a:srgbClr val="FFFF00"/>
              </a:solidFill>
              <a:highlight>
                <a:srgbClr val="FF0000"/>
              </a:highlight>
            </a:endParaRPr>
          </a:p>
        </p:txBody>
      </p:sp>
      <p:sp>
        <p:nvSpPr>
          <p:cNvPr id="5" name="内容占位符 2">
            <a:extLst>
              <a:ext uri="{FF2B5EF4-FFF2-40B4-BE49-F238E27FC236}">
                <a16:creationId xmlns:a16="http://schemas.microsoft.com/office/drawing/2014/main" id="{40C3A2D2-A607-71E6-417C-BD2EE8E456C0}"/>
              </a:ext>
            </a:extLst>
          </p:cNvPr>
          <p:cNvSpPr txBox="1">
            <a:spLocks/>
          </p:cNvSpPr>
          <p:nvPr/>
        </p:nvSpPr>
        <p:spPr bwMode="auto">
          <a:xfrm>
            <a:off x="312549" y="2556303"/>
            <a:ext cx="8812017" cy="2036455"/>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lnSpc>
                <a:spcPct val="100000"/>
              </a:lnSpc>
              <a:buFont typeface="Wingdings" panose="05000000000000000000" pitchFamily="2" charset="2"/>
              <a:buNone/>
            </a:pPr>
            <a:r>
              <a:rPr lang="en-US" altLang="zh-CN" b="1" dirty="0">
                <a:solidFill>
                  <a:srgbClr val="0070C0"/>
                </a:solidFill>
                <a:latin typeface="微软雅黑" panose="020B0503020204020204" pitchFamily="34" charset="-122"/>
                <a:ea typeface="微软雅黑" panose="020B0503020204020204" pitchFamily="34" charset="-122"/>
              </a:rPr>
              <a:t>#=</a:t>
            </a:r>
          </a:p>
          <a:p>
            <a:pPr>
              <a:lnSpc>
                <a:spcPts val="2900"/>
              </a:lnSpc>
              <a:buNone/>
            </a:pPr>
            <a:r>
              <a:rPr lang="en-US" altLang="zh-CN" sz="2200" dirty="0">
                <a:latin typeface="宋体" panose="02010600030101010101" pitchFamily="2" charset="-122"/>
                <a:ea typeface="宋体" panose="02010600030101010101" pitchFamily="2" charset="-122"/>
              </a:rPr>
              <a:t>1.</a:t>
            </a:r>
            <a:r>
              <a:rPr lang="zh-CN" altLang="en-US" sz="2200" dirty="0">
                <a:latin typeface="宋体" panose="02010600030101010101" pitchFamily="2" charset="-122"/>
                <a:ea typeface="宋体" panose="02010600030101010101" pitchFamily="2" charset="-122"/>
              </a:rPr>
              <a:t>特殊数学符号可以使用反斜杠加 </a:t>
            </a:r>
            <a:r>
              <a:rPr lang="en-US" altLang="zh-CN" sz="2200" dirty="0">
                <a:latin typeface="宋体" panose="02010600030101010101" pitchFamily="2" charset="-122"/>
                <a:ea typeface="宋体" panose="02010600030101010101" pitchFamily="2" charset="-122"/>
              </a:rPr>
              <a:t>LaTeX </a:t>
            </a:r>
            <a:r>
              <a:rPr lang="zh-CN" altLang="en-US" sz="2200" dirty="0">
                <a:latin typeface="宋体" panose="02010600030101010101" pitchFamily="2" charset="-122"/>
                <a:ea typeface="宋体" panose="02010600030101010101" pitchFamily="2" charset="-122"/>
              </a:rPr>
              <a:t>符号名，再按 </a:t>
            </a:r>
            <a:r>
              <a:rPr lang="en-US" altLang="zh-CN" sz="2200" dirty="0">
                <a:latin typeface="宋体" panose="02010600030101010101" pitchFamily="2" charset="-122"/>
                <a:ea typeface="宋体" panose="02010600030101010101" pitchFamily="2" charset="-122"/>
              </a:rPr>
              <a:t>Tab </a:t>
            </a:r>
            <a:r>
              <a:rPr lang="zh-CN" altLang="en-US" sz="2200" dirty="0">
                <a:latin typeface="宋体" panose="02010600030101010101" pitchFamily="2" charset="-122"/>
                <a:ea typeface="宋体" panose="02010600030101010101" pitchFamily="2" charset="-122"/>
              </a:rPr>
              <a:t>健</a:t>
            </a:r>
            <a:endParaRPr lang="en-US" altLang="zh-CN" sz="2200" dirty="0">
              <a:latin typeface="宋体" panose="02010600030101010101" pitchFamily="2" charset="-122"/>
              <a:ea typeface="宋体" panose="02010600030101010101" pitchFamily="2" charset="-122"/>
            </a:endParaRPr>
          </a:p>
          <a:p>
            <a:pPr>
              <a:lnSpc>
                <a:spcPts val="2900"/>
              </a:lnSpc>
              <a:buNone/>
            </a:pPr>
            <a:r>
              <a:rPr lang="en-US" altLang="zh-CN" sz="2200" dirty="0">
                <a:latin typeface="宋体" panose="02010600030101010101" pitchFamily="2" charset="-122"/>
                <a:ea typeface="宋体" panose="02010600030101010101" pitchFamily="2" charset="-122"/>
              </a:rPr>
              <a:t>2.</a:t>
            </a:r>
            <a:r>
              <a:rPr lang="zh-CN" altLang="en-US" sz="2200" dirty="0">
                <a:latin typeface="宋体" panose="02010600030101010101" pitchFamily="2" charset="-122"/>
                <a:ea typeface="宋体" panose="02010600030101010101" pitchFamily="2" charset="-122"/>
              </a:rPr>
              <a:t>如创建</a:t>
            </a:r>
            <a:r>
              <a:rPr lang="el-GR" altLang="zh-CN" sz="2200" dirty="0">
                <a:ea typeface="宋体" panose="02010600030101010101" pitchFamily="2" charset="-122"/>
              </a:rPr>
              <a:t>α</a:t>
            </a:r>
            <a:r>
              <a:rPr lang="en-US" altLang="zh-CN" sz="2200" dirty="0">
                <a:latin typeface="宋体" panose="02010600030101010101" pitchFamily="2" charset="-122"/>
                <a:ea typeface="宋体" panose="02010600030101010101" pitchFamily="2" charset="-122"/>
              </a:rPr>
              <a:t>ᵖ</a:t>
            </a:r>
            <a:r>
              <a:rPr lang="zh-CN" altLang="en-US" sz="2200" dirty="0">
                <a:latin typeface="宋体" panose="02010600030101010101" pitchFamily="2" charset="-122"/>
                <a:ea typeface="宋体" panose="02010600030101010101" pitchFamily="2" charset="-122"/>
              </a:rPr>
              <a:t>，先转义</a:t>
            </a:r>
            <a:r>
              <a:rPr lang="en-US" altLang="zh-CN"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alpha+Tab</a:t>
            </a:r>
            <a:r>
              <a:rPr lang="zh-CN" altLang="en-US" sz="2200" dirty="0">
                <a:latin typeface="宋体" panose="02010600030101010101" pitchFamily="2" charset="-122"/>
                <a:ea typeface="宋体" panose="02010600030101010101" pitchFamily="2" charset="-122"/>
              </a:rPr>
              <a:t>键生成</a:t>
            </a:r>
            <a:r>
              <a:rPr lang="el-GR" altLang="zh-CN" sz="2200" dirty="0">
                <a:ea typeface="宋体" panose="02010600030101010101" pitchFamily="2" charset="-122"/>
              </a:rPr>
              <a:t>α</a:t>
            </a:r>
            <a:r>
              <a:rPr lang="zh-CN" altLang="en-US" sz="2200" dirty="0">
                <a:latin typeface="宋体" panose="02010600030101010101" pitchFamily="2" charset="-122"/>
                <a:ea typeface="宋体" panose="02010600030101010101" pitchFamily="2" charset="-122"/>
              </a:rPr>
              <a:t>，再转义</a:t>
            </a:r>
            <a:r>
              <a:rPr lang="en-US" altLang="zh-CN"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p+Tab</a:t>
            </a:r>
            <a:r>
              <a:rPr lang="zh-CN" altLang="en-US" sz="2200" dirty="0">
                <a:latin typeface="宋体" panose="02010600030101010101" pitchFamily="2" charset="-122"/>
                <a:ea typeface="宋体" panose="02010600030101010101" pitchFamily="2" charset="-122"/>
              </a:rPr>
              <a:t>键生成上标</a:t>
            </a:r>
            <a:r>
              <a:rPr lang="en-US" altLang="zh-CN" sz="2200" kern="0" dirty="0">
                <a:solidFill>
                  <a:srgbClr val="00B0F0"/>
                </a:solidFill>
                <a:latin typeface="宋体" panose="02010600030101010101" pitchFamily="2" charset="-122"/>
                <a:ea typeface="宋体" panose="02010600030101010101" pitchFamily="2" charset="-122"/>
              </a:rPr>
              <a:t>ᵖ</a:t>
            </a:r>
            <a:endParaRPr lang="en-US" altLang="zh-CN" sz="2200" dirty="0">
              <a:latin typeface="宋体" panose="02010600030101010101" pitchFamily="2" charset="-122"/>
              <a:ea typeface="宋体" panose="02010600030101010101" pitchFamily="2" charset="-122"/>
            </a:endParaRPr>
          </a:p>
          <a:p>
            <a:pPr>
              <a:lnSpc>
                <a:spcPct val="100000"/>
              </a:lnSpc>
              <a:buNone/>
            </a:pPr>
            <a:r>
              <a:rPr lang="en-US" altLang="zh-CN" b="1" dirty="0">
                <a:solidFill>
                  <a:srgbClr val="0070C0"/>
                </a:solidFill>
                <a:latin typeface="微软雅黑" panose="020B0503020204020204" pitchFamily="34" charset="-122"/>
                <a:ea typeface="微软雅黑" panose="020B0503020204020204" pitchFamily="34" charset="-122"/>
              </a:rPr>
              <a:t>=#</a:t>
            </a:r>
          </a:p>
          <a:p>
            <a:pPr>
              <a:lnSpc>
                <a:spcPct val="100000"/>
              </a:lnSpc>
              <a:buFont typeface="Wingdings" panose="05000000000000000000" pitchFamily="2" charset="2"/>
              <a:buNone/>
            </a:pPr>
            <a:r>
              <a:rPr lang="en-US" altLang="zh-CN" sz="2200" kern="0" dirty="0">
                <a:latin typeface="宋体" panose="02010600030101010101" pitchFamily="2" charset="-122"/>
                <a:ea typeface="宋体" panose="02010600030101010101" pitchFamily="2" charset="-122"/>
              </a:rPr>
              <a:t>julia&gt; </a:t>
            </a:r>
            <a:r>
              <a:rPr lang="el-GR" altLang="zh-CN" sz="2200" kern="0" dirty="0">
                <a:solidFill>
                  <a:srgbClr val="00B0F0"/>
                </a:solidFill>
                <a:ea typeface="宋体" panose="02010600030101010101" pitchFamily="2" charset="-122"/>
              </a:rPr>
              <a:t>α</a:t>
            </a:r>
            <a:r>
              <a:rPr lang="en-US" altLang="zh-CN" sz="2200" kern="0" dirty="0">
                <a:solidFill>
                  <a:srgbClr val="00B0F0"/>
                </a:solidFill>
                <a:latin typeface="宋体" panose="02010600030101010101" pitchFamily="2" charset="-122"/>
                <a:ea typeface="宋体" panose="02010600030101010101" pitchFamily="2" charset="-122"/>
              </a:rPr>
              <a:t>ᵖ </a:t>
            </a:r>
            <a:r>
              <a:rPr lang="en-US" altLang="zh-CN" sz="2200" b="1" kern="0" dirty="0">
                <a:solidFill>
                  <a:srgbClr val="00B0F0"/>
                </a:solidFill>
                <a:latin typeface="宋体" panose="02010600030101010101" pitchFamily="2" charset="-122"/>
                <a:ea typeface="宋体" panose="02010600030101010101" pitchFamily="2" charset="-122"/>
              </a:rPr>
              <a:t>#</a:t>
            </a:r>
            <a:r>
              <a:rPr lang="zh-CN" altLang="en-US" sz="2200" b="1" kern="0" dirty="0">
                <a:solidFill>
                  <a:srgbClr val="00B0F0"/>
                </a:solidFill>
                <a:latin typeface="宋体" panose="02010600030101010101" pitchFamily="2" charset="-122"/>
                <a:ea typeface="宋体" panose="02010600030101010101" pitchFamily="2" charset="-122"/>
              </a:rPr>
              <a:t>结果</a:t>
            </a:r>
          </a:p>
        </p:txBody>
      </p:sp>
      <p:sp>
        <p:nvSpPr>
          <p:cNvPr id="6" name="波形 5">
            <a:extLst>
              <a:ext uri="{FF2B5EF4-FFF2-40B4-BE49-F238E27FC236}">
                <a16:creationId xmlns:a16="http://schemas.microsoft.com/office/drawing/2014/main" id="{1D4CB7D2-CCFF-F0B7-5B78-B616156C6117}"/>
              </a:ext>
            </a:extLst>
          </p:cNvPr>
          <p:cNvSpPr/>
          <p:nvPr/>
        </p:nvSpPr>
        <p:spPr>
          <a:xfrm>
            <a:off x="469018" y="2321580"/>
            <a:ext cx="895900" cy="2880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例131-2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7" name="Rectangle 1">
            <a:extLst>
              <a:ext uri="{FF2B5EF4-FFF2-40B4-BE49-F238E27FC236}">
                <a16:creationId xmlns:a16="http://schemas.microsoft.com/office/drawing/2014/main" id="{C350AF75-DE72-9614-8718-5490230F9477}"/>
              </a:ext>
            </a:extLst>
          </p:cNvPr>
          <p:cNvSpPr>
            <a:spLocks noChangeArrowheads="1"/>
          </p:cNvSpPr>
          <p:nvPr/>
        </p:nvSpPr>
        <p:spPr bwMode="auto">
          <a:xfrm>
            <a:off x="0" y="151656"/>
            <a:ext cx="7053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999999"/>
                </a:solidFill>
                <a:effectLst/>
                <a:latin typeface="Arial Unicode MS"/>
                <a:ea typeface="source-code-pr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1" name="标题 1">
            <a:extLst>
              <a:ext uri="{FF2B5EF4-FFF2-40B4-BE49-F238E27FC236}">
                <a16:creationId xmlns:a16="http://schemas.microsoft.com/office/drawing/2014/main" id="{8470EF2E-93B2-4D2B-B34D-962C21C219AB}"/>
              </a:ext>
            </a:extLst>
          </p:cNvPr>
          <p:cNvSpPr txBox="1">
            <a:spLocks/>
          </p:cNvSpPr>
          <p:nvPr/>
        </p:nvSpPr>
        <p:spPr bwMode="auto">
          <a:xfrm>
            <a:off x="1490742" y="2260623"/>
            <a:ext cx="7790293"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noAutofit/>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dist"/>
            <a:r>
              <a:rPr lang="zh-CN" altLang="en-US" sz="2000" b="1" kern="100" dirty="0">
                <a:solidFill>
                  <a:srgbClr val="0070C0"/>
                </a:solidFill>
                <a:latin typeface="微软雅黑" panose="020B0503020204020204" pitchFamily="34" charset="-122"/>
                <a:ea typeface="微软雅黑" panose="020B0503020204020204" pitchFamily="34" charset="-122"/>
              </a:rPr>
              <a:t>多行注释如何操作创建特殊符号“</a:t>
            </a:r>
            <a:r>
              <a:rPr lang="el-GR" altLang="zh-CN" sz="2000" b="1" kern="100" dirty="0">
                <a:solidFill>
                  <a:srgbClr val="0070C0"/>
                </a:solidFill>
                <a:latin typeface="微软雅黑" panose="020B0503020204020204" pitchFamily="34" charset="-122"/>
                <a:ea typeface="微软雅黑" panose="020B0503020204020204" pitchFamily="34" charset="-122"/>
              </a:rPr>
              <a:t>α</a:t>
            </a:r>
            <a:r>
              <a:rPr lang="en-US" altLang="zh-CN" sz="2000" b="1" kern="100" dirty="0">
                <a:solidFill>
                  <a:srgbClr val="0070C0"/>
                </a:solidFill>
                <a:latin typeface="微软雅黑" panose="020B0503020204020204" pitchFamily="34" charset="-122"/>
                <a:ea typeface="微软雅黑" panose="020B0503020204020204" pitchFamily="34" charset="-122"/>
              </a:rPr>
              <a:t>ᵖ</a:t>
            </a:r>
            <a:r>
              <a:rPr lang="zh-CN" altLang="en-US" sz="2000" b="1" kern="100" dirty="0">
                <a:solidFill>
                  <a:srgbClr val="0070C0"/>
                </a:solidFill>
                <a:latin typeface="微软雅黑" panose="020B0503020204020204" pitchFamily="34" charset="-122"/>
                <a:ea typeface="微软雅黑" panose="020B0503020204020204" pitchFamily="34" charset="-122"/>
              </a:rPr>
              <a:t>”，并且提供其运行结果</a:t>
            </a:r>
          </a:p>
        </p:txBody>
      </p:sp>
      <p:sp>
        <p:nvSpPr>
          <p:cNvPr id="12" name="AutoShape 13">
            <a:extLst>
              <a:ext uri="{FF2B5EF4-FFF2-40B4-BE49-F238E27FC236}">
                <a16:creationId xmlns:a16="http://schemas.microsoft.com/office/drawing/2014/main" id="{291A2159-DC2C-45AF-9648-97B7D03887F3}"/>
              </a:ext>
            </a:extLst>
          </p:cNvPr>
          <p:cNvSpPr>
            <a:spLocks noChangeArrowheads="1"/>
          </p:cNvSpPr>
          <p:nvPr/>
        </p:nvSpPr>
        <p:spPr bwMode="auto">
          <a:xfrm>
            <a:off x="2699792" y="3969536"/>
            <a:ext cx="864097" cy="537906"/>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p>
            <a:pPr algn="ctr"/>
            <a:r>
              <a:rPr lang="zh-CN" altLang="en-US" sz="1400" b="1" dirty="0">
                <a:solidFill>
                  <a:srgbClr val="FFFF00"/>
                </a:solidFill>
                <a:latin typeface="微软雅黑" panose="020B0503020204020204" pitchFamily="34" charset="-122"/>
                <a:ea typeface="微软雅黑" panose="020B0503020204020204" pitchFamily="34" charset="-122"/>
              </a:rPr>
              <a:t>注意</a:t>
            </a:r>
            <a:r>
              <a:rPr lang="zh-CN" altLang="en-US" sz="1400" dirty="0">
                <a:latin typeface="宋体" panose="02010600030101010101" pitchFamily="2" charset="-122"/>
                <a:ea typeface="宋体" panose="02010600030101010101" pitchFamily="2" charset="-122"/>
              </a:rPr>
              <a:t> </a:t>
            </a:r>
            <a:endParaRPr lang="zh-CN" altLang="en-US" sz="1400" dirty="0">
              <a:solidFill>
                <a:srgbClr val="FFFF00"/>
              </a:solidFill>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29721340-13AC-421E-9A47-C00DB128A857}"/>
              </a:ext>
            </a:extLst>
          </p:cNvPr>
          <p:cNvSpPr txBox="1"/>
          <p:nvPr/>
        </p:nvSpPr>
        <p:spPr>
          <a:xfrm>
            <a:off x="3468986" y="4053823"/>
            <a:ext cx="5655580" cy="369332"/>
          </a:xfrm>
          <a:prstGeom prst="rect">
            <a:avLst/>
          </a:prstGeom>
          <a:noFill/>
        </p:spPr>
        <p:txBody>
          <a:bodyPr wrap="square">
            <a:spAutoFit/>
          </a:bodyPr>
          <a:lstStyle/>
          <a:p>
            <a:pPr algn="ctr"/>
            <a:r>
              <a:rPr lang="zh-CN" altLang="en-US" b="1" dirty="0">
                <a:solidFill>
                  <a:srgbClr val="FF0000"/>
                </a:solidFill>
                <a:latin typeface="微软雅黑" panose="020B0503020204020204" pitchFamily="34" charset="-122"/>
                <a:ea typeface="微软雅黑" panose="020B0503020204020204" pitchFamily="34" charset="-122"/>
              </a:rPr>
              <a:t>为方便</a:t>
            </a:r>
            <a:r>
              <a:rPr lang="en-US" altLang="zh-CN" b="1" dirty="0">
                <a:solidFill>
                  <a:srgbClr val="FF0000"/>
                </a:solidFill>
                <a:latin typeface="微软雅黑" panose="020B0503020204020204" pitchFamily="34" charset="-122"/>
                <a:ea typeface="微软雅黑" panose="020B0503020204020204" pitchFamily="34" charset="-122"/>
              </a:rPr>
              <a:t>julia</a:t>
            </a:r>
            <a:r>
              <a:rPr lang="zh-CN" altLang="en-US" b="1" dirty="0">
                <a:solidFill>
                  <a:srgbClr val="FF0000"/>
                </a:solidFill>
                <a:latin typeface="微软雅黑" panose="020B0503020204020204" pitchFamily="34" charset="-122"/>
                <a:ea typeface="微软雅黑" panose="020B0503020204020204" pitchFamily="34" charset="-122"/>
              </a:rPr>
              <a:t>与</a:t>
            </a:r>
            <a:r>
              <a:rPr lang="en-US" altLang="zh-CN" b="1" dirty="0" err="1">
                <a:solidFill>
                  <a:srgbClr val="FF0000"/>
                </a:solidFill>
                <a:latin typeface="微软雅黑" panose="020B0503020204020204" pitchFamily="34" charset="-122"/>
                <a:ea typeface="微软雅黑" panose="020B0503020204020204" pitchFamily="34" charset="-122"/>
              </a:rPr>
              <a:t>matlab</a:t>
            </a:r>
            <a:r>
              <a:rPr lang="zh-CN" altLang="en-US" b="1" dirty="0">
                <a:solidFill>
                  <a:srgbClr val="FF0000"/>
                </a:solidFill>
                <a:latin typeface="微软雅黑" panose="020B0503020204020204" pitchFamily="34" charset="-122"/>
                <a:ea typeface="微软雅黑" panose="020B0503020204020204" pitchFamily="34" charset="-122"/>
              </a:rPr>
              <a:t>两种语言互相调用，可省去注释</a:t>
            </a:r>
          </a:p>
        </p:txBody>
      </p:sp>
      <p:sp>
        <p:nvSpPr>
          <p:cNvPr id="14" name="文本框 13">
            <a:extLst>
              <a:ext uri="{FF2B5EF4-FFF2-40B4-BE49-F238E27FC236}">
                <a16:creationId xmlns:a16="http://schemas.microsoft.com/office/drawing/2014/main" id="{90C0CBA4-EFD6-4B53-B2E7-FAFAE4E21BBB}"/>
              </a:ext>
            </a:extLst>
          </p:cNvPr>
          <p:cNvSpPr txBox="1"/>
          <p:nvPr/>
        </p:nvSpPr>
        <p:spPr>
          <a:xfrm>
            <a:off x="358113" y="1240371"/>
            <a:ext cx="6950682" cy="400110"/>
          </a:xfrm>
          <a:prstGeom prst="rect">
            <a:avLst/>
          </a:prstGeom>
          <a:noFill/>
        </p:spPr>
        <p:txBody>
          <a:bodyPr wrap="square">
            <a:spAutoFit/>
          </a:bodyPr>
          <a:lstStyle/>
          <a:p>
            <a:pPr>
              <a:lnSpc>
                <a:spcPct val="100000"/>
              </a:lnSpc>
              <a:buFont typeface="Wingdings" panose="05000000000000000000" pitchFamily="2" charset="2"/>
              <a:buNone/>
            </a:pPr>
            <a:r>
              <a:rPr lang="en-US" altLang="zh-CN" sz="2000" kern="0" dirty="0"/>
              <a:t>julia&gt; </a:t>
            </a:r>
            <a:r>
              <a:rPr lang="el-GR" altLang="zh-CN" sz="2000" kern="0" dirty="0"/>
              <a:t>β=12345</a:t>
            </a:r>
            <a:r>
              <a:rPr lang="en-US" altLang="zh-CN" sz="2000" kern="0" dirty="0">
                <a:latin typeface="宋体" panose="02010600030101010101" pitchFamily="2" charset="-122"/>
                <a:ea typeface="宋体" panose="02010600030101010101" pitchFamily="2" charset="-122"/>
              </a:rPr>
              <a:t>; </a:t>
            </a:r>
            <a:r>
              <a:rPr lang="en-US" altLang="zh-CN" sz="2000" b="1" kern="0" dirty="0">
                <a:solidFill>
                  <a:srgbClr val="00B0F0"/>
                </a:solidFill>
                <a:latin typeface="宋体" panose="02010600030101010101" pitchFamily="2" charset="-122"/>
                <a:ea typeface="宋体" panose="02010600030101010101" pitchFamily="2" charset="-122"/>
              </a:rPr>
              <a:t>#</a:t>
            </a:r>
            <a:r>
              <a:rPr lang="zh-CN" altLang="en-US" sz="2000" b="1" kern="0" dirty="0">
                <a:solidFill>
                  <a:srgbClr val="00B0F0"/>
                </a:solidFill>
                <a:latin typeface="宋体" panose="02010600030101010101" pitchFamily="2" charset="-122"/>
                <a:ea typeface="宋体" panose="02010600030101010101" pitchFamily="2" charset="-122"/>
              </a:rPr>
              <a:t>希腊字母</a:t>
            </a:r>
            <a:r>
              <a:rPr lang="el-GR" altLang="zh-CN" sz="2000" b="1" kern="0" dirty="0">
                <a:solidFill>
                  <a:srgbClr val="00B0F0"/>
                </a:solidFill>
                <a:ea typeface="宋体" panose="02010600030101010101" pitchFamily="2" charset="-122"/>
              </a:rPr>
              <a:t>β</a:t>
            </a:r>
            <a:r>
              <a:rPr lang="zh-CN" altLang="en-US" sz="2000" b="1" kern="0" dirty="0">
                <a:solidFill>
                  <a:srgbClr val="00B0F0"/>
                </a:solidFill>
                <a:latin typeface="宋体" panose="02010600030101010101" pitchFamily="2" charset="-122"/>
                <a:ea typeface="宋体" panose="02010600030101010101" pitchFamily="2" charset="-122"/>
              </a:rPr>
              <a:t>输入方式 </a:t>
            </a:r>
            <a:r>
              <a:rPr lang="zh-CN" altLang="zh-CN" sz="2000" b="1" kern="0" dirty="0">
                <a:solidFill>
                  <a:srgbClr val="00B0F0"/>
                </a:solidFill>
                <a:latin typeface="宋体" panose="02010600030101010101" pitchFamily="2" charset="-122"/>
                <a:ea typeface="宋体" panose="02010600030101010101" pitchFamily="2" charset="-122"/>
              </a:rPr>
              <a:t>\</a:t>
            </a:r>
            <a:r>
              <a:rPr lang="en-US" altLang="zh-CN" sz="2000" b="1" kern="0" dirty="0">
                <a:solidFill>
                  <a:srgbClr val="00B0F0"/>
                </a:solidFill>
                <a:latin typeface="宋体" panose="02010600030101010101" pitchFamily="2" charset="-122"/>
                <a:ea typeface="宋体" panose="02010600030101010101" pitchFamily="2" charset="-122"/>
              </a:rPr>
              <a:t>beta</a:t>
            </a:r>
            <a:r>
              <a:rPr lang="zh-CN" altLang="zh-CN" sz="2000" b="1" kern="0" dirty="0">
                <a:solidFill>
                  <a:srgbClr val="00B0F0"/>
                </a:solidFill>
                <a:latin typeface="宋体" panose="02010600030101010101" pitchFamily="2" charset="-122"/>
                <a:ea typeface="宋体" panose="02010600030101010101" pitchFamily="2" charset="-122"/>
              </a:rPr>
              <a:t>+Tab</a:t>
            </a:r>
            <a:r>
              <a:rPr lang="zh-CN" altLang="en-US" sz="2000" b="1" kern="0" dirty="0">
                <a:solidFill>
                  <a:srgbClr val="00B0F0"/>
                </a:solidFill>
                <a:latin typeface="宋体" panose="02010600030101010101" pitchFamily="2" charset="-122"/>
                <a:ea typeface="宋体" panose="02010600030101010101" pitchFamily="2" charset="-122"/>
              </a:rPr>
              <a:t>键</a:t>
            </a:r>
            <a:r>
              <a:rPr lang="en-US" altLang="zh-CN" sz="2000" b="1" kern="0" dirty="0">
                <a:solidFill>
                  <a:srgbClr val="00B0F0"/>
                </a:solidFill>
                <a:latin typeface="宋体" panose="02010600030101010101" pitchFamily="2" charset="-122"/>
                <a:ea typeface="宋体" panose="02010600030101010101" pitchFamily="2" charset="-122"/>
              </a:rPr>
              <a:t>(</a:t>
            </a:r>
            <a:r>
              <a:rPr lang="zh-CN" altLang="en-US" sz="2000" b="1" kern="0" dirty="0">
                <a:solidFill>
                  <a:srgbClr val="00B0F0"/>
                </a:solidFill>
                <a:latin typeface="宋体" panose="02010600030101010101" pitchFamily="2" charset="-122"/>
                <a:ea typeface="宋体" panose="02010600030101010101" pitchFamily="2" charset="-122"/>
              </a:rPr>
              <a:t>制表键</a:t>
            </a:r>
            <a:r>
              <a:rPr lang="en-US" altLang="zh-CN" sz="2000" b="1" kern="0" dirty="0">
                <a:solidFill>
                  <a:srgbClr val="00B0F0"/>
                </a:solidFill>
                <a:latin typeface="宋体" panose="02010600030101010101" pitchFamily="2" charset="-122"/>
                <a:ea typeface="宋体" panose="02010600030101010101" pitchFamily="2" charset="-122"/>
              </a:rPr>
              <a:t>)</a:t>
            </a:r>
          </a:p>
        </p:txBody>
      </p:sp>
      <p:sp>
        <p:nvSpPr>
          <p:cNvPr id="15" name="文本框 14">
            <a:extLst>
              <a:ext uri="{FF2B5EF4-FFF2-40B4-BE49-F238E27FC236}">
                <a16:creationId xmlns:a16="http://schemas.microsoft.com/office/drawing/2014/main" id="{53E03283-8C22-4498-B760-218A89A7255A}"/>
              </a:ext>
            </a:extLst>
          </p:cNvPr>
          <p:cNvSpPr txBox="1"/>
          <p:nvPr/>
        </p:nvSpPr>
        <p:spPr>
          <a:xfrm>
            <a:off x="312549" y="1640481"/>
            <a:ext cx="5947219" cy="480388"/>
          </a:xfrm>
          <a:prstGeom prst="rect">
            <a:avLst/>
          </a:prstGeom>
          <a:solidFill>
            <a:schemeClr val="bg1"/>
          </a:solidFill>
        </p:spPr>
        <p:txBody>
          <a:bodyPr wrap="square">
            <a:spAutoFit/>
          </a:bodyPr>
          <a:lstStyle/>
          <a:p>
            <a:pPr marL="457200" indent="-457200">
              <a:lnSpc>
                <a:spcPts val="3400"/>
              </a:lnSpc>
              <a:buFont typeface="+mj-ea"/>
              <a:buAutoNum type="circleNumDbPlain" startAt="2"/>
            </a:pPr>
            <a:r>
              <a:rPr lang="en-US" altLang="zh-CN" sz="2000" b="1" dirty="0">
                <a:solidFill>
                  <a:srgbClr val="0070C0"/>
                </a:solidFill>
                <a:latin typeface="微软雅黑" panose="020B0503020204020204" pitchFamily="34" charset="-122"/>
                <a:ea typeface="微软雅黑" panose="020B0503020204020204" pitchFamily="34" charset="-122"/>
              </a:rPr>
              <a:t>Julia </a:t>
            </a:r>
            <a:r>
              <a:rPr lang="zh-CN" altLang="en-US" sz="2000" b="1" dirty="0">
                <a:solidFill>
                  <a:srgbClr val="0070C0"/>
                </a:solidFill>
                <a:latin typeface="微软雅黑" panose="020B0503020204020204" pitchFamily="34" charset="-122"/>
                <a:ea typeface="微软雅黑" panose="020B0503020204020204" pitchFamily="34" charset="-122"/>
              </a:rPr>
              <a:t>中</a:t>
            </a:r>
            <a:r>
              <a:rPr lang="zh-CN" altLang="en-US" sz="2000" b="1" i="0" dirty="0">
                <a:solidFill>
                  <a:srgbClr val="0070C0"/>
                </a:solidFill>
                <a:effectLst/>
                <a:latin typeface="微软雅黑" panose="020B0503020204020204" pitchFamily="34" charset="-122"/>
                <a:ea typeface="微软雅黑" panose="020B0503020204020204" pitchFamily="34" charset="-122"/>
              </a:rPr>
              <a:t>多行注释用 </a:t>
            </a:r>
            <a:r>
              <a:rPr lang="en-US" altLang="zh-CN" sz="2000" b="1" i="0" dirty="0">
                <a:solidFill>
                  <a:srgbClr val="0070C0"/>
                </a:solidFill>
                <a:effectLst/>
                <a:latin typeface="微软雅黑" panose="020B0503020204020204" pitchFamily="34" charset="-122"/>
                <a:ea typeface="微软雅黑" panose="020B0503020204020204" pitchFamily="34" charset="-122"/>
              </a:rPr>
              <a:t>#=</a:t>
            </a:r>
            <a:r>
              <a:rPr lang="zh-CN" altLang="en-US" sz="2000" b="1" i="0" dirty="0">
                <a:solidFill>
                  <a:srgbClr val="0070C0"/>
                </a:solidFill>
                <a:effectLst/>
                <a:latin typeface="微软雅黑" panose="020B0503020204020204" pitchFamily="34" charset="-122"/>
                <a:ea typeface="微软雅黑" panose="020B0503020204020204" pitchFamily="34" charset="-122"/>
              </a:rPr>
              <a:t> 与 </a:t>
            </a:r>
            <a:r>
              <a:rPr lang="en-US" altLang="zh-CN" sz="2000" b="1" i="0" dirty="0">
                <a:solidFill>
                  <a:srgbClr val="0070C0"/>
                </a:solidFill>
                <a:effectLst/>
                <a:latin typeface="微软雅黑" panose="020B0503020204020204" pitchFamily="34" charset="-122"/>
                <a:ea typeface="微软雅黑" panose="020B0503020204020204" pitchFamily="34" charset="-122"/>
              </a:rPr>
              <a:t>=#</a:t>
            </a:r>
            <a:r>
              <a:rPr lang="zh-CN" altLang="en-US" sz="2000" b="1" i="0" dirty="0">
                <a:solidFill>
                  <a:srgbClr val="0070C0"/>
                </a:solidFill>
                <a:effectLst/>
                <a:latin typeface="微软雅黑" panose="020B0503020204020204" pitchFamily="34" charset="-122"/>
                <a:ea typeface="微软雅黑" panose="020B0503020204020204" pitchFamily="34" charset="-122"/>
              </a:rPr>
              <a:t> 将注释括起来</a:t>
            </a:r>
            <a:endParaRPr lang="zh-CN" altLang="en-US" sz="2000" b="1" dirty="0">
              <a:solidFill>
                <a:srgbClr val="0070C0"/>
              </a:solidFill>
              <a:latin typeface="微软雅黑" panose="020B0503020204020204" pitchFamily="34" charset="-122"/>
              <a:ea typeface="微软雅黑" panose="020B0503020204020204" pitchFamily="34" charset="-122"/>
            </a:endParaRPr>
          </a:p>
        </p:txBody>
      </p:sp>
      <p:sp>
        <p:nvSpPr>
          <p:cNvPr id="9" name="AutoShape 13">
            <a:extLst>
              <a:ext uri="{FF2B5EF4-FFF2-40B4-BE49-F238E27FC236}">
                <a16:creationId xmlns:a16="http://schemas.microsoft.com/office/drawing/2014/main" id="{14343490-3AF6-428F-8A37-4D3CEB9692E0}"/>
              </a:ext>
            </a:extLst>
          </p:cNvPr>
          <p:cNvSpPr>
            <a:spLocks noChangeArrowheads="1"/>
          </p:cNvSpPr>
          <p:nvPr/>
        </p:nvSpPr>
        <p:spPr bwMode="auto">
          <a:xfrm>
            <a:off x="7111005" y="753003"/>
            <a:ext cx="2032286" cy="932392"/>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en-US" altLang="zh-CN" sz="1400" b="1" dirty="0">
                <a:solidFill>
                  <a:srgbClr val="FFFF00"/>
                </a:solidFill>
                <a:latin typeface="黑体" panose="02010609060101010101" pitchFamily="49" charset="-122"/>
                <a:ea typeface="黑体" panose="02010609060101010101" pitchFamily="49" charset="-122"/>
              </a:rPr>
              <a:t>MATLAB</a:t>
            </a:r>
          </a:p>
          <a:p>
            <a:r>
              <a:rPr lang="zh-CN" altLang="en-US" sz="1400" b="1" dirty="0">
                <a:solidFill>
                  <a:srgbClr val="FFFF00"/>
                </a:solidFill>
                <a:latin typeface="黑体" panose="02010609060101010101" pitchFamily="49" charset="-122"/>
                <a:ea typeface="黑体" panose="02010609060101010101" pitchFamily="49" charset="-122"/>
              </a:rPr>
              <a:t>注释用</a:t>
            </a:r>
            <a:r>
              <a:rPr lang="en-US" altLang="zh-CN" sz="1400" b="1" dirty="0">
                <a:solidFill>
                  <a:srgbClr val="FFFF00"/>
                </a:solidFill>
                <a:latin typeface="黑体" panose="02010609060101010101" pitchFamily="49" charset="-122"/>
                <a:ea typeface="黑体" panose="02010609060101010101" pitchFamily="49" charset="-122"/>
              </a:rPr>
              <a:t>%</a:t>
            </a:r>
            <a:endParaRPr lang="zh-CN" altLang="en-US" sz="1400" b="1" kern="0" dirty="0">
              <a:solidFill>
                <a:srgbClr val="FFFF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8175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2" grpId="0" animBg="1"/>
      <p:bldP spid="13" grpId="0"/>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A7CA1F-2EE8-482D-AFF0-062D199EB472}"/>
              </a:ext>
            </a:extLst>
          </p:cNvPr>
          <p:cNvSpPr>
            <a:spLocks noGrp="1"/>
          </p:cNvSpPr>
          <p:nvPr>
            <p:ph type="title"/>
          </p:nvPr>
        </p:nvSpPr>
        <p:spPr>
          <a:xfrm>
            <a:off x="1403648" y="237294"/>
            <a:ext cx="5976664" cy="438150"/>
          </a:xfrm>
        </p:spPr>
        <p:txBody>
          <a:bodyPr/>
          <a:lstStyle/>
          <a:p>
            <a:r>
              <a:rPr lang="en-US" altLang="zh-CN" sz="3200" dirty="0">
                <a:solidFill>
                  <a:srgbClr val="002060"/>
                </a:solidFill>
                <a:latin typeface="隶书" panose="02010509060101010101" pitchFamily="49" charset="-122"/>
                <a:ea typeface="隶书" panose="02010509060101010101" pitchFamily="49" charset="-122"/>
              </a:rPr>
              <a:t>§</a:t>
            </a:r>
            <a:r>
              <a:rPr lang="en-US" altLang="zh-CN" sz="3200" dirty="0"/>
              <a:t>1.3.1.2 </a:t>
            </a:r>
            <a:r>
              <a:rPr lang="zh-CN" altLang="en-US" dirty="0"/>
              <a:t>关键字</a:t>
            </a:r>
            <a:r>
              <a:rPr lang="en-US" altLang="zh-CN" dirty="0">
                <a:solidFill>
                  <a:srgbClr val="FF0000"/>
                </a:solidFill>
              </a:rPr>
              <a:t>——Julia</a:t>
            </a:r>
            <a:r>
              <a:rPr lang="zh-CN" altLang="en-US" dirty="0">
                <a:solidFill>
                  <a:srgbClr val="FF0000"/>
                </a:solidFill>
              </a:rPr>
              <a:t>的关键字</a:t>
            </a:r>
            <a:endParaRPr lang="zh-CN" altLang="en-US" dirty="0"/>
          </a:p>
        </p:txBody>
      </p:sp>
      <p:sp>
        <p:nvSpPr>
          <p:cNvPr id="6" name="文本框 5">
            <a:extLst>
              <a:ext uri="{FF2B5EF4-FFF2-40B4-BE49-F238E27FC236}">
                <a16:creationId xmlns:a16="http://schemas.microsoft.com/office/drawing/2014/main" id="{7FE521D2-C7E0-4ABB-874D-E15DB9D3EF75}"/>
              </a:ext>
            </a:extLst>
          </p:cNvPr>
          <p:cNvSpPr txBox="1"/>
          <p:nvPr/>
        </p:nvSpPr>
        <p:spPr>
          <a:xfrm>
            <a:off x="111387" y="1100230"/>
            <a:ext cx="8921226" cy="2767809"/>
          </a:xfrm>
          <a:prstGeom prst="rect">
            <a:avLst/>
          </a:prstGeom>
          <a:noFill/>
          <a:ln>
            <a:noFill/>
          </a:ln>
        </p:spPr>
        <p:txBody>
          <a:bodyPr wrap="square">
            <a:spAutoFit/>
          </a:bodyPr>
          <a:lstStyle/>
          <a:p>
            <a:pPr>
              <a:lnSpc>
                <a:spcPts val="3000"/>
              </a:lnSpc>
            </a:pPr>
            <a:r>
              <a:rPr lang="zh-CN" altLang="en-US" sz="2200" dirty="0">
                <a:latin typeface="华文楷体" panose="02010600040101010101" pitchFamily="2" charset="-122"/>
                <a:ea typeface="华文楷体" panose="02010600040101010101" pitchFamily="2" charset="-122"/>
              </a:rPr>
              <a:t>逻辑结果关键字：</a:t>
            </a:r>
            <a:r>
              <a:rPr lang="en-US" altLang="zh-CN" sz="2200" b="1" dirty="0">
                <a:solidFill>
                  <a:srgbClr val="0070C0"/>
                </a:solidFill>
                <a:latin typeface="华文楷体" panose="02010600040101010101" pitchFamily="2" charset="-122"/>
                <a:ea typeface="华文楷体" panose="02010600040101010101" pitchFamily="2" charset="-122"/>
              </a:rPr>
              <a:t>false</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true</a:t>
            </a:r>
          </a:p>
          <a:p>
            <a:pPr>
              <a:lnSpc>
                <a:spcPts val="3000"/>
              </a:lnSpc>
            </a:pPr>
            <a:r>
              <a:rPr lang="zh-CN" altLang="en-US" sz="2200" dirty="0">
                <a:latin typeface="华文楷体" panose="02010600040101010101" pitchFamily="2" charset="-122"/>
                <a:ea typeface="华文楷体" panose="02010600040101010101" pitchFamily="2" charset="-122"/>
              </a:rPr>
              <a:t>定义程序的关键字：</a:t>
            </a:r>
            <a:r>
              <a:rPr lang="en-US" altLang="zh-CN" sz="2200" b="1" dirty="0">
                <a:solidFill>
                  <a:srgbClr val="0070C0"/>
                </a:solidFill>
                <a:latin typeface="华文楷体" panose="02010600040101010101" pitchFamily="2" charset="-122"/>
                <a:ea typeface="华文楷体" panose="02010600040101010101" pitchFamily="2" charset="-122"/>
              </a:rPr>
              <a:t>const</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global</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local</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function</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macro</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struct</a:t>
            </a:r>
          </a:p>
          <a:p>
            <a:pPr>
              <a:lnSpc>
                <a:spcPts val="3000"/>
              </a:lnSpc>
            </a:pPr>
            <a:r>
              <a:rPr lang="zh-CN" altLang="en-US" sz="2200" dirty="0">
                <a:latin typeface="华文楷体" panose="02010600040101010101" pitchFamily="2" charset="-122"/>
                <a:ea typeface="华文楷体" panose="02010600040101010101" pitchFamily="2" charset="-122"/>
              </a:rPr>
              <a:t>定义代码块的关键字：</a:t>
            </a:r>
            <a:r>
              <a:rPr lang="en-US" altLang="zh-CN" sz="2200" b="1" dirty="0">
                <a:solidFill>
                  <a:srgbClr val="0070C0"/>
                </a:solidFill>
                <a:latin typeface="华文楷体" panose="02010600040101010101" pitchFamily="2" charset="-122"/>
                <a:ea typeface="华文楷体" panose="02010600040101010101" pitchFamily="2" charset="-122"/>
              </a:rPr>
              <a:t>begin</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do</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end</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let</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quote</a:t>
            </a:r>
          </a:p>
          <a:p>
            <a:pPr>
              <a:lnSpc>
                <a:spcPts val="3000"/>
              </a:lnSpc>
            </a:pPr>
            <a:r>
              <a:rPr lang="zh-CN" altLang="en-US" sz="2200" dirty="0">
                <a:latin typeface="华文楷体" panose="02010600040101010101" pitchFamily="2" charset="-122"/>
                <a:ea typeface="华文楷体" panose="02010600040101010101" pitchFamily="2" charset="-122"/>
              </a:rPr>
              <a:t>定义模块的关键字：</a:t>
            </a:r>
            <a:r>
              <a:rPr lang="en-US" altLang="zh-CN" sz="2200" b="1" dirty="0" err="1">
                <a:solidFill>
                  <a:srgbClr val="0070C0"/>
                </a:solidFill>
                <a:latin typeface="华文楷体" panose="02010600040101010101" pitchFamily="2" charset="-122"/>
                <a:ea typeface="华文楷体" panose="02010600040101010101" pitchFamily="2" charset="-122"/>
              </a:rPr>
              <a:t>baremodule</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module</a:t>
            </a:r>
          </a:p>
          <a:p>
            <a:pPr>
              <a:lnSpc>
                <a:spcPts val="3000"/>
              </a:lnSpc>
            </a:pPr>
            <a:r>
              <a:rPr lang="zh-CN" altLang="en-US" sz="2200" dirty="0">
                <a:latin typeface="华文楷体" panose="02010600040101010101" pitchFamily="2" charset="-122"/>
                <a:ea typeface="华文楷体" panose="02010600040101010101" pitchFamily="2" charset="-122"/>
              </a:rPr>
              <a:t>引入或导出的关键字：</a:t>
            </a:r>
            <a:r>
              <a:rPr lang="en-US" altLang="zh-CN" sz="2200" b="1" dirty="0">
                <a:solidFill>
                  <a:srgbClr val="0070C0"/>
                </a:solidFill>
                <a:latin typeface="华文楷体" panose="02010600040101010101" pitchFamily="2" charset="-122"/>
                <a:ea typeface="华文楷体" panose="02010600040101010101" pitchFamily="2" charset="-122"/>
              </a:rPr>
              <a:t>import</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using</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export</a:t>
            </a:r>
          </a:p>
          <a:p>
            <a:pPr>
              <a:lnSpc>
                <a:spcPts val="3000"/>
              </a:lnSpc>
            </a:pPr>
            <a:r>
              <a:rPr lang="zh-CN" altLang="en-US" sz="2200" dirty="0">
                <a:latin typeface="华文楷体" panose="02010600040101010101" pitchFamily="2" charset="-122"/>
                <a:ea typeface="华文楷体" panose="02010600040101010101" pitchFamily="2" charset="-122"/>
              </a:rPr>
              <a:t>控制流程的关键字：</a:t>
            </a:r>
            <a:r>
              <a:rPr lang="en-US" altLang="zh-CN" sz="2200" b="1" dirty="0">
                <a:solidFill>
                  <a:srgbClr val="0070C0"/>
                </a:solidFill>
                <a:latin typeface="华文楷体" panose="02010600040101010101" pitchFamily="2" charset="-122"/>
                <a:ea typeface="华文楷体" panose="02010600040101010101" pitchFamily="2" charset="-122"/>
              </a:rPr>
              <a:t>break</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continue</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else</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elseif</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for</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if</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return</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while</a:t>
            </a:r>
          </a:p>
          <a:p>
            <a:pPr>
              <a:lnSpc>
                <a:spcPts val="3000"/>
              </a:lnSpc>
            </a:pPr>
            <a:r>
              <a:rPr lang="zh-CN" altLang="en-US" sz="2200" dirty="0">
                <a:latin typeface="华文楷体" panose="02010600040101010101" pitchFamily="2" charset="-122"/>
                <a:ea typeface="华文楷体" panose="02010600040101010101" pitchFamily="2" charset="-122"/>
              </a:rPr>
              <a:t>处理错误的关键字：</a:t>
            </a:r>
            <a:r>
              <a:rPr lang="en-US" altLang="zh-CN" sz="2200" b="1" dirty="0">
                <a:solidFill>
                  <a:srgbClr val="0070C0"/>
                </a:solidFill>
                <a:latin typeface="华文楷体" panose="02010600040101010101" pitchFamily="2" charset="-122"/>
                <a:ea typeface="华文楷体" panose="02010600040101010101" pitchFamily="2" charset="-122"/>
              </a:rPr>
              <a:t>catch</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finally</a:t>
            </a:r>
            <a:r>
              <a:rPr lang="zh-CN" altLang="en-US" sz="2200" b="1" dirty="0">
                <a:solidFill>
                  <a:srgbClr val="0070C0"/>
                </a:solidFill>
                <a:latin typeface="华文楷体" panose="02010600040101010101" pitchFamily="2" charset="-122"/>
                <a:ea typeface="华文楷体" panose="02010600040101010101" pitchFamily="2" charset="-122"/>
              </a:rPr>
              <a:t>、</a:t>
            </a:r>
            <a:r>
              <a:rPr lang="en-US" altLang="zh-CN" sz="2200" b="1" dirty="0">
                <a:solidFill>
                  <a:srgbClr val="0070C0"/>
                </a:solidFill>
                <a:latin typeface="华文楷体" panose="02010600040101010101" pitchFamily="2" charset="-122"/>
                <a:ea typeface="华文楷体" panose="02010600040101010101" pitchFamily="2" charset="-122"/>
              </a:rPr>
              <a:t>try</a:t>
            </a:r>
            <a:endParaRPr lang="zh-CN" altLang="en-US" sz="2200" b="1" dirty="0">
              <a:solidFill>
                <a:srgbClr val="0070C0"/>
              </a:solidFill>
              <a:latin typeface="华文楷体" panose="02010600040101010101" pitchFamily="2" charset="-122"/>
              <a:ea typeface="华文楷体" panose="02010600040101010101" pitchFamily="2" charset="-122"/>
            </a:endParaRPr>
          </a:p>
        </p:txBody>
      </p:sp>
      <p:sp>
        <p:nvSpPr>
          <p:cNvPr id="8" name="文本框 7">
            <a:extLst>
              <a:ext uri="{FF2B5EF4-FFF2-40B4-BE49-F238E27FC236}">
                <a16:creationId xmlns:a16="http://schemas.microsoft.com/office/drawing/2014/main" id="{585ED318-B19B-407B-88F6-318DA8FD12FD}"/>
              </a:ext>
            </a:extLst>
          </p:cNvPr>
          <p:cNvSpPr txBox="1"/>
          <p:nvPr/>
        </p:nvSpPr>
        <p:spPr>
          <a:xfrm>
            <a:off x="222774" y="699542"/>
            <a:ext cx="8813722" cy="350045"/>
          </a:xfrm>
          <a:prstGeom prst="rect">
            <a:avLst/>
          </a:prstGeom>
          <a:solidFill>
            <a:srgbClr val="0070C0"/>
          </a:solidFill>
          <a:ln w="9525">
            <a:noFill/>
            <a:miter lim="800000"/>
          </a:ln>
        </p:spPr>
        <p:txBody>
          <a:bodyPr vert="horz" wrap="square" lIns="91440" tIns="45720" rIns="91440" bIns="45720" rtlCol="0">
            <a:spAutoFit/>
          </a:bodyPr>
          <a:lstStyle>
            <a:defPPr>
              <a:defRPr lang="zh-CN"/>
            </a:defPPr>
            <a:lvl1pPr fontAlgn="auto">
              <a:spcBef>
                <a:spcPts val="0"/>
              </a:spcBef>
              <a:spcAft>
                <a:spcPts val="0"/>
              </a:spcAft>
              <a:defRPr sz="1600" b="0" i="0">
                <a:solidFill>
                  <a:schemeClr val="bg1"/>
                </a:solidFill>
                <a:effectLst/>
                <a:latin typeface="Helvetica Neue"/>
              </a:defRPr>
            </a:lvl1pPr>
          </a:lstStyle>
          <a:p>
            <a:pPr algn="dist"/>
            <a:r>
              <a:rPr lang="en-US" altLang="zh-CN" b="1" dirty="0"/>
              <a:t>Julia </a:t>
            </a:r>
            <a:r>
              <a:rPr lang="zh-CN" altLang="en-US" b="1" dirty="0"/>
              <a:t>关键字目前有 </a:t>
            </a:r>
            <a:r>
              <a:rPr lang="en-US" altLang="zh-CN" b="1" dirty="0"/>
              <a:t>29 </a:t>
            </a:r>
            <a:r>
              <a:rPr lang="zh-CN" altLang="en-US" b="1" dirty="0"/>
              <a:t>个，关键字一般带有颜色，不能使用 </a:t>
            </a:r>
            <a:r>
              <a:rPr lang="en-US" altLang="zh-CN" b="1" dirty="0"/>
              <a:t>Julia </a:t>
            </a:r>
            <a:r>
              <a:rPr lang="zh-CN" altLang="en-US" b="1" dirty="0"/>
              <a:t>关键字作为变量名</a:t>
            </a:r>
          </a:p>
        </p:txBody>
      </p:sp>
      <p:sp>
        <p:nvSpPr>
          <p:cNvPr id="10" name="AutoShape 13">
            <a:extLst>
              <a:ext uri="{FF2B5EF4-FFF2-40B4-BE49-F238E27FC236}">
                <a16:creationId xmlns:a16="http://schemas.microsoft.com/office/drawing/2014/main" id="{9E8F89DD-A7E3-4411-9E31-1C599AFBA580}"/>
              </a:ext>
            </a:extLst>
          </p:cNvPr>
          <p:cNvSpPr>
            <a:spLocks noChangeArrowheads="1"/>
          </p:cNvSpPr>
          <p:nvPr/>
        </p:nvSpPr>
        <p:spPr bwMode="auto">
          <a:xfrm>
            <a:off x="5063562" y="3777766"/>
            <a:ext cx="4085952" cy="531007"/>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p>
            <a:pPr algn="dist" eaLnBrk="0" hangingPunct="0">
              <a:lnSpc>
                <a:spcPct val="90000"/>
              </a:lnSpc>
            </a:pPr>
            <a:r>
              <a:rPr lang="zh-CN" altLang="en-US" sz="1600" b="1" kern="0" dirty="0">
                <a:solidFill>
                  <a:srgbClr val="FFFF00"/>
                </a:solidFill>
                <a:latin typeface="微软雅黑" panose="020B0503020204020204" pitchFamily="34" charset="-122"/>
                <a:ea typeface="微软雅黑" panose="020B0503020204020204" pitchFamily="34" charset="-122"/>
              </a:rPr>
              <a:t>关键字不能用作变量名</a:t>
            </a:r>
          </a:p>
        </p:txBody>
      </p:sp>
      <p:sp>
        <p:nvSpPr>
          <p:cNvPr id="9" name="文本框 8">
            <a:extLst>
              <a:ext uri="{FF2B5EF4-FFF2-40B4-BE49-F238E27FC236}">
                <a16:creationId xmlns:a16="http://schemas.microsoft.com/office/drawing/2014/main" id="{3AB6C30D-7066-4146-8BFE-0FFF52390F52}"/>
              </a:ext>
            </a:extLst>
          </p:cNvPr>
          <p:cNvSpPr txBox="1"/>
          <p:nvPr/>
        </p:nvSpPr>
        <p:spPr>
          <a:xfrm>
            <a:off x="168025" y="4308576"/>
            <a:ext cx="2099720" cy="400110"/>
          </a:xfrm>
          <a:prstGeom prst="rect">
            <a:avLst/>
          </a:prstGeom>
          <a:noFill/>
        </p:spPr>
        <p:txBody>
          <a:bodyPr wrap="square">
            <a:spAutoFit/>
          </a:bodyPr>
          <a:lstStyle/>
          <a:p>
            <a:r>
              <a:rPr lang="en-US" altLang="zh-CN" sz="2000" dirty="0"/>
              <a:t>julia&gt; end=34</a:t>
            </a:r>
            <a:endParaRPr lang="zh-CN" altLang="en-US" dirty="0">
              <a:solidFill>
                <a:srgbClr val="FF0000"/>
              </a:solidFill>
            </a:endParaRPr>
          </a:p>
        </p:txBody>
      </p:sp>
      <p:sp>
        <p:nvSpPr>
          <p:cNvPr id="7" name="波形 6">
            <a:extLst>
              <a:ext uri="{FF2B5EF4-FFF2-40B4-BE49-F238E27FC236}">
                <a16:creationId xmlns:a16="http://schemas.microsoft.com/office/drawing/2014/main" id="{FA378476-590B-489A-9ECE-0C914EF9C020}"/>
              </a:ext>
            </a:extLst>
          </p:cNvPr>
          <p:cNvSpPr/>
          <p:nvPr/>
        </p:nvSpPr>
        <p:spPr>
          <a:xfrm>
            <a:off x="247406" y="3954280"/>
            <a:ext cx="981564" cy="2880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例131-3</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1" name="标题 1">
            <a:extLst>
              <a:ext uri="{FF2B5EF4-FFF2-40B4-BE49-F238E27FC236}">
                <a16:creationId xmlns:a16="http://schemas.microsoft.com/office/drawing/2014/main" id="{E6535539-2CC8-4944-9925-98C5D7ACC328}"/>
              </a:ext>
            </a:extLst>
          </p:cNvPr>
          <p:cNvSpPr txBox="1">
            <a:spLocks/>
          </p:cNvSpPr>
          <p:nvPr/>
        </p:nvSpPr>
        <p:spPr bwMode="auto">
          <a:xfrm>
            <a:off x="1228970" y="3866026"/>
            <a:ext cx="4085952"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noAutofit/>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dist"/>
            <a:r>
              <a:rPr lang="zh-CN" altLang="en-US" sz="1800" b="1" kern="100" dirty="0">
                <a:solidFill>
                  <a:srgbClr val="0070C0"/>
                </a:solidFill>
                <a:latin typeface="微软雅黑" panose="020B0503020204020204" pitchFamily="34" charset="-122"/>
                <a:ea typeface="微软雅黑" panose="020B0503020204020204" pitchFamily="34" charset="-122"/>
              </a:rPr>
              <a:t>将变量命名为</a:t>
            </a:r>
            <a:r>
              <a:rPr lang="en-US" altLang="zh-CN" sz="1800" b="1" kern="100" dirty="0">
                <a:solidFill>
                  <a:srgbClr val="0070C0"/>
                </a:solidFill>
                <a:latin typeface="微软雅黑" panose="020B0503020204020204" pitchFamily="34" charset="-122"/>
                <a:ea typeface="微软雅黑" panose="020B0503020204020204" pitchFamily="34" charset="-122"/>
              </a:rPr>
              <a:t>end</a:t>
            </a:r>
            <a:r>
              <a:rPr lang="zh-CN" altLang="en-US" sz="1800" b="1" kern="100" dirty="0">
                <a:solidFill>
                  <a:srgbClr val="0070C0"/>
                </a:solidFill>
                <a:latin typeface="微软雅黑" panose="020B0503020204020204" pitchFamily="34" charset="-122"/>
                <a:ea typeface="微软雅黑" panose="020B0503020204020204" pitchFamily="34" charset="-122"/>
              </a:rPr>
              <a:t>，并且赋值为</a:t>
            </a:r>
            <a:r>
              <a:rPr lang="en-US" altLang="zh-CN" sz="1800" b="1" kern="100" dirty="0">
                <a:solidFill>
                  <a:srgbClr val="0070C0"/>
                </a:solidFill>
                <a:latin typeface="微软雅黑" panose="020B0503020204020204" pitchFamily="34" charset="-122"/>
                <a:ea typeface="微软雅黑" panose="020B0503020204020204" pitchFamily="34" charset="-122"/>
              </a:rPr>
              <a:t>34</a:t>
            </a:r>
            <a:endParaRPr lang="zh-CN" altLang="en-US" sz="1800" b="1" kern="100" dirty="0">
              <a:solidFill>
                <a:srgbClr val="0070C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4E6B6002-55F9-44E3-AA17-DF3A484A95C8}"/>
              </a:ext>
            </a:extLst>
          </p:cNvPr>
          <p:cNvSpPr txBox="1"/>
          <p:nvPr/>
        </p:nvSpPr>
        <p:spPr>
          <a:xfrm>
            <a:off x="2051720" y="4304176"/>
            <a:ext cx="4815190" cy="400110"/>
          </a:xfrm>
          <a:prstGeom prst="rect">
            <a:avLst/>
          </a:prstGeom>
          <a:noFill/>
        </p:spPr>
        <p:txBody>
          <a:bodyPr wrap="square">
            <a:spAutoFit/>
          </a:bodyPr>
          <a:lstStyle/>
          <a:p>
            <a:r>
              <a:rPr lang="en-US" altLang="zh-CN" sz="2000" dirty="0"/>
              <a:t>#</a:t>
            </a:r>
            <a:r>
              <a:rPr lang="zh-CN" altLang="en-US" sz="2000" dirty="0"/>
              <a:t>结果：</a:t>
            </a:r>
            <a:r>
              <a:rPr lang="en-US" altLang="zh-CN" dirty="0">
                <a:solidFill>
                  <a:srgbClr val="FF0000"/>
                </a:solidFill>
              </a:rPr>
              <a:t>ERROR: syntax: unexpected "end"</a:t>
            </a:r>
            <a:endParaRPr lang="zh-CN" altLang="en-US" dirty="0"/>
          </a:p>
        </p:txBody>
      </p:sp>
    </p:spTree>
    <p:extLst>
      <p:ext uri="{BB962C8B-B14F-4D97-AF65-F5344CB8AC3E}">
        <p14:creationId xmlns:p14="http://schemas.microsoft.com/office/powerpoint/2010/main" val="325616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animBg="1"/>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3">
            <a:extLst>
              <a:ext uri="{FF2B5EF4-FFF2-40B4-BE49-F238E27FC236}">
                <a16:creationId xmlns:a16="http://schemas.microsoft.com/office/drawing/2014/main" id="{576A802A-2129-4D35-843F-4CF4B6E055F2}"/>
              </a:ext>
            </a:extLst>
          </p:cNvPr>
          <p:cNvGraphicFramePr>
            <a:graphicFrameLocks noGrp="1"/>
          </p:cNvGraphicFramePr>
          <p:nvPr>
            <p:extLst>
              <p:ext uri="{D42A27DB-BD31-4B8C-83A1-F6EECF244321}">
                <p14:modId xmlns:p14="http://schemas.microsoft.com/office/powerpoint/2010/main" val="3516552318"/>
              </p:ext>
            </p:extLst>
          </p:nvPr>
        </p:nvGraphicFramePr>
        <p:xfrm>
          <a:off x="146524" y="1092473"/>
          <a:ext cx="8817965" cy="1003678"/>
        </p:xfrm>
        <a:graphic>
          <a:graphicData uri="http://schemas.openxmlformats.org/drawingml/2006/table">
            <a:tbl>
              <a:tblPr/>
              <a:tblGrid>
                <a:gridCol w="1218568">
                  <a:extLst>
                    <a:ext uri="{9D8B030D-6E8A-4147-A177-3AD203B41FA5}">
                      <a16:colId xmlns:a16="http://schemas.microsoft.com/office/drawing/2014/main" val="20000"/>
                    </a:ext>
                  </a:extLst>
                </a:gridCol>
                <a:gridCol w="7599397">
                  <a:extLst>
                    <a:ext uri="{9D8B030D-6E8A-4147-A177-3AD203B41FA5}">
                      <a16:colId xmlns:a16="http://schemas.microsoft.com/office/drawing/2014/main" val="20001"/>
                    </a:ext>
                  </a:extLst>
                </a:gridCol>
              </a:tblGrid>
              <a:tr h="325887">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pPr>
                      <a:r>
                        <a:rPr lang="zh-CN" altLang="zh-CN" sz="1600" b="1" kern="1200" dirty="0">
                          <a:solidFill>
                            <a:srgbClr val="002060"/>
                          </a:solidFill>
                          <a:latin typeface="华文楷体" panose="02010600040101010101" pitchFamily="2" charset="-122"/>
                          <a:ea typeface="华文楷体" panose="02010600040101010101" pitchFamily="2" charset="-122"/>
                          <a:cs typeface="+mn-cs"/>
                        </a:rPr>
                        <a:t>ans</a:t>
                      </a:r>
                    </a:p>
                  </a:txBody>
                  <a:tcPr marT="34288" marB="342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ts val="2700"/>
                        </a:lnSpc>
                        <a:spcBef>
                          <a:spcPts val="0"/>
                        </a:spcBef>
                        <a:spcAft>
                          <a:spcPct val="0"/>
                        </a:spcAft>
                        <a:buClr>
                          <a:schemeClr val="tx2"/>
                        </a:buClr>
                        <a:buSzPct val="90000"/>
                        <a:buFont typeface="Symbol" panose="05050102010706020507" pitchFamily="18" charset="2"/>
                        <a:buNone/>
                      </a:pPr>
                      <a:r>
                        <a:rPr lang="zh-CN" altLang="en-US" sz="1600" b="1" kern="1200" dirty="0">
                          <a:solidFill>
                            <a:srgbClr val="002060"/>
                          </a:solidFill>
                          <a:latin typeface="微软雅黑 Light" panose="020B0502040204020203" pitchFamily="34" charset="-122"/>
                          <a:ea typeface="微软雅黑 Light" panose="020B0502040204020203" pitchFamily="34" charset="-122"/>
                          <a:cs typeface="+mn-cs"/>
                        </a:rPr>
                        <a:t>每次会自动将结果保存为ans变量，并</a:t>
                      </a:r>
                      <a:r>
                        <a:rPr lang="en-US" altLang="zh-CN" sz="1600" b="1" kern="1200" dirty="0" err="1">
                          <a:solidFill>
                            <a:srgbClr val="002060"/>
                          </a:solidFill>
                          <a:latin typeface="微软雅黑 Light" panose="020B0502040204020203" pitchFamily="34" charset="-122"/>
                          <a:ea typeface="微软雅黑 Light" panose="020B0502040204020203" pitchFamily="34" charset="-122"/>
                          <a:cs typeface="+mn-cs"/>
                        </a:rPr>
                        <a:t>ans</a:t>
                      </a:r>
                      <a:r>
                        <a:rPr lang="en-US" altLang="zh-CN" sz="1600" b="1" kern="1200" dirty="0">
                          <a:solidFill>
                            <a:srgbClr val="002060"/>
                          </a:solidFill>
                          <a:latin typeface="微软雅黑 Light" panose="020B0502040204020203" pitchFamily="34" charset="-122"/>
                          <a:ea typeface="微软雅黑 Light" panose="020B0502040204020203" pitchFamily="34" charset="-122"/>
                          <a:cs typeface="+mn-cs"/>
                        </a:rPr>
                        <a:t> </a:t>
                      </a:r>
                      <a:r>
                        <a:rPr lang="zh-CN" altLang="en-US" sz="1600" b="1" kern="1200" dirty="0">
                          <a:solidFill>
                            <a:srgbClr val="002060"/>
                          </a:solidFill>
                          <a:latin typeface="微软雅黑 Light" panose="020B0502040204020203" pitchFamily="34" charset="-122"/>
                          <a:ea typeface="微软雅黑 Light" panose="020B0502040204020203" pitchFamily="34" charset="-122"/>
                          <a:cs typeface="+mn-cs"/>
                        </a:rPr>
                        <a:t>总会被刚执行完代码结果所覆盖</a:t>
                      </a:r>
                    </a:p>
                  </a:txBody>
                  <a:tcPr marT="34288" marB="342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13976">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defRPr/>
                      </a:pPr>
                      <a:r>
                        <a:rPr lang="zh-CN" altLang="zh-CN" sz="1600" b="1" kern="1200" dirty="0">
                          <a:solidFill>
                            <a:srgbClr val="002060"/>
                          </a:solidFill>
                          <a:latin typeface="华文楷体" panose="02010600040101010101" pitchFamily="2" charset="-122"/>
                          <a:ea typeface="华文楷体" panose="02010600040101010101" pitchFamily="2" charset="-122"/>
                          <a:cs typeface="+mn-cs"/>
                        </a:rPr>
                        <a:t>pi</a:t>
                      </a:r>
                    </a:p>
                  </a:txBody>
                  <a:tcPr marT="34288" marB="342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pPr>
                      <a:r>
                        <a:rPr lang="zh-CN" altLang="en-US" sz="1600" b="1" kern="1200" dirty="0">
                          <a:solidFill>
                            <a:srgbClr val="002060"/>
                          </a:solidFill>
                          <a:latin typeface="微软雅黑 Light" panose="020B0502040204020203" pitchFamily="34" charset="-122"/>
                          <a:ea typeface="微软雅黑 Light" panose="020B0502040204020203" pitchFamily="34" charset="-122"/>
                          <a:cs typeface="+mn-cs"/>
                        </a:rPr>
                        <a:t>圆周率</a:t>
                      </a:r>
                      <a:r>
                        <a:rPr lang="en-US" altLang="zh-CN" sz="1600" b="1" kern="1200" dirty="0">
                          <a:solidFill>
                            <a:srgbClr val="002060"/>
                          </a:solidFill>
                          <a:latin typeface="微软雅黑 Light" panose="020B0502040204020203" pitchFamily="34" charset="-122"/>
                          <a:ea typeface="微软雅黑 Light" panose="020B0502040204020203" pitchFamily="34" charset="-122"/>
                          <a:cs typeface="+mn-cs"/>
                        </a:rPr>
                        <a:t>π=</a:t>
                      </a:r>
                      <a:r>
                        <a:rPr lang="en-US" altLang="zh-CN" sz="1600" b="1" kern="0" dirty="0">
                          <a:solidFill>
                            <a:srgbClr val="00B0F0"/>
                          </a:solidFill>
                          <a:latin typeface="宋体" panose="02010600030101010101" pitchFamily="2" charset="-122"/>
                          <a:ea typeface="宋体" panose="02010600030101010101" pitchFamily="2" charset="-122"/>
                        </a:rPr>
                        <a:t>3.1415926535897...</a:t>
                      </a:r>
                      <a:endParaRPr lang="zh-CN" altLang="en-US" sz="1600" b="1" kern="1200" dirty="0">
                        <a:solidFill>
                          <a:srgbClr val="002060"/>
                        </a:solidFill>
                        <a:latin typeface="微软雅黑 Light" panose="020B0502040204020203" pitchFamily="34" charset="-122"/>
                        <a:ea typeface="微软雅黑 Light" panose="020B0502040204020203" pitchFamily="34" charset="-122"/>
                        <a:cs typeface="+mn-cs"/>
                      </a:endParaRPr>
                    </a:p>
                  </a:txBody>
                  <a:tcPr marT="34288" marB="342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13976">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defRPr/>
                      </a:pPr>
                      <a:r>
                        <a:rPr lang="en-US" altLang="zh-CN" sz="1600" b="1" kern="1200" dirty="0" err="1">
                          <a:solidFill>
                            <a:srgbClr val="002060"/>
                          </a:solidFill>
                          <a:latin typeface="华文楷体" panose="02010600040101010101" pitchFamily="2" charset="-122"/>
                          <a:ea typeface="华文楷体" panose="02010600040101010101" pitchFamily="2" charset="-122"/>
                          <a:cs typeface="+mn-cs"/>
                        </a:rPr>
                        <a:t>im</a:t>
                      </a:r>
                      <a:endParaRPr lang="zh-CN" altLang="zh-CN" sz="1600" b="1" kern="1200" dirty="0">
                        <a:solidFill>
                          <a:srgbClr val="002060"/>
                        </a:solidFill>
                        <a:latin typeface="华文楷体" panose="02010600040101010101" pitchFamily="2" charset="-122"/>
                        <a:ea typeface="华文楷体" panose="02010600040101010101" pitchFamily="2" charset="-122"/>
                        <a:cs typeface="+mn-cs"/>
                      </a:endParaRPr>
                    </a:p>
                  </a:txBody>
                  <a:tcPr marT="34288" marB="342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defRPr/>
                      </a:pPr>
                      <a:r>
                        <a:rPr lang="zh-CN" altLang="en-US" sz="1600" b="1" kern="1200" dirty="0">
                          <a:solidFill>
                            <a:srgbClr val="002060"/>
                          </a:solidFill>
                          <a:latin typeface="微软雅黑 Light" panose="020B0502040204020203" pitchFamily="34" charset="-122"/>
                          <a:ea typeface="微软雅黑 Light" panose="020B0502040204020203" pitchFamily="34" charset="-122"/>
                          <a:cs typeface="+mn-cs"/>
                        </a:rPr>
                        <a:t>虚数单位 </a:t>
                      </a:r>
                    </a:p>
                  </a:txBody>
                  <a:tcPr marT="34288" marB="342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7" name="文本框 6">
            <a:extLst>
              <a:ext uri="{FF2B5EF4-FFF2-40B4-BE49-F238E27FC236}">
                <a16:creationId xmlns:a16="http://schemas.microsoft.com/office/drawing/2014/main" id="{367BDA33-5456-43FA-936C-AAE79BF83316}"/>
              </a:ext>
            </a:extLst>
          </p:cNvPr>
          <p:cNvSpPr txBox="1"/>
          <p:nvPr/>
        </p:nvSpPr>
        <p:spPr>
          <a:xfrm>
            <a:off x="128357" y="2995142"/>
            <a:ext cx="9068630" cy="1028936"/>
          </a:xfrm>
          <a:prstGeom prst="rect">
            <a:avLst/>
          </a:prstGeom>
          <a:noFill/>
          <a:ln>
            <a:noFill/>
          </a:ln>
        </p:spPr>
        <p:txBody>
          <a:bodyPr wrap="square">
            <a:spAutoFit/>
          </a:bodyPr>
          <a:lstStyle/>
          <a:p>
            <a:pPr>
              <a:lnSpc>
                <a:spcPts val="2600"/>
              </a:lnSpc>
            </a:pPr>
            <a:r>
              <a:rPr lang="en-US" altLang="zh-CN" sz="2000" b="1" kern="0" dirty="0">
                <a:solidFill>
                  <a:schemeClr val="tx2">
                    <a:lumMod val="95000"/>
                    <a:lumOff val="5000"/>
                  </a:schemeClr>
                </a:solidFill>
                <a:latin typeface="宋体" panose="02010600030101010101" pitchFamily="2" charset="-122"/>
                <a:ea typeface="宋体" panose="02010600030101010101" pitchFamily="2" charset="-122"/>
              </a:rPr>
              <a:t>julia&gt; a=2im  #</a:t>
            </a:r>
            <a:r>
              <a:rPr lang="zh-CN" altLang="en-US" sz="2000" b="1" kern="0" dirty="0">
                <a:solidFill>
                  <a:srgbClr val="00B0F0"/>
                </a:solidFill>
                <a:latin typeface="宋体" panose="02010600030101010101" pitchFamily="2" charset="-122"/>
                <a:ea typeface="宋体" panose="02010600030101010101" pitchFamily="2" charset="-122"/>
              </a:rPr>
              <a:t>结果</a:t>
            </a:r>
            <a:r>
              <a:rPr lang="en-US" altLang="zh-CN" sz="2000" b="1" kern="0" dirty="0">
                <a:solidFill>
                  <a:srgbClr val="00B0F0"/>
                </a:solidFill>
                <a:latin typeface="宋体" panose="02010600030101010101" pitchFamily="2" charset="-122"/>
                <a:ea typeface="宋体" panose="02010600030101010101" pitchFamily="2" charset="-122"/>
              </a:rPr>
              <a:t>2im</a:t>
            </a:r>
          </a:p>
          <a:p>
            <a:pPr>
              <a:lnSpc>
                <a:spcPts val="2600"/>
              </a:lnSpc>
            </a:pPr>
            <a:r>
              <a:rPr lang="en-US" altLang="zh-CN" sz="2000" b="1" kern="0" dirty="0">
                <a:solidFill>
                  <a:schemeClr val="tx2">
                    <a:lumMod val="95000"/>
                    <a:lumOff val="5000"/>
                  </a:schemeClr>
                </a:solidFill>
                <a:latin typeface="宋体" panose="02010600030101010101" pitchFamily="2" charset="-122"/>
                <a:ea typeface="宋体" panose="02010600030101010101" pitchFamily="2" charset="-122"/>
              </a:rPr>
              <a:t>julia&gt; </a:t>
            </a:r>
            <a:r>
              <a:rPr lang="en-US" altLang="zh-CN" sz="2000" b="1" kern="0" dirty="0" err="1">
                <a:solidFill>
                  <a:schemeClr val="tx2">
                    <a:lumMod val="95000"/>
                    <a:lumOff val="5000"/>
                  </a:schemeClr>
                </a:solidFill>
                <a:latin typeface="宋体" panose="02010600030101010101" pitchFamily="2" charset="-122"/>
                <a:ea typeface="宋体" panose="02010600030101010101" pitchFamily="2" charset="-122"/>
              </a:rPr>
              <a:t>im</a:t>
            </a:r>
            <a:r>
              <a:rPr lang="en-US" altLang="zh-CN" sz="2000" b="1" kern="0" dirty="0">
                <a:solidFill>
                  <a:schemeClr val="tx2">
                    <a:lumMod val="95000"/>
                    <a:lumOff val="5000"/>
                  </a:schemeClr>
                </a:solidFill>
                <a:latin typeface="宋体" panose="02010600030101010101" pitchFamily="2" charset="-122"/>
                <a:ea typeface="宋体" panose="02010600030101010101" pitchFamily="2" charset="-122"/>
              </a:rPr>
              <a:t>=4 </a:t>
            </a:r>
            <a:r>
              <a:rPr lang="en-US" altLang="zh-CN" sz="2000" b="1" kern="0" dirty="0">
                <a:solidFill>
                  <a:srgbClr val="FF0000"/>
                </a:solidFill>
                <a:latin typeface="微软雅黑" panose="020B0503020204020204" pitchFamily="34" charset="-122"/>
                <a:ea typeface="微软雅黑" panose="020B0503020204020204" pitchFamily="34" charset="-122"/>
              </a:rPr>
              <a:t>#</a:t>
            </a:r>
            <a:r>
              <a:rPr lang="zh-CN" altLang="en-US" sz="2000" b="1" kern="0" dirty="0">
                <a:solidFill>
                  <a:srgbClr val="FF0000"/>
                </a:solidFill>
                <a:latin typeface="微软雅黑" panose="020B0503020204020204" pitchFamily="34" charset="-122"/>
                <a:ea typeface="微软雅黑" panose="020B0503020204020204" pitchFamily="34" charset="-122"/>
              </a:rPr>
              <a:t>运行常量</a:t>
            </a:r>
            <a:r>
              <a:rPr lang="en-US" altLang="zh-CN" sz="2000" b="1" kern="0" dirty="0" err="1">
                <a:solidFill>
                  <a:srgbClr val="FF0000"/>
                </a:solidFill>
                <a:latin typeface="微软雅黑" panose="020B0503020204020204" pitchFamily="34" charset="-122"/>
                <a:ea typeface="微软雅黑" panose="020B0503020204020204" pitchFamily="34" charset="-122"/>
              </a:rPr>
              <a:t>im</a:t>
            </a:r>
            <a:r>
              <a:rPr lang="zh-CN" altLang="en-US" sz="2000" b="1" kern="0" dirty="0">
                <a:solidFill>
                  <a:srgbClr val="FF0000"/>
                </a:solidFill>
                <a:latin typeface="微软雅黑" panose="020B0503020204020204" pitchFamily="34" charset="-122"/>
                <a:ea typeface="微软雅黑" panose="020B0503020204020204" pitchFamily="34" charset="-122"/>
              </a:rPr>
              <a:t>为复数后，已经被加载为复数后，不允许重新定义</a:t>
            </a:r>
            <a:endParaRPr lang="en-US" altLang="zh-CN" sz="2000" b="1" kern="0" dirty="0">
              <a:solidFill>
                <a:srgbClr val="FF0000"/>
              </a:solidFill>
              <a:latin typeface="微软雅黑" panose="020B0503020204020204" pitchFamily="34" charset="-122"/>
              <a:ea typeface="微软雅黑" panose="020B0503020204020204" pitchFamily="34" charset="-122"/>
            </a:endParaRPr>
          </a:p>
          <a:p>
            <a:pPr>
              <a:lnSpc>
                <a:spcPts val="2400"/>
              </a:lnSpc>
            </a:pPr>
            <a:r>
              <a:rPr lang="en-US" altLang="zh-CN" kern="0" dirty="0">
                <a:solidFill>
                  <a:srgbClr val="FF0000"/>
                </a:solidFill>
                <a:latin typeface="宋体" panose="02010600030101010101" pitchFamily="2" charset="-122"/>
                <a:ea typeface="宋体" panose="02010600030101010101" pitchFamily="2" charset="-122"/>
              </a:rPr>
              <a:t>ERROR: cannot assign a value to imported variable Base.im from module Main</a:t>
            </a:r>
          </a:p>
        </p:txBody>
      </p:sp>
      <p:sp>
        <p:nvSpPr>
          <p:cNvPr id="11" name="矩形 10">
            <a:extLst>
              <a:ext uri="{FF2B5EF4-FFF2-40B4-BE49-F238E27FC236}">
                <a16:creationId xmlns:a16="http://schemas.microsoft.com/office/drawing/2014/main" id="{17504409-34C5-44E9-BB92-8CD7EB30C6F6}"/>
              </a:ext>
            </a:extLst>
          </p:cNvPr>
          <p:cNvSpPr/>
          <p:nvPr/>
        </p:nvSpPr>
        <p:spPr>
          <a:xfrm>
            <a:off x="141949" y="735853"/>
            <a:ext cx="8822540" cy="369332"/>
          </a:xfrm>
          <a:prstGeom prst="rect">
            <a:avLst/>
          </a:prstGeom>
          <a:solidFill>
            <a:srgbClr val="0070C0"/>
          </a:solidFill>
          <a:ln>
            <a:noFill/>
          </a:ln>
          <a:effectLst/>
        </p:spPr>
        <p:txBody>
          <a:bodyPr vert="horz" wrap="square" lIns="91440" tIns="45720" rIns="91440" bIns="45720" numCol="1" anchor="ctr" anchorCtr="0" compatLnSpc="1">
            <a:prstTxWarp prst="textNoShape">
              <a:avLst/>
            </a:prstTxWarp>
            <a:spAutoFit/>
          </a:bodyPr>
          <a:lstStyle/>
          <a:p>
            <a:pPr algn="dist" eaLnBrk="0" hangingPunct="0"/>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常量</a:t>
            </a:r>
            <a:r>
              <a:rPr lang="en-US" altLang="zh-CN" dirty="0">
                <a:solidFill>
                  <a:schemeClr val="bg1"/>
                </a:solidFill>
                <a:latin typeface="微软雅黑" panose="020B0503020204020204" pitchFamily="34" charset="-122"/>
                <a:ea typeface="微软雅黑" panose="020B0503020204020204" pitchFamily="34" charset="-122"/>
              </a:rPr>
              <a:t>】Julia</a:t>
            </a:r>
            <a:r>
              <a:rPr lang="zh-CN" altLang="en-US" dirty="0">
                <a:solidFill>
                  <a:schemeClr val="bg1"/>
                </a:solidFill>
                <a:latin typeface="微软雅黑" panose="020B0503020204020204" pitchFamily="34" charset="-122"/>
                <a:ea typeface="微软雅黑" panose="020B0503020204020204" pitchFamily="34" charset="-122"/>
              </a:rPr>
              <a:t>为一些数学常数预定义变量名，每次启动时自动产生</a:t>
            </a:r>
          </a:p>
        </p:txBody>
      </p:sp>
      <p:sp>
        <p:nvSpPr>
          <p:cNvPr id="12" name="标题 1">
            <a:extLst>
              <a:ext uri="{FF2B5EF4-FFF2-40B4-BE49-F238E27FC236}">
                <a16:creationId xmlns:a16="http://schemas.microsoft.com/office/drawing/2014/main" id="{9A037366-5E27-4890-915F-9B8397CE1455}"/>
              </a:ext>
            </a:extLst>
          </p:cNvPr>
          <p:cNvSpPr txBox="1">
            <a:spLocks/>
          </p:cNvSpPr>
          <p:nvPr/>
        </p:nvSpPr>
        <p:spPr bwMode="auto">
          <a:xfrm>
            <a:off x="1115616" y="193582"/>
            <a:ext cx="5240278"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kern="0" dirty="0"/>
              <a:t>§1.3.1.3 </a:t>
            </a:r>
            <a:r>
              <a:rPr lang="zh-CN" altLang="en-US" sz="2800" kern="0" dirty="0"/>
              <a:t>常量</a:t>
            </a:r>
            <a:r>
              <a:rPr lang="en-US" altLang="zh-CN" sz="2800" kern="0" dirty="0">
                <a:solidFill>
                  <a:srgbClr val="FF0000"/>
                </a:solidFill>
              </a:rPr>
              <a:t>——1. Julia</a:t>
            </a:r>
            <a:r>
              <a:rPr lang="zh-CN" altLang="en-US" sz="2800" kern="0" dirty="0">
                <a:solidFill>
                  <a:srgbClr val="FF0000"/>
                </a:solidFill>
              </a:rPr>
              <a:t>预定义常量（全局变量）</a:t>
            </a:r>
          </a:p>
        </p:txBody>
      </p:sp>
      <p:sp>
        <p:nvSpPr>
          <p:cNvPr id="13" name="AutoShape 13">
            <a:extLst>
              <a:ext uri="{FF2B5EF4-FFF2-40B4-BE49-F238E27FC236}">
                <a16:creationId xmlns:a16="http://schemas.microsoft.com/office/drawing/2014/main" id="{875E10C7-E723-4BB3-B3CD-DB0E2C289939}"/>
              </a:ext>
            </a:extLst>
          </p:cNvPr>
          <p:cNvSpPr>
            <a:spLocks noChangeArrowheads="1"/>
          </p:cNvSpPr>
          <p:nvPr/>
        </p:nvSpPr>
        <p:spPr bwMode="auto">
          <a:xfrm>
            <a:off x="179511" y="3978060"/>
            <a:ext cx="864097" cy="537906"/>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p>
            <a:pPr algn="ctr"/>
            <a:r>
              <a:rPr lang="zh-CN" altLang="en-US" b="1" dirty="0">
                <a:solidFill>
                  <a:srgbClr val="FFFF00"/>
                </a:solidFill>
                <a:latin typeface="微软雅黑" panose="020B0503020204020204" pitchFamily="34" charset="-122"/>
                <a:ea typeface="微软雅黑" panose="020B0503020204020204" pitchFamily="34" charset="-122"/>
              </a:rPr>
              <a:t>注意</a:t>
            </a:r>
            <a:r>
              <a:rPr lang="zh-CN" altLang="en-US" dirty="0">
                <a:latin typeface="宋体" panose="02010600030101010101" pitchFamily="2" charset="-122"/>
                <a:ea typeface="宋体" panose="02010600030101010101" pitchFamily="2" charset="-122"/>
              </a:rPr>
              <a:t> </a:t>
            </a:r>
            <a:endParaRPr lang="zh-CN" altLang="en-US" dirty="0">
              <a:solidFill>
                <a:srgbClr val="FFFF00"/>
              </a:solidFill>
              <a:latin typeface="宋体" panose="02010600030101010101" pitchFamily="2" charset="-122"/>
              <a:ea typeface="宋体" panose="02010600030101010101" pitchFamily="2" charset="-122"/>
            </a:endParaRPr>
          </a:p>
        </p:txBody>
      </p:sp>
      <p:sp>
        <p:nvSpPr>
          <p:cNvPr id="10" name="AutoShape 13">
            <a:extLst>
              <a:ext uri="{FF2B5EF4-FFF2-40B4-BE49-F238E27FC236}">
                <a16:creationId xmlns:a16="http://schemas.microsoft.com/office/drawing/2014/main" id="{F5A969F4-367D-400E-814E-ACBD926D30DA}"/>
              </a:ext>
            </a:extLst>
          </p:cNvPr>
          <p:cNvSpPr>
            <a:spLocks noChangeArrowheads="1"/>
          </p:cNvSpPr>
          <p:nvPr/>
        </p:nvSpPr>
        <p:spPr bwMode="auto">
          <a:xfrm>
            <a:off x="4716017" y="1680376"/>
            <a:ext cx="981564" cy="53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chemeClr val="bg1"/>
                </a:solidFill>
                <a:ea typeface="黑体" panose="02010609060101010101" pitchFamily="49" charset="-122"/>
              </a:rPr>
              <a:t>注意</a:t>
            </a:r>
          </a:p>
        </p:txBody>
      </p:sp>
      <p:sp>
        <p:nvSpPr>
          <p:cNvPr id="15" name="文本框 14">
            <a:extLst>
              <a:ext uri="{FF2B5EF4-FFF2-40B4-BE49-F238E27FC236}">
                <a16:creationId xmlns:a16="http://schemas.microsoft.com/office/drawing/2014/main" id="{2304C2BD-A151-4BE3-9147-5F523C2282D1}"/>
              </a:ext>
            </a:extLst>
          </p:cNvPr>
          <p:cNvSpPr txBox="1"/>
          <p:nvPr/>
        </p:nvSpPr>
        <p:spPr>
          <a:xfrm>
            <a:off x="-17445" y="4146634"/>
            <a:ext cx="7265205" cy="369332"/>
          </a:xfrm>
          <a:prstGeom prst="rect">
            <a:avLst/>
          </a:prstGeom>
          <a:noFill/>
        </p:spPr>
        <p:txBody>
          <a:bodyPr wrap="square">
            <a:spAutoFit/>
          </a:bodyPr>
          <a:lstStyle/>
          <a:p>
            <a:pPr algn="ctr"/>
            <a:r>
              <a:rPr lang="zh-CN" altLang="en-US" sz="1800" b="1" dirty="0">
                <a:solidFill>
                  <a:srgbClr val="0070C0"/>
                </a:solidFill>
                <a:latin typeface="微软雅黑" panose="020B0503020204020204" pitchFamily="34" charset="-122"/>
                <a:ea typeface="微软雅黑" panose="020B0503020204020204" pitchFamily="34" charset="-122"/>
              </a:rPr>
              <a:t>同名常量会干扰运行结果，隐藏错误</a:t>
            </a:r>
            <a:r>
              <a:rPr lang="en-US" altLang="zh-CN" sz="1800" b="1" dirty="0">
                <a:solidFill>
                  <a:srgbClr val="0070C0"/>
                </a:solidFill>
                <a:latin typeface="微软雅黑" panose="020B0503020204020204" pitchFamily="34" charset="-122"/>
                <a:ea typeface="微软雅黑" panose="020B0503020204020204" pitchFamily="34" charset="-122"/>
              </a:rPr>
              <a:t>,</a:t>
            </a:r>
            <a:r>
              <a:rPr lang="zh-CN" altLang="en-US" sz="1800" b="1" dirty="0">
                <a:solidFill>
                  <a:srgbClr val="0070C0"/>
                </a:solidFill>
                <a:latin typeface="微软雅黑" panose="020B0503020204020204" pitchFamily="34" charset="-122"/>
                <a:ea typeface="微软雅黑" panose="020B0503020204020204" pitchFamily="34" charset="-122"/>
              </a:rPr>
              <a:t>导致结果错误</a:t>
            </a:r>
            <a:endParaRPr lang="en-US" altLang="zh-CN" sz="1800" b="1" dirty="0">
              <a:solidFill>
                <a:srgbClr val="0070C0"/>
              </a:solidFill>
              <a:latin typeface="微软雅黑" panose="020B0503020204020204" pitchFamily="34" charset="-122"/>
              <a:ea typeface="微软雅黑" panose="020B0503020204020204" pitchFamily="34" charset="-122"/>
            </a:endParaRPr>
          </a:p>
        </p:txBody>
      </p:sp>
      <p:sp>
        <p:nvSpPr>
          <p:cNvPr id="16" name="波形 15">
            <a:extLst>
              <a:ext uri="{FF2B5EF4-FFF2-40B4-BE49-F238E27FC236}">
                <a16:creationId xmlns:a16="http://schemas.microsoft.com/office/drawing/2014/main" id="{5243634C-E2C0-409D-AAC4-1ADAFF62E0A3}"/>
              </a:ext>
            </a:extLst>
          </p:cNvPr>
          <p:cNvSpPr/>
          <p:nvPr/>
        </p:nvSpPr>
        <p:spPr>
          <a:xfrm>
            <a:off x="141949" y="2644563"/>
            <a:ext cx="981564" cy="2880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例131-3</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7" name="标题 1">
            <a:extLst>
              <a:ext uri="{FF2B5EF4-FFF2-40B4-BE49-F238E27FC236}">
                <a16:creationId xmlns:a16="http://schemas.microsoft.com/office/drawing/2014/main" id="{F2E8B7FF-A5A1-4ED0-92F7-C6ACB16924B1}"/>
              </a:ext>
            </a:extLst>
          </p:cNvPr>
          <p:cNvSpPr txBox="1">
            <a:spLocks/>
          </p:cNvSpPr>
          <p:nvPr/>
        </p:nvSpPr>
        <p:spPr bwMode="auto">
          <a:xfrm>
            <a:off x="1228728" y="2525134"/>
            <a:ext cx="4085952"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noAutofit/>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dist"/>
            <a:r>
              <a:rPr lang="zh-CN" altLang="en-US" sz="1800" b="1" kern="100" dirty="0">
                <a:solidFill>
                  <a:srgbClr val="0070C0"/>
                </a:solidFill>
                <a:latin typeface="微软雅黑" panose="020B0503020204020204" pitchFamily="34" charset="-122"/>
                <a:ea typeface="微软雅黑" panose="020B0503020204020204" pitchFamily="34" charset="-122"/>
              </a:rPr>
              <a:t>创建复数</a:t>
            </a:r>
            <a:r>
              <a:rPr lang="en-US" altLang="zh-CN" sz="1800" b="1" kern="100" dirty="0">
                <a:solidFill>
                  <a:srgbClr val="0070C0"/>
                </a:solidFill>
                <a:latin typeface="微软雅黑" panose="020B0503020204020204" pitchFamily="34" charset="-122"/>
                <a:ea typeface="微软雅黑" panose="020B0503020204020204" pitchFamily="34" charset="-122"/>
              </a:rPr>
              <a:t>a=2im</a:t>
            </a:r>
            <a:r>
              <a:rPr lang="zh-CN" altLang="en-US" sz="1800" b="1" kern="100" dirty="0">
                <a:solidFill>
                  <a:srgbClr val="0070C0"/>
                </a:solidFill>
                <a:latin typeface="微软雅黑" panose="020B0503020204020204" pitchFamily="34" charset="-122"/>
                <a:ea typeface="微软雅黑" panose="020B0503020204020204" pitchFamily="34" charset="-122"/>
              </a:rPr>
              <a:t>，然后再命名</a:t>
            </a:r>
            <a:r>
              <a:rPr lang="en-US" altLang="zh-CN" sz="1800" b="1" kern="100" dirty="0" err="1">
                <a:solidFill>
                  <a:srgbClr val="0070C0"/>
                </a:solidFill>
                <a:latin typeface="微软雅黑" panose="020B0503020204020204" pitchFamily="34" charset="-122"/>
                <a:ea typeface="微软雅黑" panose="020B0503020204020204" pitchFamily="34" charset="-122"/>
              </a:rPr>
              <a:t>im</a:t>
            </a:r>
            <a:r>
              <a:rPr lang="en-US" altLang="zh-CN" sz="1800" b="1" kern="100" dirty="0">
                <a:solidFill>
                  <a:srgbClr val="0070C0"/>
                </a:solidFill>
                <a:latin typeface="微软雅黑" panose="020B0503020204020204" pitchFamily="34" charset="-122"/>
                <a:ea typeface="微软雅黑" panose="020B0503020204020204" pitchFamily="34" charset="-122"/>
              </a:rPr>
              <a:t>=4</a:t>
            </a:r>
            <a:endParaRPr lang="zh-CN" altLang="en-US" sz="1800" b="1" kern="100" dirty="0">
              <a:solidFill>
                <a:srgbClr val="0070C0"/>
              </a:solidFill>
              <a:latin typeface="微软雅黑" panose="020B0503020204020204" pitchFamily="34" charset="-122"/>
              <a:ea typeface="微软雅黑" panose="020B0503020204020204" pitchFamily="34" charset="-122"/>
            </a:endParaRPr>
          </a:p>
        </p:txBody>
      </p:sp>
      <p:sp>
        <p:nvSpPr>
          <p:cNvPr id="18" name="波形 17">
            <a:extLst>
              <a:ext uri="{FF2B5EF4-FFF2-40B4-BE49-F238E27FC236}">
                <a16:creationId xmlns:a16="http://schemas.microsoft.com/office/drawing/2014/main" id="{86003E09-A8F5-470F-A71C-D8EA0CCE24DD}"/>
              </a:ext>
            </a:extLst>
          </p:cNvPr>
          <p:cNvSpPr/>
          <p:nvPr/>
        </p:nvSpPr>
        <p:spPr>
          <a:xfrm>
            <a:off x="146524" y="2211710"/>
            <a:ext cx="981564" cy="340532"/>
          </a:xfrm>
          <a:prstGeom prst="wave">
            <a:avLst>
              <a:gd name="adj1" fmla="val 200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课堂练习</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9" name="标题 1">
            <a:extLst>
              <a:ext uri="{FF2B5EF4-FFF2-40B4-BE49-F238E27FC236}">
                <a16:creationId xmlns:a16="http://schemas.microsoft.com/office/drawing/2014/main" id="{BE7D033A-1658-468B-AC91-FB2D9D6CBB9B}"/>
              </a:ext>
            </a:extLst>
          </p:cNvPr>
          <p:cNvSpPr txBox="1">
            <a:spLocks/>
          </p:cNvSpPr>
          <p:nvPr/>
        </p:nvSpPr>
        <p:spPr bwMode="auto">
          <a:xfrm>
            <a:off x="1228728" y="2223775"/>
            <a:ext cx="7265205" cy="369332"/>
          </a:xfrm>
          <a:prstGeom prst="rect">
            <a:avLst/>
          </a:prstGeom>
          <a:noFill/>
          <a:ln w="9525">
            <a:noFill/>
            <a:miter lim="800000"/>
            <a:headEnd/>
            <a:tailEnd/>
          </a:ln>
        </p:spPr>
        <p:txBody>
          <a:bodyPr vert="horz" wrap="none" lIns="91440" tIns="45720" rIns="91440" bIns="45720" numCol="1" anchor="b" anchorCtr="0" compatLnSpc="1">
            <a:prstTxWarp prst="textNoShape">
              <a:avLst/>
            </a:prstTxWarp>
            <a:noAutofit/>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dist"/>
            <a:r>
              <a:rPr lang="zh-CN" altLang="en-US" sz="1800" b="1" kern="100" dirty="0">
                <a:solidFill>
                  <a:srgbClr val="0070C0"/>
                </a:solidFill>
                <a:latin typeface="微软雅黑" panose="020B0503020204020204" pitchFamily="34" charset="-122"/>
                <a:ea typeface="微软雅黑" panose="020B0503020204020204" pitchFamily="34" charset="-122"/>
              </a:rPr>
              <a:t>将变量命名为</a:t>
            </a:r>
            <a:r>
              <a:rPr lang="en-US" altLang="zh-CN" sz="1800" b="1" kern="100" dirty="0" err="1">
                <a:solidFill>
                  <a:srgbClr val="0070C0"/>
                </a:solidFill>
                <a:latin typeface="微软雅黑" panose="020B0503020204020204" pitchFamily="34" charset="-122"/>
                <a:ea typeface="微软雅黑" panose="020B0503020204020204" pitchFamily="34" charset="-122"/>
              </a:rPr>
              <a:t>im</a:t>
            </a:r>
            <a:r>
              <a:rPr lang="zh-CN" altLang="en-US" sz="1800" b="1" kern="100" dirty="0">
                <a:solidFill>
                  <a:srgbClr val="0070C0"/>
                </a:solidFill>
                <a:latin typeface="微软雅黑" panose="020B0503020204020204" pitchFamily="34" charset="-122"/>
                <a:ea typeface="微软雅黑" panose="020B0503020204020204" pitchFamily="34" charset="-122"/>
              </a:rPr>
              <a:t>，并且赋值为</a:t>
            </a:r>
            <a:r>
              <a:rPr lang="en-US" altLang="zh-CN" sz="1800" b="1" kern="100" dirty="0">
                <a:solidFill>
                  <a:srgbClr val="0070C0"/>
                </a:solidFill>
                <a:latin typeface="微软雅黑" panose="020B0503020204020204" pitchFamily="34" charset="-122"/>
                <a:ea typeface="微软雅黑" panose="020B0503020204020204" pitchFamily="34" charset="-122"/>
              </a:rPr>
              <a:t>4</a:t>
            </a:r>
            <a:r>
              <a:rPr lang="zh-CN" altLang="en-US" sz="1800" b="1" kern="100" dirty="0">
                <a:solidFill>
                  <a:srgbClr val="0070C0"/>
                </a:solidFill>
                <a:latin typeface="微软雅黑" panose="020B0503020204020204" pitchFamily="34" charset="-122"/>
                <a:ea typeface="微软雅黑" panose="020B0503020204020204" pitchFamily="34" charset="-122"/>
              </a:rPr>
              <a:t>，在计算</a:t>
            </a:r>
            <a:r>
              <a:rPr lang="en-US" altLang="zh-CN" sz="1800" b="1" kern="100" dirty="0">
                <a:solidFill>
                  <a:srgbClr val="0070C0"/>
                </a:solidFill>
                <a:latin typeface="微软雅黑" panose="020B0503020204020204" pitchFamily="34" charset="-122"/>
                <a:ea typeface="微软雅黑" panose="020B0503020204020204" pitchFamily="34" charset="-122"/>
              </a:rPr>
              <a:t>x=</a:t>
            </a:r>
            <a:r>
              <a:rPr lang="en-US" altLang="zh-CN" sz="1800" b="1" kern="100" dirty="0" err="1">
                <a:solidFill>
                  <a:srgbClr val="0070C0"/>
                </a:solidFill>
                <a:latin typeface="微软雅黑" panose="020B0503020204020204" pitchFamily="34" charset="-122"/>
                <a:ea typeface="微软雅黑" panose="020B0503020204020204" pitchFamily="34" charset="-122"/>
              </a:rPr>
              <a:t>im</a:t>
            </a:r>
            <a:r>
              <a:rPr lang="en-US" altLang="zh-CN" sz="1800" b="1" kern="100" dirty="0">
                <a:solidFill>
                  <a:srgbClr val="0070C0"/>
                </a:solidFill>
                <a:latin typeface="微软雅黑" panose="020B0503020204020204" pitchFamily="34" charset="-122"/>
                <a:ea typeface="微软雅黑" panose="020B0503020204020204" pitchFamily="34" charset="-122"/>
              </a:rPr>
              <a:t>/2</a:t>
            </a:r>
            <a:r>
              <a:rPr lang="zh-CN" altLang="en-US" sz="1800" b="1" kern="100" dirty="0">
                <a:solidFill>
                  <a:srgbClr val="0070C0"/>
                </a:solidFill>
                <a:latin typeface="微软雅黑" panose="020B0503020204020204" pitchFamily="34" charset="-122"/>
                <a:ea typeface="微软雅黑" panose="020B0503020204020204" pitchFamily="34" charset="-122"/>
              </a:rPr>
              <a:t>的结果</a:t>
            </a:r>
          </a:p>
        </p:txBody>
      </p:sp>
      <p:sp>
        <p:nvSpPr>
          <p:cNvPr id="14" name="文本框 13">
            <a:extLst>
              <a:ext uri="{FF2B5EF4-FFF2-40B4-BE49-F238E27FC236}">
                <a16:creationId xmlns:a16="http://schemas.microsoft.com/office/drawing/2014/main" id="{A47F1AC6-1242-4373-B21C-3006FDCFC69C}"/>
              </a:ext>
            </a:extLst>
          </p:cNvPr>
          <p:cNvSpPr txBox="1"/>
          <p:nvPr/>
        </p:nvSpPr>
        <p:spPr>
          <a:xfrm>
            <a:off x="5778926" y="1769395"/>
            <a:ext cx="3153667" cy="369332"/>
          </a:xfrm>
          <a:prstGeom prst="rect">
            <a:avLst/>
          </a:prstGeom>
          <a:noFill/>
        </p:spPr>
        <p:txBody>
          <a:bodyPr wrap="square">
            <a:spAutoFit/>
          </a:bodyPr>
          <a:lstStyle/>
          <a:p>
            <a:r>
              <a:rPr lang="en-US" altLang="zh-CN" sz="1800" b="1" dirty="0">
                <a:solidFill>
                  <a:srgbClr val="FF0000"/>
                </a:solidFill>
                <a:latin typeface="华文楷体" panose="02010600040101010101" pitchFamily="2" charset="-122"/>
                <a:ea typeface="华文楷体" panose="02010600040101010101" pitchFamily="2" charset="-122"/>
              </a:rPr>
              <a:t>MATLAB</a:t>
            </a:r>
            <a:r>
              <a:rPr lang="zh-CN" altLang="en-US" sz="1800" b="1" dirty="0">
                <a:solidFill>
                  <a:srgbClr val="FF0000"/>
                </a:solidFill>
                <a:latin typeface="华文楷体" panose="02010600040101010101" pitchFamily="2" charset="-122"/>
                <a:ea typeface="华文楷体" panose="02010600040101010101" pitchFamily="2" charset="-122"/>
              </a:rPr>
              <a:t>虚数单位为</a:t>
            </a:r>
            <a:r>
              <a:rPr lang="en-US" altLang="zh-CN" sz="1800" b="1" dirty="0" err="1">
                <a:solidFill>
                  <a:srgbClr val="FF0000"/>
                </a:solidFill>
                <a:latin typeface="华文楷体" panose="02010600040101010101" pitchFamily="2" charset="-122"/>
                <a:ea typeface="华文楷体" panose="02010600040101010101" pitchFamily="2" charset="-122"/>
              </a:rPr>
              <a:t>i</a:t>
            </a:r>
            <a:r>
              <a:rPr lang="zh-CN" altLang="en-US" sz="1800" b="1" dirty="0">
                <a:solidFill>
                  <a:srgbClr val="FF0000"/>
                </a:solidFill>
                <a:latin typeface="华文楷体" panose="02010600040101010101" pitchFamily="2" charset="-122"/>
                <a:ea typeface="华文楷体" panose="02010600040101010101" pitchFamily="2" charset="-122"/>
              </a:rPr>
              <a:t>或</a:t>
            </a:r>
            <a:r>
              <a:rPr lang="en-US" altLang="zh-CN" sz="1800" b="1" dirty="0">
                <a:solidFill>
                  <a:srgbClr val="FF0000"/>
                </a:solidFill>
                <a:latin typeface="华文楷体" panose="02010600040101010101" pitchFamily="2" charset="-122"/>
                <a:ea typeface="华文楷体" panose="02010600040101010101" pitchFamily="2" charset="-122"/>
              </a:rPr>
              <a:t>j</a:t>
            </a:r>
            <a:endParaRPr lang="zh-CN" altLang="en-US" sz="1800" b="1" kern="0" dirty="0">
              <a:solidFill>
                <a:srgbClr val="FF0000"/>
              </a:solidFill>
              <a:ea typeface="黑体" panose="02010609060101010101" pitchFamily="49" charset="-122"/>
            </a:endParaRPr>
          </a:p>
        </p:txBody>
      </p:sp>
    </p:spTree>
    <p:extLst>
      <p:ext uri="{BB962C8B-B14F-4D97-AF65-F5344CB8AC3E}">
        <p14:creationId xmlns:p14="http://schemas.microsoft.com/office/powerpoint/2010/main" val="766608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P spid="10" grpId="0" animBg="1"/>
      <p:bldP spid="15" grpId="0"/>
      <p:bldP spid="16" grpId="0" animBg="1"/>
      <p:bldP spid="17" grpId="0"/>
      <p:bldP spid="18" grpId="0" animBg="1"/>
      <p:bldP spid="19"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3840569-84C9-4F5B-BF45-DB7C2FD7E55B}"/>
              </a:ext>
            </a:extLst>
          </p:cNvPr>
          <p:cNvSpPr/>
          <p:nvPr/>
        </p:nvSpPr>
        <p:spPr>
          <a:xfrm>
            <a:off x="203931" y="1174101"/>
            <a:ext cx="2566428" cy="540341"/>
          </a:xfrm>
          <a:prstGeom prst="rect">
            <a:avLst/>
          </a:prstGeom>
        </p:spPr>
        <p:txBody>
          <a:bodyPr wrap="square">
            <a:spAutoFit/>
          </a:bodyPr>
          <a:lstStyle/>
          <a:p>
            <a:pPr>
              <a:lnSpc>
                <a:spcPct val="150000"/>
              </a:lnSpc>
            </a:pPr>
            <a:r>
              <a:rPr lang="zh-CN" altLang="en-US" sz="2200"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 常量一般形式 </a:t>
            </a:r>
            <a:r>
              <a:rPr lang="en-US" altLang="zh-CN" sz="2200" b="1" kern="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2200" b="1" kern="0" dirty="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p:cNvSpPr/>
          <p:nvPr/>
        </p:nvSpPr>
        <p:spPr>
          <a:xfrm>
            <a:off x="2475451" y="1315590"/>
            <a:ext cx="1435116"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const X=val </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6" name="标题 1">
            <a:extLst>
              <a:ext uri="{FF2B5EF4-FFF2-40B4-BE49-F238E27FC236}">
                <a16:creationId xmlns:a16="http://schemas.microsoft.com/office/drawing/2014/main" id="{D8FD3D62-2C53-422F-06A8-9395F6DFC59A}"/>
              </a:ext>
            </a:extLst>
          </p:cNvPr>
          <p:cNvSpPr txBox="1">
            <a:spLocks/>
          </p:cNvSpPr>
          <p:nvPr/>
        </p:nvSpPr>
        <p:spPr bwMode="auto">
          <a:xfrm>
            <a:off x="1115616" y="164165"/>
            <a:ext cx="5995675"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200" kern="0" dirty="0"/>
              <a:t>§1.3.1.3 </a:t>
            </a:r>
            <a:r>
              <a:rPr lang="zh-CN" altLang="en-US" sz="3200" kern="0" dirty="0"/>
              <a:t>常量</a:t>
            </a:r>
            <a:r>
              <a:rPr lang="en-US" altLang="zh-CN" sz="3200" kern="0" dirty="0">
                <a:solidFill>
                  <a:srgbClr val="FF0000"/>
                </a:solidFill>
              </a:rPr>
              <a:t>——2. </a:t>
            </a:r>
            <a:r>
              <a:rPr lang="zh-CN" altLang="en-US" sz="3200" kern="0" dirty="0">
                <a:solidFill>
                  <a:srgbClr val="FF0000"/>
                </a:solidFill>
              </a:rPr>
              <a:t>自定义常量形式 </a:t>
            </a:r>
          </a:p>
        </p:txBody>
      </p:sp>
      <p:sp>
        <p:nvSpPr>
          <p:cNvPr id="9" name="矩形 1">
            <a:extLst>
              <a:ext uri="{FF2B5EF4-FFF2-40B4-BE49-F238E27FC236}">
                <a16:creationId xmlns:a16="http://schemas.microsoft.com/office/drawing/2014/main" id="{B05EB7F5-80E1-4FFD-96AD-99F321545D8A}"/>
              </a:ext>
            </a:extLst>
          </p:cNvPr>
          <p:cNvSpPr txBox="1">
            <a:spLocks noChangeArrowheads="1"/>
          </p:cNvSpPr>
          <p:nvPr/>
        </p:nvSpPr>
        <p:spPr bwMode="auto">
          <a:xfrm>
            <a:off x="203931" y="718931"/>
            <a:ext cx="8827209" cy="338554"/>
          </a:xfrm>
          <a:prstGeom prst="rect">
            <a:avLst/>
          </a:prstGeom>
          <a:solidFill>
            <a:srgbClr val="0070C0"/>
          </a:solidFill>
          <a:ln w="9525">
            <a:noFill/>
            <a:miter lim="800000"/>
          </a:ln>
        </p:spPr>
        <p:txBody>
          <a:bodyPr vert="horz" wrap="square" lIns="91440" tIns="45720" rIns="91440" bIns="45720" rtlCol="0">
            <a:spAutoFit/>
          </a:bodyPr>
          <a:lstStyle>
            <a:defPPr>
              <a:defRPr lang="zh-CN"/>
            </a:defPPr>
            <a:lvl1pPr fontAlgn="auto">
              <a:spcBef>
                <a:spcPts val="0"/>
              </a:spcBef>
              <a:spcAft>
                <a:spcPts val="0"/>
              </a:spcAft>
              <a:defRPr sz="1600" b="0" i="0">
                <a:solidFill>
                  <a:schemeClr val="bg1"/>
                </a:solidFill>
                <a:effectLst/>
                <a:latin typeface="Helvetica Neue"/>
              </a:defRPr>
            </a:lvl1pPr>
          </a:lstStyle>
          <a:p>
            <a:pPr algn="dist"/>
            <a:r>
              <a:rPr lang="zh-CN" altLang="en-US" b="1" dirty="0">
                <a:latin typeface="微软雅黑" panose="020B0503020204020204" pitchFamily="34" charset="-122"/>
                <a:ea typeface="微软雅黑" panose="020B0503020204020204" pitchFamily="34" charset="-122"/>
              </a:rPr>
              <a:t>常量是为了避免不变数值被不小心被修改，而特别声明特定的、不变的量</a:t>
            </a:r>
          </a:p>
        </p:txBody>
      </p:sp>
      <p:sp>
        <p:nvSpPr>
          <p:cNvPr id="12" name="矩形 11">
            <a:extLst>
              <a:ext uri="{FF2B5EF4-FFF2-40B4-BE49-F238E27FC236}">
                <a16:creationId xmlns:a16="http://schemas.microsoft.com/office/drawing/2014/main" id="{047DD2E1-E70B-48FB-8194-5F47073CF1DB}"/>
              </a:ext>
            </a:extLst>
          </p:cNvPr>
          <p:cNvSpPr/>
          <p:nvPr/>
        </p:nvSpPr>
        <p:spPr>
          <a:xfrm>
            <a:off x="294373" y="1794325"/>
            <a:ext cx="5328592" cy="499624"/>
          </a:xfrm>
          <a:prstGeom prst="rect">
            <a:avLst/>
          </a:prstGeom>
        </p:spPr>
        <p:txBody>
          <a:bodyPr wrap="square">
            <a:spAutoFit/>
          </a:bodyPr>
          <a:lstStyle/>
          <a:p>
            <a:pPr>
              <a:lnSpc>
                <a:spcPct val="150000"/>
              </a:lnSpc>
            </a:pPr>
            <a:r>
              <a:rPr lang="en-US" altLang="zh-CN" sz="2000"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X</a:t>
            </a:r>
            <a:r>
              <a:rPr lang="zh-CN" altLang="en-US" sz="2000"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一般大写字母</a:t>
            </a:r>
            <a:r>
              <a:rPr lang="en-US" altLang="zh-CN" sz="2000"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a:t>
            </a:r>
            <a:r>
              <a:rPr lang="zh-CN" altLang="en-US" sz="2000" b="1" kern="0" dirty="0">
                <a:solidFill>
                  <a:srgbClr val="0070C0"/>
                </a:solidFill>
                <a:latin typeface="微软雅黑" panose="020B0503020204020204" pitchFamily="34" charset="-122"/>
                <a:ea typeface="微软雅黑" panose="020B0503020204020204" pitchFamily="34" charset="-122"/>
                <a:cs typeface="+mj-cs"/>
              </a:rPr>
              <a:t>一旦被定义</a:t>
            </a:r>
            <a:r>
              <a:rPr lang="en-US" altLang="zh-CN" sz="2000" b="1" kern="0" dirty="0">
                <a:solidFill>
                  <a:srgbClr val="0070C0"/>
                </a:solidFill>
                <a:latin typeface="微软雅黑" panose="020B0503020204020204" pitchFamily="34" charset="-122"/>
                <a:ea typeface="微软雅黑" panose="020B0503020204020204" pitchFamily="34" charset="-122"/>
                <a:cs typeface="+mj-cs"/>
              </a:rPr>
              <a:t>,</a:t>
            </a:r>
            <a:r>
              <a:rPr lang="zh-CN" altLang="en-US" sz="2000" b="1" kern="0" dirty="0">
                <a:solidFill>
                  <a:srgbClr val="0070C0"/>
                </a:solidFill>
                <a:latin typeface="微软雅黑" panose="020B0503020204020204" pitchFamily="34" charset="-122"/>
                <a:ea typeface="微软雅黑" panose="020B0503020204020204" pitchFamily="34" charset="-122"/>
                <a:cs typeface="+mj-cs"/>
              </a:rPr>
              <a:t>值不能被修改</a:t>
            </a:r>
            <a:endParaRPr lang="zh-CN" altLang="en-US" sz="2000" b="1" kern="0" dirty="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7130484-3CB1-4C33-9B97-39C54663AECC}"/>
                  </a:ext>
                </a:extLst>
              </p:cNvPr>
              <p:cNvSpPr txBox="1"/>
              <p:nvPr/>
            </p:nvSpPr>
            <p:spPr>
              <a:xfrm>
                <a:off x="1486169" y="2350766"/>
                <a:ext cx="6829271" cy="1431482"/>
              </a:xfrm>
              <a:prstGeom prst="rect">
                <a:avLst/>
              </a:prstGeom>
              <a:noFill/>
            </p:spPr>
            <p:txBody>
              <a:bodyPr wrap="square">
                <a:spAutoFit/>
              </a:bodyPr>
              <a:lstStyle/>
              <a:p>
                <a:pPr>
                  <a:lnSpc>
                    <a:spcPct val="150000"/>
                  </a:lnSpc>
                </a:pPr>
                <a:r>
                  <a:rPr lang="zh-CN" altLang="en-US" sz="2000" b="1" dirty="0">
                    <a:solidFill>
                      <a:srgbClr val="0070C0"/>
                    </a:solidFill>
                    <a:latin typeface="微软雅黑" panose="020B0503020204020204" pitchFamily="34" charset="-122"/>
                    <a:ea typeface="微软雅黑" panose="020B0503020204020204" pitchFamily="34" charset="-122"/>
                  </a:rPr>
                  <a:t>热辐射定律</a:t>
                </a:r>
                <a:r>
                  <a:rPr lang="en-US" altLang="zh-CN" sz="2000" b="1" dirty="0">
                    <a:solidFill>
                      <a:srgbClr val="0070C0"/>
                    </a:solidFill>
                    <a:latin typeface="微软雅黑" panose="020B0503020204020204" pitchFamily="34" charset="-122"/>
                    <a:ea typeface="微软雅黑" panose="020B0503020204020204" pitchFamily="34" charset="-122"/>
                  </a:rPr>
                  <a:t>E</a:t>
                </a:r>
                <a:r>
                  <a:rPr lang="en-US" altLang="ko-KR" sz="2000" b="1" dirty="0">
                    <a:solidFill>
                      <a:srgbClr val="0070C0"/>
                    </a:solidFill>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ko-KR" sz="2000" b="1" i="1">
                            <a:solidFill>
                              <a:srgbClr val="0070C0"/>
                            </a:solidFill>
                            <a:latin typeface="Cambria Math" panose="02040503050406030204" pitchFamily="18" charset="0"/>
                          </a:rPr>
                        </m:ctrlPr>
                      </m:sSupPr>
                      <m:e>
                        <m:r>
                          <a:rPr lang="ko-KR" altLang="en-US" sz="2000" b="1" i="1" smtClean="0">
                            <a:solidFill>
                              <a:srgbClr val="0070C0"/>
                            </a:solidFill>
                            <a:latin typeface="Cambria Math" panose="02040503050406030204" pitchFamily="18" charset="0"/>
                            <a:ea typeface="Arial" panose="020B0604020202020204" pitchFamily="34" charset="0"/>
                          </a:rPr>
                          <m:t>𝝈</m:t>
                        </m:r>
                        <m:r>
                          <a:rPr lang="en-US" altLang="ko-KR" sz="2000" b="1" i="1" smtClean="0">
                            <a:solidFill>
                              <a:srgbClr val="0070C0"/>
                            </a:solidFill>
                            <a:latin typeface="Cambria Math" panose="02040503050406030204" pitchFamily="18" charset="0"/>
                            <a:ea typeface="Arial" panose="020B0604020202020204" pitchFamily="34" charset="0"/>
                          </a:rPr>
                          <m:t>∗</m:t>
                        </m:r>
                        <m:r>
                          <a:rPr lang="en-US" altLang="ko-KR" sz="2000" b="1" i="1" smtClean="0">
                            <a:solidFill>
                              <a:srgbClr val="0070C0"/>
                            </a:solidFill>
                            <a:latin typeface="Cambria Math" panose="02040503050406030204" pitchFamily="18" charset="0"/>
                            <a:ea typeface="Arial" panose="020B0604020202020204" pitchFamily="34" charset="0"/>
                          </a:rPr>
                          <m:t>𝑻</m:t>
                        </m:r>
                      </m:e>
                      <m:sup>
                        <m:r>
                          <a:rPr lang="en-US" altLang="ko-KR" sz="2000" b="1" i="1">
                            <a:solidFill>
                              <a:srgbClr val="0070C0"/>
                            </a:solidFill>
                            <a:latin typeface="Cambria Math" panose="02040503050406030204" pitchFamily="18" charset="0"/>
                          </a:rPr>
                          <m:t>𝟒</m:t>
                        </m:r>
                      </m:sup>
                    </m:sSup>
                  </m:oMath>
                </a14:m>
                <a:r>
                  <a:rPr lang="en-US" altLang="zh-CN" sz="2000" b="1" dirty="0">
                    <a:solidFill>
                      <a:srgbClr val="0070C0"/>
                    </a:solidFill>
                    <a:latin typeface="微软雅黑" panose="020B0503020204020204" pitchFamily="34" charset="-122"/>
                    <a:ea typeface="微软雅黑" panose="020B0503020204020204" pitchFamily="34" charset="-122"/>
                  </a:rPr>
                  <a:t> </a:t>
                </a:r>
                <a:r>
                  <a:rPr lang="zh-CN" altLang="en-US" sz="2000" b="1" dirty="0">
                    <a:solidFill>
                      <a:srgbClr val="0070C0"/>
                    </a:solidFill>
                    <a:latin typeface="微软雅黑" panose="020B0503020204020204" pitchFamily="34" charset="-122"/>
                    <a:ea typeface="微软雅黑" panose="020B0503020204020204" pitchFamily="34" charset="-122"/>
                  </a:rPr>
                  <a:t>，</a:t>
                </a:r>
                <a:endParaRPr lang="en-US" altLang="zh-CN" sz="2000" b="1" dirty="0">
                  <a:solidFill>
                    <a:srgbClr val="0070C0"/>
                  </a:solidFill>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ko-KR" altLang="en-US" sz="2000" b="1" i="1" smtClean="0">
                        <a:solidFill>
                          <a:srgbClr val="0070C0"/>
                        </a:solidFill>
                        <a:latin typeface="Cambria Math" panose="02040503050406030204" pitchFamily="18" charset="0"/>
                        <a:ea typeface="Arial" panose="020B0604020202020204" pitchFamily="34" charset="0"/>
                      </a:rPr>
                      <m:t>𝝈</m:t>
                    </m:r>
                  </m:oMath>
                </a14:m>
                <a:r>
                  <a:rPr lang="zh-CN" altLang="en-US" sz="2000" b="1" dirty="0">
                    <a:solidFill>
                      <a:srgbClr val="0070C0"/>
                    </a:solidFill>
                    <a:latin typeface="微软雅黑" panose="020B0503020204020204" pitchFamily="34" charset="-122"/>
                    <a:ea typeface="微软雅黑" panose="020B0503020204020204" pitchFamily="34" charset="-122"/>
                  </a:rPr>
                  <a:t>是斯蒂芬</a:t>
                </a:r>
                <a:r>
                  <a:rPr lang="en-US" altLang="zh-CN"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rgbClr val="0070C0"/>
                    </a:solidFill>
                    <a:latin typeface="微软雅黑" panose="020B0503020204020204" pitchFamily="34" charset="-122"/>
                    <a:ea typeface="微软雅黑" panose="020B0503020204020204" pitchFamily="34" charset="-122"/>
                  </a:rPr>
                  <a:t>波耳兹曼常数 </a:t>
                </a:r>
                <a14:m>
                  <m:oMath xmlns:m="http://schemas.openxmlformats.org/officeDocument/2006/math">
                    <m:r>
                      <a:rPr lang="ko-KR" altLang="en-US" sz="2000" b="1" i="1">
                        <a:solidFill>
                          <a:srgbClr val="0070C0"/>
                        </a:solidFill>
                        <a:latin typeface="Cambria Math" panose="02040503050406030204" pitchFamily="18" charset="0"/>
                        <a:ea typeface="Arial" panose="020B0604020202020204" pitchFamily="34" charset="0"/>
                      </a:rPr>
                      <m:t>𝝈</m:t>
                    </m:r>
                    <m:r>
                      <a:rPr lang="ko-KR" altLang="en-US" sz="2000" b="1" i="1">
                        <a:solidFill>
                          <a:srgbClr val="0070C0"/>
                        </a:solidFill>
                        <a:latin typeface="Cambria Math" panose="02040503050406030204" pitchFamily="18" charset="0"/>
                        <a:ea typeface="Arial" panose="020B0604020202020204" pitchFamily="34" charset="0"/>
                      </a:rPr>
                      <m:t> </m:t>
                    </m:r>
                  </m:oMath>
                </a14:m>
                <a:r>
                  <a:rPr lang="en-US" altLang="zh-CN" sz="2000" dirty="0">
                    <a:latin typeface="微软雅黑" panose="020B0503020204020204" pitchFamily="34" charset="-122"/>
                    <a:ea typeface="微软雅黑" panose="020B0503020204020204" pitchFamily="34" charset="-122"/>
                  </a:rPr>
                  <a:t>=5.6703 * 10^8 </a:t>
                </a:r>
                <a:endParaRPr lang="en-US" altLang="zh-CN" sz="2000" b="1" dirty="0">
                  <a:solidFill>
                    <a:srgbClr val="0070C0"/>
                  </a:solidFill>
                  <a:latin typeface="微软雅黑" panose="020B0503020204020204" pitchFamily="34" charset="-122"/>
                  <a:ea typeface="微软雅黑" panose="020B0503020204020204" pitchFamily="34" charset="-122"/>
                </a:endParaRPr>
              </a:p>
              <a:p>
                <a:pPr>
                  <a:lnSpc>
                    <a:spcPct val="150000"/>
                  </a:lnSpc>
                </a:pPr>
                <a:r>
                  <a:rPr lang="en-US" altLang="zh-CN" sz="2000" b="1" dirty="0">
                    <a:solidFill>
                      <a:srgbClr val="00B0F0"/>
                    </a:solidFill>
                  </a:rPr>
                  <a:t>const</a:t>
                </a:r>
                <a:r>
                  <a:rPr lang="zh-CN" altLang="en-US" sz="2000" b="1" dirty="0">
                    <a:solidFill>
                      <a:srgbClr val="0070C0"/>
                    </a:solidFill>
                    <a:latin typeface="微软雅黑" panose="020B0503020204020204" pitchFamily="34" charset="-122"/>
                    <a:ea typeface="微软雅黑" panose="020B0503020204020204" pitchFamily="34" charset="-122"/>
                  </a:rPr>
                  <a:t>定义</a:t>
                </a:r>
                <a14:m>
                  <m:oMath xmlns:m="http://schemas.openxmlformats.org/officeDocument/2006/math">
                    <m:r>
                      <a:rPr lang="ko-KR" altLang="en-US" sz="2000" b="1" i="1">
                        <a:solidFill>
                          <a:srgbClr val="0070C0"/>
                        </a:solidFill>
                        <a:latin typeface="Cambria Math" panose="02040503050406030204" pitchFamily="18" charset="0"/>
                        <a:ea typeface="Arial" panose="020B0604020202020204" pitchFamily="34" charset="0"/>
                      </a:rPr>
                      <m:t>𝝈</m:t>
                    </m:r>
                  </m:oMath>
                </a14:m>
                <a:r>
                  <a:rPr lang="zh-CN" altLang="en-US" sz="2000" b="1" dirty="0">
                    <a:solidFill>
                      <a:srgbClr val="0070C0"/>
                    </a:solidFill>
                    <a:latin typeface="微软雅黑" panose="020B0503020204020204" pitchFamily="34" charset="-122"/>
                    <a:ea typeface="微软雅黑" panose="020B0503020204020204" pitchFamily="34" charset="-122"/>
                  </a:rPr>
                  <a:t>为</a:t>
                </a:r>
                <a14:m>
                  <m:oMath xmlns:m="http://schemas.openxmlformats.org/officeDocument/2006/math">
                    <m:r>
                      <a:rPr lang="zh-CN" altLang="en-US" sz="2000" b="1" i="1">
                        <a:solidFill>
                          <a:srgbClr val="0070C0"/>
                        </a:solidFill>
                        <a:latin typeface="Cambria Math" panose="02040503050406030204" pitchFamily="18" charset="0"/>
                        <a:ea typeface="Arial" panose="020B0604020202020204" pitchFamily="34" charset="0"/>
                      </a:rPr>
                      <m:t>常数</m:t>
                    </m:r>
                  </m:oMath>
                </a14:m>
                <a:endParaRPr lang="zh-CN" altLang="en-US" sz="2000" b="1" dirty="0">
                  <a:solidFill>
                    <a:srgbClr val="0070C0"/>
                  </a:solidFill>
                  <a:latin typeface="微软雅黑" panose="020B0503020204020204" pitchFamily="34" charset="-122"/>
                  <a:ea typeface="微软雅黑" panose="020B0503020204020204" pitchFamily="34" charset="-122"/>
                </a:endParaRPr>
              </a:p>
            </p:txBody>
          </p:sp>
        </mc:Choice>
        <mc:Fallback xmlns="">
          <p:sp>
            <p:nvSpPr>
              <p:cNvPr id="20" name="文本框 19">
                <a:extLst>
                  <a:ext uri="{FF2B5EF4-FFF2-40B4-BE49-F238E27FC236}">
                    <a16:creationId xmlns:a16="http://schemas.microsoft.com/office/drawing/2014/main" id="{A7130484-3CB1-4C33-9B97-39C54663AECC}"/>
                  </a:ext>
                </a:extLst>
              </p:cNvPr>
              <p:cNvSpPr txBox="1">
                <a:spLocks noRot="1" noChangeAspect="1" noMove="1" noResize="1" noEditPoints="1" noAdjustHandles="1" noChangeArrowheads="1" noChangeShapeType="1" noTextEdit="1"/>
              </p:cNvSpPr>
              <p:nvPr/>
            </p:nvSpPr>
            <p:spPr>
              <a:xfrm>
                <a:off x="1486169" y="2350766"/>
                <a:ext cx="6829271" cy="1431482"/>
              </a:xfrm>
              <a:prstGeom prst="rect">
                <a:avLst/>
              </a:prstGeom>
              <a:blipFill>
                <a:blip r:embed="rId3"/>
                <a:stretch>
                  <a:fillRect l="-982" b="-7265"/>
                </a:stretch>
              </a:blipFill>
            </p:spPr>
            <p:txBody>
              <a:bodyPr/>
              <a:lstStyle/>
              <a:p>
                <a:r>
                  <a:rPr lang="zh-CN" altLang="en-US">
                    <a:noFill/>
                  </a:rPr>
                  <a:t> </a:t>
                </a:r>
              </a:p>
            </p:txBody>
          </p:sp>
        </mc:Fallback>
      </mc:AlternateContent>
      <p:sp>
        <p:nvSpPr>
          <p:cNvPr id="21" name="波形 20">
            <a:extLst>
              <a:ext uri="{FF2B5EF4-FFF2-40B4-BE49-F238E27FC236}">
                <a16:creationId xmlns:a16="http://schemas.microsoft.com/office/drawing/2014/main" id="{21207113-6CD1-4ECA-B775-18BDC8D62B94}"/>
              </a:ext>
            </a:extLst>
          </p:cNvPr>
          <p:cNvSpPr/>
          <p:nvPr/>
        </p:nvSpPr>
        <p:spPr>
          <a:xfrm>
            <a:off x="414246" y="2461084"/>
            <a:ext cx="884882" cy="33855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例131-6</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8C85DDE2-E61B-4C31-BEF0-EEBF61B076EA}"/>
              </a:ext>
            </a:extLst>
          </p:cNvPr>
          <p:cNvSpPr txBox="1"/>
          <p:nvPr/>
        </p:nvSpPr>
        <p:spPr>
          <a:xfrm>
            <a:off x="296960" y="4151702"/>
            <a:ext cx="8278430" cy="400110"/>
          </a:xfrm>
          <a:prstGeom prst="rect">
            <a:avLst/>
          </a:prstGeom>
          <a:noFill/>
        </p:spPr>
        <p:txBody>
          <a:bodyPr wrap="square">
            <a:spAutoFit/>
          </a:bodyPr>
          <a:lstStyle/>
          <a:p>
            <a:pPr>
              <a:lnSpc>
                <a:spcPts val="2400"/>
              </a:lnSpc>
            </a:pPr>
            <a:r>
              <a:rPr lang="en-US" altLang="zh-CN" sz="2400" b="1" dirty="0">
                <a:solidFill>
                  <a:srgbClr val="00B0F0"/>
                </a:solidFill>
              </a:rPr>
              <a:t>const SIGMA = 5.670367 * 10^8   #5.670367e8</a:t>
            </a:r>
          </a:p>
        </p:txBody>
      </p:sp>
    </p:spTree>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12" grpId="0"/>
      <p:bldP spid="20" grpId="0"/>
      <p:bldP spid="21" grpId="0" animBg="1"/>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36622-A645-4962-AC8F-11241AB37963}"/>
              </a:ext>
            </a:extLst>
          </p:cNvPr>
          <p:cNvSpPr>
            <a:spLocks noGrp="1"/>
          </p:cNvSpPr>
          <p:nvPr>
            <p:ph type="title"/>
          </p:nvPr>
        </p:nvSpPr>
        <p:spPr>
          <a:xfrm>
            <a:off x="467544" y="66247"/>
            <a:ext cx="9139087" cy="1029010"/>
          </a:xfrm>
          <a:effectLst/>
        </p:spPr>
        <p:txBody>
          <a:bodyPr/>
          <a:lstStyle/>
          <a:p>
            <a:pPr algn="dist"/>
            <a:br>
              <a:rPr lang="en-US" altLang="zh-CN" sz="2800" b="1" dirty="0"/>
            </a:br>
            <a:br>
              <a:rPr lang="en-US" altLang="zh-CN" sz="2800" b="1" dirty="0"/>
            </a:br>
            <a:r>
              <a:rPr lang="en-US" altLang="zh-CN" sz="2800" b="1" dirty="0"/>
              <a:t>§1.3.2 </a:t>
            </a:r>
            <a:r>
              <a:rPr lang="zh-CN" altLang="en-US" sz="2800" b="1" kern="0" dirty="0"/>
              <a:t>数值类型</a:t>
            </a:r>
            <a:r>
              <a:rPr lang="en-US" altLang="zh-CN" sz="2800" b="1" kern="0" dirty="0">
                <a:solidFill>
                  <a:srgbClr val="FF0000"/>
                </a:solidFill>
              </a:rPr>
              <a:t>——</a:t>
            </a:r>
            <a:r>
              <a:rPr lang="zh-CN" altLang="en-US" sz="2800" b="1" dirty="0">
                <a:solidFill>
                  <a:srgbClr val="FF0000"/>
                </a:solidFill>
              </a:rPr>
              <a:t>整数、浮点数、复数和有理数</a:t>
            </a:r>
            <a:br>
              <a:rPr lang="zh-CN" altLang="en-US" sz="2800" b="1" kern="0" dirty="0">
                <a:solidFill>
                  <a:srgbClr val="FF0000"/>
                </a:solidFill>
              </a:rPr>
            </a:br>
            <a:endParaRPr lang="zh-CN" altLang="en-US" sz="2800" b="1" dirty="0"/>
          </a:p>
        </p:txBody>
      </p:sp>
      <p:sp>
        <p:nvSpPr>
          <p:cNvPr id="5" name="矩形 4">
            <a:extLst>
              <a:ext uri="{FF2B5EF4-FFF2-40B4-BE49-F238E27FC236}">
                <a16:creationId xmlns:a16="http://schemas.microsoft.com/office/drawing/2014/main" id="{EDF0C3D8-2408-4CB7-B11D-3E67B284D1BB}"/>
              </a:ext>
            </a:extLst>
          </p:cNvPr>
          <p:cNvSpPr/>
          <p:nvPr/>
        </p:nvSpPr>
        <p:spPr>
          <a:xfrm>
            <a:off x="93216" y="2075516"/>
            <a:ext cx="8957567" cy="1613647"/>
          </a:xfrm>
          <a:prstGeom prst="rect">
            <a:avLst/>
          </a:prstGeom>
          <a:noFill/>
          <a:ln>
            <a:solidFill>
              <a:schemeClr val="bg1">
                <a:lumMod val="50000"/>
              </a:schemeClr>
            </a:solidFill>
          </a:ln>
        </p:spPr>
        <p:txBody>
          <a:bodyPr wrap="square">
            <a:spAutoFit/>
          </a:bodyPr>
          <a:lstStyle/>
          <a:p>
            <a:pPr marL="342900" indent="-342900">
              <a:lnSpc>
                <a:spcPts val="4100"/>
              </a:lnSpc>
              <a:buFont typeface="Wingdings" panose="05000000000000000000" pitchFamily="2" charset="2"/>
              <a:buChar char="Ø"/>
            </a:pPr>
            <a:r>
              <a:rPr lang="zh-CN" altLang="en-US" sz="2200" b="1" dirty="0">
                <a:solidFill>
                  <a:srgbClr val="0070C0"/>
                </a:solidFill>
                <a:latin typeface="等线 Light" panose="02010600030101010101" pitchFamily="2" charset="-122"/>
                <a:ea typeface="等线 Light" panose="02010600030101010101" pitchFamily="2" charset="-122"/>
              </a:rPr>
              <a:t>整数和浮点值是数学计算的基础</a:t>
            </a:r>
            <a:endParaRPr lang="en-US" altLang="zh-CN" sz="2200" b="1" dirty="0">
              <a:solidFill>
                <a:srgbClr val="0070C0"/>
              </a:solidFill>
              <a:latin typeface="等线 Light" panose="02010600030101010101" pitchFamily="2" charset="-122"/>
              <a:ea typeface="等线 Light" panose="02010600030101010101" pitchFamily="2" charset="-122"/>
            </a:endParaRPr>
          </a:p>
          <a:p>
            <a:pPr marL="342900" indent="-342900">
              <a:lnSpc>
                <a:spcPts val="4100"/>
              </a:lnSpc>
              <a:buFont typeface="Wingdings" panose="05000000000000000000" pitchFamily="2" charset="2"/>
              <a:buChar char="Ø"/>
            </a:pPr>
            <a:r>
              <a:rPr lang="zh-CN" altLang="en-US" sz="2200" b="1" dirty="0">
                <a:solidFill>
                  <a:srgbClr val="0070C0"/>
                </a:solidFill>
                <a:latin typeface="等线 Light" panose="02010600030101010101" pitchFamily="2" charset="-122"/>
                <a:ea typeface="等线 Light" panose="02010600030101010101" pitchFamily="2" charset="-122"/>
              </a:rPr>
              <a:t>整数和浮点数进行标量运算、数组运算</a:t>
            </a:r>
            <a:r>
              <a:rPr lang="en-US" altLang="zh-CN" sz="2200" b="1" dirty="0">
                <a:solidFill>
                  <a:srgbClr val="0070C0"/>
                </a:solidFill>
                <a:latin typeface="等线 Light" panose="02010600030101010101" pitchFamily="2" charset="-122"/>
                <a:ea typeface="等线 Light" panose="02010600030101010101" pitchFamily="2" charset="-122"/>
              </a:rPr>
              <a:t>(</a:t>
            </a:r>
            <a:r>
              <a:rPr lang="zh-CN" altLang="en-US" sz="2200" b="1" dirty="0">
                <a:solidFill>
                  <a:srgbClr val="0070C0"/>
                </a:solidFill>
                <a:latin typeface="等线 Light" panose="02010600030101010101" pitchFamily="2" charset="-122"/>
                <a:ea typeface="等线 Light" panose="02010600030101010101" pitchFamily="2" charset="-122"/>
              </a:rPr>
              <a:t>点运算</a:t>
            </a:r>
            <a:r>
              <a:rPr lang="en-US" altLang="zh-CN" sz="2200" b="1" dirty="0">
                <a:solidFill>
                  <a:srgbClr val="0070C0"/>
                </a:solidFill>
                <a:latin typeface="等线 Light" panose="02010600030101010101" pitchFamily="2" charset="-122"/>
                <a:ea typeface="等线 Light" panose="02010600030101010101" pitchFamily="2" charset="-122"/>
              </a:rPr>
              <a:t>)</a:t>
            </a:r>
            <a:r>
              <a:rPr lang="zh-CN" altLang="en-US" sz="2200" b="1" dirty="0">
                <a:solidFill>
                  <a:srgbClr val="0070C0"/>
                </a:solidFill>
                <a:latin typeface="等线 Light" panose="02010600030101010101" pitchFamily="2" charset="-122"/>
                <a:ea typeface="等线 Light" panose="02010600030101010101" pitchFamily="2" charset="-122"/>
              </a:rPr>
              <a:t>和矩阵运算</a:t>
            </a:r>
            <a:r>
              <a:rPr lang="en-US" altLang="zh-CN" sz="2200" b="1" dirty="0">
                <a:solidFill>
                  <a:srgbClr val="0070C0"/>
                </a:solidFill>
                <a:latin typeface="等线 Light" panose="02010600030101010101" pitchFamily="2" charset="-122"/>
                <a:ea typeface="等线 Light" panose="02010600030101010101" pitchFamily="2" charset="-122"/>
              </a:rPr>
              <a:t>(</a:t>
            </a:r>
            <a:r>
              <a:rPr lang="zh-CN" altLang="en-US" sz="2200" b="1" dirty="0">
                <a:solidFill>
                  <a:srgbClr val="0070C0"/>
                </a:solidFill>
                <a:latin typeface="等线 Light" panose="02010600030101010101" pitchFamily="2" charset="-122"/>
                <a:ea typeface="等线 Light" panose="02010600030101010101" pitchFamily="2" charset="-122"/>
              </a:rPr>
              <a:t>线性代数</a:t>
            </a:r>
            <a:r>
              <a:rPr lang="en-US" altLang="zh-CN" sz="2200" b="1" dirty="0">
                <a:solidFill>
                  <a:srgbClr val="0070C0"/>
                </a:solidFill>
                <a:latin typeface="等线 Light" panose="02010600030101010101" pitchFamily="2" charset="-122"/>
                <a:ea typeface="等线 Light" panose="02010600030101010101" pitchFamily="2" charset="-122"/>
              </a:rPr>
              <a:t>)</a:t>
            </a:r>
            <a:r>
              <a:rPr lang="zh-CN" altLang="en-US" sz="2200" b="1" dirty="0">
                <a:solidFill>
                  <a:srgbClr val="0070C0"/>
                </a:solidFill>
                <a:latin typeface="等线 Light" panose="02010600030101010101" pitchFamily="2" charset="-122"/>
                <a:ea typeface="等线 Light" panose="02010600030101010101" pitchFamily="2" charset="-122"/>
              </a:rPr>
              <a:t> </a:t>
            </a:r>
            <a:endParaRPr lang="en-US" altLang="zh-CN" sz="2200" b="1" dirty="0">
              <a:solidFill>
                <a:srgbClr val="0070C0"/>
              </a:solidFill>
              <a:latin typeface="等线 Light" panose="02010600030101010101" pitchFamily="2" charset="-122"/>
              <a:ea typeface="等线 Light" panose="02010600030101010101" pitchFamily="2" charset="-122"/>
            </a:endParaRPr>
          </a:p>
          <a:p>
            <a:pPr marL="342900" indent="-342900">
              <a:lnSpc>
                <a:spcPts val="4100"/>
              </a:lnSpc>
              <a:buFont typeface="Wingdings" panose="05000000000000000000" pitchFamily="2" charset="2"/>
              <a:buChar char="Ø"/>
            </a:pPr>
            <a:r>
              <a:rPr lang="zh-CN" altLang="en-US" sz="2200" b="1" dirty="0">
                <a:solidFill>
                  <a:srgbClr val="0070C0"/>
                </a:solidFill>
                <a:latin typeface="等线 Light" panose="02010600030101010101" pitchFamily="2" charset="-122"/>
                <a:ea typeface="等线 Light" panose="02010600030101010101" pitchFamily="2" charset="-122"/>
              </a:rPr>
              <a:t>复数和有理数计算是在整数和浮点数原始数据类型之上建立起来。</a:t>
            </a:r>
          </a:p>
        </p:txBody>
      </p:sp>
      <p:sp>
        <p:nvSpPr>
          <p:cNvPr id="8" name="矩形 1">
            <a:extLst>
              <a:ext uri="{FF2B5EF4-FFF2-40B4-BE49-F238E27FC236}">
                <a16:creationId xmlns:a16="http://schemas.microsoft.com/office/drawing/2014/main" id="{07ED9899-FB68-4D13-86DC-0BE3FA76EA63}"/>
              </a:ext>
            </a:extLst>
          </p:cNvPr>
          <p:cNvSpPr txBox="1">
            <a:spLocks noChangeArrowheads="1"/>
          </p:cNvSpPr>
          <p:nvPr/>
        </p:nvSpPr>
        <p:spPr bwMode="auto">
          <a:xfrm>
            <a:off x="539552" y="863693"/>
            <a:ext cx="8502358" cy="338554"/>
          </a:xfrm>
          <a:prstGeom prst="rect">
            <a:avLst/>
          </a:prstGeom>
          <a:solidFill>
            <a:schemeClr val="bg1"/>
          </a:solidFill>
          <a:ln w="9525">
            <a:noFill/>
            <a:miter lim="800000"/>
          </a:ln>
        </p:spPr>
        <p:txBody>
          <a:bodyPr vert="horz" wrap="square" lIns="91440" tIns="45720" rIns="91440" bIns="45720" rtlCol="0">
            <a:spAutoFit/>
          </a:bodyPr>
          <a:lstStyle/>
          <a:p>
            <a:pPr algn="dist" fontAlgn="auto">
              <a:spcBef>
                <a:spcPts val="0"/>
              </a:spcBef>
              <a:spcAft>
                <a:spcPts val="0"/>
              </a:spcAft>
            </a:pPr>
            <a:r>
              <a:rPr lang="zh-CN" altLang="en-US" sz="1600" b="1" i="0" dirty="0">
                <a:solidFill>
                  <a:srgbClr val="0070C0"/>
                </a:solidFill>
                <a:effectLst/>
                <a:latin typeface="微软雅黑" panose="020B0503020204020204" pitchFamily="34" charset="-122"/>
                <a:ea typeface="微软雅黑" panose="020B0503020204020204" pitchFamily="34" charset="-122"/>
              </a:rPr>
              <a:t>数据包括数值型、字符类型和逻辑型等类型，所有数据类型都是按照数组的形式存储和运算</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469719EF-9745-41AB-96A0-2B3F66E0D7BA}"/>
              </a:ext>
            </a:extLst>
          </p:cNvPr>
          <p:cNvSpPr txBox="1"/>
          <p:nvPr/>
        </p:nvSpPr>
        <p:spPr>
          <a:xfrm>
            <a:off x="5788497" y="3982942"/>
            <a:ext cx="3204356" cy="461665"/>
          </a:xfrm>
          <a:prstGeom prst="rect">
            <a:avLst/>
          </a:prstGeom>
          <a:noFill/>
        </p:spPr>
        <p:txBody>
          <a:bodyPr wrap="square">
            <a:spAutoFit/>
          </a:bodyPr>
          <a:lstStyle>
            <a:defPPr>
              <a:defRPr lang="zh-CN"/>
            </a:defPPr>
            <a:lvl1pPr>
              <a:defRPr sz="2400" b="1" i="0">
                <a:solidFill>
                  <a:srgbClr val="0070C0"/>
                </a:solidFill>
                <a:effectLst/>
                <a:latin typeface="微软雅黑" panose="020B0503020204020204" pitchFamily="34" charset="-122"/>
                <a:ea typeface="微软雅黑" panose="020B0503020204020204" pitchFamily="34" charset="-122"/>
              </a:defRPr>
            </a:lvl1pPr>
          </a:lstStyle>
          <a:p>
            <a:pPr algn="dist"/>
            <a:r>
              <a:rPr lang="zh-CN" altLang="en-US" dirty="0"/>
              <a:t>是浮点型字面量</a:t>
            </a:r>
          </a:p>
        </p:txBody>
      </p:sp>
      <p:sp>
        <p:nvSpPr>
          <p:cNvPr id="7" name="AutoShape 13">
            <a:extLst>
              <a:ext uri="{FF2B5EF4-FFF2-40B4-BE49-F238E27FC236}">
                <a16:creationId xmlns:a16="http://schemas.microsoft.com/office/drawing/2014/main" id="{429663FA-516E-477B-9822-85B25BFA4695}"/>
              </a:ext>
            </a:extLst>
          </p:cNvPr>
          <p:cNvSpPr>
            <a:spLocks noChangeArrowheads="1"/>
          </p:cNvSpPr>
          <p:nvPr/>
        </p:nvSpPr>
        <p:spPr bwMode="auto">
          <a:xfrm rot="162022">
            <a:off x="170777" y="1328278"/>
            <a:ext cx="970099" cy="662303"/>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rgbClr val="FFFF00"/>
                </a:solidFill>
                <a:ea typeface="黑体" panose="02010609060101010101" pitchFamily="49" charset="-122"/>
              </a:rPr>
              <a:t>注意</a:t>
            </a:r>
          </a:p>
        </p:txBody>
      </p:sp>
      <p:sp>
        <p:nvSpPr>
          <p:cNvPr id="12" name="矩形 11">
            <a:extLst>
              <a:ext uri="{FF2B5EF4-FFF2-40B4-BE49-F238E27FC236}">
                <a16:creationId xmlns:a16="http://schemas.microsoft.com/office/drawing/2014/main" id="{71B4BAE3-88A0-42B5-B884-7D4C6F2DFDCD}"/>
              </a:ext>
            </a:extLst>
          </p:cNvPr>
          <p:cNvSpPr/>
          <p:nvPr/>
        </p:nvSpPr>
        <p:spPr>
          <a:xfrm>
            <a:off x="5222497" y="1419250"/>
            <a:ext cx="3819413" cy="399468"/>
          </a:xfrm>
          <a:prstGeom prst="rect">
            <a:avLst/>
          </a:prstGeom>
          <a:solidFill>
            <a:srgbClr val="0070C0"/>
          </a:solidFill>
          <a:ln w="12700" cap="flat" cmpd="sng" algn="ctr">
            <a:noFill/>
            <a:prstDash val="solid"/>
            <a:miter lim="800000"/>
          </a:ln>
          <a:effectLst>
            <a:glow rad="63500">
              <a:srgbClr val="5B9BD5">
                <a:satMod val="175000"/>
                <a:alpha val="40000"/>
              </a:srgbClr>
            </a:glow>
            <a:innerShdw blurRad="63500" dist="50800" dir="8100000">
              <a:prstClr val="black">
                <a:alpha val="50000"/>
              </a:prstClr>
            </a:innerShdw>
            <a:reflection blurRad="6350" stA="52000" endA="300" endPos="35000" dir="5400000" sy="-100000" algn="bl" rotWithShape="0"/>
            <a:softEdge rad="635000"/>
          </a:effectLst>
          <a:scene3d>
            <a:camera prst="orthographicFront">
              <a:rot lat="0" lon="0" rev="0"/>
            </a:camera>
            <a:lightRig rig="contrasting" dir="t">
              <a:rot lat="0" lon="0" rev="1500000"/>
            </a:lightRig>
          </a:scene3d>
          <a:sp3d prstMaterial="metal"/>
        </p:spPr>
        <p:txBody>
          <a:bodyPr wrap="square">
            <a:spAutoFit/>
          </a:bodyPr>
          <a:lstStyle/>
          <a:p>
            <a:pPr marL="0" marR="0" lvl="0" indent="0" algn="dist" defTabSz="914400" eaLnBrk="1" fontAlgn="auto" latinLnBrk="0" hangingPunct="1">
              <a:lnSpc>
                <a:spcPct val="90000"/>
              </a:lnSpc>
              <a:spcBef>
                <a:spcPts val="0"/>
              </a:spcBef>
              <a:spcAft>
                <a:spcPts val="0"/>
              </a:spcAft>
              <a:buClr>
                <a:prstClr val="black"/>
              </a:buClr>
              <a:buSzTx/>
              <a:buFontTx/>
              <a:buNone/>
              <a:tabLst/>
              <a:defRPr/>
            </a:pPr>
            <a:r>
              <a:rPr lang="zh-CN" altLang="en-US" sz="2200" kern="0" dirty="0">
                <a:solidFill>
                  <a:schemeClr val="bg1"/>
                </a:solidFill>
                <a:highlight>
                  <a:srgbClr val="3399FF"/>
                </a:highlight>
                <a:latin typeface="华文楷体" panose="02010600040101010101" pitchFamily="2" charset="-122"/>
                <a:ea typeface="华文楷体" panose="02010600040101010101" pitchFamily="2" charset="-122"/>
                <a:cs typeface="+mj-cs"/>
              </a:rPr>
              <a:t>计算表达式</a:t>
            </a:r>
            <a:r>
              <a:rPr lang="en-US" altLang="zh-CN" sz="2200" kern="0" dirty="0">
                <a:solidFill>
                  <a:schemeClr val="bg1"/>
                </a:solidFill>
                <a:highlight>
                  <a:srgbClr val="3399FF"/>
                </a:highlight>
                <a:latin typeface="华文楷体" panose="02010600040101010101" pitchFamily="2" charset="-122"/>
                <a:ea typeface="华文楷体" panose="02010600040101010101" pitchFamily="2" charset="-122"/>
                <a:cs typeface="+mj-cs"/>
              </a:rPr>
              <a:t>y=f(</a:t>
            </a:r>
            <a:r>
              <a:rPr lang="zh-CN" altLang="en-US" sz="2200" kern="0" dirty="0">
                <a:solidFill>
                  <a:schemeClr val="bg1"/>
                </a:solidFill>
                <a:highlight>
                  <a:srgbClr val="3399FF"/>
                </a:highlight>
                <a:latin typeface="华文楷体" panose="02010600040101010101" pitchFamily="2" charset="-122"/>
                <a:ea typeface="华文楷体" panose="02010600040101010101" pitchFamily="2" charset="-122"/>
                <a:cs typeface="+mj-cs"/>
              </a:rPr>
              <a:t>自变量</a:t>
            </a:r>
            <a:r>
              <a:rPr lang="en-US" altLang="zh-CN" sz="2200" kern="0" dirty="0">
                <a:solidFill>
                  <a:schemeClr val="bg1"/>
                </a:solidFill>
                <a:highlight>
                  <a:srgbClr val="3399FF"/>
                </a:highlight>
                <a:latin typeface="华文楷体" panose="02010600040101010101" pitchFamily="2" charset="-122"/>
                <a:ea typeface="华文楷体" panose="02010600040101010101" pitchFamily="2" charset="-122"/>
                <a:cs typeface="+mj-cs"/>
              </a:rPr>
              <a:t>x)</a:t>
            </a:r>
            <a:endParaRPr lang="zh-CN" altLang="en-US" sz="2200" kern="0" dirty="0">
              <a:solidFill>
                <a:schemeClr val="bg1"/>
              </a:solidFill>
              <a:highlight>
                <a:srgbClr val="3399FF"/>
              </a:highlight>
              <a:latin typeface="华文楷体" panose="02010600040101010101" pitchFamily="2" charset="-122"/>
              <a:ea typeface="华文楷体" panose="02010600040101010101" pitchFamily="2" charset="-122"/>
              <a:cs typeface="+mj-cs"/>
            </a:endParaRPr>
          </a:p>
        </p:txBody>
      </p:sp>
      <p:sp>
        <p:nvSpPr>
          <p:cNvPr id="14" name="文本框 13">
            <a:extLst>
              <a:ext uri="{FF2B5EF4-FFF2-40B4-BE49-F238E27FC236}">
                <a16:creationId xmlns:a16="http://schemas.microsoft.com/office/drawing/2014/main" id="{37D2CDBB-DC60-430D-A99D-48F0A9A276B3}"/>
              </a:ext>
            </a:extLst>
          </p:cNvPr>
          <p:cNvSpPr txBox="1"/>
          <p:nvPr/>
        </p:nvSpPr>
        <p:spPr>
          <a:xfrm>
            <a:off x="126099" y="3921387"/>
            <a:ext cx="2232248" cy="523220"/>
          </a:xfrm>
          <a:prstGeom prst="rect">
            <a:avLst/>
          </a:prstGeom>
          <a:noFill/>
        </p:spPr>
        <p:txBody>
          <a:bodyPr wrap="square">
            <a:spAutoFit/>
          </a:bodyPr>
          <a:lstStyle/>
          <a:p>
            <a:r>
              <a:rPr lang="zh-CN" altLang="en-US" sz="2800" b="1" kern="0" dirty="0">
                <a:solidFill>
                  <a:srgbClr val="00B0F0"/>
                </a:solidFill>
                <a:latin typeface="微软雅黑" panose="020B0503020204020204" pitchFamily="34" charset="-122"/>
                <a:ea typeface="微软雅黑" panose="020B0503020204020204" pitchFamily="34" charset="-122"/>
              </a:rPr>
              <a:t>数值字面量</a:t>
            </a:r>
            <a:endParaRPr lang="zh-CN" altLang="en-US" sz="2800" dirty="0">
              <a:solidFill>
                <a:srgbClr val="00B0F0"/>
              </a:solidFill>
            </a:endParaRPr>
          </a:p>
        </p:txBody>
      </p:sp>
      <p:sp>
        <p:nvSpPr>
          <p:cNvPr id="15" name="文本框 14">
            <a:extLst>
              <a:ext uri="{FF2B5EF4-FFF2-40B4-BE49-F238E27FC236}">
                <a16:creationId xmlns:a16="http://schemas.microsoft.com/office/drawing/2014/main" id="{FC6FCA48-BD88-4EFE-9CBF-76F7B17C552C}"/>
              </a:ext>
            </a:extLst>
          </p:cNvPr>
          <p:cNvSpPr txBox="1"/>
          <p:nvPr/>
        </p:nvSpPr>
        <p:spPr>
          <a:xfrm>
            <a:off x="2804839" y="3969216"/>
            <a:ext cx="2232248" cy="461665"/>
          </a:xfrm>
          <a:prstGeom prst="rect">
            <a:avLst/>
          </a:prstGeom>
          <a:noFill/>
        </p:spPr>
        <p:txBody>
          <a:bodyPr wrap="square">
            <a:spAutoFit/>
          </a:bodyPr>
          <a:lstStyle/>
          <a:p>
            <a:r>
              <a:rPr lang="zh-CN" altLang="en-US" sz="2400" b="1" i="0" dirty="0">
                <a:solidFill>
                  <a:srgbClr val="0070C0"/>
                </a:solidFill>
                <a:effectLst/>
                <a:latin typeface="微软雅黑" panose="020B0503020204020204" pitchFamily="34" charset="-122"/>
                <a:ea typeface="微软雅黑" panose="020B0503020204020204" pitchFamily="34" charset="-122"/>
              </a:rPr>
              <a:t>是整型字面量 </a:t>
            </a:r>
            <a:endParaRPr lang="zh-CN" altLang="en-US" sz="2400" dirty="0"/>
          </a:p>
        </p:txBody>
      </p:sp>
      <p:sp>
        <p:nvSpPr>
          <p:cNvPr id="16" name="矩形 15">
            <a:extLst>
              <a:ext uri="{FF2B5EF4-FFF2-40B4-BE49-F238E27FC236}">
                <a16:creationId xmlns:a16="http://schemas.microsoft.com/office/drawing/2014/main" id="{900F3B97-F426-476B-AFB4-F8A58B756B16}"/>
              </a:ext>
            </a:extLst>
          </p:cNvPr>
          <p:cNvSpPr/>
          <p:nvPr/>
        </p:nvSpPr>
        <p:spPr>
          <a:xfrm>
            <a:off x="7804035" y="2219700"/>
            <a:ext cx="1124449"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矩阵</a:t>
            </a:r>
            <a:r>
              <a:rPr lang="en-US" altLang="zh-CN" sz="1600" b="1" dirty="0">
                <a:solidFill>
                  <a:schemeClr val="bg1"/>
                </a:solidFill>
                <a:latin typeface="+mj-lt"/>
              </a:rPr>
              <a:t>m</a:t>
            </a:r>
            <a:r>
              <a:rPr lang="zh-CN" altLang="en-US" sz="1600" b="1" dirty="0">
                <a:solidFill>
                  <a:schemeClr val="bg1"/>
                </a:solidFill>
                <a:latin typeface="+mj-lt"/>
              </a:rPr>
              <a:t>*</a:t>
            </a:r>
            <a:r>
              <a:rPr lang="en-US" altLang="zh-CN" sz="1600" b="1" dirty="0">
                <a:solidFill>
                  <a:schemeClr val="bg1"/>
                </a:solidFill>
                <a:latin typeface="+mj-lt"/>
              </a:rPr>
              <a:t>n</a:t>
            </a:r>
            <a:endParaRPr lang="zh-CN" altLang="en-US" sz="1600" b="1" dirty="0">
              <a:solidFill>
                <a:schemeClr val="bg1"/>
              </a:solidFill>
              <a:latin typeface="+mj-lt"/>
            </a:endParaRPr>
          </a:p>
        </p:txBody>
      </p:sp>
      <p:sp>
        <p:nvSpPr>
          <p:cNvPr id="17" name="矩形 16">
            <a:extLst>
              <a:ext uri="{FF2B5EF4-FFF2-40B4-BE49-F238E27FC236}">
                <a16:creationId xmlns:a16="http://schemas.microsoft.com/office/drawing/2014/main" id="{48E441A6-3651-453B-A4BB-51BB3F1C6EF8}"/>
              </a:ext>
            </a:extLst>
          </p:cNvPr>
          <p:cNvSpPr/>
          <p:nvPr/>
        </p:nvSpPr>
        <p:spPr>
          <a:xfrm>
            <a:off x="6431857" y="2214585"/>
            <a:ext cx="1100516"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向量</a:t>
            </a:r>
            <a:r>
              <a:rPr lang="en-US" altLang="zh-CN" sz="1600" b="1" dirty="0">
                <a:solidFill>
                  <a:schemeClr val="bg1"/>
                </a:solidFill>
                <a:latin typeface="+mj-lt"/>
              </a:rPr>
              <a:t>1*n</a:t>
            </a:r>
            <a:endParaRPr lang="zh-CN" altLang="en-US" sz="1600" b="1" dirty="0">
              <a:solidFill>
                <a:schemeClr val="bg1"/>
              </a:solidFill>
              <a:latin typeface="+mj-lt"/>
            </a:endParaRPr>
          </a:p>
        </p:txBody>
      </p:sp>
      <p:sp>
        <p:nvSpPr>
          <p:cNvPr id="18" name="矩形 17">
            <a:extLst>
              <a:ext uri="{FF2B5EF4-FFF2-40B4-BE49-F238E27FC236}">
                <a16:creationId xmlns:a16="http://schemas.microsoft.com/office/drawing/2014/main" id="{93FA3389-32B2-4BB8-893F-2B9548FAFD04}"/>
              </a:ext>
            </a:extLst>
          </p:cNvPr>
          <p:cNvSpPr/>
          <p:nvPr/>
        </p:nvSpPr>
        <p:spPr>
          <a:xfrm>
            <a:off x="5059679" y="2219700"/>
            <a:ext cx="1100516"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标量</a:t>
            </a:r>
            <a:r>
              <a:rPr lang="en-US" altLang="zh-CN" sz="1600" b="1" dirty="0">
                <a:solidFill>
                  <a:schemeClr val="bg1"/>
                </a:solidFill>
                <a:latin typeface="+mj-lt"/>
              </a:rPr>
              <a:t>1*1</a:t>
            </a:r>
            <a:endParaRPr lang="zh-CN" altLang="en-US" sz="1600" b="1" dirty="0">
              <a:solidFill>
                <a:schemeClr val="bg1"/>
              </a:solidFill>
              <a:latin typeface="+mj-lt"/>
            </a:endParaRPr>
          </a:p>
        </p:txBody>
      </p:sp>
      <p:sp>
        <p:nvSpPr>
          <p:cNvPr id="19" name="文本框 18">
            <a:extLst>
              <a:ext uri="{FF2B5EF4-FFF2-40B4-BE49-F238E27FC236}">
                <a16:creationId xmlns:a16="http://schemas.microsoft.com/office/drawing/2014/main" id="{AF4241BA-BC89-4D06-855B-457F2ECFEE50}"/>
              </a:ext>
            </a:extLst>
          </p:cNvPr>
          <p:cNvSpPr txBox="1"/>
          <p:nvPr/>
        </p:nvSpPr>
        <p:spPr>
          <a:xfrm>
            <a:off x="2493636" y="3979749"/>
            <a:ext cx="522124" cy="461665"/>
          </a:xfrm>
          <a:prstGeom prst="rect">
            <a:avLst/>
          </a:prstGeom>
          <a:noFill/>
        </p:spPr>
        <p:txBody>
          <a:bodyPr wrap="square">
            <a:spAutoFit/>
          </a:bodyPr>
          <a:lstStyle/>
          <a:p>
            <a:r>
              <a:rPr lang="en-US" altLang="zh-CN" sz="2400" b="1" i="0" dirty="0">
                <a:solidFill>
                  <a:srgbClr val="0070C0"/>
                </a:solidFill>
                <a:effectLst/>
                <a:latin typeface="微软雅黑" panose="020B0503020204020204" pitchFamily="34" charset="-122"/>
                <a:ea typeface="微软雅黑" panose="020B0503020204020204" pitchFamily="34" charset="-122"/>
              </a:rPr>
              <a:t>1</a:t>
            </a:r>
            <a:endParaRPr lang="zh-CN" altLang="en-US" sz="2400" dirty="0"/>
          </a:p>
        </p:txBody>
      </p:sp>
      <p:sp>
        <p:nvSpPr>
          <p:cNvPr id="20" name="文本框 19">
            <a:extLst>
              <a:ext uri="{FF2B5EF4-FFF2-40B4-BE49-F238E27FC236}">
                <a16:creationId xmlns:a16="http://schemas.microsoft.com/office/drawing/2014/main" id="{8E51E174-16B8-48D4-9D99-8B4B23F0859C}"/>
              </a:ext>
            </a:extLst>
          </p:cNvPr>
          <p:cNvSpPr txBox="1"/>
          <p:nvPr/>
        </p:nvSpPr>
        <p:spPr>
          <a:xfrm>
            <a:off x="5174663" y="4006265"/>
            <a:ext cx="870548" cy="461665"/>
          </a:xfrm>
          <a:prstGeom prst="rect">
            <a:avLst/>
          </a:prstGeom>
          <a:noFill/>
        </p:spPr>
        <p:txBody>
          <a:bodyPr wrap="square">
            <a:spAutoFit/>
          </a:bodyPr>
          <a:lstStyle>
            <a:defPPr>
              <a:defRPr lang="zh-CN"/>
            </a:defPPr>
            <a:lvl1pPr>
              <a:defRPr sz="1800" b="1" i="0">
                <a:solidFill>
                  <a:srgbClr val="0070C0"/>
                </a:solidFill>
                <a:effectLst/>
                <a:latin typeface="微软雅黑" panose="020B0503020204020204" pitchFamily="34" charset="-122"/>
                <a:ea typeface="微软雅黑" panose="020B0503020204020204" pitchFamily="34" charset="-122"/>
              </a:defRPr>
            </a:lvl1pPr>
          </a:lstStyle>
          <a:p>
            <a:r>
              <a:rPr lang="en-US" altLang="zh-CN" sz="2400" dirty="0"/>
              <a:t>1.0</a:t>
            </a:r>
            <a:endParaRPr lang="zh-CN" altLang="en-US" sz="2400" dirty="0"/>
          </a:p>
        </p:txBody>
      </p:sp>
      <p:sp>
        <p:nvSpPr>
          <p:cNvPr id="21" name="文本框 20">
            <a:extLst>
              <a:ext uri="{FF2B5EF4-FFF2-40B4-BE49-F238E27FC236}">
                <a16:creationId xmlns:a16="http://schemas.microsoft.com/office/drawing/2014/main" id="{F10EDCB7-5113-403C-9F3A-3786B80A9D43}"/>
              </a:ext>
            </a:extLst>
          </p:cNvPr>
          <p:cNvSpPr txBox="1"/>
          <p:nvPr/>
        </p:nvSpPr>
        <p:spPr>
          <a:xfrm>
            <a:off x="1125917" y="1384820"/>
            <a:ext cx="4096579" cy="400110"/>
          </a:xfrm>
          <a:prstGeom prst="rect">
            <a:avLst/>
          </a:prstGeom>
          <a:noFill/>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数值型数据是科学计算的基本数据</a:t>
            </a:r>
          </a:p>
        </p:txBody>
      </p:sp>
    </p:spTree>
    <p:extLst>
      <p:ext uri="{BB962C8B-B14F-4D97-AF65-F5344CB8AC3E}">
        <p14:creationId xmlns:p14="http://schemas.microsoft.com/office/powerpoint/2010/main" val="15139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1847E50A-873A-441D-86A9-C60088A35254}"/>
              </a:ext>
            </a:extLst>
          </p:cNvPr>
          <p:cNvPicPr>
            <a:picLocks noChangeAspect="1"/>
          </p:cNvPicPr>
          <p:nvPr/>
        </p:nvPicPr>
        <p:blipFill rotWithShape="1">
          <a:blip r:embed="rId3"/>
          <a:srcRect l="17609" t="6769" r="38723" b="4788"/>
          <a:stretch/>
        </p:blipFill>
        <p:spPr>
          <a:xfrm rot="16200000">
            <a:off x="3059260" y="-1250426"/>
            <a:ext cx="3163173" cy="8503268"/>
          </a:xfrm>
          <a:prstGeom prst="rect">
            <a:avLst/>
          </a:prstGeom>
          <a:solidFill>
            <a:srgbClr val="C00000"/>
          </a:solidFill>
          <a:ln>
            <a:solidFill>
              <a:schemeClr val="tx1">
                <a:lumMod val="75000"/>
                <a:lumOff val="25000"/>
              </a:schemeClr>
            </a:solidFill>
          </a:ln>
        </p:spPr>
      </p:pic>
      <p:sp>
        <p:nvSpPr>
          <p:cNvPr id="5" name="Text Box 34"/>
          <p:cNvSpPr txBox="1">
            <a:spLocks noChangeArrowheads="1"/>
          </p:cNvSpPr>
          <p:nvPr/>
        </p:nvSpPr>
        <p:spPr bwMode="auto">
          <a:xfrm>
            <a:off x="4164857" y="1707654"/>
            <a:ext cx="1232204" cy="307775"/>
          </a:xfrm>
          <a:prstGeom prst="rect">
            <a:avLst/>
          </a:prstGeom>
          <a:solidFill>
            <a:schemeClr val="bg1"/>
          </a:solidFill>
          <a:ln>
            <a:noFill/>
          </a:ln>
          <a:effectLst/>
        </p:spPr>
        <p:txBody>
          <a:bodyPr wrap="square" lIns="91438" tIns="45719" rIns="91438" bIns="45719">
            <a:spAutoFit/>
          </a:bodyPr>
          <a:lstStyle/>
          <a:p>
            <a:pPr algn="dist">
              <a:spcBef>
                <a:spcPct val="50000"/>
              </a:spcBef>
            </a:pPr>
            <a:r>
              <a:rPr lang="zh-CN" altLang="en-US" sz="1400" b="1" dirty="0">
                <a:solidFill>
                  <a:srgbClr val="FF0000"/>
                </a:solidFill>
                <a:latin typeface="微软雅黑" panose="020B0503020204020204" pitchFamily="34" charset="-122"/>
                <a:ea typeface="微软雅黑" panose="020B0503020204020204" pitchFamily="34" charset="-122"/>
              </a:rPr>
              <a:t>二进制位数</a:t>
            </a:r>
          </a:p>
        </p:txBody>
      </p:sp>
      <p:sp>
        <p:nvSpPr>
          <p:cNvPr id="6" name="矩形 5"/>
          <p:cNvSpPr/>
          <p:nvPr/>
        </p:nvSpPr>
        <p:spPr>
          <a:xfrm>
            <a:off x="5308297" y="1779662"/>
            <a:ext cx="373816" cy="338552"/>
          </a:xfrm>
          <a:prstGeom prst="rect">
            <a:avLst/>
          </a:prstGeom>
          <a:noFill/>
        </p:spPr>
        <p:txBody>
          <a:bodyPr wrap="none" lIns="91438" tIns="45719" rIns="91438" bIns="45719">
            <a:spAutoFit/>
          </a:bodyPr>
          <a:lstStyle/>
          <a:p>
            <a:r>
              <a:rPr lang="en-US" altLang="zh-CN" sz="1600" b="1" dirty="0">
                <a:solidFill>
                  <a:srgbClr val="FFFF00"/>
                </a:solidFill>
                <a:highlight>
                  <a:srgbClr val="FF0000"/>
                </a:highlight>
              </a:rPr>
              <a:t>2</a:t>
            </a:r>
            <a:r>
              <a:rPr lang="en-US" altLang="zh-CN" sz="1600" b="1" baseline="30000" dirty="0">
                <a:solidFill>
                  <a:srgbClr val="FFFF00"/>
                </a:solidFill>
                <a:highlight>
                  <a:srgbClr val="FF0000"/>
                </a:highlight>
              </a:rPr>
              <a:t>8</a:t>
            </a:r>
            <a:endParaRPr lang="zh-CN" altLang="en-US" sz="1600" b="1" baseline="30000" dirty="0">
              <a:solidFill>
                <a:srgbClr val="FFFF00"/>
              </a:solidFill>
              <a:highlight>
                <a:srgbClr val="FF0000"/>
              </a:highlight>
            </a:endParaRPr>
          </a:p>
        </p:txBody>
      </p:sp>
      <p:sp>
        <p:nvSpPr>
          <p:cNvPr id="7" name="矩形 6"/>
          <p:cNvSpPr/>
          <p:nvPr/>
        </p:nvSpPr>
        <p:spPr>
          <a:xfrm>
            <a:off x="5282562" y="2315876"/>
            <a:ext cx="449158" cy="338552"/>
          </a:xfrm>
          <a:prstGeom prst="rect">
            <a:avLst/>
          </a:prstGeom>
          <a:noFill/>
        </p:spPr>
        <p:txBody>
          <a:bodyPr wrap="none" lIns="91438" tIns="45719" rIns="91438" bIns="45719">
            <a:spAutoFit/>
          </a:bodyPr>
          <a:lstStyle/>
          <a:p>
            <a:r>
              <a:rPr lang="en-US" altLang="zh-CN" sz="1600" b="1" dirty="0">
                <a:solidFill>
                  <a:srgbClr val="FFFF00"/>
                </a:solidFill>
                <a:highlight>
                  <a:srgbClr val="FF0000"/>
                </a:highlight>
              </a:rPr>
              <a:t>2</a:t>
            </a:r>
            <a:r>
              <a:rPr lang="en-US" altLang="zh-CN" sz="1600" b="1" baseline="30000" dirty="0">
                <a:solidFill>
                  <a:srgbClr val="FFFF00"/>
                </a:solidFill>
                <a:highlight>
                  <a:srgbClr val="FF0000"/>
                </a:highlight>
              </a:rPr>
              <a:t>16</a:t>
            </a:r>
            <a:endParaRPr lang="zh-CN" altLang="en-US" sz="1600" b="1" baseline="30000" dirty="0">
              <a:solidFill>
                <a:srgbClr val="FFFF00"/>
              </a:solidFill>
              <a:highlight>
                <a:srgbClr val="FF0000"/>
              </a:highlight>
            </a:endParaRPr>
          </a:p>
        </p:txBody>
      </p:sp>
      <p:sp>
        <p:nvSpPr>
          <p:cNvPr id="8" name="矩形 7"/>
          <p:cNvSpPr/>
          <p:nvPr/>
        </p:nvSpPr>
        <p:spPr>
          <a:xfrm>
            <a:off x="5311387" y="2949978"/>
            <a:ext cx="449158" cy="338552"/>
          </a:xfrm>
          <a:prstGeom prst="rect">
            <a:avLst/>
          </a:prstGeom>
          <a:noFill/>
        </p:spPr>
        <p:txBody>
          <a:bodyPr wrap="none" lIns="91438" tIns="45719" rIns="91438" bIns="45719">
            <a:spAutoFit/>
          </a:bodyPr>
          <a:lstStyle/>
          <a:p>
            <a:r>
              <a:rPr lang="en-US" altLang="zh-CN" sz="1600" b="1" dirty="0">
                <a:solidFill>
                  <a:srgbClr val="FFFF00"/>
                </a:solidFill>
                <a:highlight>
                  <a:srgbClr val="FF0000"/>
                </a:highlight>
              </a:rPr>
              <a:t>2</a:t>
            </a:r>
            <a:r>
              <a:rPr lang="en-US" altLang="zh-CN" sz="1600" b="1" baseline="30000" dirty="0">
                <a:solidFill>
                  <a:srgbClr val="FFFF00"/>
                </a:solidFill>
                <a:highlight>
                  <a:srgbClr val="FF0000"/>
                </a:highlight>
              </a:rPr>
              <a:t>32</a:t>
            </a:r>
            <a:endParaRPr lang="zh-CN" altLang="en-US" sz="1600" b="1" baseline="30000" dirty="0">
              <a:solidFill>
                <a:srgbClr val="FFFF00"/>
              </a:solidFill>
              <a:highlight>
                <a:srgbClr val="FF0000"/>
              </a:highlight>
            </a:endParaRPr>
          </a:p>
        </p:txBody>
      </p:sp>
      <p:sp>
        <p:nvSpPr>
          <p:cNvPr id="9" name="矩形 8"/>
          <p:cNvSpPr/>
          <p:nvPr/>
        </p:nvSpPr>
        <p:spPr>
          <a:xfrm>
            <a:off x="5292476" y="3486364"/>
            <a:ext cx="449158" cy="338552"/>
          </a:xfrm>
          <a:prstGeom prst="rect">
            <a:avLst/>
          </a:prstGeom>
          <a:noFill/>
        </p:spPr>
        <p:txBody>
          <a:bodyPr wrap="none" lIns="91438" tIns="45719" rIns="91438" bIns="45719">
            <a:spAutoFit/>
          </a:bodyPr>
          <a:lstStyle/>
          <a:p>
            <a:r>
              <a:rPr lang="en-US" altLang="zh-CN" sz="1600" b="1" dirty="0">
                <a:solidFill>
                  <a:srgbClr val="FFFF00"/>
                </a:solidFill>
                <a:highlight>
                  <a:srgbClr val="FF0000"/>
                </a:highlight>
              </a:rPr>
              <a:t>2</a:t>
            </a:r>
            <a:r>
              <a:rPr lang="en-US" altLang="zh-CN" sz="1600" b="1" baseline="30000" dirty="0">
                <a:solidFill>
                  <a:srgbClr val="FFFF00"/>
                </a:solidFill>
                <a:highlight>
                  <a:srgbClr val="FF0000"/>
                </a:highlight>
              </a:rPr>
              <a:t>64</a:t>
            </a:r>
            <a:endParaRPr lang="zh-CN" altLang="en-US" sz="1600" b="1" baseline="30000" dirty="0">
              <a:solidFill>
                <a:srgbClr val="FFFF00"/>
              </a:solidFill>
              <a:highlight>
                <a:srgbClr val="FF0000"/>
              </a:highlight>
            </a:endParaRPr>
          </a:p>
        </p:txBody>
      </p:sp>
      <p:sp>
        <p:nvSpPr>
          <p:cNvPr id="10" name="矩形 9"/>
          <p:cNvSpPr/>
          <p:nvPr/>
        </p:nvSpPr>
        <p:spPr>
          <a:xfrm>
            <a:off x="5271637" y="3995966"/>
            <a:ext cx="524499" cy="338552"/>
          </a:xfrm>
          <a:prstGeom prst="rect">
            <a:avLst/>
          </a:prstGeom>
          <a:noFill/>
        </p:spPr>
        <p:txBody>
          <a:bodyPr wrap="none" lIns="91438" tIns="45719" rIns="91438" bIns="45719">
            <a:spAutoFit/>
          </a:bodyPr>
          <a:lstStyle/>
          <a:p>
            <a:r>
              <a:rPr lang="en-US" altLang="zh-CN" sz="1600" b="1" dirty="0">
                <a:solidFill>
                  <a:srgbClr val="FFFF00"/>
                </a:solidFill>
                <a:highlight>
                  <a:srgbClr val="FF0000"/>
                </a:highlight>
              </a:rPr>
              <a:t>2</a:t>
            </a:r>
            <a:r>
              <a:rPr lang="en-US" altLang="zh-CN" sz="1600" b="1" baseline="30000" dirty="0">
                <a:solidFill>
                  <a:srgbClr val="FFFF00"/>
                </a:solidFill>
                <a:highlight>
                  <a:srgbClr val="FF0000"/>
                </a:highlight>
              </a:rPr>
              <a:t>128</a:t>
            </a:r>
            <a:endParaRPr lang="zh-CN" altLang="en-US" sz="1600" b="1" baseline="30000" dirty="0">
              <a:solidFill>
                <a:srgbClr val="FFFF00"/>
              </a:solidFill>
              <a:highlight>
                <a:srgbClr val="FF0000"/>
              </a:highlight>
            </a:endParaRPr>
          </a:p>
        </p:txBody>
      </p:sp>
      <p:sp>
        <p:nvSpPr>
          <p:cNvPr id="21" name="文本框 20">
            <a:extLst>
              <a:ext uri="{FF2B5EF4-FFF2-40B4-BE49-F238E27FC236}">
                <a16:creationId xmlns:a16="http://schemas.microsoft.com/office/drawing/2014/main" id="{6A6C87F0-915C-4643-98CB-73A83ABB36DB}"/>
              </a:ext>
            </a:extLst>
          </p:cNvPr>
          <p:cNvSpPr txBox="1"/>
          <p:nvPr/>
        </p:nvSpPr>
        <p:spPr>
          <a:xfrm>
            <a:off x="6384861" y="1635646"/>
            <a:ext cx="1050047" cy="338554"/>
          </a:xfrm>
          <a:prstGeom prst="rect">
            <a:avLst/>
          </a:prstGeom>
          <a:noFill/>
        </p:spPr>
        <p:txBody>
          <a:bodyPr wrap="square">
            <a:spAutoFit/>
          </a:bodyPr>
          <a:lstStyle/>
          <a:p>
            <a:r>
              <a:rPr lang="en-US" altLang="zh-CN" sz="1600" b="1" dirty="0">
                <a:solidFill>
                  <a:srgbClr val="FF0000"/>
                </a:solidFill>
              </a:rPr>
              <a:t>-</a:t>
            </a:r>
            <a:r>
              <a:rPr lang="zh-CN" altLang="en-US" sz="1600" b="1" dirty="0">
                <a:solidFill>
                  <a:srgbClr val="FF0000"/>
                </a:solidFill>
              </a:rPr>
              <a:t>128</a:t>
            </a:r>
          </a:p>
        </p:txBody>
      </p:sp>
      <p:sp>
        <p:nvSpPr>
          <p:cNvPr id="22" name="文本框 21">
            <a:extLst>
              <a:ext uri="{FF2B5EF4-FFF2-40B4-BE49-F238E27FC236}">
                <a16:creationId xmlns:a16="http://schemas.microsoft.com/office/drawing/2014/main" id="{483FF0F9-5492-42AB-9EC0-9200EE8A8EA2}"/>
              </a:ext>
            </a:extLst>
          </p:cNvPr>
          <p:cNvSpPr txBox="1"/>
          <p:nvPr/>
        </p:nvSpPr>
        <p:spPr>
          <a:xfrm>
            <a:off x="7816226" y="1653895"/>
            <a:ext cx="615022" cy="338554"/>
          </a:xfrm>
          <a:prstGeom prst="rect">
            <a:avLst/>
          </a:prstGeom>
          <a:noFill/>
        </p:spPr>
        <p:txBody>
          <a:bodyPr wrap="square">
            <a:spAutoFit/>
          </a:bodyPr>
          <a:lstStyle/>
          <a:p>
            <a:r>
              <a:rPr lang="zh-CN" altLang="en-US" sz="1600" b="1" dirty="0">
                <a:solidFill>
                  <a:srgbClr val="FF0000"/>
                </a:solidFill>
              </a:rPr>
              <a:t>12</a:t>
            </a:r>
            <a:r>
              <a:rPr lang="en-US" altLang="zh-CN" sz="1600" b="1" dirty="0">
                <a:solidFill>
                  <a:srgbClr val="FF0000"/>
                </a:solidFill>
              </a:rPr>
              <a:t>7</a:t>
            </a:r>
            <a:endParaRPr lang="zh-CN" altLang="en-US" sz="1600" b="1" dirty="0">
              <a:solidFill>
                <a:srgbClr val="FF0000"/>
              </a:solidFill>
            </a:endParaRPr>
          </a:p>
        </p:txBody>
      </p:sp>
      <p:sp>
        <p:nvSpPr>
          <p:cNvPr id="23" name="矩形 22">
            <a:extLst>
              <a:ext uri="{FF2B5EF4-FFF2-40B4-BE49-F238E27FC236}">
                <a16:creationId xmlns:a16="http://schemas.microsoft.com/office/drawing/2014/main" id="{3858B11C-AC1E-45EF-87B6-DA03EFC068B4}"/>
              </a:ext>
            </a:extLst>
          </p:cNvPr>
          <p:cNvSpPr/>
          <p:nvPr/>
        </p:nvSpPr>
        <p:spPr>
          <a:xfrm>
            <a:off x="280881" y="4654804"/>
            <a:ext cx="8747334" cy="338554"/>
          </a:xfrm>
          <a:prstGeom prst="rect">
            <a:avLst/>
          </a:prstGeom>
          <a:solidFill>
            <a:schemeClr val="bg1"/>
          </a:solidFill>
        </p:spPr>
        <p:txBody>
          <a:bodyPr wrap="square">
            <a:spAutoFit/>
          </a:bodyPr>
          <a:lstStyle/>
          <a:p>
            <a:pPr lvl="0" algn="dist">
              <a:spcBef>
                <a:spcPct val="30000"/>
              </a:spcBef>
              <a:defRPr/>
            </a:pPr>
            <a:r>
              <a:rPr lang="en-US" altLang="zh-CN" sz="1600" b="1" dirty="0">
                <a:solidFill>
                  <a:srgbClr val="0070C0"/>
                </a:solidFill>
                <a:latin typeface="微软雅黑" panose="020B0503020204020204" pitchFamily="34" charset="-122"/>
                <a:ea typeface="微软雅黑" panose="020B0503020204020204" pitchFamily="34" charset="-122"/>
              </a:rPr>
              <a:t>10</a:t>
            </a:r>
            <a:r>
              <a:rPr lang="zh-CN" altLang="en-US" sz="1600" b="1" dirty="0">
                <a:solidFill>
                  <a:srgbClr val="0070C0"/>
                </a:solidFill>
                <a:latin typeface="微软雅黑" panose="020B0503020204020204" pitchFamily="34" charset="-122"/>
                <a:ea typeface="微软雅黑" panose="020B0503020204020204" pitchFamily="34" charset="-122"/>
              </a:rPr>
              <a:t>种整数，数据类型不同</a:t>
            </a:r>
            <a:r>
              <a:rPr lang="en-US" altLang="zh-CN" sz="1600" b="1" dirty="0">
                <a:solidFill>
                  <a:srgbClr val="0070C0"/>
                </a:solidFill>
                <a:latin typeface="微软雅黑" panose="020B0503020204020204" pitchFamily="34" charset="-122"/>
                <a:ea typeface="微软雅黑" panose="020B0503020204020204" pitchFamily="34" charset="-122"/>
              </a:rPr>
              <a:t>,</a:t>
            </a:r>
            <a:r>
              <a:rPr lang="zh-CN" altLang="en-US" sz="1600" b="1" dirty="0">
                <a:solidFill>
                  <a:srgbClr val="0070C0"/>
                </a:solidFill>
                <a:latin typeface="微软雅黑" panose="020B0503020204020204" pitchFamily="34" charset="-122"/>
                <a:ea typeface="微软雅黑" panose="020B0503020204020204" pitchFamily="34" charset="-122"/>
              </a:rPr>
              <a:t>系统给变量分配内存空间大小不同，从而数据大小的范围也各不相同</a:t>
            </a:r>
          </a:p>
        </p:txBody>
      </p:sp>
      <p:sp>
        <p:nvSpPr>
          <p:cNvPr id="31" name="文本框 30">
            <a:extLst>
              <a:ext uri="{FF2B5EF4-FFF2-40B4-BE49-F238E27FC236}">
                <a16:creationId xmlns:a16="http://schemas.microsoft.com/office/drawing/2014/main" id="{E06FA8BF-0DFF-4CB4-8952-F07BC5650225}"/>
              </a:ext>
            </a:extLst>
          </p:cNvPr>
          <p:cNvSpPr txBox="1"/>
          <p:nvPr/>
        </p:nvSpPr>
        <p:spPr>
          <a:xfrm>
            <a:off x="7832478" y="2283642"/>
            <a:ext cx="560507" cy="338554"/>
          </a:xfrm>
          <a:prstGeom prst="rect">
            <a:avLst/>
          </a:prstGeom>
          <a:noFill/>
        </p:spPr>
        <p:txBody>
          <a:bodyPr wrap="square">
            <a:spAutoFit/>
          </a:bodyPr>
          <a:lstStyle/>
          <a:p>
            <a:r>
              <a:rPr lang="en-US" altLang="zh-CN" sz="1600" b="1" dirty="0">
                <a:solidFill>
                  <a:srgbClr val="FF0000"/>
                </a:solidFill>
              </a:rPr>
              <a:t>255</a:t>
            </a:r>
            <a:endParaRPr lang="zh-CN" altLang="en-US" sz="1600" b="1" dirty="0">
              <a:solidFill>
                <a:srgbClr val="FF0000"/>
              </a:solidFill>
            </a:endParaRPr>
          </a:p>
        </p:txBody>
      </p:sp>
      <p:sp>
        <p:nvSpPr>
          <p:cNvPr id="36" name="文本框 35">
            <a:extLst>
              <a:ext uri="{FF2B5EF4-FFF2-40B4-BE49-F238E27FC236}">
                <a16:creationId xmlns:a16="http://schemas.microsoft.com/office/drawing/2014/main" id="{49048735-D9C6-4892-A60D-52D8281F2E95}"/>
              </a:ext>
            </a:extLst>
          </p:cNvPr>
          <p:cNvSpPr txBox="1"/>
          <p:nvPr/>
        </p:nvSpPr>
        <p:spPr>
          <a:xfrm>
            <a:off x="2110165" y="54351"/>
            <a:ext cx="5774203" cy="523220"/>
          </a:xfrm>
          <a:prstGeom prst="rect">
            <a:avLst/>
          </a:prstGeom>
          <a:noFill/>
        </p:spPr>
        <p:txBody>
          <a:bodyPr wrap="square">
            <a:spAutoFit/>
          </a:bodyPr>
          <a:lstStyle/>
          <a:p>
            <a:r>
              <a:rPr lang="en-US" altLang="zh-CN" sz="2800" kern="0" dirty="0">
                <a:solidFill>
                  <a:srgbClr val="0070C0"/>
                </a:solidFill>
                <a:latin typeface="华文楷体" panose="02010600040101010101" pitchFamily="2" charset="-122"/>
                <a:ea typeface="华文楷体" panose="02010600040101010101" pitchFamily="2" charset="-122"/>
              </a:rPr>
              <a:t>§1.3.2.1 </a:t>
            </a:r>
            <a:r>
              <a:rPr lang="zh-CN" altLang="en-US" sz="2800" kern="0" dirty="0">
                <a:solidFill>
                  <a:srgbClr val="0070C0"/>
                </a:solidFill>
                <a:latin typeface="华文楷体" panose="02010600040101010101" pitchFamily="2" charset="-122"/>
                <a:ea typeface="华文楷体" panose="02010600040101010101" pitchFamily="2" charset="-122"/>
              </a:rPr>
              <a:t>整数</a:t>
            </a:r>
            <a:r>
              <a:rPr lang="en-US" altLang="zh-CN" sz="2800" kern="0" dirty="0">
                <a:solidFill>
                  <a:srgbClr val="FF0000"/>
                </a:solidFill>
                <a:latin typeface="华文楷体" panose="02010600040101010101" pitchFamily="2" charset="-122"/>
                <a:ea typeface="华文楷体" panose="02010600040101010101" pitchFamily="2" charset="-122"/>
              </a:rPr>
              <a:t>—— </a:t>
            </a:r>
            <a:r>
              <a:rPr lang="zh-CN" altLang="en-US" sz="2800" kern="0" dirty="0">
                <a:solidFill>
                  <a:srgbClr val="FF0000"/>
                </a:solidFill>
                <a:latin typeface="华文楷体" panose="02010600040101010101" pitchFamily="2" charset="-122"/>
                <a:ea typeface="华文楷体" panose="02010600040101010101" pitchFamily="2" charset="-122"/>
              </a:rPr>
              <a:t>整数类型</a:t>
            </a:r>
          </a:p>
        </p:txBody>
      </p:sp>
      <p:sp>
        <p:nvSpPr>
          <p:cNvPr id="26" name="矩形: 圆角 10">
            <a:extLst>
              <a:ext uri="{FF2B5EF4-FFF2-40B4-BE49-F238E27FC236}">
                <a16:creationId xmlns:a16="http://schemas.microsoft.com/office/drawing/2014/main" id="{0CC3B950-9674-49FE-B1AE-8F4A0DECBC8B}"/>
              </a:ext>
            </a:extLst>
          </p:cNvPr>
          <p:cNvSpPr/>
          <p:nvPr/>
        </p:nvSpPr>
        <p:spPr>
          <a:xfrm>
            <a:off x="422662" y="646266"/>
            <a:ext cx="8576192" cy="377228"/>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gn="dist"/>
            <a:r>
              <a:rPr lang="zh-CN" altLang="en-US" dirty="0">
                <a:solidFill>
                  <a:schemeClr val="bg1"/>
                </a:solidFill>
                <a:highlight>
                  <a:srgbClr val="003B76"/>
                </a:highlight>
                <a:latin typeface="黑体" panose="02010609060101010101" pitchFamily="49" charset="-122"/>
                <a:ea typeface="黑体" panose="02010609060101010101" pitchFamily="49" charset="-122"/>
              </a:rPr>
              <a:t>整数用整数表示，分为有符号整数</a:t>
            </a:r>
            <a:r>
              <a:rPr lang="en-US" altLang="zh-CN" dirty="0">
                <a:solidFill>
                  <a:schemeClr val="bg1"/>
                </a:solidFill>
                <a:highlight>
                  <a:srgbClr val="003B76"/>
                </a:highlight>
                <a:latin typeface="黑体" panose="02010609060101010101" pitchFamily="49" charset="-122"/>
                <a:ea typeface="黑体" panose="02010609060101010101" pitchFamily="49" charset="-122"/>
              </a:rPr>
              <a:t>Int</a:t>
            </a:r>
            <a:r>
              <a:rPr lang="zh-CN" altLang="en-US" dirty="0">
                <a:solidFill>
                  <a:schemeClr val="bg1"/>
                </a:solidFill>
                <a:highlight>
                  <a:srgbClr val="003B76"/>
                </a:highlight>
                <a:latin typeface="黑体" panose="02010609060101010101" pitchFamily="49" charset="-122"/>
                <a:ea typeface="黑体" panose="02010609060101010101" pitchFamily="49" charset="-122"/>
              </a:rPr>
              <a:t>和无符号整数</a:t>
            </a:r>
            <a:r>
              <a:rPr lang="en-US" altLang="zh-CN" dirty="0" err="1">
                <a:solidFill>
                  <a:schemeClr val="bg1"/>
                </a:solidFill>
                <a:highlight>
                  <a:srgbClr val="003B76"/>
                </a:highlight>
                <a:latin typeface="黑体" panose="02010609060101010101" pitchFamily="49" charset="-122"/>
                <a:ea typeface="黑体" panose="02010609060101010101" pitchFamily="49" charset="-122"/>
              </a:rPr>
              <a:t>UInt</a:t>
            </a:r>
            <a:r>
              <a:rPr lang="zh-CN" altLang="en-US" dirty="0">
                <a:solidFill>
                  <a:schemeClr val="bg1"/>
                </a:solidFill>
                <a:highlight>
                  <a:srgbClr val="003B76"/>
                </a:highlight>
                <a:latin typeface="黑体" panose="02010609060101010101" pitchFamily="49" charset="-122"/>
                <a:ea typeface="黑体" panose="02010609060101010101" pitchFamily="49" charset="-122"/>
              </a:rPr>
              <a:t>，默认有符号</a:t>
            </a:r>
            <a:r>
              <a:rPr lang="en-US" altLang="zh-CN" dirty="0">
                <a:solidFill>
                  <a:schemeClr val="bg1"/>
                </a:solidFill>
                <a:highlight>
                  <a:srgbClr val="003B76"/>
                </a:highlight>
                <a:latin typeface="黑体" panose="02010609060101010101" pitchFamily="49" charset="-122"/>
                <a:ea typeface="黑体" panose="02010609060101010101" pitchFamily="49" charset="-122"/>
              </a:rPr>
              <a:t>64</a:t>
            </a:r>
            <a:r>
              <a:rPr lang="zh-CN" altLang="en-US" dirty="0">
                <a:solidFill>
                  <a:schemeClr val="bg1"/>
                </a:solidFill>
                <a:highlight>
                  <a:srgbClr val="003B76"/>
                </a:highlight>
                <a:latin typeface="黑体" panose="02010609060101010101" pitchFamily="49" charset="-122"/>
                <a:ea typeface="黑体" panose="02010609060101010101" pitchFamily="49" charset="-122"/>
              </a:rPr>
              <a:t>位整数</a:t>
            </a:r>
          </a:p>
        </p:txBody>
      </p:sp>
      <p:sp>
        <p:nvSpPr>
          <p:cNvPr id="27" name="文本框 26">
            <a:extLst>
              <a:ext uri="{FF2B5EF4-FFF2-40B4-BE49-F238E27FC236}">
                <a16:creationId xmlns:a16="http://schemas.microsoft.com/office/drawing/2014/main" id="{FC7ED71A-71AA-4E5F-99EA-18DF4B124A1C}"/>
              </a:ext>
            </a:extLst>
          </p:cNvPr>
          <p:cNvSpPr txBox="1"/>
          <p:nvPr/>
        </p:nvSpPr>
        <p:spPr>
          <a:xfrm>
            <a:off x="345799" y="1023494"/>
            <a:ext cx="8631430" cy="345146"/>
          </a:xfrm>
          <a:prstGeom prst="rect">
            <a:avLst/>
          </a:prstGeom>
          <a:solidFill>
            <a:schemeClr val="bg1"/>
          </a:solidFill>
        </p:spPr>
        <p:txBody>
          <a:bodyPr wrap="square">
            <a:spAutoFit/>
          </a:bodyPr>
          <a:lstStyle>
            <a:defPPr>
              <a:defRPr lang="zh-CN"/>
            </a:defPPr>
            <a:lvl1pPr lvl="0" algn="dist">
              <a:spcBef>
                <a:spcPct val="30000"/>
              </a:spcBef>
              <a:defRPr sz="1600" b="1">
                <a:solidFill>
                  <a:srgbClr val="0070C0"/>
                </a:solidFill>
                <a:latin typeface="微软雅黑" panose="020B0503020204020204" pitchFamily="34" charset="-122"/>
                <a:ea typeface="微软雅黑" panose="020B0503020204020204" pitchFamily="34" charset="-122"/>
              </a:defRPr>
            </a:lvl1pPr>
          </a:lstStyle>
          <a:p>
            <a:r>
              <a:rPr lang="zh-CN" altLang="en-US" dirty="0"/>
              <a:t>位数为</a:t>
            </a:r>
            <a:r>
              <a:rPr lang="en-US" altLang="zh-CN" dirty="0"/>
              <a:t>8</a:t>
            </a:r>
            <a:r>
              <a:rPr lang="zh-CN" altLang="en-US" dirty="0"/>
              <a:t>、</a:t>
            </a:r>
            <a:r>
              <a:rPr lang="en-US" altLang="zh-CN" dirty="0"/>
              <a:t>16</a:t>
            </a:r>
            <a:r>
              <a:rPr lang="zh-CN" altLang="en-US" dirty="0"/>
              <a:t>、</a:t>
            </a:r>
            <a:r>
              <a:rPr lang="en-US" altLang="zh-CN" dirty="0"/>
              <a:t>32</a:t>
            </a:r>
            <a:r>
              <a:rPr lang="zh-CN" altLang="en-US" dirty="0"/>
              <a:t>、</a:t>
            </a:r>
            <a:r>
              <a:rPr lang="en-US" altLang="zh-CN" dirty="0"/>
              <a:t>64</a:t>
            </a:r>
            <a:r>
              <a:rPr lang="zh-CN" altLang="en-US" dirty="0"/>
              <a:t>、</a:t>
            </a:r>
            <a:r>
              <a:rPr lang="en-US" altLang="zh-CN" dirty="0"/>
              <a:t>128</a:t>
            </a:r>
            <a:r>
              <a:rPr lang="zh-CN" altLang="en-US" dirty="0"/>
              <a:t>有符号</a:t>
            </a:r>
            <a:r>
              <a:rPr lang="en-US" altLang="zh-CN" dirty="0"/>
              <a:t>Int</a:t>
            </a:r>
            <a:r>
              <a:rPr lang="zh-CN" altLang="en-US" dirty="0"/>
              <a:t>有零、正数和负数。无符号</a:t>
            </a:r>
            <a:r>
              <a:rPr lang="en-US" altLang="zh-CN" dirty="0" err="1"/>
              <a:t>UInt</a:t>
            </a:r>
            <a:r>
              <a:rPr lang="zh-CN" altLang="en-US" dirty="0"/>
              <a:t>只为零或正数</a:t>
            </a:r>
          </a:p>
        </p:txBody>
      </p:sp>
      <p:sp>
        <p:nvSpPr>
          <p:cNvPr id="2" name="矩形: 圆角 1">
            <a:extLst>
              <a:ext uri="{FF2B5EF4-FFF2-40B4-BE49-F238E27FC236}">
                <a16:creationId xmlns:a16="http://schemas.microsoft.com/office/drawing/2014/main" id="{20A95CA4-3C5B-4BB8-B588-55CD0E8A5404}"/>
              </a:ext>
            </a:extLst>
          </p:cNvPr>
          <p:cNvSpPr/>
          <p:nvPr/>
        </p:nvSpPr>
        <p:spPr bwMode="auto">
          <a:xfrm>
            <a:off x="389211" y="1707654"/>
            <a:ext cx="692955" cy="2791157"/>
          </a:xfrm>
          <a:prstGeom prst="roundRect">
            <a:avLst>
              <a:gd name="adj" fmla="val 17845"/>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 name="椭圆 2">
            <a:extLst>
              <a:ext uri="{FF2B5EF4-FFF2-40B4-BE49-F238E27FC236}">
                <a16:creationId xmlns:a16="http://schemas.microsoft.com/office/drawing/2014/main" id="{B17E492F-76B6-4FBD-9F82-BF9BD29E7CD5}"/>
              </a:ext>
            </a:extLst>
          </p:cNvPr>
          <p:cNvSpPr/>
          <p:nvPr/>
        </p:nvSpPr>
        <p:spPr bwMode="auto">
          <a:xfrm>
            <a:off x="5868144" y="1724254"/>
            <a:ext cx="373816" cy="227375"/>
          </a:xfrm>
          <a:prstGeom prst="ellipse">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9" name="椭圆 18">
            <a:extLst>
              <a:ext uri="{FF2B5EF4-FFF2-40B4-BE49-F238E27FC236}">
                <a16:creationId xmlns:a16="http://schemas.microsoft.com/office/drawing/2014/main" id="{FB79F7BE-48A9-4D3A-9A40-2224D1ACE894}"/>
              </a:ext>
            </a:extLst>
          </p:cNvPr>
          <p:cNvSpPr/>
          <p:nvPr/>
        </p:nvSpPr>
        <p:spPr bwMode="auto">
          <a:xfrm>
            <a:off x="7380312" y="1707654"/>
            <a:ext cx="373816" cy="227375"/>
          </a:xfrm>
          <a:prstGeom prst="ellipse">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0" name="椭圆 19">
            <a:extLst>
              <a:ext uri="{FF2B5EF4-FFF2-40B4-BE49-F238E27FC236}">
                <a16:creationId xmlns:a16="http://schemas.microsoft.com/office/drawing/2014/main" id="{C717487E-6DE4-4081-8CAC-43E97B1C2F99}"/>
              </a:ext>
            </a:extLst>
          </p:cNvPr>
          <p:cNvSpPr/>
          <p:nvPr/>
        </p:nvSpPr>
        <p:spPr bwMode="auto">
          <a:xfrm>
            <a:off x="5868144" y="1995686"/>
            <a:ext cx="373816" cy="227375"/>
          </a:xfrm>
          <a:prstGeom prst="ellipse">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4" name="椭圆 23">
            <a:extLst>
              <a:ext uri="{FF2B5EF4-FFF2-40B4-BE49-F238E27FC236}">
                <a16:creationId xmlns:a16="http://schemas.microsoft.com/office/drawing/2014/main" id="{27807CFF-6806-4BC1-A5C8-7C10CF644A91}"/>
              </a:ext>
            </a:extLst>
          </p:cNvPr>
          <p:cNvSpPr/>
          <p:nvPr/>
        </p:nvSpPr>
        <p:spPr bwMode="auto">
          <a:xfrm>
            <a:off x="7438544" y="1995686"/>
            <a:ext cx="560506" cy="227375"/>
          </a:xfrm>
          <a:prstGeom prst="ellipse">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5" name="矩形 24">
            <a:extLst>
              <a:ext uri="{FF2B5EF4-FFF2-40B4-BE49-F238E27FC236}">
                <a16:creationId xmlns:a16="http://schemas.microsoft.com/office/drawing/2014/main" id="{E5528519-A7CE-47BB-8AB2-313A2C6EEF30}"/>
              </a:ext>
            </a:extLst>
          </p:cNvPr>
          <p:cNvSpPr/>
          <p:nvPr/>
        </p:nvSpPr>
        <p:spPr>
          <a:xfrm>
            <a:off x="1356953" y="2476898"/>
            <a:ext cx="1672191" cy="307777"/>
          </a:xfrm>
          <a:prstGeom prst="rect">
            <a:avLst/>
          </a:prstGeom>
          <a:solidFill>
            <a:srgbClr val="0070C0"/>
          </a:solid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400" dirty="0" err="1"/>
              <a:t>UInt</a:t>
            </a:r>
            <a:r>
              <a:rPr lang="en-US" altLang="zh-CN" sz="1400" b="1" dirty="0" err="1">
                <a:solidFill>
                  <a:srgbClr val="FFFF00"/>
                </a:solidFill>
              </a:rPr>
              <a:t>N</a:t>
            </a:r>
            <a:r>
              <a:rPr lang="zh-CN" altLang="en-US" sz="1400" dirty="0"/>
              <a:t>（整数变量）</a:t>
            </a:r>
            <a:endParaRPr lang="en-US" altLang="zh-CN" sz="1400" dirty="0"/>
          </a:p>
        </p:txBody>
      </p:sp>
      <p:sp>
        <p:nvSpPr>
          <p:cNvPr id="29" name="文本框 28">
            <a:extLst>
              <a:ext uri="{FF2B5EF4-FFF2-40B4-BE49-F238E27FC236}">
                <a16:creationId xmlns:a16="http://schemas.microsoft.com/office/drawing/2014/main" id="{738F0AAC-C487-4AA6-BD8D-CAD84A548F53}"/>
              </a:ext>
            </a:extLst>
          </p:cNvPr>
          <p:cNvSpPr txBox="1"/>
          <p:nvPr/>
        </p:nvSpPr>
        <p:spPr>
          <a:xfrm>
            <a:off x="1250656" y="1697893"/>
            <a:ext cx="2562954" cy="307777"/>
          </a:xfrm>
          <a:prstGeom prst="rect">
            <a:avLst/>
          </a:prstGeom>
          <a:solidFill>
            <a:schemeClr val="bg1"/>
          </a:solidFill>
        </p:spPr>
        <p:txBody>
          <a:bodyPr wrap="square">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位数</a:t>
            </a:r>
            <a:r>
              <a:rPr lang="en-US" altLang="zh-CN" sz="1400" b="1" dirty="0">
                <a:solidFill>
                  <a:srgbClr val="FF0000"/>
                </a:solidFill>
                <a:latin typeface="微软雅黑" panose="020B0503020204020204" pitchFamily="34" charset="-122"/>
                <a:ea typeface="微软雅黑" panose="020B0503020204020204" pitchFamily="34" charset="-122"/>
              </a:rPr>
              <a:t>N ∈ {8, 16, 32, 64, 128} </a:t>
            </a:r>
          </a:p>
        </p:txBody>
      </p:sp>
      <p:sp>
        <p:nvSpPr>
          <p:cNvPr id="30" name="内容占位符 2">
            <a:extLst>
              <a:ext uri="{FF2B5EF4-FFF2-40B4-BE49-F238E27FC236}">
                <a16:creationId xmlns:a16="http://schemas.microsoft.com/office/drawing/2014/main" id="{BE51B8FC-A764-4C92-BA7D-14ABC415403C}"/>
              </a:ext>
            </a:extLst>
          </p:cNvPr>
          <p:cNvSpPr txBox="1">
            <a:spLocks/>
          </p:cNvSpPr>
          <p:nvPr/>
        </p:nvSpPr>
        <p:spPr bwMode="auto">
          <a:xfrm>
            <a:off x="1275326" y="2067694"/>
            <a:ext cx="2072538" cy="337015"/>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nSpc>
                <a:spcPts val="2100"/>
              </a:lnSpc>
              <a:buNone/>
            </a:pPr>
            <a:r>
              <a:rPr lang="zh-CN" altLang="en-US" sz="1400" b="1" dirty="0">
                <a:solidFill>
                  <a:srgbClr val="FF0000"/>
                </a:solidFill>
                <a:latin typeface="微软雅黑" panose="020B0503020204020204" pitchFamily="34" charset="-122"/>
                <a:ea typeface="微软雅黑" panose="020B0503020204020204" pitchFamily="34" charset="-122"/>
              </a:rPr>
              <a:t>转化为无符号整数格式</a:t>
            </a:r>
            <a:r>
              <a:rPr lang="en-US" altLang="zh-CN" sz="1400" b="1" dirty="0">
                <a:solidFill>
                  <a:srgbClr val="FF0000"/>
                </a:solidFill>
                <a:latin typeface="微软雅黑" panose="020B0503020204020204" pitchFamily="34" charset="-122"/>
                <a:ea typeface="微软雅黑" panose="020B0503020204020204" pitchFamily="34" charset="-122"/>
              </a:rPr>
              <a:t>:</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33" name="内容占位符 2">
            <a:extLst>
              <a:ext uri="{FF2B5EF4-FFF2-40B4-BE49-F238E27FC236}">
                <a16:creationId xmlns:a16="http://schemas.microsoft.com/office/drawing/2014/main" id="{EF4B1F29-1CC2-4846-B560-43B5AE4D29E4}"/>
              </a:ext>
            </a:extLst>
          </p:cNvPr>
          <p:cNvSpPr txBox="1">
            <a:spLocks/>
          </p:cNvSpPr>
          <p:nvPr/>
        </p:nvSpPr>
        <p:spPr bwMode="auto">
          <a:xfrm>
            <a:off x="1237247" y="2908722"/>
            <a:ext cx="2073846" cy="337015"/>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0" indent="0" eaLnBrk="0" hangingPunct="0">
              <a:lnSpc>
                <a:spcPts val="2100"/>
              </a:lnSpc>
              <a:buFont typeface="Wingdings" panose="05000000000000000000" pitchFamily="2" charset="2"/>
              <a:buNone/>
              <a:defRPr sz="1400" b="1">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dirty="0">
                <a:solidFill>
                  <a:srgbClr val="FF0000"/>
                </a:solidFill>
              </a:rPr>
              <a:t>转化为有符号整数格式</a:t>
            </a:r>
            <a:r>
              <a:rPr lang="en-US" altLang="zh-CN" dirty="0">
                <a:solidFill>
                  <a:srgbClr val="FF0000"/>
                </a:solidFill>
              </a:rPr>
              <a:t>:</a:t>
            </a:r>
            <a:endParaRPr lang="zh-CN" altLang="en-US" dirty="0">
              <a:solidFill>
                <a:srgbClr val="FF0000"/>
              </a:solidFill>
            </a:endParaRPr>
          </a:p>
        </p:txBody>
      </p:sp>
      <p:sp>
        <p:nvSpPr>
          <p:cNvPr id="34" name="矩形 33">
            <a:extLst>
              <a:ext uri="{FF2B5EF4-FFF2-40B4-BE49-F238E27FC236}">
                <a16:creationId xmlns:a16="http://schemas.microsoft.com/office/drawing/2014/main" id="{B474A533-2E30-44A1-B83B-E3494E9383B5}"/>
              </a:ext>
            </a:extLst>
          </p:cNvPr>
          <p:cNvSpPr/>
          <p:nvPr/>
        </p:nvSpPr>
        <p:spPr>
          <a:xfrm>
            <a:off x="1325511" y="3250448"/>
            <a:ext cx="1450670" cy="307777"/>
          </a:xfrm>
          <a:prstGeom prst="rect">
            <a:avLst/>
          </a:prstGeom>
          <a:solidFill>
            <a:srgbClr val="0070C0"/>
          </a:solid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400" dirty="0" err="1"/>
              <a:t>Int</a:t>
            </a:r>
            <a:r>
              <a:rPr lang="en-US" altLang="zh-CN" sz="1400" b="1" dirty="0" err="1">
                <a:solidFill>
                  <a:srgbClr val="FFFF00"/>
                </a:solidFill>
              </a:rPr>
              <a:t>N</a:t>
            </a:r>
            <a:r>
              <a:rPr lang="zh-CN" altLang="en-US" sz="1400" dirty="0"/>
              <a:t>（整数变量）</a:t>
            </a:r>
          </a:p>
        </p:txBody>
      </p:sp>
      <p:sp>
        <p:nvSpPr>
          <p:cNvPr id="35" name="文本框 34">
            <a:extLst>
              <a:ext uri="{FF2B5EF4-FFF2-40B4-BE49-F238E27FC236}">
                <a16:creationId xmlns:a16="http://schemas.microsoft.com/office/drawing/2014/main" id="{65470E6A-661B-4970-A617-6F905C83F5B0}"/>
              </a:ext>
            </a:extLst>
          </p:cNvPr>
          <p:cNvSpPr txBox="1"/>
          <p:nvPr/>
        </p:nvSpPr>
        <p:spPr>
          <a:xfrm>
            <a:off x="1331640" y="3635605"/>
            <a:ext cx="2481970" cy="823302"/>
          </a:xfrm>
          <a:prstGeom prst="rect">
            <a:avLst/>
          </a:prstGeom>
          <a:solidFill>
            <a:schemeClr val="bg1"/>
          </a:solidFill>
          <a:ln>
            <a:solidFill>
              <a:schemeClr val="bg1">
                <a:lumMod val="50000"/>
              </a:schemeClr>
            </a:solidFill>
          </a:ln>
        </p:spPr>
        <p:txBody>
          <a:bodyPr wrap="square">
            <a:spAutoFit/>
          </a:bodyPr>
          <a:lstStyle/>
          <a:p>
            <a:pPr>
              <a:lnSpc>
                <a:spcPts val="1900"/>
              </a:lnSpc>
            </a:pPr>
            <a:r>
              <a:rPr lang="en-US" altLang="zh-CN" sz="1600" dirty="0"/>
              <a:t>x=123</a:t>
            </a:r>
          </a:p>
          <a:p>
            <a:pPr>
              <a:lnSpc>
                <a:spcPts val="1900"/>
              </a:lnSpc>
            </a:pPr>
            <a:r>
              <a:rPr lang="en-US" altLang="zh-CN" sz="1600" dirty="0" err="1"/>
              <a:t>typeof</a:t>
            </a:r>
            <a:r>
              <a:rPr lang="en-US" altLang="zh-CN" sz="1600" dirty="0"/>
              <a:t>(x)  </a:t>
            </a:r>
            <a:r>
              <a:rPr lang="en-US" altLang="zh-CN" sz="1600" b="1" dirty="0">
                <a:solidFill>
                  <a:srgbClr val="00B0F0"/>
                </a:solidFill>
              </a:rPr>
              <a:t>#Int64</a:t>
            </a:r>
          </a:p>
          <a:p>
            <a:pPr>
              <a:lnSpc>
                <a:spcPts val="1900"/>
              </a:lnSpc>
            </a:pPr>
            <a:r>
              <a:rPr lang="en-US" altLang="zh-CN" sz="1600" dirty="0"/>
              <a:t>x</a:t>
            </a:r>
            <a:r>
              <a:rPr lang="zh-CN" altLang="en-US" sz="1600" dirty="0"/>
              <a:t>32=Int32(</a:t>
            </a:r>
            <a:r>
              <a:rPr lang="en-US" altLang="zh-CN" sz="1600" dirty="0"/>
              <a:t>x</a:t>
            </a:r>
            <a:r>
              <a:rPr lang="zh-CN" altLang="en-US" sz="1600" dirty="0"/>
              <a:t>)  </a:t>
            </a:r>
            <a:r>
              <a:rPr lang="zh-CN" altLang="en-US" sz="1600" b="1" dirty="0">
                <a:solidFill>
                  <a:srgbClr val="00B0F0"/>
                </a:solidFill>
              </a:rPr>
              <a:t> </a:t>
            </a:r>
            <a:r>
              <a:rPr lang="en-US" altLang="zh-CN" sz="1600" b="1" dirty="0">
                <a:solidFill>
                  <a:srgbClr val="00B0F0"/>
                </a:solidFill>
              </a:rPr>
              <a:t>#</a:t>
            </a:r>
            <a:r>
              <a:rPr lang="zh-CN" altLang="en-US" sz="1600" b="1" dirty="0">
                <a:solidFill>
                  <a:srgbClr val="00B0F0"/>
                </a:solidFill>
              </a:rPr>
              <a:t>结果123</a:t>
            </a:r>
            <a:endParaRPr lang="en-US" altLang="zh-CN" sz="1600" b="1" dirty="0">
              <a:solidFill>
                <a:srgbClr val="00B0F0"/>
              </a:solidFill>
            </a:endParaRPr>
          </a:p>
        </p:txBody>
      </p:sp>
    </p:spTree>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21" grpId="0"/>
      <p:bldP spid="22" grpId="0"/>
      <p:bldP spid="23" grpId="0" animBg="1"/>
      <p:bldP spid="3" grpId="0" animBg="1"/>
      <p:bldP spid="19" grpId="0" animBg="1"/>
      <p:bldP spid="20" grpId="0" animBg="1"/>
      <p:bldP spid="24" grpId="0" animBg="1"/>
      <p:bldP spid="25" grpId="0" animBg="1"/>
      <p:bldP spid="29" grpId="0" animBg="1"/>
      <p:bldP spid="30" grpId="0" animBg="1"/>
      <p:bldP spid="33" grpId="0" animBg="1"/>
      <p:bldP spid="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75656" y="-41424"/>
            <a:ext cx="6696744" cy="685799"/>
          </a:xfrm>
        </p:spPr>
        <p:txBody>
          <a:bodyPr>
            <a:normAutofit/>
          </a:bodyPr>
          <a:lstStyle/>
          <a:p>
            <a:r>
              <a:rPr lang="en-US" altLang="zh-CN" sz="2800" dirty="0"/>
              <a:t>§1.3.2.2. </a:t>
            </a:r>
            <a:r>
              <a:rPr lang="zh-CN" altLang="en-US" sz="2800" dirty="0"/>
              <a:t>浮点数 </a:t>
            </a:r>
            <a:r>
              <a:rPr lang="en-US" altLang="zh-CN" sz="2800" kern="0" dirty="0">
                <a:solidFill>
                  <a:srgbClr val="FF0000"/>
                </a:solidFill>
              </a:rPr>
              <a:t>——1. </a:t>
            </a:r>
            <a:r>
              <a:rPr lang="zh-CN" altLang="en-US" sz="2800" kern="0" dirty="0">
                <a:solidFill>
                  <a:srgbClr val="FF0000"/>
                </a:solidFill>
              </a:rPr>
              <a:t>浮点创建和转化</a:t>
            </a:r>
            <a:endParaRPr lang="zh-CN" altLang="en-US" sz="2800" dirty="0"/>
          </a:p>
        </p:txBody>
      </p:sp>
      <p:sp>
        <p:nvSpPr>
          <p:cNvPr id="3" name="内容占位符 2"/>
          <p:cNvSpPr>
            <a:spLocks noGrp="1"/>
          </p:cNvSpPr>
          <p:nvPr>
            <p:ph idx="1"/>
          </p:nvPr>
        </p:nvSpPr>
        <p:spPr>
          <a:xfrm>
            <a:off x="185379" y="1126909"/>
            <a:ext cx="8817150" cy="2212022"/>
          </a:xfrm>
          <a:solidFill>
            <a:schemeClr val="bg1"/>
          </a:solidFill>
        </p:spPr>
        <p:txBody>
          <a:bodyPr>
            <a:noAutofit/>
          </a:bodyPr>
          <a:lstStyle/>
          <a:p>
            <a:r>
              <a:rPr lang="zh-CN" altLang="en-US" sz="2000" dirty="0">
                <a:latin typeface="微软雅黑" panose="020B0503020204020204" pitchFamily="34" charset="-122"/>
                <a:ea typeface="微软雅黑" panose="020B0503020204020204" pitchFamily="34" charset="-122"/>
              </a:rPr>
              <a:t>浮点数默认位数采用当前计算机系统位数，一般</a:t>
            </a:r>
            <a:r>
              <a:rPr lang="en-US" altLang="zh-CN" sz="2000" dirty="0">
                <a:latin typeface="微软雅黑" panose="020B0503020204020204" pitchFamily="34" charset="-122"/>
                <a:ea typeface="微软雅黑" panose="020B0503020204020204" pitchFamily="34" charset="-122"/>
              </a:rPr>
              <a:t>64</a:t>
            </a:r>
            <a:r>
              <a:rPr lang="zh-CN" altLang="en-US" sz="2000" dirty="0">
                <a:latin typeface="微软雅黑" panose="020B0503020204020204" pitchFamily="34" charset="-122"/>
                <a:ea typeface="微软雅黑" panose="020B0503020204020204" pitchFamily="34" charset="-122"/>
              </a:rPr>
              <a:t>位</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半精度一般计算精度较差，不推荐使用</a:t>
            </a:r>
          </a:p>
          <a:p>
            <a:r>
              <a:rPr lang="zh-CN" altLang="en-US" sz="2000" dirty="0">
                <a:latin typeface="微软雅黑" panose="020B0503020204020204" pitchFamily="34" charset="-122"/>
                <a:ea typeface="微软雅黑" panose="020B0503020204020204" pitchFamily="34" charset="-122"/>
              </a:rPr>
              <a:t>浮点数可以用科学计数法表示，用</a:t>
            </a:r>
            <a:r>
              <a:rPr lang="en-US" altLang="zh-CN" sz="2000" dirty="0">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e</a:t>
            </a:r>
          </a:p>
          <a:p>
            <a:r>
              <a:rPr lang="zh-CN" altLang="en-US" sz="2000" dirty="0">
                <a:latin typeface="微软雅黑" panose="020B0503020204020204" pitchFamily="34" charset="-122"/>
                <a:ea typeface="微软雅黑" panose="020B0503020204020204" pitchFamily="34" charset="-122"/>
              </a:rPr>
              <a:t>用</a:t>
            </a:r>
            <a:r>
              <a:rPr lang="en-US" altLang="zh-CN" sz="2000" dirty="0">
                <a:latin typeface="微软雅黑" panose="020B0503020204020204" pitchFamily="34" charset="-122"/>
                <a:ea typeface="微软雅黑" panose="020B0503020204020204" pitchFamily="34" charset="-122"/>
              </a:rPr>
              <a:t>Float16</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Float32</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Float64</a:t>
            </a:r>
            <a:r>
              <a:rPr lang="zh-CN" altLang="en-US" sz="2000" dirty="0">
                <a:latin typeface="微软雅黑" panose="020B0503020204020204" pitchFamily="34" charset="-122"/>
                <a:ea typeface="微软雅黑" panose="020B0503020204020204" pitchFamily="34" charset="-122"/>
              </a:rPr>
              <a:t>转换浮点位数</a:t>
            </a:r>
            <a:endParaRPr lang="en-US" altLang="zh-CN" sz="2000" dirty="0">
              <a:latin typeface="微软雅黑" panose="020B0503020204020204" pitchFamily="34" charset="-122"/>
              <a:ea typeface="微软雅黑" panose="020B0503020204020204" pitchFamily="34" charset="-122"/>
            </a:endParaRPr>
          </a:p>
        </p:txBody>
      </p:sp>
      <p:sp>
        <p:nvSpPr>
          <p:cNvPr id="5" name="矩形 4"/>
          <p:cNvSpPr/>
          <p:nvPr/>
        </p:nvSpPr>
        <p:spPr>
          <a:xfrm>
            <a:off x="32829" y="3663956"/>
            <a:ext cx="4572000" cy="646331"/>
          </a:xfrm>
          <a:prstGeom prst="rect">
            <a:avLst/>
          </a:prstGeom>
        </p:spPr>
        <p:txBody>
          <a:bodyPr>
            <a:spAutoFit/>
          </a:bodyPr>
          <a:lstStyle/>
          <a:p>
            <a:endParaRPr lang="en-US" altLang="zh-CN" dirty="0"/>
          </a:p>
          <a:p>
            <a:endParaRPr lang="en-US" altLang="zh-CN" dirty="0"/>
          </a:p>
        </p:txBody>
      </p:sp>
      <p:sp>
        <p:nvSpPr>
          <p:cNvPr id="6" name="矩形: 圆角 10">
            <a:extLst>
              <a:ext uri="{FF2B5EF4-FFF2-40B4-BE49-F238E27FC236}">
                <a16:creationId xmlns:a16="http://schemas.microsoft.com/office/drawing/2014/main" id="{A4E56B2D-3DCB-402B-9CDB-DCEE3E1718F9}"/>
              </a:ext>
            </a:extLst>
          </p:cNvPr>
          <p:cNvSpPr/>
          <p:nvPr/>
        </p:nvSpPr>
        <p:spPr>
          <a:xfrm>
            <a:off x="199555" y="683210"/>
            <a:ext cx="8911616" cy="421726"/>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gn="dist"/>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rPr>
              <a:t>浮点数用</a:t>
            </a:r>
            <a:r>
              <a:rPr lang="zh-CN" altLang="en-US" sz="2000" dirty="0">
                <a:solidFill>
                  <a:schemeClr val="bg1"/>
                </a:solidFill>
                <a:highlight>
                  <a:srgbClr val="FF0000"/>
                </a:highlight>
                <a:latin typeface="华文楷体" panose="02010600040101010101" pitchFamily="2" charset="-122"/>
                <a:ea typeface="华文楷体" panose="02010600040101010101" pitchFamily="2" charset="-122"/>
              </a:rPr>
              <a:t>小数点</a:t>
            </a:r>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rPr>
              <a:t>表示，包括</a:t>
            </a:r>
            <a:r>
              <a:rPr lang="en-US" altLang="zh-CN" sz="2000" dirty="0">
                <a:solidFill>
                  <a:schemeClr val="bg1"/>
                </a:solidFill>
                <a:highlight>
                  <a:srgbClr val="003B76"/>
                </a:highlight>
                <a:latin typeface="华文楷体" panose="02010600040101010101" pitchFamily="2" charset="-122"/>
                <a:ea typeface="华文楷体" panose="02010600040101010101" pitchFamily="2" charset="-122"/>
              </a:rPr>
              <a:t>Float16</a:t>
            </a:r>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rPr>
              <a:t>、</a:t>
            </a:r>
            <a:r>
              <a:rPr lang="en-US" altLang="zh-CN" sz="2000" dirty="0">
                <a:solidFill>
                  <a:schemeClr val="bg1"/>
                </a:solidFill>
                <a:highlight>
                  <a:srgbClr val="003B76"/>
                </a:highlight>
                <a:latin typeface="华文楷体" panose="02010600040101010101" pitchFamily="2" charset="-122"/>
                <a:ea typeface="华文楷体" panose="02010600040101010101" pitchFamily="2" charset="-122"/>
              </a:rPr>
              <a:t>Float32</a:t>
            </a:r>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rPr>
              <a:t>和</a:t>
            </a:r>
            <a:r>
              <a:rPr lang="en-US" altLang="zh-CN" sz="2000" dirty="0">
                <a:solidFill>
                  <a:schemeClr val="bg1"/>
                </a:solidFill>
                <a:highlight>
                  <a:srgbClr val="003B76"/>
                </a:highlight>
                <a:latin typeface="华文楷体" panose="02010600040101010101" pitchFamily="2" charset="-122"/>
                <a:ea typeface="华文楷体" panose="02010600040101010101" pitchFamily="2" charset="-122"/>
              </a:rPr>
              <a:t>Float64</a:t>
            </a:r>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rPr>
              <a:t>三类</a:t>
            </a:r>
            <a:r>
              <a:rPr lang="en-US" altLang="zh-CN" sz="2000" dirty="0">
                <a:solidFill>
                  <a:schemeClr val="bg1"/>
                </a:solidFill>
                <a:highlight>
                  <a:srgbClr val="003B76"/>
                </a:highlight>
                <a:latin typeface="华文楷体" panose="02010600040101010101" pitchFamily="2" charset="-122"/>
                <a:ea typeface="华文楷体" panose="02010600040101010101" pitchFamily="2" charset="-122"/>
              </a:rPr>
              <a:t>,</a:t>
            </a:r>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rPr>
              <a:t>必要时可使用</a:t>
            </a:r>
            <a:r>
              <a:rPr lang="en-US" altLang="zh-CN" sz="2000" dirty="0">
                <a:solidFill>
                  <a:schemeClr val="bg1"/>
                </a:solidFill>
                <a:highlight>
                  <a:srgbClr val="003B76"/>
                </a:highlight>
                <a:latin typeface="华文楷体" panose="02010600040101010101" pitchFamily="2" charset="-122"/>
                <a:ea typeface="华文楷体" panose="02010600040101010101" pitchFamily="2" charset="-122"/>
              </a:rPr>
              <a:t>E-</a:t>
            </a:r>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rPr>
              <a:t>表示</a:t>
            </a:r>
          </a:p>
        </p:txBody>
      </p:sp>
      <p:pic>
        <p:nvPicPr>
          <p:cNvPr id="7" name="图片 6">
            <a:extLst>
              <a:ext uri="{FF2B5EF4-FFF2-40B4-BE49-F238E27FC236}">
                <a16:creationId xmlns:a16="http://schemas.microsoft.com/office/drawing/2014/main" id="{D3CD64B5-F925-4B91-A2D7-0F95EEBCCBB3}"/>
              </a:ext>
            </a:extLst>
          </p:cNvPr>
          <p:cNvPicPr>
            <a:picLocks noChangeAspect="1"/>
          </p:cNvPicPr>
          <p:nvPr/>
        </p:nvPicPr>
        <p:blipFill rotWithShape="1">
          <a:blip r:embed="rId3">
            <a:extLst>
              <a:ext uri="{28A0092B-C50C-407E-A947-70E740481C1C}">
                <a14:useLocalDpi xmlns:a14="http://schemas.microsoft.com/office/drawing/2010/main" val="0"/>
              </a:ext>
            </a:extLst>
          </a:blip>
          <a:srcRect t="3454" r="10421" b="6745"/>
          <a:stretch/>
        </p:blipFill>
        <p:spPr>
          <a:xfrm>
            <a:off x="7507602" y="1152025"/>
            <a:ext cx="1434950" cy="1063570"/>
          </a:xfrm>
          <a:prstGeom prst="rect">
            <a:avLst/>
          </a:prstGeom>
          <a:ln>
            <a:solidFill>
              <a:schemeClr val="bg1">
                <a:lumMod val="50000"/>
              </a:schemeClr>
            </a:solidFill>
          </a:ln>
        </p:spPr>
      </p:pic>
      <p:sp>
        <p:nvSpPr>
          <p:cNvPr id="9" name="文本框 8">
            <a:extLst>
              <a:ext uri="{FF2B5EF4-FFF2-40B4-BE49-F238E27FC236}">
                <a16:creationId xmlns:a16="http://schemas.microsoft.com/office/drawing/2014/main" id="{4067A8FD-91E0-4430-8487-635DDFBB3BFE}"/>
              </a:ext>
            </a:extLst>
          </p:cNvPr>
          <p:cNvSpPr txBox="1"/>
          <p:nvPr/>
        </p:nvSpPr>
        <p:spPr>
          <a:xfrm>
            <a:off x="7210600" y="2188448"/>
            <a:ext cx="2028954" cy="338554"/>
          </a:xfrm>
          <a:prstGeom prst="rect">
            <a:avLst/>
          </a:prstGeom>
          <a:no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r>
              <a:rPr lang="en-US" altLang="zh-CN" sz="1600" dirty="0"/>
              <a:t>N ∈ {16, 32, 64} </a:t>
            </a:r>
          </a:p>
        </p:txBody>
      </p:sp>
      <p:sp>
        <p:nvSpPr>
          <p:cNvPr id="11" name="文本框 10">
            <a:extLst>
              <a:ext uri="{FF2B5EF4-FFF2-40B4-BE49-F238E27FC236}">
                <a16:creationId xmlns:a16="http://schemas.microsoft.com/office/drawing/2014/main" id="{739E50C2-76B6-46BC-B2D7-CAD56E523E20}"/>
              </a:ext>
            </a:extLst>
          </p:cNvPr>
          <p:cNvSpPr txBox="1"/>
          <p:nvPr/>
        </p:nvSpPr>
        <p:spPr>
          <a:xfrm>
            <a:off x="215029" y="2993451"/>
            <a:ext cx="4137285" cy="993670"/>
          </a:xfrm>
          <a:prstGeom prst="rect">
            <a:avLst/>
          </a:prstGeom>
          <a:noFill/>
        </p:spPr>
        <p:txBody>
          <a:bodyPr wrap="square">
            <a:spAutoFit/>
          </a:bodyPr>
          <a:lstStyle/>
          <a:p>
            <a:pPr>
              <a:lnSpc>
                <a:spcPts val="2400"/>
              </a:lnSpc>
            </a:pPr>
            <a:r>
              <a:rPr lang="zh-CN" altLang="en-US" dirty="0">
                <a:solidFill>
                  <a:srgbClr val="002060"/>
                </a:solidFill>
                <a:latin typeface="微软雅黑" panose="020B0503020204020204" pitchFamily="34" charset="-122"/>
                <a:ea typeface="微软雅黑" panose="020B0503020204020204" pitchFamily="34" charset="-122"/>
              </a:rPr>
              <a:t>julia&gt; a=34.0  </a:t>
            </a:r>
            <a:r>
              <a:rPr lang="en-US" altLang="zh-CN" dirty="0">
                <a:solidFill>
                  <a:srgbClr val="00B0F0"/>
                </a:solidFill>
                <a:latin typeface="微软雅黑" panose="020B0503020204020204" pitchFamily="34" charset="-122"/>
                <a:ea typeface="微软雅黑" panose="020B0503020204020204" pitchFamily="34" charset="-122"/>
              </a:rPr>
              <a:t>#</a:t>
            </a:r>
            <a:r>
              <a:rPr lang="zh-CN" altLang="en-US" dirty="0">
                <a:solidFill>
                  <a:srgbClr val="00B0F0"/>
                </a:solidFill>
                <a:latin typeface="微软雅黑" panose="020B0503020204020204" pitchFamily="34" charset="-122"/>
                <a:ea typeface="微软雅黑" panose="020B0503020204020204" pitchFamily="34" charset="-122"/>
              </a:rPr>
              <a:t>结果34.0</a:t>
            </a:r>
          </a:p>
          <a:p>
            <a:pPr>
              <a:lnSpc>
                <a:spcPts val="2400"/>
              </a:lnSpc>
            </a:pPr>
            <a:r>
              <a:rPr lang="zh-CN" altLang="en-US" dirty="0">
                <a:solidFill>
                  <a:srgbClr val="002060"/>
                </a:solidFill>
                <a:latin typeface="微软雅黑" panose="020B0503020204020204" pitchFamily="34" charset="-122"/>
                <a:ea typeface="微软雅黑" panose="020B0503020204020204" pitchFamily="34" charset="-122"/>
              </a:rPr>
              <a:t>julia&gt; typeof(a)  </a:t>
            </a:r>
            <a:r>
              <a:rPr lang="en-US" altLang="zh-CN" dirty="0">
                <a:solidFill>
                  <a:srgbClr val="00B0F0"/>
                </a:solidFill>
                <a:latin typeface="微软雅黑" panose="020B0503020204020204" pitchFamily="34" charset="-122"/>
                <a:ea typeface="微软雅黑" panose="020B0503020204020204" pitchFamily="34" charset="-122"/>
              </a:rPr>
              <a:t>#</a:t>
            </a:r>
            <a:r>
              <a:rPr lang="zh-CN" altLang="en-US" dirty="0">
                <a:solidFill>
                  <a:srgbClr val="00B0F0"/>
                </a:solidFill>
                <a:latin typeface="微软雅黑" panose="020B0503020204020204" pitchFamily="34" charset="-122"/>
                <a:ea typeface="微软雅黑" panose="020B0503020204020204" pitchFamily="34" charset="-122"/>
              </a:rPr>
              <a:t>结果Float64</a:t>
            </a:r>
          </a:p>
          <a:p>
            <a:pPr>
              <a:lnSpc>
                <a:spcPts val="2400"/>
              </a:lnSpc>
            </a:pPr>
            <a:r>
              <a:rPr lang="zh-CN" altLang="en-US" dirty="0">
                <a:solidFill>
                  <a:srgbClr val="002060"/>
                </a:solidFill>
                <a:latin typeface="微软雅黑" panose="020B0503020204020204" pitchFamily="34" charset="-122"/>
                <a:ea typeface="微软雅黑" panose="020B0503020204020204" pitchFamily="34" charset="-122"/>
              </a:rPr>
              <a:t>julia&gt; a32=Float32(a)  </a:t>
            </a:r>
            <a:r>
              <a:rPr lang="en-US" altLang="zh-CN" dirty="0">
                <a:solidFill>
                  <a:srgbClr val="00B0F0"/>
                </a:solidFill>
                <a:latin typeface="微软雅黑" panose="020B0503020204020204" pitchFamily="34" charset="-122"/>
                <a:ea typeface="微软雅黑" panose="020B0503020204020204" pitchFamily="34" charset="-122"/>
              </a:rPr>
              <a:t>#</a:t>
            </a:r>
            <a:r>
              <a:rPr lang="zh-CN" altLang="en-US" dirty="0">
                <a:solidFill>
                  <a:srgbClr val="00B0F0"/>
                </a:solidFill>
                <a:latin typeface="微软雅黑" panose="020B0503020204020204" pitchFamily="34" charset="-122"/>
                <a:ea typeface="微软雅黑" panose="020B0503020204020204" pitchFamily="34" charset="-122"/>
              </a:rPr>
              <a:t>结果34.0f0</a:t>
            </a:r>
          </a:p>
        </p:txBody>
      </p:sp>
      <p:sp>
        <p:nvSpPr>
          <p:cNvPr id="13" name="文本框 12">
            <a:extLst>
              <a:ext uri="{FF2B5EF4-FFF2-40B4-BE49-F238E27FC236}">
                <a16:creationId xmlns:a16="http://schemas.microsoft.com/office/drawing/2014/main" id="{086D1A3A-8862-47E0-84EE-C2A97A3A5F5F}"/>
              </a:ext>
            </a:extLst>
          </p:cNvPr>
          <p:cNvSpPr txBox="1"/>
          <p:nvPr/>
        </p:nvSpPr>
        <p:spPr>
          <a:xfrm>
            <a:off x="5010008" y="3022640"/>
            <a:ext cx="4022172" cy="730777"/>
          </a:xfrm>
          <a:prstGeom prst="rect">
            <a:avLst/>
          </a:prstGeom>
          <a:noFill/>
        </p:spPr>
        <p:txBody>
          <a:bodyPr wrap="square">
            <a:spAutoFit/>
          </a:bodyPr>
          <a:lstStyle/>
          <a:p>
            <a:pPr>
              <a:lnSpc>
                <a:spcPts val="2600"/>
              </a:lnSpc>
            </a:pPr>
            <a:r>
              <a:rPr lang="zh-CN" altLang="en-US" dirty="0">
                <a:solidFill>
                  <a:srgbClr val="002060"/>
                </a:solidFill>
                <a:latin typeface="微软雅黑" panose="020B0503020204020204" pitchFamily="34" charset="-122"/>
                <a:ea typeface="微软雅黑" panose="020B0503020204020204" pitchFamily="34" charset="-122"/>
              </a:rPr>
              <a:t>julia&gt; ain=Int32(a)  </a:t>
            </a:r>
            <a:r>
              <a:rPr lang="en-US" altLang="zh-CN" dirty="0">
                <a:solidFill>
                  <a:srgbClr val="00B0F0"/>
                </a:solidFill>
                <a:latin typeface="微软雅黑" panose="020B0503020204020204" pitchFamily="34" charset="-122"/>
                <a:ea typeface="微软雅黑" panose="020B0503020204020204" pitchFamily="34" charset="-122"/>
              </a:rPr>
              <a:t>#</a:t>
            </a:r>
            <a:r>
              <a:rPr lang="zh-CN" altLang="en-US" dirty="0">
                <a:solidFill>
                  <a:srgbClr val="00B0F0"/>
                </a:solidFill>
                <a:latin typeface="微软雅黑" panose="020B0503020204020204" pitchFamily="34" charset="-122"/>
                <a:ea typeface="微软雅黑" panose="020B0503020204020204" pitchFamily="34" charset="-122"/>
              </a:rPr>
              <a:t>结果34</a:t>
            </a:r>
          </a:p>
          <a:p>
            <a:pPr>
              <a:lnSpc>
                <a:spcPts val="2600"/>
              </a:lnSpc>
            </a:pPr>
            <a:r>
              <a:rPr lang="zh-CN" altLang="en-US" dirty="0">
                <a:solidFill>
                  <a:srgbClr val="002060"/>
                </a:solidFill>
                <a:latin typeface="微软雅黑" panose="020B0503020204020204" pitchFamily="34" charset="-122"/>
                <a:ea typeface="微软雅黑" panose="020B0503020204020204" pitchFamily="34" charset="-122"/>
              </a:rPr>
              <a:t>julia&gt; typeof(ain)  </a:t>
            </a:r>
            <a:r>
              <a:rPr lang="en-US" altLang="zh-CN" dirty="0">
                <a:solidFill>
                  <a:srgbClr val="00B0F0"/>
                </a:solidFill>
                <a:latin typeface="微软雅黑" panose="020B0503020204020204" pitchFamily="34" charset="-122"/>
                <a:ea typeface="微软雅黑" panose="020B0503020204020204" pitchFamily="34" charset="-122"/>
              </a:rPr>
              <a:t>#</a:t>
            </a:r>
            <a:r>
              <a:rPr lang="zh-CN" altLang="en-US" dirty="0">
                <a:solidFill>
                  <a:srgbClr val="00B0F0"/>
                </a:solidFill>
                <a:latin typeface="微软雅黑" panose="020B0503020204020204" pitchFamily="34" charset="-122"/>
                <a:ea typeface="微软雅黑" panose="020B0503020204020204" pitchFamily="34" charset="-122"/>
              </a:rPr>
              <a:t>结果Int32</a:t>
            </a:r>
          </a:p>
        </p:txBody>
      </p:sp>
      <p:sp>
        <p:nvSpPr>
          <p:cNvPr id="15" name="文本框 14">
            <a:extLst>
              <a:ext uri="{FF2B5EF4-FFF2-40B4-BE49-F238E27FC236}">
                <a16:creationId xmlns:a16="http://schemas.microsoft.com/office/drawing/2014/main" id="{DF786247-3C05-417D-B9F3-F7D658FC66CC}"/>
              </a:ext>
            </a:extLst>
          </p:cNvPr>
          <p:cNvSpPr txBox="1"/>
          <p:nvPr/>
        </p:nvSpPr>
        <p:spPr>
          <a:xfrm>
            <a:off x="207614" y="3941643"/>
            <a:ext cx="4693380" cy="369332"/>
          </a:xfrm>
          <a:prstGeom prst="rect">
            <a:avLst/>
          </a:prstGeom>
          <a:solidFill>
            <a:schemeClr val="bg1"/>
          </a:solidFill>
        </p:spPr>
        <p:txBody>
          <a:bodyPr wrap="square">
            <a:spAutoFit/>
          </a:bodyPr>
          <a:lstStyle/>
          <a:p>
            <a:r>
              <a:rPr lang="zh-CN" altLang="en-US" dirty="0">
                <a:latin typeface="微软雅黑" panose="020B0503020204020204" pitchFamily="34" charset="-122"/>
                <a:ea typeface="微软雅黑" panose="020B0503020204020204" pitchFamily="34" charset="-122"/>
              </a:rPr>
              <a:t>julia&gt; Int32(34.02)  </a:t>
            </a:r>
            <a:endParaRPr lang="en-US" altLang="zh-CN" dirty="0">
              <a:latin typeface="微软雅黑" panose="020B0503020204020204" pitchFamily="34" charset="-122"/>
              <a:ea typeface="微软雅黑" panose="020B0503020204020204" pitchFamily="34" charset="-122"/>
            </a:endParaRPr>
          </a:p>
        </p:txBody>
      </p:sp>
      <p:sp>
        <p:nvSpPr>
          <p:cNvPr id="17" name="波形 16">
            <a:extLst>
              <a:ext uri="{FF2B5EF4-FFF2-40B4-BE49-F238E27FC236}">
                <a16:creationId xmlns:a16="http://schemas.microsoft.com/office/drawing/2014/main" id="{91308174-EB07-4F0B-9088-34EC975CA431}"/>
              </a:ext>
            </a:extLst>
          </p:cNvPr>
          <p:cNvSpPr/>
          <p:nvPr/>
        </p:nvSpPr>
        <p:spPr>
          <a:xfrm>
            <a:off x="323528" y="2615562"/>
            <a:ext cx="864096" cy="33935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例132-2</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8612E91-2E87-4A06-A726-38A23E1BC300}"/>
              </a:ext>
            </a:extLst>
          </p:cNvPr>
          <p:cNvSpPr txBox="1"/>
          <p:nvPr/>
        </p:nvSpPr>
        <p:spPr>
          <a:xfrm>
            <a:off x="5010007" y="3827382"/>
            <a:ext cx="4159476" cy="646331"/>
          </a:xfrm>
          <a:prstGeom prst="rect">
            <a:avLst/>
          </a:prstGeom>
          <a:noFill/>
        </p:spPr>
        <p:txBody>
          <a:bodyPr wrap="square">
            <a:spAutoFit/>
          </a:bodyPr>
          <a:lstStyle>
            <a:defPPr>
              <a:defRPr lang="zh-CN"/>
            </a:defPPr>
            <a:lvl1pPr>
              <a:lnSpc>
                <a:spcPts val="2600"/>
              </a:lnSpc>
              <a:defRPr>
                <a:solidFill>
                  <a:srgbClr val="002060"/>
                </a:solidFill>
                <a:latin typeface="微软雅黑" panose="020B0503020204020204" pitchFamily="34" charset="-122"/>
                <a:ea typeface="微软雅黑" panose="020B0503020204020204" pitchFamily="34" charset="-122"/>
              </a:defRPr>
            </a:lvl1pPr>
          </a:lstStyle>
          <a:p>
            <a:r>
              <a:rPr lang="zh-CN" altLang="en-US" dirty="0"/>
              <a:t>julia&gt; aaaa=ain+34.5 </a:t>
            </a:r>
            <a:r>
              <a:rPr lang="en-US" altLang="zh-CN" dirty="0">
                <a:solidFill>
                  <a:srgbClr val="00B0F0"/>
                </a:solidFill>
              </a:rPr>
              <a:t>#</a:t>
            </a:r>
            <a:r>
              <a:rPr lang="zh-CN" altLang="en-US" dirty="0">
                <a:solidFill>
                  <a:srgbClr val="00B0F0"/>
                </a:solidFill>
              </a:rPr>
              <a:t>结果68.5</a:t>
            </a:r>
          </a:p>
          <a:p>
            <a:r>
              <a:rPr lang="zh-CN" altLang="en-US" dirty="0"/>
              <a:t>julia&gt; typeof(aaaa)  </a:t>
            </a:r>
            <a:r>
              <a:rPr lang="en-US" altLang="zh-CN" dirty="0">
                <a:solidFill>
                  <a:srgbClr val="00B0F0"/>
                </a:solidFill>
              </a:rPr>
              <a:t>#</a:t>
            </a:r>
            <a:r>
              <a:rPr lang="zh-CN" altLang="en-US" dirty="0">
                <a:solidFill>
                  <a:srgbClr val="00B0F0"/>
                </a:solidFill>
              </a:rPr>
              <a:t>结果Float64</a:t>
            </a:r>
          </a:p>
        </p:txBody>
      </p:sp>
      <p:sp>
        <p:nvSpPr>
          <p:cNvPr id="16" name="矩形 15">
            <a:extLst>
              <a:ext uri="{FF2B5EF4-FFF2-40B4-BE49-F238E27FC236}">
                <a16:creationId xmlns:a16="http://schemas.microsoft.com/office/drawing/2014/main" id="{9D943F64-9994-4990-874D-C1E01AB24913}"/>
              </a:ext>
            </a:extLst>
          </p:cNvPr>
          <p:cNvSpPr/>
          <p:nvPr/>
        </p:nvSpPr>
        <p:spPr>
          <a:xfrm>
            <a:off x="5556882" y="2165084"/>
            <a:ext cx="153286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dirty="0" err="1">
                <a:solidFill>
                  <a:schemeClr val="bg1"/>
                </a:solidFill>
              </a:rPr>
              <a:t>Float</a:t>
            </a:r>
            <a:r>
              <a:rPr lang="en-US" altLang="zh-CN" sz="1600" b="1" dirty="0" err="1">
                <a:solidFill>
                  <a:srgbClr val="FFFF00"/>
                </a:solidFill>
              </a:rPr>
              <a:t>N</a:t>
            </a:r>
            <a:r>
              <a:rPr lang="zh-CN" altLang="en-US" sz="1600" b="1" dirty="0">
                <a:solidFill>
                  <a:schemeClr val="bg1"/>
                </a:solidFill>
              </a:rPr>
              <a:t>（变量）</a:t>
            </a:r>
            <a:endParaRPr lang="en-US" altLang="zh-CN" sz="1600" b="1" dirty="0">
              <a:solidFill>
                <a:schemeClr val="bg1"/>
              </a:solidFill>
            </a:endParaRPr>
          </a:p>
        </p:txBody>
      </p:sp>
      <p:sp>
        <p:nvSpPr>
          <p:cNvPr id="19" name="标题 1">
            <a:extLst>
              <a:ext uri="{FF2B5EF4-FFF2-40B4-BE49-F238E27FC236}">
                <a16:creationId xmlns:a16="http://schemas.microsoft.com/office/drawing/2014/main" id="{E115CAD8-B747-4915-ACC9-F819F7D18D93}"/>
              </a:ext>
            </a:extLst>
          </p:cNvPr>
          <p:cNvSpPr txBox="1">
            <a:spLocks/>
          </p:cNvSpPr>
          <p:nvPr/>
        </p:nvSpPr>
        <p:spPr bwMode="auto">
          <a:xfrm>
            <a:off x="1431226" y="2540620"/>
            <a:ext cx="7393531"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noAutofit/>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ctr"/>
            <a:r>
              <a:rPr lang="zh-CN" altLang="en-US" sz="1800" b="1" kern="100" dirty="0">
                <a:solidFill>
                  <a:srgbClr val="0070C0"/>
                </a:solidFill>
                <a:latin typeface="微软雅黑" panose="020B0503020204020204" pitchFamily="34" charset="-122"/>
                <a:ea typeface="微软雅黑" panose="020B0503020204020204" pitchFamily="34" charset="-122"/>
              </a:rPr>
              <a:t>浮点数变量创建、用</a:t>
            </a:r>
            <a:r>
              <a:rPr lang="en-US" altLang="zh-CN" sz="1800" b="1" kern="100" dirty="0" err="1">
                <a:solidFill>
                  <a:srgbClr val="0070C0"/>
                </a:solidFill>
                <a:latin typeface="微软雅黑" panose="020B0503020204020204" pitchFamily="34" charset="-122"/>
                <a:ea typeface="微软雅黑" panose="020B0503020204020204" pitchFamily="34" charset="-122"/>
              </a:rPr>
              <a:t>FloatN</a:t>
            </a:r>
            <a:r>
              <a:rPr lang="zh-CN" altLang="en-US" sz="1800" b="1" kern="100" dirty="0">
                <a:solidFill>
                  <a:srgbClr val="0070C0"/>
                </a:solidFill>
                <a:latin typeface="微软雅黑" panose="020B0503020204020204" pitchFamily="34" charset="-122"/>
                <a:ea typeface="微软雅黑" panose="020B0503020204020204" pitchFamily="34" charset="-122"/>
              </a:rPr>
              <a:t>转换</a:t>
            </a:r>
            <a:r>
              <a:rPr lang="en-US" altLang="zh-CN" sz="1800" b="1" kern="100" dirty="0">
                <a:solidFill>
                  <a:srgbClr val="0070C0"/>
                </a:solidFill>
                <a:latin typeface="微软雅黑" panose="020B0503020204020204" pitchFamily="34" charset="-122"/>
                <a:ea typeface="微软雅黑" panose="020B0503020204020204" pitchFamily="34" charset="-122"/>
              </a:rPr>
              <a:t>,  </a:t>
            </a:r>
            <a:r>
              <a:rPr lang="zh-CN" altLang="en-US" sz="1800" b="1" kern="100" dirty="0">
                <a:solidFill>
                  <a:srgbClr val="0070C0"/>
                </a:solidFill>
                <a:latin typeface="微软雅黑" panose="020B0503020204020204" pitchFamily="34" charset="-122"/>
                <a:ea typeface="微软雅黑" panose="020B0503020204020204" pitchFamily="34" charset="-122"/>
              </a:rPr>
              <a:t>然后进行运算，以及</a:t>
            </a:r>
            <a:r>
              <a:rPr lang="en-US" altLang="zh-CN" sz="1800" b="1" kern="100" dirty="0" err="1">
                <a:solidFill>
                  <a:srgbClr val="0070C0"/>
                </a:solidFill>
                <a:latin typeface="微软雅黑" panose="020B0503020204020204" pitchFamily="34" charset="-122"/>
                <a:ea typeface="微软雅黑" panose="020B0503020204020204" pitchFamily="34" charset="-122"/>
              </a:rPr>
              <a:t>typeof</a:t>
            </a:r>
            <a:r>
              <a:rPr lang="zh-CN" altLang="en-US" sz="1800" b="1" kern="100" dirty="0">
                <a:solidFill>
                  <a:srgbClr val="0070C0"/>
                </a:solidFill>
                <a:latin typeface="微软雅黑" panose="020B0503020204020204" pitchFamily="34" charset="-122"/>
                <a:ea typeface="微软雅黑" panose="020B0503020204020204" pitchFamily="34" charset="-122"/>
              </a:rPr>
              <a:t>判断变量类型</a:t>
            </a:r>
          </a:p>
        </p:txBody>
      </p:sp>
      <p:sp>
        <p:nvSpPr>
          <p:cNvPr id="18" name="文本框 17">
            <a:extLst>
              <a:ext uri="{FF2B5EF4-FFF2-40B4-BE49-F238E27FC236}">
                <a16:creationId xmlns:a16="http://schemas.microsoft.com/office/drawing/2014/main" id="{C699A4F9-EA5C-4253-A78D-ED6D0057F088}"/>
              </a:ext>
            </a:extLst>
          </p:cNvPr>
          <p:cNvSpPr txBox="1"/>
          <p:nvPr/>
        </p:nvSpPr>
        <p:spPr>
          <a:xfrm>
            <a:off x="194283" y="4258901"/>
            <a:ext cx="4637314" cy="369332"/>
          </a:xfrm>
          <a:prstGeom prst="rect">
            <a:avLst/>
          </a:prstGeom>
          <a:noFill/>
        </p:spPr>
        <p:txBody>
          <a:bodyPr wrap="square">
            <a:spAutoFit/>
          </a:bodyPr>
          <a:lstStyle/>
          <a:p>
            <a:r>
              <a:rPr lang="en-US" altLang="zh-CN" b="1" dirty="0">
                <a:solidFill>
                  <a:srgbClr val="FF0000"/>
                </a:solidFill>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结果ERROR: InexactError: Int32(34.02)</a:t>
            </a:r>
          </a:p>
        </p:txBody>
      </p:sp>
    </p:spTree>
    <p:extLst>
      <p:ext uri="{BB962C8B-B14F-4D97-AF65-F5344CB8AC3E}">
        <p14:creationId xmlns:p14="http://schemas.microsoft.com/office/powerpoint/2010/main" val="4190440624"/>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nodePh="1">
                                  <p:stCondLst>
                                    <p:cond delay="0"/>
                                  </p:stCondLst>
                                  <p:endCondLst>
                                    <p:cond evt="begin" delay="0">
                                      <p:tn val="29"/>
                                    </p:cond>
                                  </p:end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1" grpId="0"/>
      <p:bldP spid="13" grpId="0"/>
      <p:bldP spid="15" grpId="0" animBg="1"/>
      <p:bldP spid="17" grpId="0" animBg="1"/>
      <p:bldP spid="14" grpId="0"/>
      <p:bldP spid="16" grpId="0" animBg="1"/>
      <p:bldP spid="19"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71976CC9-2DCA-4F62-B3BA-1D0EA55FAB5A}"/>
              </a:ext>
            </a:extLst>
          </p:cNvPr>
          <p:cNvSpPr txBox="1">
            <a:spLocks/>
          </p:cNvSpPr>
          <p:nvPr/>
        </p:nvSpPr>
        <p:spPr bwMode="auto">
          <a:xfrm>
            <a:off x="906893" y="-124560"/>
            <a:ext cx="8064896" cy="685799"/>
          </a:xfrm>
          <a:prstGeom prst="rect">
            <a:avLst/>
          </a:prstGeom>
          <a:noFill/>
          <a:ln w="9525">
            <a:noFill/>
            <a:miter lim="800000"/>
            <a:headEnd/>
            <a:tailEnd/>
          </a:ln>
        </p:spPr>
        <p:txBody>
          <a:bodyPr vert="horz" wrap="none" lIns="91440" tIns="45720" rIns="91440" bIns="45720" numCol="1" anchor="b" anchorCtr="0" compatLnSpc="1">
            <a:prstTxWarp prst="textNoShape">
              <a:avLst/>
            </a:prstTxWarp>
            <a:normAutofit/>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1" dirty="0"/>
              <a:t>§1.3.2.2. </a:t>
            </a:r>
            <a:r>
              <a:rPr lang="zh-CN" altLang="en-US" sz="2400" b="1" dirty="0"/>
              <a:t>浮点数 </a:t>
            </a:r>
            <a:r>
              <a:rPr lang="en-US" altLang="zh-CN" sz="2400" b="1" kern="0" dirty="0">
                <a:solidFill>
                  <a:srgbClr val="FF0000"/>
                </a:solidFill>
              </a:rPr>
              <a:t>——2. </a:t>
            </a:r>
            <a:r>
              <a:rPr lang="zh-CN" altLang="en-US" sz="2400" b="1" dirty="0">
                <a:solidFill>
                  <a:srgbClr val="FF0000"/>
                </a:solidFill>
              </a:rPr>
              <a:t>正无穷</a:t>
            </a:r>
            <a:r>
              <a:rPr lang="en-US" altLang="zh-CN" sz="2400" b="1" dirty="0">
                <a:solidFill>
                  <a:srgbClr val="FF0000"/>
                </a:solidFill>
              </a:rPr>
              <a:t>/</a:t>
            </a:r>
            <a:r>
              <a:rPr lang="zh-CN" altLang="en-US" sz="2400" b="1" dirty="0">
                <a:solidFill>
                  <a:srgbClr val="FF0000"/>
                </a:solidFill>
              </a:rPr>
              <a:t>负无穷</a:t>
            </a:r>
            <a:r>
              <a:rPr lang="en-US" altLang="zh-CN" sz="2400" b="1" dirty="0">
                <a:solidFill>
                  <a:srgbClr val="FF0000"/>
                </a:solidFill>
              </a:rPr>
              <a:t>/</a:t>
            </a:r>
            <a:r>
              <a:rPr lang="en-US" altLang="zh-CN" sz="2400" b="1" dirty="0" err="1">
                <a:solidFill>
                  <a:srgbClr val="FF0000"/>
                </a:solidFill>
              </a:rPr>
              <a:t>NaN</a:t>
            </a:r>
            <a:r>
              <a:rPr lang="zh-CN" altLang="en-US" sz="2400" b="1" dirty="0">
                <a:solidFill>
                  <a:srgbClr val="FF0000"/>
                </a:solidFill>
              </a:rPr>
              <a:t>特殊浮点数</a:t>
            </a:r>
          </a:p>
        </p:txBody>
      </p:sp>
      <p:pic>
        <p:nvPicPr>
          <p:cNvPr id="5" name="图片 4">
            <a:extLst>
              <a:ext uri="{FF2B5EF4-FFF2-40B4-BE49-F238E27FC236}">
                <a16:creationId xmlns:a16="http://schemas.microsoft.com/office/drawing/2014/main" id="{2B30986B-7EBC-4AA0-B63C-EB205067B81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931" t="2576" r="67625"/>
          <a:stretch/>
        </p:blipFill>
        <p:spPr>
          <a:xfrm rot="16200000">
            <a:off x="3561851" y="-2038801"/>
            <a:ext cx="2020299" cy="8928993"/>
          </a:xfrm>
          <a:prstGeom prst="rect">
            <a:avLst/>
          </a:prstGeom>
        </p:spPr>
      </p:pic>
      <p:sp>
        <p:nvSpPr>
          <p:cNvPr id="15" name="矩形 14">
            <a:extLst>
              <a:ext uri="{FF2B5EF4-FFF2-40B4-BE49-F238E27FC236}">
                <a16:creationId xmlns:a16="http://schemas.microsoft.com/office/drawing/2014/main" id="{7EE4612D-A289-45FB-A2C2-EBB07BF8F9B2}"/>
              </a:ext>
            </a:extLst>
          </p:cNvPr>
          <p:cNvSpPr/>
          <p:nvPr/>
        </p:nvSpPr>
        <p:spPr>
          <a:xfrm>
            <a:off x="388776" y="1154861"/>
            <a:ext cx="2844244" cy="400110"/>
          </a:xfrm>
          <a:prstGeom prst="rect">
            <a:avLst/>
          </a:prstGeom>
          <a:solidFill>
            <a:schemeClr val="bg1"/>
          </a:solidFill>
        </p:spPr>
        <p:txBody>
          <a:bodyPr wrap="square">
            <a:spAutoFit/>
          </a:bodyPr>
          <a:lstStyle/>
          <a:p>
            <a:pPr lvl="0">
              <a:spcBef>
                <a:spcPct val="30000"/>
              </a:spcBef>
              <a:defRPr/>
            </a:pPr>
            <a:r>
              <a:rPr lang="zh-CN" altLang="en-US" sz="2000" b="1" dirty="0">
                <a:solidFill>
                  <a:srgbClr val="0070C0"/>
                </a:solidFill>
                <a:latin typeface="微软雅黑" panose="020B0503020204020204" pitchFamily="34" charset="-122"/>
                <a:ea typeface="微软雅黑" panose="020B0503020204020204" pitchFamily="34" charset="-122"/>
              </a:rPr>
              <a:t>特殊的三种浮点数列表</a:t>
            </a:r>
          </a:p>
        </p:txBody>
      </p:sp>
      <p:sp>
        <p:nvSpPr>
          <p:cNvPr id="10" name="文本框 9">
            <a:extLst>
              <a:ext uri="{FF2B5EF4-FFF2-40B4-BE49-F238E27FC236}">
                <a16:creationId xmlns:a16="http://schemas.microsoft.com/office/drawing/2014/main" id="{9B8F9223-7403-414A-8202-74D56C8A1507}"/>
              </a:ext>
            </a:extLst>
          </p:cNvPr>
          <p:cNvSpPr txBox="1"/>
          <p:nvPr/>
        </p:nvSpPr>
        <p:spPr>
          <a:xfrm>
            <a:off x="7296779" y="1966237"/>
            <a:ext cx="1584175" cy="369332"/>
          </a:xfrm>
          <a:prstGeom prst="rect">
            <a:avLst/>
          </a:prstGeom>
          <a:noFill/>
        </p:spPr>
        <p:txBody>
          <a:bodyPr wrap="square">
            <a:spAutoFit/>
          </a:bodyPr>
          <a:lstStyle>
            <a:defPPr>
              <a:defRPr lang="zh-CN"/>
            </a:defPPr>
            <a:lvl1pPr>
              <a:defRPr kumimoji="0" sz="1800" b="0" i="0" u="none" strike="noStrike" cap="none" normalizeH="0" baseline="0">
                <a:ln>
                  <a:noFill/>
                </a:ln>
                <a:solidFill>
                  <a:schemeClr val="bg1"/>
                </a:solidFill>
                <a:effectLst/>
                <a:highlight>
                  <a:srgbClr val="003B76"/>
                </a:highlight>
                <a:latin typeface="隶书" panose="02010509060101010101" pitchFamily="49" charset="-122"/>
                <a:ea typeface="隶书" panose="02010509060101010101" pitchFamily="49" charset="-122"/>
              </a:defRPr>
            </a:lvl1pPr>
          </a:lstStyle>
          <a:p>
            <a:r>
              <a:rPr lang="zh-CN" altLang="en-US" dirty="0">
                <a:highlight>
                  <a:srgbClr val="3399FF"/>
                </a:highlight>
              </a:rPr>
              <a:t>如零实数n</a:t>
            </a:r>
            <a:r>
              <a:rPr lang="en-US" altLang="zh-CN" dirty="0">
                <a:highlight>
                  <a:srgbClr val="3399FF"/>
                </a:highlight>
              </a:rPr>
              <a:t>/</a:t>
            </a:r>
            <a:r>
              <a:rPr lang="zh-CN" altLang="en-US" dirty="0">
                <a:highlight>
                  <a:srgbClr val="3399FF"/>
                </a:highlight>
              </a:rPr>
              <a:t>0</a:t>
            </a:r>
          </a:p>
        </p:txBody>
      </p:sp>
      <p:sp>
        <p:nvSpPr>
          <p:cNvPr id="11" name="文本框 10">
            <a:extLst>
              <a:ext uri="{FF2B5EF4-FFF2-40B4-BE49-F238E27FC236}">
                <a16:creationId xmlns:a16="http://schemas.microsoft.com/office/drawing/2014/main" id="{FF2685D1-FC59-485F-96AA-C44E6EFC7A74}"/>
              </a:ext>
            </a:extLst>
          </p:cNvPr>
          <p:cNvSpPr txBox="1"/>
          <p:nvPr/>
        </p:nvSpPr>
        <p:spPr>
          <a:xfrm>
            <a:off x="7843997" y="2837033"/>
            <a:ext cx="1127792" cy="369332"/>
          </a:xfrm>
          <a:prstGeom prst="rect">
            <a:avLst/>
          </a:prstGeom>
          <a:noFill/>
        </p:spPr>
        <p:txBody>
          <a:bodyPr wrap="square">
            <a:spAutoFit/>
          </a:bodyPr>
          <a:lstStyle>
            <a:defPPr>
              <a:defRPr lang="zh-CN"/>
            </a:defPPr>
            <a:lvl1pPr>
              <a:defRPr kumimoji="0" sz="1800" b="0" i="0" u="none" strike="noStrike" cap="none" normalizeH="0" baseline="0">
                <a:ln>
                  <a:noFill/>
                </a:ln>
                <a:solidFill>
                  <a:schemeClr val="bg1"/>
                </a:solidFill>
                <a:effectLst/>
                <a:highlight>
                  <a:srgbClr val="3399FF"/>
                </a:highlight>
                <a:latin typeface="隶书" panose="02010509060101010101" pitchFamily="49" charset="-122"/>
                <a:ea typeface="隶书" panose="02010509060101010101" pitchFamily="49" charset="-122"/>
              </a:defRPr>
            </a:lvl1pPr>
          </a:lstStyle>
          <a:p>
            <a:r>
              <a:rPr lang="zh-CN" altLang="en-US" dirty="0"/>
              <a:t>如</a:t>
            </a:r>
            <a:r>
              <a:rPr lang="en-US" altLang="zh-CN" dirty="0"/>
              <a:t>0/0</a:t>
            </a:r>
            <a:endParaRPr lang="zh-CN" altLang="en-US" dirty="0"/>
          </a:p>
        </p:txBody>
      </p:sp>
      <p:sp>
        <p:nvSpPr>
          <p:cNvPr id="16" name="矩形 15">
            <a:extLst>
              <a:ext uri="{FF2B5EF4-FFF2-40B4-BE49-F238E27FC236}">
                <a16:creationId xmlns:a16="http://schemas.microsoft.com/office/drawing/2014/main" id="{43DBC2C2-8728-4BEC-A6DF-B8ACE74DB927}"/>
              </a:ext>
            </a:extLst>
          </p:cNvPr>
          <p:cNvSpPr/>
          <p:nvPr/>
        </p:nvSpPr>
        <p:spPr>
          <a:xfrm>
            <a:off x="436303" y="3718162"/>
            <a:ext cx="968359"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err="1">
                <a:solidFill>
                  <a:schemeClr val="bg1"/>
                </a:solidFill>
              </a:rPr>
              <a:t>isinf</a:t>
            </a:r>
            <a:r>
              <a:rPr lang="en-US" altLang="zh-CN" sz="2000" b="1" dirty="0">
                <a:solidFill>
                  <a:schemeClr val="bg1"/>
                </a:solidFill>
              </a:rPr>
              <a:t>(x)</a:t>
            </a:r>
          </a:p>
        </p:txBody>
      </p:sp>
      <p:sp>
        <p:nvSpPr>
          <p:cNvPr id="17" name="矩形 16">
            <a:extLst>
              <a:ext uri="{FF2B5EF4-FFF2-40B4-BE49-F238E27FC236}">
                <a16:creationId xmlns:a16="http://schemas.microsoft.com/office/drawing/2014/main" id="{9FCEDE9B-92B1-484A-AD49-588BA03FDBA7}"/>
              </a:ext>
            </a:extLst>
          </p:cNvPr>
          <p:cNvSpPr/>
          <p:nvPr/>
        </p:nvSpPr>
        <p:spPr>
          <a:xfrm>
            <a:off x="436303" y="4178514"/>
            <a:ext cx="1080349"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a:solidFill>
                  <a:schemeClr val="bg1"/>
                </a:solidFill>
              </a:rPr>
              <a:t>isnan</a:t>
            </a:r>
            <a:r>
              <a:rPr lang="en-US" altLang="zh-CN" sz="2000" b="1" dirty="0">
                <a:solidFill>
                  <a:schemeClr val="bg1"/>
                </a:solidFill>
              </a:rPr>
              <a:t>(</a:t>
            </a:r>
            <a:r>
              <a:rPr lang="en-US" altLang="zh-CN" sz="2000" b="1">
                <a:solidFill>
                  <a:schemeClr val="bg1"/>
                </a:solidFill>
              </a:rPr>
              <a:t>x)</a:t>
            </a:r>
            <a:endParaRPr lang="en-US" altLang="zh-CN" sz="2000" b="1" dirty="0">
              <a:solidFill>
                <a:schemeClr val="bg1"/>
              </a:solidFill>
            </a:endParaRPr>
          </a:p>
        </p:txBody>
      </p:sp>
      <p:sp>
        <p:nvSpPr>
          <p:cNvPr id="21" name="文本框 20">
            <a:extLst>
              <a:ext uri="{FF2B5EF4-FFF2-40B4-BE49-F238E27FC236}">
                <a16:creationId xmlns:a16="http://schemas.microsoft.com/office/drawing/2014/main" id="{4B60B6DF-A35E-45FB-AFDC-B2C7505CBE45}"/>
              </a:ext>
            </a:extLst>
          </p:cNvPr>
          <p:cNvSpPr txBox="1"/>
          <p:nvPr/>
        </p:nvSpPr>
        <p:spPr>
          <a:xfrm>
            <a:off x="356585" y="3288588"/>
            <a:ext cx="5486400" cy="369332"/>
          </a:xfrm>
          <a:prstGeom prst="rect">
            <a:avLst/>
          </a:prstGeom>
          <a:noFill/>
        </p:spPr>
        <p:txBody>
          <a:bodyPr wrap="square">
            <a:spAutoFit/>
          </a:bodyPr>
          <a:lstStyle/>
          <a:p>
            <a:pPr lvl="0">
              <a:spcBef>
                <a:spcPct val="30000"/>
              </a:spcBef>
              <a:defRPr/>
            </a:pPr>
            <a:r>
              <a:rPr lang="zh-CN" altLang="en-US" sz="1800" b="1" dirty="0">
                <a:solidFill>
                  <a:srgbClr val="0070C0"/>
                </a:solidFill>
                <a:latin typeface="微软雅黑" panose="020B0503020204020204" pitchFamily="34" charset="-122"/>
                <a:ea typeface="微软雅黑" panose="020B0503020204020204" pitchFamily="34" charset="-122"/>
              </a:rPr>
              <a:t>判断变量是否是无穷和非数的指令</a:t>
            </a:r>
          </a:p>
        </p:txBody>
      </p:sp>
      <p:sp>
        <p:nvSpPr>
          <p:cNvPr id="22" name="文本框 21">
            <a:extLst>
              <a:ext uri="{FF2B5EF4-FFF2-40B4-BE49-F238E27FC236}">
                <a16:creationId xmlns:a16="http://schemas.microsoft.com/office/drawing/2014/main" id="{18F72582-07E3-43BB-9889-3BC56271AD1F}"/>
              </a:ext>
            </a:extLst>
          </p:cNvPr>
          <p:cNvSpPr txBox="1"/>
          <p:nvPr/>
        </p:nvSpPr>
        <p:spPr>
          <a:xfrm>
            <a:off x="1516652" y="3718162"/>
            <a:ext cx="2623300" cy="369332"/>
          </a:xfrm>
          <a:prstGeom prst="rect">
            <a:avLst/>
          </a:prstGeom>
          <a:noFill/>
        </p:spPr>
        <p:txBody>
          <a:bodyPr wrap="square">
            <a:spAutoFit/>
          </a:bodyPr>
          <a:lstStyle/>
          <a:p>
            <a:r>
              <a:rPr lang="en-US" altLang="zh-CN" sz="1800" b="1" dirty="0">
                <a:solidFill>
                  <a:srgbClr val="00B0F0"/>
                </a:solidFill>
                <a:latin typeface="微软雅黑" panose="020B0503020204020204" pitchFamily="34" charset="-122"/>
                <a:ea typeface="微软雅黑" panose="020B0503020204020204" pitchFamily="34" charset="-122"/>
              </a:rPr>
              <a:t>x </a:t>
            </a:r>
            <a:r>
              <a:rPr lang="zh-CN" altLang="en-US" sz="1800" b="1" dirty="0">
                <a:solidFill>
                  <a:srgbClr val="00B0F0"/>
                </a:solidFill>
                <a:latin typeface="微软雅黑" panose="020B0503020204020204" pitchFamily="34" charset="-122"/>
                <a:ea typeface="微软雅黑" panose="020B0503020204020204" pitchFamily="34" charset="-122"/>
              </a:rPr>
              <a:t>是否（正</a:t>
            </a:r>
            <a:r>
              <a:rPr lang="en-US" altLang="zh-CN" sz="1800" b="1" dirty="0">
                <a:solidFill>
                  <a:srgbClr val="00B0F0"/>
                </a:solidFill>
                <a:latin typeface="微软雅黑" panose="020B0503020204020204" pitchFamily="34" charset="-122"/>
                <a:ea typeface="微软雅黑" panose="020B0503020204020204" pitchFamily="34" charset="-122"/>
              </a:rPr>
              <a:t>/</a:t>
            </a:r>
            <a:r>
              <a:rPr lang="zh-CN" altLang="en-US" sz="1800" b="1" dirty="0">
                <a:solidFill>
                  <a:srgbClr val="00B0F0"/>
                </a:solidFill>
                <a:latin typeface="微软雅黑" panose="020B0503020204020204" pitchFamily="34" charset="-122"/>
                <a:ea typeface="微软雅黑" panose="020B0503020204020204" pitchFamily="34" charset="-122"/>
              </a:rPr>
              <a:t>负）无穷大</a:t>
            </a:r>
            <a:endParaRPr lang="en-US" altLang="zh-CN" sz="1800" b="1" dirty="0">
              <a:solidFill>
                <a:srgbClr val="00B0F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5C9BB6EB-9866-4C20-88C3-7984B75B23F6}"/>
              </a:ext>
            </a:extLst>
          </p:cNvPr>
          <p:cNvSpPr txBox="1"/>
          <p:nvPr/>
        </p:nvSpPr>
        <p:spPr>
          <a:xfrm>
            <a:off x="1669040" y="4226122"/>
            <a:ext cx="2164293" cy="369332"/>
          </a:xfrm>
          <a:prstGeom prst="rect">
            <a:avLst/>
          </a:prstGeom>
          <a:noFill/>
        </p:spPr>
        <p:txBody>
          <a:bodyPr wrap="square">
            <a:spAutoFit/>
          </a:bodyPr>
          <a:lstStyle>
            <a:defPPr>
              <a:defRPr lang="zh-CN"/>
            </a:defPPr>
            <a:lvl1pPr>
              <a:defRPr sz="1800" b="1">
                <a:solidFill>
                  <a:srgbClr val="00B0F0"/>
                </a:solidFill>
                <a:latin typeface="微软雅黑" panose="020B0503020204020204" pitchFamily="34" charset="-122"/>
                <a:ea typeface="微软雅黑" panose="020B0503020204020204" pitchFamily="34" charset="-122"/>
              </a:defRPr>
            </a:lvl1pPr>
          </a:lstStyle>
          <a:p>
            <a:r>
              <a:rPr lang="en-US" altLang="zh-CN" dirty="0"/>
              <a:t>x </a:t>
            </a:r>
            <a:r>
              <a:rPr lang="zh-CN" altLang="en-US" dirty="0"/>
              <a:t>是否是 </a:t>
            </a:r>
            <a:r>
              <a:rPr lang="en-US" altLang="zh-CN" dirty="0" err="1"/>
              <a:t>NaN</a:t>
            </a:r>
            <a:endParaRPr lang="zh-CN" altLang="en-US" dirty="0"/>
          </a:p>
        </p:txBody>
      </p:sp>
      <p:sp>
        <p:nvSpPr>
          <p:cNvPr id="24" name="AutoShape 13">
            <a:extLst>
              <a:ext uri="{FF2B5EF4-FFF2-40B4-BE49-F238E27FC236}">
                <a16:creationId xmlns:a16="http://schemas.microsoft.com/office/drawing/2014/main" id="{4C3B81F0-35B9-4652-B0DC-07054ADE0C64}"/>
              </a:ext>
            </a:extLst>
          </p:cNvPr>
          <p:cNvSpPr>
            <a:spLocks noChangeArrowheads="1"/>
          </p:cNvSpPr>
          <p:nvPr/>
        </p:nvSpPr>
        <p:spPr bwMode="auto">
          <a:xfrm>
            <a:off x="4413911" y="3308299"/>
            <a:ext cx="1222892" cy="645842"/>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rgbClr val="FFFF00"/>
                </a:solidFill>
                <a:latin typeface="微软雅黑" panose="020B0503020204020204" pitchFamily="34" charset="-122"/>
                <a:ea typeface="微软雅黑" panose="020B0503020204020204" pitchFamily="34" charset="-122"/>
              </a:rPr>
              <a:t> </a:t>
            </a:r>
            <a:r>
              <a:rPr lang="zh-CN" altLang="en-US" sz="1600" b="1" dirty="0">
                <a:solidFill>
                  <a:srgbClr val="FFFF00"/>
                </a:solidFill>
                <a:latin typeface="微软雅黑" panose="020B0503020204020204" pitchFamily="34" charset="-122"/>
                <a:ea typeface="微软雅黑" panose="020B0503020204020204" pitchFamily="34" charset="-122"/>
              </a:rPr>
              <a:t>注意</a:t>
            </a:r>
            <a:endParaRPr lang="zh-CN" altLang="en-US" sz="1600" b="1" kern="0" dirty="0">
              <a:solidFill>
                <a:srgbClr val="FFFF00"/>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7E398A98-2F41-4732-B3B4-E06B023C053B}"/>
              </a:ext>
            </a:extLst>
          </p:cNvPr>
          <p:cNvSpPr txBox="1"/>
          <p:nvPr/>
        </p:nvSpPr>
        <p:spPr>
          <a:xfrm>
            <a:off x="5320352" y="3684117"/>
            <a:ext cx="3632715" cy="798808"/>
          </a:xfrm>
          <a:prstGeom prst="rect">
            <a:avLst/>
          </a:prstGeom>
          <a:noFill/>
        </p:spPr>
        <p:txBody>
          <a:bodyPr wrap="square">
            <a:spAutoFit/>
          </a:bodyPr>
          <a:lstStyle/>
          <a:p>
            <a:pPr>
              <a:lnSpc>
                <a:spcPts val="2900"/>
              </a:lnSpc>
            </a:pPr>
            <a:r>
              <a:rPr lang="en-US" altLang="zh-CN" sz="2000" b="1" dirty="0">
                <a:solidFill>
                  <a:srgbClr val="0070C0"/>
                </a:solidFill>
              </a:rPr>
              <a:t>Inf</a:t>
            </a:r>
            <a:r>
              <a:rPr lang="zh-CN" altLang="en-US" sz="2000" b="1" dirty="0">
                <a:solidFill>
                  <a:srgbClr val="0070C0"/>
                </a:solidFill>
              </a:rPr>
              <a:t>和</a:t>
            </a:r>
            <a:r>
              <a:rPr lang="en-US" altLang="zh-CN" sz="2000" b="1" dirty="0">
                <a:solidFill>
                  <a:srgbClr val="0070C0"/>
                </a:solidFill>
              </a:rPr>
              <a:t>Nan</a:t>
            </a:r>
            <a:r>
              <a:rPr lang="zh-CN" altLang="en-US" sz="2000" b="1" dirty="0">
                <a:solidFill>
                  <a:srgbClr val="0070C0"/>
                </a:solidFill>
              </a:rPr>
              <a:t>具有继承性</a:t>
            </a:r>
            <a:r>
              <a:rPr lang="en-US" altLang="zh-CN" sz="2000" b="1" dirty="0">
                <a:solidFill>
                  <a:srgbClr val="0070C0"/>
                </a:solidFill>
              </a:rPr>
              <a:t>,</a:t>
            </a:r>
          </a:p>
          <a:p>
            <a:pPr>
              <a:lnSpc>
                <a:spcPts val="2900"/>
              </a:lnSpc>
            </a:pPr>
            <a:r>
              <a:rPr lang="en-US" altLang="zh-CN" sz="2000" b="1" dirty="0">
                <a:solidFill>
                  <a:srgbClr val="0070C0"/>
                </a:solidFill>
                <a:latin typeface="+mj-ea"/>
              </a:rPr>
              <a:t>Inf</a:t>
            </a:r>
            <a:r>
              <a:rPr lang="zh-CN" altLang="en-US" sz="2000" b="1" dirty="0">
                <a:solidFill>
                  <a:srgbClr val="0070C0"/>
                </a:solidFill>
                <a:latin typeface="+mj-ea"/>
              </a:rPr>
              <a:t>、</a:t>
            </a:r>
            <a:r>
              <a:rPr lang="en-US" altLang="zh-CN" sz="2000" b="1" dirty="0">
                <a:solidFill>
                  <a:srgbClr val="0070C0"/>
                </a:solidFill>
                <a:latin typeface="+mj-ea"/>
              </a:rPr>
              <a:t>nan</a:t>
            </a:r>
            <a:r>
              <a:rPr lang="zh-CN" altLang="en-US" sz="2000" b="1" dirty="0">
                <a:solidFill>
                  <a:srgbClr val="0070C0"/>
                </a:solidFill>
                <a:latin typeface="+mj-ea"/>
              </a:rPr>
              <a:t>编程错误，避免产生</a:t>
            </a:r>
            <a:endParaRPr lang="en-US" altLang="zh-CN" sz="2000" b="1" dirty="0">
              <a:solidFill>
                <a:srgbClr val="0070C0"/>
              </a:solidFill>
              <a:latin typeface="+mj-ea"/>
            </a:endParaRPr>
          </a:p>
        </p:txBody>
      </p:sp>
      <p:sp>
        <p:nvSpPr>
          <p:cNvPr id="3" name="内容占位符 2"/>
          <p:cNvSpPr>
            <a:spLocks noGrp="1"/>
          </p:cNvSpPr>
          <p:nvPr>
            <p:ph idx="1"/>
          </p:nvPr>
        </p:nvSpPr>
        <p:spPr>
          <a:xfrm>
            <a:off x="3207236" y="1156513"/>
            <a:ext cx="5659460" cy="377604"/>
          </a:xfr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indent="0" algn="dist">
              <a:buNone/>
            </a:pPr>
            <a:r>
              <a:rPr lang="zh-CN" altLang="en-US" sz="1800" b="1" kern="1200" dirty="0">
                <a:solidFill>
                  <a:srgbClr val="00B0F0"/>
                </a:solidFill>
                <a:latin typeface="微软雅黑" panose="020B0503020204020204" pitchFamily="34" charset="-122"/>
                <a:ea typeface="微软雅黑" panose="020B0503020204020204" pitchFamily="34" charset="-122"/>
              </a:rPr>
              <a:t>三种标准浮点值不和实数轴上任何一点相互对应</a:t>
            </a:r>
            <a:endParaRPr lang="en-US" altLang="zh-CN" sz="1800" b="1" kern="1200" dirty="0">
              <a:solidFill>
                <a:srgbClr val="00B0F0"/>
              </a:solidFill>
              <a:latin typeface="微软雅黑" panose="020B0503020204020204" pitchFamily="34" charset="-122"/>
              <a:ea typeface="微软雅黑" panose="020B0503020204020204" pitchFamily="34" charset="-122"/>
            </a:endParaRPr>
          </a:p>
        </p:txBody>
      </p:sp>
      <p:sp>
        <p:nvSpPr>
          <p:cNvPr id="18" name="内容占位符 2">
            <a:extLst>
              <a:ext uri="{FF2B5EF4-FFF2-40B4-BE49-F238E27FC236}">
                <a16:creationId xmlns:a16="http://schemas.microsoft.com/office/drawing/2014/main" id="{CA2AB878-DF46-4A3C-A7E0-A6D710A2F4B3}"/>
              </a:ext>
            </a:extLst>
          </p:cNvPr>
          <p:cNvSpPr txBox="1">
            <a:spLocks/>
          </p:cNvSpPr>
          <p:nvPr/>
        </p:nvSpPr>
        <p:spPr bwMode="auto">
          <a:xfrm>
            <a:off x="472878" y="751503"/>
            <a:ext cx="8393817" cy="338554"/>
          </a:xfrm>
          <a:prstGeom prst="rect">
            <a:avLst/>
          </a:prstGeom>
          <a:solidFill>
            <a:srgbClr val="0070C0"/>
          </a:solidFill>
          <a:ln w="9525">
            <a:noFill/>
            <a:miter lim="800000"/>
          </a:ln>
        </p:spPr>
        <p:txBody>
          <a:bodyPr vert="horz" wrap="square" lIns="91440" tIns="45720" rIns="91440" bIns="45720" rtlCol="0">
            <a:spAutoFit/>
          </a:bodyPr>
          <a:lstStyle>
            <a:defPPr>
              <a:defRPr lang="zh-CN"/>
            </a:defPPr>
            <a:lvl1pPr algn="dist" fontAlgn="auto">
              <a:spcBef>
                <a:spcPts val="0"/>
              </a:spcBef>
              <a:spcAft>
                <a:spcPts val="0"/>
              </a:spcAft>
              <a:defRPr sz="1600" b="0" i="0">
                <a:solidFill>
                  <a:schemeClr val="bg1"/>
                </a:solidFill>
                <a:effectLst/>
                <a:latin typeface="Helvetica Neue"/>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r>
              <a:rPr lang="zh-CN" altLang="en-US" b="1" dirty="0">
                <a:latin typeface="微软雅黑" panose="020B0503020204020204" pitchFamily="34" charset="-122"/>
                <a:ea typeface="微软雅黑" panose="020B0503020204020204" pitchFamily="34" charset="-122"/>
              </a:rPr>
              <a:t>为了能继续运行，设置</a:t>
            </a:r>
            <a:r>
              <a:rPr lang="en-US" altLang="zh-CN" b="1" dirty="0">
                <a:latin typeface="微软雅黑" panose="020B0503020204020204" pitchFamily="34" charset="-122"/>
                <a:ea typeface="微软雅黑" panose="020B0503020204020204" pitchFamily="34" charset="-122"/>
              </a:rPr>
              <a:t>inf</a:t>
            </a:r>
            <a:r>
              <a:rPr lang="zh-CN" altLang="en-US" b="1" dirty="0">
                <a:latin typeface="微软雅黑" panose="020B0503020204020204" pitchFamily="34" charset="-122"/>
                <a:ea typeface="微软雅黑" panose="020B0503020204020204" pitchFamily="34" charset="-122"/>
              </a:rPr>
              <a:t>和</a:t>
            </a:r>
            <a:r>
              <a:rPr lang="en-US" altLang="zh-CN" b="1" dirty="0">
                <a:latin typeface="微软雅黑" panose="020B0503020204020204" pitchFamily="34" charset="-122"/>
                <a:ea typeface="微软雅黑" panose="020B0503020204020204" pitchFamily="34" charset="-122"/>
              </a:rPr>
              <a:t>nan</a:t>
            </a:r>
            <a:r>
              <a:rPr lang="zh-CN" altLang="en-US" b="1" dirty="0">
                <a:latin typeface="微软雅黑" panose="020B0503020204020204" pitchFamily="34" charset="-122"/>
                <a:ea typeface="微软雅黑" panose="020B0503020204020204" pitchFamily="34" charset="-122"/>
              </a:rPr>
              <a:t>，可避免因数据上溢和无定义数的异常而破坏全局</a:t>
            </a:r>
            <a:endParaRPr lang="en-US" altLang="zh-CN" b="1" dirty="0">
              <a:latin typeface="微软雅黑" panose="020B0503020204020204" pitchFamily="34" charset="-122"/>
              <a:ea typeface="微软雅黑" panose="020B0503020204020204" pitchFamily="34" charset="-122"/>
            </a:endParaRPr>
          </a:p>
        </p:txBody>
      </p:sp>
    </p:spTree>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6" grpId="0" animBg="1"/>
      <p:bldP spid="17" grpId="0" animBg="1"/>
      <p:bldP spid="21" grpId="0"/>
      <p:bldP spid="22" grpId="0"/>
      <p:bldP spid="23" grpId="0"/>
      <p:bldP spid="24" grpId="0" animBg="1"/>
      <p:bldP spid="26" grpId="0"/>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20F1071-EE29-429D-B2F2-63F9A18FCB8E}"/>
              </a:ext>
            </a:extLst>
          </p:cNvPr>
          <p:cNvSpPr>
            <a:spLocks noGrp="1"/>
          </p:cNvSpPr>
          <p:nvPr>
            <p:ph idx="1"/>
          </p:nvPr>
        </p:nvSpPr>
        <p:spPr>
          <a:xfrm>
            <a:off x="1475656" y="802481"/>
            <a:ext cx="7402756" cy="465814"/>
          </a:xfrm>
        </p:spPr>
        <p:txBody>
          <a:bodyPr/>
          <a:lstStyle/>
          <a:p>
            <a:pPr marL="0" indent="0" algn="dist">
              <a:buNone/>
            </a:pPr>
            <a:r>
              <a:rPr lang="zh-CN" altLang="en-US" sz="2200" b="1" dirty="0">
                <a:solidFill>
                  <a:srgbClr val="0070C0"/>
                </a:solidFill>
                <a:latin typeface="微软雅黑" panose="020B0503020204020204" pitchFamily="34" charset="-122"/>
                <a:ea typeface="微软雅黑" panose="020B0503020204020204" pitchFamily="34" charset="-122"/>
              </a:rPr>
              <a:t>创建随机矩阵，并修改其中元素为无穷和非数，并运算</a:t>
            </a:r>
          </a:p>
        </p:txBody>
      </p:sp>
      <p:sp>
        <p:nvSpPr>
          <p:cNvPr id="6" name="文本框 5">
            <a:extLst>
              <a:ext uri="{FF2B5EF4-FFF2-40B4-BE49-F238E27FC236}">
                <a16:creationId xmlns:a16="http://schemas.microsoft.com/office/drawing/2014/main" id="{9EBBD6B7-5B83-42F5-BE99-B312F5D288B8}"/>
              </a:ext>
            </a:extLst>
          </p:cNvPr>
          <p:cNvSpPr txBox="1"/>
          <p:nvPr/>
        </p:nvSpPr>
        <p:spPr>
          <a:xfrm>
            <a:off x="251520" y="1422633"/>
            <a:ext cx="2746656" cy="1323439"/>
          </a:xfrm>
          <a:prstGeom prst="rect">
            <a:avLst/>
          </a:prstGeom>
          <a:noFill/>
        </p:spPr>
        <p:txBody>
          <a:bodyPr wrap="square">
            <a:spAutoFit/>
          </a:bodyPr>
          <a:lstStyle/>
          <a:p>
            <a:r>
              <a:rPr lang="zh-CN" altLang="en-US" sz="2000" dirty="0"/>
              <a:t>julia&gt; r=rand(2,2)</a:t>
            </a:r>
          </a:p>
          <a:p>
            <a:r>
              <a:rPr lang="zh-CN" altLang="en-US" sz="2000" dirty="0">
                <a:solidFill>
                  <a:srgbClr val="00B0F0"/>
                </a:solidFill>
              </a:rPr>
              <a:t>2×2 Matrix{Float64}:</a:t>
            </a:r>
          </a:p>
          <a:p>
            <a:r>
              <a:rPr lang="zh-CN" altLang="en-US" sz="2000" dirty="0">
                <a:solidFill>
                  <a:srgbClr val="00B0F0"/>
                </a:solidFill>
              </a:rPr>
              <a:t> 0.44205   0.851079</a:t>
            </a:r>
          </a:p>
          <a:p>
            <a:r>
              <a:rPr lang="zh-CN" altLang="en-US" sz="2000" dirty="0">
                <a:solidFill>
                  <a:srgbClr val="00B0F0"/>
                </a:solidFill>
              </a:rPr>
              <a:t> 0.789243  0.952256</a:t>
            </a:r>
            <a:endParaRPr lang="zh-CN" altLang="en-US" sz="2000" dirty="0"/>
          </a:p>
        </p:txBody>
      </p:sp>
      <p:sp>
        <p:nvSpPr>
          <p:cNvPr id="7" name="文本框 6">
            <a:extLst>
              <a:ext uri="{FF2B5EF4-FFF2-40B4-BE49-F238E27FC236}">
                <a16:creationId xmlns:a16="http://schemas.microsoft.com/office/drawing/2014/main" id="{95E2A5B3-5AC6-4B27-A14A-FBB4C7A6AD23}"/>
              </a:ext>
            </a:extLst>
          </p:cNvPr>
          <p:cNvSpPr txBox="1"/>
          <p:nvPr/>
        </p:nvSpPr>
        <p:spPr>
          <a:xfrm>
            <a:off x="245402" y="3651327"/>
            <a:ext cx="5631286" cy="707886"/>
          </a:xfrm>
          <a:prstGeom prst="rect">
            <a:avLst/>
          </a:prstGeom>
          <a:noFill/>
        </p:spPr>
        <p:txBody>
          <a:bodyPr wrap="square">
            <a:spAutoFit/>
          </a:bodyPr>
          <a:lstStyle/>
          <a:p>
            <a:r>
              <a:rPr lang="zh-CN" altLang="en-US" sz="2000" dirty="0"/>
              <a:t>julia&gt; r[1,1]=1/0   </a:t>
            </a:r>
            <a:r>
              <a:rPr lang="en-US" altLang="zh-CN" sz="2000" dirty="0"/>
              <a:t>#</a:t>
            </a:r>
            <a:r>
              <a:rPr lang="zh-CN" altLang="en-US" sz="2000" dirty="0"/>
              <a:t>修改</a:t>
            </a:r>
            <a:r>
              <a:rPr lang="en-US" altLang="zh-CN" sz="2000" dirty="0"/>
              <a:t>r</a:t>
            </a:r>
            <a:r>
              <a:rPr lang="zh-CN" altLang="en-US" sz="2000" dirty="0"/>
              <a:t>的第</a:t>
            </a:r>
            <a:r>
              <a:rPr lang="en-US" altLang="zh-CN" sz="2000" dirty="0"/>
              <a:t>1</a:t>
            </a:r>
            <a:r>
              <a:rPr lang="zh-CN" altLang="en-US" sz="2000" dirty="0"/>
              <a:t>行第</a:t>
            </a:r>
            <a:r>
              <a:rPr lang="en-US" altLang="zh-CN" sz="2000" dirty="0"/>
              <a:t>1</a:t>
            </a:r>
            <a:r>
              <a:rPr lang="zh-CN" altLang="en-US" sz="2000" dirty="0"/>
              <a:t>列为</a:t>
            </a:r>
            <a:r>
              <a:rPr lang="en-US" altLang="zh-CN" sz="2000" dirty="0"/>
              <a:t>1/0</a:t>
            </a:r>
            <a:r>
              <a:rPr lang="zh-CN" altLang="en-US" sz="2000" dirty="0"/>
              <a:t> </a:t>
            </a:r>
            <a:endParaRPr lang="en-US" altLang="zh-CN" sz="2000" dirty="0"/>
          </a:p>
          <a:p>
            <a:r>
              <a:rPr lang="zh-CN" altLang="en-US" sz="2000" dirty="0"/>
              <a:t>  </a:t>
            </a:r>
            <a:r>
              <a:rPr lang="en-US" altLang="zh-CN" sz="2000" dirty="0">
                <a:solidFill>
                  <a:srgbClr val="00B0F0"/>
                </a:solidFill>
              </a:rPr>
              <a:t>#</a:t>
            </a:r>
            <a:r>
              <a:rPr lang="zh-CN" altLang="en-US" sz="2000" dirty="0">
                <a:solidFill>
                  <a:srgbClr val="00B0F0"/>
                </a:solidFill>
              </a:rPr>
              <a:t>结果Inf</a:t>
            </a:r>
          </a:p>
        </p:txBody>
      </p:sp>
      <p:sp>
        <p:nvSpPr>
          <p:cNvPr id="8" name="文本框 7">
            <a:extLst>
              <a:ext uri="{FF2B5EF4-FFF2-40B4-BE49-F238E27FC236}">
                <a16:creationId xmlns:a16="http://schemas.microsoft.com/office/drawing/2014/main" id="{E571A04B-4DD5-437F-AF80-9BA812241BBA}"/>
              </a:ext>
            </a:extLst>
          </p:cNvPr>
          <p:cNvSpPr txBox="1"/>
          <p:nvPr/>
        </p:nvSpPr>
        <p:spPr>
          <a:xfrm>
            <a:off x="251520" y="2809032"/>
            <a:ext cx="5544616" cy="707886"/>
          </a:xfrm>
          <a:prstGeom prst="rect">
            <a:avLst/>
          </a:prstGeom>
          <a:noFill/>
        </p:spPr>
        <p:txBody>
          <a:bodyPr wrap="square">
            <a:spAutoFit/>
          </a:bodyPr>
          <a:lstStyle/>
          <a:p>
            <a:r>
              <a:rPr lang="zh-CN" altLang="en-US" sz="2000" dirty="0"/>
              <a:t>julia&gt; r[1,2]=0/0   </a:t>
            </a:r>
            <a:r>
              <a:rPr lang="en-US" altLang="zh-CN" sz="2000" dirty="0"/>
              <a:t>#</a:t>
            </a:r>
            <a:r>
              <a:rPr lang="zh-CN" altLang="en-US" sz="2000" dirty="0"/>
              <a:t>修改</a:t>
            </a:r>
            <a:r>
              <a:rPr lang="en-US" altLang="zh-CN" sz="2000" dirty="0"/>
              <a:t>r</a:t>
            </a:r>
            <a:r>
              <a:rPr lang="zh-CN" altLang="en-US" sz="2000" dirty="0"/>
              <a:t>的第</a:t>
            </a:r>
            <a:r>
              <a:rPr lang="en-US" altLang="zh-CN" sz="2000" dirty="0"/>
              <a:t>1</a:t>
            </a:r>
            <a:r>
              <a:rPr lang="zh-CN" altLang="en-US" sz="2000" dirty="0"/>
              <a:t>行第</a:t>
            </a:r>
            <a:r>
              <a:rPr lang="en-US" altLang="zh-CN" sz="2000" dirty="0"/>
              <a:t>2</a:t>
            </a:r>
            <a:r>
              <a:rPr lang="zh-CN" altLang="en-US" sz="2000" dirty="0"/>
              <a:t>列为</a:t>
            </a:r>
            <a:r>
              <a:rPr lang="en-US" altLang="zh-CN" sz="2000" dirty="0"/>
              <a:t>0/0</a:t>
            </a:r>
            <a:r>
              <a:rPr lang="zh-CN" altLang="en-US" sz="2000" dirty="0"/>
              <a:t> </a:t>
            </a:r>
            <a:endParaRPr lang="en-US" altLang="zh-CN" sz="2000" dirty="0"/>
          </a:p>
          <a:p>
            <a:r>
              <a:rPr lang="en-US" altLang="zh-CN" sz="2000" dirty="0">
                <a:solidFill>
                  <a:srgbClr val="00B0F0"/>
                </a:solidFill>
              </a:rPr>
              <a:t>#</a:t>
            </a:r>
            <a:r>
              <a:rPr lang="zh-CN" altLang="en-US" sz="2000" dirty="0">
                <a:solidFill>
                  <a:srgbClr val="00B0F0"/>
                </a:solidFill>
              </a:rPr>
              <a:t>结果NaN</a:t>
            </a:r>
          </a:p>
        </p:txBody>
      </p:sp>
      <p:sp>
        <p:nvSpPr>
          <p:cNvPr id="9" name="文本框 8">
            <a:extLst>
              <a:ext uri="{FF2B5EF4-FFF2-40B4-BE49-F238E27FC236}">
                <a16:creationId xmlns:a16="http://schemas.microsoft.com/office/drawing/2014/main" id="{843F9D07-B5FF-45A6-90CB-20202EB9AA38}"/>
              </a:ext>
            </a:extLst>
          </p:cNvPr>
          <p:cNvSpPr txBox="1"/>
          <p:nvPr/>
        </p:nvSpPr>
        <p:spPr>
          <a:xfrm>
            <a:off x="5652120" y="1351184"/>
            <a:ext cx="3226292" cy="1323439"/>
          </a:xfrm>
          <a:prstGeom prst="rect">
            <a:avLst/>
          </a:prstGeom>
          <a:noFill/>
        </p:spPr>
        <p:txBody>
          <a:bodyPr wrap="square">
            <a:spAutoFit/>
          </a:bodyPr>
          <a:lstStyle/>
          <a:p>
            <a:r>
              <a:rPr lang="zh-CN" altLang="en-US" sz="2000" dirty="0"/>
              <a:t>julia&gt; r  </a:t>
            </a:r>
            <a:r>
              <a:rPr lang="en-US" altLang="zh-CN" sz="2000" dirty="0"/>
              <a:t>#</a:t>
            </a:r>
            <a:r>
              <a:rPr lang="zh-CN" altLang="en-US" sz="2000" dirty="0"/>
              <a:t>显示修改后的</a:t>
            </a:r>
            <a:r>
              <a:rPr lang="en-US" altLang="zh-CN" sz="2000" dirty="0"/>
              <a:t>r</a:t>
            </a:r>
            <a:endParaRPr lang="zh-CN" altLang="en-US" sz="2000" dirty="0"/>
          </a:p>
          <a:p>
            <a:r>
              <a:rPr lang="zh-CN" altLang="en-US" sz="2000" dirty="0">
                <a:solidFill>
                  <a:srgbClr val="00B0F0"/>
                </a:solidFill>
              </a:rPr>
              <a:t>2×2 Matrix{Float64}:</a:t>
            </a:r>
          </a:p>
          <a:p>
            <a:r>
              <a:rPr lang="zh-CN" altLang="en-US" sz="2000" b="1" dirty="0">
                <a:solidFill>
                  <a:srgbClr val="FF0000"/>
                </a:solidFill>
              </a:rPr>
              <a:t> Inf        NaN</a:t>
            </a:r>
          </a:p>
          <a:p>
            <a:r>
              <a:rPr lang="zh-CN" altLang="en-US" sz="2000" dirty="0">
                <a:solidFill>
                  <a:srgbClr val="00B0F0"/>
                </a:solidFill>
              </a:rPr>
              <a:t> 0.789243    0.952256</a:t>
            </a:r>
          </a:p>
        </p:txBody>
      </p:sp>
      <p:sp>
        <p:nvSpPr>
          <p:cNvPr id="10" name="文本框 9">
            <a:extLst>
              <a:ext uri="{FF2B5EF4-FFF2-40B4-BE49-F238E27FC236}">
                <a16:creationId xmlns:a16="http://schemas.microsoft.com/office/drawing/2014/main" id="{875F21E2-CF1C-4ED4-A379-BC0B378DCC3E}"/>
              </a:ext>
            </a:extLst>
          </p:cNvPr>
          <p:cNvSpPr txBox="1"/>
          <p:nvPr/>
        </p:nvSpPr>
        <p:spPr>
          <a:xfrm>
            <a:off x="5796136" y="2989607"/>
            <a:ext cx="3275856" cy="1323439"/>
          </a:xfrm>
          <a:prstGeom prst="rect">
            <a:avLst/>
          </a:prstGeom>
          <a:noFill/>
        </p:spPr>
        <p:txBody>
          <a:bodyPr wrap="square">
            <a:spAutoFit/>
          </a:bodyPr>
          <a:lstStyle/>
          <a:p>
            <a:r>
              <a:rPr lang="zh-CN" altLang="en-US" sz="2000" dirty="0"/>
              <a:t>julia&gt; r/3  </a:t>
            </a:r>
            <a:r>
              <a:rPr lang="en-US" altLang="zh-CN" sz="2000" dirty="0"/>
              <a:t>#Int</a:t>
            </a:r>
            <a:r>
              <a:rPr lang="zh-CN" altLang="en-US" sz="2000" dirty="0"/>
              <a:t>和</a:t>
            </a:r>
            <a:r>
              <a:rPr lang="en-US" altLang="zh-CN" sz="2000" dirty="0"/>
              <a:t>Nan</a:t>
            </a:r>
            <a:r>
              <a:rPr lang="zh-CN" altLang="en-US" sz="2000" dirty="0"/>
              <a:t>除以</a:t>
            </a:r>
            <a:r>
              <a:rPr lang="en-US" altLang="zh-CN" sz="2000" dirty="0"/>
              <a:t>3</a:t>
            </a:r>
            <a:endParaRPr lang="zh-CN" altLang="en-US" sz="2000" dirty="0"/>
          </a:p>
          <a:p>
            <a:r>
              <a:rPr lang="zh-CN" altLang="en-US" sz="2000" dirty="0">
                <a:solidFill>
                  <a:srgbClr val="00B0F0"/>
                </a:solidFill>
              </a:rPr>
              <a:t>2×2 Matrix{Float64}:</a:t>
            </a:r>
          </a:p>
          <a:p>
            <a:r>
              <a:rPr lang="zh-CN" altLang="en-US" sz="2000" dirty="0">
                <a:solidFill>
                  <a:srgbClr val="00B0F0"/>
                </a:solidFill>
              </a:rPr>
              <a:t> </a:t>
            </a:r>
            <a:r>
              <a:rPr lang="zh-CN" altLang="en-US" sz="2000" b="1" dirty="0">
                <a:solidFill>
                  <a:srgbClr val="FF0000"/>
                </a:solidFill>
              </a:rPr>
              <a:t>Inf        NaN</a:t>
            </a:r>
          </a:p>
          <a:p>
            <a:r>
              <a:rPr lang="zh-CN" altLang="en-US" sz="2000" dirty="0">
                <a:solidFill>
                  <a:srgbClr val="00B0F0"/>
                </a:solidFill>
              </a:rPr>
              <a:t>  0.263081    0.317419</a:t>
            </a:r>
          </a:p>
        </p:txBody>
      </p:sp>
      <p:sp>
        <p:nvSpPr>
          <p:cNvPr id="11" name="标题 1">
            <a:extLst>
              <a:ext uri="{FF2B5EF4-FFF2-40B4-BE49-F238E27FC236}">
                <a16:creationId xmlns:a16="http://schemas.microsoft.com/office/drawing/2014/main" id="{482E5E65-D727-4264-85D6-1528F18F292D}"/>
              </a:ext>
            </a:extLst>
          </p:cNvPr>
          <p:cNvSpPr txBox="1">
            <a:spLocks/>
          </p:cNvSpPr>
          <p:nvPr/>
        </p:nvSpPr>
        <p:spPr bwMode="auto">
          <a:xfrm>
            <a:off x="1079104" y="-22268"/>
            <a:ext cx="8064896" cy="685799"/>
          </a:xfrm>
          <a:prstGeom prst="rect">
            <a:avLst/>
          </a:prstGeom>
          <a:noFill/>
          <a:ln w="9525">
            <a:noFill/>
            <a:miter lim="800000"/>
            <a:headEnd/>
            <a:tailEnd/>
          </a:ln>
        </p:spPr>
        <p:txBody>
          <a:bodyPr vert="horz" wrap="none" lIns="91440" tIns="45720" rIns="91440" bIns="45720" numCol="1" anchor="b" anchorCtr="0" compatLnSpc="1">
            <a:prstTxWarp prst="textNoShape">
              <a:avLst/>
            </a:prstTxWarp>
            <a:normAutofit/>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dirty="0"/>
              <a:t>§1.3.2.2. </a:t>
            </a:r>
            <a:r>
              <a:rPr lang="zh-CN" altLang="en-US" sz="2800" dirty="0"/>
              <a:t>浮点数 </a:t>
            </a:r>
            <a:r>
              <a:rPr lang="en-US" altLang="zh-CN" sz="2800" kern="0" dirty="0">
                <a:solidFill>
                  <a:srgbClr val="FF0000"/>
                </a:solidFill>
              </a:rPr>
              <a:t>——2. </a:t>
            </a:r>
            <a:r>
              <a:rPr lang="zh-CN" altLang="en-US" sz="2800" dirty="0">
                <a:solidFill>
                  <a:srgbClr val="FF0000"/>
                </a:solidFill>
              </a:rPr>
              <a:t>无穷</a:t>
            </a:r>
            <a:r>
              <a:rPr lang="en-US" altLang="zh-CN" sz="2800" dirty="0">
                <a:solidFill>
                  <a:srgbClr val="FF0000"/>
                </a:solidFill>
              </a:rPr>
              <a:t>/</a:t>
            </a:r>
            <a:r>
              <a:rPr lang="en-US" altLang="zh-CN" sz="2800" dirty="0" err="1">
                <a:solidFill>
                  <a:srgbClr val="FF0000"/>
                </a:solidFill>
              </a:rPr>
              <a:t>NaN</a:t>
            </a:r>
            <a:r>
              <a:rPr lang="zh-CN" altLang="en-US" sz="2800" dirty="0">
                <a:solidFill>
                  <a:srgbClr val="FF0000"/>
                </a:solidFill>
              </a:rPr>
              <a:t>特殊浮点数示例</a:t>
            </a:r>
          </a:p>
        </p:txBody>
      </p:sp>
      <p:sp>
        <p:nvSpPr>
          <p:cNvPr id="12" name="波形 11">
            <a:extLst>
              <a:ext uri="{FF2B5EF4-FFF2-40B4-BE49-F238E27FC236}">
                <a16:creationId xmlns:a16="http://schemas.microsoft.com/office/drawing/2014/main" id="{67C4CEEF-861D-494C-96DA-904500B95AE6}"/>
              </a:ext>
            </a:extLst>
          </p:cNvPr>
          <p:cNvSpPr/>
          <p:nvPr/>
        </p:nvSpPr>
        <p:spPr>
          <a:xfrm>
            <a:off x="467544" y="766571"/>
            <a:ext cx="1008112" cy="46581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例132-3</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5419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985BDC22-417B-4731-B090-49EF479CA733}"/>
              </a:ext>
            </a:extLst>
          </p:cNvPr>
          <p:cNvSpPr txBox="1"/>
          <p:nvPr/>
        </p:nvSpPr>
        <p:spPr>
          <a:xfrm>
            <a:off x="1541831" y="1203962"/>
            <a:ext cx="5677233" cy="2807948"/>
          </a:xfrm>
          <a:prstGeom prst="rect">
            <a:avLst/>
          </a:prstGeom>
          <a:noFill/>
          <a:ln>
            <a:noFill/>
          </a:ln>
        </p:spPr>
        <p:txBody>
          <a:bodyPr wrap="square">
            <a:spAutoFit/>
          </a:bodyPr>
          <a:lstStyle/>
          <a:p>
            <a:pPr>
              <a:lnSpc>
                <a:spcPts val="3600"/>
              </a:lnSpc>
            </a:pPr>
            <a:r>
              <a:rPr lang="en-US" altLang="zh-CN" sz="2000" dirty="0">
                <a:solidFill>
                  <a:srgbClr val="008000"/>
                </a:solidFill>
                <a:effectLst/>
                <a:latin typeface="微软雅黑" panose="020B0503020204020204" pitchFamily="34" charset="-122"/>
                <a:ea typeface="微软雅黑" panose="020B0503020204020204" pitchFamily="34" charset="-122"/>
              </a:rPr>
              <a:t>#</a:t>
            </a:r>
            <a:r>
              <a:rPr lang="zh-CN" altLang="en-US" sz="2000" dirty="0">
                <a:solidFill>
                  <a:srgbClr val="008000"/>
                </a:solidFill>
                <a:effectLst/>
                <a:latin typeface="微软雅黑" panose="020B0503020204020204" pitchFamily="34" charset="-122"/>
                <a:ea typeface="微软雅黑" panose="020B0503020204020204" pitchFamily="34" charset="-122"/>
              </a:rPr>
              <a:t>生成</a:t>
            </a:r>
            <a:r>
              <a:rPr lang="en-US" altLang="zh-CN" sz="2000" dirty="0">
                <a:solidFill>
                  <a:srgbClr val="008000"/>
                </a:solidFill>
                <a:effectLst/>
                <a:latin typeface="微软雅黑" panose="020B0503020204020204" pitchFamily="34" charset="-122"/>
                <a:ea typeface="微软雅黑" panose="020B0503020204020204" pitchFamily="34" charset="-122"/>
              </a:rPr>
              <a:t>x</a:t>
            </a:r>
            <a:r>
              <a:rPr lang="zh-CN" altLang="en-US" sz="2000" dirty="0">
                <a:solidFill>
                  <a:srgbClr val="008000"/>
                </a:solidFill>
                <a:effectLst/>
                <a:latin typeface="微软雅黑" panose="020B0503020204020204" pitchFamily="34" charset="-122"/>
                <a:ea typeface="微软雅黑" panose="020B0503020204020204" pitchFamily="34" charset="-122"/>
              </a:rPr>
              <a:t>和</a:t>
            </a:r>
            <a:r>
              <a:rPr lang="en-US" altLang="zh-CN" sz="2000" dirty="0">
                <a:solidFill>
                  <a:srgbClr val="008000"/>
                </a:solidFill>
                <a:effectLst/>
                <a:latin typeface="微软雅黑" panose="020B0503020204020204" pitchFamily="34" charset="-122"/>
                <a:ea typeface="微软雅黑" panose="020B0503020204020204" pitchFamily="34" charset="-122"/>
              </a:rPr>
              <a:t>y</a:t>
            </a:r>
            <a:r>
              <a:rPr lang="zh-CN" altLang="en-US" sz="2000" dirty="0">
                <a:solidFill>
                  <a:srgbClr val="008000"/>
                </a:solidFill>
                <a:effectLst/>
                <a:latin typeface="微软雅黑" panose="020B0503020204020204" pitchFamily="34" charset="-122"/>
                <a:ea typeface="微软雅黑" panose="020B0503020204020204" pitchFamily="34" charset="-122"/>
              </a:rPr>
              <a:t>轴的网格矩阵</a:t>
            </a:r>
            <a:endParaRPr lang="zh-CN" altLang="en-US" sz="2000" dirty="0">
              <a:solidFill>
                <a:srgbClr val="000000"/>
              </a:solidFill>
              <a:effectLst/>
              <a:latin typeface="微软雅黑" panose="020B0503020204020204" pitchFamily="34" charset="-122"/>
              <a:ea typeface="微软雅黑" panose="020B0503020204020204" pitchFamily="34" charset="-122"/>
            </a:endParaRPr>
          </a:p>
          <a:p>
            <a:pPr>
              <a:lnSpc>
                <a:spcPts val="3600"/>
              </a:lnSpc>
            </a:pPr>
            <a:r>
              <a:rPr lang="en-US" altLang="zh-CN" sz="2000" dirty="0" err="1">
                <a:solidFill>
                  <a:srgbClr val="000000"/>
                </a:solidFill>
                <a:effectLst/>
                <a:latin typeface="微软雅黑" panose="020B0503020204020204" pitchFamily="34" charset="-122"/>
                <a:ea typeface="微软雅黑" panose="020B0503020204020204" pitchFamily="34" charset="-122"/>
              </a:rPr>
              <a:t>x,y</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795E26"/>
                </a:solidFill>
                <a:effectLst/>
                <a:latin typeface="微软雅黑" panose="020B0503020204020204" pitchFamily="34" charset="-122"/>
                <a:ea typeface="微软雅黑" panose="020B0503020204020204" pitchFamily="34" charset="-122"/>
              </a:rPr>
              <a:t>meshgrid2</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err="1">
                <a:solidFill>
                  <a:srgbClr val="795E26"/>
                </a:solidFill>
                <a:effectLst/>
                <a:latin typeface="微软雅黑" panose="020B0503020204020204" pitchFamily="34" charset="-122"/>
                <a:ea typeface="微软雅黑" panose="020B0503020204020204" pitchFamily="34" charset="-122"/>
              </a:rPr>
              <a:t>LinRange</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098658"/>
                </a:solidFill>
                <a:effectLst/>
                <a:latin typeface="微软雅黑" panose="020B0503020204020204" pitchFamily="34" charset="-122"/>
                <a:ea typeface="微软雅黑" panose="020B0503020204020204" pitchFamily="34" charset="-122"/>
              </a:rPr>
              <a:t>3</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098658"/>
                </a:solidFill>
                <a:effectLst/>
                <a:latin typeface="微软雅黑" panose="020B0503020204020204" pitchFamily="34" charset="-122"/>
                <a:ea typeface="微软雅黑" panose="020B0503020204020204" pitchFamily="34" charset="-122"/>
              </a:rPr>
              <a:t>3</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098658"/>
                </a:solidFill>
                <a:effectLst/>
                <a:latin typeface="微软雅黑" panose="020B0503020204020204" pitchFamily="34" charset="-122"/>
                <a:ea typeface="微软雅黑" panose="020B0503020204020204" pitchFamily="34" charset="-122"/>
              </a:rPr>
              <a:t>260</a:t>
            </a:r>
            <a:r>
              <a:rPr lang="en-US" altLang="zh-CN" sz="2000" dirty="0">
                <a:solidFill>
                  <a:srgbClr val="000000"/>
                </a:solidFill>
                <a:effectLst/>
                <a:latin typeface="微软雅黑" panose="020B0503020204020204" pitchFamily="34" charset="-122"/>
                <a:ea typeface="微软雅黑" panose="020B0503020204020204" pitchFamily="34" charset="-122"/>
              </a:rPr>
              <a:t>)); </a:t>
            </a:r>
          </a:p>
          <a:p>
            <a:pPr>
              <a:lnSpc>
                <a:spcPts val="3600"/>
              </a:lnSpc>
            </a:pPr>
            <a:r>
              <a:rPr lang="en-US" altLang="zh-CN" sz="2000" dirty="0">
                <a:solidFill>
                  <a:srgbClr val="008000"/>
                </a:solidFill>
                <a:effectLst/>
                <a:latin typeface="微软雅黑" panose="020B0503020204020204" pitchFamily="34" charset="-122"/>
                <a:ea typeface="微软雅黑" panose="020B0503020204020204" pitchFamily="34" charset="-122"/>
              </a:rPr>
              <a:t>#</a:t>
            </a:r>
            <a:r>
              <a:rPr lang="zh-CN" altLang="en-US" sz="2000" dirty="0">
                <a:solidFill>
                  <a:srgbClr val="008000"/>
                </a:solidFill>
                <a:effectLst/>
                <a:latin typeface="微软雅黑" panose="020B0503020204020204" pitchFamily="34" charset="-122"/>
                <a:ea typeface="微软雅黑" panose="020B0503020204020204" pitchFamily="34" charset="-122"/>
              </a:rPr>
              <a:t>根据表达式点运算计算网格矩阵</a:t>
            </a:r>
            <a:r>
              <a:rPr lang="en-US" altLang="zh-CN" sz="2000" dirty="0">
                <a:solidFill>
                  <a:srgbClr val="008000"/>
                </a:solidFill>
                <a:effectLst/>
                <a:latin typeface="微软雅黑" panose="020B0503020204020204" pitchFamily="34" charset="-122"/>
                <a:ea typeface="微软雅黑" panose="020B0503020204020204" pitchFamily="34" charset="-122"/>
              </a:rPr>
              <a:t>z   </a:t>
            </a:r>
            <a:endParaRPr lang="en-US" altLang="zh-CN" sz="2000" dirty="0">
              <a:solidFill>
                <a:srgbClr val="000000"/>
              </a:solidFill>
              <a:effectLst/>
              <a:latin typeface="微软雅黑" panose="020B0503020204020204" pitchFamily="34" charset="-122"/>
              <a:ea typeface="微软雅黑" panose="020B0503020204020204" pitchFamily="34" charset="-122"/>
            </a:endParaRPr>
          </a:p>
          <a:p>
            <a:pPr>
              <a:lnSpc>
                <a:spcPts val="3600"/>
              </a:lnSpc>
            </a:pPr>
            <a:r>
              <a:rPr lang="en-US" altLang="zh-CN" sz="2000" dirty="0">
                <a:solidFill>
                  <a:srgbClr val="795E26"/>
                </a:solidFill>
                <a:effectLst/>
                <a:latin typeface="微软雅黑" panose="020B0503020204020204" pitchFamily="34" charset="-122"/>
                <a:ea typeface="微软雅黑" panose="020B0503020204020204" pitchFamily="34" charset="-122"/>
              </a:rPr>
              <a:t>z</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err="1">
                <a:solidFill>
                  <a:srgbClr val="000000"/>
                </a:solidFill>
                <a:effectLst/>
                <a:latin typeface="微软雅黑" panose="020B0503020204020204" pitchFamily="34" charset="-122"/>
                <a:ea typeface="微软雅黑" panose="020B0503020204020204" pitchFamily="34" charset="-122"/>
              </a:rPr>
              <a:t>x,y</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795E26"/>
                </a:solidFill>
                <a:effectLst/>
                <a:latin typeface="微软雅黑" panose="020B0503020204020204" pitchFamily="34" charset="-122"/>
                <a:ea typeface="微软雅黑" panose="020B0503020204020204" pitchFamily="34" charset="-122"/>
              </a:rPr>
              <a:t>cos</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098658"/>
                </a:solidFill>
                <a:effectLst/>
                <a:latin typeface="微软雅黑" panose="020B0503020204020204" pitchFamily="34" charset="-122"/>
                <a:ea typeface="微软雅黑" panose="020B0503020204020204" pitchFamily="34" charset="-122"/>
              </a:rPr>
              <a:t>200</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795E26"/>
                </a:solidFill>
                <a:effectLst/>
                <a:latin typeface="微软雅黑" panose="020B0503020204020204" pitchFamily="34" charset="-122"/>
                <a:ea typeface="微软雅黑" panose="020B0503020204020204" pitchFamily="34" charset="-122"/>
              </a:rPr>
              <a:t>sqrt</a:t>
            </a:r>
            <a:r>
              <a:rPr lang="en-US" altLang="zh-CN" sz="2000" dirty="0">
                <a:solidFill>
                  <a:srgbClr val="000000"/>
                </a:solidFill>
                <a:effectLst/>
                <a:latin typeface="微软雅黑" panose="020B0503020204020204" pitchFamily="34" charset="-122"/>
                <a:ea typeface="微软雅黑" panose="020B0503020204020204" pitchFamily="34" charset="-122"/>
              </a:rPr>
              <a:t>(x^</a:t>
            </a:r>
            <a:r>
              <a:rPr lang="en-US" altLang="zh-CN" sz="2000" dirty="0">
                <a:solidFill>
                  <a:srgbClr val="098658"/>
                </a:solidFill>
                <a:effectLst/>
                <a:latin typeface="微软雅黑" panose="020B0503020204020204" pitchFamily="34" charset="-122"/>
                <a:ea typeface="微软雅黑" panose="020B0503020204020204" pitchFamily="34" charset="-122"/>
              </a:rPr>
              <a:t>2</a:t>
            </a:r>
            <a:r>
              <a:rPr lang="en-US" altLang="zh-CN" sz="2000" dirty="0">
                <a:solidFill>
                  <a:srgbClr val="000000"/>
                </a:solidFill>
                <a:effectLst/>
                <a:latin typeface="微软雅黑" panose="020B0503020204020204" pitchFamily="34" charset="-122"/>
                <a:ea typeface="微软雅黑" panose="020B0503020204020204" pitchFamily="34" charset="-122"/>
              </a:rPr>
              <a:t>+y^</a:t>
            </a:r>
            <a:r>
              <a:rPr lang="en-US" altLang="zh-CN" sz="2000" dirty="0">
                <a:solidFill>
                  <a:srgbClr val="098658"/>
                </a:solidFill>
                <a:effectLst/>
                <a:latin typeface="微软雅黑" panose="020B0503020204020204" pitchFamily="34" charset="-122"/>
                <a:ea typeface="微软雅黑" panose="020B0503020204020204" pitchFamily="34" charset="-122"/>
              </a:rPr>
              <a:t>2</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098658"/>
                </a:solidFill>
                <a:effectLst/>
                <a:latin typeface="微软雅黑" panose="020B0503020204020204" pitchFamily="34" charset="-122"/>
                <a:ea typeface="微软雅黑" panose="020B0503020204020204" pitchFamily="34" charset="-122"/>
              </a:rPr>
              <a:t>3</a:t>
            </a:r>
            <a:r>
              <a:rPr lang="en-US" altLang="zh-CN" sz="2000" dirty="0">
                <a:solidFill>
                  <a:srgbClr val="000000"/>
                </a:solidFill>
                <a:effectLst/>
                <a:latin typeface="微软雅黑" panose="020B0503020204020204" pitchFamily="34" charset="-122"/>
                <a:ea typeface="微软雅黑" panose="020B0503020204020204" pitchFamily="34" charset="-122"/>
              </a:rPr>
              <a:t>)</a:t>
            </a:r>
          </a:p>
          <a:p>
            <a:pPr>
              <a:lnSpc>
                <a:spcPts val="3600"/>
              </a:lnSpc>
            </a:pPr>
            <a:r>
              <a:rPr lang="en-US" altLang="zh-CN" sz="2000" dirty="0" err="1">
                <a:solidFill>
                  <a:srgbClr val="000000"/>
                </a:solidFill>
                <a:effectLst/>
                <a:latin typeface="微软雅黑" panose="020B0503020204020204" pitchFamily="34" charset="-122"/>
                <a:ea typeface="微软雅黑" panose="020B0503020204020204" pitchFamily="34" charset="-122"/>
              </a:rPr>
              <a:t>zz</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a:solidFill>
                  <a:srgbClr val="795E26"/>
                </a:solidFill>
                <a:effectLst/>
                <a:latin typeface="微软雅黑" panose="020B0503020204020204" pitchFamily="34" charset="-122"/>
                <a:ea typeface="微软雅黑" panose="020B0503020204020204" pitchFamily="34" charset="-122"/>
              </a:rPr>
              <a:t>z</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err="1">
                <a:solidFill>
                  <a:srgbClr val="000000"/>
                </a:solidFill>
                <a:effectLst/>
                <a:latin typeface="微软雅黑" panose="020B0503020204020204" pitchFamily="34" charset="-122"/>
                <a:ea typeface="微软雅黑" panose="020B0503020204020204" pitchFamily="34" charset="-122"/>
              </a:rPr>
              <a:t>x,y</a:t>
            </a:r>
            <a:r>
              <a:rPr lang="en-US" altLang="zh-CN" sz="2000" dirty="0">
                <a:solidFill>
                  <a:srgbClr val="000000"/>
                </a:solidFill>
                <a:effectLst/>
                <a:latin typeface="微软雅黑" panose="020B0503020204020204" pitchFamily="34" charset="-122"/>
                <a:ea typeface="微软雅黑" panose="020B0503020204020204" pitchFamily="34" charset="-122"/>
              </a:rPr>
              <a:t>)</a:t>
            </a:r>
          </a:p>
          <a:p>
            <a:pPr>
              <a:lnSpc>
                <a:spcPts val="3600"/>
              </a:lnSpc>
            </a:pPr>
            <a:r>
              <a:rPr lang="en-US" altLang="zh-CN" sz="2000" dirty="0">
                <a:solidFill>
                  <a:srgbClr val="795E26"/>
                </a:solidFill>
                <a:effectLst/>
                <a:latin typeface="微软雅黑" panose="020B0503020204020204" pitchFamily="34" charset="-122"/>
                <a:ea typeface="微软雅黑" panose="020B0503020204020204" pitchFamily="34" charset="-122"/>
              </a:rPr>
              <a:t>contour</a:t>
            </a:r>
            <a:r>
              <a:rPr lang="en-US" altLang="zh-CN" sz="2000" dirty="0">
                <a:solidFill>
                  <a:srgbClr val="000000"/>
                </a:solidFill>
                <a:effectLst/>
                <a:latin typeface="微软雅黑" panose="020B0503020204020204" pitchFamily="34" charset="-122"/>
                <a:ea typeface="微软雅黑" panose="020B0503020204020204" pitchFamily="34" charset="-122"/>
              </a:rPr>
              <a:t>(</a:t>
            </a:r>
            <a:r>
              <a:rPr lang="en-US" altLang="zh-CN" sz="2000" dirty="0" err="1">
                <a:solidFill>
                  <a:srgbClr val="000000"/>
                </a:solidFill>
                <a:effectLst/>
                <a:latin typeface="微软雅黑" panose="020B0503020204020204" pitchFamily="34" charset="-122"/>
                <a:ea typeface="微软雅黑" panose="020B0503020204020204" pitchFamily="34" charset="-122"/>
              </a:rPr>
              <a:t>x,y,zz</a:t>
            </a:r>
            <a:r>
              <a:rPr lang="en-US" altLang="zh-CN" sz="2000" dirty="0">
                <a:solidFill>
                  <a:srgbClr val="000000"/>
                </a:solidFill>
                <a:effectLst/>
                <a:latin typeface="微软雅黑" panose="020B0503020204020204" pitchFamily="34" charset="-122"/>
                <a:ea typeface="微软雅黑" panose="020B0503020204020204" pitchFamily="34" charset="-122"/>
              </a:rPr>
              <a:t>)  </a:t>
            </a:r>
            <a:r>
              <a:rPr lang="en-US" altLang="zh-CN" sz="2000" dirty="0">
                <a:solidFill>
                  <a:srgbClr val="008000"/>
                </a:solidFill>
                <a:effectLst/>
                <a:latin typeface="微软雅黑" panose="020B0503020204020204" pitchFamily="34" charset="-122"/>
                <a:ea typeface="微软雅黑" panose="020B0503020204020204" pitchFamily="34" charset="-122"/>
              </a:rPr>
              <a:t>#</a:t>
            </a:r>
            <a:r>
              <a:rPr lang="zh-CN" altLang="en-US" sz="2000" dirty="0">
                <a:solidFill>
                  <a:srgbClr val="008000"/>
                </a:solidFill>
                <a:effectLst/>
                <a:latin typeface="微软雅黑" panose="020B0503020204020204" pitchFamily="34" charset="-122"/>
                <a:ea typeface="微软雅黑" panose="020B0503020204020204" pitchFamily="34" charset="-122"/>
              </a:rPr>
              <a:t>等高线</a:t>
            </a:r>
            <a:endParaRPr lang="zh-CN" altLang="en-US" sz="2000" dirty="0">
              <a:solidFill>
                <a:srgbClr val="000000"/>
              </a:solidFill>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C494AEC-D51E-441A-8164-C793F1A1131D}"/>
                  </a:ext>
                </a:extLst>
              </p:cNvPr>
              <p:cNvSpPr/>
              <p:nvPr/>
            </p:nvSpPr>
            <p:spPr>
              <a:xfrm>
                <a:off x="1403297" y="639519"/>
                <a:ext cx="7704856" cy="552972"/>
              </a:xfrm>
              <a:prstGeom prst="rect">
                <a:avLst/>
              </a:prstGeom>
              <a:noFill/>
            </p:spPr>
            <p:txBody>
              <a:bodyPr wrap="square">
                <a:spAutoFit/>
              </a:bodyPr>
              <a:lstStyle/>
              <a:p>
                <a:pPr algn="dist"/>
                <a:r>
                  <a:rPr lang="zh-CN" altLang="en-US" sz="2000" b="1" dirty="0">
                    <a:solidFill>
                      <a:srgbClr val="0070C0"/>
                    </a:solidFill>
                    <a:latin typeface="微软雅黑" panose="020B0503020204020204" pitchFamily="34" charset="-122"/>
                    <a:ea typeface="微软雅黑" panose="020B0503020204020204" pitchFamily="34" charset="-122"/>
                    <a:sym typeface="+mn-ea"/>
                  </a:rPr>
                  <a:t>绘制</a:t>
                </a:r>
                <a:r>
                  <a:rPr lang="en-US" altLang="zh-CN" sz="2000" b="1" dirty="0">
                    <a:solidFill>
                      <a:srgbClr val="0070C0"/>
                    </a:solidFill>
                    <a:latin typeface="微软雅黑" panose="020B0503020204020204" pitchFamily="34" charset="-122"/>
                    <a:ea typeface="微软雅黑" panose="020B0503020204020204" pitchFamily="34" charset="-122"/>
                    <a:sym typeface="+mn-ea"/>
                  </a:rPr>
                  <a:t>x</a:t>
                </a:r>
                <a:r>
                  <a:rPr lang="zh-CN" altLang="en-US" sz="2000" b="1" dirty="0">
                    <a:solidFill>
                      <a:srgbClr val="0070C0"/>
                    </a:solidFill>
                    <a:latin typeface="微软雅黑" panose="020B0503020204020204" pitchFamily="34" charset="-122"/>
                    <a:ea typeface="微软雅黑" panose="020B0503020204020204" pitchFamily="34" charset="-122"/>
                    <a:sym typeface="+mn-ea"/>
                  </a:rPr>
                  <a:t>和</a:t>
                </a:r>
                <a:r>
                  <a:rPr lang="en-US" altLang="zh-CN" sz="2000" b="1" dirty="0">
                    <a:solidFill>
                      <a:srgbClr val="0070C0"/>
                    </a:solidFill>
                    <a:latin typeface="微软雅黑" panose="020B0503020204020204" pitchFamily="34" charset="-122"/>
                    <a:ea typeface="微软雅黑" panose="020B0503020204020204" pitchFamily="34" charset="-122"/>
                    <a:sym typeface="+mn-ea"/>
                  </a:rPr>
                  <a:t>y</a:t>
                </a:r>
                <a:r>
                  <a:rPr lang="zh-CN" altLang="en-US" sz="2000" b="1" dirty="0">
                    <a:solidFill>
                      <a:srgbClr val="0070C0"/>
                    </a:solidFill>
                    <a:latin typeface="微软雅黑" panose="020B0503020204020204" pitchFamily="34" charset="-122"/>
                    <a:ea typeface="微软雅黑" panose="020B0503020204020204" pitchFamily="34" charset="-122"/>
                    <a:sym typeface="+mn-ea"/>
                  </a:rPr>
                  <a:t>在</a:t>
                </a:r>
                <a:r>
                  <a:rPr lang="en-US" altLang="zh-CN" sz="2000" b="1" dirty="0">
                    <a:solidFill>
                      <a:srgbClr val="0070C0"/>
                    </a:solidFill>
                    <a:latin typeface="微软雅黑" panose="020B0503020204020204" pitchFamily="34" charset="-122"/>
                    <a:ea typeface="微软雅黑" panose="020B0503020204020204" pitchFamily="34" charset="-122"/>
                    <a:sym typeface="+mn-ea"/>
                  </a:rPr>
                  <a:t>[-3,3]</a:t>
                </a:r>
                <a:r>
                  <a:rPr lang="zh-CN" altLang="en-US" sz="2000" b="1" dirty="0">
                    <a:solidFill>
                      <a:srgbClr val="0070C0"/>
                    </a:solidFill>
                    <a:latin typeface="微软雅黑" panose="020B0503020204020204" pitchFamily="34" charset="-122"/>
                    <a:ea typeface="微软雅黑" panose="020B0503020204020204" pitchFamily="34" charset="-122"/>
                    <a:sym typeface="+mn-ea"/>
                  </a:rPr>
                  <a:t>之间</a:t>
                </a:r>
                <a:r>
                  <a:rPr lang="en-US" altLang="zh-CN" sz="2000" b="1" dirty="0">
                    <a:solidFill>
                      <a:srgbClr val="0070C0"/>
                    </a:solidFill>
                    <a:latin typeface="微软雅黑" panose="020B0503020204020204" pitchFamily="34" charset="-122"/>
                    <a:ea typeface="微软雅黑" panose="020B0503020204020204" pitchFamily="34" charset="-122"/>
                    <a:sym typeface="+mn-ea"/>
                  </a:rPr>
                  <a:t>z= </a:t>
                </a:r>
                <a14:m>
                  <m:oMath xmlns:m="http://schemas.openxmlformats.org/officeDocument/2006/math">
                    <m:func>
                      <m:funcPr>
                        <m:ctrlPr>
                          <a:rPr lang="en-US" altLang="zh-CN" sz="2000" b="1" i="1">
                            <a:solidFill>
                              <a:srgbClr val="0070C0"/>
                            </a:solidFill>
                            <a:latin typeface="Cambria Math" panose="02040503050406030204" pitchFamily="18" charset="0"/>
                            <a:ea typeface="微软雅黑" panose="020B0503020204020204" pitchFamily="34" charset="-122"/>
                            <a:sym typeface="+mn-ea"/>
                          </a:rPr>
                        </m:ctrlPr>
                      </m:funcPr>
                      <m:fName>
                        <m:r>
                          <a:rPr lang="en-US" altLang="zh-CN" sz="2000" b="1">
                            <a:solidFill>
                              <a:srgbClr val="0070C0"/>
                            </a:solidFill>
                            <a:latin typeface="Cambria Math" panose="02040503050406030204" pitchFamily="18" charset="0"/>
                            <a:ea typeface="微软雅黑" panose="020B0503020204020204" pitchFamily="34" charset="-122"/>
                            <a:sym typeface="+mn-ea"/>
                          </a:rPr>
                          <m:t>𝒄𝒐𝒔</m:t>
                        </m:r>
                      </m:fName>
                      <m:e>
                        <m:d>
                          <m:dPr>
                            <m:ctrlPr>
                              <a:rPr lang="en-US" altLang="zh-CN" sz="2000" b="1" i="1">
                                <a:solidFill>
                                  <a:srgbClr val="0070C0"/>
                                </a:solidFill>
                                <a:latin typeface="Cambria Math" panose="02040503050406030204" pitchFamily="18" charset="0"/>
                                <a:ea typeface="微软雅黑" panose="020B0503020204020204" pitchFamily="34" charset="-122"/>
                                <a:sym typeface="+mn-ea"/>
                              </a:rPr>
                            </m:ctrlPr>
                          </m:dPr>
                          <m:e>
                            <m:r>
                              <a:rPr lang="en-US" altLang="zh-CN" sz="2000" b="1">
                                <a:solidFill>
                                  <a:srgbClr val="0070C0"/>
                                </a:solidFill>
                                <a:latin typeface="Cambria Math" panose="02040503050406030204" pitchFamily="18" charset="0"/>
                                <a:ea typeface="微软雅黑" panose="020B0503020204020204" pitchFamily="34" charset="-122"/>
                                <a:sym typeface="+mn-ea"/>
                              </a:rPr>
                              <m:t>𝟐𝟎𝟎</m:t>
                            </m:r>
                            <m:rad>
                              <m:radPr>
                                <m:degHide m:val="on"/>
                                <m:ctrlPr>
                                  <a:rPr lang="en-US" altLang="zh-CN" sz="2000" b="1" i="1">
                                    <a:solidFill>
                                      <a:srgbClr val="0070C0"/>
                                    </a:solidFill>
                                    <a:latin typeface="Cambria Math" panose="02040503050406030204" pitchFamily="18" charset="0"/>
                                    <a:ea typeface="微软雅黑" panose="020B0503020204020204" pitchFamily="34" charset="-122"/>
                                    <a:sym typeface="+mn-ea"/>
                                  </a:rPr>
                                </m:ctrlPr>
                              </m:radPr>
                              <m:deg/>
                              <m:e>
                                <m:sSup>
                                  <m:sSupPr>
                                    <m:ctrlPr>
                                      <a:rPr lang="en-US" altLang="zh-CN" sz="2000" b="1" i="1">
                                        <a:solidFill>
                                          <a:srgbClr val="0070C0"/>
                                        </a:solidFill>
                                        <a:latin typeface="Cambria Math" panose="02040503050406030204" pitchFamily="18" charset="0"/>
                                        <a:ea typeface="微软雅黑" panose="020B0503020204020204" pitchFamily="34" charset="-122"/>
                                        <a:sym typeface="+mn-ea"/>
                                      </a:rPr>
                                    </m:ctrlPr>
                                  </m:sSupPr>
                                  <m:e>
                                    <m:r>
                                      <a:rPr lang="en-US" altLang="zh-CN" sz="2000" b="1">
                                        <a:solidFill>
                                          <a:srgbClr val="0070C0"/>
                                        </a:solidFill>
                                        <a:latin typeface="Cambria Math" panose="02040503050406030204" pitchFamily="18" charset="0"/>
                                        <a:ea typeface="微软雅黑" panose="020B0503020204020204" pitchFamily="34" charset="-122"/>
                                        <a:sym typeface="+mn-ea"/>
                                      </a:rPr>
                                      <m:t>𝒙</m:t>
                                    </m:r>
                                  </m:e>
                                  <m:sup>
                                    <m:r>
                                      <a:rPr lang="en-US" altLang="zh-CN" sz="2000" b="1">
                                        <a:solidFill>
                                          <a:srgbClr val="0070C0"/>
                                        </a:solidFill>
                                        <a:latin typeface="Cambria Math" panose="02040503050406030204" pitchFamily="18" charset="0"/>
                                        <a:ea typeface="微软雅黑" panose="020B0503020204020204" pitchFamily="34" charset="-122"/>
                                        <a:sym typeface="+mn-ea"/>
                                      </a:rPr>
                                      <m:t>𝟐</m:t>
                                    </m:r>
                                  </m:sup>
                                </m:sSup>
                                <m:r>
                                  <a:rPr lang="en-US" altLang="zh-CN" sz="2000" b="1">
                                    <a:solidFill>
                                      <a:srgbClr val="0070C0"/>
                                    </a:solidFill>
                                    <a:latin typeface="Cambria Math" panose="02040503050406030204" pitchFamily="18" charset="0"/>
                                    <a:ea typeface="微软雅黑" panose="020B0503020204020204" pitchFamily="34" charset="-122"/>
                                    <a:sym typeface="+mn-ea"/>
                                  </a:rPr>
                                  <m:t>+</m:t>
                                </m:r>
                                <m:sSup>
                                  <m:sSupPr>
                                    <m:ctrlPr>
                                      <a:rPr lang="en-US" altLang="zh-CN" sz="2000" b="1" i="1">
                                        <a:solidFill>
                                          <a:srgbClr val="0070C0"/>
                                        </a:solidFill>
                                        <a:latin typeface="Cambria Math" panose="02040503050406030204" pitchFamily="18" charset="0"/>
                                        <a:ea typeface="微软雅黑" panose="020B0503020204020204" pitchFamily="34" charset="-122"/>
                                        <a:sym typeface="+mn-ea"/>
                                      </a:rPr>
                                    </m:ctrlPr>
                                  </m:sSupPr>
                                  <m:e>
                                    <m:r>
                                      <a:rPr lang="en-US" altLang="zh-CN" sz="2000" b="1">
                                        <a:solidFill>
                                          <a:srgbClr val="0070C0"/>
                                        </a:solidFill>
                                        <a:latin typeface="Cambria Math" panose="02040503050406030204" pitchFamily="18" charset="0"/>
                                        <a:ea typeface="微软雅黑" panose="020B0503020204020204" pitchFamily="34" charset="-122"/>
                                        <a:sym typeface="+mn-ea"/>
                                      </a:rPr>
                                      <m:t>𝒚</m:t>
                                    </m:r>
                                  </m:e>
                                  <m:sup>
                                    <m:r>
                                      <a:rPr lang="en-US" altLang="zh-CN" sz="2000" b="1">
                                        <a:solidFill>
                                          <a:srgbClr val="0070C0"/>
                                        </a:solidFill>
                                        <a:latin typeface="Cambria Math" panose="02040503050406030204" pitchFamily="18" charset="0"/>
                                        <a:ea typeface="微软雅黑" panose="020B0503020204020204" pitchFamily="34" charset="-122"/>
                                        <a:sym typeface="+mn-ea"/>
                                      </a:rPr>
                                      <m:t>𝟐</m:t>
                                    </m:r>
                                  </m:sup>
                                </m:sSup>
                              </m:e>
                            </m:rad>
                            <m:r>
                              <a:rPr lang="en-US" altLang="zh-CN" sz="2000" b="1">
                                <a:solidFill>
                                  <a:srgbClr val="0070C0"/>
                                </a:solidFill>
                                <a:latin typeface="Cambria Math" panose="02040503050406030204" pitchFamily="18" charset="0"/>
                                <a:ea typeface="微软雅黑" panose="020B0503020204020204" pitchFamily="34" charset="-122"/>
                                <a:sym typeface="+mn-ea"/>
                              </a:rPr>
                              <m:t>/</m:t>
                            </m:r>
                            <m:r>
                              <a:rPr lang="en-US" altLang="zh-CN" sz="2000" b="1">
                                <a:solidFill>
                                  <a:srgbClr val="0070C0"/>
                                </a:solidFill>
                                <a:latin typeface="Cambria Math" panose="02040503050406030204" pitchFamily="18" charset="0"/>
                                <a:ea typeface="微软雅黑" panose="020B0503020204020204" pitchFamily="34" charset="-122"/>
                                <a:sym typeface="+mn-ea"/>
                              </a:rPr>
                              <m:t>𝟑</m:t>
                            </m:r>
                          </m:e>
                        </m:d>
                      </m:e>
                    </m:func>
                    <m:r>
                      <a:rPr lang="zh-CN" altLang="en-US" sz="2000" b="1">
                        <a:solidFill>
                          <a:srgbClr val="0070C0"/>
                        </a:solidFill>
                        <a:latin typeface="Cambria Math" panose="02040503050406030204" pitchFamily="18" charset="0"/>
                        <a:ea typeface="微软雅黑" panose="020B0503020204020204" pitchFamily="34" charset="-122"/>
                        <a:sym typeface="+mn-ea"/>
                      </a:rPr>
                      <m:t>的</m:t>
                    </m:r>
                  </m:oMath>
                </a14:m>
                <a:r>
                  <a:rPr lang="zh-CN" altLang="en-US" sz="2000" b="1" dirty="0">
                    <a:solidFill>
                      <a:srgbClr val="0070C0"/>
                    </a:solidFill>
                    <a:latin typeface="微软雅黑" panose="020B0503020204020204" pitchFamily="34" charset="-122"/>
                    <a:ea typeface="微软雅黑" panose="020B0503020204020204" pitchFamily="34" charset="-122"/>
                    <a:sym typeface="+mn-ea"/>
                  </a:rPr>
                  <a:t>二维等高线</a:t>
                </a:r>
              </a:p>
            </p:txBody>
          </p:sp>
        </mc:Choice>
        <mc:Fallback xmlns="">
          <p:sp>
            <p:nvSpPr>
              <p:cNvPr id="11" name="矩形 10">
                <a:extLst>
                  <a:ext uri="{FF2B5EF4-FFF2-40B4-BE49-F238E27FC236}">
                    <a16:creationId xmlns:a16="http://schemas.microsoft.com/office/drawing/2014/main" id="{AC494AEC-D51E-441A-8164-C793F1A1131D}"/>
                  </a:ext>
                </a:extLst>
              </p:cNvPr>
              <p:cNvSpPr>
                <a:spLocks noRot="1" noChangeAspect="1" noMove="1" noResize="1" noEditPoints="1" noAdjustHandles="1" noChangeArrowheads="1" noChangeShapeType="1" noTextEdit="1"/>
              </p:cNvSpPr>
              <p:nvPr/>
            </p:nvSpPr>
            <p:spPr>
              <a:xfrm>
                <a:off x="1403297" y="639519"/>
                <a:ext cx="7704856" cy="552972"/>
              </a:xfrm>
              <a:prstGeom prst="rect">
                <a:avLst/>
              </a:prstGeom>
              <a:blipFill>
                <a:blip r:embed="rId4"/>
                <a:stretch>
                  <a:fillRect l="-791" r="-870" b="-4396"/>
                </a:stretch>
              </a:blipFill>
            </p:spPr>
            <p:txBody>
              <a:bodyPr/>
              <a:lstStyle/>
              <a:p>
                <a:r>
                  <a:rPr lang="zh-CN" altLang="en-US">
                    <a:noFill/>
                  </a:rPr>
                  <a:t> </a:t>
                </a:r>
              </a:p>
            </p:txBody>
          </p:sp>
        </mc:Fallback>
      </mc:AlternateContent>
      <p:sp>
        <p:nvSpPr>
          <p:cNvPr id="16" name="标题 1">
            <a:extLst>
              <a:ext uri="{FF2B5EF4-FFF2-40B4-BE49-F238E27FC236}">
                <a16:creationId xmlns:a16="http://schemas.microsoft.com/office/drawing/2014/main" id="{E425F8D9-AE78-4939-8AAC-FC38B2499387}"/>
              </a:ext>
            </a:extLst>
          </p:cNvPr>
          <p:cNvSpPr txBox="1">
            <a:spLocks/>
          </p:cNvSpPr>
          <p:nvPr/>
        </p:nvSpPr>
        <p:spPr bwMode="auto">
          <a:xfrm>
            <a:off x="101126" y="47094"/>
            <a:ext cx="9042874" cy="545939"/>
          </a:xfrm>
          <a:prstGeom prst="rect">
            <a:avLst/>
          </a:prstGeom>
          <a:solidFill>
            <a:schemeClr val="bg1"/>
          </a:solidFill>
          <a:ln w="9525">
            <a:noFill/>
            <a:miter lim="800000"/>
            <a:headEnd/>
            <a:tailEnd/>
          </a:ln>
        </p:spPr>
        <p:txBody>
          <a:bodyPr vert="horz" wrap="none" lIns="91440" tIns="45720" rIns="91440" bIns="45720" numCol="1" anchor="b" anchorCtr="0" compatLnSpc="1">
            <a:prstTxWarp prst="textNoShape">
              <a:avLst/>
            </a:prstTxWarp>
            <a:normAutofit/>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ctr">
              <a:lnSpc>
                <a:spcPct val="100000"/>
              </a:lnSpc>
            </a:pPr>
            <a:r>
              <a:rPr lang="en-US" altLang="zh-CN" sz="2800" dirty="0"/>
              <a:t>§1.3.2.2. </a:t>
            </a:r>
            <a:r>
              <a:rPr lang="zh-CN" altLang="en-US" sz="2800" dirty="0"/>
              <a:t>浮点数 </a:t>
            </a:r>
            <a:r>
              <a:rPr lang="en-US" altLang="zh-CN" sz="2400" kern="0" dirty="0">
                <a:solidFill>
                  <a:srgbClr val="FF0000"/>
                </a:solidFill>
              </a:rPr>
              <a:t>——2. </a:t>
            </a:r>
            <a:r>
              <a:rPr lang="zh-CN" altLang="en-US" sz="2800" dirty="0">
                <a:solidFill>
                  <a:srgbClr val="FF0000"/>
                </a:solidFill>
              </a:rPr>
              <a:t>特殊浮点数示例</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F800658-860C-4D94-AB85-5EACB4F647EC}"/>
                  </a:ext>
                </a:extLst>
              </p:cNvPr>
              <p:cNvSpPr txBox="1"/>
              <p:nvPr/>
            </p:nvSpPr>
            <p:spPr>
              <a:xfrm>
                <a:off x="1331640" y="3812545"/>
                <a:ext cx="7776513"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dirty="0" smtClean="0">
                          <a:solidFill>
                            <a:srgbClr val="002060"/>
                          </a:solidFill>
                          <a:latin typeface="Cambria Math" panose="02040503050406030204" pitchFamily="18" charset="0"/>
                          <a:ea typeface="隶书" panose="02010509060101010101" pitchFamily="49" charset="-122"/>
                          <a:sym typeface="+mn-ea"/>
                        </a:rPr>
                        <m:t>请</m:t>
                      </m:r>
                      <m:r>
                        <a:rPr lang="zh-CN" altLang="en-US" i="1" dirty="0">
                          <a:solidFill>
                            <a:srgbClr val="002060"/>
                          </a:solidFill>
                          <a:latin typeface="Cambria Math" panose="02040503050406030204" pitchFamily="18" charset="0"/>
                          <a:ea typeface="隶书" panose="02010509060101010101" pitchFamily="49" charset="-122"/>
                          <a:sym typeface="+mn-ea"/>
                        </a:rPr>
                        <m:t>各位同学</m:t>
                      </m:r>
                      <m:r>
                        <a:rPr lang="zh-CN" altLang="en-US" i="1" dirty="0" smtClean="0">
                          <a:solidFill>
                            <a:srgbClr val="002060"/>
                          </a:solidFill>
                          <a:latin typeface="Cambria Math" panose="02040503050406030204" pitchFamily="18" charset="0"/>
                          <a:ea typeface="隶书" panose="02010509060101010101" pitchFamily="49" charset="-122"/>
                          <a:sym typeface="+mn-ea"/>
                        </a:rPr>
                        <m:t>，</m:t>
                      </m:r>
                      <m:r>
                        <m:rPr>
                          <m:nor/>
                        </m:rPr>
                        <a:rPr lang="zh-CN" altLang="en-US" dirty="0">
                          <a:solidFill>
                            <a:srgbClr val="002060"/>
                          </a:solidFill>
                          <a:latin typeface="隶书" panose="02010509060101010101" pitchFamily="49" charset="-122"/>
                          <a:ea typeface="隶书" panose="02010509060101010101" pitchFamily="49" charset="-122"/>
                          <a:sym typeface="+mn-ea"/>
                        </a:rPr>
                        <m:t>绘制</m:t>
                      </m:r>
                      <m:r>
                        <m:rPr>
                          <m:nor/>
                        </m:rPr>
                        <a:rPr lang="en-US" altLang="zh-CN" dirty="0">
                          <a:solidFill>
                            <a:srgbClr val="002060"/>
                          </a:solidFill>
                          <a:latin typeface="隶书" panose="02010509060101010101" pitchFamily="49" charset="-122"/>
                          <a:ea typeface="隶书" panose="02010509060101010101" pitchFamily="49" charset="-122"/>
                          <a:sym typeface="+mn-ea"/>
                        </a:rPr>
                        <m:t>x</m:t>
                      </m:r>
                      <m:r>
                        <m:rPr>
                          <m:nor/>
                        </m:rPr>
                        <a:rPr lang="zh-CN" altLang="en-US" dirty="0">
                          <a:solidFill>
                            <a:srgbClr val="002060"/>
                          </a:solidFill>
                          <a:latin typeface="隶书" panose="02010509060101010101" pitchFamily="49" charset="-122"/>
                          <a:ea typeface="隶书" panose="02010509060101010101" pitchFamily="49" charset="-122"/>
                          <a:sym typeface="+mn-ea"/>
                        </a:rPr>
                        <m:t>和</m:t>
                      </m:r>
                      <m:r>
                        <m:rPr>
                          <m:nor/>
                        </m:rPr>
                        <a:rPr lang="en-US" altLang="zh-CN" dirty="0">
                          <a:solidFill>
                            <a:srgbClr val="002060"/>
                          </a:solidFill>
                          <a:latin typeface="隶书" panose="02010509060101010101" pitchFamily="49" charset="-122"/>
                          <a:ea typeface="隶书" panose="02010509060101010101" pitchFamily="49" charset="-122"/>
                          <a:sym typeface="+mn-ea"/>
                        </a:rPr>
                        <m:t>y</m:t>
                      </m:r>
                      <m:r>
                        <m:rPr>
                          <m:nor/>
                        </m:rPr>
                        <a:rPr lang="zh-CN" altLang="en-US" dirty="0">
                          <a:solidFill>
                            <a:srgbClr val="002060"/>
                          </a:solidFill>
                          <a:latin typeface="隶书" panose="02010509060101010101" pitchFamily="49" charset="-122"/>
                          <a:ea typeface="隶书" panose="02010509060101010101" pitchFamily="49" charset="-122"/>
                          <a:sym typeface="+mn-ea"/>
                        </a:rPr>
                        <m:t>在</m:t>
                      </m:r>
                      <m:r>
                        <m:rPr>
                          <m:nor/>
                        </m:rPr>
                        <a:rPr lang="en-US" altLang="zh-CN" dirty="0">
                          <a:solidFill>
                            <a:srgbClr val="002060"/>
                          </a:solidFill>
                          <a:latin typeface="隶书" panose="02010509060101010101" pitchFamily="49" charset="-122"/>
                          <a:ea typeface="隶书" panose="02010509060101010101" pitchFamily="49" charset="-122"/>
                          <a:sym typeface="+mn-ea"/>
                        </a:rPr>
                        <m:t>[−</m:t>
                      </m:r>
                      <m:r>
                        <m:rPr>
                          <m:nor/>
                        </m:rPr>
                        <a:rPr lang="en-US" altLang="zh-CN" b="0" i="0" dirty="0" smtClean="0">
                          <a:solidFill>
                            <a:srgbClr val="002060"/>
                          </a:solidFill>
                          <a:latin typeface="隶书" panose="02010509060101010101" pitchFamily="49" charset="-122"/>
                          <a:ea typeface="隶书" panose="02010509060101010101" pitchFamily="49" charset="-122"/>
                          <a:sym typeface="+mn-ea"/>
                        </a:rPr>
                        <m:t>3</m:t>
                      </m:r>
                      <m:r>
                        <m:rPr>
                          <m:nor/>
                        </m:rPr>
                        <a:rPr lang="en-US" altLang="zh-CN" dirty="0">
                          <a:solidFill>
                            <a:srgbClr val="002060"/>
                          </a:solidFill>
                          <a:latin typeface="隶书" panose="02010509060101010101" pitchFamily="49" charset="-122"/>
                          <a:ea typeface="隶书" panose="02010509060101010101" pitchFamily="49" charset="-122"/>
                          <a:sym typeface="+mn-ea"/>
                        </a:rPr>
                        <m:t>,</m:t>
                      </m:r>
                      <m:r>
                        <m:rPr>
                          <m:nor/>
                        </m:rPr>
                        <a:rPr lang="en-US" altLang="zh-CN" b="0" i="0" dirty="0" smtClean="0">
                          <a:solidFill>
                            <a:srgbClr val="002060"/>
                          </a:solidFill>
                          <a:latin typeface="隶书" panose="02010509060101010101" pitchFamily="49" charset="-122"/>
                          <a:ea typeface="隶书" panose="02010509060101010101" pitchFamily="49" charset="-122"/>
                          <a:sym typeface="+mn-ea"/>
                        </a:rPr>
                        <m:t>3</m:t>
                      </m:r>
                      <m:r>
                        <m:rPr>
                          <m:nor/>
                        </m:rPr>
                        <a:rPr lang="en-US" altLang="zh-CN" dirty="0">
                          <a:solidFill>
                            <a:srgbClr val="002060"/>
                          </a:solidFill>
                          <a:latin typeface="隶书" panose="02010509060101010101" pitchFamily="49" charset="-122"/>
                          <a:ea typeface="隶书" panose="02010509060101010101" pitchFamily="49" charset="-122"/>
                          <a:sym typeface="+mn-ea"/>
                        </a:rPr>
                        <m:t>]</m:t>
                      </m:r>
                      <m:r>
                        <m:rPr>
                          <m:nor/>
                        </m:rPr>
                        <a:rPr lang="zh-CN" altLang="en-US" dirty="0">
                          <a:solidFill>
                            <a:srgbClr val="002060"/>
                          </a:solidFill>
                          <a:latin typeface="隶书" panose="02010509060101010101" pitchFamily="49" charset="-122"/>
                          <a:ea typeface="隶书" panose="02010509060101010101" pitchFamily="49" charset="-122"/>
                          <a:sym typeface="+mn-ea"/>
                        </a:rPr>
                        <m:t>之间</m:t>
                      </m:r>
                      <m:func>
                        <m:funcPr>
                          <m:ctrlPr>
                            <a:rPr lang="en-US" altLang="zh-CN" i="1">
                              <a:solidFill>
                                <a:srgbClr val="002060"/>
                              </a:solidFill>
                              <a:latin typeface="Cambria Math" panose="02040503050406030204" pitchFamily="18" charset="0"/>
                              <a:ea typeface="隶书" panose="02010509060101010101" pitchFamily="49" charset="-122"/>
                              <a:sym typeface="+mn-ea"/>
                            </a:rPr>
                          </m:ctrlPr>
                        </m:funcPr>
                        <m:fName>
                          <m:r>
                            <m:rPr>
                              <m:sty m:val="p"/>
                            </m:rPr>
                            <a:rPr lang="en-US" altLang="zh-CN">
                              <a:solidFill>
                                <a:srgbClr val="002060"/>
                              </a:solidFill>
                              <a:latin typeface="Cambria Math" panose="02040503050406030204" pitchFamily="18" charset="0"/>
                              <a:ea typeface="隶书" panose="02010509060101010101" pitchFamily="49" charset="-122"/>
                              <a:sym typeface="+mn-ea"/>
                            </a:rPr>
                            <m:t>z</m:t>
                          </m:r>
                          <m:r>
                            <a:rPr lang="en-US" altLang="zh-CN">
                              <a:solidFill>
                                <a:srgbClr val="002060"/>
                              </a:solidFill>
                              <a:latin typeface="Cambria Math" panose="02040503050406030204" pitchFamily="18" charset="0"/>
                              <a:ea typeface="隶书" panose="02010509060101010101" pitchFamily="49" charset="-122"/>
                              <a:sym typeface="+mn-ea"/>
                            </a:rPr>
                            <m:t>=</m:t>
                          </m:r>
                          <m:r>
                            <m:rPr>
                              <m:sty m:val="p"/>
                            </m:rPr>
                            <a:rPr lang="en-US" altLang="zh-CN">
                              <a:solidFill>
                                <a:srgbClr val="002060"/>
                              </a:solidFill>
                              <a:latin typeface="Cambria Math" panose="02040503050406030204" pitchFamily="18" charset="0"/>
                              <a:ea typeface="隶书" panose="02010509060101010101" pitchFamily="49" charset="-122"/>
                              <a:sym typeface="+mn-ea"/>
                            </a:rPr>
                            <m:t>cos</m:t>
                          </m:r>
                        </m:fName>
                        <m:e>
                          <m:d>
                            <m:dPr>
                              <m:ctrlPr>
                                <a:rPr lang="en-US" altLang="zh-CN" i="1">
                                  <a:solidFill>
                                    <a:srgbClr val="002060"/>
                                  </a:solidFill>
                                  <a:latin typeface="Cambria Math" panose="02040503050406030204" pitchFamily="18" charset="0"/>
                                  <a:ea typeface="隶书" panose="02010509060101010101" pitchFamily="49" charset="-122"/>
                                  <a:sym typeface="+mn-ea"/>
                                </a:rPr>
                              </m:ctrlPr>
                            </m:dPr>
                            <m:e>
                              <m:f>
                                <m:fPr>
                                  <m:ctrlPr>
                                    <a:rPr lang="en-US" altLang="zh-CN" i="1">
                                      <a:solidFill>
                                        <a:srgbClr val="002060"/>
                                      </a:solidFill>
                                      <a:latin typeface="Cambria Math" panose="02040503050406030204" pitchFamily="18" charset="0"/>
                                      <a:ea typeface="隶书" panose="02010509060101010101" pitchFamily="49" charset="-122"/>
                                      <a:sym typeface="+mn-ea"/>
                                    </a:rPr>
                                  </m:ctrlPr>
                                </m:fPr>
                                <m:num>
                                  <m:r>
                                    <a:rPr lang="en-US" altLang="zh-CN" b="0" i="0" smtClean="0">
                                      <a:solidFill>
                                        <a:srgbClr val="002060"/>
                                      </a:solidFill>
                                      <a:latin typeface="Cambria Math" panose="02040503050406030204" pitchFamily="18" charset="0"/>
                                      <a:ea typeface="隶书" panose="02010509060101010101" pitchFamily="49" charset="-122"/>
                                      <a:sym typeface="+mn-ea"/>
                                    </a:rPr>
                                    <m:t>200</m:t>
                                  </m:r>
                                </m:num>
                                <m:den>
                                  <m:r>
                                    <a:rPr lang="en-US" altLang="zh-CN" b="1" i="1" smtClean="0">
                                      <a:solidFill>
                                        <a:srgbClr val="FF0000"/>
                                      </a:solidFill>
                                      <a:latin typeface="Cambria Math" panose="02040503050406030204" pitchFamily="18" charset="0"/>
                                      <a:ea typeface="隶书" panose="02010509060101010101" pitchFamily="49" charset="-122"/>
                                      <a:sym typeface="+mn-ea"/>
                                    </a:rPr>
                                    <m:t>𝟑</m:t>
                                  </m:r>
                                  <m:rad>
                                    <m:radPr>
                                      <m:degHide m:val="on"/>
                                      <m:ctrlPr>
                                        <a:rPr lang="en-US" altLang="zh-CN" b="1" i="1">
                                          <a:solidFill>
                                            <a:srgbClr val="FF0000"/>
                                          </a:solidFill>
                                          <a:latin typeface="Cambria Math" panose="02040503050406030204" pitchFamily="18" charset="0"/>
                                          <a:ea typeface="隶书" panose="02010509060101010101" pitchFamily="49" charset="-122"/>
                                          <a:sym typeface="+mn-ea"/>
                                        </a:rPr>
                                      </m:ctrlPr>
                                    </m:radPr>
                                    <m:deg/>
                                    <m:e>
                                      <m:sSup>
                                        <m:sSupPr>
                                          <m:ctrlPr>
                                            <a:rPr lang="en-US" altLang="zh-CN" b="1" i="1">
                                              <a:solidFill>
                                                <a:srgbClr val="FF0000"/>
                                              </a:solidFill>
                                              <a:latin typeface="Cambria Math" panose="02040503050406030204" pitchFamily="18" charset="0"/>
                                              <a:ea typeface="隶书" panose="02010509060101010101" pitchFamily="49" charset="-122"/>
                                              <a:sym typeface="+mn-ea"/>
                                            </a:rPr>
                                          </m:ctrlPr>
                                        </m:sSupPr>
                                        <m:e>
                                          <m:r>
                                            <a:rPr lang="en-US" altLang="zh-CN" b="1" i="1">
                                              <a:solidFill>
                                                <a:srgbClr val="FF0000"/>
                                              </a:solidFill>
                                              <a:latin typeface="Cambria Math" panose="02040503050406030204" pitchFamily="18" charset="0"/>
                                              <a:ea typeface="隶书" panose="02010509060101010101" pitchFamily="49" charset="-122"/>
                                              <a:sym typeface="+mn-ea"/>
                                            </a:rPr>
                                            <m:t>𝒙</m:t>
                                          </m:r>
                                        </m:e>
                                        <m:sup>
                                          <m:r>
                                            <a:rPr lang="en-US" altLang="zh-CN" b="1" i="1">
                                              <a:solidFill>
                                                <a:srgbClr val="FF0000"/>
                                              </a:solidFill>
                                              <a:latin typeface="Cambria Math" panose="02040503050406030204" pitchFamily="18" charset="0"/>
                                              <a:ea typeface="隶书" panose="02010509060101010101" pitchFamily="49" charset="-122"/>
                                              <a:sym typeface="+mn-ea"/>
                                            </a:rPr>
                                            <m:t>𝟐</m:t>
                                          </m:r>
                                        </m:sup>
                                      </m:sSup>
                                      <m:r>
                                        <a:rPr lang="en-US" altLang="zh-CN" b="1">
                                          <a:solidFill>
                                            <a:srgbClr val="FF0000"/>
                                          </a:solidFill>
                                          <a:latin typeface="Cambria Math" panose="02040503050406030204" pitchFamily="18" charset="0"/>
                                          <a:ea typeface="隶书" panose="02010509060101010101" pitchFamily="49" charset="-122"/>
                                          <a:sym typeface="+mn-ea"/>
                                        </a:rPr>
                                        <m:t>+</m:t>
                                      </m:r>
                                      <m:sSup>
                                        <m:sSupPr>
                                          <m:ctrlPr>
                                            <a:rPr lang="en-US" altLang="zh-CN" b="1" i="1">
                                              <a:solidFill>
                                                <a:srgbClr val="FF0000"/>
                                              </a:solidFill>
                                              <a:latin typeface="Cambria Math" panose="02040503050406030204" pitchFamily="18" charset="0"/>
                                              <a:ea typeface="隶书" panose="02010509060101010101" pitchFamily="49" charset="-122"/>
                                              <a:sym typeface="+mn-ea"/>
                                            </a:rPr>
                                          </m:ctrlPr>
                                        </m:sSupPr>
                                        <m:e>
                                          <m:r>
                                            <a:rPr lang="en-US" altLang="zh-CN" b="1" i="1">
                                              <a:solidFill>
                                                <a:srgbClr val="FF0000"/>
                                              </a:solidFill>
                                              <a:latin typeface="Cambria Math" panose="02040503050406030204" pitchFamily="18" charset="0"/>
                                              <a:ea typeface="隶书" panose="02010509060101010101" pitchFamily="49" charset="-122"/>
                                              <a:sym typeface="+mn-ea"/>
                                            </a:rPr>
                                            <m:t>𝒚</m:t>
                                          </m:r>
                                        </m:e>
                                        <m:sup>
                                          <m:r>
                                            <a:rPr lang="en-US" altLang="zh-CN" b="1" i="1">
                                              <a:solidFill>
                                                <a:srgbClr val="FF0000"/>
                                              </a:solidFill>
                                              <a:latin typeface="Cambria Math" panose="02040503050406030204" pitchFamily="18" charset="0"/>
                                              <a:ea typeface="隶书" panose="02010509060101010101" pitchFamily="49" charset="-122"/>
                                              <a:sym typeface="+mn-ea"/>
                                            </a:rPr>
                                            <m:t>𝟐</m:t>
                                          </m:r>
                                        </m:sup>
                                      </m:sSup>
                                    </m:e>
                                  </m:rad>
                                </m:den>
                              </m:f>
                            </m:e>
                          </m:d>
                          <m:r>
                            <a:rPr lang="zh-CN" altLang="en-US" i="1">
                              <a:solidFill>
                                <a:srgbClr val="002060"/>
                              </a:solidFill>
                              <a:latin typeface="Cambria Math" panose="02040503050406030204" pitchFamily="18" charset="0"/>
                              <a:ea typeface="隶书" panose="02010509060101010101" pitchFamily="49" charset="-122"/>
                              <a:sym typeface="+mn-ea"/>
                            </a:rPr>
                            <m:t>的等高线</m:t>
                          </m:r>
                        </m:e>
                      </m:func>
                    </m:oMath>
                  </m:oMathPara>
                </a14:m>
                <a:endParaRPr lang="zh-CN" altLang="en-US" dirty="0">
                  <a:solidFill>
                    <a:srgbClr val="002060"/>
                  </a:solidFill>
                </a:endParaRPr>
              </a:p>
            </p:txBody>
          </p:sp>
        </mc:Choice>
        <mc:Fallback xmlns="">
          <p:sp>
            <p:nvSpPr>
              <p:cNvPr id="19" name="文本框 18">
                <a:extLst>
                  <a:ext uri="{FF2B5EF4-FFF2-40B4-BE49-F238E27FC236}">
                    <a16:creationId xmlns:a16="http://schemas.microsoft.com/office/drawing/2014/main" id="{EF800658-860C-4D94-AB85-5EACB4F647EC}"/>
                  </a:ext>
                </a:extLst>
              </p:cNvPr>
              <p:cNvSpPr txBox="1">
                <a:spLocks noRot="1" noChangeAspect="1" noMove="1" noResize="1" noEditPoints="1" noAdjustHandles="1" noChangeArrowheads="1" noChangeShapeType="1" noTextEdit="1"/>
              </p:cNvSpPr>
              <p:nvPr/>
            </p:nvSpPr>
            <p:spPr>
              <a:xfrm>
                <a:off x="1331640" y="3812545"/>
                <a:ext cx="7776513" cy="808235"/>
              </a:xfrm>
              <a:prstGeom prst="rect">
                <a:avLst/>
              </a:prstGeom>
              <a:blipFill>
                <a:blip r:embed="rId5"/>
                <a:stretch>
                  <a:fillRect/>
                </a:stretch>
              </a:blipFill>
            </p:spPr>
            <p:txBody>
              <a:bodyPr/>
              <a:lstStyle/>
              <a:p>
                <a:r>
                  <a:rPr lang="zh-CN" altLang="en-US">
                    <a:noFill/>
                  </a:rPr>
                  <a:t> </a:t>
                </a:r>
              </a:p>
            </p:txBody>
          </p:sp>
        </mc:Fallback>
      </mc:AlternateContent>
      <p:sp>
        <p:nvSpPr>
          <p:cNvPr id="12" name="波形 11">
            <a:extLst>
              <a:ext uri="{FF2B5EF4-FFF2-40B4-BE49-F238E27FC236}">
                <a16:creationId xmlns:a16="http://schemas.microsoft.com/office/drawing/2014/main" id="{5FB703F3-0856-4B4A-A041-FA877F61D2E1}"/>
              </a:ext>
            </a:extLst>
          </p:cNvPr>
          <p:cNvSpPr/>
          <p:nvPr/>
        </p:nvSpPr>
        <p:spPr>
          <a:xfrm>
            <a:off x="317610" y="749826"/>
            <a:ext cx="895900" cy="2880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例132-4</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3" name="波形 12">
            <a:extLst>
              <a:ext uri="{FF2B5EF4-FFF2-40B4-BE49-F238E27FC236}">
                <a16:creationId xmlns:a16="http://schemas.microsoft.com/office/drawing/2014/main" id="{9B4D7089-D687-4CFE-BCAB-A06B4A176994}"/>
              </a:ext>
            </a:extLst>
          </p:cNvPr>
          <p:cNvSpPr/>
          <p:nvPr/>
        </p:nvSpPr>
        <p:spPr>
          <a:xfrm>
            <a:off x="283137" y="4072647"/>
            <a:ext cx="895900" cy="2880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课堂练习</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4543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B651218-A10B-4D6F-9412-D1E3D8D6B25B}"/>
              </a:ext>
            </a:extLst>
          </p:cNvPr>
          <p:cNvPicPr>
            <a:picLocks noChangeAspect="1"/>
          </p:cNvPicPr>
          <p:nvPr/>
        </p:nvPicPr>
        <p:blipFill>
          <a:blip r:embed="rId2"/>
          <a:stretch>
            <a:fillRect/>
          </a:stretch>
        </p:blipFill>
        <p:spPr>
          <a:xfrm>
            <a:off x="5436096" y="2190290"/>
            <a:ext cx="3204688" cy="2403516"/>
          </a:xfrm>
          <a:prstGeom prst="rect">
            <a:avLst/>
          </a:prstGeom>
        </p:spPr>
      </p:pic>
      <p:pic>
        <p:nvPicPr>
          <p:cNvPr id="6" name="图片 5">
            <a:extLst>
              <a:ext uri="{FF2B5EF4-FFF2-40B4-BE49-F238E27FC236}">
                <a16:creationId xmlns:a16="http://schemas.microsoft.com/office/drawing/2014/main" id="{06785EB4-3698-4F97-890A-6C5BDB846BEB}"/>
              </a:ext>
            </a:extLst>
          </p:cNvPr>
          <p:cNvPicPr>
            <a:picLocks noChangeAspect="1"/>
          </p:cNvPicPr>
          <p:nvPr/>
        </p:nvPicPr>
        <p:blipFill>
          <a:blip r:embed="rId3"/>
          <a:stretch>
            <a:fillRect/>
          </a:stretch>
        </p:blipFill>
        <p:spPr>
          <a:xfrm>
            <a:off x="872353" y="2351272"/>
            <a:ext cx="2883787" cy="2229256"/>
          </a:xfrm>
          <a:prstGeom prst="rect">
            <a:avLst/>
          </a:prstGeom>
        </p:spPr>
      </p:pic>
      <p:sp>
        <p:nvSpPr>
          <p:cNvPr id="7" name="矩形 6">
            <a:extLst>
              <a:ext uri="{FF2B5EF4-FFF2-40B4-BE49-F238E27FC236}">
                <a16:creationId xmlns:a16="http://schemas.microsoft.com/office/drawing/2014/main" id="{364AAC59-CD95-48C0-B794-48BCFAA4FA01}"/>
              </a:ext>
            </a:extLst>
          </p:cNvPr>
          <p:cNvSpPr/>
          <p:nvPr/>
        </p:nvSpPr>
        <p:spPr>
          <a:xfrm>
            <a:off x="171858" y="772723"/>
            <a:ext cx="8917242" cy="385201"/>
          </a:xfrm>
          <a:prstGeom prst="rect">
            <a:avLst/>
          </a:prstGeom>
          <a:solidFill>
            <a:schemeClr val="bg1"/>
          </a:solidFill>
        </p:spPr>
        <p:txBody>
          <a:bodyPr vert="horz" wrap="square" lIns="0" tIns="0" rIns="0" bIns="0" numCol="1" anchor="t">
            <a:noAutofit/>
          </a:bodyPr>
          <a:lstStyle/>
          <a:p>
            <a:pPr marL="342900" indent="-342900" eaLnBrk="0">
              <a:lnSpc>
                <a:spcPct val="125000"/>
              </a:lnSpc>
              <a:spcBef>
                <a:spcPts val="800"/>
              </a:spcBef>
              <a:spcAft>
                <a:spcPts val="0"/>
              </a:spcAft>
            </a:pPr>
            <a:r>
              <a:rPr lang="zh-CN" altLang="en-US" sz="1600" b="1" dirty="0">
                <a:solidFill>
                  <a:srgbClr val="0070C0"/>
                </a:solidFill>
                <a:latin typeface="微软雅黑" panose="020B0503020204020204" pitchFamily="34" charset="-122"/>
                <a:ea typeface="微软雅黑" panose="020B0503020204020204" pitchFamily="34" charset="-122"/>
              </a:rPr>
              <a:t>为</a:t>
            </a:r>
            <a:r>
              <a:rPr lang="zh-CN" altLang="en-US" sz="1600" b="1" dirty="0">
                <a:solidFill>
                  <a:srgbClr val="0070C0"/>
                </a:solidFill>
                <a:latin typeface="微软雅黑" panose="020B0503020204020204" pitchFamily="34" charset="-122"/>
                <a:ea typeface="微软雅黑" panose="020B0503020204020204" pitchFamily="34" charset="-122"/>
                <a:sym typeface="+mn-ea"/>
              </a:rPr>
              <a:t>继续运行，设置</a:t>
            </a:r>
            <a:r>
              <a:rPr lang="en-US" altLang="zh-CN" sz="1600" b="1" dirty="0">
                <a:solidFill>
                  <a:srgbClr val="0070C0"/>
                </a:solidFill>
                <a:latin typeface="微软雅黑" panose="020B0503020204020204" pitchFamily="34" charset="-122"/>
                <a:ea typeface="微软雅黑" panose="020B0503020204020204" pitchFamily="34" charset="-122"/>
                <a:sym typeface="+mn-ea"/>
              </a:rPr>
              <a:t>inf</a:t>
            </a:r>
            <a:r>
              <a:rPr lang="zh-CN" altLang="en-US" sz="1600" b="1" dirty="0">
                <a:solidFill>
                  <a:srgbClr val="0070C0"/>
                </a:solidFill>
                <a:latin typeface="微软雅黑" panose="020B0503020204020204" pitchFamily="34" charset="-122"/>
                <a:ea typeface="微软雅黑" panose="020B0503020204020204" pitchFamily="34" charset="-122"/>
                <a:sym typeface="+mn-ea"/>
              </a:rPr>
              <a:t>和</a:t>
            </a:r>
            <a:r>
              <a:rPr lang="en-US" altLang="zh-CN" sz="1600" b="1" dirty="0">
                <a:solidFill>
                  <a:srgbClr val="0070C0"/>
                </a:solidFill>
                <a:latin typeface="微软雅黑" panose="020B0503020204020204" pitchFamily="34" charset="-122"/>
                <a:ea typeface="微软雅黑" panose="020B0503020204020204" pitchFamily="34" charset="-122"/>
                <a:sym typeface="+mn-ea"/>
              </a:rPr>
              <a:t>nan</a:t>
            </a:r>
            <a:r>
              <a:rPr lang="zh-CN" altLang="en-US" sz="1600" b="1" dirty="0">
                <a:solidFill>
                  <a:srgbClr val="0070C0"/>
                </a:solidFill>
                <a:latin typeface="微软雅黑" panose="020B0503020204020204" pitchFamily="34" charset="-122"/>
                <a:ea typeface="微软雅黑" panose="020B0503020204020204" pitchFamily="34" charset="-122"/>
              </a:rPr>
              <a:t> 可</a:t>
            </a:r>
            <a:r>
              <a:rPr lang="zh-CN" altLang="en-US" sz="1600" b="1" dirty="0">
                <a:solidFill>
                  <a:srgbClr val="0070C0"/>
                </a:solidFill>
                <a:latin typeface="微软雅黑" panose="020B0503020204020204" pitchFamily="34" charset="-122"/>
                <a:ea typeface="微软雅黑" panose="020B0503020204020204" pitchFamily="34" charset="-122"/>
                <a:sym typeface="+mn-ea"/>
              </a:rPr>
              <a:t>避免因数据上溢和无定义数异常而破环全局，但要避免出现</a:t>
            </a:r>
            <a:r>
              <a:rPr lang="en-US" altLang="zh-CN" sz="1600" b="1" dirty="0">
                <a:solidFill>
                  <a:srgbClr val="0070C0"/>
                </a:solidFill>
                <a:latin typeface="微软雅黑" panose="020B0503020204020204" pitchFamily="34" charset="-122"/>
                <a:ea typeface="微软雅黑" panose="020B0503020204020204" pitchFamily="34" charset="-122"/>
                <a:sym typeface="+mn-ea"/>
              </a:rPr>
              <a:t>inf</a:t>
            </a:r>
            <a:r>
              <a:rPr lang="zh-CN" altLang="en-US" sz="1600" b="1" dirty="0">
                <a:solidFill>
                  <a:srgbClr val="0070C0"/>
                </a:solidFill>
                <a:latin typeface="微软雅黑" panose="020B0503020204020204" pitchFamily="34" charset="-122"/>
                <a:ea typeface="微软雅黑" panose="020B0503020204020204" pitchFamily="34" charset="-122"/>
                <a:sym typeface="+mn-ea"/>
              </a:rPr>
              <a:t>和</a:t>
            </a:r>
            <a:r>
              <a:rPr lang="en-US" altLang="zh-CN" sz="1600" b="1" dirty="0">
                <a:solidFill>
                  <a:srgbClr val="0070C0"/>
                </a:solidFill>
                <a:latin typeface="微软雅黑" panose="020B0503020204020204" pitchFamily="34" charset="-122"/>
                <a:ea typeface="微软雅黑" panose="020B0503020204020204" pitchFamily="34" charset="-122"/>
                <a:sym typeface="+mn-ea"/>
              </a:rPr>
              <a:t>nan</a:t>
            </a:r>
            <a:endParaRPr lang="zh-CN" altLang="en-US" sz="1600" b="1" dirty="0">
              <a:solidFill>
                <a:srgbClr val="0070C0"/>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65A0D76-46F7-4144-971B-DC06444542BA}"/>
                  </a:ext>
                </a:extLst>
              </p:cNvPr>
              <p:cNvSpPr txBox="1"/>
              <p:nvPr/>
            </p:nvSpPr>
            <p:spPr>
              <a:xfrm>
                <a:off x="4670117" y="1572649"/>
                <a:ext cx="4626076" cy="506870"/>
              </a:xfrm>
              <a:prstGeom prst="rect">
                <a:avLst/>
              </a:prstGeom>
              <a:noFill/>
            </p:spPr>
            <p:txBody>
              <a:bodyPr wrap="square">
                <a:spAutoFit/>
              </a:bodyPr>
              <a:lstStyle/>
              <a:p>
                <a:r>
                  <a:rPr lang="en-US" altLang="zh-CN" sz="1800" b="1" dirty="0">
                    <a:solidFill>
                      <a:srgbClr val="0070C0"/>
                    </a:solidFill>
                    <a:latin typeface="微软雅黑" panose="020B0503020204020204" pitchFamily="34" charset="-122"/>
                    <a:ea typeface="微软雅黑" panose="020B0503020204020204" pitchFamily="34" charset="-122"/>
                    <a:sym typeface="+mn-ea"/>
                  </a:rPr>
                  <a:t>z= </a:t>
                </a:r>
                <a14:m>
                  <m:oMath xmlns:m="http://schemas.openxmlformats.org/officeDocument/2006/math">
                    <m:func>
                      <m:funcPr>
                        <m:ctrlPr>
                          <a:rPr lang="en-US" altLang="zh-CN" sz="1800" b="1" i="1">
                            <a:solidFill>
                              <a:srgbClr val="0070C0"/>
                            </a:solidFill>
                            <a:latin typeface="Cambria Math" panose="02040503050406030204" pitchFamily="18" charset="0"/>
                            <a:ea typeface="微软雅黑" panose="020B0503020204020204" pitchFamily="34" charset="-122"/>
                            <a:sym typeface="+mn-ea"/>
                          </a:rPr>
                        </m:ctrlPr>
                      </m:funcPr>
                      <m:fName>
                        <m:r>
                          <a:rPr lang="en-US" altLang="zh-CN" sz="1800" b="1">
                            <a:solidFill>
                              <a:srgbClr val="0070C0"/>
                            </a:solidFill>
                            <a:latin typeface="Cambria Math" panose="02040503050406030204" pitchFamily="18" charset="0"/>
                            <a:ea typeface="微软雅黑" panose="020B0503020204020204" pitchFamily="34" charset="-122"/>
                            <a:sym typeface="+mn-ea"/>
                          </a:rPr>
                          <m:t>𝒄𝒐𝒔</m:t>
                        </m:r>
                      </m:fName>
                      <m:e>
                        <m:d>
                          <m:dPr>
                            <m:ctrlPr>
                              <a:rPr lang="en-US" altLang="zh-CN" sz="1800" b="1" i="1">
                                <a:solidFill>
                                  <a:srgbClr val="0070C0"/>
                                </a:solidFill>
                                <a:latin typeface="Cambria Math" panose="02040503050406030204" pitchFamily="18" charset="0"/>
                                <a:ea typeface="微软雅黑" panose="020B0503020204020204" pitchFamily="34" charset="-122"/>
                                <a:sym typeface="+mn-ea"/>
                              </a:rPr>
                            </m:ctrlPr>
                          </m:dPr>
                          <m:e>
                            <m:r>
                              <a:rPr lang="en-US" altLang="zh-CN" sz="1800" b="1">
                                <a:solidFill>
                                  <a:srgbClr val="0070C0"/>
                                </a:solidFill>
                                <a:latin typeface="Cambria Math" panose="02040503050406030204" pitchFamily="18" charset="0"/>
                                <a:ea typeface="微软雅黑" panose="020B0503020204020204" pitchFamily="34" charset="-122"/>
                                <a:sym typeface="+mn-ea"/>
                              </a:rPr>
                              <m:t>𝟐𝟎𝟎</m:t>
                            </m:r>
                            <m:rad>
                              <m:radPr>
                                <m:degHide m:val="on"/>
                                <m:ctrlPr>
                                  <a:rPr lang="en-US" altLang="zh-CN" sz="1800" b="1" i="1">
                                    <a:solidFill>
                                      <a:srgbClr val="0070C0"/>
                                    </a:solidFill>
                                    <a:latin typeface="Cambria Math" panose="02040503050406030204" pitchFamily="18" charset="0"/>
                                    <a:ea typeface="微软雅黑" panose="020B0503020204020204" pitchFamily="34" charset="-122"/>
                                    <a:sym typeface="+mn-ea"/>
                                  </a:rPr>
                                </m:ctrlPr>
                              </m:radPr>
                              <m:deg/>
                              <m:e>
                                <m:sSup>
                                  <m:sSupPr>
                                    <m:ctrlPr>
                                      <a:rPr lang="en-US" altLang="zh-CN" sz="1800" b="1" i="1">
                                        <a:solidFill>
                                          <a:srgbClr val="0070C0"/>
                                        </a:solidFill>
                                        <a:latin typeface="Cambria Math" panose="02040503050406030204" pitchFamily="18" charset="0"/>
                                        <a:ea typeface="微软雅黑" panose="020B0503020204020204" pitchFamily="34" charset="-122"/>
                                        <a:sym typeface="+mn-ea"/>
                                      </a:rPr>
                                    </m:ctrlPr>
                                  </m:sSupPr>
                                  <m:e>
                                    <m:r>
                                      <a:rPr lang="en-US" altLang="zh-CN" sz="1800" b="1">
                                        <a:solidFill>
                                          <a:srgbClr val="0070C0"/>
                                        </a:solidFill>
                                        <a:latin typeface="Cambria Math" panose="02040503050406030204" pitchFamily="18" charset="0"/>
                                        <a:ea typeface="微软雅黑" panose="020B0503020204020204" pitchFamily="34" charset="-122"/>
                                        <a:sym typeface="+mn-ea"/>
                                      </a:rPr>
                                      <m:t>𝒙</m:t>
                                    </m:r>
                                  </m:e>
                                  <m:sup>
                                    <m:r>
                                      <a:rPr lang="en-US" altLang="zh-CN" sz="1800" b="1">
                                        <a:solidFill>
                                          <a:srgbClr val="0070C0"/>
                                        </a:solidFill>
                                        <a:latin typeface="Cambria Math" panose="02040503050406030204" pitchFamily="18" charset="0"/>
                                        <a:ea typeface="微软雅黑" panose="020B0503020204020204" pitchFamily="34" charset="-122"/>
                                        <a:sym typeface="+mn-ea"/>
                                      </a:rPr>
                                      <m:t>𝟐</m:t>
                                    </m:r>
                                  </m:sup>
                                </m:sSup>
                                <m:r>
                                  <a:rPr lang="en-US" altLang="zh-CN" sz="1800" b="1">
                                    <a:solidFill>
                                      <a:srgbClr val="0070C0"/>
                                    </a:solidFill>
                                    <a:latin typeface="Cambria Math" panose="02040503050406030204" pitchFamily="18" charset="0"/>
                                    <a:ea typeface="微软雅黑" panose="020B0503020204020204" pitchFamily="34" charset="-122"/>
                                    <a:sym typeface="+mn-ea"/>
                                  </a:rPr>
                                  <m:t>+</m:t>
                                </m:r>
                                <m:sSup>
                                  <m:sSupPr>
                                    <m:ctrlPr>
                                      <a:rPr lang="en-US" altLang="zh-CN" sz="1800" b="1" i="1">
                                        <a:solidFill>
                                          <a:srgbClr val="0070C0"/>
                                        </a:solidFill>
                                        <a:latin typeface="Cambria Math" panose="02040503050406030204" pitchFamily="18" charset="0"/>
                                        <a:ea typeface="微软雅黑" panose="020B0503020204020204" pitchFamily="34" charset="-122"/>
                                        <a:sym typeface="+mn-ea"/>
                                      </a:rPr>
                                    </m:ctrlPr>
                                  </m:sSupPr>
                                  <m:e>
                                    <m:r>
                                      <a:rPr lang="en-US" altLang="zh-CN" sz="1800" b="1">
                                        <a:solidFill>
                                          <a:srgbClr val="0070C0"/>
                                        </a:solidFill>
                                        <a:latin typeface="Cambria Math" panose="02040503050406030204" pitchFamily="18" charset="0"/>
                                        <a:ea typeface="微软雅黑" panose="020B0503020204020204" pitchFamily="34" charset="-122"/>
                                        <a:sym typeface="+mn-ea"/>
                                      </a:rPr>
                                      <m:t>𝒚</m:t>
                                    </m:r>
                                  </m:e>
                                  <m:sup>
                                    <m:r>
                                      <a:rPr lang="en-US" altLang="zh-CN" sz="1800" b="1">
                                        <a:solidFill>
                                          <a:srgbClr val="0070C0"/>
                                        </a:solidFill>
                                        <a:latin typeface="Cambria Math" panose="02040503050406030204" pitchFamily="18" charset="0"/>
                                        <a:ea typeface="微软雅黑" panose="020B0503020204020204" pitchFamily="34" charset="-122"/>
                                        <a:sym typeface="+mn-ea"/>
                                      </a:rPr>
                                      <m:t>𝟐</m:t>
                                    </m:r>
                                  </m:sup>
                                </m:sSup>
                              </m:e>
                            </m:rad>
                            <m:r>
                              <a:rPr lang="en-US" altLang="zh-CN" sz="1800" b="1">
                                <a:solidFill>
                                  <a:srgbClr val="0070C0"/>
                                </a:solidFill>
                                <a:latin typeface="Cambria Math" panose="02040503050406030204" pitchFamily="18" charset="0"/>
                                <a:ea typeface="微软雅黑" panose="020B0503020204020204" pitchFamily="34" charset="-122"/>
                                <a:sym typeface="+mn-ea"/>
                              </a:rPr>
                              <m:t>/</m:t>
                            </m:r>
                            <m:r>
                              <a:rPr lang="en-US" altLang="zh-CN" sz="1800" b="1">
                                <a:solidFill>
                                  <a:srgbClr val="0070C0"/>
                                </a:solidFill>
                                <a:latin typeface="Cambria Math" panose="02040503050406030204" pitchFamily="18" charset="0"/>
                                <a:ea typeface="微软雅黑" panose="020B0503020204020204" pitchFamily="34" charset="-122"/>
                                <a:sym typeface="+mn-ea"/>
                              </a:rPr>
                              <m:t>𝟑</m:t>
                            </m:r>
                          </m:e>
                        </m:d>
                      </m:e>
                    </m:func>
                    <m:r>
                      <a:rPr lang="zh-CN" altLang="en-US" sz="1800" b="1">
                        <a:solidFill>
                          <a:srgbClr val="0070C0"/>
                        </a:solidFill>
                        <a:latin typeface="Cambria Math" panose="02040503050406030204" pitchFamily="18" charset="0"/>
                        <a:ea typeface="微软雅黑" panose="020B0503020204020204" pitchFamily="34" charset="-122"/>
                        <a:sym typeface="+mn-ea"/>
                      </a:rPr>
                      <m:t>的</m:t>
                    </m:r>
                  </m:oMath>
                </a14:m>
                <a:r>
                  <a:rPr lang="zh-CN" altLang="en-US" sz="1800" b="1" dirty="0">
                    <a:solidFill>
                      <a:srgbClr val="0070C0"/>
                    </a:solidFill>
                    <a:latin typeface="微软雅黑" panose="020B0503020204020204" pitchFamily="34" charset="-122"/>
                    <a:ea typeface="微软雅黑" panose="020B0503020204020204" pitchFamily="34" charset="-122"/>
                    <a:sym typeface="+mn-ea"/>
                  </a:rPr>
                  <a:t>二维等高线</a:t>
                </a:r>
                <a:endParaRPr lang="zh-CN" altLang="en-US" dirty="0"/>
              </a:p>
            </p:txBody>
          </p:sp>
        </mc:Choice>
        <mc:Fallback xmlns="">
          <p:sp>
            <p:nvSpPr>
              <p:cNvPr id="9" name="文本框 8">
                <a:extLst>
                  <a:ext uri="{FF2B5EF4-FFF2-40B4-BE49-F238E27FC236}">
                    <a16:creationId xmlns:a16="http://schemas.microsoft.com/office/drawing/2014/main" id="{F65A0D76-46F7-4144-971B-DC06444542BA}"/>
                  </a:ext>
                </a:extLst>
              </p:cNvPr>
              <p:cNvSpPr txBox="1">
                <a:spLocks noRot="1" noChangeAspect="1" noMove="1" noResize="1" noEditPoints="1" noAdjustHandles="1" noChangeArrowheads="1" noChangeShapeType="1" noTextEdit="1"/>
              </p:cNvSpPr>
              <p:nvPr/>
            </p:nvSpPr>
            <p:spPr>
              <a:xfrm>
                <a:off x="4670117" y="1572649"/>
                <a:ext cx="4626076" cy="506870"/>
              </a:xfrm>
              <a:prstGeom prst="rect">
                <a:avLst/>
              </a:prstGeom>
              <a:blipFill>
                <a:blip r:embed="rId4"/>
                <a:stretch>
                  <a:fillRect l="-1054" b="-48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8ADFB14-229D-4E98-88F6-FB16FA35F74C}"/>
                  </a:ext>
                </a:extLst>
              </p:cNvPr>
              <p:cNvSpPr txBox="1"/>
              <p:nvPr/>
            </p:nvSpPr>
            <p:spPr>
              <a:xfrm>
                <a:off x="30640" y="1486825"/>
                <a:ext cx="4832554"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altLang="zh-CN" i="1" smtClean="0">
                              <a:solidFill>
                                <a:srgbClr val="002060"/>
                              </a:solidFill>
                              <a:latin typeface="Cambria Math" panose="02040503050406030204" pitchFamily="18" charset="0"/>
                              <a:ea typeface="隶书" panose="02010509060101010101" pitchFamily="49" charset="-122"/>
                              <a:sym typeface="+mn-ea"/>
                            </a:rPr>
                          </m:ctrlPr>
                        </m:funcPr>
                        <m:fName>
                          <m:r>
                            <m:rPr>
                              <m:sty m:val="p"/>
                            </m:rPr>
                            <a:rPr lang="en-US" altLang="zh-CN">
                              <a:solidFill>
                                <a:srgbClr val="002060"/>
                              </a:solidFill>
                              <a:latin typeface="Cambria Math" panose="02040503050406030204" pitchFamily="18" charset="0"/>
                              <a:ea typeface="隶书" panose="02010509060101010101" pitchFamily="49" charset="-122"/>
                              <a:sym typeface="+mn-ea"/>
                            </a:rPr>
                            <m:t>z</m:t>
                          </m:r>
                          <m:r>
                            <a:rPr lang="en-US" altLang="zh-CN">
                              <a:solidFill>
                                <a:srgbClr val="002060"/>
                              </a:solidFill>
                              <a:latin typeface="Cambria Math" panose="02040503050406030204" pitchFamily="18" charset="0"/>
                              <a:ea typeface="隶书" panose="02010509060101010101" pitchFamily="49" charset="-122"/>
                              <a:sym typeface="+mn-ea"/>
                            </a:rPr>
                            <m:t>=</m:t>
                          </m:r>
                          <m:r>
                            <m:rPr>
                              <m:sty m:val="p"/>
                            </m:rPr>
                            <a:rPr lang="en-US" altLang="zh-CN">
                              <a:solidFill>
                                <a:srgbClr val="002060"/>
                              </a:solidFill>
                              <a:latin typeface="Cambria Math" panose="02040503050406030204" pitchFamily="18" charset="0"/>
                              <a:ea typeface="隶书" panose="02010509060101010101" pitchFamily="49" charset="-122"/>
                              <a:sym typeface="+mn-ea"/>
                            </a:rPr>
                            <m:t>cos</m:t>
                          </m:r>
                        </m:fName>
                        <m:e>
                          <m:d>
                            <m:dPr>
                              <m:ctrlPr>
                                <a:rPr lang="en-US" altLang="zh-CN" i="1">
                                  <a:solidFill>
                                    <a:srgbClr val="002060"/>
                                  </a:solidFill>
                                  <a:latin typeface="Cambria Math" panose="02040503050406030204" pitchFamily="18" charset="0"/>
                                  <a:ea typeface="隶书" panose="02010509060101010101" pitchFamily="49" charset="-122"/>
                                  <a:sym typeface="+mn-ea"/>
                                </a:rPr>
                              </m:ctrlPr>
                            </m:dPr>
                            <m:e>
                              <m:f>
                                <m:fPr>
                                  <m:ctrlPr>
                                    <a:rPr lang="en-US" altLang="zh-CN" i="1">
                                      <a:solidFill>
                                        <a:srgbClr val="002060"/>
                                      </a:solidFill>
                                      <a:latin typeface="Cambria Math" panose="02040503050406030204" pitchFamily="18" charset="0"/>
                                      <a:ea typeface="隶书" panose="02010509060101010101" pitchFamily="49" charset="-122"/>
                                      <a:sym typeface="+mn-ea"/>
                                    </a:rPr>
                                  </m:ctrlPr>
                                </m:fPr>
                                <m:num>
                                  <m:r>
                                    <a:rPr lang="en-US" altLang="zh-CN" b="0" i="0" smtClean="0">
                                      <a:solidFill>
                                        <a:srgbClr val="002060"/>
                                      </a:solidFill>
                                      <a:latin typeface="Cambria Math" panose="02040503050406030204" pitchFamily="18" charset="0"/>
                                      <a:ea typeface="隶书" panose="02010509060101010101" pitchFamily="49" charset="-122"/>
                                      <a:sym typeface="+mn-ea"/>
                                    </a:rPr>
                                    <m:t>200</m:t>
                                  </m:r>
                                </m:num>
                                <m:den>
                                  <m:r>
                                    <a:rPr lang="en-US" altLang="zh-CN" b="1" i="1" smtClean="0">
                                      <a:solidFill>
                                        <a:srgbClr val="FF0000"/>
                                      </a:solidFill>
                                      <a:latin typeface="Cambria Math" panose="02040503050406030204" pitchFamily="18" charset="0"/>
                                      <a:ea typeface="隶书" panose="02010509060101010101" pitchFamily="49" charset="-122"/>
                                      <a:sym typeface="+mn-ea"/>
                                    </a:rPr>
                                    <m:t>𝟑</m:t>
                                  </m:r>
                                  <m:rad>
                                    <m:radPr>
                                      <m:degHide m:val="on"/>
                                      <m:ctrlPr>
                                        <a:rPr lang="en-US" altLang="zh-CN" b="1" i="1">
                                          <a:solidFill>
                                            <a:srgbClr val="FF0000"/>
                                          </a:solidFill>
                                          <a:latin typeface="Cambria Math" panose="02040503050406030204" pitchFamily="18" charset="0"/>
                                          <a:ea typeface="隶书" panose="02010509060101010101" pitchFamily="49" charset="-122"/>
                                          <a:sym typeface="+mn-ea"/>
                                        </a:rPr>
                                      </m:ctrlPr>
                                    </m:radPr>
                                    <m:deg/>
                                    <m:e>
                                      <m:sSup>
                                        <m:sSupPr>
                                          <m:ctrlPr>
                                            <a:rPr lang="en-US" altLang="zh-CN" b="1" i="1">
                                              <a:solidFill>
                                                <a:srgbClr val="FF0000"/>
                                              </a:solidFill>
                                              <a:latin typeface="Cambria Math" panose="02040503050406030204" pitchFamily="18" charset="0"/>
                                              <a:ea typeface="隶书" panose="02010509060101010101" pitchFamily="49" charset="-122"/>
                                              <a:sym typeface="+mn-ea"/>
                                            </a:rPr>
                                          </m:ctrlPr>
                                        </m:sSupPr>
                                        <m:e>
                                          <m:r>
                                            <a:rPr lang="en-US" altLang="zh-CN" b="1" i="1">
                                              <a:solidFill>
                                                <a:srgbClr val="FF0000"/>
                                              </a:solidFill>
                                              <a:latin typeface="Cambria Math" panose="02040503050406030204" pitchFamily="18" charset="0"/>
                                              <a:ea typeface="隶书" panose="02010509060101010101" pitchFamily="49" charset="-122"/>
                                              <a:sym typeface="+mn-ea"/>
                                            </a:rPr>
                                            <m:t>𝒙</m:t>
                                          </m:r>
                                        </m:e>
                                        <m:sup>
                                          <m:r>
                                            <a:rPr lang="en-US" altLang="zh-CN" b="1" i="1">
                                              <a:solidFill>
                                                <a:srgbClr val="FF0000"/>
                                              </a:solidFill>
                                              <a:latin typeface="Cambria Math" panose="02040503050406030204" pitchFamily="18" charset="0"/>
                                              <a:ea typeface="隶书" panose="02010509060101010101" pitchFamily="49" charset="-122"/>
                                              <a:sym typeface="+mn-ea"/>
                                            </a:rPr>
                                            <m:t>𝟐</m:t>
                                          </m:r>
                                        </m:sup>
                                      </m:sSup>
                                      <m:r>
                                        <a:rPr lang="en-US" altLang="zh-CN" b="1">
                                          <a:solidFill>
                                            <a:srgbClr val="FF0000"/>
                                          </a:solidFill>
                                          <a:latin typeface="Cambria Math" panose="02040503050406030204" pitchFamily="18" charset="0"/>
                                          <a:ea typeface="隶书" panose="02010509060101010101" pitchFamily="49" charset="-122"/>
                                          <a:sym typeface="+mn-ea"/>
                                        </a:rPr>
                                        <m:t>+</m:t>
                                      </m:r>
                                      <m:sSup>
                                        <m:sSupPr>
                                          <m:ctrlPr>
                                            <a:rPr lang="en-US" altLang="zh-CN" b="1" i="1">
                                              <a:solidFill>
                                                <a:srgbClr val="FF0000"/>
                                              </a:solidFill>
                                              <a:latin typeface="Cambria Math" panose="02040503050406030204" pitchFamily="18" charset="0"/>
                                              <a:ea typeface="隶书" panose="02010509060101010101" pitchFamily="49" charset="-122"/>
                                              <a:sym typeface="+mn-ea"/>
                                            </a:rPr>
                                          </m:ctrlPr>
                                        </m:sSupPr>
                                        <m:e>
                                          <m:r>
                                            <a:rPr lang="en-US" altLang="zh-CN" b="1" i="1">
                                              <a:solidFill>
                                                <a:srgbClr val="FF0000"/>
                                              </a:solidFill>
                                              <a:latin typeface="Cambria Math" panose="02040503050406030204" pitchFamily="18" charset="0"/>
                                              <a:ea typeface="隶书" panose="02010509060101010101" pitchFamily="49" charset="-122"/>
                                              <a:sym typeface="+mn-ea"/>
                                            </a:rPr>
                                            <m:t>𝒚</m:t>
                                          </m:r>
                                        </m:e>
                                        <m:sup>
                                          <m:r>
                                            <a:rPr lang="en-US" altLang="zh-CN" b="1" i="1">
                                              <a:solidFill>
                                                <a:srgbClr val="FF0000"/>
                                              </a:solidFill>
                                              <a:latin typeface="Cambria Math" panose="02040503050406030204" pitchFamily="18" charset="0"/>
                                              <a:ea typeface="隶书" panose="02010509060101010101" pitchFamily="49" charset="-122"/>
                                              <a:sym typeface="+mn-ea"/>
                                            </a:rPr>
                                            <m:t>𝟐</m:t>
                                          </m:r>
                                        </m:sup>
                                      </m:sSup>
                                    </m:e>
                                  </m:rad>
                                </m:den>
                              </m:f>
                            </m:e>
                          </m:d>
                          <m:r>
                            <a:rPr lang="zh-CN" altLang="en-US" i="1">
                              <a:solidFill>
                                <a:srgbClr val="002060"/>
                              </a:solidFill>
                              <a:latin typeface="Cambria Math" panose="02040503050406030204" pitchFamily="18" charset="0"/>
                              <a:ea typeface="隶书" panose="02010509060101010101" pitchFamily="49" charset="-122"/>
                              <a:sym typeface="+mn-ea"/>
                            </a:rPr>
                            <m:t>的等高线</m:t>
                          </m:r>
                        </m:e>
                      </m:func>
                    </m:oMath>
                  </m:oMathPara>
                </a14:m>
                <a:endParaRPr lang="zh-CN" altLang="en-US" dirty="0"/>
              </a:p>
            </p:txBody>
          </p:sp>
        </mc:Choice>
        <mc:Fallback xmlns="">
          <p:sp>
            <p:nvSpPr>
              <p:cNvPr id="11" name="文本框 10">
                <a:extLst>
                  <a:ext uri="{FF2B5EF4-FFF2-40B4-BE49-F238E27FC236}">
                    <a16:creationId xmlns:a16="http://schemas.microsoft.com/office/drawing/2014/main" id="{18ADFB14-229D-4E98-88F6-FB16FA35F74C}"/>
                  </a:ext>
                </a:extLst>
              </p:cNvPr>
              <p:cNvSpPr txBox="1">
                <a:spLocks noRot="1" noChangeAspect="1" noMove="1" noResize="1" noEditPoints="1" noAdjustHandles="1" noChangeArrowheads="1" noChangeShapeType="1" noTextEdit="1"/>
              </p:cNvSpPr>
              <p:nvPr/>
            </p:nvSpPr>
            <p:spPr>
              <a:xfrm>
                <a:off x="30640" y="1486825"/>
                <a:ext cx="4832554" cy="808235"/>
              </a:xfrm>
              <a:prstGeom prst="rect">
                <a:avLst/>
              </a:prstGeom>
              <a:blipFill>
                <a:blip r:embed="rId5"/>
                <a:stretch>
                  <a:fillRect/>
                </a:stretch>
              </a:blipFill>
            </p:spPr>
            <p:txBody>
              <a:bodyPr/>
              <a:lstStyle/>
              <a:p>
                <a:r>
                  <a:rPr lang="zh-CN" altLang="en-US">
                    <a:noFill/>
                  </a:rPr>
                  <a:t> </a:t>
                </a:r>
              </a:p>
            </p:txBody>
          </p:sp>
        </mc:Fallback>
      </mc:AlternateContent>
      <p:sp>
        <p:nvSpPr>
          <p:cNvPr id="12" name="标题 1">
            <a:extLst>
              <a:ext uri="{FF2B5EF4-FFF2-40B4-BE49-F238E27FC236}">
                <a16:creationId xmlns:a16="http://schemas.microsoft.com/office/drawing/2014/main" id="{2BCE2C99-F037-4783-9654-829239D0E7BF}"/>
              </a:ext>
            </a:extLst>
          </p:cNvPr>
          <p:cNvSpPr txBox="1">
            <a:spLocks/>
          </p:cNvSpPr>
          <p:nvPr/>
        </p:nvSpPr>
        <p:spPr bwMode="auto">
          <a:xfrm>
            <a:off x="101126" y="47094"/>
            <a:ext cx="9042874" cy="545939"/>
          </a:xfrm>
          <a:prstGeom prst="rect">
            <a:avLst/>
          </a:prstGeom>
          <a:solidFill>
            <a:schemeClr val="bg1"/>
          </a:solidFill>
          <a:ln w="9525">
            <a:noFill/>
            <a:miter lim="800000"/>
            <a:headEnd/>
            <a:tailEnd/>
          </a:ln>
        </p:spPr>
        <p:txBody>
          <a:bodyPr vert="horz" wrap="none" lIns="91440" tIns="45720" rIns="91440" bIns="45720" numCol="1" anchor="b" anchorCtr="0" compatLnSpc="1">
            <a:prstTxWarp prst="textNoShape">
              <a:avLst/>
            </a:prstTxWarp>
            <a:normAutofit/>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ctr">
              <a:lnSpc>
                <a:spcPct val="100000"/>
              </a:lnSpc>
            </a:pPr>
            <a:r>
              <a:rPr lang="en-US" altLang="zh-CN" sz="2800" dirty="0"/>
              <a:t>§1.3.2.2. </a:t>
            </a:r>
            <a:r>
              <a:rPr lang="zh-CN" altLang="en-US" sz="2800" dirty="0"/>
              <a:t>浮点数 </a:t>
            </a:r>
            <a:r>
              <a:rPr lang="en-US" altLang="zh-CN" sz="2400" kern="0" dirty="0">
                <a:solidFill>
                  <a:srgbClr val="FF0000"/>
                </a:solidFill>
              </a:rPr>
              <a:t>——2. </a:t>
            </a:r>
            <a:r>
              <a:rPr lang="zh-CN" altLang="en-US" sz="2800" dirty="0">
                <a:solidFill>
                  <a:srgbClr val="FF0000"/>
                </a:solidFill>
              </a:rPr>
              <a:t>特殊浮点数示例</a:t>
            </a:r>
          </a:p>
        </p:txBody>
      </p:sp>
      <p:sp>
        <p:nvSpPr>
          <p:cNvPr id="15" name="波形 14">
            <a:extLst>
              <a:ext uri="{FF2B5EF4-FFF2-40B4-BE49-F238E27FC236}">
                <a16:creationId xmlns:a16="http://schemas.microsoft.com/office/drawing/2014/main" id="{ED8475EB-6E44-42CE-89D3-6FD2E518CFD1}"/>
              </a:ext>
            </a:extLst>
          </p:cNvPr>
          <p:cNvSpPr/>
          <p:nvPr/>
        </p:nvSpPr>
        <p:spPr>
          <a:xfrm>
            <a:off x="165068" y="1165819"/>
            <a:ext cx="895900" cy="2880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例132-4</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938BA11B-801C-4A4A-A419-DEE21023EF7D}"/>
              </a:ext>
            </a:extLst>
          </p:cNvPr>
          <p:cNvSpPr/>
          <p:nvPr/>
        </p:nvSpPr>
        <p:spPr>
          <a:xfrm>
            <a:off x="4860032" y="1113156"/>
            <a:ext cx="968359"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err="1">
                <a:solidFill>
                  <a:schemeClr val="bg1"/>
                </a:solidFill>
              </a:rPr>
              <a:t>isinf</a:t>
            </a:r>
            <a:r>
              <a:rPr lang="en-US" altLang="zh-CN" sz="2000" b="1" dirty="0">
                <a:solidFill>
                  <a:schemeClr val="bg1"/>
                </a:solidFill>
              </a:rPr>
              <a:t>(x)</a:t>
            </a:r>
          </a:p>
        </p:txBody>
      </p:sp>
      <p:sp>
        <p:nvSpPr>
          <p:cNvPr id="17" name="矩形 16">
            <a:extLst>
              <a:ext uri="{FF2B5EF4-FFF2-40B4-BE49-F238E27FC236}">
                <a16:creationId xmlns:a16="http://schemas.microsoft.com/office/drawing/2014/main" id="{D81F7490-F1CB-418C-B1B0-1DA2DAC7DE08}"/>
              </a:ext>
            </a:extLst>
          </p:cNvPr>
          <p:cNvSpPr/>
          <p:nvPr/>
        </p:nvSpPr>
        <p:spPr>
          <a:xfrm>
            <a:off x="6037493" y="1080263"/>
            <a:ext cx="1080349"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err="1">
                <a:solidFill>
                  <a:schemeClr val="bg1"/>
                </a:solidFill>
              </a:rPr>
              <a:t>isnan</a:t>
            </a:r>
            <a:r>
              <a:rPr lang="en-US" altLang="zh-CN" sz="2000" b="1" dirty="0">
                <a:solidFill>
                  <a:schemeClr val="bg1"/>
                </a:solidFill>
              </a:rPr>
              <a:t>(x)</a:t>
            </a:r>
          </a:p>
        </p:txBody>
      </p:sp>
      <p:sp>
        <p:nvSpPr>
          <p:cNvPr id="18" name="文本框 17">
            <a:extLst>
              <a:ext uri="{FF2B5EF4-FFF2-40B4-BE49-F238E27FC236}">
                <a16:creationId xmlns:a16="http://schemas.microsoft.com/office/drawing/2014/main" id="{8B3DFDEB-EA09-49B3-AF35-C63C8543E1EF}"/>
              </a:ext>
            </a:extLst>
          </p:cNvPr>
          <p:cNvSpPr txBox="1"/>
          <p:nvPr/>
        </p:nvSpPr>
        <p:spPr>
          <a:xfrm>
            <a:off x="1165519" y="1125169"/>
            <a:ext cx="5486400" cy="369332"/>
          </a:xfrm>
          <a:prstGeom prst="rect">
            <a:avLst/>
          </a:prstGeom>
          <a:noFill/>
        </p:spPr>
        <p:txBody>
          <a:bodyPr wrap="square">
            <a:spAutoFit/>
          </a:bodyPr>
          <a:lstStyle/>
          <a:p>
            <a:pPr lvl="0">
              <a:spcBef>
                <a:spcPct val="30000"/>
              </a:spcBef>
              <a:defRPr/>
            </a:pPr>
            <a:r>
              <a:rPr lang="zh-CN" altLang="en-US" sz="1800" b="1" dirty="0">
                <a:solidFill>
                  <a:srgbClr val="0070C0"/>
                </a:solidFill>
                <a:latin typeface="微软雅黑" panose="020B0503020204020204" pitchFamily="34" charset="-122"/>
                <a:ea typeface="微软雅黑" panose="020B0503020204020204" pitchFamily="34" charset="-122"/>
              </a:rPr>
              <a:t>判断变量是否是无穷和非数的指令</a:t>
            </a:r>
          </a:p>
        </p:txBody>
      </p:sp>
    </p:spTree>
    <p:extLst>
      <p:ext uri="{BB962C8B-B14F-4D97-AF65-F5344CB8AC3E}">
        <p14:creationId xmlns:p14="http://schemas.microsoft.com/office/powerpoint/2010/main" val="2362107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1">
            <a:extLst>
              <a:ext uri="{FF2B5EF4-FFF2-40B4-BE49-F238E27FC236}">
                <a16:creationId xmlns:a16="http://schemas.microsoft.com/office/drawing/2014/main" id="{A39005A7-7C62-4540-8A5F-5FBFF8B7BEEF}"/>
              </a:ext>
            </a:extLst>
          </p:cNvPr>
          <p:cNvSpPr txBox="1">
            <a:spLocks/>
          </p:cNvSpPr>
          <p:nvPr/>
        </p:nvSpPr>
        <p:spPr>
          <a:xfrm>
            <a:off x="6553200" y="4683919"/>
            <a:ext cx="2133600" cy="357188"/>
          </a:xfrm>
          <a:prstGeom prst="rect">
            <a:avLst/>
          </a:prstGeom>
        </p:spPr>
        <p:txBody>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fld id="{25E81C68-AD67-4B59-A707-20F6CB98CF04}" type="datetime1">
              <a:rPr lang="zh-CN" altLang="en-US" smtClean="0"/>
              <a:pPr>
                <a:defRPr/>
              </a:pPr>
              <a:t>2025/3/6</a:t>
            </a:fld>
            <a:endParaRPr lang="zh-CN" altLang="en-US"/>
          </a:p>
        </p:txBody>
      </p:sp>
      <p:pic>
        <p:nvPicPr>
          <p:cNvPr id="5" name="图片 4">
            <a:extLst>
              <a:ext uri="{FF2B5EF4-FFF2-40B4-BE49-F238E27FC236}">
                <a16:creationId xmlns:a16="http://schemas.microsoft.com/office/drawing/2014/main" id="{0507B2DA-5113-45F8-B403-AEC152BD264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2516" y="1401620"/>
            <a:ext cx="4483473" cy="3132348"/>
          </a:xfrm>
          <a:prstGeom prst="rect">
            <a:avLst/>
          </a:prstGeom>
          <a:noFill/>
          <a:ln>
            <a:noFill/>
          </a:ln>
        </p:spPr>
      </p:pic>
      <p:pic>
        <p:nvPicPr>
          <p:cNvPr id="6" name="图片 5">
            <a:extLst>
              <a:ext uri="{FF2B5EF4-FFF2-40B4-BE49-F238E27FC236}">
                <a16:creationId xmlns:a16="http://schemas.microsoft.com/office/drawing/2014/main" id="{5FEA51E0-0DDF-47BA-8C17-C4882B3D858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347614"/>
            <a:ext cx="4441887" cy="3240360"/>
          </a:xfrm>
          <a:prstGeom prst="rect">
            <a:avLst/>
          </a:prstGeom>
          <a:noFill/>
          <a:ln>
            <a:noFill/>
          </a:ln>
        </p:spPr>
      </p:pic>
      <p:sp>
        <p:nvSpPr>
          <p:cNvPr id="7" name="椭圆 6">
            <a:extLst>
              <a:ext uri="{FF2B5EF4-FFF2-40B4-BE49-F238E27FC236}">
                <a16:creationId xmlns:a16="http://schemas.microsoft.com/office/drawing/2014/main" id="{2F3E70EB-7B60-4EF4-82E8-3AC55A4C1473}"/>
              </a:ext>
            </a:extLst>
          </p:cNvPr>
          <p:cNvSpPr/>
          <p:nvPr/>
        </p:nvSpPr>
        <p:spPr>
          <a:xfrm>
            <a:off x="2086611" y="2138180"/>
            <a:ext cx="1946441" cy="14401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内容占位符 2">
            <a:extLst>
              <a:ext uri="{FF2B5EF4-FFF2-40B4-BE49-F238E27FC236}">
                <a16:creationId xmlns:a16="http://schemas.microsoft.com/office/drawing/2014/main" id="{FDB0633C-C0BF-447E-87C2-20B2FC0B04E3}"/>
              </a:ext>
            </a:extLst>
          </p:cNvPr>
          <p:cNvSpPr txBox="1">
            <a:spLocks/>
          </p:cNvSpPr>
          <p:nvPr/>
        </p:nvSpPr>
        <p:spPr>
          <a:xfrm>
            <a:off x="611560" y="762347"/>
            <a:ext cx="6588732" cy="584774"/>
          </a:xfrm>
          <a:prstGeom prst="rect">
            <a:avLst/>
          </a:prstGeom>
        </p:spPr>
        <p:txBody>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a:buFont typeface="Arial" panose="020B0604020202020204" pitchFamily="34" charset="0"/>
              <a:buNone/>
            </a:pPr>
            <a:r>
              <a:rPr lang="zh-CN" altLang="zh-CN" sz="2800" kern="1200" dirty="0">
                <a:solidFill>
                  <a:srgbClr val="002060"/>
                </a:solidFill>
                <a:latin typeface="隶书" panose="02010509060101010101" pitchFamily="49" charset="-122"/>
                <a:ea typeface="隶书" panose="02010509060101010101" pitchFamily="49" charset="-122"/>
                <a:cs typeface="Times New Roman" panose="02020603050405020304" pitchFamily="18" charset="0"/>
              </a:rPr>
              <a:t>模拟平行光束发生劈尖干涉时的干涉图样</a:t>
            </a:r>
            <a:endParaRPr lang="en-US" altLang="zh-CN" sz="2800" kern="1200" dirty="0">
              <a:solidFill>
                <a:srgbClr val="002060"/>
              </a:solidFill>
              <a:latin typeface="隶书" panose="02010509060101010101" pitchFamily="49" charset="-122"/>
              <a:ea typeface="隶书" panose="02010509060101010101" pitchFamily="49" charset="-122"/>
              <a:cs typeface="Times New Roman" panose="02020603050405020304" pitchFamily="18" charset="0"/>
            </a:endParaRPr>
          </a:p>
          <a:p>
            <a:pPr marL="0" indent="0">
              <a:buFont typeface="Arial" panose="020B0604020202020204" pitchFamily="34" charset="0"/>
              <a:buNone/>
            </a:pPr>
            <a:r>
              <a:rPr lang="en-US" altLang="zh-CN" sz="2800" kern="0" dirty="0">
                <a:latin typeface="宋体" panose="02010600030101010101" pitchFamily="2" charset="-122"/>
                <a:cs typeface="Times New Roman" panose="02020603050405020304" pitchFamily="18" charset="0"/>
              </a:rPr>
              <a:t> </a:t>
            </a:r>
            <a:endParaRPr lang="zh-CN" altLang="zh-CN" sz="2800" kern="100" dirty="0">
              <a:latin typeface="Times New Roman" panose="02020603050405020304" pitchFamily="18" charset="0"/>
              <a:ea typeface="宋体" panose="02010600030101010101" pitchFamily="2" charset="-122"/>
            </a:endParaRPr>
          </a:p>
          <a:p>
            <a:pPr marL="0" indent="0">
              <a:buFont typeface="Arial" panose="020B0604020202020204" pitchFamily="34" charset="0"/>
              <a:buNone/>
            </a:pPr>
            <a:endParaRPr lang="zh-CN" altLang="en-US" sz="2800" kern="0" dirty="0"/>
          </a:p>
        </p:txBody>
      </p:sp>
      <p:sp>
        <p:nvSpPr>
          <p:cNvPr id="9" name="标题 1">
            <a:extLst>
              <a:ext uri="{FF2B5EF4-FFF2-40B4-BE49-F238E27FC236}">
                <a16:creationId xmlns:a16="http://schemas.microsoft.com/office/drawing/2014/main" id="{4236808A-5469-4DC1-9E36-4917C756FEBC}"/>
              </a:ext>
            </a:extLst>
          </p:cNvPr>
          <p:cNvSpPr txBox="1">
            <a:spLocks/>
          </p:cNvSpPr>
          <p:nvPr/>
        </p:nvSpPr>
        <p:spPr bwMode="auto">
          <a:xfrm>
            <a:off x="101126" y="47094"/>
            <a:ext cx="9042874" cy="545939"/>
          </a:xfrm>
          <a:prstGeom prst="rect">
            <a:avLst/>
          </a:prstGeom>
          <a:solidFill>
            <a:schemeClr val="bg1"/>
          </a:solidFill>
          <a:ln w="9525">
            <a:noFill/>
            <a:miter lim="800000"/>
            <a:headEnd/>
            <a:tailEnd/>
          </a:ln>
        </p:spPr>
        <p:txBody>
          <a:bodyPr vert="horz" wrap="none" lIns="91440" tIns="45720" rIns="91440" bIns="45720" numCol="1" anchor="b" anchorCtr="0" compatLnSpc="1">
            <a:prstTxWarp prst="textNoShape">
              <a:avLst/>
            </a:prstTxWarp>
            <a:normAutofit/>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ctr">
              <a:lnSpc>
                <a:spcPct val="100000"/>
              </a:lnSpc>
            </a:pPr>
            <a:r>
              <a:rPr lang="en-US" altLang="zh-CN" sz="2800" dirty="0"/>
              <a:t>§1.3.2.2. </a:t>
            </a:r>
            <a:r>
              <a:rPr lang="zh-CN" altLang="en-US" sz="2800" dirty="0"/>
              <a:t>浮点数 </a:t>
            </a:r>
            <a:r>
              <a:rPr lang="en-US" altLang="zh-CN" sz="2400" kern="0" dirty="0">
                <a:solidFill>
                  <a:srgbClr val="FF0000"/>
                </a:solidFill>
              </a:rPr>
              <a:t>——3. </a:t>
            </a:r>
            <a:r>
              <a:rPr lang="zh-CN" altLang="en-US" sz="2800" kern="0" dirty="0">
                <a:solidFill>
                  <a:srgbClr val="FF0000"/>
                </a:solidFill>
              </a:rPr>
              <a:t>干涉图异常</a:t>
            </a:r>
            <a:endParaRPr lang="zh-CN" altLang="en-US" sz="2800" dirty="0">
              <a:solidFill>
                <a:srgbClr val="FF0000"/>
              </a:solidFill>
            </a:endParaRPr>
          </a:p>
        </p:txBody>
      </p:sp>
      <p:sp>
        <p:nvSpPr>
          <p:cNvPr id="10" name="文本框 9">
            <a:extLst>
              <a:ext uri="{FF2B5EF4-FFF2-40B4-BE49-F238E27FC236}">
                <a16:creationId xmlns:a16="http://schemas.microsoft.com/office/drawing/2014/main" id="{C5A505EC-9C66-4ED9-95F5-E44D2F670F5C}"/>
              </a:ext>
            </a:extLst>
          </p:cNvPr>
          <p:cNvSpPr txBox="1"/>
          <p:nvPr/>
        </p:nvSpPr>
        <p:spPr>
          <a:xfrm>
            <a:off x="1547664" y="3632839"/>
            <a:ext cx="2184250" cy="292678"/>
          </a:xfrm>
          <a:prstGeom prst="rect">
            <a:avLst/>
          </a:prstGeom>
          <a:noFill/>
        </p:spPr>
        <p:txBody>
          <a:bodyPr wrap="square">
            <a:prstTxWarp prst="textSlantDown">
              <a:avLst/>
            </a:prstTxWarp>
            <a:spAutoFit/>
          </a:bodyPr>
          <a:lstStyle/>
          <a:p>
            <a:r>
              <a:rPr lang="zh-CN" altLang="en-US" b="1" dirty="0">
                <a:solidFill>
                  <a:srgbClr val="FF0000"/>
                </a:solidFill>
                <a:highlight>
                  <a:srgbClr val="FFFF00"/>
                </a:highlight>
              </a:rPr>
              <a:t>无穷大</a:t>
            </a:r>
            <a:r>
              <a:rPr lang="en-US" altLang="zh-CN" b="1" dirty="0">
                <a:solidFill>
                  <a:srgbClr val="FF0000"/>
                </a:solidFill>
                <a:highlight>
                  <a:srgbClr val="FFFF00"/>
                </a:highlight>
              </a:rPr>
              <a:t>Int</a:t>
            </a:r>
            <a:r>
              <a:rPr lang="zh-CN" altLang="en-US" b="1" dirty="0">
                <a:solidFill>
                  <a:srgbClr val="FF0000"/>
                </a:solidFill>
                <a:highlight>
                  <a:srgbClr val="FFFF00"/>
                </a:highlight>
              </a:rPr>
              <a:t>可视化</a:t>
            </a:r>
          </a:p>
        </p:txBody>
      </p:sp>
    </p:spTree>
    <p:extLst>
      <p:ext uri="{BB962C8B-B14F-4D97-AF65-F5344CB8AC3E}">
        <p14:creationId xmlns:p14="http://schemas.microsoft.com/office/powerpoint/2010/main" val="172501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2C7B6D-CF6A-41EB-B519-F203EABCC607}"/>
              </a:ext>
            </a:extLst>
          </p:cNvPr>
          <p:cNvSpPr>
            <a:spLocks noGrp="1"/>
          </p:cNvSpPr>
          <p:nvPr>
            <p:ph type="title"/>
          </p:nvPr>
        </p:nvSpPr>
        <p:spPr>
          <a:xfrm>
            <a:off x="1291092" y="-145390"/>
            <a:ext cx="6328526" cy="792088"/>
          </a:xfrm>
        </p:spPr>
        <p:txBody>
          <a:bodyPr/>
          <a:lstStyle/>
          <a:p>
            <a:r>
              <a:rPr lang="zh-CN" altLang="en-US" sz="2800" b="1" i="0" u="none" strike="noStrike" dirty="0">
                <a:effectLst/>
                <a:latin typeface="Helvetica Neue"/>
              </a:rPr>
              <a:t> </a:t>
            </a:r>
            <a:br>
              <a:rPr lang="en-US" altLang="zh-CN" sz="2800" b="1" i="0" u="none" strike="noStrike" dirty="0">
                <a:effectLst/>
                <a:latin typeface="Helvetica Neue"/>
              </a:rPr>
            </a:br>
            <a:br>
              <a:rPr lang="en-US" altLang="zh-CN" sz="2800" b="1" i="0" u="none" strike="noStrike" dirty="0">
                <a:effectLst/>
                <a:latin typeface="Helvetica Neue"/>
              </a:rPr>
            </a:br>
            <a:r>
              <a:rPr lang="en-US" altLang="zh-CN" sz="2800" b="1" dirty="0">
                <a:latin typeface="Helvetica Neue"/>
              </a:rPr>
              <a:t>§</a:t>
            </a:r>
            <a:r>
              <a:rPr lang="en-US" altLang="zh-CN" sz="2800" kern="0" dirty="0"/>
              <a:t>1.3.2.3 </a:t>
            </a:r>
            <a:r>
              <a:rPr lang="zh-CN" altLang="en-US" sz="2800" dirty="0"/>
              <a:t>复数</a:t>
            </a:r>
            <a:r>
              <a:rPr lang="en-US" altLang="zh-CN" sz="2800" kern="0" dirty="0"/>
              <a:t>—</a:t>
            </a:r>
            <a:r>
              <a:rPr lang="en-US" altLang="zh-CN" sz="2800" dirty="0">
                <a:solidFill>
                  <a:srgbClr val="FF0000"/>
                </a:solidFill>
              </a:rPr>
              <a:t>1.</a:t>
            </a:r>
            <a:r>
              <a:rPr lang="zh-CN" altLang="en-US" sz="2800" kern="0" dirty="0">
                <a:solidFill>
                  <a:srgbClr val="FF0000"/>
                </a:solidFill>
              </a:rPr>
              <a:t>创建方式和处理复数的函数</a:t>
            </a:r>
            <a:endParaRPr lang="zh-CN" altLang="en-US" sz="2800" dirty="0">
              <a:solidFill>
                <a:srgbClr val="FF0000"/>
              </a:solidFill>
            </a:endParaRPr>
          </a:p>
        </p:txBody>
      </p:sp>
      <p:sp>
        <p:nvSpPr>
          <p:cNvPr id="3" name="内容占位符 2">
            <a:extLst>
              <a:ext uri="{FF2B5EF4-FFF2-40B4-BE49-F238E27FC236}">
                <a16:creationId xmlns:a16="http://schemas.microsoft.com/office/drawing/2014/main" id="{B9F9D1F8-C09A-4C2E-98FC-EAC857E10F71}"/>
              </a:ext>
            </a:extLst>
          </p:cNvPr>
          <p:cNvSpPr>
            <a:spLocks noGrp="1"/>
          </p:cNvSpPr>
          <p:nvPr>
            <p:ph idx="1"/>
          </p:nvPr>
        </p:nvSpPr>
        <p:spPr>
          <a:xfrm>
            <a:off x="222054" y="768206"/>
            <a:ext cx="8814442" cy="407291"/>
          </a:xfr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indent="0" algn="dist">
              <a:buNone/>
            </a:pPr>
            <a:r>
              <a:rPr lang="en-US" altLang="zh-CN" sz="2000" b="1" kern="1200" dirty="0">
                <a:solidFill>
                  <a:srgbClr val="0070C0"/>
                </a:solidFill>
                <a:latin typeface="微软雅黑" panose="020B0503020204020204" pitchFamily="34" charset="-122"/>
                <a:ea typeface="微软雅黑" panose="020B0503020204020204" pitchFamily="34" charset="-122"/>
              </a:rPr>
              <a:t>Julia </a:t>
            </a:r>
            <a:r>
              <a:rPr lang="zh-CN" altLang="en-US" sz="2000" b="1" kern="1200" dirty="0">
                <a:solidFill>
                  <a:srgbClr val="0070C0"/>
                </a:solidFill>
                <a:latin typeface="微软雅黑" panose="020B0503020204020204" pitchFamily="34" charset="-122"/>
                <a:ea typeface="微软雅黑" panose="020B0503020204020204" pitchFamily="34" charset="-122"/>
              </a:rPr>
              <a:t>复数支持各种标准数学运算和初等数学函数，复数运算结果</a:t>
            </a:r>
            <a:r>
              <a:rPr lang="zh-CN" altLang="en-US" sz="2000" b="1" kern="1200" dirty="0">
                <a:solidFill>
                  <a:srgbClr val="FFFF00"/>
                </a:solidFill>
                <a:highlight>
                  <a:srgbClr val="FF0000"/>
                </a:highlight>
                <a:latin typeface="微软雅黑" panose="020B0503020204020204" pitchFamily="34" charset="-122"/>
                <a:ea typeface="微软雅黑" panose="020B0503020204020204" pitchFamily="34" charset="-122"/>
              </a:rPr>
              <a:t>必为复数</a:t>
            </a:r>
          </a:p>
        </p:txBody>
      </p:sp>
      <p:sp>
        <p:nvSpPr>
          <p:cNvPr id="9" name="文本框 8">
            <a:extLst>
              <a:ext uri="{FF2B5EF4-FFF2-40B4-BE49-F238E27FC236}">
                <a16:creationId xmlns:a16="http://schemas.microsoft.com/office/drawing/2014/main" id="{67A1B87B-0B91-469E-BBCA-001ACB910CF5}"/>
              </a:ext>
            </a:extLst>
          </p:cNvPr>
          <p:cNvSpPr txBox="1"/>
          <p:nvPr/>
        </p:nvSpPr>
        <p:spPr>
          <a:xfrm>
            <a:off x="222054" y="1295017"/>
            <a:ext cx="2333723" cy="400110"/>
          </a:xfrm>
          <a:prstGeom prst="rect">
            <a:avLst/>
          </a:prstGeom>
          <a:noFill/>
        </p:spPr>
        <p:txBody>
          <a:bodyPr wrap="square">
            <a:spAutoFit/>
          </a:bodyPr>
          <a:lstStyle/>
          <a:p>
            <a:r>
              <a:rPr lang="en-US" altLang="zh-CN" sz="2000" dirty="0">
                <a:solidFill>
                  <a:srgbClr val="002060"/>
                </a:solidFill>
                <a:latin typeface="微软雅黑" panose="020B0503020204020204" pitchFamily="34" charset="-122"/>
                <a:ea typeface="微软雅黑" panose="020B0503020204020204" pitchFamily="34" charset="-122"/>
              </a:rPr>
              <a:t>Julia</a:t>
            </a:r>
            <a:r>
              <a:rPr lang="zh-CN" altLang="en-US" sz="2000" dirty="0">
                <a:solidFill>
                  <a:srgbClr val="002060"/>
                </a:solidFill>
                <a:latin typeface="微软雅黑" panose="020B0503020204020204" pitchFamily="34" charset="-122"/>
                <a:ea typeface="微软雅黑" panose="020B0503020204020204" pitchFamily="34" charset="-122"/>
              </a:rPr>
              <a:t>语言复数格式</a:t>
            </a:r>
          </a:p>
        </p:txBody>
      </p:sp>
      <p:sp>
        <p:nvSpPr>
          <p:cNvPr id="10" name="文本框 9">
            <a:extLst>
              <a:ext uri="{FF2B5EF4-FFF2-40B4-BE49-F238E27FC236}">
                <a16:creationId xmlns:a16="http://schemas.microsoft.com/office/drawing/2014/main" id="{ED8CD6BA-957A-45C0-9C0C-83D718861D6D}"/>
              </a:ext>
            </a:extLst>
          </p:cNvPr>
          <p:cNvSpPr txBox="1"/>
          <p:nvPr/>
        </p:nvSpPr>
        <p:spPr>
          <a:xfrm>
            <a:off x="3967964" y="1299270"/>
            <a:ext cx="5068532" cy="400110"/>
          </a:xfrm>
          <a:prstGeom prst="rect">
            <a:avLst/>
          </a:prstGeom>
          <a:noFill/>
        </p:spPr>
        <p:txBody>
          <a:bodyPr wrap="square">
            <a:spAutoFit/>
          </a:bodyPr>
          <a:lstStyle/>
          <a:p>
            <a:pPr algn="dist"/>
            <a:r>
              <a:rPr lang="en-US" altLang="zh-CN" sz="2000" dirty="0">
                <a:solidFill>
                  <a:srgbClr val="002060"/>
                </a:solidFill>
                <a:latin typeface="微软雅黑" panose="020B0503020204020204" pitchFamily="34" charset="-122"/>
                <a:ea typeface="微软雅黑" panose="020B0503020204020204" pitchFamily="34" charset="-122"/>
              </a:rPr>
              <a:t>a </a:t>
            </a:r>
            <a:r>
              <a:rPr lang="zh-CN" altLang="en-US" sz="2000" dirty="0">
                <a:solidFill>
                  <a:srgbClr val="002060"/>
                </a:solidFill>
                <a:latin typeface="微软雅黑" panose="020B0503020204020204" pitchFamily="34" charset="-122"/>
                <a:ea typeface="微软雅黑" panose="020B0503020204020204" pitchFamily="34" charset="-122"/>
              </a:rPr>
              <a:t>为实部，</a:t>
            </a:r>
            <a:r>
              <a:rPr lang="en-US" altLang="zh-CN" sz="2000" dirty="0">
                <a:solidFill>
                  <a:srgbClr val="002060"/>
                </a:solidFill>
                <a:latin typeface="微软雅黑" panose="020B0503020204020204" pitchFamily="34" charset="-122"/>
                <a:ea typeface="微软雅黑" panose="020B0503020204020204" pitchFamily="34" charset="-122"/>
              </a:rPr>
              <a:t>b</a:t>
            </a:r>
            <a:r>
              <a:rPr lang="zh-CN" altLang="en-US" sz="2000" dirty="0">
                <a:solidFill>
                  <a:srgbClr val="002060"/>
                </a:solidFill>
                <a:latin typeface="微软雅黑" panose="020B0503020204020204" pitchFamily="34" charset="-122"/>
                <a:ea typeface="微软雅黑" panose="020B0503020204020204" pitchFamily="34" charset="-122"/>
              </a:rPr>
              <a:t>为虚部，虚部单位为</a:t>
            </a:r>
            <a:r>
              <a:rPr lang="en-US" altLang="zh-CN" sz="2000" b="1" dirty="0" err="1">
                <a:solidFill>
                  <a:srgbClr val="FF0000"/>
                </a:solidFill>
                <a:latin typeface="微软雅黑" panose="020B0503020204020204" pitchFamily="34" charset="-122"/>
                <a:ea typeface="微软雅黑" panose="020B0503020204020204" pitchFamily="34" charset="-122"/>
              </a:rPr>
              <a:t>im</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aphicFrame>
        <p:nvGraphicFramePr>
          <p:cNvPr id="17" name="表格 16">
            <a:extLst>
              <a:ext uri="{FF2B5EF4-FFF2-40B4-BE49-F238E27FC236}">
                <a16:creationId xmlns:a16="http://schemas.microsoft.com/office/drawing/2014/main" id="{710E830D-9BA0-4DD3-9970-DC7D12B77B58}"/>
              </a:ext>
            </a:extLst>
          </p:cNvPr>
          <p:cNvGraphicFramePr>
            <a:graphicFrameLocks noGrp="1"/>
          </p:cNvGraphicFramePr>
          <p:nvPr>
            <p:extLst>
              <p:ext uri="{D42A27DB-BD31-4B8C-83A1-F6EECF244321}">
                <p14:modId xmlns:p14="http://schemas.microsoft.com/office/powerpoint/2010/main" val="2587421748"/>
              </p:ext>
            </p:extLst>
          </p:nvPr>
        </p:nvGraphicFramePr>
        <p:xfrm>
          <a:off x="275832" y="3380703"/>
          <a:ext cx="8688656" cy="1135100"/>
        </p:xfrm>
        <a:graphic>
          <a:graphicData uri="http://schemas.openxmlformats.org/drawingml/2006/table">
            <a:tbl>
              <a:tblPr>
                <a:effectLst>
                  <a:innerShdw blurRad="114300">
                    <a:prstClr val="black"/>
                  </a:innerShdw>
                </a:effectLst>
                <a:tableStyleId>{D27102A9-8310-4765-A935-A1911B00CA55}</a:tableStyleId>
              </a:tblPr>
              <a:tblGrid>
                <a:gridCol w="1139282">
                  <a:extLst>
                    <a:ext uri="{9D8B030D-6E8A-4147-A177-3AD203B41FA5}">
                      <a16:colId xmlns:a16="http://schemas.microsoft.com/office/drawing/2014/main" val="20002"/>
                    </a:ext>
                  </a:extLst>
                </a:gridCol>
                <a:gridCol w="1799014">
                  <a:extLst>
                    <a:ext uri="{9D8B030D-6E8A-4147-A177-3AD203B41FA5}">
                      <a16:colId xmlns:a16="http://schemas.microsoft.com/office/drawing/2014/main" val="20003"/>
                    </a:ext>
                  </a:extLst>
                </a:gridCol>
                <a:gridCol w="1101195">
                  <a:extLst>
                    <a:ext uri="{9D8B030D-6E8A-4147-A177-3AD203B41FA5}">
                      <a16:colId xmlns:a16="http://schemas.microsoft.com/office/drawing/2014/main" val="20004"/>
                    </a:ext>
                  </a:extLst>
                </a:gridCol>
                <a:gridCol w="1620761">
                  <a:extLst>
                    <a:ext uri="{9D8B030D-6E8A-4147-A177-3AD203B41FA5}">
                      <a16:colId xmlns:a16="http://schemas.microsoft.com/office/drawing/2014/main" val="20005"/>
                    </a:ext>
                  </a:extLst>
                </a:gridCol>
                <a:gridCol w="974529">
                  <a:extLst>
                    <a:ext uri="{9D8B030D-6E8A-4147-A177-3AD203B41FA5}">
                      <a16:colId xmlns:a16="http://schemas.microsoft.com/office/drawing/2014/main" val="20006"/>
                    </a:ext>
                  </a:extLst>
                </a:gridCol>
                <a:gridCol w="2053875">
                  <a:extLst>
                    <a:ext uri="{9D8B030D-6E8A-4147-A177-3AD203B41FA5}">
                      <a16:colId xmlns:a16="http://schemas.microsoft.com/office/drawing/2014/main" val="20007"/>
                    </a:ext>
                  </a:extLst>
                </a:gridCol>
              </a:tblGrid>
              <a:tr h="365001">
                <a:tc>
                  <a:txBody>
                    <a:bodyPr/>
                    <a:lstStyle/>
                    <a:p>
                      <a:pPr marL="0" algn="l" defTabSz="914400" rtl="0" eaLnBrk="1" latinLnBrk="0" hangingPunct="1">
                        <a:spcAft>
                          <a:spcPts val="0"/>
                        </a:spcAft>
                      </a:pPr>
                      <a:r>
                        <a:rPr lang="zh-CN" sz="2000" b="0" kern="0" dirty="0">
                          <a:solidFill>
                            <a:schemeClr val="bg1"/>
                          </a:solidFill>
                          <a:effectLst/>
                          <a:latin typeface="+mj-ea"/>
                          <a:ea typeface="+mj-ea"/>
                          <a:cs typeface="+mn-cs"/>
                        </a:rPr>
                        <a:t>名称</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sz="2000" b="0" kern="0" dirty="0">
                          <a:solidFill>
                            <a:schemeClr val="bg1"/>
                          </a:solidFill>
                          <a:effectLst/>
                          <a:latin typeface="+mj-ea"/>
                          <a:ea typeface="+mj-ea"/>
                          <a:cs typeface="+mn-cs"/>
                        </a:rPr>
                        <a:t>含义</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algn="l">
                        <a:spcAft>
                          <a:spcPts val="0"/>
                        </a:spcAft>
                      </a:pPr>
                      <a:r>
                        <a:rPr lang="zh-CN" sz="2000" b="0" kern="0" dirty="0">
                          <a:solidFill>
                            <a:schemeClr val="bg1"/>
                          </a:solidFill>
                          <a:effectLst/>
                          <a:latin typeface="+mj-ea"/>
                          <a:ea typeface="+mj-ea"/>
                        </a:rPr>
                        <a:t>名称</a:t>
                      </a:r>
                      <a:endParaRPr lang="zh-CN" sz="2000" b="0" kern="100" dirty="0">
                        <a:solidFill>
                          <a:schemeClr val="bg1"/>
                        </a:solidFill>
                        <a:effectLst/>
                        <a:latin typeface="+mj-ea"/>
                        <a:ea typeface="+mj-ea"/>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sz="2000" b="0" kern="0" dirty="0">
                          <a:solidFill>
                            <a:schemeClr val="bg1"/>
                          </a:solidFill>
                          <a:effectLst/>
                          <a:latin typeface="+mj-ea"/>
                          <a:ea typeface="+mj-ea"/>
                          <a:cs typeface="+mn-cs"/>
                        </a:rPr>
                        <a:t>含义</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l" defTabSz="914400" rtl="0" eaLnBrk="1" latinLnBrk="0" hangingPunct="1">
                        <a:spcAft>
                          <a:spcPts val="0"/>
                        </a:spcAft>
                      </a:pPr>
                      <a:r>
                        <a:rPr lang="zh-CN" sz="2000" b="0" kern="0" dirty="0">
                          <a:solidFill>
                            <a:schemeClr val="bg1"/>
                          </a:solidFill>
                          <a:effectLst/>
                          <a:latin typeface="+mj-ea"/>
                          <a:ea typeface="+mj-ea"/>
                          <a:cs typeface="+mn-cs"/>
                        </a:rPr>
                        <a:t>名称</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sz="2000" b="0" kern="0" dirty="0">
                          <a:solidFill>
                            <a:schemeClr val="bg1"/>
                          </a:solidFill>
                          <a:effectLst/>
                          <a:latin typeface="+mj-ea"/>
                          <a:ea typeface="+mj-ea"/>
                          <a:cs typeface="+mn-cs"/>
                        </a:rPr>
                        <a:t>含义</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extLst>
                  <a:ext uri="{0D108BD9-81ED-4DB2-BD59-A6C34878D82A}">
                    <a16:rowId xmlns:a16="http://schemas.microsoft.com/office/drawing/2014/main" val="10000"/>
                  </a:ext>
                </a:extLst>
              </a:tr>
              <a:tr h="435197">
                <a:tc>
                  <a:txBody>
                    <a:bodyPr/>
                    <a:lstStyle/>
                    <a:p>
                      <a:pPr marL="0" algn="l" defTabSz="914400" rtl="0" eaLnBrk="1" latinLnBrk="0" hangingPunct="1">
                        <a:spcAft>
                          <a:spcPts val="0"/>
                        </a:spcAft>
                      </a:pPr>
                      <a:r>
                        <a:rPr lang="en-US" sz="2000" b="0" kern="0" dirty="0">
                          <a:solidFill>
                            <a:srgbClr val="FFFF00"/>
                          </a:solidFill>
                          <a:effectLst/>
                          <a:latin typeface="+mj-ea"/>
                          <a:ea typeface="+mj-ea"/>
                          <a:cs typeface="+mn-cs"/>
                        </a:rPr>
                        <a:t>r</a:t>
                      </a:r>
                      <a:r>
                        <a:rPr lang="en-US" sz="2000" b="0" kern="0" dirty="0">
                          <a:solidFill>
                            <a:srgbClr val="FFFF00"/>
                          </a:solidFill>
                          <a:effectLst>
                            <a:outerShdw blurRad="38100" dist="38100" dir="2700000" algn="tl">
                              <a:srgbClr val="000000">
                                <a:alpha val="43137"/>
                              </a:srgbClr>
                            </a:outerShdw>
                          </a:effectLst>
                          <a:latin typeface="+mj-ea"/>
                          <a:ea typeface="+mj-ea"/>
                          <a:cs typeface="+mn-cs"/>
                        </a:rPr>
                        <a:t>eal</a:t>
                      </a:r>
                      <a:endParaRPr lang="zh-CN" sz="2000" b="0" kern="0" dirty="0">
                        <a:solidFill>
                          <a:srgbClr val="FFFF00"/>
                        </a:solidFill>
                        <a:effectLst>
                          <a:outerShdw blurRad="38100" dist="38100" dir="2700000" algn="tl">
                            <a:srgbClr val="000000">
                              <a:alpha val="43137"/>
                            </a:srgbClr>
                          </a:outerShdw>
                        </a:effectLst>
                        <a:latin typeface="+mj-ea"/>
                        <a:ea typeface="+mj-ea"/>
                        <a:cs typeface="+mn-cs"/>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sz="2000" b="0" kern="0" dirty="0">
                          <a:solidFill>
                            <a:schemeClr val="bg1"/>
                          </a:solidFill>
                          <a:effectLst/>
                          <a:latin typeface="+mj-ea"/>
                          <a:ea typeface="+mj-ea"/>
                          <a:cs typeface="+mn-cs"/>
                        </a:rPr>
                        <a:t>复数实部</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algn="l">
                        <a:spcAft>
                          <a:spcPts val="0"/>
                        </a:spcAft>
                      </a:pPr>
                      <a:r>
                        <a:rPr lang="en-US" sz="2000" b="0" kern="0" dirty="0">
                          <a:solidFill>
                            <a:srgbClr val="FFFF00"/>
                          </a:solidFill>
                          <a:effectLst>
                            <a:outerShdw blurRad="38100" dist="38100" dir="2700000" algn="tl">
                              <a:srgbClr val="000000">
                                <a:alpha val="43137"/>
                              </a:srgbClr>
                            </a:outerShdw>
                          </a:effectLst>
                          <a:latin typeface="+mj-ea"/>
                          <a:ea typeface="+mj-ea"/>
                        </a:rPr>
                        <a:t>abs</a:t>
                      </a:r>
                      <a:endParaRPr lang="zh-CN" sz="2000" b="0" kern="100" dirty="0">
                        <a:solidFill>
                          <a:srgbClr val="FFFF00"/>
                        </a:solidFill>
                        <a:effectLst>
                          <a:outerShdw blurRad="38100" dist="38100" dir="2700000" algn="tl">
                            <a:srgbClr val="000000">
                              <a:alpha val="43137"/>
                            </a:srgbClr>
                          </a:outerShdw>
                        </a:effectLst>
                        <a:latin typeface="+mj-ea"/>
                        <a:ea typeface="+mj-ea"/>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altLang="en-US" sz="2000" b="0" kern="0" dirty="0">
                          <a:solidFill>
                            <a:schemeClr val="bg1"/>
                          </a:solidFill>
                          <a:effectLst/>
                          <a:latin typeface="+mj-ea"/>
                          <a:ea typeface="+mj-ea"/>
                          <a:cs typeface="+mn-cs"/>
                        </a:rPr>
                        <a:t>复数模</a:t>
                      </a:r>
                      <a:endParaRPr lang="zh-CN" sz="2000" b="0" kern="0" dirty="0">
                        <a:solidFill>
                          <a:schemeClr val="bg1"/>
                        </a:solidFill>
                        <a:effectLst/>
                        <a:latin typeface="+mj-ea"/>
                        <a:ea typeface="+mj-ea"/>
                        <a:cs typeface="+mn-cs"/>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l" defTabSz="914400" rtl="0" eaLnBrk="1" latinLnBrk="0" hangingPunct="1">
                        <a:spcAft>
                          <a:spcPts val="0"/>
                        </a:spcAft>
                      </a:pPr>
                      <a:r>
                        <a:rPr lang="en-US" sz="2000" b="0" kern="0" dirty="0" err="1">
                          <a:solidFill>
                            <a:srgbClr val="FFFF00"/>
                          </a:solidFill>
                          <a:effectLst>
                            <a:outerShdw blurRad="38100" dist="38100" dir="2700000" algn="tl">
                              <a:srgbClr val="000000">
                                <a:alpha val="43137"/>
                              </a:srgbClr>
                            </a:outerShdw>
                          </a:effectLst>
                          <a:latin typeface="+mj-ea"/>
                          <a:ea typeface="+mj-ea"/>
                          <a:cs typeface="+mn-cs"/>
                        </a:rPr>
                        <a:t>conj</a:t>
                      </a:r>
                      <a:endParaRPr lang="zh-CN" sz="2000" b="0" kern="0" dirty="0">
                        <a:solidFill>
                          <a:srgbClr val="FFFF00"/>
                        </a:solidFill>
                        <a:effectLst>
                          <a:outerShdw blurRad="38100" dist="38100" dir="2700000" algn="tl">
                            <a:srgbClr val="000000">
                              <a:alpha val="43137"/>
                            </a:srgbClr>
                          </a:outerShdw>
                        </a:effectLst>
                        <a:latin typeface="+mj-ea"/>
                        <a:ea typeface="+mj-ea"/>
                        <a:cs typeface="+mn-cs"/>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sz="2000" b="0" kern="0" dirty="0">
                          <a:solidFill>
                            <a:schemeClr val="bg1"/>
                          </a:solidFill>
                          <a:effectLst/>
                          <a:latin typeface="+mj-ea"/>
                          <a:ea typeface="+mj-ea"/>
                          <a:cs typeface="+mn-cs"/>
                        </a:rPr>
                        <a:t>复数共轭</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extLst>
                  <a:ext uri="{0D108BD9-81ED-4DB2-BD59-A6C34878D82A}">
                    <a16:rowId xmlns:a16="http://schemas.microsoft.com/office/drawing/2014/main" val="10001"/>
                  </a:ext>
                </a:extLst>
              </a:tr>
              <a:tr h="334902">
                <a:tc>
                  <a:txBody>
                    <a:bodyPr/>
                    <a:lstStyle/>
                    <a:p>
                      <a:pPr marL="0" algn="l" defTabSz="914400" rtl="0" eaLnBrk="1" latinLnBrk="0" hangingPunct="1">
                        <a:spcAft>
                          <a:spcPts val="0"/>
                        </a:spcAft>
                      </a:pPr>
                      <a:r>
                        <a:rPr lang="en-US" sz="2000" b="0" kern="0" dirty="0" err="1">
                          <a:solidFill>
                            <a:srgbClr val="FFFF00"/>
                          </a:solidFill>
                          <a:effectLst>
                            <a:outerShdw blurRad="38100" dist="38100" dir="2700000" algn="tl">
                              <a:srgbClr val="000000">
                                <a:alpha val="43137"/>
                              </a:srgbClr>
                            </a:outerShdw>
                          </a:effectLst>
                          <a:latin typeface="+mj-ea"/>
                          <a:ea typeface="+mj-ea"/>
                          <a:cs typeface="+mn-cs"/>
                        </a:rPr>
                        <a:t>imag</a:t>
                      </a:r>
                      <a:endParaRPr lang="zh-CN" sz="2000" b="0" kern="0" dirty="0">
                        <a:solidFill>
                          <a:srgbClr val="FFFF00"/>
                        </a:solidFill>
                        <a:effectLst>
                          <a:outerShdw blurRad="38100" dist="38100" dir="2700000" algn="tl">
                            <a:srgbClr val="000000">
                              <a:alpha val="43137"/>
                            </a:srgbClr>
                          </a:outerShdw>
                        </a:effectLst>
                        <a:latin typeface="+mj-ea"/>
                        <a:ea typeface="+mj-ea"/>
                        <a:cs typeface="+mn-cs"/>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sz="2000" b="0" kern="0" dirty="0">
                          <a:solidFill>
                            <a:schemeClr val="bg1"/>
                          </a:solidFill>
                          <a:effectLst/>
                          <a:latin typeface="+mj-ea"/>
                          <a:ea typeface="+mj-ea"/>
                          <a:cs typeface="+mn-cs"/>
                        </a:rPr>
                        <a:t>复数虚部</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algn="l">
                        <a:spcAft>
                          <a:spcPts val="0"/>
                        </a:spcAft>
                      </a:pPr>
                      <a:r>
                        <a:rPr lang="en-US" sz="2000" b="0" kern="0" dirty="0">
                          <a:solidFill>
                            <a:srgbClr val="FFFF00"/>
                          </a:solidFill>
                          <a:effectLst>
                            <a:outerShdw blurRad="38100" dist="38100" dir="2700000" algn="tl">
                              <a:srgbClr val="000000">
                                <a:alpha val="43137"/>
                              </a:srgbClr>
                            </a:outerShdw>
                          </a:effectLst>
                          <a:latin typeface="+mj-ea"/>
                          <a:ea typeface="+mj-ea"/>
                        </a:rPr>
                        <a:t>angle</a:t>
                      </a:r>
                      <a:endParaRPr lang="zh-CN" sz="2000" b="0" kern="100" dirty="0">
                        <a:solidFill>
                          <a:srgbClr val="FFFF00"/>
                        </a:solidFill>
                        <a:effectLst>
                          <a:outerShdw blurRad="38100" dist="38100" dir="2700000" algn="tl">
                            <a:srgbClr val="000000">
                              <a:alpha val="43137"/>
                            </a:srgbClr>
                          </a:outerShdw>
                        </a:effectLst>
                        <a:latin typeface="+mj-ea"/>
                        <a:ea typeface="+mj-ea"/>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r>
                        <a:rPr lang="zh-CN" sz="2000" b="0" kern="0" dirty="0">
                          <a:solidFill>
                            <a:schemeClr val="bg1"/>
                          </a:solidFill>
                          <a:effectLst/>
                          <a:latin typeface="+mj-ea"/>
                          <a:ea typeface="+mj-ea"/>
                          <a:cs typeface="+mn-cs"/>
                        </a:rPr>
                        <a:t>相角</a:t>
                      </a: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l" defTabSz="914400" rtl="0" eaLnBrk="1" latinLnBrk="0" hangingPunct="1">
                        <a:spcAft>
                          <a:spcPts val="0"/>
                        </a:spcAft>
                      </a:pPr>
                      <a:endParaRPr lang="zh-CN" sz="2000" b="0" kern="0" dirty="0">
                        <a:solidFill>
                          <a:srgbClr val="FFFF00"/>
                        </a:solidFill>
                        <a:effectLst>
                          <a:outerShdw blurRad="38100" dist="38100" dir="2700000" algn="tl">
                            <a:srgbClr val="000000">
                              <a:alpha val="43137"/>
                            </a:srgbClr>
                          </a:outerShdw>
                        </a:effectLst>
                        <a:latin typeface="+mj-ea"/>
                        <a:ea typeface="+mj-ea"/>
                        <a:cs typeface="+mn-cs"/>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tc>
                  <a:txBody>
                    <a:bodyPr/>
                    <a:lstStyle/>
                    <a:p>
                      <a:pPr marL="0" algn="ctr" defTabSz="914400" rtl="0" eaLnBrk="1" latinLnBrk="0" hangingPunct="1">
                        <a:spcAft>
                          <a:spcPts val="0"/>
                        </a:spcAft>
                      </a:pPr>
                      <a:endParaRPr lang="zh-CN" sz="2000" b="0" kern="0" dirty="0">
                        <a:solidFill>
                          <a:schemeClr val="bg1"/>
                        </a:solidFill>
                        <a:effectLst/>
                        <a:latin typeface="+mj-ea"/>
                        <a:ea typeface="+mj-ea"/>
                        <a:cs typeface="+mn-cs"/>
                      </a:endParaRPr>
                    </a:p>
                  </a:txBody>
                  <a:tcPr marL="91455" marR="91455" marT="0" marB="0">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r="100000" b="100000"/>
                      </a:path>
                      <a:tileRect l="-100000" t="-100000"/>
                    </a:gradFill>
                  </a:tcPr>
                </a:tc>
                <a:extLst>
                  <a:ext uri="{0D108BD9-81ED-4DB2-BD59-A6C34878D82A}">
                    <a16:rowId xmlns:a16="http://schemas.microsoft.com/office/drawing/2014/main" val="10002"/>
                  </a:ext>
                </a:extLst>
              </a:tr>
            </a:tbl>
          </a:graphicData>
        </a:graphic>
      </p:graphicFrame>
      <p:sp>
        <p:nvSpPr>
          <p:cNvPr id="18" name="矩形 17">
            <a:extLst>
              <a:ext uri="{FF2B5EF4-FFF2-40B4-BE49-F238E27FC236}">
                <a16:creationId xmlns:a16="http://schemas.microsoft.com/office/drawing/2014/main" id="{89B70689-B7D9-469C-85F0-E2B52EBBECF8}"/>
              </a:ext>
            </a:extLst>
          </p:cNvPr>
          <p:cNvSpPr/>
          <p:nvPr/>
        </p:nvSpPr>
        <p:spPr>
          <a:xfrm>
            <a:off x="165963" y="2848106"/>
            <a:ext cx="2954655" cy="441916"/>
          </a:xfrm>
          <a:prstGeom prst="rect">
            <a:avLst/>
          </a:prstGeom>
        </p:spPr>
        <p:txBody>
          <a:bodyPr wrap="none">
            <a:spAutoFit/>
          </a:bodyPr>
          <a:lstStyle/>
          <a:p>
            <a:pPr marL="457189" indent="-457189">
              <a:lnSpc>
                <a:spcPct val="125000"/>
              </a:lnSpc>
              <a:spcBef>
                <a:spcPct val="20000"/>
              </a:spcBef>
              <a:buFont typeface="Wingdings" panose="05000000000000000000" pitchFamily="2" charset="2"/>
              <a:buChar char="Ø"/>
              <a:defRPr/>
            </a:pPr>
            <a:r>
              <a:rPr lang="zh-CN" altLang="en-US" sz="2000" dirty="0">
                <a:solidFill>
                  <a:srgbClr val="002060"/>
                </a:solidFill>
                <a:latin typeface="微软雅黑" panose="020B0503020204020204" pitchFamily="34" charset="-122"/>
                <a:ea typeface="微软雅黑" panose="020B0503020204020204" pitchFamily="34" charset="-122"/>
              </a:rPr>
              <a:t>处理复数的函数命令</a:t>
            </a:r>
          </a:p>
        </p:txBody>
      </p:sp>
      <p:sp>
        <p:nvSpPr>
          <p:cNvPr id="19" name="矩形 18">
            <a:extLst>
              <a:ext uri="{FF2B5EF4-FFF2-40B4-BE49-F238E27FC236}">
                <a16:creationId xmlns:a16="http://schemas.microsoft.com/office/drawing/2014/main" id="{65083111-7C4C-4371-AA71-3C30DA612421}"/>
              </a:ext>
            </a:extLst>
          </p:cNvPr>
          <p:cNvSpPr/>
          <p:nvPr/>
        </p:nvSpPr>
        <p:spPr>
          <a:xfrm>
            <a:off x="2528379" y="2365843"/>
            <a:ext cx="4201791" cy="441916"/>
          </a:xfrm>
          <a:prstGeom prst="rect">
            <a:avLst/>
          </a:prstGeom>
        </p:spPr>
        <p:txBody>
          <a:bodyPr wrap="none">
            <a:spAutoFit/>
          </a:bodyPr>
          <a:lstStyle/>
          <a:p>
            <a:pPr marL="457189" indent="-457189">
              <a:lnSpc>
                <a:spcPct val="125000"/>
              </a:lnSpc>
              <a:spcBef>
                <a:spcPct val="20000"/>
              </a:spcBef>
              <a:defRPr/>
            </a:pPr>
            <a:r>
              <a:rPr lang="en-US" altLang="zh-CN" sz="2000" b="1" dirty="0">
                <a:solidFill>
                  <a:srgbClr val="FF0000"/>
                </a:solidFill>
                <a:latin typeface="微软雅黑" panose="020B0503020204020204" pitchFamily="34" charset="-122"/>
                <a:ea typeface="微软雅黑" panose="020B0503020204020204" pitchFamily="34" charset="-122"/>
              </a:rPr>
              <a:t>complex(</a:t>
            </a:r>
            <a:r>
              <a:rPr lang="en-US" altLang="zh-CN" sz="2000" b="1" dirty="0" err="1">
                <a:solidFill>
                  <a:srgbClr val="FF0000"/>
                </a:solidFill>
                <a:latin typeface="微软雅黑" panose="020B0503020204020204" pitchFamily="34" charset="-122"/>
                <a:ea typeface="微软雅黑" panose="020B0503020204020204" pitchFamily="34" charset="-122"/>
              </a:rPr>
              <a:t>a,b</a:t>
            </a:r>
            <a:r>
              <a:rPr lang="en-US" altLang="zh-CN" sz="2000" b="1" dirty="0">
                <a:solidFill>
                  <a:srgbClr val="FF0000"/>
                </a:solidFill>
                <a:latin typeface="微软雅黑" panose="020B0503020204020204" pitchFamily="34" charset="-122"/>
                <a:ea typeface="微软雅黑" panose="020B0503020204020204" pitchFamily="34" charset="-122"/>
              </a:rPr>
              <a:t>)</a:t>
            </a:r>
            <a:r>
              <a:rPr lang="en-US" altLang="zh-CN" sz="2000" dirty="0">
                <a:solidFill>
                  <a:srgbClr val="002060"/>
                </a:solidFill>
                <a:latin typeface="微软雅黑" panose="020B0503020204020204" pitchFamily="34" charset="-122"/>
                <a:ea typeface="微软雅黑" panose="020B0503020204020204" pitchFamily="34" charset="-122"/>
              </a:rPr>
              <a:t> </a:t>
            </a:r>
            <a:r>
              <a:rPr lang="zh-CN" altLang="en-US" sz="2000" dirty="0">
                <a:solidFill>
                  <a:srgbClr val="002060"/>
                </a:solidFill>
                <a:latin typeface="微软雅黑" panose="020B0503020204020204" pitchFamily="34" charset="-122"/>
                <a:ea typeface="微软雅黑" panose="020B0503020204020204" pitchFamily="34" charset="-122"/>
              </a:rPr>
              <a:t> </a:t>
            </a:r>
            <a:r>
              <a:rPr lang="en-US" altLang="zh-CN" sz="2000" dirty="0">
                <a:solidFill>
                  <a:srgbClr val="002060"/>
                </a:solidFill>
                <a:latin typeface="微软雅黑" panose="020B0503020204020204" pitchFamily="34" charset="-122"/>
                <a:ea typeface="微软雅黑" panose="020B0503020204020204" pitchFamily="34" charset="-122"/>
              </a:rPr>
              <a:t>a</a:t>
            </a:r>
            <a:r>
              <a:rPr lang="zh-CN" altLang="en-US" sz="2000" dirty="0">
                <a:solidFill>
                  <a:srgbClr val="002060"/>
                </a:solidFill>
                <a:latin typeface="微软雅黑" panose="020B0503020204020204" pitchFamily="34" charset="-122"/>
                <a:ea typeface="微软雅黑" panose="020B0503020204020204" pitchFamily="34" charset="-122"/>
              </a:rPr>
              <a:t>为实部、</a:t>
            </a:r>
            <a:r>
              <a:rPr lang="en-US" altLang="zh-CN" sz="2000" dirty="0">
                <a:solidFill>
                  <a:srgbClr val="002060"/>
                </a:solidFill>
                <a:latin typeface="微软雅黑" panose="020B0503020204020204" pitchFamily="34" charset="-122"/>
                <a:ea typeface="微软雅黑" panose="020B0503020204020204" pitchFamily="34" charset="-122"/>
              </a:rPr>
              <a:t>b</a:t>
            </a:r>
            <a:r>
              <a:rPr lang="zh-CN" altLang="en-US" sz="2000" dirty="0">
                <a:solidFill>
                  <a:srgbClr val="002060"/>
                </a:solidFill>
                <a:latin typeface="微软雅黑" panose="020B0503020204020204" pitchFamily="34" charset="-122"/>
                <a:ea typeface="微软雅黑" panose="020B0503020204020204" pitchFamily="34" charset="-122"/>
              </a:rPr>
              <a:t>为虚部 </a:t>
            </a:r>
          </a:p>
        </p:txBody>
      </p:sp>
      <p:sp>
        <p:nvSpPr>
          <p:cNvPr id="20" name="矩形 19">
            <a:extLst>
              <a:ext uri="{FF2B5EF4-FFF2-40B4-BE49-F238E27FC236}">
                <a16:creationId xmlns:a16="http://schemas.microsoft.com/office/drawing/2014/main" id="{9DF2E444-E451-45BF-A4EA-25571DF5D0A1}"/>
              </a:ext>
            </a:extLst>
          </p:cNvPr>
          <p:cNvSpPr/>
          <p:nvPr/>
        </p:nvSpPr>
        <p:spPr>
          <a:xfrm>
            <a:off x="165963" y="1917030"/>
            <a:ext cx="2247731" cy="400110"/>
          </a:xfrm>
          <a:prstGeom prst="rect">
            <a:avLst/>
          </a:prstGeom>
        </p:spPr>
        <p:txBody>
          <a:bodyPr wrap="none">
            <a:spAutoFit/>
          </a:bodyPr>
          <a:lstStyle/>
          <a:p>
            <a:pPr marL="457189" indent="-457189">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直接创建复数</a:t>
            </a:r>
            <a:r>
              <a:rPr lang="en-US" altLang="zh-CN" sz="2000" dirty="0">
                <a:solidFill>
                  <a:srgbClr val="002060"/>
                </a:solidFill>
                <a:latin typeface="微软雅黑" panose="020B0503020204020204" pitchFamily="34" charset="-122"/>
                <a:ea typeface="微软雅黑" panose="020B0503020204020204" pitchFamily="34" charset="-122"/>
              </a:rPr>
              <a:t>:</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2C0BE663-FEEA-4D18-9E30-6BE1FADEF30E}"/>
              </a:ext>
            </a:extLst>
          </p:cNvPr>
          <p:cNvSpPr/>
          <p:nvPr/>
        </p:nvSpPr>
        <p:spPr>
          <a:xfrm>
            <a:off x="165963" y="2428999"/>
            <a:ext cx="2492990" cy="400110"/>
          </a:xfrm>
          <a:prstGeom prst="rect">
            <a:avLst/>
          </a:prstGeom>
        </p:spPr>
        <p:txBody>
          <a:bodyPr wrap="square">
            <a:spAutoFit/>
          </a:bodyPr>
          <a:lstStyle/>
          <a:p>
            <a:pPr marL="457189" indent="-457189">
              <a:buFont typeface="Wingdings" panose="05000000000000000000" pitchFamily="2" charset="2"/>
              <a:buChar char="Ø"/>
            </a:pPr>
            <a:r>
              <a:rPr lang="zh-CN" altLang="en-US" sz="2000" dirty="0">
                <a:solidFill>
                  <a:srgbClr val="002060"/>
                </a:solidFill>
                <a:latin typeface="微软雅黑" panose="020B0503020204020204" pitchFamily="34" charset="-122"/>
                <a:ea typeface="微软雅黑" panose="020B0503020204020204" pitchFamily="34" charset="-122"/>
              </a:rPr>
              <a:t>函数创建复数</a:t>
            </a:r>
            <a:r>
              <a:rPr lang="en-US" altLang="zh-CN" sz="2000" dirty="0">
                <a:solidFill>
                  <a:srgbClr val="002060"/>
                </a:solidFill>
                <a:latin typeface="微软雅黑" panose="020B0503020204020204" pitchFamily="34" charset="-122"/>
                <a:ea typeface="微软雅黑" panose="020B0503020204020204" pitchFamily="34" charset="-122"/>
              </a:rPr>
              <a:t>:</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EF886F0A-4386-458D-A7B7-9320E9E920A5}"/>
              </a:ext>
            </a:extLst>
          </p:cNvPr>
          <p:cNvSpPr/>
          <p:nvPr/>
        </p:nvSpPr>
        <p:spPr>
          <a:xfrm>
            <a:off x="2501209" y="1852227"/>
            <a:ext cx="1737976" cy="441916"/>
          </a:xfrm>
          <a:prstGeom prst="rect">
            <a:avLst/>
          </a:prstGeom>
        </p:spPr>
        <p:txBody>
          <a:bodyPr wrap="none">
            <a:spAutoFit/>
          </a:bodyPr>
          <a:lstStyle/>
          <a:p>
            <a:pPr marL="457189" indent="-457189">
              <a:lnSpc>
                <a:spcPct val="125000"/>
              </a:lnSpc>
              <a:spcBef>
                <a:spcPct val="20000"/>
              </a:spcBef>
              <a:defRPr/>
            </a:pPr>
            <a:r>
              <a:rPr lang="en-US" altLang="zh-CN" sz="2000" b="1" dirty="0" err="1">
                <a:solidFill>
                  <a:srgbClr val="FF0000"/>
                </a:solidFill>
                <a:latin typeface="微软雅黑" panose="020B0503020204020204" pitchFamily="34" charset="-122"/>
                <a:ea typeface="微软雅黑" panose="020B0503020204020204" pitchFamily="34" charset="-122"/>
              </a:rPr>
              <a:t>a+b</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数字</a:t>
            </a:r>
            <a:r>
              <a:rPr lang="en-US" altLang="zh-CN" sz="2000" b="1" dirty="0">
                <a:solidFill>
                  <a:srgbClr val="FF0000"/>
                </a:solidFill>
                <a:latin typeface="微软雅黑" panose="020B0503020204020204" pitchFamily="34" charset="-122"/>
                <a:ea typeface="微软雅黑" panose="020B0503020204020204" pitchFamily="34" charset="-122"/>
              </a:rPr>
              <a:t>)</a:t>
            </a:r>
            <a:r>
              <a:rPr lang="en-US" altLang="zh-CN" sz="2000" b="1" dirty="0" err="1">
                <a:solidFill>
                  <a:srgbClr val="FF0000"/>
                </a:solidFill>
                <a:latin typeface="微软雅黑" panose="020B0503020204020204" pitchFamily="34" charset="-122"/>
                <a:ea typeface="微软雅黑" panose="020B0503020204020204" pitchFamily="34" charset="-122"/>
              </a:rPr>
              <a:t>im</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13" name="AutoShape 13">
            <a:extLst>
              <a:ext uri="{FF2B5EF4-FFF2-40B4-BE49-F238E27FC236}">
                <a16:creationId xmlns:a16="http://schemas.microsoft.com/office/drawing/2014/main" id="{6CC38AE2-0A15-43DF-9E2B-9C02F6030C9A}"/>
              </a:ext>
            </a:extLst>
          </p:cNvPr>
          <p:cNvSpPr>
            <a:spLocks noChangeArrowheads="1"/>
          </p:cNvSpPr>
          <p:nvPr/>
        </p:nvSpPr>
        <p:spPr bwMode="auto">
          <a:xfrm>
            <a:off x="5852828" y="1618745"/>
            <a:ext cx="720080" cy="766502"/>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pPr algn="ctr"/>
            <a:r>
              <a:rPr lang="zh-CN" altLang="en-US" sz="1400" b="1" kern="0" dirty="0">
                <a:solidFill>
                  <a:srgbClr val="FFFF00"/>
                </a:solidFill>
                <a:latin typeface="微软雅黑" panose="020B0503020204020204" pitchFamily="34" charset="-122"/>
                <a:ea typeface="微软雅黑" panose="020B0503020204020204" pitchFamily="34" charset="-122"/>
              </a:rPr>
              <a:t>注意</a:t>
            </a:r>
          </a:p>
        </p:txBody>
      </p:sp>
      <p:sp>
        <p:nvSpPr>
          <p:cNvPr id="14" name="矩形 13">
            <a:extLst>
              <a:ext uri="{FF2B5EF4-FFF2-40B4-BE49-F238E27FC236}">
                <a16:creationId xmlns:a16="http://schemas.microsoft.com/office/drawing/2014/main" id="{4B46838C-3716-4451-B0F1-F3D166FE7358}"/>
              </a:ext>
            </a:extLst>
          </p:cNvPr>
          <p:cNvSpPr/>
          <p:nvPr/>
        </p:nvSpPr>
        <p:spPr>
          <a:xfrm>
            <a:off x="2487232" y="1330867"/>
            <a:ext cx="1266772"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err="1">
                <a:solidFill>
                  <a:schemeClr val="bg1"/>
                </a:solidFill>
                <a:latin typeface="微软雅黑" panose="020B0503020204020204" pitchFamily="34" charset="-122"/>
                <a:ea typeface="微软雅黑" panose="020B0503020204020204" pitchFamily="34" charset="-122"/>
              </a:rPr>
              <a:t>a+b</a:t>
            </a:r>
            <a:r>
              <a:rPr lang="en-US" altLang="zh-CN" sz="2000" b="1" dirty="0">
                <a:solidFill>
                  <a:schemeClr val="bg1"/>
                </a:solidFill>
                <a:latin typeface="微软雅黑" panose="020B0503020204020204" pitchFamily="34" charset="-122"/>
                <a:ea typeface="微软雅黑" panose="020B0503020204020204" pitchFamily="34" charset="-122"/>
              </a:rPr>
              <a:t>*</a:t>
            </a:r>
            <a:r>
              <a:rPr lang="en-US" altLang="zh-CN" sz="2000" b="1" dirty="0" err="1">
                <a:solidFill>
                  <a:schemeClr val="bg1"/>
                </a:solidFill>
                <a:latin typeface="微软雅黑" panose="020B0503020204020204" pitchFamily="34" charset="-122"/>
                <a:ea typeface="微软雅黑" panose="020B0503020204020204" pitchFamily="34" charset="-122"/>
              </a:rPr>
              <a:t>im</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838FF7F3-054E-49FA-8D08-DDCD29CD1756}"/>
              </a:ext>
            </a:extLst>
          </p:cNvPr>
          <p:cNvSpPr txBox="1"/>
          <p:nvPr/>
        </p:nvSpPr>
        <p:spPr>
          <a:xfrm>
            <a:off x="6419336" y="1858682"/>
            <a:ext cx="2724664" cy="369332"/>
          </a:xfrm>
          <a:prstGeom prst="rect">
            <a:avLst/>
          </a:prstGeom>
          <a:noFill/>
        </p:spPr>
        <p:txBody>
          <a:bodyPr wrap="square">
            <a:spAutoFit/>
          </a:bodyPr>
          <a:lstStyle/>
          <a:p>
            <a:r>
              <a:rPr lang="en-US" altLang="zh-CN" sz="1800" b="1" dirty="0">
                <a:solidFill>
                  <a:srgbClr val="FF0000"/>
                </a:solidFill>
                <a:latin typeface="微软雅黑" panose="020B0503020204020204" pitchFamily="34" charset="-122"/>
                <a:ea typeface="微软雅黑" panose="020B0503020204020204" pitchFamily="34" charset="-122"/>
              </a:rPr>
              <a:t>MATLAB</a:t>
            </a:r>
            <a:r>
              <a:rPr lang="zh-CN" altLang="en-US" sz="1800" b="1" dirty="0">
                <a:solidFill>
                  <a:srgbClr val="FF0000"/>
                </a:solidFill>
                <a:latin typeface="微软雅黑" panose="020B0503020204020204" pitchFamily="34" charset="-122"/>
                <a:ea typeface="微软雅黑" panose="020B0503020204020204" pitchFamily="34" charset="-122"/>
              </a:rPr>
              <a:t>虚部单位为</a:t>
            </a:r>
            <a:r>
              <a:rPr lang="en-US" altLang="zh-CN" sz="1800" b="1" dirty="0" err="1">
                <a:solidFill>
                  <a:srgbClr val="FF0000"/>
                </a:solidFill>
                <a:latin typeface="微软雅黑" panose="020B0503020204020204" pitchFamily="34" charset="-122"/>
                <a:ea typeface="微软雅黑" panose="020B0503020204020204" pitchFamily="34" charset="-122"/>
              </a:rPr>
              <a:t>i</a:t>
            </a:r>
            <a:r>
              <a:rPr lang="zh-CN" altLang="en-US" sz="1800" b="1" dirty="0">
                <a:solidFill>
                  <a:srgbClr val="FF0000"/>
                </a:solidFill>
                <a:latin typeface="微软雅黑" panose="020B0503020204020204" pitchFamily="34" charset="-122"/>
                <a:ea typeface="微软雅黑" panose="020B0503020204020204" pitchFamily="34" charset="-122"/>
              </a:rPr>
              <a:t>或</a:t>
            </a:r>
            <a:r>
              <a:rPr lang="en-US" altLang="zh-CN" sz="1800" b="1" dirty="0">
                <a:solidFill>
                  <a:srgbClr val="FF0000"/>
                </a:solidFill>
                <a:latin typeface="微软雅黑" panose="020B0503020204020204" pitchFamily="34" charset="-122"/>
                <a:ea typeface="微软雅黑" panose="020B0503020204020204" pitchFamily="34" charset="-122"/>
              </a:rPr>
              <a:t>j</a:t>
            </a:r>
            <a:endParaRPr lang="zh-CN" altLang="en-US" sz="1800" b="1" kern="0" dirty="0">
              <a:solidFill>
                <a:srgbClr val="FF000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060187AB-8ACD-43E8-9384-B2A9BF02E8A1}"/>
              </a:ext>
            </a:extLst>
          </p:cNvPr>
          <p:cNvSpPr txBox="1"/>
          <p:nvPr/>
        </p:nvSpPr>
        <p:spPr>
          <a:xfrm>
            <a:off x="4397315" y="1927597"/>
            <a:ext cx="990770" cy="369332"/>
          </a:xfrm>
          <a:prstGeom prst="rect">
            <a:avLst/>
          </a:prstGeom>
          <a:noFill/>
        </p:spPr>
        <p:txBody>
          <a:bodyPr wrap="square">
            <a:spAutoFit/>
          </a:bodyPr>
          <a:lstStyle/>
          <a:p>
            <a:r>
              <a:rPr lang="en-US" altLang="zh-CN" sz="1800" b="1" dirty="0">
                <a:solidFill>
                  <a:srgbClr val="0070C0"/>
                </a:solidFill>
                <a:latin typeface="微软雅黑" panose="020B0503020204020204" pitchFamily="34" charset="-122"/>
                <a:ea typeface="微软雅黑" panose="020B0503020204020204" pitchFamily="34" charset="-122"/>
              </a:rPr>
              <a:t>1+2im</a:t>
            </a:r>
            <a:endParaRPr lang="zh-CN" altLang="en-US" sz="1800" b="1" kern="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6873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P spid="19" grpId="0"/>
      <p:bldP spid="20" grpId="0"/>
      <p:bldP spid="21" grpId="0"/>
      <p:bldP spid="22" grpId="0"/>
      <p:bldP spid="13" grpId="0" animBg="1"/>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F06E10B-5D6A-4BB8-9AED-105DC1700892}"/>
              </a:ext>
            </a:extLst>
          </p:cNvPr>
          <p:cNvSpPr>
            <a:spLocks noGrp="1"/>
          </p:cNvSpPr>
          <p:nvPr>
            <p:ph idx="1"/>
          </p:nvPr>
        </p:nvSpPr>
        <p:spPr>
          <a:xfrm>
            <a:off x="507397" y="1203598"/>
            <a:ext cx="8527960" cy="3554819"/>
          </a:xfrm>
        </p:spPr>
        <p:txBody>
          <a:bodyPr/>
          <a:lstStyle/>
          <a:p>
            <a:pPr marL="0" indent="0">
              <a:lnSpc>
                <a:spcPts val="2700"/>
              </a:lnSpc>
              <a:buNone/>
            </a:pPr>
            <a:r>
              <a:rPr lang="de-DE" altLang="zh-CN" sz="2400" dirty="0"/>
              <a:t>julia&gt; f=1+2im</a:t>
            </a:r>
          </a:p>
          <a:p>
            <a:pPr marL="0" indent="0">
              <a:lnSpc>
                <a:spcPts val="2700"/>
              </a:lnSpc>
              <a:buNone/>
            </a:pPr>
            <a:r>
              <a:rPr lang="en-US" altLang="zh-CN" sz="2400" dirty="0">
                <a:solidFill>
                  <a:srgbClr val="00B0F0"/>
                </a:solidFill>
              </a:rPr>
              <a:t>#</a:t>
            </a:r>
            <a:r>
              <a:rPr lang="zh-CN" altLang="en-US" sz="2400" dirty="0">
                <a:solidFill>
                  <a:srgbClr val="00B0F0"/>
                </a:solidFill>
              </a:rPr>
              <a:t>结果</a:t>
            </a:r>
            <a:r>
              <a:rPr lang="de-DE" altLang="zh-CN" sz="2400" dirty="0">
                <a:solidFill>
                  <a:srgbClr val="00B0F0"/>
                </a:solidFill>
              </a:rPr>
              <a:t>1 + 2im</a:t>
            </a:r>
          </a:p>
          <a:p>
            <a:pPr marL="0" indent="0">
              <a:lnSpc>
                <a:spcPts val="2700"/>
              </a:lnSpc>
              <a:buNone/>
            </a:pPr>
            <a:r>
              <a:rPr lang="de-DE" altLang="zh-CN" sz="2400" dirty="0"/>
              <a:t>julia&gt; fc=complex(2,3)</a:t>
            </a:r>
          </a:p>
          <a:p>
            <a:pPr marL="0" indent="0">
              <a:lnSpc>
                <a:spcPts val="2700"/>
              </a:lnSpc>
              <a:buNone/>
            </a:pPr>
            <a:r>
              <a:rPr lang="en-US" altLang="zh-CN" sz="2400" dirty="0">
                <a:solidFill>
                  <a:srgbClr val="00B0F0"/>
                </a:solidFill>
              </a:rPr>
              <a:t>#</a:t>
            </a:r>
            <a:r>
              <a:rPr lang="zh-CN" altLang="en-US" sz="2400" dirty="0">
                <a:solidFill>
                  <a:srgbClr val="00B0F0"/>
                </a:solidFill>
              </a:rPr>
              <a:t>结果</a:t>
            </a:r>
            <a:r>
              <a:rPr lang="de-DE" altLang="zh-CN" sz="2400" dirty="0">
                <a:solidFill>
                  <a:srgbClr val="00B0F0"/>
                </a:solidFill>
              </a:rPr>
              <a:t>2 + 3im</a:t>
            </a:r>
          </a:p>
          <a:p>
            <a:pPr marL="0" indent="0">
              <a:lnSpc>
                <a:spcPts val="2700"/>
              </a:lnSpc>
              <a:buNone/>
            </a:pPr>
            <a:r>
              <a:rPr lang="de-DE" altLang="zh-CN" sz="2400" dirty="0"/>
              <a:t>julia&gt; c=(1-2im)*(3-3im)</a:t>
            </a:r>
          </a:p>
          <a:p>
            <a:pPr marL="0" indent="0">
              <a:lnSpc>
                <a:spcPts val="2700"/>
              </a:lnSpc>
              <a:buNone/>
            </a:pPr>
            <a:r>
              <a:rPr lang="en-US" altLang="zh-CN" sz="2400" dirty="0">
                <a:solidFill>
                  <a:srgbClr val="00B0F0"/>
                </a:solidFill>
              </a:rPr>
              <a:t>#</a:t>
            </a:r>
            <a:r>
              <a:rPr lang="zh-CN" altLang="en-US" sz="2400" dirty="0">
                <a:solidFill>
                  <a:srgbClr val="00B0F0"/>
                </a:solidFill>
              </a:rPr>
              <a:t>结果</a:t>
            </a:r>
            <a:r>
              <a:rPr lang="de-DE" altLang="zh-CN" sz="2400" dirty="0">
                <a:solidFill>
                  <a:srgbClr val="00B0F0"/>
                </a:solidFill>
              </a:rPr>
              <a:t>-3 - 9im</a:t>
            </a:r>
          </a:p>
          <a:p>
            <a:pPr marL="0" indent="0">
              <a:lnSpc>
                <a:spcPts val="2700"/>
              </a:lnSpc>
              <a:buNone/>
            </a:pPr>
            <a:r>
              <a:rPr lang="de-DE" altLang="zh-CN" sz="2400" dirty="0"/>
              <a:t>julia&gt; abs(c)</a:t>
            </a:r>
          </a:p>
          <a:p>
            <a:pPr marL="0" indent="0">
              <a:lnSpc>
                <a:spcPts val="2700"/>
              </a:lnSpc>
              <a:buNone/>
            </a:pPr>
            <a:r>
              <a:rPr lang="en-US" altLang="zh-CN" sz="2400" dirty="0">
                <a:solidFill>
                  <a:srgbClr val="00B0F0"/>
                </a:solidFill>
              </a:rPr>
              <a:t>#</a:t>
            </a:r>
            <a:r>
              <a:rPr lang="zh-CN" altLang="en-US" sz="2400" dirty="0">
                <a:solidFill>
                  <a:srgbClr val="00B0F0"/>
                </a:solidFill>
              </a:rPr>
              <a:t>结果</a:t>
            </a:r>
            <a:r>
              <a:rPr lang="de-DE" altLang="zh-CN" sz="2400" dirty="0">
                <a:solidFill>
                  <a:srgbClr val="00B0F0"/>
                </a:solidFill>
              </a:rPr>
              <a:t>9.486832980505138</a:t>
            </a:r>
          </a:p>
          <a:p>
            <a:pPr marL="0" indent="0">
              <a:lnSpc>
                <a:spcPts val="2700"/>
              </a:lnSpc>
              <a:buNone/>
            </a:pPr>
            <a:r>
              <a:rPr lang="de-DE" altLang="zh-CN" sz="2400" dirty="0"/>
              <a:t>julia&gt; angle(c)</a:t>
            </a:r>
          </a:p>
          <a:p>
            <a:pPr marL="0" indent="0">
              <a:lnSpc>
                <a:spcPts val="2700"/>
              </a:lnSpc>
              <a:buNone/>
            </a:pPr>
            <a:r>
              <a:rPr lang="en-US" altLang="zh-CN" sz="2400" dirty="0">
                <a:solidFill>
                  <a:srgbClr val="00B0F0"/>
                </a:solidFill>
              </a:rPr>
              <a:t>#</a:t>
            </a:r>
            <a:r>
              <a:rPr lang="zh-CN" altLang="en-US" sz="2400" dirty="0">
                <a:solidFill>
                  <a:srgbClr val="00B0F0"/>
                </a:solidFill>
              </a:rPr>
              <a:t>结果</a:t>
            </a:r>
            <a:r>
              <a:rPr lang="de-DE" altLang="zh-CN" sz="2400" dirty="0">
                <a:solidFill>
                  <a:srgbClr val="00B0F0"/>
                </a:solidFill>
              </a:rPr>
              <a:t>-1.892546881191539</a:t>
            </a:r>
            <a:endParaRPr lang="zh-CN" altLang="en-US" sz="2400" dirty="0">
              <a:solidFill>
                <a:srgbClr val="00B0F0"/>
              </a:solidFill>
            </a:endParaRPr>
          </a:p>
        </p:txBody>
      </p:sp>
      <p:sp>
        <p:nvSpPr>
          <p:cNvPr id="7" name="文本框 6">
            <a:extLst>
              <a:ext uri="{FF2B5EF4-FFF2-40B4-BE49-F238E27FC236}">
                <a16:creationId xmlns:a16="http://schemas.microsoft.com/office/drawing/2014/main" id="{093B231D-B53E-54DF-8AB6-9CABAABEC5FC}"/>
              </a:ext>
            </a:extLst>
          </p:cNvPr>
          <p:cNvSpPr txBox="1"/>
          <p:nvPr/>
        </p:nvSpPr>
        <p:spPr>
          <a:xfrm>
            <a:off x="4999959" y="1245607"/>
            <a:ext cx="2524244" cy="1569660"/>
          </a:xfrm>
          <a:prstGeom prst="rect">
            <a:avLst/>
          </a:prstGeom>
          <a:noFill/>
        </p:spPr>
        <p:txBody>
          <a:bodyPr wrap="square">
            <a:spAutoFit/>
          </a:bodyPr>
          <a:lstStyle/>
          <a:p>
            <a:pPr marL="228600" marR="0" lvl="0" indent="-22860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zh-CN"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julia&gt; a=(2im)^2</a:t>
            </a:r>
          </a:p>
          <a:p>
            <a:pPr marR="0" lvl="0" defTabSz="914400" eaLnBrk="0" latinLnBrk="0" hangingPunct="0">
              <a:buClrTx/>
              <a:buSzTx/>
              <a:tabLst/>
              <a:defRPr/>
            </a:pPr>
            <a:r>
              <a:rPr lang="en-US" altLang="zh-CN" sz="2400" b="1" dirty="0">
                <a:solidFill>
                  <a:schemeClr val="bg1"/>
                </a:solidFill>
                <a:highlight>
                  <a:srgbClr val="FF0000"/>
                </a:highlight>
                <a:latin typeface="华文楷体" panose="02010600040101010101" pitchFamily="2" charset="-122"/>
                <a:ea typeface="华文楷体" panose="02010600040101010101" pitchFamily="2" charset="-122"/>
              </a:rPr>
              <a:t>-4 + 0im</a:t>
            </a:r>
          </a:p>
          <a:p>
            <a:pPr marL="228600" marR="0" lvl="0" indent="-22860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zh-CN"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julia&gt; </a:t>
            </a:r>
            <a:r>
              <a:rPr kumimoji="0" lang="en-US" altLang="zh-CN" sz="2400" b="0" i="0" u="none" strike="noStrike" kern="1200" cap="none" spc="0" normalizeH="0" baseline="0" noProof="0" dirty="0" err="1">
                <a:ln>
                  <a:noFill/>
                </a:ln>
                <a:solidFill>
                  <a:prstClr val="black"/>
                </a:solidFill>
                <a:effectLst/>
                <a:uLnTx/>
                <a:uFillTx/>
                <a:latin typeface="华文楷体" panose="02010600040101010101" pitchFamily="2" charset="-122"/>
                <a:ea typeface="华文楷体" panose="02010600040101010101" pitchFamily="2" charset="-122"/>
                <a:cs typeface="+mn-cs"/>
              </a:rPr>
              <a:t>typeof</a:t>
            </a:r>
            <a:r>
              <a:rPr kumimoji="0" lang="en-US" altLang="zh-CN" sz="24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a:t>
            </a:r>
          </a:p>
          <a:p>
            <a:pPr marR="0" lvl="0" defTabSz="914400" eaLnBrk="0" latinLnBrk="0" hangingPunct="0">
              <a:lnSpc>
                <a:spcPts val="2700"/>
              </a:lnSpc>
              <a:buClrTx/>
              <a:buSzTx/>
              <a:tabLst/>
              <a:defRPr/>
            </a:pPr>
            <a:r>
              <a:rPr lang="en-US" altLang="zh-CN" sz="2400" dirty="0">
                <a:solidFill>
                  <a:srgbClr val="00B0F0"/>
                </a:solidFill>
                <a:latin typeface="华文楷体" panose="02010600040101010101" pitchFamily="2" charset="-122"/>
                <a:ea typeface="华文楷体" panose="02010600040101010101" pitchFamily="2" charset="-122"/>
              </a:rPr>
              <a:t>Complex{Int64}</a:t>
            </a:r>
          </a:p>
        </p:txBody>
      </p:sp>
      <p:sp>
        <p:nvSpPr>
          <p:cNvPr id="9" name="标题 1">
            <a:extLst>
              <a:ext uri="{FF2B5EF4-FFF2-40B4-BE49-F238E27FC236}">
                <a16:creationId xmlns:a16="http://schemas.microsoft.com/office/drawing/2014/main" id="{6F5CB8AC-D562-4649-9928-4052AD87BC5E}"/>
              </a:ext>
            </a:extLst>
          </p:cNvPr>
          <p:cNvSpPr>
            <a:spLocks noGrp="1"/>
          </p:cNvSpPr>
          <p:nvPr>
            <p:ph type="title"/>
          </p:nvPr>
        </p:nvSpPr>
        <p:spPr>
          <a:xfrm>
            <a:off x="1835696" y="-135808"/>
            <a:ext cx="6328526" cy="792088"/>
          </a:xfrm>
        </p:spPr>
        <p:txBody>
          <a:bodyPr/>
          <a:lstStyle/>
          <a:p>
            <a:r>
              <a:rPr lang="zh-CN" altLang="en-US" sz="3200" b="1" i="0" u="none" strike="noStrike" dirty="0">
                <a:effectLst/>
                <a:latin typeface="Helvetica Neue"/>
              </a:rPr>
              <a:t> </a:t>
            </a:r>
            <a:br>
              <a:rPr lang="en-US" altLang="zh-CN" sz="3200" b="1" i="0" u="none" strike="noStrike" dirty="0">
                <a:effectLst/>
                <a:latin typeface="Helvetica Neue"/>
              </a:rPr>
            </a:br>
            <a:br>
              <a:rPr lang="en-US" altLang="zh-CN" sz="3200" b="1" i="0" u="none" strike="noStrike" dirty="0">
                <a:effectLst/>
                <a:latin typeface="Helvetica Neue"/>
              </a:rPr>
            </a:br>
            <a:r>
              <a:rPr lang="en-US" altLang="zh-CN" b="1" dirty="0">
                <a:latin typeface="Helvetica Neue"/>
              </a:rPr>
              <a:t>§</a:t>
            </a:r>
            <a:r>
              <a:rPr lang="en-US" altLang="zh-CN" sz="3200" kern="0" dirty="0"/>
              <a:t>1.3.2.3 </a:t>
            </a:r>
            <a:r>
              <a:rPr lang="zh-CN" altLang="en-US" sz="3200" dirty="0"/>
              <a:t>复数</a:t>
            </a:r>
            <a:r>
              <a:rPr lang="en-US" altLang="zh-CN" sz="3200" kern="0" dirty="0">
                <a:solidFill>
                  <a:srgbClr val="FF0000"/>
                </a:solidFill>
              </a:rPr>
              <a:t>—2. </a:t>
            </a:r>
            <a:r>
              <a:rPr lang="zh-CN" altLang="en-US" sz="3200" kern="0" dirty="0">
                <a:solidFill>
                  <a:srgbClr val="FF0000"/>
                </a:solidFill>
              </a:rPr>
              <a:t>创建复数</a:t>
            </a:r>
            <a:r>
              <a:rPr lang="zh-CN" altLang="en-US" dirty="0">
                <a:solidFill>
                  <a:srgbClr val="FF0000"/>
                </a:solidFill>
              </a:rPr>
              <a:t>示例</a:t>
            </a:r>
            <a:endParaRPr lang="zh-CN" altLang="en-US" sz="3200" dirty="0">
              <a:solidFill>
                <a:srgbClr val="FF0000"/>
              </a:solidFill>
            </a:endParaRPr>
          </a:p>
        </p:txBody>
      </p:sp>
      <p:sp>
        <p:nvSpPr>
          <p:cNvPr id="6" name="波形 5">
            <a:extLst>
              <a:ext uri="{FF2B5EF4-FFF2-40B4-BE49-F238E27FC236}">
                <a16:creationId xmlns:a16="http://schemas.microsoft.com/office/drawing/2014/main" id="{179F5AB6-E36F-485F-9685-BF361F5E257C}"/>
              </a:ext>
            </a:extLst>
          </p:cNvPr>
          <p:cNvSpPr/>
          <p:nvPr/>
        </p:nvSpPr>
        <p:spPr>
          <a:xfrm>
            <a:off x="610937" y="821862"/>
            <a:ext cx="1010437" cy="2880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dist"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例132-5</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909AE882-DC1F-4A7A-8D79-57B2AB0E2FC8}"/>
              </a:ext>
            </a:extLst>
          </p:cNvPr>
          <p:cNvSpPr/>
          <p:nvPr/>
        </p:nvSpPr>
        <p:spPr>
          <a:xfrm>
            <a:off x="1547664" y="765823"/>
            <a:ext cx="7344816" cy="400110"/>
          </a:xfrm>
          <a:prstGeom prst="rect">
            <a:avLst/>
          </a:prstGeom>
          <a:noFill/>
        </p:spPr>
        <p:txBody>
          <a:bodyPr wrap="square">
            <a:spAutoFit/>
          </a:bodyPr>
          <a:lstStyle/>
          <a:p>
            <a:pPr algn="dist"/>
            <a:r>
              <a:rPr lang="zh-CN" altLang="en-US" sz="2000" b="1" dirty="0">
                <a:solidFill>
                  <a:srgbClr val="0070C0"/>
                </a:solidFill>
                <a:latin typeface="微软雅黑" panose="020B0503020204020204" pitchFamily="34" charset="-122"/>
                <a:ea typeface="微软雅黑" panose="020B0503020204020204" pitchFamily="34" charset="-122"/>
                <a:sym typeface="+mn-ea"/>
              </a:rPr>
              <a:t> 不同方式创建复数变量，并且进行各种运算，判断类型</a:t>
            </a:r>
          </a:p>
        </p:txBody>
      </p:sp>
    </p:spTree>
    <p:extLst>
      <p:ext uri="{BB962C8B-B14F-4D97-AF65-F5344CB8AC3E}">
        <p14:creationId xmlns:p14="http://schemas.microsoft.com/office/powerpoint/2010/main" val="2531665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C8099012-5B43-4D77-8471-AC5A134312B8}"/>
              </a:ext>
            </a:extLst>
          </p:cNvPr>
          <p:cNvSpPr txBox="1">
            <a:spLocks/>
          </p:cNvSpPr>
          <p:nvPr/>
        </p:nvSpPr>
        <p:spPr bwMode="auto">
          <a:xfrm>
            <a:off x="827583" y="118081"/>
            <a:ext cx="8025103" cy="47298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zh-CN" altLang="en-US" sz="2800" b="1" kern="0" dirty="0">
                <a:latin typeface="Helvetica Neue"/>
              </a:rPr>
              <a:t> </a:t>
            </a:r>
            <a:br>
              <a:rPr lang="en-US" altLang="zh-CN" sz="2800" b="1" kern="0" dirty="0">
                <a:latin typeface="Helvetica Neue"/>
              </a:rPr>
            </a:br>
            <a:br>
              <a:rPr lang="en-US" altLang="zh-CN" sz="2800" b="1" kern="0" dirty="0">
                <a:latin typeface="Helvetica Neue"/>
              </a:rPr>
            </a:br>
            <a:r>
              <a:rPr lang="en-US" altLang="zh-CN" sz="2800" b="1" kern="0" dirty="0">
                <a:latin typeface="Helvetica Neue"/>
              </a:rPr>
              <a:t>§</a:t>
            </a:r>
            <a:r>
              <a:rPr lang="en-US" altLang="zh-CN" sz="2800" kern="0" dirty="0"/>
              <a:t>1.3.2.4 </a:t>
            </a:r>
            <a:r>
              <a:rPr lang="zh-CN" altLang="en-US" sz="2800" kern="0" dirty="0"/>
              <a:t>有理数（分数）</a:t>
            </a:r>
            <a:r>
              <a:rPr lang="en-US" altLang="zh-CN" sz="2800" kern="0" dirty="0">
                <a:solidFill>
                  <a:srgbClr val="FF0000"/>
                </a:solidFill>
              </a:rPr>
              <a:t>—</a:t>
            </a:r>
            <a:r>
              <a:rPr lang="zh-CN" altLang="en-US" sz="2800" kern="0" dirty="0">
                <a:solidFill>
                  <a:srgbClr val="FF0000"/>
                </a:solidFill>
              </a:rPr>
              <a:t> </a:t>
            </a:r>
            <a:r>
              <a:rPr lang="en-US" altLang="zh-CN" sz="2800" kern="0" dirty="0">
                <a:solidFill>
                  <a:srgbClr val="FF0000"/>
                </a:solidFill>
              </a:rPr>
              <a:t>1.</a:t>
            </a:r>
            <a:r>
              <a:rPr lang="zh-CN" altLang="en-US" sz="2800" kern="0" dirty="0">
                <a:solidFill>
                  <a:srgbClr val="FF0000"/>
                </a:solidFill>
              </a:rPr>
              <a:t>构建有理数两种方式</a:t>
            </a:r>
          </a:p>
        </p:txBody>
      </p:sp>
      <p:sp>
        <p:nvSpPr>
          <p:cNvPr id="8" name="内容占位符 2">
            <a:extLst>
              <a:ext uri="{FF2B5EF4-FFF2-40B4-BE49-F238E27FC236}">
                <a16:creationId xmlns:a16="http://schemas.microsoft.com/office/drawing/2014/main" id="{A297FAF1-A38E-48AE-899B-E5DB24B4ED9A}"/>
              </a:ext>
            </a:extLst>
          </p:cNvPr>
          <p:cNvSpPr txBox="1">
            <a:spLocks/>
          </p:cNvSpPr>
          <p:nvPr/>
        </p:nvSpPr>
        <p:spPr bwMode="auto">
          <a:xfrm>
            <a:off x="272314" y="1203598"/>
            <a:ext cx="8580372" cy="12749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lnSpc>
                <a:spcPts val="4900"/>
              </a:lnSpc>
              <a:buFont typeface="+mj-ea"/>
              <a:buAutoNum type="circleNumDbPlain"/>
            </a:pPr>
            <a:r>
              <a:rPr lang="zh-CN" altLang="en-US" sz="2400" b="1" kern="0" dirty="0">
                <a:solidFill>
                  <a:srgbClr val="0070C0"/>
                </a:solidFill>
                <a:latin typeface="微软雅黑" panose="020B0503020204020204" pitchFamily="34" charset="-122"/>
                <a:ea typeface="微软雅黑" panose="020B0503020204020204" pitchFamily="34" charset="-122"/>
              </a:rPr>
              <a:t>一般形式：</a:t>
            </a:r>
            <a:r>
              <a:rPr lang="zh-CN" altLang="en-US" sz="2400" b="1" kern="0" dirty="0">
                <a:solidFill>
                  <a:srgbClr val="00B0F0"/>
                </a:solidFill>
                <a:latin typeface="等线 Light" panose="02010600030101010101" pitchFamily="2" charset="-122"/>
                <a:ea typeface="等线 Light" panose="02010600030101010101" pitchFamily="2" charset="-122"/>
              </a:rPr>
              <a:t>用 </a:t>
            </a:r>
            <a:r>
              <a:rPr lang="en-US" altLang="zh-CN" sz="2400" b="1" kern="0" dirty="0">
                <a:solidFill>
                  <a:srgbClr val="00B0F0"/>
                </a:solidFill>
                <a:latin typeface="等线 Light" panose="02010600030101010101" pitchFamily="2" charset="-122"/>
                <a:ea typeface="等线 Light" panose="02010600030101010101" pitchFamily="2" charset="-122"/>
              </a:rPr>
              <a:t>//</a:t>
            </a:r>
            <a:r>
              <a:rPr lang="zh-CN" altLang="en-US" sz="2400" b="1" kern="0" dirty="0">
                <a:solidFill>
                  <a:srgbClr val="00B0F0"/>
                </a:solidFill>
                <a:latin typeface="等线 Light" panose="02010600030101010101" pitchFamily="2" charset="-122"/>
                <a:ea typeface="等线 Light" panose="02010600030101010101" pitchFamily="2" charset="-122"/>
              </a:rPr>
              <a:t> 运算符构建</a:t>
            </a:r>
            <a:r>
              <a:rPr lang="en-US" altLang="zh-CN" sz="2400" b="1" kern="0" dirty="0">
                <a:solidFill>
                  <a:srgbClr val="00B0F0"/>
                </a:solidFill>
                <a:latin typeface="等线 Light" panose="02010600030101010101" pitchFamily="2" charset="-122"/>
                <a:ea typeface="等线 Light" panose="02010600030101010101" pitchFamily="2" charset="-122"/>
              </a:rPr>
              <a:t>a//b,</a:t>
            </a:r>
            <a:r>
              <a:rPr lang="zh-CN" altLang="en-US" sz="2400" b="1" dirty="0">
                <a:solidFill>
                  <a:srgbClr val="00B0F0"/>
                </a:solidFill>
                <a:latin typeface="等线 Light" panose="02010600030101010101" pitchFamily="2" charset="-122"/>
                <a:ea typeface="等线 Light" panose="02010600030101010101" pitchFamily="2" charset="-122"/>
              </a:rPr>
              <a:t>分子</a:t>
            </a:r>
            <a:r>
              <a:rPr lang="en-US" altLang="zh-CN" sz="2400" b="1" dirty="0">
                <a:solidFill>
                  <a:srgbClr val="00B0F0"/>
                </a:solidFill>
                <a:latin typeface="等线 Light" panose="02010600030101010101" pitchFamily="2" charset="-122"/>
                <a:ea typeface="等线 Light" panose="02010600030101010101" pitchFamily="2" charset="-122"/>
              </a:rPr>
              <a:t>a</a:t>
            </a:r>
            <a:r>
              <a:rPr lang="zh-CN" altLang="en-US" sz="2400" b="1" dirty="0">
                <a:solidFill>
                  <a:srgbClr val="00B0F0"/>
                </a:solidFill>
                <a:latin typeface="等线 Light" panose="02010600030101010101" pitchFamily="2" charset="-122"/>
                <a:ea typeface="等线 Light" panose="02010600030101010101" pitchFamily="2" charset="-122"/>
              </a:rPr>
              <a:t>和分母</a:t>
            </a:r>
            <a:r>
              <a:rPr lang="en-US" altLang="zh-CN" sz="2400" b="1" dirty="0">
                <a:solidFill>
                  <a:srgbClr val="00B0F0"/>
                </a:solidFill>
                <a:latin typeface="等线 Light" panose="02010600030101010101" pitchFamily="2" charset="-122"/>
                <a:ea typeface="等线 Light" panose="02010600030101010101" pitchFamily="2" charset="-122"/>
              </a:rPr>
              <a:t>b</a:t>
            </a:r>
            <a:r>
              <a:rPr lang="zh-CN" altLang="en-US" sz="2400" b="1" dirty="0">
                <a:solidFill>
                  <a:srgbClr val="00B0F0"/>
                </a:solidFill>
                <a:latin typeface="等线 Light" panose="02010600030101010101" pitchFamily="2" charset="-122"/>
                <a:ea typeface="等线 Light" panose="02010600030101010101" pitchFamily="2" charset="-122"/>
              </a:rPr>
              <a:t>为整数型</a:t>
            </a:r>
            <a:endParaRPr lang="en-US" altLang="zh-CN" sz="2400" b="1" dirty="0">
              <a:solidFill>
                <a:srgbClr val="00B0F0"/>
              </a:solidFill>
              <a:latin typeface="等线 Light" panose="02010600030101010101" pitchFamily="2" charset="-122"/>
              <a:ea typeface="等线 Light" panose="02010600030101010101" pitchFamily="2" charset="-122"/>
            </a:endParaRPr>
          </a:p>
          <a:p>
            <a:pPr marL="457200" indent="-457200">
              <a:lnSpc>
                <a:spcPts val="4900"/>
              </a:lnSpc>
              <a:buFont typeface="+mj-ea"/>
              <a:buAutoNum type="circleNumDbPlain" startAt="2"/>
            </a:pPr>
            <a:r>
              <a:rPr lang="zh-CN" altLang="en-US" sz="2400" b="1" kern="0" dirty="0">
                <a:solidFill>
                  <a:srgbClr val="0070C0"/>
                </a:solidFill>
                <a:latin typeface="微软雅黑" panose="020B0503020204020204" pitchFamily="34" charset="-122"/>
                <a:ea typeface="微软雅黑" panose="020B0503020204020204" pitchFamily="34" charset="-122"/>
              </a:rPr>
              <a:t>函数形式</a:t>
            </a:r>
            <a:r>
              <a:rPr lang="zh-CN" altLang="en-US" sz="2400" b="1" kern="0" dirty="0"/>
              <a:t>：</a:t>
            </a:r>
            <a:endParaRPr lang="en-US" altLang="zh-CN" sz="2400" b="1" kern="0" dirty="0">
              <a:solidFill>
                <a:srgbClr val="00B0F0"/>
              </a:solidFill>
            </a:endParaRPr>
          </a:p>
        </p:txBody>
      </p:sp>
      <p:sp>
        <p:nvSpPr>
          <p:cNvPr id="11" name="文本框 10">
            <a:extLst>
              <a:ext uri="{FF2B5EF4-FFF2-40B4-BE49-F238E27FC236}">
                <a16:creationId xmlns:a16="http://schemas.microsoft.com/office/drawing/2014/main" id="{15555C97-102A-4AC3-9296-6CAF42AA6A0D}"/>
              </a:ext>
            </a:extLst>
          </p:cNvPr>
          <p:cNvSpPr txBox="1"/>
          <p:nvPr/>
        </p:nvSpPr>
        <p:spPr>
          <a:xfrm>
            <a:off x="307356" y="823319"/>
            <a:ext cx="8794301" cy="38305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dist" eaLnBrk="0" hangingPunct="0">
              <a:lnSpc>
                <a:spcPct val="110000"/>
              </a:lnSpc>
              <a:buFont typeface="Wingdings" panose="05000000000000000000" pitchFamily="2" charset="2"/>
              <a:buChar char="Ø"/>
              <a:defRPr sz="2000" b="0">
                <a:solidFill>
                  <a:schemeClr val="bg1"/>
                </a:solidFill>
                <a:highlight>
                  <a:srgbClr val="003B76"/>
                </a:highlight>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marL="0" indent="0" algn="l">
              <a:buNone/>
            </a:pPr>
            <a:endParaRPr lang="zh-CN" altLang="en-US" sz="1800" dirty="0">
              <a:solidFill>
                <a:srgbClr val="0070C0"/>
              </a:solidFill>
            </a:endParaRPr>
          </a:p>
        </p:txBody>
      </p:sp>
      <p:sp>
        <p:nvSpPr>
          <p:cNvPr id="14" name="文本框 13">
            <a:extLst>
              <a:ext uri="{FF2B5EF4-FFF2-40B4-BE49-F238E27FC236}">
                <a16:creationId xmlns:a16="http://schemas.microsoft.com/office/drawing/2014/main" id="{67339FDB-E133-4473-9541-DA2F09B357EB}"/>
              </a:ext>
            </a:extLst>
          </p:cNvPr>
          <p:cNvSpPr txBox="1"/>
          <p:nvPr/>
        </p:nvSpPr>
        <p:spPr>
          <a:xfrm>
            <a:off x="3858680" y="2005038"/>
            <a:ext cx="5050138" cy="430887"/>
          </a:xfrm>
          <a:prstGeom prst="rect">
            <a:avLst/>
          </a:prstGeom>
          <a:noFill/>
        </p:spPr>
        <p:txBody>
          <a:bodyPr wrap="square">
            <a:spAutoFit/>
          </a:bodyPr>
          <a:lstStyle/>
          <a:p>
            <a:pPr algn="dist"/>
            <a:r>
              <a:rPr lang="zh-CN" altLang="en-US" sz="2200" b="1" kern="0" dirty="0">
                <a:solidFill>
                  <a:srgbClr val="00B0F0"/>
                </a:solidFill>
                <a:latin typeface="等线 Light" panose="02010600030101010101" pitchFamily="2" charset="-122"/>
                <a:ea typeface="等线 Light" panose="02010600030101010101" pitchFamily="2" charset="-122"/>
              </a:rPr>
              <a:t>创建有理数数组，表示形式为分数</a:t>
            </a:r>
          </a:p>
        </p:txBody>
      </p:sp>
      <p:sp>
        <p:nvSpPr>
          <p:cNvPr id="19" name="矩形 18">
            <a:extLst>
              <a:ext uri="{FF2B5EF4-FFF2-40B4-BE49-F238E27FC236}">
                <a16:creationId xmlns:a16="http://schemas.microsoft.com/office/drawing/2014/main" id="{73C7486A-3043-4E2D-97C1-7C9A4C8E56DE}"/>
              </a:ext>
            </a:extLst>
          </p:cNvPr>
          <p:cNvSpPr/>
          <p:nvPr/>
        </p:nvSpPr>
        <p:spPr>
          <a:xfrm>
            <a:off x="2339752" y="2005038"/>
            <a:ext cx="1518928"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a:solidFill>
                  <a:schemeClr val="bg1"/>
                </a:solidFill>
              </a:rPr>
              <a:t>Rational(x)</a:t>
            </a:r>
          </a:p>
        </p:txBody>
      </p:sp>
      <p:sp>
        <p:nvSpPr>
          <p:cNvPr id="20" name="矩形 19">
            <a:extLst>
              <a:ext uri="{FF2B5EF4-FFF2-40B4-BE49-F238E27FC236}">
                <a16:creationId xmlns:a16="http://schemas.microsoft.com/office/drawing/2014/main" id="{49324BB1-84A4-4665-B593-DD901043E13D}"/>
              </a:ext>
            </a:extLst>
          </p:cNvPr>
          <p:cNvSpPr/>
          <p:nvPr/>
        </p:nvSpPr>
        <p:spPr>
          <a:xfrm>
            <a:off x="8374081" y="1362882"/>
            <a:ext cx="338114"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a:solidFill>
                  <a:schemeClr val="bg1"/>
                </a:solidFill>
              </a:rPr>
              <a:t>//</a:t>
            </a:r>
          </a:p>
        </p:txBody>
      </p:sp>
      <p:sp>
        <p:nvSpPr>
          <p:cNvPr id="22" name="文本框 21">
            <a:extLst>
              <a:ext uri="{FF2B5EF4-FFF2-40B4-BE49-F238E27FC236}">
                <a16:creationId xmlns:a16="http://schemas.microsoft.com/office/drawing/2014/main" id="{C73D00A3-676D-4E0B-A202-9CABCB622111}"/>
              </a:ext>
            </a:extLst>
          </p:cNvPr>
          <p:cNvSpPr txBox="1"/>
          <p:nvPr/>
        </p:nvSpPr>
        <p:spPr>
          <a:xfrm>
            <a:off x="284686" y="2466942"/>
            <a:ext cx="8864386" cy="1620444"/>
          </a:xfrm>
          <a:prstGeom prst="rect">
            <a:avLst/>
          </a:prstGeom>
          <a:noFill/>
        </p:spPr>
        <p:txBody>
          <a:bodyPr wrap="square">
            <a:spAutoFit/>
          </a:bodyPr>
          <a:lstStyle/>
          <a:p>
            <a:pPr marL="285750" indent="-285750" latinLnBrk="1">
              <a:lnSpc>
                <a:spcPts val="4100"/>
              </a:lnSpc>
              <a:buFont typeface="Wingdings" panose="05000000000000000000" pitchFamily="2" charset="2"/>
              <a:buChar char="p"/>
            </a:pPr>
            <a:r>
              <a:rPr lang="zh-CN" altLang="en-US" sz="2200" b="1" kern="0" dirty="0">
                <a:latin typeface="等线 Light" panose="02010600030101010101" pitchFamily="2" charset="-122"/>
                <a:ea typeface="等线 Light" panose="02010600030101010101" pitchFamily="2" charset="-122"/>
              </a:rPr>
              <a:t>如分数的分子和分母含有公因子，会被约分到最简形式</a:t>
            </a:r>
            <a:endParaRPr lang="en-US" altLang="zh-CN" sz="2200" b="1" kern="0" dirty="0">
              <a:latin typeface="等线 Light" panose="02010600030101010101" pitchFamily="2" charset="-122"/>
              <a:ea typeface="等线 Light" panose="02010600030101010101" pitchFamily="2" charset="-122"/>
            </a:endParaRPr>
          </a:p>
          <a:p>
            <a:pPr marL="285750" indent="-285750" latinLnBrk="1">
              <a:lnSpc>
                <a:spcPts val="4100"/>
              </a:lnSpc>
              <a:buFont typeface="Wingdings" panose="05000000000000000000" pitchFamily="2" charset="2"/>
              <a:buChar char="p"/>
            </a:pPr>
            <a:r>
              <a:rPr lang="zh-CN" altLang="en-US" sz="2200" b="1" kern="0" dirty="0">
                <a:latin typeface="等线 Light" panose="02010600030101010101" pitchFamily="2" charset="-122"/>
                <a:ea typeface="等线 Light" panose="02010600030101010101" pitchFamily="2" charset="-122"/>
              </a:rPr>
              <a:t>用</a:t>
            </a:r>
            <a:r>
              <a:rPr lang="en-US" altLang="zh-CN" sz="2200" b="1" kern="0" dirty="0">
                <a:latin typeface="等线 Light" panose="02010600030101010101" pitchFamily="2" charset="-122"/>
                <a:ea typeface="等线 Light" panose="02010600030101010101" pitchFamily="2" charset="-122"/>
              </a:rPr>
              <a:t>Float</a:t>
            </a:r>
            <a:r>
              <a:rPr lang="zh-CN" altLang="en-US" sz="2200" b="1" kern="0" dirty="0">
                <a:latin typeface="等线 Light" panose="02010600030101010101" pitchFamily="2" charset="-122"/>
                <a:ea typeface="等线 Light" panose="02010600030101010101" pitchFamily="2" charset="-122"/>
              </a:rPr>
              <a:t>分数可以很容易地转换成浮点数</a:t>
            </a:r>
            <a:r>
              <a:rPr lang="en-US" altLang="zh-CN" sz="2200" b="1" kern="0" dirty="0">
                <a:latin typeface="等线 Light" panose="02010600030101010101" pitchFamily="2" charset="-122"/>
                <a:ea typeface="等线 Light" panose="02010600030101010101" pitchFamily="2" charset="-122"/>
              </a:rPr>
              <a:t>,</a:t>
            </a:r>
            <a:r>
              <a:rPr lang="zh-CN" altLang="en-US" sz="2200" b="1" kern="0" dirty="0">
                <a:latin typeface="等线 Light" panose="02010600030101010101" pitchFamily="2" charset="-122"/>
                <a:ea typeface="等线 Light" panose="02010600030101010101" pitchFamily="2" charset="-122"/>
              </a:rPr>
              <a:t>如  </a:t>
            </a:r>
            <a:r>
              <a:rPr lang="en-US" altLang="zh-CN" sz="2200" b="1" kern="0" dirty="0">
                <a:latin typeface="等线 Light" panose="02010600030101010101" pitchFamily="2" charset="-122"/>
                <a:ea typeface="等线 Light" panose="02010600030101010101" pitchFamily="2" charset="-122"/>
              </a:rPr>
              <a:t>Float(3//2)</a:t>
            </a:r>
            <a:r>
              <a:rPr lang="zh-CN" altLang="en-US" sz="2200" b="1" kern="0" dirty="0">
                <a:latin typeface="等线 Light" panose="02010600030101010101" pitchFamily="2" charset="-122"/>
                <a:ea typeface="等线 Light" panose="02010600030101010101" pitchFamily="2" charset="-122"/>
              </a:rPr>
              <a:t> </a:t>
            </a:r>
            <a:r>
              <a:rPr lang="en-US" altLang="zh-CN" sz="2200" b="1" kern="0" dirty="0">
                <a:latin typeface="等线 Light" panose="02010600030101010101" pitchFamily="2" charset="-122"/>
                <a:ea typeface="等线 Light" panose="02010600030101010101" pitchFamily="2" charset="-122"/>
              </a:rPr>
              <a:t>=1.5</a:t>
            </a:r>
          </a:p>
          <a:p>
            <a:pPr marL="285750" indent="-285750" latinLnBrk="1">
              <a:lnSpc>
                <a:spcPts val="4100"/>
              </a:lnSpc>
              <a:buFont typeface="Wingdings" panose="05000000000000000000" pitchFamily="2" charset="2"/>
              <a:buChar char="p"/>
            </a:pPr>
            <a:r>
              <a:rPr lang="zh-CN" altLang="en-US" sz="2200" b="1" dirty="0">
                <a:latin typeface="等线 Light" panose="02010600030101010101" pitchFamily="2" charset="-122"/>
                <a:ea typeface="等线 Light" panose="02010600030101010101" pitchFamily="2" charset="-122"/>
              </a:rPr>
              <a:t>除了复数</a:t>
            </a:r>
            <a:r>
              <a:rPr lang="en-US" altLang="zh-CN" sz="2200" b="1" dirty="0" err="1">
                <a:latin typeface="等线 Light" panose="02010600030101010101" pitchFamily="2" charset="-122"/>
                <a:ea typeface="等线 Light" panose="02010600030101010101" pitchFamily="2" charset="-122"/>
              </a:rPr>
              <a:t>im</a:t>
            </a:r>
            <a:r>
              <a:rPr lang="zh-CN" altLang="en-US" sz="2200" b="1" dirty="0">
                <a:latin typeface="等线 Light" panose="02010600030101010101" pitchFamily="2" charset="-122"/>
                <a:ea typeface="等线 Light" panose="02010600030101010101" pitchFamily="2" charset="-122"/>
              </a:rPr>
              <a:t>以外，分数运算“</a:t>
            </a:r>
            <a:r>
              <a:rPr lang="en-US" altLang="zh-CN" sz="2200" b="1" dirty="0">
                <a:latin typeface="等线 Light" panose="02010600030101010101" pitchFamily="2" charset="-122"/>
                <a:ea typeface="等线 Light" panose="02010600030101010101" pitchFamily="2" charset="-122"/>
              </a:rPr>
              <a:t>//</a:t>
            </a:r>
            <a:r>
              <a:rPr lang="zh-CN" altLang="en-US" sz="2200" b="1" dirty="0">
                <a:latin typeface="等线 Light" panose="02010600030101010101" pitchFamily="2" charset="-122"/>
                <a:ea typeface="等线 Light" panose="02010600030101010101" pitchFamily="2" charset="-122"/>
              </a:rPr>
              <a:t>” 优先级高于所有运算符</a:t>
            </a:r>
            <a:endParaRPr lang="zh-CN" altLang="en-US" sz="2200" b="1" kern="0" dirty="0">
              <a:latin typeface="等线 Light" panose="02010600030101010101" pitchFamily="2" charset="-122"/>
              <a:ea typeface="等线 Light" panose="02010600030101010101" pitchFamily="2" charset="-122"/>
            </a:endParaRPr>
          </a:p>
        </p:txBody>
      </p:sp>
      <p:sp>
        <p:nvSpPr>
          <p:cNvPr id="25" name="AutoShape 13">
            <a:extLst>
              <a:ext uri="{FF2B5EF4-FFF2-40B4-BE49-F238E27FC236}">
                <a16:creationId xmlns:a16="http://schemas.microsoft.com/office/drawing/2014/main" id="{5A215E7C-667A-4B03-911F-B799FE482647}"/>
              </a:ext>
            </a:extLst>
          </p:cNvPr>
          <p:cNvSpPr>
            <a:spLocks noChangeArrowheads="1"/>
          </p:cNvSpPr>
          <p:nvPr/>
        </p:nvSpPr>
        <p:spPr bwMode="auto">
          <a:xfrm>
            <a:off x="171904" y="3953284"/>
            <a:ext cx="1336758" cy="766502"/>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pPr algn="ctr"/>
            <a:r>
              <a:rPr lang="zh-CN" altLang="en-US" sz="1600" b="1" dirty="0">
                <a:solidFill>
                  <a:srgbClr val="FFFF00"/>
                </a:solidFill>
                <a:latin typeface="微软雅黑" panose="020B0503020204020204" pitchFamily="34" charset="-122"/>
                <a:ea typeface="微软雅黑" panose="020B0503020204020204" pitchFamily="34" charset="-122"/>
              </a:rPr>
              <a:t>注意</a:t>
            </a:r>
            <a:endParaRPr lang="zh-CN" altLang="en-US" sz="1600" b="1" kern="0" dirty="0">
              <a:solidFill>
                <a:srgbClr val="FFFF00"/>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B43B5006-18D1-4A06-B862-28224E5AA30B}"/>
              </a:ext>
            </a:extLst>
          </p:cNvPr>
          <p:cNvSpPr txBox="1"/>
          <p:nvPr/>
        </p:nvSpPr>
        <p:spPr>
          <a:xfrm>
            <a:off x="1508662" y="4126314"/>
            <a:ext cx="7653110" cy="369332"/>
          </a:xfrm>
          <a:prstGeom prst="rect">
            <a:avLst/>
          </a:prstGeom>
          <a:noFill/>
        </p:spPr>
        <p:txBody>
          <a:bodyPr wrap="square">
            <a:spAutoFit/>
          </a:bodyPr>
          <a:lstStyle/>
          <a:p>
            <a:r>
              <a:rPr lang="en-US" altLang="zh-CN" b="1" dirty="0">
                <a:solidFill>
                  <a:srgbClr val="0070C0"/>
                </a:solidFill>
                <a:latin typeface="微软雅黑" panose="020B0503020204020204" pitchFamily="34" charset="-122"/>
                <a:ea typeface="微软雅黑" panose="020B0503020204020204" pitchFamily="34" charset="-122"/>
              </a:rPr>
              <a:t>MATLAB</a:t>
            </a:r>
            <a:r>
              <a:rPr lang="zh-CN" altLang="en-US" b="1" dirty="0">
                <a:solidFill>
                  <a:srgbClr val="0070C0"/>
                </a:solidFill>
                <a:latin typeface="微软雅黑" panose="020B0503020204020204" pitchFamily="34" charset="-122"/>
                <a:ea typeface="微软雅黑" panose="020B0503020204020204" pitchFamily="34" charset="-122"/>
              </a:rPr>
              <a:t>没有直接定义有理数，可用</a:t>
            </a:r>
            <a:r>
              <a:rPr lang="en-US" altLang="zh-CN" b="1" dirty="0" err="1">
                <a:solidFill>
                  <a:srgbClr val="0070C0"/>
                </a:solidFill>
                <a:latin typeface="微软雅黑" panose="020B0503020204020204" pitchFamily="34" charset="-122"/>
                <a:ea typeface="微软雅黑" panose="020B0503020204020204" pitchFamily="34" charset="-122"/>
              </a:rPr>
              <a:t>sym</a:t>
            </a:r>
            <a:r>
              <a:rPr lang="zh-CN" altLang="en-US" b="1" dirty="0">
                <a:solidFill>
                  <a:srgbClr val="0070C0"/>
                </a:solidFill>
                <a:latin typeface="微软雅黑" panose="020B0503020204020204" pitchFamily="34" charset="-122"/>
                <a:ea typeface="微软雅黑" panose="020B0503020204020204" pitchFamily="34" charset="-122"/>
              </a:rPr>
              <a:t>或</a:t>
            </a:r>
            <a:r>
              <a:rPr lang="en-US" altLang="zh-CN" b="1" dirty="0">
                <a:solidFill>
                  <a:srgbClr val="0070C0"/>
                </a:solidFill>
                <a:latin typeface="微软雅黑" panose="020B0503020204020204" pitchFamily="34" charset="-122"/>
                <a:ea typeface="微软雅黑" panose="020B0503020204020204" pitchFamily="34" charset="-122"/>
              </a:rPr>
              <a:t>format rat</a:t>
            </a:r>
            <a:r>
              <a:rPr lang="zh-CN" altLang="en-US" b="1" dirty="0">
                <a:solidFill>
                  <a:srgbClr val="0070C0"/>
                </a:solidFill>
                <a:latin typeface="微软雅黑" panose="020B0503020204020204" pitchFamily="34" charset="-122"/>
                <a:ea typeface="微软雅黑" panose="020B0503020204020204" pitchFamily="34" charset="-122"/>
              </a:rPr>
              <a:t>获得分数表示形式</a:t>
            </a:r>
            <a:endParaRPr lang="zh-CN" altLang="en-US" b="1" kern="0" dirty="0">
              <a:solidFill>
                <a:srgbClr val="0070C0"/>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779EF41D-67C3-4E6F-B626-15287036D37C}"/>
              </a:ext>
            </a:extLst>
          </p:cNvPr>
          <p:cNvSpPr/>
          <p:nvPr/>
        </p:nvSpPr>
        <p:spPr>
          <a:xfrm>
            <a:off x="307356" y="882198"/>
            <a:ext cx="8764918" cy="369332"/>
          </a:xfrm>
          <a:prstGeom prst="rect">
            <a:avLst/>
          </a:prstGeom>
          <a:noFill/>
        </p:spPr>
        <p:txBody>
          <a:bodyPr wrap="square">
            <a:spAutoFit/>
          </a:bodyPr>
          <a:lstStyle/>
          <a:p>
            <a:pPr algn="dist"/>
            <a:r>
              <a:rPr lang="zh-CN" altLang="en-US" b="1" i="0" dirty="0">
                <a:solidFill>
                  <a:srgbClr val="0070C0"/>
                </a:solidFill>
                <a:effectLst/>
                <a:latin typeface="微软雅黑" panose="020B0503020204020204" pitchFamily="34" charset="-122"/>
                <a:ea typeface="微软雅黑" panose="020B0503020204020204" pitchFamily="34" charset="-122"/>
              </a:rPr>
              <a:t>有理数</a:t>
            </a:r>
            <a:r>
              <a:rPr lang="zh-CN" altLang="en-US" b="1" dirty="0">
                <a:solidFill>
                  <a:srgbClr val="0070C0"/>
                </a:solidFill>
                <a:latin typeface="微软雅黑" panose="020B0503020204020204" pitchFamily="34" charset="-122"/>
                <a:ea typeface="微软雅黑" panose="020B0503020204020204" pitchFamily="34" charset="-122"/>
              </a:rPr>
              <a:t>用分数表示</a:t>
            </a:r>
            <a:r>
              <a:rPr lang="en-US" altLang="zh-CN" b="1" dirty="0">
                <a:solidFill>
                  <a:srgbClr val="0070C0"/>
                </a:solidFill>
                <a:latin typeface="微软雅黑" panose="020B0503020204020204" pitchFamily="34" charset="-122"/>
                <a:ea typeface="微软雅黑" panose="020B0503020204020204" pitchFamily="34" charset="-122"/>
              </a:rPr>
              <a:t>,</a:t>
            </a:r>
            <a:r>
              <a:rPr lang="zh-CN" altLang="en-US" b="1" i="0" dirty="0">
                <a:solidFill>
                  <a:srgbClr val="0070C0"/>
                </a:solidFill>
                <a:effectLst/>
                <a:latin typeface="微软雅黑" panose="020B0503020204020204" pitchFamily="34" charset="-122"/>
                <a:ea typeface="微软雅黑" panose="020B0503020204020204" pitchFamily="34" charset="-122"/>
              </a:rPr>
              <a:t>是数学基本概念之一，在代数、几何、概率等领域发挥着重要作用</a:t>
            </a:r>
            <a:endParaRPr lang="zh-CN" altLang="en-US" b="1" dirty="0">
              <a:solidFill>
                <a:srgbClr val="0070C0"/>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270705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animBg="1"/>
      <p:bldP spid="20" grpId="0" animBg="1"/>
      <p:bldP spid="25" grpId="0" animBg="1"/>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B36D20B-E11A-4268-9C41-EAE71BE68AF7}"/>
              </a:ext>
            </a:extLst>
          </p:cNvPr>
          <p:cNvSpPr/>
          <p:nvPr/>
        </p:nvSpPr>
        <p:spPr>
          <a:xfrm>
            <a:off x="1547664" y="765823"/>
            <a:ext cx="7344816" cy="400110"/>
          </a:xfrm>
          <a:prstGeom prst="rect">
            <a:avLst/>
          </a:prstGeom>
          <a:noFill/>
        </p:spPr>
        <p:txBody>
          <a:bodyPr wrap="square">
            <a:spAutoFit/>
          </a:bodyPr>
          <a:lstStyle/>
          <a:p>
            <a:pPr algn="dist"/>
            <a:r>
              <a:rPr lang="zh-CN" altLang="en-US" sz="2000" b="1" dirty="0">
                <a:solidFill>
                  <a:srgbClr val="0070C0"/>
                </a:solidFill>
                <a:latin typeface="微软雅黑" panose="020B0503020204020204" pitchFamily="34" charset="-122"/>
                <a:ea typeface="微软雅黑" panose="020B0503020204020204" pitchFamily="34" charset="-122"/>
                <a:sym typeface="+mn-ea"/>
              </a:rPr>
              <a:t> 采用不同方式创建有理数变量，并且进行各种运算，判断类型</a:t>
            </a:r>
          </a:p>
        </p:txBody>
      </p:sp>
      <p:sp>
        <p:nvSpPr>
          <p:cNvPr id="5" name="内容占位符 2">
            <a:extLst>
              <a:ext uri="{FF2B5EF4-FFF2-40B4-BE49-F238E27FC236}">
                <a16:creationId xmlns:a16="http://schemas.microsoft.com/office/drawing/2014/main" id="{B7B15E1B-4ED0-4B05-A9AA-605CA20092F6}"/>
              </a:ext>
            </a:extLst>
          </p:cNvPr>
          <p:cNvSpPr>
            <a:spLocks noGrp="1"/>
          </p:cNvSpPr>
          <p:nvPr>
            <p:ph idx="1"/>
          </p:nvPr>
        </p:nvSpPr>
        <p:spPr>
          <a:xfrm>
            <a:off x="395669" y="1212897"/>
            <a:ext cx="4458948" cy="955454"/>
          </a:xfrm>
        </p:spPr>
        <p:txBody>
          <a:bodyPr/>
          <a:lstStyle/>
          <a:p>
            <a:pPr marL="0" indent="0">
              <a:buNone/>
            </a:pPr>
            <a:r>
              <a:rPr lang="es-ES" altLang="zh-CN" sz="2600" dirty="0"/>
              <a:t>julia&gt; y=2//3   </a:t>
            </a:r>
          </a:p>
          <a:p>
            <a:pPr marL="0" indent="0">
              <a:buNone/>
            </a:pPr>
            <a:r>
              <a:rPr lang="es-ES" altLang="zh-CN" sz="2600" dirty="0"/>
              <a:t>#</a:t>
            </a:r>
            <a:r>
              <a:rPr lang="zh-CN" altLang="en-US" sz="2600" dirty="0"/>
              <a:t>结果</a:t>
            </a:r>
            <a:r>
              <a:rPr lang="es-ES" altLang="zh-CN" sz="2600" dirty="0">
                <a:solidFill>
                  <a:srgbClr val="00B0F0"/>
                </a:solidFill>
              </a:rPr>
              <a:t>2//3</a:t>
            </a:r>
          </a:p>
        </p:txBody>
      </p:sp>
      <p:sp>
        <p:nvSpPr>
          <p:cNvPr id="6" name="内容占位符 2">
            <a:extLst>
              <a:ext uri="{FF2B5EF4-FFF2-40B4-BE49-F238E27FC236}">
                <a16:creationId xmlns:a16="http://schemas.microsoft.com/office/drawing/2014/main" id="{BDFC519C-9712-4E3E-A7A7-651379959C8C}"/>
              </a:ext>
            </a:extLst>
          </p:cNvPr>
          <p:cNvSpPr txBox="1">
            <a:spLocks/>
          </p:cNvSpPr>
          <p:nvPr/>
        </p:nvSpPr>
        <p:spPr bwMode="auto">
          <a:xfrm>
            <a:off x="395669" y="2114043"/>
            <a:ext cx="4983188" cy="9554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Font typeface="Wingdings" panose="05000000000000000000" pitchFamily="2" charset="2"/>
              <a:buNone/>
            </a:pPr>
            <a:r>
              <a:rPr lang="es-ES" altLang="zh-CN" sz="2600" kern="0" dirty="0"/>
              <a:t>julia&gt; typeof(</a:t>
            </a:r>
            <a:r>
              <a:rPr lang="en-US" altLang="zh-CN" sz="2600" kern="0" dirty="0"/>
              <a:t>y</a:t>
            </a:r>
            <a:r>
              <a:rPr lang="es-ES" altLang="zh-CN" sz="2600" kern="0" dirty="0"/>
              <a:t>)  #</a:t>
            </a:r>
            <a:r>
              <a:rPr lang="zh-CN" altLang="en-US" sz="2600" kern="0" dirty="0"/>
              <a:t>结果</a:t>
            </a:r>
            <a:r>
              <a:rPr lang="es-ES" altLang="zh-CN" sz="2600" b="1" kern="0" dirty="0">
                <a:solidFill>
                  <a:srgbClr val="00B0F0"/>
                </a:solidFill>
              </a:rPr>
              <a:t>Rational{Int64}</a:t>
            </a:r>
          </a:p>
        </p:txBody>
      </p:sp>
      <p:sp>
        <p:nvSpPr>
          <p:cNvPr id="7" name="文本框 6">
            <a:extLst>
              <a:ext uri="{FF2B5EF4-FFF2-40B4-BE49-F238E27FC236}">
                <a16:creationId xmlns:a16="http://schemas.microsoft.com/office/drawing/2014/main" id="{3D67E89C-7BBC-42A0-A4B8-EC7DF85002FD}"/>
              </a:ext>
            </a:extLst>
          </p:cNvPr>
          <p:cNvSpPr txBox="1"/>
          <p:nvPr/>
        </p:nvSpPr>
        <p:spPr>
          <a:xfrm>
            <a:off x="447640" y="3729973"/>
            <a:ext cx="4534597" cy="9554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0" indent="0" eaLnBrk="0" hangingPunct="0">
              <a:lnSpc>
                <a:spcPct val="110000"/>
              </a:lnSpc>
              <a:buFont typeface="Wingdings" panose="05000000000000000000" pitchFamily="2" charset="2"/>
              <a:buNone/>
              <a:defRPr sz="2400" b="0" kern="0">
                <a:solidFill>
                  <a:srgbClr val="002060"/>
                </a:solidFill>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es-ES" altLang="zh-CN" sz="2600" dirty="0"/>
              <a:t>julia&gt; 2//3/4//6  </a:t>
            </a:r>
          </a:p>
          <a:p>
            <a:r>
              <a:rPr lang="es-ES" altLang="zh-CN" sz="2600" dirty="0"/>
              <a:t>#</a:t>
            </a:r>
            <a:r>
              <a:rPr lang="zh-CN" altLang="en-US" sz="2600" dirty="0"/>
              <a:t>结果</a:t>
            </a:r>
            <a:r>
              <a:rPr lang="es-ES" altLang="zh-CN" sz="2600" dirty="0">
                <a:solidFill>
                  <a:srgbClr val="00B0F0"/>
                </a:solidFill>
              </a:rPr>
              <a:t>1//1</a:t>
            </a:r>
            <a:endParaRPr lang="zh-CN" altLang="en-US" sz="2600" dirty="0">
              <a:solidFill>
                <a:srgbClr val="00B0F0"/>
              </a:solidFill>
            </a:endParaRPr>
          </a:p>
        </p:txBody>
      </p:sp>
      <p:sp>
        <p:nvSpPr>
          <p:cNvPr id="8" name="文本框 7">
            <a:extLst>
              <a:ext uri="{FF2B5EF4-FFF2-40B4-BE49-F238E27FC236}">
                <a16:creationId xmlns:a16="http://schemas.microsoft.com/office/drawing/2014/main" id="{A8E1759E-EE59-4C5E-AEA7-9077AAAAD433}"/>
              </a:ext>
            </a:extLst>
          </p:cNvPr>
          <p:cNvSpPr txBox="1"/>
          <p:nvPr/>
        </p:nvSpPr>
        <p:spPr>
          <a:xfrm>
            <a:off x="395669" y="2942849"/>
            <a:ext cx="4638541" cy="9554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0" indent="0" eaLnBrk="0" hangingPunct="0">
              <a:lnSpc>
                <a:spcPct val="110000"/>
              </a:lnSpc>
              <a:buFont typeface="Wingdings" panose="05000000000000000000" pitchFamily="2" charset="2"/>
              <a:buNone/>
              <a:defRPr sz="2400" b="0" kern="0">
                <a:solidFill>
                  <a:srgbClr val="002060"/>
                </a:solidFill>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es-ES" altLang="zh-CN" sz="2600" dirty="0"/>
              <a:t>julia&gt; y1=4//6  </a:t>
            </a:r>
          </a:p>
          <a:p>
            <a:r>
              <a:rPr lang="es-ES" altLang="zh-CN" sz="2600" dirty="0"/>
              <a:t> #</a:t>
            </a:r>
            <a:r>
              <a:rPr lang="zh-CN" altLang="en-US" sz="2600" dirty="0"/>
              <a:t>结果</a:t>
            </a:r>
            <a:r>
              <a:rPr lang="es-ES" altLang="zh-CN" sz="2600" dirty="0">
                <a:solidFill>
                  <a:srgbClr val="00B0F0"/>
                </a:solidFill>
              </a:rPr>
              <a:t>2//3</a:t>
            </a:r>
          </a:p>
        </p:txBody>
      </p:sp>
      <p:sp>
        <p:nvSpPr>
          <p:cNvPr id="9" name="文本框 8">
            <a:extLst>
              <a:ext uri="{FF2B5EF4-FFF2-40B4-BE49-F238E27FC236}">
                <a16:creationId xmlns:a16="http://schemas.microsoft.com/office/drawing/2014/main" id="{9EDE5E7E-AED2-47B1-A30E-3FAC42366F04}"/>
              </a:ext>
            </a:extLst>
          </p:cNvPr>
          <p:cNvSpPr txBox="1"/>
          <p:nvPr/>
        </p:nvSpPr>
        <p:spPr>
          <a:xfrm>
            <a:off x="4950422" y="1422799"/>
            <a:ext cx="3888432" cy="1835695"/>
          </a:xfrm>
          <a:prstGeom prst="rect">
            <a:avLst/>
          </a:prstGeom>
          <a:noFill/>
          <a:ln w="9525">
            <a:solidFill>
              <a:schemeClr val="bg2">
                <a:lumMod val="50000"/>
              </a:schemeClr>
            </a:solid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0" indent="0" eaLnBrk="0" hangingPunct="0">
              <a:lnSpc>
                <a:spcPct val="110000"/>
              </a:lnSpc>
              <a:buFont typeface="Wingdings" panose="05000000000000000000" pitchFamily="2" charset="2"/>
              <a:buNone/>
              <a:defRPr sz="2400" b="0" kern="0">
                <a:solidFill>
                  <a:srgbClr val="002060"/>
                </a:solidFill>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2600" dirty="0"/>
              <a:t>julia&gt; Rational[3//4,0.25]</a:t>
            </a:r>
          </a:p>
          <a:p>
            <a:r>
              <a:rPr lang="zh-CN" altLang="en-US" sz="2600" dirty="0"/>
              <a:t>3-element Vector{Rational}:</a:t>
            </a:r>
          </a:p>
          <a:p>
            <a:r>
              <a:rPr lang="zh-CN" altLang="en-US" sz="2600" dirty="0">
                <a:solidFill>
                  <a:srgbClr val="00B0F0"/>
                </a:solidFill>
              </a:rPr>
              <a:t> 3//4</a:t>
            </a:r>
          </a:p>
          <a:p>
            <a:r>
              <a:rPr lang="zh-CN" altLang="en-US" sz="2600" dirty="0">
                <a:solidFill>
                  <a:srgbClr val="00B0F0"/>
                </a:solidFill>
              </a:rPr>
              <a:t> 1//4</a:t>
            </a:r>
          </a:p>
        </p:txBody>
      </p:sp>
      <p:sp>
        <p:nvSpPr>
          <p:cNvPr id="11" name="波形 10">
            <a:extLst>
              <a:ext uri="{FF2B5EF4-FFF2-40B4-BE49-F238E27FC236}">
                <a16:creationId xmlns:a16="http://schemas.microsoft.com/office/drawing/2014/main" id="{837E7DA7-43AD-4C49-897A-DA89B0D77EA8}"/>
              </a:ext>
            </a:extLst>
          </p:cNvPr>
          <p:cNvSpPr/>
          <p:nvPr/>
        </p:nvSpPr>
        <p:spPr>
          <a:xfrm>
            <a:off x="484956" y="737008"/>
            <a:ext cx="1094756" cy="48389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例132-6</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2" name="标题 1">
            <a:extLst>
              <a:ext uri="{FF2B5EF4-FFF2-40B4-BE49-F238E27FC236}">
                <a16:creationId xmlns:a16="http://schemas.microsoft.com/office/drawing/2014/main" id="{395ABBDA-3691-4E1F-A5AB-FEF1677F9EA5}"/>
              </a:ext>
            </a:extLst>
          </p:cNvPr>
          <p:cNvSpPr>
            <a:spLocks noGrp="1"/>
          </p:cNvSpPr>
          <p:nvPr>
            <p:ph type="title"/>
          </p:nvPr>
        </p:nvSpPr>
        <p:spPr>
          <a:xfrm>
            <a:off x="1835696" y="-135808"/>
            <a:ext cx="6328526" cy="792088"/>
          </a:xfrm>
        </p:spPr>
        <p:txBody>
          <a:bodyPr/>
          <a:lstStyle/>
          <a:p>
            <a:r>
              <a:rPr lang="zh-CN" altLang="en-US" sz="3200" b="1" i="0" u="none" strike="noStrike" dirty="0">
                <a:effectLst/>
                <a:latin typeface="Helvetica Neue"/>
              </a:rPr>
              <a:t> </a:t>
            </a:r>
            <a:br>
              <a:rPr lang="en-US" altLang="zh-CN" sz="3200" b="1" i="0" u="none" strike="noStrike" dirty="0">
                <a:effectLst/>
                <a:latin typeface="Helvetica Neue"/>
              </a:rPr>
            </a:br>
            <a:br>
              <a:rPr lang="en-US" altLang="zh-CN" sz="3200" b="1" i="0" u="none" strike="noStrike" dirty="0">
                <a:effectLst/>
                <a:latin typeface="Helvetica Neue"/>
              </a:rPr>
            </a:br>
            <a:r>
              <a:rPr lang="en-US" altLang="zh-CN" b="1" dirty="0">
                <a:latin typeface="Helvetica Neue"/>
              </a:rPr>
              <a:t>§</a:t>
            </a:r>
            <a:r>
              <a:rPr lang="en-US" altLang="zh-CN" sz="3200" kern="0" dirty="0"/>
              <a:t>1.3.2.4 </a:t>
            </a:r>
            <a:r>
              <a:rPr lang="zh-CN" altLang="en-US" sz="3200" dirty="0"/>
              <a:t>有理数</a:t>
            </a:r>
            <a:r>
              <a:rPr lang="en-US" altLang="zh-CN" sz="3200" kern="0" dirty="0">
                <a:solidFill>
                  <a:srgbClr val="FF0000"/>
                </a:solidFill>
              </a:rPr>
              <a:t>—2.</a:t>
            </a:r>
            <a:r>
              <a:rPr lang="zh-CN" altLang="en-US" sz="3200" kern="0" dirty="0">
                <a:solidFill>
                  <a:srgbClr val="FF0000"/>
                </a:solidFill>
              </a:rPr>
              <a:t>创建有理数</a:t>
            </a:r>
            <a:r>
              <a:rPr lang="zh-CN" altLang="en-US" dirty="0">
                <a:solidFill>
                  <a:srgbClr val="FF0000"/>
                </a:solidFill>
              </a:rPr>
              <a:t>示例</a:t>
            </a:r>
            <a:endParaRPr lang="zh-CN" altLang="en-US" sz="3200" dirty="0">
              <a:solidFill>
                <a:srgbClr val="FF0000"/>
              </a:solidFill>
            </a:endParaRPr>
          </a:p>
        </p:txBody>
      </p:sp>
      <p:sp>
        <p:nvSpPr>
          <p:cNvPr id="10" name="AutoShape 13">
            <a:extLst>
              <a:ext uri="{FF2B5EF4-FFF2-40B4-BE49-F238E27FC236}">
                <a16:creationId xmlns:a16="http://schemas.microsoft.com/office/drawing/2014/main" id="{35ED5F29-DA7C-4FF9-A0C0-9915517BEA93}"/>
              </a:ext>
            </a:extLst>
          </p:cNvPr>
          <p:cNvSpPr>
            <a:spLocks noChangeArrowheads="1"/>
          </p:cNvSpPr>
          <p:nvPr/>
        </p:nvSpPr>
        <p:spPr bwMode="auto">
          <a:xfrm>
            <a:off x="3203848" y="3989609"/>
            <a:ext cx="6222928" cy="484228"/>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en-US" altLang="zh-CN" sz="1600" b="1" dirty="0">
                <a:solidFill>
                  <a:schemeClr val="bg1"/>
                </a:solidFill>
                <a:latin typeface="华文楷体" panose="02010600040101010101" pitchFamily="2" charset="-122"/>
                <a:ea typeface="华文楷体" panose="02010600040101010101" pitchFamily="2" charset="-122"/>
              </a:rPr>
              <a:t>MATLAB</a:t>
            </a:r>
            <a:r>
              <a:rPr lang="zh-CN" altLang="en-US" sz="1600" b="1" dirty="0">
                <a:solidFill>
                  <a:schemeClr val="bg1"/>
                </a:solidFill>
                <a:latin typeface="华文楷体" panose="02010600040101010101" pitchFamily="2" charset="-122"/>
                <a:ea typeface="华文楷体" panose="02010600040101010101" pitchFamily="2" charset="-122"/>
              </a:rPr>
              <a:t>用</a:t>
            </a:r>
            <a:r>
              <a:rPr lang="en-US" altLang="zh-CN" sz="1600" dirty="0">
                <a:solidFill>
                  <a:schemeClr val="bg1"/>
                </a:solidFill>
              </a:rPr>
              <a:t>format rat</a:t>
            </a:r>
            <a:r>
              <a:rPr lang="zh-CN" altLang="en-US" sz="1600" dirty="0">
                <a:solidFill>
                  <a:schemeClr val="bg1"/>
                </a:solidFill>
              </a:rPr>
              <a:t>或</a:t>
            </a:r>
            <a:r>
              <a:rPr lang="en-US" altLang="zh-CN" sz="1600" dirty="0" err="1">
                <a:solidFill>
                  <a:schemeClr val="bg1"/>
                </a:solidFill>
              </a:rPr>
              <a:t>sym</a:t>
            </a:r>
            <a:r>
              <a:rPr lang="zh-CN" altLang="en-US" sz="1600" dirty="0">
                <a:solidFill>
                  <a:schemeClr val="bg1"/>
                </a:solidFill>
              </a:rPr>
              <a:t>获得分数</a:t>
            </a:r>
            <a:endParaRPr lang="zh-CN" altLang="en-US" sz="1600" b="1" kern="0" dirty="0">
              <a:solidFill>
                <a:schemeClr val="bg1"/>
              </a:solidFill>
              <a:ea typeface="黑体" panose="02010609060101010101" pitchFamily="49" charset="-122"/>
            </a:endParaRPr>
          </a:p>
        </p:txBody>
      </p:sp>
    </p:spTree>
    <p:extLst>
      <p:ext uri="{BB962C8B-B14F-4D97-AF65-F5344CB8AC3E}">
        <p14:creationId xmlns:p14="http://schemas.microsoft.com/office/powerpoint/2010/main" val="229083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P spid="8"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9480" y="579710"/>
            <a:ext cx="6185689" cy="45719"/>
          </a:xfrm>
        </p:spPr>
        <p:txBody>
          <a:bodyPr/>
          <a:lstStyle/>
          <a:p>
            <a:r>
              <a:rPr lang="en-US" altLang="zh-CN" sz="2800" dirty="0"/>
              <a:t>§1.3.3</a:t>
            </a:r>
            <a:r>
              <a:rPr lang="zh-CN" altLang="en-US" sz="2800" dirty="0"/>
              <a:t>字符与字符串</a:t>
            </a:r>
            <a:r>
              <a:rPr lang="en-US" altLang="zh-CN" sz="2800" kern="0" dirty="0">
                <a:solidFill>
                  <a:srgbClr val="FF0000"/>
                </a:solidFill>
              </a:rPr>
              <a:t>——1. </a:t>
            </a:r>
            <a:r>
              <a:rPr lang="zh-CN" altLang="en-US" sz="2800" kern="0" dirty="0">
                <a:solidFill>
                  <a:srgbClr val="FF0000"/>
                </a:solidFill>
              </a:rPr>
              <a:t>字符及字符串的定义</a:t>
            </a:r>
            <a:endParaRPr lang="zh-CN" altLang="en-US" sz="2800" dirty="0">
              <a:solidFill>
                <a:srgbClr val="FF0000"/>
              </a:solidFill>
            </a:endParaRPr>
          </a:p>
        </p:txBody>
      </p:sp>
      <p:sp>
        <p:nvSpPr>
          <p:cNvPr id="3" name="内容占位符 2"/>
          <p:cNvSpPr>
            <a:spLocks noGrp="1"/>
          </p:cNvSpPr>
          <p:nvPr>
            <p:ph idx="1"/>
          </p:nvPr>
        </p:nvSpPr>
        <p:spPr>
          <a:xfrm>
            <a:off x="46551" y="1089517"/>
            <a:ext cx="8889345" cy="3102901"/>
          </a:xfrm>
        </p:spPr>
        <p:txBody>
          <a:bodyPr/>
          <a:lstStyle/>
          <a:p>
            <a:pPr>
              <a:lnSpc>
                <a:spcPts val="4000"/>
              </a:lnSpc>
            </a:pPr>
            <a:r>
              <a:rPr lang="zh-CN" altLang="en-US" sz="2000" dirty="0">
                <a:latin typeface="微软雅黑" panose="020B0503020204020204" pitchFamily="34" charset="-122"/>
                <a:ea typeface="微软雅黑" panose="020B0503020204020204" pitchFamily="34" charset="-122"/>
              </a:rPr>
              <a:t>单引号只能括起单个字符</a:t>
            </a:r>
            <a:r>
              <a:rPr lang="en-US" altLang="zh-CN" sz="2000" dirty="0">
                <a:latin typeface="微软雅黑" panose="020B0503020204020204" pitchFamily="34" charset="-122"/>
                <a:ea typeface="微软雅黑" panose="020B0503020204020204" pitchFamily="34" charset="-122"/>
              </a:rPr>
              <a:t>Char</a:t>
            </a:r>
          </a:p>
          <a:p>
            <a:pPr>
              <a:lnSpc>
                <a:spcPts val="4000"/>
              </a:lnSpc>
            </a:pPr>
            <a:r>
              <a:rPr lang="zh-CN" altLang="en-US" sz="2000" dirty="0">
                <a:latin typeface="微软雅黑" panose="020B0503020204020204" pitchFamily="34" charset="-122"/>
                <a:ea typeface="微软雅黑" panose="020B0503020204020204" pitchFamily="34" charset="-122"/>
              </a:rPr>
              <a:t> 字符串</a:t>
            </a:r>
            <a:r>
              <a:rPr lang="en-US" altLang="zh-CN" sz="2000" dirty="0">
                <a:latin typeface="微软雅黑" panose="020B0503020204020204" pitchFamily="34" charset="-122"/>
                <a:ea typeface="微软雅黑" panose="020B0503020204020204" pitchFamily="34" charset="-122"/>
              </a:rPr>
              <a:t>String</a:t>
            </a:r>
            <a:r>
              <a:rPr lang="zh-CN" altLang="en-US" sz="2000" dirty="0">
                <a:latin typeface="微软雅黑" panose="020B0503020204020204" pitchFamily="34" charset="-122"/>
                <a:ea typeface="微软雅黑" panose="020B0503020204020204" pitchFamily="34" charset="-122"/>
              </a:rPr>
              <a:t>用双引号或三引号</a:t>
            </a:r>
            <a:r>
              <a:rPr lang="zh-CN" altLang="en-US" sz="2000" dirty="0"/>
              <a:t> </a:t>
            </a:r>
            <a:r>
              <a:rPr lang="en-US" altLang="zh-CN" sz="2000" dirty="0"/>
              <a:t>(""")</a:t>
            </a:r>
            <a:r>
              <a:rPr lang="zh-CN" altLang="en-US" sz="2000" dirty="0">
                <a:latin typeface="微软雅黑" panose="020B0503020204020204" pitchFamily="34" charset="-122"/>
                <a:ea typeface="微软雅黑" panose="020B0503020204020204" pitchFamily="34" charset="-122"/>
              </a:rPr>
              <a:t>括起一串字符</a:t>
            </a:r>
            <a:endParaRPr lang="en-US" altLang="zh-CN" sz="2000" dirty="0">
              <a:latin typeface="微软雅黑" panose="020B0503020204020204" pitchFamily="34" charset="-122"/>
              <a:ea typeface="微软雅黑" panose="020B0503020204020204" pitchFamily="34" charset="-122"/>
            </a:endParaRPr>
          </a:p>
          <a:p>
            <a:pPr>
              <a:lnSpc>
                <a:spcPts val="4000"/>
              </a:lnSpc>
            </a:pPr>
            <a:r>
              <a:rPr lang="zh-CN" altLang="en-US" sz="2000" dirty="0">
                <a:latin typeface="微软雅黑" panose="020B0503020204020204" pitchFamily="34" charset="-122"/>
                <a:ea typeface="微软雅黑" panose="020B0503020204020204" pitchFamily="34" charset="-122"/>
              </a:rPr>
              <a:t>字符</a:t>
            </a:r>
            <a:r>
              <a:rPr lang="en-US" altLang="zh-CN" sz="2000" dirty="0">
                <a:latin typeface="微软雅黑" panose="020B0503020204020204" pitchFamily="34" charset="-122"/>
                <a:ea typeface="微软雅黑" panose="020B0503020204020204" pitchFamily="34" charset="-122"/>
              </a:rPr>
              <a:t>Char</a:t>
            </a:r>
            <a:r>
              <a:rPr lang="zh-CN" altLang="en-US" sz="2000" dirty="0">
                <a:latin typeface="微软雅黑" panose="020B0503020204020204" pitchFamily="34" charset="-122"/>
                <a:ea typeface="微软雅黑" panose="020B0503020204020204" pitchFamily="34" charset="-122"/>
              </a:rPr>
              <a:t>只能一个字符，字符串</a:t>
            </a:r>
            <a:r>
              <a:rPr lang="en-US" altLang="zh-CN" sz="2000" dirty="0">
                <a:latin typeface="微软雅黑" panose="020B0503020204020204" pitchFamily="34" charset="-122"/>
                <a:ea typeface="微软雅黑" panose="020B0503020204020204" pitchFamily="34" charset="-122"/>
              </a:rPr>
              <a:t>String</a:t>
            </a:r>
            <a:r>
              <a:rPr lang="zh-CN" altLang="en-US" sz="2000" dirty="0">
                <a:latin typeface="微软雅黑" panose="020B0503020204020204" pitchFamily="34" charset="-122"/>
                <a:ea typeface="微软雅黑" panose="020B0503020204020204" pitchFamily="34" charset="-122"/>
              </a:rPr>
              <a:t>一个字符和多个字符构成都行</a:t>
            </a:r>
            <a:endParaRPr lang="en-US" altLang="zh-CN" sz="2000" dirty="0">
              <a:latin typeface="微软雅黑" panose="020B0503020204020204" pitchFamily="34" charset="-122"/>
              <a:ea typeface="微软雅黑" panose="020B0503020204020204" pitchFamily="34" charset="-122"/>
            </a:endParaRPr>
          </a:p>
          <a:p>
            <a:pPr>
              <a:lnSpc>
                <a:spcPts val="4000"/>
              </a:lnSpc>
            </a:pPr>
            <a:r>
              <a:rPr lang="en-US" altLang="zh-CN" sz="2000" dirty="0">
                <a:latin typeface="微软雅黑" panose="020B0503020204020204" pitchFamily="34" charset="-122"/>
                <a:ea typeface="微软雅黑" panose="020B0503020204020204" pitchFamily="34" charset="-122"/>
              </a:rPr>
              <a:t>Julia </a:t>
            </a:r>
            <a:r>
              <a:rPr lang="zh-CN" altLang="en-US" sz="2000" dirty="0">
                <a:latin typeface="微软雅黑" panose="020B0503020204020204" pitchFamily="34" charset="-122"/>
                <a:ea typeface="微软雅黑" panose="020B0503020204020204" pitchFamily="34" charset="-122"/>
              </a:rPr>
              <a:t>字符串是不可更改的</a:t>
            </a:r>
            <a:r>
              <a:rPr lang="en-US" altLang="zh-CN" sz="2000" dirty="0">
                <a:latin typeface="微软雅黑" panose="020B0503020204020204" pitchFamily="34" charset="-122"/>
                <a:ea typeface="微软雅黑" panose="020B0503020204020204" pitchFamily="34" charset="-122"/>
              </a:rPr>
              <a:t> </a:t>
            </a:r>
          </a:p>
          <a:p>
            <a:pPr>
              <a:lnSpc>
                <a:spcPts val="4000"/>
              </a:lnSpc>
            </a:pPr>
            <a:r>
              <a:rPr lang="zh-CN" altLang="en-US" sz="2000" dirty="0">
                <a:latin typeface="微软雅黑" panose="020B0503020204020204" pitchFamily="34" charset="-122"/>
                <a:ea typeface="微软雅黑" panose="020B0503020204020204" pitchFamily="34" charset="-122"/>
              </a:rPr>
              <a:t>采用“</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”可以将字符和字符串拼接</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a:t>
            </a:r>
            <a:r>
              <a:rPr lang="en-US" altLang="zh-CN" sz="2000" dirty="0">
                <a:latin typeface="微软雅黑" panose="020B0503020204020204" pitchFamily="34" charset="-122"/>
                <a:ea typeface="微软雅黑" panose="020B0503020204020204" pitchFamily="34" charset="-122"/>
              </a:rPr>
              <a:t> "a" *"b"</a:t>
            </a:r>
            <a:r>
              <a:rPr lang="zh-CN" altLang="en-US" sz="2000" dirty="0">
                <a:latin typeface="微软雅黑" panose="020B0503020204020204" pitchFamily="34" charset="-122"/>
                <a:ea typeface="微软雅黑" panose="020B0503020204020204" pitchFamily="34" charset="-122"/>
              </a:rPr>
              <a:t>成</a:t>
            </a:r>
            <a:r>
              <a:rPr lang="en-US" altLang="zh-CN" sz="2000" dirty="0">
                <a:latin typeface="微软雅黑" panose="020B0503020204020204" pitchFamily="34" charset="-122"/>
                <a:ea typeface="微软雅黑" panose="020B0503020204020204" pitchFamily="34" charset="-122"/>
              </a:rPr>
              <a:t>"ab“</a:t>
            </a:r>
          </a:p>
          <a:p>
            <a:pPr>
              <a:lnSpc>
                <a:spcPts val="4000"/>
              </a:lnSpc>
            </a:pPr>
            <a:r>
              <a:rPr lang="en-US" altLang="zh-CN" sz="2000" dirty="0">
                <a:latin typeface="微软雅黑" panose="020B0503020204020204" pitchFamily="34" charset="-122"/>
                <a:ea typeface="微软雅黑" panose="020B0503020204020204" pitchFamily="34" charset="-122"/>
              </a:rPr>
              <a:t>Julia</a:t>
            </a:r>
            <a:r>
              <a:rPr lang="zh-CN" altLang="en-US" sz="2000" dirty="0">
                <a:latin typeface="微软雅黑" panose="020B0503020204020204" pitchFamily="34" charset="-122"/>
                <a:ea typeface="微软雅黑" panose="020B0503020204020204" pitchFamily="34" charset="-122"/>
              </a:rPr>
              <a:t>允许用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对字符串字面插入 </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
        <p:nvSpPr>
          <p:cNvPr id="6" name="内容占位符 2">
            <a:extLst>
              <a:ext uri="{FF2B5EF4-FFF2-40B4-BE49-F238E27FC236}">
                <a16:creationId xmlns:a16="http://schemas.microsoft.com/office/drawing/2014/main" id="{16AC5D24-C4EB-89B8-10D9-5727616AC806}"/>
              </a:ext>
            </a:extLst>
          </p:cNvPr>
          <p:cNvSpPr txBox="1">
            <a:spLocks/>
          </p:cNvSpPr>
          <p:nvPr/>
        </p:nvSpPr>
        <p:spPr bwMode="auto">
          <a:xfrm>
            <a:off x="106078" y="696099"/>
            <a:ext cx="8653604" cy="43877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zh-CN" altLang="en-US" sz="2200" b="1" dirty="0">
                <a:solidFill>
                  <a:srgbClr val="0070C0"/>
                </a:solidFill>
                <a:latin typeface="微软雅黑" panose="020B0503020204020204" pitchFamily="34" charset="-122"/>
                <a:ea typeface="微软雅黑" panose="020B0503020204020204" pitchFamily="34" charset="-122"/>
              </a:rPr>
              <a:t>字符和</a:t>
            </a:r>
            <a:r>
              <a:rPr lang="zh-CN" altLang="en-US" sz="2200" b="1" kern="1200" dirty="0">
                <a:solidFill>
                  <a:srgbClr val="0070C0"/>
                </a:solidFill>
                <a:latin typeface="微软雅黑" panose="020B0503020204020204" pitchFamily="34" charset="-122"/>
                <a:ea typeface="微软雅黑" panose="020B0503020204020204" pitchFamily="34" charset="-122"/>
              </a:rPr>
              <a:t>字符</a:t>
            </a:r>
            <a:r>
              <a:rPr lang="zh-CN" altLang="en-US" sz="2200" b="1" dirty="0">
                <a:solidFill>
                  <a:srgbClr val="0070C0"/>
                </a:solidFill>
                <a:latin typeface="微软雅黑" panose="020B0503020204020204" pitchFamily="34" charset="-122"/>
                <a:ea typeface="微软雅黑" panose="020B0503020204020204" pitchFamily="34" charset="-122"/>
              </a:rPr>
              <a:t>串</a:t>
            </a:r>
            <a:r>
              <a:rPr lang="zh-CN" altLang="en-US" sz="2200" b="1" kern="1200" dirty="0">
                <a:solidFill>
                  <a:srgbClr val="0070C0"/>
                </a:solidFill>
                <a:latin typeface="微软雅黑" panose="020B0503020204020204" pitchFamily="34" charset="-122"/>
                <a:ea typeface="微软雅黑" panose="020B0503020204020204" pitchFamily="34" charset="-122"/>
              </a:rPr>
              <a:t>是</a:t>
            </a:r>
            <a:r>
              <a:rPr lang="zh-CN" altLang="en-US" sz="2200" b="1" dirty="0">
                <a:solidFill>
                  <a:srgbClr val="0070C0"/>
                </a:solidFill>
                <a:latin typeface="微软雅黑" panose="020B0503020204020204" pitchFamily="34" charset="-122"/>
                <a:ea typeface="微软雅黑" panose="020B0503020204020204" pitchFamily="34" charset="-122"/>
              </a:rPr>
              <a:t>编程语言中表示文本数据类型，两个截然不同概念</a:t>
            </a:r>
            <a:endParaRPr lang="en-US" altLang="zh-CN" sz="2200" b="1" dirty="0">
              <a:solidFill>
                <a:srgbClr val="0070C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D9AAC242-3204-0670-ABBD-41428E5C65C0}"/>
              </a:ext>
            </a:extLst>
          </p:cNvPr>
          <p:cNvSpPr/>
          <p:nvPr/>
        </p:nvSpPr>
        <p:spPr>
          <a:xfrm>
            <a:off x="4580582" y="1206976"/>
            <a:ext cx="594451"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dirty="0">
                <a:solidFill>
                  <a:schemeClr val="bg1"/>
                </a:solidFill>
                <a:latin typeface="Times New Roman" panose="02020603050405020304" pitchFamily="18" charset="0"/>
                <a:cs typeface="Times New Roman" panose="02020603050405020304" pitchFamily="18" charset="0"/>
              </a:rPr>
              <a:t>‘</a:t>
            </a:r>
            <a:r>
              <a:rPr lang="zh-CN" altLang="en-US" sz="1600" b="1" dirty="0">
                <a:solidFill>
                  <a:schemeClr val="bg1"/>
                </a:solidFill>
                <a:latin typeface="Times New Roman" panose="02020603050405020304" pitchFamily="18" charset="0"/>
                <a:cs typeface="Times New Roman" panose="02020603050405020304" pitchFamily="18" charset="0"/>
              </a:rPr>
              <a:t>字</a:t>
            </a:r>
            <a:r>
              <a:rPr lang="en-US" altLang="zh-CN" sz="1600" b="1" dirty="0">
                <a:solidFill>
                  <a:schemeClr val="bg1"/>
                </a:solidFill>
                <a:latin typeface="Times New Roman" panose="02020603050405020304" pitchFamily="18" charset="0"/>
                <a:cs typeface="Times New Roman" panose="02020603050405020304" pitchFamily="18" charset="0"/>
              </a:rPr>
              <a:t>’</a:t>
            </a:r>
            <a:endParaRPr lang="zh-CN" altLang="en-US" sz="1600" b="1" dirty="0">
              <a:solidFill>
                <a:schemeClr val="bg1"/>
              </a:solidFill>
              <a:latin typeface="Times New Roman" panose="02020603050405020304" pitchFamily="18" charset="0"/>
              <a:cs typeface="Times New Roman" panose="02020603050405020304" pitchFamily="18" charset="0"/>
            </a:endParaRPr>
          </a:p>
        </p:txBody>
      </p:sp>
      <p:sp>
        <p:nvSpPr>
          <p:cNvPr id="11" name="内容占位符 2">
            <a:extLst>
              <a:ext uri="{FF2B5EF4-FFF2-40B4-BE49-F238E27FC236}">
                <a16:creationId xmlns:a16="http://schemas.microsoft.com/office/drawing/2014/main" id="{4AC641CD-391B-7B28-53E1-D2F5B16F95BE}"/>
              </a:ext>
            </a:extLst>
          </p:cNvPr>
          <p:cNvSpPr txBox="1">
            <a:spLocks/>
          </p:cNvSpPr>
          <p:nvPr/>
        </p:nvSpPr>
        <p:spPr bwMode="auto">
          <a:xfrm>
            <a:off x="5363077" y="1134873"/>
            <a:ext cx="2117654" cy="4827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Font typeface="Wingdings" panose="05000000000000000000" pitchFamily="2" charset="2"/>
              <a:buNone/>
            </a:pPr>
            <a:r>
              <a:rPr lang="en-US" altLang="zh-CN" sz="2400" kern="0" dirty="0"/>
              <a:t> julia&gt;  c = '1'</a:t>
            </a:r>
            <a:endParaRPr lang="zh-CN" altLang="en-US" sz="2400" kern="0" dirty="0"/>
          </a:p>
        </p:txBody>
      </p:sp>
      <p:sp>
        <p:nvSpPr>
          <p:cNvPr id="15" name="AutoShape 13">
            <a:extLst>
              <a:ext uri="{FF2B5EF4-FFF2-40B4-BE49-F238E27FC236}">
                <a16:creationId xmlns:a16="http://schemas.microsoft.com/office/drawing/2014/main" id="{88B6357C-2F80-48DA-B48E-7901F58E4450}"/>
              </a:ext>
            </a:extLst>
          </p:cNvPr>
          <p:cNvSpPr>
            <a:spLocks noChangeArrowheads="1"/>
          </p:cNvSpPr>
          <p:nvPr/>
        </p:nvSpPr>
        <p:spPr bwMode="auto">
          <a:xfrm>
            <a:off x="35496" y="4144620"/>
            <a:ext cx="1296144" cy="599380"/>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dirty="0">
                <a:solidFill>
                  <a:srgbClr val="FFFF00"/>
                </a:solidFill>
                <a:latin typeface="微软雅黑" panose="020B0503020204020204" pitchFamily="34" charset="-122"/>
                <a:ea typeface="微软雅黑" panose="020B0503020204020204" pitchFamily="34" charset="-122"/>
              </a:rPr>
              <a:t>注意</a:t>
            </a:r>
            <a:endParaRPr lang="en-US" altLang="zh-CN" sz="1600" b="1" dirty="0">
              <a:solidFill>
                <a:srgbClr val="FFFF0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F170A28D-0631-2E07-1B2C-FC1185BFE1F8}"/>
              </a:ext>
            </a:extLst>
          </p:cNvPr>
          <p:cNvSpPr/>
          <p:nvPr/>
        </p:nvSpPr>
        <p:spPr>
          <a:xfrm>
            <a:off x="6189166" y="1720825"/>
            <a:ext cx="1080120"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a:solidFill>
                  <a:schemeClr val="bg1"/>
                </a:solidFill>
                <a:latin typeface="Times New Roman" panose="02020603050405020304" pitchFamily="18" charset="0"/>
                <a:cs typeface="Times New Roman" panose="02020603050405020304" pitchFamily="18" charset="0"/>
              </a:rPr>
              <a:t>“</a:t>
            </a:r>
            <a:r>
              <a:rPr lang="zh-CN" altLang="en-US" sz="1600" b="1">
                <a:solidFill>
                  <a:schemeClr val="bg1"/>
                </a:solidFill>
                <a:latin typeface="Times New Roman" panose="02020603050405020304" pitchFamily="18" charset="0"/>
                <a:cs typeface="Times New Roman" panose="02020603050405020304" pitchFamily="18" charset="0"/>
              </a:rPr>
              <a:t>字符串</a:t>
            </a:r>
            <a:r>
              <a:rPr lang="en-US" altLang="zh-CN" sz="1600" b="1" dirty="0">
                <a:solidFill>
                  <a:schemeClr val="bg1"/>
                </a:solidFill>
                <a:latin typeface="Times New Roman" panose="02020603050405020304" pitchFamily="18" charset="0"/>
                <a:cs typeface="Times New Roman" panose="02020603050405020304" pitchFamily="18" charset="0"/>
              </a:rPr>
              <a:t>”</a:t>
            </a:r>
            <a:endParaRPr lang="zh-CN" altLang="en-US" sz="1600" b="1" dirty="0">
              <a:solidFill>
                <a:schemeClr val="bg1"/>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D05BB7A6-F850-45DC-A2F4-BAC1AFE30F61}"/>
              </a:ext>
            </a:extLst>
          </p:cNvPr>
          <p:cNvSpPr txBox="1"/>
          <p:nvPr/>
        </p:nvSpPr>
        <p:spPr>
          <a:xfrm>
            <a:off x="1252921" y="4303405"/>
            <a:ext cx="7462224" cy="369332"/>
          </a:xfrm>
          <a:prstGeom prst="rect">
            <a:avLst/>
          </a:prstGeom>
          <a:noFill/>
        </p:spPr>
        <p:txBody>
          <a:bodyPr wrap="square">
            <a:spAutoFit/>
          </a:bodyPr>
          <a:lstStyle/>
          <a:p>
            <a:pPr algn="dist"/>
            <a:r>
              <a:rPr lang="en-US" altLang="zh-CN" b="1" dirty="0">
                <a:solidFill>
                  <a:srgbClr val="0070C0"/>
                </a:solidFill>
                <a:latin typeface="微软雅黑" panose="020B0503020204020204" pitchFamily="34" charset="-122"/>
                <a:ea typeface="微软雅黑" panose="020B0503020204020204" pitchFamily="34" charset="-122"/>
              </a:rPr>
              <a:t>MATLAB</a:t>
            </a:r>
            <a:r>
              <a:rPr lang="zh-CN" altLang="en-US" b="1" dirty="0">
                <a:solidFill>
                  <a:srgbClr val="0070C0"/>
                </a:solidFill>
                <a:latin typeface="微软雅黑" panose="020B0503020204020204" pitchFamily="34" charset="-122"/>
                <a:ea typeface="微软雅黑" panose="020B0503020204020204" pitchFamily="34" charset="-122"/>
              </a:rPr>
              <a:t>语言中，无论字符还是字符串都可用单引号和双引号</a:t>
            </a:r>
            <a:endParaRPr lang="en-US" altLang="zh-CN" b="1" dirty="0">
              <a:solidFill>
                <a:srgbClr val="0070C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77223235-06A6-405D-9534-CDFE7E01F2E6}"/>
              </a:ext>
            </a:extLst>
          </p:cNvPr>
          <p:cNvSpPr txBox="1"/>
          <p:nvPr/>
        </p:nvSpPr>
        <p:spPr>
          <a:xfrm>
            <a:off x="4698771" y="3539705"/>
            <a:ext cx="4060911" cy="703462"/>
          </a:xfrm>
          <a:prstGeom prst="rect">
            <a:avLst/>
          </a:prstGeom>
          <a:noFill/>
        </p:spPr>
        <p:txBody>
          <a:bodyPr wrap="square">
            <a:spAutoFit/>
          </a:bodyPr>
          <a:lstStyle/>
          <a:p>
            <a:pPr>
              <a:lnSpc>
                <a:spcPts val="2500"/>
              </a:lnSpc>
            </a:pPr>
            <a:r>
              <a:rPr lang="zh-CN" altLang="en-US" b="1" dirty="0">
                <a:solidFill>
                  <a:srgbClr val="00B0F0"/>
                </a:solidFill>
              </a:rPr>
              <a:t>julia&gt; a=22   </a:t>
            </a:r>
            <a:r>
              <a:rPr lang="en-US" altLang="zh-CN" b="1" dirty="0">
                <a:solidFill>
                  <a:srgbClr val="00B0F0"/>
                </a:solidFill>
              </a:rPr>
              <a:t>#</a:t>
            </a:r>
            <a:r>
              <a:rPr lang="zh-CN" altLang="en-US" b="1" dirty="0">
                <a:solidFill>
                  <a:srgbClr val="00B0F0"/>
                </a:solidFill>
              </a:rPr>
              <a:t>结果22</a:t>
            </a:r>
          </a:p>
          <a:p>
            <a:pPr>
              <a:lnSpc>
                <a:spcPts val="2500"/>
              </a:lnSpc>
            </a:pPr>
            <a:r>
              <a:rPr lang="zh-CN" altLang="en-US" b="1" dirty="0">
                <a:solidFill>
                  <a:srgbClr val="00B0F0"/>
                </a:solidFill>
              </a:rPr>
              <a:t>julia&gt; println(“a=$a”)  </a:t>
            </a:r>
            <a:r>
              <a:rPr lang="en-US" altLang="zh-CN" b="1" dirty="0">
                <a:solidFill>
                  <a:srgbClr val="00B0F0"/>
                </a:solidFill>
              </a:rPr>
              <a:t>#</a:t>
            </a:r>
            <a:r>
              <a:rPr lang="zh-CN" altLang="en-US" b="1" dirty="0">
                <a:solidFill>
                  <a:srgbClr val="00B0F0"/>
                </a:solidFill>
              </a:rPr>
              <a:t>结果a=22</a:t>
            </a:r>
          </a:p>
        </p:txBody>
      </p:sp>
      <p:sp>
        <p:nvSpPr>
          <p:cNvPr id="18" name="文本框 17">
            <a:extLst>
              <a:ext uri="{FF2B5EF4-FFF2-40B4-BE49-F238E27FC236}">
                <a16:creationId xmlns:a16="http://schemas.microsoft.com/office/drawing/2014/main" id="{EBDC37AF-E60B-4E1F-9F9D-612DB6AE1528}"/>
              </a:ext>
            </a:extLst>
          </p:cNvPr>
          <p:cNvSpPr txBox="1"/>
          <p:nvPr/>
        </p:nvSpPr>
        <p:spPr>
          <a:xfrm>
            <a:off x="7480731" y="1726576"/>
            <a:ext cx="1319363" cy="369332"/>
          </a:xfrm>
          <a:prstGeom prst="rect">
            <a:avLst/>
          </a:prstGeom>
          <a:noFill/>
        </p:spPr>
        <p:txBody>
          <a:bodyPr wrap="square">
            <a:spAutoFit/>
          </a:bodyPr>
          <a:lstStyle/>
          <a:p>
            <a:r>
              <a:rPr lang="en-US" altLang="zh-CN" b="0" dirty="0">
                <a:solidFill>
                  <a:srgbClr val="A31515"/>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"111"</a:t>
            </a:r>
            <a:endParaRPr lang="zh-CN" altLang="en-US" b="0" dirty="0">
              <a:solidFill>
                <a:srgbClr val="000000"/>
              </a:solidFill>
              <a:effectLst/>
              <a:latin typeface="Consolas" panose="020B0609020204030204" pitchFamily="49" charset="0"/>
            </a:endParaRPr>
          </a:p>
        </p:txBody>
      </p:sp>
    </p:spTree>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animBg="1"/>
      <p:bldP spid="9" grpId="0" animBg="1"/>
      <p:bldP spid="12" grpId="0"/>
      <p:bldP spid="16"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D34EC6E-6439-E245-2BF6-642F96D55212}"/>
              </a:ext>
            </a:extLst>
          </p:cNvPr>
          <p:cNvSpPr txBox="1"/>
          <p:nvPr/>
        </p:nvSpPr>
        <p:spPr>
          <a:xfrm>
            <a:off x="323528" y="1098658"/>
            <a:ext cx="8610128" cy="2851165"/>
          </a:xfrm>
          <a:prstGeom prst="rect">
            <a:avLst/>
          </a:prstGeom>
          <a:noFill/>
        </p:spPr>
        <p:txBody>
          <a:bodyPr wrap="square">
            <a:spAutoFit/>
          </a:bodyPr>
          <a:lstStyle/>
          <a:p>
            <a:pPr>
              <a:lnSpc>
                <a:spcPts val="3100"/>
              </a:lnSpc>
            </a:pPr>
            <a:r>
              <a:rPr lang="en-US" altLang="zh-CN" sz="2200" dirty="0">
                <a:latin typeface="等线 Light" panose="02010600030101010101" pitchFamily="2" charset="-122"/>
                <a:ea typeface="等线 Light" panose="02010600030101010101" pitchFamily="2" charset="-122"/>
              </a:rPr>
              <a:t>julia&gt; s=‘</a:t>
            </a:r>
            <a:r>
              <a:rPr lang="zh-CN" altLang="en-US" sz="2200" dirty="0">
                <a:latin typeface="等线 Light" panose="02010600030101010101" pitchFamily="2" charset="-122"/>
                <a:ea typeface="等线 Light" panose="02010600030101010101" pitchFamily="2" charset="-122"/>
              </a:rPr>
              <a:t>算</a:t>
            </a:r>
            <a:r>
              <a:rPr lang="en-US" altLang="zh-CN" sz="2200" dirty="0">
                <a:latin typeface="等线 Light" panose="02010600030101010101" pitchFamily="2" charset="-122"/>
                <a:ea typeface="等线 Light" panose="02010600030101010101" pitchFamily="2" charset="-122"/>
              </a:rPr>
              <a:t>’ </a:t>
            </a:r>
          </a:p>
          <a:p>
            <a:pPr>
              <a:lnSpc>
                <a:spcPts val="3100"/>
              </a:lnSpc>
            </a:pPr>
            <a:r>
              <a:rPr lang="en-US" altLang="zh-CN" sz="2200" dirty="0">
                <a:latin typeface="等线 Light" panose="02010600030101010101" pitchFamily="2" charset="-122"/>
                <a:ea typeface="等线 Light" panose="02010600030101010101" pitchFamily="2" charset="-122"/>
              </a:rPr>
              <a:t>julia&gt; </a:t>
            </a:r>
            <a:r>
              <a:rPr lang="en-US" altLang="zh-CN" sz="2200" dirty="0" err="1">
                <a:latin typeface="等线 Light" panose="02010600030101010101" pitchFamily="2" charset="-122"/>
                <a:ea typeface="等线 Light" panose="02010600030101010101" pitchFamily="2" charset="-122"/>
              </a:rPr>
              <a:t>js</a:t>
            </a:r>
            <a:r>
              <a:rPr lang="en-US" altLang="zh-CN" sz="2200" dirty="0">
                <a:latin typeface="等线 Light" panose="02010600030101010101" pitchFamily="2" charset="-122"/>
                <a:ea typeface="等线 Light" panose="02010600030101010101" pitchFamily="2" charset="-122"/>
              </a:rPr>
              <a:t>='</a:t>
            </a:r>
            <a:r>
              <a:rPr lang="zh-CN" altLang="en-US" sz="2200" dirty="0">
                <a:latin typeface="等线 Light" panose="02010600030101010101" pitchFamily="2" charset="-122"/>
                <a:ea typeface="等线 Light" panose="02010600030101010101" pitchFamily="2" charset="-122"/>
              </a:rPr>
              <a:t>计算</a:t>
            </a:r>
            <a:r>
              <a:rPr lang="en-US" altLang="zh-CN" sz="2200" dirty="0">
                <a:latin typeface="等线 Light" panose="02010600030101010101" pitchFamily="2" charset="-122"/>
                <a:ea typeface="等线 Light" panose="02010600030101010101" pitchFamily="2" charset="-122"/>
              </a:rPr>
              <a:t>'</a:t>
            </a:r>
          </a:p>
          <a:p>
            <a:pPr>
              <a:lnSpc>
                <a:spcPts val="3100"/>
              </a:lnSpc>
            </a:pPr>
            <a:r>
              <a:rPr lang="en-US" altLang="zh-CN" sz="2200" b="1" dirty="0">
                <a:solidFill>
                  <a:srgbClr val="FF0000"/>
                </a:solidFill>
                <a:latin typeface="等线 Light" panose="02010600030101010101" pitchFamily="2" charset="-122"/>
                <a:ea typeface="等线 Light" panose="02010600030101010101" pitchFamily="2" charset="-122"/>
              </a:rPr>
              <a:t>ERROR: syntax: character literal contains multiple characters</a:t>
            </a:r>
          </a:p>
          <a:p>
            <a:pPr>
              <a:lnSpc>
                <a:spcPts val="3100"/>
              </a:lnSpc>
            </a:pPr>
            <a:r>
              <a:rPr lang="en-US" altLang="zh-CN" sz="2200" dirty="0">
                <a:latin typeface="等线 Light" panose="02010600030101010101" pitchFamily="2" charset="-122"/>
                <a:ea typeface="等线 Light" panose="02010600030101010101" pitchFamily="2" charset="-122"/>
              </a:rPr>
              <a:t>julia&gt; ss=“MWORKS</a:t>
            </a:r>
            <a:r>
              <a:rPr lang="zh-CN" altLang="en-US" sz="2200" dirty="0">
                <a:latin typeface="等线 Light" panose="02010600030101010101" pitchFamily="2" charset="-122"/>
                <a:ea typeface="等线 Light" panose="02010600030101010101" pitchFamily="2" charset="-122"/>
              </a:rPr>
              <a:t>计算</a:t>
            </a:r>
            <a:r>
              <a:rPr lang="en-US" altLang="zh-CN" sz="2200" dirty="0">
                <a:latin typeface="等线 Light" panose="02010600030101010101" pitchFamily="2" charset="-122"/>
                <a:ea typeface="等线 Light" panose="02010600030101010101" pitchFamily="2" charset="-122"/>
              </a:rPr>
              <a:t>“   #</a:t>
            </a:r>
            <a:r>
              <a:rPr lang="zh-CN" altLang="en-US" sz="2200" dirty="0">
                <a:latin typeface="等线 Light" panose="02010600030101010101" pitchFamily="2" charset="-122"/>
                <a:ea typeface="等线 Light" panose="02010600030101010101" pitchFamily="2" charset="-122"/>
              </a:rPr>
              <a:t>结果</a:t>
            </a:r>
            <a:r>
              <a:rPr lang="en-US" altLang="zh-CN" sz="2200" dirty="0">
                <a:solidFill>
                  <a:srgbClr val="00B0F0"/>
                </a:solidFill>
                <a:latin typeface="等线 Light" panose="02010600030101010101" pitchFamily="2" charset="-122"/>
                <a:ea typeface="等线 Light" panose="02010600030101010101" pitchFamily="2" charset="-122"/>
              </a:rPr>
              <a:t>"MWORKS</a:t>
            </a:r>
            <a:r>
              <a:rPr lang="zh-CN" altLang="en-US" sz="2200" dirty="0">
                <a:solidFill>
                  <a:srgbClr val="00B0F0"/>
                </a:solidFill>
                <a:latin typeface="等线 Light" panose="02010600030101010101" pitchFamily="2" charset="-122"/>
                <a:ea typeface="等线 Light" panose="02010600030101010101" pitchFamily="2" charset="-122"/>
              </a:rPr>
              <a:t>计算</a:t>
            </a:r>
            <a:r>
              <a:rPr lang="en-US" altLang="zh-CN" sz="2200" dirty="0">
                <a:solidFill>
                  <a:srgbClr val="00B0F0"/>
                </a:solidFill>
                <a:latin typeface="等线 Light" panose="02010600030101010101" pitchFamily="2" charset="-122"/>
                <a:ea typeface="等线 Light" panose="02010600030101010101" pitchFamily="2" charset="-122"/>
              </a:rPr>
              <a:t>"</a:t>
            </a:r>
          </a:p>
          <a:p>
            <a:pPr>
              <a:lnSpc>
                <a:spcPts val="3100"/>
              </a:lnSpc>
            </a:pPr>
            <a:r>
              <a:rPr lang="en-US" altLang="zh-CN" sz="2200" dirty="0">
                <a:latin typeface="等线 Light" panose="02010600030101010101" pitchFamily="2" charset="-122"/>
                <a:ea typeface="等线 Light" panose="02010600030101010101" pitchFamily="2" charset="-122"/>
              </a:rPr>
              <a:t>julia&gt; ss[end]   #</a:t>
            </a:r>
            <a:r>
              <a:rPr lang="en-US" altLang="zh-CN" sz="2200" dirty="0">
                <a:solidFill>
                  <a:srgbClr val="00B0F0"/>
                </a:solidFill>
                <a:latin typeface="等线 Light" panose="02010600030101010101" pitchFamily="2" charset="-122"/>
                <a:ea typeface="等线 Light" panose="02010600030101010101" pitchFamily="2" charset="-122"/>
              </a:rPr>
              <a:t>'</a:t>
            </a:r>
            <a:r>
              <a:rPr lang="zh-CN" altLang="en-US" sz="2200" dirty="0">
                <a:solidFill>
                  <a:srgbClr val="00B0F0"/>
                </a:solidFill>
                <a:latin typeface="等线 Light" panose="02010600030101010101" pitchFamily="2" charset="-122"/>
                <a:ea typeface="等线 Light" panose="02010600030101010101" pitchFamily="2" charset="-122"/>
              </a:rPr>
              <a:t>算</a:t>
            </a:r>
            <a:r>
              <a:rPr lang="en-US" altLang="zh-CN" sz="2200" dirty="0">
                <a:solidFill>
                  <a:srgbClr val="00B0F0"/>
                </a:solidFill>
                <a:latin typeface="等线 Light" panose="02010600030101010101" pitchFamily="2" charset="-122"/>
                <a:ea typeface="等线 Light" panose="02010600030101010101" pitchFamily="2" charset="-122"/>
              </a:rPr>
              <a:t>': Unicode U+7B97 (category Lo: Letter, other)</a:t>
            </a:r>
          </a:p>
          <a:p>
            <a:pPr>
              <a:lnSpc>
                <a:spcPts val="3100"/>
              </a:lnSpc>
            </a:pPr>
            <a:r>
              <a:rPr lang="en-US" altLang="zh-CN" sz="2200" dirty="0">
                <a:latin typeface="等线 Light" panose="02010600030101010101" pitchFamily="2" charset="-122"/>
                <a:ea typeface="等线 Light" panose="02010600030101010101" pitchFamily="2" charset="-122"/>
              </a:rPr>
              <a:t>julia&gt; ss[end]="dd“ #</a:t>
            </a:r>
            <a:r>
              <a:rPr lang="zh-CN" altLang="en-US" sz="2200" dirty="0">
                <a:solidFill>
                  <a:srgbClr val="FF0000"/>
                </a:solidFill>
                <a:latin typeface="等线 Light" panose="02010600030101010101" pitchFamily="2" charset="-122"/>
                <a:ea typeface="等线 Light" panose="02010600030101010101" pitchFamily="2" charset="-122"/>
              </a:rPr>
              <a:t>不能修改</a:t>
            </a:r>
            <a:endParaRPr lang="en-US" altLang="zh-CN" sz="2200" dirty="0">
              <a:latin typeface="等线 Light" panose="02010600030101010101" pitchFamily="2" charset="-122"/>
              <a:ea typeface="等线 Light" panose="02010600030101010101" pitchFamily="2" charset="-122"/>
            </a:endParaRPr>
          </a:p>
          <a:p>
            <a:pPr>
              <a:lnSpc>
                <a:spcPts val="3100"/>
              </a:lnSpc>
            </a:pPr>
            <a:r>
              <a:rPr lang="en-US" altLang="zh-CN" sz="2200" dirty="0">
                <a:solidFill>
                  <a:srgbClr val="FF0000"/>
                </a:solidFill>
                <a:latin typeface="等线 Light" panose="02010600030101010101" pitchFamily="2" charset="-122"/>
                <a:ea typeface="等线 Light" panose="02010600030101010101" pitchFamily="2" charset="-122"/>
              </a:rPr>
              <a:t>ERROR: </a:t>
            </a:r>
            <a:r>
              <a:rPr lang="en-US" altLang="zh-CN" sz="2200" dirty="0" err="1">
                <a:solidFill>
                  <a:srgbClr val="FF0000"/>
                </a:solidFill>
                <a:latin typeface="等线 Light" panose="02010600030101010101" pitchFamily="2" charset="-122"/>
                <a:ea typeface="等线 Light" panose="02010600030101010101" pitchFamily="2" charset="-122"/>
              </a:rPr>
              <a:t>MethodError</a:t>
            </a:r>
            <a:r>
              <a:rPr lang="en-US" altLang="zh-CN" sz="2200" dirty="0">
                <a:solidFill>
                  <a:srgbClr val="FF0000"/>
                </a:solidFill>
                <a:latin typeface="等线 Light" panose="02010600030101010101" pitchFamily="2" charset="-122"/>
                <a:ea typeface="等线 Light" panose="02010600030101010101" pitchFamily="2" charset="-122"/>
              </a:rPr>
              <a:t>: no method matching</a:t>
            </a:r>
            <a:endParaRPr lang="zh-CN" altLang="en-US" sz="2200" dirty="0">
              <a:solidFill>
                <a:srgbClr val="FF0000"/>
              </a:solidFill>
              <a:latin typeface="等线 Light" panose="02010600030101010101" pitchFamily="2" charset="-122"/>
              <a:ea typeface="等线 Light" panose="02010600030101010101" pitchFamily="2" charset="-122"/>
            </a:endParaRPr>
          </a:p>
        </p:txBody>
      </p:sp>
      <p:sp>
        <p:nvSpPr>
          <p:cNvPr id="11" name="文本框 10">
            <a:extLst>
              <a:ext uri="{FF2B5EF4-FFF2-40B4-BE49-F238E27FC236}">
                <a16:creationId xmlns:a16="http://schemas.microsoft.com/office/drawing/2014/main" id="{7A262D6C-0385-B3CC-DBF7-DFB0576036AB}"/>
              </a:ext>
            </a:extLst>
          </p:cNvPr>
          <p:cNvSpPr txBox="1"/>
          <p:nvPr/>
        </p:nvSpPr>
        <p:spPr>
          <a:xfrm>
            <a:off x="305120" y="3872142"/>
            <a:ext cx="5586300"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如果字符串太长了，可以使用反斜杠 </a:t>
            </a:r>
            <a:r>
              <a:rPr lang="en-US" altLang="zh-CN" b="1" dirty="0">
                <a:solidFill>
                  <a:srgbClr val="0070C0"/>
                </a:solidFill>
                <a:latin typeface="微软雅黑" panose="020B0503020204020204" pitchFamily="34" charset="-122"/>
                <a:ea typeface="微软雅黑" panose="020B0503020204020204" pitchFamily="34" charset="-122"/>
              </a:rPr>
              <a:t>\</a:t>
            </a:r>
            <a:r>
              <a:rPr lang="zh-CN" altLang="en-US" b="1" dirty="0">
                <a:solidFill>
                  <a:srgbClr val="0070C0"/>
                </a:solidFill>
                <a:latin typeface="微软雅黑" panose="020B0503020204020204" pitchFamily="34" charset="-122"/>
                <a:ea typeface="微软雅黑" panose="020B0503020204020204" pitchFamily="34" charset="-122"/>
              </a:rPr>
              <a:t> 回车来拆分 </a:t>
            </a:r>
          </a:p>
        </p:txBody>
      </p:sp>
      <p:sp>
        <p:nvSpPr>
          <p:cNvPr id="13" name="文本框 12">
            <a:extLst>
              <a:ext uri="{FF2B5EF4-FFF2-40B4-BE49-F238E27FC236}">
                <a16:creationId xmlns:a16="http://schemas.microsoft.com/office/drawing/2014/main" id="{039DEE8F-1656-26FE-C8D2-60F579BD6583}"/>
              </a:ext>
            </a:extLst>
          </p:cNvPr>
          <p:cNvSpPr txBox="1"/>
          <p:nvPr/>
        </p:nvSpPr>
        <p:spPr>
          <a:xfrm>
            <a:off x="323528" y="4145504"/>
            <a:ext cx="4320480" cy="461665"/>
          </a:xfrm>
          <a:prstGeom prst="rect">
            <a:avLst/>
          </a:prstGeom>
          <a:noFill/>
        </p:spPr>
        <p:txBody>
          <a:bodyPr wrap="square">
            <a:spAutoFit/>
          </a:bodyPr>
          <a:lstStyle/>
          <a:p>
            <a:r>
              <a:rPr lang="en-US" altLang="zh-CN" sz="2400" b="0" i="0" dirty="0">
                <a:solidFill>
                  <a:srgbClr val="000000"/>
                </a:solidFill>
                <a:effectLst/>
                <a:latin typeface="等线 Light" panose="02010600030101010101" pitchFamily="2" charset="-122"/>
                <a:ea typeface="等线 Light" panose="02010600030101010101" pitchFamily="2" charset="-122"/>
              </a:rPr>
              <a:t>julia</a:t>
            </a:r>
            <a:r>
              <a:rPr lang="en-US" altLang="zh-CN" sz="2400" b="0" i="0" dirty="0">
                <a:solidFill>
                  <a:srgbClr val="6BAB5B"/>
                </a:solidFill>
                <a:effectLst/>
                <a:latin typeface="等线 Light" panose="02010600030101010101" pitchFamily="2" charset="-122"/>
                <a:ea typeface="等线 Light" panose="02010600030101010101" pitchFamily="2" charset="-122"/>
              </a:rPr>
              <a:t>&gt;</a:t>
            </a:r>
            <a:r>
              <a:rPr lang="en-US" altLang="zh-CN" sz="2400" b="0" i="0" dirty="0">
                <a:solidFill>
                  <a:srgbClr val="000000"/>
                </a:solidFill>
                <a:effectLst/>
                <a:latin typeface="等线 Light" panose="02010600030101010101" pitchFamily="2" charset="-122"/>
                <a:ea typeface="等线 Light" panose="02010600030101010101" pitchFamily="2" charset="-122"/>
              </a:rPr>
              <a:t> </a:t>
            </a:r>
            <a:r>
              <a:rPr lang="en-US" altLang="zh-CN" sz="2400" b="0" i="0" dirty="0">
                <a:solidFill>
                  <a:srgbClr val="C93D39"/>
                </a:solidFill>
                <a:effectLst/>
                <a:latin typeface="等线 Light" panose="02010600030101010101" pitchFamily="2" charset="-122"/>
                <a:ea typeface="等线 Light" panose="02010600030101010101" pitchFamily="2" charset="-122"/>
              </a:rPr>
              <a:t>"This is a long </a:t>
            </a:r>
            <a:r>
              <a:rPr lang="en-US" altLang="zh-CN" sz="2400" b="1" i="0" dirty="0">
                <a:solidFill>
                  <a:srgbClr val="000099"/>
                </a:solidFill>
                <a:effectLst/>
                <a:latin typeface="等线 Light" panose="02010600030101010101" pitchFamily="2" charset="-122"/>
                <a:ea typeface="等线 Light" panose="02010600030101010101" pitchFamily="2" charset="-122"/>
              </a:rPr>
              <a:t>\</a:t>
            </a:r>
            <a:endParaRPr lang="zh-CN" altLang="en-US" sz="2400" dirty="0">
              <a:solidFill>
                <a:srgbClr val="00B0F0"/>
              </a:solidFill>
              <a:latin typeface="等线 Light" panose="02010600030101010101" pitchFamily="2" charset="-122"/>
              <a:ea typeface="等线 Light" panose="02010600030101010101" pitchFamily="2" charset="-122"/>
            </a:endParaRPr>
          </a:p>
        </p:txBody>
      </p:sp>
      <p:sp>
        <p:nvSpPr>
          <p:cNvPr id="6" name="标题 1">
            <a:extLst>
              <a:ext uri="{FF2B5EF4-FFF2-40B4-BE49-F238E27FC236}">
                <a16:creationId xmlns:a16="http://schemas.microsoft.com/office/drawing/2014/main" id="{839D962F-644E-46DC-84C4-9B1C3207370D}"/>
              </a:ext>
            </a:extLst>
          </p:cNvPr>
          <p:cNvSpPr>
            <a:spLocks noGrp="1"/>
          </p:cNvSpPr>
          <p:nvPr>
            <p:ph type="title"/>
          </p:nvPr>
        </p:nvSpPr>
        <p:spPr>
          <a:xfrm>
            <a:off x="1519610" y="388326"/>
            <a:ext cx="7624390" cy="301378"/>
          </a:xfrm>
        </p:spPr>
        <p:txBody>
          <a:bodyPr/>
          <a:lstStyle/>
          <a:p>
            <a:r>
              <a:rPr lang="en-US" altLang="zh-CN" dirty="0"/>
              <a:t>§1.3.3</a:t>
            </a:r>
            <a:r>
              <a:rPr lang="zh-CN" altLang="en-US" sz="3200" dirty="0"/>
              <a:t>字符串</a:t>
            </a:r>
            <a:r>
              <a:rPr lang="en-US" altLang="zh-CN" kern="0" dirty="0">
                <a:solidFill>
                  <a:srgbClr val="FF0000"/>
                </a:solidFill>
              </a:rPr>
              <a:t>——2. </a:t>
            </a:r>
            <a:r>
              <a:rPr lang="en-US" altLang="zh-CN" dirty="0"/>
              <a:t> </a:t>
            </a:r>
            <a:r>
              <a:rPr lang="zh-CN" altLang="en-US" dirty="0">
                <a:solidFill>
                  <a:srgbClr val="FF0000"/>
                </a:solidFill>
              </a:rPr>
              <a:t>字符与字符串示例  </a:t>
            </a:r>
          </a:p>
        </p:txBody>
      </p:sp>
      <p:sp>
        <p:nvSpPr>
          <p:cNvPr id="8" name="矩形 7">
            <a:extLst>
              <a:ext uri="{FF2B5EF4-FFF2-40B4-BE49-F238E27FC236}">
                <a16:creationId xmlns:a16="http://schemas.microsoft.com/office/drawing/2014/main" id="{C2A446C8-8959-46EF-BC5B-C67F939435D0}"/>
              </a:ext>
            </a:extLst>
          </p:cNvPr>
          <p:cNvSpPr/>
          <p:nvPr/>
        </p:nvSpPr>
        <p:spPr>
          <a:xfrm>
            <a:off x="3162164" y="4263915"/>
            <a:ext cx="1124701" cy="338554"/>
          </a:xfrm>
          <a:prstGeom prst="rect">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  </a:t>
            </a:r>
            <a:r>
              <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回车</a:t>
            </a:r>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  </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4047AE25-D860-4CC9-BDBF-C277C02C1144}"/>
              </a:ext>
            </a:extLst>
          </p:cNvPr>
          <p:cNvSpPr txBox="1"/>
          <p:nvPr/>
        </p:nvSpPr>
        <p:spPr>
          <a:xfrm>
            <a:off x="5168544" y="4180053"/>
            <a:ext cx="3237443" cy="430887"/>
          </a:xfrm>
          <a:prstGeom prst="rect">
            <a:avLst/>
          </a:prstGeom>
          <a:noFill/>
        </p:spPr>
        <p:txBody>
          <a:bodyPr wrap="square">
            <a:spAutoFit/>
          </a:bodyPr>
          <a:lstStyle/>
          <a:p>
            <a:r>
              <a:rPr lang="zh-CN" altLang="en-US" sz="2200" dirty="0">
                <a:solidFill>
                  <a:srgbClr val="00B0F0"/>
                </a:solidFill>
                <a:latin typeface="等线 Light" panose="02010600030101010101" pitchFamily="2" charset="-122"/>
                <a:ea typeface="等线 Light" panose="02010600030101010101" pitchFamily="2" charset="-122"/>
              </a:rPr>
              <a:t>结果</a:t>
            </a:r>
            <a:r>
              <a:rPr lang="en-US" altLang="zh-CN" sz="2200" dirty="0">
                <a:solidFill>
                  <a:srgbClr val="00B0F0"/>
                </a:solidFill>
                <a:latin typeface="等线 Light" panose="02010600030101010101" pitchFamily="2" charset="-122"/>
                <a:ea typeface="等线 Light" panose="02010600030101010101" pitchFamily="2" charset="-122"/>
              </a:rPr>
              <a:t>"This is a long line"</a:t>
            </a:r>
            <a:endParaRPr lang="zh-CN" altLang="en-US" sz="2200" dirty="0">
              <a:solidFill>
                <a:srgbClr val="00B0F0"/>
              </a:solidFill>
              <a:latin typeface="等线 Light" panose="02010600030101010101" pitchFamily="2" charset="-122"/>
              <a:ea typeface="等线 Light" panose="02010600030101010101" pitchFamily="2" charset="-122"/>
            </a:endParaRPr>
          </a:p>
        </p:txBody>
      </p:sp>
      <p:sp>
        <p:nvSpPr>
          <p:cNvPr id="15" name="文本框 14">
            <a:extLst>
              <a:ext uri="{FF2B5EF4-FFF2-40B4-BE49-F238E27FC236}">
                <a16:creationId xmlns:a16="http://schemas.microsoft.com/office/drawing/2014/main" id="{7FBF2B25-6DC1-4A2E-BD58-BF4443BBAA78}"/>
              </a:ext>
            </a:extLst>
          </p:cNvPr>
          <p:cNvSpPr txBox="1"/>
          <p:nvPr/>
        </p:nvSpPr>
        <p:spPr>
          <a:xfrm>
            <a:off x="4004588" y="4198317"/>
            <a:ext cx="949125" cy="461665"/>
          </a:xfrm>
          <a:prstGeom prst="rect">
            <a:avLst/>
          </a:prstGeom>
          <a:noFill/>
        </p:spPr>
        <p:txBody>
          <a:bodyPr wrap="square">
            <a:spAutoFit/>
          </a:bodyPr>
          <a:lstStyle/>
          <a:p>
            <a:r>
              <a:rPr lang="en-US" altLang="zh-CN" sz="2400" b="0" i="0" dirty="0">
                <a:solidFill>
                  <a:srgbClr val="C93D39"/>
                </a:solidFill>
                <a:effectLst/>
                <a:latin typeface="Menlo"/>
              </a:rPr>
              <a:t>line“</a:t>
            </a:r>
            <a:endParaRPr lang="zh-CN" altLang="en-US" sz="2400" dirty="0"/>
          </a:p>
        </p:txBody>
      </p:sp>
      <p:sp>
        <p:nvSpPr>
          <p:cNvPr id="16" name="AutoShape 13">
            <a:extLst>
              <a:ext uri="{FF2B5EF4-FFF2-40B4-BE49-F238E27FC236}">
                <a16:creationId xmlns:a16="http://schemas.microsoft.com/office/drawing/2014/main" id="{B1E03261-6DB9-4F6D-AC69-0244B79184BA}"/>
              </a:ext>
            </a:extLst>
          </p:cNvPr>
          <p:cNvSpPr>
            <a:spLocks noChangeArrowheads="1"/>
          </p:cNvSpPr>
          <p:nvPr/>
        </p:nvSpPr>
        <p:spPr bwMode="auto">
          <a:xfrm>
            <a:off x="2378669" y="1252290"/>
            <a:ext cx="1203225" cy="599380"/>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b="1" dirty="0">
                <a:solidFill>
                  <a:srgbClr val="FFFF00"/>
                </a:solidFill>
                <a:latin typeface="微软雅黑" panose="020B0503020204020204" pitchFamily="34" charset="-122"/>
                <a:ea typeface="微软雅黑" panose="020B0503020204020204" pitchFamily="34" charset="-122"/>
              </a:rPr>
              <a:t>注意</a:t>
            </a:r>
            <a:endParaRPr lang="en-US" altLang="zh-CN" b="1" dirty="0">
              <a:solidFill>
                <a:srgbClr val="FFFF0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6B581E44-BC44-41C2-BF14-D6BBBAAA9D31}"/>
              </a:ext>
            </a:extLst>
          </p:cNvPr>
          <p:cNvSpPr txBox="1"/>
          <p:nvPr/>
        </p:nvSpPr>
        <p:spPr>
          <a:xfrm>
            <a:off x="3360288" y="1367314"/>
            <a:ext cx="5604200" cy="369332"/>
          </a:xfrm>
          <a:prstGeom prst="rect">
            <a:avLst/>
          </a:prstGeom>
          <a:solidFill>
            <a:schemeClr val="bg1"/>
          </a:solidFill>
        </p:spPr>
        <p:txBody>
          <a:bodyPr wrap="square">
            <a:spAutoFit/>
          </a:bodyPr>
          <a:lstStyle/>
          <a:p>
            <a:r>
              <a:rPr lang="zh-CN" altLang="en-US" sz="1800" b="1" dirty="0">
                <a:solidFill>
                  <a:srgbClr val="0070C0"/>
                </a:solidFill>
                <a:latin typeface="微软雅黑" panose="020B0503020204020204" pitchFamily="34" charset="-122"/>
                <a:ea typeface="微软雅黑" panose="020B0503020204020204" pitchFamily="34" charset="-122"/>
              </a:rPr>
              <a:t>为方便调用，</a:t>
            </a:r>
            <a:r>
              <a:rPr lang="en-US" altLang="zh-CN" sz="1800" b="1" dirty="0" err="1">
                <a:solidFill>
                  <a:srgbClr val="0070C0"/>
                </a:solidFill>
                <a:latin typeface="微软雅黑" panose="020B0503020204020204" pitchFamily="34" charset="-122"/>
                <a:ea typeface="微软雅黑" panose="020B0503020204020204" pitchFamily="34" charset="-122"/>
              </a:rPr>
              <a:t>Syslab</a:t>
            </a:r>
            <a:r>
              <a:rPr lang="zh-CN" altLang="en-US" sz="1800" b="1" dirty="0">
                <a:solidFill>
                  <a:srgbClr val="0070C0"/>
                </a:solidFill>
                <a:latin typeface="微软雅黑" panose="020B0503020204020204" pitchFamily="34" charset="-122"/>
                <a:ea typeface="微软雅黑" panose="020B0503020204020204" pitchFamily="34" charset="-122"/>
              </a:rPr>
              <a:t>和</a:t>
            </a:r>
            <a:r>
              <a:rPr lang="en-US" altLang="zh-CN" sz="1800" b="1" dirty="0" err="1">
                <a:solidFill>
                  <a:srgbClr val="0070C0"/>
                </a:solidFill>
                <a:latin typeface="微软雅黑" panose="020B0503020204020204" pitchFamily="34" charset="-122"/>
                <a:ea typeface="微软雅黑" panose="020B0503020204020204" pitchFamily="34" charset="-122"/>
              </a:rPr>
              <a:t>matlab</a:t>
            </a:r>
            <a:r>
              <a:rPr lang="zh-CN" altLang="en-US" sz="1800" b="1" dirty="0">
                <a:solidFill>
                  <a:srgbClr val="0070C0"/>
                </a:solidFill>
                <a:latin typeface="微软雅黑" panose="020B0503020204020204" pitchFamily="34" charset="-122"/>
                <a:ea typeface="微软雅黑" panose="020B0503020204020204" pitchFamily="34" charset="-122"/>
              </a:rPr>
              <a:t>创字符串</a:t>
            </a:r>
            <a:r>
              <a:rPr lang="zh-CN" altLang="en-US" b="1" dirty="0">
                <a:solidFill>
                  <a:srgbClr val="0070C0"/>
                </a:solidFill>
                <a:latin typeface="微软雅黑" panose="020B0503020204020204" pitchFamily="34" charset="-122"/>
                <a:ea typeface="微软雅黑" panose="020B0503020204020204" pitchFamily="34" charset="-122"/>
              </a:rPr>
              <a:t>都</a:t>
            </a:r>
            <a:r>
              <a:rPr lang="zh-CN" altLang="en-US" sz="1800" b="1" dirty="0">
                <a:solidFill>
                  <a:srgbClr val="0070C0"/>
                </a:solidFill>
                <a:latin typeface="微软雅黑" panose="020B0503020204020204" pitchFamily="34" charset="-122"/>
                <a:ea typeface="微软雅黑" panose="020B0503020204020204" pitchFamily="34" charset="-122"/>
              </a:rPr>
              <a:t>用“双引号”</a:t>
            </a:r>
            <a:endParaRPr lang="en-US" altLang="zh-CN" b="1" dirty="0">
              <a:solidFill>
                <a:srgbClr val="0070C0"/>
              </a:solidFill>
              <a:latin typeface="微软雅黑" panose="020B0503020204020204" pitchFamily="34" charset="-122"/>
              <a:ea typeface="微软雅黑" panose="020B0503020204020204" pitchFamily="34" charset="-122"/>
            </a:endParaRPr>
          </a:p>
        </p:txBody>
      </p:sp>
      <p:sp>
        <p:nvSpPr>
          <p:cNvPr id="18" name="波形 17">
            <a:extLst>
              <a:ext uri="{FF2B5EF4-FFF2-40B4-BE49-F238E27FC236}">
                <a16:creationId xmlns:a16="http://schemas.microsoft.com/office/drawing/2014/main" id="{C8D99EDC-D34D-47BB-960A-FF7140797A43}"/>
              </a:ext>
            </a:extLst>
          </p:cNvPr>
          <p:cNvSpPr/>
          <p:nvPr/>
        </p:nvSpPr>
        <p:spPr>
          <a:xfrm>
            <a:off x="393527" y="702965"/>
            <a:ext cx="1094756" cy="48389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例132-7</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04C52489-ECF5-4032-A385-D75B8B8084D4}"/>
              </a:ext>
            </a:extLst>
          </p:cNvPr>
          <p:cNvSpPr txBox="1"/>
          <p:nvPr/>
        </p:nvSpPr>
        <p:spPr>
          <a:xfrm>
            <a:off x="1516616" y="760246"/>
            <a:ext cx="7303856" cy="369332"/>
          </a:xfrm>
          <a:prstGeom prst="rect">
            <a:avLst/>
          </a:prstGeom>
          <a:no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采用单引号‘’和双引号“”方式分别创建字符和字符串</a:t>
            </a:r>
            <a:r>
              <a:rPr lang="en-US" altLang="zh-CN" b="1" dirty="0">
                <a:solidFill>
                  <a:srgbClr val="0070C0"/>
                </a:solidFill>
                <a:latin typeface="微软雅黑" panose="020B0503020204020204" pitchFamily="34" charset="-122"/>
                <a:ea typeface="微软雅黑" panose="020B0503020204020204" pitchFamily="34" charset="-122"/>
              </a:rPr>
              <a:t>,</a:t>
            </a:r>
            <a:r>
              <a:rPr lang="zh-CN" altLang="en-US" b="1" dirty="0">
                <a:solidFill>
                  <a:srgbClr val="0070C0"/>
                </a:solidFill>
                <a:latin typeface="微软雅黑" panose="020B0503020204020204" pitchFamily="34" charset="-122"/>
                <a:ea typeface="微软雅黑" panose="020B0503020204020204" pitchFamily="34" charset="-122"/>
              </a:rPr>
              <a:t>并修改</a:t>
            </a:r>
            <a:endParaRPr lang="en-US" altLang="zh-CN"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64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animBg="1"/>
      <p:bldP spid="12" grpId="0"/>
      <p:bldP spid="16"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1E15B82-513F-10EC-4355-A71681FF2259}"/>
              </a:ext>
            </a:extLst>
          </p:cNvPr>
          <p:cNvSpPr>
            <a:spLocks noGrp="1"/>
          </p:cNvSpPr>
          <p:nvPr>
            <p:ph idx="1"/>
          </p:nvPr>
        </p:nvSpPr>
        <p:spPr>
          <a:xfrm>
            <a:off x="248072" y="1072441"/>
            <a:ext cx="8820472" cy="3501792"/>
          </a:xfrm>
          <a:noFill/>
        </p:spPr>
        <p:txBody>
          <a:bodyPr/>
          <a:lstStyle/>
          <a:p>
            <a:pPr marL="0" indent="0" algn="dist">
              <a:buNone/>
            </a:pPr>
            <a:r>
              <a:rPr lang="zh-CN" altLang="en-US" sz="2400" b="0" i="0" dirty="0">
                <a:solidFill>
                  <a:srgbClr val="2C3E50"/>
                </a:solidFill>
                <a:effectLst/>
                <a:latin typeface="-apple-system"/>
              </a:rPr>
              <a:t>              </a:t>
            </a:r>
            <a:r>
              <a:rPr lang="zh-CN" altLang="en-US" sz="2000" dirty="0">
                <a:solidFill>
                  <a:srgbClr val="0070C0"/>
                </a:solidFill>
                <a:latin typeface="微软雅黑" panose="020B0503020204020204" pitchFamily="34" charset="-122"/>
                <a:ea typeface="微软雅黑" panose="020B0503020204020204" pitchFamily="34" charset="-122"/>
              </a:rPr>
              <a:t>创建含有</a:t>
            </a:r>
            <a:r>
              <a:rPr lang="en-US" altLang="zh-CN" sz="2000" dirty="0">
                <a:solidFill>
                  <a:srgbClr val="0070C0"/>
                </a:solidFill>
                <a:latin typeface="微软雅黑" panose="020B0503020204020204" pitchFamily="34" charset="-122"/>
                <a:ea typeface="微软雅黑" panose="020B0503020204020204" pitchFamily="34" charset="-122"/>
              </a:rPr>
              <a:t>a</a:t>
            </a:r>
            <a:r>
              <a:rPr lang="zh-CN" altLang="en-US" sz="2000" dirty="0">
                <a:solidFill>
                  <a:srgbClr val="0070C0"/>
                </a:solidFill>
                <a:latin typeface="微软雅黑" panose="020B0503020204020204" pitchFamily="34" charset="-122"/>
                <a:ea typeface="微软雅黑" panose="020B0503020204020204" pitchFamily="34" charset="-122"/>
              </a:rPr>
              <a:t>的变量名，并列</a:t>
            </a:r>
            <a:r>
              <a:rPr lang="zh-CN" altLang="en-US" sz="2000" i="0" dirty="0">
                <a:solidFill>
                  <a:srgbClr val="0070C0"/>
                </a:solidFill>
                <a:effectLst/>
                <a:latin typeface="微软雅黑" panose="020B0503020204020204" pitchFamily="34" charset="-122"/>
                <a:ea typeface="微软雅黑" panose="020B0503020204020204" pitchFamily="34" charset="-122"/>
              </a:rPr>
              <a:t>出当前工作区以字母</a:t>
            </a:r>
            <a:r>
              <a:rPr lang="en-US" altLang="zh-CN" sz="2000" i="0" dirty="0">
                <a:solidFill>
                  <a:srgbClr val="0070C0"/>
                </a:solidFill>
                <a:effectLst/>
                <a:latin typeface="微软雅黑" panose="020B0503020204020204" pitchFamily="34" charset="-122"/>
                <a:ea typeface="微软雅黑" panose="020B0503020204020204" pitchFamily="34" charset="-122"/>
              </a:rPr>
              <a:t>a</a:t>
            </a:r>
            <a:r>
              <a:rPr lang="zh-CN" altLang="en-US" sz="2000" i="0" dirty="0">
                <a:solidFill>
                  <a:srgbClr val="0070C0"/>
                </a:solidFill>
                <a:effectLst/>
                <a:latin typeface="微软雅黑" panose="020B0503020204020204" pitchFamily="34" charset="-122"/>
                <a:ea typeface="微软雅黑" panose="020B0503020204020204" pitchFamily="34" charset="-122"/>
              </a:rPr>
              <a:t>开头的变量的名称</a:t>
            </a:r>
            <a:endParaRPr lang="en-US" altLang="zh-CN" sz="2000" i="0" dirty="0">
              <a:solidFill>
                <a:srgbClr val="0070C0"/>
              </a:solidFill>
              <a:effectLst/>
              <a:latin typeface="微软雅黑" panose="020B0503020204020204" pitchFamily="34" charset="-122"/>
              <a:ea typeface="微软雅黑" panose="020B0503020204020204" pitchFamily="34" charset="-122"/>
            </a:endParaRPr>
          </a:p>
          <a:p>
            <a:pPr marL="0" indent="0">
              <a:lnSpc>
                <a:spcPts val="2600"/>
              </a:lnSpc>
              <a:buNone/>
            </a:pPr>
            <a:r>
              <a:rPr lang="pt-BR" altLang="zh-CN" sz="2400" dirty="0"/>
              <a:t>a = 1</a:t>
            </a:r>
          </a:p>
          <a:p>
            <a:pPr marL="0" indent="0">
              <a:lnSpc>
                <a:spcPts val="2600"/>
              </a:lnSpc>
              <a:buNone/>
            </a:pPr>
            <a:r>
              <a:rPr lang="pt-BR" altLang="zh-CN" sz="2400" dirty="0"/>
              <a:t>ab = 2</a:t>
            </a:r>
          </a:p>
          <a:p>
            <a:pPr marL="0" indent="0">
              <a:lnSpc>
                <a:spcPts val="2600"/>
              </a:lnSpc>
              <a:buNone/>
            </a:pPr>
            <a:r>
              <a:rPr lang="pt-BR" altLang="zh-CN" sz="2400" dirty="0"/>
              <a:t>lion = 3</a:t>
            </a:r>
          </a:p>
          <a:p>
            <a:pPr marL="0" indent="0">
              <a:lnSpc>
                <a:spcPts val="2600"/>
              </a:lnSpc>
              <a:buNone/>
            </a:pPr>
            <a:r>
              <a:rPr lang="pt-BR" altLang="zh-CN" sz="2400" dirty="0"/>
              <a:t>lions = 4</a:t>
            </a:r>
          </a:p>
          <a:p>
            <a:pPr marL="0" indent="0">
              <a:lnSpc>
                <a:spcPts val="2600"/>
              </a:lnSpc>
              <a:buNone/>
            </a:pPr>
            <a:r>
              <a:rPr lang="pt-BR" altLang="zh-CN" sz="2400" dirty="0"/>
              <a:t>varinfo(r"^a")</a:t>
            </a:r>
          </a:p>
          <a:p>
            <a:pPr marL="0" indent="0">
              <a:lnSpc>
                <a:spcPts val="2600"/>
              </a:lnSpc>
              <a:buNone/>
            </a:pPr>
            <a:r>
              <a:rPr lang="en-US" altLang="zh-CN" sz="2400" dirty="0">
                <a:solidFill>
                  <a:srgbClr val="00B0F0"/>
                </a:solidFill>
              </a:rPr>
              <a:t>#</a:t>
            </a:r>
            <a:r>
              <a:rPr lang="zh-CN" altLang="en-US" sz="2400" dirty="0">
                <a:solidFill>
                  <a:srgbClr val="00B0F0"/>
                </a:solidFill>
              </a:rPr>
              <a:t>结果</a:t>
            </a:r>
            <a:r>
              <a:rPr lang="en-US" altLang="zh-CN" sz="2400" dirty="0">
                <a:solidFill>
                  <a:srgbClr val="00B0F0"/>
                </a:solidFill>
              </a:rPr>
              <a:t>name    size     summary</a:t>
            </a:r>
          </a:p>
          <a:p>
            <a:pPr marL="0" indent="0">
              <a:lnSpc>
                <a:spcPts val="2600"/>
              </a:lnSpc>
              <a:buNone/>
            </a:pPr>
            <a:r>
              <a:rPr lang="en-US" altLang="zh-CN" sz="2400" dirty="0">
                <a:solidFill>
                  <a:srgbClr val="00B0F0"/>
                </a:solidFill>
              </a:rPr>
              <a:t>    a       8 bytes  Int64</a:t>
            </a:r>
          </a:p>
          <a:p>
            <a:pPr marL="0" indent="0">
              <a:lnSpc>
                <a:spcPts val="2600"/>
              </a:lnSpc>
              <a:buNone/>
            </a:pPr>
            <a:r>
              <a:rPr lang="en-US" altLang="zh-CN" sz="2400" dirty="0">
                <a:solidFill>
                  <a:srgbClr val="00B0F0"/>
                </a:solidFill>
              </a:rPr>
              <a:t>  ab       8 bytes  Int64</a:t>
            </a:r>
          </a:p>
          <a:p>
            <a:pPr marL="0" indent="0">
              <a:lnSpc>
                <a:spcPts val="2600"/>
              </a:lnSpc>
              <a:buNone/>
            </a:pPr>
            <a:r>
              <a:rPr lang="en-US" altLang="zh-CN" sz="2400" dirty="0">
                <a:solidFill>
                  <a:srgbClr val="00B0F0"/>
                </a:solidFill>
              </a:rPr>
              <a:t>  </a:t>
            </a:r>
            <a:r>
              <a:rPr lang="en-US" altLang="zh-CN" sz="2400" dirty="0" err="1">
                <a:solidFill>
                  <a:srgbClr val="00B0F0"/>
                </a:solidFill>
              </a:rPr>
              <a:t>ans</a:t>
            </a:r>
            <a:r>
              <a:rPr lang="en-US" altLang="zh-CN" sz="2400" dirty="0">
                <a:solidFill>
                  <a:srgbClr val="00B0F0"/>
                </a:solidFill>
              </a:rPr>
              <a:t>     8 bytes  Int64</a:t>
            </a:r>
            <a:endParaRPr lang="zh-CN" altLang="en-US" sz="2400" dirty="0">
              <a:solidFill>
                <a:srgbClr val="00B0F0"/>
              </a:solidFill>
            </a:endParaRPr>
          </a:p>
        </p:txBody>
      </p:sp>
      <p:sp>
        <p:nvSpPr>
          <p:cNvPr id="6" name="内容占位符 2">
            <a:extLst>
              <a:ext uri="{FF2B5EF4-FFF2-40B4-BE49-F238E27FC236}">
                <a16:creationId xmlns:a16="http://schemas.microsoft.com/office/drawing/2014/main" id="{6DD66BBF-CFCE-2A78-159F-5A738CB79BD4}"/>
              </a:ext>
            </a:extLst>
          </p:cNvPr>
          <p:cNvSpPr txBox="1">
            <a:spLocks/>
          </p:cNvSpPr>
          <p:nvPr/>
        </p:nvSpPr>
        <p:spPr bwMode="auto">
          <a:xfrm>
            <a:off x="3877126" y="1590091"/>
            <a:ext cx="5159370" cy="1433341"/>
          </a:xfrm>
          <a:prstGeom prst="rect">
            <a:avLst/>
          </a:prstGeom>
          <a:solidFill>
            <a:schemeClr val="bg1"/>
          </a:solid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Font typeface="Wingdings" panose="05000000000000000000" pitchFamily="2" charset="2"/>
              <a:buNone/>
            </a:pPr>
            <a:r>
              <a:rPr lang="zh-CN" altLang="en-US" sz="2000" b="1" kern="0" dirty="0">
                <a:solidFill>
                  <a:srgbClr val="0070C0"/>
                </a:solidFill>
                <a:latin typeface="微软雅黑" panose="020B0503020204020204" pitchFamily="34" charset="-122"/>
                <a:ea typeface="微软雅黑" panose="020B0503020204020204" pitchFamily="34" charset="-122"/>
              </a:rPr>
              <a:t>显示当前工作区中以 </a:t>
            </a:r>
            <a:r>
              <a:rPr lang="en-US" altLang="zh-CN" sz="2000" b="1" kern="0" dirty="0">
                <a:solidFill>
                  <a:srgbClr val="0070C0"/>
                </a:solidFill>
                <a:latin typeface="微软雅黑" panose="020B0503020204020204" pitchFamily="34" charset="-122"/>
                <a:ea typeface="微软雅黑" panose="020B0503020204020204" pitchFamily="34" charset="-122"/>
              </a:rPr>
              <a:t>ion </a:t>
            </a:r>
            <a:r>
              <a:rPr lang="zh-CN" altLang="en-US" sz="2000" b="1" kern="0" dirty="0">
                <a:solidFill>
                  <a:srgbClr val="0070C0"/>
                </a:solidFill>
                <a:latin typeface="微软雅黑" panose="020B0503020204020204" pitchFamily="34" charset="-122"/>
                <a:ea typeface="微软雅黑" panose="020B0503020204020204" pitchFamily="34" charset="-122"/>
              </a:rPr>
              <a:t>结尾的变量的名称 </a:t>
            </a:r>
          </a:p>
          <a:p>
            <a:pPr marL="0" indent="0">
              <a:buFont typeface="Wingdings" panose="05000000000000000000" pitchFamily="2" charset="2"/>
              <a:buNone/>
            </a:pPr>
            <a:r>
              <a:rPr lang="en-US" altLang="zh-CN" sz="2000" kern="0" dirty="0" err="1"/>
              <a:t>varinfo</a:t>
            </a:r>
            <a:r>
              <a:rPr lang="en-US" altLang="zh-CN" sz="2000" kern="0" dirty="0"/>
              <a:t>(</a:t>
            </a:r>
            <a:r>
              <a:rPr lang="en-US" altLang="zh-CN" sz="2000" kern="0" dirty="0" err="1"/>
              <a:t>r"ion</a:t>
            </a:r>
            <a:r>
              <a:rPr lang="en-US" altLang="zh-CN" sz="2000" kern="0" dirty="0"/>
              <a:t>$")</a:t>
            </a:r>
          </a:p>
          <a:p>
            <a:pPr marL="0" indent="0">
              <a:buFont typeface="Wingdings" panose="05000000000000000000" pitchFamily="2" charset="2"/>
              <a:buNone/>
            </a:pPr>
            <a:r>
              <a:rPr lang="en-US" altLang="zh-CN" sz="2000" kern="0" dirty="0"/>
              <a:t>name    size summary   </a:t>
            </a:r>
          </a:p>
          <a:p>
            <a:pPr marL="0" indent="0">
              <a:buFont typeface="Wingdings" panose="05000000000000000000" pitchFamily="2" charset="2"/>
              <a:buNone/>
            </a:pPr>
            <a:r>
              <a:rPr lang="en-US" altLang="zh-CN" sz="2000" kern="0" dirty="0"/>
              <a:t>lion 8 bytes Int64 </a:t>
            </a:r>
            <a:endParaRPr lang="zh-CN" altLang="en-US" sz="2000" kern="0" dirty="0"/>
          </a:p>
        </p:txBody>
      </p:sp>
      <p:sp>
        <p:nvSpPr>
          <p:cNvPr id="4" name="内容占位符 2">
            <a:extLst>
              <a:ext uri="{FF2B5EF4-FFF2-40B4-BE49-F238E27FC236}">
                <a16:creationId xmlns:a16="http://schemas.microsoft.com/office/drawing/2014/main" id="{01AB999C-6038-937C-8837-5E64120BA873}"/>
              </a:ext>
            </a:extLst>
          </p:cNvPr>
          <p:cNvSpPr txBox="1">
            <a:spLocks/>
          </p:cNvSpPr>
          <p:nvPr/>
        </p:nvSpPr>
        <p:spPr bwMode="auto">
          <a:xfrm>
            <a:off x="277878" y="686234"/>
            <a:ext cx="8686609" cy="40729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zh-CN" altLang="en-US" sz="2000" b="1" kern="1200" dirty="0">
                <a:solidFill>
                  <a:srgbClr val="0070C0"/>
                </a:solidFill>
                <a:latin typeface="微软雅黑" panose="020B0503020204020204" pitchFamily="34" charset="-122"/>
                <a:ea typeface="微软雅黑" panose="020B0503020204020204" pitchFamily="34" charset="-122"/>
              </a:rPr>
              <a:t>采用</a:t>
            </a:r>
            <a:r>
              <a:rPr lang="en-US" altLang="zh-CN" sz="2000" b="1" kern="1200" dirty="0" err="1">
                <a:solidFill>
                  <a:srgbClr val="0070C0"/>
                </a:solidFill>
                <a:latin typeface="微软雅黑" panose="020B0503020204020204" pitchFamily="34" charset="-122"/>
                <a:ea typeface="微软雅黑" panose="020B0503020204020204" pitchFamily="34" charset="-122"/>
              </a:rPr>
              <a:t>varinfo</a:t>
            </a:r>
            <a:r>
              <a:rPr lang="zh-CN" altLang="en-US" sz="2000" b="1" kern="1200" dirty="0">
                <a:solidFill>
                  <a:srgbClr val="0070C0"/>
                </a:solidFill>
                <a:latin typeface="微软雅黑" panose="020B0503020204020204" pitchFamily="34" charset="-122"/>
                <a:ea typeface="微软雅黑" panose="020B0503020204020204" pitchFamily="34" charset="-122"/>
              </a:rPr>
              <a:t>指令来显示变量的名称、大小、结构和数据类型等信息</a:t>
            </a:r>
          </a:p>
        </p:txBody>
      </p:sp>
      <p:sp>
        <p:nvSpPr>
          <p:cNvPr id="7" name="标题 1">
            <a:extLst>
              <a:ext uri="{FF2B5EF4-FFF2-40B4-BE49-F238E27FC236}">
                <a16:creationId xmlns:a16="http://schemas.microsoft.com/office/drawing/2014/main" id="{BCF9284E-5209-43E0-B202-1745B9335AB3}"/>
              </a:ext>
            </a:extLst>
          </p:cNvPr>
          <p:cNvSpPr txBox="1">
            <a:spLocks noGrp="1"/>
          </p:cNvSpPr>
          <p:nvPr>
            <p:ph type="title"/>
          </p:nvPr>
        </p:nvSpPr>
        <p:spPr bwMode="auto">
          <a:xfrm>
            <a:off x="1331640" y="80205"/>
            <a:ext cx="7704856" cy="49888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dist"/>
            <a:r>
              <a:rPr lang="zh-CN" altLang="en-US" sz="3200" b="1" kern="0" dirty="0">
                <a:latin typeface="Helvetica Neue"/>
              </a:rPr>
              <a:t> </a:t>
            </a:r>
            <a:br>
              <a:rPr lang="en-US" altLang="zh-CN" sz="3200" b="1" kern="0" dirty="0">
                <a:latin typeface="Helvetica Neue"/>
              </a:rPr>
            </a:br>
            <a:br>
              <a:rPr lang="en-US" altLang="zh-CN" sz="3200" b="1" kern="0" dirty="0">
                <a:latin typeface="Helvetica Neue"/>
              </a:rPr>
            </a:br>
            <a:r>
              <a:rPr lang="en-US" altLang="zh-CN" sz="3200" b="1" dirty="0">
                <a:latin typeface="Helvetica Neue"/>
              </a:rPr>
              <a:t>§</a:t>
            </a:r>
            <a:r>
              <a:rPr lang="en-US" altLang="zh-CN" sz="2800" kern="0" dirty="0"/>
              <a:t>1.3.4 </a:t>
            </a:r>
            <a:r>
              <a:rPr lang="zh-CN" altLang="en-US" sz="2800" kern="0" dirty="0"/>
              <a:t>变量数据</a:t>
            </a:r>
            <a:r>
              <a:rPr lang="en-US" altLang="zh-CN" sz="3600" kern="0" dirty="0">
                <a:solidFill>
                  <a:srgbClr val="FF0000"/>
                </a:solidFill>
              </a:rPr>
              <a:t>—</a:t>
            </a:r>
            <a:r>
              <a:rPr lang="en-US" altLang="zh-CN" sz="2800" b="1" kern="1200" dirty="0" err="1">
                <a:solidFill>
                  <a:srgbClr val="D57747"/>
                </a:solidFill>
                <a:latin typeface="Arial" panose="020B0604020202020204" pitchFamily="34" charset="0"/>
                <a:cs typeface="+mn-cs"/>
              </a:rPr>
              <a:t>varinfo</a:t>
            </a:r>
            <a:r>
              <a:rPr lang="zh-CN" altLang="en-US" sz="2800" dirty="0">
                <a:solidFill>
                  <a:srgbClr val="C00000"/>
                </a:solidFill>
                <a:latin typeface="-apple-system"/>
              </a:rPr>
              <a:t>显示</a:t>
            </a:r>
            <a:r>
              <a:rPr lang="zh-CN" altLang="en-US" sz="2800" b="0" i="0" dirty="0">
                <a:solidFill>
                  <a:srgbClr val="C00000"/>
                </a:solidFill>
                <a:effectLst/>
                <a:latin typeface="-apple-system"/>
              </a:rPr>
              <a:t>变量信息</a:t>
            </a:r>
            <a:endParaRPr lang="zh-CN" altLang="en-US" sz="2800" kern="0" dirty="0">
              <a:solidFill>
                <a:srgbClr val="FF0000"/>
              </a:solidFill>
            </a:endParaRPr>
          </a:p>
        </p:txBody>
      </p:sp>
      <p:sp>
        <p:nvSpPr>
          <p:cNvPr id="8" name="文本框 7">
            <a:extLst>
              <a:ext uri="{FF2B5EF4-FFF2-40B4-BE49-F238E27FC236}">
                <a16:creationId xmlns:a16="http://schemas.microsoft.com/office/drawing/2014/main" id="{2AE375E6-6D1C-43FE-9F8F-DD9A93FFF8C1}"/>
              </a:ext>
            </a:extLst>
          </p:cNvPr>
          <p:cNvSpPr txBox="1"/>
          <p:nvPr/>
        </p:nvSpPr>
        <p:spPr>
          <a:xfrm>
            <a:off x="5436096" y="3316733"/>
            <a:ext cx="3312368" cy="40011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a:defRPr sz="2000" b="1">
                <a:solidFill>
                  <a:schemeClr val="bg1"/>
                </a:solidFill>
                <a:latin typeface="Times New Roman" panose="02020603050405020304" pitchFamily="18" charset="0"/>
                <a:ea typeface="+mn-ea"/>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pt-BR" altLang="zh-CN" dirty="0"/>
              <a:t>varinfo( )</a:t>
            </a:r>
            <a:r>
              <a:rPr lang="zh-CN" altLang="en-US" dirty="0"/>
              <a:t>显示全部变量信息</a:t>
            </a:r>
            <a:endParaRPr lang="pt-BR" altLang="zh-CN" dirty="0"/>
          </a:p>
        </p:txBody>
      </p:sp>
      <p:sp>
        <p:nvSpPr>
          <p:cNvPr id="9" name="AutoShape 13">
            <a:extLst>
              <a:ext uri="{FF2B5EF4-FFF2-40B4-BE49-F238E27FC236}">
                <a16:creationId xmlns:a16="http://schemas.microsoft.com/office/drawing/2014/main" id="{621163F2-0B69-491B-ABD9-D26DF955D2AF}"/>
              </a:ext>
            </a:extLst>
          </p:cNvPr>
          <p:cNvSpPr>
            <a:spLocks noChangeArrowheads="1"/>
          </p:cNvSpPr>
          <p:nvPr/>
        </p:nvSpPr>
        <p:spPr bwMode="auto">
          <a:xfrm>
            <a:off x="5364088" y="3886951"/>
            <a:ext cx="3888432" cy="484228"/>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en-US" altLang="zh-CN" sz="1600" b="1" dirty="0">
                <a:solidFill>
                  <a:srgbClr val="FFFF00"/>
                </a:solidFill>
                <a:latin typeface="华文楷体" panose="02010600040101010101" pitchFamily="2" charset="-122"/>
                <a:ea typeface="华文楷体" panose="02010600040101010101" pitchFamily="2" charset="-122"/>
              </a:rPr>
              <a:t>MATLAB</a:t>
            </a:r>
            <a:r>
              <a:rPr lang="zh-CN" altLang="en-US" sz="1600" b="1" dirty="0">
                <a:solidFill>
                  <a:srgbClr val="FFFF00"/>
                </a:solidFill>
                <a:latin typeface="华文楷体" panose="02010600040101010101" pitchFamily="2" charset="-122"/>
                <a:ea typeface="华文楷体" panose="02010600040101010101" pitchFamily="2" charset="-122"/>
              </a:rPr>
              <a:t>用</a:t>
            </a:r>
            <a:r>
              <a:rPr lang="en-US" altLang="zh-CN" sz="1600" b="1" dirty="0" err="1">
                <a:solidFill>
                  <a:srgbClr val="FFFF00"/>
                </a:solidFill>
                <a:latin typeface="华文楷体" panose="02010600040101010101" pitchFamily="2" charset="-122"/>
                <a:ea typeface="华文楷体" panose="02010600040101010101" pitchFamily="2" charset="-122"/>
              </a:rPr>
              <a:t>whos</a:t>
            </a:r>
            <a:endParaRPr lang="zh-CN" altLang="en-US" sz="1600" b="1" kern="0" dirty="0">
              <a:solidFill>
                <a:srgbClr val="FFFF00"/>
              </a:solidFill>
              <a:ea typeface="黑体" panose="02010609060101010101" pitchFamily="49" charset="-122"/>
            </a:endParaRPr>
          </a:p>
        </p:txBody>
      </p:sp>
      <p:sp>
        <p:nvSpPr>
          <p:cNvPr id="10" name="波形 9">
            <a:extLst>
              <a:ext uri="{FF2B5EF4-FFF2-40B4-BE49-F238E27FC236}">
                <a16:creationId xmlns:a16="http://schemas.microsoft.com/office/drawing/2014/main" id="{B717924C-F111-4766-A640-EF631BD06C86}"/>
              </a:ext>
            </a:extLst>
          </p:cNvPr>
          <p:cNvSpPr/>
          <p:nvPr/>
        </p:nvSpPr>
        <p:spPr>
          <a:xfrm>
            <a:off x="277878" y="1072441"/>
            <a:ext cx="949620" cy="40729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例132-8</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448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theme/theme1.xml><?xml version="1.0" encoding="utf-8"?>
<a:theme xmlns:a="http://schemas.openxmlformats.org/drawingml/2006/main" name="主题1">
  <a:themeElements>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rpa">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p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p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p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p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p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p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12910</TotalTime>
  <Pages>154</Pages>
  <Words>5174</Words>
  <Characters>0</Characters>
  <Application>Microsoft Office PowerPoint</Application>
  <DocSecurity>0</DocSecurity>
  <PresentationFormat>全屏显示(16:9)</PresentationFormat>
  <Lines>0</Lines>
  <Paragraphs>513</Paragraphs>
  <Slides>27</Slides>
  <Notes>20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27</vt:i4>
      </vt:variant>
    </vt:vector>
  </HeadingPairs>
  <TitlesOfParts>
    <vt:vector size="51" baseType="lpstr">
      <vt:lpstr>-apple-system</vt:lpstr>
      <vt:lpstr>Arial Unicode MS</vt:lpstr>
      <vt:lpstr>Helvetica Neue</vt:lpstr>
      <vt:lpstr>Inter</vt:lpstr>
      <vt:lpstr>Menlo</vt:lpstr>
      <vt:lpstr>SFMono-Regular</vt:lpstr>
      <vt:lpstr>等线</vt:lpstr>
      <vt:lpstr>等线 Light</vt:lpstr>
      <vt:lpstr>黑体</vt:lpstr>
      <vt:lpstr>华文楷体</vt:lpstr>
      <vt:lpstr>隶书</vt:lpstr>
      <vt:lpstr>宋体</vt:lpstr>
      <vt:lpstr>微软雅黑</vt:lpstr>
      <vt:lpstr>微软雅黑</vt:lpstr>
      <vt:lpstr>微软雅黑 Light</vt:lpstr>
      <vt:lpstr>Arial</vt:lpstr>
      <vt:lpstr>Calibri</vt:lpstr>
      <vt:lpstr>Cambria Math</vt:lpstr>
      <vt:lpstr>Consolas</vt:lpstr>
      <vt:lpstr>Helvetica</vt:lpstr>
      <vt:lpstr>Symbol</vt:lpstr>
      <vt:lpstr>Times New Roman</vt:lpstr>
      <vt:lpstr>Wingdings</vt:lpstr>
      <vt:lpstr>主题1</vt:lpstr>
      <vt:lpstr>第一章  Julia的基础语法</vt:lpstr>
      <vt:lpstr>§ 1.3 变量和变量类型</vt:lpstr>
      <vt:lpstr>§1.3.1.1  变量——1.变量命名规范</vt:lpstr>
      <vt:lpstr>§1.3.1.1  变量——1.变量命名规范</vt:lpstr>
      <vt:lpstr>§1.3.1.1  变量——2.变量赋值</vt:lpstr>
      <vt:lpstr>变量赋值特点的示例，在命令窗口julia REPL操作</vt:lpstr>
      <vt:lpstr>变量赋值特点的示例，在命令窗口julia REPL操作</vt:lpstr>
      <vt:lpstr>PowerPoint 演示文稿</vt:lpstr>
      <vt:lpstr>  </vt:lpstr>
      <vt:lpstr>§1.3.1.2 关键字——Julia的关键字</vt:lpstr>
      <vt:lpstr>PowerPoint 演示文稿</vt:lpstr>
      <vt:lpstr>PowerPoint 演示文稿</vt:lpstr>
      <vt:lpstr>  §1.3.2 数值类型——整数、浮点数、复数和有理数 </vt:lpstr>
      <vt:lpstr>PowerPoint 演示文稿</vt:lpstr>
      <vt:lpstr>§1.3.2.2. 浮点数 ——1. 浮点创建和转化</vt:lpstr>
      <vt:lpstr>PowerPoint 演示文稿</vt:lpstr>
      <vt:lpstr>PowerPoint 演示文稿</vt:lpstr>
      <vt:lpstr>PowerPoint 演示文稿</vt:lpstr>
      <vt:lpstr>PowerPoint 演示文稿</vt:lpstr>
      <vt:lpstr>PowerPoint 演示文稿</vt:lpstr>
      <vt:lpstr>   §1.3.2.3 复数—1.创建方式和处理复数的函数</vt:lpstr>
      <vt:lpstr>   §1.3.2.3 复数—2. 创建复数示例</vt:lpstr>
      <vt:lpstr>PowerPoint 演示文稿</vt:lpstr>
      <vt:lpstr>   §1.3.2.4 有理数—2.创建有理数示例</vt:lpstr>
      <vt:lpstr>§1.3.3字符与字符串——1. 字符及字符串的定义</vt:lpstr>
      <vt:lpstr>§1.3.3字符串——2.  字符与字符串示例  </vt:lpstr>
      <vt:lpstr>   §1.3.4 变量数据—varinfo显示变量信息</vt:lpstr>
    </vt:vector>
  </TitlesOfParts>
  <Company>微软中国</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 aibin</cp:lastModifiedBy>
  <cp:revision>871</cp:revision>
  <dcterms:modified xsi:type="dcterms:W3CDTF">2025-03-06T08:31:06Z</dcterms:modified>
</cp:coreProperties>
</file>