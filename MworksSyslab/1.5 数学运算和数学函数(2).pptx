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23"/>
  </p:notesMasterIdLst>
  <p:sldIdLst>
    <p:sldId id="1288" r:id="rId2"/>
    <p:sldId id="1216" r:id="rId3"/>
    <p:sldId id="1289" r:id="rId4"/>
    <p:sldId id="1330" r:id="rId5"/>
    <p:sldId id="1313" r:id="rId6"/>
    <p:sldId id="1291" r:id="rId7"/>
    <p:sldId id="1292" r:id="rId8"/>
    <p:sldId id="1324" r:id="rId9"/>
    <p:sldId id="1293" r:id="rId10"/>
    <p:sldId id="1304" r:id="rId11"/>
    <p:sldId id="1332" r:id="rId12"/>
    <p:sldId id="1296" r:id="rId13"/>
    <p:sldId id="1335" r:id="rId14"/>
    <p:sldId id="1336" r:id="rId15"/>
    <p:sldId id="1297" r:id="rId16"/>
    <p:sldId id="1305" r:id="rId17"/>
    <p:sldId id="1306" r:id="rId18"/>
    <p:sldId id="2115" r:id="rId19"/>
    <p:sldId id="2117" r:id="rId20"/>
    <p:sldId id="2116" r:id="rId21"/>
    <p:sldId id="1308" r:id="rId2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aibin" initials="la" lastIdx="1" clrIdx="0">
    <p:extLst>
      <p:ext uri="{19B8F6BF-5375-455C-9EA6-DF929625EA0E}">
        <p15:presenceInfo xmlns:p15="http://schemas.microsoft.com/office/powerpoint/2012/main" userId="90c17591930e933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3B76"/>
    <a:srgbClr val="6D629C"/>
    <a:srgbClr val="66CCFF"/>
    <a:srgbClr val="F0DA04"/>
    <a:srgbClr val="3366FF"/>
    <a:srgbClr val="33CCFF"/>
    <a:srgbClr val="736303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3673" autoAdjust="0"/>
  </p:normalViewPr>
  <p:slideViewPr>
    <p:cSldViewPr snapToObjects="1">
      <p:cViewPr varScale="1">
        <p:scale>
          <a:sx n="81" d="100"/>
          <a:sy n="81" d="100"/>
        </p:scale>
        <p:origin x="756" y="72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计算 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1+2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，规定结果为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Int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，正确输出结果为 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en-US" altLang="zh-CN" b="0" i="0" dirty="0">
                <a:solidFill>
                  <a:srgbClr val="CCCCCC"/>
                </a:solidFill>
                <a:effectLst/>
                <a:latin typeface="-apple-system"/>
              </a:rPr>
              <a:t>(</a:t>
            </a:r>
            <a:r>
              <a:rPr lang="en-US" altLang="zh-CN" b="0" i="0" dirty="0">
                <a:solidFill>
                  <a:srgbClr val="F08D49"/>
                </a:solidFill>
                <a:effectLst/>
                <a:latin typeface="-apple-system"/>
              </a:rPr>
              <a:t>1</a:t>
            </a:r>
            <a:r>
              <a:rPr lang="en-US" altLang="zh-CN" b="0" i="0" dirty="0">
                <a:solidFill>
                  <a:srgbClr val="67CDCC"/>
                </a:solidFill>
                <a:effectLst/>
                <a:latin typeface="-apple-system"/>
              </a:rPr>
              <a:t>+</a:t>
            </a:r>
            <a:r>
              <a:rPr lang="en-US" altLang="zh-CN" b="0" i="0" dirty="0">
                <a:solidFill>
                  <a:srgbClr val="F08D49"/>
                </a:solidFill>
                <a:effectLst/>
                <a:latin typeface="-apple-system"/>
              </a:rPr>
              <a:t>2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-apple-system"/>
              </a:rPr>
              <a:t>)::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Int Copied! </a:t>
            </a:r>
          </a:p>
          <a:p>
            <a:pPr algn="l"/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3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49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119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数值字面量与变量连写的方法，使得数学公式写起来更简洁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662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1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关键区别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&amp;&amp;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和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||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只能用于标量，且通过短路机制提升安全性和效率。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&amp;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和 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| 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适用于数组，逐元素计算所有条件。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680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 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运算符比较标量 ，用 </a:t>
            </a:r>
            <a:r>
              <a:rPr lang="en-US" altLang="zh-CN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比较数组中每个元素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596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4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701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highlight>
                  <a:srgbClr val="FFFF00"/>
                </a:highlight>
                <a:ea typeface="Arial" charset="0"/>
              </a:rPr>
              <a:t>每循环一次标量运算就重新分配内存空间一次</a:t>
            </a:r>
            <a:endParaRPr lang="zh-CN" altLang="en-US" sz="1200" dirty="0">
              <a:solidFill>
                <a:srgbClr val="FF0000"/>
              </a:solidFill>
              <a:highlight>
                <a:srgbClr val="FFFF00"/>
              </a:highlight>
              <a:latin typeface="Times New Roman" pitchFamily="18" charset="0"/>
              <a:ea typeface="黑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200" kern="0" dirty="0"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200" kern="0" dirty="0"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200" kern="0" dirty="0">
                <a:latin typeface="Helvetica Neue"/>
              </a:rPr>
              <a:t>Julia </a:t>
            </a:r>
            <a:r>
              <a:rPr lang="zh-CN" altLang="en-US" sz="1200" kern="0" dirty="0">
                <a:latin typeface="Helvetica Neue"/>
              </a:rPr>
              <a:t>中，每个二元运算符都有一个 </a:t>
            </a:r>
            <a:r>
              <a:rPr lang="en-US" altLang="zh-CN" sz="1200" kern="0" dirty="0">
                <a:latin typeface="Helvetica Neue"/>
              </a:rPr>
              <a:t>"</a:t>
            </a:r>
            <a:r>
              <a:rPr lang="zh-CN" altLang="en-US" sz="1200" kern="0" dirty="0">
                <a:latin typeface="Helvetica Neue"/>
              </a:rPr>
              <a:t>点</a:t>
            </a:r>
            <a:r>
              <a:rPr lang="en-US" altLang="zh-CN" sz="1200" kern="0" dirty="0">
                <a:latin typeface="Helvetica Neue"/>
              </a:rPr>
              <a:t>" </a:t>
            </a:r>
            <a:r>
              <a:rPr lang="zh-CN" altLang="en-US" sz="1200" kern="0" dirty="0">
                <a:latin typeface="Helvetica Neue"/>
              </a:rPr>
              <a:t>运算符与之对应，例如 </a:t>
            </a:r>
            <a:r>
              <a:rPr lang="en-US" altLang="zh-CN" sz="1200" b="1" kern="0" dirty="0">
                <a:latin typeface="SFMono-Regular"/>
              </a:rPr>
              <a:t>^</a:t>
            </a:r>
            <a:r>
              <a:rPr lang="zh-CN" altLang="en-US" sz="1200" kern="0" dirty="0">
                <a:latin typeface="Helvetica Neue"/>
              </a:rPr>
              <a:t> 就有对应的 </a:t>
            </a:r>
            <a:r>
              <a:rPr lang="en-US" altLang="zh-CN" sz="1200" b="1" kern="0" dirty="0">
                <a:latin typeface="SFMono-Regular"/>
              </a:rPr>
              <a:t>.^</a:t>
            </a:r>
            <a:r>
              <a:rPr lang="zh-CN" altLang="en-US" sz="1200" kern="0" dirty="0">
                <a:latin typeface="Helvetica Neue"/>
              </a:rPr>
              <a:t> 存在。  </a:t>
            </a:r>
            <a:r>
              <a:rPr lang="en-US" altLang="zh-CN" sz="1200" b="1" kern="0" dirty="0">
                <a:latin typeface="SFMono-Regular"/>
              </a:rPr>
              <a:t>.^</a:t>
            </a:r>
            <a:r>
              <a:rPr lang="zh-CN" altLang="en-US" sz="1200" kern="0" dirty="0">
                <a:latin typeface="Helvetica Neue"/>
              </a:rPr>
              <a:t> 被 </a:t>
            </a:r>
            <a:r>
              <a:rPr lang="en-US" altLang="zh-CN" sz="1200" kern="0" dirty="0">
                <a:latin typeface="Helvetica Neue"/>
              </a:rPr>
              <a:t>Julia </a:t>
            </a:r>
            <a:r>
              <a:rPr lang="zh-CN" altLang="en-US" sz="1200" kern="0" dirty="0">
                <a:latin typeface="Helvetica Neue"/>
              </a:rPr>
              <a:t>自动地定义为逐元素地执行 </a:t>
            </a:r>
            <a:r>
              <a:rPr lang="en-US" altLang="zh-CN" sz="1200" b="1" kern="0" dirty="0">
                <a:latin typeface="SFMono-Regular"/>
              </a:rPr>
              <a:t>^</a:t>
            </a:r>
            <a:r>
              <a:rPr lang="zh-CN" altLang="en-US" sz="1200" kern="0" dirty="0">
                <a:latin typeface="Helvetica Neue"/>
              </a:rPr>
              <a:t> 运算</a:t>
            </a:r>
            <a:endParaRPr lang="en-US" altLang="zh-CN" sz="1200" kern="0" dirty="0"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200" kern="0" dirty="0">
                <a:latin typeface="Helvetica Neue"/>
              </a:rPr>
              <a:t>比如 </a:t>
            </a:r>
            <a:r>
              <a:rPr lang="en-US" altLang="zh-CN" sz="1200" b="1" kern="0" dirty="0">
                <a:latin typeface="SFMono-Regular"/>
              </a:rPr>
              <a:t>[1,2,3] ^ 3</a:t>
            </a:r>
            <a:r>
              <a:rPr lang="zh-CN" altLang="en-US" sz="1200" kern="0" dirty="0">
                <a:latin typeface="Helvetica Neue"/>
              </a:rPr>
              <a:t> 是非法的，因为数学上没有给（长宽不一样的）数组的立方下过定义。但是 </a:t>
            </a:r>
            <a:r>
              <a:rPr lang="en-US" altLang="zh-CN" sz="1200" b="1" kern="0" dirty="0">
                <a:latin typeface="SFMono-Regular"/>
              </a:rPr>
              <a:t>[1,2,3] .^ 3</a:t>
            </a:r>
            <a:r>
              <a:rPr lang="zh-CN" altLang="en-US" sz="1200" kern="0" dirty="0">
                <a:latin typeface="Helvetica Neue"/>
              </a:rPr>
              <a:t> 在 </a:t>
            </a:r>
            <a:r>
              <a:rPr lang="en-US" altLang="zh-CN" sz="1200" kern="0" dirty="0">
                <a:latin typeface="Helvetica Neue"/>
              </a:rPr>
              <a:t>Julia </a:t>
            </a:r>
            <a:r>
              <a:rPr lang="zh-CN" altLang="en-US" sz="1200" kern="0" dirty="0">
                <a:latin typeface="Helvetica Neue"/>
              </a:rPr>
              <a:t>里是合法的，它会逐元素地执行 </a:t>
            </a:r>
            <a:r>
              <a:rPr lang="en-US" altLang="zh-CN" sz="1200" kern="0" dirty="0">
                <a:latin typeface="Helvetica Neue"/>
              </a:rPr>
              <a:t>^ </a:t>
            </a:r>
            <a:r>
              <a:rPr lang="zh-CN" altLang="en-US" sz="1200" kern="0" dirty="0">
                <a:latin typeface="Helvetica Neue"/>
              </a:rPr>
              <a:t>运算（或称向量化运算），得到 </a:t>
            </a:r>
            <a:r>
              <a:rPr lang="en-US" altLang="zh-CN" sz="1200" kern="0" dirty="0">
                <a:latin typeface="Helvetica Neue"/>
              </a:rPr>
              <a:t>[1^3, 2^3, 3^3]</a:t>
            </a:r>
            <a:r>
              <a:rPr lang="zh-CN" altLang="en-US" sz="1200" kern="0" dirty="0">
                <a:latin typeface="Helvetica Neue"/>
              </a:rPr>
              <a:t>。类似地，</a:t>
            </a:r>
            <a:r>
              <a:rPr lang="en-US" altLang="zh-CN" sz="1200" b="1" kern="0" dirty="0">
                <a:latin typeface="SFMono-Regular"/>
              </a:rPr>
              <a:t>!</a:t>
            </a:r>
            <a:r>
              <a:rPr lang="zh-CN" altLang="en-US" sz="1200" kern="0" dirty="0">
                <a:latin typeface="Helvetica Neue"/>
              </a:rPr>
              <a:t> 或 </a:t>
            </a:r>
            <a:r>
              <a:rPr lang="zh-CN" altLang="en-US" sz="1200" b="1" kern="0" dirty="0">
                <a:latin typeface="SFMono-Regular"/>
              </a:rPr>
              <a:t>√</a:t>
            </a:r>
            <a:r>
              <a:rPr lang="zh-CN" altLang="en-US" sz="1200" kern="0" dirty="0">
                <a:latin typeface="Helvetica Neue"/>
              </a:rPr>
              <a:t> 这样的一元运算符，也有一个对应的 </a:t>
            </a:r>
            <a:r>
              <a:rPr lang="en-US" altLang="zh-CN" sz="1200" b="1" kern="0" dirty="0">
                <a:latin typeface="SFMono-Regular"/>
              </a:rPr>
              <a:t>.√ </a:t>
            </a:r>
            <a:r>
              <a:rPr lang="zh-CN" altLang="en-US" sz="1200" kern="0" dirty="0">
                <a:latin typeface="Helvetica Neue"/>
              </a:rPr>
              <a:t>用于执行逐元素运算。</a:t>
            </a:r>
            <a:endParaRPr lang="en-US" altLang="zh-CN" sz="1200" kern="0" dirty="0">
              <a:latin typeface="Helvetica Neue"/>
            </a:endParaRPr>
          </a:p>
          <a:p>
            <a:r>
              <a:rPr lang="en-US" altLang="zh-CN" dirty="0">
                <a:solidFill>
                  <a:srgbClr val="999999"/>
                </a:solidFill>
                <a:effectLst/>
              </a:rPr>
              <a:t>#</a:t>
            </a:r>
            <a:r>
              <a:rPr lang="zh-CN" altLang="en-US" dirty="0">
                <a:solidFill>
                  <a:srgbClr val="999999"/>
                </a:solidFill>
                <a:effectLst/>
              </a:rPr>
              <a:t>逐元素运算（点运算）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513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rgbClr val="0070C0"/>
                </a:solidFill>
              </a:rPr>
              <a:t>[1,2,3,4,5] ^ 2</a:t>
            </a:r>
            <a:r>
              <a:rPr lang="zh-CN" altLang="en-US" sz="1200" kern="1200" dirty="0">
                <a:solidFill>
                  <a:srgbClr val="0070C0"/>
                </a:solidFill>
              </a:rPr>
              <a:t> </a:t>
            </a:r>
            <a:r>
              <a:rPr lang="zh-CN" altLang="en-US" sz="1200" b="0" i="0" dirty="0">
                <a:solidFill>
                  <a:srgbClr val="0070C0"/>
                </a:solidFill>
                <a:effectLst/>
                <a:latin typeface="Helvetica Neue"/>
              </a:rPr>
              <a:t>非法，因</a:t>
            </a:r>
            <a:r>
              <a:rPr lang="zh-CN" altLang="en-US" sz="1200" kern="1200" dirty="0">
                <a:solidFill>
                  <a:srgbClr val="0070C0"/>
                </a:solidFill>
              </a:rPr>
              <a:t>线性代数</a:t>
            </a:r>
            <a:r>
              <a:rPr lang="zh-CN" altLang="en-US" sz="1200" b="0" i="0" dirty="0">
                <a:solidFill>
                  <a:srgbClr val="0070C0"/>
                </a:solidFill>
                <a:effectLst/>
                <a:latin typeface="Helvetica Neue"/>
              </a:rPr>
              <a:t>上没有</a:t>
            </a:r>
            <a:r>
              <a:rPr lang="zh-CN" altLang="en-US" sz="1200" dirty="0">
                <a:solidFill>
                  <a:srgbClr val="0070C0"/>
                </a:solidFill>
                <a:latin typeface="Helvetica Neue"/>
              </a:rPr>
              <a:t>定义</a:t>
            </a:r>
            <a:r>
              <a:rPr lang="zh-CN" altLang="en-US" sz="1200" b="0" i="0" dirty="0">
                <a:solidFill>
                  <a:srgbClr val="0070C0"/>
                </a:solidFill>
                <a:effectLst/>
                <a:latin typeface="Helvetica Neue"/>
              </a:rPr>
              <a:t>向量数组</a:t>
            </a:r>
            <a:r>
              <a:rPr lang="zh-CN" altLang="en-US" sz="1200" dirty="0">
                <a:solidFill>
                  <a:srgbClr val="0070C0"/>
                </a:solidFill>
                <a:latin typeface="Helvetica Neue"/>
              </a:rPr>
              <a:t>乘</a:t>
            </a:r>
            <a:r>
              <a:rPr lang="zh-CN" altLang="en-US" sz="1200" b="0" i="0" dirty="0">
                <a:solidFill>
                  <a:srgbClr val="0070C0"/>
                </a:solidFill>
                <a:effectLst/>
                <a:latin typeface="Helvetica Neue"/>
              </a:rPr>
              <a:t>方。</a:t>
            </a:r>
            <a:endParaRPr lang="en-US" altLang="zh-CN" sz="1200" b="0" i="0" dirty="0">
              <a:solidFill>
                <a:srgbClr val="0070C0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 err="1">
                <a:solidFill>
                  <a:srgbClr val="D57747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funm</a:t>
            </a:r>
            <a:r>
              <a:rPr lang="en-US" altLang="zh-CN" b="1" i="0" dirty="0">
                <a:solidFill>
                  <a:srgbClr val="D57747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 </a:t>
            </a:r>
            <a:r>
              <a:rPr lang="en-US" altLang="zh-CN" dirty="0"/>
              <a:t>F </a:t>
            </a:r>
            <a:r>
              <a:rPr lang="en-US" altLang="zh-CN" dirty="0">
                <a:solidFill>
                  <a:srgbClr val="6BAB5B"/>
                </a:solidFill>
                <a:effectLst/>
              </a:rPr>
              <a:t>=</a:t>
            </a:r>
            <a:r>
              <a:rPr lang="en-US" altLang="zh-CN" dirty="0"/>
              <a:t> </a:t>
            </a:r>
            <a:r>
              <a:rPr lang="en-US" altLang="zh-CN" dirty="0" err="1"/>
              <a:t>funm</a:t>
            </a:r>
            <a:r>
              <a:rPr lang="en-US" altLang="zh-CN" dirty="0">
                <a:solidFill>
                  <a:srgbClr val="999999"/>
                </a:solidFill>
                <a:effectLst/>
              </a:rPr>
              <a:t>(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999999"/>
                </a:solidFill>
                <a:effectLst/>
              </a:rPr>
              <a:t>,</a:t>
            </a:r>
            <a:r>
              <a:rPr lang="en-US" altLang="zh-CN" dirty="0"/>
              <a:t> fun</a:t>
            </a:r>
            <a:r>
              <a:rPr lang="en-US" altLang="zh-CN" dirty="0">
                <a:solidFill>
                  <a:srgbClr val="999999"/>
                </a:solidFill>
                <a:effectLst/>
              </a:rPr>
              <a:t>)</a:t>
            </a:r>
          </a:p>
          <a:p>
            <a:pPr algn="l"/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 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funm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magic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b="0" i="0" dirty="0">
                <a:solidFill>
                  <a:srgbClr val="4266D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sin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复制！</a:t>
            </a:r>
          </a:p>
          <a:p>
            <a:pPr algn="l"/>
            <a:r>
              <a:rPr lang="en-US" altLang="zh-CN" b="0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 = 3×3 Matrix{Float64}: -0.384981 1.01909 0.0161816 0.617925 0.216763 -0.184399 0.417344 -0.585562 0.818506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i="0" dirty="0">
              <a:solidFill>
                <a:srgbClr val="D57747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dirty="0">
              <a:solidFill>
                <a:srgbClr val="0070C0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dirty="0">
              <a:solidFill>
                <a:srgbClr val="0070C0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dirty="0">
              <a:solidFill>
                <a:srgbClr val="0070C0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点运算是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MATLAB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为简化科学计算中的数组操作而设计的语法，具体提出时间可能在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MATLAB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早期版本迭代中</a:t>
            </a:r>
            <a:endParaRPr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rgbClr val="0070C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730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187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683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918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ts val="27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w=0:0.02pi:2*pi; </a:t>
            </a:r>
          </a:p>
          <a:p>
            <a:pPr algn="just">
              <a:lnSpc>
                <a:spcPts val="2700"/>
              </a:lnSpc>
              <a:spcAft>
                <a:spcPts val="0"/>
              </a:spcAft>
            </a:pPr>
            <a:r>
              <a:rPr lang="en-US" altLang="zh-CN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=meshgrid2(w);   </a:t>
            </a:r>
          </a:p>
          <a:p>
            <a:pPr algn="just">
              <a:lnSpc>
                <a:spcPts val="27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区别浮点数“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”和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＋”，“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＋”前加空格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 </a:t>
            </a:r>
          </a:p>
          <a:p>
            <a:pPr algn="just">
              <a:lnSpc>
                <a:spcPts val="27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x=(6</a:t>
            </a:r>
            <a:r>
              <a:rPr lang="en-US" altLang="zh-CN" b="1" kern="1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+2cos.(u)).*cos.(v);  </a:t>
            </a:r>
          </a:p>
          <a:p>
            <a:pPr algn="just">
              <a:lnSpc>
                <a:spcPts val="27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y=(6</a:t>
            </a:r>
            <a:r>
              <a:rPr lang="en-US" altLang="zh-CN" b="1" kern="1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.+2cos.(u)).*sin.(v);      </a:t>
            </a:r>
          </a:p>
          <a:p>
            <a:pPr algn="just">
              <a:lnSpc>
                <a:spcPts val="27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z=2sin.(v);     </a:t>
            </a:r>
          </a:p>
          <a:p>
            <a:pPr algn="just">
              <a:lnSpc>
                <a:spcPts val="27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surf(</a:t>
            </a:r>
            <a:r>
              <a:rPr lang="en-US" altLang="zh-CN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x,y,z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);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088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Base/Arrays/BroadcastAndVectorization/@dot.html?searchQuery=@"/><Relationship Id="rId5" Type="http://schemas.microsoft.com/office/2007/relationships/hdphoto" Target="../media/hdphoto4.wdp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D5350-2E0F-B0F0-1651-343AB515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5" y="272702"/>
            <a:ext cx="5472608" cy="438150"/>
          </a:xfrm>
        </p:spPr>
        <p:txBody>
          <a:bodyPr/>
          <a:lstStyle/>
          <a:p>
            <a:r>
              <a:rPr lang="en-US" altLang="zh-CN" kern="100" dirty="0">
                <a:solidFill>
                  <a:srgbClr val="0070C0"/>
                </a:solidFill>
              </a:rPr>
              <a:t>§1.5  </a:t>
            </a:r>
            <a:r>
              <a:rPr lang="zh-CN" altLang="en-US" kern="100" dirty="0">
                <a:solidFill>
                  <a:srgbClr val="0070C0"/>
                </a:solidFill>
              </a:rPr>
              <a:t>数学运算和数学函数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89EE94-9D35-763F-5DE8-B6B60C8107FE}"/>
              </a:ext>
            </a:extLst>
          </p:cNvPr>
          <p:cNvSpPr txBox="1"/>
          <p:nvPr/>
        </p:nvSpPr>
        <p:spPr>
          <a:xfrm>
            <a:off x="3203848" y="901509"/>
            <a:ext cx="3816424" cy="212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§1.5.1.1 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算术运算 </a:t>
            </a: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§1.5.1.2. 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逻辑运算 </a:t>
            </a: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§1.5.1.3  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关系运算</a:t>
            </a:r>
            <a:endParaRPr lang="en-US" altLang="zh-CN" sz="2400" b="1" dirty="0">
              <a:solidFill>
                <a:srgbClr val="0070C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§1.5.1.4. 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复合赋值运算</a:t>
            </a: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§1.5.1.1. 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向量化 </a:t>
            </a: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"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点</a:t>
            </a: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" 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运算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BD2194-77B2-A1E5-CE0C-5D63B65995A7}"/>
              </a:ext>
            </a:extLst>
          </p:cNvPr>
          <p:cNvSpPr txBox="1"/>
          <p:nvPr/>
        </p:nvSpPr>
        <p:spPr>
          <a:xfrm>
            <a:off x="405655" y="987574"/>
            <a:ext cx="2736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§1.5.1 </a:t>
            </a:r>
            <a:r>
              <a:rPr lang="zh-CN" altLang="en-US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数学运算  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6BC3D1-B64E-B146-BF7C-F1A89B605E49}"/>
              </a:ext>
            </a:extLst>
          </p:cNvPr>
          <p:cNvSpPr txBox="1"/>
          <p:nvPr/>
        </p:nvSpPr>
        <p:spPr>
          <a:xfrm>
            <a:off x="389438" y="3457618"/>
            <a:ext cx="2892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§1.5.2  </a:t>
            </a:r>
            <a:r>
              <a:rPr lang="zh-CN" altLang="en-US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数学函数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1F0832-0789-0FEA-1845-147C9CE32041}"/>
              </a:ext>
            </a:extLst>
          </p:cNvPr>
          <p:cNvSpPr txBox="1"/>
          <p:nvPr/>
        </p:nvSpPr>
        <p:spPr>
          <a:xfrm>
            <a:off x="3203848" y="3346546"/>
            <a:ext cx="4779970" cy="93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§1.5.2.1. exp\log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等初等数学函数</a:t>
            </a:r>
            <a:endParaRPr lang="en-US" altLang="zh-CN" sz="2400" b="1" dirty="0">
              <a:solidFill>
                <a:srgbClr val="0070C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§1.5.2.2. </a:t>
            </a:r>
            <a:r>
              <a:rPr lang="zh-CN" altLang="en-US" sz="2400" b="1" dirty="0">
                <a:solidFill>
                  <a:srgbClr val="0070C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三角数学函数和双曲函数</a:t>
            </a:r>
            <a:endParaRPr lang="en-US" altLang="zh-CN" sz="2400" b="1" dirty="0">
              <a:solidFill>
                <a:srgbClr val="0070C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pic>
        <p:nvPicPr>
          <p:cNvPr id="1026" name="Picture 2" descr="数学运算符号合集PNG图片素材下载_数学符号PNG_熊猫办公">
            <a:extLst>
              <a:ext uri="{FF2B5EF4-FFF2-40B4-BE49-F238E27FC236}">
                <a16:creationId xmlns:a16="http://schemas.microsoft.com/office/drawing/2014/main" id="{D2C0387D-9D00-4369-AE64-B18F83DB5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655" y="1016803"/>
            <a:ext cx="2421713" cy="163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75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65EB657-37DB-B10E-1225-6043C2E4EF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36" t="19615" r="26025" b="16306"/>
          <a:stretch/>
        </p:blipFill>
        <p:spPr>
          <a:xfrm>
            <a:off x="511750" y="1407288"/>
            <a:ext cx="6580529" cy="303667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F4C6309-7E8C-18C4-61A0-AA2D39DBD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179" y="1361188"/>
            <a:ext cx="1608088" cy="3036670"/>
          </a:xfrm>
          <a:noFill/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pPr marL="0" indent="0">
              <a:lnSpc>
                <a:spcPts val="3000"/>
              </a:lnSpc>
              <a:buNone/>
            </a:pPr>
            <a:r>
              <a:rPr lang="fi-FI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julia&gt; -2</a:t>
            </a:r>
          </a:p>
          <a:p>
            <a:pPr marL="0" indent="0">
              <a:lnSpc>
                <a:spcPts val="3000"/>
              </a:lnSpc>
              <a:buNone/>
            </a:pPr>
            <a:r>
              <a:rPr lang="fi-FI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julia&gt; 6/12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fi-FI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</a:p>
          <a:p>
            <a:pPr marL="0" indent="0">
              <a:lnSpc>
                <a:spcPts val="3000"/>
              </a:lnSpc>
              <a:buNone/>
            </a:pPr>
            <a:r>
              <a:rPr lang="fi-FI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julia&gt; 12\6</a:t>
            </a:r>
          </a:p>
          <a:p>
            <a:pPr marL="0" indent="0">
              <a:lnSpc>
                <a:spcPts val="3000"/>
              </a:lnSpc>
              <a:buNone/>
            </a:pPr>
            <a:r>
              <a:rPr lang="fi-FI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fi-FI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9%4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#rem(9,4)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fi-FI" altLang="zh-CN" sz="1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160692E-8AD8-472D-89C6-BD2DDE585114}"/>
              </a:ext>
            </a:extLst>
          </p:cNvPr>
          <p:cNvSpPr/>
          <p:nvPr/>
        </p:nvSpPr>
        <p:spPr bwMode="auto">
          <a:xfrm>
            <a:off x="4475156" y="4170094"/>
            <a:ext cx="1482337" cy="22776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5E8E740-E96E-4BE9-B21A-199BB13AC48A}"/>
              </a:ext>
            </a:extLst>
          </p:cNvPr>
          <p:cNvSpPr/>
          <p:nvPr/>
        </p:nvSpPr>
        <p:spPr bwMode="auto">
          <a:xfrm>
            <a:off x="1722938" y="4145792"/>
            <a:ext cx="661021" cy="2261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9FD2246-50A7-4712-9AA0-DA0E5150A94C}"/>
              </a:ext>
            </a:extLst>
          </p:cNvPr>
          <p:cNvSpPr/>
          <p:nvPr/>
        </p:nvSpPr>
        <p:spPr bwMode="auto">
          <a:xfrm>
            <a:off x="1650930" y="1706039"/>
            <a:ext cx="653812" cy="46474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FB8B796-F571-423F-86F3-93E42B0B7533}"/>
              </a:ext>
            </a:extLst>
          </p:cNvPr>
          <p:cNvSpPr/>
          <p:nvPr/>
        </p:nvSpPr>
        <p:spPr bwMode="auto">
          <a:xfrm>
            <a:off x="1683475" y="2393424"/>
            <a:ext cx="661021" cy="46474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A54DA60-5A6B-49C9-A05D-24B5EC849988}"/>
              </a:ext>
            </a:extLst>
          </p:cNvPr>
          <p:cNvSpPr/>
          <p:nvPr/>
        </p:nvSpPr>
        <p:spPr bwMode="auto">
          <a:xfrm>
            <a:off x="1706408" y="3692604"/>
            <a:ext cx="598334" cy="2261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7F7264E-0185-4254-AACE-D2E8B1DAE337}"/>
              </a:ext>
            </a:extLst>
          </p:cNvPr>
          <p:cNvSpPr/>
          <p:nvPr/>
        </p:nvSpPr>
        <p:spPr bwMode="auto">
          <a:xfrm>
            <a:off x="4475157" y="3651870"/>
            <a:ext cx="1005146" cy="2261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04984FD-D6C0-4ABD-89AE-EC1505D1CFB7}"/>
              </a:ext>
            </a:extLst>
          </p:cNvPr>
          <p:cNvSpPr/>
          <p:nvPr/>
        </p:nvSpPr>
        <p:spPr bwMode="auto">
          <a:xfrm>
            <a:off x="1691680" y="3165678"/>
            <a:ext cx="661021" cy="2261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4251C2-E408-48C3-A3D0-C0A885D37994}"/>
              </a:ext>
            </a:extLst>
          </p:cNvPr>
          <p:cNvSpPr txBox="1"/>
          <p:nvPr/>
        </p:nvSpPr>
        <p:spPr>
          <a:xfrm>
            <a:off x="431539" y="817158"/>
            <a:ext cx="843772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buClr>
                <a:srgbClr val="002060"/>
              </a:buClr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算术运算主要包括加减乘除和乘方，有一元二元，也有右除法和左除法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D9E7BA-8C53-4ED1-B8D4-524E87ECF0F0}"/>
              </a:ext>
            </a:extLst>
          </p:cNvPr>
          <p:cNvSpPr txBox="1"/>
          <p:nvPr/>
        </p:nvSpPr>
        <p:spPr>
          <a:xfrm>
            <a:off x="1259632" y="129390"/>
            <a:ext cx="6768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§1.5.1.1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算术运算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——1. 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常见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算术运算符 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202186-445B-4A6E-BE1D-FBA9C56994AD}"/>
              </a:ext>
            </a:extLst>
          </p:cNvPr>
          <p:cNvSpPr txBox="1"/>
          <p:nvPr/>
        </p:nvSpPr>
        <p:spPr>
          <a:xfrm>
            <a:off x="5490730" y="3621017"/>
            <a:ext cx="1673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FF0000"/>
                </a:solidFill>
                <a:effectLst/>
                <a:latin typeface="Inter"/>
              </a:rPr>
              <a:t>12\6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Inter"/>
              </a:rPr>
              <a:t>读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latin typeface="Inter"/>
              </a:rPr>
              <a:t>12 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Inter"/>
              </a:rPr>
              <a:t>左除 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latin typeface="Inter"/>
              </a:rPr>
              <a:t>6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6E65D0-778D-4C8A-B2DB-0B198BF74369}"/>
              </a:ext>
            </a:extLst>
          </p:cNvPr>
          <p:cNvSpPr txBox="1"/>
          <p:nvPr/>
        </p:nvSpPr>
        <p:spPr>
          <a:xfrm>
            <a:off x="2352363" y="3580283"/>
            <a:ext cx="655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Inter"/>
              </a:rPr>
              <a:t>左除</a:t>
            </a:r>
            <a:endParaRPr lang="zh-CN" altLang="en-US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545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4993EAF-6236-4501-152D-F2EF57FB7DA6}"/>
              </a:ext>
            </a:extLst>
          </p:cNvPr>
          <p:cNvSpPr txBox="1"/>
          <p:nvPr/>
        </p:nvSpPr>
        <p:spPr>
          <a:xfrm>
            <a:off x="652499" y="1187139"/>
            <a:ext cx="3187958" cy="77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fi-FI" altLang="zh-CN" sz="2000" dirty="0"/>
              <a:t>julia&gt; x = 3, </a:t>
            </a:r>
            <a:r>
              <a:rPr lang="en-US" altLang="zh-CN" sz="2000" dirty="0" err="1"/>
              <a:t>yy</a:t>
            </a:r>
            <a:r>
              <a:rPr lang="en-US" altLang="zh-CN" sz="2000" dirty="0"/>
              <a:t>=2*x</a:t>
            </a:r>
            <a:r>
              <a:rPr lang="fi-FI" altLang="zh-CN" sz="2000" dirty="0"/>
              <a:t>  </a:t>
            </a:r>
          </a:p>
          <a:p>
            <a:pPr>
              <a:lnSpc>
                <a:spcPts val="2800"/>
              </a:lnSpc>
            </a:pPr>
            <a:r>
              <a:rPr lang="fi-FI" altLang="zh-CN" sz="2000" dirty="0"/>
              <a:t>julia&gt; </a:t>
            </a:r>
            <a:r>
              <a:rPr lang="fi-FI" altLang="zh-CN" sz="2000" dirty="0">
                <a:solidFill>
                  <a:srgbClr val="FF0000"/>
                </a:solidFill>
              </a:rPr>
              <a:t>yy=2x 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BA0FF0-4E9C-D351-1644-857345E39375}"/>
              </a:ext>
            </a:extLst>
          </p:cNvPr>
          <p:cNvSpPr txBox="1"/>
          <p:nvPr/>
        </p:nvSpPr>
        <p:spPr>
          <a:xfrm>
            <a:off x="651244" y="4183984"/>
            <a:ext cx="1818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FandolHei-Regular-Identity-H"/>
              </a:rPr>
              <a:t>julia&gt; 2(x-1)</a:t>
            </a:r>
            <a:endParaRPr lang="zh-CN" altLang="en-US" sz="2400" dirty="0">
              <a:solidFill>
                <a:srgbClr val="000000"/>
              </a:solidFill>
              <a:latin typeface="FandolHei-Regular-Identity-H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F3B49B-A122-8637-12F7-8BAFA3CA3C37}"/>
              </a:ext>
            </a:extLst>
          </p:cNvPr>
          <p:cNvSpPr txBox="1"/>
          <p:nvPr/>
        </p:nvSpPr>
        <p:spPr>
          <a:xfrm>
            <a:off x="251520" y="2036190"/>
            <a:ext cx="8039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数值字面量系数的优先级低于一元运算符，比如说取相反数  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F9A580-8D32-A087-4509-54DCE5DAE9F0}"/>
              </a:ext>
            </a:extLst>
          </p:cNvPr>
          <p:cNvSpPr txBox="1"/>
          <p:nvPr/>
        </p:nvSpPr>
        <p:spPr>
          <a:xfrm>
            <a:off x="257670" y="3789032"/>
            <a:ext cx="4951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lr>
                <a:srgbClr val="002060"/>
              </a:buClr>
              <a:buFont typeface="+mj-ea"/>
              <a:buAutoNum type="circleNumDbPlain" startAt="4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数值字面量也能作为被括号表达式的系数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BC8B39-DFB7-8EDA-25F2-31A443537BFD}"/>
              </a:ext>
            </a:extLst>
          </p:cNvPr>
          <p:cNvSpPr txBox="1"/>
          <p:nvPr/>
        </p:nvSpPr>
        <p:spPr>
          <a:xfrm>
            <a:off x="257670" y="2881952"/>
            <a:ext cx="874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数值字面量系数的优先级高于二元运算符，如* 、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0E5F8E-BE4F-4C9B-80B6-6F315B946165}"/>
              </a:ext>
            </a:extLst>
          </p:cNvPr>
          <p:cNvSpPr txBox="1"/>
          <p:nvPr/>
        </p:nvSpPr>
        <p:spPr>
          <a:xfrm>
            <a:off x="652499" y="2374604"/>
            <a:ext cx="1735890" cy="429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s-ES" altLang="zh-CN" sz="2000" dirty="0"/>
              <a:t>julia&gt; -2</a:t>
            </a:r>
            <a:r>
              <a:rPr lang="en-US" altLang="zh-CN" sz="2000" dirty="0"/>
              <a:t>x</a:t>
            </a:r>
            <a:endParaRPr lang="es-ES" altLang="zh-CN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87B89D-3E2E-4009-8358-263B0862F54F}"/>
              </a:ext>
            </a:extLst>
          </p:cNvPr>
          <p:cNvSpPr txBox="1"/>
          <p:nvPr/>
        </p:nvSpPr>
        <p:spPr>
          <a:xfrm>
            <a:off x="2373602" y="4222963"/>
            <a:ext cx="1262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F0"/>
                </a:solidFill>
              </a:defRPr>
            </a:lvl1pPr>
          </a:lstStyle>
          <a:p>
            <a:r>
              <a:rPr lang="es-ES" altLang="zh-CN" dirty="0"/>
              <a:t>#</a:t>
            </a:r>
            <a:r>
              <a:rPr lang="zh-CN" altLang="en-US" dirty="0"/>
              <a:t>结果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8C67B3E-7929-4CD8-AF60-A5FF5591BC23}"/>
              </a:ext>
            </a:extLst>
          </p:cNvPr>
          <p:cNvSpPr txBox="1"/>
          <p:nvPr/>
        </p:nvSpPr>
        <p:spPr>
          <a:xfrm>
            <a:off x="2048722" y="2409070"/>
            <a:ext cx="1921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b="1" dirty="0">
                <a:solidFill>
                  <a:srgbClr val="00B0F0"/>
                </a:solidFill>
              </a:rPr>
              <a:t>#</a:t>
            </a:r>
            <a:r>
              <a:rPr lang="en-US" altLang="zh-CN" b="1" dirty="0">
                <a:solidFill>
                  <a:srgbClr val="00B0F0"/>
                </a:solidFill>
              </a:rPr>
              <a:t>(-2)x</a:t>
            </a:r>
            <a:r>
              <a:rPr lang="zh-CN" altLang="en-US" b="1" dirty="0">
                <a:solidFill>
                  <a:srgbClr val="00B0F0"/>
                </a:solidFill>
              </a:rPr>
              <a:t>结果</a:t>
            </a:r>
            <a:r>
              <a:rPr lang="en-US" altLang="zh-CN" b="1" dirty="0">
                <a:solidFill>
                  <a:srgbClr val="00B0F0"/>
                </a:solidFill>
              </a:rPr>
              <a:t>-</a:t>
            </a:r>
            <a:r>
              <a:rPr lang="es-ES" altLang="zh-CN" b="1" dirty="0">
                <a:solidFill>
                  <a:srgbClr val="00B0F0"/>
                </a:solidFill>
              </a:rPr>
              <a:t>6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87E5BF-AD23-4431-9530-0F6214A75798}"/>
              </a:ext>
            </a:extLst>
          </p:cNvPr>
          <p:cNvSpPr txBox="1"/>
          <p:nvPr/>
        </p:nvSpPr>
        <p:spPr>
          <a:xfrm>
            <a:off x="678035" y="3330191"/>
            <a:ext cx="2036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2000" dirty="0"/>
              <a:t>julia&gt; 6/3x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FandolHei-Regular-Identity-H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62296F-356E-4374-A146-52535DD8D31F}"/>
              </a:ext>
            </a:extLst>
          </p:cNvPr>
          <p:cNvSpPr txBox="1"/>
          <p:nvPr/>
        </p:nvSpPr>
        <p:spPr>
          <a:xfrm>
            <a:off x="2253510" y="1607197"/>
            <a:ext cx="1070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altLang="zh-CN" sz="1800" b="1" dirty="0">
                <a:solidFill>
                  <a:srgbClr val="00B0F0"/>
                </a:solidFill>
              </a:rPr>
              <a:t>#</a:t>
            </a:r>
            <a:r>
              <a:rPr lang="zh-CN" altLang="en-US" sz="1800" b="1" dirty="0">
                <a:solidFill>
                  <a:srgbClr val="00B0F0"/>
                </a:solidFill>
              </a:rPr>
              <a:t>结果</a:t>
            </a:r>
            <a:r>
              <a:rPr lang="fi-FI" altLang="zh-CN" sz="1800" b="1" dirty="0">
                <a:solidFill>
                  <a:srgbClr val="00B0F0"/>
                </a:solidFill>
              </a:rPr>
              <a:t>6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B58F1B-3F76-4299-95F5-8BAAEF3E60F6}"/>
              </a:ext>
            </a:extLst>
          </p:cNvPr>
          <p:cNvSpPr txBox="1"/>
          <p:nvPr/>
        </p:nvSpPr>
        <p:spPr>
          <a:xfrm>
            <a:off x="6133987" y="3540523"/>
            <a:ext cx="29807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 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必须数字系数和变量加乘号，如</a:t>
            </a:r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2*x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Julia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采用数学书写习惯，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数值字面量与变量连写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</a:t>
            </a:r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2x 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457332-ECD9-4FE9-BD8B-EB5CD4CDACC2}"/>
              </a:ext>
            </a:extLst>
          </p:cNvPr>
          <p:cNvSpPr txBox="1"/>
          <p:nvPr/>
        </p:nvSpPr>
        <p:spPr>
          <a:xfrm>
            <a:off x="4570687" y="1282646"/>
            <a:ext cx="4573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b="0" dirty="0">
                <a:solidFill>
                  <a:srgbClr val="FF0000"/>
                </a:solidFill>
              </a:rPr>
              <a:t>例如：</a:t>
            </a:r>
            <a:r>
              <a:rPr lang="fi-FI" altLang="zh-CN" sz="1800" b="0" dirty="0">
                <a:solidFill>
                  <a:srgbClr val="FF0000"/>
                </a:solidFill>
              </a:rPr>
              <a:t>yy=2*x </a:t>
            </a:r>
            <a:r>
              <a:rPr lang="zh-CN" altLang="en-US" sz="1800" b="0" dirty="0">
                <a:solidFill>
                  <a:srgbClr val="FF0000"/>
                </a:solidFill>
              </a:rPr>
              <a:t>习惯写用隐式乘法的</a:t>
            </a:r>
            <a:r>
              <a:rPr lang="en-US" altLang="zh-CN" sz="1800" b="0" dirty="0" err="1">
                <a:solidFill>
                  <a:srgbClr val="FF0000"/>
                </a:solidFill>
              </a:rPr>
              <a:t>yy</a:t>
            </a:r>
            <a:r>
              <a:rPr lang="en-US" altLang="zh-CN" sz="1800" b="0" dirty="0">
                <a:solidFill>
                  <a:srgbClr val="FF0000"/>
                </a:solidFill>
              </a:rPr>
              <a:t>=2x</a:t>
            </a:r>
            <a:r>
              <a:rPr lang="fi-FI" altLang="zh-CN" sz="1800" b="0" dirty="0">
                <a:solidFill>
                  <a:srgbClr val="FF0000"/>
                </a:solidFill>
              </a:rPr>
              <a:t> </a:t>
            </a:r>
            <a:endParaRPr lang="zh-CN" altLang="en-US" sz="1800" b="0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7A8FD1-2D61-4429-A1E2-B707D1F885E8}"/>
              </a:ext>
            </a:extLst>
          </p:cNvPr>
          <p:cNvSpPr txBox="1"/>
          <p:nvPr/>
        </p:nvSpPr>
        <p:spPr>
          <a:xfrm>
            <a:off x="2224812" y="3326249"/>
            <a:ext cx="4406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F0"/>
                </a:solidFill>
              </a:defRPr>
            </a:lvl1pPr>
          </a:lstStyle>
          <a:p>
            <a:r>
              <a:rPr lang="es-ES" altLang="zh-CN" dirty="0"/>
              <a:t># 6/(3x)  </a:t>
            </a:r>
            <a:r>
              <a:rPr lang="zh-CN" altLang="en-US" dirty="0"/>
              <a:t>结果</a:t>
            </a:r>
            <a:r>
              <a:rPr lang="es-ES" altLang="zh-CN" dirty="0"/>
              <a:t>0.666666666666666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3293CE-0F17-4E2C-A193-45C35CA4FF47}"/>
              </a:ext>
            </a:extLst>
          </p:cNvPr>
          <p:cNvSpPr txBox="1"/>
          <p:nvPr/>
        </p:nvSpPr>
        <p:spPr>
          <a:xfrm>
            <a:off x="359662" y="742189"/>
            <a:ext cx="864647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dist">
              <a:buClr>
                <a:srgbClr val="002060"/>
              </a:buClr>
              <a:buFont typeface="+mj-ea"/>
              <a:buAutoNum type="circleNumDbPlain"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允许常见表达式的数值字面量与变量连写，使数学公式更简洁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BCFDB0E-168A-4013-BB58-D7DD95B13D81}"/>
              </a:ext>
            </a:extLst>
          </p:cNvPr>
          <p:cNvSpPr txBox="1"/>
          <p:nvPr/>
        </p:nvSpPr>
        <p:spPr>
          <a:xfrm>
            <a:off x="1126601" y="127564"/>
            <a:ext cx="71546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§1.5.1.1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算术运算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</a:t>
            </a:r>
            <a:r>
              <a:rPr lang="zh-CN" altLang="en-US" sz="2800" b="1" i="0" u="none" strike="noStrike" baseline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数值字面量系数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AutoShape 13">
            <a:extLst>
              <a:ext uri="{FF2B5EF4-FFF2-40B4-BE49-F238E27FC236}">
                <a16:creationId xmlns:a16="http://schemas.microsoft.com/office/drawing/2014/main" id="{33920624-7472-4C9A-8B64-DFF79B486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069" y="3531066"/>
            <a:ext cx="602945" cy="82990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 注</a:t>
            </a:r>
            <a:endParaRPr lang="en-US" altLang="zh-CN" sz="1400" b="1" kern="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r>
              <a:rPr lang="zh-CN" altLang="en-US" sz="1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意</a:t>
            </a:r>
          </a:p>
        </p:txBody>
      </p:sp>
    </p:spTree>
    <p:extLst>
      <p:ext uri="{BB962C8B-B14F-4D97-AF65-F5344CB8AC3E}">
        <p14:creationId xmlns:p14="http://schemas.microsoft.com/office/powerpoint/2010/main" val="271707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14" grpId="0"/>
      <p:bldP spid="17" grpId="0"/>
      <p:bldP spid="19" grpId="0"/>
      <p:bldP spid="21" grpId="0"/>
      <p:bldP spid="22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36B4504-8C1B-4087-82CF-CBEC708C59ED}"/>
              </a:ext>
            </a:extLst>
          </p:cNvPr>
          <p:cNvSpPr/>
          <p:nvPr/>
        </p:nvSpPr>
        <p:spPr>
          <a:xfrm>
            <a:off x="348308" y="2641306"/>
            <a:ext cx="8544172" cy="1938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3700"/>
              </a:lnSpc>
              <a:buFont typeface="+mj-ea"/>
              <a:buAutoNum type="circleNumDbPlain"/>
            </a:pPr>
            <a:r>
              <a:rPr kumimoji="0" lang="zh-CN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符常与</a:t>
            </a:r>
            <a:r>
              <a:rPr kumimoji="0" lang="zh-CN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关系运算</a:t>
            </a: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符一起用，结果为</a:t>
            </a:r>
            <a:r>
              <a:rPr kumimoji="0" lang="zh-CN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型变量即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布尔类型变量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(bool)</a:t>
            </a:r>
          </a:p>
          <a:p>
            <a:pPr marL="342900" indent="-342900">
              <a:lnSpc>
                <a:spcPts val="3700"/>
              </a:lnSpc>
              <a:buFont typeface="+mj-ea"/>
              <a:buAutoNum type="circleNumDbPlain"/>
            </a:pP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布尔类型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 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两个状态：</a:t>
            </a:r>
            <a:r>
              <a:rPr lang="zh-CN" altLang="en-US" sz="22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 </a:t>
            </a:r>
            <a:r>
              <a:rPr lang="en-US" altLang="zh-CN" sz="22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 </a:t>
            </a:r>
            <a:r>
              <a:rPr lang="zh-CN" altLang="en-US" sz="22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和假 </a:t>
            </a:r>
            <a:r>
              <a:rPr lang="en-US" altLang="zh-CN" sz="22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700"/>
              </a:lnSpc>
              <a:buFont typeface="+mj-ea"/>
              <a:buAutoNum type="circleNumDbPlain"/>
            </a:pPr>
            <a:r>
              <a:rPr lang="zh-CN" altLang="en-US" sz="22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逻辑结果</a:t>
            </a:r>
            <a:r>
              <a:rPr lang="zh-CN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表示真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假两个状态</a:t>
            </a:r>
            <a:endParaRPr kumimoji="0" lang="en-US" altLang="zh-CN" sz="22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14A70A-206B-44B9-9E60-EBAD949B1402}"/>
              </a:ext>
            </a:extLst>
          </p:cNvPr>
          <p:cNvSpPr/>
          <p:nvPr/>
        </p:nvSpPr>
        <p:spPr>
          <a:xfrm>
            <a:off x="6576999" y="1203144"/>
            <a:ext cx="1400150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 altLang="zh-CN" sz="2000" b="1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DADED664-82E8-4703-AB83-06E51F17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2597"/>
            <a:ext cx="6264696" cy="438150"/>
          </a:xfrm>
        </p:spPr>
        <p:txBody>
          <a:bodyPr/>
          <a:lstStyle/>
          <a:p>
            <a:r>
              <a:rPr lang="en-US" altLang="zh-CN" sz="2800" kern="1200" dirty="0">
                <a:solidFill>
                  <a:srgbClr val="0070C0"/>
                </a:solidFill>
                <a:cs typeface="+mn-cs"/>
              </a:rPr>
              <a:t>§1.5.1.2. </a:t>
            </a:r>
            <a:r>
              <a:rPr lang="zh-CN" altLang="en-US" sz="2800" kern="1200" dirty="0">
                <a:solidFill>
                  <a:srgbClr val="0070C0"/>
                </a:solidFill>
                <a:cs typeface="+mn-cs"/>
              </a:rPr>
              <a:t>逻辑运算</a:t>
            </a:r>
            <a:r>
              <a:rPr lang="en-US" altLang="zh-CN" dirty="0">
                <a:solidFill>
                  <a:srgbClr val="FF0000"/>
                </a:solidFill>
              </a:rPr>
              <a:t>——1. 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逻辑运算符</a:t>
            </a:r>
            <a:r>
              <a:rPr lang="zh-CN" altLang="en-US" sz="2800" dirty="0">
                <a:solidFill>
                  <a:srgbClr val="FF0000"/>
                </a:solidFill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bool</a:t>
            </a:r>
            <a:r>
              <a:rPr lang="zh-CN" altLang="en-US" sz="2800" dirty="0">
                <a:solidFill>
                  <a:srgbClr val="FF0000"/>
                </a:solidFill>
              </a:rPr>
              <a:t>变量</a:t>
            </a:r>
            <a:endParaRPr lang="zh-CN" altLang="en-US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627981-897B-4755-B605-41A98BB7386F}"/>
              </a:ext>
            </a:extLst>
          </p:cNvPr>
          <p:cNvSpPr/>
          <p:nvPr/>
        </p:nvSpPr>
        <p:spPr>
          <a:xfrm>
            <a:off x="6576999" y="1701974"/>
            <a:ext cx="138397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 altLang="zh-CN" sz="2000" b="1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表格 31">
            <a:extLst>
              <a:ext uri="{FF2B5EF4-FFF2-40B4-BE49-F238E27FC236}">
                <a16:creationId xmlns:a16="http://schemas.microsoft.com/office/drawing/2014/main" id="{DBA7DF24-8603-4621-86B6-7639FDD30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26586"/>
              </p:ext>
            </p:extLst>
          </p:nvPr>
        </p:nvGraphicFramePr>
        <p:xfrm>
          <a:off x="348308" y="914782"/>
          <a:ext cx="854417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6969">
                  <a:extLst>
                    <a:ext uri="{9D8B030D-6E8A-4147-A177-3AD203B41FA5}">
                      <a16:colId xmlns:a16="http://schemas.microsoft.com/office/drawing/2014/main" val="3027390341"/>
                    </a:ext>
                  </a:extLst>
                </a:gridCol>
                <a:gridCol w="885249">
                  <a:extLst>
                    <a:ext uri="{9D8B030D-6E8A-4147-A177-3AD203B41FA5}">
                      <a16:colId xmlns:a16="http://schemas.microsoft.com/office/drawing/2014/main" val="1062070202"/>
                    </a:ext>
                  </a:extLst>
                </a:gridCol>
                <a:gridCol w="3597535">
                  <a:extLst>
                    <a:ext uri="{9D8B030D-6E8A-4147-A177-3AD203B41FA5}">
                      <a16:colId xmlns:a16="http://schemas.microsoft.com/office/drawing/2014/main" val="1278860414"/>
                    </a:ext>
                  </a:extLst>
                </a:gridCol>
                <a:gridCol w="2154418">
                  <a:extLst>
                    <a:ext uri="{9D8B030D-6E8A-4147-A177-3AD203B41FA5}">
                      <a16:colId xmlns:a16="http://schemas.microsoft.com/office/drawing/2014/main" val="18018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运算符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名称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表示方法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</a:rPr>
                        <a:t>表示方法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09186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FF00"/>
                          </a:solidFill>
                        </a:rPr>
                        <a:t>&amp; </a:t>
                      </a:r>
                      <a:r>
                        <a:rPr lang="zh-CN" altLang="en-US" sz="2000" b="1" dirty="0">
                          <a:solidFill>
                            <a:srgbClr val="FFFF00"/>
                          </a:solidFill>
                        </a:rPr>
                        <a:t>（</a:t>
                      </a:r>
                      <a:r>
                        <a:rPr lang="en-US" altLang="zh-CN" sz="2000" b="1" dirty="0">
                          <a:solidFill>
                            <a:srgbClr val="FFFF00"/>
                          </a:solidFill>
                        </a:rPr>
                        <a:t>and</a:t>
                      </a:r>
                      <a:r>
                        <a:rPr lang="zh-CN" altLang="en-US" sz="2000" b="1" dirty="0">
                          <a:solidFill>
                            <a:srgbClr val="FFFF00"/>
                          </a:solidFill>
                        </a:rPr>
                        <a:t>）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FF00"/>
                          </a:solidFill>
                        </a:rPr>
                        <a:t>与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FF00"/>
                          </a:solidFill>
                        </a:rPr>
                        <a:t>A&amp;B</a:t>
                      </a:r>
                      <a:endParaRPr lang="zh-CN" altLang="en-US" sz="20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and(A,B)</a:t>
                      </a:r>
                      <a:endParaRPr lang="zh-CN" altLang="en-US" sz="20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8424385"/>
                  </a:ext>
                </a:extLst>
              </a:tr>
              <a:tr h="1236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0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lang="zh-CN" altLang="en-US" sz="20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20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r>
                        <a:rPr lang="zh-CN" altLang="en-US" sz="20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FF00"/>
                          </a:solidFill>
                        </a:rPr>
                        <a:t>或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FF00"/>
                          </a:solidFill>
                        </a:rPr>
                        <a:t>A|B</a:t>
                      </a:r>
                      <a:endParaRPr lang="zh-CN" altLang="en-US" sz="20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</a:t>
                      </a:r>
                      <a:r>
                        <a:rPr lang="zh-CN" altLang="en-US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A,B</a:t>
                      </a:r>
                      <a:r>
                        <a:rPr lang="zh-CN" altLang="en-US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20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54855762"/>
                  </a:ext>
                </a:extLst>
              </a:tr>
              <a:tr h="261947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FF00"/>
                          </a:solidFill>
                        </a:rPr>
                        <a:t>！（</a:t>
                      </a:r>
                      <a:r>
                        <a:rPr lang="en-US" altLang="zh-CN" sz="2000" b="1" dirty="0">
                          <a:solidFill>
                            <a:srgbClr val="FFFF00"/>
                          </a:solidFill>
                        </a:rPr>
                        <a:t>not</a:t>
                      </a:r>
                      <a:r>
                        <a:rPr lang="zh-CN" altLang="en-US" sz="2000" b="1" dirty="0">
                          <a:solidFill>
                            <a:srgbClr val="FFFF00"/>
                          </a:solidFill>
                        </a:rPr>
                        <a:t>）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FF00"/>
                          </a:solidFill>
                        </a:rPr>
                        <a:t>非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FF00"/>
                          </a:solidFill>
                        </a:rPr>
                        <a:t>!A</a:t>
                      </a:r>
                      <a:endParaRPr lang="zh-CN" altLang="en-US" sz="20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</a:t>
                      </a:r>
                      <a:r>
                        <a:rPr lang="zh-CN" altLang="en-US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A,B</a:t>
                      </a:r>
                      <a:r>
                        <a:rPr lang="zh-CN" altLang="en-US" sz="2000" b="1" dirty="0">
                          <a:solidFill>
                            <a:srgbClr val="FFFF00"/>
                          </a:solidFill>
                          <a:highlight>
                            <a:srgbClr val="3399FF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20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8787243"/>
                  </a:ext>
                </a:extLst>
              </a:tr>
            </a:tbl>
          </a:graphicData>
        </a:graphic>
      </p:graphicFrame>
      <p:pic>
        <p:nvPicPr>
          <p:cNvPr id="10" name="Picture 1" descr="C:\Users\ai\AppData\Roaming\Tencent\Users\910987637\QQ\WinTemp\RichOle\JQ1TE}@]WI3R0Y{M3@SM8S4.png">
            <a:extLst>
              <a:ext uri="{FF2B5EF4-FFF2-40B4-BE49-F238E27FC236}">
                <a16:creationId xmlns:a16="http://schemas.microsoft.com/office/drawing/2014/main" id="{2F5AD983-BBE6-4193-8F40-69616B2D18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90" b="27198"/>
          <a:stretch/>
        </p:blipFill>
        <p:spPr bwMode="auto">
          <a:xfrm>
            <a:off x="1226615" y="1367430"/>
            <a:ext cx="1059881" cy="90155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9CF763B-D7CD-4B45-B999-9F95E76DBEC6}"/>
              </a:ext>
            </a:extLst>
          </p:cNvPr>
          <p:cNvSpPr txBox="1"/>
          <p:nvPr/>
        </p:nvSpPr>
        <p:spPr>
          <a:xfrm>
            <a:off x="1835696" y="1619151"/>
            <a:ext cx="341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fontAlgn="t" latinLnBrk="0" hangingPunct="1"/>
            <a:r>
              <a:rPr lang="en-US" altLang="zh-CN" sz="1800" kern="120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|</a:t>
            </a:r>
          </a:p>
        </p:txBody>
      </p:sp>
      <p:sp>
        <p:nvSpPr>
          <p:cNvPr id="23" name="AutoShape 13">
            <a:extLst>
              <a:ext uri="{FF2B5EF4-FFF2-40B4-BE49-F238E27FC236}">
                <a16:creationId xmlns:a16="http://schemas.microsoft.com/office/drawing/2014/main" id="{A8676454-D317-4747-BBC2-6BDB1A22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1923678"/>
            <a:ext cx="3168352" cy="532115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kern="0" dirty="0">
                <a:solidFill>
                  <a:srgbClr val="FFFF00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701CB0-6362-46C9-A9D0-657B8C9B5729}"/>
              </a:ext>
            </a:extLst>
          </p:cNvPr>
          <p:cNvSpPr txBox="1"/>
          <p:nvPr/>
        </p:nvSpPr>
        <p:spPr>
          <a:xfrm>
            <a:off x="4320473" y="2069979"/>
            <a:ext cx="19797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 </a:t>
            </a:r>
            <a:r>
              <a:rPr lang="zh-CN" altLang="en-US" sz="1200" b="1" kern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非运算符 “</a:t>
            </a:r>
            <a:r>
              <a:rPr lang="en-US" altLang="zh-CN" sz="1200" b="1" kern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b="1" kern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870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 animBg="1"/>
      <p:bldP spid="23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1">
            <a:extLst>
              <a:ext uri="{FF2B5EF4-FFF2-40B4-BE49-F238E27FC236}">
                <a16:creationId xmlns:a16="http://schemas.microsoft.com/office/drawing/2014/main" id="{20A6B10E-0C1D-9D1F-8C0F-68DE524C1182}"/>
              </a:ext>
            </a:extLst>
          </p:cNvPr>
          <p:cNvSpPr txBox="1">
            <a:spLocks/>
          </p:cNvSpPr>
          <p:nvPr/>
        </p:nvSpPr>
        <p:spPr bwMode="auto">
          <a:xfrm>
            <a:off x="2668996" y="1156918"/>
            <a:ext cx="6120680" cy="4770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只有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true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时才执行子表达式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，否则</a:t>
            </a:r>
            <a:r>
              <a:rPr lang="zh-CN" altLang="en-US" sz="22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BCAE22-6C9F-60AF-25BF-B861E34AE0AF}"/>
              </a:ext>
            </a:extLst>
          </p:cNvPr>
          <p:cNvSpPr/>
          <p:nvPr/>
        </p:nvSpPr>
        <p:spPr>
          <a:xfrm>
            <a:off x="1479677" y="1198658"/>
            <a:ext cx="1189319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dist" eaLnBrk="0" hangingPunct="0"/>
            <a:r>
              <a:rPr lang="en-US" altLang="zh-CN" sz="2000" b="1" kern="0" dirty="0">
                <a:solidFill>
                  <a:srgbClr val="FFFF00"/>
                </a:solidFill>
                <a:ea typeface="宋体"/>
              </a:rPr>
              <a:t>a</a:t>
            </a:r>
            <a:r>
              <a:rPr lang="en-US" altLang="zh-CN" sz="2000" kern="0" dirty="0">
                <a:solidFill>
                  <a:schemeClr val="bg1"/>
                </a:solidFill>
                <a:ea typeface="宋体"/>
              </a:rPr>
              <a:t>&amp;&amp;</a:t>
            </a:r>
            <a:r>
              <a:rPr lang="en-US" altLang="zh-CN" sz="2000" b="1" kern="0" dirty="0">
                <a:solidFill>
                  <a:srgbClr val="FFFF00"/>
                </a:solidFill>
                <a:ea typeface="宋体"/>
              </a:rPr>
              <a:t>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C0D2AB-029E-632C-6192-F3267BFD097B}"/>
              </a:ext>
            </a:extLst>
          </p:cNvPr>
          <p:cNvSpPr/>
          <p:nvPr/>
        </p:nvSpPr>
        <p:spPr>
          <a:xfrm>
            <a:off x="1491721" y="1706749"/>
            <a:ext cx="1218525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eaLnBrk="0" hangingPunct="0"/>
            <a:r>
              <a:rPr lang="en-US" altLang="zh-CN" sz="2000" b="1" kern="0" dirty="0">
                <a:solidFill>
                  <a:srgbClr val="FFFF00"/>
                </a:solidFill>
                <a:ea typeface="宋体"/>
              </a:rPr>
              <a:t>a</a:t>
            </a:r>
            <a:r>
              <a:rPr lang="en-US" altLang="zh-CN" sz="2000" kern="0" dirty="0">
                <a:solidFill>
                  <a:schemeClr val="bg1"/>
                </a:solidFill>
                <a:ea typeface="宋体"/>
              </a:rPr>
              <a:t>||</a:t>
            </a:r>
            <a:r>
              <a:rPr lang="en-US" altLang="zh-CN" sz="2000" b="1" kern="0" dirty="0">
                <a:solidFill>
                  <a:srgbClr val="FFFF00"/>
                </a:solidFill>
                <a:ea typeface="宋体"/>
              </a:rPr>
              <a:t>b</a:t>
            </a:r>
          </a:p>
        </p:txBody>
      </p:sp>
      <p:sp>
        <p:nvSpPr>
          <p:cNvPr id="14" name="内容占位符 1">
            <a:extLst>
              <a:ext uri="{FF2B5EF4-FFF2-40B4-BE49-F238E27FC236}">
                <a16:creationId xmlns:a16="http://schemas.microsoft.com/office/drawing/2014/main" id="{39637FBE-500D-1670-A6AB-76D9DA1A8DA1}"/>
              </a:ext>
            </a:extLst>
          </p:cNvPr>
          <p:cNvSpPr txBox="1">
            <a:spLocks/>
          </p:cNvSpPr>
          <p:nvPr/>
        </p:nvSpPr>
        <p:spPr bwMode="auto">
          <a:xfrm>
            <a:off x="2668886" y="1669228"/>
            <a:ext cx="61926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tabLst/>
              <a:defRPr kumimoji="0" sz="2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indent="0" eaLnBrk="0" hangingPunct="0">
              <a:spcBef>
                <a:spcPct val="20000"/>
              </a:spcBef>
              <a:buFontTx/>
              <a:buNone/>
              <a:defRPr sz="2800">
                <a:latin typeface="+mn-lt"/>
                <a:ea typeface="+mn-ea"/>
              </a:defRPr>
            </a:lvl2pPr>
            <a:lvl3pPr indent="0" eaLnBrk="0" hangingPunct="0">
              <a:spcBef>
                <a:spcPct val="20000"/>
              </a:spcBef>
              <a:buFontTx/>
              <a:buNone/>
              <a:defRPr sz="2400">
                <a:latin typeface="+mn-lt"/>
                <a:ea typeface="+mn-ea"/>
              </a:defRPr>
            </a:lvl3pPr>
            <a:lvl4pPr indent="0" eaLnBrk="0" hangingPunct="0">
              <a:spcBef>
                <a:spcPct val="20000"/>
              </a:spcBef>
              <a:buFontTx/>
              <a:buNone/>
              <a:defRPr sz="2000">
                <a:latin typeface="+mn-lt"/>
                <a:ea typeface="+mn-ea"/>
              </a:defRPr>
            </a:lvl4pPr>
            <a:lvl5pPr indent="0" eaLnBrk="0" hangingPunct="0">
              <a:spcBef>
                <a:spcPct val="20000"/>
              </a:spcBef>
              <a:buFontTx/>
              <a:buNone/>
              <a:defRPr sz="2000">
                <a:latin typeface="+mn-lt"/>
                <a:ea typeface="+mn-ea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只有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en-US" altLang="zh-CN" dirty="0"/>
              <a:t>false</a:t>
            </a:r>
            <a:r>
              <a:rPr lang="zh-CN" altLang="en-US" dirty="0"/>
              <a:t>时才执行子表达式</a:t>
            </a:r>
            <a:r>
              <a:rPr lang="en-US" altLang="zh-CN" dirty="0"/>
              <a:t>b</a:t>
            </a:r>
            <a:r>
              <a:rPr lang="zh-CN" altLang="en-US" dirty="0"/>
              <a:t>，否则结果为</a:t>
            </a:r>
            <a:r>
              <a:rPr lang="en-US" altLang="zh-CN" dirty="0"/>
              <a:t>true</a:t>
            </a:r>
            <a:endParaRPr lang="zh-CN" altLang="en-US" dirty="0"/>
          </a:p>
        </p:txBody>
      </p:sp>
      <p:sp>
        <p:nvSpPr>
          <p:cNvPr id="15" name="内容占位符 1">
            <a:extLst>
              <a:ext uri="{FF2B5EF4-FFF2-40B4-BE49-F238E27FC236}">
                <a16:creationId xmlns:a16="http://schemas.microsoft.com/office/drawing/2014/main" id="{1633100E-FEFD-8F29-0358-AAD9407F0FDC}"/>
              </a:ext>
            </a:extLst>
          </p:cNvPr>
          <p:cNvSpPr txBox="1">
            <a:spLocks/>
          </p:cNvSpPr>
          <p:nvPr/>
        </p:nvSpPr>
        <p:spPr bwMode="auto">
          <a:xfrm>
            <a:off x="514484" y="3128471"/>
            <a:ext cx="3636403" cy="17162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FontTx/>
              <a:buNone/>
              <a:defRPr sz="2000" kern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indent="0" eaLnBrk="0" hangingPunct="0">
              <a:spcBef>
                <a:spcPct val="20000"/>
              </a:spcBef>
              <a:buFontTx/>
              <a:buNone/>
              <a:defRPr sz="2800">
                <a:latin typeface="+mn-lt"/>
                <a:ea typeface="+mn-ea"/>
              </a:defRPr>
            </a:lvl2pPr>
            <a:lvl3pPr indent="0" eaLnBrk="0" hangingPunct="0">
              <a:spcBef>
                <a:spcPct val="20000"/>
              </a:spcBef>
              <a:buFontTx/>
              <a:buNone/>
              <a:defRPr sz="2400">
                <a:latin typeface="+mn-lt"/>
                <a:ea typeface="+mn-ea"/>
              </a:defRPr>
            </a:lvl3pPr>
            <a:lvl4pPr indent="0" eaLnBrk="0" hangingPunct="0">
              <a:spcBef>
                <a:spcPct val="20000"/>
              </a:spcBef>
              <a:buFontTx/>
              <a:buNone/>
              <a:defRPr sz="2000">
                <a:latin typeface="+mn-lt"/>
                <a:ea typeface="+mn-ea"/>
              </a:defRPr>
            </a:lvl4pPr>
            <a:lvl5pPr indent="0" eaLnBrk="0" hangingPunct="0">
              <a:spcBef>
                <a:spcPct val="20000"/>
              </a:spcBef>
              <a:buFontTx/>
              <a:buNone/>
              <a:defRPr sz="2000">
                <a:latin typeface="+mn-lt"/>
                <a:ea typeface="+mn-ea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9pPr>
          </a:lstStyle>
          <a:p>
            <a:pPr>
              <a:lnSpc>
                <a:spcPts val="2900"/>
              </a:lnSpc>
              <a:spcBef>
                <a:spcPts val="0"/>
              </a:spcBef>
            </a:pPr>
            <a:endParaRPr lang="zh-CN" altLang="en-US" sz="24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A20C441-48DA-4EA8-A331-06F4EF08BCC8}"/>
              </a:ext>
            </a:extLst>
          </p:cNvPr>
          <p:cNvSpPr txBox="1"/>
          <p:nvPr/>
        </p:nvSpPr>
        <p:spPr>
          <a:xfrm>
            <a:off x="569141" y="709695"/>
            <a:ext cx="8461715" cy="3847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 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语言短路与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 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和短路或 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|| 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运算符分别对应于逻辑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 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BE89EF76-2D3B-4227-BBD0-2C379C8D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197342"/>
            <a:ext cx="6336704" cy="438150"/>
          </a:xfrm>
        </p:spPr>
        <p:txBody>
          <a:bodyPr/>
          <a:lstStyle/>
          <a:p>
            <a:r>
              <a:rPr lang="en-US" altLang="zh-CN" sz="3200" kern="1200" dirty="0">
                <a:solidFill>
                  <a:srgbClr val="0070C0"/>
                </a:solidFill>
                <a:cs typeface="+mn-cs"/>
              </a:rPr>
              <a:t>§1.5.1.2. </a:t>
            </a:r>
            <a:r>
              <a:rPr lang="zh-CN" altLang="en-US" sz="3200" kern="1200" dirty="0">
                <a:solidFill>
                  <a:srgbClr val="0070C0"/>
                </a:solidFill>
                <a:cs typeface="+mn-cs"/>
              </a:rPr>
              <a:t>逻辑运算</a:t>
            </a:r>
            <a:r>
              <a:rPr lang="en-US" altLang="zh-CN" dirty="0">
                <a:solidFill>
                  <a:srgbClr val="FF0000"/>
                </a:solidFill>
              </a:rPr>
              <a:t>——2. </a:t>
            </a:r>
            <a:r>
              <a:rPr lang="zh-CN" altLang="en-US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短路运算</a:t>
            </a:r>
            <a:endParaRPr lang="zh-CN" altLang="en-US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82F471-8926-472C-BB6F-EEB4248F2780}"/>
              </a:ext>
            </a:extLst>
          </p:cNvPr>
          <p:cNvSpPr txBox="1"/>
          <p:nvPr/>
        </p:nvSpPr>
        <p:spPr>
          <a:xfrm>
            <a:off x="515564" y="1744917"/>
            <a:ext cx="104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短路或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0177F2-613C-487A-83EF-5359F7814FDB}"/>
              </a:ext>
            </a:extLst>
          </p:cNvPr>
          <p:cNvSpPr txBox="1"/>
          <p:nvPr/>
        </p:nvSpPr>
        <p:spPr>
          <a:xfrm>
            <a:off x="508525" y="1209123"/>
            <a:ext cx="104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短路与</a:t>
            </a:r>
          </a:p>
        </p:txBody>
      </p:sp>
      <p:sp>
        <p:nvSpPr>
          <p:cNvPr id="21" name="波形 20">
            <a:extLst>
              <a:ext uri="{FF2B5EF4-FFF2-40B4-BE49-F238E27FC236}">
                <a16:creationId xmlns:a16="http://schemas.microsoft.com/office/drawing/2014/main" id="{46081A73-DDD9-465D-85EC-A9AE27354714}"/>
              </a:ext>
            </a:extLst>
          </p:cNvPr>
          <p:cNvSpPr/>
          <p:nvPr/>
        </p:nvSpPr>
        <p:spPr>
          <a:xfrm>
            <a:off x="623807" y="2200643"/>
            <a:ext cx="995864" cy="3801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例151-1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5686ED-0D7B-43FE-AF3D-F5845F3C82A7}"/>
              </a:ext>
            </a:extLst>
          </p:cNvPr>
          <p:cNvSpPr txBox="1"/>
          <p:nvPr/>
        </p:nvSpPr>
        <p:spPr>
          <a:xfrm>
            <a:off x="1619672" y="2195808"/>
            <a:ext cx="7411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分别用“短路与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”和“短路或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||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”判断成绩及格不及格</a:t>
            </a:r>
            <a:endParaRPr lang="zh-CN" altLang="en-US" sz="2000" dirty="0"/>
          </a:p>
        </p:txBody>
      </p:sp>
      <p:sp>
        <p:nvSpPr>
          <p:cNvPr id="22" name="内容占位符 1">
            <a:extLst>
              <a:ext uri="{FF2B5EF4-FFF2-40B4-BE49-F238E27FC236}">
                <a16:creationId xmlns:a16="http://schemas.microsoft.com/office/drawing/2014/main" id="{9A3CBA36-1275-4E93-81E2-95565CF67D41}"/>
              </a:ext>
            </a:extLst>
          </p:cNvPr>
          <p:cNvSpPr txBox="1">
            <a:spLocks/>
          </p:cNvSpPr>
          <p:nvPr/>
        </p:nvSpPr>
        <p:spPr bwMode="auto">
          <a:xfrm>
            <a:off x="589092" y="2663850"/>
            <a:ext cx="3636403" cy="1887401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FontTx/>
              <a:buNone/>
              <a:defRPr sz="2000" kern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indent="0" eaLnBrk="0" hangingPunct="0">
              <a:spcBef>
                <a:spcPct val="20000"/>
              </a:spcBef>
              <a:buFontTx/>
              <a:buNone/>
              <a:defRPr sz="2800">
                <a:latin typeface="+mn-lt"/>
                <a:ea typeface="+mn-ea"/>
              </a:defRPr>
            </a:lvl2pPr>
            <a:lvl3pPr indent="0" eaLnBrk="0" hangingPunct="0">
              <a:spcBef>
                <a:spcPct val="20000"/>
              </a:spcBef>
              <a:buFontTx/>
              <a:buNone/>
              <a:defRPr sz="2400">
                <a:latin typeface="+mn-lt"/>
                <a:ea typeface="+mn-ea"/>
              </a:defRPr>
            </a:lvl3pPr>
            <a:lvl4pPr indent="0" eaLnBrk="0" hangingPunct="0">
              <a:spcBef>
                <a:spcPct val="20000"/>
              </a:spcBef>
              <a:buFontTx/>
              <a:buNone/>
              <a:defRPr sz="2000">
                <a:latin typeface="+mn-lt"/>
                <a:ea typeface="+mn-ea"/>
              </a:defRPr>
            </a:lvl4pPr>
            <a:lvl5pPr indent="0" eaLnBrk="0" hangingPunct="0">
              <a:spcBef>
                <a:spcPct val="20000"/>
              </a:spcBef>
              <a:buFontTx/>
              <a:buNone/>
              <a:defRPr sz="2000">
                <a:latin typeface="+mn-lt"/>
                <a:ea typeface="+mn-ea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dirty="0"/>
              <a:t>x=90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x&gt;=60</a:t>
            </a:r>
            <a:r>
              <a:rPr lang="en-US" altLang="zh-CN" sz="2400" dirty="0"/>
              <a:t>&amp;&amp;</a:t>
            </a:r>
            <a:r>
              <a:rPr lang="en-US" altLang="zh-CN" sz="2400" dirty="0">
                <a:solidFill>
                  <a:srgbClr val="FF0000"/>
                </a:solidFill>
              </a:rPr>
              <a:t>"</a:t>
            </a:r>
            <a:r>
              <a:rPr lang="zh-CN" altLang="en-US" sz="2400" dirty="0">
                <a:solidFill>
                  <a:srgbClr val="FF0000"/>
                </a:solidFill>
              </a:rPr>
              <a:t>及格</a:t>
            </a:r>
            <a:r>
              <a:rPr lang="en-US" altLang="zh-CN" sz="2400" dirty="0">
                <a:solidFill>
                  <a:srgbClr val="FF0000"/>
                </a:solidFill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#</a:t>
            </a:r>
            <a:r>
              <a:rPr lang="zh-CN" altLang="en-US" sz="2400" dirty="0">
                <a:solidFill>
                  <a:srgbClr val="00B0F0"/>
                </a:solidFill>
              </a:rPr>
              <a:t>结果</a:t>
            </a:r>
            <a:r>
              <a:rPr lang="en-US" altLang="zh-CN" sz="2400" dirty="0">
                <a:solidFill>
                  <a:srgbClr val="00B0F0"/>
                </a:solidFill>
              </a:rPr>
              <a:t>"</a:t>
            </a:r>
            <a:r>
              <a:rPr lang="zh-CN" altLang="en-US" sz="2400" dirty="0">
                <a:solidFill>
                  <a:srgbClr val="00B0F0"/>
                </a:solidFill>
              </a:rPr>
              <a:t>及格</a:t>
            </a:r>
            <a:r>
              <a:rPr lang="en-US" altLang="zh-CN" sz="2400" dirty="0">
                <a:solidFill>
                  <a:srgbClr val="00B0F0"/>
                </a:solidFill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 x&lt;60</a:t>
            </a:r>
            <a:r>
              <a:rPr lang="en-US" altLang="zh-CN" sz="2400" dirty="0"/>
              <a:t>&amp;&amp;"</a:t>
            </a:r>
            <a:r>
              <a:rPr lang="zh-CN" altLang="en-US" sz="2400" dirty="0">
                <a:solidFill>
                  <a:srgbClr val="FF0000"/>
                </a:solidFill>
              </a:rPr>
              <a:t>不及格</a:t>
            </a:r>
            <a:r>
              <a:rPr lang="en-US" altLang="zh-CN" sz="2400" dirty="0"/>
              <a:t>"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solidFill>
                  <a:srgbClr val="00B0F0"/>
                </a:solidFill>
              </a:rPr>
              <a:t>#</a:t>
            </a:r>
            <a:r>
              <a:rPr lang="zh-CN" altLang="en-US" sz="2400" dirty="0">
                <a:solidFill>
                  <a:srgbClr val="00B0F0"/>
                </a:solidFill>
              </a:rPr>
              <a:t>结果</a:t>
            </a:r>
            <a:r>
              <a:rPr lang="en-US" altLang="zh-CN" sz="2400" dirty="0">
                <a:solidFill>
                  <a:srgbClr val="00B0F0"/>
                </a:solidFill>
              </a:rPr>
              <a:t>false</a:t>
            </a:r>
          </a:p>
          <a:p>
            <a:endParaRPr lang="zh-CN" altLang="en-US" sz="2400" dirty="0"/>
          </a:p>
        </p:txBody>
      </p:sp>
      <p:sp>
        <p:nvSpPr>
          <p:cNvPr id="24" name="内容占位符 1">
            <a:extLst>
              <a:ext uri="{FF2B5EF4-FFF2-40B4-BE49-F238E27FC236}">
                <a16:creationId xmlns:a16="http://schemas.microsoft.com/office/drawing/2014/main" id="{009335F0-CC45-4C38-B607-A4B1BBF230D9}"/>
              </a:ext>
            </a:extLst>
          </p:cNvPr>
          <p:cNvSpPr txBox="1">
            <a:spLocks/>
          </p:cNvSpPr>
          <p:nvPr/>
        </p:nvSpPr>
        <p:spPr bwMode="auto">
          <a:xfrm>
            <a:off x="5167982" y="2658870"/>
            <a:ext cx="3839167" cy="189736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 x=90</a:t>
            </a:r>
          </a:p>
          <a:p>
            <a:pPr>
              <a:spcBef>
                <a:spcPts val="0"/>
              </a:spcBef>
            </a:pPr>
            <a:r>
              <a:rPr lang="en-US" altLang="zh-CN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 x&lt;=60||"</a:t>
            </a:r>
            <a:r>
              <a:rPr lang="zh-CN" altLang="en-US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及格</a:t>
            </a:r>
            <a:r>
              <a:rPr lang="en-US" altLang="zh-CN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altLang="zh-CN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及格</a:t>
            </a:r>
            <a:r>
              <a:rPr lang="en-US" altLang="zh-CN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altLang="zh-CN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x&gt;=60||"</a:t>
            </a:r>
            <a:r>
              <a:rPr lang="zh-CN" altLang="en-US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不及格</a:t>
            </a:r>
            <a:r>
              <a:rPr lang="en-US" altLang="zh-CN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</a:p>
          <a:p>
            <a:pPr>
              <a:spcBef>
                <a:spcPts val="0"/>
              </a:spcBef>
            </a:pPr>
            <a:r>
              <a:rPr lang="en-US" altLang="zh-CN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true</a:t>
            </a:r>
            <a:endParaRPr lang="zh-CN" altLang="en-US" kern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809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0E0F68D8-3EBC-005C-1AA3-9718B5A09D5F}"/>
              </a:ext>
            </a:extLst>
          </p:cNvPr>
          <p:cNvSpPr txBox="1">
            <a:spLocks/>
          </p:cNvSpPr>
          <p:nvPr/>
        </p:nvSpPr>
        <p:spPr bwMode="auto">
          <a:xfrm>
            <a:off x="1403648" y="193893"/>
            <a:ext cx="6515101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000" b="1" kern="1200" dirty="0">
                <a:solidFill>
                  <a:srgbClr val="0070C0"/>
                </a:solidFill>
                <a:cs typeface="+mn-cs"/>
              </a:rPr>
              <a:t>§1.5.1.3. </a:t>
            </a:r>
            <a:r>
              <a:rPr lang="zh-CN" altLang="en-US" sz="3000" b="1" kern="1200" dirty="0">
                <a:solidFill>
                  <a:srgbClr val="0070C0"/>
                </a:solidFill>
                <a:cs typeface="+mn-cs"/>
              </a:rPr>
              <a:t>关系运算</a:t>
            </a:r>
            <a:r>
              <a:rPr lang="en-US" altLang="zh-CN" sz="3000" kern="0" dirty="0">
                <a:solidFill>
                  <a:srgbClr val="FF0000"/>
                </a:solidFill>
              </a:rPr>
              <a:t>——1. </a:t>
            </a:r>
            <a:r>
              <a:rPr lang="zh-CN" altLang="en-US" sz="3000" kern="0" dirty="0">
                <a:solidFill>
                  <a:srgbClr val="FF0000"/>
                </a:solidFill>
              </a:rPr>
              <a:t>关系运算符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8A085D-960B-561E-08B3-F4F9D3039123}"/>
              </a:ext>
            </a:extLst>
          </p:cNvPr>
          <p:cNvSpPr txBox="1"/>
          <p:nvPr/>
        </p:nvSpPr>
        <p:spPr>
          <a:xfrm>
            <a:off x="3289892" y="2012842"/>
            <a:ext cx="5746604" cy="48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dist">
              <a:lnSpc>
                <a:spcPts val="3400"/>
              </a:lnSpc>
              <a:buFont typeface="+mj-ea"/>
              <a:buAutoNum type="circleNumDbPlain" startAt="3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关系运算结果：真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 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和假 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逻辑变量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C4600A-3315-11E0-8634-CA1F07F93A61}"/>
              </a:ext>
            </a:extLst>
          </p:cNvPr>
          <p:cNvSpPr txBox="1"/>
          <p:nvPr/>
        </p:nvSpPr>
        <p:spPr>
          <a:xfrm>
            <a:off x="3617849" y="1587646"/>
            <a:ext cx="20893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&lt; 2 &lt;= 3!= 5</a:t>
            </a:r>
            <a:endParaRPr lang="en-US" altLang="zh-CN" sz="2000" b="1" i="0" u="none" strike="noStrike" baseline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A3AC6E-3FDF-4D0B-9DB5-31B7F426D232}"/>
              </a:ext>
            </a:extLst>
          </p:cNvPr>
          <p:cNvSpPr txBox="1"/>
          <p:nvPr/>
        </p:nvSpPr>
        <p:spPr>
          <a:xfrm>
            <a:off x="6868074" y="1131590"/>
            <a:ext cx="1440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</a:rPr>
              <a:t>#</a:t>
            </a:r>
            <a:r>
              <a:rPr lang="zh-CN" altLang="en-US" sz="2000" b="1" dirty="0">
                <a:solidFill>
                  <a:srgbClr val="00B0F0"/>
                </a:solidFill>
              </a:rPr>
              <a:t>结果</a:t>
            </a:r>
            <a:r>
              <a:rPr lang="en-US" altLang="zh-CN" sz="2000" b="1" dirty="0">
                <a:solidFill>
                  <a:srgbClr val="00B0F0"/>
                </a:solidFill>
              </a:rPr>
              <a:t>true</a:t>
            </a:r>
            <a:endParaRPr lang="zh-CN" altLang="en-US" sz="2000" b="1" dirty="0">
              <a:solidFill>
                <a:srgbClr val="00B0F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B621BB-6065-4C00-90A5-3BCC66C9515B}"/>
              </a:ext>
            </a:extLst>
          </p:cNvPr>
          <p:cNvSpPr txBox="1"/>
          <p:nvPr/>
        </p:nvSpPr>
        <p:spPr>
          <a:xfrm>
            <a:off x="3289711" y="686902"/>
            <a:ext cx="58542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链式比较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将多个比较操作合并成复合表达式</a:t>
            </a:r>
            <a:endParaRPr lang="en-US" altLang="zh-CN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30E73ACB-4EC2-499A-A247-167BC301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67" y="4022429"/>
            <a:ext cx="1065508" cy="61324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75DF06F-51A8-4512-B28E-A8774314F911}"/>
              </a:ext>
            </a:extLst>
          </p:cNvPr>
          <p:cNvSpPr txBox="1"/>
          <p:nvPr/>
        </p:nvSpPr>
        <p:spPr>
          <a:xfrm>
            <a:off x="1244612" y="4171957"/>
            <a:ext cx="7899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六个关系运算符：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==,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~=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,&lt;,&lt;=,&gt;,&gt;=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，无链式比较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02EF8AB-7594-44A6-97B5-38787D4B9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86515"/>
              </p:ext>
            </p:extLst>
          </p:nvPr>
        </p:nvGraphicFramePr>
        <p:xfrm>
          <a:off x="561679" y="1342486"/>
          <a:ext cx="2341384" cy="2525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442">
                  <a:extLst>
                    <a:ext uri="{9D8B030D-6E8A-4147-A177-3AD203B41FA5}">
                      <a16:colId xmlns:a16="http://schemas.microsoft.com/office/drawing/2014/main" val="644524048"/>
                    </a:ext>
                  </a:extLst>
                </a:gridCol>
                <a:gridCol w="1439942">
                  <a:extLst>
                    <a:ext uri="{9D8B030D-6E8A-4147-A177-3AD203B41FA5}">
                      <a16:colId xmlns:a16="http://schemas.microsoft.com/office/drawing/2014/main" val="1496062879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运算符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26102726"/>
                  </a:ext>
                </a:extLst>
              </a:tr>
              <a:tr h="355388"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</a:t>
                      </a:r>
                      <a:endParaRPr lang="zh-CN" altLang="en-US" sz="16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等于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15643398"/>
                  </a:ext>
                </a:extLst>
              </a:tr>
              <a:tr h="35538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≠或</a:t>
                      </a:r>
                      <a:r>
                        <a:rPr lang="en-US" altLang="zh-CN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!=</a:t>
                      </a:r>
                      <a:endParaRPr lang="zh-CN" altLang="en-US" sz="16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不等于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63492871"/>
                  </a:ext>
                </a:extLst>
              </a:tr>
              <a:tr h="35538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＜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52745092"/>
                  </a:ext>
                </a:extLst>
              </a:tr>
              <a:tr h="35538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&lt;=</a:t>
                      </a:r>
                      <a:r>
                        <a:rPr lang="zh-CN" altLang="en-US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zh-CN" altLang="en-US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≤</a:t>
                      </a:r>
                      <a:endParaRPr lang="zh-CN" altLang="en-US" sz="16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小于等于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42873971"/>
                  </a:ext>
                </a:extLst>
              </a:tr>
              <a:tr h="355388"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90172420"/>
                  </a:ext>
                </a:extLst>
              </a:tr>
              <a:tr h="355388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</a:t>
                      </a:r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zh-CN" altLang="en-US" sz="16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</a:t>
                      </a:r>
                      <a:endParaRPr lang="zh-CN" altLang="en-US" sz="16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大于等于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70C0">
                            <a:shade val="30000"/>
                            <a:satMod val="115000"/>
                          </a:srgbClr>
                        </a:gs>
                        <a:gs pos="50000">
                          <a:srgbClr val="0070C0">
                            <a:shade val="67500"/>
                            <a:satMod val="115000"/>
                          </a:srgbClr>
                        </a:gs>
                        <a:gs pos="100000">
                          <a:srgbClr val="0070C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12007117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766221EF-21C2-4CFD-A123-2F8096850A2A}"/>
              </a:ext>
            </a:extLst>
          </p:cNvPr>
          <p:cNvSpPr txBox="1"/>
          <p:nvPr/>
        </p:nvSpPr>
        <p:spPr>
          <a:xfrm>
            <a:off x="445838" y="714635"/>
            <a:ext cx="252539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关系运算符列表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E8625E-4E1E-47C6-8D19-53C7D5E95F8E}"/>
              </a:ext>
            </a:extLst>
          </p:cNvPr>
          <p:cNvSpPr txBox="1"/>
          <p:nvPr/>
        </p:nvSpPr>
        <p:spPr>
          <a:xfrm>
            <a:off x="3635896" y="1152794"/>
            <a:ext cx="33123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&lt; 2 and  2 &lt;= 3  and 3!= 5</a:t>
            </a:r>
            <a:endParaRPr lang="en-US" altLang="zh-CN" sz="2000" b="1" i="0" u="none" strike="noStrike" baseline="0" dirty="0">
              <a:solidFill>
                <a:schemeClr val="tx2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A2D2B9-56AE-464F-BD5A-43DE42ABC4DB}"/>
              </a:ext>
            </a:extLst>
          </p:cNvPr>
          <p:cNvSpPr txBox="1"/>
          <p:nvPr/>
        </p:nvSpPr>
        <p:spPr>
          <a:xfrm>
            <a:off x="5292080" y="1599153"/>
            <a:ext cx="3583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链式比较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操作方便数值代码书写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CD04FB-E64E-4806-9D47-1B1E7191C98C}"/>
              </a:ext>
            </a:extLst>
          </p:cNvPr>
          <p:cNvSpPr txBox="1"/>
          <p:nvPr/>
        </p:nvSpPr>
        <p:spPr>
          <a:xfrm>
            <a:off x="3659959" y="2918791"/>
            <a:ext cx="4249761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dirty="0"/>
              <a:t>julia&gt; a=100==100   </a:t>
            </a:r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结果</a:t>
            </a:r>
            <a:r>
              <a:rPr lang="en-US" altLang="zh-CN" b="1" dirty="0">
                <a:solidFill>
                  <a:srgbClr val="00B0F0"/>
                </a:solidFill>
              </a:rPr>
              <a:t>a=</a:t>
            </a:r>
            <a:r>
              <a:rPr lang="zh-CN" altLang="en-US" b="1" dirty="0">
                <a:solidFill>
                  <a:srgbClr val="00B0F0"/>
                </a:solidFill>
              </a:rPr>
              <a:t>true</a:t>
            </a:r>
          </a:p>
          <a:p>
            <a:pPr>
              <a:lnSpc>
                <a:spcPts val="2900"/>
              </a:lnSpc>
            </a:pPr>
            <a:r>
              <a:rPr lang="zh-CN" altLang="en-US" dirty="0"/>
              <a:t>julia&gt; </a:t>
            </a:r>
            <a:r>
              <a:rPr lang="en-US" altLang="zh-CN" dirty="0"/>
              <a:t>a=(</a:t>
            </a:r>
            <a:r>
              <a:rPr lang="zh-CN" altLang="en-US" dirty="0"/>
              <a:t>100&gt;=102</a:t>
            </a:r>
            <a:r>
              <a:rPr lang="en-US" altLang="zh-CN" dirty="0"/>
              <a:t>)</a:t>
            </a:r>
            <a:r>
              <a:rPr lang="zh-CN" altLang="en-US" dirty="0"/>
              <a:t>    </a:t>
            </a:r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结果false</a:t>
            </a:r>
          </a:p>
          <a:p>
            <a:pPr>
              <a:lnSpc>
                <a:spcPts val="2900"/>
              </a:lnSpc>
            </a:pPr>
            <a:r>
              <a:rPr lang="zh-CN" altLang="en-US" dirty="0"/>
              <a:t>julia&gt; 100!=102   </a:t>
            </a:r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结果</a:t>
            </a:r>
            <a:r>
              <a:rPr lang="en-US" altLang="zh-CN" b="1" dirty="0">
                <a:solidFill>
                  <a:srgbClr val="00B0F0"/>
                </a:solidFill>
              </a:rPr>
              <a:t>T</a:t>
            </a:r>
            <a:r>
              <a:rPr lang="zh-CN" altLang="en-US" b="1" dirty="0">
                <a:solidFill>
                  <a:srgbClr val="00B0F0"/>
                </a:solidFill>
              </a:rPr>
              <a:t>rue</a:t>
            </a:r>
            <a:endParaRPr lang="en-US" altLang="zh-CN" b="1" dirty="0">
              <a:solidFill>
                <a:srgbClr val="00B0F0"/>
              </a:solidFill>
            </a:endParaRPr>
          </a:p>
        </p:txBody>
      </p:sp>
      <p:sp>
        <p:nvSpPr>
          <p:cNvPr id="25" name="波形 24">
            <a:extLst>
              <a:ext uri="{FF2B5EF4-FFF2-40B4-BE49-F238E27FC236}">
                <a16:creationId xmlns:a16="http://schemas.microsoft.com/office/drawing/2014/main" id="{234F43A7-89DC-4005-9BBE-B8C439BCB2F4}"/>
              </a:ext>
            </a:extLst>
          </p:cNvPr>
          <p:cNvSpPr/>
          <p:nvPr/>
        </p:nvSpPr>
        <p:spPr>
          <a:xfrm>
            <a:off x="3761865" y="2558465"/>
            <a:ext cx="850248" cy="3801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例151-2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4A82F79-FC7B-4F5D-A57B-1A595F50265D}"/>
              </a:ext>
            </a:extLst>
          </p:cNvPr>
          <p:cNvSpPr txBox="1"/>
          <p:nvPr/>
        </p:nvSpPr>
        <p:spPr>
          <a:xfrm>
            <a:off x="4612113" y="2548476"/>
            <a:ext cx="4568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判断不同关系运算符运算的真和假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67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4" grpId="0"/>
      <p:bldP spid="12" grpId="0"/>
      <p:bldP spid="17" grpId="0" animBg="1"/>
      <p:bldP spid="18" grpId="0"/>
      <p:bldP spid="22" grpId="0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4C392-4139-FFA8-6A43-678DC576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276" y="-308570"/>
            <a:ext cx="7667625" cy="942206"/>
          </a:xfrm>
        </p:spPr>
        <p:txBody>
          <a:bodyPr/>
          <a:lstStyle/>
          <a:p>
            <a:b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49184F8-DCA4-8AA8-4081-D01EC17DF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843706"/>
              </p:ext>
            </p:extLst>
          </p:nvPr>
        </p:nvGraphicFramePr>
        <p:xfrm>
          <a:off x="165045" y="1047517"/>
          <a:ext cx="8684198" cy="3342211"/>
        </p:xfrm>
        <a:graphic>
          <a:graphicData uri="http://schemas.openxmlformats.org/drawingml/2006/table">
            <a:tbl>
              <a:tblPr/>
              <a:tblGrid>
                <a:gridCol w="977807">
                  <a:extLst>
                    <a:ext uri="{9D8B030D-6E8A-4147-A177-3AD203B41FA5}">
                      <a16:colId xmlns:a16="http://schemas.microsoft.com/office/drawing/2014/main" val="2911983618"/>
                    </a:ext>
                  </a:extLst>
                </a:gridCol>
                <a:gridCol w="4171272">
                  <a:extLst>
                    <a:ext uri="{9D8B030D-6E8A-4147-A177-3AD203B41FA5}">
                      <a16:colId xmlns:a16="http://schemas.microsoft.com/office/drawing/2014/main" val="1746175533"/>
                    </a:ext>
                  </a:extLst>
                </a:gridCol>
                <a:gridCol w="3535119">
                  <a:extLst>
                    <a:ext uri="{9D8B030D-6E8A-4147-A177-3AD203B41FA5}">
                      <a16:colId xmlns:a16="http://schemas.microsoft.com/office/drawing/2014/main" val="2882650375"/>
                    </a:ext>
                  </a:extLst>
                </a:gridCol>
              </a:tblGrid>
              <a:tr h="331626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运算符</a:t>
                      </a:r>
                    </a:p>
                  </a:txBody>
                  <a:tcPr marL="4606" marR="4606" marT="4606" marB="4606">
                    <a:lnL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描述</a:t>
                      </a:r>
                    </a:p>
                  </a:txBody>
                  <a:tcPr marL="4606" marR="4606" marT="4606" marB="4606">
                    <a:lnL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示例</a:t>
                      </a:r>
                    </a:p>
                  </a:txBody>
                  <a:tcPr marL="4606" marR="4606" marT="4606" marB="4606">
                    <a:lnL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231009"/>
                  </a:ext>
                </a:extLst>
              </a:tr>
              <a:tr h="602117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等号赋值</a:t>
                      </a:r>
                      <a:r>
                        <a:rPr lang="en-US" altLang="zh-CN" sz="1600" b="1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简单的赋值运算符，把右边操作数的值赋给左边操作数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=C+A </a:t>
                      </a:r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将</a:t>
                      </a:r>
                      <a:r>
                        <a:rPr lang="en-US" altLang="zh-CN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C+A</a:t>
                      </a:r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的值赋值给 </a:t>
                      </a:r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580449"/>
                  </a:ext>
                </a:extLst>
              </a:tr>
              <a:tr h="602117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加法赋值</a:t>
                      </a:r>
                      <a:r>
                        <a:rPr lang="en-US" altLang="zh-CN" sz="1600" b="1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加且赋值运算符，把右边操作数加上左边操作数的结果赋值给左边操作数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+= A </a:t>
                      </a:r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相当于 </a:t>
                      </a:r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+ A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725194"/>
                  </a:ext>
                </a:extLst>
              </a:tr>
              <a:tr h="602117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减法赋值</a:t>
                      </a:r>
                      <a:endParaRPr lang="en-US" altLang="zh-CN" sz="1600" b="1" i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fontAlgn="t" latinLnBrk="0" hangingPunct="1"/>
                      <a:r>
                        <a:rPr lang="en-US" altLang="zh-CN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减且赋值运算符，把左边操作数减去右边操作数的结果赋值给左边操作数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-= A </a:t>
                      </a:r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相当于 </a:t>
                      </a:r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- A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06836"/>
                  </a:ext>
                </a:extLst>
              </a:tr>
              <a:tr h="602117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乘法赋值*</a:t>
                      </a:r>
                      <a:r>
                        <a:rPr lang="en-US" altLang="zh-CN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乘且赋值运算符，把右边操作数乘以左边操作数的结果赋值给左边操作数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*= A </a:t>
                      </a:r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相当于 </a:t>
                      </a:r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* A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30482"/>
                  </a:ext>
                </a:extLst>
              </a:tr>
              <a:tr h="602117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除法赋值</a:t>
                      </a:r>
                      <a:r>
                        <a:rPr lang="en-US" altLang="zh-CN" sz="1600" b="1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除且赋值运算符，把左边操作数除以右边操作数的结果赋值给左边操作数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/= A </a:t>
                      </a:r>
                      <a:r>
                        <a:rPr lang="zh-CN" alt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相当于 </a:t>
                      </a:r>
                      <a:r>
                        <a:rPr lang="en-US" sz="16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/ A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567690"/>
                  </a:ext>
                </a:extLst>
              </a:tr>
            </a:tbl>
          </a:graphicData>
        </a:graphic>
      </p:graphicFrame>
      <p:sp>
        <p:nvSpPr>
          <p:cNvPr id="11" name="标题 1">
            <a:extLst>
              <a:ext uri="{FF2B5EF4-FFF2-40B4-BE49-F238E27FC236}">
                <a16:creationId xmlns:a16="http://schemas.microsoft.com/office/drawing/2014/main" id="{505DAC19-96CB-3F86-5A6C-09A5A58495E9}"/>
              </a:ext>
            </a:extLst>
          </p:cNvPr>
          <p:cNvSpPr txBox="1">
            <a:spLocks/>
          </p:cNvSpPr>
          <p:nvPr/>
        </p:nvSpPr>
        <p:spPr bwMode="auto">
          <a:xfrm>
            <a:off x="962122" y="172303"/>
            <a:ext cx="77758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>
                <a:solidFill>
                  <a:srgbClr val="0070C0"/>
                </a:solidFill>
              </a:rPr>
              <a:t>§1.5.1.4. </a:t>
            </a:r>
            <a:r>
              <a:rPr lang="zh-CN" altLang="en-US" sz="2800" dirty="0">
                <a:solidFill>
                  <a:srgbClr val="0070C0"/>
                </a:solidFill>
              </a:rPr>
              <a:t>复合赋值运算</a:t>
            </a:r>
            <a:r>
              <a:rPr lang="en-US" altLang="zh-CN" sz="2800" kern="0" dirty="0">
                <a:solidFill>
                  <a:srgbClr val="FF0000"/>
                </a:solidFill>
              </a:rPr>
              <a:t>——1.</a:t>
            </a:r>
            <a:r>
              <a:rPr lang="zh-CN" altLang="en-US" sz="2800" kern="0" dirty="0">
                <a:solidFill>
                  <a:srgbClr val="FF0000"/>
                </a:solidFill>
              </a:rPr>
              <a:t>复合赋值运算符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91614B-8E47-B0D8-4524-B81227CF7FF1}"/>
              </a:ext>
            </a:extLst>
          </p:cNvPr>
          <p:cNvSpPr txBox="1"/>
          <p:nvPr/>
        </p:nvSpPr>
        <p:spPr>
          <a:xfrm>
            <a:off x="6576022" y="1662429"/>
            <a:ext cx="229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FFFF00"/>
                </a:solidFill>
                <a:highlight>
                  <a:srgbClr val="FF0000"/>
                </a:highlight>
              </a:defRPr>
            </a:lvl1pPr>
          </a:lstStyle>
          <a:p>
            <a:r>
              <a:rPr lang="es-ES" altLang="zh-CN" b="1" dirty="0">
                <a:solidFill>
                  <a:schemeClr val="bg1"/>
                </a:solidFill>
                <a:highlight>
                  <a:srgbClr val="3399FF"/>
                </a:highlight>
              </a:rPr>
              <a:t>a=2;</a:t>
            </a:r>
            <a:r>
              <a:rPr lang="en-US" altLang="zh-CN" b="1" dirty="0">
                <a:solidFill>
                  <a:schemeClr val="bg1"/>
                </a:solidFill>
                <a:highlight>
                  <a:srgbClr val="3399FF"/>
                </a:highlight>
              </a:rPr>
              <a:t>c</a:t>
            </a:r>
            <a:r>
              <a:rPr lang="es-ES" altLang="zh-CN" b="1" dirty="0">
                <a:solidFill>
                  <a:schemeClr val="bg1"/>
                </a:solidFill>
                <a:highlight>
                  <a:srgbClr val="3399FF"/>
                </a:highlight>
              </a:rPr>
              <a:t>=3;</a:t>
            </a:r>
            <a:r>
              <a:rPr lang="en-US" altLang="zh-CN" b="1" dirty="0">
                <a:solidFill>
                  <a:schemeClr val="bg1"/>
                </a:solidFill>
                <a:highlight>
                  <a:srgbClr val="3399FF"/>
                </a:highlight>
              </a:rPr>
              <a:t> c</a:t>
            </a:r>
            <a:r>
              <a:rPr lang="es-ES" altLang="zh-CN" b="1" dirty="0">
                <a:solidFill>
                  <a:schemeClr val="bg1"/>
                </a:solidFill>
                <a:highlight>
                  <a:srgbClr val="3399FF"/>
                </a:highlight>
              </a:rPr>
              <a:t>=c+a=5 </a:t>
            </a:r>
            <a:endParaRPr lang="zh-CN" altLang="en-US" b="1" dirty="0">
              <a:solidFill>
                <a:schemeClr val="bg1"/>
              </a:solidFill>
              <a:highlight>
                <a:srgbClr val="3399FF"/>
              </a:highligh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4213F8-E2B3-2244-F127-245976BC125D}"/>
              </a:ext>
            </a:extLst>
          </p:cNvPr>
          <p:cNvSpPr txBox="1"/>
          <p:nvPr/>
        </p:nvSpPr>
        <p:spPr>
          <a:xfrm>
            <a:off x="5525911" y="2950261"/>
            <a:ext cx="1560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600" dirty="0">
                <a:solidFill>
                  <a:srgbClr val="00B0F0"/>
                </a:solidFill>
              </a:rPr>
              <a:t>a=2;</a:t>
            </a:r>
            <a:r>
              <a:rPr lang="en-US" altLang="zh-CN" sz="1600" dirty="0">
                <a:solidFill>
                  <a:srgbClr val="00B0F0"/>
                </a:solidFill>
              </a:rPr>
              <a:t>c</a:t>
            </a:r>
            <a:r>
              <a:rPr lang="es-ES" altLang="zh-CN" sz="1600" dirty="0">
                <a:solidFill>
                  <a:srgbClr val="00B0F0"/>
                </a:solidFill>
              </a:rPr>
              <a:t>=3; c  -=</a:t>
            </a:r>
            <a:r>
              <a:rPr lang="en-US" altLang="zh-CN" sz="1600" dirty="0">
                <a:solidFill>
                  <a:srgbClr val="00B0F0"/>
                </a:solidFill>
              </a:rPr>
              <a:t>a</a:t>
            </a:r>
            <a:r>
              <a:rPr lang="es-ES" altLang="zh-CN" sz="1600" dirty="0">
                <a:solidFill>
                  <a:srgbClr val="00B0F0"/>
                </a:solidFill>
              </a:rPr>
              <a:t>  </a:t>
            </a:r>
            <a:r>
              <a:rPr lang="en-US" altLang="zh-CN" sz="1600" dirty="0">
                <a:solidFill>
                  <a:srgbClr val="00B0F0"/>
                </a:solidFill>
              </a:rPr>
              <a:t> 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5D0ADF-4153-D361-B7F8-E2F38BD23DA9}"/>
              </a:ext>
            </a:extLst>
          </p:cNvPr>
          <p:cNvSpPr txBox="1"/>
          <p:nvPr/>
        </p:nvSpPr>
        <p:spPr>
          <a:xfrm>
            <a:off x="5510349" y="3569062"/>
            <a:ext cx="2480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zh-CN" altLang="en-US" dirty="0">
                <a:solidFill>
                  <a:srgbClr val="00B0F0"/>
                </a:solidFill>
              </a:rPr>
              <a:t>a=2;c=3; c*=a  结果</a:t>
            </a:r>
            <a:r>
              <a:rPr lang="en-US" altLang="zh-CN" dirty="0">
                <a:solidFill>
                  <a:srgbClr val="00B0F0"/>
                </a:solidFill>
              </a:rPr>
              <a:t>c=</a:t>
            </a:r>
            <a:r>
              <a:rPr lang="zh-CN" altLang="en-US" dirty="0">
                <a:solidFill>
                  <a:srgbClr val="00B0F0"/>
                </a:solidFill>
              </a:rPr>
              <a:t>6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595E7D-C81F-CDB7-9659-1E13804D6492}"/>
              </a:ext>
            </a:extLst>
          </p:cNvPr>
          <p:cNvSpPr txBox="1"/>
          <p:nvPr/>
        </p:nvSpPr>
        <p:spPr>
          <a:xfrm>
            <a:off x="5510349" y="4073578"/>
            <a:ext cx="2594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pt-BR" altLang="zh-CN" dirty="0">
                <a:solidFill>
                  <a:srgbClr val="00B0F0"/>
                </a:solidFill>
              </a:rPr>
              <a:t> a=2;c=3; c/=a   </a:t>
            </a:r>
            <a:r>
              <a:rPr lang="zh-CN" altLang="en-US" dirty="0">
                <a:solidFill>
                  <a:srgbClr val="00B0F0"/>
                </a:solidFill>
              </a:rPr>
              <a:t>结果</a:t>
            </a:r>
            <a:r>
              <a:rPr lang="en-US" altLang="zh-CN" dirty="0">
                <a:solidFill>
                  <a:srgbClr val="00B0F0"/>
                </a:solidFill>
              </a:rPr>
              <a:t>c=</a:t>
            </a:r>
            <a:r>
              <a:rPr lang="pt-BR" altLang="zh-CN" dirty="0">
                <a:solidFill>
                  <a:srgbClr val="00B0F0"/>
                </a:solidFill>
              </a:rPr>
              <a:t>1.5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6CFEB4-7701-4B43-A8A7-9320EAA8154A}"/>
              </a:ext>
            </a:extLst>
          </p:cNvPr>
          <p:cNvSpPr txBox="1"/>
          <p:nvPr/>
        </p:nvSpPr>
        <p:spPr>
          <a:xfrm>
            <a:off x="6985486" y="2271352"/>
            <a:ext cx="18898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/>
                </a:solidFill>
                <a:highlight>
                  <a:srgbClr val="3399FF"/>
                </a:highlight>
              </a:defRPr>
            </a:lvl1pPr>
          </a:lstStyle>
          <a:p>
            <a:r>
              <a:rPr lang="es-ES" altLang="zh-CN" dirty="0"/>
              <a:t>c+=</a:t>
            </a:r>
            <a:r>
              <a:rPr lang="en-US" altLang="zh-CN" dirty="0"/>
              <a:t>a</a:t>
            </a:r>
            <a:r>
              <a:rPr lang="es-ES" altLang="zh-CN" dirty="0"/>
              <a:t>  </a:t>
            </a:r>
            <a:r>
              <a:rPr lang="zh-CN" altLang="en-US" dirty="0"/>
              <a:t>结果</a:t>
            </a:r>
            <a:r>
              <a:rPr lang="en-US" altLang="zh-CN" dirty="0"/>
              <a:t>c=5</a:t>
            </a:r>
            <a:r>
              <a:rPr lang="es-ES" altLang="zh-CN" dirty="0"/>
              <a:t>  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1A620D-144E-430A-877E-71BCD75E8856}"/>
              </a:ext>
            </a:extLst>
          </p:cNvPr>
          <p:cNvSpPr txBox="1"/>
          <p:nvPr/>
        </p:nvSpPr>
        <p:spPr>
          <a:xfrm>
            <a:off x="7595156" y="2950261"/>
            <a:ext cx="1041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n-US" altLang="zh-CN" sz="1600" dirty="0">
                <a:solidFill>
                  <a:srgbClr val="00B0F0"/>
                </a:solidFill>
              </a:rPr>
              <a:t>c=1</a:t>
            </a:r>
            <a:r>
              <a:rPr lang="es-ES" altLang="zh-CN" sz="1600" dirty="0">
                <a:solidFill>
                  <a:srgbClr val="00B0F0"/>
                </a:solidFill>
              </a:rPr>
              <a:t> 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8D3B0F-04ED-4387-BDF0-3967E616406B}"/>
              </a:ext>
            </a:extLst>
          </p:cNvPr>
          <p:cNvSpPr txBox="1"/>
          <p:nvPr/>
        </p:nvSpPr>
        <p:spPr>
          <a:xfrm>
            <a:off x="117182" y="709614"/>
            <a:ext cx="9026818" cy="3539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复合赋值运算符：就是在赋值等号符“</a:t>
            </a:r>
            <a:r>
              <a:rPr lang="en-US" altLang="zh-CN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=”</a:t>
            </a:r>
            <a:r>
              <a:rPr lang="zh-CN" altLang="en-US" sz="17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之前加上二元运算符，将新的值与原有变量绑定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63A3540-822E-4EB7-B7C9-E290EFD30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331083"/>
              </p:ext>
            </p:extLst>
          </p:nvPr>
        </p:nvGraphicFramePr>
        <p:xfrm>
          <a:off x="220694" y="4368903"/>
          <a:ext cx="8684198" cy="314012"/>
        </p:xfrm>
        <a:graphic>
          <a:graphicData uri="http://schemas.openxmlformats.org/drawingml/2006/table">
            <a:tbl>
              <a:tblPr/>
              <a:tblGrid>
                <a:gridCol w="8684198">
                  <a:extLst>
                    <a:ext uri="{9D8B030D-6E8A-4147-A177-3AD203B41FA5}">
                      <a16:colId xmlns:a16="http://schemas.microsoft.com/office/drawing/2014/main" val="910730296"/>
                    </a:ext>
                  </a:extLst>
                </a:gridCol>
              </a:tblGrid>
              <a:tr h="119759">
                <a:tc>
                  <a:txBody>
                    <a:bodyPr/>
                    <a:lstStyle/>
                    <a:p>
                      <a:pPr algn="l" fontAlgn="t"/>
                      <a:endParaRPr lang="zh-CN" altLang="en-US" sz="20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4606" marR="4606" marT="4606" marB="4606">
                    <a:lnL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774172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873A091D-23BD-40D7-B288-6A3AEBCEA264}"/>
              </a:ext>
            </a:extLst>
          </p:cNvPr>
          <p:cNvSpPr txBox="1"/>
          <p:nvPr/>
        </p:nvSpPr>
        <p:spPr>
          <a:xfrm>
            <a:off x="117182" y="4356738"/>
            <a:ext cx="5734775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迭代求和：</a:t>
            </a:r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 </a:t>
            </a:r>
            <a:endParaRPr lang="zh-CN" altLang="en-US" sz="16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4586F7-1582-44BA-875B-3691B73DE851}"/>
              </a:ext>
            </a:extLst>
          </p:cNvPr>
          <p:cNvSpPr txBox="1"/>
          <p:nvPr/>
        </p:nvSpPr>
        <p:spPr>
          <a:xfrm>
            <a:off x="6054845" y="4322639"/>
            <a:ext cx="1393796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t">
            <a:spAutoFit/>
          </a:bodyPr>
          <a:lstStyle/>
          <a:p>
            <a:pPr algn="dist"/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ii=ii</a:t>
            </a:r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16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16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E247F705-CFA2-42AE-8FC9-A6F6D4840718}"/>
              </a:ext>
            </a:extLst>
          </p:cNvPr>
          <p:cNvSpPr/>
          <p:nvPr/>
        </p:nvSpPr>
        <p:spPr bwMode="auto">
          <a:xfrm>
            <a:off x="5907057" y="4385270"/>
            <a:ext cx="136743" cy="192458"/>
          </a:xfrm>
          <a:prstGeom prst="rightArrow">
            <a:avLst/>
          </a:prstGeom>
          <a:solidFill>
            <a:srgbClr val="FFC000"/>
          </a:solidFill>
          <a:ln>
            <a:solidFill>
              <a:srgbClr val="F0DA04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6A908F-131F-4F82-A77B-5C432A332F66}"/>
              </a:ext>
            </a:extLst>
          </p:cNvPr>
          <p:cNvSpPr txBox="1"/>
          <p:nvPr/>
        </p:nvSpPr>
        <p:spPr>
          <a:xfrm>
            <a:off x="7683466" y="4299942"/>
            <a:ext cx="1215741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t">
            <a:spAutoFit/>
          </a:bodyPr>
          <a:lstStyle/>
          <a:p>
            <a:pPr algn="dist"/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16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+=</a:t>
            </a:r>
            <a:r>
              <a:rPr lang="en-US" altLang="zh-CN" sz="16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16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4A6DE9F7-879C-4C19-AC7B-5317EDA0D1AD}"/>
              </a:ext>
            </a:extLst>
          </p:cNvPr>
          <p:cNvSpPr/>
          <p:nvPr/>
        </p:nvSpPr>
        <p:spPr bwMode="auto">
          <a:xfrm>
            <a:off x="7522636" y="4377240"/>
            <a:ext cx="136743" cy="192458"/>
          </a:xfrm>
          <a:prstGeom prst="rightArrow">
            <a:avLst/>
          </a:prstGeom>
          <a:solidFill>
            <a:srgbClr val="FFC000"/>
          </a:solidFill>
          <a:ln>
            <a:solidFill>
              <a:srgbClr val="F0DA04"/>
            </a:solidFill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04E0F0-B6BD-4CEA-B0FC-6E5B1E023F6D}"/>
              </a:ext>
            </a:extLst>
          </p:cNvPr>
          <p:cNvSpPr txBox="1"/>
          <p:nvPr/>
        </p:nvSpPr>
        <p:spPr>
          <a:xfrm>
            <a:off x="3810434" y="4373583"/>
            <a:ext cx="2009586" cy="338554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dist">
              <a:defRPr sz="1600" b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defRPr>
            </a:lvl1pPr>
          </a:lstStyle>
          <a:p>
            <a:r>
              <a:rPr lang="en-US" altLang="ko-KR" dirty="0">
                <a:sym typeface="+mn-ea"/>
              </a:rPr>
              <a:t>ii(k)=ii(k</a:t>
            </a:r>
            <a:r>
              <a:rPr lang="zh-CN" altLang="en-US" dirty="0">
                <a:sym typeface="+mn-ea"/>
              </a:rPr>
              <a:t>－１</a:t>
            </a:r>
            <a:r>
              <a:rPr lang="en-US" altLang="ko-KR" dirty="0">
                <a:sym typeface="+mn-ea"/>
              </a:rPr>
              <a:t>)+</a:t>
            </a:r>
            <a:r>
              <a:rPr lang="en-US" altLang="zh-CN" dirty="0"/>
              <a:t> 2k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B60027-E0A6-4D46-B3AB-9A4228AE7AD9}"/>
              </a:ext>
            </a:extLst>
          </p:cNvPr>
          <p:cNvSpPr txBox="1"/>
          <p:nvPr/>
        </p:nvSpPr>
        <p:spPr>
          <a:xfrm>
            <a:off x="1126763" y="4313583"/>
            <a:ext cx="2797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18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0</a:t>
            </a:r>
            <a:r>
              <a:rPr lang="en-US" altLang="zh-CN" sz="18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18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1</a:t>
            </a:r>
            <a:r>
              <a:rPr lang="en-US" altLang="zh-CN" sz="18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+… 2</a:t>
            </a:r>
            <a:r>
              <a:rPr lang="en-US" altLang="zh-CN" sz="18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zh-CN" altLang="en-US" sz="18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－１</a:t>
            </a:r>
            <a:r>
              <a:rPr lang="en-US" altLang="zh-CN" sz="18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18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en-US" altLang="zh-CN" sz="18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….+2</a:t>
            </a:r>
            <a:r>
              <a:rPr lang="en-US" altLang="zh-CN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n</a:t>
            </a:r>
            <a:endParaRPr lang="zh-CN" altLang="en-US" b="1" kern="1800" baseline="30000" dirty="0">
              <a:solidFill>
                <a:schemeClr val="bg1"/>
              </a:solidFill>
              <a:latin typeface="等线" panose="02010600030101010101" pitchFamily="2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866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8" grpId="0"/>
      <p:bldP spid="21" grpId="0" animBg="1"/>
      <p:bldP spid="23" grpId="0" animBg="1"/>
      <p:bldP spid="26" grpId="0" animBg="1"/>
      <p:bldP spid="27" grpId="0" animBg="1"/>
      <p:bldP spid="30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7B7985-29D2-407E-A93A-4E62DFD35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954790"/>
              </p:ext>
            </p:extLst>
          </p:nvPr>
        </p:nvGraphicFramePr>
        <p:xfrm>
          <a:off x="539552" y="876430"/>
          <a:ext cx="8352928" cy="3567525"/>
        </p:xfrm>
        <a:graphic>
          <a:graphicData uri="http://schemas.openxmlformats.org/drawingml/2006/table">
            <a:tbl>
              <a:tblPr/>
              <a:tblGrid>
                <a:gridCol w="766453">
                  <a:extLst>
                    <a:ext uri="{9D8B030D-6E8A-4147-A177-3AD203B41FA5}">
                      <a16:colId xmlns:a16="http://schemas.microsoft.com/office/drawing/2014/main" val="2911983618"/>
                    </a:ext>
                  </a:extLst>
                </a:gridCol>
                <a:gridCol w="3626035">
                  <a:extLst>
                    <a:ext uri="{9D8B030D-6E8A-4147-A177-3AD203B41FA5}">
                      <a16:colId xmlns:a16="http://schemas.microsoft.com/office/drawing/2014/main" val="1746175533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882650375"/>
                    </a:ext>
                  </a:extLst>
                </a:gridCol>
              </a:tblGrid>
              <a:tr h="70193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%=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求余且赋值运算符，求两个操作数的模赋值给左边操作数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%= A 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相当于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% A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398025"/>
                  </a:ext>
                </a:extLst>
              </a:tr>
              <a:tr h="40937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&lt;&lt;=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左移且赋值运算符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&lt;&lt;= 2 </a:t>
                      </a:r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等同于 </a:t>
                      </a:r>
                      <a:r>
                        <a:rPr 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&lt;&lt; 2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169182"/>
                  </a:ext>
                </a:extLst>
              </a:tr>
              <a:tr h="40937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&gt;&gt;=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右移且赋值运算符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&gt;&gt;= 2 </a:t>
                      </a:r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等同于 </a:t>
                      </a:r>
                      <a:r>
                        <a:rPr 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&gt;&gt; 2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629122"/>
                  </a:ext>
                </a:extLst>
              </a:tr>
              <a:tr h="40937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&amp;=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按位与且赋值运算符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&amp;= 2 </a:t>
                      </a:r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等同于 </a:t>
                      </a:r>
                      <a:r>
                        <a:rPr 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&amp; 2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331033"/>
                  </a:ext>
                </a:extLst>
              </a:tr>
              <a:tr h="40937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^=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按位异或且赋值运算符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^= 2 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等同于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^ 2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792438"/>
                  </a:ext>
                </a:extLst>
              </a:tr>
              <a:tr h="40937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|=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按位或且赋值运算符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|= 2 </a:t>
                      </a:r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等同于 </a:t>
                      </a:r>
                      <a:r>
                        <a:rPr 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| 2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398711"/>
                  </a:ext>
                </a:extLst>
              </a:tr>
              <a:tr h="40937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&gt;&gt;&gt;=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左移且逻辑运算符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&gt;&gt;&gt;= 2 </a:t>
                      </a:r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等同于 </a:t>
                      </a:r>
                      <a:r>
                        <a:rPr 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&gt;&gt;&gt;2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684895"/>
                  </a:ext>
                </a:extLst>
              </a:tr>
              <a:tr h="40937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⊻</a:t>
                      </a:r>
                      <a:r>
                        <a:rPr lang="en-US" altLang="zh-CN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=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0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异或（逻辑异或）赋值运算符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⊻= 2 </a:t>
                      </a:r>
                      <a:r>
                        <a:rPr lang="zh-CN" alt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等同于 </a:t>
                      </a:r>
                      <a:r>
                        <a:rPr lang="en-US" sz="20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 = C ⊻= 2</a:t>
                      </a:r>
                    </a:p>
                  </a:txBody>
                  <a:tcPr marL="7677" marR="7677" marT="10748" marB="10748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75165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30E8292D-2EE9-40D8-92BD-9F8C04653051}"/>
              </a:ext>
            </a:extLst>
          </p:cNvPr>
          <p:cNvSpPr/>
          <p:nvPr/>
        </p:nvSpPr>
        <p:spPr bwMode="auto">
          <a:xfrm>
            <a:off x="533092" y="866442"/>
            <a:ext cx="798548" cy="3495520"/>
          </a:xfrm>
          <a:prstGeom prst="roundRect">
            <a:avLst>
              <a:gd name="adj" fmla="val 2853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2A59D46-92CD-4FCD-93CD-1A031F2D7947}"/>
              </a:ext>
            </a:extLst>
          </p:cNvPr>
          <p:cNvSpPr txBox="1">
            <a:spLocks/>
          </p:cNvSpPr>
          <p:nvPr/>
        </p:nvSpPr>
        <p:spPr bwMode="auto">
          <a:xfrm>
            <a:off x="971600" y="222337"/>
            <a:ext cx="77758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>
                <a:solidFill>
                  <a:srgbClr val="0070C0"/>
                </a:solidFill>
              </a:rPr>
              <a:t>§1.5.1.4. </a:t>
            </a:r>
            <a:r>
              <a:rPr lang="zh-CN" altLang="en-US" sz="2800" dirty="0">
                <a:solidFill>
                  <a:srgbClr val="0070C0"/>
                </a:solidFill>
              </a:rPr>
              <a:t>复合赋值运算</a:t>
            </a:r>
            <a:r>
              <a:rPr lang="en-US" altLang="zh-CN" sz="2800" kern="0" dirty="0">
                <a:solidFill>
                  <a:srgbClr val="FF0000"/>
                </a:solidFill>
              </a:rPr>
              <a:t>——1.</a:t>
            </a:r>
            <a:r>
              <a:rPr lang="zh-CN" altLang="en-US" sz="2800" kern="0" dirty="0">
                <a:solidFill>
                  <a:srgbClr val="FF0000"/>
                </a:solidFill>
              </a:rPr>
              <a:t>复合赋值运算符</a:t>
            </a:r>
          </a:p>
        </p:txBody>
      </p:sp>
    </p:spTree>
    <p:extLst>
      <p:ext uri="{BB962C8B-B14F-4D97-AF65-F5344CB8AC3E}">
        <p14:creationId xmlns:p14="http://schemas.microsoft.com/office/powerpoint/2010/main" val="687333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BCC1D-DE08-9132-0567-A2ABD04A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261392"/>
            <a:ext cx="5702102" cy="438150"/>
          </a:xfrm>
        </p:spPr>
        <p:txBody>
          <a:bodyPr/>
          <a:lstStyle/>
          <a:p>
            <a:r>
              <a:rPr lang="en-US" altLang="zh-CN" sz="2800" dirty="0"/>
              <a:t>§1.5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1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数学运算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向量点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运算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E18654-130F-76B2-EA75-0E489A622CD5}"/>
              </a:ext>
            </a:extLst>
          </p:cNvPr>
          <p:cNvSpPr/>
          <p:nvPr/>
        </p:nvSpPr>
        <p:spPr>
          <a:xfrm>
            <a:off x="164778" y="2107098"/>
            <a:ext cx="897922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传统语言用低效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实现逐元素运算：将自变量数组每元素带入表达式进行相同标量运算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66B5AB-B329-E1B7-B36A-58F95FE038E2}"/>
              </a:ext>
            </a:extLst>
          </p:cNvPr>
          <p:cNvSpPr txBox="1"/>
          <p:nvPr/>
        </p:nvSpPr>
        <p:spPr>
          <a:xfrm>
            <a:off x="1285705" y="785487"/>
            <a:ext cx="780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的函数表达式为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v(t)=t^2,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取值为标量和向量时函数值</a:t>
            </a:r>
            <a:endParaRPr lang="zh-CN" altLang="en-US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92754C-3C19-DF65-3E74-F63B986D9DDF}"/>
              </a:ext>
            </a:extLst>
          </p:cNvPr>
          <p:cNvSpPr txBox="1"/>
          <p:nvPr/>
        </p:nvSpPr>
        <p:spPr>
          <a:xfrm>
            <a:off x="179512" y="1196173"/>
            <a:ext cx="8649352" cy="871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ts val="32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标量时，v=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，称为标量运算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即赋值给变量一个数的运算；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>
              <a:lnSpc>
                <a:spcPts val="32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t=[1,2,3,4]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向量时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v=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] =[1,4,9,16]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931414-3920-44CF-BD2E-715E84FF2B98}"/>
              </a:ext>
            </a:extLst>
          </p:cNvPr>
          <p:cNvSpPr txBox="1"/>
          <p:nvPr/>
        </p:nvSpPr>
        <p:spPr>
          <a:xfrm>
            <a:off x="6773197" y="199662"/>
            <a:ext cx="1335117" cy="369332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800" dirty="0"/>
              <a:t>逐元素运算</a:t>
            </a:r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5D619B85-8BB0-48FA-A772-F0F8468AF23D}"/>
              </a:ext>
            </a:extLst>
          </p:cNvPr>
          <p:cNvSpPr/>
          <p:nvPr/>
        </p:nvSpPr>
        <p:spPr>
          <a:xfrm>
            <a:off x="300302" y="771550"/>
            <a:ext cx="894476" cy="3801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例151-3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6495DB-4593-454F-9915-7BCFA0BA5D63}"/>
              </a:ext>
            </a:extLst>
          </p:cNvPr>
          <p:cNvSpPr txBox="1"/>
          <p:nvPr/>
        </p:nvSpPr>
        <p:spPr>
          <a:xfrm>
            <a:off x="143591" y="2485056"/>
            <a:ext cx="4299669" cy="2039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循环语句运行结果：循环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>
              <a:lnSpc>
                <a:spcPts val="2200"/>
              </a:lnSpc>
            </a:pP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ea typeface="Arial" charset="0"/>
            </a:endParaRPr>
          </a:p>
          <a:p>
            <a:pPr>
              <a:lnSpc>
                <a:spcPts val="2200"/>
              </a:lnSpc>
            </a:pP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ea typeface="Arial" charset="0"/>
            </a:endParaRPr>
          </a:p>
          <a:p>
            <a:pPr>
              <a:lnSpc>
                <a:spcPts val="2200"/>
              </a:lnSpc>
            </a:pP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ea typeface="Arial" charset="0"/>
            </a:endParaRPr>
          </a:p>
          <a:p>
            <a:pPr>
              <a:lnSpc>
                <a:spcPts val="2200"/>
              </a:lnSpc>
            </a:pP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ea typeface="Arial" charset="0"/>
            </a:endParaRPr>
          </a:p>
          <a:p>
            <a:pPr>
              <a:lnSpc>
                <a:spcPts val="2200"/>
              </a:lnSpc>
            </a:pPr>
            <a:endParaRPr lang="en-US" altLang="zh-CN" sz="1400" dirty="0">
              <a:solidFill>
                <a:srgbClr val="FF0000"/>
              </a:solidFill>
              <a:highlight>
                <a:srgbClr val="FFFF00"/>
              </a:highlight>
              <a:ea typeface="Arial" charset="0"/>
            </a:endParaRPr>
          </a:p>
          <a:p>
            <a:pPr>
              <a:lnSpc>
                <a:spcPts val="2200"/>
              </a:lnSpc>
            </a:pPr>
            <a:r>
              <a:rPr lang="zh-CN" altLang="en-US" sz="1600" dirty="0">
                <a:solidFill>
                  <a:srgbClr val="FF0000"/>
                </a:solidFill>
                <a:ea typeface="Arial" charset="0"/>
              </a:rPr>
              <a:t>每循环一次标量运算就重新分配内存一次</a:t>
            </a:r>
            <a:endParaRPr lang="en-US" altLang="zh-CN" sz="1600" dirty="0">
              <a:solidFill>
                <a:srgbClr val="FF0000"/>
              </a:solidFill>
              <a:ea typeface="Arial" charset="0"/>
            </a:endParaRPr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CE7045BE-CFA7-422F-813B-F9777E325F54}"/>
              </a:ext>
            </a:extLst>
          </p:cNvPr>
          <p:cNvSpPr/>
          <p:nvPr/>
        </p:nvSpPr>
        <p:spPr bwMode="auto">
          <a:xfrm>
            <a:off x="4139952" y="2697849"/>
            <a:ext cx="4885794" cy="1646605"/>
          </a:xfrm>
          <a:prstGeom prst="wedgeRectCallout">
            <a:avLst>
              <a:gd name="adj1" fmla="val 31592"/>
              <a:gd name="adj2" fmla="val -61441"/>
            </a:avLst>
          </a:prstGeom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#Julia</a:t>
            </a:r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语言编写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>
              <a:spcBef>
                <a:spcPts val="600"/>
              </a:spcBef>
            </a:pPr>
            <a:r>
              <a:rPr lang="en-US" altLang="zh-CN" sz="1600" b="0" dirty="0">
                <a:solidFill>
                  <a:schemeClr val="bg1"/>
                </a:solidFill>
                <a:effectLst/>
                <a:highlight>
                  <a:srgbClr val="808000"/>
                </a:highlight>
                <a:latin typeface="Consolas" panose="020B0609020204030204" pitchFamily="49" charset="0"/>
              </a:rPr>
              <a:t>v=zeros(1,4) #zeros</a:t>
            </a:r>
            <a:r>
              <a:rPr lang="zh-CN" altLang="en-US" sz="1600" b="0" dirty="0">
                <a:solidFill>
                  <a:schemeClr val="bg1"/>
                </a:solidFill>
                <a:effectLst/>
                <a:highlight>
                  <a:srgbClr val="808000"/>
                </a:highlight>
                <a:latin typeface="Consolas" panose="020B0609020204030204" pitchFamily="49" charset="0"/>
              </a:rPr>
              <a:t>占位</a:t>
            </a:r>
            <a:r>
              <a:rPr lang="en-US" altLang="zh-CN" sz="1600" b="0" dirty="0">
                <a:solidFill>
                  <a:schemeClr val="bg1"/>
                </a:solidFill>
                <a:effectLst/>
                <a:highlight>
                  <a:srgbClr val="808000"/>
                </a:highlight>
                <a:latin typeface="Consolas" panose="020B0609020204030204" pitchFamily="49" charset="0"/>
              </a:rPr>
              <a:t>1*4</a:t>
            </a:r>
            <a:r>
              <a:rPr lang="zh-CN" altLang="en-US" sz="1600" b="0" dirty="0">
                <a:solidFill>
                  <a:schemeClr val="bg1"/>
                </a:solidFill>
                <a:effectLst/>
                <a:highlight>
                  <a:srgbClr val="808000"/>
                </a:highlight>
                <a:latin typeface="Consolas" panose="020B0609020204030204" pitchFamily="49" charset="0"/>
              </a:rPr>
              <a:t>向量</a:t>
            </a: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v[t]=t^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个速度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"v=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$v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显示每次循环结果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96452A8-3D51-4FBE-A6D6-A36239C2C2EF}"/>
              </a:ext>
            </a:extLst>
          </p:cNvPr>
          <p:cNvSpPr txBox="1"/>
          <p:nvPr/>
        </p:nvSpPr>
        <p:spPr>
          <a:xfrm>
            <a:off x="7517782" y="3362551"/>
            <a:ext cx="1507964" cy="1169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sz="1400" b="1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0.0 0.0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0.0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9.0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9.0 16.0]</a:t>
            </a:r>
            <a:endParaRPr lang="en-US" altLang="zh-CN" sz="1400" b="1" dirty="0">
              <a:solidFill>
                <a:srgbClr val="00B0F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67C287-4C2E-4513-8831-423E9DB479F5}"/>
              </a:ext>
            </a:extLst>
          </p:cNvPr>
          <p:cNvSpPr txBox="1"/>
          <p:nvPr/>
        </p:nvSpPr>
        <p:spPr>
          <a:xfrm>
            <a:off x="251521" y="2931790"/>
            <a:ext cx="1512168" cy="11387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/>
            </a:lvl1pPr>
          </a:lstStyle>
          <a:p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en-US" altLang="zh-CN" sz="1400" b="1" dirty="0" err="1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endParaRPr lang="en-US" altLang="zh-CN" sz="1400" b="1" dirty="0">
              <a:solidFill>
                <a:schemeClr val="bg1">
                  <a:lumMod val="95000"/>
                </a:schemeClr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for t=1:4</a:t>
            </a:r>
          </a:p>
          <a:p>
            <a:r>
              <a:rPr lang="zh-CN" altLang="en-US" dirty="0"/>
              <a:t>    v(t)=t^2</a:t>
            </a:r>
          </a:p>
          <a:p>
            <a:r>
              <a:rPr lang="zh-CN" altLang="en-US" dirty="0"/>
              <a:t>end</a:t>
            </a: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0259375-C6C3-41AB-B332-41EDEDDB4DBD}"/>
              </a:ext>
            </a:extLst>
          </p:cNvPr>
          <p:cNvSpPr txBox="1"/>
          <p:nvPr/>
        </p:nvSpPr>
        <p:spPr>
          <a:xfrm>
            <a:off x="1996317" y="2962567"/>
            <a:ext cx="1855603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/>
            </a:lvl1pPr>
          </a:lstStyle>
          <a:p>
            <a:r>
              <a:rPr lang="en-US" sz="1600" dirty="0"/>
              <a:t>[1.0]</a:t>
            </a:r>
            <a:endParaRPr lang="zh-CN" altLang="en-US" sz="1600" dirty="0"/>
          </a:p>
          <a:p>
            <a:r>
              <a:rPr lang="en-US" sz="1600" dirty="0"/>
              <a:t>[1.0 4.0 ]</a:t>
            </a:r>
            <a:endParaRPr lang="zh-CN" altLang="en-US" sz="1600" dirty="0"/>
          </a:p>
          <a:p>
            <a:r>
              <a:rPr lang="en-US" sz="1600" dirty="0"/>
              <a:t>[1.0 4.0 9.0 ]</a:t>
            </a:r>
            <a:endParaRPr lang="zh-CN" altLang="en-US" sz="1600" dirty="0"/>
          </a:p>
          <a:p>
            <a:r>
              <a:rPr lang="en-US" sz="1600" dirty="0"/>
              <a:t>[1.0 4.0 9.0 16.0]</a:t>
            </a:r>
            <a:endParaRPr lang="zh-CN" altLang="en-US"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D841B2-773C-46BD-A136-C95C8974EA08}"/>
              </a:ext>
            </a:extLst>
          </p:cNvPr>
          <p:cNvSpPr txBox="1"/>
          <p:nvPr/>
        </p:nvSpPr>
        <p:spPr>
          <a:xfrm>
            <a:off x="3203309" y="2994354"/>
            <a:ext cx="650996" cy="307777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400" dirty="0"/>
              <a:t>结果</a:t>
            </a:r>
          </a:p>
        </p:txBody>
      </p:sp>
    </p:spTree>
    <p:extLst>
      <p:ext uri="{BB962C8B-B14F-4D97-AF65-F5344CB8AC3E}">
        <p14:creationId xmlns:p14="http://schemas.microsoft.com/office/powerpoint/2010/main" val="294489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/>
      <p:bldP spid="10" grpId="0" animBg="1"/>
      <p:bldP spid="17" grpId="0" animBg="1"/>
      <p:bldP spid="18" grpId="0" animBg="1"/>
      <p:bldP spid="14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F48287-45F2-51D2-1E2A-15F220926E6D}"/>
              </a:ext>
            </a:extLst>
          </p:cNvPr>
          <p:cNvSpPr txBox="1"/>
          <p:nvPr/>
        </p:nvSpPr>
        <p:spPr>
          <a:xfrm>
            <a:off x="0" y="2272988"/>
            <a:ext cx="9113591" cy="2218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</a:rPr>
              <a:t>点运算是</a:t>
            </a:r>
            <a:r>
              <a:rPr lang="en-US" altLang="zh-CN" dirty="0">
                <a:solidFill>
                  <a:srgbClr val="0070C0"/>
                </a:solidFill>
              </a:rPr>
              <a:t>MATLAB</a:t>
            </a:r>
            <a:r>
              <a:rPr lang="zh-CN" altLang="en-US" dirty="0">
                <a:solidFill>
                  <a:srgbClr val="0070C0"/>
                </a:solidFill>
              </a:rPr>
              <a:t>为简化科学计算中数组操作而自定义语法，是针对向量或矩阵</a:t>
            </a:r>
            <a:r>
              <a:rPr lang="en-US" altLang="zh-CN" dirty="0">
                <a:solidFill>
                  <a:srgbClr val="0070C0"/>
                </a:solidFill>
              </a:rPr>
              <a:t>,</a:t>
            </a:r>
            <a:r>
              <a:rPr lang="zh-CN" altLang="en-US" dirty="0">
                <a:solidFill>
                  <a:srgbClr val="0070C0"/>
                </a:solidFill>
              </a:rPr>
              <a:t>其每个元素都要带入表达式中，逐一进行相同运算，即向量逐元素运算</a:t>
            </a:r>
            <a:r>
              <a:rPr lang="en-US" altLang="zh-CN" dirty="0">
                <a:solidFill>
                  <a:srgbClr val="0070C0"/>
                </a:solidFill>
              </a:rPr>
              <a:t>, </a:t>
            </a:r>
            <a:r>
              <a:rPr lang="zh-CN" altLang="en-US" dirty="0">
                <a:solidFill>
                  <a:srgbClr val="0070C0"/>
                </a:solidFill>
              </a:rPr>
              <a:t>也称为数组运算；</a:t>
            </a:r>
            <a:endParaRPr lang="en-US" altLang="zh-CN" dirty="0">
              <a:solidFill>
                <a:srgbClr val="0070C0"/>
              </a:solidFill>
            </a:endParaRPr>
          </a:p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0070C0"/>
                </a:solidFill>
              </a:rPr>
              <a:t>点运算是</a:t>
            </a:r>
            <a:r>
              <a:rPr lang="en-US" altLang="zh-CN" dirty="0">
                <a:solidFill>
                  <a:srgbClr val="0070C0"/>
                </a:solidFill>
              </a:rPr>
              <a:t>MATLAB</a:t>
            </a:r>
            <a:r>
              <a:rPr lang="zh-CN" altLang="en-US" dirty="0">
                <a:solidFill>
                  <a:srgbClr val="0070C0"/>
                </a:solidFill>
              </a:rPr>
              <a:t>区分矩阵运算和数组运算的操作符，在</a:t>
            </a:r>
            <a:r>
              <a:rPr lang="en-US" altLang="zh-CN" dirty="0">
                <a:solidFill>
                  <a:srgbClr val="0070C0"/>
                </a:solidFill>
              </a:rPr>
              <a:t>*\^</a:t>
            </a:r>
            <a:r>
              <a:rPr lang="zh-CN" altLang="en-US" dirty="0">
                <a:solidFill>
                  <a:srgbClr val="0070C0"/>
                </a:solidFill>
              </a:rPr>
              <a:t>运算符前加个点；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zh-CN" altLang="en-US" dirty="0">
                <a:solidFill>
                  <a:srgbClr val="0070C0"/>
                </a:solidFill>
              </a:rPr>
              <a:t>但数学函数</a:t>
            </a:r>
            <a:r>
              <a:rPr lang="en-US" altLang="zh-CN" dirty="0">
                <a:solidFill>
                  <a:srgbClr val="0070C0"/>
                </a:solidFill>
              </a:rPr>
              <a:t>sin</a:t>
            </a:r>
            <a:r>
              <a:rPr lang="zh-CN" altLang="en-US" dirty="0">
                <a:solidFill>
                  <a:srgbClr val="0070C0"/>
                </a:solidFill>
              </a:rPr>
              <a:t>、</a:t>
            </a:r>
            <a:r>
              <a:rPr lang="en-US" altLang="zh-CN" dirty="0">
                <a:solidFill>
                  <a:srgbClr val="0070C0"/>
                </a:solidFill>
              </a:rPr>
              <a:t>exp</a:t>
            </a:r>
            <a:r>
              <a:rPr lang="zh-CN" altLang="en-US" dirty="0">
                <a:solidFill>
                  <a:srgbClr val="0070C0"/>
                </a:solidFill>
              </a:rPr>
              <a:t>常用数组运算，很少矩阵运算，故数学函数不加点为数组运算</a:t>
            </a:r>
            <a:r>
              <a:rPr lang="en-US" altLang="zh-CN" b="1" dirty="0">
                <a:solidFill>
                  <a:srgbClr val="FF0000"/>
                </a:solidFill>
              </a:rPr>
              <a:t>sin(x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lnSpc>
                <a:spcPts val="34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70C0"/>
                </a:solidFill>
              </a:rPr>
              <a:t>Julia</a:t>
            </a:r>
            <a:r>
              <a:rPr lang="zh-CN" altLang="en-US" dirty="0">
                <a:solidFill>
                  <a:srgbClr val="0070C0"/>
                </a:solidFill>
              </a:rPr>
              <a:t>延续</a:t>
            </a:r>
            <a:r>
              <a:rPr lang="en-US" altLang="zh-CN" dirty="0">
                <a:solidFill>
                  <a:srgbClr val="0070C0"/>
                </a:solidFill>
              </a:rPr>
              <a:t>MATLAB</a:t>
            </a:r>
            <a:r>
              <a:rPr lang="zh-CN" altLang="en-US" dirty="0">
                <a:solidFill>
                  <a:srgbClr val="00B0F0"/>
                </a:solidFill>
              </a:rPr>
              <a:t>点运算符为</a:t>
            </a:r>
            <a:r>
              <a:rPr lang="en-US" altLang="zh-CN" dirty="0">
                <a:solidFill>
                  <a:srgbClr val="00B0F0"/>
                </a:solidFill>
              </a:rPr>
              <a:t>.+,.-,.*,./</a:t>
            </a:r>
            <a:r>
              <a:rPr lang="zh-CN" altLang="en-US" dirty="0">
                <a:solidFill>
                  <a:srgbClr val="00B0F0"/>
                </a:solidFill>
              </a:rPr>
              <a:t>，</a:t>
            </a:r>
            <a:r>
              <a:rPr lang="en-US" altLang="zh-CN" dirty="0">
                <a:solidFill>
                  <a:srgbClr val="00B0F0"/>
                </a:solidFill>
              </a:rPr>
              <a:t>.\,.^</a:t>
            </a:r>
            <a:r>
              <a:rPr lang="zh-CN" altLang="en-US" dirty="0">
                <a:solidFill>
                  <a:srgbClr val="00B0F0"/>
                </a:solidFill>
              </a:rPr>
              <a:t>，同时为方便记忆数学函数也加点</a:t>
            </a:r>
            <a:r>
              <a:rPr lang="en-US" altLang="zh-CN" b="1" dirty="0">
                <a:solidFill>
                  <a:srgbClr val="FF0000"/>
                </a:solidFill>
              </a:rPr>
              <a:t>sin.(x)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159F809-9583-12C3-B7D0-88EB693A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571" y="207174"/>
            <a:ext cx="6192688" cy="438150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§1.5.1</a:t>
            </a:r>
            <a:r>
              <a:rPr lang="zh-CN" altLang="en-US" sz="2800" b="1" dirty="0">
                <a:solidFill>
                  <a:srgbClr val="0070C0"/>
                </a:solidFill>
              </a:rPr>
              <a:t>数学运算</a:t>
            </a:r>
            <a:r>
              <a:rPr lang="en-US" altLang="zh-CN" sz="2800" b="1" kern="0" dirty="0">
                <a:solidFill>
                  <a:srgbClr val="0070C0"/>
                </a:solidFill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</a:rPr>
              <a:t>向量化 </a:t>
            </a:r>
            <a:r>
              <a:rPr lang="en-US" altLang="zh-CN" sz="2800" b="1" dirty="0">
                <a:solidFill>
                  <a:srgbClr val="0070C0"/>
                </a:solidFill>
              </a:rPr>
              <a:t>"</a:t>
            </a:r>
            <a:r>
              <a:rPr lang="zh-CN" altLang="en-US" sz="2800" b="1" dirty="0">
                <a:solidFill>
                  <a:srgbClr val="0070C0"/>
                </a:solidFill>
              </a:rPr>
              <a:t>点</a:t>
            </a:r>
            <a:r>
              <a:rPr lang="en-US" altLang="zh-CN" sz="2800" b="1" dirty="0">
                <a:solidFill>
                  <a:srgbClr val="0070C0"/>
                </a:solidFill>
              </a:rPr>
              <a:t>" </a:t>
            </a:r>
            <a:r>
              <a:rPr lang="zh-CN" altLang="en-US" sz="2800" b="1" dirty="0">
                <a:solidFill>
                  <a:srgbClr val="0070C0"/>
                </a:solidFill>
              </a:rPr>
              <a:t>运算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174C77-D3A9-40F0-B2E3-B701F09A22B9}"/>
              </a:ext>
            </a:extLst>
          </p:cNvPr>
          <p:cNvSpPr txBox="1"/>
          <p:nvPr/>
        </p:nvSpPr>
        <p:spPr>
          <a:xfrm>
            <a:off x="22622" y="708876"/>
            <a:ext cx="463021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algn="dist">
              <a:buFont typeface="+mj-ea"/>
              <a:buAutoNum type="circleNumDbPlain"/>
              <a:defRPr sz="2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>
              <a:buFont typeface="+mj-ea"/>
              <a:buAutoNum type="circleNumDbPlain" startAt="2"/>
            </a:pPr>
            <a:r>
              <a:rPr lang="zh-CN" altLang="en-US" sz="2000" dirty="0"/>
              <a:t>向量化“点”运算</a:t>
            </a:r>
            <a:r>
              <a:rPr lang="en-US" altLang="zh-CN" sz="2000" dirty="0">
                <a:sym typeface="Wingdings" panose="05000000000000000000" pitchFamily="2" charset="2"/>
              </a:rPr>
              <a:t>(</a:t>
            </a:r>
            <a:r>
              <a:rPr lang="zh-CN" altLang="en-US" sz="2000" dirty="0">
                <a:sym typeface="Wingdings" panose="05000000000000000000" pitchFamily="2" charset="2"/>
              </a:rPr>
              <a:t>广播</a:t>
            </a:r>
            <a:r>
              <a:rPr lang="en-US" altLang="zh-CN" sz="2000" dirty="0">
                <a:sym typeface="Wingdings" panose="05000000000000000000" pitchFamily="2" charset="2"/>
              </a:rPr>
              <a:t>map</a:t>
            </a:r>
            <a:r>
              <a:rPr lang="zh-CN" altLang="en-US" sz="2000" dirty="0"/>
              <a:t>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49C650-8E89-42F0-9512-134CB8F3386B}"/>
              </a:ext>
            </a:extLst>
          </p:cNvPr>
          <p:cNvSpPr txBox="1"/>
          <p:nvPr/>
        </p:nvSpPr>
        <p:spPr>
          <a:xfrm>
            <a:off x="2483768" y="1239384"/>
            <a:ext cx="2750991" cy="90986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标量循环运算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v=t^2</a:t>
            </a:r>
          </a:p>
          <a:p>
            <a:pPr>
              <a:lnSpc>
                <a:spcPts val="34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v=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]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5E33F3-59B0-4D3E-89E7-313A8E700775}"/>
              </a:ext>
            </a:extLst>
          </p:cNvPr>
          <p:cNvSpPr txBox="1"/>
          <p:nvPr/>
        </p:nvSpPr>
        <p:spPr>
          <a:xfrm>
            <a:off x="5621914" y="1228599"/>
            <a:ext cx="3379288" cy="91589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向量的点运算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v=t.^2</a:t>
            </a:r>
          </a:p>
          <a:p>
            <a:pPr>
              <a:lnSpc>
                <a:spcPts val="34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s-E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[1, 2,  3, 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s-E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es-ES" altLang="zh-CN" sz="2000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s-E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t.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^2</a:t>
            </a:r>
            <a:endParaRPr lang="zh-CN" altLang="en-US" sz="2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02E7176-A4F3-4183-8C70-B40E0384C60E}"/>
              </a:ext>
            </a:extLst>
          </p:cNvPr>
          <p:cNvSpPr txBox="1"/>
          <p:nvPr/>
        </p:nvSpPr>
        <p:spPr>
          <a:xfrm>
            <a:off x="77704" y="1181602"/>
            <a:ext cx="2061138" cy="9164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自变量为向量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t=[1,  2,  3,  4 ] </a:t>
            </a:r>
          </a:p>
        </p:txBody>
      </p:sp>
      <p:sp>
        <p:nvSpPr>
          <p:cNvPr id="27" name="箭头: 虚尾 26">
            <a:extLst>
              <a:ext uri="{FF2B5EF4-FFF2-40B4-BE49-F238E27FC236}">
                <a16:creationId xmlns:a16="http://schemas.microsoft.com/office/drawing/2014/main" id="{D785A5B3-0306-404E-BF8E-54B7CF07659E}"/>
              </a:ext>
            </a:extLst>
          </p:cNvPr>
          <p:cNvSpPr/>
          <p:nvPr/>
        </p:nvSpPr>
        <p:spPr bwMode="auto">
          <a:xfrm>
            <a:off x="2191690" y="1568058"/>
            <a:ext cx="292078" cy="245857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箭头: 虚尾 27">
            <a:extLst>
              <a:ext uri="{FF2B5EF4-FFF2-40B4-BE49-F238E27FC236}">
                <a16:creationId xmlns:a16="http://schemas.microsoft.com/office/drawing/2014/main" id="{A400E014-6E2E-4717-ABE7-7D2BED5CCD7B}"/>
              </a:ext>
            </a:extLst>
          </p:cNvPr>
          <p:cNvSpPr/>
          <p:nvPr/>
        </p:nvSpPr>
        <p:spPr bwMode="auto">
          <a:xfrm>
            <a:off x="5234759" y="1595090"/>
            <a:ext cx="387155" cy="260595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91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85FF2CE-F4EF-4D1E-9A85-F863FD462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452462"/>
              </p:ext>
            </p:extLst>
          </p:nvPr>
        </p:nvGraphicFramePr>
        <p:xfrm>
          <a:off x="179512" y="751165"/>
          <a:ext cx="8784975" cy="383805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285424">
                  <a:extLst>
                    <a:ext uri="{9D8B030D-6E8A-4147-A177-3AD203B41FA5}">
                      <a16:colId xmlns:a16="http://schemas.microsoft.com/office/drawing/2014/main" val="3742221213"/>
                    </a:ext>
                  </a:extLst>
                </a:gridCol>
                <a:gridCol w="2819032">
                  <a:extLst>
                    <a:ext uri="{9D8B030D-6E8A-4147-A177-3AD203B41FA5}">
                      <a16:colId xmlns:a16="http://schemas.microsoft.com/office/drawing/2014/main" val="1397924961"/>
                    </a:ext>
                  </a:extLst>
                </a:gridCol>
                <a:gridCol w="4680519">
                  <a:extLst>
                    <a:ext uri="{9D8B030D-6E8A-4147-A177-3AD203B41FA5}">
                      <a16:colId xmlns:a16="http://schemas.microsoft.com/office/drawing/2014/main" val="3268306771"/>
                    </a:ext>
                  </a:extLst>
                </a:gridCol>
              </a:tblGrid>
              <a:tr h="334036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运算符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数学运算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运算描述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032214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.+ y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二元加法运算符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两数组逐元素相加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973608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.- y	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二元减法运算符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两数组逐元素相减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52214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.* y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乘法运算符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两数组逐元素相乘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267733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./ y	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除法运算符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两数组逐元素相除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26653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.÷ y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整除  取 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/ y 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的整数部分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两数组逐元素取整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340335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.\ y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两数组逐元素相除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反向除法等价于 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y / x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13112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.^ y	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幂操作符，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 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的 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y 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次幂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数组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逐元素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y 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次幂 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882160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.&amp;, .|, .!x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与或非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与或非数组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元素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526973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.&lt;=, .≤ 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关系运算符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数组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逐元素比较大小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524165"/>
                  </a:ext>
                </a:extLst>
              </a:tr>
              <a:tr h="350277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.√ x 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开根号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数组</a:t>
                      </a: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逐元素开根号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250795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F031FEB7-425E-4CC1-851A-5EE73F3DAF5F}"/>
              </a:ext>
            </a:extLst>
          </p:cNvPr>
          <p:cNvSpPr txBox="1">
            <a:spLocks/>
          </p:cNvSpPr>
          <p:nvPr/>
        </p:nvSpPr>
        <p:spPr bwMode="auto">
          <a:xfrm>
            <a:off x="827584" y="194025"/>
            <a:ext cx="72008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0" dirty="0"/>
              <a:t>§1.5.1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数学运算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向量化点运算即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逐元素运算</a:t>
            </a: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156233-59D1-44FE-A4FA-9B5C1AD5A33B}"/>
              </a:ext>
            </a:extLst>
          </p:cNvPr>
          <p:cNvSpPr txBox="1"/>
          <p:nvPr/>
        </p:nvSpPr>
        <p:spPr>
          <a:xfrm>
            <a:off x="6300192" y="3795886"/>
            <a:ext cx="2699792" cy="779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180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逐点复合赋值运算符   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SFMono-Regular"/>
              </a:rPr>
              <a:t>a .+= b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Helvetica Neue"/>
              </a:rPr>
              <a:t>（或者 </a:t>
            </a:r>
            <a:r>
              <a:rPr lang="en-US" altLang="zh-CN" sz="1800" b="1" i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SFMono-Regular"/>
              </a:rPr>
              <a:t>@. a += b</a:t>
            </a:r>
            <a:r>
              <a:rPr lang="zh-CN" altLang="en-US" sz="1800" b="0" i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Helvetica Neue"/>
              </a:rPr>
              <a:t>）</a:t>
            </a:r>
            <a:r>
              <a:rPr lang="zh-CN" altLang="en-US" sz="180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08306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0AB99-55A8-72B7-0BB2-A7A1582C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951"/>
            <a:ext cx="7667625" cy="438150"/>
          </a:xfrm>
        </p:spPr>
        <p:txBody>
          <a:bodyPr/>
          <a:lstStyle/>
          <a:p>
            <a:r>
              <a:rPr lang="en-US" altLang="zh-CN" dirty="0"/>
              <a:t>§1.5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1 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数学运算</a:t>
            </a:r>
            <a:r>
              <a:rPr lang="en-US" altLang="zh-CN" kern="0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点运算示例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BFDE53-D64A-E7CA-ABED-7E5E6C47AE62}"/>
              </a:ext>
            </a:extLst>
          </p:cNvPr>
          <p:cNvSpPr txBox="1"/>
          <p:nvPr/>
        </p:nvSpPr>
        <p:spPr>
          <a:xfrm>
            <a:off x="683568" y="571490"/>
            <a:ext cx="56166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 err="1"/>
              <a:t>julia</a:t>
            </a:r>
            <a:r>
              <a:rPr lang="en-US" altLang="zh-CN" sz="2200" dirty="0"/>
              <a:t>&gt; m=magic(2)</a:t>
            </a:r>
          </a:p>
          <a:p>
            <a:r>
              <a:rPr lang="en-US" altLang="zh-CN" sz="2200" dirty="0">
                <a:solidFill>
                  <a:srgbClr val="00B0F0"/>
                </a:solidFill>
              </a:rPr>
              <a:t> 1  3</a:t>
            </a:r>
          </a:p>
          <a:p>
            <a:r>
              <a:rPr lang="en-US" altLang="zh-CN" sz="2200" dirty="0">
                <a:solidFill>
                  <a:srgbClr val="00B0F0"/>
                </a:solidFill>
              </a:rPr>
              <a:t> 4  2</a:t>
            </a:r>
          </a:p>
          <a:p>
            <a:r>
              <a:rPr lang="en-US" altLang="zh-CN" sz="2200" dirty="0" err="1"/>
              <a:t>julia</a:t>
            </a:r>
            <a:r>
              <a:rPr lang="en-US" altLang="zh-CN" sz="2200" dirty="0"/>
              <a:t>&gt; p=pascal(2)</a:t>
            </a:r>
          </a:p>
          <a:p>
            <a:r>
              <a:rPr lang="en-US" altLang="zh-CN" sz="2200" dirty="0">
                <a:solidFill>
                  <a:srgbClr val="00B0F0"/>
                </a:solidFill>
              </a:rPr>
              <a:t> 1  1</a:t>
            </a:r>
          </a:p>
          <a:p>
            <a:r>
              <a:rPr lang="en-US" altLang="zh-CN" sz="2200" dirty="0">
                <a:solidFill>
                  <a:srgbClr val="00B0F0"/>
                </a:solidFill>
              </a:rPr>
              <a:t> 1  2</a:t>
            </a:r>
          </a:p>
          <a:p>
            <a:r>
              <a:rPr lang="en-US" altLang="zh-CN" sz="2200" dirty="0"/>
              <a:t> </a:t>
            </a:r>
            <a:r>
              <a:rPr lang="en-US" altLang="zh-CN" sz="2200" dirty="0" err="1"/>
              <a:t>julia</a:t>
            </a:r>
            <a:r>
              <a:rPr lang="en-US" altLang="zh-CN" sz="2200" dirty="0"/>
              <a:t>&gt; m.*p  #</a:t>
            </a:r>
            <a:r>
              <a:rPr lang="zh-CN" altLang="en-US" sz="2200" dirty="0"/>
              <a:t>点运算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B0F0"/>
                </a:solidFill>
              </a:rPr>
              <a:t>1  3</a:t>
            </a:r>
          </a:p>
          <a:p>
            <a:r>
              <a:rPr lang="en-US" altLang="zh-CN" sz="2200" dirty="0">
                <a:solidFill>
                  <a:srgbClr val="00B0F0"/>
                </a:solidFill>
              </a:rPr>
              <a:t>4  4</a:t>
            </a:r>
          </a:p>
          <a:p>
            <a:r>
              <a:rPr lang="en-US" altLang="zh-CN" sz="2200" dirty="0" err="1"/>
              <a:t>julia</a:t>
            </a:r>
            <a:r>
              <a:rPr lang="en-US" altLang="zh-CN" sz="2200" dirty="0"/>
              <a:t>&gt; m*p  #</a:t>
            </a:r>
            <a:r>
              <a:rPr lang="zh-CN" altLang="en-US" sz="2200" dirty="0">
                <a:solidFill>
                  <a:srgbClr val="FF0000"/>
                </a:solidFill>
              </a:rPr>
              <a:t>矩阵运算，结果不同点运算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en-US" altLang="zh-CN" sz="2200" dirty="0">
                <a:solidFill>
                  <a:srgbClr val="00B0F0"/>
                </a:solidFill>
              </a:rPr>
              <a:t>4  7</a:t>
            </a:r>
          </a:p>
          <a:p>
            <a:r>
              <a:rPr lang="en-US" altLang="zh-CN" sz="2200" dirty="0">
                <a:solidFill>
                  <a:srgbClr val="00B0F0"/>
                </a:solidFill>
              </a:rPr>
              <a:t>6  8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16379C-D6A2-22F7-CC2F-7B7A1D1337D0}"/>
              </a:ext>
            </a:extLst>
          </p:cNvPr>
          <p:cNvSpPr txBox="1"/>
          <p:nvPr/>
        </p:nvSpPr>
        <p:spPr>
          <a:xfrm>
            <a:off x="5878157" y="737322"/>
            <a:ext cx="32658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julia</a:t>
            </a:r>
            <a:r>
              <a:rPr lang="en-US" altLang="zh-CN" sz="2400" dirty="0"/>
              <a:t>&gt; </a:t>
            </a:r>
            <a:r>
              <a:rPr lang="en-US" altLang="zh-CN" sz="2400" dirty="0" err="1"/>
              <a:t>m+p</a:t>
            </a:r>
            <a:r>
              <a:rPr lang="en-US" altLang="zh-CN" sz="2400" dirty="0"/>
              <a:t> #</a:t>
            </a:r>
            <a:r>
              <a:rPr lang="zh-CN" altLang="en-US" sz="2400" dirty="0"/>
              <a:t>点运算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00B0F0"/>
                </a:solidFill>
              </a:rPr>
              <a:t>2×2 Matrix{Int64}:</a:t>
            </a:r>
          </a:p>
          <a:p>
            <a:r>
              <a:rPr lang="en-US" altLang="zh-CN" sz="2400" dirty="0">
                <a:solidFill>
                  <a:srgbClr val="00B0F0"/>
                </a:solidFill>
              </a:rPr>
              <a:t> 2  4</a:t>
            </a:r>
          </a:p>
          <a:p>
            <a:r>
              <a:rPr lang="en-US" altLang="zh-CN" sz="2400" dirty="0">
                <a:solidFill>
                  <a:srgbClr val="00B0F0"/>
                </a:solidFill>
              </a:rPr>
              <a:t> 5  4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julia</a:t>
            </a:r>
            <a:r>
              <a:rPr lang="en-US" altLang="zh-CN" sz="2400" dirty="0"/>
              <a:t>&gt; </a:t>
            </a:r>
            <a:r>
              <a:rPr lang="en-US" altLang="zh-CN" sz="2400" dirty="0" err="1"/>
              <a:t>m.+p</a:t>
            </a:r>
            <a:r>
              <a:rPr lang="en-US" altLang="zh-CN" sz="2400" dirty="0"/>
              <a:t> #</a:t>
            </a:r>
            <a:r>
              <a:rPr lang="zh-CN" altLang="en-US" sz="2400" dirty="0"/>
              <a:t>矩阵运算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00B0F0"/>
                </a:solidFill>
              </a:rPr>
              <a:t>2×2 Matrix{Int64}:</a:t>
            </a:r>
          </a:p>
          <a:p>
            <a:r>
              <a:rPr lang="en-US" altLang="zh-CN" sz="2400" dirty="0">
                <a:solidFill>
                  <a:srgbClr val="00B0F0"/>
                </a:solidFill>
              </a:rPr>
              <a:t> 2  4</a:t>
            </a:r>
          </a:p>
          <a:p>
            <a:r>
              <a:rPr lang="en-US" altLang="zh-CN" sz="2400" dirty="0">
                <a:solidFill>
                  <a:srgbClr val="00B0F0"/>
                </a:solidFill>
              </a:rPr>
              <a:t> 5  4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B5B9A66A-99FF-4FE2-AFAB-C0B9DF70B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711" y="4064687"/>
            <a:ext cx="1368152" cy="519022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DAC112-765E-42C4-B132-35CED1296485}"/>
              </a:ext>
            </a:extLst>
          </p:cNvPr>
          <p:cNvSpPr txBox="1"/>
          <p:nvPr/>
        </p:nvSpPr>
        <p:spPr>
          <a:xfrm>
            <a:off x="3059832" y="4182820"/>
            <a:ext cx="5507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数组相加减时，数组运算和矩阵运算结果一样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749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0C40C8D8-CF89-45CC-8789-51401507E627}"/>
              </a:ext>
            </a:extLst>
          </p:cNvPr>
          <p:cNvSpPr txBox="1">
            <a:spLocks/>
          </p:cNvSpPr>
          <p:nvPr/>
        </p:nvSpPr>
        <p:spPr bwMode="auto">
          <a:xfrm>
            <a:off x="899592" y="363705"/>
            <a:ext cx="7596336" cy="5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b="1" dirty="0">
                <a:solidFill>
                  <a:srgbClr val="002060"/>
                </a:solidFill>
              </a:rPr>
              <a:t>    </a:t>
            </a:r>
          </a:p>
          <a:p>
            <a:endParaRPr lang="en-US" altLang="zh-CN" sz="2600" b="1" dirty="0"/>
          </a:p>
          <a:p>
            <a:endParaRPr lang="en-US" altLang="zh-CN" sz="2600" b="1" dirty="0"/>
          </a:p>
          <a:p>
            <a:endParaRPr lang="en-US" altLang="zh-CN" sz="2600" b="1" dirty="0"/>
          </a:p>
          <a:p>
            <a:endParaRPr lang="en-US" altLang="zh-CN" sz="2600" b="1" dirty="0"/>
          </a:p>
          <a:p>
            <a:pPr>
              <a:lnSpc>
                <a:spcPct val="100000"/>
              </a:lnSpc>
            </a:pPr>
            <a:endParaRPr lang="en-US" altLang="zh-CN" sz="2600" b="1" dirty="0"/>
          </a:p>
          <a:p>
            <a:pPr>
              <a:lnSpc>
                <a:spcPct val="100000"/>
              </a:lnSpc>
            </a:pPr>
            <a:endParaRPr lang="en-US" altLang="zh-CN" sz="2600" b="1" dirty="0"/>
          </a:p>
          <a:p>
            <a:pPr>
              <a:lnSpc>
                <a:spcPct val="100000"/>
              </a:lnSpc>
            </a:pPr>
            <a:endParaRPr lang="en-US" altLang="zh-CN" sz="2600" b="1" dirty="0"/>
          </a:p>
          <a:p>
            <a:pPr>
              <a:lnSpc>
                <a:spcPct val="100000"/>
              </a:lnSpc>
            </a:pPr>
            <a:endParaRPr lang="en-US" altLang="zh-CN" sz="2600" b="1" dirty="0"/>
          </a:p>
          <a:p>
            <a:pPr>
              <a:lnSpc>
                <a:spcPct val="100000"/>
              </a:lnSpc>
            </a:pPr>
            <a:r>
              <a:rPr lang="en-US" altLang="zh-CN" sz="2600" b="1" dirty="0"/>
              <a:t>§1.5</a:t>
            </a:r>
            <a:r>
              <a:rPr lang="en-US" altLang="zh-CN" sz="2600" b="1" dirty="0">
                <a:solidFill>
                  <a:srgbClr val="002060"/>
                </a:solidFill>
              </a:rPr>
              <a:t>. 1 </a:t>
            </a:r>
            <a:r>
              <a:rPr lang="zh-CN" altLang="en-US" sz="2600" b="1" dirty="0">
                <a:solidFill>
                  <a:srgbClr val="002060"/>
                </a:solidFill>
              </a:rPr>
              <a:t>数学运算</a:t>
            </a:r>
            <a:r>
              <a:rPr lang="en-US" altLang="zh-CN" sz="26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600" b="1" kern="0" dirty="0">
                <a:solidFill>
                  <a:srgbClr val="FF0000"/>
                </a:solidFill>
              </a:rPr>
              <a:t>逐元素</a:t>
            </a:r>
            <a:r>
              <a:rPr lang="zh-CN" altLang="en-US" sz="2600" b="1" dirty="0">
                <a:solidFill>
                  <a:srgbClr val="FF0000"/>
                </a:solidFill>
              </a:rPr>
              <a:t>查找符合条件数组元素</a:t>
            </a:r>
          </a:p>
          <a:p>
            <a:endParaRPr lang="zh-CN" altLang="en-US" sz="2600" b="1" kern="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127C66-E6D1-4F38-86E0-A09BC4888A3C}"/>
              </a:ext>
            </a:extLst>
          </p:cNvPr>
          <p:cNvSpPr txBox="1"/>
          <p:nvPr/>
        </p:nvSpPr>
        <p:spPr>
          <a:xfrm>
            <a:off x="99769" y="1104766"/>
            <a:ext cx="5310797" cy="346543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3×3 Matrix{Int64}: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8  1  6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3  5  7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4  9  2</a:t>
            </a:r>
          </a:p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zh-CN" altLang="en-US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≠确定 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中元素≠ 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的索引位置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逐元素比较</a:t>
            </a:r>
            <a:endParaRPr lang="zh-CN" altLang="en-US" b="1" dirty="0">
              <a:solidFill>
                <a:srgbClr val="0070C0"/>
              </a:solidFill>
            </a:endParaRPr>
          </a:p>
          <a:p>
            <a:pPr>
              <a:lnSpc>
                <a:spcPts val="2700"/>
              </a:lnSpc>
            </a:pPr>
            <a:r>
              <a:rPr lang="zh-CN" altLang="en-US" b="1" dirty="0"/>
              <a:t>julia&gt; m8=ma</a:t>
            </a:r>
            <a:r>
              <a:rPr lang="zh-CN" altLang="en-US" b="1" dirty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!</a:t>
            </a:r>
            <a:r>
              <a:rPr lang="zh-CN" altLang="en-US" b="1" dirty="0">
                <a:solidFill>
                  <a:srgbClr val="FF0000"/>
                </a:solidFill>
              </a:rPr>
              <a:t>=</a:t>
            </a:r>
            <a:r>
              <a:rPr lang="zh-CN" altLang="en-US" b="1" dirty="0"/>
              <a:t>8  </a:t>
            </a:r>
            <a:r>
              <a:rPr lang="en-US" altLang="zh-CN" dirty="0"/>
              <a:t>#</a:t>
            </a:r>
            <a:r>
              <a:rPr lang="zh-CN" altLang="en-US" b="1" dirty="0">
                <a:solidFill>
                  <a:srgbClr val="2121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对比矩阵</a:t>
            </a:r>
            <a:r>
              <a:rPr lang="zh-CN" altLang="en-US" b="1" i="0" dirty="0">
                <a:solidFill>
                  <a:srgbClr val="21212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元素，需点关系运算</a:t>
            </a:r>
            <a:endParaRPr lang="zh-CN" altLang="en-US" dirty="0"/>
          </a:p>
          <a:p>
            <a:pPr>
              <a:lnSpc>
                <a:spcPts val="2700"/>
              </a:lnSpc>
            </a:pPr>
            <a:r>
              <a:rPr lang="en-US" altLang="zh-CN" dirty="0">
                <a:solidFill>
                  <a:srgbClr val="00B0F0"/>
                </a:solidFill>
              </a:rPr>
              <a:t>3×3 </a:t>
            </a:r>
            <a:r>
              <a:rPr lang="en-US" altLang="zh-CN" dirty="0" err="1">
                <a:solidFill>
                  <a:srgbClr val="00B0F0"/>
                </a:solidFill>
              </a:rPr>
              <a:t>BitMatrix</a:t>
            </a:r>
            <a:r>
              <a:rPr lang="en-US" altLang="zh-CN" dirty="0">
                <a:solidFill>
                  <a:srgbClr val="00B0F0"/>
                </a:solidFill>
              </a:rPr>
              <a:t>:</a:t>
            </a:r>
          </a:p>
          <a:p>
            <a:pPr>
              <a:lnSpc>
                <a:spcPts val="2700"/>
              </a:lnSpc>
            </a:pPr>
            <a:r>
              <a:rPr lang="en-US" altLang="zh-CN" dirty="0">
                <a:solidFill>
                  <a:srgbClr val="00B0F0"/>
                </a:solidFill>
              </a:rPr>
              <a:t> 0  1  1</a:t>
            </a:r>
          </a:p>
          <a:p>
            <a:pPr>
              <a:lnSpc>
                <a:spcPts val="2700"/>
              </a:lnSpc>
            </a:pPr>
            <a:r>
              <a:rPr lang="en-US" altLang="zh-CN" dirty="0">
                <a:solidFill>
                  <a:srgbClr val="00B0F0"/>
                </a:solidFill>
              </a:rPr>
              <a:t> 1  1  1</a:t>
            </a:r>
          </a:p>
          <a:p>
            <a:pPr>
              <a:lnSpc>
                <a:spcPts val="2700"/>
              </a:lnSpc>
            </a:pPr>
            <a:r>
              <a:rPr lang="en-US" altLang="zh-CN" dirty="0">
                <a:solidFill>
                  <a:srgbClr val="00B0F0"/>
                </a:solidFill>
              </a:rPr>
              <a:t> 1  1  1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72B5A3-3D51-43A7-B7A1-12DDB37EB5D4}"/>
              </a:ext>
            </a:extLst>
          </p:cNvPr>
          <p:cNvSpPr txBox="1"/>
          <p:nvPr/>
        </p:nvSpPr>
        <p:spPr>
          <a:xfrm>
            <a:off x="4697760" y="689762"/>
            <a:ext cx="444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采用逻辑索引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m8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，显示≠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的矩阵元素</a:t>
            </a:r>
            <a:endParaRPr lang="en-US" altLang="zh-CN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34D5CB8-2351-4A1C-BF91-6E639D806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567" y="2915451"/>
            <a:ext cx="35283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zh-CN" dirty="0">
                <a:highlight>
                  <a:srgbClr val="FFFF00"/>
                </a:highlight>
              </a:rPr>
              <a:t>julia&gt; ma[ma</a:t>
            </a:r>
            <a:r>
              <a:rPr lang="it-IT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.&lt;=</a:t>
            </a:r>
            <a:r>
              <a:rPr lang="it-IT" altLang="zh-CN" dirty="0">
                <a:highlight>
                  <a:srgbClr val="FFFF00"/>
                </a:highlight>
              </a:rPr>
              <a:t>4 </a:t>
            </a:r>
            <a:r>
              <a:rPr lang="it-IT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.&amp; </a:t>
            </a:r>
            <a:r>
              <a:rPr lang="it-IT" altLang="zh-CN" dirty="0">
                <a:highlight>
                  <a:srgbClr val="FFFF00"/>
                </a:highlight>
              </a:rPr>
              <a:t>ma</a:t>
            </a:r>
            <a:r>
              <a:rPr lang="it-IT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.&gt;</a:t>
            </a:r>
            <a:r>
              <a:rPr lang="it-IT" altLang="zh-CN" dirty="0">
                <a:highlight>
                  <a:srgbClr val="FFFF00"/>
                </a:highlight>
              </a:rPr>
              <a:t>3</a:t>
            </a:r>
            <a:r>
              <a:rPr lang="it-IT" altLang="zh-CN" dirty="0"/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zh-CN" dirty="0">
                <a:solidFill>
                  <a:srgbClr val="00B0F0"/>
                </a:solidFill>
              </a:rPr>
              <a:t>1-element Vector{Int64}: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zh-CN" dirty="0">
                <a:solidFill>
                  <a:srgbClr val="00B0F0"/>
                </a:solidFill>
              </a:rPr>
              <a:t> 4</a:t>
            </a:r>
            <a:endParaRPr lang="zh-CN" altLang="zh-CN" dirty="0">
              <a:solidFill>
                <a:srgbClr val="00B0F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F57A77-2510-4C5F-8078-79CFEEB15E5D}"/>
              </a:ext>
            </a:extLst>
          </p:cNvPr>
          <p:cNvSpPr txBox="1"/>
          <p:nvPr/>
        </p:nvSpPr>
        <p:spPr>
          <a:xfrm>
            <a:off x="5117139" y="2380826"/>
            <a:ext cx="424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显示矩阵中元素≤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并大于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的元素</a:t>
            </a:r>
            <a:endParaRPr lang="en-US" altLang="zh-CN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E5EB7B21-3B55-4975-88D1-935F5338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384" y="3637238"/>
            <a:ext cx="1224136" cy="71554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 注意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23E52C-999B-44A9-AC30-958329CF493A}"/>
              </a:ext>
            </a:extLst>
          </p:cNvPr>
          <p:cNvSpPr/>
          <p:nvPr/>
        </p:nvSpPr>
        <p:spPr>
          <a:xfrm>
            <a:off x="8100392" y="1248605"/>
            <a:ext cx="940811" cy="584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线性索引</a:t>
            </a:r>
            <a:r>
              <a:rPr lang="en-US" altLang="zh-CN" kern="0" dirty="0" err="1">
                <a:solidFill>
                  <a:schemeClr val="bg1"/>
                </a:solidFill>
              </a:rPr>
              <a:t>ak</a:t>
            </a:r>
            <a:r>
              <a:rPr lang="en-US" altLang="zh-CN" kern="0" dirty="0">
                <a:solidFill>
                  <a:schemeClr val="bg1"/>
                </a:solidFill>
              </a:rPr>
              <a:t>=A[k]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529DF7-2AAC-41B2-A2C4-066E042C6E5C}"/>
              </a:ext>
            </a:extLst>
          </p:cNvPr>
          <p:cNvSpPr txBox="1"/>
          <p:nvPr/>
        </p:nvSpPr>
        <p:spPr>
          <a:xfrm>
            <a:off x="99769" y="4269072"/>
            <a:ext cx="9044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8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数组中逐元素查找数组元素，需要点关系运算和点逻辑运算符；</a:t>
            </a:r>
            <a:r>
              <a:rPr lang="en-US" altLang="zh-CN" sz="18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不加点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BE3F55-8A2F-444D-806E-8F7920FF7B62}"/>
              </a:ext>
            </a:extLst>
          </p:cNvPr>
          <p:cNvSpPr txBox="1"/>
          <p:nvPr/>
        </p:nvSpPr>
        <p:spPr>
          <a:xfrm>
            <a:off x="5117139" y="947388"/>
            <a:ext cx="40071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julia&gt; ma[m8]</a:t>
            </a:r>
          </a:p>
          <a:p>
            <a:r>
              <a:rPr lang="fr-FR" altLang="zh-CN" dirty="0">
                <a:solidFill>
                  <a:srgbClr val="00B0F0"/>
                </a:solidFill>
              </a:rPr>
              <a:t>8-element Vector{Int64}:</a:t>
            </a:r>
          </a:p>
          <a:p>
            <a:r>
              <a:rPr lang="fr-FR" altLang="zh-CN" dirty="0">
                <a:solidFill>
                  <a:srgbClr val="00B0F0"/>
                </a:solidFill>
              </a:rPr>
              <a:t> 3</a:t>
            </a:r>
          </a:p>
          <a:p>
            <a:r>
              <a:rPr lang="fr-FR" altLang="zh-CN" dirty="0">
                <a:solidFill>
                  <a:srgbClr val="00B0F0"/>
                </a:solidFill>
              </a:rPr>
              <a:t>  ⋮</a:t>
            </a:r>
          </a:p>
          <a:p>
            <a:r>
              <a:rPr lang="fr-FR" altLang="zh-CN" dirty="0">
                <a:solidFill>
                  <a:srgbClr val="00B0F0"/>
                </a:solidFill>
              </a:rPr>
              <a:t>2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B98E11-A2E1-4FE0-8731-97987B32499D}"/>
              </a:ext>
            </a:extLst>
          </p:cNvPr>
          <p:cNvSpPr txBox="1"/>
          <p:nvPr/>
        </p:nvSpPr>
        <p:spPr>
          <a:xfrm>
            <a:off x="149981" y="708632"/>
            <a:ext cx="4446240" cy="3961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julia&gt; ma=magic(3) 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#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阶魔方矩阵</a:t>
            </a:r>
          </a:p>
        </p:txBody>
      </p:sp>
    </p:spTree>
    <p:extLst>
      <p:ext uri="{BB962C8B-B14F-4D97-AF65-F5344CB8AC3E}">
        <p14:creationId xmlns:p14="http://schemas.microsoft.com/office/powerpoint/2010/main" val="29092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1020894-03E3-4A5F-99EA-E518EE83864F}"/>
              </a:ext>
            </a:extLst>
          </p:cNvPr>
          <p:cNvSpPr txBox="1">
            <a:spLocks/>
          </p:cNvSpPr>
          <p:nvPr/>
        </p:nvSpPr>
        <p:spPr bwMode="auto">
          <a:xfrm>
            <a:off x="1187624" y="-64371"/>
            <a:ext cx="6192688" cy="110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b="1" dirty="0">
                <a:solidFill>
                  <a:srgbClr val="002060"/>
                </a:solidFill>
              </a:rPr>
              <a:t>    </a:t>
            </a:r>
          </a:p>
          <a:p>
            <a:endParaRPr lang="en-US" altLang="zh-CN" b="1" dirty="0"/>
          </a:p>
          <a:p>
            <a:r>
              <a:rPr lang="en-US" altLang="zh-CN" sz="2800" b="1" dirty="0"/>
              <a:t>§1.5</a:t>
            </a:r>
            <a:r>
              <a:rPr lang="en-US" altLang="zh-CN" sz="2800" b="1" dirty="0">
                <a:solidFill>
                  <a:srgbClr val="002060"/>
                </a:solidFill>
              </a:rPr>
              <a:t>. 1 </a:t>
            </a:r>
            <a:r>
              <a:rPr lang="zh-CN" altLang="en-US" sz="2800" b="1" dirty="0">
                <a:solidFill>
                  <a:srgbClr val="002060"/>
                </a:solidFill>
              </a:rPr>
              <a:t>数学运算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修改替换符合条件的值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endParaRPr lang="zh-CN" alt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153A78-302F-4BFA-8087-295753C146E0}"/>
              </a:ext>
            </a:extLst>
          </p:cNvPr>
          <p:cNvSpPr txBox="1"/>
          <p:nvPr/>
        </p:nvSpPr>
        <p:spPr>
          <a:xfrm>
            <a:off x="4678257" y="1000947"/>
            <a:ext cx="4420031" cy="29308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julia&gt; maf[maf </a:t>
            </a:r>
            <a:r>
              <a:rPr lang="zh-CN" altLang="en-US" b="1" dirty="0">
                <a:solidFill>
                  <a:srgbClr val="FF0000"/>
                </a:solidFill>
              </a:rPr>
              <a:t>.!= </a:t>
            </a:r>
            <a:r>
              <a:rPr lang="zh-CN" altLang="en-US" sz="1400" dirty="0"/>
              <a:t>4] </a:t>
            </a:r>
            <a:r>
              <a:rPr lang="zh-CN" altLang="en-US" b="1" dirty="0">
                <a:solidFill>
                  <a:srgbClr val="FF0000"/>
                </a:solidFill>
              </a:rPr>
              <a:t>.= </a:t>
            </a:r>
            <a:r>
              <a:rPr lang="zh-CN" altLang="en-US" sz="1400" dirty="0"/>
              <a:t>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8-element view(::Vector{Float64}, [1, 2, 4, 5, 6, 7, 8, 9]) with eltype Float64: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2B52F4-1B20-4602-899D-4D43DC61AFAD}"/>
              </a:ext>
            </a:extLst>
          </p:cNvPr>
          <p:cNvSpPr txBox="1"/>
          <p:nvPr/>
        </p:nvSpPr>
        <p:spPr>
          <a:xfrm>
            <a:off x="149348" y="2550457"/>
            <a:ext cx="332665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逐元素转化为浮点数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6A5CF0-18BC-4394-8BAE-AB13CAA6670E}"/>
              </a:ext>
            </a:extLst>
          </p:cNvPr>
          <p:cNvSpPr txBox="1"/>
          <p:nvPr/>
        </p:nvSpPr>
        <p:spPr>
          <a:xfrm>
            <a:off x="5193196" y="2821003"/>
            <a:ext cx="3798168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显示替换为 </a:t>
            </a:r>
            <a:r>
              <a:rPr lang="en-US" altLang="zh-CN" sz="1400" b="1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en-US" altLang="zh-CN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值的浮点魔方矩阵</a:t>
            </a:r>
            <a:r>
              <a:rPr lang="en-US" altLang="zh-CN" sz="1400" b="1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maf</a:t>
            </a:r>
            <a:endParaRPr lang="en-US" altLang="zh-CN" sz="14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540600-3EA0-4396-90D7-3E018B8123CA}"/>
              </a:ext>
            </a:extLst>
          </p:cNvPr>
          <p:cNvSpPr txBox="1"/>
          <p:nvPr/>
        </p:nvSpPr>
        <p:spPr>
          <a:xfrm>
            <a:off x="172457" y="771550"/>
            <a:ext cx="4255527" cy="17238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julia&gt; ma=magic(3)  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#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阶魔方矩阵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3×3 Matrix{Int64}: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8  1  6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3  5  7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4  9  2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D544E4-C4DD-49DB-8DEC-27C887F153A9}"/>
              </a:ext>
            </a:extLst>
          </p:cNvPr>
          <p:cNvSpPr/>
          <p:nvPr/>
        </p:nvSpPr>
        <p:spPr>
          <a:xfrm>
            <a:off x="7092280" y="1831124"/>
            <a:ext cx="1702416" cy="3385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chemeClr val="bg1"/>
                </a:solidFill>
              </a:rPr>
              <a:t>a=A[</a:t>
            </a:r>
            <a:r>
              <a:rPr lang="zh-CN" altLang="en-US" sz="1600" kern="0" dirty="0">
                <a:solidFill>
                  <a:schemeClr val="bg1"/>
                </a:solidFill>
              </a:rPr>
              <a:t>逻辑关系式</a:t>
            </a:r>
            <a:r>
              <a:rPr lang="en-US" altLang="zh-CN" sz="1600" kern="0" dirty="0">
                <a:solidFill>
                  <a:schemeClr val="bg1"/>
                </a:solidFill>
              </a:rPr>
              <a:t>]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CF772D-3974-4932-8E2F-2886E4F6CD13}"/>
              </a:ext>
            </a:extLst>
          </p:cNvPr>
          <p:cNvSpPr/>
          <p:nvPr/>
        </p:nvSpPr>
        <p:spPr>
          <a:xfrm>
            <a:off x="6687653" y="2299594"/>
            <a:ext cx="2088232" cy="3385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600" kern="0" dirty="0">
                <a:solidFill>
                  <a:schemeClr val="bg1"/>
                </a:solidFill>
              </a:rPr>
              <a:t>修改替换矩阵</a:t>
            </a:r>
            <a:r>
              <a:rPr lang="en-US" altLang="zh-CN" sz="1600" kern="0" dirty="0">
                <a:solidFill>
                  <a:schemeClr val="bg1"/>
                </a:solidFill>
              </a:rPr>
              <a:t>A[</a:t>
            </a:r>
            <a:r>
              <a:rPr lang="en-US" altLang="zh-CN" sz="1600" kern="0" dirty="0" err="1">
                <a:solidFill>
                  <a:schemeClr val="bg1"/>
                </a:solidFill>
              </a:rPr>
              <a:t>i,j</a:t>
            </a:r>
            <a:r>
              <a:rPr lang="en-US" altLang="zh-CN" sz="1600" kern="0" dirty="0">
                <a:solidFill>
                  <a:schemeClr val="bg1"/>
                </a:solidFill>
              </a:rPr>
              <a:t>]=v</a:t>
            </a:r>
            <a:endParaRPr lang="zh-CN" altLang="en-US" sz="1600" kern="0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4B47BF-9568-4ED8-816F-BB835BEEA127}"/>
              </a:ext>
            </a:extLst>
          </p:cNvPr>
          <p:cNvSpPr txBox="1"/>
          <p:nvPr/>
        </p:nvSpPr>
        <p:spPr>
          <a:xfrm>
            <a:off x="197629" y="2916221"/>
            <a:ext cx="3278375" cy="1723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julia&gt; maf=Float64</a:t>
            </a:r>
            <a:r>
              <a:rPr lang="zh-CN" altLang="en-US" dirty="0">
                <a:solidFill>
                  <a:srgbClr val="FF0000"/>
                </a:solidFill>
              </a:rPr>
              <a:t>.</a:t>
            </a:r>
            <a:r>
              <a:rPr lang="zh-CN" altLang="en-US" dirty="0">
                <a:solidFill>
                  <a:srgbClr val="00B0F0"/>
                </a:solidFill>
              </a:rPr>
              <a:t>(ma)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3×3 Matrix{Float64}: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8.0  1.0  6.0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3.0  5.0  7.0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 4.0  9.0  2.0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0789EA-2D84-49D7-87AF-47299BFDB108}"/>
              </a:ext>
            </a:extLst>
          </p:cNvPr>
          <p:cNvSpPr txBox="1"/>
          <p:nvPr/>
        </p:nvSpPr>
        <p:spPr>
          <a:xfrm>
            <a:off x="5608380" y="3133429"/>
            <a:ext cx="1944216" cy="14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julia&gt; maf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3×3 Matrix{Float64}: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    NaN 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NaN    NaN  NaN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   4.0  NaN  NaN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CCB709-F1C5-4859-98FC-25A9F1EEEC0B}"/>
              </a:ext>
            </a:extLst>
          </p:cNvPr>
          <p:cNvSpPr txBox="1"/>
          <p:nvPr/>
        </p:nvSpPr>
        <p:spPr>
          <a:xfrm>
            <a:off x="4426024" y="747925"/>
            <a:ext cx="4829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 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中不等于 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的所有值替换为 </a:t>
            </a:r>
            <a:r>
              <a:rPr lang="en-US" altLang="zh-CN" b="1" dirty="0" err="1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en-US" altLang="zh-CN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endParaRPr lang="en-US" altLang="zh-CN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815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2AAAB-2B9B-8651-81A6-EB02083B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点运算注意事项：</a:t>
            </a:r>
            <a:r>
              <a:rPr lang="zh-CN" altLang="en-US" sz="2800" dirty="0">
                <a:solidFill>
                  <a:srgbClr val="FF0000"/>
                </a:solidFill>
              </a:rPr>
              <a:t>点加减数值时一定要空格</a:t>
            </a:r>
          </a:p>
        </p:txBody>
      </p:sp>
      <p:sp>
        <p:nvSpPr>
          <p:cNvPr id="4" name="AutoShape 13">
            <a:extLst>
              <a:ext uri="{FF2B5EF4-FFF2-40B4-BE49-F238E27FC236}">
                <a16:creationId xmlns:a16="http://schemas.microsoft.com/office/drawing/2014/main" id="{F008C40D-16E8-020C-F260-71EA5B10B59A}"/>
              </a:ext>
            </a:extLst>
          </p:cNvPr>
          <p:cNvSpPr>
            <a:spLocks noChangeArrowheads="1"/>
          </p:cNvSpPr>
          <p:nvPr/>
        </p:nvSpPr>
        <p:spPr bwMode="auto">
          <a:xfrm rot="21128940">
            <a:off x="-371929" y="127792"/>
            <a:ext cx="1534930" cy="465849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2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3FC088-669F-40A0-19F9-13A023A6B241}"/>
              </a:ext>
            </a:extLst>
          </p:cNvPr>
          <p:cNvSpPr txBox="1"/>
          <p:nvPr/>
        </p:nvSpPr>
        <p:spPr>
          <a:xfrm>
            <a:off x="395536" y="793615"/>
            <a:ext cx="4451776" cy="3742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dirty="0"/>
              <a:t>julia&gt; x=[1,2,3]</a:t>
            </a:r>
          </a:p>
          <a:p>
            <a:pPr>
              <a:lnSpc>
                <a:spcPts val="2200"/>
              </a:lnSpc>
            </a:pPr>
            <a:r>
              <a:rPr lang="en-US" altLang="zh-CN" dirty="0">
                <a:solidFill>
                  <a:srgbClr val="00B0F0"/>
                </a:solidFill>
              </a:rPr>
              <a:t>3-element Vector{Int64}:</a:t>
            </a:r>
          </a:p>
          <a:p>
            <a:pPr>
              <a:lnSpc>
                <a:spcPts val="2200"/>
              </a:lnSpc>
            </a:pPr>
            <a:r>
              <a:rPr lang="en-US" altLang="zh-CN" dirty="0">
                <a:solidFill>
                  <a:srgbClr val="00B0F0"/>
                </a:solidFill>
              </a:rPr>
              <a:t> 1</a:t>
            </a:r>
          </a:p>
          <a:p>
            <a:pPr>
              <a:lnSpc>
                <a:spcPts val="2200"/>
              </a:lnSpc>
            </a:pPr>
            <a:r>
              <a:rPr lang="en-US" altLang="zh-CN" dirty="0">
                <a:solidFill>
                  <a:srgbClr val="00B0F0"/>
                </a:solidFill>
              </a:rPr>
              <a:t> 2</a:t>
            </a:r>
          </a:p>
          <a:p>
            <a:pPr>
              <a:lnSpc>
                <a:spcPts val="2200"/>
              </a:lnSpc>
            </a:pPr>
            <a:r>
              <a:rPr lang="en-US" altLang="zh-CN" dirty="0">
                <a:solidFill>
                  <a:srgbClr val="00B0F0"/>
                </a:solidFill>
              </a:rPr>
              <a:t> 3</a:t>
            </a:r>
          </a:p>
          <a:p>
            <a:pPr>
              <a:lnSpc>
                <a:spcPts val="2200"/>
              </a:lnSpc>
            </a:pPr>
            <a:r>
              <a:rPr lang="en-US" altLang="zh-CN" dirty="0"/>
              <a:t>julia&gt; 2+x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</a:rPr>
              <a:t>ERROR: </a:t>
            </a:r>
            <a:r>
              <a:rPr lang="en-US" altLang="zh-CN" sz="1600" dirty="0" err="1">
                <a:solidFill>
                  <a:srgbClr val="FF0000"/>
                </a:solidFill>
              </a:rPr>
              <a:t>MethodError</a:t>
            </a:r>
            <a:r>
              <a:rPr lang="en-US" altLang="zh-CN" sz="1600" dirty="0">
                <a:solidFill>
                  <a:srgbClr val="FF0000"/>
                </a:solidFill>
              </a:rPr>
              <a:t>: no method matching +(::Int64, ::Vector{Int64})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</a:rPr>
              <a:t>For element-wise addition, use broadcasting with dot syntax: </a:t>
            </a:r>
            <a:r>
              <a:rPr lang="en-US" altLang="zh-CN" sz="1600" dirty="0">
                <a:solidFill>
                  <a:srgbClr val="FFFF00"/>
                </a:solidFill>
                <a:highlight>
                  <a:srgbClr val="FF0000"/>
                </a:highlight>
              </a:rPr>
              <a:t>scalar .+ </a:t>
            </a:r>
          </a:p>
          <a:p>
            <a:pPr>
              <a:lnSpc>
                <a:spcPts val="2200"/>
              </a:lnSpc>
            </a:pPr>
            <a:r>
              <a:rPr lang="en-US" altLang="zh-CN" dirty="0" err="1"/>
              <a:t>julia</a:t>
            </a:r>
            <a:r>
              <a:rPr lang="en-US" altLang="zh-CN" dirty="0"/>
              <a:t>&gt; 2.+x</a:t>
            </a:r>
          </a:p>
          <a:p>
            <a:pPr>
              <a:lnSpc>
                <a:spcPts val="2200"/>
              </a:lnSpc>
            </a:pPr>
            <a:r>
              <a:rPr lang="en-US" altLang="zh-CN" dirty="0">
                <a:solidFill>
                  <a:srgbClr val="FF0000"/>
                </a:solidFill>
              </a:rPr>
              <a:t>ERROR: syntax: invalid syntax "2.+"; add </a:t>
            </a:r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</a:rPr>
              <a:t>space(s) </a:t>
            </a:r>
            <a:r>
              <a:rPr lang="en-US" altLang="zh-CN" dirty="0"/>
              <a:t>to clarify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834456-2358-3FBB-3366-FD9C913060F6}"/>
              </a:ext>
            </a:extLst>
          </p:cNvPr>
          <p:cNvSpPr txBox="1"/>
          <p:nvPr/>
        </p:nvSpPr>
        <p:spPr>
          <a:xfrm>
            <a:off x="4986770" y="724260"/>
            <a:ext cx="42839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dirty="0"/>
              <a:t>julia&gt; 2</a:t>
            </a:r>
            <a:r>
              <a:rPr lang="es-ES" altLang="zh-CN" dirty="0">
                <a:highlight>
                  <a:srgbClr val="FF0000"/>
                </a:highlight>
              </a:rPr>
              <a:t> </a:t>
            </a:r>
            <a:r>
              <a:rPr lang="es-ES" altLang="zh-CN" dirty="0">
                <a:highlight>
                  <a:srgbClr val="FFFF00"/>
                </a:highlight>
              </a:rPr>
              <a:t>.+</a:t>
            </a:r>
            <a:r>
              <a:rPr lang="es-ES" altLang="zh-CN" dirty="0"/>
              <a:t>x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3-element Vector{Int64}: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3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4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5</a:t>
            </a:r>
          </a:p>
          <a:p>
            <a:endParaRPr lang="es-ES" altLang="zh-CN" dirty="0"/>
          </a:p>
          <a:p>
            <a:r>
              <a:rPr lang="es-ES" altLang="zh-CN" dirty="0"/>
              <a:t>julia&gt; 2. .+x  </a:t>
            </a:r>
            <a:r>
              <a:rPr lang="es-ES" altLang="zh-CN" dirty="0">
                <a:solidFill>
                  <a:srgbClr val="FF0000"/>
                </a:solidFill>
              </a:rPr>
              <a:t>#</a:t>
            </a:r>
            <a:r>
              <a:rPr lang="zh-CN" altLang="en-US" dirty="0">
                <a:solidFill>
                  <a:srgbClr val="FF0000"/>
                </a:solidFill>
              </a:rPr>
              <a:t> “整数”加“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zh-CN" altLang="en-US" dirty="0">
                <a:solidFill>
                  <a:srgbClr val="FF0000"/>
                </a:solidFill>
              </a:rPr>
              <a:t>”表示浮点 </a:t>
            </a:r>
            <a:endParaRPr lang="es-ES" altLang="zh-CN" dirty="0">
              <a:solidFill>
                <a:srgbClr val="FF0000"/>
              </a:solidFill>
            </a:endParaRPr>
          </a:p>
          <a:p>
            <a:r>
              <a:rPr lang="es-ES" altLang="zh-CN" dirty="0">
                <a:solidFill>
                  <a:srgbClr val="00B0F0"/>
                </a:solidFill>
              </a:rPr>
              <a:t>3-element Vector{Float64}: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3.0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4.0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5.0</a:t>
            </a:r>
            <a:endParaRPr lang="en-US" altLang="zh-CN" dirty="0">
              <a:solidFill>
                <a:srgbClr val="00B0F0"/>
              </a:solidFill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404FC86F-9CB1-4FDC-85E8-C0F84EFD1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4170213"/>
            <a:ext cx="1296144" cy="498054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48D3BC8E-665D-46C4-A873-C6E0A2E4F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885" y="1547403"/>
            <a:ext cx="936104" cy="576546"/>
          </a:xfrm>
          <a:prstGeom prst="irregularSeal2">
            <a:avLst/>
          </a:prstGeom>
          <a:solidFill>
            <a:srgbClr val="00206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C12388-4443-46F5-A05E-24047CAEF220}"/>
              </a:ext>
            </a:extLst>
          </p:cNvPr>
          <p:cNvSpPr txBox="1"/>
          <p:nvPr/>
        </p:nvSpPr>
        <p:spPr>
          <a:xfrm>
            <a:off x="3347864" y="4234574"/>
            <a:ext cx="5922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</a:t>
            </a:r>
            <a:r>
              <a:rPr lang="zh-CN" altLang="en-US" sz="18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数值和数组加减运算，必须加点</a:t>
            </a:r>
            <a:r>
              <a:rPr lang="en-US" altLang="zh-CN" sz="18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en-US" altLang="zh-CN" sz="1800" dirty="0" err="1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18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不用加点</a:t>
            </a:r>
            <a:endParaRPr lang="en-US" altLang="zh-CN" sz="1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35C1EA-DF91-44C4-943C-98FA71DCADE3}"/>
              </a:ext>
            </a:extLst>
          </p:cNvPr>
          <p:cNvSpPr txBox="1"/>
          <p:nvPr/>
        </p:nvSpPr>
        <p:spPr>
          <a:xfrm>
            <a:off x="6241132" y="1512510"/>
            <a:ext cx="3125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整数和数组加减点运算</a:t>
            </a:r>
            <a:endParaRPr lang="en-US" altLang="zh-CN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时，加减运算符前需加空格</a:t>
            </a:r>
            <a:endParaRPr lang="en-US" altLang="zh-CN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559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9517E256-2CF5-6F2C-6430-CCF7E9EAD87D}"/>
              </a:ext>
            </a:extLst>
          </p:cNvPr>
          <p:cNvSpPr txBox="1">
            <a:spLocks/>
          </p:cNvSpPr>
          <p:nvPr/>
        </p:nvSpPr>
        <p:spPr>
          <a:xfrm>
            <a:off x="971600" y="-62130"/>
            <a:ext cx="4680520" cy="914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+mj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F8D722D-DF77-1DBF-E7DB-3C169F31F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9057" y="699542"/>
            <a:ext cx="5223064" cy="3494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35CCEF28-DF15-8082-C3DF-348AAEA4AA75}"/>
              </a:ext>
            </a:extLst>
          </p:cNvPr>
          <p:cNvSpPr txBox="1">
            <a:spLocks/>
          </p:cNvSpPr>
          <p:nvPr/>
        </p:nvSpPr>
        <p:spPr bwMode="auto">
          <a:xfrm>
            <a:off x="1293872" y="589222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kern="0" dirty="0"/>
              <a:t>§1.5.2  </a:t>
            </a:r>
            <a:r>
              <a:rPr lang="zh-CN" altLang="en-US" kern="0" dirty="0"/>
              <a:t>数学函数</a:t>
            </a:r>
            <a:r>
              <a:rPr lang="en-US" altLang="zh-CN" kern="0" dirty="0">
                <a:solidFill>
                  <a:srgbClr val="FF0000"/>
                </a:solidFill>
              </a:rPr>
              <a:t>——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初等数学函数</a:t>
            </a:r>
          </a:p>
          <a:p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FCFC765-40E0-14F2-49E7-A91D7D587E0E}"/>
              </a:ext>
            </a:extLst>
          </p:cNvPr>
          <p:cNvSpPr txBox="1">
            <a:spLocks/>
          </p:cNvSpPr>
          <p:nvPr/>
        </p:nvSpPr>
        <p:spPr bwMode="auto">
          <a:xfrm>
            <a:off x="429056" y="4125291"/>
            <a:ext cx="8532441" cy="475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algn="dist">
              <a:buNone/>
            </a:pP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初等数学函数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都可函数点运算，即在函数名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和变量之间加点：</a:t>
            </a:r>
            <a:r>
              <a:rPr lang="en-US" altLang="zh-CN" sz="2400" dirty="0">
                <a:solidFill>
                  <a:schemeClr val="bg1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f.(A)</a:t>
            </a:r>
            <a:endParaRPr lang="zh-CN" altLang="en-US" sz="2400" kern="0" dirty="0">
              <a:highlight>
                <a:srgbClr val="FF0000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CECBA2-508D-C188-FC92-59511E13D9B4}"/>
              </a:ext>
            </a:extLst>
          </p:cNvPr>
          <p:cNvSpPr txBox="1"/>
          <p:nvPr/>
        </p:nvSpPr>
        <p:spPr>
          <a:xfrm>
            <a:off x="5926726" y="699542"/>
            <a:ext cx="2987824" cy="34163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julia&gt; log(10)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2.302585092994046</a:t>
            </a:r>
          </a:p>
          <a:p>
            <a:endParaRPr lang="es-ES" altLang="zh-CN" dirty="0"/>
          </a:p>
          <a:p>
            <a:r>
              <a:rPr lang="es-ES" altLang="zh-CN" dirty="0"/>
              <a:t>julia&gt; log10(10)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1.0</a:t>
            </a:r>
          </a:p>
          <a:p>
            <a:endParaRPr lang="es-ES" altLang="zh-CN" dirty="0"/>
          </a:p>
          <a:p>
            <a:r>
              <a:rPr lang="es-ES" altLang="zh-CN" dirty="0"/>
              <a:t>julia&gt; log10</a:t>
            </a:r>
            <a:r>
              <a:rPr lang="es-ES" altLang="zh-CN" dirty="0">
                <a:solidFill>
                  <a:srgbClr val="FF0000"/>
                </a:solidFill>
              </a:rPr>
              <a:t>.</a:t>
            </a:r>
            <a:r>
              <a:rPr lang="es-ES" altLang="zh-CN" dirty="0"/>
              <a:t>(7:10)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4-element Vector{Float64}: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0.8450980400142568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0.9030899869919435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0.9542425094393249</a:t>
            </a:r>
          </a:p>
          <a:p>
            <a:r>
              <a:rPr lang="es-ES" altLang="zh-CN" dirty="0">
                <a:solidFill>
                  <a:srgbClr val="00B0F0"/>
                </a:solidFill>
              </a:rPr>
              <a:t> 1.0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2410BD4-BCEF-41F9-AEE6-7B0181D9861C}"/>
              </a:ext>
            </a:extLst>
          </p:cNvPr>
          <p:cNvSpPr/>
          <p:nvPr/>
        </p:nvSpPr>
        <p:spPr bwMode="auto">
          <a:xfrm>
            <a:off x="467544" y="2427734"/>
            <a:ext cx="2664296" cy="100811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0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0882ADA-2727-A545-E790-BFE2AC1B6C70}"/>
              </a:ext>
            </a:extLst>
          </p:cNvPr>
          <p:cNvSpPr txBox="1">
            <a:spLocks/>
          </p:cNvSpPr>
          <p:nvPr/>
        </p:nvSpPr>
        <p:spPr bwMode="auto">
          <a:xfrm>
            <a:off x="958545" y="526416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0" dirty="0"/>
              <a:t>§1.5.2  </a:t>
            </a:r>
            <a:r>
              <a:rPr lang="zh-CN" altLang="en-US" sz="2800" kern="0" dirty="0"/>
              <a:t>数学函数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n-cs"/>
              </a:rPr>
              <a:t>三角数学函数和双曲函数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endParaRPr lang="zh-CN" altLang="en-US" sz="2800" kern="0" dirty="0">
              <a:solidFill>
                <a:srgbClr val="FF0000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C1742E4-591E-2EC2-D29D-11EF20C34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382475"/>
              </p:ext>
            </p:extLst>
          </p:nvPr>
        </p:nvGraphicFramePr>
        <p:xfrm>
          <a:off x="129226" y="745491"/>
          <a:ext cx="8885548" cy="2474334"/>
        </p:xfrm>
        <a:graphic>
          <a:graphicData uri="http://schemas.openxmlformats.org/drawingml/2006/table">
            <a:tbl>
              <a:tblPr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78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8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2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958">
                <a:tc>
                  <a:txBody>
                    <a:bodyPr/>
                    <a:lstStyle/>
                    <a:p>
                      <a:pPr marL="182880" indent="-182880"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名称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182880" indent="-182880"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含义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-18288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含义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sin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正弦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csc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余割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atanh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反双曲正切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cos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余弦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asec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反正割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acoth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反双曲余切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tan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正切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acsc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反余割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sech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双曲正割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cot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余切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sinh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双曲正弦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csch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双曲余割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9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asin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反正弦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cosh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双曲余弦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asech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反双曲正割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acos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反余弦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tanh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双曲正切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acsch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反双曲余割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atan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反正切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coth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双曲余切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atan2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四象限反正切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acot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反余切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asinh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反双曲正弦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sec</a:t>
                      </a:r>
                      <a:endParaRPr lang="zh-CN" sz="1200" b="1" kern="1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</a:rPr>
                        <a:t>正割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acosh</a:t>
                      </a:r>
                      <a:endParaRPr lang="zh-CN" sz="1200" b="1" kern="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反双曲余弦</a:t>
                      </a: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1200" b="1" kern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8" marR="68578" marT="0" marB="0">
                    <a:gradFill flip="none" rotWithShape="1">
                      <a:gsLst>
                        <a:gs pos="0">
                          <a:srgbClr val="00B0F0">
                            <a:shade val="30000"/>
                            <a:satMod val="115000"/>
                          </a:srgbClr>
                        </a:gs>
                        <a:gs pos="50000">
                          <a:srgbClr val="00B0F0">
                            <a:shade val="67500"/>
                            <a:satMod val="115000"/>
                          </a:srgbClr>
                        </a:gs>
                        <a:gs pos="100000">
                          <a:srgbClr val="00B0F0">
                            <a:shade val="100000"/>
                            <a:satMod val="115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1C2059D-CF47-E490-C40D-A7DC3812F406}"/>
              </a:ext>
            </a:extLst>
          </p:cNvPr>
          <p:cNvSpPr txBox="1">
            <a:spLocks/>
          </p:cNvSpPr>
          <p:nvPr/>
        </p:nvSpPr>
        <p:spPr bwMode="auto">
          <a:xfrm>
            <a:off x="1155399" y="2696513"/>
            <a:ext cx="5464529" cy="379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buNone/>
            </a:pPr>
            <a:r>
              <a:rPr lang="zh-CN" altLang="en-US" sz="1800" kern="0" dirty="0">
                <a:solidFill>
                  <a:schemeClr val="bg1"/>
                </a:solidFill>
                <a:highlight>
                  <a:srgbClr val="FF0000"/>
                </a:highlight>
              </a:rPr>
              <a:t>实现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uLnTx/>
                <a:uFillTx/>
                <a:cs typeface="+mn-cs"/>
              </a:rPr>
              <a:t>三角数学函数和双曲函数</a:t>
            </a:r>
            <a:r>
              <a:rPr lang="en-US" altLang="zh-CN" sz="1800" kern="0" dirty="0">
                <a:solidFill>
                  <a:schemeClr val="bg1"/>
                </a:solidFill>
                <a:highlight>
                  <a:srgbClr val="FF0000"/>
                </a:highlight>
              </a:rPr>
              <a:t>f</a:t>
            </a:r>
            <a:r>
              <a:rPr lang="zh-CN" altLang="en-US" sz="1800" kern="0" dirty="0">
                <a:solidFill>
                  <a:schemeClr val="bg1"/>
                </a:solidFill>
                <a:highlight>
                  <a:srgbClr val="FF0000"/>
                </a:highlight>
              </a:rPr>
              <a:t>的向量点运算：</a:t>
            </a:r>
            <a:r>
              <a:rPr lang="en-US" altLang="zh-CN" sz="1800" dirty="0">
                <a:solidFill>
                  <a:schemeClr val="bg1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f.(A)</a:t>
            </a:r>
            <a:endParaRPr lang="zh-CN" altLang="en-US" sz="1800" kern="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9A75B583-7351-49CF-9A48-D970EF74445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14170" y="3134874"/>
                <a:ext cx="8885548" cy="62900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  <a:sym typeface="Arial" panose="020B0604020202020204" pitchFamily="34" charset="0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楷体_GB2312" pitchFamily="49" charset="-122"/>
                    <a:sym typeface="Arial" panose="020B0604020202020204" pitchFamily="34" charset="0"/>
                  </a:defRPr>
                </a:lvl9pPr>
              </a:lstStyle>
              <a:p>
                <a:pPr algn="dist"/>
                <a:r>
                  <a:rPr lang="zh-CN" altLang="en-US" sz="1800" b="1" kern="0" dirty="0">
                    <a:solidFill>
                      <a:srgbClr val="0070C0"/>
                    </a:solidFill>
                  </a:rPr>
                  <a:t>绘制</a:t>
                </a:r>
                <a:r>
                  <a:rPr lang="en-US" altLang="zh-CN" sz="1800" b="1" kern="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</a:t>
                </a:r>
                <a:r>
                  <a:rPr lang="zh-CN" altLang="en-US" sz="1800" b="1" kern="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在</a:t>
                </a:r>
                <a:r>
                  <a:rPr lang="en-US" altLang="zh-CN" sz="1800" b="1" kern="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【</a:t>
                </a:r>
                <a:r>
                  <a:rPr lang="it-IT" altLang="zh-CN" sz="1800" b="1" dirty="0">
                    <a:solidFill>
                      <a:srgbClr val="0070C0"/>
                    </a:solidFill>
                  </a:rPr>
                  <a:t> 0:pi/64:8*pi </a:t>
                </a:r>
                <a:r>
                  <a:rPr lang="en-US" altLang="zh-CN" sz="1800" b="1" kern="0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】</a:t>
                </a:r>
                <a:r>
                  <a:rPr lang="zh-CN" altLang="en-US" sz="1800" b="1" kern="0" dirty="0">
                    <a:solidFill>
                      <a:srgbClr val="0070C0"/>
                    </a:solidFill>
                  </a:rPr>
                  <a:t>蝴蝶曲线，其表达式</a:t>
                </a:r>
                <a14:m>
                  <m:oMath xmlns:m="http://schemas.openxmlformats.org/officeDocument/2006/math">
                    <m:r>
                      <a:rPr lang="en-US" altLang="zh-CN" sz="1800" b="1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1800" b="1" kern="0" dirty="0">
                    <a:solidFill>
                      <a:srgbClr val="0070C0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zh-CN" altLang="en-US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p>
                    </m:sSup>
                    <m:r>
                      <a:rPr lang="en-US" altLang="zh-CN" sz="1800" b="1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1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unc>
                      <m:funcPr>
                        <m:ctrlP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800" b="1" i="0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d>
                          <m:dPr>
                            <m:ctrlPr>
                              <a:rPr lang="en-US" altLang="zh-CN" sz="1800" b="1" i="1" kern="0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1" i="1" kern="0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zh-CN" altLang="en-US" sz="1800" b="1" i="1" kern="0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func>
                    <m:r>
                      <a:rPr lang="en-US" altLang="zh-CN" sz="1800" b="1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e>
                      <m:sup>
                        <m: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US" altLang="zh-CN" sz="1800" b="1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zh-CN" altLang="en-US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altLang="zh-CN" sz="1800" b="1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𝟐𝟒</m:t>
                        </m:r>
                      </m:den>
                    </m:f>
                    <m:r>
                      <a:rPr lang="en-US" altLang="zh-CN" sz="1800" b="1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800" b="1" kern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9A75B583-7351-49CF-9A48-D970EF744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170" y="3134874"/>
                <a:ext cx="8885548" cy="629002"/>
              </a:xfrm>
              <a:prstGeom prst="rect">
                <a:avLst/>
              </a:prstGeom>
              <a:blipFill>
                <a:blip r:embed="rId3"/>
                <a:stretch>
                  <a:fillRect l="-618" r="-275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1803E9E1-12F8-41A3-B398-FEF91F6B1B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88" t="8000" r="31100" b="26200"/>
          <a:stretch/>
        </p:blipFill>
        <p:spPr>
          <a:xfrm>
            <a:off x="7172983" y="1494192"/>
            <a:ext cx="1482113" cy="126653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5F2F357-5099-46CF-B2DC-C5A005EEE4B1}"/>
              </a:ext>
            </a:extLst>
          </p:cNvPr>
          <p:cNvSpPr txBox="1"/>
          <p:nvPr/>
        </p:nvSpPr>
        <p:spPr>
          <a:xfrm>
            <a:off x="144282" y="3593974"/>
            <a:ext cx="8315182" cy="10265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it-IT" altLang="zh-CN" sz="1800" dirty="0">
                <a:solidFill>
                  <a:srgbClr val="00B0F0"/>
                </a:solidFill>
              </a:rPr>
              <a:t>q=0:pi/64:8</a:t>
            </a:r>
            <a:r>
              <a:rPr lang="it-IT" altLang="zh-CN" dirty="0">
                <a:solidFill>
                  <a:srgbClr val="00B0F0"/>
                </a:solidFill>
              </a:rPr>
              <a:t>*pi  #513</a:t>
            </a:r>
            <a:r>
              <a:rPr lang="zh-CN" altLang="en-US" dirty="0">
                <a:solidFill>
                  <a:srgbClr val="00B0F0"/>
                </a:solidFill>
              </a:rPr>
              <a:t>个</a:t>
            </a:r>
            <a:r>
              <a:rPr lang="en-US" altLang="zh-CN" dirty="0">
                <a:solidFill>
                  <a:srgbClr val="00B0F0"/>
                </a:solidFill>
              </a:rPr>
              <a:t>q</a:t>
            </a:r>
            <a:r>
              <a:rPr lang="zh-CN" altLang="en-US" dirty="0">
                <a:solidFill>
                  <a:srgbClr val="00B0F0"/>
                </a:solidFill>
              </a:rPr>
              <a:t>值构成向量</a:t>
            </a:r>
            <a:endParaRPr lang="it-IT" altLang="zh-CN" sz="1800" dirty="0">
              <a:solidFill>
                <a:srgbClr val="00B0F0"/>
              </a:solidFill>
            </a:endParaRPr>
          </a:p>
          <a:p>
            <a:pPr>
              <a:lnSpc>
                <a:spcPts val="2500"/>
              </a:lnSpc>
            </a:pP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r=</a:t>
            </a:r>
            <a:r>
              <a:rPr lang="es-E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s-E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.(q)).-</a:t>
            </a:r>
            <a:r>
              <a:rPr lang="es-E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s-E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*q).-(</a:t>
            </a:r>
            <a:r>
              <a:rPr lang="es-E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.((</a:t>
            </a:r>
            <a:r>
              <a:rPr lang="es-E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*q.-</a:t>
            </a:r>
            <a:r>
              <a:rPr lang="es-E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s-E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s-E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)).^</a:t>
            </a:r>
            <a:r>
              <a:rPr lang="es-E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  #</a:t>
            </a:r>
            <a:r>
              <a:rPr lang="zh-CN" alt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点运算</a:t>
            </a:r>
            <a:endParaRPr lang="es-ES" altLang="zh-CN" b="0" dirty="0">
              <a:solidFill>
                <a:srgbClr val="09865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</a:pPr>
            <a:r>
              <a:rPr lang="es-ES" altLang="zh-CN" dirty="0"/>
              <a:t>polarplot(q,r)</a:t>
            </a:r>
            <a:endParaRPr lang="it-IT" altLang="zh-CN" sz="1800" dirty="0">
              <a:solidFill>
                <a:srgbClr val="00B0F0"/>
              </a:solidFill>
            </a:endParaRP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2182B4E2-9E6D-4273-AC45-304E0090E5CC}"/>
              </a:ext>
            </a:extLst>
          </p:cNvPr>
          <p:cNvSpPr>
            <a:spLocks noChangeArrowheads="1"/>
          </p:cNvSpPr>
          <p:nvPr/>
        </p:nvSpPr>
        <p:spPr bwMode="auto">
          <a:xfrm rot="226393">
            <a:off x="1858009" y="4266301"/>
            <a:ext cx="865190" cy="30793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04969-6F41-4E88-A058-CA30D56C560D}"/>
              </a:ext>
            </a:extLst>
          </p:cNvPr>
          <p:cNvSpPr txBox="1"/>
          <p:nvPr/>
        </p:nvSpPr>
        <p:spPr>
          <a:xfrm>
            <a:off x="2699792" y="4266570"/>
            <a:ext cx="6614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 </a:t>
            </a:r>
            <a:r>
              <a:rPr lang="zh-CN" altLang="en-US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数学函数数组运算（点运算），不用加点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,sin(x)</a:t>
            </a:r>
            <a:r>
              <a:rPr lang="zh-CN" altLang="en-US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代表点运算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82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AC737547-4C5B-49EB-B5E6-9CD4C9039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870" y="396174"/>
            <a:ext cx="7853671" cy="284341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§1.5.3</a:t>
            </a:r>
            <a:r>
              <a:rPr lang="zh-CN" altLang="en-US" sz="2800" b="1" dirty="0">
                <a:solidFill>
                  <a:srgbClr val="0070C0"/>
                </a:solidFill>
              </a:rPr>
              <a:t>数学运算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向量化 </a:t>
            </a:r>
            <a:r>
              <a:rPr lang="en-US" altLang="zh-CN" sz="2800" b="1" dirty="0">
                <a:solidFill>
                  <a:srgbClr val="FF0000"/>
                </a:solidFill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</a:rPr>
              <a:t>点</a:t>
            </a:r>
            <a:r>
              <a:rPr lang="en-US" altLang="zh-CN" sz="2800" b="1" dirty="0">
                <a:solidFill>
                  <a:srgbClr val="FF0000"/>
                </a:solidFill>
              </a:rPr>
              <a:t>” </a:t>
            </a:r>
            <a:r>
              <a:rPr lang="zh-CN" altLang="en-US" sz="2800" b="1" dirty="0">
                <a:solidFill>
                  <a:srgbClr val="FF0000"/>
                </a:solidFill>
              </a:rPr>
              <a:t>常用方式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63E81B7-8A62-44B4-9130-1206B45765F2}"/>
              </a:ext>
            </a:extLst>
          </p:cNvPr>
          <p:cNvSpPr txBox="1"/>
          <p:nvPr/>
        </p:nvSpPr>
        <p:spPr>
          <a:xfrm>
            <a:off x="-36512" y="690012"/>
            <a:ext cx="3744416" cy="4996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向量点运算（广播）三种方式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F653AA-86AC-472B-A19C-608F67A56140}"/>
              </a:ext>
            </a:extLst>
          </p:cNvPr>
          <p:cNvSpPr txBox="1"/>
          <p:nvPr/>
        </p:nvSpPr>
        <p:spPr>
          <a:xfrm>
            <a:off x="3863247" y="1293023"/>
            <a:ext cx="4358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ym typeface="Wingdings" panose="05000000000000000000" pitchFamily="2" charset="2"/>
              </a:rPr>
              <a:t>表达式中运算符和数学函数都要加点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64C746-7CB0-42BA-B839-6146E2170E57}"/>
              </a:ext>
            </a:extLst>
          </p:cNvPr>
          <p:cNvSpPr txBox="1"/>
          <p:nvPr/>
        </p:nvSpPr>
        <p:spPr>
          <a:xfrm>
            <a:off x="2041805" y="1805028"/>
            <a:ext cx="203219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y=@. expr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表达式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F47460-A55E-45E8-AB76-20BFF9ED4119}"/>
              </a:ext>
            </a:extLst>
          </p:cNvPr>
          <p:cNvSpPr txBox="1"/>
          <p:nvPr/>
        </p:nvSpPr>
        <p:spPr>
          <a:xfrm>
            <a:off x="-8928" y="1316636"/>
            <a:ext cx="1822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点运算符：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236316-80E5-41EA-8F57-ABBFB9B67250}"/>
              </a:ext>
            </a:extLst>
          </p:cNvPr>
          <p:cNvSpPr txBox="1"/>
          <p:nvPr/>
        </p:nvSpPr>
        <p:spPr>
          <a:xfrm>
            <a:off x="1414595" y="1283526"/>
            <a:ext cx="2733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.+, .*, ./,.^,sin.(),exp.() 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B484A83-11C1-4D24-987F-D067B3A3ADA1}"/>
              </a:ext>
            </a:extLst>
          </p:cNvPr>
          <p:cNvSpPr txBox="1"/>
          <p:nvPr/>
        </p:nvSpPr>
        <p:spPr>
          <a:xfrm>
            <a:off x="-8928" y="1848624"/>
            <a:ext cx="2231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”@.”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操作符：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DEE244A-116C-4B79-9058-1F7FAE3DD54A}"/>
              </a:ext>
            </a:extLst>
          </p:cNvPr>
          <p:cNvSpPr txBox="1"/>
          <p:nvPr/>
        </p:nvSpPr>
        <p:spPr>
          <a:xfrm>
            <a:off x="4053660" y="1797222"/>
            <a:ext cx="3986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表达式前加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空格，就不点运算符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68A03C6-3839-4757-AFDF-CE024D8A485B}"/>
              </a:ext>
            </a:extLst>
          </p:cNvPr>
          <p:cNvSpPr txBox="1"/>
          <p:nvPr/>
        </p:nvSpPr>
        <p:spPr>
          <a:xfrm>
            <a:off x="2823960" y="3788137"/>
            <a:ext cx="250724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lvl="0"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broadcast</a:t>
            </a:r>
            <a:r>
              <a:rPr lang="zh-CN" altLang="en-US" dirty="0"/>
              <a:t>（</a:t>
            </a:r>
            <a:r>
              <a:rPr lang="en-US" altLang="zh-CN" dirty="0"/>
              <a:t>f</a:t>
            </a:r>
            <a:r>
              <a:rPr lang="zh-CN" altLang="en-US" dirty="0"/>
              <a:t>， </a:t>
            </a:r>
            <a:r>
              <a:rPr lang="en-US" altLang="zh-CN" dirty="0"/>
              <a:t>As...</a:t>
            </a:r>
            <a:r>
              <a:rPr lang="zh-CN" altLang="en-US" dirty="0"/>
              <a:t>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90049F5-D30C-4D29-9910-A87C941FF87E}"/>
              </a:ext>
            </a:extLst>
          </p:cNvPr>
          <p:cNvSpPr txBox="1"/>
          <p:nvPr/>
        </p:nvSpPr>
        <p:spPr>
          <a:xfrm>
            <a:off x="-22893" y="3785146"/>
            <a:ext cx="3117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4"/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广播函数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broadcast 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9D4EE5B-422C-4F45-8CB0-276BD0F146BF}"/>
              </a:ext>
            </a:extLst>
          </p:cNvPr>
          <p:cNvSpPr txBox="1"/>
          <p:nvPr/>
        </p:nvSpPr>
        <p:spPr>
          <a:xfrm>
            <a:off x="2228773" y="2274426"/>
            <a:ext cx="203219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@. y=expr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表达式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965D7E-5261-411A-91BB-97C0D0ACB004}"/>
              </a:ext>
            </a:extLst>
          </p:cNvPr>
          <p:cNvSpPr txBox="1"/>
          <p:nvPr/>
        </p:nvSpPr>
        <p:spPr>
          <a:xfrm>
            <a:off x="5374694" y="3785146"/>
            <a:ext cx="2846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将函数广播</a:t>
            </a:r>
            <a:r>
              <a:rPr lang="en-US" altLang="zh-CN" dirty="0"/>
              <a:t>f</a:t>
            </a:r>
            <a:r>
              <a:rPr lang="zh-CN" altLang="en-US" dirty="0"/>
              <a:t>到对象</a:t>
            </a:r>
            <a:r>
              <a:rPr lang="en-US" altLang="zh-CN" dirty="0"/>
              <a:t>As</a:t>
            </a:r>
            <a:r>
              <a:rPr lang="zh-CN" altLang="en-US" dirty="0"/>
              <a:t>中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72656FF-FE58-456A-9B6A-42F6B660A3AE}"/>
              </a:ext>
            </a:extLst>
          </p:cNvPr>
          <p:cNvSpPr txBox="1"/>
          <p:nvPr/>
        </p:nvSpPr>
        <p:spPr>
          <a:xfrm>
            <a:off x="4386981" y="2238306"/>
            <a:ext cx="2747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可以在因变量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前加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6149B6-85A5-469B-AC70-2B420EF26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7" y="4288941"/>
            <a:ext cx="3044106" cy="27699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broadcast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abs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,[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12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9.1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])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CAFDE1-E46E-4222-9FE0-1644C8094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004" y="4281051"/>
            <a:ext cx="4988610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#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结果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4-element Vector{Float64}: 1.0 0.0 12.0 9.1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62946D5B-4D07-4BF9-AE68-DB7E0B58B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706890"/>
            <a:ext cx="1286566" cy="61324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0E9902-CFD2-47CC-B56D-75C886215259}"/>
              </a:ext>
            </a:extLst>
          </p:cNvPr>
          <p:cNvSpPr txBox="1"/>
          <p:nvPr/>
        </p:nvSpPr>
        <p:spPr>
          <a:xfrm>
            <a:off x="4563423" y="790273"/>
            <a:ext cx="33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向量和矩阵可视化都是点运算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6731D34-49FA-404C-B82C-ECDC4D5AB989}"/>
              </a:ext>
            </a:extLst>
          </p:cNvPr>
          <p:cNvSpPr txBox="1"/>
          <p:nvPr/>
        </p:nvSpPr>
        <p:spPr>
          <a:xfrm>
            <a:off x="-36512" y="2833348"/>
            <a:ext cx="2980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对自定义函数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的点运算： 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A55FFE4-997D-4779-9DAB-8C3AA4A58531}"/>
              </a:ext>
            </a:extLst>
          </p:cNvPr>
          <p:cNvSpPr txBox="1"/>
          <p:nvPr/>
        </p:nvSpPr>
        <p:spPr>
          <a:xfrm>
            <a:off x="5374694" y="2758822"/>
            <a:ext cx="151796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因变量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y=f.(x)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45B9F0B-BE2E-4820-87B4-5D0E11BF94F2}"/>
              </a:ext>
            </a:extLst>
          </p:cNvPr>
          <p:cNvSpPr txBox="1"/>
          <p:nvPr/>
        </p:nvSpPr>
        <p:spPr>
          <a:xfrm>
            <a:off x="2954296" y="2791913"/>
            <a:ext cx="223941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lvl="0" algn="ctr"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=expr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表达式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0BD8055-A734-4B12-83F6-3F8CFB3DE09C}"/>
              </a:ext>
            </a:extLst>
          </p:cNvPr>
          <p:cNvSpPr txBox="1"/>
          <p:nvPr/>
        </p:nvSpPr>
        <p:spPr>
          <a:xfrm>
            <a:off x="149566" y="3291830"/>
            <a:ext cx="4604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通常点调用和广播的多种写法可以等效替代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3A4212C-1687-427C-B50C-7E3F153CFB74}"/>
              </a:ext>
            </a:extLst>
          </p:cNvPr>
          <p:cNvSpPr txBox="1"/>
          <p:nvPr/>
        </p:nvSpPr>
        <p:spPr>
          <a:xfrm>
            <a:off x="4749843" y="3270745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abs.([-1,0,-12,-9.1])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B42EE4A-B6E2-46CC-87FE-74081E9C0439}"/>
              </a:ext>
            </a:extLst>
          </p:cNvPr>
          <p:cNvSpPr txBox="1"/>
          <p:nvPr/>
        </p:nvSpPr>
        <p:spPr>
          <a:xfrm>
            <a:off x="6920522" y="2767845"/>
            <a:ext cx="1120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 Unicode MS"/>
                <a:ea typeface="source-code-pro"/>
              </a:rPr>
              <a:t>v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ource-code-pro"/>
              </a:rPr>
              <a:t>(t)=t^2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5CC5D4F-0F62-4F81-B1F1-97DB30289F60}"/>
              </a:ext>
            </a:extLst>
          </p:cNvPr>
          <p:cNvSpPr txBox="1"/>
          <p:nvPr/>
        </p:nvSpPr>
        <p:spPr>
          <a:xfrm>
            <a:off x="7923460" y="2752707"/>
            <a:ext cx="1031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source-code-pro"/>
              </a:rPr>
              <a:t>y=v.(1:4)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35163AE-61E1-4A4D-8ACF-D59FB7CEBBB8}"/>
              </a:ext>
            </a:extLst>
          </p:cNvPr>
          <p:cNvSpPr txBox="1"/>
          <p:nvPr/>
        </p:nvSpPr>
        <p:spPr>
          <a:xfrm>
            <a:off x="7927356" y="660475"/>
            <a:ext cx="905186" cy="47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9E9C819-DA99-4A47-B627-394209780CC1}"/>
              </a:ext>
            </a:extLst>
          </p:cNvPr>
          <p:cNvSpPr txBox="1"/>
          <p:nvPr/>
        </p:nvSpPr>
        <p:spPr>
          <a:xfrm>
            <a:off x="7904732" y="1182913"/>
            <a:ext cx="1024233" cy="47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v=t.^2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073E8CC-711F-4981-9783-13A180BB3E95}"/>
              </a:ext>
            </a:extLst>
          </p:cNvPr>
          <p:cNvSpPr txBox="1"/>
          <p:nvPr/>
        </p:nvSpPr>
        <p:spPr>
          <a:xfrm>
            <a:off x="7904732" y="1682807"/>
            <a:ext cx="1270322" cy="47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v=@. t^2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CA726F4-2BD5-4E71-B62A-479A29B7696A}"/>
              </a:ext>
            </a:extLst>
          </p:cNvPr>
          <p:cNvSpPr txBox="1"/>
          <p:nvPr/>
        </p:nvSpPr>
        <p:spPr>
          <a:xfrm>
            <a:off x="7876590" y="2138506"/>
            <a:ext cx="1356095" cy="47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 v=t^2</a:t>
            </a:r>
          </a:p>
        </p:txBody>
      </p:sp>
    </p:spTree>
    <p:extLst>
      <p:ext uri="{BB962C8B-B14F-4D97-AF65-F5344CB8AC3E}">
        <p14:creationId xmlns:p14="http://schemas.microsoft.com/office/powerpoint/2010/main" val="179819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  <p:bldP spid="26" grpId="0"/>
      <p:bldP spid="29" grpId="0" animBg="1"/>
      <p:bldP spid="30" grpId="0"/>
      <p:bldP spid="33" grpId="0" animBg="1"/>
      <p:bldP spid="34" grpId="0"/>
      <p:bldP spid="35" grpId="0"/>
      <p:bldP spid="2" grpId="0" animBg="1"/>
      <p:bldP spid="3" grpId="0" animBg="1"/>
      <p:bldP spid="31" grpId="0"/>
      <p:bldP spid="32" grpId="0" animBg="1"/>
      <p:bldP spid="36" grpId="0" animBg="1"/>
      <p:bldP spid="37" grpId="0"/>
      <p:bldP spid="38" grpId="0"/>
      <p:bldP spid="39" grpId="0"/>
      <p:bldP spid="40" grpId="0"/>
      <p:bldP spid="43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4FB3C0-D4C8-4236-B7F7-5923F4CB1AB6}"/>
              </a:ext>
            </a:extLst>
          </p:cNvPr>
          <p:cNvSpPr/>
          <p:nvPr/>
        </p:nvSpPr>
        <p:spPr>
          <a:xfrm>
            <a:off x="336279" y="1508014"/>
            <a:ext cx="4235722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1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采用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yy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zz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3A46AA-4D41-435F-8738-F4C4D27D3373}"/>
              </a:ext>
            </a:extLst>
          </p:cNvPr>
          <p:cNvSpPr/>
          <p:nvPr/>
        </p:nvSpPr>
        <p:spPr>
          <a:xfrm>
            <a:off x="336279" y="720591"/>
            <a:ext cx="8556203" cy="7593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【0,2pi】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之间，绘制圆环，其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x=(6+2cos(u))*cos(v),  y=(6+2cos(u))*sin(v),   z=2sin(v)</a:t>
            </a: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B06A067A-9773-49A4-9C49-05C7260D7221}"/>
              </a:ext>
            </a:extLst>
          </p:cNvPr>
          <p:cNvSpPr/>
          <p:nvPr/>
        </p:nvSpPr>
        <p:spPr>
          <a:xfrm>
            <a:off x="47819" y="764389"/>
            <a:ext cx="360467" cy="43815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B9C34-52D4-4FA7-8A85-D49857D05564}"/>
              </a:ext>
            </a:extLst>
          </p:cNvPr>
          <p:cNvSpPr txBox="1"/>
          <p:nvPr/>
        </p:nvSpPr>
        <p:spPr>
          <a:xfrm>
            <a:off x="455257" y="1990267"/>
            <a:ext cx="467175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w=0:0.2pi:2*pi; 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sz="20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=meshgrid</a:t>
            </a:r>
            <a:r>
              <a:rPr lang="en-US" altLang="zh-CN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(w);   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xx=@.</a:t>
            </a:r>
            <a:r>
              <a:rPr lang="en-US" altLang="zh-CN" sz="2000" b="1" kern="100" dirty="0">
                <a:highlight>
                  <a:srgbClr val="3399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(6+2cos(u))*cos(v);  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sz="20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=@.</a:t>
            </a:r>
            <a:r>
              <a:rPr lang="en-US" altLang="zh-CN" sz="2000" b="1" kern="100" dirty="0">
                <a:highlight>
                  <a:srgbClr val="3399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(6+2cos(u))*sin(v);      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sz="20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zz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=@.</a:t>
            </a:r>
            <a:r>
              <a:rPr lang="en-US" altLang="zh-CN" sz="2000" b="1" kern="100" dirty="0">
                <a:highlight>
                  <a:srgbClr val="3399FF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2sin(v);     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surf(</a:t>
            </a:r>
            <a:r>
              <a:rPr lang="en-US" altLang="zh-CN" sz="20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xx,yy,zz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);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7AC4AB-B33A-4720-B679-0A277D2155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9688" t="21535" r="25010" b="19571"/>
          <a:stretch/>
        </p:blipFill>
        <p:spPr>
          <a:xfrm>
            <a:off x="3014662" y="2372006"/>
            <a:ext cx="2355518" cy="141102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854B7EF-87AA-492E-89FA-B7CFC6F485AA}"/>
              </a:ext>
            </a:extLst>
          </p:cNvPr>
          <p:cNvSpPr txBox="1"/>
          <p:nvPr/>
        </p:nvSpPr>
        <p:spPr>
          <a:xfrm>
            <a:off x="5805962" y="2018386"/>
            <a:ext cx="2676210" cy="214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s-ES" altLang="zh-CN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w=0:0.2*pi:2*pi </a:t>
            </a:r>
          </a:p>
          <a:p>
            <a:pPr>
              <a:lnSpc>
                <a:spcPts val="2700"/>
              </a:lnSpc>
            </a:pPr>
            <a:r>
              <a:rPr lang="es-ES" altLang="zh-CN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[u,v]=meshgrid(w)</a:t>
            </a:r>
          </a:p>
          <a:p>
            <a:pPr>
              <a:lnSpc>
                <a:spcPts val="2700"/>
              </a:lnSpc>
            </a:pPr>
            <a:r>
              <a:rPr lang="es-ES" altLang="zh-CN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xx=(6+2*cos(u)).*cos(v)</a:t>
            </a:r>
          </a:p>
          <a:p>
            <a:pPr>
              <a:lnSpc>
                <a:spcPts val="2700"/>
              </a:lnSpc>
            </a:pPr>
            <a:r>
              <a:rPr lang="es-ES" altLang="zh-CN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yy=(6+2*cos(u)).*sin(v)</a:t>
            </a:r>
          </a:p>
          <a:p>
            <a:pPr>
              <a:lnSpc>
                <a:spcPts val="2700"/>
              </a:lnSpc>
            </a:pPr>
            <a:r>
              <a:rPr lang="es-ES" altLang="zh-CN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zz=2*sin(v)</a:t>
            </a:r>
          </a:p>
          <a:p>
            <a:pPr>
              <a:lnSpc>
                <a:spcPts val="2700"/>
              </a:lnSpc>
            </a:pPr>
            <a:r>
              <a:rPr lang="es-ES" altLang="zh-CN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surf(xx,yy,zz)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9779CE-1B39-4CB1-AF42-0C761D8E9207}"/>
              </a:ext>
            </a:extLst>
          </p:cNvPr>
          <p:cNvSpPr/>
          <p:nvPr/>
        </p:nvSpPr>
        <p:spPr>
          <a:xfrm>
            <a:off x="5050184" y="1495069"/>
            <a:ext cx="4130329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3100"/>
              </a:lnSpc>
              <a:spcAft>
                <a:spcPts val="0"/>
              </a:spcAft>
              <a:buFont typeface="+mj-ea"/>
              <a:buAutoNum type="circleNumDbPlain" startAt="2"/>
            </a:pP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编程计算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yy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zz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endParaRPr lang="en-US" altLang="zh-CN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03ADB2-8379-4983-8868-56713450602C}"/>
              </a:ext>
            </a:extLst>
          </p:cNvPr>
          <p:cNvSpPr txBox="1"/>
          <p:nvPr/>
        </p:nvSpPr>
        <p:spPr>
          <a:xfrm>
            <a:off x="1223910" y="4204786"/>
            <a:ext cx="7884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代码改成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代码，所有运算</a:t>
            </a:r>
            <a:r>
              <a:rPr lang="zh-CN" altLang="en-US" sz="1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加点计算</a:t>
            </a:r>
            <a:r>
              <a:rPr lang="en-US" altLang="zh-CN" sz="1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yy</a:t>
            </a:r>
            <a:r>
              <a:rPr lang="zh-CN" altLang="en-US" sz="1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zz</a:t>
            </a:r>
            <a:r>
              <a:rPr lang="zh-CN" altLang="en-US" sz="1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，再绘封闭环</a:t>
            </a:r>
            <a:endParaRPr lang="zh-CN" altLang="en-US" dirty="0"/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5C8C3A35-0568-4E2C-9510-E8D69742AEDC}"/>
              </a:ext>
            </a:extLst>
          </p:cNvPr>
          <p:cNvSpPr/>
          <p:nvPr/>
        </p:nvSpPr>
        <p:spPr>
          <a:xfrm>
            <a:off x="323528" y="4118674"/>
            <a:ext cx="900382" cy="43815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7C0CD5D-BF84-467C-BE63-4E50E4A9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653" y="375431"/>
            <a:ext cx="7853671" cy="284341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§1.5.3</a:t>
            </a:r>
            <a:r>
              <a:rPr lang="zh-CN" altLang="en-US" sz="2800" b="1" dirty="0">
                <a:solidFill>
                  <a:srgbClr val="0070C0"/>
                </a:solidFill>
              </a:rPr>
              <a:t>数学运算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向量化 </a:t>
            </a:r>
            <a:r>
              <a:rPr lang="en-US" altLang="zh-CN" sz="2800" b="1" dirty="0">
                <a:solidFill>
                  <a:srgbClr val="FF0000"/>
                </a:solidFill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</a:rPr>
              <a:t>点</a:t>
            </a:r>
            <a:r>
              <a:rPr lang="en-US" altLang="zh-CN" sz="2800" b="1" dirty="0">
                <a:solidFill>
                  <a:srgbClr val="FF0000"/>
                </a:solidFill>
              </a:rPr>
              <a:t>” </a:t>
            </a:r>
            <a:r>
              <a:rPr lang="zh-CN" altLang="en-US" sz="2800" b="1" dirty="0">
                <a:solidFill>
                  <a:srgbClr val="FF0000"/>
                </a:solidFill>
              </a:rPr>
              <a:t>运算案例</a:t>
            </a:r>
          </a:p>
        </p:txBody>
      </p:sp>
    </p:spTree>
    <p:extLst>
      <p:ext uri="{BB962C8B-B14F-4D97-AF65-F5344CB8AC3E}">
        <p14:creationId xmlns:p14="http://schemas.microsoft.com/office/powerpoint/2010/main" val="32187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E80164D-9210-4282-9575-D67F9D4387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0143" t="22396" r="22607" b="27938"/>
          <a:stretch/>
        </p:blipFill>
        <p:spPr>
          <a:xfrm>
            <a:off x="6706446" y="2067694"/>
            <a:ext cx="2330050" cy="13777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17A9C1-CC3E-4B5B-AE4F-DDCFB23C69F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868" b="80252" l="19919" r="87957"/>
                    </a14:imgEffect>
                  </a14:imgLayer>
                </a14:imgProps>
              </a:ext>
            </a:extLst>
          </a:blip>
          <a:srcRect l="11414" t="12320" r="3538" b="12200"/>
          <a:stretch/>
        </p:blipFill>
        <p:spPr>
          <a:xfrm>
            <a:off x="-391576" y="3297914"/>
            <a:ext cx="3677653" cy="183594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E919371-D811-4272-8D3E-6D1E8CDA62E2}"/>
              </a:ext>
            </a:extLst>
          </p:cNvPr>
          <p:cNvSpPr txBox="1"/>
          <p:nvPr/>
        </p:nvSpPr>
        <p:spPr>
          <a:xfrm>
            <a:off x="323527" y="751418"/>
            <a:ext cx="3773717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3"/>
            </a:pPr>
            <a:r>
              <a:rPr lang="en-US" altLang="zh-CN" sz="20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@. </a:t>
            </a:r>
            <a:r>
              <a:rPr lang="zh-CN" altLang="en-US" sz="20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后面表达式前必加空格</a:t>
            </a:r>
            <a:endParaRPr lang="en-US" altLang="zh-CN" sz="20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C17C4C2-5C04-4415-A51C-DE29E5DF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04" y="379072"/>
            <a:ext cx="7853671" cy="284341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§1.5.3</a:t>
            </a:r>
            <a:r>
              <a:rPr lang="zh-CN" altLang="en-US" sz="2800" b="1" dirty="0">
                <a:solidFill>
                  <a:srgbClr val="0070C0"/>
                </a:solidFill>
              </a:rPr>
              <a:t>数学运算</a:t>
            </a:r>
            <a:r>
              <a:rPr lang="en-US" altLang="zh-CN" sz="2800" b="1" kern="0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向量化 </a:t>
            </a:r>
            <a:r>
              <a:rPr lang="en-US" altLang="zh-CN" sz="2800" b="1" dirty="0">
                <a:solidFill>
                  <a:srgbClr val="FF0000"/>
                </a:solidFill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</a:rPr>
              <a:t>点</a:t>
            </a:r>
            <a:r>
              <a:rPr lang="en-US" altLang="zh-CN" sz="2800" b="1" dirty="0">
                <a:solidFill>
                  <a:srgbClr val="FF0000"/>
                </a:solidFill>
              </a:rPr>
              <a:t>” </a:t>
            </a:r>
            <a:r>
              <a:rPr lang="zh-CN" altLang="en-US" sz="2800" b="1" dirty="0">
                <a:solidFill>
                  <a:srgbClr val="FF0000"/>
                </a:solidFill>
              </a:rPr>
              <a:t>运算案例</a:t>
            </a: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BEE3457F-FBBA-4D48-9057-E2630ACFF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543" y="4084570"/>
            <a:ext cx="1065508" cy="61324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EEFBAC-F477-4FE5-ADB3-706A727CA426}"/>
              </a:ext>
            </a:extLst>
          </p:cNvPr>
          <p:cNvSpPr txBox="1"/>
          <p:nvPr/>
        </p:nvSpPr>
        <p:spPr>
          <a:xfrm>
            <a:off x="323527" y="1195857"/>
            <a:ext cx="4104456" cy="251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w=0:0.2pi:2*pi; </a:t>
            </a: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=meshgrid2(w);   </a:t>
            </a: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xx=</a:t>
            </a:r>
            <a:r>
              <a:rPr lang="en-US" altLang="zh-CN" sz="22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@</a:t>
            </a:r>
            <a:r>
              <a:rPr lang="en-US" altLang="zh-CN" sz="2200" b="1" kern="1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(6+2cos(u))*cos(v);  </a:t>
            </a: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en-US" altLang="zh-CN" sz="22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=@</a:t>
            </a:r>
            <a:r>
              <a:rPr lang="en-US" altLang="zh-CN" sz="2200" b="1" kern="1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2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6+2cos(u))*sin(v);      </a:t>
            </a: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zz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2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@</a:t>
            </a:r>
            <a:r>
              <a:rPr lang="en-US" altLang="zh-CN" sz="2200" b="1" kern="1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2sin(v);     </a:t>
            </a:r>
          </a:p>
          <a:p>
            <a:pPr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surf(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xx,yy,zz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);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0E20EB5-6E27-494B-A19C-54D2610D47C3}"/>
              </a:ext>
            </a:extLst>
          </p:cNvPr>
          <p:cNvSpPr txBox="1">
            <a:spLocks/>
          </p:cNvSpPr>
          <p:nvPr/>
        </p:nvSpPr>
        <p:spPr bwMode="auto">
          <a:xfrm>
            <a:off x="4097244" y="728901"/>
            <a:ext cx="50467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4"/>
              <a:defRPr sz="2400" b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2000" dirty="0">
                <a:solidFill>
                  <a:srgbClr val="0070C0"/>
                </a:solidFill>
              </a:rPr>
              <a:t>Julia</a:t>
            </a:r>
            <a:r>
              <a:rPr lang="zh-CN" altLang="en-US" sz="2000" dirty="0">
                <a:solidFill>
                  <a:srgbClr val="0070C0"/>
                </a:solidFill>
              </a:rPr>
              <a:t>任何函数</a:t>
            </a:r>
            <a:r>
              <a:rPr lang="en-US" altLang="zh-CN" sz="2000" dirty="0">
                <a:solidFill>
                  <a:srgbClr val="0070C0"/>
                </a:solidFill>
              </a:rPr>
              <a:t>f</a:t>
            </a:r>
            <a:r>
              <a:rPr lang="zh-CN" altLang="en-US" sz="2000" dirty="0">
                <a:solidFill>
                  <a:srgbClr val="0070C0"/>
                </a:solidFill>
              </a:rPr>
              <a:t>都可以点运算：</a:t>
            </a:r>
            <a:r>
              <a:rPr lang="en-US" altLang="zh-CN" sz="2000" dirty="0">
                <a:solidFill>
                  <a:srgbClr val="0070C0"/>
                </a:solidFill>
              </a:rPr>
              <a:t>f.(x)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7F3122-A21F-4851-9374-CB7BE04B3003}"/>
              </a:ext>
            </a:extLst>
          </p:cNvPr>
          <p:cNvSpPr txBox="1"/>
          <p:nvPr/>
        </p:nvSpPr>
        <p:spPr>
          <a:xfrm>
            <a:off x="4241261" y="1194865"/>
            <a:ext cx="4819559" cy="302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3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zh-CN" altLang="en-US" sz="20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采用函数点运算计算</a:t>
            </a:r>
            <a:r>
              <a:rPr lang="en-US" altLang="zh-CN" sz="20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xx</a:t>
            </a:r>
            <a:r>
              <a:rPr lang="zh-CN" altLang="en-US" sz="20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zh-CN" altLang="en-US" sz="20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zz</a:t>
            </a:r>
            <a:r>
              <a:rPr lang="zh-CN" altLang="en-US" sz="20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函数值</a:t>
            </a:r>
            <a:endParaRPr lang="en-US" altLang="zh-CN" sz="2000" b="1" kern="100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ts val="33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w=0:0.2pi:2*pi; </a:t>
            </a:r>
          </a:p>
          <a:p>
            <a:pPr algn="just">
              <a:lnSpc>
                <a:spcPts val="3300"/>
              </a:lnSpc>
              <a:spcAft>
                <a:spcPts val="0"/>
              </a:spcAft>
            </a:pP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=meshgrid2(w);   </a:t>
            </a:r>
          </a:p>
          <a:p>
            <a:pPr algn="just">
              <a:lnSpc>
                <a:spcPts val="33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xx(</a:t>
            </a:r>
            <a:r>
              <a:rPr lang="en-US" altLang="zh-CN" sz="2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)=(6+2cos(u))*cos(v);  </a:t>
            </a:r>
          </a:p>
          <a:p>
            <a:pPr algn="just">
              <a:lnSpc>
                <a:spcPts val="3300"/>
              </a:lnSpc>
              <a:spcAft>
                <a:spcPts val="0"/>
              </a:spcAft>
            </a:pP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)=(6+2cos(u))*sin(v);      </a:t>
            </a:r>
          </a:p>
          <a:p>
            <a:pPr algn="just">
              <a:lnSpc>
                <a:spcPts val="3300"/>
              </a:lnSpc>
              <a:spcAft>
                <a:spcPts val="0"/>
              </a:spcAft>
            </a:pP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zz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)=2sin(v);     </a:t>
            </a:r>
          </a:p>
          <a:p>
            <a:pPr algn="just">
              <a:lnSpc>
                <a:spcPts val="33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surf(xx</a:t>
            </a:r>
            <a:r>
              <a:rPr lang="en-US" altLang="zh-CN" sz="2400" kern="1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),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en-US" altLang="zh-CN" sz="2400" kern="1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),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zz</a:t>
            </a:r>
            <a:r>
              <a:rPr lang="en-US" altLang="zh-CN" sz="2400" kern="100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(v)); </a:t>
            </a: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1E507A45-4D48-4780-B189-F22333469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851800"/>
            <a:ext cx="1065508" cy="61324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错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53E98D-06C0-414E-BC67-F935703AF72A}"/>
              </a:ext>
            </a:extLst>
          </p:cNvPr>
          <p:cNvSpPr txBox="1"/>
          <p:nvPr/>
        </p:nvSpPr>
        <p:spPr>
          <a:xfrm>
            <a:off x="4932040" y="4221914"/>
            <a:ext cx="4248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没有函数点运算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和点调用</a:t>
            </a:r>
            <a:r>
              <a:rPr lang="en-US" altLang="zh-CN" sz="16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altLang="zh-CN" sz="16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endParaRPr lang="zh-CN" altLang="en-US" sz="16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804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1D177-468A-DB93-E90E-6F320002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496" y="442739"/>
            <a:ext cx="4104456" cy="638522"/>
          </a:xfrm>
        </p:spPr>
        <p:txBody>
          <a:bodyPr/>
          <a:lstStyle/>
          <a:p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</a:br>
            <a:b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</a:br>
            <a:endParaRPr lang="zh-CN" altLang="en-US" dirty="0"/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3058F797-B513-9F7F-1F15-429A61732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757384"/>
              </p:ext>
            </p:extLst>
          </p:nvPr>
        </p:nvGraphicFramePr>
        <p:xfrm>
          <a:off x="947710" y="1666841"/>
          <a:ext cx="7344816" cy="2672164"/>
        </p:xfrm>
        <a:graphic>
          <a:graphicData uri="http://schemas.openxmlformats.org/drawingml/2006/table">
            <a:tbl>
              <a:tblPr/>
              <a:tblGrid>
                <a:gridCol w="2802627">
                  <a:extLst>
                    <a:ext uri="{9D8B030D-6E8A-4147-A177-3AD203B41FA5}">
                      <a16:colId xmlns:a16="http://schemas.microsoft.com/office/drawing/2014/main" val="4122653823"/>
                    </a:ext>
                  </a:extLst>
                </a:gridCol>
                <a:gridCol w="4542189">
                  <a:extLst>
                    <a:ext uri="{9D8B030D-6E8A-4147-A177-3AD203B41FA5}">
                      <a16:colId xmlns:a16="http://schemas.microsoft.com/office/drawing/2014/main" val="2194190727"/>
                    </a:ext>
                  </a:extLst>
                </a:gridCol>
              </a:tblGrid>
              <a:tr h="18438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400" dirty="0">
                          <a:solidFill>
                            <a:srgbClr val="FFFFFF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函数</a:t>
                      </a:r>
                    </a:p>
                  </a:txBody>
                  <a:tcPr marL="3728" marR="3728" marT="3728" marB="3728">
                    <a:lnL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描述</a:t>
                      </a:r>
                    </a:p>
                  </a:txBody>
                  <a:tcPr marL="3728" marR="3728" marT="3728" marB="3728">
                    <a:lnL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08798515"/>
                  </a:ext>
                </a:extLst>
              </a:tr>
              <a:tr h="377379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round(x)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四舍五入为最近的小数或整数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45333835"/>
                  </a:ext>
                </a:extLst>
              </a:tr>
              <a:tr h="218852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floor(x)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向 </a:t>
                      </a:r>
                      <a:r>
                        <a:rPr lang="en-US" altLang="zh-CN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-</a:t>
                      </a:r>
                      <a:r>
                        <a:rPr 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Inf </a:t>
                      </a:r>
                      <a:r>
                        <a:rPr lang="zh-CN" alt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舍入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92690772"/>
                  </a:ext>
                </a:extLst>
              </a:tr>
              <a:tr h="218852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ceil(x)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向 </a:t>
                      </a:r>
                      <a:r>
                        <a:rPr lang="en-US" altLang="zh-CN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+</a:t>
                      </a:r>
                      <a:r>
                        <a:rPr 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Inf </a:t>
                      </a:r>
                      <a:r>
                        <a:rPr lang="zh-CN" alt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方向取整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75372352"/>
                  </a:ext>
                </a:extLst>
              </a:tr>
              <a:tr h="218852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 err="1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trunc</a:t>
                      </a:r>
                      <a:r>
                        <a:rPr 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(x)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 </a:t>
                      </a:r>
                      <a:r>
                        <a:rPr lang="zh-CN" alt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向 </a:t>
                      </a:r>
                      <a:r>
                        <a:rPr lang="en-US" altLang="zh-CN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0 </a:t>
                      </a:r>
                      <a:r>
                        <a:rPr lang="zh-CN" altLang="en-US" sz="24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取整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77077961"/>
                  </a:ext>
                </a:extLst>
              </a:tr>
              <a:tr h="21885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mod(x)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除后的余数（取模运算）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9186899"/>
                  </a:ext>
                </a:extLst>
              </a:tr>
              <a:tr h="218852">
                <a:tc>
                  <a:txBody>
                    <a:bodyPr/>
                    <a:lstStyle/>
                    <a:p>
                      <a:pPr fontAlgn="t"/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rem(x)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除后的余数</a:t>
                      </a:r>
                    </a:p>
                  </a:txBody>
                  <a:tcPr marL="6214" marR="6214" marT="8699" marB="8699">
                    <a:lnL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78328621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41247F6E-B2E7-4D4E-9C90-0D0FB539014D}"/>
              </a:ext>
            </a:extLst>
          </p:cNvPr>
          <p:cNvSpPr txBox="1">
            <a:spLocks/>
          </p:cNvSpPr>
          <p:nvPr/>
        </p:nvSpPr>
        <p:spPr bwMode="auto">
          <a:xfrm>
            <a:off x="851474" y="1447766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0" dirty="0"/>
              <a:t>§1.5.4  </a:t>
            </a:r>
            <a:r>
              <a:rPr lang="zh-CN" altLang="en-US" sz="2800" kern="0" dirty="0"/>
              <a:t>数学函数</a:t>
            </a:r>
            <a:r>
              <a:rPr lang="en-US" altLang="zh-CN" sz="2800" kern="0" dirty="0">
                <a:solidFill>
                  <a:srgbClr val="FF0000"/>
                </a:solidFill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舍入函数和除法求余函数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endParaRPr lang="zh-CN" altLang="en-US" sz="28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436653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12273</TotalTime>
  <Pages>154</Pages>
  <Words>3864</Words>
  <Characters>0</Characters>
  <Application>Microsoft Office PowerPoint</Application>
  <DocSecurity>0</DocSecurity>
  <PresentationFormat>全屏显示(16:9)</PresentationFormat>
  <Lines>0</Lines>
  <Paragraphs>579</Paragraphs>
  <Slides>21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-apple-system</vt:lpstr>
      <vt:lpstr>Arial Unicode MS</vt:lpstr>
      <vt:lpstr>FandolHei-Regular-Identity-H</vt:lpstr>
      <vt:lpstr>Helvetica Neue</vt:lpstr>
      <vt:lpstr>Inter</vt:lpstr>
      <vt:lpstr>SFMono-Regular</vt:lpstr>
      <vt:lpstr>等线</vt:lpstr>
      <vt:lpstr>等线 Light</vt:lpstr>
      <vt:lpstr>华文楷体</vt:lpstr>
      <vt:lpstr>隶书</vt:lpstr>
      <vt:lpstr>Microsoft YaHei</vt:lpstr>
      <vt:lpstr>Microsoft YaHei</vt:lpstr>
      <vt:lpstr>微软雅黑 Light</vt:lpstr>
      <vt:lpstr>Arial</vt:lpstr>
      <vt:lpstr>Calibri</vt:lpstr>
      <vt:lpstr>Cambria Math</vt:lpstr>
      <vt:lpstr>Consolas</vt:lpstr>
      <vt:lpstr>Helvetica</vt:lpstr>
      <vt:lpstr>Times New Roman</vt:lpstr>
      <vt:lpstr>Wingdings</vt:lpstr>
      <vt:lpstr>主题1</vt:lpstr>
      <vt:lpstr>§1.5  数学运算和数学函数</vt:lpstr>
      <vt:lpstr>PowerPoint 演示文稿</vt:lpstr>
      <vt:lpstr>PowerPoint 演示文稿</vt:lpstr>
      <vt:lpstr>§1.5.1.2. 逻辑运算——1. 逻辑运算符和bool变量</vt:lpstr>
      <vt:lpstr>§1.5.1.2. 逻辑运算——2. 短路运算</vt:lpstr>
      <vt:lpstr>PowerPoint 演示文稿</vt:lpstr>
      <vt:lpstr>   </vt:lpstr>
      <vt:lpstr>PowerPoint 演示文稿</vt:lpstr>
      <vt:lpstr>§1.5. 1 数学运算——向量点 运算 </vt:lpstr>
      <vt:lpstr>§1.5.1数学运算——向量化 "点" 运算</vt:lpstr>
      <vt:lpstr>PowerPoint 演示文稿</vt:lpstr>
      <vt:lpstr>§1.5. 1 数学运算——点运算示例</vt:lpstr>
      <vt:lpstr>PowerPoint 演示文稿</vt:lpstr>
      <vt:lpstr>PowerPoint 演示文稿</vt:lpstr>
      <vt:lpstr>点运算注意事项：点加减数值时一定要空格</vt:lpstr>
      <vt:lpstr>PowerPoint 演示文稿</vt:lpstr>
      <vt:lpstr>PowerPoint 演示文稿</vt:lpstr>
      <vt:lpstr>§1.5.3数学运算——向量化 “点” 常用方式</vt:lpstr>
      <vt:lpstr>§1.5.3数学运算——向量化 “点” 运算案例</vt:lpstr>
      <vt:lpstr>§1.5.3数学运算——向量化 “点” 运算案例</vt:lpstr>
      <vt:lpstr>          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1018</cp:revision>
  <dcterms:modified xsi:type="dcterms:W3CDTF">2025-03-11T09:34:07Z</dcterms:modified>
</cp:coreProperties>
</file>