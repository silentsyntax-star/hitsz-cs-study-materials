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48" r:id="rId1"/>
  </p:sldMasterIdLst>
  <p:notesMasterIdLst>
    <p:notesMasterId r:id="rId31"/>
  </p:notesMasterIdLst>
  <p:sldIdLst>
    <p:sldId id="755" r:id="rId2"/>
    <p:sldId id="1384" r:id="rId3"/>
    <p:sldId id="1381" r:id="rId4"/>
    <p:sldId id="1382" r:id="rId5"/>
    <p:sldId id="1383" r:id="rId6"/>
    <p:sldId id="1385" r:id="rId7"/>
    <p:sldId id="1386" r:id="rId8"/>
    <p:sldId id="1387" r:id="rId9"/>
    <p:sldId id="1388" r:id="rId10"/>
    <p:sldId id="1389" r:id="rId11"/>
    <p:sldId id="1390" r:id="rId12"/>
    <p:sldId id="1391" r:id="rId13"/>
    <p:sldId id="1392" r:id="rId14"/>
    <p:sldId id="1393" r:id="rId15"/>
    <p:sldId id="1394" r:id="rId16"/>
    <p:sldId id="1395" r:id="rId17"/>
    <p:sldId id="1396" r:id="rId18"/>
    <p:sldId id="1412" r:id="rId19"/>
    <p:sldId id="1946" r:id="rId20"/>
    <p:sldId id="1402" r:id="rId21"/>
    <p:sldId id="1399" r:id="rId22"/>
    <p:sldId id="1400" r:id="rId23"/>
    <p:sldId id="1407" r:id="rId24"/>
    <p:sldId id="10119" r:id="rId25"/>
    <p:sldId id="10118" r:id="rId26"/>
    <p:sldId id="1406" r:id="rId27"/>
    <p:sldId id="1405" r:id="rId28"/>
    <p:sldId id="1403" r:id="rId29"/>
    <p:sldId id="1411" r:id="rId30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4201" userDrawn="1">
          <p15:clr>
            <a:srgbClr val="A4A3A4"/>
          </p15:clr>
        </p15:guide>
        <p15:guide id="4" pos="2879" userDrawn="1">
          <p15:clr>
            <a:srgbClr val="A4A3A4"/>
          </p15:clr>
        </p15:guide>
        <p15:guide id="5" orient="horz" pos="315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4200">
          <p15:clr>
            <a:srgbClr val="A4A3A4"/>
          </p15:clr>
        </p15:guide>
        <p15:guide id="4" pos="2879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爱滨 李" initials="爱李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FF"/>
    <a:srgbClr val="3399FF"/>
    <a:srgbClr val="003B76"/>
    <a:srgbClr val="66CCFF"/>
    <a:srgbClr val="F0DA04"/>
    <a:srgbClr val="3366FF"/>
    <a:srgbClr val="736303"/>
    <a:srgbClr val="6D629C"/>
    <a:srgbClr val="7F62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97" autoAdjust="0"/>
    <p:restoredTop sz="93673" autoAdjust="0"/>
  </p:normalViewPr>
  <p:slideViewPr>
    <p:cSldViewPr snapToObjects="1" showGuides="1">
      <p:cViewPr varScale="1">
        <p:scale>
          <a:sx n="87" d="100"/>
          <a:sy n="87" d="100"/>
        </p:scale>
        <p:origin x="672" y="52"/>
      </p:cViewPr>
      <p:guideLst>
        <p:guide orient="horz" pos="4201"/>
        <p:guide pos="2879"/>
        <p:guide orient="horz" pos="3151"/>
      </p:guideLst>
    </p:cSldViewPr>
  </p:slid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100" d="100"/>
        <a:sy n="100" d="100"/>
      </p:scale>
      <p:origin x="0" y="-26472"/>
    </p:cViewPr>
  </p:sorterViewPr>
  <p:notesViewPr>
    <p:cSldViewPr snapToObjects="1">
      <p:cViewPr varScale="1">
        <p:scale>
          <a:sx n="47" d="100"/>
          <a:sy n="47" d="100"/>
        </p:scale>
        <p:origin x="2694" y="60"/>
      </p:cViewPr>
      <p:guideLst>
        <p:guide orient="horz" pos="2880"/>
        <p:guide pos="2160"/>
        <p:guide orient="horz" pos="4200"/>
        <p:guide pos="287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F4DA7F0C-A8F0-4487-826C-000FF0B66B21}" type="datetimeFigureOut">
              <a:rPr lang="zh-CN" altLang="en-US"/>
              <a:t>2025/3/25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6C58412-F58B-4DA5-9529-CC0CDE193992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a=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b=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c=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#phi=0:0.1:2*pi .+0.1;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#theta=-1:0.1:1;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phi,theta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meshgrid2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x=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@.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cosh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(theta)*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cos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(phi);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y=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@.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cosh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(theta)*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(phi);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z=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@.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sinh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(theta)*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ones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(phi));</a:t>
            </a:r>
          </a:p>
          <a:p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surf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x,y,z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47078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39997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87309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b="0" i="0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牛顿提出微积分学、万有引力定律</a:t>
            </a:r>
            <a:r>
              <a:rPr lang="zh-CN" altLang="en-US" sz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和“运动三大定律”</a:t>
            </a:r>
            <a:endParaRPr lang="en-US" altLang="zh-CN" sz="12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latinLnBrk="0"/>
            <a:r>
              <a:rPr lang="zh-CN" altLang="en-US" dirty="0">
                <a:effectLst/>
                <a:latin typeface="PingFang SC"/>
              </a:rPr>
              <a:t>干涉实验的难点主要集中在波源控制、狭缝制作、设备精度及观测干扰等方面，具体如下：</a:t>
            </a:r>
          </a:p>
          <a:p>
            <a:pPr algn="l" latinLnBrk="0">
              <a:buFont typeface="+mj-lt"/>
              <a:buAutoNum type="arabicPeriod"/>
            </a:pPr>
            <a:r>
              <a:rPr lang="zh-CN" altLang="en-US" dirty="0">
                <a:effectLst/>
                <a:latin typeface="PingFang SC"/>
              </a:rPr>
              <a:t>‌</a:t>
            </a:r>
            <a:r>
              <a:rPr lang="zh-CN" altLang="en-US" b="1" dirty="0">
                <a:effectLst/>
                <a:latin typeface="PingFang SC"/>
              </a:rPr>
              <a:t>波源控制与相干性</a:t>
            </a:r>
            <a:r>
              <a:rPr lang="zh-CN" altLang="en-US" dirty="0">
                <a:effectLst/>
                <a:latin typeface="PingFang SC"/>
              </a:rPr>
              <a:t>‌</a:t>
            </a:r>
          </a:p>
          <a:p>
            <a:pPr marL="742950" lvl="1" indent="-285750" algn="l" latinLnBrk="0">
              <a:buFont typeface="+mj-lt"/>
              <a:buAutoNum type="arabicPeriod"/>
            </a:pPr>
            <a:r>
              <a:rPr lang="zh-CN" altLang="en-US" dirty="0">
                <a:effectLst/>
                <a:latin typeface="PingFang SC"/>
              </a:rPr>
              <a:t>‌</a:t>
            </a:r>
            <a:r>
              <a:rPr lang="zh-CN" altLang="en-US" b="1" dirty="0">
                <a:effectLst/>
                <a:latin typeface="PingFang SC"/>
              </a:rPr>
              <a:t>电子束的稳定性</a:t>
            </a:r>
            <a:r>
              <a:rPr lang="zh-CN" altLang="en-US" dirty="0">
                <a:effectLst/>
                <a:latin typeface="PingFang SC"/>
              </a:rPr>
              <a:t>‌：需产生连续、稳定且会聚的电子束。电子因电荷斥力易发散，需通过磁场引导路径‌</a:t>
            </a:r>
            <a:r>
              <a:rPr lang="en-US" altLang="zh-CN" dirty="0">
                <a:effectLst/>
                <a:latin typeface="PingFang SC"/>
              </a:rPr>
              <a:t>13</a:t>
            </a:r>
            <a:r>
              <a:rPr lang="zh-CN" altLang="en-US" dirty="0">
                <a:effectLst/>
                <a:latin typeface="PingFang SC"/>
              </a:rPr>
              <a:t>。单电子发射技术至今仍存在争议‌</a:t>
            </a:r>
            <a:r>
              <a:rPr lang="en-US" altLang="zh-CN" dirty="0">
                <a:effectLst/>
                <a:latin typeface="PingFang SC"/>
              </a:rPr>
              <a:t>1</a:t>
            </a:r>
            <a:r>
              <a:rPr lang="zh-CN" altLang="en-US" dirty="0">
                <a:effectLst/>
                <a:latin typeface="PingFang SC"/>
              </a:rPr>
              <a:t>。</a:t>
            </a:r>
          </a:p>
          <a:p>
            <a:pPr marL="742950" lvl="1" indent="-285750" algn="l" latinLnBrk="0">
              <a:buFont typeface="+mj-lt"/>
              <a:buAutoNum type="arabicPeriod"/>
            </a:pPr>
            <a:r>
              <a:rPr lang="zh-CN" altLang="en-US" dirty="0">
                <a:effectLst/>
                <a:latin typeface="PingFang SC"/>
              </a:rPr>
              <a:t>‌</a:t>
            </a:r>
            <a:r>
              <a:rPr lang="zh-CN" altLang="en-US" b="1" dirty="0">
                <a:effectLst/>
                <a:latin typeface="PingFang SC"/>
              </a:rPr>
              <a:t>光的单色性与强度</a:t>
            </a:r>
            <a:r>
              <a:rPr lang="zh-CN" altLang="en-US" dirty="0">
                <a:effectLst/>
                <a:latin typeface="PingFang SC"/>
              </a:rPr>
              <a:t>‌：光波长短（纳米级）导致干涉条纹间距极小，且光强较弱，需使用单色光源（如钠黄光）和优化实验条件以提高可观测性‌</a:t>
            </a:r>
            <a:r>
              <a:rPr lang="en-US" altLang="zh-CN" dirty="0">
                <a:effectLst/>
                <a:latin typeface="PingFang SC"/>
              </a:rPr>
              <a:t>28</a:t>
            </a:r>
            <a:r>
              <a:rPr lang="zh-CN" altLang="en-US" dirty="0">
                <a:effectLst/>
                <a:latin typeface="PingFang SC"/>
              </a:rPr>
              <a:t>。</a:t>
            </a:r>
          </a:p>
          <a:p>
            <a:pPr marL="742950" lvl="1" indent="-285750" algn="l" latinLnBrk="0">
              <a:buFont typeface="+mj-lt"/>
              <a:buAutoNum type="arabicPeriod"/>
            </a:pPr>
            <a:r>
              <a:rPr lang="zh-CN" altLang="en-US" dirty="0">
                <a:effectLst/>
                <a:latin typeface="PingFang SC"/>
              </a:rPr>
              <a:t>‌</a:t>
            </a:r>
            <a:r>
              <a:rPr lang="en-US" altLang="zh-CN" b="1" dirty="0">
                <a:effectLst/>
                <a:latin typeface="PingFang SC"/>
              </a:rPr>
              <a:t>X</a:t>
            </a:r>
            <a:r>
              <a:rPr lang="zh-CN" altLang="en-US" b="1" dirty="0">
                <a:effectLst/>
                <a:latin typeface="PingFang SC"/>
              </a:rPr>
              <a:t>射线的高相干性</a:t>
            </a:r>
            <a:r>
              <a:rPr lang="zh-CN" altLang="en-US" dirty="0">
                <a:effectLst/>
                <a:latin typeface="PingFang SC"/>
              </a:rPr>
              <a:t>‌：需同步辐射源或</a:t>
            </a:r>
            <a:r>
              <a:rPr lang="en-US" altLang="zh-CN" dirty="0">
                <a:effectLst/>
                <a:latin typeface="PingFang SC"/>
              </a:rPr>
              <a:t>X</a:t>
            </a:r>
            <a:r>
              <a:rPr lang="zh-CN" altLang="en-US" dirty="0">
                <a:effectLst/>
                <a:latin typeface="PingFang SC"/>
              </a:rPr>
              <a:t>射线激光等高度相干的</a:t>
            </a:r>
            <a:r>
              <a:rPr lang="en-US" altLang="zh-CN" dirty="0">
                <a:effectLst/>
                <a:latin typeface="PingFang SC"/>
              </a:rPr>
              <a:t>X</a:t>
            </a:r>
            <a:r>
              <a:rPr lang="zh-CN" altLang="en-US" dirty="0">
                <a:effectLst/>
                <a:latin typeface="PingFang SC"/>
              </a:rPr>
              <a:t>射线源，否则难以满足双缝干涉的相干性要求‌</a:t>
            </a:r>
            <a:r>
              <a:rPr lang="en-US" altLang="zh-CN" dirty="0">
                <a:effectLst/>
                <a:latin typeface="PingFang SC"/>
              </a:rPr>
              <a:t>5</a:t>
            </a:r>
            <a:r>
              <a:rPr lang="zh-CN" altLang="en-US" dirty="0">
                <a:effectLst/>
                <a:latin typeface="PingFang SC"/>
              </a:rPr>
              <a:t>。</a:t>
            </a:r>
          </a:p>
          <a:p>
            <a:pPr algn="l" latinLnBrk="0">
              <a:buFont typeface="+mj-lt"/>
              <a:buAutoNum type="arabicPeriod"/>
            </a:pPr>
            <a:r>
              <a:rPr lang="zh-CN" altLang="en-US" dirty="0">
                <a:effectLst/>
                <a:latin typeface="PingFang SC"/>
              </a:rPr>
              <a:t>‌</a:t>
            </a:r>
            <a:r>
              <a:rPr lang="zh-CN" altLang="en-US" b="1" dirty="0">
                <a:effectLst/>
                <a:latin typeface="PingFang SC"/>
              </a:rPr>
              <a:t>狭缝制作与精度</a:t>
            </a:r>
            <a:r>
              <a:rPr lang="zh-CN" altLang="en-US" dirty="0">
                <a:effectLst/>
                <a:latin typeface="PingFang SC"/>
              </a:rPr>
              <a:t>‌</a:t>
            </a:r>
          </a:p>
          <a:p>
            <a:pPr marL="742950" lvl="1" indent="-285750" algn="l" latinLnBrk="0">
              <a:buFont typeface="+mj-lt"/>
              <a:buAutoNum type="arabicPeriod"/>
            </a:pPr>
            <a:r>
              <a:rPr lang="zh-CN" altLang="en-US" dirty="0">
                <a:effectLst/>
                <a:latin typeface="PingFang SC"/>
              </a:rPr>
              <a:t>‌</a:t>
            </a:r>
            <a:r>
              <a:rPr lang="zh-CN" altLang="en-US" b="1" dirty="0">
                <a:effectLst/>
                <a:latin typeface="PingFang SC"/>
              </a:rPr>
              <a:t>电子双缝的微小尺寸</a:t>
            </a:r>
            <a:r>
              <a:rPr lang="zh-CN" altLang="en-US" dirty="0">
                <a:effectLst/>
                <a:latin typeface="PingFang SC"/>
              </a:rPr>
              <a:t>‌：缝隙过大会导致衍射现象消失，需制作纳米级狭缝并精确控制间距‌</a:t>
            </a:r>
            <a:r>
              <a:rPr lang="en-US" altLang="zh-CN" dirty="0">
                <a:effectLst/>
                <a:latin typeface="PingFang SC"/>
              </a:rPr>
              <a:t>13</a:t>
            </a:r>
            <a:r>
              <a:rPr lang="zh-CN" altLang="en-US" dirty="0">
                <a:effectLst/>
                <a:latin typeface="PingFang SC"/>
              </a:rPr>
              <a:t>。</a:t>
            </a:r>
          </a:p>
          <a:p>
            <a:pPr marL="742950" lvl="1" indent="-285750" algn="l" latinLnBrk="0">
              <a:buFont typeface="+mj-lt"/>
              <a:buAutoNum type="arabicPeriod"/>
            </a:pPr>
            <a:r>
              <a:rPr lang="zh-CN" altLang="en-US" dirty="0">
                <a:effectLst/>
                <a:latin typeface="PingFang SC"/>
              </a:rPr>
              <a:t>‌</a:t>
            </a:r>
            <a:r>
              <a:rPr lang="zh-CN" altLang="en-US" b="1" dirty="0">
                <a:effectLst/>
                <a:latin typeface="PingFang SC"/>
              </a:rPr>
              <a:t>可见光双缝的间距调节</a:t>
            </a:r>
            <a:r>
              <a:rPr lang="zh-CN" altLang="en-US" dirty="0">
                <a:effectLst/>
                <a:latin typeface="PingFang SC"/>
              </a:rPr>
              <a:t>‌：需通过双缝装置将单缝光波分为两列相干光波，并调整缝间距与光源距离以优化干涉效果‌</a:t>
            </a:r>
            <a:r>
              <a:rPr lang="en-US" altLang="zh-CN" dirty="0">
                <a:effectLst/>
                <a:latin typeface="PingFang SC"/>
              </a:rPr>
              <a:t>28</a:t>
            </a:r>
            <a:r>
              <a:rPr lang="zh-CN" altLang="en-US" dirty="0">
                <a:effectLst/>
                <a:latin typeface="PingFang SC"/>
              </a:rPr>
              <a:t>。</a:t>
            </a:r>
          </a:p>
          <a:p>
            <a:pPr marL="742950" lvl="1" indent="-285750" algn="l" latinLnBrk="0">
              <a:buFont typeface="+mj-lt"/>
              <a:buAutoNum type="arabicPeriod"/>
            </a:pPr>
            <a:r>
              <a:rPr lang="zh-CN" altLang="en-US" dirty="0">
                <a:effectLst/>
                <a:latin typeface="PingFang SC"/>
              </a:rPr>
              <a:t>‌</a:t>
            </a:r>
            <a:r>
              <a:rPr lang="en-US" altLang="zh-CN" b="1" dirty="0">
                <a:effectLst/>
                <a:latin typeface="PingFang SC"/>
              </a:rPr>
              <a:t>X</a:t>
            </a:r>
            <a:r>
              <a:rPr lang="zh-CN" altLang="en-US" b="1" dirty="0">
                <a:effectLst/>
                <a:latin typeface="PingFang SC"/>
              </a:rPr>
              <a:t>射线的高精度狭缝</a:t>
            </a:r>
            <a:r>
              <a:rPr lang="zh-CN" altLang="en-US" dirty="0">
                <a:effectLst/>
                <a:latin typeface="PingFang SC"/>
              </a:rPr>
              <a:t>‌：需纳米级精度狭缝材料（如铅），以防止</a:t>
            </a:r>
            <a:r>
              <a:rPr lang="en-US" altLang="zh-CN" dirty="0">
                <a:effectLst/>
                <a:latin typeface="PingFang SC"/>
              </a:rPr>
              <a:t>X</a:t>
            </a:r>
            <a:r>
              <a:rPr lang="zh-CN" altLang="en-US" dirty="0">
                <a:effectLst/>
                <a:latin typeface="PingFang SC"/>
              </a:rPr>
              <a:t>射线穿透材料本身‌</a:t>
            </a:r>
            <a:r>
              <a:rPr lang="en-US" altLang="zh-CN" dirty="0">
                <a:effectLst/>
                <a:latin typeface="PingFang SC"/>
              </a:rPr>
              <a:t>5</a:t>
            </a:r>
            <a:r>
              <a:rPr lang="zh-CN" altLang="en-US" dirty="0">
                <a:effectLst/>
                <a:latin typeface="PingFang SC"/>
              </a:rPr>
              <a:t>。</a:t>
            </a:r>
          </a:p>
          <a:p>
            <a:pPr algn="l" latinLnBrk="0">
              <a:buFont typeface="+mj-lt"/>
              <a:buAutoNum type="arabicPeriod"/>
            </a:pPr>
            <a:r>
              <a:rPr lang="zh-CN" altLang="en-US" dirty="0">
                <a:effectLst/>
                <a:latin typeface="PingFang SC"/>
              </a:rPr>
              <a:t>‌</a:t>
            </a:r>
            <a:r>
              <a:rPr lang="zh-CN" altLang="en-US" b="1" dirty="0">
                <a:effectLst/>
                <a:latin typeface="PingFang SC"/>
              </a:rPr>
              <a:t>环境干扰与设备要求</a:t>
            </a:r>
            <a:r>
              <a:rPr lang="zh-CN" altLang="en-US" dirty="0">
                <a:effectLst/>
                <a:latin typeface="PingFang SC"/>
              </a:rPr>
              <a:t>‌</a:t>
            </a:r>
          </a:p>
          <a:p>
            <a:pPr marL="742950" lvl="1" indent="-285750" algn="l" latinLnBrk="0">
              <a:buFont typeface="+mj-lt"/>
              <a:buAutoNum type="arabicPeriod"/>
            </a:pPr>
            <a:r>
              <a:rPr lang="zh-CN" altLang="en-US" dirty="0">
                <a:effectLst/>
                <a:latin typeface="PingFang SC"/>
              </a:rPr>
              <a:t>‌</a:t>
            </a:r>
            <a:r>
              <a:rPr lang="zh-CN" altLang="en-US" b="1" dirty="0">
                <a:effectLst/>
                <a:latin typeface="PingFang SC"/>
              </a:rPr>
              <a:t>磁场与电场控制</a:t>
            </a:r>
            <a:r>
              <a:rPr lang="zh-CN" altLang="en-US" dirty="0">
                <a:effectLst/>
                <a:latin typeface="PingFang SC"/>
              </a:rPr>
              <a:t>‌：电子实验中需磁场聚焦电子束，早期技术条件有限，实现难度大‌</a:t>
            </a:r>
            <a:r>
              <a:rPr lang="en-US" altLang="zh-CN" dirty="0">
                <a:effectLst/>
                <a:latin typeface="PingFang SC"/>
              </a:rPr>
              <a:t>13</a:t>
            </a:r>
            <a:r>
              <a:rPr lang="zh-CN" altLang="en-US" dirty="0">
                <a:effectLst/>
                <a:latin typeface="PingFang SC"/>
              </a:rPr>
              <a:t>。</a:t>
            </a:r>
          </a:p>
          <a:p>
            <a:pPr marL="742950" lvl="1" indent="-285750" algn="l" latinLnBrk="0">
              <a:buFont typeface="+mj-lt"/>
              <a:buAutoNum type="arabicPeriod"/>
            </a:pPr>
            <a:r>
              <a:rPr lang="zh-CN" altLang="en-US" dirty="0">
                <a:effectLst/>
                <a:latin typeface="PingFang SC"/>
              </a:rPr>
              <a:t>‌</a:t>
            </a:r>
            <a:r>
              <a:rPr lang="en-US" altLang="zh-CN" b="1" dirty="0">
                <a:effectLst/>
                <a:latin typeface="PingFang SC"/>
              </a:rPr>
              <a:t>X</a:t>
            </a:r>
            <a:r>
              <a:rPr lang="zh-CN" altLang="en-US" b="1" dirty="0">
                <a:effectLst/>
                <a:latin typeface="PingFang SC"/>
              </a:rPr>
              <a:t>射线探测器的精度</a:t>
            </a:r>
            <a:r>
              <a:rPr lang="zh-CN" altLang="en-US" dirty="0">
                <a:effectLst/>
                <a:latin typeface="PingFang SC"/>
              </a:rPr>
              <a:t>‌：因</a:t>
            </a:r>
            <a:r>
              <a:rPr lang="en-US" altLang="zh-CN" dirty="0">
                <a:effectLst/>
                <a:latin typeface="PingFang SC"/>
              </a:rPr>
              <a:t>X</a:t>
            </a:r>
            <a:r>
              <a:rPr lang="zh-CN" altLang="en-US" dirty="0">
                <a:effectLst/>
                <a:latin typeface="PingFang SC"/>
              </a:rPr>
              <a:t>射线波长极短，需高分辨率探测器捕捉微小干涉条纹‌</a:t>
            </a:r>
            <a:r>
              <a:rPr lang="en-US" altLang="zh-CN" dirty="0">
                <a:effectLst/>
                <a:latin typeface="PingFang SC"/>
              </a:rPr>
              <a:t>5</a:t>
            </a:r>
            <a:r>
              <a:rPr lang="zh-CN" altLang="en-US" dirty="0">
                <a:effectLst/>
                <a:latin typeface="PingFang SC"/>
              </a:rPr>
              <a:t>。</a:t>
            </a:r>
          </a:p>
          <a:p>
            <a:pPr marL="742950" lvl="1" indent="-285750" algn="l" latinLnBrk="0">
              <a:buFont typeface="+mj-lt"/>
              <a:buAutoNum type="arabicPeriod"/>
            </a:pPr>
            <a:r>
              <a:rPr lang="zh-CN" altLang="en-US" dirty="0">
                <a:effectLst/>
                <a:latin typeface="PingFang SC"/>
              </a:rPr>
              <a:t>‌</a:t>
            </a:r>
            <a:r>
              <a:rPr lang="zh-CN" altLang="en-US" b="1" dirty="0">
                <a:effectLst/>
                <a:latin typeface="PingFang SC"/>
              </a:rPr>
              <a:t>能量分布的复杂性</a:t>
            </a:r>
            <a:r>
              <a:rPr lang="zh-CN" altLang="en-US" dirty="0">
                <a:effectLst/>
                <a:latin typeface="PingFang SC"/>
              </a:rPr>
              <a:t>‌：干涉导致能量在空间重新分配，某些区域能量为零，需考虑波动叠加的弛豫时间和能量传递过程‌</a:t>
            </a:r>
            <a:r>
              <a:rPr lang="en-US" altLang="zh-CN" dirty="0">
                <a:effectLst/>
                <a:latin typeface="PingFang SC"/>
              </a:rPr>
              <a:t>7</a:t>
            </a:r>
            <a:r>
              <a:rPr lang="zh-CN" altLang="en-US" dirty="0">
                <a:effectLst/>
                <a:latin typeface="PingFang SC"/>
              </a:rPr>
              <a:t>。</a:t>
            </a:r>
          </a:p>
          <a:p>
            <a:pPr algn="l" latinLnBrk="0">
              <a:buFont typeface="+mj-lt"/>
              <a:buAutoNum type="arabicPeriod"/>
            </a:pPr>
            <a:r>
              <a:rPr lang="zh-CN" altLang="en-US" dirty="0">
                <a:effectLst/>
                <a:latin typeface="PingFang SC"/>
              </a:rPr>
              <a:t>‌</a:t>
            </a:r>
            <a:r>
              <a:rPr lang="zh-CN" altLang="en-US" b="1" dirty="0">
                <a:effectLst/>
                <a:latin typeface="PingFang SC"/>
              </a:rPr>
              <a:t>观测对结果的影响</a:t>
            </a:r>
            <a:r>
              <a:rPr lang="zh-CN" altLang="en-US" dirty="0">
                <a:effectLst/>
                <a:latin typeface="PingFang SC"/>
              </a:rPr>
              <a:t>‌</a:t>
            </a:r>
          </a:p>
          <a:p>
            <a:pPr marL="742950" lvl="1" indent="-285750" algn="l" latinLnBrk="0">
              <a:buFont typeface="+mj-lt"/>
              <a:buAutoNum type="arabicPeriod"/>
            </a:pPr>
            <a:r>
              <a:rPr lang="zh-CN" altLang="en-US" dirty="0">
                <a:effectLst/>
                <a:latin typeface="PingFang SC"/>
              </a:rPr>
              <a:t>‌</a:t>
            </a:r>
            <a:r>
              <a:rPr lang="zh-CN" altLang="en-US" b="1" dirty="0">
                <a:effectLst/>
                <a:latin typeface="PingFang SC"/>
              </a:rPr>
              <a:t>量子态坍缩</a:t>
            </a:r>
            <a:r>
              <a:rPr lang="zh-CN" altLang="en-US" dirty="0">
                <a:effectLst/>
                <a:latin typeface="PingFang SC"/>
              </a:rPr>
              <a:t>‌：观测电子路径会破坏其波动性，导致干涉条纹消失，实验需避免测量干扰‌</a:t>
            </a:r>
            <a:r>
              <a:rPr lang="en-US" altLang="zh-CN" dirty="0">
                <a:effectLst/>
                <a:latin typeface="PingFang SC"/>
              </a:rPr>
              <a:t>46</a:t>
            </a:r>
            <a:r>
              <a:rPr lang="zh-CN" altLang="en-US" dirty="0">
                <a:effectLst/>
                <a:latin typeface="PingFang SC"/>
              </a:rPr>
              <a:t>。</a:t>
            </a:r>
          </a:p>
          <a:p>
            <a:pPr marL="742950" lvl="1" indent="-285750" algn="l" latinLnBrk="0">
              <a:buFont typeface="+mj-lt"/>
              <a:buAutoNum type="arabicPeriod"/>
            </a:pPr>
            <a:r>
              <a:rPr lang="zh-CN" altLang="en-US" dirty="0">
                <a:effectLst/>
                <a:latin typeface="PingFang SC"/>
              </a:rPr>
              <a:t>‌</a:t>
            </a:r>
            <a:r>
              <a:rPr lang="zh-CN" altLang="en-US" b="1" dirty="0">
                <a:effectLst/>
                <a:latin typeface="PingFang SC"/>
              </a:rPr>
              <a:t>延迟擦除实验的挑战</a:t>
            </a:r>
            <a:r>
              <a:rPr lang="zh-CN" altLang="en-US" dirty="0">
                <a:effectLst/>
                <a:latin typeface="PingFang SC"/>
              </a:rPr>
              <a:t>‌：量子纠缠条件下，延迟观测可能颠覆因果律认知，需精密控制纠缠粒子的路径与时间差‌</a:t>
            </a:r>
            <a:r>
              <a:rPr lang="en-US" altLang="zh-CN" dirty="0">
                <a:effectLst/>
                <a:latin typeface="PingFang SC"/>
              </a:rPr>
              <a:t>4</a:t>
            </a:r>
            <a:r>
              <a:rPr lang="zh-CN" altLang="en-US" dirty="0">
                <a:effectLst/>
                <a:latin typeface="PingFang SC"/>
              </a:rPr>
              <a:t>。</a:t>
            </a:r>
          </a:p>
          <a:p>
            <a:pPr algn="l" latinLnBrk="0"/>
            <a:r>
              <a:rPr lang="zh-CN" altLang="en-US" dirty="0">
                <a:effectLst/>
                <a:latin typeface="PingFang SC"/>
              </a:rPr>
              <a:t>不同干涉实验的难点各有侧重，但核心均围绕波源控制、设备精度及量子效应展开。</a:t>
            </a:r>
          </a:p>
          <a:p>
            <a:b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</a:br>
            <a:endParaRPr lang="zh-CN" altLang="en-US" sz="12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b="0" i="0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牛顿提出微积分学、万有引力定律</a:t>
            </a:r>
            <a:r>
              <a:rPr lang="zh-CN" altLang="en-US" sz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和“运动三大定律”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48592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3124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81526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56630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A839A6-78F6-48CF-87A6-6BD8E9022CF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0276" y="195486"/>
            <a:ext cx="7667625" cy="438150"/>
          </a:xfrm>
        </p:spPr>
        <p:txBody>
          <a:bodyPr/>
          <a:lstStyle>
            <a:lvl1pPr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3100" y="802481"/>
            <a:ext cx="6515100" cy="547842"/>
          </a:xfrm>
        </p:spPr>
        <p:txBody>
          <a:bodyPr/>
          <a:lstStyle>
            <a:lvl1pPr marL="1778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6350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endParaRPr lang="zh-CN" altLang="en-US" dirty="0"/>
          </a:p>
        </p:txBody>
      </p:sp>
      <p:pic>
        <p:nvPicPr>
          <p:cNvPr id="5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9024" y="4726213"/>
            <a:ext cx="8784976" cy="417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直接连接符 7"/>
          <p:cNvCxnSpPr/>
          <p:nvPr userDrawn="1"/>
        </p:nvCxnSpPr>
        <p:spPr bwMode="auto">
          <a:xfrm>
            <a:off x="6626" y="4645735"/>
            <a:ext cx="9144000" cy="0"/>
          </a:xfrm>
          <a:prstGeom prst="line">
            <a:avLst/>
          </a:prstGeom>
          <a:ln w="19050">
            <a:solidFill>
              <a:srgbClr val="736303"/>
            </a:solidFill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2BEE3A-E9D9-4E9F-BCF8-FFCE31090B4C}" type="slidenum">
              <a:rPr lang="zh-CN" altLang="en-US"/>
              <a:t>‹#›</a:t>
            </a:fld>
            <a:endParaRPr lang="zh-CN" altLang="en-US"/>
          </a:p>
        </p:txBody>
      </p:sp>
      <p:pic>
        <p:nvPicPr>
          <p:cNvPr id="3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00" y="4515966"/>
            <a:ext cx="9113837" cy="6275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685800" y="42862"/>
            <a:ext cx="7772400" cy="614363"/>
          </a:xfrm>
          <a:prstGeom prst="rect">
            <a:avLst/>
          </a:prstGeom>
          <a:noFill/>
          <a:ln>
            <a:noFill/>
          </a:ln>
        </p:spPr>
        <p:txBody>
          <a:bodyPr lIns="90488" tIns="44450" rIns="90488" bIns="44450" anchor="b"/>
          <a:lstStyle/>
          <a:p>
            <a:pPr>
              <a:lnSpc>
                <a:spcPct val="85000"/>
              </a:lnSpc>
              <a:defRPr/>
            </a:pPr>
            <a:endParaRPr lang="zh-CN" altLang="en-US" sz="3400">
              <a:solidFill>
                <a:srgbClr val="002E5C"/>
              </a:solidFill>
              <a:latin typeface="Helvetica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930276" y="250031"/>
            <a:ext cx="7667625" cy="4381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73100" y="802481"/>
            <a:ext cx="6515100" cy="205594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/>
            <a:r>
              <a:rPr lang="en-US" altLang="zh-CN"/>
              <a:t>Click to edit Master text 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pic>
        <p:nvPicPr>
          <p:cNvPr id="1029" name="Picture 5" descr="symbol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" y="330994"/>
            <a:ext cx="942975" cy="681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906463" y="660797"/>
            <a:ext cx="8121650" cy="0"/>
          </a:xfrm>
          <a:prstGeom prst="line">
            <a:avLst/>
          </a:prstGeom>
          <a:noFill/>
          <a:ln w="28575">
            <a:solidFill>
              <a:srgbClr val="003B76"/>
            </a:solidFill>
            <a:round/>
          </a:ln>
        </p:spPr>
        <p:txBody>
          <a:bodyPr lIns="0" tIns="0" rIns="0" bIns="0" anchor="ctr">
            <a:spAutoFit/>
          </a:bodyPr>
          <a:lstStyle/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915988" y="653653"/>
            <a:ext cx="8108950" cy="0"/>
          </a:xfrm>
          <a:prstGeom prst="line">
            <a:avLst/>
          </a:prstGeom>
          <a:noFill/>
          <a:ln w="12700">
            <a:solidFill>
              <a:srgbClr val="F0DA04"/>
            </a:solidFill>
            <a:rou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3919"/>
            <a:ext cx="2133600" cy="3571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>
                <a:latin typeface="+mn-lt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FD990E54-9BDD-4FF4-80FA-301FCBFF661E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9pPr>
    </p:titleStyle>
    <p:bodyStyle>
      <a:lvl1pPr marL="1778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800" b="1">
          <a:solidFill>
            <a:srgbClr val="A50021"/>
          </a:solidFill>
          <a:latin typeface="+mn-lt"/>
          <a:ea typeface="+mn-ea"/>
          <a:cs typeface="+mn-cs"/>
        </a:defRPr>
      </a:lvl1pPr>
      <a:lvl2pPr marL="6350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</a:defRPr>
      </a:lvl2pPr>
      <a:lvl3pPr marL="10922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400" b="1">
          <a:solidFill>
            <a:srgbClr val="002E5C"/>
          </a:solidFill>
          <a:latin typeface="+mn-lt"/>
        </a:defRPr>
      </a:lvl3pPr>
      <a:lvl4pPr marL="15494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000" b="1">
          <a:solidFill>
            <a:srgbClr val="002E5C"/>
          </a:solidFill>
          <a:latin typeface="+mn-lt"/>
        </a:defRPr>
      </a:lvl4pPr>
      <a:lvl5pPr marL="20066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000" b="1">
          <a:solidFill>
            <a:srgbClr val="002E5C"/>
          </a:solidFill>
          <a:latin typeface="+mn-lt"/>
        </a:defRPr>
      </a:lvl5pPr>
      <a:lvl6pPr marL="24638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6pPr>
      <a:lvl7pPr marL="29210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7pPr>
      <a:lvl8pPr marL="33782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8pPr>
      <a:lvl9pPr marL="38354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microsoft.com/office/2007/relationships/hdphoto" Target="../media/hdphoto1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8.emf"/><Relationship Id="rId4" Type="http://schemas.openxmlformats.org/officeDocument/2006/relationships/image" Target="../media/image4.png"/><Relationship Id="rId9" Type="http://schemas.microsoft.com/office/2007/relationships/hdphoto" Target="../media/hdphoto2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3.png"/><Relationship Id="rId4" Type="http://schemas.openxmlformats.org/officeDocument/2006/relationships/image" Target="../media/image16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7" Type="http://schemas.microsoft.com/office/2007/relationships/hdphoto" Target="../media/hdphoto5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microsoft.com/office/2007/relationships/hdphoto" Target="../media/hdphoto4.wdp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7.wdp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#/Doc/TyPlot/FormattingandAnnotation/3DSceneControl/plt_view.html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#/Doc/TyPlot/FormattingandAnnotation/Colormaps/colorbar.html#colorbar"/><Relationship Id="rId5" Type="http://schemas.openxmlformats.org/officeDocument/2006/relationships/hyperlink" Target="#/Doc/TyPlot/FormattingandAnnotation/Colormaps/colormap.html#colormap"/><Relationship Id="rId4" Type="http://schemas.openxmlformats.org/officeDocument/2006/relationships/hyperlink" Target="#/Doc/TyPlot/FormattingandAnnotation/3DSceneControl/rotate.ht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microsoft.com/office/2007/relationships/hdphoto" Target="../media/hdphoto8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6.png"/><Relationship Id="rId7" Type="http://schemas.openxmlformats.org/officeDocument/2006/relationships/image" Target="../media/image3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GIF"/><Relationship Id="rId5" Type="http://schemas.openxmlformats.org/officeDocument/2006/relationships/image" Target="../media/image37.png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emf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microsoft.com/office/2007/relationships/hdphoto" Target="../media/hdphoto9.wdp"/><Relationship Id="rId4" Type="http://schemas.openxmlformats.org/officeDocument/2006/relationships/image" Target="../media/image4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hworks.com/help/releases/R2021b/matlab/ref/axes.html?searchHighlight=axes&amp;s_tid=doc_srchtitle#d123e54644" TargetMode="External"/><Relationship Id="rId2" Type="http://schemas.openxmlformats.org/officeDocument/2006/relationships/hyperlink" Target="https://www.mathworks.com/help/releases/R2021b/matlab/ref/colormap.html?searchHighlight=colormap&amp;s_tid=doc_srchtitle#d123e194981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3" Type="http://schemas.openxmlformats.org/officeDocument/2006/relationships/notesSlide" Target="../notesSlides/notesSlide14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51.wmf"/><Relationship Id="rId4" Type="http://schemas.openxmlformats.org/officeDocument/2006/relationships/image" Target="../media/image52.png"/><Relationship Id="rId9" Type="http://schemas.openxmlformats.org/officeDocument/2006/relationships/oleObject" Target="../embeddings/oleObject3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 bwMode="auto">
          <a:xfrm>
            <a:off x="457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869D5C21-8453-4E8B-8FA6-9D282B0DEA91}" type="datetime1">
              <a:rPr lang="zh-CN" altLang="en-US" smtClean="0"/>
              <a:t>2025/3/25</a:t>
            </a:fld>
            <a:endParaRPr lang="zh-CN" altLang="en-US" sz="1800"/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1475656" y="-92651"/>
            <a:ext cx="7472310" cy="79433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1440" tIns="45720" rIns="91440" bIns="45720" numCol="1" anchor="b" anchorCtr="0" compatLnSpc="1"/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 algn="just" eaLnBrk="1" hangingPunct="1"/>
            <a:br>
              <a:rPr lang="en-US" altLang="zh-CN" sz="3200" kern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</a:br>
            <a:r>
              <a:rPr lang="en-US" altLang="zh-CN" sz="3200" kern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3200" b="0" kern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3.5 </a:t>
            </a:r>
            <a:r>
              <a:rPr lang="zh-CN" altLang="en-US" sz="3200" b="0" kern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三维离散数据绘图和函数图 </a:t>
            </a:r>
            <a:endParaRPr lang="zh-CN" altLang="en-US" sz="3200" b="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190082" y="1186790"/>
            <a:ext cx="8752824" cy="2978829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>
                <a:lumMod val="75000"/>
              </a:schemeClr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spAutoFit/>
          </a:bodyPr>
          <a:lstStyle>
            <a:lvl1pPr marL="1778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800" b="1">
                <a:solidFill>
                  <a:srgbClr val="A50021"/>
                </a:solidFill>
                <a:latin typeface="+mn-lt"/>
                <a:ea typeface="+mn-ea"/>
                <a:cs typeface="+mn-cs"/>
              </a:defRPr>
            </a:lvl1pPr>
            <a:lvl2pPr marL="635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</a:defRPr>
            </a:lvl2pPr>
            <a:lvl3pPr marL="1092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ts val="0"/>
              </a:spcBef>
              <a:buFontTx/>
              <a:buNone/>
            </a:pPr>
            <a:r>
              <a:rPr lang="en-US" altLang="zh-CN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§3.5.1 </a:t>
            </a:r>
            <a:r>
              <a:rPr lang="zh-CN" altLang="en-US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三维曲线</a:t>
            </a:r>
            <a:r>
              <a:rPr lang="en-US" altLang="zh-CN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plot3</a:t>
            </a:r>
          </a:p>
          <a:p>
            <a:pPr eaLnBrk="1" hangingPunct="1">
              <a:lnSpc>
                <a:spcPct val="140000"/>
              </a:lnSpc>
              <a:spcBef>
                <a:spcPts val="0"/>
              </a:spcBef>
              <a:buFontTx/>
              <a:buNone/>
            </a:pPr>
            <a:r>
              <a:rPr lang="en-US" altLang="zh-CN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§3.5.2 </a:t>
            </a:r>
            <a:r>
              <a:rPr lang="zh-CN" altLang="en-US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三维网格图</a:t>
            </a:r>
            <a:r>
              <a:rPr lang="en-US" altLang="zh-CN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mesh </a:t>
            </a:r>
          </a:p>
          <a:p>
            <a:pPr eaLnBrk="1" hangingPunct="1">
              <a:lnSpc>
                <a:spcPct val="140000"/>
              </a:lnSpc>
              <a:spcBef>
                <a:spcPts val="0"/>
              </a:spcBef>
              <a:buFontTx/>
              <a:buNone/>
            </a:pPr>
            <a:r>
              <a:rPr lang="en-US" altLang="zh-CN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§3.5.3 </a:t>
            </a:r>
            <a:r>
              <a:rPr lang="zh-CN" altLang="en-US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三维曲面图</a:t>
            </a:r>
            <a:r>
              <a:rPr lang="en-US" altLang="zh-CN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surf</a:t>
            </a:r>
            <a:r>
              <a:rPr lang="zh-CN" altLang="en-US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b="0" kern="0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surfc</a:t>
            </a:r>
            <a:endParaRPr lang="en-US" altLang="zh-CN" b="0" kern="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40000"/>
              </a:lnSpc>
              <a:spcBef>
                <a:spcPts val="0"/>
              </a:spcBef>
              <a:buFontTx/>
              <a:buNone/>
            </a:pPr>
            <a:r>
              <a:rPr lang="en-US" altLang="zh-CN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§3.5.4 </a:t>
            </a:r>
            <a:r>
              <a:rPr lang="zh-CN" altLang="en-US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等高线</a:t>
            </a:r>
            <a:r>
              <a:rPr lang="en-US" altLang="zh-CN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contour</a:t>
            </a:r>
          </a:p>
          <a:p>
            <a:pPr eaLnBrk="1" hangingPunct="1">
              <a:lnSpc>
                <a:spcPct val="140000"/>
              </a:lnSpc>
              <a:spcBef>
                <a:spcPts val="0"/>
              </a:spcBef>
              <a:buFontTx/>
              <a:buNone/>
            </a:pPr>
            <a:r>
              <a:rPr lang="en-US" altLang="zh-CN" sz="24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§3.5.5.</a:t>
            </a:r>
            <a:r>
              <a:rPr lang="zh-CN" altLang="en-US" sz="24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三维函数</a:t>
            </a:r>
            <a:r>
              <a:rPr lang="zh-CN" altLang="en-US" sz="24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图</a:t>
            </a:r>
            <a:r>
              <a:rPr lang="en-US" altLang="zh-CN" sz="24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(</a:t>
            </a:r>
            <a:r>
              <a:rPr lang="en-US" altLang="zh-CN" sz="2400" b="0" kern="0" dirty="0">
                <a:solidFill>
                  <a:srgbClr val="FFFF00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24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+</a:t>
            </a:r>
            <a:r>
              <a:rPr lang="zh-CN" altLang="en-US" sz="24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离散绘图命令</a:t>
            </a:r>
            <a:r>
              <a:rPr lang="en-US" altLang="zh-CN" sz="24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)</a:t>
            </a:r>
            <a:r>
              <a:rPr lang="zh-CN" altLang="en-US" sz="24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：</a:t>
            </a:r>
            <a:r>
              <a:rPr lang="en-US" altLang="zh-CN" sz="2400" b="0" kern="0" dirty="0">
                <a:solidFill>
                  <a:srgbClr val="FFFF00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24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plot3,</a:t>
            </a:r>
            <a:r>
              <a:rPr lang="en-US" altLang="zh-CN" sz="2400" b="0" kern="0" dirty="0">
                <a:solidFill>
                  <a:srgbClr val="FFFF00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24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mesh,</a:t>
            </a:r>
            <a:r>
              <a:rPr lang="en-US" altLang="zh-CN" sz="2400" b="0" kern="0" dirty="0">
                <a:solidFill>
                  <a:srgbClr val="FFFF00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24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surf ,</a:t>
            </a:r>
            <a:r>
              <a:rPr lang="en-US" altLang="zh-CN" sz="2400" b="0" kern="0" dirty="0" err="1">
                <a:solidFill>
                  <a:srgbClr val="FFFF00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2400" b="0" kern="0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contour</a:t>
            </a:r>
            <a:r>
              <a:rPr lang="en-US" altLang="zh-CN" sz="24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4147" y="1092083"/>
            <a:ext cx="1932376" cy="1449281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2315" y="1124594"/>
            <a:ext cx="1607944" cy="1205958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6540" y="1820858"/>
            <a:ext cx="1790654" cy="1342991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190082" y="766483"/>
            <a:ext cx="8776565" cy="303353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dist">
              <a:lnSpc>
                <a:spcPts val="1600"/>
              </a:lnSpc>
            </a:pPr>
            <a:r>
              <a:rPr lang="zh-CN" altLang="en-US" sz="16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用</a:t>
            </a:r>
            <a:r>
              <a:rPr lang="en-US" altLang="zh-CN" sz="16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plot3\mesh\surf\contour</a:t>
            </a:r>
            <a:r>
              <a:rPr lang="zh-CN" altLang="en-US" sz="16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不同绘图命令绘制函数z=sin(y)*cos(x) 三维图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81920" y="1816724"/>
            <a:ext cx="1801855" cy="1351391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09533" y="1856028"/>
            <a:ext cx="1391138" cy="1121999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09533" y="2820233"/>
            <a:ext cx="1161674" cy="871256"/>
          </a:xfrm>
          <a:prstGeom prst="rect">
            <a:avLst/>
          </a:prstGeom>
        </p:spPr>
      </p:pic>
      <p:sp>
        <p:nvSpPr>
          <p:cNvPr id="24" name="矩形 23"/>
          <p:cNvSpPr/>
          <p:nvPr/>
        </p:nvSpPr>
        <p:spPr>
          <a:xfrm>
            <a:off x="190082" y="4246198"/>
            <a:ext cx="8776565" cy="312971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dist">
              <a:lnSpc>
                <a:spcPts val="1700"/>
              </a:lnSpc>
            </a:pPr>
            <a:r>
              <a:rPr lang="en-US" altLang="zh-CN" sz="1600" b="1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f+</a:t>
            </a:r>
            <a:r>
              <a:rPr lang="zh-CN" altLang="en-US" sz="1600" b="1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离散</a:t>
            </a:r>
            <a:r>
              <a:rPr lang="zh-CN" altLang="en-US" sz="16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绘图函数命令变成函数图：</a:t>
            </a:r>
            <a:r>
              <a:rPr lang="en-US" altLang="zh-CN" sz="1600" b="1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fplot,fplot3,fmesh,fsurf,fcontour</a:t>
            </a:r>
            <a:endParaRPr lang="zh-CN" altLang="en-US" sz="16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5" name="AutoShape 13"/>
          <p:cNvSpPr>
            <a:spLocks noChangeArrowheads="1"/>
          </p:cNvSpPr>
          <p:nvPr/>
        </p:nvSpPr>
        <p:spPr bwMode="auto">
          <a:xfrm>
            <a:off x="5807471" y="2886065"/>
            <a:ext cx="3297715" cy="643792"/>
          </a:xfrm>
          <a:prstGeom prst="irregularSeal2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200" dirty="0">
                <a:solidFill>
                  <a:srgbClr val="FFFF00"/>
                </a:solidFill>
                <a:latin typeface="隶书" panose="02010509060101010101" charset="-122"/>
                <a:ea typeface="隶书" panose="02010509060101010101" charset="-122"/>
              </a:rPr>
              <a:t>离散绘图，其函数</a:t>
            </a:r>
            <a:endParaRPr lang="en-US" altLang="zh-CN" sz="1200" dirty="0">
              <a:solidFill>
                <a:srgbClr val="FFFF00"/>
              </a:solidFill>
              <a:latin typeface="隶书" panose="02010509060101010101" charset="-122"/>
              <a:ea typeface="隶书" panose="02010509060101010101" charset="-122"/>
            </a:endParaRPr>
          </a:p>
          <a:p>
            <a:r>
              <a:rPr lang="zh-CN" altLang="en-US" sz="1200" dirty="0">
                <a:solidFill>
                  <a:srgbClr val="FFFF00"/>
                </a:solidFill>
                <a:latin typeface="隶书" panose="02010509060101010101" charset="-122"/>
                <a:ea typeface="隶书" panose="02010509060101010101" charset="-122"/>
              </a:rPr>
              <a:t>表达式必须用点运算</a:t>
            </a:r>
            <a:endParaRPr lang="en-US" altLang="zh-CN" sz="1200" dirty="0">
              <a:solidFill>
                <a:srgbClr val="FFFF00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295165" y="1260546"/>
            <a:ext cx="8741332" cy="314967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5pPr>
            <a:lvl6pPr marL="25146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6pPr>
            <a:lvl7pPr marL="29718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7pPr>
            <a:lvl8pPr marL="34290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8pPr>
            <a:lvl9pPr marL="38862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26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plot3</a:t>
            </a:r>
            <a:r>
              <a:rPr lang="zh-CN" altLang="en-US" sz="26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选项定义和</a:t>
            </a:r>
            <a:r>
              <a:rPr lang="en-US" altLang="zh-CN" sz="26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plot</a:t>
            </a:r>
            <a:r>
              <a:rPr lang="zh-CN" altLang="en-US" sz="26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相同；</a:t>
            </a:r>
            <a:endParaRPr lang="en-US" altLang="zh-CN" sz="26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26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x,y,z</a:t>
            </a:r>
            <a:r>
              <a:rPr lang="zh-CN" altLang="en-US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是</a:t>
            </a:r>
            <a:r>
              <a:rPr lang="en-US" altLang="zh-CN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x</a:t>
            </a:r>
            <a:r>
              <a:rPr lang="zh-CN" altLang="en-US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轴、</a:t>
            </a:r>
            <a:r>
              <a:rPr lang="en-US" altLang="zh-CN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y</a:t>
            </a:r>
            <a:r>
              <a:rPr lang="zh-CN" altLang="en-US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轴和</a:t>
            </a:r>
            <a:r>
              <a:rPr lang="en-US" altLang="zh-CN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z</a:t>
            </a:r>
            <a:r>
              <a:rPr lang="zh-CN" altLang="en-US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轴数据，</a:t>
            </a:r>
            <a:r>
              <a:rPr lang="en-US" altLang="zh-CN" sz="2600" kern="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x,y,z</a:t>
            </a:r>
            <a:r>
              <a:rPr lang="zh-CN" altLang="en-US" sz="26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同维向量</a:t>
            </a:r>
            <a:endParaRPr lang="en-US" altLang="zh-CN" sz="26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26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fmt</a:t>
            </a:r>
            <a:r>
              <a:rPr lang="zh-CN" altLang="en-US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：线型、颜色和标记符的基本属性，</a:t>
            </a:r>
            <a:r>
              <a:rPr lang="en-US" altLang="zh-CN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key-value</a:t>
            </a:r>
            <a:r>
              <a:rPr lang="zh-CN" altLang="en-US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线属性名和值</a:t>
            </a:r>
            <a:r>
              <a:rPr lang="en-US" altLang="zh-CN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zh-CN" altLang="en-US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可忽略</a:t>
            </a:r>
            <a:endParaRPr lang="en-US" altLang="zh-CN" sz="26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三维线图句柄</a:t>
            </a:r>
            <a:r>
              <a:rPr lang="en-US" altLang="zh-CN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h</a:t>
            </a:r>
            <a:r>
              <a:rPr lang="zh-CN" altLang="en-US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可以使用</a:t>
            </a:r>
            <a:r>
              <a:rPr lang="en-US" altLang="zh-CN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h</a:t>
            </a:r>
            <a:r>
              <a:rPr lang="zh-CN" altLang="en-US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显示和修改</a:t>
            </a:r>
            <a:r>
              <a:rPr lang="zh-CN" altLang="zh-CN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图形线条</a:t>
            </a:r>
            <a:r>
              <a:rPr lang="zh-CN" altLang="en-US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相应属性</a:t>
            </a:r>
            <a:r>
              <a:rPr lang="en-US" altLang="zh-CN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zh-CN" altLang="en-US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可以忽略</a:t>
            </a:r>
            <a:r>
              <a:rPr lang="en-US" altLang="zh-CN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6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坐标区</a:t>
            </a:r>
            <a:r>
              <a:rPr lang="en-US" altLang="zh-CN" sz="26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ax</a:t>
            </a:r>
            <a:r>
              <a:rPr lang="zh-CN" altLang="en-US" sz="26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指定不是当前坐标区绘图，可以</a:t>
            </a:r>
            <a:r>
              <a:rPr lang="zh-CN" altLang="en-US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忽略</a:t>
            </a:r>
            <a:endParaRPr lang="zh-CN" altLang="en-US" sz="26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6746033" y="1438302"/>
            <a:ext cx="2290463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 eaLnBrk="1" latinLnBrk="0" hangingPunct="1"/>
            <a:r>
              <a:rPr lang="zh-CN" altLang="en-US" sz="2000" dirty="0">
                <a:solidFill>
                  <a:srgbClr val="FFFF00"/>
                </a:solidFill>
                <a:highlight>
                  <a:srgbClr val="003B76"/>
                </a:highlight>
                <a:latin typeface="隶书" panose="02010509060101010101" charset="-122"/>
                <a:ea typeface="隶书" panose="02010509060101010101" charset="-122"/>
              </a:rPr>
              <a:t>常绘制参数方程</a:t>
            </a:r>
            <a:endParaRPr lang="en-US" altLang="zh-CN" sz="2000" dirty="0">
              <a:highlight>
                <a:srgbClr val="003B76"/>
              </a:highligh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259632" y="104122"/>
            <a:ext cx="6840761" cy="51402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just" eaLnBrk="1" hangingPunct="1"/>
            <a:endParaRPr lang="en-US" altLang="zh-CN" sz="28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  <a:p>
            <a:pPr algn="l" eaLnBrk="1" hangingPunct="1"/>
            <a: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28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3.5.1 </a:t>
            </a:r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plot3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绘制</a:t>
            </a:r>
            <a:r>
              <a:rPr lang="zh-CN" altLang="en-US" sz="28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三维线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图</a:t>
            </a:r>
            <a:r>
              <a:rPr lang="en-US" altLang="zh-CN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——plot3</a:t>
            </a:r>
            <a:r>
              <a:rPr lang="zh-CN" altLang="en-US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的语法</a:t>
            </a:r>
            <a:b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</a:br>
            <a:endParaRPr lang="zh-CN" altLang="en-US" sz="28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707904" y="827672"/>
            <a:ext cx="5328592" cy="341632"/>
          </a:xfrm>
          <a:prstGeom prst="rect">
            <a:avLst/>
          </a:prstGeom>
          <a:solidFill>
            <a:srgbClr val="00206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句柄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h=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隶书" panose="02010509060101010101" charset="-122"/>
                <a:ea typeface="隶书" panose="02010509060101010101" charset="-122"/>
              </a:rPr>
              <a:t>plot3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(</a:t>
            </a: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坐标区</a:t>
            </a:r>
            <a:r>
              <a:rPr lang="en-US" altLang="zh-CN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ax,</a:t>
            </a:r>
            <a:r>
              <a:rPr lang="en-US" altLang="zh-CN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隶书" panose="02010509060101010101" charset="-122"/>
                <a:ea typeface="隶书" panose="02010509060101010101" charset="-122"/>
              </a:rPr>
              <a:t>x,y,z,</a:t>
            </a:r>
            <a:r>
              <a:rPr lang="en-US" altLang="zh-CN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fmt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 </a:t>
            </a: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或</a:t>
            </a:r>
            <a:r>
              <a:rPr lang="en-US" altLang="zh-CN" dirty="0">
                <a:solidFill>
                  <a:schemeClr val="bg1"/>
                </a:solidFill>
              </a:rPr>
              <a:t>Key=Value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) </a:t>
            </a:r>
          </a:p>
        </p:txBody>
      </p:sp>
      <p:sp>
        <p:nvSpPr>
          <p:cNvPr id="8" name="矩形 7"/>
          <p:cNvSpPr/>
          <p:nvPr/>
        </p:nvSpPr>
        <p:spPr>
          <a:xfrm>
            <a:off x="1367940" y="801958"/>
            <a:ext cx="2267955" cy="341632"/>
          </a:xfrm>
          <a:prstGeom prst="rect">
            <a:avLst/>
          </a:prstGeom>
          <a:solidFill>
            <a:srgbClr val="00206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隶书" panose="02010509060101010101" charset="-122"/>
                <a:ea typeface="隶书" panose="02010509060101010101" charset="-122"/>
              </a:rPr>
              <a:t>plot3(</a:t>
            </a:r>
            <a:r>
              <a:rPr lang="en-US" altLang="zh-CN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隶书" panose="02010509060101010101" charset="-122"/>
                <a:ea typeface="隶书" panose="02010509060101010101" charset="-122"/>
              </a:rPr>
              <a:t>x,y,z,fmt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隶书" panose="02010509060101010101" charset="-122"/>
                <a:ea typeface="隶书" panose="02010509060101010101" charset="-122"/>
              </a:rPr>
              <a:t>)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347864" y="771550"/>
            <a:ext cx="288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FF00"/>
                </a:solidFill>
                <a:highlight>
                  <a:srgbClr val="003B76"/>
                </a:highlight>
                <a:latin typeface="隶书" panose="02010509060101010101" charset="-122"/>
                <a:ea typeface="隶书" panose="02010509060101010101" charset="-122"/>
              </a:rPr>
              <a:t>或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295164" y="801957"/>
            <a:ext cx="1108484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三维曲线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1"/>
          <p:cNvSpPr txBox="1"/>
          <p:nvPr/>
        </p:nvSpPr>
        <p:spPr>
          <a:xfrm>
            <a:off x="457200" y="4770846"/>
            <a:ext cx="2133600" cy="357188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25E81C68-AD67-4B59-A707-20F6CB98CF04}" type="datetime1">
              <a:rPr lang="zh-CN" altLang="en-US" smtClean="0"/>
              <a:t>2025/3/25</a:t>
            </a:fld>
            <a:endParaRPr lang="zh-CN" alt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21567" y="2114099"/>
            <a:ext cx="8767565" cy="231564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5pPr>
            <a:lvl6pPr marL="25146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6pPr>
            <a:lvl7pPr marL="29718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7pPr>
            <a:lvl8pPr marL="34290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8pPr>
            <a:lvl9pPr marL="38862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9pPr>
          </a:lstStyle>
          <a:p>
            <a:pPr marL="0" indent="0">
              <a:buNone/>
            </a:pP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t = 0:pi/50:40*pi; #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冒号法获得线性等分向量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x</a:t>
            </a:r>
          </a:p>
          <a:p>
            <a:pPr marL="0" indent="0">
              <a:buNone/>
            </a:pP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x</a:t>
            </a:r>
            <a:r>
              <a:rPr lang="en-US" altLang="zh-CN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(t)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=(3+cos(sqrt(32)*t))*cos(t); #x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关于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t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函数</a:t>
            </a:r>
          </a:p>
          <a:p>
            <a:pPr marL="0" indent="0">
              <a:buNone/>
            </a:pP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y</a:t>
            </a:r>
            <a:r>
              <a:rPr lang="en-US" altLang="zh-CN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(t)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=sin(sqrt(32)*t);</a:t>
            </a:r>
          </a:p>
          <a:p>
            <a:pPr marL="0" indent="0">
              <a:buNone/>
            </a:pP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z</a:t>
            </a:r>
            <a:r>
              <a:rPr lang="en-US" altLang="zh-CN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(t)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=(3+cos(sqrt(32)* t))* sin(t);</a:t>
            </a:r>
          </a:p>
          <a:p>
            <a:pPr marL="0" indent="0">
              <a:buNone/>
            </a:pP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plot3(x</a:t>
            </a:r>
            <a:r>
              <a:rPr lang="en-US" altLang="zh-CN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(t), y</a:t>
            </a:r>
            <a:r>
              <a:rPr lang="en-US" altLang="zh-CN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.(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t), z</a:t>
            </a:r>
            <a:r>
              <a:rPr lang="en-US" altLang="zh-CN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.(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t)) #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函数点运算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1135799" y="991666"/>
                <a:ext cx="3912475" cy="10349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defTabSz="0">
                  <a:lnSpc>
                    <a:spcPct val="80000"/>
                  </a:lnSpc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0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0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nor/>
                                </m:rPr>
                                <a:rPr lang="en-US" altLang="zh-CN" sz="2000" dirty="0">
                                  <a:solidFill>
                                    <a:srgbClr val="00206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dirty="0">
                                  <a:solidFill>
                                    <a:srgbClr val="00206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=(3+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dirty="0">
                                  <a:solidFill>
                                    <a:srgbClr val="00206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cos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dirty="0">
                                  <a:solidFill>
                                    <a:srgbClr val="00206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altLang="zh-CN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zh-CN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32</m:t>
                                  </m:r>
                                </m:e>
                              </m:rad>
                              <m:r>
                                <m:rPr>
                                  <m:nor/>
                                </m:rPr>
                                <a:rPr lang="en-US" altLang="zh-CN" sz="2000" i="1" dirty="0">
                                  <a:solidFill>
                                    <a:srgbClr val="00206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dirty="0">
                                  <a:solidFill>
                                    <a:srgbClr val="00206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dirty="0">
                                  <a:solidFill>
                                    <a:srgbClr val="00206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cos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dirty="0">
                                  <a:solidFill>
                                    <a:srgbClr val="00206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i="1" dirty="0">
                                  <a:solidFill>
                                    <a:srgbClr val="00206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dirty="0">
                                  <a:solidFill>
                                    <a:srgbClr val="00206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))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2000" dirty="0">
                                  <a:solidFill>
                                    <a:srgbClr val="00206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y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dirty="0">
                                  <a:solidFill>
                                    <a:srgbClr val="00206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dirty="0">
                                  <a:solidFill>
                                    <a:srgbClr val="00206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sin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dirty="0">
                                  <a:solidFill>
                                    <a:srgbClr val="00206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zh-CN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32</m:t>
                                  </m:r>
                                </m:e>
                              </m:rad>
                              <m:r>
                                <m:rPr>
                                  <m:nor/>
                                </m:rPr>
                                <a:rPr lang="en-US" altLang="zh-CN" sz="2000" i="1" dirty="0">
                                  <a:solidFill>
                                    <a:srgbClr val="00206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dirty="0">
                                  <a:solidFill>
                                    <a:srgbClr val="00206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) 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2000" dirty="0">
                                  <a:solidFill>
                                    <a:srgbClr val="00206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dirty="0">
                                  <a:solidFill>
                                    <a:srgbClr val="00206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=(3+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dirty="0">
                                  <a:solidFill>
                                    <a:srgbClr val="00206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cos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dirty="0">
                                  <a:solidFill>
                                    <a:srgbClr val="00206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altLang="zh-CN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zh-CN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32</m:t>
                                  </m:r>
                                </m:e>
                              </m:rad>
                              <m:r>
                                <m:rPr>
                                  <m:nor/>
                                </m:rPr>
                                <a:rPr lang="en-US" altLang="zh-CN" sz="2000" i="1" dirty="0">
                                  <a:solidFill>
                                    <a:srgbClr val="00206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dirty="0">
                                  <a:solidFill>
                                    <a:srgbClr val="00206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dirty="0">
                                  <a:solidFill>
                                    <a:srgbClr val="00206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sin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dirty="0">
                                  <a:solidFill>
                                    <a:srgbClr val="00206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i="1" dirty="0">
                                  <a:solidFill>
                                    <a:srgbClr val="00206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dirty="0">
                                  <a:solidFill>
                                    <a:srgbClr val="00206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))</m:t>
                              </m:r>
                              <m:r>
                                <m:rPr>
                                  <m:nor/>
                                </m:rPr>
                                <a:rPr lang="zh-CN" altLang="en-US" sz="2000" b="1" dirty="0">
                                  <a:solidFill>
                                    <a:srgbClr val="00B0F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  <a:sym typeface="Arial" panose="020B0604020202020204" pitchFamily="34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20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799" y="991666"/>
                <a:ext cx="3912475" cy="1034963"/>
              </a:xfrm>
              <a:prstGeom prst="rect">
                <a:avLst/>
              </a:prstGeom>
              <a:blipFill rotWithShape="1">
                <a:blip r:embed="rId3"/>
                <a:stretch>
                  <a:fillRect l="-11" t="-6729" r="1" b="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195741" y="817857"/>
            <a:ext cx="213909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kern="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  <a:cs typeface="Times New Roman" panose="02020603050405020304" pitchFamily="18" charset="0"/>
              </a:rPr>
              <a:t>参数方程</a:t>
            </a:r>
          </a:p>
        </p:txBody>
      </p:sp>
      <p:sp>
        <p:nvSpPr>
          <p:cNvPr id="8" name="波形 7"/>
          <p:cNvSpPr/>
          <p:nvPr/>
        </p:nvSpPr>
        <p:spPr>
          <a:xfrm>
            <a:off x="248882" y="395248"/>
            <a:ext cx="323936" cy="523220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例1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7"/>
              <p:cNvSpPr txBox="1">
                <a:spLocks noChangeArrowheads="1"/>
              </p:cNvSpPr>
              <p:nvPr/>
            </p:nvSpPr>
            <p:spPr bwMode="auto">
              <a:xfrm>
                <a:off x="-153267" y="1366239"/>
                <a:ext cx="2257198" cy="40011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 algn="ctr" eaLnBrk="1" latinLnBrk="0" hangingPunct="1"/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40</m:t>
                    </m:r>
                    <m:r>
                      <a:rPr lang="zh-CN" alt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t&gt;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endParaRPr lang="en-US" altLang="zh-CN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-153267" y="1366239"/>
                <a:ext cx="2257198" cy="400110"/>
              </a:xfrm>
              <a:prstGeom prst="rect">
                <a:avLst/>
              </a:prstGeom>
              <a:blipFill rotWithShape="1">
                <a:blip r:embed="rId4"/>
                <a:stretch>
                  <a:fillRect l="10" t="-88" r="8" b="103"/>
                </a:stretch>
              </a:blipFill>
              <a:ln w="9525">
                <a:noFill/>
                <a:miter lim="8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5"/>
          <a:srcRect l="10747" t="12961" r="12705" b="5360"/>
          <a:stretch>
            <a:fillRect/>
          </a:stretch>
        </p:blipFill>
        <p:spPr>
          <a:xfrm>
            <a:off x="7082195" y="675689"/>
            <a:ext cx="1785107" cy="1428573"/>
          </a:xfrm>
          <a:prstGeom prst="rect">
            <a:avLst/>
          </a:prstGeom>
        </p:spPr>
      </p:pic>
      <p:sp>
        <p:nvSpPr>
          <p:cNvPr id="11" name="AutoShape 13"/>
          <p:cNvSpPr>
            <a:spLocks noChangeArrowheads="1"/>
          </p:cNvSpPr>
          <p:nvPr/>
        </p:nvSpPr>
        <p:spPr bwMode="auto">
          <a:xfrm>
            <a:off x="4283968" y="3944243"/>
            <a:ext cx="5173828" cy="530932"/>
          </a:xfrm>
          <a:prstGeom prst="irregularSeal2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2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数组可视化定是点运算</a:t>
            </a:r>
            <a:endParaRPr lang="en-US" altLang="zh-CN" sz="20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1259632" y="104122"/>
            <a:ext cx="6840761" cy="51402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just" eaLnBrk="1" hangingPunct="1"/>
            <a:endParaRPr lang="en-US" altLang="zh-CN" sz="28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  <a:p>
            <a:pPr algn="l" eaLnBrk="1" hangingPunct="1"/>
            <a: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28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3.5.1 </a:t>
            </a:r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plot3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绘制</a:t>
            </a:r>
            <a:r>
              <a:rPr lang="zh-CN" altLang="en-US" sz="28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三维曲线</a:t>
            </a:r>
            <a:r>
              <a:rPr lang="en-US" altLang="zh-CN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——plot3</a:t>
            </a:r>
            <a:r>
              <a:rPr lang="zh-CN" altLang="en-US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的示例</a:t>
            </a:r>
            <a:b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</a:br>
            <a:endParaRPr lang="zh-CN" altLang="en-US" sz="28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6"/>
          <a:srcRect l="7080" t="23809" r="29205" b="9447"/>
          <a:stretch>
            <a:fillRect/>
          </a:stretch>
        </p:blipFill>
        <p:spPr>
          <a:xfrm>
            <a:off x="7047766" y="2068671"/>
            <a:ext cx="1656184" cy="1673484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4797197" y="1434013"/>
            <a:ext cx="23822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axis("equal")#等刻度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425137" y="808757"/>
            <a:ext cx="3451126" cy="1015663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2700000" scaled="1"/>
            <a:tileRect/>
          </a:gra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haroni" panose="020B0604020202020204" pitchFamily="2" charset="-79"/>
                <a:sym typeface="Arial" panose="020B0604020202020204" pitchFamily="34" charset="0"/>
              </a:rPr>
              <a:t>meshgrid2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命令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将网格上节点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x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和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y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坐标全部提取形成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x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和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y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网格坐标矩阵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6901527" y="1797814"/>
            <a:ext cx="820420" cy="2381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scene3d>
            <a:camera prst="orthographicFront">
              <a:rot lat="0" lon="5400000" rev="0"/>
            </a:camera>
            <a:lightRig rig="threePt" dir="t"/>
          </a:scene3d>
        </p:spPr>
      </p:cxnSp>
      <p:sp>
        <p:nvSpPr>
          <p:cNvPr id="6" name="矩形 5"/>
          <p:cNvSpPr/>
          <p:nvPr/>
        </p:nvSpPr>
        <p:spPr>
          <a:xfrm>
            <a:off x="234649" y="815418"/>
            <a:ext cx="403193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0">
              <a:spcBef>
                <a:spcPct val="20000"/>
              </a:spcBef>
            </a:pPr>
            <a:r>
              <a:rPr lang="zh-CN" altLang="en-US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三维网格绘图步骤</a:t>
            </a:r>
            <a:endParaRPr lang="zh-CN" altLang="en-US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11345" y="2088130"/>
            <a:ext cx="761747" cy="646331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marL="571500" indent="-571500" defTabSz="0">
              <a:spcBef>
                <a:spcPct val="20000"/>
              </a:spcBef>
              <a:buFont typeface="+mj-lt"/>
              <a:buAutoNum type="romanUcPeriod"/>
            </a:pPr>
            <a:endParaRPr lang="zh-CN" altLang="en-US" sz="3600" b="1" dirty="0">
              <a:solidFill>
                <a:srgbClr val="FF0000"/>
              </a:solidFill>
              <a:latin typeface="Aharoni" panose="020B0604020202020204" pitchFamily="2" charset="-79"/>
              <a:ea typeface="隶书" panose="02010509060101010101" charset="-122"/>
              <a:cs typeface="Aharoni" panose="020B0604020202020204" pitchFamily="2" charset="-79"/>
              <a:sym typeface="Arial" panose="020B060402020202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/>
          <a:srcRect l="36368" t="26356" r="17935" b="16755"/>
          <a:stretch>
            <a:fillRect/>
          </a:stretch>
        </p:blipFill>
        <p:spPr>
          <a:xfrm>
            <a:off x="5417008" y="1797815"/>
            <a:ext cx="3451126" cy="2423146"/>
          </a:xfrm>
          <a:prstGeom prst="rect">
            <a:avLst/>
          </a:prstGeom>
        </p:spPr>
      </p:pic>
      <p:cxnSp>
        <p:nvCxnSpPr>
          <p:cNvPr id="9" name="直接连接符 8"/>
          <p:cNvCxnSpPr/>
          <p:nvPr/>
        </p:nvCxnSpPr>
        <p:spPr>
          <a:xfrm flipH="1">
            <a:off x="6908166" y="3600175"/>
            <a:ext cx="1711837" cy="45348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H="1">
            <a:off x="6557817" y="3447762"/>
            <a:ext cx="1807310" cy="44537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H="1">
            <a:off x="6218017" y="3198053"/>
            <a:ext cx="1728910" cy="50652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5906869" y="3215527"/>
            <a:ext cx="1295363" cy="36404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H="1">
            <a:off x="5563496" y="3147814"/>
            <a:ext cx="1070597" cy="29020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H="1" flipV="1">
            <a:off x="7501703" y="3369008"/>
            <a:ext cx="756084" cy="34561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H="1" flipV="1">
            <a:off x="6446182" y="3209572"/>
            <a:ext cx="1362800" cy="61469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H="1" flipV="1">
            <a:off x="5952693" y="3337471"/>
            <a:ext cx="1362800" cy="61469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H="1" flipV="1">
            <a:off x="5533553" y="3445809"/>
            <a:ext cx="1362800" cy="61469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H="1" flipV="1">
            <a:off x="7808982" y="3147814"/>
            <a:ext cx="906494" cy="44208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33"/>
          <p:cNvSpPr txBox="1"/>
          <p:nvPr/>
        </p:nvSpPr>
        <p:spPr>
          <a:xfrm>
            <a:off x="5450440" y="3200065"/>
            <a:ext cx="325393" cy="400110"/>
          </a:xfrm>
          <a:prstGeom prst="rect">
            <a:avLst/>
          </a:prstGeom>
          <a:solidFill>
            <a:srgbClr val="FFFF00"/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prst="angle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dirty="0">
                <a:sym typeface="Arial" panose="020B0604020202020204" pitchFamily="34" charset="0"/>
              </a:rPr>
              <a:t>y</a:t>
            </a:r>
          </a:p>
        </p:txBody>
      </p:sp>
      <p:sp>
        <p:nvSpPr>
          <p:cNvPr id="20" name="矩形 19"/>
          <p:cNvSpPr/>
          <p:nvPr/>
        </p:nvSpPr>
        <p:spPr>
          <a:xfrm>
            <a:off x="275866" y="1198595"/>
            <a:ext cx="4999508" cy="30223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 defTabSz="0">
              <a:spcBef>
                <a:spcPct val="20000"/>
              </a:spcBef>
              <a:buFont typeface="+mj-lt"/>
              <a:buAutoNum type="romanUcPeriod"/>
            </a:pPr>
            <a:r>
              <a:rPr lang="en-US" altLang="zh-CN" sz="2800" b="1" dirty="0">
                <a:solidFill>
                  <a:srgbClr val="00B0F0"/>
                </a:solidFill>
                <a:latin typeface="+mn-lt"/>
                <a:ea typeface="+mn-ea"/>
                <a:sym typeface="Arial" panose="020B0604020202020204" pitchFamily="34" charset="0"/>
              </a:rPr>
              <a:t>meshgrid2</a:t>
            </a:r>
            <a:r>
              <a:rPr lang="zh-CN" altLang="en-US" sz="2400" kern="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  <a:sym typeface="Arial" panose="020B0604020202020204" pitchFamily="34" charset="0"/>
              </a:rPr>
              <a:t>命令分别生成</a:t>
            </a:r>
            <a:r>
              <a:rPr lang="en-US" altLang="zh-CN" sz="2400" kern="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  <a:sym typeface="Arial" panose="020B0604020202020204" pitchFamily="34" charset="0"/>
              </a:rPr>
              <a:t>x</a:t>
            </a:r>
            <a:r>
              <a:rPr lang="zh-CN" altLang="en-US" sz="2400" kern="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  <a:sym typeface="Arial" panose="020B0604020202020204" pitchFamily="34" charset="0"/>
              </a:rPr>
              <a:t>和</a:t>
            </a:r>
            <a:r>
              <a:rPr lang="en-US" altLang="zh-CN" sz="2400" kern="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  <a:sym typeface="Arial" panose="020B0604020202020204" pitchFamily="34" charset="0"/>
              </a:rPr>
              <a:t>y</a:t>
            </a:r>
            <a:r>
              <a:rPr lang="zh-CN" altLang="en-US" sz="2400" kern="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  <a:sym typeface="Arial" panose="020B0604020202020204" pitchFamily="34" charset="0"/>
              </a:rPr>
              <a:t>的网格矩阵；</a:t>
            </a:r>
            <a:endParaRPr lang="en-US" altLang="zh-CN" sz="2400" kern="0" dirty="0">
              <a:solidFill>
                <a:srgbClr val="002060"/>
              </a:solidFill>
              <a:latin typeface="隶书" panose="02010509060101010101" charset="-122"/>
              <a:ea typeface="隶书" panose="02010509060101010101" charset="-122"/>
              <a:sym typeface="Arial" panose="020B0604020202020204" pitchFamily="34" charset="0"/>
            </a:endParaRPr>
          </a:p>
          <a:p>
            <a:pPr marL="571500" indent="-571500" defTabSz="0">
              <a:spcBef>
                <a:spcPct val="20000"/>
              </a:spcBef>
              <a:buFont typeface="+mj-lt"/>
              <a:buAutoNum type="romanUcPeriod"/>
            </a:pPr>
            <a:r>
              <a:rPr lang="zh-CN" altLang="en-US" sz="2400" kern="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  <a:sym typeface="Arial" panose="020B0604020202020204" pitchFamily="34" charset="0"/>
              </a:rPr>
              <a:t>将网格矩阵</a:t>
            </a:r>
            <a:r>
              <a:rPr lang="en-US" altLang="zh-CN" sz="2400" kern="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  <a:sym typeface="Arial" panose="020B0604020202020204" pitchFamily="34" charset="0"/>
              </a:rPr>
              <a:t>x</a:t>
            </a:r>
            <a:r>
              <a:rPr lang="zh-CN" altLang="en-US" sz="2400" kern="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  <a:sym typeface="Arial" panose="020B0604020202020204" pitchFamily="34" charset="0"/>
              </a:rPr>
              <a:t>和</a:t>
            </a:r>
            <a:r>
              <a:rPr lang="en-US" altLang="zh-CN" sz="2400" kern="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  <a:sym typeface="Arial" panose="020B0604020202020204" pitchFamily="34" charset="0"/>
              </a:rPr>
              <a:t>y</a:t>
            </a:r>
            <a:r>
              <a:rPr lang="zh-CN" altLang="en-US" sz="2400" kern="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  <a:sym typeface="Arial" panose="020B0604020202020204" pitchFamily="34" charset="0"/>
              </a:rPr>
              <a:t>带入到函数关系式</a:t>
            </a:r>
            <a:r>
              <a:rPr lang="en-US" altLang="zh-CN" sz="2400" kern="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z=f(</a:t>
            </a:r>
            <a:r>
              <a:rPr lang="en-US" altLang="zh-CN" sz="2400" kern="0" dirty="0" err="1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x,y</a:t>
            </a:r>
            <a:r>
              <a:rPr lang="en-US" altLang="zh-CN" sz="2400" kern="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)</a:t>
            </a:r>
            <a:r>
              <a:rPr lang="zh-CN" altLang="en-US" sz="2400" kern="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，采用</a:t>
            </a:r>
            <a:r>
              <a:rPr lang="zh-CN" altLang="en-US" sz="2800" b="1" dirty="0">
                <a:solidFill>
                  <a:srgbClr val="00B0F0"/>
                </a:solidFill>
                <a:latin typeface="隶书" panose="02010509060101010101" charset="-122"/>
                <a:ea typeface="隶书" panose="02010509060101010101" charset="-122"/>
              </a:rPr>
              <a:t>点运算</a:t>
            </a:r>
            <a:r>
              <a:rPr lang="zh-CN" altLang="en-US" sz="2400" kern="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得到</a:t>
            </a:r>
            <a:r>
              <a:rPr lang="zh-CN" altLang="en-US" sz="2400" b="1" dirty="0">
                <a:solidFill>
                  <a:srgbClr val="FF0000"/>
                </a:solidFill>
                <a:latin typeface="隶书" panose="02010509060101010101" charset="-122"/>
                <a:ea typeface="隶书" panose="02010509060101010101" charset="-122"/>
                <a:cs typeface="Aharoni" panose="020B0604020202020204" pitchFamily="2" charset="-79"/>
              </a:rPr>
              <a:t>高度网格矩阵</a:t>
            </a:r>
            <a:r>
              <a:rPr lang="en-US" altLang="zh-CN" sz="2400" b="1" dirty="0">
                <a:solidFill>
                  <a:srgbClr val="FF0000"/>
                </a:solidFill>
                <a:latin typeface="隶书" panose="02010509060101010101" charset="-122"/>
                <a:ea typeface="隶书" panose="02010509060101010101" charset="-122"/>
                <a:cs typeface="Aharoni" panose="020B0604020202020204" pitchFamily="2" charset="-79"/>
              </a:rPr>
              <a:t>z</a:t>
            </a:r>
            <a:r>
              <a:rPr lang="zh-CN" altLang="en-US" sz="2400" kern="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；</a:t>
            </a:r>
            <a:endParaRPr lang="en-US" altLang="zh-CN" sz="2400" kern="0" dirty="0">
              <a:solidFill>
                <a:srgbClr val="002060"/>
              </a:solidFill>
              <a:latin typeface="隶书" panose="02010509060101010101" charset="-122"/>
              <a:ea typeface="隶书" panose="02010509060101010101" charset="-122"/>
            </a:endParaRPr>
          </a:p>
          <a:p>
            <a:pPr marL="571500" indent="-571500" defTabSz="0">
              <a:spcBef>
                <a:spcPct val="20000"/>
              </a:spcBef>
              <a:buFont typeface="+mj-lt"/>
              <a:buAutoNum type="romanUcPeriod"/>
            </a:pPr>
            <a:r>
              <a:rPr lang="zh-CN" altLang="en-US" sz="2400" kern="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采用网格命令</a:t>
            </a:r>
            <a:r>
              <a:rPr lang="en-US" altLang="zh-CN" sz="2800" b="1" dirty="0">
                <a:solidFill>
                  <a:srgbClr val="00B0F0"/>
                </a:solidFill>
                <a:latin typeface="+mn-lt"/>
                <a:ea typeface="+mn-ea"/>
              </a:rPr>
              <a:t>mesh</a:t>
            </a:r>
            <a:r>
              <a:rPr lang="zh-CN" altLang="en-US" sz="2400" kern="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将高度网格矩阵</a:t>
            </a:r>
            <a:r>
              <a:rPr lang="en-US" altLang="zh-CN" sz="2400" kern="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z</a:t>
            </a:r>
            <a:r>
              <a:rPr lang="zh-CN" altLang="en-US" sz="2400" kern="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连接成网格。</a:t>
            </a:r>
            <a:endParaRPr lang="zh-CN" altLang="en-US" sz="2400" kern="0" dirty="0">
              <a:solidFill>
                <a:srgbClr val="002060"/>
              </a:solidFill>
              <a:latin typeface="隶书" panose="02010509060101010101" charset="-122"/>
              <a:ea typeface="隶书" panose="02010509060101010101" charset="-122"/>
              <a:sym typeface="Arial" panose="020B0604020202020204" pitchFamily="34" charset="0"/>
            </a:endParaRPr>
          </a:p>
        </p:txBody>
      </p:sp>
      <p:sp>
        <p:nvSpPr>
          <p:cNvPr id="21" name="文本框 33"/>
          <p:cNvSpPr txBox="1"/>
          <p:nvPr/>
        </p:nvSpPr>
        <p:spPr>
          <a:xfrm>
            <a:off x="8495079" y="3506140"/>
            <a:ext cx="325393" cy="400110"/>
          </a:xfrm>
          <a:prstGeom prst="rect">
            <a:avLst/>
          </a:prstGeom>
          <a:solidFill>
            <a:srgbClr val="FFFF00"/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prst="angle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dirty="0">
                <a:sym typeface="Arial" panose="020B0604020202020204" pitchFamily="34" charset="0"/>
              </a:rPr>
              <a:t>x</a:t>
            </a:r>
          </a:p>
        </p:txBody>
      </p:sp>
      <p:sp>
        <p:nvSpPr>
          <p:cNvPr id="22" name="Rectangle 2"/>
          <p:cNvSpPr txBox="1">
            <a:spLocks noChangeArrowheads="1"/>
          </p:cNvSpPr>
          <p:nvPr/>
        </p:nvSpPr>
        <p:spPr bwMode="auto">
          <a:xfrm>
            <a:off x="680843" y="119365"/>
            <a:ext cx="8447165" cy="51402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just" eaLnBrk="1" hangingPunct="1"/>
            <a:endParaRPr lang="en-US" altLang="zh-CN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  <a:p>
            <a:pPr algn="l" eaLnBrk="1" hangingPunct="1"/>
            <a:r>
              <a:rPr lang="en-US" altLang="zh-CN" sz="3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3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3.5.2 </a:t>
            </a:r>
            <a:r>
              <a:rPr lang="zh-CN" altLang="en-US" sz="3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三维网格图</a:t>
            </a:r>
            <a:r>
              <a:rPr lang="en-US" altLang="zh-CN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三维网格绘图步骤</a:t>
            </a:r>
            <a:r>
              <a:rPr lang="en-US" altLang="zh-CN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br>
              <a:rPr lang="en-US" altLang="zh-CN" sz="3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</a:br>
            <a:endParaRPr lang="zh-CN" altLang="en-US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9273326-9D7A-4F7C-A72F-B503DD9BCF52}"/>
              </a:ext>
            </a:extLst>
          </p:cNvPr>
          <p:cNvSpPr/>
          <p:nvPr/>
        </p:nvSpPr>
        <p:spPr>
          <a:xfrm>
            <a:off x="275866" y="4326399"/>
            <a:ext cx="86886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dist" defTabSz="0">
              <a:spcBef>
                <a:spcPct val="20000"/>
              </a:spcBef>
            </a:pPr>
            <a:r>
              <a:rPr lang="zh-CN" altLang="en-US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绘制网格图、曲面图和等高线图通常要先生成</a:t>
            </a:r>
            <a:r>
              <a:rPr lang="en-US" altLang="zh-CN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z</a:t>
            </a:r>
            <a:r>
              <a:rPr lang="zh-CN" altLang="en-US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网格矩阵</a:t>
            </a:r>
            <a:endParaRPr lang="zh-CN" altLang="en-US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163365" y="3940105"/>
            <a:ext cx="2922817" cy="67980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haroni" panose="020B0604020202020204" pitchFamily="2" charset="-79"/>
              </a:rPr>
              <a:t>mesh</a:t>
            </a:r>
            <a:r>
              <a:rPr lang="zh-CN" altLang="en-US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命令将</a:t>
            </a:r>
            <a:r>
              <a:rPr lang="zh-CN" altLang="en-US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网格节点上的高度网格矩阵</a:t>
            </a:r>
            <a:r>
              <a:rPr lang="en-US" altLang="zh-CN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z</a:t>
            </a:r>
            <a:r>
              <a:rPr lang="zh-CN" altLang="en-US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连接而成</a:t>
            </a:r>
            <a:r>
              <a:rPr lang="zh-CN" altLang="en-US" sz="1600" dirty="0">
                <a:solidFill>
                  <a:schemeClr val="bg1"/>
                </a:solidFill>
                <a:highlight>
                  <a:srgbClr val="21A4FF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网格图</a:t>
            </a:r>
            <a:endParaRPr lang="zh-CN" altLang="en-US" sz="1600" dirty="0">
              <a:solidFill>
                <a:schemeClr val="bg1"/>
              </a:solidFill>
              <a:highlight>
                <a:srgbClr val="21A4FF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1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03222" y="1716565"/>
            <a:ext cx="2308938" cy="106918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pic>
        <p:nvPicPr>
          <p:cNvPr id="6" name="图片 1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57732" y="2935694"/>
            <a:ext cx="1873885" cy="101238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pic>
        <p:nvPicPr>
          <p:cNvPr id="7" name="图片 1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633235" y="3369737"/>
            <a:ext cx="2342640" cy="126557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93149" y="3575724"/>
            <a:ext cx="3451126" cy="1015663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2700000" scaled="1"/>
            <a:tileRect/>
          </a:gra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Arial Black" panose="020B0A04020102020204" pitchFamily="34" charset="0"/>
                <a:ea typeface="华文楷体" panose="02010600040101010101" pitchFamily="2" charset="-122"/>
                <a:cs typeface="Aharoni" panose="020B0604020202020204" pitchFamily="2" charset="-79"/>
                <a:sym typeface="Arial" panose="020B0604020202020204" pitchFamily="34" charset="0"/>
              </a:rPr>
              <a:t>meshgrid2</a:t>
            </a:r>
            <a:r>
              <a:rPr lang="zh-CN" altLang="en-US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haroni" panose="020B0604020202020204" pitchFamily="2" charset="-79"/>
                <a:sym typeface="Arial" panose="020B0604020202020204" pitchFamily="34" charset="0"/>
              </a:rPr>
              <a:t>命令将网格上节点</a:t>
            </a:r>
            <a:r>
              <a:rPr lang="en-US" altLang="zh-CN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haroni" panose="020B0604020202020204" pitchFamily="2" charset="-79"/>
                <a:sym typeface="Arial" panose="020B0604020202020204" pitchFamily="34" charset="0"/>
              </a:rPr>
              <a:t>x</a:t>
            </a:r>
            <a:r>
              <a:rPr lang="zh-CN" altLang="en-US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haroni" panose="020B0604020202020204" pitchFamily="2" charset="-79"/>
                <a:sym typeface="Arial" panose="020B0604020202020204" pitchFamily="34" charset="0"/>
              </a:rPr>
              <a:t>和</a:t>
            </a:r>
            <a:r>
              <a:rPr lang="en-US" altLang="zh-CN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haroni" panose="020B0604020202020204" pitchFamily="2" charset="-79"/>
                <a:sym typeface="Arial" panose="020B0604020202020204" pitchFamily="34" charset="0"/>
              </a:rPr>
              <a:t>y</a:t>
            </a:r>
            <a:r>
              <a:rPr lang="zh-CN" altLang="en-US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haroni" panose="020B0604020202020204" pitchFamily="2" charset="-79"/>
                <a:sym typeface="Arial" panose="020B0604020202020204" pitchFamily="34" charset="0"/>
              </a:rPr>
              <a:t>坐标全部提取形成</a:t>
            </a:r>
            <a:r>
              <a:rPr lang="en-US" altLang="zh-CN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haroni" panose="020B0604020202020204" pitchFamily="2" charset="-79"/>
                <a:sym typeface="Arial" panose="020B0604020202020204" pitchFamily="34" charset="0"/>
              </a:rPr>
              <a:t>x</a:t>
            </a:r>
            <a:r>
              <a:rPr lang="zh-CN" altLang="en-US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haroni" panose="020B0604020202020204" pitchFamily="2" charset="-79"/>
                <a:sym typeface="Arial" panose="020B0604020202020204" pitchFamily="34" charset="0"/>
              </a:rPr>
              <a:t>和</a:t>
            </a:r>
            <a:r>
              <a:rPr lang="en-US" altLang="zh-CN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haroni" panose="020B0604020202020204" pitchFamily="2" charset="-79"/>
                <a:sym typeface="Arial" panose="020B0604020202020204" pitchFamily="34" charset="0"/>
              </a:rPr>
              <a:t>y</a:t>
            </a:r>
            <a:r>
              <a:rPr lang="zh-CN" altLang="en-US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haroni" panose="020B0604020202020204" pitchFamily="2" charset="-79"/>
                <a:sym typeface="Arial" panose="020B0604020202020204" pitchFamily="34" charset="0"/>
              </a:rPr>
              <a:t>网格坐标矩阵</a:t>
            </a:r>
          </a:p>
        </p:txBody>
      </p:sp>
      <p:sp>
        <p:nvSpPr>
          <p:cNvPr id="9" name="圆角矩形 7"/>
          <p:cNvSpPr/>
          <p:nvPr/>
        </p:nvSpPr>
        <p:spPr bwMode="auto">
          <a:xfrm>
            <a:off x="4206363" y="1700883"/>
            <a:ext cx="1733789" cy="987837"/>
          </a:xfrm>
          <a:prstGeom prst="round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圆角矩形 16"/>
          <p:cNvSpPr/>
          <p:nvPr/>
        </p:nvSpPr>
        <p:spPr bwMode="auto">
          <a:xfrm>
            <a:off x="4261421" y="3332132"/>
            <a:ext cx="1584152" cy="1265578"/>
          </a:xfrm>
          <a:prstGeom prst="round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244271" y="1284517"/>
            <a:ext cx="1572866" cy="338554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1600" b="1" dirty="0">
                <a:solidFill>
                  <a:srgbClr val="FFFF00"/>
                </a:solidFill>
                <a:highlight>
                  <a:srgbClr val="003B76"/>
                </a:highlight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X</a:t>
            </a:r>
            <a:r>
              <a:rPr lang="zh-CN" altLang="en-US" sz="1600" b="1" kern="0" dirty="0">
                <a:solidFill>
                  <a:srgbClr val="FFFF00"/>
                </a:solidFill>
                <a:highlight>
                  <a:srgbClr val="003B76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网格坐标</a:t>
            </a:r>
            <a:r>
              <a:rPr lang="zh-CN" altLang="en-US" sz="1600" b="1" dirty="0">
                <a:solidFill>
                  <a:srgbClr val="FFFF00"/>
                </a:solidFill>
                <a:highlight>
                  <a:srgbClr val="003B76"/>
                </a:highlight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矩阵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249488" y="2941029"/>
            <a:ext cx="1572866" cy="338554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zh-CN"/>
            </a:defPPr>
            <a:lvl1pPr>
              <a:defRPr sz="1600" b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1pPr>
          </a:lstStyle>
          <a:p>
            <a:r>
              <a:rPr lang="en-US" altLang="zh-CN" dirty="0">
                <a:highlight>
                  <a:srgbClr val="003B76"/>
                </a:highlight>
                <a:sym typeface="Arial" panose="020B0604020202020204" pitchFamily="34" charset="0"/>
              </a:rPr>
              <a:t>Y</a:t>
            </a:r>
            <a:r>
              <a:rPr lang="zh-CN" altLang="en-US" dirty="0">
                <a:highlight>
                  <a:srgbClr val="003B76"/>
                </a:highlight>
                <a:sym typeface="Arial" panose="020B0604020202020204" pitchFamily="34" charset="0"/>
              </a:rPr>
              <a:t>网格</a:t>
            </a:r>
            <a:r>
              <a:rPr lang="zh-CN" altLang="en-US" kern="0" dirty="0">
                <a:highlight>
                  <a:srgbClr val="003B76"/>
                </a:highlight>
                <a:cs typeface="Times New Roman" panose="02020603050405020304" pitchFamily="18" charset="0"/>
                <a:sym typeface="Arial" panose="020B0604020202020204" pitchFamily="34" charset="0"/>
              </a:rPr>
              <a:t>坐标</a:t>
            </a:r>
            <a:r>
              <a:rPr lang="zh-CN" altLang="en-US" dirty="0">
                <a:highlight>
                  <a:srgbClr val="003B76"/>
                </a:highlight>
                <a:sym typeface="Arial" panose="020B0604020202020204" pitchFamily="34" charset="0"/>
              </a:rPr>
              <a:t>矩阵</a:t>
            </a:r>
          </a:p>
        </p:txBody>
      </p:sp>
      <p:cxnSp>
        <p:nvCxnSpPr>
          <p:cNvPr id="13" name="直接连接符 12"/>
          <p:cNvCxnSpPr/>
          <p:nvPr/>
        </p:nvCxnSpPr>
        <p:spPr>
          <a:xfrm>
            <a:off x="6883400" y="447514"/>
            <a:ext cx="820420" cy="2381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scene3d>
            <a:camera prst="orthographicFront">
              <a:rot lat="0" lon="5400000" rev="0"/>
            </a:camera>
            <a:lightRig rig="threePt" dir="t"/>
          </a:scene3d>
        </p:spPr>
      </p:cxnSp>
      <p:sp>
        <p:nvSpPr>
          <p:cNvPr id="14" name="矩形 13"/>
          <p:cNvSpPr/>
          <p:nvPr/>
        </p:nvSpPr>
        <p:spPr>
          <a:xfrm>
            <a:off x="6095090" y="915207"/>
            <a:ext cx="2878802" cy="6032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zh-CN" altLang="en-US" sz="13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得到网格上全部</a:t>
            </a:r>
            <a:r>
              <a:rPr lang="en-US" altLang="zh-CN" sz="13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z</a:t>
            </a:r>
            <a:r>
              <a:rPr lang="zh-CN" altLang="en-US" sz="13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值，带入</a:t>
            </a:r>
            <a:r>
              <a:rPr lang="en-US" altLang="zh-CN" sz="13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z=f(</a:t>
            </a:r>
            <a:r>
              <a:rPr lang="en-US" altLang="zh-CN" sz="1300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x,y</a:t>
            </a:r>
            <a:r>
              <a:rPr lang="en-US" altLang="zh-CN" sz="13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lang="zh-CN" altLang="en-US" sz="13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函数表达式应该</a:t>
            </a:r>
            <a:r>
              <a:rPr lang="zh-CN" altLang="en-US" sz="13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网格坐标矩阵</a:t>
            </a:r>
            <a:r>
              <a:rPr lang="en-US" altLang="zh-CN" sz="13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X</a:t>
            </a:r>
            <a:r>
              <a:rPr lang="zh-CN" altLang="en-US" sz="13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和</a:t>
            </a:r>
            <a:r>
              <a:rPr lang="en-US" altLang="zh-CN" sz="13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Y</a:t>
            </a:r>
            <a:endParaRPr lang="zh-CN" altLang="en-US" sz="13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658623" y="1950443"/>
            <a:ext cx="550151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t">
            <a:spAutoFit/>
          </a:bodyPr>
          <a:lstStyle/>
          <a:p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Arial" panose="020B0604020202020204" pitchFamily="34" charset="0"/>
              </a:rPr>
              <a:t>Xi,j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2" charset="-122"/>
              <a:sym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265828" y="3254902"/>
            <a:ext cx="537327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t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Arial" panose="020B0604020202020204" pitchFamily="34" charset="0"/>
              </a:rPr>
              <a:t>Zi,j</a:t>
            </a:r>
          </a:p>
        </p:txBody>
      </p:sp>
      <p:sp>
        <p:nvSpPr>
          <p:cNvPr id="18" name="矩形 17"/>
          <p:cNvSpPr/>
          <p:nvPr/>
        </p:nvSpPr>
        <p:spPr>
          <a:xfrm>
            <a:off x="93149" y="705127"/>
            <a:ext cx="3394840" cy="430887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lvl="0" defTabSz="0">
              <a:spcBef>
                <a:spcPct val="20000"/>
              </a:spcBef>
            </a:pPr>
            <a:r>
              <a:rPr lang="zh-CN" altLang="en-US" sz="22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网格坐标矩阵</a:t>
            </a:r>
            <a:r>
              <a:rPr lang="en-US" altLang="zh-CN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haroni" panose="020B0604020202020204" pitchFamily="2" charset="-79"/>
                <a:sym typeface="Arial" panose="020B0604020202020204" pitchFamily="34" charset="0"/>
              </a:rPr>
              <a:t>meshgrid2</a:t>
            </a:r>
            <a:endParaRPr lang="zh-CN" altLang="en-US" sz="2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haroni" panose="020B0604020202020204" pitchFamily="2" charset="-79"/>
              <a:sym typeface="Arial" panose="020B0604020202020204" pitchFamily="34" charset="0"/>
            </a:endParaRPr>
          </a:p>
        </p:txBody>
      </p:sp>
      <p:sp>
        <p:nvSpPr>
          <p:cNvPr id="19" name="文本框 33"/>
          <p:cNvSpPr txBox="1"/>
          <p:nvPr/>
        </p:nvSpPr>
        <p:spPr>
          <a:xfrm>
            <a:off x="3563051" y="637772"/>
            <a:ext cx="5580949" cy="338554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1600" b="1" dirty="0" err="1">
                <a:solidFill>
                  <a:srgbClr val="00B0F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Arial" panose="020B0604020202020204" pitchFamily="34" charset="0"/>
              </a:rPr>
              <a:t>Xi,j</a:t>
            </a:r>
            <a:r>
              <a:rPr lang="zh-CN" altLang="en-US" sz="1600" b="1" dirty="0">
                <a:solidFill>
                  <a:srgbClr val="00B0F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Arial" panose="020B0604020202020204" pitchFamily="34" charset="0"/>
              </a:rPr>
              <a:t>和</a:t>
            </a:r>
            <a:r>
              <a:rPr lang="en-US" altLang="zh-CN" sz="1600" b="1" dirty="0" err="1">
                <a:solidFill>
                  <a:srgbClr val="00B0F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Arial" panose="020B0604020202020204" pitchFamily="34" charset="0"/>
              </a:rPr>
              <a:t>Yi,j</a:t>
            </a:r>
            <a:r>
              <a:rPr lang="zh-CN" altLang="en-US" sz="1600" dirty="0">
                <a:solidFill>
                  <a:srgbClr val="00B0F0"/>
                </a:solidFill>
                <a:latin typeface="+mn-lt"/>
                <a:cs typeface="Times New Roman" panose="02020603050405020304" pitchFamily="18" charset="0"/>
                <a:sym typeface="Arial" panose="020B0604020202020204" pitchFamily="34" charset="0"/>
              </a:rPr>
              <a:t>带入函数表达式</a:t>
            </a:r>
            <a:r>
              <a:rPr lang="en-US" altLang="zh-CN" sz="1600" b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  <a:sym typeface="Arial" panose="020B0604020202020204" pitchFamily="34" charset="0"/>
              </a:rPr>
              <a:t>Z</a:t>
            </a:r>
            <a:r>
              <a:rPr lang="en-US" altLang="zh-CN" sz="1600" b="1" baseline="-250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  <a:sym typeface="Arial" panose="020B0604020202020204" pitchFamily="34" charset="0"/>
              </a:rPr>
              <a:t>(</a:t>
            </a:r>
            <a:r>
              <a:rPr lang="en-US" altLang="zh-CN" sz="1600" b="1" baseline="-25000" dirty="0" err="1">
                <a:solidFill>
                  <a:srgbClr val="FF0000"/>
                </a:solidFill>
                <a:latin typeface="+mn-lt"/>
                <a:cs typeface="Times New Roman" panose="02020603050405020304" pitchFamily="18" charset="0"/>
                <a:sym typeface="Arial" panose="020B0604020202020204" pitchFamily="34" charset="0"/>
              </a:rPr>
              <a:t>i,j</a:t>
            </a:r>
            <a:r>
              <a:rPr lang="en-US" altLang="zh-CN" sz="1600" b="1" baseline="-250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  <a:sym typeface="Arial" panose="020B0604020202020204" pitchFamily="34" charset="0"/>
              </a:rPr>
              <a:t>) </a:t>
            </a:r>
            <a:r>
              <a:rPr lang="en-US" altLang="zh-CN" sz="1600" b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  <a:sym typeface="Arial" panose="020B0604020202020204" pitchFamily="34" charset="0"/>
              </a:rPr>
              <a:t>=f(x</a:t>
            </a:r>
            <a:r>
              <a:rPr lang="en-US" altLang="zh-CN" sz="1600" b="1" baseline="-250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  <a:sym typeface="Arial" panose="020B0604020202020204" pitchFamily="34" charset="0"/>
              </a:rPr>
              <a:t>(</a:t>
            </a:r>
            <a:r>
              <a:rPr lang="en-US" altLang="zh-CN" sz="1600" b="1" baseline="-25000" dirty="0" err="1">
                <a:solidFill>
                  <a:srgbClr val="FF0000"/>
                </a:solidFill>
                <a:latin typeface="+mn-lt"/>
                <a:cs typeface="Times New Roman" panose="02020603050405020304" pitchFamily="18" charset="0"/>
                <a:sym typeface="Arial" panose="020B0604020202020204" pitchFamily="34" charset="0"/>
              </a:rPr>
              <a:t>i,j</a:t>
            </a:r>
            <a:r>
              <a:rPr lang="en-US" altLang="zh-CN" sz="1600" b="1" baseline="-250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  <a:sym typeface="Arial" panose="020B0604020202020204" pitchFamily="34" charset="0"/>
              </a:rPr>
              <a:t>),</a:t>
            </a:r>
            <a:r>
              <a:rPr lang="en-US" altLang="zh-CN" sz="1600" b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  <a:sym typeface="Arial" panose="020B0604020202020204" pitchFamily="34" charset="0"/>
              </a:rPr>
              <a:t>y</a:t>
            </a:r>
            <a:r>
              <a:rPr lang="en-US" altLang="zh-CN" sz="1600" b="1" baseline="-250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  <a:sym typeface="Arial" panose="020B0604020202020204" pitchFamily="34" charset="0"/>
              </a:rPr>
              <a:t>(</a:t>
            </a:r>
            <a:r>
              <a:rPr lang="en-US" altLang="zh-CN" sz="1600" b="1" baseline="-25000" dirty="0" err="1">
                <a:solidFill>
                  <a:srgbClr val="FF0000"/>
                </a:solidFill>
                <a:latin typeface="+mn-lt"/>
                <a:cs typeface="Times New Roman" panose="02020603050405020304" pitchFamily="18" charset="0"/>
                <a:sym typeface="Arial" panose="020B0604020202020204" pitchFamily="34" charset="0"/>
              </a:rPr>
              <a:t>i,j</a:t>
            </a:r>
            <a:r>
              <a:rPr lang="en-US" altLang="zh-CN" sz="1600" b="1" baseline="-250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  <a:sym typeface="Arial" panose="020B0604020202020204" pitchFamily="34" charset="0"/>
              </a:rPr>
              <a:t>)</a:t>
            </a:r>
            <a:r>
              <a:rPr lang="en-US" altLang="zh-CN" sz="1600" b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  <a:sym typeface="Arial" panose="020B0604020202020204" pitchFamily="34" charset="0"/>
              </a:rPr>
              <a:t>)</a:t>
            </a:r>
            <a:r>
              <a:rPr lang="zh-CN" altLang="en-US" sz="1600" dirty="0">
                <a:solidFill>
                  <a:srgbClr val="00B0F0"/>
                </a:solidFill>
                <a:latin typeface="+mn-lt"/>
                <a:cs typeface="Times New Roman" panose="02020603050405020304" pitchFamily="18" charset="0"/>
                <a:sym typeface="Arial" panose="020B0604020202020204" pitchFamily="34" charset="0"/>
              </a:rPr>
              <a:t>得到</a:t>
            </a:r>
            <a:r>
              <a:rPr lang="zh-CN" altLang="en-US" sz="1600" b="1" dirty="0">
                <a:solidFill>
                  <a:srgbClr val="00B0F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Arial" panose="020B0604020202020204" pitchFamily="34" charset="0"/>
              </a:rPr>
              <a:t>第</a:t>
            </a:r>
            <a:r>
              <a:rPr lang="en-US" altLang="zh-CN" sz="1600" b="1" dirty="0" err="1">
                <a:solidFill>
                  <a:srgbClr val="00B0F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Arial" panose="020B0604020202020204" pitchFamily="34" charset="0"/>
              </a:rPr>
              <a:t>i</a:t>
            </a:r>
            <a:r>
              <a:rPr lang="en-US" altLang="zh-CN" sz="1600" b="1" dirty="0">
                <a:solidFill>
                  <a:srgbClr val="00B0F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Arial" panose="020B0604020202020204" pitchFamily="34" charset="0"/>
              </a:rPr>
              <a:t>, j</a:t>
            </a:r>
            <a:r>
              <a:rPr lang="zh-CN" altLang="en-US" sz="1600" b="1" dirty="0">
                <a:solidFill>
                  <a:srgbClr val="00B0F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Arial" panose="020B0604020202020204" pitchFamily="34" charset="0"/>
              </a:rPr>
              <a:t>节点</a:t>
            </a:r>
            <a:r>
              <a:rPr lang="en-US" altLang="zh-CN" sz="1600" dirty="0">
                <a:solidFill>
                  <a:srgbClr val="00B0F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Z</a:t>
            </a:r>
            <a:r>
              <a:rPr lang="en-US" altLang="zh-CN" sz="1600" baseline="-25000" dirty="0">
                <a:solidFill>
                  <a:srgbClr val="00B0F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(</a:t>
            </a:r>
            <a:r>
              <a:rPr lang="en-US" altLang="zh-CN" sz="1600" baseline="-25000" dirty="0" err="1">
                <a:solidFill>
                  <a:srgbClr val="00B0F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i,j</a:t>
            </a:r>
            <a:r>
              <a:rPr lang="en-US" altLang="zh-CN" sz="1600" baseline="-25000" dirty="0">
                <a:solidFill>
                  <a:srgbClr val="00B0F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)</a:t>
            </a:r>
            <a:endParaRPr lang="en-US" altLang="zh-CN" sz="1600" dirty="0">
              <a:solidFill>
                <a:srgbClr val="00B0F0"/>
              </a:solidFill>
              <a:latin typeface="+mn-lt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0" name="文本框 32"/>
          <p:cNvSpPr txBox="1"/>
          <p:nvPr/>
        </p:nvSpPr>
        <p:spPr>
          <a:xfrm>
            <a:off x="4736629" y="3629390"/>
            <a:ext cx="550151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t">
            <a:spAutoFit/>
          </a:bodyPr>
          <a:lstStyle/>
          <a:p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Arial" panose="020B0604020202020204" pitchFamily="34" charset="0"/>
              </a:rPr>
              <a:t>Yi,j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 rotWithShape="1">
          <a:blip r:embed="rId5"/>
          <a:srcRect l="36368" t="26356" r="17935" b="16755"/>
          <a:stretch>
            <a:fillRect/>
          </a:stretch>
        </p:blipFill>
        <p:spPr>
          <a:xfrm>
            <a:off x="86243" y="1171362"/>
            <a:ext cx="3451126" cy="2416674"/>
          </a:xfrm>
          <a:prstGeom prst="rect">
            <a:avLst/>
          </a:prstGeom>
        </p:spPr>
      </p:pic>
      <p:cxnSp>
        <p:nvCxnSpPr>
          <p:cNvPr id="22" name="直接连接符 21"/>
          <p:cNvCxnSpPr/>
          <p:nvPr/>
        </p:nvCxnSpPr>
        <p:spPr>
          <a:xfrm flipH="1">
            <a:off x="1609508" y="2977068"/>
            <a:ext cx="1807310" cy="44537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H="1">
            <a:off x="1259159" y="2816553"/>
            <a:ext cx="1807310" cy="44537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H="1">
            <a:off x="908359" y="2672361"/>
            <a:ext cx="1807310" cy="44537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H="1">
            <a:off x="599246" y="2611213"/>
            <a:ext cx="1295363" cy="36404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 flipH="1">
            <a:off x="264838" y="2537043"/>
            <a:ext cx="1110572" cy="26976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 flipH="1" flipV="1">
            <a:off x="2203045" y="2764694"/>
            <a:ext cx="756084" cy="34561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H="1" flipV="1">
            <a:off x="1147524" y="2578363"/>
            <a:ext cx="1362800" cy="61469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H="1" flipV="1">
            <a:off x="654035" y="2706262"/>
            <a:ext cx="1362800" cy="61469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flipH="1" flipV="1">
            <a:off x="250450" y="2816553"/>
            <a:ext cx="1365175" cy="61274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 flipH="1" flipV="1">
            <a:off x="2386900" y="2534811"/>
            <a:ext cx="1029918" cy="42387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3"/>
          <p:cNvSpPr txBox="1"/>
          <p:nvPr/>
        </p:nvSpPr>
        <p:spPr>
          <a:xfrm>
            <a:off x="3379673" y="2886480"/>
            <a:ext cx="325393" cy="400110"/>
          </a:xfrm>
          <a:prstGeom prst="rect">
            <a:avLst/>
          </a:prstGeom>
          <a:solidFill>
            <a:srgbClr val="FFFF00"/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dirty="0">
                <a:solidFill>
                  <a:srgbClr val="FFFF00"/>
                </a:solidFill>
                <a:highlight>
                  <a:srgbClr val="FF0000"/>
                </a:highlight>
                <a:sym typeface="Arial" panose="020B0604020202020204" pitchFamily="34" charset="0"/>
              </a:rPr>
              <a:t>x</a:t>
            </a:r>
          </a:p>
        </p:txBody>
      </p:sp>
      <p:sp>
        <p:nvSpPr>
          <p:cNvPr id="33" name="文本框 33"/>
          <p:cNvSpPr txBox="1"/>
          <p:nvPr/>
        </p:nvSpPr>
        <p:spPr>
          <a:xfrm>
            <a:off x="-508" y="2354890"/>
            <a:ext cx="325393" cy="400110"/>
          </a:xfrm>
          <a:prstGeom prst="rect">
            <a:avLst/>
          </a:prstGeom>
          <a:solidFill>
            <a:srgbClr val="FFFF00"/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dirty="0">
                <a:solidFill>
                  <a:srgbClr val="FFFF00"/>
                </a:solidFill>
                <a:highlight>
                  <a:srgbClr val="FF0000"/>
                </a:highlight>
                <a:sym typeface="Arial" panose="020B0604020202020204" pitchFamily="34" charset="0"/>
              </a:rPr>
              <a:t>y</a:t>
            </a:r>
          </a:p>
        </p:txBody>
      </p:sp>
      <p:sp>
        <p:nvSpPr>
          <p:cNvPr id="34" name="右大括号 33"/>
          <p:cNvSpPr/>
          <p:nvPr/>
        </p:nvSpPr>
        <p:spPr>
          <a:xfrm>
            <a:off x="5840202" y="1011804"/>
            <a:ext cx="496626" cy="3587126"/>
          </a:xfrm>
          <a:prstGeom prst="rightBrace">
            <a:avLst/>
          </a:prstGeom>
          <a:ln>
            <a:solidFill>
              <a:srgbClr val="0070C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6480797" y="2371198"/>
            <a:ext cx="23060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highlight>
                  <a:srgbClr val="FF0000"/>
                </a:highlight>
                <a:latin typeface="隶书" panose="02010509060101010101" charset="-122"/>
                <a:ea typeface="隶书" panose="02010509060101010101" charset="-122"/>
                <a:sym typeface="+mn-ea"/>
              </a:rPr>
              <a:t>通过点运算计算出</a:t>
            </a:r>
            <a:endParaRPr lang="zh-CN" altLang="en-US" sz="1600" b="1" dirty="0">
              <a:solidFill>
                <a:schemeClr val="bg1"/>
              </a:solidFill>
              <a:highlight>
                <a:srgbClr val="FF0000"/>
              </a:highlight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362159" y="2677532"/>
            <a:ext cx="1251110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Arial" panose="020B0604020202020204" pitchFamily="34" charset="0"/>
              </a:rPr>
              <a:t>第</a:t>
            </a:r>
            <a:r>
              <a:rPr lang="en-US" altLang="zh-CN" b="1" dirty="0" err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Arial" panose="020B0604020202020204" pitchFamily="34" charset="0"/>
              </a:rPr>
              <a:t>i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Arial" panose="020B0604020202020204" pitchFamily="34" charset="0"/>
              </a:rPr>
              <a:t>, j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Arial" panose="020B0604020202020204" pitchFamily="34" charset="0"/>
              </a:rPr>
              <a:t>节点</a:t>
            </a:r>
            <a:endParaRPr lang="en-US" altLang="zh-CN" b="1" dirty="0">
              <a:solidFill>
                <a:srgbClr val="FFFF00"/>
              </a:solidFill>
              <a:latin typeface="Times New Roman" panose="02020603050405020304" pitchFamily="18" charset="0"/>
              <a:ea typeface="黑体" panose="02010609060101010101" pitchFamily="2" charset="-122"/>
              <a:sym typeface="Arial" panose="020B0604020202020204" pitchFamily="34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6780600" y="2583936"/>
            <a:ext cx="16850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隶书" panose="02010509060101010101" charset="-122"/>
                <a:ea typeface="隶书" panose="02010509060101010101" charset="-122"/>
                <a:sym typeface="Arial" panose="020B0604020202020204" pitchFamily="34" charset="0"/>
              </a:rPr>
              <a:t>高度网格矩阵</a:t>
            </a:r>
            <a:r>
              <a:rPr lang="en-US" altLang="zh-CN" dirty="0">
                <a:solidFill>
                  <a:srgbClr val="FF0000"/>
                </a:solidFill>
                <a:latin typeface="隶书" panose="02010509060101010101" charset="-122"/>
                <a:ea typeface="隶书" panose="02010509060101010101" charset="-122"/>
                <a:sym typeface="Arial" panose="020B0604020202020204" pitchFamily="34" charset="0"/>
              </a:rPr>
              <a:t>z</a:t>
            </a:r>
            <a:endParaRPr lang="zh-CN" altLang="en-US" sz="12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7983" y="1571812"/>
            <a:ext cx="2980636" cy="367394"/>
          </a:xfrm>
          <a:prstGeom prst="rect">
            <a:avLst/>
          </a:prstGeom>
        </p:spPr>
      </p:pic>
      <p:sp>
        <p:nvSpPr>
          <p:cNvPr id="39" name="Rectangle 2"/>
          <p:cNvSpPr txBox="1">
            <a:spLocks noChangeArrowheads="1"/>
          </p:cNvSpPr>
          <p:nvPr/>
        </p:nvSpPr>
        <p:spPr bwMode="auto">
          <a:xfrm>
            <a:off x="1201069" y="59546"/>
            <a:ext cx="5963219" cy="51402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just" eaLnBrk="1" hangingPunct="1"/>
            <a:endParaRPr lang="en-US" altLang="zh-CN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  <a:p>
            <a:pPr algn="l" eaLnBrk="1" hangingPunct="1"/>
            <a: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28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3.5.2 </a:t>
            </a:r>
            <a:r>
              <a:rPr lang="zh-CN" altLang="en-US" sz="28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三维网格图</a:t>
            </a:r>
            <a:r>
              <a:rPr lang="en-US" altLang="zh-CN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三维绘图原理</a:t>
            </a:r>
            <a:br>
              <a:rPr lang="en-US" altLang="zh-CN" sz="3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</a:br>
            <a:endParaRPr lang="zh-CN" altLang="en-US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3563051" y="899386"/>
            <a:ext cx="25773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大小相同的网格矩阵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6117983" y="1730441"/>
            <a:ext cx="3059833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sz="13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3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相同大小网格矩阵</a:t>
            </a:r>
            <a:r>
              <a:rPr lang="en-US" altLang="zh-CN" sz="13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3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3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13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对应</a:t>
            </a:r>
            <a:r>
              <a:rPr lang="en-US" altLang="ko-KR" sz="1300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</a:t>
            </a:r>
            <a:r>
              <a:rPr lang="zh-CN" altLang="en-US" sz="13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之间进行相同运算，即对两矩阵逐元素点运算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443927" y="1516076"/>
            <a:ext cx="2372356" cy="400110"/>
          </a:xfrm>
          <a:prstGeom prst="rect">
            <a:avLst/>
          </a:prstGeom>
          <a:solidFill>
            <a:srgbClr val="0070C0"/>
          </a:solidFill>
          <a:ln w="3810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X,Y=meshgrid2(</a:t>
            </a:r>
            <a:r>
              <a:rPr lang="en-US" altLang="zh-CN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x,y</a:t>
            </a:r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)</a:t>
            </a:r>
          </a:p>
        </p:txBody>
      </p:sp>
      <p:sp>
        <p:nvSpPr>
          <p:cNvPr id="5" name="矩形 2"/>
          <p:cNvSpPr>
            <a:spLocks noChangeArrowheads="1"/>
          </p:cNvSpPr>
          <p:nvPr/>
        </p:nvSpPr>
        <p:spPr bwMode="auto">
          <a:xfrm>
            <a:off x="645880" y="2064622"/>
            <a:ext cx="6379175" cy="104817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x, y </a:t>
            </a:r>
            <a:r>
              <a: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是给定向量 </a:t>
            </a:r>
          </a:p>
          <a:p>
            <a:pPr marL="342900" indent="-342900" eaLnBrk="0" hangingPunct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X, Y </a:t>
            </a:r>
            <a:r>
              <a: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是网格划分后得到网格矩阵</a:t>
            </a:r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2196826" y="3332510"/>
            <a:ext cx="2256800" cy="431066"/>
          </a:xfrm>
          <a:prstGeom prst="roundRect">
            <a:avLst>
              <a:gd name="adj" fmla="val 12449"/>
            </a:avLst>
          </a:prstGeom>
          <a:solidFill>
            <a:srgbClr val="0070C0"/>
          </a:solidFill>
          <a:ln w="3810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X,Y= meshgrid2(x)</a:t>
            </a:r>
          </a:p>
        </p:txBody>
      </p:sp>
      <p:sp>
        <p:nvSpPr>
          <p:cNvPr id="7" name="矩形 6"/>
          <p:cNvSpPr/>
          <p:nvPr/>
        </p:nvSpPr>
        <p:spPr>
          <a:xfrm>
            <a:off x="645880" y="3308143"/>
            <a:ext cx="2052228" cy="49795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x=y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时：</a:t>
            </a:r>
          </a:p>
        </p:txBody>
      </p:sp>
      <p:sp>
        <p:nvSpPr>
          <p:cNvPr id="8" name="矩形 7"/>
          <p:cNvSpPr/>
          <p:nvPr/>
        </p:nvSpPr>
        <p:spPr>
          <a:xfrm>
            <a:off x="596716" y="1399052"/>
            <a:ext cx="2232248" cy="56560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调用格式：</a:t>
            </a:r>
          </a:p>
        </p:txBody>
      </p:sp>
      <p:sp>
        <p:nvSpPr>
          <p:cNvPr id="9" name="矩形 8"/>
          <p:cNvSpPr/>
          <p:nvPr/>
        </p:nvSpPr>
        <p:spPr>
          <a:xfrm>
            <a:off x="5652120" y="3370128"/>
            <a:ext cx="2052228" cy="42575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zh-CN" altLang="en-US" sz="2400" dirty="0">
                <a:solidFill>
                  <a:schemeClr val="bg1"/>
                </a:solidFill>
                <a:highlight>
                  <a:srgbClr val="21A4FF"/>
                </a:highlight>
                <a:latin typeface="隶书" panose="02010509060101010101" charset="-122"/>
                <a:ea typeface="隶书" panose="02010509060101010101" charset="-122"/>
                <a:sym typeface="Arial" panose="020B0604020202020204" pitchFamily="34" charset="0"/>
              </a:rPr>
              <a:t>生成网格方阵</a:t>
            </a:r>
            <a:endParaRPr lang="zh-CN" altLang="en-US" sz="2400" dirty="0">
              <a:solidFill>
                <a:schemeClr val="bg1"/>
              </a:solidFill>
              <a:highlight>
                <a:srgbClr val="21A4FF"/>
              </a:highlight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431540" y="81836"/>
            <a:ext cx="8712460" cy="51402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just" eaLnBrk="1" hangingPunct="1"/>
            <a:endParaRPr lang="en-US" altLang="zh-CN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  <a:p>
            <a:pPr algn="l" eaLnBrk="1" hangingPunct="1"/>
            <a:r>
              <a:rPr lang="en-US" altLang="zh-CN" sz="3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3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3.5.2 </a:t>
            </a:r>
            <a:r>
              <a:rPr lang="zh-CN" altLang="en-US" sz="3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三维网格图</a:t>
            </a:r>
            <a:r>
              <a:rPr lang="en-US" altLang="zh-CN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网格矩阵</a:t>
            </a:r>
            <a:r>
              <a:rPr lang="en-US" altLang="zh-CN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meshgrid2</a:t>
            </a:r>
            <a:br>
              <a:rPr lang="en-US" altLang="zh-CN" sz="3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</a:br>
            <a:endParaRPr lang="zh-CN" altLang="en-US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</p:txBody>
      </p:sp>
      <p:sp>
        <p:nvSpPr>
          <p:cNvPr id="12" name="AutoShape 13"/>
          <p:cNvSpPr>
            <a:spLocks noChangeArrowheads="1"/>
          </p:cNvSpPr>
          <p:nvPr/>
        </p:nvSpPr>
        <p:spPr bwMode="auto">
          <a:xfrm>
            <a:off x="467545" y="3983292"/>
            <a:ext cx="1728192" cy="578894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b="1" dirty="0">
                <a:solidFill>
                  <a:srgbClr val="FFFF00"/>
                </a:solidFill>
              </a:rPr>
              <a:t>注意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043036" y="1454302"/>
            <a:ext cx="2790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meshgrid2</a:t>
            </a:r>
            <a:r>
              <a:rPr lang="zh-CN" altLang="en-US" sz="180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生成的</a:t>
            </a:r>
            <a:r>
              <a:rPr lang="en-US" altLang="zh-CN" sz="180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X</a:t>
            </a:r>
            <a:r>
              <a:rPr lang="zh-CN" altLang="en-US" sz="180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和</a:t>
            </a:r>
            <a:r>
              <a:rPr lang="en-US" altLang="zh-CN" sz="180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Y</a:t>
            </a:r>
            <a:r>
              <a:rPr lang="zh-CN" altLang="en-US" sz="180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的网格矩阵大小相同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2015716" y="4045066"/>
            <a:ext cx="59766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0" dirty="0">
                <a:solidFill>
                  <a:srgbClr val="FF0000"/>
                </a:solidFill>
                <a:effectLst/>
                <a:latin typeface="Menlo"/>
              </a:rPr>
              <a:t>MATLAB</a:t>
            </a:r>
            <a:r>
              <a:rPr lang="zh-CN" altLang="en-US" sz="2400" b="1" i="0" dirty="0">
                <a:solidFill>
                  <a:srgbClr val="FF0000"/>
                </a:solidFill>
                <a:effectLst/>
                <a:latin typeface="Menlo"/>
              </a:rPr>
              <a:t>命令</a:t>
            </a:r>
            <a:r>
              <a:rPr lang="en-US" altLang="zh-CN" sz="2400" b="1" i="0" dirty="0">
                <a:solidFill>
                  <a:srgbClr val="FF0000"/>
                </a:solidFill>
                <a:effectLst/>
                <a:latin typeface="Menlo"/>
              </a:rPr>
              <a:t>[X,Y]=</a:t>
            </a:r>
            <a:r>
              <a:rPr lang="en-US" altLang="zh-CN" sz="2400" b="1" dirty="0" err="1">
                <a:solidFill>
                  <a:srgbClr val="FF0000"/>
                </a:solidFill>
                <a:latin typeface="Menlo"/>
              </a:rPr>
              <a:t>meshigrid</a:t>
            </a:r>
            <a:r>
              <a:rPr lang="en-US" altLang="zh-CN" sz="2400" b="1" dirty="0">
                <a:solidFill>
                  <a:srgbClr val="FF0000"/>
                </a:solidFill>
                <a:latin typeface="Menlo"/>
              </a:rPr>
              <a:t>(</a:t>
            </a:r>
            <a:r>
              <a:rPr lang="en-US" altLang="zh-CN" sz="2400" b="1" dirty="0" err="1">
                <a:solidFill>
                  <a:srgbClr val="FF0000"/>
                </a:solidFill>
                <a:latin typeface="Menlo"/>
              </a:rPr>
              <a:t>x,y</a:t>
            </a:r>
            <a:r>
              <a:rPr lang="en-US" altLang="zh-CN" sz="2400" b="1" dirty="0">
                <a:solidFill>
                  <a:srgbClr val="FF0000"/>
                </a:solidFill>
                <a:latin typeface="Menlo"/>
              </a:rPr>
              <a:t>)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BBC5158-40A2-46F5-94D9-7701F1D72763}"/>
              </a:ext>
            </a:extLst>
          </p:cNvPr>
          <p:cNvSpPr txBox="1"/>
          <p:nvPr/>
        </p:nvSpPr>
        <p:spPr>
          <a:xfrm>
            <a:off x="630688" y="759928"/>
            <a:ext cx="8488529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 eaLnBrk="0" hangingPunct="0">
              <a:lnSpc>
                <a:spcPct val="150000"/>
              </a:lnSpc>
            </a:pP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m</a:t>
            </a:r>
            <a:r>
              <a:rPr lang="en-US" altLang="zh-CN" sz="1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eshgrid2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创建二维网格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基于向量</a:t>
            </a:r>
            <a:r>
              <a:rPr lang="en-US" altLang="zh-CN" sz="1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x</a:t>
            </a:r>
            <a:r>
              <a:rPr lang="zh-CN" altLang="en-US" sz="1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和</a:t>
            </a:r>
            <a:r>
              <a:rPr lang="en-US" altLang="zh-CN" sz="1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y</a:t>
            </a:r>
            <a:r>
              <a:rPr lang="zh-CN" altLang="en-US" sz="1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坐标得到二维网格矩阵坐标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 animBg="1"/>
      <p:bldP spid="12" grpId="0" animBg="1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206890" y="21121"/>
            <a:ext cx="7704856" cy="51402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just" eaLnBrk="1" hangingPunct="1"/>
            <a:endParaRPr lang="en-US" altLang="zh-CN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  <a:p>
            <a:pPr algn="l" eaLnBrk="1" hangingPunct="1"/>
            <a:r>
              <a:rPr lang="en-US" altLang="zh-CN" sz="3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3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3.5.2 </a:t>
            </a:r>
            <a:r>
              <a:rPr lang="zh-CN" altLang="en-US" sz="3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三维网格图</a:t>
            </a:r>
            <a:r>
              <a:rPr lang="en-US" altLang="zh-CN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——mesh</a:t>
            </a:r>
            <a:r>
              <a:rPr lang="zh-CN" altLang="en-US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绘制网格图</a:t>
            </a:r>
            <a:br>
              <a:rPr lang="en-US" altLang="zh-CN" sz="3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</a:br>
            <a:endParaRPr lang="zh-CN" altLang="en-US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923" y="2830210"/>
            <a:ext cx="2664377" cy="159809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808" y="989483"/>
            <a:ext cx="2906864" cy="1654245"/>
          </a:xfrm>
          <a:prstGeom prst="rect">
            <a:avLst/>
          </a:prstGeom>
        </p:spPr>
      </p:pic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341607" y="1170239"/>
            <a:ext cx="5980523" cy="292240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indent="-252095" eaLnBrk="0" hangingPunct="0">
              <a:lnSpc>
                <a:spcPts val="3800"/>
              </a:lnSpc>
              <a:buFont typeface="Wingdings" panose="05000000000000000000" pitchFamily="2" charset="2"/>
              <a:buChar char="p"/>
              <a:defRPr/>
            </a:pPr>
            <a:r>
              <a:rPr lang="en-US" altLang="zh-CN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X,Y</a:t>
            </a:r>
            <a:r>
              <a:rPr lang="zh-CN" altLang="en-US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是网格坐标矩阵；</a:t>
            </a:r>
            <a:r>
              <a:rPr lang="en-US" altLang="zh-CN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 </a:t>
            </a:r>
            <a:r>
              <a:rPr lang="zh-CN" altLang="en-US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也可是给定向量</a:t>
            </a:r>
            <a:r>
              <a:rPr lang="en-US" altLang="zh-CN" b="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x,y</a:t>
            </a:r>
            <a:r>
              <a:rPr lang="en-US" altLang="zh-CN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 </a:t>
            </a:r>
            <a:endParaRPr lang="en-US" altLang="zh-CN" b="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panose="020B0604020202020204" pitchFamily="34" charset="0"/>
            </a:endParaRPr>
          </a:p>
          <a:p>
            <a:pPr indent="-252095" eaLnBrk="0" hangingPunct="0">
              <a:lnSpc>
                <a:spcPts val="3800"/>
              </a:lnSpc>
              <a:buFont typeface="Wingdings" panose="05000000000000000000" pitchFamily="2" charset="2"/>
              <a:buChar char="p"/>
              <a:defRPr/>
            </a:pPr>
            <a:r>
              <a:rPr lang="en-US" altLang="zh-CN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Z</a:t>
            </a:r>
            <a:r>
              <a:rPr lang="zh-CN" altLang="en-US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是网格节点上高度矩阵；</a:t>
            </a:r>
            <a:endParaRPr lang="en-US" altLang="zh-CN" b="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panose="020B0604020202020204" pitchFamily="34" charset="0"/>
            </a:endParaRPr>
          </a:p>
          <a:p>
            <a:pPr indent="-252095" eaLnBrk="0" hangingPunct="0">
              <a:lnSpc>
                <a:spcPts val="38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句柄</a:t>
            </a:r>
            <a:r>
              <a:rPr lang="en-US" altLang="zh-CN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h</a:t>
            </a:r>
            <a:r>
              <a:rPr lang="zh-CN" altLang="en-US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和坐标区</a:t>
            </a:r>
            <a:r>
              <a:rPr lang="en-US" altLang="zh-CN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ax</a:t>
            </a:r>
            <a:r>
              <a:rPr lang="zh-CN" altLang="en-US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可以省略</a:t>
            </a:r>
            <a:endParaRPr lang="en-US" altLang="zh-CN" b="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panose="020B0604020202020204" pitchFamily="34" charset="0"/>
            </a:endParaRPr>
          </a:p>
          <a:p>
            <a:pPr indent="-252095" eaLnBrk="0" hangingPunct="0">
              <a:lnSpc>
                <a:spcPts val="38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对组参数</a:t>
            </a:r>
            <a:r>
              <a:rPr lang="en-US" altLang="zh-CN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Key-value</a:t>
            </a:r>
            <a:r>
              <a:rPr lang="zh-CN" altLang="en-US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设置属性</a:t>
            </a:r>
            <a:r>
              <a:rPr lang="en-US" altLang="zh-CN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,</a:t>
            </a:r>
            <a:r>
              <a:rPr lang="zh-CN" altLang="en-US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用一个或多个对组参数指定曲面属性</a:t>
            </a:r>
            <a:r>
              <a:rPr lang="zh-CN" altLang="en-US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，</a:t>
            </a:r>
            <a:endParaRPr lang="en-US" altLang="zh-CN" b="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panose="020B0604020202020204" pitchFamily="34" charset="0"/>
            </a:endParaRPr>
          </a:p>
          <a:p>
            <a:pPr eaLnBrk="0" hangingPunct="0">
              <a:lnSpc>
                <a:spcPts val="3200"/>
              </a:lnSpc>
              <a:defRPr/>
            </a:pPr>
            <a:r>
              <a:rPr lang="zh-CN" altLang="en-US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如</a:t>
            </a:r>
            <a:r>
              <a:rPr lang="en-US" altLang="zh-CN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 </a:t>
            </a:r>
            <a:r>
              <a:rPr lang="en-US" altLang="zh-CN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alpha - </a:t>
            </a:r>
            <a:r>
              <a:rPr lang="zh-CN" altLang="en-US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透明度</a:t>
            </a:r>
            <a:endParaRPr lang="en-US" altLang="zh-CN" sz="2000" b="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016300" y="834266"/>
            <a:ext cx="4916000" cy="341632"/>
          </a:xfrm>
          <a:prstGeom prst="rect">
            <a:avLst/>
          </a:prstGeom>
          <a:solidFill>
            <a:srgbClr val="00206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>
              <a:lnSpc>
                <a:spcPct val="90000"/>
              </a:lnSpc>
            </a:pP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句柄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h=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隶书" panose="02010509060101010101" charset="-122"/>
                <a:ea typeface="隶书" panose="02010509060101010101" charset="-122"/>
              </a:rPr>
              <a:t>mesh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(</a:t>
            </a: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坐标区</a:t>
            </a:r>
            <a:r>
              <a:rPr lang="en-US" altLang="zh-CN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ax,</a:t>
            </a:r>
            <a:r>
              <a:rPr lang="en-US" altLang="zh-CN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隶书" panose="02010509060101010101" charset="-122"/>
                <a:ea typeface="隶书" panose="02010509060101010101" charset="-122"/>
              </a:rPr>
              <a:t>X,Y,Z,</a:t>
            </a:r>
            <a:r>
              <a:rPr lang="en-US" altLang="zh-CN" dirty="0" err="1">
                <a:solidFill>
                  <a:schemeClr val="bg1"/>
                </a:solidFill>
              </a:rPr>
              <a:t>Key</a:t>
            </a:r>
            <a:r>
              <a:rPr lang="en-US" altLang="zh-CN" dirty="0">
                <a:solidFill>
                  <a:schemeClr val="bg1"/>
                </a:solidFill>
              </a:rPr>
              <a:t>=Value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) </a:t>
            </a:r>
          </a:p>
        </p:txBody>
      </p:sp>
      <p:sp>
        <p:nvSpPr>
          <p:cNvPr id="12" name="矩形 11"/>
          <p:cNvSpPr/>
          <p:nvPr/>
        </p:nvSpPr>
        <p:spPr>
          <a:xfrm>
            <a:off x="4036664" y="4220558"/>
            <a:ext cx="4988008" cy="313932"/>
          </a:xfrm>
          <a:prstGeom prst="rect">
            <a:avLst/>
          </a:prstGeom>
          <a:solidFill>
            <a:srgbClr val="00206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>
              <a:lnSpc>
                <a:spcPct val="90000"/>
              </a:lnSpc>
            </a:pP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句柄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h=</a:t>
            </a:r>
            <a:r>
              <a:rPr lang="en-US" altLang="zh-CN" sz="1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隶书" panose="02010509060101010101" charset="-122"/>
                <a:ea typeface="隶书" panose="02010509060101010101" charset="-122"/>
              </a:rPr>
              <a:t>meshc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(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坐标区</a:t>
            </a:r>
            <a:r>
              <a:rPr lang="en-US" altLang="zh-CN" sz="1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ax,</a:t>
            </a:r>
            <a:r>
              <a:rPr lang="en-US" altLang="zh-CN" sz="1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隶书" panose="02010509060101010101" charset="-122"/>
                <a:ea typeface="隶书" panose="02010509060101010101" charset="-122"/>
              </a:rPr>
              <a:t>x,y,z,</a:t>
            </a:r>
            <a:r>
              <a:rPr lang="en-US" altLang="zh-CN" sz="1600" dirty="0" err="1">
                <a:solidFill>
                  <a:schemeClr val="bg1"/>
                </a:solidFill>
              </a:rPr>
              <a:t>Key</a:t>
            </a:r>
            <a:r>
              <a:rPr lang="en-US" altLang="zh-CN" sz="1600" dirty="0">
                <a:solidFill>
                  <a:schemeClr val="bg1"/>
                </a:solidFill>
              </a:rPr>
              <a:t>=Value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) 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2643892" y="3636546"/>
            <a:ext cx="40883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介于</a:t>
            </a:r>
            <a:r>
              <a:rPr lang="en-US" altLang="zh-CN" sz="20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【0</a:t>
            </a:r>
            <a:r>
              <a:rPr lang="zh-CN" altLang="en-US" sz="20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en-US" altLang="zh-CN" sz="20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1】</a:t>
            </a:r>
            <a:r>
              <a:rPr lang="zh-CN" altLang="en-US" sz="20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en-US" altLang="zh-CN" sz="20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0</a:t>
            </a:r>
            <a:r>
              <a:rPr lang="zh-CN" altLang="en-US" sz="20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全透明，</a:t>
            </a:r>
            <a:r>
              <a:rPr lang="en-US" altLang="zh-CN" sz="20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20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不透明</a:t>
            </a:r>
            <a:endParaRPr lang="zh-CN" altLang="en-US" sz="2000" dirty="0"/>
          </a:p>
        </p:txBody>
      </p:sp>
      <p:sp>
        <p:nvSpPr>
          <p:cNvPr id="14" name="矩形 13"/>
          <p:cNvSpPr/>
          <p:nvPr/>
        </p:nvSpPr>
        <p:spPr>
          <a:xfrm>
            <a:off x="1978702" y="837549"/>
            <a:ext cx="1369162" cy="341632"/>
          </a:xfrm>
          <a:prstGeom prst="rect">
            <a:avLst/>
          </a:prstGeom>
          <a:solidFill>
            <a:srgbClr val="00206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隶书" panose="02010509060101010101" charset="-122"/>
                <a:ea typeface="隶书" panose="02010509060101010101" charset="-122"/>
              </a:rPr>
              <a:t>mesh(X,Y,Z) 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3437162" y="800907"/>
            <a:ext cx="288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FF00"/>
                </a:solidFill>
                <a:highlight>
                  <a:srgbClr val="003B76"/>
                </a:highlight>
                <a:latin typeface="隶书" panose="02010509060101010101" charset="-122"/>
                <a:ea typeface="隶书" panose="02010509060101010101" charset="-122"/>
              </a:rPr>
              <a:t>或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2125034" y="4206708"/>
            <a:ext cx="1592002" cy="313932"/>
          </a:xfrm>
          <a:prstGeom prst="rect">
            <a:avLst/>
          </a:prstGeom>
          <a:solidFill>
            <a:srgbClr val="00206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>
              <a:lnSpc>
                <a:spcPct val="90000"/>
              </a:lnSpc>
            </a:pPr>
            <a:r>
              <a:rPr lang="en-US" altLang="zh-CN" sz="1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隶书" panose="02010509060101010101" charset="-122"/>
                <a:ea typeface="隶书" panose="02010509060101010101" charset="-122"/>
              </a:rPr>
              <a:t>meshc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隶书" panose="02010509060101010101" charset="-122"/>
                <a:ea typeface="隶书" panose="02010509060101010101" charset="-122"/>
              </a:rPr>
              <a:t>(X,Y,Z) 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341607" y="4192858"/>
            <a:ext cx="1899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带等高线网格图</a:t>
            </a:r>
            <a:endParaRPr lang="zh-CN" altLang="en-US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694545" y="4192858"/>
            <a:ext cx="288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FF00"/>
                </a:solidFill>
                <a:highlight>
                  <a:srgbClr val="003B76"/>
                </a:highlight>
                <a:latin typeface="隶书" panose="02010509060101010101" charset="-122"/>
                <a:ea typeface="隶书" panose="02010509060101010101" charset="-122"/>
              </a:rPr>
              <a:t>或</a:t>
            </a:r>
            <a:endParaRPr lang="zh-CN" alt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405534" y="834266"/>
            <a:ext cx="1899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三维网格图形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7781" y="2155366"/>
            <a:ext cx="1539594" cy="812713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6574007" y="2790972"/>
            <a:ext cx="236092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同一高度封闭三维曲线，也可投影</a:t>
            </a:r>
            <a:r>
              <a:rPr lang="en-US" altLang="zh-CN" sz="1600" dirty="0" err="1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xy</a:t>
            </a:r>
            <a:r>
              <a:rPr lang="zh-CN" altLang="en-US" sz="16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水平面</a:t>
            </a:r>
            <a:r>
              <a:rPr lang="zh-CN" altLang="en-US" sz="16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闭合二维曲线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6" grpId="0" animBg="1"/>
      <p:bldP spid="17" grpId="0"/>
      <p:bldP spid="18" grpId="0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27538" y="1727180"/>
            <a:ext cx="8808958" cy="267765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结果</a:t>
            </a:r>
            <a:r>
              <a:rPr lang="es-ES" altLang="zh-CN" sz="14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x =</a:t>
            </a:r>
          </a:p>
          <a:p>
            <a:r>
              <a:rPr lang="es-ES" altLang="zh-CN" sz="14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   -1.0000   -0.5000         0    0.5000    1.0000</a:t>
            </a:r>
          </a:p>
          <a:p>
            <a:r>
              <a:rPr lang="es-ES" altLang="zh-CN" sz="14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   -1.0000   -0.5000         0    0.5000    1.0000</a:t>
            </a:r>
          </a:p>
          <a:p>
            <a:r>
              <a:rPr lang="es-ES" altLang="zh-CN" sz="14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   -1.0000   -0.5000         0    0.5000    1.0000</a:t>
            </a:r>
          </a:p>
          <a:p>
            <a:r>
              <a:rPr lang="es-ES" altLang="zh-CN" sz="14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   -1.0000   -0.5000         0    0.5000    1.0000</a:t>
            </a:r>
          </a:p>
          <a:p>
            <a:r>
              <a:rPr lang="es-ES" altLang="zh-CN" sz="14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   -1.0000   -0.5000         0    0.5000    1.0000</a:t>
            </a:r>
          </a:p>
          <a:p>
            <a:r>
              <a:rPr lang="es-ES" altLang="zh-CN" sz="14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y =</a:t>
            </a:r>
          </a:p>
          <a:p>
            <a:r>
              <a:rPr lang="es-ES" altLang="zh-CN" sz="14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   -1.0000   -1.0000   -1.0000   -1.0000   -1.0000</a:t>
            </a:r>
          </a:p>
          <a:p>
            <a:r>
              <a:rPr lang="es-ES" altLang="zh-CN" sz="14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   -0.5000   -0.5000   -0.5000   -0.5000   -0.5000</a:t>
            </a:r>
          </a:p>
          <a:p>
            <a:r>
              <a:rPr lang="es-ES" altLang="zh-CN" sz="14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         0         0         0         0         0</a:t>
            </a:r>
          </a:p>
          <a:p>
            <a:r>
              <a:rPr lang="es-ES" altLang="zh-CN" sz="14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    0.5000    0.5000    0.5000    0.5000    0.5000</a:t>
            </a:r>
          </a:p>
          <a:p>
            <a:r>
              <a:rPr lang="es-ES" altLang="zh-CN" sz="14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    1.0000    1.0000    1.0000    1.0000    1.0000</a:t>
            </a:r>
            <a:endParaRPr lang="zh-CN" altLang="en-US" sz="1400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矩形 3"/>
          <p:cNvSpPr>
            <a:spLocks noChangeArrowheads="1"/>
          </p:cNvSpPr>
          <p:nvPr/>
        </p:nvSpPr>
        <p:spPr bwMode="auto">
          <a:xfrm>
            <a:off x="446961" y="1086712"/>
            <a:ext cx="4672354" cy="707886"/>
          </a:xfrm>
          <a:prstGeom prst="rect">
            <a:avLst/>
          </a:prstGeom>
          <a:solidFill>
            <a:schemeClr val="bg1"/>
          </a:solidFill>
          <a:ln w="9525">
            <a:noFill/>
            <a:prstDash val="solid"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B0F0"/>
                </a:solidFill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xx=-1:0.5:1</a:t>
            </a:r>
            <a:r>
              <a:rPr lang="en-US" altLang="zh-CN" sz="2000" kern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#x</a:t>
            </a:r>
            <a:r>
              <a:rPr lang="zh-CN" altLang="en-US" sz="2000" kern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和</a:t>
            </a:r>
            <a:r>
              <a:rPr lang="en-US" altLang="zh-CN" sz="2000" kern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y</a:t>
            </a:r>
            <a:r>
              <a:rPr lang="zh-CN" altLang="en-US" sz="2000" kern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的离散向量</a:t>
            </a:r>
            <a:endParaRPr lang="en-US" altLang="zh-CN" sz="2000" kern="0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0" hangingPunct="0"/>
            <a:r>
              <a:rPr lang="en-US" altLang="zh-CN" sz="2000" b="1" dirty="0" err="1">
                <a:solidFill>
                  <a:srgbClr val="00B0F0"/>
                </a:solidFill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x,y</a:t>
            </a:r>
            <a:r>
              <a:rPr lang="en-US" altLang="zh-CN" sz="2000" b="1" dirty="0">
                <a:solidFill>
                  <a:srgbClr val="00B0F0"/>
                </a:solidFill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=meshgrid2(xx)</a:t>
            </a:r>
            <a:r>
              <a:rPr lang="en-US" altLang="zh-CN" sz="2000" kern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#x</a:t>
            </a:r>
            <a:r>
              <a:rPr lang="zh-CN" altLang="en-US" sz="2000" kern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000" kern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en-US" sz="2000" kern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网格矩阵</a:t>
            </a:r>
            <a:endParaRPr lang="es-ES" altLang="zh-CN" sz="2000" kern="0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波形 5"/>
          <p:cNvSpPr/>
          <p:nvPr/>
        </p:nvSpPr>
        <p:spPr>
          <a:xfrm>
            <a:off x="137866" y="611195"/>
            <a:ext cx="360040" cy="523221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ko-KR" altLang="en-US" sz="20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708004" y="1106736"/>
            <a:ext cx="35308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2400" kern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z=x^2+y^2%</a:t>
            </a:r>
            <a:r>
              <a:rPr lang="zh-CN" altLang="en-US" sz="2400" kern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矩阵运算</a:t>
            </a:r>
            <a:r>
              <a:rPr lang="en-US" altLang="zh-CN" sz="2400" kern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endParaRPr lang="zh-CN" altLang="en-US" sz="2400" kern="0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607074" y="1569753"/>
            <a:ext cx="2952327" cy="1200329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结果</a:t>
            </a:r>
            <a:r>
              <a:rPr lang="pl-PL" altLang="zh-CN" sz="120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z =</a:t>
            </a:r>
          </a:p>
          <a:p>
            <a:r>
              <a:rPr lang="pl-PL" altLang="zh-CN" sz="120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     0     0     0     0     0</a:t>
            </a:r>
          </a:p>
          <a:p>
            <a:r>
              <a:rPr lang="pl-PL" altLang="zh-CN" sz="120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     0     0     0     0     0</a:t>
            </a:r>
          </a:p>
          <a:p>
            <a:r>
              <a:rPr lang="pl-PL" altLang="zh-CN" sz="120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     0     0     0     0     0</a:t>
            </a:r>
          </a:p>
          <a:p>
            <a:r>
              <a:rPr lang="pl-PL" altLang="zh-CN" sz="120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     0     0     0     0     0</a:t>
            </a:r>
          </a:p>
          <a:p>
            <a:r>
              <a:rPr lang="pl-PL" altLang="zh-CN" sz="120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     0     0     0     0     0</a:t>
            </a:r>
            <a:endParaRPr lang="zh-CN" altLang="en-US" sz="12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0233" y="2313959"/>
            <a:ext cx="3442530" cy="2581897"/>
          </a:xfrm>
          <a:prstGeom prst="rect">
            <a:avLst/>
          </a:prstGeom>
        </p:spPr>
      </p:pic>
      <p:sp>
        <p:nvSpPr>
          <p:cNvPr id="10" name="AutoShape 13"/>
          <p:cNvSpPr>
            <a:spLocks noChangeArrowheads="1"/>
          </p:cNvSpPr>
          <p:nvPr/>
        </p:nvSpPr>
        <p:spPr bwMode="auto">
          <a:xfrm>
            <a:off x="8056351" y="3211754"/>
            <a:ext cx="862579" cy="679983"/>
          </a:xfrm>
          <a:prstGeom prst="irregularSeal2">
            <a:avLst/>
          </a:prstGeom>
          <a:solidFill>
            <a:srgbClr val="FF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2000" b="1" dirty="0">
                <a:solidFill>
                  <a:srgbClr val="FFFF00"/>
                </a:solidFill>
                <a:sym typeface="+mn-ea"/>
              </a:rPr>
              <a:t>错</a:t>
            </a:r>
          </a:p>
        </p:txBody>
      </p:sp>
      <p:sp>
        <p:nvSpPr>
          <p:cNvPr id="11" name="矩形 10"/>
          <p:cNvSpPr/>
          <p:nvPr/>
        </p:nvSpPr>
        <p:spPr>
          <a:xfrm>
            <a:off x="6183050" y="2938663"/>
            <a:ext cx="23993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2400" b="1" dirty="0">
                <a:solidFill>
                  <a:srgbClr val="00B0F0"/>
                </a:solidFill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mesh(</a:t>
            </a:r>
            <a:r>
              <a:rPr lang="en-US" altLang="zh-CN" sz="2400" b="1" dirty="0" err="1">
                <a:solidFill>
                  <a:srgbClr val="00B0F0"/>
                </a:solidFill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x,y,z</a:t>
            </a:r>
            <a:r>
              <a:rPr lang="en-US" altLang="zh-CN" sz="2400" b="1" dirty="0">
                <a:solidFill>
                  <a:srgbClr val="00B0F0"/>
                </a:solidFill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)  </a:t>
            </a:r>
            <a:endParaRPr lang="zh-CN" altLang="en-US" sz="2400" dirty="0">
              <a:latin typeface="Times New Roman" panose="02020603050405020304" pitchFamily="18" charset="0"/>
              <a:ea typeface="隶书" panose="02010509060101010101" charset="-122"/>
              <a:cs typeface="Times New Roman" panose="02020603050405020304" pitchFamily="18" charset="0"/>
            </a:endParaRPr>
          </a:p>
        </p:txBody>
      </p:sp>
      <p:sp>
        <p:nvSpPr>
          <p:cNvPr id="12" name="AutoShape 13"/>
          <p:cNvSpPr>
            <a:spLocks noChangeArrowheads="1"/>
          </p:cNvSpPr>
          <p:nvPr/>
        </p:nvSpPr>
        <p:spPr bwMode="auto">
          <a:xfrm>
            <a:off x="5895018" y="3800771"/>
            <a:ext cx="2807745" cy="618379"/>
          </a:xfrm>
          <a:prstGeom prst="irregularSeal2">
            <a:avLst/>
          </a:prstGeom>
          <a:noFill/>
          <a:ln w="57150">
            <a:noFill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绘图矩阵运算错的</a:t>
            </a:r>
            <a:endParaRPr lang="en-US" altLang="zh-C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719572" y="81836"/>
            <a:ext cx="8172908" cy="51402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just" eaLnBrk="1" hangingPunct="1"/>
            <a:endParaRPr lang="en-US" altLang="zh-CN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  <a:p>
            <a:pPr algn="l" eaLnBrk="1" hangingPunct="1"/>
            <a:r>
              <a:rPr lang="en-US" altLang="zh-CN" sz="3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3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3.5.2 </a:t>
            </a:r>
            <a:r>
              <a:rPr lang="zh-CN" altLang="en-US" sz="3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三维网格图</a:t>
            </a:r>
            <a:r>
              <a:rPr lang="en-US" altLang="zh-CN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——mesh</a:t>
            </a:r>
            <a:r>
              <a:rPr lang="zh-CN" altLang="en-US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绘制网格图示例</a:t>
            </a:r>
            <a:br>
              <a:rPr lang="en-US" altLang="zh-CN" sz="3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</a:br>
            <a:endParaRPr lang="zh-CN" altLang="en-US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30763" y="716883"/>
            <a:ext cx="82927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 eaLnBrk="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z=x</a:t>
            </a:r>
            <a:r>
              <a:rPr lang="en-US" altLang="zh-CN" sz="2000" b="1" baseline="30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+y</a:t>
            </a:r>
            <a:r>
              <a:rPr lang="en-US" altLang="zh-CN" sz="2000" b="1" baseline="30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三维杆图、线图和</a:t>
            </a: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网格图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,x</a:t>
            </a: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y</a:t>
            </a: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都在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[-1,1]</a:t>
            </a:r>
            <a:endParaRPr lang="zh-CN" altLang="en-US" sz="20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AutoShape 13"/>
          <p:cNvSpPr>
            <a:spLocks noChangeArrowheads="1"/>
          </p:cNvSpPr>
          <p:nvPr/>
        </p:nvSpPr>
        <p:spPr bwMode="auto">
          <a:xfrm>
            <a:off x="3131840" y="3905437"/>
            <a:ext cx="3297715" cy="643792"/>
          </a:xfrm>
          <a:prstGeom prst="irregularSeal2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200" dirty="0">
                <a:solidFill>
                  <a:srgbClr val="FFFF00"/>
                </a:solidFill>
                <a:latin typeface="隶书" panose="02010509060101010101" charset="-122"/>
                <a:ea typeface="隶书" panose="02010509060101010101" charset="-122"/>
              </a:rPr>
              <a:t>离散绘图，其函数</a:t>
            </a:r>
            <a:endParaRPr lang="en-US" altLang="zh-CN" sz="1200" dirty="0">
              <a:solidFill>
                <a:srgbClr val="FFFF00"/>
              </a:solidFill>
              <a:latin typeface="隶书" panose="02010509060101010101" charset="-122"/>
              <a:ea typeface="隶书" panose="02010509060101010101" charset="-122"/>
            </a:endParaRPr>
          </a:p>
          <a:p>
            <a:r>
              <a:rPr lang="zh-CN" altLang="en-US" sz="1200" dirty="0">
                <a:solidFill>
                  <a:srgbClr val="FFFF00"/>
                </a:solidFill>
                <a:latin typeface="隶书" panose="02010509060101010101" charset="-122"/>
                <a:ea typeface="隶书" panose="02010509060101010101" charset="-122"/>
              </a:rPr>
              <a:t>表达式必须用点运算</a:t>
            </a:r>
            <a:endParaRPr lang="en-US" altLang="zh-CN" sz="1200" dirty="0">
              <a:solidFill>
                <a:srgbClr val="FFFF00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15" name="日期占位符 1"/>
          <p:cNvSpPr txBox="1"/>
          <p:nvPr/>
        </p:nvSpPr>
        <p:spPr>
          <a:xfrm>
            <a:off x="111971" y="4662834"/>
            <a:ext cx="2133600" cy="357188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25E81C68-AD67-4B59-A707-20F6CB98CF04}" type="datetime1">
              <a:rPr lang="zh-CN" altLang="en-US" smtClean="0"/>
              <a:t>2025/3/25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0" y="649266"/>
            <a:ext cx="9099678" cy="4478149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  <a:prstDash val="solid"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x=-</a:t>
            </a:r>
            <a:r>
              <a:rPr lang="en-US" altLang="zh-CN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xx,yy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meshgrid2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(x)</a:t>
            </a:r>
          </a:p>
          <a:p>
            <a:r>
              <a:rPr lang="en-US" altLang="zh-CN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figure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第</a:t>
            </a:r>
            <a:r>
              <a:rPr lang="en-US" altLang="zh-CN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zh-CN" alt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个</a:t>
            </a:r>
            <a:r>
              <a:rPr lang="zh-CN" altLang="en-US" sz="1500" dirty="0">
                <a:solidFill>
                  <a:srgbClr val="008000"/>
                </a:solidFill>
                <a:latin typeface="Consolas" panose="020B0609020204030204" pitchFamily="49" charset="0"/>
              </a:rPr>
              <a:t>错误矩阵运算</a:t>
            </a:r>
            <a:endParaRPr lang="zh-CN" alt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z=xx^</a:t>
            </a:r>
            <a:r>
              <a:rPr lang="en-US" altLang="zh-CN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+yy^</a:t>
            </a:r>
            <a:r>
              <a:rPr lang="en-US" altLang="zh-CN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计算格点上</a:t>
            </a:r>
            <a:r>
              <a:rPr lang="en-US" altLang="zh-CN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zh-CN" alt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函数</a:t>
            </a:r>
            <a:r>
              <a:rPr lang="en-US" altLang="zh-CN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CN" alt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矩阵运算</a:t>
            </a:r>
            <a:r>
              <a:rPr lang="en-US" altLang="zh-CN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</a:t>
            </a:r>
            <a:endParaRPr lang="zh-CN" alt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mesh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xx,yy,z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矩阵运算得到错误网格图</a:t>
            </a:r>
            <a:r>
              <a:rPr lang="en-US" altLang="zh-CN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figure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第</a:t>
            </a:r>
            <a:r>
              <a:rPr lang="en-US" altLang="zh-CN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zh-CN" alt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个图画三维杆图</a:t>
            </a:r>
            <a:endParaRPr lang="zh-CN" alt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zz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=xx.^</a:t>
            </a:r>
            <a:r>
              <a:rPr lang="en-US" altLang="zh-CN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+yy.^</a:t>
            </a:r>
            <a:r>
              <a:rPr lang="en-US" altLang="zh-CN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计算格点上</a:t>
            </a:r>
            <a:r>
              <a:rPr lang="en-US" altLang="zh-CN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zh-CN" alt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函数值</a:t>
            </a:r>
            <a:endParaRPr lang="zh-CN" alt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stem3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(xx, </a:t>
            </a:r>
            <a:r>
              <a:rPr lang="en-US" altLang="zh-CN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yy,zz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三维杆图</a:t>
            </a:r>
            <a:endParaRPr lang="zh-CN" alt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三维杆图</a:t>
            </a:r>
            <a:r>
              <a:rPr lang="en-US" altLang="zh-CN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figure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第</a:t>
            </a:r>
            <a:r>
              <a:rPr lang="en-US" altLang="zh-CN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zh-CN" alt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个图画三维线图</a:t>
            </a:r>
            <a:endParaRPr lang="zh-CN" alt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plot3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(xx,yy,</a:t>
            </a:r>
            <a:r>
              <a:rPr lang="en-US" altLang="zh-CN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zz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"-</a:t>
            </a:r>
            <a:r>
              <a:rPr lang="en-US" altLang="zh-CN" sz="15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hr</a:t>
            </a:r>
            <a:r>
              <a:rPr lang="en-US" altLang="zh-CN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三维线</a:t>
            </a:r>
            <a:endParaRPr lang="zh-CN" alt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三维线图</a:t>
            </a:r>
            <a:r>
              <a:rPr lang="en-US" altLang="zh-CN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figure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第</a:t>
            </a:r>
            <a:r>
              <a:rPr lang="en-US" altLang="zh-CN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zh-CN" alt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个图画三维网格</a:t>
            </a:r>
            <a:endParaRPr lang="zh-CN" alt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5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meshc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xx,yy,zz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r>
              <a:rPr lang="en-US" altLang="zh-CN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三维网格图</a:t>
            </a:r>
            <a:r>
              <a:rPr lang="en-US" altLang="zh-CN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figure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第</a:t>
            </a:r>
            <a:r>
              <a:rPr lang="en-US" altLang="zh-CN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zh-CN" alt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个图画三维曲面</a:t>
            </a:r>
            <a:endParaRPr lang="zh-CN" alt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surf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xx,yy,zz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r>
              <a:rPr lang="en-US" altLang="zh-CN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三维曲面图</a:t>
            </a:r>
            <a:r>
              <a:rPr lang="en-US" altLang="zh-CN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zh-CN" sz="1500" b="1" dirty="0">
              <a:solidFill>
                <a:srgbClr val="00B0F0"/>
              </a:solidFill>
              <a:latin typeface="Times New Roman" panose="02020603050405020304" pitchFamily="18" charset="0"/>
              <a:ea typeface="隶书" panose="0201050906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853332" y="609911"/>
            <a:ext cx="6336704" cy="424401"/>
          </a:xfrm>
          <a:prstGeom prst="rect">
            <a:avLst/>
          </a:prstGeom>
          <a:noFill/>
          <a:ln w="57150" cap="flat" cmpd="sng">
            <a:noFill/>
            <a:prstDash val="solid"/>
            <a:miter lim="800000"/>
          </a:ln>
        </p:spPr>
        <p:txBody>
          <a:bodyPr vert="horz" wrap="none" lIns="91440" tIns="45720" rIns="91440" bIns="45720" anchor="ctr">
            <a:noAutofit/>
          </a:bodyPr>
          <a:lstStyle/>
          <a:p>
            <a:pPr algn="dist" eaLnBrk="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z=x</a:t>
            </a:r>
            <a:r>
              <a:rPr lang="en-US" altLang="zh-CN" b="1" baseline="30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+y</a:t>
            </a:r>
            <a:r>
              <a:rPr lang="en-US" altLang="zh-CN" b="1" baseline="30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三维线图、杆图、线图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网格图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,x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y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都在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[-3,3]</a:t>
            </a:r>
            <a:r>
              <a:rPr lang="en-US" altLang="zh-CN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]</a:t>
            </a:r>
            <a:endParaRPr lang="zh-CN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l="1175" t="17880" r="62620" b="3802"/>
          <a:stretch/>
        </p:blipFill>
        <p:spPr>
          <a:xfrm>
            <a:off x="5436096" y="1138993"/>
            <a:ext cx="3420380" cy="3853570"/>
          </a:xfrm>
          <a:prstGeom prst="rect">
            <a:avLst/>
          </a:prstGeom>
        </p:spPr>
      </p:pic>
      <p:sp>
        <p:nvSpPr>
          <p:cNvPr id="7" name="AutoShape 13"/>
          <p:cNvSpPr>
            <a:spLocks noChangeArrowheads="1"/>
          </p:cNvSpPr>
          <p:nvPr/>
        </p:nvSpPr>
        <p:spPr bwMode="auto">
          <a:xfrm>
            <a:off x="6334574" y="1783572"/>
            <a:ext cx="862579" cy="349357"/>
          </a:xfrm>
          <a:prstGeom prst="irregularSeal2">
            <a:avLst/>
          </a:prstGeom>
          <a:solidFill>
            <a:srgbClr val="FF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200" b="1" dirty="0">
                <a:solidFill>
                  <a:srgbClr val="FFFF00"/>
                </a:solidFill>
                <a:sym typeface="+mn-ea"/>
              </a:rPr>
              <a:t>错</a:t>
            </a:r>
          </a:p>
        </p:txBody>
      </p:sp>
      <p:sp>
        <p:nvSpPr>
          <p:cNvPr id="8" name="波形 7"/>
          <p:cNvSpPr/>
          <p:nvPr/>
        </p:nvSpPr>
        <p:spPr>
          <a:xfrm>
            <a:off x="195395" y="257334"/>
            <a:ext cx="432048" cy="473810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例2</a:t>
            </a:r>
            <a:endParaRPr lang="ko-KR" altLang="en-US" sz="16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028820E4-2E03-440F-B8BB-F640951B04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94709"/>
            <a:ext cx="8172908" cy="51402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just" eaLnBrk="1" hangingPunct="1"/>
            <a:endParaRPr lang="en-US" altLang="zh-CN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  <a:p>
            <a:pPr algn="l" eaLnBrk="1" hangingPunct="1"/>
            <a:r>
              <a:rPr lang="en-US" altLang="zh-CN" sz="3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3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3.5.2 </a:t>
            </a:r>
            <a:r>
              <a:rPr lang="zh-CN" altLang="en-US" sz="3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三维网格图</a:t>
            </a:r>
            <a:r>
              <a:rPr lang="en-US" altLang="zh-CN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——mesh</a:t>
            </a:r>
            <a:r>
              <a:rPr lang="zh-CN" altLang="en-US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绘制网格图示例</a:t>
            </a:r>
            <a:br>
              <a:rPr lang="en-US" altLang="zh-CN" sz="3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</a:br>
            <a:endParaRPr lang="zh-CN" altLang="en-US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49353" y="118689"/>
            <a:ext cx="7304996" cy="51402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just" eaLnBrk="1" hangingPunct="1"/>
            <a:endParaRPr lang="en-US" altLang="zh-CN" sz="28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  <a:p>
            <a:pPr algn="l" eaLnBrk="1" hangingPunct="1"/>
            <a: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28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3.5.3 </a:t>
            </a:r>
            <a:r>
              <a:rPr lang="zh-CN" altLang="en-US" sz="28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三维曲面图</a:t>
            </a:r>
            <a:r>
              <a:rPr lang="en-US" altLang="zh-CN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——surf</a:t>
            </a:r>
            <a:r>
              <a:rPr lang="zh-CN" altLang="en-US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绘制曲面图</a:t>
            </a:r>
            <a:b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</a:br>
            <a:endParaRPr lang="zh-CN" altLang="en-US" sz="28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702170" y="2124789"/>
            <a:ext cx="5334326" cy="32778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>
              <a:lnSpc>
                <a:spcPct val="90000"/>
              </a:lnSpc>
            </a:pPr>
            <a:r>
              <a:rPr lang="zh-CN" altLang="en-US" sz="1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句柄</a:t>
            </a:r>
            <a:r>
              <a:rPr lang="en-US" altLang="zh-CN" sz="1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h=</a:t>
            </a:r>
            <a:r>
              <a:rPr lang="en-US" altLang="zh-CN" sz="1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隶书" panose="02010509060101010101" charset="-122"/>
                <a:ea typeface="隶书" panose="02010509060101010101" charset="-122"/>
              </a:rPr>
              <a:t>surf</a:t>
            </a:r>
            <a:r>
              <a:rPr lang="en-US" altLang="zh-CN" sz="1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(</a:t>
            </a:r>
            <a:r>
              <a:rPr lang="zh-CN" altLang="en-US" sz="1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坐标区</a:t>
            </a:r>
            <a:r>
              <a:rPr lang="en-US" altLang="zh-CN" sz="17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ax,</a:t>
            </a:r>
            <a:r>
              <a:rPr lang="en-US" altLang="zh-CN" sz="17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隶书" panose="02010509060101010101" charset="-122"/>
                <a:ea typeface="隶书" panose="02010509060101010101" charset="-122"/>
              </a:rPr>
              <a:t>X,Y,Z,</a:t>
            </a:r>
            <a:r>
              <a:rPr lang="en-US" altLang="zh-CN" sz="1700" dirty="0" err="1">
                <a:solidFill>
                  <a:schemeClr val="bg1"/>
                </a:solidFill>
              </a:rPr>
              <a:t>Key</a:t>
            </a:r>
            <a:r>
              <a:rPr lang="en-US" altLang="zh-CN" sz="1700" dirty="0">
                <a:solidFill>
                  <a:schemeClr val="bg1"/>
                </a:solidFill>
              </a:rPr>
              <a:t>=Value</a:t>
            </a:r>
            <a:r>
              <a:rPr lang="en-US" altLang="zh-CN" sz="1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) </a:t>
            </a:r>
          </a:p>
        </p:txBody>
      </p:sp>
      <p:sp>
        <p:nvSpPr>
          <p:cNvPr id="6" name="矩形 1"/>
          <p:cNvSpPr>
            <a:spLocks noChangeArrowheads="1"/>
          </p:cNvSpPr>
          <p:nvPr/>
        </p:nvSpPr>
        <p:spPr bwMode="auto">
          <a:xfrm>
            <a:off x="4865731" y="1479700"/>
            <a:ext cx="2313977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2000" dirty="0">
                <a:solidFill>
                  <a:srgbClr val="21A4FF"/>
                </a:solidFill>
                <a:latin typeface="隶书" panose="02010509060101010101" charset="-122"/>
                <a:ea typeface="隶书" panose="02010509060101010101" charset="-122"/>
              </a:rPr>
              <a:t>对每个网格着色</a:t>
            </a:r>
          </a:p>
        </p:txBody>
      </p:sp>
      <p:cxnSp>
        <p:nvCxnSpPr>
          <p:cNvPr id="7" name="连接符: 曲线 6"/>
          <p:cNvCxnSpPr>
            <a:cxnSpLocks/>
          </p:cNvCxnSpPr>
          <p:nvPr/>
        </p:nvCxnSpPr>
        <p:spPr>
          <a:xfrm flipV="1">
            <a:off x="1964292" y="1421977"/>
            <a:ext cx="4978544" cy="502664"/>
          </a:xfrm>
          <a:prstGeom prst="curved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380215" y="709255"/>
            <a:ext cx="84115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eaLnBrk="0" hangingPunct="0">
              <a:defRPr/>
            </a:pP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surf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绘制</a:t>
            </a:r>
            <a:r>
              <a:rPr lang="zh-CN" altLang="en-US" sz="24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三维曲面原理：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实色边实色面的三维曲面</a:t>
            </a:r>
            <a:endParaRPr lang="en-US" altLang="zh-CN" sz="24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603" r="12548" b="23101"/>
          <a:stretch>
            <a:fillRect/>
          </a:stretch>
        </p:blipFill>
        <p:spPr>
          <a:xfrm>
            <a:off x="6824822" y="788569"/>
            <a:ext cx="2155836" cy="11954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21928" t="17596" r="11094" b="25133"/>
          <a:stretch>
            <a:fillRect/>
          </a:stretch>
        </p:blipFill>
        <p:spPr>
          <a:xfrm>
            <a:off x="932505" y="1123584"/>
            <a:ext cx="1756436" cy="93691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1" name="矩形 10"/>
          <p:cNvSpPr/>
          <p:nvPr/>
        </p:nvSpPr>
        <p:spPr>
          <a:xfrm>
            <a:off x="2535130" y="1385613"/>
            <a:ext cx="18950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隶书" panose="02010509060101010101" charset="-122"/>
                <a:ea typeface="隶书" panose="02010509060101010101" charset="-122"/>
              </a:rPr>
              <a:t>mesh(</a:t>
            </a:r>
            <a:r>
              <a:rPr lang="en-US" altLang="zh-CN" sz="2400" b="1" dirty="0" err="1">
                <a:solidFill>
                  <a:srgbClr val="FF0000"/>
                </a:solidFill>
                <a:latin typeface="隶书" panose="02010509060101010101" charset="-122"/>
                <a:ea typeface="隶书" panose="02010509060101010101" charset="-122"/>
              </a:rPr>
              <a:t>x,y,z</a:t>
            </a:r>
            <a:r>
              <a:rPr lang="en-US" altLang="zh-CN" sz="2400" b="1" dirty="0">
                <a:solidFill>
                  <a:srgbClr val="FF0000"/>
                </a:solidFill>
                <a:latin typeface="隶书" panose="02010509060101010101" charset="-122"/>
                <a:ea typeface="隶书" panose="02010509060101010101" charset="-122"/>
              </a:rPr>
              <a:t>)</a:t>
            </a:r>
            <a:endParaRPr lang="zh-CN" altLang="en-US" sz="2400" b="1" dirty="0">
              <a:solidFill>
                <a:srgbClr val="FF0000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0656" y="2494121"/>
            <a:ext cx="8545229" cy="1611147"/>
          </a:xfrm>
          <a:prstGeom prst="rect">
            <a:avLst/>
          </a:prstGeom>
          <a:solidFill>
            <a:schemeClr val="bg1"/>
          </a:solidFill>
          <a:ln>
            <a:noFill/>
            <a:prstDash val="solid"/>
          </a:ln>
        </p:spPr>
        <p:txBody>
          <a:bodyPr wrap="square" rtlCol="0" anchor="t">
            <a:spAutoFit/>
          </a:bodyPr>
          <a:lstStyle/>
          <a:p>
            <a:pPr marL="457200" indent="-457200" eaLnBrk="0" hangingPunct="0">
              <a:lnSpc>
                <a:spcPts val="29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和</a:t>
            </a:r>
            <a:r>
              <a:rPr lang="en-US" altLang="zh-CN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mesh</a:t>
            </a:r>
            <a:r>
              <a:rPr lang="zh-CN" altLang="en-US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参数一样，</a:t>
            </a:r>
            <a:r>
              <a:rPr lang="en-US" altLang="zh-CN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X,Y</a:t>
            </a:r>
            <a:r>
              <a:rPr lang="zh-CN" altLang="en-US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是网格坐标矩阵</a:t>
            </a:r>
            <a:r>
              <a:rPr lang="zh-CN" altLang="en-US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或</a:t>
            </a:r>
            <a:r>
              <a:rPr lang="en-US" altLang="zh-CN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x, y </a:t>
            </a:r>
            <a:r>
              <a:rPr lang="zh-CN" altLang="en-US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给定向量</a:t>
            </a:r>
            <a:r>
              <a:rPr lang="en-US" altLang="zh-CN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;</a:t>
            </a:r>
          </a:p>
          <a:p>
            <a:pPr marL="457200" indent="-457200" eaLnBrk="0" hangingPunct="0">
              <a:lnSpc>
                <a:spcPts val="2900"/>
              </a:lnSpc>
              <a:buFont typeface="Wingdings" panose="05000000000000000000" pitchFamily="2" charset="2"/>
              <a:buChar char="p"/>
              <a:defRPr/>
            </a:pPr>
            <a:r>
              <a:rPr lang="en-US" altLang="zh-CN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Z</a:t>
            </a:r>
            <a:r>
              <a:rPr lang="zh-CN" altLang="en-US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是网格点上的高度网格矩阵</a:t>
            </a:r>
            <a:r>
              <a:rPr lang="en-US" altLang="zh-CN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;</a:t>
            </a:r>
            <a:endParaRPr lang="en-US" altLang="zh-CN" sz="20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panose="020B0604020202020204" pitchFamily="34" charset="0"/>
            </a:endParaRPr>
          </a:p>
          <a:p>
            <a:pPr marL="457200" indent="-457200" eaLnBrk="0" hangingPunct="0">
              <a:lnSpc>
                <a:spcPts val="29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对组参数</a:t>
            </a:r>
            <a:r>
              <a:rPr lang="en-US" altLang="zh-CN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Key-value</a:t>
            </a:r>
            <a:r>
              <a:rPr lang="zh-CN" altLang="en-US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设置属性，</a:t>
            </a:r>
            <a:endParaRPr lang="en-US" altLang="zh-CN" sz="2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panose="020B0604020202020204" pitchFamily="34" charset="0"/>
            </a:endParaRPr>
          </a:p>
          <a:p>
            <a:pPr marL="457200" indent="-457200" eaLnBrk="0" hangingPunct="0">
              <a:lnSpc>
                <a:spcPts val="2900"/>
              </a:lnSpc>
              <a:buFont typeface="Wingdings" panose="05000000000000000000" pitchFamily="2" charset="2"/>
              <a:buChar char="p"/>
              <a:defRPr/>
            </a:pPr>
            <a:endParaRPr lang="zh-CN" altLang="en-US" sz="24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0" y="4181250"/>
            <a:ext cx="18356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等高线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网格图</a:t>
            </a:r>
            <a:endParaRPr lang="en-US" altLang="zh-CN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779912" y="4188133"/>
            <a:ext cx="5218453" cy="32778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>
              <a:lnSpc>
                <a:spcPct val="90000"/>
              </a:lnSpc>
            </a:pPr>
            <a:r>
              <a:rPr lang="zh-CN" altLang="en-US" sz="1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句柄</a:t>
            </a:r>
            <a:r>
              <a:rPr lang="en-US" altLang="zh-CN" sz="1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h=</a:t>
            </a:r>
            <a:r>
              <a:rPr lang="en-US" altLang="zh-CN" sz="17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隶书" panose="02010509060101010101" charset="-122"/>
                <a:ea typeface="隶书" panose="02010509060101010101" charset="-122"/>
              </a:rPr>
              <a:t>surfc</a:t>
            </a:r>
            <a:r>
              <a:rPr lang="en-US" altLang="zh-CN" sz="1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(</a:t>
            </a:r>
            <a:r>
              <a:rPr lang="zh-CN" altLang="en-US" sz="1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坐标区</a:t>
            </a:r>
            <a:r>
              <a:rPr lang="en-US" altLang="zh-CN" sz="17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ax,</a:t>
            </a:r>
            <a:r>
              <a:rPr lang="en-US" altLang="zh-CN" sz="17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隶书" panose="02010509060101010101" charset="-122"/>
                <a:ea typeface="隶书" panose="02010509060101010101" charset="-122"/>
              </a:rPr>
              <a:t>x,y,z,</a:t>
            </a:r>
            <a:r>
              <a:rPr lang="en-US" altLang="zh-CN" sz="1700" dirty="0" err="1">
                <a:solidFill>
                  <a:schemeClr val="bg1"/>
                </a:solidFill>
              </a:rPr>
              <a:t>Key</a:t>
            </a:r>
            <a:r>
              <a:rPr lang="en-US" altLang="zh-CN" sz="1700" dirty="0">
                <a:solidFill>
                  <a:schemeClr val="bg1"/>
                </a:solidFill>
              </a:rPr>
              <a:t>=Value</a:t>
            </a:r>
            <a:r>
              <a:rPr lang="en-US" altLang="zh-CN" sz="1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) 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-555" y="3652693"/>
            <a:ext cx="7216451" cy="45627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zh-CN" altLang="en-US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线型</a:t>
            </a:r>
            <a:r>
              <a:rPr lang="en-US" altLang="zh-CN" sz="22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linestyle</a:t>
            </a:r>
            <a:r>
              <a:rPr lang="zh-CN" altLang="en-US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，面颜色</a:t>
            </a:r>
            <a:r>
              <a:rPr lang="en-US" altLang="zh-CN" sz="22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facecolor</a:t>
            </a:r>
            <a:r>
              <a:rPr lang="zh-CN" altLang="en-US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，边缘线条颜色</a:t>
            </a:r>
            <a:r>
              <a:rPr lang="en-US" altLang="zh-CN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</a:t>
            </a:r>
            <a:r>
              <a:rPr lang="zh-CN" altLang="zh-CN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dgecolor</a:t>
            </a:r>
            <a:endParaRPr lang="zh-CN" altLang="en-US" sz="2200"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32857" t="24965" r="39045" b="40375"/>
          <a:stretch>
            <a:fillRect/>
          </a:stretch>
        </p:blipFill>
        <p:spPr>
          <a:xfrm>
            <a:off x="7080856" y="3004254"/>
            <a:ext cx="1501784" cy="1042051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39845" y="2114349"/>
            <a:ext cx="14358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三维曲面</a:t>
            </a:r>
          </a:p>
        </p:txBody>
      </p:sp>
      <p:sp>
        <p:nvSpPr>
          <p:cNvPr id="20" name="矩形 19"/>
          <p:cNvSpPr/>
          <p:nvPr/>
        </p:nvSpPr>
        <p:spPr>
          <a:xfrm>
            <a:off x="1371028" y="2137864"/>
            <a:ext cx="1680052" cy="32778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>
              <a:lnSpc>
                <a:spcPct val="90000"/>
              </a:lnSpc>
            </a:pPr>
            <a:r>
              <a:rPr lang="en-US" altLang="zh-CN" sz="1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surf(X,Y,Z) 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3127464" y="2128139"/>
            <a:ext cx="2880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FF00"/>
                </a:solidFill>
                <a:highlight>
                  <a:srgbClr val="003B76"/>
                </a:highlight>
                <a:latin typeface="隶书" panose="02010509060101010101" charset="-122"/>
                <a:ea typeface="隶书" panose="02010509060101010101" charset="-122"/>
              </a:rPr>
              <a:t>或</a:t>
            </a:r>
            <a:endParaRPr lang="zh-CN" altLang="en-US" sz="2000" dirty="0"/>
          </a:p>
        </p:txBody>
      </p:sp>
      <p:sp>
        <p:nvSpPr>
          <p:cNvPr id="22" name="矩形 21"/>
          <p:cNvSpPr/>
          <p:nvPr/>
        </p:nvSpPr>
        <p:spPr>
          <a:xfrm>
            <a:off x="1735444" y="4197858"/>
            <a:ext cx="1680052" cy="32778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>
              <a:lnSpc>
                <a:spcPct val="90000"/>
              </a:lnSpc>
            </a:pPr>
            <a:r>
              <a:rPr lang="en-US" altLang="zh-CN" sz="17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surfc</a:t>
            </a:r>
            <a:r>
              <a:rPr lang="en-US" altLang="zh-CN" sz="1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(X,Y,Z) 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3419872" y="4188133"/>
            <a:ext cx="288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FF00"/>
                </a:solidFill>
                <a:highlight>
                  <a:srgbClr val="003B76"/>
                </a:highlight>
                <a:latin typeface="隶书" panose="02010509060101010101" charset="-122"/>
                <a:ea typeface="隶书" panose="02010509060101010101" charset="-122"/>
              </a:rPr>
              <a:t>或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3" grpId="0"/>
      <p:bldP spid="14" grpId="0" animBg="1"/>
      <p:bldP spid="15" grpId="0" animBg="1"/>
      <p:bldP spid="19" grpId="0"/>
      <p:bldP spid="20" grpId="0" animBg="1"/>
      <p:bldP spid="21" grpId="0"/>
      <p:bldP spid="22" grpId="0" animBg="1"/>
      <p:bldP spid="2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271652" y="793243"/>
            <a:ext cx="3763006" cy="37977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lvl1pPr marL="342900" indent="-3429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5pPr>
            <a:lvl6pPr marL="25146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6pPr>
            <a:lvl7pPr marL="29718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7pPr>
            <a:lvl8pPr marL="3429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8pPr>
            <a:lvl9pPr marL="3886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9pPr>
          </a:lstStyle>
          <a:p>
            <a:pPr marL="0" indent="0">
              <a:buNone/>
            </a:pP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s=</a:t>
            </a:r>
            <a:r>
              <a:rPr lang="en-US" altLang="zh-CN" sz="2000" dirty="0" err="1">
                <a:solidFill>
                  <a:srgbClr val="795E26"/>
                </a:solidFill>
                <a:latin typeface="Consolas" panose="020B0609020204030204" pitchFamily="49" charset="0"/>
              </a:rPr>
              <a:t>LinRange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20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altLang="zh-CN" sz="2000" dirty="0">
                <a:solidFill>
                  <a:srgbClr val="098658"/>
                </a:solidFill>
                <a:latin typeface="Consolas" panose="020B0609020204030204" pitchFamily="49" charset="0"/>
              </a:rPr>
              <a:t>pi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2000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t= </a:t>
            </a:r>
            <a:r>
              <a:rPr lang="en-US" altLang="zh-CN" sz="2000" dirty="0" err="1">
                <a:solidFill>
                  <a:srgbClr val="795E26"/>
                </a:solidFill>
                <a:latin typeface="Consolas" panose="020B0609020204030204" pitchFamily="49" charset="0"/>
              </a:rPr>
              <a:t>LinRange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2000" dirty="0">
                <a:solidFill>
                  <a:srgbClr val="098658"/>
                </a:solidFill>
                <a:latin typeface="Consolas" panose="020B0609020204030204" pitchFamily="49" charset="0"/>
              </a:rPr>
              <a:t>pi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2000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s,t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2000" dirty="0">
                <a:solidFill>
                  <a:srgbClr val="795E26"/>
                </a:solidFill>
                <a:latin typeface="Consolas" panose="020B0609020204030204" pitchFamily="49" charset="0"/>
              </a:rPr>
              <a:t>meshgrid2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s,t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r=</a:t>
            </a:r>
            <a:r>
              <a:rPr lang="en-US" altLang="zh-CN" sz="2000" dirty="0">
                <a:solidFill>
                  <a:srgbClr val="795E26"/>
                </a:solidFill>
                <a:latin typeface="Consolas" panose="020B0609020204030204" pitchFamily="49" charset="0"/>
              </a:rPr>
              <a:t>@.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sz="2000" dirty="0">
                <a:solidFill>
                  <a:srgbClr val="795E26"/>
                </a:solidFill>
                <a:latin typeface="Consolas" panose="020B0609020204030204" pitchFamily="49" charset="0"/>
              </a:rPr>
              <a:t>sin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dirty="0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*s+</a:t>
            </a:r>
            <a:r>
              <a:rPr lang="en-US" altLang="zh-CN" sz="20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*t));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x=</a:t>
            </a:r>
            <a:r>
              <a:rPr lang="en-US" altLang="zh-CN" sz="2000" dirty="0">
                <a:solidFill>
                  <a:srgbClr val="795E26"/>
                </a:solidFill>
                <a:latin typeface="Consolas" panose="020B0609020204030204" pitchFamily="49" charset="0"/>
              </a:rPr>
              <a:t>@.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r*</a:t>
            </a:r>
            <a:r>
              <a:rPr lang="en-US" altLang="zh-CN" sz="2000" dirty="0">
                <a:solidFill>
                  <a:srgbClr val="795E26"/>
                </a:solidFill>
                <a:latin typeface="Consolas" panose="020B0609020204030204" pitchFamily="49" charset="0"/>
              </a:rPr>
              <a:t>cos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(s)*</a:t>
            </a:r>
            <a:r>
              <a:rPr lang="en-US" altLang="zh-CN" sz="2000" dirty="0">
                <a:solidFill>
                  <a:srgbClr val="795E26"/>
                </a:solidFill>
                <a:latin typeface="Consolas" panose="020B0609020204030204" pitchFamily="49" charset="0"/>
              </a:rPr>
              <a:t>sin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(t);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y=</a:t>
            </a:r>
            <a:r>
              <a:rPr lang="en-US" altLang="zh-CN" sz="2000" dirty="0">
                <a:solidFill>
                  <a:srgbClr val="795E26"/>
                </a:solidFill>
                <a:latin typeface="Consolas" panose="020B0609020204030204" pitchFamily="49" charset="0"/>
              </a:rPr>
              <a:t>@.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r*</a:t>
            </a:r>
            <a:r>
              <a:rPr lang="en-US" altLang="zh-CN" sz="2000" dirty="0">
                <a:solidFill>
                  <a:srgbClr val="795E26"/>
                </a:solidFill>
                <a:latin typeface="Consolas" panose="020B0609020204030204" pitchFamily="49" charset="0"/>
              </a:rPr>
              <a:t>sin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(s)*</a:t>
            </a:r>
            <a:r>
              <a:rPr lang="en-US" altLang="zh-CN" sz="2000" dirty="0">
                <a:solidFill>
                  <a:srgbClr val="795E26"/>
                </a:solidFill>
                <a:latin typeface="Consolas" panose="020B0609020204030204" pitchFamily="49" charset="0"/>
              </a:rPr>
              <a:t>sin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(t);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z=</a:t>
            </a:r>
            <a:r>
              <a:rPr lang="en-US" altLang="zh-CN" sz="2000" dirty="0">
                <a:solidFill>
                  <a:srgbClr val="795E26"/>
                </a:solidFill>
                <a:latin typeface="Consolas" panose="020B0609020204030204" pitchFamily="49" charset="0"/>
              </a:rPr>
              <a:t>@.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r*</a:t>
            </a:r>
            <a:r>
              <a:rPr lang="en-US" altLang="zh-CN" sz="2000" dirty="0">
                <a:solidFill>
                  <a:srgbClr val="795E26"/>
                </a:solidFill>
                <a:latin typeface="Consolas" panose="020B0609020204030204" pitchFamily="49" charset="0"/>
              </a:rPr>
              <a:t>cos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(t);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795E26"/>
                </a:solidFill>
                <a:latin typeface="Consolas" panose="020B0609020204030204" pitchFamily="49" charset="0"/>
              </a:rPr>
              <a:t>h=surf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x,y,z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</a:rPr>
              <a:t>);#</a:t>
            </a:r>
            <a:r>
              <a:rPr lang="zh-CN" alt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曲面句柄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</a:rPr>
              <a:t>h</a:t>
            </a:r>
          </a:p>
          <a:p>
            <a:pPr marL="0" indent="0">
              <a:buNone/>
            </a:pPr>
            <a:r>
              <a:rPr lang="en-US" altLang="zh-CN" sz="2000" dirty="0" err="1">
                <a:solidFill>
                  <a:srgbClr val="795E26"/>
                </a:solidFill>
                <a:latin typeface="Consolas" panose="020B0609020204030204" pitchFamily="49" charset="0"/>
              </a:rPr>
              <a:t>xlabel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dirty="0">
                <a:solidFill>
                  <a:srgbClr val="A31515"/>
                </a:solidFill>
                <a:latin typeface="Consolas" panose="020B0609020204030204" pitchFamily="49" charset="0"/>
              </a:rPr>
              <a:t>"x"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altLang="zh-CN" sz="2000" dirty="0" err="1">
                <a:solidFill>
                  <a:srgbClr val="795E26"/>
                </a:solidFill>
                <a:latin typeface="Consolas" panose="020B0609020204030204" pitchFamily="49" charset="0"/>
              </a:rPr>
              <a:t>ylabel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dirty="0">
                <a:solidFill>
                  <a:srgbClr val="A31515"/>
                </a:solidFill>
                <a:latin typeface="Consolas" panose="020B0609020204030204" pitchFamily="49" charset="0"/>
              </a:rPr>
              <a:t>"y"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 err="1">
                <a:solidFill>
                  <a:srgbClr val="795E26"/>
                </a:solidFill>
                <a:latin typeface="Consolas" panose="020B0609020204030204" pitchFamily="49" charset="0"/>
              </a:rPr>
              <a:t>zlabel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dirty="0">
                <a:solidFill>
                  <a:srgbClr val="A31515"/>
                </a:solidFill>
                <a:latin typeface="Consolas" panose="020B0609020204030204" pitchFamily="49" charset="0"/>
              </a:rPr>
              <a:t>"z"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" name="AutoShape 13"/>
          <p:cNvSpPr>
            <a:spLocks noChangeArrowheads="1"/>
          </p:cNvSpPr>
          <p:nvPr/>
        </p:nvSpPr>
        <p:spPr bwMode="auto">
          <a:xfrm>
            <a:off x="174718" y="3856383"/>
            <a:ext cx="4726864" cy="699756"/>
          </a:xfrm>
          <a:prstGeom prst="irregularSeal2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参数方程可用调用点运算</a:t>
            </a:r>
            <a:endParaRPr lang="en-US" altLang="zh-CN" sz="16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755576" y="811179"/>
            <a:ext cx="4212470" cy="5119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lvl1pPr marL="342900" indent="-3429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5pPr>
            <a:lvl6pPr marL="25146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6pPr>
            <a:lvl7pPr marL="29718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7pPr>
            <a:lvl8pPr marL="3429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8pPr>
            <a:lvl9pPr marL="3886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9pPr>
          </a:lstStyle>
          <a:p>
            <a:pPr marL="457200" indent="-457200" algn="dist" eaLnBrk="1" hangingPunct="1">
              <a:buFont typeface="+mj-ea"/>
              <a:buAutoNum type="circleNumDbPlain"/>
              <a:defRPr/>
            </a:pPr>
            <a:r>
              <a:rPr lang="zh-CN" altLang="en-US" sz="20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绘制参数方程的三维曲面图 </a:t>
            </a:r>
            <a:endParaRPr lang="es-ES" altLang="zh-CN" sz="2000" kern="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dist" eaLnBrk="1" hangingPunct="1">
              <a:buFont typeface="Arial" panose="020B0604020202020204" pitchFamily="34" charset="0"/>
              <a:buNone/>
              <a:defRPr/>
            </a:pPr>
            <a:endParaRPr lang="zh-CN" altLang="en-US" sz="2000" kern="0" dirty="0">
              <a:solidFill>
                <a:srgbClr val="00B0F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dist" eaLnBrk="1" hangingPunct="1">
              <a:buFont typeface="Arial" panose="020B0604020202020204" pitchFamily="34" charset="0"/>
              <a:buNone/>
              <a:defRPr/>
            </a:pPr>
            <a:endParaRPr lang="zh-CN" altLang="en-US" sz="2000" kern="0" dirty="0">
              <a:solidFill>
                <a:srgbClr val="00B0F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波形 6"/>
          <p:cNvSpPr/>
          <p:nvPr/>
        </p:nvSpPr>
        <p:spPr>
          <a:xfrm>
            <a:off x="229880" y="342200"/>
            <a:ext cx="309672" cy="577227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例3</a:t>
            </a:r>
            <a:endParaRPr lang="ko-KR" altLang="en-US" sz="20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/>
          <a:srcRect l="25362" t="38787" r="59583" b="47630"/>
          <a:stretch>
            <a:fillRect/>
          </a:stretch>
        </p:blipFill>
        <p:spPr>
          <a:xfrm>
            <a:off x="451970" y="1252248"/>
            <a:ext cx="4212470" cy="2271314"/>
          </a:xfrm>
          <a:prstGeom prst="rect">
            <a:avLst/>
          </a:prstGeom>
          <a:ln>
            <a:noFill/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3"/>
          <a:srcRect l="22837" t="53924" r="62227" b="43186"/>
          <a:stretch>
            <a:fillRect/>
          </a:stretch>
        </p:blipFill>
        <p:spPr>
          <a:xfrm>
            <a:off x="451970" y="3479239"/>
            <a:ext cx="4459642" cy="483284"/>
          </a:xfrm>
          <a:prstGeom prst="rect">
            <a:avLst/>
          </a:prstGeom>
          <a:ln>
            <a:noFill/>
          </a:ln>
        </p:spPr>
      </p:pic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889044" y="99500"/>
            <a:ext cx="8025076" cy="51402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just" eaLnBrk="1" hangingPunct="1"/>
            <a:endParaRPr lang="en-US" altLang="zh-CN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  <a:p>
            <a:pPr algn="l" eaLnBrk="1" hangingPunct="1"/>
            <a:r>
              <a:rPr lang="en-US" altLang="zh-CN" sz="3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3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3.5.3 </a:t>
            </a:r>
            <a:r>
              <a:rPr lang="zh-CN" altLang="en-US" sz="3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三维曲面图</a:t>
            </a:r>
            <a:r>
              <a:rPr lang="en-US" altLang="zh-CN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——surf</a:t>
            </a:r>
            <a:r>
              <a:rPr lang="zh-CN" altLang="en-US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绘制曲面图案例</a:t>
            </a:r>
            <a:br>
              <a:rPr lang="en-US" altLang="zh-CN" sz="3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</a:br>
            <a:endParaRPr lang="zh-CN" altLang="en-US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826157" y="38528"/>
            <a:ext cx="8317843" cy="51402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just" eaLnBrk="1" hangingPunct="1"/>
            <a:endParaRPr lang="en-US" altLang="zh-CN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  <a:p>
            <a:pPr algn="l" eaLnBrk="1" hangingPunct="1"/>
            <a:r>
              <a:rPr lang="en-US" altLang="zh-CN" sz="3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3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3.5.3 </a:t>
            </a:r>
            <a:r>
              <a:rPr lang="zh-CN" altLang="en-US" sz="3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三维曲面图</a:t>
            </a:r>
            <a:r>
              <a:rPr lang="en-US" altLang="zh-CN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设置颜色着色方式</a:t>
            </a:r>
            <a:endParaRPr lang="en-US" altLang="zh-CN" sz="3200" kern="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l" eaLnBrk="1" hangingPunct="1"/>
            <a:endParaRPr lang="zh-CN" altLang="en-US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9555" y="747817"/>
            <a:ext cx="3170516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 altLang="zh-CN" sz="1800" dirty="0"/>
              <a:t>shading(</a:t>
            </a:r>
            <a:r>
              <a:rPr lang="en-US" altLang="zh-CN" sz="1800" dirty="0" err="1"/>
              <a:t>h,"faceted</a:t>
            </a:r>
            <a:r>
              <a:rPr lang="en-US" altLang="zh-CN" sz="1800" dirty="0"/>
              <a:t>") (</a:t>
            </a:r>
            <a:r>
              <a:rPr lang="zh-CN" altLang="en-US" sz="1800" dirty="0"/>
              <a:t>默认</a:t>
            </a:r>
            <a:r>
              <a:rPr lang="en-US" altLang="zh-CN" sz="1800" dirty="0"/>
              <a:t>)</a:t>
            </a:r>
          </a:p>
        </p:txBody>
      </p:sp>
      <p:sp>
        <p:nvSpPr>
          <p:cNvPr id="6" name="矩形 5"/>
          <p:cNvSpPr/>
          <p:nvPr/>
        </p:nvSpPr>
        <p:spPr>
          <a:xfrm>
            <a:off x="4067944" y="699542"/>
            <a:ext cx="50405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0"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sz="2000" kern="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  <a:sym typeface="Arial" panose="020B0604020202020204" pitchFamily="34" charset="0"/>
              </a:rPr>
              <a:t>将每片网格用其高度对应颜色进着色</a:t>
            </a:r>
            <a:r>
              <a:rPr lang="en-US" altLang="zh-CN" sz="2000" kern="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  <a:sym typeface="Arial" panose="020B0604020202020204" pitchFamily="34" charset="0"/>
              </a:rPr>
              <a:t>;</a:t>
            </a:r>
          </a:p>
          <a:p>
            <a:pPr marL="342900" indent="-342900" defTabSz="0"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sz="2000" kern="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  <a:sym typeface="Arial" panose="020B0604020202020204" pitchFamily="34" charset="0"/>
              </a:rPr>
              <a:t>网格仍保留黑色线</a:t>
            </a:r>
            <a:r>
              <a:rPr lang="en-US" altLang="zh-CN" sz="2000" kern="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  <a:sym typeface="Arial" panose="020B0604020202020204" pitchFamily="34" charset="0"/>
              </a:rPr>
              <a:t>.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986411" y="3344559"/>
            <a:ext cx="5907482" cy="70788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spAutoFit/>
          </a:bodyPr>
          <a:lstStyle>
            <a:lvl1pPr marL="342900" indent="-3429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5pPr>
            <a:lvl6pPr marL="25146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6pPr>
            <a:lvl7pPr marL="29718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7pPr>
            <a:lvl8pPr marL="34290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8pPr>
            <a:lvl9pPr marL="38862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9pPr>
          </a:lstStyle>
          <a:p>
            <a:pPr marL="0" indent="0"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sz="2000" kern="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 将每片网格用同颜色着色</a:t>
            </a:r>
            <a:r>
              <a:rPr lang="en-US" altLang="zh-CN" sz="2000" kern="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;</a:t>
            </a: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sz="2000" kern="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 网格线也用相应的颜色，图形表面更加平滑光滑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8947" y="3412310"/>
            <a:ext cx="2260541" cy="40011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 altLang="zh-CN" sz="2000" dirty="0"/>
              <a:t>shading(</a:t>
            </a:r>
            <a:r>
              <a:rPr lang="en-US" altLang="zh-CN" sz="2000" dirty="0" err="1"/>
              <a:t>h,"flat</a:t>
            </a:r>
            <a:r>
              <a:rPr lang="en-US" altLang="zh-CN" sz="2000" dirty="0"/>
              <a:t>")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5803" b="56222" l="37085" r="59765"/>
                    </a14:imgEffect>
                  </a14:imgLayer>
                </a14:imgProps>
              </a:ext>
            </a:extLst>
          </a:blip>
          <a:srcRect l="37578" t="31086" r="40053" b="44948"/>
          <a:stretch>
            <a:fillRect/>
          </a:stretch>
        </p:blipFill>
        <p:spPr>
          <a:xfrm>
            <a:off x="2818609" y="1786524"/>
            <a:ext cx="2260541" cy="1362369"/>
          </a:xfrm>
          <a:prstGeom prst="rect">
            <a:avLst/>
          </a:prstGeom>
          <a:ln>
            <a:noFill/>
          </a:ln>
        </p:spPr>
      </p:pic>
      <p:sp>
        <p:nvSpPr>
          <p:cNvPr id="10" name="文本框 9"/>
          <p:cNvSpPr txBox="1"/>
          <p:nvPr/>
        </p:nvSpPr>
        <p:spPr>
          <a:xfrm>
            <a:off x="530480" y="1620793"/>
            <a:ext cx="35374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h=surf(</a:t>
            </a:r>
            <a:r>
              <a:rPr lang="en-US" altLang="zh-CN" b="1" dirty="0" err="1">
                <a:solidFill>
                  <a:srgbClr val="FF0000"/>
                </a:solidFill>
              </a:rPr>
              <a:t>x,y,z</a:t>
            </a:r>
            <a:r>
              <a:rPr lang="en-US" altLang="zh-CN" b="1" dirty="0">
                <a:solidFill>
                  <a:srgbClr val="FF0000"/>
                </a:solidFill>
              </a:rPr>
              <a:t>);#</a:t>
            </a:r>
            <a:r>
              <a:rPr lang="zh-CN" altLang="en-US" b="1" dirty="0">
                <a:solidFill>
                  <a:srgbClr val="FF0000"/>
                </a:solidFill>
              </a:rPr>
              <a:t>曲面句柄</a:t>
            </a:r>
            <a:r>
              <a:rPr lang="en-US" altLang="zh-CN" b="1" dirty="0">
                <a:solidFill>
                  <a:srgbClr val="FF0000"/>
                </a:solidFill>
              </a:rPr>
              <a:t>h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shading(</a:t>
            </a:r>
            <a:r>
              <a:rPr lang="en-US" altLang="zh-CN" b="1" dirty="0" err="1">
                <a:solidFill>
                  <a:srgbClr val="FF0000"/>
                </a:solidFill>
              </a:rPr>
              <a:t>h,"faceted</a:t>
            </a:r>
            <a:r>
              <a:rPr lang="en-US" altLang="zh-CN" b="1" dirty="0">
                <a:solidFill>
                  <a:srgbClr val="FF0000"/>
                </a:solidFill>
              </a:rPr>
              <a:t>")</a:t>
            </a:r>
          </a:p>
          <a:p>
            <a:r>
              <a:rPr lang="zh-CN" altLang="en-US" b="1" dirty="0">
                <a:solidFill>
                  <a:srgbClr val="FF0000"/>
                </a:solidFill>
              </a:rPr>
              <a:t>axis("off")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933009" y="2457971"/>
            <a:ext cx="28648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FF0000"/>
                </a:solidFill>
              </a:defRPr>
            </a:lvl1pPr>
          </a:lstStyle>
          <a:p>
            <a:r>
              <a:rPr lang="en-US" altLang="zh-CN" dirty="0"/>
              <a:t>h=surf(</a:t>
            </a:r>
            <a:r>
              <a:rPr lang="en-US" altLang="zh-CN" dirty="0" err="1"/>
              <a:t>x,y,z</a:t>
            </a:r>
            <a:r>
              <a:rPr lang="en-US" altLang="zh-CN" dirty="0"/>
              <a:t>);#</a:t>
            </a:r>
            <a:r>
              <a:rPr lang="zh-CN" altLang="en-US" dirty="0"/>
              <a:t>曲面句柄</a:t>
            </a:r>
            <a:r>
              <a:rPr lang="en-US" altLang="zh-CN" dirty="0"/>
              <a:t>h</a:t>
            </a:r>
          </a:p>
          <a:p>
            <a:r>
              <a:rPr lang="zh-CN" altLang="en-US" dirty="0"/>
              <a:t>shading(h,"flat")</a:t>
            </a:r>
          </a:p>
          <a:p>
            <a:r>
              <a:rPr lang="zh-CN" altLang="en-US" dirty="0"/>
              <a:t>axis("off")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35914" t="30396" r="39364" b="43117"/>
          <a:stretch>
            <a:fillRect/>
          </a:stretch>
        </p:blipFill>
        <p:spPr>
          <a:xfrm>
            <a:off x="6237008" y="1178744"/>
            <a:ext cx="2260541" cy="1362369"/>
          </a:xfrm>
          <a:prstGeom prst="rect">
            <a:avLst/>
          </a:prstGeom>
          <a:ln>
            <a:noFill/>
          </a:ln>
        </p:spPr>
      </p:pic>
      <p:sp>
        <p:nvSpPr>
          <p:cNvPr id="13" name="波形 12"/>
          <p:cNvSpPr/>
          <p:nvPr/>
        </p:nvSpPr>
        <p:spPr>
          <a:xfrm>
            <a:off x="165456" y="448364"/>
            <a:ext cx="309672" cy="577227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例3</a:t>
            </a:r>
            <a:endParaRPr lang="ko-KR" altLang="en-US" sz="20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30480" y="1225350"/>
            <a:ext cx="16939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是曲面句柄</a:t>
            </a:r>
          </a:p>
        </p:txBody>
      </p:sp>
      <p:sp>
        <p:nvSpPr>
          <p:cNvPr id="15" name="AutoShape 13"/>
          <p:cNvSpPr>
            <a:spLocks noChangeArrowheads="1"/>
          </p:cNvSpPr>
          <p:nvPr/>
        </p:nvSpPr>
        <p:spPr bwMode="auto">
          <a:xfrm>
            <a:off x="143508" y="4168461"/>
            <a:ext cx="8964996" cy="400111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en-US" altLang="zh-CN" b="1" i="0" dirty="0">
                <a:solidFill>
                  <a:srgbClr val="FFFF00"/>
                </a:solidFill>
                <a:effectLst/>
                <a:latin typeface="Menlo"/>
              </a:rPr>
              <a:t>MATLAB</a:t>
            </a:r>
            <a:r>
              <a:rPr lang="zh-CN" altLang="en-US" b="1" i="0" dirty="0">
                <a:solidFill>
                  <a:srgbClr val="FFFF00"/>
                </a:solidFill>
                <a:effectLst/>
                <a:latin typeface="Menlo"/>
              </a:rPr>
              <a:t>命令</a:t>
            </a:r>
            <a:r>
              <a:rPr lang="en-US" altLang="zh-CN" b="1" dirty="0">
                <a:solidFill>
                  <a:srgbClr val="FFFF00"/>
                </a:solidFill>
                <a:latin typeface="Menlo"/>
              </a:rPr>
              <a:t>shading </a:t>
            </a:r>
            <a:r>
              <a:rPr lang="en-US" altLang="zh-CN" b="1" dirty="0" err="1">
                <a:solidFill>
                  <a:srgbClr val="FFFF00"/>
                </a:solidFill>
                <a:latin typeface="Menlo"/>
              </a:rPr>
              <a:t>faceted,shading</a:t>
            </a:r>
            <a:r>
              <a:rPr lang="en-US" altLang="zh-CN" b="1" dirty="0">
                <a:solidFill>
                  <a:srgbClr val="FFFF00"/>
                </a:solidFill>
                <a:latin typeface="Menlo"/>
              </a:rPr>
              <a:t> flat</a:t>
            </a:r>
            <a:endParaRPr lang="zh-CN" altLang="en-US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6" grpId="1"/>
      <p:bldP spid="7" grpId="0" build="p"/>
      <p:bldP spid="7" grpId="1"/>
      <p:bldP spid="8" grpId="0" animBg="1"/>
      <p:bldP spid="8" grpId="1" animBg="1"/>
      <p:bldP spid="10" grpId="0"/>
      <p:bldP spid="11" grpId="0"/>
      <p:bldP spid="14" grpId="0"/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8516762"/>
              </p:ext>
            </p:extLst>
          </p:nvPr>
        </p:nvGraphicFramePr>
        <p:xfrm>
          <a:off x="4572000" y="693871"/>
          <a:ext cx="4248472" cy="839184"/>
        </p:xfrm>
        <a:graphic>
          <a:graphicData uri="http://schemas.openxmlformats.org/drawingml/2006/table">
            <a:tbl>
              <a:tblPr/>
              <a:tblGrid>
                <a:gridCol w="1118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04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31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1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函数名</a:t>
                      </a:r>
                    </a:p>
                  </a:txBody>
                  <a:tcPr marL="66368" marR="66368" marT="33184" marB="33184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1" u="none" strike="noStrike" kern="120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简介</a:t>
                      </a:r>
                    </a:p>
                  </a:txBody>
                  <a:tcPr marL="66368" marR="66368" marT="33184" marB="33184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31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1" u="none" strike="noStrike" kern="1200" dirty="0" err="1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plt_view</a:t>
                      </a:r>
                      <a:endParaRPr lang="en-US" sz="1400" b="1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368" marR="66368" marT="33184" marB="33184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1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相机视线</a:t>
                      </a:r>
                    </a:p>
                  </a:txBody>
                  <a:tcPr marL="66368" marR="66368" marT="33184" marB="33184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31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1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rotate</a:t>
                      </a:r>
                      <a:endParaRPr lang="en-US" sz="1400" b="1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368" marR="66368" marT="33184" marB="33184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1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以指定原点和方向旋转对象</a:t>
                      </a:r>
                    </a:p>
                  </a:txBody>
                  <a:tcPr marL="66368" marR="66368" marT="33184" marB="33184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8388290"/>
              </p:ext>
            </p:extLst>
          </p:nvPr>
        </p:nvGraphicFramePr>
        <p:xfrm>
          <a:off x="247710" y="683177"/>
          <a:ext cx="4127467" cy="914400"/>
        </p:xfrm>
        <a:graphic>
          <a:graphicData uri="http://schemas.openxmlformats.org/drawingml/2006/table">
            <a:tbl>
              <a:tblPr>
                <a:effectLst>
                  <a:reflection blurRad="6350" stA="52000" endA="300" endPos="35000" dir="5400000" sy="-100000" algn="bl" rotWithShape="0"/>
                </a:effectLst>
              </a:tblPr>
              <a:tblGrid>
                <a:gridCol w="13128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46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9436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 dirty="0">
                          <a:solidFill>
                            <a:srgbClr val="0070C0"/>
                          </a:solidFill>
                          <a:effectLst/>
                        </a:rPr>
                        <a:t>函数名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0070C0"/>
                          </a:solidFill>
                          <a:effectLst/>
                        </a:rPr>
                        <a:t>简介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436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strike="noStrike" dirty="0">
                          <a:solidFill>
                            <a:srgbClr val="0070C0"/>
                          </a:solidFill>
                          <a:effectLst/>
                          <a:hlinkClick r:id="rId5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colormap</a:t>
                      </a:r>
                      <a:endParaRPr lang="en-US" sz="14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 dirty="0">
                          <a:solidFill>
                            <a:srgbClr val="0070C0"/>
                          </a:solidFill>
                          <a:effectLst/>
                        </a:rPr>
                        <a:t>查看并设置当前颜色图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436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strike="noStrike">
                          <a:solidFill>
                            <a:srgbClr val="0070C0"/>
                          </a:solidFill>
                          <a:effectLst/>
                          <a:hlinkClick r:id="rId6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colorbar</a:t>
                      </a:r>
                      <a:endParaRPr lang="en-US" sz="1400" b="1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 dirty="0">
                          <a:solidFill>
                            <a:srgbClr val="0070C0"/>
                          </a:solidFill>
                          <a:effectLst/>
                        </a:rPr>
                        <a:t>显示色阶的颜色栏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826157" y="70580"/>
            <a:ext cx="7994315" cy="51402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just" eaLnBrk="1" hangingPunct="1"/>
            <a:endParaRPr lang="en-US" altLang="zh-CN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  <a:p>
            <a:pPr algn="l" eaLnBrk="1" hangingPunct="1"/>
            <a:r>
              <a:rPr lang="en-US" altLang="zh-CN" sz="3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3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3.5.3 </a:t>
            </a:r>
            <a:r>
              <a:rPr lang="zh-CN" altLang="en-US" sz="3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三维曲面图</a:t>
            </a:r>
            <a:r>
              <a:rPr lang="en-US" altLang="zh-CN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zh-CN" sz="32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颜色图和颜色栏</a:t>
            </a:r>
          </a:p>
          <a:p>
            <a:pPr algn="l" eaLnBrk="1" hangingPunct="1"/>
            <a:endParaRPr lang="zh-CN" altLang="en-US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2108845" y="1683771"/>
            <a:ext cx="1855502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spAutoFit/>
          </a:bodyPr>
          <a:lstStyle/>
          <a:p>
            <a:r>
              <a:rPr lang="zh-CN" altLang="zh-CN" sz="1600" b="1" dirty="0">
                <a:solidFill>
                  <a:schemeClr val="bg1"/>
                </a:solidFill>
                <a:latin typeface="+mn-lt"/>
                <a:ea typeface="+mn-ea"/>
              </a:rPr>
              <a:t>colormap(</a:t>
            </a:r>
            <a:r>
              <a:rPr lang="en-US" altLang="zh-CN" sz="1600" b="1" dirty="0">
                <a:solidFill>
                  <a:schemeClr val="bg1"/>
                </a:solidFill>
                <a:latin typeface="+mn-lt"/>
                <a:ea typeface="+mn-ea"/>
              </a:rPr>
              <a:t>h</a:t>
            </a:r>
            <a:r>
              <a:rPr lang="zh-CN" altLang="zh-CN" sz="1600" b="1" dirty="0">
                <a:solidFill>
                  <a:schemeClr val="bg1"/>
                </a:solidFill>
                <a:latin typeface="+mn-lt"/>
                <a:ea typeface="+mn-ea"/>
              </a:rPr>
              <a:t>,map) 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68350" y="1696151"/>
            <a:ext cx="20198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设置当前颜色图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995936" y="1696151"/>
            <a:ext cx="48965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1600" b="1" i="0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将当前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曲面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sz="1600" b="1" i="0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颜色图设置</a:t>
            </a:r>
            <a:r>
              <a:rPr lang="en-US" altLang="zh-CN" sz="1600" b="1" i="0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</a:t>
            </a:r>
            <a:r>
              <a:rPr lang="zh-CN" altLang="en-US" sz="1600" b="1" i="0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指定颜色图</a:t>
            </a:r>
            <a:endParaRPr lang="zh-CN" altLang="en-US" sz="1600" b="1" dirty="0">
              <a:solidFill>
                <a:srgbClr val="00B0F0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7"/>
          <a:srcRect l="9034" t="20600" r="8264" b="15955"/>
          <a:stretch>
            <a:fillRect/>
          </a:stretch>
        </p:blipFill>
        <p:spPr>
          <a:xfrm>
            <a:off x="247710" y="2175815"/>
            <a:ext cx="8496944" cy="198011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11" name="文本框 10"/>
          <p:cNvSpPr txBox="1"/>
          <p:nvPr/>
        </p:nvSpPr>
        <p:spPr>
          <a:xfrm>
            <a:off x="147572" y="4276858"/>
            <a:ext cx="2163871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600" dirty="0"/>
              <a:t>显示色阶的颜色栏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564003" y="4276858"/>
            <a:ext cx="5206354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dist"/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在曲面图中添加指示色阶的颜色栏</a:t>
            </a: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2236727" y="4267436"/>
            <a:ext cx="1353525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</a:rPr>
              <a:t>c</a:t>
            </a:r>
            <a:r>
              <a:rPr lang="zh-CN" altLang="zh-CN" sz="1600" b="1" dirty="0">
                <a:solidFill>
                  <a:schemeClr val="bg1"/>
                </a:solidFill>
              </a:rPr>
              <a:t>olor</a:t>
            </a:r>
            <a:r>
              <a:rPr lang="en-US" altLang="zh-CN" sz="1600" b="1" dirty="0">
                <a:solidFill>
                  <a:schemeClr val="bg1"/>
                </a:solidFill>
              </a:rPr>
              <a:t>bar</a:t>
            </a:r>
            <a:r>
              <a:rPr lang="zh-CN" altLang="en-US" sz="1600" b="1" dirty="0">
                <a:solidFill>
                  <a:schemeClr val="bg1"/>
                </a:solidFill>
              </a:rPr>
              <a:t>（</a:t>
            </a:r>
            <a:r>
              <a:rPr lang="en-US" altLang="zh-CN" sz="1600" b="1" dirty="0">
                <a:solidFill>
                  <a:schemeClr val="bg1"/>
                </a:solidFill>
              </a:rPr>
              <a:t>h</a:t>
            </a:r>
            <a:r>
              <a:rPr lang="zh-CN" altLang="en-US" sz="1600" b="1" dirty="0">
                <a:solidFill>
                  <a:schemeClr val="bg1"/>
                </a:solidFill>
              </a:rPr>
              <a:t>）</a:t>
            </a:r>
            <a:endParaRPr lang="zh-CN" altLang="zh-CN" sz="1600" b="1" dirty="0">
              <a:solidFill>
                <a:schemeClr val="bg1"/>
              </a:solidFill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7876498" y="2871130"/>
            <a:ext cx="722806" cy="60129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2781" b="63020" l="63465" r="82996"/>
                    </a14:imgEffect>
                  </a14:imgLayer>
                </a14:imgProps>
              </a:ext>
            </a:extLst>
          </a:blip>
          <a:srcRect l="61024" t="29002" r="14563" b="39196"/>
          <a:stretch>
            <a:fillRect/>
          </a:stretch>
        </p:blipFill>
        <p:spPr>
          <a:xfrm>
            <a:off x="336564" y="1778791"/>
            <a:ext cx="3441671" cy="2522021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66725" y="771550"/>
            <a:ext cx="423896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B0F0"/>
                </a:solidFill>
              </a:rPr>
              <a:t>h=surf(</a:t>
            </a:r>
            <a:r>
              <a:rPr lang="en-US" altLang="zh-CN" sz="2000" b="1" dirty="0" err="1">
                <a:solidFill>
                  <a:srgbClr val="00B0F0"/>
                </a:solidFill>
              </a:rPr>
              <a:t>x,y,z</a:t>
            </a:r>
            <a:r>
              <a:rPr lang="en-US" altLang="zh-CN" sz="2000" b="1" dirty="0">
                <a:solidFill>
                  <a:srgbClr val="00B0F0"/>
                </a:solidFill>
              </a:rPr>
              <a:t>);#</a:t>
            </a:r>
            <a:r>
              <a:rPr lang="zh-CN" altLang="en-US" sz="2000" b="1" dirty="0">
                <a:solidFill>
                  <a:srgbClr val="00B0F0"/>
                </a:solidFill>
              </a:rPr>
              <a:t>曲面句柄</a:t>
            </a:r>
            <a:r>
              <a:rPr lang="en-US" altLang="zh-CN" sz="2000" b="1" dirty="0">
                <a:solidFill>
                  <a:srgbClr val="00B0F0"/>
                </a:solidFill>
              </a:rPr>
              <a:t>h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设置当前颜色图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00B0F0"/>
                </a:solidFill>
              </a:rPr>
              <a:t>colormap(h,"winter")</a:t>
            </a:r>
            <a:endParaRPr lang="zh-CN" altLang="en-US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000" b="1" dirty="0">
              <a:solidFill>
                <a:srgbClr val="00B0F0"/>
              </a:solidFill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826157" y="70580"/>
            <a:ext cx="7994315" cy="51402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just" eaLnBrk="1" hangingPunct="1"/>
            <a:endParaRPr lang="en-US" altLang="zh-CN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  <a:p>
            <a:pPr algn="l" eaLnBrk="1" hangingPunct="1"/>
            <a:r>
              <a:rPr lang="en-US" altLang="zh-CN" sz="3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3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3.5.3 </a:t>
            </a:r>
            <a:r>
              <a:rPr lang="zh-CN" altLang="en-US" sz="3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三维曲面图</a:t>
            </a:r>
            <a:r>
              <a:rPr lang="en-US" altLang="zh-CN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zh-CN" sz="32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颜色图和颜色栏</a:t>
            </a:r>
          </a:p>
          <a:p>
            <a:pPr algn="l" eaLnBrk="1" hangingPunct="1"/>
            <a:endParaRPr lang="zh-CN" altLang="en-US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5"/>
          <a:srcRect l="27163" t="13600" r="9838" b="12201"/>
          <a:stretch>
            <a:fillRect/>
          </a:stretch>
        </p:blipFill>
        <p:spPr>
          <a:xfrm>
            <a:off x="4593238" y="1799160"/>
            <a:ext cx="4238961" cy="2808312"/>
          </a:xfrm>
          <a:prstGeom prst="rect">
            <a:avLst/>
          </a:prstGeom>
        </p:spPr>
      </p:pic>
      <p:sp>
        <p:nvSpPr>
          <p:cNvPr id="8" name="波形 7"/>
          <p:cNvSpPr/>
          <p:nvPr/>
        </p:nvSpPr>
        <p:spPr>
          <a:xfrm>
            <a:off x="229880" y="342200"/>
            <a:ext cx="309672" cy="577227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例3</a:t>
            </a:r>
            <a:endParaRPr lang="ko-KR" altLang="en-US" sz="20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313720" y="712177"/>
            <a:ext cx="36004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00B0F0"/>
                </a:solidFill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dirty="0"/>
              <a:t>h=surf(</a:t>
            </a:r>
            <a:r>
              <a:rPr lang="en-US" altLang="zh-CN" dirty="0" err="1"/>
              <a:t>x,y,z</a:t>
            </a:r>
            <a:r>
              <a:rPr lang="en-US" altLang="zh-CN" dirty="0"/>
              <a:t>);#</a:t>
            </a:r>
            <a:r>
              <a:rPr lang="zh-CN" altLang="en-US" dirty="0"/>
              <a:t>曲面句柄</a:t>
            </a:r>
            <a:r>
              <a:rPr lang="en-US" altLang="zh-CN" dirty="0"/>
              <a:t>h</a:t>
            </a:r>
          </a:p>
          <a:p>
            <a:pPr>
              <a:lnSpc>
                <a:spcPct val="150000"/>
              </a:lnSpc>
            </a:pPr>
            <a:r>
              <a:rPr lang="en-US" altLang="zh-CN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显示色阶的颜色条（栏）</a:t>
            </a:r>
            <a:endParaRPr lang="en-US" altLang="zh-CN" b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/>
              <a:t> </a:t>
            </a:r>
            <a:r>
              <a:rPr lang="en-US" altLang="zh-CN" dirty="0" err="1"/>
              <a:t>colorbar</a:t>
            </a:r>
            <a:r>
              <a:rPr lang="en-US" altLang="zh-CN" dirty="0"/>
              <a:t>(h)</a:t>
            </a:r>
            <a:endParaRPr lang="zh-CN" altLang="en-US" dirty="0"/>
          </a:p>
          <a:p>
            <a:endParaRPr lang="en-US" altLang="zh-CN" dirty="0"/>
          </a:p>
        </p:txBody>
      </p:sp>
      <p:pic>
        <p:nvPicPr>
          <p:cNvPr id="10" name="Picture 3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412" y="4230115"/>
            <a:ext cx="4133850" cy="26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3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3100" y="4223011"/>
            <a:ext cx="4133850" cy="26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331640" y="5742"/>
            <a:ext cx="6768752" cy="62753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zh-CN" sz="3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3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3.5.4 </a:t>
            </a:r>
            <a:r>
              <a:rPr lang="zh-CN" altLang="en-US" sz="3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绘制等高线</a:t>
            </a:r>
            <a:r>
              <a:rPr lang="en-US" altLang="zh-CN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——contour </a:t>
            </a:r>
            <a:r>
              <a:rPr lang="zh-CN" altLang="en-US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语法</a:t>
            </a:r>
            <a:endParaRPr lang="zh-CN" altLang="en-US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</p:txBody>
      </p:sp>
      <p:pic>
        <p:nvPicPr>
          <p:cNvPr id="5" name="Picture 12" descr="https://gimg2.baidu.com/image_search/src=http%3A%2F%2Fimg.51wendang.com%2Fpic%2F9d787044fd14d945706fe804%2F9-810-jpg_6-1080-0-0-1080.jpg&amp;refer=http%3A%2F%2Fimg.51wendang.com&amp;app=2002&amp;size=f9999,10000&amp;q=a80&amp;n=0&amp;g=0n&amp;fmt=jpeg?sec=1637227986&amp;t=9784b2ad3e9d395fb1402f7928859a4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0489" y="1603087"/>
            <a:ext cx="3886870" cy="2915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/>
          <p:cNvSpPr/>
          <p:nvPr/>
        </p:nvSpPr>
        <p:spPr>
          <a:xfrm>
            <a:off x="3454146" y="1159170"/>
            <a:ext cx="5562378" cy="3139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>
              <a:lnSpc>
                <a:spcPct val="90000"/>
              </a:lnSpc>
            </a:pPr>
            <a:r>
              <a:rPr lang="zh-CN" alt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句柄</a:t>
            </a:r>
            <a:r>
              <a:rPr lang="en-US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c=</a:t>
            </a:r>
            <a:r>
              <a:rPr lang="en-US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contour(</a:t>
            </a:r>
            <a:r>
              <a:rPr lang="en-US" altLang="zh-CN" sz="1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3)</a:t>
            </a:r>
            <a:r>
              <a:rPr lang="en-US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(</a:t>
            </a:r>
            <a:r>
              <a:rPr lang="zh-CN" alt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坐标区</a:t>
            </a:r>
            <a:r>
              <a:rPr lang="en-US" altLang="zh-CN" sz="16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ax,</a:t>
            </a:r>
            <a:r>
              <a:rPr lang="en-US" altLang="zh-CN" sz="16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X,Y,Z,</a:t>
            </a:r>
            <a:r>
              <a:rPr lang="en-US" altLang="zh-CN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=Value</a:t>
            </a:r>
            <a:r>
              <a:rPr lang="en-US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-58458" y="1566712"/>
            <a:ext cx="5874656" cy="814582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rtlCol="0" anchor="t">
            <a:spAutoFit/>
          </a:bodyPr>
          <a:lstStyle/>
          <a:p>
            <a:pPr marL="457200" indent="-457200" eaLnBrk="0" hangingPunct="0">
              <a:lnSpc>
                <a:spcPts val="2900"/>
              </a:lnSpc>
              <a:buFont typeface="Wingdings" panose="05000000000000000000" pitchFamily="2" charset="2"/>
              <a:buChar char="p"/>
              <a:defRPr/>
            </a:pPr>
            <a:r>
              <a:rPr lang="en-US" altLang="zh-CN" sz="20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X,Y</a:t>
            </a:r>
            <a:r>
              <a:rPr lang="zh-CN" altLang="en-US" sz="20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是网格坐标矩阵</a:t>
            </a:r>
            <a:r>
              <a:rPr lang="en-US" altLang="zh-CN" sz="20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;</a:t>
            </a:r>
          </a:p>
          <a:p>
            <a:pPr marL="457200" indent="-457200" eaLnBrk="0" hangingPunct="0">
              <a:lnSpc>
                <a:spcPts val="2900"/>
              </a:lnSpc>
              <a:buFont typeface="Wingdings" panose="05000000000000000000" pitchFamily="2" charset="2"/>
              <a:buChar char="p"/>
              <a:defRPr/>
            </a:pPr>
            <a:r>
              <a:rPr lang="en-US" altLang="zh-CN" sz="20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Z</a:t>
            </a:r>
            <a:r>
              <a:rPr lang="zh-CN" altLang="en-US" sz="20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是网格点上的高度矩阵</a:t>
            </a:r>
            <a:endParaRPr lang="zh-CN" altLang="en-US" sz="20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矩形 8"/>
          <p:cNvSpPr>
            <a:spLocks noChangeArrowheads="1"/>
          </p:cNvSpPr>
          <p:nvPr/>
        </p:nvSpPr>
        <p:spPr bwMode="auto">
          <a:xfrm>
            <a:off x="6146" y="692086"/>
            <a:ext cx="9102358" cy="43037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dist" eaLnBrk="0" hangingPunct="0">
              <a:lnSpc>
                <a:spcPct val="120000"/>
              </a:lnSpc>
              <a:buClr>
                <a:schemeClr val="tx1"/>
              </a:buClr>
            </a:pP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等高线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contour(3): </a:t>
            </a: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同一高度封闭三维曲线，也可投影</a:t>
            </a:r>
            <a:r>
              <a:rPr lang="en-US" altLang="zh-CN" sz="2000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xy</a:t>
            </a: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水平面</a:t>
            </a: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闭合二维曲线</a:t>
            </a:r>
          </a:p>
        </p:txBody>
      </p:sp>
      <p:sp>
        <p:nvSpPr>
          <p:cNvPr id="11" name="矩形 10"/>
          <p:cNvSpPr/>
          <p:nvPr/>
        </p:nvSpPr>
        <p:spPr>
          <a:xfrm>
            <a:off x="1" y="3598770"/>
            <a:ext cx="3779912" cy="4038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  <a:buClr>
                <a:srgbClr val="002060"/>
              </a:buClr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等高线标识</a:t>
            </a:r>
            <a:r>
              <a:rPr lang="en-US" altLang="zh-CN" b="1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clabel</a:t>
            </a: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: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给等高线添加标签</a:t>
            </a:r>
          </a:p>
        </p:txBody>
      </p:sp>
      <p:sp>
        <p:nvSpPr>
          <p:cNvPr id="12" name="任意多边形: 形状 11"/>
          <p:cNvSpPr/>
          <p:nvPr/>
        </p:nvSpPr>
        <p:spPr bwMode="auto">
          <a:xfrm>
            <a:off x="6222839" y="1172017"/>
            <a:ext cx="2921161" cy="1380982"/>
          </a:xfrm>
          <a:custGeom>
            <a:avLst/>
            <a:gdLst>
              <a:gd name="connsiteX0" fmla="*/ 39680 w 2921161"/>
              <a:gd name="connsiteY0" fmla="*/ 338424 h 1380982"/>
              <a:gd name="connsiteX1" fmla="*/ 39680 w 2921161"/>
              <a:gd name="connsiteY1" fmla="*/ 338424 h 1380982"/>
              <a:gd name="connsiteX2" fmla="*/ 30536 w 2921161"/>
              <a:gd name="connsiteY2" fmla="*/ 850488 h 1380982"/>
              <a:gd name="connsiteX3" fmla="*/ 30536 w 2921161"/>
              <a:gd name="connsiteY3" fmla="*/ 850488 h 1380982"/>
              <a:gd name="connsiteX4" fmla="*/ 67112 w 2921161"/>
              <a:gd name="connsiteY4" fmla="*/ 996792 h 1380982"/>
              <a:gd name="connsiteX5" fmla="*/ 76256 w 2921161"/>
              <a:gd name="connsiteY5" fmla="*/ 1042512 h 1380982"/>
              <a:gd name="connsiteX6" fmla="*/ 112832 w 2921161"/>
              <a:gd name="connsiteY6" fmla="*/ 1051656 h 1380982"/>
              <a:gd name="connsiteX7" fmla="*/ 149408 w 2921161"/>
              <a:gd name="connsiteY7" fmla="*/ 1097376 h 1380982"/>
              <a:gd name="connsiteX8" fmla="*/ 304856 w 2921161"/>
              <a:gd name="connsiteY8" fmla="*/ 1115664 h 1380982"/>
              <a:gd name="connsiteX9" fmla="*/ 304856 w 2921161"/>
              <a:gd name="connsiteY9" fmla="*/ 1106520 h 1380982"/>
              <a:gd name="connsiteX10" fmla="*/ 414584 w 2921161"/>
              <a:gd name="connsiteY10" fmla="*/ 1152240 h 1380982"/>
              <a:gd name="connsiteX11" fmla="*/ 423728 w 2921161"/>
              <a:gd name="connsiteY11" fmla="*/ 1179672 h 1380982"/>
              <a:gd name="connsiteX12" fmla="*/ 469448 w 2921161"/>
              <a:gd name="connsiteY12" fmla="*/ 1188816 h 1380982"/>
              <a:gd name="connsiteX13" fmla="*/ 707192 w 2921161"/>
              <a:gd name="connsiteY13" fmla="*/ 1243680 h 1380982"/>
              <a:gd name="connsiteX14" fmla="*/ 798632 w 2921161"/>
              <a:gd name="connsiteY14" fmla="*/ 1252824 h 1380982"/>
              <a:gd name="connsiteX15" fmla="*/ 798632 w 2921161"/>
              <a:gd name="connsiteY15" fmla="*/ 1252824 h 1380982"/>
              <a:gd name="connsiteX16" fmla="*/ 1319840 w 2921161"/>
              <a:gd name="connsiteY16" fmla="*/ 1362552 h 1380982"/>
              <a:gd name="connsiteX17" fmla="*/ 1466144 w 2921161"/>
              <a:gd name="connsiteY17" fmla="*/ 1371696 h 1380982"/>
              <a:gd name="connsiteX18" fmla="*/ 1603304 w 2921161"/>
              <a:gd name="connsiteY18" fmla="*/ 1380840 h 1380982"/>
              <a:gd name="connsiteX19" fmla="*/ 1603304 w 2921161"/>
              <a:gd name="connsiteY19" fmla="*/ 1380840 h 1380982"/>
              <a:gd name="connsiteX20" fmla="*/ 1923344 w 2921161"/>
              <a:gd name="connsiteY20" fmla="*/ 1371696 h 1380982"/>
              <a:gd name="connsiteX21" fmla="*/ 1959920 w 2921161"/>
              <a:gd name="connsiteY21" fmla="*/ 1362552 h 1380982"/>
              <a:gd name="connsiteX22" fmla="*/ 2051360 w 2921161"/>
              <a:gd name="connsiteY22" fmla="*/ 1335120 h 1380982"/>
              <a:gd name="connsiteX23" fmla="*/ 2115368 w 2921161"/>
              <a:gd name="connsiteY23" fmla="*/ 1298544 h 1380982"/>
              <a:gd name="connsiteX24" fmla="*/ 2142800 w 2921161"/>
              <a:gd name="connsiteY24" fmla="*/ 1280256 h 1380982"/>
              <a:gd name="connsiteX25" fmla="*/ 2444552 w 2921161"/>
              <a:gd name="connsiteY25" fmla="*/ 1197960 h 1380982"/>
              <a:gd name="connsiteX26" fmla="*/ 2481128 w 2921161"/>
              <a:gd name="connsiteY26" fmla="*/ 1197960 h 1380982"/>
              <a:gd name="connsiteX27" fmla="*/ 2481128 w 2921161"/>
              <a:gd name="connsiteY27" fmla="*/ 1197960 h 1380982"/>
              <a:gd name="connsiteX28" fmla="*/ 2563424 w 2921161"/>
              <a:gd name="connsiteY28" fmla="*/ 1152240 h 1380982"/>
              <a:gd name="connsiteX29" fmla="*/ 2609144 w 2921161"/>
              <a:gd name="connsiteY29" fmla="*/ 1115664 h 1380982"/>
              <a:gd name="connsiteX30" fmla="*/ 2728016 w 2921161"/>
              <a:gd name="connsiteY30" fmla="*/ 1069944 h 1380982"/>
              <a:gd name="connsiteX31" fmla="*/ 2792024 w 2921161"/>
              <a:gd name="connsiteY31" fmla="*/ 1051656 h 1380982"/>
              <a:gd name="connsiteX32" fmla="*/ 2846888 w 2921161"/>
              <a:gd name="connsiteY32" fmla="*/ 1042512 h 1380982"/>
              <a:gd name="connsiteX33" fmla="*/ 2846888 w 2921161"/>
              <a:gd name="connsiteY33" fmla="*/ 1042512 h 1380982"/>
              <a:gd name="connsiteX34" fmla="*/ 2901752 w 2921161"/>
              <a:gd name="connsiteY34" fmla="*/ 768192 h 1380982"/>
              <a:gd name="connsiteX35" fmla="*/ 2910896 w 2921161"/>
              <a:gd name="connsiteY35" fmla="*/ 576168 h 1380982"/>
              <a:gd name="connsiteX36" fmla="*/ 2920040 w 2921161"/>
              <a:gd name="connsiteY36" fmla="*/ 493872 h 1380982"/>
              <a:gd name="connsiteX37" fmla="*/ 2910896 w 2921161"/>
              <a:gd name="connsiteY37" fmla="*/ 210408 h 1380982"/>
              <a:gd name="connsiteX38" fmla="*/ 2846888 w 2921161"/>
              <a:gd name="connsiteY38" fmla="*/ 118968 h 1380982"/>
              <a:gd name="connsiteX39" fmla="*/ 2828600 w 2921161"/>
              <a:gd name="connsiteY39" fmla="*/ 82392 h 1380982"/>
              <a:gd name="connsiteX40" fmla="*/ 2508560 w 2921161"/>
              <a:gd name="connsiteY40" fmla="*/ 73248 h 1380982"/>
              <a:gd name="connsiteX41" fmla="*/ 2353112 w 2921161"/>
              <a:gd name="connsiteY41" fmla="*/ 45816 h 1380982"/>
              <a:gd name="connsiteX42" fmla="*/ 1685600 w 2921161"/>
              <a:gd name="connsiteY42" fmla="*/ 27528 h 1380982"/>
              <a:gd name="connsiteX43" fmla="*/ 1694744 w 2921161"/>
              <a:gd name="connsiteY43" fmla="*/ 27528 h 1380982"/>
              <a:gd name="connsiteX44" fmla="*/ 1383848 w 2921161"/>
              <a:gd name="connsiteY44" fmla="*/ 9240 h 1380982"/>
              <a:gd name="connsiteX45" fmla="*/ 771200 w 2921161"/>
              <a:gd name="connsiteY45" fmla="*/ 96 h 1380982"/>
              <a:gd name="connsiteX46" fmla="*/ 771200 w 2921161"/>
              <a:gd name="connsiteY46" fmla="*/ 96 h 1380982"/>
              <a:gd name="connsiteX47" fmla="*/ 423728 w 2921161"/>
              <a:gd name="connsiteY47" fmla="*/ 36672 h 1380982"/>
              <a:gd name="connsiteX48" fmla="*/ 304856 w 2921161"/>
              <a:gd name="connsiteY48" fmla="*/ 82392 h 1380982"/>
              <a:gd name="connsiteX49" fmla="*/ 240848 w 2921161"/>
              <a:gd name="connsiteY49" fmla="*/ 91536 h 1380982"/>
              <a:gd name="connsiteX50" fmla="*/ 222560 w 2921161"/>
              <a:gd name="connsiteY50" fmla="*/ 118968 h 1380982"/>
              <a:gd name="connsiteX51" fmla="*/ 204272 w 2921161"/>
              <a:gd name="connsiteY51" fmla="*/ 155544 h 1380982"/>
              <a:gd name="connsiteX52" fmla="*/ 67112 w 2921161"/>
              <a:gd name="connsiteY52" fmla="*/ 301848 h 1380982"/>
              <a:gd name="connsiteX53" fmla="*/ 48824 w 2921161"/>
              <a:gd name="connsiteY53" fmla="*/ 329280 h 1380982"/>
              <a:gd name="connsiteX54" fmla="*/ 39680 w 2921161"/>
              <a:gd name="connsiteY54" fmla="*/ 338424 h 1380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2921161" h="1380982">
                <a:moveTo>
                  <a:pt x="39680" y="338424"/>
                </a:moveTo>
                <a:lnTo>
                  <a:pt x="39680" y="338424"/>
                </a:lnTo>
                <a:cubicBezTo>
                  <a:pt x="20484" y="587974"/>
                  <a:pt x="30536" y="417555"/>
                  <a:pt x="30536" y="850488"/>
                </a:cubicBezTo>
                <a:lnTo>
                  <a:pt x="30536" y="850488"/>
                </a:lnTo>
                <a:cubicBezTo>
                  <a:pt x="42728" y="899256"/>
                  <a:pt x="55469" y="947890"/>
                  <a:pt x="67112" y="996792"/>
                </a:cubicBezTo>
                <a:cubicBezTo>
                  <a:pt x="70712" y="1011911"/>
                  <a:pt x="66306" y="1030572"/>
                  <a:pt x="76256" y="1042512"/>
                </a:cubicBezTo>
                <a:cubicBezTo>
                  <a:pt x="84301" y="1052166"/>
                  <a:pt x="100640" y="1048608"/>
                  <a:pt x="112832" y="1051656"/>
                </a:cubicBezTo>
                <a:cubicBezTo>
                  <a:pt x="234613" y="1132843"/>
                  <a:pt x="61073" y="1009041"/>
                  <a:pt x="149408" y="1097376"/>
                </a:cubicBezTo>
                <a:cubicBezTo>
                  <a:pt x="185416" y="1133384"/>
                  <a:pt x="277025" y="1115664"/>
                  <a:pt x="304856" y="1115664"/>
                </a:cubicBezTo>
                <a:lnTo>
                  <a:pt x="304856" y="1106520"/>
                </a:lnTo>
                <a:cubicBezTo>
                  <a:pt x="341432" y="1121760"/>
                  <a:pt x="380838" y="1131473"/>
                  <a:pt x="414584" y="1152240"/>
                </a:cubicBezTo>
                <a:cubicBezTo>
                  <a:pt x="422793" y="1157292"/>
                  <a:pt x="415708" y="1174325"/>
                  <a:pt x="423728" y="1179672"/>
                </a:cubicBezTo>
                <a:cubicBezTo>
                  <a:pt x="436660" y="1188293"/>
                  <a:pt x="454288" y="1185393"/>
                  <a:pt x="469448" y="1188816"/>
                </a:cubicBezTo>
                <a:lnTo>
                  <a:pt x="707192" y="1243680"/>
                </a:lnTo>
                <a:cubicBezTo>
                  <a:pt x="756396" y="1254117"/>
                  <a:pt x="759769" y="1252824"/>
                  <a:pt x="798632" y="1252824"/>
                </a:cubicBezTo>
                <a:lnTo>
                  <a:pt x="798632" y="1252824"/>
                </a:lnTo>
                <a:cubicBezTo>
                  <a:pt x="977507" y="1294912"/>
                  <a:pt x="1139174" y="1339390"/>
                  <a:pt x="1319840" y="1362552"/>
                </a:cubicBezTo>
                <a:cubicBezTo>
                  <a:pt x="1368306" y="1368766"/>
                  <a:pt x="1417436" y="1367799"/>
                  <a:pt x="1466144" y="1371696"/>
                </a:cubicBezTo>
                <a:cubicBezTo>
                  <a:pt x="1605689" y="1382860"/>
                  <a:pt x="1494950" y="1380840"/>
                  <a:pt x="1603304" y="1380840"/>
                </a:cubicBezTo>
                <a:lnTo>
                  <a:pt x="1603304" y="1380840"/>
                </a:lnTo>
                <a:cubicBezTo>
                  <a:pt x="1709984" y="1377792"/>
                  <a:pt x="1816761" y="1377162"/>
                  <a:pt x="1923344" y="1371696"/>
                </a:cubicBezTo>
                <a:cubicBezTo>
                  <a:pt x="1935895" y="1371052"/>
                  <a:pt x="1947836" y="1366004"/>
                  <a:pt x="1959920" y="1362552"/>
                </a:cubicBezTo>
                <a:cubicBezTo>
                  <a:pt x="1990518" y="1353810"/>
                  <a:pt x="2021935" y="1347236"/>
                  <a:pt x="2051360" y="1335120"/>
                </a:cubicBezTo>
                <a:cubicBezTo>
                  <a:pt x="2074083" y="1325764"/>
                  <a:pt x="2094296" y="1311187"/>
                  <a:pt x="2115368" y="1298544"/>
                </a:cubicBezTo>
                <a:cubicBezTo>
                  <a:pt x="2124792" y="1292890"/>
                  <a:pt x="2132510" y="1284115"/>
                  <a:pt x="2142800" y="1280256"/>
                </a:cubicBezTo>
                <a:cubicBezTo>
                  <a:pt x="2278676" y="1229303"/>
                  <a:pt x="2318463" y="1213721"/>
                  <a:pt x="2444552" y="1197960"/>
                </a:cubicBezTo>
                <a:cubicBezTo>
                  <a:pt x="2456650" y="1196448"/>
                  <a:pt x="2468936" y="1197960"/>
                  <a:pt x="2481128" y="1197960"/>
                </a:cubicBezTo>
                <a:lnTo>
                  <a:pt x="2481128" y="1197960"/>
                </a:lnTo>
                <a:cubicBezTo>
                  <a:pt x="2508560" y="1182720"/>
                  <a:pt x="2537027" y="1169210"/>
                  <a:pt x="2563424" y="1152240"/>
                </a:cubicBezTo>
                <a:cubicBezTo>
                  <a:pt x="2579841" y="1141686"/>
                  <a:pt x="2591688" y="1124392"/>
                  <a:pt x="2609144" y="1115664"/>
                </a:cubicBezTo>
                <a:cubicBezTo>
                  <a:pt x="2647116" y="1096678"/>
                  <a:pt x="2687946" y="1083969"/>
                  <a:pt x="2728016" y="1069944"/>
                </a:cubicBezTo>
                <a:cubicBezTo>
                  <a:pt x="2748960" y="1062614"/>
                  <a:pt x="2770616" y="1057495"/>
                  <a:pt x="2792024" y="1051656"/>
                </a:cubicBezTo>
                <a:cubicBezTo>
                  <a:pt x="2830973" y="1041034"/>
                  <a:pt x="2817750" y="1042512"/>
                  <a:pt x="2846888" y="1042512"/>
                </a:cubicBezTo>
                <a:lnTo>
                  <a:pt x="2846888" y="1042512"/>
                </a:lnTo>
                <a:cubicBezTo>
                  <a:pt x="2865176" y="951072"/>
                  <a:pt x="2889072" y="860577"/>
                  <a:pt x="2901752" y="768192"/>
                </a:cubicBezTo>
                <a:cubicBezTo>
                  <a:pt x="2910466" y="704707"/>
                  <a:pt x="2906633" y="640107"/>
                  <a:pt x="2910896" y="576168"/>
                </a:cubicBezTo>
                <a:cubicBezTo>
                  <a:pt x="2912732" y="548628"/>
                  <a:pt x="2916992" y="521304"/>
                  <a:pt x="2920040" y="493872"/>
                </a:cubicBezTo>
                <a:cubicBezTo>
                  <a:pt x="2916992" y="399384"/>
                  <a:pt x="2929001" y="303195"/>
                  <a:pt x="2910896" y="210408"/>
                </a:cubicBezTo>
                <a:cubicBezTo>
                  <a:pt x="2903771" y="173891"/>
                  <a:pt x="2863527" y="152246"/>
                  <a:pt x="2846888" y="118968"/>
                </a:cubicBezTo>
                <a:cubicBezTo>
                  <a:pt x="2840792" y="106776"/>
                  <a:pt x="2842108" y="84217"/>
                  <a:pt x="2828600" y="82392"/>
                </a:cubicBezTo>
                <a:cubicBezTo>
                  <a:pt x="2722838" y="68100"/>
                  <a:pt x="2615240" y="76296"/>
                  <a:pt x="2508560" y="73248"/>
                </a:cubicBezTo>
                <a:cubicBezTo>
                  <a:pt x="2462880" y="64112"/>
                  <a:pt x="2391324" y="49290"/>
                  <a:pt x="2353112" y="45816"/>
                </a:cubicBezTo>
                <a:cubicBezTo>
                  <a:pt x="2066196" y="19733"/>
                  <a:pt x="1991460" y="27528"/>
                  <a:pt x="1685600" y="27528"/>
                </a:cubicBezTo>
                <a:lnTo>
                  <a:pt x="1694744" y="27528"/>
                </a:lnTo>
                <a:lnTo>
                  <a:pt x="1383848" y="9240"/>
                </a:lnTo>
                <a:cubicBezTo>
                  <a:pt x="1105499" y="-1605"/>
                  <a:pt x="1016867" y="96"/>
                  <a:pt x="771200" y="96"/>
                </a:cubicBezTo>
                <a:lnTo>
                  <a:pt x="771200" y="96"/>
                </a:lnTo>
                <a:cubicBezTo>
                  <a:pt x="655376" y="12288"/>
                  <a:pt x="538921" y="19516"/>
                  <a:pt x="423728" y="36672"/>
                </a:cubicBezTo>
                <a:cubicBezTo>
                  <a:pt x="227174" y="65946"/>
                  <a:pt x="415061" y="52336"/>
                  <a:pt x="304856" y="82392"/>
                </a:cubicBezTo>
                <a:cubicBezTo>
                  <a:pt x="284063" y="88063"/>
                  <a:pt x="262184" y="88488"/>
                  <a:pt x="240848" y="91536"/>
                </a:cubicBezTo>
                <a:cubicBezTo>
                  <a:pt x="234752" y="100680"/>
                  <a:pt x="228012" y="109426"/>
                  <a:pt x="222560" y="118968"/>
                </a:cubicBezTo>
                <a:cubicBezTo>
                  <a:pt x="215797" y="130803"/>
                  <a:pt x="213100" y="145158"/>
                  <a:pt x="204272" y="155544"/>
                </a:cubicBezTo>
                <a:cubicBezTo>
                  <a:pt x="160978" y="206478"/>
                  <a:pt x="104193" y="246227"/>
                  <a:pt x="67112" y="301848"/>
                </a:cubicBezTo>
                <a:cubicBezTo>
                  <a:pt x="61016" y="310992"/>
                  <a:pt x="57406" y="322415"/>
                  <a:pt x="48824" y="329280"/>
                </a:cubicBezTo>
                <a:cubicBezTo>
                  <a:pt x="-56247" y="413337"/>
                  <a:pt x="41204" y="336900"/>
                  <a:pt x="39680" y="338424"/>
                </a:cubicBezTo>
                <a:close/>
              </a:path>
            </a:pathLst>
          </a:cu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3" name="云形 12"/>
          <p:cNvSpPr/>
          <p:nvPr/>
        </p:nvSpPr>
        <p:spPr bwMode="auto">
          <a:xfrm>
            <a:off x="5940496" y="2643758"/>
            <a:ext cx="2087888" cy="727684"/>
          </a:xfrm>
          <a:prstGeom prst="cloud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4" name="云形 13"/>
          <p:cNvSpPr/>
          <p:nvPr/>
        </p:nvSpPr>
        <p:spPr bwMode="auto">
          <a:xfrm>
            <a:off x="5325655" y="2792625"/>
            <a:ext cx="3183281" cy="1800200"/>
          </a:xfrm>
          <a:prstGeom prst="cloud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cxnSp>
        <p:nvCxnSpPr>
          <p:cNvPr id="15" name="连接符: 曲线 14"/>
          <p:cNvCxnSpPr/>
          <p:nvPr/>
        </p:nvCxnSpPr>
        <p:spPr bwMode="auto">
          <a:xfrm rot="10800000" flipV="1">
            <a:off x="7214616" y="3371442"/>
            <a:ext cx="21680" cy="2694"/>
          </a:xfrm>
          <a:prstGeom prst="curvedConnector3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连接符: 曲线 15"/>
          <p:cNvCxnSpPr/>
          <p:nvPr/>
        </p:nvCxnSpPr>
        <p:spPr bwMode="auto">
          <a:xfrm rot="10800000">
            <a:off x="7159752" y="3337561"/>
            <a:ext cx="54864" cy="29045"/>
          </a:xfrm>
          <a:prstGeom prst="curvedConnector3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连接符: 曲线 16"/>
          <p:cNvCxnSpPr/>
          <p:nvPr/>
        </p:nvCxnSpPr>
        <p:spPr bwMode="auto">
          <a:xfrm rot="5400000">
            <a:off x="6866077" y="3946574"/>
            <a:ext cx="4701" cy="2566"/>
          </a:xfrm>
          <a:prstGeom prst="curvedConnector3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连接符: 曲线 17"/>
          <p:cNvCxnSpPr/>
          <p:nvPr/>
        </p:nvCxnSpPr>
        <p:spPr bwMode="auto">
          <a:xfrm rot="10800000">
            <a:off x="7324344" y="4688087"/>
            <a:ext cx="29866" cy="6830"/>
          </a:xfrm>
          <a:prstGeom prst="curvedConnector3">
            <a:avLst>
              <a:gd name="adj1" fmla="val -3042292"/>
            </a:avLst>
          </a:prstGeom>
          <a:noFill/>
          <a:ln w="12700" cap="flat" cmpd="sng" algn="ctr">
            <a:noFill/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0" name="矩形 19"/>
          <p:cNvSpPr/>
          <p:nvPr/>
        </p:nvSpPr>
        <p:spPr>
          <a:xfrm>
            <a:off x="3758511" y="3603874"/>
            <a:ext cx="1260604" cy="3416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>
              <a:lnSpc>
                <a:spcPct val="90000"/>
              </a:lnSpc>
            </a:pPr>
            <a:r>
              <a:rPr lang="en-US" altLang="zh-C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clabel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(c) 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0" y="4171694"/>
            <a:ext cx="328683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填充的二维等高线图</a:t>
            </a:r>
            <a:r>
              <a:rPr lang="en-US" altLang="zh-CN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contourf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245989" y="4212984"/>
            <a:ext cx="5797910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/>
            <a:r>
              <a:rPr lang="zh-CN" alt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等高线句柄</a:t>
            </a:r>
            <a:r>
              <a:rPr lang="en-US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h=</a:t>
            </a:r>
            <a:r>
              <a:rPr lang="en-US" altLang="zh-CN" sz="16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contourf</a:t>
            </a:r>
            <a:r>
              <a:rPr lang="en-US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坐标区</a:t>
            </a:r>
            <a:r>
              <a:rPr lang="en-US" altLang="zh-CN" sz="16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ax,</a:t>
            </a:r>
            <a:r>
              <a:rPr lang="en-US" altLang="zh-CN" sz="16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x,y,z,</a:t>
            </a:r>
            <a:r>
              <a:rPr lang="en-US" altLang="zh-CN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Key</a:t>
            </a: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=Value</a:t>
            </a:r>
            <a:r>
              <a:rPr lang="en-US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4716016" y="1995009"/>
            <a:ext cx="4634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FF0000"/>
                </a:solidFill>
                <a:effectLst/>
                <a:latin typeface="-apple-system"/>
              </a:rPr>
              <a:t>在地形图上，把海拔相同的各点连接成线，叫做等高线。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0" y="1139762"/>
            <a:ext cx="12781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等高线</a:t>
            </a:r>
            <a:endParaRPr lang="zh-CN" altLang="en-US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32658" y="1157731"/>
            <a:ext cx="2258394" cy="3139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>
              <a:lnSpc>
                <a:spcPct val="90000"/>
              </a:lnSpc>
            </a:pPr>
            <a:r>
              <a:rPr lang="en-US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contour(3)(X,Y,Z)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3062779" y="1123752"/>
            <a:ext cx="288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FF00"/>
                </a:solidFill>
                <a:highlight>
                  <a:srgbClr val="003B76"/>
                </a:highlight>
                <a:latin typeface="隶书" panose="02010509060101010101" charset="-122"/>
                <a:ea typeface="隶书" panose="02010509060101010101" charset="-122"/>
              </a:rPr>
              <a:t>或</a:t>
            </a:r>
            <a:endParaRPr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BDB6BBD-C2FF-4D34-A269-67B45EEAA60B}"/>
              </a:ext>
            </a:extLst>
          </p:cNvPr>
          <p:cNvSpPr/>
          <p:nvPr/>
        </p:nvSpPr>
        <p:spPr>
          <a:xfrm>
            <a:off x="2183009" y="3088042"/>
            <a:ext cx="1987332" cy="3416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>
              <a:lnSpc>
                <a:spcPct val="90000"/>
              </a:lnSpc>
            </a:pP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c=contour(X,Y,Z)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C75829F-459A-4378-A991-B144F69EAFDA}"/>
              </a:ext>
            </a:extLst>
          </p:cNvPr>
          <p:cNvSpPr txBox="1"/>
          <p:nvPr/>
        </p:nvSpPr>
        <p:spPr>
          <a:xfrm>
            <a:off x="-40841" y="2494988"/>
            <a:ext cx="29237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最后一项为等高线数量</a:t>
            </a:r>
          </a:p>
        </p:txBody>
      </p:sp>
      <p:sp>
        <p:nvSpPr>
          <p:cNvPr id="29" name="Rectangle 2">
            <a:extLst>
              <a:ext uri="{FF2B5EF4-FFF2-40B4-BE49-F238E27FC236}">
                <a16:creationId xmlns:a16="http://schemas.microsoft.com/office/drawing/2014/main" id="{FC4A1ED6-75E2-4518-B97E-148B21C44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946" y="2475557"/>
            <a:ext cx="1963487" cy="349989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>
              <a:lnSpc>
                <a:spcPct val="90000"/>
              </a:lnSpc>
            </a:pPr>
            <a:r>
              <a:rPr lang="zh-CN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contour(__,levels) 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CB47108-D4D5-4F1B-98C6-3A8D5B618B9B}"/>
              </a:ext>
            </a:extLst>
          </p:cNvPr>
          <p:cNvSpPr txBox="1"/>
          <p:nvPr/>
        </p:nvSpPr>
        <p:spPr>
          <a:xfrm>
            <a:off x="-26520" y="3076355"/>
            <a:ext cx="19811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代表等高线句柄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c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0" grpId="0" animBg="1"/>
      <p:bldP spid="21" grpId="0" animBg="1"/>
      <p:bldP spid="22" grpId="0" animBg="1"/>
      <p:bldP spid="27" grpId="0" animBg="1"/>
      <p:bldP spid="28" grpId="0"/>
      <p:bldP spid="29" grpId="0" animBg="1"/>
      <p:bldP spid="3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F4439E33-B4AC-4B32-835B-D49F0A327173}"/>
              </a:ext>
            </a:extLst>
          </p:cNvPr>
          <p:cNvSpPr txBox="1"/>
          <p:nvPr/>
        </p:nvSpPr>
        <p:spPr>
          <a:xfrm>
            <a:off x="66701" y="267494"/>
            <a:ext cx="9077299" cy="480131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xx=-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x,y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meshgrid2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(xx);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#x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和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网格矩阵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z=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@.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x^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+y^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建立</a:t>
            </a:r>
            <a:r>
              <a:rPr lang="en-US" altLang="zh-CN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zz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关于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x,y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点运算函数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subplot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plot3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x,y,z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三维曲线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subplot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创建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行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列共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个图的第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图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meshc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x,y,z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点运算画带等高线的网格图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subplot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s=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surfc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x,y,z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点运算画带等高线的曲面图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shading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s,</a:t>
            </a:r>
            <a:r>
              <a:rPr lang="en-US" altLang="zh-C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"flat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光滑着色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subplot(2,3,3)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subplot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contour3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(x,y,z,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#30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条三维等高线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subplot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c=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contour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(x,y,z,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等高线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clabel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(c)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带标签等高线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subplot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contourf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(x,y,z,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填充颜色的等高线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051720" y="-149628"/>
            <a:ext cx="7145933" cy="51402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just" eaLnBrk="1" hangingPunct="1"/>
            <a:endParaRPr lang="en-US" altLang="zh-CN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  <a:p>
            <a:pPr algn="l" eaLnBrk="1" hangingPunct="1"/>
            <a:r>
              <a:rPr lang="zh-CN" altLang="en-US" sz="3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绘制</a:t>
            </a:r>
            <a:r>
              <a:rPr lang="en-US" altLang="zh-CN" sz="3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z=x2+y2</a:t>
            </a:r>
            <a:r>
              <a:rPr lang="zh-CN" altLang="en-US" sz="3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三维</a:t>
            </a:r>
            <a:r>
              <a:rPr lang="zh-CN" altLang="en-US" sz="3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曲面等高线</a:t>
            </a:r>
            <a:r>
              <a:rPr lang="en-US" altLang="zh-CN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示例</a:t>
            </a:r>
            <a:endParaRPr lang="zh-CN" altLang="en-US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EB33FB25-A92E-473D-A918-4D868CC61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992" y="1347614"/>
            <a:ext cx="4405890" cy="3247086"/>
          </a:xfrm>
          <a:prstGeom prst="rect">
            <a:avLst/>
          </a:prstGeom>
        </p:spPr>
      </p:pic>
      <p:sp>
        <p:nvSpPr>
          <p:cNvPr id="6" name="波形 5">
            <a:extLst>
              <a:ext uri="{FF2B5EF4-FFF2-40B4-BE49-F238E27FC236}">
                <a16:creationId xmlns:a16="http://schemas.microsoft.com/office/drawing/2014/main" id="{11B77412-DDB9-4215-85A2-038F024D6433}"/>
              </a:ext>
            </a:extLst>
          </p:cNvPr>
          <p:cNvSpPr/>
          <p:nvPr/>
        </p:nvSpPr>
        <p:spPr>
          <a:xfrm>
            <a:off x="8388424" y="598649"/>
            <a:ext cx="372086" cy="549713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>
              <a:lnSpc>
                <a:spcPct val="140000"/>
              </a:lnSpc>
            </a:pPr>
            <a:r>
              <a:rPr lang="en-US" altLang="ko-KR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例4</a:t>
            </a:r>
            <a:endParaRPr lang="ko-KR" altLang="en-US" sz="20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波形 4"/>
          <p:cNvSpPr/>
          <p:nvPr/>
        </p:nvSpPr>
        <p:spPr>
          <a:xfrm>
            <a:off x="181972" y="298527"/>
            <a:ext cx="372086" cy="549713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>
              <a:lnSpc>
                <a:spcPct val="140000"/>
              </a:lnSpc>
            </a:pPr>
            <a:r>
              <a:rPr lang="en-US" altLang="ko-KR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例5</a:t>
            </a:r>
            <a:endParaRPr lang="ko-KR" altLang="en-US" sz="20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181972" y="1118365"/>
                <a:ext cx="8868769" cy="12065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algn="just" eaLnBrk="0" hangingPunct="0"/>
                <a:r>
                  <a:rPr lang="en-US" altLang="zh-CN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</a:t>
                </a:r>
                <a:r>
                  <a:rPr lang="zh-CN" altLang="zh-CN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牛顿环是一个薄膜干涉现象，由一块曲率很大平凸透镜的凸面放在一块光学平板时，光照射所形成明暗相间的同心圆环，如图所示。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zh-CN" dirty="0">
                        <a:solidFill>
                          <a:srgbClr val="0070C0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rPr>
                      <m:t>入射光波长</m:t>
                    </m:r>
                    <m:r>
                      <a:rPr lang="en-US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𝜆</m:t>
                    </m:r>
                  </m:oMath>
                </a14:m>
                <a:r>
                  <a:rPr lang="zh-CN" altLang="zh-CN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为</a:t>
                </a:r>
                <a:r>
                  <a:rPr lang="en-US" altLang="zh-CN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0.000589mm</a:t>
                </a:r>
                <a:r>
                  <a:rPr lang="zh-CN" altLang="zh-CN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，凸透镜曲率半径</a:t>
                </a:r>
                <a:r>
                  <a:rPr lang="en-US" altLang="zh-CN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R</a:t>
                </a:r>
                <a:r>
                  <a:rPr lang="zh-CN" altLang="en-US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为</a:t>
                </a:r>
                <a:r>
                  <a:rPr lang="en-US" altLang="zh-CN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1000mm</a:t>
                </a:r>
                <a:r>
                  <a:rPr lang="zh-CN" altLang="zh-CN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</a:t>
                </a:r>
                <a:r>
                  <a:rPr lang="en-US" altLang="zh-CN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e</a:t>
                </a:r>
                <a:r>
                  <a:rPr lang="zh-CN" altLang="zh-CN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空气薄膜厚度</a:t>
                </a:r>
                <a:r>
                  <a:rPr lang="zh-CN" altLang="en-US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，某</a:t>
                </a:r>
                <a:r>
                  <a:rPr lang="en-US" altLang="zh-CN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p</a:t>
                </a:r>
                <a:r>
                  <a:rPr lang="zh-CN" altLang="en-US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点</a:t>
                </a:r>
                <a:r>
                  <a:rPr lang="zh-CN" altLang="zh-CN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干涉</a:t>
                </a:r>
                <a:r>
                  <a:rPr lang="zh-CN" altLang="en-US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光环</a:t>
                </a:r>
                <a:r>
                  <a:rPr lang="zh-CN" altLang="zh-CN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半径为</a:t>
                </a:r>
                <a:r>
                  <a:rPr lang="en-US" altLang="zh-CN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r</a:t>
                </a:r>
                <a:r>
                  <a:rPr lang="zh-CN" altLang="en-US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，而</a:t>
                </a:r>
                <a:r>
                  <a:rPr lang="en-US" altLang="zh-CN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p</a:t>
                </a:r>
                <a:r>
                  <a:rPr lang="zh-CN" altLang="en-US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点衍射图样位置坐标为</a:t>
                </a:r>
                <a:r>
                  <a:rPr lang="en-US" altLang="zh-CN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x</a:t>
                </a:r>
                <a:r>
                  <a:rPr lang="zh-CN" altLang="en-US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、</a:t>
                </a:r>
                <a:r>
                  <a:rPr lang="en-US" altLang="zh-CN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y</a:t>
                </a:r>
                <a:r>
                  <a:rPr lang="zh-CN" altLang="en-US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𝑟</m:t>
                        </m:r>
                      </m:e>
                      <m:sup>
                        <m:r>
                          <a:rPr lang="en-US" altLang="zh-CN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𝑥</m:t>
                        </m:r>
                      </m:e>
                      <m:sup>
                        <m:r>
                          <a:rPr lang="en-US" altLang="zh-CN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+</m:t>
                    </m:r>
                    <m:sSup>
                      <m:sSupPr>
                        <m:ctrlPr>
                          <a:rPr lang="en-US" altLang="zh-CN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𝑦</m:t>
                        </m:r>
                      </m:e>
                      <m:sup>
                        <m:r>
                          <a:rPr lang="en-US" altLang="zh-CN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,</m:t>
                    </m:r>
                  </m:oMath>
                </a14:m>
                <a:r>
                  <a:rPr lang="en-US" altLang="zh-CN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zh-CN" altLang="zh-CN" dirty="0">
                            <a:solidFill>
                              <a:srgbClr val="0070C0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rPr>
                          <m:t>光源</m:t>
                        </m:r>
                        <m:r>
                          <m:rPr>
                            <m:nor/>
                          </m:rPr>
                          <a:rPr lang="zh-CN" altLang="en-US">
                            <a:solidFill>
                              <a:srgbClr val="0070C0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rPr>
                          <m:t>光强</m:t>
                        </m:r>
                        <m:r>
                          <a:rPr lang="en-US" altLang="zh-CN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𝐼</m:t>
                        </m:r>
                      </m:e>
                      <m:sub>
                        <m:r>
                          <a:rPr lang="en-US" altLang="zh-CN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=1</a:t>
                </a:r>
                <a:r>
                  <a:rPr lang="zh-CN" altLang="en-US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</a:t>
                </a:r>
                <a:endParaRPr lang="zh-CN" altLang="zh-CN" dirty="0">
                  <a:solidFill>
                    <a:srgbClr val="0070C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972" y="1118365"/>
                <a:ext cx="8868769" cy="1206549"/>
              </a:xfrm>
              <a:prstGeom prst="rect">
                <a:avLst/>
              </a:prstGeom>
              <a:blipFill>
                <a:blip r:embed="rId3"/>
                <a:stretch>
                  <a:fillRect l="-549" t="-1500" r="-480" b="-6500"/>
                </a:stretch>
              </a:blipFill>
              <a:ln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557735" y="687894"/>
            <a:ext cx="6273983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dist" eaLnBrk="0" hangingPunct="0"/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牛顿环光学干涉实验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MWORKS </a:t>
            </a:r>
            <a:r>
              <a:rPr lang="en-US" altLang="zh-CN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Syslab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计算机仿真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3923928" y="2662690"/>
                <a:ext cx="4968552" cy="5337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dist" eaLnBrk="0" hangingPunct="0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zh-CN" b="1" kern="100" dirty="0" smtClean="0">
                        <a:solidFill>
                          <a:srgbClr val="FF0000"/>
                        </a:solidFill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rPr>
                      <m:t>牛顿环</m:t>
                    </m:r>
                    <m:r>
                      <a:rPr lang="en-US" altLang="zh-CN" b="1" i="1" kern="1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charset="-122"/>
                        <a:cs typeface="Times New Roman" panose="02020603050405020304" pitchFamily="18" charset="0"/>
                      </a:rPr>
                      <m:t>𝒑</m:t>
                    </m:r>
                    <m:r>
                      <a:rPr lang="zh-CN" altLang="en-US" b="1" i="1" kern="1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charset="-122"/>
                        <a:cs typeface="Times New Roman" panose="02020603050405020304" pitchFamily="18" charset="0"/>
                      </a:rPr>
                      <m:t>点处干涉</m:t>
                    </m:r>
                    <m:r>
                      <m:rPr>
                        <m:nor/>
                      </m:rPr>
                      <a:rPr lang="zh-CN" altLang="en-US" b="1" kern="100" dirty="0">
                        <a:solidFill>
                          <a:srgbClr val="FF0000"/>
                        </a:solidFill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rPr>
                      <m:t>光强分布</m:t>
                    </m:r>
                    <m:r>
                      <m:rPr>
                        <m:nor/>
                      </m:rPr>
                      <a:rPr lang="en-US" altLang="zh-CN" b="1" kern="100" dirty="0">
                        <a:solidFill>
                          <a:srgbClr val="FF0000"/>
                        </a:solidFill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b="1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charset="-122"/>
                        <a:cs typeface="Times New Roman" panose="02020603050405020304" pitchFamily="18" charset="0"/>
                      </a:rPr>
                      <m:t>𝑰</m:t>
                    </m:r>
                    <m:r>
                      <a:rPr lang="en-US" altLang="zh-CN" b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1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charset="-122"/>
                        <a:cs typeface="Times New Roman" panose="02020603050405020304" pitchFamily="18" charset="0"/>
                      </a:rPr>
                      <m:t>𝟒</m:t>
                    </m:r>
                    <m:r>
                      <a:rPr lang="en-US" altLang="zh-CN" b="1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charset="-122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CN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𝒔𝒊𝒏</m:t>
                        </m:r>
                      </m:e>
                      <m:sup>
                        <m:r>
                          <a:rPr lang="en-US" altLang="zh-CN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b="1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charset="-122"/>
                        <a:cs typeface="Times New Roman" panose="02020603050405020304" pitchFamily="18" charset="0"/>
                      </a:rPr>
                      <m:t>(</m:t>
                    </m:r>
                    <m:f>
                      <m:fPr>
                        <m:ctrlPr>
                          <a:rPr lang="en-US" altLang="zh-CN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zh-CN" altLang="en-US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𝝅</m:t>
                        </m:r>
                        <m:sSup>
                          <m:sSupPr>
                            <m:ctrlPr>
                              <a:rPr lang="en-US" altLang="zh-CN" b="1" i="1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altLang="zh-CN" b="1" i="1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b="1" i="1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b="1" i="1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zh-CN" b="1" i="1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lang="zh-CN" altLang="en-US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𝝀</m:t>
                        </m:r>
                        <m:r>
                          <a:rPr lang="en-US" altLang="zh-CN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den>
                    </m:f>
                  </m:oMath>
                </a14:m>
                <a:r>
                  <a:rPr lang="en-US" altLang="zh-CN" b="1" kern="100" dirty="0">
                    <a:solidFill>
                      <a:srgbClr val="FF0000"/>
                    </a:solidFill>
                    <a:latin typeface="等线" panose="02010600030101010101" charset="-122"/>
                    <a:ea typeface="等线" panose="02010600030101010101" charset="-122"/>
                    <a:cs typeface="Times New Roman" panose="02020603050405020304" pitchFamily="18" charset="0"/>
                  </a:rPr>
                  <a:t>)</a:t>
                </a:r>
                <a:endParaRPr lang="zh-CN" altLang="zh-CN" b="1" kern="100" dirty="0">
                  <a:solidFill>
                    <a:srgbClr val="FF0000"/>
                  </a:solidFill>
                  <a:latin typeface="等线" panose="02010600030101010101" charset="-122"/>
                  <a:ea typeface="等线" panose="02010600030101010101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2662690"/>
                <a:ext cx="4968552" cy="533736"/>
              </a:xfrm>
              <a:prstGeom prst="rect">
                <a:avLst/>
              </a:prstGeom>
              <a:blipFill>
                <a:blip r:embed="rId4"/>
                <a:stretch>
                  <a:fillRect r="-982" b="-80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/>
          <p:cNvSpPr/>
          <p:nvPr/>
        </p:nvSpPr>
        <p:spPr>
          <a:xfrm>
            <a:off x="3479993" y="3202234"/>
            <a:ext cx="4414152" cy="1477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eaLnBrk="0" hangingPunct="0"/>
            <a:r>
              <a:rPr lang="zh-CN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干涉</a:t>
            </a:r>
            <a:r>
              <a:rPr lang="zh-CN" altLang="en-US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仿真就是绘制</a:t>
            </a:r>
            <a:r>
              <a:rPr lang="en-US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</a:t>
            </a:r>
            <a:r>
              <a:rPr lang="zh-CN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y</a:t>
            </a:r>
            <a:r>
              <a:rPr lang="zh-CN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在</a:t>
            </a:r>
            <a:r>
              <a:rPr lang="en-US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[-2,2]</a:t>
            </a:r>
            <a:r>
              <a:rPr lang="zh-CN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间</a:t>
            </a:r>
            <a:endParaRPr lang="zh-CN" altLang="en-US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0" hangingPunct="0"/>
            <a:r>
              <a:rPr lang="zh-CN" altLang="en-US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平面光强分布等高线图</a:t>
            </a:r>
            <a:r>
              <a:rPr lang="en-US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</a:t>
            </a:r>
            <a:r>
              <a:rPr lang="zh-CN" altLang="en-US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干涉</a:t>
            </a:r>
            <a:r>
              <a:rPr lang="zh-CN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图样</a:t>
            </a:r>
            <a:r>
              <a:rPr lang="zh-CN" altLang="en-US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endParaRPr lang="en-US" altLang="zh-CN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457200" indent="-457200" eaLnBrk="0" hangingPunct="0">
              <a:buFont typeface="+mj-ea"/>
              <a:buAutoNum type="circleNumDbPlain"/>
            </a:pPr>
            <a:r>
              <a:rPr lang="zh-CN" altLang="en-US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先得到</a:t>
            </a:r>
            <a:r>
              <a:rPr lang="en-US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</a:t>
            </a:r>
            <a:r>
              <a:rPr lang="zh-CN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y</a:t>
            </a:r>
            <a:r>
              <a:rPr lang="zh-CN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在</a:t>
            </a:r>
            <a:r>
              <a:rPr lang="en-US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[-2,2]</a:t>
            </a:r>
            <a:r>
              <a:rPr lang="zh-CN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间</a:t>
            </a:r>
            <a:r>
              <a:rPr lang="zh-CN" altLang="en-US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网格矩阵，</a:t>
            </a:r>
            <a:endParaRPr lang="en-US" altLang="zh-CN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457200" indent="-457200" eaLnBrk="0" hangingPunct="0">
              <a:buFont typeface="+mj-ea"/>
              <a:buAutoNum type="circleNumDbPlain"/>
            </a:pPr>
            <a:r>
              <a:rPr lang="zh-CN" altLang="en-US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再计算光强分布</a:t>
            </a:r>
            <a:r>
              <a:rPr lang="en-US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I</a:t>
            </a:r>
            <a:r>
              <a:rPr lang="zh-CN" altLang="en-US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网格矩阵</a:t>
            </a:r>
            <a:endParaRPr lang="en-US" altLang="zh-CN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457200" indent="-457200" eaLnBrk="0" hangingPunct="0">
              <a:buFont typeface="+mj-ea"/>
              <a:buAutoNum type="circleNumDbPlain"/>
            </a:pPr>
            <a:r>
              <a:rPr lang="zh-CN" altLang="en-US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最后绘等高线</a:t>
            </a:r>
            <a:r>
              <a:rPr lang="en-US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zh-CN" altLang="en-US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得到牛顿环</a:t>
            </a:r>
            <a:endParaRPr lang="en-US" altLang="zh-CN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641469" y="3132489"/>
            <a:ext cx="399571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r</a:t>
            </a:r>
            <a:endParaRPr lang="en-US" altLang="zh-CN" sz="23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charset="-122"/>
              <a:ea typeface="隶书" panose="02010509060101010101" charset="-122"/>
            </a:endParaRPr>
          </a:p>
        </p:txBody>
      </p:sp>
      <p:pic>
        <p:nvPicPr>
          <p:cNvPr id="11" name="Picture 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2" t="8939" r="5030"/>
          <a:stretch>
            <a:fillRect/>
          </a:stretch>
        </p:blipFill>
        <p:spPr bwMode="auto">
          <a:xfrm>
            <a:off x="251520" y="2699411"/>
            <a:ext cx="3109279" cy="1910405"/>
          </a:xfrm>
          <a:prstGeom prst="rect">
            <a:avLst/>
          </a:prstGeom>
          <a:noFill/>
        </p:spPr>
      </p:pic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670633" y="-138804"/>
            <a:ext cx="7465601" cy="51402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just" eaLnBrk="1" hangingPunct="1"/>
            <a:endParaRPr lang="en-US" altLang="zh-CN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  <a:p>
            <a:pPr algn="l" eaLnBrk="1" hangingPunct="1"/>
            <a:r>
              <a:rPr lang="en-US" altLang="zh-CN" sz="3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3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3.5.3-4 </a:t>
            </a:r>
            <a:r>
              <a:rPr lang="zh-CN" altLang="en-US" sz="3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三维曲面等高线</a:t>
            </a:r>
            <a:r>
              <a:rPr lang="en-US" altLang="zh-CN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牛顿干涉环</a:t>
            </a:r>
            <a:endParaRPr lang="zh-CN" altLang="en-US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4655" y="3190617"/>
            <a:ext cx="1169541" cy="1383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文本框 15"/>
          <p:cNvSpPr txBox="1"/>
          <p:nvPr/>
        </p:nvSpPr>
        <p:spPr>
          <a:xfrm>
            <a:off x="168353" y="2414241"/>
            <a:ext cx="88687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1600" b="1" i="0" dirty="0">
                <a:solidFill>
                  <a:srgbClr val="F7313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牛顿环”是牛顿在</a:t>
            </a:r>
            <a:r>
              <a:rPr lang="en-US" altLang="zh-CN" sz="1600" b="1" i="0" dirty="0">
                <a:solidFill>
                  <a:srgbClr val="F7313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1675</a:t>
            </a:r>
            <a:r>
              <a:rPr lang="zh-CN" altLang="en-US" sz="1600" b="1" i="0" dirty="0">
                <a:solidFill>
                  <a:srgbClr val="F7313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年制作天文望远镜时，偶然把一个望远镜的物镜放在平板玻璃上发现的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976564" y="702829"/>
            <a:ext cx="2186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肥皂泡薄膜的色彩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18" name="Picture 2" descr="牛顿环 的图像结果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93" t="10245" r="708" b="12541"/>
          <a:stretch>
            <a:fillRect/>
          </a:stretch>
        </p:blipFill>
        <p:spPr bwMode="auto">
          <a:xfrm>
            <a:off x="1475656" y="3772807"/>
            <a:ext cx="1433334" cy="706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1950" y="99829"/>
            <a:ext cx="610078" cy="594661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2587815" y="3315547"/>
            <a:ext cx="1061017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隶书" panose="02010509060101010101" charset="-122"/>
                <a:ea typeface="隶书" panose="02010509060101010101" charset="-122"/>
              </a:rPr>
              <a:t>P(</a:t>
            </a:r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隶书" panose="02010509060101010101" charset="-122"/>
                <a:ea typeface="隶书" panose="02010509060101010101" charset="-122"/>
              </a:rPr>
              <a:t>x,y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隶书" panose="02010509060101010101" charset="-122"/>
                <a:ea typeface="隶书" panose="02010509060101010101" charset="-122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日期占位符 1">
            <a:extLst>
              <a:ext uri="{FF2B5EF4-FFF2-40B4-BE49-F238E27FC236}">
                <a16:creationId xmlns:a16="http://schemas.microsoft.com/office/drawing/2014/main" id="{628C9AC1-268A-404E-B158-08C2AE4482DD}"/>
              </a:ext>
            </a:extLst>
          </p:cNvPr>
          <p:cNvSpPr txBox="1">
            <a:spLocks/>
          </p:cNvSpPr>
          <p:nvPr/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25E81C68-AD67-4B59-A707-20F6CB98CF04}" type="datetime1">
              <a:rPr lang="zh-CN" altLang="en-US" smtClean="0"/>
              <a:pPr>
                <a:defRPr/>
              </a:pPr>
              <a:t>2025/3/25</a:t>
            </a:fld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45BC17C-424A-42CF-8062-502588C9D4D8}"/>
              </a:ext>
            </a:extLst>
          </p:cNvPr>
          <p:cNvSpPr/>
          <p:nvPr/>
        </p:nvSpPr>
        <p:spPr>
          <a:xfrm>
            <a:off x="201161" y="771550"/>
            <a:ext cx="8790164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lamda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0.000589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波长</a:t>
            </a:r>
            <a:endParaRPr lang="zh-CN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R=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; </a:t>
            </a:r>
            <a:r>
              <a:rPr lang="en-US" altLang="zh-C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曲率半径</a:t>
            </a:r>
            <a:endParaRPr lang="zh-CN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x,y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meshgrid2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(-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zh-C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干涉区间的</a:t>
            </a:r>
            <a:r>
              <a:rPr lang="en-US" altLang="zh-C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zh-CN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和</a:t>
            </a:r>
            <a:r>
              <a:rPr lang="en-US" altLang="zh-C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zh-CN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网格矩阵</a:t>
            </a:r>
            <a:endParaRPr lang="zh-CN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ii=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.*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.(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./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lamda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.*((x.^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.+y.^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./ R)).^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光强分布</a:t>
            </a:r>
            <a:endParaRPr lang="zh-CN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subplot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mesh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x,y,ii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网格图</a:t>
            </a:r>
            <a:endParaRPr lang="zh-CN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"mesh</a:t>
            </a:r>
            <a:r>
              <a:rPr lang="zh-CN" alt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网格图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subplot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c=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contour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(x, y, ii)</a:t>
            </a:r>
          </a:p>
          <a:p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等高线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subplot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c=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contour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(x, y, ii)</a:t>
            </a:r>
          </a:p>
          <a:p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colormap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c,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"gray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灰色等高线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6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tightlayout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(); #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紧凑布局防止题目和曲线重叠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2472B6D-A7F6-4F1A-899E-33A4E65E00BA}"/>
              </a:ext>
            </a:extLst>
          </p:cNvPr>
          <p:cNvSpPr/>
          <p:nvPr/>
        </p:nvSpPr>
        <p:spPr>
          <a:xfrm>
            <a:off x="1259632" y="195782"/>
            <a:ext cx="7258302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dist" eaLnBrk="0" hangingPunct="0"/>
            <a:r>
              <a:rPr lang="zh-CN" altLang="en-US" sz="200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牛顿环光学干涉实验</a:t>
            </a:r>
            <a:r>
              <a:rPr lang="en-US" altLang="zh-CN" sz="2000" dirty="0" err="1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Syslab</a:t>
            </a:r>
            <a:r>
              <a:rPr lang="zh-CN" altLang="en-US" sz="200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计算机仿真</a:t>
            </a:r>
            <a:endParaRPr lang="en-US" altLang="zh-CN" sz="2000" dirty="0">
              <a:solidFill>
                <a:srgbClr val="002060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23" name="波形 22">
            <a:extLst>
              <a:ext uri="{FF2B5EF4-FFF2-40B4-BE49-F238E27FC236}">
                <a16:creationId xmlns:a16="http://schemas.microsoft.com/office/drawing/2014/main" id="{F1827954-7326-4310-8CB1-50322DE15925}"/>
              </a:ext>
            </a:extLst>
          </p:cNvPr>
          <p:cNvSpPr/>
          <p:nvPr/>
        </p:nvSpPr>
        <p:spPr>
          <a:xfrm>
            <a:off x="8517933" y="808627"/>
            <a:ext cx="420301" cy="466980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>
              <a:lnSpc>
                <a:spcPct val="140000"/>
              </a:lnSpc>
            </a:pPr>
            <a:r>
              <a:rPr lang="en-US" altLang="ko-KR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例5</a:t>
            </a:r>
            <a:endParaRPr lang="ko-KR" altLang="en-US" sz="20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4155DA60-152B-452E-936D-2980C9B80A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051" t="64259" r="4326" b="8001"/>
          <a:stretch/>
        </p:blipFill>
        <p:spPr>
          <a:xfrm>
            <a:off x="6163247" y="3612329"/>
            <a:ext cx="2574166" cy="77354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0D5512B-95AB-4513-B8FA-C52F04B67A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051" t="36218" r="4326" b="36042"/>
          <a:stretch/>
        </p:blipFill>
        <p:spPr>
          <a:xfrm>
            <a:off x="6130827" y="2684444"/>
            <a:ext cx="2574166" cy="77355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3DCE518-5D01-458D-A3B5-11ABBEFBC9E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051" t="10800" r="6537" b="61512"/>
          <a:stretch/>
        </p:blipFill>
        <p:spPr>
          <a:xfrm>
            <a:off x="6130827" y="1848992"/>
            <a:ext cx="2508452" cy="77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496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ED374F78-E96D-4A15-AFA0-EA327E64DB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046" y="3647509"/>
            <a:ext cx="8784468" cy="851570"/>
          </a:xfrm>
          <a:prstGeom prst="rect">
            <a:avLst/>
          </a:prstGeom>
          <a:noFill/>
          <a:ln w="9525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5pPr>
            <a:lvl6pPr marL="25146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6pPr>
            <a:lvl7pPr marL="29718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7pPr>
            <a:lvl8pPr marL="34290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8pPr>
            <a:lvl9pPr marL="38862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9pPr>
          </a:lstStyle>
          <a:p>
            <a:pPr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fun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可</a:t>
            </a:r>
            <a:r>
              <a:rPr lang="zh-CN" altLang="en-US" sz="20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简化形式、匿名函数，函数标准形式</a:t>
            </a:r>
            <a:endParaRPr lang="en-US" altLang="zh-CN" sz="20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3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en-US" altLang="zh-CN" sz="20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xyinterval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：指定绘图间隔范围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[</a:t>
            </a:r>
            <a:r>
              <a:rPr lang="en-US" altLang="zh-CN" sz="20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xmin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0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xmax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0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ymin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0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ymax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].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y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都是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[-5,5]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CB3C246-D41F-4578-94A8-98D4E1CBCB7F}"/>
              </a:ext>
            </a:extLst>
          </p:cNvPr>
          <p:cNvSpPr/>
          <p:nvPr/>
        </p:nvSpPr>
        <p:spPr>
          <a:xfrm>
            <a:off x="179512" y="1637296"/>
            <a:ext cx="2179163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网格图</a:t>
            </a:r>
            <a:r>
              <a:rPr lang="en-US" altLang="zh-CN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fmesh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A3CBDFF-C8D9-4C8B-89E7-03794DAD94F4}"/>
              </a:ext>
            </a:extLst>
          </p:cNvPr>
          <p:cNvSpPr/>
          <p:nvPr/>
        </p:nvSpPr>
        <p:spPr>
          <a:xfrm>
            <a:off x="175961" y="2202418"/>
            <a:ext cx="1940757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 startAt="2"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曲面图</a:t>
            </a:r>
            <a:r>
              <a:rPr lang="en-US" altLang="zh-CN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fsurf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20">
            <a:extLst>
              <a:ext uri="{FF2B5EF4-FFF2-40B4-BE49-F238E27FC236}">
                <a16:creationId xmlns:a16="http://schemas.microsoft.com/office/drawing/2014/main" id="{2A3125BC-CA37-4279-97B0-84638435A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2799" y="1635646"/>
            <a:ext cx="3166238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spAutoFit/>
          </a:bodyPr>
          <a:lstStyle/>
          <a:p>
            <a:pPr algn="dist"/>
            <a:r>
              <a:rPr lang="en-US" altLang="zh-CN" sz="1600" dirty="0" err="1">
                <a:solidFill>
                  <a:schemeClr val="bg1"/>
                </a:solidFill>
                <a:latin typeface="+mn-lt"/>
                <a:ea typeface="+mn-ea"/>
                <a:sym typeface="+mn-ea"/>
              </a:rPr>
              <a:t>fmesh</a:t>
            </a:r>
            <a:r>
              <a:rPr lang="en-US" altLang="zh-CN" sz="1600" dirty="0">
                <a:solidFill>
                  <a:schemeClr val="bg1"/>
                </a:solidFill>
                <a:latin typeface="+mn-lt"/>
                <a:ea typeface="+mn-ea"/>
                <a:sym typeface="+mn-ea"/>
              </a:rPr>
              <a:t>(</a:t>
            </a:r>
            <a:r>
              <a:rPr lang="sv-SE" altLang="zh-CN" sz="1600" dirty="0">
                <a:solidFill>
                  <a:schemeClr val="bg1"/>
                </a:solidFill>
                <a:latin typeface="+mn-lt"/>
                <a:ea typeface="+mn-ea"/>
              </a:rPr>
              <a:t>fun</a:t>
            </a:r>
            <a:r>
              <a:rPr lang="en-US" altLang="zh-CN" sz="1600" dirty="0">
                <a:solidFill>
                  <a:schemeClr val="bg1"/>
                </a:solidFill>
                <a:latin typeface="+mn-lt"/>
                <a:ea typeface="+mn-ea"/>
              </a:rPr>
              <a:t>,</a:t>
            </a:r>
            <a:r>
              <a:rPr lang="en-US" altLang="zh-CN" sz="1600" dirty="0" err="1">
                <a:solidFill>
                  <a:schemeClr val="bg1"/>
                </a:solidFill>
                <a:latin typeface="+mn-lt"/>
                <a:ea typeface="+mn-ea"/>
              </a:rPr>
              <a:t>xy</a:t>
            </a:r>
            <a:r>
              <a:rPr lang="sv-SE" altLang="zh-CN" sz="1600" dirty="0">
                <a:solidFill>
                  <a:schemeClr val="bg1"/>
                </a:solidFill>
                <a:latin typeface="+mn-lt"/>
                <a:ea typeface="+mn-ea"/>
              </a:rPr>
              <a:t>interval</a:t>
            </a:r>
            <a:r>
              <a:rPr lang="en-US" altLang="zh-CN" sz="1600" dirty="0">
                <a:solidFill>
                  <a:schemeClr val="bg1"/>
                </a:solidFill>
                <a:latin typeface="+mn-lt"/>
                <a:ea typeface="+mn-ea"/>
                <a:sym typeface="+mn-ea"/>
              </a:rPr>
              <a:t>)</a:t>
            </a:r>
          </a:p>
        </p:txBody>
      </p:sp>
      <p:sp>
        <p:nvSpPr>
          <p:cNvPr id="9" name="Text Box 20">
            <a:extLst>
              <a:ext uri="{FF2B5EF4-FFF2-40B4-BE49-F238E27FC236}">
                <a16:creationId xmlns:a16="http://schemas.microsoft.com/office/drawing/2014/main" id="{F8378A76-43B8-41F8-8BE6-5A574D6CD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9669" y="2194995"/>
            <a:ext cx="3440362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spAutoFit/>
          </a:bodyPr>
          <a:lstStyle/>
          <a:p>
            <a:pPr algn="dist"/>
            <a:r>
              <a:rPr lang="en-US" altLang="zh-CN" sz="1600" dirty="0" err="1">
                <a:solidFill>
                  <a:schemeClr val="bg1"/>
                </a:solidFill>
                <a:latin typeface="+mn-lt"/>
                <a:ea typeface="+mn-ea"/>
                <a:sym typeface="+mn-ea"/>
              </a:rPr>
              <a:t>fsurf</a:t>
            </a:r>
            <a:r>
              <a:rPr lang="en-US" altLang="zh-CN" sz="1600" dirty="0">
                <a:solidFill>
                  <a:schemeClr val="bg1"/>
                </a:solidFill>
                <a:latin typeface="+mn-lt"/>
                <a:ea typeface="+mn-ea"/>
                <a:sym typeface="+mn-ea"/>
              </a:rPr>
              <a:t>(</a:t>
            </a:r>
            <a:r>
              <a:rPr lang="sv-SE" altLang="zh-CN" sz="1600" dirty="0">
                <a:solidFill>
                  <a:schemeClr val="bg1"/>
                </a:solidFill>
                <a:latin typeface="+mn-lt"/>
                <a:ea typeface="+mn-ea"/>
              </a:rPr>
              <a:t>fun</a:t>
            </a:r>
            <a:r>
              <a:rPr lang="en-US" altLang="zh-CN" sz="1600" dirty="0">
                <a:solidFill>
                  <a:schemeClr val="bg1"/>
                </a:solidFill>
                <a:latin typeface="+mn-lt"/>
                <a:ea typeface="+mn-ea"/>
              </a:rPr>
              <a:t>,</a:t>
            </a:r>
            <a:r>
              <a:rPr lang="en-US" altLang="zh-CN" sz="1600" dirty="0" err="1">
                <a:solidFill>
                  <a:schemeClr val="bg1"/>
                </a:solidFill>
                <a:latin typeface="+mn-lt"/>
                <a:ea typeface="+mn-ea"/>
              </a:rPr>
              <a:t>xy</a:t>
            </a:r>
            <a:r>
              <a:rPr lang="sv-SE" altLang="zh-CN" sz="1600" dirty="0">
                <a:solidFill>
                  <a:schemeClr val="bg1"/>
                </a:solidFill>
                <a:latin typeface="+mn-lt"/>
                <a:ea typeface="+mn-ea"/>
              </a:rPr>
              <a:t>interval</a:t>
            </a:r>
            <a:r>
              <a:rPr lang="en-US" altLang="zh-CN" sz="1600" dirty="0">
                <a:solidFill>
                  <a:schemeClr val="bg1"/>
                </a:solidFill>
                <a:latin typeface="+mn-lt"/>
                <a:ea typeface="+mn-ea"/>
                <a:sym typeface="+mn-ea"/>
              </a:rPr>
              <a:t>)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B0CA998-20FD-4873-B846-A26E5F0F51E6}"/>
              </a:ext>
            </a:extLst>
          </p:cNvPr>
          <p:cNvSpPr/>
          <p:nvPr/>
        </p:nvSpPr>
        <p:spPr>
          <a:xfrm>
            <a:off x="173361" y="2706474"/>
            <a:ext cx="2210906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 startAt="3"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等高线</a:t>
            </a:r>
            <a:r>
              <a:rPr lang="en-US" altLang="zh-CN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fcontour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1" name="Text Box 20">
            <a:extLst>
              <a:ext uri="{FF2B5EF4-FFF2-40B4-BE49-F238E27FC236}">
                <a16:creationId xmlns:a16="http://schemas.microsoft.com/office/drawing/2014/main" id="{CBA43E36-06DC-41AB-8CF0-F4BAD12E1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6241" y="2728141"/>
            <a:ext cx="3370540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spAutoFit/>
          </a:bodyPr>
          <a:lstStyle/>
          <a:p>
            <a:pPr algn="dist"/>
            <a:r>
              <a:rPr lang="en-US" altLang="zh-CN" sz="1600" dirty="0" err="1">
                <a:solidFill>
                  <a:schemeClr val="bg1"/>
                </a:solidFill>
                <a:latin typeface="+mn-lt"/>
                <a:ea typeface="+mn-ea"/>
                <a:sym typeface="+mn-ea"/>
              </a:rPr>
              <a:t>fcontour</a:t>
            </a:r>
            <a:r>
              <a:rPr lang="en-US" altLang="zh-CN" sz="1600" dirty="0">
                <a:solidFill>
                  <a:schemeClr val="bg1"/>
                </a:solidFill>
                <a:latin typeface="+mn-lt"/>
                <a:ea typeface="+mn-ea"/>
                <a:sym typeface="+mn-ea"/>
              </a:rPr>
              <a:t>(</a:t>
            </a:r>
            <a:r>
              <a:rPr lang="sv-SE" altLang="zh-CN" sz="1600" dirty="0">
                <a:solidFill>
                  <a:schemeClr val="bg1"/>
                </a:solidFill>
                <a:latin typeface="+mn-lt"/>
                <a:ea typeface="+mn-ea"/>
              </a:rPr>
              <a:t>fun</a:t>
            </a:r>
            <a:r>
              <a:rPr lang="en-US" altLang="zh-CN" sz="1600" dirty="0">
                <a:solidFill>
                  <a:schemeClr val="bg1"/>
                </a:solidFill>
                <a:latin typeface="+mn-lt"/>
                <a:ea typeface="+mn-ea"/>
              </a:rPr>
              <a:t>,</a:t>
            </a:r>
            <a:r>
              <a:rPr lang="en-US" altLang="zh-CN" sz="1600" dirty="0" err="1">
                <a:solidFill>
                  <a:schemeClr val="bg1"/>
                </a:solidFill>
                <a:latin typeface="+mn-lt"/>
                <a:ea typeface="+mn-ea"/>
              </a:rPr>
              <a:t>xy</a:t>
            </a:r>
            <a:r>
              <a:rPr lang="sv-SE" altLang="zh-CN" sz="1600" dirty="0">
                <a:solidFill>
                  <a:schemeClr val="bg1"/>
                </a:solidFill>
                <a:latin typeface="+mn-lt"/>
                <a:ea typeface="+mn-ea"/>
              </a:rPr>
              <a:t>interval</a:t>
            </a:r>
            <a:r>
              <a:rPr lang="en-US" altLang="zh-CN" sz="1600" dirty="0">
                <a:solidFill>
                  <a:schemeClr val="bg1"/>
                </a:solidFill>
                <a:latin typeface="+mn-lt"/>
                <a:ea typeface="+mn-ea"/>
                <a:sym typeface="+mn-ea"/>
              </a:rPr>
              <a:t>)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90A8C47-3F96-414B-9863-7FD79179465F}"/>
              </a:ext>
            </a:extLst>
          </p:cNvPr>
          <p:cNvSpPr txBox="1"/>
          <p:nvPr/>
        </p:nvSpPr>
        <p:spPr>
          <a:xfrm>
            <a:off x="173361" y="3248247"/>
            <a:ext cx="239665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marL="342900" indent="-342900">
              <a:buFont typeface="+mj-ea"/>
              <a:buAutoNum type="circleNumDbPlain" startAt="4"/>
              <a:defRPr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800" dirty="0"/>
              <a:t>隐函数图</a:t>
            </a:r>
            <a:r>
              <a:rPr lang="en-US" altLang="zh-CN" sz="1800" dirty="0" err="1"/>
              <a:t>fimplicit</a:t>
            </a:r>
            <a:endParaRPr lang="zh-CN" altLang="en-US" sz="1800" dirty="0"/>
          </a:p>
        </p:txBody>
      </p:sp>
      <p:sp>
        <p:nvSpPr>
          <p:cNvPr id="30" name="Text Box 20">
            <a:extLst>
              <a:ext uri="{FF2B5EF4-FFF2-40B4-BE49-F238E27FC236}">
                <a16:creationId xmlns:a16="http://schemas.microsoft.com/office/drawing/2014/main" id="{816F90DC-8AF4-4658-BED8-84EFB7680E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9201" y="3236280"/>
            <a:ext cx="2989868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spAutoFit/>
          </a:bodyPr>
          <a:lstStyle/>
          <a:p>
            <a:pPr algn="dist"/>
            <a:r>
              <a:rPr lang="en-US" altLang="zh-CN" sz="1600" dirty="0" err="1">
                <a:solidFill>
                  <a:schemeClr val="bg1"/>
                </a:solidFill>
                <a:sym typeface="+mn-ea"/>
              </a:rPr>
              <a:t>fimplicit</a:t>
            </a:r>
            <a:r>
              <a:rPr lang="en-US" altLang="zh-CN" sz="1600" dirty="0">
                <a:solidFill>
                  <a:schemeClr val="bg1"/>
                </a:solidFill>
                <a:sym typeface="+mn-ea"/>
              </a:rPr>
              <a:t>(</a:t>
            </a:r>
            <a:r>
              <a:rPr lang="sv-SE" altLang="zh-CN" sz="1600" dirty="0">
                <a:solidFill>
                  <a:schemeClr val="bg1"/>
                </a:solidFill>
              </a:rPr>
              <a:t>fun</a:t>
            </a:r>
            <a:r>
              <a:rPr lang="en-US" altLang="zh-CN" sz="1600" dirty="0">
                <a:solidFill>
                  <a:schemeClr val="bg1"/>
                </a:solidFill>
              </a:rPr>
              <a:t>,</a:t>
            </a:r>
            <a:r>
              <a:rPr lang="sv-SE" altLang="zh-CN" sz="1600" dirty="0">
                <a:solidFill>
                  <a:schemeClr val="bg1"/>
                </a:solidFill>
              </a:rPr>
              <a:t>interval</a:t>
            </a:r>
            <a:r>
              <a:rPr lang="zh-CN" altLang="en-US" sz="1600" dirty="0">
                <a:solidFill>
                  <a:schemeClr val="bg1"/>
                </a:solidFill>
                <a:sym typeface="+mn-ea"/>
              </a:rPr>
              <a:t>）</a:t>
            </a:r>
            <a:endParaRPr lang="en-US" altLang="zh-CN" sz="160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3FABF25-166A-45AC-BF69-89F5A6F26137}"/>
              </a:ext>
            </a:extLst>
          </p:cNvPr>
          <p:cNvSpPr/>
          <p:nvPr/>
        </p:nvSpPr>
        <p:spPr>
          <a:xfrm>
            <a:off x="229575" y="1196966"/>
            <a:ext cx="13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匿名函数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fun</a:t>
            </a:r>
            <a:endParaRPr lang="zh-CN" altLang="en-US" sz="1600" b="1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FBD1658-3504-4C3E-A04D-C9DB40BE89EB}"/>
              </a:ext>
            </a:extLst>
          </p:cNvPr>
          <p:cNvSpPr txBox="1"/>
          <p:nvPr/>
        </p:nvSpPr>
        <p:spPr>
          <a:xfrm>
            <a:off x="1605046" y="1167997"/>
            <a:ext cx="1650371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spAutoFit/>
          </a:bodyPr>
          <a:lstStyle>
            <a:defPPr>
              <a:defRPr lang="zh-CN"/>
            </a:defPPr>
            <a:lvl1pPr algn="dist">
              <a:defRPr sz="1400">
                <a:solidFill>
                  <a:schemeClr val="bg1"/>
                </a:solidFill>
                <a:latin typeface="+mn-lt"/>
                <a:ea typeface="+mn-ea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algn="l"/>
            <a:r>
              <a:rPr lang="en-US" altLang="zh-CN" dirty="0"/>
              <a:t>fun=(</a:t>
            </a:r>
            <a:r>
              <a:rPr lang="en-US" altLang="zh-CN" dirty="0" err="1"/>
              <a:t>x,y</a:t>
            </a:r>
            <a:r>
              <a:rPr lang="en-US" altLang="zh-CN" dirty="0"/>
              <a:t>) -&gt;</a:t>
            </a:r>
            <a:r>
              <a:rPr lang="zh-CN" altLang="en-US" dirty="0"/>
              <a:t>表达式 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21617F1-84B5-41CF-B302-8787A47E4C35}"/>
              </a:ext>
            </a:extLst>
          </p:cNvPr>
          <p:cNvSpPr/>
          <p:nvPr/>
        </p:nvSpPr>
        <p:spPr>
          <a:xfrm>
            <a:off x="152829" y="720560"/>
            <a:ext cx="3352089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z=fun(</a:t>
            </a:r>
            <a:r>
              <a:rPr lang="en-US" altLang="zh-CN" sz="1600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x,y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)=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表达式     简化函数</a:t>
            </a:r>
            <a:endParaRPr lang="zh-CN" altLang="en-US" sz="16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C5B6AAD-684C-44A0-9097-4CC66836B5EC}"/>
              </a:ext>
            </a:extLst>
          </p:cNvPr>
          <p:cNvSpPr txBox="1"/>
          <p:nvPr/>
        </p:nvSpPr>
        <p:spPr>
          <a:xfrm>
            <a:off x="3294662" y="1020918"/>
            <a:ext cx="2265278" cy="6463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defPPr>
              <a:defRPr lang="zh-CN"/>
            </a:defPPr>
            <a:lvl1pPr eaLnBrk="1" hangingPunct="1">
              <a:defRPr sz="1800" kern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zh-CN" altLang="en-US" dirty="0"/>
              <a:t> </a:t>
            </a:r>
            <a:r>
              <a:rPr lang="en-US" altLang="zh-CN" dirty="0"/>
              <a:t>fun=(</a:t>
            </a:r>
            <a:r>
              <a:rPr lang="en-US" altLang="zh-CN" dirty="0" err="1"/>
              <a:t>x,y</a:t>
            </a:r>
            <a:r>
              <a:rPr lang="en-US" altLang="zh-CN" dirty="0"/>
              <a:t>)-&gt; x^2+y^2</a:t>
            </a:r>
          </a:p>
        </p:txBody>
      </p:sp>
      <p:sp>
        <p:nvSpPr>
          <p:cNvPr id="41" name="Rectangle 2">
            <a:extLst>
              <a:ext uri="{FF2B5EF4-FFF2-40B4-BE49-F238E27FC236}">
                <a16:creationId xmlns:a16="http://schemas.microsoft.com/office/drawing/2014/main" id="{529708D1-CB13-43D4-B7FA-B06DDE7CB7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9033" y="628448"/>
            <a:ext cx="1998131" cy="48847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zh-CN" sz="1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fun(</a:t>
            </a:r>
            <a:r>
              <a:rPr lang="en-US" altLang="zh-CN" sz="1800" kern="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x,y</a:t>
            </a:r>
            <a:r>
              <a:rPr lang="en-US" altLang="zh-CN" sz="1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)=x^2+y^2</a:t>
            </a:r>
            <a:endParaRPr lang="zh-CN" altLang="en-US" sz="18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3E5F09B6-4A07-47C5-AEAD-E40E153740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294" y="34311"/>
            <a:ext cx="8923412" cy="58767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28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3.5.5 </a:t>
            </a:r>
            <a:r>
              <a:rPr lang="zh-CN" altLang="en-US" sz="28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函数图</a:t>
            </a:r>
            <a:r>
              <a:rPr lang="en-US" altLang="zh-CN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网格图</a:t>
            </a:r>
            <a:r>
              <a:rPr lang="zh-CN" altLang="en-US" sz="24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</a:t>
            </a:r>
            <a:r>
              <a:rPr lang="zh-CN" altLang="en-US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曲面图、等高线和隐函数图</a:t>
            </a:r>
            <a:endParaRPr lang="zh-CN" altLang="en-US" sz="24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8279218-7DB5-4DBB-8FF2-7612AB3F2298}"/>
              </a:ext>
            </a:extLst>
          </p:cNvPr>
          <p:cNvSpPr txBox="1"/>
          <p:nvPr/>
        </p:nvSpPr>
        <p:spPr>
          <a:xfrm>
            <a:off x="5796136" y="3191074"/>
            <a:ext cx="2989868" cy="379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</a:pPr>
            <a:r>
              <a:rPr lang="zh-CN" altLang="en-US" sz="1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隐函数</a:t>
            </a:r>
            <a:r>
              <a:rPr lang="en-US" altLang="zh-CN" sz="1600" dirty="0"/>
              <a:t>fun(</a:t>
            </a:r>
            <a:r>
              <a:rPr lang="en-US" altLang="zh-CN" sz="1600" dirty="0" err="1"/>
              <a:t>x,y</a:t>
            </a:r>
            <a:r>
              <a:rPr lang="en-US" altLang="zh-CN" sz="1600" dirty="0"/>
              <a:t>)= x^2+y^2 =0</a:t>
            </a:r>
            <a:endParaRPr lang="en-US" altLang="zh-CN" sz="16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9" name="AutoShape 13">
            <a:extLst>
              <a:ext uri="{FF2B5EF4-FFF2-40B4-BE49-F238E27FC236}">
                <a16:creationId xmlns:a16="http://schemas.microsoft.com/office/drawing/2014/main" id="{80785EAB-9CB9-481F-8724-55131E0F9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0272" y="770030"/>
            <a:ext cx="2123728" cy="809242"/>
          </a:xfrm>
          <a:prstGeom prst="irregularSeal2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pPr>
              <a:lnSpc>
                <a:spcPts val="1500"/>
              </a:lnSpc>
            </a:pPr>
            <a:r>
              <a:rPr lang="zh-CN" altLang="en-US" sz="1400" dirty="0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直接绘</a:t>
            </a:r>
            <a:endParaRPr lang="en-US" altLang="zh-CN" sz="1400" dirty="0">
              <a:solidFill>
                <a:srgbClr val="FFFF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>
              <a:lnSpc>
                <a:spcPts val="1500"/>
              </a:lnSpc>
            </a:pPr>
            <a:r>
              <a:rPr lang="zh-CN" altLang="en-US" sz="1400" dirty="0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制函数</a:t>
            </a:r>
            <a:r>
              <a:rPr lang="en-US" altLang="zh-CN" sz="1400" dirty="0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fun</a:t>
            </a:r>
            <a:endParaRPr lang="zh-CN" altLang="en-US" sz="1400" dirty="0">
              <a:solidFill>
                <a:srgbClr val="FFFF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BBB2DDAE-36B2-46B1-AEED-98EA2C97E98D}"/>
              </a:ext>
            </a:extLst>
          </p:cNvPr>
          <p:cNvSpPr txBox="1"/>
          <p:nvPr/>
        </p:nvSpPr>
        <p:spPr>
          <a:xfrm>
            <a:off x="3344050" y="735175"/>
            <a:ext cx="1998131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spAutoFit/>
          </a:bodyPr>
          <a:lstStyle>
            <a:defPPr>
              <a:defRPr lang="zh-CN"/>
            </a:defPPr>
            <a:lvl1pPr algn="dist">
              <a:defRPr sz="1400">
                <a:solidFill>
                  <a:schemeClr val="bg1"/>
                </a:solidFill>
                <a:latin typeface="+mn-lt"/>
                <a:ea typeface="+mn-ea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algn="l"/>
            <a:r>
              <a:rPr lang="en-US" altLang="zh-CN" dirty="0"/>
              <a:t>fun(</a:t>
            </a:r>
            <a:r>
              <a:rPr lang="zh-CN" altLang="en-US" dirty="0"/>
              <a:t>自变量</a:t>
            </a:r>
            <a:r>
              <a:rPr lang="en-US" altLang="zh-CN" dirty="0" err="1"/>
              <a:t>x,y</a:t>
            </a:r>
            <a:r>
              <a:rPr lang="en-US" altLang="zh-CN" dirty="0"/>
              <a:t>)=</a:t>
            </a:r>
            <a:r>
              <a:rPr lang="zh-CN" altLang="en-US" dirty="0"/>
              <a:t>表达式</a:t>
            </a:r>
          </a:p>
        </p:txBody>
      </p:sp>
    </p:spTree>
    <p:extLst>
      <p:ext uri="{BB962C8B-B14F-4D97-AF65-F5344CB8AC3E}">
        <p14:creationId xmlns:p14="http://schemas.microsoft.com/office/powerpoint/2010/main" val="2491447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31" grpId="0" animBg="1"/>
      <p:bldP spid="30" grpId="0" animBg="1"/>
      <p:bldP spid="39" grpId="0"/>
      <p:bldP spid="41" grpId="0"/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4134" y="1640289"/>
            <a:ext cx="2837573" cy="2128180"/>
          </a:xfrm>
          <a:prstGeom prst="rect">
            <a:avLst/>
          </a:prstGeom>
          <a:noFill/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28" y="1915322"/>
            <a:ext cx="2999241" cy="2344170"/>
          </a:xfrm>
          <a:prstGeom prst="rect">
            <a:avLst/>
          </a:prstGeom>
        </p:spPr>
      </p:pic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611308" y="727700"/>
            <a:ext cx="8353180" cy="339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建立表达式简化形式函数：</a:t>
            </a:r>
            <a:r>
              <a:rPr lang="es-E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f(x,y)=x^3+y^3-12*x-12*y; 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998010" y="214410"/>
            <a:ext cx="800117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5pPr>
            <a:lvl6pPr marL="25146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6pPr>
            <a:lvl7pPr marL="29718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7pPr>
            <a:lvl8pPr marL="3429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8pPr>
            <a:lvl9pPr marL="3886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9pPr>
          </a:lstStyle>
          <a:p>
            <a:pPr algn="dist"/>
            <a:r>
              <a:rPr lang="zh-CN" altLang="en-US" dirty="0">
                <a:solidFill>
                  <a:srgbClr val="0070C0"/>
                </a:solidFill>
              </a:rPr>
              <a:t>绘制显示函数</a:t>
            </a:r>
            <a:r>
              <a:rPr lang="es-ES" altLang="zh-CN" dirty="0">
                <a:solidFill>
                  <a:srgbClr val="0070C0"/>
                </a:solidFill>
              </a:rPr>
              <a:t>z=fun(x,y)=x^3+y^3-12x-12y</a:t>
            </a:r>
            <a:r>
              <a:rPr lang="zh-CN" altLang="en-US" dirty="0">
                <a:solidFill>
                  <a:srgbClr val="0070C0"/>
                </a:solidFill>
              </a:rPr>
              <a:t>三维图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0996" y="1812264"/>
            <a:ext cx="2554976" cy="1625492"/>
          </a:xfrm>
          <a:prstGeom prst="rect">
            <a:avLst/>
          </a:prstGeom>
        </p:spPr>
      </p:pic>
      <p:sp>
        <p:nvSpPr>
          <p:cNvPr id="10" name="对话气泡: 圆角矩形 9"/>
          <p:cNvSpPr/>
          <p:nvPr/>
        </p:nvSpPr>
        <p:spPr>
          <a:xfrm>
            <a:off x="3059832" y="1092851"/>
            <a:ext cx="2136980" cy="753135"/>
          </a:xfrm>
          <a:prstGeom prst="wedgeRoundRectCallout">
            <a:avLst>
              <a:gd name="adj1" fmla="val 25899"/>
              <a:gd name="adj2" fmla="val 72805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rgbClr val="002060"/>
                </a:solidFill>
                <a:latin typeface="+mj-lt"/>
                <a:ea typeface="隶书" panose="02010509060101010101" charset="-122"/>
              </a:rPr>
              <a:t>#</a:t>
            </a:r>
            <a:r>
              <a:rPr lang="zh-CN" altLang="en-US" sz="2000" dirty="0">
                <a:solidFill>
                  <a:srgbClr val="002060"/>
                </a:solidFill>
                <a:latin typeface="+mj-lt"/>
                <a:ea typeface="隶书" panose="02010509060101010101" charset="-122"/>
              </a:rPr>
              <a:t>曲面图</a:t>
            </a:r>
            <a:endParaRPr lang="en-US" altLang="zh-CN" sz="2000" dirty="0">
              <a:solidFill>
                <a:srgbClr val="002060"/>
              </a:solidFill>
              <a:latin typeface="+mj-lt"/>
              <a:ea typeface="隶书" panose="02010509060101010101" charset="-122"/>
            </a:endParaRPr>
          </a:p>
          <a:p>
            <a:r>
              <a:rPr lang="zh-CN" altLang="en-US" sz="2000" dirty="0">
                <a:solidFill>
                  <a:srgbClr val="002060"/>
                </a:solidFill>
                <a:latin typeface="+mj-lt"/>
                <a:ea typeface="隶书" panose="02010509060101010101" charset="-122"/>
              </a:rPr>
              <a:t>fsurf(z</a:t>
            </a:r>
            <a:r>
              <a:rPr lang="en-US" altLang="zh-CN" sz="2000" dirty="0">
                <a:solidFill>
                  <a:srgbClr val="002060"/>
                </a:solidFill>
                <a:latin typeface="+mj-lt"/>
                <a:ea typeface="隶书" panose="02010509060101010101" charset="-122"/>
              </a:rPr>
              <a:t>z</a:t>
            </a:r>
            <a:r>
              <a:rPr lang="zh-CN" altLang="en-US" sz="2000" dirty="0">
                <a:solidFill>
                  <a:srgbClr val="002060"/>
                </a:solidFill>
                <a:latin typeface="+mj-lt"/>
                <a:ea typeface="隶书" panose="02010509060101010101" charset="-122"/>
              </a:rPr>
              <a:t>,[-4,4])</a:t>
            </a:r>
          </a:p>
        </p:txBody>
      </p:sp>
      <p:sp>
        <p:nvSpPr>
          <p:cNvPr id="11" name="对话气泡: 圆角矩形 10"/>
          <p:cNvSpPr/>
          <p:nvPr/>
        </p:nvSpPr>
        <p:spPr>
          <a:xfrm>
            <a:off x="251520" y="1242400"/>
            <a:ext cx="2400257" cy="753135"/>
          </a:xfrm>
          <a:prstGeom prst="wedgeRoundRectCallout">
            <a:avLst>
              <a:gd name="adj1" fmla="val 5593"/>
              <a:gd name="adj2" fmla="val 71925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rgbClr val="002060"/>
                </a:solidFill>
                <a:latin typeface="+mj-lt"/>
                <a:ea typeface="隶书" panose="02010509060101010101" charset="-122"/>
              </a:rPr>
              <a:t>#</a:t>
            </a:r>
            <a:r>
              <a:rPr lang="zh-CN" altLang="en-US" sz="2000" dirty="0">
                <a:solidFill>
                  <a:srgbClr val="002060"/>
                </a:solidFill>
                <a:latin typeface="+mj-lt"/>
                <a:ea typeface="隶书" panose="02010509060101010101" charset="-122"/>
              </a:rPr>
              <a:t>网格图</a:t>
            </a:r>
            <a:endParaRPr lang="en-US" altLang="zh-CN" sz="2000" dirty="0">
              <a:solidFill>
                <a:srgbClr val="002060"/>
              </a:solidFill>
              <a:latin typeface="+mj-lt"/>
              <a:ea typeface="隶书" panose="02010509060101010101" charset="-122"/>
            </a:endParaRPr>
          </a:p>
          <a:p>
            <a:r>
              <a:rPr lang="es-E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fmesh(f,[-4,4])</a:t>
            </a:r>
            <a:endParaRPr lang="zh-CN" altLang="en-US" sz="2000" dirty="0">
              <a:solidFill>
                <a:srgbClr val="002060"/>
              </a:solidFill>
              <a:latin typeface="+mj-lt"/>
              <a:ea typeface="隶书" panose="02010509060101010101" charset="-122"/>
            </a:endParaRPr>
          </a:p>
        </p:txBody>
      </p:sp>
      <p:sp>
        <p:nvSpPr>
          <p:cNvPr id="12" name="对话气泡: 圆角矩形 11"/>
          <p:cNvSpPr/>
          <p:nvPr/>
        </p:nvSpPr>
        <p:spPr>
          <a:xfrm>
            <a:off x="5419304" y="1092851"/>
            <a:ext cx="3545184" cy="647858"/>
          </a:xfrm>
          <a:prstGeom prst="wedgeRoundRectCallout">
            <a:avLst>
              <a:gd name="adj1" fmla="val 5040"/>
              <a:gd name="adj2" fmla="val 79384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rgbClr val="002060"/>
                </a:solidFill>
                <a:latin typeface="+mj-lt"/>
                <a:ea typeface="隶书" panose="02010509060101010101" charset="-122"/>
              </a:rPr>
              <a:t>#</a:t>
            </a:r>
            <a:r>
              <a:rPr lang="zh-CN" altLang="en-US" sz="2000" dirty="0">
                <a:solidFill>
                  <a:srgbClr val="002060"/>
                </a:solidFill>
                <a:latin typeface="+mj-lt"/>
                <a:ea typeface="隶书" panose="02010509060101010101" charset="-122"/>
              </a:rPr>
              <a:t>等高线</a:t>
            </a:r>
            <a:endParaRPr lang="en-US" altLang="zh-CN" sz="2000" dirty="0">
              <a:solidFill>
                <a:srgbClr val="002060"/>
              </a:solidFill>
              <a:latin typeface="+mj-lt"/>
              <a:ea typeface="隶书" panose="02010509060101010101" charset="-122"/>
            </a:endParaRPr>
          </a:p>
          <a:p>
            <a:r>
              <a:rPr lang="en-US" altLang="zh-CN" sz="2000" dirty="0" err="1">
                <a:solidFill>
                  <a:srgbClr val="002060"/>
                </a:solidFill>
                <a:latin typeface="+mj-lt"/>
                <a:ea typeface="隶书" panose="02010509060101010101" charset="-122"/>
              </a:rPr>
              <a:t>fcontour</a:t>
            </a:r>
            <a:r>
              <a:rPr lang="en-US" altLang="zh-CN" sz="2000" dirty="0">
                <a:solidFill>
                  <a:srgbClr val="002060"/>
                </a:solidFill>
                <a:latin typeface="+mj-lt"/>
                <a:ea typeface="隶书" panose="02010509060101010101" charset="-122"/>
              </a:rPr>
              <a:t>(</a:t>
            </a:r>
            <a:r>
              <a:rPr lang="en-US" altLang="zh-CN" sz="2000" dirty="0" err="1">
                <a:solidFill>
                  <a:srgbClr val="002060"/>
                </a:solidFill>
                <a:latin typeface="+mj-lt"/>
                <a:ea typeface="隶书" panose="02010509060101010101" charset="-122"/>
              </a:rPr>
              <a:t>zz</a:t>
            </a:r>
            <a:r>
              <a:rPr lang="en-US" altLang="zh-CN" sz="2000" dirty="0">
                <a:solidFill>
                  <a:srgbClr val="002060"/>
                </a:solidFill>
                <a:latin typeface="+mj-lt"/>
                <a:ea typeface="隶书" panose="02010509060101010101" charset="-122"/>
              </a:rPr>
              <a:t>,[-4 4],</a:t>
            </a:r>
            <a:r>
              <a:rPr lang="zh-CN" altLang="zh-CN" sz="2000" dirty="0">
                <a:solidFill>
                  <a:srgbClr val="002060"/>
                </a:solidFill>
                <a:latin typeface="+mj-lt"/>
                <a:ea typeface="隶书" panose="02010509060101010101" charset="-122"/>
              </a:rPr>
              <a:t> filled=true </a:t>
            </a:r>
            <a:r>
              <a:rPr lang="en-US" altLang="zh-CN" sz="2000" dirty="0">
                <a:solidFill>
                  <a:srgbClr val="002060"/>
                </a:solidFill>
                <a:latin typeface="+mj-lt"/>
                <a:ea typeface="隶书" panose="02010509060101010101" charset="-122"/>
              </a:rPr>
              <a:t>)</a:t>
            </a:r>
            <a:endParaRPr lang="zh-CN" altLang="en-US" sz="2000" dirty="0">
              <a:solidFill>
                <a:srgbClr val="002060"/>
              </a:solidFill>
              <a:latin typeface="+mj-lt"/>
              <a:ea typeface="隶书" panose="02010509060101010101" charset="-122"/>
            </a:endParaRPr>
          </a:p>
        </p:txBody>
      </p:sp>
      <p:sp>
        <p:nvSpPr>
          <p:cNvPr id="13" name="波形 12"/>
          <p:cNvSpPr/>
          <p:nvPr/>
        </p:nvSpPr>
        <p:spPr>
          <a:xfrm>
            <a:off x="195584" y="219522"/>
            <a:ext cx="512520" cy="503997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例6</a:t>
            </a:r>
            <a:endParaRPr lang="ko-KR" altLang="en-US" sz="20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529017" y="723519"/>
            <a:ext cx="16066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x</a:t>
            </a:r>
            <a:r>
              <a:rPr lang="zh-CN" altLang="en-US" b="1" dirty="0">
                <a:solidFill>
                  <a:srgbClr val="FF0000"/>
                </a:solidFill>
              </a:rPr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y</a:t>
            </a:r>
            <a:r>
              <a:rPr lang="zh-CN" altLang="en-US" b="1" dirty="0">
                <a:solidFill>
                  <a:srgbClr val="FF0000"/>
                </a:solidFill>
              </a:rPr>
              <a:t>∈[-4,4]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1472" y="3055932"/>
            <a:ext cx="1896938" cy="1264346"/>
          </a:xfrm>
          <a:prstGeom prst="rect">
            <a:avLst/>
          </a:prstGeom>
        </p:spPr>
      </p:pic>
      <p:sp>
        <p:nvSpPr>
          <p:cNvPr id="16" name="对话气泡: 圆角矩形 15"/>
          <p:cNvSpPr/>
          <p:nvPr/>
        </p:nvSpPr>
        <p:spPr>
          <a:xfrm>
            <a:off x="3392193" y="3570186"/>
            <a:ext cx="1761911" cy="542099"/>
          </a:xfrm>
          <a:prstGeom prst="wedgeRoundRectCallout">
            <a:avLst>
              <a:gd name="adj1" fmla="val 73109"/>
              <a:gd name="adj2" fmla="val -6445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rgbClr val="002060"/>
                </a:solidFill>
                <a:latin typeface="+mj-lt"/>
                <a:ea typeface="隶书" panose="02010509060101010101" charset="-122"/>
              </a:rPr>
              <a:t>#</a:t>
            </a:r>
            <a:r>
              <a:rPr lang="zh-CN" altLang="en-US" dirty="0">
                <a:solidFill>
                  <a:srgbClr val="002060"/>
                </a:solidFill>
                <a:latin typeface="+mj-lt"/>
                <a:ea typeface="隶书" panose="02010509060101010101" charset="-122"/>
              </a:rPr>
              <a:t>隐函数图</a:t>
            </a:r>
            <a:endParaRPr lang="en-US" altLang="zh-CN" dirty="0">
              <a:solidFill>
                <a:srgbClr val="002060"/>
              </a:solidFill>
              <a:latin typeface="+mj-lt"/>
              <a:ea typeface="隶书" panose="02010509060101010101" charset="-122"/>
            </a:endParaRPr>
          </a:p>
          <a:p>
            <a:r>
              <a:rPr lang="en-US" altLang="zh-CN" dirty="0" err="1">
                <a:solidFill>
                  <a:srgbClr val="002060"/>
                </a:solidFill>
                <a:latin typeface="+mj-lt"/>
                <a:ea typeface="隶书" panose="02010509060101010101" charset="-122"/>
              </a:rPr>
              <a:t>fimplicit</a:t>
            </a:r>
            <a:r>
              <a:rPr lang="en-US" altLang="zh-CN" dirty="0">
                <a:solidFill>
                  <a:srgbClr val="002060"/>
                </a:solidFill>
                <a:latin typeface="+mj-lt"/>
                <a:ea typeface="隶书" panose="02010509060101010101" charset="-122"/>
              </a:rPr>
              <a:t>(f,[-8,8])</a:t>
            </a:r>
            <a:endParaRPr lang="zh-CN" altLang="en-US" dirty="0">
              <a:solidFill>
                <a:srgbClr val="002060"/>
              </a:solidFill>
              <a:latin typeface="+mj-lt"/>
              <a:ea typeface="隶书" panose="02010509060101010101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CF37F62-3D31-4247-80D5-06747EE75469}"/>
              </a:ext>
            </a:extLst>
          </p:cNvPr>
          <p:cNvSpPr/>
          <p:nvPr/>
        </p:nvSpPr>
        <p:spPr>
          <a:xfrm>
            <a:off x="861312" y="4211905"/>
            <a:ext cx="8215232" cy="3308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pPr algn="dist">
              <a:lnSpc>
                <a:spcPts val="2900"/>
              </a:lnSpc>
            </a:pPr>
            <a:r>
              <a:rPr lang="en-US" altLang="zh-CN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fmesh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\</a:t>
            </a:r>
            <a:r>
              <a:rPr lang="en-US" altLang="zh-CN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fsurf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\</a:t>
            </a:r>
            <a:r>
              <a:rPr lang="en-US" altLang="zh-CN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fcontour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命令绘制函数z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=fun(</a:t>
            </a:r>
            <a:r>
              <a:rPr lang="en-US" altLang="zh-CN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x,y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=sin(y)*cos(x) 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</a:t>
            </a:r>
            <a:r>
              <a:rPr lang="en-US" altLang="zh-CN" b="1" dirty="0">
                <a:solidFill>
                  <a:srgbClr val="00B0F0"/>
                </a:solidFill>
              </a:rPr>
              <a:t>x</a:t>
            </a:r>
            <a:r>
              <a:rPr lang="zh-CN" altLang="en-US" b="1" dirty="0">
                <a:solidFill>
                  <a:srgbClr val="00B0F0"/>
                </a:solidFill>
              </a:rPr>
              <a:t>、</a:t>
            </a:r>
            <a:r>
              <a:rPr lang="en-US" altLang="zh-CN" b="1" dirty="0">
                <a:solidFill>
                  <a:srgbClr val="00B0F0"/>
                </a:solidFill>
              </a:rPr>
              <a:t>y</a:t>
            </a:r>
            <a:r>
              <a:rPr lang="zh-CN" altLang="en-US" b="1" dirty="0">
                <a:solidFill>
                  <a:srgbClr val="00B0F0"/>
                </a:solidFill>
              </a:rPr>
              <a:t>∈[-</a:t>
            </a:r>
            <a:r>
              <a:rPr lang="en-US" altLang="zh-CN" b="1" dirty="0">
                <a:solidFill>
                  <a:srgbClr val="00B0F0"/>
                </a:solidFill>
              </a:rPr>
              <a:t>3</a:t>
            </a:r>
            <a:r>
              <a:rPr lang="zh-CN" altLang="en-US" b="1" dirty="0">
                <a:solidFill>
                  <a:srgbClr val="00B0F0"/>
                </a:solidFill>
              </a:rPr>
              <a:t>,</a:t>
            </a:r>
            <a:r>
              <a:rPr lang="en-US" altLang="zh-CN" b="1" dirty="0">
                <a:solidFill>
                  <a:srgbClr val="00B0F0"/>
                </a:solidFill>
              </a:rPr>
              <a:t>3</a:t>
            </a:r>
            <a:r>
              <a:rPr lang="zh-CN" altLang="en-US" b="1" dirty="0"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18" name="波形 17">
            <a:extLst>
              <a:ext uri="{FF2B5EF4-FFF2-40B4-BE49-F238E27FC236}">
                <a16:creationId xmlns:a16="http://schemas.microsoft.com/office/drawing/2014/main" id="{B294AB25-80B5-4CC3-9930-805259CDF139}"/>
              </a:ext>
            </a:extLst>
          </p:cNvPr>
          <p:cNvSpPr/>
          <p:nvPr/>
        </p:nvSpPr>
        <p:spPr>
          <a:xfrm>
            <a:off x="67456" y="4211905"/>
            <a:ext cx="688120" cy="364713"/>
          </a:xfrm>
          <a:prstGeom prst="wave">
            <a:avLst>
              <a:gd name="adj1" fmla="val 12500"/>
              <a:gd name="adj2" fmla="val 0"/>
            </a:avLst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课堂练习</a:t>
            </a:r>
            <a:endParaRPr lang="ko-KR" altLang="en-US" sz="1600" b="1" dirty="0">
              <a:solidFill>
                <a:srgbClr val="FFFF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00EB670-D59B-4D34-B63D-38387A22A61A}"/>
              </a:ext>
            </a:extLst>
          </p:cNvPr>
          <p:cNvSpPr txBox="1"/>
          <p:nvPr/>
        </p:nvSpPr>
        <p:spPr>
          <a:xfrm>
            <a:off x="5509028" y="3601545"/>
            <a:ext cx="21646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zh-CN" sz="1400" dirty="0">
                <a:solidFill>
                  <a:srgbClr val="0070C0"/>
                </a:solidFill>
              </a:rPr>
              <a:t>x^3+y^3-12x-12y=0</a:t>
            </a:r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0"/>
          <p:cNvSpPr>
            <a:spLocks noChangeArrowheads="1"/>
          </p:cNvSpPr>
          <p:nvPr/>
        </p:nvSpPr>
        <p:spPr bwMode="auto">
          <a:xfrm>
            <a:off x="425407" y="1604415"/>
            <a:ext cx="8281282" cy="37151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>
              <a:lnSpc>
                <a:spcPct val="9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fplot3(</a:t>
            </a:r>
            <a:r>
              <a:rPr lang="sv-SE" altLang="zh-CN" sz="20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funx,funy,funz,tinterval</a:t>
            </a:r>
            <a:r>
              <a:rPr lang="en-US" altLang="zh-CN" sz="20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,</a:t>
            </a:r>
            <a:r>
              <a:rPr lang="en-US" altLang="zh-CN" sz="20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000" b="1" dirty="0" err="1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fmt</a:t>
            </a:r>
            <a:r>
              <a:rPr lang="en-US" altLang="zh-CN" sz="20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20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或</a:t>
            </a:r>
            <a:r>
              <a:rPr lang="en-US" altLang="zh-CN" sz="20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Key=Value</a:t>
            </a:r>
            <a:r>
              <a:rPr lang="en-US" altLang="zh-CN" sz="20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)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83632" y="2315649"/>
            <a:ext cx="8364832" cy="196928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5pPr>
            <a:lvl6pPr marL="25146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6pPr>
            <a:lvl7pPr marL="29718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7pPr>
            <a:lvl8pPr marL="34290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8pPr>
            <a:lvl9pPr marL="38862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9pPr>
          </a:lstStyle>
          <a:p>
            <a:pPr marL="457200" indent="-457200">
              <a:lnSpc>
                <a:spcPts val="3400"/>
              </a:lnSpc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函数参数方程</a:t>
            </a:r>
            <a:r>
              <a:rPr lang="en-US" altLang="zh-CN" sz="2400" dirty="0" err="1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funx</a:t>
            </a:r>
            <a:r>
              <a:rPr lang="en-US" altLang="zh-CN" sz="24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</a:t>
            </a:r>
            <a:r>
              <a:rPr lang="sv-SE" altLang="zh-CN" sz="24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funy</a:t>
            </a:r>
            <a:r>
              <a:rPr lang="en-US" altLang="zh-CN" sz="24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</a:t>
            </a:r>
            <a:r>
              <a:rPr lang="sv-SE" altLang="zh-CN" sz="24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funz</a:t>
            </a:r>
            <a:r>
              <a:rPr lang="zh-CN" altLang="en-US" sz="24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endParaRPr lang="en-US" altLang="zh-CN" sz="2400" dirty="0">
              <a:solidFill>
                <a:srgbClr val="00B0F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457200" indent="-457200">
              <a:lnSpc>
                <a:spcPts val="3400"/>
              </a:lnSpc>
              <a:buFont typeface="Wingdings" panose="05000000000000000000" pitchFamily="2" charset="2"/>
              <a:buChar char="p"/>
            </a:pPr>
            <a:r>
              <a:rPr lang="en-US" altLang="zh-CN" sz="2400" dirty="0" err="1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tinterval</a:t>
            </a:r>
            <a:r>
              <a:rPr lang="zh-CN" altLang="en-US" sz="24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：指定绘图间隔范围</a:t>
            </a:r>
            <a:r>
              <a:rPr lang="en-US" altLang="zh-CN" sz="24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[</a:t>
            </a:r>
            <a:r>
              <a:rPr lang="en-US" altLang="zh-CN" sz="2400" dirty="0" err="1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tmin</a:t>
            </a:r>
            <a:r>
              <a:rPr lang="en-US" altLang="zh-CN" sz="24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en-US" altLang="zh-CN" sz="2400" dirty="0" err="1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tmax</a:t>
            </a:r>
            <a:r>
              <a:rPr lang="en-US" altLang="zh-CN" sz="24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],</a:t>
            </a:r>
          </a:p>
          <a:p>
            <a:pPr marL="457200" indent="-457200">
              <a:lnSpc>
                <a:spcPts val="3400"/>
              </a:lnSpc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缺省时，默认</a:t>
            </a:r>
            <a:r>
              <a:rPr lang="en-US" altLang="zh-CN" sz="24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</a:t>
            </a:r>
            <a:r>
              <a:rPr lang="zh-CN" altLang="en-US" sz="24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</a:t>
            </a:r>
            <a:r>
              <a:rPr lang="en-US" altLang="zh-CN" sz="24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y</a:t>
            </a:r>
            <a:r>
              <a:rPr lang="zh-CN" altLang="en-US" sz="24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</a:t>
            </a:r>
            <a:r>
              <a:rPr lang="en-US" altLang="zh-CN" sz="24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z</a:t>
            </a:r>
            <a:r>
              <a:rPr lang="zh-CN" altLang="en-US" sz="24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的范围都为</a:t>
            </a:r>
            <a:r>
              <a:rPr lang="en-US" altLang="zh-CN" sz="2400" dirty="0">
                <a:solidFill>
                  <a:srgbClr val="00B0F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[-5,5];</a:t>
            </a:r>
          </a:p>
          <a:p>
            <a:pPr eaLnBrk="1" hangingPunct="1">
              <a:lnSpc>
                <a:spcPts val="3400"/>
              </a:lnSpc>
              <a:buFont typeface="Wingdings" panose="05000000000000000000" pitchFamily="2" charset="2"/>
              <a:buChar char="p"/>
            </a:pPr>
            <a:r>
              <a:rPr lang="en-US" altLang="zh-CN" sz="24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en-US" altLang="zh-CN" sz="2400" dirty="0" err="1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fmt</a:t>
            </a:r>
            <a:r>
              <a:rPr lang="en-US" altLang="zh-CN" sz="24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24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线型、线颜色和标记符或</a:t>
            </a:r>
            <a:r>
              <a:rPr lang="en-US" altLang="zh-CN" sz="24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Key=Value </a:t>
            </a:r>
            <a:r>
              <a:rPr lang="zh-CN" altLang="en-US" sz="24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线属性</a:t>
            </a:r>
            <a:r>
              <a:rPr lang="en-US" altLang="zh-CN" sz="24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</a:t>
            </a:r>
            <a:r>
              <a:rPr lang="zh-CN" altLang="en-US" sz="24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可忽略</a:t>
            </a:r>
          </a:p>
        </p:txBody>
      </p:sp>
      <p:sp>
        <p:nvSpPr>
          <p:cNvPr id="6" name="矩形 5"/>
          <p:cNvSpPr/>
          <p:nvPr/>
        </p:nvSpPr>
        <p:spPr>
          <a:xfrm>
            <a:off x="467182" y="949123"/>
            <a:ext cx="36856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关于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的参数方程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en-US" sz="2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55976" y="888025"/>
            <a:ext cx="43924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x=x(t), y=y(t), z=z(t)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890788" y="-77529"/>
            <a:ext cx="7218407" cy="51402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just" eaLnBrk="1" hangingPunct="1"/>
            <a:endParaRPr lang="en-US" altLang="zh-CN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  <a:p>
            <a:pPr algn="l" eaLnBrk="1" hangingPunct="1"/>
            <a:r>
              <a:rPr lang="en-US" altLang="zh-CN" sz="3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3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3.5.5 </a:t>
            </a:r>
            <a:r>
              <a:rPr lang="zh-CN" altLang="en-US" sz="3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函数图</a:t>
            </a:r>
            <a:r>
              <a:rPr lang="en-US" altLang="zh-CN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——fplot3</a:t>
            </a:r>
            <a:r>
              <a:rPr lang="zh-CN" altLang="en-US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绘制三维曲线</a:t>
            </a:r>
            <a:endParaRPr lang="zh-CN" altLang="en-US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</p:txBody>
      </p:sp>
      <p:sp>
        <p:nvSpPr>
          <p:cNvPr id="9" name="AutoShape 13">
            <a:extLst>
              <a:ext uri="{FF2B5EF4-FFF2-40B4-BE49-F238E27FC236}">
                <a16:creationId xmlns:a16="http://schemas.microsoft.com/office/drawing/2014/main" id="{5687763C-B447-4FCB-8362-D7F17D476F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064" y="2138135"/>
            <a:ext cx="4185240" cy="459691"/>
          </a:xfrm>
          <a:prstGeom prst="irregularSeal2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400" dirty="0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直接绘制函数表达式</a:t>
            </a:r>
          </a:p>
        </p:txBody>
      </p:sp>
    </p:spTree>
    <p:extLst>
      <p:ext uri="{BB962C8B-B14F-4D97-AF65-F5344CB8AC3E}">
        <p14:creationId xmlns:p14="http://schemas.microsoft.com/office/powerpoint/2010/main" val="158540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/>
          <a:srcRect l="55439" t="51400" r="34985" b="30595"/>
          <a:stretch>
            <a:fillRect/>
          </a:stretch>
        </p:blipFill>
        <p:spPr>
          <a:xfrm>
            <a:off x="536289" y="1163135"/>
            <a:ext cx="3709349" cy="3343480"/>
          </a:xfrm>
          <a:prstGeom prst="rect">
            <a:avLst/>
          </a:prstGeom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772404" y="1357547"/>
            <a:ext cx="370934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xt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6BAB5B"/>
                </a:solidFill>
                <a:effectLst/>
                <a:latin typeface="Arial Unicode MS"/>
                <a:ea typeface="source-code-pro"/>
              </a:rPr>
              <a:t>=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 t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6BAB5B"/>
                </a:solidFill>
                <a:effectLst/>
                <a:latin typeface="Arial Unicode MS"/>
                <a:ea typeface="source-code-pro"/>
              </a:rPr>
              <a:t>-&gt;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exp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Arial Unicode MS"/>
                <a:ea typeface="source-code-pro"/>
              </a:rPr>
              <a:t>(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6BAB5B"/>
                </a:solidFill>
                <a:effectLst/>
                <a:latin typeface="Arial Unicode MS"/>
                <a:ea typeface="source-code-pro"/>
              </a:rPr>
              <a:t>-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t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6BAB5B"/>
                </a:solidFill>
                <a:effectLst/>
                <a:latin typeface="Arial Unicode MS"/>
                <a:ea typeface="source-code-pro"/>
              </a:rPr>
              <a:t>/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4266D5"/>
                </a:solidFill>
                <a:effectLst/>
                <a:latin typeface="Arial Unicode MS"/>
                <a:ea typeface="source-code-pro"/>
              </a:rPr>
              <a:t>10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Arial Unicode MS"/>
                <a:ea typeface="source-code-pro"/>
              </a:rPr>
              <a:t>)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6BAB5B"/>
                </a:solidFill>
                <a:effectLst/>
                <a:latin typeface="Arial Unicode MS"/>
                <a:ea typeface="source-code-pro"/>
              </a:rPr>
              <a:t>*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sin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Arial Unicode MS"/>
                <a:ea typeface="source-code-pro"/>
              </a:rPr>
              <a:t>(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4266D5"/>
                </a:solidFill>
                <a:effectLst/>
                <a:latin typeface="Arial Unicode MS"/>
                <a:ea typeface="source-code-pro"/>
              </a:rPr>
              <a:t>5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6BAB5B"/>
                </a:solidFill>
                <a:effectLst/>
                <a:latin typeface="Arial Unicode MS"/>
                <a:ea typeface="source-code-pro"/>
              </a:rPr>
              <a:t>*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t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Arial Unicode MS"/>
                <a:ea typeface="source-code-pro"/>
              </a:rPr>
              <a:t>);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 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  <a:ea typeface="source-code-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yt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6BAB5B"/>
                </a:solidFill>
                <a:effectLst/>
                <a:latin typeface="Arial Unicode MS"/>
                <a:ea typeface="source-code-pro"/>
              </a:rPr>
              <a:t>=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 t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6BAB5B"/>
                </a:solidFill>
                <a:effectLst/>
                <a:latin typeface="Arial Unicode MS"/>
                <a:ea typeface="source-code-pro"/>
              </a:rPr>
              <a:t>-&gt;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exp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Arial Unicode MS"/>
                <a:ea typeface="source-code-pro"/>
              </a:rPr>
              <a:t>(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6BAB5B"/>
                </a:solidFill>
                <a:effectLst/>
                <a:latin typeface="Arial Unicode MS"/>
                <a:ea typeface="source-code-pro"/>
              </a:rPr>
              <a:t>-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t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6BAB5B"/>
                </a:solidFill>
                <a:effectLst/>
                <a:latin typeface="Arial Unicode MS"/>
                <a:ea typeface="source-code-pro"/>
              </a:rPr>
              <a:t>/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4266D5"/>
                </a:solidFill>
                <a:effectLst/>
                <a:latin typeface="Arial Unicode MS"/>
                <a:ea typeface="source-code-pro"/>
              </a:rPr>
              <a:t>10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Arial Unicode MS"/>
                <a:ea typeface="source-code-pro"/>
              </a:rPr>
              <a:t>)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6BAB5B"/>
                </a:solidFill>
                <a:effectLst/>
                <a:latin typeface="Arial Unicode MS"/>
                <a:ea typeface="source-code-pro"/>
              </a:rPr>
              <a:t>*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cos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Arial Unicode MS"/>
                <a:ea typeface="source-code-pro"/>
              </a:rPr>
              <a:t>(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4266D5"/>
                </a:solidFill>
                <a:effectLst/>
                <a:latin typeface="Arial Unicode MS"/>
                <a:ea typeface="source-code-pro"/>
              </a:rPr>
              <a:t>5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6BAB5B"/>
                </a:solidFill>
                <a:effectLst/>
                <a:latin typeface="Arial Unicode MS"/>
                <a:ea typeface="source-code-pro"/>
              </a:rPr>
              <a:t>*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t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Arial Unicode MS"/>
                <a:ea typeface="source-code-pro"/>
              </a:rPr>
              <a:t>);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 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  <a:ea typeface="source-code-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zt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6BAB5B"/>
                </a:solidFill>
                <a:effectLst/>
                <a:latin typeface="Arial Unicode MS"/>
                <a:ea typeface="source-code-pro"/>
              </a:rPr>
              <a:t>=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 t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6BAB5B"/>
                </a:solidFill>
                <a:effectLst/>
                <a:latin typeface="Arial Unicode MS"/>
                <a:ea typeface="source-code-pro"/>
              </a:rPr>
              <a:t>-&gt;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t 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 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rgbClr val="999999"/>
              </a:solidFill>
              <a:effectLst/>
              <a:latin typeface="Arial Unicode MS"/>
              <a:ea typeface="source-code-pro"/>
            </a:endParaRPr>
          </a:p>
          <a:p>
            <a:pPr eaLnBrk="0" hangingPunct="0"/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fplot3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Arial Unicode MS"/>
                <a:ea typeface="source-code-pro"/>
              </a:rPr>
              <a:t>(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xt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Arial Unicode MS"/>
                <a:ea typeface="source-code-pro"/>
              </a:rPr>
              <a:t>,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 yt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Arial Unicode MS"/>
                <a:ea typeface="source-code-pro"/>
              </a:rPr>
              <a:t>,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 zt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Arial Unicode MS"/>
                <a:ea typeface="source-code-pro"/>
              </a:rPr>
              <a:t>,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Arial Unicode MS"/>
                <a:ea typeface="source-code-pro"/>
              </a:rPr>
              <a:t>[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6BAB5B"/>
                </a:solidFill>
                <a:effectLst/>
                <a:latin typeface="Arial Unicode MS"/>
                <a:ea typeface="source-code-pro"/>
              </a:rPr>
              <a:t>-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4266D5"/>
                </a:solidFill>
                <a:effectLst/>
                <a:latin typeface="Arial Unicode MS"/>
                <a:ea typeface="source-code-pro"/>
              </a:rPr>
              <a:t>10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4266D5"/>
                </a:solidFill>
                <a:effectLst/>
                <a:latin typeface="Arial Unicode MS"/>
                <a:ea typeface="source-code-pro"/>
              </a:rPr>
              <a:t>10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Arial Unicode MS"/>
                <a:ea typeface="source-code-pro"/>
              </a:rPr>
              <a:t>])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23624" t="25200" r="40151" b="20201"/>
          <a:stretch>
            <a:fillRect/>
          </a:stretch>
        </p:blipFill>
        <p:spPr>
          <a:xfrm>
            <a:off x="4970894" y="2427734"/>
            <a:ext cx="3312368" cy="2363311"/>
          </a:xfrm>
          <a:prstGeom prst="rect">
            <a:avLst/>
          </a:prstGeom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1386041" y="-74237"/>
            <a:ext cx="6519648" cy="51402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just" eaLnBrk="1" hangingPunct="1"/>
            <a:endParaRPr lang="en-US" altLang="zh-CN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  <a:p>
            <a:pPr algn="l" eaLnBrk="1" hangingPunct="1"/>
            <a:r>
              <a:rPr lang="en-US" altLang="zh-CN" sz="3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3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3.5.5 </a:t>
            </a:r>
            <a:r>
              <a:rPr lang="zh-CN" altLang="en-US" sz="3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函数图</a:t>
            </a:r>
            <a:r>
              <a:rPr lang="en-US" altLang="zh-CN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——fplot3</a:t>
            </a:r>
            <a:r>
              <a:rPr lang="zh-CN" altLang="en-US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示例</a:t>
            </a:r>
            <a:endParaRPr lang="zh-CN" altLang="en-US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36289" y="919804"/>
            <a:ext cx="30492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参数方程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:t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∈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[-10,10]</a:t>
            </a:r>
            <a:endParaRPr lang="zh-CN" altLang="en-US" sz="24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54367" y="1966069"/>
            <a:ext cx="6046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FF00"/>
                </a:solidFill>
                <a:highlight>
                  <a:srgbClr val="3399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X=</a:t>
            </a:r>
            <a:endParaRPr lang="zh-CN" altLang="en-US" sz="2400" dirty="0">
              <a:solidFill>
                <a:srgbClr val="FFFF00"/>
              </a:solidFill>
              <a:highlight>
                <a:srgbClr val="3399FF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87540" y="3042750"/>
            <a:ext cx="5725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FFFF00"/>
                </a:solidFill>
                <a:highlight>
                  <a:srgbClr val="3399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y=</a:t>
            </a:r>
            <a:endParaRPr lang="zh-CN" altLang="en-US" sz="2800" dirty="0">
              <a:solidFill>
                <a:srgbClr val="FFFF00"/>
              </a:solidFill>
              <a:highlight>
                <a:srgbClr val="3399FF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572000" y="845237"/>
            <a:ext cx="30943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建立匿名参数方程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en-US" sz="24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995423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46705" y="474206"/>
          <a:ext cx="8841543" cy="4647827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980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0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6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1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Julia</a:t>
                      </a:r>
                      <a:r>
                        <a:rPr lang="zh-CN" altLang="en-US" sz="11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语言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</a:t>
                      </a:r>
                      <a:r>
                        <a:rPr lang="zh-CN" altLang="en-US" sz="11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语言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68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1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工具箱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using </a:t>
                      </a:r>
                      <a:r>
                        <a:rPr lang="en-US" altLang="zh-CN" sz="1100" b="1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TyPlot</a:t>
                      </a: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预加载同元工具箱，可省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using</a:t>
                      </a:r>
                      <a:endParaRPr lang="zh-CN" altLang="en-US" sz="1100" b="1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不用加载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68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1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函数点运算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 f.(x) </a:t>
                      </a: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或  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@.f(x)</a:t>
                      </a:r>
                      <a:endParaRPr lang="zh-CN" altLang="en-US" sz="1100" b="1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无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6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点运算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用点运算符 或  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@. </a:t>
                      </a: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表达式</a:t>
                      </a:r>
                      <a:endParaRPr lang="zh-CN" altLang="zh-CN" sz="1100" b="1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只有点运算符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6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线型标记符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有数字标记符，如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2</a:t>
                      </a: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3</a:t>
                      </a: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4</a:t>
                      </a: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8</a:t>
                      </a:r>
                      <a:endParaRPr lang="zh-CN" altLang="en-US" sz="1100" b="1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无数字标记符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68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1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句柄设置属性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plt_set(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h,</a:t>
                      </a:r>
                      <a:r>
                        <a:rPr lang="zh-CN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Key=Value) 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set</a:t>
                      </a:r>
                      <a:endParaRPr lang="zh-CN" altLang="en-US" sz="1100" b="1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68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1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绘图语法习惯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加空括号，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figure</a:t>
                      </a: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（），</a:t>
                      </a:r>
                      <a:r>
                        <a:rPr lang="en-US" altLang="zh-CN" sz="1100" b="1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gcf</a:t>
                      </a: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（）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,</a:t>
                      </a:r>
                      <a:r>
                        <a:rPr lang="en-US" altLang="zh-CN" sz="1100" b="1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gca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(),</a:t>
                      </a:r>
                      <a:endParaRPr lang="zh-CN" altLang="en-US" sz="1100" b="1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无括号</a:t>
                      </a:r>
                      <a:r>
                        <a:rPr lang="en-US" altLang="zh-CN" sz="1100" b="1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figue,gcf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,</a:t>
                      </a:r>
                      <a:endParaRPr lang="zh-CN" altLang="en-US" sz="1100" b="1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07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绘图语法习惯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</a:pPr>
                      <a:endParaRPr lang="zh-CN" altLang="en-US" sz="1100" b="1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hold</a:t>
                      </a: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（“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on</a:t>
                      </a: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”）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, axis("equal"), grid("on") ,</a:t>
                      </a:r>
                      <a:r>
                        <a:rPr lang="zh-CN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 yyaxis("right") </a:t>
                      </a:r>
                      <a:endParaRPr lang="zh-CN" altLang="en-US" sz="1100" b="1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hold on</a:t>
                      </a: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，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axis on, axis equal , grid on, </a:t>
                      </a:r>
                      <a:r>
                        <a:rPr lang="en-US" altLang="zh-CN" sz="1100" b="1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yyaxis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 right</a:t>
                      </a:r>
                      <a:endParaRPr lang="zh-CN" altLang="en-US" sz="1100" b="1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6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网格矩阵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  <a:sym typeface="Arial" panose="020B0604020202020204" pitchFamily="34" charset="0"/>
                        </a:rPr>
                        <a:t>X,Y=meshgrid2(</a:t>
                      </a:r>
                      <a:r>
                        <a:rPr lang="en-US" altLang="zh-CN" sz="1100" b="1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  <a:sym typeface="Arial" panose="020B0604020202020204" pitchFamily="34" charset="0"/>
                        </a:rPr>
                        <a:t>x,y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  <a:sym typeface="Arial" panose="020B0604020202020204" pitchFamily="34" charset="0"/>
                        </a:rPr>
                        <a:t>)</a:t>
                      </a:r>
                      <a:endParaRPr lang="en-US" altLang="zh-CN" sz="1100" b="1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-177800" algn="l" defTabSz="914400">
                        <a:lnSpc>
                          <a:spcPct val="100000"/>
                        </a:lnSpc>
                      </a:pP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[X,Y]=</a:t>
                      </a:r>
                      <a:r>
                        <a:rPr lang="en-US" altLang="zh-CN" sz="1100" b="1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meshigrid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zh-CN" sz="1100" b="1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x,y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07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着色</a:t>
                      </a:r>
                      <a:r>
                        <a:rPr lang="en-US" altLang="zh-CN" sz="11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shading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shading(</a:t>
                      </a:r>
                      <a:r>
                        <a:rPr lang="en-US" altLang="zh-CN" sz="1100" b="1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h,"faceted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") (</a:t>
                      </a: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默认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shading(</a:t>
                      </a:r>
                      <a:r>
                        <a:rPr lang="en-US" altLang="zh-CN" sz="1100" b="1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h,“flat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”)  h</a:t>
                      </a: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是曲面句柄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-177800" algn="l" defTabSz="914400">
                        <a:lnSpc>
                          <a:spcPct val="100000"/>
                        </a:lnSpc>
                      </a:pP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shading faceted</a:t>
                      </a:r>
                    </a:p>
                    <a:p>
                      <a:pPr marL="177800" indent="-177800" algn="l" defTabSz="914400">
                        <a:lnSpc>
                          <a:spcPct val="100000"/>
                        </a:lnSpc>
                      </a:pP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shading flat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907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设置当前颜色图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lang="zh-CN" altLang="en-US" sz="11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colormap(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h</a:t>
                      </a:r>
                      <a:r>
                        <a:rPr lang="zh-CN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,map) </a:t>
                      </a: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，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h</a:t>
                      </a: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是曲面句柄</a:t>
                      </a:r>
                      <a:endParaRPr lang="en-US" altLang="zh-CN" sz="1100" b="1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如colormap(h,"winter")</a:t>
                      </a:r>
                      <a:endParaRPr lang="en-US" altLang="zh-CN" sz="1100" b="1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-177800" algn="l" defTabSz="914400">
                        <a:lnSpc>
                          <a:spcPct val="100000"/>
                        </a:lnSpc>
                      </a:pP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  <a:hlinkClick r:id="rId2"/>
                        </a:rPr>
                        <a:t>colormap(map)</a:t>
                      </a:r>
                      <a:endParaRPr lang="en-US" altLang="zh-CN" sz="1100" b="1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  <a:p>
                      <a:pPr marL="177800" indent="-177800" algn="l" defTabSz="914400">
                        <a:lnSpc>
                          <a:spcPct val="100000"/>
                        </a:lnSpc>
                      </a:pP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如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colormap(winter)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6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100" b="1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显示色阶的颜色栏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b="1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colorbar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(h)</a:t>
                      </a: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 ，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h</a:t>
                      </a: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是曲面句柄</a:t>
                      </a:r>
                      <a:endParaRPr lang="en-US" altLang="zh-CN" sz="1100" b="1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-177800" algn="l" defTabSz="914400">
                        <a:lnSpc>
                          <a:spcPct val="100000"/>
                        </a:lnSpc>
                      </a:pPr>
                      <a:r>
                        <a:rPr lang="en-US" altLang="zh-CN" sz="1100" b="1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colorbar</a:t>
                      </a:r>
                      <a:endParaRPr lang="en-US" altLang="zh-CN" sz="1100" b="1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68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100" b="1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创建笛卡尔坐标区</a:t>
                      </a:r>
                      <a:endParaRPr lang="zh-CN" altLang="en-US" sz="1100" b="1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b="1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plt_axes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 </a:t>
                      </a:r>
                      <a:endParaRPr lang="zh-CN" altLang="en-US" sz="1100" b="1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  <a:hlinkClick r:id="rId3"/>
                        </a:rPr>
                        <a:t>axes</a:t>
                      </a:r>
                      <a:endParaRPr lang="zh-CN" altLang="en-US" sz="1100" b="1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86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文字</a:t>
                      </a:r>
                      <a:r>
                        <a:rPr lang="zh-CN" altLang="en-US" sz="1100" b="1" kern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上下标的</a:t>
                      </a: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标注 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zh-CN" sz="1100" b="1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raw“$txt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^{} </a:t>
                      </a: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或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txt_{} $</a:t>
                      </a: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”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-177800" algn="l" defTabSz="914400">
                        <a:lnSpc>
                          <a:spcPct val="100000"/>
                        </a:lnSpc>
                      </a:pP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txt^{} </a:t>
                      </a: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或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txt_{}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5" name="标题 1"/>
          <p:cNvSpPr txBox="1">
            <a:spLocks noGrp="1"/>
          </p:cNvSpPr>
          <p:nvPr>
            <p:ph type="title"/>
          </p:nvPr>
        </p:nvSpPr>
        <p:spPr bwMode="auto">
          <a:xfrm>
            <a:off x="2699792" y="255131"/>
            <a:ext cx="4824536" cy="4381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1440" tIns="45720" rIns="91440" bIns="45720" numCol="1" anchor="b" anchorCtr="0" compatLnSpc="1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en-US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Julia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与</a:t>
            </a:r>
            <a:r>
              <a:rPr lang="en-US" altLang="zh-CN" sz="24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Matlab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绘图语法区别</a:t>
            </a:r>
            <a:endParaRPr lang="en-US" altLang="zh-CN" sz="24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sz="2400" kern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9047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875E4F-D420-419D-BB4E-4C633403F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6600E0-0B98-4BCC-9203-BC9880F16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28433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AEB0FCE5-E870-4528-8906-63B0F88E1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735" y="1163187"/>
            <a:ext cx="3546040" cy="2664296"/>
          </a:xfrm>
          <a:prstGeom prst="rect">
            <a:avLst/>
          </a:prstGeom>
        </p:spPr>
      </p:pic>
      <p:sp>
        <p:nvSpPr>
          <p:cNvPr id="13" name="波形 12">
            <a:extLst>
              <a:ext uri="{FF2B5EF4-FFF2-40B4-BE49-F238E27FC236}">
                <a16:creationId xmlns:a16="http://schemas.microsoft.com/office/drawing/2014/main" id="{ECA557C8-D8A7-4D68-BE36-54F34F222207}"/>
              </a:ext>
            </a:extLst>
          </p:cNvPr>
          <p:cNvSpPr/>
          <p:nvPr/>
        </p:nvSpPr>
        <p:spPr>
          <a:xfrm>
            <a:off x="158632" y="658643"/>
            <a:ext cx="533744" cy="335423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例5</a:t>
            </a:r>
            <a:endParaRPr lang="ko-KR" altLang="en-US" sz="16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82E8C17-A819-492D-926E-93DC3ED964E1}"/>
              </a:ext>
            </a:extLst>
          </p:cNvPr>
          <p:cNvSpPr txBox="1"/>
          <p:nvPr/>
        </p:nvSpPr>
        <p:spPr>
          <a:xfrm>
            <a:off x="276805" y="1173034"/>
            <a:ext cx="7421670" cy="3456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fff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x,y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)= y*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(x)+x*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cos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(y)-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函数 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400"/>
              </a:lnSpc>
            </a:pP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subplot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创建第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个图形窗口 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400"/>
              </a:lnSpc>
            </a:pP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fmesh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(fff,[-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第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个图绘制网格图 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400"/>
              </a:lnSpc>
            </a:pP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subplot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创建第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个图形窗口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400"/>
              </a:lnSpc>
            </a:pP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f2=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fsurf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(fff,[-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曲面 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400"/>
              </a:lnSpc>
            </a:pP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axis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"off"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;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不显示坐标轴线和标签 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400"/>
              </a:lnSpc>
            </a:pP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colormap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(f2,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“hot”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采用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hot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颜色图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400"/>
              </a:lnSpc>
            </a:pP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subplot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创建第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个图形窗口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400"/>
              </a:lnSpc>
            </a:pP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fcontour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(fff, [-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],filled=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等高线 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400"/>
              </a:lnSpc>
            </a:pP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subplot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pPr>
              <a:lnSpc>
                <a:spcPts val="2400"/>
              </a:lnSpc>
            </a:pP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fimplicit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(fff, [-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绘制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y*sin(x)+x*cos(y)-1=0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曲线  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560B09F6-5E39-4A77-8A48-C47C7C1EFD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783" y="144620"/>
            <a:ext cx="8172400" cy="51402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l" eaLnBrk="1" hangingPunct="1"/>
            <a:r>
              <a:rPr lang="zh-CN" altLang="en-US" sz="20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绘</a:t>
            </a:r>
            <a:r>
              <a:rPr lang="en-US" altLang="zh-CN" sz="2000" kern="1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z=y*sin(x)+x*cos(y)-1</a:t>
            </a:r>
            <a:r>
              <a:rPr lang="zh-CN" altLang="en-US" sz="20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三维网格、曲面、等高线、隐形的函数图</a:t>
            </a:r>
            <a:endParaRPr lang="zh-CN" altLang="en-US" sz="20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0110308-A617-4DE9-B502-5E0C9AD91B4E}"/>
              </a:ext>
            </a:extLst>
          </p:cNvPr>
          <p:cNvSpPr txBox="1"/>
          <p:nvPr/>
        </p:nvSpPr>
        <p:spPr>
          <a:xfrm>
            <a:off x="692376" y="659570"/>
            <a:ext cx="8172399" cy="594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 hangingPunct="0">
              <a:lnSpc>
                <a:spcPts val="2000"/>
              </a:lnSpc>
              <a:tabLst>
                <a:tab pos="269875" algn="l"/>
              </a:tabLst>
            </a:pPr>
            <a:r>
              <a:rPr lang="zh-CN" altLang="zh-CN" sz="16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绘制</a:t>
            </a:r>
            <a:r>
              <a:rPr lang="en-US" altLang="zh-CN" sz="16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z=y*sin(x)+x*cos(y)-1</a:t>
            </a:r>
            <a:r>
              <a:rPr lang="zh-CN" altLang="zh-CN" sz="16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三维图形</a:t>
            </a:r>
            <a:r>
              <a:rPr lang="en-US" altLang="zh-CN" sz="16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-4≥x≥4,-4≥y≥4</a:t>
            </a:r>
            <a:r>
              <a:rPr lang="zh-CN" altLang="zh-CN" sz="16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600" kern="100" dirty="0" err="1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fmesh</a:t>
            </a:r>
            <a:r>
              <a:rPr lang="en-US" altLang="zh-CN" sz="16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1600" kern="100" dirty="0" err="1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fsurf</a:t>
            </a:r>
            <a:r>
              <a:rPr lang="en-US" altLang="zh-CN" sz="16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1600" kern="100" dirty="0" err="1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fcontour</a:t>
            </a:r>
            <a:r>
              <a:rPr lang="zh-CN" altLang="zh-CN" sz="16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600" kern="100" dirty="0" err="1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fimplicit</a:t>
            </a:r>
            <a:r>
              <a:rPr lang="zh-CN" altLang="zh-CN" sz="16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分别绘网格图、曲面图、等高线和隐函数图</a:t>
            </a:r>
            <a:endParaRPr lang="zh-CN" altLang="zh-CN" sz="16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51333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83259" y="3766587"/>
            <a:ext cx="677598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f =(x, y)-&gt;0.05x^2-0.07x*y+0.04y^2-0.46x+0.27y+1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fimplicit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(f,[2,9,-2,5])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5" name="图片 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04" t="19266" r="24837" b="30595"/>
          <a:stretch>
            <a:fillRect/>
          </a:stretch>
        </p:blipFill>
        <p:spPr bwMode="auto">
          <a:xfrm>
            <a:off x="7114962" y="2827621"/>
            <a:ext cx="1952144" cy="1792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755576" y="372387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917086" y="1351946"/>
          <a:ext cx="4879050" cy="4748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7" r:id="rId5" imgW="2451100" imgH="241300" progId="Equation.DSMT4">
                  <p:embed/>
                </p:oleObj>
              </mc:Choice>
              <mc:Fallback>
                <p:oleObj r:id="rId5" imgW="2451100" imgH="2413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7086" y="1351946"/>
                        <a:ext cx="4879050" cy="4748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82701" y="1712356"/>
            <a:ext cx="8213339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indent="-342900" eaLnBrk="0" hangingPunct="0">
              <a:buFont typeface="+mj-ea"/>
              <a:buAutoNum type="circleNumDbPlain" startAt="2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一天文学家要确定一颗小行星绕太阳运行地轨道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,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他在轨道平面内建立以太阳为原点地直角坐标系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,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其单位为天文测量单位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,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在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个不同地时间对小行星作了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次观察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,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测得轨道上地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个点地坐标数据如下表：轨道上地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个点地坐标数据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3048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3048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602442" y="701473"/>
            <a:ext cx="8424936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indent="304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试确立小行星地轨道方程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,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并画出小行星地运动轨线图形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.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3048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由开普勒第一定律知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,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小行星轨道为一椭圆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,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设椭圆地一般方程为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1115616" y="92275"/>
            <a:ext cx="7610116" cy="7268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zh-CN" sz="2800" b="1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3.5.5 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函数图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en-US" altLang="zh-CN" sz="2800" b="1" kern="0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fimplicit</a:t>
            </a:r>
            <a:r>
              <a:rPr lang="zh-CN" altLang="en-US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绘制隐函数实际应用</a:t>
            </a:r>
            <a:endParaRPr lang="zh-CN" altLang="en-US" sz="2800" b="1" kern="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682701" y="2559844"/>
          <a:ext cx="6119537" cy="64008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005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88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88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01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68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97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1400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sz="1400" kern="10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sz="1400" kern="10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sz="1400" kern="10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sz="1400" kern="10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zh-CN" sz="1400" kern="10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400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en-US" sz="1400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5.764</a:t>
                      </a:r>
                      <a:endParaRPr lang="zh-CN" sz="1400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6.286</a:t>
                      </a:r>
                      <a:endParaRPr lang="zh-CN" sz="1400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6.759</a:t>
                      </a:r>
                      <a:endParaRPr lang="zh-CN" sz="1400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7.168</a:t>
                      </a:r>
                      <a:endParaRPr lang="zh-CN" sz="1400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7.408</a:t>
                      </a:r>
                      <a:endParaRPr lang="zh-CN" sz="1400" kern="10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400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  <a:endParaRPr lang="en-US" sz="1400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0.648</a:t>
                      </a:r>
                      <a:endParaRPr lang="zh-CN" sz="1400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1.202</a:t>
                      </a:r>
                      <a:endParaRPr lang="zh-CN" sz="1400" kern="10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1.823</a:t>
                      </a:r>
                      <a:endParaRPr lang="zh-CN" sz="1400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2.526</a:t>
                      </a:r>
                      <a:endParaRPr lang="zh-CN" sz="1400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3.360</a:t>
                      </a:r>
                      <a:endParaRPr lang="zh-CN" sz="1400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474690" y="4597584"/>
          <a:ext cx="123825" cy="142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8" r:id="rId7" imgW="127000" imgH="139700" progId="Equation.DSMT4">
                  <p:embed/>
                </p:oleObj>
              </mc:Choice>
              <mc:Fallback>
                <p:oleObj r:id="rId7" imgW="127000" imgH="1397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4690" y="4597584"/>
                        <a:ext cx="123825" cy="142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3474690" y="4597584"/>
          <a:ext cx="142875" cy="16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9" r:id="rId9" imgW="139700" imgH="165100" progId="Equation.DSMT4">
                  <p:embed/>
                </p:oleObj>
              </mc:Choice>
              <mc:Fallback>
                <p:oleObj r:id="rId9" imgW="139700" imgH="1651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4690" y="4597584"/>
                        <a:ext cx="142875" cy="161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634238" y="3225948"/>
            <a:ext cx="79299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个采样点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小行星地轨道方程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0.05x^2-0.07x*y+0.04y^2-0.46x+0.27y+1</a:t>
            </a:r>
            <a:endParaRPr lang="zh-CN" alt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682701" y="3490887"/>
            <a:ext cx="4616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 startAt="3"/>
            </a:pP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绘制小行星轨道方程：</a:t>
            </a:r>
            <a:endParaRPr lang="zh-CN" altLang="en-US" dirty="0"/>
          </a:p>
        </p:txBody>
      </p:sp>
      <p:sp>
        <p:nvSpPr>
          <p:cNvPr id="16" name="波形 15"/>
          <p:cNvSpPr/>
          <p:nvPr/>
        </p:nvSpPr>
        <p:spPr>
          <a:xfrm>
            <a:off x="234668" y="627534"/>
            <a:ext cx="366465" cy="510513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例8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1"/>
          <p:cNvSpPr txBox="1"/>
          <p:nvPr/>
        </p:nvSpPr>
        <p:spPr>
          <a:xfrm>
            <a:off x="0" y="0"/>
            <a:ext cx="0" cy="0"/>
          </a:xfr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25E81C68-AD67-4B59-A707-20F6CB98CF04}" type="datetime1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138962" y="84794"/>
            <a:ext cx="2866075" cy="477053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Menlo"/>
              </a:rPr>
              <a:t>[X,Y,Z]=sphere(30);</a:t>
            </a:r>
          </a:p>
          <a:p>
            <a:r>
              <a:rPr lang="en-US" altLang="zh-CN" sz="1600" dirty="0">
                <a:latin typeface="Menlo"/>
              </a:rPr>
              <a:t>X=R0*X;</a:t>
            </a:r>
          </a:p>
          <a:p>
            <a:r>
              <a:rPr lang="en-US" altLang="zh-CN" sz="1600" dirty="0">
                <a:latin typeface="Menlo"/>
              </a:rPr>
              <a:t>Y=R0*Y;</a:t>
            </a:r>
          </a:p>
          <a:p>
            <a:r>
              <a:rPr lang="en-US" altLang="zh-CN" sz="1600" dirty="0">
                <a:latin typeface="Menlo"/>
              </a:rPr>
              <a:t>Z=R0*Z; </a:t>
            </a:r>
            <a:r>
              <a:rPr lang="en-US" altLang="zh-CN" sz="1600" dirty="0">
                <a:solidFill>
                  <a:srgbClr val="028009"/>
                </a:solidFill>
                <a:latin typeface="Menlo"/>
              </a:rPr>
              <a:t>%</a:t>
            </a:r>
            <a:r>
              <a:rPr lang="zh-CN" altLang="en-US" sz="1600" dirty="0">
                <a:solidFill>
                  <a:srgbClr val="028009"/>
                </a:solidFill>
                <a:latin typeface="Menlo"/>
              </a:rPr>
              <a:t>获得单位球坐标</a:t>
            </a:r>
            <a:endParaRPr lang="zh-CN" altLang="en-US" sz="1600" dirty="0">
              <a:latin typeface="Menlo"/>
            </a:endParaRPr>
          </a:p>
          <a:p>
            <a:r>
              <a:rPr lang="en-US" altLang="zh-CN" sz="1600" dirty="0">
                <a:latin typeface="Menlo"/>
              </a:rPr>
              <a:t>grid </a:t>
            </a:r>
            <a:r>
              <a:rPr lang="en-US" altLang="zh-CN" sz="1600" dirty="0">
                <a:solidFill>
                  <a:srgbClr val="AA04F9"/>
                </a:solidFill>
                <a:latin typeface="Menlo"/>
              </a:rPr>
              <a:t>on</a:t>
            </a:r>
            <a:r>
              <a:rPr lang="en-US" altLang="zh-CN" sz="1600" dirty="0">
                <a:latin typeface="Menlo"/>
              </a:rPr>
              <a:t>,</a:t>
            </a:r>
          </a:p>
          <a:p>
            <a:r>
              <a:rPr lang="en-US" altLang="zh-CN" sz="1600" dirty="0">
                <a:latin typeface="Menlo"/>
              </a:rPr>
              <a:t>hold </a:t>
            </a:r>
            <a:r>
              <a:rPr lang="en-US" altLang="zh-CN" sz="1600" dirty="0">
                <a:solidFill>
                  <a:srgbClr val="AA04F9"/>
                </a:solidFill>
                <a:latin typeface="Menlo"/>
              </a:rPr>
              <a:t>on</a:t>
            </a:r>
            <a:r>
              <a:rPr lang="en-US" altLang="zh-CN" sz="1600" dirty="0">
                <a:latin typeface="Menlo"/>
              </a:rPr>
              <a:t>,</a:t>
            </a:r>
          </a:p>
          <a:p>
            <a:r>
              <a:rPr lang="en-US" altLang="zh-CN" sz="1600" dirty="0">
                <a:latin typeface="Menlo"/>
              </a:rPr>
              <a:t>surf(X,Y,Z),</a:t>
            </a:r>
          </a:p>
          <a:p>
            <a:r>
              <a:rPr lang="en-US" altLang="zh-CN" sz="1600" dirty="0">
                <a:solidFill>
                  <a:srgbClr val="028009"/>
                </a:solidFill>
                <a:latin typeface="Menlo"/>
              </a:rPr>
              <a:t>%</a:t>
            </a:r>
            <a:r>
              <a:rPr lang="zh-CN" altLang="en-US" sz="1600" dirty="0">
                <a:solidFill>
                  <a:srgbClr val="028009"/>
                </a:solidFill>
                <a:latin typeface="Menlo"/>
              </a:rPr>
              <a:t>画地球 </a:t>
            </a:r>
            <a:endParaRPr lang="zh-CN" altLang="en-US" sz="1600" dirty="0">
              <a:latin typeface="Menlo"/>
            </a:endParaRPr>
          </a:p>
          <a:p>
            <a:r>
              <a:rPr lang="en-US" altLang="zh-CN" sz="1600" dirty="0">
                <a:latin typeface="Menlo"/>
              </a:rPr>
              <a:t>x1=-18*R0;</a:t>
            </a:r>
          </a:p>
          <a:p>
            <a:r>
              <a:rPr lang="en-US" altLang="zh-CN" sz="1600" dirty="0">
                <a:latin typeface="Menlo"/>
              </a:rPr>
              <a:t>x2=6*R0;</a:t>
            </a:r>
          </a:p>
          <a:p>
            <a:r>
              <a:rPr lang="en-US" altLang="zh-CN" sz="1600" dirty="0">
                <a:latin typeface="Menlo"/>
              </a:rPr>
              <a:t>y1=-12*R0;</a:t>
            </a:r>
          </a:p>
          <a:p>
            <a:r>
              <a:rPr lang="en-US" altLang="zh-CN" sz="1600" dirty="0">
                <a:latin typeface="Menlo"/>
              </a:rPr>
              <a:t>y2=12*R0;</a:t>
            </a:r>
          </a:p>
          <a:p>
            <a:r>
              <a:rPr lang="en-US" altLang="zh-CN" sz="1600" dirty="0">
                <a:latin typeface="Menlo"/>
              </a:rPr>
              <a:t>z1=-6*R0;</a:t>
            </a:r>
          </a:p>
          <a:p>
            <a:r>
              <a:rPr lang="en-US" altLang="zh-CN" sz="1600" dirty="0">
                <a:latin typeface="Menlo"/>
              </a:rPr>
              <a:t>z2=6*R0; </a:t>
            </a:r>
          </a:p>
          <a:p>
            <a:r>
              <a:rPr lang="en-US" altLang="zh-CN" sz="1600" dirty="0">
                <a:latin typeface="Menlo"/>
              </a:rPr>
              <a:t>axis([x1 x2 y1 y2 z1 z2]) </a:t>
            </a:r>
            <a:r>
              <a:rPr lang="en-US" altLang="zh-CN" sz="1600" dirty="0">
                <a:solidFill>
                  <a:srgbClr val="028009"/>
                </a:solidFill>
                <a:latin typeface="Menlo"/>
              </a:rPr>
              <a:t>%</a:t>
            </a:r>
            <a:r>
              <a:rPr lang="zh-CN" altLang="en-US" sz="1600" dirty="0">
                <a:solidFill>
                  <a:srgbClr val="028009"/>
                </a:solidFill>
                <a:latin typeface="Menlo"/>
              </a:rPr>
              <a:t>确定坐标范围 </a:t>
            </a:r>
            <a:endParaRPr lang="zh-CN" altLang="en-US" sz="1600" dirty="0">
              <a:latin typeface="Menlo"/>
            </a:endParaRPr>
          </a:p>
          <a:p>
            <a:r>
              <a:rPr lang="en-US" altLang="zh-CN" sz="1600" dirty="0">
                <a:highlight>
                  <a:srgbClr val="FF0000"/>
                </a:highlight>
                <a:latin typeface="Menlo"/>
              </a:rPr>
              <a:t>view([117 37]),</a:t>
            </a:r>
          </a:p>
          <a:p>
            <a:r>
              <a:rPr lang="en-US" altLang="zh-CN" sz="1600" dirty="0">
                <a:latin typeface="Menlo"/>
              </a:rPr>
              <a:t>comet3(x,y,z,0.02),hold </a:t>
            </a:r>
            <a:r>
              <a:rPr lang="en-US" altLang="zh-CN" sz="1600" dirty="0">
                <a:solidFill>
                  <a:srgbClr val="AA04F9"/>
                </a:solidFill>
                <a:latin typeface="Menlo"/>
              </a:rPr>
              <a:t>off</a:t>
            </a:r>
            <a:r>
              <a:rPr lang="en-US" altLang="zh-CN" sz="1600" dirty="0">
                <a:solidFill>
                  <a:srgbClr val="028009"/>
                </a:solidFill>
                <a:latin typeface="Menlo"/>
              </a:rPr>
              <a:t>%</a:t>
            </a:r>
            <a:r>
              <a:rPr lang="zh-CN" altLang="en-US" sz="1600" dirty="0">
                <a:solidFill>
                  <a:srgbClr val="028009"/>
                </a:solidFill>
                <a:latin typeface="Menlo"/>
              </a:rPr>
              <a:t>设视角、画运动轨线 </a:t>
            </a:r>
            <a:endParaRPr lang="en-US" altLang="zh-CN" sz="1600" dirty="0">
              <a:latin typeface="Menlo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4952" y="2663230"/>
            <a:ext cx="3346510" cy="2509883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94433" y="51251"/>
            <a:ext cx="2866075" cy="507831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latin typeface="Menlo"/>
              </a:rPr>
              <a:t>R0=1; </a:t>
            </a:r>
            <a:r>
              <a:rPr lang="en-US" altLang="zh-CN" dirty="0">
                <a:solidFill>
                  <a:srgbClr val="028009"/>
                </a:solidFill>
                <a:latin typeface="Menlo"/>
              </a:rPr>
              <a:t>%</a:t>
            </a:r>
            <a:r>
              <a:rPr lang="zh-CN" altLang="en-US" dirty="0">
                <a:solidFill>
                  <a:srgbClr val="028009"/>
                </a:solidFill>
                <a:latin typeface="Menlo"/>
              </a:rPr>
              <a:t>以地球半径为一个单位</a:t>
            </a:r>
            <a:endParaRPr lang="zh-CN" altLang="en-US" dirty="0">
              <a:latin typeface="Menlo"/>
            </a:endParaRPr>
          </a:p>
          <a:p>
            <a:r>
              <a:rPr lang="en-US" altLang="zh-CN" dirty="0">
                <a:latin typeface="Menlo"/>
              </a:rPr>
              <a:t>a=12*R0;</a:t>
            </a:r>
          </a:p>
          <a:p>
            <a:r>
              <a:rPr lang="en-US" altLang="zh-CN" dirty="0">
                <a:latin typeface="Menlo"/>
              </a:rPr>
              <a:t>b=9*R0;</a:t>
            </a:r>
          </a:p>
          <a:p>
            <a:r>
              <a:rPr lang="en-US" altLang="zh-CN" dirty="0">
                <a:latin typeface="Menlo"/>
              </a:rPr>
              <a:t>T0=2*pi; </a:t>
            </a:r>
            <a:r>
              <a:rPr lang="en-US" altLang="zh-CN" dirty="0">
                <a:solidFill>
                  <a:srgbClr val="028009"/>
                </a:solidFill>
                <a:latin typeface="Menlo"/>
              </a:rPr>
              <a:t>%T0</a:t>
            </a:r>
            <a:r>
              <a:rPr lang="zh-CN" altLang="en-US" dirty="0">
                <a:solidFill>
                  <a:srgbClr val="028009"/>
                </a:solidFill>
                <a:latin typeface="Menlo"/>
              </a:rPr>
              <a:t>是轨道周期 </a:t>
            </a:r>
            <a:endParaRPr lang="zh-CN" altLang="en-US" dirty="0">
              <a:latin typeface="Menlo"/>
            </a:endParaRPr>
          </a:p>
          <a:p>
            <a:r>
              <a:rPr lang="en-US" altLang="zh-CN" dirty="0">
                <a:latin typeface="Menlo"/>
              </a:rPr>
              <a:t>T=5*T0;</a:t>
            </a:r>
          </a:p>
          <a:p>
            <a:r>
              <a:rPr lang="en-US" altLang="zh-CN" dirty="0">
                <a:latin typeface="Menlo"/>
              </a:rPr>
              <a:t>dt=pi/100;</a:t>
            </a:r>
          </a:p>
          <a:p>
            <a:r>
              <a:rPr lang="en-US" altLang="zh-CN" dirty="0">
                <a:latin typeface="Menlo"/>
              </a:rPr>
              <a:t>t=[0:dt:T]';</a:t>
            </a:r>
          </a:p>
          <a:p>
            <a:r>
              <a:rPr lang="en-US" altLang="zh-CN" dirty="0">
                <a:latin typeface="Menlo"/>
              </a:rPr>
              <a:t>f=sqrt(a^2-b^2); </a:t>
            </a:r>
            <a:r>
              <a:rPr lang="en-US" altLang="zh-CN" dirty="0">
                <a:solidFill>
                  <a:srgbClr val="028009"/>
                </a:solidFill>
                <a:latin typeface="Menlo"/>
              </a:rPr>
              <a:t>%</a:t>
            </a:r>
            <a:r>
              <a:rPr lang="zh-CN" altLang="en-US" dirty="0">
                <a:solidFill>
                  <a:srgbClr val="028009"/>
                </a:solidFill>
                <a:latin typeface="Menlo"/>
              </a:rPr>
              <a:t>地球与另一焦点的距离</a:t>
            </a:r>
            <a:endParaRPr lang="zh-CN" altLang="en-US" dirty="0">
              <a:latin typeface="Menlo"/>
            </a:endParaRPr>
          </a:p>
          <a:p>
            <a:r>
              <a:rPr lang="en-US" altLang="zh-CN" dirty="0" err="1">
                <a:latin typeface="Menlo"/>
              </a:rPr>
              <a:t>th</a:t>
            </a:r>
            <a:r>
              <a:rPr lang="en-US" altLang="zh-CN" dirty="0">
                <a:latin typeface="Menlo"/>
              </a:rPr>
              <a:t>=12.5*pi/180; </a:t>
            </a:r>
            <a:r>
              <a:rPr lang="en-US" altLang="zh-CN" dirty="0">
                <a:solidFill>
                  <a:srgbClr val="028009"/>
                </a:solidFill>
                <a:latin typeface="Menlo"/>
              </a:rPr>
              <a:t>%</a:t>
            </a:r>
            <a:r>
              <a:rPr lang="zh-CN" altLang="en-US" dirty="0">
                <a:solidFill>
                  <a:srgbClr val="028009"/>
                </a:solidFill>
                <a:latin typeface="Menlo"/>
              </a:rPr>
              <a:t>卫星轨道与 </a:t>
            </a:r>
            <a:r>
              <a:rPr lang="en-US" altLang="zh-CN" dirty="0">
                <a:solidFill>
                  <a:srgbClr val="028009"/>
                </a:solidFill>
                <a:latin typeface="Menlo"/>
              </a:rPr>
              <a:t>x-y </a:t>
            </a:r>
            <a:r>
              <a:rPr lang="zh-CN" altLang="en-US" dirty="0">
                <a:solidFill>
                  <a:srgbClr val="028009"/>
                </a:solidFill>
                <a:latin typeface="Menlo"/>
              </a:rPr>
              <a:t>平面的倾角 </a:t>
            </a:r>
            <a:endParaRPr lang="zh-CN" altLang="en-US" dirty="0">
              <a:latin typeface="Menlo"/>
            </a:endParaRPr>
          </a:p>
          <a:p>
            <a:r>
              <a:rPr lang="en-US" altLang="zh-CN" dirty="0">
                <a:latin typeface="Menlo"/>
              </a:rPr>
              <a:t>E=exp(-t/20); </a:t>
            </a:r>
            <a:r>
              <a:rPr lang="en-US" altLang="zh-CN" dirty="0">
                <a:solidFill>
                  <a:srgbClr val="028009"/>
                </a:solidFill>
                <a:latin typeface="Menlo"/>
              </a:rPr>
              <a:t>%</a:t>
            </a:r>
            <a:r>
              <a:rPr lang="zh-CN" altLang="en-US" dirty="0">
                <a:solidFill>
                  <a:srgbClr val="028009"/>
                </a:solidFill>
                <a:latin typeface="Menlo"/>
              </a:rPr>
              <a:t>轨道收缩率 </a:t>
            </a:r>
            <a:endParaRPr lang="zh-CN" altLang="en-US" dirty="0">
              <a:latin typeface="Menlo"/>
            </a:endParaRPr>
          </a:p>
          <a:p>
            <a:r>
              <a:rPr lang="en-US" altLang="zh-CN" dirty="0">
                <a:solidFill>
                  <a:srgbClr val="00B0F0"/>
                </a:solidFill>
                <a:latin typeface="Menlo"/>
              </a:rPr>
              <a:t>x=E.*(a*cos(t)-f);</a:t>
            </a:r>
          </a:p>
          <a:p>
            <a:r>
              <a:rPr lang="en-US" altLang="zh-CN" dirty="0">
                <a:solidFill>
                  <a:srgbClr val="00B0F0"/>
                </a:solidFill>
                <a:latin typeface="Menlo"/>
              </a:rPr>
              <a:t>y=E.*(b*cos(</a:t>
            </a:r>
            <a:r>
              <a:rPr lang="en-US" altLang="zh-CN" dirty="0" err="1">
                <a:solidFill>
                  <a:srgbClr val="00B0F0"/>
                </a:solidFill>
                <a:latin typeface="Menlo"/>
              </a:rPr>
              <a:t>th</a:t>
            </a:r>
            <a:r>
              <a:rPr lang="en-US" altLang="zh-CN" dirty="0">
                <a:solidFill>
                  <a:srgbClr val="00B0F0"/>
                </a:solidFill>
                <a:latin typeface="Menlo"/>
              </a:rPr>
              <a:t>)*sin(t));</a:t>
            </a:r>
          </a:p>
          <a:p>
            <a:r>
              <a:rPr lang="en-US" altLang="zh-CN" dirty="0">
                <a:solidFill>
                  <a:srgbClr val="00B0F0"/>
                </a:solidFill>
                <a:latin typeface="Menlo"/>
              </a:rPr>
              <a:t>z=E.*(b*sin(</a:t>
            </a:r>
            <a:r>
              <a:rPr lang="en-US" altLang="zh-CN" dirty="0" err="1">
                <a:solidFill>
                  <a:srgbClr val="00B0F0"/>
                </a:solidFill>
                <a:latin typeface="Menlo"/>
              </a:rPr>
              <a:t>th</a:t>
            </a:r>
            <a:r>
              <a:rPr lang="en-US" altLang="zh-CN" dirty="0">
                <a:solidFill>
                  <a:srgbClr val="00B0F0"/>
                </a:solidFill>
                <a:latin typeface="Menlo"/>
              </a:rPr>
              <a:t>)*sin(t)) ; </a:t>
            </a:r>
          </a:p>
          <a:p>
            <a:r>
              <a:rPr lang="en-US" altLang="zh-CN" dirty="0">
                <a:latin typeface="Menlo"/>
              </a:rPr>
              <a:t>plot3(</a:t>
            </a:r>
            <a:r>
              <a:rPr lang="en-US" altLang="zh-CN" dirty="0" err="1">
                <a:latin typeface="Menlo"/>
              </a:rPr>
              <a:t>x,y,z,</a:t>
            </a:r>
            <a:r>
              <a:rPr lang="en-US" altLang="zh-CN" dirty="0" err="1">
                <a:solidFill>
                  <a:srgbClr val="AA04F9"/>
                </a:solidFill>
                <a:latin typeface="Menlo"/>
              </a:rPr>
              <a:t>'g</a:t>
            </a:r>
            <a:r>
              <a:rPr lang="en-US" altLang="zh-CN" dirty="0">
                <a:solidFill>
                  <a:srgbClr val="AA04F9"/>
                </a:solidFill>
                <a:latin typeface="Menlo"/>
              </a:rPr>
              <a:t>'</a:t>
            </a:r>
            <a:r>
              <a:rPr lang="en-US" altLang="zh-CN" dirty="0">
                <a:latin typeface="Menlo"/>
              </a:rPr>
              <a:t>) </a:t>
            </a:r>
            <a:r>
              <a:rPr lang="en-US" altLang="zh-CN" dirty="0">
                <a:solidFill>
                  <a:srgbClr val="028009"/>
                </a:solidFill>
                <a:latin typeface="Menlo"/>
              </a:rPr>
              <a:t>%</a:t>
            </a:r>
            <a:r>
              <a:rPr lang="zh-CN" altLang="en-US" dirty="0">
                <a:solidFill>
                  <a:srgbClr val="028009"/>
                </a:solidFill>
                <a:latin typeface="Menlo"/>
              </a:rPr>
              <a:t>画全程轨线 </a:t>
            </a:r>
            <a:endParaRPr lang="zh-CN" altLang="en-US" dirty="0">
              <a:latin typeface="Menlo"/>
            </a:endParaRPr>
          </a:p>
          <a:p>
            <a:endParaRPr lang="en-US" altLang="zh-CN" dirty="0">
              <a:latin typeface="Menlo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498" y="233788"/>
            <a:ext cx="3239256" cy="2429442"/>
          </a:xfrm>
          <a:prstGeom prst="rect">
            <a:avLst/>
          </a:prstGeom>
        </p:spPr>
      </p:pic>
      <p:sp>
        <p:nvSpPr>
          <p:cNvPr id="9" name="波形 8"/>
          <p:cNvSpPr/>
          <p:nvPr/>
        </p:nvSpPr>
        <p:spPr>
          <a:xfrm>
            <a:off x="7611815" y="84793"/>
            <a:ext cx="776609" cy="537517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>
              <a:lnSpc>
                <a:spcPct val="140000"/>
              </a:lnSpc>
            </a:pPr>
            <a:r>
              <a:rPr lang="en-US" altLang="ko-KR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ko-KR" altLang="en-US" sz="16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920770" y="2472282"/>
            <a:ext cx="4053531" cy="853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卫星返回地球运动轨迹仿真示意图 （</a:t>
            </a:r>
            <a:r>
              <a:rPr lang="en-US" altLang="zh-CN" sz="20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comet3</a:t>
            </a:r>
            <a:r>
              <a:rPr lang="zh-CN" altLang="en-US" sz="20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彗星图）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1"/>
          <p:cNvSpPr txBox="1"/>
          <p:nvPr/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25E81C68-AD67-4B59-A707-20F6CB98CF04}" type="datetime1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13426" y="266649"/>
            <a:ext cx="8571238" cy="92333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r>
              <a:rPr lang="zh-CN" altLang="en-US" sz="2000" b="0" i="0" dirty="0">
                <a:solidFill>
                  <a:srgbClr val="0070C0"/>
                </a:solidFill>
                <a:effectLst/>
                <a:latin typeface="-apple-system"/>
              </a:rPr>
              <a:t>使用不同的线型为不同的 </a:t>
            </a:r>
            <a:r>
              <a:rPr lang="en-US" altLang="zh-CN" sz="2000" b="0" i="0" dirty="0">
                <a:solidFill>
                  <a:srgbClr val="0070C0"/>
                </a:solidFill>
                <a:effectLst/>
                <a:latin typeface="-apple-system"/>
              </a:rPr>
              <a:t>v </a:t>
            </a:r>
            <a:r>
              <a:rPr lang="zh-CN" altLang="en-US" sz="2000" b="0" i="0" dirty="0">
                <a:solidFill>
                  <a:srgbClr val="0070C0"/>
                </a:solidFill>
                <a:effectLst/>
                <a:latin typeface="-apple-system"/>
              </a:rPr>
              <a:t>值绘制参数化曲面</a:t>
            </a:r>
            <a:r>
              <a:rPr lang="en-US" altLang="zh-CN" sz="2000" b="0" i="0" dirty="0">
                <a:solidFill>
                  <a:srgbClr val="0070C0"/>
                </a:solidFill>
                <a:effectLst/>
                <a:latin typeface="-apple-system"/>
              </a:rPr>
              <a:t>x=u*sin(v)</a:t>
            </a:r>
            <a:r>
              <a:rPr lang="zh-CN" altLang="en-US" sz="2000" b="0" i="0" dirty="0">
                <a:solidFill>
                  <a:srgbClr val="0070C0"/>
                </a:solidFill>
                <a:effectLst/>
                <a:latin typeface="-apple-system"/>
              </a:rPr>
              <a:t> 、 </a:t>
            </a:r>
            <a:r>
              <a:rPr lang="en-US" altLang="zh-CN" sz="2000" b="0" i="0" dirty="0">
                <a:solidFill>
                  <a:srgbClr val="0070C0"/>
                </a:solidFill>
                <a:effectLst/>
                <a:latin typeface="-apple-system"/>
              </a:rPr>
              <a:t>y=-u*cos(v)</a:t>
            </a:r>
            <a:r>
              <a:rPr lang="zh-CN" altLang="en-US" sz="2000" b="0" i="0" dirty="0">
                <a:solidFill>
                  <a:srgbClr val="0070C0"/>
                </a:solidFill>
                <a:effectLst/>
                <a:latin typeface="-apple-system"/>
              </a:rPr>
              <a:t>和 </a:t>
            </a:r>
            <a:r>
              <a:rPr lang="en-US" altLang="zh-CN" sz="2000" b="0" i="0" dirty="0">
                <a:solidFill>
                  <a:srgbClr val="0070C0"/>
                </a:solidFill>
                <a:effectLst/>
                <a:latin typeface="-apple-system"/>
              </a:rPr>
              <a:t>z=v</a:t>
            </a:r>
            <a:r>
              <a:rPr lang="zh-CN" altLang="en-US" sz="2000" b="0" i="0" dirty="0">
                <a:solidFill>
                  <a:srgbClr val="0070C0"/>
                </a:solidFill>
                <a:effectLst/>
                <a:latin typeface="-apple-system"/>
              </a:rPr>
              <a:t>。对于 −</a:t>
            </a:r>
            <a:r>
              <a:rPr lang="en-US" altLang="zh-CN" sz="2000" b="0" i="0" dirty="0">
                <a:solidFill>
                  <a:srgbClr val="0070C0"/>
                </a:solidFill>
                <a:effectLst/>
                <a:latin typeface="-apple-system"/>
              </a:rPr>
              <a:t>5&lt;v&lt;−2</a:t>
            </a:r>
            <a:r>
              <a:rPr lang="zh-CN" altLang="en-US" sz="2000" b="0" i="0" dirty="0">
                <a:solidFill>
                  <a:srgbClr val="0070C0"/>
                </a:solidFill>
                <a:effectLst/>
                <a:latin typeface="-apple-system"/>
              </a:rPr>
              <a:t>，使用绿色虚线绘制曲面边。对于 −</a:t>
            </a:r>
            <a:r>
              <a:rPr lang="en-US" altLang="zh-CN" sz="2000" b="0" i="0" dirty="0">
                <a:solidFill>
                  <a:srgbClr val="0070C0"/>
                </a:solidFill>
                <a:effectLst/>
                <a:latin typeface="-apple-system"/>
              </a:rPr>
              <a:t>2&lt;v&lt;2</a:t>
            </a:r>
            <a:r>
              <a:rPr lang="zh-CN" altLang="en-US" sz="2000" b="0" i="0" dirty="0">
                <a:solidFill>
                  <a:srgbClr val="0070C0"/>
                </a:solidFill>
                <a:effectLst/>
                <a:latin typeface="-apple-system"/>
              </a:rPr>
              <a:t>，通过将 </a:t>
            </a:r>
            <a:r>
              <a:rPr lang="en-US" altLang="zh-CN" sz="2000" b="0" i="0" dirty="0" err="1">
                <a:solidFill>
                  <a:srgbClr val="0070C0"/>
                </a:solidFill>
                <a:effectLst/>
                <a:latin typeface="-apple-system"/>
              </a:rPr>
              <a:t>edgecolor</a:t>
            </a:r>
            <a:r>
              <a:rPr lang="en-US" altLang="zh-CN" sz="2000" b="0" i="0" dirty="0">
                <a:solidFill>
                  <a:srgbClr val="0070C0"/>
                </a:solidFill>
                <a:effectLst/>
                <a:latin typeface="-apple-system"/>
              </a:rPr>
              <a:t> </a:t>
            </a:r>
            <a:r>
              <a:rPr lang="zh-CN" altLang="en-US" sz="2000" b="0" i="0" dirty="0">
                <a:solidFill>
                  <a:srgbClr val="0070C0"/>
                </a:solidFill>
                <a:effectLst/>
                <a:latin typeface="-apple-system"/>
              </a:rPr>
              <a:t>属性设置为 </a:t>
            </a:r>
            <a:r>
              <a:rPr lang="en-US" altLang="zh-CN" sz="2000" b="0" i="0" dirty="0">
                <a:solidFill>
                  <a:srgbClr val="0070C0"/>
                </a:solidFill>
                <a:effectLst/>
                <a:latin typeface="-apple-system"/>
              </a:rPr>
              <a:t>"none" </a:t>
            </a:r>
            <a:r>
              <a:rPr lang="zh-CN" altLang="en-US" sz="2000" b="0" i="0" dirty="0">
                <a:solidFill>
                  <a:srgbClr val="0070C0"/>
                </a:solidFill>
                <a:effectLst/>
                <a:latin typeface="-apple-system"/>
              </a:rPr>
              <a:t>来关闭边。</a:t>
            </a:r>
            <a:endParaRPr lang="pl-PL" altLang="zh-CN" sz="2000" dirty="0">
              <a:solidFill>
                <a:srgbClr val="0070C0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413426" y="1237269"/>
            <a:ext cx="857123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r>
              <a:rPr lang="es-E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funx = (u,v)-&gt;u.*</a:t>
            </a:r>
            <a:r>
              <a:rPr lang="es-E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s-E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(v)</a:t>
            </a:r>
          </a:p>
          <a:p>
            <a:r>
              <a:rPr lang="es-E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funy = (u,v)-&gt;-u.*</a:t>
            </a:r>
            <a:r>
              <a:rPr lang="es-E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cos</a:t>
            </a:r>
            <a:r>
              <a:rPr lang="es-E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(v)</a:t>
            </a:r>
          </a:p>
          <a:p>
            <a:r>
              <a:rPr lang="es-E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funz = (u,v)-&gt;v</a:t>
            </a: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380470" y="2244818"/>
            <a:ext cx="8571238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figure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fmesh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funx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funy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funz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[-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362683" y="2943180"/>
            <a:ext cx="857123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figure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fsurf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funx,funy,funz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,[-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zh-C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edgecolor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"g"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pl-PL" altLang="zh-CN" sz="2000" dirty="0">
              <a:solidFill>
                <a:srgbClr val="002060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395536" y="3627781"/>
            <a:ext cx="8571238" cy="92333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figure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 = </a:t>
            </a:r>
            <a:r>
              <a:rPr lang="en-US" altLang="zh-C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fsurf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funx,funy,funz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,[-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en-US" altLang="zh-C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s.</a:t>
            </a:r>
            <a:r>
              <a:rPr lang="en-US" altLang="zh-C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set_edgecolor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"none"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/>
          <a:srcRect l="7869" t="19900" r="31889" b="8935"/>
          <a:stretch>
            <a:fillRect/>
          </a:stretch>
        </p:blipFill>
        <p:spPr>
          <a:xfrm>
            <a:off x="5292080" y="849428"/>
            <a:ext cx="2329914" cy="1548172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3"/>
          <a:srcRect l="8262" t="20578" r="30314" b="8935"/>
          <a:stretch>
            <a:fillRect/>
          </a:stretch>
        </p:blipFill>
        <p:spPr>
          <a:xfrm>
            <a:off x="6084168" y="1836721"/>
            <a:ext cx="2448795" cy="158068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4"/>
          <a:srcRect l="9838" t="20578" r="32282" b="8935"/>
          <a:stretch>
            <a:fillRect/>
          </a:stretch>
        </p:blipFill>
        <p:spPr>
          <a:xfrm>
            <a:off x="6901891" y="3036457"/>
            <a:ext cx="2232509" cy="1529298"/>
          </a:xfrm>
          <a:prstGeom prst="rect">
            <a:avLst/>
          </a:prstGeom>
        </p:spPr>
      </p:pic>
      <p:sp>
        <p:nvSpPr>
          <p:cNvPr id="13" name="波形 12"/>
          <p:cNvSpPr/>
          <p:nvPr/>
        </p:nvSpPr>
        <p:spPr>
          <a:xfrm>
            <a:off x="0" y="410334"/>
            <a:ext cx="323528" cy="503997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例7</a:t>
            </a:r>
            <a:endParaRPr lang="ko-KR" altLang="en-US" sz="16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24546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9750" y="843915"/>
            <a:ext cx="8354695" cy="3599815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3"/>
          <a:stretch>
            <a:fillRect/>
          </a:stretch>
        </p:blipFill>
        <p:spPr>
          <a:xfrm>
            <a:off x="2411760" y="2158893"/>
            <a:ext cx="5521325" cy="253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357856"/>
      </p:ext>
    </p:extLst>
  </p:cSld>
  <p:clrMapOvr>
    <a:masterClrMapping/>
  </p:clrMapOvr>
</p:sld>
</file>

<file path=ppt/theme/theme1.xml><?xml version="1.0" encoding="utf-8"?>
<a:theme xmlns:a="http://schemas.openxmlformats.org/drawingml/2006/main" name="主题1">
  <a:themeElements>
    <a:clrScheme name="darp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arpa">
      <a:majorFont>
        <a:latin typeface="Helvetic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177800" marR="0" indent="-177800" algn="ctr" defTabSz="914400" rtl="0" eaLnBrk="0" fontAlgn="base" latinLnBrk="0" hangingPunct="0">
          <a:lnSpc>
            <a:spcPct val="11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177800" marR="0" indent="-177800" algn="ctr" defTabSz="914400" rtl="0" eaLnBrk="0" fontAlgn="base" latinLnBrk="0" hangingPunct="0">
          <a:lnSpc>
            <a:spcPct val="11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darp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rp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708</TotalTime>
  <Pages>154</Pages>
  <Words>4768</Words>
  <Application>Microsoft Office PowerPoint</Application>
  <PresentationFormat>全屏显示(16:9)</PresentationFormat>
  <Paragraphs>535</Paragraphs>
  <Slides>29</Slides>
  <Notes>14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50" baseType="lpstr">
      <vt:lpstr>-apple-system</vt:lpstr>
      <vt:lpstr>Arial Unicode MS</vt:lpstr>
      <vt:lpstr>Menlo</vt:lpstr>
      <vt:lpstr>PingFang SC</vt:lpstr>
      <vt:lpstr>等线</vt:lpstr>
      <vt:lpstr>华光综艺_CNKI</vt:lpstr>
      <vt:lpstr>华文楷体</vt:lpstr>
      <vt:lpstr>隶书</vt:lpstr>
      <vt:lpstr>微软雅黑</vt:lpstr>
      <vt:lpstr>微软雅黑 Light</vt:lpstr>
      <vt:lpstr>Aharoni</vt:lpstr>
      <vt:lpstr>Arial</vt:lpstr>
      <vt:lpstr>Arial Black</vt:lpstr>
      <vt:lpstr>Calibri</vt:lpstr>
      <vt:lpstr>Cambria Math</vt:lpstr>
      <vt:lpstr>Consolas</vt:lpstr>
      <vt:lpstr>Helvetica</vt:lpstr>
      <vt:lpstr>Times New Roman</vt:lpstr>
      <vt:lpstr>Wingdings</vt:lpstr>
      <vt:lpstr>主题1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Julia与Matlab绘图语法区别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li aibin</cp:lastModifiedBy>
  <cp:revision>1054</cp:revision>
  <dcterms:created xsi:type="dcterms:W3CDTF">2024-12-17T12:58:35Z</dcterms:created>
  <dcterms:modified xsi:type="dcterms:W3CDTF">2025-03-25T07:03:45Z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56799C491D3C42FA9B68C3432DFBC405_12</vt:lpwstr>
  </property>
  <property fmtid="{D5CDD505-2E9C-101B-9397-08002B2CF9AE}" pid="3" name="KSOProductBuildVer">
    <vt:lpwstr>2052-12.1.0.18912</vt:lpwstr>
  </property>
</Properties>
</file>