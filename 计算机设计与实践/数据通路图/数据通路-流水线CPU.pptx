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004300" cy="5041900"/>
  <p:notesSz cx="9004300" cy="50419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9" userDrawn="1">
          <p15:clr>
            <a:srgbClr val="A4A3A4"/>
          </p15:clr>
        </p15:guide>
        <p15:guide id="2" pos="21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850" y="72"/>
      </p:cViewPr>
      <p:guideLst>
        <p:guide orient="horz" pos="2869"/>
        <p:guide pos="21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1863" cy="2529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00353" y="0"/>
            <a:ext cx="3901863" cy="2529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9580" y="630238"/>
            <a:ext cx="3025140" cy="170164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00430" y="2426414"/>
            <a:ext cx="7203440" cy="198524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788930"/>
            <a:ext cx="3901863" cy="25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00353" y="4788930"/>
            <a:ext cx="3901863" cy="25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82913" y="630238"/>
            <a:ext cx="3038475" cy="1701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5322" y="1562989"/>
            <a:ext cx="7653655" cy="1058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0645" y="2823464"/>
            <a:ext cx="6303010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0215" y="1159637"/>
            <a:ext cx="3916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37214" y="1159637"/>
            <a:ext cx="3916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5956" y="1286663"/>
            <a:ext cx="1252387" cy="239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215" y="1159637"/>
            <a:ext cx="8103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61462" y="4688967"/>
            <a:ext cx="2881376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0215" y="4688967"/>
            <a:ext cx="207098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83096" y="4688967"/>
            <a:ext cx="207098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0326" y="1807234"/>
            <a:ext cx="4762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M</a:t>
            </a:r>
            <a:r>
              <a:rPr sz="1400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EQ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2945" y="2029012"/>
            <a:ext cx="1198245" cy="911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5400" marR="26035">
              <a:lnSpc>
                <a:spcPct val="100000"/>
              </a:lnSpc>
              <a:spcBef>
                <a:spcPts val="455"/>
              </a:spcBef>
              <a:tabLst>
                <a:tab pos="733425" algn="l"/>
                <a:tab pos="798830" algn="l"/>
              </a:tabLst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rop</a:t>
            </a:r>
            <a:r>
              <a:rPr sz="1000" dirty="0">
                <a:latin typeface="Calibri" panose="020F0502020204030204"/>
                <a:cs typeface="Calibri" panose="020F0502020204030204"/>
              </a:rPr>
              <a:t>	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en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m_w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r>
              <a:rPr sz="100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addr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 dirty="0">
              <a:latin typeface="Calibri" panose="020F0502020204030204"/>
              <a:cs typeface="Calibri" panose="020F0502020204030204"/>
            </a:endParaRPr>
          </a:p>
          <a:p>
            <a:pPr marL="25400" marR="26670">
              <a:lnSpc>
                <a:spcPct val="100000"/>
              </a:lnSpc>
              <a:tabLst>
                <a:tab pos="753110" algn="l"/>
              </a:tabLst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m_w</a:t>
            </a:r>
            <a:r>
              <a:rPr sz="1000" dirty="0">
                <a:latin typeface="Calibri" panose="020F0502020204030204"/>
                <a:cs typeface="Calibri" panose="020F0502020204030204"/>
              </a:rPr>
              <a:t>d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ata</a:t>
            </a:r>
            <a:r>
              <a:rPr sz="100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_wen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ram_addr  </a:t>
            </a:r>
            <a:r>
              <a:rPr sz="10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da_wdata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11382" y="3455425"/>
            <a:ext cx="360045" cy="720090"/>
          </a:xfrm>
          <a:custGeom>
            <a:avLst/>
            <a:gdLst/>
            <a:ahLst/>
            <a:cxnLst/>
            <a:rect l="l" t="t" r="r" b="b"/>
            <a:pathLst>
              <a:path w="360045" h="720089">
                <a:moveTo>
                  <a:pt x="0" y="0"/>
                </a:moveTo>
                <a:lnTo>
                  <a:pt x="360032" y="156375"/>
                </a:lnTo>
                <a:lnTo>
                  <a:pt x="360032" y="563689"/>
                </a:lnTo>
                <a:lnTo>
                  <a:pt x="0" y="720064"/>
                </a:lnTo>
                <a:lnTo>
                  <a:pt x="0" y="420598"/>
                </a:lnTo>
                <a:lnTo>
                  <a:pt x="104432" y="360032"/>
                </a:lnTo>
                <a:lnTo>
                  <a:pt x="0" y="29945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95495" y="3217090"/>
            <a:ext cx="315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A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dirty="0">
                <a:latin typeface="Calibri" panose="020F0502020204030204"/>
                <a:cs typeface="Calibri" panose="020F0502020204030204"/>
              </a:rPr>
              <a:t>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5882" y="3515681"/>
            <a:ext cx="323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-7" baseline="-8000" dirty="0">
                <a:latin typeface="Calibri" panose="020F0502020204030204"/>
                <a:cs typeface="Calibri" panose="020F0502020204030204"/>
              </a:rPr>
              <a:t>A</a:t>
            </a:r>
            <a:r>
              <a:rPr sz="1500" spc="52" baseline="-800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1282" y="3810274"/>
            <a:ext cx="341630" cy="28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">
              <a:lnSpc>
                <a:spcPts val="1005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C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005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B</a:t>
            </a:r>
            <a:r>
              <a:rPr sz="10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7" baseline="3000" dirty="0">
                <a:latin typeface="Calibri" panose="020F0502020204030204"/>
                <a:cs typeface="Calibri" panose="020F0502020204030204"/>
              </a:rPr>
              <a:t>br</a:t>
            </a:r>
            <a:endParaRPr sz="1500" baseline="3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23947" y="3361585"/>
            <a:ext cx="504190" cy="834390"/>
          </a:xfrm>
          <a:custGeom>
            <a:avLst/>
            <a:gdLst/>
            <a:ahLst/>
            <a:cxnLst/>
            <a:rect l="l" t="t" r="r" b="b"/>
            <a:pathLst>
              <a:path w="504189" h="834389">
                <a:moveTo>
                  <a:pt x="0" y="0"/>
                </a:moveTo>
                <a:lnTo>
                  <a:pt x="504037" y="0"/>
                </a:lnTo>
                <a:lnTo>
                  <a:pt x="504037" y="834390"/>
                </a:lnTo>
                <a:lnTo>
                  <a:pt x="0" y="83439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29145" y="3368844"/>
            <a:ext cx="202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R1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R2  wR  we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9145" y="3978535"/>
            <a:ext cx="193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wD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5649" y="3536699"/>
            <a:ext cx="2114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D1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5649" y="3841544"/>
            <a:ext cx="2114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D2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18961" y="4088117"/>
            <a:ext cx="125730" cy="107950"/>
          </a:xfrm>
          <a:custGeom>
            <a:avLst/>
            <a:gdLst/>
            <a:ahLst/>
            <a:cxnLst/>
            <a:rect l="l" t="t" r="r" b="b"/>
            <a:pathLst>
              <a:path w="125729" h="107950">
                <a:moveTo>
                  <a:pt x="0" y="107861"/>
                </a:moveTo>
                <a:lnTo>
                  <a:pt x="62560" y="0"/>
                </a:lnTo>
                <a:lnTo>
                  <a:pt x="125120" y="107861"/>
                </a:lnTo>
                <a:lnTo>
                  <a:pt x="0" y="1078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73506" y="3128625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Calibri" panose="020F0502020204030204"/>
                <a:cs typeface="Calibri" panose="020F0502020204030204"/>
              </a:rPr>
              <a:t>RF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0437" y="4226290"/>
            <a:ext cx="432434" cy="448309"/>
          </a:xfrm>
          <a:custGeom>
            <a:avLst/>
            <a:gdLst/>
            <a:ahLst/>
            <a:cxnLst/>
            <a:rect l="l" t="t" r="r" b="b"/>
            <a:pathLst>
              <a:path w="432435" h="448310">
                <a:moveTo>
                  <a:pt x="0" y="0"/>
                </a:moveTo>
                <a:lnTo>
                  <a:pt x="432041" y="0"/>
                </a:lnTo>
                <a:lnTo>
                  <a:pt x="432041" y="448246"/>
                </a:lnTo>
                <a:lnTo>
                  <a:pt x="0" y="4482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88231" y="4007758"/>
            <a:ext cx="374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S</a:t>
            </a:r>
            <a:r>
              <a:rPr sz="14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400" dirty="0">
                <a:latin typeface="Calibri" panose="020F0502020204030204"/>
                <a:cs typeface="Calibri" panose="020F0502020204030204"/>
              </a:rPr>
              <a:t>XT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6016" y="4151951"/>
            <a:ext cx="405130" cy="473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din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r>
              <a:rPr sz="10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0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ext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00810" y="3068320"/>
            <a:ext cx="537210" cy="1007745"/>
          </a:xfrm>
          <a:custGeom>
            <a:avLst/>
            <a:gdLst/>
            <a:ahLst/>
            <a:cxnLst/>
            <a:rect l="l" t="t" r="r" b="b"/>
            <a:pathLst>
              <a:path w="537210" h="675639">
                <a:moveTo>
                  <a:pt x="0" y="0"/>
                </a:moveTo>
                <a:lnTo>
                  <a:pt x="536587" y="0"/>
                </a:lnTo>
                <a:lnTo>
                  <a:pt x="536587" y="675436"/>
                </a:lnTo>
                <a:lnTo>
                  <a:pt x="0" y="675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16356" y="2834627"/>
            <a:ext cx="327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Calibri" panose="020F0502020204030204"/>
                <a:cs typeface="Calibri" panose="020F0502020204030204"/>
              </a:rPr>
              <a:t>N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PC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3150" y="3163176"/>
            <a:ext cx="213995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27000"/>
              </a:lnSpc>
              <a:spcBef>
                <a:spcPts val="1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npc  p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c4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97246" y="3085013"/>
            <a:ext cx="32194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PC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22225" marR="157480">
              <a:lnSpc>
                <a:spcPct val="100000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  br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85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ff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et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16150" y="3001530"/>
            <a:ext cx="521099" cy="598472"/>
          </a:xfrm>
          <a:custGeom>
            <a:avLst/>
            <a:gdLst/>
            <a:ahLst/>
            <a:cxnLst/>
            <a:rect l="l" t="t" r="r" b="b"/>
            <a:pathLst>
              <a:path w="432435" h="576579">
                <a:moveTo>
                  <a:pt x="0" y="0"/>
                </a:moveTo>
                <a:lnTo>
                  <a:pt x="432041" y="0"/>
                </a:lnTo>
                <a:lnTo>
                  <a:pt x="432041" y="576046"/>
                </a:lnTo>
                <a:lnTo>
                  <a:pt x="0" y="5760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09656" y="3491613"/>
            <a:ext cx="125730" cy="107950"/>
          </a:xfrm>
          <a:custGeom>
            <a:avLst/>
            <a:gdLst/>
            <a:ahLst/>
            <a:cxnLst/>
            <a:rect l="l" t="t" r="r" b="b"/>
            <a:pathLst>
              <a:path w="125730" h="107950">
                <a:moveTo>
                  <a:pt x="0" y="107861"/>
                </a:moveTo>
                <a:lnTo>
                  <a:pt x="62560" y="0"/>
                </a:lnTo>
                <a:lnTo>
                  <a:pt x="125120" y="107861"/>
                </a:lnTo>
                <a:lnTo>
                  <a:pt x="0" y="1078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364942" y="2789890"/>
            <a:ext cx="2114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 panose="020F0502020204030204"/>
                <a:cs typeface="Calibri" panose="020F0502020204030204"/>
              </a:rPr>
              <a:t>PC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59183" y="2967132"/>
            <a:ext cx="484496" cy="547586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rst</a:t>
            </a:r>
            <a:r>
              <a:rPr lang="en-US" sz="1000" spc="-10" dirty="0">
                <a:latin typeface="Calibri" panose="020F0502020204030204"/>
                <a:cs typeface="Calibri" panose="020F0502020204030204"/>
              </a:rPr>
              <a:t>  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1000" spc="140" dirty="0">
                <a:latin typeface="Calibri" panose="020F0502020204030204"/>
                <a:cs typeface="Calibri" panose="020F0502020204030204"/>
              </a:rPr>
              <a:t>npc pc</a:t>
            </a: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1000" spc="140" dirty="0">
                <a:latin typeface="Calibri" panose="020F0502020204030204"/>
                <a:cs typeface="Calibri" panose="020F0502020204030204"/>
              </a:rPr>
              <a:t>fetch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768989" y="1134815"/>
            <a:ext cx="1252387" cy="239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</a:t>
            </a:r>
            <a:r>
              <a:rPr dirty="0"/>
              <a:t>o</a:t>
            </a:r>
            <a:r>
              <a:rPr spc="-20" dirty="0"/>
              <a:t>n</a:t>
            </a:r>
            <a:r>
              <a:rPr spc="-5" dirty="0"/>
              <a:t>t</a:t>
            </a:r>
            <a:r>
              <a:rPr spc="-25" dirty="0"/>
              <a:t>r</a:t>
            </a:r>
            <a:r>
              <a:rPr dirty="0"/>
              <a:t>oll</a:t>
            </a:r>
            <a:r>
              <a:rPr spc="-5" dirty="0"/>
              <a:t>er</a:t>
            </a:r>
          </a:p>
        </p:txBody>
      </p:sp>
      <p:sp>
        <p:nvSpPr>
          <p:cNvPr id="29" name="object 29"/>
          <p:cNvSpPr/>
          <p:nvPr/>
        </p:nvSpPr>
        <p:spPr>
          <a:xfrm>
            <a:off x="4105342" y="1388744"/>
            <a:ext cx="956944" cy="1618595"/>
          </a:xfrm>
          <a:custGeom>
            <a:avLst/>
            <a:gdLst/>
            <a:ahLst/>
            <a:cxnLst/>
            <a:rect l="l" t="t" r="r" b="b"/>
            <a:pathLst>
              <a:path w="956945" h="1187450">
                <a:moveTo>
                  <a:pt x="0" y="0"/>
                </a:moveTo>
                <a:lnTo>
                  <a:pt x="956919" y="0"/>
                </a:lnTo>
                <a:lnTo>
                  <a:pt x="956919" y="1186853"/>
                </a:lnTo>
                <a:lnTo>
                  <a:pt x="0" y="118685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06545" y="1746250"/>
            <a:ext cx="1054735" cy="64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2765" marR="5080" indent="-2159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xt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  np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opcode </a:t>
            </a:r>
            <a:r>
              <a:rPr lang="en-US" sz="1000" spc="-5" dirty="0">
                <a:latin typeface="Calibri" panose="020F0502020204030204"/>
                <a:cs typeface="Calibri" panose="020F0502020204030204"/>
              </a:rPr>
              <a:t>   </a:t>
            </a:r>
            <a:r>
              <a:rPr sz="1500" spc="-7" baseline="3000" dirty="0">
                <a:latin typeface="Calibri" panose="020F0502020204030204"/>
                <a:cs typeface="Calibri" panose="020F0502020204030204"/>
              </a:rPr>
              <a:t>ram_rop</a:t>
            </a: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funct3</a:t>
            </a:r>
            <a:r>
              <a:rPr lang="en-US" sz="1000" spc="-5" dirty="0">
                <a:latin typeface="Calibri" panose="020F0502020204030204"/>
                <a:cs typeface="Calibri" panose="020F0502020204030204"/>
              </a:rPr>
              <a:t>   ram_wop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117034" y="2381130"/>
            <a:ext cx="358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un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t7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65351" y="1407557"/>
            <a:ext cx="400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f_w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el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5047" y="2373794"/>
            <a:ext cx="4521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  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ub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el</a:t>
            </a:r>
            <a:r>
              <a:rPr sz="1000" spc="-5" dirty="0"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  <a:sym typeface="+mn-ea"/>
              </a:rPr>
              <a:t>u</a:t>
            </a:r>
            <a:r>
              <a:rPr lang="en-US" sz="1000" spc="-5" dirty="0"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_</a:t>
            </a:r>
            <a:r>
              <a:rPr sz="1000" spc="-15" dirty="0"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lang="en-US"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rf_we</a:t>
            </a:r>
            <a:endParaRPr sz="1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92478" y="4552147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>
                <a:moveTo>
                  <a:pt x="0" y="0"/>
                </a:moveTo>
                <a:lnTo>
                  <a:pt x="2155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82667" y="45267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399"/>
                </a:lnTo>
                <a:lnTo>
                  <a:pt x="1997" y="35289"/>
                </a:lnTo>
                <a:lnTo>
                  <a:pt x="7442" y="43362"/>
                </a:lnTo>
                <a:lnTo>
                  <a:pt x="15516" y="48804"/>
                </a:lnTo>
                <a:lnTo>
                  <a:pt x="25400" y="50799"/>
                </a:lnTo>
                <a:lnTo>
                  <a:pt x="35289" y="48802"/>
                </a:lnTo>
                <a:lnTo>
                  <a:pt x="43362" y="43357"/>
                </a:lnTo>
                <a:lnTo>
                  <a:pt x="48804" y="35283"/>
                </a:lnTo>
                <a:lnTo>
                  <a:pt x="50800" y="25399"/>
                </a:lnTo>
                <a:lnTo>
                  <a:pt x="48802" y="15510"/>
                </a:lnTo>
                <a:lnTo>
                  <a:pt x="43357" y="7437"/>
                </a:lnTo>
                <a:lnTo>
                  <a:pt x="35283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47445" y="3368298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601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20762" y="332293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9133" y="3512123"/>
            <a:ext cx="0" cy="1370330"/>
          </a:xfrm>
          <a:custGeom>
            <a:avLst/>
            <a:gdLst/>
            <a:ahLst/>
            <a:cxnLst/>
            <a:rect l="l" t="t" r="r" b="b"/>
            <a:pathLst>
              <a:path h="1370329">
                <a:moveTo>
                  <a:pt x="0" y="137030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3921" y="4797936"/>
            <a:ext cx="3204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644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08067" y="4088367"/>
            <a:ext cx="0" cy="700405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15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20617" y="4090670"/>
            <a:ext cx="0" cy="792480"/>
          </a:xfrm>
          <a:custGeom>
            <a:avLst/>
            <a:gdLst/>
            <a:ahLst/>
            <a:cxnLst/>
            <a:rect l="l" t="t" r="r" b="b"/>
            <a:pathLst>
              <a:path h="792479">
                <a:moveTo>
                  <a:pt x="0" y="79244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44453" y="4882002"/>
            <a:ext cx="4674870" cy="0"/>
          </a:xfrm>
          <a:custGeom>
            <a:avLst/>
            <a:gdLst/>
            <a:ahLst/>
            <a:cxnLst/>
            <a:rect l="l" t="t" r="r" b="b"/>
            <a:pathLst>
              <a:path w="4674870">
                <a:moveTo>
                  <a:pt x="0" y="0"/>
                </a:moveTo>
                <a:lnTo>
                  <a:pt x="467433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47444" y="3514762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355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18302" y="34766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3921" y="3658109"/>
            <a:ext cx="0" cy="113792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3109" y="267627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5">
                <a:moveTo>
                  <a:pt x="363664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09603" y="2638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11373" y="265087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398559" y="2179813"/>
            <a:ext cx="0" cy="1612900"/>
          </a:xfrm>
          <a:custGeom>
            <a:avLst/>
            <a:gdLst/>
            <a:ahLst/>
            <a:cxnLst/>
            <a:rect l="l" t="t" r="r" b="b"/>
            <a:pathLst>
              <a:path h="1612900">
                <a:moveTo>
                  <a:pt x="0" y="1612722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398559" y="2179810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19820" y="21417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398559" y="2323032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19820" y="228492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373159" y="229763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398559" y="2473479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19820" y="24353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373159" y="2448079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402777" y="3459297"/>
            <a:ext cx="1157605" cy="0"/>
          </a:xfrm>
          <a:custGeom>
            <a:avLst/>
            <a:gdLst/>
            <a:ahLst/>
            <a:cxnLst/>
            <a:rect l="l" t="t" r="r" b="b"/>
            <a:pathLst>
              <a:path w="1157604">
                <a:moveTo>
                  <a:pt x="0" y="0"/>
                </a:moveTo>
                <a:lnTo>
                  <a:pt x="115752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47611" y="34211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377377" y="343389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402777" y="3619924"/>
            <a:ext cx="1151255" cy="0"/>
          </a:xfrm>
          <a:custGeom>
            <a:avLst/>
            <a:gdLst/>
            <a:ahLst/>
            <a:cxnLst/>
            <a:rect l="l" t="t" r="r" b="b"/>
            <a:pathLst>
              <a:path w="1151254">
                <a:moveTo>
                  <a:pt x="0" y="0"/>
                </a:moveTo>
                <a:lnTo>
                  <a:pt x="11512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41306" y="35818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377377" y="35945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398559" y="378609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4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41304" y="37479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519142" y="3271928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19:15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19142" y="3436520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24:20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57242" y="3601111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11:7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597933" y="1969365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6:0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20209" y="2133957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14:12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20209" y="2298549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31:25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242744" y="3930951"/>
            <a:ext cx="99695" cy="417195"/>
          </a:xfrm>
          <a:custGeom>
            <a:avLst/>
            <a:gdLst/>
            <a:ahLst/>
            <a:cxnLst/>
            <a:rect l="l" t="t" r="r" b="b"/>
            <a:pathLst>
              <a:path w="99695" h="417195">
                <a:moveTo>
                  <a:pt x="0" y="0"/>
                </a:moveTo>
                <a:lnTo>
                  <a:pt x="99237" y="0"/>
                </a:lnTo>
                <a:lnTo>
                  <a:pt x="99237" y="416610"/>
                </a:lnTo>
                <a:lnTo>
                  <a:pt x="0" y="41661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340793" y="4088112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22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41317" y="4050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077549" y="4551818"/>
            <a:ext cx="108000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99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182934" y="45209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158417" y="3787750"/>
            <a:ext cx="0" cy="559435"/>
          </a:xfrm>
          <a:custGeom>
            <a:avLst/>
            <a:gdLst/>
            <a:ahLst/>
            <a:cxnLst/>
            <a:rect l="l" t="t" r="r" b="b"/>
            <a:pathLst>
              <a:path h="559435">
                <a:moveTo>
                  <a:pt x="0" y="55933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163208" y="3787755"/>
            <a:ext cx="216000" cy="0"/>
          </a:xfrm>
          <a:custGeom>
            <a:avLst/>
            <a:gdLst/>
            <a:ahLst/>
            <a:cxnLst/>
            <a:rect l="l" t="t" r="r" b="b"/>
            <a:pathLst>
              <a:path w="394970">
                <a:moveTo>
                  <a:pt x="0" y="0"/>
                </a:moveTo>
                <a:lnTo>
                  <a:pt x="39438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375005" y="376235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399"/>
                </a:lnTo>
                <a:lnTo>
                  <a:pt x="1997" y="35289"/>
                </a:lnTo>
                <a:lnTo>
                  <a:pt x="7442" y="43362"/>
                </a:lnTo>
                <a:lnTo>
                  <a:pt x="15516" y="48804"/>
                </a:lnTo>
                <a:lnTo>
                  <a:pt x="25400" y="50799"/>
                </a:lnTo>
                <a:lnTo>
                  <a:pt x="35289" y="48802"/>
                </a:lnTo>
                <a:lnTo>
                  <a:pt x="43362" y="43357"/>
                </a:lnTo>
                <a:lnTo>
                  <a:pt x="48804" y="35283"/>
                </a:lnTo>
                <a:lnTo>
                  <a:pt x="50800" y="25399"/>
                </a:lnTo>
                <a:lnTo>
                  <a:pt x="48802" y="15510"/>
                </a:lnTo>
                <a:lnTo>
                  <a:pt x="43357" y="7437"/>
                </a:lnTo>
                <a:lnTo>
                  <a:pt x="35283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071657" y="3593551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31:7</a:t>
            </a:r>
          </a:p>
        </p:txBody>
      </p:sp>
      <p:sp>
        <p:nvSpPr>
          <p:cNvPr id="81" name="object 81"/>
          <p:cNvSpPr/>
          <p:nvPr/>
        </p:nvSpPr>
        <p:spPr>
          <a:xfrm>
            <a:off x="4013993" y="4195016"/>
            <a:ext cx="167005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71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168003" y="41569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061991" y="3975796"/>
            <a:ext cx="2115185" cy="0"/>
          </a:xfrm>
          <a:custGeom>
            <a:avLst/>
            <a:gdLst/>
            <a:ahLst/>
            <a:cxnLst/>
            <a:rect l="l" t="t" r="r" b="b"/>
            <a:pathLst>
              <a:path w="2115185">
                <a:moveTo>
                  <a:pt x="0" y="0"/>
                </a:moveTo>
                <a:lnTo>
                  <a:pt x="211479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64079" y="39376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908067" y="4088112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>
                <a:moveTo>
                  <a:pt x="0" y="0"/>
                </a:moveTo>
                <a:lnTo>
                  <a:pt x="2726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168003" y="4050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939573" y="3487657"/>
            <a:ext cx="124460" cy="0"/>
          </a:xfrm>
          <a:custGeom>
            <a:avLst/>
            <a:gdLst/>
            <a:ahLst/>
            <a:cxnLst/>
            <a:rect l="l" t="t" r="r" b="b"/>
            <a:pathLst>
              <a:path w="124460">
                <a:moveTo>
                  <a:pt x="0" y="0"/>
                </a:moveTo>
                <a:lnTo>
                  <a:pt x="12419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063765" y="3489438"/>
            <a:ext cx="0" cy="486409"/>
          </a:xfrm>
          <a:custGeom>
            <a:avLst/>
            <a:gdLst/>
            <a:ahLst/>
            <a:cxnLst/>
            <a:rect l="l" t="t" r="r" b="b"/>
            <a:pathLst>
              <a:path h="486410">
                <a:moveTo>
                  <a:pt x="0" y="48635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972300" y="3910028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24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714842" y="3871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03445" y="4435995"/>
            <a:ext cx="2016000" cy="0"/>
          </a:xfrm>
          <a:custGeom>
            <a:avLst/>
            <a:gdLst/>
            <a:ahLst/>
            <a:cxnLst/>
            <a:rect l="l" t="t" r="r" b="b"/>
            <a:pathLst>
              <a:path w="1965960">
                <a:moveTo>
                  <a:pt x="0" y="0"/>
                </a:moveTo>
                <a:lnTo>
                  <a:pt x="19656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04921" y="4294526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13987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34613" y="3943829"/>
            <a:ext cx="181610" cy="0"/>
          </a:xfrm>
          <a:custGeom>
            <a:avLst/>
            <a:gdLst/>
            <a:ahLst/>
            <a:cxnLst/>
            <a:rect l="l" t="t" r="r" b="b"/>
            <a:pathLst>
              <a:path w="181610">
                <a:moveTo>
                  <a:pt x="0" y="0"/>
                </a:moveTo>
                <a:lnTo>
                  <a:pt x="18127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303197" y="390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908068" y="4555476"/>
            <a:ext cx="1368000" cy="0"/>
          </a:xfrm>
          <a:custGeom>
            <a:avLst/>
            <a:gdLst/>
            <a:ahLst/>
            <a:cxnLst/>
            <a:rect l="l" t="t" r="r" b="b"/>
            <a:pathLst>
              <a:path w="1327150">
                <a:moveTo>
                  <a:pt x="0" y="0"/>
                </a:moveTo>
                <a:lnTo>
                  <a:pt x="132701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384245" y="3870359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476997" y="4027776"/>
            <a:ext cx="69215" cy="0"/>
          </a:xfrm>
          <a:custGeom>
            <a:avLst/>
            <a:gdLst/>
            <a:ahLst/>
            <a:cxnLst/>
            <a:rect l="l" t="t" r="r" b="b"/>
            <a:pathLst>
              <a:path w="69214">
                <a:moveTo>
                  <a:pt x="0" y="0"/>
                </a:moveTo>
                <a:lnTo>
                  <a:pt x="691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533465" y="39896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47072" y="4114655"/>
            <a:ext cx="7200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98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299846" y="407655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120494" y="2806351"/>
            <a:ext cx="0" cy="1908000"/>
          </a:xfrm>
          <a:custGeom>
            <a:avLst/>
            <a:gdLst/>
            <a:ahLst/>
            <a:cxnLst/>
            <a:rect l="l" t="t" r="r" b="b"/>
            <a:pathLst>
              <a:path h="1111885">
                <a:moveTo>
                  <a:pt x="0" y="111136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516903" y="232574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788951" y="228763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149133" y="1073150"/>
            <a:ext cx="0" cy="2304000"/>
          </a:xfrm>
          <a:custGeom>
            <a:avLst/>
            <a:gdLst/>
            <a:ahLst/>
            <a:cxnLst/>
            <a:rect l="l" t="t" r="r" b="b"/>
            <a:pathLst>
              <a:path h="1917064">
                <a:moveTo>
                  <a:pt x="0" y="191653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144454" y="1073150"/>
            <a:ext cx="4248000" cy="0"/>
          </a:xfrm>
          <a:custGeom>
            <a:avLst/>
            <a:gdLst/>
            <a:ahLst/>
            <a:cxnLst/>
            <a:rect l="l" t="t" r="r" b="b"/>
            <a:pathLst>
              <a:path w="4097020">
                <a:moveTo>
                  <a:pt x="0" y="0"/>
                </a:moveTo>
                <a:lnTo>
                  <a:pt x="40969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068572" y="1872469"/>
            <a:ext cx="252000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4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394779" y="1080407"/>
            <a:ext cx="0" cy="936000"/>
          </a:xfrm>
          <a:custGeom>
            <a:avLst/>
            <a:gdLst/>
            <a:ahLst/>
            <a:cxnLst/>
            <a:rect l="l" t="t" r="r" b="b"/>
            <a:pathLst>
              <a:path h="576580">
                <a:moveTo>
                  <a:pt x="0" y="57604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068572" y="2022921"/>
            <a:ext cx="324000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0" y="0"/>
                </a:moveTo>
                <a:lnTo>
                  <a:pt x="16896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765296" y="3007178"/>
            <a:ext cx="0" cy="7200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16885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74291" y="3079565"/>
            <a:ext cx="360000" cy="0"/>
          </a:xfrm>
          <a:custGeom>
            <a:avLst/>
            <a:gdLst/>
            <a:ahLst/>
            <a:cxnLst/>
            <a:rect l="l" t="t" r="r" b="b"/>
            <a:pathLst>
              <a:path w="325754">
                <a:moveTo>
                  <a:pt x="0" y="0"/>
                </a:moveTo>
                <a:lnTo>
                  <a:pt x="32567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443175" y="3943827"/>
            <a:ext cx="111125" cy="0"/>
          </a:xfrm>
          <a:custGeom>
            <a:avLst/>
            <a:gdLst/>
            <a:ahLst/>
            <a:cxnLst/>
            <a:rect l="l" t="t" r="r" b="b"/>
            <a:pathLst>
              <a:path w="111125">
                <a:moveTo>
                  <a:pt x="0" y="0"/>
                </a:moveTo>
                <a:lnTo>
                  <a:pt x="11084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541318" y="390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428959" y="2383064"/>
            <a:ext cx="0" cy="1404000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390865" y="37877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015224" y="4197190"/>
            <a:ext cx="0" cy="594360"/>
          </a:xfrm>
          <a:custGeom>
            <a:avLst/>
            <a:gdLst/>
            <a:ahLst/>
            <a:cxnLst/>
            <a:rect l="l" t="t" r="r" b="b"/>
            <a:pathLst>
              <a:path h="594360">
                <a:moveTo>
                  <a:pt x="0" y="59429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516903" y="2175544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788952" y="213744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058938" y="2645750"/>
            <a:ext cx="72000" cy="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819848" y="2486751"/>
            <a:ext cx="0" cy="991235"/>
          </a:xfrm>
          <a:custGeom>
            <a:avLst/>
            <a:gdLst/>
            <a:ahLst/>
            <a:cxnLst/>
            <a:rect l="l" t="t" r="r" b="b"/>
            <a:pathLst>
              <a:path h="991235">
                <a:moveTo>
                  <a:pt x="0" y="0"/>
                </a:moveTo>
                <a:lnTo>
                  <a:pt x="0" y="9909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781751" y="34649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1765389" y="2678514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1200" dirty="0">
                <a:latin typeface="Calibri" panose="020F0502020204030204"/>
                <a:cs typeface="Calibri" panose="020F0502020204030204"/>
              </a:rPr>
              <a:t>e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2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200" dirty="0">
                <a:latin typeface="Calibri" panose="020F0502020204030204"/>
                <a:cs typeface="Calibri" panose="020F0502020204030204"/>
              </a:rPr>
              <a:t>t</a:t>
            </a:r>
          </a:p>
        </p:txBody>
      </p:sp>
      <p:sp>
        <p:nvSpPr>
          <p:cNvPr id="133" name="object 133"/>
          <p:cNvSpPr/>
          <p:nvPr/>
        </p:nvSpPr>
        <p:spPr>
          <a:xfrm>
            <a:off x="2033758" y="2864992"/>
            <a:ext cx="0" cy="21600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81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167405" y="4349187"/>
            <a:ext cx="3600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71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184126" y="431108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072494" y="1196522"/>
            <a:ext cx="0" cy="3348000"/>
          </a:xfrm>
          <a:custGeom>
            <a:avLst/>
            <a:gdLst/>
            <a:ahLst/>
            <a:cxnLst/>
            <a:rect l="l" t="t" r="r" b="b"/>
            <a:pathLst>
              <a:path h="3030220">
                <a:moveTo>
                  <a:pt x="0" y="30297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078922" y="1196522"/>
            <a:ext cx="2232000" cy="0"/>
          </a:xfrm>
          <a:custGeom>
            <a:avLst/>
            <a:gdLst/>
            <a:ahLst/>
            <a:cxnLst/>
            <a:rect l="l" t="t" r="r" b="b"/>
            <a:pathLst>
              <a:path w="2242185">
                <a:moveTo>
                  <a:pt x="0" y="0"/>
                </a:moveTo>
                <a:lnTo>
                  <a:pt x="224208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065244" y="2488104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9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318579" y="1200148"/>
            <a:ext cx="0" cy="666000"/>
          </a:xfrm>
          <a:custGeom>
            <a:avLst/>
            <a:gdLst/>
            <a:ahLst/>
            <a:cxnLst/>
            <a:rect l="l" t="t" r="r" b="b"/>
            <a:pathLst>
              <a:path h="344805">
                <a:moveTo>
                  <a:pt x="0" y="344195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879891" y="4252486"/>
            <a:ext cx="0" cy="79375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7919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4841795" y="418898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4509741" y="4208005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200" dirty="0">
                <a:latin typeface="Calibri" panose="020F0502020204030204"/>
                <a:cs typeface="Calibri" panose="020F0502020204030204"/>
              </a:rPr>
              <a:t>lk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467265" y="3663201"/>
            <a:ext cx="0" cy="122555"/>
          </a:xfrm>
          <a:custGeom>
            <a:avLst/>
            <a:gdLst/>
            <a:ahLst/>
            <a:cxnLst/>
            <a:rect l="l" t="t" r="r" b="b"/>
            <a:pathLst>
              <a:path h="122554">
                <a:moveTo>
                  <a:pt x="0" y="12232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429169" y="359969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2375920" y="3754733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200" dirty="0">
                <a:latin typeface="Calibri" panose="020F0502020204030204"/>
                <a:cs typeface="Calibri" panose="020F0502020204030204"/>
              </a:rPr>
              <a:t>lk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5264108" y="4114651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698600" y="4328383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0" y="0"/>
                </a:moveTo>
                <a:lnTo>
                  <a:pt x="18291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076077E7-5349-CA4E-068D-D66F73320C3D}"/>
              </a:ext>
            </a:extLst>
          </p:cNvPr>
          <p:cNvGrpSpPr/>
          <p:nvPr/>
        </p:nvGrpSpPr>
        <p:grpSpPr>
          <a:xfrm>
            <a:off x="6790630" y="3243688"/>
            <a:ext cx="504190" cy="807837"/>
            <a:chOff x="6790630" y="3243688"/>
            <a:chExt cx="504190" cy="807837"/>
          </a:xfrm>
        </p:grpSpPr>
        <p:sp>
          <p:nvSpPr>
            <p:cNvPr id="148" name="object 148"/>
            <p:cNvSpPr/>
            <p:nvPr/>
          </p:nvSpPr>
          <p:spPr>
            <a:xfrm>
              <a:off x="6790630" y="3474945"/>
              <a:ext cx="504190" cy="576580"/>
            </a:xfrm>
            <a:custGeom>
              <a:avLst/>
              <a:gdLst/>
              <a:ahLst/>
              <a:cxnLst/>
              <a:rect l="l" t="t" r="r" b="b"/>
              <a:pathLst>
                <a:path w="504190" h="576579">
                  <a:moveTo>
                    <a:pt x="0" y="0"/>
                  </a:moveTo>
                  <a:lnTo>
                    <a:pt x="504037" y="0"/>
                  </a:lnTo>
                  <a:lnTo>
                    <a:pt x="504037" y="576046"/>
                  </a:lnTo>
                  <a:lnTo>
                    <a:pt x="0" y="57604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 txBox="1"/>
            <p:nvPr/>
          </p:nvSpPr>
          <p:spPr>
            <a:xfrm>
              <a:off x="7086132" y="3484435"/>
              <a:ext cx="187960" cy="1778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Calibri" panose="020F0502020204030204"/>
                  <a:cs typeface="Calibri" panose="020F0502020204030204"/>
                </a:rPr>
                <a:t>d</a:t>
              </a:r>
              <a:r>
                <a:rPr sz="1000" spc="-10" dirty="0">
                  <a:latin typeface="Calibri" panose="020F0502020204030204"/>
                  <a:cs typeface="Calibri" panose="020F0502020204030204"/>
                </a:rPr>
                <a:t>i</a:t>
              </a:r>
              <a:r>
                <a:rPr sz="1000" spc="-5" dirty="0">
                  <a:latin typeface="Calibri" panose="020F0502020204030204"/>
                  <a:cs typeface="Calibri" panose="020F0502020204030204"/>
                </a:rPr>
                <a:t>n</a:t>
              </a:r>
              <a:endParaRPr sz="1000"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67D69DD5-F1E8-182D-69E1-DFF987BED395}"/>
                </a:ext>
              </a:extLst>
            </p:cNvPr>
            <p:cNvGrpSpPr/>
            <p:nvPr/>
          </p:nvGrpSpPr>
          <p:grpSpPr>
            <a:xfrm>
              <a:off x="6796717" y="3243688"/>
              <a:ext cx="474835" cy="741987"/>
              <a:chOff x="6796717" y="3243688"/>
              <a:chExt cx="474835" cy="741987"/>
            </a:xfrm>
          </p:grpSpPr>
          <p:sp>
            <p:nvSpPr>
              <p:cNvPr id="149" name="object 149"/>
              <p:cNvSpPr txBox="1"/>
              <p:nvPr/>
            </p:nvSpPr>
            <p:spPr>
              <a:xfrm>
                <a:off x="6809970" y="3243688"/>
                <a:ext cx="444500" cy="23939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5" dirty="0">
                    <a:latin typeface="Calibri" panose="020F0502020204030204"/>
                    <a:cs typeface="Calibri" panose="020F0502020204030204"/>
                  </a:rPr>
                  <a:t>ME</a:t>
                </a:r>
                <a:r>
                  <a:rPr sz="1400" dirty="0">
                    <a:latin typeface="Calibri" panose="020F0502020204030204"/>
                    <a:cs typeface="Calibri" panose="020F0502020204030204"/>
                  </a:rPr>
                  <a:t>XT</a:t>
                </a:r>
                <a:endParaRPr sz="1400"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150" name="object 150"/>
              <p:cNvSpPr txBox="1"/>
              <p:nvPr/>
            </p:nvSpPr>
            <p:spPr>
              <a:xfrm>
                <a:off x="6796717" y="3503029"/>
                <a:ext cx="159385" cy="1778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spc="-5" dirty="0">
                    <a:latin typeface="Calibri" panose="020F0502020204030204"/>
                    <a:cs typeface="Calibri" panose="020F0502020204030204"/>
                  </a:rPr>
                  <a:t>op</a:t>
                </a:r>
                <a:endParaRPr sz="1000"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151" name="object 151"/>
              <p:cNvSpPr txBox="1"/>
              <p:nvPr/>
            </p:nvSpPr>
            <p:spPr>
              <a:xfrm>
                <a:off x="6796717" y="3807875"/>
                <a:ext cx="347345" cy="1778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spc="-5" dirty="0">
                    <a:latin typeface="Calibri" panose="020F0502020204030204"/>
                    <a:cs typeface="Calibri" panose="020F0502020204030204"/>
                  </a:rPr>
                  <a:t>b</a:t>
                </a:r>
                <a:r>
                  <a:rPr sz="1000" spc="-10" dirty="0">
                    <a:latin typeface="Calibri" panose="020F0502020204030204"/>
                    <a:cs typeface="Calibri" panose="020F0502020204030204"/>
                  </a:rPr>
                  <a:t>_</a:t>
                </a:r>
                <a:r>
                  <a:rPr sz="1000" spc="-5" dirty="0">
                    <a:latin typeface="Calibri" panose="020F0502020204030204"/>
                    <a:cs typeface="Calibri" panose="020F0502020204030204"/>
                  </a:rPr>
                  <a:t>o</a:t>
                </a:r>
                <a:r>
                  <a:rPr sz="1000" spc="-10" dirty="0">
                    <a:latin typeface="Calibri" panose="020F0502020204030204"/>
                    <a:cs typeface="Calibri" panose="020F0502020204030204"/>
                  </a:rPr>
                  <a:t>ffs</a:t>
                </a:r>
                <a:endParaRPr sz="1000"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153" name="object 153"/>
              <p:cNvSpPr txBox="1"/>
              <p:nvPr/>
            </p:nvSpPr>
            <p:spPr>
              <a:xfrm>
                <a:off x="7086132" y="3636858"/>
                <a:ext cx="185420" cy="1778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spc="-10" dirty="0">
                    <a:latin typeface="Calibri" panose="020F0502020204030204"/>
                    <a:cs typeface="Calibri" panose="020F0502020204030204"/>
                  </a:rPr>
                  <a:t>e</a:t>
                </a:r>
                <a:r>
                  <a:rPr sz="1000" spc="-5" dirty="0">
                    <a:latin typeface="Calibri" panose="020F0502020204030204"/>
                    <a:cs typeface="Calibri" panose="020F0502020204030204"/>
                  </a:rPr>
                  <a:t>xt</a:t>
                </a:r>
                <a:endParaRPr sz="1000">
                  <a:latin typeface="Calibri" panose="020F0502020204030204"/>
                  <a:cs typeface="Calibri" panose="020F0502020204030204"/>
                </a:endParaRPr>
              </a:p>
            </p:txBody>
          </p:sp>
        </p:grpSp>
      </p:grpSp>
      <p:sp>
        <p:nvSpPr>
          <p:cNvPr id="157" name="object 157"/>
          <p:cNvSpPr/>
          <p:nvPr/>
        </p:nvSpPr>
        <p:spPr>
          <a:xfrm>
            <a:off x="6127137" y="2802374"/>
            <a:ext cx="144000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79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234282" y="27642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4100108" y="4295503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07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168178" y="42574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018335" y="4790679"/>
            <a:ext cx="3496945" cy="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294675" y="3736599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6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7515664" y="3735384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105313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7363570" y="3581875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442887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300072" y="35437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058937" y="217981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6234282" y="21417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164981" y="2177748"/>
            <a:ext cx="0" cy="1428750"/>
          </a:xfrm>
          <a:custGeom>
            <a:avLst/>
            <a:gdLst/>
            <a:ahLst/>
            <a:cxnLst/>
            <a:rect l="l" t="t" r="r" b="b"/>
            <a:pathLst>
              <a:path h="1428750">
                <a:moveTo>
                  <a:pt x="0" y="0"/>
                </a:moveTo>
                <a:lnTo>
                  <a:pt x="0" y="142815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139581" y="215234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163641" y="3605860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56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711504" y="35677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6405654" y="3714138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1:0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858311" y="1800103"/>
            <a:ext cx="6062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lang="en-US" sz="1400" spc="-5" dirty="0">
                <a:latin typeface="Calibri" panose="020F0502020204030204"/>
                <a:cs typeface="Calibri" panose="020F0502020204030204"/>
              </a:rPr>
              <a:t>Cache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7832864" y="3472431"/>
            <a:ext cx="7078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data_rdata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7869592" y="2221380"/>
            <a:ext cx="67115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data_addr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7869593" y="2067303"/>
            <a:ext cx="4826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data_ren</a:t>
            </a:r>
            <a:endParaRPr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86573E7-B003-C94B-DB32-4A472C0360B0}"/>
              </a:ext>
            </a:extLst>
          </p:cNvPr>
          <p:cNvGrpSpPr/>
          <p:nvPr/>
        </p:nvGrpSpPr>
        <p:grpSpPr>
          <a:xfrm>
            <a:off x="112871" y="1854911"/>
            <a:ext cx="1340524" cy="1273714"/>
            <a:chOff x="116869" y="1838925"/>
            <a:chExt cx="1340524" cy="1273714"/>
          </a:xfrm>
        </p:grpSpPr>
        <p:sp>
          <p:nvSpPr>
            <p:cNvPr id="154" name="object 154"/>
            <p:cNvSpPr txBox="1"/>
            <p:nvPr/>
          </p:nvSpPr>
          <p:spPr>
            <a:xfrm>
              <a:off x="183847" y="2576467"/>
              <a:ext cx="635000" cy="33342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inst_addr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inst_req</a:t>
              </a:r>
              <a:endParaRPr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5" name="object 155"/>
            <p:cNvSpPr txBox="1"/>
            <p:nvPr/>
          </p:nvSpPr>
          <p:spPr>
            <a:xfrm>
              <a:off x="242330" y="2232254"/>
              <a:ext cx="642132" cy="33342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inst_out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inst_vaild</a:t>
              </a:r>
              <a:endParaRPr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3" name="object 173"/>
            <p:cNvSpPr txBox="1"/>
            <p:nvPr/>
          </p:nvSpPr>
          <p:spPr>
            <a:xfrm>
              <a:off x="296821" y="1838925"/>
              <a:ext cx="1160572" cy="22890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spc="-10" dirty="0">
                  <a:latin typeface="Calibri" panose="020F0502020204030204"/>
                  <a:cs typeface="Calibri" panose="020F0502020204030204"/>
                </a:rPr>
                <a:t>I</a:t>
              </a:r>
              <a:r>
                <a:rPr lang="en-US" sz="1400" spc="-10" dirty="0">
                  <a:latin typeface="Calibri" panose="020F0502020204030204"/>
                  <a:cs typeface="Calibri" panose="020F0502020204030204"/>
                </a:rPr>
                <a:t>Cache</a:t>
              </a:r>
              <a:endParaRPr sz="1400" dirty="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116869" y="2109974"/>
              <a:ext cx="848994" cy="1002665"/>
            </a:xfrm>
            <a:custGeom>
              <a:avLst/>
              <a:gdLst/>
              <a:ahLst/>
              <a:cxnLst/>
              <a:rect l="l" t="t" r="r" b="b"/>
              <a:pathLst>
                <a:path w="848994" h="1002664">
                  <a:moveTo>
                    <a:pt x="0" y="0"/>
                  </a:moveTo>
                  <a:lnTo>
                    <a:pt x="848728" y="0"/>
                  </a:lnTo>
                  <a:lnTo>
                    <a:pt x="848728" y="1002334"/>
                  </a:lnTo>
                  <a:lnTo>
                    <a:pt x="0" y="10023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9" name="object 179"/>
          <p:cNvSpPr/>
          <p:nvPr/>
        </p:nvSpPr>
        <p:spPr>
          <a:xfrm>
            <a:off x="7692521" y="2011613"/>
            <a:ext cx="848227" cy="1767205"/>
          </a:xfrm>
          <a:custGeom>
            <a:avLst/>
            <a:gdLst/>
            <a:ahLst/>
            <a:cxnLst/>
            <a:rect l="l" t="t" r="r" b="b"/>
            <a:pathLst>
              <a:path w="738504" h="1767204">
                <a:moveTo>
                  <a:pt x="0" y="0"/>
                </a:moveTo>
                <a:lnTo>
                  <a:pt x="738416" y="0"/>
                </a:lnTo>
                <a:lnTo>
                  <a:pt x="738416" y="1767166"/>
                </a:lnTo>
                <a:lnTo>
                  <a:pt x="0" y="176716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 flipV="1">
            <a:off x="2726142" y="3240726"/>
            <a:ext cx="72000" cy="45719"/>
          </a:xfrm>
          <a:custGeom>
            <a:avLst/>
            <a:gdLst/>
            <a:ahLst/>
            <a:cxnLst/>
            <a:rect l="l" t="t" r="r" b="b"/>
            <a:pathLst>
              <a:path w="106680">
                <a:moveTo>
                  <a:pt x="0" y="0"/>
                </a:moveTo>
                <a:lnTo>
                  <a:pt x="1066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2791338" y="2686859"/>
            <a:ext cx="0" cy="594000"/>
          </a:xfrm>
          <a:custGeom>
            <a:avLst/>
            <a:gdLst/>
            <a:ahLst/>
            <a:cxnLst/>
            <a:rect l="l" t="t" r="r" b="b"/>
            <a:pathLst>
              <a:path h="650875">
                <a:moveTo>
                  <a:pt x="0" y="65060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255347" y="2676277"/>
            <a:ext cx="1543685" cy="0"/>
          </a:xfrm>
          <a:custGeom>
            <a:avLst/>
            <a:gdLst/>
            <a:ahLst/>
            <a:cxnLst/>
            <a:rect l="l" t="t" r="r" b="b"/>
            <a:pathLst>
              <a:path w="1543685">
                <a:moveTo>
                  <a:pt x="0" y="0"/>
                </a:moveTo>
                <a:lnTo>
                  <a:pt x="154325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232852" y="2682361"/>
            <a:ext cx="0" cy="505459"/>
          </a:xfrm>
          <a:custGeom>
            <a:avLst/>
            <a:gdLst/>
            <a:ahLst/>
            <a:cxnLst/>
            <a:rect l="l" t="t" r="r" b="b"/>
            <a:pathLst>
              <a:path h="505460">
                <a:moveTo>
                  <a:pt x="0" y="50521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236773" y="3190224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7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321835" y="315212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66"/>
          <p:cNvSpPr/>
          <p:nvPr/>
        </p:nvSpPr>
        <p:spPr>
          <a:xfrm>
            <a:off x="5068462" y="232586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67"/>
          <p:cNvSpPr/>
          <p:nvPr/>
        </p:nvSpPr>
        <p:spPr>
          <a:xfrm>
            <a:off x="6234282" y="22845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22"/>
          <p:cNvSpPr/>
          <p:nvPr/>
        </p:nvSpPr>
        <p:spPr>
          <a:xfrm flipH="1">
            <a:off x="5183958" y="2630170"/>
            <a:ext cx="77470" cy="1318260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27"/>
          <p:cNvSpPr/>
          <p:nvPr/>
        </p:nvSpPr>
        <p:spPr>
          <a:xfrm>
            <a:off x="5259886" y="2629807"/>
            <a:ext cx="972000" cy="7620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05"/>
          <p:cNvSpPr/>
          <p:nvPr/>
        </p:nvSpPr>
        <p:spPr>
          <a:xfrm>
            <a:off x="5231123" y="39212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58"/>
          <p:cNvSpPr/>
          <p:nvPr/>
        </p:nvSpPr>
        <p:spPr>
          <a:xfrm>
            <a:off x="6234282" y="25959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06"/>
          <p:cNvSpPr/>
          <p:nvPr/>
        </p:nvSpPr>
        <p:spPr>
          <a:xfrm>
            <a:off x="7511188" y="265086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07"/>
          <p:cNvSpPr/>
          <p:nvPr/>
        </p:nvSpPr>
        <p:spPr>
          <a:xfrm>
            <a:off x="7783236" y="26127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06"/>
          <p:cNvSpPr/>
          <p:nvPr/>
        </p:nvSpPr>
        <p:spPr>
          <a:xfrm>
            <a:off x="7516903" y="280199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07"/>
          <p:cNvSpPr/>
          <p:nvPr/>
        </p:nvSpPr>
        <p:spPr>
          <a:xfrm>
            <a:off x="7788951" y="2763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76"/>
          <p:cNvSpPr txBox="1"/>
          <p:nvPr/>
        </p:nvSpPr>
        <p:spPr>
          <a:xfrm>
            <a:off x="7869592" y="2544594"/>
            <a:ext cx="59495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data_wen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object 176"/>
          <p:cNvSpPr txBox="1"/>
          <p:nvPr/>
        </p:nvSpPr>
        <p:spPr>
          <a:xfrm>
            <a:off x="7869592" y="2689375"/>
            <a:ext cx="6711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data_wdata</a:t>
            </a:r>
            <a:endParaRPr lang="zh-CN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87856" y="3619689"/>
            <a:ext cx="9029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  jalr</a:t>
            </a:r>
          </a:p>
        </p:txBody>
      </p:sp>
      <p:sp>
        <p:nvSpPr>
          <p:cNvPr id="201" name="object 161"/>
          <p:cNvSpPr/>
          <p:nvPr/>
        </p:nvSpPr>
        <p:spPr>
          <a:xfrm flipV="1">
            <a:off x="539750" y="4650740"/>
            <a:ext cx="5580000" cy="7620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45"/>
          <p:cNvSpPr/>
          <p:nvPr/>
        </p:nvSpPr>
        <p:spPr>
          <a:xfrm flipH="1">
            <a:off x="463550" y="3815806"/>
            <a:ext cx="76200" cy="906145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99"/>
          <p:cNvSpPr/>
          <p:nvPr/>
        </p:nvSpPr>
        <p:spPr>
          <a:xfrm>
            <a:off x="5461091" y="3436017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105"/>
          <p:cNvSpPr/>
          <p:nvPr/>
        </p:nvSpPr>
        <p:spPr>
          <a:xfrm>
            <a:off x="2774762" y="3112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6E39A277-B53B-171C-C2C0-9CDD0DB9519F}"/>
              </a:ext>
            </a:extLst>
          </p:cNvPr>
          <p:cNvSpPr txBox="1"/>
          <p:nvPr/>
        </p:nvSpPr>
        <p:spPr>
          <a:xfrm>
            <a:off x="4592864" y="1420472"/>
            <a:ext cx="52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is_mul</a:t>
            </a:r>
          </a:p>
          <a:p>
            <a:r>
              <a:rPr lang="en-US" altLang="zh-CN" sz="1000" dirty="0"/>
              <a:t>is_div</a:t>
            </a:r>
            <a:endParaRPr lang="zh-CN" altLang="en-US" sz="1000" dirty="0"/>
          </a:p>
        </p:txBody>
      </p:sp>
      <p:sp>
        <p:nvSpPr>
          <p:cNvPr id="207" name="object 99">
            <a:extLst>
              <a:ext uri="{FF2B5EF4-FFF2-40B4-BE49-F238E27FC236}">
                <a16:creationId xmlns:a16="http://schemas.microsoft.com/office/drawing/2014/main" id="{C9593292-BCC0-F41D-77AC-D21E23F57A20}"/>
              </a:ext>
            </a:extLst>
          </p:cNvPr>
          <p:cNvSpPr/>
          <p:nvPr/>
        </p:nvSpPr>
        <p:spPr>
          <a:xfrm>
            <a:off x="887344" y="3576000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F0FCD05B-A10F-04CA-55CB-EAD9EBC357DD}"/>
              </a:ext>
            </a:extLst>
          </p:cNvPr>
          <p:cNvCxnSpPr>
            <a:cxnSpLocks/>
          </p:cNvCxnSpPr>
          <p:nvPr/>
        </p:nvCxnSpPr>
        <p:spPr>
          <a:xfrm>
            <a:off x="539867" y="3809390"/>
            <a:ext cx="345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A5B761A4-B094-EA69-E135-1BB2C8384704}"/>
              </a:ext>
            </a:extLst>
          </p:cNvPr>
          <p:cNvCxnSpPr>
            <a:cxnSpLocks/>
          </p:cNvCxnSpPr>
          <p:nvPr/>
        </p:nvCxnSpPr>
        <p:spPr>
          <a:xfrm>
            <a:off x="714481" y="3658022"/>
            <a:ext cx="1713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B2CCECF-8874-556D-F424-80CD6F4EA0BA}"/>
              </a:ext>
            </a:extLst>
          </p:cNvPr>
          <p:cNvCxnSpPr>
            <a:cxnSpLocks/>
          </p:cNvCxnSpPr>
          <p:nvPr/>
        </p:nvCxnSpPr>
        <p:spPr>
          <a:xfrm>
            <a:off x="2034426" y="3090635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C2A33D59-B659-179B-ADDA-3F6CDD6E5A6D}"/>
              </a:ext>
            </a:extLst>
          </p:cNvPr>
          <p:cNvCxnSpPr>
            <a:cxnSpLocks/>
          </p:cNvCxnSpPr>
          <p:nvPr/>
        </p:nvCxnSpPr>
        <p:spPr>
          <a:xfrm>
            <a:off x="981438" y="3644799"/>
            <a:ext cx="41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A8B7DB48-03F2-09A0-8131-C76F7958CEAA}"/>
              </a:ext>
            </a:extLst>
          </p:cNvPr>
          <p:cNvCxnSpPr>
            <a:cxnSpLocks/>
          </p:cNvCxnSpPr>
          <p:nvPr/>
        </p:nvCxnSpPr>
        <p:spPr>
          <a:xfrm>
            <a:off x="1938020" y="3285535"/>
            <a:ext cx="27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EBD62B82-A12B-554D-B192-8385D9D6C567}"/>
              </a:ext>
            </a:extLst>
          </p:cNvPr>
          <p:cNvSpPr txBox="1"/>
          <p:nvPr/>
        </p:nvSpPr>
        <p:spPr>
          <a:xfrm>
            <a:off x="5617732" y="3612656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busy</a:t>
            </a:r>
            <a:endParaRPr lang="zh-CN" altLang="en-US" sz="1000" dirty="0"/>
          </a:p>
        </p:txBody>
      </p:sp>
      <p:sp>
        <p:nvSpPr>
          <p:cNvPr id="237" name="object 48">
            <a:extLst>
              <a:ext uri="{FF2B5EF4-FFF2-40B4-BE49-F238E27FC236}">
                <a16:creationId xmlns:a16="http://schemas.microsoft.com/office/drawing/2014/main" id="{85A32D07-D7C0-4578-7DEC-6DCB3255098F}"/>
              </a:ext>
            </a:extLst>
          </p:cNvPr>
          <p:cNvSpPr/>
          <p:nvPr/>
        </p:nvSpPr>
        <p:spPr>
          <a:xfrm>
            <a:off x="1123951" y="334826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45">
            <a:extLst>
              <a:ext uri="{FF2B5EF4-FFF2-40B4-BE49-F238E27FC236}">
                <a16:creationId xmlns:a16="http://schemas.microsoft.com/office/drawing/2014/main" id="{4F858377-CE31-9624-EF7D-DA16E1D0B4AE}"/>
              </a:ext>
            </a:extLst>
          </p:cNvPr>
          <p:cNvSpPr/>
          <p:nvPr/>
        </p:nvSpPr>
        <p:spPr>
          <a:xfrm rot="5400000" flipH="1">
            <a:off x="976463" y="3207211"/>
            <a:ext cx="108000" cy="21600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7EF17DC3-26E6-FE19-E9B8-DB1C7B151531}"/>
              </a:ext>
            </a:extLst>
          </p:cNvPr>
          <p:cNvCxnSpPr>
            <a:cxnSpLocks/>
          </p:cNvCxnSpPr>
          <p:nvPr/>
        </p:nvCxnSpPr>
        <p:spPr>
          <a:xfrm rot="5400000">
            <a:off x="812750" y="3468293"/>
            <a:ext cx="2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object 45">
            <a:extLst>
              <a:ext uri="{FF2B5EF4-FFF2-40B4-BE49-F238E27FC236}">
                <a16:creationId xmlns:a16="http://schemas.microsoft.com/office/drawing/2014/main" id="{0B96D8C9-A8C6-F031-6D67-96713437BF94}"/>
              </a:ext>
            </a:extLst>
          </p:cNvPr>
          <p:cNvSpPr/>
          <p:nvPr/>
        </p:nvSpPr>
        <p:spPr>
          <a:xfrm flipH="1">
            <a:off x="2021929" y="2488292"/>
            <a:ext cx="76200" cy="97200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47631342-7827-0F06-1C31-A0B9B0B54E04}"/>
              </a:ext>
            </a:extLst>
          </p:cNvPr>
          <p:cNvCxnSpPr>
            <a:cxnSpLocks/>
          </p:cNvCxnSpPr>
          <p:nvPr/>
        </p:nvCxnSpPr>
        <p:spPr>
          <a:xfrm>
            <a:off x="2100608" y="3453494"/>
            <a:ext cx="1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D4347F5-3445-FEB2-AE75-5F4541A6EA3F}"/>
              </a:ext>
            </a:extLst>
          </p:cNvPr>
          <p:cNvSpPr txBox="1"/>
          <p:nvPr/>
        </p:nvSpPr>
        <p:spPr>
          <a:xfrm>
            <a:off x="7756979" y="3098194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data_valid</a:t>
            </a:r>
          </a:p>
          <a:p>
            <a:r>
              <a:rPr lang="en-US" altLang="zh-CN" sz="1000" dirty="0"/>
              <a:t>data_wresp</a:t>
            </a:r>
            <a:endParaRPr lang="zh-CN" altLang="en-US" sz="1000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A86E581-2FDC-095D-91C3-7FE0AD0B66CF}"/>
              </a:ext>
            </a:extLst>
          </p:cNvPr>
          <p:cNvSpPr/>
          <p:nvPr/>
        </p:nvSpPr>
        <p:spPr>
          <a:xfrm>
            <a:off x="5791404" y="1472838"/>
            <a:ext cx="463346" cy="302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C8DC262-0E37-4F3B-4B74-2C6A9C74DFC0}"/>
              </a:ext>
            </a:extLst>
          </p:cNvPr>
          <p:cNvCxnSpPr>
            <a:cxnSpLocks/>
          </p:cNvCxnSpPr>
          <p:nvPr/>
        </p:nvCxnSpPr>
        <p:spPr>
          <a:xfrm>
            <a:off x="5062286" y="1544864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45E8AD8E-C00B-A705-1434-EBD15EA58696}"/>
              </a:ext>
            </a:extLst>
          </p:cNvPr>
          <p:cNvCxnSpPr>
            <a:cxnSpLocks/>
          </p:cNvCxnSpPr>
          <p:nvPr/>
        </p:nvCxnSpPr>
        <p:spPr>
          <a:xfrm>
            <a:off x="5062289" y="1697264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object 137">
            <a:extLst>
              <a:ext uri="{FF2B5EF4-FFF2-40B4-BE49-F238E27FC236}">
                <a16:creationId xmlns:a16="http://schemas.microsoft.com/office/drawing/2014/main" id="{041A502C-C81D-082C-46AB-D84B9343BDA3}"/>
              </a:ext>
            </a:extLst>
          </p:cNvPr>
          <p:cNvSpPr/>
          <p:nvPr/>
        </p:nvSpPr>
        <p:spPr>
          <a:xfrm>
            <a:off x="5972579" y="3747409"/>
            <a:ext cx="36000" cy="0"/>
          </a:xfrm>
          <a:custGeom>
            <a:avLst/>
            <a:gdLst/>
            <a:ahLst/>
            <a:cxnLst/>
            <a:rect l="l" t="t" r="r" b="b"/>
            <a:pathLst>
              <a:path w="2242185">
                <a:moveTo>
                  <a:pt x="0" y="0"/>
                </a:moveTo>
                <a:lnTo>
                  <a:pt x="224208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E617AB71-62C2-EA4F-1A01-D58D40E11356}"/>
              </a:ext>
            </a:extLst>
          </p:cNvPr>
          <p:cNvCxnSpPr>
            <a:cxnSpLocks/>
          </p:cNvCxnSpPr>
          <p:nvPr/>
        </p:nvCxnSpPr>
        <p:spPr>
          <a:xfrm rot="16200000">
            <a:off x="5101463" y="2757994"/>
            <a:ext cx="19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0FA1CF8A-9128-C17D-7DFD-E585BC267A8B}"/>
              </a:ext>
            </a:extLst>
          </p:cNvPr>
          <p:cNvCxnSpPr>
            <a:cxnSpLocks/>
          </p:cNvCxnSpPr>
          <p:nvPr/>
        </p:nvCxnSpPr>
        <p:spPr>
          <a:xfrm>
            <a:off x="6266326" y="1621064"/>
            <a:ext cx="187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19943E05-03C3-AA22-181E-439C5DD086E1}"/>
              </a:ext>
            </a:extLst>
          </p:cNvPr>
          <p:cNvSpPr txBox="1"/>
          <p:nvPr/>
        </p:nvSpPr>
        <p:spPr>
          <a:xfrm>
            <a:off x="7245350" y="1407557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mul_div_busy</a:t>
            </a:r>
            <a:endParaRPr lang="zh-CN" altLang="en-US" sz="10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E5AB3B79-3A2A-E16E-6BD0-FC2F9D79A53D}"/>
              </a:ext>
            </a:extLst>
          </p:cNvPr>
          <p:cNvSpPr txBox="1"/>
          <p:nvPr/>
        </p:nvSpPr>
        <p:spPr>
          <a:xfrm>
            <a:off x="1689529" y="2292350"/>
            <a:ext cx="849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inst_finished</a:t>
            </a:r>
            <a:endParaRPr lang="zh-CN" altLang="en-US" sz="1000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1532166-2EE2-D404-B4BB-A329F51CBD35}"/>
              </a:ext>
            </a:extLst>
          </p:cNvPr>
          <p:cNvSpPr/>
          <p:nvPr/>
        </p:nvSpPr>
        <p:spPr>
          <a:xfrm>
            <a:off x="2949151" y="1821075"/>
            <a:ext cx="80940" cy="23051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923C7C3E-4C9A-855D-EA1B-DC1CA47B0B34}"/>
              </a:ext>
            </a:extLst>
          </p:cNvPr>
          <p:cNvCxnSpPr>
            <a:cxnSpLocks/>
          </p:cNvCxnSpPr>
          <p:nvPr/>
        </p:nvCxnSpPr>
        <p:spPr>
          <a:xfrm>
            <a:off x="2981983" y="1330778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7355072E-4DD9-F222-9E0D-026E8E1992D0}"/>
              </a:ext>
            </a:extLst>
          </p:cNvPr>
          <p:cNvCxnSpPr>
            <a:cxnSpLocks/>
          </p:cNvCxnSpPr>
          <p:nvPr/>
        </p:nvCxnSpPr>
        <p:spPr>
          <a:xfrm>
            <a:off x="2825750" y="3134177"/>
            <a:ext cx="1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1118B0AA-D28D-883C-E932-9D86B08414CD}"/>
              </a:ext>
            </a:extLst>
          </p:cNvPr>
          <p:cNvCxnSpPr>
            <a:cxnSpLocks/>
          </p:cNvCxnSpPr>
          <p:nvPr/>
        </p:nvCxnSpPr>
        <p:spPr>
          <a:xfrm flipV="1">
            <a:off x="739867" y="2326397"/>
            <a:ext cx="2183152" cy="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1" name="object 156">
            <a:extLst>
              <a:ext uri="{FF2B5EF4-FFF2-40B4-BE49-F238E27FC236}">
                <a16:creationId xmlns:a16="http://schemas.microsoft.com/office/drawing/2014/main" id="{FB4135DE-1933-F192-D9A1-50D6033BA8C3}"/>
              </a:ext>
            </a:extLst>
          </p:cNvPr>
          <p:cNvSpPr/>
          <p:nvPr/>
        </p:nvSpPr>
        <p:spPr>
          <a:xfrm flipV="1">
            <a:off x="3049911" y="2237739"/>
            <a:ext cx="324000" cy="83437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B563700E-22B3-9183-D2DD-C99DB8526878}"/>
              </a:ext>
            </a:extLst>
          </p:cNvPr>
          <p:cNvSpPr/>
          <p:nvPr/>
        </p:nvSpPr>
        <p:spPr>
          <a:xfrm>
            <a:off x="5148693" y="1225557"/>
            <a:ext cx="52104" cy="199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object 156">
            <a:extLst>
              <a:ext uri="{FF2B5EF4-FFF2-40B4-BE49-F238E27FC236}">
                <a16:creationId xmlns:a16="http://schemas.microsoft.com/office/drawing/2014/main" id="{877D8FA9-F7D3-4D23-F3E9-1EE9FE5BADA3}"/>
              </a:ext>
            </a:extLst>
          </p:cNvPr>
          <p:cNvSpPr/>
          <p:nvPr/>
        </p:nvSpPr>
        <p:spPr>
          <a:xfrm>
            <a:off x="5124350" y="3620405"/>
            <a:ext cx="324000" cy="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6E9BB725-C636-6D2B-E7C0-46200DA5E43E}"/>
              </a:ext>
            </a:extLst>
          </p:cNvPr>
          <p:cNvSpPr/>
          <p:nvPr/>
        </p:nvSpPr>
        <p:spPr>
          <a:xfrm>
            <a:off x="5169806" y="3541151"/>
            <a:ext cx="45719" cy="1083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ACB995A2-68BB-7021-D4B2-A1D55283796A}"/>
              </a:ext>
            </a:extLst>
          </p:cNvPr>
          <p:cNvCxnSpPr>
            <a:cxnSpLocks/>
          </p:cNvCxnSpPr>
          <p:nvPr/>
        </p:nvCxnSpPr>
        <p:spPr>
          <a:xfrm>
            <a:off x="3039103" y="3128625"/>
            <a:ext cx="208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4" name="object 156">
            <a:extLst>
              <a:ext uri="{FF2B5EF4-FFF2-40B4-BE49-F238E27FC236}">
                <a16:creationId xmlns:a16="http://schemas.microsoft.com/office/drawing/2014/main" id="{75F0EDFC-F618-41AC-A293-54706837262C}"/>
              </a:ext>
            </a:extLst>
          </p:cNvPr>
          <p:cNvSpPr/>
          <p:nvPr/>
        </p:nvSpPr>
        <p:spPr>
          <a:xfrm flipV="1">
            <a:off x="5220271" y="3092085"/>
            <a:ext cx="144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156">
            <a:extLst>
              <a:ext uri="{FF2B5EF4-FFF2-40B4-BE49-F238E27FC236}">
                <a16:creationId xmlns:a16="http://schemas.microsoft.com/office/drawing/2014/main" id="{F5D04012-140D-E7E9-7819-C1762DA07BFA}"/>
              </a:ext>
            </a:extLst>
          </p:cNvPr>
          <p:cNvSpPr/>
          <p:nvPr/>
        </p:nvSpPr>
        <p:spPr>
          <a:xfrm rot="5400000" flipV="1">
            <a:off x="5211152" y="3296040"/>
            <a:ext cx="360000" cy="50795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05CABF08-257B-9928-707D-846CF746B227}"/>
              </a:ext>
            </a:extLst>
          </p:cNvPr>
          <p:cNvCxnSpPr>
            <a:cxnSpLocks/>
          </p:cNvCxnSpPr>
          <p:nvPr/>
        </p:nvCxnSpPr>
        <p:spPr>
          <a:xfrm rot="5400000">
            <a:off x="5176007" y="3095321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直接箭头连接符 267">
            <a:extLst>
              <a:ext uri="{FF2B5EF4-FFF2-40B4-BE49-F238E27FC236}">
                <a16:creationId xmlns:a16="http://schemas.microsoft.com/office/drawing/2014/main" id="{0D584E2D-35D5-F743-906B-6F9F09BA5A3A}"/>
              </a:ext>
            </a:extLst>
          </p:cNvPr>
          <p:cNvCxnSpPr>
            <a:cxnSpLocks/>
          </p:cNvCxnSpPr>
          <p:nvPr/>
        </p:nvCxnSpPr>
        <p:spPr>
          <a:xfrm>
            <a:off x="5365748" y="3500663"/>
            <a:ext cx="1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" name="object 156">
            <a:extLst>
              <a:ext uri="{FF2B5EF4-FFF2-40B4-BE49-F238E27FC236}">
                <a16:creationId xmlns:a16="http://schemas.microsoft.com/office/drawing/2014/main" id="{BBAC7DE8-965E-88B1-BD80-2C0AD738B548}"/>
              </a:ext>
            </a:extLst>
          </p:cNvPr>
          <p:cNvSpPr/>
          <p:nvPr/>
        </p:nvSpPr>
        <p:spPr>
          <a:xfrm>
            <a:off x="5187951" y="3085012"/>
            <a:ext cx="1166242" cy="94185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156">
            <a:extLst>
              <a:ext uri="{FF2B5EF4-FFF2-40B4-BE49-F238E27FC236}">
                <a16:creationId xmlns:a16="http://schemas.microsoft.com/office/drawing/2014/main" id="{9EBAC5D3-CE28-0319-A135-46A0A91FB29B}"/>
              </a:ext>
            </a:extLst>
          </p:cNvPr>
          <p:cNvSpPr/>
          <p:nvPr/>
        </p:nvSpPr>
        <p:spPr>
          <a:xfrm rot="5400000">
            <a:off x="5512059" y="3797354"/>
            <a:ext cx="1548000" cy="13623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156">
            <a:extLst>
              <a:ext uri="{FF2B5EF4-FFF2-40B4-BE49-F238E27FC236}">
                <a16:creationId xmlns:a16="http://schemas.microsoft.com/office/drawing/2014/main" id="{D183EA58-9CDB-21A7-F0AC-6036DD393D3B}"/>
              </a:ext>
            </a:extLst>
          </p:cNvPr>
          <p:cNvSpPr/>
          <p:nvPr/>
        </p:nvSpPr>
        <p:spPr>
          <a:xfrm flipV="1">
            <a:off x="4438889" y="4588739"/>
            <a:ext cx="1908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156">
            <a:extLst>
              <a:ext uri="{FF2B5EF4-FFF2-40B4-BE49-F238E27FC236}">
                <a16:creationId xmlns:a16="http://schemas.microsoft.com/office/drawing/2014/main" id="{23C9030C-4C56-B548-655E-407C3035CE27}"/>
              </a:ext>
            </a:extLst>
          </p:cNvPr>
          <p:cNvSpPr/>
          <p:nvPr/>
        </p:nvSpPr>
        <p:spPr>
          <a:xfrm rot="5400000">
            <a:off x="4073074" y="4259960"/>
            <a:ext cx="684000" cy="5077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156">
            <a:extLst>
              <a:ext uri="{FF2B5EF4-FFF2-40B4-BE49-F238E27FC236}">
                <a16:creationId xmlns:a16="http://schemas.microsoft.com/office/drawing/2014/main" id="{0BAB7C26-41E8-2457-000B-590E7F672535}"/>
              </a:ext>
            </a:extLst>
          </p:cNvPr>
          <p:cNvSpPr/>
          <p:nvPr/>
        </p:nvSpPr>
        <p:spPr>
          <a:xfrm>
            <a:off x="5970501" y="3741406"/>
            <a:ext cx="108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105">
            <a:extLst>
              <a:ext uri="{FF2B5EF4-FFF2-40B4-BE49-F238E27FC236}">
                <a16:creationId xmlns:a16="http://schemas.microsoft.com/office/drawing/2014/main" id="{58C83E78-F612-8FAD-68AE-1134E2904208}"/>
              </a:ext>
            </a:extLst>
          </p:cNvPr>
          <p:cNvSpPr/>
          <p:nvPr/>
        </p:nvSpPr>
        <p:spPr>
          <a:xfrm>
            <a:off x="6098722" y="38889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105">
            <a:extLst>
              <a:ext uri="{FF2B5EF4-FFF2-40B4-BE49-F238E27FC236}">
                <a16:creationId xmlns:a16="http://schemas.microsoft.com/office/drawing/2014/main" id="{47F16C63-9255-9251-9BF8-5256A596902A}"/>
              </a:ext>
            </a:extLst>
          </p:cNvPr>
          <p:cNvSpPr/>
          <p:nvPr/>
        </p:nvSpPr>
        <p:spPr>
          <a:xfrm>
            <a:off x="6098722" y="441506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1489BA69-9285-59E7-BE00-AA66BA545A71}"/>
              </a:ext>
            </a:extLst>
          </p:cNvPr>
          <p:cNvSpPr/>
          <p:nvPr/>
        </p:nvSpPr>
        <p:spPr>
          <a:xfrm>
            <a:off x="6011397" y="1969365"/>
            <a:ext cx="45719" cy="2182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FF0DDB9F-8375-F293-F962-6AB75E1E6F8D}"/>
              </a:ext>
            </a:extLst>
          </p:cNvPr>
          <p:cNvSpPr/>
          <p:nvPr/>
        </p:nvSpPr>
        <p:spPr>
          <a:xfrm>
            <a:off x="6711959" y="4577550"/>
            <a:ext cx="135394" cy="381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50D66B67-5A88-0278-2CB5-C2C24938D398}"/>
              </a:ext>
            </a:extLst>
          </p:cNvPr>
          <p:cNvSpPr txBox="1"/>
          <p:nvPr/>
        </p:nvSpPr>
        <p:spPr>
          <a:xfrm>
            <a:off x="2784696" y="158535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IF/ID</a:t>
            </a:r>
            <a:endParaRPr lang="zh-CN" altLang="en-US" sz="1000" dirty="0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78B006BA-FC03-0F51-EC75-067F864CCDE2}"/>
              </a:ext>
            </a:extLst>
          </p:cNvPr>
          <p:cNvSpPr txBox="1"/>
          <p:nvPr/>
        </p:nvSpPr>
        <p:spPr>
          <a:xfrm>
            <a:off x="4958926" y="1012145"/>
            <a:ext cx="4748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ID/EX</a:t>
            </a:r>
            <a:endParaRPr lang="zh-CN" altLang="en-US" sz="1000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CFA411CE-E407-C70F-3FCC-18B021C28611}"/>
              </a:ext>
            </a:extLst>
          </p:cNvPr>
          <p:cNvSpPr txBox="1"/>
          <p:nvPr/>
        </p:nvSpPr>
        <p:spPr>
          <a:xfrm>
            <a:off x="5769068" y="178147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EX/MEM</a:t>
            </a:r>
            <a:endParaRPr lang="zh-CN" altLang="en-US" sz="1000" dirty="0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930DEACC-BC83-27FD-2527-D5266761F936}"/>
              </a:ext>
            </a:extLst>
          </p:cNvPr>
          <p:cNvSpPr txBox="1"/>
          <p:nvPr/>
        </p:nvSpPr>
        <p:spPr>
          <a:xfrm>
            <a:off x="6439684" y="4320266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MEM/WB</a:t>
            </a:r>
            <a:endParaRPr lang="zh-CN" altLang="en-US" sz="1000" dirty="0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FD1FA546-6248-0DEC-2E48-651D2D86E709}"/>
              </a:ext>
            </a:extLst>
          </p:cNvPr>
          <p:cNvSpPr txBox="1"/>
          <p:nvPr/>
        </p:nvSpPr>
        <p:spPr>
          <a:xfrm>
            <a:off x="4964500" y="3340997"/>
            <a:ext cx="4748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ID/EX</a:t>
            </a:r>
            <a:endParaRPr lang="zh-CN" altLang="en-US" sz="1000" dirty="0"/>
          </a:p>
        </p:txBody>
      </p:sp>
      <p:sp>
        <p:nvSpPr>
          <p:cNvPr id="297" name="object 156">
            <a:extLst>
              <a:ext uri="{FF2B5EF4-FFF2-40B4-BE49-F238E27FC236}">
                <a16:creationId xmlns:a16="http://schemas.microsoft.com/office/drawing/2014/main" id="{6E1742C9-BFC0-C481-C908-9A53B6CC672A}"/>
              </a:ext>
            </a:extLst>
          </p:cNvPr>
          <p:cNvSpPr/>
          <p:nvPr/>
        </p:nvSpPr>
        <p:spPr>
          <a:xfrm rot="5400000">
            <a:off x="4143350" y="1316978"/>
            <a:ext cx="108000" cy="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156">
            <a:extLst>
              <a:ext uri="{FF2B5EF4-FFF2-40B4-BE49-F238E27FC236}">
                <a16:creationId xmlns:a16="http://schemas.microsoft.com/office/drawing/2014/main" id="{2CFAD4AC-6006-3229-6FB3-D6F796F26212}"/>
              </a:ext>
            </a:extLst>
          </p:cNvPr>
          <p:cNvSpPr/>
          <p:nvPr/>
        </p:nvSpPr>
        <p:spPr>
          <a:xfrm>
            <a:off x="4194379" y="1261769"/>
            <a:ext cx="936000" cy="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156">
            <a:extLst>
              <a:ext uri="{FF2B5EF4-FFF2-40B4-BE49-F238E27FC236}">
                <a16:creationId xmlns:a16="http://schemas.microsoft.com/office/drawing/2014/main" id="{0E3E4344-5665-6D91-9B3F-958C4DCA728D}"/>
              </a:ext>
            </a:extLst>
          </p:cNvPr>
          <p:cNvSpPr/>
          <p:nvPr/>
        </p:nvSpPr>
        <p:spPr>
          <a:xfrm>
            <a:off x="5187951" y="1271747"/>
            <a:ext cx="216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156">
            <a:extLst>
              <a:ext uri="{FF2B5EF4-FFF2-40B4-BE49-F238E27FC236}">
                <a16:creationId xmlns:a16="http://schemas.microsoft.com/office/drawing/2014/main" id="{228104BF-3E10-7F2E-AB42-8C37F48ABC97}"/>
              </a:ext>
            </a:extLst>
          </p:cNvPr>
          <p:cNvSpPr/>
          <p:nvPr/>
        </p:nvSpPr>
        <p:spPr>
          <a:xfrm rot="5400000" flipV="1">
            <a:off x="5366353" y="963297"/>
            <a:ext cx="355926" cy="255532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156">
            <a:extLst>
              <a:ext uri="{FF2B5EF4-FFF2-40B4-BE49-F238E27FC236}">
                <a16:creationId xmlns:a16="http://schemas.microsoft.com/office/drawing/2014/main" id="{A7526399-AECD-1841-407B-F3FBFD866AEE}"/>
              </a:ext>
            </a:extLst>
          </p:cNvPr>
          <p:cNvSpPr/>
          <p:nvPr/>
        </p:nvSpPr>
        <p:spPr>
          <a:xfrm flipV="1">
            <a:off x="3820183" y="855435"/>
            <a:ext cx="1596367" cy="5363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156">
            <a:extLst>
              <a:ext uri="{FF2B5EF4-FFF2-40B4-BE49-F238E27FC236}">
                <a16:creationId xmlns:a16="http://schemas.microsoft.com/office/drawing/2014/main" id="{5250E6EA-2BA7-07CA-7E2C-403C5869808C}"/>
              </a:ext>
            </a:extLst>
          </p:cNvPr>
          <p:cNvSpPr/>
          <p:nvPr/>
        </p:nvSpPr>
        <p:spPr>
          <a:xfrm rot="5400000">
            <a:off x="2624832" y="2055849"/>
            <a:ext cx="2324764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156">
            <a:extLst>
              <a:ext uri="{FF2B5EF4-FFF2-40B4-BE49-F238E27FC236}">
                <a16:creationId xmlns:a16="http://schemas.microsoft.com/office/drawing/2014/main" id="{076E81F9-8723-E23A-C973-4F180C65C85D}"/>
              </a:ext>
            </a:extLst>
          </p:cNvPr>
          <p:cNvSpPr/>
          <p:nvPr/>
        </p:nvSpPr>
        <p:spPr>
          <a:xfrm>
            <a:off x="3813558" y="3245125"/>
            <a:ext cx="461540" cy="63258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67A7A811-35B0-D92A-BF53-70A6F65F786E}"/>
              </a:ext>
            </a:extLst>
          </p:cNvPr>
          <p:cNvCxnSpPr>
            <a:cxnSpLocks/>
          </p:cNvCxnSpPr>
          <p:nvPr/>
        </p:nvCxnSpPr>
        <p:spPr>
          <a:xfrm>
            <a:off x="4279029" y="3250156"/>
            <a:ext cx="0" cy="68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4" name="矩形 313">
            <a:extLst>
              <a:ext uri="{FF2B5EF4-FFF2-40B4-BE49-F238E27FC236}">
                <a16:creationId xmlns:a16="http://schemas.microsoft.com/office/drawing/2014/main" id="{A2CC70A6-85B3-EFBB-48DF-5B3A74863C64}"/>
              </a:ext>
            </a:extLst>
          </p:cNvPr>
          <p:cNvSpPr/>
          <p:nvPr/>
        </p:nvSpPr>
        <p:spPr>
          <a:xfrm>
            <a:off x="3511558" y="145153"/>
            <a:ext cx="742217" cy="698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D2BF376B-EA7F-2A70-A39A-96DF71A3A3DE}"/>
              </a:ext>
            </a:extLst>
          </p:cNvPr>
          <p:cNvSpPr txBox="1"/>
          <p:nvPr/>
        </p:nvSpPr>
        <p:spPr>
          <a:xfrm>
            <a:off x="3476145" y="-61831"/>
            <a:ext cx="8130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>
                <a:latin typeface="+mj-lt"/>
              </a:rPr>
              <a:t>Hazard Unit</a:t>
            </a:r>
          </a:p>
        </p:txBody>
      </p:sp>
      <p:sp>
        <p:nvSpPr>
          <p:cNvPr id="317" name="object 156">
            <a:extLst>
              <a:ext uri="{FF2B5EF4-FFF2-40B4-BE49-F238E27FC236}">
                <a16:creationId xmlns:a16="http://schemas.microsoft.com/office/drawing/2014/main" id="{66EBCDAF-07CD-E575-C8C0-DB622F45897E}"/>
              </a:ext>
            </a:extLst>
          </p:cNvPr>
          <p:cNvSpPr/>
          <p:nvPr/>
        </p:nvSpPr>
        <p:spPr>
          <a:xfrm rot="5400000">
            <a:off x="2919597" y="1480317"/>
            <a:ext cx="1332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105">
            <a:extLst>
              <a:ext uri="{FF2B5EF4-FFF2-40B4-BE49-F238E27FC236}">
                <a16:creationId xmlns:a16="http://schemas.microsoft.com/office/drawing/2014/main" id="{BE5F3CD2-E63C-EDAC-CF1E-557F6BCD117B}"/>
              </a:ext>
            </a:extLst>
          </p:cNvPr>
          <p:cNvSpPr/>
          <p:nvPr/>
        </p:nvSpPr>
        <p:spPr>
          <a:xfrm>
            <a:off x="3587750" y="215809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160">
            <a:extLst>
              <a:ext uri="{FF2B5EF4-FFF2-40B4-BE49-F238E27FC236}">
                <a16:creationId xmlns:a16="http://schemas.microsoft.com/office/drawing/2014/main" id="{C358329A-7915-126E-9A9D-7D6036F38A25}"/>
              </a:ext>
            </a:extLst>
          </p:cNvPr>
          <p:cNvSpPr/>
          <p:nvPr/>
        </p:nvSpPr>
        <p:spPr>
          <a:xfrm rot="16200000">
            <a:off x="3569609" y="8518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2772C415-4C48-1138-22CB-FABE47E77A83}"/>
              </a:ext>
            </a:extLst>
          </p:cNvPr>
          <p:cNvCxnSpPr>
            <a:cxnSpLocks/>
          </p:cNvCxnSpPr>
          <p:nvPr/>
        </p:nvCxnSpPr>
        <p:spPr>
          <a:xfrm flipH="1" flipV="1">
            <a:off x="3692478" y="844550"/>
            <a:ext cx="15333" cy="1478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3" name="直接箭头连接符 322">
            <a:extLst>
              <a:ext uri="{FF2B5EF4-FFF2-40B4-BE49-F238E27FC236}">
                <a16:creationId xmlns:a16="http://schemas.microsoft.com/office/drawing/2014/main" id="{976C0080-3B7F-4A47-1380-5307EEFFC53E}"/>
              </a:ext>
            </a:extLst>
          </p:cNvPr>
          <p:cNvCxnSpPr>
            <a:cxnSpLocks/>
          </p:cNvCxnSpPr>
          <p:nvPr/>
        </p:nvCxnSpPr>
        <p:spPr>
          <a:xfrm flipH="1" flipV="1">
            <a:off x="3893045" y="851807"/>
            <a:ext cx="4989" cy="16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8" name="object 105">
            <a:extLst>
              <a:ext uri="{FF2B5EF4-FFF2-40B4-BE49-F238E27FC236}">
                <a16:creationId xmlns:a16="http://schemas.microsoft.com/office/drawing/2014/main" id="{EB20789F-DE1E-2F79-9653-B76DDD2817AD}"/>
              </a:ext>
            </a:extLst>
          </p:cNvPr>
          <p:cNvSpPr/>
          <p:nvPr/>
        </p:nvSpPr>
        <p:spPr>
          <a:xfrm>
            <a:off x="3874408" y="24556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105">
            <a:extLst>
              <a:ext uri="{FF2B5EF4-FFF2-40B4-BE49-F238E27FC236}">
                <a16:creationId xmlns:a16="http://schemas.microsoft.com/office/drawing/2014/main" id="{64A42896-B25D-858A-D548-EC2DEB6E4881}"/>
              </a:ext>
            </a:extLst>
          </p:cNvPr>
          <p:cNvSpPr/>
          <p:nvPr/>
        </p:nvSpPr>
        <p:spPr>
          <a:xfrm>
            <a:off x="3689350" y="23032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156">
            <a:extLst>
              <a:ext uri="{FF2B5EF4-FFF2-40B4-BE49-F238E27FC236}">
                <a16:creationId xmlns:a16="http://schemas.microsoft.com/office/drawing/2014/main" id="{86DC5A92-141C-7B30-4544-58C24C77C1CC}"/>
              </a:ext>
            </a:extLst>
          </p:cNvPr>
          <p:cNvSpPr/>
          <p:nvPr/>
        </p:nvSpPr>
        <p:spPr>
          <a:xfrm>
            <a:off x="5217967" y="1315085"/>
            <a:ext cx="252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156">
            <a:extLst>
              <a:ext uri="{FF2B5EF4-FFF2-40B4-BE49-F238E27FC236}">
                <a16:creationId xmlns:a16="http://schemas.microsoft.com/office/drawing/2014/main" id="{77267E6A-D7FF-BCAF-74ED-CCE9F681F741}"/>
              </a:ext>
            </a:extLst>
          </p:cNvPr>
          <p:cNvSpPr/>
          <p:nvPr/>
        </p:nvSpPr>
        <p:spPr>
          <a:xfrm rot="16200000">
            <a:off x="5191466" y="988158"/>
            <a:ext cx="612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B45709F7-EF5B-3066-78AA-DF845B03F428}"/>
              </a:ext>
            </a:extLst>
          </p:cNvPr>
          <p:cNvCxnSpPr>
            <a:cxnSpLocks/>
          </p:cNvCxnSpPr>
          <p:nvPr/>
        </p:nvCxnSpPr>
        <p:spPr>
          <a:xfrm flipH="1">
            <a:off x="4238104" y="695780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9" name="文本框 338">
            <a:extLst>
              <a:ext uri="{FF2B5EF4-FFF2-40B4-BE49-F238E27FC236}">
                <a16:creationId xmlns:a16="http://schemas.microsoft.com/office/drawing/2014/main" id="{1A6EBD83-1851-7BD4-F93D-671EE2A7C588}"/>
              </a:ext>
            </a:extLst>
          </p:cNvPr>
          <p:cNvSpPr txBox="1"/>
          <p:nvPr/>
        </p:nvSpPr>
        <p:spPr>
          <a:xfrm>
            <a:off x="4611196" y="482801"/>
            <a:ext cx="7360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ex_is_load</a:t>
            </a:r>
            <a:endParaRPr lang="zh-CN" altLang="en-US" sz="1000" dirty="0"/>
          </a:p>
        </p:txBody>
      </p:sp>
      <p:sp>
        <p:nvSpPr>
          <p:cNvPr id="341" name="object 156">
            <a:extLst>
              <a:ext uri="{FF2B5EF4-FFF2-40B4-BE49-F238E27FC236}">
                <a16:creationId xmlns:a16="http://schemas.microsoft.com/office/drawing/2014/main" id="{AB9674A0-07AC-9376-E34A-28A9C3B3E01F}"/>
              </a:ext>
            </a:extLst>
          </p:cNvPr>
          <p:cNvSpPr/>
          <p:nvPr/>
        </p:nvSpPr>
        <p:spPr>
          <a:xfrm>
            <a:off x="5199195" y="1388744"/>
            <a:ext cx="324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156">
            <a:extLst>
              <a:ext uri="{FF2B5EF4-FFF2-40B4-BE49-F238E27FC236}">
                <a16:creationId xmlns:a16="http://schemas.microsoft.com/office/drawing/2014/main" id="{B7A052C1-C872-D028-7EE9-0A8472B767B5}"/>
              </a:ext>
            </a:extLst>
          </p:cNvPr>
          <p:cNvSpPr/>
          <p:nvPr/>
        </p:nvSpPr>
        <p:spPr>
          <a:xfrm rot="16200000">
            <a:off x="5119895" y="926627"/>
            <a:ext cx="864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3A3EA867-7BDE-7BEA-DD6B-42A5FCA3028F}"/>
              </a:ext>
            </a:extLst>
          </p:cNvPr>
          <p:cNvCxnSpPr>
            <a:cxnSpLocks/>
          </p:cNvCxnSpPr>
          <p:nvPr/>
        </p:nvCxnSpPr>
        <p:spPr>
          <a:xfrm flipH="1">
            <a:off x="4237265" y="507092"/>
            <a:ext cx="12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5" name="文本框 344">
            <a:extLst>
              <a:ext uri="{FF2B5EF4-FFF2-40B4-BE49-F238E27FC236}">
                <a16:creationId xmlns:a16="http://schemas.microsoft.com/office/drawing/2014/main" id="{883B59F0-AB80-6887-904D-01FDA181ABD9}"/>
              </a:ext>
            </a:extLst>
          </p:cNvPr>
          <p:cNvSpPr txBox="1"/>
          <p:nvPr/>
        </p:nvSpPr>
        <p:spPr>
          <a:xfrm>
            <a:off x="4738635" y="304842"/>
            <a:ext cx="481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ex_rd</a:t>
            </a:r>
            <a:endParaRPr lang="zh-CN" altLang="en-US" sz="1000" dirty="0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37BFEF4A-D52E-00A5-8D67-6EA735D803D7}"/>
              </a:ext>
            </a:extLst>
          </p:cNvPr>
          <p:cNvSpPr/>
          <p:nvPr/>
        </p:nvSpPr>
        <p:spPr>
          <a:xfrm>
            <a:off x="8159750" y="86813"/>
            <a:ext cx="333750" cy="1618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F08E1F38-9DA6-2ECA-37F7-C910752B4E94}"/>
              </a:ext>
            </a:extLst>
          </p:cNvPr>
          <p:cNvCxnSpPr>
            <a:cxnSpLocks/>
          </p:cNvCxnSpPr>
          <p:nvPr/>
        </p:nvCxnSpPr>
        <p:spPr>
          <a:xfrm>
            <a:off x="4235716" y="234950"/>
            <a:ext cx="39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9" name="文本框 348">
            <a:extLst>
              <a:ext uri="{FF2B5EF4-FFF2-40B4-BE49-F238E27FC236}">
                <a16:creationId xmlns:a16="http://schemas.microsoft.com/office/drawing/2014/main" id="{4B39A320-C640-641C-3C1E-4447575C2696}"/>
              </a:ext>
            </a:extLst>
          </p:cNvPr>
          <p:cNvSpPr txBox="1"/>
          <p:nvPr/>
        </p:nvSpPr>
        <p:spPr>
          <a:xfrm>
            <a:off x="8464550" y="451422"/>
            <a:ext cx="45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+mj-lt"/>
              </a:rPr>
              <a:t>cpu</a:t>
            </a:r>
            <a:r>
              <a:rPr lang="zh-CN" altLang="en-US" sz="1000" dirty="0">
                <a:latin typeface="+mj-lt"/>
              </a:rPr>
              <a:t>取指判断逻辑</a:t>
            </a:r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765D1F5F-A185-DE5D-94CB-4BC8C6E4F355}"/>
              </a:ext>
            </a:extLst>
          </p:cNvPr>
          <p:cNvSpPr txBox="1"/>
          <p:nvPr/>
        </p:nvSpPr>
        <p:spPr>
          <a:xfrm>
            <a:off x="7245350" y="0"/>
            <a:ext cx="930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>
                <a:latin typeface="+mj-lt"/>
              </a:rPr>
              <a:t>load_use_stall</a:t>
            </a:r>
            <a:endParaRPr lang="zh-CN" altLang="en-US" sz="1000" dirty="0">
              <a:latin typeface="+mj-lt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61B4D24E-37DC-EA6F-1998-AD23B5E43AC9}"/>
              </a:ext>
            </a:extLst>
          </p:cNvPr>
          <p:cNvSpPr/>
          <p:nvPr/>
        </p:nvSpPr>
        <p:spPr>
          <a:xfrm>
            <a:off x="6668533" y="494701"/>
            <a:ext cx="350033" cy="7054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3" name="object 156">
            <a:extLst>
              <a:ext uri="{FF2B5EF4-FFF2-40B4-BE49-F238E27FC236}">
                <a16:creationId xmlns:a16="http://schemas.microsoft.com/office/drawing/2014/main" id="{89C83B1F-86BE-2DD7-15CB-BA95275A13D1}"/>
              </a:ext>
            </a:extLst>
          </p:cNvPr>
          <p:cNvSpPr/>
          <p:nvPr/>
        </p:nvSpPr>
        <p:spPr>
          <a:xfrm>
            <a:off x="2978150" y="507317"/>
            <a:ext cx="540991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1842A7FD-35D5-25F7-AA96-2E9A31185E09}"/>
              </a:ext>
            </a:extLst>
          </p:cNvPr>
          <p:cNvCxnSpPr>
            <a:cxnSpLocks/>
          </p:cNvCxnSpPr>
          <p:nvPr/>
        </p:nvCxnSpPr>
        <p:spPr>
          <a:xfrm rot="5400000">
            <a:off x="2337407" y="1162349"/>
            <a:ext cx="12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bject 105">
            <a:extLst>
              <a:ext uri="{FF2B5EF4-FFF2-40B4-BE49-F238E27FC236}">
                <a16:creationId xmlns:a16="http://schemas.microsoft.com/office/drawing/2014/main" id="{69E81AB0-A09A-5D9D-2664-8AFFDC40A65B}"/>
              </a:ext>
            </a:extLst>
          </p:cNvPr>
          <p:cNvSpPr/>
          <p:nvPr/>
        </p:nvSpPr>
        <p:spPr>
          <a:xfrm>
            <a:off x="2960008" y="1305379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970B8928-8ED7-9375-0856-74EC8DD5A188}"/>
              </a:ext>
            </a:extLst>
          </p:cNvPr>
          <p:cNvSpPr txBox="1"/>
          <p:nvPr/>
        </p:nvSpPr>
        <p:spPr>
          <a:xfrm>
            <a:off x="2666517" y="293763"/>
            <a:ext cx="930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>
                <a:latin typeface="+mj-lt"/>
              </a:rPr>
              <a:t>load_use_stall</a:t>
            </a:r>
            <a:endParaRPr lang="zh-CN" altLang="en-US" sz="1000" dirty="0">
              <a:latin typeface="+mj-lt"/>
            </a:endParaRP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087AF8A0-E468-5259-8C4A-F37BE34D970F}"/>
              </a:ext>
            </a:extLst>
          </p:cNvPr>
          <p:cNvSpPr txBox="1"/>
          <p:nvPr/>
        </p:nvSpPr>
        <p:spPr>
          <a:xfrm>
            <a:off x="6407150" y="234950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ForwardUnit</a:t>
            </a:r>
            <a:endParaRPr lang="zh-CN" altLang="en-US" sz="1000" dirty="0"/>
          </a:p>
        </p:txBody>
      </p:sp>
      <p:cxnSp>
        <p:nvCxnSpPr>
          <p:cNvPr id="362" name="直接箭头连接符 361">
            <a:extLst>
              <a:ext uri="{FF2B5EF4-FFF2-40B4-BE49-F238E27FC236}">
                <a16:creationId xmlns:a16="http://schemas.microsoft.com/office/drawing/2014/main" id="{8A061102-0812-0DC0-505D-B9D39D396372}"/>
              </a:ext>
            </a:extLst>
          </p:cNvPr>
          <p:cNvCxnSpPr>
            <a:cxnSpLocks/>
          </p:cNvCxnSpPr>
          <p:nvPr/>
        </p:nvCxnSpPr>
        <p:spPr>
          <a:xfrm>
            <a:off x="3700235" y="953408"/>
            <a:ext cx="29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4D4F1832-F674-8903-7166-0D61C8DE321D}"/>
              </a:ext>
            </a:extLst>
          </p:cNvPr>
          <p:cNvCxnSpPr>
            <a:cxnSpLocks/>
          </p:cNvCxnSpPr>
          <p:nvPr/>
        </p:nvCxnSpPr>
        <p:spPr>
          <a:xfrm>
            <a:off x="3904398" y="1044122"/>
            <a:ext cx="275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5" name="object 105">
            <a:extLst>
              <a:ext uri="{FF2B5EF4-FFF2-40B4-BE49-F238E27FC236}">
                <a16:creationId xmlns:a16="http://schemas.microsoft.com/office/drawing/2014/main" id="{DBBF0D66-B5B5-3C0D-6B84-4DE085F9AC14}"/>
              </a:ext>
            </a:extLst>
          </p:cNvPr>
          <p:cNvSpPr/>
          <p:nvPr/>
        </p:nvSpPr>
        <p:spPr>
          <a:xfrm>
            <a:off x="3674836" y="928009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105">
            <a:extLst>
              <a:ext uri="{FF2B5EF4-FFF2-40B4-BE49-F238E27FC236}">
                <a16:creationId xmlns:a16="http://schemas.microsoft.com/office/drawing/2014/main" id="{EAA96F16-B517-AC6F-6DAF-E4281B4AFE53}"/>
              </a:ext>
            </a:extLst>
          </p:cNvPr>
          <p:cNvSpPr/>
          <p:nvPr/>
        </p:nvSpPr>
        <p:spPr>
          <a:xfrm>
            <a:off x="3867151" y="102598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156">
            <a:extLst>
              <a:ext uri="{FF2B5EF4-FFF2-40B4-BE49-F238E27FC236}">
                <a16:creationId xmlns:a16="http://schemas.microsoft.com/office/drawing/2014/main" id="{0E577FD6-FF34-8F7F-B611-92A0A0040DB0}"/>
              </a:ext>
            </a:extLst>
          </p:cNvPr>
          <p:cNvSpPr/>
          <p:nvPr/>
        </p:nvSpPr>
        <p:spPr>
          <a:xfrm>
            <a:off x="6071141" y="2005650"/>
            <a:ext cx="709752" cy="59647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73" name="直接箭头连接符 372">
            <a:extLst>
              <a:ext uri="{FF2B5EF4-FFF2-40B4-BE49-F238E27FC236}">
                <a16:creationId xmlns:a16="http://schemas.microsoft.com/office/drawing/2014/main" id="{639EF311-0000-20E8-6215-DD7CFC1BE282}"/>
              </a:ext>
            </a:extLst>
          </p:cNvPr>
          <p:cNvCxnSpPr>
            <a:cxnSpLocks/>
          </p:cNvCxnSpPr>
          <p:nvPr/>
        </p:nvCxnSpPr>
        <p:spPr>
          <a:xfrm rot="16200000">
            <a:off x="6392150" y="1606247"/>
            <a:ext cx="79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B74C0976-3E49-2F68-3632-6D22423B7735}"/>
              </a:ext>
            </a:extLst>
          </p:cNvPr>
          <p:cNvSpPr txBox="1"/>
          <p:nvPr/>
        </p:nvSpPr>
        <p:spPr>
          <a:xfrm>
            <a:off x="5919097" y="1161336"/>
            <a:ext cx="885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/>
              <a:t>mem_is_load</a:t>
            </a:r>
            <a:endParaRPr lang="zh-CN" altLang="en-US" sz="1000" dirty="0"/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054FB488-5EE2-9A13-5D1C-87658B5A1932}"/>
              </a:ext>
            </a:extLst>
          </p:cNvPr>
          <p:cNvSpPr txBox="1"/>
          <p:nvPr/>
        </p:nvSpPr>
        <p:spPr>
          <a:xfrm>
            <a:off x="4846498" y="881560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MEM/WB</a:t>
            </a:r>
            <a:endParaRPr lang="zh-CN" altLang="en-US" sz="1000" dirty="0"/>
          </a:p>
        </p:txBody>
      </p:sp>
      <p:sp>
        <p:nvSpPr>
          <p:cNvPr id="378" name="object 105">
            <a:extLst>
              <a:ext uri="{FF2B5EF4-FFF2-40B4-BE49-F238E27FC236}">
                <a16:creationId xmlns:a16="http://schemas.microsoft.com/office/drawing/2014/main" id="{2A1267AB-B8B0-0637-7A60-03B0723466EE}"/>
              </a:ext>
            </a:extLst>
          </p:cNvPr>
          <p:cNvSpPr/>
          <p:nvPr/>
        </p:nvSpPr>
        <p:spPr>
          <a:xfrm>
            <a:off x="6338209" y="30652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156">
            <a:extLst>
              <a:ext uri="{FF2B5EF4-FFF2-40B4-BE49-F238E27FC236}">
                <a16:creationId xmlns:a16="http://schemas.microsoft.com/office/drawing/2014/main" id="{D4E311C8-5D9D-76DF-A62A-4F594F2A2556}"/>
              </a:ext>
            </a:extLst>
          </p:cNvPr>
          <p:cNvSpPr/>
          <p:nvPr/>
        </p:nvSpPr>
        <p:spPr>
          <a:xfrm>
            <a:off x="6334813" y="3085013"/>
            <a:ext cx="1268675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156">
            <a:extLst>
              <a:ext uri="{FF2B5EF4-FFF2-40B4-BE49-F238E27FC236}">
                <a16:creationId xmlns:a16="http://schemas.microsoft.com/office/drawing/2014/main" id="{4A01A266-3D55-F23A-5376-0F3DF1316C02}"/>
              </a:ext>
            </a:extLst>
          </p:cNvPr>
          <p:cNvSpPr/>
          <p:nvPr/>
        </p:nvSpPr>
        <p:spPr>
          <a:xfrm rot="5400000">
            <a:off x="6576254" y="2046211"/>
            <a:ext cx="2000277" cy="5416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74E04E7F-6B1F-568A-E1D1-47A04FDAD4D5}"/>
              </a:ext>
            </a:extLst>
          </p:cNvPr>
          <p:cNvCxnSpPr>
            <a:cxnSpLocks/>
          </p:cNvCxnSpPr>
          <p:nvPr/>
        </p:nvCxnSpPr>
        <p:spPr>
          <a:xfrm flipH="1">
            <a:off x="7028579" y="1076759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6" name="object 156">
            <a:extLst>
              <a:ext uri="{FF2B5EF4-FFF2-40B4-BE49-F238E27FC236}">
                <a16:creationId xmlns:a16="http://schemas.microsoft.com/office/drawing/2014/main" id="{705DE17A-9CC5-2C6D-BC84-6C8763E1E95D}"/>
              </a:ext>
            </a:extLst>
          </p:cNvPr>
          <p:cNvSpPr/>
          <p:nvPr/>
        </p:nvSpPr>
        <p:spPr>
          <a:xfrm>
            <a:off x="6834785" y="4674599"/>
            <a:ext cx="720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156">
            <a:extLst>
              <a:ext uri="{FF2B5EF4-FFF2-40B4-BE49-F238E27FC236}">
                <a16:creationId xmlns:a16="http://schemas.microsoft.com/office/drawing/2014/main" id="{E54DDB08-0B04-1BD3-2AB6-7DD9B4B4354F}"/>
              </a:ext>
            </a:extLst>
          </p:cNvPr>
          <p:cNvSpPr/>
          <p:nvPr/>
        </p:nvSpPr>
        <p:spPr>
          <a:xfrm>
            <a:off x="6856556" y="4859288"/>
            <a:ext cx="792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156">
            <a:extLst>
              <a:ext uri="{FF2B5EF4-FFF2-40B4-BE49-F238E27FC236}">
                <a16:creationId xmlns:a16="http://schemas.microsoft.com/office/drawing/2014/main" id="{B0B5A32A-46A5-A582-1DC3-5923B8BBBEAA}"/>
              </a:ext>
            </a:extLst>
          </p:cNvPr>
          <p:cNvSpPr/>
          <p:nvPr/>
        </p:nvSpPr>
        <p:spPr>
          <a:xfrm rot="5400000">
            <a:off x="5662050" y="2769891"/>
            <a:ext cx="3744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84232782-8528-CFC6-9E61-0AFF693FF81B}"/>
              </a:ext>
            </a:extLst>
          </p:cNvPr>
          <p:cNvCxnSpPr>
            <a:cxnSpLocks/>
          </p:cNvCxnSpPr>
          <p:nvPr/>
        </p:nvCxnSpPr>
        <p:spPr>
          <a:xfrm flipH="1">
            <a:off x="7031264" y="913493"/>
            <a:ext cx="52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3" name="object 156">
            <a:extLst>
              <a:ext uri="{FF2B5EF4-FFF2-40B4-BE49-F238E27FC236}">
                <a16:creationId xmlns:a16="http://schemas.microsoft.com/office/drawing/2014/main" id="{5DE3AF67-A101-A5C5-CA1C-F30D0F4ACF02}"/>
              </a:ext>
            </a:extLst>
          </p:cNvPr>
          <p:cNvSpPr/>
          <p:nvPr/>
        </p:nvSpPr>
        <p:spPr>
          <a:xfrm rot="5400000">
            <a:off x="5579650" y="2781416"/>
            <a:ext cx="4104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94" name="直接箭头连接符 393">
            <a:extLst>
              <a:ext uri="{FF2B5EF4-FFF2-40B4-BE49-F238E27FC236}">
                <a16:creationId xmlns:a16="http://schemas.microsoft.com/office/drawing/2014/main" id="{8CD8304C-32CC-7998-A080-08982978FBDD}"/>
              </a:ext>
            </a:extLst>
          </p:cNvPr>
          <p:cNvCxnSpPr>
            <a:cxnSpLocks/>
          </p:cNvCxnSpPr>
          <p:nvPr/>
        </p:nvCxnSpPr>
        <p:spPr>
          <a:xfrm flipH="1">
            <a:off x="7021687" y="753836"/>
            <a:ext cx="63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5" name="文本框 394">
            <a:extLst>
              <a:ext uri="{FF2B5EF4-FFF2-40B4-BE49-F238E27FC236}">
                <a16:creationId xmlns:a16="http://schemas.microsoft.com/office/drawing/2014/main" id="{28E3D4B7-7D36-8622-4D6D-105D43A98688}"/>
              </a:ext>
            </a:extLst>
          </p:cNvPr>
          <p:cNvSpPr txBox="1"/>
          <p:nvPr/>
        </p:nvSpPr>
        <p:spPr>
          <a:xfrm>
            <a:off x="7016750" y="539750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wb_rf_we</a:t>
            </a:r>
            <a:endParaRPr lang="zh-CN" altLang="en-US" sz="1000" dirty="0"/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E63E9C21-8C0B-12A0-609D-055A546F7BC8}"/>
              </a:ext>
            </a:extLst>
          </p:cNvPr>
          <p:cNvSpPr txBox="1"/>
          <p:nvPr/>
        </p:nvSpPr>
        <p:spPr>
          <a:xfrm>
            <a:off x="7092950" y="884058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wb_rd</a:t>
            </a:r>
            <a:endParaRPr lang="zh-CN" altLang="en-US" sz="1000" dirty="0"/>
          </a:p>
        </p:txBody>
      </p:sp>
      <p:sp>
        <p:nvSpPr>
          <p:cNvPr id="398" name="object 156">
            <a:extLst>
              <a:ext uri="{FF2B5EF4-FFF2-40B4-BE49-F238E27FC236}">
                <a16:creationId xmlns:a16="http://schemas.microsoft.com/office/drawing/2014/main" id="{F1113460-7C24-A3E7-5C49-8F60BA868E2D}"/>
              </a:ext>
            </a:extLst>
          </p:cNvPr>
          <p:cNvSpPr/>
          <p:nvPr/>
        </p:nvSpPr>
        <p:spPr>
          <a:xfrm>
            <a:off x="5057321" y="2780031"/>
            <a:ext cx="72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156">
            <a:extLst>
              <a:ext uri="{FF2B5EF4-FFF2-40B4-BE49-F238E27FC236}">
                <a16:creationId xmlns:a16="http://schemas.microsoft.com/office/drawing/2014/main" id="{5E673A2E-D662-550C-F7B0-F8E33C69C394}"/>
              </a:ext>
            </a:extLst>
          </p:cNvPr>
          <p:cNvSpPr/>
          <p:nvPr/>
        </p:nvSpPr>
        <p:spPr>
          <a:xfrm>
            <a:off x="5587374" y="618713"/>
            <a:ext cx="1080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156">
            <a:extLst>
              <a:ext uri="{FF2B5EF4-FFF2-40B4-BE49-F238E27FC236}">
                <a16:creationId xmlns:a16="http://schemas.microsoft.com/office/drawing/2014/main" id="{04C34D45-502E-B3D0-2976-49436C80E13D}"/>
              </a:ext>
            </a:extLst>
          </p:cNvPr>
          <p:cNvSpPr/>
          <p:nvPr/>
        </p:nvSpPr>
        <p:spPr>
          <a:xfrm>
            <a:off x="5656035" y="768351"/>
            <a:ext cx="1008000" cy="71436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156">
            <a:extLst>
              <a:ext uri="{FF2B5EF4-FFF2-40B4-BE49-F238E27FC236}">
                <a16:creationId xmlns:a16="http://schemas.microsoft.com/office/drawing/2014/main" id="{B431EF23-9B3A-2C8F-261F-E581ABF3AA70}"/>
              </a:ext>
            </a:extLst>
          </p:cNvPr>
          <p:cNvSpPr/>
          <p:nvPr/>
        </p:nvSpPr>
        <p:spPr>
          <a:xfrm rot="16200000">
            <a:off x="4731299" y="1477091"/>
            <a:ext cx="1762345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156">
            <a:extLst>
              <a:ext uri="{FF2B5EF4-FFF2-40B4-BE49-F238E27FC236}">
                <a16:creationId xmlns:a16="http://schemas.microsoft.com/office/drawing/2014/main" id="{413F74B4-E8E0-F4B9-49C4-3E61EE048DBC}"/>
              </a:ext>
            </a:extLst>
          </p:cNvPr>
          <p:cNvSpPr/>
          <p:nvPr/>
        </p:nvSpPr>
        <p:spPr>
          <a:xfrm rot="16200000">
            <a:off x="4678010" y="1743947"/>
            <a:ext cx="1980000" cy="45719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156">
            <a:extLst>
              <a:ext uri="{FF2B5EF4-FFF2-40B4-BE49-F238E27FC236}">
                <a16:creationId xmlns:a16="http://schemas.microsoft.com/office/drawing/2014/main" id="{022C3F67-695E-6C0E-8AA3-EB7A72BF1867}"/>
              </a:ext>
            </a:extLst>
          </p:cNvPr>
          <p:cNvSpPr/>
          <p:nvPr/>
        </p:nvSpPr>
        <p:spPr>
          <a:xfrm flipV="1">
            <a:off x="5423807" y="2272384"/>
            <a:ext cx="162000" cy="104935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156">
            <a:extLst>
              <a:ext uri="{FF2B5EF4-FFF2-40B4-BE49-F238E27FC236}">
                <a16:creationId xmlns:a16="http://schemas.microsoft.com/office/drawing/2014/main" id="{7DCCC01B-D921-65F5-47DF-A103132681D1}"/>
              </a:ext>
            </a:extLst>
          </p:cNvPr>
          <p:cNvSpPr/>
          <p:nvPr/>
        </p:nvSpPr>
        <p:spPr>
          <a:xfrm>
            <a:off x="5500114" y="2763735"/>
            <a:ext cx="144000" cy="98307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文本框 412">
            <a:extLst>
              <a:ext uri="{FF2B5EF4-FFF2-40B4-BE49-F238E27FC236}">
                <a16:creationId xmlns:a16="http://schemas.microsoft.com/office/drawing/2014/main" id="{28BA3224-7BB0-6502-E57D-F59C419E530C}"/>
              </a:ext>
            </a:extLst>
          </p:cNvPr>
          <p:cNvSpPr txBox="1"/>
          <p:nvPr/>
        </p:nvSpPr>
        <p:spPr>
          <a:xfrm>
            <a:off x="5932861" y="572499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forward_a</a:t>
            </a:r>
            <a:endParaRPr lang="zh-CN" altLang="en-US" sz="1000" dirty="0"/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CF80AEBB-E537-26D7-D2D8-D501A65AB0D3}"/>
              </a:ext>
            </a:extLst>
          </p:cNvPr>
          <p:cNvSpPr txBox="1"/>
          <p:nvPr/>
        </p:nvSpPr>
        <p:spPr>
          <a:xfrm>
            <a:off x="5925604" y="415071"/>
            <a:ext cx="731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/>
              <a:t>forward_b</a:t>
            </a:r>
            <a:endParaRPr lang="zh-CN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228</Words>
  <Application>Microsoft Office PowerPoint</Application>
  <PresentationFormat>自定义</PresentationFormat>
  <Paragraphs>85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Controller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Controller</dc:title>
  <dc:creator/>
  <cp:lastModifiedBy>lit ever</cp:lastModifiedBy>
  <cp:revision>29</cp:revision>
  <dcterms:created xsi:type="dcterms:W3CDTF">2026-07-14T13:15:00Z</dcterms:created>
  <dcterms:modified xsi:type="dcterms:W3CDTF">2026-07-31T22:03:40Z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2026-07-14T16:00:00Z</vt:filetime>
  </property>
  <property fmtid="{D5CDD505-2E9C-101B-9397-08002B2CF9AE}" pid="3" name="Creator">
    <vt:lpwstr>Acrobat PDFMaker 19 PowerPoint 版</vt:lpwstr>
  </property>
  <property fmtid="{D5CDD505-2E9C-101B-9397-08002B2CF9AE}" pid="4" name="LastSaved">
    <vt:filetime>2026-07-14T16:00:00Z</vt:filetime>
  </property>
  <property fmtid="{D5CDD505-2E9C-101B-9397-08002B2CF9AE}" pid="5" name="KSOProductBuildVer">
    <vt:lpwstr>2052-12.1.0.26375</vt:lpwstr>
  </property>
  <property fmtid="{D5CDD505-2E9C-101B-9397-08002B2CF9AE}" pid="6" name="ICV">
    <vt:lpwstr>9E3971B907F4424FAEDFD140169C6E41_12</vt:lpwstr>
  </property>
</Properties>
</file>