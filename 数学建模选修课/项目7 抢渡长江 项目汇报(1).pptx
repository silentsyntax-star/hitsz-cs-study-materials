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61" r:id="rId5"/>
    <p:sldId id="268" r:id="rId6"/>
    <p:sldId id="262" r:id="rId7"/>
    <p:sldId id="270" r:id="rId8"/>
    <p:sldId id="263" r:id="rId9"/>
    <p:sldId id="264" r:id="rId10"/>
    <p:sldId id="271" r:id="rId11"/>
    <p:sldId id="272" r:id="rId12"/>
    <p:sldId id="273" r:id="rId13"/>
    <p:sldId id="284" r:id="rId14"/>
    <p:sldId id="274" r:id="rId15"/>
    <p:sldId id="278" r:id="rId16"/>
    <p:sldId id="283" r:id="rId17"/>
    <p:sldId id="277" r:id="rId18"/>
    <p:sldId id="276" r:id="rId19"/>
    <p:sldId id="269" r:id="rId20"/>
    <p:sldId id="267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1" d="100"/>
          <a:sy n="61" d="100"/>
        </p:scale>
        <p:origin x="62" y="6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D650-3A15-443A-B878-38CFEB8982A3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223B-53FA-448A-B05D-AD632DCD34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4.xml"/><Relationship Id="rId7" Type="http://schemas.openxmlformats.org/officeDocument/2006/relationships/image" Target="../media/image3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2.png"/><Relationship Id="rId5" Type="http://schemas.openxmlformats.org/officeDocument/2006/relationships/image" Target="../media/image30.jpe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82" y="3602075"/>
            <a:ext cx="6287881" cy="27492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" y="6296878"/>
            <a:ext cx="12191999" cy="561122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348740"/>
            <a:ext cx="12192000" cy="2173605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" y="672215"/>
            <a:ext cx="11174288" cy="0"/>
          </a:xfrm>
          <a:prstGeom prst="line">
            <a:avLst/>
          </a:prstGeom>
          <a:ln w="2540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495300" y="953588"/>
            <a:ext cx="11201400" cy="2069647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抢渡长江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482600" y="3944938"/>
            <a:ext cx="11214100" cy="680402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</a:p>
        </p:txBody>
      </p:sp>
      <p:sp>
        <p:nvSpPr>
          <p:cNvPr id="9" name="副标题 2"/>
          <p:cNvSpPr txBox="1"/>
          <p:nvPr/>
        </p:nvSpPr>
        <p:spPr>
          <a:xfrm>
            <a:off x="495300" y="46334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0" y="25493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高呈歌答辩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10" y="228600"/>
            <a:ext cx="1061070" cy="46393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4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1" name="直接连接符 20"/>
          <p:cNvCxnSpPr/>
          <p:nvPr>
            <p:custDataLst>
              <p:tags r:id="rId1"/>
            </p:custDataLst>
          </p:nvPr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数学模型建立</a:t>
            </a: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4"/>
            </p:custDataLst>
          </p:nvPr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问题解决</a:t>
            </a:r>
          </a:p>
        </p:txBody>
      </p: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7"/>
            </p:custDataLst>
          </p:nvPr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老师提问</a:t>
            </a:r>
          </a:p>
        </p:txBody>
      </p:sp>
      <p:sp>
        <p:nvSpPr>
          <p:cNvPr id="32" name="矩形 31"/>
          <p:cNvSpPr/>
          <p:nvPr>
            <p:custDataLst>
              <p:tags r:id="rId9"/>
            </p:custDataLst>
          </p:nvPr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3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>
                <a:solidFill>
                  <a:schemeClr val="bg1"/>
                </a:solidFill>
              </a:rPr>
              <a:t>2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928698" y="2817485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75018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数学模型建立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老师提问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208220" y="2128975"/>
            <a:ext cx="559044" cy="70929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1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数学模型建立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70" y="1007110"/>
            <a:ext cx="4032885" cy="2843530"/>
          </a:xfrm>
          <a:prstGeom prst="rect">
            <a:avLst/>
          </a:prstGeom>
        </p:spPr>
      </p:pic>
      <p:pic>
        <p:nvPicPr>
          <p:cNvPr id="8" name="图片 7" descr="屏幕截图 2025-07-07 1550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876935"/>
            <a:ext cx="5722620" cy="445198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5510530" y="3479800"/>
            <a:ext cx="584835" cy="762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482600" y="3769995"/>
            <a:ext cx="584835" cy="762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119120" y="3783965"/>
            <a:ext cx="1828165" cy="127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4104005" y="4087495"/>
            <a:ext cx="1651000" cy="1587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904490" y="4984750"/>
            <a:ext cx="1917065" cy="63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18160" y="5316855"/>
            <a:ext cx="206629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993005" y="4998720"/>
            <a:ext cx="1102360" cy="698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图片 18" descr="屏幕截图 2025-07-07 172720"/>
          <p:cNvPicPr>
            <a:picLocks noChangeAspect="1"/>
          </p:cNvPicPr>
          <p:nvPr/>
        </p:nvPicPr>
        <p:blipFill>
          <a:blip r:embed="rId4"/>
          <a:srcRect b="51787"/>
          <a:stretch>
            <a:fillRect/>
          </a:stretch>
        </p:blipFill>
        <p:spPr>
          <a:xfrm>
            <a:off x="6292850" y="4190365"/>
            <a:ext cx="5825490" cy="1722120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 flipV="1">
            <a:off x="8146415" y="3606165"/>
            <a:ext cx="3710940" cy="698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8146415" y="1116330"/>
            <a:ext cx="8255" cy="249682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560945" y="1007110"/>
            <a:ext cx="481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y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1387455" y="3658235"/>
            <a:ext cx="770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560945" y="2137410"/>
            <a:ext cx="725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D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112250" y="1116330"/>
            <a:ext cx="1125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928698" y="4494520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75018" y="3868185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208220" y="2089224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928698" y="2798511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475018" y="2172176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数学模型建立</a:t>
            </a: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700458" y="2108198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6420936" y="281748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967256" y="219115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老师提问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208220" y="3806010"/>
            <a:ext cx="559044" cy="70929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pic>
        <p:nvPicPr>
          <p:cNvPr id="7" name="图片 6" descr="屏幕截图 2025-07-07 1742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017905"/>
            <a:ext cx="3522345" cy="3110230"/>
          </a:xfrm>
          <a:prstGeom prst="rect">
            <a:avLst/>
          </a:prstGeom>
        </p:spPr>
      </p:pic>
      <p:pic>
        <p:nvPicPr>
          <p:cNvPr id="8" name="图片 7" descr="屏幕截图 2025-07-07 172720"/>
          <p:cNvPicPr>
            <a:picLocks noChangeAspect="1"/>
          </p:cNvPicPr>
          <p:nvPr/>
        </p:nvPicPr>
        <p:blipFill>
          <a:blip r:embed="rId4"/>
          <a:srcRect t="50000"/>
          <a:stretch>
            <a:fillRect/>
          </a:stretch>
        </p:blipFill>
        <p:spPr>
          <a:xfrm>
            <a:off x="4533900" y="1017905"/>
            <a:ext cx="6677660" cy="18434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62600" y="3279775"/>
            <a:ext cx="4414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联立方程求解即可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</a:p>
        </p:txBody>
      </p:sp>
      <p:pic>
        <p:nvPicPr>
          <p:cNvPr id="3" name="图片 2" descr="屏幕截图 2025-07-07 152847"/>
          <p:cNvPicPr>
            <a:picLocks noChangeAspect="1"/>
          </p:cNvPicPr>
          <p:nvPr/>
        </p:nvPicPr>
        <p:blipFill>
          <a:blip r:embed="rId3"/>
          <a:srcRect t="32778" r="44739" b="47565"/>
          <a:stretch>
            <a:fillRect/>
          </a:stretch>
        </p:blipFill>
        <p:spPr>
          <a:xfrm>
            <a:off x="5718810" y="848360"/>
            <a:ext cx="3188335" cy="1348105"/>
          </a:xfrm>
          <a:prstGeom prst="rect">
            <a:avLst/>
          </a:prstGeom>
        </p:spPr>
      </p:pic>
      <p:pic>
        <p:nvPicPr>
          <p:cNvPr id="4" name="图片 3" descr="屏幕截图 2025-07-07 152847"/>
          <p:cNvPicPr>
            <a:picLocks noChangeAspect="1"/>
          </p:cNvPicPr>
          <p:nvPr/>
        </p:nvPicPr>
        <p:blipFill>
          <a:blip r:embed="rId3"/>
          <a:srcRect r="44376" b="68056"/>
          <a:stretch>
            <a:fillRect/>
          </a:stretch>
        </p:blipFill>
        <p:spPr>
          <a:xfrm>
            <a:off x="615950" y="848360"/>
            <a:ext cx="3209290" cy="2190750"/>
          </a:xfrm>
          <a:prstGeom prst="rect">
            <a:avLst/>
          </a:prstGeom>
        </p:spPr>
      </p:pic>
      <p:pic>
        <p:nvPicPr>
          <p:cNvPr id="5" name="图片 4" descr="屏幕截图 2025-07-07 152847"/>
          <p:cNvPicPr>
            <a:picLocks noChangeAspect="1"/>
          </p:cNvPicPr>
          <p:nvPr/>
        </p:nvPicPr>
        <p:blipFill>
          <a:blip r:embed="rId3"/>
          <a:srcRect t="53370"/>
          <a:stretch>
            <a:fillRect/>
          </a:stretch>
        </p:blipFill>
        <p:spPr>
          <a:xfrm>
            <a:off x="4820920" y="3242945"/>
            <a:ext cx="5769610" cy="31978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02025" y="1997710"/>
            <a:ext cx="1318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冠军路线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731250" y="1059180"/>
            <a:ext cx="1859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游泳者路线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10155" y="4250690"/>
            <a:ext cx="24218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结果输出与可视化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3" name="图片 2" descr="1结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105" y="1014095"/>
            <a:ext cx="6812280" cy="5171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14135" y="3061970"/>
            <a:ext cx="322199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结果如图</a:t>
            </a:r>
          </a:p>
          <a:p>
            <a:endParaRPr lang="zh-CN" altLang="en-US" sz="3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两人路线一致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pic>
        <p:nvPicPr>
          <p:cNvPr id="3" name="图片 2" descr="屏幕截图 2025-07-07 1755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948690"/>
            <a:ext cx="6192520" cy="1000760"/>
          </a:xfrm>
          <a:prstGeom prst="rect">
            <a:avLst/>
          </a:prstGeom>
        </p:spPr>
      </p:pic>
      <p:pic>
        <p:nvPicPr>
          <p:cNvPr id="4" name="图片 3" descr="屏幕截图 2025-07-07 180710"/>
          <p:cNvPicPr>
            <a:picLocks noChangeAspect="1"/>
          </p:cNvPicPr>
          <p:nvPr/>
        </p:nvPicPr>
        <p:blipFill>
          <a:blip r:embed="rId4"/>
          <a:srcRect t="14469"/>
          <a:stretch>
            <a:fillRect/>
          </a:stretch>
        </p:blipFill>
        <p:spPr>
          <a:xfrm>
            <a:off x="257175" y="2813050"/>
            <a:ext cx="5576570" cy="23202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43495" y="1169035"/>
            <a:ext cx="38366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人游泳速度过小</a:t>
            </a:r>
          </a:p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能够成功到达终点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43495" y="4844415"/>
            <a:ext cx="38366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人游泳速度很大</a:t>
            </a:r>
          </a:p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不能够成功到达终点</a:t>
            </a:r>
          </a:p>
        </p:txBody>
      </p:sp>
      <p:sp>
        <p:nvSpPr>
          <p:cNvPr id="7" name="下箭头 6"/>
          <p:cNvSpPr/>
          <p:nvPr/>
        </p:nvSpPr>
        <p:spPr>
          <a:xfrm>
            <a:off x="9524365" y="1998980"/>
            <a:ext cx="76200" cy="607695"/>
          </a:xfrm>
          <a:prstGeom prst="downArrow">
            <a:avLst/>
          </a:prstGeom>
          <a:ln w="762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下箭头 7"/>
          <p:cNvSpPr/>
          <p:nvPr/>
        </p:nvSpPr>
        <p:spPr>
          <a:xfrm rot="10800000">
            <a:off x="9524365" y="4236720"/>
            <a:ext cx="76200" cy="607695"/>
          </a:xfrm>
          <a:prstGeom prst="downArrow">
            <a:avLst/>
          </a:prstGeom>
          <a:ln w="762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25155" y="3006725"/>
            <a:ext cx="2673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临界点</a:t>
            </a:r>
          </a:p>
          <a:p>
            <a:pPr algn="ctr"/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恰好到达终点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</a:p>
        </p:txBody>
      </p:sp>
      <p:pic>
        <p:nvPicPr>
          <p:cNvPr id="3" name="图片 2" descr="屏幕截图 2025-07-07 152926"/>
          <p:cNvPicPr>
            <a:picLocks noChangeAspect="1"/>
          </p:cNvPicPr>
          <p:nvPr/>
        </p:nvPicPr>
        <p:blipFill>
          <a:blip r:embed="rId3"/>
          <a:srcRect r="5014" b="76148"/>
          <a:stretch>
            <a:fillRect/>
          </a:stretch>
        </p:blipFill>
        <p:spPr>
          <a:xfrm>
            <a:off x="29210" y="1136015"/>
            <a:ext cx="6596380" cy="2226310"/>
          </a:xfrm>
          <a:prstGeom prst="rect">
            <a:avLst/>
          </a:prstGeom>
        </p:spPr>
      </p:pic>
      <p:pic>
        <p:nvPicPr>
          <p:cNvPr id="4" name="图片 3" descr="屏幕截图 2025-07-07 152926"/>
          <p:cNvPicPr>
            <a:picLocks noChangeAspect="1"/>
          </p:cNvPicPr>
          <p:nvPr/>
        </p:nvPicPr>
        <p:blipFill>
          <a:blip r:embed="rId3"/>
          <a:srcRect t="25083" r="2488"/>
          <a:stretch>
            <a:fillRect/>
          </a:stretch>
        </p:blipFill>
        <p:spPr>
          <a:xfrm>
            <a:off x="6720205" y="1136015"/>
            <a:ext cx="4976495" cy="5137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4345" y="4620260"/>
            <a:ext cx="3985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列出方程</a:t>
            </a:r>
          </a:p>
        </p:txBody>
      </p:sp>
      <p:cxnSp>
        <p:nvCxnSpPr>
          <p:cNvPr id="6" name="曲线连接符 5"/>
          <p:cNvCxnSpPr/>
          <p:nvPr/>
        </p:nvCxnSpPr>
        <p:spPr>
          <a:xfrm rot="16200000">
            <a:off x="1770380" y="3310890"/>
            <a:ext cx="1207135" cy="1170305"/>
          </a:xfrm>
          <a:prstGeom prst="curvedConnector3">
            <a:avLst>
              <a:gd name="adj1" fmla="val 49974"/>
            </a:avLst>
          </a:prstGeom>
          <a:ln w="508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577070" y="2901950"/>
            <a:ext cx="2125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结果可视化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3" name="图片 2" descr="2结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861695"/>
            <a:ext cx="6998335" cy="5464810"/>
          </a:xfrm>
          <a:prstGeom prst="rect">
            <a:avLst/>
          </a:prstGeom>
        </p:spPr>
      </p:pic>
      <p:pic>
        <p:nvPicPr>
          <p:cNvPr id="4" name="图片 3" descr="屏幕截图 2025-07-07 1813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570" y="1074420"/>
            <a:ext cx="7080885" cy="157924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8169910" y="1710055"/>
            <a:ext cx="2266315" cy="69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7919085" y="2220595"/>
            <a:ext cx="2569210" cy="88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052945" y="2613025"/>
            <a:ext cx="1760855" cy="6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pic>
        <p:nvPicPr>
          <p:cNvPr id="3" name="图片 2" descr="屏幕截图 2025-07-07 181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837565"/>
            <a:ext cx="5966460" cy="3699510"/>
          </a:xfrm>
          <a:prstGeom prst="rect">
            <a:avLst/>
          </a:prstGeom>
        </p:spPr>
      </p:pic>
      <p:pic>
        <p:nvPicPr>
          <p:cNvPr id="4" name="图片 3" descr="屏幕截图 2025-07-07 1816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690" y="4852670"/>
            <a:ext cx="8960485" cy="1344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490" y="942340"/>
            <a:ext cx="7049770" cy="555307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10" y="942340"/>
            <a:ext cx="3672205" cy="1461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异同对比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4045" y="1090930"/>
            <a:ext cx="61842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3 4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5695" y="1767205"/>
            <a:ext cx="10761980" cy="2245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相同点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均采用非线性优化算法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fmincon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函数，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算法）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均使用常微分方程求解器（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ode45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，龙格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库塔算法）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均有终止条件（事件函数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event_terminate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3330" y="4220210"/>
            <a:ext cx="848042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不同点</a:t>
            </a:r>
          </a:p>
          <a:p>
            <a:endParaRPr lang="zh-CN" altLang="en-US" sz="2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流速模型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(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为分段函数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为连续函数）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水平位移计算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（问题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还需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cumtrapz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对水平速度累计积分）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</a:p>
        </p:txBody>
      </p:sp>
      <p:pic>
        <p:nvPicPr>
          <p:cNvPr id="3" name="图片 2" descr="屏幕截图 2025-07-07 1718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045210"/>
            <a:ext cx="4552315" cy="44240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42895" y="1205230"/>
            <a:ext cx="1148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74520" y="3808730"/>
            <a:ext cx="1859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猜测角度为负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72515" y="4105910"/>
            <a:ext cx="48145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计算渡江时间（需积分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方向位移，直到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y=D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39620" y="4803775"/>
            <a:ext cx="2880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约束到达终点时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x=L</a:t>
            </a:r>
          </a:p>
        </p:txBody>
      </p:sp>
      <p:pic>
        <p:nvPicPr>
          <p:cNvPr id="11" name="图片 10" descr="屏幕截图 2025-07-07 2208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145" y="266065"/>
            <a:ext cx="4119880" cy="5986145"/>
          </a:xfrm>
          <a:prstGeom prst="rect">
            <a:avLst/>
          </a:prstGeom>
        </p:spPr>
      </p:pic>
      <p:pic>
        <p:nvPicPr>
          <p:cNvPr id="12" name="图片 11" descr="屏幕截图 2025-07-07 2208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75" y="4228465"/>
            <a:ext cx="2981325" cy="221107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4" name="文本框 3"/>
          <p:cNvSpPr txBox="1"/>
          <p:nvPr/>
        </p:nvSpPr>
        <p:spPr>
          <a:xfrm>
            <a:off x="8161655" y="1530350"/>
            <a:ext cx="2125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结果可视化</a:t>
            </a:r>
          </a:p>
        </p:txBody>
      </p:sp>
      <p:sp>
        <p:nvSpPr>
          <p:cNvPr id="6" name="图文框 5"/>
          <p:cNvSpPr/>
          <p:nvPr/>
        </p:nvSpPr>
        <p:spPr>
          <a:xfrm>
            <a:off x="5851525" y="5621020"/>
            <a:ext cx="291465" cy="14414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图文框 9"/>
          <p:cNvSpPr/>
          <p:nvPr/>
        </p:nvSpPr>
        <p:spPr>
          <a:xfrm>
            <a:off x="6341745" y="4398010"/>
            <a:ext cx="602615" cy="128270"/>
          </a:xfrm>
          <a:prstGeom prst="fram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图文框 12"/>
          <p:cNvSpPr/>
          <p:nvPr/>
        </p:nvSpPr>
        <p:spPr>
          <a:xfrm>
            <a:off x="5495290" y="3274695"/>
            <a:ext cx="602615" cy="104775"/>
          </a:xfrm>
          <a:prstGeom prst="fram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图文框 13"/>
          <p:cNvSpPr/>
          <p:nvPr/>
        </p:nvSpPr>
        <p:spPr>
          <a:xfrm>
            <a:off x="6570980" y="5020310"/>
            <a:ext cx="657225" cy="128270"/>
          </a:xfrm>
          <a:prstGeom prst="fram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9062085" y="4952365"/>
            <a:ext cx="602615" cy="128270"/>
          </a:xfrm>
          <a:prstGeom prst="fram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图文框 16"/>
          <p:cNvSpPr/>
          <p:nvPr/>
        </p:nvSpPr>
        <p:spPr>
          <a:xfrm>
            <a:off x="5823585" y="3775710"/>
            <a:ext cx="657225" cy="128270"/>
          </a:xfrm>
          <a:prstGeom prst="frame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图文框 17"/>
          <p:cNvSpPr/>
          <p:nvPr/>
        </p:nvSpPr>
        <p:spPr>
          <a:xfrm>
            <a:off x="1725930" y="2669540"/>
            <a:ext cx="602615" cy="12827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图文框 18"/>
          <p:cNvSpPr/>
          <p:nvPr/>
        </p:nvSpPr>
        <p:spPr>
          <a:xfrm>
            <a:off x="1490345" y="2929890"/>
            <a:ext cx="291465" cy="14414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图文框 19"/>
          <p:cNvSpPr/>
          <p:nvPr/>
        </p:nvSpPr>
        <p:spPr>
          <a:xfrm>
            <a:off x="10326370" y="5676900"/>
            <a:ext cx="657225" cy="12827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图文框 20"/>
          <p:cNvSpPr/>
          <p:nvPr/>
        </p:nvSpPr>
        <p:spPr>
          <a:xfrm>
            <a:off x="2758440" y="4379595"/>
            <a:ext cx="794385" cy="19113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图文框 21"/>
          <p:cNvSpPr/>
          <p:nvPr/>
        </p:nvSpPr>
        <p:spPr>
          <a:xfrm>
            <a:off x="2048510" y="4645025"/>
            <a:ext cx="794385" cy="19113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图文框 22"/>
          <p:cNvSpPr/>
          <p:nvPr/>
        </p:nvSpPr>
        <p:spPr>
          <a:xfrm>
            <a:off x="1725930" y="5169535"/>
            <a:ext cx="794385" cy="19113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图文框 23"/>
          <p:cNvSpPr/>
          <p:nvPr/>
        </p:nvSpPr>
        <p:spPr>
          <a:xfrm>
            <a:off x="5851525" y="3380105"/>
            <a:ext cx="718820" cy="14414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截图 2025-07-07 221215"/>
          <p:cNvPicPr>
            <a:picLocks noChangeAspect="1"/>
          </p:cNvPicPr>
          <p:nvPr/>
        </p:nvPicPr>
        <p:blipFill>
          <a:blip r:embed="rId4"/>
          <a:srcRect t="75854" r="18271"/>
          <a:stretch>
            <a:fillRect/>
          </a:stretch>
        </p:blipFill>
        <p:spPr>
          <a:xfrm>
            <a:off x="4623435" y="2112645"/>
            <a:ext cx="3817620" cy="1530985"/>
          </a:xfrm>
          <a:prstGeom prst="rect">
            <a:avLst/>
          </a:prstGeom>
        </p:spPr>
      </p:pic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</a:p>
        </p:txBody>
      </p:sp>
      <p:pic>
        <p:nvPicPr>
          <p:cNvPr id="4" name="图片 3" descr="屏幕截图 2025-07-07 171915"/>
          <p:cNvPicPr>
            <a:picLocks noChangeAspect="1"/>
          </p:cNvPicPr>
          <p:nvPr/>
        </p:nvPicPr>
        <p:blipFill>
          <a:blip r:embed="rId5"/>
          <a:srcRect r="36033" b="77380"/>
          <a:stretch>
            <a:fillRect/>
          </a:stretch>
        </p:blipFill>
        <p:spPr>
          <a:xfrm>
            <a:off x="0" y="751840"/>
            <a:ext cx="3972560" cy="15513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75140" y="1030605"/>
            <a:ext cx="1148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50110" y="815340"/>
            <a:ext cx="22383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连续分段函数（用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. 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实现逐元素运算），更贴近真实水流变化</a:t>
            </a:r>
          </a:p>
        </p:txBody>
      </p:sp>
      <p:pic>
        <p:nvPicPr>
          <p:cNvPr id="11" name="图片 10" descr="屏幕截图 2025-07-07 221215"/>
          <p:cNvPicPr>
            <a:picLocks noChangeAspect="1"/>
          </p:cNvPicPr>
          <p:nvPr/>
        </p:nvPicPr>
        <p:blipFill>
          <a:blip r:embed="rId4"/>
          <a:srcRect t="20421" r="204" b="38718"/>
          <a:stretch>
            <a:fillRect/>
          </a:stretch>
        </p:blipFill>
        <p:spPr>
          <a:xfrm>
            <a:off x="0" y="2547620"/>
            <a:ext cx="4661535" cy="2590800"/>
          </a:xfrm>
          <a:prstGeom prst="rect">
            <a:avLst/>
          </a:prstGeom>
        </p:spPr>
      </p:pic>
      <p:pic>
        <p:nvPicPr>
          <p:cNvPr id="12" name="图片 11" descr="屏幕截图 2025-07-07 221243"/>
          <p:cNvPicPr>
            <a:picLocks noChangeAspect="1"/>
          </p:cNvPicPr>
          <p:nvPr/>
        </p:nvPicPr>
        <p:blipFill>
          <a:blip r:embed="rId6"/>
          <a:srcRect b="58324"/>
          <a:stretch>
            <a:fillRect/>
          </a:stretch>
        </p:blipFill>
        <p:spPr>
          <a:xfrm>
            <a:off x="4623435" y="3675380"/>
            <a:ext cx="4185285" cy="2858135"/>
          </a:xfrm>
          <a:prstGeom prst="rect">
            <a:avLst/>
          </a:prstGeom>
        </p:spPr>
      </p:pic>
      <p:pic>
        <p:nvPicPr>
          <p:cNvPr id="13" name="图片 12" descr="屏幕截图 2025-07-07 221215"/>
          <p:cNvPicPr>
            <a:picLocks noChangeAspect="1"/>
          </p:cNvPicPr>
          <p:nvPr/>
        </p:nvPicPr>
        <p:blipFill>
          <a:blip r:embed="rId4"/>
          <a:srcRect t="61552" r="18271" b="27371"/>
          <a:stretch>
            <a:fillRect/>
          </a:stretch>
        </p:blipFill>
        <p:spPr>
          <a:xfrm>
            <a:off x="4623435" y="1237615"/>
            <a:ext cx="3817620" cy="702310"/>
          </a:xfrm>
          <a:prstGeom prst="rect">
            <a:avLst/>
          </a:prstGeom>
        </p:spPr>
      </p:pic>
      <p:pic>
        <p:nvPicPr>
          <p:cNvPr id="14" name="图片 13" descr="屏幕截图 2025-07-07 221243"/>
          <p:cNvPicPr>
            <a:picLocks noChangeAspect="1"/>
          </p:cNvPicPr>
          <p:nvPr/>
        </p:nvPicPr>
        <p:blipFill>
          <a:blip r:embed="rId6"/>
          <a:srcRect t="43009" r="10454"/>
          <a:stretch>
            <a:fillRect/>
          </a:stretch>
        </p:blipFill>
        <p:spPr>
          <a:xfrm>
            <a:off x="8846820" y="2891790"/>
            <a:ext cx="3241675" cy="36868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73570" y="1909445"/>
            <a:ext cx="2125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结果可视化</a:t>
            </a:r>
          </a:p>
        </p:txBody>
      </p:sp>
      <p:sp>
        <p:nvSpPr>
          <p:cNvPr id="5" name="图文框 4"/>
          <p:cNvSpPr/>
          <p:nvPr/>
        </p:nvSpPr>
        <p:spPr>
          <a:xfrm>
            <a:off x="5251450" y="5314315"/>
            <a:ext cx="301625" cy="14351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图文框 7"/>
          <p:cNvSpPr/>
          <p:nvPr/>
        </p:nvSpPr>
        <p:spPr>
          <a:xfrm>
            <a:off x="5614670" y="6147435"/>
            <a:ext cx="1242060" cy="15303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8"/>
          <p:cNvSpPr/>
          <p:nvPr/>
        </p:nvSpPr>
        <p:spPr>
          <a:xfrm>
            <a:off x="9625965" y="4780280"/>
            <a:ext cx="1242060" cy="153035"/>
          </a:xfrm>
          <a:prstGeom prst="frame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9062085" y="3112770"/>
            <a:ext cx="683260" cy="153035"/>
          </a:xfrm>
          <a:prstGeom prst="frame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图文框 15"/>
          <p:cNvSpPr/>
          <p:nvPr/>
        </p:nvSpPr>
        <p:spPr>
          <a:xfrm>
            <a:off x="9213215" y="5314315"/>
            <a:ext cx="487045" cy="15303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图文框 16"/>
          <p:cNvSpPr/>
          <p:nvPr/>
        </p:nvSpPr>
        <p:spPr>
          <a:xfrm>
            <a:off x="5519420" y="4720590"/>
            <a:ext cx="1242060" cy="153035"/>
          </a:xfrm>
          <a:prstGeom prst="fram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96045" y="5526405"/>
            <a:ext cx="2147570" cy="925195"/>
          </a:xfrm>
          <a:prstGeom prst="rect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1021080" y="2989580"/>
            <a:ext cx="440690" cy="15303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图文框 20"/>
          <p:cNvSpPr/>
          <p:nvPr/>
        </p:nvSpPr>
        <p:spPr>
          <a:xfrm>
            <a:off x="1525905" y="3116580"/>
            <a:ext cx="376555" cy="14922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图文框 21"/>
          <p:cNvSpPr/>
          <p:nvPr/>
        </p:nvSpPr>
        <p:spPr>
          <a:xfrm>
            <a:off x="6472555" y="4985385"/>
            <a:ext cx="807720" cy="15303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26540" y="5427980"/>
            <a:ext cx="10746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问题三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                           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90" y="896620"/>
            <a:ext cx="5922645" cy="4231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35" y="895985"/>
            <a:ext cx="5461000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pic>
        <p:nvPicPr>
          <p:cNvPr id="3" name="图片 2" descr="屏幕截图 2025-07-07 1832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089025"/>
            <a:ext cx="10315575" cy="9620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9760" y="2221230"/>
            <a:ext cx="507365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短文</a:t>
            </a:r>
          </a:p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抢渡长江竞渡策略</a:t>
            </a: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长江竞渡，需巧妙应对水流、科学规划策略，方能顺利抵达终点。</a:t>
            </a: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游泳时，水流会将人向下游推送，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不能盲目垂直江岸游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。要主动调整方向，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适当偏向上游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，平衡水流影响，让路线指向终点。速度慢的人，更得加大上游偏角，抵消水流冲击。</a:t>
            </a: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长江水流并非均匀，近岸、江心、远岸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流速不同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。游至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流速快的江心段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多偏向上游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近岸流速缓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微调方向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。借助模拟与算法，能找到适配不同水流的最佳路径。</a:t>
            </a: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对比赛事，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1934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年终点正对岸，易成功；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2002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年需横向偏移，对方向把控要求高。日常训练要模拟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多样水流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，提升应变力；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实战先观察水流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动态改路线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，让策略助力，在浪涛中划向胜利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 descr="屏幕截图 2025-07-07 1836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3086735"/>
            <a:ext cx="6196965" cy="14039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53100" y="2465070"/>
            <a:ext cx="1377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420813" y="2819390"/>
            <a:ext cx="4680000" cy="0"/>
          </a:xfrm>
          <a:prstGeom prst="line">
            <a:avLst/>
          </a:prstGeom>
          <a:ln w="1905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67133" y="2193055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老师提问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208220" y="3804359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928698" y="4513646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475018" y="3887311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208343" y="2112008"/>
            <a:ext cx="559044" cy="7092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928821" y="2821295"/>
            <a:ext cx="4680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475141" y="2194960"/>
            <a:ext cx="406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数学模型建立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6700335" y="2130880"/>
            <a:ext cx="559044" cy="70929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0" y="4064000"/>
            <a:ext cx="12192000" cy="68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</a:p>
        </p:txBody>
      </p:sp>
      <p:sp>
        <p:nvSpPr>
          <p:cNvPr id="12" name="副标题 2"/>
          <p:cNvSpPr txBox="1"/>
          <p:nvPr>
            <p:custDataLst>
              <p:tags r:id="rId2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1MGJjM2NiMjc3NzdhNjgzMjQ5NTVmZTdkODc0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88763779527557,&quot;left&quot;:73.12582677165355,&quot;top&quot;:165.99984251968505,&quot;width&quot;:800.963622047244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宽屏</PresentationFormat>
  <Paragraphs>111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Arial Black</vt:lpstr>
      <vt:lpstr>Calibri</vt:lpstr>
      <vt:lpstr>Consolas</vt:lpstr>
      <vt:lpstr>Office 主题​​</vt:lpstr>
      <vt:lpstr>项目7 抢渡长江 项目汇报</vt:lpstr>
      <vt:lpstr>目录2</vt:lpstr>
      <vt:lpstr>目录2</vt:lpstr>
      <vt:lpstr>数学模型建立</vt:lpstr>
      <vt:lpstr>目录2</vt:lpstr>
      <vt:lpstr>问题解决</vt:lpstr>
      <vt:lpstr>代码实现</vt:lpstr>
      <vt:lpstr>运行结果</vt:lpstr>
      <vt:lpstr>问题解决</vt:lpstr>
      <vt:lpstr>代码实现</vt:lpstr>
      <vt:lpstr>运行结果</vt:lpstr>
      <vt:lpstr>问题解决</vt:lpstr>
      <vt:lpstr>问题解决</vt:lpstr>
      <vt:lpstr>异同对比</vt:lpstr>
      <vt:lpstr>代码实现</vt:lpstr>
      <vt:lpstr>代码实现</vt:lpstr>
      <vt:lpstr>运行结果</vt:lpstr>
      <vt:lpstr>问题解决</vt:lpstr>
      <vt:lpstr>目录2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点击此处添加汇报标题</dc:title>
  <dc:creator>Administrator</dc:creator>
  <cp:lastModifiedBy>生素G 维</cp:lastModifiedBy>
  <cp:revision>40</cp:revision>
  <dcterms:created xsi:type="dcterms:W3CDTF">2023-12-02T07:13:00Z</dcterms:created>
  <dcterms:modified xsi:type="dcterms:W3CDTF">2026-02-05T12:15:28Z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64BB869012DC4077B16ABC5C7F8B4D41_13</vt:lpwstr>
  </property>
  <property fmtid="{D5CDD505-2E9C-101B-9397-08002B2CF9AE}" pid="3" name="KSOProductBuildVer">
    <vt:lpwstr>2052-12.1.0.21171</vt:lpwstr>
  </property>
</Properties>
</file>