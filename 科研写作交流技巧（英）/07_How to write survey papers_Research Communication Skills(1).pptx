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926" r:id="rId2"/>
    <p:sldId id="927" r:id="rId3"/>
    <p:sldId id="928" r:id="rId4"/>
    <p:sldId id="929" r:id="rId5"/>
    <p:sldId id="930" r:id="rId6"/>
    <p:sldId id="931" r:id="rId7"/>
    <p:sldId id="932" r:id="rId8"/>
    <p:sldId id="933" r:id="rId9"/>
    <p:sldId id="934" r:id="rId10"/>
    <p:sldId id="935" r:id="rId11"/>
    <p:sldId id="936" r:id="rId12"/>
    <p:sldId id="937" r:id="rId13"/>
    <p:sldId id="938" r:id="rId14"/>
    <p:sldId id="939" r:id="rId15"/>
    <p:sldId id="940" r:id="rId16"/>
    <p:sldId id="941" r:id="rId17"/>
    <p:sldId id="942" r:id="rId18"/>
    <p:sldId id="943" r:id="rId19"/>
    <p:sldId id="944" r:id="rId20"/>
    <p:sldId id="945" r:id="rId21"/>
    <p:sldId id="946" r:id="rId22"/>
    <p:sldId id="947" r:id="rId23"/>
    <p:sldId id="948" r:id="rId24"/>
    <p:sldId id="949" r:id="rId25"/>
    <p:sldId id="950" r:id="rId26"/>
    <p:sldId id="971" r:id="rId27"/>
    <p:sldId id="951" r:id="rId28"/>
    <p:sldId id="972" r:id="rId29"/>
    <p:sldId id="953" r:id="rId30"/>
    <p:sldId id="954" r:id="rId31"/>
    <p:sldId id="955" r:id="rId32"/>
    <p:sldId id="956" r:id="rId33"/>
    <p:sldId id="957" r:id="rId34"/>
    <p:sldId id="958" r:id="rId35"/>
    <p:sldId id="959" r:id="rId36"/>
    <p:sldId id="960" r:id="rId37"/>
    <p:sldId id="961" r:id="rId38"/>
    <p:sldId id="962" r:id="rId39"/>
    <p:sldId id="963" r:id="rId40"/>
    <p:sldId id="964" r:id="rId41"/>
    <p:sldId id="965" r:id="rId42"/>
    <p:sldId id="966" r:id="rId43"/>
    <p:sldId id="967" r:id="rId44"/>
    <p:sldId id="968" r:id="rId45"/>
    <p:sldId id="969" r:id="rId46"/>
    <p:sldId id="970" r:id="rId47"/>
  </p:sldIdLst>
  <p:sldSz cx="12192000" cy="6858000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4DDC"/>
    <a:srgbClr val="FAE2F9"/>
    <a:srgbClr val="DF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20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0" y="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79868-BDA9-4441-B20B-68D0617E5C8E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CA833-6E71-4E0E-A695-7044B802CC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3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66FD4-870D-41D4-A76E-DC48774E844B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B433F-8F9F-4754-B27A-D9BD2E9FA4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20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1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8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5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9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4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1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03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8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ieeexplore.ieee.org/document/11145241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journal/14676419" TargetMode="External"/><Relationship Id="rId2" Type="http://schemas.openxmlformats.org/officeDocument/2006/relationships/hyperlink" Target="https://www.acm.org/binaries/content/assets/publications/taps/acm_submission_template.doc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nlinelibrary.wiley.com/doi/epdf/10.1111/1467-8551.00375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Research Communication Skills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to write survey papers</a:t>
            </a:r>
          </a:p>
        </p:txBody>
      </p:sp>
    </p:spTree>
    <p:extLst>
      <p:ext uri="{BB962C8B-B14F-4D97-AF65-F5344CB8AC3E}">
        <p14:creationId xmlns:p14="http://schemas.microsoft.com/office/powerpoint/2010/main" val="2576440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Intended Learning Outcomes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By the end of this lesson you will be able to:</a:t>
            </a:r>
          </a:p>
          <a:p>
            <a:pPr lvl="1"/>
            <a:r>
              <a:rPr lang="en-GB" sz="4000" dirty="0"/>
              <a:t>distinguish between original research and survey papers</a:t>
            </a:r>
          </a:p>
          <a:p>
            <a:pPr lvl="1"/>
            <a:r>
              <a:rPr lang="en-GB" sz="4000" dirty="0"/>
              <a:t>categorize research works into different categories</a:t>
            </a:r>
          </a:p>
          <a:p>
            <a:pPr lvl="1"/>
            <a:r>
              <a:rPr lang="en-GB" sz="4000" dirty="0"/>
              <a:t>write a survey paper</a:t>
            </a: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049340102"/>
      </p:ext>
    </p:extLst>
  </p:cSld>
  <p:clrMapOvr>
    <a:masterClrMapping/>
  </p:clrMapOvr>
  <p:transition advTm="6906"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find survey papers?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learn the structure and content of the surveys by studying existing survey papers</a:t>
            </a:r>
          </a:p>
          <a:p>
            <a:r>
              <a:rPr lang="en-US" dirty="0"/>
              <a:t>Have a look at the journal “ACM Computing Surveys”. </a:t>
            </a:r>
          </a:p>
          <a:p>
            <a:r>
              <a:rPr lang="en-US" dirty="0"/>
              <a:t>This is a journal dedicated to publishing survey papers.</a:t>
            </a:r>
          </a:p>
          <a:p>
            <a:endParaRPr lang="en-US" dirty="0"/>
          </a:p>
          <a:p>
            <a:r>
              <a:rPr lang="en-US" dirty="0"/>
              <a:t>Also other journals publish survey papers</a:t>
            </a:r>
          </a:p>
          <a:p>
            <a:endParaRPr lang="en-US" dirty="0"/>
          </a:p>
          <a:p>
            <a:r>
              <a:rPr lang="en-US" i="1" dirty="0">
                <a:solidFill>
                  <a:srgbClr val="00B050"/>
                </a:solidFill>
              </a:rPr>
              <a:t>Please find one or two surveys most related to your topic/research area </a:t>
            </a:r>
          </a:p>
        </p:txBody>
      </p:sp>
    </p:spTree>
    <p:extLst>
      <p:ext uri="{BB962C8B-B14F-4D97-AF65-F5344CB8AC3E}">
        <p14:creationId xmlns:p14="http://schemas.microsoft.com/office/powerpoint/2010/main" val="2153891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What is a Survey Paper?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3396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A survey paper is…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zh-CN" dirty="0">
              <a:ea typeface="宋体" charset="-122"/>
            </a:endParaRP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5689600" y="6248401"/>
            <a:ext cx="6502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As described by ACM Computing Surveys</a:t>
            </a:r>
          </a:p>
        </p:txBody>
      </p:sp>
    </p:spTree>
    <p:extLst>
      <p:ext uri="{BB962C8B-B14F-4D97-AF65-F5344CB8AC3E}">
        <p14:creationId xmlns:p14="http://schemas.microsoft.com/office/powerpoint/2010/main" val="1668997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A survey paper is…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zh-CN" sz="4000" dirty="0">
                <a:ea typeface="宋体" charset="-122"/>
              </a:rPr>
              <a:t>"a paper that summarizes and organizes recent research results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5689600" y="6248401"/>
            <a:ext cx="6502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As described by ACM Computing Surveys</a:t>
            </a:r>
          </a:p>
        </p:txBody>
      </p:sp>
    </p:spTree>
    <p:extLst>
      <p:ext uri="{BB962C8B-B14F-4D97-AF65-F5344CB8AC3E}">
        <p14:creationId xmlns:p14="http://schemas.microsoft.com/office/powerpoint/2010/main" val="3086245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A survey paper is…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zh-CN" sz="4000" dirty="0">
                <a:ea typeface="宋体" charset="-122"/>
              </a:rPr>
              <a:t>"a paper that summarizes and </a:t>
            </a:r>
            <a:r>
              <a:rPr lang="en-US" altLang="zh-CN" sz="4000" dirty="0">
                <a:solidFill>
                  <a:srgbClr val="FF0000"/>
                </a:solidFill>
                <a:ea typeface="宋体" charset="-122"/>
              </a:rPr>
              <a:t>organizes</a:t>
            </a:r>
            <a:r>
              <a:rPr lang="en-US" altLang="zh-CN" sz="4000" dirty="0">
                <a:ea typeface="宋体" charset="-122"/>
              </a:rPr>
              <a:t> recent research results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5689600" y="6248401"/>
            <a:ext cx="6502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As described by ACM Computing Surveys</a:t>
            </a:r>
          </a:p>
        </p:txBody>
      </p:sp>
    </p:spTree>
    <p:extLst>
      <p:ext uri="{BB962C8B-B14F-4D97-AF65-F5344CB8AC3E}">
        <p14:creationId xmlns:p14="http://schemas.microsoft.com/office/powerpoint/2010/main" val="514806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A survey paper is…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zh-CN" sz="4000" dirty="0">
                <a:ea typeface="宋体" charset="-122"/>
              </a:rPr>
              <a:t>"a paper that summarizes and organizes recent research results </a:t>
            </a:r>
            <a:r>
              <a:rPr lang="en-US" altLang="zh-CN" sz="4000" dirty="0">
                <a:solidFill>
                  <a:srgbClr val="FF0000"/>
                </a:solidFill>
                <a:ea typeface="宋体" charset="-122"/>
              </a:rPr>
              <a:t>in a novel way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5689600" y="6248401"/>
            <a:ext cx="6502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As described by ACM Computing Surveys</a:t>
            </a:r>
          </a:p>
        </p:txBody>
      </p:sp>
    </p:spTree>
    <p:extLst>
      <p:ext uri="{BB962C8B-B14F-4D97-AF65-F5344CB8AC3E}">
        <p14:creationId xmlns:p14="http://schemas.microsoft.com/office/powerpoint/2010/main" val="206336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A survey paper is…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zh-CN" sz="4000" dirty="0">
                <a:ea typeface="宋体" charset="-122"/>
              </a:rPr>
              <a:t>"a paper that summarizes and organizes recent research results in a novel way that integrates and adds understanding to work in the field.  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5689600" y="6248401"/>
            <a:ext cx="6502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As described by ACM Computing Surveys</a:t>
            </a:r>
          </a:p>
        </p:txBody>
      </p:sp>
    </p:spTree>
    <p:extLst>
      <p:ext uri="{BB962C8B-B14F-4D97-AF65-F5344CB8AC3E}">
        <p14:creationId xmlns:p14="http://schemas.microsoft.com/office/powerpoint/2010/main" val="3529313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A survey paper is…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zh-CN" sz="4000" dirty="0">
                <a:ea typeface="宋体" charset="-122"/>
              </a:rPr>
              <a:t>"a paper that summarizes and organizes recent research results in a novel way that integrates and adds understanding to work in the field.  A survey article assumes a general knowledge of the area; 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5689600" y="6248401"/>
            <a:ext cx="6502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As described by ACM Computing Surveys</a:t>
            </a:r>
          </a:p>
        </p:txBody>
      </p:sp>
    </p:spTree>
    <p:extLst>
      <p:ext uri="{BB962C8B-B14F-4D97-AF65-F5344CB8AC3E}">
        <p14:creationId xmlns:p14="http://schemas.microsoft.com/office/powerpoint/2010/main" val="3663332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A survey paper is…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zh-CN" sz="4000" dirty="0">
                <a:ea typeface="宋体" charset="-122"/>
              </a:rPr>
              <a:t>"a paper that summarizes and organizes recent research results in a novel way that integrates and adds understanding to work in the field.  A survey article assumes a general knowledge of the area; it emphasizes the classification of the existing literature, 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5689600" y="6248401"/>
            <a:ext cx="6502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As described by ACM Computing Surveys</a:t>
            </a:r>
          </a:p>
        </p:txBody>
      </p:sp>
    </p:spTree>
    <p:extLst>
      <p:ext uri="{BB962C8B-B14F-4D97-AF65-F5344CB8AC3E}">
        <p14:creationId xmlns:p14="http://schemas.microsoft.com/office/powerpoint/2010/main" val="1470847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A survey paper is…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eaLnBrk="1" hangingPunct="1">
              <a:buFontTx/>
              <a:buNone/>
            </a:pPr>
            <a:r>
              <a:rPr lang="en-US" altLang="zh-CN" sz="4000" dirty="0">
                <a:ea typeface="宋体" charset="-122"/>
              </a:rPr>
              <a:t>"a paper that summarizes and organizes recent research results in a novel way that integrates and adds understanding to work in the field.  A survey article assumes a general knowledge of the area; it emphasizes the classification of the existing literature, developing a perspective on the area, 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5689600" y="6248401"/>
            <a:ext cx="6502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As described by ACM Computing Surveys</a:t>
            </a:r>
          </a:p>
        </p:txBody>
      </p:sp>
    </p:spTree>
    <p:extLst>
      <p:ext uri="{BB962C8B-B14F-4D97-AF65-F5344CB8AC3E}">
        <p14:creationId xmlns:p14="http://schemas.microsoft.com/office/powerpoint/2010/main" val="1495732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A survey paper is…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eaLnBrk="1" hangingPunct="1">
              <a:buFontTx/>
              <a:buNone/>
            </a:pPr>
            <a:r>
              <a:rPr lang="en-US" altLang="zh-CN" sz="4000" dirty="0">
                <a:ea typeface="宋体" charset="-122"/>
              </a:rPr>
              <a:t>"a paper that summarizes and organizes recent research results in a novel way that integrates and adds understanding to work in the field.  A survey article assumes a general knowledge of the area; it emphasizes the classification of the existing literature, developing a perspective on the area, and evaluating trends." 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5689600" y="6248401"/>
            <a:ext cx="6502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As described by ACM Computing Surveys</a:t>
            </a:r>
          </a:p>
        </p:txBody>
      </p:sp>
    </p:spTree>
    <p:extLst>
      <p:ext uri="{BB962C8B-B14F-4D97-AF65-F5344CB8AC3E}">
        <p14:creationId xmlns:p14="http://schemas.microsoft.com/office/powerpoint/2010/main" val="2558331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A survey paper is…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eaLnBrk="1" hangingPunct="1">
              <a:buFontTx/>
              <a:buNone/>
            </a:pPr>
            <a:r>
              <a:rPr lang="en-US" altLang="zh-CN" sz="4000" dirty="0">
                <a:ea typeface="宋体" charset="-122"/>
              </a:rPr>
              <a:t>"a paper that summarizes and organizes recent research results in a novel way that integrates and adds understanding to work in the field.  A survey article assumes a general knowledge of the area; it emphasizes the </a:t>
            </a:r>
            <a:r>
              <a:rPr lang="en-US" altLang="zh-CN" sz="4000" dirty="0">
                <a:solidFill>
                  <a:srgbClr val="FF0000"/>
                </a:solidFill>
                <a:ea typeface="宋体" charset="-122"/>
              </a:rPr>
              <a:t>classification of the existing literature</a:t>
            </a:r>
            <a:r>
              <a:rPr lang="en-US" altLang="zh-CN" sz="4000" dirty="0">
                <a:ea typeface="宋体" charset="-122"/>
              </a:rPr>
              <a:t>, </a:t>
            </a:r>
            <a:r>
              <a:rPr lang="en-US" altLang="zh-CN" sz="4000" dirty="0">
                <a:solidFill>
                  <a:srgbClr val="FF0000"/>
                </a:solidFill>
                <a:ea typeface="宋体" charset="-122"/>
              </a:rPr>
              <a:t>developing a perspective on the area</a:t>
            </a:r>
            <a:r>
              <a:rPr lang="en-US" altLang="zh-CN" sz="4000" dirty="0">
                <a:ea typeface="宋体" charset="-122"/>
              </a:rPr>
              <a:t>, and </a:t>
            </a:r>
            <a:r>
              <a:rPr lang="en-US" altLang="zh-CN" sz="4000" dirty="0">
                <a:solidFill>
                  <a:srgbClr val="FF0000"/>
                </a:solidFill>
                <a:ea typeface="宋体" charset="-122"/>
              </a:rPr>
              <a:t>evaluating trends</a:t>
            </a:r>
            <a:r>
              <a:rPr lang="en-US" altLang="zh-CN" sz="4000" dirty="0">
                <a:ea typeface="宋体" charset="-122"/>
              </a:rPr>
              <a:t>." 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5689600" y="6248401"/>
            <a:ext cx="6502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As described by ACM Computing Surveys</a:t>
            </a:r>
          </a:p>
        </p:txBody>
      </p:sp>
    </p:spTree>
    <p:extLst>
      <p:ext uri="{BB962C8B-B14F-4D97-AF65-F5344CB8AC3E}">
        <p14:creationId xmlns:p14="http://schemas.microsoft.com/office/powerpoint/2010/main" val="521197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survey paper is </a:t>
            </a:r>
            <a:r>
              <a:rPr lang="en-US" dirty="0">
                <a:highlight>
                  <a:srgbClr val="FFFF00"/>
                </a:highlight>
              </a:rPr>
              <a:t>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 summary of existing techniques</a:t>
            </a: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057367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survey paper should have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The </a:t>
            </a:r>
            <a:r>
              <a:rPr lang="en-US" sz="4400" dirty="0">
                <a:solidFill>
                  <a:srgbClr val="FF0000"/>
                </a:solidFill>
              </a:rPr>
              <a:t>collective</a:t>
            </a:r>
            <a:r>
              <a:rPr lang="en-US" sz="4400" dirty="0"/>
              <a:t> analysis of all the existing techniques </a:t>
            </a:r>
          </a:p>
          <a:p>
            <a:r>
              <a:rPr lang="en-US" sz="4400" dirty="0"/>
              <a:t>A </a:t>
            </a:r>
            <a:r>
              <a:rPr lang="en-US" sz="4400" dirty="0">
                <a:solidFill>
                  <a:srgbClr val="FF0000"/>
                </a:solidFill>
              </a:rPr>
              <a:t>storyline</a:t>
            </a:r>
            <a:r>
              <a:rPr lang="en-US" sz="4400" dirty="0"/>
              <a:t> linking different research papers</a:t>
            </a:r>
          </a:p>
          <a:p>
            <a:r>
              <a:rPr lang="en-US" sz="4400" dirty="0"/>
              <a:t>The </a:t>
            </a:r>
            <a:r>
              <a:rPr lang="en-US" sz="4400" dirty="0">
                <a:solidFill>
                  <a:srgbClr val="FF0000"/>
                </a:solidFill>
              </a:rPr>
              <a:t>development</a:t>
            </a:r>
            <a:r>
              <a:rPr lang="en-US" sz="4400" dirty="0"/>
              <a:t> in the specific problem domain</a:t>
            </a: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01416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research vs. survey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5353"/>
            <a:ext cx="10515600" cy="4351338"/>
          </a:xfrm>
        </p:spPr>
        <p:txBody>
          <a:bodyPr>
            <a:normAutofit/>
          </a:bodyPr>
          <a:lstStyle/>
          <a:p>
            <a:r>
              <a:rPr lang="en-GB" sz="3600" dirty="0"/>
              <a:t>Original research papers are a description of your own research. </a:t>
            </a:r>
          </a:p>
          <a:p>
            <a:r>
              <a:rPr lang="en-GB" sz="3600" dirty="0"/>
              <a:t>A survey paper is a service to the scientific community. </a:t>
            </a:r>
          </a:p>
          <a:p>
            <a:r>
              <a:rPr lang="en-GB" sz="3600" dirty="0"/>
              <a:t>You are doing their research for them. Instead of reading 20+ papers to understand what a scientific topic is about, they just need to read your paper.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2095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Goals of a Survey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dirty="0"/>
              <a:t>For you - give you the opportunity to become closely familiar with the current work being done in a particular area</a:t>
            </a:r>
            <a:endParaRPr lang="en-US" altLang="zh-CN" sz="3600" dirty="0">
              <a:ea typeface="宋体" charset="-122"/>
            </a:endParaRPr>
          </a:p>
          <a:p>
            <a:pPr eaLnBrk="1" hangingPunct="1"/>
            <a:r>
              <a:rPr lang="en-US" altLang="zh-CN" sz="3600" dirty="0">
                <a:ea typeface="宋体" charset="-122"/>
              </a:rPr>
              <a:t>For your reader - provide with a view of existing work that is well organized and comprehensive </a:t>
            </a:r>
          </a:p>
          <a:p>
            <a:pPr lvl="1" eaLnBrk="1" hangingPunct="1"/>
            <a:r>
              <a:rPr lang="en-US" altLang="zh-CN" sz="3200" dirty="0">
                <a:solidFill>
                  <a:srgbClr val="FF0000"/>
                </a:solidFill>
                <a:ea typeface="宋体" charset="-122"/>
              </a:rPr>
              <a:t>Not all details </a:t>
            </a:r>
            <a:r>
              <a:rPr lang="en-US" altLang="zh-CN" sz="3200" dirty="0">
                <a:ea typeface="宋体" charset="-122"/>
              </a:rPr>
              <a:t>must be included, which one’s should/shouldn’t?</a:t>
            </a:r>
          </a:p>
          <a:p>
            <a:pPr lvl="1" eaLnBrk="1" hangingPunct="1"/>
            <a:r>
              <a:rPr lang="en-US" altLang="zh-CN" sz="3200" dirty="0">
                <a:ea typeface="宋体" charset="-122"/>
              </a:rPr>
              <a:t>Make sure to cover </a:t>
            </a:r>
            <a:r>
              <a:rPr lang="en-US" altLang="zh-CN" sz="3200" dirty="0">
                <a:solidFill>
                  <a:srgbClr val="FF0000"/>
                </a:solidFill>
                <a:ea typeface="宋体" charset="-122"/>
              </a:rPr>
              <a:t>all relevant</a:t>
            </a:r>
            <a:r>
              <a:rPr lang="en-US" altLang="zh-CN" sz="3200" dirty="0">
                <a:ea typeface="宋体" charset="-122"/>
              </a:rPr>
              <a:t> material completely</a:t>
            </a:r>
          </a:p>
          <a:p>
            <a:pPr lvl="1" eaLnBrk="1" hangingPunct="1"/>
            <a:r>
              <a:rPr lang="en-US" altLang="zh-CN" sz="3200" dirty="0">
                <a:ea typeface="宋体" charset="-122"/>
              </a:rPr>
              <a:t>Logical structure of organization</a:t>
            </a:r>
          </a:p>
          <a:p>
            <a:pPr lvl="1" eaLnBrk="1" hangingPunct="1"/>
            <a:r>
              <a:rPr lang="en-US" altLang="zh-CN" sz="3200" dirty="0">
                <a:ea typeface="宋体" charset="-122"/>
              </a:rPr>
              <a:t>State-of-the-art view</a:t>
            </a:r>
          </a:p>
        </p:txBody>
      </p:sp>
    </p:spTree>
    <p:extLst>
      <p:ext uri="{BB962C8B-B14F-4D97-AF65-F5344CB8AC3E}">
        <p14:creationId xmlns:p14="http://schemas.microsoft.com/office/powerpoint/2010/main" val="261825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writing a survey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pick representative papers from </a:t>
            </a:r>
            <a:r>
              <a:rPr lang="en-GB" sz="4000" dirty="0"/>
              <a:t>within the research area and summarize them concisely</a:t>
            </a:r>
          </a:p>
          <a:p>
            <a:r>
              <a:rPr lang="en-GB" sz="4000" dirty="0"/>
              <a:t>ensure that your survey paper </a:t>
            </a:r>
            <a:r>
              <a:rPr lang="en-US" sz="4000" dirty="0"/>
              <a:t>is easily understandable</a:t>
            </a:r>
          </a:p>
        </p:txBody>
      </p:sp>
    </p:spTree>
    <p:extLst>
      <p:ext uri="{BB962C8B-B14F-4D97-AF65-F5344CB8AC3E}">
        <p14:creationId xmlns:p14="http://schemas.microsoft.com/office/powerpoint/2010/main" val="4254564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Pick representative papers from </a:t>
            </a:r>
            <a:r>
              <a:rPr lang="en-GB" dirty="0"/>
              <a:t>within the research area and summarize them concisely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880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pick articles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There may be hundreds or thousands of papers available and you have only a few pages to capture the key work in the field. </a:t>
            </a:r>
          </a:p>
          <a:p>
            <a:r>
              <a:rPr lang="en-GB" sz="3600" dirty="0"/>
              <a:t>You will need to </a:t>
            </a:r>
            <a:r>
              <a:rPr lang="en-GB" sz="3600" dirty="0">
                <a:highlight>
                  <a:srgbClr val="FFFF00"/>
                </a:highlight>
              </a:rPr>
              <a:t>read the abstracts and conclusions for a relatively large number of papers </a:t>
            </a:r>
            <a:r>
              <a:rPr lang="en-GB" sz="3600" dirty="0"/>
              <a:t>and select a subset that covers your selected topic area for detailed reading and presentation in your survey. </a:t>
            </a:r>
          </a:p>
        </p:txBody>
      </p:sp>
    </p:spTree>
    <p:extLst>
      <p:ext uri="{BB962C8B-B14F-4D97-AF65-F5344CB8AC3E}">
        <p14:creationId xmlns:p14="http://schemas.microsoft.com/office/powerpoint/2010/main" val="3383260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pick articles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3600" dirty="0"/>
              <a:t>Which subjects should you write a survey about: </a:t>
            </a:r>
          </a:p>
          <a:p>
            <a:pPr lvl="1"/>
            <a:r>
              <a:rPr lang="en-GB" sz="3200" dirty="0"/>
              <a:t>recent advances on one of the open and interesting topics related to your research area</a:t>
            </a:r>
          </a:p>
          <a:p>
            <a:pPr lvl="1"/>
            <a:r>
              <a:rPr lang="en-GB" sz="3200" dirty="0"/>
              <a:t>fields which are on the verge of maturity, but do not yet qualify for a book</a:t>
            </a:r>
          </a:p>
          <a:p>
            <a:r>
              <a:rPr lang="en-GB" sz="3600" dirty="0"/>
              <a:t>Which subjects you should </a:t>
            </a:r>
            <a:r>
              <a:rPr lang="en-GB" sz="3600" dirty="0">
                <a:highlight>
                  <a:srgbClr val="FFFF00"/>
                </a:highlight>
              </a:rPr>
              <a:t>NOT</a:t>
            </a:r>
            <a:r>
              <a:rPr lang="en-GB" sz="3600" dirty="0"/>
              <a:t> write a survey about: </a:t>
            </a:r>
          </a:p>
          <a:p>
            <a:pPr lvl="1"/>
            <a:r>
              <a:rPr lang="en-GB" sz="3200" dirty="0"/>
              <a:t>If there are less than 10 scientific papers in a field</a:t>
            </a:r>
          </a:p>
          <a:p>
            <a:pPr lvl="1"/>
            <a:r>
              <a:rPr lang="en-GB" sz="3200" dirty="0"/>
              <a:t>If all the 10 are from the same author</a:t>
            </a:r>
          </a:p>
          <a:p>
            <a:pPr lvl="1"/>
            <a:r>
              <a:rPr lang="en-GB" sz="3200" dirty="0"/>
              <a:t>If there is already an exhaustive, recent survey</a:t>
            </a:r>
          </a:p>
          <a:p>
            <a:r>
              <a:rPr lang="en-GB" sz="3600" i="1" dirty="0">
                <a:solidFill>
                  <a:srgbClr val="00B050"/>
                </a:solidFill>
              </a:rPr>
              <a:t>Check again your proposed group’s topic – does it qualify as a good candidate to write a research survey about? If not – keep thinking and coming up with new ideas.</a:t>
            </a:r>
            <a:endParaRPr lang="en-US" sz="3600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38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dirty="0">
                <a:ea typeface="宋体" charset="-122"/>
              </a:rPr>
              <a:t>How to pick articles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60706"/>
            <a:ext cx="10972800" cy="4944894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GB" altLang="zh-CN" sz="4000" dirty="0">
                <a:ea typeface="宋体" charset="-122"/>
              </a:rPr>
              <a:t>When picking papers to read - try to:</a:t>
            </a:r>
            <a:endParaRPr lang="en-US" altLang="zh-CN" sz="4000" dirty="0">
              <a:ea typeface="宋体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GB" altLang="zh-CN" sz="3600" dirty="0">
                <a:ea typeface="宋体" charset="-122"/>
              </a:rPr>
              <a:t>Pick a recent survey of the field so you can quickly gain an overview, </a:t>
            </a:r>
          </a:p>
          <a:p>
            <a:pPr lvl="1">
              <a:lnSpc>
                <a:spcPct val="80000"/>
              </a:lnSpc>
            </a:pPr>
            <a:r>
              <a:rPr lang="en-GB" altLang="zh-CN" sz="3600" dirty="0">
                <a:ea typeface="宋体" charset="-122"/>
              </a:rPr>
              <a:t>Pick a paper that you can understand easier – book chapters often give easier understandable materials and lengthy explanation that may give you a head start, although they may not be as up-to-date as papers</a:t>
            </a:r>
          </a:p>
        </p:txBody>
      </p:sp>
    </p:spTree>
    <p:extLst>
      <p:ext uri="{BB962C8B-B14F-4D97-AF65-F5344CB8AC3E}">
        <p14:creationId xmlns:p14="http://schemas.microsoft.com/office/powerpoint/2010/main" val="1936516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dirty="0">
                <a:ea typeface="宋体" charset="-122"/>
              </a:rPr>
              <a:t>How to pick articles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09344"/>
            <a:ext cx="10972800" cy="4896255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GB" altLang="zh-CN" sz="4000" dirty="0">
                <a:ea typeface="宋体" charset="-122"/>
              </a:rPr>
              <a:t>When picking papers to read - try to:</a:t>
            </a:r>
            <a:endParaRPr lang="en-US" altLang="zh-CN" sz="4000" dirty="0">
              <a:ea typeface="宋体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GB" altLang="zh-CN" sz="3600" dirty="0">
                <a:ea typeface="宋体" charset="-122"/>
              </a:rPr>
              <a:t>Pick papers that are </a:t>
            </a:r>
            <a:r>
              <a:rPr lang="en-GB" altLang="zh-CN" sz="3600" dirty="0">
                <a:solidFill>
                  <a:srgbClr val="FF0000"/>
                </a:solidFill>
                <a:ea typeface="宋体" charset="-122"/>
              </a:rPr>
              <a:t>related to each other in some ways and/or that are in the same field </a:t>
            </a:r>
            <a:r>
              <a:rPr lang="en-GB" altLang="zh-CN" sz="3600" dirty="0">
                <a:ea typeface="宋体" charset="-122"/>
              </a:rPr>
              <a:t>so that you can write a meaningful survey out of them,</a:t>
            </a:r>
          </a:p>
          <a:p>
            <a:pPr lvl="1"/>
            <a:r>
              <a:rPr lang="en-US" altLang="zh-CN" sz="3600" dirty="0">
                <a:ea typeface="宋体" charset="-122"/>
              </a:rPr>
              <a:t>Read </a:t>
            </a:r>
            <a:r>
              <a:rPr lang="en-US" altLang="zh-CN" sz="3600" dirty="0">
                <a:highlight>
                  <a:srgbClr val="FFFF00"/>
                </a:highlight>
                <a:ea typeface="宋体" charset="-122"/>
              </a:rPr>
              <a:t>the abstracts and conclusions </a:t>
            </a:r>
            <a:r>
              <a:rPr lang="en-US" altLang="zh-CN" sz="3600" dirty="0">
                <a:ea typeface="宋体" charset="-122"/>
              </a:rPr>
              <a:t>for a relatively large number of papers and select a subset that covers your selected topic area</a:t>
            </a:r>
            <a:endParaRPr lang="en-GB" altLang="zh-CN" sz="3600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8520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dirty="0">
                <a:ea typeface="宋体" charset="-122"/>
              </a:rPr>
              <a:t>How to pick articles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09344"/>
            <a:ext cx="10972800" cy="4896255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GB" altLang="zh-CN" sz="4000" dirty="0">
                <a:ea typeface="宋体" charset="-122"/>
              </a:rPr>
              <a:t>When picking papers to read - try to:</a:t>
            </a:r>
            <a:endParaRPr lang="en-US" altLang="zh-CN" sz="4000" dirty="0">
              <a:ea typeface="宋体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GB" altLang="zh-CN" sz="3600" dirty="0">
                <a:ea typeface="宋体" charset="-122"/>
              </a:rPr>
              <a:t>Favour papers from well-known journals and conferences, 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zh-CN" sz="3600" dirty="0">
                <a:ea typeface="宋体" charset="-122"/>
              </a:rPr>
              <a:t>Favour “first” or “foundational” papers in the field (as indicated in other people’s survey paper)</a:t>
            </a:r>
          </a:p>
          <a:p>
            <a:pPr lvl="1">
              <a:lnSpc>
                <a:spcPct val="80000"/>
              </a:lnSpc>
            </a:pPr>
            <a:r>
              <a:rPr lang="en-GB" altLang="zh-CN" sz="3600" dirty="0">
                <a:ea typeface="宋体" charset="-122"/>
              </a:rPr>
              <a:t>Favour more recent papers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zh-CN" sz="3600" dirty="0">
                <a:ea typeface="宋体" charset="-122"/>
              </a:rPr>
              <a:t>Pick heavily cited papers</a:t>
            </a:r>
          </a:p>
          <a:p>
            <a:pPr lvl="1" eaLnBrk="1" hangingPunct="1">
              <a:lnSpc>
                <a:spcPct val="80000"/>
              </a:lnSpc>
            </a:pPr>
            <a:endParaRPr lang="en-GB" altLang="zh-CN" sz="3600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987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CD2D9-4A21-416D-8312-B431FA8A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Eight questions (or quality criteria) to evaluate the quality of primary studies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8C170-E9EC-4FEC-8936-616BF055D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25047F-F5FC-406A-A4BE-7F5F54A9F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59" y="2340263"/>
            <a:ext cx="11356767" cy="301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889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dirty="0">
                <a:ea typeface="宋体" charset="-122"/>
              </a:rPr>
              <a:t>How to pick articles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82884"/>
            <a:ext cx="10972800" cy="5022715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GB" altLang="zh-CN" sz="4000" dirty="0">
                <a:ea typeface="宋体" charset="-122"/>
              </a:rPr>
              <a:t>When picking papers to read - try to:</a:t>
            </a:r>
            <a:endParaRPr lang="en-US" altLang="zh-CN" sz="4000" dirty="0">
              <a:ea typeface="宋体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GB" altLang="zh-CN" sz="3600" dirty="0">
                <a:ea typeface="宋体" charset="-122"/>
              </a:rPr>
              <a:t>Once you have identified an interesting technology to report upon, follow developments in that strand of technology (e.g. time-wise and technology-wise developments). 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3600" dirty="0">
                <a:ea typeface="宋体" charset="-122"/>
              </a:rPr>
              <a:t>Find relationships with respect to each other and to your topic area (classification scheme/categorization)</a:t>
            </a:r>
            <a:endParaRPr lang="en-US" altLang="zh-CN" sz="2800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0503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D4E86-01F1-4480-9F99-272316DEB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07697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PRISMA flow for primary studies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A4461-216E-4831-91B3-3858A5D87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2963"/>
            <a:ext cx="4905519" cy="3034000"/>
          </a:xfrm>
        </p:spPr>
        <p:txBody>
          <a:bodyPr/>
          <a:lstStyle/>
          <a:p>
            <a:r>
              <a:rPr lang="en-GB" dirty="0">
                <a:hlinkClick r:id="rId2"/>
              </a:rPr>
              <a:t>https://ieeexplore.ieee.org/document/11145241</a:t>
            </a:r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EA0E6D-1B4F-44FF-8F14-4A697DD48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873" y="0"/>
            <a:ext cx="60802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084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Ensure that your survey paper </a:t>
            </a:r>
            <a:r>
              <a:rPr lang="en-US" dirty="0"/>
              <a:t>is easily understandable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308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35353"/>
            <a:ext cx="10515600" cy="4351338"/>
          </a:xfrm>
        </p:spPr>
        <p:txBody>
          <a:bodyPr>
            <a:normAutofit/>
          </a:bodyPr>
          <a:lstStyle/>
          <a:p>
            <a:r>
              <a:rPr lang="en-GB" sz="3200" dirty="0"/>
              <a:t>Allocate sufficient time for the reading of the papers not just for the writing of your survey</a:t>
            </a:r>
          </a:p>
          <a:p>
            <a:pPr lvl="1"/>
            <a:r>
              <a:rPr lang="en-GB" sz="2800" dirty="0"/>
              <a:t>Make sure that you, the writer, understand the papers you are surveying. </a:t>
            </a:r>
          </a:p>
          <a:p>
            <a:r>
              <a:rPr lang="en-GB" sz="3600" dirty="0"/>
              <a:t>Adopt easy to understand article structure - define/explain all terms used and present information in a logical order. The use of diagrams with in-text explanations is very important.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801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questions you might ask yourself when reading papers and categorizing them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400" dirty="0"/>
              <a:t>which one of the 3-4 big research directions they tell?</a:t>
            </a:r>
          </a:p>
          <a:p>
            <a:r>
              <a:rPr lang="en-GB" sz="2400" dirty="0"/>
              <a:t>what approaches/mathematical techniques /algorithms etc they rely on?</a:t>
            </a:r>
            <a:endParaRPr lang="en-US" sz="2400" dirty="0"/>
          </a:p>
          <a:p>
            <a:r>
              <a:rPr lang="en-GB" sz="2400" dirty="0"/>
              <a:t>is this a theory or application paper?</a:t>
            </a:r>
          </a:p>
          <a:p>
            <a:r>
              <a:rPr lang="en-GB" sz="2400" dirty="0"/>
              <a:t>is it the continuation of another work? is it an improvement on another work? </a:t>
            </a:r>
          </a:p>
          <a:p>
            <a:r>
              <a:rPr lang="en-GB" sz="2400" dirty="0"/>
              <a:t>do they use theoretical proofs? simulation? hardware </a:t>
            </a:r>
            <a:r>
              <a:rPr lang="en-GB" sz="2400" dirty="0" err="1"/>
              <a:t>testbed</a:t>
            </a:r>
            <a:r>
              <a:rPr lang="en-GB" sz="2400" dirty="0"/>
              <a:t>? Real </a:t>
            </a:r>
            <a:r>
              <a:rPr lang="en-US" sz="2400" dirty="0"/>
              <a:t>life deployment?</a:t>
            </a:r>
          </a:p>
          <a:p>
            <a:r>
              <a:rPr lang="en-GB" sz="2400" dirty="0"/>
              <a:t>which other technology they compare themselves with? In which way are they better? Note: all the papers you will encounter are at least in some ways better than others. You need to identify the authors claim; higher performance (under certain assumptions)? higher robustness? </a:t>
            </a:r>
            <a:r>
              <a:rPr lang="en-US" sz="2400" dirty="0"/>
              <a:t>lower computational complexity?</a:t>
            </a:r>
          </a:p>
          <a:p>
            <a:r>
              <a:rPr lang="en-US" sz="2400" dirty="0"/>
              <a:t>…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528553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Article Structure 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3600" dirty="0">
                <a:ea typeface="宋体" charset="-122"/>
              </a:rPr>
              <a:t>It should not be just a series of paper reviews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3600" dirty="0">
                <a:ea typeface="宋体" charset="-122"/>
              </a:rPr>
              <a:t>A typical structure of a paper includes: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3200" dirty="0">
                <a:ea typeface="宋体" charset="-122"/>
              </a:rPr>
              <a:t>Title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3200" dirty="0">
                <a:ea typeface="宋体" charset="-122"/>
              </a:rPr>
              <a:t>Abstract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3200" dirty="0">
                <a:ea typeface="宋体" charset="-122"/>
              </a:rPr>
              <a:t>Introduction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3200" dirty="0">
                <a:ea typeface="宋体" charset="-122"/>
              </a:rPr>
              <a:t>Body of paper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3200" dirty="0">
                <a:ea typeface="宋体" charset="-122"/>
              </a:rPr>
              <a:t>Conclusion/Future Work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3200" dirty="0">
                <a:ea typeface="宋体" charset="-122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8891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Article Structure – Introduction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CN" dirty="0">
                <a:ea typeface="宋体" charset="-122"/>
              </a:rPr>
              <a:t>Importance and significance of the topic – </a:t>
            </a:r>
          </a:p>
          <a:p>
            <a:pPr lvl="1"/>
            <a:r>
              <a:rPr lang="en-GB" dirty="0"/>
              <a:t>Why the field - and the specific problem - matters in a larger context - establishing the motive for the survey paper – research challenges</a:t>
            </a:r>
            <a:endParaRPr lang="en-US" altLang="zh-CN" dirty="0">
              <a:ea typeface="宋体" charset="-122"/>
            </a:endParaRPr>
          </a:p>
          <a:p>
            <a:r>
              <a:rPr lang="en-US" altLang="zh-CN" dirty="0">
                <a:ea typeface="宋体" charset="-122"/>
              </a:rPr>
              <a:t>Discuss the background and target audience</a:t>
            </a:r>
          </a:p>
          <a:p>
            <a:r>
              <a:rPr lang="en-US" altLang="zh-CN" dirty="0">
                <a:ea typeface="宋体" charset="-122"/>
              </a:rPr>
              <a:t>Summarize the surveyed research area and explain why the surveyed area has been studied</a:t>
            </a:r>
          </a:p>
          <a:p>
            <a:pPr lvl="1"/>
            <a:r>
              <a:rPr lang="en-GB" dirty="0"/>
              <a:t>Define the field and the scope of the paper</a:t>
            </a:r>
          </a:p>
          <a:p>
            <a:pPr lvl="2"/>
            <a:r>
              <a:rPr lang="en-US" dirty="0"/>
              <a:t>Define key terms</a:t>
            </a:r>
            <a:endParaRPr lang="en-US" altLang="zh-CN" dirty="0">
              <a:ea typeface="宋体" charset="-122"/>
            </a:endParaRPr>
          </a:p>
          <a:p>
            <a:r>
              <a:rPr lang="en-US" altLang="zh-CN" dirty="0">
                <a:highlight>
                  <a:srgbClr val="FFFF00"/>
                </a:highlight>
                <a:ea typeface="宋体" charset="-122"/>
              </a:rPr>
              <a:t>Summarize the classification scheme </a:t>
            </a:r>
            <a:r>
              <a:rPr lang="en-US" altLang="zh-CN" dirty="0">
                <a:ea typeface="宋体" charset="-122"/>
              </a:rPr>
              <a:t>you used to do the survey</a:t>
            </a:r>
          </a:p>
          <a:p>
            <a:r>
              <a:rPr lang="en-US" altLang="zh-CN" dirty="0">
                <a:ea typeface="宋体" charset="-122"/>
              </a:rPr>
              <a:t>Summarize the surveyed techniques with the above classification scheme</a:t>
            </a:r>
          </a:p>
        </p:txBody>
      </p:sp>
    </p:spTree>
    <p:extLst>
      <p:ext uri="{BB962C8B-B14F-4D97-AF65-F5344CB8AC3E}">
        <p14:creationId xmlns:p14="http://schemas.microsoft.com/office/powerpoint/2010/main" val="117044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- terminology and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 each research domain, the researchers use some common terminology to describe important concepts</a:t>
            </a:r>
          </a:p>
          <a:p>
            <a:r>
              <a:rPr lang="en-GB" dirty="0"/>
              <a:t>Some researchers however, invent specific new terms for the same </a:t>
            </a:r>
            <a:r>
              <a:rPr lang="en-US" dirty="0"/>
              <a:t>concept</a:t>
            </a:r>
          </a:p>
          <a:p>
            <a:r>
              <a:rPr lang="en-GB" dirty="0"/>
              <a:t>In your notebook – while reading the papers</a:t>
            </a:r>
          </a:p>
          <a:p>
            <a:pPr lvl="1"/>
            <a:r>
              <a:rPr lang="en-GB" dirty="0"/>
              <a:t>clarify these things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start by keeping a note of the various terms while you are reading papers</a:t>
            </a:r>
          </a:p>
          <a:p>
            <a:r>
              <a:rPr lang="en-GB" dirty="0"/>
              <a:t>In the Introduction section – while writing your paper</a:t>
            </a:r>
          </a:p>
          <a:p>
            <a:pPr lvl="1"/>
            <a:r>
              <a:rPr lang="en-GB" dirty="0"/>
              <a:t>Introduce the terminology of the field, describe what the various terms mean</a:t>
            </a:r>
          </a:p>
          <a:p>
            <a:pPr lvl="1"/>
            <a:r>
              <a:rPr lang="en-GB" dirty="0"/>
              <a:t>Also remember to map the terminological variations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288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– research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description of the various research challenges of the field - the hardest to write, because it is the part which is creative</a:t>
            </a:r>
          </a:p>
          <a:p>
            <a:r>
              <a:rPr lang="en-GB" dirty="0">
                <a:highlight>
                  <a:srgbClr val="FFFF00"/>
                </a:highlight>
              </a:rPr>
              <a:t>Start by noting out the various objective descriptions from various papers</a:t>
            </a:r>
          </a:p>
          <a:p>
            <a:r>
              <a:rPr lang="en-GB" dirty="0"/>
              <a:t>But it is not enough to just put them together: you need to rewrite them in your own words. </a:t>
            </a:r>
          </a:p>
          <a:p>
            <a:pPr lvl="1"/>
            <a:r>
              <a:rPr lang="en-GB" dirty="0"/>
              <a:t>Copyright/plagiarism</a:t>
            </a:r>
          </a:p>
          <a:p>
            <a:pPr lvl="1"/>
            <a:r>
              <a:rPr lang="en-GB" dirty="0"/>
              <a:t>you need to write it in a way that covers all the papers not just </a:t>
            </a:r>
            <a:r>
              <a:rPr lang="en-US" dirty="0"/>
              <a:t>one</a:t>
            </a:r>
          </a:p>
          <a:p>
            <a:r>
              <a:rPr lang="en-GB" dirty="0"/>
              <a:t>It is helpful to identify 3-4 main research directions, </a:t>
            </a:r>
            <a:r>
              <a:rPr lang="en-GB" dirty="0">
                <a:highlight>
                  <a:srgbClr val="FFFF00"/>
                </a:highlight>
              </a:rPr>
              <a:t>around which you will </a:t>
            </a:r>
            <a:r>
              <a:rPr lang="en-US" dirty="0">
                <a:highlight>
                  <a:srgbClr val="FFFF00"/>
                </a:highlight>
              </a:rPr>
              <a:t>organize your papers</a:t>
            </a:r>
          </a:p>
        </p:txBody>
      </p:sp>
    </p:spTree>
    <p:extLst>
      <p:ext uri="{BB962C8B-B14F-4D97-AF65-F5344CB8AC3E}">
        <p14:creationId xmlns:p14="http://schemas.microsoft.com/office/powerpoint/2010/main" val="3686985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charset="-122"/>
              </a:rPr>
              <a:t>Article Structure - Survey details/Body of paper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3600" dirty="0">
                <a:ea typeface="宋体" charset="-122"/>
              </a:rPr>
              <a:t>Present the surveyed techniques using the </a:t>
            </a:r>
            <a:r>
              <a:rPr lang="en-US" altLang="zh-CN" sz="3600" dirty="0">
                <a:highlight>
                  <a:srgbClr val="FFFF00"/>
                </a:highlight>
                <a:ea typeface="宋体" charset="-122"/>
              </a:rPr>
              <a:t>classification scheme </a:t>
            </a:r>
            <a:r>
              <a:rPr lang="en-US" altLang="zh-CN" sz="3600" dirty="0">
                <a:ea typeface="宋体" charset="-122"/>
              </a:rPr>
              <a:t>in detail</a:t>
            </a:r>
          </a:p>
          <a:p>
            <a:r>
              <a:rPr lang="en-US" altLang="zh-CN" sz="3600" dirty="0">
                <a:ea typeface="宋体" charset="-122"/>
              </a:rPr>
              <a:t>Identify the trends in the surveyed area. Give evidences for your decision</a:t>
            </a:r>
          </a:p>
          <a:p>
            <a:r>
              <a:rPr lang="en-US" altLang="zh-CN" sz="3600" dirty="0">
                <a:ea typeface="宋体" charset="-122"/>
              </a:rPr>
              <a:t>Identify some leading research/products/companies/web-sites</a:t>
            </a:r>
          </a:p>
          <a:p>
            <a:r>
              <a:rPr lang="en-US" altLang="zh-CN" sz="3600" dirty="0">
                <a:ea typeface="宋体" charset="-122"/>
              </a:rPr>
              <a:t>Identify the unresolved problems/difficulties, and future research issues</a:t>
            </a:r>
          </a:p>
        </p:txBody>
      </p:sp>
    </p:spTree>
    <p:extLst>
      <p:ext uri="{BB962C8B-B14F-4D97-AF65-F5344CB8AC3E}">
        <p14:creationId xmlns:p14="http://schemas.microsoft.com/office/powerpoint/2010/main" val="276764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Article Structure - Survey details/Body of paper - tips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3200" dirty="0"/>
              <a:t>Logical order for moving from one method to another</a:t>
            </a:r>
          </a:p>
          <a:p>
            <a:r>
              <a:rPr lang="en-GB" sz="3200" dirty="0"/>
              <a:t>Each approach defined clearly at the start of each section</a:t>
            </a:r>
          </a:p>
          <a:p>
            <a:r>
              <a:rPr lang="en-GB" sz="3200" dirty="0"/>
              <a:t>Shares motivation for each method</a:t>
            </a:r>
          </a:p>
          <a:p>
            <a:r>
              <a:rPr lang="en-GB" sz="3200" dirty="0"/>
              <a:t>Give a high-level overview of each approach, then specific approaches</a:t>
            </a:r>
          </a:p>
          <a:p>
            <a:r>
              <a:rPr lang="en-GB" sz="3200" dirty="0"/>
              <a:t>Discuss how the approach or technique evolves over time</a:t>
            </a:r>
          </a:p>
          <a:p>
            <a:r>
              <a:rPr lang="en-GB" sz="3200" dirty="0"/>
              <a:t>How the approach is applied</a:t>
            </a:r>
          </a:p>
          <a:p>
            <a:r>
              <a:rPr lang="en-GB" sz="3200" dirty="0"/>
              <a:t>Note specific areas of improvement</a:t>
            </a:r>
          </a:p>
          <a:p>
            <a:r>
              <a:rPr lang="en-GB" sz="3200" dirty="0"/>
              <a:t>Usually is at least one method is visualized in a figure</a:t>
            </a:r>
          </a:p>
        </p:txBody>
      </p:sp>
    </p:spTree>
    <p:extLst>
      <p:ext uri="{BB962C8B-B14F-4D97-AF65-F5344CB8AC3E}">
        <p14:creationId xmlns:p14="http://schemas.microsoft.com/office/powerpoint/2010/main" val="350738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Article Structure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4000" dirty="0">
                <a:ea typeface="宋体" charset="-122"/>
              </a:rPr>
              <a:t>Conclusions/Future work</a:t>
            </a:r>
          </a:p>
          <a:p>
            <a:pPr lvl="1" eaLnBrk="1" hangingPunct="1"/>
            <a:r>
              <a:rPr lang="en-US" altLang="zh-CN" sz="3600" dirty="0">
                <a:ea typeface="宋体" charset="-122"/>
              </a:rPr>
              <a:t>Summarize the conclusions of your survey</a:t>
            </a:r>
          </a:p>
          <a:p>
            <a:pPr lvl="1"/>
            <a:r>
              <a:rPr lang="en-GB" sz="3600" dirty="0"/>
              <a:t>Identify emerging areas and promising methods for future research</a:t>
            </a:r>
            <a:endParaRPr lang="en-US" altLang="zh-CN" sz="3600" dirty="0">
              <a:ea typeface="宋体" charset="-122"/>
            </a:endParaRPr>
          </a:p>
          <a:p>
            <a:pPr eaLnBrk="1" hangingPunct="1"/>
            <a:r>
              <a:rPr lang="en-US" altLang="zh-CN" sz="4000" dirty="0">
                <a:ea typeface="宋体" charset="-122"/>
              </a:rPr>
              <a:t>References</a:t>
            </a:r>
          </a:p>
          <a:p>
            <a:pPr lvl="1" eaLnBrk="1" hangingPunct="1"/>
            <a:r>
              <a:rPr lang="en-US" altLang="zh-CN" sz="3600" dirty="0">
                <a:ea typeface="宋体" charset="-122"/>
              </a:rPr>
              <a:t>List all the citations referenced in your paper</a:t>
            </a:r>
          </a:p>
          <a:p>
            <a:pPr eaLnBrk="1" hangingPunct="1"/>
            <a:endParaRPr lang="en-US" altLang="zh-CN" sz="4000" dirty="0">
              <a:ea typeface="宋体" charset="-122"/>
            </a:endParaRPr>
          </a:p>
          <a:p>
            <a:pPr eaLnBrk="1" hangingPunct="1"/>
            <a:endParaRPr lang="en-US" altLang="zh-CN" sz="4000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762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elements of the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Basic approaches and mechanisms</a:t>
            </a:r>
          </a:p>
          <a:p>
            <a:r>
              <a:rPr lang="en-US" sz="3600" dirty="0"/>
              <a:t>Figures to explain the general area or basic techniques</a:t>
            </a:r>
          </a:p>
          <a:p>
            <a:r>
              <a:rPr lang="en-US" sz="3600" dirty="0"/>
              <a:t>Proposed/ in use application level protocols/standards/solutions</a:t>
            </a:r>
          </a:p>
          <a:p>
            <a:r>
              <a:rPr lang="en-US" sz="3600" dirty="0"/>
              <a:t>A tree/table to show the classification</a:t>
            </a:r>
          </a:p>
          <a:p>
            <a:r>
              <a:rPr lang="en-US" sz="3600" dirty="0"/>
              <a:t>Relative advantages/disadvantages between the classified techniques and standards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169328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elements of the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Basic approaches and mechanisms</a:t>
            </a:r>
          </a:p>
          <a:p>
            <a:r>
              <a:rPr lang="en-US" sz="3600" dirty="0"/>
              <a:t>Figures to explain the general area or basic techniques</a:t>
            </a:r>
          </a:p>
          <a:p>
            <a:r>
              <a:rPr lang="en-US" sz="3600" dirty="0"/>
              <a:t>Proposed/ in use application level protocols/standards/solutions</a:t>
            </a:r>
          </a:p>
          <a:p>
            <a:r>
              <a:rPr lang="en-US" sz="3600" dirty="0">
                <a:solidFill>
                  <a:srgbClr val="FF0000"/>
                </a:solidFill>
              </a:rPr>
              <a:t>A tree/table to show the classification</a:t>
            </a:r>
          </a:p>
          <a:p>
            <a:r>
              <a:rPr lang="en-US" sz="3600" dirty="0"/>
              <a:t>Relative advantages/disadvantages between the classified techniques and standards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710558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Visual presentation of information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600" dirty="0">
                <a:ea typeface="宋体" charset="-122"/>
              </a:rPr>
              <a:t>Can be taken from papers as long as appropriate credit is given </a:t>
            </a:r>
          </a:p>
          <a:p>
            <a:pPr lvl="1" eaLnBrk="1" hangingPunct="1"/>
            <a:r>
              <a:rPr lang="en-US" altLang="zh-CN" sz="3200" dirty="0">
                <a:ea typeface="宋体" charset="-122"/>
              </a:rPr>
              <a:t>“Figure taken from [28]”.</a:t>
            </a:r>
          </a:p>
          <a:p>
            <a:pPr eaLnBrk="1" hangingPunct="1"/>
            <a:r>
              <a:rPr lang="en-US" altLang="zh-CN" sz="3600" dirty="0">
                <a:ea typeface="宋体" charset="-122"/>
              </a:rPr>
              <a:t>Draw your own figures to show classification or structure of the survey</a:t>
            </a:r>
          </a:p>
          <a:p>
            <a:pPr eaLnBrk="1" hangingPunct="1"/>
            <a:r>
              <a:rPr lang="en-US" altLang="zh-CN" sz="3600" dirty="0">
                <a:ea typeface="宋体" charset="-122"/>
              </a:rPr>
              <a:t>Use tables to organize comparisons between applications/systems/etc</a:t>
            </a:r>
          </a:p>
        </p:txBody>
      </p:sp>
    </p:spTree>
    <p:extLst>
      <p:ext uri="{BB962C8B-B14F-4D97-AF65-F5344CB8AC3E}">
        <p14:creationId xmlns:p14="http://schemas.microsoft.com/office/powerpoint/2010/main" val="20580674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Visual presentation of information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600" dirty="0">
                <a:ea typeface="宋体" charset="-122"/>
              </a:rPr>
              <a:t>Can be taken from papers as long as appropriate credit is given </a:t>
            </a:r>
          </a:p>
          <a:p>
            <a:pPr lvl="1" eaLnBrk="1" hangingPunct="1"/>
            <a:r>
              <a:rPr lang="en-US" altLang="zh-CN" sz="3200" dirty="0">
                <a:ea typeface="宋体" charset="-122"/>
              </a:rPr>
              <a:t>“Figure taken from [28]”.</a:t>
            </a:r>
          </a:p>
          <a:p>
            <a:pPr eaLnBrk="1" hangingPunct="1"/>
            <a:r>
              <a:rPr lang="en-US" altLang="zh-CN" sz="3600" dirty="0">
                <a:solidFill>
                  <a:srgbClr val="FF0000"/>
                </a:solidFill>
                <a:ea typeface="宋体" charset="-122"/>
              </a:rPr>
              <a:t>Draw your own figures to show classification or structure of the survey</a:t>
            </a:r>
          </a:p>
          <a:p>
            <a:pPr eaLnBrk="1" hangingPunct="1"/>
            <a:r>
              <a:rPr lang="en-US" altLang="zh-CN" sz="3600" dirty="0">
                <a:solidFill>
                  <a:srgbClr val="FF0000"/>
                </a:solidFill>
                <a:ea typeface="宋体" charset="-122"/>
              </a:rPr>
              <a:t>Use tables to organize comparisons between applications/systems/etc</a:t>
            </a:r>
          </a:p>
        </p:txBody>
      </p:sp>
    </p:spTree>
    <p:extLst>
      <p:ext uri="{BB962C8B-B14F-4D97-AF65-F5344CB8AC3E}">
        <p14:creationId xmlns:p14="http://schemas.microsoft.com/office/powerpoint/2010/main" val="6123424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3200" dirty="0"/>
              <a:t>Maintain the same schema throughout the article</a:t>
            </a:r>
          </a:p>
          <a:p>
            <a:r>
              <a:rPr lang="en-GB" sz="3200" dirty="0"/>
              <a:t>Table must be referenced and connected to the text</a:t>
            </a:r>
          </a:p>
          <a:p>
            <a:r>
              <a:rPr lang="en-GB" sz="3200" dirty="0"/>
              <a:t>Should convey only key information</a:t>
            </a:r>
          </a:p>
          <a:p>
            <a:r>
              <a:rPr lang="en-GB" sz="3200" dirty="0"/>
              <a:t>Tables should do something to forward your argument</a:t>
            </a:r>
          </a:p>
          <a:p>
            <a:pPr lvl="1"/>
            <a:r>
              <a:rPr lang="en-GB" sz="2800" dirty="0"/>
              <a:t>Can help provide a very broad overview of the problem and how it’s </a:t>
            </a:r>
            <a:r>
              <a:rPr lang="en-US" sz="2800" dirty="0"/>
              <a:t>approached</a:t>
            </a:r>
          </a:p>
          <a:p>
            <a:pPr lvl="1"/>
            <a:r>
              <a:rPr lang="en-GB" sz="2800" dirty="0"/>
              <a:t>Can also show key works and how they progress</a:t>
            </a:r>
          </a:p>
          <a:p>
            <a:pPr lvl="1"/>
            <a:r>
              <a:rPr lang="en-GB" sz="2800" dirty="0"/>
              <a:t>Can be useful for categorizing information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2016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Maintain same schema throughout the entire article</a:t>
            </a:r>
          </a:p>
          <a:p>
            <a:r>
              <a:rPr lang="en-GB" sz="3600" dirty="0"/>
              <a:t>Needs to be referenced in and connected to the text</a:t>
            </a:r>
          </a:p>
          <a:p>
            <a:r>
              <a:rPr lang="en-GB" sz="3600" dirty="0"/>
              <a:t>Should do something to forward your argument</a:t>
            </a:r>
          </a:p>
          <a:p>
            <a:pPr lvl="1"/>
            <a:r>
              <a:rPr lang="en-US" sz="2800" dirty="0"/>
              <a:t>Illustrate key concepts</a:t>
            </a:r>
          </a:p>
          <a:p>
            <a:pPr lvl="1"/>
            <a:r>
              <a:rPr lang="en-GB" sz="2800" dirty="0"/>
              <a:t>Illustrate useful examples</a:t>
            </a:r>
            <a:endParaRPr lang="en-US" sz="2800" dirty="0"/>
          </a:p>
          <a:p>
            <a:pPr lvl="1"/>
            <a:r>
              <a:rPr lang="en-GB" sz="2800" dirty="0"/>
              <a:t>Represent data visually</a:t>
            </a:r>
          </a:p>
          <a:p>
            <a:pPr lvl="1"/>
            <a:r>
              <a:rPr lang="en-GB" sz="2800" dirty="0"/>
              <a:t>Flow charts can be great ways to see processes </a:t>
            </a:r>
          </a:p>
        </p:txBody>
      </p:sp>
    </p:spTree>
    <p:extLst>
      <p:ext uri="{BB962C8B-B14F-4D97-AF65-F5344CB8AC3E}">
        <p14:creationId xmlns:p14="http://schemas.microsoft.com/office/powerpoint/2010/main" val="3017967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paper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For your group’s survey papers, you can follow the guidelines in this template:</a:t>
            </a:r>
          </a:p>
          <a:p>
            <a:pPr>
              <a:buNone/>
            </a:pPr>
            <a:r>
              <a:rPr lang="en-US" dirty="0">
                <a:hlinkClick r:id="rId2"/>
              </a:rPr>
              <a:t>https://www.acm.org/binaries/content/assets/publications/taps/acm_submission_template.docx</a:t>
            </a:r>
            <a:endParaRPr lang="en-US" dirty="0"/>
          </a:p>
          <a:p>
            <a:r>
              <a:rPr lang="en-US" sz="4000" dirty="0"/>
              <a:t>Management/economic field</a:t>
            </a:r>
          </a:p>
          <a:p>
            <a:pPr>
              <a:buNone/>
            </a:pPr>
            <a:r>
              <a:rPr lang="en-US" dirty="0">
                <a:hlinkClick r:id="rId3"/>
              </a:rPr>
              <a:t>https://onlinelibrary.wiley.com/journal/14676419</a:t>
            </a:r>
            <a:endParaRPr lang="en-US" dirty="0"/>
          </a:p>
          <a:p>
            <a:pPr>
              <a:buNone/>
            </a:pPr>
            <a:r>
              <a:rPr lang="en-US" dirty="0">
                <a:hlinkClick r:id="rId4"/>
              </a:rPr>
              <a:t>https://onlinelibrary.wiley.com/doi/epdf/10.1111/1467-8551.00375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6499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4000" dirty="0"/>
              <a:t>To write a good survey paper, you should:</a:t>
            </a:r>
          </a:p>
          <a:p>
            <a:pPr lvl="1"/>
            <a:r>
              <a:rPr lang="en-GB" sz="3600" dirty="0"/>
              <a:t>Read a lot to pin down your list of papers</a:t>
            </a:r>
          </a:p>
          <a:p>
            <a:pPr lvl="1"/>
            <a:r>
              <a:rPr lang="en-GB" sz="3600" dirty="0"/>
              <a:t>Remember that the titles that you first picked don’t have to end up in your survey paper, use what’s useful</a:t>
            </a:r>
          </a:p>
          <a:p>
            <a:pPr lvl="1"/>
            <a:r>
              <a:rPr lang="en-GB" sz="3600" dirty="0"/>
              <a:t>Be aware and okay that your topic will evolve as your research leads you to </a:t>
            </a:r>
            <a:r>
              <a:rPr lang="en-US" sz="3600" dirty="0"/>
              <a:t>other places</a:t>
            </a:r>
          </a:p>
          <a:p>
            <a:pPr lvl="1"/>
            <a:r>
              <a:rPr lang="en-GB" sz="3600" dirty="0"/>
              <a:t>Choose your works based on its usefulness to the end goal: your survey paper. This saves you time!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6791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8831</TotalTime>
  <Words>2277</Words>
  <Application>Microsoft Office PowerPoint</Application>
  <PresentationFormat>Widescreen</PresentationFormat>
  <Paragraphs>217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等线</vt:lpstr>
      <vt:lpstr>Arial</vt:lpstr>
      <vt:lpstr>Calibri</vt:lpstr>
      <vt:lpstr>Calibri Light</vt:lpstr>
      <vt:lpstr>Office Theme</vt:lpstr>
      <vt:lpstr>Research Communication Skills</vt:lpstr>
      <vt:lpstr>Intended Learning Outcomes</vt:lpstr>
      <vt:lpstr>Where to find survey papers?</vt:lpstr>
      <vt:lpstr>What is a Survey Paper?</vt:lpstr>
      <vt:lpstr>A survey paper is…</vt:lpstr>
      <vt:lpstr>A survey paper is…</vt:lpstr>
      <vt:lpstr>A survey paper is…</vt:lpstr>
      <vt:lpstr>A survey paper is…</vt:lpstr>
      <vt:lpstr>A survey paper is…</vt:lpstr>
      <vt:lpstr>A survey paper is…</vt:lpstr>
      <vt:lpstr>A survey paper is…</vt:lpstr>
      <vt:lpstr>A survey paper is…</vt:lpstr>
      <vt:lpstr>A survey paper is…</vt:lpstr>
      <vt:lpstr>A survey paper is…</vt:lpstr>
      <vt:lpstr>What survey paper is NOT</vt:lpstr>
      <vt:lpstr>What survey paper should have</vt:lpstr>
      <vt:lpstr>Original research vs. survey paper</vt:lpstr>
      <vt:lpstr>Goals of a Survey</vt:lpstr>
      <vt:lpstr>Challenges of writing a survey paper</vt:lpstr>
      <vt:lpstr>Pick representative papers from within the research area and summarize them concisely</vt:lpstr>
      <vt:lpstr>How to pick articles</vt:lpstr>
      <vt:lpstr>How to pick articles </vt:lpstr>
      <vt:lpstr>How to pick articles</vt:lpstr>
      <vt:lpstr>How to pick articles</vt:lpstr>
      <vt:lpstr>How to pick articles</vt:lpstr>
      <vt:lpstr>Eight questions (or quality criteria) to evaluate the quality of primary studies </vt:lpstr>
      <vt:lpstr>How to pick articles</vt:lpstr>
      <vt:lpstr>PRISMA flow for primary studies selection</vt:lpstr>
      <vt:lpstr>Ensure that your survey paper is easily understandable</vt:lpstr>
      <vt:lpstr>Tips</vt:lpstr>
      <vt:lpstr>Some questions you might ask yourself when reading papers and categorizing them </vt:lpstr>
      <vt:lpstr>Article Structure </vt:lpstr>
      <vt:lpstr>Article Structure – Introduction </vt:lpstr>
      <vt:lpstr>Introduction - terminology and definitions</vt:lpstr>
      <vt:lpstr>Introduction – research challenges</vt:lpstr>
      <vt:lpstr>Article Structure - Survey details/Body of paper</vt:lpstr>
      <vt:lpstr>Article Structure - Survey details/Body of paper - tips</vt:lpstr>
      <vt:lpstr>Article Structure</vt:lpstr>
      <vt:lpstr>Common elements of the survey</vt:lpstr>
      <vt:lpstr>Common elements of the survey</vt:lpstr>
      <vt:lpstr>Visual presentation of information </vt:lpstr>
      <vt:lpstr>Visual presentation of information </vt:lpstr>
      <vt:lpstr>Tables </vt:lpstr>
      <vt:lpstr>Figures</vt:lpstr>
      <vt:lpstr>Survey paper formatting</vt:lpstr>
      <vt:lpstr>Summary</vt:lpstr>
    </vt:vector>
  </TitlesOfParts>
  <Company>HKPU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hkpuadmin</dc:creator>
  <cp:lastModifiedBy>Joanna Siebert</cp:lastModifiedBy>
  <cp:revision>358</cp:revision>
  <cp:lastPrinted>2019-09-03T08:34:37Z</cp:lastPrinted>
  <dcterms:created xsi:type="dcterms:W3CDTF">2014-08-14T09:54:55Z</dcterms:created>
  <dcterms:modified xsi:type="dcterms:W3CDTF">2026-09-21T09:59:53Z</dcterms:modified>
</cp:coreProperties>
</file>