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rts/chart1.xml" ContentType="application/vnd.openxmlformats-officedocument.drawingml.chart+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handoutMasterIdLst>
    <p:handoutMasterId r:id="rId61"/>
  </p:handoutMasterIdLst>
  <p:sldIdLst>
    <p:sldId id="991" r:id="rId2"/>
    <p:sldId id="934" r:id="rId3"/>
    <p:sldId id="935" r:id="rId4"/>
    <p:sldId id="936" r:id="rId5"/>
    <p:sldId id="937" r:id="rId6"/>
    <p:sldId id="938" r:id="rId7"/>
    <p:sldId id="939" r:id="rId8"/>
    <p:sldId id="940" r:id="rId9"/>
    <p:sldId id="941" r:id="rId10"/>
    <p:sldId id="942" r:id="rId11"/>
    <p:sldId id="943" r:id="rId12"/>
    <p:sldId id="944" r:id="rId13"/>
    <p:sldId id="945" r:id="rId14"/>
    <p:sldId id="946" r:id="rId15"/>
    <p:sldId id="947" r:id="rId16"/>
    <p:sldId id="948" r:id="rId17"/>
    <p:sldId id="949" r:id="rId18"/>
    <p:sldId id="950" r:id="rId19"/>
    <p:sldId id="951" r:id="rId20"/>
    <p:sldId id="952" r:id="rId21"/>
    <p:sldId id="953" r:id="rId22"/>
    <p:sldId id="954" r:id="rId23"/>
    <p:sldId id="955" r:id="rId24"/>
    <p:sldId id="956" r:id="rId25"/>
    <p:sldId id="957" r:id="rId26"/>
    <p:sldId id="958" r:id="rId27"/>
    <p:sldId id="959" r:id="rId28"/>
    <p:sldId id="960" r:id="rId29"/>
    <p:sldId id="961" r:id="rId30"/>
    <p:sldId id="962" r:id="rId31"/>
    <p:sldId id="963" r:id="rId32"/>
    <p:sldId id="964" r:id="rId33"/>
    <p:sldId id="965" r:id="rId34"/>
    <p:sldId id="966" r:id="rId35"/>
    <p:sldId id="967" r:id="rId36"/>
    <p:sldId id="968" r:id="rId37"/>
    <p:sldId id="969" r:id="rId38"/>
    <p:sldId id="970" r:id="rId39"/>
    <p:sldId id="971" r:id="rId40"/>
    <p:sldId id="972" r:id="rId41"/>
    <p:sldId id="973" r:id="rId42"/>
    <p:sldId id="974" r:id="rId43"/>
    <p:sldId id="975" r:id="rId44"/>
    <p:sldId id="976" r:id="rId45"/>
    <p:sldId id="977" r:id="rId46"/>
    <p:sldId id="978" r:id="rId47"/>
    <p:sldId id="979" r:id="rId48"/>
    <p:sldId id="980" r:id="rId49"/>
    <p:sldId id="981" r:id="rId50"/>
    <p:sldId id="982" r:id="rId51"/>
    <p:sldId id="983" r:id="rId52"/>
    <p:sldId id="984" r:id="rId53"/>
    <p:sldId id="985" r:id="rId54"/>
    <p:sldId id="986" r:id="rId55"/>
    <p:sldId id="987" r:id="rId56"/>
    <p:sldId id="988" r:id="rId57"/>
    <p:sldId id="989" r:id="rId58"/>
    <p:sldId id="990" r:id="rId59"/>
  </p:sldIdLst>
  <p:sldSz cx="12192000" cy="6858000"/>
  <p:notesSz cx="6797675"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FCFD"/>
    <a:srgbClr val="FAE2F9"/>
    <a:srgbClr val="E34D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9024" autoAdjust="0"/>
    <p:restoredTop sz="94660"/>
  </p:normalViewPr>
  <p:slideViewPr>
    <p:cSldViewPr snapToGrid="0">
      <p:cViewPr varScale="1">
        <p:scale>
          <a:sx n="104" d="100"/>
          <a:sy n="104" d="100"/>
        </p:scale>
        <p:origin x="60" y="3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hPercent val="64"/>
      <c:rotY val="20"/>
      <c:depthPercent val="100"/>
      <c:rAngAx val="1"/>
    </c:view3D>
    <c:floor>
      <c:thickness val="0"/>
      <c:spPr>
        <a:solidFill>
          <a:srgbClr val="C0C0C0"/>
        </a:solidFill>
        <a:ln w="3175">
          <a:solidFill>
            <a:schemeClr val="tx1"/>
          </a:solidFill>
          <a:prstDash val="solid"/>
        </a:ln>
      </c:spPr>
    </c:floor>
    <c:sideWall>
      <c:thickness val="0"/>
      <c:spPr>
        <a:noFill/>
        <a:ln w="12700">
          <a:solidFill>
            <a:schemeClr val="tx1"/>
          </a:solidFill>
          <a:prstDash val="solid"/>
        </a:ln>
      </c:spPr>
    </c:sideWall>
    <c:backWall>
      <c:thickness val="0"/>
      <c:spPr>
        <a:noFill/>
        <a:ln w="12700">
          <a:solidFill>
            <a:schemeClr val="tx1"/>
          </a:solidFill>
          <a:prstDash val="solid"/>
        </a:ln>
      </c:spPr>
    </c:backWall>
    <c:plotArea>
      <c:layout>
        <c:manualLayout>
          <c:layoutTarget val="inner"/>
          <c:xMode val="edge"/>
          <c:yMode val="edge"/>
          <c:x val="3.4126163391933799E-2"/>
          <c:y val="1.5254237288135609E-2"/>
          <c:w val="0.89762150982419964"/>
          <c:h val="0.9169491525423743"/>
        </c:manualLayout>
      </c:layout>
      <c:bar3DChart>
        <c:barDir val="col"/>
        <c:grouping val="clustered"/>
        <c:varyColors val="0"/>
        <c:ser>
          <c:idx val="0"/>
          <c:order val="0"/>
          <c:tx>
            <c:strRef>
              <c:f>Sheet1!$A$2</c:f>
              <c:strCache>
                <c:ptCount val="1"/>
                <c:pt idx="0">
                  <c:v>East</c:v>
                </c:pt>
              </c:strCache>
            </c:strRef>
          </c:tx>
          <c:spPr>
            <a:solidFill>
              <a:schemeClr val="accent1"/>
            </a:solidFill>
            <a:ln w="1431">
              <a:solidFill>
                <a:schemeClr val="tx1"/>
              </a:solidFill>
              <a:prstDash val="solid"/>
            </a:ln>
          </c:spPr>
          <c:invertIfNegative val="0"/>
          <c:cat>
            <c:strRef>
              <c:f>Sheet1!$B$1:$E$1</c:f>
              <c:strCache>
                <c:ptCount val="4"/>
                <c:pt idx="0">
                  <c:v>1st Qtr</c:v>
                </c:pt>
                <c:pt idx="1">
                  <c:v>2nd Qtr</c:v>
                </c:pt>
                <c:pt idx="2">
                  <c:v>3rd Qtr</c:v>
                </c:pt>
                <c:pt idx="3">
                  <c:v>4th Qtr</c:v>
                </c:pt>
              </c:strCache>
            </c:strRef>
          </c:cat>
          <c:val>
            <c:numRef>
              <c:f>Sheet1!$B$2:$E$2</c:f>
              <c:numCache>
                <c:formatCode>General</c:formatCode>
                <c:ptCount val="4"/>
                <c:pt idx="0">
                  <c:v>20.399999999999999</c:v>
                </c:pt>
                <c:pt idx="1">
                  <c:v>27.4</c:v>
                </c:pt>
                <c:pt idx="2">
                  <c:v>90</c:v>
                </c:pt>
                <c:pt idx="3">
                  <c:v>20.399999999999999</c:v>
                </c:pt>
              </c:numCache>
            </c:numRef>
          </c:val>
          <c:extLst>
            <c:ext xmlns:c16="http://schemas.microsoft.com/office/drawing/2014/chart" uri="{C3380CC4-5D6E-409C-BE32-E72D297353CC}">
              <c16:uniqueId val="{00000000-80EB-41CF-8667-A1CA5DA5141F}"/>
            </c:ext>
          </c:extLst>
        </c:ser>
        <c:ser>
          <c:idx val="1"/>
          <c:order val="1"/>
          <c:tx>
            <c:strRef>
              <c:f>Sheet1!$A$3</c:f>
              <c:strCache>
                <c:ptCount val="1"/>
                <c:pt idx="0">
                  <c:v>West</c:v>
                </c:pt>
              </c:strCache>
            </c:strRef>
          </c:tx>
          <c:spPr>
            <a:solidFill>
              <a:schemeClr val="accent2"/>
            </a:solidFill>
            <a:ln w="1431">
              <a:solidFill>
                <a:schemeClr val="tx1"/>
              </a:solidFill>
              <a:prstDash val="solid"/>
            </a:ln>
          </c:spPr>
          <c:invertIfNegative val="0"/>
          <c:cat>
            <c:strRef>
              <c:f>Sheet1!$B$1:$E$1</c:f>
              <c:strCache>
                <c:ptCount val="4"/>
                <c:pt idx="0">
                  <c:v>1st Qtr</c:v>
                </c:pt>
                <c:pt idx="1">
                  <c:v>2nd Qtr</c:v>
                </c:pt>
                <c:pt idx="2">
                  <c:v>3rd Qtr</c:v>
                </c:pt>
                <c:pt idx="3">
                  <c:v>4th Qtr</c:v>
                </c:pt>
              </c:strCache>
            </c:strRef>
          </c:cat>
          <c:val>
            <c:numRef>
              <c:f>Sheet1!$B$3:$E$3</c:f>
              <c:numCache>
                <c:formatCode>General</c:formatCode>
                <c:ptCount val="4"/>
                <c:pt idx="0">
                  <c:v>30.6</c:v>
                </c:pt>
                <c:pt idx="1">
                  <c:v>38.6</c:v>
                </c:pt>
                <c:pt idx="2">
                  <c:v>34.6</c:v>
                </c:pt>
                <c:pt idx="3">
                  <c:v>31.6</c:v>
                </c:pt>
              </c:numCache>
            </c:numRef>
          </c:val>
          <c:extLst>
            <c:ext xmlns:c16="http://schemas.microsoft.com/office/drawing/2014/chart" uri="{C3380CC4-5D6E-409C-BE32-E72D297353CC}">
              <c16:uniqueId val="{00000001-80EB-41CF-8667-A1CA5DA5141F}"/>
            </c:ext>
          </c:extLst>
        </c:ser>
        <c:ser>
          <c:idx val="2"/>
          <c:order val="2"/>
          <c:tx>
            <c:strRef>
              <c:f>Sheet1!$A$4</c:f>
              <c:strCache>
                <c:ptCount val="1"/>
                <c:pt idx="0">
                  <c:v>North</c:v>
                </c:pt>
              </c:strCache>
            </c:strRef>
          </c:tx>
          <c:spPr>
            <a:solidFill>
              <a:schemeClr val="hlink"/>
            </a:solidFill>
            <a:ln w="1431">
              <a:solidFill>
                <a:schemeClr val="tx1"/>
              </a:solidFill>
              <a:prstDash val="solid"/>
            </a:ln>
          </c:spPr>
          <c:invertIfNegative val="0"/>
          <c:cat>
            <c:strRef>
              <c:f>Sheet1!$B$1:$E$1</c:f>
              <c:strCache>
                <c:ptCount val="4"/>
                <c:pt idx="0">
                  <c:v>1st Qtr</c:v>
                </c:pt>
                <c:pt idx="1">
                  <c:v>2nd Qtr</c:v>
                </c:pt>
                <c:pt idx="2">
                  <c:v>3rd Qtr</c:v>
                </c:pt>
                <c:pt idx="3">
                  <c:v>4th Qtr</c:v>
                </c:pt>
              </c:strCache>
            </c:strRef>
          </c:cat>
          <c:val>
            <c:numRef>
              <c:f>Sheet1!$B$4:$E$4</c:f>
              <c:numCache>
                <c:formatCode>General</c:formatCode>
                <c:ptCount val="4"/>
                <c:pt idx="0">
                  <c:v>45.9</c:v>
                </c:pt>
                <c:pt idx="1">
                  <c:v>46.9</c:v>
                </c:pt>
                <c:pt idx="2">
                  <c:v>45</c:v>
                </c:pt>
                <c:pt idx="3">
                  <c:v>43.9</c:v>
                </c:pt>
              </c:numCache>
            </c:numRef>
          </c:val>
          <c:extLst>
            <c:ext xmlns:c16="http://schemas.microsoft.com/office/drawing/2014/chart" uri="{C3380CC4-5D6E-409C-BE32-E72D297353CC}">
              <c16:uniqueId val="{00000002-80EB-41CF-8667-A1CA5DA5141F}"/>
            </c:ext>
          </c:extLst>
        </c:ser>
        <c:dLbls>
          <c:showLegendKey val="0"/>
          <c:showVal val="0"/>
          <c:showCatName val="0"/>
          <c:showSerName val="0"/>
          <c:showPercent val="0"/>
          <c:showBubbleSize val="0"/>
        </c:dLbls>
        <c:gapWidth val="150"/>
        <c:gapDepth val="0"/>
        <c:shape val="box"/>
        <c:axId val="620856832"/>
        <c:axId val="616601792"/>
        <c:axId val="0"/>
      </c:bar3DChart>
      <c:catAx>
        <c:axId val="620856832"/>
        <c:scaling>
          <c:orientation val="minMax"/>
        </c:scaling>
        <c:delete val="0"/>
        <c:axPos val="b"/>
        <c:numFmt formatCode="General" sourceLinked="1"/>
        <c:majorTickMark val="out"/>
        <c:minorTickMark val="none"/>
        <c:tickLblPos val="low"/>
        <c:spPr>
          <a:ln w="358">
            <a:solidFill>
              <a:schemeClr val="tx1"/>
            </a:solidFill>
            <a:prstDash val="solid"/>
          </a:ln>
        </c:spPr>
        <c:txPr>
          <a:bodyPr rot="0" vert="horz"/>
          <a:lstStyle/>
          <a:p>
            <a:pPr>
              <a:defRPr sz="875" b="1" i="0" u="none" strike="noStrike" baseline="0">
                <a:solidFill>
                  <a:schemeClr val="tx1"/>
                </a:solidFill>
                <a:latin typeface="Times New Roman"/>
                <a:ea typeface="Times New Roman"/>
                <a:cs typeface="Times New Roman"/>
              </a:defRPr>
            </a:pPr>
            <a:endParaRPr lang="en-US"/>
          </a:p>
        </c:txPr>
        <c:crossAx val="616601792"/>
        <c:crosses val="autoZero"/>
        <c:auto val="1"/>
        <c:lblAlgn val="ctr"/>
        <c:lblOffset val="100"/>
        <c:tickLblSkip val="1"/>
        <c:tickMarkSkip val="1"/>
        <c:noMultiLvlLbl val="0"/>
      </c:catAx>
      <c:valAx>
        <c:axId val="616601792"/>
        <c:scaling>
          <c:orientation val="minMax"/>
        </c:scaling>
        <c:delete val="0"/>
        <c:axPos val="l"/>
        <c:majorGridlines>
          <c:spPr>
            <a:ln w="358">
              <a:solidFill>
                <a:schemeClr val="tx1"/>
              </a:solidFill>
              <a:prstDash val="solid"/>
            </a:ln>
          </c:spPr>
        </c:majorGridlines>
        <c:numFmt formatCode="General" sourceLinked="1"/>
        <c:majorTickMark val="out"/>
        <c:minorTickMark val="none"/>
        <c:tickLblPos val="nextTo"/>
        <c:spPr>
          <a:ln w="358">
            <a:solidFill>
              <a:schemeClr val="tx1"/>
            </a:solidFill>
            <a:prstDash val="solid"/>
          </a:ln>
        </c:spPr>
        <c:txPr>
          <a:bodyPr rot="0" vert="horz"/>
          <a:lstStyle/>
          <a:p>
            <a:pPr>
              <a:defRPr sz="875" b="1" i="0" u="none" strike="noStrike" baseline="0">
                <a:solidFill>
                  <a:schemeClr val="tx1"/>
                </a:solidFill>
                <a:latin typeface="Times New Roman"/>
                <a:ea typeface="Times New Roman"/>
                <a:cs typeface="Times New Roman"/>
              </a:defRPr>
            </a:pPr>
            <a:endParaRPr lang="en-US"/>
          </a:p>
        </c:txPr>
        <c:crossAx val="620856832"/>
        <c:crosses val="autoZero"/>
        <c:crossBetween val="between"/>
      </c:valAx>
      <c:spPr>
        <a:noFill/>
        <a:ln w="2861">
          <a:noFill/>
        </a:ln>
      </c:spPr>
    </c:plotArea>
    <c:legend>
      <c:legendPos val="r"/>
      <c:layout>
        <c:manualLayout>
          <c:xMode val="edge"/>
          <c:yMode val="edge"/>
          <c:x val="0.94312306101344368"/>
          <c:y val="0.44915254237288188"/>
          <c:w val="5.2740434332988778E-2"/>
          <c:h val="0.10338983050847447"/>
        </c:manualLayout>
      </c:layout>
      <c:overlay val="0"/>
      <c:spPr>
        <a:noFill/>
        <a:ln w="358">
          <a:solidFill>
            <a:schemeClr val="tx1"/>
          </a:solidFill>
          <a:prstDash val="solid"/>
        </a:ln>
      </c:spPr>
      <c:txPr>
        <a:bodyPr/>
        <a:lstStyle/>
        <a:p>
          <a:pPr>
            <a:defRPr sz="805" b="1" i="0" u="none" strike="noStrike" baseline="0">
              <a:solidFill>
                <a:schemeClr val="tx1"/>
              </a:solidFill>
              <a:latin typeface="Times New Roman"/>
              <a:ea typeface="Times New Roman"/>
              <a:cs typeface="Times New Roman"/>
            </a:defRPr>
          </a:pPr>
          <a:endParaRPr lang="en-US"/>
        </a:p>
      </c:txPr>
    </c:legend>
    <c:plotVisOnly val="1"/>
    <c:dispBlanksAs val="gap"/>
    <c:showDLblsOverMax val="0"/>
  </c:chart>
  <c:spPr>
    <a:noFill/>
    <a:ln>
      <a:noFill/>
    </a:ln>
  </c:spPr>
  <c:txPr>
    <a:bodyPr/>
    <a:lstStyle/>
    <a:p>
      <a:pPr>
        <a:defRPr sz="875" b="1" i="0" u="none" strike="noStrike" baseline="0">
          <a:solidFill>
            <a:schemeClr val="tx1"/>
          </a:solidFill>
          <a:latin typeface="Times New Roman"/>
          <a:ea typeface="Times New Roman"/>
          <a:cs typeface="Times New Roman"/>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vl1pPr>
          </a:lstStyle>
          <a:p>
            <a:endParaRPr lang="en-GB"/>
          </a:p>
        </p:txBody>
      </p:sp>
      <p:sp>
        <p:nvSpPr>
          <p:cNvPr id="3" name="日期占位符 2"/>
          <p:cNvSpPr>
            <a:spLocks noGrp="1"/>
          </p:cNvSpPr>
          <p:nvPr>
            <p:ph type="dt" sz="quarter" idx="1"/>
          </p:nvPr>
        </p:nvSpPr>
        <p:spPr>
          <a:xfrm>
            <a:off x="3850443" y="0"/>
            <a:ext cx="2945659" cy="498215"/>
          </a:xfrm>
          <a:prstGeom prst="rect">
            <a:avLst/>
          </a:prstGeom>
        </p:spPr>
        <p:txBody>
          <a:bodyPr vert="horz" lIns="91440" tIns="45720" rIns="91440" bIns="45720" rtlCol="0"/>
          <a:lstStyle>
            <a:lvl1pPr algn="r">
              <a:defRPr sz="1200"/>
            </a:lvl1pPr>
          </a:lstStyle>
          <a:p>
            <a:fld id="{A6B79868-BDA9-4441-B20B-68D0617E5C8E}" type="datetimeFigureOut">
              <a:rPr lang="en-GB" smtClean="0"/>
              <a:t>08/10/2026</a:t>
            </a:fld>
            <a:endParaRPr lang="en-GB"/>
          </a:p>
        </p:txBody>
      </p:sp>
      <p:sp>
        <p:nvSpPr>
          <p:cNvPr id="4" name="页脚占位符 3"/>
          <p:cNvSpPr>
            <a:spLocks noGrp="1"/>
          </p:cNvSpPr>
          <p:nvPr>
            <p:ph type="ftr" sz="quarter" idx="2"/>
          </p:nvPr>
        </p:nvSpPr>
        <p:spPr>
          <a:xfrm>
            <a:off x="0" y="9431600"/>
            <a:ext cx="2945659" cy="498214"/>
          </a:xfrm>
          <a:prstGeom prst="rect">
            <a:avLst/>
          </a:prstGeom>
        </p:spPr>
        <p:txBody>
          <a:bodyPr vert="horz" lIns="91440" tIns="45720" rIns="91440" bIns="45720" rtlCol="0" anchor="b"/>
          <a:lstStyle>
            <a:lvl1pPr algn="l">
              <a:defRPr sz="1200"/>
            </a:lvl1pPr>
          </a:lstStyle>
          <a:p>
            <a:endParaRPr lang="en-GB"/>
          </a:p>
        </p:txBody>
      </p:sp>
      <p:sp>
        <p:nvSpPr>
          <p:cNvPr id="5" name="灯片编号占位符 4"/>
          <p:cNvSpPr>
            <a:spLocks noGrp="1"/>
          </p:cNvSpPr>
          <p:nvPr>
            <p:ph type="sldNum" sz="quarter" idx="3"/>
          </p:nvPr>
        </p:nvSpPr>
        <p:spPr>
          <a:xfrm>
            <a:off x="3850443" y="9431600"/>
            <a:ext cx="2945659" cy="498214"/>
          </a:xfrm>
          <a:prstGeom prst="rect">
            <a:avLst/>
          </a:prstGeom>
        </p:spPr>
        <p:txBody>
          <a:bodyPr vert="horz" lIns="91440" tIns="45720" rIns="91440" bIns="45720" rtlCol="0" anchor="b"/>
          <a:lstStyle>
            <a:lvl1pPr algn="r">
              <a:defRPr sz="1200"/>
            </a:lvl1pPr>
          </a:lstStyle>
          <a:p>
            <a:fld id="{BB1CA833-6E71-4E0E-A695-7044B802CCB2}" type="slidenum">
              <a:rPr lang="en-GB" smtClean="0"/>
              <a:t>‹#›</a:t>
            </a:fld>
            <a:endParaRPr lang="en-GB"/>
          </a:p>
        </p:txBody>
      </p:sp>
    </p:spTree>
    <p:extLst>
      <p:ext uri="{BB962C8B-B14F-4D97-AF65-F5344CB8AC3E}">
        <p14:creationId xmlns:p14="http://schemas.microsoft.com/office/powerpoint/2010/main" val="20193987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215"/>
          </a:xfrm>
          <a:prstGeom prst="rect">
            <a:avLst/>
          </a:prstGeom>
        </p:spPr>
        <p:txBody>
          <a:bodyPr vert="horz" lIns="91440" tIns="45720" rIns="91440" bIns="45720" rtlCol="0"/>
          <a:lstStyle>
            <a:lvl1pPr algn="r">
              <a:defRPr sz="1200"/>
            </a:lvl1pPr>
          </a:lstStyle>
          <a:p>
            <a:fld id="{EF166FD4-870D-41D4-A76E-DC48774E844B}" type="datetimeFigureOut">
              <a:rPr lang="zh-CN" altLang="en-US" smtClean="0"/>
              <a:t>2026/10/8</a:t>
            </a:fld>
            <a:endParaRPr lang="zh-CN" altLang="en-US"/>
          </a:p>
        </p:txBody>
      </p:sp>
      <p:sp>
        <p:nvSpPr>
          <p:cNvPr id="4" name="幻灯片图像占位符 3"/>
          <p:cNvSpPr>
            <a:spLocks noGrp="1" noRot="1" noChangeAspect="1"/>
          </p:cNvSpPr>
          <p:nvPr>
            <p:ph type="sldImg" idx="2"/>
          </p:nvPr>
        </p:nvSpPr>
        <p:spPr>
          <a:xfrm>
            <a:off x="420688" y="1241425"/>
            <a:ext cx="5956300" cy="3351213"/>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8722"/>
            <a:ext cx="5438140" cy="3909864"/>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9431600"/>
            <a:ext cx="2945659" cy="49821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1600"/>
            <a:ext cx="2945659" cy="498214"/>
          </a:xfrm>
          <a:prstGeom prst="rect">
            <a:avLst/>
          </a:prstGeom>
        </p:spPr>
        <p:txBody>
          <a:bodyPr vert="horz" lIns="91440" tIns="45720" rIns="91440" bIns="45720" rtlCol="0" anchor="b"/>
          <a:lstStyle>
            <a:lvl1pPr algn="r">
              <a:defRPr sz="1200"/>
            </a:lvl1pPr>
          </a:lstStyle>
          <a:p>
            <a:fld id="{7B3B433F-8F9F-4754-B27A-D9BD2E9FA402}" type="slidenum">
              <a:rPr lang="zh-CN" altLang="en-US" smtClean="0"/>
              <a:t>‹#›</a:t>
            </a:fld>
            <a:endParaRPr lang="zh-CN" altLang="en-US"/>
          </a:p>
        </p:txBody>
      </p:sp>
    </p:spTree>
    <p:extLst>
      <p:ext uri="{BB962C8B-B14F-4D97-AF65-F5344CB8AC3E}">
        <p14:creationId xmlns:p14="http://schemas.microsoft.com/office/powerpoint/2010/main" val="2061200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2</a:t>
            </a:fld>
            <a:endParaRPr lang="en-US"/>
          </a:p>
        </p:txBody>
      </p:sp>
    </p:spTree>
    <p:extLst>
      <p:ext uri="{BB962C8B-B14F-4D97-AF65-F5344CB8AC3E}">
        <p14:creationId xmlns:p14="http://schemas.microsoft.com/office/powerpoint/2010/main" val="3982417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5EBA79C-606A-4A35-9647-4D305C77F39B}" type="slidenum">
              <a:rPr lang="en-US" smtClean="0"/>
              <a:pPr>
                <a:defRPr/>
              </a:pPr>
              <a:t>3</a:t>
            </a:fld>
            <a:endParaRPr lang="en-US"/>
          </a:p>
        </p:txBody>
      </p:sp>
    </p:spTree>
    <p:extLst>
      <p:ext uri="{BB962C8B-B14F-4D97-AF65-F5344CB8AC3E}">
        <p14:creationId xmlns:p14="http://schemas.microsoft.com/office/powerpoint/2010/main" val="3972270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85EBA79C-606A-4A35-9647-4D305C77F39B}" type="slidenum">
              <a:rPr lang="en-US" smtClean="0"/>
              <a:pPr>
                <a:defRPr/>
              </a:pPr>
              <a:t>4</a:t>
            </a:fld>
            <a:endParaRPr lang="en-US"/>
          </a:p>
        </p:txBody>
      </p:sp>
    </p:spTree>
    <p:extLst>
      <p:ext uri="{BB962C8B-B14F-4D97-AF65-F5344CB8AC3E}">
        <p14:creationId xmlns:p14="http://schemas.microsoft.com/office/powerpoint/2010/main" val="283839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5</a:t>
            </a:fld>
            <a:endParaRPr lang="en-US"/>
          </a:p>
        </p:txBody>
      </p:sp>
    </p:spTree>
    <p:extLst>
      <p:ext uri="{BB962C8B-B14F-4D97-AF65-F5344CB8AC3E}">
        <p14:creationId xmlns:p14="http://schemas.microsoft.com/office/powerpoint/2010/main" val="3815411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5EBA79C-606A-4A35-9647-4D305C77F39B}" type="slidenum">
              <a:rPr lang="en-US" smtClean="0"/>
              <a:pPr>
                <a:defRPr/>
              </a:pPr>
              <a:t>6</a:t>
            </a:fld>
            <a:endParaRPr lang="en-US"/>
          </a:p>
        </p:txBody>
      </p:sp>
    </p:spTree>
    <p:extLst>
      <p:ext uri="{BB962C8B-B14F-4D97-AF65-F5344CB8AC3E}">
        <p14:creationId xmlns:p14="http://schemas.microsoft.com/office/powerpoint/2010/main" val="17645651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7</a:t>
            </a:fld>
            <a:endParaRPr lang="en-US"/>
          </a:p>
        </p:txBody>
      </p:sp>
    </p:spTree>
    <p:extLst>
      <p:ext uri="{BB962C8B-B14F-4D97-AF65-F5344CB8AC3E}">
        <p14:creationId xmlns:p14="http://schemas.microsoft.com/office/powerpoint/2010/main" val="1062919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5EBA79C-606A-4A35-9647-4D305C77F39B}" type="slidenum">
              <a:rPr lang="en-US" smtClean="0"/>
              <a:pPr>
                <a:defRPr/>
              </a:pPr>
              <a:t>8</a:t>
            </a:fld>
            <a:endParaRPr lang="en-US"/>
          </a:p>
        </p:txBody>
      </p:sp>
    </p:spTree>
    <p:extLst>
      <p:ext uri="{BB962C8B-B14F-4D97-AF65-F5344CB8AC3E}">
        <p14:creationId xmlns:p14="http://schemas.microsoft.com/office/powerpoint/2010/main" val="3538411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FFDEF7CD-E30F-4023-94C8-E66921D32DFA}" type="slidenum">
              <a:rPr lang="en-US" smtClean="0">
                <a:latin typeface="Times New Roman" pitchFamily="48" charset="0"/>
              </a:rPr>
              <a:pPr/>
              <a:t>10</a:t>
            </a:fld>
            <a:endParaRPr lang="en-US">
              <a:latin typeface="Times New Roman" pitchFamily="4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endParaRPr lang="en-US">
              <a:latin typeface="Times New Roman" pitchFamily="48" charset="0"/>
            </a:endParaRPr>
          </a:p>
        </p:txBody>
      </p:sp>
    </p:spTree>
    <p:extLst>
      <p:ext uri="{BB962C8B-B14F-4D97-AF65-F5344CB8AC3E}">
        <p14:creationId xmlns:p14="http://schemas.microsoft.com/office/powerpoint/2010/main" val="1741412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p:spPr>
        <p:txBody>
          <a:bodyPr/>
          <a:lstStyle/>
          <a:p>
            <a:endParaRPr lang="en-US">
              <a:latin typeface="Times New Roman" pitchFamily="48" charset="0"/>
            </a:endParaRPr>
          </a:p>
        </p:txBody>
      </p:sp>
      <p:sp>
        <p:nvSpPr>
          <p:cNvPr id="75780" name="Slide Number Placeholder 3"/>
          <p:cNvSpPr>
            <a:spLocks noGrp="1"/>
          </p:cNvSpPr>
          <p:nvPr>
            <p:ph type="sldNum" sz="quarter" idx="5"/>
          </p:nvPr>
        </p:nvSpPr>
        <p:spPr>
          <a:noFill/>
        </p:spPr>
        <p:txBody>
          <a:bodyPr/>
          <a:lstStyle/>
          <a:p>
            <a:fld id="{5B2E96CF-0A4B-48F3-8366-CD79608D8570}" type="slidenum">
              <a:rPr lang="en-US" smtClean="0">
                <a:latin typeface="Times New Roman" pitchFamily="48" charset="0"/>
              </a:rPr>
              <a:pPr/>
              <a:t>11</a:t>
            </a:fld>
            <a:endParaRPr lang="en-US">
              <a:latin typeface="Times New Roman" pitchFamily="48" charset="0"/>
            </a:endParaRPr>
          </a:p>
        </p:txBody>
      </p:sp>
    </p:spTree>
    <p:extLst>
      <p:ext uri="{BB962C8B-B14F-4D97-AF65-F5344CB8AC3E}">
        <p14:creationId xmlns:p14="http://schemas.microsoft.com/office/powerpoint/2010/main" val="2000172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12</a:t>
            </a:fld>
            <a:endParaRPr lang="en-US"/>
          </a:p>
        </p:txBody>
      </p:sp>
    </p:spTree>
    <p:extLst>
      <p:ext uri="{BB962C8B-B14F-4D97-AF65-F5344CB8AC3E}">
        <p14:creationId xmlns:p14="http://schemas.microsoft.com/office/powerpoint/2010/main" val="4142507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13</a:t>
            </a:fld>
            <a:endParaRPr lang="en-US"/>
          </a:p>
        </p:txBody>
      </p:sp>
    </p:spTree>
    <p:extLst>
      <p:ext uri="{BB962C8B-B14F-4D97-AF65-F5344CB8AC3E}">
        <p14:creationId xmlns:p14="http://schemas.microsoft.com/office/powerpoint/2010/main" val="35791464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14</a:t>
            </a:fld>
            <a:endParaRPr lang="en-US"/>
          </a:p>
        </p:txBody>
      </p:sp>
    </p:spTree>
    <p:extLst>
      <p:ext uri="{BB962C8B-B14F-4D97-AF65-F5344CB8AC3E}">
        <p14:creationId xmlns:p14="http://schemas.microsoft.com/office/powerpoint/2010/main" val="30980138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15</a:t>
            </a:fld>
            <a:endParaRPr lang="en-US"/>
          </a:p>
        </p:txBody>
      </p:sp>
    </p:spTree>
    <p:extLst>
      <p:ext uri="{BB962C8B-B14F-4D97-AF65-F5344CB8AC3E}">
        <p14:creationId xmlns:p14="http://schemas.microsoft.com/office/powerpoint/2010/main" val="9347951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F5D16EAC-EBA1-400D-967B-6CC8F25FA9EA}" type="slidenum">
              <a:rPr lang="en-US" smtClean="0">
                <a:latin typeface="Times New Roman" pitchFamily="48" charset="0"/>
              </a:rPr>
              <a:pPr/>
              <a:t>16</a:t>
            </a:fld>
            <a:endParaRPr lang="en-US">
              <a:latin typeface="Times New Roman" pitchFamily="4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pPr eaLnBrk="1" hangingPunct="1"/>
            <a:endParaRPr lang="en-US">
              <a:latin typeface="Times New Roman" pitchFamily="48" charset="0"/>
            </a:endParaRPr>
          </a:p>
        </p:txBody>
      </p:sp>
    </p:spTree>
    <p:extLst>
      <p:ext uri="{BB962C8B-B14F-4D97-AF65-F5344CB8AC3E}">
        <p14:creationId xmlns:p14="http://schemas.microsoft.com/office/powerpoint/2010/main" val="1771086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7"/>
          <p:cNvSpPr>
            <a:spLocks noGrp="1" noChangeArrowheads="1"/>
          </p:cNvSpPr>
          <p:nvPr>
            <p:ph type="sldNum" sz="quarter" idx="5"/>
          </p:nvPr>
        </p:nvSpPr>
        <p:spPr>
          <a:noFill/>
          <a:ln>
            <a:miter lim="800000"/>
            <a:headEnd/>
            <a:tailEnd/>
          </a:ln>
        </p:spPr>
        <p:txBody>
          <a:bodyPr/>
          <a:lstStyle/>
          <a:p>
            <a:fld id="{93FCD0D5-45D0-40A9-B3DC-6F0219DC3A2F}" type="slidenum">
              <a:rPr lang="en-US"/>
              <a:pPr/>
              <a:t>17</a:t>
            </a:fld>
            <a:endParaRPr lang="en-US"/>
          </a:p>
        </p:txBody>
      </p:sp>
      <p:sp>
        <p:nvSpPr>
          <p:cNvPr id="22630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7171" name="Rectangle 3"/>
          <p:cNvSpPr>
            <a:spLocks noGrp="1" noChangeArrowheads="1"/>
          </p:cNvSpPr>
          <p:nvPr>
            <p:ph type="body" idx="1"/>
          </p:nvPr>
        </p:nvSpPr>
        <p:spPr>
          <a:noFill/>
        </p:spPr>
        <p:txBody>
          <a:bodyPr/>
          <a:lstStyle/>
          <a:p>
            <a:pPr eaLnBrk="1" hangingPunct="1"/>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5310871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7"/>
          <p:cNvSpPr>
            <a:spLocks noGrp="1" noChangeArrowheads="1"/>
          </p:cNvSpPr>
          <p:nvPr>
            <p:ph type="sldNum" sz="quarter" idx="5"/>
          </p:nvPr>
        </p:nvSpPr>
        <p:spPr>
          <a:noFill/>
          <a:ln>
            <a:miter lim="800000"/>
            <a:headEnd/>
            <a:tailEnd/>
          </a:ln>
        </p:spPr>
        <p:txBody>
          <a:bodyPr/>
          <a:lstStyle/>
          <a:p>
            <a:fld id="{93FCD0D5-45D0-40A9-B3DC-6F0219DC3A2F}" type="slidenum">
              <a:rPr lang="en-US"/>
              <a:pPr/>
              <a:t>18</a:t>
            </a:fld>
            <a:endParaRPr lang="en-US" dirty="0"/>
          </a:p>
        </p:txBody>
      </p:sp>
      <p:sp>
        <p:nvSpPr>
          <p:cNvPr id="2263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171" name="Rectangle 3"/>
          <p:cNvSpPr>
            <a:spLocks noGrp="1" noChangeArrowheads="1"/>
          </p:cNvSpPr>
          <p:nvPr>
            <p:ph type="body" idx="1"/>
          </p:nvPr>
        </p:nvSpPr>
        <p:spPr>
          <a:noFill/>
        </p:spPr>
        <p:txBody>
          <a:bodyPr/>
          <a:lstStyle/>
          <a:p>
            <a:pPr eaLnBrk="1" hangingPunct="1"/>
            <a:endParaRPr lang="en-US" dirty="0">
              <a:latin typeface="Arial" pitchFamily="34" charset="0"/>
              <a:ea typeface="ＭＳ Ｐゴシック" pitchFamily="34" charset="-128"/>
            </a:endParaRPr>
          </a:p>
        </p:txBody>
      </p:sp>
    </p:spTree>
    <p:extLst>
      <p:ext uri="{BB962C8B-B14F-4D97-AF65-F5344CB8AC3E}">
        <p14:creationId xmlns:p14="http://schemas.microsoft.com/office/powerpoint/2010/main" val="5310871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7"/>
          <p:cNvSpPr>
            <a:spLocks noGrp="1" noChangeArrowheads="1"/>
          </p:cNvSpPr>
          <p:nvPr>
            <p:ph type="sldNum" sz="quarter" idx="5"/>
          </p:nvPr>
        </p:nvSpPr>
        <p:spPr>
          <a:noFill/>
          <a:ln>
            <a:miter lim="800000"/>
            <a:headEnd/>
            <a:tailEnd/>
          </a:ln>
        </p:spPr>
        <p:txBody>
          <a:bodyPr/>
          <a:lstStyle/>
          <a:p>
            <a:fld id="{540FB145-FB90-4384-905C-5D21767117BD}" type="slidenum">
              <a:rPr lang="en-US"/>
              <a:pPr/>
              <a:t>19</a:t>
            </a:fld>
            <a:endParaRPr lang="en-US"/>
          </a:p>
        </p:txBody>
      </p:sp>
      <p:sp>
        <p:nvSpPr>
          <p:cNvPr id="2273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219" name="Rectangle 3"/>
          <p:cNvSpPr>
            <a:spLocks noGrp="1" noChangeArrowheads="1"/>
          </p:cNvSpPr>
          <p:nvPr>
            <p:ph type="body" idx="1"/>
          </p:nvPr>
        </p:nvSpPr>
        <p:spPr>
          <a:noFill/>
        </p:spPr>
        <p:txBody>
          <a:bodyPr/>
          <a:lstStyle/>
          <a:p>
            <a:pPr eaLnBrk="1" hangingPunct="1"/>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825514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20</a:t>
            </a:fld>
            <a:endParaRPr lang="en-US"/>
          </a:p>
        </p:txBody>
      </p:sp>
    </p:spTree>
    <p:extLst>
      <p:ext uri="{BB962C8B-B14F-4D97-AF65-F5344CB8AC3E}">
        <p14:creationId xmlns:p14="http://schemas.microsoft.com/office/powerpoint/2010/main" val="18026389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a:spLocks noGrp="1" noChangeArrowheads="1"/>
          </p:cNvSpPr>
          <p:nvPr>
            <p:ph type="sldNum" sz="quarter" idx="5"/>
          </p:nvPr>
        </p:nvSpPr>
        <p:spPr>
          <a:noFill/>
          <a:ln>
            <a:miter lim="800000"/>
            <a:headEnd/>
            <a:tailEnd/>
          </a:ln>
        </p:spPr>
        <p:txBody>
          <a:bodyPr/>
          <a:lstStyle/>
          <a:p>
            <a:fld id="{01C9908F-3CBA-4F4C-AB0A-B8DF50F684B7}" type="slidenum">
              <a:rPr lang="en-US"/>
              <a:pPr/>
              <a:t>21</a:t>
            </a:fld>
            <a:endParaRPr lang="en-US"/>
          </a:p>
        </p:txBody>
      </p:sp>
      <p:sp>
        <p:nvSpPr>
          <p:cNvPr id="22835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2291" name="Rectangle 3"/>
          <p:cNvSpPr>
            <a:spLocks noGrp="1" noChangeArrowheads="1"/>
          </p:cNvSpPr>
          <p:nvPr>
            <p:ph type="body" idx="1"/>
          </p:nvPr>
        </p:nvSpPr>
        <p:spPr>
          <a:noFill/>
        </p:spPr>
        <p:txBody>
          <a:bodyPr/>
          <a:lstStyle/>
          <a:p>
            <a:pPr eaLnBrk="1" hangingPunct="1"/>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33626577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22</a:t>
            </a:fld>
            <a:endParaRPr lang="en-US"/>
          </a:p>
        </p:txBody>
      </p:sp>
    </p:spTree>
    <p:extLst>
      <p:ext uri="{BB962C8B-B14F-4D97-AF65-F5344CB8AC3E}">
        <p14:creationId xmlns:p14="http://schemas.microsoft.com/office/powerpoint/2010/main" val="8291534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23</a:t>
            </a:fld>
            <a:endParaRPr lang="en-US"/>
          </a:p>
        </p:txBody>
      </p:sp>
    </p:spTree>
    <p:extLst>
      <p:ext uri="{BB962C8B-B14F-4D97-AF65-F5344CB8AC3E}">
        <p14:creationId xmlns:p14="http://schemas.microsoft.com/office/powerpoint/2010/main" val="33410672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24</a:t>
            </a:fld>
            <a:endParaRPr lang="en-US"/>
          </a:p>
        </p:txBody>
      </p:sp>
    </p:spTree>
    <p:extLst>
      <p:ext uri="{BB962C8B-B14F-4D97-AF65-F5344CB8AC3E}">
        <p14:creationId xmlns:p14="http://schemas.microsoft.com/office/powerpoint/2010/main" val="10877583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25</a:t>
            </a:fld>
            <a:endParaRPr lang="en-US"/>
          </a:p>
        </p:txBody>
      </p:sp>
    </p:spTree>
    <p:extLst>
      <p:ext uri="{BB962C8B-B14F-4D97-AF65-F5344CB8AC3E}">
        <p14:creationId xmlns:p14="http://schemas.microsoft.com/office/powerpoint/2010/main" val="535106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26</a:t>
            </a:fld>
            <a:endParaRPr lang="en-US"/>
          </a:p>
        </p:txBody>
      </p:sp>
    </p:spTree>
    <p:extLst>
      <p:ext uri="{BB962C8B-B14F-4D97-AF65-F5344CB8AC3E}">
        <p14:creationId xmlns:p14="http://schemas.microsoft.com/office/powerpoint/2010/main" val="27211665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27</a:t>
            </a:fld>
            <a:endParaRPr lang="en-US"/>
          </a:p>
        </p:txBody>
      </p:sp>
    </p:spTree>
    <p:extLst>
      <p:ext uri="{BB962C8B-B14F-4D97-AF65-F5344CB8AC3E}">
        <p14:creationId xmlns:p14="http://schemas.microsoft.com/office/powerpoint/2010/main" val="440267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28</a:t>
            </a:fld>
            <a:endParaRPr lang="en-US"/>
          </a:p>
        </p:txBody>
      </p:sp>
    </p:spTree>
    <p:extLst>
      <p:ext uri="{BB962C8B-B14F-4D97-AF65-F5344CB8AC3E}">
        <p14:creationId xmlns:p14="http://schemas.microsoft.com/office/powerpoint/2010/main" val="30868555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29</a:t>
            </a:fld>
            <a:endParaRPr lang="en-US"/>
          </a:p>
        </p:txBody>
      </p:sp>
    </p:spTree>
    <p:extLst>
      <p:ext uri="{BB962C8B-B14F-4D97-AF65-F5344CB8AC3E}">
        <p14:creationId xmlns:p14="http://schemas.microsoft.com/office/powerpoint/2010/main" val="10523167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93187" name="Notes Placeholder 2"/>
          <p:cNvSpPr>
            <a:spLocks noGrp="1"/>
          </p:cNvSpPr>
          <p:nvPr>
            <p:ph type="body" idx="1"/>
          </p:nvPr>
        </p:nvSpPr>
        <p:spPr>
          <a:noFill/>
          <a:ln/>
        </p:spPr>
        <p:txBody>
          <a:bodyPr/>
          <a:lstStyle/>
          <a:p>
            <a:endParaRPr lang="en-US">
              <a:latin typeface="Times New Roman" pitchFamily="48" charset="0"/>
            </a:endParaRPr>
          </a:p>
        </p:txBody>
      </p:sp>
      <p:sp>
        <p:nvSpPr>
          <p:cNvPr id="93188" name="Slide Number Placeholder 3"/>
          <p:cNvSpPr>
            <a:spLocks noGrp="1"/>
          </p:cNvSpPr>
          <p:nvPr>
            <p:ph type="sldNum" sz="quarter" idx="5"/>
          </p:nvPr>
        </p:nvSpPr>
        <p:spPr>
          <a:noFill/>
        </p:spPr>
        <p:txBody>
          <a:bodyPr/>
          <a:lstStyle/>
          <a:p>
            <a:fld id="{41931783-30DA-425B-B4C0-861996075C47}" type="slidenum">
              <a:rPr lang="en-US" smtClean="0">
                <a:latin typeface="Times New Roman" pitchFamily="48" charset="0"/>
              </a:rPr>
              <a:pPr/>
              <a:t>30</a:t>
            </a:fld>
            <a:endParaRPr lang="en-US">
              <a:latin typeface="Times New Roman" pitchFamily="48" charset="0"/>
            </a:endParaRPr>
          </a:p>
        </p:txBody>
      </p:sp>
    </p:spTree>
    <p:extLst>
      <p:ext uri="{BB962C8B-B14F-4D97-AF65-F5344CB8AC3E}">
        <p14:creationId xmlns:p14="http://schemas.microsoft.com/office/powerpoint/2010/main" val="26575694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A26A3FBF-1BD0-4B41-9B78-E81EF94A913B}" type="slidenum">
              <a:rPr lang="en-US" smtClean="0">
                <a:latin typeface="Times New Roman" pitchFamily="48" charset="0"/>
              </a:rPr>
              <a:pPr/>
              <a:t>31</a:t>
            </a:fld>
            <a:endParaRPr lang="en-US">
              <a:latin typeface="Times New Roman" pitchFamily="48"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endParaRPr lang="en-US">
              <a:latin typeface="Times New Roman" pitchFamily="48" charset="0"/>
            </a:endParaRPr>
          </a:p>
        </p:txBody>
      </p:sp>
    </p:spTree>
    <p:extLst>
      <p:ext uri="{BB962C8B-B14F-4D97-AF65-F5344CB8AC3E}">
        <p14:creationId xmlns:p14="http://schemas.microsoft.com/office/powerpoint/2010/main" val="4426241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noFill/>
          <a:ln/>
        </p:spPr>
        <p:txBody>
          <a:bodyPr/>
          <a:lstStyle/>
          <a:p>
            <a:endParaRPr lang="en-US">
              <a:latin typeface="Times New Roman" pitchFamily="48" charset="0"/>
            </a:endParaRPr>
          </a:p>
        </p:txBody>
      </p:sp>
      <p:sp>
        <p:nvSpPr>
          <p:cNvPr id="102404" name="Slide Number Placeholder 3"/>
          <p:cNvSpPr>
            <a:spLocks noGrp="1"/>
          </p:cNvSpPr>
          <p:nvPr>
            <p:ph type="sldNum" sz="quarter" idx="5"/>
          </p:nvPr>
        </p:nvSpPr>
        <p:spPr>
          <a:noFill/>
        </p:spPr>
        <p:txBody>
          <a:bodyPr/>
          <a:lstStyle/>
          <a:p>
            <a:fld id="{73C6FAB5-7D23-4B91-A01D-143C2C72319C}" type="slidenum">
              <a:rPr lang="en-US" smtClean="0">
                <a:latin typeface="Times New Roman" pitchFamily="48" charset="0"/>
              </a:rPr>
              <a:pPr/>
              <a:t>32</a:t>
            </a:fld>
            <a:endParaRPr lang="en-US">
              <a:latin typeface="Times New Roman" pitchFamily="48" charset="0"/>
            </a:endParaRPr>
          </a:p>
        </p:txBody>
      </p:sp>
    </p:spTree>
    <p:extLst>
      <p:ext uri="{BB962C8B-B14F-4D97-AF65-F5344CB8AC3E}">
        <p14:creationId xmlns:p14="http://schemas.microsoft.com/office/powerpoint/2010/main" val="12911507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5EBA79C-606A-4A35-9647-4D305C77F39B}" type="slidenum">
              <a:rPr lang="en-US" smtClean="0"/>
              <a:pPr>
                <a:defRPr/>
              </a:pPr>
              <a:t>33</a:t>
            </a:fld>
            <a:endParaRPr lang="en-US"/>
          </a:p>
        </p:txBody>
      </p:sp>
    </p:spTree>
    <p:extLst>
      <p:ext uri="{BB962C8B-B14F-4D97-AF65-F5344CB8AC3E}">
        <p14:creationId xmlns:p14="http://schemas.microsoft.com/office/powerpoint/2010/main" val="37555438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5EBA79C-606A-4A35-9647-4D305C77F39B}" type="slidenum">
              <a:rPr lang="en-US" smtClean="0"/>
              <a:pPr>
                <a:defRPr/>
              </a:pPr>
              <a:t>34</a:t>
            </a:fld>
            <a:endParaRPr lang="en-US"/>
          </a:p>
        </p:txBody>
      </p:sp>
    </p:spTree>
    <p:extLst>
      <p:ext uri="{BB962C8B-B14F-4D97-AF65-F5344CB8AC3E}">
        <p14:creationId xmlns:p14="http://schemas.microsoft.com/office/powerpoint/2010/main" val="17165914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ln/>
        </p:spPr>
      </p:sp>
      <p:sp>
        <p:nvSpPr>
          <p:cNvPr id="103427" name="Notes Placeholder 2"/>
          <p:cNvSpPr>
            <a:spLocks noGrp="1"/>
          </p:cNvSpPr>
          <p:nvPr>
            <p:ph type="body" idx="1"/>
          </p:nvPr>
        </p:nvSpPr>
        <p:spPr>
          <a:noFill/>
          <a:ln/>
        </p:spPr>
        <p:txBody>
          <a:bodyPr/>
          <a:lstStyle/>
          <a:p>
            <a:endParaRPr lang="en-US">
              <a:latin typeface="Times New Roman" pitchFamily="48" charset="0"/>
            </a:endParaRPr>
          </a:p>
        </p:txBody>
      </p:sp>
      <p:sp>
        <p:nvSpPr>
          <p:cNvPr id="103428" name="Slide Number Placeholder 3"/>
          <p:cNvSpPr>
            <a:spLocks noGrp="1"/>
          </p:cNvSpPr>
          <p:nvPr>
            <p:ph type="sldNum" sz="quarter" idx="5"/>
          </p:nvPr>
        </p:nvSpPr>
        <p:spPr>
          <a:noFill/>
        </p:spPr>
        <p:txBody>
          <a:bodyPr/>
          <a:lstStyle/>
          <a:p>
            <a:fld id="{6B3ABDA3-8763-44A3-A066-42E213918A96}" type="slidenum">
              <a:rPr lang="en-US" smtClean="0">
                <a:latin typeface="Times New Roman" pitchFamily="48" charset="0"/>
              </a:rPr>
              <a:pPr/>
              <a:t>35</a:t>
            </a:fld>
            <a:endParaRPr lang="en-US">
              <a:latin typeface="Times New Roman" pitchFamily="48" charset="0"/>
            </a:endParaRPr>
          </a:p>
        </p:txBody>
      </p:sp>
    </p:spTree>
    <p:extLst>
      <p:ext uri="{BB962C8B-B14F-4D97-AF65-F5344CB8AC3E}">
        <p14:creationId xmlns:p14="http://schemas.microsoft.com/office/powerpoint/2010/main" val="30070266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44617844-5D21-45A9-A2C5-5F48CE1E6FD0}" type="slidenum">
              <a:rPr lang="en-US" smtClean="0">
                <a:latin typeface="Times New Roman" pitchFamily="48" charset="0"/>
              </a:rPr>
              <a:pPr/>
              <a:t>36</a:t>
            </a:fld>
            <a:endParaRPr lang="en-US">
              <a:latin typeface="Times New Roman" pitchFamily="48" charset="0"/>
            </a:endParaRPr>
          </a:p>
        </p:txBody>
      </p:sp>
      <p:sp>
        <p:nvSpPr>
          <p:cNvPr id="104451" name="Rectangle 2"/>
          <p:cNvSpPr>
            <a:spLocks noGrp="1" noRot="1" noChangeAspect="1" noChangeArrowheads="1" noTextEdit="1"/>
          </p:cNvSpPr>
          <p:nvPr>
            <p:ph type="sldImg"/>
          </p:nvPr>
        </p:nvSpPr>
        <p:spPr>
          <a:xfrm>
            <a:off x="103188" y="750888"/>
            <a:ext cx="6592887" cy="3709987"/>
          </a:xfrm>
          <a:ln/>
        </p:spPr>
      </p:sp>
      <p:sp>
        <p:nvSpPr>
          <p:cNvPr id="104452" name="Rectangle 3"/>
          <p:cNvSpPr>
            <a:spLocks noGrp="1" noChangeArrowheads="1"/>
          </p:cNvSpPr>
          <p:nvPr>
            <p:ph type="body" idx="1"/>
          </p:nvPr>
        </p:nvSpPr>
        <p:spPr>
          <a:xfrm>
            <a:off x="907243" y="4716991"/>
            <a:ext cx="4983191" cy="4467430"/>
          </a:xfrm>
          <a:noFill/>
          <a:ln/>
        </p:spPr>
        <p:txBody>
          <a:bodyPr lIns="92286" tIns="46144" rIns="92286" bIns="46144"/>
          <a:lstStyle/>
          <a:p>
            <a:pPr eaLnBrk="1" hangingPunct="1"/>
            <a:endParaRPr lang="en-US"/>
          </a:p>
        </p:txBody>
      </p:sp>
    </p:spTree>
    <p:extLst>
      <p:ext uri="{BB962C8B-B14F-4D97-AF65-F5344CB8AC3E}">
        <p14:creationId xmlns:p14="http://schemas.microsoft.com/office/powerpoint/2010/main" val="17801957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ln/>
        </p:spPr>
      </p:sp>
      <p:sp>
        <p:nvSpPr>
          <p:cNvPr id="106499" name="Notes Placeholder 2"/>
          <p:cNvSpPr>
            <a:spLocks noGrp="1"/>
          </p:cNvSpPr>
          <p:nvPr>
            <p:ph type="body" idx="1"/>
          </p:nvPr>
        </p:nvSpPr>
        <p:spPr>
          <a:noFill/>
          <a:ln/>
        </p:spPr>
        <p:txBody>
          <a:bodyPr/>
          <a:lstStyle/>
          <a:p>
            <a:endParaRPr lang="en-US">
              <a:latin typeface="Times New Roman" pitchFamily="48" charset="0"/>
            </a:endParaRPr>
          </a:p>
        </p:txBody>
      </p:sp>
      <p:sp>
        <p:nvSpPr>
          <p:cNvPr id="106500" name="Slide Number Placeholder 3"/>
          <p:cNvSpPr>
            <a:spLocks noGrp="1"/>
          </p:cNvSpPr>
          <p:nvPr>
            <p:ph type="sldNum" sz="quarter" idx="5"/>
          </p:nvPr>
        </p:nvSpPr>
        <p:spPr>
          <a:noFill/>
        </p:spPr>
        <p:txBody>
          <a:bodyPr/>
          <a:lstStyle/>
          <a:p>
            <a:fld id="{38B788D2-0B94-4931-8EAE-F70FB30CEF9F}" type="slidenum">
              <a:rPr lang="en-US" smtClean="0">
                <a:latin typeface="Times New Roman" pitchFamily="48" charset="0"/>
              </a:rPr>
              <a:pPr/>
              <a:t>37</a:t>
            </a:fld>
            <a:endParaRPr lang="en-US">
              <a:latin typeface="Times New Roman" pitchFamily="48" charset="0"/>
            </a:endParaRPr>
          </a:p>
        </p:txBody>
      </p:sp>
    </p:spTree>
    <p:extLst>
      <p:ext uri="{BB962C8B-B14F-4D97-AF65-F5344CB8AC3E}">
        <p14:creationId xmlns:p14="http://schemas.microsoft.com/office/powerpoint/2010/main" val="14114865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B1E3736A-AAD2-4CE8-B5D2-47E1CD777B33}" type="slidenum">
              <a:rPr lang="en-US" smtClean="0"/>
              <a:pPr>
                <a:defRPr/>
              </a:pPr>
              <a:t>38</a:t>
            </a:fld>
            <a:endParaRPr lang="en-US"/>
          </a:p>
        </p:txBody>
      </p:sp>
    </p:spTree>
    <p:extLst>
      <p:ext uri="{BB962C8B-B14F-4D97-AF65-F5344CB8AC3E}">
        <p14:creationId xmlns:p14="http://schemas.microsoft.com/office/powerpoint/2010/main" val="2910907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39</a:t>
            </a:fld>
            <a:endParaRPr lang="en-US"/>
          </a:p>
        </p:txBody>
      </p:sp>
    </p:spTree>
    <p:extLst>
      <p:ext uri="{BB962C8B-B14F-4D97-AF65-F5344CB8AC3E}">
        <p14:creationId xmlns:p14="http://schemas.microsoft.com/office/powerpoint/2010/main" val="28479158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a:ln/>
        </p:spPr>
      </p:sp>
      <p:sp>
        <p:nvSpPr>
          <p:cNvPr id="110595" name="Notes Placeholder 2"/>
          <p:cNvSpPr>
            <a:spLocks noGrp="1"/>
          </p:cNvSpPr>
          <p:nvPr>
            <p:ph type="body" idx="1"/>
          </p:nvPr>
        </p:nvSpPr>
        <p:spPr>
          <a:noFill/>
          <a:ln/>
        </p:spPr>
        <p:txBody>
          <a:bodyPr/>
          <a:lstStyle/>
          <a:p>
            <a:endParaRPr lang="en-US">
              <a:latin typeface="Times New Roman" pitchFamily="48" charset="0"/>
            </a:endParaRPr>
          </a:p>
        </p:txBody>
      </p:sp>
      <p:sp>
        <p:nvSpPr>
          <p:cNvPr id="110596" name="Slide Number Placeholder 3"/>
          <p:cNvSpPr>
            <a:spLocks noGrp="1"/>
          </p:cNvSpPr>
          <p:nvPr>
            <p:ph type="sldNum" sz="quarter" idx="5"/>
          </p:nvPr>
        </p:nvSpPr>
        <p:spPr>
          <a:noFill/>
        </p:spPr>
        <p:txBody>
          <a:bodyPr/>
          <a:lstStyle/>
          <a:p>
            <a:fld id="{85ECC4D9-0899-480E-8A6D-F80DAC138F5B}" type="slidenum">
              <a:rPr lang="en-US" smtClean="0">
                <a:latin typeface="Times New Roman" pitchFamily="48" charset="0"/>
              </a:rPr>
              <a:pPr/>
              <a:t>40</a:t>
            </a:fld>
            <a:endParaRPr lang="en-US">
              <a:latin typeface="Times New Roman" pitchFamily="48" charset="0"/>
            </a:endParaRPr>
          </a:p>
        </p:txBody>
      </p:sp>
    </p:spTree>
    <p:extLst>
      <p:ext uri="{BB962C8B-B14F-4D97-AF65-F5344CB8AC3E}">
        <p14:creationId xmlns:p14="http://schemas.microsoft.com/office/powerpoint/2010/main" val="8499896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0B3E91A0-D025-414E-B369-5AD89D8101E1}" type="slidenum">
              <a:rPr lang="en-US" smtClean="0">
                <a:latin typeface="Times New Roman" pitchFamily="48" charset="0"/>
              </a:rPr>
              <a:pPr/>
              <a:t>41</a:t>
            </a:fld>
            <a:endParaRPr lang="en-US">
              <a:latin typeface="Times New Roman" pitchFamily="48" charset="0"/>
            </a:endParaRPr>
          </a:p>
        </p:txBody>
      </p:sp>
      <p:sp>
        <p:nvSpPr>
          <p:cNvPr id="105475" name="Rectangle 2"/>
          <p:cNvSpPr>
            <a:spLocks noGrp="1" noRot="1" noChangeAspect="1" noChangeArrowheads="1" noTextEdit="1"/>
          </p:cNvSpPr>
          <p:nvPr>
            <p:ph type="sldImg"/>
          </p:nvPr>
        </p:nvSpPr>
        <p:spPr>
          <a:xfrm>
            <a:off x="103188" y="750888"/>
            <a:ext cx="6592887" cy="3709987"/>
          </a:xfrm>
          <a:ln/>
        </p:spPr>
      </p:sp>
      <p:sp>
        <p:nvSpPr>
          <p:cNvPr id="105476" name="Rectangle 3"/>
          <p:cNvSpPr>
            <a:spLocks noGrp="1" noChangeArrowheads="1"/>
          </p:cNvSpPr>
          <p:nvPr>
            <p:ph type="body" idx="1"/>
          </p:nvPr>
        </p:nvSpPr>
        <p:spPr>
          <a:xfrm>
            <a:off x="907243" y="4716991"/>
            <a:ext cx="4983191" cy="4467430"/>
          </a:xfrm>
          <a:noFill/>
          <a:ln/>
        </p:spPr>
        <p:txBody>
          <a:bodyPr lIns="92286" tIns="46144" rIns="92286" bIns="46144"/>
          <a:lstStyle/>
          <a:p>
            <a:pPr eaLnBrk="1" hangingPunct="1"/>
            <a:endParaRPr lang="en-US"/>
          </a:p>
        </p:txBody>
      </p:sp>
    </p:spTree>
    <p:extLst>
      <p:ext uri="{BB962C8B-B14F-4D97-AF65-F5344CB8AC3E}">
        <p14:creationId xmlns:p14="http://schemas.microsoft.com/office/powerpoint/2010/main" val="3183466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4E4D3930-A8CA-4FDA-9D15-B11EBDC9AE38}" type="slidenum">
              <a:rPr lang="en-US" smtClean="0"/>
              <a:pPr/>
              <a:t>42</a:t>
            </a:fld>
            <a:endParaRPr lang="en-US"/>
          </a:p>
        </p:txBody>
      </p:sp>
      <p:sp>
        <p:nvSpPr>
          <p:cNvPr id="78851" name="Rectangle 2"/>
          <p:cNvSpPr>
            <a:spLocks noGrp="1" noRot="1" noChangeAspect="1" noChangeArrowheads="1" noTextEdit="1"/>
          </p:cNvSpPr>
          <p:nvPr>
            <p:ph type="sldImg"/>
          </p:nvPr>
        </p:nvSpPr>
        <p:spPr>
          <a:xfrm>
            <a:off x="155575" y="739775"/>
            <a:ext cx="6488113" cy="3649663"/>
          </a:xfrm>
          <a:ln/>
        </p:spPr>
      </p:sp>
      <p:sp>
        <p:nvSpPr>
          <p:cNvPr id="78852" name="Rectangle 3"/>
          <p:cNvSpPr>
            <a:spLocks noGrp="1" noChangeArrowheads="1"/>
          </p:cNvSpPr>
          <p:nvPr>
            <p:ph type="body" idx="1"/>
          </p:nvPr>
        </p:nvSpPr>
        <p:spPr>
          <a:xfrm>
            <a:off x="907932" y="4639339"/>
            <a:ext cx="4981815" cy="43951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13" rIns="91425" bIns="45713"/>
          <a:lstStyle/>
          <a:p>
            <a:pPr eaLnBrk="1" hangingPunct="1"/>
            <a:endParaRPr lang="en-US"/>
          </a:p>
        </p:txBody>
      </p:sp>
    </p:spTree>
    <p:extLst>
      <p:ext uri="{BB962C8B-B14F-4D97-AF65-F5344CB8AC3E}">
        <p14:creationId xmlns:p14="http://schemas.microsoft.com/office/powerpoint/2010/main" val="4521848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5EBA79C-606A-4A35-9647-4D305C77F39B}" type="slidenum">
              <a:rPr lang="en-US" smtClean="0"/>
              <a:pPr>
                <a:defRPr/>
              </a:pPr>
              <a:t>43</a:t>
            </a:fld>
            <a:endParaRPr lang="en-US"/>
          </a:p>
        </p:txBody>
      </p:sp>
    </p:spTree>
    <p:extLst>
      <p:ext uri="{BB962C8B-B14F-4D97-AF65-F5344CB8AC3E}">
        <p14:creationId xmlns:p14="http://schemas.microsoft.com/office/powerpoint/2010/main" val="7827164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a:ln/>
        </p:spPr>
      </p:sp>
      <p:sp>
        <p:nvSpPr>
          <p:cNvPr id="113667" name="Notes Placeholder 2"/>
          <p:cNvSpPr>
            <a:spLocks noGrp="1"/>
          </p:cNvSpPr>
          <p:nvPr>
            <p:ph type="body" idx="1"/>
          </p:nvPr>
        </p:nvSpPr>
        <p:spPr>
          <a:noFill/>
          <a:ln/>
        </p:spPr>
        <p:txBody>
          <a:bodyPr/>
          <a:lstStyle/>
          <a:p>
            <a:endParaRPr lang="en-US">
              <a:latin typeface="Times New Roman" pitchFamily="48" charset="0"/>
            </a:endParaRPr>
          </a:p>
        </p:txBody>
      </p:sp>
      <p:sp>
        <p:nvSpPr>
          <p:cNvPr id="113668" name="Slide Number Placeholder 3"/>
          <p:cNvSpPr>
            <a:spLocks noGrp="1"/>
          </p:cNvSpPr>
          <p:nvPr>
            <p:ph type="sldNum" sz="quarter" idx="5"/>
          </p:nvPr>
        </p:nvSpPr>
        <p:spPr>
          <a:noFill/>
        </p:spPr>
        <p:txBody>
          <a:bodyPr/>
          <a:lstStyle/>
          <a:p>
            <a:fld id="{59FC3AC1-1112-4E02-BD80-B3AC610CE55C}" type="slidenum">
              <a:rPr lang="en-US" smtClean="0">
                <a:latin typeface="Times New Roman" pitchFamily="48" charset="0"/>
              </a:rPr>
              <a:pPr/>
              <a:t>44</a:t>
            </a:fld>
            <a:endParaRPr lang="en-US">
              <a:latin typeface="Times New Roman" pitchFamily="48" charset="0"/>
            </a:endParaRPr>
          </a:p>
        </p:txBody>
      </p:sp>
    </p:spTree>
    <p:extLst>
      <p:ext uri="{BB962C8B-B14F-4D97-AF65-F5344CB8AC3E}">
        <p14:creationId xmlns:p14="http://schemas.microsoft.com/office/powerpoint/2010/main" val="32557298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45</a:t>
            </a:fld>
            <a:endParaRPr lang="en-US"/>
          </a:p>
        </p:txBody>
      </p:sp>
    </p:spTree>
    <p:extLst>
      <p:ext uri="{BB962C8B-B14F-4D97-AF65-F5344CB8AC3E}">
        <p14:creationId xmlns:p14="http://schemas.microsoft.com/office/powerpoint/2010/main" val="409648119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a:ln/>
        </p:spPr>
      </p:sp>
      <p:sp>
        <p:nvSpPr>
          <p:cNvPr id="114691" name="Notes Placeholder 2"/>
          <p:cNvSpPr>
            <a:spLocks noGrp="1"/>
          </p:cNvSpPr>
          <p:nvPr>
            <p:ph type="body" idx="1"/>
          </p:nvPr>
        </p:nvSpPr>
        <p:spPr>
          <a:noFill/>
          <a:ln/>
        </p:spPr>
        <p:txBody>
          <a:bodyPr/>
          <a:lstStyle/>
          <a:p>
            <a:endParaRPr lang="en-US">
              <a:latin typeface="Times New Roman" pitchFamily="48" charset="0"/>
            </a:endParaRPr>
          </a:p>
        </p:txBody>
      </p:sp>
      <p:sp>
        <p:nvSpPr>
          <p:cNvPr id="114692" name="Slide Number Placeholder 3"/>
          <p:cNvSpPr>
            <a:spLocks noGrp="1"/>
          </p:cNvSpPr>
          <p:nvPr>
            <p:ph type="sldNum" sz="quarter" idx="5"/>
          </p:nvPr>
        </p:nvSpPr>
        <p:spPr>
          <a:noFill/>
        </p:spPr>
        <p:txBody>
          <a:bodyPr/>
          <a:lstStyle/>
          <a:p>
            <a:fld id="{A0BEFA51-1AD3-4CD3-9E6E-65B69C84E724}" type="slidenum">
              <a:rPr lang="en-US" smtClean="0">
                <a:latin typeface="Times New Roman" pitchFamily="48" charset="0"/>
              </a:rPr>
              <a:pPr/>
              <a:t>46</a:t>
            </a:fld>
            <a:endParaRPr lang="en-US">
              <a:latin typeface="Times New Roman" pitchFamily="48" charset="0"/>
            </a:endParaRPr>
          </a:p>
        </p:txBody>
      </p:sp>
    </p:spTree>
    <p:extLst>
      <p:ext uri="{BB962C8B-B14F-4D97-AF65-F5344CB8AC3E}">
        <p14:creationId xmlns:p14="http://schemas.microsoft.com/office/powerpoint/2010/main" val="34482060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47</a:t>
            </a:fld>
            <a:endParaRPr lang="en-US"/>
          </a:p>
        </p:txBody>
      </p:sp>
    </p:spTree>
    <p:extLst>
      <p:ext uri="{BB962C8B-B14F-4D97-AF65-F5344CB8AC3E}">
        <p14:creationId xmlns:p14="http://schemas.microsoft.com/office/powerpoint/2010/main" val="778118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48</a:t>
            </a:fld>
            <a:endParaRPr lang="en-US"/>
          </a:p>
        </p:txBody>
      </p:sp>
    </p:spTree>
    <p:extLst>
      <p:ext uri="{BB962C8B-B14F-4D97-AF65-F5344CB8AC3E}">
        <p14:creationId xmlns:p14="http://schemas.microsoft.com/office/powerpoint/2010/main" val="26565644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49</a:t>
            </a:fld>
            <a:endParaRPr lang="en-US"/>
          </a:p>
        </p:txBody>
      </p:sp>
    </p:spTree>
    <p:extLst>
      <p:ext uri="{BB962C8B-B14F-4D97-AF65-F5344CB8AC3E}">
        <p14:creationId xmlns:p14="http://schemas.microsoft.com/office/powerpoint/2010/main" val="37514895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50</a:t>
            </a:fld>
            <a:endParaRPr lang="en-US"/>
          </a:p>
        </p:txBody>
      </p:sp>
    </p:spTree>
    <p:extLst>
      <p:ext uri="{BB962C8B-B14F-4D97-AF65-F5344CB8AC3E}">
        <p14:creationId xmlns:p14="http://schemas.microsoft.com/office/powerpoint/2010/main" val="24834026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51</a:t>
            </a:fld>
            <a:endParaRPr lang="en-US"/>
          </a:p>
        </p:txBody>
      </p:sp>
    </p:spTree>
    <p:extLst>
      <p:ext uri="{BB962C8B-B14F-4D97-AF65-F5344CB8AC3E}">
        <p14:creationId xmlns:p14="http://schemas.microsoft.com/office/powerpoint/2010/main" val="42016068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52</a:t>
            </a:fld>
            <a:endParaRPr lang="en-US"/>
          </a:p>
        </p:txBody>
      </p:sp>
    </p:spTree>
    <p:extLst>
      <p:ext uri="{BB962C8B-B14F-4D97-AF65-F5344CB8AC3E}">
        <p14:creationId xmlns:p14="http://schemas.microsoft.com/office/powerpoint/2010/main" val="306447721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F6D5E3B-523D-4989-93F2-3633F012F0A4}" type="slidenum">
              <a:rPr lang="en-US" smtClean="0"/>
              <a:pPr/>
              <a:t>53</a:t>
            </a:fld>
            <a:endParaRPr lang="en-US"/>
          </a:p>
        </p:txBody>
      </p:sp>
    </p:spTree>
    <p:extLst>
      <p:ext uri="{BB962C8B-B14F-4D97-AF65-F5344CB8AC3E}">
        <p14:creationId xmlns:p14="http://schemas.microsoft.com/office/powerpoint/2010/main" val="304236318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85EBA79C-606A-4A35-9647-4D305C77F39B}" type="slidenum">
              <a:rPr lang="en-US" smtClean="0"/>
              <a:pPr>
                <a:defRPr/>
              </a:pPr>
              <a:t>54</a:t>
            </a:fld>
            <a:endParaRPr lang="en-US"/>
          </a:p>
        </p:txBody>
      </p:sp>
    </p:spTree>
    <p:extLst>
      <p:ext uri="{BB962C8B-B14F-4D97-AF65-F5344CB8AC3E}">
        <p14:creationId xmlns:p14="http://schemas.microsoft.com/office/powerpoint/2010/main" val="23767631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85EBA79C-606A-4A35-9647-4D305C77F39B}" type="slidenum">
              <a:rPr lang="en-US" smtClean="0"/>
              <a:pPr>
                <a:defRPr/>
              </a:pPr>
              <a:t>55</a:t>
            </a:fld>
            <a:endParaRPr lang="en-US"/>
          </a:p>
        </p:txBody>
      </p:sp>
    </p:spTree>
    <p:extLst>
      <p:ext uri="{BB962C8B-B14F-4D97-AF65-F5344CB8AC3E}">
        <p14:creationId xmlns:p14="http://schemas.microsoft.com/office/powerpoint/2010/main" val="263160187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85EBA79C-606A-4A35-9647-4D305C77F39B}" type="slidenum">
              <a:rPr lang="en-US" smtClean="0"/>
              <a:pPr>
                <a:defRPr/>
              </a:pPr>
              <a:t>56</a:t>
            </a:fld>
            <a:endParaRPr lang="en-US"/>
          </a:p>
        </p:txBody>
      </p:sp>
    </p:spTree>
    <p:extLst>
      <p:ext uri="{BB962C8B-B14F-4D97-AF65-F5344CB8AC3E}">
        <p14:creationId xmlns:p14="http://schemas.microsoft.com/office/powerpoint/2010/main" val="225848801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85EBA79C-606A-4A35-9647-4D305C77F39B}" type="slidenum">
              <a:rPr lang="en-US" smtClean="0"/>
              <a:pPr>
                <a:defRPr/>
              </a:pPr>
              <a:t>57</a:t>
            </a:fld>
            <a:endParaRPr lang="en-US"/>
          </a:p>
        </p:txBody>
      </p:sp>
    </p:spTree>
    <p:extLst>
      <p:ext uri="{BB962C8B-B14F-4D97-AF65-F5344CB8AC3E}">
        <p14:creationId xmlns:p14="http://schemas.microsoft.com/office/powerpoint/2010/main" val="14575398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85EBA79C-606A-4A35-9647-4D305C77F39B}" type="slidenum">
              <a:rPr lang="en-US" smtClean="0"/>
              <a:pPr>
                <a:defRPr/>
              </a:pPr>
              <a:t>58</a:t>
            </a:fld>
            <a:endParaRPr lang="en-US"/>
          </a:p>
        </p:txBody>
      </p:sp>
    </p:spTree>
    <p:extLst>
      <p:ext uri="{BB962C8B-B14F-4D97-AF65-F5344CB8AC3E}">
        <p14:creationId xmlns:p14="http://schemas.microsoft.com/office/powerpoint/2010/main" val="3570335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95E9AF5-9E42-4797-8204-53D663AF20F3}"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88898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254291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5E9AF5-9E42-4797-8204-53D663AF20F3}"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3220282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95E9AF5-9E42-4797-8204-53D663AF20F3}"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540985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95E9AF5-9E42-4797-8204-53D663AF20F3}" type="datetimeFigureOut">
              <a:rPr lang="en-US" smtClean="0"/>
              <a:pPr/>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6953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5E9AF5-9E42-4797-8204-53D663AF20F3}" type="datetimeFigureOut">
              <a:rPr lang="en-US" smtClean="0"/>
              <a:pPr/>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303399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5E9AF5-9E42-4797-8204-53D663AF20F3}" type="datetimeFigureOut">
              <a:rPr lang="en-US" smtClean="0"/>
              <a:pPr/>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353847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5E9AF5-9E42-4797-8204-53D663AF20F3}"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669817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5E9AF5-9E42-4797-8204-53D663AF20F3}"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792203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898248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526484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5E9AF5-9E42-4797-8204-53D663AF20F3}" type="datetimeFigureOut">
              <a:rPr lang="en-US" smtClean="0"/>
              <a:pPr/>
              <a:t>10/8/2026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F05C8B-718F-4869-805E-863C3A552F10}" type="slidenum">
              <a:rPr lang="en-US" smtClean="0"/>
              <a:pPr/>
              <a:t>‹#›</a:t>
            </a:fld>
            <a:endParaRPr lang="en-US"/>
          </a:p>
        </p:txBody>
      </p:sp>
    </p:spTree>
    <p:extLst>
      <p:ext uri="{BB962C8B-B14F-4D97-AF65-F5344CB8AC3E}">
        <p14:creationId xmlns:p14="http://schemas.microsoft.com/office/powerpoint/2010/main" val="5232646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www.postergenius.com/cms/index.php"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hyperlink" Target="http://www.swarthmore.edu/NatSci/cpurrin1/posteradvice.htm" TargetMode="External"/><Relationship Id="rId5" Type="http://schemas.openxmlformats.org/officeDocument/2006/relationships/image" Target="../media/image23.jpeg"/><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25.wmf"/></Relationships>
</file>

<file path=ppt/slides/_rels/slide49.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25.wmf"/></Relationships>
</file>

<file path=ppt/slides/_rels/slide50.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25.wmf"/></Relationships>
</file>

<file path=ppt/slides/_rels/slide51.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25.wmf"/></Relationships>
</file>

<file path=ppt/slides/_rels/slide52.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hyperlink" Target="http://www.swarthmore.edu/NatSci/cpurrin1/evolk12/evoops.htm" TargetMode="External"/><Relationship Id="rId7" Type="http://schemas.openxmlformats.org/officeDocument/2006/relationships/image" Target="../media/image28.jpeg"/><Relationship Id="rId2" Type="http://schemas.openxmlformats.org/officeDocument/2006/relationships/notesSlide" Target="../notesSlides/notesSlide50.xml"/><Relationship Id="rId1" Type="http://schemas.openxmlformats.org/officeDocument/2006/relationships/slideLayout" Target="../slideLayouts/slideLayout7.xml"/><Relationship Id="rId6" Type="http://schemas.openxmlformats.org/officeDocument/2006/relationships/hyperlink" Target="http://www.swarthmore.edu/NatSci/cpurrin1/evolk12/posse/chazhasaposse.htm" TargetMode="External"/><Relationship Id="rId5" Type="http://schemas.openxmlformats.org/officeDocument/2006/relationships/image" Target="../media/image27.png"/><Relationship Id="rId4" Type="http://schemas.openxmlformats.org/officeDocument/2006/relationships/image" Target="../media/image26.jpeg"/></Relationships>
</file>

<file path=ppt/slides/_rels/slide5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5B099-05A1-43B6-AD42-8F1D77EAE288}"/>
              </a:ext>
            </a:extLst>
          </p:cNvPr>
          <p:cNvSpPr>
            <a:spLocks noGrp="1"/>
          </p:cNvSpPr>
          <p:nvPr>
            <p:ph type="title"/>
          </p:nvPr>
        </p:nvSpPr>
        <p:spPr/>
        <p:txBody>
          <a:bodyPr/>
          <a:lstStyle/>
          <a:p>
            <a:r>
              <a:rPr lang="en-GB"/>
              <a:t>Group work task </a:t>
            </a:r>
            <a:r>
              <a:rPr lang="en-GB" dirty="0"/>
              <a:t>3 reminder</a:t>
            </a:r>
          </a:p>
        </p:txBody>
      </p:sp>
      <p:sp>
        <p:nvSpPr>
          <p:cNvPr id="3" name="Content Placeholder 2">
            <a:extLst>
              <a:ext uri="{FF2B5EF4-FFF2-40B4-BE49-F238E27FC236}">
                <a16:creationId xmlns:a16="http://schemas.microsoft.com/office/drawing/2014/main" id="{4BD69784-E458-406B-8ABB-6DE0BB75C7FF}"/>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732719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Research Communication Skills</a:t>
            </a:r>
          </a:p>
        </p:txBody>
      </p:sp>
      <p:sp>
        <p:nvSpPr>
          <p:cNvPr id="3" name="Subtitle 2"/>
          <p:cNvSpPr>
            <a:spLocks noGrp="1"/>
          </p:cNvSpPr>
          <p:nvPr>
            <p:ph type="subTitle" idx="1"/>
          </p:nvPr>
        </p:nvSpPr>
        <p:spPr/>
        <p:txBody>
          <a:bodyPr>
            <a:normAutofit/>
          </a:bodyPr>
          <a:lstStyle/>
          <a:p>
            <a:endParaRPr lang="en-US" sz="4400" dirty="0"/>
          </a:p>
          <a:p>
            <a:r>
              <a:rPr lang="en-US" sz="4400" dirty="0"/>
              <a:t>Designing Academic Posters</a:t>
            </a:r>
          </a:p>
        </p:txBody>
      </p:sp>
    </p:spTree>
    <p:extLst>
      <p:ext uri="{BB962C8B-B14F-4D97-AF65-F5344CB8AC3E}">
        <p14:creationId xmlns:p14="http://schemas.microsoft.com/office/powerpoint/2010/main" val="3320735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363" y="228600"/>
            <a:ext cx="11921047" cy="6124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822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Intended Learning Outcomes</a:t>
            </a:r>
            <a:endParaRPr lang="en-US" dirty="0"/>
          </a:p>
        </p:txBody>
      </p:sp>
      <p:sp>
        <p:nvSpPr>
          <p:cNvPr id="3" name="Content Placeholder 2"/>
          <p:cNvSpPr>
            <a:spLocks noGrp="1"/>
          </p:cNvSpPr>
          <p:nvPr>
            <p:ph idx="1"/>
          </p:nvPr>
        </p:nvSpPr>
        <p:spPr/>
        <p:txBody>
          <a:bodyPr>
            <a:normAutofit/>
          </a:bodyPr>
          <a:lstStyle/>
          <a:p>
            <a:r>
              <a:rPr lang="en-GB" sz="4000" dirty="0"/>
              <a:t>By the end of this lesson you will be able to:</a:t>
            </a:r>
          </a:p>
          <a:p>
            <a:pPr lvl="1"/>
            <a:r>
              <a:rPr lang="en-GB" sz="3600" dirty="0"/>
              <a:t>develop academic poster</a:t>
            </a:r>
          </a:p>
          <a:p>
            <a:pPr lvl="1"/>
            <a:r>
              <a:rPr lang="en-GB" sz="3600" dirty="0"/>
              <a:t>present the academic poster during a conference poster session</a:t>
            </a:r>
          </a:p>
          <a:p>
            <a:pPr lvl="1"/>
            <a:r>
              <a:rPr lang="en-GB" sz="3600" dirty="0"/>
              <a:t>evaluate academic posters</a:t>
            </a:r>
          </a:p>
        </p:txBody>
      </p:sp>
    </p:spTree>
    <p:extLst>
      <p:ext uri="{BB962C8B-B14F-4D97-AF65-F5344CB8AC3E}">
        <p14:creationId xmlns:p14="http://schemas.microsoft.com/office/powerpoint/2010/main" val="1001897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4400" dirty="0"/>
              <a:t>Academic poster</a:t>
            </a:r>
          </a:p>
          <a:p>
            <a:r>
              <a:rPr lang="en-US" sz="4400" dirty="0"/>
              <a:t>Scientific poster</a:t>
            </a:r>
          </a:p>
          <a:p>
            <a:r>
              <a:rPr lang="en-US" sz="4400" dirty="0"/>
              <a:t>Research poster</a:t>
            </a:r>
          </a:p>
          <a:p>
            <a:r>
              <a:rPr lang="en-US" sz="4400" dirty="0"/>
              <a:t>……..</a:t>
            </a:r>
          </a:p>
        </p:txBody>
      </p:sp>
    </p:spTree>
    <p:extLst>
      <p:ext uri="{BB962C8B-B14F-4D97-AF65-F5344CB8AC3E}">
        <p14:creationId xmlns:p14="http://schemas.microsoft.com/office/powerpoint/2010/main" val="1180718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Academic Poster </a:t>
            </a:r>
          </a:p>
        </p:txBody>
      </p:sp>
      <p:sp>
        <p:nvSpPr>
          <p:cNvPr id="2" name="Content Placeholder 1"/>
          <p:cNvSpPr>
            <a:spLocks noGrp="1"/>
          </p:cNvSpPr>
          <p:nvPr>
            <p:ph idx="1"/>
          </p:nvPr>
        </p:nvSpPr>
        <p:spPr/>
        <p:txBody>
          <a:bodyPr>
            <a:normAutofit/>
          </a:bodyPr>
          <a:lstStyle/>
          <a:p>
            <a:r>
              <a:rPr lang="en-US" sz="4000" dirty="0"/>
              <a:t>A form of Scientific Expression</a:t>
            </a:r>
          </a:p>
          <a:p>
            <a:r>
              <a:rPr lang="en-US" sz="4000" dirty="0"/>
              <a:t>Summary of Research (5 – 10 minutes)</a:t>
            </a:r>
          </a:p>
          <a:p>
            <a:r>
              <a:rPr lang="en-US" sz="4000" dirty="0"/>
              <a:t>Visually augmented discussion/interaction</a:t>
            </a:r>
          </a:p>
          <a:p>
            <a:r>
              <a:rPr lang="en-US" sz="4000" dirty="0"/>
              <a:t>At conferences viewers come to you (or you can invite)</a:t>
            </a:r>
          </a:p>
          <a:p>
            <a:endParaRPr lang="en-US" sz="4000" dirty="0"/>
          </a:p>
          <a:p>
            <a:endParaRPr lang="en-US" sz="4000" dirty="0"/>
          </a:p>
        </p:txBody>
      </p:sp>
    </p:spTree>
    <p:extLst>
      <p:ext uri="{BB962C8B-B14F-4D97-AF65-F5344CB8AC3E}">
        <p14:creationId xmlns:p14="http://schemas.microsoft.com/office/powerpoint/2010/main" val="1035239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en-US"/>
              <a:t>Why Submit a Poster?</a:t>
            </a:r>
          </a:p>
        </p:txBody>
      </p:sp>
      <p:sp>
        <p:nvSpPr>
          <p:cNvPr id="5123" name="Rectangle 3"/>
          <p:cNvSpPr>
            <a:spLocks noGrp="1" noChangeArrowheads="1"/>
          </p:cNvSpPr>
          <p:nvPr>
            <p:ph type="body" idx="1"/>
          </p:nvPr>
        </p:nvSpPr>
        <p:spPr/>
        <p:txBody>
          <a:bodyPr>
            <a:normAutofit/>
          </a:bodyPr>
          <a:lstStyle/>
          <a:p>
            <a:pPr eaLnBrk="1" hangingPunct="1"/>
            <a:r>
              <a:rPr lang="en-US" altLang="en-US" sz="4000" dirty="0"/>
              <a:t>An opportunity to effectively share research results and engage in scientific dialog with colleagues</a:t>
            </a:r>
          </a:p>
          <a:p>
            <a:pPr eaLnBrk="1" hangingPunct="1">
              <a:buFont typeface="Wingdings" pitchFamily="2" charset="2"/>
              <a:buNone/>
            </a:pPr>
            <a:endParaRPr lang="en-US" altLang="en-US" sz="4000" dirty="0"/>
          </a:p>
          <a:p>
            <a:pPr eaLnBrk="1" hangingPunct="1"/>
            <a:r>
              <a:rPr lang="en-US" altLang="en-US" sz="4000" dirty="0"/>
              <a:t>Feedback received can help in refining your research and preparing it for publication</a:t>
            </a:r>
          </a:p>
        </p:txBody>
      </p:sp>
    </p:spTree>
    <p:extLst>
      <p:ext uri="{BB962C8B-B14F-4D97-AF65-F5344CB8AC3E}">
        <p14:creationId xmlns:p14="http://schemas.microsoft.com/office/powerpoint/2010/main" val="1869434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3">
                                            <p:txEl>
                                              <p:pRg st="2" end="2"/>
                                            </p:txEl>
                                          </p:spTgt>
                                        </p:tgtEl>
                                        <p:attrNameLst>
                                          <p:attrName>style.visibility</p:attrName>
                                        </p:attrNameLst>
                                      </p:cBhvr>
                                      <p:to>
                                        <p:strVal val="visible"/>
                                      </p:to>
                                    </p:set>
                                    <p:anim calcmode="lin" valueType="num">
                                      <p:cBhvr additive="base">
                                        <p:cTn id="13"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cstate="print"/>
          <a:srcRect/>
          <a:stretch>
            <a:fillRect/>
          </a:stretch>
        </p:blipFill>
        <p:spPr bwMode="auto">
          <a:xfrm>
            <a:off x="6502401" y="2964519"/>
            <a:ext cx="5309983" cy="1600200"/>
          </a:xfrm>
          <a:prstGeom prst="rect">
            <a:avLst/>
          </a:prstGeom>
          <a:noFill/>
          <a:ln w="9525">
            <a:solidFill>
              <a:schemeClr val="tx1"/>
            </a:solidFill>
            <a:miter lim="800000"/>
            <a:headEnd/>
            <a:tailEnd/>
          </a:ln>
        </p:spPr>
      </p:pic>
      <p:pic>
        <p:nvPicPr>
          <p:cNvPr id="5" name="Picture 4"/>
          <p:cNvPicPr>
            <a:picLocks noChangeAspect="1" noChangeArrowheads="1"/>
          </p:cNvPicPr>
          <p:nvPr/>
        </p:nvPicPr>
        <p:blipFill>
          <a:blip r:embed="rId4" cstate="print"/>
          <a:srcRect/>
          <a:stretch>
            <a:fillRect/>
          </a:stretch>
        </p:blipFill>
        <p:spPr bwMode="auto">
          <a:xfrm>
            <a:off x="4254913" y="914400"/>
            <a:ext cx="3302377" cy="1865628"/>
          </a:xfrm>
          <a:prstGeom prst="rect">
            <a:avLst/>
          </a:prstGeom>
          <a:noFill/>
          <a:ln w="9525">
            <a:solidFill>
              <a:schemeClr val="tx1"/>
            </a:solidFill>
            <a:miter lim="800000"/>
            <a:headEnd/>
            <a:tailEnd/>
          </a:ln>
        </p:spPr>
      </p:pic>
      <p:pic>
        <p:nvPicPr>
          <p:cNvPr id="6" name="Picture 6"/>
          <p:cNvPicPr>
            <a:picLocks noChangeAspect="1" noChangeArrowheads="1"/>
          </p:cNvPicPr>
          <p:nvPr/>
        </p:nvPicPr>
        <p:blipFill>
          <a:blip r:embed="rId5" cstate="print"/>
          <a:srcRect/>
          <a:stretch>
            <a:fillRect/>
          </a:stretch>
        </p:blipFill>
        <p:spPr bwMode="auto">
          <a:xfrm>
            <a:off x="3454400" y="4686300"/>
            <a:ext cx="4104963" cy="2133600"/>
          </a:xfrm>
          <a:prstGeom prst="rect">
            <a:avLst/>
          </a:prstGeom>
          <a:noFill/>
          <a:ln w="9525">
            <a:solidFill>
              <a:schemeClr val="tx1"/>
            </a:solidFill>
            <a:miter lim="800000"/>
            <a:headEnd/>
            <a:tailEnd/>
          </a:ln>
        </p:spPr>
      </p:pic>
      <p:pic>
        <p:nvPicPr>
          <p:cNvPr id="7" name="Picture 9" descr="sample_poster.jpg"/>
          <p:cNvPicPr>
            <a:picLocks noChangeAspect="1"/>
          </p:cNvPicPr>
          <p:nvPr/>
        </p:nvPicPr>
        <p:blipFill>
          <a:blip r:embed="rId6" cstate="print"/>
          <a:srcRect/>
          <a:stretch>
            <a:fillRect/>
          </a:stretch>
        </p:blipFill>
        <p:spPr bwMode="auto">
          <a:xfrm>
            <a:off x="7775573" y="687072"/>
            <a:ext cx="4001560" cy="2133600"/>
          </a:xfrm>
          <a:prstGeom prst="rect">
            <a:avLst/>
          </a:prstGeom>
          <a:noFill/>
          <a:ln w="9525">
            <a:solidFill>
              <a:schemeClr val="tx1"/>
            </a:solidFill>
            <a:miter lim="800000"/>
            <a:headEnd/>
            <a:tailEnd/>
          </a:ln>
        </p:spPr>
      </p:pic>
      <p:pic>
        <p:nvPicPr>
          <p:cNvPr id="8" name="Picture 7" descr="posppt.jpg"/>
          <p:cNvPicPr>
            <a:picLocks noChangeAspect="1"/>
          </p:cNvPicPr>
          <p:nvPr/>
        </p:nvPicPr>
        <p:blipFill>
          <a:blip r:embed="rId7" cstate="print"/>
          <a:stretch>
            <a:fillRect/>
          </a:stretch>
        </p:blipFill>
        <p:spPr>
          <a:xfrm>
            <a:off x="8128000" y="4800600"/>
            <a:ext cx="3810408" cy="1905000"/>
          </a:xfrm>
          <a:prstGeom prst="rect">
            <a:avLst/>
          </a:prstGeom>
          <a:ln>
            <a:solidFill>
              <a:schemeClr val="tx1"/>
            </a:solidFill>
          </a:ln>
        </p:spPr>
      </p:pic>
      <p:pic>
        <p:nvPicPr>
          <p:cNvPr id="9" name="Picture 8" descr="warren.jpg"/>
          <p:cNvPicPr>
            <a:picLocks noChangeAspect="1"/>
          </p:cNvPicPr>
          <p:nvPr/>
        </p:nvPicPr>
        <p:blipFill>
          <a:blip r:embed="rId8" cstate="print"/>
          <a:stretch>
            <a:fillRect/>
          </a:stretch>
        </p:blipFill>
        <p:spPr>
          <a:xfrm>
            <a:off x="228081" y="3565566"/>
            <a:ext cx="2802747" cy="2971800"/>
          </a:xfrm>
          <a:prstGeom prst="rect">
            <a:avLst/>
          </a:prstGeom>
          <a:ln>
            <a:solidFill>
              <a:schemeClr val="tx1"/>
            </a:solidFill>
          </a:ln>
        </p:spPr>
      </p:pic>
      <p:pic>
        <p:nvPicPr>
          <p:cNvPr id="10" name="Picture 9" descr="NIMH_Retreat_poster_v1.png"/>
          <p:cNvPicPr>
            <a:picLocks noChangeAspect="1"/>
          </p:cNvPicPr>
          <p:nvPr/>
        </p:nvPicPr>
        <p:blipFill>
          <a:blip r:embed="rId9" cstate="print"/>
          <a:stretch>
            <a:fillRect/>
          </a:stretch>
        </p:blipFill>
        <p:spPr>
          <a:xfrm>
            <a:off x="101600" y="914400"/>
            <a:ext cx="3779520" cy="2362200"/>
          </a:xfrm>
          <a:prstGeom prst="rect">
            <a:avLst/>
          </a:prstGeom>
          <a:ln>
            <a:solidFill>
              <a:schemeClr val="tx1"/>
            </a:solidFill>
          </a:ln>
        </p:spPr>
      </p:pic>
      <p:pic>
        <p:nvPicPr>
          <p:cNvPr id="11" name="Picture 10" descr="planet-poster.jpg"/>
          <p:cNvPicPr>
            <a:picLocks noChangeAspect="1"/>
          </p:cNvPicPr>
          <p:nvPr/>
        </p:nvPicPr>
        <p:blipFill>
          <a:blip r:embed="rId10" cstate="print"/>
          <a:stretch>
            <a:fillRect/>
          </a:stretch>
        </p:blipFill>
        <p:spPr>
          <a:xfrm>
            <a:off x="3578808" y="2964519"/>
            <a:ext cx="2540000" cy="1428750"/>
          </a:xfrm>
          <a:prstGeom prst="rect">
            <a:avLst/>
          </a:prstGeom>
          <a:ln>
            <a:solidFill>
              <a:schemeClr val="tx1"/>
            </a:solidFill>
          </a:ln>
        </p:spPr>
      </p:pic>
      <p:sp>
        <p:nvSpPr>
          <p:cNvPr id="2" name="Title 1"/>
          <p:cNvSpPr>
            <a:spLocks noGrp="1"/>
          </p:cNvSpPr>
          <p:nvPr>
            <p:ph type="title"/>
          </p:nvPr>
        </p:nvSpPr>
        <p:spPr>
          <a:xfrm>
            <a:off x="609600" y="0"/>
            <a:ext cx="10160000" cy="687072"/>
          </a:xfrm>
        </p:spPr>
        <p:txBody>
          <a:bodyPr>
            <a:normAutofit fontScale="90000"/>
          </a:bodyPr>
          <a:lstStyle/>
          <a:p>
            <a:r>
              <a:rPr lang="en-US" dirty="0"/>
              <a:t>Which is a “Correct” Poster?</a:t>
            </a:r>
          </a:p>
        </p:txBody>
      </p:sp>
    </p:spTree>
    <p:extLst>
      <p:ext uri="{BB962C8B-B14F-4D97-AF65-F5344CB8AC3E}">
        <p14:creationId xmlns:p14="http://schemas.microsoft.com/office/powerpoint/2010/main" val="3740263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normAutofit/>
          </a:bodyPr>
          <a:lstStyle/>
          <a:p>
            <a:r>
              <a:rPr lang="en-GB" sz="4000" dirty="0"/>
              <a:t>Content and format requirements are not as strict as for the research paper</a:t>
            </a:r>
          </a:p>
        </p:txBody>
      </p:sp>
    </p:spTree>
    <p:extLst>
      <p:ext uri="{BB962C8B-B14F-4D97-AF65-F5344CB8AC3E}">
        <p14:creationId xmlns:p14="http://schemas.microsoft.com/office/powerpoint/2010/main" val="2824873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dirty="0"/>
              <a:t>Appearance </a:t>
            </a:r>
          </a:p>
        </p:txBody>
      </p:sp>
      <p:sp>
        <p:nvSpPr>
          <p:cNvPr id="36867" name="Rectangle 3"/>
          <p:cNvSpPr>
            <a:spLocks noGrp="1" noChangeArrowheads="1"/>
          </p:cNvSpPr>
          <p:nvPr>
            <p:ph idx="1"/>
          </p:nvPr>
        </p:nvSpPr>
        <p:spPr/>
        <p:txBody>
          <a:bodyPr>
            <a:normAutofit/>
          </a:bodyPr>
          <a:lstStyle/>
          <a:p>
            <a:r>
              <a:rPr lang="en-US" sz="4400" dirty="0"/>
              <a:t>Use very large font for title (~90 pt)</a:t>
            </a:r>
          </a:p>
          <a:p>
            <a:r>
              <a:rPr lang="en-US" sz="4400" dirty="0"/>
              <a:t>Fairly large for names (~72 pt)</a:t>
            </a:r>
          </a:p>
          <a:p>
            <a:r>
              <a:rPr lang="en-US" sz="4400" dirty="0"/>
              <a:t>Use at least 20 (24 better) pt text for body text</a:t>
            </a:r>
          </a:p>
          <a:p>
            <a:pPr lvl="1"/>
            <a:r>
              <a:rPr lang="en-US" sz="4000" dirty="0"/>
              <a:t>Read ~1-1.5 m away</a:t>
            </a:r>
          </a:p>
          <a:p>
            <a:pPr lvl="1"/>
            <a:r>
              <a:rPr lang="en-US" sz="4000" dirty="0">
                <a:solidFill>
                  <a:srgbClr val="FF0000"/>
                </a:solidFill>
              </a:rPr>
              <a:t>Figure lettering must also be this large!!!!</a:t>
            </a:r>
          </a:p>
        </p:txBody>
      </p:sp>
    </p:spTree>
    <p:extLst>
      <p:ext uri="{BB962C8B-B14F-4D97-AF65-F5344CB8AC3E}">
        <p14:creationId xmlns:p14="http://schemas.microsoft.com/office/powerpoint/2010/main" val="2952082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Visually Appealing</a:t>
            </a:r>
            <a:endParaRPr lang="en-US" dirty="0"/>
          </a:p>
        </p:txBody>
      </p:sp>
      <p:sp>
        <p:nvSpPr>
          <p:cNvPr id="4" name="Content Placeholder 3"/>
          <p:cNvSpPr>
            <a:spLocks noGrp="1"/>
          </p:cNvSpPr>
          <p:nvPr>
            <p:ph idx="1"/>
          </p:nvPr>
        </p:nvSpPr>
        <p:spPr/>
        <p:txBody>
          <a:bodyPr/>
          <a:lstStyle/>
          <a:p>
            <a:endParaRPr lang="en-US"/>
          </a:p>
        </p:txBody>
      </p:sp>
      <p:pic>
        <p:nvPicPr>
          <p:cNvPr id="22532" name="Picture 5"/>
          <p:cNvPicPr>
            <a:picLocks noChangeAspect="1" noChangeArrowheads="1"/>
          </p:cNvPicPr>
          <p:nvPr/>
        </p:nvPicPr>
        <p:blipFill>
          <a:blip r:embed="rId3" cstate="print"/>
          <a:srcRect/>
          <a:stretch>
            <a:fillRect/>
          </a:stretch>
        </p:blipFill>
        <p:spPr bwMode="auto">
          <a:xfrm>
            <a:off x="6197601" y="2895600"/>
            <a:ext cx="5927876" cy="3962400"/>
          </a:xfrm>
          <a:prstGeom prst="rect">
            <a:avLst/>
          </a:prstGeom>
          <a:noFill/>
          <a:ln w="9525">
            <a:noFill/>
            <a:miter lim="800000"/>
            <a:headEnd/>
            <a:tailEnd/>
          </a:ln>
        </p:spPr>
      </p:pic>
      <p:pic>
        <p:nvPicPr>
          <p:cNvPr id="22533" name="Picture 9" descr="sample_poster.jpg"/>
          <p:cNvPicPr>
            <a:picLocks noChangeAspect="1"/>
          </p:cNvPicPr>
          <p:nvPr/>
        </p:nvPicPr>
        <p:blipFill>
          <a:blip r:embed="rId4" cstate="print"/>
          <a:srcRect/>
          <a:stretch>
            <a:fillRect/>
          </a:stretch>
        </p:blipFill>
        <p:spPr bwMode="auto">
          <a:xfrm>
            <a:off x="0" y="1371600"/>
            <a:ext cx="6197600" cy="3304274"/>
          </a:xfrm>
          <a:prstGeom prst="rect">
            <a:avLst/>
          </a:prstGeom>
          <a:noFill/>
          <a:ln w="9525">
            <a:noFill/>
            <a:miter lim="800000"/>
            <a:headEnd/>
            <a:tailEnd/>
          </a:ln>
        </p:spPr>
      </p:pic>
    </p:spTree>
    <p:extLst>
      <p:ext uri="{BB962C8B-B14F-4D97-AF65-F5344CB8AC3E}">
        <p14:creationId xmlns:p14="http://schemas.microsoft.com/office/powerpoint/2010/main" val="2407192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r>
              <a:rPr lang="en-US"/>
              <a:t>Designing Your Poster:</a:t>
            </a:r>
          </a:p>
        </p:txBody>
      </p:sp>
      <p:sp>
        <p:nvSpPr>
          <p:cNvPr id="27650" name="Rectangle 3"/>
          <p:cNvSpPr>
            <a:spLocks noGrp="1" noChangeArrowheads="1"/>
          </p:cNvSpPr>
          <p:nvPr>
            <p:ph idx="1"/>
          </p:nvPr>
        </p:nvSpPr>
        <p:spPr>
          <a:xfrm>
            <a:off x="812800" y="1828800"/>
            <a:ext cx="10363200" cy="3962400"/>
          </a:xfrm>
        </p:spPr>
        <p:txBody>
          <a:bodyPr>
            <a:noAutofit/>
          </a:bodyPr>
          <a:lstStyle/>
          <a:p>
            <a:r>
              <a:rPr lang="en-US" sz="4000" dirty="0"/>
              <a:t>Make it </a:t>
            </a:r>
            <a:r>
              <a:rPr lang="en-US" sz="4000" u="sng" dirty="0"/>
              <a:t>clear</a:t>
            </a:r>
            <a:r>
              <a:rPr lang="en-US" sz="4000" dirty="0"/>
              <a:t> and </a:t>
            </a:r>
            <a:r>
              <a:rPr lang="en-US" sz="4000" u="sng" dirty="0"/>
              <a:t>easy to read</a:t>
            </a:r>
            <a:r>
              <a:rPr lang="en-US" sz="4000" dirty="0"/>
              <a:t>!</a:t>
            </a:r>
          </a:p>
          <a:p>
            <a:pPr lvl="1"/>
            <a:r>
              <a:rPr lang="en-US" sz="3600" dirty="0"/>
              <a:t>Large block fonts</a:t>
            </a:r>
          </a:p>
          <a:p>
            <a:pPr lvl="1"/>
            <a:r>
              <a:rPr lang="en-US" sz="3600" dirty="0"/>
              <a:t>Contrasting colors</a:t>
            </a:r>
          </a:p>
          <a:p>
            <a:pPr lvl="1"/>
            <a:r>
              <a:rPr lang="ja-JP" altLang="en-US" sz="3600" dirty="0"/>
              <a:t>“</a:t>
            </a:r>
            <a:r>
              <a:rPr lang="en-US" altLang="ja-JP" sz="3600" dirty="0"/>
              <a:t>White</a:t>
            </a:r>
            <a:r>
              <a:rPr lang="ja-JP" altLang="en-US" sz="3600" dirty="0"/>
              <a:t>”</a:t>
            </a:r>
            <a:r>
              <a:rPr lang="en-US" altLang="ja-JP" sz="3600" dirty="0"/>
              <a:t> spaces, margins</a:t>
            </a:r>
          </a:p>
          <a:p>
            <a:pPr lvl="1"/>
            <a:r>
              <a:rPr lang="en-US" sz="3600" dirty="0"/>
              <a:t>Bold titles, sub-titles</a:t>
            </a:r>
          </a:p>
          <a:p>
            <a:pPr lvl="1"/>
            <a:r>
              <a:rPr lang="en-US" sz="3600" dirty="0"/>
              <a:t>Short paragraphs</a:t>
            </a:r>
          </a:p>
          <a:p>
            <a:pPr lvl="1"/>
            <a:r>
              <a:rPr lang="en-US" sz="3600" dirty="0"/>
              <a:t>Bulleted points</a:t>
            </a:r>
          </a:p>
        </p:txBody>
      </p:sp>
      <p:sp>
        <p:nvSpPr>
          <p:cNvPr id="27651" name="Text Box 14"/>
          <p:cNvSpPr txBox="1">
            <a:spLocks noChangeArrowheads="1"/>
          </p:cNvSpPr>
          <p:nvPr/>
        </p:nvSpPr>
        <p:spPr bwMode="auto">
          <a:xfrm>
            <a:off x="7416800" y="3273426"/>
            <a:ext cx="4267200" cy="369332"/>
          </a:xfrm>
          <a:prstGeom prst="rect">
            <a:avLst/>
          </a:prstGeom>
          <a:solidFill>
            <a:schemeClr val="bg2"/>
          </a:solidFill>
          <a:ln w="3175">
            <a:solidFill>
              <a:schemeClr val="tx1"/>
            </a:solidFill>
            <a:miter lim="800000"/>
            <a:headEnd/>
            <a:tailEnd/>
          </a:ln>
        </p:spPr>
        <p:txBody>
          <a:bodyPr>
            <a:spAutoFit/>
          </a:bodyPr>
          <a:lstStyle/>
          <a:p>
            <a:pPr algn="ctr">
              <a:spcBef>
                <a:spcPct val="50000"/>
              </a:spcBef>
            </a:pPr>
            <a:r>
              <a:rPr lang="en-US" dirty="0">
                <a:solidFill>
                  <a:srgbClr val="F7F7F7"/>
                </a:solidFill>
                <a:latin typeface="Desdemona" pitchFamily="1" charset="0"/>
              </a:rPr>
              <a:t>Can you read this?</a:t>
            </a:r>
          </a:p>
        </p:txBody>
      </p:sp>
      <p:sp>
        <p:nvSpPr>
          <p:cNvPr id="27652" name="Text Box 15"/>
          <p:cNvSpPr txBox="1">
            <a:spLocks noChangeArrowheads="1"/>
          </p:cNvSpPr>
          <p:nvPr/>
        </p:nvSpPr>
        <p:spPr bwMode="auto">
          <a:xfrm>
            <a:off x="7416800" y="4004747"/>
            <a:ext cx="4267200" cy="369332"/>
          </a:xfrm>
          <a:prstGeom prst="rect">
            <a:avLst/>
          </a:prstGeom>
          <a:solidFill>
            <a:srgbClr val="FF0000"/>
          </a:solidFill>
          <a:ln w="3175">
            <a:solidFill>
              <a:schemeClr val="tx1"/>
            </a:solidFill>
            <a:miter lim="800000"/>
            <a:headEnd/>
            <a:tailEnd/>
          </a:ln>
        </p:spPr>
        <p:txBody>
          <a:bodyPr anchor="ctr">
            <a:spAutoFit/>
          </a:bodyPr>
          <a:lstStyle/>
          <a:p>
            <a:pPr algn="ctr">
              <a:spcBef>
                <a:spcPct val="50000"/>
              </a:spcBef>
            </a:pPr>
            <a:r>
              <a:rPr lang="en-US" dirty="0">
                <a:solidFill>
                  <a:schemeClr val="hlink"/>
                </a:solidFill>
                <a:latin typeface="Blackmoor LET" pitchFamily="48" charset="0"/>
              </a:rPr>
              <a:t>How about this?</a:t>
            </a:r>
          </a:p>
        </p:txBody>
      </p:sp>
      <p:sp>
        <p:nvSpPr>
          <p:cNvPr id="27653" name="Text Box 16"/>
          <p:cNvSpPr txBox="1">
            <a:spLocks noChangeArrowheads="1"/>
          </p:cNvSpPr>
          <p:nvPr/>
        </p:nvSpPr>
        <p:spPr bwMode="auto">
          <a:xfrm>
            <a:off x="7416800" y="5483226"/>
            <a:ext cx="4267200" cy="369332"/>
          </a:xfrm>
          <a:prstGeom prst="rect">
            <a:avLst/>
          </a:prstGeom>
          <a:solidFill>
            <a:srgbClr val="FFFF66"/>
          </a:solidFill>
          <a:ln w="3175">
            <a:solidFill>
              <a:schemeClr val="tx1"/>
            </a:solidFill>
            <a:miter lim="800000"/>
            <a:headEnd/>
            <a:tailEnd/>
          </a:ln>
        </p:spPr>
        <p:txBody>
          <a:bodyPr>
            <a:spAutoFit/>
          </a:bodyPr>
          <a:lstStyle/>
          <a:p>
            <a:pPr algn="ctr">
              <a:spcBef>
                <a:spcPct val="50000"/>
              </a:spcBef>
            </a:pPr>
            <a:r>
              <a:rPr lang="en-US" b="1" dirty="0">
                <a:solidFill>
                  <a:schemeClr val="tx2"/>
                </a:solidFill>
                <a:latin typeface="Optima" pitchFamily="1" charset="0"/>
              </a:rPr>
              <a:t>Make it easy to read!</a:t>
            </a:r>
          </a:p>
        </p:txBody>
      </p:sp>
      <p:sp>
        <p:nvSpPr>
          <p:cNvPr id="27654" name="Text Box 17"/>
          <p:cNvSpPr txBox="1">
            <a:spLocks noChangeArrowheads="1"/>
          </p:cNvSpPr>
          <p:nvPr/>
        </p:nvSpPr>
        <p:spPr bwMode="auto">
          <a:xfrm>
            <a:off x="7416800" y="4645026"/>
            <a:ext cx="4267200" cy="369332"/>
          </a:xfrm>
          <a:prstGeom prst="rect">
            <a:avLst/>
          </a:prstGeom>
          <a:solidFill>
            <a:srgbClr val="0FF533"/>
          </a:solidFill>
          <a:ln w="3175">
            <a:solidFill>
              <a:schemeClr val="tx1"/>
            </a:solidFill>
            <a:miter lim="800000"/>
            <a:headEnd/>
            <a:tailEnd/>
          </a:ln>
        </p:spPr>
        <p:txBody>
          <a:bodyPr>
            <a:spAutoFit/>
          </a:bodyPr>
          <a:lstStyle/>
          <a:p>
            <a:pPr algn="ctr">
              <a:spcBef>
                <a:spcPct val="50000"/>
              </a:spcBef>
            </a:pPr>
            <a:r>
              <a:rPr lang="en-US">
                <a:solidFill>
                  <a:srgbClr val="006500"/>
                </a:solidFill>
                <a:latin typeface="Curlz MT" pitchFamily="82" charset="0"/>
              </a:rPr>
              <a:t>Is this better?</a:t>
            </a:r>
          </a:p>
        </p:txBody>
      </p:sp>
    </p:spTree>
    <p:extLst>
      <p:ext uri="{BB962C8B-B14F-4D97-AF65-F5344CB8AC3E}">
        <p14:creationId xmlns:p14="http://schemas.microsoft.com/office/powerpoint/2010/main" val="3510102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additive="base">
                                        <p:cTn id="7" dur="500" fill="hold"/>
                                        <p:tgtEl>
                                          <p:spTgt spid="27651"/>
                                        </p:tgtEl>
                                        <p:attrNameLst>
                                          <p:attrName>ppt_x</p:attrName>
                                        </p:attrNameLst>
                                      </p:cBhvr>
                                      <p:tavLst>
                                        <p:tav tm="0">
                                          <p:val>
                                            <p:strVal val="#ppt_x"/>
                                          </p:val>
                                        </p:tav>
                                        <p:tav tm="100000">
                                          <p:val>
                                            <p:strVal val="#ppt_x"/>
                                          </p:val>
                                        </p:tav>
                                      </p:tavLst>
                                    </p:anim>
                                    <p:anim calcmode="lin" valueType="num">
                                      <p:cBhvr additive="base">
                                        <p:cTn id="8" dur="500" fill="hold"/>
                                        <p:tgtEl>
                                          <p:spTgt spid="2765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652"/>
                                        </p:tgtEl>
                                        <p:attrNameLst>
                                          <p:attrName>style.visibility</p:attrName>
                                        </p:attrNameLst>
                                      </p:cBhvr>
                                      <p:to>
                                        <p:strVal val="visible"/>
                                      </p:to>
                                    </p:set>
                                    <p:anim calcmode="lin" valueType="num">
                                      <p:cBhvr additive="base">
                                        <p:cTn id="13" dur="500" fill="hold"/>
                                        <p:tgtEl>
                                          <p:spTgt spid="27652"/>
                                        </p:tgtEl>
                                        <p:attrNameLst>
                                          <p:attrName>ppt_x</p:attrName>
                                        </p:attrNameLst>
                                      </p:cBhvr>
                                      <p:tavLst>
                                        <p:tav tm="0">
                                          <p:val>
                                            <p:strVal val="#ppt_x"/>
                                          </p:val>
                                        </p:tav>
                                        <p:tav tm="100000">
                                          <p:val>
                                            <p:strVal val="#ppt_x"/>
                                          </p:val>
                                        </p:tav>
                                      </p:tavLst>
                                    </p:anim>
                                    <p:anim calcmode="lin" valueType="num">
                                      <p:cBhvr additive="base">
                                        <p:cTn id="14" dur="500" fill="hold"/>
                                        <p:tgtEl>
                                          <p:spTgt spid="2765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7654"/>
                                        </p:tgtEl>
                                        <p:attrNameLst>
                                          <p:attrName>style.visibility</p:attrName>
                                        </p:attrNameLst>
                                      </p:cBhvr>
                                      <p:to>
                                        <p:strVal val="visible"/>
                                      </p:to>
                                    </p:set>
                                    <p:anim calcmode="lin" valueType="num">
                                      <p:cBhvr additive="base">
                                        <p:cTn id="19" dur="500" fill="hold"/>
                                        <p:tgtEl>
                                          <p:spTgt spid="27654"/>
                                        </p:tgtEl>
                                        <p:attrNameLst>
                                          <p:attrName>ppt_x</p:attrName>
                                        </p:attrNameLst>
                                      </p:cBhvr>
                                      <p:tavLst>
                                        <p:tav tm="0">
                                          <p:val>
                                            <p:strVal val="#ppt_x"/>
                                          </p:val>
                                        </p:tav>
                                        <p:tav tm="100000">
                                          <p:val>
                                            <p:strVal val="#ppt_x"/>
                                          </p:val>
                                        </p:tav>
                                      </p:tavLst>
                                    </p:anim>
                                    <p:anim calcmode="lin" valueType="num">
                                      <p:cBhvr additive="base">
                                        <p:cTn id="20" dur="500" fill="hold"/>
                                        <p:tgtEl>
                                          <p:spTgt spid="2765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7653"/>
                                        </p:tgtEl>
                                        <p:attrNameLst>
                                          <p:attrName>style.visibility</p:attrName>
                                        </p:attrNameLst>
                                      </p:cBhvr>
                                      <p:to>
                                        <p:strVal val="visible"/>
                                      </p:to>
                                    </p:set>
                                    <p:anim calcmode="lin" valueType="num">
                                      <p:cBhvr additive="base">
                                        <p:cTn id="25" dur="500" fill="hold"/>
                                        <p:tgtEl>
                                          <p:spTgt spid="27653"/>
                                        </p:tgtEl>
                                        <p:attrNameLst>
                                          <p:attrName>ppt_x</p:attrName>
                                        </p:attrNameLst>
                                      </p:cBhvr>
                                      <p:tavLst>
                                        <p:tav tm="0">
                                          <p:val>
                                            <p:strVal val="#ppt_x"/>
                                          </p:val>
                                        </p:tav>
                                        <p:tav tm="100000">
                                          <p:val>
                                            <p:strVal val="#ppt_x"/>
                                          </p:val>
                                        </p:tav>
                                      </p:tavLst>
                                    </p:anim>
                                    <p:anim calcmode="lin" valueType="num">
                                      <p:cBhvr additive="base">
                                        <p:cTn id="26" dur="500" fill="hold"/>
                                        <p:tgtEl>
                                          <p:spTgt spid="2765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7650">
                                            <p:txEl>
                                              <p:pRg st="0" end="0"/>
                                            </p:txEl>
                                          </p:spTgt>
                                        </p:tgtEl>
                                        <p:attrNameLst>
                                          <p:attrName>style.visibility</p:attrName>
                                        </p:attrNameLst>
                                      </p:cBhvr>
                                      <p:to>
                                        <p:strVal val="visible"/>
                                      </p:to>
                                    </p:set>
                                    <p:anim calcmode="lin" valueType="num">
                                      <p:cBhvr additive="base">
                                        <p:cTn id="31" dur="500" fill="hold"/>
                                        <p:tgtEl>
                                          <p:spTgt spid="27650">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65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7650">
                                            <p:txEl>
                                              <p:pRg st="1" end="1"/>
                                            </p:txEl>
                                          </p:spTgt>
                                        </p:tgtEl>
                                        <p:attrNameLst>
                                          <p:attrName>style.visibility</p:attrName>
                                        </p:attrNameLst>
                                      </p:cBhvr>
                                      <p:to>
                                        <p:strVal val="visible"/>
                                      </p:to>
                                    </p:set>
                                    <p:anim calcmode="lin" valueType="num">
                                      <p:cBhvr additive="base">
                                        <p:cTn id="37" dur="500" fill="hold"/>
                                        <p:tgtEl>
                                          <p:spTgt spid="27650">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765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7650">
                                            <p:txEl>
                                              <p:pRg st="2" end="2"/>
                                            </p:txEl>
                                          </p:spTgt>
                                        </p:tgtEl>
                                        <p:attrNameLst>
                                          <p:attrName>style.visibility</p:attrName>
                                        </p:attrNameLst>
                                      </p:cBhvr>
                                      <p:to>
                                        <p:strVal val="visible"/>
                                      </p:to>
                                    </p:set>
                                    <p:anim calcmode="lin" valueType="num">
                                      <p:cBhvr additive="base">
                                        <p:cTn id="43" dur="500" fill="hold"/>
                                        <p:tgtEl>
                                          <p:spTgt spid="27650">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765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7650">
                                            <p:txEl>
                                              <p:pRg st="3" end="3"/>
                                            </p:txEl>
                                          </p:spTgt>
                                        </p:tgtEl>
                                        <p:attrNameLst>
                                          <p:attrName>style.visibility</p:attrName>
                                        </p:attrNameLst>
                                      </p:cBhvr>
                                      <p:to>
                                        <p:strVal val="visible"/>
                                      </p:to>
                                    </p:set>
                                    <p:anim calcmode="lin" valueType="num">
                                      <p:cBhvr additive="base">
                                        <p:cTn id="49" dur="500" fill="hold"/>
                                        <p:tgtEl>
                                          <p:spTgt spid="27650">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765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7650">
                                            <p:txEl>
                                              <p:pRg st="4" end="4"/>
                                            </p:txEl>
                                          </p:spTgt>
                                        </p:tgtEl>
                                        <p:attrNameLst>
                                          <p:attrName>style.visibility</p:attrName>
                                        </p:attrNameLst>
                                      </p:cBhvr>
                                      <p:to>
                                        <p:strVal val="visible"/>
                                      </p:to>
                                    </p:set>
                                    <p:anim calcmode="lin" valueType="num">
                                      <p:cBhvr additive="base">
                                        <p:cTn id="55" dur="500" fill="hold"/>
                                        <p:tgtEl>
                                          <p:spTgt spid="27650">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765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7650">
                                            <p:txEl>
                                              <p:pRg st="5" end="5"/>
                                            </p:txEl>
                                          </p:spTgt>
                                        </p:tgtEl>
                                        <p:attrNameLst>
                                          <p:attrName>style.visibility</p:attrName>
                                        </p:attrNameLst>
                                      </p:cBhvr>
                                      <p:to>
                                        <p:strVal val="visible"/>
                                      </p:to>
                                    </p:set>
                                    <p:anim calcmode="lin" valueType="num">
                                      <p:cBhvr additive="base">
                                        <p:cTn id="61" dur="500" fill="hold"/>
                                        <p:tgtEl>
                                          <p:spTgt spid="27650">
                                            <p:txEl>
                                              <p:pRg st="5" end="5"/>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765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7650">
                                            <p:txEl>
                                              <p:pRg st="6" end="6"/>
                                            </p:txEl>
                                          </p:spTgt>
                                        </p:tgtEl>
                                        <p:attrNameLst>
                                          <p:attrName>style.visibility</p:attrName>
                                        </p:attrNameLst>
                                      </p:cBhvr>
                                      <p:to>
                                        <p:strVal val="visible"/>
                                      </p:to>
                                    </p:set>
                                    <p:anim calcmode="lin" valueType="num">
                                      <p:cBhvr additive="base">
                                        <p:cTn id="67" dur="500" fill="hold"/>
                                        <p:tgtEl>
                                          <p:spTgt spid="27650">
                                            <p:txEl>
                                              <p:pRg st="6" end="6"/>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2765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animBg="1"/>
      <p:bldP spid="27652" grpId="0" animBg="1"/>
      <p:bldP spid="27653" grpId="0" animBg="1"/>
      <p:bldP spid="2765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US"/>
              <a:t>Designing Your Poster:</a:t>
            </a:r>
          </a:p>
        </p:txBody>
      </p:sp>
      <p:sp>
        <p:nvSpPr>
          <p:cNvPr id="28674" name="Rectangle 3"/>
          <p:cNvSpPr>
            <a:spLocks noGrp="1" noChangeArrowheads="1"/>
          </p:cNvSpPr>
          <p:nvPr>
            <p:ph idx="1"/>
          </p:nvPr>
        </p:nvSpPr>
        <p:spPr>
          <a:xfrm>
            <a:off x="914400" y="1600200"/>
            <a:ext cx="10363200" cy="3962400"/>
          </a:xfrm>
        </p:spPr>
        <p:txBody>
          <a:bodyPr>
            <a:noAutofit/>
          </a:bodyPr>
          <a:lstStyle/>
          <a:p>
            <a:r>
              <a:rPr lang="en-US" sz="4400" dirty="0"/>
              <a:t>Create </a:t>
            </a:r>
            <a:r>
              <a:rPr lang="en-US" sz="4400" u="sng" dirty="0"/>
              <a:t>logical flow</a:t>
            </a:r>
            <a:r>
              <a:rPr lang="en-US" sz="4400" dirty="0"/>
              <a:t>!</a:t>
            </a:r>
          </a:p>
          <a:p>
            <a:pPr lvl="1"/>
            <a:r>
              <a:rPr lang="en-US" sz="4000" dirty="0"/>
              <a:t>Top left to bottom right</a:t>
            </a:r>
          </a:p>
          <a:p>
            <a:pPr lvl="1"/>
            <a:r>
              <a:rPr lang="en-US" sz="4000" dirty="0"/>
              <a:t>Set off each section</a:t>
            </a:r>
          </a:p>
          <a:p>
            <a:pPr lvl="2"/>
            <a:r>
              <a:rPr lang="en-US" sz="3600" dirty="0"/>
              <a:t>Bold sub-titles</a:t>
            </a:r>
          </a:p>
          <a:p>
            <a:pPr lvl="2"/>
            <a:r>
              <a:rPr lang="en-US" sz="3600" dirty="0"/>
              <a:t>Different colors</a:t>
            </a:r>
          </a:p>
          <a:p>
            <a:pPr lvl="1"/>
            <a:r>
              <a:rPr lang="en-US" sz="4000" dirty="0"/>
              <a:t>Direct reader</a:t>
            </a:r>
            <a:r>
              <a:rPr lang="ja-JP" altLang="en-US" sz="4000" dirty="0"/>
              <a:t>’</a:t>
            </a:r>
            <a:r>
              <a:rPr lang="en-US" altLang="ja-JP" sz="4000" dirty="0"/>
              <a:t>s eye</a:t>
            </a:r>
          </a:p>
          <a:p>
            <a:pPr lvl="2"/>
            <a:r>
              <a:rPr lang="en-US" sz="3600" dirty="0"/>
              <a:t>Arrows</a:t>
            </a:r>
          </a:p>
          <a:p>
            <a:pPr lvl="2"/>
            <a:r>
              <a:rPr lang="en-US" sz="3600" dirty="0"/>
              <a:t>Highlights</a:t>
            </a:r>
          </a:p>
        </p:txBody>
      </p:sp>
      <p:pic>
        <p:nvPicPr>
          <p:cNvPr id="28675" name="Picture 8" descr="med_poster4"/>
          <p:cNvPicPr>
            <a:picLocks noChangeAspect="1" noChangeArrowheads="1"/>
          </p:cNvPicPr>
          <p:nvPr/>
        </p:nvPicPr>
        <p:blipFill>
          <a:blip r:embed="rId3" cstate="print"/>
          <a:srcRect/>
          <a:stretch>
            <a:fillRect/>
          </a:stretch>
        </p:blipFill>
        <p:spPr bwMode="auto">
          <a:xfrm>
            <a:off x="5909733" y="3238501"/>
            <a:ext cx="6180667" cy="3476625"/>
          </a:xfrm>
          <a:prstGeom prst="rect">
            <a:avLst/>
          </a:prstGeom>
          <a:noFill/>
          <a:ln w="9525">
            <a:noFill/>
            <a:miter lim="800000"/>
            <a:headEnd/>
            <a:tailEnd/>
          </a:ln>
        </p:spPr>
      </p:pic>
    </p:spTree>
    <p:extLst>
      <p:ext uri="{BB962C8B-B14F-4D97-AF65-F5344CB8AC3E}">
        <p14:creationId xmlns:p14="http://schemas.microsoft.com/office/powerpoint/2010/main" val="2726984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674">
                                            <p:txEl>
                                              <p:pRg st="0" end="0"/>
                                            </p:txEl>
                                          </p:spTgt>
                                        </p:tgtEl>
                                        <p:attrNameLst>
                                          <p:attrName>style.visibility</p:attrName>
                                        </p:attrNameLst>
                                      </p:cBhvr>
                                      <p:to>
                                        <p:strVal val="visible"/>
                                      </p:to>
                                    </p:set>
                                    <p:anim calcmode="lin" valueType="num">
                                      <p:cBhvr additive="base">
                                        <p:cTn id="7" dur="500" fill="hold"/>
                                        <p:tgtEl>
                                          <p:spTgt spid="2867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8674">
                                            <p:txEl>
                                              <p:pRg st="1" end="1"/>
                                            </p:txEl>
                                          </p:spTgt>
                                        </p:tgtEl>
                                        <p:attrNameLst>
                                          <p:attrName>style.visibility</p:attrName>
                                        </p:attrNameLst>
                                      </p:cBhvr>
                                      <p:to>
                                        <p:strVal val="visible"/>
                                      </p:to>
                                    </p:set>
                                    <p:anim calcmode="lin" valueType="num">
                                      <p:cBhvr additive="base">
                                        <p:cTn id="13" dur="500" fill="hold"/>
                                        <p:tgtEl>
                                          <p:spTgt spid="2867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8674">
                                            <p:txEl>
                                              <p:pRg st="2" end="2"/>
                                            </p:txEl>
                                          </p:spTgt>
                                        </p:tgtEl>
                                        <p:attrNameLst>
                                          <p:attrName>style.visibility</p:attrName>
                                        </p:attrNameLst>
                                      </p:cBhvr>
                                      <p:to>
                                        <p:strVal val="visible"/>
                                      </p:to>
                                    </p:set>
                                    <p:anim calcmode="lin" valueType="num">
                                      <p:cBhvr additive="base">
                                        <p:cTn id="19" dur="500" fill="hold"/>
                                        <p:tgtEl>
                                          <p:spTgt spid="2867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67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8674">
                                            <p:txEl>
                                              <p:pRg st="3" end="3"/>
                                            </p:txEl>
                                          </p:spTgt>
                                        </p:tgtEl>
                                        <p:attrNameLst>
                                          <p:attrName>style.visibility</p:attrName>
                                        </p:attrNameLst>
                                      </p:cBhvr>
                                      <p:to>
                                        <p:strVal val="visible"/>
                                      </p:to>
                                    </p:set>
                                    <p:anim calcmode="lin" valueType="num">
                                      <p:cBhvr additive="base">
                                        <p:cTn id="25" dur="500" fill="hold"/>
                                        <p:tgtEl>
                                          <p:spTgt spid="2867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67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8674">
                                            <p:txEl>
                                              <p:pRg st="4" end="4"/>
                                            </p:txEl>
                                          </p:spTgt>
                                        </p:tgtEl>
                                        <p:attrNameLst>
                                          <p:attrName>style.visibility</p:attrName>
                                        </p:attrNameLst>
                                      </p:cBhvr>
                                      <p:to>
                                        <p:strVal val="visible"/>
                                      </p:to>
                                    </p:set>
                                    <p:anim calcmode="lin" valueType="num">
                                      <p:cBhvr additive="base">
                                        <p:cTn id="31" dur="500" fill="hold"/>
                                        <p:tgtEl>
                                          <p:spTgt spid="2867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867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8674">
                                            <p:txEl>
                                              <p:pRg st="5" end="5"/>
                                            </p:txEl>
                                          </p:spTgt>
                                        </p:tgtEl>
                                        <p:attrNameLst>
                                          <p:attrName>style.visibility</p:attrName>
                                        </p:attrNameLst>
                                      </p:cBhvr>
                                      <p:to>
                                        <p:strVal val="visible"/>
                                      </p:to>
                                    </p:set>
                                    <p:anim calcmode="lin" valueType="num">
                                      <p:cBhvr additive="base">
                                        <p:cTn id="37" dur="500" fill="hold"/>
                                        <p:tgtEl>
                                          <p:spTgt spid="2867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867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8674">
                                            <p:txEl>
                                              <p:pRg st="6" end="6"/>
                                            </p:txEl>
                                          </p:spTgt>
                                        </p:tgtEl>
                                        <p:attrNameLst>
                                          <p:attrName>style.visibility</p:attrName>
                                        </p:attrNameLst>
                                      </p:cBhvr>
                                      <p:to>
                                        <p:strVal val="visible"/>
                                      </p:to>
                                    </p:set>
                                    <p:anim calcmode="lin" valueType="num">
                                      <p:cBhvr additive="base">
                                        <p:cTn id="43" dur="500" fill="hold"/>
                                        <p:tgtEl>
                                          <p:spTgt spid="2867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867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8674">
                                            <p:txEl>
                                              <p:pRg st="7" end="7"/>
                                            </p:txEl>
                                          </p:spTgt>
                                        </p:tgtEl>
                                        <p:attrNameLst>
                                          <p:attrName>style.visibility</p:attrName>
                                        </p:attrNameLst>
                                      </p:cBhvr>
                                      <p:to>
                                        <p:strVal val="visible"/>
                                      </p:to>
                                    </p:set>
                                    <p:anim calcmode="lin" valueType="num">
                                      <p:cBhvr additive="base">
                                        <p:cTn id="49" dur="500" fill="hold"/>
                                        <p:tgtEl>
                                          <p:spTgt spid="28674">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867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p:txBody>
          <a:bodyPr/>
          <a:lstStyle/>
          <a:p>
            <a:r>
              <a:rPr lang="en-US"/>
              <a:t>Designing Your Poster:</a:t>
            </a:r>
          </a:p>
        </p:txBody>
      </p:sp>
      <p:sp>
        <p:nvSpPr>
          <p:cNvPr id="29698" name="Rectangle 3"/>
          <p:cNvSpPr>
            <a:spLocks noGrp="1" noChangeArrowheads="1"/>
          </p:cNvSpPr>
          <p:nvPr>
            <p:ph idx="1"/>
          </p:nvPr>
        </p:nvSpPr>
        <p:spPr>
          <a:xfrm>
            <a:off x="914400" y="1371600"/>
            <a:ext cx="10363200" cy="3962400"/>
          </a:xfrm>
        </p:spPr>
        <p:txBody>
          <a:bodyPr/>
          <a:lstStyle/>
          <a:p>
            <a:r>
              <a:rPr lang="en-US" sz="2800" dirty="0"/>
              <a:t>Make it </a:t>
            </a:r>
            <a:r>
              <a:rPr lang="en-US" sz="2800" u="sng" dirty="0"/>
              <a:t>interesting</a:t>
            </a:r>
            <a:r>
              <a:rPr lang="en-US" sz="2800" dirty="0"/>
              <a:t>!</a:t>
            </a:r>
          </a:p>
          <a:p>
            <a:pPr lvl="1"/>
            <a:r>
              <a:rPr lang="en-US" sz="2400" dirty="0"/>
              <a:t>A picture is worth a thousand words!</a:t>
            </a:r>
          </a:p>
          <a:p>
            <a:pPr lvl="1"/>
            <a:r>
              <a:rPr lang="en-US" sz="2400" dirty="0"/>
              <a:t>Graphs and tables make data easy to interpret</a:t>
            </a:r>
          </a:p>
        </p:txBody>
      </p:sp>
      <p:pic>
        <p:nvPicPr>
          <p:cNvPr id="29699" name="Picture 8" descr="bad1"/>
          <p:cNvPicPr>
            <a:picLocks noChangeAspect="1" noChangeArrowheads="1"/>
          </p:cNvPicPr>
          <p:nvPr/>
        </p:nvPicPr>
        <p:blipFill>
          <a:blip r:embed="rId3" cstate="print"/>
          <a:srcRect/>
          <a:stretch>
            <a:fillRect/>
          </a:stretch>
        </p:blipFill>
        <p:spPr bwMode="auto">
          <a:xfrm>
            <a:off x="6400800" y="2895601"/>
            <a:ext cx="5181600" cy="2963863"/>
          </a:xfrm>
          <a:prstGeom prst="rect">
            <a:avLst/>
          </a:prstGeom>
          <a:noFill/>
          <a:ln w="3175">
            <a:solidFill>
              <a:srgbClr val="000000"/>
            </a:solidFill>
            <a:miter lim="800000"/>
            <a:headEnd/>
            <a:tailEnd/>
          </a:ln>
        </p:spPr>
      </p:pic>
      <p:pic>
        <p:nvPicPr>
          <p:cNvPr id="29700" name="Picture 9" descr="Sarah Flores JWP"/>
          <p:cNvPicPr>
            <a:picLocks noChangeAspect="1" noChangeArrowheads="1"/>
          </p:cNvPicPr>
          <p:nvPr/>
        </p:nvPicPr>
        <p:blipFill>
          <a:blip r:embed="rId4" cstate="print"/>
          <a:srcRect/>
          <a:stretch>
            <a:fillRect/>
          </a:stretch>
        </p:blipFill>
        <p:spPr bwMode="auto">
          <a:xfrm>
            <a:off x="609600" y="2895600"/>
            <a:ext cx="5283200" cy="2971800"/>
          </a:xfrm>
          <a:prstGeom prst="rect">
            <a:avLst/>
          </a:prstGeom>
          <a:noFill/>
          <a:ln w="3175">
            <a:solidFill>
              <a:srgbClr val="000000"/>
            </a:solidFill>
            <a:miter lim="800000"/>
            <a:headEnd/>
            <a:tailEnd/>
          </a:ln>
        </p:spPr>
      </p:pic>
    </p:spTree>
    <p:extLst>
      <p:ext uri="{BB962C8B-B14F-4D97-AF65-F5344CB8AC3E}">
        <p14:creationId xmlns:p14="http://schemas.microsoft.com/office/powerpoint/2010/main" val="3143569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a:t>Printing Considerations</a:t>
            </a:r>
          </a:p>
        </p:txBody>
      </p:sp>
      <p:sp>
        <p:nvSpPr>
          <p:cNvPr id="15363" name="Rectangle 3"/>
          <p:cNvSpPr>
            <a:spLocks noGrp="1" noChangeArrowheads="1"/>
          </p:cNvSpPr>
          <p:nvPr>
            <p:ph type="body" idx="1"/>
          </p:nvPr>
        </p:nvSpPr>
        <p:spPr>
          <a:xfrm>
            <a:off x="609600" y="1600200"/>
            <a:ext cx="10363200" cy="3698875"/>
          </a:xfrm>
        </p:spPr>
        <p:txBody>
          <a:bodyPr>
            <a:normAutofit/>
          </a:bodyPr>
          <a:lstStyle/>
          <a:p>
            <a:pPr eaLnBrk="1" hangingPunct="1"/>
            <a:r>
              <a:rPr lang="en-US" altLang="en-US" sz="3600" dirty="0"/>
              <a:t>Leave a white border (for push-pins)</a:t>
            </a:r>
          </a:p>
          <a:p>
            <a:pPr eaLnBrk="1" hangingPunct="1"/>
            <a:r>
              <a:rPr lang="en-US" altLang="en-US" sz="3600" dirty="0"/>
              <a:t>Remember to spell check</a:t>
            </a:r>
          </a:p>
          <a:p>
            <a:pPr eaLnBrk="1" hangingPunct="1"/>
            <a:r>
              <a:rPr lang="en-US" altLang="en-US" sz="3600" dirty="0"/>
              <a:t>Check every inch and check again</a:t>
            </a:r>
          </a:p>
          <a:p>
            <a:pPr eaLnBrk="1" hangingPunct="1"/>
            <a:r>
              <a:rPr lang="en-US" altLang="en-US" sz="3600" dirty="0"/>
              <a:t>Ask a colleague to proof the poster</a:t>
            </a:r>
          </a:p>
        </p:txBody>
      </p:sp>
    </p:spTree>
    <p:extLst>
      <p:ext uri="{BB962C8B-B14F-4D97-AF65-F5344CB8AC3E}">
        <p14:creationId xmlns:p14="http://schemas.microsoft.com/office/powerpoint/2010/main" val="153828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r>
              <a:rPr lang="en-US"/>
              <a:t>Pictures</a:t>
            </a:r>
          </a:p>
        </p:txBody>
      </p:sp>
      <p:sp>
        <p:nvSpPr>
          <p:cNvPr id="43010" name="Rectangle 3"/>
          <p:cNvSpPr>
            <a:spLocks noGrp="1" noChangeArrowheads="1"/>
          </p:cNvSpPr>
          <p:nvPr>
            <p:ph idx="1"/>
          </p:nvPr>
        </p:nvSpPr>
        <p:spPr/>
        <p:txBody>
          <a:bodyPr>
            <a:noAutofit/>
          </a:bodyPr>
          <a:lstStyle/>
          <a:p>
            <a:r>
              <a:rPr lang="en-US" sz="3200" dirty="0"/>
              <a:t>Use standard formats</a:t>
            </a:r>
          </a:p>
          <a:p>
            <a:pPr lvl="1"/>
            <a:r>
              <a:rPr lang="en-US" sz="2800" dirty="0"/>
              <a:t>.jpg, .gif, .tiff, .</a:t>
            </a:r>
            <a:r>
              <a:rPr lang="en-US" sz="2800" dirty="0" err="1"/>
              <a:t>tif</a:t>
            </a:r>
            <a:r>
              <a:rPr lang="en-US" sz="2800" dirty="0"/>
              <a:t>, .bmp  </a:t>
            </a:r>
          </a:p>
          <a:p>
            <a:r>
              <a:rPr lang="en-US" sz="3200" dirty="0"/>
              <a:t>Watch resolution of photos</a:t>
            </a:r>
          </a:p>
          <a:p>
            <a:pPr lvl="1"/>
            <a:r>
              <a:rPr lang="en-US" sz="2800" dirty="0"/>
              <a:t>72 dpi </a:t>
            </a:r>
            <a:r>
              <a:rPr lang="en-US" sz="2800" dirty="0" err="1"/>
              <a:t>vs</a:t>
            </a:r>
            <a:r>
              <a:rPr lang="en-US" sz="2800" dirty="0"/>
              <a:t> 300</a:t>
            </a:r>
          </a:p>
          <a:p>
            <a:pPr lvl="2"/>
            <a:r>
              <a:rPr lang="en-US" sz="2400" dirty="0"/>
              <a:t>72 dpi will look </a:t>
            </a:r>
            <a:r>
              <a:rPr lang="en-US" sz="2400" dirty="0" err="1"/>
              <a:t>pixelated</a:t>
            </a:r>
            <a:r>
              <a:rPr lang="en-US" sz="2400" dirty="0"/>
              <a:t> on a poster</a:t>
            </a:r>
          </a:p>
          <a:p>
            <a:pPr lvl="2"/>
            <a:r>
              <a:rPr lang="en-US" sz="2400" dirty="0"/>
              <a:t>230 dpi prints like a photo</a:t>
            </a:r>
          </a:p>
          <a:p>
            <a:r>
              <a:rPr lang="en-US" sz="3200" dirty="0"/>
              <a:t>Insert high dpi photos</a:t>
            </a:r>
          </a:p>
          <a:p>
            <a:r>
              <a:rPr lang="en-US" sz="3200" dirty="0"/>
              <a:t>Make them relatively large</a:t>
            </a:r>
          </a:p>
          <a:p>
            <a:r>
              <a:rPr lang="en-US" sz="3200" dirty="0"/>
              <a:t>Stretch to correct size</a:t>
            </a:r>
          </a:p>
          <a:p>
            <a:endParaRPr lang="en-US" sz="3200" dirty="0"/>
          </a:p>
        </p:txBody>
      </p:sp>
      <p:pic>
        <p:nvPicPr>
          <p:cNvPr id="43014" name="Picture 5" descr="Dithering_example_undithered.png"/>
          <p:cNvPicPr>
            <a:picLocks noChangeAspect="1"/>
          </p:cNvPicPr>
          <p:nvPr/>
        </p:nvPicPr>
        <p:blipFill>
          <a:blip r:embed="rId3" cstate="print"/>
          <a:srcRect/>
          <a:stretch>
            <a:fillRect/>
          </a:stretch>
        </p:blipFill>
        <p:spPr bwMode="auto">
          <a:xfrm>
            <a:off x="7747000" y="4191000"/>
            <a:ext cx="4064000" cy="2438400"/>
          </a:xfrm>
          <a:prstGeom prst="rect">
            <a:avLst/>
          </a:prstGeom>
          <a:noFill/>
          <a:ln w="9525">
            <a:noFill/>
            <a:miter lim="800000"/>
            <a:headEnd/>
            <a:tailEnd/>
          </a:ln>
        </p:spPr>
      </p:pic>
    </p:spTree>
    <p:extLst>
      <p:ext uri="{BB962C8B-B14F-4D97-AF65-F5344CB8AC3E}">
        <p14:creationId xmlns:p14="http://schemas.microsoft.com/office/powerpoint/2010/main" val="768352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4"/>
          <p:cNvSpPr>
            <a:spLocks noGrp="1" noChangeArrowheads="1"/>
          </p:cNvSpPr>
          <p:nvPr>
            <p:ph type="title"/>
          </p:nvPr>
        </p:nvSpPr>
        <p:spPr>
          <a:xfrm>
            <a:off x="1727200" y="838200"/>
            <a:ext cx="10363200" cy="1143000"/>
          </a:xfrm>
        </p:spPr>
        <p:txBody>
          <a:bodyPr/>
          <a:lstStyle/>
          <a:p>
            <a:r>
              <a:rPr lang="en-US" sz="4000"/>
              <a:t>Contents of a Research Poster:</a:t>
            </a:r>
          </a:p>
        </p:txBody>
      </p:sp>
      <p:sp>
        <p:nvSpPr>
          <p:cNvPr id="1027" name="Rectangle 3"/>
          <p:cNvSpPr>
            <a:spLocks noGrp="1" noChangeArrowheads="1"/>
          </p:cNvSpPr>
          <p:nvPr>
            <p:ph idx="1"/>
          </p:nvPr>
        </p:nvSpPr>
        <p:spPr>
          <a:xfrm>
            <a:off x="3302000" y="2057400"/>
            <a:ext cx="5588000" cy="3962400"/>
          </a:xfrm>
        </p:spPr>
        <p:txBody>
          <a:bodyPr rtlCol="0">
            <a:noAutofit/>
          </a:bodyPr>
          <a:lstStyle/>
          <a:p>
            <a:pPr fontAlgn="auto">
              <a:lnSpc>
                <a:spcPct val="90000"/>
              </a:lnSpc>
              <a:spcAft>
                <a:spcPts val="0"/>
              </a:spcAft>
              <a:buFont typeface="Arial"/>
              <a:buChar char="•"/>
              <a:defRPr/>
            </a:pPr>
            <a:r>
              <a:rPr lang="en-US" dirty="0">
                <a:ea typeface="+mn-ea"/>
              </a:rPr>
              <a:t>Title &amp; Authors</a:t>
            </a:r>
          </a:p>
          <a:p>
            <a:pPr fontAlgn="auto">
              <a:lnSpc>
                <a:spcPct val="90000"/>
              </a:lnSpc>
              <a:spcAft>
                <a:spcPts val="0"/>
              </a:spcAft>
              <a:buFont typeface="Arial"/>
              <a:buChar char="•"/>
              <a:defRPr/>
            </a:pPr>
            <a:r>
              <a:rPr lang="en-US" dirty="0">
                <a:ea typeface="+mn-ea"/>
              </a:rPr>
              <a:t>Abstract</a:t>
            </a:r>
          </a:p>
          <a:p>
            <a:pPr fontAlgn="auto">
              <a:lnSpc>
                <a:spcPct val="90000"/>
              </a:lnSpc>
              <a:spcAft>
                <a:spcPts val="0"/>
              </a:spcAft>
              <a:buFont typeface="Arial"/>
              <a:buChar char="•"/>
              <a:defRPr/>
            </a:pPr>
            <a:r>
              <a:rPr lang="en-US" dirty="0">
                <a:ea typeface="+mn-ea"/>
              </a:rPr>
              <a:t>Research Objectives</a:t>
            </a:r>
          </a:p>
          <a:p>
            <a:pPr fontAlgn="auto">
              <a:lnSpc>
                <a:spcPct val="90000"/>
              </a:lnSpc>
              <a:spcAft>
                <a:spcPts val="0"/>
              </a:spcAft>
              <a:buFont typeface="Arial"/>
              <a:buChar char="•"/>
              <a:defRPr/>
            </a:pPr>
            <a:r>
              <a:rPr lang="en-US" dirty="0">
                <a:ea typeface="+mn-ea"/>
              </a:rPr>
              <a:t>Materials &amp; Methods</a:t>
            </a:r>
          </a:p>
          <a:p>
            <a:pPr fontAlgn="auto">
              <a:lnSpc>
                <a:spcPct val="90000"/>
              </a:lnSpc>
              <a:spcAft>
                <a:spcPts val="0"/>
              </a:spcAft>
              <a:buFont typeface="Arial"/>
              <a:buChar char="•"/>
              <a:defRPr/>
            </a:pPr>
            <a:r>
              <a:rPr lang="en-US" dirty="0">
                <a:ea typeface="+mn-ea"/>
              </a:rPr>
              <a:t>Results/Data</a:t>
            </a:r>
          </a:p>
          <a:p>
            <a:pPr fontAlgn="auto">
              <a:lnSpc>
                <a:spcPct val="90000"/>
              </a:lnSpc>
              <a:spcAft>
                <a:spcPts val="0"/>
              </a:spcAft>
              <a:buFont typeface="Arial"/>
              <a:buChar char="•"/>
              <a:defRPr/>
            </a:pPr>
            <a:r>
              <a:rPr lang="en-US" dirty="0">
                <a:ea typeface="+mn-ea"/>
              </a:rPr>
              <a:t>Conclusions/Discussion</a:t>
            </a:r>
          </a:p>
          <a:p>
            <a:pPr fontAlgn="auto">
              <a:lnSpc>
                <a:spcPct val="90000"/>
              </a:lnSpc>
              <a:spcAft>
                <a:spcPts val="0"/>
              </a:spcAft>
              <a:buFont typeface="Arial"/>
              <a:buChar char="•"/>
              <a:defRPr/>
            </a:pPr>
            <a:r>
              <a:rPr lang="en-US" dirty="0">
                <a:ea typeface="+mn-ea"/>
              </a:rPr>
              <a:t>Future Directions</a:t>
            </a:r>
          </a:p>
          <a:p>
            <a:pPr fontAlgn="auto">
              <a:lnSpc>
                <a:spcPct val="90000"/>
              </a:lnSpc>
              <a:spcAft>
                <a:spcPts val="0"/>
              </a:spcAft>
              <a:buFont typeface="Arial"/>
              <a:buChar char="•"/>
              <a:defRPr/>
            </a:pPr>
            <a:r>
              <a:rPr lang="en-US" dirty="0">
                <a:ea typeface="+mn-ea"/>
              </a:rPr>
              <a:t>Literature Cited</a:t>
            </a:r>
          </a:p>
          <a:p>
            <a:pPr fontAlgn="auto">
              <a:lnSpc>
                <a:spcPct val="90000"/>
              </a:lnSpc>
              <a:spcAft>
                <a:spcPts val="0"/>
              </a:spcAft>
              <a:buFont typeface="Arial"/>
              <a:buChar char="•"/>
              <a:defRPr/>
            </a:pPr>
            <a:r>
              <a:rPr lang="en-US" dirty="0">
                <a:ea typeface="+mn-ea"/>
              </a:rPr>
              <a:t>Acknowledgements</a:t>
            </a:r>
          </a:p>
        </p:txBody>
      </p:sp>
    </p:spTree>
    <p:extLst>
      <p:ext uri="{BB962C8B-B14F-4D97-AF65-F5344CB8AC3E}">
        <p14:creationId xmlns:p14="http://schemas.microsoft.com/office/powerpoint/2010/main" val="1723159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 calcmode="lin" valueType="num">
                                      <p:cBhvr additive="base">
                                        <p:cTn id="7" dur="500" fill="hold"/>
                                        <p:tgtEl>
                                          <p:spTgt spid="10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27">
                                            <p:txEl>
                                              <p:pRg st="1" end="1"/>
                                            </p:txEl>
                                          </p:spTgt>
                                        </p:tgtEl>
                                        <p:attrNameLst>
                                          <p:attrName>style.visibility</p:attrName>
                                        </p:attrNameLst>
                                      </p:cBhvr>
                                      <p:to>
                                        <p:strVal val="visible"/>
                                      </p:to>
                                    </p:set>
                                    <p:anim calcmode="lin" valueType="num">
                                      <p:cBhvr additive="base">
                                        <p:cTn id="11" dur="500" fill="hold"/>
                                        <p:tgtEl>
                                          <p:spTgt spid="102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2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27">
                                            <p:txEl>
                                              <p:pRg st="2" end="2"/>
                                            </p:txEl>
                                          </p:spTgt>
                                        </p:tgtEl>
                                        <p:attrNameLst>
                                          <p:attrName>style.visibility</p:attrName>
                                        </p:attrNameLst>
                                      </p:cBhvr>
                                      <p:to>
                                        <p:strVal val="visible"/>
                                      </p:to>
                                    </p:set>
                                    <p:anim calcmode="lin" valueType="num">
                                      <p:cBhvr additive="base">
                                        <p:cTn id="15" dur="500" fill="hold"/>
                                        <p:tgtEl>
                                          <p:spTgt spid="102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2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27">
                                            <p:txEl>
                                              <p:pRg st="3" end="3"/>
                                            </p:txEl>
                                          </p:spTgt>
                                        </p:tgtEl>
                                        <p:attrNameLst>
                                          <p:attrName>style.visibility</p:attrName>
                                        </p:attrNameLst>
                                      </p:cBhvr>
                                      <p:to>
                                        <p:strVal val="visible"/>
                                      </p:to>
                                    </p:set>
                                    <p:anim calcmode="lin" valueType="num">
                                      <p:cBhvr additive="base">
                                        <p:cTn id="19" dur="500" fill="hold"/>
                                        <p:tgtEl>
                                          <p:spTgt spid="102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2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027">
                                            <p:txEl>
                                              <p:pRg st="4" end="4"/>
                                            </p:txEl>
                                          </p:spTgt>
                                        </p:tgtEl>
                                        <p:attrNameLst>
                                          <p:attrName>style.visibility</p:attrName>
                                        </p:attrNameLst>
                                      </p:cBhvr>
                                      <p:to>
                                        <p:strVal val="visible"/>
                                      </p:to>
                                    </p:set>
                                    <p:anim calcmode="lin" valueType="num">
                                      <p:cBhvr additive="base">
                                        <p:cTn id="23" dur="500" fill="hold"/>
                                        <p:tgtEl>
                                          <p:spTgt spid="102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2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27">
                                            <p:txEl>
                                              <p:pRg st="5" end="5"/>
                                            </p:txEl>
                                          </p:spTgt>
                                        </p:tgtEl>
                                        <p:attrNameLst>
                                          <p:attrName>style.visibility</p:attrName>
                                        </p:attrNameLst>
                                      </p:cBhvr>
                                      <p:to>
                                        <p:strVal val="visible"/>
                                      </p:to>
                                    </p:set>
                                    <p:anim calcmode="lin" valueType="num">
                                      <p:cBhvr additive="base">
                                        <p:cTn id="27" dur="500" fill="hold"/>
                                        <p:tgtEl>
                                          <p:spTgt spid="102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27">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27">
                                            <p:txEl>
                                              <p:pRg st="6" end="6"/>
                                            </p:txEl>
                                          </p:spTgt>
                                        </p:tgtEl>
                                        <p:attrNameLst>
                                          <p:attrName>style.visibility</p:attrName>
                                        </p:attrNameLst>
                                      </p:cBhvr>
                                      <p:to>
                                        <p:strVal val="visible"/>
                                      </p:to>
                                    </p:set>
                                    <p:anim calcmode="lin" valueType="num">
                                      <p:cBhvr additive="base">
                                        <p:cTn id="31" dur="500" fill="hold"/>
                                        <p:tgtEl>
                                          <p:spTgt spid="102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27">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27">
                                            <p:txEl>
                                              <p:pRg st="7" end="7"/>
                                            </p:txEl>
                                          </p:spTgt>
                                        </p:tgtEl>
                                        <p:attrNameLst>
                                          <p:attrName>style.visibility</p:attrName>
                                        </p:attrNameLst>
                                      </p:cBhvr>
                                      <p:to>
                                        <p:strVal val="visible"/>
                                      </p:to>
                                    </p:set>
                                    <p:anim calcmode="lin" valueType="num">
                                      <p:cBhvr additive="base">
                                        <p:cTn id="35" dur="500" fill="hold"/>
                                        <p:tgtEl>
                                          <p:spTgt spid="1027">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27">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027">
                                            <p:txEl>
                                              <p:pRg st="8" end="8"/>
                                            </p:txEl>
                                          </p:spTgt>
                                        </p:tgtEl>
                                        <p:attrNameLst>
                                          <p:attrName>style.visibility</p:attrName>
                                        </p:attrNameLst>
                                      </p:cBhvr>
                                      <p:to>
                                        <p:strVal val="visible"/>
                                      </p:to>
                                    </p:set>
                                    <p:anim calcmode="lin" valueType="num">
                                      <p:cBhvr additive="base">
                                        <p:cTn id="39" dur="500" fill="hold"/>
                                        <p:tgtEl>
                                          <p:spTgt spid="1027">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02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4"/>
          <p:cNvSpPr>
            <a:spLocks noGrp="1" noChangeArrowheads="1"/>
          </p:cNvSpPr>
          <p:nvPr>
            <p:ph type="title"/>
          </p:nvPr>
        </p:nvSpPr>
        <p:spPr/>
        <p:txBody>
          <a:bodyPr/>
          <a:lstStyle/>
          <a:p>
            <a:r>
              <a:rPr lang="en-US" sz="4000" dirty="0"/>
              <a:t>Contents of a Research Poster:</a:t>
            </a:r>
          </a:p>
        </p:txBody>
      </p:sp>
      <p:sp>
        <p:nvSpPr>
          <p:cNvPr id="1027" name="Rectangle 3"/>
          <p:cNvSpPr>
            <a:spLocks noGrp="1" noChangeArrowheads="1"/>
          </p:cNvSpPr>
          <p:nvPr>
            <p:ph sz="half" idx="1"/>
          </p:nvPr>
        </p:nvSpPr>
        <p:spPr/>
        <p:txBody>
          <a:bodyPr rtlCol="0">
            <a:noAutofit/>
          </a:bodyPr>
          <a:lstStyle/>
          <a:p>
            <a:pPr fontAlgn="auto">
              <a:lnSpc>
                <a:spcPct val="90000"/>
              </a:lnSpc>
              <a:spcAft>
                <a:spcPts val="0"/>
              </a:spcAft>
              <a:buFont typeface="Arial"/>
              <a:buChar char="•"/>
              <a:defRPr/>
            </a:pPr>
            <a:r>
              <a:rPr lang="en-US" dirty="0">
                <a:ea typeface="+mn-ea"/>
              </a:rPr>
              <a:t>Title &amp; Authors</a:t>
            </a:r>
          </a:p>
          <a:p>
            <a:pPr fontAlgn="auto">
              <a:lnSpc>
                <a:spcPct val="90000"/>
              </a:lnSpc>
              <a:spcAft>
                <a:spcPts val="0"/>
              </a:spcAft>
              <a:buFont typeface="Arial"/>
              <a:buChar char="•"/>
              <a:defRPr/>
            </a:pPr>
            <a:r>
              <a:rPr lang="en-US" dirty="0">
                <a:ea typeface="+mn-ea"/>
              </a:rPr>
              <a:t>Abstract</a:t>
            </a:r>
          </a:p>
          <a:p>
            <a:pPr fontAlgn="auto">
              <a:lnSpc>
                <a:spcPct val="90000"/>
              </a:lnSpc>
              <a:spcAft>
                <a:spcPts val="0"/>
              </a:spcAft>
              <a:buFont typeface="Arial"/>
              <a:buChar char="•"/>
              <a:defRPr/>
            </a:pPr>
            <a:r>
              <a:rPr lang="en-US" dirty="0">
                <a:ea typeface="+mn-ea"/>
              </a:rPr>
              <a:t>Research Objectives</a:t>
            </a:r>
          </a:p>
          <a:p>
            <a:pPr fontAlgn="auto">
              <a:lnSpc>
                <a:spcPct val="90000"/>
              </a:lnSpc>
              <a:spcAft>
                <a:spcPts val="0"/>
              </a:spcAft>
              <a:buFont typeface="Arial"/>
              <a:buChar char="•"/>
              <a:defRPr/>
            </a:pPr>
            <a:r>
              <a:rPr lang="en-US" dirty="0">
                <a:ea typeface="+mn-ea"/>
              </a:rPr>
              <a:t>Materials &amp; Methods</a:t>
            </a:r>
          </a:p>
          <a:p>
            <a:pPr fontAlgn="auto">
              <a:lnSpc>
                <a:spcPct val="90000"/>
              </a:lnSpc>
              <a:spcAft>
                <a:spcPts val="0"/>
              </a:spcAft>
              <a:buFont typeface="Arial"/>
              <a:buChar char="•"/>
              <a:defRPr/>
            </a:pPr>
            <a:r>
              <a:rPr lang="en-US" dirty="0">
                <a:ea typeface="+mn-ea"/>
              </a:rPr>
              <a:t>Results/Data</a:t>
            </a:r>
          </a:p>
          <a:p>
            <a:pPr fontAlgn="auto">
              <a:lnSpc>
                <a:spcPct val="90000"/>
              </a:lnSpc>
              <a:spcAft>
                <a:spcPts val="0"/>
              </a:spcAft>
              <a:buFont typeface="Arial"/>
              <a:buChar char="•"/>
              <a:defRPr/>
            </a:pPr>
            <a:r>
              <a:rPr lang="en-US" dirty="0">
                <a:ea typeface="+mn-ea"/>
              </a:rPr>
              <a:t>Conclusions/Discussion</a:t>
            </a:r>
          </a:p>
          <a:p>
            <a:pPr fontAlgn="auto">
              <a:lnSpc>
                <a:spcPct val="90000"/>
              </a:lnSpc>
              <a:spcAft>
                <a:spcPts val="0"/>
              </a:spcAft>
              <a:buFont typeface="Arial"/>
              <a:buChar char="•"/>
              <a:defRPr/>
            </a:pPr>
            <a:r>
              <a:rPr lang="en-US" dirty="0">
                <a:ea typeface="+mn-ea"/>
              </a:rPr>
              <a:t>Future Directions</a:t>
            </a:r>
          </a:p>
          <a:p>
            <a:pPr fontAlgn="auto">
              <a:lnSpc>
                <a:spcPct val="90000"/>
              </a:lnSpc>
              <a:spcAft>
                <a:spcPts val="0"/>
              </a:spcAft>
              <a:buFont typeface="Arial"/>
              <a:buChar char="•"/>
              <a:defRPr/>
            </a:pPr>
            <a:r>
              <a:rPr lang="en-US" dirty="0">
                <a:ea typeface="+mn-ea"/>
              </a:rPr>
              <a:t>Literature Cited</a:t>
            </a:r>
          </a:p>
          <a:p>
            <a:pPr fontAlgn="auto">
              <a:lnSpc>
                <a:spcPct val="90000"/>
              </a:lnSpc>
              <a:spcAft>
                <a:spcPts val="0"/>
              </a:spcAft>
              <a:buFont typeface="Arial"/>
              <a:buChar char="•"/>
              <a:defRPr/>
            </a:pPr>
            <a:r>
              <a:rPr lang="en-US" dirty="0">
                <a:ea typeface="+mn-ea"/>
              </a:rPr>
              <a:t>Acknowledgements</a:t>
            </a:r>
          </a:p>
        </p:txBody>
      </p:sp>
      <p:sp>
        <p:nvSpPr>
          <p:cNvPr id="2" name="Content Placeholder 1"/>
          <p:cNvSpPr>
            <a:spLocks noGrp="1"/>
          </p:cNvSpPr>
          <p:nvPr>
            <p:ph sz="half" idx="2"/>
          </p:nvPr>
        </p:nvSpPr>
        <p:spPr/>
        <p:txBody>
          <a:bodyPr>
            <a:normAutofit fontScale="85000" lnSpcReduction="20000"/>
          </a:bodyPr>
          <a:lstStyle/>
          <a:p>
            <a:r>
              <a:rPr lang="en-GB" dirty="0"/>
              <a:t>The same as in the research paper but not “copy and paste”</a:t>
            </a:r>
          </a:p>
          <a:p>
            <a:pPr lvl="1"/>
            <a:r>
              <a:rPr lang="en-GB" dirty="0"/>
              <a:t>Summarize</a:t>
            </a:r>
          </a:p>
          <a:p>
            <a:pPr lvl="1"/>
            <a:r>
              <a:rPr lang="en-GB" dirty="0"/>
              <a:t>Short text descriptions</a:t>
            </a:r>
          </a:p>
          <a:p>
            <a:pPr lvl="1"/>
            <a:r>
              <a:rPr lang="en-GB" dirty="0"/>
              <a:t>Represent information visually</a:t>
            </a:r>
          </a:p>
          <a:p>
            <a:r>
              <a:rPr lang="en-GB" dirty="0">
                <a:solidFill>
                  <a:srgbClr val="FF0000"/>
                </a:solidFill>
              </a:rPr>
              <a:t>The requirements are not that strict as a research paper </a:t>
            </a:r>
          </a:p>
          <a:p>
            <a:r>
              <a:rPr lang="en-GB" dirty="0"/>
              <a:t>Some sections may be omitted/combined – depending on the conference requirements and your preference </a:t>
            </a:r>
          </a:p>
          <a:p>
            <a:pPr lvl="1"/>
            <a:r>
              <a:rPr lang="en-GB" dirty="0"/>
              <a:t>Abstract</a:t>
            </a:r>
          </a:p>
          <a:p>
            <a:pPr lvl="1"/>
            <a:r>
              <a:rPr lang="en-GB" dirty="0"/>
              <a:t>Literature cited</a:t>
            </a:r>
          </a:p>
          <a:p>
            <a:pPr lvl="1"/>
            <a:r>
              <a:rPr lang="en-GB" dirty="0"/>
              <a:t>Acknowledgements </a:t>
            </a:r>
          </a:p>
        </p:txBody>
      </p:sp>
    </p:spTree>
    <p:extLst>
      <p:ext uri="{BB962C8B-B14F-4D97-AF65-F5344CB8AC3E}">
        <p14:creationId xmlns:p14="http://schemas.microsoft.com/office/powerpoint/2010/main" val="1937746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 calcmode="lin" valueType="num">
                                      <p:cBhvr additive="base">
                                        <p:cTn id="7" dur="500" fill="hold"/>
                                        <p:tgtEl>
                                          <p:spTgt spid="10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27">
                                            <p:txEl>
                                              <p:pRg st="1" end="1"/>
                                            </p:txEl>
                                          </p:spTgt>
                                        </p:tgtEl>
                                        <p:attrNameLst>
                                          <p:attrName>style.visibility</p:attrName>
                                        </p:attrNameLst>
                                      </p:cBhvr>
                                      <p:to>
                                        <p:strVal val="visible"/>
                                      </p:to>
                                    </p:set>
                                    <p:anim calcmode="lin" valueType="num">
                                      <p:cBhvr additive="base">
                                        <p:cTn id="11" dur="500" fill="hold"/>
                                        <p:tgtEl>
                                          <p:spTgt spid="102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2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27">
                                            <p:txEl>
                                              <p:pRg st="2" end="2"/>
                                            </p:txEl>
                                          </p:spTgt>
                                        </p:tgtEl>
                                        <p:attrNameLst>
                                          <p:attrName>style.visibility</p:attrName>
                                        </p:attrNameLst>
                                      </p:cBhvr>
                                      <p:to>
                                        <p:strVal val="visible"/>
                                      </p:to>
                                    </p:set>
                                    <p:anim calcmode="lin" valueType="num">
                                      <p:cBhvr additive="base">
                                        <p:cTn id="15" dur="500" fill="hold"/>
                                        <p:tgtEl>
                                          <p:spTgt spid="102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2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27">
                                            <p:txEl>
                                              <p:pRg st="3" end="3"/>
                                            </p:txEl>
                                          </p:spTgt>
                                        </p:tgtEl>
                                        <p:attrNameLst>
                                          <p:attrName>style.visibility</p:attrName>
                                        </p:attrNameLst>
                                      </p:cBhvr>
                                      <p:to>
                                        <p:strVal val="visible"/>
                                      </p:to>
                                    </p:set>
                                    <p:anim calcmode="lin" valueType="num">
                                      <p:cBhvr additive="base">
                                        <p:cTn id="19" dur="500" fill="hold"/>
                                        <p:tgtEl>
                                          <p:spTgt spid="102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2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027">
                                            <p:txEl>
                                              <p:pRg st="4" end="4"/>
                                            </p:txEl>
                                          </p:spTgt>
                                        </p:tgtEl>
                                        <p:attrNameLst>
                                          <p:attrName>style.visibility</p:attrName>
                                        </p:attrNameLst>
                                      </p:cBhvr>
                                      <p:to>
                                        <p:strVal val="visible"/>
                                      </p:to>
                                    </p:set>
                                    <p:anim calcmode="lin" valueType="num">
                                      <p:cBhvr additive="base">
                                        <p:cTn id="23" dur="500" fill="hold"/>
                                        <p:tgtEl>
                                          <p:spTgt spid="102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2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27">
                                            <p:txEl>
                                              <p:pRg st="5" end="5"/>
                                            </p:txEl>
                                          </p:spTgt>
                                        </p:tgtEl>
                                        <p:attrNameLst>
                                          <p:attrName>style.visibility</p:attrName>
                                        </p:attrNameLst>
                                      </p:cBhvr>
                                      <p:to>
                                        <p:strVal val="visible"/>
                                      </p:to>
                                    </p:set>
                                    <p:anim calcmode="lin" valueType="num">
                                      <p:cBhvr additive="base">
                                        <p:cTn id="27" dur="500" fill="hold"/>
                                        <p:tgtEl>
                                          <p:spTgt spid="102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27">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27">
                                            <p:txEl>
                                              <p:pRg st="6" end="6"/>
                                            </p:txEl>
                                          </p:spTgt>
                                        </p:tgtEl>
                                        <p:attrNameLst>
                                          <p:attrName>style.visibility</p:attrName>
                                        </p:attrNameLst>
                                      </p:cBhvr>
                                      <p:to>
                                        <p:strVal val="visible"/>
                                      </p:to>
                                    </p:set>
                                    <p:anim calcmode="lin" valueType="num">
                                      <p:cBhvr additive="base">
                                        <p:cTn id="31" dur="500" fill="hold"/>
                                        <p:tgtEl>
                                          <p:spTgt spid="102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27">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27">
                                            <p:txEl>
                                              <p:pRg st="7" end="7"/>
                                            </p:txEl>
                                          </p:spTgt>
                                        </p:tgtEl>
                                        <p:attrNameLst>
                                          <p:attrName>style.visibility</p:attrName>
                                        </p:attrNameLst>
                                      </p:cBhvr>
                                      <p:to>
                                        <p:strVal val="visible"/>
                                      </p:to>
                                    </p:set>
                                    <p:anim calcmode="lin" valueType="num">
                                      <p:cBhvr additive="base">
                                        <p:cTn id="35" dur="500" fill="hold"/>
                                        <p:tgtEl>
                                          <p:spTgt spid="1027">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27">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027">
                                            <p:txEl>
                                              <p:pRg st="8" end="8"/>
                                            </p:txEl>
                                          </p:spTgt>
                                        </p:tgtEl>
                                        <p:attrNameLst>
                                          <p:attrName>style.visibility</p:attrName>
                                        </p:attrNameLst>
                                      </p:cBhvr>
                                      <p:to>
                                        <p:strVal val="visible"/>
                                      </p:to>
                                    </p:set>
                                    <p:anim calcmode="lin" valueType="num">
                                      <p:cBhvr additive="base">
                                        <p:cTn id="39" dur="500" fill="hold"/>
                                        <p:tgtEl>
                                          <p:spTgt spid="1027">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02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ChangeArrowheads="1"/>
          </p:cNvSpPr>
          <p:nvPr>
            <p:ph type="title"/>
          </p:nvPr>
        </p:nvSpPr>
        <p:spPr/>
        <p:txBody>
          <a:bodyPr/>
          <a:lstStyle/>
          <a:p>
            <a:r>
              <a:rPr lang="en-US"/>
              <a:t>Title &amp; Authors:</a:t>
            </a:r>
          </a:p>
        </p:txBody>
      </p:sp>
      <p:sp>
        <p:nvSpPr>
          <p:cNvPr id="222211" name="Rectangle 3"/>
          <p:cNvSpPr>
            <a:spLocks noGrp="1" noChangeArrowheads="1"/>
          </p:cNvSpPr>
          <p:nvPr>
            <p:ph idx="1"/>
          </p:nvPr>
        </p:nvSpPr>
        <p:spPr>
          <a:xfrm>
            <a:off x="914400" y="1447800"/>
            <a:ext cx="10668000" cy="2819400"/>
          </a:xfrm>
        </p:spPr>
        <p:txBody>
          <a:bodyPr>
            <a:normAutofit/>
          </a:bodyPr>
          <a:lstStyle/>
          <a:p>
            <a:pPr>
              <a:lnSpc>
                <a:spcPct val="90000"/>
              </a:lnSpc>
            </a:pPr>
            <a:r>
              <a:rPr lang="en-US" u="sng" dirty="0"/>
              <a:t>Title</a:t>
            </a:r>
            <a:r>
              <a:rPr lang="en-US" dirty="0"/>
              <a:t>:</a:t>
            </a:r>
          </a:p>
          <a:p>
            <a:pPr lvl="1">
              <a:lnSpc>
                <a:spcPct val="90000"/>
              </a:lnSpc>
            </a:pPr>
            <a:r>
              <a:rPr lang="en-US" sz="2400" b="1" dirty="0">
                <a:effectLst>
                  <a:outerShdw blurRad="38100" dist="38100" dir="2700000" algn="tl">
                    <a:srgbClr val="C0C0C0"/>
                  </a:outerShdw>
                </a:effectLst>
              </a:rPr>
              <a:t>S</a:t>
            </a:r>
            <a:r>
              <a:rPr lang="en-US" sz="2400" dirty="0"/>
              <a:t>hort, </a:t>
            </a:r>
            <a:r>
              <a:rPr lang="en-US" sz="2400" b="1" dirty="0">
                <a:effectLst>
                  <a:outerShdw blurRad="38100" dist="38100" dir="2700000" algn="tl">
                    <a:srgbClr val="C0C0C0"/>
                  </a:outerShdw>
                </a:effectLst>
              </a:rPr>
              <a:t>S</a:t>
            </a:r>
            <a:r>
              <a:rPr lang="en-US" sz="2400" dirty="0"/>
              <a:t>uccinct, </a:t>
            </a:r>
            <a:r>
              <a:rPr lang="en-US" sz="2400" b="1" dirty="0">
                <a:effectLst>
                  <a:outerShdw blurRad="38100" dist="38100" dir="2700000" algn="tl">
                    <a:srgbClr val="C0C0C0"/>
                  </a:outerShdw>
                </a:effectLst>
              </a:rPr>
              <a:t>S</a:t>
            </a:r>
            <a:r>
              <a:rPr lang="en-US" sz="2400" dirty="0"/>
              <a:t>pecific</a:t>
            </a:r>
            <a:endParaRPr lang="en-US" dirty="0"/>
          </a:p>
          <a:p>
            <a:pPr>
              <a:lnSpc>
                <a:spcPct val="90000"/>
              </a:lnSpc>
            </a:pPr>
            <a:r>
              <a:rPr lang="en-US" u="sng" dirty="0"/>
              <a:t>Authors</a:t>
            </a:r>
            <a:r>
              <a:rPr lang="en-US" dirty="0"/>
              <a:t>:</a:t>
            </a:r>
          </a:p>
          <a:p>
            <a:pPr lvl="1">
              <a:lnSpc>
                <a:spcPct val="90000"/>
              </a:lnSpc>
            </a:pPr>
            <a:r>
              <a:rPr lang="en-US" sz="2400" dirty="0"/>
              <a:t>Discuss with mentor, collaborators to determine appropriate inclusions and name order</a:t>
            </a:r>
          </a:p>
          <a:p>
            <a:pPr lvl="1">
              <a:lnSpc>
                <a:spcPct val="90000"/>
              </a:lnSpc>
            </a:pPr>
            <a:r>
              <a:rPr lang="en-US" sz="2400" dirty="0"/>
              <a:t>Include institutional affiliations</a:t>
            </a:r>
            <a:endParaRPr lang="en-US" dirty="0"/>
          </a:p>
        </p:txBody>
      </p:sp>
      <p:sp>
        <p:nvSpPr>
          <p:cNvPr id="222216" name="Rectangle 8"/>
          <p:cNvSpPr>
            <a:spLocks noChangeArrowheads="1"/>
          </p:cNvSpPr>
          <p:nvPr/>
        </p:nvSpPr>
        <p:spPr bwMode="auto">
          <a:xfrm>
            <a:off x="1727200" y="4114800"/>
            <a:ext cx="69088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eaLnBrk="1" hangingPunct="1">
              <a:spcBef>
                <a:spcPct val="20000"/>
              </a:spcBef>
            </a:pPr>
            <a:r>
              <a:rPr lang="en-US" sz="2000" i="1" u="sng" dirty="0">
                <a:latin typeface="Trebuchet MS" pitchFamily="34" charset="0"/>
                <a:ea typeface="Osaka" pitchFamily="1" charset="-128"/>
              </a:rPr>
              <a:t>Formatting:</a:t>
            </a:r>
          </a:p>
          <a:p>
            <a:pPr marL="342900" indent="-342900" eaLnBrk="1" hangingPunct="1">
              <a:spcBef>
                <a:spcPct val="20000"/>
              </a:spcBef>
              <a:buSzPct val="50000"/>
              <a:buFont typeface="Wingdings" pitchFamily="2" charset="2"/>
              <a:buChar char="v"/>
            </a:pPr>
            <a:r>
              <a:rPr lang="en-US" sz="2000" i="1" dirty="0">
                <a:latin typeface="Trebuchet MS" pitchFamily="34" charset="0"/>
                <a:ea typeface="Osaka" pitchFamily="1" charset="-128"/>
              </a:rPr>
              <a:t>Centered across top</a:t>
            </a:r>
          </a:p>
          <a:p>
            <a:pPr marL="342900" indent="-342900" eaLnBrk="1" hangingPunct="1">
              <a:spcBef>
                <a:spcPct val="20000"/>
              </a:spcBef>
              <a:buSzPct val="50000"/>
              <a:buFont typeface="Wingdings" pitchFamily="2" charset="2"/>
              <a:buChar char="v"/>
            </a:pPr>
            <a:r>
              <a:rPr lang="en-US" sz="2000" i="1" dirty="0">
                <a:latin typeface="Trebuchet MS" pitchFamily="34" charset="0"/>
                <a:ea typeface="Osaka" pitchFamily="1" charset="-128"/>
              </a:rPr>
              <a:t>Large, bold font</a:t>
            </a:r>
          </a:p>
          <a:p>
            <a:pPr marL="342900" indent="-342900" eaLnBrk="1" hangingPunct="1">
              <a:spcBef>
                <a:spcPct val="20000"/>
              </a:spcBef>
              <a:buSzPct val="50000"/>
              <a:buFont typeface="Wingdings" pitchFamily="2" charset="2"/>
              <a:buChar char="v"/>
            </a:pPr>
            <a:r>
              <a:rPr lang="en-US" sz="2000" i="1" dirty="0">
                <a:latin typeface="Trebuchet MS" pitchFamily="34" charset="0"/>
                <a:ea typeface="Osaka" pitchFamily="1" charset="-128"/>
              </a:rPr>
              <a:t>Different sizes, colors to set off </a:t>
            </a:r>
          </a:p>
          <a:p>
            <a:pPr marL="342900" indent="-342900" eaLnBrk="1" hangingPunct="1">
              <a:spcBef>
                <a:spcPct val="20000"/>
              </a:spcBef>
              <a:buSzPct val="50000"/>
              <a:buFont typeface="Wingdings" pitchFamily="2" charset="2"/>
              <a:buChar char="v"/>
            </a:pPr>
            <a:r>
              <a:rPr lang="en-US" sz="2000" i="1" dirty="0">
                <a:latin typeface="Trebuchet MS" pitchFamily="34" charset="0"/>
                <a:ea typeface="Osaka" pitchFamily="1" charset="-128"/>
              </a:rPr>
              <a:t>Can highlight presenter</a:t>
            </a:r>
            <a:r>
              <a:rPr lang="ja-JP" altLang="en-US" sz="2000" i="1">
                <a:latin typeface="Trebuchet MS" pitchFamily="34" charset="0"/>
                <a:ea typeface="Osaka" pitchFamily="1" charset="-128"/>
              </a:rPr>
              <a:t>’</a:t>
            </a:r>
            <a:r>
              <a:rPr lang="en-US" altLang="ja-JP" sz="2000" i="1" dirty="0">
                <a:latin typeface="Trebuchet MS" pitchFamily="34" charset="0"/>
                <a:ea typeface="Osaka" pitchFamily="1" charset="-128"/>
              </a:rPr>
              <a:t>s name</a:t>
            </a:r>
            <a:endParaRPr lang="en-US" sz="2000" i="1" u="sng" dirty="0">
              <a:latin typeface="Trebuchet MS" pitchFamily="34" charset="0"/>
              <a:ea typeface="Osaka" pitchFamily="1" charset="-128"/>
            </a:endParaRPr>
          </a:p>
        </p:txBody>
      </p:sp>
      <p:sp>
        <p:nvSpPr>
          <p:cNvPr id="8196" name="Rectangle 9"/>
          <p:cNvSpPr>
            <a:spLocks noChangeArrowheads="1"/>
          </p:cNvSpPr>
          <p:nvPr/>
        </p:nvSpPr>
        <p:spPr bwMode="auto">
          <a:xfrm>
            <a:off x="8737600" y="5029200"/>
            <a:ext cx="3149600" cy="1676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8197" name="Rectangle 10"/>
          <p:cNvSpPr>
            <a:spLocks noChangeArrowheads="1"/>
          </p:cNvSpPr>
          <p:nvPr/>
        </p:nvSpPr>
        <p:spPr bwMode="auto">
          <a:xfrm>
            <a:off x="8798985" y="5084764"/>
            <a:ext cx="3026833" cy="168275"/>
          </a:xfrm>
          <a:prstGeom prst="rect">
            <a:avLst/>
          </a:prstGeom>
          <a:solidFill>
            <a:srgbClr val="FFFF66"/>
          </a:solidFill>
          <a:ln w="9525">
            <a:solidFill>
              <a:schemeClr val="tx1"/>
            </a:solidFill>
            <a:miter lim="800000"/>
            <a:headEnd/>
            <a:tailEnd/>
          </a:ln>
        </p:spPr>
        <p:txBody>
          <a:bodyPr wrap="none" anchor="ctr"/>
          <a:lstStyle/>
          <a:p>
            <a:endParaRPr lang="en-US"/>
          </a:p>
        </p:txBody>
      </p:sp>
      <p:sp>
        <p:nvSpPr>
          <p:cNvPr id="8198" name="Rectangle 11"/>
          <p:cNvSpPr>
            <a:spLocks noChangeArrowheads="1"/>
          </p:cNvSpPr>
          <p:nvPr/>
        </p:nvSpPr>
        <p:spPr bwMode="auto">
          <a:xfrm>
            <a:off x="8798985" y="5308600"/>
            <a:ext cx="865716" cy="279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8199" name="Rectangle 13"/>
          <p:cNvSpPr>
            <a:spLocks noChangeArrowheads="1"/>
          </p:cNvSpPr>
          <p:nvPr/>
        </p:nvSpPr>
        <p:spPr bwMode="auto">
          <a:xfrm>
            <a:off x="9726085" y="5308600"/>
            <a:ext cx="1172633" cy="558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8200" name="Rectangle 14"/>
          <p:cNvSpPr>
            <a:spLocks noChangeArrowheads="1"/>
          </p:cNvSpPr>
          <p:nvPr/>
        </p:nvSpPr>
        <p:spPr bwMode="auto">
          <a:xfrm>
            <a:off x="9726085" y="5922964"/>
            <a:ext cx="1172633" cy="7270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8201" name="Rectangle 15"/>
          <p:cNvSpPr>
            <a:spLocks noChangeArrowheads="1"/>
          </p:cNvSpPr>
          <p:nvPr/>
        </p:nvSpPr>
        <p:spPr bwMode="auto">
          <a:xfrm>
            <a:off x="10960100" y="5308601"/>
            <a:ext cx="865717" cy="4476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8202" name="Rectangle 16"/>
          <p:cNvSpPr>
            <a:spLocks noChangeArrowheads="1"/>
          </p:cNvSpPr>
          <p:nvPr/>
        </p:nvSpPr>
        <p:spPr bwMode="auto">
          <a:xfrm>
            <a:off x="10960100" y="5811839"/>
            <a:ext cx="865717" cy="39052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8203" name="Rectangle 17"/>
          <p:cNvSpPr>
            <a:spLocks noChangeArrowheads="1"/>
          </p:cNvSpPr>
          <p:nvPr/>
        </p:nvSpPr>
        <p:spPr bwMode="auto">
          <a:xfrm>
            <a:off x="10960100" y="6257925"/>
            <a:ext cx="865717" cy="22383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8204" name="Rectangle 18"/>
          <p:cNvSpPr>
            <a:spLocks noChangeArrowheads="1"/>
          </p:cNvSpPr>
          <p:nvPr/>
        </p:nvSpPr>
        <p:spPr bwMode="auto">
          <a:xfrm>
            <a:off x="10960100" y="6537326"/>
            <a:ext cx="865717" cy="112713"/>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8205" name="Rectangle 19"/>
          <p:cNvSpPr>
            <a:spLocks noChangeArrowheads="1"/>
          </p:cNvSpPr>
          <p:nvPr/>
        </p:nvSpPr>
        <p:spPr bwMode="auto">
          <a:xfrm>
            <a:off x="8798985" y="6324600"/>
            <a:ext cx="865716" cy="325438"/>
          </a:xfrm>
          <a:prstGeom prst="rect">
            <a:avLst/>
          </a:prstGeom>
          <a:solidFill>
            <a:srgbClr val="3366CC"/>
          </a:solidFill>
          <a:ln w="9525">
            <a:solidFill>
              <a:schemeClr val="tx1"/>
            </a:solidFill>
            <a:miter lim="800000"/>
            <a:headEnd/>
            <a:tailEnd/>
          </a:ln>
        </p:spPr>
        <p:txBody>
          <a:bodyPr wrap="none" anchor="ctr"/>
          <a:lstStyle/>
          <a:p>
            <a:endParaRPr lang="en-US"/>
          </a:p>
        </p:txBody>
      </p:sp>
      <p:sp>
        <p:nvSpPr>
          <p:cNvPr id="8206" name="Rectangle 20"/>
          <p:cNvSpPr>
            <a:spLocks noChangeArrowheads="1"/>
          </p:cNvSpPr>
          <p:nvPr/>
        </p:nvSpPr>
        <p:spPr bwMode="auto">
          <a:xfrm>
            <a:off x="8796867" y="5638801"/>
            <a:ext cx="865717" cy="639763"/>
          </a:xfrm>
          <a:prstGeom prst="rect">
            <a:avLst/>
          </a:prstGeom>
          <a:solidFill>
            <a:schemeClr val="accent1"/>
          </a:solid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4235359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p:nvPr>
        </p:nvSpPr>
        <p:spPr/>
        <p:txBody>
          <a:bodyPr/>
          <a:lstStyle/>
          <a:p>
            <a:r>
              <a:rPr lang="en-US" sz="3200" i="1"/>
              <a:t>Examples of Title/Author Lines:</a:t>
            </a:r>
          </a:p>
        </p:txBody>
      </p:sp>
      <p:pic>
        <p:nvPicPr>
          <p:cNvPr id="10242" name="Picture 5" descr="title example 1"/>
          <p:cNvPicPr>
            <a:picLocks noChangeAspect="1" noChangeArrowheads="1"/>
          </p:cNvPicPr>
          <p:nvPr/>
        </p:nvPicPr>
        <p:blipFill>
          <a:blip r:embed="rId3" cstate="print"/>
          <a:srcRect/>
          <a:stretch>
            <a:fillRect/>
          </a:stretch>
        </p:blipFill>
        <p:spPr bwMode="auto">
          <a:xfrm>
            <a:off x="304800" y="1524001"/>
            <a:ext cx="11582400" cy="752475"/>
          </a:xfrm>
          <a:prstGeom prst="rect">
            <a:avLst/>
          </a:prstGeom>
          <a:noFill/>
          <a:ln w="9525">
            <a:noFill/>
            <a:miter lim="800000"/>
            <a:headEnd/>
            <a:tailEnd/>
          </a:ln>
        </p:spPr>
      </p:pic>
      <p:grpSp>
        <p:nvGrpSpPr>
          <p:cNvPr id="2" name="Group 14"/>
          <p:cNvGrpSpPr>
            <a:grpSpLocks/>
          </p:cNvGrpSpPr>
          <p:nvPr/>
        </p:nvGrpSpPr>
        <p:grpSpPr bwMode="auto">
          <a:xfrm>
            <a:off x="2120900" y="2570163"/>
            <a:ext cx="7952317" cy="711199"/>
            <a:chOff x="1104" y="1248"/>
            <a:chExt cx="3757" cy="448"/>
          </a:xfrm>
        </p:grpSpPr>
        <p:sp>
          <p:nvSpPr>
            <p:cNvPr id="10246" name="Text Box 4"/>
            <p:cNvSpPr txBox="1">
              <a:spLocks noChangeArrowheads="1"/>
            </p:cNvSpPr>
            <p:nvPr/>
          </p:nvSpPr>
          <p:spPr bwMode="auto">
            <a:xfrm>
              <a:off x="2214" y="1260"/>
              <a:ext cx="1495" cy="436"/>
            </a:xfrm>
            <a:prstGeom prst="rect">
              <a:avLst/>
            </a:prstGeom>
            <a:noFill/>
            <a:ln w="3175">
              <a:noFill/>
              <a:miter lim="800000"/>
              <a:headEnd/>
              <a:tailEnd/>
            </a:ln>
          </p:spPr>
          <p:txBody>
            <a:bodyPr wrap="none">
              <a:spAutoFit/>
            </a:bodyPr>
            <a:lstStyle/>
            <a:p>
              <a:pPr algn="ctr"/>
              <a:r>
                <a:rPr lang="en-US" sz="1300" dirty="0">
                  <a:solidFill>
                    <a:srgbClr val="800101"/>
                  </a:solidFill>
                  <a:latin typeface="Optima ExtraBlack" pitchFamily="1" charset="0"/>
                </a:rPr>
                <a:t>Mast Cells in Oral Lichen </a:t>
              </a:r>
              <a:r>
                <a:rPr lang="en-US" sz="1300" dirty="0" err="1">
                  <a:solidFill>
                    <a:srgbClr val="800101"/>
                  </a:solidFill>
                  <a:latin typeface="Optima ExtraBlack" pitchFamily="1" charset="0"/>
                </a:rPr>
                <a:t>Planus</a:t>
              </a:r>
              <a:r>
                <a:rPr lang="en-US" sz="1300" dirty="0">
                  <a:solidFill>
                    <a:srgbClr val="800101"/>
                  </a:solidFill>
                  <a:latin typeface="Optima ExtraBlack" pitchFamily="1" charset="0"/>
                </a:rPr>
                <a:t>: </a:t>
              </a:r>
            </a:p>
            <a:p>
              <a:pPr algn="ctr"/>
              <a:r>
                <a:rPr lang="en-US" sz="1000" dirty="0">
                  <a:solidFill>
                    <a:srgbClr val="800101"/>
                  </a:solidFill>
                  <a:latin typeface="Optima ExtraBlack" pitchFamily="1" charset="0"/>
                </a:rPr>
                <a:t>Comparison of Two Methods for </a:t>
              </a:r>
              <a:r>
                <a:rPr lang="en-US" sz="1000" dirty="0" err="1">
                  <a:solidFill>
                    <a:srgbClr val="800101"/>
                  </a:solidFill>
                  <a:latin typeface="Optima ExtraBlack" pitchFamily="1" charset="0"/>
                </a:rPr>
                <a:t>Histologic</a:t>
              </a:r>
              <a:r>
                <a:rPr lang="en-US" sz="1000" dirty="0">
                  <a:solidFill>
                    <a:srgbClr val="800101"/>
                  </a:solidFill>
                  <a:latin typeface="Optima ExtraBlack" pitchFamily="1" charset="0"/>
                </a:rPr>
                <a:t> Detection</a:t>
              </a:r>
            </a:p>
            <a:p>
              <a:pPr algn="ctr"/>
              <a:endParaRPr lang="en-US" sz="500" b="1" dirty="0">
                <a:solidFill>
                  <a:srgbClr val="800101"/>
                </a:solidFill>
                <a:latin typeface="Optima" pitchFamily="1" charset="0"/>
              </a:endParaRPr>
            </a:p>
            <a:p>
              <a:pPr algn="ctr"/>
              <a:r>
                <a:rPr lang="en-US" sz="600" b="1" dirty="0">
                  <a:latin typeface="Optima" pitchFamily="1" charset="0"/>
                </a:rPr>
                <a:t>J. Springsteen, N.L. </a:t>
              </a:r>
              <a:r>
                <a:rPr lang="en-US" sz="600" b="1" dirty="0" err="1">
                  <a:latin typeface="Optima" pitchFamily="1" charset="0"/>
                </a:rPr>
                <a:t>Rhodus</a:t>
              </a:r>
              <a:r>
                <a:rPr lang="en-US" sz="600" b="1" dirty="0">
                  <a:latin typeface="Optima" pitchFamily="1" charset="0"/>
                </a:rPr>
                <a:t>, S. </a:t>
              </a:r>
              <a:r>
                <a:rPr lang="en-US" sz="600" b="1" dirty="0" err="1">
                  <a:latin typeface="Optima" pitchFamily="1" charset="0"/>
                </a:rPr>
                <a:t>Kaimal</a:t>
              </a:r>
              <a:r>
                <a:rPr lang="en-US" sz="600" b="1" dirty="0">
                  <a:latin typeface="Optima" pitchFamily="1" charset="0"/>
                </a:rPr>
                <a:t>, &amp; S.L. Myers</a:t>
              </a:r>
            </a:p>
            <a:p>
              <a:pPr algn="ctr"/>
              <a:r>
                <a:rPr lang="en-US" sz="500" dirty="0">
                  <a:latin typeface="Optima" pitchFamily="1" charset="0"/>
                </a:rPr>
                <a:t>University of Minnesota School of Dentistry, Minneapolis, MN</a:t>
              </a:r>
            </a:p>
          </p:txBody>
        </p:sp>
        <p:grpSp>
          <p:nvGrpSpPr>
            <p:cNvPr id="3" name="Group 8"/>
            <p:cNvGrpSpPr>
              <a:grpSpLocks/>
            </p:cNvGrpSpPr>
            <p:nvPr/>
          </p:nvGrpSpPr>
          <p:grpSpPr bwMode="auto">
            <a:xfrm>
              <a:off x="1152" y="1343"/>
              <a:ext cx="480" cy="281"/>
              <a:chOff x="570" y="672"/>
              <a:chExt cx="1638" cy="1270"/>
            </a:xfrm>
          </p:grpSpPr>
          <p:pic>
            <p:nvPicPr>
              <p:cNvPr id="10250" name="Picture 9" descr="Moutcol"/>
              <p:cNvPicPr>
                <a:picLocks noChangeAspect="1" noChangeArrowheads="1"/>
              </p:cNvPicPr>
              <p:nvPr/>
            </p:nvPicPr>
            <p:blipFill>
              <a:blip r:embed="rId4" cstate="print"/>
              <a:srcRect/>
              <a:stretch>
                <a:fillRect/>
              </a:stretch>
            </p:blipFill>
            <p:spPr bwMode="auto">
              <a:xfrm>
                <a:off x="816" y="672"/>
                <a:ext cx="1157" cy="661"/>
              </a:xfrm>
              <a:prstGeom prst="rect">
                <a:avLst/>
              </a:prstGeom>
              <a:noFill/>
              <a:ln w="9525">
                <a:noFill/>
                <a:miter lim="800000"/>
                <a:headEnd/>
                <a:tailEnd/>
              </a:ln>
            </p:spPr>
          </p:pic>
          <p:sp>
            <p:nvSpPr>
              <p:cNvPr id="238602" name="Text Box 10"/>
              <p:cNvSpPr txBox="1">
                <a:spLocks noChangeArrowheads="1"/>
              </p:cNvSpPr>
              <p:nvPr/>
            </p:nvSpPr>
            <p:spPr bwMode="auto">
              <a:xfrm>
                <a:off x="570" y="1328"/>
                <a:ext cx="1638" cy="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sz="400" b="1" dirty="0">
                    <a:solidFill>
                      <a:srgbClr val="990000"/>
                    </a:solidFill>
                    <a:latin typeface="Stone Sans SC ITC TT-Semi" pitchFamily="1" charset="0"/>
                  </a:rPr>
                  <a:t>University of Minnesota</a:t>
                </a:r>
              </a:p>
              <a:p>
                <a:pPr algn="ctr"/>
                <a:r>
                  <a:rPr lang="en-US" sz="400" b="1" dirty="0">
                    <a:solidFill>
                      <a:srgbClr val="990000"/>
                    </a:solidFill>
                    <a:latin typeface="Stone Sans SC ITC TT-Semi" pitchFamily="1" charset="0"/>
                  </a:rPr>
                  <a:t>School of Dentistry</a:t>
                </a:r>
                <a:endParaRPr lang="en-US" sz="600" b="1" dirty="0">
                  <a:solidFill>
                    <a:srgbClr val="990000"/>
                  </a:solidFill>
                  <a:latin typeface="Wide Latin" pitchFamily="18" charset="0"/>
                </a:endParaRPr>
              </a:p>
            </p:txBody>
          </p:sp>
        </p:grpSp>
        <p:pic>
          <p:nvPicPr>
            <p:cNvPr id="238604" name="Picture 12"/>
            <p:cNvPicPr>
              <a:picLocks noChangeAspect="1" noChangeArrowheads="1"/>
            </p:cNvPicPr>
            <p:nvPr/>
          </p:nvPicPr>
          <p:blipFill>
            <a:blip cstate="print">
              <a:extLst>
                <a:ext uri="{28A0092B-C50C-407E-A947-70E740481C1C}">
                  <a14:useLocalDpi xmlns:a14="http://schemas.microsoft.com/office/drawing/2010/main" val="0"/>
                </a:ext>
              </a:extLst>
            </a:blip>
            <a:srcRect/>
            <a:stretch>
              <a:fillRect/>
            </a:stretch>
          </p:blipFill>
          <p:spPr bwMode="auto">
            <a:xfrm>
              <a:off x="4368" y="1352"/>
              <a:ext cx="336"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0249" name="Rectangle 13"/>
            <p:cNvSpPr>
              <a:spLocks noChangeArrowheads="1"/>
            </p:cNvSpPr>
            <p:nvPr/>
          </p:nvSpPr>
          <p:spPr bwMode="auto">
            <a:xfrm>
              <a:off x="1104" y="1248"/>
              <a:ext cx="3757" cy="437"/>
            </a:xfrm>
            <a:prstGeom prst="rect">
              <a:avLst/>
            </a:prstGeom>
            <a:noFill/>
            <a:ln w="9525">
              <a:solidFill>
                <a:schemeClr val="tx1"/>
              </a:solidFill>
              <a:miter lim="800000"/>
              <a:headEnd/>
              <a:tailEnd/>
            </a:ln>
          </p:spPr>
          <p:txBody>
            <a:bodyPr wrap="none" anchor="ctr"/>
            <a:lstStyle/>
            <a:p>
              <a:endParaRPr lang="en-US"/>
            </a:p>
          </p:txBody>
        </p:sp>
      </p:grpSp>
      <p:pic>
        <p:nvPicPr>
          <p:cNvPr id="10244" name="Picture 20" descr="title example 2"/>
          <p:cNvPicPr>
            <a:picLocks noChangeAspect="1" noChangeArrowheads="1"/>
          </p:cNvPicPr>
          <p:nvPr/>
        </p:nvPicPr>
        <p:blipFill>
          <a:blip cstate="print"/>
          <a:srcRect/>
          <a:stretch>
            <a:fillRect/>
          </a:stretch>
        </p:blipFill>
        <p:spPr bwMode="auto">
          <a:xfrm>
            <a:off x="304800" y="3573464"/>
            <a:ext cx="11582400" cy="617537"/>
          </a:xfrm>
          <a:prstGeom prst="rect">
            <a:avLst/>
          </a:prstGeom>
          <a:noFill/>
          <a:ln w="9525">
            <a:noFill/>
            <a:miter lim="800000"/>
            <a:headEnd/>
            <a:tailEnd/>
          </a:ln>
        </p:spPr>
      </p:pic>
      <p:pic>
        <p:nvPicPr>
          <p:cNvPr id="10245" name="Picture 21" descr="title example 3"/>
          <p:cNvPicPr>
            <a:picLocks noChangeAspect="1" noChangeArrowheads="1"/>
          </p:cNvPicPr>
          <p:nvPr/>
        </p:nvPicPr>
        <p:blipFill>
          <a:blip cstate="print"/>
          <a:srcRect/>
          <a:stretch>
            <a:fillRect/>
          </a:stretch>
        </p:blipFill>
        <p:spPr bwMode="auto">
          <a:xfrm>
            <a:off x="1879600" y="4525964"/>
            <a:ext cx="8432800" cy="1341437"/>
          </a:xfrm>
          <a:prstGeom prst="rect">
            <a:avLst/>
          </a:prstGeom>
          <a:noFill/>
          <a:ln w="9525">
            <a:noFill/>
            <a:miter lim="800000"/>
            <a:headEnd/>
            <a:tailEnd/>
          </a:ln>
        </p:spPr>
      </p:pic>
    </p:spTree>
    <p:extLst>
      <p:ext uri="{BB962C8B-B14F-4D97-AF65-F5344CB8AC3E}">
        <p14:creationId xmlns:p14="http://schemas.microsoft.com/office/powerpoint/2010/main" val="320556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title"/>
          </p:nvPr>
        </p:nvSpPr>
        <p:spPr/>
        <p:txBody>
          <a:bodyPr/>
          <a:lstStyle/>
          <a:p>
            <a:r>
              <a:rPr lang="en-US"/>
              <a:t>Abstract:</a:t>
            </a:r>
          </a:p>
        </p:txBody>
      </p:sp>
      <p:sp>
        <p:nvSpPr>
          <p:cNvPr id="11266" name="Rectangle 3"/>
          <p:cNvSpPr>
            <a:spLocks noGrp="1" noChangeArrowheads="1"/>
          </p:cNvSpPr>
          <p:nvPr>
            <p:ph idx="1"/>
          </p:nvPr>
        </p:nvSpPr>
        <p:spPr>
          <a:xfrm>
            <a:off x="914400" y="1371600"/>
            <a:ext cx="10668000" cy="2819400"/>
          </a:xfrm>
        </p:spPr>
        <p:txBody>
          <a:bodyPr/>
          <a:lstStyle/>
          <a:p>
            <a:r>
              <a:rPr lang="en-US" sz="2800" u="sng" dirty="0"/>
              <a:t>Brief</a:t>
            </a:r>
            <a:r>
              <a:rPr lang="en-US" sz="2800" dirty="0"/>
              <a:t> </a:t>
            </a:r>
            <a:r>
              <a:rPr lang="en-US" sz="2800" u="sng" dirty="0"/>
              <a:t>summary</a:t>
            </a:r>
            <a:r>
              <a:rPr lang="en-US" sz="2800" dirty="0"/>
              <a:t> of your research:</a:t>
            </a:r>
          </a:p>
          <a:p>
            <a:pPr lvl="1"/>
            <a:r>
              <a:rPr lang="en-US" sz="2400" dirty="0"/>
              <a:t>Background information</a:t>
            </a:r>
          </a:p>
          <a:p>
            <a:pPr lvl="1"/>
            <a:r>
              <a:rPr lang="en-US" sz="2400" dirty="0"/>
              <a:t>Objectives and/or hypotheses</a:t>
            </a:r>
          </a:p>
          <a:p>
            <a:pPr lvl="1"/>
            <a:r>
              <a:rPr lang="en-US" sz="2400" dirty="0"/>
              <a:t>Abridged materials &amp; methods</a:t>
            </a:r>
          </a:p>
          <a:p>
            <a:pPr lvl="1"/>
            <a:r>
              <a:rPr lang="en-US" sz="2400" dirty="0"/>
              <a:t>Overview of findings</a:t>
            </a:r>
          </a:p>
          <a:p>
            <a:r>
              <a:rPr lang="en-US" sz="2800" dirty="0"/>
              <a:t>Use text submitted for poster registration!</a:t>
            </a:r>
          </a:p>
        </p:txBody>
      </p:sp>
      <p:sp>
        <p:nvSpPr>
          <p:cNvPr id="11267" name="Rectangle 10"/>
          <p:cNvSpPr>
            <a:spLocks noChangeArrowheads="1"/>
          </p:cNvSpPr>
          <p:nvPr/>
        </p:nvSpPr>
        <p:spPr bwMode="auto">
          <a:xfrm>
            <a:off x="8737600" y="5029200"/>
            <a:ext cx="3149600" cy="1676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68" name="Rectangle 11"/>
          <p:cNvSpPr>
            <a:spLocks noChangeArrowheads="1"/>
          </p:cNvSpPr>
          <p:nvPr/>
        </p:nvSpPr>
        <p:spPr bwMode="auto">
          <a:xfrm>
            <a:off x="8798985" y="5084764"/>
            <a:ext cx="3026833" cy="168275"/>
          </a:xfrm>
          <a:prstGeom prst="rect">
            <a:avLst/>
          </a:prstGeom>
          <a:solidFill>
            <a:srgbClr val="3366CC"/>
          </a:solidFill>
          <a:ln w="9525">
            <a:solidFill>
              <a:schemeClr val="tx1"/>
            </a:solidFill>
            <a:miter lim="800000"/>
            <a:headEnd/>
            <a:tailEnd/>
          </a:ln>
        </p:spPr>
        <p:txBody>
          <a:bodyPr wrap="none" anchor="ctr"/>
          <a:lstStyle/>
          <a:p>
            <a:endParaRPr lang="en-US"/>
          </a:p>
        </p:txBody>
      </p:sp>
      <p:sp>
        <p:nvSpPr>
          <p:cNvPr id="11269" name="Rectangle 12"/>
          <p:cNvSpPr>
            <a:spLocks noChangeArrowheads="1"/>
          </p:cNvSpPr>
          <p:nvPr/>
        </p:nvSpPr>
        <p:spPr bwMode="auto">
          <a:xfrm>
            <a:off x="8798985" y="5308600"/>
            <a:ext cx="865716" cy="279400"/>
          </a:xfrm>
          <a:prstGeom prst="rect">
            <a:avLst/>
          </a:prstGeom>
          <a:solidFill>
            <a:srgbClr val="FFFF66"/>
          </a:solidFill>
          <a:ln w="9525">
            <a:solidFill>
              <a:schemeClr val="tx1"/>
            </a:solidFill>
            <a:miter lim="800000"/>
            <a:headEnd/>
            <a:tailEnd/>
          </a:ln>
        </p:spPr>
        <p:txBody>
          <a:bodyPr wrap="none" anchor="ctr"/>
          <a:lstStyle/>
          <a:p>
            <a:endParaRPr lang="en-US"/>
          </a:p>
        </p:txBody>
      </p:sp>
      <p:sp>
        <p:nvSpPr>
          <p:cNvPr id="11270" name="Rectangle 14"/>
          <p:cNvSpPr>
            <a:spLocks noChangeArrowheads="1"/>
          </p:cNvSpPr>
          <p:nvPr/>
        </p:nvSpPr>
        <p:spPr bwMode="auto">
          <a:xfrm>
            <a:off x="9726085" y="5308600"/>
            <a:ext cx="1172633" cy="558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71" name="Rectangle 15"/>
          <p:cNvSpPr>
            <a:spLocks noChangeArrowheads="1"/>
          </p:cNvSpPr>
          <p:nvPr/>
        </p:nvSpPr>
        <p:spPr bwMode="auto">
          <a:xfrm>
            <a:off x="9726085" y="5922964"/>
            <a:ext cx="1172633" cy="7270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72" name="Rectangle 16"/>
          <p:cNvSpPr>
            <a:spLocks noChangeArrowheads="1"/>
          </p:cNvSpPr>
          <p:nvPr/>
        </p:nvSpPr>
        <p:spPr bwMode="auto">
          <a:xfrm>
            <a:off x="10960100" y="5308601"/>
            <a:ext cx="865717" cy="4476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73" name="Rectangle 17"/>
          <p:cNvSpPr>
            <a:spLocks noChangeArrowheads="1"/>
          </p:cNvSpPr>
          <p:nvPr/>
        </p:nvSpPr>
        <p:spPr bwMode="auto">
          <a:xfrm>
            <a:off x="10960100" y="5811839"/>
            <a:ext cx="865717" cy="39052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74" name="Rectangle 18"/>
          <p:cNvSpPr>
            <a:spLocks noChangeArrowheads="1"/>
          </p:cNvSpPr>
          <p:nvPr/>
        </p:nvSpPr>
        <p:spPr bwMode="auto">
          <a:xfrm>
            <a:off x="10960100" y="6257925"/>
            <a:ext cx="865717" cy="22383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75" name="Rectangle 19"/>
          <p:cNvSpPr>
            <a:spLocks noChangeArrowheads="1"/>
          </p:cNvSpPr>
          <p:nvPr/>
        </p:nvSpPr>
        <p:spPr bwMode="auto">
          <a:xfrm>
            <a:off x="10960100" y="6537326"/>
            <a:ext cx="865717" cy="112713"/>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21204" name="Rectangle 20"/>
          <p:cNvSpPr>
            <a:spLocks noChangeArrowheads="1"/>
          </p:cNvSpPr>
          <p:nvPr/>
        </p:nvSpPr>
        <p:spPr bwMode="auto">
          <a:xfrm>
            <a:off x="2032000" y="4191000"/>
            <a:ext cx="66040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eaLnBrk="1" hangingPunct="1">
              <a:spcBef>
                <a:spcPct val="20000"/>
              </a:spcBef>
            </a:pPr>
            <a:r>
              <a:rPr lang="en-US" sz="2400" i="1" u="sng" dirty="0">
                <a:latin typeface="Trebuchet MS" pitchFamily="34" charset="0"/>
                <a:ea typeface="Osaka" pitchFamily="1" charset="-128"/>
              </a:rPr>
              <a:t>Formatting:</a:t>
            </a:r>
          </a:p>
          <a:p>
            <a:pPr marL="342900" indent="-342900" eaLnBrk="1" hangingPunct="1">
              <a:spcBef>
                <a:spcPct val="20000"/>
              </a:spcBef>
              <a:buSzPct val="50000"/>
              <a:buFont typeface="Wingdings" pitchFamily="2" charset="2"/>
              <a:buChar char="v"/>
            </a:pPr>
            <a:r>
              <a:rPr lang="en-US" sz="2400" i="1" dirty="0">
                <a:latin typeface="Trebuchet MS" pitchFamily="34" charset="0"/>
                <a:ea typeface="Osaka" pitchFamily="1" charset="-128"/>
              </a:rPr>
              <a:t>Upper left corner</a:t>
            </a:r>
          </a:p>
          <a:p>
            <a:pPr marL="342900" indent="-342900" eaLnBrk="1" hangingPunct="1">
              <a:spcBef>
                <a:spcPct val="20000"/>
              </a:spcBef>
              <a:buSzPct val="50000"/>
              <a:buFont typeface="Wingdings" pitchFamily="2" charset="2"/>
              <a:buChar char="v"/>
            </a:pPr>
            <a:r>
              <a:rPr lang="en-US" sz="2400" i="1" dirty="0">
                <a:latin typeface="Trebuchet MS" pitchFamily="34" charset="0"/>
                <a:ea typeface="Osaka" pitchFamily="1" charset="-128"/>
              </a:rPr>
              <a:t>Smaller font than rest of poster </a:t>
            </a:r>
          </a:p>
          <a:p>
            <a:pPr marL="342900" indent="-342900" eaLnBrk="1" hangingPunct="1">
              <a:spcBef>
                <a:spcPct val="20000"/>
              </a:spcBef>
              <a:buSzPct val="50000"/>
              <a:buFont typeface="Wingdings" pitchFamily="2" charset="2"/>
              <a:buChar char="v"/>
            </a:pPr>
            <a:r>
              <a:rPr lang="en-US" sz="2400" i="1" dirty="0">
                <a:latin typeface="Trebuchet MS" pitchFamily="34" charset="0"/>
                <a:ea typeface="Osaka" pitchFamily="1" charset="-128"/>
              </a:rPr>
              <a:t>Can italicize text</a:t>
            </a:r>
            <a:endParaRPr lang="en-US" sz="2400" i="1" u="sng" dirty="0">
              <a:latin typeface="Trebuchet MS" pitchFamily="34" charset="0"/>
              <a:ea typeface="Osaka" pitchFamily="1" charset="-128"/>
            </a:endParaRPr>
          </a:p>
        </p:txBody>
      </p:sp>
      <p:sp>
        <p:nvSpPr>
          <p:cNvPr id="11277" name="Rectangle 21"/>
          <p:cNvSpPr>
            <a:spLocks noChangeArrowheads="1"/>
          </p:cNvSpPr>
          <p:nvPr/>
        </p:nvSpPr>
        <p:spPr bwMode="auto">
          <a:xfrm>
            <a:off x="8798985" y="6324600"/>
            <a:ext cx="865716" cy="325438"/>
          </a:xfrm>
          <a:prstGeom prst="rect">
            <a:avLst/>
          </a:prstGeom>
          <a:solidFill>
            <a:srgbClr val="3366CC"/>
          </a:solidFill>
          <a:ln w="9525">
            <a:solidFill>
              <a:schemeClr val="tx1"/>
            </a:solidFill>
            <a:miter lim="800000"/>
            <a:headEnd/>
            <a:tailEnd/>
          </a:ln>
        </p:spPr>
        <p:txBody>
          <a:bodyPr wrap="none" anchor="ctr"/>
          <a:lstStyle/>
          <a:p>
            <a:endParaRPr lang="en-US"/>
          </a:p>
        </p:txBody>
      </p:sp>
      <p:sp>
        <p:nvSpPr>
          <p:cNvPr id="11278" name="Rectangle 22"/>
          <p:cNvSpPr>
            <a:spLocks noChangeArrowheads="1"/>
          </p:cNvSpPr>
          <p:nvPr/>
        </p:nvSpPr>
        <p:spPr bwMode="auto">
          <a:xfrm>
            <a:off x="8796867" y="5638801"/>
            <a:ext cx="865717" cy="639763"/>
          </a:xfrm>
          <a:prstGeom prst="rect">
            <a:avLst/>
          </a:prstGeom>
          <a:solidFill>
            <a:schemeClr val="accent1"/>
          </a:solid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2769355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t>Background:</a:t>
            </a:r>
          </a:p>
        </p:txBody>
      </p:sp>
      <p:sp>
        <p:nvSpPr>
          <p:cNvPr id="13314" name="Rectangle 3"/>
          <p:cNvSpPr>
            <a:spLocks noGrp="1" noChangeArrowheads="1"/>
          </p:cNvSpPr>
          <p:nvPr>
            <p:ph idx="1"/>
          </p:nvPr>
        </p:nvSpPr>
        <p:spPr/>
        <p:txBody>
          <a:bodyPr/>
          <a:lstStyle/>
          <a:p>
            <a:r>
              <a:rPr lang="en-US" dirty="0"/>
              <a:t>Introduce reader to your subject:</a:t>
            </a:r>
          </a:p>
          <a:p>
            <a:pPr lvl="1"/>
            <a:r>
              <a:rPr lang="en-US" dirty="0"/>
              <a:t>Why is the issue important?</a:t>
            </a:r>
          </a:p>
          <a:p>
            <a:pPr lvl="1"/>
            <a:r>
              <a:rPr lang="en-US" dirty="0"/>
              <a:t>What has other research shown?</a:t>
            </a:r>
          </a:p>
          <a:p>
            <a:pPr lvl="1"/>
            <a:r>
              <a:rPr lang="en-US" dirty="0"/>
              <a:t>Basic facts/information about subject</a:t>
            </a:r>
          </a:p>
        </p:txBody>
      </p:sp>
      <p:sp>
        <p:nvSpPr>
          <p:cNvPr id="13315" name="Rectangle 4"/>
          <p:cNvSpPr>
            <a:spLocks noChangeArrowheads="1"/>
          </p:cNvSpPr>
          <p:nvPr/>
        </p:nvSpPr>
        <p:spPr bwMode="auto">
          <a:xfrm>
            <a:off x="8737600" y="5029200"/>
            <a:ext cx="3149600" cy="1676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3316" name="Rectangle 5"/>
          <p:cNvSpPr>
            <a:spLocks noChangeArrowheads="1"/>
          </p:cNvSpPr>
          <p:nvPr/>
        </p:nvSpPr>
        <p:spPr bwMode="auto">
          <a:xfrm>
            <a:off x="8798985" y="5084764"/>
            <a:ext cx="3026833" cy="168275"/>
          </a:xfrm>
          <a:prstGeom prst="rect">
            <a:avLst/>
          </a:prstGeom>
          <a:solidFill>
            <a:srgbClr val="3366CC"/>
          </a:solidFill>
          <a:ln w="9525">
            <a:solidFill>
              <a:schemeClr val="tx1"/>
            </a:solidFill>
            <a:miter lim="800000"/>
            <a:headEnd/>
            <a:tailEnd/>
          </a:ln>
        </p:spPr>
        <p:txBody>
          <a:bodyPr wrap="none" anchor="ctr"/>
          <a:lstStyle/>
          <a:p>
            <a:endParaRPr lang="en-US"/>
          </a:p>
        </p:txBody>
      </p:sp>
      <p:sp>
        <p:nvSpPr>
          <p:cNvPr id="13317" name="Rectangle 6"/>
          <p:cNvSpPr>
            <a:spLocks noChangeArrowheads="1"/>
          </p:cNvSpPr>
          <p:nvPr/>
        </p:nvSpPr>
        <p:spPr bwMode="auto">
          <a:xfrm>
            <a:off x="8798985" y="5308600"/>
            <a:ext cx="865716" cy="279400"/>
          </a:xfrm>
          <a:prstGeom prst="rect">
            <a:avLst/>
          </a:prstGeom>
          <a:solidFill>
            <a:srgbClr val="3366CC"/>
          </a:solidFill>
          <a:ln w="9525">
            <a:solidFill>
              <a:schemeClr val="tx1"/>
            </a:solidFill>
            <a:miter lim="800000"/>
            <a:headEnd/>
            <a:tailEnd/>
          </a:ln>
        </p:spPr>
        <p:txBody>
          <a:bodyPr wrap="none" anchor="ctr"/>
          <a:lstStyle/>
          <a:p>
            <a:endParaRPr lang="en-US"/>
          </a:p>
        </p:txBody>
      </p:sp>
      <p:sp>
        <p:nvSpPr>
          <p:cNvPr id="13318" name="Rectangle 7"/>
          <p:cNvSpPr>
            <a:spLocks noChangeArrowheads="1"/>
          </p:cNvSpPr>
          <p:nvPr/>
        </p:nvSpPr>
        <p:spPr bwMode="auto">
          <a:xfrm>
            <a:off x="9726085" y="5308600"/>
            <a:ext cx="1172633" cy="558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3319" name="Rectangle 8"/>
          <p:cNvSpPr>
            <a:spLocks noChangeArrowheads="1"/>
          </p:cNvSpPr>
          <p:nvPr/>
        </p:nvSpPr>
        <p:spPr bwMode="auto">
          <a:xfrm>
            <a:off x="9726085" y="5922964"/>
            <a:ext cx="1172633" cy="7270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3320" name="Rectangle 9"/>
          <p:cNvSpPr>
            <a:spLocks noChangeArrowheads="1"/>
          </p:cNvSpPr>
          <p:nvPr/>
        </p:nvSpPr>
        <p:spPr bwMode="auto">
          <a:xfrm>
            <a:off x="10960100" y="5308601"/>
            <a:ext cx="865717" cy="4476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3321" name="Rectangle 10"/>
          <p:cNvSpPr>
            <a:spLocks noChangeArrowheads="1"/>
          </p:cNvSpPr>
          <p:nvPr/>
        </p:nvSpPr>
        <p:spPr bwMode="auto">
          <a:xfrm>
            <a:off x="10960100" y="5811839"/>
            <a:ext cx="865717" cy="39052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3322" name="Rectangle 11"/>
          <p:cNvSpPr>
            <a:spLocks noChangeArrowheads="1"/>
          </p:cNvSpPr>
          <p:nvPr/>
        </p:nvSpPr>
        <p:spPr bwMode="auto">
          <a:xfrm>
            <a:off x="10960100" y="6257925"/>
            <a:ext cx="865717" cy="22383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3323" name="Rectangle 12"/>
          <p:cNvSpPr>
            <a:spLocks noChangeArrowheads="1"/>
          </p:cNvSpPr>
          <p:nvPr/>
        </p:nvSpPr>
        <p:spPr bwMode="auto">
          <a:xfrm>
            <a:off x="10960100" y="6537326"/>
            <a:ext cx="865717" cy="112713"/>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37581" name="Rectangle 13"/>
          <p:cNvSpPr>
            <a:spLocks noChangeArrowheads="1"/>
          </p:cNvSpPr>
          <p:nvPr/>
        </p:nvSpPr>
        <p:spPr bwMode="auto">
          <a:xfrm>
            <a:off x="1727200" y="3886200"/>
            <a:ext cx="70104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eaLnBrk="1" hangingPunct="1">
              <a:spcBef>
                <a:spcPct val="20000"/>
              </a:spcBef>
            </a:pPr>
            <a:r>
              <a:rPr lang="en-US" sz="2400" i="1" u="sng" dirty="0">
                <a:latin typeface="Trebuchet MS" pitchFamily="34" charset="0"/>
                <a:ea typeface="Osaka" pitchFamily="1" charset="-128"/>
              </a:rPr>
              <a:t>Formatting:</a:t>
            </a:r>
            <a:endParaRPr lang="en-US" sz="2400" i="1" dirty="0">
              <a:latin typeface="Trebuchet MS" pitchFamily="34" charset="0"/>
              <a:ea typeface="Osaka" pitchFamily="1" charset="-128"/>
            </a:endParaRPr>
          </a:p>
          <a:p>
            <a:pPr marL="342900" indent="-342900" eaLnBrk="1" hangingPunct="1">
              <a:spcBef>
                <a:spcPct val="20000"/>
              </a:spcBef>
              <a:buSzPct val="50000"/>
              <a:buFont typeface="Wingdings" pitchFamily="2" charset="2"/>
              <a:buChar char="v"/>
            </a:pPr>
            <a:r>
              <a:rPr lang="en-US" sz="2400" i="1" dirty="0">
                <a:latin typeface="Trebuchet MS" pitchFamily="34" charset="0"/>
                <a:ea typeface="Osaka" pitchFamily="1" charset="-128"/>
              </a:rPr>
              <a:t>Standard font size and style as rest of poster text</a:t>
            </a:r>
          </a:p>
          <a:p>
            <a:pPr marL="342900" indent="-342900" eaLnBrk="1" hangingPunct="1">
              <a:spcBef>
                <a:spcPct val="20000"/>
              </a:spcBef>
              <a:buSzPct val="50000"/>
              <a:buFont typeface="Wingdings" pitchFamily="2" charset="2"/>
              <a:buChar char="v"/>
            </a:pPr>
            <a:r>
              <a:rPr lang="en-US" sz="2400" i="1" dirty="0">
                <a:latin typeface="Trebuchet MS" pitchFamily="34" charset="0"/>
                <a:ea typeface="Osaka" pitchFamily="1" charset="-128"/>
              </a:rPr>
              <a:t>Brief prose, don</a:t>
            </a:r>
            <a:r>
              <a:rPr lang="ja-JP" altLang="en-US" sz="2400" i="1" dirty="0">
                <a:latin typeface="Trebuchet MS" pitchFamily="34" charset="0"/>
                <a:ea typeface="Osaka" pitchFamily="1" charset="-128"/>
              </a:rPr>
              <a:t>’</a:t>
            </a:r>
            <a:r>
              <a:rPr lang="en-US" altLang="ja-JP" sz="2400" i="1" dirty="0">
                <a:latin typeface="Trebuchet MS" pitchFamily="34" charset="0"/>
                <a:ea typeface="Osaka" pitchFamily="1" charset="-128"/>
              </a:rPr>
              <a:t>t bullet</a:t>
            </a:r>
          </a:p>
          <a:p>
            <a:pPr marL="342900" indent="-342900" eaLnBrk="1" hangingPunct="1">
              <a:spcBef>
                <a:spcPct val="20000"/>
              </a:spcBef>
              <a:buSzPct val="50000"/>
              <a:buFont typeface="Wingdings" pitchFamily="2" charset="2"/>
              <a:buChar char="v"/>
            </a:pPr>
            <a:r>
              <a:rPr lang="en-US" sz="2400" i="1" dirty="0">
                <a:latin typeface="Trebuchet MS" pitchFamily="34" charset="0"/>
                <a:ea typeface="Osaka" pitchFamily="1" charset="-128"/>
              </a:rPr>
              <a:t>Images are helpful</a:t>
            </a:r>
            <a:endParaRPr lang="en-US" sz="2400" i="1" u="sng" dirty="0">
              <a:latin typeface="Trebuchet MS" pitchFamily="34" charset="0"/>
              <a:ea typeface="Osaka" pitchFamily="1" charset="-128"/>
            </a:endParaRPr>
          </a:p>
        </p:txBody>
      </p:sp>
      <p:sp>
        <p:nvSpPr>
          <p:cNvPr id="13325" name="Rectangle 14"/>
          <p:cNvSpPr>
            <a:spLocks noChangeArrowheads="1"/>
          </p:cNvSpPr>
          <p:nvPr/>
        </p:nvSpPr>
        <p:spPr bwMode="auto">
          <a:xfrm>
            <a:off x="8798985" y="6324600"/>
            <a:ext cx="865716" cy="325438"/>
          </a:xfrm>
          <a:prstGeom prst="rect">
            <a:avLst/>
          </a:prstGeom>
          <a:solidFill>
            <a:srgbClr val="3366CC"/>
          </a:solidFill>
          <a:ln w="9525">
            <a:solidFill>
              <a:schemeClr val="tx1"/>
            </a:solidFill>
            <a:miter lim="800000"/>
            <a:headEnd/>
            <a:tailEnd/>
          </a:ln>
        </p:spPr>
        <p:txBody>
          <a:bodyPr wrap="none" anchor="ctr"/>
          <a:lstStyle/>
          <a:p>
            <a:endParaRPr lang="en-US"/>
          </a:p>
        </p:txBody>
      </p:sp>
      <p:sp>
        <p:nvSpPr>
          <p:cNvPr id="13326" name="Rectangle 15"/>
          <p:cNvSpPr>
            <a:spLocks noChangeArrowheads="1"/>
          </p:cNvSpPr>
          <p:nvPr/>
        </p:nvSpPr>
        <p:spPr bwMode="auto">
          <a:xfrm>
            <a:off x="8796867" y="5638801"/>
            <a:ext cx="865717" cy="639763"/>
          </a:xfrm>
          <a:prstGeom prst="rect">
            <a:avLst/>
          </a:prstGeom>
          <a:solidFill>
            <a:srgbClr val="FFFF66"/>
          </a:solid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4096653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p:nvPr>
        </p:nvSpPr>
        <p:spPr/>
        <p:txBody>
          <a:bodyPr/>
          <a:lstStyle/>
          <a:p>
            <a:r>
              <a:rPr lang="en-US"/>
              <a:t>Research Objectives:</a:t>
            </a:r>
          </a:p>
        </p:txBody>
      </p:sp>
      <p:sp>
        <p:nvSpPr>
          <p:cNvPr id="14338" name="Rectangle 3"/>
          <p:cNvSpPr>
            <a:spLocks noGrp="1" noChangeArrowheads="1"/>
          </p:cNvSpPr>
          <p:nvPr>
            <p:ph idx="1"/>
          </p:nvPr>
        </p:nvSpPr>
        <p:spPr/>
        <p:txBody>
          <a:bodyPr/>
          <a:lstStyle/>
          <a:p>
            <a:r>
              <a:rPr lang="en-US" sz="2800" dirty="0"/>
              <a:t>Clearly state </a:t>
            </a:r>
            <a:r>
              <a:rPr lang="en-US" sz="2800" i="1" u="sng" dirty="0"/>
              <a:t>why</a:t>
            </a:r>
            <a:r>
              <a:rPr lang="en-US" sz="2800" dirty="0"/>
              <a:t> you did the project:</a:t>
            </a:r>
          </a:p>
          <a:p>
            <a:pPr lvl="1"/>
            <a:r>
              <a:rPr lang="en-US" sz="2400" dirty="0"/>
              <a:t>Specific research question(s)</a:t>
            </a:r>
          </a:p>
          <a:p>
            <a:r>
              <a:rPr lang="ja-JP" altLang="en-US" sz="2800" dirty="0"/>
              <a:t>“</a:t>
            </a:r>
            <a:r>
              <a:rPr lang="en-US" altLang="ja-JP" sz="2800" dirty="0"/>
              <a:t>Aims</a:t>
            </a:r>
            <a:r>
              <a:rPr lang="ja-JP" altLang="en-US" sz="2800" dirty="0"/>
              <a:t>”</a:t>
            </a:r>
            <a:r>
              <a:rPr lang="en-US" altLang="ja-JP" sz="2800" dirty="0"/>
              <a:t>, </a:t>
            </a:r>
            <a:r>
              <a:rPr lang="ja-JP" altLang="en-US" sz="2800" dirty="0"/>
              <a:t>“</a:t>
            </a:r>
            <a:r>
              <a:rPr lang="en-US" altLang="ja-JP" sz="2800" dirty="0"/>
              <a:t>Goals</a:t>
            </a:r>
            <a:r>
              <a:rPr lang="ja-JP" altLang="en-US" sz="2800" dirty="0"/>
              <a:t>”</a:t>
            </a:r>
            <a:r>
              <a:rPr lang="en-US" altLang="ja-JP" sz="2800" dirty="0"/>
              <a:t>, </a:t>
            </a:r>
            <a:r>
              <a:rPr lang="ja-JP" altLang="en-US" sz="2800" dirty="0"/>
              <a:t>“</a:t>
            </a:r>
            <a:r>
              <a:rPr lang="en-US" altLang="ja-JP" sz="2800" dirty="0"/>
              <a:t>Hypotheses</a:t>
            </a:r>
            <a:r>
              <a:rPr lang="ja-JP" altLang="en-US" sz="2800" dirty="0"/>
              <a:t>”</a:t>
            </a:r>
            <a:r>
              <a:rPr lang="en-US" altLang="ja-JP" sz="2800" dirty="0"/>
              <a:t>, etc.</a:t>
            </a:r>
          </a:p>
          <a:p>
            <a:r>
              <a:rPr lang="en-US" sz="2800" dirty="0"/>
              <a:t>Keep these short and succinct</a:t>
            </a:r>
          </a:p>
        </p:txBody>
      </p:sp>
      <p:sp>
        <p:nvSpPr>
          <p:cNvPr id="14339" name="Rectangle 6"/>
          <p:cNvSpPr>
            <a:spLocks noChangeArrowheads="1"/>
          </p:cNvSpPr>
          <p:nvPr/>
        </p:nvSpPr>
        <p:spPr bwMode="auto">
          <a:xfrm>
            <a:off x="8737600" y="5029200"/>
            <a:ext cx="3149600" cy="1676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4340" name="Rectangle 7"/>
          <p:cNvSpPr>
            <a:spLocks noChangeArrowheads="1"/>
          </p:cNvSpPr>
          <p:nvPr/>
        </p:nvSpPr>
        <p:spPr bwMode="auto">
          <a:xfrm>
            <a:off x="8798985" y="5084764"/>
            <a:ext cx="3026833" cy="168275"/>
          </a:xfrm>
          <a:prstGeom prst="rect">
            <a:avLst/>
          </a:prstGeom>
          <a:solidFill>
            <a:srgbClr val="3366CC"/>
          </a:solidFill>
          <a:ln w="9525">
            <a:solidFill>
              <a:schemeClr val="tx1"/>
            </a:solidFill>
            <a:miter lim="800000"/>
            <a:headEnd/>
            <a:tailEnd/>
          </a:ln>
        </p:spPr>
        <p:txBody>
          <a:bodyPr wrap="none" anchor="ctr"/>
          <a:lstStyle/>
          <a:p>
            <a:endParaRPr lang="en-US"/>
          </a:p>
        </p:txBody>
      </p:sp>
      <p:sp>
        <p:nvSpPr>
          <p:cNvPr id="14341" name="Rectangle 8"/>
          <p:cNvSpPr>
            <a:spLocks noChangeArrowheads="1"/>
          </p:cNvSpPr>
          <p:nvPr/>
        </p:nvSpPr>
        <p:spPr bwMode="auto">
          <a:xfrm>
            <a:off x="8798985" y="5308600"/>
            <a:ext cx="865716" cy="279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4342" name="Rectangle 9"/>
          <p:cNvSpPr>
            <a:spLocks noChangeArrowheads="1"/>
          </p:cNvSpPr>
          <p:nvPr/>
        </p:nvSpPr>
        <p:spPr bwMode="auto">
          <a:xfrm>
            <a:off x="8798985" y="6324600"/>
            <a:ext cx="865716" cy="325438"/>
          </a:xfrm>
          <a:prstGeom prst="rect">
            <a:avLst/>
          </a:prstGeom>
          <a:solidFill>
            <a:srgbClr val="FFFF66"/>
          </a:solidFill>
          <a:ln w="9525">
            <a:solidFill>
              <a:schemeClr val="tx1"/>
            </a:solidFill>
            <a:miter lim="800000"/>
            <a:headEnd/>
            <a:tailEnd/>
          </a:ln>
        </p:spPr>
        <p:txBody>
          <a:bodyPr wrap="none" anchor="ctr"/>
          <a:lstStyle/>
          <a:p>
            <a:endParaRPr lang="en-US"/>
          </a:p>
        </p:txBody>
      </p:sp>
      <p:sp>
        <p:nvSpPr>
          <p:cNvPr id="14343" name="Rectangle 10"/>
          <p:cNvSpPr>
            <a:spLocks noChangeArrowheads="1"/>
          </p:cNvSpPr>
          <p:nvPr/>
        </p:nvSpPr>
        <p:spPr bwMode="auto">
          <a:xfrm>
            <a:off x="9726085" y="5308600"/>
            <a:ext cx="1172633" cy="558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4344" name="Rectangle 11"/>
          <p:cNvSpPr>
            <a:spLocks noChangeArrowheads="1"/>
          </p:cNvSpPr>
          <p:nvPr/>
        </p:nvSpPr>
        <p:spPr bwMode="auto">
          <a:xfrm>
            <a:off x="9726085" y="5922964"/>
            <a:ext cx="1172633" cy="7270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4345" name="Rectangle 12"/>
          <p:cNvSpPr>
            <a:spLocks noChangeArrowheads="1"/>
          </p:cNvSpPr>
          <p:nvPr/>
        </p:nvSpPr>
        <p:spPr bwMode="auto">
          <a:xfrm>
            <a:off x="10960100" y="5308601"/>
            <a:ext cx="865717" cy="4476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4346" name="Rectangle 13"/>
          <p:cNvSpPr>
            <a:spLocks noChangeArrowheads="1"/>
          </p:cNvSpPr>
          <p:nvPr/>
        </p:nvSpPr>
        <p:spPr bwMode="auto">
          <a:xfrm>
            <a:off x="10960100" y="5811839"/>
            <a:ext cx="865717" cy="39052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4347" name="Rectangle 14"/>
          <p:cNvSpPr>
            <a:spLocks noChangeArrowheads="1"/>
          </p:cNvSpPr>
          <p:nvPr/>
        </p:nvSpPr>
        <p:spPr bwMode="auto">
          <a:xfrm>
            <a:off x="10960100" y="6257925"/>
            <a:ext cx="865717" cy="22383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4348" name="Rectangle 15"/>
          <p:cNvSpPr>
            <a:spLocks noChangeArrowheads="1"/>
          </p:cNvSpPr>
          <p:nvPr/>
        </p:nvSpPr>
        <p:spPr bwMode="auto">
          <a:xfrm>
            <a:off x="10960100" y="6537326"/>
            <a:ext cx="865717" cy="112713"/>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30416" name="Rectangle 16"/>
          <p:cNvSpPr>
            <a:spLocks noChangeArrowheads="1"/>
          </p:cNvSpPr>
          <p:nvPr/>
        </p:nvSpPr>
        <p:spPr bwMode="auto">
          <a:xfrm>
            <a:off x="1422400" y="3962400"/>
            <a:ext cx="72136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eaLnBrk="1" hangingPunct="1">
              <a:spcBef>
                <a:spcPct val="20000"/>
              </a:spcBef>
            </a:pPr>
            <a:r>
              <a:rPr lang="en-US" sz="2400" i="1" u="sng" dirty="0">
                <a:latin typeface="Trebuchet MS" pitchFamily="34" charset="0"/>
                <a:ea typeface="Osaka" pitchFamily="1" charset="-128"/>
              </a:rPr>
              <a:t>Formatting:</a:t>
            </a:r>
          </a:p>
          <a:p>
            <a:pPr marL="342900" indent="-342900" eaLnBrk="1" hangingPunct="1">
              <a:spcBef>
                <a:spcPct val="20000"/>
              </a:spcBef>
              <a:buSzPct val="50000"/>
              <a:buFont typeface="Wingdings" pitchFamily="2" charset="2"/>
              <a:buChar char="v"/>
            </a:pPr>
            <a:r>
              <a:rPr lang="en-US" sz="2400" i="1" dirty="0">
                <a:latin typeface="Trebuchet MS" pitchFamily="34" charset="0"/>
                <a:ea typeface="Osaka" pitchFamily="1" charset="-128"/>
              </a:rPr>
              <a:t>Standard font size and style as rest of poster text</a:t>
            </a:r>
          </a:p>
          <a:p>
            <a:pPr marL="342900" indent="-342900" eaLnBrk="1" hangingPunct="1">
              <a:spcBef>
                <a:spcPct val="20000"/>
              </a:spcBef>
              <a:buSzPct val="50000"/>
              <a:buFont typeface="Wingdings" pitchFamily="2" charset="2"/>
              <a:buChar char="v"/>
            </a:pPr>
            <a:r>
              <a:rPr lang="en-US" sz="2400" i="1" dirty="0">
                <a:latin typeface="Trebuchet MS" pitchFamily="34" charset="0"/>
                <a:ea typeface="Osaka" pitchFamily="1" charset="-128"/>
              </a:rPr>
              <a:t>Bullets or numbered sentences</a:t>
            </a:r>
            <a:endParaRPr lang="en-US" sz="2400" i="1" u="sng" dirty="0">
              <a:latin typeface="Trebuchet MS" pitchFamily="34" charset="0"/>
              <a:ea typeface="Osaka" pitchFamily="1" charset="-128"/>
            </a:endParaRPr>
          </a:p>
        </p:txBody>
      </p:sp>
      <p:sp>
        <p:nvSpPr>
          <p:cNvPr id="14350" name="Rectangle 17"/>
          <p:cNvSpPr>
            <a:spLocks noChangeArrowheads="1"/>
          </p:cNvSpPr>
          <p:nvPr/>
        </p:nvSpPr>
        <p:spPr bwMode="auto">
          <a:xfrm>
            <a:off x="8796867" y="5638801"/>
            <a:ext cx="865717" cy="639763"/>
          </a:xfrm>
          <a:prstGeom prst="rect">
            <a:avLst/>
          </a:prstGeom>
          <a:solidFill>
            <a:schemeClr val="accent1"/>
          </a:solid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37779033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p:txBody>
          <a:bodyPr/>
          <a:lstStyle/>
          <a:p>
            <a:r>
              <a:rPr lang="en-US"/>
              <a:t>Materials &amp; Methods:</a:t>
            </a:r>
          </a:p>
        </p:txBody>
      </p:sp>
      <p:sp>
        <p:nvSpPr>
          <p:cNvPr id="15362" name="Rectangle 3"/>
          <p:cNvSpPr>
            <a:spLocks noGrp="1" noChangeArrowheads="1"/>
          </p:cNvSpPr>
          <p:nvPr>
            <p:ph idx="1"/>
          </p:nvPr>
        </p:nvSpPr>
        <p:spPr>
          <a:xfrm>
            <a:off x="508001" y="1524000"/>
            <a:ext cx="11326284" cy="3962400"/>
          </a:xfrm>
        </p:spPr>
        <p:txBody>
          <a:bodyPr>
            <a:normAutofit/>
          </a:bodyPr>
          <a:lstStyle/>
          <a:p>
            <a:r>
              <a:rPr lang="en-US" dirty="0"/>
              <a:t>Exactly </a:t>
            </a:r>
            <a:r>
              <a:rPr lang="en-US" i="1" u="sng" dirty="0"/>
              <a:t>what</a:t>
            </a:r>
            <a:r>
              <a:rPr lang="en-US" dirty="0"/>
              <a:t> you did and </a:t>
            </a:r>
            <a:r>
              <a:rPr lang="en-US" i="1" u="sng" dirty="0"/>
              <a:t>how</a:t>
            </a:r>
            <a:r>
              <a:rPr lang="en-US" dirty="0"/>
              <a:t> you did it.</a:t>
            </a:r>
            <a:endParaRPr lang="en-US" sz="3600" dirty="0"/>
          </a:p>
          <a:p>
            <a:pPr lvl="1"/>
            <a:r>
              <a:rPr lang="en-US" dirty="0"/>
              <a:t>Tables and diagrams are helpful and visually engaging</a:t>
            </a:r>
          </a:p>
        </p:txBody>
      </p:sp>
      <p:sp>
        <p:nvSpPr>
          <p:cNvPr id="15363" name="Rectangle 6"/>
          <p:cNvSpPr>
            <a:spLocks noChangeArrowheads="1"/>
          </p:cNvSpPr>
          <p:nvPr/>
        </p:nvSpPr>
        <p:spPr bwMode="auto">
          <a:xfrm>
            <a:off x="8737600" y="5029200"/>
            <a:ext cx="3149600" cy="1676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5364" name="Rectangle 7"/>
          <p:cNvSpPr>
            <a:spLocks noChangeArrowheads="1"/>
          </p:cNvSpPr>
          <p:nvPr/>
        </p:nvSpPr>
        <p:spPr bwMode="auto">
          <a:xfrm>
            <a:off x="8798985" y="5084764"/>
            <a:ext cx="3026833" cy="168275"/>
          </a:xfrm>
          <a:prstGeom prst="rect">
            <a:avLst/>
          </a:prstGeom>
          <a:solidFill>
            <a:srgbClr val="3366CC"/>
          </a:solidFill>
          <a:ln w="9525">
            <a:solidFill>
              <a:schemeClr val="tx1"/>
            </a:solidFill>
            <a:miter lim="800000"/>
            <a:headEnd/>
            <a:tailEnd/>
          </a:ln>
        </p:spPr>
        <p:txBody>
          <a:bodyPr wrap="none" anchor="ctr"/>
          <a:lstStyle/>
          <a:p>
            <a:endParaRPr lang="en-US"/>
          </a:p>
        </p:txBody>
      </p:sp>
      <p:sp>
        <p:nvSpPr>
          <p:cNvPr id="15365" name="Rectangle 8"/>
          <p:cNvSpPr>
            <a:spLocks noChangeArrowheads="1"/>
          </p:cNvSpPr>
          <p:nvPr/>
        </p:nvSpPr>
        <p:spPr bwMode="auto">
          <a:xfrm>
            <a:off x="8798985" y="5308600"/>
            <a:ext cx="865716" cy="279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5366" name="Rectangle 9"/>
          <p:cNvSpPr>
            <a:spLocks noChangeArrowheads="1"/>
          </p:cNvSpPr>
          <p:nvPr/>
        </p:nvSpPr>
        <p:spPr bwMode="auto">
          <a:xfrm>
            <a:off x="8798985" y="5643564"/>
            <a:ext cx="865716" cy="10064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5367" name="Rectangle 10"/>
          <p:cNvSpPr>
            <a:spLocks noChangeArrowheads="1"/>
          </p:cNvSpPr>
          <p:nvPr/>
        </p:nvSpPr>
        <p:spPr bwMode="auto">
          <a:xfrm>
            <a:off x="9726085" y="5308600"/>
            <a:ext cx="1172633" cy="558800"/>
          </a:xfrm>
          <a:prstGeom prst="rect">
            <a:avLst/>
          </a:prstGeom>
          <a:solidFill>
            <a:srgbClr val="FFFF66"/>
          </a:solidFill>
          <a:ln w="9525">
            <a:solidFill>
              <a:schemeClr val="tx1"/>
            </a:solidFill>
            <a:miter lim="800000"/>
            <a:headEnd/>
            <a:tailEnd/>
          </a:ln>
        </p:spPr>
        <p:txBody>
          <a:bodyPr wrap="none" anchor="ctr"/>
          <a:lstStyle/>
          <a:p>
            <a:endParaRPr lang="en-US"/>
          </a:p>
        </p:txBody>
      </p:sp>
      <p:sp>
        <p:nvSpPr>
          <p:cNvPr id="15368" name="Rectangle 11"/>
          <p:cNvSpPr>
            <a:spLocks noChangeArrowheads="1"/>
          </p:cNvSpPr>
          <p:nvPr/>
        </p:nvSpPr>
        <p:spPr bwMode="auto">
          <a:xfrm>
            <a:off x="9726085" y="5922964"/>
            <a:ext cx="1172633" cy="7270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5369" name="Rectangle 12"/>
          <p:cNvSpPr>
            <a:spLocks noChangeArrowheads="1"/>
          </p:cNvSpPr>
          <p:nvPr/>
        </p:nvSpPr>
        <p:spPr bwMode="auto">
          <a:xfrm>
            <a:off x="10960100" y="5308601"/>
            <a:ext cx="865717" cy="4476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5370" name="Rectangle 13"/>
          <p:cNvSpPr>
            <a:spLocks noChangeArrowheads="1"/>
          </p:cNvSpPr>
          <p:nvPr/>
        </p:nvSpPr>
        <p:spPr bwMode="auto">
          <a:xfrm>
            <a:off x="10960100" y="5811839"/>
            <a:ext cx="865717" cy="39052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5371" name="Rectangle 14"/>
          <p:cNvSpPr>
            <a:spLocks noChangeArrowheads="1"/>
          </p:cNvSpPr>
          <p:nvPr/>
        </p:nvSpPr>
        <p:spPr bwMode="auto">
          <a:xfrm>
            <a:off x="10960100" y="6257925"/>
            <a:ext cx="865717" cy="22383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5372" name="Rectangle 15"/>
          <p:cNvSpPr>
            <a:spLocks noChangeArrowheads="1"/>
          </p:cNvSpPr>
          <p:nvPr/>
        </p:nvSpPr>
        <p:spPr bwMode="auto">
          <a:xfrm>
            <a:off x="10960100" y="6537326"/>
            <a:ext cx="865717" cy="112713"/>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31440" name="Rectangle 16"/>
          <p:cNvSpPr>
            <a:spLocks noChangeArrowheads="1"/>
          </p:cNvSpPr>
          <p:nvPr/>
        </p:nvSpPr>
        <p:spPr bwMode="auto">
          <a:xfrm>
            <a:off x="1524000" y="3733800"/>
            <a:ext cx="71120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eaLnBrk="1" hangingPunct="1">
              <a:spcBef>
                <a:spcPct val="20000"/>
              </a:spcBef>
              <a:defRPr/>
            </a:pPr>
            <a:r>
              <a:rPr lang="en-US" sz="2400" i="1" u="sng" dirty="0">
                <a:latin typeface="Trebuchet MS" charset="0"/>
                <a:ea typeface="Osaka" charset="0"/>
                <a:cs typeface="Osaka" charset="0"/>
              </a:rPr>
              <a:t>Formatting:</a:t>
            </a:r>
          </a:p>
          <a:p>
            <a:pPr marL="342900" indent="-342900" eaLnBrk="1" hangingPunct="1">
              <a:spcBef>
                <a:spcPct val="20000"/>
              </a:spcBef>
              <a:buSzPct val="50000"/>
              <a:buFont typeface="Wingdings" charset="0"/>
              <a:buChar char="v"/>
              <a:defRPr/>
            </a:pPr>
            <a:r>
              <a:rPr lang="en-US" sz="2400" i="1" dirty="0">
                <a:latin typeface="Trebuchet MS" charset="0"/>
                <a:ea typeface="Osaka" charset="0"/>
                <a:cs typeface="Osaka" charset="0"/>
              </a:rPr>
              <a:t>Standard font size and style as rest of poster text</a:t>
            </a:r>
          </a:p>
          <a:p>
            <a:pPr marL="342900" indent="-342900" eaLnBrk="1" hangingPunct="1">
              <a:spcBef>
                <a:spcPct val="20000"/>
              </a:spcBef>
              <a:buSzPct val="50000"/>
              <a:buFont typeface="Wingdings" charset="0"/>
              <a:buChar char="v"/>
              <a:defRPr/>
            </a:pPr>
            <a:r>
              <a:rPr lang="en-US" sz="2400" i="1" dirty="0">
                <a:latin typeface="Trebuchet MS" charset="0"/>
                <a:ea typeface="Osaka" charset="0"/>
                <a:cs typeface="Osaka" charset="0"/>
              </a:rPr>
              <a:t>Images, diagrams</a:t>
            </a:r>
          </a:p>
          <a:p>
            <a:pPr marL="342900" indent="-342900" eaLnBrk="1" hangingPunct="1">
              <a:spcBef>
                <a:spcPct val="20000"/>
              </a:spcBef>
              <a:buSzPct val="50000"/>
              <a:buFont typeface="Wingdings" charset="0"/>
              <a:buChar char="v"/>
              <a:defRPr/>
            </a:pPr>
            <a:r>
              <a:rPr lang="en-US" sz="2400" i="1" dirty="0">
                <a:latin typeface="Trebuchet MS" charset="0"/>
                <a:ea typeface="Osaka" charset="0"/>
                <a:cs typeface="Osaka" charset="0"/>
              </a:rPr>
              <a:t>Sub-titles</a:t>
            </a:r>
          </a:p>
        </p:txBody>
      </p:sp>
    </p:spTree>
    <p:extLst>
      <p:ext uri="{BB962C8B-B14F-4D97-AF65-F5344CB8AC3E}">
        <p14:creationId xmlns:p14="http://schemas.microsoft.com/office/powerpoint/2010/main" val="1706614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p:txBody>
          <a:bodyPr/>
          <a:lstStyle/>
          <a:p>
            <a:r>
              <a:rPr lang="en-US"/>
              <a:t>Results:</a:t>
            </a:r>
          </a:p>
        </p:txBody>
      </p:sp>
      <p:sp>
        <p:nvSpPr>
          <p:cNvPr id="16386" name="Rectangle 3"/>
          <p:cNvSpPr>
            <a:spLocks noGrp="1" noChangeArrowheads="1"/>
          </p:cNvSpPr>
          <p:nvPr>
            <p:ph idx="1"/>
          </p:nvPr>
        </p:nvSpPr>
        <p:spPr>
          <a:xfrm>
            <a:off x="914400" y="1524000"/>
            <a:ext cx="10566400" cy="3962400"/>
          </a:xfrm>
        </p:spPr>
        <p:txBody>
          <a:bodyPr>
            <a:normAutofit/>
          </a:bodyPr>
          <a:lstStyle/>
          <a:p>
            <a:r>
              <a:rPr lang="en-US" dirty="0"/>
              <a:t>Present your </a:t>
            </a:r>
            <a:r>
              <a:rPr lang="en-US" i="1" u="sng" dirty="0"/>
              <a:t>data</a:t>
            </a:r>
            <a:r>
              <a:rPr lang="en-US" dirty="0"/>
              <a:t>:</a:t>
            </a:r>
            <a:endParaRPr lang="en-US" sz="3600" dirty="0"/>
          </a:p>
          <a:p>
            <a:pPr lvl="1"/>
            <a:r>
              <a:rPr lang="en-US" dirty="0"/>
              <a:t>Tables &amp; graphs when possible - don</a:t>
            </a:r>
            <a:r>
              <a:rPr lang="ja-JP" altLang="en-US" dirty="0"/>
              <a:t>’</a:t>
            </a:r>
            <a:r>
              <a:rPr lang="en-US" altLang="ja-JP" dirty="0"/>
              <a:t>t hide numbers in text</a:t>
            </a:r>
          </a:p>
        </p:txBody>
      </p:sp>
      <p:sp>
        <p:nvSpPr>
          <p:cNvPr id="16387" name="Rectangle 8"/>
          <p:cNvSpPr>
            <a:spLocks noChangeArrowheads="1"/>
          </p:cNvSpPr>
          <p:nvPr/>
        </p:nvSpPr>
        <p:spPr bwMode="auto">
          <a:xfrm>
            <a:off x="8737600" y="5029200"/>
            <a:ext cx="3149600" cy="1676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6388" name="Rectangle 9"/>
          <p:cNvSpPr>
            <a:spLocks noChangeArrowheads="1"/>
          </p:cNvSpPr>
          <p:nvPr/>
        </p:nvSpPr>
        <p:spPr bwMode="auto">
          <a:xfrm>
            <a:off x="8798985" y="5084764"/>
            <a:ext cx="3026833" cy="168275"/>
          </a:xfrm>
          <a:prstGeom prst="rect">
            <a:avLst/>
          </a:prstGeom>
          <a:solidFill>
            <a:srgbClr val="3366CC"/>
          </a:solidFill>
          <a:ln w="9525">
            <a:solidFill>
              <a:schemeClr val="tx1"/>
            </a:solidFill>
            <a:miter lim="800000"/>
            <a:headEnd/>
            <a:tailEnd/>
          </a:ln>
        </p:spPr>
        <p:txBody>
          <a:bodyPr wrap="none" anchor="ctr"/>
          <a:lstStyle/>
          <a:p>
            <a:endParaRPr lang="en-US"/>
          </a:p>
        </p:txBody>
      </p:sp>
      <p:sp>
        <p:nvSpPr>
          <p:cNvPr id="16389" name="Rectangle 10"/>
          <p:cNvSpPr>
            <a:spLocks noChangeArrowheads="1"/>
          </p:cNvSpPr>
          <p:nvPr/>
        </p:nvSpPr>
        <p:spPr bwMode="auto">
          <a:xfrm>
            <a:off x="8798985" y="5308600"/>
            <a:ext cx="865716" cy="279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6390" name="Rectangle 11"/>
          <p:cNvSpPr>
            <a:spLocks noChangeArrowheads="1"/>
          </p:cNvSpPr>
          <p:nvPr/>
        </p:nvSpPr>
        <p:spPr bwMode="auto">
          <a:xfrm>
            <a:off x="8798985" y="5651500"/>
            <a:ext cx="865716" cy="99853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6391" name="Rectangle 12"/>
          <p:cNvSpPr>
            <a:spLocks noChangeArrowheads="1"/>
          </p:cNvSpPr>
          <p:nvPr/>
        </p:nvSpPr>
        <p:spPr bwMode="auto">
          <a:xfrm>
            <a:off x="9726085" y="5308600"/>
            <a:ext cx="1172633" cy="558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6392" name="Rectangle 13"/>
          <p:cNvSpPr>
            <a:spLocks noChangeArrowheads="1"/>
          </p:cNvSpPr>
          <p:nvPr/>
        </p:nvSpPr>
        <p:spPr bwMode="auto">
          <a:xfrm>
            <a:off x="9726085" y="5922964"/>
            <a:ext cx="1172633" cy="727075"/>
          </a:xfrm>
          <a:prstGeom prst="rect">
            <a:avLst/>
          </a:prstGeom>
          <a:solidFill>
            <a:srgbClr val="FFFF66"/>
          </a:solidFill>
          <a:ln w="9525">
            <a:solidFill>
              <a:schemeClr val="tx1"/>
            </a:solidFill>
            <a:miter lim="800000"/>
            <a:headEnd/>
            <a:tailEnd/>
          </a:ln>
        </p:spPr>
        <p:txBody>
          <a:bodyPr wrap="none" anchor="ctr"/>
          <a:lstStyle/>
          <a:p>
            <a:endParaRPr lang="en-US"/>
          </a:p>
        </p:txBody>
      </p:sp>
      <p:sp>
        <p:nvSpPr>
          <p:cNvPr id="16393" name="Rectangle 14"/>
          <p:cNvSpPr>
            <a:spLocks noChangeArrowheads="1"/>
          </p:cNvSpPr>
          <p:nvPr/>
        </p:nvSpPr>
        <p:spPr bwMode="auto">
          <a:xfrm>
            <a:off x="10960100" y="5308601"/>
            <a:ext cx="865717" cy="4476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6394" name="Rectangle 15"/>
          <p:cNvSpPr>
            <a:spLocks noChangeArrowheads="1"/>
          </p:cNvSpPr>
          <p:nvPr/>
        </p:nvSpPr>
        <p:spPr bwMode="auto">
          <a:xfrm>
            <a:off x="10960100" y="5811839"/>
            <a:ext cx="865717" cy="39052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6395" name="Rectangle 16"/>
          <p:cNvSpPr>
            <a:spLocks noChangeArrowheads="1"/>
          </p:cNvSpPr>
          <p:nvPr/>
        </p:nvSpPr>
        <p:spPr bwMode="auto">
          <a:xfrm>
            <a:off x="10960100" y="6257925"/>
            <a:ext cx="865717" cy="22383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6396" name="Rectangle 17"/>
          <p:cNvSpPr>
            <a:spLocks noChangeArrowheads="1"/>
          </p:cNvSpPr>
          <p:nvPr/>
        </p:nvSpPr>
        <p:spPr bwMode="auto">
          <a:xfrm>
            <a:off x="10960100" y="6537326"/>
            <a:ext cx="865717" cy="112713"/>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29395" name="Rectangle 19"/>
          <p:cNvSpPr>
            <a:spLocks noChangeArrowheads="1"/>
          </p:cNvSpPr>
          <p:nvPr/>
        </p:nvSpPr>
        <p:spPr bwMode="auto">
          <a:xfrm>
            <a:off x="1219200" y="3733800"/>
            <a:ext cx="74168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eaLnBrk="1" hangingPunct="1">
              <a:spcBef>
                <a:spcPct val="20000"/>
              </a:spcBef>
              <a:defRPr/>
            </a:pPr>
            <a:r>
              <a:rPr lang="en-US" sz="2400" i="1" u="sng" dirty="0">
                <a:latin typeface="Trebuchet MS" charset="0"/>
                <a:ea typeface="Osaka" charset="0"/>
                <a:cs typeface="Osaka" charset="0"/>
              </a:rPr>
              <a:t>Formatting:</a:t>
            </a:r>
          </a:p>
          <a:p>
            <a:pPr marL="342900" indent="-342900" eaLnBrk="1" hangingPunct="1">
              <a:spcBef>
                <a:spcPct val="20000"/>
              </a:spcBef>
              <a:buSzPct val="50000"/>
              <a:buFont typeface="Wingdings" charset="0"/>
              <a:buChar char="v"/>
              <a:defRPr/>
            </a:pPr>
            <a:r>
              <a:rPr lang="en-US" sz="2400" i="1" dirty="0">
                <a:latin typeface="Trebuchet MS" charset="0"/>
                <a:ea typeface="Osaka" charset="0"/>
                <a:cs typeface="Osaka" charset="0"/>
              </a:rPr>
              <a:t>Standard font size and style as rest of poster text</a:t>
            </a:r>
          </a:p>
          <a:p>
            <a:pPr marL="342900" indent="-342900" eaLnBrk="1" hangingPunct="1">
              <a:spcBef>
                <a:spcPct val="20000"/>
              </a:spcBef>
              <a:buSzPct val="50000"/>
              <a:buFont typeface="Wingdings" charset="0"/>
              <a:buChar char="v"/>
              <a:defRPr/>
            </a:pPr>
            <a:r>
              <a:rPr lang="en-US" sz="2400" i="1" dirty="0">
                <a:latin typeface="Trebuchet MS" charset="0"/>
                <a:ea typeface="Osaka" charset="0"/>
                <a:cs typeface="Osaka" charset="0"/>
              </a:rPr>
              <a:t>Use tables &amp; figures; limit prose</a:t>
            </a:r>
          </a:p>
          <a:p>
            <a:pPr marL="342900" indent="-342900" eaLnBrk="1" hangingPunct="1">
              <a:spcBef>
                <a:spcPct val="20000"/>
              </a:spcBef>
              <a:buSzPct val="50000"/>
              <a:buFont typeface="Wingdings" charset="0"/>
              <a:buChar char="v"/>
              <a:defRPr/>
            </a:pPr>
            <a:r>
              <a:rPr lang="en-US" sz="2400" i="1" dirty="0">
                <a:latin typeface="Trebuchet MS" charset="0"/>
                <a:ea typeface="Osaka" charset="0"/>
                <a:cs typeface="Osaka" charset="0"/>
              </a:rPr>
              <a:t>Sub-titles</a:t>
            </a:r>
          </a:p>
        </p:txBody>
      </p:sp>
    </p:spTree>
    <p:extLst>
      <p:ext uri="{BB962C8B-B14F-4D97-AF65-F5344CB8AC3E}">
        <p14:creationId xmlns:p14="http://schemas.microsoft.com/office/powerpoint/2010/main" val="2363817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p:txBody>
          <a:bodyPr/>
          <a:lstStyle/>
          <a:p>
            <a:r>
              <a:rPr lang="en-US"/>
              <a:t>Conclusions:</a:t>
            </a:r>
          </a:p>
        </p:txBody>
      </p:sp>
      <p:sp>
        <p:nvSpPr>
          <p:cNvPr id="17410" name="Rectangle 3"/>
          <p:cNvSpPr>
            <a:spLocks noGrp="1" noChangeArrowheads="1"/>
          </p:cNvSpPr>
          <p:nvPr>
            <p:ph idx="1"/>
          </p:nvPr>
        </p:nvSpPr>
        <p:spPr/>
        <p:txBody>
          <a:bodyPr/>
          <a:lstStyle/>
          <a:p>
            <a:r>
              <a:rPr lang="en-US" sz="2800" i="1" u="sng" dirty="0"/>
              <a:t>Explain</a:t>
            </a:r>
            <a:r>
              <a:rPr lang="en-US" sz="2800" dirty="0"/>
              <a:t> your data:</a:t>
            </a:r>
          </a:p>
          <a:p>
            <a:pPr lvl="1"/>
            <a:r>
              <a:rPr lang="en-US" sz="2400" dirty="0"/>
              <a:t>Address your specific research objectives</a:t>
            </a:r>
          </a:p>
          <a:p>
            <a:pPr lvl="1"/>
            <a:r>
              <a:rPr lang="en-US" sz="2400" dirty="0"/>
              <a:t>Summarize statistically significant data </a:t>
            </a:r>
          </a:p>
          <a:p>
            <a:pPr lvl="1"/>
            <a:r>
              <a:rPr lang="en-US" sz="2400" dirty="0"/>
              <a:t>Report unexpected or abnormal findings</a:t>
            </a:r>
          </a:p>
          <a:p>
            <a:pPr lvl="1"/>
            <a:r>
              <a:rPr lang="en-US" sz="2400" dirty="0"/>
              <a:t>Discuss problems encountered or suspected</a:t>
            </a:r>
          </a:p>
        </p:txBody>
      </p:sp>
      <p:sp>
        <p:nvSpPr>
          <p:cNvPr id="17411" name="Rectangle 6"/>
          <p:cNvSpPr>
            <a:spLocks noChangeArrowheads="1"/>
          </p:cNvSpPr>
          <p:nvPr/>
        </p:nvSpPr>
        <p:spPr bwMode="auto">
          <a:xfrm>
            <a:off x="8737600" y="5029200"/>
            <a:ext cx="3149600" cy="1676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7412" name="Rectangle 7"/>
          <p:cNvSpPr>
            <a:spLocks noChangeArrowheads="1"/>
          </p:cNvSpPr>
          <p:nvPr/>
        </p:nvSpPr>
        <p:spPr bwMode="auto">
          <a:xfrm>
            <a:off x="8798985" y="5084764"/>
            <a:ext cx="3026833" cy="168275"/>
          </a:xfrm>
          <a:prstGeom prst="rect">
            <a:avLst/>
          </a:prstGeom>
          <a:solidFill>
            <a:srgbClr val="3366CC"/>
          </a:solidFill>
          <a:ln w="9525">
            <a:solidFill>
              <a:schemeClr val="tx1"/>
            </a:solidFill>
            <a:miter lim="800000"/>
            <a:headEnd/>
            <a:tailEnd/>
          </a:ln>
        </p:spPr>
        <p:txBody>
          <a:bodyPr wrap="none" anchor="ctr"/>
          <a:lstStyle/>
          <a:p>
            <a:endParaRPr lang="en-US"/>
          </a:p>
        </p:txBody>
      </p:sp>
      <p:sp>
        <p:nvSpPr>
          <p:cNvPr id="17413" name="Rectangle 8"/>
          <p:cNvSpPr>
            <a:spLocks noChangeArrowheads="1"/>
          </p:cNvSpPr>
          <p:nvPr/>
        </p:nvSpPr>
        <p:spPr bwMode="auto">
          <a:xfrm>
            <a:off x="8798985" y="5308600"/>
            <a:ext cx="865716" cy="279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7414" name="Rectangle 9"/>
          <p:cNvSpPr>
            <a:spLocks noChangeArrowheads="1"/>
          </p:cNvSpPr>
          <p:nvPr/>
        </p:nvSpPr>
        <p:spPr bwMode="auto">
          <a:xfrm>
            <a:off x="8798985" y="5643564"/>
            <a:ext cx="865716" cy="10064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7415" name="Rectangle 10"/>
          <p:cNvSpPr>
            <a:spLocks noChangeArrowheads="1"/>
          </p:cNvSpPr>
          <p:nvPr/>
        </p:nvSpPr>
        <p:spPr bwMode="auto">
          <a:xfrm>
            <a:off x="9726085" y="5308600"/>
            <a:ext cx="1172633" cy="558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7416" name="Rectangle 11"/>
          <p:cNvSpPr>
            <a:spLocks noChangeArrowheads="1"/>
          </p:cNvSpPr>
          <p:nvPr/>
        </p:nvSpPr>
        <p:spPr bwMode="auto">
          <a:xfrm>
            <a:off x="9726085" y="5922964"/>
            <a:ext cx="1172633" cy="7270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7417" name="Rectangle 12"/>
          <p:cNvSpPr>
            <a:spLocks noChangeArrowheads="1"/>
          </p:cNvSpPr>
          <p:nvPr/>
        </p:nvSpPr>
        <p:spPr bwMode="auto">
          <a:xfrm>
            <a:off x="10960100" y="5308601"/>
            <a:ext cx="865717" cy="447675"/>
          </a:xfrm>
          <a:prstGeom prst="rect">
            <a:avLst/>
          </a:prstGeom>
          <a:solidFill>
            <a:srgbClr val="FFFF66"/>
          </a:solidFill>
          <a:ln w="9525">
            <a:solidFill>
              <a:schemeClr val="tx1"/>
            </a:solidFill>
            <a:miter lim="800000"/>
            <a:headEnd/>
            <a:tailEnd/>
          </a:ln>
        </p:spPr>
        <p:txBody>
          <a:bodyPr wrap="none" anchor="ctr"/>
          <a:lstStyle/>
          <a:p>
            <a:endParaRPr lang="en-US"/>
          </a:p>
        </p:txBody>
      </p:sp>
      <p:sp>
        <p:nvSpPr>
          <p:cNvPr id="17418" name="Rectangle 13"/>
          <p:cNvSpPr>
            <a:spLocks noChangeArrowheads="1"/>
          </p:cNvSpPr>
          <p:nvPr/>
        </p:nvSpPr>
        <p:spPr bwMode="auto">
          <a:xfrm>
            <a:off x="10960100" y="5811839"/>
            <a:ext cx="865717" cy="39052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7419" name="Rectangle 14"/>
          <p:cNvSpPr>
            <a:spLocks noChangeArrowheads="1"/>
          </p:cNvSpPr>
          <p:nvPr/>
        </p:nvSpPr>
        <p:spPr bwMode="auto">
          <a:xfrm>
            <a:off x="10960100" y="6257925"/>
            <a:ext cx="865717" cy="22383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7420" name="Rectangle 15"/>
          <p:cNvSpPr>
            <a:spLocks noChangeArrowheads="1"/>
          </p:cNvSpPr>
          <p:nvPr/>
        </p:nvSpPr>
        <p:spPr bwMode="auto">
          <a:xfrm>
            <a:off x="10960100" y="6537326"/>
            <a:ext cx="865717" cy="112713"/>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32464" name="Rectangle 16"/>
          <p:cNvSpPr>
            <a:spLocks noChangeArrowheads="1"/>
          </p:cNvSpPr>
          <p:nvPr/>
        </p:nvSpPr>
        <p:spPr bwMode="auto">
          <a:xfrm>
            <a:off x="1727200" y="4038600"/>
            <a:ext cx="68072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eaLnBrk="1" hangingPunct="1">
              <a:spcBef>
                <a:spcPct val="20000"/>
              </a:spcBef>
              <a:defRPr/>
            </a:pPr>
            <a:r>
              <a:rPr lang="en-US" sz="2400" i="1" u="sng" dirty="0">
                <a:latin typeface="Trebuchet MS" charset="0"/>
                <a:ea typeface="Osaka" charset="0"/>
                <a:cs typeface="Osaka" charset="0"/>
              </a:rPr>
              <a:t>Formatting:</a:t>
            </a:r>
          </a:p>
          <a:p>
            <a:pPr marL="342900" indent="-342900" eaLnBrk="1" hangingPunct="1">
              <a:spcBef>
                <a:spcPct val="20000"/>
              </a:spcBef>
              <a:buSzPct val="50000"/>
              <a:buFont typeface="Wingdings" charset="0"/>
              <a:buChar char="v"/>
              <a:defRPr/>
            </a:pPr>
            <a:r>
              <a:rPr lang="en-US" sz="2400" i="1" dirty="0">
                <a:latin typeface="Trebuchet MS" charset="0"/>
                <a:ea typeface="Osaka" charset="0"/>
                <a:cs typeface="Osaka" charset="0"/>
              </a:rPr>
              <a:t>Standard font size and style as rest of poster text</a:t>
            </a:r>
          </a:p>
          <a:p>
            <a:pPr marL="342900" indent="-342900" eaLnBrk="1" hangingPunct="1">
              <a:spcBef>
                <a:spcPct val="20000"/>
              </a:spcBef>
              <a:buSzPct val="50000"/>
              <a:buFont typeface="Wingdings" charset="0"/>
              <a:buChar char="v"/>
              <a:defRPr/>
            </a:pPr>
            <a:r>
              <a:rPr lang="en-US" sz="2400" i="1" dirty="0">
                <a:latin typeface="Trebuchet MS" charset="0"/>
                <a:ea typeface="Osaka" charset="0"/>
                <a:cs typeface="Osaka" charset="0"/>
              </a:rPr>
              <a:t>Images, diagrams</a:t>
            </a:r>
          </a:p>
          <a:p>
            <a:pPr marL="342900" indent="-342900" eaLnBrk="1" hangingPunct="1">
              <a:spcBef>
                <a:spcPct val="20000"/>
              </a:spcBef>
              <a:buSzPct val="50000"/>
              <a:buFont typeface="Wingdings" charset="0"/>
              <a:buChar char="v"/>
              <a:defRPr/>
            </a:pPr>
            <a:r>
              <a:rPr lang="en-US" sz="2400" i="1" dirty="0">
                <a:latin typeface="Trebuchet MS" charset="0"/>
                <a:ea typeface="Osaka" charset="0"/>
                <a:cs typeface="Osaka" charset="0"/>
              </a:rPr>
              <a:t>Sub-titles</a:t>
            </a:r>
          </a:p>
        </p:txBody>
      </p:sp>
    </p:spTree>
    <p:extLst>
      <p:ext uri="{BB962C8B-B14F-4D97-AF65-F5344CB8AC3E}">
        <p14:creationId xmlns:p14="http://schemas.microsoft.com/office/powerpoint/2010/main" val="20836746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p:txBody>
          <a:bodyPr/>
          <a:lstStyle/>
          <a:p>
            <a:r>
              <a:rPr lang="en-US"/>
              <a:t>Future Directions:</a:t>
            </a:r>
          </a:p>
        </p:txBody>
      </p:sp>
      <p:sp>
        <p:nvSpPr>
          <p:cNvPr id="18434" name="Rectangle 3"/>
          <p:cNvSpPr>
            <a:spLocks noGrp="1" noChangeArrowheads="1"/>
          </p:cNvSpPr>
          <p:nvPr>
            <p:ph idx="1"/>
          </p:nvPr>
        </p:nvSpPr>
        <p:spPr/>
        <p:txBody>
          <a:bodyPr/>
          <a:lstStyle/>
          <a:p>
            <a:r>
              <a:rPr lang="en-US" sz="2800"/>
              <a:t>Outline future research:</a:t>
            </a:r>
          </a:p>
          <a:p>
            <a:pPr lvl="1"/>
            <a:r>
              <a:rPr lang="en-US" sz="2400"/>
              <a:t>Improvements to study design</a:t>
            </a:r>
          </a:p>
          <a:p>
            <a:pPr lvl="1"/>
            <a:r>
              <a:rPr lang="en-US" sz="2400"/>
              <a:t>Ways to address unexpected findings</a:t>
            </a:r>
          </a:p>
          <a:p>
            <a:pPr lvl="1"/>
            <a:r>
              <a:rPr lang="en-US" sz="2400"/>
              <a:t>New objectives developed from this project</a:t>
            </a:r>
            <a:endParaRPr lang="en-US"/>
          </a:p>
        </p:txBody>
      </p:sp>
      <p:sp>
        <p:nvSpPr>
          <p:cNvPr id="18435" name="Rectangle 6"/>
          <p:cNvSpPr>
            <a:spLocks noChangeArrowheads="1"/>
          </p:cNvSpPr>
          <p:nvPr/>
        </p:nvSpPr>
        <p:spPr bwMode="auto">
          <a:xfrm>
            <a:off x="8737600" y="5029200"/>
            <a:ext cx="3149600" cy="1676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8436" name="Rectangle 7"/>
          <p:cNvSpPr>
            <a:spLocks noChangeArrowheads="1"/>
          </p:cNvSpPr>
          <p:nvPr/>
        </p:nvSpPr>
        <p:spPr bwMode="auto">
          <a:xfrm>
            <a:off x="8798985" y="5084764"/>
            <a:ext cx="3026833" cy="168275"/>
          </a:xfrm>
          <a:prstGeom prst="rect">
            <a:avLst/>
          </a:prstGeom>
          <a:solidFill>
            <a:srgbClr val="3366CC"/>
          </a:solidFill>
          <a:ln w="9525">
            <a:solidFill>
              <a:schemeClr val="tx1"/>
            </a:solidFill>
            <a:miter lim="800000"/>
            <a:headEnd/>
            <a:tailEnd/>
          </a:ln>
        </p:spPr>
        <p:txBody>
          <a:bodyPr wrap="none" anchor="ctr"/>
          <a:lstStyle/>
          <a:p>
            <a:endParaRPr lang="en-US"/>
          </a:p>
        </p:txBody>
      </p:sp>
      <p:sp>
        <p:nvSpPr>
          <p:cNvPr id="18437" name="Rectangle 8"/>
          <p:cNvSpPr>
            <a:spLocks noChangeArrowheads="1"/>
          </p:cNvSpPr>
          <p:nvPr/>
        </p:nvSpPr>
        <p:spPr bwMode="auto">
          <a:xfrm>
            <a:off x="8798985" y="5308600"/>
            <a:ext cx="865716" cy="279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8438" name="Rectangle 9"/>
          <p:cNvSpPr>
            <a:spLocks noChangeArrowheads="1"/>
          </p:cNvSpPr>
          <p:nvPr/>
        </p:nvSpPr>
        <p:spPr bwMode="auto">
          <a:xfrm>
            <a:off x="8798985" y="5643564"/>
            <a:ext cx="865716" cy="10064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8439" name="Rectangle 10"/>
          <p:cNvSpPr>
            <a:spLocks noChangeArrowheads="1"/>
          </p:cNvSpPr>
          <p:nvPr/>
        </p:nvSpPr>
        <p:spPr bwMode="auto">
          <a:xfrm>
            <a:off x="9726085" y="5308600"/>
            <a:ext cx="1172633" cy="558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8440" name="Rectangle 11"/>
          <p:cNvSpPr>
            <a:spLocks noChangeArrowheads="1"/>
          </p:cNvSpPr>
          <p:nvPr/>
        </p:nvSpPr>
        <p:spPr bwMode="auto">
          <a:xfrm>
            <a:off x="9726085" y="5922964"/>
            <a:ext cx="1172633" cy="7270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8441" name="Rectangle 12"/>
          <p:cNvSpPr>
            <a:spLocks noChangeArrowheads="1"/>
          </p:cNvSpPr>
          <p:nvPr/>
        </p:nvSpPr>
        <p:spPr bwMode="auto">
          <a:xfrm>
            <a:off x="10960100" y="5308601"/>
            <a:ext cx="865717" cy="447675"/>
          </a:xfrm>
          <a:prstGeom prst="rect">
            <a:avLst/>
          </a:prstGeom>
          <a:solidFill>
            <a:srgbClr val="3366CC"/>
          </a:solidFill>
          <a:ln w="9525">
            <a:solidFill>
              <a:schemeClr val="tx1"/>
            </a:solidFill>
            <a:miter lim="800000"/>
            <a:headEnd/>
            <a:tailEnd/>
          </a:ln>
        </p:spPr>
        <p:txBody>
          <a:bodyPr wrap="none" anchor="ctr"/>
          <a:lstStyle/>
          <a:p>
            <a:endParaRPr lang="en-US"/>
          </a:p>
        </p:txBody>
      </p:sp>
      <p:sp>
        <p:nvSpPr>
          <p:cNvPr id="18442" name="Rectangle 13"/>
          <p:cNvSpPr>
            <a:spLocks noChangeArrowheads="1"/>
          </p:cNvSpPr>
          <p:nvPr/>
        </p:nvSpPr>
        <p:spPr bwMode="auto">
          <a:xfrm>
            <a:off x="10960100" y="5811839"/>
            <a:ext cx="865717" cy="390525"/>
          </a:xfrm>
          <a:prstGeom prst="rect">
            <a:avLst/>
          </a:prstGeom>
          <a:solidFill>
            <a:srgbClr val="FFFF66"/>
          </a:solidFill>
          <a:ln w="9525">
            <a:solidFill>
              <a:schemeClr val="tx1"/>
            </a:solidFill>
            <a:miter lim="800000"/>
            <a:headEnd/>
            <a:tailEnd/>
          </a:ln>
        </p:spPr>
        <p:txBody>
          <a:bodyPr wrap="none" anchor="ctr"/>
          <a:lstStyle/>
          <a:p>
            <a:endParaRPr lang="en-US"/>
          </a:p>
        </p:txBody>
      </p:sp>
      <p:sp>
        <p:nvSpPr>
          <p:cNvPr id="18443" name="Rectangle 14"/>
          <p:cNvSpPr>
            <a:spLocks noChangeArrowheads="1"/>
          </p:cNvSpPr>
          <p:nvPr/>
        </p:nvSpPr>
        <p:spPr bwMode="auto">
          <a:xfrm>
            <a:off x="10960100" y="6257925"/>
            <a:ext cx="865717" cy="22383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8444" name="Rectangle 15"/>
          <p:cNvSpPr>
            <a:spLocks noChangeArrowheads="1"/>
          </p:cNvSpPr>
          <p:nvPr/>
        </p:nvSpPr>
        <p:spPr bwMode="auto">
          <a:xfrm>
            <a:off x="10960100" y="6537326"/>
            <a:ext cx="865717" cy="112713"/>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34512" name="Rectangle 16"/>
          <p:cNvSpPr>
            <a:spLocks noChangeArrowheads="1"/>
          </p:cNvSpPr>
          <p:nvPr/>
        </p:nvSpPr>
        <p:spPr bwMode="auto">
          <a:xfrm>
            <a:off x="1828800" y="4114800"/>
            <a:ext cx="68072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eaLnBrk="1" hangingPunct="1">
              <a:spcBef>
                <a:spcPct val="20000"/>
              </a:spcBef>
              <a:defRPr/>
            </a:pPr>
            <a:r>
              <a:rPr lang="en-US" sz="2400" i="1" u="sng" dirty="0">
                <a:latin typeface="Trebuchet MS" charset="0"/>
                <a:ea typeface="Osaka" charset="0"/>
                <a:cs typeface="Osaka" charset="0"/>
              </a:rPr>
              <a:t>Formatting:</a:t>
            </a:r>
          </a:p>
          <a:p>
            <a:pPr marL="342900" indent="-342900" eaLnBrk="1" hangingPunct="1">
              <a:spcBef>
                <a:spcPct val="20000"/>
              </a:spcBef>
              <a:buSzPct val="50000"/>
              <a:buFont typeface="Wingdings" charset="0"/>
              <a:buChar char="v"/>
              <a:defRPr/>
            </a:pPr>
            <a:r>
              <a:rPr lang="en-US" sz="2400" i="1" dirty="0">
                <a:latin typeface="Trebuchet MS" charset="0"/>
                <a:ea typeface="Osaka" charset="0"/>
                <a:cs typeface="Osaka" charset="0"/>
              </a:rPr>
              <a:t>Standard font size and style as rest of poster text</a:t>
            </a:r>
          </a:p>
          <a:p>
            <a:pPr marL="342900" indent="-342900" eaLnBrk="1" hangingPunct="1">
              <a:spcBef>
                <a:spcPct val="20000"/>
              </a:spcBef>
              <a:buSzPct val="50000"/>
              <a:buFont typeface="Wingdings" charset="0"/>
              <a:buChar char="v"/>
              <a:defRPr/>
            </a:pPr>
            <a:r>
              <a:rPr lang="en-US" sz="2400" i="1" dirty="0">
                <a:latin typeface="Trebuchet MS" charset="0"/>
                <a:ea typeface="Osaka" charset="0"/>
                <a:cs typeface="Osaka" charset="0"/>
              </a:rPr>
              <a:t>Bulleted lines, 1.5 - 2.0 spacing</a:t>
            </a:r>
          </a:p>
        </p:txBody>
      </p:sp>
    </p:spTree>
    <p:extLst>
      <p:ext uri="{BB962C8B-B14F-4D97-AF65-F5344CB8AC3E}">
        <p14:creationId xmlns:p14="http://schemas.microsoft.com/office/powerpoint/2010/main" val="283994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p:txBody>
          <a:bodyPr/>
          <a:lstStyle/>
          <a:p>
            <a:r>
              <a:rPr lang="en-US"/>
              <a:t>Literature Cited:</a:t>
            </a:r>
          </a:p>
        </p:txBody>
      </p:sp>
      <p:sp>
        <p:nvSpPr>
          <p:cNvPr id="19458" name="Rectangle 3"/>
          <p:cNvSpPr>
            <a:spLocks noGrp="1" noChangeArrowheads="1"/>
          </p:cNvSpPr>
          <p:nvPr>
            <p:ph idx="1"/>
          </p:nvPr>
        </p:nvSpPr>
        <p:spPr/>
        <p:txBody>
          <a:bodyPr/>
          <a:lstStyle/>
          <a:p>
            <a:r>
              <a:rPr lang="en-US" sz="2400" dirty="0"/>
              <a:t>Format as directed by poster guidelines, if specified</a:t>
            </a:r>
          </a:p>
          <a:p>
            <a:pPr>
              <a:buFontTx/>
              <a:buNone/>
            </a:pPr>
            <a:r>
              <a:rPr lang="en-US" sz="1800" i="1" dirty="0"/>
              <a:t>-or-</a:t>
            </a:r>
            <a:endParaRPr lang="en-US" sz="2400" dirty="0"/>
          </a:p>
          <a:p>
            <a:r>
              <a:rPr lang="en-US" sz="2400" dirty="0"/>
              <a:t>Use a standard, consistent format as observed in current scientific journals</a:t>
            </a:r>
          </a:p>
          <a:p>
            <a:pPr lvl="1"/>
            <a:r>
              <a:rPr lang="en-US" sz="2000" dirty="0"/>
              <a:t>Numerical endnotes</a:t>
            </a:r>
          </a:p>
          <a:p>
            <a:pPr lvl="1"/>
            <a:r>
              <a:rPr lang="en-US" sz="2000" dirty="0"/>
              <a:t>Parenthetical author</a:t>
            </a:r>
            <a:r>
              <a:rPr lang="ja-JP" altLang="en-US" sz="2000" dirty="0"/>
              <a:t>’</a:t>
            </a:r>
            <a:r>
              <a:rPr lang="en-US" altLang="ja-JP" sz="2000" dirty="0"/>
              <a:t>s name and year</a:t>
            </a:r>
            <a:endParaRPr lang="en-US" sz="2000" dirty="0"/>
          </a:p>
        </p:txBody>
      </p:sp>
      <p:sp>
        <p:nvSpPr>
          <p:cNvPr id="19459" name="Rectangle 6"/>
          <p:cNvSpPr>
            <a:spLocks noChangeArrowheads="1"/>
          </p:cNvSpPr>
          <p:nvPr/>
        </p:nvSpPr>
        <p:spPr bwMode="auto">
          <a:xfrm>
            <a:off x="8737600" y="5029200"/>
            <a:ext cx="3149600" cy="1676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9460" name="Rectangle 7"/>
          <p:cNvSpPr>
            <a:spLocks noChangeArrowheads="1"/>
          </p:cNvSpPr>
          <p:nvPr/>
        </p:nvSpPr>
        <p:spPr bwMode="auto">
          <a:xfrm>
            <a:off x="8798985" y="5084764"/>
            <a:ext cx="3026833" cy="168275"/>
          </a:xfrm>
          <a:prstGeom prst="rect">
            <a:avLst/>
          </a:prstGeom>
          <a:solidFill>
            <a:srgbClr val="3366CC"/>
          </a:solidFill>
          <a:ln w="9525">
            <a:solidFill>
              <a:schemeClr val="tx1"/>
            </a:solidFill>
            <a:miter lim="800000"/>
            <a:headEnd/>
            <a:tailEnd/>
          </a:ln>
        </p:spPr>
        <p:txBody>
          <a:bodyPr wrap="none" anchor="ctr"/>
          <a:lstStyle/>
          <a:p>
            <a:endParaRPr lang="en-US"/>
          </a:p>
        </p:txBody>
      </p:sp>
      <p:sp>
        <p:nvSpPr>
          <p:cNvPr id="19461" name="Rectangle 8"/>
          <p:cNvSpPr>
            <a:spLocks noChangeArrowheads="1"/>
          </p:cNvSpPr>
          <p:nvPr/>
        </p:nvSpPr>
        <p:spPr bwMode="auto">
          <a:xfrm>
            <a:off x="8798985" y="5308600"/>
            <a:ext cx="865716" cy="279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9462" name="Rectangle 9"/>
          <p:cNvSpPr>
            <a:spLocks noChangeArrowheads="1"/>
          </p:cNvSpPr>
          <p:nvPr/>
        </p:nvSpPr>
        <p:spPr bwMode="auto">
          <a:xfrm>
            <a:off x="8798985" y="5643564"/>
            <a:ext cx="865716" cy="10064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9463" name="Rectangle 10"/>
          <p:cNvSpPr>
            <a:spLocks noChangeArrowheads="1"/>
          </p:cNvSpPr>
          <p:nvPr/>
        </p:nvSpPr>
        <p:spPr bwMode="auto">
          <a:xfrm>
            <a:off x="9726085" y="5308600"/>
            <a:ext cx="1172633" cy="558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9464" name="Rectangle 11"/>
          <p:cNvSpPr>
            <a:spLocks noChangeArrowheads="1"/>
          </p:cNvSpPr>
          <p:nvPr/>
        </p:nvSpPr>
        <p:spPr bwMode="auto">
          <a:xfrm>
            <a:off x="9726085" y="5922964"/>
            <a:ext cx="1172633" cy="7270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9465" name="Rectangle 12"/>
          <p:cNvSpPr>
            <a:spLocks noChangeArrowheads="1"/>
          </p:cNvSpPr>
          <p:nvPr/>
        </p:nvSpPr>
        <p:spPr bwMode="auto">
          <a:xfrm>
            <a:off x="10960100" y="5308601"/>
            <a:ext cx="865717" cy="447675"/>
          </a:xfrm>
          <a:prstGeom prst="rect">
            <a:avLst/>
          </a:prstGeom>
          <a:solidFill>
            <a:srgbClr val="3366CC"/>
          </a:solidFill>
          <a:ln w="9525">
            <a:solidFill>
              <a:schemeClr val="tx1"/>
            </a:solidFill>
            <a:miter lim="800000"/>
            <a:headEnd/>
            <a:tailEnd/>
          </a:ln>
        </p:spPr>
        <p:txBody>
          <a:bodyPr wrap="none" anchor="ctr"/>
          <a:lstStyle/>
          <a:p>
            <a:endParaRPr lang="en-US"/>
          </a:p>
        </p:txBody>
      </p:sp>
      <p:sp>
        <p:nvSpPr>
          <p:cNvPr id="19466" name="Rectangle 13"/>
          <p:cNvSpPr>
            <a:spLocks noChangeArrowheads="1"/>
          </p:cNvSpPr>
          <p:nvPr/>
        </p:nvSpPr>
        <p:spPr bwMode="auto">
          <a:xfrm>
            <a:off x="10960100" y="5811839"/>
            <a:ext cx="865717" cy="39052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9467" name="Rectangle 14"/>
          <p:cNvSpPr>
            <a:spLocks noChangeArrowheads="1"/>
          </p:cNvSpPr>
          <p:nvPr/>
        </p:nvSpPr>
        <p:spPr bwMode="auto">
          <a:xfrm>
            <a:off x="10960100" y="6257925"/>
            <a:ext cx="865717" cy="223838"/>
          </a:xfrm>
          <a:prstGeom prst="rect">
            <a:avLst/>
          </a:prstGeom>
          <a:solidFill>
            <a:srgbClr val="FFFF66"/>
          </a:solidFill>
          <a:ln w="9525">
            <a:solidFill>
              <a:schemeClr val="tx1"/>
            </a:solidFill>
            <a:miter lim="800000"/>
            <a:headEnd/>
            <a:tailEnd/>
          </a:ln>
        </p:spPr>
        <p:txBody>
          <a:bodyPr wrap="none" anchor="ctr"/>
          <a:lstStyle/>
          <a:p>
            <a:endParaRPr lang="en-US"/>
          </a:p>
        </p:txBody>
      </p:sp>
      <p:sp>
        <p:nvSpPr>
          <p:cNvPr id="19468" name="Rectangle 15"/>
          <p:cNvSpPr>
            <a:spLocks noChangeArrowheads="1"/>
          </p:cNvSpPr>
          <p:nvPr/>
        </p:nvSpPr>
        <p:spPr bwMode="auto">
          <a:xfrm>
            <a:off x="10960100" y="6537326"/>
            <a:ext cx="865717" cy="112713"/>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33489" name="Rectangle 17"/>
          <p:cNvSpPr>
            <a:spLocks noChangeArrowheads="1"/>
          </p:cNvSpPr>
          <p:nvPr/>
        </p:nvSpPr>
        <p:spPr bwMode="auto">
          <a:xfrm>
            <a:off x="1219200" y="4267200"/>
            <a:ext cx="73152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eaLnBrk="1" hangingPunct="1">
              <a:spcBef>
                <a:spcPct val="20000"/>
              </a:spcBef>
            </a:pPr>
            <a:r>
              <a:rPr lang="en-US" sz="2000" i="1" u="sng" dirty="0">
                <a:latin typeface="Trebuchet MS" pitchFamily="34" charset="0"/>
                <a:ea typeface="Osaka" pitchFamily="1" charset="-128"/>
              </a:rPr>
              <a:t>Formatting:</a:t>
            </a:r>
          </a:p>
          <a:p>
            <a:pPr marL="342900" indent="-342900" eaLnBrk="1" hangingPunct="1">
              <a:spcBef>
                <a:spcPct val="20000"/>
              </a:spcBef>
              <a:buSzPct val="50000"/>
              <a:buFont typeface="Wingdings" pitchFamily="2" charset="2"/>
              <a:buChar char="v"/>
            </a:pPr>
            <a:r>
              <a:rPr lang="en-US" sz="2000" i="1" dirty="0">
                <a:latin typeface="Trebuchet MS" pitchFamily="34" charset="0"/>
                <a:ea typeface="Osaka" pitchFamily="1" charset="-128"/>
              </a:rPr>
              <a:t>Numbered as listed in text, or</a:t>
            </a:r>
          </a:p>
          <a:p>
            <a:pPr marL="342900" indent="-342900" eaLnBrk="1" hangingPunct="1">
              <a:spcBef>
                <a:spcPct val="20000"/>
              </a:spcBef>
              <a:buSzPct val="50000"/>
              <a:buFont typeface="Wingdings" pitchFamily="2" charset="2"/>
              <a:buChar char="v"/>
            </a:pPr>
            <a:r>
              <a:rPr lang="en-US" sz="2000" i="1" dirty="0">
                <a:latin typeface="Trebuchet MS" pitchFamily="34" charset="0"/>
                <a:ea typeface="Osaka" pitchFamily="1" charset="-128"/>
              </a:rPr>
              <a:t>Alphabetical, chronological</a:t>
            </a:r>
          </a:p>
          <a:p>
            <a:pPr marL="342900" indent="-342900" eaLnBrk="1" hangingPunct="1">
              <a:spcBef>
                <a:spcPct val="20000"/>
              </a:spcBef>
              <a:buSzPct val="50000"/>
              <a:buFont typeface="Wingdings" pitchFamily="2" charset="2"/>
              <a:buChar char="v"/>
            </a:pPr>
            <a:r>
              <a:rPr lang="en-US" sz="2000" i="1" dirty="0">
                <a:latin typeface="Trebuchet MS" pitchFamily="34" charset="0"/>
                <a:ea typeface="Osaka" pitchFamily="1" charset="-128"/>
              </a:rPr>
              <a:t>1.5 - 2.0 line spacing</a:t>
            </a:r>
          </a:p>
          <a:p>
            <a:pPr marL="342900" indent="-342900" eaLnBrk="1" hangingPunct="1">
              <a:spcBef>
                <a:spcPct val="20000"/>
              </a:spcBef>
              <a:buSzPct val="50000"/>
              <a:buFont typeface="Wingdings" pitchFamily="2" charset="2"/>
              <a:buChar char="v"/>
            </a:pPr>
            <a:r>
              <a:rPr lang="en-US" sz="2000" i="1" dirty="0">
                <a:latin typeface="Trebuchet MS" pitchFamily="34" charset="0"/>
                <a:ea typeface="Osaka" pitchFamily="1" charset="-128"/>
              </a:rPr>
              <a:t>Don</a:t>
            </a:r>
            <a:r>
              <a:rPr lang="ja-JP" altLang="en-US" sz="2000" i="1">
                <a:latin typeface="Trebuchet MS" pitchFamily="34" charset="0"/>
                <a:ea typeface="Osaka" pitchFamily="1" charset="-128"/>
              </a:rPr>
              <a:t>’</a:t>
            </a:r>
            <a:r>
              <a:rPr lang="en-US" altLang="ja-JP" sz="2000" i="1" dirty="0">
                <a:latin typeface="Trebuchet MS" pitchFamily="34" charset="0"/>
                <a:ea typeface="Osaka" pitchFamily="1" charset="-128"/>
              </a:rPr>
              <a:t>t use bullets</a:t>
            </a:r>
            <a:endParaRPr lang="en-US" sz="2000" i="1" dirty="0">
              <a:latin typeface="Trebuchet MS" pitchFamily="34" charset="0"/>
              <a:ea typeface="Osaka" pitchFamily="1" charset="-128"/>
            </a:endParaRPr>
          </a:p>
        </p:txBody>
      </p:sp>
    </p:spTree>
    <p:extLst>
      <p:ext uri="{BB962C8B-B14F-4D97-AF65-F5344CB8AC3E}">
        <p14:creationId xmlns:p14="http://schemas.microsoft.com/office/powerpoint/2010/main" val="30171327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p:txBody>
          <a:bodyPr/>
          <a:lstStyle/>
          <a:p>
            <a:r>
              <a:rPr lang="en-US"/>
              <a:t>Acknowledgements:</a:t>
            </a:r>
          </a:p>
        </p:txBody>
      </p:sp>
      <p:sp>
        <p:nvSpPr>
          <p:cNvPr id="20482" name="Rectangle 3"/>
          <p:cNvSpPr>
            <a:spLocks noGrp="1" noChangeArrowheads="1"/>
          </p:cNvSpPr>
          <p:nvPr>
            <p:ph idx="1"/>
          </p:nvPr>
        </p:nvSpPr>
        <p:spPr>
          <a:xfrm>
            <a:off x="914400" y="1676400"/>
            <a:ext cx="10871200" cy="2667000"/>
          </a:xfrm>
        </p:spPr>
        <p:txBody>
          <a:bodyPr/>
          <a:lstStyle/>
          <a:p>
            <a:r>
              <a:rPr lang="en-US" sz="2800" dirty="0"/>
              <a:t>Thank your supporters -- Important!</a:t>
            </a:r>
          </a:p>
          <a:p>
            <a:pPr lvl="1"/>
            <a:r>
              <a:rPr lang="en-US" sz="2400" dirty="0"/>
              <a:t>Who </a:t>
            </a:r>
            <a:r>
              <a:rPr lang="en-US" sz="2400" u="sng" dirty="0"/>
              <a:t>funded</a:t>
            </a:r>
            <a:r>
              <a:rPr lang="en-US" sz="2400" dirty="0"/>
              <a:t> your project?</a:t>
            </a:r>
          </a:p>
          <a:p>
            <a:pPr lvl="1"/>
            <a:r>
              <a:rPr lang="en-US" sz="2400" dirty="0"/>
              <a:t>Did you receive any donations?</a:t>
            </a:r>
          </a:p>
          <a:p>
            <a:pPr lvl="1"/>
            <a:r>
              <a:rPr lang="en-US" sz="2400" dirty="0"/>
              <a:t>Is your research part of a larger project?</a:t>
            </a:r>
          </a:p>
          <a:p>
            <a:pPr lvl="1"/>
            <a:r>
              <a:rPr lang="en-US" sz="2400" dirty="0"/>
              <a:t>Did someone else do your data collection?  Analysis? Writing? Design?</a:t>
            </a:r>
          </a:p>
        </p:txBody>
      </p:sp>
      <p:sp>
        <p:nvSpPr>
          <p:cNvPr id="20483" name="Rectangle 8"/>
          <p:cNvSpPr>
            <a:spLocks noChangeArrowheads="1"/>
          </p:cNvSpPr>
          <p:nvPr/>
        </p:nvSpPr>
        <p:spPr bwMode="auto">
          <a:xfrm>
            <a:off x="8737600" y="5029200"/>
            <a:ext cx="3149600" cy="1676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0484" name="Rectangle 9"/>
          <p:cNvSpPr>
            <a:spLocks noChangeArrowheads="1"/>
          </p:cNvSpPr>
          <p:nvPr/>
        </p:nvSpPr>
        <p:spPr bwMode="auto">
          <a:xfrm>
            <a:off x="8798985" y="5084764"/>
            <a:ext cx="3026833" cy="168275"/>
          </a:xfrm>
          <a:prstGeom prst="rect">
            <a:avLst/>
          </a:prstGeom>
          <a:solidFill>
            <a:srgbClr val="3366CC"/>
          </a:solidFill>
          <a:ln w="9525">
            <a:solidFill>
              <a:schemeClr val="tx1"/>
            </a:solidFill>
            <a:miter lim="800000"/>
            <a:headEnd/>
            <a:tailEnd/>
          </a:ln>
        </p:spPr>
        <p:txBody>
          <a:bodyPr wrap="none" anchor="ctr"/>
          <a:lstStyle/>
          <a:p>
            <a:endParaRPr lang="en-US"/>
          </a:p>
        </p:txBody>
      </p:sp>
      <p:sp>
        <p:nvSpPr>
          <p:cNvPr id="20485" name="Rectangle 10"/>
          <p:cNvSpPr>
            <a:spLocks noChangeArrowheads="1"/>
          </p:cNvSpPr>
          <p:nvPr/>
        </p:nvSpPr>
        <p:spPr bwMode="auto">
          <a:xfrm>
            <a:off x="8798985" y="5308600"/>
            <a:ext cx="865716" cy="279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0486" name="Rectangle 11"/>
          <p:cNvSpPr>
            <a:spLocks noChangeArrowheads="1"/>
          </p:cNvSpPr>
          <p:nvPr/>
        </p:nvSpPr>
        <p:spPr bwMode="auto">
          <a:xfrm>
            <a:off x="8798985" y="5643564"/>
            <a:ext cx="865716" cy="10064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0487" name="Rectangle 12"/>
          <p:cNvSpPr>
            <a:spLocks noChangeArrowheads="1"/>
          </p:cNvSpPr>
          <p:nvPr/>
        </p:nvSpPr>
        <p:spPr bwMode="auto">
          <a:xfrm>
            <a:off x="9726085" y="5308600"/>
            <a:ext cx="1172633" cy="558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0488" name="Rectangle 13"/>
          <p:cNvSpPr>
            <a:spLocks noChangeArrowheads="1"/>
          </p:cNvSpPr>
          <p:nvPr/>
        </p:nvSpPr>
        <p:spPr bwMode="auto">
          <a:xfrm>
            <a:off x="9726085" y="5922964"/>
            <a:ext cx="1172633" cy="7270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0489" name="Rectangle 14"/>
          <p:cNvSpPr>
            <a:spLocks noChangeArrowheads="1"/>
          </p:cNvSpPr>
          <p:nvPr/>
        </p:nvSpPr>
        <p:spPr bwMode="auto">
          <a:xfrm>
            <a:off x="10960100" y="5308601"/>
            <a:ext cx="865717" cy="44767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0490" name="Rectangle 15"/>
          <p:cNvSpPr>
            <a:spLocks noChangeArrowheads="1"/>
          </p:cNvSpPr>
          <p:nvPr/>
        </p:nvSpPr>
        <p:spPr bwMode="auto">
          <a:xfrm>
            <a:off x="10960100" y="5811839"/>
            <a:ext cx="865717" cy="39052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0491" name="Rectangle 16"/>
          <p:cNvSpPr>
            <a:spLocks noChangeArrowheads="1"/>
          </p:cNvSpPr>
          <p:nvPr/>
        </p:nvSpPr>
        <p:spPr bwMode="auto">
          <a:xfrm>
            <a:off x="10960100" y="6257925"/>
            <a:ext cx="865717" cy="22383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0492" name="Rectangle 17"/>
          <p:cNvSpPr>
            <a:spLocks noChangeArrowheads="1"/>
          </p:cNvSpPr>
          <p:nvPr/>
        </p:nvSpPr>
        <p:spPr bwMode="auto">
          <a:xfrm>
            <a:off x="10960100" y="6537326"/>
            <a:ext cx="865717" cy="112713"/>
          </a:xfrm>
          <a:prstGeom prst="rect">
            <a:avLst/>
          </a:prstGeom>
          <a:solidFill>
            <a:srgbClr val="FFFF66"/>
          </a:solidFill>
          <a:ln w="9525">
            <a:solidFill>
              <a:schemeClr val="tx1"/>
            </a:solidFill>
            <a:miter lim="800000"/>
            <a:headEnd/>
            <a:tailEnd/>
          </a:ln>
        </p:spPr>
        <p:txBody>
          <a:bodyPr wrap="none" anchor="ctr"/>
          <a:lstStyle/>
          <a:p>
            <a:endParaRPr lang="en-US"/>
          </a:p>
        </p:txBody>
      </p:sp>
      <p:sp>
        <p:nvSpPr>
          <p:cNvPr id="235539" name="Rectangle 19"/>
          <p:cNvSpPr>
            <a:spLocks noChangeArrowheads="1"/>
          </p:cNvSpPr>
          <p:nvPr/>
        </p:nvSpPr>
        <p:spPr bwMode="auto">
          <a:xfrm>
            <a:off x="3454400" y="4572000"/>
            <a:ext cx="51816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eaLnBrk="1" hangingPunct="1">
              <a:spcBef>
                <a:spcPct val="20000"/>
              </a:spcBef>
              <a:defRPr/>
            </a:pPr>
            <a:r>
              <a:rPr lang="en-US" sz="2000" i="1" u="sng" dirty="0">
                <a:latin typeface="Trebuchet MS" charset="0"/>
                <a:ea typeface="Osaka" charset="0"/>
                <a:cs typeface="Osaka" charset="0"/>
              </a:rPr>
              <a:t>Formatting:</a:t>
            </a:r>
          </a:p>
          <a:p>
            <a:pPr marL="342900" indent="-342900" eaLnBrk="1" hangingPunct="1">
              <a:spcBef>
                <a:spcPct val="20000"/>
              </a:spcBef>
              <a:buSzPct val="50000"/>
              <a:buFont typeface="Wingdings" charset="0"/>
              <a:buChar char="v"/>
              <a:defRPr/>
            </a:pPr>
            <a:r>
              <a:rPr lang="en-US" sz="2000" i="1" dirty="0">
                <a:latin typeface="Trebuchet MS" charset="0"/>
                <a:ea typeface="Osaka" charset="0"/>
                <a:cs typeface="Osaka" charset="0"/>
              </a:rPr>
              <a:t>Lower right corner</a:t>
            </a:r>
          </a:p>
          <a:p>
            <a:pPr marL="342900" indent="-342900" eaLnBrk="1" hangingPunct="1">
              <a:spcBef>
                <a:spcPct val="20000"/>
              </a:spcBef>
              <a:buSzPct val="50000"/>
              <a:buFont typeface="Wingdings" charset="0"/>
              <a:buChar char="v"/>
              <a:defRPr/>
            </a:pPr>
            <a:r>
              <a:rPr lang="en-US" sz="2000" i="1" dirty="0">
                <a:latin typeface="Trebuchet MS" charset="0"/>
                <a:ea typeface="Osaka" charset="0"/>
                <a:cs typeface="Osaka" charset="0"/>
              </a:rPr>
              <a:t>Small, italicized font</a:t>
            </a:r>
          </a:p>
          <a:p>
            <a:pPr marL="342900" indent="-342900" eaLnBrk="1" hangingPunct="1">
              <a:spcBef>
                <a:spcPct val="20000"/>
              </a:spcBef>
              <a:buSzPct val="50000"/>
              <a:buFont typeface="Wingdings" charset="0"/>
              <a:buChar char="v"/>
              <a:defRPr/>
            </a:pPr>
            <a:r>
              <a:rPr lang="en-US" sz="2000" i="1" dirty="0">
                <a:latin typeface="Trebuchet MS" charset="0"/>
                <a:ea typeface="Osaka" charset="0"/>
                <a:cs typeface="Osaka" charset="0"/>
              </a:rPr>
              <a:t>Multiple, separated lines for multiple acknowledgements</a:t>
            </a:r>
          </a:p>
        </p:txBody>
      </p:sp>
    </p:spTree>
    <p:extLst>
      <p:ext uri="{BB962C8B-B14F-4D97-AF65-F5344CB8AC3E}">
        <p14:creationId xmlns:p14="http://schemas.microsoft.com/office/powerpoint/2010/main" val="19906292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274638"/>
            <a:ext cx="10160000" cy="2544762"/>
          </a:xfrm>
        </p:spPr>
        <p:txBody>
          <a:bodyPr/>
          <a:lstStyle/>
          <a:p>
            <a:r>
              <a:rPr lang="en-US" b="1" dirty="0"/>
              <a:t>Creating the Poster</a:t>
            </a:r>
          </a:p>
        </p:txBody>
      </p:sp>
      <p:sp>
        <p:nvSpPr>
          <p:cNvPr id="4" name="Content Placeholder 3"/>
          <p:cNvSpPr>
            <a:spLocks noGrp="1"/>
          </p:cNvSpPr>
          <p:nvPr>
            <p:ph idx="1"/>
          </p:nvPr>
        </p:nvSpPr>
        <p:spPr/>
        <p:txBody>
          <a:bodyPr/>
          <a:lstStyle/>
          <a:p>
            <a:endParaRPr lang="en-US" dirty="0"/>
          </a:p>
        </p:txBody>
      </p:sp>
    </p:spTree>
    <p:extLst>
      <p:ext uri="{BB962C8B-B14F-4D97-AF65-F5344CB8AC3E}">
        <p14:creationId xmlns:p14="http://schemas.microsoft.com/office/powerpoint/2010/main" val="18256773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t>Software</a:t>
            </a:r>
            <a:endParaRPr lang="en-US" dirty="0"/>
          </a:p>
        </p:txBody>
      </p:sp>
      <p:sp>
        <p:nvSpPr>
          <p:cNvPr id="38915" name="Rectangle 3"/>
          <p:cNvSpPr>
            <a:spLocks noGrp="1" noChangeArrowheads="1"/>
          </p:cNvSpPr>
          <p:nvPr>
            <p:ph idx="1"/>
          </p:nvPr>
        </p:nvSpPr>
        <p:spPr>
          <a:xfrm>
            <a:off x="838200" y="1426930"/>
            <a:ext cx="10515600" cy="4351338"/>
          </a:xfrm>
        </p:spPr>
        <p:txBody>
          <a:bodyPr>
            <a:noAutofit/>
          </a:bodyPr>
          <a:lstStyle/>
          <a:p>
            <a:r>
              <a:rPr lang="en-US" sz="2400" dirty="0"/>
              <a:t>Actual layout:</a:t>
            </a:r>
          </a:p>
          <a:p>
            <a:pPr lvl="1"/>
            <a:r>
              <a:rPr lang="en-US" sz="2000" dirty="0" err="1"/>
              <a:t>Powerpoint</a:t>
            </a:r>
            <a:r>
              <a:rPr lang="en-US" sz="2000" dirty="0"/>
              <a:t> (one big slide)</a:t>
            </a:r>
          </a:p>
          <a:p>
            <a:pPr lvl="1"/>
            <a:r>
              <a:rPr lang="en-US" sz="2000" dirty="0" err="1"/>
              <a:t>Pagemaker</a:t>
            </a:r>
            <a:endParaRPr lang="en-US" sz="2000" dirty="0"/>
          </a:p>
          <a:p>
            <a:pPr lvl="1"/>
            <a:r>
              <a:rPr lang="en-US" sz="2000" dirty="0"/>
              <a:t>Canvas</a:t>
            </a:r>
          </a:p>
          <a:p>
            <a:pPr lvl="1"/>
            <a:r>
              <a:rPr lang="en-US" sz="2000" dirty="0"/>
              <a:t>Illustrator</a:t>
            </a:r>
          </a:p>
          <a:p>
            <a:pPr lvl="1"/>
            <a:r>
              <a:rPr lang="en-US" sz="2000" dirty="0"/>
              <a:t>Quark</a:t>
            </a:r>
          </a:p>
          <a:p>
            <a:pPr lvl="1"/>
            <a:r>
              <a:rPr lang="en-US" sz="2000" dirty="0" err="1"/>
              <a:t>Postergenius</a:t>
            </a:r>
            <a:r>
              <a:rPr lang="en-US" sz="2000" dirty="0"/>
              <a:t>: </a:t>
            </a:r>
            <a:r>
              <a:rPr lang="en-US" sz="2000" dirty="0">
                <a:hlinkClick r:id="rId3"/>
              </a:rPr>
              <a:t>http://www.postergenius.com/cms/index.php</a:t>
            </a:r>
            <a:r>
              <a:rPr lang="en-US" sz="2000" dirty="0"/>
              <a:t> </a:t>
            </a:r>
          </a:p>
          <a:p>
            <a:pPr lvl="1"/>
            <a:r>
              <a:rPr lang="en-US" sz="2000" dirty="0"/>
              <a:t>Ask print shop about requirements</a:t>
            </a:r>
          </a:p>
          <a:p>
            <a:pPr lvl="1"/>
            <a:r>
              <a:rPr lang="en-US" sz="2000" dirty="0"/>
              <a:t>Print directly or convert to pdf</a:t>
            </a:r>
          </a:p>
          <a:p>
            <a:r>
              <a:rPr lang="en-US" sz="2400" dirty="0"/>
              <a:t>Images (compatible with printer driver!)</a:t>
            </a:r>
          </a:p>
          <a:p>
            <a:pPr lvl="1"/>
            <a:r>
              <a:rPr lang="en-US" sz="2000" dirty="0"/>
              <a:t>Photoshop</a:t>
            </a:r>
          </a:p>
          <a:p>
            <a:pPr lvl="1"/>
            <a:r>
              <a:rPr lang="en-US" sz="2000" dirty="0"/>
              <a:t>MS Photo editor</a:t>
            </a:r>
          </a:p>
          <a:p>
            <a:r>
              <a:rPr lang="en-US" sz="2400" dirty="0"/>
              <a:t>Tables/Graphs</a:t>
            </a:r>
          </a:p>
          <a:p>
            <a:pPr lvl="1"/>
            <a:r>
              <a:rPr lang="en-US" sz="2000" dirty="0"/>
              <a:t>Directly from Office (Excel or Word)</a:t>
            </a:r>
          </a:p>
        </p:txBody>
      </p:sp>
    </p:spTree>
    <p:extLst>
      <p:ext uri="{BB962C8B-B14F-4D97-AF65-F5344CB8AC3E}">
        <p14:creationId xmlns:p14="http://schemas.microsoft.com/office/powerpoint/2010/main" val="63883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91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91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91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91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91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91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91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91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8915">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8915">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8915">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8915">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891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a:t>Look at Sample Posters and Evaluate…</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571536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pic>
        <p:nvPicPr>
          <p:cNvPr id="4" name="Content Placeholder 3" descr="NebulizedTobramycin.jpg"/>
          <p:cNvPicPr>
            <a:picLocks noGrp="1" noChangeAspect="1"/>
          </p:cNvPicPr>
          <p:nvPr>
            <p:ph idx="1"/>
          </p:nvPr>
        </p:nvPicPr>
        <p:blipFill>
          <a:blip r:embed="rId3" cstate="print"/>
          <a:stretch>
            <a:fillRect/>
          </a:stretch>
        </p:blipFill>
        <p:spPr>
          <a:xfrm>
            <a:off x="101600" y="86193"/>
            <a:ext cx="11684000" cy="6771807"/>
          </a:xfrm>
        </p:spPr>
      </p:pic>
    </p:spTree>
    <p:extLst>
      <p:ext uri="{BB962C8B-B14F-4D97-AF65-F5344CB8AC3E}">
        <p14:creationId xmlns:p14="http://schemas.microsoft.com/office/powerpoint/2010/main" val="1718552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Analyze</a:t>
            </a:r>
            <a:endParaRPr lang="en-US" dirty="0"/>
          </a:p>
        </p:txBody>
      </p:sp>
      <p:pic>
        <p:nvPicPr>
          <p:cNvPr id="6" name="Content Placeholder 5" descr="2397163232_0081cbd942_z.jpg"/>
          <p:cNvPicPr>
            <a:picLocks noGrp="1" noChangeAspect="1"/>
          </p:cNvPicPr>
          <p:nvPr>
            <p:ph idx="1"/>
          </p:nvPr>
        </p:nvPicPr>
        <p:blipFill>
          <a:blip r:embed="rId3" cstate="print"/>
          <a:stretch>
            <a:fillRect/>
          </a:stretch>
        </p:blipFill>
        <p:spPr>
          <a:xfrm>
            <a:off x="0" y="300038"/>
            <a:ext cx="12192000" cy="6557963"/>
          </a:xfrm>
        </p:spPr>
      </p:pic>
    </p:spTree>
    <p:extLst>
      <p:ext uri="{BB962C8B-B14F-4D97-AF65-F5344CB8AC3E}">
        <p14:creationId xmlns:p14="http://schemas.microsoft.com/office/powerpoint/2010/main" val="36367459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92250" y="643547"/>
            <a:ext cx="10160000" cy="1143000"/>
          </a:xfrm>
        </p:spPr>
        <p:txBody>
          <a:bodyPr/>
          <a:lstStyle/>
          <a:p>
            <a:r>
              <a:rPr lang="en-US" dirty="0"/>
              <a:t>Mechanics of Presentation</a:t>
            </a:r>
          </a:p>
        </p:txBody>
      </p:sp>
      <p:pic>
        <p:nvPicPr>
          <p:cNvPr id="5" name="Picture 3" descr="wagner_poster.jpg"/>
          <p:cNvPicPr>
            <a:picLocks noChangeAspect="1"/>
          </p:cNvPicPr>
          <p:nvPr/>
        </p:nvPicPr>
        <p:blipFill>
          <a:blip r:embed="rId3" cstate="print"/>
          <a:stretch>
            <a:fillRect/>
          </a:stretch>
        </p:blipFill>
        <p:spPr>
          <a:xfrm>
            <a:off x="4610039" y="2201494"/>
            <a:ext cx="7126445" cy="4008625"/>
          </a:xfrm>
          <a:prstGeom prst="rect">
            <a:avLst/>
          </a:prstGeom>
        </p:spPr>
      </p:pic>
    </p:spTree>
    <p:extLst>
      <p:ext uri="{BB962C8B-B14F-4D97-AF65-F5344CB8AC3E}">
        <p14:creationId xmlns:p14="http://schemas.microsoft.com/office/powerpoint/2010/main" val="14204972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dirty="0"/>
              <a:t>Practice</a:t>
            </a:r>
          </a:p>
        </p:txBody>
      </p:sp>
      <p:sp>
        <p:nvSpPr>
          <p:cNvPr id="52227" name="Rectangle 3"/>
          <p:cNvSpPr>
            <a:spLocks noGrp="1" noChangeArrowheads="1"/>
          </p:cNvSpPr>
          <p:nvPr>
            <p:ph idx="1"/>
          </p:nvPr>
        </p:nvSpPr>
        <p:spPr>
          <a:xfrm>
            <a:off x="838200" y="1530936"/>
            <a:ext cx="10515600" cy="4351338"/>
          </a:xfrm>
        </p:spPr>
        <p:txBody>
          <a:bodyPr>
            <a:noAutofit/>
          </a:bodyPr>
          <a:lstStyle/>
          <a:p>
            <a:r>
              <a:rPr lang="en-US" sz="3200" dirty="0"/>
              <a:t>MAKE SURE TO PRACTICE!</a:t>
            </a:r>
          </a:p>
          <a:p>
            <a:r>
              <a:rPr lang="en-US" sz="3200" dirty="0"/>
              <a:t>Develop 2 and 5 minute presentation</a:t>
            </a:r>
          </a:p>
          <a:p>
            <a:r>
              <a:rPr lang="en-US" altLang="en-US" sz="3200" dirty="0"/>
              <a:t>Use the poster as a visual aid</a:t>
            </a:r>
          </a:p>
          <a:p>
            <a:pPr lvl="1"/>
            <a:r>
              <a:rPr lang="en-US" altLang="en-US" sz="2800" dirty="0"/>
              <a:t>Refrain from reading it</a:t>
            </a:r>
          </a:p>
          <a:p>
            <a:r>
              <a:rPr lang="en-US" sz="3200" dirty="0"/>
              <a:t>Know first sentence</a:t>
            </a:r>
          </a:p>
          <a:p>
            <a:r>
              <a:rPr lang="en-US" sz="3200" dirty="0"/>
              <a:t>What to say for each figure</a:t>
            </a:r>
          </a:p>
          <a:p>
            <a:r>
              <a:rPr lang="en-US" sz="3200" dirty="0"/>
              <a:t>Transitions between figures</a:t>
            </a:r>
          </a:p>
          <a:p>
            <a:r>
              <a:rPr lang="en-US" sz="3200" dirty="0"/>
              <a:t>What to point at for each figure</a:t>
            </a:r>
          </a:p>
          <a:p>
            <a:endParaRPr lang="en-US" sz="3200" dirty="0"/>
          </a:p>
        </p:txBody>
      </p:sp>
    </p:spTree>
    <p:extLst>
      <p:ext uri="{BB962C8B-B14F-4D97-AF65-F5344CB8AC3E}">
        <p14:creationId xmlns:p14="http://schemas.microsoft.com/office/powerpoint/2010/main" val="25403760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2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22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22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2227">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2227">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2227">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222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Practice</a:t>
            </a:r>
            <a:endParaRPr lang="en-US" dirty="0"/>
          </a:p>
        </p:txBody>
      </p:sp>
      <p:sp>
        <p:nvSpPr>
          <p:cNvPr id="52226" name="Content Placeholder 1"/>
          <p:cNvSpPr>
            <a:spLocks noGrp="1"/>
          </p:cNvSpPr>
          <p:nvPr>
            <p:ph idx="1"/>
          </p:nvPr>
        </p:nvSpPr>
        <p:spPr>
          <a:xfrm>
            <a:off x="838200" y="1556939"/>
            <a:ext cx="10515600" cy="4351338"/>
          </a:xfrm>
        </p:spPr>
        <p:txBody>
          <a:bodyPr>
            <a:noAutofit/>
          </a:bodyPr>
          <a:lstStyle/>
          <a:p>
            <a:r>
              <a:rPr lang="en-US" dirty="0"/>
              <a:t>Practice with group mates and laymen</a:t>
            </a:r>
          </a:p>
          <a:p>
            <a:r>
              <a:rPr lang="en-US" dirty="0"/>
              <a:t>Run through ENTIRE poster</a:t>
            </a:r>
          </a:p>
          <a:p>
            <a:r>
              <a:rPr lang="en-US" dirty="0"/>
              <a:t>Be friendly</a:t>
            </a:r>
          </a:p>
          <a:p>
            <a:r>
              <a:rPr lang="en-US" dirty="0"/>
              <a:t>Don’t sound like you’ve memorized</a:t>
            </a:r>
          </a:p>
          <a:p>
            <a:r>
              <a:rPr lang="en-US" dirty="0"/>
              <a:t>Be excited about your work</a:t>
            </a:r>
          </a:p>
          <a:p>
            <a:r>
              <a:rPr lang="en-US" dirty="0"/>
              <a:t>Remember to refer to your poster!</a:t>
            </a:r>
          </a:p>
          <a:p>
            <a:r>
              <a:rPr lang="en-US" dirty="0">
                <a:solidFill>
                  <a:srgbClr val="FF0000"/>
                </a:solidFill>
              </a:rPr>
              <a:t>Be flexible </a:t>
            </a:r>
            <a:r>
              <a:rPr lang="en-US" dirty="0"/>
              <a:t>- they may interrupt with questions</a:t>
            </a:r>
          </a:p>
          <a:p>
            <a:r>
              <a:rPr lang="en-US" dirty="0"/>
              <a:t>Pause long enough for them look at figure</a:t>
            </a:r>
          </a:p>
          <a:p>
            <a:r>
              <a:rPr lang="en-US" dirty="0"/>
              <a:t>Know what questions may be asked….</a:t>
            </a:r>
          </a:p>
          <a:p>
            <a:pPr lvl="1"/>
            <a:r>
              <a:rPr lang="en-US" dirty="0"/>
              <a:t>Can practice them</a:t>
            </a:r>
          </a:p>
          <a:p>
            <a:endParaRPr lang="en-US" dirty="0"/>
          </a:p>
        </p:txBody>
      </p:sp>
    </p:spTree>
    <p:extLst>
      <p:ext uri="{BB962C8B-B14F-4D97-AF65-F5344CB8AC3E}">
        <p14:creationId xmlns:p14="http://schemas.microsoft.com/office/powerpoint/2010/main" val="1752483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2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22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22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222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222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222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2226">
                                            <p:txEl>
                                              <p:pRg st="8" end="8"/>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222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565606"/>
            <a:ext cx="10515600" cy="4351338"/>
          </a:xfrm>
        </p:spPr>
        <p:txBody>
          <a:bodyPr>
            <a:noAutofit/>
          </a:bodyPr>
          <a:lstStyle/>
          <a:p>
            <a:r>
              <a:rPr lang="en-US" sz="3600" dirty="0"/>
              <a:t>Be relaxed</a:t>
            </a:r>
          </a:p>
          <a:p>
            <a:r>
              <a:rPr lang="en-US" sz="3600" dirty="0"/>
              <a:t>Avoid excess movement</a:t>
            </a:r>
          </a:p>
          <a:p>
            <a:pPr lvl="1"/>
            <a:r>
              <a:rPr lang="en-US" sz="3200" dirty="0"/>
              <a:t>Don’t fidget/twist fingers</a:t>
            </a:r>
          </a:p>
          <a:p>
            <a:pPr lvl="1"/>
            <a:r>
              <a:rPr lang="en-US" sz="3200" dirty="0"/>
              <a:t>Don’t fiddle with rings, etc.</a:t>
            </a:r>
          </a:p>
          <a:p>
            <a:r>
              <a:rPr lang="en-US" sz="3600" dirty="0"/>
              <a:t>Face audience (glance at poster)</a:t>
            </a:r>
          </a:p>
          <a:p>
            <a:r>
              <a:rPr lang="en-US" sz="3600" dirty="0"/>
              <a:t>Stand on both feet</a:t>
            </a:r>
          </a:p>
          <a:p>
            <a:r>
              <a:rPr lang="en-US" sz="3600" dirty="0"/>
              <a:t>Don’t lean</a:t>
            </a:r>
          </a:p>
          <a:p>
            <a:r>
              <a:rPr lang="en-US" sz="3600" dirty="0"/>
              <a:t>Arms relaxed with movement</a:t>
            </a:r>
          </a:p>
          <a:p>
            <a:pPr lvl="1"/>
            <a:r>
              <a:rPr lang="en-US" sz="3200" dirty="0"/>
              <a:t>Avoid crossed (closed off)</a:t>
            </a:r>
          </a:p>
          <a:p>
            <a:endParaRPr lang="en-US" sz="3600" dirty="0"/>
          </a:p>
          <a:p>
            <a:endParaRPr lang="en-US" sz="3600" dirty="0"/>
          </a:p>
        </p:txBody>
      </p:sp>
      <p:sp>
        <p:nvSpPr>
          <p:cNvPr id="3" name="Title 2"/>
          <p:cNvSpPr>
            <a:spLocks noGrp="1"/>
          </p:cNvSpPr>
          <p:nvPr>
            <p:ph type="title"/>
          </p:nvPr>
        </p:nvSpPr>
        <p:spPr/>
        <p:txBody>
          <a:bodyPr/>
          <a:lstStyle/>
          <a:p>
            <a:r>
              <a:rPr lang="en-US" dirty="0"/>
              <a:t>Posture/Movement</a:t>
            </a:r>
          </a:p>
        </p:txBody>
      </p:sp>
    </p:spTree>
    <p:extLst>
      <p:ext uri="{BB962C8B-B14F-4D97-AF65-F5344CB8AC3E}">
        <p14:creationId xmlns:p14="http://schemas.microsoft.com/office/powerpoint/2010/main" val="1239449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 calcmode="lin" valueType="num">
                                      <p:cBhvr additive="base">
                                        <p:cTn id="2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 calcmode="lin" valueType="num">
                                      <p:cBhvr additive="base">
                                        <p:cTn id="2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anim calcmode="lin" valueType="num">
                                      <p:cBhvr additive="base">
                                        <p:cTn id="3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
                                            <p:txEl>
                                              <p:pRg st="6" end="6"/>
                                            </p:txEl>
                                          </p:spTgt>
                                        </p:tgtEl>
                                        <p:attrNameLst>
                                          <p:attrName>style.visibility</p:attrName>
                                        </p:attrNameLst>
                                      </p:cBhvr>
                                      <p:to>
                                        <p:strVal val="visible"/>
                                      </p:to>
                                    </p:set>
                                    <p:anim calcmode="lin" valueType="num">
                                      <p:cBhvr additive="base">
                                        <p:cTn id="39"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
                                            <p:txEl>
                                              <p:pRg st="7" end="7"/>
                                            </p:txEl>
                                          </p:spTgt>
                                        </p:tgtEl>
                                        <p:attrNameLst>
                                          <p:attrName>style.visibility</p:attrName>
                                        </p:attrNameLst>
                                      </p:cBhvr>
                                      <p:to>
                                        <p:strVal val="visible"/>
                                      </p:to>
                                    </p:set>
                                    <p:anim calcmode="lin" valueType="num">
                                      <p:cBhvr additive="base">
                                        <p:cTn id="45"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
                                            <p:txEl>
                                              <p:pRg st="7" end="7"/>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
                                            <p:txEl>
                                              <p:pRg st="8" end="8"/>
                                            </p:txEl>
                                          </p:spTgt>
                                        </p:tgtEl>
                                        <p:attrNameLst>
                                          <p:attrName>style.visibility</p:attrName>
                                        </p:attrNameLst>
                                      </p:cBhvr>
                                      <p:to>
                                        <p:strVal val="visible"/>
                                      </p:to>
                                    </p:set>
                                    <p:anim calcmode="lin" valueType="num">
                                      <p:cBhvr additive="base">
                                        <p:cTn id="49"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7710929" y="2537476"/>
            <a:ext cx="5066114" cy="2727907"/>
          </a:xfrm>
          <a:prstGeom prst="rect">
            <a:avLst/>
          </a:prstGeom>
        </p:spPr>
      </p:pic>
      <p:sp>
        <p:nvSpPr>
          <p:cNvPr id="2" name="Title 1"/>
          <p:cNvSpPr>
            <a:spLocks noGrp="1"/>
          </p:cNvSpPr>
          <p:nvPr>
            <p:ph type="title"/>
          </p:nvPr>
        </p:nvSpPr>
        <p:spPr/>
        <p:txBody>
          <a:bodyPr/>
          <a:lstStyle/>
          <a:p>
            <a:r>
              <a:rPr lang="en-US" dirty="0"/>
              <a:t>Positioning		</a:t>
            </a:r>
          </a:p>
        </p:txBody>
      </p:sp>
      <p:sp>
        <p:nvSpPr>
          <p:cNvPr id="3" name="Content Placeholder 2"/>
          <p:cNvSpPr>
            <a:spLocks noGrp="1"/>
          </p:cNvSpPr>
          <p:nvPr>
            <p:ph idx="1"/>
          </p:nvPr>
        </p:nvSpPr>
        <p:spPr>
          <a:xfrm>
            <a:off x="609600" y="1798109"/>
            <a:ext cx="10160000" cy="3124200"/>
          </a:xfrm>
        </p:spPr>
        <p:txBody>
          <a:bodyPr>
            <a:noAutofit/>
          </a:bodyPr>
          <a:lstStyle/>
          <a:p>
            <a:r>
              <a:rPr lang="en-US" sz="4000" dirty="0"/>
              <a:t>Recommended – on side where poster begins. </a:t>
            </a:r>
          </a:p>
          <a:p>
            <a:r>
              <a:rPr lang="en-US" sz="4000" dirty="0"/>
              <a:t>Gesture with left hand</a:t>
            </a:r>
          </a:p>
          <a:p>
            <a:r>
              <a:rPr lang="en-US" sz="4000" dirty="0"/>
              <a:t>Some want a pointer (physical)</a:t>
            </a:r>
          </a:p>
          <a:p>
            <a:pPr lvl="1"/>
            <a:r>
              <a:rPr lang="en-US" sz="3600" dirty="0"/>
              <a:t>Laser pointer?</a:t>
            </a:r>
          </a:p>
          <a:p>
            <a:pPr lvl="1"/>
            <a:r>
              <a:rPr lang="en-US" sz="3600" dirty="0"/>
              <a:t>Recommend hand</a:t>
            </a:r>
          </a:p>
          <a:p>
            <a:r>
              <a:rPr lang="en-US" sz="4000" dirty="0"/>
              <a:t>Don’t turn from audience, though…body open.</a:t>
            </a:r>
          </a:p>
        </p:txBody>
      </p:sp>
    </p:spTree>
    <p:extLst>
      <p:ext uri="{BB962C8B-B14F-4D97-AF65-F5344CB8AC3E}">
        <p14:creationId xmlns:p14="http://schemas.microsoft.com/office/powerpoint/2010/main" val="2691434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rrowheads="1"/>
          </p:cNvSpPr>
          <p:nvPr>
            <p:ph type="title"/>
          </p:nvPr>
        </p:nvSpPr>
        <p:spPr/>
        <p:txBody>
          <a:bodyPr/>
          <a:lstStyle/>
          <a:p>
            <a:r>
              <a:rPr lang="en-US" dirty="0"/>
              <a:t>First Contact</a:t>
            </a:r>
          </a:p>
        </p:txBody>
      </p:sp>
      <p:sp>
        <p:nvSpPr>
          <p:cNvPr id="30723" name="Rectangle 3"/>
          <p:cNvSpPr>
            <a:spLocks noGrp="1" noChangeArrowheads="1"/>
          </p:cNvSpPr>
          <p:nvPr>
            <p:ph idx="1"/>
          </p:nvPr>
        </p:nvSpPr>
        <p:spPr>
          <a:xfrm>
            <a:off x="838200" y="1470262"/>
            <a:ext cx="10515600" cy="4351338"/>
          </a:xfrm>
        </p:spPr>
        <p:txBody>
          <a:bodyPr>
            <a:noAutofit/>
          </a:bodyPr>
          <a:lstStyle/>
          <a:p>
            <a:r>
              <a:rPr lang="en-US" dirty="0"/>
              <a:t>Stand to the left of poster (where audience starts reading)</a:t>
            </a:r>
          </a:p>
          <a:p>
            <a:r>
              <a:rPr lang="en-US" dirty="0"/>
              <a:t>Take initiative</a:t>
            </a:r>
          </a:p>
          <a:p>
            <a:r>
              <a:rPr lang="en-US" dirty="0"/>
              <a:t>Smile, but stay near poster</a:t>
            </a:r>
          </a:p>
          <a:p>
            <a:r>
              <a:rPr lang="en-US" dirty="0"/>
              <a:t>If they come closer </a:t>
            </a:r>
          </a:p>
          <a:p>
            <a:pPr lvl="1"/>
            <a:r>
              <a:rPr lang="en-US" dirty="0"/>
              <a:t>Say, “Hello” and shake hands</a:t>
            </a:r>
          </a:p>
          <a:p>
            <a:pPr lvl="1"/>
            <a:r>
              <a:rPr lang="en-US" dirty="0"/>
              <a:t>Introduce yourself “My name is… I am a student at …”</a:t>
            </a:r>
          </a:p>
          <a:p>
            <a:pPr lvl="1"/>
            <a:r>
              <a:rPr lang="en-US" dirty="0"/>
              <a:t>Ask if they’d like “you to walk them through your poster”</a:t>
            </a:r>
          </a:p>
          <a:p>
            <a:pPr lvl="2"/>
            <a:r>
              <a:rPr lang="en-US" dirty="0"/>
              <a:t>YES?  Then GO! </a:t>
            </a:r>
            <a:r>
              <a:rPr lang="en-US" dirty="0">
                <a:sym typeface="Wingdings" pitchFamily="2" charset="2"/>
              </a:rPr>
              <a:t> “T</a:t>
            </a:r>
            <a:r>
              <a:rPr lang="en-US" dirty="0"/>
              <a:t>his is work that I performed this semester in the Professional Research English class.”</a:t>
            </a:r>
          </a:p>
          <a:p>
            <a:pPr lvl="1"/>
            <a:r>
              <a:rPr lang="en-US" dirty="0"/>
              <a:t>(Optional) Ask if they are familiar with this field of research</a:t>
            </a:r>
          </a:p>
          <a:p>
            <a:pPr lvl="2"/>
            <a:r>
              <a:rPr lang="en-US" dirty="0"/>
              <a:t>No- More introduction, careful with acronyms</a:t>
            </a:r>
          </a:p>
          <a:p>
            <a:pPr lvl="2"/>
            <a:r>
              <a:rPr lang="en-US" dirty="0"/>
              <a:t>Yes- Can go more quickly through intro</a:t>
            </a:r>
          </a:p>
          <a:p>
            <a:endParaRPr lang="en-US" dirty="0"/>
          </a:p>
          <a:p>
            <a:endParaRPr lang="en-US" dirty="0"/>
          </a:p>
          <a:p>
            <a:endParaRPr lang="en-US" dirty="0"/>
          </a:p>
        </p:txBody>
      </p:sp>
    </p:spTree>
    <p:extLst>
      <p:ext uri="{BB962C8B-B14F-4D97-AF65-F5344CB8AC3E}">
        <p14:creationId xmlns:p14="http://schemas.microsoft.com/office/powerpoint/2010/main" val="1172058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72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72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72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72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72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72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72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72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dirty="0"/>
              <a:t>Flow of a presentation </a:t>
            </a:r>
          </a:p>
        </p:txBody>
      </p:sp>
      <p:sp>
        <p:nvSpPr>
          <p:cNvPr id="51202" name="Rectangle 3"/>
          <p:cNvSpPr>
            <a:spLocks noGrp="1" noChangeArrowheads="1"/>
          </p:cNvSpPr>
          <p:nvPr>
            <p:ph idx="1"/>
          </p:nvPr>
        </p:nvSpPr>
        <p:spPr>
          <a:xfrm>
            <a:off x="838200" y="1569938"/>
            <a:ext cx="10515600" cy="4351338"/>
          </a:xfrm>
        </p:spPr>
        <p:txBody>
          <a:bodyPr>
            <a:noAutofit/>
          </a:bodyPr>
          <a:lstStyle/>
          <a:p>
            <a:r>
              <a:rPr lang="en-US" dirty="0"/>
              <a:t>Start with Intro that will catch them</a:t>
            </a:r>
          </a:p>
          <a:p>
            <a:pPr lvl="1"/>
            <a:r>
              <a:rPr lang="en-US" dirty="0"/>
              <a:t>No pointing if you have no figure!</a:t>
            </a:r>
          </a:p>
          <a:p>
            <a:r>
              <a:rPr lang="en-US" dirty="0"/>
              <a:t>Move to Methods</a:t>
            </a:r>
          </a:p>
          <a:p>
            <a:pPr lvl="1"/>
            <a:r>
              <a:rPr lang="en-US" dirty="0"/>
              <a:t>Briefly summarize</a:t>
            </a:r>
          </a:p>
          <a:p>
            <a:r>
              <a:rPr lang="en-US" dirty="0"/>
              <a:t>Move to Results</a:t>
            </a:r>
          </a:p>
          <a:p>
            <a:pPr lvl="1"/>
            <a:r>
              <a:rPr lang="en-US" dirty="0"/>
              <a:t>Longest section</a:t>
            </a:r>
          </a:p>
          <a:p>
            <a:pPr lvl="1"/>
            <a:r>
              <a:rPr lang="en-US" dirty="0"/>
              <a:t>Walk thru all figures</a:t>
            </a:r>
          </a:p>
          <a:p>
            <a:r>
              <a:rPr lang="en-US" dirty="0"/>
              <a:t>Transition to Conclusions</a:t>
            </a:r>
          </a:p>
          <a:p>
            <a:r>
              <a:rPr lang="en-US" dirty="0"/>
              <a:t>Say Conclusions</a:t>
            </a:r>
          </a:p>
          <a:p>
            <a:r>
              <a:rPr lang="en-US" dirty="0"/>
              <a:t>Acknowledgements (optional)</a:t>
            </a:r>
          </a:p>
          <a:p>
            <a:r>
              <a:rPr lang="en-US" dirty="0"/>
              <a:t>Any Questions?</a:t>
            </a:r>
          </a:p>
        </p:txBody>
      </p:sp>
    </p:spTree>
    <p:extLst>
      <p:ext uri="{BB962C8B-B14F-4D97-AF65-F5344CB8AC3E}">
        <p14:creationId xmlns:p14="http://schemas.microsoft.com/office/powerpoint/2010/main" val="36585834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0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120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20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20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202">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20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120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120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120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120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1"/>
          </p:nvPr>
        </p:nvSpPr>
        <p:spPr>
          <a:xfrm>
            <a:off x="1018117" y="1752600"/>
            <a:ext cx="10259483" cy="3736975"/>
          </a:xfrm>
        </p:spPr>
        <p:txBody>
          <a:bodyPr>
            <a:noAutofit/>
          </a:bodyPr>
          <a:lstStyle/>
          <a:p>
            <a:pPr eaLnBrk="1" hangingPunct="1">
              <a:defRPr/>
            </a:pPr>
            <a:r>
              <a:rPr lang="en-US" sz="4400" dirty="0"/>
              <a:t>Know opening sentence</a:t>
            </a:r>
          </a:p>
          <a:p>
            <a:pPr eaLnBrk="1" hangingPunct="1">
              <a:defRPr/>
            </a:pPr>
            <a:r>
              <a:rPr lang="en-US" sz="4400" dirty="0"/>
              <a:t>Between each Section</a:t>
            </a:r>
          </a:p>
          <a:p>
            <a:pPr eaLnBrk="1" hangingPunct="1">
              <a:defRPr/>
            </a:pPr>
            <a:r>
              <a:rPr lang="en-US" sz="4400" dirty="0"/>
              <a:t>Between internal and closing</a:t>
            </a:r>
          </a:p>
          <a:p>
            <a:pPr eaLnBrk="1" hangingPunct="1">
              <a:defRPr/>
            </a:pPr>
            <a:r>
              <a:rPr lang="en-US" sz="4400" dirty="0"/>
              <a:t>Develop strong closing</a:t>
            </a:r>
          </a:p>
          <a:p>
            <a:pPr lvl="1">
              <a:defRPr/>
            </a:pPr>
            <a:r>
              <a:rPr lang="en-US" sz="4000" dirty="0"/>
              <a:t>Can I tell you anything else about project?</a:t>
            </a:r>
          </a:p>
          <a:p>
            <a:pPr lvl="1">
              <a:defRPr/>
            </a:pPr>
            <a:r>
              <a:rPr lang="en-US" sz="4000" dirty="0"/>
              <a:t>I’ll be happy to answer questions at this time.</a:t>
            </a:r>
          </a:p>
          <a:p>
            <a:pPr eaLnBrk="1" hangingPunct="1">
              <a:defRPr/>
            </a:pPr>
            <a:endParaRPr lang="en-US" sz="4400" dirty="0"/>
          </a:p>
        </p:txBody>
      </p:sp>
      <p:sp>
        <p:nvSpPr>
          <p:cNvPr id="46082" name="Rectangle 2"/>
          <p:cNvSpPr>
            <a:spLocks noGrp="1" noChangeArrowheads="1"/>
          </p:cNvSpPr>
          <p:nvPr>
            <p:ph type="title"/>
          </p:nvPr>
        </p:nvSpPr>
        <p:spPr>
          <a:xfrm>
            <a:off x="812800" y="338139"/>
            <a:ext cx="10363200" cy="968375"/>
          </a:xfrm>
        </p:spPr>
        <p:txBody>
          <a:bodyPr/>
          <a:lstStyle/>
          <a:p>
            <a:pPr eaLnBrk="1" hangingPunct="1">
              <a:defRPr/>
            </a:pPr>
            <a:r>
              <a:rPr lang="en-US" b="0" dirty="0">
                <a:solidFill>
                  <a:schemeClr val="tx1"/>
                </a:solidFill>
              </a:rPr>
              <a:t>Have Strong Transitions</a:t>
            </a:r>
          </a:p>
        </p:txBody>
      </p:sp>
    </p:spTree>
    <p:extLst>
      <p:ext uri="{BB962C8B-B14F-4D97-AF65-F5344CB8AC3E}">
        <p14:creationId xmlns:p14="http://schemas.microsoft.com/office/powerpoint/2010/main" val="4322820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0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08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08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0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Set up conditions vary</a:t>
            </a:r>
            <a:endParaRPr lang="en-US" dirty="0"/>
          </a:p>
        </p:txBody>
      </p:sp>
      <p:sp>
        <p:nvSpPr>
          <p:cNvPr id="2" name="Content Placeholder 1"/>
          <p:cNvSpPr>
            <a:spLocks noGrp="1"/>
          </p:cNvSpPr>
          <p:nvPr>
            <p:ph idx="1"/>
          </p:nvPr>
        </p:nvSpPr>
        <p:spPr/>
        <p:txBody>
          <a:bodyPr/>
          <a:lstStyle/>
          <a:p>
            <a:r>
              <a:rPr lang="en-US"/>
              <a:t>May be hard to hear</a:t>
            </a:r>
          </a:p>
          <a:p>
            <a:r>
              <a:rPr lang="en-US"/>
              <a:t>Must speak up!!!</a:t>
            </a:r>
            <a:endParaRPr lang="en-US" dirty="0"/>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2805" y="3943350"/>
            <a:ext cx="5727700" cy="291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13539" y="1066800"/>
            <a:ext cx="5329296"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9669" y="2895600"/>
            <a:ext cx="4024217" cy="2263622"/>
          </a:xfrm>
          <a:prstGeom prst="rect">
            <a:avLst/>
          </a:prstGeom>
        </p:spPr>
      </p:pic>
      <p:sp>
        <p:nvSpPr>
          <p:cNvPr id="8" name="Rectangle 7"/>
          <p:cNvSpPr/>
          <p:nvPr/>
        </p:nvSpPr>
        <p:spPr>
          <a:xfrm>
            <a:off x="6258470" y="3565747"/>
            <a:ext cx="4222503" cy="461665"/>
          </a:xfrm>
          <a:prstGeom prst="rect">
            <a:avLst/>
          </a:prstGeom>
        </p:spPr>
        <p:txBody>
          <a:bodyPr wrap="none">
            <a:spAutoFit/>
          </a:bodyPr>
          <a:lstStyle/>
          <a:p>
            <a:r>
              <a:rPr lang="en-US" sz="1200" dirty="0"/>
              <a:t>PHOTOS BY COLIN PURRINGTON</a:t>
            </a:r>
          </a:p>
          <a:p>
            <a:r>
              <a:rPr lang="en-US" sz="1200" dirty="0">
                <a:hlinkClick r:id="rId6"/>
              </a:rPr>
              <a:t>http://www.swarthmore.edu/NatSci/cpurrin1/posteradvice.htm</a:t>
            </a:r>
            <a:r>
              <a:rPr lang="en-US" sz="1200" dirty="0"/>
              <a:t> </a:t>
            </a:r>
          </a:p>
        </p:txBody>
      </p:sp>
    </p:spTree>
    <p:extLst>
      <p:ext uri="{BB962C8B-B14F-4D97-AF65-F5344CB8AC3E}">
        <p14:creationId xmlns:p14="http://schemas.microsoft.com/office/powerpoint/2010/main" val="16290340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rrowheads="1"/>
          </p:cNvSpPr>
          <p:nvPr>
            <p:ph type="title"/>
          </p:nvPr>
        </p:nvSpPr>
        <p:spPr/>
        <p:txBody>
          <a:bodyPr/>
          <a:lstStyle/>
          <a:p>
            <a:r>
              <a:rPr lang="en-US"/>
              <a:t>Coming Home Again</a:t>
            </a:r>
          </a:p>
        </p:txBody>
      </p:sp>
      <p:sp>
        <p:nvSpPr>
          <p:cNvPr id="59395" name="Rectangle 3"/>
          <p:cNvSpPr>
            <a:spLocks noGrp="1" noChangeArrowheads="1"/>
          </p:cNvSpPr>
          <p:nvPr>
            <p:ph idx="1"/>
          </p:nvPr>
        </p:nvSpPr>
        <p:spPr/>
        <p:txBody>
          <a:bodyPr>
            <a:normAutofit/>
          </a:bodyPr>
          <a:lstStyle/>
          <a:p>
            <a:r>
              <a:rPr lang="en-US" sz="3600" dirty="0"/>
              <a:t>Keep promises that you’ve made</a:t>
            </a:r>
          </a:p>
          <a:p>
            <a:r>
              <a:rPr lang="en-US" sz="3600" dirty="0"/>
              <a:t>Drop emails to other researchers whom you’ve met</a:t>
            </a:r>
          </a:p>
          <a:p>
            <a:r>
              <a:rPr lang="en-US" sz="3600" dirty="0"/>
              <a:t>Hang poster outside of lab</a:t>
            </a:r>
          </a:p>
          <a:p>
            <a:endParaRPr lang="en-US" sz="3600" dirty="0"/>
          </a:p>
        </p:txBody>
      </p:sp>
    </p:spTree>
    <p:extLst>
      <p:ext uri="{BB962C8B-B14F-4D97-AF65-F5344CB8AC3E}">
        <p14:creationId xmlns:p14="http://schemas.microsoft.com/office/powerpoint/2010/main" val="1217744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3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3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Reference Materials</a:t>
            </a:r>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494446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Poster Templates…</a:t>
            </a:r>
            <a:endParaRPr lang="en-US" dirty="0"/>
          </a:p>
        </p:txBody>
      </p:sp>
      <p:sp>
        <p:nvSpPr>
          <p:cNvPr id="60418" name="Content Placeholder 1"/>
          <p:cNvSpPr>
            <a:spLocks noGrp="1"/>
          </p:cNvSpPr>
          <p:nvPr>
            <p:ph idx="1"/>
          </p:nvPr>
        </p:nvSpPr>
        <p:spPr/>
        <p:txBody>
          <a:bodyPr>
            <a:normAutofit/>
          </a:bodyPr>
          <a:lstStyle/>
          <a:p>
            <a:r>
              <a:rPr lang="en-US" sz="4000" dirty="0"/>
              <a:t>Sample posters and templates can be seen online</a:t>
            </a:r>
          </a:p>
          <a:p>
            <a:pPr lvl="1"/>
            <a:r>
              <a:rPr lang="en-US" sz="3600" dirty="0"/>
              <a:t> find templates that appeal to you </a:t>
            </a:r>
          </a:p>
        </p:txBody>
      </p:sp>
    </p:spTree>
    <p:extLst>
      <p:ext uri="{BB962C8B-B14F-4D97-AF65-F5344CB8AC3E}">
        <p14:creationId xmlns:p14="http://schemas.microsoft.com/office/powerpoint/2010/main" val="28091803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Grp="1" noChangeArrowheads="1"/>
          </p:cNvSpPr>
          <p:nvPr>
            <p:ph type="ctrTitle"/>
          </p:nvPr>
        </p:nvSpPr>
        <p:spPr/>
        <p:txBody>
          <a:bodyPr/>
          <a:lstStyle/>
          <a:p>
            <a:pPr eaLnBrk="1" hangingPunct="1"/>
            <a:r>
              <a:rPr lang="en-US" altLang="en-US"/>
              <a:t>Poster Templates</a:t>
            </a:r>
          </a:p>
        </p:txBody>
      </p:sp>
      <p:sp>
        <p:nvSpPr>
          <p:cNvPr id="20483" name="Rectangle 5"/>
          <p:cNvSpPr>
            <a:spLocks noGrp="1" noChangeArrowheads="1"/>
          </p:cNvSpPr>
          <p:nvPr>
            <p:ph type="subTitle" idx="1"/>
          </p:nvPr>
        </p:nvSpPr>
        <p:spPr/>
        <p:txBody>
          <a:bodyPr/>
          <a:lstStyle/>
          <a:p>
            <a:pPr eaLnBrk="1" hangingPunct="1"/>
            <a:endParaRPr lang="en-US" altLang="en-US"/>
          </a:p>
        </p:txBody>
      </p:sp>
    </p:spTree>
    <p:extLst>
      <p:ext uri="{BB962C8B-B14F-4D97-AF65-F5344CB8AC3E}">
        <p14:creationId xmlns:p14="http://schemas.microsoft.com/office/powerpoint/2010/main" val="39659445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0" y="0"/>
            <a:ext cx="12192000" cy="1117600"/>
          </a:xfrm>
          <a:prstGeom prst="rect">
            <a:avLst/>
          </a:prstGeom>
          <a:solidFill>
            <a:schemeClr val="bg1"/>
          </a:solidFill>
          <a:ln w="9525">
            <a:noFill/>
            <a:miter lim="800000"/>
            <a:headEnd/>
            <a:tailEnd/>
          </a:ln>
          <a:effectLst/>
        </p:spPr>
        <p:txBody>
          <a:bodyPr lIns="115560" tIns="231120" rIns="115560" bIns="115560"/>
          <a:lstStyle/>
          <a:p>
            <a:pPr algn="ctr" defTabSz="195263"/>
            <a:r>
              <a:rPr lang="en-GB" altLang="en-US" sz="2100" b="1" dirty="0">
                <a:solidFill>
                  <a:srgbClr val="006699"/>
                </a:solidFill>
              </a:rPr>
              <a:t>Poster title goes here, </a:t>
            </a:r>
            <a:r>
              <a:rPr lang="en-AU" altLang="en-US" sz="2100" b="1" dirty="0">
                <a:solidFill>
                  <a:srgbClr val="006699"/>
                </a:solidFill>
              </a:rPr>
              <a:t>containing strictly </a:t>
            </a:r>
            <a:br>
              <a:rPr lang="en-AU" altLang="en-US" sz="2100" b="1" dirty="0">
                <a:solidFill>
                  <a:srgbClr val="006699"/>
                </a:solidFill>
              </a:rPr>
            </a:br>
            <a:r>
              <a:rPr lang="en-AU" altLang="en-US" sz="2100" b="1" dirty="0">
                <a:solidFill>
                  <a:srgbClr val="006699"/>
                </a:solidFill>
              </a:rPr>
              <a:t>only the essential number of words...</a:t>
            </a:r>
          </a:p>
        </p:txBody>
      </p:sp>
      <p:pic>
        <p:nvPicPr>
          <p:cNvPr id="21507" name="Picture 3" descr="unsw"/>
          <p:cNvPicPr>
            <a:picLocks noChangeAspect="1" noChangeArrowheads="1"/>
          </p:cNvPicPr>
          <p:nvPr/>
        </p:nvPicPr>
        <p:blipFill>
          <a:blip r:embed="rId3" cstate="print"/>
          <a:srcRect/>
          <a:stretch>
            <a:fillRect/>
          </a:stretch>
        </p:blipFill>
        <p:spPr bwMode="auto">
          <a:xfrm>
            <a:off x="11349567" y="220663"/>
            <a:ext cx="524933" cy="676275"/>
          </a:xfrm>
          <a:prstGeom prst="rect">
            <a:avLst/>
          </a:prstGeom>
          <a:noFill/>
          <a:ln w="9525">
            <a:noFill/>
            <a:miter lim="800000"/>
            <a:headEnd/>
            <a:tailEnd/>
          </a:ln>
        </p:spPr>
      </p:pic>
      <p:sp>
        <p:nvSpPr>
          <p:cNvPr id="21508" name="Text Box 4"/>
          <p:cNvSpPr txBox="1">
            <a:spLocks noChangeArrowheads="1"/>
          </p:cNvSpPr>
          <p:nvPr/>
        </p:nvSpPr>
        <p:spPr bwMode="auto">
          <a:xfrm>
            <a:off x="317500" y="1190625"/>
            <a:ext cx="11557000" cy="554038"/>
          </a:xfrm>
          <a:prstGeom prst="rect">
            <a:avLst/>
          </a:prstGeom>
          <a:noFill/>
          <a:ln w="9525">
            <a:noFill/>
            <a:miter lim="800000"/>
            <a:headEnd/>
            <a:tailEnd/>
          </a:ln>
          <a:effectLst/>
        </p:spPr>
        <p:txBody>
          <a:bodyPr lIns="77040" tIns="77040" rIns="77040" bIns="77040"/>
          <a:lstStyle/>
          <a:p>
            <a:pPr algn="ctr" defTabSz="195263">
              <a:spcBef>
                <a:spcPct val="20000"/>
              </a:spcBef>
            </a:pPr>
            <a:r>
              <a:rPr lang="en-GB" altLang="en-US" sz="1200" b="1"/>
              <a:t>Author’s Name/s Goes Here, Author’s Name/s Goes Here, Author’s Name/s Goes Here</a:t>
            </a:r>
          </a:p>
          <a:p>
            <a:pPr algn="ctr" defTabSz="195263">
              <a:spcBef>
                <a:spcPct val="20000"/>
              </a:spcBef>
            </a:pPr>
            <a:r>
              <a:rPr lang="en-GB" altLang="en-US" sz="1100"/>
              <a:t>Address/es Goes Here, Address/es Goes Here, Address/es Goes Here</a:t>
            </a:r>
          </a:p>
        </p:txBody>
      </p:sp>
      <p:pic>
        <p:nvPicPr>
          <p:cNvPr id="21509" name="Picture 5" descr="powh"/>
          <p:cNvPicPr>
            <a:picLocks noChangeAspect="1" noChangeArrowheads="1"/>
          </p:cNvPicPr>
          <p:nvPr/>
        </p:nvPicPr>
        <p:blipFill>
          <a:blip r:embed="rId4" cstate="print"/>
          <a:srcRect/>
          <a:stretch>
            <a:fillRect/>
          </a:stretch>
        </p:blipFill>
        <p:spPr bwMode="auto">
          <a:xfrm>
            <a:off x="317501" y="239713"/>
            <a:ext cx="757767" cy="609600"/>
          </a:xfrm>
          <a:prstGeom prst="rect">
            <a:avLst/>
          </a:prstGeom>
          <a:noFill/>
          <a:ln w="9525">
            <a:noFill/>
            <a:miter lim="800000"/>
            <a:headEnd/>
            <a:tailEnd/>
          </a:ln>
        </p:spPr>
      </p:pic>
      <p:sp>
        <p:nvSpPr>
          <p:cNvPr id="21510" name="Rectangle 6"/>
          <p:cNvSpPr>
            <a:spLocks noChangeArrowheads="1"/>
          </p:cNvSpPr>
          <p:nvPr/>
        </p:nvSpPr>
        <p:spPr bwMode="auto">
          <a:xfrm>
            <a:off x="0" y="1096963"/>
            <a:ext cx="12192000" cy="50800"/>
          </a:xfrm>
          <a:prstGeom prst="rect">
            <a:avLst/>
          </a:prstGeom>
          <a:gradFill rotWithShape="0">
            <a:gsLst>
              <a:gs pos="0">
                <a:srgbClr val="CC3300"/>
              </a:gs>
              <a:gs pos="50000">
                <a:srgbClr val="FF9900"/>
              </a:gs>
              <a:gs pos="100000">
                <a:srgbClr val="CC3300"/>
              </a:gs>
            </a:gsLst>
            <a:lin ang="0" scaled="1"/>
          </a:gradFill>
          <a:ln w="9525">
            <a:noFill/>
            <a:miter lim="800000"/>
            <a:headEnd/>
            <a:tailEnd/>
          </a:ln>
          <a:effectLst/>
        </p:spPr>
        <p:txBody>
          <a:bodyPr wrap="none" anchor="ctr"/>
          <a:lstStyle/>
          <a:p>
            <a:pPr eaLnBrk="1" hangingPunct="1"/>
            <a:endParaRPr lang="en-US"/>
          </a:p>
        </p:txBody>
      </p:sp>
      <p:sp>
        <p:nvSpPr>
          <p:cNvPr id="21511" name="Rectangle 7"/>
          <p:cNvSpPr>
            <a:spLocks noChangeArrowheads="1"/>
          </p:cNvSpPr>
          <p:nvPr/>
        </p:nvSpPr>
        <p:spPr bwMode="auto">
          <a:xfrm>
            <a:off x="0" y="0"/>
            <a:ext cx="12192000" cy="6858000"/>
          </a:xfrm>
          <a:prstGeom prst="rect">
            <a:avLst/>
          </a:prstGeom>
          <a:noFill/>
          <a:ln w="25400">
            <a:solidFill>
              <a:schemeClr val="tx1"/>
            </a:solidFill>
            <a:miter lim="800000"/>
            <a:headEnd/>
            <a:tailEnd/>
          </a:ln>
          <a:effectLst/>
        </p:spPr>
        <p:txBody>
          <a:bodyPr wrap="none" anchor="ctr"/>
          <a:lstStyle/>
          <a:p>
            <a:pPr eaLnBrk="1" hangingPunct="1"/>
            <a:endParaRPr lang="en-US"/>
          </a:p>
        </p:txBody>
      </p:sp>
      <p:sp>
        <p:nvSpPr>
          <p:cNvPr id="21512" name="Rectangle 8"/>
          <p:cNvSpPr>
            <a:spLocks noChangeArrowheads="1"/>
          </p:cNvSpPr>
          <p:nvPr/>
        </p:nvSpPr>
        <p:spPr bwMode="auto">
          <a:xfrm>
            <a:off x="9144001" y="5961064"/>
            <a:ext cx="2730500" cy="642937"/>
          </a:xfrm>
          <a:prstGeom prst="rect">
            <a:avLst/>
          </a:prstGeom>
          <a:solidFill>
            <a:schemeClr val="bg1"/>
          </a:solidFill>
          <a:ln w="9525">
            <a:noFill/>
            <a:miter lim="800000"/>
            <a:headEnd/>
            <a:tailEnd/>
          </a:ln>
          <a:effectLst/>
        </p:spPr>
        <p:txBody>
          <a:bodyPr lIns="77040" tIns="77040" rIns="77040" bIns="77040"/>
          <a:lstStyle/>
          <a:p>
            <a:pPr defTabSz="195263">
              <a:spcBef>
                <a:spcPct val="50000"/>
              </a:spcBef>
            </a:pPr>
            <a:r>
              <a:rPr lang="en-GB" altLang="en-US" sz="900" b="1">
                <a:solidFill>
                  <a:srgbClr val="006699"/>
                </a:solidFill>
              </a:rPr>
              <a:t>Acknowledgements</a:t>
            </a:r>
          </a:p>
          <a:p>
            <a:pPr defTabSz="195263">
              <a:spcBef>
                <a:spcPct val="50000"/>
              </a:spcBef>
            </a:pPr>
            <a:r>
              <a:rPr lang="en-AU" altLang="en-US" sz="600"/>
              <a:t>Just highlight this text and replace with your own text. Replace this with your text. </a:t>
            </a:r>
            <a:endParaRPr lang="en-US" altLang="en-US" sz="900" b="1">
              <a:solidFill>
                <a:srgbClr val="CC3300"/>
              </a:solidFill>
            </a:endParaRPr>
          </a:p>
        </p:txBody>
      </p:sp>
      <p:sp>
        <p:nvSpPr>
          <p:cNvPr id="21513" name="Rectangle 9"/>
          <p:cNvSpPr>
            <a:spLocks noChangeArrowheads="1"/>
          </p:cNvSpPr>
          <p:nvPr/>
        </p:nvSpPr>
        <p:spPr bwMode="auto">
          <a:xfrm>
            <a:off x="9144001" y="4132264"/>
            <a:ext cx="2730500" cy="1641475"/>
          </a:xfrm>
          <a:prstGeom prst="rect">
            <a:avLst/>
          </a:prstGeom>
          <a:solidFill>
            <a:schemeClr val="bg1"/>
          </a:solidFill>
          <a:ln w="9525">
            <a:noFill/>
            <a:miter lim="800000"/>
            <a:headEnd/>
            <a:tailEnd/>
          </a:ln>
          <a:effectLst/>
        </p:spPr>
        <p:txBody>
          <a:bodyPr lIns="77040" tIns="77040" rIns="77040" bIns="77040"/>
          <a:lstStyle/>
          <a:p>
            <a:pPr defTabSz="195263">
              <a:spcBef>
                <a:spcPct val="50000"/>
              </a:spcBef>
            </a:pPr>
            <a:r>
              <a:rPr lang="en-GB" altLang="en-US" sz="900" b="1" dirty="0">
                <a:solidFill>
                  <a:srgbClr val="006699"/>
                </a:solidFill>
              </a:rPr>
              <a:t>Conclusion</a:t>
            </a:r>
          </a:p>
          <a:p>
            <a:pPr defTabSz="195263">
              <a:spcBef>
                <a:spcPct val="50000"/>
              </a:spcBef>
            </a:pPr>
            <a:r>
              <a:rPr lang="en-AU" altLang="en-US" sz="600" dirty="0"/>
              <a:t>For more information on: </a:t>
            </a:r>
          </a:p>
          <a:p>
            <a:pPr defTabSz="195263">
              <a:spcBef>
                <a:spcPct val="50000"/>
              </a:spcBef>
            </a:pPr>
            <a:r>
              <a:rPr lang="en-AU" altLang="en-US" sz="600" dirty="0"/>
              <a:t>Poster Design, Scanning and Digital Photography, </a:t>
            </a:r>
            <a:br>
              <a:rPr lang="en-AU" altLang="en-US" sz="600" dirty="0"/>
            </a:br>
            <a:r>
              <a:rPr lang="en-AU" altLang="en-US" sz="600" dirty="0"/>
              <a:t>and Image / file size.</a:t>
            </a:r>
          </a:p>
          <a:p>
            <a:pPr defTabSz="195263">
              <a:spcBef>
                <a:spcPct val="50000"/>
              </a:spcBef>
            </a:pPr>
            <a:endParaRPr lang="en-AU" altLang="en-US" sz="600" dirty="0"/>
          </a:p>
          <a:p>
            <a:pPr defTabSz="195263">
              <a:spcBef>
                <a:spcPct val="50000"/>
              </a:spcBef>
            </a:pPr>
            <a:r>
              <a:rPr lang="en-AU" altLang="en-US" sz="600" dirty="0"/>
              <a:t>Contact: </a:t>
            </a:r>
          </a:p>
          <a:p>
            <a:pPr defTabSz="195263">
              <a:spcBef>
                <a:spcPct val="50000"/>
              </a:spcBef>
            </a:pPr>
            <a:r>
              <a:rPr lang="en-AU" altLang="en-US" sz="600" b="1" dirty="0"/>
              <a:t>Medical Illustration Unit</a:t>
            </a:r>
            <a:br>
              <a:rPr lang="en-AU" altLang="en-US" sz="600" dirty="0"/>
            </a:br>
            <a:r>
              <a:rPr lang="en-AU" altLang="en-US" sz="600" dirty="0"/>
              <a:t>Prince of Wales Hospital</a:t>
            </a:r>
          </a:p>
          <a:p>
            <a:pPr defTabSz="195263">
              <a:spcBef>
                <a:spcPct val="50000"/>
              </a:spcBef>
            </a:pPr>
            <a:r>
              <a:rPr lang="en-AU" altLang="en-US" sz="600" dirty="0" err="1"/>
              <a:t>Ph</a:t>
            </a:r>
            <a:r>
              <a:rPr lang="en-AU" altLang="en-US" sz="600" dirty="0"/>
              <a:t>: 9382 2800</a:t>
            </a:r>
            <a:br>
              <a:rPr lang="en-AU" altLang="en-US" sz="600" dirty="0"/>
            </a:br>
            <a:r>
              <a:rPr lang="en-AU" altLang="en-US" sz="600" dirty="0"/>
              <a:t>Email: miunsw@unsw.edu.au</a:t>
            </a:r>
            <a:br>
              <a:rPr lang="en-AU" altLang="en-US" sz="600" dirty="0"/>
            </a:br>
            <a:r>
              <a:rPr lang="en-AU" altLang="en-US" sz="600" dirty="0"/>
              <a:t>Web: http://miu.med.unsw.edu.au</a:t>
            </a:r>
            <a:endParaRPr lang="en-US" altLang="en-US" sz="900" b="1" dirty="0">
              <a:solidFill>
                <a:srgbClr val="CC3300"/>
              </a:solidFill>
            </a:endParaRPr>
          </a:p>
        </p:txBody>
      </p:sp>
      <p:sp>
        <p:nvSpPr>
          <p:cNvPr id="21514" name="Rectangle 10"/>
          <p:cNvSpPr>
            <a:spLocks noChangeArrowheads="1"/>
          </p:cNvSpPr>
          <p:nvPr/>
        </p:nvSpPr>
        <p:spPr bwMode="auto">
          <a:xfrm>
            <a:off x="317501" y="4368800"/>
            <a:ext cx="2730500" cy="2235200"/>
          </a:xfrm>
          <a:prstGeom prst="rect">
            <a:avLst/>
          </a:prstGeom>
          <a:solidFill>
            <a:schemeClr val="bg1"/>
          </a:solidFill>
          <a:ln w="9525">
            <a:noFill/>
            <a:miter lim="800000"/>
            <a:headEnd/>
            <a:tailEnd/>
          </a:ln>
          <a:effectLst/>
        </p:spPr>
        <p:txBody>
          <a:bodyPr lIns="77040" tIns="77040" rIns="77040" bIns="77040"/>
          <a:lstStyle/>
          <a:p>
            <a:pPr defTabSz="195263">
              <a:spcBef>
                <a:spcPct val="50000"/>
              </a:spcBef>
            </a:pPr>
            <a:r>
              <a:rPr lang="en-GB" altLang="en-US" sz="900" b="1" dirty="0">
                <a:solidFill>
                  <a:srgbClr val="006699"/>
                </a:solidFill>
              </a:rPr>
              <a:t>Aim</a:t>
            </a:r>
          </a:p>
          <a:p>
            <a:pPr defTabSz="195263">
              <a:spcBef>
                <a:spcPct val="20000"/>
              </a:spcBef>
            </a:pPr>
            <a:r>
              <a:rPr lang="en-AU" altLang="en-US" sz="600" dirty="0"/>
              <a:t>How to use this poster template…</a:t>
            </a:r>
          </a:p>
          <a:p>
            <a:pPr defTabSz="195263">
              <a:spcBef>
                <a:spcPct val="40000"/>
              </a:spcBef>
            </a:pPr>
            <a:r>
              <a:rPr lang="en-AU" altLang="en-US" sz="600" dirty="0"/>
              <a:t>Simply highlight this text and replace it by typing in your own text, or copy and paste your text from a MS Word document or a PowerPoint slide presentation. </a:t>
            </a:r>
          </a:p>
          <a:p>
            <a:pPr defTabSz="195263">
              <a:spcBef>
                <a:spcPct val="40000"/>
              </a:spcBef>
            </a:pPr>
            <a:r>
              <a:rPr lang="en-AU" altLang="en-US" sz="600" dirty="0"/>
              <a:t>The body text / font size should be between 24 and 32 points. Arial, Helvetica or equivalent. </a:t>
            </a:r>
          </a:p>
          <a:p>
            <a:pPr defTabSz="195263">
              <a:spcBef>
                <a:spcPct val="40000"/>
              </a:spcBef>
            </a:pPr>
            <a:r>
              <a:rPr lang="en-AU" altLang="en-US" sz="600" dirty="0"/>
              <a:t>Keep body text left-aligned, do </a:t>
            </a:r>
            <a:r>
              <a:rPr lang="en-AU" altLang="en-US" sz="600" b="1" dirty="0"/>
              <a:t>not</a:t>
            </a:r>
            <a:r>
              <a:rPr lang="en-AU" altLang="en-US" sz="600" dirty="0"/>
              <a:t> justify text.</a:t>
            </a:r>
          </a:p>
          <a:p>
            <a:pPr defTabSz="195263">
              <a:spcBef>
                <a:spcPct val="40000"/>
              </a:spcBef>
            </a:pPr>
            <a:r>
              <a:rPr lang="en-AU" altLang="en-US" sz="600" dirty="0"/>
              <a:t>The colour of the text, title and poster background can be changed to the colour of your choice.</a:t>
            </a:r>
          </a:p>
        </p:txBody>
      </p:sp>
      <p:sp>
        <p:nvSpPr>
          <p:cNvPr id="21515" name="Rectangle 11"/>
          <p:cNvSpPr>
            <a:spLocks noChangeArrowheads="1"/>
          </p:cNvSpPr>
          <p:nvPr/>
        </p:nvSpPr>
        <p:spPr bwMode="auto">
          <a:xfrm>
            <a:off x="317501" y="1862138"/>
            <a:ext cx="2730500" cy="2303462"/>
          </a:xfrm>
          <a:prstGeom prst="rect">
            <a:avLst/>
          </a:prstGeom>
          <a:solidFill>
            <a:schemeClr val="bg1"/>
          </a:solidFill>
          <a:ln w="9525">
            <a:noFill/>
            <a:miter lim="800000"/>
            <a:headEnd/>
            <a:tailEnd/>
          </a:ln>
          <a:effectLst/>
        </p:spPr>
        <p:txBody>
          <a:bodyPr lIns="77040" tIns="77040" rIns="77040" bIns="77040"/>
          <a:lstStyle/>
          <a:p>
            <a:pPr defTabSz="195263">
              <a:spcBef>
                <a:spcPct val="50000"/>
              </a:spcBef>
            </a:pPr>
            <a:r>
              <a:rPr lang="en-GB" altLang="en-US" sz="900" b="1" dirty="0">
                <a:solidFill>
                  <a:srgbClr val="006699"/>
                </a:solidFill>
              </a:rPr>
              <a:t>Introduction</a:t>
            </a:r>
          </a:p>
          <a:p>
            <a:pPr defTabSz="195263">
              <a:spcBef>
                <a:spcPct val="50000"/>
              </a:spcBef>
            </a:pPr>
            <a:r>
              <a:rPr lang="en-AU" altLang="en-US" sz="600" dirty="0"/>
              <a:t>First…</a:t>
            </a:r>
          </a:p>
          <a:p>
            <a:pPr defTabSz="195263">
              <a:spcBef>
                <a:spcPct val="50000"/>
              </a:spcBef>
            </a:pPr>
            <a:r>
              <a:rPr lang="en-AU" altLang="en-US" sz="600" dirty="0"/>
              <a:t>Check with conference organisers on their specifications of size and orientation, before you start your poster </a:t>
            </a:r>
            <a:r>
              <a:rPr lang="en-AU" altLang="en-US" sz="600" dirty="0" err="1"/>
              <a:t>eg</a:t>
            </a:r>
            <a:r>
              <a:rPr lang="en-AU" altLang="en-US" sz="600" dirty="0"/>
              <a:t>. maximum poster size; landscape, portrait or square.</a:t>
            </a:r>
          </a:p>
          <a:p>
            <a:pPr defTabSz="195263">
              <a:spcBef>
                <a:spcPct val="50000"/>
              </a:spcBef>
            </a:pPr>
            <a:r>
              <a:rPr lang="en-AU" altLang="en-US" sz="600" dirty="0"/>
              <a:t>The page size of this poster template is A0 (84x119cm), landscape (horizontal) format. Do not change this page size, MIU can scale-to-fit a smaller or larger size, when printing. If you need a different shape start with either a portrait (vertical) or a square poster template. </a:t>
            </a:r>
          </a:p>
          <a:p>
            <a:pPr defTabSz="195263">
              <a:spcBef>
                <a:spcPct val="50000"/>
              </a:spcBef>
            </a:pPr>
            <a:r>
              <a:rPr lang="en-AU" altLang="en-US" sz="600" dirty="0"/>
              <a:t>Bear in mind you do not need to fill up the whole space allocated by some conference organisers (</a:t>
            </a:r>
            <a:r>
              <a:rPr lang="en-AU" altLang="en-US" sz="600" dirty="0" err="1"/>
              <a:t>eg</a:t>
            </a:r>
            <a:r>
              <a:rPr lang="en-AU" altLang="en-US" sz="600" dirty="0"/>
              <a:t>. 8ftx4ft in the USA). Do not make your poster bigger than necessary just to fill that given size.</a:t>
            </a:r>
            <a:endParaRPr lang="en-US" altLang="en-US" sz="900" b="1" dirty="0">
              <a:solidFill>
                <a:srgbClr val="CC3300"/>
              </a:solidFill>
            </a:endParaRPr>
          </a:p>
        </p:txBody>
      </p:sp>
      <p:sp>
        <p:nvSpPr>
          <p:cNvPr id="21516" name="Rectangle 12"/>
          <p:cNvSpPr>
            <a:spLocks noChangeArrowheads="1"/>
          </p:cNvSpPr>
          <p:nvPr/>
        </p:nvSpPr>
        <p:spPr bwMode="auto">
          <a:xfrm>
            <a:off x="3259667" y="1862138"/>
            <a:ext cx="2730500" cy="4741862"/>
          </a:xfrm>
          <a:prstGeom prst="rect">
            <a:avLst/>
          </a:prstGeom>
          <a:solidFill>
            <a:schemeClr val="bg1"/>
          </a:solidFill>
          <a:ln w="9525">
            <a:noFill/>
            <a:miter lim="800000"/>
            <a:headEnd/>
            <a:tailEnd/>
          </a:ln>
          <a:effectLst/>
        </p:spPr>
        <p:txBody>
          <a:bodyPr lIns="77040" tIns="77040" rIns="77040" bIns="77040"/>
          <a:lstStyle/>
          <a:p>
            <a:pPr marL="80963" indent="-80963" defTabSz="195263">
              <a:spcBef>
                <a:spcPct val="50000"/>
              </a:spcBef>
            </a:pPr>
            <a:r>
              <a:rPr lang="en-GB" altLang="en-US" sz="900" b="1" dirty="0">
                <a:solidFill>
                  <a:srgbClr val="006699"/>
                </a:solidFill>
              </a:rPr>
              <a:t>Method</a:t>
            </a:r>
          </a:p>
          <a:p>
            <a:pPr marL="80963" indent="-80963" defTabSz="195263">
              <a:spcBef>
                <a:spcPct val="50000"/>
              </a:spcBef>
              <a:buSzPct val="60000"/>
              <a:buFont typeface="Monotype Sorts" charset="2"/>
              <a:buNone/>
            </a:pPr>
            <a:r>
              <a:rPr lang="en-AU" altLang="en-US" sz="600" dirty="0"/>
              <a:t>Tips for making a successful poster…</a:t>
            </a:r>
          </a:p>
          <a:p>
            <a:pPr marL="80963" indent="-80963" defTabSz="195263">
              <a:spcBef>
                <a:spcPct val="50000"/>
              </a:spcBef>
              <a:buFont typeface="Wingdings" pitchFamily="2" charset="2"/>
              <a:buChar char="§"/>
            </a:pPr>
            <a:r>
              <a:rPr lang="en-AU" altLang="en-US" sz="600" dirty="0"/>
              <a:t>Re-write your paper into poster format </a:t>
            </a:r>
            <a:r>
              <a:rPr lang="en-AU" altLang="en-US" sz="600" dirty="0" err="1"/>
              <a:t>ie</a:t>
            </a:r>
            <a:r>
              <a:rPr lang="en-AU" altLang="en-US" sz="600" dirty="0"/>
              <a:t>.</a:t>
            </a:r>
            <a:br>
              <a:rPr lang="en-AU" altLang="en-US" sz="600" dirty="0"/>
            </a:br>
            <a:r>
              <a:rPr lang="en-AU" altLang="en-US" sz="600" dirty="0"/>
              <a:t>Simplify everything, avoid data overkill.</a:t>
            </a:r>
          </a:p>
          <a:p>
            <a:pPr marL="80963" indent="-80963" defTabSz="195263">
              <a:spcBef>
                <a:spcPct val="50000"/>
              </a:spcBef>
              <a:buFont typeface="Wingdings" pitchFamily="2" charset="2"/>
              <a:buChar char="§"/>
            </a:pPr>
            <a:r>
              <a:rPr lang="en-AU" altLang="en-US" sz="600" dirty="0"/>
              <a:t>Headings of more than 6 words should be in upper and lower case, not all capitals.</a:t>
            </a:r>
          </a:p>
          <a:p>
            <a:pPr marL="80963" indent="-80963" defTabSz="195263">
              <a:spcBef>
                <a:spcPct val="50000"/>
              </a:spcBef>
              <a:buFont typeface="Wingdings" pitchFamily="2" charset="2"/>
              <a:buChar char="§"/>
            </a:pPr>
            <a:r>
              <a:rPr lang="en-AU" altLang="en-US" sz="600" dirty="0"/>
              <a:t>Never do whole sentences in capitals or underline to stress your point, use </a:t>
            </a:r>
            <a:r>
              <a:rPr lang="en-AU" altLang="en-US" sz="600" b="1" dirty="0"/>
              <a:t>bold</a:t>
            </a:r>
            <a:r>
              <a:rPr lang="en-AU" altLang="en-US" sz="600" dirty="0"/>
              <a:t> characters instead.</a:t>
            </a:r>
          </a:p>
          <a:p>
            <a:pPr marL="80963" indent="-80963" defTabSz="195263">
              <a:spcBef>
                <a:spcPct val="50000"/>
              </a:spcBef>
              <a:buFont typeface="Wingdings" pitchFamily="2" charset="2"/>
              <a:buChar char="§"/>
            </a:pPr>
            <a:r>
              <a:rPr lang="en-AU" altLang="en-US" sz="600" dirty="0"/>
              <a:t>When laying out your poster leave breathing space around you text. Don’t overcrowd your poster.</a:t>
            </a:r>
          </a:p>
          <a:p>
            <a:pPr marL="80963" indent="-80963" defTabSz="195263">
              <a:spcBef>
                <a:spcPct val="50000"/>
              </a:spcBef>
              <a:buFont typeface="Wingdings" pitchFamily="2" charset="2"/>
              <a:buChar char="§"/>
            </a:pPr>
            <a:r>
              <a:rPr lang="en-AU" altLang="en-US" sz="600" dirty="0"/>
              <a:t>Try using photographs or coloured graphs. Avoid long numerical tables.</a:t>
            </a:r>
          </a:p>
          <a:p>
            <a:pPr marL="80963" indent="-80963" defTabSz="195263">
              <a:spcBef>
                <a:spcPct val="50000"/>
              </a:spcBef>
              <a:buFont typeface="Wingdings" pitchFamily="2" charset="2"/>
              <a:buChar char="§"/>
            </a:pPr>
            <a:r>
              <a:rPr lang="en-AU" altLang="en-US" sz="600" dirty="0"/>
              <a:t>Spell check and get someone else to proof-read.</a:t>
            </a:r>
            <a:endParaRPr lang="en-US" altLang="en-US" sz="900" b="1" dirty="0">
              <a:solidFill>
                <a:srgbClr val="CC3300"/>
              </a:solidFill>
            </a:endParaRPr>
          </a:p>
        </p:txBody>
      </p:sp>
      <p:sp>
        <p:nvSpPr>
          <p:cNvPr id="21517" name="Rectangle 13"/>
          <p:cNvSpPr>
            <a:spLocks noChangeArrowheads="1"/>
          </p:cNvSpPr>
          <p:nvPr/>
        </p:nvSpPr>
        <p:spPr bwMode="auto">
          <a:xfrm>
            <a:off x="6201834" y="1862138"/>
            <a:ext cx="2730500" cy="4741862"/>
          </a:xfrm>
          <a:prstGeom prst="rect">
            <a:avLst/>
          </a:prstGeom>
          <a:solidFill>
            <a:schemeClr val="bg1"/>
          </a:solidFill>
          <a:ln w="9525">
            <a:noFill/>
            <a:miter lim="800000"/>
            <a:headEnd/>
            <a:tailEnd/>
          </a:ln>
          <a:effectLst/>
        </p:spPr>
        <p:txBody>
          <a:bodyPr lIns="77040" tIns="77040" rIns="77040" bIns="77040"/>
          <a:lstStyle/>
          <a:p>
            <a:pPr defTabSz="195263">
              <a:spcBef>
                <a:spcPct val="50000"/>
              </a:spcBef>
            </a:pPr>
            <a:r>
              <a:rPr lang="en-GB" altLang="en-US" sz="900" b="1" dirty="0">
                <a:solidFill>
                  <a:srgbClr val="006699"/>
                </a:solidFill>
              </a:rPr>
              <a:t>Results</a:t>
            </a:r>
          </a:p>
          <a:p>
            <a:pPr defTabSz="195263">
              <a:spcBef>
                <a:spcPct val="50000"/>
              </a:spcBef>
            </a:pPr>
            <a:r>
              <a:rPr lang="en-AU" altLang="en-US" sz="600" dirty="0"/>
              <a:t>Importing / inserting files…</a:t>
            </a:r>
          </a:p>
          <a:p>
            <a:pPr defTabSz="195263">
              <a:spcBef>
                <a:spcPct val="50000"/>
              </a:spcBef>
            </a:pPr>
            <a:r>
              <a:rPr lang="en-AU" altLang="en-US" sz="600" dirty="0"/>
              <a:t>Images such as photographs, graphs, diagrams, logos, </a:t>
            </a:r>
            <a:r>
              <a:rPr lang="en-AU" altLang="en-US" sz="600" dirty="0" err="1"/>
              <a:t>etc</a:t>
            </a:r>
            <a:r>
              <a:rPr lang="en-AU" altLang="en-US" sz="600" dirty="0"/>
              <a:t>, can be added to the poster.</a:t>
            </a:r>
          </a:p>
          <a:p>
            <a:pPr defTabSz="195263">
              <a:spcBef>
                <a:spcPct val="50000"/>
              </a:spcBef>
            </a:pPr>
            <a:r>
              <a:rPr lang="en-AU" altLang="en-US" sz="600" dirty="0"/>
              <a:t>To insert scanned images into your poster, go through the menus as follows: Insert / Picture / From File… then find the file on your computer, select it, and press OK.</a:t>
            </a:r>
          </a:p>
          <a:p>
            <a:pPr defTabSz="195263">
              <a:spcBef>
                <a:spcPct val="50000"/>
              </a:spcBef>
            </a:pPr>
            <a:r>
              <a:rPr lang="en-AU" altLang="en-US" sz="600" dirty="0"/>
              <a:t>The best type of image files to insert are JPEG or TIFF, JPEG is the preferred format.</a:t>
            </a:r>
          </a:p>
          <a:p>
            <a:pPr defTabSz="195263">
              <a:spcBef>
                <a:spcPct val="50000"/>
              </a:spcBef>
            </a:pPr>
            <a:r>
              <a:rPr lang="en-AU" altLang="en-US" sz="600" b="1" dirty="0"/>
              <a:t>Be aware</a:t>
            </a:r>
            <a:r>
              <a:rPr lang="en-AU" altLang="en-US" sz="600" dirty="0"/>
              <a:t> of the image size you are importing. The average colour photo (13 x 18cm at 180dpi) would be about 3Mb (1Mb for B/W greyscale). Call MIU if unsure.</a:t>
            </a:r>
          </a:p>
          <a:p>
            <a:pPr defTabSz="195263">
              <a:spcBef>
                <a:spcPct val="50000"/>
              </a:spcBef>
            </a:pPr>
            <a:r>
              <a:rPr lang="en-AU" altLang="en-US" sz="600" dirty="0"/>
              <a:t>Do </a:t>
            </a:r>
            <a:r>
              <a:rPr lang="en-AU" altLang="en-US" sz="600" b="1" dirty="0"/>
              <a:t>not </a:t>
            </a:r>
            <a:r>
              <a:rPr lang="en-AU" altLang="en-US" sz="600" dirty="0"/>
              <a:t>use images from the web.</a:t>
            </a:r>
          </a:p>
          <a:p>
            <a:pPr defTabSz="195263">
              <a:spcBef>
                <a:spcPct val="50000"/>
              </a:spcBef>
            </a:pPr>
            <a:endParaRPr lang="en-AU" altLang="en-US" sz="600" dirty="0"/>
          </a:p>
          <a:p>
            <a:pPr defTabSz="195263">
              <a:spcBef>
                <a:spcPct val="50000"/>
              </a:spcBef>
            </a:pPr>
            <a:r>
              <a:rPr lang="en-AU" altLang="en-US" sz="600" dirty="0"/>
              <a:t>Notes about graphs…</a:t>
            </a:r>
          </a:p>
          <a:p>
            <a:pPr defTabSz="195263">
              <a:spcBef>
                <a:spcPct val="50000"/>
              </a:spcBef>
            </a:pPr>
            <a:r>
              <a:rPr lang="en-AU" altLang="en-US" sz="600" dirty="0"/>
              <a:t>For simple graphs use MS Excel, or do the graph directly in PowerPoint.</a:t>
            </a:r>
          </a:p>
          <a:p>
            <a:pPr defTabSz="195263">
              <a:spcBef>
                <a:spcPct val="50000"/>
              </a:spcBef>
            </a:pPr>
            <a:r>
              <a:rPr lang="en-AU" altLang="en-US" sz="600" dirty="0"/>
              <a:t>Graphs done in a scientific graphing programs (</a:t>
            </a:r>
            <a:r>
              <a:rPr lang="en-AU" altLang="en-US" sz="600" dirty="0" err="1"/>
              <a:t>eg</a:t>
            </a:r>
            <a:r>
              <a:rPr lang="en-AU" altLang="en-US" sz="600" dirty="0"/>
              <a:t>. Sigma Plot, Prism, SPSS, </a:t>
            </a:r>
            <a:r>
              <a:rPr lang="en-AU" altLang="en-US" sz="600" dirty="0" err="1"/>
              <a:t>Statistica</a:t>
            </a:r>
            <a:r>
              <a:rPr lang="en-AU" altLang="en-US" sz="600" dirty="0"/>
              <a:t>) should be saved as JPEG or TIFF if possible. For more information see MIU.</a:t>
            </a:r>
            <a:endParaRPr lang="en-US" altLang="en-US" sz="900" b="1" dirty="0">
              <a:solidFill>
                <a:srgbClr val="CC3300"/>
              </a:solidFill>
            </a:endParaRPr>
          </a:p>
        </p:txBody>
      </p:sp>
      <p:sp>
        <p:nvSpPr>
          <p:cNvPr id="21518" name="Rectangle 14"/>
          <p:cNvSpPr>
            <a:spLocks noChangeArrowheads="1"/>
          </p:cNvSpPr>
          <p:nvPr/>
        </p:nvSpPr>
        <p:spPr bwMode="auto">
          <a:xfrm>
            <a:off x="9144001" y="1862138"/>
            <a:ext cx="2730500" cy="2100262"/>
          </a:xfrm>
          <a:prstGeom prst="rect">
            <a:avLst/>
          </a:prstGeom>
          <a:solidFill>
            <a:schemeClr val="bg1"/>
          </a:solidFill>
          <a:ln w="9525">
            <a:noFill/>
            <a:miter lim="800000"/>
            <a:headEnd/>
            <a:tailEnd/>
          </a:ln>
          <a:effectLst/>
        </p:spPr>
        <p:txBody>
          <a:bodyPr lIns="77040" tIns="77040" rIns="77040" bIns="77040"/>
          <a:lstStyle/>
          <a:p>
            <a:pPr defTabSz="195263">
              <a:spcBef>
                <a:spcPct val="50000"/>
              </a:spcBef>
            </a:pPr>
            <a:r>
              <a:rPr lang="en-AU" altLang="en-US" sz="600" dirty="0"/>
              <a:t>Printing and Laminating…</a:t>
            </a:r>
          </a:p>
          <a:p>
            <a:pPr defTabSz="195263">
              <a:spcBef>
                <a:spcPct val="50000"/>
              </a:spcBef>
            </a:pPr>
            <a:r>
              <a:rPr lang="en-AU" altLang="en-US" sz="600" dirty="0"/>
              <a:t>Once you have completed your poster, bring it down to MIU for printing. We will produce a A3 size draft print for you to check and proof read. The final poster will then be printed and laminated. </a:t>
            </a:r>
          </a:p>
          <a:p>
            <a:pPr defTabSz="195263">
              <a:spcBef>
                <a:spcPct val="50000"/>
              </a:spcBef>
            </a:pPr>
            <a:r>
              <a:rPr lang="en-AU" altLang="en-US" sz="600" dirty="0"/>
              <a:t>Note: Do not leave your poster until the last minute. Allow at least 5 working days before you need to use it. </a:t>
            </a:r>
          </a:p>
          <a:p>
            <a:pPr defTabSz="195263">
              <a:spcBef>
                <a:spcPct val="50000"/>
              </a:spcBef>
            </a:pPr>
            <a:r>
              <a:rPr lang="en-AU" altLang="en-US" sz="600" dirty="0"/>
              <a:t>Simply highlight this text and replace.</a:t>
            </a:r>
          </a:p>
          <a:p>
            <a:pPr defTabSz="195263">
              <a:spcBef>
                <a:spcPct val="50000"/>
              </a:spcBef>
            </a:pPr>
            <a:endParaRPr lang="en-AU" altLang="en-US" sz="600" dirty="0"/>
          </a:p>
          <a:p>
            <a:pPr defTabSz="195263">
              <a:spcBef>
                <a:spcPct val="50000"/>
              </a:spcBef>
            </a:pPr>
            <a:r>
              <a:rPr lang="en-AU" altLang="en-US" sz="600" dirty="0"/>
              <a:t>Cost…</a:t>
            </a:r>
          </a:p>
          <a:p>
            <a:pPr defTabSz="195263">
              <a:spcBef>
                <a:spcPct val="50000"/>
              </a:spcBef>
            </a:pPr>
            <a:r>
              <a:rPr lang="en-AU" altLang="en-US" sz="600" dirty="0">
                <a:solidFill>
                  <a:srgbClr val="000000"/>
                </a:solidFill>
                <a:cs typeface="Arial" pitchFamily="34" charset="0"/>
              </a:rPr>
              <a:t>For poster-printing and laminating charges contact to MIU</a:t>
            </a:r>
            <a:endParaRPr lang="en-AU" altLang="en-US" sz="600" dirty="0"/>
          </a:p>
          <a:p>
            <a:pPr defTabSz="195263">
              <a:spcBef>
                <a:spcPct val="50000"/>
              </a:spcBef>
            </a:pPr>
            <a:endParaRPr lang="en-US" altLang="en-US" sz="500" dirty="0"/>
          </a:p>
        </p:txBody>
      </p:sp>
      <p:sp>
        <p:nvSpPr>
          <p:cNvPr id="21519" name="Rectangle 15"/>
          <p:cNvSpPr>
            <a:spLocks noChangeArrowheads="1"/>
          </p:cNvSpPr>
          <p:nvPr/>
        </p:nvSpPr>
        <p:spPr bwMode="auto">
          <a:xfrm>
            <a:off x="6328834" y="5537200"/>
            <a:ext cx="2476500"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1520" name="Text Box 16"/>
          <p:cNvSpPr txBox="1">
            <a:spLocks noChangeArrowheads="1"/>
          </p:cNvSpPr>
          <p:nvPr/>
        </p:nvSpPr>
        <p:spPr bwMode="auto">
          <a:xfrm>
            <a:off x="6328834" y="6362701"/>
            <a:ext cx="2476500" cy="142870"/>
          </a:xfrm>
          <a:prstGeom prst="rect">
            <a:avLst/>
          </a:prstGeom>
          <a:noFill/>
          <a:ln w="9525">
            <a:noFill/>
            <a:miter lim="800000"/>
            <a:headEnd/>
            <a:tailEnd/>
          </a:ln>
          <a:effectLst/>
        </p:spPr>
        <p:txBody>
          <a:bodyPr lIns="0" tIns="9784" rIns="0" bIns="9784">
            <a:spAutoFit/>
          </a:bodyPr>
          <a:lstStyle/>
          <a:p>
            <a:pPr defTabSz="195263">
              <a:spcBef>
                <a:spcPct val="50000"/>
              </a:spcBef>
            </a:pPr>
            <a:r>
              <a:rPr lang="en-AU" altLang="en-US" sz="400" i="1" dirty="0">
                <a:latin typeface="Times New Roman" pitchFamily="18" charset="0"/>
              </a:rPr>
              <a:t>Captions to be set in Times or Times New Roman or equivalent, italic, 18 to 24 points, to the length of the column in case a figure takes more than 2/3 of column width.</a:t>
            </a:r>
          </a:p>
        </p:txBody>
      </p:sp>
      <p:sp>
        <p:nvSpPr>
          <p:cNvPr id="21521" name="Rectangle 17"/>
          <p:cNvSpPr>
            <a:spLocks noChangeArrowheads="1"/>
          </p:cNvSpPr>
          <p:nvPr/>
        </p:nvSpPr>
        <p:spPr bwMode="auto">
          <a:xfrm>
            <a:off x="6328834" y="4602163"/>
            <a:ext cx="1500717"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1522" name="Text Box 18"/>
          <p:cNvSpPr txBox="1">
            <a:spLocks noChangeArrowheads="1"/>
          </p:cNvSpPr>
          <p:nvPr/>
        </p:nvSpPr>
        <p:spPr bwMode="auto">
          <a:xfrm>
            <a:off x="7831667" y="4556125"/>
            <a:ext cx="973667" cy="447124"/>
          </a:xfrm>
          <a:prstGeom prst="rect">
            <a:avLst/>
          </a:prstGeom>
          <a:noFill/>
          <a:ln w="9525">
            <a:noFill/>
            <a:miter lim="800000"/>
            <a:headEnd/>
            <a:tailEnd/>
          </a:ln>
          <a:effectLst/>
        </p:spPr>
        <p:txBody>
          <a:bodyPr lIns="38520" tIns="38520" rIns="38520" bIns="38520">
            <a:spAutoFit/>
          </a:bodyPr>
          <a:lstStyle/>
          <a:p>
            <a:pPr defTabSz="195263"/>
            <a:r>
              <a:rPr lang="en-AU" altLang="en-US" sz="400" i="1" dirty="0">
                <a:latin typeface="Times New Roman" pitchFamily="18" charset="0"/>
              </a:rPr>
              <a:t>Captions to be set in Times or Times New Roman or equivalent, italic, between 18 and 24 points. </a:t>
            </a:r>
          </a:p>
          <a:p>
            <a:pPr defTabSz="195263"/>
            <a:r>
              <a:rPr lang="en-AU" altLang="en-US" sz="400" i="1" dirty="0">
                <a:latin typeface="Times New Roman" pitchFamily="18" charset="0"/>
              </a:rPr>
              <a:t>Left aligned if it refers to a figure on its left. Caption starts right at the top edge of the picture (graph or photo).</a:t>
            </a:r>
          </a:p>
        </p:txBody>
      </p:sp>
      <p:sp>
        <p:nvSpPr>
          <p:cNvPr id="21523" name="Text Box 19"/>
          <p:cNvSpPr txBox="1">
            <a:spLocks noChangeArrowheads="1"/>
          </p:cNvSpPr>
          <p:nvPr/>
        </p:nvSpPr>
        <p:spPr bwMode="auto">
          <a:xfrm>
            <a:off x="3386667" y="4551363"/>
            <a:ext cx="973667" cy="447124"/>
          </a:xfrm>
          <a:prstGeom prst="rect">
            <a:avLst/>
          </a:prstGeom>
          <a:noFill/>
          <a:ln w="9525">
            <a:noFill/>
            <a:miter lim="800000"/>
            <a:headEnd/>
            <a:tailEnd/>
          </a:ln>
          <a:effectLst/>
        </p:spPr>
        <p:txBody>
          <a:bodyPr lIns="38520" tIns="38520" rIns="38520" bIns="38520">
            <a:spAutoFit/>
          </a:bodyPr>
          <a:lstStyle/>
          <a:p>
            <a:pPr algn="r" defTabSz="195263"/>
            <a:r>
              <a:rPr lang="en-AU" altLang="en-US" sz="400" i="1" dirty="0">
                <a:latin typeface="Times New Roman" pitchFamily="18" charset="0"/>
              </a:rPr>
              <a:t>Captions to be set in Times or Times New Roman or equivalent, italic, between 18 and 24 points. Right aligned if it refers to a figure on its right. Caption starts right at the top edge of the picture (graph or photo).</a:t>
            </a:r>
          </a:p>
        </p:txBody>
      </p:sp>
      <p:sp>
        <p:nvSpPr>
          <p:cNvPr id="21524" name="Rectangle 20"/>
          <p:cNvSpPr>
            <a:spLocks noChangeArrowheads="1"/>
          </p:cNvSpPr>
          <p:nvPr/>
        </p:nvSpPr>
        <p:spPr bwMode="auto">
          <a:xfrm>
            <a:off x="4362451" y="4602163"/>
            <a:ext cx="1500716"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1525" name="Rectangle 21"/>
          <p:cNvSpPr>
            <a:spLocks noChangeArrowheads="1"/>
          </p:cNvSpPr>
          <p:nvPr/>
        </p:nvSpPr>
        <p:spPr bwMode="auto">
          <a:xfrm>
            <a:off x="3386667" y="5537200"/>
            <a:ext cx="2476500"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1526" name="Text Box 22"/>
          <p:cNvSpPr txBox="1">
            <a:spLocks noChangeArrowheads="1"/>
          </p:cNvSpPr>
          <p:nvPr/>
        </p:nvSpPr>
        <p:spPr bwMode="auto">
          <a:xfrm>
            <a:off x="3386667" y="6362701"/>
            <a:ext cx="2476500" cy="142870"/>
          </a:xfrm>
          <a:prstGeom prst="rect">
            <a:avLst/>
          </a:prstGeom>
          <a:noFill/>
          <a:ln w="9525">
            <a:noFill/>
            <a:miter lim="800000"/>
            <a:headEnd/>
            <a:tailEnd/>
          </a:ln>
          <a:effectLst/>
        </p:spPr>
        <p:txBody>
          <a:bodyPr lIns="0" tIns="9784" rIns="0" bIns="9784">
            <a:spAutoFit/>
          </a:bodyPr>
          <a:lstStyle/>
          <a:p>
            <a:pPr defTabSz="195263">
              <a:spcBef>
                <a:spcPct val="50000"/>
              </a:spcBef>
            </a:pPr>
            <a:r>
              <a:rPr lang="en-AU" altLang="en-US" sz="400" i="1" dirty="0">
                <a:latin typeface="Times New Roman" pitchFamily="18" charset="0"/>
              </a:rPr>
              <a:t>Captions to be set in Times or Times New Roman or equivalent, italic, 18 to 24 points, to the length of the column in case a figure takes more than 2/3 of column width.</a:t>
            </a:r>
          </a:p>
        </p:txBody>
      </p:sp>
      <p:sp>
        <p:nvSpPr>
          <p:cNvPr id="21527" name="Rectangle 23"/>
          <p:cNvSpPr>
            <a:spLocks noChangeArrowheads="1"/>
          </p:cNvSpPr>
          <p:nvPr/>
        </p:nvSpPr>
        <p:spPr bwMode="auto">
          <a:xfrm>
            <a:off x="3386667" y="3636963"/>
            <a:ext cx="1500717"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1528" name="Text Box 24"/>
          <p:cNvSpPr txBox="1">
            <a:spLocks noChangeArrowheads="1"/>
          </p:cNvSpPr>
          <p:nvPr/>
        </p:nvSpPr>
        <p:spPr bwMode="auto">
          <a:xfrm>
            <a:off x="4889500" y="3590925"/>
            <a:ext cx="973667" cy="447124"/>
          </a:xfrm>
          <a:prstGeom prst="rect">
            <a:avLst/>
          </a:prstGeom>
          <a:noFill/>
          <a:ln w="9525">
            <a:noFill/>
            <a:miter lim="800000"/>
            <a:headEnd/>
            <a:tailEnd/>
          </a:ln>
          <a:effectLst/>
        </p:spPr>
        <p:txBody>
          <a:bodyPr lIns="38520" tIns="38520" rIns="38520" bIns="38520">
            <a:spAutoFit/>
          </a:bodyPr>
          <a:lstStyle/>
          <a:p>
            <a:pPr defTabSz="195263"/>
            <a:r>
              <a:rPr lang="en-AU" altLang="en-US" sz="400" i="1" dirty="0">
                <a:latin typeface="Times New Roman" pitchFamily="18" charset="0"/>
              </a:rPr>
              <a:t>Captions to be set in Times or Times New Roman or equivalent, italic, between 18 and 24 points. </a:t>
            </a:r>
          </a:p>
          <a:p>
            <a:pPr defTabSz="195263"/>
            <a:r>
              <a:rPr lang="en-AU" altLang="en-US" sz="400" i="1" dirty="0">
                <a:latin typeface="Times New Roman" pitchFamily="18" charset="0"/>
              </a:rPr>
              <a:t>Left aligned if it refers to a figure on its left. Caption starts right at the top edge of the picture (graph or photo).</a:t>
            </a:r>
          </a:p>
        </p:txBody>
      </p:sp>
    </p:spTree>
    <p:extLst>
      <p:ext uri="{BB962C8B-B14F-4D97-AF65-F5344CB8AC3E}">
        <p14:creationId xmlns:p14="http://schemas.microsoft.com/office/powerpoint/2010/main" val="38495384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9144001" y="5961064"/>
            <a:ext cx="2730500" cy="642937"/>
          </a:xfrm>
          <a:prstGeom prst="rect">
            <a:avLst/>
          </a:prstGeom>
          <a:solidFill>
            <a:schemeClr val="bg1"/>
          </a:solidFill>
          <a:ln w="9525">
            <a:noFill/>
            <a:miter lim="800000"/>
            <a:headEnd/>
            <a:tailEnd/>
          </a:ln>
          <a:effectLst/>
        </p:spPr>
        <p:txBody>
          <a:bodyPr lIns="77040" tIns="77040" rIns="77040" bIns="77040"/>
          <a:lstStyle/>
          <a:p>
            <a:pPr defTabSz="195263">
              <a:spcBef>
                <a:spcPct val="50000"/>
              </a:spcBef>
            </a:pPr>
            <a:r>
              <a:rPr lang="en-GB" altLang="en-US" sz="900" b="1">
                <a:solidFill>
                  <a:srgbClr val="CC3300"/>
                </a:solidFill>
              </a:rPr>
              <a:t>Acknowledgements</a:t>
            </a:r>
          </a:p>
          <a:p>
            <a:pPr defTabSz="195263">
              <a:spcBef>
                <a:spcPct val="50000"/>
              </a:spcBef>
            </a:pPr>
            <a:r>
              <a:rPr lang="en-AU" altLang="en-US" sz="600"/>
              <a:t>Just highlight this text and replace with your own text. Replace this with your text. </a:t>
            </a:r>
            <a:endParaRPr lang="en-US" altLang="en-US" sz="900" b="1">
              <a:solidFill>
                <a:srgbClr val="CC3300"/>
              </a:solidFill>
            </a:endParaRPr>
          </a:p>
        </p:txBody>
      </p:sp>
      <p:sp>
        <p:nvSpPr>
          <p:cNvPr id="22531" name="Rectangle 3"/>
          <p:cNvSpPr>
            <a:spLocks noChangeArrowheads="1"/>
          </p:cNvSpPr>
          <p:nvPr/>
        </p:nvSpPr>
        <p:spPr bwMode="auto">
          <a:xfrm>
            <a:off x="9144001" y="4132264"/>
            <a:ext cx="2730500" cy="1641475"/>
          </a:xfrm>
          <a:prstGeom prst="rect">
            <a:avLst/>
          </a:prstGeom>
          <a:solidFill>
            <a:schemeClr val="bg1"/>
          </a:solidFill>
          <a:ln w="9525">
            <a:noFill/>
            <a:miter lim="800000"/>
            <a:headEnd/>
            <a:tailEnd/>
          </a:ln>
          <a:effectLst/>
        </p:spPr>
        <p:txBody>
          <a:bodyPr lIns="77040" tIns="77040" rIns="77040" bIns="77040"/>
          <a:lstStyle/>
          <a:p>
            <a:pPr defTabSz="195263">
              <a:spcBef>
                <a:spcPct val="50000"/>
              </a:spcBef>
            </a:pPr>
            <a:r>
              <a:rPr lang="en-GB" altLang="en-US" sz="900" b="1" dirty="0">
                <a:solidFill>
                  <a:srgbClr val="CC3300"/>
                </a:solidFill>
              </a:rPr>
              <a:t>Conclusion</a:t>
            </a:r>
          </a:p>
          <a:p>
            <a:pPr defTabSz="195263">
              <a:spcBef>
                <a:spcPct val="50000"/>
              </a:spcBef>
            </a:pPr>
            <a:r>
              <a:rPr lang="en-AU" altLang="en-US" sz="600" dirty="0"/>
              <a:t>For more information on: </a:t>
            </a:r>
          </a:p>
          <a:p>
            <a:pPr defTabSz="195263">
              <a:spcBef>
                <a:spcPct val="50000"/>
              </a:spcBef>
            </a:pPr>
            <a:r>
              <a:rPr lang="en-AU" altLang="en-US" sz="600" dirty="0"/>
              <a:t>Poster Design, Scanning and Digital Photography, </a:t>
            </a:r>
            <a:br>
              <a:rPr lang="en-AU" altLang="en-US" sz="600" dirty="0"/>
            </a:br>
            <a:r>
              <a:rPr lang="en-AU" altLang="en-US" sz="600" dirty="0"/>
              <a:t>and Image / file size.</a:t>
            </a:r>
          </a:p>
          <a:p>
            <a:pPr defTabSz="195263">
              <a:spcBef>
                <a:spcPct val="50000"/>
              </a:spcBef>
            </a:pPr>
            <a:endParaRPr lang="en-AU" altLang="en-US" sz="600" dirty="0"/>
          </a:p>
          <a:p>
            <a:pPr defTabSz="195263">
              <a:spcBef>
                <a:spcPct val="50000"/>
              </a:spcBef>
            </a:pPr>
            <a:r>
              <a:rPr lang="en-AU" altLang="en-US" sz="600" dirty="0"/>
              <a:t>Contact: </a:t>
            </a:r>
          </a:p>
          <a:p>
            <a:pPr defTabSz="195263">
              <a:spcBef>
                <a:spcPct val="50000"/>
              </a:spcBef>
            </a:pPr>
            <a:r>
              <a:rPr lang="en-AU" altLang="en-US" sz="600" b="1" dirty="0"/>
              <a:t>Medical Illustration Unit</a:t>
            </a:r>
            <a:br>
              <a:rPr lang="en-AU" altLang="en-US" sz="600" dirty="0"/>
            </a:br>
            <a:r>
              <a:rPr lang="en-AU" altLang="en-US" sz="600" dirty="0"/>
              <a:t>Prince of Wales Hospital</a:t>
            </a:r>
          </a:p>
          <a:p>
            <a:pPr defTabSz="195263">
              <a:spcBef>
                <a:spcPct val="50000"/>
              </a:spcBef>
            </a:pPr>
            <a:r>
              <a:rPr lang="en-AU" altLang="en-US" sz="600" dirty="0" err="1"/>
              <a:t>Ph</a:t>
            </a:r>
            <a:r>
              <a:rPr lang="en-AU" altLang="en-US" sz="600" dirty="0"/>
              <a:t>: 9382 2800</a:t>
            </a:r>
            <a:br>
              <a:rPr lang="en-AU" altLang="en-US" sz="600" dirty="0"/>
            </a:br>
            <a:r>
              <a:rPr lang="en-AU" altLang="en-US" sz="600" dirty="0"/>
              <a:t>Email: miunsw@unsw.edu.au</a:t>
            </a:r>
            <a:br>
              <a:rPr lang="en-AU" altLang="en-US" sz="600" dirty="0"/>
            </a:br>
            <a:r>
              <a:rPr lang="en-AU" altLang="en-US" sz="600" dirty="0"/>
              <a:t>Web: http://miu.med.unsw.edu.au</a:t>
            </a:r>
            <a:endParaRPr lang="en-US" altLang="en-US" sz="900" b="1" dirty="0">
              <a:solidFill>
                <a:srgbClr val="CC3300"/>
              </a:solidFill>
            </a:endParaRPr>
          </a:p>
        </p:txBody>
      </p:sp>
      <p:sp>
        <p:nvSpPr>
          <p:cNvPr id="22532" name="Rectangle 4"/>
          <p:cNvSpPr>
            <a:spLocks noChangeArrowheads="1"/>
          </p:cNvSpPr>
          <p:nvPr/>
        </p:nvSpPr>
        <p:spPr bwMode="auto">
          <a:xfrm>
            <a:off x="317501" y="4368800"/>
            <a:ext cx="2730500" cy="2235200"/>
          </a:xfrm>
          <a:prstGeom prst="rect">
            <a:avLst/>
          </a:prstGeom>
          <a:solidFill>
            <a:schemeClr val="bg1"/>
          </a:solidFill>
          <a:ln w="9525">
            <a:noFill/>
            <a:miter lim="800000"/>
            <a:headEnd/>
            <a:tailEnd/>
          </a:ln>
          <a:effectLst/>
        </p:spPr>
        <p:txBody>
          <a:bodyPr lIns="77040" tIns="77040" rIns="77040" bIns="77040"/>
          <a:lstStyle/>
          <a:p>
            <a:pPr defTabSz="195263">
              <a:spcBef>
                <a:spcPct val="50000"/>
              </a:spcBef>
            </a:pPr>
            <a:r>
              <a:rPr lang="en-GB" altLang="en-US" sz="900" b="1" dirty="0">
                <a:solidFill>
                  <a:srgbClr val="CC3300"/>
                </a:solidFill>
              </a:rPr>
              <a:t>Aim</a:t>
            </a:r>
          </a:p>
          <a:p>
            <a:pPr defTabSz="195263">
              <a:spcBef>
                <a:spcPct val="20000"/>
              </a:spcBef>
            </a:pPr>
            <a:r>
              <a:rPr lang="en-AU" altLang="en-US" sz="600" dirty="0"/>
              <a:t>How to use this poster template…</a:t>
            </a:r>
          </a:p>
          <a:p>
            <a:pPr defTabSz="195263">
              <a:spcBef>
                <a:spcPct val="40000"/>
              </a:spcBef>
            </a:pPr>
            <a:r>
              <a:rPr lang="en-AU" altLang="en-US" sz="600" dirty="0"/>
              <a:t>Simply highlight this text and replace it by typing in your own text, or copy and paste your text from a MS Word document or a PowerPoint slide presentation. </a:t>
            </a:r>
          </a:p>
          <a:p>
            <a:pPr defTabSz="195263">
              <a:spcBef>
                <a:spcPct val="40000"/>
              </a:spcBef>
            </a:pPr>
            <a:r>
              <a:rPr lang="en-AU" altLang="en-US" sz="600" dirty="0"/>
              <a:t>The body text / font size should be between 24 and 32 points. Arial, Helvetica or equivalent. </a:t>
            </a:r>
          </a:p>
          <a:p>
            <a:pPr defTabSz="195263">
              <a:spcBef>
                <a:spcPct val="40000"/>
              </a:spcBef>
            </a:pPr>
            <a:r>
              <a:rPr lang="en-AU" altLang="en-US" sz="600" dirty="0"/>
              <a:t>Keep body text left-aligned, do </a:t>
            </a:r>
            <a:r>
              <a:rPr lang="en-AU" altLang="en-US" sz="600" b="1" dirty="0"/>
              <a:t>not</a:t>
            </a:r>
            <a:r>
              <a:rPr lang="en-AU" altLang="en-US" sz="600" dirty="0"/>
              <a:t> justify text.</a:t>
            </a:r>
          </a:p>
          <a:p>
            <a:pPr defTabSz="195263">
              <a:spcBef>
                <a:spcPct val="40000"/>
              </a:spcBef>
            </a:pPr>
            <a:r>
              <a:rPr lang="en-AU" altLang="en-US" sz="600" dirty="0"/>
              <a:t>The colour of the text, title and poster background can be changed to the colour of your choice.</a:t>
            </a:r>
          </a:p>
        </p:txBody>
      </p:sp>
      <p:sp>
        <p:nvSpPr>
          <p:cNvPr id="22533" name="Rectangle 5"/>
          <p:cNvSpPr>
            <a:spLocks noChangeArrowheads="1"/>
          </p:cNvSpPr>
          <p:nvPr/>
        </p:nvSpPr>
        <p:spPr bwMode="auto">
          <a:xfrm>
            <a:off x="317501" y="1862138"/>
            <a:ext cx="2730500" cy="2303462"/>
          </a:xfrm>
          <a:prstGeom prst="rect">
            <a:avLst/>
          </a:prstGeom>
          <a:solidFill>
            <a:schemeClr val="bg1"/>
          </a:solidFill>
          <a:ln w="9525">
            <a:noFill/>
            <a:miter lim="800000"/>
            <a:headEnd/>
            <a:tailEnd/>
          </a:ln>
          <a:effectLst/>
        </p:spPr>
        <p:txBody>
          <a:bodyPr lIns="77040" tIns="77040" rIns="77040" bIns="77040"/>
          <a:lstStyle/>
          <a:p>
            <a:pPr defTabSz="195263">
              <a:spcBef>
                <a:spcPct val="50000"/>
              </a:spcBef>
            </a:pPr>
            <a:r>
              <a:rPr lang="en-GB" altLang="en-US" sz="900" b="1" dirty="0">
                <a:solidFill>
                  <a:srgbClr val="CC3300"/>
                </a:solidFill>
              </a:rPr>
              <a:t>Introduction</a:t>
            </a:r>
          </a:p>
          <a:p>
            <a:pPr defTabSz="195263">
              <a:spcBef>
                <a:spcPct val="50000"/>
              </a:spcBef>
            </a:pPr>
            <a:r>
              <a:rPr lang="en-AU" altLang="en-US" sz="600" dirty="0"/>
              <a:t>First…</a:t>
            </a:r>
          </a:p>
          <a:p>
            <a:pPr defTabSz="195263">
              <a:spcBef>
                <a:spcPct val="50000"/>
              </a:spcBef>
            </a:pPr>
            <a:r>
              <a:rPr lang="en-AU" altLang="en-US" sz="600" dirty="0"/>
              <a:t>Check with conference organisers on their specifications of size and orientation, before you start your poster </a:t>
            </a:r>
            <a:r>
              <a:rPr lang="en-AU" altLang="en-US" sz="600" dirty="0" err="1"/>
              <a:t>eg</a:t>
            </a:r>
            <a:r>
              <a:rPr lang="en-AU" altLang="en-US" sz="600" dirty="0"/>
              <a:t>. maximum poster size; landscape, portrait or square.</a:t>
            </a:r>
          </a:p>
          <a:p>
            <a:pPr defTabSz="195263">
              <a:spcBef>
                <a:spcPct val="50000"/>
              </a:spcBef>
            </a:pPr>
            <a:r>
              <a:rPr lang="en-AU" altLang="en-US" sz="600" dirty="0"/>
              <a:t>The page size of this poster template is A0 (84x119cm), landscape (horizontal) format. Do not change this page size, MIU can scale-to-fit a smaller or larger size, when printing. If you need a different shape start with either a portrait (vertical) or a square poster template. </a:t>
            </a:r>
          </a:p>
          <a:p>
            <a:pPr defTabSz="195263">
              <a:spcBef>
                <a:spcPct val="50000"/>
              </a:spcBef>
            </a:pPr>
            <a:r>
              <a:rPr lang="en-AU" altLang="en-US" sz="600" dirty="0"/>
              <a:t>Bear in mind you do not need to fill up the whole space allocated by some conference organisers (</a:t>
            </a:r>
            <a:r>
              <a:rPr lang="en-AU" altLang="en-US" sz="600" dirty="0" err="1"/>
              <a:t>eg</a:t>
            </a:r>
            <a:r>
              <a:rPr lang="en-AU" altLang="en-US" sz="600" dirty="0"/>
              <a:t>. 8ftx4ft in the USA). Do not make your poster bigger than necessary just to fill that given size.</a:t>
            </a:r>
            <a:endParaRPr lang="en-US" altLang="en-US" sz="900" b="1" dirty="0">
              <a:solidFill>
                <a:srgbClr val="CC3300"/>
              </a:solidFill>
            </a:endParaRPr>
          </a:p>
        </p:txBody>
      </p:sp>
      <p:sp>
        <p:nvSpPr>
          <p:cNvPr id="22534" name="Rectangle 6"/>
          <p:cNvSpPr>
            <a:spLocks noChangeArrowheads="1"/>
          </p:cNvSpPr>
          <p:nvPr/>
        </p:nvSpPr>
        <p:spPr bwMode="auto">
          <a:xfrm>
            <a:off x="3259667" y="1862138"/>
            <a:ext cx="2730500" cy="4741862"/>
          </a:xfrm>
          <a:prstGeom prst="rect">
            <a:avLst/>
          </a:prstGeom>
          <a:solidFill>
            <a:schemeClr val="bg1"/>
          </a:solidFill>
          <a:ln w="9525">
            <a:noFill/>
            <a:miter lim="800000"/>
            <a:headEnd/>
            <a:tailEnd/>
          </a:ln>
          <a:effectLst/>
        </p:spPr>
        <p:txBody>
          <a:bodyPr lIns="77040" tIns="77040" rIns="77040" bIns="77040"/>
          <a:lstStyle/>
          <a:p>
            <a:pPr marL="80963" indent="-80963" defTabSz="195263">
              <a:spcBef>
                <a:spcPct val="50000"/>
              </a:spcBef>
            </a:pPr>
            <a:r>
              <a:rPr lang="en-GB" altLang="en-US" sz="900" b="1" dirty="0">
                <a:solidFill>
                  <a:srgbClr val="CC3300"/>
                </a:solidFill>
              </a:rPr>
              <a:t>Method</a:t>
            </a:r>
          </a:p>
          <a:p>
            <a:pPr marL="80963" indent="-80963" defTabSz="195263">
              <a:spcBef>
                <a:spcPct val="50000"/>
              </a:spcBef>
              <a:buSzPct val="60000"/>
              <a:buFont typeface="Monotype Sorts" charset="2"/>
              <a:buNone/>
            </a:pPr>
            <a:r>
              <a:rPr lang="en-AU" altLang="en-US" sz="600" dirty="0"/>
              <a:t>Tips for making a successful poster…</a:t>
            </a:r>
          </a:p>
          <a:p>
            <a:pPr marL="80963" indent="-80963" defTabSz="195263">
              <a:spcBef>
                <a:spcPct val="50000"/>
              </a:spcBef>
              <a:buFont typeface="Wingdings" pitchFamily="2" charset="2"/>
              <a:buChar char="§"/>
            </a:pPr>
            <a:r>
              <a:rPr lang="en-AU" altLang="en-US" sz="600" dirty="0"/>
              <a:t>Re-write your paper into poster format </a:t>
            </a:r>
            <a:r>
              <a:rPr lang="en-AU" altLang="en-US" sz="600" dirty="0" err="1"/>
              <a:t>ie</a:t>
            </a:r>
            <a:r>
              <a:rPr lang="en-AU" altLang="en-US" sz="600" dirty="0"/>
              <a:t>.</a:t>
            </a:r>
            <a:br>
              <a:rPr lang="en-AU" altLang="en-US" sz="600" dirty="0"/>
            </a:br>
            <a:r>
              <a:rPr lang="en-AU" altLang="en-US" sz="600" dirty="0"/>
              <a:t>Simplify everything, avoid data overkill.</a:t>
            </a:r>
          </a:p>
          <a:p>
            <a:pPr marL="80963" indent="-80963" defTabSz="195263">
              <a:spcBef>
                <a:spcPct val="50000"/>
              </a:spcBef>
              <a:buFont typeface="Wingdings" pitchFamily="2" charset="2"/>
              <a:buChar char="§"/>
            </a:pPr>
            <a:r>
              <a:rPr lang="en-AU" altLang="en-US" sz="600" dirty="0"/>
              <a:t>Headings of more than 6 words should be in upper and lower case, not all capitals.</a:t>
            </a:r>
          </a:p>
          <a:p>
            <a:pPr marL="80963" indent="-80963" defTabSz="195263">
              <a:spcBef>
                <a:spcPct val="50000"/>
              </a:spcBef>
              <a:buFont typeface="Wingdings" pitchFamily="2" charset="2"/>
              <a:buChar char="§"/>
            </a:pPr>
            <a:r>
              <a:rPr lang="en-AU" altLang="en-US" sz="600" dirty="0"/>
              <a:t>Never do whole sentences in capitals or underline to stress your point, use </a:t>
            </a:r>
            <a:r>
              <a:rPr lang="en-AU" altLang="en-US" sz="600" b="1" dirty="0"/>
              <a:t>bold</a:t>
            </a:r>
            <a:r>
              <a:rPr lang="en-AU" altLang="en-US" sz="600" dirty="0"/>
              <a:t> characters instead.</a:t>
            </a:r>
          </a:p>
          <a:p>
            <a:pPr marL="80963" indent="-80963" defTabSz="195263">
              <a:spcBef>
                <a:spcPct val="50000"/>
              </a:spcBef>
              <a:buFont typeface="Wingdings" pitchFamily="2" charset="2"/>
              <a:buChar char="§"/>
            </a:pPr>
            <a:r>
              <a:rPr lang="en-AU" altLang="en-US" sz="600" dirty="0"/>
              <a:t>When laying out your poster leave breathing space around you text. Don’t overcrowd your poster.</a:t>
            </a:r>
          </a:p>
          <a:p>
            <a:pPr marL="80963" indent="-80963" defTabSz="195263">
              <a:spcBef>
                <a:spcPct val="50000"/>
              </a:spcBef>
              <a:buFont typeface="Wingdings" pitchFamily="2" charset="2"/>
              <a:buChar char="§"/>
            </a:pPr>
            <a:r>
              <a:rPr lang="en-AU" altLang="en-US" sz="600" dirty="0"/>
              <a:t>Try using photographs or coloured graphs. Avoid long numerical tables.</a:t>
            </a:r>
          </a:p>
          <a:p>
            <a:pPr marL="80963" indent="-80963" defTabSz="195263">
              <a:spcBef>
                <a:spcPct val="50000"/>
              </a:spcBef>
              <a:buFont typeface="Wingdings" pitchFamily="2" charset="2"/>
              <a:buChar char="§"/>
            </a:pPr>
            <a:r>
              <a:rPr lang="en-AU" altLang="en-US" sz="600" dirty="0"/>
              <a:t>Spell check and get someone else to proof-read.</a:t>
            </a:r>
            <a:endParaRPr lang="en-US" altLang="en-US" sz="900" b="1" dirty="0">
              <a:solidFill>
                <a:srgbClr val="CC3300"/>
              </a:solidFill>
            </a:endParaRPr>
          </a:p>
        </p:txBody>
      </p:sp>
      <p:sp>
        <p:nvSpPr>
          <p:cNvPr id="22535" name="Rectangle 7"/>
          <p:cNvSpPr>
            <a:spLocks noChangeArrowheads="1"/>
          </p:cNvSpPr>
          <p:nvPr/>
        </p:nvSpPr>
        <p:spPr bwMode="auto">
          <a:xfrm>
            <a:off x="6201834" y="1862138"/>
            <a:ext cx="2730500" cy="4741862"/>
          </a:xfrm>
          <a:prstGeom prst="rect">
            <a:avLst/>
          </a:prstGeom>
          <a:solidFill>
            <a:schemeClr val="bg1"/>
          </a:solidFill>
          <a:ln w="9525">
            <a:noFill/>
            <a:miter lim="800000"/>
            <a:headEnd/>
            <a:tailEnd/>
          </a:ln>
          <a:effectLst/>
        </p:spPr>
        <p:txBody>
          <a:bodyPr lIns="77040" tIns="77040" rIns="77040" bIns="77040"/>
          <a:lstStyle/>
          <a:p>
            <a:pPr defTabSz="195263">
              <a:spcBef>
                <a:spcPct val="50000"/>
              </a:spcBef>
            </a:pPr>
            <a:r>
              <a:rPr lang="en-GB" altLang="en-US" sz="900" b="1" dirty="0">
                <a:solidFill>
                  <a:srgbClr val="CC3300"/>
                </a:solidFill>
              </a:rPr>
              <a:t>Results</a:t>
            </a:r>
          </a:p>
          <a:p>
            <a:pPr defTabSz="195263">
              <a:spcBef>
                <a:spcPct val="50000"/>
              </a:spcBef>
            </a:pPr>
            <a:r>
              <a:rPr lang="en-AU" altLang="en-US" sz="600" dirty="0"/>
              <a:t>Importing / inserting files…</a:t>
            </a:r>
          </a:p>
          <a:p>
            <a:pPr defTabSz="195263">
              <a:spcBef>
                <a:spcPct val="50000"/>
              </a:spcBef>
            </a:pPr>
            <a:r>
              <a:rPr lang="en-AU" altLang="en-US" sz="600" dirty="0"/>
              <a:t>Images such as photographs, graphs, diagrams, logos, </a:t>
            </a:r>
            <a:r>
              <a:rPr lang="en-AU" altLang="en-US" sz="600" dirty="0" err="1"/>
              <a:t>etc</a:t>
            </a:r>
            <a:r>
              <a:rPr lang="en-AU" altLang="en-US" sz="600" dirty="0"/>
              <a:t>, can be added to the poster.</a:t>
            </a:r>
          </a:p>
          <a:p>
            <a:pPr defTabSz="195263">
              <a:spcBef>
                <a:spcPct val="50000"/>
              </a:spcBef>
            </a:pPr>
            <a:r>
              <a:rPr lang="en-AU" altLang="en-US" sz="600" dirty="0"/>
              <a:t>To insert scanned images into your poster, go through the menus as follows: Insert / Picture / From File… then find the file on your computer, select it, and press OK.</a:t>
            </a:r>
          </a:p>
          <a:p>
            <a:pPr defTabSz="195263">
              <a:spcBef>
                <a:spcPct val="50000"/>
              </a:spcBef>
            </a:pPr>
            <a:r>
              <a:rPr lang="en-AU" altLang="en-US" sz="600" dirty="0"/>
              <a:t>The best type of image files to insert are JPEG or TIFF, JPEG is the preferred format.</a:t>
            </a:r>
          </a:p>
          <a:p>
            <a:pPr defTabSz="195263">
              <a:spcBef>
                <a:spcPct val="50000"/>
              </a:spcBef>
            </a:pPr>
            <a:r>
              <a:rPr lang="en-AU" altLang="en-US" sz="600" b="1" dirty="0"/>
              <a:t>Be aware</a:t>
            </a:r>
            <a:r>
              <a:rPr lang="en-AU" altLang="en-US" sz="600" dirty="0"/>
              <a:t> of the image size you are importing. The average colour photo (13 x 18cm at 180dpi) would be about 3Mb (1Mb for B/W greyscale). Call MIU if unsure.</a:t>
            </a:r>
          </a:p>
          <a:p>
            <a:pPr defTabSz="195263">
              <a:spcBef>
                <a:spcPct val="50000"/>
              </a:spcBef>
            </a:pPr>
            <a:r>
              <a:rPr lang="en-AU" altLang="en-US" sz="600" dirty="0"/>
              <a:t>Do </a:t>
            </a:r>
            <a:r>
              <a:rPr lang="en-AU" altLang="en-US" sz="600" b="1" dirty="0"/>
              <a:t>not </a:t>
            </a:r>
            <a:r>
              <a:rPr lang="en-AU" altLang="en-US" sz="600" dirty="0"/>
              <a:t>use images from the web.</a:t>
            </a:r>
          </a:p>
          <a:p>
            <a:pPr defTabSz="195263">
              <a:spcBef>
                <a:spcPct val="50000"/>
              </a:spcBef>
            </a:pPr>
            <a:endParaRPr lang="en-AU" altLang="en-US" sz="600" dirty="0"/>
          </a:p>
          <a:p>
            <a:pPr defTabSz="195263">
              <a:spcBef>
                <a:spcPct val="50000"/>
              </a:spcBef>
            </a:pPr>
            <a:r>
              <a:rPr lang="en-AU" altLang="en-US" sz="600" dirty="0"/>
              <a:t>Notes about graphs…</a:t>
            </a:r>
          </a:p>
          <a:p>
            <a:pPr defTabSz="195263">
              <a:spcBef>
                <a:spcPct val="50000"/>
              </a:spcBef>
            </a:pPr>
            <a:r>
              <a:rPr lang="en-AU" altLang="en-US" sz="600" dirty="0"/>
              <a:t>For simple graphs use MS Excel, or do the graph directly in PowerPoint.</a:t>
            </a:r>
          </a:p>
          <a:p>
            <a:pPr defTabSz="195263">
              <a:spcBef>
                <a:spcPct val="50000"/>
              </a:spcBef>
            </a:pPr>
            <a:r>
              <a:rPr lang="en-AU" altLang="en-US" sz="600" dirty="0"/>
              <a:t>Graphs done in a scientific graphing programs (</a:t>
            </a:r>
            <a:r>
              <a:rPr lang="en-AU" altLang="en-US" sz="600" dirty="0" err="1"/>
              <a:t>eg</a:t>
            </a:r>
            <a:r>
              <a:rPr lang="en-AU" altLang="en-US" sz="600" dirty="0"/>
              <a:t>. Sigma Plot, Prism, SPSS, </a:t>
            </a:r>
            <a:r>
              <a:rPr lang="en-AU" altLang="en-US" sz="600" dirty="0" err="1"/>
              <a:t>Statistica</a:t>
            </a:r>
            <a:r>
              <a:rPr lang="en-AU" altLang="en-US" sz="600" dirty="0"/>
              <a:t>) should be saved as JPEG or TIFF if possible. For more information see MIU.</a:t>
            </a:r>
            <a:endParaRPr lang="en-US" altLang="en-US" sz="900" b="1" dirty="0">
              <a:solidFill>
                <a:srgbClr val="CC3300"/>
              </a:solidFill>
            </a:endParaRPr>
          </a:p>
        </p:txBody>
      </p:sp>
      <p:sp>
        <p:nvSpPr>
          <p:cNvPr id="22536" name="Rectangle 8"/>
          <p:cNvSpPr>
            <a:spLocks noChangeArrowheads="1"/>
          </p:cNvSpPr>
          <p:nvPr/>
        </p:nvSpPr>
        <p:spPr bwMode="auto">
          <a:xfrm>
            <a:off x="9144001" y="1862138"/>
            <a:ext cx="2730500" cy="2100262"/>
          </a:xfrm>
          <a:prstGeom prst="rect">
            <a:avLst/>
          </a:prstGeom>
          <a:solidFill>
            <a:schemeClr val="bg1"/>
          </a:solidFill>
          <a:ln w="9525">
            <a:noFill/>
            <a:miter lim="800000"/>
            <a:headEnd/>
            <a:tailEnd/>
          </a:ln>
          <a:effectLst/>
        </p:spPr>
        <p:txBody>
          <a:bodyPr lIns="77040" tIns="77040" rIns="77040" bIns="77040"/>
          <a:lstStyle/>
          <a:p>
            <a:pPr defTabSz="195263">
              <a:spcBef>
                <a:spcPct val="50000"/>
              </a:spcBef>
            </a:pPr>
            <a:r>
              <a:rPr lang="en-AU" altLang="en-US" sz="600" dirty="0"/>
              <a:t>Printing and Laminating…</a:t>
            </a:r>
          </a:p>
          <a:p>
            <a:pPr defTabSz="195263">
              <a:spcBef>
                <a:spcPct val="50000"/>
              </a:spcBef>
            </a:pPr>
            <a:r>
              <a:rPr lang="en-AU" altLang="en-US" sz="600" dirty="0"/>
              <a:t>Once you have completed your poster, bring it down to MIU for printing. We will produce a A3 size draft print for you to check and proof read. The final poster will then be printed and laminated. </a:t>
            </a:r>
          </a:p>
          <a:p>
            <a:pPr defTabSz="195263">
              <a:spcBef>
                <a:spcPct val="50000"/>
              </a:spcBef>
            </a:pPr>
            <a:r>
              <a:rPr lang="en-AU" altLang="en-US" sz="600" dirty="0"/>
              <a:t>Note: Do not leave your poster until the last minute. Allow at least 5 working days before you need to use it. </a:t>
            </a:r>
          </a:p>
          <a:p>
            <a:pPr defTabSz="195263">
              <a:spcBef>
                <a:spcPct val="50000"/>
              </a:spcBef>
            </a:pPr>
            <a:r>
              <a:rPr lang="en-AU" altLang="en-US" sz="600" dirty="0"/>
              <a:t>Simply highlight this text and replace.</a:t>
            </a:r>
          </a:p>
          <a:p>
            <a:pPr defTabSz="195263">
              <a:spcBef>
                <a:spcPct val="50000"/>
              </a:spcBef>
            </a:pPr>
            <a:endParaRPr lang="en-AU" altLang="en-US" sz="600" dirty="0"/>
          </a:p>
          <a:p>
            <a:pPr defTabSz="195263">
              <a:spcBef>
                <a:spcPct val="50000"/>
              </a:spcBef>
            </a:pPr>
            <a:r>
              <a:rPr lang="en-AU" altLang="en-US" sz="600" dirty="0"/>
              <a:t>Cost…</a:t>
            </a:r>
          </a:p>
          <a:p>
            <a:pPr defTabSz="195263">
              <a:spcBef>
                <a:spcPct val="50000"/>
              </a:spcBef>
            </a:pPr>
            <a:r>
              <a:rPr lang="en-AU" altLang="en-US" sz="600" dirty="0">
                <a:solidFill>
                  <a:srgbClr val="000000"/>
                </a:solidFill>
                <a:cs typeface="Arial" pitchFamily="34" charset="0"/>
              </a:rPr>
              <a:t>For poster-printing and laminating charges contact to MIU</a:t>
            </a:r>
            <a:endParaRPr lang="en-AU" altLang="en-US" sz="600" dirty="0"/>
          </a:p>
          <a:p>
            <a:pPr defTabSz="195263">
              <a:spcBef>
                <a:spcPct val="50000"/>
              </a:spcBef>
            </a:pPr>
            <a:endParaRPr lang="en-US" altLang="en-US" sz="500" dirty="0"/>
          </a:p>
        </p:txBody>
      </p:sp>
      <p:sp>
        <p:nvSpPr>
          <p:cNvPr id="22537" name="Text Box 9"/>
          <p:cNvSpPr txBox="1">
            <a:spLocks noChangeArrowheads="1"/>
          </p:cNvSpPr>
          <p:nvPr/>
        </p:nvSpPr>
        <p:spPr bwMode="auto">
          <a:xfrm>
            <a:off x="317500" y="254001"/>
            <a:ext cx="11557000" cy="879708"/>
          </a:xfrm>
          <a:prstGeom prst="rect">
            <a:avLst/>
          </a:prstGeom>
          <a:solidFill>
            <a:srgbClr val="E1EFFF"/>
          </a:solidFill>
          <a:ln w="9525">
            <a:solidFill>
              <a:schemeClr val="tx1"/>
            </a:solidFill>
            <a:miter lim="800000"/>
            <a:headEnd/>
            <a:tailEnd/>
          </a:ln>
          <a:effectLst/>
        </p:spPr>
        <p:txBody>
          <a:bodyPr lIns="115560" tIns="115560" rIns="115560" bIns="115560">
            <a:spAutoFit/>
          </a:bodyPr>
          <a:lstStyle/>
          <a:p>
            <a:pPr algn="ctr" defTabSz="195263"/>
            <a:r>
              <a:rPr lang="en-GB" altLang="en-US" sz="2100" b="1" dirty="0">
                <a:solidFill>
                  <a:srgbClr val="CC3300"/>
                </a:solidFill>
              </a:rPr>
              <a:t>Poster title goes here, </a:t>
            </a:r>
            <a:r>
              <a:rPr lang="en-AU" altLang="en-US" sz="2100" b="1" dirty="0">
                <a:solidFill>
                  <a:srgbClr val="CC3300"/>
                </a:solidFill>
              </a:rPr>
              <a:t>containing strictly </a:t>
            </a:r>
            <a:br>
              <a:rPr lang="en-AU" altLang="en-US" sz="2100" b="1" dirty="0">
                <a:solidFill>
                  <a:srgbClr val="CC3300"/>
                </a:solidFill>
              </a:rPr>
            </a:br>
            <a:r>
              <a:rPr lang="en-AU" altLang="en-US" sz="2100" b="1" dirty="0">
                <a:solidFill>
                  <a:srgbClr val="CC3300"/>
                </a:solidFill>
              </a:rPr>
              <a:t>only the essential number of words...</a:t>
            </a:r>
          </a:p>
        </p:txBody>
      </p:sp>
      <p:pic>
        <p:nvPicPr>
          <p:cNvPr id="22538" name="Picture 10" descr="unsw"/>
          <p:cNvPicPr>
            <a:picLocks noChangeAspect="1" noChangeArrowheads="1"/>
          </p:cNvPicPr>
          <p:nvPr/>
        </p:nvPicPr>
        <p:blipFill>
          <a:blip r:embed="rId3" cstate="print"/>
          <a:srcRect/>
          <a:stretch>
            <a:fillRect/>
          </a:stretch>
        </p:blipFill>
        <p:spPr bwMode="auto">
          <a:xfrm>
            <a:off x="11188700" y="392113"/>
            <a:ext cx="510117" cy="657225"/>
          </a:xfrm>
          <a:prstGeom prst="rect">
            <a:avLst/>
          </a:prstGeom>
          <a:noFill/>
          <a:ln w="9525">
            <a:noFill/>
            <a:miter lim="800000"/>
            <a:headEnd/>
            <a:tailEnd/>
          </a:ln>
        </p:spPr>
      </p:pic>
      <p:sp>
        <p:nvSpPr>
          <p:cNvPr id="22539" name="Text Box 11"/>
          <p:cNvSpPr txBox="1">
            <a:spLocks noChangeArrowheads="1"/>
          </p:cNvSpPr>
          <p:nvPr/>
        </p:nvSpPr>
        <p:spPr bwMode="auto">
          <a:xfrm>
            <a:off x="317500" y="1241425"/>
            <a:ext cx="11557000" cy="554038"/>
          </a:xfrm>
          <a:prstGeom prst="rect">
            <a:avLst/>
          </a:prstGeom>
          <a:noFill/>
          <a:ln w="9525">
            <a:noFill/>
            <a:miter lim="800000"/>
            <a:headEnd/>
            <a:tailEnd/>
          </a:ln>
          <a:effectLst/>
        </p:spPr>
        <p:txBody>
          <a:bodyPr lIns="77040" tIns="77040" rIns="77040" bIns="77040"/>
          <a:lstStyle/>
          <a:p>
            <a:pPr algn="ctr" defTabSz="195263">
              <a:spcBef>
                <a:spcPct val="20000"/>
              </a:spcBef>
            </a:pPr>
            <a:r>
              <a:rPr lang="en-GB" altLang="en-US" sz="1200" b="1"/>
              <a:t>Author’s Name/s Goes Here, Author’s Name/s Goes Here, Author’s Name/s Goes Here</a:t>
            </a:r>
          </a:p>
          <a:p>
            <a:pPr algn="ctr" defTabSz="195263">
              <a:spcBef>
                <a:spcPct val="20000"/>
              </a:spcBef>
            </a:pPr>
            <a:r>
              <a:rPr lang="en-GB" altLang="en-US" sz="1100"/>
              <a:t>Address/es Goes Here, Address/es Goes Here, Address/es Goes Here</a:t>
            </a:r>
          </a:p>
        </p:txBody>
      </p:sp>
      <p:pic>
        <p:nvPicPr>
          <p:cNvPr id="22540" name="Picture 12" descr="powh"/>
          <p:cNvPicPr>
            <a:picLocks noChangeAspect="1" noChangeArrowheads="1"/>
          </p:cNvPicPr>
          <p:nvPr/>
        </p:nvPicPr>
        <p:blipFill>
          <a:blip r:embed="rId4" cstate="print"/>
          <a:srcRect/>
          <a:stretch>
            <a:fillRect/>
          </a:stretch>
        </p:blipFill>
        <p:spPr bwMode="auto">
          <a:xfrm>
            <a:off x="486834" y="406400"/>
            <a:ext cx="757767" cy="609600"/>
          </a:xfrm>
          <a:prstGeom prst="rect">
            <a:avLst/>
          </a:prstGeom>
          <a:noFill/>
          <a:ln w="9525">
            <a:noFill/>
            <a:miter lim="800000"/>
            <a:headEnd/>
            <a:tailEnd/>
          </a:ln>
        </p:spPr>
      </p:pic>
      <p:sp>
        <p:nvSpPr>
          <p:cNvPr id="22541" name="Rectangle 13"/>
          <p:cNvSpPr>
            <a:spLocks noChangeArrowheads="1"/>
          </p:cNvSpPr>
          <p:nvPr/>
        </p:nvSpPr>
        <p:spPr bwMode="auto">
          <a:xfrm>
            <a:off x="6328834" y="5537200"/>
            <a:ext cx="2476500"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2542" name="Text Box 14"/>
          <p:cNvSpPr txBox="1">
            <a:spLocks noChangeArrowheads="1"/>
          </p:cNvSpPr>
          <p:nvPr/>
        </p:nvSpPr>
        <p:spPr bwMode="auto">
          <a:xfrm>
            <a:off x="6328834" y="6362701"/>
            <a:ext cx="2476500" cy="142870"/>
          </a:xfrm>
          <a:prstGeom prst="rect">
            <a:avLst/>
          </a:prstGeom>
          <a:noFill/>
          <a:ln w="9525">
            <a:noFill/>
            <a:miter lim="800000"/>
            <a:headEnd/>
            <a:tailEnd/>
          </a:ln>
          <a:effectLst/>
        </p:spPr>
        <p:txBody>
          <a:bodyPr lIns="0" tIns="9784" rIns="0" bIns="9784">
            <a:spAutoFit/>
          </a:bodyPr>
          <a:lstStyle/>
          <a:p>
            <a:pPr defTabSz="195263">
              <a:spcBef>
                <a:spcPct val="50000"/>
              </a:spcBef>
            </a:pPr>
            <a:r>
              <a:rPr lang="en-AU" altLang="en-US" sz="400" i="1" dirty="0">
                <a:latin typeface="Times New Roman" pitchFamily="18" charset="0"/>
              </a:rPr>
              <a:t>Captions to be set in Times or Times New Roman or equivalent, italic, 18 to 24 points, to the length of the column in case a figure takes more than 2/3 of column width.</a:t>
            </a:r>
          </a:p>
        </p:txBody>
      </p:sp>
      <p:sp>
        <p:nvSpPr>
          <p:cNvPr id="22543" name="Rectangle 15"/>
          <p:cNvSpPr>
            <a:spLocks noChangeArrowheads="1"/>
          </p:cNvSpPr>
          <p:nvPr/>
        </p:nvSpPr>
        <p:spPr bwMode="auto">
          <a:xfrm>
            <a:off x="6328834" y="4602163"/>
            <a:ext cx="1500717"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2544" name="Text Box 16"/>
          <p:cNvSpPr txBox="1">
            <a:spLocks noChangeArrowheads="1"/>
          </p:cNvSpPr>
          <p:nvPr/>
        </p:nvSpPr>
        <p:spPr bwMode="auto">
          <a:xfrm>
            <a:off x="7831667" y="4556125"/>
            <a:ext cx="973667" cy="447124"/>
          </a:xfrm>
          <a:prstGeom prst="rect">
            <a:avLst/>
          </a:prstGeom>
          <a:noFill/>
          <a:ln w="9525">
            <a:noFill/>
            <a:miter lim="800000"/>
            <a:headEnd/>
            <a:tailEnd/>
          </a:ln>
          <a:effectLst/>
        </p:spPr>
        <p:txBody>
          <a:bodyPr lIns="38520" tIns="38520" rIns="38520" bIns="38520">
            <a:spAutoFit/>
          </a:bodyPr>
          <a:lstStyle/>
          <a:p>
            <a:pPr defTabSz="195263"/>
            <a:r>
              <a:rPr lang="en-AU" altLang="en-US" sz="400" i="1" dirty="0">
                <a:latin typeface="Times New Roman" pitchFamily="18" charset="0"/>
              </a:rPr>
              <a:t>Captions to be set in Times or Times New Roman or equivalent, italic, between 18 and 24 points. </a:t>
            </a:r>
          </a:p>
          <a:p>
            <a:pPr defTabSz="195263"/>
            <a:r>
              <a:rPr lang="en-AU" altLang="en-US" sz="400" i="1" dirty="0">
                <a:latin typeface="Times New Roman" pitchFamily="18" charset="0"/>
              </a:rPr>
              <a:t>Left aligned if it refers to a figure on its left. Caption starts right at the top edge of the picture (graph or photo).</a:t>
            </a:r>
          </a:p>
        </p:txBody>
      </p:sp>
      <p:sp>
        <p:nvSpPr>
          <p:cNvPr id="22545" name="Text Box 17"/>
          <p:cNvSpPr txBox="1">
            <a:spLocks noChangeArrowheads="1"/>
          </p:cNvSpPr>
          <p:nvPr/>
        </p:nvSpPr>
        <p:spPr bwMode="auto">
          <a:xfrm>
            <a:off x="3386667" y="4551363"/>
            <a:ext cx="973667" cy="447124"/>
          </a:xfrm>
          <a:prstGeom prst="rect">
            <a:avLst/>
          </a:prstGeom>
          <a:noFill/>
          <a:ln w="9525">
            <a:noFill/>
            <a:miter lim="800000"/>
            <a:headEnd/>
            <a:tailEnd/>
          </a:ln>
          <a:effectLst/>
        </p:spPr>
        <p:txBody>
          <a:bodyPr lIns="38520" tIns="38520" rIns="38520" bIns="38520">
            <a:spAutoFit/>
          </a:bodyPr>
          <a:lstStyle/>
          <a:p>
            <a:pPr algn="r" defTabSz="195263"/>
            <a:r>
              <a:rPr lang="en-AU" altLang="en-US" sz="400" i="1" dirty="0">
                <a:latin typeface="Times New Roman" pitchFamily="18" charset="0"/>
              </a:rPr>
              <a:t>Captions to be set in Times or Times New Roman or equivalent, italic, between 18 and 24 points. Right aligned if it refers to a figure on its right. Caption starts right at the top edge of the picture (graph or photo).</a:t>
            </a:r>
          </a:p>
        </p:txBody>
      </p:sp>
      <p:sp>
        <p:nvSpPr>
          <p:cNvPr id="22546" name="Rectangle 18"/>
          <p:cNvSpPr>
            <a:spLocks noChangeArrowheads="1"/>
          </p:cNvSpPr>
          <p:nvPr/>
        </p:nvSpPr>
        <p:spPr bwMode="auto">
          <a:xfrm>
            <a:off x="4362451" y="4602163"/>
            <a:ext cx="1500716"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2547" name="Rectangle 19"/>
          <p:cNvSpPr>
            <a:spLocks noChangeArrowheads="1"/>
          </p:cNvSpPr>
          <p:nvPr/>
        </p:nvSpPr>
        <p:spPr bwMode="auto">
          <a:xfrm>
            <a:off x="3386667" y="5537200"/>
            <a:ext cx="2476500"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2548" name="Text Box 20"/>
          <p:cNvSpPr txBox="1">
            <a:spLocks noChangeArrowheads="1"/>
          </p:cNvSpPr>
          <p:nvPr/>
        </p:nvSpPr>
        <p:spPr bwMode="auto">
          <a:xfrm>
            <a:off x="3386667" y="6362701"/>
            <a:ext cx="2476500" cy="142870"/>
          </a:xfrm>
          <a:prstGeom prst="rect">
            <a:avLst/>
          </a:prstGeom>
          <a:noFill/>
          <a:ln w="9525">
            <a:noFill/>
            <a:miter lim="800000"/>
            <a:headEnd/>
            <a:tailEnd/>
          </a:ln>
          <a:effectLst/>
        </p:spPr>
        <p:txBody>
          <a:bodyPr lIns="0" tIns="9784" rIns="0" bIns="9784">
            <a:spAutoFit/>
          </a:bodyPr>
          <a:lstStyle/>
          <a:p>
            <a:pPr defTabSz="195263">
              <a:spcBef>
                <a:spcPct val="50000"/>
              </a:spcBef>
            </a:pPr>
            <a:r>
              <a:rPr lang="en-AU" altLang="en-US" sz="400" i="1" dirty="0">
                <a:latin typeface="Times New Roman" pitchFamily="18" charset="0"/>
              </a:rPr>
              <a:t>Captions to be set in Times or Times New Roman or equivalent, italic, 18 to 24 points, to the length of the column in case a figure takes more than 2/3 of column width.</a:t>
            </a:r>
          </a:p>
        </p:txBody>
      </p:sp>
      <p:sp>
        <p:nvSpPr>
          <p:cNvPr id="22549" name="Rectangle 21"/>
          <p:cNvSpPr>
            <a:spLocks noChangeArrowheads="1"/>
          </p:cNvSpPr>
          <p:nvPr/>
        </p:nvSpPr>
        <p:spPr bwMode="auto">
          <a:xfrm>
            <a:off x="3386667" y="3636963"/>
            <a:ext cx="1500717"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2550" name="Text Box 22"/>
          <p:cNvSpPr txBox="1">
            <a:spLocks noChangeArrowheads="1"/>
          </p:cNvSpPr>
          <p:nvPr/>
        </p:nvSpPr>
        <p:spPr bwMode="auto">
          <a:xfrm>
            <a:off x="4889500" y="3590925"/>
            <a:ext cx="973667" cy="447124"/>
          </a:xfrm>
          <a:prstGeom prst="rect">
            <a:avLst/>
          </a:prstGeom>
          <a:noFill/>
          <a:ln w="9525">
            <a:noFill/>
            <a:miter lim="800000"/>
            <a:headEnd/>
            <a:tailEnd/>
          </a:ln>
          <a:effectLst/>
        </p:spPr>
        <p:txBody>
          <a:bodyPr lIns="38520" tIns="38520" rIns="38520" bIns="38520">
            <a:spAutoFit/>
          </a:bodyPr>
          <a:lstStyle/>
          <a:p>
            <a:pPr defTabSz="195263"/>
            <a:r>
              <a:rPr lang="en-AU" altLang="en-US" sz="400" i="1" dirty="0">
                <a:latin typeface="Times New Roman" pitchFamily="18" charset="0"/>
              </a:rPr>
              <a:t>Captions to be set in Times or Times New Roman or equivalent, italic, between 18 and 24 points. </a:t>
            </a:r>
          </a:p>
          <a:p>
            <a:pPr defTabSz="195263"/>
            <a:r>
              <a:rPr lang="en-AU" altLang="en-US" sz="400" i="1" dirty="0">
                <a:latin typeface="Times New Roman" pitchFamily="18" charset="0"/>
              </a:rPr>
              <a:t>Left aligned if it refers to a figure on its left. Caption starts right at the top edge of the picture (graph or photo).</a:t>
            </a:r>
          </a:p>
        </p:txBody>
      </p:sp>
    </p:spTree>
    <p:extLst>
      <p:ext uri="{BB962C8B-B14F-4D97-AF65-F5344CB8AC3E}">
        <p14:creationId xmlns:p14="http://schemas.microsoft.com/office/powerpoint/2010/main" val="13510438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317500" y="2065339"/>
            <a:ext cx="2728384" cy="1282047"/>
          </a:xfrm>
          <a:prstGeom prst="rect">
            <a:avLst/>
          </a:prstGeom>
          <a:noFill/>
          <a:ln w="9525">
            <a:noFill/>
            <a:miter lim="800000"/>
            <a:headEnd/>
            <a:tailEnd/>
          </a:ln>
          <a:effectLst/>
        </p:spPr>
        <p:txBody>
          <a:bodyPr lIns="77040" tIns="77040" rIns="77040" bIns="77040">
            <a:spAutoFit/>
          </a:bodyPr>
          <a:lstStyle/>
          <a:p>
            <a:pPr defTabSz="195263">
              <a:spcBef>
                <a:spcPct val="40000"/>
              </a:spcBef>
            </a:pPr>
            <a:r>
              <a:rPr lang="en-AU" altLang="en-US" sz="600" dirty="0"/>
              <a:t>First…</a:t>
            </a:r>
          </a:p>
          <a:p>
            <a:pPr defTabSz="195263">
              <a:spcBef>
                <a:spcPct val="40000"/>
              </a:spcBef>
            </a:pPr>
            <a:r>
              <a:rPr lang="en-AU" altLang="en-US" sz="600" dirty="0"/>
              <a:t>Check with conference organisers on their specifications of size and orientation, before you start your poster </a:t>
            </a:r>
            <a:r>
              <a:rPr lang="en-AU" altLang="en-US" sz="600" dirty="0" err="1"/>
              <a:t>eg</a:t>
            </a:r>
            <a:r>
              <a:rPr lang="en-AU" altLang="en-US" sz="600" dirty="0"/>
              <a:t>. maximum poster size; landscape, portrait or square.</a:t>
            </a:r>
          </a:p>
          <a:p>
            <a:pPr defTabSz="195263">
              <a:spcBef>
                <a:spcPct val="40000"/>
              </a:spcBef>
            </a:pPr>
            <a:r>
              <a:rPr lang="en-AU" altLang="en-US" sz="600" dirty="0"/>
              <a:t>The page size of this poster template is A0 (84x119cm), landscape (horizontal) format. Do not change this page size, MIU can scale-to-fit a smaller or larger size, when printing. If you need a different shape start with either a portrait (vertical) or a square poster template. </a:t>
            </a:r>
          </a:p>
          <a:p>
            <a:pPr defTabSz="195263">
              <a:spcBef>
                <a:spcPct val="40000"/>
              </a:spcBef>
            </a:pPr>
            <a:r>
              <a:rPr lang="en-AU" altLang="en-US" sz="600" dirty="0"/>
              <a:t>Bear in mind you do not need to fill up the whole space allocated by some conference organisers (</a:t>
            </a:r>
            <a:r>
              <a:rPr lang="en-AU" altLang="en-US" sz="600" dirty="0" err="1"/>
              <a:t>eg</a:t>
            </a:r>
            <a:r>
              <a:rPr lang="en-AU" altLang="en-US" sz="600" dirty="0"/>
              <a:t>. 8ftx4ft in the USA). Do not make your poster bigger than necessary just to fill that given size.</a:t>
            </a:r>
          </a:p>
        </p:txBody>
      </p:sp>
      <p:sp>
        <p:nvSpPr>
          <p:cNvPr id="23555" name="Text Box 3"/>
          <p:cNvSpPr txBox="1">
            <a:spLocks noChangeArrowheads="1"/>
          </p:cNvSpPr>
          <p:nvPr/>
        </p:nvSpPr>
        <p:spPr bwMode="auto">
          <a:xfrm>
            <a:off x="3259667" y="2065338"/>
            <a:ext cx="2728384" cy="1392846"/>
          </a:xfrm>
          <a:prstGeom prst="rect">
            <a:avLst/>
          </a:prstGeom>
          <a:noFill/>
          <a:ln w="9525">
            <a:noFill/>
            <a:miter lim="800000"/>
            <a:headEnd/>
            <a:tailEnd/>
          </a:ln>
          <a:effectLst/>
        </p:spPr>
        <p:txBody>
          <a:bodyPr lIns="77040" tIns="77040" rIns="77040" bIns="77040">
            <a:spAutoFit/>
          </a:bodyPr>
          <a:lstStyle/>
          <a:p>
            <a:pPr marL="61913" indent="-61913" defTabSz="195263">
              <a:spcBef>
                <a:spcPct val="40000"/>
              </a:spcBef>
              <a:buSzPct val="60000"/>
              <a:buFont typeface="Monotype Sorts" charset="2"/>
              <a:buNone/>
            </a:pPr>
            <a:r>
              <a:rPr lang="en-AU" altLang="en-US" sz="600" dirty="0"/>
              <a:t>Tips for making a successful poster…</a:t>
            </a:r>
          </a:p>
          <a:p>
            <a:pPr marL="61913" indent="-61913" defTabSz="195263">
              <a:spcBef>
                <a:spcPct val="40000"/>
              </a:spcBef>
              <a:buFont typeface="Wingdings" pitchFamily="2" charset="2"/>
              <a:buChar char="§"/>
            </a:pPr>
            <a:r>
              <a:rPr lang="en-AU" altLang="en-US" sz="600" dirty="0"/>
              <a:t>Re-write your paper into poster format </a:t>
            </a:r>
            <a:r>
              <a:rPr lang="en-AU" altLang="en-US" sz="600" dirty="0" err="1"/>
              <a:t>ie</a:t>
            </a:r>
            <a:r>
              <a:rPr lang="en-AU" altLang="en-US" sz="600" dirty="0"/>
              <a:t>.</a:t>
            </a:r>
            <a:br>
              <a:rPr lang="en-AU" altLang="en-US" sz="600" dirty="0"/>
            </a:br>
            <a:r>
              <a:rPr lang="en-AU" altLang="en-US" sz="600" dirty="0"/>
              <a:t>Simplify everything, avoid data overkill.</a:t>
            </a:r>
          </a:p>
          <a:p>
            <a:pPr marL="61913" indent="-61913" defTabSz="195263">
              <a:spcBef>
                <a:spcPct val="40000"/>
              </a:spcBef>
              <a:buFont typeface="Wingdings" pitchFamily="2" charset="2"/>
              <a:buChar char="§"/>
            </a:pPr>
            <a:r>
              <a:rPr lang="en-AU" altLang="en-US" sz="600" dirty="0"/>
              <a:t>Headings of more than 6 words should be in upper and lower case, not all capitals.</a:t>
            </a:r>
          </a:p>
          <a:p>
            <a:pPr marL="61913" indent="-61913" defTabSz="195263">
              <a:spcBef>
                <a:spcPct val="40000"/>
              </a:spcBef>
              <a:buFont typeface="Wingdings" pitchFamily="2" charset="2"/>
              <a:buChar char="§"/>
            </a:pPr>
            <a:r>
              <a:rPr lang="en-AU" altLang="en-US" sz="600" dirty="0"/>
              <a:t>Never do whole sentences in capitals or underline to stress your point, use </a:t>
            </a:r>
            <a:r>
              <a:rPr lang="en-AU" altLang="en-US" sz="600" b="1" dirty="0"/>
              <a:t>bold</a:t>
            </a:r>
            <a:r>
              <a:rPr lang="en-AU" altLang="en-US" sz="600" dirty="0"/>
              <a:t> characters instead.</a:t>
            </a:r>
          </a:p>
          <a:p>
            <a:pPr marL="61913" indent="-61913" defTabSz="195263">
              <a:spcBef>
                <a:spcPct val="40000"/>
              </a:spcBef>
              <a:buFont typeface="Wingdings" pitchFamily="2" charset="2"/>
              <a:buChar char="§"/>
            </a:pPr>
            <a:r>
              <a:rPr lang="en-AU" altLang="en-US" sz="600" dirty="0"/>
              <a:t>When laying out your poster leave breathing space around you text. Don’t overcrowd your poster.</a:t>
            </a:r>
          </a:p>
          <a:p>
            <a:pPr marL="61913" indent="-61913" defTabSz="195263">
              <a:spcBef>
                <a:spcPct val="40000"/>
              </a:spcBef>
              <a:buFont typeface="Wingdings" pitchFamily="2" charset="2"/>
              <a:buChar char="§"/>
            </a:pPr>
            <a:r>
              <a:rPr lang="en-AU" altLang="en-US" sz="600" dirty="0"/>
              <a:t>Try using photographs or coloured graphs. Avoid long numerical tables.</a:t>
            </a:r>
          </a:p>
          <a:p>
            <a:pPr marL="61913" indent="-61913" defTabSz="195263">
              <a:spcBef>
                <a:spcPct val="40000"/>
              </a:spcBef>
              <a:buFont typeface="Wingdings" pitchFamily="2" charset="2"/>
              <a:buChar char="§"/>
            </a:pPr>
            <a:r>
              <a:rPr lang="en-AU" altLang="en-US" sz="600" dirty="0"/>
              <a:t>Spell check and get someone else to proof-read.</a:t>
            </a:r>
          </a:p>
        </p:txBody>
      </p:sp>
      <p:sp>
        <p:nvSpPr>
          <p:cNvPr id="23556" name="Text Box 4"/>
          <p:cNvSpPr txBox="1">
            <a:spLocks noChangeArrowheads="1"/>
          </p:cNvSpPr>
          <p:nvPr/>
        </p:nvSpPr>
        <p:spPr bwMode="auto">
          <a:xfrm>
            <a:off x="6201833" y="2065339"/>
            <a:ext cx="2728384" cy="1965311"/>
          </a:xfrm>
          <a:prstGeom prst="rect">
            <a:avLst/>
          </a:prstGeom>
          <a:noFill/>
          <a:ln w="9525">
            <a:noFill/>
            <a:miter lim="800000"/>
            <a:headEnd/>
            <a:tailEnd/>
          </a:ln>
          <a:effectLst/>
        </p:spPr>
        <p:txBody>
          <a:bodyPr lIns="77040" tIns="77040" rIns="77040" bIns="77040">
            <a:spAutoFit/>
          </a:bodyPr>
          <a:lstStyle/>
          <a:p>
            <a:pPr defTabSz="195263">
              <a:spcBef>
                <a:spcPct val="40000"/>
              </a:spcBef>
            </a:pPr>
            <a:r>
              <a:rPr lang="en-AU" altLang="en-US" sz="600" dirty="0"/>
              <a:t>Importing / inserting files…</a:t>
            </a:r>
          </a:p>
          <a:p>
            <a:pPr defTabSz="195263">
              <a:spcBef>
                <a:spcPct val="40000"/>
              </a:spcBef>
            </a:pPr>
            <a:r>
              <a:rPr lang="en-AU" altLang="en-US" sz="600" dirty="0"/>
              <a:t>Images such as photographs, graphs, diagrams, logos, </a:t>
            </a:r>
            <a:r>
              <a:rPr lang="en-AU" altLang="en-US" sz="600" dirty="0" err="1"/>
              <a:t>etc</a:t>
            </a:r>
            <a:r>
              <a:rPr lang="en-AU" altLang="en-US" sz="600" dirty="0"/>
              <a:t>, can be added to the poster.</a:t>
            </a:r>
          </a:p>
          <a:p>
            <a:pPr defTabSz="195263">
              <a:spcBef>
                <a:spcPct val="40000"/>
              </a:spcBef>
            </a:pPr>
            <a:r>
              <a:rPr lang="en-AU" altLang="en-US" sz="600" dirty="0"/>
              <a:t>To insert scanned images into your poster, go through the menus as follows: Insert / Picture / From File… then find the file on your computer, select it, and press OK.</a:t>
            </a:r>
          </a:p>
          <a:p>
            <a:pPr defTabSz="195263">
              <a:spcBef>
                <a:spcPct val="40000"/>
              </a:spcBef>
            </a:pPr>
            <a:r>
              <a:rPr lang="en-AU" altLang="en-US" sz="600" dirty="0"/>
              <a:t>The best type of image files to insert are JPEG or TIFF, JPEG is the preferred format.</a:t>
            </a:r>
          </a:p>
          <a:p>
            <a:pPr defTabSz="195263">
              <a:spcBef>
                <a:spcPct val="40000"/>
              </a:spcBef>
            </a:pPr>
            <a:r>
              <a:rPr lang="en-AU" altLang="en-US" sz="600" b="1" dirty="0"/>
              <a:t>Be aware</a:t>
            </a:r>
            <a:r>
              <a:rPr lang="en-AU" altLang="en-US" sz="600" dirty="0"/>
              <a:t> of the image size you are importing. The average colour photo (13 x 18cm at 180dpi) would be about 3Mb (1Mb for B/W greyscale). Call MIU if unsure.</a:t>
            </a:r>
          </a:p>
          <a:p>
            <a:pPr defTabSz="195263">
              <a:spcBef>
                <a:spcPct val="40000"/>
              </a:spcBef>
            </a:pPr>
            <a:r>
              <a:rPr lang="en-AU" altLang="en-US" sz="600" dirty="0"/>
              <a:t>Do </a:t>
            </a:r>
            <a:r>
              <a:rPr lang="en-AU" altLang="en-US" sz="600" b="1" dirty="0"/>
              <a:t>not </a:t>
            </a:r>
            <a:r>
              <a:rPr lang="en-AU" altLang="en-US" sz="600" dirty="0"/>
              <a:t>use images from the web.</a:t>
            </a:r>
          </a:p>
          <a:p>
            <a:pPr defTabSz="195263">
              <a:spcBef>
                <a:spcPct val="40000"/>
              </a:spcBef>
            </a:pPr>
            <a:endParaRPr lang="en-AU" altLang="en-US" sz="600" dirty="0"/>
          </a:p>
          <a:p>
            <a:pPr defTabSz="195263">
              <a:spcBef>
                <a:spcPct val="40000"/>
              </a:spcBef>
            </a:pPr>
            <a:r>
              <a:rPr lang="en-AU" altLang="en-US" sz="600" dirty="0"/>
              <a:t>Notes about graphs…</a:t>
            </a:r>
          </a:p>
          <a:p>
            <a:pPr defTabSz="195263">
              <a:spcBef>
                <a:spcPct val="40000"/>
              </a:spcBef>
            </a:pPr>
            <a:r>
              <a:rPr lang="en-AU" altLang="en-US" sz="600" dirty="0"/>
              <a:t>For simple graphs use MS Excel, or do the graph directly in PowerPoint.</a:t>
            </a:r>
          </a:p>
          <a:p>
            <a:pPr defTabSz="195263">
              <a:spcBef>
                <a:spcPct val="40000"/>
              </a:spcBef>
            </a:pPr>
            <a:r>
              <a:rPr lang="en-AU" altLang="en-US" sz="600" dirty="0"/>
              <a:t>Graphs done in a scientific graphing programs (</a:t>
            </a:r>
            <a:r>
              <a:rPr lang="en-AU" altLang="en-US" sz="600" dirty="0" err="1"/>
              <a:t>eg</a:t>
            </a:r>
            <a:r>
              <a:rPr lang="en-AU" altLang="en-US" sz="600" dirty="0"/>
              <a:t>. Sigma Plot, Prism, SPSS, </a:t>
            </a:r>
            <a:r>
              <a:rPr lang="en-AU" altLang="en-US" sz="600" dirty="0" err="1"/>
              <a:t>Statistica</a:t>
            </a:r>
            <a:r>
              <a:rPr lang="en-AU" altLang="en-US" sz="600" dirty="0"/>
              <a:t>) should be saved as JPEG or TIFF if possible. For more information see MIU.</a:t>
            </a:r>
          </a:p>
        </p:txBody>
      </p:sp>
      <p:sp>
        <p:nvSpPr>
          <p:cNvPr id="23557" name="Text Box 5"/>
          <p:cNvSpPr txBox="1">
            <a:spLocks noChangeArrowheads="1"/>
          </p:cNvSpPr>
          <p:nvPr/>
        </p:nvSpPr>
        <p:spPr bwMode="auto">
          <a:xfrm>
            <a:off x="9144000" y="2065338"/>
            <a:ext cx="2728384" cy="1300514"/>
          </a:xfrm>
          <a:prstGeom prst="rect">
            <a:avLst/>
          </a:prstGeom>
          <a:noFill/>
          <a:ln w="9525">
            <a:noFill/>
            <a:miter lim="800000"/>
            <a:headEnd/>
            <a:tailEnd/>
          </a:ln>
          <a:effectLst/>
        </p:spPr>
        <p:txBody>
          <a:bodyPr lIns="77040" tIns="77040" rIns="77040" bIns="77040">
            <a:spAutoFit/>
          </a:bodyPr>
          <a:lstStyle/>
          <a:p>
            <a:pPr defTabSz="195263">
              <a:spcBef>
                <a:spcPct val="40000"/>
              </a:spcBef>
            </a:pPr>
            <a:r>
              <a:rPr lang="en-AU" altLang="en-US" sz="600" dirty="0"/>
              <a:t>Printing and Laminating…</a:t>
            </a:r>
          </a:p>
          <a:p>
            <a:pPr defTabSz="195263">
              <a:spcBef>
                <a:spcPct val="40000"/>
              </a:spcBef>
            </a:pPr>
            <a:r>
              <a:rPr lang="en-AU" altLang="en-US" sz="600" dirty="0"/>
              <a:t>Once you have completed your poster, bring it down to MIU for printing. We will produce a A3 size draft print for you to check and proof read. The final poster will then be printed and laminated. </a:t>
            </a:r>
          </a:p>
          <a:p>
            <a:pPr defTabSz="195263">
              <a:spcBef>
                <a:spcPct val="40000"/>
              </a:spcBef>
            </a:pPr>
            <a:r>
              <a:rPr lang="en-AU" altLang="en-US" sz="600" dirty="0"/>
              <a:t>Note: Do not leave your poster until the last minute. Allow at least 5 working days before you need to use it. </a:t>
            </a:r>
          </a:p>
          <a:p>
            <a:pPr defTabSz="195263">
              <a:spcBef>
                <a:spcPct val="40000"/>
              </a:spcBef>
            </a:pPr>
            <a:r>
              <a:rPr lang="en-AU" altLang="en-US" sz="600" dirty="0"/>
              <a:t>Simply highlight this text and replace.</a:t>
            </a:r>
          </a:p>
          <a:p>
            <a:pPr defTabSz="195263">
              <a:spcBef>
                <a:spcPct val="40000"/>
              </a:spcBef>
            </a:pPr>
            <a:endParaRPr lang="en-AU" altLang="en-US" sz="600" dirty="0"/>
          </a:p>
          <a:p>
            <a:pPr defTabSz="195263">
              <a:spcBef>
                <a:spcPct val="40000"/>
              </a:spcBef>
            </a:pPr>
            <a:r>
              <a:rPr lang="en-AU" altLang="en-US" sz="600" dirty="0"/>
              <a:t>Cost…</a:t>
            </a:r>
          </a:p>
          <a:p>
            <a:pPr defTabSz="195263">
              <a:spcBef>
                <a:spcPct val="40000"/>
              </a:spcBef>
            </a:pPr>
            <a:r>
              <a:rPr lang="en-AU" altLang="en-US" sz="600" dirty="0">
                <a:solidFill>
                  <a:srgbClr val="000000"/>
                </a:solidFill>
                <a:cs typeface="Arial" pitchFamily="34" charset="0"/>
              </a:rPr>
              <a:t>For poster-printing and laminating charges contact MIU.</a:t>
            </a:r>
            <a:endParaRPr lang="en-AU" altLang="en-US" sz="600" dirty="0"/>
          </a:p>
        </p:txBody>
      </p:sp>
      <p:sp>
        <p:nvSpPr>
          <p:cNvPr id="23558" name="Text Box 6"/>
          <p:cNvSpPr txBox="1">
            <a:spLocks noChangeArrowheads="1"/>
          </p:cNvSpPr>
          <p:nvPr/>
        </p:nvSpPr>
        <p:spPr bwMode="auto">
          <a:xfrm>
            <a:off x="0" y="0"/>
            <a:ext cx="12192000" cy="1117600"/>
          </a:xfrm>
          <a:prstGeom prst="rect">
            <a:avLst/>
          </a:prstGeom>
          <a:solidFill>
            <a:schemeClr val="bg1"/>
          </a:solidFill>
          <a:ln w="25400">
            <a:solidFill>
              <a:schemeClr val="tx1"/>
            </a:solidFill>
            <a:miter lim="800000"/>
            <a:headEnd/>
            <a:tailEnd/>
          </a:ln>
          <a:effectLst/>
        </p:spPr>
        <p:txBody>
          <a:bodyPr lIns="115560" tIns="154080" rIns="115560" bIns="115560"/>
          <a:lstStyle/>
          <a:p>
            <a:pPr algn="ctr" defTabSz="195263"/>
            <a:r>
              <a:rPr lang="en-GB" altLang="en-US" sz="2400" b="1" dirty="0">
                <a:solidFill>
                  <a:srgbClr val="003399"/>
                </a:solidFill>
              </a:rPr>
              <a:t>Poster title goes here, </a:t>
            </a:r>
            <a:r>
              <a:rPr lang="en-AU" altLang="en-US" sz="2400" b="1" dirty="0">
                <a:solidFill>
                  <a:srgbClr val="003399"/>
                </a:solidFill>
              </a:rPr>
              <a:t>containing strictly </a:t>
            </a:r>
            <a:br>
              <a:rPr lang="en-AU" altLang="en-US" sz="2400" b="1" dirty="0">
                <a:solidFill>
                  <a:srgbClr val="003399"/>
                </a:solidFill>
              </a:rPr>
            </a:br>
            <a:r>
              <a:rPr lang="en-AU" altLang="en-US" sz="2400" b="1" dirty="0">
                <a:solidFill>
                  <a:srgbClr val="003399"/>
                </a:solidFill>
              </a:rPr>
              <a:t>only the essential number of words...</a:t>
            </a:r>
          </a:p>
        </p:txBody>
      </p:sp>
      <p:pic>
        <p:nvPicPr>
          <p:cNvPr id="23559" name="Picture 7" descr="unsw"/>
          <p:cNvPicPr>
            <a:picLocks noChangeAspect="1" noChangeArrowheads="1"/>
          </p:cNvPicPr>
          <p:nvPr/>
        </p:nvPicPr>
        <p:blipFill>
          <a:blip r:embed="rId3" cstate="print"/>
          <a:srcRect/>
          <a:stretch>
            <a:fillRect/>
          </a:stretch>
        </p:blipFill>
        <p:spPr bwMode="auto">
          <a:xfrm>
            <a:off x="11349567" y="220663"/>
            <a:ext cx="524933" cy="676275"/>
          </a:xfrm>
          <a:prstGeom prst="rect">
            <a:avLst/>
          </a:prstGeom>
          <a:noFill/>
          <a:ln w="9525">
            <a:noFill/>
            <a:miter lim="800000"/>
            <a:headEnd/>
            <a:tailEnd/>
          </a:ln>
        </p:spPr>
      </p:pic>
      <p:sp>
        <p:nvSpPr>
          <p:cNvPr id="23560" name="Text Box 8"/>
          <p:cNvSpPr txBox="1">
            <a:spLocks noChangeArrowheads="1"/>
          </p:cNvSpPr>
          <p:nvPr/>
        </p:nvSpPr>
        <p:spPr bwMode="auto">
          <a:xfrm>
            <a:off x="317500" y="1208088"/>
            <a:ext cx="11557000" cy="552450"/>
          </a:xfrm>
          <a:prstGeom prst="rect">
            <a:avLst/>
          </a:prstGeom>
          <a:noFill/>
          <a:ln w="9525">
            <a:noFill/>
            <a:miter lim="800000"/>
            <a:headEnd/>
            <a:tailEnd/>
          </a:ln>
          <a:effectLst/>
        </p:spPr>
        <p:txBody>
          <a:bodyPr lIns="77040" tIns="77040" rIns="77040" bIns="77040"/>
          <a:lstStyle/>
          <a:p>
            <a:pPr algn="ctr" defTabSz="195263">
              <a:spcBef>
                <a:spcPct val="20000"/>
              </a:spcBef>
            </a:pPr>
            <a:r>
              <a:rPr lang="en-GB" altLang="en-US" sz="1200" b="1">
                <a:solidFill>
                  <a:schemeClr val="bg1"/>
                </a:solidFill>
              </a:rPr>
              <a:t>Author’s Name/s Goes Here, Author’s Name/s Goes Here, Author’s Name/s Goes Here</a:t>
            </a:r>
          </a:p>
          <a:p>
            <a:pPr algn="ctr" defTabSz="195263">
              <a:spcBef>
                <a:spcPct val="20000"/>
              </a:spcBef>
            </a:pPr>
            <a:r>
              <a:rPr lang="en-GB" altLang="en-US" sz="1100">
                <a:solidFill>
                  <a:schemeClr val="bg1"/>
                </a:solidFill>
              </a:rPr>
              <a:t>Address/es Goes Here, Address/es Goes Here, Address/es Goes Here</a:t>
            </a:r>
          </a:p>
        </p:txBody>
      </p:sp>
      <p:sp>
        <p:nvSpPr>
          <p:cNvPr id="23561" name="Text Box 9"/>
          <p:cNvSpPr txBox="1">
            <a:spLocks noChangeArrowheads="1"/>
          </p:cNvSpPr>
          <p:nvPr/>
        </p:nvSpPr>
        <p:spPr bwMode="auto">
          <a:xfrm>
            <a:off x="317500" y="4572001"/>
            <a:ext cx="2728384" cy="1263580"/>
          </a:xfrm>
          <a:prstGeom prst="rect">
            <a:avLst/>
          </a:prstGeom>
          <a:noFill/>
          <a:ln w="9525">
            <a:noFill/>
            <a:miter lim="800000"/>
            <a:headEnd/>
            <a:tailEnd/>
          </a:ln>
          <a:effectLst/>
        </p:spPr>
        <p:txBody>
          <a:bodyPr lIns="77040" tIns="77040" rIns="77040" bIns="77040">
            <a:spAutoFit/>
          </a:bodyPr>
          <a:lstStyle/>
          <a:p>
            <a:pPr defTabSz="195263">
              <a:spcBef>
                <a:spcPct val="20000"/>
              </a:spcBef>
            </a:pPr>
            <a:r>
              <a:rPr lang="en-AU" altLang="en-US" sz="600" dirty="0"/>
              <a:t>How to use this poster template…</a:t>
            </a:r>
          </a:p>
          <a:p>
            <a:pPr defTabSz="195263">
              <a:spcBef>
                <a:spcPct val="40000"/>
              </a:spcBef>
            </a:pPr>
            <a:r>
              <a:rPr lang="en-AU" altLang="en-US" sz="600" dirty="0"/>
              <a:t>Simply highlight this text and replace it by typing in your own text, or copy and paste your text from a MS Word document or a PowerPoint slide presentation. </a:t>
            </a:r>
          </a:p>
          <a:p>
            <a:pPr defTabSz="195263">
              <a:spcBef>
                <a:spcPct val="40000"/>
              </a:spcBef>
            </a:pPr>
            <a:r>
              <a:rPr lang="en-AU" altLang="en-US" sz="600" dirty="0"/>
              <a:t>The sub-title text boxes can be moved up or down depending on how big or small your ‘Introduction’, ‘Aim’, ‘Method’, ‘Results’ and ‘Conclusion’ are.</a:t>
            </a:r>
          </a:p>
          <a:p>
            <a:pPr defTabSz="195263">
              <a:spcBef>
                <a:spcPct val="40000"/>
              </a:spcBef>
            </a:pPr>
            <a:r>
              <a:rPr lang="en-AU" altLang="en-US" sz="600" dirty="0"/>
              <a:t>The body text / font size should be between 24 and 32 points. Arial, Helvetica or equivalent. </a:t>
            </a:r>
          </a:p>
          <a:p>
            <a:pPr defTabSz="195263">
              <a:spcBef>
                <a:spcPct val="40000"/>
              </a:spcBef>
            </a:pPr>
            <a:r>
              <a:rPr lang="en-AU" altLang="en-US" sz="600" dirty="0"/>
              <a:t>Keep body text left-aligned, do </a:t>
            </a:r>
            <a:r>
              <a:rPr lang="en-AU" altLang="en-US" sz="600" b="1" dirty="0"/>
              <a:t>not</a:t>
            </a:r>
            <a:r>
              <a:rPr lang="en-AU" altLang="en-US" sz="600" dirty="0"/>
              <a:t> justify text.</a:t>
            </a:r>
          </a:p>
          <a:p>
            <a:pPr defTabSz="195263">
              <a:spcBef>
                <a:spcPct val="40000"/>
              </a:spcBef>
            </a:pPr>
            <a:r>
              <a:rPr lang="en-AU" altLang="en-US" sz="600" dirty="0"/>
              <a:t>The colour of the text, title and poster background can be changed to the colour of your choice.</a:t>
            </a:r>
          </a:p>
        </p:txBody>
      </p:sp>
      <p:sp>
        <p:nvSpPr>
          <p:cNvPr id="23562" name="Text Box 10"/>
          <p:cNvSpPr txBox="1">
            <a:spLocks noChangeArrowheads="1"/>
          </p:cNvSpPr>
          <p:nvPr/>
        </p:nvSpPr>
        <p:spPr bwMode="auto">
          <a:xfrm>
            <a:off x="9144000" y="4386264"/>
            <a:ext cx="2728384" cy="1298575"/>
          </a:xfrm>
          <a:prstGeom prst="rect">
            <a:avLst/>
          </a:prstGeom>
          <a:noFill/>
          <a:ln w="9525">
            <a:noFill/>
            <a:miter lim="800000"/>
            <a:headEnd/>
            <a:tailEnd/>
          </a:ln>
          <a:effectLst/>
        </p:spPr>
        <p:txBody>
          <a:bodyPr lIns="77040" tIns="77040" rIns="77040" bIns="77040">
            <a:spAutoFit/>
          </a:bodyPr>
          <a:lstStyle/>
          <a:p>
            <a:pPr defTabSz="195263">
              <a:spcBef>
                <a:spcPct val="40000"/>
              </a:spcBef>
            </a:pPr>
            <a:r>
              <a:rPr lang="en-AU" altLang="en-US" sz="600" dirty="0"/>
              <a:t>For more information on: </a:t>
            </a:r>
          </a:p>
          <a:p>
            <a:pPr defTabSz="195263">
              <a:spcBef>
                <a:spcPct val="40000"/>
              </a:spcBef>
            </a:pPr>
            <a:r>
              <a:rPr lang="en-AU" altLang="en-US" sz="600" dirty="0"/>
              <a:t>Poster Design, Scanning and Digital Photography, </a:t>
            </a:r>
            <a:br>
              <a:rPr lang="en-AU" altLang="en-US" sz="600" dirty="0"/>
            </a:br>
            <a:r>
              <a:rPr lang="en-AU" altLang="en-US" sz="600" dirty="0"/>
              <a:t>and Image / file size.</a:t>
            </a:r>
          </a:p>
          <a:p>
            <a:pPr defTabSz="195263">
              <a:spcBef>
                <a:spcPct val="40000"/>
              </a:spcBef>
            </a:pPr>
            <a:endParaRPr lang="en-AU" altLang="en-US" sz="600" dirty="0"/>
          </a:p>
          <a:p>
            <a:pPr defTabSz="195263">
              <a:spcBef>
                <a:spcPct val="40000"/>
              </a:spcBef>
            </a:pPr>
            <a:r>
              <a:rPr lang="en-AU" altLang="en-US" sz="600" dirty="0"/>
              <a:t>Contact: </a:t>
            </a:r>
          </a:p>
          <a:p>
            <a:pPr defTabSz="195263">
              <a:spcBef>
                <a:spcPct val="40000"/>
              </a:spcBef>
            </a:pPr>
            <a:r>
              <a:rPr lang="en-AU" altLang="en-US" sz="600" b="1" dirty="0"/>
              <a:t>Medical Illustration Unit</a:t>
            </a:r>
            <a:br>
              <a:rPr lang="en-AU" altLang="en-US" sz="600" dirty="0"/>
            </a:br>
            <a:r>
              <a:rPr lang="en-AU" altLang="en-US" sz="600" dirty="0"/>
              <a:t>Prince of Wales Hospital</a:t>
            </a:r>
          </a:p>
          <a:p>
            <a:pPr defTabSz="195263">
              <a:spcBef>
                <a:spcPct val="40000"/>
              </a:spcBef>
            </a:pPr>
            <a:r>
              <a:rPr lang="en-AU" altLang="en-US" sz="600" dirty="0" err="1"/>
              <a:t>Ph</a:t>
            </a:r>
            <a:r>
              <a:rPr lang="en-AU" altLang="en-US" sz="600" dirty="0"/>
              <a:t>: 9382 2800</a:t>
            </a:r>
            <a:br>
              <a:rPr lang="en-AU" altLang="en-US" sz="600" dirty="0"/>
            </a:br>
            <a:r>
              <a:rPr lang="en-AU" altLang="en-US" sz="600" dirty="0"/>
              <a:t>Email: miunsw@unsw.edu.au</a:t>
            </a:r>
            <a:br>
              <a:rPr lang="en-AU" altLang="en-US" sz="600" dirty="0"/>
            </a:br>
            <a:r>
              <a:rPr lang="en-AU" altLang="en-US" sz="600" dirty="0"/>
              <a:t>Web: http://miu.med.unsw.edu.au</a:t>
            </a:r>
          </a:p>
        </p:txBody>
      </p:sp>
      <p:sp>
        <p:nvSpPr>
          <p:cNvPr id="23563" name="Text Box 11"/>
          <p:cNvSpPr txBox="1">
            <a:spLocks noChangeArrowheads="1"/>
          </p:cNvSpPr>
          <p:nvPr/>
        </p:nvSpPr>
        <p:spPr bwMode="auto">
          <a:xfrm>
            <a:off x="9146118" y="6203950"/>
            <a:ext cx="2728383" cy="247918"/>
          </a:xfrm>
          <a:prstGeom prst="rect">
            <a:avLst/>
          </a:prstGeom>
          <a:noFill/>
          <a:ln w="9525">
            <a:noFill/>
            <a:miter lim="800000"/>
            <a:headEnd/>
            <a:tailEnd/>
          </a:ln>
          <a:effectLst/>
        </p:spPr>
        <p:txBody>
          <a:bodyPr lIns="77040" tIns="77040" rIns="77040" bIns="77040">
            <a:spAutoFit/>
          </a:bodyPr>
          <a:lstStyle/>
          <a:p>
            <a:pPr defTabSz="195263">
              <a:spcBef>
                <a:spcPct val="20000"/>
              </a:spcBef>
              <a:spcAft>
                <a:spcPct val="10000"/>
              </a:spcAft>
            </a:pPr>
            <a:r>
              <a:rPr lang="en-AU" altLang="en-US" sz="600"/>
              <a:t>Just highlight this text and replace with your own text. Replace this with your text. </a:t>
            </a:r>
          </a:p>
        </p:txBody>
      </p:sp>
      <p:pic>
        <p:nvPicPr>
          <p:cNvPr id="23564" name="Picture 12" descr="powh"/>
          <p:cNvPicPr>
            <a:picLocks noChangeAspect="1" noChangeArrowheads="1"/>
          </p:cNvPicPr>
          <p:nvPr/>
        </p:nvPicPr>
        <p:blipFill>
          <a:blip r:embed="rId4" cstate="print"/>
          <a:srcRect/>
          <a:stretch>
            <a:fillRect/>
          </a:stretch>
        </p:blipFill>
        <p:spPr bwMode="auto">
          <a:xfrm>
            <a:off x="317501" y="239713"/>
            <a:ext cx="757767" cy="609600"/>
          </a:xfrm>
          <a:prstGeom prst="rect">
            <a:avLst/>
          </a:prstGeom>
          <a:noFill/>
          <a:ln w="9525">
            <a:noFill/>
            <a:miter lim="800000"/>
            <a:headEnd/>
            <a:tailEnd/>
          </a:ln>
        </p:spPr>
      </p:pic>
      <p:sp>
        <p:nvSpPr>
          <p:cNvPr id="23565" name="Rectangle 13"/>
          <p:cNvSpPr>
            <a:spLocks noChangeArrowheads="1"/>
          </p:cNvSpPr>
          <p:nvPr/>
        </p:nvSpPr>
        <p:spPr bwMode="auto">
          <a:xfrm>
            <a:off x="0" y="1100138"/>
            <a:ext cx="12192000" cy="50800"/>
          </a:xfrm>
          <a:prstGeom prst="rect">
            <a:avLst/>
          </a:prstGeom>
          <a:gradFill rotWithShape="0">
            <a:gsLst>
              <a:gs pos="0">
                <a:srgbClr val="CC3300"/>
              </a:gs>
              <a:gs pos="50000">
                <a:srgbClr val="FF9900"/>
              </a:gs>
              <a:gs pos="100000">
                <a:srgbClr val="CC3300"/>
              </a:gs>
            </a:gsLst>
            <a:lin ang="0" scaled="1"/>
          </a:gradFill>
          <a:ln w="9525">
            <a:noFill/>
            <a:miter lim="800000"/>
            <a:headEnd/>
            <a:tailEnd/>
          </a:ln>
          <a:effectLst/>
        </p:spPr>
        <p:txBody>
          <a:bodyPr wrap="none" anchor="ctr"/>
          <a:lstStyle/>
          <a:p>
            <a:pPr eaLnBrk="1" hangingPunct="1"/>
            <a:endParaRPr lang="en-US"/>
          </a:p>
        </p:txBody>
      </p:sp>
      <p:sp>
        <p:nvSpPr>
          <p:cNvPr id="23566" name="Rectangle 14"/>
          <p:cNvSpPr>
            <a:spLocks noChangeArrowheads="1"/>
          </p:cNvSpPr>
          <p:nvPr/>
        </p:nvSpPr>
        <p:spPr bwMode="auto">
          <a:xfrm>
            <a:off x="6328834" y="5537200"/>
            <a:ext cx="2476500"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3567" name="Text Box 15"/>
          <p:cNvSpPr txBox="1">
            <a:spLocks noChangeArrowheads="1"/>
          </p:cNvSpPr>
          <p:nvPr/>
        </p:nvSpPr>
        <p:spPr bwMode="auto">
          <a:xfrm>
            <a:off x="6328834" y="6362701"/>
            <a:ext cx="2476500" cy="142870"/>
          </a:xfrm>
          <a:prstGeom prst="rect">
            <a:avLst/>
          </a:prstGeom>
          <a:noFill/>
          <a:ln w="9525">
            <a:noFill/>
            <a:miter lim="800000"/>
            <a:headEnd/>
            <a:tailEnd/>
          </a:ln>
          <a:effectLst/>
        </p:spPr>
        <p:txBody>
          <a:bodyPr lIns="0" tIns="9784" rIns="0" bIns="9784">
            <a:spAutoFit/>
          </a:bodyPr>
          <a:lstStyle/>
          <a:p>
            <a:pPr defTabSz="195263">
              <a:spcBef>
                <a:spcPct val="50000"/>
              </a:spcBef>
            </a:pPr>
            <a:r>
              <a:rPr lang="en-AU" altLang="en-US" sz="400" i="1" dirty="0">
                <a:latin typeface="Times New Roman" pitchFamily="18" charset="0"/>
              </a:rPr>
              <a:t>Captions to be set in Times or Times New Roman or equivalent, italic, 18 to 24 points, to the length of the column in case a figure takes more than 2/3 of column width.</a:t>
            </a:r>
          </a:p>
        </p:txBody>
      </p:sp>
      <p:sp>
        <p:nvSpPr>
          <p:cNvPr id="23568" name="Rectangle 16"/>
          <p:cNvSpPr>
            <a:spLocks noChangeArrowheads="1"/>
          </p:cNvSpPr>
          <p:nvPr/>
        </p:nvSpPr>
        <p:spPr bwMode="auto">
          <a:xfrm>
            <a:off x="6328834" y="4602163"/>
            <a:ext cx="1500717"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3569" name="Text Box 17"/>
          <p:cNvSpPr txBox="1">
            <a:spLocks noChangeArrowheads="1"/>
          </p:cNvSpPr>
          <p:nvPr/>
        </p:nvSpPr>
        <p:spPr bwMode="auto">
          <a:xfrm>
            <a:off x="7831667" y="4556125"/>
            <a:ext cx="973667" cy="447124"/>
          </a:xfrm>
          <a:prstGeom prst="rect">
            <a:avLst/>
          </a:prstGeom>
          <a:noFill/>
          <a:ln w="9525">
            <a:noFill/>
            <a:miter lim="800000"/>
            <a:headEnd/>
            <a:tailEnd/>
          </a:ln>
          <a:effectLst/>
        </p:spPr>
        <p:txBody>
          <a:bodyPr lIns="38520" tIns="38520" rIns="38520" bIns="38520">
            <a:spAutoFit/>
          </a:bodyPr>
          <a:lstStyle/>
          <a:p>
            <a:pPr defTabSz="195263"/>
            <a:r>
              <a:rPr lang="en-AU" altLang="en-US" sz="400" i="1" dirty="0">
                <a:latin typeface="Times New Roman" pitchFamily="18" charset="0"/>
              </a:rPr>
              <a:t>Captions to be set in Times or Times New Roman or equivalent, italic, between 18 and 24 points. </a:t>
            </a:r>
          </a:p>
          <a:p>
            <a:pPr defTabSz="195263"/>
            <a:r>
              <a:rPr lang="en-AU" altLang="en-US" sz="400" i="1" dirty="0">
                <a:latin typeface="Times New Roman" pitchFamily="18" charset="0"/>
              </a:rPr>
              <a:t>Left aligned if it refers to a figure on its left. Caption starts right at the top edge of the picture (graph or photo).</a:t>
            </a:r>
          </a:p>
        </p:txBody>
      </p:sp>
      <p:sp>
        <p:nvSpPr>
          <p:cNvPr id="23570" name="Text Box 18"/>
          <p:cNvSpPr txBox="1">
            <a:spLocks noChangeArrowheads="1"/>
          </p:cNvSpPr>
          <p:nvPr/>
        </p:nvSpPr>
        <p:spPr bwMode="auto">
          <a:xfrm>
            <a:off x="3386667" y="4551363"/>
            <a:ext cx="973667" cy="447124"/>
          </a:xfrm>
          <a:prstGeom prst="rect">
            <a:avLst/>
          </a:prstGeom>
          <a:noFill/>
          <a:ln w="9525">
            <a:noFill/>
            <a:miter lim="800000"/>
            <a:headEnd/>
            <a:tailEnd/>
          </a:ln>
          <a:effectLst/>
        </p:spPr>
        <p:txBody>
          <a:bodyPr lIns="38520" tIns="38520" rIns="38520" bIns="38520">
            <a:spAutoFit/>
          </a:bodyPr>
          <a:lstStyle/>
          <a:p>
            <a:pPr algn="r" defTabSz="195263"/>
            <a:r>
              <a:rPr lang="en-AU" altLang="en-US" sz="400" i="1" dirty="0">
                <a:latin typeface="Times New Roman" pitchFamily="18" charset="0"/>
              </a:rPr>
              <a:t>Captions to be set in Times or Times New Roman or equivalent, italic, between 18 and 24 points. Right aligned if it refers to a figure on its right. Caption starts right at the top edge of the picture (graph or photo).</a:t>
            </a:r>
          </a:p>
        </p:txBody>
      </p:sp>
      <p:sp>
        <p:nvSpPr>
          <p:cNvPr id="23571" name="Rectangle 19"/>
          <p:cNvSpPr>
            <a:spLocks noChangeArrowheads="1"/>
          </p:cNvSpPr>
          <p:nvPr/>
        </p:nvSpPr>
        <p:spPr bwMode="auto">
          <a:xfrm>
            <a:off x="4362451" y="4602163"/>
            <a:ext cx="1500716"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3572" name="Rectangle 20"/>
          <p:cNvSpPr>
            <a:spLocks noChangeArrowheads="1"/>
          </p:cNvSpPr>
          <p:nvPr/>
        </p:nvSpPr>
        <p:spPr bwMode="auto">
          <a:xfrm>
            <a:off x="3386667" y="5537200"/>
            <a:ext cx="2476500"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3573" name="Text Box 21"/>
          <p:cNvSpPr txBox="1">
            <a:spLocks noChangeArrowheads="1"/>
          </p:cNvSpPr>
          <p:nvPr/>
        </p:nvSpPr>
        <p:spPr bwMode="auto">
          <a:xfrm>
            <a:off x="3386667" y="6362701"/>
            <a:ext cx="2476500" cy="142870"/>
          </a:xfrm>
          <a:prstGeom prst="rect">
            <a:avLst/>
          </a:prstGeom>
          <a:noFill/>
          <a:ln w="9525">
            <a:noFill/>
            <a:miter lim="800000"/>
            <a:headEnd/>
            <a:tailEnd/>
          </a:ln>
          <a:effectLst/>
        </p:spPr>
        <p:txBody>
          <a:bodyPr lIns="0" tIns="9784" rIns="0" bIns="9784">
            <a:spAutoFit/>
          </a:bodyPr>
          <a:lstStyle/>
          <a:p>
            <a:pPr defTabSz="195263">
              <a:spcBef>
                <a:spcPct val="50000"/>
              </a:spcBef>
            </a:pPr>
            <a:r>
              <a:rPr lang="en-AU" altLang="en-US" sz="400" i="1" dirty="0">
                <a:latin typeface="Times New Roman" pitchFamily="18" charset="0"/>
              </a:rPr>
              <a:t>Captions to be set in Times or Times New Roman or equivalent, italic, 18 to 24 points, to the length of the column in case a figure takes more than 2/3 of column width.</a:t>
            </a:r>
          </a:p>
        </p:txBody>
      </p:sp>
      <p:sp>
        <p:nvSpPr>
          <p:cNvPr id="23574" name="Rectangle 22"/>
          <p:cNvSpPr>
            <a:spLocks noChangeArrowheads="1"/>
          </p:cNvSpPr>
          <p:nvPr/>
        </p:nvSpPr>
        <p:spPr bwMode="auto">
          <a:xfrm>
            <a:off x="3386667" y="3636963"/>
            <a:ext cx="1500717"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3575" name="Text Box 23"/>
          <p:cNvSpPr txBox="1">
            <a:spLocks noChangeArrowheads="1"/>
          </p:cNvSpPr>
          <p:nvPr/>
        </p:nvSpPr>
        <p:spPr bwMode="auto">
          <a:xfrm>
            <a:off x="4889500" y="3590925"/>
            <a:ext cx="973667" cy="447124"/>
          </a:xfrm>
          <a:prstGeom prst="rect">
            <a:avLst/>
          </a:prstGeom>
          <a:noFill/>
          <a:ln w="9525">
            <a:noFill/>
            <a:miter lim="800000"/>
            <a:headEnd/>
            <a:tailEnd/>
          </a:ln>
          <a:effectLst/>
        </p:spPr>
        <p:txBody>
          <a:bodyPr lIns="38520" tIns="38520" rIns="38520" bIns="38520">
            <a:spAutoFit/>
          </a:bodyPr>
          <a:lstStyle/>
          <a:p>
            <a:pPr defTabSz="195263"/>
            <a:r>
              <a:rPr lang="en-AU" altLang="en-US" sz="400" i="1" dirty="0">
                <a:latin typeface="Times New Roman" pitchFamily="18" charset="0"/>
              </a:rPr>
              <a:t>Captions to be set in Times or Times New Roman or equivalent, italic, between 18 and 24 points. </a:t>
            </a:r>
          </a:p>
          <a:p>
            <a:pPr defTabSz="195263"/>
            <a:r>
              <a:rPr lang="en-AU" altLang="en-US" sz="400" i="1" dirty="0">
                <a:latin typeface="Times New Roman" pitchFamily="18" charset="0"/>
              </a:rPr>
              <a:t>Left aligned if it refers to a figure on its left. Caption starts right at the top edge of the picture (graph or photo).</a:t>
            </a:r>
          </a:p>
        </p:txBody>
      </p:sp>
      <p:sp>
        <p:nvSpPr>
          <p:cNvPr id="23576" name="Text Box 24"/>
          <p:cNvSpPr txBox="1">
            <a:spLocks noChangeArrowheads="1"/>
          </p:cNvSpPr>
          <p:nvPr/>
        </p:nvSpPr>
        <p:spPr bwMode="auto">
          <a:xfrm>
            <a:off x="317501" y="1862139"/>
            <a:ext cx="2730500" cy="217487"/>
          </a:xfrm>
          <a:prstGeom prst="rect">
            <a:avLst/>
          </a:prstGeom>
          <a:solidFill>
            <a:srgbClr val="003399"/>
          </a:solidFill>
          <a:ln w="9525">
            <a:solidFill>
              <a:srgbClr val="6600CC"/>
            </a:solidFill>
            <a:miter lim="800000"/>
            <a:headEnd/>
            <a:tailEnd/>
          </a:ln>
          <a:effectLst/>
        </p:spPr>
        <p:txBody>
          <a:bodyPr lIns="77040" tIns="38520" rIns="77040" bIns="38520">
            <a:spAutoFit/>
          </a:bodyPr>
          <a:lstStyle/>
          <a:p>
            <a:pPr defTabSz="195263">
              <a:spcBef>
                <a:spcPct val="50000"/>
              </a:spcBef>
            </a:pPr>
            <a:r>
              <a:rPr lang="en-GB" altLang="en-US" sz="900" b="1">
                <a:solidFill>
                  <a:schemeClr val="bg1"/>
                </a:solidFill>
              </a:rPr>
              <a:t>Introduction</a:t>
            </a:r>
            <a:endParaRPr lang="en-US" altLang="en-US" sz="900" b="1">
              <a:solidFill>
                <a:schemeClr val="bg1"/>
              </a:solidFill>
            </a:endParaRPr>
          </a:p>
        </p:txBody>
      </p:sp>
      <p:sp>
        <p:nvSpPr>
          <p:cNvPr id="23577" name="Text Box 25"/>
          <p:cNvSpPr txBox="1">
            <a:spLocks noChangeArrowheads="1"/>
          </p:cNvSpPr>
          <p:nvPr/>
        </p:nvSpPr>
        <p:spPr bwMode="auto">
          <a:xfrm>
            <a:off x="3259667" y="1862139"/>
            <a:ext cx="2730500" cy="217487"/>
          </a:xfrm>
          <a:prstGeom prst="rect">
            <a:avLst/>
          </a:prstGeom>
          <a:solidFill>
            <a:srgbClr val="003399"/>
          </a:solidFill>
          <a:ln w="9525">
            <a:solidFill>
              <a:srgbClr val="6600CC"/>
            </a:solidFill>
            <a:miter lim="800000"/>
            <a:headEnd/>
            <a:tailEnd/>
          </a:ln>
          <a:effectLst/>
        </p:spPr>
        <p:txBody>
          <a:bodyPr lIns="77040" tIns="38520" rIns="77040" bIns="38520">
            <a:spAutoFit/>
          </a:bodyPr>
          <a:lstStyle/>
          <a:p>
            <a:pPr defTabSz="195263">
              <a:spcBef>
                <a:spcPct val="50000"/>
              </a:spcBef>
            </a:pPr>
            <a:r>
              <a:rPr lang="en-GB" altLang="en-US" sz="900" b="1">
                <a:solidFill>
                  <a:schemeClr val="bg1"/>
                </a:solidFill>
              </a:rPr>
              <a:t>Method</a:t>
            </a:r>
            <a:endParaRPr lang="en-US" altLang="en-US" sz="900" b="1">
              <a:solidFill>
                <a:schemeClr val="bg1"/>
              </a:solidFill>
            </a:endParaRPr>
          </a:p>
        </p:txBody>
      </p:sp>
      <p:sp>
        <p:nvSpPr>
          <p:cNvPr id="23578" name="Text Box 26"/>
          <p:cNvSpPr txBox="1">
            <a:spLocks noChangeArrowheads="1"/>
          </p:cNvSpPr>
          <p:nvPr/>
        </p:nvSpPr>
        <p:spPr bwMode="auto">
          <a:xfrm>
            <a:off x="317501" y="4352925"/>
            <a:ext cx="2730500" cy="217488"/>
          </a:xfrm>
          <a:prstGeom prst="rect">
            <a:avLst/>
          </a:prstGeom>
          <a:solidFill>
            <a:srgbClr val="003399"/>
          </a:solidFill>
          <a:ln w="9525">
            <a:solidFill>
              <a:srgbClr val="6600CC"/>
            </a:solidFill>
            <a:miter lim="800000"/>
            <a:headEnd/>
            <a:tailEnd/>
          </a:ln>
          <a:effectLst/>
        </p:spPr>
        <p:txBody>
          <a:bodyPr lIns="77040" tIns="38520" rIns="77040" bIns="38520">
            <a:spAutoFit/>
          </a:bodyPr>
          <a:lstStyle/>
          <a:p>
            <a:pPr defTabSz="195263">
              <a:spcBef>
                <a:spcPct val="50000"/>
              </a:spcBef>
            </a:pPr>
            <a:r>
              <a:rPr lang="en-GB" altLang="en-US" sz="900" b="1">
                <a:solidFill>
                  <a:schemeClr val="bg1"/>
                </a:solidFill>
              </a:rPr>
              <a:t>Aim</a:t>
            </a:r>
            <a:endParaRPr lang="en-US" altLang="en-US" sz="900" b="1">
              <a:solidFill>
                <a:schemeClr val="bg1"/>
              </a:solidFill>
            </a:endParaRPr>
          </a:p>
        </p:txBody>
      </p:sp>
      <p:sp>
        <p:nvSpPr>
          <p:cNvPr id="23579" name="Text Box 27"/>
          <p:cNvSpPr txBox="1">
            <a:spLocks noChangeArrowheads="1"/>
          </p:cNvSpPr>
          <p:nvPr/>
        </p:nvSpPr>
        <p:spPr bwMode="auto">
          <a:xfrm>
            <a:off x="6201834" y="1862139"/>
            <a:ext cx="2730500" cy="217487"/>
          </a:xfrm>
          <a:prstGeom prst="rect">
            <a:avLst/>
          </a:prstGeom>
          <a:solidFill>
            <a:srgbClr val="003399"/>
          </a:solidFill>
          <a:ln w="9525">
            <a:solidFill>
              <a:srgbClr val="6600CC"/>
            </a:solidFill>
            <a:miter lim="800000"/>
            <a:headEnd/>
            <a:tailEnd/>
          </a:ln>
          <a:effectLst/>
        </p:spPr>
        <p:txBody>
          <a:bodyPr lIns="77040" tIns="38520" rIns="77040" bIns="38520">
            <a:spAutoFit/>
          </a:bodyPr>
          <a:lstStyle/>
          <a:p>
            <a:pPr defTabSz="195263">
              <a:spcBef>
                <a:spcPct val="50000"/>
              </a:spcBef>
            </a:pPr>
            <a:r>
              <a:rPr lang="en-GB" altLang="en-US" sz="900" b="1">
                <a:solidFill>
                  <a:schemeClr val="bg1"/>
                </a:solidFill>
              </a:rPr>
              <a:t>Results</a:t>
            </a:r>
            <a:endParaRPr lang="en-US" altLang="en-US" sz="900" b="1">
              <a:solidFill>
                <a:schemeClr val="bg1"/>
              </a:solidFill>
            </a:endParaRPr>
          </a:p>
        </p:txBody>
      </p:sp>
      <p:sp>
        <p:nvSpPr>
          <p:cNvPr id="23580" name="Text Box 28"/>
          <p:cNvSpPr txBox="1">
            <a:spLocks noChangeArrowheads="1"/>
          </p:cNvSpPr>
          <p:nvPr/>
        </p:nvSpPr>
        <p:spPr bwMode="auto">
          <a:xfrm>
            <a:off x="9144001" y="4183064"/>
            <a:ext cx="2730500" cy="217487"/>
          </a:xfrm>
          <a:prstGeom prst="rect">
            <a:avLst/>
          </a:prstGeom>
          <a:solidFill>
            <a:srgbClr val="003399"/>
          </a:solidFill>
          <a:ln w="9525">
            <a:solidFill>
              <a:srgbClr val="6600CC"/>
            </a:solidFill>
            <a:miter lim="800000"/>
            <a:headEnd/>
            <a:tailEnd/>
          </a:ln>
          <a:effectLst/>
        </p:spPr>
        <p:txBody>
          <a:bodyPr lIns="77040" tIns="38520" rIns="77040" bIns="38520">
            <a:spAutoFit/>
          </a:bodyPr>
          <a:lstStyle/>
          <a:p>
            <a:pPr defTabSz="195263">
              <a:spcBef>
                <a:spcPct val="50000"/>
              </a:spcBef>
            </a:pPr>
            <a:r>
              <a:rPr lang="en-GB" altLang="en-US" sz="900" b="1">
                <a:solidFill>
                  <a:schemeClr val="bg1"/>
                </a:solidFill>
              </a:rPr>
              <a:t>Conclusion</a:t>
            </a:r>
            <a:endParaRPr lang="en-US" altLang="en-US" sz="900" b="1">
              <a:solidFill>
                <a:schemeClr val="bg1"/>
              </a:solidFill>
            </a:endParaRPr>
          </a:p>
        </p:txBody>
      </p:sp>
      <p:sp>
        <p:nvSpPr>
          <p:cNvPr id="23581" name="Text Box 29"/>
          <p:cNvSpPr txBox="1">
            <a:spLocks noChangeArrowheads="1"/>
          </p:cNvSpPr>
          <p:nvPr/>
        </p:nvSpPr>
        <p:spPr bwMode="auto">
          <a:xfrm>
            <a:off x="9144001" y="5995989"/>
            <a:ext cx="2730500" cy="217487"/>
          </a:xfrm>
          <a:prstGeom prst="rect">
            <a:avLst/>
          </a:prstGeom>
          <a:solidFill>
            <a:srgbClr val="003399"/>
          </a:solidFill>
          <a:ln w="9525">
            <a:solidFill>
              <a:srgbClr val="6600CC"/>
            </a:solidFill>
            <a:miter lim="800000"/>
            <a:headEnd/>
            <a:tailEnd/>
          </a:ln>
          <a:effectLst/>
        </p:spPr>
        <p:txBody>
          <a:bodyPr lIns="77040" tIns="38520" rIns="77040" bIns="38520">
            <a:spAutoFit/>
          </a:bodyPr>
          <a:lstStyle/>
          <a:p>
            <a:pPr defTabSz="195263">
              <a:spcBef>
                <a:spcPct val="50000"/>
              </a:spcBef>
            </a:pPr>
            <a:r>
              <a:rPr lang="en-GB" altLang="en-US" sz="900" b="1">
                <a:solidFill>
                  <a:schemeClr val="bg1"/>
                </a:solidFill>
              </a:rPr>
              <a:t>Acknowledgements</a:t>
            </a:r>
            <a:endParaRPr lang="en-US" altLang="en-US" sz="900" b="1">
              <a:solidFill>
                <a:schemeClr val="bg1"/>
              </a:solidFill>
            </a:endParaRPr>
          </a:p>
        </p:txBody>
      </p:sp>
      <p:sp>
        <p:nvSpPr>
          <p:cNvPr id="23582" name="Rectangle 30"/>
          <p:cNvSpPr>
            <a:spLocks noChangeArrowheads="1"/>
          </p:cNvSpPr>
          <p:nvPr/>
        </p:nvSpPr>
        <p:spPr bwMode="auto">
          <a:xfrm>
            <a:off x="0" y="0"/>
            <a:ext cx="12192000" cy="6858000"/>
          </a:xfrm>
          <a:prstGeom prst="rect">
            <a:avLst/>
          </a:prstGeom>
          <a:noFill/>
          <a:ln w="25400">
            <a:solidFill>
              <a:schemeClr val="tx1"/>
            </a:solidFill>
            <a:miter lim="800000"/>
            <a:headEnd/>
            <a:tailEnd/>
          </a:ln>
          <a:effectLst/>
        </p:spPr>
        <p:txBody>
          <a:bodyPr wrap="none" anchor="ctr"/>
          <a:lstStyle/>
          <a:p>
            <a:pPr eaLnBrk="1" hangingPunct="1"/>
            <a:endParaRPr lang="en-US"/>
          </a:p>
        </p:txBody>
      </p:sp>
    </p:spTree>
    <p:extLst>
      <p:ext uri="{BB962C8B-B14F-4D97-AF65-F5344CB8AC3E}">
        <p14:creationId xmlns:p14="http://schemas.microsoft.com/office/powerpoint/2010/main" val="1642625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317500" y="254001"/>
            <a:ext cx="11557000" cy="879708"/>
          </a:xfrm>
          <a:prstGeom prst="rect">
            <a:avLst/>
          </a:prstGeom>
          <a:solidFill>
            <a:srgbClr val="990033"/>
          </a:solidFill>
          <a:ln w="9525">
            <a:solidFill>
              <a:schemeClr val="tx1"/>
            </a:solidFill>
            <a:miter lim="800000"/>
            <a:headEnd/>
            <a:tailEnd/>
          </a:ln>
          <a:effectLst/>
        </p:spPr>
        <p:txBody>
          <a:bodyPr lIns="115560" tIns="115560" rIns="115560" bIns="115560">
            <a:spAutoFit/>
          </a:bodyPr>
          <a:lstStyle/>
          <a:p>
            <a:pPr algn="ctr" defTabSz="195263"/>
            <a:r>
              <a:rPr lang="en-GB" altLang="en-US" sz="2100" b="1" dirty="0">
                <a:solidFill>
                  <a:schemeClr val="bg1"/>
                </a:solidFill>
              </a:rPr>
              <a:t>Poster title goes here, </a:t>
            </a:r>
            <a:r>
              <a:rPr lang="en-AU" altLang="en-US" sz="2100" b="1" dirty="0">
                <a:solidFill>
                  <a:schemeClr val="bg1"/>
                </a:solidFill>
              </a:rPr>
              <a:t>containing strictly </a:t>
            </a:r>
            <a:br>
              <a:rPr lang="en-AU" altLang="en-US" sz="2100" b="1" dirty="0">
                <a:solidFill>
                  <a:schemeClr val="bg1"/>
                </a:solidFill>
              </a:rPr>
            </a:br>
            <a:r>
              <a:rPr lang="en-AU" altLang="en-US" sz="2100" b="1" dirty="0">
                <a:solidFill>
                  <a:schemeClr val="bg1"/>
                </a:solidFill>
              </a:rPr>
              <a:t>only the essential number of words...</a:t>
            </a:r>
          </a:p>
        </p:txBody>
      </p:sp>
      <p:pic>
        <p:nvPicPr>
          <p:cNvPr id="24579" name="Picture 3" descr="unsw"/>
          <p:cNvPicPr>
            <a:picLocks noChangeAspect="1" noChangeArrowheads="1"/>
          </p:cNvPicPr>
          <p:nvPr/>
        </p:nvPicPr>
        <p:blipFill>
          <a:blip r:embed="rId3" cstate="print"/>
          <a:srcRect/>
          <a:stretch>
            <a:fillRect/>
          </a:stretch>
        </p:blipFill>
        <p:spPr bwMode="auto">
          <a:xfrm>
            <a:off x="11188700" y="392113"/>
            <a:ext cx="510117" cy="657225"/>
          </a:xfrm>
          <a:prstGeom prst="rect">
            <a:avLst/>
          </a:prstGeom>
          <a:noFill/>
          <a:ln w="9525">
            <a:noFill/>
            <a:miter lim="800000"/>
            <a:headEnd/>
            <a:tailEnd/>
          </a:ln>
        </p:spPr>
      </p:pic>
      <p:sp>
        <p:nvSpPr>
          <p:cNvPr id="24580" name="Text Box 4"/>
          <p:cNvSpPr txBox="1">
            <a:spLocks noChangeArrowheads="1"/>
          </p:cNvSpPr>
          <p:nvPr/>
        </p:nvSpPr>
        <p:spPr bwMode="auto">
          <a:xfrm>
            <a:off x="317500" y="1241425"/>
            <a:ext cx="11557000" cy="554038"/>
          </a:xfrm>
          <a:prstGeom prst="rect">
            <a:avLst/>
          </a:prstGeom>
          <a:noFill/>
          <a:ln w="9525">
            <a:noFill/>
            <a:miter lim="800000"/>
            <a:headEnd/>
            <a:tailEnd/>
          </a:ln>
          <a:effectLst/>
        </p:spPr>
        <p:txBody>
          <a:bodyPr lIns="77040" tIns="77040" rIns="77040" bIns="77040"/>
          <a:lstStyle/>
          <a:p>
            <a:pPr algn="ctr" defTabSz="195263">
              <a:spcBef>
                <a:spcPct val="20000"/>
              </a:spcBef>
            </a:pPr>
            <a:r>
              <a:rPr lang="en-GB" altLang="en-US" sz="1200" b="1"/>
              <a:t>Author’s Name/s Goes Here, Author’s Name/s Goes Here, Author’s Name/s Goes Here</a:t>
            </a:r>
          </a:p>
          <a:p>
            <a:pPr algn="ctr" defTabSz="195263">
              <a:spcBef>
                <a:spcPct val="20000"/>
              </a:spcBef>
            </a:pPr>
            <a:r>
              <a:rPr lang="en-GB" altLang="en-US" sz="1100"/>
              <a:t>Address/es Goes Here, Address/es Goes Here, Address/es Goes Here</a:t>
            </a:r>
          </a:p>
        </p:txBody>
      </p:sp>
      <p:pic>
        <p:nvPicPr>
          <p:cNvPr id="24581" name="Picture 5" descr="powh"/>
          <p:cNvPicPr>
            <a:picLocks noChangeAspect="1" noChangeArrowheads="1"/>
          </p:cNvPicPr>
          <p:nvPr/>
        </p:nvPicPr>
        <p:blipFill>
          <a:blip r:embed="rId4" cstate="print"/>
          <a:srcRect/>
          <a:stretch>
            <a:fillRect/>
          </a:stretch>
        </p:blipFill>
        <p:spPr bwMode="auto">
          <a:xfrm>
            <a:off x="486834" y="406400"/>
            <a:ext cx="757767" cy="609600"/>
          </a:xfrm>
          <a:prstGeom prst="rect">
            <a:avLst/>
          </a:prstGeom>
          <a:noFill/>
          <a:ln w="9525">
            <a:noFill/>
            <a:miter lim="800000"/>
            <a:headEnd/>
            <a:tailEnd/>
          </a:ln>
        </p:spPr>
      </p:pic>
      <p:sp>
        <p:nvSpPr>
          <p:cNvPr id="24582" name="Text Box 6"/>
          <p:cNvSpPr txBox="1">
            <a:spLocks noChangeArrowheads="1"/>
          </p:cNvSpPr>
          <p:nvPr/>
        </p:nvSpPr>
        <p:spPr bwMode="auto">
          <a:xfrm>
            <a:off x="317500" y="2065339"/>
            <a:ext cx="2728384" cy="1282047"/>
          </a:xfrm>
          <a:prstGeom prst="rect">
            <a:avLst/>
          </a:prstGeom>
          <a:noFill/>
          <a:ln w="9525">
            <a:noFill/>
            <a:miter lim="800000"/>
            <a:headEnd/>
            <a:tailEnd/>
          </a:ln>
          <a:effectLst/>
        </p:spPr>
        <p:txBody>
          <a:bodyPr lIns="77040" tIns="77040" rIns="77040" bIns="77040">
            <a:spAutoFit/>
          </a:bodyPr>
          <a:lstStyle/>
          <a:p>
            <a:pPr defTabSz="195263">
              <a:spcBef>
                <a:spcPct val="20000"/>
              </a:spcBef>
            </a:pPr>
            <a:r>
              <a:rPr lang="en-AU" altLang="en-US" sz="600" dirty="0"/>
              <a:t>First…</a:t>
            </a:r>
          </a:p>
          <a:p>
            <a:pPr defTabSz="195263">
              <a:spcBef>
                <a:spcPct val="40000"/>
              </a:spcBef>
            </a:pPr>
            <a:r>
              <a:rPr lang="en-AU" altLang="en-US" sz="600" dirty="0"/>
              <a:t>Check with conference organisers on their specifications of size and orientation, before you start your poster </a:t>
            </a:r>
            <a:r>
              <a:rPr lang="en-AU" altLang="en-US" sz="600" dirty="0" err="1"/>
              <a:t>eg</a:t>
            </a:r>
            <a:r>
              <a:rPr lang="en-AU" altLang="en-US" sz="600" dirty="0"/>
              <a:t>. maximum poster size; landscape, portrait or square.</a:t>
            </a:r>
          </a:p>
          <a:p>
            <a:pPr defTabSz="195263">
              <a:spcBef>
                <a:spcPct val="40000"/>
              </a:spcBef>
            </a:pPr>
            <a:r>
              <a:rPr lang="en-AU" altLang="en-US" sz="600" dirty="0"/>
              <a:t>The page size of this poster template is A0 (84x119cm), landscape (horizontal) format. Do not change this page size, MIU can scale-to-fit a smaller or larger size, when printing. If you need a different shape start with either a portrait (vertical) or a square poster template. </a:t>
            </a:r>
          </a:p>
          <a:p>
            <a:pPr defTabSz="195263">
              <a:spcBef>
                <a:spcPct val="40000"/>
              </a:spcBef>
            </a:pPr>
            <a:r>
              <a:rPr lang="en-AU" altLang="en-US" sz="600" dirty="0"/>
              <a:t>Bear in mind you do not need to fill up the whole space allocated by some conference organisers (</a:t>
            </a:r>
            <a:r>
              <a:rPr lang="en-AU" altLang="en-US" sz="600" dirty="0" err="1"/>
              <a:t>eg</a:t>
            </a:r>
            <a:r>
              <a:rPr lang="en-AU" altLang="en-US" sz="600" dirty="0"/>
              <a:t>. 8ftx4ft in the USA). Do not make your poster bigger than necessary just to fill that given size.</a:t>
            </a:r>
          </a:p>
        </p:txBody>
      </p:sp>
      <p:sp>
        <p:nvSpPr>
          <p:cNvPr id="24583" name="Text Box 7"/>
          <p:cNvSpPr txBox="1">
            <a:spLocks noChangeArrowheads="1"/>
          </p:cNvSpPr>
          <p:nvPr/>
        </p:nvSpPr>
        <p:spPr bwMode="auto">
          <a:xfrm>
            <a:off x="3259667" y="2065338"/>
            <a:ext cx="2728384" cy="1392846"/>
          </a:xfrm>
          <a:prstGeom prst="rect">
            <a:avLst/>
          </a:prstGeom>
          <a:noFill/>
          <a:ln w="9525">
            <a:noFill/>
            <a:miter lim="800000"/>
            <a:headEnd/>
            <a:tailEnd/>
          </a:ln>
          <a:effectLst/>
        </p:spPr>
        <p:txBody>
          <a:bodyPr lIns="77040" tIns="77040" rIns="77040" bIns="77040">
            <a:spAutoFit/>
          </a:bodyPr>
          <a:lstStyle/>
          <a:p>
            <a:pPr marL="61913" indent="-61913" defTabSz="195263">
              <a:spcBef>
                <a:spcPct val="40000"/>
              </a:spcBef>
              <a:buSzPct val="60000"/>
              <a:buFont typeface="Monotype Sorts" charset="2"/>
              <a:buNone/>
            </a:pPr>
            <a:r>
              <a:rPr lang="en-AU" altLang="en-US" sz="600" dirty="0"/>
              <a:t>Tips for making a successful poster…</a:t>
            </a:r>
          </a:p>
          <a:p>
            <a:pPr marL="61913" indent="-61913" defTabSz="195263">
              <a:spcBef>
                <a:spcPct val="40000"/>
              </a:spcBef>
              <a:buFont typeface="Wingdings" pitchFamily="2" charset="2"/>
              <a:buChar char="§"/>
            </a:pPr>
            <a:r>
              <a:rPr lang="en-AU" altLang="en-US" sz="600" dirty="0"/>
              <a:t>Re-write your paper into poster format </a:t>
            </a:r>
            <a:r>
              <a:rPr lang="en-AU" altLang="en-US" sz="600" dirty="0" err="1"/>
              <a:t>ie</a:t>
            </a:r>
            <a:r>
              <a:rPr lang="en-AU" altLang="en-US" sz="600" dirty="0"/>
              <a:t>.</a:t>
            </a:r>
            <a:br>
              <a:rPr lang="en-AU" altLang="en-US" sz="600" dirty="0"/>
            </a:br>
            <a:r>
              <a:rPr lang="en-AU" altLang="en-US" sz="600" dirty="0"/>
              <a:t>Simplify everything, avoid data overkill.</a:t>
            </a:r>
          </a:p>
          <a:p>
            <a:pPr marL="61913" indent="-61913" defTabSz="195263">
              <a:spcBef>
                <a:spcPct val="40000"/>
              </a:spcBef>
              <a:buFont typeface="Wingdings" pitchFamily="2" charset="2"/>
              <a:buChar char="§"/>
            </a:pPr>
            <a:r>
              <a:rPr lang="en-AU" altLang="en-US" sz="600" dirty="0"/>
              <a:t>Headings of more than 6 words should be in upper and lower case, not all capitals.</a:t>
            </a:r>
          </a:p>
          <a:p>
            <a:pPr marL="61913" indent="-61913" defTabSz="195263">
              <a:spcBef>
                <a:spcPct val="40000"/>
              </a:spcBef>
              <a:buFont typeface="Wingdings" pitchFamily="2" charset="2"/>
              <a:buChar char="§"/>
            </a:pPr>
            <a:r>
              <a:rPr lang="en-AU" altLang="en-US" sz="600" dirty="0"/>
              <a:t>Never do whole sentences in capitals or underline to stress your point, use </a:t>
            </a:r>
            <a:r>
              <a:rPr lang="en-AU" altLang="en-US" sz="600" b="1" dirty="0"/>
              <a:t>bold</a:t>
            </a:r>
            <a:r>
              <a:rPr lang="en-AU" altLang="en-US" sz="600" dirty="0"/>
              <a:t> characters instead.</a:t>
            </a:r>
          </a:p>
          <a:p>
            <a:pPr marL="61913" indent="-61913" defTabSz="195263">
              <a:spcBef>
                <a:spcPct val="40000"/>
              </a:spcBef>
              <a:buFont typeface="Wingdings" pitchFamily="2" charset="2"/>
              <a:buChar char="§"/>
            </a:pPr>
            <a:r>
              <a:rPr lang="en-AU" altLang="en-US" sz="600" dirty="0"/>
              <a:t>When laying out your poster leave breathing space around you text. Don’t overcrowd your poster.</a:t>
            </a:r>
          </a:p>
          <a:p>
            <a:pPr marL="61913" indent="-61913" defTabSz="195263">
              <a:spcBef>
                <a:spcPct val="40000"/>
              </a:spcBef>
              <a:buFont typeface="Wingdings" pitchFamily="2" charset="2"/>
              <a:buChar char="§"/>
            </a:pPr>
            <a:r>
              <a:rPr lang="en-AU" altLang="en-US" sz="600" dirty="0"/>
              <a:t>Try using photographs or coloured graphs. Avoid long numerical tables.</a:t>
            </a:r>
          </a:p>
          <a:p>
            <a:pPr marL="61913" indent="-61913" defTabSz="195263">
              <a:spcBef>
                <a:spcPct val="40000"/>
              </a:spcBef>
              <a:buFont typeface="Wingdings" pitchFamily="2" charset="2"/>
              <a:buChar char="§"/>
            </a:pPr>
            <a:r>
              <a:rPr lang="en-AU" altLang="en-US" sz="600" dirty="0"/>
              <a:t>Spell check and get someone else to proof-read.</a:t>
            </a:r>
          </a:p>
        </p:txBody>
      </p:sp>
      <p:sp>
        <p:nvSpPr>
          <p:cNvPr id="24584" name="Text Box 8"/>
          <p:cNvSpPr txBox="1">
            <a:spLocks noChangeArrowheads="1"/>
          </p:cNvSpPr>
          <p:nvPr/>
        </p:nvSpPr>
        <p:spPr bwMode="auto">
          <a:xfrm>
            <a:off x="6201833" y="2065339"/>
            <a:ext cx="2728384" cy="1965311"/>
          </a:xfrm>
          <a:prstGeom prst="rect">
            <a:avLst/>
          </a:prstGeom>
          <a:noFill/>
          <a:ln w="9525">
            <a:noFill/>
            <a:miter lim="800000"/>
            <a:headEnd/>
            <a:tailEnd/>
          </a:ln>
          <a:effectLst/>
        </p:spPr>
        <p:txBody>
          <a:bodyPr lIns="77040" tIns="77040" rIns="77040" bIns="77040">
            <a:spAutoFit/>
          </a:bodyPr>
          <a:lstStyle/>
          <a:p>
            <a:pPr defTabSz="195263">
              <a:spcBef>
                <a:spcPct val="40000"/>
              </a:spcBef>
            </a:pPr>
            <a:r>
              <a:rPr lang="en-AU" altLang="en-US" sz="600" dirty="0"/>
              <a:t>Importing / inserting files…</a:t>
            </a:r>
          </a:p>
          <a:p>
            <a:pPr defTabSz="195263">
              <a:spcBef>
                <a:spcPct val="40000"/>
              </a:spcBef>
            </a:pPr>
            <a:r>
              <a:rPr lang="en-AU" altLang="en-US" sz="600" dirty="0"/>
              <a:t>Images such as photographs, graphs, diagrams, logos, </a:t>
            </a:r>
            <a:r>
              <a:rPr lang="en-AU" altLang="en-US" sz="600" dirty="0" err="1"/>
              <a:t>etc</a:t>
            </a:r>
            <a:r>
              <a:rPr lang="en-AU" altLang="en-US" sz="600" dirty="0"/>
              <a:t>, can be added to the poster.</a:t>
            </a:r>
          </a:p>
          <a:p>
            <a:pPr defTabSz="195263">
              <a:spcBef>
                <a:spcPct val="40000"/>
              </a:spcBef>
            </a:pPr>
            <a:r>
              <a:rPr lang="en-AU" altLang="en-US" sz="600" dirty="0"/>
              <a:t>To insert scanned images into your poster, go through the menus as follows: Insert / Picture / From File… then find the file on your computer, select it, and press OK.</a:t>
            </a:r>
          </a:p>
          <a:p>
            <a:pPr defTabSz="195263">
              <a:spcBef>
                <a:spcPct val="40000"/>
              </a:spcBef>
            </a:pPr>
            <a:r>
              <a:rPr lang="en-AU" altLang="en-US" sz="600" dirty="0"/>
              <a:t>The best type of image files to insert are JPEG or TIFF, JPEG is the preferred format.</a:t>
            </a:r>
          </a:p>
          <a:p>
            <a:pPr defTabSz="195263">
              <a:spcBef>
                <a:spcPct val="40000"/>
              </a:spcBef>
            </a:pPr>
            <a:r>
              <a:rPr lang="en-AU" altLang="en-US" sz="600" b="1" dirty="0"/>
              <a:t>Be aware</a:t>
            </a:r>
            <a:r>
              <a:rPr lang="en-AU" altLang="en-US" sz="600" dirty="0"/>
              <a:t> of the image size you are importing. The average colour photo (13 x 18cm at 180dpi) would be about 3Mb (1Mb for B/W greyscale). Call MIU if unsure.</a:t>
            </a:r>
          </a:p>
          <a:p>
            <a:pPr defTabSz="195263">
              <a:spcBef>
                <a:spcPct val="40000"/>
              </a:spcBef>
            </a:pPr>
            <a:r>
              <a:rPr lang="en-AU" altLang="en-US" sz="600" dirty="0"/>
              <a:t>Do </a:t>
            </a:r>
            <a:r>
              <a:rPr lang="en-AU" altLang="en-US" sz="600" b="1" dirty="0"/>
              <a:t>not </a:t>
            </a:r>
            <a:r>
              <a:rPr lang="en-AU" altLang="en-US" sz="600" dirty="0"/>
              <a:t>use images from the web.</a:t>
            </a:r>
          </a:p>
          <a:p>
            <a:pPr defTabSz="195263">
              <a:spcBef>
                <a:spcPct val="40000"/>
              </a:spcBef>
            </a:pPr>
            <a:endParaRPr lang="en-AU" altLang="en-US" sz="600" dirty="0"/>
          </a:p>
          <a:p>
            <a:pPr defTabSz="195263">
              <a:spcBef>
                <a:spcPct val="40000"/>
              </a:spcBef>
            </a:pPr>
            <a:r>
              <a:rPr lang="en-AU" altLang="en-US" sz="600" dirty="0"/>
              <a:t>Notes about graphs…</a:t>
            </a:r>
          </a:p>
          <a:p>
            <a:pPr defTabSz="195263">
              <a:spcBef>
                <a:spcPct val="40000"/>
              </a:spcBef>
            </a:pPr>
            <a:r>
              <a:rPr lang="en-AU" altLang="en-US" sz="600" dirty="0"/>
              <a:t>For simple graphs use MS Excel, or do the graph directly in PowerPoint.</a:t>
            </a:r>
          </a:p>
          <a:p>
            <a:pPr defTabSz="195263">
              <a:spcBef>
                <a:spcPct val="40000"/>
              </a:spcBef>
            </a:pPr>
            <a:r>
              <a:rPr lang="en-AU" altLang="en-US" sz="600" dirty="0"/>
              <a:t>Graphs done in a scientific graphing programs (</a:t>
            </a:r>
            <a:r>
              <a:rPr lang="en-AU" altLang="en-US" sz="600" dirty="0" err="1"/>
              <a:t>eg</a:t>
            </a:r>
            <a:r>
              <a:rPr lang="en-AU" altLang="en-US" sz="600" dirty="0"/>
              <a:t>. Sigma Plot, Prism, SPSS, </a:t>
            </a:r>
            <a:r>
              <a:rPr lang="en-AU" altLang="en-US" sz="600" dirty="0" err="1"/>
              <a:t>Statistica</a:t>
            </a:r>
            <a:r>
              <a:rPr lang="en-AU" altLang="en-US" sz="600" dirty="0"/>
              <a:t>) should be saved as JPEG or TIFF if possible. For more information see MIU.</a:t>
            </a:r>
          </a:p>
        </p:txBody>
      </p:sp>
      <p:sp>
        <p:nvSpPr>
          <p:cNvPr id="24585" name="Text Box 9"/>
          <p:cNvSpPr txBox="1">
            <a:spLocks noChangeArrowheads="1"/>
          </p:cNvSpPr>
          <p:nvPr/>
        </p:nvSpPr>
        <p:spPr bwMode="auto">
          <a:xfrm>
            <a:off x="9144000" y="2065338"/>
            <a:ext cx="2728384" cy="1300514"/>
          </a:xfrm>
          <a:prstGeom prst="rect">
            <a:avLst/>
          </a:prstGeom>
          <a:noFill/>
          <a:ln w="9525">
            <a:noFill/>
            <a:miter lim="800000"/>
            <a:headEnd/>
            <a:tailEnd/>
          </a:ln>
          <a:effectLst/>
        </p:spPr>
        <p:txBody>
          <a:bodyPr lIns="77040" tIns="77040" rIns="77040" bIns="77040">
            <a:spAutoFit/>
          </a:bodyPr>
          <a:lstStyle/>
          <a:p>
            <a:pPr defTabSz="195263">
              <a:spcBef>
                <a:spcPct val="40000"/>
              </a:spcBef>
            </a:pPr>
            <a:r>
              <a:rPr lang="en-AU" altLang="en-US" sz="600" dirty="0"/>
              <a:t>Printing and Laminating…</a:t>
            </a:r>
          </a:p>
          <a:p>
            <a:pPr defTabSz="195263">
              <a:spcBef>
                <a:spcPct val="40000"/>
              </a:spcBef>
            </a:pPr>
            <a:r>
              <a:rPr lang="en-AU" altLang="en-US" sz="600" dirty="0"/>
              <a:t>Once you have completed your poster, bring it down to MIU for printing. We will produce a A3 size draft print for you to check and proof read. The final poster will then be printed and laminated. </a:t>
            </a:r>
          </a:p>
          <a:p>
            <a:pPr defTabSz="195263">
              <a:spcBef>
                <a:spcPct val="40000"/>
              </a:spcBef>
            </a:pPr>
            <a:r>
              <a:rPr lang="en-AU" altLang="en-US" sz="600" dirty="0"/>
              <a:t>Note: Do not leave your poster until the last minute. Allow at least 5 working days before you need to use it. </a:t>
            </a:r>
          </a:p>
          <a:p>
            <a:pPr defTabSz="195263">
              <a:spcBef>
                <a:spcPct val="40000"/>
              </a:spcBef>
            </a:pPr>
            <a:r>
              <a:rPr lang="en-AU" altLang="en-US" sz="600" dirty="0"/>
              <a:t>Simply highlight this text and replace.</a:t>
            </a:r>
          </a:p>
          <a:p>
            <a:pPr defTabSz="195263">
              <a:spcBef>
                <a:spcPct val="40000"/>
              </a:spcBef>
            </a:pPr>
            <a:endParaRPr lang="en-AU" altLang="en-US" sz="600" dirty="0"/>
          </a:p>
          <a:p>
            <a:pPr defTabSz="195263">
              <a:spcBef>
                <a:spcPct val="40000"/>
              </a:spcBef>
            </a:pPr>
            <a:r>
              <a:rPr lang="en-AU" altLang="en-US" sz="600" dirty="0"/>
              <a:t>Cost…</a:t>
            </a:r>
          </a:p>
          <a:p>
            <a:pPr defTabSz="195263">
              <a:spcBef>
                <a:spcPct val="40000"/>
              </a:spcBef>
            </a:pPr>
            <a:r>
              <a:rPr lang="en-AU" altLang="en-US" sz="600" dirty="0">
                <a:solidFill>
                  <a:srgbClr val="000000"/>
                </a:solidFill>
                <a:cs typeface="Arial" pitchFamily="34" charset="0"/>
              </a:rPr>
              <a:t>For poster-printing and laminating charges contact to MIU</a:t>
            </a:r>
            <a:endParaRPr lang="en-AU" altLang="en-US" sz="600" dirty="0"/>
          </a:p>
        </p:txBody>
      </p:sp>
      <p:sp>
        <p:nvSpPr>
          <p:cNvPr id="24586" name="Text Box 10"/>
          <p:cNvSpPr txBox="1">
            <a:spLocks noChangeArrowheads="1"/>
          </p:cNvSpPr>
          <p:nvPr/>
        </p:nvSpPr>
        <p:spPr bwMode="auto">
          <a:xfrm>
            <a:off x="9146118" y="4440239"/>
            <a:ext cx="2728383" cy="1368425"/>
          </a:xfrm>
          <a:prstGeom prst="rect">
            <a:avLst/>
          </a:prstGeom>
          <a:noFill/>
          <a:ln w="9525">
            <a:noFill/>
            <a:miter lim="800000"/>
            <a:headEnd/>
            <a:tailEnd/>
          </a:ln>
          <a:effectLst/>
        </p:spPr>
        <p:txBody>
          <a:bodyPr lIns="77040" tIns="77040" rIns="77040" bIns="77040"/>
          <a:lstStyle/>
          <a:p>
            <a:pPr defTabSz="195263">
              <a:spcBef>
                <a:spcPct val="40000"/>
              </a:spcBef>
            </a:pPr>
            <a:r>
              <a:rPr lang="en-AU" altLang="en-US" sz="600" dirty="0"/>
              <a:t>For more information on: </a:t>
            </a:r>
          </a:p>
          <a:p>
            <a:pPr defTabSz="195263">
              <a:spcBef>
                <a:spcPct val="40000"/>
              </a:spcBef>
            </a:pPr>
            <a:r>
              <a:rPr lang="en-AU" altLang="en-US" sz="600" dirty="0"/>
              <a:t>Poster Design, Scanning and Digital Photography, </a:t>
            </a:r>
            <a:br>
              <a:rPr lang="en-AU" altLang="en-US" sz="600" dirty="0"/>
            </a:br>
            <a:r>
              <a:rPr lang="en-AU" altLang="en-US" sz="600" dirty="0"/>
              <a:t>and Image / file size.</a:t>
            </a:r>
          </a:p>
          <a:p>
            <a:pPr defTabSz="195263">
              <a:spcBef>
                <a:spcPct val="40000"/>
              </a:spcBef>
            </a:pPr>
            <a:endParaRPr lang="en-AU" altLang="en-US" sz="600" dirty="0"/>
          </a:p>
          <a:p>
            <a:pPr defTabSz="195263">
              <a:spcBef>
                <a:spcPct val="40000"/>
              </a:spcBef>
            </a:pPr>
            <a:r>
              <a:rPr lang="en-AU" altLang="en-US" sz="600" dirty="0"/>
              <a:t>Contact: </a:t>
            </a:r>
          </a:p>
          <a:p>
            <a:pPr defTabSz="195263">
              <a:spcBef>
                <a:spcPct val="40000"/>
              </a:spcBef>
            </a:pPr>
            <a:r>
              <a:rPr lang="en-AU" altLang="en-US" sz="600" b="1" dirty="0"/>
              <a:t>Medical Illustration Unit</a:t>
            </a:r>
            <a:br>
              <a:rPr lang="en-AU" altLang="en-US" sz="600" dirty="0"/>
            </a:br>
            <a:r>
              <a:rPr lang="en-AU" altLang="en-US" sz="600" dirty="0"/>
              <a:t>Prince of Wales Hospital</a:t>
            </a:r>
          </a:p>
          <a:p>
            <a:pPr defTabSz="195263">
              <a:spcBef>
                <a:spcPct val="40000"/>
              </a:spcBef>
            </a:pPr>
            <a:r>
              <a:rPr lang="en-AU" altLang="en-US" sz="600" dirty="0" err="1"/>
              <a:t>Ph</a:t>
            </a:r>
            <a:r>
              <a:rPr lang="en-AU" altLang="en-US" sz="600" dirty="0"/>
              <a:t>: 9382 2800</a:t>
            </a:r>
            <a:br>
              <a:rPr lang="en-AU" altLang="en-US" sz="600" dirty="0"/>
            </a:br>
            <a:r>
              <a:rPr lang="en-AU" altLang="en-US" sz="600" dirty="0"/>
              <a:t>Email: miunsw@unsw.edu.au</a:t>
            </a:r>
            <a:br>
              <a:rPr lang="en-AU" altLang="en-US" sz="600" dirty="0"/>
            </a:br>
            <a:r>
              <a:rPr lang="en-AU" altLang="en-US" sz="600" dirty="0"/>
              <a:t>Web: http://miu.med.unsw.edu.au</a:t>
            </a:r>
          </a:p>
        </p:txBody>
      </p:sp>
      <p:sp>
        <p:nvSpPr>
          <p:cNvPr id="24587" name="Text Box 11"/>
          <p:cNvSpPr txBox="1">
            <a:spLocks noChangeArrowheads="1"/>
          </p:cNvSpPr>
          <p:nvPr/>
        </p:nvSpPr>
        <p:spPr bwMode="auto">
          <a:xfrm>
            <a:off x="9144000" y="6219825"/>
            <a:ext cx="2728384" cy="247918"/>
          </a:xfrm>
          <a:prstGeom prst="rect">
            <a:avLst/>
          </a:prstGeom>
          <a:noFill/>
          <a:ln w="9525">
            <a:noFill/>
            <a:miter lim="800000"/>
            <a:headEnd/>
            <a:tailEnd/>
          </a:ln>
          <a:effectLst/>
        </p:spPr>
        <p:txBody>
          <a:bodyPr lIns="77040" tIns="77040" rIns="77040" bIns="77040">
            <a:spAutoFit/>
          </a:bodyPr>
          <a:lstStyle/>
          <a:p>
            <a:pPr defTabSz="195263">
              <a:spcBef>
                <a:spcPct val="20000"/>
              </a:spcBef>
              <a:spcAft>
                <a:spcPct val="10000"/>
              </a:spcAft>
            </a:pPr>
            <a:r>
              <a:rPr lang="en-AU" altLang="en-US" sz="600"/>
              <a:t>Just highlight this text and replace with your own text. Replace this with your text. </a:t>
            </a:r>
          </a:p>
        </p:txBody>
      </p:sp>
      <p:sp>
        <p:nvSpPr>
          <p:cNvPr id="24588" name="Rectangle 12"/>
          <p:cNvSpPr>
            <a:spLocks noChangeArrowheads="1"/>
          </p:cNvSpPr>
          <p:nvPr/>
        </p:nvSpPr>
        <p:spPr bwMode="auto">
          <a:xfrm>
            <a:off x="6328834" y="5537200"/>
            <a:ext cx="2476500"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4589" name="Text Box 13"/>
          <p:cNvSpPr txBox="1">
            <a:spLocks noChangeArrowheads="1"/>
          </p:cNvSpPr>
          <p:nvPr/>
        </p:nvSpPr>
        <p:spPr bwMode="auto">
          <a:xfrm>
            <a:off x="6328834" y="6362701"/>
            <a:ext cx="2476500" cy="142870"/>
          </a:xfrm>
          <a:prstGeom prst="rect">
            <a:avLst/>
          </a:prstGeom>
          <a:noFill/>
          <a:ln w="9525">
            <a:noFill/>
            <a:miter lim="800000"/>
            <a:headEnd/>
            <a:tailEnd/>
          </a:ln>
          <a:effectLst/>
        </p:spPr>
        <p:txBody>
          <a:bodyPr lIns="0" tIns="9784" rIns="0" bIns="9784">
            <a:spAutoFit/>
          </a:bodyPr>
          <a:lstStyle/>
          <a:p>
            <a:pPr defTabSz="195263">
              <a:spcBef>
                <a:spcPct val="50000"/>
              </a:spcBef>
            </a:pPr>
            <a:r>
              <a:rPr lang="en-AU" altLang="en-US" sz="400" i="1" dirty="0">
                <a:latin typeface="Times New Roman" pitchFamily="18" charset="0"/>
              </a:rPr>
              <a:t>Captions to be set in Times or Times New Roman or equivalent, italic, 18 to 24 points, to the length of the column in case a figure takes more than 2/3 of column width.</a:t>
            </a:r>
          </a:p>
        </p:txBody>
      </p:sp>
      <p:sp>
        <p:nvSpPr>
          <p:cNvPr id="24590" name="Rectangle 14"/>
          <p:cNvSpPr>
            <a:spLocks noChangeArrowheads="1"/>
          </p:cNvSpPr>
          <p:nvPr/>
        </p:nvSpPr>
        <p:spPr bwMode="auto">
          <a:xfrm>
            <a:off x="6328834" y="4602163"/>
            <a:ext cx="1500717"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4591" name="Text Box 15"/>
          <p:cNvSpPr txBox="1">
            <a:spLocks noChangeArrowheads="1"/>
          </p:cNvSpPr>
          <p:nvPr/>
        </p:nvSpPr>
        <p:spPr bwMode="auto">
          <a:xfrm>
            <a:off x="7831667" y="4556125"/>
            <a:ext cx="973667" cy="447124"/>
          </a:xfrm>
          <a:prstGeom prst="rect">
            <a:avLst/>
          </a:prstGeom>
          <a:noFill/>
          <a:ln w="9525">
            <a:noFill/>
            <a:miter lim="800000"/>
            <a:headEnd/>
            <a:tailEnd/>
          </a:ln>
          <a:effectLst/>
        </p:spPr>
        <p:txBody>
          <a:bodyPr lIns="38520" tIns="38520" rIns="38520" bIns="38520">
            <a:spAutoFit/>
          </a:bodyPr>
          <a:lstStyle/>
          <a:p>
            <a:pPr defTabSz="195263"/>
            <a:r>
              <a:rPr lang="en-AU" altLang="en-US" sz="400" i="1" dirty="0">
                <a:latin typeface="Times New Roman" pitchFamily="18" charset="0"/>
              </a:rPr>
              <a:t>Captions to be set in Times or Times New Roman or equivalent, italic, between 18 and 24 points. </a:t>
            </a:r>
          </a:p>
          <a:p>
            <a:pPr defTabSz="195263"/>
            <a:r>
              <a:rPr lang="en-AU" altLang="en-US" sz="400" i="1" dirty="0">
                <a:latin typeface="Times New Roman" pitchFamily="18" charset="0"/>
              </a:rPr>
              <a:t>Left aligned if it refers to a figure on its left. Caption starts right at the top edge of the picture (graph or photo).</a:t>
            </a:r>
          </a:p>
        </p:txBody>
      </p:sp>
      <p:sp>
        <p:nvSpPr>
          <p:cNvPr id="24592" name="Text Box 16"/>
          <p:cNvSpPr txBox="1">
            <a:spLocks noChangeArrowheads="1"/>
          </p:cNvSpPr>
          <p:nvPr/>
        </p:nvSpPr>
        <p:spPr bwMode="auto">
          <a:xfrm>
            <a:off x="3386667" y="4551363"/>
            <a:ext cx="973667" cy="447124"/>
          </a:xfrm>
          <a:prstGeom prst="rect">
            <a:avLst/>
          </a:prstGeom>
          <a:noFill/>
          <a:ln w="9525">
            <a:noFill/>
            <a:miter lim="800000"/>
            <a:headEnd/>
            <a:tailEnd/>
          </a:ln>
          <a:effectLst/>
        </p:spPr>
        <p:txBody>
          <a:bodyPr lIns="38520" tIns="38520" rIns="38520" bIns="38520">
            <a:spAutoFit/>
          </a:bodyPr>
          <a:lstStyle/>
          <a:p>
            <a:pPr algn="r" defTabSz="195263"/>
            <a:r>
              <a:rPr lang="en-AU" altLang="en-US" sz="400" i="1" dirty="0">
                <a:latin typeface="Times New Roman" pitchFamily="18" charset="0"/>
              </a:rPr>
              <a:t>Captions to be set in Times or Times New Roman or equivalent, italic, between 18 and 24 points. Right aligned if it refers to a figure on its right. Caption starts right at the top edge of the picture (graph or photo).</a:t>
            </a:r>
          </a:p>
        </p:txBody>
      </p:sp>
      <p:sp>
        <p:nvSpPr>
          <p:cNvPr id="24593" name="Rectangle 17"/>
          <p:cNvSpPr>
            <a:spLocks noChangeArrowheads="1"/>
          </p:cNvSpPr>
          <p:nvPr/>
        </p:nvSpPr>
        <p:spPr bwMode="auto">
          <a:xfrm>
            <a:off x="4362451" y="4602163"/>
            <a:ext cx="1500716"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4594" name="Rectangle 18"/>
          <p:cNvSpPr>
            <a:spLocks noChangeArrowheads="1"/>
          </p:cNvSpPr>
          <p:nvPr/>
        </p:nvSpPr>
        <p:spPr bwMode="auto">
          <a:xfrm>
            <a:off x="3386667" y="5537200"/>
            <a:ext cx="2476500"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4595" name="Text Box 19"/>
          <p:cNvSpPr txBox="1">
            <a:spLocks noChangeArrowheads="1"/>
          </p:cNvSpPr>
          <p:nvPr/>
        </p:nvSpPr>
        <p:spPr bwMode="auto">
          <a:xfrm>
            <a:off x="3386667" y="6362701"/>
            <a:ext cx="2476500" cy="142870"/>
          </a:xfrm>
          <a:prstGeom prst="rect">
            <a:avLst/>
          </a:prstGeom>
          <a:noFill/>
          <a:ln w="9525">
            <a:noFill/>
            <a:miter lim="800000"/>
            <a:headEnd/>
            <a:tailEnd/>
          </a:ln>
          <a:effectLst/>
        </p:spPr>
        <p:txBody>
          <a:bodyPr lIns="0" tIns="9784" rIns="0" bIns="9784">
            <a:spAutoFit/>
          </a:bodyPr>
          <a:lstStyle/>
          <a:p>
            <a:pPr defTabSz="195263">
              <a:spcBef>
                <a:spcPct val="50000"/>
              </a:spcBef>
            </a:pPr>
            <a:r>
              <a:rPr lang="en-AU" altLang="en-US" sz="400" i="1" dirty="0">
                <a:latin typeface="Times New Roman" pitchFamily="18" charset="0"/>
              </a:rPr>
              <a:t>Captions to be set in Times or Times New Roman or equivalent, italic, 18 to 24 points, to the length of the column in case a figure takes more than 2/3 of column width.</a:t>
            </a:r>
          </a:p>
        </p:txBody>
      </p:sp>
      <p:sp>
        <p:nvSpPr>
          <p:cNvPr id="24596" name="Rectangle 20"/>
          <p:cNvSpPr>
            <a:spLocks noChangeArrowheads="1"/>
          </p:cNvSpPr>
          <p:nvPr/>
        </p:nvSpPr>
        <p:spPr bwMode="auto">
          <a:xfrm>
            <a:off x="3386667" y="3636963"/>
            <a:ext cx="1500717" cy="800100"/>
          </a:xfrm>
          <a:prstGeom prst="rect">
            <a:avLst/>
          </a:prstGeom>
          <a:solidFill>
            <a:srgbClr val="EEEEEE"/>
          </a:solidFill>
          <a:ln w="9525">
            <a:solidFill>
              <a:schemeClr val="tx1"/>
            </a:solidFill>
            <a:miter lim="800000"/>
            <a:headEnd/>
            <a:tailEnd/>
          </a:ln>
          <a:effectLst/>
        </p:spPr>
        <p:txBody>
          <a:bodyPr wrap="none" anchor="ctr"/>
          <a:lstStyle/>
          <a:p>
            <a:pPr eaLnBrk="1" hangingPunct="1"/>
            <a:endParaRPr lang="en-US"/>
          </a:p>
        </p:txBody>
      </p:sp>
      <p:sp>
        <p:nvSpPr>
          <p:cNvPr id="24597" name="Text Box 21"/>
          <p:cNvSpPr txBox="1">
            <a:spLocks noChangeArrowheads="1"/>
          </p:cNvSpPr>
          <p:nvPr/>
        </p:nvSpPr>
        <p:spPr bwMode="auto">
          <a:xfrm>
            <a:off x="4889500" y="3590925"/>
            <a:ext cx="973667" cy="447124"/>
          </a:xfrm>
          <a:prstGeom prst="rect">
            <a:avLst/>
          </a:prstGeom>
          <a:noFill/>
          <a:ln w="9525">
            <a:noFill/>
            <a:miter lim="800000"/>
            <a:headEnd/>
            <a:tailEnd/>
          </a:ln>
          <a:effectLst/>
        </p:spPr>
        <p:txBody>
          <a:bodyPr lIns="38520" tIns="38520" rIns="38520" bIns="38520">
            <a:spAutoFit/>
          </a:bodyPr>
          <a:lstStyle/>
          <a:p>
            <a:pPr defTabSz="195263"/>
            <a:r>
              <a:rPr lang="en-AU" altLang="en-US" sz="400" i="1" dirty="0">
                <a:latin typeface="Times New Roman" pitchFamily="18" charset="0"/>
              </a:rPr>
              <a:t>Captions to be set in Times or Times New Roman or equivalent, italic, between 18 and 24 points. </a:t>
            </a:r>
          </a:p>
          <a:p>
            <a:pPr defTabSz="195263"/>
            <a:r>
              <a:rPr lang="en-AU" altLang="en-US" sz="400" i="1" dirty="0">
                <a:latin typeface="Times New Roman" pitchFamily="18" charset="0"/>
              </a:rPr>
              <a:t>Left aligned if it refers to a figure on its left. Caption starts right at the top edge of the picture (graph or photo).</a:t>
            </a:r>
          </a:p>
        </p:txBody>
      </p:sp>
      <p:sp>
        <p:nvSpPr>
          <p:cNvPr id="24598" name="Text Box 22"/>
          <p:cNvSpPr txBox="1">
            <a:spLocks noChangeArrowheads="1"/>
          </p:cNvSpPr>
          <p:nvPr/>
        </p:nvSpPr>
        <p:spPr bwMode="auto">
          <a:xfrm>
            <a:off x="317501" y="1862138"/>
            <a:ext cx="2730500" cy="215900"/>
          </a:xfrm>
          <a:prstGeom prst="rect">
            <a:avLst/>
          </a:prstGeom>
          <a:solidFill>
            <a:srgbClr val="660033"/>
          </a:solidFill>
          <a:ln w="9525">
            <a:noFill/>
            <a:miter lim="800000"/>
            <a:headEnd/>
            <a:tailEnd/>
          </a:ln>
          <a:effectLst/>
        </p:spPr>
        <p:txBody>
          <a:bodyPr lIns="77040" tIns="38520" rIns="77040" bIns="38520">
            <a:spAutoFit/>
          </a:bodyPr>
          <a:lstStyle/>
          <a:p>
            <a:pPr defTabSz="195263">
              <a:spcBef>
                <a:spcPct val="50000"/>
              </a:spcBef>
            </a:pPr>
            <a:r>
              <a:rPr lang="en-GB" altLang="en-US" sz="900" b="1">
                <a:solidFill>
                  <a:schemeClr val="bg1"/>
                </a:solidFill>
              </a:rPr>
              <a:t>Introduction</a:t>
            </a:r>
            <a:endParaRPr lang="en-US" altLang="en-US" sz="900" b="1">
              <a:solidFill>
                <a:schemeClr val="bg1"/>
              </a:solidFill>
            </a:endParaRPr>
          </a:p>
        </p:txBody>
      </p:sp>
      <p:sp>
        <p:nvSpPr>
          <p:cNvPr id="24599" name="Text Box 23"/>
          <p:cNvSpPr txBox="1">
            <a:spLocks noChangeArrowheads="1"/>
          </p:cNvSpPr>
          <p:nvPr/>
        </p:nvSpPr>
        <p:spPr bwMode="auto">
          <a:xfrm>
            <a:off x="317501" y="4394200"/>
            <a:ext cx="2730500" cy="215900"/>
          </a:xfrm>
          <a:prstGeom prst="rect">
            <a:avLst/>
          </a:prstGeom>
          <a:solidFill>
            <a:srgbClr val="660033"/>
          </a:solidFill>
          <a:ln w="9525">
            <a:noFill/>
            <a:miter lim="800000"/>
            <a:headEnd/>
            <a:tailEnd/>
          </a:ln>
          <a:effectLst/>
        </p:spPr>
        <p:txBody>
          <a:bodyPr lIns="77040" tIns="38520" rIns="77040" bIns="38520">
            <a:spAutoFit/>
          </a:bodyPr>
          <a:lstStyle/>
          <a:p>
            <a:pPr defTabSz="195263">
              <a:spcBef>
                <a:spcPct val="50000"/>
              </a:spcBef>
            </a:pPr>
            <a:r>
              <a:rPr lang="en-GB" altLang="en-US" sz="900" b="1">
                <a:solidFill>
                  <a:schemeClr val="bg1"/>
                </a:solidFill>
              </a:rPr>
              <a:t>Aim</a:t>
            </a:r>
            <a:endParaRPr lang="en-US" altLang="en-US" sz="900" b="1">
              <a:solidFill>
                <a:schemeClr val="bg1"/>
              </a:solidFill>
            </a:endParaRPr>
          </a:p>
        </p:txBody>
      </p:sp>
      <p:sp>
        <p:nvSpPr>
          <p:cNvPr id="24600" name="Text Box 24"/>
          <p:cNvSpPr txBox="1">
            <a:spLocks noChangeArrowheads="1"/>
          </p:cNvSpPr>
          <p:nvPr/>
        </p:nvSpPr>
        <p:spPr bwMode="auto">
          <a:xfrm>
            <a:off x="3259667" y="1862138"/>
            <a:ext cx="2730500" cy="215900"/>
          </a:xfrm>
          <a:prstGeom prst="rect">
            <a:avLst/>
          </a:prstGeom>
          <a:solidFill>
            <a:srgbClr val="660033"/>
          </a:solidFill>
          <a:ln w="9525">
            <a:noFill/>
            <a:miter lim="800000"/>
            <a:headEnd/>
            <a:tailEnd/>
          </a:ln>
          <a:effectLst/>
        </p:spPr>
        <p:txBody>
          <a:bodyPr lIns="77040" tIns="38520" rIns="77040" bIns="38520">
            <a:spAutoFit/>
          </a:bodyPr>
          <a:lstStyle/>
          <a:p>
            <a:pPr defTabSz="195263">
              <a:spcBef>
                <a:spcPct val="50000"/>
              </a:spcBef>
            </a:pPr>
            <a:r>
              <a:rPr lang="en-GB" altLang="en-US" sz="900" b="1">
                <a:solidFill>
                  <a:schemeClr val="bg1"/>
                </a:solidFill>
              </a:rPr>
              <a:t>Method</a:t>
            </a:r>
            <a:endParaRPr lang="en-US" altLang="en-US" sz="900" b="1">
              <a:solidFill>
                <a:schemeClr val="bg1"/>
              </a:solidFill>
            </a:endParaRPr>
          </a:p>
        </p:txBody>
      </p:sp>
      <p:sp>
        <p:nvSpPr>
          <p:cNvPr id="24601" name="Text Box 25"/>
          <p:cNvSpPr txBox="1">
            <a:spLocks noChangeArrowheads="1"/>
          </p:cNvSpPr>
          <p:nvPr/>
        </p:nvSpPr>
        <p:spPr bwMode="auto">
          <a:xfrm>
            <a:off x="6201834" y="1862138"/>
            <a:ext cx="2730500" cy="215900"/>
          </a:xfrm>
          <a:prstGeom prst="rect">
            <a:avLst/>
          </a:prstGeom>
          <a:solidFill>
            <a:srgbClr val="660033"/>
          </a:solidFill>
          <a:ln w="9525">
            <a:noFill/>
            <a:miter lim="800000"/>
            <a:headEnd/>
            <a:tailEnd/>
          </a:ln>
          <a:effectLst/>
        </p:spPr>
        <p:txBody>
          <a:bodyPr lIns="77040" tIns="38520" rIns="77040" bIns="38520">
            <a:spAutoFit/>
          </a:bodyPr>
          <a:lstStyle/>
          <a:p>
            <a:pPr defTabSz="195263">
              <a:spcBef>
                <a:spcPct val="50000"/>
              </a:spcBef>
            </a:pPr>
            <a:r>
              <a:rPr lang="en-GB" altLang="en-US" sz="900" b="1">
                <a:solidFill>
                  <a:schemeClr val="bg1"/>
                </a:solidFill>
              </a:rPr>
              <a:t>Results</a:t>
            </a:r>
            <a:endParaRPr lang="en-US" altLang="en-US" sz="900" b="1">
              <a:solidFill>
                <a:schemeClr val="bg1"/>
              </a:solidFill>
            </a:endParaRPr>
          </a:p>
        </p:txBody>
      </p:sp>
      <p:sp>
        <p:nvSpPr>
          <p:cNvPr id="24602" name="Text Box 26"/>
          <p:cNvSpPr txBox="1">
            <a:spLocks noChangeArrowheads="1"/>
          </p:cNvSpPr>
          <p:nvPr/>
        </p:nvSpPr>
        <p:spPr bwMode="auto">
          <a:xfrm>
            <a:off x="9144001" y="4205288"/>
            <a:ext cx="2730500" cy="214312"/>
          </a:xfrm>
          <a:prstGeom prst="rect">
            <a:avLst/>
          </a:prstGeom>
          <a:solidFill>
            <a:srgbClr val="660033"/>
          </a:solidFill>
          <a:ln w="9525">
            <a:noFill/>
            <a:miter lim="800000"/>
            <a:headEnd/>
            <a:tailEnd/>
          </a:ln>
          <a:effectLst/>
        </p:spPr>
        <p:txBody>
          <a:bodyPr lIns="77040" tIns="38520" rIns="77040" bIns="38520">
            <a:spAutoFit/>
          </a:bodyPr>
          <a:lstStyle/>
          <a:p>
            <a:pPr defTabSz="195263">
              <a:spcBef>
                <a:spcPct val="50000"/>
              </a:spcBef>
            </a:pPr>
            <a:r>
              <a:rPr lang="en-GB" altLang="en-US" sz="900" b="1">
                <a:solidFill>
                  <a:schemeClr val="bg1"/>
                </a:solidFill>
              </a:rPr>
              <a:t>Conclusion</a:t>
            </a:r>
            <a:endParaRPr lang="en-US" altLang="en-US" sz="900" b="1">
              <a:solidFill>
                <a:schemeClr val="bg1"/>
              </a:solidFill>
            </a:endParaRPr>
          </a:p>
        </p:txBody>
      </p:sp>
      <p:sp>
        <p:nvSpPr>
          <p:cNvPr id="24603" name="Text Box 27"/>
          <p:cNvSpPr txBox="1">
            <a:spLocks noChangeArrowheads="1"/>
          </p:cNvSpPr>
          <p:nvPr/>
        </p:nvSpPr>
        <p:spPr bwMode="auto">
          <a:xfrm>
            <a:off x="9144001" y="6013451"/>
            <a:ext cx="2730500" cy="214313"/>
          </a:xfrm>
          <a:prstGeom prst="rect">
            <a:avLst/>
          </a:prstGeom>
          <a:solidFill>
            <a:srgbClr val="660033"/>
          </a:solidFill>
          <a:ln w="9525">
            <a:noFill/>
            <a:miter lim="800000"/>
            <a:headEnd/>
            <a:tailEnd/>
          </a:ln>
          <a:effectLst/>
        </p:spPr>
        <p:txBody>
          <a:bodyPr lIns="77040" tIns="38520" rIns="77040" bIns="38520">
            <a:spAutoFit/>
          </a:bodyPr>
          <a:lstStyle/>
          <a:p>
            <a:pPr defTabSz="195263">
              <a:spcBef>
                <a:spcPct val="50000"/>
              </a:spcBef>
            </a:pPr>
            <a:r>
              <a:rPr lang="en-GB" altLang="en-US" sz="900" b="1">
                <a:solidFill>
                  <a:schemeClr val="bg1"/>
                </a:solidFill>
              </a:rPr>
              <a:t>Acknowledgements</a:t>
            </a:r>
            <a:endParaRPr lang="en-US" altLang="en-US" sz="900" b="1">
              <a:solidFill>
                <a:schemeClr val="bg1"/>
              </a:solidFill>
            </a:endParaRPr>
          </a:p>
        </p:txBody>
      </p:sp>
      <p:sp>
        <p:nvSpPr>
          <p:cNvPr id="24604" name="Text Box 28"/>
          <p:cNvSpPr txBox="1">
            <a:spLocks noChangeArrowheads="1"/>
          </p:cNvSpPr>
          <p:nvPr/>
        </p:nvSpPr>
        <p:spPr bwMode="auto">
          <a:xfrm>
            <a:off x="317500" y="4606926"/>
            <a:ext cx="2728384" cy="1263580"/>
          </a:xfrm>
          <a:prstGeom prst="rect">
            <a:avLst/>
          </a:prstGeom>
          <a:noFill/>
          <a:ln w="9525">
            <a:noFill/>
            <a:miter lim="800000"/>
            <a:headEnd/>
            <a:tailEnd/>
          </a:ln>
          <a:effectLst/>
        </p:spPr>
        <p:txBody>
          <a:bodyPr lIns="77040" tIns="77040" rIns="77040" bIns="77040">
            <a:spAutoFit/>
          </a:bodyPr>
          <a:lstStyle/>
          <a:p>
            <a:pPr defTabSz="195263">
              <a:spcBef>
                <a:spcPct val="20000"/>
              </a:spcBef>
            </a:pPr>
            <a:r>
              <a:rPr lang="en-AU" altLang="en-US" sz="600" dirty="0"/>
              <a:t>How to use this poster template…</a:t>
            </a:r>
          </a:p>
          <a:p>
            <a:pPr defTabSz="195263">
              <a:spcBef>
                <a:spcPct val="40000"/>
              </a:spcBef>
            </a:pPr>
            <a:r>
              <a:rPr lang="en-AU" altLang="en-US" sz="600" dirty="0"/>
              <a:t>Simply highlight this text and replace it by typing in your own text, or copy and paste your text from a MS Word document or a PowerPoint slide presentation. </a:t>
            </a:r>
          </a:p>
          <a:p>
            <a:pPr defTabSz="195263">
              <a:spcBef>
                <a:spcPct val="40000"/>
              </a:spcBef>
            </a:pPr>
            <a:r>
              <a:rPr lang="en-AU" altLang="en-US" sz="600" dirty="0"/>
              <a:t>The sub-title text boxes can be moved up or down depending on how big or small your ‘Introduction’, ‘Aim’, ‘Method’, ‘Results’ and ‘Conclusion’ are.</a:t>
            </a:r>
          </a:p>
          <a:p>
            <a:pPr defTabSz="195263">
              <a:spcBef>
                <a:spcPct val="40000"/>
              </a:spcBef>
            </a:pPr>
            <a:r>
              <a:rPr lang="en-AU" altLang="en-US" sz="600" dirty="0"/>
              <a:t>The body text / font size should be between 24 and 32 points. Arial, Helvetica or equivalent. </a:t>
            </a:r>
          </a:p>
          <a:p>
            <a:pPr defTabSz="195263">
              <a:spcBef>
                <a:spcPct val="40000"/>
              </a:spcBef>
            </a:pPr>
            <a:r>
              <a:rPr lang="en-AU" altLang="en-US" sz="600" dirty="0"/>
              <a:t>Keep body text left-aligned, do </a:t>
            </a:r>
            <a:r>
              <a:rPr lang="en-AU" altLang="en-US" sz="600" b="1" dirty="0"/>
              <a:t>not</a:t>
            </a:r>
            <a:r>
              <a:rPr lang="en-AU" altLang="en-US" sz="600" dirty="0"/>
              <a:t> justify text.</a:t>
            </a:r>
          </a:p>
          <a:p>
            <a:pPr defTabSz="195263">
              <a:spcBef>
                <a:spcPct val="40000"/>
              </a:spcBef>
            </a:pPr>
            <a:r>
              <a:rPr lang="en-AU" altLang="en-US" sz="600" dirty="0"/>
              <a:t>The colour of the text, title and poster background can be changed to the colour of your choice.</a:t>
            </a:r>
          </a:p>
        </p:txBody>
      </p:sp>
    </p:spTree>
    <p:extLst>
      <p:ext uri="{BB962C8B-B14F-4D97-AF65-F5344CB8AC3E}">
        <p14:creationId xmlns:p14="http://schemas.microsoft.com/office/powerpoint/2010/main" val="28171719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497417" y="1511300"/>
            <a:ext cx="2504016" cy="1803400"/>
          </a:xfrm>
          <a:prstGeom prst="rect">
            <a:avLst/>
          </a:prstGeom>
          <a:solidFill>
            <a:schemeClr val="bg1"/>
          </a:solidFill>
          <a:ln w="12700">
            <a:solidFill>
              <a:schemeClr val="hlink"/>
            </a:solidFill>
            <a:miter lim="800000"/>
            <a:headEnd/>
            <a:tailEnd/>
          </a:ln>
          <a:effectLst/>
        </p:spPr>
        <p:txBody>
          <a:bodyPr lIns="173919" tIns="86959" rIns="173919" bIns="173919"/>
          <a:lstStyle/>
          <a:p>
            <a:pPr algn="just" defTabSz="174625" eaLnBrk="1" hangingPunct="1">
              <a:spcBef>
                <a:spcPct val="50000"/>
              </a:spcBef>
              <a:tabLst>
                <a:tab pos="95250" algn="l"/>
              </a:tabLst>
            </a:pPr>
            <a:r>
              <a:rPr lang="en-US" altLang="en-US" sz="800" b="1" dirty="0">
                <a:solidFill>
                  <a:srgbClr val="FF8000"/>
                </a:solidFill>
                <a:latin typeface="Helvetica" pitchFamily="34" charset="0"/>
              </a:rPr>
              <a:t>Introduction</a:t>
            </a:r>
            <a:endParaRPr lang="en-US" altLang="en-US" sz="800" b="1" dirty="0">
              <a:latin typeface="Helvetica" pitchFamily="34" charset="0"/>
            </a:endParaRPr>
          </a:p>
          <a:p>
            <a:pPr defTabSz="174625" eaLnBrk="1" hangingPunct="1">
              <a:spcBef>
                <a:spcPct val="10000"/>
              </a:spcBef>
              <a:tabLst>
                <a:tab pos="95250" algn="l"/>
              </a:tabLst>
            </a:pPr>
            <a:r>
              <a:rPr lang="en-US" altLang="en-US" sz="500" dirty="0">
                <a:latin typeface="Times New Roman" pitchFamily="18" charset="0"/>
              </a:rPr>
              <a:t>This is a Microsoft </a:t>
            </a:r>
            <a:r>
              <a:rPr lang="en-US" altLang="en-US" sz="500" dirty="0" err="1">
                <a:latin typeface="Times New Roman" pitchFamily="18" charset="0"/>
              </a:rPr>
              <a:t>Powerpoint</a:t>
            </a:r>
            <a:r>
              <a:rPr lang="en-US" altLang="en-US" sz="500" dirty="0">
                <a:latin typeface="Times New Roman" pitchFamily="18" charset="0"/>
              </a:rPr>
              <a:t> template that has column widths and font sizes optimized for printing a 36 x 56” poster—just replace the “tips” and “blah, blah, blah” repeat motifs with actual content, if you have it.  Try to keep your total word count under 500 (yea, this suggestion applies to everyone, even you).  More tips can be found at the companion site, “Advice on designing scientific posters,” at the Swarthmore College Biology Department web site.</a:t>
            </a:r>
            <a:endParaRPr lang="en-US" altLang="en-US" sz="300" dirty="0">
              <a:solidFill>
                <a:srgbClr val="0000FF"/>
              </a:solidFill>
              <a:latin typeface="Verdana" pitchFamily="34" charset="0"/>
            </a:endParaRPr>
          </a:p>
          <a:p>
            <a:pPr algn="just" defTabSz="174625" eaLnBrk="1" hangingPunct="1">
              <a:spcBef>
                <a:spcPct val="10000"/>
              </a:spcBef>
              <a:tabLst>
                <a:tab pos="95250" algn="l"/>
              </a:tabLst>
            </a:pPr>
            <a:r>
              <a:rPr lang="en-US" altLang="en-US" sz="500" i="1" dirty="0">
                <a:latin typeface="Times New Roman" pitchFamily="18" charset="0"/>
              </a:rPr>
              <a:t>	This</a:t>
            </a:r>
            <a:r>
              <a:rPr lang="en-US" altLang="en-US" sz="500" dirty="0">
                <a:latin typeface="Times New Roman" pitchFamily="18" charset="0"/>
              </a:rPr>
              <a:t> paragraph has “justified” margins, but be aware that simple left-justification (other paragraphs) is infinitely better if your font doesn’t “space” nicely when fully justified. Sometimes spacing difficulties can be fixed by manually inserting hyphens into longer words. (</a:t>
            </a:r>
            <a:r>
              <a:rPr lang="en-US" altLang="en-US" sz="500" dirty="0" err="1">
                <a:latin typeface="Times New Roman" pitchFamily="18" charset="0"/>
              </a:rPr>
              <a:t>Powerpoint</a:t>
            </a:r>
            <a:r>
              <a:rPr lang="en-US" altLang="en-US" sz="500" dirty="0">
                <a:latin typeface="Times New Roman" pitchFamily="18" charset="0"/>
              </a:rPr>
              <a:t> doesn’t automatically hyphenate, by the way.)</a:t>
            </a:r>
          </a:p>
          <a:p>
            <a:pPr defTabSz="174625" eaLnBrk="1" hangingPunct="1">
              <a:spcBef>
                <a:spcPct val="10000"/>
              </a:spcBef>
              <a:tabLst>
                <a:tab pos="95250" algn="l"/>
              </a:tabLst>
            </a:pPr>
            <a:r>
              <a:rPr lang="en-US" altLang="en-US" sz="500" dirty="0">
                <a:latin typeface="Times New Roman" pitchFamily="18" charset="0"/>
              </a:rPr>
              <a:t>	Your main text is easier to read if you use a “serif” font such as Palatino or Times (i.e., people have done experiments and found this to be the case).  Use a non-serif font for your title and section headings.</a:t>
            </a:r>
            <a:endParaRPr lang="en-US" altLang="en-US" sz="500" i="1" dirty="0">
              <a:solidFill>
                <a:schemeClr val="accent2"/>
              </a:solidFill>
              <a:latin typeface="Times New Roman" pitchFamily="18" charset="0"/>
            </a:endParaRPr>
          </a:p>
          <a:p>
            <a:pPr defTabSz="174625" eaLnBrk="1" hangingPunct="1">
              <a:spcBef>
                <a:spcPct val="10000"/>
              </a:spcBef>
              <a:tabLst>
                <a:tab pos="95250" algn="l"/>
              </a:tabLst>
            </a:pPr>
            <a:endParaRPr lang="en-US" altLang="en-US" sz="500" dirty="0">
              <a:latin typeface="Times New Roman" pitchFamily="18" charset="0"/>
            </a:endParaRPr>
          </a:p>
        </p:txBody>
      </p:sp>
      <p:sp>
        <p:nvSpPr>
          <p:cNvPr id="25603" name="Text Box 3"/>
          <p:cNvSpPr txBox="1">
            <a:spLocks noChangeArrowheads="1"/>
          </p:cNvSpPr>
          <p:nvPr/>
        </p:nvSpPr>
        <p:spPr bwMode="auto">
          <a:xfrm>
            <a:off x="497417" y="3532189"/>
            <a:ext cx="2504016" cy="2897187"/>
          </a:xfrm>
          <a:prstGeom prst="rect">
            <a:avLst/>
          </a:prstGeom>
          <a:solidFill>
            <a:schemeClr val="bg1"/>
          </a:solidFill>
          <a:ln w="12700">
            <a:solidFill>
              <a:schemeClr val="hlink"/>
            </a:solidFill>
            <a:miter lim="800000"/>
            <a:headEnd/>
            <a:tailEnd/>
          </a:ln>
          <a:effectLst/>
        </p:spPr>
        <p:txBody>
          <a:bodyPr lIns="173919" tIns="86959" rIns="173919" bIns="173919"/>
          <a:lstStyle/>
          <a:p>
            <a:pPr algn="just" defTabSz="174625" eaLnBrk="1" hangingPunct="1">
              <a:spcBef>
                <a:spcPct val="50000"/>
              </a:spcBef>
              <a:tabLst>
                <a:tab pos="96838" algn="l"/>
              </a:tabLst>
            </a:pPr>
            <a:r>
              <a:rPr lang="en-US" altLang="en-US" sz="800" b="1" dirty="0">
                <a:solidFill>
                  <a:srgbClr val="FF8000"/>
                </a:solidFill>
                <a:latin typeface="Helvetica" pitchFamily="34" charset="0"/>
              </a:rPr>
              <a:t>Materials and methods</a:t>
            </a:r>
            <a:r>
              <a:rPr lang="en-US" altLang="en-US" sz="500" dirty="0">
                <a:solidFill>
                  <a:srgbClr val="FF8000"/>
                </a:solidFill>
                <a:latin typeface="Times New Roman" pitchFamily="18" charset="0"/>
              </a:rPr>
              <a:t>	</a:t>
            </a:r>
            <a:endParaRPr lang="en-US" altLang="en-US" sz="500" dirty="0">
              <a:latin typeface="Times New Roman" pitchFamily="18" charset="0"/>
            </a:endParaRPr>
          </a:p>
          <a:p>
            <a:pPr defTabSz="174625" eaLnBrk="1" hangingPunct="1">
              <a:spcBef>
                <a:spcPct val="10000"/>
              </a:spcBef>
              <a:tabLst>
                <a:tab pos="96838" algn="l"/>
              </a:tabLst>
            </a:pPr>
            <a:r>
              <a:rPr lang="en-US" altLang="en-US" sz="500" dirty="0">
                <a:latin typeface="Times New Roman" pitchFamily="18" charset="0"/>
              </a:rPr>
              <a:t>Be brief, and opt for photographs or drawings whenever possible to illustrate organism, protocol, or experimental design.  Viewers don’t actually want to read about the gruesome details, however fascinating you might find them.</a:t>
            </a:r>
          </a:p>
          <a:p>
            <a:pPr defTabSz="174625" eaLnBrk="1" hangingPunct="1">
              <a:spcBef>
                <a:spcPct val="10000"/>
              </a:spcBef>
              <a:tabLst>
                <a:tab pos="96838" algn="l"/>
              </a:tabLst>
            </a:pPr>
            <a:r>
              <a:rPr lang="en-US" altLang="en-US" sz="500" dirty="0">
                <a:latin typeface="Times New Roman" pitchFamily="18" charset="0"/>
              </a:rPr>
              <a:t>	Blah, blah, blah. Blah, blah, blah. Blah, blah, blah. Blah, blah, blah. Blah, blah, blah. Blah, blah, blah. Blah, blah, blah. Blah, blah, blah. Blah, blah, blah. Blah, blah, blah.</a:t>
            </a:r>
          </a:p>
          <a:p>
            <a:pPr defTabSz="174625" eaLnBrk="1" hangingPunct="1">
              <a:spcBef>
                <a:spcPct val="10000"/>
              </a:spcBef>
              <a:tabLst>
                <a:tab pos="96838" algn="l"/>
              </a:tabLst>
            </a:pPr>
            <a:r>
              <a:rPr lang="en-US" altLang="en-US" sz="500" dirty="0">
                <a:latin typeface="Times New Roman" pitchFamily="18" charset="0"/>
              </a:rPr>
              <a:t>	 Blah, blah, blah. Blah, blah, blah. Blah, blah, blah. Blah, blah, blah. Blah, blah, blah. Blah, blah, blah. Blah, blah, blah. Blah, blah, blah. Blah, blah, blah. Blah, blah, blah.</a:t>
            </a:r>
          </a:p>
          <a:p>
            <a:pPr defTabSz="174625" eaLnBrk="1" hangingPunct="1">
              <a:spcBef>
                <a:spcPct val="10000"/>
              </a:spcBef>
              <a:tabLst>
                <a:tab pos="96838" algn="l"/>
              </a:tabLst>
            </a:pPr>
            <a:r>
              <a:rPr lang="en-US" altLang="en-US" sz="500" dirty="0">
                <a:latin typeface="Times New Roman" pitchFamily="18" charset="0"/>
              </a:rPr>
              <a:t>	 Blah, blah, blah. Blah, blah, blah. Blah, blah, blah. Blah, blah, blah. Blah, blah, blah. Blah, blah, blah.</a:t>
            </a:r>
          </a:p>
          <a:p>
            <a:pPr defTabSz="174625" eaLnBrk="1" hangingPunct="1">
              <a:spcBef>
                <a:spcPct val="10000"/>
              </a:spcBef>
              <a:tabLst>
                <a:tab pos="96838" algn="l"/>
              </a:tabLst>
            </a:pPr>
            <a:endParaRPr lang="en-US" altLang="en-US" sz="500" dirty="0">
              <a:latin typeface="Times New Roman" pitchFamily="18" charset="0"/>
            </a:endParaRPr>
          </a:p>
        </p:txBody>
      </p:sp>
      <p:sp>
        <p:nvSpPr>
          <p:cNvPr id="25604" name="Text Box 4"/>
          <p:cNvSpPr txBox="1">
            <a:spLocks noChangeArrowheads="1"/>
          </p:cNvSpPr>
          <p:nvPr/>
        </p:nvSpPr>
        <p:spPr bwMode="auto">
          <a:xfrm>
            <a:off x="9150351" y="4762501"/>
            <a:ext cx="2504016" cy="860425"/>
          </a:xfrm>
          <a:prstGeom prst="rect">
            <a:avLst/>
          </a:prstGeom>
          <a:solidFill>
            <a:schemeClr val="bg1"/>
          </a:solidFill>
          <a:ln w="12700">
            <a:solidFill>
              <a:schemeClr val="hlink"/>
            </a:solidFill>
            <a:miter lim="800000"/>
            <a:headEnd/>
            <a:tailEnd/>
          </a:ln>
          <a:effectLst/>
        </p:spPr>
        <p:txBody>
          <a:bodyPr lIns="173919" tIns="86959" rIns="173919" bIns="173919"/>
          <a:lstStyle/>
          <a:p>
            <a:pPr defTabSz="174625" eaLnBrk="1" hangingPunct="1">
              <a:spcBef>
                <a:spcPct val="50000"/>
              </a:spcBef>
            </a:pPr>
            <a:r>
              <a:rPr lang="en-US" altLang="en-US" sz="800" b="1" dirty="0">
                <a:solidFill>
                  <a:srgbClr val="FF8000"/>
                </a:solidFill>
                <a:latin typeface="Helvetica" pitchFamily="34" charset="0"/>
              </a:rPr>
              <a:t>Acknowledgments</a:t>
            </a:r>
            <a:endParaRPr lang="en-US" altLang="en-US" sz="800" b="1" dirty="0">
              <a:latin typeface="Helvetica" pitchFamily="34" charset="0"/>
            </a:endParaRPr>
          </a:p>
          <a:p>
            <a:pPr defTabSz="174625" eaLnBrk="1" hangingPunct="1">
              <a:spcBef>
                <a:spcPct val="10000"/>
              </a:spcBef>
            </a:pPr>
            <a:r>
              <a:rPr lang="en-US" altLang="en-US" sz="400" dirty="0">
                <a:latin typeface="Times New Roman" pitchFamily="18" charset="0"/>
              </a:rPr>
              <a:t>We thank I. </a:t>
            </a:r>
            <a:r>
              <a:rPr lang="en-US" altLang="en-US" sz="400" dirty="0" err="1">
                <a:latin typeface="Times New Roman" pitchFamily="18" charset="0"/>
              </a:rPr>
              <a:t>Güor</a:t>
            </a:r>
            <a:r>
              <a:rPr lang="en-US" altLang="en-US" sz="400" dirty="0">
                <a:latin typeface="Times New Roman" pitchFamily="18" charset="0"/>
              </a:rPr>
              <a:t> for laboratory assistance, Mary Juana for seeds, Herb </a:t>
            </a:r>
            <a:r>
              <a:rPr lang="en-US" altLang="en-US" sz="400" dirty="0" err="1">
                <a:latin typeface="Times New Roman" pitchFamily="18" charset="0"/>
              </a:rPr>
              <a:t>Isside</a:t>
            </a:r>
            <a:r>
              <a:rPr lang="en-US" altLang="en-US" sz="400" dirty="0">
                <a:latin typeface="Times New Roman" pitchFamily="18" charset="0"/>
              </a:rPr>
              <a:t> for applying the greenhouse stress treatment, and M.I. </a:t>
            </a:r>
            <a:r>
              <a:rPr lang="en-US" altLang="en-US" sz="400" dirty="0" err="1">
                <a:latin typeface="Times New Roman" pitchFamily="18" charset="0"/>
              </a:rPr>
              <a:t>Menter</a:t>
            </a:r>
            <a:r>
              <a:rPr lang="en-US" altLang="en-US" sz="400" dirty="0">
                <a:latin typeface="Times New Roman" pitchFamily="18" charset="0"/>
              </a:rPr>
              <a:t> for statistical advice and scintillating discussions. Funding for this project was provided by the Swarthmore College Department of Biology, a Merck summer stipend, and my mom. [Note that people’s titles are omitted.]</a:t>
            </a:r>
          </a:p>
        </p:txBody>
      </p:sp>
      <p:sp>
        <p:nvSpPr>
          <p:cNvPr id="25605" name="Text Box 5"/>
          <p:cNvSpPr txBox="1">
            <a:spLocks noChangeArrowheads="1"/>
          </p:cNvSpPr>
          <p:nvPr/>
        </p:nvSpPr>
        <p:spPr bwMode="auto">
          <a:xfrm>
            <a:off x="3395134" y="1511300"/>
            <a:ext cx="2504017" cy="4918075"/>
          </a:xfrm>
          <a:prstGeom prst="rect">
            <a:avLst/>
          </a:prstGeom>
          <a:solidFill>
            <a:schemeClr val="bg1"/>
          </a:solidFill>
          <a:ln w="12700">
            <a:solidFill>
              <a:schemeClr val="hlink"/>
            </a:solidFill>
            <a:miter lim="800000"/>
            <a:headEnd/>
            <a:tailEnd/>
          </a:ln>
          <a:effectLst/>
        </p:spPr>
        <p:txBody>
          <a:bodyPr lIns="173919" tIns="86959" rIns="173919" bIns="173919"/>
          <a:lstStyle/>
          <a:p>
            <a:pPr algn="just" defTabSz="174625" eaLnBrk="1" hangingPunct="1">
              <a:tabLst>
                <a:tab pos="95250" algn="l"/>
              </a:tabLst>
            </a:pPr>
            <a:r>
              <a:rPr lang="en-US" altLang="en-US" sz="800" b="1" dirty="0">
                <a:solidFill>
                  <a:srgbClr val="FF8000"/>
                </a:solidFill>
                <a:latin typeface="Helvetica" pitchFamily="34" charset="0"/>
              </a:rPr>
              <a:t>Results</a:t>
            </a:r>
            <a:endParaRPr lang="en-US" altLang="en-US" sz="500" b="1" dirty="0">
              <a:latin typeface="Helvetica" pitchFamily="34" charset="0"/>
            </a:endParaRPr>
          </a:p>
          <a:p>
            <a:pPr defTabSz="174625" eaLnBrk="1" hangingPunct="1">
              <a:spcBef>
                <a:spcPct val="10000"/>
              </a:spcBef>
              <a:tabLst>
                <a:tab pos="95250" algn="l"/>
              </a:tabLst>
            </a:pPr>
            <a:r>
              <a:rPr lang="en-US" altLang="en-US" sz="500" dirty="0">
                <a:latin typeface="Times New Roman" pitchFamily="18" charset="0"/>
              </a:rPr>
              <a:t>The overall layout for this section can, and probably </a:t>
            </a:r>
            <a:r>
              <a:rPr lang="en-US" altLang="en-US" sz="500" i="1" dirty="0">
                <a:latin typeface="Times New Roman" pitchFamily="18" charset="0"/>
              </a:rPr>
              <a:t>should,</a:t>
            </a:r>
            <a:r>
              <a:rPr lang="en-US" altLang="en-US" sz="500" dirty="0">
                <a:latin typeface="Times New Roman" pitchFamily="18" charset="0"/>
              </a:rPr>
              <a:t> be modified from this template, depending on the size and number of charts and photographs your specific experiment generated. You might want a single, large column to accommodate a large map, or perhaps you could arrange 6 figures in a circle in the center of the poster: do whatever it takes to make your results </a:t>
            </a:r>
            <a:r>
              <a:rPr lang="en-US" altLang="en-US" sz="500" i="1" dirty="0">
                <a:latin typeface="Times New Roman" pitchFamily="18" charset="0"/>
              </a:rPr>
              <a:t>graphically </a:t>
            </a:r>
            <a:r>
              <a:rPr lang="en-US" altLang="en-US" sz="500" dirty="0">
                <a:latin typeface="Times New Roman" pitchFamily="18" charset="0"/>
              </a:rPr>
              <a:t>clear. To see examples of how others have abused this template to fit their presentation needs, perform a Google search for “</a:t>
            </a:r>
            <a:r>
              <a:rPr lang="en-US" altLang="en-US" sz="500" dirty="0" err="1">
                <a:latin typeface="Times New Roman" pitchFamily="18" charset="0"/>
              </a:rPr>
              <a:t>powerpoint</a:t>
            </a:r>
            <a:r>
              <a:rPr lang="en-US" altLang="en-US" sz="500" dirty="0">
                <a:latin typeface="Times New Roman" pitchFamily="18" charset="0"/>
              </a:rPr>
              <a:t> template for scientific posters.” </a:t>
            </a:r>
          </a:p>
          <a:p>
            <a:pPr defTabSz="174625" eaLnBrk="1" hangingPunct="1">
              <a:spcBef>
                <a:spcPct val="10000"/>
              </a:spcBef>
              <a:tabLst>
                <a:tab pos="95250" algn="l"/>
              </a:tabLst>
            </a:pPr>
            <a:r>
              <a:rPr lang="en-US" altLang="en-US" sz="500" dirty="0">
                <a:latin typeface="Times New Roman" pitchFamily="18" charset="0"/>
              </a:rPr>
              <a:t>	Paragraph format is fine, but sometimes a simple list of “bullet” points can communicate results more effectively:</a:t>
            </a:r>
            <a:br>
              <a:rPr lang="en-US" altLang="en-US" sz="500" dirty="0">
                <a:latin typeface="Times New Roman" pitchFamily="18" charset="0"/>
              </a:rPr>
            </a:br>
            <a:endParaRPr lang="en-US" altLang="en-US" sz="500" dirty="0">
              <a:latin typeface="Times New Roman" pitchFamily="18" charset="0"/>
            </a:endParaRPr>
          </a:p>
          <a:p>
            <a:pPr marL="263525" lvl="1" indent="-65088" defTabSz="174625" eaLnBrk="1" hangingPunct="1">
              <a:spcBef>
                <a:spcPct val="10000"/>
              </a:spcBef>
              <a:buFont typeface="Times New Roman" pitchFamily="18" charset="0"/>
              <a:buChar char="•"/>
              <a:tabLst>
                <a:tab pos="95250" algn="l"/>
              </a:tabLst>
            </a:pPr>
            <a:r>
              <a:rPr lang="en-US" altLang="en-US" sz="500" dirty="0">
                <a:latin typeface="Times New Roman" pitchFamily="18" charset="0"/>
              </a:rPr>
              <a:t>9 out of 12 </a:t>
            </a:r>
            <a:r>
              <a:rPr lang="en-US" altLang="en-US" sz="500" dirty="0" err="1">
                <a:latin typeface="Times New Roman" pitchFamily="18" charset="0"/>
              </a:rPr>
              <a:t>brainectomized</a:t>
            </a:r>
            <a:r>
              <a:rPr lang="en-US" altLang="en-US" sz="500" dirty="0">
                <a:latin typeface="Times New Roman" pitchFamily="18" charset="0"/>
              </a:rPr>
              <a:t> rats survived</a:t>
            </a:r>
          </a:p>
          <a:p>
            <a:pPr marL="263525" lvl="1" indent="-65088" defTabSz="174625" eaLnBrk="1" hangingPunct="1">
              <a:spcBef>
                <a:spcPct val="10000"/>
              </a:spcBef>
              <a:buFont typeface="Times New Roman" pitchFamily="18" charset="0"/>
              <a:buChar char="•"/>
              <a:tabLst>
                <a:tab pos="95250" algn="l"/>
              </a:tabLst>
            </a:pPr>
            <a:r>
              <a:rPr lang="en-US" altLang="en-US" sz="500" dirty="0">
                <a:latin typeface="Times New Roman" pitchFamily="18" charset="0"/>
              </a:rPr>
              <a:t>Control rats completed maze faster, on average, than rats without brains </a:t>
            </a:r>
            <a:r>
              <a:rPr lang="en-US" altLang="en-US" sz="500" b="1" dirty="0">
                <a:latin typeface="Times New Roman" pitchFamily="18" charset="0"/>
              </a:rPr>
              <a:t>(Fig. 3b)</a:t>
            </a:r>
            <a:r>
              <a:rPr lang="en-US" altLang="en-US" sz="500" dirty="0">
                <a:latin typeface="Times New Roman" pitchFamily="18" charset="0"/>
              </a:rPr>
              <a:t> (</a:t>
            </a:r>
            <a:r>
              <a:rPr lang="en-US" altLang="en-US" sz="500" i="1" dirty="0">
                <a:latin typeface="Times New Roman" pitchFamily="18" charset="0"/>
              </a:rPr>
              <a:t>t </a:t>
            </a:r>
            <a:r>
              <a:rPr lang="en-US" altLang="en-US" sz="500" dirty="0">
                <a:latin typeface="Times New Roman" pitchFamily="18" charset="0"/>
              </a:rPr>
              <a:t>= 9.84, </a:t>
            </a:r>
            <a:r>
              <a:rPr lang="en-US" altLang="en-US" sz="500" dirty="0" err="1">
                <a:latin typeface="Times New Roman" pitchFamily="18" charset="0"/>
              </a:rPr>
              <a:t>df</a:t>
            </a:r>
            <a:r>
              <a:rPr lang="en-US" altLang="en-US" sz="500" dirty="0">
                <a:latin typeface="Times New Roman" pitchFamily="18" charset="0"/>
              </a:rPr>
              <a:t> = 21, </a:t>
            </a:r>
            <a:r>
              <a:rPr lang="en-US" altLang="en-US" sz="500" i="1" dirty="0">
                <a:latin typeface="Times New Roman" pitchFamily="18" charset="0"/>
              </a:rPr>
              <a:t>p</a:t>
            </a:r>
            <a:r>
              <a:rPr lang="en-US" altLang="en-US" sz="500" dirty="0">
                <a:latin typeface="Times New Roman" pitchFamily="18" charset="0"/>
              </a:rPr>
              <a:t> = 0.032)</a:t>
            </a:r>
            <a:endParaRPr lang="en-US" altLang="en-US" sz="500" dirty="0">
              <a:latin typeface="Helvetica" pitchFamily="34" charset="0"/>
            </a:endParaRPr>
          </a:p>
          <a:p>
            <a:pPr defTabSz="174625" eaLnBrk="1" hangingPunct="1">
              <a:spcBef>
                <a:spcPct val="10000"/>
              </a:spcBef>
              <a:tabLst>
                <a:tab pos="95250" algn="l"/>
              </a:tabLst>
            </a:pPr>
            <a:r>
              <a:rPr lang="en-US" altLang="en-US" sz="500" dirty="0">
                <a:latin typeface="Times New Roman" pitchFamily="18" charset="0"/>
              </a:rPr>
              <a:t>	</a:t>
            </a:r>
          </a:p>
        </p:txBody>
      </p:sp>
      <p:sp>
        <p:nvSpPr>
          <p:cNvPr id="25606" name="Text Box 6"/>
          <p:cNvSpPr txBox="1">
            <a:spLocks noChangeArrowheads="1"/>
          </p:cNvSpPr>
          <p:nvPr/>
        </p:nvSpPr>
        <p:spPr bwMode="auto">
          <a:xfrm>
            <a:off x="9150351" y="1511300"/>
            <a:ext cx="2504016" cy="2046288"/>
          </a:xfrm>
          <a:prstGeom prst="rect">
            <a:avLst/>
          </a:prstGeom>
          <a:solidFill>
            <a:schemeClr val="bg1"/>
          </a:solidFill>
          <a:ln w="12700">
            <a:solidFill>
              <a:schemeClr val="hlink"/>
            </a:solidFill>
            <a:miter lim="800000"/>
            <a:headEnd/>
            <a:tailEnd/>
          </a:ln>
          <a:effectLst/>
        </p:spPr>
        <p:txBody>
          <a:bodyPr lIns="173919" tIns="86959" rIns="173919" bIns="173919"/>
          <a:lstStyle/>
          <a:p>
            <a:pPr defTabSz="174625" eaLnBrk="1" hangingPunct="1">
              <a:spcBef>
                <a:spcPct val="50000"/>
              </a:spcBef>
              <a:tabLst>
                <a:tab pos="120650" algn="l"/>
              </a:tabLst>
            </a:pPr>
            <a:r>
              <a:rPr lang="en-US" altLang="en-US" sz="800" b="1" dirty="0">
                <a:solidFill>
                  <a:srgbClr val="FF8000"/>
                </a:solidFill>
                <a:latin typeface="Helvetica" pitchFamily="34" charset="0"/>
              </a:rPr>
              <a:t>Conclusions</a:t>
            </a:r>
            <a:endParaRPr lang="en-US" altLang="en-US" sz="800" b="1" dirty="0">
              <a:latin typeface="Helvetica" pitchFamily="34" charset="0"/>
            </a:endParaRPr>
          </a:p>
          <a:p>
            <a:pPr defTabSz="174625" eaLnBrk="1" hangingPunct="1">
              <a:spcBef>
                <a:spcPct val="10000"/>
              </a:spcBef>
              <a:tabLst>
                <a:tab pos="120650" algn="l"/>
              </a:tabLst>
            </a:pPr>
            <a:r>
              <a:rPr lang="en-US" altLang="en-US" sz="500" dirty="0">
                <a:latin typeface="Times New Roman" pitchFamily="18" charset="0"/>
              </a:rPr>
              <a:t>You can, of course, start your conclusions in column #3 if your results section is “data light.”</a:t>
            </a:r>
          </a:p>
          <a:p>
            <a:pPr defTabSz="174625" eaLnBrk="1" hangingPunct="1">
              <a:spcBef>
                <a:spcPct val="10000"/>
              </a:spcBef>
              <a:tabLst>
                <a:tab pos="120650" algn="l"/>
              </a:tabLst>
            </a:pPr>
            <a:endParaRPr lang="en-US" altLang="en-US" sz="500" dirty="0">
              <a:latin typeface="Times New Roman" pitchFamily="18" charset="0"/>
            </a:endParaRPr>
          </a:p>
          <a:p>
            <a:pPr defTabSz="174625" eaLnBrk="1" hangingPunct="1">
              <a:spcBef>
                <a:spcPct val="10000"/>
              </a:spcBef>
              <a:tabLst>
                <a:tab pos="120650" algn="l"/>
              </a:tabLst>
            </a:pPr>
            <a:r>
              <a:rPr lang="en-US" altLang="en-US" sz="500" dirty="0">
                <a:latin typeface="Times New Roman" pitchFamily="18" charset="0"/>
              </a:rPr>
              <a:t>Conclusions should not be mere reminders of your results.  Instead, you want to guide the reader through what you have </a:t>
            </a:r>
            <a:r>
              <a:rPr lang="en-US" altLang="en-US" sz="500" i="1" dirty="0">
                <a:latin typeface="Times New Roman" pitchFamily="18" charset="0"/>
              </a:rPr>
              <a:t>concluded</a:t>
            </a:r>
            <a:r>
              <a:rPr lang="en-US" altLang="en-US" sz="500" dirty="0">
                <a:latin typeface="Times New Roman" pitchFamily="18" charset="0"/>
              </a:rPr>
              <a:t> from the results.  What is the broader significance?  Would anyone be mildly surprised? Why should anyone care? This section should refer back, explicitly, to the “burning issue” mentioned in the introduction. If you didn’t mention a burning issue in the introduction, go back and fix that -- your poster should have made a good case for why this experiment was worthwhile.</a:t>
            </a:r>
          </a:p>
          <a:p>
            <a:pPr defTabSz="174625" eaLnBrk="1" hangingPunct="1">
              <a:spcBef>
                <a:spcPct val="10000"/>
              </a:spcBef>
              <a:tabLst>
                <a:tab pos="120650" algn="l"/>
              </a:tabLst>
            </a:pPr>
            <a:endParaRPr lang="en-US" altLang="en-US" sz="500" dirty="0">
              <a:latin typeface="Times New Roman" pitchFamily="18" charset="0"/>
            </a:endParaRPr>
          </a:p>
          <a:p>
            <a:pPr defTabSz="174625" eaLnBrk="1" hangingPunct="1">
              <a:spcBef>
                <a:spcPct val="10000"/>
              </a:spcBef>
              <a:tabLst>
                <a:tab pos="120650" algn="l"/>
              </a:tabLst>
            </a:pPr>
            <a:r>
              <a:rPr lang="en-US" altLang="en-US" sz="500" dirty="0">
                <a:latin typeface="Times New Roman" pitchFamily="18" charset="0"/>
              </a:rPr>
              <a:t>Blah, blah, blah. Blah, blah, blah. Blah, blah, blah. Blah, blah, blah. Blah, blah, blah. Blah, blah, blah. Blah, blah, blah. Blah, blah, blah. Blah, blah, blah. Blah, blah, blah. Blah, blah, blah. Blah, blah, blah. Blah, blah, blah. Blah, blah, blah. Blah, blah, blah. Blah, blah, blah. Blah, blah, blah. Blah, blah, blah. Blah, blah, blah. Blah, blah, blah. Blah, blah, blah. Blah, blah, blah. Blah, blah, blah.</a:t>
            </a:r>
          </a:p>
          <a:p>
            <a:pPr defTabSz="174625" eaLnBrk="1" hangingPunct="1">
              <a:spcBef>
                <a:spcPct val="10000"/>
              </a:spcBef>
              <a:tabLst>
                <a:tab pos="120650" algn="l"/>
              </a:tabLst>
            </a:pPr>
            <a:endParaRPr lang="en-US" altLang="en-US" sz="500" dirty="0">
              <a:latin typeface="Times New Roman" pitchFamily="18" charset="0"/>
            </a:endParaRPr>
          </a:p>
          <a:p>
            <a:pPr defTabSz="174625" eaLnBrk="1" hangingPunct="1">
              <a:spcBef>
                <a:spcPct val="10000"/>
              </a:spcBef>
              <a:tabLst>
                <a:tab pos="120650" algn="l"/>
              </a:tabLst>
            </a:pPr>
            <a:r>
              <a:rPr lang="en-US" altLang="en-US" sz="500" dirty="0">
                <a:latin typeface="Times New Roman" pitchFamily="18" charset="0"/>
              </a:rPr>
              <a:t>Blah, blah, blah. Blah, blah, blah. Blah, blah, blah. Blah, blah, blah. Blah, blah, blah. Blah, blah, blah. Blah, blah, blah. Blah, blah, blah. </a:t>
            </a:r>
          </a:p>
        </p:txBody>
      </p:sp>
      <p:sp>
        <p:nvSpPr>
          <p:cNvPr id="25607" name="Text Box 7"/>
          <p:cNvSpPr txBox="1">
            <a:spLocks noChangeArrowheads="1"/>
          </p:cNvSpPr>
          <p:nvPr/>
        </p:nvSpPr>
        <p:spPr bwMode="auto">
          <a:xfrm>
            <a:off x="436034" y="277813"/>
            <a:ext cx="11355917" cy="1036395"/>
          </a:xfrm>
          <a:prstGeom prst="rect">
            <a:avLst/>
          </a:prstGeom>
          <a:noFill/>
          <a:ln w="12700">
            <a:noFill/>
            <a:miter lim="800000"/>
            <a:headEnd/>
            <a:tailEnd/>
          </a:ln>
          <a:effectLst/>
        </p:spPr>
        <p:txBody>
          <a:bodyPr lIns="52176" tIns="52176" rIns="52176" bIns="52176">
            <a:spAutoFit/>
          </a:bodyPr>
          <a:lstStyle/>
          <a:p>
            <a:pPr algn="ctr" defTabSz="174625" eaLnBrk="1" hangingPunct="1">
              <a:spcBef>
                <a:spcPct val="50000"/>
              </a:spcBef>
            </a:pPr>
            <a:r>
              <a:rPr lang="en-US" altLang="en-US" sz="1500" b="1">
                <a:latin typeface="Helvetica" pitchFamily="34" charset="0"/>
              </a:rPr>
              <a:t>Title that hints at the underlying issue or question and is formatted in</a:t>
            </a:r>
            <a:r>
              <a:rPr lang="en-US" altLang="en-US" sz="1500" b="1" i="1">
                <a:latin typeface="Helvetica" pitchFamily="34" charset="0"/>
              </a:rPr>
              <a:t> </a:t>
            </a:r>
            <a:r>
              <a:rPr lang="en-US" altLang="en-US" sz="1500" b="1">
                <a:latin typeface="Helvetica" pitchFamily="34" charset="0"/>
              </a:rPr>
              <a:t>“sentence case”</a:t>
            </a:r>
            <a:r>
              <a:rPr lang="en-US" altLang="en-US" sz="1500" b="1" i="1">
                <a:latin typeface="Helvetica" pitchFamily="34" charset="0"/>
              </a:rPr>
              <a:t> </a:t>
            </a:r>
            <a:br>
              <a:rPr lang="en-US" altLang="en-US" sz="1500" b="1" i="1">
                <a:latin typeface="Helvetica" pitchFamily="34" charset="0"/>
              </a:rPr>
            </a:br>
            <a:endParaRPr lang="en-US" altLang="en-US" b="1">
              <a:latin typeface="Helvetica" pitchFamily="34" charset="0"/>
            </a:endParaRPr>
          </a:p>
          <a:p>
            <a:pPr algn="ctr" defTabSz="174625" eaLnBrk="1" hangingPunct="1">
              <a:spcBef>
                <a:spcPct val="50000"/>
              </a:spcBef>
            </a:pPr>
            <a:r>
              <a:rPr lang="en-US" altLang="en-US" sz="1100" b="1">
                <a:latin typeface="Helvetica" pitchFamily="34" charset="0"/>
              </a:rPr>
              <a:t>Your name(s) here</a:t>
            </a:r>
            <a:br>
              <a:rPr lang="en-US" altLang="en-US" sz="1100" b="1">
                <a:latin typeface="Helvetica" pitchFamily="34" charset="0"/>
              </a:rPr>
            </a:br>
            <a:r>
              <a:rPr lang="en-US" altLang="en-US" sz="1100">
                <a:latin typeface="Helvetica" pitchFamily="34" charset="0"/>
              </a:rPr>
              <a:t>Department of Biology, Swarthmore College, Swarthmore, Pennsylvania  19081</a:t>
            </a:r>
          </a:p>
        </p:txBody>
      </p:sp>
      <p:sp>
        <p:nvSpPr>
          <p:cNvPr id="25608" name="Text Box 8"/>
          <p:cNvSpPr txBox="1">
            <a:spLocks noChangeArrowheads="1"/>
          </p:cNvSpPr>
          <p:nvPr/>
        </p:nvSpPr>
        <p:spPr bwMode="auto">
          <a:xfrm>
            <a:off x="9150351" y="3776663"/>
            <a:ext cx="2504016" cy="984250"/>
          </a:xfrm>
          <a:prstGeom prst="rect">
            <a:avLst/>
          </a:prstGeom>
          <a:solidFill>
            <a:schemeClr val="bg1"/>
          </a:solidFill>
          <a:ln w="12700">
            <a:solidFill>
              <a:schemeClr val="hlink"/>
            </a:solidFill>
            <a:miter lim="800000"/>
            <a:headEnd/>
            <a:tailEnd/>
          </a:ln>
          <a:effectLst/>
        </p:spPr>
        <p:txBody>
          <a:bodyPr lIns="173919" tIns="86959" rIns="173919" bIns="173919"/>
          <a:lstStyle/>
          <a:p>
            <a:pPr marL="95250" indent="-95250" defTabSz="174625" eaLnBrk="1" hangingPunct="1">
              <a:spcBef>
                <a:spcPct val="50000"/>
              </a:spcBef>
            </a:pPr>
            <a:r>
              <a:rPr lang="en-US" altLang="en-US" sz="800" b="1" dirty="0">
                <a:solidFill>
                  <a:srgbClr val="FF8000"/>
                </a:solidFill>
                <a:latin typeface="Helvetica" pitchFamily="34" charset="0"/>
              </a:rPr>
              <a:t>Literature cited</a:t>
            </a:r>
            <a:endParaRPr lang="en-US" altLang="en-US" sz="800" b="1" dirty="0">
              <a:latin typeface="Helvetica" pitchFamily="34" charset="0"/>
            </a:endParaRPr>
          </a:p>
          <a:p>
            <a:pPr marL="95250" indent="-95250" defTabSz="174625" eaLnBrk="1" hangingPunct="1"/>
            <a:r>
              <a:rPr lang="en-US" altLang="en-US" sz="400" dirty="0">
                <a:latin typeface="Times New Roman" pitchFamily="18" charset="0"/>
              </a:rPr>
              <a:t>Bender, D.J., E.M Bayne, and R.M. Brigham. 1996. Lunar condition influences coyote (</a:t>
            </a:r>
            <a:r>
              <a:rPr lang="en-US" altLang="en-US" sz="400" i="1" dirty="0" err="1">
                <a:latin typeface="Times New Roman" pitchFamily="18" charset="0"/>
              </a:rPr>
              <a:t>Canis</a:t>
            </a:r>
            <a:r>
              <a:rPr lang="en-US" altLang="en-US" sz="400" i="1" dirty="0">
                <a:latin typeface="Times New Roman" pitchFamily="18" charset="0"/>
              </a:rPr>
              <a:t> </a:t>
            </a:r>
            <a:r>
              <a:rPr lang="en-US" altLang="en-US" sz="400" i="1" dirty="0" err="1">
                <a:latin typeface="Times New Roman" pitchFamily="18" charset="0"/>
              </a:rPr>
              <a:t>latrans</a:t>
            </a:r>
            <a:r>
              <a:rPr lang="en-US" altLang="en-US" sz="400" dirty="0">
                <a:latin typeface="Times New Roman" pitchFamily="18" charset="0"/>
              </a:rPr>
              <a:t>) howling. </a:t>
            </a:r>
            <a:r>
              <a:rPr lang="en-US" altLang="en-US" sz="400" i="1" dirty="0">
                <a:latin typeface="Times New Roman" pitchFamily="18" charset="0"/>
              </a:rPr>
              <a:t>American Midland Naturalist</a:t>
            </a:r>
            <a:r>
              <a:rPr lang="en-US" altLang="en-US" sz="400" dirty="0">
                <a:latin typeface="Times New Roman" pitchFamily="18" charset="0"/>
              </a:rPr>
              <a:t> 136:413-417.</a:t>
            </a:r>
          </a:p>
          <a:p>
            <a:pPr marL="95250" indent="-95250" defTabSz="174625" eaLnBrk="1" hangingPunct="1">
              <a:spcBef>
                <a:spcPct val="10000"/>
              </a:spcBef>
            </a:pPr>
            <a:r>
              <a:rPr lang="en-US" altLang="en-US" sz="400" dirty="0">
                <a:latin typeface="Times New Roman" pitchFamily="18" charset="0"/>
              </a:rPr>
              <a:t>Brooks, L.D. 1988. The evolution of recombination rates. Pages 87-105 in </a:t>
            </a:r>
            <a:r>
              <a:rPr lang="en-US" altLang="en-US" sz="400" i="1" dirty="0">
                <a:latin typeface="Times New Roman" pitchFamily="18" charset="0"/>
              </a:rPr>
              <a:t>The Evolution of Sex,</a:t>
            </a:r>
            <a:r>
              <a:rPr lang="en-US" altLang="en-US" sz="400" dirty="0">
                <a:latin typeface="Times New Roman" pitchFamily="18" charset="0"/>
              </a:rPr>
              <a:t> edited by R.E. </a:t>
            </a:r>
            <a:r>
              <a:rPr lang="en-US" altLang="en-US" sz="400" dirty="0" err="1">
                <a:latin typeface="Times New Roman" pitchFamily="18" charset="0"/>
              </a:rPr>
              <a:t>Michod</a:t>
            </a:r>
            <a:r>
              <a:rPr lang="en-US" altLang="en-US" sz="400" dirty="0">
                <a:latin typeface="Times New Roman" pitchFamily="18" charset="0"/>
              </a:rPr>
              <a:t> and B.R. Levin. </a:t>
            </a:r>
            <a:r>
              <a:rPr lang="en-US" altLang="en-US" sz="400" dirty="0" err="1">
                <a:latin typeface="Times New Roman" pitchFamily="18" charset="0"/>
              </a:rPr>
              <a:t>Sinauer</a:t>
            </a:r>
            <a:r>
              <a:rPr lang="en-US" altLang="en-US" sz="400" dirty="0">
                <a:latin typeface="Times New Roman" pitchFamily="18" charset="0"/>
              </a:rPr>
              <a:t>, Sunderland, MA. </a:t>
            </a:r>
          </a:p>
          <a:p>
            <a:pPr marL="95250" indent="-95250" defTabSz="174625" eaLnBrk="1" hangingPunct="1">
              <a:spcBef>
                <a:spcPct val="10000"/>
              </a:spcBef>
            </a:pPr>
            <a:r>
              <a:rPr lang="en-US" altLang="en-US" sz="400" dirty="0">
                <a:latin typeface="Times New Roman" pitchFamily="18" charset="0"/>
              </a:rPr>
              <a:t>Scott, E.C.  2005.  </a:t>
            </a:r>
            <a:r>
              <a:rPr lang="en-US" altLang="en-US" sz="400" i="1" dirty="0">
                <a:latin typeface="Times New Roman" pitchFamily="18" charset="0"/>
              </a:rPr>
              <a:t>Evolution vs. Creationism: an Introduction</a:t>
            </a:r>
            <a:r>
              <a:rPr lang="en-US" altLang="en-US" sz="400" dirty="0">
                <a:latin typeface="Times New Roman" pitchFamily="18" charset="0"/>
              </a:rPr>
              <a:t>. University of California Press, Berkeley. </a:t>
            </a:r>
          </a:p>
          <a:p>
            <a:pPr marL="95250" indent="-95250" defTabSz="174625" eaLnBrk="1" hangingPunct="1">
              <a:spcBef>
                <a:spcPct val="10000"/>
              </a:spcBef>
            </a:pPr>
            <a:r>
              <a:rPr lang="en-US" altLang="en-US" sz="400" dirty="0">
                <a:latin typeface="Times New Roman" pitchFamily="18" charset="0"/>
              </a:rPr>
              <a:t>Society for the Study of Evolution. 2005. Statement on teaching evolution. &lt; http://www.evolutionsociety.org/statements.html &gt;. Accessed 2005 Aug 9.</a:t>
            </a:r>
          </a:p>
          <a:p>
            <a:pPr marL="95250" indent="-95250" defTabSz="174625" eaLnBrk="1" hangingPunct="1">
              <a:spcBef>
                <a:spcPct val="10000"/>
              </a:spcBef>
            </a:pPr>
            <a:endParaRPr lang="en-US" altLang="en-US" sz="400" dirty="0">
              <a:latin typeface="Times New Roman" pitchFamily="18" charset="0"/>
            </a:endParaRPr>
          </a:p>
        </p:txBody>
      </p:sp>
      <p:sp>
        <p:nvSpPr>
          <p:cNvPr id="25609" name="Text Box 9"/>
          <p:cNvSpPr txBox="1">
            <a:spLocks noChangeArrowheads="1"/>
          </p:cNvSpPr>
          <p:nvPr/>
        </p:nvSpPr>
        <p:spPr bwMode="auto">
          <a:xfrm>
            <a:off x="1725084" y="5221288"/>
            <a:ext cx="1143000" cy="292100"/>
          </a:xfrm>
          <a:prstGeom prst="rect">
            <a:avLst/>
          </a:prstGeom>
          <a:noFill/>
          <a:ln w="9525">
            <a:noFill/>
            <a:miter lim="800000"/>
            <a:headEnd/>
            <a:tailEnd/>
          </a:ln>
          <a:effectLst/>
        </p:spPr>
        <p:txBody>
          <a:bodyPr lIns="17392" tIns="17392" rIns="17392" bIns="17392">
            <a:spAutoFit/>
          </a:bodyPr>
          <a:lstStyle/>
          <a:p>
            <a:pPr defTabSz="174625" eaLnBrk="1" hangingPunct="1"/>
            <a:r>
              <a:rPr lang="en-US" altLang="en-US" sz="400" b="1">
                <a:latin typeface="Helvetica" pitchFamily="34" charset="0"/>
              </a:rPr>
              <a:t>Figure 1.</a:t>
            </a:r>
            <a:r>
              <a:rPr lang="en-US" altLang="en-US" sz="400">
                <a:latin typeface="Helvetica" pitchFamily="34" charset="0"/>
              </a:rPr>
              <a:t> Photograph or drawing of organism, chemical structure, or whatever.  Don’t use graphics from the web (they look terrible when printed).</a:t>
            </a:r>
          </a:p>
        </p:txBody>
      </p:sp>
      <p:sp>
        <p:nvSpPr>
          <p:cNvPr id="25610" name="Text Box 10"/>
          <p:cNvSpPr txBox="1">
            <a:spLocks noChangeArrowheads="1"/>
          </p:cNvSpPr>
          <p:nvPr/>
        </p:nvSpPr>
        <p:spPr bwMode="auto">
          <a:xfrm>
            <a:off x="1574801" y="5983288"/>
            <a:ext cx="1293284" cy="281345"/>
          </a:xfrm>
          <a:prstGeom prst="rect">
            <a:avLst/>
          </a:prstGeom>
          <a:noFill/>
          <a:ln w="9525">
            <a:noFill/>
            <a:miter lim="800000"/>
            <a:headEnd/>
            <a:tailEnd/>
          </a:ln>
          <a:effectLst/>
        </p:spPr>
        <p:txBody>
          <a:bodyPr lIns="17392" tIns="17392" rIns="17392" bIns="17392">
            <a:spAutoFit/>
          </a:bodyPr>
          <a:lstStyle/>
          <a:p>
            <a:pPr defTabSz="174625" eaLnBrk="1" hangingPunct="1"/>
            <a:r>
              <a:rPr lang="en-US" altLang="en-US" sz="400" b="1" dirty="0">
                <a:latin typeface="Helvetica" pitchFamily="34" charset="0"/>
              </a:rPr>
              <a:t>Figure 2</a:t>
            </a:r>
            <a:r>
              <a:rPr lang="en-US" altLang="en-US" sz="400" dirty="0">
                <a:latin typeface="Helvetica" pitchFamily="34" charset="0"/>
              </a:rPr>
              <a:t>. Illustration of important piece of equipment, or perhaps a flow chart summarizing experimental design.  Scanned, hand-drawn illustrations are usually preferable to computer-generated ones.</a:t>
            </a:r>
          </a:p>
        </p:txBody>
      </p:sp>
      <p:sp>
        <p:nvSpPr>
          <p:cNvPr id="25611" name="Rectangle 11"/>
          <p:cNvSpPr>
            <a:spLocks noChangeArrowheads="1"/>
          </p:cNvSpPr>
          <p:nvPr/>
        </p:nvSpPr>
        <p:spPr bwMode="auto">
          <a:xfrm>
            <a:off x="3598333" y="3930650"/>
            <a:ext cx="2091267" cy="466011"/>
          </a:xfrm>
          <a:prstGeom prst="rect">
            <a:avLst/>
          </a:prstGeom>
          <a:noFill/>
          <a:ln w="9525">
            <a:noFill/>
            <a:miter lim="800000"/>
            <a:headEnd/>
            <a:tailEnd/>
          </a:ln>
          <a:effectLst/>
        </p:spPr>
        <p:txBody>
          <a:bodyPr lIns="17392" tIns="17392" rIns="17392" bIns="17392">
            <a:spAutoFit/>
          </a:bodyPr>
          <a:lstStyle/>
          <a:p>
            <a:pPr defTabSz="174625"/>
            <a:r>
              <a:rPr lang="en-US" altLang="en-US" sz="400" b="1" dirty="0">
                <a:latin typeface="Helvetica" pitchFamily="34" charset="0"/>
              </a:rPr>
              <a:t>Figure 3. </a:t>
            </a:r>
            <a:r>
              <a:rPr lang="en-US" altLang="en-US" sz="400" dirty="0">
                <a:latin typeface="Helvetica" pitchFamily="34" charset="0"/>
              </a:rPr>
              <a:t>Make sure legends have enough detail to fully explain to the viewer what the results are. Note that for posters it is good to put </a:t>
            </a:r>
            <a:r>
              <a:rPr lang="en-US" altLang="en-US" sz="400" i="1" dirty="0">
                <a:latin typeface="Helvetica" pitchFamily="34" charset="0"/>
              </a:rPr>
              <a:t>some</a:t>
            </a:r>
            <a:r>
              <a:rPr lang="en-US" altLang="en-US" sz="400" dirty="0">
                <a:latin typeface="Helvetica" pitchFamily="34" charset="0"/>
              </a:rPr>
              <a:t> “Materials and methods” information within the figure legends or onto the figures themselves—it allows the </a:t>
            </a:r>
            <a:r>
              <a:rPr lang="en-US" altLang="en-US" sz="400" dirty="0" err="1">
                <a:latin typeface="Helvetica" pitchFamily="34" charset="0"/>
              </a:rPr>
              <a:t>M&amp;m</a:t>
            </a:r>
            <a:r>
              <a:rPr lang="en-US" altLang="en-US" sz="400" dirty="0">
                <a:latin typeface="Helvetica" pitchFamily="34" charset="0"/>
              </a:rPr>
              <a:t> section to be shorter, and gives viewer a sense of the experiment(s) even if they have skipped directly to figures. Don’t be tempted to reduce font size in figure legends, axes labels, etc.—your viewers are probably </a:t>
            </a:r>
            <a:r>
              <a:rPr lang="en-US" altLang="en-US" sz="400" i="1" dirty="0">
                <a:latin typeface="Helvetica" pitchFamily="34" charset="0"/>
              </a:rPr>
              <a:t>most</a:t>
            </a:r>
            <a:r>
              <a:rPr lang="en-US" altLang="en-US" sz="400" dirty="0">
                <a:latin typeface="Helvetica" pitchFamily="34" charset="0"/>
              </a:rPr>
              <a:t> interested in reading your figures and legends!  </a:t>
            </a:r>
          </a:p>
        </p:txBody>
      </p:sp>
      <p:sp>
        <p:nvSpPr>
          <p:cNvPr id="25612" name="Text Box 12"/>
          <p:cNvSpPr txBox="1">
            <a:spLocks noChangeArrowheads="1"/>
          </p:cNvSpPr>
          <p:nvPr/>
        </p:nvSpPr>
        <p:spPr bwMode="auto">
          <a:xfrm>
            <a:off x="3342218" y="4514850"/>
            <a:ext cx="2611967" cy="1917700"/>
          </a:xfrm>
          <a:prstGeom prst="rect">
            <a:avLst/>
          </a:prstGeom>
          <a:noFill/>
          <a:ln w="12700">
            <a:noFill/>
            <a:miter lim="800000"/>
            <a:headEnd/>
            <a:tailEnd/>
          </a:ln>
          <a:effectLst/>
        </p:spPr>
        <p:txBody>
          <a:bodyPr lIns="173919" tIns="173919" rIns="173919" bIns="173919"/>
          <a:lstStyle/>
          <a:p>
            <a:pPr defTabSz="174625" eaLnBrk="1" hangingPunct="1">
              <a:spcBef>
                <a:spcPct val="10000"/>
              </a:spcBef>
              <a:tabLst>
                <a:tab pos="95250" algn="l"/>
              </a:tabLst>
            </a:pPr>
            <a:r>
              <a:rPr lang="en-US" altLang="en-US" sz="500" dirty="0">
                <a:latin typeface="Times New Roman" pitchFamily="18" charset="0"/>
              </a:rPr>
              <a:t>Often you will have some more text-based results between your figures. This text should </a:t>
            </a:r>
            <a:r>
              <a:rPr lang="en-US" altLang="en-US" sz="500" i="1" dirty="0">
                <a:latin typeface="Times New Roman" pitchFamily="18" charset="0"/>
              </a:rPr>
              <a:t>explicitly</a:t>
            </a:r>
            <a:r>
              <a:rPr lang="en-US" altLang="en-US" sz="500" dirty="0">
                <a:latin typeface="Times New Roman" pitchFamily="18" charset="0"/>
              </a:rPr>
              <a:t> guide the reader through the figures.</a:t>
            </a:r>
          </a:p>
          <a:p>
            <a:pPr defTabSz="174625" eaLnBrk="1" hangingPunct="1">
              <a:spcBef>
                <a:spcPct val="10000"/>
              </a:spcBef>
              <a:tabLst>
                <a:tab pos="95250" algn="l"/>
              </a:tabLst>
            </a:pPr>
            <a:endParaRPr lang="en-US" altLang="en-US" sz="500" dirty="0">
              <a:latin typeface="Times New Roman" pitchFamily="18" charset="0"/>
            </a:endParaRPr>
          </a:p>
          <a:p>
            <a:pPr defTabSz="174625" eaLnBrk="1" hangingPunct="1">
              <a:spcBef>
                <a:spcPct val="10000"/>
              </a:spcBef>
              <a:tabLst>
                <a:tab pos="95250" algn="l"/>
              </a:tabLst>
            </a:pPr>
            <a:r>
              <a:rPr lang="en-US" altLang="en-US" sz="500" dirty="0">
                <a:latin typeface="Times New Roman" pitchFamily="18" charset="0"/>
              </a:rPr>
              <a:t>Blah, blah, blah (</a:t>
            </a:r>
            <a:r>
              <a:rPr lang="en-US" altLang="en-US" sz="500" b="1" dirty="0">
                <a:latin typeface="Times New Roman" pitchFamily="18" charset="0"/>
              </a:rPr>
              <a:t>Figs. 3a,b</a:t>
            </a:r>
            <a:r>
              <a:rPr lang="en-US" altLang="en-US" sz="500" dirty="0">
                <a:latin typeface="Times New Roman" pitchFamily="18" charset="0"/>
              </a:rPr>
              <a:t>). Blah, blah, blah. Blah, blah, blah. Blah, blah, blah. Blah, blah, blah. Blah, blah, blah. Blah, blah, blah. Blah, blah, blah. </a:t>
            </a:r>
          </a:p>
          <a:p>
            <a:pPr defTabSz="174625" eaLnBrk="1" hangingPunct="1">
              <a:spcBef>
                <a:spcPct val="10000"/>
              </a:spcBef>
              <a:tabLst>
                <a:tab pos="95250" algn="l"/>
              </a:tabLst>
            </a:pPr>
            <a:endParaRPr lang="en-US" altLang="en-US" sz="500" dirty="0">
              <a:latin typeface="Times New Roman" pitchFamily="18" charset="0"/>
            </a:endParaRPr>
          </a:p>
          <a:p>
            <a:pPr defTabSz="174625" eaLnBrk="1" hangingPunct="1">
              <a:spcBef>
                <a:spcPct val="10000"/>
              </a:spcBef>
              <a:tabLst>
                <a:tab pos="95250" algn="l"/>
              </a:tabLst>
            </a:pPr>
            <a:r>
              <a:rPr lang="en-US" altLang="en-US" sz="500" dirty="0">
                <a:latin typeface="Times New Roman" pitchFamily="18" charset="0"/>
              </a:rPr>
              <a:t>Blah, blah, blah. Blah, blah, blah. Blah, blah, blah. Blah, blah, blah. Blah, blah, blah. Blah, blah, blah. Blah, blah, blah. Blah, blah, blah (</a:t>
            </a:r>
            <a:r>
              <a:rPr lang="en-US" altLang="en-US" sz="500" b="1" dirty="0">
                <a:latin typeface="Times New Roman" pitchFamily="18" charset="0"/>
              </a:rPr>
              <a:t>Fig. 3c</a:t>
            </a:r>
            <a:r>
              <a:rPr lang="en-US" altLang="en-US" sz="500" dirty="0">
                <a:latin typeface="Times New Roman" pitchFamily="18" charset="0"/>
              </a:rPr>
              <a:t>). Blah, blah, blah. Blah, blah, blah. Blah, blah, blah. Blah, blah, blah. Blah, blah, blah. Blah, blah, blah (data not shown).</a:t>
            </a:r>
          </a:p>
          <a:p>
            <a:pPr defTabSz="174625" eaLnBrk="1" hangingPunct="1">
              <a:spcBef>
                <a:spcPct val="10000"/>
              </a:spcBef>
              <a:tabLst>
                <a:tab pos="95250" algn="l"/>
              </a:tabLst>
            </a:pPr>
            <a:endParaRPr lang="en-US" altLang="en-US" sz="500" dirty="0">
              <a:latin typeface="Times New Roman" pitchFamily="18" charset="0"/>
            </a:endParaRPr>
          </a:p>
          <a:p>
            <a:pPr defTabSz="174625" eaLnBrk="1" hangingPunct="1">
              <a:spcBef>
                <a:spcPct val="10000"/>
              </a:spcBef>
              <a:tabLst>
                <a:tab pos="95250" algn="l"/>
              </a:tabLst>
            </a:pPr>
            <a:r>
              <a:rPr lang="en-US" altLang="en-US" sz="500" dirty="0">
                <a:latin typeface="Times New Roman" pitchFamily="18" charset="0"/>
              </a:rPr>
              <a:t>Blah, blah, blah. Blah, blah, blah. Blah, blah, blah. Blah, blah, blah. Blah, blah, blah. Blah, blah, blah. Blah, blah, blah. Blah, blah, blah. Blah, blah, blah.  Blah, blah, blah (God, personal communication). </a:t>
            </a:r>
          </a:p>
        </p:txBody>
      </p:sp>
      <p:sp>
        <p:nvSpPr>
          <p:cNvPr id="82957" name="Text Box 13"/>
          <p:cNvSpPr txBox="1">
            <a:spLocks noChangeArrowheads="1"/>
          </p:cNvSpPr>
          <p:nvPr/>
        </p:nvSpPr>
        <p:spPr bwMode="auto">
          <a:xfrm>
            <a:off x="3632200" y="3149600"/>
            <a:ext cx="577851" cy="739775"/>
          </a:xfrm>
          <a:prstGeom prst="rect">
            <a:avLst/>
          </a:prstGeom>
          <a:solidFill>
            <a:schemeClr val="bg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392" tIns="17392" rIns="17392" bIns="17392"/>
          <a:lstStyle/>
          <a:p>
            <a:pPr defTabSz="174625" eaLnBrk="1" hangingPunct="1">
              <a:spcBef>
                <a:spcPct val="50000"/>
              </a:spcBef>
            </a:pPr>
            <a:r>
              <a:rPr lang="en-US" altLang="en-US" sz="500">
                <a:effectLst>
                  <a:outerShdw blurRad="38100" dist="38100" dir="2700000" algn="tl">
                    <a:srgbClr val="C0C0C0"/>
                  </a:outerShdw>
                </a:effectLst>
                <a:latin typeface="Helvetica" pitchFamily="34" charset="0"/>
              </a:rPr>
              <a:t>(a)</a:t>
            </a:r>
            <a:endParaRPr lang="en-US" altLang="en-US" sz="500">
              <a:latin typeface="Helvetica" pitchFamily="34" charset="0"/>
            </a:endParaRPr>
          </a:p>
        </p:txBody>
      </p:sp>
      <p:sp>
        <p:nvSpPr>
          <p:cNvPr id="82958" name="Text Box 14"/>
          <p:cNvSpPr txBox="1">
            <a:spLocks noChangeArrowheads="1"/>
          </p:cNvSpPr>
          <p:nvPr/>
        </p:nvSpPr>
        <p:spPr bwMode="auto">
          <a:xfrm>
            <a:off x="4432300" y="3148014"/>
            <a:ext cx="594784" cy="739775"/>
          </a:xfrm>
          <a:prstGeom prst="rect">
            <a:avLst/>
          </a:prstGeom>
          <a:solidFill>
            <a:schemeClr val="bg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392" tIns="17392" rIns="17392" bIns="17392"/>
          <a:lstStyle/>
          <a:p>
            <a:pPr defTabSz="174625" eaLnBrk="1" hangingPunct="1">
              <a:spcBef>
                <a:spcPct val="50000"/>
              </a:spcBef>
            </a:pPr>
            <a:r>
              <a:rPr lang="en-US" altLang="en-US" sz="500">
                <a:effectLst>
                  <a:outerShdw blurRad="38100" dist="38100" dir="2700000" algn="tl">
                    <a:srgbClr val="C0C0C0"/>
                  </a:outerShdw>
                </a:effectLst>
                <a:latin typeface="Helvetica" pitchFamily="34" charset="0"/>
              </a:rPr>
              <a:t>(b)</a:t>
            </a:r>
            <a:endParaRPr lang="en-US" altLang="en-US" sz="700">
              <a:latin typeface="Helvetica" pitchFamily="34" charset="0"/>
            </a:endParaRPr>
          </a:p>
        </p:txBody>
      </p:sp>
      <p:sp>
        <p:nvSpPr>
          <p:cNvPr id="82959" name="Text Box 15"/>
          <p:cNvSpPr txBox="1">
            <a:spLocks noChangeArrowheads="1"/>
          </p:cNvSpPr>
          <p:nvPr/>
        </p:nvSpPr>
        <p:spPr bwMode="auto">
          <a:xfrm>
            <a:off x="5236633" y="3148014"/>
            <a:ext cx="533400" cy="739775"/>
          </a:xfrm>
          <a:prstGeom prst="rect">
            <a:avLst/>
          </a:prstGeom>
          <a:solidFill>
            <a:schemeClr val="bg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392" tIns="17392" rIns="17392" bIns="17392"/>
          <a:lstStyle/>
          <a:p>
            <a:pPr defTabSz="174625" eaLnBrk="1" hangingPunct="1">
              <a:spcBef>
                <a:spcPct val="50000"/>
              </a:spcBef>
            </a:pPr>
            <a:r>
              <a:rPr lang="en-US" altLang="en-US" sz="500">
                <a:effectLst>
                  <a:outerShdw blurRad="38100" dist="38100" dir="2700000" algn="tl">
                    <a:srgbClr val="C0C0C0"/>
                  </a:outerShdw>
                </a:effectLst>
                <a:latin typeface="Helvetica" pitchFamily="34" charset="0"/>
              </a:rPr>
              <a:t>(c)</a:t>
            </a:r>
            <a:endParaRPr lang="en-US" altLang="en-US" sz="700">
              <a:latin typeface="Helvetica" pitchFamily="34" charset="0"/>
            </a:endParaRPr>
          </a:p>
        </p:txBody>
      </p:sp>
      <p:sp>
        <p:nvSpPr>
          <p:cNvPr id="25616" name="Text Box 16"/>
          <p:cNvSpPr txBox="1">
            <a:spLocks noChangeArrowheads="1"/>
          </p:cNvSpPr>
          <p:nvPr/>
        </p:nvSpPr>
        <p:spPr bwMode="auto">
          <a:xfrm>
            <a:off x="9150351" y="5624513"/>
            <a:ext cx="2504016" cy="804862"/>
          </a:xfrm>
          <a:prstGeom prst="rect">
            <a:avLst/>
          </a:prstGeom>
          <a:solidFill>
            <a:schemeClr val="bg1"/>
          </a:solidFill>
          <a:ln w="12700">
            <a:solidFill>
              <a:schemeClr val="hlink"/>
            </a:solidFill>
            <a:miter lim="800000"/>
            <a:headEnd/>
            <a:tailEnd/>
          </a:ln>
          <a:effectLst/>
        </p:spPr>
        <p:txBody>
          <a:bodyPr lIns="173919" tIns="86959" rIns="173919" bIns="173919"/>
          <a:lstStyle/>
          <a:p>
            <a:pPr algn="just" defTabSz="174625" eaLnBrk="1" hangingPunct="1"/>
            <a:r>
              <a:rPr lang="en-US" altLang="en-US" sz="800" b="1" dirty="0">
                <a:solidFill>
                  <a:srgbClr val="FF8000"/>
                </a:solidFill>
                <a:latin typeface="Helvetica" pitchFamily="34" charset="0"/>
              </a:rPr>
              <a:t>For further information</a:t>
            </a:r>
            <a:endParaRPr lang="en-US" altLang="en-US" sz="800" b="1" dirty="0">
              <a:solidFill>
                <a:schemeClr val="accent2"/>
              </a:solidFill>
              <a:latin typeface="Helvetica" pitchFamily="34" charset="0"/>
            </a:endParaRPr>
          </a:p>
          <a:p>
            <a:pPr defTabSz="174625" eaLnBrk="1" hangingPunct="1">
              <a:spcBef>
                <a:spcPct val="10000"/>
              </a:spcBef>
            </a:pPr>
            <a:r>
              <a:rPr lang="en-US" altLang="en-US" sz="400" dirty="0">
                <a:latin typeface="Times New Roman" pitchFamily="18" charset="0"/>
              </a:rPr>
              <a:t>Please contact </a:t>
            </a:r>
            <a:r>
              <a:rPr lang="en-US" altLang="en-US" sz="400" i="1" dirty="0">
                <a:latin typeface="Times New Roman" pitchFamily="18" charset="0"/>
              </a:rPr>
              <a:t>email@swarthmore.edu</a:t>
            </a:r>
            <a:r>
              <a:rPr lang="en-US" altLang="en-US" sz="400" dirty="0">
                <a:latin typeface="Times New Roman" pitchFamily="18" charset="0"/>
              </a:rPr>
              <a:t>.  More information on this and related projects can be obtained at </a:t>
            </a:r>
            <a:r>
              <a:rPr lang="en-US" altLang="en-US" sz="400" i="1" dirty="0">
                <a:latin typeface="Times New Roman" pitchFamily="18" charset="0"/>
              </a:rPr>
              <a:t>www.swarthmore… </a:t>
            </a:r>
            <a:r>
              <a:rPr lang="en-US" altLang="en-US" sz="400" dirty="0">
                <a:latin typeface="Times New Roman" pitchFamily="18" charset="0"/>
              </a:rPr>
              <a:t> (give the URL for general laboratory web site).  A link to an online, PDF-version of the poster is nice, too. </a:t>
            </a:r>
            <a:br>
              <a:rPr lang="en-US" altLang="en-US" sz="400" dirty="0">
                <a:latin typeface="Times New Roman" pitchFamily="18" charset="0"/>
              </a:rPr>
            </a:br>
            <a:br>
              <a:rPr lang="en-US" altLang="en-US" sz="400" dirty="0">
                <a:latin typeface="Times New Roman" pitchFamily="18" charset="0"/>
              </a:rPr>
            </a:br>
            <a:r>
              <a:rPr lang="en-US" altLang="en-US" sz="400" dirty="0">
                <a:latin typeface="Times New Roman" pitchFamily="18" charset="0"/>
              </a:rPr>
              <a:t>If you just </a:t>
            </a:r>
            <a:r>
              <a:rPr lang="en-US" altLang="en-US" sz="400" i="1" dirty="0">
                <a:latin typeface="Times New Roman" pitchFamily="18" charset="0"/>
              </a:rPr>
              <a:t>must</a:t>
            </a:r>
            <a:r>
              <a:rPr lang="en-US" altLang="en-US" sz="400" dirty="0">
                <a:latin typeface="Times New Roman" pitchFamily="18" charset="0"/>
              </a:rPr>
              <a:t> include a pretentious logo, </a:t>
            </a:r>
            <a:br>
              <a:rPr lang="en-US" altLang="en-US" sz="400" dirty="0">
                <a:latin typeface="Times New Roman" pitchFamily="18" charset="0"/>
              </a:rPr>
            </a:br>
            <a:r>
              <a:rPr lang="en-US" altLang="en-US" sz="400" dirty="0">
                <a:latin typeface="Times New Roman" pitchFamily="18" charset="0"/>
              </a:rPr>
              <a:t>hide it down here. But don’t include a pretentious logo.  </a:t>
            </a:r>
            <a:br>
              <a:rPr lang="en-US" altLang="en-US" sz="400" dirty="0">
                <a:latin typeface="Times New Roman" pitchFamily="18" charset="0"/>
              </a:rPr>
            </a:br>
            <a:r>
              <a:rPr lang="en-US" altLang="en-US" sz="400" dirty="0">
                <a:latin typeface="Times New Roman" pitchFamily="18" charset="0"/>
              </a:rPr>
              <a:t>Use the space for something else.</a:t>
            </a:r>
          </a:p>
        </p:txBody>
      </p:sp>
      <p:sp>
        <p:nvSpPr>
          <p:cNvPr id="25617" name="AutoShape 17"/>
          <p:cNvSpPr>
            <a:spLocks/>
          </p:cNvSpPr>
          <p:nvPr/>
        </p:nvSpPr>
        <p:spPr bwMode="auto">
          <a:xfrm>
            <a:off x="11260668" y="3698875"/>
            <a:ext cx="690033" cy="127457"/>
          </a:xfrm>
          <a:prstGeom prst="borderCallout3">
            <a:avLst>
              <a:gd name="adj1" fmla="val 16745"/>
              <a:gd name="adj2" fmla="val 102630"/>
              <a:gd name="adj3" fmla="val 16745"/>
              <a:gd name="adj4" fmla="val 112995"/>
              <a:gd name="adj5" fmla="val 241630"/>
              <a:gd name="adj6" fmla="val 112995"/>
              <a:gd name="adj7" fmla="val 291394"/>
              <a:gd name="adj8" fmla="val -25000"/>
            </a:avLst>
          </a:prstGeom>
          <a:solidFill>
            <a:srgbClr val="FFFF99"/>
          </a:solidFill>
          <a:ln w="9525">
            <a:solidFill>
              <a:schemeClr val="hlink"/>
            </a:solidFill>
            <a:miter lim="800000"/>
            <a:headEnd/>
            <a:tailEnd/>
          </a:ln>
          <a:effectLst>
            <a:outerShdw dist="35921" dir="2700000" algn="ctr" rotWithShape="0">
              <a:schemeClr val="accent2"/>
            </a:outerShdw>
          </a:effectLst>
        </p:spPr>
        <p:txBody>
          <a:bodyPr lIns="17392" tIns="17392" rIns="17392" bIns="17392">
            <a:spAutoFit/>
          </a:bodyPr>
          <a:lstStyle/>
          <a:p>
            <a:pPr defTabSz="174625" eaLnBrk="1" hangingPunct="1"/>
            <a:r>
              <a:rPr lang="en-US" altLang="en-US" sz="300">
                <a:latin typeface="Helvetica" pitchFamily="34" charset="0"/>
              </a:rPr>
              <a:t>Remember: no period after journal name. </a:t>
            </a:r>
            <a:endParaRPr lang="en-US" altLang="en-US" sz="300">
              <a:solidFill>
                <a:schemeClr val="accent2"/>
              </a:solidFill>
              <a:latin typeface="Helvetica" pitchFamily="34" charset="0"/>
            </a:endParaRPr>
          </a:p>
        </p:txBody>
      </p:sp>
      <p:sp>
        <p:nvSpPr>
          <p:cNvPr id="25618" name="Oval 18"/>
          <p:cNvSpPr>
            <a:spLocks noChangeArrowheads="1"/>
          </p:cNvSpPr>
          <p:nvPr/>
        </p:nvSpPr>
        <p:spPr bwMode="auto">
          <a:xfrm>
            <a:off x="10962217" y="4060826"/>
            <a:ext cx="127000" cy="111125"/>
          </a:xfrm>
          <a:prstGeom prst="ellipse">
            <a:avLst/>
          </a:prstGeom>
          <a:noFill/>
          <a:ln w="57150" cap="rnd">
            <a:solidFill>
              <a:srgbClr val="FF6FCF"/>
            </a:solidFill>
            <a:prstDash val="sysDot"/>
            <a:round/>
            <a:headEnd/>
            <a:tailEnd/>
          </a:ln>
          <a:effectLst/>
        </p:spPr>
        <p:txBody>
          <a:bodyPr wrap="none" anchor="ctr"/>
          <a:lstStyle/>
          <a:p>
            <a:pPr eaLnBrk="1" hangingPunct="1"/>
            <a:endParaRPr lang="en-US"/>
          </a:p>
        </p:txBody>
      </p:sp>
      <p:sp>
        <p:nvSpPr>
          <p:cNvPr id="25619" name="Text Box 19"/>
          <p:cNvSpPr txBox="1">
            <a:spLocks noChangeArrowheads="1"/>
          </p:cNvSpPr>
          <p:nvPr/>
        </p:nvSpPr>
        <p:spPr bwMode="auto">
          <a:xfrm>
            <a:off x="6273801" y="1512889"/>
            <a:ext cx="2501900" cy="4916487"/>
          </a:xfrm>
          <a:prstGeom prst="rect">
            <a:avLst/>
          </a:prstGeom>
          <a:solidFill>
            <a:schemeClr val="bg1"/>
          </a:solidFill>
          <a:ln w="12700">
            <a:solidFill>
              <a:schemeClr val="hlink"/>
            </a:solidFill>
            <a:miter lim="800000"/>
            <a:headEnd/>
            <a:tailEnd/>
          </a:ln>
          <a:effectLst/>
        </p:spPr>
        <p:txBody>
          <a:bodyPr lIns="173919" tIns="173919" rIns="173919" bIns="173919"/>
          <a:lstStyle/>
          <a:p>
            <a:pPr algn="just" defTabSz="174625" eaLnBrk="1" hangingPunct="1">
              <a:spcBef>
                <a:spcPct val="10000"/>
              </a:spcBef>
              <a:tabLst>
                <a:tab pos="95250" algn="l"/>
              </a:tabLst>
            </a:pPr>
            <a:endParaRPr lang="en-US" altLang="en-US" sz="500">
              <a:latin typeface="Times New Roman" pitchFamily="18" charset="0"/>
            </a:endParaRPr>
          </a:p>
          <a:p>
            <a:pPr algn="just" defTabSz="174625" eaLnBrk="1" hangingPunct="1">
              <a:spcBef>
                <a:spcPct val="10000"/>
              </a:spcBef>
              <a:tabLst>
                <a:tab pos="95250" algn="l"/>
              </a:tabLst>
            </a:pPr>
            <a:r>
              <a:rPr lang="en-US" altLang="en-US" sz="500">
                <a:latin typeface="Times New Roman" pitchFamily="18" charset="0"/>
              </a:rPr>
              <a:t>	</a:t>
            </a:r>
          </a:p>
        </p:txBody>
      </p:sp>
      <p:pic>
        <p:nvPicPr>
          <p:cNvPr id="25620" name="Picture 20">
            <a:hlinkClick r:id="rId3"/>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1051118" y="6110288"/>
            <a:ext cx="552449" cy="246062"/>
          </a:xfrm>
          <a:prstGeom prst="rect">
            <a:avLst/>
          </a:prstGeom>
          <a:noFill/>
          <a:ln w="9525">
            <a:noFill/>
            <a:miter lim="800000"/>
            <a:headEnd/>
            <a:tailEnd/>
          </a:ln>
        </p:spPr>
      </p:pic>
      <p:sp>
        <p:nvSpPr>
          <p:cNvPr id="25621" name="Rectangle 21"/>
          <p:cNvSpPr>
            <a:spLocks noChangeArrowheads="1"/>
          </p:cNvSpPr>
          <p:nvPr/>
        </p:nvSpPr>
        <p:spPr bwMode="auto">
          <a:xfrm>
            <a:off x="6502400" y="2457450"/>
            <a:ext cx="2051051" cy="281345"/>
          </a:xfrm>
          <a:prstGeom prst="rect">
            <a:avLst/>
          </a:prstGeom>
          <a:noFill/>
          <a:ln w="9525">
            <a:noFill/>
            <a:miter lim="800000"/>
            <a:headEnd/>
            <a:tailEnd/>
          </a:ln>
          <a:effectLst/>
        </p:spPr>
        <p:txBody>
          <a:bodyPr lIns="17392" tIns="17392" rIns="17392" bIns="17392">
            <a:spAutoFit/>
          </a:bodyPr>
          <a:lstStyle/>
          <a:p>
            <a:pPr defTabSz="174625"/>
            <a:r>
              <a:rPr lang="en-US" altLang="en-US" sz="400" b="1">
                <a:latin typeface="Helvetica" pitchFamily="34" charset="0"/>
              </a:rPr>
              <a:t>Figure 4. </a:t>
            </a:r>
            <a:r>
              <a:rPr lang="en-US" altLang="en-US" sz="400">
                <a:latin typeface="Helvetica" pitchFamily="34" charset="0"/>
              </a:rPr>
              <a:t>Avoid keys that force readers to labor through complicated graphs: just label all the lines (or bars) and then delete the silly key altogether.  The above figure would also be greatly improved if I had the ability to draw mini rats with and without brains.  I would then put these little illustrations next to the lines they represent.</a:t>
            </a:r>
          </a:p>
        </p:txBody>
      </p:sp>
      <p:sp>
        <p:nvSpPr>
          <p:cNvPr id="25622" name="Text Box 22"/>
          <p:cNvSpPr txBox="1">
            <a:spLocks noChangeArrowheads="1"/>
          </p:cNvSpPr>
          <p:nvPr/>
        </p:nvSpPr>
        <p:spPr bwMode="auto">
          <a:xfrm>
            <a:off x="6290733" y="6029325"/>
            <a:ext cx="2609851" cy="349250"/>
          </a:xfrm>
          <a:prstGeom prst="rect">
            <a:avLst/>
          </a:prstGeom>
          <a:noFill/>
          <a:ln w="12700">
            <a:noFill/>
            <a:miter lim="800000"/>
            <a:headEnd/>
            <a:tailEnd/>
          </a:ln>
          <a:effectLst/>
        </p:spPr>
        <p:txBody>
          <a:bodyPr lIns="173919" tIns="173919" rIns="173919" bIns="173919"/>
          <a:lstStyle/>
          <a:p>
            <a:pPr algn="just" defTabSz="174625" eaLnBrk="1" hangingPunct="1">
              <a:spcBef>
                <a:spcPct val="10000"/>
              </a:spcBef>
              <a:tabLst>
                <a:tab pos="95250" algn="l"/>
              </a:tabLst>
            </a:pPr>
            <a:r>
              <a:rPr lang="en-US" altLang="en-US" sz="500">
                <a:latin typeface="Times New Roman" pitchFamily="18" charset="0"/>
              </a:rPr>
              <a:t>Blah, blah, blah. Blah, blah, blah. However, blah, blah, blah.</a:t>
            </a:r>
          </a:p>
        </p:txBody>
      </p:sp>
      <p:sp>
        <p:nvSpPr>
          <p:cNvPr id="25623" name="Rectangle 23"/>
          <p:cNvSpPr>
            <a:spLocks noChangeArrowheads="1"/>
          </p:cNvSpPr>
          <p:nvPr/>
        </p:nvSpPr>
        <p:spPr bwMode="auto">
          <a:xfrm>
            <a:off x="6515101" y="5754688"/>
            <a:ext cx="2148417" cy="387350"/>
          </a:xfrm>
          <a:prstGeom prst="rect">
            <a:avLst/>
          </a:prstGeom>
          <a:noFill/>
          <a:ln w="9525">
            <a:noFill/>
            <a:miter lim="800000"/>
            <a:headEnd/>
            <a:tailEnd/>
          </a:ln>
          <a:effectLst/>
        </p:spPr>
        <p:txBody>
          <a:bodyPr lIns="17392" tIns="17392" rIns="17392" bIns="17392"/>
          <a:lstStyle/>
          <a:p>
            <a:pPr defTabSz="174625"/>
            <a:r>
              <a:rPr lang="en-US" altLang="en-US" sz="400" b="1">
                <a:latin typeface="Helvetica" pitchFamily="34" charset="0"/>
              </a:rPr>
              <a:t>Figure 5.  </a:t>
            </a:r>
            <a:r>
              <a:rPr lang="en-US" altLang="en-US" sz="400">
                <a:latin typeface="Helvetica" pitchFamily="34" charset="0"/>
              </a:rPr>
              <a:t>You can use connector lines and arrows to visually guide viewers through your results. Making logical points this way is much, much better than making it in the text section. These lines can help viewers read your poster even when you’re not present.</a:t>
            </a:r>
          </a:p>
        </p:txBody>
      </p:sp>
      <p:pic>
        <p:nvPicPr>
          <p:cNvPr id="25624" name="Picture 24"/>
          <p:cNvPicPr>
            <a:picLocks noChangeAspect="1" noChangeArrowheads="1"/>
          </p:cNvPicPr>
          <p:nvPr/>
        </p:nvPicPr>
        <p:blipFill>
          <a:blip r:embed="rId5" cstate="print"/>
          <a:srcRect b="1895"/>
          <a:stretch>
            <a:fillRect/>
          </a:stretch>
        </p:blipFill>
        <p:spPr bwMode="auto">
          <a:xfrm>
            <a:off x="6523568" y="3883026"/>
            <a:ext cx="1843617" cy="830263"/>
          </a:xfrm>
          <a:prstGeom prst="rect">
            <a:avLst/>
          </a:prstGeom>
          <a:noFill/>
          <a:ln w="3175">
            <a:noFill/>
            <a:miter lim="800000"/>
            <a:headEnd/>
            <a:tailEnd/>
          </a:ln>
          <a:effectLst/>
        </p:spPr>
      </p:pic>
      <p:cxnSp>
        <p:nvCxnSpPr>
          <p:cNvPr id="25625" name="AutoShape 25"/>
          <p:cNvCxnSpPr>
            <a:cxnSpLocks noChangeAspect="1" noChangeShapeType="1"/>
          </p:cNvCxnSpPr>
          <p:nvPr/>
        </p:nvCxnSpPr>
        <p:spPr bwMode="auto">
          <a:xfrm rot="10800000" flipH="1" flipV="1">
            <a:off x="36732634" y="20778788"/>
            <a:ext cx="7497233" cy="3827462"/>
          </a:xfrm>
          <a:prstGeom prst="bentConnector3">
            <a:avLst>
              <a:gd name="adj1" fmla="val -4065"/>
            </a:avLst>
          </a:prstGeom>
          <a:noFill/>
          <a:ln w="38100">
            <a:solidFill>
              <a:srgbClr val="800040"/>
            </a:solidFill>
            <a:miter lim="800000"/>
            <a:headEnd/>
            <a:tailEnd type="triangle" w="lg" len="med"/>
          </a:ln>
          <a:effectLst>
            <a:prstShdw prst="shdw17" dist="17961" dir="2700000">
              <a:srgbClr val="4D0026"/>
            </a:prstShdw>
          </a:effectLst>
        </p:spPr>
      </p:cxnSp>
      <p:sp>
        <p:nvSpPr>
          <p:cNvPr id="25626" name="Text Box 26"/>
          <p:cNvSpPr txBox="1">
            <a:spLocks noChangeArrowheads="1"/>
          </p:cNvSpPr>
          <p:nvPr/>
        </p:nvSpPr>
        <p:spPr bwMode="auto">
          <a:xfrm>
            <a:off x="6512984" y="3038475"/>
            <a:ext cx="2048933" cy="571560"/>
          </a:xfrm>
          <a:prstGeom prst="rect">
            <a:avLst/>
          </a:prstGeom>
          <a:noFill/>
          <a:ln w="9525">
            <a:noFill/>
            <a:miter lim="800000"/>
            <a:headEnd/>
            <a:tailEnd/>
          </a:ln>
          <a:effectLst/>
        </p:spPr>
        <p:txBody>
          <a:bodyPr lIns="17392" tIns="8696" rIns="17392" bIns="8696">
            <a:spAutoFit/>
          </a:bodyPr>
          <a:lstStyle/>
          <a:p>
            <a:pPr defTabSz="174625" eaLnBrk="1" hangingPunct="1">
              <a:spcBef>
                <a:spcPct val="10000"/>
              </a:spcBef>
            </a:pPr>
            <a:r>
              <a:rPr lang="en-US" altLang="en-US" sz="500" dirty="0">
                <a:latin typeface="Times New Roman" pitchFamily="18" charset="0"/>
              </a:rPr>
              <a:t>	Be sure to separate figures from other figures by generous use of white space. When figures are too cramped, viewers get confused about which figures to read first and which legend goes with which figure.</a:t>
            </a:r>
            <a:endParaRPr lang="en-US" altLang="en-US" sz="500" dirty="0">
              <a:latin typeface="Helvetica" pitchFamily="34" charset="0"/>
            </a:endParaRPr>
          </a:p>
          <a:p>
            <a:pPr defTabSz="174625" eaLnBrk="1" hangingPunct="1">
              <a:spcBef>
                <a:spcPct val="10000"/>
              </a:spcBef>
            </a:pPr>
            <a:r>
              <a:rPr lang="en-US" altLang="en-US" sz="500" dirty="0">
                <a:latin typeface="Times New Roman" pitchFamily="18" charset="0"/>
              </a:rPr>
              <a:t>	Figures are preferred but tables are sometimes unavoidable.  A table looks best when it is first composed within Microsoft Word, then “Inserted” as an “Object.” If you can add small drawings or icons to your tables, do so!</a:t>
            </a:r>
          </a:p>
          <a:p>
            <a:pPr defTabSz="174625" eaLnBrk="1" hangingPunct="1">
              <a:spcBef>
                <a:spcPct val="10000"/>
              </a:spcBef>
            </a:pPr>
            <a:r>
              <a:rPr lang="en-US" altLang="en-US" sz="500" dirty="0">
                <a:latin typeface="Times New Roman" pitchFamily="18" charset="0"/>
              </a:rPr>
              <a:t>	</a:t>
            </a:r>
          </a:p>
        </p:txBody>
      </p:sp>
      <p:sp>
        <p:nvSpPr>
          <p:cNvPr id="25627" name="Text Box 27"/>
          <p:cNvSpPr txBox="1">
            <a:spLocks noChangeArrowheads="1"/>
          </p:cNvSpPr>
          <p:nvPr/>
        </p:nvSpPr>
        <p:spPr bwMode="auto">
          <a:xfrm>
            <a:off x="10801351" y="4787901"/>
            <a:ext cx="1193800" cy="127457"/>
          </a:xfrm>
          <a:prstGeom prst="rect">
            <a:avLst/>
          </a:prstGeom>
          <a:solidFill>
            <a:srgbClr val="FFFF99"/>
          </a:solidFill>
          <a:ln w="9525">
            <a:solidFill>
              <a:schemeClr val="hlink"/>
            </a:solidFill>
            <a:miter lim="800000"/>
            <a:headEnd/>
            <a:tailEnd/>
          </a:ln>
          <a:effectLst>
            <a:outerShdw dist="35921" dir="2700000" algn="ctr" rotWithShape="0">
              <a:srgbClr val="808080"/>
            </a:outerShdw>
          </a:effectLst>
        </p:spPr>
        <p:txBody>
          <a:bodyPr lIns="17392" tIns="17392" rIns="17392" bIns="17392">
            <a:spAutoFit/>
          </a:bodyPr>
          <a:lstStyle/>
          <a:p>
            <a:pPr defTabSz="174625" eaLnBrk="1" hangingPunct="1"/>
            <a:r>
              <a:rPr lang="en-US" altLang="en-US" sz="300" dirty="0">
                <a:latin typeface="Helvetica" pitchFamily="34" charset="0"/>
              </a:rPr>
              <a:t>Abutting these last sections can save you a little space, and subtly indicates to viewers that the contents are not </a:t>
            </a:r>
            <a:r>
              <a:rPr lang="en-US" altLang="en-US" sz="300" i="1" dirty="0">
                <a:latin typeface="Helvetica" pitchFamily="34" charset="0"/>
              </a:rPr>
              <a:t>as</a:t>
            </a:r>
            <a:r>
              <a:rPr lang="en-US" altLang="en-US" sz="300" dirty="0">
                <a:latin typeface="Helvetica" pitchFamily="34" charset="0"/>
              </a:rPr>
              <a:t> important to read.</a:t>
            </a:r>
          </a:p>
        </p:txBody>
      </p:sp>
      <p:sp>
        <p:nvSpPr>
          <p:cNvPr id="25628" name="Line 28"/>
          <p:cNvSpPr>
            <a:spLocks noChangeShapeType="1"/>
          </p:cNvSpPr>
          <p:nvPr/>
        </p:nvSpPr>
        <p:spPr bwMode="auto">
          <a:xfrm flipV="1">
            <a:off x="6927851" y="1979613"/>
            <a:ext cx="522816" cy="279400"/>
          </a:xfrm>
          <a:prstGeom prst="line">
            <a:avLst/>
          </a:prstGeom>
          <a:noFill/>
          <a:ln w="38100">
            <a:solidFill>
              <a:schemeClr val="tx1"/>
            </a:solidFill>
            <a:prstDash val="dash"/>
            <a:round/>
            <a:headEnd/>
            <a:tailEnd/>
          </a:ln>
          <a:effectLst/>
        </p:spPr>
        <p:txBody>
          <a:bodyPr wrap="none" anchor="ctr"/>
          <a:lstStyle/>
          <a:p>
            <a:endParaRPr lang="en-US"/>
          </a:p>
        </p:txBody>
      </p:sp>
      <p:sp>
        <p:nvSpPr>
          <p:cNvPr id="25629" name="Line 29"/>
          <p:cNvSpPr>
            <a:spLocks noChangeShapeType="1"/>
          </p:cNvSpPr>
          <p:nvPr/>
        </p:nvSpPr>
        <p:spPr bwMode="auto">
          <a:xfrm flipV="1">
            <a:off x="6929967" y="1971675"/>
            <a:ext cx="1155700" cy="306388"/>
          </a:xfrm>
          <a:prstGeom prst="line">
            <a:avLst/>
          </a:prstGeom>
          <a:noFill/>
          <a:ln w="38100">
            <a:solidFill>
              <a:schemeClr val="tx1"/>
            </a:solidFill>
            <a:round/>
            <a:headEnd/>
            <a:tailEnd/>
          </a:ln>
          <a:effectLst/>
        </p:spPr>
        <p:txBody>
          <a:bodyPr wrap="none" anchor="ctr"/>
          <a:lstStyle/>
          <a:p>
            <a:endParaRPr lang="en-US"/>
          </a:p>
        </p:txBody>
      </p:sp>
      <p:sp>
        <p:nvSpPr>
          <p:cNvPr id="25630" name="Text Box 30"/>
          <p:cNvSpPr txBox="1">
            <a:spLocks noChangeArrowheads="1"/>
          </p:cNvSpPr>
          <p:nvPr/>
        </p:nvSpPr>
        <p:spPr bwMode="auto">
          <a:xfrm>
            <a:off x="7427384" y="2127250"/>
            <a:ext cx="709083" cy="63728"/>
          </a:xfrm>
          <a:prstGeom prst="rect">
            <a:avLst/>
          </a:prstGeom>
          <a:noFill/>
          <a:ln w="9525">
            <a:noFill/>
            <a:miter lim="800000"/>
            <a:headEnd/>
            <a:tailEnd/>
          </a:ln>
          <a:effectLst/>
        </p:spPr>
        <p:txBody>
          <a:bodyPr lIns="17392" tIns="8696" rIns="17392" bIns="8696">
            <a:spAutoFit/>
          </a:bodyPr>
          <a:lstStyle/>
          <a:p>
            <a:pPr algn="ctr" defTabSz="174625" eaLnBrk="1" hangingPunct="1">
              <a:spcBef>
                <a:spcPct val="50000"/>
              </a:spcBef>
            </a:pPr>
            <a:r>
              <a:rPr lang="en-US" altLang="en-US" sz="300" dirty="0">
                <a:latin typeface="Helvetica" pitchFamily="34" charset="0"/>
              </a:rPr>
              <a:t>Control (brain intact)</a:t>
            </a:r>
          </a:p>
        </p:txBody>
      </p:sp>
      <p:sp>
        <p:nvSpPr>
          <p:cNvPr id="25631" name="Text Box 31"/>
          <p:cNvSpPr txBox="1">
            <a:spLocks noChangeArrowheads="1"/>
          </p:cNvSpPr>
          <p:nvPr/>
        </p:nvSpPr>
        <p:spPr bwMode="auto">
          <a:xfrm>
            <a:off x="7061200" y="1836738"/>
            <a:ext cx="423333" cy="63728"/>
          </a:xfrm>
          <a:prstGeom prst="rect">
            <a:avLst/>
          </a:prstGeom>
          <a:noFill/>
          <a:ln w="9525">
            <a:noFill/>
            <a:miter lim="800000"/>
            <a:headEnd/>
            <a:tailEnd/>
          </a:ln>
          <a:effectLst/>
        </p:spPr>
        <p:txBody>
          <a:bodyPr lIns="17392" tIns="8696" rIns="17392" bIns="8696">
            <a:spAutoFit/>
          </a:bodyPr>
          <a:lstStyle/>
          <a:p>
            <a:pPr defTabSz="174625" eaLnBrk="1" hangingPunct="1">
              <a:spcBef>
                <a:spcPct val="50000"/>
              </a:spcBef>
            </a:pPr>
            <a:r>
              <a:rPr lang="en-US" altLang="en-US" sz="300">
                <a:latin typeface="Helvetica" pitchFamily="34" charset="0"/>
              </a:rPr>
              <a:t>Brainectomized</a:t>
            </a:r>
          </a:p>
        </p:txBody>
      </p:sp>
      <p:sp>
        <p:nvSpPr>
          <p:cNvPr id="25632" name="Text Box 32"/>
          <p:cNvSpPr txBox="1">
            <a:spLocks noChangeArrowheads="1"/>
          </p:cNvSpPr>
          <p:nvPr/>
        </p:nvSpPr>
        <p:spPr bwMode="auto">
          <a:xfrm>
            <a:off x="6851651" y="5362575"/>
            <a:ext cx="446616" cy="109895"/>
          </a:xfrm>
          <a:prstGeom prst="rect">
            <a:avLst/>
          </a:prstGeom>
          <a:noFill/>
          <a:ln w="9525">
            <a:noFill/>
            <a:miter lim="800000"/>
            <a:headEnd/>
            <a:tailEnd/>
          </a:ln>
          <a:effectLst/>
        </p:spPr>
        <p:txBody>
          <a:bodyPr lIns="17392" tIns="8696" rIns="17392" bIns="8696">
            <a:spAutoFit/>
          </a:bodyPr>
          <a:lstStyle/>
          <a:p>
            <a:pPr defTabSz="174625" eaLnBrk="1" hangingPunct="1">
              <a:spcBef>
                <a:spcPct val="50000"/>
              </a:spcBef>
            </a:pPr>
            <a:r>
              <a:rPr lang="en-US" altLang="en-US" sz="300">
                <a:latin typeface="Helvetica" pitchFamily="34" charset="0"/>
              </a:rPr>
              <a:t>This is the gene of interest! </a:t>
            </a:r>
          </a:p>
        </p:txBody>
      </p:sp>
      <p:grpSp>
        <p:nvGrpSpPr>
          <p:cNvPr id="2" name="Group 33"/>
          <p:cNvGrpSpPr>
            <a:grpSpLocks/>
          </p:cNvGrpSpPr>
          <p:nvPr/>
        </p:nvGrpSpPr>
        <p:grpSpPr bwMode="auto">
          <a:xfrm>
            <a:off x="6517218" y="5443539"/>
            <a:ext cx="171449" cy="261937"/>
            <a:chOff x="20994" y="16828"/>
            <a:chExt cx="456" cy="792"/>
          </a:xfrm>
        </p:grpSpPr>
        <p:sp>
          <p:nvSpPr>
            <p:cNvPr id="25656" name="Rectangle 34"/>
            <p:cNvSpPr>
              <a:spLocks noChangeArrowheads="1"/>
            </p:cNvSpPr>
            <p:nvPr/>
          </p:nvSpPr>
          <p:spPr bwMode="auto">
            <a:xfrm>
              <a:off x="20994" y="16828"/>
              <a:ext cx="456" cy="792"/>
            </a:xfrm>
            <a:prstGeom prst="rect">
              <a:avLst/>
            </a:prstGeom>
            <a:solidFill>
              <a:schemeClr val="accent1"/>
            </a:solidFill>
            <a:ln w="9525">
              <a:solidFill>
                <a:schemeClr val="tx1"/>
              </a:solidFill>
              <a:miter lim="800000"/>
              <a:headEnd/>
              <a:tailEnd/>
            </a:ln>
            <a:effectLst/>
          </p:spPr>
          <p:txBody>
            <a:bodyPr wrap="none" anchor="ctr"/>
            <a:lstStyle/>
            <a:p>
              <a:pPr eaLnBrk="1" hangingPunct="1"/>
              <a:endParaRPr lang="en-US"/>
            </a:p>
          </p:txBody>
        </p:sp>
        <p:sp>
          <p:nvSpPr>
            <p:cNvPr id="25657" name="Line 35"/>
            <p:cNvSpPr>
              <a:spLocks noChangeShapeType="1"/>
            </p:cNvSpPr>
            <p:nvPr/>
          </p:nvSpPr>
          <p:spPr bwMode="auto">
            <a:xfrm>
              <a:off x="21122" y="16908"/>
              <a:ext cx="184" cy="0"/>
            </a:xfrm>
            <a:prstGeom prst="line">
              <a:avLst/>
            </a:prstGeom>
            <a:noFill/>
            <a:ln w="76200">
              <a:solidFill>
                <a:schemeClr val="tx1"/>
              </a:solidFill>
              <a:round/>
              <a:headEnd/>
              <a:tailEnd/>
            </a:ln>
            <a:effectLst/>
          </p:spPr>
          <p:txBody>
            <a:bodyPr wrap="none" anchor="ctr"/>
            <a:lstStyle/>
            <a:p>
              <a:endParaRPr lang="en-US"/>
            </a:p>
          </p:txBody>
        </p:sp>
        <p:sp>
          <p:nvSpPr>
            <p:cNvPr id="25658" name="Line 36"/>
            <p:cNvSpPr>
              <a:spLocks noChangeShapeType="1"/>
            </p:cNvSpPr>
            <p:nvPr/>
          </p:nvSpPr>
          <p:spPr bwMode="auto">
            <a:xfrm>
              <a:off x="21122" y="16980"/>
              <a:ext cx="184" cy="0"/>
            </a:xfrm>
            <a:prstGeom prst="line">
              <a:avLst/>
            </a:prstGeom>
            <a:noFill/>
            <a:ln w="28575">
              <a:solidFill>
                <a:schemeClr val="tx1"/>
              </a:solidFill>
              <a:round/>
              <a:headEnd/>
              <a:tailEnd/>
            </a:ln>
            <a:effectLst/>
          </p:spPr>
          <p:txBody>
            <a:bodyPr wrap="none" anchor="ctr"/>
            <a:lstStyle/>
            <a:p>
              <a:endParaRPr lang="en-US"/>
            </a:p>
          </p:txBody>
        </p:sp>
        <p:sp>
          <p:nvSpPr>
            <p:cNvPr id="25659" name="Line 37"/>
            <p:cNvSpPr>
              <a:spLocks noChangeShapeType="1"/>
            </p:cNvSpPr>
            <p:nvPr/>
          </p:nvSpPr>
          <p:spPr bwMode="auto">
            <a:xfrm>
              <a:off x="21122" y="17068"/>
              <a:ext cx="184" cy="0"/>
            </a:xfrm>
            <a:prstGeom prst="line">
              <a:avLst/>
            </a:prstGeom>
            <a:noFill/>
            <a:ln w="28575">
              <a:solidFill>
                <a:schemeClr val="tx1"/>
              </a:solidFill>
              <a:round/>
              <a:headEnd/>
              <a:tailEnd/>
            </a:ln>
            <a:effectLst/>
          </p:spPr>
          <p:txBody>
            <a:bodyPr wrap="none" anchor="ctr"/>
            <a:lstStyle/>
            <a:p>
              <a:endParaRPr lang="en-US"/>
            </a:p>
          </p:txBody>
        </p:sp>
        <p:sp>
          <p:nvSpPr>
            <p:cNvPr id="25660" name="Line 38"/>
            <p:cNvSpPr>
              <a:spLocks noChangeShapeType="1"/>
            </p:cNvSpPr>
            <p:nvPr/>
          </p:nvSpPr>
          <p:spPr bwMode="auto">
            <a:xfrm>
              <a:off x="21122" y="17220"/>
              <a:ext cx="184" cy="0"/>
            </a:xfrm>
            <a:prstGeom prst="line">
              <a:avLst/>
            </a:prstGeom>
            <a:noFill/>
            <a:ln w="57150">
              <a:solidFill>
                <a:schemeClr val="tx1"/>
              </a:solidFill>
              <a:round/>
              <a:headEnd/>
              <a:tailEnd/>
            </a:ln>
            <a:effectLst/>
          </p:spPr>
          <p:txBody>
            <a:bodyPr wrap="none" anchor="ctr"/>
            <a:lstStyle/>
            <a:p>
              <a:endParaRPr lang="en-US"/>
            </a:p>
          </p:txBody>
        </p:sp>
        <p:sp>
          <p:nvSpPr>
            <p:cNvPr id="25661" name="Line 39"/>
            <p:cNvSpPr>
              <a:spLocks noChangeShapeType="1"/>
            </p:cNvSpPr>
            <p:nvPr/>
          </p:nvSpPr>
          <p:spPr bwMode="auto">
            <a:xfrm>
              <a:off x="21122" y="17380"/>
              <a:ext cx="184" cy="0"/>
            </a:xfrm>
            <a:prstGeom prst="line">
              <a:avLst/>
            </a:prstGeom>
            <a:noFill/>
            <a:ln w="28575">
              <a:solidFill>
                <a:schemeClr val="tx1"/>
              </a:solidFill>
              <a:round/>
              <a:headEnd/>
              <a:tailEnd/>
            </a:ln>
            <a:effectLst/>
          </p:spPr>
          <p:txBody>
            <a:bodyPr wrap="none" anchor="ctr"/>
            <a:lstStyle/>
            <a:p>
              <a:endParaRPr lang="en-US"/>
            </a:p>
          </p:txBody>
        </p:sp>
        <p:sp>
          <p:nvSpPr>
            <p:cNvPr id="25662" name="Line 40"/>
            <p:cNvSpPr>
              <a:spLocks noChangeShapeType="1"/>
            </p:cNvSpPr>
            <p:nvPr/>
          </p:nvSpPr>
          <p:spPr bwMode="auto">
            <a:xfrm>
              <a:off x="21122" y="17436"/>
              <a:ext cx="184" cy="0"/>
            </a:xfrm>
            <a:prstGeom prst="line">
              <a:avLst/>
            </a:prstGeom>
            <a:noFill/>
            <a:ln w="57150">
              <a:solidFill>
                <a:schemeClr val="tx1"/>
              </a:solidFill>
              <a:round/>
              <a:headEnd/>
              <a:tailEnd/>
            </a:ln>
            <a:effectLst/>
          </p:spPr>
          <p:txBody>
            <a:bodyPr wrap="none" anchor="ctr"/>
            <a:lstStyle/>
            <a:p>
              <a:endParaRPr lang="en-US"/>
            </a:p>
          </p:txBody>
        </p:sp>
        <p:sp>
          <p:nvSpPr>
            <p:cNvPr id="25663" name="Line 41"/>
            <p:cNvSpPr>
              <a:spLocks noChangeShapeType="1"/>
            </p:cNvSpPr>
            <p:nvPr/>
          </p:nvSpPr>
          <p:spPr bwMode="auto">
            <a:xfrm>
              <a:off x="21122" y="17484"/>
              <a:ext cx="184" cy="0"/>
            </a:xfrm>
            <a:prstGeom prst="line">
              <a:avLst/>
            </a:prstGeom>
            <a:noFill/>
            <a:ln w="28575">
              <a:solidFill>
                <a:schemeClr val="tx1"/>
              </a:solidFill>
              <a:round/>
              <a:headEnd/>
              <a:tailEnd/>
            </a:ln>
            <a:effectLst/>
          </p:spPr>
          <p:txBody>
            <a:bodyPr wrap="none" anchor="ctr"/>
            <a:lstStyle/>
            <a:p>
              <a:endParaRPr lang="en-US"/>
            </a:p>
          </p:txBody>
        </p:sp>
      </p:grpSp>
      <p:sp>
        <p:nvSpPr>
          <p:cNvPr id="25634" name="Line 42"/>
          <p:cNvSpPr>
            <a:spLocks noChangeShapeType="1"/>
          </p:cNvSpPr>
          <p:nvPr/>
        </p:nvSpPr>
        <p:spPr bwMode="auto">
          <a:xfrm flipH="1">
            <a:off x="6646334" y="5418139"/>
            <a:ext cx="194733" cy="147637"/>
          </a:xfrm>
          <a:prstGeom prst="line">
            <a:avLst/>
          </a:prstGeom>
          <a:noFill/>
          <a:ln w="38100">
            <a:solidFill>
              <a:srgbClr val="800040"/>
            </a:solidFill>
            <a:round/>
            <a:headEnd/>
            <a:tailEnd type="triangle" w="med" len="med"/>
          </a:ln>
          <a:effectLst>
            <a:prstShdw prst="shdw17" dist="17961" dir="13500000">
              <a:srgbClr val="4D0026"/>
            </a:prstShdw>
          </a:effectLst>
        </p:spPr>
        <p:txBody>
          <a:bodyPr wrap="none" anchor="ctr"/>
          <a:lstStyle/>
          <a:p>
            <a:endParaRPr lang="en-US"/>
          </a:p>
        </p:txBody>
      </p:sp>
      <p:sp>
        <p:nvSpPr>
          <p:cNvPr id="25635" name="Line 43"/>
          <p:cNvSpPr>
            <a:spLocks noChangeShapeType="1"/>
          </p:cNvSpPr>
          <p:nvPr/>
        </p:nvSpPr>
        <p:spPr bwMode="auto">
          <a:xfrm>
            <a:off x="6921500" y="1730375"/>
            <a:ext cx="0" cy="571500"/>
          </a:xfrm>
          <a:prstGeom prst="line">
            <a:avLst/>
          </a:prstGeom>
          <a:noFill/>
          <a:ln w="28575">
            <a:solidFill>
              <a:schemeClr val="tx1"/>
            </a:solidFill>
            <a:round/>
            <a:headEnd/>
            <a:tailEnd/>
          </a:ln>
          <a:effectLst/>
        </p:spPr>
        <p:txBody>
          <a:bodyPr wrap="none" anchor="ctr"/>
          <a:lstStyle/>
          <a:p>
            <a:endParaRPr lang="en-US"/>
          </a:p>
        </p:txBody>
      </p:sp>
      <p:sp>
        <p:nvSpPr>
          <p:cNvPr id="25636" name="Line 44"/>
          <p:cNvSpPr>
            <a:spLocks noChangeShapeType="1"/>
          </p:cNvSpPr>
          <p:nvPr/>
        </p:nvSpPr>
        <p:spPr bwMode="auto">
          <a:xfrm flipH="1">
            <a:off x="6917267" y="2301875"/>
            <a:ext cx="1210733" cy="0"/>
          </a:xfrm>
          <a:prstGeom prst="line">
            <a:avLst/>
          </a:prstGeom>
          <a:noFill/>
          <a:ln w="28575">
            <a:solidFill>
              <a:schemeClr val="tx1"/>
            </a:solidFill>
            <a:round/>
            <a:headEnd/>
            <a:tailEnd/>
          </a:ln>
          <a:effectLst/>
        </p:spPr>
        <p:txBody>
          <a:bodyPr wrap="none" anchor="ctr"/>
          <a:lstStyle/>
          <a:p>
            <a:endParaRPr lang="en-US"/>
          </a:p>
        </p:txBody>
      </p:sp>
      <p:sp>
        <p:nvSpPr>
          <p:cNvPr id="25637" name="Text Box 45"/>
          <p:cNvSpPr txBox="1">
            <a:spLocks noChangeArrowheads="1"/>
          </p:cNvSpPr>
          <p:nvPr/>
        </p:nvSpPr>
        <p:spPr bwMode="auto">
          <a:xfrm>
            <a:off x="7262285" y="2328863"/>
            <a:ext cx="588433" cy="63728"/>
          </a:xfrm>
          <a:prstGeom prst="rect">
            <a:avLst/>
          </a:prstGeom>
          <a:noFill/>
          <a:ln w="9525">
            <a:noFill/>
            <a:miter lim="800000"/>
            <a:headEnd/>
            <a:tailEnd/>
          </a:ln>
          <a:effectLst/>
        </p:spPr>
        <p:txBody>
          <a:bodyPr lIns="17392" tIns="8696" rIns="17392" bIns="8696">
            <a:spAutoFit/>
          </a:bodyPr>
          <a:lstStyle/>
          <a:p>
            <a:pPr defTabSz="174625" eaLnBrk="1" hangingPunct="1">
              <a:spcBef>
                <a:spcPct val="50000"/>
              </a:spcBef>
            </a:pPr>
            <a:r>
              <a:rPr lang="en-US" altLang="en-US" sz="300">
                <a:latin typeface="Helvetica" pitchFamily="34" charset="0"/>
              </a:rPr>
              <a:t>Maze difficulty index</a:t>
            </a:r>
          </a:p>
        </p:txBody>
      </p:sp>
      <p:sp>
        <p:nvSpPr>
          <p:cNvPr id="25638" name="Text Box 46"/>
          <p:cNvSpPr txBox="1">
            <a:spLocks noChangeArrowheads="1"/>
          </p:cNvSpPr>
          <p:nvPr/>
        </p:nvSpPr>
        <p:spPr bwMode="auto">
          <a:xfrm>
            <a:off x="6646333" y="1960563"/>
            <a:ext cx="254000" cy="63728"/>
          </a:xfrm>
          <a:prstGeom prst="rect">
            <a:avLst/>
          </a:prstGeom>
          <a:noFill/>
          <a:ln w="9525">
            <a:noFill/>
            <a:miter lim="800000"/>
            <a:headEnd/>
            <a:tailEnd/>
          </a:ln>
          <a:effectLst/>
        </p:spPr>
        <p:txBody>
          <a:bodyPr lIns="17392" tIns="8696" rIns="17392" bIns="8696">
            <a:spAutoFit/>
          </a:bodyPr>
          <a:lstStyle/>
          <a:p>
            <a:pPr algn="ctr" defTabSz="174625" eaLnBrk="1" hangingPunct="1">
              <a:spcBef>
                <a:spcPct val="50000"/>
              </a:spcBef>
            </a:pPr>
            <a:r>
              <a:rPr lang="en-US" altLang="en-US" sz="300">
                <a:latin typeface="Helvetica" pitchFamily="34" charset="0"/>
              </a:rPr>
              <a:t>Time (s)</a:t>
            </a:r>
            <a:endParaRPr lang="en-US" altLang="en-US" sz="600">
              <a:latin typeface="Helvetica" pitchFamily="34" charset="0"/>
            </a:endParaRPr>
          </a:p>
        </p:txBody>
      </p:sp>
      <p:sp>
        <p:nvSpPr>
          <p:cNvPr id="25639" name="Line 47"/>
          <p:cNvSpPr>
            <a:spLocks noChangeShapeType="1"/>
          </p:cNvSpPr>
          <p:nvPr/>
        </p:nvSpPr>
        <p:spPr bwMode="auto">
          <a:xfrm flipV="1">
            <a:off x="7448551" y="1833564"/>
            <a:ext cx="137583" cy="147637"/>
          </a:xfrm>
          <a:prstGeom prst="line">
            <a:avLst/>
          </a:prstGeom>
          <a:noFill/>
          <a:ln w="38100">
            <a:solidFill>
              <a:schemeClr val="tx1"/>
            </a:solidFill>
            <a:prstDash val="dash"/>
            <a:round/>
            <a:headEnd/>
            <a:tailEnd/>
          </a:ln>
          <a:effectLst/>
        </p:spPr>
        <p:txBody>
          <a:bodyPr wrap="none" anchor="ctr"/>
          <a:lstStyle/>
          <a:p>
            <a:endParaRPr lang="en-US"/>
          </a:p>
        </p:txBody>
      </p:sp>
      <p:sp>
        <p:nvSpPr>
          <p:cNvPr id="25640" name="Text Box 48"/>
          <p:cNvSpPr txBox="1">
            <a:spLocks noChangeArrowheads="1"/>
          </p:cNvSpPr>
          <p:nvPr/>
        </p:nvSpPr>
        <p:spPr bwMode="auto">
          <a:xfrm>
            <a:off x="6972301" y="1643063"/>
            <a:ext cx="1665817" cy="79117"/>
          </a:xfrm>
          <a:prstGeom prst="rect">
            <a:avLst/>
          </a:prstGeom>
          <a:noFill/>
          <a:ln w="9525">
            <a:noFill/>
            <a:miter lim="800000"/>
            <a:headEnd/>
            <a:tailEnd/>
          </a:ln>
          <a:effectLst/>
        </p:spPr>
        <p:txBody>
          <a:bodyPr lIns="17392" tIns="8696" rIns="17392" bIns="8696">
            <a:spAutoFit/>
          </a:bodyPr>
          <a:lstStyle/>
          <a:p>
            <a:pPr defTabSz="174625" eaLnBrk="1" hangingPunct="1">
              <a:spcBef>
                <a:spcPct val="50000"/>
              </a:spcBef>
            </a:pPr>
            <a:r>
              <a:rPr lang="en-US" altLang="en-US" sz="400" i="1">
                <a:latin typeface="Helvetica" pitchFamily="34" charset="0"/>
              </a:rPr>
              <a:t>Rats with brains navigate mazes faster</a:t>
            </a:r>
            <a:endParaRPr lang="en-US" altLang="en-US" sz="600">
              <a:latin typeface="Helvetica" pitchFamily="34" charset="0"/>
            </a:endParaRPr>
          </a:p>
        </p:txBody>
      </p:sp>
      <p:grpSp>
        <p:nvGrpSpPr>
          <p:cNvPr id="3" name="Group 49"/>
          <p:cNvGrpSpPr>
            <a:grpSpLocks/>
          </p:cNvGrpSpPr>
          <p:nvPr/>
        </p:nvGrpSpPr>
        <p:grpSpPr bwMode="auto">
          <a:xfrm>
            <a:off x="728134" y="4849814"/>
            <a:ext cx="952500" cy="706437"/>
            <a:chOff x="1929" y="14663"/>
            <a:chExt cx="2515" cy="2137"/>
          </a:xfrm>
        </p:grpSpPr>
        <p:pic>
          <p:nvPicPr>
            <p:cNvPr id="25654" name="Picture 50" descr="chuckdhasaposse">
              <a:hlinkClick r:id="rId6"/>
            </p:cNvPr>
            <p:cNvPicPr>
              <a:picLocks noChangeAspect="1" noChangeArrowheads="1"/>
            </p:cNvPicPr>
            <p:nvPr/>
          </p:nvPicPr>
          <p:blipFill>
            <a:blip r:embed="rId7" cstate="print"/>
            <a:srcRect/>
            <a:stretch>
              <a:fillRect/>
            </a:stretch>
          </p:blipFill>
          <p:spPr bwMode="auto">
            <a:xfrm>
              <a:off x="1929" y="14899"/>
              <a:ext cx="1997" cy="1901"/>
            </a:xfrm>
            <a:prstGeom prst="rect">
              <a:avLst/>
            </a:prstGeom>
            <a:noFill/>
            <a:ln w="9525">
              <a:noFill/>
              <a:miter lim="800000"/>
              <a:headEnd/>
              <a:tailEnd/>
            </a:ln>
          </p:spPr>
        </p:pic>
        <p:sp>
          <p:nvSpPr>
            <p:cNvPr id="25655" name="AutoShape 51"/>
            <p:cNvSpPr>
              <a:spLocks noChangeArrowheads="1"/>
            </p:cNvSpPr>
            <p:nvPr/>
          </p:nvSpPr>
          <p:spPr bwMode="auto">
            <a:xfrm>
              <a:off x="3112" y="14663"/>
              <a:ext cx="1332" cy="640"/>
            </a:xfrm>
            <a:prstGeom prst="cloudCallout">
              <a:avLst>
                <a:gd name="adj1" fmla="val -62389"/>
                <a:gd name="adj2" fmla="val 51250"/>
              </a:avLst>
            </a:prstGeom>
            <a:solidFill>
              <a:schemeClr val="bg1"/>
            </a:solidFill>
            <a:ln w="9525">
              <a:solidFill>
                <a:schemeClr val="tx1"/>
              </a:solidFill>
              <a:round/>
              <a:headEnd/>
              <a:tailEnd/>
            </a:ln>
            <a:effectLst/>
          </p:spPr>
          <p:txBody>
            <a:bodyPr lIns="17392" tIns="8696" rIns="17392" bIns="8696" anchor="ctr"/>
            <a:lstStyle/>
            <a:p>
              <a:pPr algn="ctr" defTabSz="174625" eaLnBrk="1" hangingPunct="1"/>
              <a:r>
                <a:rPr lang="en-US" altLang="en-US" sz="200">
                  <a:latin typeface="Helvetica" pitchFamily="34" charset="0"/>
                </a:rPr>
                <a:t>I sure wish I’d presented my theory with a poster before I wrote my book.</a:t>
              </a:r>
            </a:p>
          </p:txBody>
        </p:sp>
      </p:grpSp>
      <p:sp>
        <p:nvSpPr>
          <p:cNvPr id="25642" name="Rectangle 52"/>
          <p:cNvSpPr>
            <a:spLocks noChangeArrowheads="1"/>
          </p:cNvSpPr>
          <p:nvPr/>
        </p:nvSpPr>
        <p:spPr bwMode="auto">
          <a:xfrm>
            <a:off x="700617" y="4833938"/>
            <a:ext cx="999067" cy="730250"/>
          </a:xfrm>
          <a:prstGeom prst="rect">
            <a:avLst/>
          </a:prstGeom>
          <a:solidFill>
            <a:schemeClr val="bg1"/>
          </a:solidFill>
          <a:ln w="12700">
            <a:solidFill>
              <a:schemeClr val="accent2"/>
            </a:solidFill>
            <a:miter lim="800000"/>
            <a:headEnd/>
            <a:tailEnd/>
          </a:ln>
          <a:effectLst/>
        </p:spPr>
        <p:txBody>
          <a:bodyPr lIns="17392" tIns="17392" rIns="17392" bIns="17392" anchor="ctr"/>
          <a:lstStyle/>
          <a:p>
            <a:pPr algn="ctr" defTabSz="174625" eaLnBrk="1" hangingPunct="1"/>
            <a:endParaRPr lang="en-US" altLang="en-US" sz="500">
              <a:latin typeface="Helvetica" pitchFamily="34" charset="0"/>
            </a:endParaRPr>
          </a:p>
        </p:txBody>
      </p:sp>
      <p:sp>
        <p:nvSpPr>
          <p:cNvPr id="25643" name="Rectangle 53"/>
          <p:cNvSpPr>
            <a:spLocks noChangeArrowheads="1"/>
          </p:cNvSpPr>
          <p:nvPr/>
        </p:nvSpPr>
        <p:spPr bwMode="auto">
          <a:xfrm>
            <a:off x="7939618" y="4841876"/>
            <a:ext cx="690033" cy="581025"/>
          </a:xfrm>
          <a:prstGeom prst="rect">
            <a:avLst/>
          </a:prstGeom>
          <a:solidFill>
            <a:schemeClr val="bg1"/>
          </a:solidFill>
          <a:ln w="12700">
            <a:solidFill>
              <a:schemeClr val="accent2"/>
            </a:solidFill>
            <a:miter lim="800000"/>
            <a:headEnd/>
            <a:tailEnd/>
          </a:ln>
          <a:effectLst>
            <a:outerShdw dist="35921" dir="2700000" algn="ctr" rotWithShape="0">
              <a:schemeClr val="bg2"/>
            </a:outerShdw>
          </a:effectLst>
        </p:spPr>
        <p:txBody>
          <a:bodyPr wrap="none" lIns="17392" tIns="17392" rIns="17392" bIns="17392" anchor="ctr"/>
          <a:lstStyle/>
          <a:p>
            <a:pPr algn="ctr" defTabSz="174625" eaLnBrk="1" hangingPunct="1"/>
            <a:endParaRPr lang="en-US" altLang="en-US" sz="500">
              <a:latin typeface="Helvetica" pitchFamily="34" charset="0"/>
            </a:endParaRPr>
          </a:p>
        </p:txBody>
      </p:sp>
      <p:sp>
        <p:nvSpPr>
          <p:cNvPr id="25644" name="Text Box 54"/>
          <p:cNvSpPr txBox="1">
            <a:spLocks noChangeArrowheads="1"/>
          </p:cNvSpPr>
          <p:nvPr/>
        </p:nvSpPr>
        <p:spPr bwMode="auto">
          <a:xfrm>
            <a:off x="7996768" y="5002214"/>
            <a:ext cx="563033" cy="202228"/>
          </a:xfrm>
          <a:prstGeom prst="rect">
            <a:avLst/>
          </a:prstGeom>
          <a:noFill/>
          <a:ln w="9525">
            <a:noFill/>
            <a:miter lim="800000"/>
            <a:headEnd/>
            <a:tailEnd/>
          </a:ln>
          <a:effectLst/>
        </p:spPr>
        <p:txBody>
          <a:bodyPr lIns="17392" tIns="8696" rIns="17392" bIns="8696">
            <a:spAutoFit/>
          </a:bodyPr>
          <a:lstStyle/>
          <a:p>
            <a:pPr algn="ctr" defTabSz="174625" eaLnBrk="1" hangingPunct="1"/>
            <a:r>
              <a:rPr lang="en-US" altLang="en-US" sz="400" dirty="0">
                <a:latin typeface="Helvetica" pitchFamily="34" charset="0"/>
              </a:rPr>
              <a:t>Put a figure here that explores a statistical result</a:t>
            </a:r>
          </a:p>
        </p:txBody>
      </p:sp>
      <p:sp>
        <p:nvSpPr>
          <p:cNvPr id="25645" name="Text Box 55"/>
          <p:cNvSpPr txBox="1">
            <a:spLocks noChangeArrowheads="1"/>
          </p:cNvSpPr>
          <p:nvPr/>
        </p:nvSpPr>
        <p:spPr bwMode="auto">
          <a:xfrm>
            <a:off x="1805518" y="4733926"/>
            <a:ext cx="1026583" cy="417513"/>
          </a:xfrm>
          <a:prstGeom prst="rect">
            <a:avLst/>
          </a:prstGeom>
          <a:solidFill>
            <a:schemeClr val="bg1">
              <a:alpha val="23137"/>
            </a:schemeClr>
          </a:solidFill>
          <a:ln w="38100">
            <a:solidFill>
              <a:srgbClr val="E9E9E9"/>
            </a:solidFill>
            <a:prstDash val="dash"/>
            <a:miter lim="800000"/>
            <a:headEnd/>
            <a:tailEnd/>
          </a:ln>
          <a:effectLst/>
        </p:spPr>
        <p:txBody>
          <a:bodyPr lIns="52176" tIns="43480" rIns="52176" bIns="43480"/>
          <a:lstStyle/>
          <a:p>
            <a:pPr defTabSz="174625" eaLnBrk="1" hangingPunct="1">
              <a:spcBef>
                <a:spcPct val="50000"/>
              </a:spcBef>
            </a:pPr>
            <a:r>
              <a:rPr lang="en-US" altLang="en-US" sz="400">
                <a:solidFill>
                  <a:schemeClr val="accent1"/>
                </a:solidFill>
                <a:latin typeface="Helvetica" pitchFamily="34" charset="0"/>
              </a:rPr>
              <a:t>This area is “white space” that adds tremendously to the readability of your poster.  Resist the urge to fill it with text. Yea, this means </a:t>
            </a:r>
            <a:r>
              <a:rPr lang="en-US" altLang="en-US" sz="400" i="1">
                <a:solidFill>
                  <a:schemeClr val="accent1"/>
                </a:solidFill>
                <a:latin typeface="Helvetica" pitchFamily="34" charset="0"/>
              </a:rPr>
              <a:t>you</a:t>
            </a:r>
            <a:r>
              <a:rPr lang="en-US" altLang="en-US" sz="400">
                <a:solidFill>
                  <a:schemeClr val="accent1"/>
                </a:solidFill>
                <a:latin typeface="Helvetica" pitchFamily="34" charset="0"/>
              </a:rPr>
              <a:t>.</a:t>
            </a:r>
          </a:p>
        </p:txBody>
      </p:sp>
      <p:sp>
        <p:nvSpPr>
          <p:cNvPr id="25646" name="Text Box 56"/>
          <p:cNvSpPr txBox="1">
            <a:spLocks noChangeArrowheads="1"/>
          </p:cNvSpPr>
          <p:nvPr/>
        </p:nvSpPr>
        <p:spPr bwMode="auto">
          <a:xfrm>
            <a:off x="1595967" y="5634038"/>
            <a:ext cx="1339851" cy="322262"/>
          </a:xfrm>
          <a:prstGeom prst="rect">
            <a:avLst/>
          </a:prstGeom>
          <a:solidFill>
            <a:schemeClr val="bg1">
              <a:alpha val="23137"/>
            </a:schemeClr>
          </a:solidFill>
          <a:ln w="38100">
            <a:solidFill>
              <a:srgbClr val="E9E9E9"/>
            </a:solidFill>
            <a:prstDash val="dash"/>
            <a:miter lim="800000"/>
            <a:headEnd/>
            <a:tailEnd/>
          </a:ln>
          <a:effectLst/>
        </p:spPr>
        <p:txBody>
          <a:bodyPr lIns="52176" tIns="43480" rIns="52176" bIns="43480"/>
          <a:lstStyle/>
          <a:p>
            <a:pPr defTabSz="174625" eaLnBrk="1" hangingPunct="1">
              <a:spcBef>
                <a:spcPct val="50000"/>
              </a:spcBef>
            </a:pPr>
            <a:r>
              <a:rPr lang="en-US" altLang="en-US" sz="400">
                <a:solidFill>
                  <a:schemeClr val="accent1"/>
                </a:solidFill>
                <a:latin typeface="Helvetica" pitchFamily="34" charset="0"/>
              </a:rPr>
              <a:t>Same for this space.</a:t>
            </a:r>
          </a:p>
        </p:txBody>
      </p:sp>
      <p:sp>
        <p:nvSpPr>
          <p:cNvPr id="25647" name="AutoShape 57"/>
          <p:cNvSpPr>
            <a:spLocks/>
          </p:cNvSpPr>
          <p:nvPr/>
        </p:nvSpPr>
        <p:spPr bwMode="auto">
          <a:xfrm>
            <a:off x="86785" y="1984375"/>
            <a:ext cx="527049" cy="219790"/>
          </a:xfrm>
          <a:prstGeom prst="borderCallout1">
            <a:avLst>
              <a:gd name="adj1" fmla="val 6884"/>
              <a:gd name="adj2" fmla="val 103435"/>
              <a:gd name="adj3" fmla="val -49713"/>
              <a:gd name="adj4" fmla="val 116236"/>
            </a:avLst>
          </a:prstGeom>
          <a:solidFill>
            <a:srgbClr val="FFFF99"/>
          </a:solidFill>
          <a:ln w="9525">
            <a:solidFill>
              <a:schemeClr val="hlink"/>
            </a:solidFill>
            <a:miter lim="800000"/>
            <a:headEnd/>
            <a:tailEnd/>
          </a:ln>
          <a:effectLst>
            <a:outerShdw dist="35921" dir="2700000" algn="ctr" rotWithShape="0">
              <a:schemeClr val="accent2"/>
            </a:outerShdw>
          </a:effectLst>
        </p:spPr>
        <p:txBody>
          <a:bodyPr lIns="17392" tIns="17392" rIns="17392" bIns="17392">
            <a:spAutoFit/>
          </a:bodyPr>
          <a:lstStyle/>
          <a:p>
            <a:pPr defTabSz="174625" eaLnBrk="1" hangingPunct="1"/>
            <a:r>
              <a:rPr lang="en-US" altLang="en-US" sz="300">
                <a:latin typeface="Helvetica" pitchFamily="34" charset="0"/>
              </a:rPr>
              <a:t>The </a:t>
            </a:r>
            <a:r>
              <a:rPr lang="en-US" altLang="en-US" sz="300" i="1">
                <a:latin typeface="Helvetica" pitchFamily="34" charset="0"/>
              </a:rPr>
              <a:t>first</a:t>
            </a:r>
            <a:r>
              <a:rPr lang="en-US" altLang="en-US" sz="300">
                <a:latin typeface="Helvetica" pitchFamily="34" charset="0"/>
              </a:rPr>
              <a:t> sentence of the </a:t>
            </a:r>
            <a:r>
              <a:rPr lang="en-US" altLang="en-US" sz="300" i="1">
                <a:latin typeface="Helvetica" pitchFamily="34" charset="0"/>
              </a:rPr>
              <a:t>first</a:t>
            </a:r>
            <a:r>
              <a:rPr lang="en-US" altLang="en-US" sz="300">
                <a:latin typeface="Helvetica" pitchFamily="34" charset="0"/>
              </a:rPr>
              <a:t> paragraph does not need to be indented.</a:t>
            </a:r>
          </a:p>
          <a:p>
            <a:pPr defTabSz="174625" eaLnBrk="1" hangingPunct="1"/>
            <a:endParaRPr lang="en-US" altLang="en-US" sz="300">
              <a:latin typeface="Helvetica" pitchFamily="34" charset="0"/>
            </a:endParaRPr>
          </a:p>
        </p:txBody>
      </p:sp>
      <p:sp>
        <p:nvSpPr>
          <p:cNvPr id="25648" name="AutoShape 58"/>
          <p:cNvSpPr>
            <a:spLocks/>
          </p:cNvSpPr>
          <p:nvPr/>
        </p:nvSpPr>
        <p:spPr bwMode="auto">
          <a:xfrm>
            <a:off x="1962151" y="1358901"/>
            <a:ext cx="692149" cy="265956"/>
          </a:xfrm>
          <a:prstGeom prst="borderCallout1">
            <a:avLst>
              <a:gd name="adj1" fmla="val 6884"/>
              <a:gd name="adj2" fmla="val -2625"/>
              <a:gd name="adj3" fmla="val 82315"/>
              <a:gd name="adj4" fmla="val -64537"/>
            </a:avLst>
          </a:prstGeom>
          <a:solidFill>
            <a:srgbClr val="FFFF99"/>
          </a:solidFill>
          <a:ln w="9525">
            <a:solidFill>
              <a:schemeClr val="hlink"/>
            </a:solidFill>
            <a:miter lim="800000"/>
            <a:headEnd/>
            <a:tailEnd/>
          </a:ln>
          <a:effectLst>
            <a:outerShdw dist="35921" dir="2700000" algn="ctr" rotWithShape="0">
              <a:schemeClr val="accent2"/>
            </a:outerShdw>
          </a:effectLst>
        </p:spPr>
        <p:txBody>
          <a:bodyPr lIns="17392" tIns="17392" rIns="17392" bIns="17392">
            <a:spAutoFit/>
          </a:bodyPr>
          <a:lstStyle/>
          <a:p>
            <a:pPr defTabSz="174625" eaLnBrk="1" hangingPunct="1"/>
            <a:r>
              <a:rPr lang="en-US" altLang="en-US" sz="300" dirty="0">
                <a:latin typeface="Helvetica" pitchFamily="34" charset="0"/>
              </a:rPr>
              <a:t>This is a </a:t>
            </a:r>
            <a:r>
              <a:rPr lang="en-US" altLang="en-US" sz="300" b="1" dirty="0">
                <a:latin typeface="Helvetica" pitchFamily="34" charset="0"/>
              </a:rPr>
              <a:t>header</a:t>
            </a:r>
            <a:r>
              <a:rPr lang="en-US" altLang="en-US" sz="300" dirty="0">
                <a:latin typeface="Helvetica" pitchFamily="34" charset="0"/>
              </a:rPr>
              <a:t>.  If you make the font size large, and then add bolding…there is no need to also apply underlining or italicization.</a:t>
            </a:r>
          </a:p>
          <a:p>
            <a:pPr defTabSz="174625" eaLnBrk="1" hangingPunct="1"/>
            <a:endParaRPr lang="en-US" altLang="en-US" sz="300" dirty="0">
              <a:latin typeface="Helvetica" pitchFamily="34" charset="0"/>
            </a:endParaRPr>
          </a:p>
        </p:txBody>
      </p:sp>
      <p:sp>
        <p:nvSpPr>
          <p:cNvPr id="25649" name="AutoShape 59"/>
          <p:cNvSpPr>
            <a:spLocks/>
          </p:cNvSpPr>
          <p:nvPr/>
        </p:nvSpPr>
        <p:spPr bwMode="auto">
          <a:xfrm>
            <a:off x="5884334" y="1568450"/>
            <a:ext cx="692151" cy="219790"/>
          </a:xfrm>
          <a:prstGeom prst="borderCallout1">
            <a:avLst>
              <a:gd name="adj1" fmla="val 8069"/>
              <a:gd name="adj2" fmla="val 102625"/>
              <a:gd name="adj3" fmla="val 120630"/>
              <a:gd name="adj4" fmla="val 123662"/>
            </a:avLst>
          </a:prstGeom>
          <a:solidFill>
            <a:srgbClr val="FFFF99"/>
          </a:solidFill>
          <a:ln w="9525">
            <a:solidFill>
              <a:schemeClr val="hlink"/>
            </a:solidFill>
            <a:miter lim="800000"/>
            <a:headEnd/>
            <a:tailEnd/>
          </a:ln>
          <a:effectLst>
            <a:outerShdw dist="35921" dir="2700000" algn="ctr" rotWithShape="0">
              <a:schemeClr val="accent2"/>
            </a:outerShdw>
          </a:effectLst>
        </p:spPr>
        <p:txBody>
          <a:bodyPr lIns="17392" tIns="17392" rIns="17392" bIns="17392">
            <a:spAutoFit/>
          </a:bodyPr>
          <a:lstStyle/>
          <a:p>
            <a:pPr defTabSz="174625" eaLnBrk="1" hangingPunct="1"/>
            <a:r>
              <a:rPr lang="en-US" altLang="en-US" sz="300" dirty="0">
                <a:latin typeface="Helvetica" pitchFamily="34" charset="0"/>
              </a:rPr>
              <a:t>If you can orient your label horizontally, viewers with fused neck musculature are more likely to read it.</a:t>
            </a:r>
          </a:p>
          <a:p>
            <a:pPr defTabSz="174625" eaLnBrk="1" hangingPunct="1"/>
            <a:endParaRPr lang="en-US" altLang="en-US" sz="300" dirty="0">
              <a:latin typeface="Helvetica" pitchFamily="34" charset="0"/>
            </a:endParaRPr>
          </a:p>
        </p:txBody>
      </p:sp>
      <p:sp>
        <p:nvSpPr>
          <p:cNvPr id="25650" name="AutoShape 60"/>
          <p:cNvSpPr>
            <a:spLocks/>
          </p:cNvSpPr>
          <p:nvPr/>
        </p:nvSpPr>
        <p:spPr bwMode="auto">
          <a:xfrm>
            <a:off x="10949518" y="682626"/>
            <a:ext cx="692149" cy="173623"/>
          </a:xfrm>
          <a:prstGeom prst="borderCallout1">
            <a:avLst>
              <a:gd name="adj1" fmla="val 13634"/>
              <a:gd name="adj2" fmla="val -2625"/>
              <a:gd name="adj3" fmla="val -46593"/>
              <a:gd name="adj4" fmla="val -81093"/>
            </a:avLst>
          </a:prstGeom>
          <a:solidFill>
            <a:srgbClr val="FFFF99"/>
          </a:solidFill>
          <a:ln w="9525">
            <a:solidFill>
              <a:schemeClr val="hlink"/>
            </a:solidFill>
            <a:miter lim="800000"/>
            <a:headEnd/>
            <a:tailEnd/>
          </a:ln>
          <a:effectLst>
            <a:outerShdw dist="35921" dir="2700000" algn="ctr" rotWithShape="0">
              <a:schemeClr val="accent2"/>
            </a:outerShdw>
          </a:effectLst>
        </p:spPr>
        <p:txBody>
          <a:bodyPr lIns="17392" tIns="17392" rIns="17392" bIns="17392">
            <a:spAutoFit/>
          </a:bodyPr>
          <a:lstStyle/>
          <a:p>
            <a:pPr defTabSz="174625" eaLnBrk="1" hangingPunct="1"/>
            <a:r>
              <a:rPr lang="en-US" altLang="en-US" sz="300" dirty="0">
                <a:latin typeface="Helvetica" pitchFamily="34" charset="0"/>
              </a:rPr>
              <a:t>This means </a:t>
            </a:r>
            <a:r>
              <a:rPr lang="en-US" altLang="en-US" sz="300" i="1" dirty="0">
                <a:latin typeface="Helvetica" pitchFamily="34" charset="0"/>
              </a:rPr>
              <a:t>only</a:t>
            </a:r>
            <a:r>
              <a:rPr lang="en-US" altLang="en-US" sz="300" dirty="0">
                <a:latin typeface="Helvetica" pitchFamily="34" charset="0"/>
              </a:rPr>
              <a:t> the “t” in “title” gets capitalized.</a:t>
            </a:r>
          </a:p>
          <a:p>
            <a:pPr defTabSz="174625" eaLnBrk="1" hangingPunct="1"/>
            <a:endParaRPr lang="en-US" altLang="en-US" sz="300" dirty="0">
              <a:latin typeface="Helvetica" pitchFamily="34" charset="0"/>
            </a:endParaRPr>
          </a:p>
        </p:txBody>
      </p:sp>
      <p:sp>
        <p:nvSpPr>
          <p:cNvPr id="25651" name="AutoShape 61"/>
          <p:cNvSpPr>
            <a:spLocks/>
          </p:cNvSpPr>
          <p:nvPr/>
        </p:nvSpPr>
        <p:spPr bwMode="auto">
          <a:xfrm>
            <a:off x="9531351" y="1222376"/>
            <a:ext cx="774700" cy="265956"/>
          </a:xfrm>
          <a:prstGeom prst="borderCallout1">
            <a:avLst>
              <a:gd name="adj1" fmla="val 6000"/>
              <a:gd name="adj2" fmla="val -2347"/>
              <a:gd name="adj3" fmla="val 80750"/>
              <a:gd name="adj4" fmla="val -94037"/>
            </a:avLst>
          </a:prstGeom>
          <a:solidFill>
            <a:srgbClr val="FFFF99"/>
          </a:solidFill>
          <a:ln w="9525">
            <a:solidFill>
              <a:schemeClr val="hlink"/>
            </a:solidFill>
            <a:miter lim="800000"/>
            <a:headEnd/>
            <a:tailEnd/>
          </a:ln>
          <a:effectLst>
            <a:outerShdw dist="35921" dir="2700000" algn="ctr" rotWithShape="0">
              <a:schemeClr val="accent2"/>
            </a:outerShdw>
          </a:effectLst>
        </p:spPr>
        <p:txBody>
          <a:bodyPr lIns="17392" tIns="17392" rIns="17392" bIns="17392">
            <a:spAutoFit/>
          </a:bodyPr>
          <a:lstStyle/>
          <a:p>
            <a:pPr defTabSz="174625" eaLnBrk="1" hangingPunct="1"/>
            <a:r>
              <a:rPr lang="en-US" altLang="en-US" sz="300">
                <a:latin typeface="Helvetica" pitchFamily="34" charset="0"/>
              </a:rPr>
              <a:t>Make sure the edges of your columns are aligned with adjacent columns. Don’t trust your eyes: select the columns, then “Align” with the proper tool</a:t>
            </a:r>
          </a:p>
          <a:p>
            <a:pPr defTabSz="174625" eaLnBrk="1" hangingPunct="1"/>
            <a:endParaRPr lang="en-US" altLang="en-US" sz="300">
              <a:latin typeface="Helvetica" pitchFamily="34" charset="0"/>
            </a:endParaRPr>
          </a:p>
        </p:txBody>
      </p:sp>
      <p:sp>
        <p:nvSpPr>
          <p:cNvPr id="25652" name="AutoShape 62"/>
          <p:cNvSpPr>
            <a:spLocks/>
          </p:cNvSpPr>
          <p:nvPr/>
        </p:nvSpPr>
        <p:spPr bwMode="auto">
          <a:xfrm>
            <a:off x="2072217" y="747714"/>
            <a:ext cx="872067" cy="265956"/>
          </a:xfrm>
          <a:prstGeom prst="borderCallout1">
            <a:avLst>
              <a:gd name="adj1" fmla="val 6000"/>
              <a:gd name="adj2" fmla="val 102079"/>
              <a:gd name="adj3" fmla="val 245250"/>
              <a:gd name="adj4" fmla="val 131991"/>
            </a:avLst>
          </a:prstGeom>
          <a:solidFill>
            <a:srgbClr val="FFFF99"/>
          </a:solidFill>
          <a:ln w="9525">
            <a:solidFill>
              <a:schemeClr val="hlink"/>
            </a:solidFill>
            <a:miter lim="800000"/>
            <a:headEnd/>
            <a:tailEnd/>
          </a:ln>
          <a:effectLst>
            <a:outerShdw dist="35921" dir="2700000" algn="ctr" rotWithShape="0">
              <a:schemeClr val="accent2"/>
            </a:outerShdw>
          </a:effectLst>
        </p:spPr>
        <p:txBody>
          <a:bodyPr lIns="17392" tIns="17392" rIns="17392" bIns="17392">
            <a:spAutoFit/>
          </a:bodyPr>
          <a:lstStyle/>
          <a:p>
            <a:pPr defTabSz="174625" eaLnBrk="1" hangingPunct="1"/>
            <a:r>
              <a:rPr lang="en-US" altLang="en-US" sz="300" dirty="0">
                <a:latin typeface="Helvetica" pitchFamily="34" charset="0"/>
              </a:rPr>
              <a:t>Maintain a good amount of space between your columns.  Although you could squeeze them right up against each other, the poster’s aesthetics would suffer.</a:t>
            </a:r>
          </a:p>
          <a:p>
            <a:pPr defTabSz="174625" eaLnBrk="1" hangingPunct="1"/>
            <a:endParaRPr lang="en-US" altLang="en-US" sz="300" dirty="0">
              <a:latin typeface="Helvetica" pitchFamily="34" charset="0"/>
            </a:endParaRPr>
          </a:p>
        </p:txBody>
      </p:sp>
      <p:pic>
        <p:nvPicPr>
          <p:cNvPr id="25653" name="Picture 63" descr="m&amp;mfig"/>
          <p:cNvPicPr>
            <a:picLocks noChangeAspect="1" noChangeArrowheads="1"/>
          </p:cNvPicPr>
          <p:nvPr/>
        </p:nvPicPr>
        <p:blipFill>
          <a:blip r:embed="rId8" cstate="print"/>
          <a:srcRect/>
          <a:stretch>
            <a:fillRect/>
          </a:stretch>
        </p:blipFill>
        <p:spPr bwMode="auto">
          <a:xfrm>
            <a:off x="696384" y="5686426"/>
            <a:ext cx="861483" cy="658813"/>
          </a:xfrm>
          <a:prstGeom prst="rect">
            <a:avLst/>
          </a:prstGeom>
          <a:noFill/>
          <a:ln w="9525">
            <a:noFill/>
            <a:miter lim="800000"/>
            <a:headEnd/>
            <a:tailEnd/>
          </a:ln>
        </p:spPr>
      </p:pic>
    </p:spTree>
    <p:extLst>
      <p:ext uri="{BB962C8B-B14F-4D97-AF65-F5344CB8AC3E}">
        <p14:creationId xmlns:p14="http://schemas.microsoft.com/office/powerpoint/2010/main" val="42260539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3657600" y="190501"/>
            <a:ext cx="4876800" cy="358775"/>
          </a:xfrm>
          <a:prstGeom prst="rect">
            <a:avLst/>
          </a:prstGeom>
          <a:noFill/>
          <a:ln w="9525">
            <a:noFill/>
            <a:miter lim="800000"/>
            <a:headEnd/>
            <a:tailEnd/>
          </a:ln>
          <a:effectLst/>
        </p:spPr>
        <p:txBody>
          <a:bodyPr lIns="19043" tIns="9521" rIns="19043" bIns="9521">
            <a:spAutoFit/>
          </a:bodyPr>
          <a:lstStyle/>
          <a:p>
            <a:pPr algn="ctr" defTabSz="190500"/>
            <a:r>
              <a:rPr lang="en-US" altLang="en-US" sz="1100" dirty="0">
                <a:solidFill>
                  <a:srgbClr val="0000FF"/>
                </a:solidFill>
                <a:latin typeface="Times New Roman" pitchFamily="18" charset="0"/>
              </a:rPr>
              <a:t>This is the Title of Your Presentation</a:t>
            </a:r>
          </a:p>
          <a:p>
            <a:pPr algn="ctr" defTabSz="190500"/>
            <a:r>
              <a:rPr lang="en-US" altLang="en-US" sz="1100" dirty="0">
                <a:solidFill>
                  <a:srgbClr val="FF3300"/>
                </a:solidFill>
                <a:latin typeface="Times New Roman" pitchFamily="18" charset="0"/>
              </a:rPr>
              <a:t>Your Name, Title, Affiliation</a:t>
            </a:r>
            <a:endParaRPr lang="en-US" altLang="en-US" sz="1100" dirty="0">
              <a:solidFill>
                <a:srgbClr val="0000FF"/>
              </a:solidFill>
              <a:latin typeface="Times New Roman" pitchFamily="18" charset="0"/>
            </a:endParaRPr>
          </a:p>
        </p:txBody>
      </p:sp>
      <p:sp>
        <p:nvSpPr>
          <p:cNvPr id="26627" name="Text Box 3"/>
          <p:cNvSpPr txBox="1">
            <a:spLocks noChangeArrowheads="1"/>
          </p:cNvSpPr>
          <p:nvPr/>
        </p:nvSpPr>
        <p:spPr bwMode="auto">
          <a:xfrm>
            <a:off x="529167" y="777876"/>
            <a:ext cx="2286000" cy="1547813"/>
          </a:xfrm>
          <a:prstGeom prst="rect">
            <a:avLst/>
          </a:prstGeom>
          <a:noFill/>
          <a:ln w="12700">
            <a:solidFill>
              <a:schemeClr val="tx1"/>
            </a:solidFill>
            <a:miter lim="800000"/>
            <a:headEnd/>
            <a:tailEnd/>
          </a:ln>
          <a:effectLst/>
        </p:spPr>
        <p:txBody>
          <a:bodyPr lIns="19043" tIns="9521" rIns="19043" bIns="9521">
            <a:spAutoFit/>
          </a:bodyPr>
          <a:lstStyle/>
          <a:p>
            <a:pPr defTabSz="190500">
              <a:spcBef>
                <a:spcPct val="50000"/>
              </a:spcBef>
            </a:pPr>
            <a:r>
              <a:rPr lang="en-US" altLang="en-US" sz="800"/>
              <a:t>Introduction and Objectives</a:t>
            </a:r>
            <a:endParaRPr lang="en-US" altLang="en-US" sz="500">
              <a:latin typeface="Times New Roman" pitchFamily="18" charset="0"/>
            </a:endParaRPr>
          </a:p>
          <a:p>
            <a:pPr defTabSz="190500">
              <a:spcBef>
                <a:spcPct val="50000"/>
              </a:spcBef>
            </a:pPr>
            <a:r>
              <a:rPr lang="en-US" altLang="en-US" sz="500">
                <a:latin typeface="Times New Roman" pitchFamily="18" charset="0"/>
              </a:rPr>
              <a:t>Lay in your introduction</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xxxxxxxxxxxxxxxxxxxxxxxxxxxxxxxxxxxxxxxxxxxxxxxxxxxx</a:t>
            </a:r>
          </a:p>
        </p:txBody>
      </p:sp>
      <p:sp>
        <p:nvSpPr>
          <p:cNvPr id="26628" name="Text Box 4"/>
          <p:cNvSpPr txBox="1">
            <a:spLocks noChangeArrowheads="1"/>
          </p:cNvSpPr>
          <p:nvPr/>
        </p:nvSpPr>
        <p:spPr bwMode="auto">
          <a:xfrm>
            <a:off x="529167" y="2476501"/>
            <a:ext cx="2286000" cy="3895725"/>
          </a:xfrm>
          <a:prstGeom prst="rect">
            <a:avLst/>
          </a:prstGeom>
          <a:noFill/>
          <a:ln w="12700">
            <a:solidFill>
              <a:schemeClr val="tx1"/>
            </a:solidFill>
            <a:miter lim="800000"/>
            <a:headEnd/>
            <a:tailEnd/>
          </a:ln>
          <a:effectLst/>
        </p:spPr>
        <p:txBody>
          <a:bodyPr lIns="19043" tIns="9521" rIns="19043" bIns="9521">
            <a:spAutoFit/>
          </a:bodyPr>
          <a:lstStyle/>
          <a:p>
            <a:pPr defTabSz="190500">
              <a:spcBef>
                <a:spcPct val="50000"/>
              </a:spcBef>
            </a:pPr>
            <a:r>
              <a:rPr lang="en-US" altLang="en-US" sz="800">
                <a:latin typeface="Times New Roman" pitchFamily="18" charset="0"/>
              </a:rPr>
              <a:t>Population Studied</a:t>
            </a:r>
            <a:endParaRPr lang="en-US" altLang="en-US" sz="500">
              <a:latin typeface="Times New Roman" pitchFamily="18" charset="0"/>
            </a:endParaRP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a:t>
            </a:r>
          </a:p>
          <a:p>
            <a:pPr defTabSz="190500">
              <a:spcBef>
                <a:spcPct val="50000"/>
              </a:spcBef>
            </a:pPr>
            <a:r>
              <a:rPr lang="en-US" altLang="en-US" sz="500">
                <a:latin typeface="Times New Roman" pitchFamily="18" charset="0"/>
              </a:rPr>
              <a:t>xx</a:t>
            </a:r>
          </a:p>
          <a:p>
            <a:pPr defTabSz="190500">
              <a:spcBef>
                <a:spcPct val="50000"/>
              </a:spcBef>
            </a:pPr>
            <a:endParaRPr lang="en-US" altLang="en-US" sz="500">
              <a:latin typeface="Times New Roman" pitchFamily="18" charset="0"/>
            </a:endParaRPr>
          </a:p>
          <a:p>
            <a:pPr defTabSz="190500">
              <a:spcBef>
                <a:spcPct val="50000"/>
              </a:spcBef>
            </a:pPr>
            <a:r>
              <a:rPr lang="en-US" altLang="en-US" sz="500">
                <a:latin typeface="Times New Roman" pitchFamily="18" charset="0"/>
              </a:rPr>
              <a:t>x</a:t>
            </a: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r>
              <a:rPr lang="en-US" altLang="en-US" sz="500">
                <a:latin typeface="Times New Roman" pitchFamily="18" charset="0"/>
              </a:rPr>
              <a:t>x</a:t>
            </a: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r>
              <a:rPr lang="en-US" altLang="en-US" sz="500">
                <a:latin typeface="Times New Roman" pitchFamily="18" charset="0"/>
              </a:rPr>
              <a:t>xxxxxxxx</a:t>
            </a:r>
          </a:p>
        </p:txBody>
      </p:sp>
      <p:sp>
        <p:nvSpPr>
          <p:cNvPr id="26629" name="Text Box 5"/>
          <p:cNvSpPr txBox="1">
            <a:spLocks noChangeArrowheads="1"/>
          </p:cNvSpPr>
          <p:nvPr/>
        </p:nvSpPr>
        <p:spPr bwMode="auto">
          <a:xfrm>
            <a:off x="3352801" y="777875"/>
            <a:ext cx="2679700" cy="3543300"/>
          </a:xfrm>
          <a:prstGeom prst="rect">
            <a:avLst/>
          </a:prstGeom>
          <a:noFill/>
          <a:ln w="12700">
            <a:solidFill>
              <a:schemeClr val="tx1"/>
            </a:solidFill>
            <a:miter lim="800000"/>
            <a:headEnd/>
            <a:tailEnd/>
          </a:ln>
          <a:effectLst/>
        </p:spPr>
        <p:txBody>
          <a:bodyPr lIns="19043" tIns="9521" rIns="19043" bIns="9521">
            <a:spAutoFit/>
          </a:bodyPr>
          <a:lstStyle/>
          <a:p>
            <a:pPr defTabSz="190500">
              <a:spcBef>
                <a:spcPct val="50000"/>
              </a:spcBef>
            </a:pPr>
            <a:r>
              <a:rPr lang="en-US" altLang="en-US" sz="800"/>
              <a:t>Methodology</a:t>
            </a: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r>
              <a:rPr lang="en-US" altLang="en-US" sz="500">
                <a:latin typeface="Times New Roman" pitchFamily="18" charset="0"/>
              </a:rPr>
              <a:t>x</a:t>
            </a: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r>
              <a:rPr lang="en-US" altLang="en-US" sz="500">
                <a:latin typeface="Times New Roman" pitchFamily="18" charset="0"/>
              </a:rPr>
              <a:t>xxxxxxxxxxxxxxxxx</a:t>
            </a:r>
          </a:p>
        </p:txBody>
      </p:sp>
      <p:graphicFrame>
        <p:nvGraphicFramePr>
          <p:cNvPr id="2" name="Object 6"/>
          <p:cNvGraphicFramePr>
            <a:graphicFrameLocks noChangeAspect="1"/>
          </p:cNvGraphicFramePr>
          <p:nvPr/>
        </p:nvGraphicFramePr>
        <p:xfrm>
          <a:off x="3285067" y="4718051"/>
          <a:ext cx="2912533" cy="1558925"/>
        </p:xfrm>
        <a:graphic>
          <a:graphicData uri="http://schemas.openxmlformats.org/drawingml/2006/chart">
            <c:chart xmlns:c="http://schemas.openxmlformats.org/drawingml/2006/chart" xmlns:r="http://schemas.openxmlformats.org/officeDocument/2006/relationships" r:id="rId3"/>
          </a:graphicData>
        </a:graphic>
      </p:graphicFrame>
      <p:sp>
        <p:nvSpPr>
          <p:cNvPr id="26631" name="Rectangle 7"/>
          <p:cNvSpPr>
            <a:spLocks noChangeArrowheads="1"/>
          </p:cNvSpPr>
          <p:nvPr/>
        </p:nvSpPr>
        <p:spPr bwMode="auto">
          <a:xfrm>
            <a:off x="6625167" y="746126"/>
            <a:ext cx="2074333" cy="1730375"/>
          </a:xfrm>
          <a:prstGeom prst="rect">
            <a:avLst/>
          </a:prstGeom>
          <a:solidFill>
            <a:schemeClr val="accent1"/>
          </a:solidFill>
          <a:ln w="9525">
            <a:solidFill>
              <a:schemeClr val="tx1"/>
            </a:solidFill>
            <a:miter lim="800000"/>
            <a:headEnd/>
            <a:tailEnd/>
          </a:ln>
          <a:effectLst/>
        </p:spPr>
        <p:txBody>
          <a:bodyPr wrap="none" anchor="ctr"/>
          <a:lstStyle/>
          <a:p>
            <a:pPr eaLnBrk="1" hangingPunct="1"/>
            <a:endParaRPr lang="en-US"/>
          </a:p>
        </p:txBody>
      </p:sp>
      <p:sp>
        <p:nvSpPr>
          <p:cNvPr id="26632" name="Text Box 8"/>
          <p:cNvSpPr txBox="1">
            <a:spLocks noChangeArrowheads="1"/>
          </p:cNvSpPr>
          <p:nvPr/>
        </p:nvSpPr>
        <p:spPr bwMode="auto">
          <a:xfrm>
            <a:off x="9144000" y="777875"/>
            <a:ext cx="2497667" cy="4874403"/>
          </a:xfrm>
          <a:prstGeom prst="rect">
            <a:avLst/>
          </a:prstGeom>
          <a:noFill/>
          <a:ln w="12700">
            <a:solidFill>
              <a:schemeClr val="tx1"/>
            </a:solidFill>
            <a:miter lim="800000"/>
            <a:headEnd/>
            <a:tailEnd/>
          </a:ln>
          <a:effectLst/>
        </p:spPr>
        <p:txBody>
          <a:bodyPr lIns="19043" tIns="9521" rIns="19043" bIns="9521">
            <a:spAutoFit/>
          </a:bodyPr>
          <a:lstStyle/>
          <a:p>
            <a:pPr defTabSz="190500">
              <a:spcBef>
                <a:spcPct val="50000"/>
              </a:spcBef>
            </a:pPr>
            <a:r>
              <a:rPr lang="en-US" altLang="en-US" sz="800"/>
              <a:t>Study conclusions and ideas for new research</a:t>
            </a: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r>
              <a:rPr lang="en-US" altLang="en-US" sz="500"/>
              <a:t>x</a:t>
            </a:r>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endParaRPr lang="en-US" altLang="en-US" sz="500"/>
          </a:p>
          <a:p>
            <a:pPr defTabSz="190500">
              <a:spcBef>
                <a:spcPct val="50000"/>
              </a:spcBef>
            </a:pPr>
            <a:r>
              <a:rPr lang="en-US" altLang="en-US" sz="500"/>
              <a:t>x</a:t>
            </a:r>
          </a:p>
        </p:txBody>
      </p:sp>
      <p:sp>
        <p:nvSpPr>
          <p:cNvPr id="26633" name="Text Box 9"/>
          <p:cNvSpPr txBox="1">
            <a:spLocks noChangeArrowheads="1"/>
          </p:cNvSpPr>
          <p:nvPr/>
        </p:nvSpPr>
        <p:spPr bwMode="auto">
          <a:xfrm>
            <a:off x="6604001" y="3124201"/>
            <a:ext cx="2095500" cy="3192463"/>
          </a:xfrm>
          <a:prstGeom prst="rect">
            <a:avLst/>
          </a:prstGeom>
          <a:noFill/>
          <a:ln w="19050">
            <a:solidFill>
              <a:schemeClr val="tx1"/>
            </a:solidFill>
            <a:miter lim="800000"/>
            <a:headEnd/>
            <a:tailEnd/>
          </a:ln>
          <a:effectLst/>
        </p:spPr>
        <p:txBody>
          <a:bodyPr lIns="19043" tIns="9521" rIns="19043" bIns="9521">
            <a:spAutoFit/>
          </a:bodyPr>
          <a:lstStyle/>
          <a:p>
            <a:pPr defTabSz="190500">
              <a:spcBef>
                <a:spcPct val="50000"/>
              </a:spcBef>
            </a:pPr>
            <a:r>
              <a:rPr lang="en-US" altLang="en-US" sz="800"/>
              <a:t>Discussions</a:t>
            </a: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r>
              <a:rPr lang="en-US" altLang="en-US" sz="500">
                <a:latin typeface="Times New Roman" pitchFamily="18" charset="0"/>
              </a:rPr>
              <a:t>xxxxx</a:t>
            </a:r>
          </a:p>
        </p:txBody>
      </p:sp>
      <p:sp>
        <p:nvSpPr>
          <p:cNvPr id="26634" name="Text Box 10"/>
          <p:cNvSpPr txBox="1">
            <a:spLocks noChangeArrowheads="1"/>
          </p:cNvSpPr>
          <p:nvPr/>
        </p:nvSpPr>
        <p:spPr bwMode="auto">
          <a:xfrm>
            <a:off x="9144001" y="6008688"/>
            <a:ext cx="2518833" cy="374650"/>
          </a:xfrm>
          <a:prstGeom prst="rect">
            <a:avLst/>
          </a:prstGeom>
          <a:noFill/>
          <a:ln w="12700">
            <a:solidFill>
              <a:schemeClr val="tx1"/>
            </a:solidFill>
            <a:miter lim="800000"/>
            <a:headEnd/>
            <a:tailEnd/>
          </a:ln>
          <a:effectLst/>
        </p:spPr>
        <p:txBody>
          <a:bodyPr lIns="19043" tIns="9521" rIns="19043" bIns="9521">
            <a:spAutoFit/>
          </a:bodyPr>
          <a:lstStyle/>
          <a:p>
            <a:pPr defTabSz="190500">
              <a:spcBef>
                <a:spcPct val="50000"/>
              </a:spcBef>
            </a:pPr>
            <a:r>
              <a:rPr lang="en-US" altLang="en-US" sz="800"/>
              <a:t>Funding Source</a:t>
            </a:r>
            <a:endParaRPr lang="en-US" altLang="en-US" sz="500">
              <a:latin typeface="Times New Roman" pitchFamily="18" charset="0"/>
            </a:endParaRPr>
          </a:p>
          <a:p>
            <a:pPr defTabSz="190500">
              <a:spcBef>
                <a:spcPct val="50000"/>
              </a:spcBef>
            </a:pPr>
            <a:endParaRPr lang="en-US" altLang="en-US" sz="500">
              <a:latin typeface="Times New Roman" pitchFamily="18" charset="0"/>
            </a:endParaRPr>
          </a:p>
          <a:p>
            <a:pPr defTabSz="190500">
              <a:spcBef>
                <a:spcPct val="50000"/>
              </a:spcBef>
            </a:pPr>
            <a:endParaRPr lang="en-US" altLang="en-US" sz="500">
              <a:latin typeface="Times New Roman" pitchFamily="18" charset="0"/>
            </a:endParaRPr>
          </a:p>
        </p:txBody>
      </p:sp>
      <p:sp>
        <p:nvSpPr>
          <p:cNvPr id="26635" name="Line 11"/>
          <p:cNvSpPr>
            <a:spLocks noChangeShapeType="1"/>
          </p:cNvSpPr>
          <p:nvPr/>
        </p:nvSpPr>
        <p:spPr bwMode="auto">
          <a:xfrm>
            <a:off x="3048000" y="762000"/>
            <a:ext cx="0" cy="5638800"/>
          </a:xfrm>
          <a:prstGeom prst="line">
            <a:avLst/>
          </a:prstGeom>
          <a:noFill/>
          <a:ln w="9525">
            <a:solidFill>
              <a:schemeClr val="tx1"/>
            </a:solidFill>
            <a:round/>
            <a:headEnd/>
            <a:tailEnd/>
          </a:ln>
          <a:effectLst/>
        </p:spPr>
        <p:txBody>
          <a:bodyPr wrap="none" anchor="ctr"/>
          <a:lstStyle/>
          <a:p>
            <a:endParaRPr lang="en-US"/>
          </a:p>
        </p:txBody>
      </p:sp>
      <p:sp>
        <p:nvSpPr>
          <p:cNvPr id="26636" name="Line 12"/>
          <p:cNvSpPr>
            <a:spLocks noChangeShapeType="1"/>
          </p:cNvSpPr>
          <p:nvPr/>
        </p:nvSpPr>
        <p:spPr bwMode="auto">
          <a:xfrm>
            <a:off x="6299200" y="762000"/>
            <a:ext cx="0" cy="5562600"/>
          </a:xfrm>
          <a:prstGeom prst="line">
            <a:avLst/>
          </a:prstGeom>
          <a:noFill/>
          <a:ln w="9525">
            <a:solidFill>
              <a:schemeClr val="tx1"/>
            </a:solidFill>
            <a:round/>
            <a:headEnd/>
            <a:tailEnd/>
          </a:ln>
          <a:effectLst/>
        </p:spPr>
        <p:txBody>
          <a:bodyPr wrap="none" anchor="ctr"/>
          <a:lstStyle/>
          <a:p>
            <a:endParaRPr lang="en-US"/>
          </a:p>
        </p:txBody>
      </p:sp>
      <p:sp>
        <p:nvSpPr>
          <p:cNvPr id="26637" name="Line 13"/>
          <p:cNvSpPr>
            <a:spLocks noChangeShapeType="1"/>
          </p:cNvSpPr>
          <p:nvPr/>
        </p:nvSpPr>
        <p:spPr bwMode="auto">
          <a:xfrm>
            <a:off x="8940800" y="762000"/>
            <a:ext cx="0" cy="5562600"/>
          </a:xfrm>
          <a:prstGeom prst="line">
            <a:avLst/>
          </a:prstGeom>
          <a:noFill/>
          <a:ln w="9525">
            <a:solidFill>
              <a:schemeClr val="tx1"/>
            </a:solidFill>
            <a:round/>
            <a:headEnd/>
            <a:tailEnd/>
          </a:ln>
          <a:effectLst/>
        </p:spPr>
        <p:txBody>
          <a:bodyPr wrap="none" anchor="ctr"/>
          <a:lstStyle/>
          <a:p>
            <a:endParaRPr lang="en-US"/>
          </a:p>
        </p:txBody>
      </p:sp>
      <p:sp>
        <p:nvSpPr>
          <p:cNvPr id="26638" name="Line 14"/>
          <p:cNvSpPr>
            <a:spLocks noChangeShapeType="1"/>
          </p:cNvSpPr>
          <p:nvPr/>
        </p:nvSpPr>
        <p:spPr bwMode="auto">
          <a:xfrm>
            <a:off x="6604000" y="2743200"/>
            <a:ext cx="2133600" cy="0"/>
          </a:xfrm>
          <a:prstGeom prst="line">
            <a:avLst/>
          </a:prstGeom>
          <a:noFill/>
          <a:ln w="9525">
            <a:solidFill>
              <a:schemeClr val="tx1"/>
            </a:solidFill>
            <a:round/>
            <a:headEnd/>
            <a:tailEnd/>
          </a:ln>
          <a:effectLst/>
        </p:spPr>
        <p:txBody>
          <a:bodyPr wrap="none" anchor="ctr"/>
          <a:lstStyle/>
          <a:p>
            <a:endParaRPr lang="en-US"/>
          </a:p>
        </p:txBody>
      </p:sp>
    </p:spTree>
    <p:extLst>
      <p:ext uri="{BB962C8B-B14F-4D97-AF65-F5344CB8AC3E}">
        <p14:creationId xmlns:p14="http://schemas.microsoft.com/office/powerpoint/2010/main" val="9963124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400" dirty="0"/>
              <a:t>RUBRIC:  HYPOTHESIS AND/OR STATEMENT OF PROBLEM</a:t>
            </a:r>
          </a:p>
        </p:txBody>
      </p:sp>
      <p:sp>
        <p:nvSpPr>
          <p:cNvPr id="2" name="Content Placeholder 1"/>
          <p:cNvSpPr>
            <a:spLocks noGrp="1"/>
          </p:cNvSpPr>
          <p:nvPr>
            <p:ph idx="1"/>
          </p:nvPr>
        </p:nvSpPr>
        <p:spPr/>
        <p:txBody>
          <a:bodyPr>
            <a:normAutofit/>
          </a:bodyPr>
          <a:lstStyle/>
          <a:p>
            <a:r>
              <a:rPr lang="en-US" sz="3600" dirty="0">
                <a:solidFill>
                  <a:srgbClr val="FF0000"/>
                </a:solidFill>
              </a:rPr>
              <a:t>For Maximal Impact/Points:</a:t>
            </a:r>
          </a:p>
          <a:p>
            <a:pPr lvl="1"/>
            <a:r>
              <a:rPr lang="en-US" sz="2800" dirty="0"/>
              <a:t>A logical hypothesis/statement of problem was presented clearly</a:t>
            </a:r>
          </a:p>
          <a:p>
            <a:pPr lvl="1"/>
            <a:r>
              <a:rPr lang="en-US" sz="2800" dirty="0"/>
              <a:t>Background information was relevant and summarized well. Connections to previous literature and broader issues were clear</a:t>
            </a:r>
          </a:p>
          <a:p>
            <a:pPr lvl="1"/>
            <a:r>
              <a:rPr lang="en-US" sz="2800" dirty="0"/>
              <a:t>Goal of project was stated clearly and concisely; showed clear relevance beyond project</a:t>
            </a:r>
          </a:p>
        </p:txBody>
      </p:sp>
    </p:spTree>
    <p:extLst>
      <p:ext uri="{BB962C8B-B14F-4D97-AF65-F5344CB8AC3E}">
        <p14:creationId xmlns:p14="http://schemas.microsoft.com/office/powerpoint/2010/main" val="27806381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RUBRIC!  RESULTS</a:t>
            </a:r>
          </a:p>
        </p:txBody>
      </p:sp>
      <p:sp>
        <p:nvSpPr>
          <p:cNvPr id="2" name="Content Placeholder 1"/>
          <p:cNvSpPr>
            <a:spLocks noGrp="1"/>
          </p:cNvSpPr>
          <p:nvPr>
            <p:ph idx="1"/>
          </p:nvPr>
        </p:nvSpPr>
        <p:spPr/>
        <p:txBody>
          <a:bodyPr>
            <a:normAutofit/>
          </a:bodyPr>
          <a:lstStyle/>
          <a:p>
            <a:r>
              <a:rPr lang="en-US" sz="3600" dirty="0">
                <a:solidFill>
                  <a:srgbClr val="FF0000"/>
                </a:solidFill>
              </a:rPr>
              <a:t>Maximal Impact/Points from:</a:t>
            </a:r>
          </a:p>
          <a:p>
            <a:pPr lvl="1"/>
            <a:r>
              <a:rPr lang="en-US" sz="2800" dirty="0"/>
              <a:t>Substantial amounts of high quality data were presented sufficient to address the hypothesis</a:t>
            </a:r>
          </a:p>
          <a:p>
            <a:pPr lvl="1"/>
            <a:r>
              <a:rPr lang="en-US" sz="2800" dirty="0"/>
              <a:t>Presentation of data was clear, thorough, and logical</a:t>
            </a:r>
          </a:p>
        </p:txBody>
      </p:sp>
    </p:spTree>
    <p:extLst>
      <p:ext uri="{BB962C8B-B14F-4D97-AF65-F5344CB8AC3E}">
        <p14:creationId xmlns:p14="http://schemas.microsoft.com/office/powerpoint/2010/main" val="16593745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RUBRIC! CONCLUSION AND FUTURE WORK</a:t>
            </a:r>
          </a:p>
        </p:txBody>
      </p:sp>
      <p:sp>
        <p:nvSpPr>
          <p:cNvPr id="2" name="Content Placeholder 1"/>
          <p:cNvSpPr>
            <a:spLocks noGrp="1"/>
          </p:cNvSpPr>
          <p:nvPr>
            <p:ph idx="1"/>
          </p:nvPr>
        </p:nvSpPr>
        <p:spPr/>
        <p:txBody>
          <a:bodyPr>
            <a:normAutofit/>
          </a:bodyPr>
          <a:lstStyle/>
          <a:p>
            <a:r>
              <a:rPr lang="en-US" sz="3600" dirty="0">
                <a:solidFill>
                  <a:srgbClr val="FF0000"/>
                </a:solidFill>
              </a:rPr>
              <a:t>Highest Impact/Score if:</a:t>
            </a:r>
          </a:p>
          <a:p>
            <a:pPr lvl="1"/>
            <a:r>
              <a:rPr lang="en-US" sz="2800" dirty="0"/>
              <a:t>Reasonable conclusions were given and strongly supported with evidence</a:t>
            </a:r>
          </a:p>
          <a:p>
            <a:pPr lvl="1"/>
            <a:r>
              <a:rPr lang="en-US" sz="2800" dirty="0"/>
              <a:t>Conclusions were compared to hypothesis and their relevance in a wider context was discussed</a:t>
            </a:r>
          </a:p>
        </p:txBody>
      </p:sp>
    </p:spTree>
    <p:extLst>
      <p:ext uri="{BB962C8B-B14F-4D97-AF65-F5344CB8AC3E}">
        <p14:creationId xmlns:p14="http://schemas.microsoft.com/office/powerpoint/2010/main" val="24091405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RUBRIC!  POSTER BOARD PRESENTATION</a:t>
            </a:r>
          </a:p>
        </p:txBody>
      </p:sp>
      <p:sp>
        <p:nvSpPr>
          <p:cNvPr id="2" name="Content Placeholder 1"/>
          <p:cNvSpPr>
            <a:spLocks noGrp="1"/>
          </p:cNvSpPr>
          <p:nvPr>
            <p:ph idx="1"/>
          </p:nvPr>
        </p:nvSpPr>
        <p:spPr/>
        <p:txBody>
          <a:bodyPr>
            <a:noAutofit/>
          </a:bodyPr>
          <a:lstStyle/>
          <a:p>
            <a:r>
              <a:rPr lang="en-US" sz="3600" dirty="0">
                <a:solidFill>
                  <a:srgbClr val="FF0000"/>
                </a:solidFill>
              </a:rPr>
              <a:t>Highest possible Impact/score when:</a:t>
            </a:r>
          </a:p>
          <a:p>
            <a:pPr lvl="1"/>
            <a:r>
              <a:rPr lang="en-US" sz="2800" dirty="0"/>
              <a:t>All expected components are present, clearly laid out, and easy to follow in the absence of presenter</a:t>
            </a:r>
          </a:p>
          <a:p>
            <a:pPr lvl="1"/>
            <a:r>
              <a:rPr lang="en-US" sz="2800" dirty="0"/>
              <a:t>The text is concise, legible, and consistently free of spelling or typographical errors; the background is unobtrusive</a:t>
            </a:r>
          </a:p>
          <a:p>
            <a:pPr lvl="1"/>
            <a:r>
              <a:rPr lang="en-US" sz="2800" dirty="0"/>
              <a:t>The figures and tables are appropriate and consistently labeled correctly</a:t>
            </a:r>
          </a:p>
          <a:p>
            <a:pPr lvl="1"/>
            <a:r>
              <a:rPr lang="en-US" sz="2800" dirty="0"/>
              <a:t>Photographs/tables/graphs improve understanding and enhance the visual appeal</a:t>
            </a:r>
          </a:p>
        </p:txBody>
      </p:sp>
    </p:spTree>
    <p:extLst>
      <p:ext uri="{BB962C8B-B14F-4D97-AF65-F5344CB8AC3E}">
        <p14:creationId xmlns:p14="http://schemas.microsoft.com/office/powerpoint/2010/main" val="36277054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t>RUBRIC! OVERALL PRESENTATION &amp; HANDLING QUESTIONS</a:t>
            </a:r>
          </a:p>
        </p:txBody>
      </p:sp>
      <p:sp>
        <p:nvSpPr>
          <p:cNvPr id="2" name="Content Placeholder 1"/>
          <p:cNvSpPr>
            <a:spLocks noGrp="1"/>
          </p:cNvSpPr>
          <p:nvPr>
            <p:ph idx="1"/>
          </p:nvPr>
        </p:nvSpPr>
        <p:spPr/>
        <p:txBody>
          <a:bodyPr>
            <a:noAutofit/>
          </a:bodyPr>
          <a:lstStyle/>
          <a:p>
            <a:r>
              <a:rPr lang="en-US" sz="3600" dirty="0">
                <a:solidFill>
                  <a:srgbClr val="FF0000"/>
                </a:solidFill>
              </a:rPr>
              <a:t>Highest Possible Impact/Score when:</a:t>
            </a:r>
          </a:p>
          <a:p>
            <a:pPr lvl="1"/>
            <a:r>
              <a:rPr lang="en-US" sz="2800" dirty="0"/>
              <a:t>Demonstrates a very strong knowledge of the research project </a:t>
            </a:r>
          </a:p>
          <a:p>
            <a:pPr lvl="1"/>
            <a:r>
              <a:rPr lang="en-US" sz="2800" dirty="0"/>
              <a:t>Speaks clearly, naturally and with enthusiasm; makes eye contact</a:t>
            </a:r>
          </a:p>
          <a:p>
            <a:pPr lvl="1"/>
            <a:r>
              <a:rPr lang="en-US" sz="2800" dirty="0"/>
              <a:t>Comfortably uses visual aids to enhance presentation</a:t>
            </a:r>
          </a:p>
          <a:p>
            <a:pPr lvl="1"/>
            <a:r>
              <a:rPr lang="en-US" sz="2800" dirty="0"/>
              <a:t>Answers difficult questions clearly and succinctly</a:t>
            </a:r>
          </a:p>
          <a:p>
            <a:pPr lvl="1"/>
            <a:r>
              <a:rPr lang="en-US" sz="2800" dirty="0"/>
              <a:t>Presentation is consistently clear and logical</a:t>
            </a:r>
          </a:p>
        </p:txBody>
      </p:sp>
    </p:spTree>
    <p:extLst>
      <p:ext uri="{BB962C8B-B14F-4D97-AF65-F5344CB8AC3E}">
        <p14:creationId xmlns:p14="http://schemas.microsoft.com/office/powerpoint/2010/main" val="23264734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9462</TotalTime>
  <Words>7773</Words>
  <Application>Microsoft Office PowerPoint</Application>
  <PresentationFormat>Widescreen</PresentationFormat>
  <Paragraphs>831</Paragraphs>
  <Slides>58</Slides>
  <Notes>56</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58</vt:i4>
      </vt:variant>
    </vt:vector>
  </HeadingPairs>
  <TitlesOfParts>
    <vt:vector size="76" baseType="lpstr">
      <vt:lpstr>Blackmoor LET</vt:lpstr>
      <vt:lpstr>等线</vt:lpstr>
      <vt:lpstr>Desdemona</vt:lpstr>
      <vt:lpstr>Monotype Sorts</vt:lpstr>
      <vt:lpstr>Optima</vt:lpstr>
      <vt:lpstr>Optima ExtraBlack</vt:lpstr>
      <vt:lpstr>Stone Sans SC ITC TT-Semi</vt:lpstr>
      <vt:lpstr>Arial</vt:lpstr>
      <vt:lpstr>Calibri</vt:lpstr>
      <vt:lpstr>Calibri Light</vt:lpstr>
      <vt:lpstr>Curlz MT</vt:lpstr>
      <vt:lpstr>Helvetica</vt:lpstr>
      <vt:lpstr>Times New Roman</vt:lpstr>
      <vt:lpstr>Trebuchet MS</vt:lpstr>
      <vt:lpstr>Verdana</vt:lpstr>
      <vt:lpstr>Wide Latin</vt:lpstr>
      <vt:lpstr>Wingdings</vt:lpstr>
      <vt:lpstr>Office Theme</vt:lpstr>
      <vt:lpstr>Group work task 3 reminder</vt:lpstr>
      <vt:lpstr>Research Communication Skills</vt:lpstr>
      <vt:lpstr>PowerPoint Presentation</vt:lpstr>
      <vt:lpstr>Intended Learning Outcomes</vt:lpstr>
      <vt:lpstr>PowerPoint Presentation</vt:lpstr>
      <vt:lpstr>Academic Poster </vt:lpstr>
      <vt:lpstr>Why Submit a Poster?</vt:lpstr>
      <vt:lpstr>Which is a “Correct” Poster?</vt:lpstr>
      <vt:lpstr>PowerPoint Presentation</vt:lpstr>
      <vt:lpstr>Appearance </vt:lpstr>
      <vt:lpstr>Visually Appealing</vt:lpstr>
      <vt:lpstr>Designing Your Poster:</vt:lpstr>
      <vt:lpstr>Designing Your Poster:</vt:lpstr>
      <vt:lpstr>Designing Your Poster:</vt:lpstr>
      <vt:lpstr>Printing Considerations</vt:lpstr>
      <vt:lpstr>Pictures</vt:lpstr>
      <vt:lpstr>Contents of a Research Poster:</vt:lpstr>
      <vt:lpstr>Contents of a Research Poster:</vt:lpstr>
      <vt:lpstr>Title &amp; Authors:</vt:lpstr>
      <vt:lpstr>Examples of Title/Author Lines:</vt:lpstr>
      <vt:lpstr>Abstract:</vt:lpstr>
      <vt:lpstr>Background:</vt:lpstr>
      <vt:lpstr>Research Objectives:</vt:lpstr>
      <vt:lpstr>Materials &amp; Methods:</vt:lpstr>
      <vt:lpstr>Results:</vt:lpstr>
      <vt:lpstr>Conclusions:</vt:lpstr>
      <vt:lpstr>Future Directions:</vt:lpstr>
      <vt:lpstr>Literature Cited:</vt:lpstr>
      <vt:lpstr>Acknowledgements:</vt:lpstr>
      <vt:lpstr>Creating the Poster</vt:lpstr>
      <vt:lpstr>Software</vt:lpstr>
      <vt:lpstr>Look at Sample Posters and Evaluate…</vt:lpstr>
      <vt:lpstr>PowerPoint Presentation</vt:lpstr>
      <vt:lpstr>Analyze</vt:lpstr>
      <vt:lpstr>Mechanics of Presentation</vt:lpstr>
      <vt:lpstr>Practice</vt:lpstr>
      <vt:lpstr>Practice</vt:lpstr>
      <vt:lpstr>Posture/Movement</vt:lpstr>
      <vt:lpstr>Positioning  </vt:lpstr>
      <vt:lpstr>First Contact</vt:lpstr>
      <vt:lpstr>Flow of a presentation </vt:lpstr>
      <vt:lpstr>Have Strong Transitions</vt:lpstr>
      <vt:lpstr>Set up conditions vary</vt:lpstr>
      <vt:lpstr>Coming Home Again</vt:lpstr>
      <vt:lpstr>Reference Materials</vt:lpstr>
      <vt:lpstr>Poster Templates…</vt:lpstr>
      <vt:lpstr>Poster Templates</vt:lpstr>
      <vt:lpstr>PowerPoint Presentation</vt:lpstr>
      <vt:lpstr>PowerPoint Presentation</vt:lpstr>
      <vt:lpstr>PowerPoint Presentation</vt:lpstr>
      <vt:lpstr>PowerPoint Presentation</vt:lpstr>
      <vt:lpstr>PowerPoint Presentation</vt:lpstr>
      <vt:lpstr>PowerPoint Presentation</vt:lpstr>
      <vt:lpstr>RUBRIC:  HYPOTHESIS AND/OR STATEMENT OF PROBLEM</vt:lpstr>
      <vt:lpstr>RUBRIC!  RESULTS</vt:lpstr>
      <vt:lpstr>RUBRIC! CONCLUSION AND FUTURE WORK</vt:lpstr>
      <vt:lpstr>RUBRIC!  POSTER BOARD PRESENTATION</vt:lpstr>
      <vt:lpstr>RUBRIC! OVERALL PRESENTATION &amp; HANDLING QUESTIONS</vt:lpstr>
    </vt:vector>
  </TitlesOfParts>
  <Company>HKPU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hkpuadmin</dc:creator>
  <cp:lastModifiedBy>Joanna Siebert</cp:lastModifiedBy>
  <cp:revision>396</cp:revision>
  <cp:lastPrinted>2019-09-03T08:34:37Z</cp:lastPrinted>
  <dcterms:created xsi:type="dcterms:W3CDTF">2014-08-14T09:54:55Z</dcterms:created>
  <dcterms:modified xsi:type="dcterms:W3CDTF">2026-10-08T02:56:01Z</dcterms:modified>
</cp:coreProperties>
</file>