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703" r:id="rId2"/>
    <p:sldId id="505" r:id="rId3"/>
    <p:sldId id="506" r:id="rId4"/>
    <p:sldId id="507" r:id="rId5"/>
    <p:sldId id="508" r:id="rId6"/>
    <p:sldId id="509" r:id="rId7"/>
    <p:sldId id="510" r:id="rId8"/>
    <p:sldId id="511" r:id="rId9"/>
    <p:sldId id="512" r:id="rId10"/>
    <p:sldId id="513" r:id="rId11"/>
    <p:sldId id="514" r:id="rId12"/>
    <p:sldId id="515" r:id="rId13"/>
    <p:sldId id="516" r:id="rId14"/>
    <p:sldId id="517" r:id="rId15"/>
    <p:sldId id="518" r:id="rId16"/>
    <p:sldId id="585" r:id="rId17"/>
    <p:sldId id="519" r:id="rId18"/>
    <p:sldId id="520" r:id="rId19"/>
    <p:sldId id="521" r:id="rId20"/>
    <p:sldId id="522" r:id="rId21"/>
    <p:sldId id="523" r:id="rId22"/>
    <p:sldId id="524" r:id="rId23"/>
    <p:sldId id="525" r:id="rId24"/>
    <p:sldId id="526" r:id="rId25"/>
    <p:sldId id="527" r:id="rId26"/>
    <p:sldId id="670" r:id="rId27"/>
    <p:sldId id="528" r:id="rId28"/>
    <p:sldId id="671" r:id="rId29"/>
    <p:sldId id="699" r:id="rId30"/>
    <p:sldId id="529" r:id="rId31"/>
    <p:sldId id="698" r:id="rId32"/>
    <p:sldId id="672" r:id="rId33"/>
    <p:sldId id="673" r:id="rId34"/>
    <p:sldId id="674" r:id="rId35"/>
    <p:sldId id="530" r:id="rId36"/>
    <p:sldId id="531" r:id="rId37"/>
    <p:sldId id="532" r:id="rId38"/>
    <p:sldId id="533" r:id="rId39"/>
    <p:sldId id="534" r:id="rId40"/>
    <p:sldId id="535" r:id="rId41"/>
    <p:sldId id="536" r:id="rId42"/>
    <p:sldId id="537" r:id="rId43"/>
    <p:sldId id="538" r:id="rId44"/>
    <p:sldId id="539" r:id="rId45"/>
    <p:sldId id="689" r:id="rId46"/>
    <p:sldId id="690" r:id="rId47"/>
    <p:sldId id="691" r:id="rId48"/>
    <p:sldId id="692" r:id="rId49"/>
    <p:sldId id="693" r:id="rId50"/>
    <p:sldId id="694" r:id="rId51"/>
    <p:sldId id="695" r:id="rId52"/>
    <p:sldId id="696" r:id="rId53"/>
    <p:sldId id="697" r:id="rId54"/>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4" autoAdjust="0"/>
    <p:restoredTop sz="94660"/>
  </p:normalViewPr>
  <p:slideViewPr>
    <p:cSldViewPr snapToGrid="0">
      <p:cViewPr varScale="1">
        <p:scale>
          <a:sx n="115" d="100"/>
          <a:sy n="115" d="100"/>
        </p:scale>
        <p:origin x="150" y="6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sz="quarter" idx="1"/>
          </p:nvPr>
        </p:nvSpPr>
        <p:spPr>
          <a:xfrm>
            <a:off x="3850443" y="0"/>
            <a:ext cx="2945659" cy="498215"/>
          </a:xfrm>
          <a:prstGeom prst="rect">
            <a:avLst/>
          </a:prstGeom>
        </p:spPr>
        <p:txBody>
          <a:bodyPr vert="horz" lIns="91440" tIns="45720" rIns="91440" bIns="45720" rtlCol="0"/>
          <a:lstStyle>
            <a:lvl1pPr algn="r">
              <a:defRPr sz="1200"/>
            </a:lvl1pPr>
          </a:lstStyle>
          <a:p>
            <a:fld id="{A6B79868-BDA9-4441-B20B-68D0617E5C8E}" type="datetimeFigureOut">
              <a:rPr lang="en-GB" smtClean="0"/>
              <a:t>10/09/2026</a:t>
            </a:fld>
            <a:endParaRPr lang="en-GB"/>
          </a:p>
        </p:txBody>
      </p:sp>
      <p:sp>
        <p:nvSpPr>
          <p:cNvPr id="4" name="页脚占位符 3"/>
          <p:cNvSpPr>
            <a:spLocks noGrp="1"/>
          </p:cNvSpPr>
          <p:nvPr>
            <p:ph type="ftr" sz="quarter" idx="2"/>
          </p:nvPr>
        </p:nvSpPr>
        <p:spPr>
          <a:xfrm>
            <a:off x="0" y="9431600"/>
            <a:ext cx="2945659" cy="498214"/>
          </a:xfrm>
          <a:prstGeom prst="rect">
            <a:avLst/>
          </a:prstGeom>
        </p:spPr>
        <p:txBody>
          <a:bodyPr vert="horz" lIns="91440" tIns="45720" rIns="91440" bIns="45720" rtlCol="0" anchor="b"/>
          <a:lstStyle>
            <a:lvl1pPr algn="l">
              <a:defRPr sz="1200"/>
            </a:lvl1pPr>
          </a:lstStyle>
          <a:p>
            <a:endParaRPr lang="en-GB"/>
          </a:p>
        </p:txBody>
      </p:sp>
      <p:sp>
        <p:nvSpPr>
          <p:cNvPr id="5" name="灯片编号占位符 4"/>
          <p:cNvSpPr>
            <a:spLocks noGrp="1"/>
          </p:cNvSpPr>
          <p:nvPr>
            <p:ph type="sldNum" sz="quarter" idx="3"/>
          </p:nvPr>
        </p:nvSpPr>
        <p:spPr>
          <a:xfrm>
            <a:off x="3850443" y="9431600"/>
            <a:ext cx="2945659" cy="498214"/>
          </a:xfrm>
          <a:prstGeom prst="rect">
            <a:avLst/>
          </a:prstGeom>
        </p:spPr>
        <p:txBody>
          <a:bodyPr vert="horz" lIns="91440" tIns="45720" rIns="91440" bIns="45720" rtlCol="0" anchor="b"/>
          <a:lstStyle>
            <a:lvl1pPr algn="r">
              <a:defRPr sz="1200"/>
            </a:lvl1pPr>
          </a:lstStyle>
          <a:p>
            <a:fld id="{BB1CA833-6E71-4E0E-A695-7044B802CCB2}" type="slidenum">
              <a:rPr lang="en-GB" smtClean="0"/>
              <a:t>‹#›</a:t>
            </a:fld>
            <a:endParaRPr lang="en-GB"/>
          </a:p>
        </p:txBody>
      </p:sp>
    </p:spTree>
    <p:extLst>
      <p:ext uri="{BB962C8B-B14F-4D97-AF65-F5344CB8AC3E}">
        <p14:creationId xmlns:p14="http://schemas.microsoft.com/office/powerpoint/2010/main" val="2019398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EF166FD4-870D-41D4-A76E-DC48774E844B}" type="datetimeFigureOut">
              <a:rPr lang="zh-CN" altLang="en-US" smtClean="0"/>
              <a:t>2026/9/10</a:t>
            </a:fld>
            <a:endParaRPr lang="zh-CN" altLang="en-US"/>
          </a:p>
        </p:txBody>
      </p:sp>
      <p:sp>
        <p:nvSpPr>
          <p:cNvPr id="4" name="幻灯片图像占位符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7B3B433F-8F9F-4754-B27A-D9BD2E9FA402}" type="slidenum">
              <a:rPr lang="zh-CN" altLang="en-US" smtClean="0"/>
              <a:t>‹#›</a:t>
            </a:fld>
            <a:endParaRPr lang="zh-CN" altLang="en-US"/>
          </a:p>
        </p:txBody>
      </p:sp>
    </p:spTree>
    <p:extLst>
      <p:ext uri="{BB962C8B-B14F-4D97-AF65-F5344CB8AC3E}">
        <p14:creationId xmlns:p14="http://schemas.microsoft.com/office/powerpoint/2010/main" val="206120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a:ln>
            <a:miter lim="800000"/>
            <a:headEnd/>
            <a:tailEnd/>
          </a:ln>
        </p:spPr>
        <p:txBody>
          <a:bodyPr/>
          <a:lstStyle/>
          <a:p>
            <a:fld id="{BD1D2248-7ACE-4DA8-A277-484640BF9F53}" type="slidenum">
              <a:rPr lang="en-US"/>
              <a:pPr/>
              <a:t>12</a:t>
            </a:fld>
            <a:endParaRPr lang="en-US"/>
          </a:p>
        </p:txBody>
      </p:sp>
      <p:sp>
        <p:nvSpPr>
          <p:cNvPr id="24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459"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226814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13</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82299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a:spLocks noGrp="1" noChangeArrowheads="1"/>
          </p:cNvSpPr>
          <p:nvPr>
            <p:ph type="sldNum" sz="quarter" idx="5"/>
          </p:nvPr>
        </p:nvSpPr>
        <p:spPr>
          <a:noFill/>
          <a:ln>
            <a:miter lim="800000"/>
            <a:headEnd/>
            <a:tailEnd/>
          </a:ln>
        </p:spPr>
        <p:txBody>
          <a:bodyPr/>
          <a:lstStyle/>
          <a:p>
            <a:fld id="{3C282CB5-E17B-4668-871A-9259B0A6665B}" type="slidenum">
              <a:rPr lang="en-US"/>
              <a:pPr/>
              <a:t>17</a:t>
            </a:fld>
            <a:endParaRPr lang="en-US"/>
          </a:p>
        </p:txBody>
      </p:sp>
      <p:sp>
        <p:nvSpPr>
          <p:cNvPr id="194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315" name="Rectangle 3"/>
          <p:cNvSpPr>
            <a:spLocks noGrp="1" noChangeArrowheads="1"/>
          </p:cNvSpPr>
          <p:nvPr>
            <p:ph type="body" idx="1"/>
          </p:nvPr>
        </p:nvSpPr>
        <p:spPr>
          <a:noFill/>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490874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8898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254291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322028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5E9AF5-9E42-4797-8204-53D663AF20F3}"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40985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5E9AF5-9E42-4797-8204-53D663AF20F3}" type="datetimeFigureOut">
              <a:rPr lang="en-US" smtClean="0"/>
              <a:pPr/>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6953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5E9AF5-9E42-4797-8204-53D663AF20F3}" type="datetimeFigureOut">
              <a:rPr lang="en-US" smtClean="0"/>
              <a:pPr/>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03399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5E9AF5-9E42-4797-8204-53D663AF20F3}" type="datetimeFigureOut">
              <a:rPr lang="en-US" smtClean="0"/>
              <a:pPr/>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5384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66981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79220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9824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2648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E9AF5-9E42-4797-8204-53D663AF20F3}" type="datetimeFigureOut">
              <a:rPr lang="en-US" smtClean="0"/>
              <a:pPr/>
              <a:t>9/10/2026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F05C8B-718F-4869-805E-863C3A552F10}" type="slidenum">
              <a:rPr lang="en-US" smtClean="0"/>
              <a:pPr/>
              <a:t>‹#›</a:t>
            </a:fld>
            <a:endParaRPr lang="en-US"/>
          </a:p>
        </p:txBody>
      </p:sp>
    </p:spTree>
    <p:extLst>
      <p:ext uri="{BB962C8B-B14F-4D97-AF65-F5344CB8AC3E}">
        <p14:creationId xmlns:p14="http://schemas.microsoft.com/office/powerpoint/2010/main" val="523264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chinasichuanfood.com/chongqing-noodle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ieeexplore.ieee.org/author/38276314600" TargetMode="External"/><Relationship Id="rId2" Type="http://schemas.openxmlformats.org/officeDocument/2006/relationships/hyperlink" Target="https://ieeexplore.ieee.org/author/37085529196" TargetMode="External"/><Relationship Id="rId1" Type="http://schemas.openxmlformats.org/officeDocument/2006/relationships/slideLayout" Target="../slideLayouts/slideLayout7.xml"/><Relationship Id="rId5" Type="http://schemas.openxmlformats.org/officeDocument/2006/relationships/hyperlink" Target="https://ieeexplore.ieee.org/author/37086362188" TargetMode="External"/><Relationship Id="rId4" Type="http://schemas.openxmlformats.org/officeDocument/2006/relationships/hyperlink" Target="https://ieeexplore.ieee.org/author/37273043000"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guides.libraries.indiana.edu/c.php?g=992698&amp;p=7182643"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a:t>Research Communication Skills</a:t>
            </a:r>
            <a:endParaRPr lang="en-US" dirty="0"/>
          </a:p>
        </p:txBody>
      </p:sp>
      <p:sp>
        <p:nvSpPr>
          <p:cNvPr id="3" name="Subtitle 2"/>
          <p:cNvSpPr>
            <a:spLocks noGrp="1"/>
          </p:cNvSpPr>
          <p:nvPr>
            <p:ph type="subTitle" idx="1"/>
          </p:nvPr>
        </p:nvSpPr>
        <p:spPr/>
        <p:txBody>
          <a:bodyPr/>
          <a:lstStyle/>
          <a:p>
            <a:r>
              <a:rPr lang="en-US" sz="3600" dirty="0"/>
              <a:t>Reading Research Papers</a:t>
            </a:r>
          </a:p>
        </p:txBody>
      </p:sp>
    </p:spTree>
    <p:extLst>
      <p:ext uri="{BB962C8B-B14F-4D97-AF65-F5344CB8AC3E}">
        <p14:creationId xmlns:p14="http://schemas.microsoft.com/office/powerpoint/2010/main" val="2408957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A48A7-6315-49DA-BF68-7C5512B9D027}"/>
              </a:ext>
            </a:extLst>
          </p:cNvPr>
          <p:cNvSpPr>
            <a:spLocks noGrp="1"/>
          </p:cNvSpPr>
          <p:nvPr>
            <p:ph type="title"/>
          </p:nvPr>
        </p:nvSpPr>
        <p:spPr/>
        <p:txBody>
          <a:bodyPr/>
          <a:lstStyle/>
          <a:p>
            <a:r>
              <a:rPr lang="en-US" dirty="0"/>
              <a:t>Review - A day of a researcher </a:t>
            </a:r>
          </a:p>
        </p:txBody>
      </p:sp>
      <p:sp>
        <p:nvSpPr>
          <p:cNvPr id="3" name="Content Placeholder 2">
            <a:extLst>
              <a:ext uri="{FF2B5EF4-FFF2-40B4-BE49-F238E27FC236}">
                <a16:creationId xmlns:a16="http://schemas.microsoft.com/office/drawing/2014/main" id="{4B252977-C287-468F-B890-3474608F18CA}"/>
              </a:ext>
            </a:extLst>
          </p:cNvPr>
          <p:cNvSpPr>
            <a:spLocks noGrp="1"/>
          </p:cNvSpPr>
          <p:nvPr>
            <p:ph idx="1"/>
          </p:nvPr>
        </p:nvSpPr>
        <p:spPr/>
        <p:txBody>
          <a:bodyPr>
            <a:normAutofit/>
          </a:bodyPr>
          <a:lstStyle/>
          <a:p>
            <a:pPr marL="0" indent="0">
              <a:buNone/>
            </a:pPr>
            <a:r>
              <a:rPr lang="en-US" sz="4800" dirty="0"/>
              <a:t>What activities do researchers do every day?</a:t>
            </a:r>
          </a:p>
        </p:txBody>
      </p:sp>
    </p:spTree>
    <p:extLst>
      <p:ext uri="{BB962C8B-B14F-4D97-AF65-F5344CB8AC3E}">
        <p14:creationId xmlns:p14="http://schemas.microsoft.com/office/powerpoint/2010/main" val="72787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0F4A7-AA51-4DA4-827A-E30E84C222AD}"/>
              </a:ext>
            </a:extLst>
          </p:cNvPr>
          <p:cNvSpPr>
            <a:spLocks noGrp="1"/>
          </p:cNvSpPr>
          <p:nvPr>
            <p:ph type="title"/>
          </p:nvPr>
        </p:nvSpPr>
        <p:spPr/>
        <p:txBody>
          <a:bodyPr/>
          <a:lstStyle/>
          <a:p>
            <a:r>
              <a:rPr lang="en-US" dirty="0"/>
              <a:t>How much time does a researcher spend reading papers?</a:t>
            </a:r>
          </a:p>
        </p:txBody>
      </p:sp>
      <p:sp>
        <p:nvSpPr>
          <p:cNvPr id="3" name="Content Placeholder 2">
            <a:extLst>
              <a:ext uri="{FF2B5EF4-FFF2-40B4-BE49-F238E27FC236}">
                <a16:creationId xmlns:a16="http://schemas.microsoft.com/office/drawing/2014/main" id="{9445CA01-CC57-4E65-B376-F06DF8AD5C4B}"/>
              </a:ext>
            </a:extLst>
          </p:cNvPr>
          <p:cNvSpPr>
            <a:spLocks noGrp="1"/>
          </p:cNvSpPr>
          <p:nvPr>
            <p:ph idx="1"/>
          </p:nvPr>
        </p:nvSpPr>
        <p:spPr/>
        <p:txBody>
          <a:bodyPr>
            <a:normAutofit/>
          </a:bodyPr>
          <a:lstStyle/>
          <a:p>
            <a:r>
              <a:rPr lang="en-GB" sz="4400" dirty="0">
                <a:solidFill>
                  <a:srgbClr val="00B050"/>
                </a:solidFill>
              </a:rPr>
              <a:t>“A typical researcher will likely spend hundreds of hours every year reading papers. </a:t>
            </a:r>
            <a:r>
              <a:rPr lang="en-GB" sz="4400">
                <a:solidFill>
                  <a:srgbClr val="00B050"/>
                </a:solidFill>
              </a:rPr>
              <a:t>“ </a:t>
            </a:r>
            <a:endParaRPr lang="en-GB" sz="4400" dirty="0">
              <a:solidFill>
                <a:srgbClr val="00B050"/>
              </a:solidFill>
            </a:endParaRPr>
          </a:p>
          <a:p>
            <a:pPr lvl="1"/>
            <a:r>
              <a:rPr lang="en-GB" sz="4000" dirty="0"/>
              <a:t>Keshav, S. (2007). How to read a paper. </a:t>
            </a:r>
            <a:r>
              <a:rPr lang="en-GB" sz="4000" i="1" dirty="0"/>
              <a:t>ACM SIGCOMM Computer Communication Review</a:t>
            </a:r>
            <a:r>
              <a:rPr lang="en-GB" sz="4000" dirty="0"/>
              <a:t>, </a:t>
            </a:r>
            <a:r>
              <a:rPr lang="en-GB" sz="4000" i="1" dirty="0"/>
              <a:t>37</a:t>
            </a:r>
            <a:r>
              <a:rPr lang="en-GB" sz="4000" dirty="0"/>
              <a:t>(3), 83–84.</a:t>
            </a:r>
            <a:endParaRPr lang="en-US" sz="4000" dirty="0"/>
          </a:p>
        </p:txBody>
      </p:sp>
    </p:spTree>
    <p:extLst>
      <p:ext uri="{BB962C8B-B14F-4D97-AF65-F5344CB8AC3E}">
        <p14:creationId xmlns:p14="http://schemas.microsoft.com/office/powerpoint/2010/main" val="92077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GB" dirty="0"/>
              <a:t>Have you ever read a research paper?</a:t>
            </a:r>
          </a:p>
        </p:txBody>
      </p:sp>
      <p:sp>
        <p:nvSpPr>
          <p:cNvPr id="4" name="副标题 3"/>
          <p:cNvSpPr>
            <a:spLocks noGrp="1"/>
          </p:cNvSpPr>
          <p:nvPr>
            <p:ph type="subTitle" idx="1"/>
          </p:nvPr>
        </p:nvSpPr>
        <p:spPr/>
        <p:txBody>
          <a:bodyPr/>
          <a:lstStyle/>
          <a:p>
            <a:endParaRPr lang="en-GB"/>
          </a:p>
        </p:txBody>
      </p:sp>
      <p:pic>
        <p:nvPicPr>
          <p:cNvPr id="5" name="Picture 2">
            <a:extLst>
              <a:ext uri="{FF2B5EF4-FFF2-40B4-BE49-F238E27FC236}">
                <a16:creationId xmlns:a16="http://schemas.microsoft.com/office/drawing/2014/main" id="{2118F61A-6DB6-4592-A272-E6089D46A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2322" y="3872204"/>
            <a:ext cx="6011522" cy="2817901"/>
          </a:xfrm>
          <a:prstGeom prst="rect">
            <a:avLst/>
          </a:prstGeom>
        </p:spPr>
      </p:pic>
    </p:spTree>
    <p:extLst>
      <p:ext uri="{BB962C8B-B14F-4D97-AF65-F5344CB8AC3E}">
        <p14:creationId xmlns:p14="http://schemas.microsoft.com/office/powerpoint/2010/main" val="35591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dirty="0"/>
              <a:t>Intended Learning Outcomes</a:t>
            </a:r>
          </a:p>
        </p:txBody>
      </p:sp>
      <p:sp>
        <p:nvSpPr>
          <p:cNvPr id="3" name="内容占位符 2"/>
          <p:cNvSpPr>
            <a:spLocks noGrp="1"/>
          </p:cNvSpPr>
          <p:nvPr>
            <p:ph idx="1"/>
          </p:nvPr>
        </p:nvSpPr>
        <p:spPr/>
        <p:txBody>
          <a:bodyPr>
            <a:normAutofit/>
          </a:bodyPr>
          <a:lstStyle/>
          <a:p>
            <a:r>
              <a:rPr lang="en-GB" sz="4000" dirty="0"/>
              <a:t>By the end of this lesson you will be able to:</a:t>
            </a:r>
          </a:p>
          <a:p>
            <a:pPr lvl="1"/>
            <a:r>
              <a:rPr lang="en-GB" sz="3600" dirty="0"/>
              <a:t>distinguish between different paper reading strategies</a:t>
            </a:r>
          </a:p>
          <a:p>
            <a:pPr lvl="1"/>
            <a:r>
              <a:rPr lang="en-GB" sz="3600" dirty="0"/>
              <a:t>figure out how to read the paper for different purposes</a:t>
            </a:r>
          </a:p>
          <a:p>
            <a:pPr lvl="1"/>
            <a:r>
              <a:rPr lang="en-GB" sz="3600" dirty="0"/>
              <a:t>read the paper quickly</a:t>
            </a:r>
          </a:p>
          <a:p>
            <a:pPr lvl="1"/>
            <a:r>
              <a:rPr lang="en-GB" sz="3600" dirty="0"/>
              <a:t>develop understanding of the paper</a:t>
            </a:r>
          </a:p>
          <a:p>
            <a:endParaRPr lang="en-GB" dirty="0"/>
          </a:p>
        </p:txBody>
      </p:sp>
    </p:spTree>
    <p:extLst>
      <p:ext uri="{BB962C8B-B14F-4D97-AF65-F5344CB8AC3E}">
        <p14:creationId xmlns:p14="http://schemas.microsoft.com/office/powerpoint/2010/main" val="6307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9DF8A-44B1-4FBB-8ABC-4383CA9852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5CADD1-A1C1-4442-B644-3767E084CCF1}"/>
              </a:ext>
            </a:extLst>
          </p:cNvPr>
          <p:cNvSpPr>
            <a:spLocks noGrp="1"/>
          </p:cNvSpPr>
          <p:nvPr>
            <p:ph idx="1"/>
          </p:nvPr>
        </p:nvSpPr>
        <p:spPr>
          <a:xfrm>
            <a:off x="838200" y="1835353"/>
            <a:ext cx="10515600" cy="4351338"/>
          </a:xfrm>
        </p:spPr>
        <p:txBody>
          <a:bodyPr>
            <a:normAutofit/>
          </a:bodyPr>
          <a:lstStyle/>
          <a:p>
            <a:r>
              <a:rPr lang="en-US" sz="4400" dirty="0"/>
              <a:t>Did you (try to) read the papers you found for your homework (or other papers)?</a:t>
            </a:r>
          </a:p>
        </p:txBody>
      </p:sp>
    </p:spTree>
    <p:extLst>
      <p:ext uri="{BB962C8B-B14F-4D97-AF65-F5344CB8AC3E}">
        <p14:creationId xmlns:p14="http://schemas.microsoft.com/office/powerpoint/2010/main" val="3234180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C3229-EF66-485F-808C-F0B89EF2202F}"/>
              </a:ext>
            </a:extLst>
          </p:cNvPr>
          <p:cNvSpPr>
            <a:spLocks noGrp="1"/>
          </p:cNvSpPr>
          <p:nvPr>
            <p:ph type="title"/>
          </p:nvPr>
        </p:nvSpPr>
        <p:spPr/>
        <p:txBody>
          <a:bodyPr/>
          <a:lstStyle/>
          <a:p>
            <a:r>
              <a:rPr lang="en-US" dirty="0"/>
              <a:t>Do you know how to read research papers?</a:t>
            </a:r>
          </a:p>
        </p:txBody>
      </p:sp>
      <p:sp>
        <p:nvSpPr>
          <p:cNvPr id="3" name="Content Placeholder 2">
            <a:extLst>
              <a:ext uri="{FF2B5EF4-FFF2-40B4-BE49-F238E27FC236}">
                <a16:creationId xmlns:a16="http://schemas.microsoft.com/office/drawing/2014/main" id="{6DFA1017-20ED-4CB2-A4C6-CAC06B49733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615365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6587D-A1B1-4A55-9DE6-34EF04AF91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2EF80D-BA4A-4F3E-B5ED-BC6006E9B3C8}"/>
              </a:ext>
            </a:extLst>
          </p:cNvPr>
          <p:cNvSpPr>
            <a:spLocks noGrp="1"/>
          </p:cNvSpPr>
          <p:nvPr>
            <p:ph idx="1"/>
          </p:nvPr>
        </p:nvSpPr>
        <p:spPr>
          <a:xfrm>
            <a:off x="838200" y="1835353"/>
            <a:ext cx="10515600" cy="4351338"/>
          </a:xfrm>
        </p:spPr>
        <p:txBody>
          <a:bodyPr>
            <a:normAutofit/>
          </a:bodyPr>
          <a:lstStyle/>
          <a:p>
            <a:r>
              <a:rPr lang="en-US" sz="4400" dirty="0"/>
              <a:t>What are YOUR difficulties in reading papers?</a:t>
            </a:r>
          </a:p>
        </p:txBody>
      </p:sp>
    </p:spTree>
    <p:extLst>
      <p:ext uri="{BB962C8B-B14F-4D97-AF65-F5344CB8AC3E}">
        <p14:creationId xmlns:p14="http://schemas.microsoft.com/office/powerpoint/2010/main" val="433851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A7702-D239-487A-B9D2-E7927D2BBF3C}"/>
              </a:ext>
            </a:extLst>
          </p:cNvPr>
          <p:cNvSpPr>
            <a:spLocks noGrp="1"/>
          </p:cNvSpPr>
          <p:nvPr>
            <p:ph type="title"/>
          </p:nvPr>
        </p:nvSpPr>
        <p:spPr/>
        <p:txBody>
          <a:bodyPr/>
          <a:lstStyle/>
          <a:p>
            <a:r>
              <a:rPr lang="en-GB" dirty="0"/>
              <a:t>Reading a research paper is different than other reading! </a:t>
            </a:r>
            <a:endParaRPr lang="en-US" dirty="0"/>
          </a:p>
        </p:txBody>
      </p:sp>
      <p:sp>
        <p:nvSpPr>
          <p:cNvPr id="3" name="Content Placeholder 2">
            <a:extLst>
              <a:ext uri="{FF2B5EF4-FFF2-40B4-BE49-F238E27FC236}">
                <a16:creationId xmlns:a16="http://schemas.microsoft.com/office/drawing/2014/main" id="{364E0D88-A123-41C2-8FC2-8FA22CC19508}"/>
              </a:ext>
            </a:extLst>
          </p:cNvPr>
          <p:cNvSpPr>
            <a:spLocks noGrp="1"/>
          </p:cNvSpPr>
          <p:nvPr>
            <p:ph idx="1"/>
          </p:nvPr>
        </p:nvSpPr>
        <p:spPr/>
        <p:txBody>
          <a:bodyPr>
            <a:normAutofit/>
          </a:bodyPr>
          <a:lstStyle/>
          <a:p>
            <a:r>
              <a:rPr lang="en-GB" sz="3600" dirty="0"/>
              <a:t>10 pages of news:  &lt; 10 minutes </a:t>
            </a:r>
          </a:p>
          <a:p>
            <a:r>
              <a:rPr lang="en-GB" sz="3600" dirty="0"/>
              <a:t>10 pages of fiction:  &lt; 20 minutes </a:t>
            </a:r>
          </a:p>
          <a:p>
            <a:r>
              <a:rPr lang="en-GB" sz="3600" dirty="0"/>
              <a:t>10 pages in a textbook:  &lt; 30 minutes</a:t>
            </a:r>
          </a:p>
          <a:p>
            <a:r>
              <a:rPr lang="en-GB" sz="3600" dirty="0"/>
              <a:t>10 page research paper:  20 minutes – several hours! </a:t>
            </a:r>
            <a:endParaRPr lang="en-US" sz="3600" dirty="0"/>
          </a:p>
        </p:txBody>
      </p:sp>
    </p:spTree>
    <p:extLst>
      <p:ext uri="{BB962C8B-B14F-4D97-AF65-F5344CB8AC3E}">
        <p14:creationId xmlns:p14="http://schemas.microsoft.com/office/powerpoint/2010/main" val="871769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C24A6-0F29-4940-A89D-E8BD80B9C9A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25A06EC-EF76-409E-9126-BA846A4651B4}"/>
              </a:ext>
            </a:extLst>
          </p:cNvPr>
          <p:cNvSpPr>
            <a:spLocks noGrp="1"/>
          </p:cNvSpPr>
          <p:nvPr>
            <p:ph idx="1"/>
          </p:nvPr>
        </p:nvSpPr>
        <p:spPr>
          <a:xfrm>
            <a:off x="838200" y="1835353"/>
            <a:ext cx="10515600" cy="4351338"/>
          </a:xfrm>
        </p:spPr>
        <p:txBody>
          <a:bodyPr>
            <a:normAutofit/>
          </a:bodyPr>
          <a:lstStyle/>
          <a:p>
            <a:pPr marL="0" indent="0">
              <a:buNone/>
            </a:pPr>
            <a:r>
              <a:rPr lang="en-US" sz="4400" dirty="0"/>
              <a:t>Is paper reading important?</a:t>
            </a:r>
          </a:p>
          <a:p>
            <a:pPr marL="0" indent="0">
              <a:buNone/>
            </a:pPr>
            <a:r>
              <a:rPr lang="en-US" sz="4400" dirty="0"/>
              <a:t>Or can we just work on our own ideas without worrying about what other researchers have done?</a:t>
            </a:r>
          </a:p>
          <a:p>
            <a:pPr marL="0" indent="0">
              <a:buNone/>
            </a:pPr>
            <a:endParaRPr lang="en-US" sz="4400" dirty="0"/>
          </a:p>
        </p:txBody>
      </p:sp>
    </p:spTree>
    <p:extLst>
      <p:ext uri="{BB962C8B-B14F-4D97-AF65-F5344CB8AC3E}">
        <p14:creationId xmlns:p14="http://schemas.microsoft.com/office/powerpoint/2010/main" val="4156536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one of the definitions of research</a:t>
            </a:r>
          </a:p>
        </p:txBody>
      </p:sp>
      <p:sp>
        <p:nvSpPr>
          <p:cNvPr id="3" name="Content Placeholder 2"/>
          <p:cNvSpPr>
            <a:spLocks noGrp="1"/>
          </p:cNvSpPr>
          <p:nvPr>
            <p:ph idx="1"/>
          </p:nvPr>
        </p:nvSpPr>
        <p:spPr/>
        <p:txBody>
          <a:bodyPr>
            <a:normAutofit/>
          </a:bodyPr>
          <a:lstStyle/>
          <a:p>
            <a:pPr marL="0" indent="0">
              <a:buNone/>
            </a:pPr>
            <a:r>
              <a:rPr lang="en-US" sz="4800" dirty="0"/>
              <a:t>Research - </a:t>
            </a:r>
            <a:r>
              <a:rPr lang="en-US" sz="4800" dirty="0">
                <a:solidFill>
                  <a:schemeClr val="bg1">
                    <a:lumMod val="50000"/>
                  </a:schemeClr>
                </a:solidFill>
              </a:rPr>
              <a:t>the activity of a </a:t>
            </a:r>
            <a:r>
              <a:rPr lang="en-US" sz="4800" dirty="0">
                <a:solidFill>
                  <a:srgbClr val="FF0000"/>
                </a:solidFill>
              </a:rPr>
              <a:t>diligent and systematic inquiry or investigation in an area</a:t>
            </a:r>
            <a:r>
              <a:rPr lang="en-US" sz="4800" dirty="0"/>
              <a:t>, </a:t>
            </a:r>
            <a:r>
              <a:rPr lang="en-US" sz="4800" dirty="0">
                <a:solidFill>
                  <a:schemeClr val="bg1">
                    <a:lumMod val="50000"/>
                  </a:schemeClr>
                </a:solidFill>
              </a:rPr>
              <a:t>with the objective of discovering or revising facts, theories, applications etc.  </a:t>
            </a:r>
          </a:p>
        </p:txBody>
      </p:sp>
    </p:spTree>
    <p:extLst>
      <p:ext uri="{BB962C8B-B14F-4D97-AF65-F5344CB8AC3E}">
        <p14:creationId xmlns:p14="http://schemas.microsoft.com/office/powerpoint/2010/main" val="3167158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defRPr/>
            </a:pPr>
            <a:r>
              <a:rPr lang="en-US" dirty="0">
                <a:ea typeface="+mj-ea"/>
              </a:rPr>
              <a:t>Recall Research Goals</a:t>
            </a:r>
          </a:p>
        </p:txBody>
      </p:sp>
      <p:sp>
        <p:nvSpPr>
          <p:cNvPr id="12291" name="Rectangle 3"/>
          <p:cNvSpPr>
            <a:spLocks noGrp="1" noChangeArrowheads="1"/>
          </p:cNvSpPr>
          <p:nvPr>
            <p:ph type="body" idx="1"/>
          </p:nvPr>
        </p:nvSpPr>
        <p:spPr/>
        <p:txBody>
          <a:bodyPr>
            <a:normAutofit/>
          </a:bodyPr>
          <a:lstStyle/>
          <a:p>
            <a:pPr eaLnBrk="1" hangingPunct="1"/>
            <a:r>
              <a:rPr lang="en-US" sz="4800" dirty="0">
                <a:solidFill>
                  <a:srgbClr val="FF0000"/>
                </a:solidFill>
              </a:rPr>
              <a:t>Deepen understanding of a topic</a:t>
            </a:r>
          </a:p>
          <a:p>
            <a:pPr eaLnBrk="1" hangingPunct="1"/>
            <a:r>
              <a:rPr lang="en-US" sz="4800" dirty="0">
                <a:solidFill>
                  <a:schemeClr val="bg1">
                    <a:lumMod val="50000"/>
                  </a:schemeClr>
                </a:solidFill>
              </a:rPr>
              <a:t>Contribute to the community</a:t>
            </a:r>
            <a:r>
              <a:rPr lang="ja-JP" altLang="en-US" sz="4800" dirty="0">
                <a:solidFill>
                  <a:schemeClr val="bg1">
                    <a:lumMod val="50000"/>
                  </a:schemeClr>
                </a:solidFill>
              </a:rPr>
              <a:t>’</a:t>
            </a:r>
            <a:r>
              <a:rPr lang="en-US" altLang="ja-JP" sz="4800" dirty="0">
                <a:solidFill>
                  <a:schemeClr val="bg1">
                    <a:lumMod val="50000"/>
                  </a:schemeClr>
                </a:solidFill>
              </a:rPr>
              <a:t>s understanding of a topic</a:t>
            </a:r>
          </a:p>
          <a:p>
            <a:r>
              <a:rPr lang="en-US" sz="4800" dirty="0">
                <a:solidFill>
                  <a:schemeClr val="bg1">
                    <a:lumMod val="50000"/>
                  </a:schemeClr>
                </a:solidFill>
              </a:rPr>
              <a:t>Discover and disseminate new knowledge</a:t>
            </a:r>
          </a:p>
          <a:p>
            <a:pPr eaLnBrk="1" hangingPunct="1"/>
            <a:endParaRPr lang="en-US" sz="4800" dirty="0"/>
          </a:p>
        </p:txBody>
      </p:sp>
    </p:spTree>
    <p:extLst>
      <p:ext uri="{BB962C8B-B14F-4D97-AF65-F5344CB8AC3E}">
        <p14:creationId xmlns:p14="http://schemas.microsoft.com/office/powerpoint/2010/main" val="593554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Recall Research Process	</a:t>
            </a:r>
          </a:p>
        </p:txBody>
      </p:sp>
      <p:sp>
        <p:nvSpPr>
          <p:cNvPr id="8195" name="Rectangle 3"/>
          <p:cNvSpPr>
            <a:spLocks noGrp="1" noChangeArrowheads="1"/>
          </p:cNvSpPr>
          <p:nvPr>
            <p:ph type="body" idx="1"/>
          </p:nvPr>
        </p:nvSpPr>
        <p:spPr/>
        <p:txBody>
          <a:bodyPr>
            <a:normAutofit/>
          </a:bodyPr>
          <a:lstStyle/>
          <a:p>
            <a:pPr eaLnBrk="1" hangingPunct="1">
              <a:buFont typeface="Wingdings" charset="0"/>
              <a:buChar char="w"/>
              <a:defRPr/>
            </a:pPr>
            <a:r>
              <a:rPr lang="en-US" sz="4000" dirty="0">
                <a:solidFill>
                  <a:srgbClr val="FF0000"/>
                </a:solidFill>
                <a:ea typeface="+mn-ea"/>
              </a:rPr>
              <a:t>Realize there is a problem</a:t>
            </a:r>
          </a:p>
          <a:p>
            <a:pPr eaLnBrk="1" hangingPunct="1">
              <a:buFont typeface="Wingdings" charset="0"/>
              <a:buChar char="w"/>
              <a:defRPr/>
            </a:pPr>
            <a:r>
              <a:rPr lang="en-US" sz="4000" dirty="0">
                <a:solidFill>
                  <a:srgbClr val="FF0000"/>
                </a:solidFill>
                <a:ea typeface="+mn-ea"/>
              </a:rPr>
              <a:t>Look to see if anyone has solved it</a:t>
            </a:r>
          </a:p>
          <a:p>
            <a:pPr eaLnBrk="1" hangingPunct="1">
              <a:buFont typeface="Wingdings" charset="0"/>
              <a:buChar char="w"/>
              <a:defRPr/>
            </a:pPr>
            <a:r>
              <a:rPr lang="en-US" sz="4000" dirty="0">
                <a:solidFill>
                  <a:schemeClr val="bg1">
                    <a:lumMod val="50000"/>
                  </a:schemeClr>
                </a:solidFill>
                <a:ea typeface="+mn-ea"/>
              </a:rPr>
              <a:t>Develop a plan to solve it</a:t>
            </a:r>
          </a:p>
          <a:p>
            <a:pPr eaLnBrk="1" hangingPunct="1">
              <a:buFont typeface="Wingdings" charset="0"/>
              <a:buChar char="w"/>
              <a:defRPr/>
            </a:pPr>
            <a:r>
              <a:rPr lang="en-US" sz="4000" dirty="0">
                <a:solidFill>
                  <a:schemeClr val="bg1">
                    <a:lumMod val="50000"/>
                  </a:schemeClr>
                </a:solidFill>
                <a:ea typeface="+mn-ea"/>
              </a:rPr>
              <a:t>Solve it</a:t>
            </a:r>
          </a:p>
          <a:p>
            <a:pPr eaLnBrk="1" hangingPunct="1">
              <a:buFont typeface="Wingdings" charset="0"/>
              <a:buChar char="w"/>
              <a:defRPr/>
            </a:pPr>
            <a:r>
              <a:rPr lang="en-US" sz="4000" dirty="0">
                <a:solidFill>
                  <a:schemeClr val="bg1">
                    <a:lumMod val="50000"/>
                  </a:schemeClr>
                </a:solidFill>
                <a:ea typeface="+mn-ea"/>
              </a:rPr>
              <a:t>Evaluate your solution</a:t>
            </a:r>
          </a:p>
          <a:p>
            <a:pPr eaLnBrk="1" hangingPunct="1">
              <a:buFont typeface="Wingdings" charset="0"/>
              <a:buChar char="w"/>
              <a:defRPr/>
            </a:pPr>
            <a:r>
              <a:rPr lang="en-US" sz="4000" dirty="0">
                <a:solidFill>
                  <a:schemeClr val="bg1">
                    <a:lumMod val="50000"/>
                  </a:schemeClr>
                </a:solidFill>
                <a:ea typeface="+mn-ea"/>
              </a:rPr>
              <a:t>Disseminate your solution</a:t>
            </a:r>
          </a:p>
        </p:txBody>
      </p:sp>
    </p:spTree>
    <p:extLst>
      <p:ext uri="{BB962C8B-B14F-4D97-AF65-F5344CB8AC3E}">
        <p14:creationId xmlns:p14="http://schemas.microsoft.com/office/powerpoint/2010/main" val="3087333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research papers </a:t>
            </a:r>
          </a:p>
        </p:txBody>
      </p:sp>
      <p:sp>
        <p:nvSpPr>
          <p:cNvPr id="3" name="Content Placeholder 2"/>
          <p:cNvSpPr>
            <a:spLocks noGrp="1"/>
          </p:cNvSpPr>
          <p:nvPr>
            <p:ph idx="1"/>
          </p:nvPr>
        </p:nvSpPr>
        <p:spPr/>
        <p:txBody>
          <a:bodyPr>
            <a:normAutofit/>
          </a:bodyPr>
          <a:lstStyle/>
          <a:p>
            <a:r>
              <a:rPr lang="en-US" sz="4800" dirty="0"/>
              <a:t>Reading research papers is important task during research, </a:t>
            </a:r>
            <a:r>
              <a:rPr lang="en-US" sz="4800" dirty="0">
                <a:solidFill>
                  <a:srgbClr val="00B050"/>
                </a:solidFill>
              </a:rPr>
              <a:t>especially in the early stages of the process</a:t>
            </a:r>
          </a:p>
          <a:p>
            <a:r>
              <a:rPr lang="en-US" sz="4800" dirty="0"/>
              <a:t>Before we  discuss reading research papers in details, let’s do some quick example </a:t>
            </a:r>
          </a:p>
        </p:txBody>
      </p:sp>
    </p:spTree>
    <p:extLst>
      <p:ext uri="{BB962C8B-B14F-4D97-AF65-F5344CB8AC3E}">
        <p14:creationId xmlns:p14="http://schemas.microsoft.com/office/powerpoint/2010/main" val="2233653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1E355-DD17-4591-9A67-7BB48D9092CC}"/>
              </a:ext>
            </a:extLst>
          </p:cNvPr>
          <p:cNvSpPr>
            <a:spLocks noGrp="1"/>
          </p:cNvSpPr>
          <p:nvPr>
            <p:ph type="title"/>
          </p:nvPr>
        </p:nvSpPr>
        <p:spPr/>
        <p:txBody>
          <a:bodyPr/>
          <a:lstStyle/>
          <a:p>
            <a:r>
              <a:rPr lang="en-US" dirty="0"/>
              <a:t>Reading for comprehension - activity   </a:t>
            </a:r>
          </a:p>
        </p:txBody>
      </p:sp>
      <p:sp>
        <p:nvSpPr>
          <p:cNvPr id="3" name="Content Placeholder 2">
            <a:extLst>
              <a:ext uri="{FF2B5EF4-FFF2-40B4-BE49-F238E27FC236}">
                <a16:creationId xmlns:a16="http://schemas.microsoft.com/office/drawing/2014/main" id="{2BCCF9FC-FB91-4BF6-8784-4C62E9AB87E2}"/>
              </a:ext>
            </a:extLst>
          </p:cNvPr>
          <p:cNvSpPr>
            <a:spLocks noGrp="1"/>
          </p:cNvSpPr>
          <p:nvPr>
            <p:ph idx="1"/>
          </p:nvPr>
        </p:nvSpPr>
        <p:spPr/>
        <p:txBody>
          <a:bodyPr>
            <a:normAutofit/>
          </a:bodyPr>
          <a:lstStyle/>
          <a:p>
            <a:r>
              <a:rPr lang="en-US" sz="2400" dirty="0">
                <a:hlinkClick r:id="rId2"/>
              </a:rPr>
              <a:t>https://www.chinasichuanfood.com/chongqing-noodles/</a:t>
            </a:r>
            <a:endParaRPr lang="en-US" sz="3600" dirty="0"/>
          </a:p>
          <a:p>
            <a:r>
              <a:rPr lang="en-US" sz="3600" dirty="0"/>
              <a:t>….. How quickly can we answer the following questions?</a:t>
            </a:r>
          </a:p>
          <a:p>
            <a:pPr lvl="1"/>
            <a:r>
              <a:rPr lang="en-US" sz="3200" dirty="0">
                <a:solidFill>
                  <a:srgbClr val="FF0000"/>
                </a:solidFill>
              </a:rPr>
              <a:t>Is this a recipe for a dessert or a breakfast meal?</a:t>
            </a:r>
          </a:p>
          <a:p>
            <a:pPr lvl="1"/>
            <a:r>
              <a:rPr lang="en-US" sz="3200" dirty="0">
                <a:solidFill>
                  <a:srgbClr val="FF0000"/>
                </a:solidFill>
              </a:rPr>
              <a:t>How much noodles do we need?</a:t>
            </a:r>
          </a:p>
          <a:p>
            <a:pPr lvl="1"/>
            <a:r>
              <a:rPr lang="en-US" sz="3200" dirty="0">
                <a:solidFill>
                  <a:srgbClr val="FF0000"/>
                </a:solidFill>
              </a:rPr>
              <a:t>How many calories per serving?</a:t>
            </a:r>
          </a:p>
        </p:txBody>
      </p:sp>
    </p:spTree>
    <p:extLst>
      <p:ext uri="{BB962C8B-B14F-4D97-AF65-F5344CB8AC3E}">
        <p14:creationId xmlns:p14="http://schemas.microsoft.com/office/powerpoint/2010/main" val="125922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3825"/>
            <a:ext cx="6115050" cy="6610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6191" y="3290888"/>
            <a:ext cx="6138863" cy="3443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1834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dirty="0">
                <a:ea typeface="+mj-ea"/>
              </a:rPr>
              <a:t>	</a:t>
            </a:r>
          </a:p>
        </p:txBody>
      </p:sp>
      <p:sp>
        <p:nvSpPr>
          <p:cNvPr id="8195" name="Rectangle 3"/>
          <p:cNvSpPr>
            <a:spLocks noGrp="1" noChangeArrowheads="1"/>
          </p:cNvSpPr>
          <p:nvPr>
            <p:ph type="body" idx="1"/>
          </p:nvPr>
        </p:nvSpPr>
        <p:spPr>
          <a:xfrm>
            <a:off x="838200" y="1825625"/>
            <a:ext cx="4543467" cy="4351338"/>
          </a:xfrm>
        </p:spPr>
        <p:txBody>
          <a:bodyPr>
            <a:normAutofit/>
          </a:bodyPr>
          <a:lstStyle/>
          <a:p>
            <a:pPr>
              <a:buFont typeface="Wingdings" charset="0"/>
              <a:buChar char="w"/>
              <a:defRPr/>
            </a:pPr>
            <a:r>
              <a:rPr lang="en-US" dirty="0"/>
              <a:t>Research Process </a:t>
            </a:r>
          </a:p>
          <a:p>
            <a:pPr lvl="1">
              <a:buFont typeface="Wingdings" charset="0"/>
              <a:buChar char="w"/>
              <a:defRPr/>
            </a:pPr>
            <a:r>
              <a:rPr lang="en-US" dirty="0"/>
              <a:t>Realize there is a problem</a:t>
            </a:r>
          </a:p>
          <a:p>
            <a:pPr lvl="1">
              <a:buFont typeface="Wingdings" charset="0"/>
              <a:buChar char="w"/>
              <a:defRPr/>
            </a:pPr>
            <a:r>
              <a:rPr lang="en-US" dirty="0"/>
              <a:t>Look to see </a:t>
            </a:r>
            <a:r>
              <a:rPr lang="en-US" dirty="0">
                <a:ea typeface="+mn-ea"/>
              </a:rPr>
              <a:t>if anyone has solved it</a:t>
            </a:r>
          </a:p>
          <a:p>
            <a:pPr lvl="1">
              <a:buFont typeface="Wingdings" charset="0"/>
              <a:buChar char="w"/>
              <a:defRPr/>
            </a:pPr>
            <a:r>
              <a:rPr lang="en-US" dirty="0">
                <a:ea typeface="+mn-ea"/>
              </a:rPr>
              <a:t>Develop a plan to solve it</a:t>
            </a:r>
          </a:p>
          <a:p>
            <a:pPr lvl="1">
              <a:buFont typeface="Wingdings" charset="0"/>
              <a:buChar char="w"/>
              <a:defRPr/>
            </a:pPr>
            <a:r>
              <a:rPr lang="en-US" dirty="0">
                <a:ea typeface="+mn-ea"/>
              </a:rPr>
              <a:t>Solve it</a:t>
            </a:r>
          </a:p>
          <a:p>
            <a:pPr lvl="1">
              <a:buFont typeface="Wingdings" charset="0"/>
              <a:buChar char="w"/>
              <a:defRPr/>
            </a:pPr>
            <a:r>
              <a:rPr lang="en-US" dirty="0">
                <a:solidFill>
                  <a:srgbClr val="FF0000"/>
                </a:solidFill>
                <a:ea typeface="+mn-ea"/>
              </a:rPr>
              <a:t>Evaluate your solution</a:t>
            </a:r>
          </a:p>
          <a:p>
            <a:pPr lvl="1">
              <a:buFont typeface="Wingdings" charset="0"/>
              <a:buChar char="w"/>
              <a:defRPr/>
            </a:pPr>
            <a:r>
              <a:rPr lang="en-US" dirty="0">
                <a:ea typeface="+mn-ea"/>
              </a:rPr>
              <a:t>Disseminate your solution</a:t>
            </a:r>
          </a:p>
        </p:txBody>
      </p:sp>
      <p:sp>
        <p:nvSpPr>
          <p:cNvPr id="2" name="文本框 1"/>
          <p:cNvSpPr txBox="1"/>
          <p:nvPr/>
        </p:nvSpPr>
        <p:spPr>
          <a:xfrm>
            <a:off x="5759778" y="3129699"/>
            <a:ext cx="5754278" cy="3170099"/>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GB" sz="4000" dirty="0">
                <a:solidFill>
                  <a:srgbClr val="7030A0"/>
                </a:solidFill>
              </a:rPr>
              <a:t>Find the section in the paper I have sent to our </a:t>
            </a:r>
            <a:r>
              <a:rPr lang="en-GB" sz="4000" dirty="0" err="1">
                <a:solidFill>
                  <a:srgbClr val="7030A0"/>
                </a:solidFill>
              </a:rPr>
              <a:t>WeChat</a:t>
            </a:r>
            <a:r>
              <a:rPr lang="en-GB" sz="4000">
                <a:solidFill>
                  <a:srgbClr val="7030A0"/>
                </a:solidFill>
              </a:rPr>
              <a:t> which </a:t>
            </a:r>
            <a:r>
              <a:rPr lang="en-GB" sz="4000" dirty="0">
                <a:solidFill>
                  <a:srgbClr val="7030A0"/>
                </a:solidFill>
              </a:rPr>
              <a:t>discusses evaluation of the proposed solution.</a:t>
            </a:r>
          </a:p>
        </p:txBody>
      </p:sp>
      <p:sp>
        <p:nvSpPr>
          <p:cNvPr id="5" name="Title 1">
            <a:extLst>
              <a:ext uri="{FF2B5EF4-FFF2-40B4-BE49-F238E27FC236}">
                <a16:creationId xmlns:a16="http://schemas.microsoft.com/office/drawing/2014/main" id="{BA01E355-DD17-4591-9A67-7BB48D9092CC}"/>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Reading for comprehension - activity   </a:t>
            </a:r>
            <a:endParaRPr lang="en-US" dirty="0"/>
          </a:p>
        </p:txBody>
      </p:sp>
    </p:spTree>
    <p:extLst>
      <p:ext uri="{BB962C8B-B14F-4D97-AF65-F5344CB8AC3E}">
        <p14:creationId xmlns:p14="http://schemas.microsoft.com/office/powerpoint/2010/main" val="376361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2E128-B449-4934-95C9-8BF9AA82FBD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49E91D2-4FF7-429F-B39A-2DB9A6603D68}"/>
              </a:ext>
            </a:extLst>
          </p:cNvPr>
          <p:cNvSpPr>
            <a:spLocks noGrp="1"/>
          </p:cNvSpPr>
          <p:nvPr>
            <p:ph idx="1"/>
          </p:nvPr>
        </p:nvSpPr>
        <p:spPr/>
        <p:txBody>
          <a:bodyPr/>
          <a:lstStyle/>
          <a:p>
            <a:r>
              <a:rPr lang="en-US" sz="3600" dirty="0"/>
              <a:t>Can we answer some of the questions without reading the text in detail?</a:t>
            </a:r>
          </a:p>
          <a:p>
            <a:pPr lvl="1"/>
            <a:r>
              <a:rPr lang="en-US" sz="3200" dirty="0"/>
              <a:t>But…. Can you copy the process of making this dish now?</a:t>
            </a:r>
          </a:p>
          <a:p>
            <a:pPr lvl="1"/>
            <a:r>
              <a:rPr lang="en-US" sz="3200" dirty="0"/>
              <a:t>Can you reproduce the experiments described in the research paper?</a:t>
            </a:r>
          </a:p>
          <a:p>
            <a:r>
              <a:rPr lang="en-US" sz="3600" dirty="0"/>
              <a:t>So… Does it make sense to read so quickly if at the end we do not know all the details?</a:t>
            </a:r>
          </a:p>
          <a:p>
            <a:endParaRPr lang="en-US" dirty="0"/>
          </a:p>
        </p:txBody>
      </p:sp>
    </p:spTree>
    <p:extLst>
      <p:ext uri="{BB962C8B-B14F-4D97-AF65-F5344CB8AC3E}">
        <p14:creationId xmlns:p14="http://schemas.microsoft.com/office/powerpoint/2010/main" val="21722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B2CC3-407B-4DEC-9B45-6866A46D112C}"/>
              </a:ext>
            </a:extLst>
          </p:cNvPr>
          <p:cNvSpPr>
            <a:spLocks noGrp="1"/>
          </p:cNvSpPr>
          <p:nvPr>
            <p:ph type="title"/>
          </p:nvPr>
        </p:nvSpPr>
        <p:spPr/>
        <p:txBody>
          <a:bodyPr/>
          <a:lstStyle/>
          <a:p>
            <a:r>
              <a:rPr lang="en-US" dirty="0"/>
              <a:t>Different purposes to read the paper (1) </a:t>
            </a:r>
          </a:p>
        </p:txBody>
      </p:sp>
      <p:sp>
        <p:nvSpPr>
          <p:cNvPr id="3" name="Content Placeholder 2">
            <a:extLst>
              <a:ext uri="{FF2B5EF4-FFF2-40B4-BE49-F238E27FC236}">
                <a16:creationId xmlns:a16="http://schemas.microsoft.com/office/drawing/2014/main" id="{9C207858-EA58-4CC7-AB6D-AA274A9E7E2F}"/>
              </a:ext>
            </a:extLst>
          </p:cNvPr>
          <p:cNvSpPr>
            <a:spLocks noGrp="1"/>
          </p:cNvSpPr>
          <p:nvPr>
            <p:ph idx="1"/>
          </p:nvPr>
        </p:nvSpPr>
        <p:spPr/>
        <p:txBody>
          <a:bodyPr>
            <a:noAutofit/>
          </a:bodyPr>
          <a:lstStyle/>
          <a:p>
            <a:r>
              <a:rPr lang="en-GB" sz="3600" dirty="0"/>
              <a:t>You need to review a paper for a conference or a class </a:t>
            </a:r>
            <a:endParaRPr lang="en-US" sz="3600" dirty="0"/>
          </a:p>
          <a:p>
            <a:r>
              <a:rPr lang="en-GB" sz="3600" dirty="0"/>
              <a:t>You want to be up-to-date on current research in your field</a:t>
            </a:r>
          </a:p>
          <a:p>
            <a:r>
              <a:rPr lang="en-GB" sz="3600" dirty="0"/>
              <a:t>You want to learn about a new field</a:t>
            </a:r>
          </a:p>
          <a:p>
            <a:pPr lvl="1"/>
            <a:r>
              <a:rPr lang="en-GB" sz="3200" dirty="0"/>
              <a:t>Learn about a sub-field</a:t>
            </a:r>
          </a:p>
          <a:p>
            <a:pPr lvl="1"/>
            <a:r>
              <a:rPr lang="en-GB" sz="3200" dirty="0"/>
              <a:t>Learn about another discipline that may offer solutions to a problem</a:t>
            </a:r>
          </a:p>
          <a:p>
            <a:r>
              <a:rPr lang="en-GB" sz="3600" dirty="0"/>
              <a:t>You want to find a problem to work on</a:t>
            </a:r>
          </a:p>
        </p:txBody>
      </p:sp>
    </p:spTree>
    <p:extLst>
      <p:ext uri="{BB962C8B-B14F-4D97-AF65-F5344CB8AC3E}">
        <p14:creationId xmlns:p14="http://schemas.microsoft.com/office/powerpoint/2010/main" val="1634745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B2CC3-407B-4DEC-9B45-6866A46D112C}"/>
              </a:ext>
            </a:extLst>
          </p:cNvPr>
          <p:cNvSpPr>
            <a:spLocks noGrp="1"/>
          </p:cNvSpPr>
          <p:nvPr>
            <p:ph type="title"/>
          </p:nvPr>
        </p:nvSpPr>
        <p:spPr/>
        <p:txBody>
          <a:bodyPr/>
          <a:lstStyle/>
          <a:p>
            <a:r>
              <a:rPr lang="en-US" dirty="0"/>
              <a:t>Different purposes to read the paper (2) </a:t>
            </a:r>
          </a:p>
        </p:txBody>
      </p:sp>
      <p:sp>
        <p:nvSpPr>
          <p:cNvPr id="3" name="Content Placeholder 2">
            <a:extLst>
              <a:ext uri="{FF2B5EF4-FFF2-40B4-BE49-F238E27FC236}">
                <a16:creationId xmlns:a16="http://schemas.microsoft.com/office/drawing/2014/main" id="{9C207858-EA58-4CC7-AB6D-AA274A9E7E2F}"/>
              </a:ext>
            </a:extLst>
          </p:cNvPr>
          <p:cNvSpPr>
            <a:spLocks noGrp="1"/>
          </p:cNvSpPr>
          <p:nvPr>
            <p:ph idx="1"/>
          </p:nvPr>
        </p:nvSpPr>
        <p:spPr/>
        <p:txBody>
          <a:bodyPr>
            <a:normAutofit/>
          </a:bodyPr>
          <a:lstStyle/>
          <a:p>
            <a:r>
              <a:rPr lang="en-GB" sz="3600" dirty="0"/>
              <a:t>You want to write a literature survey </a:t>
            </a:r>
          </a:p>
          <a:p>
            <a:r>
              <a:rPr lang="en-GB" sz="3600" dirty="0"/>
              <a:t>You want to replicate the results described in the paper (or extend them)</a:t>
            </a:r>
          </a:p>
          <a:p>
            <a:r>
              <a:rPr lang="en-GB" sz="3600" dirty="0"/>
              <a:t>The paper provides you with useful data</a:t>
            </a:r>
          </a:p>
          <a:p>
            <a:r>
              <a:rPr lang="en-GB" sz="3600" dirty="0"/>
              <a:t>The paper gives you « pre-digested » thoughts</a:t>
            </a:r>
          </a:p>
          <a:p>
            <a:r>
              <a:rPr lang="en-GB" sz="3600" dirty="0"/>
              <a:t>The paper teaches you how to write</a:t>
            </a:r>
          </a:p>
        </p:txBody>
      </p:sp>
    </p:spTree>
    <p:extLst>
      <p:ext uri="{BB962C8B-B14F-4D97-AF65-F5344CB8AC3E}">
        <p14:creationId xmlns:p14="http://schemas.microsoft.com/office/powerpoint/2010/main" val="316055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2B43-2172-4604-B79D-C1D0619EBF07}"/>
              </a:ext>
            </a:extLst>
          </p:cNvPr>
          <p:cNvSpPr>
            <a:spLocks noGrp="1"/>
          </p:cNvSpPr>
          <p:nvPr>
            <p:ph type="title"/>
          </p:nvPr>
        </p:nvSpPr>
        <p:spPr/>
        <p:txBody>
          <a:bodyPr/>
          <a:lstStyle/>
          <a:p>
            <a:r>
              <a:rPr lang="en-US" dirty="0"/>
              <a:t>Recall our example earlier</a:t>
            </a:r>
          </a:p>
        </p:txBody>
      </p:sp>
      <p:sp>
        <p:nvSpPr>
          <p:cNvPr id="3" name="Content Placeholder 2">
            <a:extLst>
              <a:ext uri="{FF2B5EF4-FFF2-40B4-BE49-F238E27FC236}">
                <a16:creationId xmlns:a16="http://schemas.microsoft.com/office/drawing/2014/main" id="{28A3537A-C7FB-4997-843B-2E836674FD4D}"/>
              </a:ext>
            </a:extLst>
          </p:cNvPr>
          <p:cNvSpPr>
            <a:spLocks noGrp="1"/>
          </p:cNvSpPr>
          <p:nvPr>
            <p:ph idx="1"/>
          </p:nvPr>
        </p:nvSpPr>
        <p:spPr/>
        <p:txBody>
          <a:bodyPr>
            <a:normAutofit/>
          </a:bodyPr>
          <a:lstStyle/>
          <a:p>
            <a:r>
              <a:rPr lang="en-US" sz="4400" dirty="0"/>
              <a:t>Why could you answer those questions faster than you estimated?</a:t>
            </a:r>
          </a:p>
          <a:p>
            <a:endParaRPr lang="en-US" sz="4400" dirty="0"/>
          </a:p>
        </p:txBody>
      </p:sp>
    </p:spTree>
    <p:extLst>
      <p:ext uri="{BB962C8B-B14F-4D97-AF65-F5344CB8AC3E}">
        <p14:creationId xmlns:p14="http://schemas.microsoft.com/office/powerpoint/2010/main" val="4132126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62EFB-5924-4070-999E-B865A61A79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9D62DB-1A26-4AE2-ACB6-D994BDC7A543}"/>
              </a:ext>
            </a:extLst>
          </p:cNvPr>
          <p:cNvSpPr>
            <a:spLocks noGrp="1"/>
          </p:cNvSpPr>
          <p:nvPr>
            <p:ph idx="1"/>
          </p:nvPr>
        </p:nvSpPr>
        <p:spPr/>
        <p:txBody>
          <a:bodyPr>
            <a:normAutofit/>
          </a:bodyPr>
          <a:lstStyle/>
          <a:p>
            <a:r>
              <a:rPr lang="en-US" sz="4400" dirty="0"/>
              <a:t>Standardization </a:t>
            </a:r>
          </a:p>
        </p:txBody>
      </p:sp>
    </p:spTree>
    <p:extLst>
      <p:ext uri="{BB962C8B-B14F-4D97-AF65-F5344CB8AC3E}">
        <p14:creationId xmlns:p14="http://schemas.microsoft.com/office/powerpoint/2010/main" val="3406254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p:cNvSpPr txBox="1">
            <a:spLocks noChangeArrowheads="1"/>
          </p:cNvSpPr>
          <p:nvPr/>
        </p:nvSpPr>
        <p:spPr bwMode="auto">
          <a:xfrm>
            <a:off x="1828800" y="242889"/>
            <a:ext cx="8458200" cy="769441"/>
          </a:xfrm>
          <a:prstGeom prst="rect">
            <a:avLst/>
          </a:prstGeom>
          <a:noFill/>
          <a:ln w="9525">
            <a:noFill/>
            <a:miter lim="800000"/>
            <a:headEnd/>
            <a:tailEnd/>
          </a:ln>
          <a:effectLst/>
        </p:spPr>
        <p:txBody>
          <a:bodyPr>
            <a:spAutoFit/>
          </a:bodyPr>
          <a:lstStyle/>
          <a:p>
            <a:pPr algn="ctr">
              <a:spcBef>
                <a:spcPct val="0"/>
              </a:spcBef>
            </a:pPr>
            <a:r>
              <a:rPr lang="en-US" sz="4400" dirty="0">
                <a:latin typeface="+mj-lt"/>
                <a:ea typeface="+mj-ea"/>
                <a:cs typeface="+mj-cs"/>
              </a:rPr>
              <a:t>Reading a Scientific Article</a:t>
            </a:r>
          </a:p>
        </p:txBody>
      </p:sp>
      <p:sp>
        <p:nvSpPr>
          <p:cNvPr id="2053" name="Text Box 5"/>
          <p:cNvSpPr txBox="1">
            <a:spLocks noChangeArrowheads="1"/>
          </p:cNvSpPr>
          <p:nvPr/>
        </p:nvSpPr>
        <p:spPr bwMode="auto">
          <a:xfrm>
            <a:off x="544749" y="1786750"/>
            <a:ext cx="10632332" cy="2123658"/>
          </a:xfrm>
          <a:prstGeom prst="rect">
            <a:avLst/>
          </a:prstGeom>
          <a:noFill/>
          <a:ln w="9525">
            <a:noFill/>
            <a:miter lim="800000"/>
            <a:headEnd/>
            <a:tailEnd/>
          </a:ln>
          <a:effectLst/>
        </p:spPr>
        <p:txBody>
          <a:bodyPr wrap="square">
            <a:spAutoFit/>
          </a:bodyPr>
          <a:lstStyle/>
          <a:p>
            <a:pPr>
              <a:spcBef>
                <a:spcPct val="50000"/>
              </a:spcBef>
              <a:buFontTx/>
              <a:buChar char="•"/>
            </a:pPr>
            <a:r>
              <a:rPr lang="en-US" sz="4400" dirty="0"/>
              <a:t>To </a:t>
            </a:r>
            <a:r>
              <a:rPr lang="en-US" sz="4400" u="sng" dirty="0"/>
              <a:t>comprehend</a:t>
            </a:r>
            <a:r>
              <a:rPr lang="en-US" sz="4400" dirty="0"/>
              <a:t> the article you must understand the main points of each major article section.</a:t>
            </a:r>
          </a:p>
        </p:txBody>
      </p:sp>
    </p:spTree>
    <p:extLst>
      <p:ext uri="{BB962C8B-B14F-4D97-AF65-F5344CB8AC3E}">
        <p14:creationId xmlns:p14="http://schemas.microsoft.com/office/powerpoint/2010/main" val="760191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7E6A3-CD6B-4886-A77C-86149E9CEFE3}"/>
              </a:ext>
            </a:extLst>
          </p:cNvPr>
          <p:cNvSpPr>
            <a:spLocks noGrp="1"/>
          </p:cNvSpPr>
          <p:nvPr>
            <p:ph type="title"/>
          </p:nvPr>
        </p:nvSpPr>
        <p:spPr/>
        <p:txBody>
          <a:bodyPr/>
          <a:lstStyle/>
          <a:p>
            <a:r>
              <a:rPr lang="en-US" dirty="0"/>
              <a:t>What are the common sections in a research article?</a:t>
            </a:r>
          </a:p>
        </p:txBody>
      </p:sp>
      <p:sp>
        <p:nvSpPr>
          <p:cNvPr id="3" name="Content Placeholder 2">
            <a:extLst>
              <a:ext uri="{FF2B5EF4-FFF2-40B4-BE49-F238E27FC236}">
                <a16:creationId xmlns:a16="http://schemas.microsoft.com/office/drawing/2014/main" id="{3C13A4B8-9EE0-482D-8E41-82E93CFE5F4A}"/>
              </a:ext>
            </a:extLst>
          </p:cNvPr>
          <p:cNvSpPr>
            <a:spLocks noGrp="1"/>
          </p:cNvSpPr>
          <p:nvPr>
            <p:ph idx="1"/>
          </p:nvPr>
        </p:nvSpPr>
        <p:spPr/>
        <p:txBody>
          <a:bodyPr>
            <a:normAutofit/>
          </a:bodyPr>
          <a:lstStyle/>
          <a:p>
            <a:r>
              <a:rPr lang="en-US" sz="3600" dirty="0"/>
              <a:t>      </a:t>
            </a:r>
          </a:p>
          <a:p>
            <a:endParaRPr lang="en-US" sz="3600" dirty="0"/>
          </a:p>
          <a:p>
            <a:endParaRPr lang="en-US" sz="3600" dirty="0"/>
          </a:p>
          <a:p>
            <a:endParaRPr lang="en-US" sz="3600" dirty="0"/>
          </a:p>
          <a:p>
            <a:endParaRPr lang="en-US" sz="3600" dirty="0"/>
          </a:p>
        </p:txBody>
      </p:sp>
    </p:spTree>
    <p:extLst>
      <p:ext uri="{BB962C8B-B14F-4D97-AF65-F5344CB8AC3E}">
        <p14:creationId xmlns:p14="http://schemas.microsoft.com/office/powerpoint/2010/main" val="3072950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Sections of the Research Paper</a:t>
            </a:r>
          </a:p>
        </p:txBody>
      </p:sp>
      <p:sp>
        <p:nvSpPr>
          <p:cNvPr id="3" name="Content Placeholder 2"/>
          <p:cNvSpPr>
            <a:spLocks noGrp="1"/>
          </p:cNvSpPr>
          <p:nvPr>
            <p:ph sz="half" idx="1"/>
          </p:nvPr>
        </p:nvSpPr>
        <p:spPr>
          <a:xfrm>
            <a:off x="838200" y="1514337"/>
            <a:ext cx="5181600" cy="4351338"/>
          </a:xfrm>
        </p:spPr>
        <p:txBody>
          <a:bodyPr>
            <a:noAutofit/>
          </a:bodyPr>
          <a:lstStyle/>
          <a:p>
            <a:r>
              <a:rPr lang="en-US" sz="2400" dirty="0"/>
              <a:t>Title</a:t>
            </a:r>
          </a:p>
          <a:p>
            <a:r>
              <a:rPr lang="en-US" sz="2400" dirty="0"/>
              <a:t>Introduction</a:t>
            </a:r>
          </a:p>
          <a:p>
            <a:r>
              <a:rPr lang="en-US" sz="2400" dirty="0"/>
              <a:t>Abstract</a:t>
            </a:r>
          </a:p>
          <a:p>
            <a:r>
              <a:rPr lang="en-US" sz="2400" dirty="0"/>
              <a:t>State of the Art/Literature Review/Related Works </a:t>
            </a:r>
          </a:p>
          <a:p>
            <a:r>
              <a:rPr lang="en-US" sz="2400" dirty="0"/>
              <a:t>Problem Motivation</a:t>
            </a:r>
          </a:p>
          <a:p>
            <a:r>
              <a:rPr lang="en-US" sz="2400" dirty="0"/>
              <a:t>Solution/Proposed Approach</a:t>
            </a:r>
          </a:p>
          <a:p>
            <a:r>
              <a:rPr lang="en-US" sz="2400" dirty="0"/>
              <a:t>Proof/Evaluation/Discussion</a:t>
            </a:r>
          </a:p>
          <a:p>
            <a:r>
              <a:rPr lang="en-US" sz="2400" dirty="0"/>
              <a:t>Conclusion/Summary/ </a:t>
            </a:r>
          </a:p>
          <a:p>
            <a:r>
              <a:rPr lang="en-US" sz="2400" dirty="0"/>
              <a:t>Future Work</a:t>
            </a:r>
          </a:p>
          <a:p>
            <a:r>
              <a:rPr lang="en-US" sz="2400" dirty="0"/>
              <a:t>Acknowledgments</a:t>
            </a:r>
          </a:p>
          <a:p>
            <a:r>
              <a:rPr lang="en-US" sz="2400" dirty="0"/>
              <a:t>References</a:t>
            </a:r>
          </a:p>
          <a:p>
            <a:endParaRPr lang="en-US" sz="2400" dirty="0"/>
          </a:p>
        </p:txBody>
      </p:sp>
      <p:sp>
        <p:nvSpPr>
          <p:cNvPr id="5" name="Content Placeholder 4">
            <a:extLst>
              <a:ext uri="{FF2B5EF4-FFF2-40B4-BE49-F238E27FC236}">
                <a16:creationId xmlns:a16="http://schemas.microsoft.com/office/drawing/2014/main" id="{D6FF6E9D-67CC-4E4E-B186-AC27E41FFA4D}"/>
              </a:ext>
            </a:extLst>
          </p:cNvPr>
          <p:cNvSpPr>
            <a:spLocks noGrp="1"/>
          </p:cNvSpPr>
          <p:nvPr>
            <p:ph sz="half" idx="2"/>
          </p:nvPr>
        </p:nvSpPr>
        <p:spPr/>
        <p:txBody>
          <a:bodyPr>
            <a:normAutofit/>
          </a:bodyPr>
          <a:lstStyle/>
          <a:p>
            <a:r>
              <a:rPr lang="en-US" i="1" dirty="0">
                <a:solidFill>
                  <a:srgbClr val="FF0000"/>
                </a:solidFill>
              </a:rPr>
              <a:t>These items do not necessarily have their own section and some of them might be combined, e.g., state of the art and problem motivation.</a:t>
            </a:r>
          </a:p>
          <a:p>
            <a:r>
              <a:rPr lang="en-US" i="1" dirty="0">
                <a:solidFill>
                  <a:srgbClr val="FF0000"/>
                </a:solidFill>
              </a:rPr>
              <a:t>Survey papers will have some differences as well – we will discuss it soon</a:t>
            </a:r>
          </a:p>
          <a:p>
            <a:endParaRPr lang="en-US" dirty="0"/>
          </a:p>
        </p:txBody>
      </p:sp>
      <p:sp>
        <p:nvSpPr>
          <p:cNvPr id="4" name="TextBox 3">
            <a:extLst>
              <a:ext uri="{FF2B5EF4-FFF2-40B4-BE49-F238E27FC236}">
                <a16:creationId xmlns:a16="http://schemas.microsoft.com/office/drawing/2014/main" id="{55B2A895-441B-4479-A643-568555EF4D6E}"/>
              </a:ext>
            </a:extLst>
          </p:cNvPr>
          <p:cNvSpPr txBox="1"/>
          <p:nvPr/>
        </p:nvSpPr>
        <p:spPr>
          <a:xfrm>
            <a:off x="8813260" y="265693"/>
            <a:ext cx="3200401" cy="1200329"/>
          </a:xfrm>
          <a:prstGeom prst="rect">
            <a:avLst/>
          </a:prstGeom>
          <a:noFill/>
        </p:spPr>
        <p:txBody>
          <a:bodyPr wrap="square" rtlCol="0">
            <a:spAutoFit/>
          </a:bodyPr>
          <a:lstStyle/>
          <a:p>
            <a:r>
              <a:rPr lang="en-US" sz="2400" dirty="0">
                <a:solidFill>
                  <a:srgbClr val="00B050"/>
                </a:solidFill>
              </a:rPr>
              <a:t>Are the sections in any of your papers different than those listed here?</a:t>
            </a:r>
          </a:p>
        </p:txBody>
      </p:sp>
    </p:spTree>
    <p:extLst>
      <p:ext uri="{BB962C8B-B14F-4D97-AF65-F5344CB8AC3E}">
        <p14:creationId xmlns:p14="http://schemas.microsoft.com/office/powerpoint/2010/main" val="1439353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Research paper structure</a:t>
            </a:r>
          </a:p>
        </p:txBody>
      </p:sp>
      <p:sp>
        <p:nvSpPr>
          <p:cNvPr id="6" name="Content Placeholder 5"/>
          <p:cNvSpPr>
            <a:spLocks noGrp="1"/>
          </p:cNvSpPr>
          <p:nvPr>
            <p:ph idx="1"/>
          </p:nvPr>
        </p:nvSpPr>
        <p:spPr/>
        <p:txBody>
          <a:bodyPr>
            <a:normAutofit fontScale="92500" lnSpcReduction="20000"/>
            <a:scene3d>
              <a:camera prst="orthographicFront"/>
              <a:lightRig rig="threePt" dir="t"/>
            </a:scene3d>
            <a:sp3d extrusionH="57150">
              <a:bevelT w="38100" h="38100"/>
            </a:sp3d>
          </a:bodyPr>
          <a:lstStyle/>
          <a:p>
            <a:r>
              <a:rPr lang="en-GB" sz="4400" dirty="0"/>
              <a:t>Most journals use a conventional </a:t>
            </a:r>
            <a:r>
              <a:rPr lang="en-GB" sz="5400" b="1" dirty="0">
                <a:solidFill>
                  <a:srgbClr val="FF0000"/>
                </a:solidFill>
                <a:effectLst>
                  <a:outerShdw blurRad="38100" dist="38100" dir="2700000" algn="tl">
                    <a:srgbClr val="000000">
                      <a:alpha val="43137"/>
                    </a:srgbClr>
                  </a:outerShdw>
                </a:effectLst>
              </a:rPr>
              <a:t>IMRD</a:t>
            </a:r>
            <a:r>
              <a:rPr lang="en-GB" sz="4400" dirty="0"/>
              <a:t> structure: </a:t>
            </a:r>
          </a:p>
          <a:p>
            <a:pPr lvl="1"/>
            <a:r>
              <a:rPr lang="en-GB" sz="4000" dirty="0"/>
              <a:t>An</a:t>
            </a:r>
            <a:r>
              <a:rPr lang="en-GB" sz="3500" dirty="0"/>
              <a:t> </a:t>
            </a:r>
            <a:r>
              <a:rPr lang="en-GB" sz="4000" b="1" dirty="0">
                <a:solidFill>
                  <a:srgbClr val="FF0000"/>
                </a:solidFill>
                <a:effectLst>
                  <a:outerShdw blurRad="38100" dist="38100" dir="2700000" algn="tl">
                    <a:srgbClr val="000000">
                      <a:alpha val="43137"/>
                    </a:srgbClr>
                  </a:outerShdw>
                </a:effectLst>
              </a:rPr>
              <a:t>abstract</a:t>
            </a:r>
            <a:r>
              <a:rPr lang="en-GB" sz="3500" dirty="0"/>
              <a:t> </a:t>
            </a:r>
            <a:r>
              <a:rPr lang="en-GB" sz="4000" dirty="0"/>
              <a:t>followed by </a:t>
            </a:r>
          </a:p>
          <a:p>
            <a:pPr lvl="2"/>
            <a:r>
              <a:rPr lang="en-GB" sz="5400" b="1" dirty="0">
                <a:solidFill>
                  <a:srgbClr val="FF0000"/>
                </a:solidFill>
                <a:effectLst>
                  <a:outerShdw blurRad="38100" dist="38100" dir="2700000" algn="tl">
                    <a:srgbClr val="000000">
                      <a:alpha val="43137"/>
                    </a:srgbClr>
                  </a:outerShdw>
                </a:effectLst>
              </a:rPr>
              <a:t>I</a:t>
            </a:r>
            <a:r>
              <a:rPr lang="en-GB" sz="3600" dirty="0"/>
              <a:t>ntroduction</a:t>
            </a:r>
          </a:p>
          <a:p>
            <a:pPr lvl="2"/>
            <a:r>
              <a:rPr lang="en-GB" sz="5400" b="1" dirty="0">
                <a:solidFill>
                  <a:srgbClr val="FF0000"/>
                </a:solidFill>
                <a:effectLst>
                  <a:outerShdw blurRad="38100" dist="38100" dir="2700000" algn="tl">
                    <a:srgbClr val="000000">
                      <a:alpha val="43137"/>
                    </a:srgbClr>
                  </a:outerShdw>
                </a:effectLst>
              </a:rPr>
              <a:t>M</a:t>
            </a:r>
            <a:r>
              <a:rPr lang="en-GB" sz="3600" dirty="0"/>
              <a:t>ethods</a:t>
            </a:r>
          </a:p>
          <a:p>
            <a:pPr lvl="2"/>
            <a:r>
              <a:rPr lang="en-GB" sz="5400" b="1" dirty="0">
                <a:solidFill>
                  <a:srgbClr val="FF0000"/>
                </a:solidFill>
                <a:effectLst>
                  <a:outerShdw blurRad="38100" dist="38100" dir="2700000" algn="tl">
                    <a:srgbClr val="000000">
                      <a:alpha val="43137"/>
                    </a:srgbClr>
                  </a:outerShdw>
                </a:effectLst>
              </a:rPr>
              <a:t>R</a:t>
            </a:r>
            <a:r>
              <a:rPr lang="en-GB" sz="3600" dirty="0"/>
              <a:t>esults</a:t>
            </a:r>
          </a:p>
          <a:p>
            <a:pPr lvl="2"/>
            <a:r>
              <a:rPr lang="en-GB" sz="5800" b="1" dirty="0">
                <a:solidFill>
                  <a:srgbClr val="FF0000"/>
                </a:solidFill>
                <a:effectLst>
                  <a:outerShdw blurRad="38100" dist="38100" dir="2700000" algn="tl">
                    <a:srgbClr val="000000">
                      <a:alpha val="43137"/>
                    </a:srgbClr>
                  </a:outerShdw>
                </a:effectLst>
              </a:rPr>
              <a:t>D</a:t>
            </a:r>
            <a:r>
              <a:rPr lang="en-GB" sz="3600" dirty="0"/>
              <a:t>iscussion</a:t>
            </a:r>
          </a:p>
        </p:txBody>
      </p:sp>
    </p:spTree>
    <p:extLst>
      <p:ext uri="{BB962C8B-B14F-4D97-AF65-F5344CB8AC3E}">
        <p14:creationId xmlns:p14="http://schemas.microsoft.com/office/powerpoint/2010/main" val="3154661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4"/>
          <p:cNvSpPr txBox="1">
            <a:spLocks noChangeArrowheads="1"/>
          </p:cNvSpPr>
          <p:nvPr/>
        </p:nvSpPr>
        <p:spPr bwMode="auto">
          <a:xfrm>
            <a:off x="1828800" y="381001"/>
            <a:ext cx="8382000" cy="769441"/>
          </a:xfrm>
          <a:prstGeom prst="rect">
            <a:avLst/>
          </a:prstGeom>
          <a:noFill/>
          <a:ln w="9525">
            <a:noFill/>
            <a:miter lim="800000"/>
            <a:headEnd/>
            <a:tailEnd/>
          </a:ln>
          <a:effectLst/>
        </p:spPr>
        <p:txBody>
          <a:bodyPr>
            <a:spAutoFit/>
          </a:bodyPr>
          <a:lstStyle/>
          <a:p>
            <a:pPr algn="ctr">
              <a:spcBef>
                <a:spcPct val="0"/>
              </a:spcBef>
            </a:pPr>
            <a:r>
              <a:rPr lang="en-US" sz="4400" dirty="0">
                <a:latin typeface="+mj-lt"/>
                <a:ea typeface="+mj-ea"/>
                <a:cs typeface="+mj-cs"/>
              </a:rPr>
              <a:t>Abstract</a:t>
            </a:r>
          </a:p>
        </p:txBody>
      </p:sp>
      <p:sp>
        <p:nvSpPr>
          <p:cNvPr id="3079" name="Text Box 7"/>
          <p:cNvSpPr txBox="1">
            <a:spLocks noChangeArrowheads="1"/>
          </p:cNvSpPr>
          <p:nvPr/>
        </p:nvSpPr>
        <p:spPr bwMode="auto">
          <a:xfrm>
            <a:off x="583659" y="1981200"/>
            <a:ext cx="10710153" cy="2554545"/>
          </a:xfrm>
          <a:prstGeom prst="rect">
            <a:avLst/>
          </a:prstGeom>
          <a:noFill/>
          <a:ln w="9525">
            <a:noFill/>
            <a:miter lim="800000"/>
            <a:headEnd/>
            <a:tailEnd/>
          </a:ln>
          <a:effectLst/>
        </p:spPr>
        <p:txBody>
          <a:bodyPr wrap="square">
            <a:spAutoFit/>
          </a:bodyPr>
          <a:lstStyle/>
          <a:p>
            <a:r>
              <a:rPr lang="en-US" sz="3200" dirty="0"/>
              <a:t>A paper begins with a short </a:t>
            </a:r>
            <a:r>
              <a:rPr lang="en-US" sz="3200" b="1" dirty="0"/>
              <a:t>Summary</a:t>
            </a:r>
            <a:r>
              <a:rPr lang="en-US" sz="3200" dirty="0"/>
              <a:t> or </a:t>
            </a:r>
            <a:r>
              <a:rPr lang="en-US" sz="3200" b="1" dirty="0"/>
              <a:t>Abstract</a:t>
            </a:r>
            <a:r>
              <a:rPr lang="en-US" sz="3200" dirty="0"/>
              <a:t>. Generally, it gives a brief background to the topic; describes concisely the major findings of the paper; and relates these findings to the field of study. Abstracts generally include information from all of the paper’s major sections.</a:t>
            </a:r>
          </a:p>
        </p:txBody>
      </p:sp>
      <p:sp>
        <p:nvSpPr>
          <p:cNvPr id="3080" name="Text Box 8"/>
          <p:cNvSpPr txBox="1">
            <a:spLocks noChangeArrowheads="1"/>
          </p:cNvSpPr>
          <p:nvPr/>
        </p:nvSpPr>
        <p:spPr bwMode="auto">
          <a:xfrm>
            <a:off x="1230549" y="5071354"/>
            <a:ext cx="9820072" cy="1200329"/>
          </a:xfrm>
          <a:prstGeom prst="rect">
            <a:avLst/>
          </a:prstGeom>
          <a:noFill/>
          <a:ln w="9525">
            <a:noFill/>
            <a:miter lim="800000"/>
            <a:headEnd/>
            <a:tailEnd/>
          </a:ln>
          <a:effectLst/>
        </p:spPr>
        <p:txBody>
          <a:bodyPr wrap="square">
            <a:spAutoFit/>
          </a:bodyPr>
          <a:lstStyle/>
          <a:p>
            <a:pPr>
              <a:spcBef>
                <a:spcPct val="50000"/>
              </a:spcBef>
            </a:pPr>
            <a:r>
              <a:rPr lang="en-US" sz="2400" dirty="0">
                <a:solidFill>
                  <a:srgbClr val="CC3300"/>
                </a:solidFill>
              </a:rPr>
              <a:t>Many researchers always read the abstract before reading the paper. The abstract gives an overview of all the article’s sections and provides a short introduction to the entire article.</a:t>
            </a:r>
          </a:p>
        </p:txBody>
      </p:sp>
    </p:spTree>
    <p:extLst>
      <p:ext uri="{BB962C8B-B14F-4D97-AF65-F5344CB8AC3E}">
        <p14:creationId xmlns:p14="http://schemas.microsoft.com/office/powerpoint/2010/main" val="2751020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dirty="0"/>
              <a:t>Abstract</a:t>
            </a:r>
          </a:p>
        </p:txBody>
      </p:sp>
      <p:sp>
        <p:nvSpPr>
          <p:cNvPr id="5" name="Content Placeholder 4"/>
          <p:cNvSpPr>
            <a:spLocks noGrp="1"/>
          </p:cNvSpPr>
          <p:nvPr>
            <p:ph idx="1"/>
          </p:nvPr>
        </p:nvSpPr>
        <p:spPr/>
        <p:txBody>
          <a:bodyPr>
            <a:normAutofit/>
          </a:bodyPr>
          <a:lstStyle/>
          <a:p>
            <a:r>
              <a:rPr lang="en-GB" sz="4000" dirty="0"/>
              <a:t>Abstracts usually contain four kinds of information:</a:t>
            </a:r>
          </a:p>
          <a:p>
            <a:pPr lvl="1"/>
            <a:r>
              <a:rPr lang="en-GB" sz="3600" dirty="0"/>
              <a:t>purpose or rationale of study (why they did it)</a:t>
            </a:r>
          </a:p>
          <a:p>
            <a:pPr lvl="1"/>
            <a:r>
              <a:rPr lang="en-GB" sz="3600" dirty="0"/>
              <a:t>methodology (how they did it)</a:t>
            </a:r>
          </a:p>
          <a:p>
            <a:pPr lvl="1"/>
            <a:r>
              <a:rPr lang="en-GB" sz="3600" dirty="0"/>
              <a:t>results (what they found)</a:t>
            </a:r>
          </a:p>
          <a:p>
            <a:pPr lvl="1"/>
            <a:r>
              <a:rPr lang="en-GB" sz="3600" dirty="0"/>
              <a:t>conclusion (what it means)</a:t>
            </a:r>
          </a:p>
        </p:txBody>
      </p:sp>
    </p:spTree>
    <p:extLst>
      <p:ext uri="{BB962C8B-B14F-4D97-AF65-F5344CB8AC3E}">
        <p14:creationId xmlns:p14="http://schemas.microsoft.com/office/powerpoint/2010/main" val="1325389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52A4-5BE6-4AC2-B718-EFCEF5697888}"/>
              </a:ext>
            </a:extLst>
          </p:cNvPr>
          <p:cNvSpPr>
            <a:spLocks noGrp="1"/>
          </p:cNvSpPr>
          <p:nvPr>
            <p:ph type="title"/>
          </p:nvPr>
        </p:nvSpPr>
        <p:spPr/>
        <p:txBody>
          <a:bodyPr/>
          <a:lstStyle/>
          <a:p>
            <a:r>
              <a:rPr lang="en-GB" dirty="0"/>
              <a:t>Exercise 1</a:t>
            </a:r>
          </a:p>
        </p:txBody>
      </p:sp>
      <p:sp>
        <p:nvSpPr>
          <p:cNvPr id="3" name="Content Placeholder 2">
            <a:extLst>
              <a:ext uri="{FF2B5EF4-FFF2-40B4-BE49-F238E27FC236}">
                <a16:creationId xmlns:a16="http://schemas.microsoft.com/office/drawing/2014/main" id="{6275EAB0-9311-4BC2-9A2F-F015AE9C742E}"/>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B7FBB975-25E9-4513-8C39-A750050B21FA}"/>
              </a:ext>
            </a:extLst>
          </p:cNvPr>
          <p:cNvPicPr>
            <a:picLocks noChangeAspect="1"/>
          </p:cNvPicPr>
          <p:nvPr/>
        </p:nvPicPr>
        <p:blipFill>
          <a:blip r:embed="rId2"/>
          <a:stretch>
            <a:fillRect/>
          </a:stretch>
        </p:blipFill>
        <p:spPr>
          <a:xfrm>
            <a:off x="591068" y="1781162"/>
            <a:ext cx="10223789" cy="4639253"/>
          </a:xfrm>
          <a:prstGeom prst="rect">
            <a:avLst/>
          </a:prstGeom>
        </p:spPr>
      </p:pic>
    </p:spTree>
    <p:extLst>
      <p:ext uri="{BB962C8B-B14F-4D97-AF65-F5344CB8AC3E}">
        <p14:creationId xmlns:p14="http://schemas.microsoft.com/office/powerpoint/2010/main" val="3156310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676400" y="-15786100"/>
            <a:ext cx="6705600" cy="8032968"/>
          </a:xfrm>
          <a:prstGeom prst="rect">
            <a:avLst/>
          </a:prstGeom>
          <a:noFill/>
          <a:ln w="9525">
            <a:noFill/>
            <a:miter lim="800000"/>
            <a:headEnd/>
            <a:tailEnd/>
          </a:ln>
          <a:effectLst/>
        </p:spPr>
        <p:txBody>
          <a:bodyPr>
            <a:spAutoFit/>
          </a:bodyPr>
          <a:lstStyle/>
          <a:p>
            <a:r>
              <a:rPr lang="en-US" sz="1200" dirty="0">
                <a:latin typeface="Times New Roman" pitchFamily="18" charset="0"/>
              </a:rPr>
              <a:t>EFFECT OF CLIMATE FLUCTUATIONS ON LONG-TERM VEGETATION</a:t>
            </a:r>
          </a:p>
          <a:p>
            <a:r>
              <a:rPr lang="en-US" sz="1200" dirty="0">
                <a:latin typeface="Times New Roman" pitchFamily="18" charset="0"/>
              </a:rPr>
              <a:t>DYNAMICS IN CAROLINA BAY WETLANDS</a:t>
            </a:r>
          </a:p>
          <a:p>
            <a:r>
              <a:rPr lang="en-US" sz="1200" dirty="0">
                <a:latin typeface="Times New Roman" pitchFamily="18" charset="0"/>
              </a:rPr>
              <a:t>Chrissa L. Stroh1,4, Diane De Steven2, and Glenn R. Guntenspergen3</a:t>
            </a:r>
          </a:p>
          <a:p>
            <a:r>
              <a:rPr lang="en-US" sz="1200" dirty="0">
                <a:latin typeface="Times New Roman" pitchFamily="18" charset="0"/>
              </a:rPr>
              <a:t>1Master of Environmental Studies Program</a:t>
            </a:r>
          </a:p>
          <a:p>
            <a:r>
              <a:rPr lang="en-US" sz="1200" dirty="0">
                <a:latin typeface="Times New Roman" pitchFamily="18" charset="0"/>
              </a:rPr>
              <a:t>The College of Charleston</a:t>
            </a:r>
          </a:p>
          <a:p>
            <a:r>
              <a:rPr lang="en-US" sz="1200" dirty="0">
                <a:latin typeface="Times New Roman" pitchFamily="18" charset="0"/>
              </a:rPr>
              <a:t>Charleston, South Carolina, USA 29424</a:t>
            </a:r>
          </a:p>
          <a:p>
            <a:r>
              <a:rPr lang="en-US" sz="1200" dirty="0">
                <a:latin typeface="Times New Roman" pitchFamily="18" charset="0"/>
              </a:rPr>
              <a:t>2USDA Forest Service–Southern Research Station</a:t>
            </a:r>
          </a:p>
          <a:p>
            <a:r>
              <a:rPr lang="en-US" sz="1200" dirty="0">
                <a:latin typeface="Times New Roman" pitchFamily="18" charset="0"/>
              </a:rPr>
              <a:t>Center for Bottomland Hardwoods Research</a:t>
            </a:r>
          </a:p>
          <a:p>
            <a:r>
              <a:rPr lang="en-US" sz="1200" dirty="0">
                <a:latin typeface="Times New Roman" pitchFamily="18" charset="0"/>
              </a:rPr>
              <a:t>Stoneville, Mississippi, USA 38776</a:t>
            </a:r>
          </a:p>
          <a:p>
            <a:r>
              <a:rPr lang="en-US" sz="1200" dirty="0">
                <a:latin typeface="Times New Roman" pitchFamily="18" charset="0"/>
              </a:rPr>
              <a:t>3U.S. Geological Survey–</a:t>
            </a:r>
            <a:r>
              <a:rPr lang="en-US" sz="1200" dirty="0" err="1">
                <a:latin typeface="Times New Roman" pitchFamily="18" charset="0"/>
              </a:rPr>
              <a:t>Patuxent</a:t>
            </a:r>
            <a:r>
              <a:rPr lang="en-US" sz="1200" dirty="0">
                <a:latin typeface="Times New Roman" pitchFamily="18" charset="0"/>
              </a:rPr>
              <a:t> Wildlife Research Center</a:t>
            </a:r>
          </a:p>
          <a:p>
            <a:r>
              <a:rPr lang="en-US" sz="1200" dirty="0">
                <a:latin typeface="Times New Roman" pitchFamily="18" charset="0"/>
              </a:rPr>
              <a:t>Laurel, Maryland, USA 20706</a:t>
            </a:r>
          </a:p>
          <a:p>
            <a:r>
              <a:rPr lang="en-US" sz="1200" dirty="0">
                <a:latin typeface="Times New Roman" pitchFamily="18" charset="0"/>
              </a:rPr>
              <a:t>E-mail: glenn_gtenspergen@usgs.gov</a:t>
            </a:r>
          </a:p>
          <a:p>
            <a:r>
              <a:rPr lang="en-US" sz="1200" dirty="0">
                <a:latin typeface="Times New Roman" pitchFamily="18" charset="0"/>
              </a:rPr>
              <a:t>Abstract: Carolina bays and similar depression wetlands of the U.S. Southeastern Coastal Plain have</a:t>
            </a:r>
          </a:p>
          <a:p>
            <a:r>
              <a:rPr lang="en-US" sz="1200" dirty="0">
                <a:latin typeface="Times New Roman" pitchFamily="18" charset="0"/>
              </a:rPr>
              <a:t>hydrologic regimes that are driven primarily by rainfall. Therefore, climate fluctuations such as drought</a:t>
            </a:r>
          </a:p>
          <a:p>
            <a:r>
              <a:rPr lang="en-US" sz="1200" dirty="0">
                <a:latin typeface="Times New Roman" pitchFamily="18" charset="0"/>
              </a:rPr>
              <a:t>cycles have the potential to shape </a:t>
            </a:r>
            <a:r>
              <a:rPr lang="en-US" sz="1200" dirty="0" err="1">
                <a:latin typeface="Times New Roman" pitchFamily="18" charset="0"/>
              </a:rPr>
              <a:t>lonterm</a:t>
            </a:r>
            <a:r>
              <a:rPr lang="en-US" sz="1200" dirty="0">
                <a:latin typeface="Times New Roman" pitchFamily="18" charset="0"/>
              </a:rPr>
              <a:t> vegetation dynamics. Models suggest two potential </a:t>
            </a:r>
            <a:r>
              <a:rPr lang="en-US" sz="1200" dirty="0" err="1">
                <a:latin typeface="Times New Roman" pitchFamily="18" charset="0"/>
              </a:rPr>
              <a:t>longterm</a:t>
            </a:r>
            <a:endParaRPr lang="en-US" sz="1200" dirty="0">
              <a:latin typeface="Times New Roman" pitchFamily="18" charset="0"/>
            </a:endParaRPr>
          </a:p>
          <a:p>
            <a:r>
              <a:rPr lang="en-US" sz="1200" dirty="0">
                <a:latin typeface="Times New Roman" pitchFamily="18" charset="0"/>
              </a:rPr>
              <a:t>responses to hydrologic fluctuations, either cyclic change maintaining open emergent vegetation, or</a:t>
            </a:r>
          </a:p>
          <a:p>
            <a:r>
              <a:rPr lang="en-US" sz="1200" dirty="0">
                <a:latin typeface="Times New Roman" pitchFamily="18" charset="0"/>
              </a:rPr>
              <a:t>directional succession toward forest vegetation. In seven Carolina bay wetlands on the Savannah River</a:t>
            </a:r>
          </a:p>
          <a:p>
            <a:r>
              <a:rPr lang="en-US" sz="1200" dirty="0">
                <a:latin typeface="Times New Roman" pitchFamily="18" charset="0"/>
              </a:rPr>
              <a:t>Site, South Carolina, we assessed hydrologic variation and vegetation response over a 15-year period</a:t>
            </a:r>
          </a:p>
          <a:p>
            <a:r>
              <a:rPr lang="en-US" sz="1200" dirty="0">
                <a:latin typeface="Times New Roman" pitchFamily="18" charset="0"/>
              </a:rPr>
              <a:t>spanning two drought and </a:t>
            </a:r>
            <a:r>
              <a:rPr lang="en-US" sz="1200" dirty="0" err="1">
                <a:latin typeface="Times New Roman" pitchFamily="18" charset="0"/>
              </a:rPr>
              <a:t>reinundation</a:t>
            </a:r>
            <a:r>
              <a:rPr lang="en-US" sz="1200" dirty="0">
                <a:latin typeface="Times New Roman" pitchFamily="18" charset="0"/>
              </a:rPr>
              <a:t> cycles. Changes in pond stage (water depth) were monitored biweekly</a:t>
            </a:r>
          </a:p>
          <a:p>
            <a:r>
              <a:rPr lang="en-US" sz="1200" dirty="0">
                <a:latin typeface="Times New Roman" pitchFamily="18" charset="0"/>
              </a:rPr>
              <a:t>to monthly each year from 1989–2003. Vegetation composition was sampled in three years (1989,</a:t>
            </a:r>
          </a:p>
          <a:p>
            <a:r>
              <a:rPr lang="en-US" sz="1200" dirty="0">
                <a:latin typeface="Times New Roman" pitchFamily="18" charset="0"/>
              </a:rPr>
              <a:t>1993, and 2003) and analyzed in relation to changes in hydrologic conditions. Multi-year droughts</a:t>
            </a:r>
          </a:p>
          <a:p>
            <a:r>
              <a:rPr lang="en-US" sz="1200" dirty="0">
                <a:latin typeface="Times New Roman" pitchFamily="18" charset="0"/>
              </a:rPr>
              <a:t>occurred prior to the 1989 and 2003 sampling years, whereas 1993 coincided with a wet period. Wetland</a:t>
            </a:r>
          </a:p>
          <a:p>
            <a:r>
              <a:rPr lang="en-US" sz="1200" dirty="0">
                <a:latin typeface="Times New Roman" pitchFamily="18" charset="0"/>
              </a:rPr>
              <a:t>plant species generally maintained dominance after both wet and dry conditions, but the abundances of</a:t>
            </a:r>
          </a:p>
          <a:p>
            <a:r>
              <a:rPr lang="en-US" sz="1200" dirty="0">
                <a:latin typeface="Times New Roman" pitchFamily="18" charset="0"/>
              </a:rPr>
              <a:t>different plant growth forms and species indicator categories shifted over the 15-year period. Decreased</a:t>
            </a:r>
          </a:p>
          <a:p>
            <a:r>
              <a:rPr lang="en-US" sz="1200" dirty="0" err="1">
                <a:latin typeface="Times New Roman" pitchFamily="18" charset="0"/>
              </a:rPr>
              <a:t>hydroperiods</a:t>
            </a:r>
            <a:r>
              <a:rPr lang="en-US" sz="1200" dirty="0">
                <a:latin typeface="Times New Roman" pitchFamily="18" charset="0"/>
              </a:rPr>
              <a:t> and water depths during droughts led to increased cover of grass, upland, and woody</a:t>
            </a:r>
          </a:p>
          <a:p>
            <a:r>
              <a:rPr lang="en-US" sz="1200" dirty="0">
                <a:latin typeface="Times New Roman" pitchFamily="18" charset="0"/>
              </a:rPr>
              <a:t>species, particularly at he shallower wetland margins. Conversely, </a:t>
            </a:r>
            <a:r>
              <a:rPr lang="en-US" sz="1200" dirty="0" err="1">
                <a:latin typeface="Times New Roman" pitchFamily="18" charset="0"/>
              </a:rPr>
              <a:t>reinundation</a:t>
            </a:r>
            <a:r>
              <a:rPr lang="en-US" sz="1200" dirty="0">
                <a:latin typeface="Times New Roman" pitchFamily="18" charset="0"/>
              </a:rPr>
              <a:t> and longer </a:t>
            </a:r>
            <a:r>
              <a:rPr lang="en-US" sz="1200" dirty="0" err="1">
                <a:latin typeface="Times New Roman" pitchFamily="18" charset="0"/>
              </a:rPr>
              <a:t>hydroperiods</a:t>
            </a:r>
            <a:endParaRPr lang="en-US" sz="1200" dirty="0">
              <a:latin typeface="Times New Roman" pitchFamily="18" charset="0"/>
            </a:endParaRPr>
          </a:p>
          <a:p>
            <a:r>
              <a:rPr lang="en-US" sz="1200" dirty="0">
                <a:latin typeface="Times New Roman" pitchFamily="18" charset="0"/>
              </a:rPr>
              <a:t>resulted in expansion of aquatic and emergent species and reduced the cover of flood-intolerant woody</a:t>
            </a:r>
          </a:p>
          <a:p>
            <a:r>
              <a:rPr lang="en-US" sz="1200" dirty="0">
                <a:latin typeface="Times New Roman" pitchFamily="18" charset="0"/>
              </a:rPr>
              <a:t>and upland species. These semi-permanent Upper Coastal Plain bays generally exhibited cyclic</a:t>
            </a:r>
            <a:r>
              <a:rPr lang="en-US" sz="2400" dirty="0">
                <a:latin typeface="Times New Roman" pitchFamily="18" charset="0"/>
              </a:rPr>
              <a:t> </a:t>
            </a:r>
            <a:r>
              <a:rPr lang="en-US" sz="1200" dirty="0">
                <a:latin typeface="Times New Roman" pitchFamily="18" charset="0"/>
              </a:rPr>
              <a:t>vegetation</a:t>
            </a:r>
          </a:p>
          <a:p>
            <a:r>
              <a:rPr lang="en-US" sz="1200" dirty="0">
                <a:latin typeface="Times New Roman" pitchFamily="18" charset="0"/>
              </a:rPr>
              <a:t>dynamics in response to climate fluctuation, with wet periods favoring dominance by herbaceous species.</a:t>
            </a:r>
          </a:p>
          <a:p>
            <a:r>
              <a:rPr lang="en-US" sz="1200" dirty="0">
                <a:latin typeface="Times New Roman" pitchFamily="18" charset="0"/>
              </a:rPr>
              <a:t>Large basin morphology and deep </a:t>
            </a:r>
            <a:r>
              <a:rPr lang="en-US" sz="1200" dirty="0" err="1">
                <a:latin typeface="Times New Roman" pitchFamily="18" charset="0"/>
              </a:rPr>
              <a:t>ponding</a:t>
            </a:r>
            <a:r>
              <a:rPr lang="en-US" sz="1200" dirty="0">
                <a:latin typeface="Times New Roman" pitchFamily="18" charset="0"/>
              </a:rPr>
              <a:t>, paired with surrounding upland forest dominated by </a:t>
            </a:r>
            <a:r>
              <a:rPr lang="en-US" sz="1200" dirty="0" err="1">
                <a:latin typeface="Times New Roman" pitchFamily="18" charset="0"/>
              </a:rPr>
              <a:t>floodintolerant</a:t>
            </a:r>
            <a:endParaRPr lang="en-US" sz="1200" dirty="0">
              <a:latin typeface="Times New Roman" pitchFamily="18" charset="0"/>
            </a:endParaRPr>
          </a:p>
          <a:p>
            <a:r>
              <a:rPr lang="en-US" sz="1200" dirty="0">
                <a:latin typeface="Times New Roman" pitchFamily="18" charset="0"/>
              </a:rPr>
              <a:t>pines, were features contributing to persistence of herbaceous vegetation. Drought cycles may</a:t>
            </a:r>
          </a:p>
          <a:p>
            <a:r>
              <a:rPr lang="en-US" sz="1200" dirty="0">
                <a:latin typeface="Times New Roman" pitchFamily="18" charset="0"/>
              </a:rPr>
              <a:t>promote directional succession to forest in bays that are smaller, shallower, or colonized by </a:t>
            </a:r>
            <a:r>
              <a:rPr lang="en-US" sz="1200" dirty="0" err="1">
                <a:latin typeface="Times New Roman" pitchFamily="18" charset="0"/>
              </a:rPr>
              <a:t>floodtolerant</a:t>
            </a:r>
            <a:endParaRPr lang="en-US" sz="1200" dirty="0">
              <a:latin typeface="Times New Roman" pitchFamily="18" charset="0"/>
            </a:endParaRPr>
          </a:p>
          <a:p>
            <a:r>
              <a:rPr lang="en-US" sz="1200" dirty="0">
                <a:latin typeface="Times New Roman" pitchFamily="18" charset="0"/>
              </a:rPr>
              <a:t>hardwoods.</a:t>
            </a:r>
          </a:p>
          <a:p>
            <a:r>
              <a:rPr lang="en-US" sz="1200" dirty="0">
                <a:latin typeface="Times New Roman" pitchFamily="18" charset="0"/>
              </a:rPr>
              <a:t>Key Words: </a:t>
            </a:r>
            <a:r>
              <a:rPr lang="en-US" sz="1200" dirty="0" err="1">
                <a:latin typeface="Times New Roman" pitchFamily="18" charset="0"/>
              </a:rPr>
              <a:t>depressional</a:t>
            </a:r>
            <a:r>
              <a:rPr lang="en-US" sz="1200" dirty="0">
                <a:latin typeface="Times New Roman" pitchFamily="18" charset="0"/>
              </a:rPr>
              <a:t> wetlands, drought cycles, hydrologic regime, succession</a:t>
            </a:r>
          </a:p>
          <a:p>
            <a:r>
              <a:rPr lang="en-US" sz="1200" dirty="0">
                <a:latin typeface="Times New Roman" pitchFamily="18" charset="0"/>
              </a:rPr>
              <a:t>INTRODUCTION</a:t>
            </a:r>
          </a:p>
          <a:p>
            <a:r>
              <a:rPr lang="en-US" sz="1200" dirty="0">
                <a:latin typeface="Times New Roman" pitchFamily="18" charset="0"/>
              </a:rPr>
              <a:t>The hydrologic regimes of </a:t>
            </a:r>
            <a:r>
              <a:rPr lang="en-US" sz="1200" dirty="0" err="1">
                <a:latin typeface="Times New Roman" pitchFamily="18" charset="0"/>
              </a:rPr>
              <a:t>depressional</a:t>
            </a:r>
            <a:r>
              <a:rPr lang="en-US" sz="1200" dirty="0">
                <a:latin typeface="Times New Roman" pitchFamily="18" charset="0"/>
              </a:rPr>
              <a:t> wetlands</a:t>
            </a:r>
          </a:p>
          <a:p>
            <a:r>
              <a:rPr lang="en-US" sz="1200" dirty="0">
                <a:latin typeface="Times New Roman" pitchFamily="18" charset="0"/>
              </a:rPr>
              <a:t>determine their ecological character. Because depression</a:t>
            </a:r>
          </a:p>
          <a:p>
            <a:r>
              <a:rPr lang="en-US" sz="1200" dirty="0">
                <a:latin typeface="Times New Roman" pitchFamily="18" charset="0"/>
              </a:rPr>
              <a:t>hydrology is driven mainly by rainfall and</a:t>
            </a:r>
          </a:p>
          <a:p>
            <a:r>
              <a:rPr lang="en-US" sz="1200" dirty="0" err="1">
                <a:latin typeface="Times New Roman" pitchFamily="18" charset="0"/>
              </a:rPr>
              <a:t>evapotranspiration</a:t>
            </a:r>
            <a:r>
              <a:rPr lang="en-US" sz="1200" dirty="0">
                <a:latin typeface="Times New Roman" pitchFamily="18" charset="0"/>
              </a:rPr>
              <a:t>, these</a:t>
            </a:r>
          </a:p>
        </p:txBody>
      </p:sp>
      <p:sp>
        <p:nvSpPr>
          <p:cNvPr id="60419" name="Rectangle 3"/>
          <p:cNvSpPr>
            <a:spLocks noChangeArrowheads="1"/>
          </p:cNvSpPr>
          <p:nvPr/>
        </p:nvSpPr>
        <p:spPr bwMode="auto">
          <a:xfrm>
            <a:off x="1600200" y="228600"/>
            <a:ext cx="9067800" cy="3939540"/>
          </a:xfrm>
          <a:prstGeom prst="rect">
            <a:avLst/>
          </a:prstGeom>
          <a:noFill/>
          <a:ln w="9525">
            <a:noFill/>
            <a:miter lim="800000"/>
            <a:headEnd/>
            <a:tailEnd/>
          </a:ln>
          <a:effectLst/>
        </p:spPr>
        <p:txBody>
          <a:bodyPr wrap="square">
            <a:spAutoFit/>
          </a:bodyPr>
          <a:lstStyle/>
          <a:p>
            <a:pPr algn="ctr"/>
            <a:r>
              <a:rPr lang="en-US" b="1" dirty="0" err="1">
                <a:latin typeface="Times New Roman" pitchFamily="18" charset="0"/>
              </a:rPr>
              <a:t>Semisupervised</a:t>
            </a:r>
            <a:r>
              <a:rPr lang="en-US" b="1" dirty="0">
                <a:latin typeface="Times New Roman" pitchFamily="18" charset="0"/>
              </a:rPr>
              <a:t> Deep Reinforcement Learning in Support of </a:t>
            </a:r>
            <a:r>
              <a:rPr lang="en-US" b="1" dirty="0" err="1">
                <a:latin typeface="Times New Roman" pitchFamily="18" charset="0"/>
              </a:rPr>
              <a:t>IoT</a:t>
            </a:r>
            <a:r>
              <a:rPr lang="en-US" b="1" dirty="0">
                <a:latin typeface="Times New Roman" pitchFamily="18" charset="0"/>
              </a:rPr>
              <a:t> and Smart City Services</a:t>
            </a:r>
          </a:p>
          <a:p>
            <a:pPr algn="ctr"/>
            <a:r>
              <a:rPr lang="en-US" sz="1200" dirty="0" err="1">
                <a:latin typeface="Times New Roman" pitchFamily="18" charset="0"/>
                <a:hlinkClick r:id="rId2"/>
              </a:rPr>
              <a:t>Mehdi</a:t>
            </a:r>
            <a:r>
              <a:rPr lang="en-US" sz="1200" dirty="0">
                <a:latin typeface="Times New Roman" pitchFamily="18" charset="0"/>
                <a:hlinkClick r:id="rId2"/>
              </a:rPr>
              <a:t> </a:t>
            </a:r>
            <a:r>
              <a:rPr lang="en-US" sz="1200" dirty="0" err="1">
                <a:latin typeface="Times New Roman" pitchFamily="18" charset="0"/>
                <a:hlinkClick r:id="rId2"/>
              </a:rPr>
              <a:t>Mohammadi</a:t>
            </a:r>
            <a:r>
              <a:rPr lang="en-US" sz="1200" dirty="0">
                <a:latin typeface="Times New Roman" pitchFamily="18" charset="0"/>
                <a:hlinkClick r:id="rId2"/>
              </a:rPr>
              <a:t> </a:t>
            </a:r>
            <a:r>
              <a:rPr lang="en-US" sz="1200" dirty="0">
                <a:latin typeface="Times New Roman" pitchFamily="18" charset="0"/>
              </a:rPr>
              <a:t>; </a:t>
            </a:r>
            <a:r>
              <a:rPr lang="en-US" sz="1200" dirty="0">
                <a:latin typeface="Times New Roman" pitchFamily="18" charset="0"/>
                <a:hlinkClick r:id="rId3"/>
              </a:rPr>
              <a:t>Ala Al-</a:t>
            </a:r>
            <a:r>
              <a:rPr lang="en-US" sz="1200" dirty="0" err="1">
                <a:latin typeface="Times New Roman" pitchFamily="18" charset="0"/>
                <a:hlinkClick r:id="rId3"/>
              </a:rPr>
              <a:t>Fuqaha</a:t>
            </a:r>
            <a:r>
              <a:rPr lang="en-US" sz="1200" dirty="0">
                <a:latin typeface="Times New Roman" pitchFamily="18" charset="0"/>
                <a:hlinkClick r:id="rId3"/>
              </a:rPr>
              <a:t> </a:t>
            </a:r>
            <a:r>
              <a:rPr lang="en-US" sz="1200" dirty="0">
                <a:latin typeface="Times New Roman" pitchFamily="18" charset="0"/>
              </a:rPr>
              <a:t>; </a:t>
            </a:r>
            <a:r>
              <a:rPr lang="en-US" sz="1200" dirty="0" err="1">
                <a:latin typeface="Times New Roman" pitchFamily="18" charset="0"/>
                <a:hlinkClick r:id="rId4"/>
              </a:rPr>
              <a:t>Mohsen</a:t>
            </a:r>
            <a:r>
              <a:rPr lang="en-US" sz="1200" dirty="0">
                <a:latin typeface="Times New Roman" pitchFamily="18" charset="0"/>
                <a:hlinkClick r:id="rId4"/>
              </a:rPr>
              <a:t> </a:t>
            </a:r>
            <a:r>
              <a:rPr lang="en-US" sz="1200" dirty="0" err="1">
                <a:latin typeface="Times New Roman" pitchFamily="18" charset="0"/>
                <a:hlinkClick r:id="rId4"/>
              </a:rPr>
              <a:t>Guizani</a:t>
            </a:r>
            <a:r>
              <a:rPr lang="en-US" sz="1200" dirty="0">
                <a:latin typeface="Times New Roman" pitchFamily="18" charset="0"/>
                <a:hlinkClick r:id="rId4"/>
              </a:rPr>
              <a:t> </a:t>
            </a:r>
            <a:r>
              <a:rPr lang="en-US" sz="1200" dirty="0">
                <a:latin typeface="Times New Roman" pitchFamily="18" charset="0"/>
              </a:rPr>
              <a:t>; </a:t>
            </a:r>
            <a:r>
              <a:rPr lang="en-US" sz="1200" dirty="0">
                <a:latin typeface="Times New Roman" pitchFamily="18" charset="0"/>
                <a:hlinkClick r:id="rId5"/>
              </a:rPr>
              <a:t>Jun-</a:t>
            </a:r>
            <a:r>
              <a:rPr lang="en-US" sz="1200" dirty="0" err="1">
                <a:latin typeface="Times New Roman" pitchFamily="18" charset="0"/>
                <a:hlinkClick r:id="rId5"/>
              </a:rPr>
              <a:t>Seok</a:t>
            </a:r>
            <a:r>
              <a:rPr lang="en-US" sz="1200" dirty="0">
                <a:latin typeface="Times New Roman" pitchFamily="18" charset="0"/>
                <a:hlinkClick r:id="rId5"/>
              </a:rPr>
              <a:t> Oh </a:t>
            </a:r>
            <a:endParaRPr lang="en-US" sz="1200" dirty="0">
              <a:latin typeface="Times New Roman" pitchFamily="18" charset="0"/>
            </a:endParaRPr>
          </a:p>
          <a:p>
            <a:endParaRPr lang="en-US" sz="1200" dirty="0">
              <a:latin typeface="Times New Roman" pitchFamily="18" charset="0"/>
            </a:endParaRPr>
          </a:p>
          <a:p>
            <a:r>
              <a:rPr lang="en-US" sz="1400" b="1" dirty="0">
                <a:latin typeface="Times New Roman" pitchFamily="18" charset="0"/>
              </a:rPr>
              <a:t>Abstract:</a:t>
            </a:r>
            <a:r>
              <a:rPr lang="en-US" sz="1400" dirty="0">
                <a:latin typeface="Times New Roman" pitchFamily="18" charset="0"/>
              </a:rPr>
              <a:t> </a:t>
            </a:r>
            <a:r>
              <a:rPr lang="en-US" sz="1400" dirty="0">
                <a:solidFill>
                  <a:srgbClr val="008000"/>
                </a:solidFill>
                <a:latin typeface="Times New Roman" pitchFamily="18" charset="0"/>
              </a:rPr>
              <a:t>Smart services are an important element of the smart cities and the Internet of Things (</a:t>
            </a:r>
            <a:r>
              <a:rPr lang="en-US" sz="1400" dirty="0" err="1">
                <a:solidFill>
                  <a:srgbClr val="008000"/>
                </a:solidFill>
                <a:latin typeface="Times New Roman" pitchFamily="18" charset="0"/>
              </a:rPr>
              <a:t>IoT</a:t>
            </a:r>
            <a:r>
              <a:rPr lang="en-US" sz="1400" dirty="0">
                <a:solidFill>
                  <a:srgbClr val="008000"/>
                </a:solidFill>
                <a:latin typeface="Times New Roman" pitchFamily="18" charset="0"/>
              </a:rPr>
              <a:t>) ecosystems where the intelligence behind the services is obtained and improved through the sensory data. Providing a large amount of training data is not always feasible; therefore, we need to consider alternative ways that incorporate unlabeled data as well. In recent years, deep reinforcement learning (DRL) has gained great success in several application domains. It is an applicable method for </a:t>
            </a:r>
            <a:r>
              <a:rPr lang="en-US" sz="1400" dirty="0" err="1">
                <a:solidFill>
                  <a:srgbClr val="008000"/>
                </a:solidFill>
                <a:latin typeface="Times New Roman" pitchFamily="18" charset="0"/>
              </a:rPr>
              <a:t>IoT</a:t>
            </a:r>
            <a:r>
              <a:rPr lang="en-US" sz="1400" dirty="0">
                <a:solidFill>
                  <a:srgbClr val="008000"/>
                </a:solidFill>
                <a:latin typeface="Times New Roman" pitchFamily="18" charset="0"/>
              </a:rPr>
              <a:t> and smart city scenarios where auto-generated data can be partially labeled by users' feedback for training purposes. </a:t>
            </a:r>
            <a:r>
              <a:rPr lang="en-US" sz="1400" dirty="0">
                <a:solidFill>
                  <a:srgbClr val="FF0000"/>
                </a:solidFill>
                <a:latin typeface="Times New Roman" pitchFamily="18" charset="0"/>
              </a:rPr>
              <a:t>In this paper, we propose a </a:t>
            </a:r>
            <a:r>
              <a:rPr lang="en-US" sz="1400" dirty="0" err="1">
                <a:solidFill>
                  <a:srgbClr val="FF0000"/>
                </a:solidFill>
                <a:latin typeface="Times New Roman" pitchFamily="18" charset="0"/>
              </a:rPr>
              <a:t>semisupervised</a:t>
            </a:r>
            <a:r>
              <a:rPr lang="en-US" sz="1400" dirty="0">
                <a:solidFill>
                  <a:srgbClr val="FF0000"/>
                </a:solidFill>
                <a:latin typeface="Times New Roman" pitchFamily="18" charset="0"/>
              </a:rPr>
              <a:t> DRL model that fits smart city applications as it consumes both labeled and unlabeled data to improve the performance and accuracy of the learning agent. The model utilizes </a:t>
            </a:r>
            <a:r>
              <a:rPr lang="en-US" sz="1400" dirty="0" err="1">
                <a:solidFill>
                  <a:srgbClr val="FF0000"/>
                </a:solidFill>
                <a:latin typeface="Times New Roman" pitchFamily="18" charset="0"/>
              </a:rPr>
              <a:t>variational</a:t>
            </a:r>
            <a:r>
              <a:rPr lang="en-US" sz="1400" dirty="0">
                <a:solidFill>
                  <a:srgbClr val="FF0000"/>
                </a:solidFill>
                <a:latin typeface="Times New Roman" pitchFamily="18" charset="0"/>
              </a:rPr>
              <a:t> </a:t>
            </a:r>
            <a:r>
              <a:rPr lang="en-US" sz="1400" dirty="0" err="1">
                <a:solidFill>
                  <a:srgbClr val="FF0000"/>
                </a:solidFill>
                <a:latin typeface="Times New Roman" pitchFamily="18" charset="0"/>
              </a:rPr>
              <a:t>autoencoders</a:t>
            </a:r>
            <a:r>
              <a:rPr lang="en-US" sz="1400" dirty="0">
                <a:solidFill>
                  <a:srgbClr val="FF0000"/>
                </a:solidFill>
                <a:latin typeface="Times New Roman" pitchFamily="18" charset="0"/>
              </a:rPr>
              <a:t> as the inference engine for generalizing optimal policies. To the best of our knowledge, the proposed model is the first investigation that extends DRL to the </a:t>
            </a:r>
            <a:r>
              <a:rPr lang="en-US" sz="1400" dirty="0" err="1">
                <a:solidFill>
                  <a:srgbClr val="FF0000"/>
                </a:solidFill>
                <a:latin typeface="Times New Roman" pitchFamily="18" charset="0"/>
              </a:rPr>
              <a:t>semisupervised</a:t>
            </a:r>
            <a:r>
              <a:rPr lang="en-US" sz="1400" dirty="0">
                <a:solidFill>
                  <a:srgbClr val="FF0000"/>
                </a:solidFill>
                <a:latin typeface="Times New Roman" pitchFamily="18" charset="0"/>
              </a:rPr>
              <a:t> paradigm. </a:t>
            </a:r>
            <a:r>
              <a:rPr lang="en-US" sz="1400" dirty="0">
                <a:solidFill>
                  <a:srgbClr val="7030A0"/>
                </a:solidFill>
                <a:latin typeface="Times New Roman" pitchFamily="18" charset="0"/>
              </a:rPr>
              <a:t>As a case study of smart city applications, we focus on smart buildings and apply the proposed model to the problem of indoor localization based on Bluetooth low energy signal strength. Indoor localization is the main component of smart city services since people spend significant time in indoor environments. Our model learns the best action policies that lead to a close estimation of the target locations with an improvement of 23% in terms of distance to the target and at least 67% more received rewards compared to the supervised DRL model.</a:t>
            </a:r>
          </a:p>
          <a:p>
            <a:endParaRPr lang="en-US" sz="1200" dirty="0">
              <a:solidFill>
                <a:srgbClr val="008000"/>
              </a:solidFill>
              <a:latin typeface="Times New Roman" pitchFamily="18" charset="0"/>
            </a:endParaRPr>
          </a:p>
        </p:txBody>
      </p:sp>
      <p:sp>
        <p:nvSpPr>
          <p:cNvPr id="60420" name="Text Box 4"/>
          <p:cNvSpPr txBox="1">
            <a:spLocks noChangeArrowheads="1"/>
          </p:cNvSpPr>
          <p:nvPr/>
        </p:nvSpPr>
        <p:spPr bwMode="auto">
          <a:xfrm>
            <a:off x="1905000" y="4038601"/>
            <a:ext cx="8382000" cy="2092881"/>
          </a:xfrm>
          <a:prstGeom prst="rect">
            <a:avLst/>
          </a:prstGeom>
          <a:noFill/>
          <a:ln w="9525">
            <a:noFill/>
            <a:miter lim="800000"/>
            <a:headEnd/>
            <a:tailEnd/>
          </a:ln>
          <a:effectLst/>
        </p:spPr>
        <p:txBody>
          <a:bodyPr>
            <a:spAutoFit/>
          </a:bodyPr>
          <a:lstStyle/>
          <a:p>
            <a:pPr>
              <a:spcBef>
                <a:spcPct val="50000"/>
              </a:spcBef>
            </a:pPr>
            <a:r>
              <a:rPr lang="en-US" sz="2000" dirty="0"/>
              <a:t>In the abstract above, the </a:t>
            </a:r>
            <a:r>
              <a:rPr lang="en-US" sz="2000" dirty="0">
                <a:solidFill>
                  <a:srgbClr val="00CC00"/>
                </a:solidFill>
              </a:rPr>
              <a:t>introduction is abstracted in green</a:t>
            </a:r>
            <a:r>
              <a:rPr lang="en-US" sz="2000" dirty="0"/>
              <a:t>, </a:t>
            </a:r>
            <a:r>
              <a:rPr lang="en-US" sz="2000" dirty="0">
                <a:solidFill>
                  <a:srgbClr val="FF0000"/>
                </a:solidFill>
              </a:rPr>
              <a:t>solution in red</a:t>
            </a:r>
            <a:r>
              <a:rPr lang="en-US" sz="2000" dirty="0"/>
              <a:t>, </a:t>
            </a:r>
            <a:r>
              <a:rPr lang="en-US" sz="2000" dirty="0">
                <a:solidFill>
                  <a:srgbClr val="990099"/>
                </a:solidFill>
              </a:rPr>
              <a:t>evaluation in purple</a:t>
            </a:r>
            <a:r>
              <a:rPr lang="en-US" sz="2000" dirty="0"/>
              <a:t>. The proportion of the abstract allocated to each section will vary according to the article.</a:t>
            </a:r>
          </a:p>
          <a:p>
            <a:pPr>
              <a:spcBef>
                <a:spcPct val="50000"/>
              </a:spcBef>
            </a:pPr>
            <a:r>
              <a:rPr lang="en-US" sz="2000" dirty="0"/>
              <a:t>Read this abstract. Do you have a fair understanding of the problem and what was done to address it? You may want to do a little internet searching or other research to fully understand the abstract.</a:t>
            </a:r>
          </a:p>
        </p:txBody>
      </p:sp>
    </p:spTree>
    <p:extLst>
      <p:ext uri="{BB962C8B-B14F-4D97-AF65-F5344CB8AC3E}">
        <p14:creationId xmlns:p14="http://schemas.microsoft.com/office/powerpoint/2010/main" val="13918389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324B6A-DEE5-4070-B1A6-C2DC05D4A3D3}"/>
              </a:ext>
            </a:extLst>
          </p:cNvPr>
          <p:cNvSpPr>
            <a:spLocks noGrp="1"/>
          </p:cNvSpPr>
          <p:nvPr>
            <p:ph type="title"/>
          </p:nvPr>
        </p:nvSpPr>
        <p:spPr/>
        <p:txBody>
          <a:bodyPr/>
          <a:lstStyle/>
          <a:p>
            <a:r>
              <a:rPr lang="en-GB" dirty="0"/>
              <a:t>Group work task 1</a:t>
            </a:r>
          </a:p>
        </p:txBody>
      </p:sp>
      <p:sp>
        <p:nvSpPr>
          <p:cNvPr id="5" name="Content Placeholder 4">
            <a:extLst>
              <a:ext uri="{FF2B5EF4-FFF2-40B4-BE49-F238E27FC236}">
                <a16:creationId xmlns:a16="http://schemas.microsoft.com/office/drawing/2014/main" id="{9FC8F379-49F0-4D4F-8467-18702DE840E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70809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normAutofit/>
          </a:bodyPr>
          <a:lstStyle/>
          <a:p>
            <a:r>
              <a:rPr lang="en-GB" sz="4400" dirty="0"/>
              <a:t>Introductions serve two purposes</a:t>
            </a:r>
          </a:p>
          <a:p>
            <a:pPr lvl="1"/>
            <a:r>
              <a:rPr lang="en-GB" sz="4000" dirty="0"/>
              <a:t>Creating readers’ interest in the subject</a:t>
            </a:r>
          </a:p>
          <a:p>
            <a:pPr lvl="1"/>
            <a:r>
              <a:rPr lang="en-GB" sz="4000" dirty="0"/>
              <a:t>Providing them with enough information to understand the article</a:t>
            </a:r>
          </a:p>
        </p:txBody>
      </p:sp>
    </p:spTree>
    <p:extLst>
      <p:ext uri="{BB962C8B-B14F-4D97-AF65-F5344CB8AC3E}">
        <p14:creationId xmlns:p14="http://schemas.microsoft.com/office/powerpoint/2010/main" val="1674684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a:xfrm>
            <a:off x="838200" y="1825625"/>
            <a:ext cx="3907012" cy="4351338"/>
          </a:xfrm>
        </p:spPr>
        <p:txBody>
          <a:bodyPr>
            <a:normAutofit/>
          </a:bodyPr>
          <a:lstStyle/>
          <a:p>
            <a:r>
              <a:rPr lang="en-GB" sz="3600" dirty="0"/>
              <a:t>Generally, introductions lead readers </a:t>
            </a:r>
          </a:p>
          <a:p>
            <a:pPr lvl="1"/>
            <a:r>
              <a:rPr lang="en-GB" sz="3200" dirty="0"/>
              <a:t>from </a:t>
            </a:r>
            <a:r>
              <a:rPr lang="en-GB" sz="3200" b="1" dirty="0"/>
              <a:t>broad</a:t>
            </a:r>
            <a:r>
              <a:rPr lang="en-GB" sz="3200" dirty="0"/>
              <a:t> information </a:t>
            </a:r>
          </a:p>
          <a:p>
            <a:pPr lvl="1"/>
            <a:r>
              <a:rPr lang="en-GB" sz="3200" dirty="0"/>
              <a:t>to more </a:t>
            </a:r>
            <a:r>
              <a:rPr lang="en-GB" sz="3200" b="1" dirty="0"/>
              <a:t>specific</a:t>
            </a:r>
            <a:r>
              <a:rPr lang="en-GB" sz="3200" dirty="0"/>
              <a:t> information </a:t>
            </a:r>
          </a:p>
          <a:p>
            <a:pPr lvl="1"/>
            <a:r>
              <a:rPr lang="en-GB" sz="3200" dirty="0"/>
              <a:t>to a </a:t>
            </a:r>
            <a:r>
              <a:rPr lang="en-GB" sz="3200" b="1" dirty="0"/>
              <a:t>focal point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9217" y="376333"/>
            <a:ext cx="7624767" cy="6284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5579925" y="834382"/>
            <a:ext cx="5636715" cy="1077218"/>
          </a:xfrm>
          <a:prstGeom prst="rect">
            <a:avLst/>
          </a:prstGeom>
        </p:spPr>
        <p:txBody>
          <a:bodyPr wrap="square">
            <a:spAutoFit/>
          </a:bodyPr>
          <a:lstStyle/>
          <a:p>
            <a:pPr algn="ctr"/>
            <a:r>
              <a:rPr lang="en-GB" sz="3200" dirty="0"/>
              <a:t>Broad: what is known about the topic</a:t>
            </a:r>
          </a:p>
        </p:txBody>
      </p:sp>
      <p:sp>
        <p:nvSpPr>
          <p:cNvPr id="7" name="Rectangle 6"/>
          <p:cNvSpPr/>
          <p:nvPr/>
        </p:nvSpPr>
        <p:spPr>
          <a:xfrm>
            <a:off x="6864386" y="2979799"/>
            <a:ext cx="3328126" cy="1077218"/>
          </a:xfrm>
          <a:prstGeom prst="rect">
            <a:avLst/>
          </a:prstGeom>
        </p:spPr>
        <p:txBody>
          <a:bodyPr wrap="square">
            <a:spAutoFit/>
          </a:bodyPr>
          <a:lstStyle/>
          <a:p>
            <a:pPr algn="ctr"/>
            <a:r>
              <a:rPr lang="en-GB" sz="3200" dirty="0"/>
              <a:t>Specific: what is not known</a:t>
            </a:r>
          </a:p>
        </p:txBody>
      </p:sp>
      <p:sp>
        <p:nvSpPr>
          <p:cNvPr id="8" name="Rectangle 7"/>
          <p:cNvSpPr/>
          <p:nvPr/>
        </p:nvSpPr>
        <p:spPr>
          <a:xfrm>
            <a:off x="6035039" y="4963664"/>
            <a:ext cx="4864609" cy="1604018"/>
          </a:xfrm>
          <a:prstGeom prst="rect">
            <a:avLst/>
          </a:prstGeom>
        </p:spPr>
        <p:txBody>
          <a:bodyPr wrap="square">
            <a:spAutoFit/>
          </a:bodyPr>
          <a:lstStyle/>
          <a:p>
            <a:pPr algn="ctr"/>
            <a:r>
              <a:rPr lang="en-GB" sz="3200" dirty="0"/>
              <a:t>Focal point: what question the authors asked and answered</a:t>
            </a:r>
          </a:p>
        </p:txBody>
      </p:sp>
    </p:spTree>
    <p:extLst>
      <p:ext uri="{BB962C8B-B14F-4D97-AF65-F5344CB8AC3E}">
        <p14:creationId xmlns:p14="http://schemas.microsoft.com/office/powerpoint/2010/main" val="12947044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a:xfrm>
            <a:off x="838200" y="1825625"/>
            <a:ext cx="3999661" cy="4351338"/>
          </a:xfrm>
        </p:spPr>
        <p:txBody>
          <a:bodyPr>
            <a:normAutofit/>
          </a:bodyPr>
          <a:lstStyle/>
          <a:p>
            <a:endParaRPr lang="en-GB"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9217" y="376333"/>
            <a:ext cx="7624767" cy="6284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5705856" y="508939"/>
            <a:ext cx="6096000" cy="1754326"/>
          </a:xfrm>
          <a:prstGeom prst="rect">
            <a:avLst/>
          </a:prstGeom>
        </p:spPr>
        <p:txBody>
          <a:bodyPr>
            <a:spAutoFit/>
          </a:bodyPr>
          <a:lstStyle/>
          <a:p>
            <a:r>
              <a:rPr lang="en-GB" sz="3600" dirty="0"/>
              <a:t>Authors describe previous work that led to current understanding of the topic </a:t>
            </a:r>
          </a:p>
        </p:txBody>
      </p:sp>
      <p:sp>
        <p:nvSpPr>
          <p:cNvPr id="6" name="Rectangle 5"/>
          <p:cNvSpPr/>
          <p:nvPr/>
        </p:nvSpPr>
        <p:spPr>
          <a:xfrm>
            <a:off x="6977888" y="2653267"/>
            <a:ext cx="3178048" cy="1754326"/>
          </a:xfrm>
          <a:prstGeom prst="rect">
            <a:avLst/>
          </a:prstGeom>
        </p:spPr>
        <p:txBody>
          <a:bodyPr wrap="square">
            <a:spAutoFit/>
          </a:bodyPr>
          <a:lstStyle/>
          <a:p>
            <a:r>
              <a:rPr lang="en-GB" sz="3600" dirty="0"/>
              <a:t>Authors situate their work within the field</a:t>
            </a:r>
          </a:p>
        </p:txBody>
      </p:sp>
    </p:spTree>
    <p:extLst>
      <p:ext uri="{BB962C8B-B14F-4D97-AF65-F5344CB8AC3E}">
        <p14:creationId xmlns:p14="http://schemas.microsoft.com/office/powerpoint/2010/main" val="12050288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Sections of the Research Paper</a:t>
            </a:r>
          </a:p>
        </p:txBody>
      </p:sp>
      <p:sp>
        <p:nvSpPr>
          <p:cNvPr id="3" name="Content Placeholder 2"/>
          <p:cNvSpPr>
            <a:spLocks noGrp="1"/>
          </p:cNvSpPr>
          <p:nvPr>
            <p:ph sz="half" idx="1"/>
          </p:nvPr>
        </p:nvSpPr>
        <p:spPr>
          <a:xfrm>
            <a:off x="838200" y="1514337"/>
            <a:ext cx="5181600" cy="4351338"/>
          </a:xfrm>
        </p:spPr>
        <p:txBody>
          <a:bodyPr>
            <a:noAutofit/>
          </a:bodyPr>
          <a:lstStyle/>
          <a:p>
            <a:r>
              <a:rPr lang="en-US" sz="2400" dirty="0"/>
              <a:t>Title</a:t>
            </a:r>
          </a:p>
          <a:p>
            <a:r>
              <a:rPr lang="en-US" sz="2400" dirty="0"/>
              <a:t>Introduction</a:t>
            </a:r>
          </a:p>
          <a:p>
            <a:r>
              <a:rPr lang="en-US" sz="2400" dirty="0"/>
              <a:t>Abstract</a:t>
            </a:r>
          </a:p>
          <a:p>
            <a:r>
              <a:rPr lang="en-US" sz="2400" dirty="0"/>
              <a:t>State of the Art/Literature Review/Related Works </a:t>
            </a:r>
          </a:p>
          <a:p>
            <a:r>
              <a:rPr lang="en-US" sz="2400" dirty="0"/>
              <a:t>Problem Motivation</a:t>
            </a:r>
          </a:p>
          <a:p>
            <a:r>
              <a:rPr lang="en-US" sz="2400" dirty="0"/>
              <a:t>Solution/Proposed Approach</a:t>
            </a:r>
          </a:p>
          <a:p>
            <a:r>
              <a:rPr lang="en-US" sz="2400" dirty="0"/>
              <a:t>Proof/Evaluation/Discussion</a:t>
            </a:r>
          </a:p>
          <a:p>
            <a:r>
              <a:rPr lang="en-US" sz="2400" dirty="0"/>
              <a:t>Conclusion/Summary/ </a:t>
            </a:r>
          </a:p>
          <a:p>
            <a:r>
              <a:rPr lang="en-US" sz="2400" dirty="0"/>
              <a:t>Future Work</a:t>
            </a:r>
          </a:p>
          <a:p>
            <a:r>
              <a:rPr lang="en-US" sz="2400" dirty="0"/>
              <a:t>Acknowledgments</a:t>
            </a:r>
          </a:p>
          <a:p>
            <a:r>
              <a:rPr lang="en-US" sz="2400" dirty="0"/>
              <a:t>References</a:t>
            </a:r>
          </a:p>
          <a:p>
            <a:endParaRPr lang="en-US" sz="2400" dirty="0"/>
          </a:p>
        </p:txBody>
      </p:sp>
      <p:sp>
        <p:nvSpPr>
          <p:cNvPr id="5" name="Content Placeholder 4">
            <a:extLst>
              <a:ext uri="{FF2B5EF4-FFF2-40B4-BE49-F238E27FC236}">
                <a16:creationId xmlns:a16="http://schemas.microsoft.com/office/drawing/2014/main" id="{D6FF6E9D-67CC-4E4E-B186-AC27E41FFA4D}"/>
              </a:ext>
            </a:extLst>
          </p:cNvPr>
          <p:cNvSpPr>
            <a:spLocks noGrp="1"/>
          </p:cNvSpPr>
          <p:nvPr>
            <p:ph sz="half" idx="2"/>
          </p:nvPr>
        </p:nvSpPr>
        <p:spPr/>
        <p:txBody>
          <a:bodyPr>
            <a:normAutofit/>
          </a:bodyPr>
          <a:lstStyle/>
          <a:p>
            <a:r>
              <a:rPr lang="en-US" i="1" dirty="0">
                <a:solidFill>
                  <a:srgbClr val="FF0000"/>
                </a:solidFill>
              </a:rPr>
              <a:t>More details on the purpose and content of the remaining sections will be given soon</a:t>
            </a:r>
          </a:p>
          <a:p>
            <a:endParaRPr lang="en-US" dirty="0"/>
          </a:p>
        </p:txBody>
      </p:sp>
    </p:spTree>
    <p:extLst>
      <p:ext uri="{BB962C8B-B14F-4D97-AF65-F5344CB8AC3E}">
        <p14:creationId xmlns:p14="http://schemas.microsoft.com/office/powerpoint/2010/main" val="4228865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7EE39-C8F8-4F17-85DC-16FB154D960D}"/>
              </a:ext>
            </a:extLst>
          </p:cNvPr>
          <p:cNvSpPr>
            <a:spLocks noGrp="1"/>
          </p:cNvSpPr>
          <p:nvPr>
            <p:ph type="title"/>
          </p:nvPr>
        </p:nvSpPr>
        <p:spPr/>
        <p:txBody>
          <a:bodyPr/>
          <a:lstStyle/>
          <a:p>
            <a:r>
              <a:rPr lang="en-US" dirty="0"/>
              <a:t>Figures and Tables</a:t>
            </a:r>
          </a:p>
        </p:txBody>
      </p:sp>
      <p:sp>
        <p:nvSpPr>
          <p:cNvPr id="3" name="Content Placeholder 2">
            <a:extLst>
              <a:ext uri="{FF2B5EF4-FFF2-40B4-BE49-F238E27FC236}">
                <a16:creationId xmlns:a16="http://schemas.microsoft.com/office/drawing/2014/main" id="{0BCF848A-8716-402A-B270-F6638CB25472}"/>
              </a:ext>
            </a:extLst>
          </p:cNvPr>
          <p:cNvSpPr>
            <a:spLocks noGrp="1"/>
          </p:cNvSpPr>
          <p:nvPr>
            <p:ph idx="1"/>
          </p:nvPr>
        </p:nvSpPr>
        <p:spPr/>
        <p:txBody>
          <a:bodyPr>
            <a:normAutofit/>
          </a:bodyPr>
          <a:lstStyle/>
          <a:p>
            <a:r>
              <a:rPr lang="en-US" sz="4400" dirty="0"/>
              <a:t>Find examples of Figures and Tables in a paper</a:t>
            </a:r>
          </a:p>
        </p:txBody>
      </p:sp>
    </p:spTree>
    <p:extLst>
      <p:ext uri="{BB962C8B-B14F-4D97-AF65-F5344CB8AC3E}">
        <p14:creationId xmlns:p14="http://schemas.microsoft.com/office/powerpoint/2010/main" val="21177381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Figures (Drawings)</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2286000" y="1371600"/>
            <a:ext cx="8077200" cy="3834896"/>
          </a:xfrm>
          <a:prstGeom prst="rect">
            <a:avLst/>
          </a:prstGeom>
        </p:spPr>
        <p:txBody>
          <a:bodyPr wrap="square">
            <a:spAutoFit/>
          </a:bodyPr>
          <a:lstStyle/>
          <a:p>
            <a:pPr marL="342900" indent="-342900">
              <a:spcBef>
                <a:spcPct val="20000"/>
              </a:spcBef>
              <a:buFont typeface="Arial" pitchFamily="34" charset="0"/>
              <a:buChar char="•"/>
            </a:pPr>
            <a:r>
              <a:rPr lang="en-US" sz="3200" dirty="0"/>
              <a:t>Look at the entire figure</a:t>
            </a:r>
          </a:p>
          <a:p>
            <a:pPr marL="342900" indent="-342900">
              <a:spcBef>
                <a:spcPct val="20000"/>
              </a:spcBef>
              <a:buFont typeface="Arial" pitchFamily="34" charset="0"/>
              <a:buChar char="•"/>
            </a:pPr>
            <a:r>
              <a:rPr lang="en-US" sz="3200" dirty="0"/>
              <a:t>Read the labels</a:t>
            </a:r>
          </a:p>
          <a:p>
            <a:pPr marL="342900" indent="-342900">
              <a:spcBef>
                <a:spcPct val="20000"/>
              </a:spcBef>
              <a:buFont typeface="Arial" pitchFamily="34" charset="0"/>
              <a:buChar char="•"/>
            </a:pPr>
            <a:r>
              <a:rPr lang="en-US" sz="3200" dirty="0"/>
              <a:t>Read any keys/legends, captions or explanations</a:t>
            </a:r>
          </a:p>
          <a:p>
            <a:pPr marL="342900" indent="-342900">
              <a:spcBef>
                <a:spcPct val="20000"/>
              </a:spcBef>
              <a:buFont typeface="Arial" pitchFamily="34" charset="0"/>
              <a:buChar char="•"/>
            </a:pPr>
            <a:r>
              <a:rPr lang="en-US" sz="3200" dirty="0"/>
              <a:t>Look for the starting point and the flow of the diagram (arrows can often serve as a visual cue)</a:t>
            </a:r>
          </a:p>
        </p:txBody>
      </p:sp>
    </p:spTree>
    <p:extLst>
      <p:ext uri="{BB962C8B-B14F-4D97-AF65-F5344CB8AC3E}">
        <p14:creationId xmlns:p14="http://schemas.microsoft.com/office/powerpoint/2010/main" val="723916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Figures (Graphs)</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838199" y="1517516"/>
            <a:ext cx="10854447" cy="1027974"/>
          </a:xfrm>
          <a:prstGeom prst="rect">
            <a:avLst/>
          </a:prstGeom>
        </p:spPr>
        <p:txBody>
          <a:bodyPr wrap="square">
            <a:spAutoFit/>
          </a:bodyPr>
          <a:lstStyle/>
          <a:p>
            <a:pPr marL="342900" indent="-342900">
              <a:spcBef>
                <a:spcPct val="20000"/>
              </a:spcBef>
              <a:buFont typeface="Arial" pitchFamily="34" charset="0"/>
              <a:buChar char="•"/>
            </a:pPr>
            <a:r>
              <a:rPr lang="en-US" sz="3200" dirty="0"/>
              <a:t>The most common chart types used in journals include</a:t>
            </a:r>
          </a:p>
          <a:p>
            <a:pPr marL="800100" lvl="1" indent="-342900">
              <a:spcBef>
                <a:spcPct val="20000"/>
              </a:spcBef>
              <a:buFont typeface="Arial" pitchFamily="34" charset="0"/>
              <a:buChar char="•"/>
            </a:pPr>
            <a:r>
              <a:rPr lang="en-US" sz="2400" dirty="0"/>
              <a:t>Column -- Each column is proportional to the value it represents</a:t>
            </a:r>
          </a:p>
        </p:txBody>
      </p:sp>
      <p:pic>
        <p:nvPicPr>
          <p:cNvPr id="3" name="Picture 2">
            <a:extLst>
              <a:ext uri="{FF2B5EF4-FFF2-40B4-BE49-F238E27FC236}">
                <a16:creationId xmlns:a16="http://schemas.microsoft.com/office/drawing/2014/main" id="{BE2CA8B7-848A-411A-BD1F-79F4885DF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067" y="2629071"/>
            <a:ext cx="6594906" cy="4014921"/>
          </a:xfrm>
          <a:prstGeom prst="rect">
            <a:avLst/>
          </a:prstGeom>
        </p:spPr>
      </p:pic>
    </p:spTree>
    <p:extLst>
      <p:ext uri="{BB962C8B-B14F-4D97-AF65-F5344CB8AC3E}">
        <p14:creationId xmlns:p14="http://schemas.microsoft.com/office/powerpoint/2010/main" val="29159996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Figures (Graphs)</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838199" y="1517516"/>
            <a:ext cx="10854447" cy="1027974"/>
          </a:xfrm>
          <a:prstGeom prst="rect">
            <a:avLst/>
          </a:prstGeom>
        </p:spPr>
        <p:txBody>
          <a:bodyPr wrap="square">
            <a:spAutoFit/>
          </a:bodyPr>
          <a:lstStyle/>
          <a:p>
            <a:pPr marL="342900" indent="-342900">
              <a:spcBef>
                <a:spcPct val="20000"/>
              </a:spcBef>
              <a:buFont typeface="Arial" pitchFamily="34" charset="0"/>
              <a:buChar char="•"/>
            </a:pPr>
            <a:r>
              <a:rPr lang="en-US" sz="3200" dirty="0"/>
              <a:t>The most common chart types used in journals include</a:t>
            </a:r>
          </a:p>
          <a:p>
            <a:pPr marL="800100" lvl="1" indent="-342900">
              <a:spcBef>
                <a:spcPct val="20000"/>
              </a:spcBef>
              <a:buFont typeface="Arial" pitchFamily="34" charset="0"/>
              <a:buChar char="•"/>
            </a:pPr>
            <a:r>
              <a:rPr lang="en-US" sz="2400" dirty="0"/>
              <a:t>Bar -- Each bar is proportional to the value it represents</a:t>
            </a:r>
          </a:p>
        </p:txBody>
      </p:sp>
      <p:pic>
        <p:nvPicPr>
          <p:cNvPr id="3" name="Picture 2">
            <a:extLst>
              <a:ext uri="{FF2B5EF4-FFF2-40B4-BE49-F238E27FC236}">
                <a16:creationId xmlns:a16="http://schemas.microsoft.com/office/drawing/2014/main" id="{BE2CA8B7-848A-411A-BD1F-79F4885DF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067" y="2629071"/>
            <a:ext cx="6594906" cy="4014921"/>
          </a:xfrm>
          <a:prstGeom prst="rect">
            <a:avLst/>
          </a:prstGeom>
        </p:spPr>
      </p:pic>
    </p:spTree>
    <p:extLst>
      <p:ext uri="{BB962C8B-B14F-4D97-AF65-F5344CB8AC3E}">
        <p14:creationId xmlns:p14="http://schemas.microsoft.com/office/powerpoint/2010/main" val="253063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Figures (Graphs)</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838199" y="1517516"/>
            <a:ext cx="10854447" cy="1027974"/>
          </a:xfrm>
          <a:prstGeom prst="rect">
            <a:avLst/>
          </a:prstGeom>
        </p:spPr>
        <p:txBody>
          <a:bodyPr wrap="square">
            <a:spAutoFit/>
          </a:bodyPr>
          <a:lstStyle/>
          <a:p>
            <a:pPr marL="342900" indent="-342900">
              <a:spcBef>
                <a:spcPct val="20000"/>
              </a:spcBef>
              <a:buFont typeface="Arial" pitchFamily="34" charset="0"/>
              <a:buChar char="•"/>
            </a:pPr>
            <a:r>
              <a:rPr lang="en-US" sz="3200" dirty="0"/>
              <a:t>The most common chart types used in journals include</a:t>
            </a:r>
          </a:p>
          <a:p>
            <a:pPr marL="800100" lvl="1" indent="-342900">
              <a:spcBef>
                <a:spcPct val="20000"/>
              </a:spcBef>
              <a:buFont typeface="Arial" pitchFamily="34" charset="0"/>
              <a:buChar char="•"/>
            </a:pPr>
            <a:r>
              <a:rPr lang="en-US" sz="2400" dirty="0"/>
              <a:t>Pie -- Each "slice" represents the proportion of one component to another</a:t>
            </a:r>
          </a:p>
        </p:txBody>
      </p:sp>
      <p:pic>
        <p:nvPicPr>
          <p:cNvPr id="3" name="Picture 2">
            <a:extLst>
              <a:ext uri="{FF2B5EF4-FFF2-40B4-BE49-F238E27FC236}">
                <a16:creationId xmlns:a16="http://schemas.microsoft.com/office/drawing/2014/main" id="{BE2CA8B7-848A-411A-BD1F-79F4885DF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067" y="2629071"/>
            <a:ext cx="6594906" cy="4014921"/>
          </a:xfrm>
          <a:prstGeom prst="rect">
            <a:avLst/>
          </a:prstGeom>
        </p:spPr>
      </p:pic>
    </p:spTree>
    <p:extLst>
      <p:ext uri="{BB962C8B-B14F-4D97-AF65-F5344CB8AC3E}">
        <p14:creationId xmlns:p14="http://schemas.microsoft.com/office/powerpoint/2010/main" val="2100349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Figures (Graphs)</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838199" y="1517516"/>
            <a:ext cx="10854447" cy="1027974"/>
          </a:xfrm>
          <a:prstGeom prst="rect">
            <a:avLst/>
          </a:prstGeom>
        </p:spPr>
        <p:txBody>
          <a:bodyPr wrap="square">
            <a:spAutoFit/>
          </a:bodyPr>
          <a:lstStyle/>
          <a:p>
            <a:pPr marL="342900" indent="-342900">
              <a:spcBef>
                <a:spcPct val="20000"/>
              </a:spcBef>
              <a:buFont typeface="Arial" pitchFamily="34" charset="0"/>
              <a:buChar char="•"/>
            </a:pPr>
            <a:r>
              <a:rPr lang="en-US" sz="3200" dirty="0"/>
              <a:t>The most common chart types used in journals include</a:t>
            </a:r>
          </a:p>
          <a:p>
            <a:pPr marL="800100" lvl="1" indent="-342900">
              <a:spcBef>
                <a:spcPct val="20000"/>
              </a:spcBef>
              <a:buFont typeface="Arial" pitchFamily="34" charset="0"/>
              <a:buChar char="•"/>
            </a:pPr>
            <a:r>
              <a:rPr lang="en-US" sz="2400" dirty="0"/>
              <a:t>Line - shows how the value is changing</a:t>
            </a:r>
          </a:p>
        </p:txBody>
      </p:sp>
      <p:pic>
        <p:nvPicPr>
          <p:cNvPr id="3" name="Picture 2">
            <a:extLst>
              <a:ext uri="{FF2B5EF4-FFF2-40B4-BE49-F238E27FC236}">
                <a16:creationId xmlns:a16="http://schemas.microsoft.com/office/drawing/2014/main" id="{BE2CA8B7-848A-411A-BD1F-79F4885DF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067" y="2629071"/>
            <a:ext cx="6594906" cy="4014921"/>
          </a:xfrm>
          <a:prstGeom prst="rect">
            <a:avLst/>
          </a:prstGeom>
        </p:spPr>
      </p:pic>
    </p:spTree>
    <p:extLst>
      <p:ext uri="{BB962C8B-B14F-4D97-AF65-F5344CB8AC3E}">
        <p14:creationId xmlns:p14="http://schemas.microsoft.com/office/powerpoint/2010/main" val="1017174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Figures (Graphs)</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838199" y="1517516"/>
            <a:ext cx="10854447" cy="1027974"/>
          </a:xfrm>
          <a:prstGeom prst="rect">
            <a:avLst/>
          </a:prstGeom>
        </p:spPr>
        <p:txBody>
          <a:bodyPr wrap="square">
            <a:spAutoFit/>
          </a:bodyPr>
          <a:lstStyle/>
          <a:p>
            <a:pPr marL="342900" indent="-342900">
              <a:spcBef>
                <a:spcPct val="20000"/>
              </a:spcBef>
              <a:buFont typeface="Arial" pitchFamily="34" charset="0"/>
              <a:buChar char="•"/>
            </a:pPr>
            <a:r>
              <a:rPr lang="en-US" sz="3200" dirty="0"/>
              <a:t>The most common chart types used in journals include</a:t>
            </a:r>
          </a:p>
          <a:p>
            <a:pPr marL="800100" lvl="1" indent="-342900">
              <a:spcBef>
                <a:spcPct val="20000"/>
              </a:spcBef>
              <a:buFont typeface="Arial" pitchFamily="34" charset="0"/>
              <a:buChar char="•"/>
            </a:pPr>
            <a:r>
              <a:rPr lang="en-US" sz="2400" dirty="0"/>
              <a:t>Scatter -- Each dot is relational to all other dots and can show frequency</a:t>
            </a:r>
          </a:p>
        </p:txBody>
      </p:sp>
      <p:pic>
        <p:nvPicPr>
          <p:cNvPr id="3" name="Picture 2">
            <a:extLst>
              <a:ext uri="{FF2B5EF4-FFF2-40B4-BE49-F238E27FC236}">
                <a16:creationId xmlns:a16="http://schemas.microsoft.com/office/drawing/2014/main" id="{BE2CA8B7-848A-411A-BD1F-79F4885DF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067" y="2629071"/>
            <a:ext cx="6594906" cy="4014921"/>
          </a:xfrm>
          <a:prstGeom prst="rect">
            <a:avLst/>
          </a:prstGeom>
        </p:spPr>
      </p:pic>
    </p:spTree>
    <p:extLst>
      <p:ext uri="{BB962C8B-B14F-4D97-AF65-F5344CB8AC3E}">
        <p14:creationId xmlns:p14="http://schemas.microsoft.com/office/powerpoint/2010/main" val="11609244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Figures (Graphs)</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838199" y="1517516"/>
            <a:ext cx="10854447" cy="1027974"/>
          </a:xfrm>
          <a:prstGeom prst="rect">
            <a:avLst/>
          </a:prstGeom>
        </p:spPr>
        <p:txBody>
          <a:bodyPr wrap="square">
            <a:spAutoFit/>
          </a:bodyPr>
          <a:lstStyle/>
          <a:p>
            <a:pPr marL="342900" indent="-342900">
              <a:spcBef>
                <a:spcPct val="20000"/>
              </a:spcBef>
              <a:buFont typeface="Arial" pitchFamily="34" charset="0"/>
              <a:buChar char="•"/>
            </a:pPr>
            <a:r>
              <a:rPr lang="en-US" sz="3200" dirty="0"/>
              <a:t>Other chart types</a:t>
            </a:r>
          </a:p>
          <a:p>
            <a:pPr marL="800100" lvl="1" indent="-342900">
              <a:spcBef>
                <a:spcPct val="20000"/>
              </a:spcBef>
              <a:buFont typeface="Arial" pitchFamily="34" charset="0"/>
              <a:buChar char="•"/>
            </a:pPr>
            <a:r>
              <a:rPr lang="en-US" sz="2400" dirty="0"/>
              <a:t>Doughnut, area, spider, …. </a:t>
            </a:r>
          </a:p>
        </p:txBody>
      </p:sp>
      <p:pic>
        <p:nvPicPr>
          <p:cNvPr id="3" name="Picture 2">
            <a:extLst>
              <a:ext uri="{FF2B5EF4-FFF2-40B4-BE49-F238E27FC236}">
                <a16:creationId xmlns:a16="http://schemas.microsoft.com/office/drawing/2014/main" id="{BE2CA8B7-848A-411A-BD1F-79F4885DF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067" y="2629071"/>
            <a:ext cx="6594906" cy="4014921"/>
          </a:xfrm>
          <a:prstGeom prst="rect">
            <a:avLst/>
          </a:prstGeom>
        </p:spPr>
      </p:pic>
    </p:spTree>
    <p:extLst>
      <p:ext uri="{BB962C8B-B14F-4D97-AF65-F5344CB8AC3E}">
        <p14:creationId xmlns:p14="http://schemas.microsoft.com/office/powerpoint/2010/main" val="13114930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Reading Tables </a:t>
            </a:r>
          </a:p>
        </p:txBody>
      </p:sp>
      <p:sp>
        <p:nvSpPr>
          <p:cNvPr id="7" name="Content Placeholder 6"/>
          <p:cNvSpPr>
            <a:spLocks noGrp="1"/>
          </p:cNvSpPr>
          <p:nvPr>
            <p:ph idx="1"/>
          </p:nvPr>
        </p:nvSpPr>
        <p:spPr/>
        <p:txBody>
          <a:bodyPr>
            <a:normAutofit/>
          </a:bodyPr>
          <a:lstStyle/>
          <a:p>
            <a:pPr>
              <a:spcBef>
                <a:spcPct val="50000"/>
              </a:spcBef>
              <a:buNone/>
            </a:pPr>
            <a:endParaRPr lang="en-US" dirty="0"/>
          </a:p>
          <a:p>
            <a:endParaRPr lang="en-US" dirty="0"/>
          </a:p>
        </p:txBody>
      </p:sp>
      <p:sp>
        <p:nvSpPr>
          <p:cNvPr id="8" name="Rectangle 7"/>
          <p:cNvSpPr/>
          <p:nvPr/>
        </p:nvSpPr>
        <p:spPr>
          <a:xfrm>
            <a:off x="838199" y="1371600"/>
            <a:ext cx="10515599" cy="4770537"/>
          </a:xfrm>
          <a:prstGeom prst="rect">
            <a:avLst/>
          </a:prstGeom>
        </p:spPr>
        <p:txBody>
          <a:bodyPr wrap="square">
            <a:spAutoFit/>
          </a:bodyPr>
          <a:lstStyle/>
          <a:p>
            <a:pPr marL="342900" indent="-342900">
              <a:spcBef>
                <a:spcPct val="20000"/>
              </a:spcBef>
              <a:buFont typeface="Arial" pitchFamily="34" charset="0"/>
              <a:buChar char="•"/>
            </a:pPr>
            <a:r>
              <a:rPr lang="en-US" sz="4000" dirty="0"/>
              <a:t>Look at the entire table</a:t>
            </a:r>
          </a:p>
          <a:p>
            <a:pPr marL="342900" indent="-342900">
              <a:spcBef>
                <a:spcPct val="20000"/>
              </a:spcBef>
              <a:buFont typeface="Arial" pitchFamily="34" charset="0"/>
              <a:buChar char="•"/>
            </a:pPr>
            <a:r>
              <a:rPr lang="en-US" sz="4000" dirty="0"/>
              <a:t>Read the labels (title, column heads and stubs, etc)</a:t>
            </a:r>
          </a:p>
          <a:p>
            <a:pPr marL="342900" indent="-342900">
              <a:spcBef>
                <a:spcPct val="20000"/>
              </a:spcBef>
              <a:buFont typeface="Arial" pitchFamily="34" charset="0"/>
              <a:buChar char="•"/>
            </a:pPr>
            <a:r>
              <a:rPr lang="en-US" sz="4000" dirty="0"/>
              <a:t>Read any keys/legends, captions or notes/explanations</a:t>
            </a:r>
          </a:p>
          <a:p>
            <a:pPr marL="342900" indent="-342900">
              <a:spcBef>
                <a:spcPct val="20000"/>
              </a:spcBef>
              <a:buFont typeface="Arial" pitchFamily="34" charset="0"/>
              <a:buChar char="•"/>
            </a:pPr>
            <a:r>
              <a:rPr lang="en-US" sz="4000" dirty="0"/>
              <a:t>Look for a narrative explanation of the table in the body of the text.</a:t>
            </a:r>
          </a:p>
        </p:txBody>
      </p:sp>
    </p:spTree>
    <p:extLst>
      <p:ext uri="{BB962C8B-B14F-4D97-AF65-F5344CB8AC3E}">
        <p14:creationId xmlns:p14="http://schemas.microsoft.com/office/powerpoint/2010/main" val="217460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8BB2-8E78-438E-9CDA-439C60ECD48A}"/>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A97ABEF5-024D-44E3-8D51-AB4D0388AD09}"/>
              </a:ext>
            </a:extLst>
          </p:cNvPr>
          <p:cNvSpPr>
            <a:spLocks noGrp="1"/>
          </p:cNvSpPr>
          <p:nvPr>
            <p:ph idx="1"/>
          </p:nvPr>
        </p:nvSpPr>
        <p:spPr/>
        <p:txBody>
          <a:bodyPr>
            <a:normAutofit/>
          </a:bodyPr>
          <a:lstStyle/>
          <a:p>
            <a:r>
              <a:rPr lang="en-GB" sz="4000" dirty="0"/>
              <a:t>Understanding the different parts of a scientific article can help the reader to understand the material</a:t>
            </a:r>
          </a:p>
          <a:p>
            <a:endParaRPr lang="en-GB" sz="4000" dirty="0"/>
          </a:p>
          <a:p>
            <a:endParaRPr lang="en-GB" sz="3200" dirty="0"/>
          </a:p>
          <a:p>
            <a:r>
              <a:rPr lang="en-GB" sz="3200" dirty="0">
                <a:hlinkClick r:id="rId2"/>
              </a:rPr>
              <a:t>https://guides.libraries.indiana.edu/c.php?g=992698&amp;p=7182643</a:t>
            </a:r>
            <a:endParaRPr lang="en-GB" sz="3200" dirty="0"/>
          </a:p>
          <a:p>
            <a:endParaRPr lang="en-GB" sz="4000" dirty="0"/>
          </a:p>
        </p:txBody>
      </p:sp>
    </p:spTree>
    <p:extLst>
      <p:ext uri="{BB962C8B-B14F-4D97-AF65-F5344CB8AC3E}">
        <p14:creationId xmlns:p14="http://schemas.microsoft.com/office/powerpoint/2010/main" val="13306631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Title</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a:bodyPr>
          <a:lstStyle/>
          <a:p>
            <a:r>
              <a:rPr lang="en-GB" sz="4400" dirty="0"/>
              <a:t>The title of the article can give the reader a lot of information about its contents, such as the topic, major ideas, etc. </a:t>
            </a:r>
          </a:p>
        </p:txBody>
      </p:sp>
    </p:spTree>
    <p:extLst>
      <p:ext uri="{BB962C8B-B14F-4D97-AF65-F5344CB8AC3E}">
        <p14:creationId xmlns:p14="http://schemas.microsoft.com/office/powerpoint/2010/main" val="13567611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Abstract</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a:bodyPr>
          <a:lstStyle/>
          <a:p>
            <a:r>
              <a:rPr lang="en-GB" sz="4800" dirty="0"/>
              <a:t>Abstracts help to summarize the article and give the reader a preview of the material they are about to read. </a:t>
            </a:r>
          </a:p>
        </p:txBody>
      </p:sp>
    </p:spTree>
    <p:extLst>
      <p:ext uri="{BB962C8B-B14F-4D97-AF65-F5344CB8AC3E}">
        <p14:creationId xmlns:p14="http://schemas.microsoft.com/office/powerpoint/2010/main" val="2680290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fontScale="77500" lnSpcReduction="20000"/>
          </a:bodyPr>
          <a:lstStyle/>
          <a:p>
            <a:r>
              <a:rPr lang="en-GB" dirty="0"/>
              <a:t>The introduction will provide an explanation to the purpose of the article. Usually, this will also include other relevant research or data that can help the reader understand the material in the article. </a:t>
            </a:r>
          </a:p>
          <a:p>
            <a:r>
              <a:rPr lang="en-GB" dirty="0"/>
              <a:t>The research question will be presented in this part of the article and should help the reader to understand what the author expected to find or understand. </a:t>
            </a:r>
          </a:p>
          <a:p>
            <a:r>
              <a:rPr lang="en-GB" dirty="0"/>
              <a:t>When reading the introduction it is best to keep a few questions in mind:</a:t>
            </a:r>
          </a:p>
          <a:p>
            <a:pPr lvl="1"/>
            <a:r>
              <a:rPr lang="en-GB" dirty="0"/>
              <a:t>What is the article's purpose being stated in the introduction?</a:t>
            </a:r>
          </a:p>
          <a:p>
            <a:pPr lvl="1"/>
            <a:r>
              <a:rPr lang="en-GB" dirty="0"/>
              <a:t>Why would this article be of interest to experts in the field?</a:t>
            </a:r>
          </a:p>
          <a:p>
            <a:pPr lvl="1"/>
            <a:r>
              <a:rPr lang="en-GB" dirty="0"/>
              <a:t>What is already known, or not known, about this topic? </a:t>
            </a:r>
          </a:p>
          <a:p>
            <a:pPr lvl="1"/>
            <a:r>
              <a:rPr lang="en-GB" dirty="0"/>
              <a:t>What specifically is the hypothesis? If one is not given, what are the expectations of the author?</a:t>
            </a:r>
          </a:p>
          <a:p>
            <a:r>
              <a:rPr lang="en-GB" dirty="0"/>
              <a:t>Having these questions in mind when reading the introduction can help the reader gain an understanding of the article as a whole. A good research article will answer these questions in the introduction and be consistent with their explanation throughout the rest of the article. </a:t>
            </a:r>
          </a:p>
        </p:txBody>
      </p:sp>
    </p:spTree>
    <p:extLst>
      <p:ext uri="{BB962C8B-B14F-4D97-AF65-F5344CB8AC3E}">
        <p14:creationId xmlns:p14="http://schemas.microsoft.com/office/powerpoint/2010/main" val="41526157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Method</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a:bodyPr>
          <a:lstStyle/>
          <a:p>
            <a:r>
              <a:rPr lang="en-GB" dirty="0"/>
              <a:t>The method section of a scientific paper guides the reader through the approach taken with the research. </a:t>
            </a:r>
          </a:p>
          <a:p>
            <a:r>
              <a:rPr lang="en-GB" dirty="0"/>
              <a:t>This section answers why the researcher chose specific procedures and justifies the design of the experiment. </a:t>
            </a:r>
          </a:p>
          <a:p>
            <a:r>
              <a:rPr lang="en-GB" dirty="0"/>
              <a:t>When reading the methods section, keep these questions in mind:</a:t>
            </a:r>
          </a:p>
          <a:p>
            <a:pPr lvl="1"/>
            <a:r>
              <a:rPr lang="en-GB" dirty="0"/>
              <a:t>What are the specific methods used by the researcher?</a:t>
            </a:r>
          </a:p>
          <a:p>
            <a:pPr lvl="1"/>
            <a:r>
              <a:rPr lang="en-GB" dirty="0"/>
              <a:t>Does the researcher provide a coherent and viable plan for their experiment?</a:t>
            </a:r>
          </a:p>
          <a:p>
            <a:pPr lvl="1"/>
            <a:r>
              <a:rPr lang="en-GB" dirty="0"/>
              <a:t>Has the author missed any variables that could affect the results of their findings?</a:t>
            </a:r>
          </a:p>
          <a:p>
            <a:pPr lvl="1"/>
            <a:r>
              <a:rPr lang="en-GB" dirty="0"/>
              <a:t>How do the methods in this article compare with similar articles?</a:t>
            </a:r>
          </a:p>
        </p:txBody>
      </p:sp>
    </p:spTree>
    <p:extLst>
      <p:ext uri="{BB962C8B-B14F-4D97-AF65-F5344CB8AC3E}">
        <p14:creationId xmlns:p14="http://schemas.microsoft.com/office/powerpoint/2010/main" val="3580711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Results</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lnSpcReduction="10000"/>
          </a:bodyPr>
          <a:lstStyle/>
          <a:p>
            <a:r>
              <a:rPr lang="en-GB" dirty="0"/>
              <a:t>The results are the findings from the experiment. It is important that the results section simply states the outcome of the experiment or research, without interpretation. Many times, this section will include numerical or statistical evidence, along with graphs, charts, or other figures. </a:t>
            </a:r>
          </a:p>
          <a:p>
            <a:r>
              <a:rPr lang="en-GB" dirty="0"/>
              <a:t>When reading the results sections of an article, keep these questions in mind:</a:t>
            </a:r>
          </a:p>
          <a:p>
            <a:pPr lvl="1"/>
            <a:r>
              <a:rPr lang="en-GB" dirty="0"/>
              <a:t>How do the results relate to the hypothesis stated in the introduction? </a:t>
            </a:r>
          </a:p>
          <a:p>
            <a:pPr lvl="2"/>
            <a:r>
              <a:rPr lang="en-GB" dirty="0"/>
              <a:t>Ex: they are correlated and support the hypothesis, they contradict they hypothesis, </a:t>
            </a:r>
            <a:r>
              <a:rPr lang="en-GB" dirty="0" err="1"/>
              <a:t>ect</a:t>
            </a:r>
            <a:r>
              <a:rPr lang="en-GB" dirty="0"/>
              <a:t>. </a:t>
            </a:r>
          </a:p>
          <a:p>
            <a:pPr lvl="1"/>
            <a:r>
              <a:rPr lang="en-GB" dirty="0"/>
              <a:t>If there are differences from the hypothesis, what differences did the researcher find?</a:t>
            </a:r>
          </a:p>
          <a:p>
            <a:pPr lvl="1"/>
            <a:r>
              <a:rPr lang="en-GB" dirty="0"/>
              <a:t>Are the findings described in an unbiased way?</a:t>
            </a:r>
          </a:p>
        </p:txBody>
      </p:sp>
    </p:spTree>
    <p:extLst>
      <p:ext uri="{BB962C8B-B14F-4D97-AF65-F5344CB8AC3E}">
        <p14:creationId xmlns:p14="http://schemas.microsoft.com/office/powerpoint/2010/main" val="3089338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Discussion</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fontScale="92500" lnSpcReduction="10000"/>
          </a:bodyPr>
          <a:lstStyle/>
          <a:p>
            <a:r>
              <a:rPr lang="en-GB" dirty="0"/>
              <a:t>The discussion summarizes the finding from the experiment or research. This section highlights the interpretation from the data, new discoveries, or other relevant information that have come from the article. The author will propose new research or insights into the problem undertaken in the introduction. </a:t>
            </a:r>
          </a:p>
          <a:p>
            <a:r>
              <a:rPr lang="en-GB" dirty="0"/>
              <a:t>When reading the discussion, keep these questions in mind:</a:t>
            </a:r>
          </a:p>
          <a:p>
            <a:pPr lvl="1"/>
            <a:r>
              <a:rPr lang="en-GB" dirty="0"/>
              <a:t>Is there new information presented that wasn't known before?</a:t>
            </a:r>
          </a:p>
          <a:p>
            <a:pPr lvl="1"/>
            <a:r>
              <a:rPr lang="en-GB" dirty="0"/>
              <a:t>Is the researcher unbiased in their presentation?</a:t>
            </a:r>
          </a:p>
          <a:p>
            <a:pPr lvl="1"/>
            <a:r>
              <a:rPr lang="en-GB" dirty="0"/>
              <a:t>What are the real-world implication of the findings? </a:t>
            </a:r>
          </a:p>
          <a:p>
            <a:pPr lvl="2"/>
            <a:r>
              <a:rPr lang="en-GB" dirty="0"/>
              <a:t>Ex: More research needs to be done, the findings show a solution to a known problem, etc.</a:t>
            </a:r>
          </a:p>
          <a:p>
            <a:pPr lvl="1"/>
            <a:r>
              <a:rPr lang="en-GB" dirty="0"/>
              <a:t>What suggestions are made about future research? If no suggestions are made, should there be?</a:t>
            </a:r>
          </a:p>
        </p:txBody>
      </p:sp>
    </p:spTree>
    <p:extLst>
      <p:ext uri="{BB962C8B-B14F-4D97-AF65-F5344CB8AC3E}">
        <p14:creationId xmlns:p14="http://schemas.microsoft.com/office/powerpoint/2010/main" val="38810473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a:bodyPr>
          <a:lstStyle/>
          <a:p>
            <a:r>
              <a:rPr lang="en-GB" sz="4000" dirty="0"/>
              <a:t>The conclusion points out the important findings from the experiment or research. </a:t>
            </a:r>
          </a:p>
          <a:p>
            <a:r>
              <a:rPr lang="en-GB" sz="4000" dirty="0"/>
              <a:t>Occasionally, it will incorporated into the discussion section of the paper. </a:t>
            </a:r>
          </a:p>
        </p:txBody>
      </p:sp>
    </p:spTree>
    <p:extLst>
      <p:ext uri="{BB962C8B-B14F-4D97-AF65-F5344CB8AC3E}">
        <p14:creationId xmlns:p14="http://schemas.microsoft.com/office/powerpoint/2010/main" val="34516906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013F-D862-48DF-BCBD-6B716C320790}"/>
              </a:ext>
            </a:extLst>
          </p:cNvPr>
          <p:cNvSpPr>
            <a:spLocks noGrp="1"/>
          </p:cNvSpPr>
          <p:nvPr>
            <p:ph type="title"/>
          </p:nvPr>
        </p:nvSpPr>
        <p:spPr/>
        <p:txBody>
          <a:bodyPr/>
          <a:lstStyle/>
          <a:p>
            <a:r>
              <a:rPr lang="en-GB" dirty="0"/>
              <a:t>General Tips</a:t>
            </a:r>
          </a:p>
        </p:txBody>
      </p:sp>
      <p:sp>
        <p:nvSpPr>
          <p:cNvPr id="3" name="Content Placeholder 2">
            <a:extLst>
              <a:ext uri="{FF2B5EF4-FFF2-40B4-BE49-F238E27FC236}">
                <a16:creationId xmlns:a16="http://schemas.microsoft.com/office/drawing/2014/main" id="{B6A19ABA-8B60-49A4-9967-1475A5F6643C}"/>
              </a:ext>
            </a:extLst>
          </p:cNvPr>
          <p:cNvSpPr>
            <a:spLocks noGrp="1"/>
          </p:cNvSpPr>
          <p:nvPr>
            <p:ph idx="1"/>
          </p:nvPr>
        </p:nvSpPr>
        <p:spPr/>
        <p:txBody>
          <a:bodyPr>
            <a:normAutofit fontScale="92500" lnSpcReduction="20000"/>
          </a:bodyPr>
          <a:lstStyle/>
          <a:p>
            <a:r>
              <a:rPr lang="en-GB" dirty="0"/>
              <a:t>Fully comprehending a scientific article will most likely take more than one read. Don't be discouraged if you don't understand everything the first time, reading scientific papers is a skill that is developed with practice. </a:t>
            </a:r>
          </a:p>
          <a:p>
            <a:r>
              <a:rPr lang="en-GB" dirty="0"/>
              <a:t>Start with the broad and then to the specific. Begin by understanding the topic of the article before trying to dig through all the fine points the author is making. </a:t>
            </a:r>
          </a:p>
          <a:p>
            <a:r>
              <a:rPr lang="en-GB" dirty="0"/>
              <a:t>Always read the tables, charts, and figures. These will give a visual clue to the methods and results sections of the paper and help you to understand the data. The author put these in the paper for a reason, don't dismiss their importance. </a:t>
            </a:r>
          </a:p>
          <a:p>
            <a:r>
              <a:rPr lang="en-GB" dirty="0"/>
              <a:t>Don't be afraid to ask questions or look up definitions. If you do not understand a term or concept, do not be afraid to ask for help or look up an explanation. </a:t>
            </a:r>
          </a:p>
        </p:txBody>
      </p:sp>
    </p:spTree>
    <p:extLst>
      <p:ext uri="{BB962C8B-B14F-4D97-AF65-F5344CB8AC3E}">
        <p14:creationId xmlns:p14="http://schemas.microsoft.com/office/powerpoint/2010/main" val="4079098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6925</TotalTime>
  <Words>2918</Words>
  <Application>Microsoft Office PowerPoint</Application>
  <PresentationFormat>Widescreen</PresentationFormat>
  <Paragraphs>269</Paragraphs>
  <Slides>53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等线</vt:lpstr>
      <vt:lpstr>Arial</vt:lpstr>
      <vt:lpstr>Calibri</vt:lpstr>
      <vt:lpstr>Calibri Light</vt:lpstr>
      <vt:lpstr>Times New Roman</vt:lpstr>
      <vt:lpstr>Wingdings</vt:lpstr>
      <vt:lpstr>Office Theme</vt:lpstr>
      <vt:lpstr>Research Communication Skills</vt:lpstr>
      <vt:lpstr>Review - A day of a researcher </vt:lpstr>
      <vt:lpstr>How much time does a researcher spend reading papers?</vt:lpstr>
      <vt:lpstr>Have you ever read a research paper?</vt:lpstr>
      <vt:lpstr>Intended Learning Outcomes</vt:lpstr>
      <vt:lpstr>PowerPoint Presentation</vt:lpstr>
      <vt:lpstr>Do you know how to read research papers?</vt:lpstr>
      <vt:lpstr>PowerPoint Presentation</vt:lpstr>
      <vt:lpstr>Reading a research paper is different than other reading! </vt:lpstr>
      <vt:lpstr>PowerPoint Presentation</vt:lpstr>
      <vt:lpstr>Recall one of the definitions of research</vt:lpstr>
      <vt:lpstr>Recall Research Goals</vt:lpstr>
      <vt:lpstr>Recall Research Process </vt:lpstr>
      <vt:lpstr>Reading research papers </vt:lpstr>
      <vt:lpstr>Reading for comprehension - activity   </vt:lpstr>
      <vt:lpstr>PowerPoint Presentation</vt:lpstr>
      <vt:lpstr> </vt:lpstr>
      <vt:lpstr>PowerPoint Presentation</vt:lpstr>
      <vt:lpstr>Different purposes to read the paper (1) </vt:lpstr>
      <vt:lpstr>Different purposes to read the paper (2) </vt:lpstr>
      <vt:lpstr>Recall our example earlier</vt:lpstr>
      <vt:lpstr>PowerPoint Presentation</vt:lpstr>
      <vt:lpstr>PowerPoint Presentation</vt:lpstr>
      <vt:lpstr>What are the common sections in a research article?</vt:lpstr>
      <vt:lpstr>Sections of the Research Paper</vt:lpstr>
      <vt:lpstr>Research paper structure</vt:lpstr>
      <vt:lpstr>PowerPoint Presentation</vt:lpstr>
      <vt:lpstr>Abstract</vt:lpstr>
      <vt:lpstr>Exercise 1</vt:lpstr>
      <vt:lpstr>PowerPoint Presentation</vt:lpstr>
      <vt:lpstr>Group work task 1</vt:lpstr>
      <vt:lpstr>Introduction</vt:lpstr>
      <vt:lpstr>Introduction</vt:lpstr>
      <vt:lpstr>Introduction</vt:lpstr>
      <vt:lpstr>Sections of the Research Paper</vt:lpstr>
      <vt:lpstr>Figures and Tables</vt:lpstr>
      <vt:lpstr>Reading Figures (Drawings)</vt:lpstr>
      <vt:lpstr>Reading Figures (Graphs)</vt:lpstr>
      <vt:lpstr>Reading Figures (Graphs)</vt:lpstr>
      <vt:lpstr>Reading Figures (Graphs)</vt:lpstr>
      <vt:lpstr>Reading Figures (Graphs)</vt:lpstr>
      <vt:lpstr>Reading Figures (Graphs)</vt:lpstr>
      <vt:lpstr>Reading Figures (Graphs)</vt:lpstr>
      <vt:lpstr>Reading Tables </vt:lpstr>
      <vt:lpstr>PowerPoint Presentation</vt:lpstr>
      <vt:lpstr>Title</vt:lpstr>
      <vt:lpstr>Abstract</vt:lpstr>
      <vt:lpstr>Introduction</vt:lpstr>
      <vt:lpstr>Method</vt:lpstr>
      <vt:lpstr>Results</vt:lpstr>
      <vt:lpstr>Discussion</vt:lpstr>
      <vt:lpstr>Conclusion</vt:lpstr>
      <vt:lpstr>General Tips</vt:lpstr>
    </vt:vector>
  </TitlesOfParts>
  <Company>HKPU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hkpuadmin</dc:creator>
  <cp:lastModifiedBy>Joanna Siebert</cp:lastModifiedBy>
  <cp:revision>282</cp:revision>
  <cp:lastPrinted>2019-09-03T08:34:37Z</cp:lastPrinted>
  <dcterms:created xsi:type="dcterms:W3CDTF">2014-08-14T09:54:55Z</dcterms:created>
  <dcterms:modified xsi:type="dcterms:W3CDTF">2026-09-10T09:09:17Z</dcterms:modified>
</cp:coreProperties>
</file>