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306" r:id="rId2"/>
    <p:sldId id="502" r:id="rId3"/>
    <p:sldId id="503" r:id="rId4"/>
    <p:sldId id="504" r:id="rId5"/>
    <p:sldId id="505" r:id="rId6"/>
    <p:sldId id="506" r:id="rId7"/>
    <p:sldId id="507"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469" r:id="rId25"/>
    <p:sldId id="464" r:id="rId26"/>
    <p:sldId id="468" r:id="rId27"/>
    <p:sldId id="470" r:id="rId28"/>
    <p:sldId id="471" r:id="rId29"/>
    <p:sldId id="465" r:id="rId30"/>
    <p:sldId id="472" r:id="rId31"/>
    <p:sldId id="368" r:id="rId32"/>
    <p:sldId id="474" r:id="rId33"/>
    <p:sldId id="453" r:id="rId34"/>
    <p:sldId id="477" r:id="rId35"/>
    <p:sldId id="476" r:id="rId36"/>
    <p:sldId id="475" r:id="rId37"/>
    <p:sldId id="534" r:id="rId38"/>
    <p:sldId id="478" r:id="rId39"/>
    <p:sldId id="479" r:id="rId40"/>
    <p:sldId id="480" r:id="rId41"/>
    <p:sldId id="497" r:id="rId42"/>
    <p:sldId id="498" r:id="rId43"/>
    <p:sldId id="483" r:id="rId44"/>
    <p:sldId id="485" r:id="rId45"/>
    <p:sldId id="487" r:id="rId46"/>
    <p:sldId id="489" r:id="rId47"/>
    <p:sldId id="491" r:id="rId48"/>
    <p:sldId id="493" r:id="rId49"/>
    <p:sldId id="494" r:id="rId50"/>
    <p:sldId id="495" r:id="rId51"/>
    <p:sldId id="370" r:id="rId52"/>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autoAdjust="0"/>
    <p:restoredTop sz="94660"/>
  </p:normalViewPr>
  <p:slideViewPr>
    <p:cSldViewPr snapToGrid="0">
      <p:cViewPr varScale="1">
        <p:scale>
          <a:sx n="115" d="100"/>
          <a:sy n="115" d="100"/>
        </p:scale>
        <p:origin x="150" y="6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01/09/2026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2026/9/1</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9</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613448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10</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952768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13</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966549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A0E5287-F041-4A2C-9FA4-A172F368D77B}"/>
              </a:ext>
            </a:extLst>
          </p:cNvPr>
          <p:cNvSpPr>
            <a:spLocks noGrp="1" noChangeArrowheads="1"/>
          </p:cNvSpPr>
          <p:nvPr>
            <p:ph type="sldNum" sz="quarter" idx="5"/>
          </p:nvPr>
        </p:nvSpPr>
        <p:spPr>
          <a:ln/>
        </p:spPr>
        <p:txBody>
          <a:bodyPr/>
          <a:lstStyle/>
          <a:p>
            <a:fld id="{AD7390B3-1E36-48FD-B74F-1FAF8ECC9A5E}" type="slidenum">
              <a:rPr lang="en-US" altLang="en-US"/>
              <a:pPr/>
              <a:t>14</a:t>
            </a:fld>
            <a:endParaRPr lang="en-US" altLang="en-US"/>
          </a:p>
        </p:txBody>
      </p:sp>
      <p:sp>
        <p:nvSpPr>
          <p:cNvPr id="106498" name="Rectangle 2">
            <a:extLst>
              <a:ext uri="{FF2B5EF4-FFF2-40B4-BE49-F238E27FC236}">
                <a16:creationId xmlns:a16="http://schemas.microsoft.com/office/drawing/2014/main" id="{AF086EE8-EBE3-4E1C-A164-37063ECF1E48}"/>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C9119EEB-5D15-4F8D-8A90-DF9F5BC7FB97}"/>
              </a:ext>
            </a:extLst>
          </p:cNvPr>
          <p:cNvSpPr>
            <a:spLocks noGrp="1" noChangeArrowheads="1"/>
          </p:cNvSpPr>
          <p:nvPr>
            <p:ph type="body" idx="1"/>
          </p:nvPr>
        </p:nvSpPr>
        <p:spPr>
          <a:xfrm>
            <a:off x="906357" y="4716661"/>
            <a:ext cx="4984962" cy="4468416"/>
          </a:xfrm>
        </p:spPr>
        <p:txBody>
          <a:bodyPr/>
          <a:lstStyle/>
          <a:p>
            <a:r>
              <a:rPr lang="en-US" altLang="en-US"/>
              <a:t>The literature review is often a good source for additional ideas. This is also a good place to go in conjunction with the prior step; there’s no point in wasting good brain cells coming up with hypotheses that solve a problem that has already been adequately addressed.</a:t>
            </a:r>
          </a:p>
        </p:txBody>
      </p:sp>
    </p:spTree>
    <p:extLst>
      <p:ext uri="{BB962C8B-B14F-4D97-AF65-F5344CB8AC3E}">
        <p14:creationId xmlns:p14="http://schemas.microsoft.com/office/powerpoint/2010/main" val="3183064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15</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480022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B7110C-E919-434B-BAF8-8355C3BA4749}"/>
              </a:ext>
            </a:extLst>
          </p:cNvPr>
          <p:cNvSpPr>
            <a:spLocks noGrp="1" noChangeArrowheads="1"/>
          </p:cNvSpPr>
          <p:nvPr>
            <p:ph type="sldNum" sz="quarter" idx="5"/>
          </p:nvPr>
        </p:nvSpPr>
        <p:spPr>
          <a:ln/>
        </p:spPr>
        <p:txBody>
          <a:bodyPr/>
          <a:lstStyle/>
          <a:p>
            <a:fld id="{3658CFDA-F01C-4236-ABD3-4CA36E76727E}" type="slidenum">
              <a:rPr lang="en-US" altLang="en-US"/>
              <a:pPr/>
              <a:t>16</a:t>
            </a:fld>
            <a:endParaRPr lang="en-US" altLang="en-US"/>
          </a:p>
        </p:txBody>
      </p:sp>
      <p:sp>
        <p:nvSpPr>
          <p:cNvPr id="95234" name="Rectangle 2">
            <a:extLst>
              <a:ext uri="{FF2B5EF4-FFF2-40B4-BE49-F238E27FC236}">
                <a16:creationId xmlns:a16="http://schemas.microsoft.com/office/drawing/2014/main" id="{DB4B41D8-1A77-4CD1-A5B8-54B8CDB48D5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9D59939E-4282-4272-AADE-156B50039C11}"/>
              </a:ext>
            </a:extLst>
          </p:cNvPr>
          <p:cNvSpPr>
            <a:spLocks noGrp="1" noChangeArrowheads="1"/>
          </p:cNvSpPr>
          <p:nvPr>
            <p:ph type="body" idx="1"/>
          </p:nvPr>
        </p:nvSpPr>
        <p:spPr>
          <a:xfrm>
            <a:off x="906357" y="4716661"/>
            <a:ext cx="4984962" cy="4468416"/>
          </a:xfrm>
        </p:spPr>
        <p:txBody>
          <a:bodyPr/>
          <a:lstStyle/>
          <a:p>
            <a:r>
              <a:rPr lang="en-US" altLang="en-US"/>
              <a:t>There are some basic variations on this theme, but all of these areas will be covered. This format serves to crystalize your thought process and to help ensure that no critical elements of your research have been neglected.</a:t>
            </a:r>
          </a:p>
        </p:txBody>
      </p:sp>
    </p:spTree>
    <p:extLst>
      <p:ext uri="{BB962C8B-B14F-4D97-AF65-F5344CB8AC3E}">
        <p14:creationId xmlns:p14="http://schemas.microsoft.com/office/powerpoint/2010/main" val="1753576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17</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077849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19</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670315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22</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301207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0688" y="1241425"/>
            <a:ext cx="5956300" cy="3351213"/>
          </a:xfrm>
        </p:spPr>
      </p:sp>
      <p:sp>
        <p:nvSpPr>
          <p:cNvPr id="3" name="Notes Placeholder 2"/>
          <p:cNvSpPr>
            <a:spLocks noGrp="1"/>
          </p:cNvSpPr>
          <p:nvPr>
            <p:ph type="body" idx="1"/>
          </p:nvPr>
        </p:nvSpPr>
        <p:spPr/>
        <p:txBody>
          <a:bodyPr/>
          <a:lstStyle/>
          <a:p>
            <a:r>
              <a:rPr lang="en-GB" dirty="0">
                <a:cs typeface="Calibri"/>
              </a:rPr>
              <a:t>You need to develop a formal 'academic voice' in your writing. This is one that follows and replicates established conventions in terms of structure (essay intro, middle, conclusion) formality and referencing. You must do this if you want to achieve a good grades in a higher education context.</a:t>
            </a:r>
          </a:p>
          <a:p>
            <a:endParaRPr lang="en-GB" dirty="0">
              <a:cs typeface="Calibri"/>
            </a:endParaRPr>
          </a:p>
          <a:p>
            <a:r>
              <a:rPr lang="en-GB" dirty="0">
                <a:cs typeface="Calibri"/>
              </a:rPr>
              <a:t>The</a:t>
            </a:r>
            <a:r>
              <a:rPr lang="en-GB" baseline="0" dirty="0">
                <a:cs typeface="Calibri"/>
              </a:rPr>
              <a:t> style of</a:t>
            </a:r>
            <a:r>
              <a:rPr lang="en-GB" dirty="0">
                <a:cs typeface="Calibri"/>
              </a:rPr>
              <a:t> academic writing</a:t>
            </a:r>
            <a:r>
              <a:rPr lang="en-GB" baseline="0" dirty="0">
                <a:cs typeface="Calibri"/>
              </a:rPr>
              <a:t> is unique and</a:t>
            </a:r>
            <a:r>
              <a:rPr lang="en-GB" dirty="0">
                <a:cs typeface="Calibri"/>
              </a:rPr>
              <a:t> has distinct (though sometimes subtle) differences from all other genres and approaches (journalism, reflective writing, report writing, novels, creative writing). The best way to identify these differences is to look out them yourself as you read through other written formats.</a:t>
            </a:r>
          </a:p>
          <a:p>
            <a:endParaRPr lang="en-GB" dirty="0">
              <a:cs typeface="Calibri"/>
            </a:endParaRPr>
          </a:p>
          <a:p>
            <a:r>
              <a:rPr lang="en-GB" dirty="0">
                <a:cs typeface="Calibri"/>
              </a:rPr>
              <a:t>The ability to write in an academic style is not something that we are</a:t>
            </a:r>
            <a:r>
              <a:rPr lang="en-GB" baseline="0" dirty="0">
                <a:cs typeface="Calibri"/>
              </a:rPr>
              <a:t> born with, but it is something that can be learnt and developed by consistent and conscientious practice.</a:t>
            </a:r>
            <a:endParaRPr lang="en-GB" dirty="0">
              <a:cs typeface="Calibri"/>
            </a:endParaRPr>
          </a:p>
        </p:txBody>
      </p:sp>
      <p:sp>
        <p:nvSpPr>
          <p:cNvPr id="4" name="Slide Number Placeholder 3"/>
          <p:cNvSpPr>
            <a:spLocks noGrp="1"/>
          </p:cNvSpPr>
          <p:nvPr>
            <p:ph type="sldNum" sz="quarter" idx="5"/>
          </p:nvPr>
        </p:nvSpPr>
        <p:spPr/>
        <p:txBody>
          <a:bodyPr/>
          <a:lstStyle/>
          <a:p>
            <a:fld id="{D2BD73FA-CBC3-4E8E-AB7E-D17E626C479F}" type="slidenum">
              <a:rPr lang="en-GB" smtClean="0"/>
              <a:t>51</a:t>
            </a:fld>
            <a:endParaRPr lang="en-GB"/>
          </a:p>
        </p:txBody>
      </p:sp>
    </p:spTree>
    <p:extLst>
      <p:ext uri="{BB962C8B-B14F-4D97-AF65-F5344CB8AC3E}">
        <p14:creationId xmlns:p14="http://schemas.microsoft.com/office/powerpoint/2010/main" val="2837069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google.com.hk/url?sa=i&amp;rct=j&amp;q=&amp;esrc=s&amp;source=images&amp;cd=&amp;ved=2ahUKEwjLrrG697PkAhUJzIsBHfqgAdQQjRx6BAgBEAQ&amp;url=https://www.taproot.com/using-taproot-for-simple-investigations/&amp;psig=AOvVaw3j1M4JXWtQEAEzbW_r_-yQ&amp;ust=1567575342554033"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45475"/>
            <a:ext cx="9144000" cy="2387600"/>
          </a:xfrm>
        </p:spPr>
        <p:txBody>
          <a:bodyPr/>
          <a:lstStyle/>
          <a:p>
            <a:r>
              <a:rPr lang="en-US" dirty="0"/>
              <a:t>Research Communication Skills</a:t>
            </a:r>
          </a:p>
        </p:txBody>
      </p:sp>
      <p:sp>
        <p:nvSpPr>
          <p:cNvPr id="3" name="Subtitle 2"/>
          <p:cNvSpPr>
            <a:spLocks noGrp="1"/>
          </p:cNvSpPr>
          <p:nvPr>
            <p:ph type="subTitle" idx="1"/>
          </p:nvPr>
        </p:nvSpPr>
        <p:spPr>
          <a:xfrm>
            <a:off x="1524000" y="4625150"/>
            <a:ext cx="9144000" cy="1655762"/>
          </a:xfrm>
        </p:spPr>
        <p:txBody>
          <a:bodyPr/>
          <a:lstStyle/>
          <a:p>
            <a:r>
              <a:rPr lang="en-US" dirty="0"/>
              <a:t>Introduction to the subject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26810"/>
            <a:ext cx="3886200" cy="2513076"/>
          </a:xfrm>
          <a:prstGeom prst="rect">
            <a:avLst/>
          </a:prstGeom>
        </p:spPr>
      </p:pic>
    </p:spTree>
    <p:extLst>
      <p:ext uri="{BB962C8B-B14F-4D97-AF65-F5344CB8AC3E}">
        <p14:creationId xmlns:p14="http://schemas.microsoft.com/office/powerpoint/2010/main" val="1320770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a:t>Intended Learning Outcomes</a:t>
            </a:r>
          </a:p>
        </p:txBody>
      </p:sp>
      <p:sp>
        <p:nvSpPr>
          <p:cNvPr id="3" name="内容占位符 2"/>
          <p:cNvSpPr>
            <a:spLocks noGrp="1"/>
          </p:cNvSpPr>
          <p:nvPr>
            <p:ph idx="1"/>
          </p:nvPr>
        </p:nvSpPr>
        <p:spPr/>
        <p:txBody>
          <a:bodyPr/>
          <a:lstStyle/>
          <a:p>
            <a:r>
              <a:rPr lang="en-GB" sz="4000" dirty="0"/>
              <a:t>By the end of this lesson, you will be able to:</a:t>
            </a:r>
          </a:p>
          <a:p>
            <a:pPr lvl="1"/>
            <a:r>
              <a:rPr lang="en-GB" sz="3600" dirty="0"/>
              <a:t>Describe a research process, key players and goals</a:t>
            </a:r>
          </a:p>
          <a:p>
            <a:pPr lvl="1"/>
            <a:r>
              <a:rPr lang="en-GB" sz="3600" dirty="0"/>
              <a:t>Understand the background of academic writing &amp; language</a:t>
            </a:r>
          </a:p>
          <a:p>
            <a:endParaRPr lang="en-GB" dirty="0"/>
          </a:p>
        </p:txBody>
      </p:sp>
    </p:spTree>
    <p:extLst>
      <p:ext uri="{BB962C8B-B14F-4D97-AF65-F5344CB8AC3E}">
        <p14:creationId xmlns:p14="http://schemas.microsoft.com/office/powerpoint/2010/main" val="415838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595856"/>
            <a:ext cx="10515600" cy="2852737"/>
          </a:xfrm>
        </p:spPr>
        <p:txBody>
          <a:bodyPr/>
          <a:lstStyle/>
          <a:p>
            <a:pPr algn="ctr"/>
            <a:r>
              <a:rPr lang="en-US" dirty="0"/>
              <a:t>Introduction to research</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52400"/>
            <a:ext cx="3939746" cy="3939746"/>
          </a:xfrm>
          <a:prstGeom prst="rect">
            <a:avLst/>
          </a:prstGeom>
        </p:spPr>
      </p:pic>
    </p:spTree>
    <p:extLst>
      <p:ext uri="{BB962C8B-B14F-4D97-AF65-F5344CB8AC3E}">
        <p14:creationId xmlns:p14="http://schemas.microsoft.com/office/powerpoint/2010/main" val="2573453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47B7EE-0CA7-4A4F-B231-115322E7A0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0615" y="4032119"/>
            <a:ext cx="2327148" cy="2743200"/>
          </a:xfrm>
          <a:prstGeom prst="rect">
            <a:avLst/>
          </a:prstGeom>
        </p:spPr>
      </p:pic>
      <p:sp>
        <p:nvSpPr>
          <p:cNvPr id="2" name="Title 1"/>
          <p:cNvSpPr>
            <a:spLocks noGrp="1"/>
          </p:cNvSpPr>
          <p:nvPr>
            <p:ph type="title"/>
          </p:nvPr>
        </p:nvSpPr>
        <p:spPr/>
        <p:txBody>
          <a:bodyPr/>
          <a:lstStyle/>
          <a:p>
            <a:r>
              <a:rPr lang="en-US" dirty="0"/>
              <a:t>Research (1)</a:t>
            </a:r>
          </a:p>
        </p:txBody>
      </p:sp>
      <p:sp>
        <p:nvSpPr>
          <p:cNvPr id="3" name="Content Placeholder 2"/>
          <p:cNvSpPr>
            <a:spLocks noGrp="1"/>
          </p:cNvSpPr>
          <p:nvPr>
            <p:ph idx="1"/>
          </p:nvPr>
        </p:nvSpPr>
        <p:spPr/>
        <p:txBody>
          <a:bodyPr>
            <a:normAutofit/>
          </a:bodyPr>
          <a:lstStyle/>
          <a:p>
            <a:r>
              <a:rPr lang="en-US" sz="4800" dirty="0"/>
              <a:t>The process of exploring the unknown, studying and learning new things, building new </a:t>
            </a:r>
            <a:r>
              <a:rPr lang="en-US" sz="4800" dirty="0">
                <a:solidFill>
                  <a:srgbClr val="FF0000"/>
                </a:solidFill>
              </a:rPr>
              <a:t>knowledge about things that no one has understood before</a:t>
            </a:r>
          </a:p>
        </p:txBody>
      </p:sp>
    </p:spTree>
    <p:extLst>
      <p:ext uri="{BB962C8B-B14F-4D97-AF65-F5344CB8AC3E}">
        <p14:creationId xmlns:p14="http://schemas.microsoft.com/office/powerpoint/2010/main" val="147930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investigation">
            <a:hlinkClick r:id="rId2"/>
            <a:extLst>
              <a:ext uri="{FF2B5EF4-FFF2-40B4-BE49-F238E27FC236}">
                <a16:creationId xmlns:a16="http://schemas.microsoft.com/office/drawing/2014/main" id="{8821264E-CA95-4E3E-9327-CC763AC9D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406" y="3842425"/>
            <a:ext cx="2720198" cy="26504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Research (2)</a:t>
            </a:r>
          </a:p>
        </p:txBody>
      </p:sp>
      <p:sp>
        <p:nvSpPr>
          <p:cNvPr id="3" name="Content Placeholder 2"/>
          <p:cNvSpPr>
            <a:spLocks noGrp="1"/>
          </p:cNvSpPr>
          <p:nvPr>
            <p:ph idx="1"/>
          </p:nvPr>
        </p:nvSpPr>
        <p:spPr/>
        <p:txBody>
          <a:bodyPr>
            <a:normAutofit/>
          </a:bodyPr>
          <a:lstStyle/>
          <a:p>
            <a:r>
              <a:rPr lang="en-US" sz="4800" dirty="0"/>
              <a:t>The activity of a </a:t>
            </a:r>
            <a:r>
              <a:rPr lang="en-US" sz="4800" dirty="0">
                <a:solidFill>
                  <a:srgbClr val="FF0000"/>
                </a:solidFill>
              </a:rPr>
              <a:t>diligent and systematic</a:t>
            </a:r>
            <a:r>
              <a:rPr lang="en-US" sz="4800" dirty="0"/>
              <a:t> </a:t>
            </a:r>
            <a:r>
              <a:rPr lang="en-US" sz="4800" dirty="0">
                <a:solidFill>
                  <a:srgbClr val="7030A0"/>
                </a:solidFill>
              </a:rPr>
              <a:t>inquiry or investigation </a:t>
            </a:r>
            <a:r>
              <a:rPr lang="en-US" sz="4800" dirty="0"/>
              <a:t>in an area, with the objective of discovering or revising facts, theories, applications etc.  </a:t>
            </a:r>
          </a:p>
        </p:txBody>
      </p:sp>
    </p:spTree>
    <p:extLst>
      <p:ext uri="{BB962C8B-B14F-4D97-AF65-F5344CB8AC3E}">
        <p14:creationId xmlns:p14="http://schemas.microsoft.com/office/powerpoint/2010/main" val="39541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(3)</a:t>
            </a:r>
          </a:p>
        </p:txBody>
      </p:sp>
      <p:sp>
        <p:nvSpPr>
          <p:cNvPr id="3" name="Content Placeholder 2"/>
          <p:cNvSpPr>
            <a:spLocks noGrp="1"/>
          </p:cNvSpPr>
          <p:nvPr>
            <p:ph idx="1"/>
          </p:nvPr>
        </p:nvSpPr>
        <p:spPr/>
        <p:txBody>
          <a:bodyPr>
            <a:normAutofit/>
          </a:bodyPr>
          <a:lstStyle/>
          <a:p>
            <a:r>
              <a:rPr lang="en-US" sz="5400" dirty="0"/>
              <a:t>An investigative process of finding reliable </a:t>
            </a:r>
            <a:r>
              <a:rPr lang="en-US" sz="5400" dirty="0">
                <a:solidFill>
                  <a:srgbClr val="FF0000"/>
                </a:solidFill>
              </a:rPr>
              <a:t>solution to a problem </a:t>
            </a:r>
            <a:r>
              <a:rPr lang="en-US" sz="5400" dirty="0"/>
              <a:t>through a systematic selection, collection, analysis and interpretation of data</a:t>
            </a:r>
          </a:p>
        </p:txBody>
      </p:sp>
      <p:pic>
        <p:nvPicPr>
          <p:cNvPr id="5" name="Picture 4" descr="A close up of a sign&#10;&#10;Description automatically generated">
            <a:extLst>
              <a:ext uri="{FF2B5EF4-FFF2-40B4-BE49-F238E27FC236}">
                <a16:creationId xmlns:a16="http://schemas.microsoft.com/office/drawing/2014/main" id="{BCE713DA-87A1-42BA-98C5-2FA97EAE0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9872" y="4296460"/>
            <a:ext cx="3602173" cy="2397082"/>
          </a:xfrm>
          <a:prstGeom prst="rect">
            <a:avLst/>
          </a:prstGeom>
        </p:spPr>
      </p:pic>
    </p:spTree>
    <p:extLst>
      <p:ext uri="{BB962C8B-B14F-4D97-AF65-F5344CB8AC3E}">
        <p14:creationId xmlns:p14="http://schemas.microsoft.com/office/powerpoint/2010/main" val="290046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(4)</a:t>
            </a:r>
          </a:p>
        </p:txBody>
      </p:sp>
      <p:sp>
        <p:nvSpPr>
          <p:cNvPr id="3" name="Content Placeholder 2"/>
          <p:cNvSpPr>
            <a:spLocks noGrp="1"/>
          </p:cNvSpPr>
          <p:nvPr>
            <p:ph idx="1"/>
          </p:nvPr>
        </p:nvSpPr>
        <p:spPr/>
        <p:txBody>
          <a:bodyPr>
            <a:normAutofit/>
          </a:bodyPr>
          <a:lstStyle/>
          <a:p>
            <a:r>
              <a:rPr lang="en-US" sz="5400" dirty="0"/>
              <a:t>All activities that make us discover </a:t>
            </a:r>
            <a:r>
              <a:rPr lang="en-US" sz="5400" dirty="0">
                <a:solidFill>
                  <a:srgbClr val="FF0000"/>
                </a:solidFill>
              </a:rPr>
              <a:t>new knowledge </a:t>
            </a:r>
            <a:r>
              <a:rPr lang="en-US" sz="5400" dirty="0"/>
              <a:t>about things around us</a:t>
            </a:r>
          </a:p>
        </p:txBody>
      </p:sp>
      <p:pic>
        <p:nvPicPr>
          <p:cNvPr id="5" name="Picture 4">
            <a:extLst>
              <a:ext uri="{FF2B5EF4-FFF2-40B4-BE49-F238E27FC236}">
                <a16:creationId xmlns:a16="http://schemas.microsoft.com/office/drawing/2014/main" id="{2A83150F-C632-4440-837E-08BBFA0B2B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6136" y="2944239"/>
            <a:ext cx="4195864" cy="4195864"/>
          </a:xfrm>
          <a:prstGeom prst="rect">
            <a:avLst/>
          </a:prstGeom>
        </p:spPr>
      </p:pic>
    </p:spTree>
    <p:extLst>
      <p:ext uri="{BB962C8B-B14F-4D97-AF65-F5344CB8AC3E}">
        <p14:creationId xmlns:p14="http://schemas.microsoft.com/office/powerpoint/2010/main" val="190335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(3)</a:t>
            </a:r>
          </a:p>
        </p:txBody>
      </p:sp>
      <p:sp>
        <p:nvSpPr>
          <p:cNvPr id="3" name="Content Placeholder 2"/>
          <p:cNvSpPr>
            <a:spLocks noGrp="1"/>
          </p:cNvSpPr>
          <p:nvPr>
            <p:ph idx="1"/>
          </p:nvPr>
        </p:nvSpPr>
        <p:spPr/>
        <p:txBody>
          <a:bodyPr>
            <a:normAutofit/>
          </a:bodyPr>
          <a:lstStyle/>
          <a:p>
            <a:r>
              <a:rPr lang="en-US" sz="5400" dirty="0"/>
              <a:t>An investigative process of finding reliable </a:t>
            </a:r>
            <a:r>
              <a:rPr lang="en-US" sz="5400" dirty="0">
                <a:solidFill>
                  <a:srgbClr val="FF0000"/>
                </a:solidFill>
              </a:rPr>
              <a:t>solution to a problem </a:t>
            </a:r>
            <a:r>
              <a:rPr lang="en-US" sz="5400" dirty="0"/>
              <a:t>through a systematic selection, collection, analysis and interpretation of data</a:t>
            </a:r>
          </a:p>
        </p:txBody>
      </p:sp>
    </p:spTree>
    <p:extLst>
      <p:ext uri="{BB962C8B-B14F-4D97-AF65-F5344CB8AC3E}">
        <p14:creationId xmlns:p14="http://schemas.microsoft.com/office/powerpoint/2010/main" val="3374515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116359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solidFill>
                  <a:srgbClr val="FF0000"/>
                </a:solidFill>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399220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1559740-4FEE-450C-AA2E-65D7FEEB6F75}"/>
              </a:ext>
            </a:extLst>
          </p:cNvPr>
          <p:cNvSpPr>
            <a:spLocks noGrp="1" noChangeArrowheads="1"/>
          </p:cNvSpPr>
          <p:nvPr>
            <p:ph type="title"/>
          </p:nvPr>
        </p:nvSpPr>
        <p:spPr/>
        <p:txBody>
          <a:bodyPr/>
          <a:lstStyle/>
          <a:p>
            <a:r>
              <a:rPr lang="en-US" altLang="en-US" dirty="0"/>
              <a:t>Realize there is  a problem</a:t>
            </a:r>
          </a:p>
        </p:txBody>
      </p:sp>
      <p:sp>
        <p:nvSpPr>
          <p:cNvPr id="72707" name="Rectangle 3">
            <a:extLst>
              <a:ext uri="{FF2B5EF4-FFF2-40B4-BE49-F238E27FC236}">
                <a16:creationId xmlns:a16="http://schemas.microsoft.com/office/drawing/2014/main" id="{E85CAE77-9F43-4A0D-A1D6-649738C582FA}"/>
              </a:ext>
            </a:extLst>
          </p:cNvPr>
          <p:cNvSpPr>
            <a:spLocks noGrp="1" noChangeArrowheads="1"/>
          </p:cNvSpPr>
          <p:nvPr>
            <p:ph type="body" idx="1"/>
          </p:nvPr>
        </p:nvSpPr>
        <p:spPr/>
        <p:txBody>
          <a:bodyPr>
            <a:normAutofit/>
          </a:bodyPr>
          <a:lstStyle/>
          <a:p>
            <a:pPr>
              <a:lnSpc>
                <a:spcPct val="90000"/>
              </a:lnSpc>
            </a:pPr>
            <a:r>
              <a:rPr lang="en-US" altLang="en-US" sz="3600" dirty="0"/>
              <a:t>Research begins with a problem</a:t>
            </a:r>
          </a:p>
          <a:p>
            <a:pPr>
              <a:lnSpc>
                <a:spcPct val="90000"/>
              </a:lnSpc>
              <a:spcBef>
                <a:spcPct val="50000"/>
              </a:spcBef>
            </a:pPr>
            <a:r>
              <a:rPr lang="en-US" altLang="en-US" sz="3600" dirty="0"/>
              <a:t>Identifying this problem can actually be the hardest part of research</a:t>
            </a:r>
          </a:p>
          <a:p>
            <a:pPr>
              <a:lnSpc>
                <a:spcPct val="90000"/>
              </a:lnSpc>
              <a:spcBef>
                <a:spcPct val="50000"/>
              </a:spcBef>
            </a:pPr>
            <a:r>
              <a:rPr lang="en-US" altLang="en-US" sz="3600" dirty="0"/>
              <a:t>In general, good research projects should:</a:t>
            </a:r>
          </a:p>
          <a:p>
            <a:pPr lvl="1">
              <a:lnSpc>
                <a:spcPct val="90000"/>
              </a:lnSpc>
            </a:pPr>
            <a:r>
              <a:rPr lang="en-US" altLang="en-US" sz="3200" dirty="0"/>
              <a:t>Address an important question</a:t>
            </a:r>
          </a:p>
          <a:p>
            <a:pPr lvl="2">
              <a:lnSpc>
                <a:spcPct val="90000"/>
              </a:lnSpc>
            </a:pPr>
            <a:r>
              <a:rPr lang="en-US" altLang="en-US" sz="2800" dirty="0"/>
              <a:t>original and significant</a:t>
            </a:r>
          </a:p>
          <a:p>
            <a:pPr lvl="1">
              <a:lnSpc>
                <a:spcPct val="90000"/>
              </a:lnSpc>
            </a:pPr>
            <a:r>
              <a:rPr lang="en-US" altLang="en-US" sz="3200" dirty="0"/>
              <a:t>Advance knowledge</a:t>
            </a:r>
          </a:p>
          <a:p>
            <a:pPr>
              <a:lnSpc>
                <a:spcPct val="90000"/>
              </a:lnSpc>
            </a:pPr>
            <a:endParaRPr lang="en-US" altLang="en-US" sz="3600" dirty="0"/>
          </a:p>
        </p:txBody>
      </p:sp>
    </p:spTree>
    <p:extLst>
      <p:ext uri="{BB962C8B-B14F-4D97-AF65-F5344CB8AC3E}">
        <p14:creationId xmlns:p14="http://schemas.microsoft.com/office/powerpoint/2010/main" val="243731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7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70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70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70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7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B8B49A4-B208-40EE-9582-817201A7CE4E}"/>
              </a:ext>
            </a:extLst>
          </p:cNvPr>
          <p:cNvSpPr>
            <a:spLocks noGrp="1" noChangeArrowheads="1"/>
          </p:cNvSpPr>
          <p:nvPr>
            <p:ph type="title"/>
          </p:nvPr>
        </p:nvSpPr>
        <p:spPr/>
        <p:txBody>
          <a:bodyPr/>
          <a:lstStyle/>
          <a:p>
            <a:r>
              <a:rPr lang="en-US" altLang="en-US" dirty="0"/>
              <a:t>Sources of Research Problems</a:t>
            </a:r>
          </a:p>
        </p:txBody>
      </p:sp>
      <p:sp>
        <p:nvSpPr>
          <p:cNvPr id="77827" name="Rectangle 3">
            <a:extLst>
              <a:ext uri="{FF2B5EF4-FFF2-40B4-BE49-F238E27FC236}">
                <a16:creationId xmlns:a16="http://schemas.microsoft.com/office/drawing/2014/main" id="{D8108FDE-6498-491E-9AF8-7B8FA017B75A}"/>
              </a:ext>
            </a:extLst>
          </p:cNvPr>
          <p:cNvSpPr>
            <a:spLocks noGrp="1" noChangeArrowheads="1"/>
          </p:cNvSpPr>
          <p:nvPr>
            <p:ph type="body" idx="1"/>
          </p:nvPr>
        </p:nvSpPr>
        <p:spPr/>
        <p:txBody>
          <a:bodyPr>
            <a:normAutofit/>
          </a:bodyPr>
          <a:lstStyle/>
          <a:p>
            <a:r>
              <a:rPr lang="en-US" altLang="en-US" sz="4400" dirty="0"/>
              <a:t>Observation</a:t>
            </a:r>
          </a:p>
          <a:p>
            <a:r>
              <a:rPr lang="en-US" altLang="en-US" sz="4400" dirty="0"/>
              <a:t>Experts</a:t>
            </a:r>
          </a:p>
          <a:p>
            <a:r>
              <a:rPr lang="en-US" altLang="en-US" sz="4400" dirty="0"/>
              <a:t>Previous experience</a:t>
            </a:r>
          </a:p>
          <a:p>
            <a:r>
              <a:rPr lang="en-US" altLang="en-US" sz="4400" dirty="0">
                <a:solidFill>
                  <a:srgbClr val="FF0000"/>
                </a:solidFill>
              </a:rPr>
              <a:t>Literature reviews</a:t>
            </a:r>
          </a:p>
          <a:p>
            <a:r>
              <a:rPr lang="en-US" altLang="en-US" sz="4400" dirty="0">
                <a:solidFill>
                  <a:srgbClr val="FF0000"/>
                </a:solidFill>
              </a:rPr>
              <a:t>Professional conferences</a:t>
            </a:r>
          </a:p>
        </p:txBody>
      </p:sp>
    </p:spTree>
    <p:extLst>
      <p:ext uri="{BB962C8B-B14F-4D97-AF65-F5344CB8AC3E}">
        <p14:creationId xmlns:p14="http://schemas.microsoft.com/office/powerpoint/2010/main" val="211900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solidFill>
                  <a:srgbClr val="FF0000"/>
                </a:solidFill>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89052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AEF5F201-694B-4E0F-9AF4-D9B759876D9E}"/>
              </a:ext>
            </a:extLst>
          </p:cNvPr>
          <p:cNvSpPr>
            <a:spLocks noGrp="1" noChangeArrowheads="1"/>
          </p:cNvSpPr>
          <p:nvPr>
            <p:ph type="title"/>
          </p:nvPr>
        </p:nvSpPr>
        <p:spPr/>
        <p:txBody>
          <a:bodyPr/>
          <a:lstStyle/>
          <a:p>
            <a:r>
              <a:rPr lang="en-US" dirty="0"/>
              <a:t>Look to see if anyone has solved it</a:t>
            </a:r>
            <a:endParaRPr lang="en-US" altLang="en-US" dirty="0"/>
          </a:p>
        </p:txBody>
      </p:sp>
      <p:sp>
        <p:nvSpPr>
          <p:cNvPr id="105475" name="Rectangle 3">
            <a:extLst>
              <a:ext uri="{FF2B5EF4-FFF2-40B4-BE49-F238E27FC236}">
                <a16:creationId xmlns:a16="http://schemas.microsoft.com/office/drawing/2014/main" id="{244D7DB8-1241-4C3C-80BC-7DEFE00A1496}"/>
              </a:ext>
            </a:extLst>
          </p:cNvPr>
          <p:cNvSpPr>
            <a:spLocks noGrp="1" noChangeArrowheads="1"/>
          </p:cNvSpPr>
          <p:nvPr>
            <p:ph type="body" idx="1"/>
          </p:nvPr>
        </p:nvSpPr>
        <p:spPr/>
        <p:txBody>
          <a:bodyPr>
            <a:normAutofit fontScale="85000" lnSpcReduction="20000"/>
          </a:bodyPr>
          <a:lstStyle/>
          <a:p>
            <a:r>
              <a:rPr lang="en-US" altLang="en-US" sz="4600" dirty="0"/>
              <a:t>The available literature is reviewed to determine if there is already a solution to the problem.</a:t>
            </a:r>
          </a:p>
          <a:p>
            <a:pPr>
              <a:spcBef>
                <a:spcPct val="50000"/>
              </a:spcBef>
            </a:pPr>
            <a:r>
              <a:rPr lang="en-US" altLang="en-US" sz="4600" dirty="0"/>
              <a:t>When performing the review:</a:t>
            </a:r>
          </a:p>
          <a:p>
            <a:pPr lvl="1"/>
            <a:r>
              <a:rPr lang="en-US" altLang="en-US" sz="3400" dirty="0"/>
              <a:t>Start searching professional journals</a:t>
            </a:r>
          </a:p>
          <a:p>
            <a:pPr lvl="1"/>
            <a:r>
              <a:rPr lang="en-US" altLang="en-US" sz="3400" dirty="0"/>
              <a:t>Begin with the most recent articles you can find</a:t>
            </a:r>
          </a:p>
          <a:p>
            <a:pPr lvl="1"/>
            <a:r>
              <a:rPr lang="en-US" altLang="en-US" sz="3400" dirty="0"/>
              <a:t>Keep track of relevant articles in a bibliography</a:t>
            </a:r>
          </a:p>
          <a:p>
            <a:pPr lvl="1"/>
            <a:r>
              <a:rPr lang="en-US" altLang="en-US" sz="3400" dirty="0"/>
              <a:t>Don’t be discouraged if work on the topic is already underway</a:t>
            </a:r>
          </a:p>
          <a:p>
            <a:pPr>
              <a:spcBef>
                <a:spcPct val="50000"/>
              </a:spcBef>
            </a:pPr>
            <a:r>
              <a:rPr lang="en-US" altLang="en-US" sz="4600" dirty="0"/>
              <a:t>If the literature review turns up nothing, then additional research activities are justified</a:t>
            </a:r>
          </a:p>
          <a:p>
            <a:pPr lvl="1"/>
            <a:endParaRPr lang="en-US" altLang="en-US" sz="4000" dirty="0"/>
          </a:p>
        </p:txBody>
      </p:sp>
    </p:spTree>
    <p:extLst>
      <p:ext uri="{BB962C8B-B14F-4D97-AF65-F5344CB8AC3E}">
        <p14:creationId xmlns:p14="http://schemas.microsoft.com/office/powerpoint/2010/main" val="384917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4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4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4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4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54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54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solidFill>
                  <a:srgbClr val="FF0000"/>
                </a:solidFill>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2115878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F785D413-3B9C-4CE5-9894-7900980E639C}"/>
              </a:ext>
            </a:extLst>
          </p:cNvPr>
          <p:cNvSpPr>
            <a:spLocks noGrp="1" noChangeArrowheads="1"/>
          </p:cNvSpPr>
          <p:nvPr>
            <p:ph type="title"/>
          </p:nvPr>
        </p:nvSpPr>
        <p:spPr/>
        <p:txBody>
          <a:bodyPr/>
          <a:lstStyle/>
          <a:p>
            <a:r>
              <a:rPr lang="en-US" altLang="en-US" dirty="0"/>
              <a:t>Develop a plan to solve it</a:t>
            </a:r>
          </a:p>
        </p:txBody>
      </p:sp>
      <p:sp>
        <p:nvSpPr>
          <p:cNvPr id="94211" name="Rectangle 3">
            <a:extLst>
              <a:ext uri="{FF2B5EF4-FFF2-40B4-BE49-F238E27FC236}">
                <a16:creationId xmlns:a16="http://schemas.microsoft.com/office/drawing/2014/main" id="{CB5693A6-1DDB-4E83-84AC-38C9882BD276}"/>
              </a:ext>
            </a:extLst>
          </p:cNvPr>
          <p:cNvSpPr>
            <a:spLocks noGrp="1" noChangeArrowheads="1"/>
          </p:cNvSpPr>
          <p:nvPr>
            <p:ph type="body" idx="1"/>
          </p:nvPr>
        </p:nvSpPr>
        <p:spPr/>
        <p:txBody>
          <a:bodyPr>
            <a:normAutofit lnSpcReduction="10000"/>
          </a:bodyPr>
          <a:lstStyle/>
          <a:p>
            <a:r>
              <a:rPr lang="en-US" altLang="en-US" sz="3600" dirty="0"/>
              <a:t>Research proposals are documents that describe the intended research including:</a:t>
            </a:r>
          </a:p>
          <a:p>
            <a:pPr lvl="1"/>
            <a:r>
              <a:rPr lang="en-US" altLang="en-US" sz="3200" dirty="0"/>
              <a:t>Problem and subproblems</a:t>
            </a:r>
          </a:p>
          <a:p>
            <a:pPr lvl="1"/>
            <a:r>
              <a:rPr lang="en-US" altLang="en-US" sz="3200" dirty="0"/>
              <a:t>Hypotheses</a:t>
            </a:r>
          </a:p>
          <a:p>
            <a:pPr lvl="1"/>
            <a:r>
              <a:rPr lang="en-US" altLang="en-US" sz="3200" dirty="0"/>
              <a:t>Definitions</a:t>
            </a:r>
          </a:p>
          <a:p>
            <a:pPr lvl="1"/>
            <a:r>
              <a:rPr lang="en-US" altLang="en-US" sz="3200" dirty="0"/>
              <a:t>Assumptions</a:t>
            </a:r>
          </a:p>
          <a:p>
            <a:pPr lvl="1"/>
            <a:r>
              <a:rPr lang="en-US" altLang="en-US" sz="3200" dirty="0"/>
              <a:t>Importance</a:t>
            </a:r>
          </a:p>
          <a:p>
            <a:pPr lvl="1"/>
            <a:r>
              <a:rPr lang="en-US" altLang="en-US" sz="3200" dirty="0"/>
              <a:t>Literature review</a:t>
            </a:r>
          </a:p>
          <a:p>
            <a:pPr lvl="1"/>
            <a:r>
              <a:rPr lang="en-US" altLang="en-US" sz="3200" dirty="0"/>
              <a:t>…</a:t>
            </a:r>
          </a:p>
        </p:txBody>
      </p:sp>
    </p:spTree>
    <p:extLst>
      <p:ext uri="{BB962C8B-B14F-4D97-AF65-F5344CB8AC3E}">
        <p14:creationId xmlns:p14="http://schemas.microsoft.com/office/powerpoint/2010/main" val="4152181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solidFill>
                  <a:srgbClr val="FF0000"/>
                </a:solidFill>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504687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Solve it</a:t>
            </a:r>
            <a:endParaRPr lang="x-none" dirty="0"/>
          </a:p>
        </p:txBody>
      </p:sp>
      <p:sp>
        <p:nvSpPr>
          <p:cNvPr id="3" name="Content Placeholder 2"/>
          <p:cNvSpPr>
            <a:spLocks noGrp="1"/>
          </p:cNvSpPr>
          <p:nvPr>
            <p:ph idx="1"/>
          </p:nvPr>
        </p:nvSpPr>
        <p:spPr>
          <a:xfrm>
            <a:off x="749029" y="1600201"/>
            <a:ext cx="10301591" cy="4525963"/>
          </a:xfrm>
        </p:spPr>
        <p:txBody>
          <a:bodyPr/>
          <a:lstStyle/>
          <a:p>
            <a:pPr marL="342900" lvl="1" indent="-342900">
              <a:buFont typeface="Arial" charset="0"/>
              <a:buChar char="•"/>
            </a:pPr>
            <a:endParaRPr lang="en-US" sz="2000" dirty="0"/>
          </a:p>
          <a:p>
            <a:pPr marL="228600" lvl="1">
              <a:spcBef>
                <a:spcPts val="1000"/>
              </a:spcBef>
              <a:buFont typeface="Wingdings" charset="0"/>
              <a:buChar char="w"/>
              <a:defRPr/>
            </a:pPr>
            <a:r>
              <a:rPr lang="en-US" sz="4000" dirty="0"/>
              <a:t>Remember that the solution is supposed to be better  compared to the best solution from the literature</a:t>
            </a:r>
            <a:endParaRPr lang="x-none" sz="4000" dirty="0"/>
          </a:p>
          <a:p>
            <a:pPr marL="0" indent="0">
              <a:buNone/>
            </a:pPr>
            <a:endParaRPr lang="en-US" sz="2400" dirty="0"/>
          </a:p>
          <a:p>
            <a:pPr marL="0" indent="0">
              <a:buNone/>
            </a:pPr>
            <a:endParaRPr lang="en-US" dirty="0"/>
          </a:p>
          <a:p>
            <a:endParaRPr lang="x-none" dirty="0"/>
          </a:p>
        </p:txBody>
      </p:sp>
    </p:spTree>
    <p:extLst>
      <p:ext uri="{BB962C8B-B14F-4D97-AF65-F5344CB8AC3E}">
        <p14:creationId xmlns:p14="http://schemas.microsoft.com/office/powerpoint/2010/main" val="343395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solidFill>
                  <a:srgbClr val="FF0000"/>
                </a:solidFill>
                <a:ea typeface="+mn-ea"/>
              </a:rPr>
              <a:t>Evaluate your solution</a:t>
            </a:r>
          </a:p>
          <a:p>
            <a:pPr eaLnBrk="1" hangingPunct="1">
              <a:buFont typeface="Wingdings" charset="0"/>
              <a:buChar char="w"/>
              <a:defRPr/>
            </a:pPr>
            <a:r>
              <a:rPr lang="en-US" sz="4000" dirty="0">
                <a:ea typeface="+mn-ea"/>
              </a:rPr>
              <a:t>Disseminate your solution</a:t>
            </a:r>
          </a:p>
        </p:txBody>
      </p:sp>
    </p:spTree>
    <p:extLst>
      <p:ext uri="{BB962C8B-B14F-4D97-AF65-F5344CB8AC3E}">
        <p14:creationId xmlns:p14="http://schemas.microsoft.com/office/powerpoint/2010/main" val="2841038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9971EB6-DAE4-4914-B736-86166B242EE8}"/>
              </a:ext>
            </a:extLst>
          </p:cNvPr>
          <p:cNvSpPr>
            <a:spLocks noGrp="1" noChangeArrowheads="1"/>
          </p:cNvSpPr>
          <p:nvPr>
            <p:ph type="title"/>
          </p:nvPr>
        </p:nvSpPr>
        <p:spPr/>
        <p:txBody>
          <a:bodyPr/>
          <a:lstStyle/>
          <a:p>
            <a:r>
              <a:rPr lang="en-US" altLang="en-US" dirty="0"/>
              <a:t>Evaluate your solution</a:t>
            </a:r>
          </a:p>
        </p:txBody>
      </p:sp>
      <p:sp>
        <p:nvSpPr>
          <p:cNvPr id="103427" name="Rectangle 3">
            <a:extLst>
              <a:ext uri="{FF2B5EF4-FFF2-40B4-BE49-F238E27FC236}">
                <a16:creationId xmlns:a16="http://schemas.microsoft.com/office/drawing/2014/main" id="{C8110DDB-713D-49BC-BA70-D6CA915D6401}"/>
              </a:ext>
            </a:extLst>
          </p:cNvPr>
          <p:cNvSpPr>
            <a:spLocks noGrp="1" noChangeArrowheads="1"/>
          </p:cNvSpPr>
          <p:nvPr>
            <p:ph type="body" idx="1"/>
          </p:nvPr>
        </p:nvSpPr>
        <p:spPr/>
        <p:txBody>
          <a:bodyPr>
            <a:normAutofit/>
          </a:bodyPr>
          <a:lstStyle/>
          <a:p>
            <a:r>
              <a:rPr lang="en-US" altLang="en-US" sz="3600" dirty="0"/>
              <a:t>How is your solution better? </a:t>
            </a:r>
          </a:p>
          <a:p>
            <a:r>
              <a:rPr lang="en-US" altLang="en-US" sz="3600" dirty="0"/>
              <a:t>Measure it</a:t>
            </a:r>
          </a:p>
          <a:p>
            <a:pPr lvl="1"/>
            <a:r>
              <a:rPr lang="en-US" altLang="en-US" sz="3200" dirty="0"/>
              <a:t>Latency, throughout, fault tolerance</a:t>
            </a:r>
          </a:p>
          <a:p>
            <a:pPr lvl="1"/>
            <a:r>
              <a:rPr lang="en-US" altLang="en-US" sz="3200" dirty="0"/>
              <a:t>space  </a:t>
            </a:r>
          </a:p>
          <a:p>
            <a:pPr lvl="1"/>
            <a:r>
              <a:rPr lang="en-US" altLang="en-US" sz="3200" dirty="0"/>
              <a:t>usability, manageability </a:t>
            </a:r>
          </a:p>
          <a:p>
            <a:pPr lvl="1"/>
            <a:r>
              <a:rPr lang="en-US" altLang="en-US" sz="3200" dirty="0"/>
              <a:t>… </a:t>
            </a:r>
          </a:p>
        </p:txBody>
      </p:sp>
      <p:pic>
        <p:nvPicPr>
          <p:cNvPr id="4" name="Picture 3" descr="A screenshot of a cell phone&#10;&#10;Description automatically generated">
            <a:extLst>
              <a:ext uri="{FF2B5EF4-FFF2-40B4-BE49-F238E27FC236}">
                <a16:creationId xmlns:a16="http://schemas.microsoft.com/office/drawing/2014/main" id="{81EDDBAE-1DB0-4C97-90B3-F8CC0D783E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31848" y="4605035"/>
            <a:ext cx="2079990" cy="1840452"/>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31DD6779-54CF-4ADC-8E70-9753A1549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2100" y="4895951"/>
            <a:ext cx="3541172" cy="1923089"/>
          </a:xfrm>
          <a:prstGeom prst="rect">
            <a:avLst/>
          </a:prstGeom>
        </p:spPr>
      </p:pic>
      <p:pic>
        <p:nvPicPr>
          <p:cNvPr id="6" name="Picture 5" descr="A close up of a map&#10;&#10;Description automatically generated">
            <a:extLst>
              <a:ext uri="{FF2B5EF4-FFF2-40B4-BE49-F238E27FC236}">
                <a16:creationId xmlns:a16="http://schemas.microsoft.com/office/drawing/2014/main" id="{C9DDEB82-F694-4D91-8232-685627760F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44899" y="1956560"/>
            <a:ext cx="2847102" cy="2015550"/>
          </a:xfrm>
          <a:prstGeom prst="rect">
            <a:avLst/>
          </a:prstGeom>
        </p:spPr>
      </p:pic>
    </p:spTree>
    <p:extLst>
      <p:ext uri="{BB962C8B-B14F-4D97-AF65-F5344CB8AC3E}">
        <p14:creationId xmlns:p14="http://schemas.microsoft.com/office/powerpoint/2010/main" val="848672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483CB-E43D-4E62-B186-CF579CFCA344}"/>
              </a:ext>
            </a:extLst>
          </p:cNvPr>
          <p:cNvSpPr>
            <a:spLocks noGrp="1"/>
          </p:cNvSpPr>
          <p:nvPr>
            <p:ph type="title"/>
          </p:nvPr>
        </p:nvSpPr>
        <p:spPr/>
        <p:txBody>
          <a:bodyPr/>
          <a:lstStyle/>
          <a:p>
            <a:r>
              <a:rPr lang="en-US" dirty="0"/>
              <a:t>Evaluate your solution</a:t>
            </a:r>
          </a:p>
        </p:txBody>
      </p:sp>
      <p:sp>
        <p:nvSpPr>
          <p:cNvPr id="3" name="Content Placeholder 2">
            <a:extLst>
              <a:ext uri="{FF2B5EF4-FFF2-40B4-BE49-F238E27FC236}">
                <a16:creationId xmlns:a16="http://schemas.microsoft.com/office/drawing/2014/main" id="{3F3967F8-3D0B-46EA-8FD5-BA58C12F312C}"/>
              </a:ext>
            </a:extLst>
          </p:cNvPr>
          <p:cNvSpPr>
            <a:spLocks noGrp="1"/>
          </p:cNvSpPr>
          <p:nvPr>
            <p:ph idx="1"/>
          </p:nvPr>
        </p:nvSpPr>
        <p:spPr/>
        <p:txBody>
          <a:bodyPr>
            <a:normAutofit/>
          </a:bodyPr>
          <a:lstStyle/>
          <a:p>
            <a:r>
              <a:rPr lang="en-US" sz="4000" dirty="0"/>
              <a:t>Mathematical analysis</a:t>
            </a:r>
          </a:p>
          <a:p>
            <a:r>
              <a:rPr lang="en-US" sz="4000" dirty="0"/>
              <a:t>Simulation analysis to show performance</a:t>
            </a:r>
          </a:p>
          <a:p>
            <a:r>
              <a:rPr lang="en-US" sz="4000" dirty="0"/>
              <a:t>Implementation analysis to show complexity</a:t>
            </a:r>
          </a:p>
          <a:p>
            <a:endParaRPr lang="en-US" sz="4000" dirty="0"/>
          </a:p>
        </p:txBody>
      </p:sp>
    </p:spTree>
    <p:extLst>
      <p:ext uri="{BB962C8B-B14F-4D97-AF65-F5344CB8AC3E}">
        <p14:creationId xmlns:p14="http://schemas.microsoft.com/office/powerpoint/2010/main" val="3094711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ea typeface="+mn-ea"/>
              </a:rPr>
              <a:t>Realize there is a problem</a:t>
            </a:r>
          </a:p>
          <a:p>
            <a:pPr eaLnBrk="1" hangingPunct="1">
              <a:buFont typeface="Wingdings" charset="0"/>
              <a:buChar char="w"/>
              <a:defRPr/>
            </a:pPr>
            <a:r>
              <a:rPr lang="en-US" sz="4000" dirty="0">
                <a:ea typeface="+mn-ea"/>
              </a:rPr>
              <a:t>Look to see if anyone has solved it</a:t>
            </a:r>
          </a:p>
          <a:p>
            <a:pPr eaLnBrk="1" hangingPunct="1">
              <a:buFont typeface="Wingdings" charset="0"/>
              <a:buChar char="w"/>
              <a:defRPr/>
            </a:pPr>
            <a:r>
              <a:rPr lang="en-US" sz="4000" dirty="0">
                <a:ea typeface="+mn-ea"/>
              </a:rPr>
              <a:t>Develop a plan to solve it</a:t>
            </a:r>
          </a:p>
          <a:p>
            <a:pPr eaLnBrk="1" hangingPunct="1">
              <a:buFont typeface="Wingdings" charset="0"/>
              <a:buChar char="w"/>
              <a:defRPr/>
            </a:pPr>
            <a:r>
              <a:rPr lang="en-US" sz="4000" dirty="0">
                <a:ea typeface="+mn-ea"/>
              </a:rPr>
              <a:t>Solve it</a:t>
            </a:r>
          </a:p>
          <a:p>
            <a:pPr eaLnBrk="1" hangingPunct="1">
              <a:buFont typeface="Wingdings" charset="0"/>
              <a:buChar char="w"/>
              <a:defRPr/>
            </a:pPr>
            <a:r>
              <a:rPr lang="en-US" sz="4000" dirty="0">
                <a:ea typeface="+mn-ea"/>
              </a:rPr>
              <a:t>Evaluate your solution</a:t>
            </a:r>
          </a:p>
          <a:p>
            <a:pPr eaLnBrk="1" hangingPunct="1">
              <a:buFont typeface="Wingdings" charset="0"/>
              <a:buChar char="w"/>
              <a:defRPr/>
            </a:pPr>
            <a:r>
              <a:rPr lang="en-US" sz="4000" dirty="0">
                <a:solidFill>
                  <a:srgbClr val="FF0000"/>
                </a:solidFill>
                <a:ea typeface="+mn-ea"/>
              </a:rPr>
              <a:t>Disseminate your solution</a:t>
            </a:r>
          </a:p>
        </p:txBody>
      </p:sp>
    </p:spTree>
    <p:extLst>
      <p:ext uri="{BB962C8B-B14F-4D97-AF65-F5344CB8AC3E}">
        <p14:creationId xmlns:p14="http://schemas.microsoft.com/office/powerpoint/2010/main" val="225817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3C03FD87-D8E2-44B9-AEF5-FE68ECC67669}"/>
              </a:ext>
            </a:extLst>
          </p:cNvPr>
          <p:cNvSpPr>
            <a:spLocks noGrp="1" noChangeArrowheads="1"/>
          </p:cNvSpPr>
          <p:nvPr>
            <p:ph type="title"/>
          </p:nvPr>
        </p:nvSpPr>
        <p:spPr/>
        <p:txBody>
          <a:bodyPr/>
          <a:lstStyle/>
          <a:p>
            <a:r>
              <a:rPr lang="en-US" altLang="en-US" dirty="0"/>
              <a:t>Disseminate your solution</a:t>
            </a:r>
          </a:p>
        </p:txBody>
      </p:sp>
      <p:sp>
        <p:nvSpPr>
          <p:cNvPr id="110595" name="Rectangle 3">
            <a:extLst>
              <a:ext uri="{FF2B5EF4-FFF2-40B4-BE49-F238E27FC236}">
                <a16:creationId xmlns:a16="http://schemas.microsoft.com/office/drawing/2014/main" id="{C7753592-D0B9-4BA5-81F7-0753CA41CC5F}"/>
              </a:ext>
            </a:extLst>
          </p:cNvPr>
          <p:cNvSpPr>
            <a:spLocks noGrp="1" noChangeArrowheads="1"/>
          </p:cNvSpPr>
          <p:nvPr>
            <p:ph type="body" idx="1"/>
          </p:nvPr>
        </p:nvSpPr>
        <p:spPr/>
        <p:txBody>
          <a:bodyPr>
            <a:normAutofit/>
          </a:bodyPr>
          <a:lstStyle/>
          <a:p>
            <a:r>
              <a:rPr lang="en-US" altLang="en-US" sz="3600" dirty="0"/>
              <a:t>Written communication </a:t>
            </a:r>
          </a:p>
          <a:p>
            <a:pPr lvl="1"/>
            <a:r>
              <a:rPr lang="en-US" altLang="en-US" sz="3200" dirty="0"/>
              <a:t>Papers - Conference, Journal</a:t>
            </a:r>
          </a:p>
          <a:p>
            <a:pPr>
              <a:lnSpc>
                <a:spcPct val="90000"/>
              </a:lnSpc>
            </a:pPr>
            <a:r>
              <a:rPr lang="en-US" altLang="en-US" sz="3600" dirty="0"/>
              <a:t>Verbal communication </a:t>
            </a:r>
          </a:p>
          <a:p>
            <a:pPr lvl="1"/>
            <a:r>
              <a:rPr lang="en-US" altLang="en-US" sz="3200" dirty="0"/>
              <a:t>Research posters</a:t>
            </a:r>
          </a:p>
          <a:p>
            <a:pPr lvl="1">
              <a:lnSpc>
                <a:spcPct val="90000"/>
              </a:lnSpc>
            </a:pPr>
            <a:r>
              <a:rPr lang="en-US" altLang="en-US" sz="3200" dirty="0"/>
              <a:t>Oral presentations</a:t>
            </a:r>
          </a:p>
          <a:p>
            <a:pPr lvl="2"/>
            <a:endParaRPr lang="en-US" altLang="en-US" sz="2800" dirty="0"/>
          </a:p>
        </p:txBody>
      </p:sp>
      <p:pic>
        <p:nvPicPr>
          <p:cNvPr id="3" name="Picture 2">
            <a:extLst>
              <a:ext uri="{FF2B5EF4-FFF2-40B4-BE49-F238E27FC236}">
                <a16:creationId xmlns:a16="http://schemas.microsoft.com/office/drawing/2014/main" id="{2118F61A-6DB6-4592-A272-E6089D46A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9491" y="4720985"/>
            <a:ext cx="4103162" cy="1923357"/>
          </a:xfrm>
          <a:prstGeom prst="rect">
            <a:avLst/>
          </a:prstGeom>
        </p:spPr>
      </p:pic>
      <p:pic>
        <p:nvPicPr>
          <p:cNvPr id="19" name="Picture 18" descr="A person holding a sign&#10;&#10;Description automatically generated">
            <a:extLst>
              <a:ext uri="{FF2B5EF4-FFF2-40B4-BE49-F238E27FC236}">
                <a16:creationId xmlns:a16="http://schemas.microsoft.com/office/drawing/2014/main" id="{74961530-A798-4B48-B4B0-46E7AB1C2E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6696" y="468716"/>
            <a:ext cx="3956858" cy="2637905"/>
          </a:xfrm>
          <a:prstGeom prst="rect">
            <a:avLst/>
          </a:prstGeom>
        </p:spPr>
      </p:pic>
      <p:pic>
        <p:nvPicPr>
          <p:cNvPr id="21" name="Picture 20" descr="A group of people in a room&#10;&#10;Description automatically generated">
            <a:extLst>
              <a:ext uri="{FF2B5EF4-FFF2-40B4-BE49-F238E27FC236}">
                <a16:creationId xmlns:a16="http://schemas.microsoft.com/office/drawing/2014/main" id="{4A41101F-9560-4627-8BB6-A1DF561317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3751380"/>
            <a:ext cx="4023361" cy="2665476"/>
          </a:xfrm>
          <a:prstGeom prst="rect">
            <a:avLst/>
          </a:prstGeom>
        </p:spPr>
      </p:pic>
    </p:spTree>
    <p:extLst>
      <p:ext uri="{BB962C8B-B14F-4D97-AF65-F5344CB8AC3E}">
        <p14:creationId xmlns:p14="http://schemas.microsoft.com/office/powerpoint/2010/main" val="25622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59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0595">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0595">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7096"/>
            <a:ext cx="1219200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3463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Language of science</a:t>
            </a:r>
          </a:p>
        </p:txBody>
      </p:sp>
      <p:sp>
        <p:nvSpPr>
          <p:cNvPr id="3" name="Content Placeholder 2"/>
          <p:cNvSpPr>
            <a:spLocks noGrp="1"/>
          </p:cNvSpPr>
          <p:nvPr>
            <p:ph idx="1"/>
          </p:nvPr>
        </p:nvSpPr>
        <p:spPr/>
        <p:txBody>
          <a:bodyPr>
            <a:normAutofit/>
          </a:bodyPr>
          <a:lstStyle/>
          <a:p>
            <a:r>
              <a:rPr lang="en-GB" sz="4400" dirty="0"/>
              <a:t>Scientific languages are common languages used by one or several scientific communities for international communication.</a:t>
            </a:r>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0143" y="4083329"/>
            <a:ext cx="5131857" cy="2774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57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Language of science - until the 19th century </a:t>
            </a:r>
          </a:p>
        </p:txBody>
      </p:sp>
      <p:sp>
        <p:nvSpPr>
          <p:cNvPr id="3" name="Content Placeholder 2"/>
          <p:cNvSpPr>
            <a:spLocks noGrp="1"/>
          </p:cNvSpPr>
          <p:nvPr>
            <p:ph idx="1"/>
          </p:nvPr>
        </p:nvSpPr>
        <p:spPr/>
        <p:txBody>
          <a:bodyPr>
            <a:normAutofit/>
          </a:bodyPr>
          <a:lstStyle/>
          <a:p>
            <a:r>
              <a:rPr lang="en-GB" sz="4000" dirty="0"/>
              <a:t>Classical languages</a:t>
            </a:r>
          </a:p>
          <a:p>
            <a:pPr lvl="1"/>
            <a:r>
              <a:rPr lang="en-GB" sz="3600" dirty="0"/>
              <a:t>Europe – Latin</a:t>
            </a:r>
          </a:p>
          <a:p>
            <a:pPr lvl="1"/>
            <a:r>
              <a:rPr lang="en-GB" sz="3600" dirty="0"/>
              <a:t>Indian and South Asian region - Sanskrit </a:t>
            </a:r>
          </a:p>
          <a:p>
            <a:pPr lvl="1"/>
            <a:r>
              <a:rPr lang="en-GB" sz="3600" dirty="0"/>
              <a:t>East Asia - Classical Chinese </a:t>
            </a:r>
          </a:p>
        </p:txBody>
      </p:sp>
    </p:spTree>
    <p:extLst>
      <p:ext uri="{BB962C8B-B14F-4D97-AF65-F5344CB8AC3E}">
        <p14:creationId xmlns:p14="http://schemas.microsoft.com/office/powerpoint/2010/main" val="3192753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Language of science - 1800–1920</a:t>
            </a:r>
          </a:p>
        </p:txBody>
      </p:sp>
      <p:sp>
        <p:nvSpPr>
          <p:cNvPr id="3" name="Content Placeholder 2"/>
          <p:cNvSpPr>
            <a:spLocks noGrp="1"/>
          </p:cNvSpPr>
          <p:nvPr>
            <p:ph idx="1"/>
          </p:nvPr>
        </p:nvSpPr>
        <p:spPr/>
        <p:txBody>
          <a:bodyPr>
            <a:normAutofit lnSpcReduction="10000"/>
          </a:bodyPr>
          <a:lstStyle/>
          <a:p>
            <a:r>
              <a:rPr lang="en-GB" dirty="0"/>
              <a:t>The emergence of scientific journals was both a symptom and cause of the declining use of a classical language.</a:t>
            </a:r>
          </a:p>
          <a:p>
            <a:pPr lvl="1"/>
            <a:r>
              <a:rPr lang="en-GB" dirty="0"/>
              <a:t>The first two modern scientific journals were published simultaneously in 1665, they both used the local vernacular</a:t>
            </a:r>
          </a:p>
          <a:p>
            <a:pPr lvl="2"/>
            <a:r>
              <a:rPr lang="en-GB" dirty="0"/>
              <a:t>The Journal des </a:t>
            </a:r>
            <a:r>
              <a:rPr lang="en-GB" dirty="0" err="1"/>
              <a:t>Sçavans</a:t>
            </a:r>
            <a:r>
              <a:rPr lang="en-GB" dirty="0"/>
              <a:t> in France – French language</a:t>
            </a:r>
          </a:p>
          <a:p>
            <a:pPr lvl="2"/>
            <a:r>
              <a:rPr lang="en-GB" dirty="0"/>
              <a:t>The Philosophical Transactions of the Royal Society in England – English language</a:t>
            </a:r>
          </a:p>
          <a:p>
            <a:r>
              <a:rPr lang="en-GB" dirty="0"/>
              <a:t>Three dominant languages of science (each language would be expected to be understood for the purpose of international scientific communication)</a:t>
            </a:r>
          </a:p>
          <a:p>
            <a:pPr lvl="1"/>
            <a:r>
              <a:rPr lang="en-GB" dirty="0"/>
              <a:t>French</a:t>
            </a:r>
          </a:p>
          <a:p>
            <a:pPr lvl="1"/>
            <a:r>
              <a:rPr lang="en-GB" dirty="0"/>
              <a:t>English</a:t>
            </a:r>
          </a:p>
          <a:p>
            <a:pPr lvl="1"/>
            <a:r>
              <a:rPr lang="en-GB" dirty="0"/>
              <a:t>German</a:t>
            </a:r>
          </a:p>
          <a:p>
            <a:endParaRPr lang="en-GB" dirty="0"/>
          </a:p>
        </p:txBody>
      </p:sp>
    </p:spTree>
    <p:extLst>
      <p:ext uri="{BB962C8B-B14F-4D97-AF65-F5344CB8AC3E}">
        <p14:creationId xmlns:p14="http://schemas.microsoft.com/office/powerpoint/2010/main" val="1417672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Language of science - (1920–1965)</a:t>
            </a:r>
          </a:p>
        </p:txBody>
      </p:sp>
      <p:sp>
        <p:nvSpPr>
          <p:cNvPr id="3" name="Content Placeholder 2"/>
          <p:cNvSpPr>
            <a:spLocks noGrp="1"/>
          </p:cNvSpPr>
          <p:nvPr>
            <p:ph idx="1"/>
          </p:nvPr>
        </p:nvSpPr>
        <p:spPr/>
        <p:txBody>
          <a:bodyPr>
            <a:normAutofit/>
          </a:bodyPr>
          <a:lstStyle/>
          <a:p>
            <a:r>
              <a:rPr lang="en-GB" sz="4000" dirty="0"/>
              <a:t>A transition period</a:t>
            </a:r>
          </a:p>
          <a:p>
            <a:pPr lvl="1"/>
            <a:r>
              <a:rPr lang="en-GB" sz="3600" dirty="0"/>
              <a:t>English had become the leading language of science</a:t>
            </a:r>
          </a:p>
          <a:p>
            <a:pPr lvl="1"/>
            <a:r>
              <a:rPr lang="en-GB" sz="3600" dirty="0"/>
              <a:t>However, a large share of global research continued to be published in other languages, and language diversity even seemed to increase until the 1960s</a:t>
            </a:r>
          </a:p>
        </p:txBody>
      </p:sp>
    </p:spTree>
    <p:extLst>
      <p:ext uri="{BB962C8B-B14F-4D97-AF65-F5344CB8AC3E}">
        <p14:creationId xmlns:p14="http://schemas.microsoft.com/office/powerpoint/2010/main" val="2951583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Language of science - (1965 onwards)</a:t>
            </a:r>
          </a:p>
        </p:txBody>
      </p:sp>
      <p:sp>
        <p:nvSpPr>
          <p:cNvPr id="3" name="Content Placeholder 2"/>
          <p:cNvSpPr>
            <a:spLocks noGrp="1"/>
          </p:cNvSpPr>
          <p:nvPr>
            <p:ph idx="1"/>
          </p:nvPr>
        </p:nvSpPr>
        <p:spPr/>
        <p:txBody>
          <a:bodyPr>
            <a:normAutofit fontScale="92500"/>
          </a:bodyPr>
          <a:lstStyle/>
          <a:p>
            <a:r>
              <a:rPr lang="en-GB" sz="3600" dirty="0"/>
              <a:t>English as a global standard </a:t>
            </a:r>
          </a:p>
          <a:p>
            <a:pPr lvl="1"/>
            <a:r>
              <a:rPr lang="en-GB" sz="3200" dirty="0"/>
              <a:t>Nearly all the scientific publications indexed on the leading commercial academic search engines are in English. </a:t>
            </a:r>
          </a:p>
          <a:p>
            <a:pPr lvl="2"/>
            <a:r>
              <a:rPr lang="en-GB" sz="2800" dirty="0"/>
              <a:t>95.86% of the 28,142,849 references indexed on the Web of Science (2022)</a:t>
            </a:r>
          </a:p>
          <a:p>
            <a:pPr lvl="2"/>
            <a:r>
              <a:rPr lang="en-GB" sz="2800" dirty="0"/>
              <a:t>84.35% of the 20,600,733 references indexed on Scopus (2022)</a:t>
            </a:r>
          </a:p>
          <a:p>
            <a:pPr lvl="1"/>
            <a:r>
              <a:rPr lang="en-GB" sz="3200" dirty="0"/>
              <a:t>Academics in non-English speaking countries get promoted based on their publications in English language journals</a:t>
            </a:r>
          </a:p>
          <a:p>
            <a:pPr lvl="2"/>
            <a:r>
              <a:rPr lang="en-GB" sz="2800" dirty="0"/>
              <a:t>Non-English publications can be held less valuable since they are not indexed in international rankings</a:t>
            </a:r>
          </a:p>
        </p:txBody>
      </p:sp>
    </p:spTree>
    <p:extLst>
      <p:ext uri="{BB962C8B-B14F-4D97-AF65-F5344CB8AC3E}">
        <p14:creationId xmlns:p14="http://schemas.microsoft.com/office/powerpoint/2010/main" val="3787386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Language of science in China</a:t>
            </a:r>
          </a:p>
        </p:txBody>
      </p:sp>
      <p:sp>
        <p:nvSpPr>
          <p:cNvPr id="3" name="Content Placeholder 2"/>
          <p:cNvSpPr>
            <a:spLocks noGrp="1"/>
          </p:cNvSpPr>
          <p:nvPr>
            <p:ph idx="1"/>
          </p:nvPr>
        </p:nvSpPr>
        <p:spPr/>
        <p:txBody>
          <a:bodyPr>
            <a:noAutofit/>
          </a:bodyPr>
          <a:lstStyle/>
          <a:p>
            <a:r>
              <a:rPr lang="en-GB" sz="3200" dirty="0"/>
              <a:t>In local journals, scientific publications are published in Chinese </a:t>
            </a:r>
          </a:p>
          <a:p>
            <a:r>
              <a:rPr lang="en-GB" sz="3200" dirty="0"/>
              <a:t>To boost the dissemination of Chinese research results, the central government and higher education institutions had introduced various schemes to encourage international publications</a:t>
            </a:r>
          </a:p>
          <a:p>
            <a:pPr lvl="1"/>
            <a:r>
              <a:rPr lang="en-GB" sz="2800" dirty="0"/>
              <a:t>Research evaluation systems result in most of the research to be published in English and abide to the linguistic norms set up by commercial indexes</a:t>
            </a:r>
          </a:p>
          <a:p>
            <a:endParaRPr lang="en-GB" sz="3200" dirty="0"/>
          </a:p>
        </p:txBody>
      </p:sp>
    </p:spTree>
    <p:extLst>
      <p:ext uri="{BB962C8B-B14F-4D97-AF65-F5344CB8AC3E}">
        <p14:creationId xmlns:p14="http://schemas.microsoft.com/office/powerpoint/2010/main" val="887252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p:txBody>
          <a:bodyPr/>
          <a:lstStyle/>
          <a:p>
            <a:endParaRPr lang="en-US" altLang="en-US" dirty="0"/>
          </a:p>
        </p:txBody>
      </p:sp>
      <p:pic>
        <p:nvPicPr>
          <p:cNvPr id="21507" name="Content Placeholder 3" descr="Screen Shot 2014-01-07 at 4.10.31 PM.png"/>
          <p:cNvPicPr>
            <a:picLocks noGrp="1" noChangeAspect="1"/>
          </p:cNvPicPr>
          <p:nvPr>
            <p:ph idx="1"/>
          </p:nvPr>
        </p:nvPicPr>
        <p:blipFill>
          <a:blip r:embed="rId2">
            <a:extLst>
              <a:ext uri="{28A0092B-C50C-407E-A947-70E740481C1C}">
                <a14:useLocalDpi xmlns:a14="http://schemas.microsoft.com/office/drawing/2010/main" val="0"/>
              </a:ext>
            </a:extLst>
          </a:blip>
          <a:srcRect t="-8846" b="-8846"/>
          <a:stretch>
            <a:fillRect/>
          </a:stretch>
        </p:blipFill>
        <p:spPr>
          <a:xfrm>
            <a:off x="378885" y="1963738"/>
            <a:ext cx="11432116" cy="4162425"/>
          </a:xfrm>
        </p:spPr>
      </p:pic>
    </p:spTree>
    <p:extLst>
      <p:ext uri="{BB962C8B-B14F-4D97-AF65-F5344CB8AC3E}">
        <p14:creationId xmlns:p14="http://schemas.microsoft.com/office/powerpoint/2010/main" val="2571956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Exercise</a:t>
            </a:r>
          </a:p>
        </p:txBody>
      </p:sp>
      <p:sp>
        <p:nvSpPr>
          <p:cNvPr id="3" name="Content Placeholder 2"/>
          <p:cNvSpPr>
            <a:spLocks noGrp="1"/>
          </p:cNvSpPr>
          <p:nvPr>
            <p:ph idx="1"/>
          </p:nvPr>
        </p:nvSpPr>
        <p:spPr/>
        <p:txBody>
          <a:bodyPr>
            <a:normAutofit/>
          </a:bodyPr>
          <a:lstStyle/>
          <a:p>
            <a:r>
              <a:rPr lang="en-GB" sz="4400" dirty="0"/>
              <a:t>The two texts in front of you talk about </a:t>
            </a:r>
            <a:r>
              <a:rPr lang="en-GB" sz="4400" b="1" u="sng" dirty="0"/>
              <a:t>the impact of cloud computing on businesses</a:t>
            </a:r>
            <a:r>
              <a:rPr lang="en-GB" sz="4400" dirty="0"/>
              <a:t>. </a:t>
            </a:r>
          </a:p>
          <a:p>
            <a:r>
              <a:rPr lang="en-GB" sz="4400" dirty="0"/>
              <a:t>Compare their tone, style, and structure</a:t>
            </a:r>
          </a:p>
        </p:txBody>
      </p:sp>
    </p:spTree>
    <p:extLst>
      <p:ext uri="{BB962C8B-B14F-4D97-AF65-F5344CB8AC3E}">
        <p14:creationId xmlns:p14="http://schemas.microsoft.com/office/powerpoint/2010/main" val="4185429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sz="4800" dirty="0"/>
              <a:t>The same topic can be adapted to different contexts, with each format requiring a distinct approach</a:t>
            </a:r>
          </a:p>
        </p:txBody>
      </p:sp>
    </p:spTree>
    <p:extLst>
      <p:ext uri="{BB962C8B-B14F-4D97-AF65-F5344CB8AC3E}">
        <p14:creationId xmlns:p14="http://schemas.microsoft.com/office/powerpoint/2010/main" val="4192727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Audience and Purpose</a:t>
            </a:r>
          </a:p>
        </p:txBody>
      </p:sp>
      <p:sp>
        <p:nvSpPr>
          <p:cNvPr id="3" name="Content Placeholder 2"/>
          <p:cNvSpPr>
            <a:spLocks noGrp="1"/>
          </p:cNvSpPr>
          <p:nvPr>
            <p:ph idx="1"/>
          </p:nvPr>
        </p:nvSpPr>
        <p:spPr/>
        <p:txBody>
          <a:bodyPr>
            <a:normAutofit fontScale="92500" lnSpcReduction="10000"/>
          </a:bodyPr>
          <a:lstStyle/>
          <a:p>
            <a:r>
              <a:rPr lang="en-GB" sz="3600" dirty="0"/>
              <a:t>Text 1: News Article</a:t>
            </a:r>
          </a:p>
          <a:p>
            <a:pPr lvl="1"/>
            <a:r>
              <a:rPr lang="en-GB" sz="3200" dirty="0"/>
              <a:t>Aimed at a general audience</a:t>
            </a:r>
          </a:p>
          <a:p>
            <a:pPr lvl="1"/>
            <a:r>
              <a:rPr lang="en-GB" sz="3200" dirty="0"/>
              <a:t>The purpose is to </a:t>
            </a:r>
            <a:r>
              <a:rPr lang="en-GB" sz="3200" dirty="0">
                <a:solidFill>
                  <a:srgbClr val="FF0000"/>
                </a:solidFill>
              </a:rPr>
              <a:t>inform</a:t>
            </a:r>
            <a:r>
              <a:rPr lang="en-GB" sz="3200" dirty="0"/>
              <a:t> and </a:t>
            </a:r>
            <a:r>
              <a:rPr lang="en-GB" sz="3200" dirty="0">
                <a:solidFill>
                  <a:srgbClr val="FF0000"/>
                </a:solidFill>
              </a:rPr>
              <a:t>provide an overview </a:t>
            </a:r>
            <a:r>
              <a:rPr lang="en-GB" sz="3200" dirty="0"/>
              <a:t>of the trend. The focus is on </a:t>
            </a:r>
            <a:r>
              <a:rPr lang="en-GB" sz="3200" u="sng" dirty="0"/>
              <a:t>factual reporting with minimal analysis.</a:t>
            </a:r>
          </a:p>
          <a:p>
            <a:r>
              <a:rPr lang="en-GB" sz="3600" dirty="0"/>
              <a:t>Text 2: Blog Post</a:t>
            </a:r>
          </a:p>
          <a:p>
            <a:pPr lvl="1"/>
            <a:r>
              <a:rPr lang="en-GB" sz="3200" dirty="0"/>
              <a:t>Written for a broad audience, possibly business owners or non-technical readers. </a:t>
            </a:r>
          </a:p>
          <a:p>
            <a:pPr lvl="1"/>
            <a:r>
              <a:rPr lang="en-GB" sz="3200" dirty="0"/>
              <a:t>The purpose is to </a:t>
            </a:r>
            <a:r>
              <a:rPr lang="en-GB" sz="3200" dirty="0">
                <a:solidFill>
                  <a:srgbClr val="FF0000"/>
                </a:solidFill>
              </a:rPr>
              <a:t>persuade</a:t>
            </a:r>
            <a:r>
              <a:rPr lang="en-GB" sz="3200" dirty="0"/>
              <a:t> and </a:t>
            </a:r>
            <a:r>
              <a:rPr lang="en-GB" sz="3200" dirty="0">
                <a:solidFill>
                  <a:srgbClr val="FF0000"/>
                </a:solidFill>
              </a:rPr>
              <a:t>engage</a:t>
            </a:r>
            <a:r>
              <a:rPr lang="en-GB" sz="3200" dirty="0"/>
              <a:t>, using </a:t>
            </a:r>
            <a:r>
              <a:rPr lang="en-GB" sz="3200" u="sng" dirty="0"/>
              <a:t>a conversational tone </a:t>
            </a:r>
            <a:r>
              <a:rPr lang="en-GB" sz="3200" dirty="0"/>
              <a:t>and focusing on the practical benefits of cloud computing. </a:t>
            </a:r>
          </a:p>
          <a:p>
            <a:endParaRPr lang="en-GB" dirty="0"/>
          </a:p>
        </p:txBody>
      </p:sp>
    </p:spTree>
    <p:extLst>
      <p:ext uri="{BB962C8B-B14F-4D97-AF65-F5344CB8AC3E}">
        <p14:creationId xmlns:p14="http://schemas.microsoft.com/office/powerpoint/2010/main" val="3197209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Style and Tone</a:t>
            </a:r>
          </a:p>
        </p:txBody>
      </p:sp>
      <p:sp>
        <p:nvSpPr>
          <p:cNvPr id="3" name="Content Placeholder 2"/>
          <p:cNvSpPr>
            <a:spLocks noGrp="1"/>
          </p:cNvSpPr>
          <p:nvPr>
            <p:ph idx="1"/>
          </p:nvPr>
        </p:nvSpPr>
        <p:spPr/>
        <p:txBody>
          <a:bodyPr>
            <a:normAutofit/>
          </a:bodyPr>
          <a:lstStyle/>
          <a:p>
            <a:r>
              <a:rPr lang="en-GB" sz="3600" dirty="0"/>
              <a:t>Text 1: News Article</a:t>
            </a:r>
          </a:p>
          <a:p>
            <a:pPr lvl="1"/>
            <a:r>
              <a:rPr lang="en-GB" sz="3200" dirty="0"/>
              <a:t>Neutral and straightforward, focusing on clarity and conciseness. </a:t>
            </a:r>
          </a:p>
          <a:p>
            <a:pPr lvl="1"/>
            <a:r>
              <a:rPr lang="en-GB" sz="3200" dirty="0"/>
              <a:t>The tone is informative without being overly technical.</a:t>
            </a:r>
          </a:p>
          <a:p>
            <a:r>
              <a:rPr lang="en-GB" sz="3600" dirty="0"/>
              <a:t>Text 2: Blog Post</a:t>
            </a:r>
          </a:p>
          <a:p>
            <a:pPr lvl="1"/>
            <a:r>
              <a:rPr lang="en-GB" sz="3200" dirty="0"/>
              <a:t>Informal, engaging, and persuasive. </a:t>
            </a:r>
          </a:p>
          <a:p>
            <a:pPr lvl="1"/>
            <a:r>
              <a:rPr lang="en-GB" sz="3200" dirty="0"/>
              <a:t>The tone is conversational, with a focus on connecting with the reader and making the content relatable.</a:t>
            </a:r>
          </a:p>
        </p:txBody>
      </p:sp>
    </p:spTree>
    <p:extLst>
      <p:ext uri="{BB962C8B-B14F-4D97-AF65-F5344CB8AC3E}">
        <p14:creationId xmlns:p14="http://schemas.microsoft.com/office/powerpoint/2010/main" val="1819341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Structure</a:t>
            </a:r>
          </a:p>
        </p:txBody>
      </p:sp>
      <p:sp>
        <p:nvSpPr>
          <p:cNvPr id="3" name="Content Placeholder 2"/>
          <p:cNvSpPr>
            <a:spLocks noGrp="1"/>
          </p:cNvSpPr>
          <p:nvPr>
            <p:ph idx="1"/>
          </p:nvPr>
        </p:nvSpPr>
        <p:spPr/>
        <p:txBody>
          <a:bodyPr>
            <a:normAutofit fontScale="92500" lnSpcReduction="10000"/>
          </a:bodyPr>
          <a:lstStyle/>
          <a:p>
            <a:r>
              <a:rPr lang="en-GB" sz="3600" dirty="0"/>
              <a:t>Text 1: News Article</a:t>
            </a:r>
          </a:p>
          <a:p>
            <a:pPr lvl="1"/>
            <a:r>
              <a:rPr lang="en-GB" sz="3200" dirty="0"/>
              <a:t>Inverted pyramid structure, where the most important information comes first. </a:t>
            </a:r>
          </a:p>
          <a:p>
            <a:pPr lvl="1"/>
            <a:r>
              <a:rPr lang="en-GB" sz="3200" dirty="0"/>
              <a:t>This allows readers to get the gist of the article even if they don’t read the whole thing.</a:t>
            </a:r>
          </a:p>
          <a:p>
            <a:r>
              <a:rPr lang="en-GB" sz="3600" dirty="0"/>
              <a:t>Text 2: Blog Post</a:t>
            </a:r>
          </a:p>
          <a:p>
            <a:pPr lvl="1"/>
            <a:r>
              <a:rPr lang="en-GB" sz="3200" dirty="0"/>
              <a:t>Flexible and often nonlinear, focusing on readability and engagement. </a:t>
            </a:r>
          </a:p>
          <a:p>
            <a:pPr lvl="1"/>
            <a:r>
              <a:rPr lang="en-GB" sz="3200" dirty="0"/>
              <a:t>It may include headings, bullet points, and direct appeals to the reader.</a:t>
            </a:r>
          </a:p>
        </p:txBody>
      </p:sp>
    </p:spTree>
    <p:extLst>
      <p:ext uri="{BB962C8B-B14F-4D97-AF65-F5344CB8AC3E}">
        <p14:creationId xmlns:p14="http://schemas.microsoft.com/office/powerpoint/2010/main" val="4245993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855" y="43962"/>
            <a:ext cx="11269908" cy="682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961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Academic English</a:t>
            </a:r>
          </a:p>
        </p:txBody>
      </p:sp>
      <p:sp>
        <p:nvSpPr>
          <p:cNvPr id="3" name="Content Placeholder 2"/>
          <p:cNvSpPr>
            <a:spLocks noGrp="1"/>
          </p:cNvSpPr>
          <p:nvPr>
            <p:ph idx="1"/>
          </p:nvPr>
        </p:nvSpPr>
        <p:spPr/>
        <p:txBody>
          <a:bodyPr>
            <a:normAutofit/>
          </a:bodyPr>
          <a:lstStyle/>
          <a:p>
            <a:r>
              <a:rPr lang="en-GB" sz="4400" dirty="0"/>
              <a:t>Academic English is the style of language used in the fields of education, science, technology, and global connections.</a:t>
            </a:r>
          </a:p>
          <a:p>
            <a:pPr marL="457200" lvl="1" indent="0">
              <a:buNone/>
            </a:pPr>
            <a:r>
              <a:rPr lang="en-GB" sz="4000" dirty="0"/>
              <a:t> </a:t>
            </a:r>
          </a:p>
        </p:txBody>
      </p:sp>
    </p:spTree>
    <p:extLst>
      <p:ext uri="{BB962C8B-B14F-4D97-AF65-F5344CB8AC3E}">
        <p14:creationId xmlns:p14="http://schemas.microsoft.com/office/powerpoint/2010/main" val="22470407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Academic English Example</a:t>
            </a:r>
          </a:p>
        </p:txBody>
      </p:sp>
      <p:sp>
        <p:nvSpPr>
          <p:cNvPr id="3" name="Content Placeholder 2"/>
          <p:cNvSpPr>
            <a:spLocks noGrp="1"/>
          </p:cNvSpPr>
          <p:nvPr>
            <p:ph idx="1"/>
          </p:nvPr>
        </p:nvSpPr>
        <p:spPr/>
        <p:txBody>
          <a:bodyPr>
            <a:normAutofit fontScale="85000" lnSpcReduction="20000"/>
          </a:bodyPr>
          <a:lstStyle/>
          <a:p>
            <a:r>
              <a:rPr lang="en-GB" sz="4300" dirty="0"/>
              <a:t>Research paper</a:t>
            </a:r>
          </a:p>
          <a:p>
            <a:pPr lvl="1"/>
            <a:r>
              <a:rPr lang="en-GB" sz="3500" dirty="0"/>
              <a:t>Audience and Purpose</a:t>
            </a:r>
          </a:p>
          <a:p>
            <a:pPr lvl="2"/>
            <a:r>
              <a:rPr lang="en-GB" sz="3000" dirty="0"/>
              <a:t>Targeted at academics, professionals, and students, the purpose is to contribute to scholarly discussion with in-depth analysis and evidence. The writing is formal, objective, and detailed.</a:t>
            </a:r>
          </a:p>
          <a:p>
            <a:pPr lvl="1"/>
            <a:r>
              <a:rPr lang="en-GB" sz="3500" dirty="0"/>
              <a:t>Style and Tone</a:t>
            </a:r>
          </a:p>
          <a:p>
            <a:pPr lvl="2"/>
            <a:r>
              <a:rPr lang="en-GB" sz="3000" dirty="0"/>
              <a:t>Formal and analytical, with a focus on precise language and a structured argument. The tone is objective and academic.</a:t>
            </a:r>
          </a:p>
          <a:p>
            <a:pPr lvl="1"/>
            <a:r>
              <a:rPr lang="en-GB" sz="3500" dirty="0"/>
              <a:t>Structure</a:t>
            </a:r>
          </a:p>
          <a:p>
            <a:pPr lvl="2"/>
            <a:r>
              <a:rPr lang="en-GB" sz="3000" dirty="0"/>
              <a:t>Structured with a clear academic framework, including sections like Abstract, Introduction, Methodology, and Discussion. The argument is built progressively.</a:t>
            </a:r>
          </a:p>
          <a:p>
            <a:endParaRPr lang="en-GB" dirty="0"/>
          </a:p>
          <a:p>
            <a:endParaRPr lang="en-GB" dirty="0"/>
          </a:p>
          <a:p>
            <a:endParaRPr lang="en-GB" dirty="0"/>
          </a:p>
          <a:p>
            <a:endParaRPr lang="en-GB" sz="4000" dirty="0"/>
          </a:p>
        </p:txBody>
      </p:sp>
      <p:sp>
        <p:nvSpPr>
          <p:cNvPr id="4" name="Rounded Rectangle 3"/>
          <p:cNvSpPr/>
          <p:nvPr/>
        </p:nvSpPr>
        <p:spPr>
          <a:xfrm>
            <a:off x="7577031" y="2962735"/>
            <a:ext cx="2372607"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le 4"/>
          <p:cNvSpPr/>
          <p:nvPr/>
        </p:nvSpPr>
        <p:spPr>
          <a:xfrm>
            <a:off x="1836185" y="3245381"/>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1836184" y="5252763"/>
            <a:ext cx="7392407"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9255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696" y="112095"/>
            <a:ext cx="5244991" cy="6832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6818" y="112095"/>
            <a:ext cx="5238084" cy="6745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3972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dirty="0"/>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696" y="112095"/>
            <a:ext cx="5244991" cy="6832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6818" y="112095"/>
            <a:ext cx="5238084" cy="6745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ounded Rectangle 3"/>
          <p:cNvSpPr/>
          <p:nvPr/>
        </p:nvSpPr>
        <p:spPr>
          <a:xfrm>
            <a:off x="2231619" y="2332324"/>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2211478" y="4627723"/>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8228928" y="4587442"/>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08354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696" y="112095"/>
            <a:ext cx="5244991" cy="6832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6818" y="112095"/>
            <a:ext cx="5238084" cy="6745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ounded Rectangle 3"/>
          <p:cNvSpPr/>
          <p:nvPr/>
        </p:nvSpPr>
        <p:spPr>
          <a:xfrm>
            <a:off x="2231619" y="2332324"/>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2211478" y="4627723"/>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8228928" y="4587442"/>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7254778" y="1047330"/>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8338362" y="1047330"/>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9869075" y="894259"/>
            <a:ext cx="1023161"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p:nvSpPr>
        <p:spPr>
          <a:xfrm>
            <a:off x="7359511" y="1401812"/>
            <a:ext cx="74521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13"/>
          <p:cNvSpPr/>
          <p:nvPr/>
        </p:nvSpPr>
        <p:spPr>
          <a:xfrm>
            <a:off x="7166157" y="1667672"/>
            <a:ext cx="1442093"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ounded Rectangle 14"/>
          <p:cNvSpPr/>
          <p:nvPr/>
        </p:nvSpPr>
        <p:spPr>
          <a:xfrm>
            <a:off x="6654576" y="1200401"/>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ounded Rectangle 15"/>
          <p:cNvSpPr/>
          <p:nvPr/>
        </p:nvSpPr>
        <p:spPr>
          <a:xfrm>
            <a:off x="7777770" y="1200400"/>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p:cNvSpPr/>
          <p:nvPr/>
        </p:nvSpPr>
        <p:spPr>
          <a:xfrm>
            <a:off x="6727084" y="2646523"/>
            <a:ext cx="67270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7166157" y="2896272"/>
            <a:ext cx="72104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p:cNvSpPr/>
          <p:nvPr/>
        </p:nvSpPr>
        <p:spPr>
          <a:xfrm>
            <a:off x="9526679" y="5272906"/>
            <a:ext cx="1607249"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ounded Rectangle 19"/>
          <p:cNvSpPr/>
          <p:nvPr/>
        </p:nvSpPr>
        <p:spPr>
          <a:xfrm>
            <a:off x="7399792" y="5897276"/>
            <a:ext cx="107955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unded Rectangle 20"/>
          <p:cNvSpPr/>
          <p:nvPr/>
        </p:nvSpPr>
        <p:spPr>
          <a:xfrm>
            <a:off x="6892240" y="5897275"/>
            <a:ext cx="54380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6654576" y="5425977"/>
            <a:ext cx="54380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742521" y="5767701"/>
            <a:ext cx="54380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p:cNvSpPr/>
          <p:nvPr/>
        </p:nvSpPr>
        <p:spPr>
          <a:xfrm>
            <a:off x="8157093" y="5747560"/>
            <a:ext cx="54380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70893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126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65524" y="90385"/>
            <a:ext cx="4986218" cy="67930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2878" y="-153071"/>
            <a:ext cx="4459210" cy="6802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ounded Rectangle 6"/>
          <p:cNvSpPr/>
          <p:nvPr/>
        </p:nvSpPr>
        <p:spPr>
          <a:xfrm>
            <a:off x="3838869" y="3049343"/>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3955016" y="4780795"/>
            <a:ext cx="1338031"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1517959" y="732460"/>
            <a:ext cx="72171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2761326" y="885531"/>
            <a:ext cx="630414"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1981201" y="1481704"/>
            <a:ext cx="1048001"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4442427" y="1973144"/>
            <a:ext cx="665324"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p:nvSpPr>
        <p:spPr>
          <a:xfrm>
            <a:off x="4539774" y="615643"/>
            <a:ext cx="56797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13"/>
          <p:cNvSpPr/>
          <p:nvPr/>
        </p:nvSpPr>
        <p:spPr>
          <a:xfrm>
            <a:off x="3540112" y="1123195"/>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ounded Rectangle 14"/>
          <p:cNvSpPr/>
          <p:nvPr/>
        </p:nvSpPr>
        <p:spPr>
          <a:xfrm>
            <a:off x="1078886" y="2202751"/>
            <a:ext cx="1160791"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ounded Rectangle 15"/>
          <p:cNvSpPr/>
          <p:nvPr/>
        </p:nvSpPr>
        <p:spPr>
          <a:xfrm>
            <a:off x="4656594" y="2315540"/>
            <a:ext cx="676736"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p:cNvSpPr/>
          <p:nvPr/>
        </p:nvSpPr>
        <p:spPr>
          <a:xfrm>
            <a:off x="1078886" y="3552196"/>
            <a:ext cx="645181"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1111110" y="4152396"/>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p:cNvSpPr/>
          <p:nvPr/>
        </p:nvSpPr>
        <p:spPr>
          <a:xfrm>
            <a:off x="4323931" y="5272235"/>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ounded Rectangle 19"/>
          <p:cNvSpPr/>
          <p:nvPr/>
        </p:nvSpPr>
        <p:spPr>
          <a:xfrm>
            <a:off x="4219201" y="5501841"/>
            <a:ext cx="100704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ounded Rectangle 20"/>
          <p:cNvSpPr/>
          <p:nvPr/>
        </p:nvSpPr>
        <p:spPr>
          <a:xfrm>
            <a:off x="3129235" y="5618659"/>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p:cNvSpPr/>
          <p:nvPr/>
        </p:nvSpPr>
        <p:spPr>
          <a:xfrm>
            <a:off x="3580392" y="5864380"/>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7008386" y="539107"/>
            <a:ext cx="1744879"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p:cNvSpPr/>
          <p:nvPr/>
        </p:nvSpPr>
        <p:spPr>
          <a:xfrm>
            <a:off x="8302107" y="896944"/>
            <a:ext cx="1087613"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ounded Rectangle 24"/>
          <p:cNvSpPr/>
          <p:nvPr/>
        </p:nvSpPr>
        <p:spPr>
          <a:xfrm>
            <a:off x="7362867" y="2081905"/>
            <a:ext cx="1982543"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10581395" y="1038602"/>
            <a:ext cx="60892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ounded Rectangle 26"/>
          <p:cNvSpPr/>
          <p:nvPr/>
        </p:nvSpPr>
        <p:spPr>
          <a:xfrm>
            <a:off x="6706272" y="1191673"/>
            <a:ext cx="625042"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6557228" y="2557232"/>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ounded Rectangle 28"/>
          <p:cNvSpPr/>
          <p:nvPr/>
        </p:nvSpPr>
        <p:spPr>
          <a:xfrm>
            <a:off x="10255110" y="3086566"/>
            <a:ext cx="902315"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ounded Rectangle 29"/>
          <p:cNvSpPr/>
          <p:nvPr/>
        </p:nvSpPr>
        <p:spPr>
          <a:xfrm>
            <a:off x="6667539" y="3233221"/>
            <a:ext cx="2178374"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p:cNvSpPr/>
          <p:nvPr/>
        </p:nvSpPr>
        <p:spPr>
          <a:xfrm>
            <a:off x="8938562" y="3238889"/>
            <a:ext cx="721047"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p:cNvSpPr/>
          <p:nvPr/>
        </p:nvSpPr>
        <p:spPr>
          <a:xfrm>
            <a:off x="7826783" y="4108087"/>
            <a:ext cx="813693"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ounded Rectangle 32"/>
          <p:cNvSpPr/>
          <p:nvPr/>
        </p:nvSpPr>
        <p:spPr>
          <a:xfrm>
            <a:off x="9374951" y="4108087"/>
            <a:ext cx="1037930"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ounded Rectangle 33"/>
          <p:cNvSpPr/>
          <p:nvPr/>
        </p:nvSpPr>
        <p:spPr>
          <a:xfrm>
            <a:off x="7580391" y="4904249"/>
            <a:ext cx="67740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ounded Rectangle 34"/>
          <p:cNvSpPr/>
          <p:nvPr/>
        </p:nvSpPr>
        <p:spPr>
          <a:xfrm>
            <a:off x="6667539" y="6017451"/>
            <a:ext cx="735610"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849623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2620" y="198667"/>
            <a:ext cx="4620067" cy="6824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482" y="60424"/>
            <a:ext cx="4785035" cy="6666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ounded Rectangle 5"/>
          <p:cNvSpPr/>
          <p:nvPr/>
        </p:nvSpPr>
        <p:spPr>
          <a:xfrm>
            <a:off x="2122858" y="2871431"/>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1983886" y="1832828"/>
            <a:ext cx="313594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660625" y="1953674"/>
            <a:ext cx="1323262"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2404832" y="2578045"/>
            <a:ext cx="114702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6525003" y="3534375"/>
            <a:ext cx="1147028" cy="153071"/>
          </a:xfrm>
          <a:prstGeom prst="roundRect">
            <a:avLst/>
          </a:prstGeom>
          <a:solidFill>
            <a:srgbClr val="92D050">
              <a:alpha val="22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25436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536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377" y="51624"/>
            <a:ext cx="4945547" cy="68426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829" y="12083"/>
            <a:ext cx="4478549" cy="6727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8617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3479" y="139323"/>
            <a:ext cx="4702705" cy="6682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918" y="100887"/>
            <a:ext cx="4807461" cy="6720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0224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946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4695" y="117838"/>
            <a:ext cx="4713883" cy="6740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772" y="117838"/>
            <a:ext cx="4577018" cy="6663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ounded Rectangle 7"/>
          <p:cNvSpPr/>
          <p:nvPr/>
        </p:nvSpPr>
        <p:spPr>
          <a:xfrm>
            <a:off x="2270938" y="3068812"/>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85900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2893" y="165155"/>
            <a:ext cx="5186446" cy="7202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005" y="49396"/>
            <a:ext cx="4768927" cy="6808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ounded Rectangle 5"/>
          <p:cNvSpPr/>
          <p:nvPr/>
        </p:nvSpPr>
        <p:spPr>
          <a:xfrm>
            <a:off x="8313229" y="4784822"/>
            <a:ext cx="1526686"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1606285" y="4575357"/>
            <a:ext cx="2989883" cy="314199"/>
          </a:xfrm>
          <a:prstGeom prst="roundRect">
            <a:avLst/>
          </a:prstGeom>
          <a:solidFill>
            <a:srgbClr val="FFFF00">
              <a:alpha val="22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91069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2253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2738" y="84159"/>
            <a:ext cx="9933527" cy="66610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5663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050" y="127302"/>
            <a:ext cx="9779231" cy="6547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2465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DE65E-B3D3-430D-BC5C-8D6E89B1922C}"/>
              </a:ext>
            </a:extLst>
          </p:cNvPr>
          <p:cNvSpPr>
            <a:spLocks noGrp="1"/>
          </p:cNvSpPr>
          <p:nvPr>
            <p:ph type="title"/>
          </p:nvPr>
        </p:nvSpPr>
        <p:spPr>
          <a:xfrm>
            <a:off x="336000" y="365125"/>
            <a:ext cx="11520000" cy="864000"/>
          </a:xfrm>
        </p:spPr>
        <p:txBody>
          <a:bodyPr>
            <a:noAutofit/>
          </a:bodyPr>
          <a:lstStyle/>
          <a:p>
            <a:pPr algn="ctr"/>
            <a:r>
              <a:rPr lang="en-GB" sz="4800" b="1" dirty="0"/>
              <a:t>Academic writing &amp; language</a:t>
            </a:r>
          </a:p>
        </p:txBody>
      </p:sp>
      <p:sp>
        <p:nvSpPr>
          <p:cNvPr id="3" name="Content Placeholder 2">
            <a:extLst>
              <a:ext uri="{FF2B5EF4-FFF2-40B4-BE49-F238E27FC236}">
                <a16:creationId xmlns:a16="http://schemas.microsoft.com/office/drawing/2014/main" id="{12823411-12EE-44B2-8140-A1D56D131F5B}"/>
              </a:ext>
            </a:extLst>
          </p:cNvPr>
          <p:cNvSpPr>
            <a:spLocks noGrp="1"/>
          </p:cNvSpPr>
          <p:nvPr>
            <p:ph idx="1"/>
          </p:nvPr>
        </p:nvSpPr>
        <p:spPr>
          <a:xfrm>
            <a:off x="799744" y="1695648"/>
            <a:ext cx="10560000" cy="2961696"/>
          </a:xfrm>
        </p:spPr>
        <p:txBody>
          <a:bodyPr>
            <a:noAutofit/>
          </a:bodyPr>
          <a:lstStyle/>
          <a:p>
            <a:pPr>
              <a:lnSpc>
                <a:spcPct val="100000"/>
              </a:lnSpc>
              <a:spcBef>
                <a:spcPts val="2400"/>
              </a:spcBef>
            </a:pPr>
            <a:r>
              <a:rPr lang="en-GB" sz="3600" dirty="0"/>
              <a:t>Academic writing is a formal approach </a:t>
            </a:r>
          </a:p>
          <a:p>
            <a:pPr lvl="1">
              <a:lnSpc>
                <a:spcPct val="100000"/>
              </a:lnSpc>
              <a:spcBef>
                <a:spcPts val="2400"/>
              </a:spcBef>
            </a:pPr>
            <a:r>
              <a:rPr lang="en-GB" sz="3200" dirty="0"/>
              <a:t>Formal structure following academic conventions </a:t>
            </a:r>
          </a:p>
          <a:p>
            <a:pPr lvl="1">
              <a:lnSpc>
                <a:spcPct val="100000"/>
              </a:lnSpc>
              <a:spcBef>
                <a:spcPts val="2400"/>
              </a:spcBef>
            </a:pPr>
            <a:r>
              <a:rPr lang="en-GB" sz="3200" dirty="0"/>
              <a:t>Formal tone and use of language</a:t>
            </a:r>
          </a:p>
          <a:p>
            <a:pPr>
              <a:lnSpc>
                <a:spcPct val="100000"/>
              </a:lnSpc>
              <a:spcBef>
                <a:spcPts val="2400"/>
              </a:spcBef>
            </a:pPr>
            <a:r>
              <a:rPr lang="en-GB" sz="3600" dirty="0"/>
              <a:t>Writing in an academic style is something that can be learnt through guidance and conscientious practice</a:t>
            </a:r>
          </a:p>
        </p:txBody>
      </p:sp>
    </p:spTree>
    <p:custDataLst>
      <p:tags r:id="rId1"/>
    </p:custDataLst>
    <p:extLst>
      <p:ext uri="{BB962C8B-B14F-4D97-AF65-F5344CB8AC3E}">
        <p14:creationId xmlns:p14="http://schemas.microsoft.com/office/powerpoint/2010/main" val="628981626"/>
      </p:ext>
    </p:extLst>
  </p:cSld>
  <p:clrMapOvr>
    <a:masterClrMapping/>
  </p:clrMapOvr>
  <mc:AlternateContent xmlns:mc="http://schemas.openxmlformats.org/markup-compatibility/2006" xmlns:p14="http://schemas.microsoft.com/office/powerpoint/2010/main">
    <mc:Choice Requires="p14">
      <p:transition spd="slow" p14:dur="2000" advTm="38022"/>
    </mc:Choice>
    <mc:Fallback xmlns="">
      <p:transition spd="slow" advTm="38022"/>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5|0.6|13.1|1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5969</TotalTime>
  <Words>1581</Words>
  <Application>Microsoft Office PowerPoint</Application>
  <PresentationFormat>Widescreen</PresentationFormat>
  <Paragraphs>208</Paragraphs>
  <Slides>51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等线</vt:lpstr>
      <vt:lpstr>Arial</vt:lpstr>
      <vt:lpstr>Calibri</vt:lpstr>
      <vt:lpstr>Calibri Light</vt:lpstr>
      <vt:lpstr>Wingdings</vt:lpstr>
      <vt:lpstr>Office Theme</vt:lpstr>
      <vt:lpstr>Research Communication Skills</vt:lpstr>
      <vt:lpstr>Intended Learning Outcomes</vt:lpstr>
      <vt:lpstr>Introduction to research</vt:lpstr>
      <vt:lpstr>Research (1)</vt:lpstr>
      <vt:lpstr>Research (2)</vt:lpstr>
      <vt:lpstr>Research (3)</vt:lpstr>
      <vt:lpstr>Research (4)</vt:lpstr>
      <vt:lpstr>Research (3)</vt:lpstr>
      <vt:lpstr>Research Process </vt:lpstr>
      <vt:lpstr>Research Process </vt:lpstr>
      <vt:lpstr>Realize there is  a problem</vt:lpstr>
      <vt:lpstr>Sources of Research Problems</vt:lpstr>
      <vt:lpstr>Research Process </vt:lpstr>
      <vt:lpstr>Look to see if anyone has solved it</vt:lpstr>
      <vt:lpstr>Research Process </vt:lpstr>
      <vt:lpstr>Develop a plan to solve it</vt:lpstr>
      <vt:lpstr>Research Process </vt:lpstr>
      <vt:lpstr>Solve it</vt:lpstr>
      <vt:lpstr>Research Process </vt:lpstr>
      <vt:lpstr>Evaluate your solution</vt:lpstr>
      <vt:lpstr>Evaluate your solution</vt:lpstr>
      <vt:lpstr>Research Process </vt:lpstr>
      <vt:lpstr>Disseminate your solution</vt:lpstr>
      <vt:lpstr>PowerPoint Presentation</vt:lpstr>
      <vt:lpstr>Language of science</vt:lpstr>
      <vt:lpstr>Language of science - until the 19th century </vt:lpstr>
      <vt:lpstr>Language of science - 1800–1920</vt:lpstr>
      <vt:lpstr>Language of science - (1920–1965)</vt:lpstr>
      <vt:lpstr> Language of science - (1965 onwards)</vt:lpstr>
      <vt:lpstr>Language of science in China</vt:lpstr>
      <vt:lpstr>PowerPoint Presentation</vt:lpstr>
      <vt:lpstr>Exercise</vt:lpstr>
      <vt:lpstr>PowerPoint Presentation</vt:lpstr>
      <vt:lpstr>Audience and Purpose</vt:lpstr>
      <vt:lpstr>Style and Tone</vt:lpstr>
      <vt:lpstr>Structure</vt:lpstr>
      <vt:lpstr>PowerPoint Presentation</vt:lpstr>
      <vt:lpstr>Academic English</vt:lpstr>
      <vt:lpstr>Academic English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Academic writing &amp; language</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224</cp:revision>
  <cp:lastPrinted>2019-09-03T08:34:37Z</cp:lastPrinted>
  <dcterms:created xsi:type="dcterms:W3CDTF">2014-08-14T09:54:55Z</dcterms:created>
  <dcterms:modified xsi:type="dcterms:W3CDTF">2026-09-01T02:57:37Z</dcterms:modified>
</cp:coreProperties>
</file>