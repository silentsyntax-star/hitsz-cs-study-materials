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71" r:id="rId2"/>
    <p:sldId id="1072" r:id="rId3"/>
    <p:sldId id="1073" r:id="rId4"/>
    <p:sldId id="1074" r:id="rId5"/>
    <p:sldId id="1933" r:id="rId6"/>
    <p:sldId id="1934" r:id="rId7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2F9"/>
    <a:srgbClr val="E34DDC"/>
    <a:srgbClr val="DF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20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45" y="77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m.org/binaries/content/assets/publications/taps/acm_submission_template.doc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4BF50E07-9631-4FDD-BF37-F33132E6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task 3: poster and paper draft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D4BBEB-28F4-4D20-98BF-12FED1AC5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zh-CN" sz="4800" dirty="0"/>
              <a:t>Submit and present your group’s </a:t>
            </a:r>
            <a:r>
              <a:rPr lang="en-US" altLang="zh-CN" sz="4800" dirty="0">
                <a:solidFill>
                  <a:srgbClr val="00B050"/>
                </a:solidFill>
              </a:rPr>
              <a:t>poster</a:t>
            </a:r>
          </a:p>
          <a:p>
            <a:pPr>
              <a:defRPr/>
            </a:pPr>
            <a:r>
              <a:rPr lang="en-US" altLang="zh-CN" sz="4800" dirty="0"/>
              <a:t>Submit your group’s </a:t>
            </a:r>
            <a:r>
              <a:rPr lang="en-US" altLang="zh-CN" sz="4800" dirty="0">
                <a:solidFill>
                  <a:srgbClr val="00B050"/>
                </a:solidFill>
              </a:rPr>
              <a:t>paper draft</a:t>
            </a:r>
          </a:p>
          <a:p>
            <a:pPr>
              <a:defRPr/>
            </a:pPr>
            <a:endParaRPr lang="en-US" altLang="zh-CN" sz="4800" dirty="0">
              <a:solidFill>
                <a:srgbClr val="FF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4800" dirty="0"/>
          </a:p>
          <a:p>
            <a:pPr lvl="1" fontAlgn="auto">
              <a:spcAft>
                <a:spcPts val="0"/>
              </a:spcAft>
              <a:defRPr/>
            </a:pPr>
            <a:endParaRPr lang="en-US" altLang="zh-CN" sz="4400" dirty="0"/>
          </a:p>
          <a:p>
            <a:pPr fontAlgn="auto">
              <a:spcAft>
                <a:spcPts val="0"/>
              </a:spcAft>
              <a:defRPr/>
            </a:pPr>
            <a:endParaRPr lang="en-US" altLang="zh-CN" sz="4800" dirty="0"/>
          </a:p>
        </p:txBody>
      </p:sp>
    </p:spTree>
    <p:extLst>
      <p:ext uri="{BB962C8B-B14F-4D97-AF65-F5344CB8AC3E}">
        <p14:creationId xmlns:p14="http://schemas.microsoft.com/office/powerpoint/2010/main" val="360215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Paper draft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Follow a formal template, such as </a:t>
            </a:r>
          </a:p>
          <a:p>
            <a:pPr lvl="1"/>
            <a:r>
              <a:rPr lang="en-GB" sz="3200" dirty="0">
                <a:hlinkClick r:id="rId2"/>
              </a:rPr>
              <a:t>https://www.acm.org/binaries/content/assets/publications/taps/acm_submission_template.docx</a:t>
            </a:r>
            <a:endParaRPr lang="en-GB" sz="3200" dirty="0"/>
          </a:p>
          <a:p>
            <a:pPr lvl="1"/>
            <a:r>
              <a:rPr lang="en-GB" sz="3200" dirty="0"/>
              <a:t>Include all the necessary sections with their titles</a:t>
            </a:r>
          </a:p>
          <a:p>
            <a:pPr lvl="2"/>
            <a:endParaRPr lang="en-GB" sz="2800" dirty="0"/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92533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Paper draft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3600" dirty="0"/>
              <a:t>Completed sections</a:t>
            </a:r>
          </a:p>
          <a:p>
            <a:pPr lvl="1"/>
            <a:r>
              <a:rPr lang="en-GB" sz="3200" dirty="0"/>
              <a:t>Title</a:t>
            </a:r>
          </a:p>
          <a:p>
            <a:pPr lvl="1"/>
            <a:r>
              <a:rPr lang="en-GB" sz="3200" dirty="0"/>
              <a:t>Authors</a:t>
            </a:r>
          </a:p>
          <a:p>
            <a:pPr lvl="1"/>
            <a:r>
              <a:rPr lang="en-GB" sz="3200" dirty="0"/>
              <a:t>Abstract</a:t>
            </a:r>
          </a:p>
          <a:p>
            <a:pPr lvl="1"/>
            <a:r>
              <a:rPr lang="en-GB" sz="3200" dirty="0"/>
              <a:t>Introduction</a:t>
            </a:r>
          </a:p>
          <a:p>
            <a:pPr lvl="1"/>
            <a:r>
              <a:rPr lang="en-GB" sz="3200" dirty="0"/>
              <a:t>Related work section</a:t>
            </a:r>
          </a:p>
          <a:p>
            <a:pPr lvl="2"/>
            <a:r>
              <a:rPr lang="en-GB" sz="2800" dirty="0"/>
              <a:t>What other survey papers exist related to your survey</a:t>
            </a:r>
          </a:p>
          <a:p>
            <a:pPr lvl="2"/>
            <a:r>
              <a:rPr lang="en-GB" sz="2800" dirty="0"/>
              <a:t>How your survey is different than existing ones</a:t>
            </a:r>
          </a:p>
          <a:p>
            <a:pPr lvl="1"/>
            <a:r>
              <a:rPr lang="en-GB" sz="3200" dirty="0"/>
              <a:t>Conclusion</a:t>
            </a:r>
          </a:p>
          <a:p>
            <a:r>
              <a:rPr lang="en-GB" sz="3600" dirty="0">
                <a:solidFill>
                  <a:srgbClr val="FF0000"/>
                </a:solidFill>
              </a:rPr>
              <a:t>Partially</a:t>
            </a:r>
            <a:r>
              <a:rPr lang="en-GB" sz="3600" dirty="0"/>
              <a:t> completed sections - main body</a:t>
            </a:r>
          </a:p>
          <a:p>
            <a:pPr lvl="1"/>
            <a:endParaRPr lang="en-GB" sz="3200" dirty="0"/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629288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Paper draft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Partially</a:t>
            </a:r>
            <a:r>
              <a:rPr lang="en-GB" sz="3200" dirty="0"/>
              <a:t> completed sections - main body</a:t>
            </a:r>
          </a:p>
          <a:p>
            <a:pPr lvl="1"/>
            <a:r>
              <a:rPr lang="en-GB" sz="2800" dirty="0"/>
              <a:t>Complete the organization of the surveyed works – represented visually how you categorized them (what are the criteria based on which you categorized the works and which work belongs to which group)</a:t>
            </a:r>
          </a:p>
          <a:p>
            <a:pPr lvl="2"/>
            <a:r>
              <a:rPr lang="en-GB" sz="2400" dirty="0"/>
              <a:t>A table</a:t>
            </a:r>
          </a:p>
          <a:p>
            <a:pPr lvl="2"/>
            <a:r>
              <a:rPr lang="en-GB" sz="2400" dirty="0"/>
              <a:t>A tree</a:t>
            </a:r>
          </a:p>
          <a:p>
            <a:pPr lvl="1"/>
            <a:r>
              <a:rPr lang="en-GB" sz="2800" dirty="0"/>
              <a:t>Decide the structure of this section and give the titles to the subsections</a:t>
            </a:r>
          </a:p>
          <a:p>
            <a:pPr lvl="1"/>
            <a:r>
              <a:rPr lang="en-GB" sz="2800" dirty="0"/>
              <a:t>Describe briefly what will be the content of each subsection</a:t>
            </a:r>
          </a:p>
          <a:p>
            <a:pPr lvl="2"/>
            <a:endParaRPr lang="en-GB" sz="2400" dirty="0"/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9924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submission details – part 1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Submit the deliverable to the group – </a:t>
            </a:r>
            <a:r>
              <a:rPr lang="en-GB" dirty="0">
                <a:highlight>
                  <a:srgbClr val="00FF00"/>
                </a:highlight>
              </a:rPr>
              <a:t>one submission per group, 2 files</a:t>
            </a:r>
          </a:p>
          <a:p>
            <a:pPr lvl="1"/>
            <a:r>
              <a:rPr lang="en-GB" dirty="0"/>
              <a:t>a *.pdf format (poster, 1 page only)   </a:t>
            </a:r>
          </a:p>
          <a:p>
            <a:pPr lvl="2"/>
            <a:r>
              <a:rPr lang="en-GB" dirty="0"/>
              <a:t>File title Group number_RCS_grouptask3; example: </a:t>
            </a:r>
          </a:p>
          <a:p>
            <a:pPr lvl="3"/>
            <a:r>
              <a:rPr lang="en-GB" dirty="0">
                <a:solidFill>
                  <a:srgbClr val="FF0000"/>
                </a:solidFill>
              </a:rPr>
              <a:t>15_RCS_grouptask3.pdf</a:t>
            </a:r>
          </a:p>
          <a:p>
            <a:pPr lvl="1"/>
            <a:r>
              <a:rPr lang="en-GB" dirty="0"/>
              <a:t>a *.doc format (paper draft) </a:t>
            </a:r>
          </a:p>
          <a:p>
            <a:pPr lvl="2"/>
            <a:r>
              <a:rPr lang="en-GB" dirty="0"/>
              <a:t>File title Group number_RCS_grouptask3; example: </a:t>
            </a:r>
          </a:p>
          <a:p>
            <a:pPr lvl="3"/>
            <a:r>
              <a:rPr lang="en-GB" dirty="0">
                <a:solidFill>
                  <a:srgbClr val="FF0000"/>
                </a:solidFill>
              </a:rPr>
              <a:t>15_RCS_grouptask3.doc</a:t>
            </a:r>
          </a:p>
          <a:p>
            <a:pPr lvl="2"/>
            <a:r>
              <a:rPr lang="en-GB" dirty="0"/>
              <a:t>First page</a:t>
            </a:r>
          </a:p>
          <a:p>
            <a:pPr lvl="3"/>
            <a:r>
              <a:rPr lang="en-GB" dirty="0"/>
              <a:t>Group work task number</a:t>
            </a:r>
          </a:p>
          <a:p>
            <a:pPr lvl="3"/>
            <a:r>
              <a:rPr lang="en-GB" dirty="0"/>
              <a:t>Group member names and student numbers </a:t>
            </a:r>
            <a:r>
              <a:rPr lang="en-GB" dirty="0">
                <a:highlight>
                  <a:srgbClr val="FFFF00"/>
                </a:highlight>
              </a:rPr>
              <a:t>+ a note if any member did not contribute </a:t>
            </a:r>
          </a:p>
          <a:p>
            <a:pPr lvl="2"/>
            <a:r>
              <a:rPr lang="en-GB" dirty="0"/>
              <a:t>Following pages</a:t>
            </a:r>
          </a:p>
          <a:p>
            <a:pPr lvl="3"/>
            <a:r>
              <a:rPr lang="en-GB" dirty="0"/>
              <a:t>Your paper content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Submit by the end of </a:t>
            </a:r>
            <a:r>
              <a:rPr lang="en-GB" dirty="0">
                <a:highlight>
                  <a:srgbClr val="00FFFF"/>
                </a:highlight>
              </a:rPr>
              <a:t>October 14</a:t>
            </a:r>
            <a:r>
              <a:rPr lang="en-GB" baseline="30000" dirty="0">
                <a:highlight>
                  <a:srgbClr val="00FFFF"/>
                </a:highlight>
              </a:rPr>
              <a:t>th</a:t>
            </a:r>
            <a:r>
              <a:rPr lang="en-GB" dirty="0">
                <a:highlight>
                  <a:srgbClr val="00FFFF"/>
                </a:highlight>
              </a:rPr>
              <a:t> </a:t>
            </a:r>
            <a:r>
              <a:rPr lang="en-GB" dirty="0"/>
              <a:t> to your group's WeChat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3A83B-E630-492A-861A-BD118F8340D9}"/>
              </a:ext>
            </a:extLst>
          </p:cNvPr>
          <p:cNvSpPr txBox="1"/>
          <p:nvPr/>
        </p:nvSpPr>
        <p:spPr>
          <a:xfrm>
            <a:off x="1446662" y="6176963"/>
            <a:ext cx="8848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FF0000"/>
                </a:solidFill>
                <a:highlight>
                  <a:srgbClr val="DFFCFD"/>
                </a:highlight>
              </a:rPr>
              <a:t>*** Failure to meet any of the submission rules on this page will lead to automatic rejection and a failing grade for the assignment. ***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submission details – part 2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24022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Present the poster in class on </a:t>
            </a:r>
            <a:r>
              <a:rPr lang="en-GB" dirty="0">
                <a:highlight>
                  <a:srgbClr val="FFFF00"/>
                </a:highlight>
              </a:rPr>
              <a:t>October 19</a:t>
            </a:r>
            <a:r>
              <a:rPr lang="en-GB" baseline="30000" dirty="0">
                <a:highlight>
                  <a:srgbClr val="FFFF00"/>
                </a:highlight>
              </a:rPr>
              <a:t>th</a:t>
            </a:r>
            <a:r>
              <a:rPr lang="en-GB" dirty="0">
                <a:highlight>
                  <a:srgbClr val="FFFF00"/>
                </a:highlight>
              </a:rPr>
              <a:t> 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5 students need to present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The remaining 5 students will present the group’s work </a:t>
            </a:r>
            <a:r>
              <a:rPr lang="en-GB">
                <a:highlight>
                  <a:srgbClr val="FFFF00"/>
                </a:highlight>
              </a:rPr>
              <a:t>using PPT during </a:t>
            </a:r>
            <a:r>
              <a:rPr lang="en-GB" dirty="0">
                <a:highlight>
                  <a:srgbClr val="FFFF00"/>
                </a:highlight>
              </a:rPr>
              <a:t>the oral presentation session</a:t>
            </a:r>
          </a:p>
          <a:p>
            <a:r>
              <a:rPr lang="en-GB" dirty="0"/>
              <a:t>Fill in and submit this table by the end of </a:t>
            </a:r>
            <a:r>
              <a:rPr lang="en-GB" dirty="0">
                <a:highlight>
                  <a:srgbClr val="00FFFF"/>
                </a:highlight>
              </a:rPr>
              <a:t>October 18</a:t>
            </a:r>
            <a:r>
              <a:rPr lang="en-GB" baseline="30000" dirty="0">
                <a:highlight>
                  <a:srgbClr val="00FFFF"/>
                </a:highlight>
              </a:rPr>
              <a:t>th</a:t>
            </a:r>
            <a:r>
              <a:rPr lang="en-GB" dirty="0">
                <a:highlight>
                  <a:srgbClr val="00FFFF"/>
                </a:highlight>
              </a:rPr>
              <a:t> </a:t>
            </a:r>
            <a:r>
              <a:rPr lang="en-GB" dirty="0"/>
              <a:t> to your group's WeChat group</a:t>
            </a:r>
          </a:p>
          <a:p>
            <a:endParaRPr lang="en-GB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DBA84E4-F51F-4491-BDE3-B1A9599BC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371339"/>
              </p:ext>
            </p:extLst>
          </p:nvPr>
        </p:nvGraphicFramePr>
        <p:xfrm>
          <a:off x="4962222" y="1690688"/>
          <a:ext cx="7111354" cy="478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6">
                  <a:extLst>
                    <a:ext uri="{9D8B030D-6E8A-4147-A177-3AD203B41FA5}">
                      <a16:colId xmlns:a16="http://schemas.microsoft.com/office/drawing/2014/main" val="1388661288"/>
                    </a:ext>
                  </a:extLst>
                </a:gridCol>
                <a:gridCol w="774619">
                  <a:extLst>
                    <a:ext uri="{9D8B030D-6E8A-4147-A177-3AD203B41FA5}">
                      <a16:colId xmlns:a16="http://schemas.microsoft.com/office/drawing/2014/main" val="4192200305"/>
                    </a:ext>
                  </a:extLst>
                </a:gridCol>
                <a:gridCol w="786267">
                  <a:extLst>
                    <a:ext uri="{9D8B030D-6E8A-4147-A177-3AD203B41FA5}">
                      <a16:colId xmlns:a16="http://schemas.microsoft.com/office/drawing/2014/main" val="318069199"/>
                    </a:ext>
                  </a:extLst>
                </a:gridCol>
                <a:gridCol w="2481111">
                  <a:extLst>
                    <a:ext uri="{9D8B030D-6E8A-4147-A177-3AD203B41FA5}">
                      <a16:colId xmlns:a16="http://schemas.microsoft.com/office/drawing/2014/main" val="897417157"/>
                    </a:ext>
                  </a:extLst>
                </a:gridCol>
                <a:gridCol w="2673311">
                  <a:extLst>
                    <a:ext uri="{9D8B030D-6E8A-4147-A177-3AD203B41FA5}">
                      <a16:colId xmlns:a16="http://schemas.microsoft.com/office/drawing/2014/main" val="836028404"/>
                    </a:ext>
                  </a:extLst>
                </a:gridCol>
              </a:tblGrid>
              <a:tr h="908826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Student ID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Presents during poster session on October 19th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Presents during oral presentation on October 26</a:t>
                      </a:r>
                      <a:r>
                        <a:rPr lang="en-GB" sz="1400" baseline="30000" dirty="0"/>
                        <a:t>th</a:t>
                      </a:r>
                      <a:r>
                        <a:rPr lang="en-GB" sz="1400" dirty="0"/>
                        <a:t> or 29</a:t>
                      </a:r>
                      <a:r>
                        <a:rPr lang="en-GB" sz="1400" baseline="30000" dirty="0"/>
                        <a:t>th</a:t>
                      </a:r>
                      <a:r>
                        <a:rPr lang="en-GB" sz="1400" dirty="0"/>
                        <a:t> (the exact schedule will be announced later)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990171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895783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95351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452427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84461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900642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6</a:t>
                      </a:r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60575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7</a:t>
                      </a:r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39025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8</a:t>
                      </a:r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17737"/>
                  </a:ext>
                </a:extLst>
              </a:tr>
              <a:tr h="471178">
                <a:tc>
                  <a:txBody>
                    <a:bodyPr/>
                    <a:lstStyle/>
                    <a:p>
                      <a:r>
                        <a:rPr lang="en-GB" sz="1400" dirty="0"/>
                        <a:t>9</a:t>
                      </a:r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949326"/>
                  </a:ext>
                </a:extLst>
              </a:tr>
              <a:tr h="378666">
                <a:tc>
                  <a:txBody>
                    <a:bodyPr/>
                    <a:lstStyle/>
                    <a:p>
                      <a:r>
                        <a:rPr lang="en-GB" sz="1400" dirty="0"/>
                        <a:t>10</a:t>
                      </a:r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ym typeface="Symbol" panose="05050102010706020507" pitchFamily="18" charset="2"/>
                        </a:rPr>
                        <a:t></a:t>
                      </a:r>
                      <a:endParaRPr lang="en-GB" sz="1400" dirty="0"/>
                    </a:p>
                  </a:txBody>
                  <a:tcPr>
                    <a:solidFill>
                      <a:srgbClr val="FAE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528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682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9560</TotalTime>
  <Words>412</Words>
  <Application>Microsoft Office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等线</vt:lpstr>
      <vt:lpstr>Arial</vt:lpstr>
      <vt:lpstr>Calibri</vt:lpstr>
      <vt:lpstr>Calibri Light</vt:lpstr>
      <vt:lpstr>Office Theme</vt:lpstr>
      <vt:lpstr>Group work task 3: poster and paper draft</vt:lpstr>
      <vt:lpstr>Paper draft tips</vt:lpstr>
      <vt:lpstr>Paper draft tips</vt:lpstr>
      <vt:lpstr>Paper draft tips</vt:lpstr>
      <vt:lpstr>Group work submission details – part 1</vt:lpstr>
      <vt:lpstr>Group work submission details – part 2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448</cp:revision>
  <cp:lastPrinted>2019-09-03T08:34:37Z</cp:lastPrinted>
  <dcterms:created xsi:type="dcterms:W3CDTF">2014-08-14T09:54:55Z</dcterms:created>
  <dcterms:modified xsi:type="dcterms:W3CDTF">2026-09-24T04:28:28Z</dcterms:modified>
</cp:coreProperties>
</file>