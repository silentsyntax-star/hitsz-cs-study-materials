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660" r:id="rId2"/>
    <p:sldId id="661" r:id="rId3"/>
    <p:sldId id="662" r:id="rId4"/>
    <p:sldId id="663" r:id="rId5"/>
    <p:sldId id="664" r:id="rId6"/>
    <p:sldId id="665" r:id="rId7"/>
    <p:sldId id="666" r:id="rId8"/>
    <p:sldId id="667" r:id="rId9"/>
    <p:sldId id="668" r:id="rId10"/>
    <p:sldId id="669" r:id="rId11"/>
    <p:sldId id="1067" r:id="rId12"/>
    <p:sldId id="729" r:id="rId13"/>
    <p:sldId id="730" r:id="rId14"/>
    <p:sldId id="731" r:id="rId15"/>
    <p:sldId id="732" r:id="rId16"/>
    <p:sldId id="1065" r:id="rId17"/>
    <p:sldId id="1066" r:id="rId18"/>
    <p:sldId id="1068" r:id="rId19"/>
    <p:sldId id="1069" r:id="rId20"/>
    <p:sldId id="1071" r:id="rId21"/>
    <p:sldId id="1072" r:id="rId22"/>
    <p:sldId id="733" r:id="rId23"/>
    <p:sldId id="734" r:id="rId24"/>
    <p:sldId id="976" r:id="rId25"/>
    <p:sldId id="970" r:id="rId26"/>
    <p:sldId id="971" r:id="rId27"/>
    <p:sldId id="972" r:id="rId28"/>
    <p:sldId id="975" r:id="rId29"/>
    <p:sldId id="737" r:id="rId30"/>
    <p:sldId id="738" r:id="rId31"/>
    <p:sldId id="739" r:id="rId32"/>
    <p:sldId id="740" r:id="rId33"/>
    <p:sldId id="741" r:id="rId34"/>
    <p:sldId id="746" r:id="rId35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4DDC"/>
    <a:srgbClr val="FAE2F9"/>
    <a:srgbClr val="DF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20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0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>
                <a:latin typeface="等线" panose="02010600030101010101" pitchFamily="2" charset="-122"/>
              </a:rPr>
              <a:t>Marian Butler, UQ Student Services, ph: 33651704</a:t>
            </a:r>
          </a:p>
        </p:txBody>
      </p:sp>
      <p:sp>
        <p:nvSpPr>
          <p:cNvPr id="266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602F05-FB0C-49DF-A987-43A377BBDD67}" type="slidenum">
              <a:rPr lang="en-AU" altLang="en-US">
                <a:latin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AU" altLang="en-US">
              <a:latin typeface="等线" panose="02010600030101010101" pitchFamily="2" charset="-122"/>
            </a:endParaRPr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2129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Research </a:t>
            </a:r>
            <a:r>
              <a:rPr lang="en-US" altLang="en-US"/>
              <a:t>Communication Skills</a:t>
            </a:r>
            <a:endParaRPr lang="en-US" altLang="en-US" dirty="0"/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Referencing and creating a reference list</a:t>
            </a:r>
          </a:p>
        </p:txBody>
      </p:sp>
    </p:spTree>
    <p:extLst>
      <p:ext uri="{BB962C8B-B14F-4D97-AF65-F5344CB8AC3E}">
        <p14:creationId xmlns:p14="http://schemas.microsoft.com/office/powerpoint/2010/main" val="3123906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Intended Learning Outcomes</a:t>
            </a:r>
            <a:endParaRPr lang="en-AU" altLang="en-US"/>
          </a:p>
        </p:txBody>
      </p:sp>
      <p:sp>
        <p:nvSpPr>
          <p:cNvPr id="614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3600"/>
              <a:t>By the end of this lesson you will be able to:</a:t>
            </a:r>
          </a:p>
          <a:p>
            <a:pPr lvl="1"/>
            <a:r>
              <a:rPr lang="en-GB" altLang="en-US" sz="3200"/>
              <a:t>distinguish which information should be referenced and which should not</a:t>
            </a:r>
          </a:p>
          <a:p>
            <a:pPr lvl="1"/>
            <a:r>
              <a:rPr lang="en-GB" altLang="en-US" sz="3200"/>
              <a:t>distinguish between quotations and paraphrasing</a:t>
            </a:r>
          </a:p>
          <a:p>
            <a:pPr lvl="1"/>
            <a:r>
              <a:rPr lang="en-GB" altLang="en-US" sz="3200"/>
              <a:t>give examples of referencing conventions</a:t>
            </a:r>
          </a:p>
          <a:p>
            <a:pPr lvl="1"/>
            <a:r>
              <a:rPr lang="en-GB" altLang="en-US" sz="3200"/>
              <a:t>distinguish between different referencing systems</a:t>
            </a:r>
          </a:p>
          <a:p>
            <a:pPr lvl="1"/>
            <a:r>
              <a:rPr lang="en-GB" altLang="en-US" sz="3200"/>
              <a:t>write a reference list</a:t>
            </a:r>
          </a:p>
          <a:p>
            <a:endParaRPr lang="en-US" altLang="en-US" sz="3600"/>
          </a:p>
        </p:txBody>
      </p:sp>
    </p:spTree>
    <p:extLst>
      <p:ext uri="{BB962C8B-B14F-4D97-AF65-F5344CB8AC3E}">
        <p14:creationId xmlns:p14="http://schemas.microsoft.com/office/powerpoint/2010/main" val="2562623791"/>
      </p:ext>
    </p:extLst>
  </p:cSld>
  <p:clrMapOvr>
    <a:masterClrMapping/>
  </p:clrMapOvr>
  <p:transition advTm="6906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78000" y="2533650"/>
            <a:ext cx="8636000" cy="773113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AU" dirty="0"/>
              <a:t>Referencing</a:t>
            </a:r>
          </a:p>
        </p:txBody>
      </p:sp>
      <p:sp>
        <p:nvSpPr>
          <p:cNvPr id="7171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4361046"/>
      </p:ext>
    </p:extLst>
  </p:cSld>
  <p:clrMapOvr>
    <a:masterClrMapping/>
  </p:clrMapOvr>
  <p:transition advTm="6906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Why Reference?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sz="half" idx="1"/>
          </p:nvPr>
        </p:nvSpPr>
        <p:spPr/>
        <p:txBody>
          <a:bodyPr rtlCol="0">
            <a:normAutofit/>
          </a:bodyPr>
          <a:lstStyle/>
          <a:p>
            <a:pPr marL="342900" indent="-342900" fontAlgn="auto">
              <a:spcBef>
                <a:spcPct val="100000"/>
              </a:spcBef>
              <a:spcAft>
                <a:spcPts val="0"/>
              </a:spcAft>
              <a:defRPr/>
            </a:pPr>
            <a:r>
              <a:rPr lang="en-AU" sz="4000" dirty="0">
                <a:solidFill>
                  <a:schemeClr val="accent2"/>
                </a:solidFill>
              </a:rPr>
              <a:t>Reader’s benefit</a:t>
            </a:r>
          </a:p>
          <a:p>
            <a:pPr marL="800100" lvl="1" indent="-342900" fontAlgn="auto">
              <a:spcBef>
                <a:spcPct val="100000"/>
              </a:spcBef>
              <a:spcAft>
                <a:spcPts val="0"/>
              </a:spcAft>
              <a:buFontTx/>
              <a:buChar char="•"/>
              <a:defRPr/>
            </a:pPr>
            <a:r>
              <a:rPr lang="en-AU" dirty="0"/>
              <a:t>To understand the context of your work</a:t>
            </a:r>
          </a:p>
          <a:p>
            <a:pPr marL="800100" lvl="1" indent="-342900" fontAlgn="auto">
              <a:spcBef>
                <a:spcPct val="100000"/>
              </a:spcBef>
              <a:spcAft>
                <a:spcPts val="0"/>
              </a:spcAft>
              <a:buFontTx/>
              <a:buChar char="•"/>
              <a:defRPr/>
            </a:pPr>
            <a:r>
              <a:rPr lang="en-AU" dirty="0"/>
              <a:t>To allow your reader to track down your research</a:t>
            </a:r>
          </a:p>
          <a:p>
            <a:pPr marL="355600" indent="-355600" fontAlgn="auto">
              <a:spcAft>
                <a:spcPts val="0"/>
              </a:spcAft>
              <a:defRPr/>
            </a:pPr>
            <a:endParaRPr lang="en-AU" dirty="0"/>
          </a:p>
        </p:txBody>
      </p:sp>
      <p:sp>
        <p:nvSpPr>
          <p:cNvPr id="2" name="内容占位符 1"/>
          <p:cNvSpPr>
            <a:spLocks noGrp="1"/>
          </p:cNvSpPr>
          <p:nvPr>
            <p:ph sz="half" idx="2"/>
          </p:nvPr>
        </p:nvSpPr>
        <p:spPr/>
        <p:txBody>
          <a:bodyPr rtlCol="0">
            <a:normAutofit/>
          </a:bodyPr>
          <a:lstStyle/>
          <a:p>
            <a:pPr marL="342900" indent="-342900" fontAlgn="auto">
              <a:spcBef>
                <a:spcPct val="100000"/>
              </a:spcBef>
              <a:spcAft>
                <a:spcPts val="0"/>
              </a:spcAft>
              <a:defRPr/>
            </a:pPr>
            <a:r>
              <a:rPr lang="en-AU" sz="4000" dirty="0">
                <a:solidFill>
                  <a:schemeClr val="accent2"/>
                </a:solidFill>
              </a:rPr>
              <a:t>Your benefit</a:t>
            </a:r>
          </a:p>
          <a:p>
            <a:pPr marL="800100" lvl="1" indent="-342900" fontAlgn="auto">
              <a:spcBef>
                <a:spcPct val="100000"/>
              </a:spcBef>
              <a:spcAft>
                <a:spcPts val="0"/>
              </a:spcAft>
              <a:buFontTx/>
              <a:buChar char="•"/>
              <a:defRPr/>
            </a:pPr>
            <a:r>
              <a:rPr lang="en-AU" dirty="0"/>
              <a:t>To show off! </a:t>
            </a:r>
          </a:p>
          <a:p>
            <a:pPr marL="800100" lvl="1" indent="-342900" fontAlgn="auto">
              <a:spcBef>
                <a:spcPct val="100000"/>
              </a:spcBef>
              <a:spcAft>
                <a:spcPts val="0"/>
              </a:spcAft>
              <a:buFontTx/>
              <a:buChar char="•"/>
              <a:defRPr/>
            </a:pPr>
            <a:r>
              <a:rPr lang="en-AU" dirty="0"/>
              <a:t>To add authority to your argument</a:t>
            </a:r>
          </a:p>
          <a:p>
            <a:pPr marL="800100" lvl="1" indent="-342900" fontAlgn="auto">
              <a:spcBef>
                <a:spcPct val="100000"/>
              </a:spcBef>
              <a:spcAft>
                <a:spcPts val="0"/>
              </a:spcAft>
              <a:buFontTx/>
              <a:buChar char="•"/>
              <a:defRPr/>
            </a:pPr>
            <a:r>
              <a:rPr lang="en-AU" dirty="0"/>
              <a:t>To add credibility to your information</a:t>
            </a:r>
          </a:p>
          <a:p>
            <a:pPr fontAlgn="auto"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2635250" y="2190750"/>
            <a:ext cx="3384550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100000"/>
              </a:spcBef>
            </a:pPr>
            <a:endParaRPr lang="en-AU" altLang="en-US" sz="2800"/>
          </a:p>
        </p:txBody>
      </p:sp>
    </p:spTree>
    <p:extLst>
      <p:ext uri="{BB962C8B-B14F-4D97-AF65-F5344CB8AC3E}">
        <p14:creationId xmlns:p14="http://schemas.microsoft.com/office/powerpoint/2010/main" val="301527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Why Reference?</a:t>
            </a:r>
            <a:endParaRPr lang="en-GB" altLang="en-US"/>
          </a:p>
        </p:txBody>
      </p:sp>
      <p:sp>
        <p:nvSpPr>
          <p:cNvPr id="9219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AU" altLang="en-US">
                <a:solidFill>
                  <a:schemeClr val="accent2"/>
                </a:solidFill>
              </a:rPr>
              <a:t>Ethical reasons:</a:t>
            </a:r>
            <a:br>
              <a:rPr lang="en-AU" altLang="en-US">
                <a:solidFill>
                  <a:schemeClr val="accent2"/>
                </a:solidFill>
              </a:rPr>
            </a:br>
            <a:endParaRPr lang="en-AU" altLang="en-US">
              <a:solidFill>
                <a:schemeClr val="accent2"/>
              </a:solidFill>
            </a:endParaRPr>
          </a:p>
          <a:p>
            <a:r>
              <a:rPr lang="en-AU" altLang="en-US"/>
              <a:t>Intellectual integrity</a:t>
            </a:r>
          </a:p>
          <a:p>
            <a:r>
              <a:rPr lang="en-AU" altLang="en-US"/>
              <a:t>To distinguish between:</a:t>
            </a:r>
          </a:p>
          <a:p>
            <a:pPr lvl="1"/>
            <a:r>
              <a:rPr lang="en-AU" altLang="en-US"/>
              <a:t>Your ideas</a:t>
            </a:r>
          </a:p>
          <a:p>
            <a:pPr lvl="1"/>
            <a:r>
              <a:rPr lang="en-AU" altLang="en-US"/>
              <a:t>Someone else’s ideas</a:t>
            </a:r>
          </a:p>
          <a:p>
            <a:r>
              <a:rPr lang="en-AU" altLang="en-US"/>
              <a:t>Intellectual property issues</a:t>
            </a:r>
          </a:p>
          <a:p>
            <a:endParaRPr lang="en-AU" altLang="en-US"/>
          </a:p>
          <a:p>
            <a:endParaRPr lang="en-AU" altLang="en-US"/>
          </a:p>
          <a:p>
            <a:pPr lvl="1"/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44583276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What should be referenced?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/>
              <a:t>Ideas, information, results, opinions from any source that you have summarised, paraphrased or directly quoted</a:t>
            </a:r>
          </a:p>
          <a:p>
            <a:r>
              <a:rPr lang="en-AU" altLang="en-US"/>
              <a:t>Definitions of terms</a:t>
            </a:r>
          </a:p>
          <a:p>
            <a:r>
              <a:rPr lang="en-AU" altLang="en-US"/>
              <a:t>Illustrations, tables, figures drawn from sources</a:t>
            </a:r>
          </a:p>
          <a:p>
            <a:r>
              <a:rPr lang="en-AU" altLang="en-US"/>
              <a:t>Your ideas that are also those of an author you have read </a:t>
            </a:r>
          </a:p>
          <a:p>
            <a:r>
              <a:rPr lang="en-AU" altLang="en-US"/>
              <a:t>Plans, ideas or anything that was stimulated by others</a:t>
            </a:r>
          </a:p>
        </p:txBody>
      </p:sp>
      <p:sp>
        <p:nvSpPr>
          <p:cNvPr id="10244" name="Oval 6"/>
          <p:cNvSpPr>
            <a:spLocks noChangeArrowheads="1"/>
          </p:cNvSpPr>
          <p:nvPr/>
        </p:nvSpPr>
        <p:spPr bwMode="auto">
          <a:xfrm>
            <a:off x="2711450" y="188913"/>
            <a:ext cx="2160588" cy="1008062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5" name="Oval 7"/>
          <p:cNvSpPr>
            <a:spLocks noChangeArrowheads="1"/>
          </p:cNvSpPr>
          <p:nvPr/>
        </p:nvSpPr>
        <p:spPr bwMode="auto">
          <a:xfrm>
            <a:off x="3287713" y="188913"/>
            <a:ext cx="2209800" cy="11303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6" name="Oval 9"/>
          <p:cNvSpPr>
            <a:spLocks noChangeArrowheads="1"/>
          </p:cNvSpPr>
          <p:nvPr/>
        </p:nvSpPr>
        <p:spPr bwMode="auto">
          <a:xfrm rot="152735" flipV="1">
            <a:off x="5016500" y="415925"/>
            <a:ext cx="3441700" cy="519113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612091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Guiding principles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>
                <a:solidFill>
                  <a:schemeClr val="tx2"/>
                </a:solidFill>
              </a:rPr>
              <a:t>Respect</a:t>
            </a:r>
            <a:r>
              <a:rPr lang="en-AU" altLang="en-US"/>
              <a:t> the </a:t>
            </a:r>
          </a:p>
          <a:p>
            <a:pPr lvl="1"/>
            <a:r>
              <a:rPr lang="en-AU" altLang="en-US"/>
              <a:t>Creation of ideas by others</a:t>
            </a:r>
          </a:p>
          <a:p>
            <a:pPr lvl="1"/>
            <a:r>
              <a:rPr lang="en-AU" altLang="en-US"/>
              <a:t>Concept of intellectual property</a:t>
            </a:r>
            <a:br>
              <a:rPr lang="en-AU" altLang="en-US"/>
            </a:br>
            <a:endParaRPr lang="en-AU" altLang="en-US"/>
          </a:p>
          <a:p>
            <a:r>
              <a:rPr lang="en-AU" altLang="en-US">
                <a:solidFill>
                  <a:schemeClr val="tx2"/>
                </a:solidFill>
              </a:rPr>
              <a:t>Acknowledge</a:t>
            </a:r>
            <a:r>
              <a:rPr lang="en-AU" altLang="en-US"/>
              <a:t> the ideas of others</a:t>
            </a:r>
          </a:p>
          <a:p>
            <a:pPr>
              <a:buFontTx/>
              <a:buNone/>
            </a:pPr>
            <a:endParaRPr lang="en-AU" altLang="en-US"/>
          </a:p>
          <a:p>
            <a:pPr>
              <a:buFontTx/>
              <a:buNone/>
            </a:pPr>
            <a:r>
              <a:rPr lang="en-AU" altLang="en-US" i="1">
                <a:solidFill>
                  <a:schemeClr val="tx2"/>
                </a:solidFill>
              </a:rPr>
              <a:t>But,</a:t>
            </a:r>
          </a:p>
          <a:p>
            <a:r>
              <a:rPr lang="en-AU" altLang="en-US"/>
              <a:t>Don’t reference “common knowledge”</a:t>
            </a:r>
          </a:p>
        </p:txBody>
      </p:sp>
    </p:spTree>
    <p:extLst>
      <p:ext uri="{BB962C8B-B14F-4D97-AF65-F5344CB8AC3E}">
        <p14:creationId xmlns:p14="http://schemas.microsoft.com/office/powerpoint/2010/main" val="66121366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What is common knowledge?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742950" indent="-285750">
              <a:lnSpc>
                <a:spcPct val="120000"/>
              </a:lnSpc>
            </a:pPr>
            <a:r>
              <a:rPr lang="en-AU" altLang="en-US"/>
              <a:t>A general rule of thumb: </a:t>
            </a:r>
          </a:p>
          <a:p>
            <a:pPr marL="1200150" lvl="1" indent="-285750">
              <a:lnSpc>
                <a:spcPct val="120000"/>
              </a:lnSpc>
            </a:pPr>
            <a:r>
              <a:rPr lang="en-AU" altLang="en-US"/>
              <a:t>If you </a:t>
            </a:r>
            <a:r>
              <a:rPr lang="en-AU" altLang="en-US">
                <a:solidFill>
                  <a:schemeClr val="accent2"/>
                </a:solidFill>
              </a:rPr>
              <a:t>didn’t know it before you read</a:t>
            </a:r>
            <a:r>
              <a:rPr lang="en-AU" altLang="en-US"/>
              <a:t> the research, then it is </a:t>
            </a:r>
            <a:r>
              <a:rPr lang="en-AU" altLang="en-US">
                <a:solidFill>
                  <a:schemeClr val="tx2"/>
                </a:solidFill>
              </a:rPr>
              <a:t>not </a:t>
            </a:r>
            <a:r>
              <a:rPr lang="en-AU" altLang="en-US"/>
              <a:t>common knowledge and you need to </a:t>
            </a:r>
            <a:r>
              <a:rPr lang="en-AU" altLang="en-US">
                <a:solidFill>
                  <a:schemeClr val="tx2"/>
                </a:solidFill>
              </a:rPr>
              <a:t>reference</a:t>
            </a:r>
            <a:r>
              <a:rPr lang="en-AU" altLang="en-US"/>
              <a:t> it.</a:t>
            </a:r>
          </a:p>
          <a:p>
            <a:pPr marL="1200150" lvl="1" indent="-285750">
              <a:lnSpc>
                <a:spcPct val="120000"/>
              </a:lnSpc>
            </a:pPr>
            <a:r>
              <a:rPr lang="en-AU" altLang="en-US"/>
              <a:t>If </a:t>
            </a:r>
            <a:r>
              <a:rPr lang="en-AU" altLang="en-US">
                <a:solidFill>
                  <a:schemeClr val="accent2"/>
                </a:solidFill>
              </a:rPr>
              <a:t>most classmates</a:t>
            </a:r>
            <a:r>
              <a:rPr lang="en-AU" altLang="en-US"/>
              <a:t> would know it then it probably is common knowledge.</a:t>
            </a:r>
          </a:p>
          <a:p>
            <a:pPr marL="742950" indent="-285750">
              <a:buFont typeface="Wingdings" panose="05000000000000000000" pitchFamily="2" charset="2"/>
              <a:buChar char="§"/>
            </a:pPr>
            <a:endParaRPr lang="en-AU" altLang="en-US" sz="2000"/>
          </a:p>
        </p:txBody>
      </p:sp>
    </p:spTree>
    <p:extLst>
      <p:ext uri="{BB962C8B-B14F-4D97-AF65-F5344CB8AC3E}">
        <p14:creationId xmlns:p14="http://schemas.microsoft.com/office/powerpoint/2010/main" val="1351113176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altLang="en-US"/>
              <a:t>HOW does one reference accurately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/>
              <a:t>Many conventions</a:t>
            </a:r>
          </a:p>
          <a:p>
            <a:pPr>
              <a:buFontTx/>
              <a:buNone/>
            </a:pPr>
            <a:endParaRPr lang="en-AU" altLang="en-US"/>
          </a:p>
          <a:p>
            <a:r>
              <a:rPr lang="en-AU" altLang="en-US"/>
              <a:t>Vary – university, country, even school and subject area</a:t>
            </a:r>
          </a:p>
          <a:p>
            <a:pPr>
              <a:buFontTx/>
              <a:buNone/>
            </a:pP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7002939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Guidance from: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/>
              <a:t>Faculty, school or subject guides</a:t>
            </a:r>
            <a:br>
              <a:rPr lang="en-AU" altLang="en-US"/>
            </a:br>
            <a:endParaRPr lang="en-AU" altLang="en-US"/>
          </a:p>
          <a:p>
            <a:r>
              <a:rPr lang="en-AU" altLang="en-US">
                <a:solidFill>
                  <a:schemeClr val="accent2"/>
                </a:solidFill>
              </a:rPr>
              <a:t>Software</a:t>
            </a:r>
            <a:r>
              <a:rPr lang="en-AU" altLang="en-US"/>
              <a:t> such as RefWorks, EndNote</a:t>
            </a:r>
          </a:p>
          <a:p>
            <a:pPr>
              <a:buFontTx/>
              <a:buNone/>
            </a:pPr>
            <a:endParaRPr lang="en-AU" altLang="en-US"/>
          </a:p>
          <a:p>
            <a:r>
              <a:rPr lang="en-AU" altLang="en-US">
                <a:solidFill>
                  <a:schemeClr val="accent2"/>
                </a:solidFill>
              </a:rPr>
              <a:t>Websites</a:t>
            </a:r>
            <a:r>
              <a:rPr lang="en-AU" altLang="en-US"/>
              <a:t> devoted to referencing!</a:t>
            </a:r>
          </a:p>
          <a:p>
            <a:pPr>
              <a:buFontTx/>
              <a:buNone/>
            </a:pPr>
            <a:endParaRPr lang="en-AU" altLang="en-US"/>
          </a:p>
          <a:p>
            <a:r>
              <a:rPr lang="en-AU" altLang="en-US">
                <a:solidFill>
                  <a:schemeClr val="accent2"/>
                </a:solidFill>
              </a:rPr>
              <a:t>Articles</a:t>
            </a:r>
            <a:r>
              <a:rPr lang="en-AU" altLang="en-US"/>
              <a:t> you read</a:t>
            </a:r>
          </a:p>
        </p:txBody>
      </p:sp>
    </p:spTree>
    <p:extLst>
      <p:ext uri="{BB962C8B-B14F-4D97-AF65-F5344CB8AC3E}">
        <p14:creationId xmlns:p14="http://schemas.microsoft.com/office/powerpoint/2010/main" val="174643287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43138" y="765175"/>
            <a:ext cx="8424862" cy="1143000"/>
          </a:xfrm>
        </p:spPr>
        <p:txBody>
          <a:bodyPr/>
          <a:lstStyle/>
          <a:p>
            <a:r>
              <a:rPr lang="en-AU" altLang="en-US"/>
              <a:t>Academic writing needs: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6231" y="1881409"/>
            <a:ext cx="7693025" cy="4105275"/>
          </a:xfrm>
        </p:spPr>
        <p:txBody>
          <a:bodyPr>
            <a:noAutofit/>
          </a:bodyPr>
          <a:lstStyle/>
          <a:p>
            <a:r>
              <a:rPr lang="en-AU" altLang="en-US" sz="4400" dirty="0"/>
              <a:t>References </a:t>
            </a:r>
            <a:r>
              <a:rPr lang="en-AU" altLang="en-US" sz="4400" dirty="0">
                <a:solidFill>
                  <a:schemeClr val="tx2"/>
                </a:solidFill>
              </a:rPr>
              <a:t>in the text  </a:t>
            </a:r>
          </a:p>
          <a:p>
            <a:pPr>
              <a:buFontTx/>
              <a:buNone/>
            </a:pPr>
            <a:endParaRPr lang="en-AU" altLang="en-US" sz="5400" dirty="0">
              <a:solidFill>
                <a:schemeClr val="tx2"/>
              </a:solidFill>
            </a:endParaRPr>
          </a:p>
          <a:p>
            <a:pPr>
              <a:buFontTx/>
              <a:buNone/>
            </a:pPr>
            <a:r>
              <a:rPr lang="en-AU" altLang="en-US" sz="5400" dirty="0">
                <a:solidFill>
                  <a:schemeClr val="tx2"/>
                </a:solidFill>
              </a:rPr>
              <a:t>				PLUS</a:t>
            </a:r>
          </a:p>
          <a:p>
            <a:pPr>
              <a:buFontTx/>
              <a:buNone/>
            </a:pPr>
            <a:endParaRPr lang="en-AU" altLang="en-US" sz="5400" dirty="0">
              <a:solidFill>
                <a:schemeClr val="tx2"/>
              </a:solidFill>
            </a:endParaRPr>
          </a:p>
          <a:p>
            <a:r>
              <a:rPr lang="en-AU" altLang="en-US" sz="4400" dirty="0"/>
              <a:t>References in a </a:t>
            </a:r>
            <a:r>
              <a:rPr lang="en-AU" altLang="en-US" sz="4400" dirty="0">
                <a:solidFill>
                  <a:schemeClr val="tx2"/>
                </a:solidFill>
              </a:rPr>
              <a:t>list</a:t>
            </a:r>
            <a:r>
              <a:rPr lang="en-AU" altLang="en-US" sz="4400" dirty="0"/>
              <a:t> at the end of your work</a:t>
            </a:r>
          </a:p>
          <a:p>
            <a:pPr>
              <a:buFontTx/>
              <a:buNone/>
            </a:pPr>
            <a:endParaRPr lang="en-AU" altLang="en-US" sz="4400" dirty="0"/>
          </a:p>
          <a:p>
            <a:pPr>
              <a:buFontTx/>
              <a:buNone/>
            </a:pPr>
            <a:r>
              <a:rPr lang="en-AU" altLang="en-US" sz="4400" dirty="0"/>
              <a:t>	</a:t>
            </a:r>
            <a:endParaRPr lang="en-AU" altLang="en-US" sz="4400" i="1" dirty="0"/>
          </a:p>
        </p:txBody>
      </p:sp>
    </p:spTree>
    <p:extLst>
      <p:ext uri="{BB962C8B-B14F-4D97-AF65-F5344CB8AC3E}">
        <p14:creationId xmlns:p14="http://schemas.microsoft.com/office/powerpoint/2010/main" val="56258188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Common requirements of all conventions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altLang="en-US" sz="3600" dirty="0"/>
              <a:t>References </a:t>
            </a:r>
            <a:r>
              <a:rPr lang="en-AU" altLang="en-US" sz="3600" dirty="0">
                <a:solidFill>
                  <a:schemeClr val="tx2"/>
                </a:solidFill>
              </a:rPr>
              <a:t>in the text  </a:t>
            </a:r>
          </a:p>
          <a:p>
            <a:pPr lvl="1"/>
            <a:r>
              <a:rPr lang="en-AU" altLang="en-US" sz="3200" dirty="0"/>
              <a:t>Acknowledge </a:t>
            </a:r>
            <a:r>
              <a:rPr lang="en-AU" altLang="en-US" sz="3200" dirty="0">
                <a:solidFill>
                  <a:schemeClr val="accent2"/>
                </a:solidFill>
              </a:rPr>
              <a:t>within the text</a:t>
            </a:r>
          </a:p>
          <a:p>
            <a:pPr lvl="1"/>
            <a:r>
              <a:rPr lang="en-AU" altLang="en-US" sz="3200" dirty="0"/>
              <a:t>Acknowledge </a:t>
            </a:r>
            <a:r>
              <a:rPr lang="en-AU" altLang="en-US" sz="3200" dirty="0">
                <a:solidFill>
                  <a:schemeClr val="accent2"/>
                </a:solidFill>
              </a:rPr>
              <a:t>closely</a:t>
            </a:r>
            <a:r>
              <a:rPr lang="en-AU" altLang="en-US" sz="3200" dirty="0"/>
              <a:t> as possible </a:t>
            </a:r>
            <a:r>
              <a:rPr lang="en-AU" altLang="en-US" sz="3200" dirty="0">
                <a:solidFill>
                  <a:schemeClr val="tx2"/>
                </a:solidFill>
              </a:rPr>
              <a:t>to</a:t>
            </a:r>
            <a:r>
              <a:rPr lang="en-AU" altLang="en-US" sz="3200" dirty="0"/>
              <a:t> the </a:t>
            </a:r>
            <a:r>
              <a:rPr lang="en-AU" altLang="en-US" sz="3200" dirty="0">
                <a:solidFill>
                  <a:schemeClr val="accent2"/>
                </a:solidFill>
              </a:rPr>
              <a:t>point</a:t>
            </a:r>
          </a:p>
          <a:p>
            <a:r>
              <a:rPr lang="en-AU" altLang="en-US" sz="3600" dirty="0"/>
              <a:t>References in a </a:t>
            </a:r>
            <a:r>
              <a:rPr lang="en-AU" altLang="en-US" sz="3600" dirty="0">
                <a:solidFill>
                  <a:schemeClr val="tx2"/>
                </a:solidFill>
              </a:rPr>
              <a:t>list</a:t>
            </a:r>
            <a:r>
              <a:rPr lang="en-AU" altLang="en-US" sz="3600" dirty="0"/>
              <a:t> at the end of your work</a:t>
            </a:r>
          </a:p>
          <a:p>
            <a:pPr lvl="1"/>
            <a:r>
              <a:rPr lang="en-AU" altLang="en-US" sz="3200" dirty="0"/>
              <a:t>Include </a:t>
            </a:r>
            <a:r>
              <a:rPr lang="en-AU" altLang="en-US" sz="3200" dirty="0">
                <a:solidFill>
                  <a:schemeClr val="tx2"/>
                </a:solidFill>
              </a:rPr>
              <a:t>all</a:t>
            </a:r>
            <a:r>
              <a:rPr lang="en-AU" altLang="en-US" sz="3200" dirty="0"/>
              <a:t> sources referred to in a </a:t>
            </a:r>
            <a:r>
              <a:rPr lang="en-AU" altLang="en-US" sz="3200" dirty="0">
                <a:solidFill>
                  <a:schemeClr val="accent2"/>
                </a:solidFill>
              </a:rPr>
              <a:t>list</a:t>
            </a:r>
            <a:r>
              <a:rPr lang="en-AU" altLang="en-US" sz="3200" dirty="0">
                <a:solidFill>
                  <a:schemeClr val="tx2"/>
                </a:solidFill>
              </a:rPr>
              <a:t> at the end</a:t>
            </a:r>
            <a:r>
              <a:rPr lang="en-AU" altLang="en-US" sz="3200" dirty="0"/>
              <a:t> of your paper</a:t>
            </a:r>
          </a:p>
          <a:p>
            <a:pPr lvl="2"/>
            <a:r>
              <a:rPr lang="en-AU" altLang="en-US" sz="2800" dirty="0"/>
              <a:t>This list is usually called a </a:t>
            </a:r>
            <a:r>
              <a:rPr lang="en-AU" altLang="en-US" sz="2800" dirty="0">
                <a:solidFill>
                  <a:schemeClr val="accent2"/>
                </a:solidFill>
              </a:rPr>
              <a:t>Reference List</a:t>
            </a:r>
            <a:r>
              <a:rPr lang="en-AU" altLang="en-US" sz="2800" dirty="0"/>
              <a:t> </a:t>
            </a:r>
          </a:p>
          <a:p>
            <a:pPr lvl="2"/>
            <a:r>
              <a:rPr lang="en-AU" altLang="en-US" sz="2800" dirty="0"/>
              <a:t>Sometimes called </a:t>
            </a:r>
            <a:r>
              <a:rPr lang="en-AU" altLang="en-US" sz="2800" dirty="0">
                <a:solidFill>
                  <a:schemeClr val="accent2"/>
                </a:solidFill>
              </a:rPr>
              <a:t>List of Works Consulted or Bibliography</a:t>
            </a:r>
          </a:p>
          <a:p>
            <a:pPr lvl="1"/>
            <a:r>
              <a:rPr lang="en-AU" altLang="en-US" sz="3200" dirty="0"/>
              <a:t>Include </a:t>
            </a:r>
            <a:r>
              <a:rPr lang="en-AU" altLang="en-US" sz="3200" dirty="0">
                <a:solidFill>
                  <a:schemeClr val="accent2"/>
                </a:solidFill>
              </a:rPr>
              <a:t>all details</a:t>
            </a:r>
            <a:r>
              <a:rPr lang="en-AU" altLang="en-US" sz="3200" dirty="0"/>
              <a:t> about the sources in your list</a:t>
            </a:r>
          </a:p>
        </p:txBody>
      </p:sp>
    </p:spTree>
    <p:extLst>
      <p:ext uri="{BB962C8B-B14F-4D97-AF65-F5344CB8AC3E}">
        <p14:creationId xmlns:p14="http://schemas.microsoft.com/office/powerpoint/2010/main" val="265415313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/>
              <a:t>References </a:t>
            </a:r>
            <a:r>
              <a:rPr lang="en-AU" altLang="en-US" dirty="0">
                <a:solidFill>
                  <a:schemeClr val="tx2"/>
                </a:solidFill>
              </a:rPr>
              <a:t>in the text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895" y="1978752"/>
            <a:ext cx="7979832" cy="448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3369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422" y="171771"/>
            <a:ext cx="4358170" cy="2909797"/>
          </a:xfrm>
        </p:spPr>
        <p:txBody>
          <a:bodyPr/>
          <a:lstStyle/>
          <a:p>
            <a:r>
              <a:rPr lang="en-AU" altLang="en-US" dirty="0"/>
              <a:t>References in a </a:t>
            </a:r>
            <a:r>
              <a:rPr lang="en-AU" altLang="en-US" dirty="0">
                <a:solidFill>
                  <a:schemeClr val="tx2"/>
                </a:solidFill>
              </a:rPr>
              <a:t>list</a:t>
            </a:r>
            <a:r>
              <a:rPr lang="en-AU" altLang="en-US" dirty="0"/>
              <a:t> at the end of your work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637" y="60422"/>
            <a:ext cx="5724525" cy="800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6504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Basic referencing systems: in the text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en-US" sz="4000" dirty="0">
                <a:solidFill>
                  <a:schemeClr val="accent2"/>
                </a:solidFill>
              </a:rPr>
              <a:t>Author and date</a:t>
            </a:r>
            <a:r>
              <a:rPr lang="en-AU" altLang="en-US" sz="4000" dirty="0"/>
              <a:t> </a:t>
            </a:r>
          </a:p>
          <a:p>
            <a:pPr lvl="1"/>
            <a:r>
              <a:rPr lang="en-AU" altLang="en-US" sz="3600" dirty="0">
                <a:solidFill>
                  <a:schemeClr val="tx2"/>
                </a:solidFill>
              </a:rPr>
              <a:t>Harvard,</a:t>
            </a:r>
            <a:r>
              <a:rPr lang="en-AU" altLang="en-US" sz="3600" dirty="0"/>
              <a:t> </a:t>
            </a:r>
            <a:r>
              <a:rPr lang="en-AU" altLang="en-US" sz="3600" dirty="0">
                <a:solidFill>
                  <a:schemeClr val="tx2"/>
                </a:solidFill>
              </a:rPr>
              <a:t>APA, MLA</a:t>
            </a:r>
            <a:r>
              <a:rPr lang="en-AU" altLang="en-US" sz="3600" dirty="0"/>
              <a:t> (later versions) </a:t>
            </a:r>
          </a:p>
          <a:p>
            <a:r>
              <a:rPr lang="en-AU" altLang="en-US" sz="4000" dirty="0">
                <a:solidFill>
                  <a:schemeClr val="accent2"/>
                </a:solidFill>
              </a:rPr>
              <a:t>Numbering</a:t>
            </a:r>
            <a:r>
              <a:rPr lang="en-AU" altLang="en-US" sz="4000" dirty="0"/>
              <a:t> which links to </a:t>
            </a:r>
            <a:r>
              <a:rPr lang="en-AU" altLang="en-US" sz="4000" dirty="0">
                <a:solidFill>
                  <a:schemeClr val="accent2"/>
                </a:solidFill>
              </a:rPr>
              <a:t>footnotes</a:t>
            </a:r>
            <a:r>
              <a:rPr lang="en-AU" altLang="en-US" sz="4000" dirty="0"/>
              <a:t> or endnotes</a:t>
            </a:r>
          </a:p>
          <a:p>
            <a:pPr lvl="1"/>
            <a:r>
              <a:rPr lang="en-AU" altLang="en-US" sz="3600" dirty="0">
                <a:solidFill>
                  <a:schemeClr val="tx2"/>
                </a:solidFill>
              </a:rPr>
              <a:t>Oxford, Chicago</a:t>
            </a:r>
            <a:r>
              <a:rPr lang="en-AU" altLang="en-US" sz="3600" dirty="0"/>
              <a:t>  </a:t>
            </a:r>
          </a:p>
          <a:p>
            <a:r>
              <a:rPr lang="en-AU" altLang="en-US" sz="4000" dirty="0">
                <a:solidFill>
                  <a:schemeClr val="accent2"/>
                </a:solidFill>
              </a:rPr>
              <a:t>Numbering</a:t>
            </a:r>
            <a:r>
              <a:rPr lang="en-AU" altLang="en-US" sz="4000" dirty="0"/>
              <a:t> which links to the </a:t>
            </a:r>
            <a:r>
              <a:rPr lang="en-AU" altLang="en-US" sz="4000" dirty="0">
                <a:solidFill>
                  <a:schemeClr val="accent2"/>
                </a:solidFill>
              </a:rPr>
              <a:t>reference list</a:t>
            </a:r>
          </a:p>
          <a:p>
            <a:pPr lvl="1"/>
            <a:r>
              <a:rPr lang="en-AU" altLang="en-US" sz="3600" dirty="0">
                <a:solidFill>
                  <a:schemeClr val="tx2"/>
                </a:solidFill>
              </a:rPr>
              <a:t>Vancouver  </a:t>
            </a:r>
          </a:p>
          <a:p>
            <a:pPr>
              <a:buFontTx/>
              <a:buNone/>
            </a:pPr>
            <a:endParaRPr lang="en-AU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47501804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AutoShape 5"/>
          <p:cNvSpPr>
            <a:spLocks noChangeArrowheads="1"/>
          </p:cNvSpPr>
          <p:nvPr/>
        </p:nvSpPr>
        <p:spPr bwMode="auto">
          <a:xfrm>
            <a:off x="9256713" y="417513"/>
            <a:ext cx="2374900" cy="1341437"/>
          </a:xfrm>
          <a:prstGeom prst="cloudCallout">
            <a:avLst>
              <a:gd name="adj1" fmla="val -46125"/>
              <a:gd name="adj2" fmla="val -37694"/>
            </a:avLst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sz="3600" i="1"/>
              <a:t>Is anything missing in the following text?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altLang="en-US"/>
              <a:t>The literature review begins with a scrutiny of the various definitions of a smart city presented by Fernandez-Anez. Arasteh </a:t>
            </a:r>
            <a:r>
              <a:rPr lang="en-GB" altLang="en-US" i="1"/>
              <a:t>et al. </a:t>
            </a:r>
            <a:r>
              <a:rPr lang="en-GB" altLang="en-US"/>
              <a:t>discuss the relationship between IoT and a smart city, while Luong </a:t>
            </a:r>
            <a:r>
              <a:rPr lang="en-GB" altLang="en-US" i="1"/>
              <a:t>et al. </a:t>
            </a:r>
            <a:r>
              <a:rPr lang="en-GB" altLang="en-US"/>
              <a:t>survey the economic and pricing theory and their applications in data collection and communication for IoT. Da Silva </a:t>
            </a:r>
            <a:r>
              <a:rPr lang="en-GB" altLang="en-US" i="1"/>
              <a:t>et al.</a:t>
            </a:r>
            <a:r>
              <a:rPr lang="en-GB" altLang="en-US"/>
              <a:t> survey the architecture for smart cities, while El Baz and Bourgeois discuss the architecture of a specific smart city application (Logistic Mobile Application).</a:t>
            </a:r>
            <a:endParaRPr lang="en-AU" altLang="en-US"/>
          </a:p>
        </p:txBody>
      </p:sp>
      <p:sp>
        <p:nvSpPr>
          <p:cNvPr id="28677" name="Text Box 4"/>
          <p:cNvSpPr txBox="1">
            <a:spLocks noChangeArrowheads="1"/>
          </p:cNvSpPr>
          <p:nvPr/>
        </p:nvSpPr>
        <p:spPr bwMode="auto">
          <a:xfrm>
            <a:off x="9436100" y="822325"/>
            <a:ext cx="26352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AU" altLang="en-US" sz="2000">
                <a:latin typeface="Arial" panose="020B0604020202020204" pitchFamily="34" charset="0"/>
              </a:rPr>
              <a:t>Think different 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AU" altLang="en-US" sz="2000">
                <a:latin typeface="Arial" panose="020B0604020202020204" pitchFamily="34" charset="0"/>
              </a:rPr>
              <a:t>systems</a:t>
            </a:r>
          </a:p>
        </p:txBody>
      </p:sp>
    </p:spTree>
    <p:extLst>
      <p:ext uri="{BB962C8B-B14F-4D97-AF65-F5344CB8AC3E}">
        <p14:creationId xmlns:p14="http://schemas.microsoft.com/office/powerpoint/2010/main" val="1271916280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5"/>
          <p:cNvSpPr>
            <a:spLocks noChangeArrowheads="1"/>
          </p:cNvSpPr>
          <p:nvPr/>
        </p:nvSpPr>
        <p:spPr bwMode="auto">
          <a:xfrm>
            <a:off x="9256713" y="417513"/>
            <a:ext cx="2374900" cy="1341437"/>
          </a:xfrm>
          <a:prstGeom prst="cloudCallout">
            <a:avLst>
              <a:gd name="adj1" fmla="val -46125"/>
              <a:gd name="adj2" fmla="val -37694"/>
            </a:avLst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sz="3600" i="1"/>
              <a:t>Is anything missing in the following text?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altLang="en-US"/>
              <a:t>The literature review begins with a scrutiny of the various definitions of a smart city presented by </a:t>
            </a:r>
            <a:r>
              <a:rPr lang="en-GB" altLang="en-US">
                <a:solidFill>
                  <a:srgbClr val="00B050"/>
                </a:solidFill>
              </a:rPr>
              <a:t>Fernandez-Anez</a:t>
            </a:r>
            <a:r>
              <a:rPr lang="en-GB" altLang="en-US"/>
              <a:t>. </a:t>
            </a:r>
            <a:r>
              <a:rPr lang="en-GB" altLang="en-US">
                <a:solidFill>
                  <a:srgbClr val="00B050"/>
                </a:solidFill>
              </a:rPr>
              <a:t>Arasteh </a:t>
            </a:r>
            <a:r>
              <a:rPr lang="en-GB" altLang="en-US" i="1">
                <a:solidFill>
                  <a:srgbClr val="00B050"/>
                </a:solidFill>
              </a:rPr>
              <a:t>et al. </a:t>
            </a:r>
            <a:r>
              <a:rPr lang="en-GB" altLang="en-US"/>
              <a:t>discuss the relationship between IoT and a smart city, while </a:t>
            </a:r>
            <a:r>
              <a:rPr lang="en-GB" altLang="en-US">
                <a:solidFill>
                  <a:srgbClr val="00B050"/>
                </a:solidFill>
              </a:rPr>
              <a:t>Luong </a:t>
            </a:r>
            <a:r>
              <a:rPr lang="en-GB" altLang="en-US" i="1">
                <a:solidFill>
                  <a:srgbClr val="00B050"/>
                </a:solidFill>
              </a:rPr>
              <a:t>et al. </a:t>
            </a:r>
            <a:r>
              <a:rPr lang="en-GB" altLang="en-US"/>
              <a:t>survey the economic and pricing theory and their applications in data collection and communication for IoT. </a:t>
            </a:r>
            <a:r>
              <a:rPr lang="en-GB" altLang="en-US">
                <a:solidFill>
                  <a:srgbClr val="00B050"/>
                </a:solidFill>
              </a:rPr>
              <a:t>Da Silva </a:t>
            </a:r>
            <a:r>
              <a:rPr lang="en-GB" altLang="en-US" i="1">
                <a:solidFill>
                  <a:srgbClr val="00B050"/>
                </a:solidFill>
              </a:rPr>
              <a:t>et al.</a:t>
            </a:r>
            <a:r>
              <a:rPr lang="en-GB" altLang="en-US">
                <a:solidFill>
                  <a:srgbClr val="00B050"/>
                </a:solidFill>
              </a:rPr>
              <a:t> </a:t>
            </a:r>
            <a:r>
              <a:rPr lang="en-GB" altLang="en-US"/>
              <a:t>survey the architecture for smart cities, while </a:t>
            </a:r>
            <a:r>
              <a:rPr lang="en-GB" altLang="en-US">
                <a:solidFill>
                  <a:srgbClr val="00B050"/>
                </a:solidFill>
              </a:rPr>
              <a:t>El Baz and Bourgeois </a:t>
            </a:r>
            <a:r>
              <a:rPr lang="en-GB" altLang="en-US"/>
              <a:t>discuss the architecture of a specific smart city application (Logistic Mobile Application).</a:t>
            </a:r>
            <a:endParaRPr lang="en-AU" altLang="en-US"/>
          </a:p>
        </p:txBody>
      </p:sp>
      <p:sp>
        <p:nvSpPr>
          <p:cNvPr id="29701" name="Text Box 4"/>
          <p:cNvSpPr txBox="1">
            <a:spLocks noChangeArrowheads="1"/>
          </p:cNvSpPr>
          <p:nvPr/>
        </p:nvSpPr>
        <p:spPr bwMode="auto">
          <a:xfrm>
            <a:off x="9436100" y="822325"/>
            <a:ext cx="26352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AU" altLang="en-US" sz="2000">
                <a:latin typeface="Arial" panose="020B0604020202020204" pitchFamily="34" charset="0"/>
              </a:rPr>
              <a:t>Think different 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AU" altLang="en-US" sz="2000">
                <a:latin typeface="Arial" panose="020B0604020202020204" pitchFamily="34" charset="0"/>
              </a:rPr>
              <a:t>systems</a:t>
            </a:r>
          </a:p>
        </p:txBody>
      </p:sp>
    </p:spTree>
    <p:extLst>
      <p:ext uri="{BB962C8B-B14F-4D97-AF65-F5344CB8AC3E}">
        <p14:creationId xmlns:p14="http://schemas.microsoft.com/office/powerpoint/2010/main" val="423221342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sz="3600" i="1"/>
              <a:t>Missing?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  <a:tabLst>
                <a:tab pos="355600" algn="l"/>
              </a:tabLst>
            </a:pPr>
            <a:r>
              <a:rPr lang="en-AU" altLang="en-US"/>
              <a:t>Mention of the authors’ names </a:t>
            </a:r>
            <a:r>
              <a:rPr lang="en-AU" altLang="en-US">
                <a:solidFill>
                  <a:schemeClr val="accent2"/>
                </a:solidFill>
              </a:rPr>
              <a:t>not sufficient</a:t>
            </a:r>
            <a:r>
              <a:rPr lang="en-AU" altLang="en-US"/>
              <a:t>.   For reference to be complete: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355600" algn="l"/>
              </a:tabLst>
            </a:pPr>
            <a:endParaRPr lang="en-AU" altLang="en-US"/>
          </a:p>
          <a:p>
            <a:pPr marL="0" indent="0">
              <a:tabLst>
                <a:tab pos="355600" algn="l"/>
              </a:tabLst>
            </a:pPr>
            <a:r>
              <a:rPr lang="en-AU" altLang="en-US"/>
              <a:t> 	</a:t>
            </a:r>
            <a:r>
              <a:rPr lang="en-AU" altLang="en-US">
                <a:solidFill>
                  <a:schemeClr val="accent2"/>
                </a:solidFill>
              </a:rPr>
              <a:t>Author-date system</a:t>
            </a:r>
            <a:r>
              <a:rPr lang="en-AU" altLang="en-US"/>
              <a:t> must include </a:t>
            </a:r>
            <a:r>
              <a:rPr lang="en-AU" altLang="en-US">
                <a:solidFill>
                  <a:schemeClr val="accent2"/>
                </a:solidFill>
              </a:rPr>
              <a:t>years</a:t>
            </a:r>
            <a:r>
              <a:rPr lang="en-AU" altLang="en-US">
                <a:solidFill>
                  <a:schemeClr val="tx2"/>
                </a:solidFill>
              </a:rPr>
              <a:t> of </a:t>
            </a:r>
            <a:r>
              <a:rPr lang="en-AU" altLang="en-US">
                <a:solidFill>
                  <a:schemeClr val="accent2"/>
                </a:solidFill>
              </a:rPr>
              <a:t>publication</a:t>
            </a:r>
            <a:r>
              <a:rPr lang="en-AU" altLang="en-US"/>
              <a:t> of the research cited.   </a:t>
            </a:r>
          </a:p>
          <a:p>
            <a:pPr marL="0" indent="0">
              <a:tabLst>
                <a:tab pos="355600" algn="l"/>
              </a:tabLst>
            </a:pPr>
            <a:r>
              <a:rPr lang="en-AU" altLang="en-US"/>
              <a:t> 	If </a:t>
            </a:r>
            <a:r>
              <a:rPr lang="en-AU" altLang="en-US">
                <a:solidFill>
                  <a:schemeClr val="accent2"/>
                </a:solidFill>
              </a:rPr>
              <a:t>numerical</a:t>
            </a:r>
            <a:r>
              <a:rPr lang="en-AU" altLang="en-US"/>
              <a:t> referencing system is being used, the </a:t>
            </a:r>
            <a:r>
              <a:rPr lang="en-AU" altLang="en-US">
                <a:solidFill>
                  <a:schemeClr val="accent2"/>
                </a:solidFill>
              </a:rPr>
              <a:t>numbers</a:t>
            </a:r>
            <a:r>
              <a:rPr lang="en-AU" altLang="en-US">
                <a:solidFill>
                  <a:schemeClr val="tx2"/>
                </a:solidFill>
              </a:rPr>
              <a:t> </a:t>
            </a:r>
            <a:r>
              <a:rPr lang="en-AU" altLang="en-US"/>
              <a:t>of the </a:t>
            </a:r>
            <a:r>
              <a:rPr lang="en-AU" altLang="en-US">
                <a:solidFill>
                  <a:schemeClr val="tx2"/>
                </a:solidFill>
              </a:rPr>
              <a:t>references</a:t>
            </a:r>
            <a:r>
              <a:rPr lang="en-AU" altLang="en-US"/>
              <a:t> must be </a:t>
            </a:r>
            <a:r>
              <a:rPr lang="en-AU" altLang="en-US">
                <a:solidFill>
                  <a:schemeClr val="accent2"/>
                </a:solidFill>
              </a:rPr>
              <a:t>added</a:t>
            </a:r>
            <a:r>
              <a:rPr lang="en-AU" alt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5773494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sz="3600" i="1"/>
              <a:t>Is anything missing in the following text?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altLang="en-US"/>
              <a:t>The literature review begins with a scrutiny of the various definitions of a smart city presented by Fernandez-Anez [4]. Arasteh </a:t>
            </a:r>
            <a:r>
              <a:rPr lang="en-GB" altLang="en-US" i="1"/>
              <a:t>et al. </a:t>
            </a:r>
            <a:r>
              <a:rPr lang="en-GB" altLang="en-US"/>
              <a:t>[8] discuss the relationship between IoT and a smart city, while Luong </a:t>
            </a:r>
            <a:r>
              <a:rPr lang="en-GB" altLang="en-US" i="1"/>
              <a:t>et al. </a:t>
            </a:r>
            <a:r>
              <a:rPr lang="en-GB" altLang="en-US"/>
              <a:t>[9] survey the economic and pricing theory and their applications in data collection and communication for IoT. Da Silva </a:t>
            </a:r>
            <a:r>
              <a:rPr lang="en-GB" altLang="en-US" i="1"/>
              <a:t>et al. </a:t>
            </a:r>
            <a:r>
              <a:rPr lang="en-GB" altLang="en-US"/>
              <a:t>[10] survey the architecture for smart cities, while El Baz and Bourgeois [11] discuss the architecture of a specific smart city application (Logistic Mobile Application).</a:t>
            </a: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01111024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088" y="404813"/>
            <a:ext cx="7924800" cy="4681537"/>
          </a:xfrm>
        </p:spPr>
        <p:txBody>
          <a:bodyPr/>
          <a:lstStyle/>
          <a:p>
            <a:r>
              <a:rPr lang="en-AU" altLang="en-US"/>
              <a:t>Compiling the Reference List</a:t>
            </a:r>
          </a:p>
        </p:txBody>
      </p:sp>
    </p:spTree>
    <p:extLst>
      <p:ext uri="{BB962C8B-B14F-4D97-AF65-F5344CB8AC3E}">
        <p14:creationId xmlns:p14="http://schemas.microsoft.com/office/powerpoint/2010/main" val="122948169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608" y="78766"/>
            <a:ext cx="4654066" cy="650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458494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Exercise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endParaRPr lang="en-GB" sz="3600" dirty="0"/>
          </a:p>
          <a:p>
            <a:pPr fontAlgn="auto">
              <a:spcAft>
                <a:spcPts val="0"/>
              </a:spcAft>
              <a:defRPr/>
            </a:pPr>
            <a:endParaRPr lang="en-GB" sz="3600" dirty="0"/>
          </a:p>
          <a:p>
            <a:pPr fontAlgn="auto">
              <a:spcAft>
                <a:spcPts val="0"/>
              </a:spcAft>
              <a:defRPr/>
            </a:pP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768412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Write a reference to this paper: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16832"/>
            <a:ext cx="10515600" cy="2060130"/>
          </a:xfrm>
        </p:spPr>
        <p:txBody>
          <a:bodyPr/>
          <a:lstStyle/>
          <a:p>
            <a:r>
              <a:rPr lang="en-GB" dirty="0"/>
              <a:t>Using this template: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499" y="1213506"/>
            <a:ext cx="9494803" cy="280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32" y="4966654"/>
            <a:ext cx="11705781" cy="132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4505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IEEE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J. Siebert, J. Cao, Y. Lai, P. </a:t>
            </a:r>
            <a:r>
              <a:rPr lang="en-GB" sz="4400" dirty="0" err="1"/>
              <a:t>Guo</a:t>
            </a:r>
            <a:r>
              <a:rPr lang="en-GB" sz="4400" dirty="0"/>
              <a:t> and W. Zhu, "LASEC: A localized approach to service composition in pervasive computing environments", </a:t>
            </a:r>
            <a:r>
              <a:rPr lang="en-GB" sz="4400" i="1" dirty="0"/>
              <a:t>IEEE Trans. Parallel </a:t>
            </a:r>
            <a:r>
              <a:rPr lang="en-GB" sz="4400" i="1" dirty="0" err="1"/>
              <a:t>Distrib</a:t>
            </a:r>
            <a:r>
              <a:rPr lang="en-GB" sz="4400" i="1" dirty="0"/>
              <a:t>. Syst.</a:t>
            </a:r>
            <a:r>
              <a:rPr lang="en-GB" sz="4400" dirty="0"/>
              <a:t>, vol. 26, no. 7, pp. 1948-1957, Jul. 2015.</a:t>
            </a:r>
          </a:p>
        </p:txBody>
      </p:sp>
    </p:spTree>
    <p:extLst>
      <p:ext uri="{BB962C8B-B14F-4D97-AF65-F5344CB8AC3E}">
        <p14:creationId xmlns:p14="http://schemas.microsoft.com/office/powerpoint/2010/main" val="1831540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Siebert, J. et al. “LASEC: A Localized Approach to Service Composition in Pervasive Computing Environments.” </a:t>
            </a:r>
            <a:r>
              <a:rPr lang="en-GB" sz="4400" i="1" dirty="0"/>
              <a:t>IEEE Transactions on Parallel and Distributed Systems</a:t>
            </a:r>
            <a:r>
              <a:rPr lang="en-GB" sz="4400" dirty="0"/>
              <a:t> 26 (2015): 1948-1957.</a:t>
            </a:r>
          </a:p>
        </p:txBody>
      </p:sp>
    </p:spTree>
    <p:extLst>
      <p:ext uri="{BB962C8B-B14F-4D97-AF65-F5344CB8AC3E}">
        <p14:creationId xmlns:p14="http://schemas.microsoft.com/office/powerpoint/2010/main" val="3629068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Siebert, J., Cao, J., Lai, Y., </a:t>
            </a:r>
            <a:r>
              <a:rPr lang="en-GB" sz="4400" dirty="0" err="1"/>
              <a:t>Guo</a:t>
            </a:r>
            <a:r>
              <a:rPr lang="en-GB" sz="4400" dirty="0"/>
              <a:t>, P., &amp; Zhu, W. (2015). LASEC: A Localized Approach to Service Composition in Pervasive Computing Environments. </a:t>
            </a:r>
            <a:r>
              <a:rPr lang="en-GB" sz="4400" i="1" dirty="0"/>
              <a:t>IEEE Transactions on Parallel and Distributed Systems, 26</a:t>
            </a:r>
            <a:r>
              <a:rPr lang="en-GB" sz="4400" dirty="0"/>
              <a:t>, 1948-1957.</a:t>
            </a:r>
          </a:p>
        </p:txBody>
      </p:sp>
    </p:spTree>
    <p:extLst>
      <p:ext uri="{BB962C8B-B14F-4D97-AF65-F5344CB8AC3E}">
        <p14:creationId xmlns:p14="http://schemas.microsoft.com/office/powerpoint/2010/main" val="1229195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CHICAGO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Siebert, J., </a:t>
            </a:r>
            <a:r>
              <a:rPr lang="en-GB" sz="4400" dirty="0" err="1"/>
              <a:t>Jiannong</a:t>
            </a:r>
            <a:r>
              <a:rPr lang="en-GB" sz="4400" dirty="0"/>
              <a:t> Cao, Yi Lai, Peng </a:t>
            </a:r>
            <a:r>
              <a:rPr lang="en-GB" sz="4400" dirty="0" err="1"/>
              <a:t>Guo</a:t>
            </a:r>
            <a:r>
              <a:rPr lang="en-GB" sz="4400" dirty="0"/>
              <a:t> and </a:t>
            </a:r>
            <a:r>
              <a:rPr lang="en-GB" sz="4400" dirty="0" err="1"/>
              <a:t>Weiping</a:t>
            </a:r>
            <a:r>
              <a:rPr lang="en-GB" sz="4400" dirty="0"/>
              <a:t> Zhu. “LASEC: A Localized Approach to Service Composition in Pervasive Computing Environments.” </a:t>
            </a:r>
            <a:r>
              <a:rPr lang="en-GB" sz="4400" i="1" dirty="0"/>
              <a:t>IEEE Transactions on Parallel and Distributed Systems</a:t>
            </a:r>
            <a:r>
              <a:rPr lang="en-GB" sz="4400" dirty="0"/>
              <a:t> 26 (2015): 1948-1957.</a:t>
            </a:r>
          </a:p>
        </p:txBody>
      </p:sp>
    </p:spTree>
    <p:extLst>
      <p:ext uri="{BB962C8B-B14F-4D97-AF65-F5344CB8AC3E}">
        <p14:creationId xmlns:p14="http://schemas.microsoft.com/office/powerpoint/2010/main" val="2233918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Vancouver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Siebert J, Cao J, Lai Y, </a:t>
            </a:r>
            <a:r>
              <a:rPr lang="en-GB" sz="4400" dirty="0" err="1"/>
              <a:t>Guo</a:t>
            </a:r>
            <a:r>
              <a:rPr lang="en-GB" sz="4400" dirty="0"/>
              <a:t> P, Zhu W. LASEC: A Localized Approach to Service Composition in Pervasive Computing Environments. IEEE Transactions on Parallel and Distributed Systems. 2015 Jul 1;26(7):1948-1957. 6846304. </a:t>
            </a:r>
            <a:r>
              <a:rPr lang="en-GB" sz="4400" dirty="0" err="1"/>
              <a:t>doi</a:t>
            </a:r>
            <a:r>
              <a:rPr lang="en-GB" sz="4400" dirty="0"/>
              <a:t>: 10.1109/TPDS.2014.2331052</a:t>
            </a:r>
          </a:p>
        </p:txBody>
      </p:sp>
    </p:spTree>
    <p:extLst>
      <p:ext uri="{BB962C8B-B14F-4D97-AF65-F5344CB8AC3E}">
        <p14:creationId xmlns:p14="http://schemas.microsoft.com/office/powerpoint/2010/main" val="1235789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Necessary Information</a:t>
            </a:r>
          </a:p>
        </p:txBody>
      </p:sp>
      <p:sp>
        <p:nvSpPr>
          <p:cNvPr id="176132" name="Rectangle 4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AU">
                <a:solidFill>
                  <a:schemeClr val="tx2"/>
                </a:solidFill>
              </a:rPr>
              <a:t>Names of authors</a:t>
            </a:r>
            <a:r>
              <a:rPr lang="en-AU"/>
              <a:t> (family names and at least initials)</a:t>
            </a:r>
          </a:p>
          <a:p>
            <a:pPr fontAlgn="auto">
              <a:spcAft>
                <a:spcPts val="0"/>
              </a:spcAft>
              <a:defRPr/>
            </a:pPr>
            <a:r>
              <a:rPr lang="en-AU"/>
              <a:t>Name of journal article, chapter or </a:t>
            </a:r>
            <a:r>
              <a:rPr lang="en-AU">
                <a:solidFill>
                  <a:schemeClr val="tx2"/>
                </a:solidFill>
              </a:rPr>
              <a:t>conference paper</a:t>
            </a:r>
            <a:endParaRPr lang="en-AU"/>
          </a:p>
          <a:p>
            <a:pPr fontAlgn="auto">
              <a:spcAft>
                <a:spcPts val="0"/>
              </a:spcAft>
              <a:defRPr/>
            </a:pPr>
            <a:r>
              <a:rPr lang="en-AU">
                <a:solidFill>
                  <a:schemeClr val="tx2"/>
                </a:solidFill>
              </a:rPr>
              <a:t>Name of </a:t>
            </a:r>
            <a:r>
              <a:rPr lang="en-AU"/>
              <a:t>journal, book</a:t>
            </a:r>
            <a:r>
              <a:rPr lang="en-AU">
                <a:solidFill>
                  <a:schemeClr val="tx2"/>
                </a:solidFill>
              </a:rPr>
              <a:t>, conference,</a:t>
            </a:r>
            <a:r>
              <a:rPr lang="en-AU"/>
              <a:t> etc.</a:t>
            </a:r>
          </a:p>
          <a:p>
            <a:pPr fontAlgn="auto">
              <a:spcAft>
                <a:spcPts val="0"/>
              </a:spcAft>
              <a:defRPr/>
            </a:pPr>
            <a:r>
              <a:rPr lang="en-AU">
                <a:solidFill>
                  <a:schemeClr val="tx2"/>
                </a:solidFill>
              </a:rPr>
              <a:t>Date</a:t>
            </a:r>
            <a:r>
              <a:rPr lang="en-AU"/>
              <a:t> of publication</a:t>
            </a:r>
          </a:p>
          <a:p>
            <a:pPr fontAlgn="auto">
              <a:spcAft>
                <a:spcPts val="0"/>
              </a:spcAft>
              <a:defRPr/>
            </a:pPr>
            <a:r>
              <a:rPr lang="en-AU">
                <a:solidFill>
                  <a:schemeClr val="tx2"/>
                </a:solidFill>
              </a:rPr>
              <a:t>Volume number</a:t>
            </a:r>
            <a:r>
              <a:rPr lang="en-AU"/>
              <a:t> (for journals)</a:t>
            </a:r>
          </a:p>
          <a:p>
            <a:pPr fontAlgn="auto">
              <a:spcAft>
                <a:spcPts val="0"/>
              </a:spcAft>
              <a:defRPr/>
            </a:pPr>
            <a:r>
              <a:rPr lang="en-AU">
                <a:solidFill>
                  <a:schemeClr val="tx2"/>
                </a:solidFill>
              </a:rPr>
              <a:t>Editor of book</a:t>
            </a:r>
            <a:r>
              <a:rPr lang="en-AU"/>
              <a:t> (if applicable)</a:t>
            </a:r>
          </a:p>
          <a:p>
            <a:pPr fontAlgn="auto">
              <a:spcAft>
                <a:spcPts val="0"/>
              </a:spcAft>
              <a:defRPr/>
            </a:pPr>
            <a:r>
              <a:rPr lang="en-AU">
                <a:solidFill>
                  <a:schemeClr val="tx2"/>
                </a:solidFill>
              </a:rPr>
              <a:t>Publisher</a:t>
            </a:r>
            <a:r>
              <a:rPr lang="en-AU"/>
              <a:t> (for books)</a:t>
            </a:r>
          </a:p>
          <a:p>
            <a:pPr fontAlgn="auto">
              <a:spcAft>
                <a:spcPts val="0"/>
              </a:spcAft>
              <a:defRPr/>
            </a:pPr>
            <a:r>
              <a:rPr lang="en-AU">
                <a:solidFill>
                  <a:schemeClr val="tx2"/>
                </a:solidFill>
              </a:rPr>
              <a:t>Place of publication</a:t>
            </a:r>
            <a:r>
              <a:rPr lang="en-AU"/>
              <a:t> (for books)</a:t>
            </a:r>
          </a:p>
          <a:p>
            <a:pPr fontAlgn="auto">
              <a:spcAft>
                <a:spcPts val="0"/>
              </a:spcAft>
              <a:defRPr/>
            </a:pPr>
            <a:r>
              <a:rPr lang="en-AU">
                <a:solidFill>
                  <a:schemeClr val="tx2"/>
                </a:solidFill>
              </a:rPr>
              <a:t>Page numbers</a:t>
            </a:r>
            <a:r>
              <a:rPr lang="en-AU"/>
              <a:t> (of article or book chapter )</a:t>
            </a:r>
          </a:p>
        </p:txBody>
      </p:sp>
    </p:spTree>
    <p:extLst>
      <p:ext uri="{BB962C8B-B14F-4D97-AF65-F5344CB8AC3E}">
        <p14:creationId xmlns:p14="http://schemas.microsoft.com/office/powerpoint/2010/main" val="396470157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Basic Referencing Systems: Reference Lists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AU" altLang="en-US" sz="4800">
                <a:latin typeface="Arial Rounded MT Bold"/>
              </a:rPr>
              <a:t>Alphabetical</a:t>
            </a:r>
            <a:r>
              <a:rPr lang="en-AU" altLang="en-US" sz="4800"/>
              <a:t> </a:t>
            </a:r>
          </a:p>
          <a:p>
            <a:r>
              <a:rPr lang="en-AU" altLang="en-US" sz="4000"/>
              <a:t>Sources appear </a:t>
            </a:r>
            <a:r>
              <a:rPr lang="en-AU" altLang="en-US" sz="4000">
                <a:solidFill>
                  <a:schemeClr val="tx2"/>
                </a:solidFill>
              </a:rPr>
              <a:t>alphabetically</a:t>
            </a:r>
            <a:r>
              <a:rPr lang="en-AU" altLang="en-US" sz="4000"/>
              <a:t> according to the family name of the first author – this is the most common system.</a:t>
            </a:r>
          </a:p>
          <a:p>
            <a:pPr lvl="1"/>
            <a:r>
              <a:rPr lang="en-AU" altLang="en-US" sz="3600"/>
              <a:t>Burnett, T.E.D.</a:t>
            </a:r>
          </a:p>
          <a:p>
            <a:pPr lvl="1"/>
            <a:r>
              <a:rPr lang="en-AU" altLang="en-US" sz="3600"/>
              <a:t>Wishart, Jennifer</a:t>
            </a:r>
          </a:p>
          <a:p>
            <a:endParaRPr lang="en-AU" altLang="en-US" sz="4000"/>
          </a:p>
        </p:txBody>
      </p:sp>
    </p:spTree>
    <p:extLst>
      <p:ext uri="{BB962C8B-B14F-4D97-AF65-F5344CB8AC3E}">
        <p14:creationId xmlns:p14="http://schemas.microsoft.com/office/powerpoint/2010/main" val="331261343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Basic Referencing Systems: Reference Lists</a:t>
            </a:r>
          </a:p>
        </p:txBody>
      </p:sp>
      <p:sp>
        <p:nvSpPr>
          <p:cNvPr id="24579" name="AutoShape 2"/>
          <p:cNvSpPr>
            <a:spLocks noGrp="1" noChangeArrowheads="1"/>
          </p:cNvSpPr>
          <p:nvPr>
            <p:ph idx="1"/>
          </p:nvPr>
        </p:nvSpPr>
        <p:spPr>
          <a:prstGeom prst="roundRect">
            <a:avLst>
              <a:gd name="adj" fmla="val 16667"/>
            </a:avLst>
          </a:prstGeom>
          <a:solidFill>
            <a:schemeClr val="bg1"/>
          </a:solidFill>
        </p:spPr>
        <p:txBody>
          <a:bodyPr>
            <a:noAutofit/>
          </a:bodyPr>
          <a:lstStyle/>
          <a:p>
            <a:pPr marL="381000" indent="-381000">
              <a:lnSpc>
                <a:spcPct val="80000"/>
              </a:lnSpc>
              <a:buFont typeface="Arial" panose="020B0604020202020204" pitchFamily="34" charset="0"/>
              <a:buNone/>
              <a:tabLst>
                <a:tab pos="2060575" algn="l"/>
              </a:tabLst>
            </a:pPr>
            <a:r>
              <a:rPr lang="en-AU" altLang="en-US" sz="4000" dirty="0">
                <a:latin typeface="Arial Rounded MT Bold"/>
              </a:rPr>
              <a:t>Numerical (</a:t>
            </a:r>
            <a:r>
              <a:rPr lang="en-AU" altLang="en-US" sz="4000" dirty="0" err="1">
                <a:latin typeface="Arial Rounded MT Bold"/>
              </a:rPr>
              <a:t>eg</a:t>
            </a:r>
            <a:r>
              <a:rPr lang="en-AU" altLang="en-US" sz="4000" dirty="0">
                <a:latin typeface="Arial Rounded MT Bold"/>
              </a:rPr>
              <a:t>. Vancouver)</a:t>
            </a:r>
          </a:p>
          <a:p>
            <a:pPr marL="381000" indent="-381000">
              <a:lnSpc>
                <a:spcPct val="80000"/>
              </a:lnSpc>
              <a:buFont typeface="Arial" panose="020B0604020202020204" pitchFamily="34" charset="0"/>
              <a:buNone/>
              <a:tabLst>
                <a:tab pos="2060575" algn="l"/>
              </a:tabLst>
            </a:pPr>
            <a:endParaRPr lang="en-AU" altLang="en-US" sz="1200" dirty="0">
              <a:latin typeface="Arial Rounded MT Bold"/>
            </a:endParaRPr>
          </a:p>
          <a:p>
            <a:pPr marL="381000" indent="-381000">
              <a:lnSpc>
                <a:spcPct val="80000"/>
              </a:lnSpc>
              <a:tabLst>
                <a:tab pos="2060575" algn="l"/>
              </a:tabLst>
            </a:pPr>
            <a:r>
              <a:rPr lang="en-AU" altLang="en-US" sz="3600" dirty="0"/>
              <a:t>Sources are listed </a:t>
            </a:r>
          </a:p>
          <a:p>
            <a:pPr marL="800100" lvl="1" indent="-342900">
              <a:lnSpc>
                <a:spcPct val="80000"/>
              </a:lnSpc>
              <a:buFont typeface="Arial Black" panose="020B0A04020102020204" pitchFamily="34" charset="0"/>
              <a:buChar char="•"/>
              <a:tabLst>
                <a:tab pos="2060575" algn="l"/>
              </a:tabLst>
            </a:pPr>
            <a:r>
              <a:rPr lang="en-AU" altLang="en-US" sz="3600" dirty="0">
                <a:solidFill>
                  <a:schemeClr val="tx2"/>
                </a:solidFill>
              </a:rPr>
              <a:t>numerically </a:t>
            </a:r>
            <a:r>
              <a:rPr lang="en-AU" altLang="en-US" sz="3600" dirty="0"/>
              <a:t>by order of their first citation in the text</a:t>
            </a:r>
          </a:p>
          <a:p>
            <a:pPr marL="800100" lvl="1" indent="-342900">
              <a:lnSpc>
                <a:spcPct val="80000"/>
              </a:lnSpc>
              <a:buFont typeface="Arial Black" panose="020B0A04020102020204" pitchFamily="34" charset="0"/>
              <a:buChar char="•"/>
              <a:tabLst>
                <a:tab pos="2060575" algn="l"/>
              </a:tabLst>
            </a:pPr>
            <a:r>
              <a:rPr lang="en-AU" altLang="en-US" sz="3600" dirty="0"/>
              <a:t>by the family name of the </a:t>
            </a:r>
            <a:r>
              <a:rPr lang="en-AU" altLang="en-US" sz="3600" dirty="0">
                <a:solidFill>
                  <a:schemeClr val="tx2"/>
                </a:solidFill>
              </a:rPr>
              <a:t>first author</a:t>
            </a:r>
            <a:r>
              <a:rPr lang="en-AU" altLang="en-US" sz="3600" dirty="0"/>
              <a:t> </a:t>
            </a:r>
          </a:p>
          <a:p>
            <a:pPr marL="800100" lvl="1" indent="-342900">
              <a:lnSpc>
                <a:spcPct val="80000"/>
              </a:lnSpc>
              <a:buFont typeface="Arial Black" panose="020B0A04020102020204" pitchFamily="34" charset="0"/>
              <a:buChar char="•"/>
              <a:tabLst>
                <a:tab pos="2060575" algn="l"/>
              </a:tabLst>
            </a:pPr>
            <a:r>
              <a:rPr lang="en-AU" altLang="en-US" sz="3600" dirty="0"/>
              <a:t>in other words, each source is given a </a:t>
            </a:r>
            <a:r>
              <a:rPr lang="en-AU" altLang="en-US" sz="3600" dirty="0">
                <a:solidFill>
                  <a:schemeClr val="tx2"/>
                </a:solidFill>
              </a:rPr>
              <a:t>number</a:t>
            </a:r>
            <a:r>
              <a:rPr lang="en-AU" altLang="en-US" sz="3600" dirty="0"/>
              <a:t> that it </a:t>
            </a:r>
            <a:r>
              <a:rPr lang="en-AU" altLang="en-US" sz="3600" dirty="0">
                <a:solidFill>
                  <a:schemeClr val="tx2"/>
                </a:solidFill>
              </a:rPr>
              <a:t>retains</a:t>
            </a:r>
            <a:r>
              <a:rPr lang="en-AU" altLang="en-US" sz="3600" dirty="0"/>
              <a:t> throughout the work. </a:t>
            </a:r>
          </a:p>
          <a:p>
            <a:pPr marL="800100" lvl="1" indent="-342900">
              <a:lnSpc>
                <a:spcPct val="80000"/>
              </a:lnSpc>
              <a:buFont typeface="Arial" panose="020B0604020202020204" pitchFamily="34" charset="0"/>
              <a:buNone/>
              <a:tabLst>
                <a:tab pos="2060575" algn="l"/>
              </a:tabLst>
            </a:pPr>
            <a:r>
              <a:rPr lang="en-AU" altLang="en-US" sz="3600" dirty="0"/>
              <a:t>  </a:t>
            </a:r>
            <a:endParaRPr lang="en-AU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7554043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Using footnotes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en-US" sz="3600" dirty="0"/>
              <a:t>In the</a:t>
            </a:r>
            <a:r>
              <a:rPr lang="en-AU" altLang="en-US" sz="3600" dirty="0">
                <a:solidFill>
                  <a:schemeClr val="tx2"/>
                </a:solidFill>
              </a:rPr>
              <a:t> </a:t>
            </a:r>
            <a:r>
              <a:rPr lang="en-AU" altLang="en-US" sz="3600" dirty="0">
                <a:solidFill>
                  <a:schemeClr val="accent2"/>
                </a:solidFill>
              </a:rPr>
              <a:t>text</a:t>
            </a:r>
            <a:r>
              <a:rPr lang="en-AU" altLang="en-US" sz="3600" i="1" dirty="0">
                <a:solidFill>
                  <a:schemeClr val="tx2"/>
                </a:solidFill>
              </a:rPr>
              <a:t> </a:t>
            </a:r>
            <a:r>
              <a:rPr lang="en-AU" altLang="en-US" sz="3600" dirty="0"/>
              <a:t>there will be: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altLang="en-US" sz="3200" dirty="0"/>
              <a:t>a </a:t>
            </a:r>
            <a:r>
              <a:rPr lang="en-AU" altLang="en-US" sz="3200" dirty="0">
                <a:solidFill>
                  <a:schemeClr val="accent2"/>
                </a:solidFill>
              </a:rPr>
              <a:t>number</a:t>
            </a:r>
            <a:r>
              <a:rPr lang="en-AU" altLang="en-US" sz="3200" dirty="0"/>
              <a:t> next to the reference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AU" altLang="en-US" sz="3600" dirty="0"/>
              <a:t>At the </a:t>
            </a:r>
            <a:r>
              <a:rPr lang="en-AU" altLang="en-US" sz="3600" dirty="0">
                <a:solidFill>
                  <a:schemeClr val="accent2"/>
                </a:solidFill>
              </a:rPr>
              <a:t>bottom</a:t>
            </a:r>
            <a:r>
              <a:rPr lang="en-AU" altLang="en-US" sz="3600" dirty="0"/>
              <a:t> (</a:t>
            </a:r>
            <a:r>
              <a:rPr lang="en-AU" altLang="en-US" sz="3600" dirty="0">
                <a:solidFill>
                  <a:schemeClr val="tx2"/>
                </a:solidFill>
              </a:rPr>
              <a:t>foot</a:t>
            </a:r>
            <a:r>
              <a:rPr lang="en-AU" altLang="en-US" sz="3600" dirty="0"/>
              <a:t>) of the page there will be: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altLang="en-US" sz="3200" dirty="0"/>
              <a:t>The </a:t>
            </a:r>
            <a:r>
              <a:rPr lang="en-AU" altLang="en-US" sz="3200" dirty="0">
                <a:solidFill>
                  <a:schemeClr val="accent2"/>
                </a:solidFill>
              </a:rPr>
              <a:t>same number</a:t>
            </a:r>
            <a:r>
              <a:rPr lang="en-AU" altLang="en-US" sz="3200" dirty="0"/>
              <a:t> + name of author, date and details about the publication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altLang="en-US" sz="3200" dirty="0"/>
              <a:t>Sometimes a comment by the author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AU" altLang="en-US" sz="3600" dirty="0"/>
              <a:t>Footnote systems </a:t>
            </a:r>
            <a:r>
              <a:rPr lang="en-AU" altLang="en-US" sz="3600" dirty="0">
                <a:solidFill>
                  <a:schemeClr val="accent2"/>
                </a:solidFill>
              </a:rPr>
              <a:t>list</a:t>
            </a:r>
            <a:r>
              <a:rPr lang="en-AU" altLang="en-US" sz="3600" dirty="0">
                <a:solidFill>
                  <a:schemeClr val="tx2"/>
                </a:solidFill>
              </a:rPr>
              <a:t> sources</a:t>
            </a:r>
            <a:r>
              <a:rPr lang="en-AU" altLang="en-US" sz="3600" dirty="0"/>
              <a:t> used at the </a:t>
            </a:r>
            <a:r>
              <a:rPr lang="en-AU" altLang="en-US" sz="3600" dirty="0">
                <a:solidFill>
                  <a:schemeClr val="accent2"/>
                </a:solidFill>
              </a:rPr>
              <a:t>end of the work</a:t>
            </a:r>
          </a:p>
        </p:txBody>
      </p:sp>
    </p:spTree>
    <p:extLst>
      <p:ext uri="{BB962C8B-B14F-4D97-AF65-F5344CB8AC3E}">
        <p14:creationId xmlns:p14="http://schemas.microsoft.com/office/powerpoint/2010/main" val="3703613323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In-text references to websites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AU" altLang="en-US" sz="1400" dirty="0"/>
          </a:p>
          <a:p>
            <a:pPr marL="541338" lvl="1" indent="-361950"/>
            <a:r>
              <a:rPr lang="en-AU" altLang="en-US" sz="2800" dirty="0"/>
              <a:t>Use </a:t>
            </a:r>
            <a:r>
              <a:rPr lang="en-AU" altLang="en-US" sz="2800" dirty="0">
                <a:solidFill>
                  <a:schemeClr val="tx2"/>
                </a:solidFill>
              </a:rPr>
              <a:t>author</a:t>
            </a:r>
            <a:r>
              <a:rPr lang="en-AU" altLang="en-US" sz="2800" dirty="0"/>
              <a:t> and publication </a:t>
            </a:r>
            <a:r>
              <a:rPr lang="en-AU" altLang="en-US" sz="2800" dirty="0">
                <a:solidFill>
                  <a:schemeClr val="tx2"/>
                </a:solidFill>
              </a:rPr>
              <a:t>date</a:t>
            </a:r>
            <a:r>
              <a:rPr lang="en-AU" altLang="en-US" sz="2800" dirty="0"/>
              <a:t> or latest update </a:t>
            </a:r>
          </a:p>
          <a:p>
            <a:pPr marL="541338" lvl="1" indent="-361950"/>
            <a:r>
              <a:rPr lang="en-AU" altLang="en-US" sz="2800" dirty="0">
                <a:solidFill>
                  <a:schemeClr val="accent2"/>
                </a:solidFill>
              </a:rPr>
              <a:t>Unknown author</a:t>
            </a:r>
            <a:r>
              <a:rPr lang="en-AU" altLang="en-US" sz="2800" dirty="0">
                <a:solidFill>
                  <a:schemeClr val="tx2"/>
                </a:solidFill>
              </a:rPr>
              <a:t>? </a:t>
            </a:r>
          </a:p>
          <a:p>
            <a:pPr marL="1150938" lvl="2"/>
            <a:r>
              <a:rPr lang="en-AU" altLang="en-US" sz="3200" dirty="0"/>
              <a:t>Treat organisation as author</a:t>
            </a:r>
          </a:p>
          <a:p>
            <a:pPr marL="541338" lvl="1" indent="-361950"/>
            <a:r>
              <a:rPr lang="en-AU" altLang="en-US" sz="2800" dirty="0">
                <a:solidFill>
                  <a:schemeClr val="accent2"/>
                </a:solidFill>
              </a:rPr>
              <a:t>Organisation unknown</a:t>
            </a:r>
            <a:r>
              <a:rPr lang="en-AU" altLang="en-US" sz="2800" dirty="0">
                <a:solidFill>
                  <a:schemeClr val="tx2"/>
                </a:solidFill>
              </a:rPr>
              <a:t>? </a:t>
            </a:r>
          </a:p>
          <a:p>
            <a:pPr marL="1150938" lvl="2"/>
            <a:r>
              <a:rPr lang="en-AU" altLang="en-US" sz="3200" dirty="0"/>
              <a:t>Use title of the web page as author</a:t>
            </a:r>
          </a:p>
          <a:p>
            <a:pPr marL="541338" lvl="1" indent="-361950"/>
            <a:r>
              <a:rPr lang="en-AU" altLang="en-US" sz="2800" dirty="0">
                <a:solidFill>
                  <a:schemeClr val="accent2"/>
                </a:solidFill>
              </a:rPr>
              <a:t>Site not dated</a:t>
            </a:r>
            <a:r>
              <a:rPr lang="en-AU" altLang="en-US" sz="2800" dirty="0">
                <a:solidFill>
                  <a:schemeClr val="tx2"/>
                </a:solidFill>
              </a:rPr>
              <a:t>?</a:t>
            </a:r>
          </a:p>
          <a:p>
            <a:pPr marL="1150938" lvl="2"/>
            <a:r>
              <a:rPr lang="en-AU" altLang="en-US" sz="3200" dirty="0"/>
              <a:t>use ‘</a:t>
            </a:r>
            <a:r>
              <a:rPr lang="en-AU" altLang="en-US" sz="3200" dirty="0" err="1"/>
              <a:t>n.d.</a:t>
            </a:r>
            <a:r>
              <a:rPr lang="en-AU" altLang="en-US" sz="3200" dirty="0"/>
              <a:t>’ for ‘no date’</a:t>
            </a:r>
          </a:p>
          <a:p>
            <a:pPr marL="541338" lvl="1" indent="-361950"/>
            <a:r>
              <a:rPr lang="en-AU" altLang="en-US" sz="2800" dirty="0"/>
              <a:t>In </a:t>
            </a:r>
            <a:r>
              <a:rPr lang="en-AU" altLang="en-US" sz="2800" dirty="0">
                <a:solidFill>
                  <a:schemeClr val="accent2"/>
                </a:solidFill>
              </a:rPr>
              <a:t>reference list</a:t>
            </a:r>
            <a:r>
              <a:rPr lang="en-AU" altLang="en-US" sz="2800" dirty="0"/>
              <a:t> include date you </a:t>
            </a:r>
            <a:r>
              <a:rPr lang="en-AU" altLang="en-US" sz="2800" i="1" dirty="0">
                <a:solidFill>
                  <a:schemeClr val="accent2"/>
                </a:solidFill>
              </a:rPr>
              <a:t>accessed</a:t>
            </a:r>
            <a:r>
              <a:rPr lang="en-AU" altLang="en-US" sz="2800" dirty="0"/>
              <a:t> the site as well as author, date, title of website and </a:t>
            </a:r>
            <a:r>
              <a:rPr lang="en-AU" altLang="en-US" sz="2800" dirty="0" err="1"/>
              <a:t>url</a:t>
            </a:r>
            <a:r>
              <a:rPr lang="en-AU" altLang="en-US" sz="2800" dirty="0"/>
              <a:t>.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919288" y="5445125"/>
            <a:ext cx="78486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endParaRPr lang="en-AU" altLang="en-US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endParaRPr lang="en-AU" altLang="en-US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endParaRPr lang="en-AU" altLang="en-US" sz="2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415203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Summary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AU" altLang="en-US" dirty="0"/>
              <a:t>Know </a:t>
            </a:r>
            <a:r>
              <a:rPr lang="en-AU" altLang="en-US" dirty="0">
                <a:solidFill>
                  <a:schemeClr val="tx2"/>
                </a:solidFill>
              </a:rPr>
              <a:t>which system</a:t>
            </a:r>
            <a:r>
              <a:rPr lang="en-AU" altLang="en-US" dirty="0"/>
              <a:t> is required</a:t>
            </a:r>
          </a:p>
          <a:p>
            <a:r>
              <a:rPr lang="en-AU" altLang="en-US" dirty="0"/>
              <a:t>When recording ideas from readings, record </a:t>
            </a:r>
            <a:r>
              <a:rPr lang="en-AU" altLang="en-US" dirty="0">
                <a:solidFill>
                  <a:schemeClr val="tx2"/>
                </a:solidFill>
              </a:rPr>
              <a:t>all</a:t>
            </a:r>
            <a:r>
              <a:rPr lang="en-AU" altLang="en-US" dirty="0"/>
              <a:t> the bibliographic details</a:t>
            </a:r>
          </a:p>
          <a:p>
            <a:r>
              <a:rPr lang="en-AU" altLang="en-US" dirty="0"/>
              <a:t>Always take note of the </a:t>
            </a:r>
            <a:r>
              <a:rPr lang="en-AU" altLang="en-US" dirty="0">
                <a:solidFill>
                  <a:schemeClr val="tx2"/>
                </a:solidFill>
              </a:rPr>
              <a:t>page number</a:t>
            </a:r>
            <a:r>
              <a:rPr lang="en-AU" altLang="en-US" dirty="0"/>
              <a:t> </a:t>
            </a:r>
          </a:p>
          <a:p>
            <a:r>
              <a:rPr lang="en-AU" altLang="en-US" dirty="0"/>
              <a:t>Distinguish between </a:t>
            </a:r>
            <a:r>
              <a:rPr lang="en-AU" altLang="en-US" dirty="0">
                <a:solidFill>
                  <a:schemeClr val="tx2"/>
                </a:solidFill>
              </a:rPr>
              <a:t>information</a:t>
            </a:r>
            <a:r>
              <a:rPr lang="en-AU" altLang="en-US" dirty="0"/>
              <a:t> from the source, and your </a:t>
            </a:r>
            <a:r>
              <a:rPr lang="en-AU" altLang="en-US" dirty="0">
                <a:solidFill>
                  <a:schemeClr val="tx2"/>
                </a:solidFill>
              </a:rPr>
              <a:t>own thinking</a:t>
            </a:r>
          </a:p>
          <a:p>
            <a:r>
              <a:rPr lang="en-AU" altLang="en-US" dirty="0"/>
              <a:t>Be </a:t>
            </a:r>
            <a:r>
              <a:rPr lang="en-AU" altLang="en-US" dirty="0">
                <a:solidFill>
                  <a:schemeClr val="tx2"/>
                </a:solidFill>
              </a:rPr>
              <a:t>consistent!</a:t>
            </a:r>
            <a:r>
              <a:rPr lang="en-AU" altLang="en-US" dirty="0"/>
              <a:t> </a:t>
            </a:r>
          </a:p>
          <a:p>
            <a:r>
              <a:rPr lang="en-AU" altLang="en-US" dirty="0"/>
              <a:t>Follow the </a:t>
            </a:r>
            <a:r>
              <a:rPr lang="en-AU" altLang="en-US" dirty="0">
                <a:solidFill>
                  <a:schemeClr val="tx2"/>
                </a:solidFill>
              </a:rPr>
              <a:t>rules </a:t>
            </a:r>
            <a:r>
              <a:rPr lang="en-AU" altLang="en-US" dirty="0"/>
              <a:t>implicitly (don’t question why the system wants a colon and not a comma – </a:t>
            </a:r>
            <a:r>
              <a:rPr lang="en-AU" altLang="en-US" dirty="0">
                <a:solidFill>
                  <a:schemeClr val="tx2"/>
                </a:solidFill>
              </a:rPr>
              <a:t>just do it!</a:t>
            </a:r>
            <a:r>
              <a:rPr lang="en-AU" altLang="en-US" dirty="0"/>
              <a:t>)</a:t>
            </a:r>
          </a:p>
          <a:p>
            <a:r>
              <a:rPr lang="en-AU" altLang="en-US" dirty="0">
                <a:solidFill>
                  <a:schemeClr val="tx2"/>
                </a:solidFill>
              </a:rPr>
              <a:t>Check</a:t>
            </a:r>
            <a:r>
              <a:rPr lang="en-AU" altLang="en-US" dirty="0"/>
              <a:t> referencing before submitting</a:t>
            </a:r>
          </a:p>
        </p:txBody>
      </p:sp>
    </p:spTree>
    <p:extLst>
      <p:ext uri="{BB962C8B-B14F-4D97-AF65-F5344CB8AC3E}">
        <p14:creationId xmlns:p14="http://schemas.microsoft.com/office/powerpoint/2010/main" val="24620631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9302</TotalTime>
  <Words>1399</Words>
  <Application>Microsoft Office PowerPoint</Application>
  <PresentationFormat>Widescreen</PresentationFormat>
  <Paragraphs>162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等线</vt:lpstr>
      <vt:lpstr>Arial</vt:lpstr>
      <vt:lpstr>Arial Black</vt:lpstr>
      <vt:lpstr>Arial Rounded MT Bold</vt:lpstr>
      <vt:lpstr>Calibri</vt:lpstr>
      <vt:lpstr>Calibri Light</vt:lpstr>
      <vt:lpstr>Wingdings</vt:lpstr>
      <vt:lpstr>Office Theme</vt:lpstr>
      <vt:lpstr>Research Communication Skills</vt:lpstr>
      <vt:lpstr>Intended Learning Outcomes</vt:lpstr>
      <vt:lpstr>Referencing</vt:lpstr>
      <vt:lpstr>Why Reference?</vt:lpstr>
      <vt:lpstr>Why Reference?</vt:lpstr>
      <vt:lpstr>What should be referenced?</vt:lpstr>
      <vt:lpstr>Guiding principles</vt:lpstr>
      <vt:lpstr>What is common knowledge?</vt:lpstr>
      <vt:lpstr>HOW does one reference accurately</vt:lpstr>
      <vt:lpstr>Guidance from:</vt:lpstr>
      <vt:lpstr>Academic writing needs:</vt:lpstr>
      <vt:lpstr>Common requirements of all conventions</vt:lpstr>
      <vt:lpstr>References in the text  </vt:lpstr>
      <vt:lpstr>References in a list at the end of your work</vt:lpstr>
      <vt:lpstr>Basic referencing systems: in the text</vt:lpstr>
      <vt:lpstr>Is anything missing in the following text?</vt:lpstr>
      <vt:lpstr>Is anything missing in the following text?</vt:lpstr>
      <vt:lpstr>Missing?</vt:lpstr>
      <vt:lpstr>Is anything missing in the following text?</vt:lpstr>
      <vt:lpstr>Compiling the Reference List</vt:lpstr>
      <vt:lpstr>PowerPoint Presentation</vt:lpstr>
      <vt:lpstr>Exercise</vt:lpstr>
      <vt:lpstr>Write a reference to this paper:</vt:lpstr>
      <vt:lpstr>IEEE</vt:lpstr>
      <vt:lpstr>MLA</vt:lpstr>
      <vt:lpstr>APA</vt:lpstr>
      <vt:lpstr>CHICAGO</vt:lpstr>
      <vt:lpstr>Vancouver</vt:lpstr>
      <vt:lpstr>Necessary Information</vt:lpstr>
      <vt:lpstr>Basic Referencing Systems: Reference Lists</vt:lpstr>
      <vt:lpstr>Basic Referencing Systems: Reference Lists</vt:lpstr>
      <vt:lpstr>Using footnotes</vt:lpstr>
      <vt:lpstr>In-text references to websites</vt:lpstr>
      <vt:lpstr>Summary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378</cp:revision>
  <cp:lastPrinted>2019-09-03T08:34:37Z</cp:lastPrinted>
  <dcterms:created xsi:type="dcterms:W3CDTF">2014-08-14T09:54:55Z</dcterms:created>
  <dcterms:modified xsi:type="dcterms:W3CDTF">2025-11-19T07:12:21Z</dcterms:modified>
</cp:coreProperties>
</file>