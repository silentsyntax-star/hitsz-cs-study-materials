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936" r:id="rId2"/>
    <p:sldId id="1934" r:id="rId3"/>
    <p:sldId id="1935" r:id="rId4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0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66854-A23A-4E28-8283-9F2201DE1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task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622B24-EC60-4142-B046-621E6C4EF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Group work task 1A</a:t>
            </a:r>
          </a:p>
          <a:p>
            <a:r>
              <a:rPr lang="en-GB" dirty="0"/>
              <a:t>Group work task 1B</a:t>
            </a:r>
          </a:p>
        </p:txBody>
      </p:sp>
    </p:spTree>
    <p:extLst>
      <p:ext uri="{BB962C8B-B14F-4D97-AF65-F5344CB8AC3E}">
        <p14:creationId xmlns:p14="http://schemas.microsoft.com/office/powerpoint/2010/main" val="274429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task 1A submission details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Create a WeChat group</a:t>
            </a:r>
          </a:p>
          <a:p>
            <a:pPr lvl="1"/>
            <a:r>
              <a:rPr lang="en-GB" dirty="0"/>
              <a:t>Group name: </a:t>
            </a:r>
          </a:p>
          <a:p>
            <a:pPr lvl="2"/>
            <a:r>
              <a:rPr lang="en-GB" dirty="0">
                <a:solidFill>
                  <a:srgbClr val="FF0000"/>
                </a:solidFill>
              </a:rPr>
              <a:t>RCS1_2026</a:t>
            </a:r>
            <a:r>
              <a:rPr lang="zh-CN" altLang="en-US" dirty="0">
                <a:solidFill>
                  <a:srgbClr val="FF0000"/>
                </a:solidFill>
              </a:rPr>
              <a:t>秋季</a:t>
            </a:r>
            <a:endParaRPr lang="en-GB" dirty="0">
              <a:solidFill>
                <a:srgbClr val="FF0000"/>
              </a:solidFill>
            </a:endParaRPr>
          </a:p>
          <a:p>
            <a:pPr lvl="1"/>
            <a:r>
              <a:rPr lang="en-GB" dirty="0"/>
              <a:t>Group members:</a:t>
            </a:r>
          </a:p>
          <a:p>
            <a:pPr lvl="2"/>
            <a:r>
              <a:rPr lang="en-GB" dirty="0"/>
              <a:t>All students in your group (</a:t>
            </a:r>
            <a:r>
              <a:rPr lang="en-GB" dirty="0">
                <a:highlight>
                  <a:srgbClr val="00FF00"/>
                </a:highlight>
              </a:rPr>
              <a:t>the number of students in the group must be 10</a:t>
            </a:r>
            <a:r>
              <a:rPr lang="en-GB" dirty="0"/>
              <a:t>)  </a:t>
            </a:r>
          </a:p>
          <a:p>
            <a:pPr lvl="3"/>
            <a:r>
              <a:rPr lang="en-GB" dirty="0"/>
              <a:t>Each student in this WeChat group, please use this format for your name:</a:t>
            </a:r>
          </a:p>
          <a:p>
            <a:pPr lvl="4"/>
            <a:r>
              <a:rPr lang="en-GB" dirty="0">
                <a:highlight>
                  <a:srgbClr val="FFFF00"/>
                </a:highlight>
              </a:rPr>
              <a:t>student ID </a:t>
            </a:r>
            <a:r>
              <a:rPr lang="en-GB" dirty="0" err="1">
                <a:highlight>
                  <a:srgbClr val="FFFF00"/>
                </a:highlight>
              </a:rPr>
              <a:t>number_full</a:t>
            </a:r>
            <a:r>
              <a:rPr lang="en-GB" dirty="0">
                <a:highlight>
                  <a:srgbClr val="FFFF00"/>
                </a:highlight>
              </a:rPr>
              <a:t> name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Invite me to this group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Fill in this table and post it in the group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r>
              <a:rPr lang="en-GB" dirty="0"/>
              <a:t>Deadline: </a:t>
            </a:r>
            <a:r>
              <a:rPr lang="en-GB" dirty="0">
                <a:highlight>
                  <a:srgbClr val="FFFF00"/>
                </a:highlight>
              </a:rPr>
              <a:t>September 13</a:t>
            </a:r>
            <a:r>
              <a:rPr lang="en-GB" baseline="30000" dirty="0">
                <a:highlight>
                  <a:srgbClr val="FFFF00"/>
                </a:highlight>
              </a:rPr>
              <a:t>th</a:t>
            </a:r>
            <a:endParaRPr lang="en-GB" dirty="0">
              <a:highlight>
                <a:srgbClr val="FFFF00"/>
              </a:highlight>
            </a:endParaRPr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D8E0A68-FECA-419B-9A16-FC1E44262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986701"/>
              </p:ext>
            </p:extLst>
          </p:nvPr>
        </p:nvGraphicFramePr>
        <p:xfrm>
          <a:off x="7274845" y="3828370"/>
          <a:ext cx="4227023" cy="2483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832">
                  <a:extLst>
                    <a:ext uri="{9D8B030D-6E8A-4147-A177-3AD203B41FA5}">
                      <a16:colId xmlns:a16="http://schemas.microsoft.com/office/drawing/2014/main" val="2618616924"/>
                    </a:ext>
                  </a:extLst>
                </a:gridCol>
                <a:gridCol w="1794680">
                  <a:extLst>
                    <a:ext uri="{9D8B030D-6E8A-4147-A177-3AD203B41FA5}">
                      <a16:colId xmlns:a16="http://schemas.microsoft.com/office/drawing/2014/main" val="2969562626"/>
                    </a:ext>
                  </a:extLst>
                </a:gridCol>
                <a:gridCol w="2113511">
                  <a:extLst>
                    <a:ext uri="{9D8B030D-6E8A-4147-A177-3AD203B41FA5}">
                      <a16:colId xmlns:a16="http://schemas.microsoft.com/office/drawing/2014/main" val="987299573"/>
                    </a:ext>
                  </a:extLst>
                </a:gridCol>
              </a:tblGrid>
              <a:tr h="217873"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Student ID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Student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92059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905842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742544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24232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986141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423907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54974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9978168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021550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499236"/>
                  </a:ext>
                </a:extLst>
              </a:tr>
              <a:tr h="217873">
                <a:tc>
                  <a:txBody>
                    <a:bodyPr/>
                    <a:lstStyle/>
                    <a:p>
                      <a:r>
                        <a:rPr lang="en-GB" sz="8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5228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32FAD03-5D33-4D71-949A-47D6C4AE811D}"/>
              </a:ext>
            </a:extLst>
          </p:cNvPr>
          <p:cNvSpPr txBox="1"/>
          <p:nvPr/>
        </p:nvSpPr>
        <p:spPr>
          <a:xfrm>
            <a:off x="0" y="6304194"/>
            <a:ext cx="121237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>
                <a:solidFill>
                  <a:srgbClr val="FF0000"/>
                </a:solidFill>
                <a:highlight>
                  <a:srgbClr val="DFFCFD"/>
                </a:highlight>
              </a:rPr>
              <a:t>*** Failure to comply with any of the rules on this page will result in automatic rejection of the group. </a:t>
            </a:r>
          </a:p>
          <a:p>
            <a:pPr algn="ctr"/>
            <a:r>
              <a:rPr lang="en-GB" i="1" dirty="0">
                <a:solidFill>
                  <a:srgbClr val="FF0000"/>
                </a:solidFill>
                <a:highlight>
                  <a:srgbClr val="DFFCFD"/>
                </a:highlight>
              </a:rPr>
              <a:t>All members of that group will then be assigned randomly to other groups with vacancies ***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 work task 1B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After</a:t>
            </a:r>
            <a:r>
              <a:rPr lang="en-GB" dirty="0"/>
              <a:t> receiving confirmation from me</a:t>
            </a:r>
          </a:p>
          <a:p>
            <a:pPr lvl="1"/>
            <a:r>
              <a:rPr lang="en-GB" dirty="0"/>
              <a:t>Use the group number confirmed by me to change the WeChat group name to “Group number_RCS1_2026</a:t>
            </a:r>
            <a:r>
              <a:rPr lang="zh-CN" altLang="en-US" dirty="0"/>
              <a:t>秋季</a:t>
            </a:r>
            <a:r>
              <a:rPr lang="en-GB" dirty="0"/>
              <a:t>”; example:</a:t>
            </a:r>
          </a:p>
          <a:p>
            <a:pPr lvl="3"/>
            <a:r>
              <a:rPr lang="en-GB" dirty="0">
                <a:solidFill>
                  <a:srgbClr val="FF0000"/>
                </a:solidFill>
              </a:rPr>
              <a:t>15_ RCS1_2026</a:t>
            </a:r>
            <a:r>
              <a:rPr lang="zh-CN" altLang="en-US" dirty="0">
                <a:solidFill>
                  <a:srgbClr val="FF0000"/>
                </a:solidFill>
              </a:rPr>
              <a:t>秋季</a:t>
            </a:r>
            <a:endParaRPr lang="en-GB" dirty="0">
              <a:solidFill>
                <a:srgbClr val="FF0000"/>
              </a:solidFill>
            </a:endParaRPr>
          </a:p>
          <a:p>
            <a:pPr lvl="1"/>
            <a:r>
              <a:rPr lang="en-GB" dirty="0"/>
              <a:t>Post a document with the group information – </a:t>
            </a:r>
            <a:r>
              <a:rPr lang="en-GB" dirty="0">
                <a:highlight>
                  <a:srgbClr val="00FF00"/>
                </a:highlight>
              </a:rPr>
              <a:t>one submission per group</a:t>
            </a:r>
          </a:p>
          <a:p>
            <a:pPr lvl="2"/>
            <a:r>
              <a:rPr lang="en-GB" dirty="0"/>
              <a:t>1 file in a *.doc format</a:t>
            </a:r>
          </a:p>
          <a:p>
            <a:pPr lvl="3"/>
            <a:r>
              <a:rPr lang="en-GB" dirty="0"/>
              <a:t>File title</a:t>
            </a:r>
          </a:p>
          <a:p>
            <a:pPr lvl="4"/>
            <a:r>
              <a:rPr lang="en-GB" dirty="0"/>
              <a:t>Group number_RCS_grouptask1; example: </a:t>
            </a:r>
          </a:p>
          <a:p>
            <a:pPr lvl="5"/>
            <a:r>
              <a:rPr lang="en-GB" dirty="0">
                <a:solidFill>
                  <a:srgbClr val="FF0000"/>
                </a:solidFill>
              </a:rPr>
              <a:t>15_RCS1_grouptask1.doc</a:t>
            </a:r>
          </a:p>
          <a:p>
            <a:pPr lvl="3"/>
            <a:r>
              <a:rPr lang="en-GB" dirty="0"/>
              <a:t>Content</a:t>
            </a:r>
          </a:p>
          <a:p>
            <a:pPr lvl="4"/>
            <a:r>
              <a:rPr lang="en-GB" dirty="0"/>
              <a:t>Group member names and student numbers </a:t>
            </a:r>
          </a:p>
          <a:p>
            <a:r>
              <a:rPr lang="en-GB" dirty="0"/>
              <a:t>Deadline: </a:t>
            </a:r>
            <a:r>
              <a:rPr lang="en-GB" dirty="0">
                <a:highlight>
                  <a:srgbClr val="FFFF00"/>
                </a:highlight>
              </a:rPr>
              <a:t>September 16</a:t>
            </a:r>
            <a:r>
              <a:rPr lang="en-GB" baseline="30000" dirty="0">
                <a:highlight>
                  <a:srgbClr val="FFFF00"/>
                </a:highlight>
              </a:rPr>
              <a:t>th</a:t>
            </a:r>
            <a:r>
              <a:rPr lang="en-GB" dirty="0">
                <a:highlight>
                  <a:srgbClr val="FFFF00"/>
                </a:highlight>
              </a:rPr>
              <a:t>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9575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7252</TotalTime>
  <Words>226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Office Theme</vt:lpstr>
      <vt:lpstr>Group work task 1</vt:lpstr>
      <vt:lpstr>Group work task 1A submission details</vt:lpstr>
      <vt:lpstr>Group work task 1B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361</cp:revision>
  <cp:lastPrinted>2019-09-03T08:34:37Z</cp:lastPrinted>
  <dcterms:created xsi:type="dcterms:W3CDTF">2014-08-14T09:54:55Z</dcterms:created>
  <dcterms:modified xsi:type="dcterms:W3CDTF">2026-09-08T07:46:57Z</dcterms:modified>
</cp:coreProperties>
</file>