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990" r:id="rId2"/>
    <p:sldId id="1078" r:id="rId3"/>
    <p:sldId id="1020" r:id="rId4"/>
    <p:sldId id="1083" r:id="rId5"/>
    <p:sldId id="1102" r:id="rId6"/>
    <p:sldId id="1021" r:id="rId7"/>
    <p:sldId id="1022" r:id="rId8"/>
    <p:sldId id="1023" r:id="rId9"/>
    <p:sldId id="1024" r:id="rId10"/>
    <p:sldId id="1025" r:id="rId11"/>
    <p:sldId id="1089" r:id="rId12"/>
    <p:sldId id="1101" r:id="rId13"/>
    <p:sldId id="1082" r:id="rId14"/>
    <p:sldId id="991" r:id="rId15"/>
    <p:sldId id="1098" r:id="rId16"/>
    <p:sldId id="1100" r:id="rId17"/>
    <p:sldId id="1077" r:id="rId18"/>
    <p:sldId id="1096" r:id="rId19"/>
    <p:sldId id="1093" r:id="rId20"/>
    <p:sldId id="1081" r:id="rId21"/>
    <p:sldId id="1097" r:id="rId22"/>
    <p:sldId id="1079" r:id="rId23"/>
    <p:sldId id="1080" r:id="rId24"/>
    <p:sldId id="1085" r:id="rId25"/>
    <p:sldId id="1091" r:id="rId26"/>
    <p:sldId id="1059" r:id="rId27"/>
    <p:sldId id="1099" r:id="rId28"/>
  </p:sldIdLst>
  <p:sldSz cx="12192000" cy="6858000"/>
  <p:notesSz cx="6797675" cy="9929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4DDC"/>
    <a:srgbClr val="FAE2F9"/>
    <a:srgbClr val="DFFC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2001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60" y="3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79868-BDA9-4441-B20B-68D0617E5C8E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1CA833-6E71-4E0E-A695-7044B802CC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93987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66FD4-870D-41D4-A76E-DC48774E844B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8722"/>
            <a:ext cx="5438140" cy="3909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3B433F-8F9F-4754-B27A-D9BD2E9FA4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200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8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912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282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85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3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99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847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817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03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248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484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5E9AF5-9E42-4797-8204-53D663AF20F3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64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Research </a:t>
            </a:r>
            <a:r>
              <a:rPr lang="en-US"/>
              <a:t>Communication Skills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Reading papers and creating an overview </a:t>
            </a:r>
          </a:p>
        </p:txBody>
      </p:sp>
    </p:spTree>
    <p:extLst>
      <p:ext uri="{BB962C8B-B14F-4D97-AF65-F5344CB8AC3E}">
        <p14:creationId xmlns:p14="http://schemas.microsoft.com/office/powerpoint/2010/main" val="4206780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Objectives: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228600" lvl="1">
              <a:spcBef>
                <a:spcPts val="1000"/>
              </a:spcBef>
            </a:pPr>
            <a:r>
              <a:rPr lang="en-GB" sz="4000" dirty="0"/>
              <a:t>Build a categorized understanding of related works and synthesize that knowledge into a larger framework.</a:t>
            </a:r>
          </a:p>
          <a:p>
            <a:pPr lvl="1"/>
            <a:r>
              <a:rPr lang="en-GB" sz="3600" dirty="0"/>
              <a:t>Be able to identify relationships between papers in your chosen topic area.</a:t>
            </a:r>
          </a:p>
          <a:p>
            <a:pPr lvl="1"/>
            <a:r>
              <a:rPr lang="en-GB" sz="3600" dirty="0"/>
              <a:t>Be able to categorize and synthesize information from different papers.</a:t>
            </a:r>
          </a:p>
          <a:p>
            <a:pPr lvl="1"/>
            <a:r>
              <a:rPr lang="en-GB" sz="3600" dirty="0"/>
              <a:t>Be able to write a structured and well-organized survey paper.</a:t>
            </a:r>
          </a:p>
          <a:p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124321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Example</a:t>
            </a:r>
          </a:p>
        </p:txBody>
      </p:sp>
      <p:sp>
        <p:nvSpPr>
          <p:cNvPr id="337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58741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Warm up (10 minutes)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0688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Warm up – 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Focus on the related work description of the paper submitted to the group</a:t>
            </a:r>
          </a:p>
          <a:p>
            <a:r>
              <a:rPr lang="en-GB" dirty="0"/>
              <a:t>You can find relevant information in the introduction and related work sections</a:t>
            </a:r>
          </a:p>
          <a:p>
            <a:pPr>
              <a:buClr>
                <a:schemeClr val="tx1"/>
              </a:buClr>
            </a:pPr>
            <a:r>
              <a:rPr lang="en-GB" dirty="0"/>
              <a:t>Underline sentences where the following information is described:</a:t>
            </a:r>
          </a:p>
          <a:p>
            <a:pPr lvl="1">
              <a:buClr>
                <a:schemeClr val="tx1"/>
              </a:buClr>
            </a:pPr>
            <a:r>
              <a:rPr lang="en-GB" dirty="0"/>
              <a:t>A brief description of the paper’s relation to other works </a:t>
            </a:r>
          </a:p>
          <a:p>
            <a:pPr lvl="1">
              <a:buClr>
                <a:schemeClr val="tx1"/>
              </a:buClr>
            </a:pPr>
            <a:r>
              <a:rPr lang="en-GB" dirty="0"/>
              <a:t>Take note of how the authors categorize previous studies and what themes or areas they emphasize.</a:t>
            </a:r>
          </a:p>
          <a:p>
            <a:pPr lvl="1"/>
            <a:r>
              <a:rPr lang="en-GB" dirty="0"/>
              <a:t>“What categories or classifications did you find in the related work sections? How can they inform your own survey?”</a:t>
            </a:r>
          </a:p>
          <a:p>
            <a:r>
              <a:rPr lang="en-GB" dirty="0"/>
              <a:t>Output</a:t>
            </a:r>
          </a:p>
          <a:p>
            <a:pPr lvl="1"/>
            <a:r>
              <a:rPr lang="en-GB" dirty="0"/>
              <a:t>A list of identified categories or research areas</a:t>
            </a:r>
          </a:p>
        </p:txBody>
      </p:sp>
    </p:spTree>
    <p:extLst>
      <p:ext uri="{BB962C8B-B14F-4D97-AF65-F5344CB8AC3E}">
        <p14:creationId xmlns:p14="http://schemas.microsoft.com/office/powerpoint/2010/main" val="2306245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059" y="48999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GB" dirty="0"/>
              <a:t>LASEC: A Localized Approach to Service Composition in Pervasive Computing Environments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This paper proposes a localized approach to service composition in pervasive computing environments</a:t>
            </a:r>
          </a:p>
          <a:p>
            <a:r>
              <a:rPr lang="en-GB" sz="4000" dirty="0"/>
              <a:t>The related work section is organized from broadly related to most related</a:t>
            </a:r>
          </a:p>
        </p:txBody>
      </p:sp>
    </p:spTree>
    <p:extLst>
      <p:ext uri="{BB962C8B-B14F-4D97-AF65-F5344CB8AC3E}">
        <p14:creationId xmlns:p14="http://schemas.microsoft.com/office/powerpoint/2010/main" val="1461112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059" y="48999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GB" dirty="0"/>
              <a:t>LASEC: A Localized Approach to Service Composition in Pervasive Computing Environments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Service composition in different kinds of environments</a:t>
            </a:r>
          </a:p>
          <a:p>
            <a:r>
              <a:rPr lang="en-GB" sz="4000" dirty="0"/>
              <a:t>Approaches to composition in pervasive computing environments</a:t>
            </a:r>
          </a:p>
          <a:p>
            <a:r>
              <a:rPr lang="en-GB" sz="4000" dirty="0"/>
              <a:t>Motivate the need for localized solutions</a:t>
            </a:r>
          </a:p>
          <a:p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665722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8906" y="6348"/>
            <a:ext cx="7934325" cy="684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0629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42" y="195716"/>
            <a:ext cx="10590122" cy="6662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4913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9082" y="242579"/>
            <a:ext cx="7444052" cy="64503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1494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Taking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lvl="1">
              <a:spcBef>
                <a:spcPts val="1000"/>
              </a:spcBef>
            </a:pPr>
            <a:r>
              <a:rPr lang="en-GB" sz="4400" dirty="0"/>
              <a:t>A list of identified categories or research areas </a:t>
            </a:r>
          </a:p>
          <a:p>
            <a:pPr marL="228600" lvl="1">
              <a:spcBef>
                <a:spcPts val="1000"/>
              </a:spcBef>
            </a:pPr>
            <a:r>
              <a:rPr lang="en-GB" sz="4400" dirty="0"/>
              <a:t>Critically evaluate the strengths and limitations of each related work / groups of works</a:t>
            </a:r>
          </a:p>
        </p:txBody>
      </p:sp>
    </p:spTree>
    <p:extLst>
      <p:ext uri="{BB962C8B-B14F-4D97-AF65-F5344CB8AC3E}">
        <p14:creationId xmlns:p14="http://schemas.microsoft.com/office/powerpoint/2010/main" val="351441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Warm up –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sz="4000" dirty="0"/>
              <a:t>Extract and categorize the related work/introduction section into a </a:t>
            </a:r>
            <a:r>
              <a:rPr lang="en-GB" sz="4000" b="1" dirty="0"/>
              <a:t>tree structure</a:t>
            </a:r>
            <a:r>
              <a:rPr lang="en-GB" sz="4000" dirty="0"/>
              <a:t>, showing the relationships between the works cited.</a:t>
            </a:r>
          </a:p>
          <a:p>
            <a:r>
              <a:rPr lang="en-GB" sz="4000" dirty="0"/>
              <a:t>Focus on identifying </a:t>
            </a:r>
            <a:r>
              <a:rPr lang="en-GB" sz="4000" b="1" dirty="0"/>
              <a:t>high-level themes</a:t>
            </a:r>
            <a:r>
              <a:rPr lang="en-GB" sz="4000" dirty="0"/>
              <a:t>, subcategories, and the relationships between them (e.g., chronological progression, methodologies, subdomains, …)</a:t>
            </a:r>
          </a:p>
        </p:txBody>
      </p:sp>
    </p:spTree>
    <p:extLst>
      <p:ext uri="{BB962C8B-B14F-4D97-AF65-F5344CB8AC3E}">
        <p14:creationId xmlns:p14="http://schemas.microsoft.com/office/powerpoint/2010/main" val="1058177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Tree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1332" y="1037"/>
            <a:ext cx="6966662" cy="6857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2280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Please prepare your materials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4400" dirty="0"/>
              <a:t>Topic/survey title of your group</a:t>
            </a:r>
          </a:p>
          <a:p>
            <a:r>
              <a:rPr lang="en-GB" sz="4400" dirty="0"/>
              <a:t>Important papers related to your topic</a:t>
            </a:r>
          </a:p>
          <a:p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3178623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4400" dirty="0"/>
              <a:t>Please put your name and your group’s topic on the top of the worksheet and return it to me by the end of the class to get participation points</a:t>
            </a:r>
          </a:p>
        </p:txBody>
      </p:sp>
    </p:spTree>
    <p:extLst>
      <p:ext uri="{BB962C8B-B14F-4D97-AF65-F5344CB8AC3E}">
        <p14:creationId xmlns:p14="http://schemas.microsoft.com/office/powerpoint/2010/main" val="9938843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Warm up (10 minutes)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Focus on the related work description of 2-3 of your papers</a:t>
            </a:r>
          </a:p>
          <a:p>
            <a:pPr lvl="1"/>
            <a:r>
              <a:rPr lang="en-GB" dirty="0"/>
              <a:t>You can find relevant information in the introduction and related work sections</a:t>
            </a:r>
          </a:p>
          <a:p>
            <a:pPr>
              <a:buClr>
                <a:schemeClr val="tx1"/>
              </a:buClr>
            </a:pPr>
            <a:r>
              <a:rPr lang="en-GB" dirty="0"/>
              <a:t>For each paper, underline sentences where the following information is described:</a:t>
            </a:r>
          </a:p>
          <a:p>
            <a:pPr lvl="1">
              <a:buClr>
                <a:schemeClr val="tx1"/>
              </a:buClr>
            </a:pPr>
            <a:r>
              <a:rPr lang="en-GB" dirty="0"/>
              <a:t>A brief description of the paper’s relation to other works </a:t>
            </a:r>
          </a:p>
          <a:p>
            <a:pPr lvl="1">
              <a:buClr>
                <a:schemeClr val="tx1"/>
              </a:buClr>
            </a:pPr>
            <a:r>
              <a:rPr lang="en-GB" dirty="0"/>
              <a:t>Take note of how the authors categorize previous studies and what themes or areas they emphasize.</a:t>
            </a:r>
          </a:p>
          <a:p>
            <a:pPr lvl="1"/>
            <a:r>
              <a:rPr lang="en-GB" dirty="0"/>
              <a:t>“What categories or classifications did you find in the related work sections? How can they inform your own survey?”</a:t>
            </a:r>
          </a:p>
          <a:p>
            <a:r>
              <a:rPr lang="en-GB" dirty="0"/>
              <a:t>Output</a:t>
            </a:r>
          </a:p>
          <a:p>
            <a:pPr lvl="1"/>
            <a:r>
              <a:rPr lang="en-GB" dirty="0"/>
              <a:t>A list of identified categories or research areas</a:t>
            </a:r>
          </a:p>
        </p:txBody>
      </p:sp>
    </p:spTree>
    <p:extLst>
      <p:ext uri="{BB962C8B-B14F-4D97-AF65-F5344CB8AC3E}">
        <p14:creationId xmlns:p14="http://schemas.microsoft.com/office/powerpoint/2010/main" val="18064850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1 (30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sz="4000" dirty="0"/>
              <a:t>Choose a research paper from your set</a:t>
            </a:r>
          </a:p>
          <a:p>
            <a:pPr lvl="1"/>
            <a:r>
              <a:rPr lang="en-GB" sz="3600" dirty="0"/>
              <a:t>Extract and categorize the related work/introduction section into a </a:t>
            </a:r>
            <a:r>
              <a:rPr lang="en-GB" sz="3600" b="1" dirty="0"/>
              <a:t>tree structure</a:t>
            </a:r>
            <a:r>
              <a:rPr lang="en-GB" sz="3600" dirty="0"/>
              <a:t>, showing the relationships between the works cited.</a:t>
            </a:r>
          </a:p>
          <a:p>
            <a:pPr lvl="1"/>
            <a:r>
              <a:rPr lang="en-GB" sz="3600" dirty="0"/>
              <a:t>Focus on identifying </a:t>
            </a:r>
            <a:r>
              <a:rPr lang="en-GB" sz="3600" b="1" dirty="0"/>
              <a:t>high-level themes</a:t>
            </a:r>
            <a:r>
              <a:rPr lang="en-GB" sz="3600" dirty="0"/>
              <a:t>, subcategories, and the relationships between them (e.g., chronological progression, methodologies, subdomains, …)</a:t>
            </a:r>
          </a:p>
          <a:p>
            <a:r>
              <a:rPr lang="en-GB" sz="4000" dirty="0"/>
              <a:t>Pick other papers and build more trees</a:t>
            </a:r>
          </a:p>
        </p:txBody>
      </p:sp>
    </p:spTree>
    <p:extLst>
      <p:ext uri="{BB962C8B-B14F-4D97-AF65-F5344CB8AC3E}">
        <p14:creationId xmlns:p14="http://schemas.microsoft.com/office/powerpoint/2010/main" val="1700356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questions you might ask yourself when reading papers and categorizing them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2400" dirty="0"/>
              <a:t>which one of the 3-4 big research directions they tell?</a:t>
            </a:r>
          </a:p>
          <a:p>
            <a:r>
              <a:rPr lang="en-GB" sz="2400" dirty="0"/>
              <a:t>what approaches/mathematical techniques /algorithms etc they rely on?</a:t>
            </a:r>
            <a:endParaRPr lang="en-US" sz="2400" dirty="0"/>
          </a:p>
          <a:p>
            <a:r>
              <a:rPr lang="en-GB" sz="2400" dirty="0"/>
              <a:t>is this a theory or application paper?</a:t>
            </a:r>
          </a:p>
          <a:p>
            <a:r>
              <a:rPr lang="en-GB" sz="2400" dirty="0"/>
              <a:t>is it the continuation of another work? is it an improvement on another work? </a:t>
            </a:r>
          </a:p>
          <a:p>
            <a:r>
              <a:rPr lang="en-GB" sz="2400" dirty="0"/>
              <a:t>do they use theoretical proofs? simulation? hardware </a:t>
            </a:r>
            <a:r>
              <a:rPr lang="en-GB" sz="2400" dirty="0" err="1"/>
              <a:t>testbed</a:t>
            </a:r>
            <a:r>
              <a:rPr lang="en-GB" sz="2400" dirty="0"/>
              <a:t>? Real </a:t>
            </a:r>
            <a:r>
              <a:rPr lang="en-US" sz="2400" dirty="0"/>
              <a:t>life deployment?</a:t>
            </a:r>
          </a:p>
          <a:p>
            <a:r>
              <a:rPr lang="en-GB" sz="2400" dirty="0"/>
              <a:t>which other technology they compare themselves with? In which way are they better? Note: all the papers you will encounter are at least in some ways better than others. You need to identify the authors claim; higher performance (under certain assumptions)? higher robustness? </a:t>
            </a:r>
            <a:r>
              <a:rPr lang="en-US" sz="2400" dirty="0"/>
              <a:t>lower computational complexity?</a:t>
            </a:r>
          </a:p>
          <a:p>
            <a:r>
              <a:rPr lang="en-US" sz="2400" dirty="0"/>
              <a:t>…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482445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22465" y="353564"/>
          <a:ext cx="10515600" cy="594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9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64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9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Example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Example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Step 1: Identify Key Themes from the related work section</a:t>
                      </a:r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different algorithm families</a:t>
                      </a:r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monetary policy models, fiscal policy approaches, or trade theories.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01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Step 2: Place Major Branches in the tree corresponding to these themes</a:t>
                      </a:r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supervised learning, unsupervised learning</a:t>
                      </a:r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/>
                        <a:t>Keynesian Economics, Monetarism, and Supply-Side Economics.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Step 3: Add Sub-Branches for more specific topics</a:t>
                      </a:r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/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specific types </a:t>
                      </a:r>
                      <a:r>
                        <a:rPr lang="en-GB" dirty="0"/>
                        <a:t>of neural networks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/>
                        <a:t>Under Keynesian Economics, sub-branches could include short-term economic stabilization, government intervention in recessions, or public investment in infrastructure.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Step 4: Link Papers to Each Sub-Branch based on their 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papers on convolutional neural networks would go under that sub-branch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0" dirty="0"/>
                        <a:t>Papers that discuss government spending during recessions would fall under the sub-branch of government intervention in recessions, while papers that focus on public investment's long-term effects would fit under public investment in infrastructure.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00681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Task 2 (for the students who finished task 1 early)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4800" dirty="0"/>
              <a:t>Look for similarities, differences, and potential overlaps between the trees.</a:t>
            </a:r>
          </a:p>
          <a:p>
            <a:pPr marL="228600" lvl="1">
              <a:spcBef>
                <a:spcPts val="1000"/>
              </a:spcBef>
            </a:pPr>
            <a:r>
              <a:rPr lang="en-GB" sz="4800" dirty="0"/>
              <a:t>Could certain categories from one tree fit into another tree?</a:t>
            </a:r>
          </a:p>
          <a:p>
            <a:endParaRPr lang="en-GB" sz="4800" dirty="0"/>
          </a:p>
        </p:txBody>
      </p:sp>
    </p:spTree>
    <p:extLst>
      <p:ext uri="{BB962C8B-B14F-4D97-AF65-F5344CB8AC3E}">
        <p14:creationId xmlns:p14="http://schemas.microsoft.com/office/powerpoint/2010/main" val="26147116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Break time (5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6000" dirty="0"/>
              <a:t>Please sit together with your group after the break </a:t>
            </a:r>
          </a:p>
        </p:txBody>
      </p:sp>
    </p:spTree>
    <p:extLst>
      <p:ext uri="{BB962C8B-B14F-4D97-AF65-F5344CB8AC3E}">
        <p14:creationId xmlns:p14="http://schemas.microsoft.com/office/powerpoint/2010/main" val="9259010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Group Discussion (15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4000" dirty="0"/>
              <a:t>Compare the trees your group members built for their papers.</a:t>
            </a:r>
          </a:p>
          <a:p>
            <a:pPr lvl="1"/>
            <a:r>
              <a:rPr lang="en-GB" sz="3600" dirty="0"/>
              <a:t>Look for similarities, differences, and potential overlaps between the trees.</a:t>
            </a:r>
          </a:p>
          <a:p>
            <a:pPr lvl="2"/>
            <a:r>
              <a:rPr lang="en-GB" sz="3200" i="1" dirty="0"/>
              <a:t>“Why do you think these categories overlap?”</a:t>
            </a:r>
            <a:endParaRPr lang="en-GB" sz="3200" dirty="0"/>
          </a:p>
          <a:p>
            <a:pPr lvl="2"/>
            <a:r>
              <a:rPr lang="en-GB" sz="3200" i="1" dirty="0"/>
              <a:t>“What makes these two works fundamentally different?”</a:t>
            </a:r>
            <a:endParaRPr lang="en-GB" sz="3200" dirty="0"/>
          </a:p>
          <a:p>
            <a:pPr lvl="1"/>
            <a:r>
              <a:rPr lang="en-GB" sz="3600" dirty="0"/>
              <a:t>Discuss whether certain categories from one tree could fit into another tree and why.</a:t>
            </a:r>
          </a:p>
          <a:p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1165998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Group Task (30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sz="3600" dirty="0"/>
              <a:t>In the groups, work together to </a:t>
            </a:r>
            <a:r>
              <a:rPr lang="en-GB" sz="3600" b="1" dirty="0">
                <a:solidFill>
                  <a:srgbClr val="FF0000"/>
                </a:solidFill>
              </a:rPr>
              <a:t>merge</a:t>
            </a:r>
            <a:r>
              <a:rPr lang="en-GB" sz="3600" dirty="0"/>
              <a:t> your individual trees into one </a:t>
            </a:r>
            <a:r>
              <a:rPr lang="en-GB" sz="3600" b="1" dirty="0">
                <a:solidFill>
                  <a:srgbClr val="FF0000"/>
                </a:solidFill>
              </a:rPr>
              <a:t>larger, combined tree</a:t>
            </a:r>
            <a:r>
              <a:rPr lang="en-GB" sz="3600" dirty="0">
                <a:solidFill>
                  <a:srgbClr val="FF0000"/>
                </a:solidFill>
              </a:rPr>
              <a:t>.</a:t>
            </a:r>
          </a:p>
          <a:p>
            <a:pPr lvl="1"/>
            <a:r>
              <a:rPr lang="en-GB" sz="3200" dirty="0"/>
              <a:t>You may need to </a:t>
            </a:r>
            <a:r>
              <a:rPr lang="en-GB" sz="3200" b="1" dirty="0">
                <a:solidFill>
                  <a:srgbClr val="FF0000"/>
                </a:solidFill>
              </a:rPr>
              <a:t>rename</a:t>
            </a:r>
            <a:r>
              <a:rPr lang="en-GB" sz="3200" dirty="0"/>
              <a:t> categories, </a:t>
            </a:r>
            <a:r>
              <a:rPr lang="en-GB" sz="3200" b="1" dirty="0">
                <a:solidFill>
                  <a:srgbClr val="FF0000"/>
                </a:solidFill>
              </a:rPr>
              <a:t>merge branches</a:t>
            </a:r>
            <a:r>
              <a:rPr lang="en-GB" sz="3200" dirty="0"/>
              <a:t>, or </a:t>
            </a:r>
            <a:r>
              <a:rPr lang="en-GB" sz="3200" b="1" dirty="0">
                <a:solidFill>
                  <a:srgbClr val="FF0000"/>
                </a:solidFill>
              </a:rPr>
              <a:t>create new branches</a:t>
            </a:r>
            <a:r>
              <a:rPr lang="en-GB" sz="3200" dirty="0">
                <a:solidFill>
                  <a:srgbClr val="FF0000"/>
                </a:solidFill>
              </a:rPr>
              <a:t> </a:t>
            </a:r>
            <a:r>
              <a:rPr lang="en-GB" sz="3200" dirty="0"/>
              <a:t>that represent overarching concepts or themes.</a:t>
            </a:r>
          </a:p>
          <a:p>
            <a:pPr lvl="1"/>
            <a:r>
              <a:rPr lang="en-GB" sz="3200" dirty="0"/>
              <a:t>Provide clear labelling of categories and subcategories.</a:t>
            </a:r>
          </a:p>
          <a:p>
            <a:r>
              <a:rPr lang="en-GB" sz="3600" dirty="0"/>
              <a:t>Output: </a:t>
            </a:r>
          </a:p>
          <a:p>
            <a:pPr lvl="1"/>
            <a:r>
              <a:rPr lang="en-GB" sz="3200" dirty="0"/>
              <a:t>A big tree that synthesizes the literature from multiple papers.</a:t>
            </a:r>
          </a:p>
          <a:p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1382698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Expansion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sz="4800" dirty="0"/>
              <a:t>Continually refine and expand your categorization as you collect more papers</a:t>
            </a:r>
          </a:p>
          <a:p>
            <a:pPr lvl="1"/>
            <a:r>
              <a:rPr lang="en-GB" sz="4400" dirty="0"/>
              <a:t>“How would this paper fit into my tree?”</a:t>
            </a:r>
          </a:p>
          <a:p>
            <a:pPr lvl="1"/>
            <a:r>
              <a:rPr lang="en-GB" sz="4400" dirty="0"/>
              <a:t>“Is there any useful information in the introduction/related work section” of this paper that will help me improve my categorization?</a:t>
            </a:r>
          </a:p>
          <a:p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13273442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Expansion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Check your notes where you evaluated the strengths and limitations of each related work / groups of works</a:t>
            </a:r>
          </a:p>
          <a:p>
            <a:r>
              <a:rPr lang="en-GB" sz="4000" dirty="0"/>
              <a:t>Map this information to your tree</a:t>
            </a:r>
          </a:p>
          <a:p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9115063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The key skills you have learned</a:t>
            </a:r>
          </a:p>
          <a:p>
            <a:pPr lvl="1"/>
            <a:r>
              <a:rPr lang="en-GB" dirty="0"/>
              <a:t>Categorization</a:t>
            </a:r>
          </a:p>
          <a:p>
            <a:pPr lvl="1"/>
            <a:r>
              <a:rPr lang="en-GB" dirty="0"/>
              <a:t>Merging ideas</a:t>
            </a:r>
          </a:p>
          <a:p>
            <a:pPr lvl="1"/>
            <a:r>
              <a:rPr lang="en-GB" dirty="0"/>
              <a:t>Synthesis</a:t>
            </a:r>
          </a:p>
          <a:p>
            <a:r>
              <a:rPr lang="en-GB" dirty="0"/>
              <a:t>How this exercise will directly inform your survey paper writing</a:t>
            </a:r>
          </a:p>
          <a:p>
            <a:pPr lvl="1"/>
            <a:r>
              <a:rPr lang="en-GB" dirty="0"/>
              <a:t>Structuring your paper</a:t>
            </a:r>
          </a:p>
          <a:p>
            <a:pPr lvl="1"/>
            <a:r>
              <a:rPr lang="en-GB" dirty="0"/>
              <a:t>Organizing related works into themes</a:t>
            </a:r>
          </a:p>
          <a:p>
            <a:pPr lvl="1"/>
            <a:r>
              <a:rPr lang="en-GB" dirty="0"/>
              <a:t>Synthesizing ideas from multiple sources</a:t>
            </a:r>
          </a:p>
          <a:p>
            <a:r>
              <a:rPr lang="en-GB" dirty="0"/>
              <a:t>Next Steps</a:t>
            </a:r>
          </a:p>
          <a:p>
            <a:pPr lvl="1"/>
            <a:r>
              <a:rPr lang="en-GB" dirty="0"/>
              <a:t>Continue this process with your collected papers, expanding and refining your category trees as you gather more literature</a:t>
            </a:r>
          </a:p>
        </p:txBody>
      </p:sp>
    </p:spTree>
    <p:extLst>
      <p:ext uri="{BB962C8B-B14F-4D97-AF65-F5344CB8AC3E}">
        <p14:creationId xmlns:p14="http://schemas.microsoft.com/office/powerpoint/2010/main" val="26072253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0BE06-0801-447F-9723-240CC4DC7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Homework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325DE-2788-4A3E-BFAC-5BC285F81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5025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9687</TotalTime>
  <Words>1121</Words>
  <Application>Microsoft Office PowerPoint</Application>
  <PresentationFormat>Widescreen</PresentationFormat>
  <Paragraphs>108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等线</vt:lpstr>
      <vt:lpstr>Arial</vt:lpstr>
      <vt:lpstr>Calibri</vt:lpstr>
      <vt:lpstr>Calibri Light</vt:lpstr>
      <vt:lpstr>Office Theme</vt:lpstr>
      <vt:lpstr>Research Communication Skills</vt:lpstr>
      <vt:lpstr>Objectives:</vt:lpstr>
      <vt:lpstr>Example</vt:lpstr>
      <vt:lpstr>Warm up (10 minutes) </vt:lpstr>
      <vt:lpstr>Warm up – part 1</vt:lpstr>
      <vt:lpstr>LASEC: A Localized Approach to Service Composition in Pervasive Computing Environments </vt:lpstr>
      <vt:lpstr>LASEC: A Localized Approach to Service Composition in Pervasive Computing Environments </vt:lpstr>
      <vt:lpstr>PowerPoint Presentation</vt:lpstr>
      <vt:lpstr>PowerPoint Presentation</vt:lpstr>
      <vt:lpstr>PowerPoint Presentation</vt:lpstr>
      <vt:lpstr>Taking notes</vt:lpstr>
      <vt:lpstr>Warm up – part 2</vt:lpstr>
      <vt:lpstr>Tree example</vt:lpstr>
      <vt:lpstr>Please prepare your materials</vt:lpstr>
      <vt:lpstr>PowerPoint Presentation</vt:lpstr>
      <vt:lpstr>Warm up (10 minutes) </vt:lpstr>
      <vt:lpstr>Task 1 (30 minutes)</vt:lpstr>
      <vt:lpstr>Some questions you might ask yourself when reading papers and categorizing them </vt:lpstr>
      <vt:lpstr>PowerPoint Presentation</vt:lpstr>
      <vt:lpstr>Task 2 (for the students who finished task 1 early)</vt:lpstr>
      <vt:lpstr>Break time (5 minutes)</vt:lpstr>
      <vt:lpstr>Group Discussion (15 minutes)</vt:lpstr>
      <vt:lpstr>Group Task (30 minutes)</vt:lpstr>
      <vt:lpstr>Expansion 1</vt:lpstr>
      <vt:lpstr>Expansion 2</vt:lpstr>
      <vt:lpstr>Conclusion </vt:lpstr>
      <vt:lpstr>Homework 4</vt:lpstr>
    </vt:vector>
  </TitlesOfParts>
  <Company>HKPU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hkpuadmin</dc:creator>
  <cp:lastModifiedBy>Joanna Siebert</cp:lastModifiedBy>
  <cp:revision>425</cp:revision>
  <cp:lastPrinted>2019-09-03T08:34:37Z</cp:lastPrinted>
  <dcterms:created xsi:type="dcterms:W3CDTF">2014-08-14T09:54:55Z</dcterms:created>
  <dcterms:modified xsi:type="dcterms:W3CDTF">2026-09-24T04:39:01Z</dcterms:modified>
</cp:coreProperties>
</file>