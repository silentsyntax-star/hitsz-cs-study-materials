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handoutMasterIdLst>
    <p:handoutMasterId r:id="rId72"/>
  </p:handoutMasterIdLst>
  <p:sldIdLst>
    <p:sldId id="313" r:id="rId2"/>
    <p:sldId id="373" r:id="rId3"/>
    <p:sldId id="374" r:id="rId4"/>
    <p:sldId id="566" r:id="rId5"/>
    <p:sldId id="382" r:id="rId6"/>
    <p:sldId id="383" r:id="rId7"/>
    <p:sldId id="384" r:id="rId8"/>
    <p:sldId id="385" r:id="rId9"/>
    <p:sldId id="386" r:id="rId10"/>
    <p:sldId id="387" r:id="rId11"/>
    <p:sldId id="567" r:id="rId12"/>
    <p:sldId id="388" r:id="rId13"/>
    <p:sldId id="389" r:id="rId14"/>
    <p:sldId id="390" r:id="rId15"/>
    <p:sldId id="391" r:id="rId16"/>
    <p:sldId id="392" r:id="rId17"/>
    <p:sldId id="393" r:id="rId18"/>
    <p:sldId id="459" r:id="rId19"/>
    <p:sldId id="394" r:id="rId20"/>
    <p:sldId id="395" r:id="rId21"/>
    <p:sldId id="396" r:id="rId22"/>
    <p:sldId id="397" r:id="rId23"/>
    <p:sldId id="398" r:id="rId24"/>
    <p:sldId id="399" r:id="rId25"/>
    <p:sldId id="400" r:id="rId26"/>
    <p:sldId id="401" r:id="rId27"/>
    <p:sldId id="460" r:id="rId28"/>
    <p:sldId id="500" r:id="rId29"/>
    <p:sldId id="499" r:id="rId30"/>
    <p:sldId id="502" r:id="rId31"/>
    <p:sldId id="462" r:id="rId32"/>
    <p:sldId id="503" r:id="rId33"/>
    <p:sldId id="411" r:id="rId34"/>
    <p:sldId id="412" r:id="rId35"/>
    <p:sldId id="413" r:id="rId36"/>
    <p:sldId id="414" r:id="rId37"/>
    <p:sldId id="415" r:id="rId38"/>
    <p:sldId id="416" r:id="rId39"/>
    <p:sldId id="417" r:id="rId40"/>
    <p:sldId id="418" r:id="rId41"/>
    <p:sldId id="419" r:id="rId42"/>
    <p:sldId id="458" r:id="rId43"/>
    <p:sldId id="420" r:id="rId44"/>
    <p:sldId id="421" r:id="rId45"/>
    <p:sldId id="422" r:id="rId46"/>
    <p:sldId id="423" r:id="rId47"/>
    <p:sldId id="424" r:id="rId48"/>
    <p:sldId id="544" r:id="rId49"/>
    <p:sldId id="545" r:id="rId50"/>
    <p:sldId id="546" r:id="rId51"/>
    <p:sldId id="547" r:id="rId52"/>
    <p:sldId id="548" r:id="rId53"/>
    <p:sldId id="549" r:id="rId54"/>
    <p:sldId id="550" r:id="rId55"/>
    <p:sldId id="551" r:id="rId56"/>
    <p:sldId id="552" r:id="rId57"/>
    <p:sldId id="553" r:id="rId58"/>
    <p:sldId id="554" r:id="rId59"/>
    <p:sldId id="555" r:id="rId60"/>
    <p:sldId id="556" r:id="rId61"/>
    <p:sldId id="557" r:id="rId62"/>
    <p:sldId id="558" r:id="rId63"/>
    <p:sldId id="559" r:id="rId64"/>
    <p:sldId id="560" r:id="rId65"/>
    <p:sldId id="561" r:id="rId66"/>
    <p:sldId id="562" r:id="rId67"/>
    <p:sldId id="563" r:id="rId68"/>
    <p:sldId id="564" r:id="rId69"/>
    <p:sldId id="565" r:id="rId70"/>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autoAdjust="0"/>
    <p:restoredTop sz="94660"/>
  </p:normalViewPr>
  <p:slideViewPr>
    <p:cSldViewPr snapToGrid="0">
      <p:cViewPr varScale="1">
        <p:scale>
          <a:sx n="115" d="100"/>
          <a:sy n="115" d="100"/>
        </p:scale>
        <p:origin x="150" y="63"/>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wmf"/><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07/09/2026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2026/9/7</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68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5C1BD9-9C4B-4AFD-856D-5E54FC900C27}" type="slidenum">
              <a:rPr lang="zh-CN" altLang="en-US" smtClean="0"/>
              <a:t>6</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A203E5-26BF-4D3E-8409-AB63DC6B5DCC}"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68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5C1BD9-9C4B-4AFD-856D-5E54FC900C27}" type="slidenum">
              <a:rPr lang="zh-CN" altLang="en-US" smtClean="0"/>
              <a:t>14</a:t>
            </a:fld>
            <a:endParaRPr lang="zh-CN" altLang="en-US"/>
          </a:p>
        </p:txBody>
      </p:sp>
    </p:spTree>
    <p:extLst>
      <p:ext uri="{BB962C8B-B14F-4D97-AF65-F5344CB8AC3E}">
        <p14:creationId xmlns:p14="http://schemas.microsoft.com/office/powerpoint/2010/main" val="3553671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zh-CN" altLang="en-US" dirty="0"/>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A8943D-783C-494D-BB9D-787AA3382DBB}" type="slidenum">
              <a:rPr lang="zh-CN" altLang="en-US" smtClean="0"/>
              <a:t>15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8448E7-F42D-42C4-A164-5392A8DC3FD8}" type="slidenum">
              <a:rPr lang="zh-CN" altLang="en-US" smtClean="0"/>
              <a:t>16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7E8E53-FB47-4CBB-8CE0-B6A37821A0A1}" type="slidenum">
              <a:rPr lang="en-US" smtClean="0"/>
              <a:t>19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normAutofit/>
          </a:bodyPr>
          <a:lstStyle/>
          <a:p>
            <a:pPr>
              <a:defRPr/>
            </a:pPr>
            <a:endParaRPr lang="zh-CN" altLang="en-US" dirty="0"/>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82F8FA-A1A3-4272-8AAC-41E1C6119F73}" type="slidenum">
              <a:rPr lang="zh-CN" altLang="en-US" smtClean="0"/>
              <a:t>21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normAutofit/>
          </a:bodyPr>
          <a:lstStyle/>
          <a:p>
            <a:pPr>
              <a:defRPr/>
            </a:pPr>
            <a:endParaRPr lang="zh-CN" altLang="en-US" dirty="0"/>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82F8FA-A1A3-4272-8AAC-41E1C6119F73}" type="slidenum">
              <a:rPr lang="zh-CN" altLang="en-US" smtClean="0"/>
              <a:t>22</a:t>
            </a:fld>
            <a:endParaRPr lang="zh-CN" altLang="en-US"/>
          </a:p>
        </p:txBody>
      </p:sp>
    </p:spTree>
    <p:extLst>
      <p:ext uri="{BB962C8B-B14F-4D97-AF65-F5344CB8AC3E}">
        <p14:creationId xmlns:p14="http://schemas.microsoft.com/office/powerpoint/2010/main" val="2342413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60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EE7080-C3C8-4845-9DDD-1D13E7A5F281}" type="slidenum">
              <a:rPr lang="zh-CN" altLang="en-US" smtClean="0"/>
              <a:t>24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xfrm>
            <a:off x="381000" y="684213"/>
            <a:ext cx="6096000" cy="3429000"/>
          </a:xfrm>
          <a:ln/>
        </p:spPr>
      </p:sp>
      <p:sp>
        <p:nvSpPr>
          <p:cNvPr id="73731" name="Notes Placeholder 2"/>
          <p:cNvSpPr>
            <a:spLocks noGrp="1"/>
          </p:cNvSpPr>
          <p:nvPr>
            <p:ph type="body" idx="1"/>
          </p:nvPr>
        </p:nvSpPr>
        <p:spPr>
          <a:xfrm>
            <a:off x="687183" y="4345036"/>
            <a:ext cx="5483634" cy="4113982"/>
          </a:xfrm>
          <a:noFill/>
          <a:ln/>
        </p:spPr>
        <p:txBody>
          <a:bodyPr lIns="95701" tIns="47851" rIns="95701" bIns="47851"/>
          <a:lstStyle/>
          <a:p>
            <a:endParaRPr lang="zh-CN" altLang="en-US">
              <a:latin typeface="Arial" pitchFamily="34" charset="0"/>
            </a:endParaRPr>
          </a:p>
        </p:txBody>
      </p:sp>
      <p:sp>
        <p:nvSpPr>
          <p:cNvPr id="73732" name="Slide Number Placeholder 3"/>
          <p:cNvSpPr txBox="1">
            <a:spLocks noGrp="1"/>
          </p:cNvSpPr>
          <p:nvPr/>
        </p:nvSpPr>
        <p:spPr bwMode="auto">
          <a:xfrm>
            <a:off x="3884817" y="8683938"/>
            <a:ext cx="2972119" cy="458018"/>
          </a:xfrm>
          <a:prstGeom prst="rect">
            <a:avLst/>
          </a:prstGeom>
          <a:noFill/>
          <a:ln w="9525">
            <a:noFill/>
            <a:miter lim="800000"/>
            <a:headEnd/>
            <a:tailEnd/>
          </a:ln>
        </p:spPr>
        <p:txBody>
          <a:bodyPr lIns="95701" tIns="47851" rIns="95701" bIns="47851" anchor="b"/>
          <a:lstStyle/>
          <a:p>
            <a:pPr algn="r"/>
            <a:fld id="{D48EA0F8-B07A-4661-A69A-5ECFC63E355F}" type="slidenum">
              <a:rPr lang="zh-TW" altLang="en-US" sz="1300">
                <a:solidFill>
                  <a:schemeClr val="tx1"/>
                </a:solidFill>
                <a:latin typeface="Arial" pitchFamily="34" charset="0"/>
              </a:rPr>
              <a:pPr algn="r"/>
              <a:t>48</a:t>
            </a:fld>
            <a:endParaRPr lang="en-US" altLang="zh-TW" sz="1300">
              <a:solidFill>
                <a:schemeClr val="tx1"/>
              </a:solidFill>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11D05A29-C2AE-461C-A726-131BD42B0591}" type="slidenum">
              <a:rPr lang="zh-CN" altLang="en-US"/>
              <a:pPr/>
              <a:t>49</a:t>
            </a:fld>
            <a:endParaRPr lang="en-US" altLang="zh-CN"/>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zh-CN" alt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3171058E-924F-4CE4-BAAB-5B18A6733DE6}" type="slidenum">
              <a:rPr lang="zh-CN" altLang="en-US"/>
              <a:pPr/>
              <a:t>50</a:t>
            </a:fld>
            <a:endParaRPr lang="en-US" altLang="zh-CN"/>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zh-CN" altLang="en-US">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381000" y="684213"/>
            <a:ext cx="6096000" cy="3429000"/>
          </a:xfrm>
          <a:ln/>
        </p:spPr>
      </p:sp>
      <p:sp>
        <p:nvSpPr>
          <p:cNvPr id="70659" name="Notes Placeholder 2"/>
          <p:cNvSpPr>
            <a:spLocks noGrp="1"/>
          </p:cNvSpPr>
          <p:nvPr>
            <p:ph type="body" idx="1"/>
          </p:nvPr>
        </p:nvSpPr>
        <p:spPr>
          <a:xfrm>
            <a:off x="687183" y="4345036"/>
            <a:ext cx="5483634" cy="4113982"/>
          </a:xfrm>
          <a:noFill/>
          <a:ln/>
        </p:spPr>
        <p:txBody>
          <a:bodyPr lIns="95701" tIns="47851" rIns="95701" bIns="47851"/>
          <a:lstStyle/>
          <a:p>
            <a:pPr eaLnBrk="1" hangingPunct="1">
              <a:lnSpc>
                <a:spcPct val="90000"/>
              </a:lnSpc>
              <a:spcAft>
                <a:spcPct val="30000"/>
              </a:spcAft>
            </a:pPr>
            <a:r>
              <a:rPr lang="en-US" altLang="zh-CN">
                <a:latin typeface="Times New Roman" pitchFamily="18" charset="0"/>
                <a:cs typeface="Times New Roman" pitchFamily="18" charset="0"/>
              </a:rPr>
              <a:t>There are two key issues for …. The first issue is ………it may have…and also access contention is quite common. the other issue is………include…</a:t>
            </a:r>
          </a:p>
        </p:txBody>
      </p:sp>
      <p:sp>
        <p:nvSpPr>
          <p:cNvPr id="70660" name="Slide Number Placeholder 3"/>
          <p:cNvSpPr txBox="1">
            <a:spLocks noGrp="1"/>
          </p:cNvSpPr>
          <p:nvPr/>
        </p:nvSpPr>
        <p:spPr bwMode="auto">
          <a:xfrm>
            <a:off x="3884817" y="8683938"/>
            <a:ext cx="2972119" cy="458018"/>
          </a:xfrm>
          <a:prstGeom prst="rect">
            <a:avLst/>
          </a:prstGeom>
          <a:noFill/>
          <a:ln w="9525">
            <a:noFill/>
            <a:miter lim="800000"/>
            <a:headEnd/>
            <a:tailEnd/>
          </a:ln>
        </p:spPr>
        <p:txBody>
          <a:bodyPr lIns="95701" tIns="47851" rIns="95701" bIns="47851" anchor="b"/>
          <a:lstStyle/>
          <a:p>
            <a:pPr algn="r"/>
            <a:fld id="{D7BED8DF-FED1-4E34-A316-3CEF402D0BA8}" type="slidenum">
              <a:rPr lang="zh-TW" altLang="en-US" sz="1300">
                <a:solidFill>
                  <a:schemeClr val="tx1"/>
                </a:solidFill>
                <a:latin typeface="Arial" pitchFamily="34" charset="0"/>
              </a:rPr>
              <a:pPr algn="r"/>
              <a:t>52</a:t>
            </a:fld>
            <a:endParaRPr lang="en-US" altLang="zh-TW" sz="1300">
              <a:solidFill>
                <a:schemeClr val="tx1"/>
              </a:solidFill>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a:noFill/>
        </p:spPr>
        <p:txBody>
          <a:bodyPr/>
          <a:lstStyle/>
          <a:p>
            <a:fld id="{0F61A038-F994-4C82-8B5A-0125D37A3E2E}" type="slidenum">
              <a:rPr lang="zh-TW" altLang="en-US"/>
              <a:pPr/>
              <a:t>61</a:t>
            </a:fld>
            <a:endParaRPr lang="en-US" altLang="zh-TW"/>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p:cNvSpPr>
            <a:spLocks noGrp="1" noChangeArrowheads="1"/>
          </p:cNvSpPr>
          <p:nvPr>
            <p:ph type="sldNum" sz="quarter" idx="5"/>
          </p:nvPr>
        </p:nvSpPr>
        <p:spPr>
          <a:noFill/>
        </p:spPr>
        <p:txBody>
          <a:bodyPr/>
          <a:lstStyle/>
          <a:p>
            <a:fld id="{596CC9BF-1D5F-4B36-BB57-311CB887D60F}" type="slidenum">
              <a:rPr lang="zh-TW" altLang="en-US"/>
              <a:pPr/>
              <a:t>62</a:t>
            </a:fld>
            <a:endParaRPr lang="en-US" altLang="zh-TW"/>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a:noFill/>
        </p:spPr>
        <p:txBody>
          <a:bodyPr/>
          <a:lstStyle/>
          <a:p>
            <a:fld id="{E5B28127-62B2-4F5B-B7A4-FC14EA8472C9}" type="slidenum">
              <a:rPr lang="zh-TW" altLang="en-US"/>
              <a:pPr/>
              <a:t>63</a:t>
            </a:fld>
            <a:endParaRPr lang="en-US" altLang="zh-TW"/>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fld id="{D0DD7CCB-6326-49A5-9451-8451FB32C6B5}" type="slidenum">
              <a:rPr lang="zh-TW" altLang="en-US"/>
              <a:pPr/>
              <a:t>64</a:t>
            </a:fld>
            <a:endParaRPr lang="en-US" altLang="zh-TW"/>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1"/>
          <p:cNvSpPr>
            <a:spLocks noGrp="1" noChangeArrowheads="1"/>
          </p:cNvSpPr>
          <p:nvPr>
            <p:ph type="sldNum" sz="quarter" idx="5"/>
          </p:nvPr>
        </p:nvSpPr>
        <p:spPr>
          <a:noFill/>
        </p:spPr>
        <p:txBody>
          <a:bodyPr/>
          <a:lstStyle/>
          <a:p>
            <a:fld id="{608528E0-D4DA-495F-8FED-314016101D39}" type="slidenum">
              <a:rPr lang="zh-TW" altLang="en-US"/>
              <a:pPr/>
              <a:t>65</a:t>
            </a:fld>
            <a:endParaRPr lang="en-US" altLang="zh-TW"/>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1"/>
          <p:cNvSpPr>
            <a:spLocks noGrp="1" noChangeArrowheads="1"/>
          </p:cNvSpPr>
          <p:nvPr>
            <p:ph type="sldNum" sz="quarter" idx="5"/>
          </p:nvPr>
        </p:nvSpPr>
        <p:spPr>
          <a:noFill/>
        </p:spPr>
        <p:txBody>
          <a:bodyPr/>
          <a:lstStyle/>
          <a:p>
            <a:fld id="{C688A202-979B-46ED-9A6F-EE8CB31619F6}" type="slidenum">
              <a:rPr lang="zh-TW" altLang="en-US"/>
              <a:pPr/>
              <a:t>66</a:t>
            </a:fld>
            <a:endParaRPr lang="en-US" altLang="zh-TW"/>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a:noFill/>
        </p:spPr>
        <p:txBody>
          <a:bodyPr/>
          <a:lstStyle/>
          <a:p>
            <a:fld id="{26A08021-1F81-47EB-B4D7-63BCF3ADC74B}" type="slidenum">
              <a:rPr lang="zh-TW" altLang="en-US"/>
              <a:pPr/>
              <a:t>67</a:t>
            </a:fld>
            <a:endParaRPr lang="en-US" altLang="zh-TW"/>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31"/>
          <p:cNvSpPr>
            <a:spLocks noGrp="1" noChangeArrowheads="1"/>
          </p:cNvSpPr>
          <p:nvPr>
            <p:ph type="sldNum" sz="quarter" idx="5"/>
          </p:nvPr>
        </p:nvSpPr>
        <p:spPr>
          <a:noFill/>
        </p:spPr>
        <p:txBody>
          <a:bodyPr/>
          <a:lstStyle/>
          <a:p>
            <a:fld id="{82E67EC0-073C-4DF3-8E27-91BD84B562A0}" type="slidenum">
              <a:rPr lang="zh-TW" altLang="en-US"/>
              <a:pPr/>
              <a:t>68</a:t>
            </a:fld>
            <a:endParaRPr lang="en-US" altLang="zh-TW"/>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p:cNvSpPr>
            <a:spLocks noGrp="1" noChangeArrowheads="1"/>
          </p:cNvSpPr>
          <p:nvPr>
            <p:ph type="sldNum" sz="quarter" idx="5"/>
          </p:nvPr>
        </p:nvSpPr>
        <p:spPr>
          <a:noFill/>
        </p:spPr>
        <p:txBody>
          <a:bodyPr/>
          <a:lstStyle/>
          <a:p>
            <a:fld id="{9ABE1BBD-A80A-4F33-B29E-F42D0AF75C68}" type="slidenum">
              <a:rPr lang="zh-TW" altLang="en-US"/>
              <a:pPr/>
              <a:t>69</a:t>
            </a:fld>
            <a:endParaRPr lang="en-US" altLang="zh-TW"/>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685056" y="4342991"/>
            <a:ext cx="5487889" cy="4116027"/>
          </a:xfrm>
          <a:noFill/>
          <a:ln/>
        </p:spPr>
        <p:txBody>
          <a:bodyPr/>
          <a:lstStyle/>
          <a:p>
            <a:endParaRPr lang="zh-TW"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Title 1"/>
          <p:cNvSpPr>
            <a:spLocks noGrp="1"/>
          </p:cNvSpPr>
          <p:nvPr>
            <p:ph type="title"/>
          </p:nvPr>
        </p:nvSpPr>
        <p:spPr>
          <a:xfrm>
            <a:off x="838201" y="365128"/>
            <a:ext cx="7586929" cy="524107"/>
          </a:xfrm>
        </p:spPr>
        <p:txBody>
          <a:bodyPr>
            <a:noAutofit/>
          </a:bodyPr>
          <a:lstStyle>
            <a:lvl1pPr>
              <a:defRPr sz="32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51121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9/7/2026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2.jpeg"/><Relationship Id="rId7"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google.com.hk/url?sa=i&amp;rct=j&amp;q=&amp;esrc=s&amp;source=images&amp;cd=&amp;ved=2ahUKEwjMvMfUgbbkAhU7zIsBHQwGCWoQjRx6BAgBEAQ&amp;url=https://clipartix.com/fridge-clipart/&amp;psig=AOvVaw25YWxCHLAnvEbDoJxmwMQ5&amp;ust=1567646660910595" TargetMode="External"/><Relationship Id="rId5"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tiot.acm.org/" TargetMode="External"/><Relationship Id="rId2" Type="http://schemas.openxmlformats.org/officeDocument/2006/relationships/hyperlink" Target="http://ieee-iotj.or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23.emf"/><Relationship Id="rId4"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23.emf"/><Relationship Id="rId4" Type="http://schemas.openxmlformats.org/officeDocument/2006/relationships/oleObject" Target="../embeddings/oleObject2.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9.png"/></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39.png"/></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7611" y="1423568"/>
            <a:ext cx="10906298" cy="1790700"/>
          </a:xfrm>
        </p:spPr>
        <p:txBody>
          <a:bodyPr>
            <a:noAutofit/>
          </a:bodyPr>
          <a:lstStyle/>
          <a:p>
            <a:r>
              <a:rPr lang="en-US" sz="6600" dirty="0"/>
              <a:t>Research Communication Skills</a:t>
            </a:r>
          </a:p>
        </p:txBody>
      </p:sp>
      <p:sp>
        <p:nvSpPr>
          <p:cNvPr id="4" name="Subtitle 3"/>
          <p:cNvSpPr>
            <a:spLocks noGrp="1"/>
          </p:cNvSpPr>
          <p:nvPr>
            <p:ph type="subTitle" idx="1"/>
          </p:nvPr>
        </p:nvSpPr>
        <p:spPr/>
        <p:txBody>
          <a:bodyPr/>
          <a:lstStyle/>
          <a:p>
            <a:r>
              <a:rPr lang="en-US" dirty="0" err="1"/>
              <a:t>IoT</a:t>
            </a:r>
            <a:r>
              <a:rPr lang="en-US" dirty="0"/>
              <a:t> Research Background</a:t>
            </a:r>
          </a:p>
          <a:p>
            <a:endParaRPr lang="en-GB" dirty="0"/>
          </a:p>
        </p:txBody>
      </p:sp>
    </p:spTree>
    <p:extLst>
      <p:ext uri="{BB962C8B-B14F-4D97-AF65-F5344CB8AC3E}">
        <p14:creationId xmlns:p14="http://schemas.microsoft.com/office/powerpoint/2010/main" val="4210456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a:t>Intended Learning Outcomes</a:t>
            </a:r>
          </a:p>
        </p:txBody>
      </p:sp>
      <p:sp>
        <p:nvSpPr>
          <p:cNvPr id="3" name="内容占位符 2"/>
          <p:cNvSpPr>
            <a:spLocks noGrp="1"/>
          </p:cNvSpPr>
          <p:nvPr>
            <p:ph idx="1"/>
          </p:nvPr>
        </p:nvSpPr>
        <p:spPr/>
        <p:txBody>
          <a:bodyPr/>
          <a:lstStyle/>
          <a:p>
            <a:r>
              <a:rPr lang="en-GB" sz="4000" dirty="0"/>
              <a:t>By the end of this lesson you will be able to:</a:t>
            </a:r>
          </a:p>
          <a:p>
            <a:pPr lvl="1"/>
            <a:r>
              <a:rPr lang="en-GB" sz="3600" dirty="0"/>
              <a:t>describe a background of IoT research </a:t>
            </a:r>
          </a:p>
          <a:p>
            <a:pPr lvl="1"/>
            <a:r>
              <a:rPr lang="en-GB" sz="3600" dirty="0"/>
              <a:t>find research papers about IoT</a:t>
            </a:r>
          </a:p>
          <a:p>
            <a:pPr lvl="1"/>
            <a:r>
              <a:rPr lang="en-GB" sz="3600" dirty="0"/>
              <a:t>find research papers in your own research area</a:t>
            </a:r>
          </a:p>
          <a:p>
            <a:endParaRPr lang="en-GB" dirty="0"/>
          </a:p>
        </p:txBody>
      </p:sp>
    </p:spTree>
    <p:extLst>
      <p:ext uri="{BB962C8B-B14F-4D97-AF65-F5344CB8AC3E}">
        <p14:creationId xmlns:p14="http://schemas.microsoft.com/office/powerpoint/2010/main" val="115656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sz="3600" dirty="0"/>
              <a:t>IoT Background</a:t>
            </a:r>
          </a:p>
          <a:p>
            <a:r>
              <a:rPr lang="en-US" sz="3600" dirty="0"/>
              <a:t>IoT Challenges </a:t>
            </a:r>
          </a:p>
          <a:p>
            <a:r>
              <a:rPr lang="en-US" sz="3600" dirty="0"/>
              <a:t>IoT Research Fields</a:t>
            </a:r>
          </a:p>
          <a:p>
            <a:r>
              <a:rPr lang="en-US" sz="3600" dirty="0"/>
              <a:t>IoT Journals and Conferences </a:t>
            </a:r>
          </a:p>
          <a:p>
            <a:endParaRPr lang="en-US" sz="3600" dirty="0"/>
          </a:p>
          <a:p>
            <a:endParaRPr lang="en-US" sz="3600" dirty="0"/>
          </a:p>
        </p:txBody>
      </p:sp>
    </p:spTree>
    <p:extLst>
      <p:ext uri="{BB962C8B-B14F-4D97-AF65-F5344CB8AC3E}">
        <p14:creationId xmlns:p14="http://schemas.microsoft.com/office/powerpoint/2010/main" val="2579424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a:t>Intended Learning Outcomes</a:t>
            </a:r>
          </a:p>
        </p:txBody>
      </p:sp>
      <p:sp>
        <p:nvSpPr>
          <p:cNvPr id="3" name="内容占位符 2"/>
          <p:cNvSpPr>
            <a:spLocks noGrp="1"/>
          </p:cNvSpPr>
          <p:nvPr>
            <p:ph idx="1"/>
          </p:nvPr>
        </p:nvSpPr>
        <p:spPr/>
        <p:txBody>
          <a:bodyPr/>
          <a:lstStyle/>
          <a:p>
            <a:r>
              <a:rPr lang="en-GB" sz="4000" dirty="0"/>
              <a:t>By the end of this lesson you will be able to:</a:t>
            </a:r>
          </a:p>
          <a:p>
            <a:pPr lvl="1"/>
            <a:r>
              <a:rPr lang="en-GB" sz="3600" dirty="0"/>
              <a:t>describe a background of IoT research </a:t>
            </a:r>
          </a:p>
          <a:p>
            <a:pPr lvl="1"/>
            <a:r>
              <a:rPr lang="en-GB" sz="3600" dirty="0"/>
              <a:t>find research papers about IoT</a:t>
            </a:r>
          </a:p>
          <a:p>
            <a:pPr lvl="1"/>
            <a:r>
              <a:rPr lang="en-GB" sz="3600" dirty="0"/>
              <a:t>find research papers in your own research area</a:t>
            </a:r>
          </a:p>
          <a:p>
            <a:endParaRPr lang="en-GB" dirty="0"/>
          </a:p>
        </p:txBody>
      </p:sp>
    </p:spTree>
    <p:extLst>
      <p:ext uri="{BB962C8B-B14F-4D97-AF65-F5344CB8AC3E}">
        <p14:creationId xmlns:p14="http://schemas.microsoft.com/office/powerpoint/2010/main" val="409796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55" y="531843"/>
            <a:ext cx="10877145" cy="4351338"/>
          </a:xfrm>
        </p:spPr>
        <p:txBody>
          <a:bodyPr vert="horz" lIns="91440" tIns="45720" rIns="91440" bIns="45720" rtlCol="0">
            <a:normAutofit/>
          </a:bodyPr>
          <a:lstStyle/>
          <a:p>
            <a:r>
              <a:rPr lang="en-US" sz="3200" dirty="0"/>
              <a:t>The Internet of Things (IoT) is the </a:t>
            </a:r>
            <a:r>
              <a:rPr lang="en-US" sz="3200" dirty="0">
                <a:solidFill>
                  <a:srgbClr val="FF0000"/>
                </a:solidFill>
              </a:rPr>
              <a:t>network of physical objects</a:t>
            </a:r>
            <a:r>
              <a:rPr lang="en-US" sz="3200" dirty="0"/>
              <a:t>—devices, vehicles, buildings and other items </a:t>
            </a:r>
            <a:r>
              <a:rPr lang="en-US" sz="3200" dirty="0">
                <a:solidFill>
                  <a:srgbClr val="00B050"/>
                </a:solidFill>
              </a:rPr>
              <a:t>embedded with electronics, software, sensors, and network connectivity</a:t>
            </a:r>
            <a:r>
              <a:rPr lang="en-US" sz="3200" dirty="0"/>
              <a:t>—that enables these objects to </a:t>
            </a:r>
            <a:r>
              <a:rPr lang="en-US" sz="3200" dirty="0">
                <a:solidFill>
                  <a:srgbClr val="FF0000"/>
                </a:solidFill>
              </a:rPr>
              <a:t>collect and exchange data.</a:t>
            </a:r>
          </a:p>
          <a:p>
            <a:endParaRPr lang="en-US" sz="3200" dirty="0"/>
          </a:p>
        </p:txBody>
      </p:sp>
      <p:pic>
        <p:nvPicPr>
          <p:cNvPr id="4" name="Content Placeholder 4" descr="A picture containing furniture, seat, table&#10;&#10;Description automatically generated">
            <a:extLst>
              <a:ext uri="{FF2B5EF4-FFF2-40B4-BE49-F238E27FC236}">
                <a16:creationId xmlns:a16="http://schemas.microsoft.com/office/drawing/2014/main" id="{FFB68255-3A51-4526-A832-F4F4683BBF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3836" y="3508189"/>
            <a:ext cx="2838349" cy="2420481"/>
          </a:xfrm>
          <a:prstGeom prst="rect">
            <a:avLst/>
          </a:prstGeom>
        </p:spPr>
      </p:pic>
      <p:pic>
        <p:nvPicPr>
          <p:cNvPr id="5" name="Picture 4">
            <a:extLst>
              <a:ext uri="{FF2B5EF4-FFF2-40B4-BE49-F238E27FC236}">
                <a16:creationId xmlns:a16="http://schemas.microsoft.com/office/drawing/2014/main" id="{826BBE27-5B40-400A-ADE2-57D82BEFDC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42" y="4358685"/>
            <a:ext cx="3106073" cy="2326178"/>
          </a:xfrm>
          <a:prstGeom prst="rect">
            <a:avLst/>
          </a:prstGeom>
        </p:spPr>
      </p:pic>
      <p:pic>
        <p:nvPicPr>
          <p:cNvPr id="6" name="Picture 5">
            <a:extLst>
              <a:ext uri="{FF2B5EF4-FFF2-40B4-BE49-F238E27FC236}">
                <a16:creationId xmlns:a16="http://schemas.microsoft.com/office/drawing/2014/main" id="{1E274852-5F10-409C-8E36-2AEF0C4A43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33726" y="5367636"/>
            <a:ext cx="947905" cy="1144695"/>
          </a:xfrm>
          <a:prstGeom prst="rect">
            <a:avLst/>
          </a:prstGeom>
        </p:spPr>
      </p:pic>
      <p:pic>
        <p:nvPicPr>
          <p:cNvPr id="7" name="Picture 6">
            <a:extLst>
              <a:ext uri="{FF2B5EF4-FFF2-40B4-BE49-F238E27FC236}">
                <a16:creationId xmlns:a16="http://schemas.microsoft.com/office/drawing/2014/main" id="{B609350E-5E40-4CD8-8DC2-449699F9EF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4307" y="2840043"/>
            <a:ext cx="1497653" cy="1248044"/>
          </a:xfrm>
          <a:prstGeom prst="rect">
            <a:avLst/>
          </a:prstGeom>
        </p:spPr>
      </p:pic>
      <p:pic>
        <p:nvPicPr>
          <p:cNvPr id="8" name="Picture 2" descr="Image result for refrigerator clipart">
            <a:hlinkClick r:id="rId6"/>
            <a:extLst>
              <a:ext uri="{FF2B5EF4-FFF2-40B4-BE49-F238E27FC236}">
                <a16:creationId xmlns:a16="http://schemas.microsoft.com/office/drawing/2014/main" id="{F2D29515-A7FC-4098-A575-ABFA0EBC10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8515" y="4185916"/>
            <a:ext cx="2765169" cy="24658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close up of a toy&#10;&#10;Description automatically generated">
            <a:extLst>
              <a:ext uri="{FF2B5EF4-FFF2-40B4-BE49-F238E27FC236}">
                <a16:creationId xmlns:a16="http://schemas.microsoft.com/office/drawing/2014/main" id="{967877C0-495C-4C3F-92A0-F9F01D9EE8C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52546" y="2972460"/>
            <a:ext cx="1401723" cy="3063875"/>
          </a:xfrm>
          <a:prstGeom prst="rect">
            <a:avLst/>
          </a:prstGeom>
        </p:spPr>
      </p:pic>
    </p:spTree>
    <p:extLst>
      <p:ext uri="{BB962C8B-B14F-4D97-AF65-F5344CB8AC3E}">
        <p14:creationId xmlns:p14="http://schemas.microsoft.com/office/powerpoint/2010/main" val="110956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5"/>
          <p:cNvSpPr>
            <a:spLocks noGrp="1" noChangeArrowheads="1"/>
          </p:cNvSpPr>
          <p:nvPr>
            <p:ph type="title"/>
          </p:nvPr>
        </p:nvSpPr>
        <p:spPr/>
        <p:txBody>
          <a:bodyPr/>
          <a:lstStyle/>
          <a:p>
            <a:pPr eaLnBrk="1" hangingPunct="1">
              <a:defRPr/>
            </a:pPr>
            <a:r>
              <a:rPr lang="en-US" altLang="zh-CN" sz="4000" dirty="0">
                <a:ea typeface="宋体" panose="02010600030101010101" pitchFamily="2" charset="-122"/>
              </a:rPr>
              <a:t>What’s the Internet of Things - History</a:t>
            </a:r>
          </a:p>
        </p:txBody>
      </p:sp>
      <p:sp>
        <p:nvSpPr>
          <p:cNvPr id="7171" name="Rectangle 6"/>
          <p:cNvSpPr>
            <a:spLocks noGrp="1" noChangeArrowheads="1"/>
          </p:cNvSpPr>
          <p:nvPr>
            <p:ph idx="1"/>
          </p:nvPr>
        </p:nvSpPr>
        <p:spPr/>
        <p:txBody>
          <a:bodyPr vert="horz" lIns="91440" tIns="45720" rIns="91440" bIns="45720" rtlCol="0">
            <a:normAutofit fontScale="92500" lnSpcReduction="10000"/>
          </a:bodyPr>
          <a:lstStyle/>
          <a:p>
            <a:r>
              <a:rPr lang="en-US" altLang="zh-CN" sz="3300" dirty="0"/>
              <a:t>1997, “The Internet of Things” is the seventh in the series of ITU 	  Internet Reports originally launched in 1997 under the title “Challenges to the Network”.</a:t>
            </a:r>
          </a:p>
          <a:p>
            <a:r>
              <a:rPr lang="en-US" altLang="zh-CN" sz="3300" dirty="0"/>
              <a:t>1999, Auto-ID Center founded in MIT</a:t>
            </a:r>
          </a:p>
          <a:p>
            <a:r>
              <a:rPr lang="en-US" altLang="zh-CN" sz="3300" dirty="0"/>
              <a:t>2003, EPC Global founded in MIT</a:t>
            </a:r>
          </a:p>
          <a:p>
            <a:r>
              <a:rPr lang="en-US" altLang="zh-CN" sz="3300" dirty="0"/>
              <a:t>2005, Four important technologies of the internet of things was proposed in WSIS conference.</a:t>
            </a:r>
          </a:p>
          <a:p>
            <a:r>
              <a:rPr lang="en-US" altLang="zh-CN" sz="3300" dirty="0"/>
              <a:t>2008, First international conference of internet of things: “The IOT 2008” was held at Zurich.</a:t>
            </a:r>
          </a:p>
        </p:txBody>
      </p:sp>
    </p:spTree>
    <p:extLst>
      <p:ext uri="{BB962C8B-B14F-4D97-AF65-F5344CB8AC3E}">
        <p14:creationId xmlns:p14="http://schemas.microsoft.com/office/powerpoint/2010/main" val="1500104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5"/>
          <p:cNvSpPr>
            <a:spLocks noGrp="1" noChangeArrowheads="1"/>
          </p:cNvSpPr>
          <p:nvPr>
            <p:ph type="title"/>
          </p:nvPr>
        </p:nvSpPr>
        <p:spPr/>
        <p:txBody>
          <a:bodyPr/>
          <a:lstStyle/>
          <a:p>
            <a:pPr eaLnBrk="1" hangingPunct="1">
              <a:defRPr/>
            </a:pPr>
            <a:r>
              <a:rPr lang="en-US" altLang="zh-CN" sz="4000" dirty="0">
                <a:ea typeface="宋体" panose="02010600030101010101" pitchFamily="2" charset="-122"/>
              </a:rPr>
              <a:t>What’s the Internet of Things</a:t>
            </a:r>
          </a:p>
        </p:txBody>
      </p:sp>
      <p:pic>
        <p:nvPicPr>
          <p:cNvPr id="8195" name="图片 5" descr="A new dimension.bmp"/>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1049" y="2013591"/>
            <a:ext cx="5708319" cy="412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 Box 97"/>
          <p:cNvSpPr txBox="1">
            <a:spLocks noChangeArrowheads="1"/>
          </p:cNvSpPr>
          <p:nvPr/>
        </p:nvSpPr>
        <p:spPr bwMode="auto">
          <a:xfrm>
            <a:off x="838200" y="2563958"/>
            <a:ext cx="386188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mn-lt"/>
                <a:ea typeface="宋体" panose="02010600030101010101" pitchFamily="2" charset="-122"/>
              </a:rPr>
              <a:t>From any time, any place connectivity for anyone, we will now have connectivity for anything!</a:t>
            </a:r>
          </a:p>
        </p:txBody>
      </p:sp>
    </p:spTree>
    <p:extLst>
      <p:ext uri="{BB962C8B-B14F-4D97-AF65-F5344CB8AC3E}">
        <p14:creationId xmlns:p14="http://schemas.microsoft.com/office/powerpoint/2010/main" val="1599648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Things Connected: </a:t>
            </a:r>
            <a:r>
              <a:rPr lang="en-US" sz="2800" dirty="0"/>
              <a:t>communication between physical world and information world</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1828801"/>
            <a:ext cx="6840212" cy="4198666"/>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309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of IoT Architecture</a:t>
            </a:r>
          </a:p>
        </p:txBody>
      </p:sp>
      <p:sp>
        <p:nvSpPr>
          <p:cNvPr id="3" name="Content Placeholder 2"/>
          <p:cNvSpPr>
            <a:spLocks noGrp="1"/>
          </p:cNvSpPr>
          <p:nvPr>
            <p:ph idx="1"/>
          </p:nvPr>
        </p:nvSpPr>
        <p:spPr/>
        <p:txBody>
          <a:bodyPr>
            <a:normAutofit/>
          </a:bodyPr>
          <a:lstStyle/>
          <a:p>
            <a:r>
              <a:rPr lang="en-US" sz="3600" dirty="0"/>
              <a:t>Application Layer</a:t>
            </a:r>
          </a:p>
          <a:p>
            <a:r>
              <a:rPr lang="en-US" sz="3600" dirty="0"/>
              <a:t>Network Layer</a:t>
            </a:r>
          </a:p>
          <a:p>
            <a:r>
              <a:rPr lang="en-US" sz="3600" dirty="0"/>
              <a:t>Perception Layer</a:t>
            </a:r>
          </a:p>
        </p:txBody>
      </p:sp>
    </p:spTree>
    <p:extLst>
      <p:ext uri="{BB962C8B-B14F-4D97-AF65-F5344CB8AC3E}">
        <p14:creationId xmlns:p14="http://schemas.microsoft.com/office/powerpoint/2010/main" val="1274002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620000" cy="715962"/>
          </a:xfrm>
        </p:spPr>
        <p:txBody>
          <a:bodyPr/>
          <a:lstStyle/>
          <a:p>
            <a:r>
              <a:rPr lang="en-US" sz="4000" dirty="0"/>
              <a:t>4 Layers Model</a:t>
            </a:r>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0" y="1196923"/>
            <a:ext cx="5334000" cy="5609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5334000" y="1930056"/>
            <a:ext cx="1116230" cy="276999"/>
          </a:xfrm>
          <a:prstGeom prst="rect">
            <a:avLst/>
          </a:prstGeom>
          <a:noFill/>
        </p:spPr>
        <p:txBody>
          <a:bodyPr wrap="square" rtlCol="0">
            <a:spAutoFit/>
          </a:bodyPr>
          <a:lstStyle/>
          <a:p>
            <a:r>
              <a:rPr lang="en-US" sz="1200" dirty="0"/>
              <a:t>Smart Logistic</a:t>
            </a:r>
          </a:p>
        </p:txBody>
      </p:sp>
      <p:sp>
        <p:nvSpPr>
          <p:cNvPr id="9" name="TextBox 8"/>
          <p:cNvSpPr txBox="1"/>
          <p:nvPr/>
        </p:nvSpPr>
        <p:spPr>
          <a:xfrm>
            <a:off x="6427570" y="1932802"/>
            <a:ext cx="1116230" cy="276999"/>
          </a:xfrm>
          <a:prstGeom prst="rect">
            <a:avLst/>
          </a:prstGeom>
          <a:noFill/>
        </p:spPr>
        <p:txBody>
          <a:bodyPr wrap="square" rtlCol="0">
            <a:spAutoFit/>
          </a:bodyPr>
          <a:lstStyle/>
          <a:p>
            <a:r>
              <a:rPr lang="en-US" sz="1200" dirty="0"/>
              <a:t>Smart Grid</a:t>
            </a:r>
          </a:p>
        </p:txBody>
      </p:sp>
      <p:sp>
        <p:nvSpPr>
          <p:cNvPr id="10" name="TextBox 9"/>
          <p:cNvSpPr txBox="1"/>
          <p:nvPr/>
        </p:nvSpPr>
        <p:spPr>
          <a:xfrm>
            <a:off x="7341970" y="1932802"/>
            <a:ext cx="1268630" cy="276999"/>
          </a:xfrm>
          <a:prstGeom prst="rect">
            <a:avLst/>
          </a:prstGeom>
          <a:noFill/>
        </p:spPr>
        <p:txBody>
          <a:bodyPr wrap="square" rtlCol="0">
            <a:spAutoFit/>
          </a:bodyPr>
          <a:lstStyle/>
          <a:p>
            <a:r>
              <a:rPr lang="en-US" sz="1200" dirty="0"/>
              <a:t>Green Building</a:t>
            </a:r>
          </a:p>
        </p:txBody>
      </p:sp>
      <p:sp>
        <p:nvSpPr>
          <p:cNvPr id="11" name="TextBox 10"/>
          <p:cNvSpPr txBox="1"/>
          <p:nvPr/>
        </p:nvSpPr>
        <p:spPr>
          <a:xfrm>
            <a:off x="8382000" y="1932802"/>
            <a:ext cx="1649630" cy="276999"/>
          </a:xfrm>
          <a:prstGeom prst="rect">
            <a:avLst/>
          </a:prstGeom>
          <a:noFill/>
        </p:spPr>
        <p:txBody>
          <a:bodyPr wrap="square" rtlCol="0">
            <a:spAutoFit/>
          </a:bodyPr>
          <a:lstStyle/>
          <a:p>
            <a:r>
              <a:rPr lang="en-US" sz="1200" dirty="0"/>
              <a:t>Smart Transport</a:t>
            </a:r>
          </a:p>
        </p:txBody>
      </p:sp>
      <p:sp>
        <p:nvSpPr>
          <p:cNvPr id="12" name="TextBox 11"/>
          <p:cNvSpPr txBox="1"/>
          <p:nvPr/>
        </p:nvSpPr>
        <p:spPr>
          <a:xfrm>
            <a:off x="9551770" y="1932802"/>
            <a:ext cx="1116230" cy="276999"/>
          </a:xfrm>
          <a:prstGeom prst="rect">
            <a:avLst/>
          </a:prstGeom>
          <a:noFill/>
        </p:spPr>
        <p:txBody>
          <a:bodyPr wrap="square" rtlCol="0">
            <a:spAutoFit/>
          </a:bodyPr>
          <a:lstStyle/>
          <a:p>
            <a:r>
              <a:rPr lang="en-US" sz="1200" dirty="0"/>
              <a:t>Env. Monitor</a:t>
            </a:r>
          </a:p>
        </p:txBody>
      </p:sp>
      <p:sp>
        <p:nvSpPr>
          <p:cNvPr id="13" name="TextBox 12"/>
          <p:cNvSpPr txBox="1"/>
          <p:nvPr/>
        </p:nvSpPr>
        <p:spPr>
          <a:xfrm>
            <a:off x="5334000" y="3073056"/>
            <a:ext cx="1116230" cy="276999"/>
          </a:xfrm>
          <a:prstGeom prst="rect">
            <a:avLst/>
          </a:prstGeom>
          <a:noFill/>
        </p:spPr>
        <p:txBody>
          <a:bodyPr wrap="square" rtlCol="0">
            <a:spAutoFit/>
          </a:bodyPr>
          <a:lstStyle/>
          <a:p>
            <a:r>
              <a:rPr lang="en-US" sz="1200" dirty="0"/>
              <a:t>Data Center</a:t>
            </a:r>
          </a:p>
        </p:txBody>
      </p:sp>
      <p:sp>
        <p:nvSpPr>
          <p:cNvPr id="14" name="TextBox 13"/>
          <p:cNvSpPr txBox="1"/>
          <p:nvPr/>
        </p:nvSpPr>
        <p:spPr>
          <a:xfrm>
            <a:off x="6427570" y="3075802"/>
            <a:ext cx="1116230" cy="276999"/>
          </a:xfrm>
          <a:prstGeom prst="rect">
            <a:avLst/>
          </a:prstGeom>
          <a:noFill/>
        </p:spPr>
        <p:txBody>
          <a:bodyPr wrap="square" rtlCol="0">
            <a:spAutoFit/>
          </a:bodyPr>
          <a:lstStyle/>
          <a:p>
            <a:r>
              <a:rPr lang="en-US" sz="1200" dirty="0"/>
              <a:t>Search Engine</a:t>
            </a:r>
          </a:p>
        </p:txBody>
      </p:sp>
      <p:sp>
        <p:nvSpPr>
          <p:cNvPr id="15" name="TextBox 14"/>
          <p:cNvSpPr txBox="1"/>
          <p:nvPr/>
        </p:nvSpPr>
        <p:spPr>
          <a:xfrm>
            <a:off x="7418170" y="3075802"/>
            <a:ext cx="1268630" cy="276999"/>
          </a:xfrm>
          <a:prstGeom prst="rect">
            <a:avLst/>
          </a:prstGeom>
          <a:noFill/>
        </p:spPr>
        <p:txBody>
          <a:bodyPr wrap="square" rtlCol="0">
            <a:spAutoFit/>
          </a:bodyPr>
          <a:lstStyle/>
          <a:p>
            <a:r>
              <a:rPr lang="en-US" sz="1200" dirty="0"/>
              <a:t>Smart Decision</a:t>
            </a:r>
          </a:p>
        </p:txBody>
      </p:sp>
      <p:sp>
        <p:nvSpPr>
          <p:cNvPr id="16" name="TextBox 15"/>
          <p:cNvSpPr txBox="1"/>
          <p:nvPr/>
        </p:nvSpPr>
        <p:spPr>
          <a:xfrm>
            <a:off x="8534400" y="3075802"/>
            <a:ext cx="1295400" cy="276999"/>
          </a:xfrm>
          <a:prstGeom prst="rect">
            <a:avLst/>
          </a:prstGeom>
          <a:noFill/>
        </p:spPr>
        <p:txBody>
          <a:bodyPr wrap="square" rtlCol="0">
            <a:spAutoFit/>
          </a:bodyPr>
          <a:lstStyle/>
          <a:p>
            <a:r>
              <a:rPr lang="en-US" sz="1200" dirty="0"/>
              <a:t>Info. Security</a:t>
            </a:r>
          </a:p>
        </p:txBody>
      </p:sp>
      <p:sp>
        <p:nvSpPr>
          <p:cNvPr id="17" name="TextBox 16"/>
          <p:cNvSpPr txBox="1"/>
          <p:nvPr/>
        </p:nvSpPr>
        <p:spPr>
          <a:xfrm>
            <a:off x="9551770" y="3075802"/>
            <a:ext cx="1116230" cy="276999"/>
          </a:xfrm>
          <a:prstGeom prst="rect">
            <a:avLst/>
          </a:prstGeom>
          <a:noFill/>
        </p:spPr>
        <p:txBody>
          <a:bodyPr wrap="square" rtlCol="0">
            <a:spAutoFit/>
          </a:bodyPr>
          <a:lstStyle/>
          <a:p>
            <a:r>
              <a:rPr lang="en-US" sz="1200" dirty="0"/>
              <a:t>Data Mining</a:t>
            </a:r>
          </a:p>
        </p:txBody>
      </p:sp>
      <p:sp>
        <p:nvSpPr>
          <p:cNvPr id="18" name="TextBox 17"/>
          <p:cNvSpPr txBox="1"/>
          <p:nvPr/>
        </p:nvSpPr>
        <p:spPr>
          <a:xfrm>
            <a:off x="6248400" y="4343401"/>
            <a:ext cx="1116230" cy="276999"/>
          </a:xfrm>
          <a:prstGeom prst="rect">
            <a:avLst/>
          </a:prstGeom>
          <a:noFill/>
        </p:spPr>
        <p:txBody>
          <a:bodyPr wrap="square" rtlCol="0">
            <a:spAutoFit/>
          </a:bodyPr>
          <a:lstStyle/>
          <a:p>
            <a:r>
              <a:rPr lang="en-US" sz="1200" dirty="0"/>
              <a:t>WWAN</a:t>
            </a:r>
          </a:p>
        </p:txBody>
      </p:sp>
      <p:sp>
        <p:nvSpPr>
          <p:cNvPr id="19" name="TextBox 18"/>
          <p:cNvSpPr txBox="1"/>
          <p:nvPr/>
        </p:nvSpPr>
        <p:spPr>
          <a:xfrm>
            <a:off x="6198970" y="5410201"/>
            <a:ext cx="1116230" cy="276999"/>
          </a:xfrm>
          <a:prstGeom prst="rect">
            <a:avLst/>
          </a:prstGeom>
          <a:noFill/>
        </p:spPr>
        <p:txBody>
          <a:bodyPr wrap="square" rtlCol="0">
            <a:spAutoFit/>
          </a:bodyPr>
          <a:lstStyle/>
          <a:p>
            <a:r>
              <a:rPr lang="en-US" sz="1200" dirty="0"/>
              <a:t>WPAN</a:t>
            </a:r>
          </a:p>
        </p:txBody>
      </p:sp>
      <p:sp>
        <p:nvSpPr>
          <p:cNvPr id="20" name="TextBox 19"/>
          <p:cNvSpPr txBox="1"/>
          <p:nvPr/>
        </p:nvSpPr>
        <p:spPr>
          <a:xfrm>
            <a:off x="8942170" y="4397462"/>
            <a:ext cx="1116230" cy="276999"/>
          </a:xfrm>
          <a:prstGeom prst="rect">
            <a:avLst/>
          </a:prstGeom>
          <a:noFill/>
        </p:spPr>
        <p:txBody>
          <a:bodyPr wrap="square" rtlCol="0">
            <a:spAutoFit/>
          </a:bodyPr>
          <a:lstStyle/>
          <a:p>
            <a:r>
              <a:rPr lang="en-US" sz="1200" dirty="0"/>
              <a:t>WMAN</a:t>
            </a:r>
          </a:p>
        </p:txBody>
      </p:sp>
      <p:sp>
        <p:nvSpPr>
          <p:cNvPr id="21" name="TextBox 20"/>
          <p:cNvSpPr txBox="1"/>
          <p:nvPr/>
        </p:nvSpPr>
        <p:spPr>
          <a:xfrm>
            <a:off x="9018370" y="5464262"/>
            <a:ext cx="1116230" cy="276999"/>
          </a:xfrm>
          <a:prstGeom prst="rect">
            <a:avLst/>
          </a:prstGeom>
          <a:noFill/>
        </p:spPr>
        <p:txBody>
          <a:bodyPr wrap="square" rtlCol="0">
            <a:spAutoFit/>
          </a:bodyPr>
          <a:lstStyle/>
          <a:p>
            <a:r>
              <a:rPr lang="en-US" sz="1200" dirty="0"/>
              <a:t>WLAN</a:t>
            </a:r>
          </a:p>
        </p:txBody>
      </p:sp>
      <p:sp>
        <p:nvSpPr>
          <p:cNvPr id="22" name="TextBox 21"/>
          <p:cNvSpPr txBox="1"/>
          <p:nvPr/>
        </p:nvSpPr>
        <p:spPr>
          <a:xfrm>
            <a:off x="7570570" y="5133202"/>
            <a:ext cx="1116230" cy="276999"/>
          </a:xfrm>
          <a:prstGeom prst="rect">
            <a:avLst/>
          </a:prstGeom>
          <a:noFill/>
        </p:spPr>
        <p:txBody>
          <a:bodyPr wrap="square" rtlCol="0">
            <a:spAutoFit/>
          </a:bodyPr>
          <a:lstStyle/>
          <a:p>
            <a:r>
              <a:rPr lang="en-US" sz="1200" dirty="0"/>
              <a:t>Internet</a:t>
            </a:r>
          </a:p>
        </p:txBody>
      </p:sp>
      <p:sp>
        <p:nvSpPr>
          <p:cNvPr id="23" name="TextBox 22"/>
          <p:cNvSpPr txBox="1"/>
          <p:nvPr/>
        </p:nvSpPr>
        <p:spPr>
          <a:xfrm>
            <a:off x="5290747" y="6578256"/>
            <a:ext cx="1116230" cy="276999"/>
          </a:xfrm>
          <a:prstGeom prst="rect">
            <a:avLst/>
          </a:prstGeom>
          <a:noFill/>
        </p:spPr>
        <p:txBody>
          <a:bodyPr wrap="square" rtlCol="0">
            <a:spAutoFit/>
          </a:bodyPr>
          <a:lstStyle/>
          <a:p>
            <a:pPr algn="ctr"/>
            <a:r>
              <a:rPr lang="en-US" sz="1200" dirty="0"/>
              <a:t>GPS</a:t>
            </a:r>
          </a:p>
        </p:txBody>
      </p:sp>
      <p:sp>
        <p:nvSpPr>
          <p:cNvPr id="24" name="TextBox 23"/>
          <p:cNvSpPr txBox="1"/>
          <p:nvPr/>
        </p:nvSpPr>
        <p:spPr>
          <a:xfrm>
            <a:off x="6503770" y="6581002"/>
            <a:ext cx="1116230" cy="276999"/>
          </a:xfrm>
          <a:prstGeom prst="rect">
            <a:avLst/>
          </a:prstGeom>
          <a:noFill/>
        </p:spPr>
        <p:txBody>
          <a:bodyPr wrap="square" rtlCol="0">
            <a:spAutoFit/>
          </a:bodyPr>
          <a:lstStyle/>
          <a:p>
            <a:r>
              <a:rPr lang="en-US" sz="1200" dirty="0"/>
              <a:t>Smart Device</a:t>
            </a:r>
          </a:p>
        </p:txBody>
      </p:sp>
      <p:sp>
        <p:nvSpPr>
          <p:cNvPr id="25" name="TextBox 24"/>
          <p:cNvSpPr txBox="1"/>
          <p:nvPr/>
        </p:nvSpPr>
        <p:spPr>
          <a:xfrm>
            <a:off x="7722970" y="6581002"/>
            <a:ext cx="1268630" cy="276999"/>
          </a:xfrm>
          <a:prstGeom prst="rect">
            <a:avLst/>
          </a:prstGeom>
          <a:noFill/>
        </p:spPr>
        <p:txBody>
          <a:bodyPr wrap="square" rtlCol="0">
            <a:spAutoFit/>
          </a:bodyPr>
          <a:lstStyle/>
          <a:p>
            <a:r>
              <a:rPr lang="en-US" sz="1200" dirty="0"/>
              <a:t>RFID</a:t>
            </a:r>
          </a:p>
        </p:txBody>
      </p:sp>
      <p:sp>
        <p:nvSpPr>
          <p:cNvPr id="26" name="TextBox 25"/>
          <p:cNvSpPr txBox="1"/>
          <p:nvPr/>
        </p:nvSpPr>
        <p:spPr>
          <a:xfrm>
            <a:off x="8686800" y="6581002"/>
            <a:ext cx="1295400" cy="276999"/>
          </a:xfrm>
          <a:prstGeom prst="rect">
            <a:avLst/>
          </a:prstGeom>
          <a:noFill/>
        </p:spPr>
        <p:txBody>
          <a:bodyPr wrap="square" rtlCol="0">
            <a:spAutoFit/>
          </a:bodyPr>
          <a:lstStyle/>
          <a:p>
            <a:r>
              <a:rPr lang="en-US" sz="1200" dirty="0"/>
              <a:t>Sensor</a:t>
            </a:r>
          </a:p>
        </p:txBody>
      </p:sp>
      <p:sp>
        <p:nvSpPr>
          <p:cNvPr id="27" name="TextBox 26"/>
          <p:cNvSpPr txBox="1"/>
          <p:nvPr/>
        </p:nvSpPr>
        <p:spPr>
          <a:xfrm>
            <a:off x="9704170" y="6581002"/>
            <a:ext cx="1116230" cy="276999"/>
          </a:xfrm>
          <a:prstGeom prst="rect">
            <a:avLst/>
          </a:prstGeom>
          <a:noFill/>
        </p:spPr>
        <p:txBody>
          <a:bodyPr wrap="square" rtlCol="0">
            <a:spAutoFit/>
          </a:bodyPr>
          <a:lstStyle/>
          <a:p>
            <a:r>
              <a:rPr lang="en-US" sz="1200" dirty="0"/>
              <a:t>Sensor</a:t>
            </a:r>
          </a:p>
        </p:txBody>
      </p:sp>
      <p:sp>
        <p:nvSpPr>
          <p:cNvPr id="29" name="TextBox 28"/>
          <p:cNvSpPr txBox="1"/>
          <p:nvPr/>
        </p:nvSpPr>
        <p:spPr>
          <a:xfrm>
            <a:off x="4055080" y="1423087"/>
            <a:ext cx="1278924" cy="584775"/>
          </a:xfrm>
          <a:prstGeom prst="rect">
            <a:avLst/>
          </a:prstGeom>
          <a:noFill/>
        </p:spPr>
        <p:txBody>
          <a:bodyPr wrap="square" rtlCol="0">
            <a:spAutoFit/>
          </a:bodyPr>
          <a:lstStyle/>
          <a:p>
            <a:pPr algn="ctr"/>
            <a:r>
              <a:rPr lang="en-US" sz="1600" b="1" dirty="0"/>
              <a:t>Integrated Application</a:t>
            </a:r>
          </a:p>
        </p:txBody>
      </p:sp>
      <p:sp>
        <p:nvSpPr>
          <p:cNvPr id="30" name="TextBox 29"/>
          <p:cNvSpPr txBox="1"/>
          <p:nvPr/>
        </p:nvSpPr>
        <p:spPr>
          <a:xfrm>
            <a:off x="4038601" y="2660303"/>
            <a:ext cx="1268630" cy="584775"/>
          </a:xfrm>
          <a:prstGeom prst="rect">
            <a:avLst/>
          </a:prstGeom>
          <a:noFill/>
        </p:spPr>
        <p:txBody>
          <a:bodyPr wrap="square" rtlCol="0">
            <a:spAutoFit/>
          </a:bodyPr>
          <a:lstStyle/>
          <a:p>
            <a:pPr algn="ctr"/>
            <a:r>
              <a:rPr lang="en-US" sz="1600" b="1" dirty="0"/>
              <a:t>Information Processing</a:t>
            </a:r>
          </a:p>
        </p:txBody>
      </p:sp>
      <p:sp>
        <p:nvSpPr>
          <p:cNvPr id="31" name="TextBox 30"/>
          <p:cNvSpPr txBox="1"/>
          <p:nvPr/>
        </p:nvSpPr>
        <p:spPr>
          <a:xfrm>
            <a:off x="4038600" y="4343401"/>
            <a:ext cx="1295400" cy="584775"/>
          </a:xfrm>
          <a:prstGeom prst="rect">
            <a:avLst/>
          </a:prstGeom>
          <a:noFill/>
        </p:spPr>
        <p:txBody>
          <a:bodyPr wrap="square" rtlCol="0">
            <a:spAutoFit/>
          </a:bodyPr>
          <a:lstStyle/>
          <a:p>
            <a:pPr algn="ctr"/>
            <a:r>
              <a:rPr lang="en-US" sz="1600" b="1" dirty="0"/>
              <a:t>Network Construction</a:t>
            </a:r>
          </a:p>
        </p:txBody>
      </p:sp>
      <p:sp>
        <p:nvSpPr>
          <p:cNvPr id="32" name="TextBox 31"/>
          <p:cNvSpPr txBox="1"/>
          <p:nvPr/>
        </p:nvSpPr>
        <p:spPr>
          <a:xfrm>
            <a:off x="4057142" y="6019801"/>
            <a:ext cx="1505459" cy="584775"/>
          </a:xfrm>
          <a:prstGeom prst="rect">
            <a:avLst/>
          </a:prstGeom>
          <a:noFill/>
        </p:spPr>
        <p:txBody>
          <a:bodyPr wrap="square" rtlCol="0">
            <a:spAutoFit/>
          </a:bodyPr>
          <a:lstStyle/>
          <a:p>
            <a:pPr algn="ctr"/>
            <a:r>
              <a:rPr lang="en-US" sz="1600" b="1" dirty="0"/>
              <a:t>Sensing and Identification</a:t>
            </a:r>
          </a:p>
        </p:txBody>
      </p:sp>
    </p:spTree>
    <p:extLst>
      <p:ext uri="{BB962C8B-B14F-4D97-AF65-F5344CB8AC3E}">
        <p14:creationId xmlns:p14="http://schemas.microsoft.com/office/powerpoint/2010/main" val="464018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D3A299-FB37-477E-B58D-CEED415D8E91}"/>
              </a:ext>
            </a:extLst>
          </p:cNvPr>
          <p:cNvSpPr>
            <a:spLocks noGrp="1"/>
          </p:cNvSpPr>
          <p:nvPr>
            <p:ph type="title"/>
          </p:nvPr>
        </p:nvSpPr>
        <p:spPr/>
        <p:txBody>
          <a:bodyPr/>
          <a:lstStyle/>
          <a:p>
            <a:r>
              <a:rPr lang="en-US" dirty="0"/>
              <a:t>Layers of IoT Architecture</a:t>
            </a:r>
            <a:endParaRPr lang="en-GB" dirty="0"/>
          </a:p>
        </p:txBody>
      </p:sp>
      <p:sp>
        <p:nvSpPr>
          <p:cNvPr id="4" name="Text Placeholder 3">
            <a:extLst>
              <a:ext uri="{FF2B5EF4-FFF2-40B4-BE49-F238E27FC236}">
                <a16:creationId xmlns:a16="http://schemas.microsoft.com/office/drawing/2014/main" id="{CF474EF5-2DAF-48CE-8CA9-67BB6A518BED}"/>
              </a:ext>
            </a:extLst>
          </p:cNvPr>
          <p:cNvSpPr>
            <a:spLocks noGrp="1"/>
          </p:cNvSpPr>
          <p:nvPr>
            <p:ph type="body" idx="1"/>
          </p:nvPr>
        </p:nvSpPr>
        <p:spPr>
          <a:xfrm>
            <a:off x="970757" y="1269207"/>
            <a:ext cx="5157787" cy="823912"/>
          </a:xfrm>
        </p:spPr>
        <p:txBody>
          <a:bodyPr/>
          <a:lstStyle/>
          <a:p>
            <a:r>
              <a:rPr lang="en-US" sz="2400" dirty="0"/>
              <a:t>3 Layers Model</a:t>
            </a:r>
            <a:endParaRPr lang="en-GB" dirty="0"/>
          </a:p>
        </p:txBody>
      </p:sp>
      <p:sp>
        <p:nvSpPr>
          <p:cNvPr id="5" name="Content Placeholder 4">
            <a:extLst>
              <a:ext uri="{FF2B5EF4-FFF2-40B4-BE49-F238E27FC236}">
                <a16:creationId xmlns:a16="http://schemas.microsoft.com/office/drawing/2014/main" id="{5872E95D-D904-49E3-9578-F91B5F9DD789}"/>
              </a:ext>
            </a:extLst>
          </p:cNvPr>
          <p:cNvSpPr>
            <a:spLocks noGrp="1"/>
          </p:cNvSpPr>
          <p:nvPr>
            <p:ph sz="half" idx="2"/>
          </p:nvPr>
        </p:nvSpPr>
        <p:spPr/>
        <p:txBody>
          <a:bodyPr/>
          <a:lstStyle/>
          <a:p>
            <a:r>
              <a:rPr lang="en-US" sz="2800" dirty="0"/>
              <a:t>Application Layer</a:t>
            </a:r>
          </a:p>
          <a:p>
            <a:r>
              <a:rPr lang="en-US" sz="2800" dirty="0"/>
              <a:t>Network Layer</a:t>
            </a:r>
          </a:p>
          <a:p>
            <a:r>
              <a:rPr lang="en-US" sz="2800" dirty="0"/>
              <a:t>Perception Layer</a:t>
            </a:r>
          </a:p>
        </p:txBody>
      </p:sp>
      <p:sp>
        <p:nvSpPr>
          <p:cNvPr id="6" name="Text Placeholder 5">
            <a:extLst>
              <a:ext uri="{FF2B5EF4-FFF2-40B4-BE49-F238E27FC236}">
                <a16:creationId xmlns:a16="http://schemas.microsoft.com/office/drawing/2014/main" id="{2D707F7B-075B-4467-B2B7-A5EFBBD82D13}"/>
              </a:ext>
            </a:extLst>
          </p:cNvPr>
          <p:cNvSpPr>
            <a:spLocks noGrp="1"/>
          </p:cNvSpPr>
          <p:nvPr>
            <p:ph type="body" sz="quarter" idx="3"/>
          </p:nvPr>
        </p:nvSpPr>
        <p:spPr>
          <a:xfrm>
            <a:off x="6259512" y="1269207"/>
            <a:ext cx="5183188" cy="823912"/>
          </a:xfrm>
        </p:spPr>
        <p:txBody>
          <a:bodyPr/>
          <a:lstStyle/>
          <a:p>
            <a:r>
              <a:rPr lang="en-US" sz="2400" dirty="0"/>
              <a:t>4 Layers Model</a:t>
            </a:r>
            <a:endParaRPr lang="en-GB" dirty="0"/>
          </a:p>
        </p:txBody>
      </p:sp>
      <p:grpSp>
        <p:nvGrpSpPr>
          <p:cNvPr id="13" name="Group 12">
            <a:extLst>
              <a:ext uri="{FF2B5EF4-FFF2-40B4-BE49-F238E27FC236}">
                <a16:creationId xmlns:a16="http://schemas.microsoft.com/office/drawing/2014/main" id="{9C1F046F-5FD8-4F77-B16B-E08802ECD694}"/>
              </a:ext>
            </a:extLst>
          </p:cNvPr>
          <p:cNvGrpSpPr/>
          <p:nvPr/>
        </p:nvGrpSpPr>
        <p:grpSpPr>
          <a:xfrm>
            <a:off x="4686321" y="2418558"/>
            <a:ext cx="6006617" cy="4559682"/>
            <a:chOff x="1406604" y="1073255"/>
            <a:chExt cx="9273865" cy="5946371"/>
          </a:xfrm>
        </p:grpSpPr>
        <p:pic>
          <p:nvPicPr>
            <p:cNvPr id="8" name="Picture 3">
              <a:extLst>
                <a:ext uri="{FF2B5EF4-FFF2-40B4-BE49-F238E27FC236}">
                  <a16:creationId xmlns:a16="http://schemas.microsoft.com/office/drawing/2014/main" id="{2AA8E9FF-C580-4CCC-8931-EA73D1C440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46469" y="1196923"/>
              <a:ext cx="5334000" cy="5609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a:extLst>
                <a:ext uri="{FF2B5EF4-FFF2-40B4-BE49-F238E27FC236}">
                  <a16:creationId xmlns:a16="http://schemas.microsoft.com/office/drawing/2014/main" id="{ECDF09AF-2552-49FD-8134-79A4D172D5C8}"/>
                </a:ext>
              </a:extLst>
            </p:cNvPr>
            <p:cNvSpPr txBox="1"/>
            <p:nvPr/>
          </p:nvSpPr>
          <p:spPr>
            <a:xfrm>
              <a:off x="1406604" y="1073255"/>
              <a:ext cx="4087500" cy="1244270"/>
            </a:xfrm>
            <a:prstGeom prst="rect">
              <a:avLst/>
            </a:prstGeom>
            <a:noFill/>
          </p:spPr>
          <p:txBody>
            <a:bodyPr wrap="square" rtlCol="0">
              <a:spAutoFit/>
            </a:bodyPr>
            <a:lstStyle>
              <a:defPPr>
                <a:defRPr lang="en-US"/>
              </a:defPPr>
              <a:lvl1pPr algn="ctr">
                <a:defRPr sz="2800" b="0"/>
              </a:lvl1pPr>
            </a:lstStyle>
            <a:p>
              <a:r>
                <a:rPr lang="en-US" dirty="0"/>
                <a:t>Integrated Application</a:t>
              </a:r>
            </a:p>
          </p:txBody>
        </p:sp>
        <p:sp>
          <p:nvSpPr>
            <p:cNvPr id="10" name="TextBox 9">
              <a:extLst>
                <a:ext uri="{FF2B5EF4-FFF2-40B4-BE49-F238E27FC236}">
                  <a16:creationId xmlns:a16="http://schemas.microsoft.com/office/drawing/2014/main" id="{433D9CF0-7410-44E4-8E8C-A28D7622F409}"/>
                </a:ext>
              </a:extLst>
            </p:cNvPr>
            <p:cNvSpPr txBox="1"/>
            <p:nvPr/>
          </p:nvSpPr>
          <p:spPr>
            <a:xfrm>
              <a:off x="1631166" y="2293391"/>
              <a:ext cx="3715304" cy="1244270"/>
            </a:xfrm>
            <a:prstGeom prst="rect">
              <a:avLst/>
            </a:prstGeom>
            <a:noFill/>
          </p:spPr>
          <p:txBody>
            <a:bodyPr wrap="square" rtlCol="0">
              <a:spAutoFit/>
            </a:bodyPr>
            <a:lstStyle>
              <a:defPPr>
                <a:defRPr lang="en-US"/>
              </a:defPPr>
              <a:lvl1pPr algn="ctr">
                <a:defRPr sz="2800" b="0"/>
              </a:lvl1pPr>
            </a:lstStyle>
            <a:p>
              <a:r>
                <a:rPr lang="en-US" dirty="0"/>
                <a:t>Information Processing</a:t>
              </a:r>
            </a:p>
          </p:txBody>
        </p:sp>
        <p:sp>
          <p:nvSpPr>
            <p:cNvPr id="11" name="TextBox 10">
              <a:extLst>
                <a:ext uri="{FF2B5EF4-FFF2-40B4-BE49-F238E27FC236}">
                  <a16:creationId xmlns:a16="http://schemas.microsoft.com/office/drawing/2014/main" id="{732CC477-8A01-4E9F-BC4A-7475398CBC6D}"/>
                </a:ext>
              </a:extLst>
            </p:cNvPr>
            <p:cNvSpPr txBox="1"/>
            <p:nvPr/>
          </p:nvSpPr>
          <p:spPr>
            <a:xfrm>
              <a:off x="1688613" y="3779341"/>
              <a:ext cx="3793095" cy="1244270"/>
            </a:xfrm>
            <a:prstGeom prst="rect">
              <a:avLst/>
            </a:prstGeom>
            <a:noFill/>
          </p:spPr>
          <p:txBody>
            <a:bodyPr wrap="square" rtlCol="0">
              <a:spAutoFit/>
            </a:bodyPr>
            <a:lstStyle>
              <a:defPPr>
                <a:defRPr lang="en-US"/>
              </a:defPPr>
              <a:lvl1pPr algn="ctr">
                <a:defRPr sz="2800" b="0"/>
              </a:lvl1pPr>
            </a:lstStyle>
            <a:p>
              <a:r>
                <a:rPr lang="en-US" dirty="0"/>
                <a:t>Network Construction</a:t>
              </a:r>
            </a:p>
          </p:txBody>
        </p:sp>
        <p:sp>
          <p:nvSpPr>
            <p:cNvPr id="12" name="TextBox 11">
              <a:extLst>
                <a:ext uri="{FF2B5EF4-FFF2-40B4-BE49-F238E27FC236}">
                  <a16:creationId xmlns:a16="http://schemas.microsoft.com/office/drawing/2014/main" id="{A3F8D1D3-582A-4A03-9BD3-8D587DD3F055}"/>
                </a:ext>
              </a:extLst>
            </p:cNvPr>
            <p:cNvSpPr txBox="1"/>
            <p:nvPr/>
          </p:nvSpPr>
          <p:spPr>
            <a:xfrm>
              <a:off x="1978918" y="5775356"/>
              <a:ext cx="3458373" cy="1244270"/>
            </a:xfrm>
            <a:prstGeom prst="rect">
              <a:avLst/>
            </a:prstGeom>
            <a:noFill/>
          </p:spPr>
          <p:txBody>
            <a:bodyPr wrap="square" rtlCol="0">
              <a:spAutoFit/>
            </a:bodyPr>
            <a:lstStyle>
              <a:defPPr>
                <a:defRPr lang="en-US"/>
              </a:defPPr>
              <a:lvl1pPr algn="ctr">
                <a:defRPr sz="2400" b="1"/>
              </a:lvl1pPr>
            </a:lstStyle>
            <a:p>
              <a:r>
                <a:rPr lang="en-US" sz="2800" b="0" dirty="0"/>
                <a:t>Sensing and Identification</a:t>
              </a:r>
            </a:p>
          </p:txBody>
        </p:sp>
      </p:grpSp>
      <p:cxnSp>
        <p:nvCxnSpPr>
          <p:cNvPr id="15" name="Connector: Elbow 14">
            <a:extLst>
              <a:ext uri="{FF2B5EF4-FFF2-40B4-BE49-F238E27FC236}">
                <a16:creationId xmlns:a16="http://schemas.microsoft.com/office/drawing/2014/main" id="{C3323F09-FC1F-4EE2-9D1E-B90524717311}"/>
              </a:ext>
            </a:extLst>
          </p:cNvPr>
          <p:cNvCxnSpPr>
            <a:cxnSpLocks/>
          </p:cNvCxnSpPr>
          <p:nvPr/>
        </p:nvCxnSpPr>
        <p:spPr>
          <a:xfrm>
            <a:off x="3171305" y="2980935"/>
            <a:ext cx="3753197" cy="350759"/>
          </a:xfrm>
          <a:prstGeom prst="bentConnector3">
            <a:avLst/>
          </a:prstGeom>
          <a:ln w="38100"/>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C2AF652B-3AAB-47CE-A1C9-AA4D7F49E785}"/>
              </a:ext>
            </a:extLst>
          </p:cNvPr>
          <p:cNvCxnSpPr>
            <a:cxnSpLocks/>
          </p:cNvCxnSpPr>
          <p:nvPr/>
        </p:nvCxnSpPr>
        <p:spPr>
          <a:xfrm>
            <a:off x="3171305" y="3152899"/>
            <a:ext cx="3674226" cy="1241884"/>
          </a:xfrm>
          <a:prstGeom prst="bentConnector3">
            <a:avLst>
              <a:gd name="adj1" fmla="val 47285"/>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17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Layers Model </a:t>
            </a:r>
          </a:p>
        </p:txBody>
      </p:sp>
      <p:sp>
        <p:nvSpPr>
          <p:cNvPr id="3" name="Content Placeholder 2"/>
          <p:cNvSpPr>
            <a:spLocks noGrp="1"/>
          </p:cNvSpPr>
          <p:nvPr>
            <p:ph idx="1"/>
          </p:nvPr>
        </p:nvSpPr>
        <p:spPr/>
        <p:txBody>
          <a:bodyPr>
            <a:normAutofit/>
          </a:bodyPr>
          <a:lstStyle/>
          <a:p>
            <a:r>
              <a:rPr lang="en-US" sz="3600" dirty="0"/>
              <a:t>People and Process Layer</a:t>
            </a:r>
          </a:p>
          <a:p>
            <a:r>
              <a:rPr lang="en-US" sz="3600" dirty="0"/>
              <a:t>Application</a:t>
            </a:r>
          </a:p>
          <a:p>
            <a:r>
              <a:rPr lang="en-US" sz="3600" dirty="0"/>
              <a:t>Data Analysis </a:t>
            </a:r>
          </a:p>
          <a:p>
            <a:r>
              <a:rPr lang="en-US" sz="3600" dirty="0"/>
              <a:t>Data Ingestion </a:t>
            </a:r>
          </a:p>
          <a:p>
            <a:r>
              <a:rPr lang="en-US" sz="3600" dirty="0"/>
              <a:t>Global Infrastructure </a:t>
            </a:r>
          </a:p>
          <a:p>
            <a:r>
              <a:rPr lang="en-US" sz="3600" dirty="0"/>
              <a:t>Connectivity/Edge Computing </a:t>
            </a:r>
          </a:p>
          <a:p>
            <a:r>
              <a:rPr lang="en-US" sz="3600" dirty="0"/>
              <a:t>Things </a:t>
            </a:r>
          </a:p>
          <a:p>
            <a:endParaRPr lang="en-US" sz="3600" dirty="0"/>
          </a:p>
        </p:txBody>
      </p:sp>
    </p:spTree>
    <p:extLst>
      <p:ext uri="{BB962C8B-B14F-4D97-AF65-F5344CB8AC3E}">
        <p14:creationId xmlns:p14="http://schemas.microsoft.com/office/powerpoint/2010/main" val="2382945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Layers Model </a:t>
            </a:r>
          </a:p>
        </p:txBody>
      </p:sp>
      <p:sp>
        <p:nvSpPr>
          <p:cNvPr id="3" name="Content Placeholder 2"/>
          <p:cNvSpPr>
            <a:spLocks noGrp="1"/>
          </p:cNvSpPr>
          <p:nvPr>
            <p:ph idx="1"/>
          </p:nvPr>
        </p:nvSpPr>
        <p:spPr/>
        <p:txBody>
          <a:bodyPr>
            <a:normAutofit fontScale="92500" lnSpcReduction="10000"/>
          </a:bodyPr>
          <a:lstStyle/>
          <a:p>
            <a:r>
              <a:rPr lang="en-US" sz="1600" b="1" dirty="0"/>
              <a:t>People and Process Layer</a:t>
            </a:r>
            <a:br>
              <a:rPr lang="en-US" sz="1600" dirty="0"/>
            </a:br>
            <a:r>
              <a:rPr lang="en-US" sz="1600" dirty="0"/>
              <a:t>This includes people, businesses, collaboration and decision making based on the information derived from IoT computing.</a:t>
            </a:r>
          </a:p>
          <a:p>
            <a:r>
              <a:rPr lang="en-US" sz="1600" b="1" dirty="0"/>
              <a:t>Application</a:t>
            </a:r>
            <a:br>
              <a:rPr lang="en-US" sz="1600" dirty="0"/>
            </a:br>
            <a:r>
              <a:rPr lang="en-US" sz="1600" dirty="0"/>
              <a:t>Comprises of the custom applications that is actually making use of the things data.</a:t>
            </a:r>
          </a:p>
          <a:p>
            <a:r>
              <a:rPr lang="en-US" sz="1600" b="1" dirty="0"/>
              <a:t>Data Analysis </a:t>
            </a:r>
            <a:br>
              <a:rPr lang="en-US" sz="1600" dirty="0"/>
            </a:br>
            <a:r>
              <a:rPr lang="en-US" sz="1600" dirty="0"/>
              <a:t>Relates to data reporting, mining, machine learning etc.</a:t>
            </a:r>
          </a:p>
          <a:p>
            <a:r>
              <a:rPr lang="en-US" sz="1600" b="1" dirty="0"/>
              <a:t>Data Ingestion </a:t>
            </a:r>
            <a:br>
              <a:rPr lang="en-US" sz="1600" dirty="0"/>
            </a:br>
            <a:r>
              <a:rPr lang="en-US" sz="1600" dirty="0"/>
              <a:t>Includes bigdata, cleansing, streaming and storage of data.</a:t>
            </a:r>
          </a:p>
          <a:p>
            <a:r>
              <a:rPr lang="en-US" sz="1600" b="1" dirty="0"/>
              <a:t>Global Infrastructure </a:t>
            </a:r>
            <a:br>
              <a:rPr lang="en-US" sz="1600" dirty="0"/>
            </a:br>
            <a:r>
              <a:rPr lang="en-US" sz="1600" dirty="0"/>
              <a:t>Typically is implemented in cloud infrastructure. Most of the IoT solutions integrate with cloud services. A comprehensive set of integrated services, IoT cloud can provide businesses with useful insights and perspective on customers.</a:t>
            </a:r>
          </a:p>
          <a:p>
            <a:r>
              <a:rPr lang="en-US" sz="1600" b="1" dirty="0"/>
              <a:t>Connectivity/Edge Computing </a:t>
            </a:r>
            <a:br>
              <a:rPr lang="en-US" sz="1600" dirty="0"/>
            </a:br>
            <a:r>
              <a:rPr lang="en-US" sz="1600" dirty="0"/>
              <a:t>Defines the various communication protocols and networks used for connectivity and edge computing. It is a distributed architecture where IoT data is processed at the edge of the network.</a:t>
            </a:r>
          </a:p>
          <a:p>
            <a:r>
              <a:rPr lang="en-US" sz="1600" b="1" dirty="0"/>
              <a:t>Things </a:t>
            </a:r>
            <a:br>
              <a:rPr lang="en-US" sz="1600" dirty="0"/>
            </a:br>
            <a:r>
              <a:rPr lang="en-US" sz="1600" dirty="0"/>
              <a:t>Comprises of devices, sensors and controllers. Connected devices are what enable the IoT environment. These devices include mobile devices such as smart phones or tablets, micro controller units and single-board computers. The connected devices are the real endpoint for IoT.</a:t>
            </a:r>
          </a:p>
          <a:p>
            <a:endParaRPr lang="en-US" sz="1600" dirty="0"/>
          </a:p>
        </p:txBody>
      </p:sp>
    </p:spTree>
    <p:extLst>
      <p:ext uri="{BB962C8B-B14F-4D97-AF65-F5344CB8AC3E}">
        <p14:creationId xmlns:p14="http://schemas.microsoft.com/office/powerpoint/2010/main" val="376312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5"/>
          <p:cNvSpPr>
            <a:spLocks noGrp="1" noChangeArrowheads="1"/>
          </p:cNvSpPr>
          <p:nvPr>
            <p:ph type="title"/>
          </p:nvPr>
        </p:nvSpPr>
        <p:spPr/>
        <p:txBody>
          <a:bodyPr/>
          <a:lstStyle/>
          <a:p>
            <a:pPr eaLnBrk="1" hangingPunct="1">
              <a:defRPr/>
            </a:pPr>
            <a:r>
              <a:rPr lang="en-US" altLang="zh-CN" sz="4000" dirty="0">
                <a:ea typeface="宋体" panose="02010600030101010101" pitchFamily="2" charset="-122"/>
              </a:rPr>
              <a:t>What’s the Internet of Things - History</a:t>
            </a:r>
          </a:p>
        </p:txBody>
      </p:sp>
      <p:sp>
        <p:nvSpPr>
          <p:cNvPr id="7171" name="Rectangle 6"/>
          <p:cNvSpPr>
            <a:spLocks noGrp="1" noChangeArrowheads="1"/>
          </p:cNvSpPr>
          <p:nvPr>
            <p:ph idx="1"/>
          </p:nvPr>
        </p:nvSpPr>
        <p:spPr/>
        <p:txBody>
          <a:bodyPr vert="horz" lIns="91440" tIns="45720" rIns="91440" bIns="45720" rtlCol="0">
            <a:normAutofit fontScale="92500" lnSpcReduction="10000"/>
          </a:bodyPr>
          <a:lstStyle/>
          <a:p>
            <a:r>
              <a:rPr lang="en-US" altLang="zh-CN" sz="3300" dirty="0"/>
              <a:t>1997, “The Internet of Things” is the seventh in the series of ITU 	  Internet Reports originally launched in 1997 under the title “Challenges to the Network”.</a:t>
            </a:r>
          </a:p>
          <a:p>
            <a:r>
              <a:rPr lang="en-US" altLang="zh-CN" sz="3300" dirty="0"/>
              <a:t>1999, Auto-ID Center founded in MIT</a:t>
            </a:r>
          </a:p>
          <a:p>
            <a:r>
              <a:rPr lang="en-US" altLang="zh-CN" sz="3300" dirty="0"/>
              <a:t>2003, EPC Global founded in MIT</a:t>
            </a:r>
          </a:p>
          <a:p>
            <a:r>
              <a:rPr lang="en-US" altLang="zh-CN" sz="3300" dirty="0"/>
              <a:t>2005, </a:t>
            </a:r>
            <a:r>
              <a:rPr lang="en-US" altLang="zh-CN" sz="3300" dirty="0">
                <a:solidFill>
                  <a:srgbClr val="00B050"/>
                </a:solidFill>
              </a:rPr>
              <a:t>Four important technologies of the internet of things was proposed in WSIS conference.</a:t>
            </a:r>
          </a:p>
          <a:p>
            <a:r>
              <a:rPr lang="en-US" altLang="zh-CN" sz="3300" dirty="0"/>
              <a:t>2008, First international conference of internet of things: “The IOT 2008” was held at Zurich.</a:t>
            </a:r>
          </a:p>
        </p:txBody>
      </p:sp>
    </p:spTree>
    <p:extLst>
      <p:ext uri="{BB962C8B-B14F-4D97-AF65-F5344CB8AC3E}">
        <p14:creationId xmlns:p14="http://schemas.microsoft.com/office/powerpoint/2010/main" val="480130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altLang="zh-CN" sz="4000" dirty="0">
                <a:ea typeface="宋体" panose="02010600030101010101" pitchFamily="2" charset="-122"/>
              </a:rPr>
              <a:t>Enabling Technologies</a:t>
            </a:r>
          </a:p>
        </p:txBody>
      </p:sp>
      <p:sp>
        <p:nvSpPr>
          <p:cNvPr id="18435" name="AutoShape 3"/>
          <p:cNvSpPr>
            <a:spLocks noChangeArrowheads="1"/>
          </p:cNvSpPr>
          <p:nvPr/>
        </p:nvSpPr>
        <p:spPr bwMode="auto">
          <a:xfrm>
            <a:off x="7835900" y="3352800"/>
            <a:ext cx="1676400" cy="2590800"/>
          </a:xfrm>
          <a:prstGeom prst="roundRect">
            <a:avLst>
              <a:gd name="adj" fmla="val 13745"/>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36" name="AutoShape 4"/>
          <p:cNvSpPr>
            <a:spLocks noChangeArrowheads="1"/>
          </p:cNvSpPr>
          <p:nvPr/>
        </p:nvSpPr>
        <p:spPr bwMode="auto">
          <a:xfrm>
            <a:off x="6083300" y="3352800"/>
            <a:ext cx="1665288" cy="2590800"/>
          </a:xfrm>
          <a:prstGeom prst="roundRect">
            <a:avLst>
              <a:gd name="adj" fmla="val 13745"/>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37" name="AutoShape 5"/>
          <p:cNvSpPr>
            <a:spLocks noChangeArrowheads="1"/>
          </p:cNvSpPr>
          <p:nvPr/>
        </p:nvSpPr>
        <p:spPr bwMode="auto">
          <a:xfrm>
            <a:off x="4343401" y="3352800"/>
            <a:ext cx="1616075" cy="2590800"/>
          </a:xfrm>
          <a:prstGeom prst="roundRect">
            <a:avLst>
              <a:gd name="adj" fmla="val 13745"/>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38" name="AutoShape 6"/>
          <p:cNvSpPr>
            <a:spLocks noChangeArrowheads="1"/>
          </p:cNvSpPr>
          <p:nvPr/>
        </p:nvSpPr>
        <p:spPr bwMode="auto">
          <a:xfrm>
            <a:off x="2578100" y="3352800"/>
            <a:ext cx="1676400" cy="2590800"/>
          </a:xfrm>
          <a:prstGeom prst="roundRect">
            <a:avLst>
              <a:gd name="adj" fmla="val 13745"/>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grpSp>
        <p:nvGrpSpPr>
          <p:cNvPr id="2" name="Group 7"/>
          <p:cNvGrpSpPr/>
          <p:nvPr/>
        </p:nvGrpSpPr>
        <p:grpSpPr bwMode="auto">
          <a:xfrm>
            <a:off x="2819400" y="2057400"/>
            <a:ext cx="6096000" cy="990600"/>
            <a:chOff x="624" y="1152"/>
            <a:chExt cx="4080" cy="720"/>
          </a:xfrm>
        </p:grpSpPr>
        <p:sp>
          <p:nvSpPr>
            <p:cNvPr id="35848" name="Rectangle 8"/>
            <p:cNvSpPr>
              <a:spLocks noChangeArrowheads="1"/>
            </p:cNvSpPr>
            <p:nvPr/>
          </p:nvSpPr>
          <p:spPr bwMode="gray">
            <a:xfrm rot="3419336">
              <a:off x="624" y="1200"/>
              <a:ext cx="672" cy="672"/>
            </a:xfrm>
            <a:prstGeom prst="rect">
              <a:avLst/>
            </a:prstGeom>
            <a:gradFill rotWithShape="1">
              <a:gsLst>
                <a:gs pos="0">
                  <a:schemeClr val="hlink"/>
                </a:gs>
                <a:gs pos="100000">
                  <a:schemeClr val="hlink">
                    <a:gamma/>
                    <a:tint val="7372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hlink"/>
              </a:extrusionClr>
            </a:sp3d>
          </p:spPr>
          <p:txBody>
            <a:bodyPr wrap="none" anchor="ctr">
              <a:flatTx/>
            </a:bodyPr>
            <a:lstStyle/>
            <a:p>
              <a:pPr>
                <a:defRPr/>
              </a:pPr>
              <a:endParaRPr lang="zh-CN" altLang="en-US">
                <a:ea typeface="宋体" panose="02010600030101010101" pitchFamily="2" charset="-122"/>
              </a:endParaRPr>
            </a:p>
          </p:txBody>
        </p:sp>
        <p:grpSp>
          <p:nvGrpSpPr>
            <p:cNvPr id="3" name="Group 9"/>
            <p:cNvGrpSpPr/>
            <p:nvPr/>
          </p:nvGrpSpPr>
          <p:grpSpPr bwMode="auto">
            <a:xfrm>
              <a:off x="1296" y="1296"/>
              <a:ext cx="624" cy="96"/>
              <a:chOff x="2003" y="3439"/>
              <a:chExt cx="468" cy="244"/>
            </a:xfrm>
          </p:grpSpPr>
          <p:sp>
            <p:nvSpPr>
              <p:cNvPr id="18464" name="Oval 10"/>
              <p:cNvSpPr>
                <a:spLocks noChangeArrowheads="1"/>
              </p:cNvSpPr>
              <p:nvPr/>
            </p:nvSpPr>
            <p:spPr bwMode="gray">
              <a:xfrm>
                <a:off x="2003" y="3439"/>
                <a:ext cx="79" cy="242"/>
              </a:xfrm>
              <a:prstGeom prst="ellipse">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ea typeface="宋体" panose="02010600030101010101" pitchFamily="2" charset="-122"/>
                </a:endParaRPr>
              </a:p>
            </p:txBody>
          </p:sp>
          <p:sp>
            <p:nvSpPr>
              <p:cNvPr id="18465" name="Rectangle 11"/>
              <p:cNvSpPr>
                <a:spLocks noChangeArrowheads="1"/>
              </p:cNvSpPr>
              <p:nvPr/>
            </p:nvSpPr>
            <p:spPr bwMode="gray">
              <a:xfrm>
                <a:off x="2048" y="3441"/>
                <a:ext cx="388" cy="242"/>
              </a:xfrm>
              <a:prstGeom prst="rect">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35852" name="Oval 12"/>
              <p:cNvSpPr>
                <a:spLocks noChangeArrowheads="1"/>
              </p:cNvSpPr>
              <p:nvPr/>
            </p:nvSpPr>
            <p:spPr bwMode="gray">
              <a:xfrm>
                <a:off x="2400" y="3443"/>
                <a:ext cx="71" cy="235"/>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pPr>
                  <a:defRPr/>
                </a:pPr>
                <a:endParaRPr lang="zh-CN" altLang="en-US">
                  <a:ea typeface="宋体" panose="02010600030101010101" pitchFamily="2" charset="-122"/>
                </a:endParaRPr>
              </a:p>
            </p:txBody>
          </p:sp>
          <p:sp>
            <p:nvSpPr>
              <p:cNvPr id="35853" name="Oval 13"/>
              <p:cNvSpPr>
                <a:spLocks noChangeArrowheads="1"/>
              </p:cNvSpPr>
              <p:nvPr/>
            </p:nvSpPr>
            <p:spPr bwMode="gray">
              <a:xfrm>
                <a:off x="2439" y="3519"/>
                <a:ext cx="20" cy="70"/>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pPr>
                  <a:defRPr/>
                </a:pPr>
                <a:endParaRPr lang="zh-CN" altLang="en-US">
                  <a:ea typeface="宋体" panose="02010600030101010101" pitchFamily="2" charset="-122"/>
                </a:endParaRPr>
              </a:p>
            </p:txBody>
          </p:sp>
        </p:grpSp>
        <p:sp>
          <p:nvSpPr>
            <p:cNvPr id="35854" name="Rectangle 14"/>
            <p:cNvSpPr>
              <a:spLocks noChangeArrowheads="1"/>
            </p:cNvSpPr>
            <p:nvPr/>
          </p:nvSpPr>
          <p:spPr bwMode="gray">
            <a:xfrm rot="3419336">
              <a:off x="1776" y="1148"/>
              <a:ext cx="672" cy="680"/>
            </a:xfrm>
            <a:prstGeom prst="rect">
              <a:avLst/>
            </a:prstGeom>
            <a:gradFill rotWithShape="1">
              <a:gsLst>
                <a:gs pos="0">
                  <a:schemeClr val="accent2"/>
                </a:gs>
                <a:gs pos="100000">
                  <a:schemeClr val="accent2">
                    <a:gamma/>
                    <a:tint val="72549"/>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accent2"/>
              </a:extrusionClr>
            </a:sp3d>
          </p:spPr>
          <p:txBody>
            <a:bodyPr wrap="none" anchor="ctr">
              <a:flatTx/>
            </a:bodyPr>
            <a:lstStyle/>
            <a:p>
              <a:pPr>
                <a:defRPr/>
              </a:pPr>
              <a:endParaRPr lang="zh-CN" altLang="en-US">
                <a:ea typeface="宋体" panose="02010600030101010101" pitchFamily="2" charset="-122"/>
              </a:endParaRPr>
            </a:p>
          </p:txBody>
        </p:sp>
        <p:grpSp>
          <p:nvGrpSpPr>
            <p:cNvPr id="4" name="Group 15"/>
            <p:cNvGrpSpPr/>
            <p:nvPr/>
          </p:nvGrpSpPr>
          <p:grpSpPr bwMode="auto">
            <a:xfrm>
              <a:off x="2448" y="1296"/>
              <a:ext cx="624" cy="96"/>
              <a:chOff x="2003" y="3439"/>
              <a:chExt cx="468" cy="244"/>
            </a:xfrm>
          </p:grpSpPr>
          <p:sp>
            <p:nvSpPr>
              <p:cNvPr id="18460" name="Oval 16"/>
              <p:cNvSpPr>
                <a:spLocks noChangeArrowheads="1"/>
              </p:cNvSpPr>
              <p:nvPr/>
            </p:nvSpPr>
            <p:spPr bwMode="gray">
              <a:xfrm>
                <a:off x="2003" y="3439"/>
                <a:ext cx="79" cy="242"/>
              </a:xfrm>
              <a:prstGeom prst="ellipse">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ea typeface="宋体" panose="02010600030101010101" pitchFamily="2" charset="-122"/>
                </a:endParaRPr>
              </a:p>
            </p:txBody>
          </p:sp>
          <p:sp>
            <p:nvSpPr>
              <p:cNvPr id="18461" name="Rectangle 17"/>
              <p:cNvSpPr>
                <a:spLocks noChangeArrowheads="1"/>
              </p:cNvSpPr>
              <p:nvPr/>
            </p:nvSpPr>
            <p:spPr bwMode="gray">
              <a:xfrm>
                <a:off x="2048" y="3441"/>
                <a:ext cx="388" cy="242"/>
              </a:xfrm>
              <a:prstGeom prst="rect">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35858" name="Oval 18"/>
              <p:cNvSpPr>
                <a:spLocks noChangeArrowheads="1"/>
              </p:cNvSpPr>
              <p:nvPr/>
            </p:nvSpPr>
            <p:spPr bwMode="gray">
              <a:xfrm>
                <a:off x="2400" y="3443"/>
                <a:ext cx="71" cy="235"/>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pPr>
                  <a:defRPr/>
                </a:pPr>
                <a:endParaRPr lang="zh-CN" altLang="en-US">
                  <a:ea typeface="宋体" panose="02010600030101010101" pitchFamily="2" charset="-122"/>
                </a:endParaRPr>
              </a:p>
            </p:txBody>
          </p:sp>
          <p:sp>
            <p:nvSpPr>
              <p:cNvPr id="35859" name="Oval 19"/>
              <p:cNvSpPr>
                <a:spLocks noChangeArrowheads="1"/>
              </p:cNvSpPr>
              <p:nvPr/>
            </p:nvSpPr>
            <p:spPr bwMode="gray">
              <a:xfrm>
                <a:off x="2438" y="3519"/>
                <a:ext cx="20" cy="70"/>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pPr>
                  <a:defRPr/>
                </a:pPr>
                <a:endParaRPr lang="zh-CN" altLang="en-US">
                  <a:ea typeface="宋体" panose="02010600030101010101" pitchFamily="2" charset="-122"/>
                </a:endParaRPr>
              </a:p>
            </p:txBody>
          </p:sp>
        </p:grpSp>
        <p:sp>
          <p:nvSpPr>
            <p:cNvPr id="35860" name="Rectangle 20"/>
            <p:cNvSpPr>
              <a:spLocks noChangeArrowheads="1"/>
            </p:cNvSpPr>
            <p:nvPr/>
          </p:nvSpPr>
          <p:spPr bwMode="gray">
            <a:xfrm rot="3419336">
              <a:off x="2880" y="1148"/>
              <a:ext cx="672" cy="679"/>
            </a:xfrm>
            <a:prstGeom prst="rect">
              <a:avLst/>
            </a:prstGeom>
            <a:gradFill rotWithShape="1">
              <a:gsLst>
                <a:gs pos="0">
                  <a:schemeClr val="hlink"/>
                </a:gs>
                <a:gs pos="100000">
                  <a:schemeClr val="hlink">
                    <a:gamma/>
                    <a:tint val="7372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hlink"/>
              </a:extrusionClr>
            </a:sp3d>
          </p:spPr>
          <p:txBody>
            <a:bodyPr wrap="none" anchor="ctr">
              <a:flatTx/>
            </a:bodyPr>
            <a:lstStyle/>
            <a:p>
              <a:pPr>
                <a:defRPr/>
              </a:pPr>
              <a:endParaRPr lang="zh-CN" altLang="en-US">
                <a:ea typeface="宋体" panose="02010600030101010101" pitchFamily="2" charset="-122"/>
              </a:endParaRPr>
            </a:p>
          </p:txBody>
        </p:sp>
        <p:grpSp>
          <p:nvGrpSpPr>
            <p:cNvPr id="5" name="Group 21"/>
            <p:cNvGrpSpPr/>
            <p:nvPr/>
          </p:nvGrpSpPr>
          <p:grpSpPr bwMode="auto">
            <a:xfrm>
              <a:off x="3600" y="1296"/>
              <a:ext cx="816" cy="96"/>
              <a:chOff x="2003" y="3439"/>
              <a:chExt cx="468" cy="244"/>
            </a:xfrm>
          </p:grpSpPr>
          <p:sp>
            <p:nvSpPr>
              <p:cNvPr id="18456" name="Oval 22"/>
              <p:cNvSpPr>
                <a:spLocks noChangeArrowheads="1"/>
              </p:cNvSpPr>
              <p:nvPr/>
            </p:nvSpPr>
            <p:spPr bwMode="gray">
              <a:xfrm>
                <a:off x="2003" y="3439"/>
                <a:ext cx="79" cy="242"/>
              </a:xfrm>
              <a:prstGeom prst="ellipse">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ea typeface="宋体" panose="02010600030101010101" pitchFamily="2" charset="-122"/>
                </a:endParaRPr>
              </a:p>
            </p:txBody>
          </p:sp>
          <p:sp>
            <p:nvSpPr>
              <p:cNvPr id="18457" name="Rectangle 23"/>
              <p:cNvSpPr>
                <a:spLocks noChangeArrowheads="1"/>
              </p:cNvSpPr>
              <p:nvPr/>
            </p:nvSpPr>
            <p:spPr bwMode="gray">
              <a:xfrm>
                <a:off x="2048" y="3441"/>
                <a:ext cx="388" cy="242"/>
              </a:xfrm>
              <a:prstGeom prst="rect">
                <a:avLst/>
              </a:prstGeom>
              <a:gradFill rotWithShape="0">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35864" name="Oval 24"/>
              <p:cNvSpPr>
                <a:spLocks noChangeArrowheads="1"/>
              </p:cNvSpPr>
              <p:nvPr/>
            </p:nvSpPr>
            <p:spPr bwMode="gray">
              <a:xfrm>
                <a:off x="2400" y="3443"/>
                <a:ext cx="71" cy="235"/>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pPr>
                  <a:defRPr/>
                </a:pPr>
                <a:endParaRPr lang="zh-CN" altLang="en-US">
                  <a:ea typeface="宋体" panose="02010600030101010101" pitchFamily="2" charset="-122"/>
                </a:endParaRPr>
              </a:p>
            </p:txBody>
          </p:sp>
          <p:sp>
            <p:nvSpPr>
              <p:cNvPr id="35865" name="Oval 25"/>
              <p:cNvSpPr>
                <a:spLocks noChangeArrowheads="1"/>
              </p:cNvSpPr>
              <p:nvPr/>
            </p:nvSpPr>
            <p:spPr bwMode="gray">
              <a:xfrm>
                <a:off x="2438" y="3519"/>
                <a:ext cx="20" cy="70"/>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pPr>
                  <a:defRPr/>
                </a:pPr>
                <a:endParaRPr lang="zh-CN" altLang="en-US">
                  <a:ea typeface="宋体" panose="02010600030101010101" pitchFamily="2" charset="-122"/>
                </a:endParaRPr>
              </a:p>
            </p:txBody>
          </p:sp>
        </p:grpSp>
        <p:sp>
          <p:nvSpPr>
            <p:cNvPr id="35866" name="Rectangle 26"/>
            <p:cNvSpPr>
              <a:spLocks noChangeArrowheads="1"/>
            </p:cNvSpPr>
            <p:nvPr/>
          </p:nvSpPr>
          <p:spPr bwMode="gray">
            <a:xfrm rot="3419336">
              <a:off x="4032" y="1152"/>
              <a:ext cx="672" cy="672"/>
            </a:xfrm>
            <a:prstGeom prst="rect">
              <a:avLst/>
            </a:prstGeom>
            <a:gradFill rotWithShape="1">
              <a:gsLst>
                <a:gs pos="0">
                  <a:schemeClr val="accent2"/>
                </a:gs>
                <a:gs pos="100000">
                  <a:schemeClr val="accent2">
                    <a:gamma/>
                    <a:tint val="7372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accent2"/>
              </a:extrusionClr>
            </a:sp3d>
          </p:spPr>
          <p:txBody>
            <a:bodyPr wrap="none" anchor="ctr">
              <a:flatTx/>
            </a:bodyPr>
            <a:lstStyle/>
            <a:p>
              <a:pPr>
                <a:defRPr/>
              </a:pPr>
              <a:endParaRPr lang="zh-CN" altLang="en-US">
                <a:ea typeface="宋体" panose="02010600030101010101" pitchFamily="2" charset="-122"/>
              </a:endParaRPr>
            </a:p>
          </p:txBody>
        </p:sp>
      </p:grpSp>
      <p:sp>
        <p:nvSpPr>
          <p:cNvPr id="18440" name="Rectangle 27"/>
          <p:cNvSpPr>
            <a:spLocks noChangeArrowheads="1"/>
          </p:cNvSpPr>
          <p:nvPr/>
        </p:nvSpPr>
        <p:spPr bwMode="gray">
          <a:xfrm>
            <a:off x="2965450" y="2376488"/>
            <a:ext cx="6639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ea typeface="宋体" panose="02010600030101010101" pitchFamily="2" charset="-122"/>
              </a:rPr>
              <a:t>RFID</a:t>
            </a:r>
          </a:p>
        </p:txBody>
      </p:sp>
      <p:sp>
        <p:nvSpPr>
          <p:cNvPr id="18441" name="Rectangle 28"/>
          <p:cNvSpPr>
            <a:spLocks noChangeArrowheads="1"/>
          </p:cNvSpPr>
          <p:nvPr/>
        </p:nvSpPr>
        <p:spPr bwMode="gray">
          <a:xfrm>
            <a:off x="4648201" y="2362200"/>
            <a:ext cx="8915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ea typeface="宋体" panose="02010600030101010101" pitchFamily="2" charset="-122"/>
              </a:rPr>
              <a:t>Sensor</a:t>
            </a:r>
          </a:p>
        </p:txBody>
      </p:sp>
      <p:sp>
        <p:nvSpPr>
          <p:cNvPr id="18442" name="Rectangle 29"/>
          <p:cNvSpPr>
            <a:spLocks noChangeArrowheads="1"/>
          </p:cNvSpPr>
          <p:nvPr/>
        </p:nvSpPr>
        <p:spPr bwMode="gray">
          <a:xfrm>
            <a:off x="6096000" y="2362200"/>
            <a:ext cx="13401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ea typeface="宋体" panose="02010600030101010101" pitchFamily="2" charset="-122"/>
              </a:rPr>
              <a:t>Smart Tech</a:t>
            </a:r>
          </a:p>
        </p:txBody>
      </p:sp>
      <p:sp>
        <p:nvSpPr>
          <p:cNvPr id="18443" name="Rectangle 30"/>
          <p:cNvSpPr>
            <a:spLocks noChangeArrowheads="1"/>
          </p:cNvSpPr>
          <p:nvPr/>
        </p:nvSpPr>
        <p:spPr bwMode="gray">
          <a:xfrm>
            <a:off x="7848600" y="2362200"/>
            <a:ext cx="1274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ea typeface="宋体" panose="02010600030101010101" pitchFamily="2" charset="-122"/>
              </a:rPr>
              <a:t>Nano Tech</a:t>
            </a:r>
          </a:p>
        </p:txBody>
      </p:sp>
      <p:sp>
        <p:nvSpPr>
          <p:cNvPr id="18444" name="Rectangle 31"/>
          <p:cNvSpPr>
            <a:spLocks noChangeArrowheads="1"/>
          </p:cNvSpPr>
          <p:nvPr/>
        </p:nvSpPr>
        <p:spPr bwMode="auto">
          <a:xfrm>
            <a:off x="2743200" y="3581401"/>
            <a:ext cx="1295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ea typeface="宋体" panose="02010600030101010101" pitchFamily="2" charset="-122"/>
              </a:rPr>
              <a:t>To identify and track the data of things </a:t>
            </a:r>
          </a:p>
        </p:txBody>
      </p:sp>
      <p:sp>
        <p:nvSpPr>
          <p:cNvPr id="18445" name="Rectangle 32"/>
          <p:cNvSpPr>
            <a:spLocks noChangeArrowheads="1"/>
          </p:cNvSpPr>
          <p:nvPr/>
        </p:nvSpPr>
        <p:spPr bwMode="auto">
          <a:xfrm>
            <a:off x="4495800" y="3581400"/>
            <a:ext cx="1447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ea typeface="宋体" panose="02010600030101010101" pitchFamily="2" charset="-122"/>
              </a:rPr>
              <a:t>To collect and process the data to detect the changes in the physical status of things</a:t>
            </a:r>
          </a:p>
        </p:txBody>
      </p:sp>
      <p:sp>
        <p:nvSpPr>
          <p:cNvPr id="18446" name="Rectangle 33"/>
          <p:cNvSpPr>
            <a:spLocks noChangeArrowheads="1"/>
          </p:cNvSpPr>
          <p:nvPr/>
        </p:nvSpPr>
        <p:spPr bwMode="auto">
          <a:xfrm>
            <a:off x="6096000" y="3581400"/>
            <a:ext cx="1676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ea typeface="宋体" panose="02010600030101010101" pitchFamily="2" charset="-122"/>
              </a:rPr>
              <a:t>To enhance the power of the network by devolving processing capabilities to different part of the network.</a:t>
            </a:r>
          </a:p>
        </p:txBody>
      </p:sp>
      <p:sp>
        <p:nvSpPr>
          <p:cNvPr id="18447" name="Rectangle 34"/>
          <p:cNvSpPr>
            <a:spLocks noChangeArrowheads="1"/>
          </p:cNvSpPr>
          <p:nvPr/>
        </p:nvSpPr>
        <p:spPr bwMode="auto">
          <a:xfrm>
            <a:off x="7924800" y="3581401"/>
            <a:ext cx="15240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ea typeface="宋体" panose="02010600030101010101" pitchFamily="2" charset="-122"/>
              </a:rPr>
              <a:t>To make the smaller and smaller things have the ability to connect and interact.</a:t>
            </a:r>
          </a:p>
        </p:txBody>
      </p:sp>
    </p:spTree>
    <p:extLst>
      <p:ext uri="{BB962C8B-B14F-4D97-AF65-F5344CB8AC3E}">
        <p14:creationId xmlns:p14="http://schemas.microsoft.com/office/powerpoint/2010/main" val="3176958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en-US" altLang="zh-CN" sz="4000" dirty="0">
                <a:ea typeface="宋体" panose="02010600030101010101" pitchFamily="2" charset="-122"/>
              </a:rPr>
              <a:t>Sensor Technology</a:t>
            </a:r>
          </a:p>
        </p:txBody>
      </p:sp>
      <p:sp>
        <p:nvSpPr>
          <p:cNvPr id="19459" name="Rectangle 6"/>
          <p:cNvSpPr txBox="1">
            <a:spLocks noChangeArrowheads="1"/>
          </p:cNvSpPr>
          <p:nvPr/>
        </p:nvSpPr>
        <p:spPr bwMode="auto">
          <a:xfrm>
            <a:off x="700391" y="1447800"/>
            <a:ext cx="10653409"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800" dirty="0">
                <a:latin typeface="+mn-lt"/>
                <a:ea typeface="宋体" panose="02010600030101010101" pitchFamily="2" charset="-122"/>
              </a:rPr>
              <a:t>The ability to detect changes in the physical status of things is essential for recording changes in the environment. </a:t>
            </a:r>
          </a:p>
          <a:p>
            <a:pPr eaLnBrk="1" hangingPunct="1"/>
            <a:endParaRPr lang="en-US" altLang="zh-CN" sz="2800" dirty="0">
              <a:latin typeface="+mn-lt"/>
              <a:ea typeface="宋体" panose="02010600030101010101" pitchFamily="2" charset="-122"/>
            </a:endParaRPr>
          </a:p>
          <a:p>
            <a:pPr eaLnBrk="1" hangingPunct="1"/>
            <a:r>
              <a:rPr lang="en-US" altLang="zh-CN" sz="2800" dirty="0">
                <a:latin typeface="+mn-lt"/>
                <a:ea typeface="宋体" panose="02010600030101010101" pitchFamily="2" charset="-122"/>
              </a:rPr>
              <a:t>Wireless sensor technology play a pivotal role in bridging the gap between the physical and virtual worlds, and enabling things to respond to changes in their physical environment. Sensors collect data from their environment, generating information and raising awareness about context.</a:t>
            </a:r>
          </a:p>
          <a:p>
            <a:pPr eaLnBrk="1" hangingPunct="1"/>
            <a:endParaRPr lang="en-US" altLang="zh-CN" sz="2800" dirty="0">
              <a:latin typeface="+mn-lt"/>
              <a:ea typeface="宋体" panose="02010600030101010101" pitchFamily="2" charset="-122"/>
            </a:endParaRPr>
          </a:p>
          <a:p>
            <a:pPr eaLnBrk="1" hangingPunct="1"/>
            <a:r>
              <a:rPr lang="en-US" altLang="zh-CN" sz="2400" i="1" dirty="0">
                <a:latin typeface="+mn-lt"/>
                <a:ea typeface="宋体" panose="02010600030101010101" pitchFamily="2" charset="-122"/>
              </a:rPr>
              <a:t>Example: sensors in an electronic jacket can collect information about changes in external temperature and the parameters of the jacket can be adjusted accordingly</a:t>
            </a:r>
          </a:p>
          <a:p>
            <a:pPr eaLnBrk="1" hangingPunct="1">
              <a:lnSpc>
                <a:spcPct val="90000"/>
              </a:lnSpc>
              <a:spcBef>
                <a:spcPct val="20000"/>
              </a:spcBef>
              <a:buClr>
                <a:schemeClr val="tx2"/>
              </a:buClr>
              <a:buSzPct val="115000"/>
              <a:buFont typeface="Wingdings" panose="05000000000000000000" pitchFamily="2" charset="2"/>
              <a:buNone/>
            </a:pPr>
            <a:endParaRPr lang="en-US" altLang="zh-CN" sz="2800" dirty="0">
              <a:latin typeface="+mn-lt"/>
              <a:ea typeface="宋体" panose="02010600030101010101" pitchFamily="2" charset="-122"/>
            </a:endParaRPr>
          </a:p>
          <a:p>
            <a:pPr eaLnBrk="1" hangingPunct="1">
              <a:lnSpc>
                <a:spcPct val="90000"/>
              </a:lnSpc>
              <a:spcBef>
                <a:spcPct val="20000"/>
              </a:spcBef>
              <a:buClr>
                <a:schemeClr val="tx2"/>
              </a:buClr>
              <a:buSzPct val="115000"/>
              <a:buFont typeface="Wingdings" panose="05000000000000000000" pitchFamily="2" charset="2"/>
              <a:buNone/>
            </a:pPr>
            <a:r>
              <a:rPr lang="en-US" altLang="zh-CN" sz="2800" dirty="0">
                <a:latin typeface="+mn-lt"/>
                <a:ea typeface="宋体" panose="02010600030101010101" pitchFamily="2" charset="-122"/>
              </a:rPr>
              <a:t>	</a:t>
            </a:r>
          </a:p>
          <a:p>
            <a:pPr eaLnBrk="1" hangingPunct="1">
              <a:lnSpc>
                <a:spcPct val="90000"/>
              </a:lnSpc>
              <a:spcBef>
                <a:spcPct val="20000"/>
              </a:spcBef>
              <a:buClr>
                <a:schemeClr val="tx2"/>
              </a:buClr>
              <a:buSzPct val="115000"/>
              <a:buFont typeface="Wingdings" panose="05000000000000000000" pitchFamily="2" charset="2"/>
              <a:buNone/>
            </a:pPr>
            <a:r>
              <a:rPr lang="en-US" altLang="zh-CN" sz="4000" b="1" dirty="0">
                <a:latin typeface="+mn-lt"/>
                <a:ea typeface="宋体" panose="02010600030101010101" pitchFamily="2" charset="-122"/>
              </a:rPr>
              <a:t>   </a:t>
            </a:r>
            <a:endParaRPr lang="en-US" altLang="zh-CN" sz="3600" dirty="0">
              <a:latin typeface="+mn-lt"/>
              <a:ea typeface="宋体" panose="02010600030101010101" pitchFamily="2" charset="-122"/>
            </a:endParaRPr>
          </a:p>
        </p:txBody>
      </p:sp>
    </p:spTree>
    <p:extLst>
      <p:ext uri="{BB962C8B-B14F-4D97-AF65-F5344CB8AC3E}">
        <p14:creationId xmlns:p14="http://schemas.microsoft.com/office/powerpoint/2010/main" val="144903809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Daily life in IoT Era</a:t>
            </a:r>
          </a:p>
        </p:txBody>
      </p:sp>
      <p:sp>
        <p:nvSpPr>
          <p:cNvPr id="3" name="Content Placeholder 2"/>
          <p:cNvSpPr>
            <a:spLocks noGrp="1"/>
          </p:cNvSpPr>
          <p:nvPr>
            <p:ph idx="1"/>
          </p:nvPr>
        </p:nvSpPr>
        <p:spPr>
          <a:xfrm>
            <a:off x="428017" y="1600200"/>
            <a:ext cx="9390557" cy="4800600"/>
          </a:xfrm>
        </p:spPr>
        <p:txBody>
          <a:bodyPr>
            <a:normAutofit/>
          </a:bodyPr>
          <a:lstStyle/>
          <a:p>
            <a:r>
              <a:rPr lang="en-US" sz="3600" dirty="0"/>
              <a:t>Life will be changed completely with the technology of IoT</a:t>
            </a:r>
          </a:p>
          <a:p>
            <a:pPr lvl="1"/>
            <a:r>
              <a:rPr lang="en-US" sz="3200" dirty="0"/>
              <a:t>The car will generate alarm automatically if the driver has made any mistake during the operation</a:t>
            </a:r>
          </a:p>
          <a:p>
            <a:pPr lvl="1"/>
            <a:r>
              <a:rPr lang="en-US" sz="3200" dirty="0"/>
              <a:t>The bag will send out reminder message if the owner forgot bring something</a:t>
            </a:r>
          </a:p>
          <a:p>
            <a:pPr lvl="1"/>
            <a:r>
              <a:rPr lang="en-US" sz="3200" dirty="0"/>
              <a:t>The cloth will tell the washing-machine about its requirement for the water temperature</a:t>
            </a:r>
          </a:p>
          <a:p>
            <a:endParaRPr lang="en-US" sz="360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94136" y="2035545"/>
            <a:ext cx="1436164" cy="107573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00494" y="3312319"/>
            <a:ext cx="1466850" cy="14668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34317" y="5184781"/>
            <a:ext cx="1495983" cy="112198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066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applications</a:t>
            </a:r>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0098" y="1752263"/>
            <a:ext cx="7914021" cy="4690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909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982710"/>
            <a:ext cx="8229600" cy="4143454"/>
          </a:xfrm>
        </p:spPr>
        <p:txBody>
          <a:bodyPr>
            <a:normAutofit/>
          </a:bodyPr>
          <a:lstStyle/>
          <a:p>
            <a:endParaRPr lang="en-US" sz="2400" dirty="0"/>
          </a:p>
          <a:p>
            <a:endParaRPr lang="en-US" sz="2400" dirty="0"/>
          </a:p>
        </p:txBody>
      </p:sp>
      <p:sp>
        <p:nvSpPr>
          <p:cNvPr id="10" name="TextBox 9"/>
          <p:cNvSpPr txBox="1"/>
          <p:nvPr/>
        </p:nvSpPr>
        <p:spPr>
          <a:xfrm>
            <a:off x="8223565" y="784069"/>
            <a:ext cx="2444436"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solidFill>
                <a:latin typeface="Arial" panose="020B0604020202020204" pitchFamily="34" charset="0"/>
                <a:cs typeface="Arial" panose="020B0604020202020204" pitchFamily="34" charset="0"/>
              </a:rPr>
              <a:t> Education – Partnership – Solutions  </a:t>
            </a:r>
          </a:p>
        </p:txBody>
      </p:sp>
      <p:sp>
        <p:nvSpPr>
          <p:cNvPr id="11" name="TextBox 3"/>
          <p:cNvSpPr txBox="1"/>
          <p:nvPr/>
        </p:nvSpPr>
        <p:spPr>
          <a:xfrm>
            <a:off x="7119042" y="245461"/>
            <a:ext cx="3548959" cy="53860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solidFill>
                  <a:schemeClr val="bg1"/>
                </a:solidFill>
                <a:latin typeface="Arial" panose="020B0604020202020204" pitchFamily="34" charset="0"/>
                <a:cs typeface="Arial" panose="020B0604020202020204" pitchFamily="34" charset="0"/>
              </a:rPr>
              <a:t>Information Security</a:t>
            </a:r>
          </a:p>
          <a:p>
            <a:pPr algn="r"/>
            <a:r>
              <a:rPr lang="en-US" sz="1100" dirty="0">
                <a:solidFill>
                  <a:schemeClr val="bg1"/>
                </a:solidFill>
                <a:latin typeface="Arial" panose="020B0604020202020204" pitchFamily="34" charset="0"/>
                <a:cs typeface="Arial" panose="020B0604020202020204" pitchFamily="34" charset="0"/>
              </a:rPr>
              <a:t>Office of Budget and Finance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4945" y="0"/>
            <a:ext cx="9784537" cy="6904878"/>
          </a:xfrm>
          <a:prstGeom prst="rect">
            <a:avLst/>
          </a:prstGeom>
        </p:spPr>
      </p:pic>
    </p:spTree>
    <p:extLst>
      <p:ext uri="{BB962C8B-B14F-4D97-AF65-F5344CB8AC3E}">
        <p14:creationId xmlns:p14="http://schemas.microsoft.com/office/powerpoint/2010/main" val="30473041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981200" y="228600"/>
            <a:ext cx="7620000" cy="715962"/>
          </a:xfrm>
        </p:spPr>
        <p:txBody>
          <a:bodyPr/>
          <a:lstStyle/>
          <a:p>
            <a:pPr eaLnBrk="1" hangingPunct="1">
              <a:defRPr/>
            </a:pPr>
            <a:r>
              <a:rPr lang="en-US" altLang="zh-CN" sz="4000" dirty="0">
                <a:ea typeface="宋体" panose="02010600030101010101" pitchFamily="2" charset="-122"/>
              </a:rPr>
              <a:t>IoT Application Example (1)</a:t>
            </a:r>
          </a:p>
        </p:txBody>
      </p:sp>
      <p:sp>
        <p:nvSpPr>
          <p:cNvPr id="13315" name="TextBox 2"/>
          <p:cNvSpPr txBox="1">
            <a:spLocks noChangeArrowheads="1"/>
          </p:cNvSpPr>
          <p:nvPr/>
        </p:nvSpPr>
        <p:spPr bwMode="auto">
          <a:xfrm>
            <a:off x="6876645" y="1122370"/>
            <a:ext cx="419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latin typeface="+mn-lt"/>
                <a:ea typeface="宋体" panose="02010600030101010101" pitchFamily="2" charset="-122"/>
              </a:rPr>
              <a:t>Scenario: shopping</a:t>
            </a:r>
          </a:p>
        </p:txBody>
      </p:sp>
      <p:pic>
        <p:nvPicPr>
          <p:cNvPr id="13316" name="图片 3" descr="155chart_426_600-755779.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1093788"/>
            <a:ext cx="40386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肘形连接符 14"/>
          <p:cNvCxnSpPr/>
          <p:nvPr/>
        </p:nvCxnSpPr>
        <p:spPr>
          <a:xfrm>
            <a:off x="3505200" y="3276600"/>
            <a:ext cx="5791200" cy="762000"/>
          </a:xfrm>
          <a:prstGeom prst="bentConnector3">
            <a:avLst>
              <a:gd name="adj1" fmla="val 39145"/>
            </a:avLst>
          </a:prstGeom>
          <a:ln w="19050"/>
        </p:spPr>
        <p:style>
          <a:lnRef idx="1">
            <a:schemeClr val="accent1"/>
          </a:lnRef>
          <a:fillRef idx="0">
            <a:schemeClr val="accent1"/>
          </a:fillRef>
          <a:effectRef idx="0">
            <a:schemeClr val="accent1"/>
          </a:effectRef>
          <a:fontRef idx="minor">
            <a:schemeClr val="tx1"/>
          </a:fontRef>
        </p:style>
      </p:cxnSp>
      <p:cxnSp>
        <p:nvCxnSpPr>
          <p:cNvPr id="18" name="肘形连接符 17"/>
          <p:cNvCxnSpPr/>
          <p:nvPr/>
        </p:nvCxnSpPr>
        <p:spPr>
          <a:xfrm>
            <a:off x="4191000" y="2286000"/>
            <a:ext cx="5105400" cy="304800"/>
          </a:xfrm>
          <a:prstGeom prst="bentConnector3">
            <a:avLst>
              <a:gd name="adj1" fmla="val 31147"/>
            </a:avLst>
          </a:prstGeom>
          <a:ln w="19050"/>
        </p:spPr>
        <p:style>
          <a:lnRef idx="1">
            <a:schemeClr val="accent1"/>
          </a:lnRef>
          <a:fillRef idx="0">
            <a:schemeClr val="accent1"/>
          </a:fillRef>
          <a:effectRef idx="0">
            <a:schemeClr val="accent1"/>
          </a:effectRef>
          <a:fontRef idx="minor">
            <a:schemeClr val="tx1"/>
          </a:fontRef>
        </p:style>
      </p:cxnSp>
      <p:cxnSp>
        <p:nvCxnSpPr>
          <p:cNvPr id="21" name="肘形连接符 20"/>
          <p:cNvCxnSpPr/>
          <p:nvPr/>
        </p:nvCxnSpPr>
        <p:spPr>
          <a:xfrm>
            <a:off x="3124200" y="6019800"/>
            <a:ext cx="6324600" cy="533400"/>
          </a:xfrm>
          <a:prstGeom prst="bentConnector3">
            <a:avLst>
              <a:gd name="adj1" fmla="val 42093"/>
            </a:avLst>
          </a:prstGeom>
          <a:ln w="19050"/>
        </p:spPr>
        <p:style>
          <a:lnRef idx="1">
            <a:schemeClr val="accent1"/>
          </a:lnRef>
          <a:fillRef idx="0">
            <a:schemeClr val="accent1"/>
          </a:fillRef>
          <a:effectRef idx="0">
            <a:schemeClr val="accent1"/>
          </a:effectRef>
          <a:fontRef idx="minor">
            <a:schemeClr val="tx1"/>
          </a:fontRef>
        </p:style>
      </p:cxnSp>
      <p:cxnSp>
        <p:nvCxnSpPr>
          <p:cNvPr id="23" name="肘形连接符 22"/>
          <p:cNvCxnSpPr/>
          <p:nvPr/>
        </p:nvCxnSpPr>
        <p:spPr>
          <a:xfrm>
            <a:off x="4648200" y="4724400"/>
            <a:ext cx="4800600" cy="533400"/>
          </a:xfrm>
          <a:prstGeom prst="bentConnector3">
            <a:avLst>
              <a:gd name="adj1" fmla="val 23214"/>
            </a:avLst>
          </a:prstGeom>
          <a:ln w="19050"/>
        </p:spPr>
        <p:style>
          <a:lnRef idx="1">
            <a:schemeClr val="accent1"/>
          </a:lnRef>
          <a:fillRef idx="0">
            <a:schemeClr val="accent1"/>
          </a:fillRef>
          <a:effectRef idx="0">
            <a:schemeClr val="accent1"/>
          </a:effectRef>
          <a:fontRef idx="minor">
            <a:schemeClr val="tx1"/>
          </a:fontRef>
        </p:style>
      </p:cxnSp>
      <p:sp>
        <p:nvSpPr>
          <p:cNvPr id="13321" name="TextBox 31"/>
          <p:cNvSpPr txBox="1">
            <a:spLocks noChangeArrowheads="1"/>
          </p:cNvSpPr>
          <p:nvPr/>
        </p:nvSpPr>
        <p:spPr bwMode="auto">
          <a:xfrm>
            <a:off x="5791200" y="1905000"/>
            <a:ext cx="4191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latin typeface="+mn-lt"/>
                <a:ea typeface="宋体" panose="02010600030101010101" pitchFamily="2" charset="-122"/>
              </a:rPr>
              <a:t>(2) When shopping in the market, the goods introduce themselves.</a:t>
            </a:r>
          </a:p>
        </p:txBody>
      </p:sp>
      <p:sp>
        <p:nvSpPr>
          <p:cNvPr id="13322" name="TextBox 37"/>
          <p:cNvSpPr txBox="1">
            <a:spLocks noChangeArrowheads="1"/>
          </p:cNvSpPr>
          <p:nvPr/>
        </p:nvSpPr>
        <p:spPr bwMode="auto">
          <a:xfrm>
            <a:off x="5791200" y="3352800"/>
            <a:ext cx="4343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latin typeface="+mn-lt"/>
                <a:ea typeface="宋体" panose="02010600030101010101" pitchFamily="2" charset="-122"/>
              </a:rPr>
              <a:t>(1) When entering the doors, scanners identify the tags on shopper’s clothing.</a:t>
            </a:r>
          </a:p>
        </p:txBody>
      </p:sp>
      <p:sp>
        <p:nvSpPr>
          <p:cNvPr id="13323" name="TextBox 41"/>
          <p:cNvSpPr txBox="1">
            <a:spLocks noChangeArrowheads="1"/>
          </p:cNvSpPr>
          <p:nvPr/>
        </p:nvSpPr>
        <p:spPr bwMode="auto">
          <a:xfrm>
            <a:off x="5791200" y="4318338"/>
            <a:ext cx="4572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latin typeface="+mn-lt"/>
                <a:ea typeface="宋体" panose="02010600030101010101" pitchFamily="2" charset="-122"/>
              </a:rPr>
              <a:t>(4) When paying for the goods, the microchip of the credit card communicates with checkout reader. </a:t>
            </a:r>
          </a:p>
        </p:txBody>
      </p:sp>
      <p:sp>
        <p:nvSpPr>
          <p:cNvPr id="13324" name="TextBox 37"/>
          <p:cNvSpPr txBox="1">
            <a:spLocks noChangeArrowheads="1"/>
          </p:cNvSpPr>
          <p:nvPr/>
        </p:nvSpPr>
        <p:spPr bwMode="auto">
          <a:xfrm>
            <a:off x="5791200" y="5562601"/>
            <a:ext cx="43434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latin typeface="+mn-lt"/>
                <a:ea typeface="宋体" panose="02010600030101010101" pitchFamily="2" charset="-122"/>
              </a:rPr>
              <a:t>(3) When shoppers remove goods from the shelf, the reader tell the staff to put a new one. </a:t>
            </a:r>
          </a:p>
        </p:txBody>
      </p:sp>
    </p:spTree>
    <p:extLst>
      <p:ext uri="{BB962C8B-B14F-4D97-AF65-F5344CB8AC3E}">
        <p14:creationId xmlns:p14="http://schemas.microsoft.com/office/powerpoint/2010/main" val="373298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1" grpId="0"/>
      <p:bldP spid="13322" grpId="0"/>
      <p:bldP spid="13323" grpId="0"/>
      <p:bldP spid="133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943100" y="292100"/>
            <a:ext cx="7620000" cy="927100"/>
          </a:xfrm>
        </p:spPr>
        <p:txBody>
          <a:bodyPr/>
          <a:lstStyle/>
          <a:p>
            <a:pPr eaLnBrk="1" hangingPunct="1">
              <a:defRPr/>
            </a:pPr>
            <a:r>
              <a:rPr lang="en-US" altLang="zh-CN" sz="4000" dirty="0">
                <a:ea typeface="宋体" panose="02010600030101010101" pitchFamily="2" charset="-122"/>
              </a:rPr>
              <a:t>IoT Application Example (2)</a:t>
            </a:r>
          </a:p>
        </p:txBody>
      </p:sp>
      <p:sp>
        <p:nvSpPr>
          <p:cNvPr id="15363" name="TextBox 2"/>
          <p:cNvSpPr txBox="1">
            <a:spLocks noChangeArrowheads="1"/>
          </p:cNvSpPr>
          <p:nvPr/>
        </p:nvSpPr>
        <p:spPr bwMode="auto">
          <a:xfrm>
            <a:off x="7239000" y="1121925"/>
            <a:ext cx="464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latin typeface="+mn-lt"/>
                <a:ea typeface="宋体" panose="02010600030101010101" pitchFamily="2" charset="-122"/>
              </a:rPr>
              <a:t>Scenario: Health Care</a:t>
            </a: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941" y="1544002"/>
            <a:ext cx="4648200" cy="4858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3"/>
          <p:cNvSpPr txBox="1">
            <a:spLocks noChangeArrowheads="1"/>
          </p:cNvSpPr>
          <p:nvPr/>
        </p:nvSpPr>
        <p:spPr bwMode="auto">
          <a:xfrm>
            <a:off x="5301574" y="1689366"/>
            <a:ext cx="638134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5205" indent="-228600" algn="l" rtl="0" eaLnBrk="0" fontAlgn="base" hangingPunct="0">
              <a:spcBef>
                <a:spcPct val="20000"/>
              </a:spcBef>
              <a:spcAft>
                <a:spcPct val="0"/>
              </a:spcAft>
              <a:buClr>
                <a:srgbClr val="D2CB6C"/>
              </a:buClr>
              <a:buFont typeface="Arial" panose="020B0604020202020204" pitchFamily="34"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panose="020B0604020202020204" pitchFamily="34" charset="0"/>
              <a:buChar char="•"/>
              <a:defRPr sz="1600" kern="1200">
                <a:solidFill>
                  <a:schemeClr val="tx1"/>
                </a:solidFill>
                <a:latin typeface="+mn-lt"/>
                <a:ea typeface="+mn-ea"/>
                <a:cs typeface="+mn-cs"/>
              </a:defRPr>
            </a:lvl4pPr>
            <a:lvl5pPr marL="1554480" indent="-228600" algn="l" rtl="0" eaLnBrk="0" fontAlgn="base" hangingPunct="0">
              <a:spcBef>
                <a:spcPct val="20000"/>
              </a:spcBef>
              <a:spcAft>
                <a:spcPct val="0"/>
              </a:spcAft>
              <a:buClr>
                <a:srgbClr val="C89F5D"/>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indent="-342900"/>
            <a:r>
              <a:rPr lang="en-US" sz="2800" dirty="0"/>
              <a:t>Various sensors for various conditions</a:t>
            </a:r>
          </a:p>
          <a:p>
            <a:pPr indent="-342900"/>
            <a:r>
              <a:rPr lang="en-US" sz="2800" dirty="0"/>
              <a:t>Example ICP sensor: Short or long term monitoring of pressure in the brain cavity</a:t>
            </a:r>
          </a:p>
          <a:p>
            <a:pPr indent="-342900"/>
            <a:r>
              <a:rPr lang="en-US" sz="2800" dirty="0"/>
              <a:t>Implanted in the brain cavity and senses the increase of pressure</a:t>
            </a:r>
          </a:p>
          <a:p>
            <a:pPr indent="-342900"/>
            <a:r>
              <a:rPr lang="en-US" sz="2800" dirty="0"/>
              <a:t>Sensor and associated electronics encapsulated in safe and biodegradable material</a:t>
            </a:r>
          </a:p>
          <a:p>
            <a:pPr indent="-342900"/>
            <a:r>
              <a:rPr lang="en-US" sz="2800" dirty="0"/>
              <a:t>External RF reader powers the unit and receives the signal</a:t>
            </a:r>
          </a:p>
        </p:txBody>
      </p:sp>
    </p:spTree>
    <p:extLst>
      <p:ext uri="{BB962C8B-B14F-4D97-AF65-F5344CB8AC3E}">
        <p14:creationId xmlns:p14="http://schemas.microsoft.com/office/powerpoint/2010/main" val="445001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943100" y="292100"/>
            <a:ext cx="7620000" cy="927100"/>
          </a:xfrm>
        </p:spPr>
        <p:txBody>
          <a:bodyPr/>
          <a:lstStyle/>
          <a:p>
            <a:pPr eaLnBrk="1" hangingPunct="1">
              <a:defRPr/>
            </a:pPr>
            <a:r>
              <a:rPr lang="en-US" altLang="zh-CN" sz="4000" dirty="0">
                <a:ea typeface="宋体" panose="02010600030101010101" pitchFamily="2" charset="-122"/>
              </a:rPr>
              <a:t>IoT Application Example (2)</a:t>
            </a:r>
          </a:p>
        </p:txBody>
      </p:sp>
      <p:sp>
        <p:nvSpPr>
          <p:cNvPr id="15363" name="TextBox 2"/>
          <p:cNvSpPr txBox="1">
            <a:spLocks noChangeArrowheads="1"/>
          </p:cNvSpPr>
          <p:nvPr/>
        </p:nvSpPr>
        <p:spPr bwMode="auto">
          <a:xfrm>
            <a:off x="7239000" y="1121925"/>
            <a:ext cx="464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latin typeface="+mn-lt"/>
                <a:ea typeface="宋体" panose="02010600030101010101" pitchFamily="2" charset="-122"/>
              </a:rPr>
              <a:t>Scenario: Health Care</a:t>
            </a: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941" y="1544002"/>
            <a:ext cx="4648200" cy="4858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3"/>
          <p:cNvSpPr txBox="1">
            <a:spLocks noChangeArrowheads="1"/>
          </p:cNvSpPr>
          <p:nvPr/>
        </p:nvSpPr>
        <p:spPr bwMode="auto">
          <a:xfrm>
            <a:off x="5301574" y="1689366"/>
            <a:ext cx="638134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5205" indent="-228600" algn="l" rtl="0" eaLnBrk="0" fontAlgn="base" hangingPunct="0">
              <a:spcBef>
                <a:spcPct val="20000"/>
              </a:spcBef>
              <a:spcAft>
                <a:spcPct val="0"/>
              </a:spcAft>
              <a:buClr>
                <a:srgbClr val="D2CB6C"/>
              </a:buClr>
              <a:buFont typeface="Arial" panose="020B0604020202020204" pitchFamily="34"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panose="020B0604020202020204" pitchFamily="34" charset="0"/>
              <a:buChar char="•"/>
              <a:defRPr sz="1600" kern="1200">
                <a:solidFill>
                  <a:schemeClr val="tx1"/>
                </a:solidFill>
                <a:latin typeface="+mn-lt"/>
                <a:ea typeface="+mn-ea"/>
                <a:cs typeface="+mn-cs"/>
              </a:defRPr>
            </a:lvl4pPr>
            <a:lvl5pPr marL="1554480" indent="-228600" algn="l" rtl="0" eaLnBrk="0" fontAlgn="base" hangingPunct="0">
              <a:spcBef>
                <a:spcPct val="20000"/>
              </a:spcBef>
              <a:spcAft>
                <a:spcPct val="0"/>
              </a:spcAft>
              <a:buClr>
                <a:srgbClr val="C89F5D"/>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indent="-342900"/>
            <a:r>
              <a:rPr lang="en-US" sz="2800" dirty="0"/>
              <a:t>Can you think of any challenges/difficulties when solving problems in this area?</a:t>
            </a:r>
          </a:p>
          <a:p>
            <a:pPr lvl="1" indent="-342900"/>
            <a:r>
              <a:rPr lang="en-US" sz="2600" dirty="0"/>
              <a:t>From the application point of view?</a:t>
            </a:r>
          </a:p>
          <a:p>
            <a:pPr lvl="1" indent="-342900"/>
            <a:r>
              <a:rPr lang="en-US" sz="2600" dirty="0"/>
              <a:t>From the user point of view?</a:t>
            </a:r>
          </a:p>
          <a:p>
            <a:pPr lvl="1" indent="-342900"/>
            <a:r>
              <a:rPr lang="en-US" sz="2600" dirty="0"/>
              <a:t>……</a:t>
            </a:r>
          </a:p>
        </p:txBody>
      </p:sp>
    </p:spTree>
    <p:extLst>
      <p:ext uri="{BB962C8B-B14F-4D97-AF65-F5344CB8AC3E}">
        <p14:creationId xmlns:p14="http://schemas.microsoft.com/office/powerpoint/2010/main" val="3490905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8" name="Group 4"/>
          <p:cNvGrpSpPr>
            <a:grpSpLocks noChangeAspect="1"/>
          </p:cNvGrpSpPr>
          <p:nvPr/>
        </p:nvGrpSpPr>
        <p:grpSpPr bwMode="auto">
          <a:xfrm>
            <a:off x="5850212" y="-3025303"/>
            <a:ext cx="4817789" cy="10460642"/>
            <a:chOff x="3641" y="82"/>
            <a:chExt cx="1962" cy="4260"/>
          </a:xfrm>
        </p:grpSpPr>
        <p:sp>
          <p:nvSpPr>
            <p:cNvPr id="1027" name="AutoShape 3"/>
            <p:cNvSpPr>
              <a:spLocks noChangeAspect="1" noChangeArrowheads="1" noTextEdit="1"/>
            </p:cNvSpPr>
            <p:nvPr/>
          </p:nvSpPr>
          <p:spPr bwMode="auto">
            <a:xfrm>
              <a:off x="3648" y="672"/>
              <a:ext cx="1955" cy="3670"/>
            </a:xfrm>
            <a:prstGeom prst="rect">
              <a:avLst/>
            </a:prstGeom>
            <a:noFill/>
            <a:ln w="9525">
              <a:noFill/>
              <a:miter lim="800000"/>
            </a:ln>
          </p:spPr>
          <p:txBody>
            <a:bodyPr vert="horz" wrap="square" lIns="91440" tIns="45720" rIns="91440" bIns="45720" numCol="1" anchor="t" anchorCtr="0" compatLnSpc="1"/>
            <a:lstStyle/>
            <a:p>
              <a:endParaRPr lang="en-US" dirty="0"/>
            </a:p>
          </p:txBody>
        </p:sp>
        <p:pic>
          <p:nvPicPr>
            <p:cNvPr id="1029" name="Picture 5"/>
            <p:cNvPicPr>
              <a:picLocks noChangeAspect="1" noChangeArrowheads="1"/>
            </p:cNvPicPr>
            <p:nvPr/>
          </p:nvPicPr>
          <p:blipFill>
            <a:blip r:embed="rId2" cstate="print"/>
            <a:srcRect/>
            <a:stretch>
              <a:fillRect/>
            </a:stretch>
          </p:blipFill>
          <p:spPr bwMode="auto">
            <a:xfrm>
              <a:off x="3641" y="82"/>
              <a:ext cx="1962" cy="3677"/>
            </a:xfrm>
            <a:prstGeom prst="rect">
              <a:avLst/>
            </a:prstGeom>
            <a:noFill/>
            <a:ln w="9525">
              <a:noFill/>
              <a:miter lim="800000"/>
              <a:headEnd/>
              <a:tailEnd/>
            </a:ln>
          </p:spPr>
        </p:pic>
      </p:grpSp>
      <p:sp>
        <p:nvSpPr>
          <p:cNvPr id="11267" name="Rectangle 3"/>
          <p:cNvSpPr>
            <a:spLocks noGrp="1" noChangeArrowheads="1"/>
          </p:cNvSpPr>
          <p:nvPr>
            <p:ph type="body" idx="1"/>
          </p:nvPr>
        </p:nvSpPr>
        <p:spPr>
          <a:xfrm>
            <a:off x="622569" y="1893652"/>
            <a:ext cx="4961107" cy="4373563"/>
          </a:xfrm>
        </p:spPr>
        <p:txBody>
          <a:bodyPr>
            <a:normAutofit/>
          </a:bodyPr>
          <a:lstStyle/>
          <a:p>
            <a:pPr>
              <a:lnSpc>
                <a:spcPct val="90000"/>
              </a:lnSpc>
            </a:pPr>
            <a:r>
              <a:rPr lang="en-US" sz="3200" dirty="0"/>
              <a:t>Operating Room of the Future </a:t>
            </a:r>
          </a:p>
          <a:p>
            <a:pPr lvl="1">
              <a:lnSpc>
                <a:spcPct val="90000"/>
              </a:lnSpc>
            </a:pPr>
            <a:r>
              <a:rPr lang="en-US" sz="2800" dirty="0"/>
              <a:t>Closed loop monitoring and control; multiple treatment stations, plug and play devices; robotic microsurgery </a:t>
            </a:r>
          </a:p>
          <a:p>
            <a:pPr lvl="1">
              <a:lnSpc>
                <a:spcPct val="90000"/>
              </a:lnSpc>
            </a:pPr>
            <a:r>
              <a:rPr lang="en-US" sz="2800" dirty="0"/>
              <a:t>System coordination challenge</a:t>
            </a:r>
          </a:p>
        </p:txBody>
      </p:sp>
      <p:sp>
        <p:nvSpPr>
          <p:cNvPr id="9" name="TextBox 2"/>
          <p:cNvSpPr txBox="1">
            <a:spLocks noChangeArrowheads="1"/>
          </p:cNvSpPr>
          <p:nvPr/>
        </p:nvSpPr>
        <p:spPr bwMode="auto">
          <a:xfrm>
            <a:off x="1905000" y="1219200"/>
            <a:ext cx="464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latin typeface="+mn-lt"/>
                <a:ea typeface="宋体" panose="02010600030101010101" pitchFamily="2" charset="-122"/>
              </a:rPr>
              <a:t>Scenario: Health Care</a:t>
            </a:r>
          </a:p>
        </p:txBody>
      </p:sp>
      <p:sp>
        <p:nvSpPr>
          <p:cNvPr id="10" name="Rectangle 9"/>
          <p:cNvSpPr/>
          <p:nvPr/>
        </p:nvSpPr>
        <p:spPr>
          <a:xfrm>
            <a:off x="7239000" y="0"/>
            <a:ext cx="27432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
          <p:cNvSpPr>
            <a:spLocks noGrp="1" noChangeArrowheads="1"/>
          </p:cNvSpPr>
          <p:nvPr>
            <p:ph type="title"/>
          </p:nvPr>
        </p:nvSpPr>
        <p:spPr>
          <a:xfrm>
            <a:off x="1943100" y="292100"/>
            <a:ext cx="7620000" cy="927100"/>
          </a:xfrm>
        </p:spPr>
        <p:txBody>
          <a:bodyPr/>
          <a:lstStyle/>
          <a:p>
            <a:pPr eaLnBrk="1" hangingPunct="1">
              <a:defRPr/>
            </a:pPr>
            <a:r>
              <a:rPr lang="en-US" altLang="zh-CN" sz="4000" dirty="0">
                <a:ea typeface="宋体" panose="02010600030101010101" pitchFamily="2" charset="-122"/>
              </a:rPr>
              <a:t>IoT Application Example (3)</a:t>
            </a:r>
          </a:p>
        </p:txBody>
      </p:sp>
    </p:spTree>
    <p:extLst>
      <p:ext uri="{BB962C8B-B14F-4D97-AF65-F5344CB8AC3E}">
        <p14:creationId xmlns:p14="http://schemas.microsoft.com/office/powerpoint/2010/main" val="657046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racq.com.au/__data/assets/image/0017/42245/esp_car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4753" y="4505324"/>
            <a:ext cx="3337247" cy="2114549"/>
          </a:xfrm>
          <a:prstGeom prst="rect">
            <a:avLst/>
          </a:prstGeom>
          <a:noFill/>
          <a:extLst>
            <a:ext uri="{909E8E84-426E-40DD-AFC4-6F175D3DCCD1}">
              <a14:hiddenFill xmlns:a14="http://schemas.microsoft.com/office/drawing/2010/main">
                <a:solidFill>
                  <a:srgbClr val="FFFFFF"/>
                </a:solidFill>
              </a14:hiddenFill>
            </a:ext>
          </a:extLst>
        </p:spPr>
      </p:pic>
      <p:sp>
        <p:nvSpPr>
          <p:cNvPr id="48130" name="Rectangle 2"/>
          <p:cNvSpPr>
            <a:spLocks noGrp="1" noChangeArrowheads="1"/>
          </p:cNvSpPr>
          <p:nvPr>
            <p:ph type="title"/>
          </p:nvPr>
        </p:nvSpPr>
        <p:spPr/>
        <p:txBody>
          <a:bodyPr/>
          <a:lstStyle/>
          <a:p>
            <a:pPr algn="ctr" eaLnBrk="1" hangingPunct="1">
              <a:defRPr/>
            </a:pPr>
            <a:r>
              <a:rPr lang="en-US" altLang="zh-CN" sz="4000" dirty="0">
                <a:ea typeface="宋体" panose="02010600030101010101" pitchFamily="2" charset="-122"/>
              </a:rPr>
              <a:t>IoT Application Example (4)</a:t>
            </a:r>
          </a:p>
        </p:txBody>
      </p:sp>
      <p:sp>
        <p:nvSpPr>
          <p:cNvPr id="17411" name="TextBox 2"/>
          <p:cNvSpPr txBox="1">
            <a:spLocks noChangeArrowheads="1"/>
          </p:cNvSpPr>
          <p:nvPr/>
        </p:nvSpPr>
        <p:spPr bwMode="auto">
          <a:xfrm>
            <a:off x="2133600" y="1295400"/>
            <a:ext cx="518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latin typeface="+mn-lt"/>
                <a:ea typeface="宋体" panose="02010600030101010101" pitchFamily="2" charset="-122"/>
              </a:rPr>
              <a:t>Scenario: Transportation</a:t>
            </a:r>
          </a:p>
        </p:txBody>
      </p:sp>
      <p:sp>
        <p:nvSpPr>
          <p:cNvPr id="6" name="Rectangle 3"/>
          <p:cNvSpPr txBox="1">
            <a:spLocks noChangeArrowheads="1"/>
          </p:cNvSpPr>
          <p:nvPr/>
        </p:nvSpPr>
        <p:spPr bwMode="auto">
          <a:xfrm>
            <a:off x="398834" y="1817687"/>
            <a:ext cx="958336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5205" indent="-228600" algn="l" rtl="0" eaLnBrk="0" fontAlgn="base" hangingPunct="0">
              <a:spcBef>
                <a:spcPct val="20000"/>
              </a:spcBef>
              <a:spcAft>
                <a:spcPct val="0"/>
              </a:spcAft>
              <a:buClr>
                <a:srgbClr val="D2CB6C"/>
              </a:buClr>
              <a:buFont typeface="Arial" panose="020B0604020202020204" pitchFamily="34"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panose="020B0604020202020204" pitchFamily="34" charset="0"/>
              <a:buChar char="•"/>
              <a:defRPr sz="1600" kern="1200">
                <a:solidFill>
                  <a:schemeClr val="tx1"/>
                </a:solidFill>
                <a:latin typeface="+mn-lt"/>
                <a:ea typeface="+mn-ea"/>
                <a:cs typeface="+mn-cs"/>
              </a:defRPr>
            </a:lvl4pPr>
            <a:lvl5pPr marL="1554480" indent="-228600" algn="l" rtl="0" eaLnBrk="0" fontAlgn="base" hangingPunct="0">
              <a:spcBef>
                <a:spcPct val="20000"/>
              </a:spcBef>
              <a:spcAft>
                <a:spcPct val="0"/>
              </a:spcAft>
              <a:buClr>
                <a:srgbClr val="C89F5D"/>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a:spcBef>
                <a:spcPts val="600"/>
              </a:spcBef>
              <a:buClr>
                <a:schemeClr val="accent2"/>
              </a:buClr>
            </a:pPr>
            <a:r>
              <a:rPr lang="en-GB" sz="2400" dirty="0"/>
              <a:t>A network of sensors set up throughout a vehicle can interact with its surroundings to provide valuable feedback on local roads, weather and traffic conditions to the car driver, enabling adaptive drive systems to respond accordingly</a:t>
            </a:r>
          </a:p>
          <a:p>
            <a:pPr>
              <a:spcBef>
                <a:spcPts val="600"/>
              </a:spcBef>
              <a:buClr>
                <a:schemeClr val="accent2"/>
              </a:buClr>
            </a:pPr>
            <a:r>
              <a:rPr lang="en-GB" sz="2400" dirty="0"/>
              <a:t>This may involve automatic activation of braking systems or speed control via fuel management systems. Condition and event detection sensors can activate systems to maintain driver and passenger comfort and safety through the use of airbags and seatbelt pre-tensioning</a:t>
            </a:r>
          </a:p>
          <a:p>
            <a:pPr>
              <a:spcBef>
                <a:spcPts val="600"/>
              </a:spcBef>
              <a:buClr>
                <a:schemeClr val="accent2"/>
              </a:buClr>
            </a:pPr>
            <a:r>
              <a:rPr lang="en-GB" sz="2400" dirty="0"/>
              <a:t>Sensors for fatigue and mood monitoring based on driving conditions, driver behaviour and facial indicators can interact</a:t>
            </a:r>
          </a:p>
          <a:p>
            <a:pPr marL="114300" indent="0">
              <a:spcBef>
                <a:spcPts val="0"/>
              </a:spcBef>
              <a:buClr>
                <a:schemeClr val="accent2"/>
              </a:buClr>
              <a:buNone/>
            </a:pPr>
            <a:r>
              <a:rPr lang="en-GB" sz="2400" dirty="0"/>
              <a:t>    to ensure safe driving by activating warning systems </a:t>
            </a:r>
          </a:p>
          <a:p>
            <a:pPr marL="114300" indent="0">
              <a:spcBef>
                <a:spcPts val="0"/>
              </a:spcBef>
              <a:buClr>
                <a:schemeClr val="accent2"/>
              </a:buClr>
              <a:buNone/>
            </a:pPr>
            <a:r>
              <a:rPr lang="en-GB" sz="2400" dirty="0"/>
              <a:t>    or directly controlling the vehicle</a:t>
            </a:r>
          </a:p>
        </p:txBody>
      </p:sp>
    </p:spTree>
    <p:extLst>
      <p:ext uri="{BB962C8B-B14F-4D97-AF65-F5344CB8AC3E}">
        <p14:creationId xmlns:p14="http://schemas.microsoft.com/office/powerpoint/2010/main" val="2964417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1828800" y="1066800"/>
            <a:ext cx="5562600" cy="609600"/>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lstStyle/>
          <a:p>
            <a:r>
              <a:rPr lang="en-US" altLang="zh-CN" sz="2200" b="1" dirty="0">
                <a:latin typeface="+mn-lt"/>
                <a:ea typeface="宋体" panose="02010600030101010101" pitchFamily="2" charset="-122"/>
              </a:rPr>
              <a:t>Scenario : </a:t>
            </a:r>
            <a:r>
              <a:rPr lang="en-GB" sz="2200" b="1" dirty="0">
                <a:latin typeface="+mn-lt"/>
                <a:ea typeface="宋体" panose="02010600030101010101" pitchFamily="2" charset="-122"/>
              </a:rPr>
              <a:t>Monitoring the Environment</a:t>
            </a:r>
          </a:p>
        </p:txBody>
      </p:sp>
      <p:pic>
        <p:nvPicPr>
          <p:cNvPr id="209923" name="Picture 3"/>
          <p:cNvPicPr>
            <a:picLocks noGrp="1" noChangeAspect="1" noChangeArrowheads="1"/>
          </p:cNvPicPr>
          <p:nvPr>
            <p:ph type="body" idx="1"/>
          </p:nvPr>
        </p:nvPicPr>
        <p:blipFill>
          <a:blip r:embed="rId2" cstate="print">
            <a:extLst>
              <a:ext uri="{28A0092B-C50C-407E-A947-70E740481C1C}">
                <a14:useLocalDpi xmlns:a14="http://schemas.microsoft.com/office/drawing/2010/main" val="0"/>
              </a:ext>
            </a:extLst>
          </a:blip>
          <a:srcRect l="10629" t="18134" r="12384" b="8664"/>
          <a:stretch>
            <a:fillRect/>
          </a:stretch>
        </p:blipFill>
        <p:spPr>
          <a:xfrm>
            <a:off x="1970088" y="1604586"/>
            <a:ext cx="7935913" cy="5024815"/>
          </a:xfrm>
        </p:spPr>
      </p:pic>
      <p:pic>
        <p:nvPicPr>
          <p:cNvPr id="2099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28596" t="29318" r="40398" b="40147"/>
          <a:stretch>
            <a:fillRect/>
          </a:stretch>
        </p:blipFill>
        <p:spPr bwMode="auto">
          <a:xfrm>
            <a:off x="1981200" y="3756464"/>
            <a:ext cx="3581400" cy="264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99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l="29329" t="29318" r="40398" b="43098"/>
          <a:stretch>
            <a:fillRect/>
          </a:stretch>
        </p:blipFill>
        <p:spPr bwMode="auto">
          <a:xfrm>
            <a:off x="6086475" y="3881438"/>
            <a:ext cx="3679304"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1828800" y="274638"/>
            <a:ext cx="7620000" cy="563562"/>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anose="02040503050406030204" pitchFamily="18" charset="0"/>
              </a:defRPr>
            </a:lvl2pPr>
            <a:lvl3pPr algn="l" rtl="0" eaLnBrk="0" fontAlgn="base" hangingPunct="0">
              <a:spcBef>
                <a:spcPct val="0"/>
              </a:spcBef>
              <a:spcAft>
                <a:spcPct val="0"/>
              </a:spcAft>
              <a:defRPr sz="4600">
                <a:solidFill>
                  <a:schemeClr val="tx2"/>
                </a:solidFill>
                <a:latin typeface="Cambria" panose="02040503050406030204" pitchFamily="18" charset="0"/>
              </a:defRPr>
            </a:lvl3pPr>
            <a:lvl4pPr algn="l" rtl="0" eaLnBrk="0" fontAlgn="base" hangingPunct="0">
              <a:spcBef>
                <a:spcPct val="0"/>
              </a:spcBef>
              <a:spcAft>
                <a:spcPct val="0"/>
              </a:spcAft>
              <a:defRPr sz="4600">
                <a:solidFill>
                  <a:schemeClr val="tx2"/>
                </a:solidFill>
                <a:latin typeface="Cambria" panose="02040503050406030204" pitchFamily="18" charset="0"/>
              </a:defRPr>
            </a:lvl4pPr>
            <a:lvl5pPr algn="l" rtl="0" eaLnBrk="0" fontAlgn="base" hangingPunct="0">
              <a:spcBef>
                <a:spcPct val="0"/>
              </a:spcBef>
              <a:spcAft>
                <a:spcPct val="0"/>
              </a:spcAft>
              <a:defRPr sz="4600">
                <a:solidFill>
                  <a:schemeClr val="tx2"/>
                </a:solidFill>
                <a:latin typeface="Cambria" panose="02040503050406030204" pitchFamily="18" charset="0"/>
              </a:defRPr>
            </a:lvl5pPr>
            <a:lvl6pPr marL="457200" algn="l" rtl="0" fontAlgn="base">
              <a:spcBef>
                <a:spcPct val="0"/>
              </a:spcBef>
              <a:spcAft>
                <a:spcPct val="0"/>
              </a:spcAft>
              <a:defRPr sz="4600">
                <a:solidFill>
                  <a:schemeClr val="tx2"/>
                </a:solidFill>
                <a:latin typeface="Cambria" panose="02040503050406030204" pitchFamily="18" charset="0"/>
              </a:defRPr>
            </a:lvl6pPr>
            <a:lvl7pPr marL="914400" algn="l" rtl="0" fontAlgn="base">
              <a:spcBef>
                <a:spcPct val="0"/>
              </a:spcBef>
              <a:spcAft>
                <a:spcPct val="0"/>
              </a:spcAft>
              <a:defRPr sz="4600">
                <a:solidFill>
                  <a:schemeClr val="tx2"/>
                </a:solidFill>
                <a:latin typeface="Cambria" panose="02040503050406030204" pitchFamily="18" charset="0"/>
              </a:defRPr>
            </a:lvl7pPr>
            <a:lvl8pPr marL="1371600" algn="l" rtl="0" fontAlgn="base">
              <a:spcBef>
                <a:spcPct val="0"/>
              </a:spcBef>
              <a:spcAft>
                <a:spcPct val="0"/>
              </a:spcAft>
              <a:defRPr sz="4600">
                <a:solidFill>
                  <a:schemeClr val="tx2"/>
                </a:solidFill>
                <a:latin typeface="Cambria" panose="02040503050406030204" pitchFamily="18" charset="0"/>
              </a:defRPr>
            </a:lvl8pPr>
            <a:lvl9pPr marL="1828800" algn="l" rtl="0" fontAlgn="base">
              <a:spcBef>
                <a:spcPct val="0"/>
              </a:spcBef>
              <a:spcAft>
                <a:spcPct val="0"/>
              </a:spcAft>
              <a:defRPr sz="4600">
                <a:solidFill>
                  <a:schemeClr val="tx2"/>
                </a:solidFill>
                <a:latin typeface="Cambria" panose="02040503050406030204" pitchFamily="18" charset="0"/>
              </a:defRPr>
            </a:lvl9pPr>
          </a:lstStyle>
          <a:p>
            <a:pPr eaLnBrk="1" hangingPunct="1">
              <a:defRPr/>
            </a:pPr>
            <a:r>
              <a:rPr lang="en-US" altLang="zh-CN" sz="4000" dirty="0">
                <a:ea typeface="宋体" panose="02010600030101010101" pitchFamily="2" charset="-122"/>
              </a:rPr>
              <a:t>IoT Application Example (5)</a:t>
            </a:r>
          </a:p>
        </p:txBody>
      </p:sp>
    </p:spTree>
    <p:extLst>
      <p:ext uri="{BB962C8B-B14F-4D97-AF65-F5344CB8AC3E}">
        <p14:creationId xmlns:p14="http://schemas.microsoft.com/office/powerpoint/2010/main" val="409469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924"/>
                                        </p:tgtEl>
                                        <p:attrNameLst>
                                          <p:attrName>style.visibility</p:attrName>
                                        </p:attrNameLst>
                                      </p:cBhvr>
                                      <p:to>
                                        <p:strVal val="visible"/>
                                      </p:to>
                                    </p:set>
                                    <p:anim calcmode="lin" valueType="num">
                                      <p:cBhvr additive="base">
                                        <p:cTn id="7" dur="500" fill="hold"/>
                                        <p:tgtEl>
                                          <p:spTgt spid="209924"/>
                                        </p:tgtEl>
                                        <p:attrNameLst>
                                          <p:attrName>ppt_x</p:attrName>
                                        </p:attrNameLst>
                                      </p:cBhvr>
                                      <p:tavLst>
                                        <p:tav tm="0">
                                          <p:val>
                                            <p:strVal val="#ppt_x"/>
                                          </p:val>
                                        </p:tav>
                                        <p:tav tm="100000">
                                          <p:val>
                                            <p:strVal val="#ppt_x"/>
                                          </p:val>
                                        </p:tav>
                                      </p:tavLst>
                                    </p:anim>
                                    <p:anim calcmode="lin" valueType="num">
                                      <p:cBhvr additive="base">
                                        <p:cTn id="8" dur="500" fill="hold"/>
                                        <p:tgtEl>
                                          <p:spTgt spid="2099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9925"/>
                                        </p:tgtEl>
                                        <p:attrNameLst>
                                          <p:attrName>style.visibility</p:attrName>
                                        </p:attrNameLst>
                                      </p:cBhvr>
                                      <p:to>
                                        <p:strVal val="visible"/>
                                      </p:to>
                                    </p:set>
                                    <p:anim calcmode="lin" valueType="num">
                                      <p:cBhvr additive="base">
                                        <p:cTn id="13" dur="500" fill="hold"/>
                                        <p:tgtEl>
                                          <p:spTgt spid="209925"/>
                                        </p:tgtEl>
                                        <p:attrNameLst>
                                          <p:attrName>ppt_x</p:attrName>
                                        </p:attrNameLst>
                                      </p:cBhvr>
                                      <p:tavLst>
                                        <p:tav tm="0">
                                          <p:val>
                                            <p:strVal val="#ppt_x"/>
                                          </p:val>
                                        </p:tav>
                                        <p:tav tm="100000">
                                          <p:val>
                                            <p:strVal val="#ppt_x"/>
                                          </p:val>
                                        </p:tav>
                                      </p:tavLst>
                                    </p:anim>
                                    <p:anim calcmode="lin" valueType="num">
                                      <p:cBhvr additive="base">
                                        <p:cTn id="14" dur="500" fill="hold"/>
                                        <p:tgtEl>
                                          <p:spTgt spid="2099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7D70-5777-494E-BAF6-350F9577536A}"/>
              </a:ext>
            </a:extLst>
          </p:cNvPr>
          <p:cNvSpPr>
            <a:spLocks noGrp="1"/>
          </p:cNvSpPr>
          <p:nvPr>
            <p:ph type="title"/>
          </p:nvPr>
        </p:nvSpPr>
        <p:spPr/>
        <p:txBody>
          <a:bodyPr/>
          <a:lstStyle/>
          <a:p>
            <a:r>
              <a:rPr lang="en-US" dirty="0"/>
              <a:t>Tip</a:t>
            </a:r>
          </a:p>
        </p:txBody>
      </p:sp>
      <p:sp>
        <p:nvSpPr>
          <p:cNvPr id="3" name="Content Placeholder 2">
            <a:extLst>
              <a:ext uri="{FF2B5EF4-FFF2-40B4-BE49-F238E27FC236}">
                <a16:creationId xmlns:a16="http://schemas.microsoft.com/office/drawing/2014/main" id="{6BFF8B0B-36FE-4569-8FC3-84DA9CD766CA}"/>
              </a:ext>
            </a:extLst>
          </p:cNvPr>
          <p:cNvSpPr>
            <a:spLocks noGrp="1"/>
          </p:cNvSpPr>
          <p:nvPr>
            <p:ph idx="1"/>
          </p:nvPr>
        </p:nvSpPr>
        <p:spPr/>
        <p:txBody>
          <a:bodyPr>
            <a:normAutofit/>
          </a:bodyPr>
          <a:lstStyle/>
          <a:p>
            <a:r>
              <a:rPr lang="en-US" sz="4400" dirty="0"/>
              <a:t>When describing a background of your research area it is useful to describe a specific examples of applications </a:t>
            </a:r>
            <a:r>
              <a:rPr lang="en-US" sz="4400" dirty="0">
                <a:solidFill>
                  <a:srgbClr val="00B050"/>
                </a:solidFill>
              </a:rPr>
              <a:t>relevant </a:t>
            </a:r>
            <a:r>
              <a:rPr lang="en-US" sz="4400" dirty="0"/>
              <a:t>to this area</a:t>
            </a:r>
          </a:p>
        </p:txBody>
      </p:sp>
    </p:spTree>
    <p:extLst>
      <p:ext uri="{BB962C8B-B14F-4D97-AF65-F5344CB8AC3E}">
        <p14:creationId xmlns:p14="http://schemas.microsoft.com/office/powerpoint/2010/main" val="1829197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benefits</a:t>
            </a:r>
          </a:p>
        </p:txBody>
      </p:sp>
      <p:sp>
        <p:nvSpPr>
          <p:cNvPr id="3" name="Content Placeholder 2"/>
          <p:cNvSpPr>
            <a:spLocks noGrp="1"/>
          </p:cNvSpPr>
          <p:nvPr>
            <p:ph idx="1"/>
          </p:nvPr>
        </p:nvSpPr>
        <p:spPr/>
        <p:txBody>
          <a:bodyPr>
            <a:normAutofit/>
          </a:bodyPr>
          <a:lstStyle/>
          <a:p>
            <a:r>
              <a:rPr lang="en-GB" sz="4000" dirty="0"/>
              <a:t>According to McKinsey, the financial impact of </a:t>
            </a:r>
            <a:r>
              <a:rPr lang="en-GB" sz="4000" dirty="0" err="1"/>
              <a:t>IoT</a:t>
            </a:r>
            <a:r>
              <a:rPr lang="en-GB" sz="4000" dirty="0"/>
              <a:t>  on the global economy may be as much as $3.9 to $11.1 trillion by 2025</a:t>
            </a:r>
          </a:p>
          <a:p>
            <a:pPr lvl="1"/>
            <a:r>
              <a:rPr lang="en-GB" sz="3600" dirty="0"/>
              <a:t> especially in the manufacturing and health care  industries. </a:t>
            </a:r>
          </a:p>
        </p:txBody>
      </p:sp>
    </p:spTree>
    <p:extLst>
      <p:ext uri="{BB962C8B-B14F-4D97-AF65-F5344CB8AC3E}">
        <p14:creationId xmlns:p14="http://schemas.microsoft.com/office/powerpoint/2010/main" val="2407799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benefits - Non-financial factors</a:t>
            </a:r>
          </a:p>
        </p:txBody>
      </p:sp>
      <p:sp>
        <p:nvSpPr>
          <p:cNvPr id="3" name="Content Placeholder 2"/>
          <p:cNvSpPr>
            <a:spLocks noGrp="1"/>
          </p:cNvSpPr>
          <p:nvPr>
            <p:ph idx="1"/>
          </p:nvPr>
        </p:nvSpPr>
        <p:spPr/>
        <p:txBody>
          <a:bodyPr>
            <a:normAutofit/>
          </a:bodyPr>
          <a:lstStyle/>
          <a:p>
            <a:r>
              <a:rPr lang="en-GB" dirty="0"/>
              <a:t>Consumer time saved</a:t>
            </a:r>
          </a:p>
          <a:p>
            <a:r>
              <a:rPr lang="en-GB" dirty="0"/>
              <a:t>Improved health</a:t>
            </a:r>
          </a:p>
          <a:p>
            <a:r>
              <a:rPr lang="en-GB" dirty="0"/>
              <a:t>Improved productivity</a:t>
            </a:r>
          </a:p>
          <a:p>
            <a:r>
              <a:rPr lang="en-GB" dirty="0"/>
              <a:t>Increased efficiency</a:t>
            </a:r>
          </a:p>
          <a:p>
            <a:pPr lvl="1"/>
            <a:r>
              <a:rPr lang="en-GB" dirty="0" err="1"/>
              <a:t>IoT</a:t>
            </a:r>
            <a:r>
              <a:rPr lang="en-GB" dirty="0"/>
              <a:t>-enabled traffic management  systems  can  reduce  congestion </a:t>
            </a:r>
          </a:p>
          <a:p>
            <a:r>
              <a:rPr lang="en-GB" dirty="0"/>
              <a:t>Reduce waste</a:t>
            </a:r>
          </a:p>
          <a:p>
            <a:pPr lvl="1"/>
            <a:r>
              <a:rPr lang="en-GB" dirty="0"/>
              <a:t>Reduced  fuel consumption </a:t>
            </a:r>
          </a:p>
          <a:p>
            <a:pPr lvl="1"/>
            <a:r>
              <a:rPr lang="en-GB" dirty="0"/>
              <a:t>Optimised  power distribution</a:t>
            </a:r>
          </a:p>
          <a:p>
            <a:pPr lvl="1"/>
            <a:r>
              <a:rPr lang="en-GB" dirty="0"/>
              <a:t>…</a:t>
            </a:r>
          </a:p>
        </p:txBody>
      </p:sp>
    </p:spTree>
    <p:extLst>
      <p:ext uri="{BB962C8B-B14F-4D97-AF65-F5344CB8AC3E}">
        <p14:creationId xmlns:p14="http://schemas.microsoft.com/office/powerpoint/2010/main" val="4279726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benefits - drive down cost </a:t>
            </a:r>
          </a:p>
        </p:txBody>
      </p:sp>
      <p:sp>
        <p:nvSpPr>
          <p:cNvPr id="3" name="Content Placeholder 2"/>
          <p:cNvSpPr>
            <a:spLocks noGrp="1"/>
          </p:cNvSpPr>
          <p:nvPr>
            <p:ph idx="1"/>
          </p:nvPr>
        </p:nvSpPr>
        <p:spPr/>
        <p:txBody>
          <a:bodyPr>
            <a:normAutofit fontScale="92500" lnSpcReduction="10000"/>
          </a:bodyPr>
          <a:lstStyle/>
          <a:p>
            <a:r>
              <a:rPr lang="en-GB" dirty="0"/>
              <a:t>Manufacturing</a:t>
            </a:r>
          </a:p>
          <a:p>
            <a:pPr lvl="1"/>
            <a:r>
              <a:rPr lang="en-GB" dirty="0"/>
              <a:t>Potential savings from improved  machine utilization</a:t>
            </a:r>
          </a:p>
          <a:p>
            <a:r>
              <a:rPr lang="en-GB" dirty="0"/>
              <a:t>Smart home</a:t>
            </a:r>
          </a:p>
          <a:p>
            <a:pPr lvl="1"/>
            <a:r>
              <a:rPr lang="en-GB" dirty="0" err="1"/>
              <a:t>IoT</a:t>
            </a:r>
            <a:r>
              <a:rPr lang="en-GB" dirty="0"/>
              <a:t> technologies help homeowners save significant amounts of energy through smart thermostats and lighting systems that adapt  to  usage  patterns  and  preferences. </a:t>
            </a:r>
          </a:p>
          <a:p>
            <a:r>
              <a:rPr lang="en-GB" dirty="0" err="1"/>
              <a:t>IoT</a:t>
            </a:r>
            <a:r>
              <a:rPr lang="en-GB" dirty="0"/>
              <a:t> home management systems</a:t>
            </a:r>
          </a:p>
          <a:p>
            <a:pPr lvl="1"/>
            <a:r>
              <a:rPr lang="en-GB" dirty="0"/>
              <a:t>can reduce maintenance costs by anticipating and addressing problems before they escalate</a:t>
            </a:r>
          </a:p>
          <a:p>
            <a:r>
              <a:rPr lang="en-GB" dirty="0" err="1"/>
              <a:t>IoT</a:t>
            </a:r>
            <a:r>
              <a:rPr lang="en-GB" dirty="0"/>
              <a:t> traffic management</a:t>
            </a:r>
          </a:p>
          <a:p>
            <a:pPr lvl="1"/>
            <a:r>
              <a:rPr lang="en-GB" dirty="0"/>
              <a:t>Savings from reduced fuel consumption </a:t>
            </a:r>
          </a:p>
          <a:p>
            <a:r>
              <a:rPr lang="en-GB" dirty="0"/>
              <a:t>…	</a:t>
            </a:r>
          </a:p>
        </p:txBody>
      </p:sp>
    </p:spTree>
    <p:extLst>
      <p:ext uri="{BB962C8B-B14F-4D97-AF65-F5344CB8AC3E}">
        <p14:creationId xmlns:p14="http://schemas.microsoft.com/office/powerpoint/2010/main" val="15845675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err="1"/>
              <a:t>IoT</a:t>
            </a:r>
            <a:r>
              <a:rPr lang="en-GB" dirty="0"/>
              <a:t> benefits - fuelling innovation</a:t>
            </a:r>
          </a:p>
        </p:txBody>
      </p:sp>
      <p:sp>
        <p:nvSpPr>
          <p:cNvPr id="3" name="Content Placeholder 2"/>
          <p:cNvSpPr>
            <a:spLocks noGrp="1"/>
          </p:cNvSpPr>
          <p:nvPr>
            <p:ph idx="1"/>
          </p:nvPr>
        </p:nvSpPr>
        <p:spPr/>
        <p:txBody>
          <a:bodyPr>
            <a:normAutofit/>
          </a:bodyPr>
          <a:lstStyle/>
          <a:p>
            <a:r>
              <a:rPr lang="en-GB" sz="4000" dirty="0"/>
              <a:t>The influx of capital has driven innovation, leading to the creation of new businesses and services.</a:t>
            </a:r>
          </a:p>
          <a:p>
            <a:r>
              <a:rPr lang="en-GB" sz="4000" dirty="0"/>
              <a:t>Increase of demand for smart solutions in various sectors.</a:t>
            </a:r>
          </a:p>
        </p:txBody>
      </p:sp>
    </p:spTree>
    <p:extLst>
      <p:ext uri="{BB962C8B-B14F-4D97-AF65-F5344CB8AC3E}">
        <p14:creationId xmlns:p14="http://schemas.microsoft.com/office/powerpoint/2010/main" val="721418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err="1"/>
              <a:t>IoT</a:t>
            </a:r>
            <a:r>
              <a:rPr lang="en-GB" dirty="0"/>
              <a:t> benefits - new market opportunities</a:t>
            </a:r>
          </a:p>
        </p:txBody>
      </p:sp>
      <p:sp>
        <p:nvSpPr>
          <p:cNvPr id="3" name="Content Placeholder 2"/>
          <p:cNvSpPr>
            <a:spLocks noGrp="1"/>
          </p:cNvSpPr>
          <p:nvPr>
            <p:ph idx="1"/>
          </p:nvPr>
        </p:nvSpPr>
        <p:spPr/>
        <p:txBody>
          <a:bodyPr>
            <a:noAutofit/>
          </a:bodyPr>
          <a:lstStyle/>
          <a:p>
            <a:r>
              <a:rPr lang="en-GB" sz="3200" dirty="0" err="1"/>
              <a:t>IoT</a:t>
            </a:r>
            <a:r>
              <a:rPr lang="en-GB" sz="3200" dirty="0"/>
              <a:t> technologies have unlocked new markets in both homes and cities attracting significant investment from private and public sectors</a:t>
            </a:r>
          </a:p>
          <a:p>
            <a:pPr lvl="1"/>
            <a:r>
              <a:rPr lang="en-GB" sz="2800" dirty="0"/>
              <a:t>Smart Home Market</a:t>
            </a:r>
          </a:p>
          <a:p>
            <a:pPr lvl="2"/>
            <a:r>
              <a:rPr lang="en-GB" sz="2400" dirty="0"/>
              <a:t>Surge in demand for connected appliances, home security systems, and entertainment solutions.</a:t>
            </a:r>
          </a:p>
          <a:p>
            <a:pPr lvl="2"/>
            <a:r>
              <a:rPr lang="en-GB" sz="2400" dirty="0"/>
              <a:t>Rapid expansion of the smart home ecosystem.</a:t>
            </a:r>
          </a:p>
          <a:p>
            <a:pPr lvl="1"/>
            <a:r>
              <a:rPr lang="en-GB" sz="2800" dirty="0"/>
              <a:t>Smart City Sector</a:t>
            </a:r>
          </a:p>
          <a:p>
            <a:pPr lvl="2"/>
            <a:r>
              <a:rPr lang="en-GB" sz="2400" dirty="0"/>
              <a:t>A hub for investment in infrastructure monitoring, waste management, and public safety.</a:t>
            </a:r>
          </a:p>
          <a:p>
            <a:pPr lvl="2"/>
            <a:r>
              <a:rPr lang="en-GB" sz="2400" dirty="0"/>
              <a:t>Enhancing urban living through smart technology integration.</a:t>
            </a:r>
          </a:p>
        </p:txBody>
      </p:sp>
    </p:spTree>
    <p:extLst>
      <p:ext uri="{BB962C8B-B14F-4D97-AF65-F5344CB8AC3E}">
        <p14:creationId xmlns:p14="http://schemas.microsoft.com/office/powerpoint/2010/main" val="3524273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benefits - job market and skills requirements</a:t>
            </a:r>
          </a:p>
        </p:txBody>
      </p:sp>
      <p:sp>
        <p:nvSpPr>
          <p:cNvPr id="3" name="Content Placeholder 2"/>
          <p:cNvSpPr>
            <a:spLocks noGrp="1"/>
          </p:cNvSpPr>
          <p:nvPr>
            <p:ph idx="1"/>
          </p:nvPr>
        </p:nvSpPr>
        <p:spPr/>
        <p:txBody>
          <a:bodyPr/>
          <a:lstStyle/>
          <a:p>
            <a:r>
              <a:rPr lang="en-GB" dirty="0"/>
              <a:t>The growing </a:t>
            </a:r>
            <a:r>
              <a:rPr lang="en-GB" dirty="0" err="1"/>
              <a:t>IoT</a:t>
            </a:r>
            <a:r>
              <a:rPr lang="en-GB" dirty="0"/>
              <a:t> industry has created a demand for a range of new skills, leading to job creation in areas such as </a:t>
            </a:r>
          </a:p>
          <a:p>
            <a:pPr lvl="1"/>
            <a:r>
              <a:rPr lang="en-GB" dirty="0"/>
              <a:t>system design</a:t>
            </a:r>
          </a:p>
          <a:p>
            <a:pPr lvl="1"/>
            <a:r>
              <a:rPr lang="en-GB" dirty="0"/>
              <a:t>data analytics</a:t>
            </a:r>
          </a:p>
          <a:p>
            <a:pPr lvl="1"/>
            <a:r>
              <a:rPr lang="en-GB" dirty="0"/>
              <a:t>cybersecurity</a:t>
            </a:r>
          </a:p>
          <a:p>
            <a:r>
              <a:rPr lang="en-GB" dirty="0"/>
              <a:t>While  </a:t>
            </a:r>
            <a:r>
              <a:rPr lang="en-GB" dirty="0" err="1"/>
              <a:t>IoT</a:t>
            </a:r>
            <a:r>
              <a:rPr lang="en-GB" dirty="0"/>
              <a:t>  may automate  certain  tasks, the  human  element  remains critical, especially  in  areas  requiring</a:t>
            </a:r>
          </a:p>
          <a:p>
            <a:pPr lvl="1"/>
            <a:r>
              <a:rPr lang="en-GB" dirty="0"/>
              <a:t>complex  decision-making</a:t>
            </a:r>
          </a:p>
          <a:p>
            <a:pPr lvl="1"/>
            <a:r>
              <a:rPr lang="en-GB" dirty="0"/>
              <a:t>creative problem-solving</a:t>
            </a:r>
          </a:p>
          <a:p>
            <a:pPr lvl="1"/>
            <a:r>
              <a:rPr lang="en-GB" dirty="0"/>
              <a:t>strategic planning</a:t>
            </a:r>
          </a:p>
          <a:p>
            <a:endParaRPr lang="en-GB" dirty="0"/>
          </a:p>
        </p:txBody>
      </p:sp>
    </p:spTree>
    <p:extLst>
      <p:ext uri="{BB962C8B-B14F-4D97-AF65-F5344CB8AC3E}">
        <p14:creationId xmlns:p14="http://schemas.microsoft.com/office/powerpoint/2010/main" val="2266784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Challenges (1)</a:t>
            </a:r>
          </a:p>
        </p:txBody>
      </p:sp>
      <p:sp>
        <p:nvSpPr>
          <p:cNvPr id="3" name="Content Placeholder 2"/>
          <p:cNvSpPr>
            <a:spLocks noGrp="1"/>
          </p:cNvSpPr>
          <p:nvPr>
            <p:ph idx="1"/>
          </p:nvPr>
        </p:nvSpPr>
        <p:spPr/>
        <p:txBody>
          <a:bodyPr>
            <a:normAutofit fontScale="92500"/>
          </a:bodyPr>
          <a:lstStyle/>
          <a:p>
            <a:r>
              <a:rPr lang="en-US" sz="3200" dirty="0"/>
              <a:t>Scalability</a:t>
            </a:r>
          </a:p>
          <a:p>
            <a:pPr lvl="1"/>
            <a:r>
              <a:rPr lang="en-US" sz="2800" dirty="0"/>
              <a:t>In 2015 there were 83 million smart devices in homes</a:t>
            </a:r>
          </a:p>
          <a:p>
            <a:pPr lvl="1"/>
            <a:r>
              <a:rPr lang="en-US" sz="2800" dirty="0"/>
              <a:t>In urban environments, each of us is surrounded by 1000 to 5000 trackable objects</a:t>
            </a:r>
          </a:p>
          <a:p>
            <a:pPr lvl="1"/>
            <a:r>
              <a:rPr lang="en-US" sz="2800" dirty="0"/>
              <a:t>IoT devices generate a large amount of data, creating data explosion. </a:t>
            </a:r>
          </a:p>
          <a:p>
            <a:pPr lvl="1"/>
            <a:r>
              <a:rPr lang="en-US" sz="2800" dirty="0"/>
              <a:t>Endless applications are being developed that utilize substantial number devices, providing data-based services such as temperature, pressure, vibrations, and energy measurements. </a:t>
            </a:r>
          </a:p>
          <a:p>
            <a:pPr lvl="1"/>
            <a:r>
              <a:rPr lang="en-US" sz="2800" dirty="0"/>
              <a:t>Scale of IoT applications varies, from small personal networks, through smart spaces and smart cities to all Earth connected into IoT. </a:t>
            </a:r>
          </a:p>
          <a:p>
            <a:endParaRPr lang="en-US" sz="3200" dirty="0"/>
          </a:p>
          <a:p>
            <a:pPr lvl="1"/>
            <a:endParaRPr lang="en-US" sz="2800" dirty="0"/>
          </a:p>
        </p:txBody>
      </p:sp>
    </p:spTree>
    <p:extLst>
      <p:ext uri="{BB962C8B-B14F-4D97-AF65-F5344CB8AC3E}">
        <p14:creationId xmlns:p14="http://schemas.microsoft.com/office/powerpoint/2010/main" val="174049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Challenges (2)</a:t>
            </a:r>
          </a:p>
        </p:txBody>
      </p:sp>
      <p:sp>
        <p:nvSpPr>
          <p:cNvPr id="3" name="Content Placeholder 2"/>
          <p:cNvSpPr>
            <a:spLocks noGrp="1"/>
          </p:cNvSpPr>
          <p:nvPr>
            <p:ph idx="1"/>
          </p:nvPr>
        </p:nvSpPr>
        <p:spPr/>
        <p:txBody>
          <a:bodyPr>
            <a:normAutofit lnSpcReduction="10000"/>
          </a:bodyPr>
          <a:lstStyle/>
          <a:p>
            <a:r>
              <a:rPr lang="en-US" sz="3200" dirty="0"/>
              <a:t>Interoperability</a:t>
            </a:r>
          </a:p>
          <a:p>
            <a:pPr lvl="1">
              <a:lnSpc>
                <a:spcPct val="90000"/>
              </a:lnSpc>
              <a:spcAft>
                <a:spcPct val="20000"/>
              </a:spcAft>
            </a:pPr>
            <a:r>
              <a:rPr lang="en-US" altLang="zh-CN" sz="2800" dirty="0">
                <a:cs typeface="Times New Roman" panose="02020603050405020304" pitchFamily="18" charset="0"/>
              </a:rPr>
              <a:t>Heterogeneity in computing systems will not disappear in the future, but instead will increase as the range of computing devices widens. </a:t>
            </a:r>
          </a:p>
          <a:p>
            <a:pPr lvl="1">
              <a:lnSpc>
                <a:spcPct val="90000"/>
              </a:lnSpc>
              <a:spcAft>
                <a:spcPct val="20000"/>
              </a:spcAft>
            </a:pPr>
            <a:r>
              <a:rPr lang="en-US" altLang="zh-CN" sz="2800" dirty="0">
                <a:cs typeface="Times New Roman" panose="02020603050405020304" pitchFamily="18" charset="0"/>
              </a:rPr>
              <a:t>In IoT environments heterogeneity is particularly high. </a:t>
            </a:r>
          </a:p>
          <a:p>
            <a:pPr lvl="1"/>
            <a:r>
              <a:rPr lang="en-US" altLang="zh-CN" sz="2800" dirty="0"/>
              <a:t>Devices embedded in environments may use standard protocols as well as tailored made mechanisms</a:t>
            </a:r>
          </a:p>
          <a:p>
            <a:pPr lvl="2"/>
            <a:r>
              <a:rPr lang="en-US" altLang="zh-TW" sz="2400" dirty="0"/>
              <a:t>software, </a:t>
            </a:r>
          </a:p>
          <a:p>
            <a:pPr lvl="2"/>
            <a:r>
              <a:rPr lang="en-US" altLang="zh-TW" sz="2400" dirty="0"/>
              <a:t>hardware devices</a:t>
            </a:r>
            <a:r>
              <a:rPr lang="en-US" altLang="zh-CN" sz="2400" dirty="0"/>
              <a:t>, </a:t>
            </a:r>
          </a:p>
          <a:p>
            <a:pPr lvl="2"/>
            <a:r>
              <a:rPr lang="en-US" altLang="zh-TW" sz="2400" dirty="0"/>
              <a:t>network infrastructures</a:t>
            </a:r>
            <a:endParaRPr lang="en-US" sz="2400" dirty="0"/>
          </a:p>
          <a:p>
            <a:endParaRPr lang="en-US" sz="3200" dirty="0"/>
          </a:p>
          <a:p>
            <a:pPr lvl="1"/>
            <a:endParaRPr lang="en-US" sz="2800" dirty="0"/>
          </a:p>
        </p:txBody>
      </p:sp>
    </p:spTree>
    <p:extLst>
      <p:ext uri="{BB962C8B-B14F-4D97-AF65-F5344CB8AC3E}">
        <p14:creationId xmlns:p14="http://schemas.microsoft.com/office/powerpoint/2010/main" val="152884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Challenges (3)</a:t>
            </a:r>
          </a:p>
        </p:txBody>
      </p:sp>
      <p:sp>
        <p:nvSpPr>
          <p:cNvPr id="3" name="Content Placeholder 2"/>
          <p:cNvSpPr>
            <a:spLocks noGrp="1"/>
          </p:cNvSpPr>
          <p:nvPr>
            <p:ph idx="1"/>
          </p:nvPr>
        </p:nvSpPr>
        <p:spPr/>
        <p:txBody>
          <a:bodyPr>
            <a:normAutofit/>
          </a:bodyPr>
          <a:lstStyle/>
          <a:p>
            <a:r>
              <a:rPr lang="en-US" sz="3200" dirty="0"/>
              <a:t>Safety</a:t>
            </a:r>
          </a:p>
          <a:p>
            <a:pPr lvl="1"/>
            <a:r>
              <a:rPr lang="en-US" sz="2800" dirty="0"/>
              <a:t>Many of the IoT applications are safety-critical, e.g. healthcare or elderly-care applications. They need highest reliability support that can be provided. </a:t>
            </a:r>
          </a:p>
          <a:p>
            <a:pPr lvl="1"/>
            <a:r>
              <a:rPr lang="en-US" sz="2800" dirty="0"/>
              <a:t>Fault tolerance for device level solutions is more difficult than for environments with central entities generating global knowledge. </a:t>
            </a:r>
          </a:p>
          <a:p>
            <a:pPr lvl="1"/>
            <a:r>
              <a:rPr lang="en-US" sz="2800" dirty="0"/>
              <a:t>The dynamic nature of the environment, resource-constraints of the participating devices, and the limited knowledge make it hard to design robust fault tolerant mechanisms</a:t>
            </a:r>
          </a:p>
          <a:p>
            <a:pPr lvl="1"/>
            <a:endParaRPr lang="en-US" sz="2800" dirty="0"/>
          </a:p>
        </p:txBody>
      </p:sp>
    </p:spTree>
    <p:extLst>
      <p:ext uri="{BB962C8B-B14F-4D97-AF65-F5344CB8AC3E}">
        <p14:creationId xmlns:p14="http://schemas.microsoft.com/office/powerpoint/2010/main" val="202486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Challenges (4)</a:t>
            </a:r>
          </a:p>
        </p:txBody>
      </p:sp>
      <p:sp>
        <p:nvSpPr>
          <p:cNvPr id="3" name="Content Placeholder 2"/>
          <p:cNvSpPr>
            <a:spLocks noGrp="1"/>
          </p:cNvSpPr>
          <p:nvPr>
            <p:ph idx="1"/>
          </p:nvPr>
        </p:nvSpPr>
        <p:spPr/>
        <p:txBody>
          <a:bodyPr/>
          <a:lstStyle/>
          <a:p>
            <a:r>
              <a:rPr lang="en-US" dirty="0"/>
              <a:t>Privacy</a:t>
            </a:r>
          </a:p>
          <a:p>
            <a:pPr lvl="1">
              <a:defRPr/>
            </a:pPr>
            <a:r>
              <a:rPr lang="en-US" altLang="zh-CN" dirty="0"/>
              <a:t>How to convince users that the IoT technology will protect their data and privacy when tracking  </a:t>
            </a:r>
          </a:p>
          <a:p>
            <a:r>
              <a:rPr lang="en-US" dirty="0"/>
              <a:t>Security</a:t>
            </a:r>
          </a:p>
          <a:p>
            <a:r>
              <a:rPr lang="en-US" dirty="0"/>
              <a:t>…</a:t>
            </a:r>
          </a:p>
        </p:txBody>
      </p:sp>
    </p:spTree>
    <p:extLst>
      <p:ext uri="{BB962C8B-B14F-4D97-AF65-F5344CB8AC3E}">
        <p14:creationId xmlns:p14="http://schemas.microsoft.com/office/powerpoint/2010/main" val="3766661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8"/>
            <a:ext cx="7972231" cy="524107"/>
          </a:xfrm>
        </p:spPr>
        <p:txBody>
          <a:bodyPr vert="horz" lIns="91440" tIns="45720" rIns="91440" bIns="45720" rtlCol="0" anchor="ctr">
            <a:normAutofit fontScale="90000"/>
          </a:bodyPr>
          <a:lstStyle/>
          <a:p>
            <a:r>
              <a:rPr lang="en-US" sz="4400" dirty="0">
                <a:solidFill>
                  <a:schemeClr val="tx1"/>
                </a:solidFill>
              </a:rPr>
              <a:t>Evolution of IoT </a:t>
            </a:r>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1" y="838201"/>
            <a:ext cx="7394331" cy="468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104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Research Fields</a:t>
            </a:r>
          </a:p>
        </p:txBody>
      </p:sp>
      <p:sp>
        <p:nvSpPr>
          <p:cNvPr id="3" name="Content Placeholder 2"/>
          <p:cNvSpPr>
            <a:spLocks noGrp="1"/>
          </p:cNvSpPr>
          <p:nvPr>
            <p:ph idx="1"/>
          </p:nvPr>
        </p:nvSpPr>
        <p:spPr/>
        <p:txBody>
          <a:bodyPr>
            <a:normAutofit/>
          </a:bodyPr>
          <a:lstStyle/>
          <a:p>
            <a:r>
              <a:rPr lang="en-US" sz="3600" dirty="0"/>
              <a:t>IoT architectures</a:t>
            </a:r>
          </a:p>
          <a:p>
            <a:r>
              <a:rPr lang="en-US" sz="3600" dirty="0"/>
              <a:t>IoT enabling technologies</a:t>
            </a:r>
          </a:p>
          <a:p>
            <a:r>
              <a:rPr lang="en-US" sz="3600" dirty="0"/>
              <a:t>IoT services</a:t>
            </a:r>
          </a:p>
          <a:p>
            <a:r>
              <a:rPr lang="en-US" sz="3600" dirty="0" err="1"/>
              <a:t>IoT</a:t>
            </a:r>
            <a:r>
              <a:rPr lang="en-US" sz="3600" dirty="0"/>
              <a:t> economic value potential</a:t>
            </a:r>
          </a:p>
          <a:p>
            <a:r>
              <a:rPr lang="en-US" sz="3600" dirty="0"/>
              <a:t>…</a:t>
            </a:r>
          </a:p>
        </p:txBody>
      </p:sp>
    </p:spTree>
    <p:extLst>
      <p:ext uri="{BB962C8B-B14F-4D97-AF65-F5344CB8AC3E}">
        <p14:creationId xmlns:p14="http://schemas.microsoft.com/office/powerpoint/2010/main" val="2249753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Architectures</a:t>
            </a:r>
          </a:p>
        </p:txBody>
      </p:sp>
      <p:sp>
        <p:nvSpPr>
          <p:cNvPr id="3" name="Content Placeholder 2"/>
          <p:cNvSpPr>
            <a:spLocks noGrp="1"/>
          </p:cNvSpPr>
          <p:nvPr>
            <p:ph idx="1"/>
          </p:nvPr>
        </p:nvSpPr>
        <p:spPr/>
        <p:txBody>
          <a:bodyPr>
            <a:normAutofit/>
          </a:bodyPr>
          <a:lstStyle/>
          <a:p>
            <a:r>
              <a:rPr lang="en-US" dirty="0"/>
              <a:t>Things-centric architectures</a:t>
            </a:r>
          </a:p>
          <a:p>
            <a:r>
              <a:rPr lang="en-US" dirty="0"/>
              <a:t>Data-centric architectures</a:t>
            </a:r>
          </a:p>
          <a:p>
            <a:r>
              <a:rPr lang="en-US" dirty="0"/>
              <a:t>Service-centric architectures</a:t>
            </a:r>
          </a:p>
          <a:p>
            <a:r>
              <a:rPr lang="en-US" dirty="0"/>
              <a:t>CPS platforms</a:t>
            </a:r>
          </a:p>
          <a:p>
            <a:r>
              <a:rPr lang="en-US" dirty="0"/>
              <a:t>Future Internet design for IoT</a:t>
            </a:r>
          </a:p>
          <a:p>
            <a:r>
              <a:rPr lang="en-US" dirty="0"/>
              <a:t>Cloud-based IoT</a:t>
            </a:r>
          </a:p>
          <a:p>
            <a:r>
              <a:rPr lang="en-US" dirty="0"/>
              <a:t>System security and manageability</a:t>
            </a:r>
          </a:p>
          <a:p>
            <a:r>
              <a:rPr lang="en-US" dirty="0"/>
              <a:t>…</a:t>
            </a:r>
          </a:p>
        </p:txBody>
      </p:sp>
    </p:spTree>
    <p:extLst>
      <p:ext uri="{BB962C8B-B14F-4D97-AF65-F5344CB8AC3E}">
        <p14:creationId xmlns:p14="http://schemas.microsoft.com/office/powerpoint/2010/main" val="2241494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Enabling Technologies</a:t>
            </a:r>
          </a:p>
        </p:txBody>
      </p:sp>
      <p:sp>
        <p:nvSpPr>
          <p:cNvPr id="3" name="Content Placeholder 2"/>
          <p:cNvSpPr>
            <a:spLocks noGrp="1"/>
          </p:cNvSpPr>
          <p:nvPr>
            <p:ph idx="1"/>
          </p:nvPr>
        </p:nvSpPr>
        <p:spPr/>
        <p:txBody>
          <a:bodyPr>
            <a:normAutofit fontScale="85000" lnSpcReduction="20000"/>
          </a:bodyPr>
          <a:lstStyle/>
          <a:p>
            <a:r>
              <a:rPr lang="en-US" dirty="0"/>
              <a:t>Sensors</a:t>
            </a:r>
          </a:p>
          <a:p>
            <a:r>
              <a:rPr lang="en-US" dirty="0"/>
              <a:t>Radio frequency identification</a:t>
            </a:r>
          </a:p>
          <a:p>
            <a:r>
              <a:rPr lang="en-US" dirty="0"/>
              <a:t>Low power and energy harvesting</a:t>
            </a:r>
          </a:p>
          <a:p>
            <a:r>
              <a:rPr lang="en-US" dirty="0"/>
              <a:t>Sensor networks</a:t>
            </a:r>
          </a:p>
          <a:p>
            <a:r>
              <a:rPr lang="en-US" dirty="0"/>
              <a:t>Machine-type communication</a:t>
            </a:r>
          </a:p>
          <a:p>
            <a:r>
              <a:rPr lang="en-US" dirty="0"/>
              <a:t>Resource-constrained networks</a:t>
            </a:r>
          </a:p>
          <a:p>
            <a:r>
              <a:rPr lang="en-US" dirty="0"/>
              <a:t>Real-time systems</a:t>
            </a:r>
          </a:p>
          <a:p>
            <a:r>
              <a:rPr lang="en-US" dirty="0"/>
              <a:t>IoT data analytics</a:t>
            </a:r>
          </a:p>
          <a:p>
            <a:r>
              <a:rPr lang="en-US" dirty="0"/>
              <a:t>In situ processing</a:t>
            </a:r>
          </a:p>
          <a:p>
            <a:r>
              <a:rPr lang="en-US" dirty="0"/>
              <a:t>Embedded software</a:t>
            </a:r>
          </a:p>
          <a:p>
            <a:r>
              <a:rPr lang="en-US" dirty="0"/>
              <a:t>…</a:t>
            </a:r>
          </a:p>
        </p:txBody>
      </p:sp>
    </p:spTree>
    <p:extLst>
      <p:ext uri="{BB962C8B-B14F-4D97-AF65-F5344CB8AC3E}">
        <p14:creationId xmlns:p14="http://schemas.microsoft.com/office/powerpoint/2010/main" val="3595276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Services</a:t>
            </a:r>
          </a:p>
        </p:txBody>
      </p:sp>
      <p:sp>
        <p:nvSpPr>
          <p:cNvPr id="3" name="Content Placeholder 2"/>
          <p:cNvSpPr>
            <a:spLocks noGrp="1"/>
          </p:cNvSpPr>
          <p:nvPr>
            <p:ph idx="1"/>
          </p:nvPr>
        </p:nvSpPr>
        <p:spPr/>
        <p:txBody>
          <a:bodyPr>
            <a:normAutofit lnSpcReduction="10000"/>
          </a:bodyPr>
          <a:lstStyle/>
          <a:p>
            <a:r>
              <a:rPr lang="en-US" dirty="0"/>
              <a:t>Applications, standards and test-beds</a:t>
            </a:r>
          </a:p>
          <a:p>
            <a:r>
              <a:rPr lang="en-US" dirty="0"/>
              <a:t>Streaming data management and mining platforms</a:t>
            </a:r>
          </a:p>
          <a:p>
            <a:r>
              <a:rPr lang="en-US" dirty="0"/>
              <a:t>Service middleware </a:t>
            </a:r>
          </a:p>
          <a:p>
            <a:r>
              <a:rPr lang="en-US" dirty="0"/>
              <a:t>Open service platform</a:t>
            </a:r>
          </a:p>
          <a:p>
            <a:r>
              <a:rPr lang="en-US" dirty="0"/>
              <a:t>Semantic service management</a:t>
            </a:r>
          </a:p>
          <a:p>
            <a:r>
              <a:rPr lang="en-US" dirty="0"/>
              <a:t>Security and privacy-preserving protocols</a:t>
            </a:r>
          </a:p>
          <a:p>
            <a:r>
              <a:rPr lang="en-US" dirty="0"/>
              <a:t>Design examples of smart services and applications</a:t>
            </a:r>
          </a:p>
          <a:p>
            <a:r>
              <a:rPr lang="en-US" dirty="0"/>
              <a:t>IoT application support </a:t>
            </a:r>
          </a:p>
          <a:p>
            <a:r>
              <a:rPr lang="en-US" dirty="0"/>
              <a:t>…</a:t>
            </a:r>
          </a:p>
          <a:p>
            <a:endParaRPr lang="en-US" dirty="0"/>
          </a:p>
          <a:p>
            <a:endParaRPr lang="en-US" dirty="0"/>
          </a:p>
        </p:txBody>
      </p:sp>
    </p:spTree>
    <p:extLst>
      <p:ext uri="{BB962C8B-B14F-4D97-AF65-F5344CB8AC3E}">
        <p14:creationId xmlns:p14="http://schemas.microsoft.com/office/powerpoint/2010/main" val="1141681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IoT</a:t>
            </a:r>
            <a:r>
              <a:rPr lang="en-GB" dirty="0"/>
              <a:t> economic value potential</a:t>
            </a:r>
          </a:p>
        </p:txBody>
      </p:sp>
      <p:sp>
        <p:nvSpPr>
          <p:cNvPr id="3" name="Content Placeholder 2"/>
          <p:cNvSpPr>
            <a:spLocks noGrp="1"/>
          </p:cNvSpPr>
          <p:nvPr>
            <p:ph idx="1"/>
          </p:nvPr>
        </p:nvSpPr>
        <p:spPr/>
        <p:txBody>
          <a:bodyPr>
            <a:normAutofit/>
          </a:bodyPr>
          <a:lstStyle/>
          <a:p>
            <a:r>
              <a:rPr lang="en-GB" sz="4000" dirty="0" err="1"/>
              <a:t>IoT</a:t>
            </a:r>
            <a:r>
              <a:rPr lang="en-GB" sz="4000" dirty="0"/>
              <a:t> impact on economy </a:t>
            </a:r>
          </a:p>
          <a:p>
            <a:r>
              <a:rPr lang="en-GB" sz="4000" dirty="0"/>
              <a:t>Calculating value from </a:t>
            </a:r>
            <a:r>
              <a:rPr lang="en-GB" sz="4000" dirty="0" err="1"/>
              <a:t>IoT</a:t>
            </a:r>
            <a:endParaRPr lang="en-GB" sz="4000" dirty="0"/>
          </a:p>
          <a:p>
            <a:r>
              <a:rPr lang="en-GB" sz="4000" dirty="0"/>
              <a:t>Policy recommendations </a:t>
            </a:r>
          </a:p>
          <a:p>
            <a:r>
              <a:rPr lang="en-GB" sz="4000" dirty="0"/>
              <a:t>…</a:t>
            </a:r>
          </a:p>
        </p:txBody>
      </p:sp>
    </p:spTree>
    <p:extLst>
      <p:ext uri="{BB962C8B-B14F-4D97-AF65-F5344CB8AC3E}">
        <p14:creationId xmlns:p14="http://schemas.microsoft.com/office/powerpoint/2010/main" val="1998471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CF488-8317-4D45-B2E1-0F59930382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31495A-1DD2-4EEC-B344-4FD849613E63}"/>
              </a:ext>
            </a:extLst>
          </p:cNvPr>
          <p:cNvSpPr>
            <a:spLocks noGrp="1"/>
          </p:cNvSpPr>
          <p:nvPr>
            <p:ph idx="1"/>
          </p:nvPr>
        </p:nvSpPr>
        <p:spPr/>
        <p:txBody>
          <a:bodyPr>
            <a:normAutofit/>
          </a:bodyPr>
          <a:lstStyle/>
          <a:p>
            <a:r>
              <a:rPr lang="en-US" sz="4400" dirty="0"/>
              <a:t>A researcher point of view… </a:t>
            </a:r>
          </a:p>
        </p:txBody>
      </p:sp>
    </p:spTree>
    <p:extLst>
      <p:ext uri="{BB962C8B-B14F-4D97-AF65-F5344CB8AC3E}">
        <p14:creationId xmlns:p14="http://schemas.microsoft.com/office/powerpoint/2010/main" val="2216857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Journals Examples</a:t>
            </a:r>
          </a:p>
        </p:txBody>
      </p:sp>
      <p:sp>
        <p:nvSpPr>
          <p:cNvPr id="3" name="Content Placeholder 2"/>
          <p:cNvSpPr>
            <a:spLocks noGrp="1"/>
          </p:cNvSpPr>
          <p:nvPr>
            <p:ph idx="1"/>
          </p:nvPr>
        </p:nvSpPr>
        <p:spPr/>
        <p:txBody>
          <a:bodyPr/>
          <a:lstStyle/>
          <a:p>
            <a:r>
              <a:rPr lang="en-US" dirty="0"/>
              <a:t>IEEE Internet of Things Journal (launched in 2014), </a:t>
            </a:r>
            <a:r>
              <a:rPr lang="en-US" dirty="0">
                <a:hlinkClick r:id="rId2"/>
              </a:rPr>
              <a:t>http://ieee-iotj.org</a:t>
            </a:r>
            <a:r>
              <a:rPr lang="en-US" dirty="0"/>
              <a:t> </a:t>
            </a:r>
          </a:p>
          <a:p>
            <a:r>
              <a:rPr lang="en-US" dirty="0"/>
              <a:t>ACM Transactions on Internet of Things (launched in 2019), </a:t>
            </a:r>
            <a:r>
              <a:rPr lang="en-US" dirty="0">
                <a:hlinkClick r:id="rId3"/>
              </a:rPr>
              <a:t>https://tiot.acm.org/</a:t>
            </a:r>
            <a:r>
              <a:rPr lang="en-US" dirty="0"/>
              <a:t> …..</a:t>
            </a:r>
          </a:p>
          <a:p>
            <a:r>
              <a:rPr lang="en-US" dirty="0"/>
              <a:t>(also journals relevant to specific research fields)</a:t>
            </a:r>
          </a:p>
        </p:txBody>
      </p:sp>
    </p:spTree>
    <p:extLst>
      <p:ext uri="{BB962C8B-B14F-4D97-AF65-F5344CB8AC3E}">
        <p14:creationId xmlns:p14="http://schemas.microsoft.com/office/powerpoint/2010/main" val="2542009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Conferences Examples</a:t>
            </a:r>
          </a:p>
        </p:txBody>
      </p:sp>
      <p:sp>
        <p:nvSpPr>
          <p:cNvPr id="3" name="Content Placeholder 2"/>
          <p:cNvSpPr>
            <a:spLocks noGrp="1"/>
          </p:cNvSpPr>
          <p:nvPr>
            <p:ph idx="1"/>
          </p:nvPr>
        </p:nvSpPr>
        <p:spPr/>
        <p:txBody>
          <a:bodyPr>
            <a:normAutofit/>
          </a:bodyPr>
          <a:lstStyle/>
          <a:p>
            <a:r>
              <a:rPr lang="en-US" dirty="0"/>
              <a:t>IEEE World Forum on Internet of Things </a:t>
            </a:r>
          </a:p>
          <a:p>
            <a:r>
              <a:rPr lang="en-US" dirty="0"/>
              <a:t>ACM/IEEE International Conference on Internet of Things Design and Implementation </a:t>
            </a:r>
          </a:p>
          <a:p>
            <a:r>
              <a:rPr lang="en-US" dirty="0"/>
              <a:t>International Conference on Internet of Things </a:t>
            </a:r>
          </a:p>
          <a:p>
            <a:r>
              <a:rPr lang="en-US" dirty="0"/>
              <a:t>…..</a:t>
            </a:r>
          </a:p>
          <a:p>
            <a:r>
              <a:rPr lang="en-US" dirty="0"/>
              <a:t>(also conferences relevant to specific research fields)</a:t>
            </a:r>
          </a:p>
          <a:p>
            <a:endParaRPr lang="en-US" dirty="0"/>
          </a:p>
        </p:txBody>
      </p:sp>
    </p:spTree>
    <p:extLst>
      <p:ext uri="{BB962C8B-B14F-4D97-AF65-F5344CB8AC3E}">
        <p14:creationId xmlns:p14="http://schemas.microsoft.com/office/powerpoint/2010/main" val="26469750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C1F0-7736-42AA-A3B1-D4BB339F44E5}"/>
              </a:ext>
            </a:extLst>
          </p:cNvPr>
          <p:cNvSpPr>
            <a:spLocks noGrp="1"/>
          </p:cNvSpPr>
          <p:nvPr>
            <p:ph type="title"/>
          </p:nvPr>
        </p:nvSpPr>
        <p:spPr/>
        <p:txBody>
          <a:bodyPr/>
          <a:lstStyle/>
          <a:p>
            <a:r>
              <a:rPr lang="en-GB" dirty="0"/>
              <a:t>Ways to search for research papers online</a:t>
            </a:r>
            <a:endParaRPr lang="en-US" dirty="0"/>
          </a:p>
        </p:txBody>
      </p:sp>
      <p:sp>
        <p:nvSpPr>
          <p:cNvPr id="3" name="Content Placeholder 2">
            <a:extLst>
              <a:ext uri="{FF2B5EF4-FFF2-40B4-BE49-F238E27FC236}">
                <a16:creationId xmlns:a16="http://schemas.microsoft.com/office/drawing/2014/main" id="{F936DF98-A94D-49AE-A0C3-E36472AF14FB}"/>
              </a:ext>
            </a:extLst>
          </p:cNvPr>
          <p:cNvSpPr>
            <a:spLocks noGrp="1"/>
          </p:cNvSpPr>
          <p:nvPr>
            <p:ph idx="1"/>
          </p:nvPr>
        </p:nvSpPr>
        <p:spPr/>
        <p:txBody>
          <a:bodyPr>
            <a:normAutofit fontScale="92500"/>
          </a:bodyPr>
          <a:lstStyle/>
          <a:p>
            <a:r>
              <a:rPr lang="en-GB" sz="3600" dirty="0"/>
              <a:t>go to the University Town library website</a:t>
            </a:r>
          </a:p>
          <a:p>
            <a:r>
              <a:rPr lang="en-GB" sz="3600" dirty="0"/>
              <a:t>go to a computer science bibliography website</a:t>
            </a:r>
          </a:p>
          <a:p>
            <a:r>
              <a:rPr lang="en-GB" sz="3600" dirty="0"/>
              <a:t>go directly to the website of a journal you are interested in </a:t>
            </a:r>
          </a:p>
          <a:p>
            <a:r>
              <a:rPr lang="en-GB" sz="3600" dirty="0"/>
              <a:t>use a browser of your choice</a:t>
            </a:r>
          </a:p>
          <a:p>
            <a:r>
              <a:rPr lang="en-GB" sz="3600" dirty="0"/>
              <a:t>use a specialized academic/scholar browser</a:t>
            </a:r>
          </a:p>
          <a:p>
            <a:r>
              <a:rPr lang="en-GB" sz="3600" dirty="0"/>
              <a:t>…</a:t>
            </a:r>
          </a:p>
          <a:p>
            <a:r>
              <a:rPr lang="en-US" sz="3600" dirty="0"/>
              <a:t> </a:t>
            </a:r>
          </a:p>
        </p:txBody>
      </p:sp>
    </p:spTree>
    <p:extLst>
      <p:ext uri="{BB962C8B-B14F-4D97-AF65-F5344CB8AC3E}">
        <p14:creationId xmlns:p14="http://schemas.microsoft.com/office/powerpoint/2010/main" val="2435170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sz="4000" dirty="0"/>
              <a:t>After this lecture you should </a:t>
            </a:r>
          </a:p>
          <a:p>
            <a:pPr lvl="1"/>
            <a:r>
              <a:rPr lang="en-US" sz="3600" dirty="0"/>
              <a:t>Be familiar with background knowledge in IoT</a:t>
            </a:r>
          </a:p>
          <a:p>
            <a:pPr lvl="1"/>
            <a:r>
              <a:rPr lang="en-US" sz="3600" dirty="0"/>
              <a:t>Know the branches and popular directions in IoT</a:t>
            </a:r>
          </a:p>
          <a:p>
            <a:pPr lvl="1"/>
            <a:r>
              <a:rPr lang="en-US" sz="3600" dirty="0"/>
              <a:t>Know how to obtain the latest knowledge in this area</a:t>
            </a:r>
          </a:p>
        </p:txBody>
      </p:sp>
    </p:spTree>
    <p:extLst>
      <p:ext uri="{BB962C8B-B14F-4D97-AF65-F5344CB8AC3E}">
        <p14:creationId xmlns:p14="http://schemas.microsoft.com/office/powerpoint/2010/main" val="1142429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a:normAutofit/>
          </a:bodyPr>
          <a:lstStyle/>
          <a:p>
            <a:pPr eaLnBrk="1" hangingPunct="1">
              <a:spcAft>
                <a:spcPct val="30000"/>
              </a:spcAft>
            </a:pPr>
            <a:r>
              <a:rPr lang="en-US" altLang="zh-CN" sz="3600" dirty="0">
                <a:latin typeface="+mn-lt"/>
                <a:ea typeface="Arial Unicode MS" pitchFamily="34" charset="-128"/>
                <a:cs typeface="Times New Roman" pitchFamily="18" charset="0"/>
              </a:rPr>
              <a:t>LASEC: Localized Approach to Service Composition</a:t>
            </a:r>
          </a:p>
        </p:txBody>
      </p:sp>
      <p:sp>
        <p:nvSpPr>
          <p:cNvPr id="2" name="Content Placeholder 1">
            <a:extLst>
              <a:ext uri="{FF2B5EF4-FFF2-40B4-BE49-F238E27FC236}">
                <a16:creationId xmlns:a16="http://schemas.microsoft.com/office/drawing/2014/main" id="{61A5A556-F3FB-4393-A6AA-6D86E636252F}"/>
              </a:ext>
            </a:extLst>
          </p:cNvPr>
          <p:cNvSpPr>
            <a:spLocks noGrp="1"/>
          </p:cNvSpPr>
          <p:nvPr>
            <p:ph idx="1"/>
          </p:nvPr>
        </p:nvSpPr>
        <p:spPr/>
        <p:txBody>
          <a:bodyPr/>
          <a:lstStyle/>
          <a:p>
            <a:r>
              <a:rPr lang="en-GB" altLang="zh-CN" sz="2800" b="1" dirty="0"/>
              <a:t>Joanna Izabela Siebert</a:t>
            </a:r>
            <a:r>
              <a:rPr lang="en-GB" altLang="zh-CN" sz="2800" dirty="0"/>
              <a:t>, </a:t>
            </a:r>
            <a:r>
              <a:rPr lang="en-GB" altLang="zh-CN" sz="2800" dirty="0" err="1"/>
              <a:t>Jiannong</a:t>
            </a:r>
            <a:r>
              <a:rPr lang="en-GB" altLang="zh-CN" sz="2800" dirty="0"/>
              <a:t> Cao, Steven Lai, Peng Guo, and </a:t>
            </a:r>
            <a:r>
              <a:rPr lang="en-GB" altLang="zh-CN" sz="2800" dirty="0" err="1"/>
              <a:t>Weiping</a:t>
            </a:r>
            <a:r>
              <a:rPr lang="en-GB" altLang="zh-CN" sz="2800" dirty="0"/>
              <a:t> Zhu,  “LASEC: A Localized Approach to Service Composition in Pervasive Computing Environments</a:t>
            </a:r>
            <a:r>
              <a:rPr lang="en-GB" altLang="zh-CN" sz="2800"/>
              <a:t>,” IEEE </a:t>
            </a:r>
            <a:r>
              <a:rPr lang="en-GB" altLang="zh-CN" sz="2800" dirty="0"/>
              <a:t>Transactions on Parallel and Distributed Systems.</a:t>
            </a:r>
            <a:endParaRPr lang="en-GB" altLang="zh-CN" sz="2800" b="1" dirty="0"/>
          </a:p>
          <a:p>
            <a:endParaRPr lang="en-US" dirty="0"/>
          </a:p>
        </p:txBody>
      </p:sp>
    </p:spTree>
    <p:extLst>
      <p:ext uri="{BB962C8B-B14F-4D97-AF65-F5344CB8AC3E}">
        <p14:creationId xmlns:p14="http://schemas.microsoft.com/office/powerpoint/2010/main" val="2437496135"/>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UIO-based </a:t>
            </a:r>
            <a:r>
              <a:rPr lang="en-US" altLang="zh-CN" sz="3600" dirty="0" err="1">
                <a:latin typeface="+mn-lt"/>
                <a:cs typeface="Times New Roman" pitchFamily="18" charset="0"/>
              </a:rPr>
              <a:t>PvCEs</a:t>
            </a:r>
            <a:endParaRPr lang="en-US" altLang="zh-CN" sz="3600" dirty="0">
              <a:latin typeface="+mn-lt"/>
              <a:cs typeface="Times New Roman" pitchFamily="18" charset="0"/>
            </a:endParaRPr>
          </a:p>
        </p:txBody>
      </p:sp>
      <p:sp>
        <p:nvSpPr>
          <p:cNvPr id="3076" name="Rectangle 3"/>
          <p:cNvSpPr>
            <a:spLocks noGrp="1" noChangeArrowheads="1"/>
          </p:cNvSpPr>
          <p:nvPr>
            <p:ph sz="half" idx="1"/>
          </p:nvPr>
        </p:nvSpPr>
        <p:spPr>
          <a:xfrm>
            <a:off x="838200" y="1825625"/>
            <a:ext cx="7083490" cy="4351338"/>
          </a:xfrm>
        </p:spPr>
        <p:txBody>
          <a:bodyPr>
            <a:noAutofit/>
          </a:bodyPr>
          <a:lstStyle/>
          <a:p>
            <a:pPr>
              <a:lnSpc>
                <a:spcPct val="80000"/>
              </a:lnSpc>
              <a:spcBef>
                <a:spcPct val="30000"/>
              </a:spcBef>
            </a:pPr>
            <a:r>
              <a:rPr lang="en-US" altLang="zh-TW" dirty="0"/>
              <a:t>Pervasive Computing Environment </a:t>
            </a:r>
          </a:p>
          <a:p>
            <a:pPr lvl="1">
              <a:lnSpc>
                <a:spcPct val="80000"/>
              </a:lnSpc>
              <a:spcBef>
                <a:spcPct val="30000"/>
              </a:spcBef>
            </a:pPr>
            <a:r>
              <a:rPr lang="en-GB" altLang="zh-TW" dirty="0"/>
              <a:t>A medium that provides user with all the functionality he needs to satisfy his requirements. It is  </a:t>
            </a:r>
            <a:r>
              <a:rPr lang="en-US" altLang="zh-TW" dirty="0"/>
              <a:t>built on  physical world with embedded computing devices. </a:t>
            </a:r>
          </a:p>
          <a:p>
            <a:pPr>
              <a:lnSpc>
                <a:spcPct val="80000"/>
              </a:lnSpc>
              <a:spcBef>
                <a:spcPct val="30000"/>
              </a:spcBef>
            </a:pPr>
            <a:r>
              <a:rPr lang="en-US" altLang="zh-TW" dirty="0"/>
              <a:t>UIOs</a:t>
            </a:r>
          </a:p>
          <a:p>
            <a:pPr lvl="1">
              <a:lnSpc>
                <a:spcPct val="80000"/>
              </a:lnSpc>
              <a:spcBef>
                <a:spcPct val="30000"/>
              </a:spcBef>
            </a:pPr>
            <a:r>
              <a:rPr lang="en-US" altLang="zh-TW" dirty="0"/>
              <a:t>Smart objects augmented with various processing capabilities</a:t>
            </a:r>
          </a:p>
          <a:p>
            <a:pPr lvl="1">
              <a:lnSpc>
                <a:spcPct val="80000"/>
              </a:lnSpc>
              <a:spcBef>
                <a:spcPct val="30000"/>
              </a:spcBef>
            </a:pPr>
            <a:r>
              <a:rPr lang="en-US" altLang="zh-TW" dirty="0"/>
              <a:t>Mirrors can help with shopping</a:t>
            </a:r>
          </a:p>
          <a:p>
            <a:pPr lvl="1">
              <a:lnSpc>
                <a:spcPct val="80000"/>
              </a:lnSpc>
              <a:spcBef>
                <a:spcPct val="30000"/>
              </a:spcBef>
            </a:pPr>
            <a:r>
              <a:rPr lang="en-US" altLang="zh-TW" dirty="0"/>
              <a:t>Objects at home can serve as interfaces for controlling robots</a:t>
            </a:r>
          </a:p>
          <a:p>
            <a:pPr lvl="1">
              <a:lnSpc>
                <a:spcPct val="80000"/>
              </a:lnSpc>
              <a:spcBef>
                <a:spcPct val="30000"/>
              </a:spcBef>
            </a:pPr>
            <a:r>
              <a:rPr lang="en-US" altLang="zh-TW" dirty="0"/>
              <a:t>Drinking cup can monitor and remind about healthy drinking habits </a:t>
            </a:r>
          </a:p>
          <a:p>
            <a:pPr lvl="1">
              <a:lnSpc>
                <a:spcPct val="80000"/>
              </a:lnSpc>
              <a:spcBef>
                <a:spcPct val="30000"/>
              </a:spcBef>
              <a:buFont typeface="Wingdings" pitchFamily="2" charset="2"/>
              <a:buNone/>
            </a:pPr>
            <a:endParaRPr lang="en-US" altLang="zh-TW" sz="2800" dirty="0"/>
          </a:p>
        </p:txBody>
      </p:sp>
      <p:graphicFrame>
        <p:nvGraphicFramePr>
          <p:cNvPr id="3074" name="Object 4"/>
          <p:cNvGraphicFramePr>
            <a:graphicFrameLocks noChangeAspect="1"/>
          </p:cNvGraphicFramePr>
          <p:nvPr/>
        </p:nvGraphicFramePr>
        <p:xfrm>
          <a:off x="8519563" y="1619445"/>
          <a:ext cx="3165475" cy="4391025"/>
        </p:xfrm>
        <a:graphic>
          <a:graphicData uri="http://schemas.openxmlformats.org/presentationml/2006/ole">
            <mc:AlternateContent xmlns:mc="http://schemas.openxmlformats.org/markup-compatibility/2006">
              <mc:Choice xmlns:v="urn:schemas-microsoft-com:vml" Requires="v">
                <p:oleObj spid="_x0000_s1040" name="Visio" r:id="rId4" imgW="4474769" imgH="6235598" progId="Visio.Drawing.11">
                  <p:embed/>
                </p:oleObj>
              </mc:Choice>
              <mc:Fallback>
                <p:oleObj name="Visio" r:id="rId4" imgW="4474769" imgH="6235598" progId="Visio.Drawing.11">
                  <p:embed/>
                  <p:pic>
                    <p:nvPicPr>
                      <p:cNvPr id="307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9563" y="1619445"/>
                        <a:ext cx="3165475" cy="439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2975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6">
                                            <p:txEl>
                                              <p:pRg st="2" end="2"/>
                                            </p:txEl>
                                          </p:spTgt>
                                        </p:tgtEl>
                                        <p:attrNameLst>
                                          <p:attrName>style.visibility</p:attrName>
                                        </p:attrNameLst>
                                      </p:cBhvr>
                                      <p:to>
                                        <p:strVal val="visible"/>
                                      </p:to>
                                    </p:set>
                                    <p:animEffect transition="in" filter="blinds(horizontal)">
                                      <p:cBhvr>
                                        <p:cTn id="7" dur="500"/>
                                        <p:tgtEl>
                                          <p:spTgt spid="307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76">
                                            <p:txEl>
                                              <p:pRg st="3" end="3"/>
                                            </p:txEl>
                                          </p:spTgt>
                                        </p:tgtEl>
                                        <p:attrNameLst>
                                          <p:attrName>style.visibility</p:attrName>
                                        </p:attrNameLst>
                                      </p:cBhvr>
                                      <p:to>
                                        <p:strVal val="visible"/>
                                      </p:to>
                                    </p:set>
                                    <p:animEffect transition="in" filter="blinds(horizontal)">
                                      <p:cBhvr>
                                        <p:cTn id="10" dur="500"/>
                                        <p:tgtEl>
                                          <p:spTgt spid="3076">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076">
                                            <p:txEl>
                                              <p:pRg st="4" end="4"/>
                                            </p:txEl>
                                          </p:spTgt>
                                        </p:tgtEl>
                                        <p:attrNameLst>
                                          <p:attrName>style.visibility</p:attrName>
                                        </p:attrNameLst>
                                      </p:cBhvr>
                                      <p:to>
                                        <p:strVal val="visible"/>
                                      </p:to>
                                    </p:set>
                                    <p:animEffect transition="in" filter="blinds(horizontal)">
                                      <p:cBhvr>
                                        <p:cTn id="13" dur="500"/>
                                        <p:tgtEl>
                                          <p:spTgt spid="3076">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076">
                                            <p:txEl>
                                              <p:pRg st="5" end="5"/>
                                            </p:txEl>
                                          </p:spTgt>
                                        </p:tgtEl>
                                        <p:attrNameLst>
                                          <p:attrName>style.visibility</p:attrName>
                                        </p:attrNameLst>
                                      </p:cBhvr>
                                      <p:to>
                                        <p:strVal val="visible"/>
                                      </p:to>
                                    </p:set>
                                    <p:animEffect transition="in" filter="blinds(horizontal)">
                                      <p:cBhvr>
                                        <p:cTn id="16" dur="500"/>
                                        <p:tgtEl>
                                          <p:spTgt spid="3076">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076">
                                            <p:txEl>
                                              <p:pRg st="6" end="6"/>
                                            </p:txEl>
                                          </p:spTgt>
                                        </p:tgtEl>
                                        <p:attrNameLst>
                                          <p:attrName>style.visibility</p:attrName>
                                        </p:attrNameLst>
                                      </p:cBhvr>
                                      <p:to>
                                        <p:strVal val="visible"/>
                                      </p:to>
                                    </p:set>
                                    <p:animEffect transition="in" filter="blinds(horizontal)">
                                      <p:cBhvr>
                                        <p:cTn id="19" dur="500"/>
                                        <p:tgtEl>
                                          <p:spTgt spid="307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Service Composition in </a:t>
            </a:r>
            <a:r>
              <a:rPr lang="en-US" altLang="zh-CN" sz="3600" dirty="0" err="1">
                <a:latin typeface="+mn-lt"/>
                <a:cs typeface="Times New Roman" pitchFamily="18" charset="0"/>
              </a:rPr>
              <a:t>PvCEs</a:t>
            </a:r>
            <a:r>
              <a:rPr lang="en-US" altLang="zh-CN" sz="3600" dirty="0">
                <a:latin typeface="+mn-lt"/>
                <a:cs typeface="Times New Roman" pitchFamily="18" charset="0"/>
              </a:rPr>
              <a:t> (1)</a:t>
            </a:r>
          </a:p>
        </p:txBody>
      </p:sp>
      <p:sp>
        <p:nvSpPr>
          <p:cNvPr id="4100" name="Rectangle 3"/>
          <p:cNvSpPr>
            <a:spLocks noGrp="1" noChangeArrowheads="1"/>
          </p:cNvSpPr>
          <p:nvPr>
            <p:ph sz="half" idx="1"/>
          </p:nvPr>
        </p:nvSpPr>
        <p:spPr>
          <a:xfrm>
            <a:off x="838199" y="1825625"/>
            <a:ext cx="7064829" cy="4351338"/>
          </a:xfrm>
        </p:spPr>
        <p:txBody>
          <a:bodyPr>
            <a:normAutofit/>
          </a:bodyPr>
          <a:lstStyle/>
          <a:p>
            <a:pPr>
              <a:lnSpc>
                <a:spcPct val="80000"/>
              </a:lnSpc>
              <a:spcBef>
                <a:spcPct val="30000"/>
              </a:spcBef>
            </a:pPr>
            <a:r>
              <a:rPr lang="en-US" altLang="zh-TW" sz="3200" dirty="0"/>
              <a:t>Service </a:t>
            </a:r>
          </a:p>
          <a:p>
            <a:pPr lvl="1">
              <a:lnSpc>
                <a:spcPct val="80000"/>
              </a:lnSpc>
              <a:spcBef>
                <a:spcPct val="30000"/>
              </a:spcBef>
            </a:pPr>
            <a:r>
              <a:rPr lang="en-US" altLang="zh-TW" sz="2800" dirty="0"/>
              <a:t>A functionality of a computational entity whose execution satisfies the requestor’s requirement.</a:t>
            </a:r>
          </a:p>
          <a:p>
            <a:pPr>
              <a:lnSpc>
                <a:spcPct val="80000"/>
              </a:lnSpc>
              <a:spcBef>
                <a:spcPct val="30000"/>
              </a:spcBef>
            </a:pPr>
            <a:r>
              <a:rPr lang="en-US" altLang="zh-CN" sz="3200" dirty="0"/>
              <a:t>Service Composition</a:t>
            </a:r>
          </a:p>
          <a:p>
            <a:pPr lvl="1">
              <a:lnSpc>
                <a:spcPct val="80000"/>
              </a:lnSpc>
              <a:spcBef>
                <a:spcPct val="30000"/>
              </a:spcBef>
            </a:pPr>
            <a:r>
              <a:rPr lang="en-US" altLang="zh-CN" sz="2800" dirty="0"/>
              <a:t>A process of identifying and combining component functionalities to compose a higher level functionality and provide means to perform the requested functionality.</a:t>
            </a:r>
          </a:p>
        </p:txBody>
      </p:sp>
      <p:graphicFrame>
        <p:nvGraphicFramePr>
          <p:cNvPr id="4098" name="Object 4"/>
          <p:cNvGraphicFramePr>
            <a:graphicFrameLocks noChangeAspect="1"/>
          </p:cNvGraphicFramePr>
          <p:nvPr/>
        </p:nvGraphicFramePr>
        <p:xfrm>
          <a:off x="8500902" y="1610114"/>
          <a:ext cx="3165475" cy="4391025"/>
        </p:xfrm>
        <a:graphic>
          <a:graphicData uri="http://schemas.openxmlformats.org/presentationml/2006/ole">
            <mc:AlternateContent xmlns:mc="http://schemas.openxmlformats.org/markup-compatibility/2006">
              <mc:Choice xmlns:v="urn:schemas-microsoft-com:vml" Requires="v">
                <p:oleObj spid="_x0000_s2064" name="Visio" r:id="rId4" imgW="4474769" imgH="6235598" progId="Visio.Drawing.11">
                  <p:embed/>
                </p:oleObj>
              </mc:Choice>
              <mc:Fallback>
                <p:oleObj name="Visio" r:id="rId4" imgW="4474769" imgH="6235598" progId="Visio.Drawing.11">
                  <p:embed/>
                  <p:pic>
                    <p:nvPicPr>
                      <p:cNvPr id="409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0902" y="1610114"/>
                        <a:ext cx="3165475" cy="439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702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0">
                                            <p:txEl>
                                              <p:pRg st="2" end="2"/>
                                            </p:txEl>
                                          </p:spTgt>
                                        </p:tgtEl>
                                        <p:attrNameLst>
                                          <p:attrName>style.visibility</p:attrName>
                                        </p:attrNameLst>
                                      </p:cBhvr>
                                      <p:to>
                                        <p:strVal val="visible"/>
                                      </p:to>
                                    </p:set>
                                    <p:animEffect transition="in" filter="blinds(horizontal)">
                                      <p:cBhvr>
                                        <p:cTn id="7" dur="500"/>
                                        <p:tgtEl>
                                          <p:spTgt spid="410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0">
                                            <p:txEl>
                                              <p:pRg st="3" end="3"/>
                                            </p:txEl>
                                          </p:spTgt>
                                        </p:tgtEl>
                                        <p:attrNameLst>
                                          <p:attrName>style.visibility</p:attrName>
                                        </p:attrNameLst>
                                      </p:cBhvr>
                                      <p:to>
                                        <p:strVal val="visible"/>
                                      </p:to>
                                    </p:set>
                                    <p:animEffect transition="in" filter="blinds(horizontal)">
                                      <p:cBhvr>
                                        <p:cTn id="10" dur="500"/>
                                        <p:tgtEl>
                                          <p:spTgt spid="4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normAutofit/>
          </a:bodyPr>
          <a:lstStyle/>
          <a:p>
            <a:pPr eaLnBrk="1" hangingPunct="1">
              <a:defRPr/>
            </a:pPr>
            <a:r>
              <a:rPr lang="en-US" altLang="zh-CN" sz="3600" dirty="0">
                <a:latin typeface="+mn-lt"/>
                <a:cs typeface="Times New Roman" pitchFamily="18" charset="0"/>
              </a:rPr>
              <a:t>Service Composition in </a:t>
            </a:r>
            <a:r>
              <a:rPr lang="en-US" altLang="zh-CN" sz="3600" dirty="0" err="1">
                <a:latin typeface="+mn-lt"/>
                <a:cs typeface="Times New Roman" pitchFamily="18" charset="0"/>
              </a:rPr>
              <a:t>PvCEs</a:t>
            </a:r>
            <a:r>
              <a:rPr lang="en-US" altLang="zh-CN" sz="3600" dirty="0">
                <a:latin typeface="+mn-lt"/>
                <a:cs typeface="Times New Roman" pitchFamily="18" charset="0"/>
              </a:rPr>
              <a:t> (2)</a:t>
            </a:r>
          </a:p>
        </p:txBody>
      </p:sp>
      <p:sp>
        <p:nvSpPr>
          <p:cNvPr id="11267" name="Rectangle 4"/>
          <p:cNvSpPr>
            <a:spLocks noGrp="1" noChangeArrowheads="1"/>
          </p:cNvSpPr>
          <p:nvPr>
            <p:ph idx="1"/>
          </p:nvPr>
        </p:nvSpPr>
        <p:spPr/>
        <p:txBody>
          <a:bodyPr>
            <a:normAutofit/>
          </a:bodyPr>
          <a:lstStyle/>
          <a:p>
            <a:pPr>
              <a:spcBef>
                <a:spcPct val="30000"/>
              </a:spcBef>
            </a:pPr>
            <a:r>
              <a:rPr lang="en-US" altLang="zh-TW" sz="3200" dirty="0">
                <a:ea typeface="新細明體" charset="-120"/>
              </a:rPr>
              <a:t>Characteristics of the UIO-based </a:t>
            </a:r>
            <a:r>
              <a:rPr lang="en-US" altLang="zh-TW" sz="3200" dirty="0" err="1">
                <a:ea typeface="新細明體" charset="-120"/>
              </a:rPr>
              <a:t>PvC</a:t>
            </a:r>
            <a:r>
              <a:rPr lang="en-US" altLang="zh-TW" sz="3200" dirty="0">
                <a:ea typeface="新細明體" charset="-120"/>
              </a:rPr>
              <a:t> environment</a:t>
            </a:r>
          </a:p>
          <a:p>
            <a:pPr lvl="1">
              <a:spcBef>
                <a:spcPct val="30000"/>
              </a:spcBef>
            </a:pPr>
            <a:r>
              <a:rPr lang="en-GB" altLang="zh-TW" sz="2800" dirty="0"/>
              <a:t>Service requestors require services instantaneously to accomplish their goals</a:t>
            </a:r>
            <a:endParaRPr lang="en-US" altLang="zh-TW" sz="2800" dirty="0"/>
          </a:p>
          <a:p>
            <a:pPr lvl="1">
              <a:spcBef>
                <a:spcPct val="30000"/>
              </a:spcBef>
            </a:pPr>
            <a:r>
              <a:rPr lang="en-US" altLang="zh-CN" sz="2800" dirty="0"/>
              <a:t>Service requestors have no prior knowledge about the available services</a:t>
            </a:r>
          </a:p>
          <a:p>
            <a:pPr lvl="1">
              <a:spcBef>
                <a:spcPct val="30000"/>
              </a:spcBef>
            </a:pPr>
            <a:r>
              <a:rPr lang="en-US" altLang="zh-CN" sz="2800" dirty="0"/>
              <a:t>Service providers join and leave environments at run-time</a:t>
            </a:r>
          </a:p>
          <a:p>
            <a:pPr lvl="1">
              <a:spcBef>
                <a:spcPct val="30000"/>
              </a:spcBef>
            </a:pPr>
            <a:r>
              <a:rPr lang="en-GB" altLang="zh-TW" sz="2800" dirty="0"/>
              <a:t>The demand of service requestors changes together with changes in context </a:t>
            </a:r>
          </a:p>
        </p:txBody>
      </p:sp>
    </p:spTree>
    <p:extLst>
      <p:ext uri="{BB962C8B-B14F-4D97-AF65-F5344CB8AC3E}">
        <p14:creationId xmlns:p14="http://schemas.microsoft.com/office/powerpoint/2010/main" val="4195900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marL="342900" indent="-342900">
              <a:defRPr/>
            </a:pPr>
            <a:r>
              <a:rPr lang="en-US" altLang="zh-CN" sz="3200" dirty="0">
                <a:latin typeface="+mn-lt"/>
                <a:cs typeface="Times New Roman" pitchFamily="18" charset="0"/>
              </a:rPr>
              <a:t>Key Issues for Service Composition and in </a:t>
            </a:r>
            <a:r>
              <a:rPr lang="en-US" altLang="zh-CN" sz="3200" dirty="0" err="1">
                <a:latin typeface="+mn-lt"/>
                <a:cs typeface="Times New Roman" pitchFamily="18" charset="0"/>
              </a:rPr>
              <a:t>PvCEs</a:t>
            </a:r>
            <a:endParaRPr lang="en-US" altLang="zh-CN" sz="3200" dirty="0">
              <a:latin typeface="+mn-lt"/>
              <a:cs typeface="Times New Roman" pitchFamily="18" charset="0"/>
            </a:endParaRPr>
          </a:p>
        </p:txBody>
      </p:sp>
      <p:sp>
        <p:nvSpPr>
          <p:cNvPr id="523267" name="Rectangle 3"/>
          <p:cNvSpPr>
            <a:spLocks noGrp="1" noChangeArrowheads="1"/>
          </p:cNvSpPr>
          <p:nvPr>
            <p:ph idx="1"/>
          </p:nvPr>
        </p:nvSpPr>
        <p:spPr/>
        <p:txBody>
          <a:bodyPr>
            <a:normAutofit/>
          </a:bodyPr>
          <a:lstStyle/>
          <a:p>
            <a:pPr eaLnBrk="1" hangingPunct="1">
              <a:lnSpc>
                <a:spcPct val="90000"/>
              </a:lnSpc>
              <a:spcAft>
                <a:spcPct val="20000"/>
              </a:spcAft>
            </a:pPr>
            <a:r>
              <a:rPr lang="en-US" altLang="zh-CN" sz="3600" dirty="0">
                <a:cs typeface="Times New Roman" pitchFamily="18" charset="0"/>
              </a:rPr>
              <a:t>Bottom-up UIO collaboration support</a:t>
            </a:r>
          </a:p>
          <a:p>
            <a:pPr lvl="1" eaLnBrk="1" hangingPunct="1">
              <a:lnSpc>
                <a:spcPct val="90000"/>
              </a:lnSpc>
              <a:spcAft>
                <a:spcPct val="20000"/>
              </a:spcAft>
            </a:pPr>
            <a:r>
              <a:rPr lang="en-US" altLang="zh-CN" sz="3200" dirty="0">
                <a:cs typeface="Times New Roman" pitchFamily="18" charset="0"/>
              </a:rPr>
              <a:t>In UIO based </a:t>
            </a:r>
            <a:r>
              <a:rPr lang="en-US" altLang="zh-CN" sz="3200" dirty="0" err="1">
                <a:cs typeface="Times New Roman" pitchFamily="18" charset="0"/>
              </a:rPr>
              <a:t>PvCE</a:t>
            </a:r>
            <a:r>
              <a:rPr lang="en-US" altLang="zh-CN" sz="3200" dirty="0">
                <a:cs typeface="Times New Roman" pitchFamily="18" charset="0"/>
              </a:rPr>
              <a:t>, there is very large number of resource constrained UIOs and no guarantee of having a central entity capable of managing all other devices. </a:t>
            </a:r>
          </a:p>
          <a:p>
            <a:pPr lvl="1" eaLnBrk="1" hangingPunct="1">
              <a:lnSpc>
                <a:spcPct val="90000"/>
              </a:lnSpc>
              <a:spcAft>
                <a:spcPct val="20000"/>
              </a:spcAft>
            </a:pPr>
            <a:r>
              <a:rPr lang="en-US" altLang="zh-CN" sz="3200" dirty="0">
                <a:cs typeface="Times New Roman" pitchFamily="18" charset="0"/>
              </a:rPr>
              <a:t>To achieve desirable system behaviors, autonomous interaction of UIOs is required - enable to coordinate the UIOs and make them serve people in a less obtrusive manner.</a:t>
            </a:r>
          </a:p>
        </p:txBody>
      </p:sp>
    </p:spTree>
    <p:extLst>
      <p:ext uri="{BB962C8B-B14F-4D97-AF65-F5344CB8AC3E}">
        <p14:creationId xmlns:p14="http://schemas.microsoft.com/office/powerpoint/2010/main" val="11025410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animEffect transition="in" filter="blinds(horizontal)">
                                      <p:cBhvr>
                                        <p:cTn id="7" dur="500"/>
                                        <p:tgtEl>
                                          <p:spTgt spid="52326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3267">
                                            <p:txEl>
                                              <p:pRg st="1" end="1"/>
                                            </p:txEl>
                                          </p:spTgt>
                                        </p:tgtEl>
                                        <p:attrNameLst>
                                          <p:attrName>style.visibility</p:attrName>
                                        </p:attrNameLst>
                                      </p:cBhvr>
                                      <p:to>
                                        <p:strVal val="visible"/>
                                      </p:to>
                                    </p:set>
                                    <p:animEffect transition="in" filter="blinds(horizontal)">
                                      <p:cBhvr>
                                        <p:cTn id="10" dur="500"/>
                                        <p:tgtEl>
                                          <p:spTgt spid="52326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3267">
                                            <p:txEl>
                                              <p:pRg st="2" end="2"/>
                                            </p:txEl>
                                          </p:spTgt>
                                        </p:tgtEl>
                                        <p:attrNameLst>
                                          <p:attrName>style.visibility</p:attrName>
                                        </p:attrNameLst>
                                      </p:cBhvr>
                                      <p:to>
                                        <p:strVal val="visible"/>
                                      </p:to>
                                    </p:set>
                                    <p:animEffect transition="in" filter="blinds(horizontal)">
                                      <p:cBhvr>
                                        <p:cTn id="13" dur="500"/>
                                        <p:tgtEl>
                                          <p:spTgt spid="523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Background</a:t>
            </a:r>
          </a:p>
        </p:txBody>
      </p:sp>
      <p:sp>
        <p:nvSpPr>
          <p:cNvPr id="15363" name="Text Placeholder 2"/>
          <p:cNvSpPr>
            <a:spLocks noGrp="1"/>
          </p:cNvSpPr>
          <p:nvPr>
            <p:ph idx="1"/>
          </p:nvPr>
        </p:nvSpPr>
        <p:spPr>
          <a:xfrm>
            <a:off x="838200" y="1612901"/>
            <a:ext cx="10515600" cy="4351338"/>
          </a:xfrm>
        </p:spPr>
        <p:txBody>
          <a:bodyPr>
            <a:normAutofit/>
          </a:bodyPr>
          <a:lstStyle/>
          <a:p>
            <a:r>
              <a:rPr lang="en-US" dirty="0"/>
              <a:t>Existing approaches</a:t>
            </a:r>
          </a:p>
          <a:p>
            <a:pPr lvl="1"/>
            <a:r>
              <a:rPr lang="en-US" sz="2000" dirty="0"/>
              <a:t>Centralized - as the service composition environment may be dynamic and large scale, centralized service composition algorithm is usually inefficient due to message cost. </a:t>
            </a:r>
          </a:p>
          <a:p>
            <a:pPr lvl="1"/>
            <a:r>
              <a:rPr lang="en-US" sz="2000" dirty="0"/>
              <a:t>Decentralized with coordinators - a decentralized approach, which employs pre-determined coordinators to search and compose service, may have high cost as well, if the coordinators are far from those devices that should be composed.</a:t>
            </a:r>
            <a:endParaRPr lang="en-US" sz="2800" dirty="0"/>
          </a:p>
        </p:txBody>
      </p:sp>
      <p:graphicFrame>
        <p:nvGraphicFramePr>
          <p:cNvPr id="7" name="Object 4"/>
          <p:cNvGraphicFramePr>
            <a:graphicFrameLocks noChangeAspect="1"/>
          </p:cNvGraphicFramePr>
          <p:nvPr/>
        </p:nvGraphicFramePr>
        <p:xfrm>
          <a:off x="1847851" y="3749676"/>
          <a:ext cx="2447925" cy="2214563"/>
        </p:xfrm>
        <a:graphic>
          <a:graphicData uri="http://schemas.openxmlformats.org/presentationml/2006/ole">
            <mc:AlternateContent xmlns:mc="http://schemas.openxmlformats.org/markup-compatibility/2006">
              <mc:Choice xmlns:v="urn:schemas-microsoft-com:vml" Requires="v">
                <p:oleObj spid="_x0000_s3116" name="Visio" r:id="rId3" imgW="3463747" imgH="3120847" progId="Visio.Drawing.11">
                  <p:embed/>
                </p:oleObj>
              </mc:Choice>
              <mc:Fallback>
                <p:oleObj name="Visio" r:id="rId3" imgW="3463747" imgH="3120847" progId="Visio.Drawing.11">
                  <p:embed/>
                  <p:pic>
                    <p:nvPicPr>
                      <p:cNvPr id="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3749676"/>
                        <a:ext cx="2447925" cy="221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5"/>
          <p:cNvGraphicFramePr>
            <a:graphicFrameLocks noChangeAspect="1"/>
          </p:cNvGraphicFramePr>
          <p:nvPr/>
        </p:nvGraphicFramePr>
        <p:xfrm>
          <a:off x="7104063" y="3505201"/>
          <a:ext cx="2684462" cy="2386013"/>
        </p:xfrm>
        <a:graphic>
          <a:graphicData uri="http://schemas.openxmlformats.org/presentationml/2006/ole">
            <mc:AlternateContent xmlns:mc="http://schemas.openxmlformats.org/markup-compatibility/2006">
              <mc:Choice xmlns:v="urn:schemas-microsoft-com:vml" Requires="v">
                <p:oleObj spid="_x0000_s3117" name="Visio" r:id="rId5" imgW="5012436" imgH="4155948" progId="Visio.Drawing.11">
                  <p:embed/>
                </p:oleObj>
              </mc:Choice>
              <mc:Fallback>
                <p:oleObj name="Visio" r:id="rId5" imgW="5012436" imgH="4155948" progId="Visio.Drawing.11">
                  <p:embed/>
                  <p:pic>
                    <p:nvPicPr>
                      <p:cNvPr id="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4063" y="3505201"/>
                        <a:ext cx="2684462" cy="238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nvGraphicFramePr>
        <p:xfrm>
          <a:off x="4656139" y="3576638"/>
          <a:ext cx="1914525" cy="2449512"/>
        </p:xfrm>
        <a:graphic>
          <a:graphicData uri="http://schemas.openxmlformats.org/presentationml/2006/ole">
            <mc:AlternateContent xmlns:mc="http://schemas.openxmlformats.org/markup-compatibility/2006">
              <mc:Choice xmlns:v="urn:schemas-microsoft-com:vml" Requires="v">
                <p:oleObj spid="_x0000_s3118" name="Visio" r:id="rId7" imgW="6213043" imgH="6612941" progId="Visio.Drawing.11">
                  <p:embed/>
                </p:oleObj>
              </mc:Choice>
              <mc:Fallback>
                <p:oleObj name="Visio" r:id="rId7" imgW="6213043" imgH="6612941" progId="Visio.Drawing.11">
                  <p:embed/>
                  <p:pic>
                    <p:nvPicPr>
                      <p:cNvPr id="9"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6139" y="3576638"/>
                        <a:ext cx="1914525" cy="2449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7"/>
          <p:cNvSpPr txBox="1">
            <a:spLocks noChangeArrowheads="1"/>
          </p:cNvSpPr>
          <p:nvPr/>
        </p:nvSpPr>
        <p:spPr bwMode="auto">
          <a:xfrm>
            <a:off x="1847850" y="6089651"/>
            <a:ext cx="2376488" cy="366713"/>
          </a:xfrm>
          <a:prstGeom prst="rect">
            <a:avLst/>
          </a:prstGeom>
          <a:noFill/>
          <a:ln w="9525">
            <a:noFill/>
            <a:miter lim="800000"/>
            <a:headEnd/>
            <a:tailEnd/>
          </a:ln>
        </p:spPr>
        <p:txBody>
          <a:bodyPr>
            <a:spAutoFit/>
          </a:bodyPr>
          <a:lstStyle/>
          <a:p>
            <a:pPr>
              <a:spcBef>
                <a:spcPct val="50000"/>
              </a:spcBef>
            </a:pPr>
            <a:r>
              <a:rPr lang="en-US" altLang="zh-CN"/>
              <a:t>Centralized</a:t>
            </a:r>
          </a:p>
        </p:txBody>
      </p:sp>
      <p:sp>
        <p:nvSpPr>
          <p:cNvPr id="11" name="Text Box 8"/>
          <p:cNvSpPr txBox="1">
            <a:spLocks noChangeArrowheads="1"/>
          </p:cNvSpPr>
          <p:nvPr/>
        </p:nvSpPr>
        <p:spPr bwMode="auto">
          <a:xfrm>
            <a:off x="7464425" y="6097588"/>
            <a:ext cx="2376488" cy="366712"/>
          </a:xfrm>
          <a:prstGeom prst="rect">
            <a:avLst/>
          </a:prstGeom>
          <a:noFill/>
          <a:ln w="9525">
            <a:noFill/>
            <a:miter lim="800000"/>
            <a:headEnd/>
            <a:tailEnd/>
          </a:ln>
        </p:spPr>
        <p:txBody>
          <a:bodyPr>
            <a:spAutoFit/>
          </a:bodyPr>
          <a:lstStyle/>
          <a:p>
            <a:pPr>
              <a:spcBef>
                <a:spcPct val="50000"/>
              </a:spcBef>
            </a:pPr>
            <a:r>
              <a:rPr lang="en-US" altLang="zh-CN"/>
              <a:t>Decentralized</a:t>
            </a:r>
          </a:p>
        </p:txBody>
      </p:sp>
      <p:sp>
        <p:nvSpPr>
          <p:cNvPr id="12" name="Text Box 9"/>
          <p:cNvSpPr txBox="1">
            <a:spLocks noChangeArrowheads="1"/>
          </p:cNvSpPr>
          <p:nvPr/>
        </p:nvSpPr>
        <p:spPr bwMode="auto">
          <a:xfrm>
            <a:off x="4511675" y="6097588"/>
            <a:ext cx="2376488" cy="366712"/>
          </a:xfrm>
          <a:prstGeom prst="rect">
            <a:avLst/>
          </a:prstGeom>
          <a:noFill/>
          <a:ln w="9525">
            <a:noFill/>
            <a:miter lim="800000"/>
            <a:headEnd/>
            <a:tailEnd/>
          </a:ln>
        </p:spPr>
        <p:txBody>
          <a:bodyPr>
            <a:spAutoFit/>
          </a:bodyPr>
          <a:lstStyle/>
          <a:p>
            <a:pPr>
              <a:spcBef>
                <a:spcPct val="50000"/>
              </a:spcBef>
            </a:pPr>
            <a:r>
              <a:rPr lang="en-US" altLang="zh-CN"/>
              <a:t>Hybrid</a:t>
            </a:r>
          </a:p>
        </p:txBody>
      </p:sp>
    </p:spTree>
    <p:extLst>
      <p:ext uri="{BB962C8B-B14F-4D97-AF65-F5344CB8AC3E}">
        <p14:creationId xmlns:p14="http://schemas.microsoft.com/office/powerpoint/2010/main" val="162391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8" dur="500"/>
                                        <p:tgtEl>
                                          <p:spTgt spid="1536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par>
                                <p:cTn id="30" presetID="3" presetClass="entr" presetSubtype="1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Motivation </a:t>
            </a:r>
          </a:p>
        </p:txBody>
      </p:sp>
      <p:sp>
        <p:nvSpPr>
          <p:cNvPr id="16387" name="Text Placeholder 2"/>
          <p:cNvSpPr>
            <a:spLocks noGrp="1"/>
          </p:cNvSpPr>
          <p:nvPr>
            <p:ph idx="1"/>
          </p:nvPr>
        </p:nvSpPr>
        <p:spPr/>
        <p:txBody>
          <a:bodyPr>
            <a:noAutofit/>
          </a:bodyPr>
          <a:lstStyle/>
          <a:p>
            <a:r>
              <a:rPr lang="en-US" sz="3200" dirty="0"/>
              <a:t>Common feature - globalized nature of algorithms</a:t>
            </a:r>
          </a:p>
          <a:p>
            <a:pPr lvl="1"/>
            <a:r>
              <a:rPr lang="en-US" dirty="0"/>
              <a:t>At least one node needs to maintain global information about the current task and about network status. </a:t>
            </a:r>
          </a:p>
          <a:p>
            <a:pPr lvl="1"/>
            <a:r>
              <a:rPr lang="en-US" dirty="0"/>
              <a:t>Unsuitable for highly dynamic and large scale environments - huge communication overhead, especially with frequent changes of topology. </a:t>
            </a:r>
          </a:p>
          <a:p>
            <a:pPr lvl="1"/>
            <a:r>
              <a:rPr lang="en-US" dirty="0"/>
              <a:t>Global knowledge is not always necessary, since in service composition for </a:t>
            </a:r>
            <a:r>
              <a:rPr lang="en-US" dirty="0" err="1"/>
              <a:t>PvCE</a:t>
            </a:r>
            <a:r>
              <a:rPr lang="en-US" dirty="0"/>
              <a:t>, it is beneficial when the distance between the services used in composition is as small as possible. </a:t>
            </a:r>
          </a:p>
          <a:p>
            <a:r>
              <a:rPr lang="en-US" sz="3200" dirty="0"/>
              <a:t>To remedy the problem of maintaining global information, we have opted to adopt </a:t>
            </a:r>
            <a:r>
              <a:rPr lang="en-US" sz="3200" dirty="0">
                <a:solidFill>
                  <a:srgbClr val="00B050"/>
                </a:solidFill>
              </a:rPr>
              <a:t>a localized approach</a:t>
            </a:r>
            <a:r>
              <a:rPr lang="en-US" sz="3200" dirty="0"/>
              <a:t>, which naturally tends to select compositions with high degree of composition locality.</a:t>
            </a:r>
          </a:p>
        </p:txBody>
      </p:sp>
    </p:spTree>
    <p:extLst>
      <p:ext uri="{BB962C8B-B14F-4D97-AF65-F5344CB8AC3E}">
        <p14:creationId xmlns:p14="http://schemas.microsoft.com/office/powerpoint/2010/main" val="347220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7"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Problem Statement</a:t>
            </a:r>
          </a:p>
        </p:txBody>
      </p:sp>
      <p:sp>
        <p:nvSpPr>
          <p:cNvPr id="17411" name="Text Placeholder 2"/>
          <p:cNvSpPr>
            <a:spLocks noGrp="1"/>
          </p:cNvSpPr>
          <p:nvPr>
            <p:ph sz="half" idx="1"/>
          </p:nvPr>
        </p:nvSpPr>
        <p:spPr>
          <a:xfrm>
            <a:off x="838199" y="1825625"/>
            <a:ext cx="7956768" cy="4351338"/>
          </a:xfrm>
        </p:spPr>
        <p:txBody>
          <a:bodyPr>
            <a:normAutofit/>
          </a:bodyPr>
          <a:lstStyle/>
          <a:p>
            <a:r>
              <a:rPr lang="en-US" sz="2400" dirty="0"/>
              <a:t>Given </a:t>
            </a:r>
          </a:p>
          <a:p>
            <a:pPr lvl="1"/>
            <a:r>
              <a:rPr lang="en-US" sz="2000" dirty="0"/>
              <a:t>A set of nodes each providing certain services, the nodes are interconnected and can communicate with each other via wireless network,</a:t>
            </a:r>
          </a:p>
          <a:p>
            <a:r>
              <a:rPr lang="en-US" sz="2400" dirty="0"/>
              <a:t>Assume </a:t>
            </a:r>
          </a:p>
          <a:p>
            <a:pPr lvl="1"/>
            <a:r>
              <a:rPr lang="en-US" sz="2000" dirty="0"/>
              <a:t>A user specified requested composite service with specified types of requested services and relationships between them. </a:t>
            </a:r>
          </a:p>
          <a:p>
            <a:r>
              <a:rPr lang="en-US" sz="2400" dirty="0"/>
              <a:t>Objective</a:t>
            </a:r>
          </a:p>
          <a:p>
            <a:pPr lvl="1"/>
            <a:r>
              <a:rPr lang="en-US" sz="2000" dirty="0"/>
              <a:t>Design a localized protocol for the nodes to collaborate in the composition process</a:t>
            </a:r>
          </a:p>
          <a:p>
            <a:r>
              <a:rPr lang="en-US" sz="2400" dirty="0"/>
              <a:t>Such that </a:t>
            </a:r>
          </a:p>
          <a:p>
            <a:pPr lvl="1"/>
            <a:r>
              <a:rPr lang="en-US" sz="2000" dirty="0"/>
              <a:t>The communication cost is minimized.</a:t>
            </a:r>
          </a:p>
        </p:txBody>
      </p:sp>
      <p:pic>
        <p:nvPicPr>
          <p:cNvPr id="17412" name="Picture 2"/>
          <p:cNvPicPr>
            <a:picLocks noChangeAspect="1" noChangeArrowheads="1"/>
          </p:cNvPicPr>
          <p:nvPr/>
        </p:nvPicPr>
        <p:blipFill>
          <a:blip r:embed="rId2"/>
          <a:srcRect/>
          <a:stretch>
            <a:fillRect/>
          </a:stretch>
        </p:blipFill>
        <p:spPr bwMode="auto">
          <a:xfrm>
            <a:off x="8794967" y="4066916"/>
            <a:ext cx="3275733" cy="2481942"/>
          </a:xfrm>
          <a:prstGeom prst="rect">
            <a:avLst/>
          </a:prstGeom>
          <a:noFill/>
          <a:ln w="9525">
            <a:noFill/>
            <a:miter lim="800000"/>
            <a:headEnd/>
            <a:tailEnd/>
          </a:ln>
        </p:spPr>
      </p:pic>
    </p:spTree>
    <p:extLst>
      <p:ext uri="{BB962C8B-B14F-4D97-AF65-F5344CB8AC3E}">
        <p14:creationId xmlns:p14="http://schemas.microsoft.com/office/powerpoint/2010/main" val="30668001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Overview of the Solution (1)</a:t>
            </a:r>
            <a:endParaRPr lang="en-AU" altLang="zh-CN" sz="3600" dirty="0">
              <a:latin typeface="+mn-lt"/>
              <a:cs typeface="Times New Roman" pitchFamily="18" charset="0"/>
            </a:endParaRPr>
          </a:p>
        </p:txBody>
      </p:sp>
      <p:sp>
        <p:nvSpPr>
          <p:cNvPr id="18435" name="Content Placeholder 2"/>
          <p:cNvSpPr>
            <a:spLocks noGrp="1"/>
          </p:cNvSpPr>
          <p:nvPr>
            <p:ph idx="1"/>
          </p:nvPr>
        </p:nvSpPr>
        <p:spPr/>
        <p:txBody>
          <a:bodyPr>
            <a:normAutofit/>
          </a:bodyPr>
          <a:lstStyle/>
          <a:p>
            <a:r>
              <a:rPr lang="en-AU" sz="3600" dirty="0"/>
              <a:t>Requirements for new solution</a:t>
            </a:r>
          </a:p>
          <a:p>
            <a:pPr lvl="1"/>
            <a:r>
              <a:rPr lang="en-AU" dirty="0"/>
              <a:t>There should be no special entity to manage service composition process </a:t>
            </a:r>
          </a:p>
          <a:p>
            <a:pPr lvl="1"/>
            <a:r>
              <a:rPr lang="en-AU" dirty="0"/>
              <a:t>Service providers can communicate only with their local neighbours, not all other service providers </a:t>
            </a:r>
          </a:p>
          <a:p>
            <a:pPr lvl="1"/>
            <a:r>
              <a:rPr lang="en-AU" dirty="0"/>
              <a:t>No service provider knows the full global information or gathers it</a:t>
            </a:r>
          </a:p>
          <a:p>
            <a:pPr lvl="1"/>
            <a:r>
              <a:rPr lang="en-AU" dirty="0"/>
              <a:t>Initially, service providers are atomic, in sense that they provide some functionality and are not coupled with any other service provider to provide a composed service</a:t>
            </a:r>
          </a:p>
        </p:txBody>
      </p:sp>
    </p:spTree>
    <p:extLst>
      <p:ext uri="{BB962C8B-B14F-4D97-AF65-F5344CB8AC3E}">
        <p14:creationId xmlns:p14="http://schemas.microsoft.com/office/powerpoint/2010/main" val="27889744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Overview of the Solution (2)</a:t>
            </a:r>
          </a:p>
        </p:txBody>
      </p:sp>
      <p:sp>
        <p:nvSpPr>
          <p:cNvPr id="19459" name="Rectangle 3"/>
          <p:cNvSpPr>
            <a:spLocks noGrp="1" noChangeArrowheads="1"/>
          </p:cNvSpPr>
          <p:nvPr>
            <p:ph idx="1"/>
          </p:nvPr>
        </p:nvSpPr>
        <p:spPr/>
        <p:txBody>
          <a:bodyPr/>
          <a:lstStyle/>
          <a:p>
            <a:pPr>
              <a:lnSpc>
                <a:spcPct val="80000"/>
              </a:lnSpc>
            </a:pPr>
            <a:r>
              <a:rPr lang="en-US" altLang="zh-TW" sz="2000" dirty="0"/>
              <a:t>Inspired by the strategies adopted in solving jigsaw puzzles. </a:t>
            </a:r>
          </a:p>
          <a:p>
            <a:pPr>
              <a:lnSpc>
                <a:spcPct val="80000"/>
              </a:lnSpc>
            </a:pPr>
            <a:endParaRPr lang="en-US" sz="2000" dirty="0"/>
          </a:p>
        </p:txBody>
      </p:sp>
      <p:pic>
        <p:nvPicPr>
          <p:cNvPr id="19460" name="Picture 4" descr="island ac"/>
          <p:cNvPicPr>
            <a:picLocks noChangeAspect="1" noChangeArrowheads="1"/>
          </p:cNvPicPr>
          <p:nvPr/>
        </p:nvPicPr>
        <p:blipFill>
          <a:blip r:embed="rId2"/>
          <a:srcRect/>
          <a:stretch>
            <a:fillRect/>
          </a:stretch>
        </p:blipFill>
        <p:spPr bwMode="auto">
          <a:xfrm>
            <a:off x="7239000" y="2528889"/>
            <a:ext cx="3106738" cy="757237"/>
          </a:xfrm>
          <a:prstGeom prst="rect">
            <a:avLst/>
          </a:prstGeom>
          <a:noFill/>
          <a:ln w="9525">
            <a:noFill/>
            <a:miter lim="800000"/>
            <a:headEnd/>
            <a:tailEnd/>
          </a:ln>
        </p:spPr>
      </p:pic>
      <p:pic>
        <p:nvPicPr>
          <p:cNvPr id="19461" name="Picture 4" descr="result"/>
          <p:cNvPicPr>
            <a:picLocks noChangeAspect="1" noChangeArrowheads="1"/>
          </p:cNvPicPr>
          <p:nvPr/>
        </p:nvPicPr>
        <p:blipFill>
          <a:blip r:embed="rId3"/>
          <a:srcRect/>
          <a:stretch>
            <a:fillRect/>
          </a:stretch>
        </p:blipFill>
        <p:spPr bwMode="auto">
          <a:xfrm>
            <a:off x="7165976" y="1357313"/>
            <a:ext cx="3038475" cy="1071562"/>
          </a:xfrm>
          <a:prstGeom prst="rect">
            <a:avLst/>
          </a:prstGeom>
          <a:noFill/>
          <a:ln w="9525">
            <a:noFill/>
            <a:miter lim="800000"/>
            <a:headEnd/>
            <a:tailEnd/>
          </a:ln>
        </p:spPr>
      </p:pic>
      <p:sp>
        <p:nvSpPr>
          <p:cNvPr id="19462" name="Rectangle 3"/>
          <p:cNvSpPr txBox="1">
            <a:spLocks noChangeArrowheads="1"/>
          </p:cNvSpPr>
          <p:nvPr/>
        </p:nvSpPr>
        <p:spPr bwMode="auto">
          <a:xfrm>
            <a:off x="1881188" y="2143126"/>
            <a:ext cx="5143500" cy="1643063"/>
          </a:xfrm>
          <a:prstGeom prst="rect">
            <a:avLst/>
          </a:prstGeom>
          <a:noFill/>
          <a:ln w="9525">
            <a:noFill/>
            <a:miter lim="800000"/>
            <a:headEnd/>
            <a:tailEnd/>
          </a:ln>
        </p:spPr>
        <p:txBody>
          <a:bodyPr/>
          <a:lstStyle/>
          <a:p>
            <a:pPr marL="342900" indent="-342900">
              <a:lnSpc>
                <a:spcPct val="80000"/>
              </a:lnSpc>
              <a:spcBef>
                <a:spcPct val="20000"/>
              </a:spcBef>
              <a:buFont typeface="Arial" pitchFamily="34" charset="0"/>
              <a:buChar char="•"/>
            </a:pPr>
            <a:r>
              <a:rPr lang="en-US" altLang="zh-TW" sz="2000" dirty="0">
                <a:latin typeface="Calibri" pitchFamily="34" charset="0"/>
              </a:rPr>
              <a:t>Forming service sections: Service provider identifies what service type it needs to interlock with through his output and then searches for appropriate service provider with matching input type. </a:t>
            </a:r>
          </a:p>
          <a:p>
            <a:pPr marL="342900" indent="-342900">
              <a:lnSpc>
                <a:spcPct val="80000"/>
              </a:lnSpc>
              <a:spcBef>
                <a:spcPct val="20000"/>
              </a:spcBef>
            </a:pPr>
            <a:endParaRPr lang="en-US" sz="2000" dirty="0">
              <a:latin typeface="Calibri" pitchFamily="34" charset="0"/>
            </a:endParaRPr>
          </a:p>
        </p:txBody>
      </p:sp>
      <p:sp>
        <p:nvSpPr>
          <p:cNvPr id="19463" name="Rectangle 3"/>
          <p:cNvSpPr txBox="1">
            <a:spLocks noChangeArrowheads="1"/>
          </p:cNvSpPr>
          <p:nvPr/>
        </p:nvSpPr>
        <p:spPr bwMode="auto">
          <a:xfrm>
            <a:off x="1881189" y="3500438"/>
            <a:ext cx="8143875" cy="571500"/>
          </a:xfrm>
          <a:prstGeom prst="rect">
            <a:avLst/>
          </a:prstGeom>
          <a:noFill/>
          <a:ln w="9525">
            <a:noFill/>
            <a:miter lim="800000"/>
            <a:headEnd/>
            <a:tailEnd/>
          </a:ln>
        </p:spPr>
        <p:txBody>
          <a:bodyPr/>
          <a:lstStyle/>
          <a:p>
            <a:pPr marL="342900" indent="-342900">
              <a:lnSpc>
                <a:spcPct val="70000"/>
              </a:lnSpc>
              <a:spcBef>
                <a:spcPct val="20000"/>
              </a:spcBef>
              <a:buFont typeface="Arial" pitchFamily="34" charset="0"/>
              <a:buChar char="•"/>
            </a:pPr>
            <a:r>
              <a:rPr lang="en-US" altLang="zh-TW" sz="2000">
                <a:latin typeface="Calibri" pitchFamily="34" charset="0"/>
              </a:rPr>
              <a:t>Growing service: At later stages these sections are joined together with other sections to gradually construct the completed solution. </a:t>
            </a:r>
            <a:endParaRPr lang="en-US" altLang="zh-TW" sz="2000" i="1">
              <a:latin typeface="Calibri" pitchFamily="34" charset="0"/>
            </a:endParaRPr>
          </a:p>
          <a:p>
            <a:pPr marL="342900" indent="-342900">
              <a:lnSpc>
                <a:spcPct val="70000"/>
              </a:lnSpc>
              <a:spcBef>
                <a:spcPct val="20000"/>
              </a:spcBef>
              <a:buFont typeface="Arial" pitchFamily="34" charset="0"/>
              <a:buChar char="•"/>
            </a:pPr>
            <a:endParaRPr lang="en-US" altLang="zh-TW" sz="2000">
              <a:latin typeface="Calibri" pitchFamily="34" charset="0"/>
            </a:endParaRPr>
          </a:p>
          <a:p>
            <a:pPr marL="342900" indent="-342900">
              <a:lnSpc>
                <a:spcPct val="70000"/>
              </a:lnSpc>
              <a:spcBef>
                <a:spcPct val="20000"/>
              </a:spcBef>
              <a:buFont typeface="Arial" pitchFamily="34" charset="0"/>
              <a:buChar char="•"/>
            </a:pPr>
            <a:endParaRPr lang="en-US" sz="2000">
              <a:latin typeface="Calibri" pitchFamily="34" charset="0"/>
            </a:endParaRPr>
          </a:p>
        </p:txBody>
      </p:sp>
      <p:pic>
        <p:nvPicPr>
          <p:cNvPr id="19464" name="Picture 6" descr="puzzle1"/>
          <p:cNvPicPr>
            <a:picLocks noChangeAspect="1" noChangeArrowheads="1"/>
          </p:cNvPicPr>
          <p:nvPr/>
        </p:nvPicPr>
        <p:blipFill>
          <a:blip r:embed="rId4"/>
          <a:srcRect/>
          <a:stretch>
            <a:fillRect/>
          </a:stretch>
        </p:blipFill>
        <p:spPr bwMode="auto">
          <a:xfrm>
            <a:off x="2952750" y="4071939"/>
            <a:ext cx="1676400" cy="1271587"/>
          </a:xfrm>
          <a:prstGeom prst="rect">
            <a:avLst/>
          </a:prstGeom>
          <a:noFill/>
          <a:ln w="9525">
            <a:noFill/>
            <a:miter lim="800000"/>
            <a:headEnd/>
            <a:tailEnd/>
          </a:ln>
        </p:spPr>
      </p:pic>
      <p:pic>
        <p:nvPicPr>
          <p:cNvPr id="19465" name="Picture 7" descr="puzzle11"/>
          <p:cNvPicPr>
            <a:picLocks noChangeAspect="1" noChangeArrowheads="1"/>
          </p:cNvPicPr>
          <p:nvPr/>
        </p:nvPicPr>
        <p:blipFill>
          <a:blip r:embed="rId5"/>
          <a:srcRect/>
          <a:stretch>
            <a:fillRect/>
          </a:stretch>
        </p:blipFill>
        <p:spPr bwMode="auto">
          <a:xfrm>
            <a:off x="7310439" y="4071938"/>
            <a:ext cx="1857375" cy="1287462"/>
          </a:xfrm>
          <a:prstGeom prst="rect">
            <a:avLst/>
          </a:prstGeom>
          <a:noFill/>
          <a:ln w="9525">
            <a:noFill/>
            <a:miter lim="800000"/>
            <a:headEnd/>
            <a:tailEnd/>
          </a:ln>
        </p:spPr>
      </p:pic>
      <p:pic>
        <p:nvPicPr>
          <p:cNvPr id="19466" name="Picture 8" descr="puzzle1111"/>
          <p:cNvPicPr>
            <a:picLocks noChangeAspect="1" noChangeArrowheads="1"/>
          </p:cNvPicPr>
          <p:nvPr/>
        </p:nvPicPr>
        <p:blipFill>
          <a:blip r:embed="rId6"/>
          <a:srcRect/>
          <a:stretch>
            <a:fillRect/>
          </a:stretch>
        </p:blipFill>
        <p:spPr bwMode="auto">
          <a:xfrm>
            <a:off x="4872039" y="5418138"/>
            <a:ext cx="1654175" cy="1225550"/>
          </a:xfrm>
          <a:prstGeom prst="rect">
            <a:avLst/>
          </a:prstGeom>
          <a:noFill/>
          <a:ln w="9525">
            <a:noFill/>
            <a:miter lim="800000"/>
            <a:headEnd/>
            <a:tailEnd/>
          </a:ln>
        </p:spPr>
      </p:pic>
      <p:sp>
        <p:nvSpPr>
          <p:cNvPr id="19467" name="Line 10"/>
          <p:cNvSpPr>
            <a:spLocks noChangeShapeType="1"/>
          </p:cNvSpPr>
          <p:nvPr/>
        </p:nvSpPr>
        <p:spPr bwMode="auto">
          <a:xfrm>
            <a:off x="4727575" y="4449763"/>
            <a:ext cx="2376488" cy="0"/>
          </a:xfrm>
          <a:prstGeom prst="line">
            <a:avLst/>
          </a:prstGeom>
          <a:noFill/>
          <a:ln w="9525">
            <a:solidFill>
              <a:schemeClr val="tx1"/>
            </a:solidFill>
            <a:round/>
            <a:headEnd/>
            <a:tailEnd type="triangle" w="med" len="med"/>
          </a:ln>
        </p:spPr>
        <p:txBody>
          <a:bodyPr/>
          <a:lstStyle/>
          <a:p>
            <a:endParaRPr lang="en-US"/>
          </a:p>
        </p:txBody>
      </p:sp>
      <p:sp>
        <p:nvSpPr>
          <p:cNvPr id="19468" name="Line 11"/>
          <p:cNvSpPr>
            <a:spLocks noChangeShapeType="1"/>
          </p:cNvSpPr>
          <p:nvPr/>
        </p:nvSpPr>
        <p:spPr bwMode="auto">
          <a:xfrm flipH="1">
            <a:off x="6453188" y="5072064"/>
            <a:ext cx="1295400" cy="503237"/>
          </a:xfrm>
          <a:prstGeom prst="line">
            <a:avLst/>
          </a:prstGeom>
          <a:noFill/>
          <a:ln w="9525">
            <a:solidFill>
              <a:schemeClr val="tx1"/>
            </a:solidFill>
            <a:round/>
            <a:headEnd/>
            <a:tailEnd type="triangle" w="med" len="med"/>
          </a:ln>
        </p:spPr>
        <p:txBody>
          <a:bodyPr/>
          <a:lstStyle/>
          <a:p>
            <a:endParaRPr lang="en-US"/>
          </a:p>
        </p:txBody>
      </p:sp>
    </p:spTree>
    <p:extLst>
      <p:ext uri="{BB962C8B-B14F-4D97-AF65-F5344CB8AC3E}">
        <p14:creationId xmlns:p14="http://schemas.microsoft.com/office/powerpoint/2010/main" val="1006788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Overview of the Solution (3)</a:t>
            </a:r>
          </a:p>
        </p:txBody>
      </p:sp>
      <p:sp>
        <p:nvSpPr>
          <p:cNvPr id="3" name="Content Placeholder 2">
            <a:extLst>
              <a:ext uri="{FF2B5EF4-FFF2-40B4-BE49-F238E27FC236}">
                <a16:creationId xmlns:a16="http://schemas.microsoft.com/office/drawing/2014/main" id="{02ED9D92-C4A1-4A0C-8945-0DFB8A11E2A5}"/>
              </a:ext>
            </a:extLst>
          </p:cNvPr>
          <p:cNvSpPr>
            <a:spLocks noGrp="1"/>
          </p:cNvSpPr>
          <p:nvPr>
            <p:ph idx="1"/>
          </p:nvPr>
        </p:nvSpPr>
        <p:spPr/>
        <p:txBody>
          <a:bodyPr/>
          <a:lstStyle/>
          <a:p>
            <a:endParaRPr lang="en-US"/>
          </a:p>
        </p:txBody>
      </p:sp>
      <p:pic>
        <p:nvPicPr>
          <p:cNvPr id="20484" name="Picture 2"/>
          <p:cNvPicPr>
            <a:picLocks noChangeAspect="1" noChangeArrowheads="1"/>
          </p:cNvPicPr>
          <p:nvPr/>
        </p:nvPicPr>
        <p:blipFill>
          <a:blip r:embed="rId2"/>
          <a:srcRect/>
          <a:stretch>
            <a:fillRect/>
          </a:stretch>
        </p:blipFill>
        <p:spPr bwMode="auto">
          <a:xfrm>
            <a:off x="2667000" y="1981201"/>
            <a:ext cx="1981200" cy="1406525"/>
          </a:xfrm>
          <a:prstGeom prst="rect">
            <a:avLst/>
          </a:prstGeom>
          <a:noFill/>
          <a:ln w="9525">
            <a:noFill/>
            <a:miter lim="800000"/>
            <a:headEnd/>
            <a:tailEnd/>
          </a:ln>
        </p:spPr>
      </p:pic>
      <p:pic>
        <p:nvPicPr>
          <p:cNvPr id="20485" name="Picture 3"/>
          <p:cNvPicPr>
            <a:picLocks noChangeAspect="1" noChangeArrowheads="1"/>
          </p:cNvPicPr>
          <p:nvPr/>
        </p:nvPicPr>
        <p:blipFill>
          <a:blip r:embed="rId3"/>
          <a:srcRect/>
          <a:stretch>
            <a:fillRect/>
          </a:stretch>
        </p:blipFill>
        <p:spPr bwMode="auto">
          <a:xfrm>
            <a:off x="5638801" y="1295400"/>
            <a:ext cx="4676775" cy="3138488"/>
          </a:xfrm>
          <a:prstGeom prst="rect">
            <a:avLst/>
          </a:prstGeom>
          <a:noFill/>
          <a:ln w="9525">
            <a:noFill/>
            <a:miter lim="800000"/>
            <a:headEnd/>
            <a:tailEnd/>
          </a:ln>
        </p:spPr>
      </p:pic>
      <p:pic>
        <p:nvPicPr>
          <p:cNvPr id="20486" name="Picture 5"/>
          <p:cNvPicPr>
            <a:picLocks noChangeAspect="1" noChangeArrowheads="1"/>
          </p:cNvPicPr>
          <p:nvPr/>
        </p:nvPicPr>
        <p:blipFill>
          <a:blip r:embed="rId4"/>
          <a:srcRect/>
          <a:stretch>
            <a:fillRect/>
          </a:stretch>
        </p:blipFill>
        <p:spPr bwMode="auto">
          <a:xfrm>
            <a:off x="1905000" y="4267201"/>
            <a:ext cx="3786188" cy="1971675"/>
          </a:xfrm>
          <a:prstGeom prst="rect">
            <a:avLst/>
          </a:prstGeom>
          <a:noFill/>
          <a:ln w="9525">
            <a:noFill/>
            <a:miter lim="800000"/>
            <a:headEnd/>
            <a:tailEnd/>
          </a:ln>
        </p:spPr>
      </p:pic>
    </p:spTree>
    <p:extLst>
      <p:ext uri="{BB962C8B-B14F-4D97-AF65-F5344CB8AC3E}">
        <p14:creationId xmlns:p14="http://schemas.microsoft.com/office/powerpoint/2010/main" val="76097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blinds(horizontal)">
                                      <p:cBhvr>
                                        <p:cTn id="7" dur="5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Challenging Issues</a:t>
            </a:r>
          </a:p>
        </p:txBody>
      </p:sp>
      <p:sp>
        <p:nvSpPr>
          <p:cNvPr id="21507" name="Text Placeholder 2"/>
          <p:cNvSpPr>
            <a:spLocks noGrp="1"/>
          </p:cNvSpPr>
          <p:nvPr>
            <p:ph idx="1"/>
          </p:nvPr>
        </p:nvSpPr>
        <p:spPr/>
        <p:txBody>
          <a:bodyPr>
            <a:normAutofit/>
          </a:bodyPr>
          <a:lstStyle/>
          <a:p>
            <a:r>
              <a:rPr lang="en-US" sz="2400" dirty="0"/>
              <a:t>Awareness</a:t>
            </a:r>
          </a:p>
          <a:p>
            <a:pPr lvl="1"/>
            <a:r>
              <a:rPr lang="en-US" sz="1800" dirty="0"/>
              <a:t>How does a node know the current members of the section that it has participated in? How does a node know the section that it has participated in has already failed? </a:t>
            </a:r>
          </a:p>
          <a:p>
            <a:r>
              <a:rPr lang="en-US" sz="2400" dirty="0"/>
              <a:t>Judgment</a:t>
            </a:r>
          </a:p>
          <a:p>
            <a:pPr lvl="1"/>
            <a:r>
              <a:rPr lang="en-US" sz="1800" dirty="0"/>
              <a:t>How does a node know which section is more possible to succeed in the composition when the node is required to join? How to reduce or stop the useless composition which cannot be completed?</a:t>
            </a:r>
          </a:p>
          <a:p>
            <a:r>
              <a:rPr lang="en-US" sz="2400" dirty="0"/>
              <a:t>Assembly</a:t>
            </a:r>
          </a:p>
          <a:p>
            <a:pPr lvl="1"/>
            <a:r>
              <a:rPr lang="en-US" sz="1800" dirty="0"/>
              <a:t>Since there is no coordinator in the network, how to guarantee the composition to converge into one integrated overlay graph. </a:t>
            </a:r>
          </a:p>
        </p:txBody>
      </p:sp>
      <p:sp>
        <p:nvSpPr>
          <p:cNvPr id="21508" name="Rectangle 4"/>
          <p:cNvSpPr>
            <a:spLocks noChangeArrowheads="1"/>
          </p:cNvSpPr>
          <p:nvPr/>
        </p:nvSpPr>
        <p:spPr bwMode="auto">
          <a:xfrm>
            <a:off x="755780" y="5413116"/>
            <a:ext cx="8610600" cy="1016000"/>
          </a:xfrm>
          <a:prstGeom prst="rect">
            <a:avLst/>
          </a:prstGeom>
          <a:noFill/>
          <a:ln w="9525">
            <a:noFill/>
            <a:miter lim="800000"/>
            <a:headEnd/>
            <a:tailEnd/>
          </a:ln>
        </p:spPr>
        <p:txBody>
          <a:bodyPr>
            <a:spAutoFit/>
          </a:bodyPr>
          <a:lstStyle/>
          <a:p>
            <a:r>
              <a:rPr lang="en-US" sz="2000" dirty="0"/>
              <a:t>How to constraint the blind and random composition among the UIOs that could not form the requested service so as to guarantee all the services specified in the request will be provided</a:t>
            </a:r>
          </a:p>
        </p:txBody>
      </p:sp>
      <p:pic>
        <p:nvPicPr>
          <p:cNvPr id="21509" name="Picture 3"/>
          <p:cNvPicPr>
            <a:picLocks noChangeAspect="1" noChangeArrowheads="1"/>
          </p:cNvPicPr>
          <p:nvPr/>
        </p:nvPicPr>
        <p:blipFill>
          <a:blip r:embed="rId2"/>
          <a:srcRect/>
          <a:stretch>
            <a:fillRect/>
          </a:stretch>
        </p:blipFill>
        <p:spPr bwMode="auto">
          <a:xfrm>
            <a:off x="6285722" y="417513"/>
            <a:ext cx="3962400" cy="1408112"/>
          </a:xfrm>
          <a:prstGeom prst="rect">
            <a:avLst/>
          </a:prstGeom>
          <a:noFill/>
          <a:ln w="9525">
            <a:noFill/>
            <a:miter lim="800000"/>
            <a:headEnd/>
            <a:tailEnd/>
          </a:ln>
        </p:spPr>
      </p:pic>
    </p:spTree>
    <p:extLst>
      <p:ext uri="{BB962C8B-B14F-4D97-AF65-F5344CB8AC3E}">
        <p14:creationId xmlns:p14="http://schemas.microsoft.com/office/powerpoint/2010/main" val="425378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0" dur="500"/>
                                        <p:tgtEl>
                                          <p:spTgt spid="2150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3" dur="500"/>
                                        <p:tgtEl>
                                          <p:spTgt spid="2150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6" dur="500"/>
                                        <p:tgtEl>
                                          <p:spTgt spid="21507">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19" dur="500"/>
                                        <p:tgtEl>
                                          <p:spTgt spid="21507">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2" dur="5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altLang="zh-CN" sz="3600" dirty="0">
                <a:latin typeface="+mn-lt"/>
                <a:cs typeface="Times New Roman" pitchFamily="18" charset="0"/>
              </a:rPr>
              <a:t>Basic Idea of LASEC</a:t>
            </a:r>
          </a:p>
        </p:txBody>
      </p:sp>
      <p:sp>
        <p:nvSpPr>
          <p:cNvPr id="22531" name="Text Placeholder 2"/>
          <p:cNvSpPr>
            <a:spLocks noGrp="1"/>
          </p:cNvSpPr>
          <p:nvPr>
            <p:ph idx="1"/>
          </p:nvPr>
        </p:nvSpPr>
        <p:spPr/>
        <p:txBody>
          <a:bodyPr/>
          <a:lstStyle/>
          <a:p>
            <a:r>
              <a:rPr lang="en-US" sz="2400" dirty="0"/>
              <a:t>A-Ack mechanism </a:t>
            </a:r>
          </a:p>
          <a:p>
            <a:pPr lvl="1"/>
            <a:r>
              <a:rPr lang="en-US" sz="2000" dirty="0"/>
              <a:t>UIO decide on collaborating with another UIO only after obtaining some additional information from the collaboration candidate. </a:t>
            </a:r>
          </a:p>
          <a:p>
            <a:pPr lvl="1"/>
            <a:r>
              <a:rPr lang="en-US" sz="2000" dirty="0"/>
              <a:t>Specifically this information refers to ability of given UIO to compose another part of the service.</a:t>
            </a:r>
          </a:p>
        </p:txBody>
      </p:sp>
      <p:pic>
        <p:nvPicPr>
          <p:cNvPr id="22532" name="Picture 2"/>
          <p:cNvPicPr>
            <a:picLocks noChangeAspect="1" noChangeArrowheads="1"/>
          </p:cNvPicPr>
          <p:nvPr/>
        </p:nvPicPr>
        <p:blipFill>
          <a:blip r:embed="rId2"/>
          <a:srcRect/>
          <a:stretch>
            <a:fillRect/>
          </a:stretch>
        </p:blipFill>
        <p:spPr bwMode="auto">
          <a:xfrm>
            <a:off x="2895600" y="3352800"/>
            <a:ext cx="6757988" cy="3003550"/>
          </a:xfrm>
          <a:prstGeom prst="rect">
            <a:avLst/>
          </a:prstGeom>
          <a:noFill/>
          <a:ln w="9525">
            <a:noFill/>
            <a:miter lim="800000"/>
            <a:headEnd/>
            <a:tailEnd/>
          </a:ln>
        </p:spPr>
      </p:pic>
    </p:spTree>
    <p:extLst>
      <p:ext uri="{BB962C8B-B14F-4D97-AF65-F5344CB8AC3E}">
        <p14:creationId xmlns:p14="http://schemas.microsoft.com/office/powerpoint/2010/main" val="22983867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Simulation Results  (1) </a:t>
            </a:r>
            <a:endParaRPr lang="zh-TW" altLang="en-US" sz="3600" dirty="0">
              <a:latin typeface="+mn-lt"/>
              <a:cs typeface="Times New Roman" pitchFamily="18" charset="0"/>
            </a:endParaRPr>
          </a:p>
        </p:txBody>
      </p:sp>
      <p:sp>
        <p:nvSpPr>
          <p:cNvPr id="22531" name="Rectangle 8"/>
          <p:cNvSpPr>
            <a:spLocks noChangeArrowheads="1"/>
          </p:cNvSpPr>
          <p:nvPr/>
        </p:nvSpPr>
        <p:spPr bwMode="auto">
          <a:xfrm>
            <a:off x="864149" y="1772847"/>
            <a:ext cx="7661273" cy="4598182"/>
          </a:xfrm>
          <a:prstGeom prst="rect">
            <a:avLst/>
          </a:prstGeom>
          <a:noFill/>
          <a:ln w="9525">
            <a:noFill/>
            <a:miter lim="800000"/>
            <a:headEnd/>
            <a:tailEnd/>
          </a:ln>
        </p:spPr>
        <p:txBody>
          <a:bodyPr wrap="square" anchor="ctr">
            <a:spAutoFit/>
          </a:bodyPr>
          <a:lstStyle/>
          <a:p>
            <a:pPr marL="342900" indent="-342900" eaLnBrk="0" hangingPunct="0">
              <a:spcBef>
                <a:spcPct val="20000"/>
              </a:spcBef>
              <a:buClr>
                <a:schemeClr val="folHlink"/>
              </a:buClr>
              <a:buSzPct val="90000"/>
              <a:buBlip>
                <a:blip r:embed="rId3"/>
              </a:buBlip>
              <a:defRPr/>
            </a:pPr>
            <a:r>
              <a:rPr lang="en-GB" altLang="zh-TW" sz="2400" b="1" dirty="0"/>
              <a:t>Scalability with regards to network size</a:t>
            </a:r>
          </a:p>
          <a:p>
            <a:pPr marL="342900" lvl="1" indent="-342900" eaLnBrk="0" hangingPunct="0">
              <a:spcBef>
                <a:spcPct val="20000"/>
              </a:spcBef>
              <a:buClr>
                <a:schemeClr val="folHlink"/>
              </a:buClr>
              <a:buSzPct val="90000"/>
              <a:buBlip>
                <a:blip r:embed="rId3"/>
              </a:buBlip>
              <a:defRPr/>
            </a:pPr>
            <a:r>
              <a:rPr lang="en-GB" altLang="zh-TW" sz="2400" b="1" dirty="0"/>
              <a:t>Message overhead</a:t>
            </a:r>
          </a:p>
          <a:p>
            <a:pPr marL="742950" lvl="1" indent="-285750" eaLnBrk="0" hangingPunct="0">
              <a:spcBef>
                <a:spcPct val="20000"/>
              </a:spcBef>
              <a:buClr>
                <a:schemeClr val="hlink"/>
              </a:buClr>
              <a:buSzPct val="90000"/>
              <a:buBlip>
                <a:blip r:embed="rId4"/>
              </a:buBlip>
              <a:defRPr/>
            </a:pPr>
            <a:r>
              <a:rPr lang="en-US" altLang="zh-TW" sz="2400" dirty="0"/>
              <a:t>Our LASEC service composition mechanisms require less messages than CEN for finding first result.</a:t>
            </a:r>
          </a:p>
          <a:p>
            <a:pPr marL="742950" lvl="1" indent="-285750" eaLnBrk="0" hangingPunct="0">
              <a:spcBef>
                <a:spcPct val="20000"/>
              </a:spcBef>
              <a:buClr>
                <a:schemeClr val="hlink"/>
              </a:buClr>
              <a:buSzPct val="90000"/>
              <a:buBlip>
                <a:blip r:embed="rId4"/>
              </a:buBlip>
              <a:defRPr/>
            </a:pPr>
            <a:r>
              <a:rPr lang="en-US" altLang="zh-TW" sz="2400" dirty="0"/>
              <a:t>LASEC scales very well with the growing size of the network while CEN imposes larger cost when the network grows.</a:t>
            </a:r>
            <a:endParaRPr lang="en-GB" altLang="zh-TW" sz="2400" dirty="0"/>
          </a:p>
          <a:p>
            <a:pPr marL="342900" lvl="1" indent="-342900" eaLnBrk="0" hangingPunct="0">
              <a:spcBef>
                <a:spcPct val="20000"/>
              </a:spcBef>
              <a:buClr>
                <a:schemeClr val="folHlink"/>
              </a:buClr>
              <a:buSzPct val="90000"/>
              <a:buBlip>
                <a:blip r:embed="rId3"/>
              </a:buBlip>
              <a:defRPr/>
            </a:pPr>
            <a:r>
              <a:rPr lang="en-GB" altLang="zh-TW" sz="2400" b="1" dirty="0"/>
              <a:t>Response delay</a:t>
            </a:r>
          </a:p>
          <a:p>
            <a:pPr marL="742950" lvl="1" indent="-285750" eaLnBrk="0" hangingPunct="0">
              <a:spcBef>
                <a:spcPct val="20000"/>
              </a:spcBef>
              <a:buClr>
                <a:schemeClr val="hlink"/>
              </a:buClr>
              <a:buSzPct val="90000"/>
              <a:buBlip>
                <a:blip r:embed="rId4"/>
              </a:buBlip>
              <a:defRPr/>
            </a:pPr>
            <a:r>
              <a:rPr lang="en-US" altLang="zh-TW" sz="2400" dirty="0"/>
              <a:t>LASEC algorithm performs better than DEC and CEN.</a:t>
            </a:r>
          </a:p>
          <a:p>
            <a:pPr marL="742950" lvl="1" indent="-285750" eaLnBrk="0" hangingPunct="0">
              <a:spcBef>
                <a:spcPct val="20000"/>
              </a:spcBef>
              <a:buClr>
                <a:schemeClr val="hlink"/>
              </a:buClr>
              <a:buSzPct val="90000"/>
              <a:buBlip>
                <a:blip r:embed="rId4"/>
              </a:buBlip>
              <a:defRPr/>
            </a:pPr>
            <a:r>
              <a:rPr lang="en-US" altLang="zh-TW" sz="2400" dirty="0"/>
              <a:t>Similar as with message cost, LASEC and DEC scale better than CEN.</a:t>
            </a:r>
            <a:endParaRPr lang="en-GB" altLang="zh-TW" sz="2400" dirty="0"/>
          </a:p>
        </p:txBody>
      </p:sp>
      <p:pic>
        <p:nvPicPr>
          <p:cNvPr id="23556" name="Picture 4"/>
          <p:cNvPicPr>
            <a:picLocks noChangeAspect="1" noChangeArrowheads="1"/>
          </p:cNvPicPr>
          <p:nvPr/>
        </p:nvPicPr>
        <p:blipFill>
          <a:blip r:embed="rId5"/>
          <a:srcRect/>
          <a:stretch>
            <a:fillRect/>
          </a:stretch>
        </p:blipFill>
        <p:spPr bwMode="auto">
          <a:xfrm>
            <a:off x="8637038" y="1538288"/>
            <a:ext cx="2722563" cy="1966912"/>
          </a:xfrm>
          <a:prstGeom prst="rect">
            <a:avLst/>
          </a:prstGeom>
          <a:noFill/>
          <a:ln w="9525">
            <a:noFill/>
            <a:miter lim="800000"/>
            <a:headEnd/>
            <a:tailEnd/>
          </a:ln>
        </p:spPr>
      </p:pic>
      <p:pic>
        <p:nvPicPr>
          <p:cNvPr id="23557" name="Picture 7"/>
          <p:cNvPicPr>
            <a:picLocks noChangeAspect="1" noChangeArrowheads="1"/>
          </p:cNvPicPr>
          <p:nvPr/>
        </p:nvPicPr>
        <p:blipFill>
          <a:blip r:embed="rId6"/>
          <a:srcRect/>
          <a:stretch>
            <a:fillRect/>
          </a:stretch>
        </p:blipFill>
        <p:spPr bwMode="auto">
          <a:xfrm>
            <a:off x="8637038" y="4071938"/>
            <a:ext cx="2690813" cy="1947862"/>
          </a:xfrm>
          <a:prstGeom prst="rect">
            <a:avLst/>
          </a:prstGeom>
          <a:noFill/>
          <a:ln w="9525">
            <a:noFill/>
            <a:miter lim="800000"/>
            <a:headEnd/>
            <a:tailEnd/>
          </a:ln>
        </p:spPr>
      </p:pic>
    </p:spTree>
    <p:extLst>
      <p:ext uri="{BB962C8B-B14F-4D97-AF65-F5344CB8AC3E}">
        <p14:creationId xmlns:p14="http://schemas.microsoft.com/office/powerpoint/2010/main" val="1455072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Simulation Results (2) </a:t>
            </a:r>
            <a:endParaRPr lang="zh-TW" altLang="en-US" sz="3600" dirty="0">
              <a:latin typeface="+mn-lt"/>
              <a:cs typeface="Times New Roman" pitchFamily="18" charset="0"/>
            </a:endParaRPr>
          </a:p>
        </p:txBody>
      </p:sp>
      <p:sp>
        <p:nvSpPr>
          <p:cNvPr id="23555" name="Rectangle 8"/>
          <p:cNvSpPr>
            <a:spLocks noChangeArrowheads="1"/>
          </p:cNvSpPr>
          <p:nvPr/>
        </p:nvSpPr>
        <p:spPr bwMode="auto">
          <a:xfrm>
            <a:off x="1037252" y="1479736"/>
            <a:ext cx="7490927" cy="4967514"/>
          </a:xfrm>
          <a:prstGeom prst="rect">
            <a:avLst/>
          </a:prstGeom>
          <a:noFill/>
          <a:ln w="9525">
            <a:noFill/>
            <a:miter lim="800000"/>
            <a:headEnd/>
            <a:tailEnd/>
          </a:ln>
        </p:spPr>
        <p:txBody>
          <a:bodyPr wrap="square" anchor="ctr">
            <a:spAutoFit/>
          </a:bodyPr>
          <a:lstStyle/>
          <a:p>
            <a:pPr marL="342900" indent="-342900" eaLnBrk="0" hangingPunct="0">
              <a:spcBef>
                <a:spcPct val="20000"/>
              </a:spcBef>
              <a:buClr>
                <a:schemeClr val="folHlink"/>
              </a:buClr>
              <a:buSzPct val="90000"/>
              <a:buBlip>
                <a:blip r:embed="rId3"/>
              </a:buBlip>
              <a:defRPr/>
            </a:pPr>
            <a:r>
              <a:rPr lang="en-GB" altLang="zh-TW" sz="2400" b="1" dirty="0"/>
              <a:t>Scalability with regards to request complexity</a:t>
            </a:r>
          </a:p>
          <a:p>
            <a:pPr marL="342900" indent="-342900" eaLnBrk="0" hangingPunct="0">
              <a:spcBef>
                <a:spcPct val="20000"/>
              </a:spcBef>
              <a:buClr>
                <a:schemeClr val="folHlink"/>
              </a:buClr>
              <a:buSzPct val="90000"/>
              <a:buBlip>
                <a:blip r:embed="rId3"/>
              </a:buBlip>
              <a:defRPr/>
            </a:pPr>
            <a:r>
              <a:rPr lang="en-US" altLang="zh-TW" sz="2400" b="1" dirty="0"/>
              <a:t>Message overhead</a:t>
            </a:r>
          </a:p>
          <a:p>
            <a:pPr marL="742950" lvl="1" indent="-285750" eaLnBrk="0" hangingPunct="0">
              <a:spcBef>
                <a:spcPct val="20000"/>
              </a:spcBef>
              <a:buClr>
                <a:schemeClr val="hlink"/>
              </a:buClr>
              <a:buSzPct val="90000"/>
              <a:buBlip>
                <a:blip r:embed="rId4"/>
              </a:buBlip>
              <a:defRPr/>
            </a:pPr>
            <a:r>
              <a:rPr lang="en-US" altLang="zh-TW" sz="2400" dirty="0"/>
              <a:t>Number of messages increases with the complexity of the request.</a:t>
            </a:r>
          </a:p>
          <a:p>
            <a:pPr marL="742950" lvl="1" indent="-285750" eaLnBrk="0" hangingPunct="0">
              <a:spcBef>
                <a:spcPct val="20000"/>
              </a:spcBef>
              <a:buClr>
                <a:schemeClr val="hlink"/>
              </a:buClr>
              <a:buSzPct val="90000"/>
              <a:buBlip>
                <a:blip r:embed="rId4"/>
              </a:buBlip>
              <a:defRPr/>
            </a:pPr>
            <a:r>
              <a:rPr lang="en-US" altLang="zh-TW" sz="2400" dirty="0"/>
              <a:t>Along with the growth of request complexity, LASEC and DEC generate more messages, while CEN is more scalable. </a:t>
            </a:r>
          </a:p>
          <a:p>
            <a:pPr marL="342900" indent="-342900" eaLnBrk="0" hangingPunct="0">
              <a:spcBef>
                <a:spcPct val="20000"/>
              </a:spcBef>
              <a:buClr>
                <a:schemeClr val="folHlink"/>
              </a:buClr>
              <a:buSzPct val="90000"/>
              <a:buBlip>
                <a:blip r:embed="rId3"/>
              </a:buBlip>
              <a:defRPr/>
            </a:pPr>
            <a:r>
              <a:rPr lang="en-US" altLang="zh-TW" sz="2400" b="1" dirty="0"/>
              <a:t> Response delay</a:t>
            </a:r>
          </a:p>
          <a:p>
            <a:pPr marL="742950" lvl="1" indent="-285750" eaLnBrk="0" hangingPunct="0">
              <a:spcBef>
                <a:spcPct val="20000"/>
              </a:spcBef>
              <a:buClr>
                <a:schemeClr val="hlink"/>
              </a:buClr>
              <a:buSzPct val="90000"/>
              <a:buBlip>
                <a:blip r:embed="rId4"/>
              </a:buBlip>
              <a:defRPr/>
            </a:pPr>
            <a:r>
              <a:rPr lang="en-US" altLang="zh-TW" sz="2400" dirty="0"/>
              <a:t>Our LASEC service composition mechanism performs better than DEC and CEN for finding first result. </a:t>
            </a:r>
          </a:p>
          <a:p>
            <a:pPr marL="742950" lvl="1" indent="-285750" eaLnBrk="0" hangingPunct="0">
              <a:spcBef>
                <a:spcPct val="20000"/>
              </a:spcBef>
              <a:buClr>
                <a:schemeClr val="hlink"/>
              </a:buClr>
              <a:buSzPct val="90000"/>
              <a:buBlip>
                <a:blip r:embed="rId4"/>
              </a:buBlip>
              <a:defRPr/>
            </a:pPr>
            <a:r>
              <a:rPr lang="en-US" altLang="zh-TW" sz="2400" dirty="0"/>
              <a:t>Moreover, DEC, CEN and LASEC perform similar in terms of scalability.</a:t>
            </a:r>
            <a:endParaRPr lang="en-GB" altLang="zh-TW" sz="2400" dirty="0"/>
          </a:p>
        </p:txBody>
      </p:sp>
      <p:pic>
        <p:nvPicPr>
          <p:cNvPr id="24580" name="Picture 2"/>
          <p:cNvPicPr>
            <a:picLocks noChangeAspect="1" noChangeArrowheads="1"/>
          </p:cNvPicPr>
          <p:nvPr/>
        </p:nvPicPr>
        <p:blipFill>
          <a:blip r:embed="rId5"/>
          <a:srcRect/>
          <a:stretch>
            <a:fillRect/>
          </a:stretch>
        </p:blipFill>
        <p:spPr bwMode="auto">
          <a:xfrm>
            <a:off x="8837612" y="1614639"/>
            <a:ext cx="2516188" cy="1876425"/>
          </a:xfrm>
          <a:prstGeom prst="rect">
            <a:avLst/>
          </a:prstGeom>
          <a:noFill/>
          <a:ln w="9525">
            <a:noFill/>
            <a:miter lim="800000"/>
            <a:headEnd/>
            <a:tailEnd/>
          </a:ln>
        </p:spPr>
      </p:pic>
      <p:pic>
        <p:nvPicPr>
          <p:cNvPr id="24581" name="Picture 5"/>
          <p:cNvPicPr>
            <a:picLocks noChangeAspect="1" noChangeArrowheads="1"/>
          </p:cNvPicPr>
          <p:nvPr/>
        </p:nvPicPr>
        <p:blipFill>
          <a:blip r:embed="rId6"/>
          <a:srcRect/>
          <a:stretch>
            <a:fillRect/>
          </a:stretch>
        </p:blipFill>
        <p:spPr bwMode="auto">
          <a:xfrm>
            <a:off x="8837612" y="4281639"/>
            <a:ext cx="2490788" cy="1819275"/>
          </a:xfrm>
          <a:prstGeom prst="rect">
            <a:avLst/>
          </a:prstGeom>
          <a:noFill/>
          <a:ln w="9525">
            <a:noFill/>
            <a:miter lim="800000"/>
            <a:headEnd/>
            <a:tailEnd/>
          </a:ln>
        </p:spPr>
      </p:pic>
    </p:spTree>
    <p:extLst>
      <p:ext uri="{BB962C8B-B14F-4D97-AF65-F5344CB8AC3E}">
        <p14:creationId xmlns:p14="http://schemas.microsoft.com/office/powerpoint/2010/main" val="33879548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Simulation Results (3)  </a:t>
            </a:r>
            <a:endParaRPr lang="zh-TW" altLang="en-US" sz="3600" dirty="0">
              <a:latin typeface="+mn-lt"/>
              <a:cs typeface="Times New Roman" pitchFamily="18" charset="0"/>
            </a:endParaRPr>
          </a:p>
        </p:txBody>
      </p:sp>
      <p:sp>
        <p:nvSpPr>
          <p:cNvPr id="24579" name="Rectangle 8"/>
          <p:cNvSpPr>
            <a:spLocks noChangeArrowheads="1"/>
          </p:cNvSpPr>
          <p:nvPr/>
        </p:nvSpPr>
        <p:spPr bwMode="auto">
          <a:xfrm>
            <a:off x="803988" y="1905000"/>
            <a:ext cx="6075783" cy="3933384"/>
          </a:xfrm>
          <a:prstGeom prst="rect">
            <a:avLst/>
          </a:prstGeom>
          <a:noFill/>
          <a:ln w="9525">
            <a:noFill/>
            <a:miter lim="800000"/>
            <a:headEnd/>
            <a:tailEnd/>
          </a:ln>
        </p:spPr>
        <p:txBody>
          <a:bodyPr wrap="square" anchor="ctr">
            <a:spAutoFit/>
          </a:bodyPr>
          <a:lstStyle/>
          <a:p>
            <a:pPr marL="342900" indent="-342900" eaLnBrk="0" hangingPunct="0">
              <a:spcBef>
                <a:spcPct val="20000"/>
              </a:spcBef>
              <a:buClr>
                <a:schemeClr val="folHlink"/>
              </a:buClr>
              <a:buSzPct val="90000"/>
              <a:buBlip>
                <a:blip r:embed="rId3"/>
              </a:buBlip>
              <a:defRPr/>
            </a:pPr>
            <a:r>
              <a:rPr lang="en-US" altLang="zh-TW" sz="2400" dirty="0"/>
              <a:t>In these simulations we have explored localized characteristics of our approach and allowed nodes to forward message to 2 hop </a:t>
            </a:r>
            <a:r>
              <a:rPr lang="en-US" altLang="zh-TW" sz="2400" dirty="0" err="1"/>
              <a:t>neighbours</a:t>
            </a:r>
            <a:r>
              <a:rPr lang="en-US" altLang="zh-TW" sz="2400" dirty="0"/>
              <a:t> only. </a:t>
            </a:r>
          </a:p>
          <a:p>
            <a:pPr marL="342900" indent="-342900" eaLnBrk="0" hangingPunct="0">
              <a:spcBef>
                <a:spcPct val="20000"/>
              </a:spcBef>
              <a:buClr>
                <a:schemeClr val="folHlink"/>
              </a:buClr>
              <a:buSzPct val="90000"/>
              <a:buBlip>
                <a:blip r:embed="rId3"/>
              </a:buBlip>
              <a:defRPr/>
            </a:pPr>
            <a:r>
              <a:rPr lang="en-US" altLang="zh-TW" sz="2400" dirty="0"/>
              <a:t>We observe that response delay as well as number of messages increase with service density. </a:t>
            </a:r>
          </a:p>
          <a:p>
            <a:pPr marL="342900" indent="-342900" eaLnBrk="0" hangingPunct="0">
              <a:spcBef>
                <a:spcPct val="20000"/>
              </a:spcBef>
              <a:buClr>
                <a:schemeClr val="folHlink"/>
              </a:buClr>
              <a:buSzPct val="90000"/>
              <a:buBlip>
                <a:blip r:embed="rId3"/>
              </a:buBlip>
              <a:defRPr/>
            </a:pPr>
            <a:r>
              <a:rPr lang="en-US" altLang="zh-TW" sz="2400" dirty="0"/>
              <a:t>Our LASEC service composition mechanism has smaller overhead than DEC and CEN for finding the result</a:t>
            </a:r>
            <a:endParaRPr lang="en-GB" altLang="zh-TW" sz="2400" dirty="0"/>
          </a:p>
        </p:txBody>
      </p:sp>
      <p:pic>
        <p:nvPicPr>
          <p:cNvPr id="25604" name="Picture 3"/>
          <p:cNvPicPr>
            <a:picLocks noChangeAspect="1" noChangeArrowheads="1"/>
          </p:cNvPicPr>
          <p:nvPr/>
        </p:nvPicPr>
        <p:blipFill>
          <a:blip r:embed="rId4"/>
          <a:srcRect/>
          <a:stretch>
            <a:fillRect/>
          </a:stretch>
        </p:blipFill>
        <p:spPr bwMode="auto">
          <a:xfrm>
            <a:off x="7924801" y="1905000"/>
            <a:ext cx="2462213" cy="1905000"/>
          </a:xfrm>
          <a:prstGeom prst="rect">
            <a:avLst/>
          </a:prstGeom>
          <a:noFill/>
          <a:ln w="9525">
            <a:noFill/>
            <a:miter lim="800000"/>
            <a:headEnd/>
            <a:tailEnd/>
          </a:ln>
        </p:spPr>
      </p:pic>
      <p:pic>
        <p:nvPicPr>
          <p:cNvPr id="25605" name="Picture 6"/>
          <p:cNvPicPr>
            <a:picLocks noChangeAspect="1" noChangeArrowheads="1"/>
          </p:cNvPicPr>
          <p:nvPr/>
        </p:nvPicPr>
        <p:blipFill>
          <a:blip r:embed="rId5"/>
          <a:srcRect/>
          <a:stretch>
            <a:fillRect/>
          </a:stretch>
        </p:blipFill>
        <p:spPr bwMode="auto">
          <a:xfrm>
            <a:off x="7924801" y="4191001"/>
            <a:ext cx="2447925" cy="1831975"/>
          </a:xfrm>
          <a:prstGeom prst="rect">
            <a:avLst/>
          </a:prstGeom>
          <a:noFill/>
          <a:ln w="9525">
            <a:noFill/>
            <a:miter lim="800000"/>
            <a:headEnd/>
            <a:tailEnd/>
          </a:ln>
        </p:spPr>
      </p:pic>
    </p:spTree>
    <p:extLst>
      <p:ext uri="{BB962C8B-B14F-4D97-AF65-F5344CB8AC3E}">
        <p14:creationId xmlns:p14="http://schemas.microsoft.com/office/powerpoint/2010/main" val="32769566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Simulation Results (4) </a:t>
            </a:r>
            <a:endParaRPr lang="zh-TW" altLang="en-US" sz="3600" dirty="0">
              <a:latin typeface="+mn-lt"/>
              <a:cs typeface="Times New Roman" pitchFamily="18" charset="0"/>
            </a:endParaRPr>
          </a:p>
        </p:txBody>
      </p:sp>
      <p:sp>
        <p:nvSpPr>
          <p:cNvPr id="25603" name="Rectangle 8"/>
          <p:cNvSpPr>
            <a:spLocks noChangeArrowheads="1"/>
          </p:cNvSpPr>
          <p:nvPr/>
        </p:nvSpPr>
        <p:spPr bwMode="auto">
          <a:xfrm>
            <a:off x="1113452" y="2121575"/>
            <a:ext cx="4914124" cy="3280898"/>
          </a:xfrm>
          <a:prstGeom prst="rect">
            <a:avLst/>
          </a:prstGeom>
          <a:noFill/>
          <a:ln w="9525">
            <a:noFill/>
            <a:miter lim="800000"/>
            <a:headEnd/>
            <a:tailEnd/>
          </a:ln>
        </p:spPr>
        <p:txBody>
          <a:bodyPr wrap="square" anchor="ctr">
            <a:spAutoFit/>
          </a:bodyPr>
          <a:lstStyle/>
          <a:p>
            <a:pPr marL="342900" indent="-342900" eaLnBrk="0" hangingPunct="0">
              <a:spcBef>
                <a:spcPct val="20000"/>
              </a:spcBef>
              <a:buClr>
                <a:schemeClr val="folHlink"/>
              </a:buClr>
              <a:buSzPct val="90000"/>
              <a:buBlip>
                <a:blip r:embed="rId3"/>
              </a:buBlip>
              <a:defRPr/>
            </a:pPr>
            <a:r>
              <a:rPr lang="en-US" altLang="zh-TW" sz="2800" dirty="0"/>
              <a:t>Composition locality - the distance between the services used in composition</a:t>
            </a:r>
          </a:p>
          <a:p>
            <a:pPr marL="342900" indent="-342900" eaLnBrk="0" hangingPunct="0">
              <a:spcBef>
                <a:spcPct val="20000"/>
              </a:spcBef>
              <a:buClr>
                <a:schemeClr val="folHlink"/>
              </a:buClr>
              <a:buSzPct val="90000"/>
              <a:buBlip>
                <a:blip r:embed="rId3"/>
              </a:buBlip>
              <a:defRPr/>
            </a:pPr>
            <a:endParaRPr lang="en-US" altLang="zh-TW" sz="2800" dirty="0"/>
          </a:p>
          <a:p>
            <a:pPr marL="342900" indent="-342900" eaLnBrk="0" hangingPunct="0">
              <a:spcBef>
                <a:spcPct val="20000"/>
              </a:spcBef>
              <a:buClr>
                <a:schemeClr val="folHlink"/>
              </a:buClr>
              <a:buSzPct val="90000"/>
              <a:buBlip>
                <a:blip r:embed="rId3"/>
              </a:buBlip>
              <a:defRPr/>
            </a:pPr>
            <a:r>
              <a:rPr lang="en-US" altLang="zh-TW" sz="2800" dirty="0"/>
              <a:t>LASEC tends to select compositions with high degree of composition locality</a:t>
            </a:r>
            <a:endParaRPr lang="en-GB" altLang="zh-TW" sz="2800" dirty="0"/>
          </a:p>
        </p:txBody>
      </p:sp>
      <p:pic>
        <p:nvPicPr>
          <p:cNvPr id="26628" name="Picture 2"/>
          <p:cNvPicPr>
            <a:picLocks noChangeAspect="1" noChangeArrowheads="1"/>
          </p:cNvPicPr>
          <p:nvPr/>
        </p:nvPicPr>
        <p:blipFill>
          <a:blip r:embed="rId4"/>
          <a:srcRect/>
          <a:stretch>
            <a:fillRect/>
          </a:stretch>
        </p:blipFill>
        <p:spPr bwMode="auto">
          <a:xfrm>
            <a:off x="7039949" y="1587760"/>
            <a:ext cx="3848100" cy="4289425"/>
          </a:xfrm>
          <a:prstGeom prst="rect">
            <a:avLst/>
          </a:prstGeom>
          <a:noFill/>
          <a:ln w="9525">
            <a:noFill/>
            <a:miter lim="800000"/>
            <a:headEnd/>
            <a:tailEnd/>
          </a:ln>
        </p:spPr>
      </p:pic>
    </p:spTree>
    <p:extLst>
      <p:ext uri="{BB962C8B-B14F-4D97-AF65-F5344CB8AC3E}">
        <p14:creationId xmlns:p14="http://schemas.microsoft.com/office/powerpoint/2010/main" val="29647825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Experiment  Results (1) </a:t>
            </a:r>
            <a:endParaRPr lang="zh-TW" altLang="en-US" sz="3600" dirty="0">
              <a:latin typeface="+mn-lt"/>
              <a:cs typeface="Times New Roman" pitchFamily="18" charset="0"/>
            </a:endParaRPr>
          </a:p>
        </p:txBody>
      </p:sp>
      <p:sp>
        <p:nvSpPr>
          <p:cNvPr id="2" name="Content Placeholder 1">
            <a:extLst>
              <a:ext uri="{FF2B5EF4-FFF2-40B4-BE49-F238E27FC236}">
                <a16:creationId xmlns:a16="http://schemas.microsoft.com/office/drawing/2014/main" id="{61B8EEC1-34D8-4AA3-AF43-AB89A3693B3B}"/>
              </a:ext>
            </a:extLst>
          </p:cNvPr>
          <p:cNvSpPr>
            <a:spLocks noGrp="1"/>
          </p:cNvSpPr>
          <p:nvPr>
            <p:ph idx="1"/>
          </p:nvPr>
        </p:nvSpPr>
        <p:spPr/>
        <p:txBody>
          <a:bodyPr/>
          <a:lstStyle/>
          <a:p>
            <a:endParaRPr lang="en-US"/>
          </a:p>
        </p:txBody>
      </p:sp>
      <p:pic>
        <p:nvPicPr>
          <p:cNvPr id="27651" name="Picture 2"/>
          <p:cNvPicPr>
            <a:picLocks noChangeAspect="1" noChangeArrowheads="1"/>
          </p:cNvPicPr>
          <p:nvPr/>
        </p:nvPicPr>
        <p:blipFill>
          <a:blip r:embed="rId3"/>
          <a:srcRect/>
          <a:stretch>
            <a:fillRect/>
          </a:stretch>
        </p:blipFill>
        <p:spPr bwMode="auto">
          <a:xfrm>
            <a:off x="1828801" y="2346326"/>
            <a:ext cx="1685925" cy="1768475"/>
          </a:xfrm>
          <a:prstGeom prst="rect">
            <a:avLst/>
          </a:prstGeom>
          <a:noFill/>
          <a:ln w="9525">
            <a:noFill/>
            <a:miter lim="800000"/>
            <a:headEnd/>
            <a:tailEnd/>
          </a:ln>
        </p:spPr>
      </p:pic>
      <p:pic>
        <p:nvPicPr>
          <p:cNvPr id="27652" name="Picture 3"/>
          <p:cNvPicPr>
            <a:picLocks noChangeAspect="1" noChangeArrowheads="1"/>
          </p:cNvPicPr>
          <p:nvPr/>
        </p:nvPicPr>
        <p:blipFill>
          <a:blip r:embed="rId4"/>
          <a:srcRect/>
          <a:stretch>
            <a:fillRect/>
          </a:stretch>
        </p:blipFill>
        <p:spPr bwMode="auto">
          <a:xfrm>
            <a:off x="3657600" y="2616200"/>
            <a:ext cx="2057400" cy="1270000"/>
          </a:xfrm>
          <a:prstGeom prst="rect">
            <a:avLst/>
          </a:prstGeom>
          <a:noFill/>
          <a:ln w="9525">
            <a:noFill/>
            <a:miter lim="800000"/>
            <a:headEnd/>
            <a:tailEnd/>
          </a:ln>
        </p:spPr>
      </p:pic>
      <p:pic>
        <p:nvPicPr>
          <p:cNvPr id="27653" name="Picture 4"/>
          <p:cNvPicPr>
            <a:picLocks noChangeAspect="1" noChangeArrowheads="1"/>
          </p:cNvPicPr>
          <p:nvPr/>
        </p:nvPicPr>
        <p:blipFill>
          <a:blip r:embed="rId5"/>
          <a:srcRect/>
          <a:stretch>
            <a:fillRect/>
          </a:stretch>
        </p:blipFill>
        <p:spPr bwMode="auto">
          <a:xfrm>
            <a:off x="2443164" y="4267201"/>
            <a:ext cx="2586037" cy="1914525"/>
          </a:xfrm>
          <a:prstGeom prst="rect">
            <a:avLst/>
          </a:prstGeom>
          <a:noFill/>
          <a:ln w="9525">
            <a:noFill/>
            <a:miter lim="800000"/>
            <a:headEnd/>
            <a:tailEnd/>
          </a:ln>
        </p:spPr>
      </p:pic>
      <p:pic>
        <p:nvPicPr>
          <p:cNvPr id="27654" name="Picture 5"/>
          <p:cNvPicPr>
            <a:picLocks noChangeAspect="1" noChangeArrowheads="1"/>
          </p:cNvPicPr>
          <p:nvPr/>
        </p:nvPicPr>
        <p:blipFill>
          <a:blip r:embed="rId6"/>
          <a:srcRect/>
          <a:stretch>
            <a:fillRect/>
          </a:stretch>
        </p:blipFill>
        <p:spPr bwMode="auto">
          <a:xfrm>
            <a:off x="6172201" y="2667001"/>
            <a:ext cx="4176713" cy="3146425"/>
          </a:xfrm>
          <a:prstGeom prst="rect">
            <a:avLst/>
          </a:prstGeom>
          <a:noFill/>
          <a:ln w="9525">
            <a:noFill/>
            <a:miter lim="800000"/>
            <a:headEnd/>
            <a:tailEnd/>
          </a:ln>
        </p:spPr>
      </p:pic>
      <p:sp>
        <p:nvSpPr>
          <p:cNvPr id="27655" name="Rectangle 7"/>
          <p:cNvSpPr>
            <a:spLocks noChangeArrowheads="1"/>
          </p:cNvSpPr>
          <p:nvPr/>
        </p:nvSpPr>
        <p:spPr bwMode="auto">
          <a:xfrm>
            <a:off x="2133600" y="1447800"/>
            <a:ext cx="8001000" cy="369332"/>
          </a:xfrm>
          <a:prstGeom prst="rect">
            <a:avLst/>
          </a:prstGeom>
          <a:noFill/>
          <a:ln w="9525">
            <a:noFill/>
            <a:miter lim="800000"/>
            <a:headEnd/>
            <a:tailEnd/>
          </a:ln>
        </p:spPr>
        <p:txBody>
          <a:bodyPr>
            <a:spAutoFit/>
          </a:bodyPr>
          <a:lstStyle/>
          <a:p>
            <a:r>
              <a:rPr lang="en-US"/>
              <a:t>40 MicaZ nodes with a MIB600 gateway deployed in an indoor environment.</a:t>
            </a:r>
          </a:p>
        </p:txBody>
      </p:sp>
    </p:spTree>
    <p:extLst>
      <p:ext uri="{BB962C8B-B14F-4D97-AF65-F5344CB8AC3E}">
        <p14:creationId xmlns:p14="http://schemas.microsoft.com/office/powerpoint/2010/main" val="26686967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Experiment  Results (2) </a:t>
            </a:r>
            <a:endParaRPr lang="zh-TW" altLang="en-US" sz="3600" dirty="0">
              <a:latin typeface="+mn-lt"/>
              <a:cs typeface="Times New Roman" pitchFamily="18" charset="0"/>
            </a:endParaRPr>
          </a:p>
        </p:txBody>
      </p:sp>
      <p:sp>
        <p:nvSpPr>
          <p:cNvPr id="27651" name="Rectangle 8"/>
          <p:cNvSpPr>
            <a:spLocks noChangeArrowheads="1"/>
          </p:cNvSpPr>
          <p:nvPr/>
        </p:nvSpPr>
        <p:spPr bwMode="auto">
          <a:xfrm>
            <a:off x="838200" y="1880586"/>
            <a:ext cx="5029200" cy="2086725"/>
          </a:xfrm>
          <a:prstGeom prst="rect">
            <a:avLst/>
          </a:prstGeom>
          <a:noFill/>
          <a:ln w="9525">
            <a:noFill/>
            <a:miter lim="800000"/>
            <a:headEnd/>
            <a:tailEnd/>
          </a:ln>
        </p:spPr>
        <p:txBody>
          <a:bodyPr anchor="ctr">
            <a:spAutoFit/>
          </a:bodyPr>
          <a:lstStyle/>
          <a:p>
            <a:pPr marL="342900" indent="-342900" eaLnBrk="0" hangingPunct="0">
              <a:spcBef>
                <a:spcPct val="20000"/>
              </a:spcBef>
              <a:buClr>
                <a:schemeClr val="folHlink"/>
              </a:buClr>
              <a:buSzPct val="90000"/>
              <a:buBlip>
                <a:blip r:embed="rId3"/>
              </a:buBlip>
              <a:defRPr/>
            </a:pPr>
            <a:r>
              <a:rPr lang="en-GB" altLang="zh-TW" sz="2400" b="1" dirty="0"/>
              <a:t>Message cost</a:t>
            </a:r>
          </a:p>
          <a:p>
            <a:pPr marL="742950" lvl="1" indent="-285750" eaLnBrk="0" hangingPunct="0">
              <a:spcBef>
                <a:spcPct val="20000"/>
              </a:spcBef>
              <a:buClr>
                <a:schemeClr val="hlink"/>
              </a:buClr>
              <a:buSzPct val="90000"/>
              <a:buBlip>
                <a:blip r:embed="rId4"/>
              </a:buBlip>
              <a:defRPr/>
            </a:pPr>
            <a:r>
              <a:rPr lang="en-US" altLang="zh-TW" sz="2400" dirty="0"/>
              <a:t>LASEC can reduce the message cost by over 50 percent</a:t>
            </a:r>
          </a:p>
          <a:p>
            <a:pPr marL="742950" lvl="1" indent="-285750" eaLnBrk="0" hangingPunct="0">
              <a:spcBef>
                <a:spcPct val="20000"/>
              </a:spcBef>
              <a:buClr>
                <a:schemeClr val="hlink"/>
              </a:buClr>
              <a:buSzPct val="90000"/>
              <a:buBlip>
                <a:blip r:embed="rId4"/>
              </a:buBlip>
              <a:defRPr/>
            </a:pPr>
            <a:r>
              <a:rPr lang="en-US" altLang="zh-TW" sz="2400" dirty="0"/>
              <a:t>LASEC scales better when the number of services increases</a:t>
            </a:r>
            <a:endParaRPr lang="en-GB" altLang="zh-TW" sz="2400" dirty="0"/>
          </a:p>
        </p:txBody>
      </p:sp>
      <p:pic>
        <p:nvPicPr>
          <p:cNvPr id="28676" name="Picture 2"/>
          <p:cNvPicPr>
            <a:picLocks noChangeAspect="1" noChangeArrowheads="1"/>
          </p:cNvPicPr>
          <p:nvPr/>
        </p:nvPicPr>
        <p:blipFill>
          <a:blip r:embed="rId5"/>
          <a:srcRect/>
          <a:stretch>
            <a:fillRect/>
          </a:stretch>
        </p:blipFill>
        <p:spPr bwMode="auto">
          <a:xfrm>
            <a:off x="7162800" y="1371601"/>
            <a:ext cx="2895600" cy="2320925"/>
          </a:xfrm>
          <a:prstGeom prst="rect">
            <a:avLst/>
          </a:prstGeom>
          <a:noFill/>
          <a:ln w="9525">
            <a:noFill/>
            <a:miter lim="800000"/>
            <a:headEnd/>
            <a:tailEnd/>
          </a:ln>
        </p:spPr>
      </p:pic>
      <p:pic>
        <p:nvPicPr>
          <p:cNvPr id="28677" name="Picture 3"/>
          <p:cNvPicPr>
            <a:picLocks noChangeAspect="1" noChangeArrowheads="1"/>
          </p:cNvPicPr>
          <p:nvPr/>
        </p:nvPicPr>
        <p:blipFill>
          <a:blip r:embed="rId6"/>
          <a:srcRect/>
          <a:stretch>
            <a:fillRect/>
          </a:stretch>
        </p:blipFill>
        <p:spPr bwMode="auto">
          <a:xfrm>
            <a:off x="7162800" y="3886200"/>
            <a:ext cx="2895600" cy="2317750"/>
          </a:xfrm>
          <a:prstGeom prst="rect">
            <a:avLst/>
          </a:prstGeom>
          <a:noFill/>
          <a:ln w="9525">
            <a:noFill/>
            <a:miter lim="800000"/>
            <a:headEnd/>
            <a:tailEnd/>
          </a:ln>
        </p:spPr>
      </p:pic>
      <p:sp>
        <p:nvSpPr>
          <p:cNvPr id="8" name="Rectangle 7"/>
          <p:cNvSpPr/>
          <p:nvPr/>
        </p:nvSpPr>
        <p:spPr>
          <a:xfrm>
            <a:off x="9220201" y="2819401"/>
            <a:ext cx="774583" cy="584775"/>
          </a:xfrm>
          <a:prstGeom prst="rect">
            <a:avLst/>
          </a:prstGeom>
          <a:noFill/>
        </p:spPr>
        <p:txBody>
          <a:bodyPr>
            <a:spAutoFit/>
          </a:bodyPr>
          <a:lstStyle/>
          <a:p>
            <a:pPr algn="ctr">
              <a:defRPr/>
            </a:pPr>
            <a:r>
              <a:rPr lang="en-US" sz="3200" b="1"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10</a:t>
            </a:r>
          </a:p>
        </p:txBody>
      </p:sp>
      <p:sp>
        <p:nvSpPr>
          <p:cNvPr id="9" name="Rectangle 8"/>
          <p:cNvSpPr/>
          <p:nvPr/>
        </p:nvSpPr>
        <p:spPr>
          <a:xfrm>
            <a:off x="9220201" y="5334001"/>
            <a:ext cx="774583" cy="584775"/>
          </a:xfrm>
          <a:prstGeom prst="rect">
            <a:avLst/>
          </a:prstGeom>
          <a:noFill/>
        </p:spPr>
        <p:txBody>
          <a:bodyPr>
            <a:spAutoFit/>
          </a:bodyPr>
          <a:lstStyle/>
          <a:p>
            <a:pPr algn="ctr">
              <a:defRPr/>
            </a:pPr>
            <a:r>
              <a:rPr lang="en-US" sz="3200" b="1"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20</a:t>
            </a:r>
          </a:p>
        </p:txBody>
      </p:sp>
    </p:spTree>
    <p:extLst>
      <p:ext uri="{BB962C8B-B14F-4D97-AF65-F5344CB8AC3E}">
        <p14:creationId xmlns:p14="http://schemas.microsoft.com/office/powerpoint/2010/main" val="32096923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Experiment  Results (3) </a:t>
            </a:r>
            <a:endParaRPr lang="zh-TW" altLang="en-US" sz="3600" dirty="0">
              <a:latin typeface="+mn-lt"/>
              <a:cs typeface="Times New Roman" pitchFamily="18" charset="0"/>
            </a:endParaRPr>
          </a:p>
        </p:txBody>
      </p:sp>
      <p:sp>
        <p:nvSpPr>
          <p:cNvPr id="28675" name="Rectangle 8"/>
          <p:cNvSpPr>
            <a:spLocks noChangeArrowheads="1"/>
          </p:cNvSpPr>
          <p:nvPr/>
        </p:nvSpPr>
        <p:spPr bwMode="auto">
          <a:xfrm>
            <a:off x="943947" y="1688074"/>
            <a:ext cx="5486400" cy="1643527"/>
          </a:xfrm>
          <a:prstGeom prst="rect">
            <a:avLst/>
          </a:prstGeom>
          <a:noFill/>
          <a:ln w="9525">
            <a:noFill/>
            <a:miter lim="800000"/>
            <a:headEnd/>
            <a:tailEnd/>
          </a:ln>
        </p:spPr>
        <p:txBody>
          <a:bodyPr anchor="ctr">
            <a:spAutoFit/>
          </a:bodyPr>
          <a:lstStyle/>
          <a:p>
            <a:pPr marL="342900" indent="-342900" eaLnBrk="0" hangingPunct="0">
              <a:spcBef>
                <a:spcPct val="20000"/>
              </a:spcBef>
              <a:buClr>
                <a:schemeClr val="folHlink"/>
              </a:buClr>
              <a:buSzPct val="90000"/>
              <a:buBlip>
                <a:blip r:embed="rId3"/>
              </a:buBlip>
              <a:defRPr/>
            </a:pPr>
            <a:r>
              <a:rPr lang="en-GB" altLang="zh-TW" sz="2400" b="1" dirty="0"/>
              <a:t>Message delay</a:t>
            </a:r>
          </a:p>
          <a:p>
            <a:pPr marL="742950" lvl="1" indent="-285750" eaLnBrk="0" hangingPunct="0">
              <a:spcBef>
                <a:spcPct val="20000"/>
              </a:spcBef>
              <a:buClr>
                <a:schemeClr val="hlink"/>
              </a:buClr>
              <a:buSzPct val="90000"/>
              <a:buBlip>
                <a:blip r:embed="rId4"/>
              </a:buBlip>
              <a:defRPr/>
            </a:pPr>
            <a:r>
              <a:rPr lang="en-US" altLang="zh-TW" sz="2400" dirty="0"/>
              <a:t>LASEC achieves smaller delay, especially when there are more services in the environment.</a:t>
            </a:r>
            <a:endParaRPr lang="en-GB" altLang="zh-TW" sz="2400" dirty="0"/>
          </a:p>
        </p:txBody>
      </p:sp>
      <p:pic>
        <p:nvPicPr>
          <p:cNvPr id="29700" name="Picture 4"/>
          <p:cNvPicPr>
            <a:picLocks noChangeAspect="1" noChangeArrowheads="1"/>
          </p:cNvPicPr>
          <p:nvPr/>
        </p:nvPicPr>
        <p:blipFill>
          <a:blip r:embed="rId5"/>
          <a:srcRect/>
          <a:stretch>
            <a:fillRect/>
          </a:stretch>
        </p:blipFill>
        <p:spPr bwMode="auto">
          <a:xfrm>
            <a:off x="7200900" y="1371601"/>
            <a:ext cx="2857500" cy="2276475"/>
          </a:xfrm>
          <a:prstGeom prst="rect">
            <a:avLst/>
          </a:prstGeom>
          <a:noFill/>
          <a:ln w="9525">
            <a:noFill/>
            <a:miter lim="800000"/>
            <a:headEnd/>
            <a:tailEnd/>
          </a:ln>
        </p:spPr>
      </p:pic>
      <p:pic>
        <p:nvPicPr>
          <p:cNvPr id="29701" name="Picture 6"/>
          <p:cNvPicPr>
            <a:picLocks noChangeAspect="1" noChangeArrowheads="1"/>
          </p:cNvPicPr>
          <p:nvPr/>
        </p:nvPicPr>
        <p:blipFill>
          <a:blip r:embed="rId6"/>
          <a:srcRect/>
          <a:stretch>
            <a:fillRect/>
          </a:stretch>
        </p:blipFill>
        <p:spPr bwMode="auto">
          <a:xfrm>
            <a:off x="7199314" y="3886200"/>
            <a:ext cx="2859087" cy="2260600"/>
          </a:xfrm>
          <a:prstGeom prst="rect">
            <a:avLst/>
          </a:prstGeom>
          <a:noFill/>
          <a:ln w="9525">
            <a:noFill/>
            <a:miter lim="800000"/>
            <a:headEnd/>
            <a:tailEnd/>
          </a:ln>
        </p:spPr>
      </p:pic>
      <p:sp>
        <p:nvSpPr>
          <p:cNvPr id="8" name="Rectangle 7"/>
          <p:cNvSpPr/>
          <p:nvPr/>
        </p:nvSpPr>
        <p:spPr>
          <a:xfrm>
            <a:off x="9220201" y="2819401"/>
            <a:ext cx="774583" cy="584775"/>
          </a:xfrm>
          <a:prstGeom prst="rect">
            <a:avLst/>
          </a:prstGeom>
          <a:noFill/>
        </p:spPr>
        <p:txBody>
          <a:bodyPr>
            <a:spAutoFit/>
          </a:bodyPr>
          <a:lstStyle/>
          <a:p>
            <a:pPr algn="ctr">
              <a:defRPr/>
            </a:pPr>
            <a:r>
              <a:rPr lang="en-US" sz="3200" b="1"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10</a:t>
            </a:r>
          </a:p>
        </p:txBody>
      </p:sp>
      <p:sp>
        <p:nvSpPr>
          <p:cNvPr id="9" name="Rectangle 8"/>
          <p:cNvSpPr/>
          <p:nvPr/>
        </p:nvSpPr>
        <p:spPr>
          <a:xfrm>
            <a:off x="9220201" y="5334001"/>
            <a:ext cx="774583" cy="584775"/>
          </a:xfrm>
          <a:prstGeom prst="rect">
            <a:avLst/>
          </a:prstGeom>
          <a:noFill/>
        </p:spPr>
        <p:txBody>
          <a:bodyPr>
            <a:spAutoFit/>
          </a:bodyPr>
          <a:lstStyle/>
          <a:p>
            <a:pPr algn="ctr">
              <a:defRPr/>
            </a:pPr>
            <a:r>
              <a:rPr lang="en-US" sz="3200" b="1"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20</a:t>
            </a:r>
          </a:p>
        </p:txBody>
      </p:sp>
    </p:spTree>
    <p:extLst>
      <p:ext uri="{BB962C8B-B14F-4D97-AF65-F5344CB8AC3E}">
        <p14:creationId xmlns:p14="http://schemas.microsoft.com/office/powerpoint/2010/main" val="26727105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Conclusion</a:t>
            </a:r>
            <a:endParaRPr lang="zh-TW" altLang="en-US" sz="3600" dirty="0">
              <a:latin typeface="+mn-lt"/>
              <a:cs typeface="Times New Roman" pitchFamily="18" charset="0"/>
            </a:endParaRPr>
          </a:p>
        </p:txBody>
      </p:sp>
      <p:sp>
        <p:nvSpPr>
          <p:cNvPr id="2" name="Content Placeholder 1">
            <a:extLst>
              <a:ext uri="{FF2B5EF4-FFF2-40B4-BE49-F238E27FC236}">
                <a16:creationId xmlns:a16="http://schemas.microsoft.com/office/drawing/2014/main" id="{F8B8F4C8-B4EC-4026-A978-A0A344208D0F}"/>
              </a:ext>
            </a:extLst>
          </p:cNvPr>
          <p:cNvSpPr>
            <a:spLocks noGrp="1"/>
          </p:cNvSpPr>
          <p:nvPr>
            <p:ph idx="1"/>
          </p:nvPr>
        </p:nvSpPr>
        <p:spPr/>
        <p:txBody>
          <a:bodyPr>
            <a:normAutofit fontScale="92500"/>
          </a:bodyPr>
          <a:lstStyle/>
          <a:p>
            <a:pPr marL="342900" indent="-342900" eaLnBrk="0" hangingPunct="0">
              <a:spcBef>
                <a:spcPct val="20000"/>
              </a:spcBef>
              <a:buClr>
                <a:schemeClr val="folHlink"/>
              </a:buClr>
              <a:buSzPct val="90000"/>
              <a:buBlip>
                <a:blip r:embed="rId3"/>
              </a:buBlip>
              <a:defRPr/>
            </a:pPr>
            <a:r>
              <a:rPr lang="en-US" altLang="zh-TW" sz="2800" dirty="0"/>
              <a:t>We investigated the characteristics of UIO based large scale and dynamic pervasive computing environments, and identified the new challenges caused by these characteristics in the design of service composition support. </a:t>
            </a:r>
          </a:p>
          <a:p>
            <a:pPr marL="342900" indent="-342900" eaLnBrk="0" hangingPunct="0">
              <a:spcBef>
                <a:spcPct val="20000"/>
              </a:spcBef>
              <a:buClr>
                <a:schemeClr val="folHlink"/>
              </a:buClr>
              <a:buSzPct val="90000"/>
              <a:buBlip>
                <a:blip r:embed="rId3"/>
              </a:buBlip>
              <a:defRPr/>
            </a:pPr>
            <a:r>
              <a:rPr lang="en-US" altLang="zh-TW" sz="2800" dirty="0"/>
              <a:t>We then study how to design localized service composition protocols in large scale dynamic environments.</a:t>
            </a:r>
          </a:p>
          <a:p>
            <a:pPr marL="742950" lvl="1" indent="-285750" eaLnBrk="0" hangingPunct="0">
              <a:spcBef>
                <a:spcPct val="20000"/>
              </a:spcBef>
              <a:buClr>
                <a:schemeClr val="hlink"/>
              </a:buClr>
              <a:buSzPct val="90000"/>
              <a:buBlip>
                <a:blip r:embed="rId4"/>
              </a:buBlip>
              <a:defRPr/>
            </a:pPr>
            <a:r>
              <a:rPr lang="en-US" altLang="zh-TW" sz="2400" dirty="0"/>
              <a:t>Scalable service composition</a:t>
            </a:r>
          </a:p>
          <a:p>
            <a:pPr marL="742950" lvl="1" indent="-285750" eaLnBrk="0" hangingPunct="0">
              <a:spcBef>
                <a:spcPct val="20000"/>
              </a:spcBef>
              <a:buClr>
                <a:schemeClr val="hlink"/>
              </a:buClr>
              <a:buSzPct val="90000"/>
              <a:buBlip>
                <a:blip r:embed="rId4"/>
              </a:buBlip>
              <a:defRPr/>
            </a:pPr>
            <a:r>
              <a:rPr lang="en-US" altLang="zh-TW" sz="2400" dirty="0"/>
              <a:t>Composed service reconfiguration </a:t>
            </a:r>
          </a:p>
          <a:p>
            <a:pPr marL="742950" lvl="1" indent="-285750" eaLnBrk="0" hangingPunct="0">
              <a:spcBef>
                <a:spcPct val="20000"/>
              </a:spcBef>
              <a:buClr>
                <a:schemeClr val="hlink"/>
              </a:buClr>
              <a:buSzPct val="90000"/>
              <a:buBlip>
                <a:blip r:embed="rId4"/>
              </a:buBlip>
              <a:defRPr/>
            </a:pPr>
            <a:r>
              <a:rPr lang="en-US" altLang="zh-TW" sz="2400" dirty="0"/>
              <a:t>Heterogeneity support</a:t>
            </a:r>
          </a:p>
          <a:p>
            <a:pPr marL="342900" indent="-342900" eaLnBrk="0" hangingPunct="0">
              <a:spcBef>
                <a:spcPct val="20000"/>
              </a:spcBef>
              <a:buClr>
                <a:schemeClr val="folHlink"/>
              </a:buClr>
              <a:buSzPct val="90000"/>
              <a:buBlip>
                <a:blip r:embed="rId3"/>
              </a:buBlip>
              <a:defRPr/>
            </a:pPr>
            <a:r>
              <a:rPr lang="en-US" altLang="zh-TW" sz="2800" dirty="0"/>
              <a:t>The bottom-up community is scalable enough to carry on with service composition operations not depending on the scale of the environments.</a:t>
            </a:r>
          </a:p>
          <a:p>
            <a:endParaRPr lang="en-US" dirty="0"/>
          </a:p>
        </p:txBody>
      </p:sp>
    </p:spTree>
    <p:extLst>
      <p:ext uri="{BB962C8B-B14F-4D97-AF65-F5344CB8AC3E}">
        <p14:creationId xmlns:p14="http://schemas.microsoft.com/office/powerpoint/2010/main" val="9388374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eaLnBrk="1" hangingPunct="1">
              <a:defRPr/>
            </a:pPr>
            <a:r>
              <a:rPr lang="en-US" altLang="zh-CN" sz="3600" dirty="0">
                <a:latin typeface="+mn-lt"/>
                <a:cs typeface="Times New Roman" pitchFamily="18" charset="0"/>
              </a:rPr>
              <a:t>Future Work</a:t>
            </a:r>
            <a:endParaRPr lang="zh-TW" altLang="en-US" sz="3600" dirty="0">
              <a:latin typeface="+mn-lt"/>
              <a:cs typeface="Times New Roman" pitchFamily="18" charset="0"/>
            </a:endParaRPr>
          </a:p>
        </p:txBody>
      </p:sp>
      <p:sp>
        <p:nvSpPr>
          <p:cNvPr id="2" name="Content Placeholder 1">
            <a:extLst>
              <a:ext uri="{FF2B5EF4-FFF2-40B4-BE49-F238E27FC236}">
                <a16:creationId xmlns:a16="http://schemas.microsoft.com/office/drawing/2014/main" id="{B1D06CCA-AC32-42E0-ACAB-B6D31A62B176}"/>
              </a:ext>
            </a:extLst>
          </p:cNvPr>
          <p:cNvSpPr>
            <a:spLocks noGrp="1"/>
          </p:cNvSpPr>
          <p:nvPr>
            <p:ph idx="1"/>
          </p:nvPr>
        </p:nvSpPr>
        <p:spPr/>
        <p:txBody>
          <a:bodyPr/>
          <a:lstStyle/>
          <a:p>
            <a:pPr marL="342900" indent="-342900" eaLnBrk="0" hangingPunct="0">
              <a:spcBef>
                <a:spcPct val="20000"/>
              </a:spcBef>
              <a:buClr>
                <a:schemeClr val="folHlink"/>
              </a:buClr>
              <a:buSzPct val="90000"/>
              <a:buBlip>
                <a:blip r:embed="rId3"/>
              </a:buBlip>
              <a:defRPr/>
            </a:pPr>
            <a:r>
              <a:rPr lang="en-US" altLang="zh-CN" sz="2800" b="1" dirty="0"/>
              <a:t>Evaluation</a:t>
            </a:r>
          </a:p>
          <a:p>
            <a:pPr marL="742950" lvl="1" indent="-285750" eaLnBrk="0" hangingPunct="0">
              <a:spcBef>
                <a:spcPct val="20000"/>
              </a:spcBef>
              <a:buClr>
                <a:schemeClr val="hlink"/>
              </a:buClr>
              <a:buSzPct val="90000"/>
              <a:buBlip>
                <a:blip r:embed="rId4"/>
              </a:buBlip>
              <a:defRPr/>
            </a:pPr>
            <a:r>
              <a:rPr lang="en-US" altLang="zh-CN" dirty="0"/>
              <a:t>Test the proposed solution with larger networks </a:t>
            </a:r>
          </a:p>
          <a:p>
            <a:pPr marL="742950" lvl="1" indent="-285750" eaLnBrk="0" hangingPunct="0">
              <a:spcBef>
                <a:spcPct val="20000"/>
              </a:spcBef>
              <a:buClr>
                <a:schemeClr val="hlink"/>
              </a:buClr>
              <a:buSzPct val="90000"/>
              <a:buBlip>
                <a:blip r:embed="rId4"/>
              </a:buBlip>
              <a:defRPr/>
            </a:pPr>
            <a:r>
              <a:rPr lang="en-US" altLang="zh-CN" dirty="0"/>
              <a:t>Use real devices to compare results with the simulation</a:t>
            </a:r>
          </a:p>
          <a:p>
            <a:pPr marL="742950" lvl="1" indent="-285750" eaLnBrk="0" hangingPunct="0">
              <a:spcBef>
                <a:spcPct val="20000"/>
              </a:spcBef>
              <a:buClr>
                <a:schemeClr val="hlink"/>
              </a:buClr>
              <a:buSzPct val="90000"/>
              <a:buBlip>
                <a:blip r:embed="rId4"/>
              </a:buBlip>
              <a:defRPr/>
            </a:pPr>
            <a:r>
              <a:rPr lang="en-US" altLang="zh-CN" dirty="0"/>
              <a:t>Carry out further experimentation using multitude of UIOs</a:t>
            </a:r>
          </a:p>
          <a:p>
            <a:pPr marL="342900" indent="-342900" eaLnBrk="0" hangingPunct="0">
              <a:spcBef>
                <a:spcPct val="20000"/>
              </a:spcBef>
              <a:buClr>
                <a:schemeClr val="folHlink"/>
              </a:buClr>
              <a:buSzPct val="90000"/>
              <a:buBlip>
                <a:blip r:embed="rId3"/>
              </a:buBlip>
              <a:defRPr/>
            </a:pPr>
            <a:endParaRPr lang="en-US" altLang="zh-CN" sz="1400" b="1" dirty="0"/>
          </a:p>
          <a:p>
            <a:pPr marL="342900" indent="-342900" eaLnBrk="0" hangingPunct="0">
              <a:spcBef>
                <a:spcPct val="20000"/>
              </a:spcBef>
              <a:buClr>
                <a:schemeClr val="folHlink"/>
              </a:buClr>
              <a:buSzPct val="90000"/>
              <a:buBlip>
                <a:blip r:embed="rId3"/>
              </a:buBlip>
              <a:defRPr/>
            </a:pPr>
            <a:r>
              <a:rPr lang="en-US" altLang="zh-CN" sz="2800" b="1" dirty="0"/>
              <a:t>QoS support </a:t>
            </a:r>
          </a:p>
          <a:p>
            <a:pPr marL="742950" lvl="1" indent="-285750" eaLnBrk="0" hangingPunct="0">
              <a:spcBef>
                <a:spcPct val="20000"/>
              </a:spcBef>
              <a:buClr>
                <a:schemeClr val="hlink"/>
              </a:buClr>
              <a:buSzPct val="90000"/>
              <a:buBlip>
                <a:blip r:embed="rId4"/>
              </a:buBlip>
              <a:defRPr/>
            </a:pPr>
            <a:r>
              <a:rPr lang="en-US" altLang="zh-CN" dirty="0"/>
              <a:t>Different approaches to increasing QoS utilizing localized interactions</a:t>
            </a:r>
          </a:p>
          <a:p>
            <a:pPr marL="742950" lvl="1" indent="-285750" eaLnBrk="0" hangingPunct="0">
              <a:spcBef>
                <a:spcPct val="20000"/>
              </a:spcBef>
              <a:buClr>
                <a:schemeClr val="hlink"/>
              </a:buClr>
              <a:buSzPct val="90000"/>
              <a:buBlip>
                <a:blip r:embed="rId4"/>
              </a:buBlip>
              <a:defRPr/>
            </a:pPr>
            <a:r>
              <a:rPr lang="en-US" altLang="zh-CN" dirty="0"/>
              <a:t>Consider diverse parameters of quality and incorporate them into the service composition mechanism</a:t>
            </a:r>
          </a:p>
          <a:p>
            <a:endParaRPr lang="en-US" dirty="0"/>
          </a:p>
        </p:txBody>
      </p:sp>
    </p:spTree>
    <p:extLst>
      <p:ext uri="{BB962C8B-B14F-4D97-AF65-F5344CB8AC3E}">
        <p14:creationId xmlns:p14="http://schemas.microsoft.com/office/powerpoint/2010/main" val="2960559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6643</TotalTime>
  <Words>3419</Words>
  <Application>Microsoft Office PowerPoint</Application>
  <PresentationFormat>Widescreen</PresentationFormat>
  <Paragraphs>431</Paragraphs>
  <Slides>69</Slides>
  <Notes>22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69</vt:i4>
      </vt:variant>
    </vt:vector>
  </HeadingPairs>
  <TitlesOfParts>
    <vt:vector size="77" baseType="lpstr">
      <vt:lpstr>等线</vt:lpstr>
      <vt:lpstr>Arial</vt:lpstr>
      <vt:lpstr>Calibri</vt:lpstr>
      <vt:lpstr>Calibri Light</vt:lpstr>
      <vt:lpstr>Times New Roman</vt:lpstr>
      <vt:lpstr>Wingdings</vt:lpstr>
      <vt:lpstr>Office Theme</vt:lpstr>
      <vt:lpstr>Visio</vt:lpstr>
      <vt:lpstr>Research Communication Skills</vt:lpstr>
      <vt:lpstr>Intended Learning Outcomes</vt:lpstr>
      <vt:lpstr>Outline</vt:lpstr>
      <vt:lpstr>Intended Learning Outcomes</vt:lpstr>
      <vt:lpstr>PowerPoint Presentation</vt:lpstr>
      <vt:lpstr>What’s the Internet of Things - History</vt:lpstr>
      <vt:lpstr>What’s the Internet of Things</vt:lpstr>
      <vt:lpstr>Things Connected: communication between physical world and information world</vt:lpstr>
      <vt:lpstr>Layers of IoT Architecture</vt:lpstr>
      <vt:lpstr>4 Layers Model</vt:lpstr>
      <vt:lpstr>Layers of IoT Architecture</vt:lpstr>
      <vt:lpstr>7 Layers Model </vt:lpstr>
      <vt:lpstr>7 Layers Model </vt:lpstr>
      <vt:lpstr>What’s the Internet of Things - History</vt:lpstr>
      <vt:lpstr>Enabling Technologies</vt:lpstr>
      <vt:lpstr>Sensor Technology</vt:lpstr>
      <vt:lpstr>Daily life in IoT Era</vt:lpstr>
      <vt:lpstr>IoT applications</vt:lpstr>
      <vt:lpstr>PowerPoint Presentation</vt:lpstr>
      <vt:lpstr>IoT Application Example (1)</vt:lpstr>
      <vt:lpstr>IoT Application Example (2)</vt:lpstr>
      <vt:lpstr>IoT Application Example (2)</vt:lpstr>
      <vt:lpstr>IoT Application Example (3)</vt:lpstr>
      <vt:lpstr>IoT Application Example (4)</vt:lpstr>
      <vt:lpstr>Scenario : Monitoring the Environment</vt:lpstr>
      <vt:lpstr>Tip</vt:lpstr>
      <vt:lpstr>IoT benefits</vt:lpstr>
      <vt:lpstr>IoT benefits - Non-financial factors</vt:lpstr>
      <vt:lpstr>IoT benefits - drive down cost </vt:lpstr>
      <vt:lpstr>IoT benefits - fuelling innovation</vt:lpstr>
      <vt:lpstr>IoT benefits - new market opportunities</vt:lpstr>
      <vt:lpstr>IoT benefits - job market and skills requirements</vt:lpstr>
      <vt:lpstr>IoT Challenges (1)</vt:lpstr>
      <vt:lpstr>IoT Challenges (2)</vt:lpstr>
      <vt:lpstr>IoT Challenges (3)</vt:lpstr>
      <vt:lpstr>IoT Challenges (4)</vt:lpstr>
      <vt:lpstr>Evolution of IoT </vt:lpstr>
      <vt:lpstr>IoT Research Fields</vt:lpstr>
      <vt:lpstr>IoT Architectures</vt:lpstr>
      <vt:lpstr>IoT Enabling Technologies</vt:lpstr>
      <vt:lpstr>IoT Services</vt:lpstr>
      <vt:lpstr>IoT economic value potential</vt:lpstr>
      <vt:lpstr>PowerPoint Presentation</vt:lpstr>
      <vt:lpstr>IoT Journals Examples</vt:lpstr>
      <vt:lpstr>IoT Conferences Examples</vt:lpstr>
      <vt:lpstr>Ways to search for research papers online</vt:lpstr>
      <vt:lpstr>Summary</vt:lpstr>
      <vt:lpstr>LASEC: Localized Approach to Service Composition</vt:lpstr>
      <vt:lpstr>UIO-based PvCEs</vt:lpstr>
      <vt:lpstr>Service Composition in PvCEs (1)</vt:lpstr>
      <vt:lpstr>Service Composition in PvCEs (2)</vt:lpstr>
      <vt:lpstr>Key Issues for Service Composition and in PvCEs</vt:lpstr>
      <vt:lpstr>Background</vt:lpstr>
      <vt:lpstr>Motivation </vt:lpstr>
      <vt:lpstr>Problem Statement</vt:lpstr>
      <vt:lpstr>Overview of the Solution (1)</vt:lpstr>
      <vt:lpstr>Overview of the Solution (2)</vt:lpstr>
      <vt:lpstr>Overview of the Solution (3)</vt:lpstr>
      <vt:lpstr>Challenging Issues</vt:lpstr>
      <vt:lpstr>Basic Idea of LASEC</vt:lpstr>
      <vt:lpstr>Simulation Results  (1) </vt:lpstr>
      <vt:lpstr>Simulation Results (2) </vt:lpstr>
      <vt:lpstr>Simulation Results (3)  </vt:lpstr>
      <vt:lpstr>Simulation Results (4) </vt:lpstr>
      <vt:lpstr>Experiment  Results (1) </vt:lpstr>
      <vt:lpstr>Experiment  Results (2) </vt:lpstr>
      <vt:lpstr>Experiment  Results (3) </vt:lpstr>
      <vt:lpstr>Conclusion</vt:lpstr>
      <vt:lpstr>Future Work</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273</cp:revision>
  <cp:lastPrinted>2019-09-03T08:34:37Z</cp:lastPrinted>
  <dcterms:created xsi:type="dcterms:W3CDTF">2014-08-14T09:54:55Z</dcterms:created>
  <dcterms:modified xsi:type="dcterms:W3CDTF">2026-09-07T07:27:18Z</dcterms:modified>
</cp:coreProperties>
</file>