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handoutMasterIdLst>
    <p:handoutMasterId r:id="rId65"/>
  </p:handoutMasterIdLst>
  <p:sldIdLst>
    <p:sldId id="581" r:id="rId2"/>
    <p:sldId id="582" r:id="rId3"/>
    <p:sldId id="584" r:id="rId4"/>
    <p:sldId id="585" r:id="rId5"/>
    <p:sldId id="586" r:id="rId6"/>
    <p:sldId id="587" r:id="rId7"/>
    <p:sldId id="588" r:id="rId8"/>
    <p:sldId id="589" r:id="rId9"/>
    <p:sldId id="590" r:id="rId10"/>
    <p:sldId id="591" r:id="rId11"/>
    <p:sldId id="592" r:id="rId12"/>
    <p:sldId id="593" r:id="rId13"/>
    <p:sldId id="594" r:id="rId14"/>
    <p:sldId id="595" r:id="rId15"/>
    <p:sldId id="596" r:id="rId16"/>
    <p:sldId id="597" r:id="rId17"/>
    <p:sldId id="598" r:id="rId18"/>
    <p:sldId id="599" r:id="rId19"/>
    <p:sldId id="600" r:id="rId20"/>
    <p:sldId id="601" r:id="rId21"/>
    <p:sldId id="602" r:id="rId22"/>
    <p:sldId id="603" r:id="rId23"/>
    <p:sldId id="604" r:id="rId24"/>
    <p:sldId id="605" r:id="rId25"/>
    <p:sldId id="606" r:id="rId26"/>
    <p:sldId id="607" r:id="rId27"/>
    <p:sldId id="608" r:id="rId28"/>
    <p:sldId id="609" r:id="rId29"/>
    <p:sldId id="694" r:id="rId30"/>
    <p:sldId id="722" r:id="rId31"/>
    <p:sldId id="723" r:id="rId32"/>
    <p:sldId id="693" r:id="rId33"/>
    <p:sldId id="695" r:id="rId34"/>
    <p:sldId id="692" r:id="rId35"/>
    <p:sldId id="724" r:id="rId36"/>
    <p:sldId id="725" r:id="rId37"/>
    <p:sldId id="727" r:id="rId38"/>
    <p:sldId id="726" r:id="rId39"/>
    <p:sldId id="728" r:id="rId40"/>
    <p:sldId id="610" r:id="rId41"/>
    <p:sldId id="696" r:id="rId42"/>
    <p:sldId id="998" r:id="rId43"/>
    <p:sldId id="709" r:id="rId44"/>
    <p:sldId id="710" r:id="rId45"/>
    <p:sldId id="714" r:id="rId46"/>
    <p:sldId id="711" r:id="rId47"/>
    <p:sldId id="713" r:id="rId48"/>
    <p:sldId id="716" r:id="rId49"/>
    <p:sldId id="715" r:id="rId50"/>
    <p:sldId id="712" r:id="rId51"/>
    <p:sldId id="717" r:id="rId52"/>
    <p:sldId id="718" r:id="rId53"/>
    <p:sldId id="719" r:id="rId54"/>
    <p:sldId id="700" r:id="rId55"/>
    <p:sldId id="697" r:id="rId56"/>
    <p:sldId id="699" r:id="rId57"/>
    <p:sldId id="701" r:id="rId58"/>
    <p:sldId id="702" r:id="rId59"/>
    <p:sldId id="703" r:id="rId60"/>
    <p:sldId id="704" r:id="rId61"/>
    <p:sldId id="705" r:id="rId62"/>
    <p:sldId id="691" r:id="rId63"/>
  </p:sldIdLst>
  <p:sldSz cx="12192000" cy="6858000"/>
  <p:notesSz cx="6797675"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4DDC"/>
    <a:srgbClr val="FAE2F9"/>
    <a:srgbClr val="DFFC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20014" autoAdjust="0"/>
    <p:restoredTop sz="94660"/>
  </p:normalViewPr>
  <p:slideViewPr>
    <p:cSldViewPr snapToGrid="0">
      <p:cViewPr varScale="1">
        <p:scale>
          <a:sx n="104" d="100"/>
          <a:sy n="104" d="100"/>
        </p:scale>
        <p:origin x="60" y="3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215"/>
          </a:xfrm>
          <a:prstGeom prst="rect">
            <a:avLst/>
          </a:prstGeom>
        </p:spPr>
        <p:txBody>
          <a:bodyPr vert="horz" lIns="91440" tIns="45720" rIns="91440" bIns="45720" rtlCol="0"/>
          <a:lstStyle>
            <a:lvl1pPr algn="l">
              <a:defRPr sz="1200"/>
            </a:lvl1pPr>
          </a:lstStyle>
          <a:p>
            <a:endParaRPr lang="en-GB"/>
          </a:p>
        </p:txBody>
      </p:sp>
      <p:sp>
        <p:nvSpPr>
          <p:cNvPr id="3" name="日期占位符 2"/>
          <p:cNvSpPr>
            <a:spLocks noGrp="1"/>
          </p:cNvSpPr>
          <p:nvPr>
            <p:ph type="dt" sz="quarter" idx="1"/>
          </p:nvPr>
        </p:nvSpPr>
        <p:spPr>
          <a:xfrm>
            <a:off x="3850443" y="0"/>
            <a:ext cx="2945659" cy="498215"/>
          </a:xfrm>
          <a:prstGeom prst="rect">
            <a:avLst/>
          </a:prstGeom>
        </p:spPr>
        <p:txBody>
          <a:bodyPr vert="horz" lIns="91440" tIns="45720" rIns="91440" bIns="45720" rtlCol="0"/>
          <a:lstStyle>
            <a:lvl1pPr algn="r">
              <a:defRPr sz="1200"/>
            </a:lvl1pPr>
          </a:lstStyle>
          <a:p>
            <a:fld id="{A6B79868-BDA9-4441-B20B-68D0617E5C8E}" type="datetimeFigureOut">
              <a:rPr lang="en-GB" smtClean="0"/>
              <a:t>09/06/2026</a:t>
            </a:fld>
            <a:endParaRPr lang="en-GB"/>
          </a:p>
        </p:txBody>
      </p:sp>
      <p:sp>
        <p:nvSpPr>
          <p:cNvPr id="4" name="页脚占位符 3"/>
          <p:cNvSpPr>
            <a:spLocks noGrp="1"/>
          </p:cNvSpPr>
          <p:nvPr>
            <p:ph type="ftr" sz="quarter" idx="2"/>
          </p:nvPr>
        </p:nvSpPr>
        <p:spPr>
          <a:xfrm>
            <a:off x="0" y="9431600"/>
            <a:ext cx="2945659" cy="498214"/>
          </a:xfrm>
          <a:prstGeom prst="rect">
            <a:avLst/>
          </a:prstGeom>
        </p:spPr>
        <p:txBody>
          <a:bodyPr vert="horz" lIns="91440" tIns="45720" rIns="91440" bIns="45720" rtlCol="0" anchor="b"/>
          <a:lstStyle>
            <a:lvl1pPr algn="l">
              <a:defRPr sz="1200"/>
            </a:lvl1pPr>
          </a:lstStyle>
          <a:p>
            <a:endParaRPr lang="en-GB"/>
          </a:p>
        </p:txBody>
      </p:sp>
      <p:sp>
        <p:nvSpPr>
          <p:cNvPr id="5" name="灯片编号占位符 4"/>
          <p:cNvSpPr>
            <a:spLocks noGrp="1"/>
          </p:cNvSpPr>
          <p:nvPr>
            <p:ph type="sldNum" sz="quarter" idx="3"/>
          </p:nvPr>
        </p:nvSpPr>
        <p:spPr>
          <a:xfrm>
            <a:off x="3850443" y="9431600"/>
            <a:ext cx="2945659" cy="498214"/>
          </a:xfrm>
          <a:prstGeom prst="rect">
            <a:avLst/>
          </a:prstGeom>
        </p:spPr>
        <p:txBody>
          <a:bodyPr vert="horz" lIns="91440" tIns="45720" rIns="91440" bIns="45720" rtlCol="0" anchor="b"/>
          <a:lstStyle>
            <a:lvl1pPr algn="r">
              <a:defRPr sz="1200"/>
            </a:lvl1pPr>
          </a:lstStyle>
          <a:p>
            <a:fld id="{BB1CA833-6E71-4E0E-A695-7044B802CCB2}" type="slidenum">
              <a:rPr lang="en-GB" smtClean="0"/>
              <a:t>‹#›</a:t>
            </a:fld>
            <a:endParaRPr lang="en-GB"/>
          </a:p>
        </p:txBody>
      </p:sp>
    </p:spTree>
    <p:extLst>
      <p:ext uri="{BB962C8B-B14F-4D97-AF65-F5344CB8AC3E}">
        <p14:creationId xmlns:p14="http://schemas.microsoft.com/office/powerpoint/2010/main" val="20193987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21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215"/>
          </a:xfrm>
          <a:prstGeom prst="rect">
            <a:avLst/>
          </a:prstGeom>
        </p:spPr>
        <p:txBody>
          <a:bodyPr vert="horz" lIns="91440" tIns="45720" rIns="91440" bIns="45720" rtlCol="0"/>
          <a:lstStyle>
            <a:lvl1pPr algn="r">
              <a:defRPr sz="1200"/>
            </a:lvl1pPr>
          </a:lstStyle>
          <a:p>
            <a:fld id="{EF166FD4-870D-41D4-A76E-DC48774E844B}" type="datetimeFigureOut">
              <a:rPr lang="zh-CN" altLang="en-US" smtClean="0"/>
              <a:t>2026/6/9</a:t>
            </a:fld>
            <a:endParaRPr lang="zh-CN" altLang="en-US"/>
          </a:p>
        </p:txBody>
      </p:sp>
      <p:sp>
        <p:nvSpPr>
          <p:cNvPr id="4" name="幻灯片图像占位符 3"/>
          <p:cNvSpPr>
            <a:spLocks noGrp="1" noRot="1" noChangeAspect="1"/>
          </p:cNvSpPr>
          <p:nvPr>
            <p:ph type="sldImg" idx="2"/>
          </p:nvPr>
        </p:nvSpPr>
        <p:spPr>
          <a:xfrm>
            <a:off x="420688" y="1241425"/>
            <a:ext cx="5956300" cy="3351213"/>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8722"/>
            <a:ext cx="5438140" cy="3909864"/>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9431600"/>
            <a:ext cx="2945659" cy="49821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1600"/>
            <a:ext cx="2945659" cy="498214"/>
          </a:xfrm>
          <a:prstGeom prst="rect">
            <a:avLst/>
          </a:prstGeom>
        </p:spPr>
        <p:txBody>
          <a:bodyPr vert="horz" lIns="91440" tIns="45720" rIns="91440" bIns="45720" rtlCol="0" anchor="b"/>
          <a:lstStyle>
            <a:lvl1pPr algn="r">
              <a:defRPr sz="1200"/>
            </a:lvl1pPr>
          </a:lstStyle>
          <a:p>
            <a:fld id="{7B3B433F-8F9F-4754-B27A-D9BD2E9FA402}" type="slidenum">
              <a:rPr lang="zh-CN" altLang="en-US" smtClean="0"/>
              <a:t>‹#›</a:t>
            </a:fld>
            <a:endParaRPr lang="zh-CN" altLang="en-US"/>
          </a:p>
        </p:txBody>
      </p:sp>
    </p:spTree>
    <p:extLst>
      <p:ext uri="{BB962C8B-B14F-4D97-AF65-F5344CB8AC3E}">
        <p14:creationId xmlns:p14="http://schemas.microsoft.com/office/powerpoint/2010/main" val="2061200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E93D32-EEEA-4F09-A35C-238F5A2605DD}" type="slidenum">
              <a:rPr lang="en-GB"/>
              <a:pPr/>
              <a:t>4</a:t>
            </a:fld>
            <a:endParaRPr lang="en-GB"/>
          </a:p>
        </p:txBody>
      </p:sp>
      <p:sp>
        <p:nvSpPr>
          <p:cNvPr id="217090" name="Rectangle 1026"/>
          <p:cNvSpPr>
            <a:spLocks noGrp="1" noRot="1" noChangeAspect="1" noChangeArrowheads="1" noTextEdit="1"/>
          </p:cNvSpPr>
          <p:nvPr>
            <p:ph type="sldImg"/>
          </p:nvPr>
        </p:nvSpPr>
        <p:spPr>
          <a:ln/>
        </p:spPr>
      </p:sp>
      <p:sp>
        <p:nvSpPr>
          <p:cNvPr id="217091"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49517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E93D32-EEEA-4F09-A35C-238F5A2605DD}" type="slidenum">
              <a:rPr lang="en-GB"/>
              <a:pPr/>
              <a:t>5</a:t>
            </a:fld>
            <a:endParaRPr lang="en-GB"/>
          </a:p>
        </p:txBody>
      </p:sp>
      <p:sp>
        <p:nvSpPr>
          <p:cNvPr id="217090" name="Rectangle 1026"/>
          <p:cNvSpPr>
            <a:spLocks noGrp="1" noRot="1" noChangeAspect="1" noChangeArrowheads="1" noTextEdit="1"/>
          </p:cNvSpPr>
          <p:nvPr>
            <p:ph type="sldImg"/>
          </p:nvPr>
        </p:nvSpPr>
        <p:spPr>
          <a:ln/>
        </p:spPr>
      </p:sp>
      <p:sp>
        <p:nvSpPr>
          <p:cNvPr id="217091"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75371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77AEDA-0EA4-4A4C-9A27-CBAD6AC7944D}" type="slidenum">
              <a:rPr lang="en-GB"/>
              <a:pPr/>
              <a:t>10</a:t>
            </a:fld>
            <a:endParaRPr lang="en-GB"/>
          </a:p>
        </p:txBody>
      </p:sp>
      <p:sp>
        <p:nvSpPr>
          <p:cNvPr id="223234" name="Rectangle 2"/>
          <p:cNvSpPr>
            <a:spLocks noGrp="1" noRot="1" noChangeAspect="1" noChangeArrowheads="1" noTextEdit="1"/>
          </p:cNvSpPr>
          <p:nvPr>
            <p:ph type="sldImg"/>
          </p:nvPr>
        </p:nvSpPr>
        <p:spPr>
          <a:ln/>
        </p:spPr>
      </p:sp>
      <p:sp>
        <p:nvSpPr>
          <p:cNvPr id="2232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09772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7B2488E-66A7-4BE0-8366-F9C5258FC905}"/>
              </a:ext>
            </a:extLst>
          </p:cNvPr>
          <p:cNvSpPr>
            <a:spLocks noGrp="1" noChangeArrowheads="1"/>
          </p:cNvSpPr>
          <p:nvPr>
            <p:ph type="sldNum" sz="quarter" idx="5"/>
          </p:nvPr>
        </p:nvSpPr>
        <p:spPr>
          <a:ln/>
        </p:spPr>
        <p:txBody>
          <a:bodyPr/>
          <a:lstStyle/>
          <a:p>
            <a:fld id="{D9FCD4C8-2A64-49AE-949B-E4BDDD70C894}" type="slidenum">
              <a:rPr lang="en-GB" altLang="en-US"/>
              <a:pPr/>
              <a:t>14</a:t>
            </a:fld>
            <a:endParaRPr lang="en-GB" altLang="en-US"/>
          </a:p>
        </p:txBody>
      </p:sp>
      <p:sp>
        <p:nvSpPr>
          <p:cNvPr id="228354" name="Rectangle 2">
            <a:extLst>
              <a:ext uri="{FF2B5EF4-FFF2-40B4-BE49-F238E27FC236}">
                <a16:creationId xmlns:a16="http://schemas.microsoft.com/office/drawing/2014/main" id="{364CC610-075F-4976-A040-8B2570DD8519}"/>
              </a:ext>
            </a:extLst>
          </p:cNvPr>
          <p:cNvSpPr>
            <a:spLocks noGrp="1" noRot="1" noChangeAspect="1" noChangeArrowheads="1" noTextEdit="1"/>
          </p:cNvSpPr>
          <p:nvPr>
            <p:ph type="sldImg"/>
          </p:nvPr>
        </p:nvSpPr>
        <p:spPr>
          <a:ln/>
        </p:spPr>
      </p:sp>
      <p:sp>
        <p:nvSpPr>
          <p:cNvPr id="228355" name="Rectangle 3">
            <a:extLst>
              <a:ext uri="{FF2B5EF4-FFF2-40B4-BE49-F238E27FC236}">
                <a16:creationId xmlns:a16="http://schemas.microsoft.com/office/drawing/2014/main" id="{C6A406C1-13E8-4236-9034-4E211FAAE9FB}"/>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657994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B1AAA9D-0B8C-47C5-A19E-7385F16F83AA}"/>
              </a:ext>
            </a:extLst>
          </p:cNvPr>
          <p:cNvSpPr>
            <a:spLocks noGrp="1" noChangeArrowheads="1"/>
          </p:cNvSpPr>
          <p:nvPr>
            <p:ph type="sldNum" sz="quarter" idx="5"/>
          </p:nvPr>
        </p:nvSpPr>
        <p:spPr>
          <a:ln/>
        </p:spPr>
        <p:txBody>
          <a:bodyPr/>
          <a:lstStyle/>
          <a:p>
            <a:fld id="{8AB648BE-EA03-47AD-9C80-A57E0AB6701E}" type="slidenum">
              <a:rPr lang="en-GB" altLang="en-US"/>
              <a:pPr/>
              <a:t>15</a:t>
            </a:fld>
            <a:endParaRPr lang="en-GB" altLang="en-US"/>
          </a:p>
        </p:txBody>
      </p:sp>
      <p:sp>
        <p:nvSpPr>
          <p:cNvPr id="229378" name="Rectangle 1026">
            <a:extLst>
              <a:ext uri="{FF2B5EF4-FFF2-40B4-BE49-F238E27FC236}">
                <a16:creationId xmlns:a16="http://schemas.microsoft.com/office/drawing/2014/main" id="{4DA21537-ED39-4F5B-B21F-DFCA3B40C7DC}"/>
              </a:ext>
            </a:extLst>
          </p:cNvPr>
          <p:cNvSpPr>
            <a:spLocks noGrp="1" noRot="1" noChangeAspect="1" noChangeArrowheads="1" noTextEdit="1"/>
          </p:cNvSpPr>
          <p:nvPr>
            <p:ph type="sldImg"/>
          </p:nvPr>
        </p:nvSpPr>
        <p:spPr>
          <a:ln/>
        </p:spPr>
      </p:sp>
      <p:sp>
        <p:nvSpPr>
          <p:cNvPr id="229379" name="Rectangle 1027">
            <a:extLst>
              <a:ext uri="{FF2B5EF4-FFF2-40B4-BE49-F238E27FC236}">
                <a16:creationId xmlns:a16="http://schemas.microsoft.com/office/drawing/2014/main" id="{E85365D7-9522-4407-B4F4-461F09921364}"/>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746271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637CF0E-18E7-4E21-9ECE-D6E1266AB3C4}"/>
              </a:ext>
            </a:extLst>
          </p:cNvPr>
          <p:cNvSpPr>
            <a:spLocks noGrp="1" noChangeArrowheads="1"/>
          </p:cNvSpPr>
          <p:nvPr>
            <p:ph type="sldNum" sz="quarter" idx="5"/>
          </p:nvPr>
        </p:nvSpPr>
        <p:spPr>
          <a:ln/>
        </p:spPr>
        <p:txBody>
          <a:bodyPr/>
          <a:lstStyle/>
          <a:p>
            <a:fld id="{ADD4A3DA-505A-4B3B-83B3-4F0689AED25F}" type="slidenum">
              <a:rPr lang="en-GB" altLang="en-US"/>
              <a:pPr/>
              <a:t>16</a:t>
            </a:fld>
            <a:endParaRPr lang="en-GB" altLang="en-US"/>
          </a:p>
        </p:txBody>
      </p:sp>
      <p:sp>
        <p:nvSpPr>
          <p:cNvPr id="230402" name="Rectangle 2">
            <a:extLst>
              <a:ext uri="{FF2B5EF4-FFF2-40B4-BE49-F238E27FC236}">
                <a16:creationId xmlns:a16="http://schemas.microsoft.com/office/drawing/2014/main" id="{2BF8D0FF-12C1-44EC-BC7B-837640FA71C8}"/>
              </a:ext>
            </a:extLst>
          </p:cNvPr>
          <p:cNvSpPr>
            <a:spLocks noGrp="1" noRot="1" noChangeAspect="1" noChangeArrowheads="1" noTextEdit="1"/>
          </p:cNvSpPr>
          <p:nvPr>
            <p:ph type="sldImg"/>
          </p:nvPr>
        </p:nvSpPr>
        <p:spPr>
          <a:ln/>
        </p:spPr>
      </p:sp>
      <p:sp>
        <p:nvSpPr>
          <p:cNvPr id="230403" name="Rectangle 3">
            <a:extLst>
              <a:ext uri="{FF2B5EF4-FFF2-40B4-BE49-F238E27FC236}">
                <a16:creationId xmlns:a16="http://schemas.microsoft.com/office/drawing/2014/main" id="{8C831722-F725-41D2-9791-D774321CD94B}"/>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1852933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EAAEF6C-0780-4A23-812C-11BC2E513D5A}"/>
              </a:ext>
            </a:extLst>
          </p:cNvPr>
          <p:cNvSpPr>
            <a:spLocks noGrp="1" noChangeArrowheads="1"/>
          </p:cNvSpPr>
          <p:nvPr>
            <p:ph type="sldNum" sz="quarter" idx="5"/>
          </p:nvPr>
        </p:nvSpPr>
        <p:spPr>
          <a:ln/>
        </p:spPr>
        <p:txBody>
          <a:bodyPr/>
          <a:lstStyle/>
          <a:p>
            <a:fld id="{A15BB2D6-CCB7-48EE-B4DB-B43373AB426E}" type="slidenum">
              <a:rPr lang="en-GB" altLang="en-US"/>
              <a:pPr/>
              <a:t>17</a:t>
            </a:fld>
            <a:endParaRPr lang="en-GB" altLang="en-US"/>
          </a:p>
        </p:txBody>
      </p:sp>
      <p:sp>
        <p:nvSpPr>
          <p:cNvPr id="231426" name="Rectangle 1026">
            <a:extLst>
              <a:ext uri="{FF2B5EF4-FFF2-40B4-BE49-F238E27FC236}">
                <a16:creationId xmlns:a16="http://schemas.microsoft.com/office/drawing/2014/main" id="{4F3CFA0B-2DC0-4B7D-A678-446ECE0CB4AE}"/>
              </a:ext>
            </a:extLst>
          </p:cNvPr>
          <p:cNvSpPr>
            <a:spLocks noGrp="1" noRot="1" noChangeAspect="1" noChangeArrowheads="1" noTextEdit="1"/>
          </p:cNvSpPr>
          <p:nvPr>
            <p:ph type="sldImg"/>
          </p:nvPr>
        </p:nvSpPr>
        <p:spPr>
          <a:ln/>
        </p:spPr>
      </p:sp>
      <p:sp>
        <p:nvSpPr>
          <p:cNvPr id="231427" name="Rectangle 1027">
            <a:extLst>
              <a:ext uri="{FF2B5EF4-FFF2-40B4-BE49-F238E27FC236}">
                <a16:creationId xmlns:a16="http://schemas.microsoft.com/office/drawing/2014/main" id="{C00FE328-BD15-4C82-995C-00A29FAF5AB7}"/>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019664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46C553-2EAC-4E2E-B3B0-8F23BAC64A48}" type="slidenum">
              <a:rPr lang="en-GB"/>
              <a:pPr/>
              <a:t>21</a:t>
            </a:fld>
            <a:endParaRPr lang="en-GB"/>
          </a:p>
        </p:txBody>
      </p:sp>
      <p:sp>
        <p:nvSpPr>
          <p:cNvPr id="304130" name="Rectangle 1026"/>
          <p:cNvSpPr>
            <a:spLocks noGrp="1" noRot="1" noChangeAspect="1" noChangeArrowheads="1" noTextEdit="1"/>
          </p:cNvSpPr>
          <p:nvPr>
            <p:ph type="sldImg"/>
          </p:nvPr>
        </p:nvSpPr>
        <p:spPr>
          <a:ln/>
        </p:spPr>
      </p:sp>
      <p:sp>
        <p:nvSpPr>
          <p:cNvPr id="304131"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598552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747519-2F72-4400-9306-E1F4BF571D4F}" type="slidenum">
              <a:rPr lang="en-GB"/>
              <a:pPr/>
              <a:t>22</a:t>
            </a:fld>
            <a:endParaRPr lang="en-GB"/>
          </a:p>
        </p:txBody>
      </p:sp>
      <p:sp>
        <p:nvSpPr>
          <p:cNvPr id="241666" name="Rectangle 1026"/>
          <p:cNvSpPr>
            <a:spLocks noGrp="1" noRot="1" noChangeAspect="1" noChangeArrowheads="1" noTextEdit="1"/>
          </p:cNvSpPr>
          <p:nvPr>
            <p:ph type="sldImg"/>
          </p:nvPr>
        </p:nvSpPr>
        <p:spPr>
          <a:ln/>
        </p:spPr>
      </p:sp>
      <p:sp>
        <p:nvSpPr>
          <p:cNvPr id="241667"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78567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EEA30D-490B-4FD8-9308-DFB61C473C25}" type="slidenum">
              <a:rPr lang="en-GB"/>
              <a:pPr/>
              <a:t>24</a:t>
            </a:fld>
            <a:endParaRPr lang="en-GB"/>
          </a:p>
        </p:txBody>
      </p:sp>
      <p:sp>
        <p:nvSpPr>
          <p:cNvPr id="242690" name="Rectangle 2"/>
          <p:cNvSpPr>
            <a:spLocks noGrp="1" noRot="1" noChangeAspect="1" noChangeArrowheads="1" noTextEdit="1"/>
          </p:cNvSpPr>
          <p:nvPr>
            <p:ph type="sldImg"/>
          </p:nvPr>
        </p:nvSpPr>
        <p:spPr>
          <a:ln/>
        </p:spPr>
      </p:sp>
      <p:sp>
        <p:nvSpPr>
          <p:cNvPr id="2426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68227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95E9AF5-9E42-4797-8204-53D663AF20F3}"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88898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5E9AF5-9E42-4797-8204-53D663AF20F3}"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254291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5E9AF5-9E42-4797-8204-53D663AF20F3}"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3220282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95E9AF5-9E42-4797-8204-53D663AF20F3}"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540985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95E9AF5-9E42-4797-8204-53D663AF20F3}" type="datetimeFigureOut">
              <a:rPr lang="en-US" smtClean="0"/>
              <a:pPr/>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6953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5E9AF5-9E42-4797-8204-53D663AF20F3}" type="datetimeFigureOut">
              <a:rPr lang="en-US" smtClean="0"/>
              <a:pPr/>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303399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5E9AF5-9E42-4797-8204-53D663AF20F3}" type="datetimeFigureOut">
              <a:rPr lang="en-US" smtClean="0"/>
              <a:pPr/>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353847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5E9AF5-9E42-4797-8204-53D663AF20F3}"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669817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5E9AF5-9E42-4797-8204-53D663AF20F3}"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792203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5E9AF5-9E42-4797-8204-53D663AF20F3}"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898248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5E9AF5-9E42-4797-8204-53D663AF20F3}"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526484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5E9AF5-9E42-4797-8204-53D663AF20F3}" type="datetimeFigureOut">
              <a:rPr lang="en-US" smtClean="0"/>
              <a:pPr/>
              <a:t>6/9/2026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F05C8B-718F-4869-805E-863C3A552F10}" type="slidenum">
              <a:rPr lang="en-US" smtClean="0"/>
              <a:pPr/>
              <a:t>‹#›</a:t>
            </a:fld>
            <a:endParaRPr lang="en-US"/>
          </a:p>
        </p:txBody>
      </p:sp>
    </p:spTree>
    <p:extLst>
      <p:ext uri="{BB962C8B-B14F-4D97-AF65-F5344CB8AC3E}">
        <p14:creationId xmlns:p14="http://schemas.microsoft.com/office/powerpoint/2010/main" val="5232646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s://writingcenter.unc.edu/tips-and-tools/paragraphs/" TargetMode="External"/><Relationship Id="rId7" Type="http://schemas.openxmlformats.org/officeDocument/2006/relationships/hyperlink" Target="https://www.ncl.ac.uk/academic-skills-kit/writing/academic-writing/paragraphing/" TargetMode="External"/><Relationship Id="rId2" Type="http://schemas.openxmlformats.org/officeDocument/2006/relationships/hyperlink" Target="https://owl.purdue.edu/owl/general_writing/academic_writing/paragraphs_and_paragraphing/index.html" TargetMode="External"/><Relationship Id="rId1" Type="http://schemas.openxmlformats.org/officeDocument/2006/relationships/slideLayout" Target="../slideLayouts/slideLayout2.xml"/><Relationship Id="rId6" Type="http://schemas.openxmlformats.org/officeDocument/2006/relationships/hyperlink" Target="https://www.hunter.cuny.edu/rwc/repository/files/the-writing-process/organization/guidelines-for-paragraphing-updated.pdf" TargetMode="External"/><Relationship Id="rId5" Type="http://schemas.openxmlformats.org/officeDocument/2006/relationships/hyperlink" Target="https://www.hunter.cuny.edu/rwc/repository/files/the-writing-process/organization/developing-a-paragraph.pdf" TargetMode="External"/><Relationship Id="rId4" Type="http://schemas.openxmlformats.org/officeDocument/2006/relationships/hyperlink" Target="https://libguides.newcastle.edu.au/writing-paragraphs/structur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Research Communication Skills</a:t>
            </a:r>
          </a:p>
        </p:txBody>
      </p:sp>
      <p:sp>
        <p:nvSpPr>
          <p:cNvPr id="3" name="Subtitle 2"/>
          <p:cNvSpPr>
            <a:spLocks noGrp="1"/>
          </p:cNvSpPr>
          <p:nvPr>
            <p:ph type="subTitle" idx="1"/>
          </p:nvPr>
        </p:nvSpPr>
        <p:spPr/>
        <p:txBody>
          <a:bodyPr/>
          <a:lstStyle/>
          <a:p>
            <a:r>
              <a:rPr lang="en-US" dirty="0"/>
              <a:t>Writing Research Papers</a:t>
            </a:r>
          </a:p>
        </p:txBody>
      </p:sp>
    </p:spTree>
    <p:extLst>
      <p:ext uri="{BB962C8B-B14F-4D97-AF65-F5344CB8AC3E}">
        <p14:creationId xmlns:p14="http://schemas.microsoft.com/office/powerpoint/2010/main" val="2392204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dirty="0"/>
              <a:t>Intended Learning Outcomes</a:t>
            </a:r>
          </a:p>
        </p:txBody>
      </p:sp>
      <p:sp>
        <p:nvSpPr>
          <p:cNvPr id="3" name="内容占位符 2"/>
          <p:cNvSpPr>
            <a:spLocks noGrp="1"/>
          </p:cNvSpPr>
          <p:nvPr>
            <p:ph idx="1"/>
          </p:nvPr>
        </p:nvSpPr>
        <p:spPr/>
        <p:txBody>
          <a:bodyPr>
            <a:normAutofit/>
          </a:bodyPr>
          <a:lstStyle/>
          <a:p>
            <a:r>
              <a:rPr lang="en-GB" sz="4000" dirty="0"/>
              <a:t>By the end of this lesson you will be able to:</a:t>
            </a:r>
          </a:p>
          <a:p>
            <a:pPr lvl="1"/>
            <a:r>
              <a:rPr lang="en-GB" sz="3600" dirty="0"/>
              <a:t>determine when to start writing the paper</a:t>
            </a:r>
          </a:p>
          <a:p>
            <a:pPr lvl="1"/>
            <a:r>
              <a:rPr lang="en-GB" sz="3600" dirty="0"/>
              <a:t>express the information in the paper in diverse ways (text, figure, table)</a:t>
            </a:r>
          </a:p>
          <a:p>
            <a:pPr lvl="1"/>
            <a:r>
              <a:rPr lang="en-GB" sz="3600" dirty="0"/>
              <a:t>compose a research paper</a:t>
            </a:r>
          </a:p>
          <a:p>
            <a:endParaRPr lang="en-GB" dirty="0"/>
          </a:p>
        </p:txBody>
      </p:sp>
    </p:spTree>
    <p:extLst>
      <p:ext uri="{BB962C8B-B14F-4D97-AF65-F5344CB8AC3E}">
        <p14:creationId xmlns:p14="http://schemas.microsoft.com/office/powerpoint/2010/main" val="2659627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12170-57EB-45A4-965D-A7248258D165}"/>
              </a:ext>
            </a:extLst>
          </p:cNvPr>
          <p:cNvSpPr>
            <a:spLocks noGrp="1"/>
          </p:cNvSpPr>
          <p:nvPr>
            <p:ph type="title"/>
          </p:nvPr>
        </p:nvSpPr>
        <p:spPr/>
        <p:txBody>
          <a:bodyPr/>
          <a:lstStyle/>
          <a:p>
            <a:r>
              <a:rPr lang="en-US" dirty="0"/>
              <a:t>What do researchers do?</a:t>
            </a:r>
          </a:p>
        </p:txBody>
      </p:sp>
      <p:sp>
        <p:nvSpPr>
          <p:cNvPr id="3" name="Content Placeholder 2">
            <a:extLst>
              <a:ext uri="{FF2B5EF4-FFF2-40B4-BE49-F238E27FC236}">
                <a16:creationId xmlns:a16="http://schemas.microsoft.com/office/drawing/2014/main" id="{34B3201E-0ACA-43CE-AB14-86E4EDB2368E}"/>
              </a:ext>
            </a:extLst>
          </p:cNvPr>
          <p:cNvSpPr>
            <a:spLocks noGrp="1"/>
          </p:cNvSpPr>
          <p:nvPr>
            <p:ph idx="1"/>
          </p:nvPr>
        </p:nvSpPr>
        <p:spPr/>
        <p:txBody>
          <a:bodyPr>
            <a:normAutofit/>
          </a:bodyPr>
          <a:lstStyle/>
          <a:p>
            <a:r>
              <a:rPr lang="en-US" sz="3600" dirty="0"/>
              <a:t>Your answer from last class</a:t>
            </a:r>
          </a:p>
          <a:p>
            <a:pPr lvl="1"/>
            <a:r>
              <a:rPr lang="en-US" sz="3200" dirty="0"/>
              <a:t>Read</a:t>
            </a:r>
          </a:p>
          <a:p>
            <a:pPr lvl="1"/>
            <a:r>
              <a:rPr lang="en-US" sz="3200" dirty="0"/>
              <a:t>Think</a:t>
            </a:r>
          </a:p>
          <a:p>
            <a:pPr lvl="1"/>
            <a:r>
              <a:rPr lang="en-US" sz="3200" dirty="0"/>
              <a:t>Write</a:t>
            </a:r>
          </a:p>
          <a:p>
            <a:pPr lvl="1"/>
            <a:r>
              <a:rPr lang="en-US" sz="3200" dirty="0"/>
              <a:t>….</a:t>
            </a:r>
          </a:p>
          <a:p>
            <a:r>
              <a:rPr lang="en-US" sz="3600" dirty="0">
                <a:solidFill>
                  <a:srgbClr val="FF0000"/>
                </a:solidFill>
              </a:rPr>
              <a:t>When</a:t>
            </a:r>
            <a:r>
              <a:rPr lang="en-US" sz="3600" dirty="0"/>
              <a:t> do they write in relation to reading and thinking?</a:t>
            </a:r>
          </a:p>
          <a:p>
            <a:r>
              <a:rPr lang="en-US" sz="3600" dirty="0"/>
              <a:t>Do they write after all the thinking is done or before?</a:t>
            </a:r>
          </a:p>
        </p:txBody>
      </p:sp>
    </p:spTree>
    <p:extLst>
      <p:ext uri="{BB962C8B-B14F-4D97-AF65-F5344CB8AC3E}">
        <p14:creationId xmlns:p14="http://schemas.microsoft.com/office/powerpoint/2010/main" val="3401424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lstStyle/>
          <a:p>
            <a:r>
              <a:rPr lang="en-GB" dirty="0"/>
              <a:t>Writing papers: two models</a:t>
            </a:r>
          </a:p>
        </p:txBody>
      </p:sp>
      <p:sp>
        <p:nvSpPr>
          <p:cNvPr id="181251" name="AutoShape 3"/>
          <p:cNvSpPr>
            <a:spLocks noChangeArrowheads="1"/>
          </p:cNvSpPr>
          <p:nvPr/>
        </p:nvSpPr>
        <p:spPr bwMode="auto">
          <a:xfrm>
            <a:off x="2510964" y="2277369"/>
            <a:ext cx="898525" cy="508000"/>
          </a:xfrm>
          <a:prstGeom prst="roundRect">
            <a:avLst>
              <a:gd name="adj" fmla="val 16667"/>
            </a:avLst>
          </a:prstGeom>
          <a:solidFill>
            <a:schemeClr val="accent1"/>
          </a:solidFill>
          <a:ln w="9525">
            <a:solidFill>
              <a:schemeClr val="tx1"/>
            </a:solidFill>
            <a:round/>
            <a:headEnd/>
            <a:tailEnd/>
          </a:ln>
          <a:effectLst/>
        </p:spPr>
        <p:txBody>
          <a:bodyPr anchor="ctr">
            <a:spAutoFit/>
          </a:bodyPr>
          <a:lstStyle/>
          <a:p>
            <a:pPr>
              <a:spcBef>
                <a:spcPct val="0"/>
              </a:spcBef>
              <a:buClrTx/>
              <a:buFontTx/>
              <a:buNone/>
            </a:pPr>
            <a:r>
              <a:rPr lang="en-GB" sz="2400">
                <a:latin typeface="Arial" pitchFamily="34" charset="0"/>
              </a:rPr>
              <a:t>Idea</a:t>
            </a:r>
          </a:p>
        </p:txBody>
      </p:sp>
      <p:sp>
        <p:nvSpPr>
          <p:cNvPr id="181252" name="AutoShape 4"/>
          <p:cNvSpPr>
            <a:spLocks noChangeArrowheads="1"/>
          </p:cNvSpPr>
          <p:nvPr/>
        </p:nvSpPr>
        <p:spPr bwMode="auto">
          <a:xfrm>
            <a:off x="4168313" y="2277369"/>
            <a:ext cx="1911350" cy="508000"/>
          </a:xfrm>
          <a:prstGeom prst="roundRect">
            <a:avLst>
              <a:gd name="adj" fmla="val 16667"/>
            </a:avLst>
          </a:prstGeom>
          <a:solidFill>
            <a:schemeClr val="accent1"/>
          </a:solidFill>
          <a:ln w="9525">
            <a:solidFill>
              <a:schemeClr val="tx1"/>
            </a:solidFill>
            <a:round/>
            <a:headEnd/>
            <a:tailEnd/>
          </a:ln>
          <a:effectLst/>
        </p:spPr>
        <p:txBody>
          <a:bodyPr anchor="ctr">
            <a:spAutoFit/>
          </a:bodyPr>
          <a:lstStyle/>
          <a:p>
            <a:pPr>
              <a:spcBef>
                <a:spcPct val="0"/>
              </a:spcBef>
              <a:buClrTx/>
              <a:buFontTx/>
              <a:buNone/>
            </a:pPr>
            <a:r>
              <a:rPr lang="en-GB" sz="2400">
                <a:latin typeface="Arial" pitchFamily="34" charset="0"/>
              </a:rPr>
              <a:t>Do research</a:t>
            </a:r>
          </a:p>
        </p:txBody>
      </p:sp>
      <p:sp>
        <p:nvSpPr>
          <p:cNvPr id="181253" name="AutoShape 5"/>
          <p:cNvSpPr>
            <a:spLocks noChangeArrowheads="1"/>
          </p:cNvSpPr>
          <p:nvPr/>
        </p:nvSpPr>
        <p:spPr bwMode="auto">
          <a:xfrm>
            <a:off x="6903577" y="2277369"/>
            <a:ext cx="2073275" cy="508000"/>
          </a:xfrm>
          <a:prstGeom prst="roundRect">
            <a:avLst>
              <a:gd name="adj" fmla="val 16667"/>
            </a:avLst>
          </a:prstGeom>
          <a:solidFill>
            <a:schemeClr val="accent1"/>
          </a:solidFill>
          <a:ln w="9525">
            <a:solidFill>
              <a:schemeClr val="tx1"/>
            </a:solidFill>
            <a:round/>
            <a:headEnd/>
            <a:tailEnd/>
          </a:ln>
          <a:effectLst/>
        </p:spPr>
        <p:txBody>
          <a:bodyPr anchor="ctr">
            <a:spAutoFit/>
          </a:bodyPr>
          <a:lstStyle/>
          <a:p>
            <a:pPr>
              <a:spcBef>
                <a:spcPct val="0"/>
              </a:spcBef>
              <a:buClrTx/>
              <a:buFontTx/>
              <a:buNone/>
            </a:pPr>
            <a:r>
              <a:rPr lang="en-GB" sz="2400">
                <a:latin typeface="Arial" pitchFamily="34" charset="0"/>
              </a:rPr>
              <a:t>Write paper</a:t>
            </a:r>
          </a:p>
        </p:txBody>
      </p:sp>
      <p:cxnSp>
        <p:nvCxnSpPr>
          <p:cNvPr id="181254" name="AutoShape 6"/>
          <p:cNvCxnSpPr>
            <a:cxnSpLocks noChangeShapeType="1"/>
            <a:stCxn id="181251" idx="3"/>
            <a:endCxn id="181252" idx="1"/>
          </p:cNvCxnSpPr>
          <p:nvPr/>
        </p:nvCxnSpPr>
        <p:spPr bwMode="auto">
          <a:xfrm>
            <a:off x="3409489" y="2531369"/>
            <a:ext cx="758825" cy="0"/>
          </a:xfrm>
          <a:prstGeom prst="straightConnector1">
            <a:avLst/>
          </a:prstGeom>
          <a:noFill/>
          <a:ln w="57150">
            <a:solidFill>
              <a:schemeClr val="tx1"/>
            </a:solidFill>
            <a:round/>
            <a:headEnd/>
            <a:tailEnd type="triangle" w="med" len="med"/>
          </a:ln>
          <a:effectLst/>
        </p:spPr>
      </p:cxnSp>
      <p:cxnSp>
        <p:nvCxnSpPr>
          <p:cNvPr id="181255" name="AutoShape 7"/>
          <p:cNvCxnSpPr>
            <a:cxnSpLocks noChangeShapeType="1"/>
            <a:stCxn id="181252" idx="3"/>
            <a:endCxn id="181253" idx="1"/>
          </p:cNvCxnSpPr>
          <p:nvPr/>
        </p:nvCxnSpPr>
        <p:spPr bwMode="auto">
          <a:xfrm>
            <a:off x="6079664" y="2531369"/>
            <a:ext cx="823913" cy="0"/>
          </a:xfrm>
          <a:prstGeom prst="straightConnector1">
            <a:avLst/>
          </a:prstGeom>
          <a:noFill/>
          <a:ln w="9525">
            <a:solidFill>
              <a:schemeClr val="tx1"/>
            </a:solidFill>
            <a:round/>
            <a:headEnd/>
            <a:tailEnd type="triangle" w="med" len="med"/>
          </a:ln>
          <a:effectLst/>
        </p:spPr>
      </p:cxnSp>
      <p:sp>
        <p:nvSpPr>
          <p:cNvPr id="181256" name="AutoShape 8"/>
          <p:cNvSpPr>
            <a:spLocks noChangeArrowheads="1"/>
          </p:cNvSpPr>
          <p:nvPr/>
        </p:nvSpPr>
        <p:spPr bwMode="auto">
          <a:xfrm>
            <a:off x="2493502" y="3575944"/>
            <a:ext cx="898525" cy="508000"/>
          </a:xfrm>
          <a:prstGeom prst="roundRect">
            <a:avLst>
              <a:gd name="adj" fmla="val 16667"/>
            </a:avLst>
          </a:prstGeom>
          <a:solidFill>
            <a:schemeClr val="accent1"/>
          </a:solidFill>
          <a:ln w="9525">
            <a:solidFill>
              <a:schemeClr val="tx1"/>
            </a:solidFill>
            <a:round/>
            <a:headEnd/>
            <a:tailEnd/>
          </a:ln>
          <a:effectLst/>
        </p:spPr>
        <p:txBody>
          <a:bodyPr anchor="ctr">
            <a:spAutoFit/>
          </a:bodyPr>
          <a:lstStyle/>
          <a:p>
            <a:pPr>
              <a:spcBef>
                <a:spcPct val="0"/>
              </a:spcBef>
              <a:buClrTx/>
              <a:buFontTx/>
              <a:buNone/>
            </a:pPr>
            <a:r>
              <a:rPr lang="en-GB" sz="2400" dirty="0">
                <a:latin typeface="Arial" pitchFamily="34" charset="0"/>
              </a:rPr>
              <a:t>Idea</a:t>
            </a:r>
          </a:p>
        </p:txBody>
      </p:sp>
      <p:sp>
        <p:nvSpPr>
          <p:cNvPr id="181257" name="AutoShape 9"/>
          <p:cNvSpPr>
            <a:spLocks noChangeArrowheads="1"/>
          </p:cNvSpPr>
          <p:nvPr/>
        </p:nvSpPr>
        <p:spPr bwMode="auto">
          <a:xfrm>
            <a:off x="4150851" y="3575944"/>
            <a:ext cx="1911350" cy="508000"/>
          </a:xfrm>
          <a:prstGeom prst="roundRect">
            <a:avLst>
              <a:gd name="adj" fmla="val 16667"/>
            </a:avLst>
          </a:prstGeom>
          <a:solidFill>
            <a:schemeClr val="accent1"/>
          </a:solidFill>
          <a:ln w="9525">
            <a:solidFill>
              <a:schemeClr val="tx1"/>
            </a:solidFill>
            <a:round/>
            <a:headEnd/>
            <a:tailEnd/>
          </a:ln>
          <a:effectLst/>
        </p:spPr>
        <p:txBody>
          <a:bodyPr anchor="ctr">
            <a:spAutoFit/>
          </a:bodyPr>
          <a:lstStyle/>
          <a:p>
            <a:pPr>
              <a:spcBef>
                <a:spcPct val="0"/>
              </a:spcBef>
              <a:buClrTx/>
              <a:buFontTx/>
              <a:buNone/>
            </a:pPr>
            <a:r>
              <a:rPr lang="en-GB" sz="2400">
                <a:latin typeface="Arial" pitchFamily="34" charset="0"/>
              </a:rPr>
              <a:t>Write paper</a:t>
            </a:r>
          </a:p>
        </p:txBody>
      </p:sp>
      <p:sp>
        <p:nvSpPr>
          <p:cNvPr id="181258" name="AutoShape 10"/>
          <p:cNvSpPr>
            <a:spLocks noChangeArrowheads="1"/>
          </p:cNvSpPr>
          <p:nvPr/>
        </p:nvSpPr>
        <p:spPr bwMode="auto">
          <a:xfrm>
            <a:off x="6886114" y="3575944"/>
            <a:ext cx="2073275" cy="508000"/>
          </a:xfrm>
          <a:prstGeom prst="roundRect">
            <a:avLst>
              <a:gd name="adj" fmla="val 16667"/>
            </a:avLst>
          </a:prstGeom>
          <a:solidFill>
            <a:schemeClr val="accent1"/>
          </a:solidFill>
          <a:ln w="9525">
            <a:solidFill>
              <a:schemeClr val="tx1"/>
            </a:solidFill>
            <a:round/>
            <a:headEnd/>
            <a:tailEnd/>
          </a:ln>
          <a:effectLst/>
        </p:spPr>
        <p:txBody>
          <a:bodyPr anchor="ctr">
            <a:spAutoFit/>
          </a:bodyPr>
          <a:lstStyle/>
          <a:p>
            <a:pPr>
              <a:spcBef>
                <a:spcPct val="0"/>
              </a:spcBef>
              <a:buClrTx/>
              <a:buFontTx/>
              <a:buNone/>
            </a:pPr>
            <a:r>
              <a:rPr lang="en-GB" sz="2400">
                <a:latin typeface="Arial" pitchFamily="34" charset="0"/>
              </a:rPr>
              <a:t>Do research</a:t>
            </a:r>
          </a:p>
        </p:txBody>
      </p:sp>
      <p:cxnSp>
        <p:nvCxnSpPr>
          <p:cNvPr id="181259" name="AutoShape 11"/>
          <p:cNvCxnSpPr>
            <a:cxnSpLocks noChangeShapeType="1"/>
            <a:stCxn id="181256" idx="3"/>
            <a:endCxn id="181257" idx="1"/>
          </p:cNvCxnSpPr>
          <p:nvPr/>
        </p:nvCxnSpPr>
        <p:spPr bwMode="auto">
          <a:xfrm>
            <a:off x="3392027" y="3829944"/>
            <a:ext cx="758825" cy="0"/>
          </a:xfrm>
          <a:prstGeom prst="straightConnector1">
            <a:avLst/>
          </a:prstGeom>
          <a:noFill/>
          <a:ln w="57150">
            <a:solidFill>
              <a:schemeClr val="tx1"/>
            </a:solidFill>
            <a:round/>
            <a:headEnd/>
            <a:tailEnd type="triangle" w="med" len="med"/>
          </a:ln>
          <a:effectLst/>
        </p:spPr>
      </p:cxnSp>
      <p:cxnSp>
        <p:nvCxnSpPr>
          <p:cNvPr id="181260" name="AutoShape 12"/>
          <p:cNvCxnSpPr>
            <a:cxnSpLocks noChangeShapeType="1"/>
            <a:stCxn id="181257" idx="3"/>
            <a:endCxn id="181258" idx="1"/>
          </p:cNvCxnSpPr>
          <p:nvPr/>
        </p:nvCxnSpPr>
        <p:spPr bwMode="auto">
          <a:xfrm>
            <a:off x="6062201" y="3829944"/>
            <a:ext cx="823912" cy="0"/>
          </a:xfrm>
          <a:prstGeom prst="straightConnector1">
            <a:avLst/>
          </a:prstGeom>
          <a:noFill/>
          <a:ln w="57150">
            <a:solidFill>
              <a:schemeClr val="tx1"/>
            </a:solidFill>
            <a:round/>
            <a:headEnd/>
            <a:tailEnd type="triangle" w="med" len="med"/>
          </a:ln>
          <a:effectLst/>
        </p:spPr>
      </p:cxnSp>
      <p:sp>
        <p:nvSpPr>
          <p:cNvPr id="3" name="Content Placeholder 2">
            <a:extLst>
              <a:ext uri="{FF2B5EF4-FFF2-40B4-BE49-F238E27FC236}">
                <a16:creationId xmlns:a16="http://schemas.microsoft.com/office/drawing/2014/main" id="{95E4588B-0F7C-4E51-A130-87F0353EE511}"/>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64140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lstStyle/>
          <a:p>
            <a:r>
              <a:rPr lang="en-GB" dirty="0"/>
              <a:t>Writing papers: two models</a:t>
            </a:r>
          </a:p>
        </p:txBody>
      </p:sp>
      <p:sp>
        <p:nvSpPr>
          <p:cNvPr id="181251" name="AutoShape 3"/>
          <p:cNvSpPr>
            <a:spLocks noChangeArrowheads="1"/>
          </p:cNvSpPr>
          <p:nvPr/>
        </p:nvSpPr>
        <p:spPr bwMode="auto">
          <a:xfrm>
            <a:off x="2510964" y="2277369"/>
            <a:ext cx="898525" cy="508000"/>
          </a:xfrm>
          <a:prstGeom prst="roundRect">
            <a:avLst>
              <a:gd name="adj" fmla="val 16667"/>
            </a:avLst>
          </a:prstGeom>
          <a:solidFill>
            <a:schemeClr val="accent1"/>
          </a:solidFill>
          <a:ln w="9525">
            <a:solidFill>
              <a:schemeClr val="tx1"/>
            </a:solidFill>
            <a:round/>
            <a:headEnd/>
            <a:tailEnd/>
          </a:ln>
          <a:effectLst/>
        </p:spPr>
        <p:txBody>
          <a:bodyPr anchor="ctr">
            <a:spAutoFit/>
          </a:bodyPr>
          <a:lstStyle/>
          <a:p>
            <a:pPr>
              <a:spcBef>
                <a:spcPct val="0"/>
              </a:spcBef>
              <a:buClrTx/>
              <a:buFontTx/>
              <a:buNone/>
            </a:pPr>
            <a:r>
              <a:rPr lang="en-GB" sz="2400">
                <a:latin typeface="Arial" pitchFamily="34" charset="0"/>
              </a:rPr>
              <a:t>Idea</a:t>
            </a:r>
          </a:p>
        </p:txBody>
      </p:sp>
      <p:sp>
        <p:nvSpPr>
          <p:cNvPr id="181252" name="AutoShape 4"/>
          <p:cNvSpPr>
            <a:spLocks noChangeArrowheads="1"/>
          </p:cNvSpPr>
          <p:nvPr/>
        </p:nvSpPr>
        <p:spPr bwMode="auto">
          <a:xfrm>
            <a:off x="4168313" y="2277369"/>
            <a:ext cx="1911350" cy="508000"/>
          </a:xfrm>
          <a:prstGeom prst="roundRect">
            <a:avLst>
              <a:gd name="adj" fmla="val 16667"/>
            </a:avLst>
          </a:prstGeom>
          <a:solidFill>
            <a:schemeClr val="accent1"/>
          </a:solidFill>
          <a:ln w="9525">
            <a:solidFill>
              <a:schemeClr val="tx1"/>
            </a:solidFill>
            <a:round/>
            <a:headEnd/>
            <a:tailEnd/>
          </a:ln>
          <a:effectLst/>
        </p:spPr>
        <p:txBody>
          <a:bodyPr anchor="ctr">
            <a:spAutoFit/>
          </a:bodyPr>
          <a:lstStyle/>
          <a:p>
            <a:pPr>
              <a:spcBef>
                <a:spcPct val="0"/>
              </a:spcBef>
              <a:buClrTx/>
              <a:buFontTx/>
              <a:buNone/>
            </a:pPr>
            <a:r>
              <a:rPr lang="en-GB" sz="2400">
                <a:latin typeface="Arial" pitchFamily="34" charset="0"/>
              </a:rPr>
              <a:t>Do research</a:t>
            </a:r>
          </a:p>
        </p:txBody>
      </p:sp>
      <p:sp>
        <p:nvSpPr>
          <p:cNvPr id="181253" name="AutoShape 5"/>
          <p:cNvSpPr>
            <a:spLocks noChangeArrowheads="1"/>
          </p:cNvSpPr>
          <p:nvPr/>
        </p:nvSpPr>
        <p:spPr bwMode="auto">
          <a:xfrm>
            <a:off x="6903577" y="2277369"/>
            <a:ext cx="2073275" cy="508000"/>
          </a:xfrm>
          <a:prstGeom prst="roundRect">
            <a:avLst>
              <a:gd name="adj" fmla="val 16667"/>
            </a:avLst>
          </a:prstGeom>
          <a:solidFill>
            <a:schemeClr val="accent1"/>
          </a:solidFill>
          <a:ln w="9525">
            <a:solidFill>
              <a:schemeClr val="tx1"/>
            </a:solidFill>
            <a:round/>
            <a:headEnd/>
            <a:tailEnd/>
          </a:ln>
          <a:effectLst/>
        </p:spPr>
        <p:txBody>
          <a:bodyPr anchor="ctr">
            <a:spAutoFit/>
          </a:bodyPr>
          <a:lstStyle/>
          <a:p>
            <a:pPr>
              <a:spcBef>
                <a:spcPct val="0"/>
              </a:spcBef>
              <a:buClrTx/>
              <a:buFontTx/>
              <a:buNone/>
            </a:pPr>
            <a:r>
              <a:rPr lang="en-GB" sz="2400">
                <a:latin typeface="Arial" pitchFamily="34" charset="0"/>
              </a:rPr>
              <a:t>Write paper</a:t>
            </a:r>
          </a:p>
        </p:txBody>
      </p:sp>
      <p:cxnSp>
        <p:nvCxnSpPr>
          <p:cNvPr id="181254" name="AutoShape 6"/>
          <p:cNvCxnSpPr>
            <a:cxnSpLocks noChangeShapeType="1"/>
            <a:stCxn id="181251" idx="3"/>
            <a:endCxn id="181252" idx="1"/>
          </p:cNvCxnSpPr>
          <p:nvPr/>
        </p:nvCxnSpPr>
        <p:spPr bwMode="auto">
          <a:xfrm>
            <a:off x="3409489" y="2531369"/>
            <a:ext cx="758825" cy="0"/>
          </a:xfrm>
          <a:prstGeom prst="straightConnector1">
            <a:avLst/>
          </a:prstGeom>
          <a:noFill/>
          <a:ln w="57150">
            <a:solidFill>
              <a:schemeClr val="tx1"/>
            </a:solidFill>
            <a:round/>
            <a:headEnd/>
            <a:tailEnd type="triangle" w="med" len="med"/>
          </a:ln>
          <a:effectLst/>
        </p:spPr>
      </p:cxnSp>
      <p:cxnSp>
        <p:nvCxnSpPr>
          <p:cNvPr id="181255" name="AutoShape 7"/>
          <p:cNvCxnSpPr>
            <a:cxnSpLocks noChangeShapeType="1"/>
            <a:stCxn id="181252" idx="3"/>
            <a:endCxn id="181253" idx="1"/>
          </p:cNvCxnSpPr>
          <p:nvPr/>
        </p:nvCxnSpPr>
        <p:spPr bwMode="auto">
          <a:xfrm>
            <a:off x="6079664" y="2531369"/>
            <a:ext cx="823913" cy="0"/>
          </a:xfrm>
          <a:prstGeom prst="straightConnector1">
            <a:avLst/>
          </a:prstGeom>
          <a:noFill/>
          <a:ln w="9525">
            <a:solidFill>
              <a:schemeClr val="tx1"/>
            </a:solidFill>
            <a:round/>
            <a:headEnd/>
            <a:tailEnd type="triangle" w="med" len="med"/>
          </a:ln>
          <a:effectLst/>
        </p:spPr>
      </p:cxnSp>
      <p:sp>
        <p:nvSpPr>
          <p:cNvPr id="181256" name="AutoShape 8"/>
          <p:cNvSpPr>
            <a:spLocks noChangeArrowheads="1"/>
          </p:cNvSpPr>
          <p:nvPr/>
        </p:nvSpPr>
        <p:spPr bwMode="auto">
          <a:xfrm>
            <a:off x="2493502" y="3575944"/>
            <a:ext cx="898525" cy="508000"/>
          </a:xfrm>
          <a:prstGeom prst="roundRect">
            <a:avLst>
              <a:gd name="adj" fmla="val 16667"/>
            </a:avLst>
          </a:prstGeom>
          <a:solidFill>
            <a:schemeClr val="accent1"/>
          </a:solidFill>
          <a:ln w="9525">
            <a:solidFill>
              <a:schemeClr val="tx1"/>
            </a:solidFill>
            <a:round/>
            <a:headEnd/>
            <a:tailEnd/>
          </a:ln>
          <a:effectLst/>
        </p:spPr>
        <p:txBody>
          <a:bodyPr anchor="ctr">
            <a:spAutoFit/>
          </a:bodyPr>
          <a:lstStyle/>
          <a:p>
            <a:pPr>
              <a:spcBef>
                <a:spcPct val="0"/>
              </a:spcBef>
              <a:buClrTx/>
              <a:buFontTx/>
              <a:buNone/>
            </a:pPr>
            <a:r>
              <a:rPr lang="en-GB" sz="2400" dirty="0">
                <a:latin typeface="Arial" pitchFamily="34" charset="0"/>
              </a:rPr>
              <a:t>Idea</a:t>
            </a:r>
          </a:p>
        </p:txBody>
      </p:sp>
      <p:sp>
        <p:nvSpPr>
          <p:cNvPr id="181257" name="AutoShape 9"/>
          <p:cNvSpPr>
            <a:spLocks noChangeArrowheads="1"/>
          </p:cNvSpPr>
          <p:nvPr/>
        </p:nvSpPr>
        <p:spPr bwMode="auto">
          <a:xfrm>
            <a:off x="4150851" y="3575944"/>
            <a:ext cx="1911350" cy="508000"/>
          </a:xfrm>
          <a:prstGeom prst="roundRect">
            <a:avLst>
              <a:gd name="adj" fmla="val 16667"/>
            </a:avLst>
          </a:prstGeom>
          <a:solidFill>
            <a:schemeClr val="accent1"/>
          </a:solidFill>
          <a:ln w="9525">
            <a:solidFill>
              <a:schemeClr val="tx1"/>
            </a:solidFill>
            <a:round/>
            <a:headEnd/>
            <a:tailEnd/>
          </a:ln>
          <a:effectLst/>
        </p:spPr>
        <p:txBody>
          <a:bodyPr anchor="ctr">
            <a:spAutoFit/>
          </a:bodyPr>
          <a:lstStyle/>
          <a:p>
            <a:pPr>
              <a:spcBef>
                <a:spcPct val="0"/>
              </a:spcBef>
              <a:buClrTx/>
              <a:buFontTx/>
              <a:buNone/>
            </a:pPr>
            <a:r>
              <a:rPr lang="en-GB" sz="2400">
                <a:latin typeface="Arial" pitchFamily="34" charset="0"/>
              </a:rPr>
              <a:t>Write paper</a:t>
            </a:r>
          </a:p>
        </p:txBody>
      </p:sp>
      <p:sp>
        <p:nvSpPr>
          <p:cNvPr id="181258" name="AutoShape 10"/>
          <p:cNvSpPr>
            <a:spLocks noChangeArrowheads="1"/>
          </p:cNvSpPr>
          <p:nvPr/>
        </p:nvSpPr>
        <p:spPr bwMode="auto">
          <a:xfrm>
            <a:off x="6886114" y="3575944"/>
            <a:ext cx="2073275" cy="508000"/>
          </a:xfrm>
          <a:prstGeom prst="roundRect">
            <a:avLst>
              <a:gd name="adj" fmla="val 16667"/>
            </a:avLst>
          </a:prstGeom>
          <a:solidFill>
            <a:schemeClr val="accent1"/>
          </a:solidFill>
          <a:ln w="9525">
            <a:solidFill>
              <a:schemeClr val="tx1"/>
            </a:solidFill>
            <a:round/>
            <a:headEnd/>
            <a:tailEnd/>
          </a:ln>
          <a:effectLst/>
        </p:spPr>
        <p:txBody>
          <a:bodyPr anchor="ctr">
            <a:spAutoFit/>
          </a:bodyPr>
          <a:lstStyle/>
          <a:p>
            <a:pPr>
              <a:spcBef>
                <a:spcPct val="0"/>
              </a:spcBef>
              <a:buClrTx/>
              <a:buFontTx/>
              <a:buNone/>
            </a:pPr>
            <a:r>
              <a:rPr lang="en-GB" sz="2400">
                <a:latin typeface="Arial" pitchFamily="34" charset="0"/>
              </a:rPr>
              <a:t>Do research</a:t>
            </a:r>
          </a:p>
        </p:txBody>
      </p:sp>
      <p:cxnSp>
        <p:nvCxnSpPr>
          <p:cNvPr id="181259" name="AutoShape 11"/>
          <p:cNvCxnSpPr>
            <a:cxnSpLocks noChangeShapeType="1"/>
            <a:stCxn id="181256" idx="3"/>
            <a:endCxn id="181257" idx="1"/>
          </p:cNvCxnSpPr>
          <p:nvPr/>
        </p:nvCxnSpPr>
        <p:spPr bwMode="auto">
          <a:xfrm>
            <a:off x="3392027" y="3829944"/>
            <a:ext cx="758825" cy="0"/>
          </a:xfrm>
          <a:prstGeom prst="straightConnector1">
            <a:avLst/>
          </a:prstGeom>
          <a:noFill/>
          <a:ln w="57150">
            <a:solidFill>
              <a:schemeClr val="tx1"/>
            </a:solidFill>
            <a:round/>
            <a:headEnd/>
            <a:tailEnd type="triangle" w="med" len="med"/>
          </a:ln>
          <a:effectLst/>
        </p:spPr>
      </p:cxnSp>
      <p:cxnSp>
        <p:nvCxnSpPr>
          <p:cNvPr id="181260" name="AutoShape 12"/>
          <p:cNvCxnSpPr>
            <a:cxnSpLocks noChangeShapeType="1"/>
            <a:stCxn id="181257" idx="3"/>
            <a:endCxn id="181258" idx="1"/>
          </p:cNvCxnSpPr>
          <p:nvPr/>
        </p:nvCxnSpPr>
        <p:spPr bwMode="auto">
          <a:xfrm>
            <a:off x="6062201" y="3829944"/>
            <a:ext cx="823912" cy="0"/>
          </a:xfrm>
          <a:prstGeom prst="straightConnector1">
            <a:avLst/>
          </a:prstGeom>
          <a:noFill/>
          <a:ln w="57150">
            <a:solidFill>
              <a:schemeClr val="tx1"/>
            </a:solidFill>
            <a:round/>
            <a:headEnd/>
            <a:tailEnd type="triangle" w="med" len="med"/>
          </a:ln>
          <a:effectLst/>
        </p:spPr>
      </p:cxnSp>
      <p:pic>
        <p:nvPicPr>
          <p:cNvPr id="181261" name="Picture 13" descr="4fjg4guh[1]"/>
          <p:cNvPicPr>
            <a:picLocks noChangeAspect="1" noChangeArrowheads="1"/>
          </p:cNvPicPr>
          <p:nvPr/>
        </p:nvPicPr>
        <p:blipFill>
          <a:blip r:embed="rId3" cstate="print"/>
          <a:srcRect/>
          <a:stretch>
            <a:fillRect/>
          </a:stretch>
        </p:blipFill>
        <p:spPr bwMode="auto">
          <a:xfrm>
            <a:off x="2495088" y="2101157"/>
            <a:ext cx="6192838" cy="1114425"/>
          </a:xfrm>
          <a:prstGeom prst="rect">
            <a:avLst/>
          </a:prstGeom>
          <a:noFill/>
        </p:spPr>
      </p:pic>
      <p:sp>
        <p:nvSpPr>
          <p:cNvPr id="181262" name="Rectangle 14"/>
          <p:cNvSpPr>
            <a:spLocks noGrp="1" noChangeArrowheads="1"/>
          </p:cNvSpPr>
          <p:nvPr>
            <p:ph type="body" idx="1"/>
          </p:nvPr>
        </p:nvSpPr>
        <p:spPr>
          <a:xfrm>
            <a:off x="838200" y="4670625"/>
            <a:ext cx="10515600" cy="2577206"/>
          </a:xfrm>
          <a:noFill/>
          <a:ln/>
        </p:spPr>
        <p:txBody>
          <a:bodyPr/>
          <a:lstStyle/>
          <a:p>
            <a:r>
              <a:rPr lang="en-GB" dirty="0"/>
              <a:t>Forces us to be clear, focused</a:t>
            </a:r>
          </a:p>
          <a:p>
            <a:r>
              <a:rPr lang="en-GB" dirty="0"/>
              <a:t>Crystallises what we don’t understand</a:t>
            </a:r>
          </a:p>
          <a:p>
            <a:r>
              <a:rPr lang="en-GB" dirty="0"/>
              <a:t>Opens the way to dialogue with others: reality check, critique, and collaboration</a:t>
            </a:r>
          </a:p>
        </p:txBody>
      </p:sp>
    </p:spTree>
    <p:extLst>
      <p:ext uri="{BB962C8B-B14F-4D97-AF65-F5344CB8AC3E}">
        <p14:creationId xmlns:p14="http://schemas.microsoft.com/office/powerpoint/2010/main" val="2264671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ChangeArrowheads="1"/>
          </p:cNvSpPr>
          <p:nvPr>
            <p:ph type="title"/>
          </p:nvPr>
        </p:nvSpPr>
        <p:spPr/>
        <p:txBody>
          <a:bodyPr/>
          <a:lstStyle/>
          <a:p>
            <a:r>
              <a:rPr lang="en-GB" dirty="0"/>
              <a:t>The scope of your paper</a:t>
            </a:r>
          </a:p>
        </p:txBody>
      </p:sp>
      <p:sp>
        <p:nvSpPr>
          <p:cNvPr id="305155" name="Rectangle 3"/>
          <p:cNvSpPr>
            <a:spLocks noGrp="1" noChangeArrowheads="1"/>
          </p:cNvSpPr>
          <p:nvPr>
            <p:ph type="body" idx="1"/>
          </p:nvPr>
        </p:nvSpPr>
        <p:spPr/>
        <p:txBody>
          <a:bodyPr>
            <a:normAutofit/>
          </a:bodyPr>
          <a:lstStyle/>
          <a:p>
            <a:pPr>
              <a:lnSpc>
                <a:spcPct val="90000"/>
              </a:lnSpc>
            </a:pPr>
            <a:r>
              <a:rPr lang="en-GB" sz="4000" dirty="0"/>
              <a:t>Your paper should have just one clear idea</a:t>
            </a:r>
          </a:p>
          <a:p>
            <a:pPr>
              <a:lnSpc>
                <a:spcPct val="90000"/>
              </a:lnSpc>
            </a:pPr>
            <a:r>
              <a:rPr lang="en-GB" sz="4000" dirty="0"/>
              <a:t>You may not know exactly what the idea is when you start writing; but you must know when you finish</a:t>
            </a:r>
          </a:p>
          <a:p>
            <a:pPr>
              <a:lnSpc>
                <a:spcPct val="90000"/>
              </a:lnSpc>
            </a:pPr>
            <a:r>
              <a:rPr lang="en-GB" sz="4000" dirty="0"/>
              <a:t>If you have more ideas, write more papers</a:t>
            </a:r>
          </a:p>
        </p:txBody>
      </p:sp>
    </p:spTree>
    <p:extLst>
      <p:ext uri="{BB962C8B-B14F-4D97-AF65-F5344CB8AC3E}">
        <p14:creationId xmlns:p14="http://schemas.microsoft.com/office/powerpoint/2010/main" val="3201954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GB" dirty="0"/>
              <a:t>Writing process tips</a:t>
            </a:r>
            <a:endParaRPr lang="en-US" dirty="0"/>
          </a:p>
        </p:txBody>
      </p:sp>
      <p:sp>
        <p:nvSpPr>
          <p:cNvPr id="3" name="Content Placeholder 2"/>
          <p:cNvSpPr>
            <a:spLocks noGrp="1"/>
          </p:cNvSpPr>
          <p:nvPr>
            <p:ph idx="1"/>
          </p:nvPr>
        </p:nvSpPr>
        <p:spPr/>
        <p:txBody>
          <a:bodyPr>
            <a:noAutofit/>
          </a:bodyPr>
          <a:lstStyle/>
          <a:p>
            <a:r>
              <a:rPr lang="en-GB" dirty="0"/>
              <a:t>Start early, quickly write your first draft (not a draft, but any draft). Don't be afraid to think before you write, or even jot down notes, diagrams, and so on</a:t>
            </a:r>
          </a:p>
          <a:p>
            <a:r>
              <a:rPr lang="en-GB" dirty="0"/>
              <a:t>Write in brief daily sessions</a:t>
            </a:r>
          </a:p>
          <a:p>
            <a:r>
              <a:rPr lang="en-GB" dirty="0"/>
              <a:t>Use index cards. Use them to plan a draft or to organize or reorganize a large unit like a section or chapter</a:t>
            </a:r>
          </a:p>
          <a:p>
            <a:r>
              <a:rPr lang="en-GB" dirty="0"/>
              <a:t>Don't worry about page limits. Write the paper you want, then cut it down to size</a:t>
            </a:r>
          </a:p>
          <a:p>
            <a:r>
              <a:rPr lang="en-GB" dirty="0"/>
              <a:t>Cut. Plan a revision session in which your only goal is to cut. </a:t>
            </a:r>
          </a:p>
          <a:p>
            <a:endParaRPr lang="en-US" dirty="0"/>
          </a:p>
        </p:txBody>
      </p:sp>
    </p:spTree>
    <p:extLst>
      <p:ext uri="{BB962C8B-B14F-4D97-AF65-F5344CB8AC3E}">
        <p14:creationId xmlns:p14="http://schemas.microsoft.com/office/powerpoint/2010/main" val="1294067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6AB9C-F3E4-4C7C-BCF2-F49AF9EADC8D}"/>
              </a:ext>
            </a:extLst>
          </p:cNvPr>
          <p:cNvSpPr>
            <a:spLocks noGrp="1"/>
          </p:cNvSpPr>
          <p:nvPr>
            <p:ph type="title"/>
          </p:nvPr>
        </p:nvSpPr>
        <p:spPr/>
        <p:txBody>
          <a:bodyPr/>
          <a:lstStyle/>
          <a:p>
            <a:r>
              <a:rPr lang="en-US" dirty="0"/>
              <a:t>Why write papers?</a:t>
            </a:r>
          </a:p>
        </p:txBody>
      </p:sp>
      <p:sp>
        <p:nvSpPr>
          <p:cNvPr id="3" name="Content Placeholder 2">
            <a:extLst>
              <a:ext uri="{FF2B5EF4-FFF2-40B4-BE49-F238E27FC236}">
                <a16:creationId xmlns:a16="http://schemas.microsoft.com/office/drawing/2014/main" id="{75DD2CF7-BB9A-46FF-A53A-B00FFBFCDB1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97998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ChangeArrowheads="1"/>
          </p:cNvSpPr>
          <p:nvPr>
            <p:ph type="title"/>
          </p:nvPr>
        </p:nvSpPr>
        <p:spPr/>
        <p:txBody>
          <a:bodyPr/>
          <a:lstStyle/>
          <a:p>
            <a:r>
              <a:rPr lang="en-US"/>
              <a:t>Paper writing is teaching</a:t>
            </a:r>
          </a:p>
        </p:txBody>
      </p:sp>
      <p:sp>
        <p:nvSpPr>
          <p:cNvPr id="314371" name="Rectangle 3"/>
          <p:cNvSpPr>
            <a:spLocks noGrp="1" noChangeArrowheads="1"/>
          </p:cNvSpPr>
          <p:nvPr>
            <p:ph type="body" idx="1"/>
          </p:nvPr>
        </p:nvSpPr>
        <p:spPr/>
        <p:txBody>
          <a:bodyPr>
            <a:normAutofit/>
          </a:bodyPr>
          <a:lstStyle/>
          <a:p>
            <a:r>
              <a:rPr lang="en-US" sz="3200" dirty="0"/>
              <a:t>It is useful to think that you are </a:t>
            </a:r>
            <a:r>
              <a:rPr lang="en-US" sz="3200" b="1" dirty="0">
                <a:solidFill>
                  <a:schemeClr val="folHlink"/>
                </a:solidFill>
              </a:rPr>
              <a:t>teaching</a:t>
            </a:r>
            <a:r>
              <a:rPr lang="en-US" sz="3200" dirty="0"/>
              <a:t> your reader your idea</a:t>
            </a:r>
            <a:endParaRPr lang="en-US" sz="1800" dirty="0"/>
          </a:p>
          <a:p>
            <a:pPr lvl="1"/>
            <a:r>
              <a:rPr lang="en-US" sz="2800" dirty="0"/>
              <a:t>What you did</a:t>
            </a:r>
          </a:p>
          <a:p>
            <a:pPr lvl="1"/>
            <a:r>
              <a:rPr lang="en-US" sz="2800" dirty="0"/>
              <a:t>Why it’s important</a:t>
            </a:r>
          </a:p>
          <a:p>
            <a:pPr lvl="1"/>
            <a:r>
              <a:rPr lang="en-US" sz="2800" dirty="0"/>
              <a:t>How it works</a:t>
            </a:r>
          </a:p>
          <a:p>
            <a:pPr lvl="1"/>
            <a:endParaRPr lang="en-US" sz="1600" dirty="0"/>
          </a:p>
          <a:p>
            <a:r>
              <a:rPr lang="en-US" sz="3200" dirty="0"/>
              <a:t>Well-written papers contribute more than just their described results</a:t>
            </a:r>
          </a:p>
          <a:p>
            <a:pPr lvl="1"/>
            <a:r>
              <a:rPr lang="en-US" sz="2800" dirty="0"/>
              <a:t>Readers understand the topic better </a:t>
            </a:r>
          </a:p>
        </p:txBody>
      </p:sp>
    </p:spTree>
    <p:extLst>
      <p:ext uri="{BB962C8B-B14F-4D97-AF65-F5344CB8AC3E}">
        <p14:creationId xmlns:p14="http://schemas.microsoft.com/office/powerpoint/2010/main" val="2767672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p:txBody>
          <a:bodyPr/>
          <a:lstStyle/>
          <a:p>
            <a:r>
              <a:rPr lang="en-GB"/>
              <a:t>Your narrative flow</a:t>
            </a:r>
          </a:p>
        </p:txBody>
      </p:sp>
      <p:sp>
        <p:nvSpPr>
          <p:cNvPr id="179203" name="Rectangle 3"/>
          <p:cNvSpPr>
            <a:spLocks noGrp="1" noChangeArrowheads="1"/>
          </p:cNvSpPr>
          <p:nvPr>
            <p:ph type="body" idx="1"/>
          </p:nvPr>
        </p:nvSpPr>
        <p:spPr/>
        <p:txBody>
          <a:bodyPr>
            <a:normAutofit/>
          </a:bodyPr>
          <a:lstStyle/>
          <a:p>
            <a:r>
              <a:rPr lang="en-GB" sz="3600" dirty="0"/>
              <a:t>Here is a problem</a:t>
            </a:r>
          </a:p>
          <a:p>
            <a:r>
              <a:rPr lang="en-GB" sz="3600" dirty="0"/>
              <a:t>It’s an interesting problem</a:t>
            </a:r>
          </a:p>
          <a:p>
            <a:r>
              <a:rPr lang="en-GB" sz="3600" dirty="0"/>
              <a:t>It’s an unsolved problem</a:t>
            </a:r>
          </a:p>
          <a:p>
            <a:r>
              <a:rPr lang="en-GB" sz="3600" b="1" dirty="0">
                <a:solidFill>
                  <a:schemeClr val="hlink"/>
                </a:solidFill>
              </a:rPr>
              <a:t>Here is my idea</a:t>
            </a:r>
          </a:p>
          <a:p>
            <a:r>
              <a:rPr lang="en-GB" sz="3600" dirty="0"/>
              <a:t>My idea works (details, data)</a:t>
            </a:r>
          </a:p>
          <a:p>
            <a:r>
              <a:rPr lang="en-GB" sz="3600" dirty="0"/>
              <a:t>Here’s how my idea compares to other people’s approaches</a:t>
            </a:r>
          </a:p>
        </p:txBody>
      </p:sp>
    </p:spTree>
    <p:extLst>
      <p:ext uri="{BB962C8B-B14F-4D97-AF65-F5344CB8AC3E}">
        <p14:creationId xmlns:p14="http://schemas.microsoft.com/office/powerpoint/2010/main" val="1699913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AF8F5-9BC2-4374-8034-E3B2B79FA92C}"/>
              </a:ext>
            </a:extLst>
          </p:cNvPr>
          <p:cNvSpPr>
            <a:spLocks noGrp="1"/>
          </p:cNvSpPr>
          <p:nvPr>
            <p:ph type="title"/>
          </p:nvPr>
        </p:nvSpPr>
        <p:spPr/>
        <p:txBody>
          <a:bodyPr/>
          <a:lstStyle/>
          <a:p>
            <a:r>
              <a:rPr lang="en-US" dirty="0"/>
              <a:t>Typical paper structure in computing science</a:t>
            </a:r>
          </a:p>
        </p:txBody>
      </p:sp>
      <p:sp>
        <p:nvSpPr>
          <p:cNvPr id="4" name="Content Placeholder 3">
            <a:extLst>
              <a:ext uri="{FF2B5EF4-FFF2-40B4-BE49-F238E27FC236}">
                <a16:creationId xmlns:a16="http://schemas.microsoft.com/office/drawing/2014/main" id="{8DAAFA2C-2495-4FDD-83CA-6D1ED2703DDD}"/>
              </a:ext>
            </a:extLst>
          </p:cNvPr>
          <p:cNvSpPr>
            <a:spLocks noGrp="1"/>
          </p:cNvSpPr>
          <p:nvPr>
            <p:ph idx="1"/>
          </p:nvPr>
        </p:nvSpPr>
        <p:spPr/>
        <p:txBody>
          <a:bodyPr>
            <a:normAutofit fontScale="92500" lnSpcReduction="20000"/>
          </a:bodyPr>
          <a:lstStyle/>
          <a:p>
            <a:pPr marL="0" indent="0">
              <a:buNone/>
            </a:pPr>
            <a:r>
              <a:rPr lang="en-US" dirty="0"/>
              <a:t>Title </a:t>
            </a:r>
            <a:r>
              <a:rPr lang="en-GB" dirty="0"/>
              <a:t>(~1000 readers)</a:t>
            </a:r>
            <a:endParaRPr lang="en-US" dirty="0"/>
          </a:p>
          <a:p>
            <a:pPr marL="0" indent="0">
              <a:buNone/>
            </a:pPr>
            <a:r>
              <a:rPr lang="en-US" dirty="0"/>
              <a:t>Abstract </a:t>
            </a:r>
            <a:r>
              <a:rPr lang="en-GB" dirty="0"/>
              <a:t>(~100 readers)</a:t>
            </a:r>
            <a:endParaRPr lang="en-US" dirty="0"/>
          </a:p>
          <a:p>
            <a:pPr marL="0" indent="0">
              <a:buNone/>
            </a:pPr>
            <a:r>
              <a:rPr lang="en-US" dirty="0"/>
              <a:t>Introduction </a:t>
            </a:r>
            <a:r>
              <a:rPr lang="en-GB" dirty="0"/>
              <a:t>(~100 readers)</a:t>
            </a:r>
            <a:endParaRPr lang="en-US" dirty="0"/>
          </a:p>
          <a:p>
            <a:pPr marL="0" indent="0">
              <a:buNone/>
            </a:pPr>
            <a:r>
              <a:rPr lang="en-US" dirty="0"/>
              <a:t>Related work* </a:t>
            </a:r>
            <a:r>
              <a:rPr lang="en-GB" dirty="0"/>
              <a:t>(~10 readers)</a:t>
            </a:r>
            <a:endParaRPr lang="en-US" dirty="0"/>
          </a:p>
          <a:p>
            <a:pPr marL="0" indent="0">
              <a:buNone/>
            </a:pPr>
            <a:r>
              <a:rPr lang="en-US" dirty="0"/>
              <a:t>Proposed design/system/method </a:t>
            </a:r>
            <a:r>
              <a:rPr lang="en-GB" dirty="0"/>
              <a:t>(~3 readers)</a:t>
            </a:r>
            <a:endParaRPr lang="en-US" dirty="0"/>
          </a:p>
          <a:p>
            <a:pPr marL="0" indent="0">
              <a:buNone/>
            </a:pPr>
            <a:r>
              <a:rPr lang="en-US" dirty="0"/>
              <a:t>Evaluation</a:t>
            </a:r>
          </a:p>
          <a:p>
            <a:pPr marL="0" indent="0">
              <a:buNone/>
            </a:pPr>
            <a:r>
              <a:rPr lang="en-US" dirty="0"/>
              <a:t>Discussion</a:t>
            </a:r>
          </a:p>
          <a:p>
            <a:pPr marL="0" indent="0">
              <a:buNone/>
            </a:pPr>
            <a:r>
              <a:rPr lang="en-US" dirty="0"/>
              <a:t>Related work* </a:t>
            </a:r>
          </a:p>
          <a:p>
            <a:pPr marL="0" indent="0">
              <a:buNone/>
            </a:pPr>
            <a:r>
              <a:rPr lang="en-US" dirty="0"/>
              <a:t>Conclusions &amp; Future work </a:t>
            </a:r>
          </a:p>
          <a:p>
            <a:pPr marL="0" indent="0">
              <a:buNone/>
            </a:pPr>
            <a:r>
              <a:rPr lang="en-US" dirty="0"/>
              <a:t>References </a:t>
            </a:r>
          </a:p>
        </p:txBody>
      </p:sp>
    </p:spTree>
    <p:extLst>
      <p:ext uri="{BB962C8B-B14F-4D97-AF65-F5344CB8AC3E}">
        <p14:creationId xmlns:p14="http://schemas.microsoft.com/office/powerpoint/2010/main" val="3613592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AF8F5-9BC2-4374-8034-E3B2B79FA92C}"/>
              </a:ext>
            </a:extLst>
          </p:cNvPr>
          <p:cNvSpPr>
            <a:spLocks noGrp="1"/>
          </p:cNvSpPr>
          <p:nvPr>
            <p:ph type="title"/>
          </p:nvPr>
        </p:nvSpPr>
        <p:spPr/>
        <p:txBody>
          <a:bodyPr/>
          <a:lstStyle/>
          <a:p>
            <a:r>
              <a:rPr lang="en-US" dirty="0"/>
              <a:t>Typical paper structure in computing science</a:t>
            </a:r>
          </a:p>
        </p:txBody>
      </p:sp>
      <p:sp>
        <p:nvSpPr>
          <p:cNvPr id="4" name="Content Placeholder 3">
            <a:extLst>
              <a:ext uri="{FF2B5EF4-FFF2-40B4-BE49-F238E27FC236}">
                <a16:creationId xmlns:a16="http://schemas.microsoft.com/office/drawing/2014/main" id="{8DAAFA2C-2495-4FDD-83CA-6D1ED2703DDD}"/>
              </a:ext>
            </a:extLst>
          </p:cNvPr>
          <p:cNvSpPr>
            <a:spLocks noGrp="1"/>
          </p:cNvSpPr>
          <p:nvPr>
            <p:ph sz="half" idx="1"/>
          </p:nvPr>
        </p:nvSpPr>
        <p:spPr/>
        <p:txBody>
          <a:bodyPr>
            <a:normAutofit lnSpcReduction="10000"/>
          </a:bodyPr>
          <a:lstStyle/>
          <a:p>
            <a:pPr marL="0" indent="0">
              <a:buNone/>
            </a:pPr>
            <a:r>
              <a:rPr lang="en-US" dirty="0">
                <a:solidFill>
                  <a:srgbClr val="FF0000"/>
                </a:solidFill>
              </a:rPr>
              <a:t>Abstract</a:t>
            </a:r>
            <a:r>
              <a:rPr lang="en-US" dirty="0"/>
              <a:t> </a:t>
            </a:r>
          </a:p>
          <a:p>
            <a:pPr marL="0" indent="0">
              <a:buNone/>
            </a:pPr>
            <a:r>
              <a:rPr lang="en-US" dirty="0"/>
              <a:t>Introduction </a:t>
            </a:r>
          </a:p>
          <a:p>
            <a:pPr marL="0" indent="0">
              <a:buNone/>
            </a:pPr>
            <a:r>
              <a:rPr lang="en-US" dirty="0"/>
              <a:t>Related work* </a:t>
            </a:r>
          </a:p>
          <a:p>
            <a:pPr marL="0" indent="0">
              <a:buNone/>
            </a:pPr>
            <a:r>
              <a:rPr lang="en-US" dirty="0"/>
              <a:t>Proposed design/system/method</a:t>
            </a:r>
          </a:p>
          <a:p>
            <a:pPr marL="0" indent="0">
              <a:buNone/>
            </a:pPr>
            <a:r>
              <a:rPr lang="en-US" dirty="0"/>
              <a:t>Evaluation</a:t>
            </a:r>
          </a:p>
          <a:p>
            <a:pPr marL="0" indent="0">
              <a:buNone/>
            </a:pPr>
            <a:r>
              <a:rPr lang="en-US" dirty="0"/>
              <a:t>Discussion</a:t>
            </a:r>
          </a:p>
          <a:p>
            <a:pPr marL="0" indent="0">
              <a:buNone/>
            </a:pPr>
            <a:r>
              <a:rPr lang="en-US" dirty="0"/>
              <a:t>Related work* </a:t>
            </a:r>
          </a:p>
          <a:p>
            <a:pPr marL="0" indent="0">
              <a:buNone/>
            </a:pPr>
            <a:r>
              <a:rPr lang="en-US" dirty="0"/>
              <a:t>Conclusions &amp; Future work </a:t>
            </a:r>
          </a:p>
          <a:p>
            <a:pPr marL="0" indent="0">
              <a:buNone/>
            </a:pPr>
            <a:r>
              <a:rPr lang="en-US" dirty="0"/>
              <a:t>References </a:t>
            </a:r>
          </a:p>
        </p:txBody>
      </p:sp>
      <p:sp>
        <p:nvSpPr>
          <p:cNvPr id="5" name="Content Placeholder 4">
            <a:extLst>
              <a:ext uri="{FF2B5EF4-FFF2-40B4-BE49-F238E27FC236}">
                <a16:creationId xmlns:a16="http://schemas.microsoft.com/office/drawing/2014/main" id="{915E73CA-89D2-4ACF-BB28-AAB0809E3BDF}"/>
              </a:ext>
            </a:extLst>
          </p:cNvPr>
          <p:cNvSpPr>
            <a:spLocks noGrp="1"/>
          </p:cNvSpPr>
          <p:nvPr>
            <p:ph sz="half" idx="2"/>
          </p:nvPr>
        </p:nvSpPr>
        <p:spPr/>
        <p:txBody>
          <a:bodyPr>
            <a:normAutofit lnSpcReduction="10000"/>
          </a:bodyPr>
          <a:lstStyle/>
          <a:p>
            <a:r>
              <a:rPr lang="en-GB" dirty="0">
                <a:solidFill>
                  <a:srgbClr val="FF0000"/>
                </a:solidFill>
              </a:rPr>
              <a:t>Content: </a:t>
            </a:r>
          </a:p>
          <a:p>
            <a:pPr lvl="1"/>
            <a:r>
              <a:rPr lang="en-GB" dirty="0"/>
              <a:t>Very short (~250 words) </a:t>
            </a:r>
          </a:p>
          <a:p>
            <a:pPr lvl="1"/>
            <a:r>
              <a:rPr lang="en-GB" dirty="0"/>
              <a:t>Brief description of purpose</a:t>
            </a:r>
          </a:p>
          <a:p>
            <a:pPr lvl="1"/>
            <a:r>
              <a:rPr lang="en-GB" dirty="0"/>
              <a:t>Highlight main results </a:t>
            </a:r>
          </a:p>
          <a:p>
            <a:r>
              <a:rPr lang="en-GB" dirty="0">
                <a:solidFill>
                  <a:srgbClr val="FF0000"/>
                </a:solidFill>
              </a:rPr>
              <a:t>Purpose: </a:t>
            </a:r>
          </a:p>
          <a:p>
            <a:pPr lvl="1"/>
            <a:r>
              <a:rPr lang="en-GB" dirty="0"/>
              <a:t>“Hook” the reader </a:t>
            </a:r>
          </a:p>
          <a:p>
            <a:pPr lvl="2"/>
            <a:r>
              <a:rPr lang="en-GB" dirty="0"/>
              <a:t>Why is this paper interesting?</a:t>
            </a:r>
          </a:p>
          <a:p>
            <a:pPr lvl="2"/>
            <a:r>
              <a:rPr lang="en-GB" dirty="0"/>
              <a:t>Why should I spend my time reading this? </a:t>
            </a:r>
          </a:p>
          <a:p>
            <a:pPr lvl="2"/>
            <a:r>
              <a:rPr lang="en-GB" dirty="0"/>
              <a:t>What do you claim to do? </a:t>
            </a:r>
          </a:p>
          <a:p>
            <a:pPr lvl="1"/>
            <a:r>
              <a:rPr lang="en-GB" dirty="0"/>
              <a:t>Set the stage for the paper </a:t>
            </a:r>
            <a:endParaRPr lang="en-US" dirty="0"/>
          </a:p>
        </p:txBody>
      </p:sp>
    </p:spTree>
    <p:extLst>
      <p:ext uri="{BB962C8B-B14F-4D97-AF65-F5344CB8AC3E}">
        <p14:creationId xmlns:p14="http://schemas.microsoft.com/office/powerpoint/2010/main" val="2471027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AF8F5-9BC2-4374-8034-E3B2B79FA92C}"/>
              </a:ext>
            </a:extLst>
          </p:cNvPr>
          <p:cNvSpPr>
            <a:spLocks noGrp="1"/>
          </p:cNvSpPr>
          <p:nvPr>
            <p:ph type="title"/>
          </p:nvPr>
        </p:nvSpPr>
        <p:spPr/>
        <p:txBody>
          <a:bodyPr/>
          <a:lstStyle/>
          <a:p>
            <a:r>
              <a:rPr lang="en-US" dirty="0"/>
              <a:t>Typical paper structure in computing science</a:t>
            </a:r>
          </a:p>
        </p:txBody>
      </p:sp>
      <p:sp>
        <p:nvSpPr>
          <p:cNvPr id="4" name="Content Placeholder 3">
            <a:extLst>
              <a:ext uri="{FF2B5EF4-FFF2-40B4-BE49-F238E27FC236}">
                <a16:creationId xmlns:a16="http://schemas.microsoft.com/office/drawing/2014/main" id="{8DAAFA2C-2495-4FDD-83CA-6D1ED2703DDD}"/>
              </a:ext>
            </a:extLst>
          </p:cNvPr>
          <p:cNvSpPr>
            <a:spLocks noGrp="1"/>
          </p:cNvSpPr>
          <p:nvPr>
            <p:ph sz="half" idx="1"/>
          </p:nvPr>
        </p:nvSpPr>
        <p:spPr/>
        <p:txBody>
          <a:bodyPr vert="horz" lIns="91440" tIns="45720" rIns="91440" bIns="45720" rtlCol="0">
            <a:normAutofit lnSpcReduction="10000"/>
          </a:bodyPr>
          <a:lstStyle/>
          <a:p>
            <a:pPr marL="0" indent="0">
              <a:buNone/>
            </a:pPr>
            <a:r>
              <a:rPr lang="en-US" dirty="0"/>
              <a:t>Abstract </a:t>
            </a:r>
          </a:p>
          <a:p>
            <a:pPr marL="0" indent="0">
              <a:buNone/>
            </a:pPr>
            <a:r>
              <a:rPr lang="en-US" dirty="0">
                <a:solidFill>
                  <a:srgbClr val="FF0000"/>
                </a:solidFill>
              </a:rPr>
              <a:t>Introduction </a:t>
            </a:r>
          </a:p>
          <a:p>
            <a:pPr marL="0" indent="0">
              <a:buNone/>
            </a:pPr>
            <a:r>
              <a:rPr lang="en-US" dirty="0"/>
              <a:t>Related work* </a:t>
            </a:r>
          </a:p>
          <a:p>
            <a:pPr marL="0" indent="0">
              <a:buNone/>
            </a:pPr>
            <a:r>
              <a:rPr lang="en-US" dirty="0"/>
              <a:t>Proposed design/system/method</a:t>
            </a:r>
          </a:p>
          <a:p>
            <a:pPr marL="0" indent="0">
              <a:buNone/>
            </a:pPr>
            <a:r>
              <a:rPr lang="en-US" dirty="0"/>
              <a:t>Evaluation</a:t>
            </a:r>
          </a:p>
          <a:p>
            <a:pPr marL="0" indent="0">
              <a:buNone/>
            </a:pPr>
            <a:r>
              <a:rPr lang="en-US" dirty="0"/>
              <a:t>Discussion</a:t>
            </a:r>
          </a:p>
          <a:p>
            <a:pPr marL="0" indent="0">
              <a:buNone/>
            </a:pPr>
            <a:r>
              <a:rPr lang="en-US" dirty="0"/>
              <a:t>Related work* </a:t>
            </a:r>
          </a:p>
          <a:p>
            <a:pPr marL="0" indent="0">
              <a:buNone/>
            </a:pPr>
            <a:r>
              <a:rPr lang="en-US" dirty="0"/>
              <a:t>Conclusions &amp; Future work </a:t>
            </a:r>
          </a:p>
          <a:p>
            <a:pPr marL="0" indent="0">
              <a:buNone/>
            </a:pPr>
            <a:r>
              <a:rPr lang="en-US" dirty="0"/>
              <a:t>References </a:t>
            </a:r>
          </a:p>
        </p:txBody>
      </p:sp>
      <p:sp>
        <p:nvSpPr>
          <p:cNvPr id="5" name="Content Placeholder 4">
            <a:extLst>
              <a:ext uri="{FF2B5EF4-FFF2-40B4-BE49-F238E27FC236}">
                <a16:creationId xmlns:a16="http://schemas.microsoft.com/office/drawing/2014/main" id="{915E73CA-89D2-4ACF-BB28-AAB0809E3BDF}"/>
              </a:ext>
            </a:extLst>
          </p:cNvPr>
          <p:cNvSpPr>
            <a:spLocks noGrp="1"/>
          </p:cNvSpPr>
          <p:nvPr>
            <p:ph sz="half" idx="2"/>
          </p:nvPr>
        </p:nvSpPr>
        <p:spPr/>
        <p:txBody>
          <a:bodyPr>
            <a:normAutofit fontScale="92500" lnSpcReduction="20000"/>
          </a:bodyPr>
          <a:lstStyle/>
          <a:p>
            <a:r>
              <a:rPr lang="en-GB" dirty="0">
                <a:solidFill>
                  <a:srgbClr val="FF0000"/>
                </a:solidFill>
              </a:rPr>
              <a:t>Content: </a:t>
            </a:r>
          </a:p>
          <a:p>
            <a:pPr lvl="1"/>
            <a:r>
              <a:rPr lang="en-GB" dirty="0"/>
              <a:t>Usually 1-1.5 pages </a:t>
            </a:r>
          </a:p>
          <a:p>
            <a:pPr lvl="1"/>
            <a:r>
              <a:rPr lang="en-GB" dirty="0"/>
              <a:t>Main elements </a:t>
            </a:r>
          </a:p>
          <a:p>
            <a:pPr lvl="2"/>
            <a:r>
              <a:rPr lang="en-GB" dirty="0"/>
              <a:t>What is the problem? </a:t>
            </a:r>
          </a:p>
          <a:p>
            <a:pPr lvl="2"/>
            <a:r>
              <a:rPr lang="en-GB" dirty="0"/>
              <a:t>Why is the state of the art insufficient? </a:t>
            </a:r>
          </a:p>
          <a:p>
            <a:pPr lvl="2"/>
            <a:r>
              <a:rPr lang="en-GB" dirty="0"/>
              <a:t>Overview of the solution </a:t>
            </a:r>
          </a:p>
          <a:p>
            <a:pPr lvl="2"/>
            <a:r>
              <a:rPr lang="en-GB" dirty="0"/>
              <a:t>Novel contributions of the work? </a:t>
            </a:r>
          </a:p>
          <a:p>
            <a:pPr lvl="2"/>
            <a:r>
              <a:rPr lang="en-GB" dirty="0"/>
              <a:t>How is impact evaluated? </a:t>
            </a:r>
          </a:p>
          <a:p>
            <a:pPr lvl="1"/>
            <a:r>
              <a:rPr lang="en-GB" dirty="0"/>
              <a:t>Balance content and conciseness! </a:t>
            </a:r>
          </a:p>
          <a:p>
            <a:r>
              <a:rPr lang="en-GB" dirty="0">
                <a:solidFill>
                  <a:srgbClr val="FF0000"/>
                </a:solidFill>
              </a:rPr>
              <a:t>Purpose:</a:t>
            </a:r>
            <a:r>
              <a:rPr lang="en-GB" dirty="0"/>
              <a:t> </a:t>
            </a:r>
          </a:p>
          <a:p>
            <a:pPr lvl="1"/>
            <a:r>
              <a:rPr lang="en-GB" dirty="0"/>
              <a:t>Motivate the work </a:t>
            </a:r>
          </a:p>
          <a:p>
            <a:pPr lvl="1"/>
            <a:r>
              <a:rPr lang="en-GB" dirty="0"/>
              <a:t>Inform the reader of what is to come </a:t>
            </a:r>
          </a:p>
          <a:p>
            <a:pPr lvl="1"/>
            <a:r>
              <a:rPr lang="en-GB" dirty="0"/>
              <a:t>Many reviewers will make their initial decisions after reading only the intro! </a:t>
            </a:r>
            <a:endParaRPr lang="en-US" dirty="0"/>
          </a:p>
        </p:txBody>
      </p:sp>
    </p:spTree>
    <p:extLst>
      <p:ext uri="{BB962C8B-B14F-4D97-AF65-F5344CB8AC3E}">
        <p14:creationId xmlns:p14="http://schemas.microsoft.com/office/powerpoint/2010/main" val="3110590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D483EBDE-B33D-48AB-947D-DFD05BB248EC}"/>
              </a:ext>
            </a:extLst>
          </p:cNvPr>
          <p:cNvSpPr>
            <a:spLocks noGrp="1" noChangeArrowheads="1"/>
          </p:cNvSpPr>
          <p:nvPr>
            <p:ph type="title"/>
          </p:nvPr>
        </p:nvSpPr>
        <p:spPr/>
        <p:txBody>
          <a:bodyPr/>
          <a:lstStyle/>
          <a:p>
            <a:r>
              <a:rPr lang="en-GB" altLang="en-US" dirty="0"/>
              <a:t>The introduction (1 page)</a:t>
            </a:r>
          </a:p>
        </p:txBody>
      </p:sp>
      <p:sp>
        <p:nvSpPr>
          <p:cNvPr id="165891" name="Rectangle 3">
            <a:extLst>
              <a:ext uri="{FF2B5EF4-FFF2-40B4-BE49-F238E27FC236}">
                <a16:creationId xmlns:a16="http://schemas.microsoft.com/office/drawing/2014/main" id="{EBF654A7-D5D0-4271-8068-A614859A035C}"/>
              </a:ext>
            </a:extLst>
          </p:cNvPr>
          <p:cNvSpPr>
            <a:spLocks noGrp="1" noChangeArrowheads="1"/>
          </p:cNvSpPr>
          <p:nvPr>
            <p:ph type="body" idx="1"/>
          </p:nvPr>
        </p:nvSpPr>
        <p:spPr>
          <a:xfrm>
            <a:off x="875489" y="1600200"/>
            <a:ext cx="9563911" cy="4997450"/>
          </a:xfrm>
        </p:spPr>
        <p:txBody>
          <a:bodyPr>
            <a:normAutofit/>
          </a:bodyPr>
          <a:lstStyle/>
          <a:p>
            <a:pPr marL="609600" indent="-609600">
              <a:buFont typeface="Arial" panose="020B0604020202020204" pitchFamily="34" charset="0"/>
              <a:buAutoNum type="arabicParenR"/>
            </a:pPr>
            <a:r>
              <a:rPr lang="en-GB" altLang="en-US" sz="3200" b="1" dirty="0">
                <a:solidFill>
                  <a:schemeClr val="hlink"/>
                </a:solidFill>
              </a:rPr>
              <a:t>Describe the problem</a:t>
            </a:r>
          </a:p>
          <a:p>
            <a:pPr marL="990600" lvl="1" indent="-533400">
              <a:buNone/>
            </a:pPr>
            <a:r>
              <a:rPr lang="en-GB" altLang="en-US" sz="2800" dirty="0"/>
              <a:t>What is the broader context?</a:t>
            </a:r>
          </a:p>
          <a:p>
            <a:pPr marL="990600" lvl="1" indent="-533400">
              <a:buNone/>
            </a:pPr>
            <a:r>
              <a:rPr lang="en-GB" altLang="en-US" sz="2800" dirty="0"/>
              <a:t>What is the particular problem?</a:t>
            </a:r>
          </a:p>
          <a:p>
            <a:pPr marL="990600" lvl="1" indent="-533400">
              <a:buNone/>
            </a:pPr>
            <a:r>
              <a:rPr lang="en-GB" altLang="en-US" sz="2800" dirty="0"/>
              <a:t>	- Why is it interesting?</a:t>
            </a:r>
          </a:p>
          <a:p>
            <a:pPr marL="609600" indent="-609600">
              <a:buFont typeface="Arial" panose="020B0604020202020204" pitchFamily="34" charset="0"/>
              <a:buAutoNum type="arabicParenR"/>
            </a:pPr>
            <a:r>
              <a:rPr lang="en-GB" altLang="en-US" sz="3200" b="1" dirty="0">
                <a:solidFill>
                  <a:schemeClr val="hlink"/>
                </a:solidFill>
              </a:rPr>
              <a:t>State your contributions</a:t>
            </a:r>
          </a:p>
          <a:p>
            <a:pPr marL="990600" lvl="1" indent="-533400">
              <a:buNone/>
            </a:pPr>
            <a:r>
              <a:rPr lang="en-GB" altLang="en-US" sz="2800" dirty="0"/>
              <a:t>What is new? (novelty)</a:t>
            </a:r>
          </a:p>
          <a:p>
            <a:pPr marL="990600" lvl="1" indent="-533400">
              <a:buNone/>
            </a:pPr>
            <a:r>
              <a:rPr lang="en-GB" altLang="en-US" sz="2800" dirty="0"/>
              <a:t>Why is it useful? (features of your solution)</a:t>
            </a:r>
          </a:p>
          <a:p>
            <a:pPr marL="990600" lvl="1" indent="-533400">
              <a:buNone/>
            </a:pPr>
            <a:r>
              <a:rPr lang="en-GB" altLang="en-US" sz="2800" dirty="0"/>
              <a:t>How do you know? (evaluation)</a:t>
            </a:r>
          </a:p>
          <a:p>
            <a:pPr marL="609600" indent="-609600">
              <a:buNone/>
            </a:pPr>
            <a:endParaRPr lang="en-GB" altLang="en-US" sz="1050" dirty="0"/>
          </a:p>
          <a:p>
            <a:pPr marL="609600" indent="-609600">
              <a:buNone/>
            </a:pPr>
            <a:r>
              <a:rPr lang="en-GB" altLang="en-US" sz="3200" dirty="0"/>
              <a:t>Assume reader is general attendee of target conference</a:t>
            </a:r>
          </a:p>
        </p:txBody>
      </p:sp>
    </p:spTree>
    <p:extLst>
      <p:ext uri="{BB962C8B-B14F-4D97-AF65-F5344CB8AC3E}">
        <p14:creationId xmlns:p14="http://schemas.microsoft.com/office/powerpoint/2010/main" val="1820700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93F3C2FE-35B5-491E-AA47-79F69C75BA52}"/>
              </a:ext>
            </a:extLst>
          </p:cNvPr>
          <p:cNvSpPr>
            <a:spLocks noGrp="1" noChangeArrowheads="1"/>
          </p:cNvSpPr>
          <p:nvPr>
            <p:ph type="title"/>
          </p:nvPr>
        </p:nvSpPr>
        <p:spPr/>
        <p:txBody>
          <a:bodyPr/>
          <a:lstStyle/>
          <a:p>
            <a:r>
              <a:rPr lang="en-GB" altLang="en-US"/>
              <a:t>Describe the problem</a:t>
            </a:r>
          </a:p>
        </p:txBody>
      </p:sp>
      <p:pic>
        <p:nvPicPr>
          <p:cNvPr id="188420" name="Picture 4">
            <a:extLst>
              <a:ext uri="{FF2B5EF4-FFF2-40B4-BE49-F238E27FC236}">
                <a16:creationId xmlns:a16="http://schemas.microsoft.com/office/drawing/2014/main" id="{2F6E5751-281B-4B29-8B50-4799A108F6A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762" t="9032" r="4089" b="25232"/>
          <a:stretch>
            <a:fillRect/>
          </a:stretch>
        </p:blipFill>
        <p:spPr bwMode="auto">
          <a:xfrm>
            <a:off x="1703389" y="1628775"/>
            <a:ext cx="6624637" cy="5037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8421" name="AutoShape 5">
            <a:extLst>
              <a:ext uri="{FF2B5EF4-FFF2-40B4-BE49-F238E27FC236}">
                <a16:creationId xmlns:a16="http://schemas.microsoft.com/office/drawing/2014/main" id="{1F0744D8-D297-4D0C-805E-9FBB50D0AFC6}"/>
              </a:ext>
            </a:extLst>
          </p:cNvPr>
          <p:cNvSpPr>
            <a:spLocks noChangeArrowheads="1"/>
          </p:cNvSpPr>
          <p:nvPr/>
        </p:nvSpPr>
        <p:spPr bwMode="auto">
          <a:xfrm>
            <a:off x="8401050" y="1700213"/>
            <a:ext cx="1944688" cy="2857500"/>
          </a:xfrm>
          <a:prstGeom prst="wedgeRoundRectCallout">
            <a:avLst>
              <a:gd name="adj1" fmla="val -96366"/>
              <a:gd name="adj2" fmla="val 30056"/>
              <a:gd name="adj3" fmla="val 16667"/>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0"/>
              </a:spcBef>
              <a:defRPr sz="2400">
                <a:solidFill>
                  <a:schemeClr val="tx1"/>
                </a:solidFill>
                <a:latin typeface="Arial" panose="020B0604020202020204" pitchFamily="34" charset="0"/>
              </a:defRPr>
            </a:lvl1pPr>
            <a:lvl2pPr marL="538163" algn="l">
              <a:spcBef>
                <a:spcPct val="0"/>
              </a:spcBef>
              <a:defRPr sz="2400">
                <a:solidFill>
                  <a:schemeClr val="tx1"/>
                </a:solidFill>
                <a:latin typeface="Arial" panose="020B0604020202020204" pitchFamily="34" charset="0"/>
              </a:defRPr>
            </a:lvl2pPr>
            <a:lvl3pPr algn="l">
              <a:spcBef>
                <a:spcPct val="0"/>
              </a:spcBef>
              <a:defRPr sz="2400">
                <a:solidFill>
                  <a:schemeClr val="tx1"/>
                </a:solidFill>
                <a:latin typeface="Arial" panose="020B0604020202020204" pitchFamily="34" charset="0"/>
              </a:defRPr>
            </a:lvl3pPr>
            <a:lvl4pPr algn="l">
              <a:spcBef>
                <a:spcPct val="0"/>
              </a:spcBef>
              <a:defRPr sz="2400">
                <a:solidFill>
                  <a:schemeClr val="tx1"/>
                </a:solidFill>
                <a:latin typeface="Arial" panose="020B0604020202020204" pitchFamily="34" charset="0"/>
              </a:defRPr>
            </a:lvl4pPr>
            <a:lvl5pPr algn="l">
              <a:spcBef>
                <a:spcPct val="0"/>
              </a:spcBef>
              <a:defRPr sz="2400">
                <a:solidFill>
                  <a:schemeClr val="tx1"/>
                </a:solidFill>
                <a:latin typeface="Arial" panose="020B0604020202020204" pitchFamily="34" charset="0"/>
              </a:defRPr>
            </a:lvl5pPr>
            <a:lvl6pPr fontAlgn="base">
              <a:spcBef>
                <a:spcPct val="0"/>
              </a:spcBef>
              <a:spcAft>
                <a:spcPct val="0"/>
              </a:spcAft>
              <a:defRPr sz="2400">
                <a:solidFill>
                  <a:schemeClr val="tx1"/>
                </a:solidFill>
                <a:latin typeface="Arial" panose="020B0604020202020204" pitchFamily="34" charset="0"/>
              </a:defRPr>
            </a:lvl6pPr>
            <a:lvl7pPr fontAlgn="base">
              <a:spcBef>
                <a:spcPct val="0"/>
              </a:spcBef>
              <a:spcAft>
                <a:spcPct val="0"/>
              </a:spcAft>
              <a:defRPr sz="2400">
                <a:solidFill>
                  <a:schemeClr val="tx1"/>
                </a:solidFill>
                <a:latin typeface="Arial" panose="020B0604020202020204" pitchFamily="34" charset="0"/>
              </a:defRPr>
            </a:lvl7pPr>
            <a:lvl8pPr fontAlgn="base">
              <a:spcBef>
                <a:spcPct val="0"/>
              </a:spcBef>
              <a:spcAft>
                <a:spcPct val="0"/>
              </a:spcAft>
              <a:defRPr sz="2400">
                <a:solidFill>
                  <a:schemeClr val="tx1"/>
                </a:solidFill>
                <a:latin typeface="Arial" panose="020B0604020202020204" pitchFamily="34" charset="0"/>
              </a:defRPr>
            </a:lvl8pPr>
            <a:lvl9pPr fontAlgn="base">
              <a:spcBef>
                <a:spcPct val="0"/>
              </a:spcBef>
              <a:spcAft>
                <a:spcPct val="0"/>
              </a:spcAft>
              <a:defRPr sz="2400">
                <a:solidFill>
                  <a:schemeClr val="tx1"/>
                </a:solidFill>
                <a:latin typeface="Arial" panose="020B0604020202020204" pitchFamily="34" charset="0"/>
              </a:defRPr>
            </a:lvl9pPr>
          </a:lstStyle>
          <a:p>
            <a:pPr algn="ctr">
              <a:spcBef>
                <a:spcPct val="40000"/>
              </a:spcBef>
            </a:pPr>
            <a:r>
              <a:rPr lang="en-GB" altLang="en-US" sz="2800">
                <a:latin typeface="Comic Sans MS" panose="030F0702030302020204" pitchFamily="66" charset="0"/>
              </a:rPr>
              <a:t>Use an example to introduce the problem</a:t>
            </a:r>
          </a:p>
        </p:txBody>
      </p:sp>
    </p:spTree>
    <p:extLst>
      <p:ext uri="{BB962C8B-B14F-4D97-AF65-F5344CB8AC3E}">
        <p14:creationId xmlns:p14="http://schemas.microsoft.com/office/powerpoint/2010/main" val="3802354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a:extLst>
              <a:ext uri="{FF2B5EF4-FFF2-40B4-BE49-F238E27FC236}">
                <a16:creationId xmlns:a16="http://schemas.microsoft.com/office/drawing/2014/main" id="{CF4BD682-92F3-4501-B77E-E5C37301791C}"/>
              </a:ext>
            </a:extLst>
          </p:cNvPr>
          <p:cNvSpPr>
            <a:spLocks noGrp="1" noChangeArrowheads="1"/>
          </p:cNvSpPr>
          <p:nvPr>
            <p:ph type="title"/>
          </p:nvPr>
        </p:nvSpPr>
        <p:spPr/>
        <p:txBody>
          <a:bodyPr/>
          <a:lstStyle/>
          <a:p>
            <a:r>
              <a:rPr lang="en-GB" altLang="en-US"/>
              <a:t>State your contributions</a:t>
            </a:r>
          </a:p>
        </p:txBody>
      </p:sp>
      <p:sp>
        <p:nvSpPr>
          <p:cNvPr id="193539" name="Rectangle 3">
            <a:extLst>
              <a:ext uri="{FF2B5EF4-FFF2-40B4-BE49-F238E27FC236}">
                <a16:creationId xmlns:a16="http://schemas.microsoft.com/office/drawing/2014/main" id="{0B6CAB30-3C58-4993-8982-29A2AF7B78B3}"/>
              </a:ext>
            </a:extLst>
          </p:cNvPr>
          <p:cNvSpPr>
            <a:spLocks noGrp="1" noChangeArrowheads="1"/>
          </p:cNvSpPr>
          <p:nvPr>
            <p:ph type="body" idx="1"/>
          </p:nvPr>
        </p:nvSpPr>
        <p:spPr>
          <a:xfrm>
            <a:off x="894945" y="1600200"/>
            <a:ext cx="9544455" cy="4997450"/>
          </a:xfrm>
        </p:spPr>
        <p:txBody>
          <a:bodyPr>
            <a:normAutofit/>
          </a:bodyPr>
          <a:lstStyle/>
          <a:p>
            <a:pPr marL="609600" indent="-609600"/>
            <a:r>
              <a:rPr lang="en-GB" altLang="en-US" sz="3600" dirty="0"/>
              <a:t>Write the list of contributions first</a:t>
            </a:r>
          </a:p>
          <a:p>
            <a:pPr marL="609600" indent="-609600"/>
            <a:r>
              <a:rPr lang="en-GB" altLang="en-US" sz="3600" dirty="0">
                <a:solidFill>
                  <a:schemeClr val="hlink"/>
                </a:solidFill>
              </a:rPr>
              <a:t>The list of contributions drives the entire paper</a:t>
            </a:r>
            <a:r>
              <a:rPr lang="en-GB" altLang="en-US" sz="3600" dirty="0"/>
              <a:t>: the paper substantiates the claims you have made</a:t>
            </a:r>
          </a:p>
        </p:txBody>
      </p:sp>
    </p:spTree>
    <p:extLst>
      <p:ext uri="{BB962C8B-B14F-4D97-AF65-F5344CB8AC3E}">
        <p14:creationId xmlns:p14="http://schemas.microsoft.com/office/powerpoint/2010/main" val="3804754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a:extLst>
              <a:ext uri="{FF2B5EF4-FFF2-40B4-BE49-F238E27FC236}">
                <a16:creationId xmlns:a16="http://schemas.microsoft.com/office/drawing/2014/main" id="{5945FCB7-E8A0-4D26-888E-C78FBF27D36F}"/>
              </a:ext>
            </a:extLst>
          </p:cNvPr>
          <p:cNvSpPr>
            <a:spLocks noGrp="1" noChangeArrowheads="1"/>
          </p:cNvSpPr>
          <p:nvPr>
            <p:ph type="title"/>
          </p:nvPr>
        </p:nvSpPr>
        <p:spPr/>
        <p:txBody>
          <a:bodyPr/>
          <a:lstStyle/>
          <a:p>
            <a:r>
              <a:rPr lang="en-GB" altLang="en-US"/>
              <a:t>State your contributions</a:t>
            </a:r>
          </a:p>
        </p:txBody>
      </p:sp>
      <p:sp>
        <p:nvSpPr>
          <p:cNvPr id="189444" name="AutoShape 4">
            <a:extLst>
              <a:ext uri="{FF2B5EF4-FFF2-40B4-BE49-F238E27FC236}">
                <a16:creationId xmlns:a16="http://schemas.microsoft.com/office/drawing/2014/main" id="{FD130A73-F0CE-4AFD-AE59-2FBCA466E800}"/>
              </a:ext>
            </a:extLst>
          </p:cNvPr>
          <p:cNvSpPr>
            <a:spLocks noChangeArrowheads="1"/>
          </p:cNvSpPr>
          <p:nvPr/>
        </p:nvSpPr>
        <p:spPr bwMode="auto">
          <a:xfrm>
            <a:off x="7824789" y="1700213"/>
            <a:ext cx="2663825" cy="1532334"/>
          </a:xfrm>
          <a:prstGeom prst="wedgeRoundRectCallout">
            <a:avLst>
              <a:gd name="adj1" fmla="val -82120"/>
              <a:gd name="adj2" fmla="val 85630"/>
              <a:gd name="adj3" fmla="val 16667"/>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0"/>
              </a:spcBef>
              <a:defRPr sz="2400">
                <a:solidFill>
                  <a:schemeClr val="tx1"/>
                </a:solidFill>
                <a:latin typeface="Arial" panose="020B0604020202020204" pitchFamily="34" charset="0"/>
              </a:defRPr>
            </a:lvl1pPr>
            <a:lvl2pPr marL="538163" algn="l">
              <a:spcBef>
                <a:spcPct val="0"/>
              </a:spcBef>
              <a:defRPr sz="2400">
                <a:solidFill>
                  <a:schemeClr val="tx1"/>
                </a:solidFill>
                <a:latin typeface="Arial" panose="020B0604020202020204" pitchFamily="34" charset="0"/>
              </a:defRPr>
            </a:lvl2pPr>
            <a:lvl3pPr algn="l">
              <a:spcBef>
                <a:spcPct val="0"/>
              </a:spcBef>
              <a:defRPr sz="2400">
                <a:solidFill>
                  <a:schemeClr val="tx1"/>
                </a:solidFill>
                <a:latin typeface="Arial" panose="020B0604020202020204" pitchFamily="34" charset="0"/>
              </a:defRPr>
            </a:lvl3pPr>
            <a:lvl4pPr algn="l">
              <a:spcBef>
                <a:spcPct val="0"/>
              </a:spcBef>
              <a:defRPr sz="2400">
                <a:solidFill>
                  <a:schemeClr val="tx1"/>
                </a:solidFill>
                <a:latin typeface="Arial" panose="020B0604020202020204" pitchFamily="34" charset="0"/>
              </a:defRPr>
            </a:lvl4pPr>
            <a:lvl5pPr algn="l">
              <a:spcBef>
                <a:spcPct val="0"/>
              </a:spcBef>
              <a:defRPr sz="2400">
                <a:solidFill>
                  <a:schemeClr val="tx1"/>
                </a:solidFill>
                <a:latin typeface="Arial" panose="020B0604020202020204" pitchFamily="34" charset="0"/>
              </a:defRPr>
            </a:lvl5pPr>
            <a:lvl6pPr fontAlgn="base">
              <a:spcBef>
                <a:spcPct val="0"/>
              </a:spcBef>
              <a:spcAft>
                <a:spcPct val="0"/>
              </a:spcAft>
              <a:defRPr sz="2400">
                <a:solidFill>
                  <a:schemeClr val="tx1"/>
                </a:solidFill>
                <a:latin typeface="Arial" panose="020B0604020202020204" pitchFamily="34" charset="0"/>
              </a:defRPr>
            </a:lvl6pPr>
            <a:lvl7pPr fontAlgn="base">
              <a:spcBef>
                <a:spcPct val="0"/>
              </a:spcBef>
              <a:spcAft>
                <a:spcPct val="0"/>
              </a:spcAft>
              <a:defRPr sz="2400">
                <a:solidFill>
                  <a:schemeClr val="tx1"/>
                </a:solidFill>
                <a:latin typeface="Arial" panose="020B0604020202020204" pitchFamily="34" charset="0"/>
              </a:defRPr>
            </a:lvl7pPr>
            <a:lvl8pPr fontAlgn="base">
              <a:spcBef>
                <a:spcPct val="0"/>
              </a:spcBef>
              <a:spcAft>
                <a:spcPct val="0"/>
              </a:spcAft>
              <a:defRPr sz="2400">
                <a:solidFill>
                  <a:schemeClr val="tx1"/>
                </a:solidFill>
                <a:latin typeface="Arial" panose="020B0604020202020204" pitchFamily="34" charset="0"/>
              </a:defRPr>
            </a:lvl8pPr>
            <a:lvl9pPr fontAlgn="base">
              <a:spcBef>
                <a:spcPct val="0"/>
              </a:spcBef>
              <a:spcAft>
                <a:spcPct val="0"/>
              </a:spcAft>
              <a:defRPr sz="2400">
                <a:solidFill>
                  <a:schemeClr val="tx1"/>
                </a:solidFill>
                <a:latin typeface="Arial" panose="020B0604020202020204" pitchFamily="34" charset="0"/>
              </a:defRPr>
            </a:lvl9pPr>
          </a:lstStyle>
          <a:p>
            <a:pPr algn="ctr">
              <a:spcBef>
                <a:spcPct val="40000"/>
              </a:spcBef>
            </a:pPr>
            <a:r>
              <a:rPr lang="en-GB" altLang="en-US" sz="2800">
                <a:latin typeface="Comic Sans MS" panose="030F0702030302020204" pitchFamily="66" charset="0"/>
              </a:rPr>
              <a:t>Bulleted list of contributions</a:t>
            </a:r>
          </a:p>
        </p:txBody>
      </p:sp>
      <p:pic>
        <p:nvPicPr>
          <p:cNvPr id="189445" name="Picture 5">
            <a:extLst>
              <a:ext uri="{FF2B5EF4-FFF2-40B4-BE49-F238E27FC236}">
                <a16:creationId xmlns:a16="http://schemas.microsoft.com/office/drawing/2014/main" id="{E1CE6423-779B-4012-AA50-7F4FB4AF01D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670" t="8080" r="5432" b="10793"/>
          <a:stretch>
            <a:fillRect/>
          </a:stretch>
        </p:blipFill>
        <p:spPr bwMode="auto">
          <a:xfrm>
            <a:off x="1847851" y="1700214"/>
            <a:ext cx="5256213" cy="477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9446" name="Text Box 6">
            <a:extLst>
              <a:ext uri="{FF2B5EF4-FFF2-40B4-BE49-F238E27FC236}">
                <a16:creationId xmlns:a16="http://schemas.microsoft.com/office/drawing/2014/main" id="{2327F162-13EA-46C3-904D-FA3D8F49AFD7}"/>
              </a:ext>
            </a:extLst>
          </p:cNvPr>
          <p:cNvSpPr txBox="1">
            <a:spLocks noChangeArrowheads="1"/>
          </p:cNvSpPr>
          <p:nvPr/>
        </p:nvSpPr>
        <p:spPr bwMode="auto">
          <a:xfrm>
            <a:off x="7319964" y="4724400"/>
            <a:ext cx="296068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a:t>Do not leave the reader to guess what your contributions are!</a:t>
            </a:r>
          </a:p>
        </p:txBody>
      </p:sp>
    </p:spTree>
    <p:extLst>
      <p:ext uri="{BB962C8B-B14F-4D97-AF65-F5344CB8AC3E}">
        <p14:creationId xmlns:p14="http://schemas.microsoft.com/office/powerpoint/2010/main" val="3297935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a:extLst>
              <a:ext uri="{FF2B5EF4-FFF2-40B4-BE49-F238E27FC236}">
                <a16:creationId xmlns:a16="http://schemas.microsoft.com/office/drawing/2014/main" id="{F049C88D-248C-4DD8-BADB-E66D60A89AFA}"/>
              </a:ext>
            </a:extLst>
          </p:cNvPr>
          <p:cNvSpPr>
            <a:spLocks noGrp="1" noChangeArrowheads="1"/>
          </p:cNvSpPr>
          <p:nvPr>
            <p:ph type="title"/>
          </p:nvPr>
        </p:nvSpPr>
        <p:spPr/>
        <p:txBody>
          <a:bodyPr/>
          <a:lstStyle/>
          <a:p>
            <a:r>
              <a:rPr lang="en-US" altLang="en-US"/>
              <a:t>Lengthening the introduction</a:t>
            </a:r>
          </a:p>
        </p:txBody>
      </p:sp>
      <p:sp>
        <p:nvSpPr>
          <p:cNvPr id="336899" name="Rectangle 3">
            <a:extLst>
              <a:ext uri="{FF2B5EF4-FFF2-40B4-BE49-F238E27FC236}">
                <a16:creationId xmlns:a16="http://schemas.microsoft.com/office/drawing/2014/main" id="{4F3F7566-246D-4C28-B145-144435BF8951}"/>
              </a:ext>
            </a:extLst>
          </p:cNvPr>
          <p:cNvSpPr>
            <a:spLocks noGrp="1" noChangeArrowheads="1"/>
          </p:cNvSpPr>
          <p:nvPr>
            <p:ph type="body" idx="1"/>
          </p:nvPr>
        </p:nvSpPr>
        <p:spPr/>
        <p:txBody>
          <a:bodyPr>
            <a:normAutofit/>
          </a:bodyPr>
          <a:lstStyle/>
          <a:p>
            <a:r>
              <a:rPr lang="en-US" altLang="en-US" sz="3600" dirty="0"/>
              <a:t>The introduction can be viewed a capsule of the entire paper</a:t>
            </a:r>
          </a:p>
          <a:p>
            <a:pPr lvl="1"/>
            <a:r>
              <a:rPr lang="en-US" altLang="en-US" sz="3200" dirty="0"/>
              <a:t>The context, the problem, your idea, and its evaluation</a:t>
            </a:r>
          </a:p>
          <a:p>
            <a:r>
              <a:rPr lang="en-US" altLang="en-US" sz="3600" dirty="0"/>
              <a:t>You could shorten or avoid the </a:t>
            </a:r>
            <a:r>
              <a:rPr lang="en-US" altLang="en-US" sz="3600" i="1" dirty="0"/>
              <a:t>problem</a:t>
            </a:r>
            <a:r>
              <a:rPr lang="en-US" altLang="en-US" sz="3600" dirty="0"/>
              <a:t> and </a:t>
            </a:r>
            <a:r>
              <a:rPr lang="en-US" altLang="en-US" sz="3600" i="1" dirty="0"/>
              <a:t>idea</a:t>
            </a:r>
            <a:r>
              <a:rPr lang="en-US" altLang="en-US" sz="3600" dirty="0"/>
              <a:t> sections and have a longer intro</a:t>
            </a:r>
          </a:p>
          <a:p>
            <a:pPr lvl="1"/>
            <a:r>
              <a:rPr lang="en-US" altLang="en-US" sz="3200" dirty="0"/>
              <a:t>E.g., they are subsections of the intro</a:t>
            </a:r>
          </a:p>
          <a:p>
            <a:pPr lvl="1"/>
            <a:r>
              <a:rPr lang="en-US" altLang="en-US" sz="3200" dirty="0"/>
              <a:t>But beware of taking too long to get to the point; reader will get frustrated</a:t>
            </a:r>
          </a:p>
        </p:txBody>
      </p:sp>
    </p:spTree>
    <p:extLst>
      <p:ext uri="{BB962C8B-B14F-4D97-AF65-F5344CB8AC3E}">
        <p14:creationId xmlns:p14="http://schemas.microsoft.com/office/powerpoint/2010/main" val="2552127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AF8F5-9BC2-4374-8034-E3B2B79FA92C}"/>
              </a:ext>
            </a:extLst>
          </p:cNvPr>
          <p:cNvSpPr>
            <a:spLocks noGrp="1"/>
          </p:cNvSpPr>
          <p:nvPr>
            <p:ph type="title"/>
          </p:nvPr>
        </p:nvSpPr>
        <p:spPr/>
        <p:txBody>
          <a:bodyPr/>
          <a:lstStyle/>
          <a:p>
            <a:r>
              <a:rPr lang="en-US" dirty="0"/>
              <a:t>Typical paper structure in computing science</a:t>
            </a:r>
          </a:p>
        </p:txBody>
      </p:sp>
      <p:sp>
        <p:nvSpPr>
          <p:cNvPr id="4" name="Content Placeholder 3">
            <a:extLst>
              <a:ext uri="{FF2B5EF4-FFF2-40B4-BE49-F238E27FC236}">
                <a16:creationId xmlns:a16="http://schemas.microsoft.com/office/drawing/2014/main" id="{8DAAFA2C-2495-4FDD-83CA-6D1ED2703DDD}"/>
              </a:ext>
            </a:extLst>
          </p:cNvPr>
          <p:cNvSpPr>
            <a:spLocks noGrp="1"/>
          </p:cNvSpPr>
          <p:nvPr>
            <p:ph sz="half" idx="1"/>
          </p:nvPr>
        </p:nvSpPr>
        <p:spPr/>
        <p:txBody>
          <a:bodyPr>
            <a:normAutofit lnSpcReduction="10000"/>
          </a:bodyPr>
          <a:lstStyle/>
          <a:p>
            <a:pPr marL="0" indent="0">
              <a:buNone/>
            </a:pPr>
            <a:r>
              <a:rPr lang="en-US" dirty="0"/>
              <a:t>Abstract </a:t>
            </a:r>
          </a:p>
          <a:p>
            <a:pPr marL="0" indent="0">
              <a:buNone/>
            </a:pPr>
            <a:r>
              <a:rPr lang="en-US" dirty="0"/>
              <a:t>Introduction </a:t>
            </a:r>
          </a:p>
          <a:p>
            <a:pPr marL="0" indent="0">
              <a:buNone/>
            </a:pPr>
            <a:r>
              <a:rPr lang="en-US" dirty="0">
                <a:solidFill>
                  <a:srgbClr val="FF0000"/>
                </a:solidFill>
              </a:rPr>
              <a:t>Related work* </a:t>
            </a:r>
          </a:p>
          <a:p>
            <a:pPr marL="0" indent="0">
              <a:buNone/>
            </a:pPr>
            <a:r>
              <a:rPr lang="en-US" dirty="0"/>
              <a:t>Proposed design/system/method</a:t>
            </a:r>
          </a:p>
          <a:p>
            <a:pPr marL="0" indent="0">
              <a:buNone/>
            </a:pPr>
            <a:r>
              <a:rPr lang="en-US" dirty="0"/>
              <a:t>Evaluation</a:t>
            </a:r>
          </a:p>
          <a:p>
            <a:pPr marL="0" indent="0">
              <a:buNone/>
            </a:pPr>
            <a:r>
              <a:rPr lang="en-US" dirty="0"/>
              <a:t>Discussion</a:t>
            </a:r>
          </a:p>
          <a:p>
            <a:pPr marL="0" indent="0">
              <a:buNone/>
            </a:pPr>
            <a:r>
              <a:rPr lang="en-US" dirty="0">
                <a:solidFill>
                  <a:srgbClr val="FF0000"/>
                </a:solidFill>
              </a:rPr>
              <a:t>Related work* </a:t>
            </a:r>
          </a:p>
          <a:p>
            <a:pPr marL="0" indent="0">
              <a:buNone/>
            </a:pPr>
            <a:r>
              <a:rPr lang="en-US" dirty="0"/>
              <a:t>Conclusions &amp; Future work </a:t>
            </a:r>
          </a:p>
          <a:p>
            <a:pPr marL="0" indent="0">
              <a:buNone/>
            </a:pPr>
            <a:r>
              <a:rPr lang="en-US" dirty="0"/>
              <a:t>References </a:t>
            </a:r>
          </a:p>
        </p:txBody>
      </p:sp>
      <p:sp>
        <p:nvSpPr>
          <p:cNvPr id="5" name="Content Placeholder 4">
            <a:extLst>
              <a:ext uri="{FF2B5EF4-FFF2-40B4-BE49-F238E27FC236}">
                <a16:creationId xmlns:a16="http://schemas.microsoft.com/office/drawing/2014/main" id="{915E73CA-89D2-4ACF-BB28-AAB0809E3BDF}"/>
              </a:ext>
            </a:extLst>
          </p:cNvPr>
          <p:cNvSpPr>
            <a:spLocks noGrp="1"/>
          </p:cNvSpPr>
          <p:nvPr>
            <p:ph sz="half" idx="2"/>
          </p:nvPr>
        </p:nvSpPr>
        <p:spPr/>
        <p:txBody>
          <a:bodyPr>
            <a:normAutofit lnSpcReduction="10000"/>
          </a:bodyPr>
          <a:lstStyle/>
          <a:p>
            <a:r>
              <a:rPr lang="en-GB" dirty="0">
                <a:solidFill>
                  <a:srgbClr val="FF0000"/>
                </a:solidFill>
              </a:rPr>
              <a:t>Content: </a:t>
            </a:r>
          </a:p>
          <a:p>
            <a:pPr lvl="1"/>
            <a:r>
              <a:rPr lang="en-GB" dirty="0"/>
              <a:t>Overview of past research/results </a:t>
            </a:r>
          </a:p>
          <a:p>
            <a:pPr lvl="1"/>
            <a:r>
              <a:rPr lang="en-GB" dirty="0"/>
              <a:t>Comparison to claimed contributions </a:t>
            </a:r>
          </a:p>
          <a:p>
            <a:pPr lvl="1"/>
            <a:r>
              <a:rPr lang="en-GB" dirty="0"/>
              <a:t>Not a book report! </a:t>
            </a:r>
          </a:p>
          <a:p>
            <a:r>
              <a:rPr lang="en-GB" dirty="0">
                <a:solidFill>
                  <a:srgbClr val="FF0000"/>
                </a:solidFill>
              </a:rPr>
              <a:t>Purpose:</a:t>
            </a:r>
            <a:r>
              <a:rPr lang="en-GB" dirty="0"/>
              <a:t> </a:t>
            </a:r>
          </a:p>
          <a:p>
            <a:pPr lvl="1"/>
            <a:r>
              <a:rPr lang="en-GB" dirty="0"/>
              <a:t>Motivate the work (How?) </a:t>
            </a:r>
          </a:p>
          <a:p>
            <a:pPr lvl="1"/>
            <a:r>
              <a:rPr lang="en-GB" dirty="0"/>
              <a:t>Inform the reader that you are aware of prior results </a:t>
            </a:r>
          </a:p>
          <a:p>
            <a:pPr lvl="1"/>
            <a:r>
              <a:rPr lang="en-GB" dirty="0"/>
              <a:t>Clearly demonstrate the novelty in your approach </a:t>
            </a:r>
            <a:endParaRPr lang="en-US" dirty="0"/>
          </a:p>
        </p:txBody>
      </p:sp>
      <p:sp>
        <p:nvSpPr>
          <p:cNvPr id="3" name="Rectangle 2">
            <a:extLst>
              <a:ext uri="{FF2B5EF4-FFF2-40B4-BE49-F238E27FC236}">
                <a16:creationId xmlns:a16="http://schemas.microsoft.com/office/drawing/2014/main" id="{AF341ED5-7D18-455A-BBB4-BC82BB9C4A2B}"/>
              </a:ext>
            </a:extLst>
          </p:cNvPr>
          <p:cNvSpPr/>
          <p:nvPr/>
        </p:nvSpPr>
        <p:spPr>
          <a:xfrm>
            <a:off x="4962698" y="5850235"/>
            <a:ext cx="6391102" cy="923330"/>
          </a:xfrm>
          <a:prstGeom prst="rect">
            <a:avLst/>
          </a:prstGeom>
        </p:spPr>
        <p:txBody>
          <a:bodyPr wrap="square">
            <a:spAutoFit/>
          </a:bodyPr>
          <a:lstStyle/>
          <a:p>
            <a:r>
              <a:rPr lang="en-US" dirty="0">
                <a:solidFill>
                  <a:srgbClr val="00B050"/>
                </a:solidFill>
              </a:rPr>
              <a:t>Note: Related work may occur at the beginning or end of a paper </a:t>
            </a:r>
          </a:p>
          <a:p>
            <a:r>
              <a:rPr lang="en-US" dirty="0">
                <a:solidFill>
                  <a:srgbClr val="00B050"/>
                </a:solidFill>
              </a:rPr>
              <a:t>- Beginning:  Prior work is necessary for understanding this paper </a:t>
            </a:r>
          </a:p>
          <a:p>
            <a:r>
              <a:rPr lang="en-US" dirty="0">
                <a:solidFill>
                  <a:srgbClr val="00B050"/>
                </a:solidFill>
              </a:rPr>
              <a:t>- End:  Prior work is only tangentially related </a:t>
            </a:r>
          </a:p>
        </p:txBody>
      </p:sp>
    </p:spTree>
    <p:extLst>
      <p:ext uri="{BB962C8B-B14F-4D97-AF65-F5344CB8AC3E}">
        <p14:creationId xmlns:p14="http://schemas.microsoft.com/office/powerpoint/2010/main" val="1194767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AF8F5-9BC2-4374-8034-E3B2B79FA92C}"/>
              </a:ext>
            </a:extLst>
          </p:cNvPr>
          <p:cNvSpPr>
            <a:spLocks noGrp="1"/>
          </p:cNvSpPr>
          <p:nvPr>
            <p:ph type="title"/>
          </p:nvPr>
        </p:nvSpPr>
        <p:spPr/>
        <p:txBody>
          <a:bodyPr/>
          <a:lstStyle/>
          <a:p>
            <a:r>
              <a:rPr lang="en-US" dirty="0"/>
              <a:t>Typical paper structure in computing science</a:t>
            </a:r>
          </a:p>
        </p:txBody>
      </p:sp>
      <p:sp>
        <p:nvSpPr>
          <p:cNvPr id="4" name="Content Placeholder 3">
            <a:extLst>
              <a:ext uri="{FF2B5EF4-FFF2-40B4-BE49-F238E27FC236}">
                <a16:creationId xmlns:a16="http://schemas.microsoft.com/office/drawing/2014/main" id="{8DAAFA2C-2495-4FDD-83CA-6D1ED2703DDD}"/>
              </a:ext>
            </a:extLst>
          </p:cNvPr>
          <p:cNvSpPr>
            <a:spLocks noGrp="1"/>
          </p:cNvSpPr>
          <p:nvPr>
            <p:ph sz="half" idx="1"/>
          </p:nvPr>
        </p:nvSpPr>
        <p:spPr/>
        <p:txBody>
          <a:bodyPr vert="horz" lIns="91440" tIns="45720" rIns="91440" bIns="45720" rtlCol="0">
            <a:normAutofit lnSpcReduction="10000"/>
          </a:bodyPr>
          <a:lstStyle/>
          <a:p>
            <a:pPr marL="0" indent="0">
              <a:buNone/>
            </a:pPr>
            <a:r>
              <a:rPr lang="en-US" dirty="0"/>
              <a:t>Abstract </a:t>
            </a:r>
          </a:p>
          <a:p>
            <a:pPr marL="0" indent="0">
              <a:buNone/>
            </a:pPr>
            <a:r>
              <a:rPr lang="en-US" dirty="0"/>
              <a:t>Introduction </a:t>
            </a:r>
          </a:p>
          <a:p>
            <a:pPr marL="0" indent="0">
              <a:buNone/>
            </a:pPr>
            <a:r>
              <a:rPr lang="en-US" dirty="0"/>
              <a:t>Related work* </a:t>
            </a:r>
          </a:p>
          <a:p>
            <a:pPr marL="0" indent="0">
              <a:buNone/>
            </a:pPr>
            <a:r>
              <a:rPr lang="en-US" dirty="0">
                <a:solidFill>
                  <a:srgbClr val="FF0000"/>
                </a:solidFill>
              </a:rPr>
              <a:t>Proposed design/system/method</a:t>
            </a:r>
          </a:p>
          <a:p>
            <a:pPr marL="0" indent="0">
              <a:buNone/>
            </a:pPr>
            <a:r>
              <a:rPr lang="en-US" dirty="0"/>
              <a:t>Evaluation</a:t>
            </a:r>
          </a:p>
          <a:p>
            <a:pPr marL="0" indent="0">
              <a:buNone/>
            </a:pPr>
            <a:r>
              <a:rPr lang="en-US" dirty="0"/>
              <a:t>Discussion</a:t>
            </a:r>
          </a:p>
          <a:p>
            <a:pPr marL="0" indent="0">
              <a:buNone/>
            </a:pPr>
            <a:r>
              <a:rPr lang="en-US" dirty="0"/>
              <a:t>Related work* </a:t>
            </a:r>
          </a:p>
          <a:p>
            <a:pPr marL="0" indent="0">
              <a:buNone/>
            </a:pPr>
            <a:r>
              <a:rPr lang="en-US" dirty="0"/>
              <a:t>Conclusions &amp; Future work </a:t>
            </a:r>
          </a:p>
          <a:p>
            <a:pPr marL="0" indent="0">
              <a:buNone/>
            </a:pPr>
            <a:r>
              <a:rPr lang="en-US" dirty="0"/>
              <a:t>References </a:t>
            </a:r>
          </a:p>
        </p:txBody>
      </p:sp>
      <p:sp>
        <p:nvSpPr>
          <p:cNvPr id="5" name="Content Placeholder 4">
            <a:extLst>
              <a:ext uri="{FF2B5EF4-FFF2-40B4-BE49-F238E27FC236}">
                <a16:creationId xmlns:a16="http://schemas.microsoft.com/office/drawing/2014/main" id="{915E73CA-89D2-4ACF-BB28-AAB0809E3BDF}"/>
              </a:ext>
            </a:extLst>
          </p:cNvPr>
          <p:cNvSpPr>
            <a:spLocks noGrp="1"/>
          </p:cNvSpPr>
          <p:nvPr>
            <p:ph sz="half" idx="2"/>
          </p:nvPr>
        </p:nvSpPr>
        <p:spPr>
          <a:xfrm>
            <a:off x="6172200" y="1825625"/>
            <a:ext cx="5181600" cy="4351338"/>
          </a:xfrm>
        </p:spPr>
        <p:txBody>
          <a:bodyPr>
            <a:normAutofit fontScale="92500" lnSpcReduction="10000"/>
          </a:bodyPr>
          <a:lstStyle/>
          <a:p>
            <a:r>
              <a:rPr lang="en-GB" dirty="0">
                <a:solidFill>
                  <a:srgbClr val="FF0000"/>
                </a:solidFill>
              </a:rPr>
              <a:t>Content: </a:t>
            </a:r>
          </a:p>
          <a:p>
            <a:pPr lvl="1"/>
            <a:r>
              <a:rPr lang="en-GB" dirty="0"/>
              <a:t>Maybe more than one section… </a:t>
            </a:r>
          </a:p>
          <a:p>
            <a:pPr lvl="2"/>
            <a:r>
              <a:rPr lang="en-GB" dirty="0"/>
              <a:t>Requirements, Design </a:t>
            </a:r>
          </a:p>
          <a:p>
            <a:pPr lvl="2"/>
            <a:r>
              <a:rPr lang="en-GB" dirty="0"/>
              <a:t>Syntax, Semantics, Enforcement </a:t>
            </a:r>
          </a:p>
          <a:p>
            <a:pPr lvl="2"/>
            <a:r>
              <a:rPr lang="en-GB" dirty="0"/>
              <a:t>Design, Implementation </a:t>
            </a:r>
          </a:p>
          <a:p>
            <a:pPr lvl="2"/>
            <a:r>
              <a:rPr lang="en-GB" dirty="0"/>
              <a:t>… </a:t>
            </a:r>
          </a:p>
          <a:p>
            <a:pPr lvl="1"/>
            <a:r>
              <a:rPr lang="en-GB" dirty="0"/>
              <a:t>This is the novel content of a paper </a:t>
            </a:r>
          </a:p>
          <a:p>
            <a:r>
              <a:rPr lang="en-GB" dirty="0">
                <a:solidFill>
                  <a:srgbClr val="FF0000"/>
                </a:solidFill>
              </a:rPr>
              <a:t>Purpose: </a:t>
            </a:r>
          </a:p>
          <a:p>
            <a:pPr lvl="1"/>
            <a:r>
              <a:rPr lang="en-GB" dirty="0"/>
              <a:t>Proposal of original idea(s) </a:t>
            </a:r>
          </a:p>
          <a:p>
            <a:pPr lvl="1"/>
            <a:r>
              <a:rPr lang="en-GB" dirty="0"/>
              <a:t>This is the authors’ contribution! </a:t>
            </a:r>
          </a:p>
          <a:p>
            <a:pPr lvl="1"/>
            <a:r>
              <a:rPr lang="en-GB" dirty="0"/>
              <a:t>Should be detailed enough for others to replicate the work (in theory) </a:t>
            </a:r>
            <a:endParaRPr lang="en-US" dirty="0"/>
          </a:p>
        </p:txBody>
      </p:sp>
    </p:spTree>
    <p:extLst>
      <p:ext uri="{BB962C8B-B14F-4D97-AF65-F5344CB8AC3E}">
        <p14:creationId xmlns:p14="http://schemas.microsoft.com/office/powerpoint/2010/main" val="1604712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p:txBody>
          <a:bodyPr/>
          <a:lstStyle/>
          <a:p>
            <a:r>
              <a:rPr lang="en-GB"/>
              <a:t>Presenting the idea</a:t>
            </a:r>
          </a:p>
        </p:txBody>
      </p:sp>
      <p:sp>
        <p:nvSpPr>
          <p:cNvPr id="303107" name="Text Box 3"/>
          <p:cNvSpPr txBox="1">
            <a:spLocks noChangeArrowheads="1"/>
          </p:cNvSpPr>
          <p:nvPr/>
        </p:nvSpPr>
        <p:spPr bwMode="auto">
          <a:xfrm>
            <a:off x="1102785" y="1557338"/>
            <a:ext cx="9215967" cy="1569660"/>
          </a:xfrm>
          <a:prstGeom prst="rect">
            <a:avLst/>
          </a:prstGeom>
          <a:solidFill>
            <a:srgbClr val="CCECFF"/>
          </a:solidFill>
          <a:ln w="9525" algn="ctr">
            <a:noFill/>
            <a:miter lim="800000"/>
            <a:headEnd/>
            <a:tailEnd/>
          </a:ln>
          <a:effectLst/>
        </p:spPr>
        <p:txBody>
          <a:bodyPr>
            <a:spAutoFit/>
          </a:bodyPr>
          <a:lstStyle/>
          <a:p>
            <a:pPr algn="l"/>
            <a:r>
              <a:rPr lang="en-GB" sz="2400" b="1" dirty="0"/>
              <a:t>3. The idea</a:t>
            </a:r>
          </a:p>
          <a:p>
            <a:pPr algn="l"/>
            <a:r>
              <a:rPr lang="en-GB" sz="2400" dirty="0"/>
              <a:t>Consider a </a:t>
            </a:r>
            <a:r>
              <a:rPr lang="en-GB" sz="2400" dirty="0" err="1"/>
              <a:t>bifircuated</a:t>
            </a:r>
            <a:r>
              <a:rPr lang="en-GB" sz="2400" dirty="0"/>
              <a:t> semi-lattice D, over a hyper-modulated signature S.  Suppose p</a:t>
            </a:r>
            <a:r>
              <a:rPr lang="en-GB" sz="2400" baseline="-25000" dirty="0"/>
              <a:t>i  </a:t>
            </a:r>
            <a:r>
              <a:rPr lang="en-GB" sz="2400" dirty="0"/>
              <a:t>is an element of D.  Then we know for every such p</a:t>
            </a:r>
            <a:r>
              <a:rPr lang="en-GB" sz="2400" baseline="-25000" dirty="0"/>
              <a:t>i</a:t>
            </a:r>
            <a:r>
              <a:rPr lang="en-GB" sz="2400" dirty="0"/>
              <a:t> there is an </a:t>
            </a:r>
            <a:r>
              <a:rPr lang="en-GB" sz="2400" dirty="0" err="1"/>
              <a:t>epi</a:t>
            </a:r>
            <a:r>
              <a:rPr lang="en-GB" sz="2400" dirty="0"/>
              <a:t>-modulus j, such that </a:t>
            </a:r>
            <a:r>
              <a:rPr lang="en-GB" sz="2400" dirty="0" err="1"/>
              <a:t>p</a:t>
            </a:r>
            <a:r>
              <a:rPr lang="en-GB" sz="2400" baseline="-25000" dirty="0" err="1"/>
              <a:t>j</a:t>
            </a:r>
            <a:r>
              <a:rPr lang="en-GB" sz="2400" dirty="0"/>
              <a:t> &lt; p</a:t>
            </a:r>
            <a:r>
              <a:rPr lang="en-GB" sz="2400" baseline="-25000" dirty="0"/>
              <a:t>i</a:t>
            </a:r>
            <a:r>
              <a:rPr lang="en-GB" sz="2400" dirty="0"/>
              <a:t>.</a:t>
            </a:r>
          </a:p>
        </p:txBody>
      </p:sp>
      <p:sp>
        <p:nvSpPr>
          <p:cNvPr id="303108" name="Text Box 4"/>
          <p:cNvSpPr txBox="1">
            <a:spLocks noChangeArrowheads="1"/>
          </p:cNvSpPr>
          <p:nvPr/>
        </p:nvSpPr>
        <p:spPr bwMode="auto">
          <a:xfrm>
            <a:off x="1007534" y="3716339"/>
            <a:ext cx="10265833" cy="1815882"/>
          </a:xfrm>
          <a:prstGeom prst="rect">
            <a:avLst/>
          </a:prstGeom>
          <a:noFill/>
          <a:ln w="9525" algn="ctr">
            <a:noFill/>
            <a:miter lim="800000"/>
            <a:headEnd/>
            <a:tailEnd/>
          </a:ln>
          <a:effectLst/>
        </p:spPr>
        <p:txBody>
          <a:bodyPr>
            <a:spAutoFit/>
          </a:bodyPr>
          <a:lstStyle/>
          <a:p>
            <a:pPr marL="266700" indent="-266700" algn="l">
              <a:buFont typeface="Wingdings" pitchFamily="2" charset="2"/>
              <a:buChar char="§"/>
            </a:pPr>
            <a:r>
              <a:rPr lang="en-GB" sz="2800"/>
              <a:t>Sounds impressive...but</a:t>
            </a:r>
          </a:p>
          <a:p>
            <a:pPr marL="266700" indent="-266700" algn="l">
              <a:buFont typeface="Wingdings" pitchFamily="2" charset="2"/>
              <a:buChar char="§"/>
            </a:pPr>
            <a:r>
              <a:rPr lang="en-GB" sz="2800"/>
              <a:t>Sends readers to sleep</a:t>
            </a:r>
          </a:p>
          <a:p>
            <a:pPr marL="266700" indent="-266700" algn="l">
              <a:buFont typeface="Wingdings" pitchFamily="2" charset="2"/>
              <a:buChar char="§"/>
            </a:pPr>
            <a:r>
              <a:rPr lang="en-GB" sz="2800"/>
              <a:t>In a paper you MUST provide the details, </a:t>
            </a:r>
            <a:br>
              <a:rPr lang="en-GB" sz="2800"/>
            </a:br>
            <a:r>
              <a:rPr lang="en-GB" sz="2800"/>
              <a:t>but FIRST convey the idea</a:t>
            </a:r>
          </a:p>
        </p:txBody>
      </p:sp>
    </p:spTree>
    <p:extLst>
      <p:ext uri="{BB962C8B-B14F-4D97-AF65-F5344CB8AC3E}">
        <p14:creationId xmlns:p14="http://schemas.microsoft.com/office/powerpoint/2010/main" val="20412430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r>
              <a:rPr lang="en-GB"/>
              <a:t>Presenting the idea</a:t>
            </a:r>
          </a:p>
        </p:txBody>
      </p:sp>
      <p:sp>
        <p:nvSpPr>
          <p:cNvPr id="203779" name="Rectangle 3"/>
          <p:cNvSpPr>
            <a:spLocks noGrp="1" noChangeArrowheads="1"/>
          </p:cNvSpPr>
          <p:nvPr>
            <p:ph type="body" idx="1"/>
          </p:nvPr>
        </p:nvSpPr>
        <p:spPr>
          <a:xfrm>
            <a:off x="914400" y="1600201"/>
            <a:ext cx="10972800" cy="4924425"/>
          </a:xfrm>
        </p:spPr>
        <p:txBody>
          <a:bodyPr>
            <a:normAutofit/>
          </a:bodyPr>
          <a:lstStyle/>
          <a:p>
            <a:r>
              <a:rPr lang="en-GB" sz="3600" dirty="0"/>
              <a:t>Explain it as if you were speaking to someone using a whiteboard</a:t>
            </a:r>
          </a:p>
          <a:p>
            <a:r>
              <a:rPr lang="en-GB" sz="3600" b="1" dirty="0">
                <a:solidFill>
                  <a:schemeClr val="hlink"/>
                </a:solidFill>
              </a:rPr>
              <a:t>Conveying the intuition is primary</a:t>
            </a:r>
            <a:r>
              <a:rPr lang="en-GB" sz="3600" dirty="0"/>
              <a:t>, not secondary</a:t>
            </a:r>
          </a:p>
          <a:p>
            <a:r>
              <a:rPr lang="en-GB" sz="3600" dirty="0"/>
              <a:t>Once your readers have the intuition, they can follow the details (but not vice versa)</a:t>
            </a:r>
          </a:p>
          <a:p>
            <a:r>
              <a:rPr lang="en-GB" sz="3600" dirty="0"/>
              <a:t>Even if they skips the details, she still takes away something valuable</a:t>
            </a:r>
          </a:p>
        </p:txBody>
      </p:sp>
    </p:spTree>
    <p:extLst>
      <p:ext uri="{BB962C8B-B14F-4D97-AF65-F5344CB8AC3E}">
        <p14:creationId xmlns:p14="http://schemas.microsoft.com/office/powerpoint/2010/main" val="3868532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AF8F5-9BC2-4374-8034-E3B2B79FA92C}"/>
              </a:ext>
            </a:extLst>
          </p:cNvPr>
          <p:cNvSpPr>
            <a:spLocks noGrp="1"/>
          </p:cNvSpPr>
          <p:nvPr>
            <p:ph type="title"/>
          </p:nvPr>
        </p:nvSpPr>
        <p:spPr/>
        <p:txBody>
          <a:bodyPr/>
          <a:lstStyle/>
          <a:p>
            <a:r>
              <a:rPr lang="en-US" dirty="0"/>
              <a:t>Typical paper structure in computing science</a:t>
            </a:r>
          </a:p>
        </p:txBody>
      </p:sp>
      <p:sp>
        <p:nvSpPr>
          <p:cNvPr id="4" name="Content Placeholder 3">
            <a:extLst>
              <a:ext uri="{FF2B5EF4-FFF2-40B4-BE49-F238E27FC236}">
                <a16:creationId xmlns:a16="http://schemas.microsoft.com/office/drawing/2014/main" id="{8DAAFA2C-2495-4FDD-83CA-6D1ED2703DDD}"/>
              </a:ext>
            </a:extLst>
          </p:cNvPr>
          <p:cNvSpPr>
            <a:spLocks noGrp="1"/>
          </p:cNvSpPr>
          <p:nvPr>
            <p:ph sz="half" idx="1"/>
          </p:nvPr>
        </p:nvSpPr>
        <p:spPr/>
        <p:txBody>
          <a:bodyPr>
            <a:normAutofit lnSpcReduction="10000"/>
          </a:bodyPr>
          <a:lstStyle/>
          <a:p>
            <a:pPr marL="0" indent="0">
              <a:buNone/>
            </a:pPr>
            <a:r>
              <a:rPr lang="en-US" dirty="0"/>
              <a:t>Abstract </a:t>
            </a:r>
          </a:p>
          <a:p>
            <a:pPr marL="0" indent="0">
              <a:buNone/>
            </a:pPr>
            <a:r>
              <a:rPr lang="en-US" dirty="0"/>
              <a:t>Introduction </a:t>
            </a:r>
          </a:p>
          <a:p>
            <a:pPr marL="0" indent="0">
              <a:buNone/>
            </a:pPr>
            <a:r>
              <a:rPr lang="en-US" dirty="0"/>
              <a:t>Related work* </a:t>
            </a:r>
          </a:p>
          <a:p>
            <a:pPr marL="0" indent="0">
              <a:buNone/>
            </a:pPr>
            <a:r>
              <a:rPr lang="en-US" dirty="0"/>
              <a:t>Proposed design/system/method</a:t>
            </a:r>
          </a:p>
          <a:p>
            <a:pPr marL="0" indent="0">
              <a:buNone/>
            </a:pPr>
            <a:r>
              <a:rPr lang="en-US" dirty="0">
                <a:solidFill>
                  <a:srgbClr val="FF0000"/>
                </a:solidFill>
              </a:rPr>
              <a:t>Evaluation</a:t>
            </a:r>
          </a:p>
          <a:p>
            <a:pPr marL="0" indent="0">
              <a:buNone/>
            </a:pPr>
            <a:r>
              <a:rPr lang="en-US" dirty="0"/>
              <a:t>Discussion</a:t>
            </a:r>
          </a:p>
          <a:p>
            <a:pPr marL="0" indent="0">
              <a:buNone/>
            </a:pPr>
            <a:r>
              <a:rPr lang="en-US" dirty="0"/>
              <a:t>Related work* </a:t>
            </a:r>
          </a:p>
          <a:p>
            <a:pPr marL="0" indent="0">
              <a:buNone/>
            </a:pPr>
            <a:r>
              <a:rPr lang="en-US" dirty="0"/>
              <a:t>Conclusions &amp; Future work </a:t>
            </a:r>
          </a:p>
          <a:p>
            <a:pPr marL="0" indent="0">
              <a:buNone/>
            </a:pPr>
            <a:r>
              <a:rPr lang="en-US" dirty="0"/>
              <a:t>References </a:t>
            </a:r>
          </a:p>
        </p:txBody>
      </p:sp>
      <p:sp>
        <p:nvSpPr>
          <p:cNvPr id="5" name="Content Placeholder 4">
            <a:extLst>
              <a:ext uri="{FF2B5EF4-FFF2-40B4-BE49-F238E27FC236}">
                <a16:creationId xmlns:a16="http://schemas.microsoft.com/office/drawing/2014/main" id="{915E73CA-89D2-4ACF-BB28-AAB0809E3BDF}"/>
              </a:ext>
            </a:extLst>
          </p:cNvPr>
          <p:cNvSpPr>
            <a:spLocks noGrp="1"/>
          </p:cNvSpPr>
          <p:nvPr>
            <p:ph sz="half" idx="2"/>
          </p:nvPr>
        </p:nvSpPr>
        <p:spPr/>
        <p:txBody>
          <a:bodyPr>
            <a:normAutofit lnSpcReduction="10000"/>
          </a:bodyPr>
          <a:lstStyle/>
          <a:p>
            <a:r>
              <a:rPr lang="en-GB" dirty="0">
                <a:solidFill>
                  <a:srgbClr val="FF0000"/>
                </a:solidFill>
              </a:rPr>
              <a:t>Content: </a:t>
            </a:r>
          </a:p>
          <a:p>
            <a:pPr lvl="1"/>
            <a:r>
              <a:rPr lang="en-GB" dirty="0"/>
              <a:t>Could be any number of things </a:t>
            </a:r>
          </a:p>
          <a:p>
            <a:pPr lvl="2"/>
            <a:r>
              <a:rPr lang="en-GB" dirty="0"/>
              <a:t>Performance measurements </a:t>
            </a:r>
          </a:p>
          <a:p>
            <a:pPr lvl="2"/>
            <a:r>
              <a:rPr lang="en-GB" dirty="0"/>
              <a:t>Simulation results </a:t>
            </a:r>
          </a:p>
          <a:p>
            <a:pPr lvl="2"/>
            <a:r>
              <a:rPr lang="en-GB" dirty="0"/>
              <a:t>Analysis of user study data </a:t>
            </a:r>
          </a:p>
          <a:p>
            <a:pPr lvl="2"/>
            <a:r>
              <a:rPr lang="en-GB" dirty="0"/>
              <a:t>Formal proofs</a:t>
            </a:r>
          </a:p>
          <a:p>
            <a:pPr lvl="2"/>
            <a:r>
              <a:rPr lang="en-GB" dirty="0"/>
              <a:t>… </a:t>
            </a:r>
          </a:p>
          <a:p>
            <a:r>
              <a:rPr lang="en-GB" dirty="0">
                <a:solidFill>
                  <a:srgbClr val="FF0000"/>
                </a:solidFill>
              </a:rPr>
              <a:t>Purpose: </a:t>
            </a:r>
            <a:r>
              <a:rPr lang="en-GB" dirty="0"/>
              <a:t>“Prove” that the stated contributions are meaningful </a:t>
            </a:r>
            <a:endParaRPr lang="en-US" dirty="0"/>
          </a:p>
        </p:txBody>
      </p:sp>
    </p:spTree>
    <p:extLst>
      <p:ext uri="{BB962C8B-B14F-4D97-AF65-F5344CB8AC3E}">
        <p14:creationId xmlns:p14="http://schemas.microsoft.com/office/powerpoint/2010/main" val="1229888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p:txBody>
          <a:bodyPr/>
          <a:lstStyle/>
          <a:p>
            <a:r>
              <a:rPr lang="en-GB"/>
              <a:t>The details: evidence	</a:t>
            </a:r>
          </a:p>
        </p:txBody>
      </p:sp>
      <p:sp>
        <p:nvSpPr>
          <p:cNvPr id="208899" name="Rectangle 3"/>
          <p:cNvSpPr>
            <a:spLocks noGrp="1" noChangeArrowheads="1"/>
          </p:cNvSpPr>
          <p:nvPr>
            <p:ph type="body" idx="1"/>
          </p:nvPr>
        </p:nvSpPr>
        <p:spPr/>
        <p:txBody>
          <a:bodyPr>
            <a:normAutofit/>
          </a:bodyPr>
          <a:lstStyle/>
          <a:p>
            <a:pPr>
              <a:lnSpc>
                <a:spcPct val="90000"/>
              </a:lnSpc>
              <a:spcBef>
                <a:spcPct val="40000"/>
              </a:spcBef>
            </a:pPr>
            <a:r>
              <a:rPr lang="en-GB" sz="3600" dirty="0"/>
              <a:t>Your introduction makes claims</a:t>
            </a:r>
          </a:p>
          <a:p>
            <a:pPr>
              <a:lnSpc>
                <a:spcPct val="90000"/>
              </a:lnSpc>
              <a:spcBef>
                <a:spcPct val="40000"/>
              </a:spcBef>
            </a:pPr>
            <a:r>
              <a:rPr lang="en-GB" sz="3600" dirty="0"/>
              <a:t>The body of the paper provides </a:t>
            </a:r>
            <a:r>
              <a:rPr lang="en-GB" sz="3600" b="1" dirty="0">
                <a:solidFill>
                  <a:schemeClr val="hlink"/>
                </a:solidFill>
              </a:rPr>
              <a:t>evidence to support each claim</a:t>
            </a:r>
          </a:p>
          <a:p>
            <a:pPr>
              <a:lnSpc>
                <a:spcPct val="90000"/>
              </a:lnSpc>
              <a:spcBef>
                <a:spcPct val="40000"/>
              </a:spcBef>
            </a:pPr>
            <a:r>
              <a:rPr lang="en-GB" sz="3600" dirty="0"/>
              <a:t>Check each claim in the introduction, identify the evidence, and forward-reference it from the claim</a:t>
            </a:r>
          </a:p>
          <a:p>
            <a:pPr>
              <a:lnSpc>
                <a:spcPct val="90000"/>
              </a:lnSpc>
              <a:spcBef>
                <a:spcPct val="40000"/>
              </a:spcBef>
            </a:pPr>
            <a:r>
              <a:rPr lang="en-GB" sz="3600" dirty="0"/>
              <a:t>Evidence can be: analysis and comparison, theorems, measurements, case studies</a:t>
            </a:r>
          </a:p>
        </p:txBody>
      </p:sp>
    </p:spTree>
    <p:extLst>
      <p:ext uri="{BB962C8B-B14F-4D97-AF65-F5344CB8AC3E}">
        <p14:creationId xmlns:p14="http://schemas.microsoft.com/office/powerpoint/2010/main" val="2655276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88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88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88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88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9"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AF8F5-9BC2-4374-8034-E3B2B79FA92C}"/>
              </a:ext>
            </a:extLst>
          </p:cNvPr>
          <p:cNvSpPr>
            <a:spLocks noGrp="1"/>
          </p:cNvSpPr>
          <p:nvPr>
            <p:ph type="title"/>
          </p:nvPr>
        </p:nvSpPr>
        <p:spPr/>
        <p:txBody>
          <a:bodyPr/>
          <a:lstStyle/>
          <a:p>
            <a:r>
              <a:rPr lang="en-US" dirty="0"/>
              <a:t>Typical paper structure in computing science</a:t>
            </a:r>
          </a:p>
        </p:txBody>
      </p:sp>
      <p:sp>
        <p:nvSpPr>
          <p:cNvPr id="4" name="Content Placeholder 3">
            <a:extLst>
              <a:ext uri="{FF2B5EF4-FFF2-40B4-BE49-F238E27FC236}">
                <a16:creationId xmlns:a16="http://schemas.microsoft.com/office/drawing/2014/main" id="{8DAAFA2C-2495-4FDD-83CA-6D1ED2703DDD}"/>
              </a:ext>
            </a:extLst>
          </p:cNvPr>
          <p:cNvSpPr>
            <a:spLocks noGrp="1"/>
          </p:cNvSpPr>
          <p:nvPr>
            <p:ph sz="half" idx="1"/>
          </p:nvPr>
        </p:nvSpPr>
        <p:spPr/>
        <p:txBody>
          <a:bodyPr>
            <a:normAutofit lnSpcReduction="10000"/>
          </a:bodyPr>
          <a:lstStyle/>
          <a:p>
            <a:pPr marL="0" indent="0">
              <a:buNone/>
            </a:pPr>
            <a:r>
              <a:rPr lang="en-US" dirty="0"/>
              <a:t>Abstract </a:t>
            </a:r>
          </a:p>
          <a:p>
            <a:pPr marL="0" indent="0">
              <a:buNone/>
            </a:pPr>
            <a:r>
              <a:rPr lang="en-US" dirty="0"/>
              <a:t>Introduction </a:t>
            </a:r>
          </a:p>
          <a:p>
            <a:pPr marL="0" indent="0">
              <a:buNone/>
            </a:pPr>
            <a:r>
              <a:rPr lang="en-US" dirty="0"/>
              <a:t>Related work* </a:t>
            </a:r>
          </a:p>
          <a:p>
            <a:pPr marL="0" indent="0">
              <a:buNone/>
            </a:pPr>
            <a:r>
              <a:rPr lang="en-US" dirty="0"/>
              <a:t>Proposed design/system/method</a:t>
            </a:r>
          </a:p>
          <a:p>
            <a:pPr marL="0" indent="0">
              <a:buNone/>
            </a:pPr>
            <a:r>
              <a:rPr lang="en-US" dirty="0"/>
              <a:t>Evaluation</a:t>
            </a:r>
          </a:p>
          <a:p>
            <a:pPr marL="0" indent="0">
              <a:buNone/>
            </a:pPr>
            <a:r>
              <a:rPr lang="en-US" dirty="0">
                <a:solidFill>
                  <a:srgbClr val="FF0000"/>
                </a:solidFill>
              </a:rPr>
              <a:t>Discussion</a:t>
            </a:r>
          </a:p>
          <a:p>
            <a:pPr marL="0" indent="0">
              <a:buNone/>
            </a:pPr>
            <a:r>
              <a:rPr lang="en-US" dirty="0"/>
              <a:t>Related work* </a:t>
            </a:r>
          </a:p>
          <a:p>
            <a:pPr marL="0" indent="0">
              <a:buNone/>
            </a:pPr>
            <a:r>
              <a:rPr lang="en-US" dirty="0"/>
              <a:t>Conclusions &amp; Future work </a:t>
            </a:r>
          </a:p>
          <a:p>
            <a:pPr marL="0" indent="0">
              <a:buNone/>
            </a:pPr>
            <a:r>
              <a:rPr lang="en-US" dirty="0"/>
              <a:t>References </a:t>
            </a:r>
          </a:p>
        </p:txBody>
      </p:sp>
      <p:sp>
        <p:nvSpPr>
          <p:cNvPr id="5" name="Content Placeholder 4">
            <a:extLst>
              <a:ext uri="{FF2B5EF4-FFF2-40B4-BE49-F238E27FC236}">
                <a16:creationId xmlns:a16="http://schemas.microsoft.com/office/drawing/2014/main" id="{915E73CA-89D2-4ACF-BB28-AAB0809E3BDF}"/>
              </a:ext>
            </a:extLst>
          </p:cNvPr>
          <p:cNvSpPr>
            <a:spLocks noGrp="1"/>
          </p:cNvSpPr>
          <p:nvPr>
            <p:ph sz="half" idx="2"/>
          </p:nvPr>
        </p:nvSpPr>
        <p:spPr/>
        <p:txBody>
          <a:bodyPr>
            <a:normAutofit lnSpcReduction="10000"/>
          </a:bodyPr>
          <a:lstStyle/>
          <a:p>
            <a:r>
              <a:rPr lang="en-GB" dirty="0">
                <a:solidFill>
                  <a:srgbClr val="FF0000"/>
                </a:solidFill>
              </a:rPr>
              <a:t>Content: </a:t>
            </a:r>
          </a:p>
          <a:p>
            <a:pPr lvl="1"/>
            <a:r>
              <a:rPr lang="en-GB" dirty="0"/>
              <a:t>Not all papers have this </a:t>
            </a:r>
          </a:p>
          <a:p>
            <a:pPr lvl="1"/>
            <a:r>
              <a:rPr lang="en-GB" dirty="0"/>
              <a:t>If included, typically contains </a:t>
            </a:r>
          </a:p>
          <a:p>
            <a:pPr lvl="2"/>
            <a:r>
              <a:rPr lang="en-GB" dirty="0"/>
              <a:t>An interpretation of results/evaluation </a:t>
            </a:r>
          </a:p>
          <a:p>
            <a:pPr lvl="2"/>
            <a:r>
              <a:rPr lang="en-GB" dirty="0"/>
              <a:t>Discussion of open problems Description of limitations </a:t>
            </a:r>
          </a:p>
          <a:p>
            <a:r>
              <a:rPr lang="en-GB" dirty="0">
                <a:solidFill>
                  <a:srgbClr val="FF0000"/>
                </a:solidFill>
              </a:rPr>
              <a:t>Purpose: </a:t>
            </a:r>
          </a:p>
          <a:p>
            <a:pPr lvl="1"/>
            <a:r>
              <a:rPr lang="en-GB" dirty="0"/>
              <a:t>Papers do not often “close” a topic </a:t>
            </a:r>
          </a:p>
          <a:p>
            <a:pPr lvl="1"/>
            <a:r>
              <a:rPr lang="en-GB" dirty="0"/>
              <a:t>This is where you reflect on what has been done, and what is still open </a:t>
            </a:r>
            <a:endParaRPr lang="en-US" dirty="0"/>
          </a:p>
        </p:txBody>
      </p:sp>
    </p:spTree>
    <p:extLst>
      <p:ext uri="{BB962C8B-B14F-4D97-AF65-F5344CB8AC3E}">
        <p14:creationId xmlns:p14="http://schemas.microsoft.com/office/powerpoint/2010/main" val="194631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AF8F5-9BC2-4374-8034-E3B2B79FA92C}"/>
              </a:ext>
            </a:extLst>
          </p:cNvPr>
          <p:cNvSpPr>
            <a:spLocks noGrp="1"/>
          </p:cNvSpPr>
          <p:nvPr>
            <p:ph type="title"/>
          </p:nvPr>
        </p:nvSpPr>
        <p:spPr/>
        <p:txBody>
          <a:bodyPr/>
          <a:lstStyle/>
          <a:p>
            <a:r>
              <a:rPr lang="en-US" dirty="0"/>
              <a:t>Typical paper structure in computing science</a:t>
            </a:r>
          </a:p>
        </p:txBody>
      </p:sp>
      <p:sp>
        <p:nvSpPr>
          <p:cNvPr id="4" name="Content Placeholder 3">
            <a:extLst>
              <a:ext uri="{FF2B5EF4-FFF2-40B4-BE49-F238E27FC236}">
                <a16:creationId xmlns:a16="http://schemas.microsoft.com/office/drawing/2014/main" id="{8DAAFA2C-2495-4FDD-83CA-6D1ED2703DDD}"/>
              </a:ext>
            </a:extLst>
          </p:cNvPr>
          <p:cNvSpPr>
            <a:spLocks noGrp="1"/>
          </p:cNvSpPr>
          <p:nvPr>
            <p:ph sz="half" idx="1"/>
          </p:nvPr>
        </p:nvSpPr>
        <p:spPr/>
        <p:txBody>
          <a:bodyPr>
            <a:normAutofit lnSpcReduction="10000"/>
          </a:bodyPr>
          <a:lstStyle/>
          <a:p>
            <a:pPr marL="0" indent="0">
              <a:buNone/>
            </a:pPr>
            <a:r>
              <a:rPr lang="en-US" dirty="0"/>
              <a:t>Abstract </a:t>
            </a:r>
          </a:p>
          <a:p>
            <a:pPr marL="0" indent="0">
              <a:buNone/>
            </a:pPr>
            <a:r>
              <a:rPr lang="en-US" dirty="0"/>
              <a:t>Introduction </a:t>
            </a:r>
          </a:p>
          <a:p>
            <a:pPr marL="0" indent="0">
              <a:buNone/>
            </a:pPr>
            <a:r>
              <a:rPr lang="en-US" dirty="0"/>
              <a:t>Related work* </a:t>
            </a:r>
          </a:p>
          <a:p>
            <a:pPr marL="0" indent="0">
              <a:buNone/>
            </a:pPr>
            <a:r>
              <a:rPr lang="en-US" dirty="0"/>
              <a:t>Proposed design/system/method</a:t>
            </a:r>
          </a:p>
          <a:p>
            <a:pPr marL="0" indent="0">
              <a:buNone/>
            </a:pPr>
            <a:r>
              <a:rPr lang="en-US" dirty="0"/>
              <a:t>Evaluation</a:t>
            </a:r>
          </a:p>
          <a:p>
            <a:pPr marL="0" indent="0">
              <a:buNone/>
            </a:pPr>
            <a:r>
              <a:rPr lang="en-US" dirty="0"/>
              <a:t>Discussion</a:t>
            </a:r>
          </a:p>
          <a:p>
            <a:pPr marL="0" indent="0">
              <a:buNone/>
            </a:pPr>
            <a:r>
              <a:rPr lang="en-US" dirty="0"/>
              <a:t>Related work* </a:t>
            </a:r>
          </a:p>
          <a:p>
            <a:pPr marL="0" indent="0">
              <a:buNone/>
            </a:pPr>
            <a:r>
              <a:rPr lang="en-US" dirty="0">
                <a:solidFill>
                  <a:srgbClr val="FF0000"/>
                </a:solidFill>
              </a:rPr>
              <a:t>Conclusions &amp; Future work </a:t>
            </a:r>
          </a:p>
          <a:p>
            <a:pPr marL="0" indent="0">
              <a:buNone/>
            </a:pPr>
            <a:r>
              <a:rPr lang="en-US" dirty="0"/>
              <a:t>References </a:t>
            </a:r>
          </a:p>
        </p:txBody>
      </p:sp>
      <p:sp>
        <p:nvSpPr>
          <p:cNvPr id="5" name="Content Placeholder 4">
            <a:extLst>
              <a:ext uri="{FF2B5EF4-FFF2-40B4-BE49-F238E27FC236}">
                <a16:creationId xmlns:a16="http://schemas.microsoft.com/office/drawing/2014/main" id="{915E73CA-89D2-4ACF-BB28-AAB0809E3BDF}"/>
              </a:ext>
            </a:extLst>
          </p:cNvPr>
          <p:cNvSpPr>
            <a:spLocks noGrp="1"/>
          </p:cNvSpPr>
          <p:nvPr>
            <p:ph sz="half" idx="2"/>
          </p:nvPr>
        </p:nvSpPr>
        <p:spPr/>
        <p:txBody>
          <a:bodyPr>
            <a:normAutofit lnSpcReduction="10000"/>
          </a:bodyPr>
          <a:lstStyle/>
          <a:p>
            <a:r>
              <a:rPr lang="en-GB" dirty="0">
                <a:solidFill>
                  <a:srgbClr val="FF0000"/>
                </a:solidFill>
              </a:rPr>
              <a:t>Content: </a:t>
            </a:r>
          </a:p>
          <a:p>
            <a:pPr lvl="1"/>
            <a:r>
              <a:rPr lang="en-GB" dirty="0"/>
              <a:t>Far too often:  Rehash of the paper (this is not an abstract!)</a:t>
            </a:r>
          </a:p>
          <a:p>
            <a:pPr lvl="1"/>
            <a:r>
              <a:rPr lang="en-GB" dirty="0"/>
              <a:t>Ideally:  Reflection on contributions </a:t>
            </a:r>
          </a:p>
          <a:p>
            <a:r>
              <a:rPr lang="en-GB" dirty="0">
                <a:solidFill>
                  <a:srgbClr val="FF0000"/>
                </a:solidFill>
              </a:rPr>
              <a:t>Purpose: </a:t>
            </a:r>
          </a:p>
          <a:p>
            <a:pPr lvl="1"/>
            <a:r>
              <a:rPr lang="en-GB" dirty="0"/>
              <a:t>One last summary of contributions given the whole context of the work </a:t>
            </a:r>
          </a:p>
          <a:p>
            <a:pPr lvl="1"/>
            <a:r>
              <a:rPr lang="en-GB" dirty="0"/>
              <a:t>Identification of promising future research directions</a:t>
            </a:r>
            <a:endParaRPr lang="en-US" dirty="0"/>
          </a:p>
        </p:txBody>
      </p:sp>
    </p:spTree>
    <p:extLst>
      <p:ext uri="{BB962C8B-B14F-4D97-AF65-F5344CB8AC3E}">
        <p14:creationId xmlns:p14="http://schemas.microsoft.com/office/powerpoint/2010/main" val="1419556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Paper Writing Tips</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8744332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p:cNvSpPr>
            <a:spLocks noGrp="1" noChangeArrowheads="1"/>
          </p:cNvSpPr>
          <p:nvPr>
            <p:ph type="title"/>
          </p:nvPr>
        </p:nvSpPr>
        <p:spPr/>
        <p:txBody>
          <a:bodyPr/>
          <a:lstStyle/>
          <a:p>
            <a:r>
              <a:rPr lang="en-US" dirty="0"/>
              <a:t>The Body of a Section</a:t>
            </a:r>
          </a:p>
        </p:txBody>
      </p:sp>
      <p:sp>
        <p:nvSpPr>
          <p:cNvPr id="321539" name="Rectangle 3"/>
          <p:cNvSpPr>
            <a:spLocks noGrp="1" noChangeArrowheads="1"/>
          </p:cNvSpPr>
          <p:nvPr>
            <p:ph type="body" idx="1"/>
          </p:nvPr>
        </p:nvSpPr>
        <p:spPr/>
        <p:txBody>
          <a:bodyPr>
            <a:normAutofit lnSpcReduction="10000"/>
          </a:bodyPr>
          <a:lstStyle/>
          <a:p>
            <a:r>
              <a:rPr lang="en-US" dirty="0"/>
              <a:t>What happens here</a:t>
            </a:r>
          </a:p>
          <a:p>
            <a:r>
              <a:rPr lang="en-US" dirty="0"/>
              <a:t>How this fits (optional)</a:t>
            </a:r>
          </a:p>
          <a:p>
            <a:r>
              <a:rPr lang="en-US" dirty="0"/>
              <a:t>The results</a:t>
            </a:r>
          </a:p>
          <a:p>
            <a:r>
              <a:rPr lang="en-US" dirty="0"/>
              <a:t>Transition</a:t>
            </a:r>
          </a:p>
          <a:p>
            <a:endParaRPr lang="en-US" dirty="0"/>
          </a:p>
          <a:p>
            <a:pPr>
              <a:buFontTx/>
              <a:buNone/>
            </a:pPr>
            <a:r>
              <a:rPr lang="en-US" i="1" dirty="0"/>
              <a:t>In this section …</a:t>
            </a:r>
          </a:p>
          <a:p>
            <a:pPr>
              <a:buFontTx/>
              <a:buNone/>
            </a:pPr>
            <a:endParaRPr lang="en-US" sz="1200" i="1" dirty="0"/>
          </a:p>
          <a:p>
            <a:pPr>
              <a:buFontTx/>
              <a:buNone/>
            </a:pPr>
            <a:r>
              <a:rPr lang="en-US" i="1" dirty="0"/>
              <a:t>This section continues the derivation by …</a:t>
            </a:r>
          </a:p>
          <a:p>
            <a:pPr>
              <a:buFontTx/>
              <a:buNone/>
            </a:pPr>
            <a:endParaRPr lang="en-US" sz="900" i="1" dirty="0"/>
          </a:p>
          <a:p>
            <a:pPr>
              <a:buFontTx/>
              <a:buNone/>
            </a:pPr>
            <a:r>
              <a:rPr lang="en-US" i="1" dirty="0"/>
              <a:t>Thus far, the discussion has … Here, …</a:t>
            </a:r>
            <a:endParaRPr lang="en-US" dirty="0"/>
          </a:p>
        </p:txBody>
      </p:sp>
    </p:spTree>
    <p:extLst>
      <p:ext uri="{BB962C8B-B14F-4D97-AF65-F5344CB8AC3E}">
        <p14:creationId xmlns:p14="http://schemas.microsoft.com/office/powerpoint/2010/main" val="11849677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Paragraph</a:t>
            </a:r>
          </a:p>
        </p:txBody>
      </p:sp>
      <p:sp>
        <p:nvSpPr>
          <p:cNvPr id="3" name="Content Placeholder 2"/>
          <p:cNvSpPr>
            <a:spLocks noGrp="1"/>
          </p:cNvSpPr>
          <p:nvPr>
            <p:ph idx="1"/>
          </p:nvPr>
        </p:nvSpPr>
        <p:spPr/>
        <p:txBody>
          <a:bodyPr/>
          <a:lstStyle/>
          <a:p>
            <a:endParaRPr lang="en-GB"/>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4157" y="1922310"/>
            <a:ext cx="6122435" cy="3921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2904118" y="2219534"/>
            <a:ext cx="1748446" cy="1595166"/>
          </a:xfrm>
          <a:prstGeom prst="rect">
            <a:avLst/>
          </a:prstGeom>
          <a:solidFill>
            <a:srgbClr val="FFFF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p:nvPr/>
        </p:nvSpPr>
        <p:spPr>
          <a:xfrm>
            <a:off x="2904118" y="3967100"/>
            <a:ext cx="1748446" cy="1595166"/>
          </a:xfrm>
          <a:prstGeom prst="rect">
            <a:avLst/>
          </a:prstGeom>
          <a:solidFill>
            <a:srgbClr val="FFFF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6613413" y="2219534"/>
            <a:ext cx="1813568" cy="994965"/>
          </a:xfrm>
          <a:prstGeom prst="rect">
            <a:avLst/>
          </a:prstGeom>
          <a:solidFill>
            <a:srgbClr val="FFFF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6636241" y="3385464"/>
            <a:ext cx="1813568" cy="994965"/>
          </a:xfrm>
          <a:prstGeom prst="rect">
            <a:avLst/>
          </a:prstGeom>
          <a:solidFill>
            <a:srgbClr val="FFFF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p:nvSpPr>
        <p:spPr>
          <a:xfrm>
            <a:off x="6636241" y="4567301"/>
            <a:ext cx="1813568" cy="994965"/>
          </a:xfrm>
          <a:prstGeom prst="rect">
            <a:avLst/>
          </a:prstGeom>
          <a:solidFill>
            <a:srgbClr val="FFFF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3588720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199" y="89105"/>
            <a:ext cx="7849167" cy="66630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itle 1"/>
          <p:cNvSpPr>
            <a:spLocks noGrp="1"/>
          </p:cNvSpPr>
          <p:nvPr>
            <p:ph type="title"/>
          </p:nvPr>
        </p:nvSpPr>
        <p:spPr>
          <a:xfrm>
            <a:off x="838200" y="365125"/>
            <a:ext cx="10515600" cy="1325563"/>
          </a:xfrm>
        </p:spPr>
        <p:txBody>
          <a:bodyPr/>
          <a:lstStyle/>
          <a:p>
            <a:r>
              <a:rPr lang="en-GB" dirty="0"/>
              <a:t>Paragraph</a:t>
            </a:r>
          </a:p>
        </p:txBody>
      </p:sp>
    </p:spTree>
    <p:extLst>
      <p:ext uri="{BB962C8B-B14F-4D97-AF65-F5344CB8AC3E}">
        <p14:creationId xmlns:p14="http://schemas.microsoft.com/office/powerpoint/2010/main" val="23856349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5303" y="125357"/>
            <a:ext cx="7849167" cy="66630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4335692" y="729101"/>
            <a:ext cx="3703914" cy="2058407"/>
          </a:xfrm>
          <a:prstGeom prst="rect">
            <a:avLst/>
          </a:prstGeom>
          <a:solidFill>
            <a:srgbClr val="FFFF00">
              <a:alpha val="32000"/>
            </a:srgb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p:cNvSpPr/>
          <p:nvPr/>
        </p:nvSpPr>
        <p:spPr>
          <a:xfrm>
            <a:off x="8137633" y="4571998"/>
            <a:ext cx="3703914" cy="974152"/>
          </a:xfrm>
          <a:prstGeom prst="rect">
            <a:avLst/>
          </a:prstGeom>
          <a:solidFill>
            <a:srgbClr val="FFFF00">
              <a:alpha val="32000"/>
            </a:srgb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8161805" y="729101"/>
            <a:ext cx="3703914" cy="1716011"/>
          </a:xfrm>
          <a:prstGeom prst="rect">
            <a:avLst/>
          </a:prstGeom>
          <a:solidFill>
            <a:srgbClr val="FFFF00">
              <a:alpha val="32000"/>
            </a:srgb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8161805" y="2505536"/>
            <a:ext cx="3703914" cy="2030210"/>
          </a:xfrm>
          <a:prstGeom prst="rect">
            <a:avLst/>
          </a:prstGeom>
          <a:solidFill>
            <a:srgbClr val="FFFF00">
              <a:alpha val="32000"/>
            </a:srgb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4335692" y="2835847"/>
            <a:ext cx="3703914" cy="1228600"/>
          </a:xfrm>
          <a:prstGeom prst="rect">
            <a:avLst/>
          </a:prstGeom>
          <a:solidFill>
            <a:srgbClr val="FFFF00">
              <a:alpha val="32000"/>
            </a:srgb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itle 1"/>
          <p:cNvSpPr>
            <a:spLocks noGrp="1"/>
          </p:cNvSpPr>
          <p:nvPr>
            <p:ph type="title"/>
          </p:nvPr>
        </p:nvSpPr>
        <p:spPr>
          <a:xfrm>
            <a:off x="838200" y="365125"/>
            <a:ext cx="10515600" cy="1325563"/>
          </a:xfrm>
        </p:spPr>
        <p:txBody>
          <a:bodyPr/>
          <a:lstStyle/>
          <a:p>
            <a:r>
              <a:rPr lang="en-GB" dirty="0"/>
              <a:t>Paragraph</a:t>
            </a:r>
          </a:p>
        </p:txBody>
      </p:sp>
    </p:spTree>
    <p:extLst>
      <p:ext uri="{BB962C8B-B14F-4D97-AF65-F5344CB8AC3E}">
        <p14:creationId xmlns:p14="http://schemas.microsoft.com/office/powerpoint/2010/main" val="2755291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Paragraph</a:t>
            </a:r>
          </a:p>
        </p:txBody>
      </p:sp>
      <p:sp>
        <p:nvSpPr>
          <p:cNvPr id="3" name="Content Placeholder 2"/>
          <p:cNvSpPr>
            <a:spLocks noGrp="1"/>
          </p:cNvSpPr>
          <p:nvPr>
            <p:ph idx="1"/>
          </p:nvPr>
        </p:nvSpPr>
        <p:spPr/>
        <p:txBody>
          <a:bodyPr>
            <a:noAutofit/>
          </a:bodyPr>
          <a:lstStyle/>
          <a:p>
            <a:r>
              <a:rPr lang="en-GB" sz="3200" dirty="0"/>
              <a:t>A paragraph is a collection of related sentences dealing with </a:t>
            </a:r>
            <a:r>
              <a:rPr lang="en-GB" sz="3200" dirty="0">
                <a:solidFill>
                  <a:srgbClr val="FF0000"/>
                </a:solidFill>
              </a:rPr>
              <a:t>a single topic. </a:t>
            </a:r>
          </a:p>
          <a:p>
            <a:r>
              <a:rPr lang="en-GB" sz="3200" dirty="0"/>
              <a:t>Learning to write good paragraphs will help you as a writer stay on track during your drafting and revision stages. </a:t>
            </a:r>
          </a:p>
          <a:p>
            <a:r>
              <a:rPr lang="en-GB" sz="3200" dirty="0"/>
              <a:t>Good paragraphing also greatly assists your readers in following a piece of writing. </a:t>
            </a:r>
          </a:p>
          <a:p>
            <a:r>
              <a:rPr lang="en-GB" sz="3200" dirty="0"/>
              <a:t>You can have fantastic ideas, but if those ideas aren't presented in an </a:t>
            </a:r>
            <a:r>
              <a:rPr lang="en-GB" sz="3200" dirty="0">
                <a:solidFill>
                  <a:srgbClr val="FF0000"/>
                </a:solidFill>
              </a:rPr>
              <a:t>organized</a:t>
            </a:r>
            <a:r>
              <a:rPr lang="en-GB" sz="3200" dirty="0"/>
              <a:t> fashion, you will lose your readers (and fail to achieve your goals in writing).</a:t>
            </a:r>
          </a:p>
        </p:txBody>
      </p:sp>
    </p:spTree>
    <p:extLst>
      <p:ext uri="{BB962C8B-B14F-4D97-AF65-F5344CB8AC3E}">
        <p14:creationId xmlns:p14="http://schemas.microsoft.com/office/powerpoint/2010/main" val="3832089610"/>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Paragraphing</a:t>
            </a:r>
          </a:p>
        </p:txBody>
      </p:sp>
      <p:sp>
        <p:nvSpPr>
          <p:cNvPr id="3" name="Content Placeholder 2"/>
          <p:cNvSpPr>
            <a:spLocks noGrp="1"/>
          </p:cNvSpPr>
          <p:nvPr>
            <p:ph idx="1"/>
          </p:nvPr>
        </p:nvSpPr>
        <p:spPr/>
        <p:txBody>
          <a:bodyPr>
            <a:normAutofit/>
          </a:bodyPr>
          <a:lstStyle/>
          <a:p>
            <a:r>
              <a:rPr lang="en-GB" sz="4000" dirty="0"/>
              <a:t>The basic rule of thumb with paragraphing is to </a:t>
            </a:r>
            <a:r>
              <a:rPr lang="en-GB" sz="4000" dirty="0">
                <a:solidFill>
                  <a:srgbClr val="FF0000"/>
                </a:solidFill>
              </a:rPr>
              <a:t>keep one idea to one paragraph. </a:t>
            </a:r>
          </a:p>
          <a:p>
            <a:r>
              <a:rPr lang="en-GB" sz="4000" dirty="0"/>
              <a:t>If you begin to transition into a new idea, it belongs in a new paragraph. </a:t>
            </a:r>
          </a:p>
        </p:txBody>
      </p:sp>
    </p:spTree>
    <p:extLst>
      <p:ext uri="{BB962C8B-B14F-4D97-AF65-F5344CB8AC3E}">
        <p14:creationId xmlns:p14="http://schemas.microsoft.com/office/powerpoint/2010/main" val="1815845398"/>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Paragraphing</a:t>
            </a:r>
          </a:p>
        </p:txBody>
      </p:sp>
      <p:sp>
        <p:nvSpPr>
          <p:cNvPr id="3" name="Content Placeholder 2"/>
          <p:cNvSpPr>
            <a:spLocks noGrp="1"/>
          </p:cNvSpPr>
          <p:nvPr>
            <p:ph idx="1"/>
          </p:nvPr>
        </p:nvSpPr>
        <p:spPr/>
        <p:txBody>
          <a:bodyPr>
            <a:normAutofit fontScale="92500"/>
          </a:bodyPr>
          <a:lstStyle/>
          <a:p>
            <a:r>
              <a:rPr lang="en-GB" dirty="0"/>
              <a:t>Put only one main idea per paragraph.</a:t>
            </a:r>
          </a:p>
          <a:p>
            <a:r>
              <a:rPr lang="en-GB" dirty="0"/>
              <a:t>Aim for three to five or more sentences per paragraph.</a:t>
            </a:r>
          </a:p>
          <a:p>
            <a:r>
              <a:rPr lang="en-GB" dirty="0"/>
              <a:t>Include on each page about two handwritten or three typed paragraphs.</a:t>
            </a:r>
          </a:p>
          <a:p>
            <a:r>
              <a:rPr lang="en-GB" dirty="0"/>
              <a:t>Make your paragraphs proportional to your paper. Since paragraphs do less work in short papers, have short paragraphs for short papers and longer paragraphs for longer papers.</a:t>
            </a:r>
          </a:p>
          <a:p>
            <a:r>
              <a:rPr lang="en-GB" dirty="0"/>
              <a:t>If you have a few very short paragraphs, think about whether they are really parts of a larger paragraph—and can be combined—or whether you can add details to support each point and thus make each into a more fully developed paragraph.</a:t>
            </a:r>
          </a:p>
        </p:txBody>
      </p:sp>
    </p:spTree>
    <p:extLst>
      <p:ext uri="{BB962C8B-B14F-4D97-AF65-F5344CB8AC3E}">
        <p14:creationId xmlns:p14="http://schemas.microsoft.com/office/powerpoint/2010/main" val="1843305549"/>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Paragraphing</a:t>
            </a:r>
          </a:p>
        </p:txBody>
      </p:sp>
      <p:sp>
        <p:nvSpPr>
          <p:cNvPr id="3" name="Content Placeholder 2"/>
          <p:cNvSpPr>
            <a:spLocks noGrp="1"/>
          </p:cNvSpPr>
          <p:nvPr>
            <p:ph idx="1"/>
          </p:nvPr>
        </p:nvSpPr>
        <p:spPr/>
        <p:txBody>
          <a:bodyPr>
            <a:normAutofit lnSpcReduction="10000"/>
          </a:bodyPr>
          <a:lstStyle/>
          <a:p>
            <a:r>
              <a:rPr lang="en-GB" sz="3600" dirty="0"/>
              <a:t>Ways to tell if you are on the same topic or a new one. </a:t>
            </a:r>
          </a:p>
          <a:p>
            <a:pPr lvl="1"/>
            <a:r>
              <a:rPr lang="en-GB" sz="3200" dirty="0"/>
              <a:t>The same topic</a:t>
            </a:r>
          </a:p>
          <a:p>
            <a:pPr lvl="2"/>
            <a:r>
              <a:rPr lang="en-GB" sz="2800" dirty="0"/>
              <a:t>You can have one idea and several bits of supporting evidence within a single paragraph. </a:t>
            </a:r>
          </a:p>
          <a:p>
            <a:pPr lvl="2"/>
            <a:r>
              <a:rPr lang="en-GB" sz="2800" dirty="0"/>
              <a:t>You can also have several points in a single paragraph as long as they relate to the overall topic of the paragraph. </a:t>
            </a:r>
          </a:p>
          <a:p>
            <a:pPr lvl="1"/>
            <a:r>
              <a:rPr lang="en-GB" sz="3200" dirty="0"/>
              <a:t>New topic</a:t>
            </a:r>
          </a:p>
          <a:p>
            <a:pPr lvl="2"/>
            <a:r>
              <a:rPr lang="en-GB" sz="2800" dirty="0"/>
              <a:t>If the single points start to get long, then perhaps elaborating on each of them and placing them in their own paragraphs is the route to go.</a:t>
            </a:r>
          </a:p>
        </p:txBody>
      </p:sp>
    </p:spTree>
    <p:extLst>
      <p:ext uri="{BB962C8B-B14F-4D97-AF65-F5344CB8AC3E}">
        <p14:creationId xmlns:p14="http://schemas.microsoft.com/office/powerpoint/2010/main" val="8479722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p>
        </p:txBody>
      </p:sp>
      <p:sp>
        <p:nvSpPr>
          <p:cNvPr id="3" name="Content Placeholder 2"/>
          <p:cNvSpPr>
            <a:spLocks noGrp="1"/>
          </p:cNvSpPr>
          <p:nvPr>
            <p:ph idx="1"/>
          </p:nvPr>
        </p:nvSpPr>
        <p:spPr>
          <a:xfrm>
            <a:off x="838200" y="1825625"/>
            <a:ext cx="5111442" cy="4351338"/>
          </a:xfrm>
        </p:spPr>
        <p:txBody>
          <a:bodyPr>
            <a:normAutofit/>
          </a:bodyPr>
          <a:lstStyle/>
          <a:p>
            <a:r>
              <a:rPr lang="en-GB" sz="3600" dirty="0"/>
              <a:t>Several points in a single paragraph – all the points relate to the overall topic of the paragraph: description of studies related to the work described in this paper</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0345" y="1683578"/>
            <a:ext cx="5599284" cy="4170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77539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5782" y="277483"/>
            <a:ext cx="3483360" cy="62928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223" y="257804"/>
            <a:ext cx="6938201" cy="63927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976611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p>
        </p:txBody>
      </p:sp>
      <p:sp>
        <p:nvSpPr>
          <p:cNvPr id="3" name="Content Placeholder 2"/>
          <p:cNvSpPr>
            <a:spLocks noGrp="1"/>
          </p:cNvSpPr>
          <p:nvPr>
            <p:ph idx="1"/>
          </p:nvPr>
        </p:nvSpPr>
        <p:spPr>
          <a:xfrm>
            <a:off x="838201" y="1825625"/>
            <a:ext cx="3951322" cy="4351338"/>
          </a:xfrm>
        </p:spPr>
        <p:txBody>
          <a:bodyPr>
            <a:normAutofit/>
          </a:bodyPr>
          <a:lstStyle/>
          <a:p>
            <a:r>
              <a:rPr lang="en-GB" sz="4000" dirty="0"/>
              <a:t>The points in the paragraph have been elaborated on and placed in their own paragraphs</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0345" y="1683578"/>
            <a:ext cx="5599284" cy="4170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reeform 6"/>
          <p:cNvSpPr/>
          <p:nvPr/>
        </p:nvSpPr>
        <p:spPr>
          <a:xfrm>
            <a:off x="5760296" y="2513594"/>
            <a:ext cx="5361548" cy="1139979"/>
          </a:xfrm>
          <a:custGeom>
            <a:avLst/>
            <a:gdLst>
              <a:gd name="connsiteX0" fmla="*/ 56417 w 5361548"/>
              <a:gd name="connsiteY0" fmla="*/ 1139979 h 1139979"/>
              <a:gd name="connsiteX1" fmla="*/ 56417 w 5361548"/>
              <a:gd name="connsiteY1" fmla="*/ 1139979 h 1139979"/>
              <a:gd name="connsiteX2" fmla="*/ 52389 w 5361548"/>
              <a:gd name="connsiteY2" fmla="*/ 1091640 h 1139979"/>
              <a:gd name="connsiteX3" fmla="*/ 48361 w 5361548"/>
              <a:gd name="connsiteY3" fmla="*/ 1079556 h 1139979"/>
              <a:gd name="connsiteX4" fmla="*/ 36276 w 5361548"/>
              <a:gd name="connsiteY4" fmla="*/ 1007048 h 1139979"/>
              <a:gd name="connsiteX5" fmla="*/ 28220 w 5361548"/>
              <a:gd name="connsiteY5" fmla="*/ 954682 h 1139979"/>
              <a:gd name="connsiteX6" fmla="*/ 20163 w 5361548"/>
              <a:gd name="connsiteY6" fmla="*/ 942597 h 1139979"/>
              <a:gd name="connsiteX7" fmla="*/ 24192 w 5361548"/>
              <a:gd name="connsiteY7" fmla="*/ 334340 h 1139979"/>
              <a:gd name="connsiteX8" fmla="*/ 28220 w 5361548"/>
              <a:gd name="connsiteY8" fmla="*/ 245720 h 1139979"/>
              <a:gd name="connsiteX9" fmla="*/ 32248 w 5361548"/>
              <a:gd name="connsiteY9" fmla="*/ 221551 h 1139979"/>
              <a:gd name="connsiteX10" fmla="*/ 2791561 w 5361548"/>
              <a:gd name="connsiteY10" fmla="*/ 241692 h 1139979"/>
              <a:gd name="connsiteX11" fmla="*/ 2690856 w 5361548"/>
              <a:gd name="connsiteY11" fmla="*/ 16113 h 1139979"/>
              <a:gd name="connsiteX12" fmla="*/ 5361548 w 5361548"/>
              <a:gd name="connsiteY12" fmla="*/ 0 h 1139979"/>
              <a:gd name="connsiteX13" fmla="*/ 5345436 w 5361548"/>
              <a:gd name="connsiteY13" fmla="*/ 902315 h 1139979"/>
              <a:gd name="connsiteX14" fmla="*/ 584110 w 5361548"/>
              <a:gd name="connsiteY14" fmla="*/ 918428 h 1139979"/>
              <a:gd name="connsiteX15" fmla="*/ 572026 w 5361548"/>
              <a:gd name="connsiteY15" fmla="*/ 1127894 h 1139979"/>
              <a:gd name="connsiteX16" fmla="*/ 56417 w 5361548"/>
              <a:gd name="connsiteY16" fmla="*/ 1139979 h 1139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61548" h="1139979">
                <a:moveTo>
                  <a:pt x="56417" y="1139979"/>
                </a:moveTo>
                <a:lnTo>
                  <a:pt x="56417" y="1139979"/>
                </a:lnTo>
                <a:cubicBezTo>
                  <a:pt x="55074" y="1123866"/>
                  <a:pt x="54526" y="1107667"/>
                  <a:pt x="52389" y="1091640"/>
                </a:cubicBezTo>
                <a:cubicBezTo>
                  <a:pt x="51828" y="1087431"/>
                  <a:pt x="48888" y="1083769"/>
                  <a:pt x="48361" y="1079556"/>
                </a:cubicBezTo>
                <a:cubicBezTo>
                  <a:pt x="39611" y="1009564"/>
                  <a:pt x="52554" y="1047746"/>
                  <a:pt x="36276" y="1007048"/>
                </a:cubicBezTo>
                <a:cubicBezTo>
                  <a:pt x="35654" y="1002071"/>
                  <a:pt x="31680" y="963908"/>
                  <a:pt x="28220" y="954682"/>
                </a:cubicBezTo>
                <a:cubicBezTo>
                  <a:pt x="26520" y="950149"/>
                  <a:pt x="22849" y="946625"/>
                  <a:pt x="20163" y="942597"/>
                </a:cubicBezTo>
                <a:cubicBezTo>
                  <a:pt x="-22234" y="730602"/>
                  <a:pt x="13770" y="917946"/>
                  <a:pt x="24192" y="334340"/>
                </a:cubicBezTo>
                <a:cubicBezTo>
                  <a:pt x="24720" y="304774"/>
                  <a:pt x="25862" y="275196"/>
                  <a:pt x="28220" y="245720"/>
                </a:cubicBezTo>
                <a:cubicBezTo>
                  <a:pt x="33522" y="179446"/>
                  <a:pt x="32248" y="285661"/>
                  <a:pt x="32248" y="221551"/>
                </a:cubicBezTo>
                <a:lnTo>
                  <a:pt x="2791561" y="241692"/>
                </a:lnTo>
                <a:lnTo>
                  <a:pt x="2690856" y="16113"/>
                </a:lnTo>
                <a:lnTo>
                  <a:pt x="5361548" y="0"/>
                </a:lnTo>
                <a:lnTo>
                  <a:pt x="5345436" y="902315"/>
                </a:lnTo>
                <a:lnTo>
                  <a:pt x="584110" y="918428"/>
                </a:lnTo>
                <a:lnTo>
                  <a:pt x="572026" y="1127894"/>
                </a:lnTo>
                <a:lnTo>
                  <a:pt x="56417" y="1139979"/>
                </a:lnTo>
                <a:close/>
              </a:path>
            </a:pathLst>
          </a:custGeom>
          <a:solidFill>
            <a:srgbClr val="00B050">
              <a:alpha val="32000"/>
            </a:srgb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reeform 7"/>
          <p:cNvSpPr/>
          <p:nvPr/>
        </p:nvSpPr>
        <p:spPr>
          <a:xfrm>
            <a:off x="5865050" y="3444106"/>
            <a:ext cx="5309160" cy="970794"/>
          </a:xfrm>
          <a:custGeom>
            <a:avLst/>
            <a:gdLst>
              <a:gd name="connsiteX0" fmla="*/ 499496 w 5309160"/>
              <a:gd name="connsiteY0" fmla="*/ 277945 h 970794"/>
              <a:gd name="connsiteX1" fmla="*/ 507553 w 5309160"/>
              <a:gd name="connsiteY1" fmla="*/ 0 h 970794"/>
              <a:gd name="connsiteX2" fmla="*/ 5309160 w 5309160"/>
              <a:gd name="connsiteY2" fmla="*/ 72507 h 970794"/>
              <a:gd name="connsiteX3" fmla="*/ 5224568 w 5309160"/>
              <a:gd name="connsiteY3" fmla="*/ 757300 h 970794"/>
              <a:gd name="connsiteX4" fmla="*/ 1848941 w 5309160"/>
              <a:gd name="connsiteY4" fmla="*/ 712990 h 970794"/>
              <a:gd name="connsiteX5" fmla="*/ 1873110 w 5309160"/>
              <a:gd name="connsiteY5" fmla="*/ 926484 h 970794"/>
              <a:gd name="connsiteX6" fmla="*/ 0 w 5309160"/>
              <a:gd name="connsiteY6" fmla="*/ 970794 h 970794"/>
              <a:gd name="connsiteX7" fmla="*/ 40282 w 5309160"/>
              <a:gd name="connsiteY7" fmla="*/ 269889 h 970794"/>
              <a:gd name="connsiteX8" fmla="*/ 499496 w 5309160"/>
              <a:gd name="connsiteY8" fmla="*/ 277945 h 970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9160" h="970794">
                <a:moveTo>
                  <a:pt x="499496" y="277945"/>
                </a:moveTo>
                <a:lnTo>
                  <a:pt x="507553" y="0"/>
                </a:lnTo>
                <a:lnTo>
                  <a:pt x="5309160" y="72507"/>
                </a:lnTo>
                <a:lnTo>
                  <a:pt x="5224568" y="757300"/>
                </a:lnTo>
                <a:lnTo>
                  <a:pt x="1848941" y="712990"/>
                </a:lnTo>
                <a:lnTo>
                  <a:pt x="1873110" y="926484"/>
                </a:lnTo>
                <a:lnTo>
                  <a:pt x="0" y="970794"/>
                </a:lnTo>
                <a:lnTo>
                  <a:pt x="40282" y="269889"/>
                </a:lnTo>
                <a:lnTo>
                  <a:pt x="499496" y="277945"/>
                </a:lnTo>
                <a:close/>
              </a:path>
            </a:pathLst>
          </a:custGeom>
          <a:solidFill>
            <a:srgbClr val="E34DDC">
              <a:alpha val="32000"/>
            </a:srgb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p:cNvSpPr/>
          <p:nvPr/>
        </p:nvSpPr>
        <p:spPr>
          <a:xfrm>
            <a:off x="5780458" y="4169181"/>
            <a:ext cx="5365554" cy="725075"/>
          </a:xfrm>
          <a:custGeom>
            <a:avLst/>
            <a:gdLst>
              <a:gd name="connsiteX0" fmla="*/ 1417924 w 5365554"/>
              <a:gd name="connsiteY0" fmla="*/ 700905 h 725075"/>
              <a:gd name="connsiteX1" fmla="*/ 1401812 w 5365554"/>
              <a:gd name="connsiteY1" fmla="*/ 467270 h 725075"/>
              <a:gd name="connsiteX2" fmla="*/ 5365554 w 5365554"/>
              <a:gd name="connsiteY2" fmla="*/ 459214 h 725075"/>
              <a:gd name="connsiteX3" fmla="*/ 5305131 w 5365554"/>
              <a:gd name="connsiteY3" fmla="*/ 52366 h 725075"/>
              <a:gd name="connsiteX4" fmla="*/ 1989928 w 5365554"/>
              <a:gd name="connsiteY4" fmla="*/ 0 h 725075"/>
              <a:gd name="connsiteX5" fmla="*/ 1973815 w 5365554"/>
              <a:gd name="connsiteY5" fmla="*/ 253776 h 725075"/>
              <a:gd name="connsiteX6" fmla="*/ 0 w 5365554"/>
              <a:gd name="connsiteY6" fmla="*/ 286001 h 725075"/>
              <a:gd name="connsiteX7" fmla="*/ 80564 w 5365554"/>
              <a:gd name="connsiteY7" fmla="*/ 725075 h 725075"/>
              <a:gd name="connsiteX8" fmla="*/ 1417924 w 5365554"/>
              <a:gd name="connsiteY8" fmla="*/ 700905 h 725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65554" h="725075">
                <a:moveTo>
                  <a:pt x="1417924" y="700905"/>
                </a:moveTo>
                <a:lnTo>
                  <a:pt x="1401812" y="467270"/>
                </a:lnTo>
                <a:lnTo>
                  <a:pt x="5365554" y="459214"/>
                </a:lnTo>
                <a:lnTo>
                  <a:pt x="5305131" y="52366"/>
                </a:lnTo>
                <a:lnTo>
                  <a:pt x="1989928" y="0"/>
                </a:lnTo>
                <a:lnTo>
                  <a:pt x="1973815" y="253776"/>
                </a:lnTo>
                <a:lnTo>
                  <a:pt x="0" y="286001"/>
                </a:lnTo>
                <a:lnTo>
                  <a:pt x="80564" y="725075"/>
                </a:lnTo>
                <a:lnTo>
                  <a:pt x="1417924" y="700905"/>
                </a:lnTo>
                <a:close/>
              </a:path>
            </a:pathLst>
          </a:custGeom>
          <a:solidFill>
            <a:srgbClr val="FFFF00">
              <a:alpha val="32000"/>
            </a:srgb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708681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5782" y="277483"/>
            <a:ext cx="3483360" cy="62928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223" y="257804"/>
            <a:ext cx="6938201" cy="63927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150399" y="1015103"/>
            <a:ext cx="3402468" cy="3125880"/>
          </a:xfrm>
          <a:prstGeom prst="rect">
            <a:avLst/>
          </a:prstGeom>
          <a:solidFill>
            <a:srgbClr val="00B050">
              <a:alpha val="32000"/>
            </a:srgb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120223" y="4140982"/>
            <a:ext cx="3402468" cy="2058407"/>
          </a:xfrm>
          <a:prstGeom prst="rect">
            <a:avLst/>
          </a:prstGeom>
          <a:solidFill>
            <a:srgbClr val="E34DDC">
              <a:alpha val="32000"/>
            </a:srgb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p:nvSpPr>
        <p:spPr>
          <a:xfrm>
            <a:off x="3622031" y="277483"/>
            <a:ext cx="3402468" cy="2058407"/>
          </a:xfrm>
          <a:prstGeom prst="rect">
            <a:avLst/>
          </a:prstGeom>
          <a:solidFill>
            <a:srgbClr val="E34DDC">
              <a:alpha val="32000"/>
            </a:srgb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p:nvSpPr>
        <p:spPr>
          <a:xfrm>
            <a:off x="7106419" y="3326617"/>
            <a:ext cx="3209785" cy="3186972"/>
          </a:xfrm>
          <a:prstGeom prst="rect">
            <a:avLst/>
          </a:prstGeom>
          <a:solidFill>
            <a:srgbClr val="FFFF00">
              <a:alpha val="32000"/>
            </a:srgb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p:nvSpPr>
        <p:spPr>
          <a:xfrm>
            <a:off x="3655956" y="2368578"/>
            <a:ext cx="3402468" cy="1706820"/>
          </a:xfrm>
          <a:prstGeom prst="rect">
            <a:avLst/>
          </a:prstGeom>
          <a:solidFill>
            <a:srgbClr val="E34DDC">
              <a:alpha val="32000"/>
            </a:srgb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p:cNvSpPr/>
          <p:nvPr/>
        </p:nvSpPr>
        <p:spPr>
          <a:xfrm>
            <a:off x="3589323" y="4108759"/>
            <a:ext cx="3402468" cy="2492318"/>
          </a:xfrm>
          <a:prstGeom prst="rect">
            <a:avLst/>
          </a:prstGeom>
          <a:solidFill>
            <a:srgbClr val="E34DDC">
              <a:alpha val="32000"/>
            </a:srgb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43396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Paragraphs</a:t>
            </a:r>
          </a:p>
        </p:txBody>
      </p:sp>
      <p:sp>
        <p:nvSpPr>
          <p:cNvPr id="6" name="Content Placeholder 5"/>
          <p:cNvSpPr>
            <a:spLocks noGrp="1"/>
          </p:cNvSpPr>
          <p:nvPr>
            <p:ph idx="1"/>
          </p:nvPr>
        </p:nvSpPr>
        <p:spPr/>
        <p:txBody>
          <a:bodyPr>
            <a:normAutofit/>
          </a:bodyPr>
          <a:lstStyle/>
          <a:p>
            <a:r>
              <a:rPr lang="en-US" sz="4000" dirty="0"/>
              <a:t>Each paragraph must be:</a:t>
            </a:r>
            <a:endParaRPr lang="en-GB" sz="4000" b="1" dirty="0"/>
          </a:p>
          <a:p>
            <a:pPr lvl="1"/>
            <a:r>
              <a:rPr lang="en-GB" sz="3600" b="1" dirty="0"/>
              <a:t>Unified</a:t>
            </a:r>
            <a:r>
              <a:rPr lang="en-GB" sz="3600" dirty="0"/>
              <a:t>: all the sentences relate to one central point or idea.</a:t>
            </a:r>
          </a:p>
          <a:p>
            <a:pPr lvl="1"/>
            <a:r>
              <a:rPr lang="en-GB" sz="3600" b="1" dirty="0"/>
              <a:t>Coherent</a:t>
            </a:r>
            <a:r>
              <a:rPr lang="en-GB" sz="3600" dirty="0"/>
              <a:t>: the sentences are logically organized and clearly connected.</a:t>
            </a:r>
          </a:p>
          <a:p>
            <a:pPr lvl="1"/>
            <a:r>
              <a:rPr lang="en-GB" sz="3600" b="1" dirty="0"/>
              <a:t>Relevant</a:t>
            </a:r>
            <a:r>
              <a:rPr lang="en-GB" sz="3600" dirty="0"/>
              <a:t>: the paragraph supports the overall theme and purpose of the paper.</a:t>
            </a:r>
          </a:p>
          <a:p>
            <a:endParaRPr lang="en-US" sz="4000" dirty="0"/>
          </a:p>
        </p:txBody>
      </p:sp>
    </p:spTree>
    <p:extLst>
      <p:ext uri="{BB962C8B-B14F-4D97-AF65-F5344CB8AC3E}">
        <p14:creationId xmlns:p14="http://schemas.microsoft.com/office/powerpoint/2010/main" val="16959045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Structure of a basic paragraph</a:t>
            </a:r>
          </a:p>
        </p:txBody>
      </p:sp>
      <p:sp>
        <p:nvSpPr>
          <p:cNvPr id="3" name="Content Placeholder 2"/>
          <p:cNvSpPr>
            <a:spLocks noGrp="1"/>
          </p:cNvSpPr>
          <p:nvPr>
            <p:ph idx="1"/>
          </p:nvPr>
        </p:nvSpPr>
        <p:spPr/>
        <p:txBody>
          <a:bodyPr>
            <a:normAutofit/>
          </a:bodyPr>
          <a:lstStyle/>
          <a:p>
            <a:r>
              <a:rPr lang="en-GB" dirty="0"/>
              <a:t>Topic Sentence (TS) - the beginning</a:t>
            </a:r>
          </a:p>
          <a:p>
            <a:pPr lvl="1"/>
            <a:r>
              <a:rPr lang="en-GB" dirty="0"/>
              <a:t>Needs to state ONE idea clearly</a:t>
            </a:r>
          </a:p>
          <a:p>
            <a:pPr lvl="1"/>
            <a:r>
              <a:rPr lang="en-GB" dirty="0"/>
              <a:t>Useful Tip: Always put the most important information first!</a:t>
            </a:r>
          </a:p>
          <a:p>
            <a:r>
              <a:rPr lang="en-GB" dirty="0"/>
              <a:t>Supporting Sentences (SS) - the middle</a:t>
            </a:r>
          </a:p>
          <a:p>
            <a:pPr lvl="1"/>
            <a:r>
              <a:rPr lang="en-GB" dirty="0"/>
              <a:t>Elaborates and explains the idea introduced in the topic sentence</a:t>
            </a:r>
          </a:p>
          <a:p>
            <a:pPr lvl="1"/>
            <a:r>
              <a:rPr lang="en-GB" dirty="0"/>
              <a:t>Provides evidence and examples</a:t>
            </a:r>
          </a:p>
          <a:p>
            <a:pPr lvl="1"/>
            <a:r>
              <a:rPr lang="en-GB" dirty="0"/>
              <a:t>Explains the evidence or example included - why is it relevant?</a:t>
            </a:r>
          </a:p>
          <a:p>
            <a:r>
              <a:rPr lang="en-GB" dirty="0"/>
              <a:t>Concluding Sentence (CS) - the end</a:t>
            </a:r>
          </a:p>
          <a:p>
            <a:pPr lvl="1"/>
            <a:r>
              <a:rPr lang="en-GB" dirty="0"/>
              <a:t>Makes links: back to the main idea of the paragraph; back to research question or topic of the assignment; to the next paragraph</a:t>
            </a:r>
          </a:p>
        </p:txBody>
      </p:sp>
    </p:spTree>
    <p:extLst>
      <p:ext uri="{BB962C8B-B14F-4D97-AF65-F5344CB8AC3E}">
        <p14:creationId xmlns:p14="http://schemas.microsoft.com/office/powerpoint/2010/main" val="22830755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E68A3-6E4D-4477-8698-B3EA8221FD79}"/>
              </a:ext>
            </a:extLst>
          </p:cNvPr>
          <p:cNvSpPr>
            <a:spLocks noGrp="1"/>
          </p:cNvSpPr>
          <p:nvPr>
            <p:ph type="title"/>
          </p:nvPr>
        </p:nvSpPr>
        <p:spPr/>
        <p:txBody>
          <a:bodyPr/>
          <a:lstStyle/>
          <a:p>
            <a:r>
              <a:rPr lang="en-GB" dirty="0"/>
              <a:t>Exercise 1</a:t>
            </a:r>
          </a:p>
        </p:txBody>
      </p:sp>
      <p:sp>
        <p:nvSpPr>
          <p:cNvPr id="3" name="Content Placeholder 2">
            <a:extLst>
              <a:ext uri="{FF2B5EF4-FFF2-40B4-BE49-F238E27FC236}">
                <a16:creationId xmlns:a16="http://schemas.microsoft.com/office/drawing/2014/main" id="{0C868AF4-252E-4BA7-8A76-250BC775E12C}"/>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8920179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Paragraph example</a:t>
            </a:r>
          </a:p>
        </p:txBody>
      </p:sp>
      <p:sp>
        <p:nvSpPr>
          <p:cNvPr id="3" name="Content Placeholder 2"/>
          <p:cNvSpPr>
            <a:spLocks noGrp="1"/>
          </p:cNvSpPr>
          <p:nvPr>
            <p:ph idx="1"/>
          </p:nvPr>
        </p:nvSpPr>
        <p:spPr/>
        <p:txBody>
          <a:bodyPr>
            <a:noAutofit/>
          </a:bodyPr>
          <a:lstStyle/>
          <a:p>
            <a:r>
              <a:rPr lang="en-GB" sz="1800" dirty="0"/>
              <a:t>Children can also be influenced negatively as a result of media. Over exposure to television and gaming are two examples of possible negative impacts on children. Research suggests that children who are over-exposed to television are more likely to display aggressive behaviours than those who are not. For example, a ten-year longitudinal study of over 430 children revealed that eight-year-old boys “who were in the upper 20% of television exposure were significantly higher on measures of aggression than the study’s other participants” (</a:t>
            </a:r>
            <a:r>
              <a:rPr lang="en-GB" sz="1800" dirty="0" err="1"/>
              <a:t>Eron</a:t>
            </a:r>
            <a:r>
              <a:rPr lang="en-GB" sz="1800" dirty="0"/>
              <a:t>, </a:t>
            </a:r>
            <a:r>
              <a:rPr lang="en-GB" sz="1800" dirty="0" err="1"/>
              <a:t>Huesmann</a:t>
            </a:r>
            <a:r>
              <a:rPr lang="en-GB" sz="1800" dirty="0"/>
              <a:t>, </a:t>
            </a:r>
            <a:r>
              <a:rPr lang="en-GB" sz="1800" dirty="0" err="1"/>
              <a:t>Lefkowitz</a:t>
            </a:r>
            <a:r>
              <a:rPr lang="en-GB" sz="1800" dirty="0"/>
              <a:t> and </a:t>
            </a:r>
            <a:r>
              <a:rPr lang="en-GB" sz="1800" dirty="0" err="1"/>
              <a:t>Walder</a:t>
            </a:r>
            <a:r>
              <a:rPr lang="en-GB" sz="1800" dirty="0"/>
              <a:t> 1972, cited in Sullivan 2013, p.46). The study also found that these children continued to show aggressive behaviour throughout their childhood and teens (</a:t>
            </a:r>
            <a:r>
              <a:rPr lang="en-GB" sz="1800" dirty="0" err="1"/>
              <a:t>Eron</a:t>
            </a:r>
            <a:r>
              <a:rPr lang="en-GB" sz="1800" dirty="0"/>
              <a:t>, </a:t>
            </a:r>
            <a:r>
              <a:rPr lang="en-GB" sz="1800" dirty="0" err="1"/>
              <a:t>Huesmann</a:t>
            </a:r>
            <a:r>
              <a:rPr lang="en-GB" sz="1800" dirty="0"/>
              <a:t>, </a:t>
            </a:r>
            <a:r>
              <a:rPr lang="en-GB" sz="1800" dirty="0" err="1"/>
              <a:t>Lefkowitz</a:t>
            </a:r>
            <a:r>
              <a:rPr lang="en-GB" sz="1800" dirty="0"/>
              <a:t> and </a:t>
            </a:r>
            <a:r>
              <a:rPr lang="en-GB" sz="1800" dirty="0" err="1"/>
              <a:t>Walder</a:t>
            </a:r>
            <a:r>
              <a:rPr lang="en-GB" sz="1800" dirty="0"/>
              <a:t> 1972, cited in Sullivan 2013). Furthermore, these children, who were studied into their twenties and thirties, continued to show high measures of aggression (</a:t>
            </a:r>
            <a:r>
              <a:rPr lang="en-GB" sz="1800" dirty="0" err="1"/>
              <a:t>Huesmann</a:t>
            </a:r>
            <a:r>
              <a:rPr lang="en-GB" sz="1800" dirty="0"/>
              <a:t>, </a:t>
            </a:r>
            <a:r>
              <a:rPr lang="en-GB" sz="1800" dirty="0" err="1"/>
              <a:t>Moise</a:t>
            </a:r>
            <a:r>
              <a:rPr lang="en-GB" sz="1800" dirty="0"/>
              <a:t>-Titus, </a:t>
            </a:r>
            <a:r>
              <a:rPr lang="en-GB" sz="1800" dirty="0" err="1"/>
              <a:t>Podolski</a:t>
            </a:r>
            <a:r>
              <a:rPr lang="en-GB" sz="1800" dirty="0"/>
              <a:t> &amp; </a:t>
            </a:r>
            <a:r>
              <a:rPr lang="en-GB" sz="1800" dirty="0" err="1"/>
              <a:t>Eron</a:t>
            </a:r>
            <a:r>
              <a:rPr lang="en-GB" sz="1800" dirty="0"/>
              <a:t> 2003, cited in Sullivan 2013). This suggests that over exposure to television can have long term and negative impacts on the behaviour of children. These effects not only impact aggressive behaviour, but also children’s attitudes and values (Clay, 2003). Additional research on the link between exposure to video gaming and aggression is suggesting similar findings with a link between time spent on video games and higher scores on measures of aggression (Anderson and Bushman 2001 cited in </a:t>
            </a:r>
            <a:r>
              <a:rPr lang="en-GB" sz="1800" dirty="0" err="1"/>
              <a:t>Kirsh</a:t>
            </a:r>
            <a:r>
              <a:rPr lang="en-GB" sz="1800" dirty="0"/>
              <a:t> 2003). They suggest gaming influences aggressive behaviour, cognition, and physiological arousal. Given that 80 percent of the most popular video games on the market today are violent in nature (</a:t>
            </a:r>
            <a:r>
              <a:rPr lang="en-GB" sz="1800" dirty="0" err="1"/>
              <a:t>Diez</a:t>
            </a:r>
            <a:r>
              <a:rPr lang="en-GB" sz="1800" dirty="0"/>
              <a:t> 1998, cited in </a:t>
            </a:r>
            <a:r>
              <a:rPr lang="en-GB" sz="1800" dirty="0" err="1"/>
              <a:t>Kirsh</a:t>
            </a:r>
            <a:r>
              <a:rPr lang="en-GB" sz="1800" dirty="0"/>
              <a:t> 2003), the influence of gaming on levels of aggression are concerning. Media, then, can have a negative impact on levels of aggression on children who are over-exposed to television and video games.</a:t>
            </a:r>
          </a:p>
          <a:p>
            <a:endParaRPr lang="en-GB" sz="1800" dirty="0"/>
          </a:p>
        </p:txBody>
      </p:sp>
    </p:spTree>
    <p:extLst>
      <p:ext uri="{BB962C8B-B14F-4D97-AF65-F5344CB8AC3E}">
        <p14:creationId xmlns:p14="http://schemas.microsoft.com/office/powerpoint/2010/main" val="8758177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Paragraph example</a:t>
            </a:r>
          </a:p>
        </p:txBody>
      </p:sp>
      <p:sp>
        <p:nvSpPr>
          <p:cNvPr id="3" name="Content Placeholder 2"/>
          <p:cNvSpPr>
            <a:spLocks noGrp="1"/>
          </p:cNvSpPr>
          <p:nvPr>
            <p:ph idx="1"/>
          </p:nvPr>
        </p:nvSpPr>
        <p:spPr/>
        <p:txBody>
          <a:bodyPr>
            <a:noAutofit/>
          </a:bodyPr>
          <a:lstStyle/>
          <a:p>
            <a:r>
              <a:rPr lang="en-GB" sz="1800" dirty="0">
                <a:solidFill>
                  <a:srgbClr val="FF0000"/>
                </a:solidFill>
              </a:rPr>
              <a:t>Children can also be influenced negatively as a result of media. </a:t>
            </a:r>
            <a:r>
              <a:rPr lang="en-GB" sz="1800" dirty="0">
                <a:solidFill>
                  <a:srgbClr val="00B050"/>
                </a:solidFill>
              </a:rPr>
              <a:t>Over exposure to television and gaming are two examples of possible negative impacts on children. Research suggests that children who are over-exposed to television are more likely to display aggressive behaviours than those who are not. For example, a ten-year longitudinal study of over 430 children revealed that eight-year-old boys “who were in the upper 20% of television exposure were significantly higher on measures of aggression than the study’s other participants” (</a:t>
            </a:r>
            <a:r>
              <a:rPr lang="en-GB" sz="1800" dirty="0" err="1">
                <a:solidFill>
                  <a:srgbClr val="00B050"/>
                </a:solidFill>
              </a:rPr>
              <a:t>Eron</a:t>
            </a:r>
            <a:r>
              <a:rPr lang="en-GB" sz="1800" dirty="0">
                <a:solidFill>
                  <a:srgbClr val="00B050"/>
                </a:solidFill>
              </a:rPr>
              <a:t>, </a:t>
            </a:r>
            <a:r>
              <a:rPr lang="en-GB" sz="1800" dirty="0" err="1">
                <a:solidFill>
                  <a:srgbClr val="00B050"/>
                </a:solidFill>
              </a:rPr>
              <a:t>Huesmann</a:t>
            </a:r>
            <a:r>
              <a:rPr lang="en-GB" sz="1800" dirty="0">
                <a:solidFill>
                  <a:srgbClr val="00B050"/>
                </a:solidFill>
              </a:rPr>
              <a:t>, </a:t>
            </a:r>
            <a:r>
              <a:rPr lang="en-GB" sz="1800" dirty="0" err="1">
                <a:solidFill>
                  <a:srgbClr val="00B050"/>
                </a:solidFill>
              </a:rPr>
              <a:t>Lefkowitz</a:t>
            </a:r>
            <a:r>
              <a:rPr lang="en-GB" sz="1800" dirty="0">
                <a:solidFill>
                  <a:srgbClr val="00B050"/>
                </a:solidFill>
              </a:rPr>
              <a:t> and </a:t>
            </a:r>
            <a:r>
              <a:rPr lang="en-GB" sz="1800" dirty="0" err="1">
                <a:solidFill>
                  <a:srgbClr val="00B050"/>
                </a:solidFill>
              </a:rPr>
              <a:t>Walder</a:t>
            </a:r>
            <a:r>
              <a:rPr lang="en-GB" sz="1800" dirty="0">
                <a:solidFill>
                  <a:srgbClr val="00B050"/>
                </a:solidFill>
              </a:rPr>
              <a:t> 1972, cited in Sullivan 2013, p.46). The study also found that these children continued to show aggressive behaviour throughout their childhood and teens (</a:t>
            </a:r>
            <a:r>
              <a:rPr lang="en-GB" sz="1800" dirty="0" err="1">
                <a:solidFill>
                  <a:srgbClr val="00B050"/>
                </a:solidFill>
              </a:rPr>
              <a:t>Eron</a:t>
            </a:r>
            <a:r>
              <a:rPr lang="en-GB" sz="1800" dirty="0">
                <a:solidFill>
                  <a:srgbClr val="00B050"/>
                </a:solidFill>
              </a:rPr>
              <a:t>, </a:t>
            </a:r>
            <a:r>
              <a:rPr lang="en-GB" sz="1800" dirty="0" err="1">
                <a:solidFill>
                  <a:srgbClr val="00B050"/>
                </a:solidFill>
              </a:rPr>
              <a:t>Huesmann</a:t>
            </a:r>
            <a:r>
              <a:rPr lang="en-GB" sz="1800" dirty="0">
                <a:solidFill>
                  <a:srgbClr val="00B050"/>
                </a:solidFill>
              </a:rPr>
              <a:t>, </a:t>
            </a:r>
            <a:r>
              <a:rPr lang="en-GB" sz="1800" dirty="0" err="1">
                <a:solidFill>
                  <a:srgbClr val="00B050"/>
                </a:solidFill>
              </a:rPr>
              <a:t>Lefkowitz</a:t>
            </a:r>
            <a:r>
              <a:rPr lang="en-GB" sz="1800" dirty="0">
                <a:solidFill>
                  <a:srgbClr val="00B050"/>
                </a:solidFill>
              </a:rPr>
              <a:t> and </a:t>
            </a:r>
            <a:r>
              <a:rPr lang="en-GB" sz="1800" dirty="0" err="1">
                <a:solidFill>
                  <a:srgbClr val="00B050"/>
                </a:solidFill>
              </a:rPr>
              <a:t>Walder</a:t>
            </a:r>
            <a:r>
              <a:rPr lang="en-GB" sz="1800" dirty="0">
                <a:solidFill>
                  <a:srgbClr val="00B050"/>
                </a:solidFill>
              </a:rPr>
              <a:t> 1972, cited in Sullivan 2013). Furthermore, these children, who were studied into their twenties and thirties, continued to show high measures of aggression (</a:t>
            </a:r>
            <a:r>
              <a:rPr lang="en-GB" sz="1800" dirty="0" err="1">
                <a:solidFill>
                  <a:srgbClr val="00B050"/>
                </a:solidFill>
              </a:rPr>
              <a:t>Huesmann</a:t>
            </a:r>
            <a:r>
              <a:rPr lang="en-GB" sz="1800" dirty="0">
                <a:solidFill>
                  <a:srgbClr val="00B050"/>
                </a:solidFill>
              </a:rPr>
              <a:t>, </a:t>
            </a:r>
            <a:r>
              <a:rPr lang="en-GB" sz="1800" dirty="0" err="1">
                <a:solidFill>
                  <a:srgbClr val="00B050"/>
                </a:solidFill>
              </a:rPr>
              <a:t>Moise</a:t>
            </a:r>
            <a:r>
              <a:rPr lang="en-GB" sz="1800" dirty="0">
                <a:solidFill>
                  <a:srgbClr val="00B050"/>
                </a:solidFill>
              </a:rPr>
              <a:t>-Titus, </a:t>
            </a:r>
            <a:r>
              <a:rPr lang="en-GB" sz="1800" dirty="0" err="1">
                <a:solidFill>
                  <a:srgbClr val="00B050"/>
                </a:solidFill>
              </a:rPr>
              <a:t>Podolski</a:t>
            </a:r>
            <a:r>
              <a:rPr lang="en-GB" sz="1800" dirty="0">
                <a:solidFill>
                  <a:srgbClr val="00B050"/>
                </a:solidFill>
              </a:rPr>
              <a:t> &amp; </a:t>
            </a:r>
            <a:r>
              <a:rPr lang="en-GB" sz="1800" dirty="0" err="1">
                <a:solidFill>
                  <a:srgbClr val="00B050"/>
                </a:solidFill>
              </a:rPr>
              <a:t>Eron</a:t>
            </a:r>
            <a:r>
              <a:rPr lang="en-GB" sz="1800" dirty="0">
                <a:solidFill>
                  <a:srgbClr val="00B050"/>
                </a:solidFill>
              </a:rPr>
              <a:t> 2003, cited in Sullivan 2013). This suggests that over exposure to television can have long term and negative impacts on the behaviour of children. These effects not only impact aggressive behaviour, but also children’s attitudes and values (Clay, 2003). Additional research on the link between exposure to video gaming and aggression is suggesting similar findings with a link between time spent on video games and higher scores on measures of aggression (Anderson and Bushman 2001 cited in </a:t>
            </a:r>
            <a:r>
              <a:rPr lang="en-GB" sz="1800" dirty="0" err="1">
                <a:solidFill>
                  <a:srgbClr val="00B050"/>
                </a:solidFill>
              </a:rPr>
              <a:t>Kirsh</a:t>
            </a:r>
            <a:r>
              <a:rPr lang="en-GB" sz="1800" dirty="0">
                <a:solidFill>
                  <a:srgbClr val="00B050"/>
                </a:solidFill>
              </a:rPr>
              <a:t> 2003). They suggest gaming influences aggressive behaviour, cognition, and physiological arousal. Given that 80 percent of the most popular video games on the market today are violent in nature (</a:t>
            </a:r>
            <a:r>
              <a:rPr lang="en-GB" sz="1800" dirty="0" err="1">
                <a:solidFill>
                  <a:srgbClr val="00B050"/>
                </a:solidFill>
              </a:rPr>
              <a:t>Diez</a:t>
            </a:r>
            <a:r>
              <a:rPr lang="en-GB" sz="1800" dirty="0">
                <a:solidFill>
                  <a:srgbClr val="00B050"/>
                </a:solidFill>
              </a:rPr>
              <a:t> 1998, cited in </a:t>
            </a:r>
            <a:r>
              <a:rPr lang="en-GB" sz="1800" dirty="0" err="1">
                <a:solidFill>
                  <a:srgbClr val="00B050"/>
                </a:solidFill>
              </a:rPr>
              <a:t>Kirsh</a:t>
            </a:r>
            <a:r>
              <a:rPr lang="en-GB" sz="1800" dirty="0">
                <a:solidFill>
                  <a:srgbClr val="00B050"/>
                </a:solidFill>
              </a:rPr>
              <a:t> 2003), the influence of gaming on levels of aggression are concerning. </a:t>
            </a:r>
            <a:r>
              <a:rPr lang="en-GB" sz="1800" dirty="0">
                <a:solidFill>
                  <a:srgbClr val="E34DDC"/>
                </a:solidFill>
              </a:rPr>
              <a:t>Media, then, can have a negative impact on levels of aggression on children who are over-exposed to television and video games.</a:t>
            </a:r>
          </a:p>
          <a:p>
            <a:endParaRPr lang="en-GB" sz="1800" dirty="0"/>
          </a:p>
        </p:txBody>
      </p:sp>
      <p:sp>
        <p:nvSpPr>
          <p:cNvPr id="4" name="Rectangle 3"/>
          <p:cNvSpPr/>
          <p:nvPr/>
        </p:nvSpPr>
        <p:spPr>
          <a:xfrm>
            <a:off x="7636043" y="247358"/>
            <a:ext cx="2770502" cy="584775"/>
          </a:xfrm>
          <a:prstGeom prst="rect">
            <a:avLst/>
          </a:prstGeom>
        </p:spPr>
        <p:txBody>
          <a:bodyPr wrap="none">
            <a:spAutoFit/>
          </a:bodyPr>
          <a:lstStyle/>
          <a:p>
            <a:r>
              <a:rPr lang="en-GB" sz="3200" dirty="0">
                <a:solidFill>
                  <a:srgbClr val="FF0000"/>
                </a:solidFill>
              </a:rPr>
              <a:t>Topic Sentence </a:t>
            </a:r>
          </a:p>
        </p:txBody>
      </p:sp>
      <p:sp>
        <p:nvSpPr>
          <p:cNvPr id="5" name="Rectangle 4"/>
          <p:cNvSpPr/>
          <p:nvPr/>
        </p:nvSpPr>
        <p:spPr>
          <a:xfrm>
            <a:off x="7611197" y="1147662"/>
            <a:ext cx="3763979" cy="584775"/>
          </a:xfrm>
          <a:prstGeom prst="rect">
            <a:avLst/>
          </a:prstGeom>
        </p:spPr>
        <p:txBody>
          <a:bodyPr wrap="none">
            <a:spAutoFit/>
          </a:bodyPr>
          <a:lstStyle/>
          <a:p>
            <a:r>
              <a:rPr lang="en-GB" sz="3200" dirty="0">
                <a:solidFill>
                  <a:srgbClr val="E34DDC"/>
                </a:solidFill>
              </a:rPr>
              <a:t>Concluding Sentence </a:t>
            </a:r>
          </a:p>
        </p:txBody>
      </p:sp>
      <p:sp>
        <p:nvSpPr>
          <p:cNvPr id="6" name="Rectangle 5"/>
          <p:cNvSpPr/>
          <p:nvPr/>
        </p:nvSpPr>
        <p:spPr>
          <a:xfrm>
            <a:off x="7611197" y="689331"/>
            <a:ext cx="3813673" cy="584775"/>
          </a:xfrm>
          <a:prstGeom prst="rect">
            <a:avLst/>
          </a:prstGeom>
        </p:spPr>
        <p:txBody>
          <a:bodyPr wrap="none">
            <a:spAutoFit/>
          </a:bodyPr>
          <a:lstStyle/>
          <a:p>
            <a:r>
              <a:rPr lang="en-GB" sz="3200" dirty="0">
                <a:solidFill>
                  <a:srgbClr val="00B050"/>
                </a:solidFill>
              </a:rPr>
              <a:t>Supporting Sentences</a:t>
            </a:r>
          </a:p>
        </p:txBody>
      </p:sp>
    </p:spTree>
    <p:extLst>
      <p:ext uri="{BB962C8B-B14F-4D97-AF65-F5344CB8AC3E}">
        <p14:creationId xmlns:p14="http://schemas.microsoft.com/office/powerpoint/2010/main" val="3855041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Discussion</a:t>
            </a:r>
          </a:p>
        </p:txBody>
      </p:sp>
      <p:sp>
        <p:nvSpPr>
          <p:cNvPr id="3" name="Content Placeholder 2"/>
          <p:cNvSpPr>
            <a:spLocks noGrp="1"/>
          </p:cNvSpPr>
          <p:nvPr>
            <p:ph idx="1"/>
          </p:nvPr>
        </p:nvSpPr>
        <p:spPr/>
        <p:txBody>
          <a:bodyPr/>
          <a:lstStyle/>
          <a:p>
            <a:r>
              <a:rPr lang="en-GB" sz="3600" dirty="0"/>
              <a:t>Do the supporting sentences include evidence or examples? </a:t>
            </a:r>
          </a:p>
          <a:p>
            <a:r>
              <a:rPr lang="en-GB" sz="3600" dirty="0"/>
              <a:t>How has this information been presented and integrated? </a:t>
            </a:r>
          </a:p>
          <a:p>
            <a:r>
              <a:rPr lang="en-GB" sz="3600" dirty="0"/>
              <a:t>Is the relevance of the example or the evidence clear?</a:t>
            </a:r>
          </a:p>
          <a:p>
            <a:endParaRPr lang="en-GB" dirty="0"/>
          </a:p>
        </p:txBody>
      </p:sp>
    </p:spTree>
    <p:extLst>
      <p:ext uri="{BB962C8B-B14F-4D97-AF65-F5344CB8AC3E}">
        <p14:creationId xmlns:p14="http://schemas.microsoft.com/office/powerpoint/2010/main" val="10010648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Paragraph example – supporting sentences</a:t>
            </a:r>
          </a:p>
        </p:txBody>
      </p:sp>
      <p:sp>
        <p:nvSpPr>
          <p:cNvPr id="3" name="Content Placeholder 2"/>
          <p:cNvSpPr>
            <a:spLocks noGrp="1"/>
          </p:cNvSpPr>
          <p:nvPr>
            <p:ph idx="1"/>
          </p:nvPr>
        </p:nvSpPr>
        <p:spPr/>
        <p:txBody>
          <a:bodyPr>
            <a:noAutofit/>
          </a:bodyPr>
          <a:lstStyle/>
          <a:p>
            <a:r>
              <a:rPr lang="en-GB" sz="1800" dirty="0"/>
              <a:t>Over exposure to television and gaming are two examples of possible negative impacts on children. Research suggests that children who are over-exposed to television are more likely to display aggressive behaviours than those who are not. For example, a ten-year longitudinal study of over 430 children revealed that eight-year-old boys “who were in the upper 20% of television exposure were significantly higher on measures of aggression than the study’s other participants” (</a:t>
            </a:r>
            <a:r>
              <a:rPr lang="en-GB" sz="1800" dirty="0" err="1"/>
              <a:t>Eron</a:t>
            </a:r>
            <a:r>
              <a:rPr lang="en-GB" sz="1800" dirty="0"/>
              <a:t>, </a:t>
            </a:r>
            <a:r>
              <a:rPr lang="en-GB" sz="1800" dirty="0" err="1"/>
              <a:t>Huesmann</a:t>
            </a:r>
            <a:r>
              <a:rPr lang="en-GB" sz="1800" dirty="0"/>
              <a:t>, </a:t>
            </a:r>
            <a:r>
              <a:rPr lang="en-GB" sz="1800" dirty="0" err="1"/>
              <a:t>Lefkowitz</a:t>
            </a:r>
            <a:r>
              <a:rPr lang="en-GB" sz="1800" dirty="0"/>
              <a:t> and </a:t>
            </a:r>
            <a:r>
              <a:rPr lang="en-GB" sz="1800" dirty="0" err="1"/>
              <a:t>Walder</a:t>
            </a:r>
            <a:r>
              <a:rPr lang="en-GB" sz="1800" dirty="0"/>
              <a:t> 1972, cited in Sullivan 2013, p.46). The study also found that these children continued to show aggressive behaviour throughout their childhood and teens (</a:t>
            </a:r>
            <a:r>
              <a:rPr lang="en-GB" sz="1800" dirty="0" err="1"/>
              <a:t>Eron</a:t>
            </a:r>
            <a:r>
              <a:rPr lang="en-GB" sz="1800" dirty="0"/>
              <a:t>, </a:t>
            </a:r>
            <a:r>
              <a:rPr lang="en-GB" sz="1800" dirty="0" err="1"/>
              <a:t>Huesmann</a:t>
            </a:r>
            <a:r>
              <a:rPr lang="en-GB" sz="1800" dirty="0"/>
              <a:t>, </a:t>
            </a:r>
            <a:r>
              <a:rPr lang="en-GB" sz="1800" dirty="0" err="1"/>
              <a:t>Lefkowitz</a:t>
            </a:r>
            <a:r>
              <a:rPr lang="en-GB" sz="1800" dirty="0"/>
              <a:t> and </a:t>
            </a:r>
            <a:r>
              <a:rPr lang="en-GB" sz="1800" dirty="0" err="1"/>
              <a:t>Walder</a:t>
            </a:r>
            <a:r>
              <a:rPr lang="en-GB" sz="1800" dirty="0"/>
              <a:t> 1972, cited in Sullivan 2013). Furthermore, these children, who were studied into their twenties and thirties, continued to show high measures of aggression (</a:t>
            </a:r>
            <a:r>
              <a:rPr lang="en-GB" sz="1800" dirty="0" err="1"/>
              <a:t>Huesmann</a:t>
            </a:r>
            <a:r>
              <a:rPr lang="en-GB" sz="1800" dirty="0"/>
              <a:t>, </a:t>
            </a:r>
            <a:r>
              <a:rPr lang="en-GB" sz="1800" dirty="0" err="1"/>
              <a:t>Moise</a:t>
            </a:r>
            <a:r>
              <a:rPr lang="en-GB" sz="1800" dirty="0"/>
              <a:t>-Titus, </a:t>
            </a:r>
            <a:r>
              <a:rPr lang="en-GB" sz="1800" dirty="0" err="1"/>
              <a:t>Podolski</a:t>
            </a:r>
            <a:r>
              <a:rPr lang="en-GB" sz="1800" dirty="0"/>
              <a:t> &amp; </a:t>
            </a:r>
            <a:r>
              <a:rPr lang="en-GB" sz="1800" dirty="0" err="1"/>
              <a:t>Eron</a:t>
            </a:r>
            <a:r>
              <a:rPr lang="en-GB" sz="1800" dirty="0"/>
              <a:t> 2003, cited in Sullivan 2013). This suggests that over exposure to television can have long term and negative impacts on the behaviour of children. These effects not only impact aggressive behaviour, but also children’s attitudes and values (Clay, 2003). Additional research on the link between exposure to video gaming and aggression is suggesting similar findings with a link between time spent on video games and higher scores on measures of aggression (Anderson and Bushman 2001 cited in </a:t>
            </a:r>
            <a:r>
              <a:rPr lang="en-GB" sz="1800" dirty="0" err="1"/>
              <a:t>Kirsh</a:t>
            </a:r>
            <a:r>
              <a:rPr lang="en-GB" sz="1800" dirty="0"/>
              <a:t> 2003). They suggest gaming influences aggressive behaviour, cognition, and physiological arousal. Given that 80 percent of the most popular video games on the market today are violent in nature (</a:t>
            </a:r>
            <a:r>
              <a:rPr lang="en-GB" sz="1800" dirty="0" err="1"/>
              <a:t>Diez</a:t>
            </a:r>
            <a:r>
              <a:rPr lang="en-GB" sz="1800" dirty="0"/>
              <a:t> 1998, cited in </a:t>
            </a:r>
            <a:r>
              <a:rPr lang="en-GB" sz="1800" dirty="0" err="1"/>
              <a:t>Kirsh</a:t>
            </a:r>
            <a:r>
              <a:rPr lang="en-GB" sz="1800" dirty="0"/>
              <a:t> 2003), the influence of gaming on levels of aggression are concerning. </a:t>
            </a:r>
          </a:p>
        </p:txBody>
      </p:sp>
    </p:spTree>
    <p:extLst>
      <p:ext uri="{BB962C8B-B14F-4D97-AF65-F5344CB8AC3E}">
        <p14:creationId xmlns:p14="http://schemas.microsoft.com/office/powerpoint/2010/main" val="7754917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Paragraph example – supporting sentences</a:t>
            </a:r>
          </a:p>
        </p:txBody>
      </p:sp>
      <p:sp>
        <p:nvSpPr>
          <p:cNvPr id="3" name="Content Placeholder 2"/>
          <p:cNvSpPr>
            <a:spLocks noGrp="1"/>
          </p:cNvSpPr>
          <p:nvPr>
            <p:ph idx="1"/>
          </p:nvPr>
        </p:nvSpPr>
        <p:spPr/>
        <p:txBody>
          <a:bodyPr>
            <a:noAutofit/>
          </a:bodyPr>
          <a:lstStyle/>
          <a:p>
            <a:r>
              <a:rPr lang="en-GB" sz="1800" dirty="0"/>
              <a:t>Over exposure to television and gaming are </a:t>
            </a:r>
            <a:r>
              <a:rPr lang="en-GB" sz="1800" dirty="0">
                <a:solidFill>
                  <a:srgbClr val="FF0000"/>
                </a:solidFill>
              </a:rPr>
              <a:t>two examples </a:t>
            </a:r>
            <a:r>
              <a:rPr lang="en-GB" sz="1800" dirty="0"/>
              <a:t>of possible negative impacts on children. Research suggests that children who are over-exposed to television are more likely to display aggressive behaviours than those who are not. For example, a ten-year longitudinal study of over 430 children revealed that eight-year-old boys “who were in the upper 20% of television exposure were significantly higher on measures of aggression than the study’s other participants” (</a:t>
            </a:r>
            <a:r>
              <a:rPr lang="en-GB" sz="1800" dirty="0" err="1"/>
              <a:t>Eron</a:t>
            </a:r>
            <a:r>
              <a:rPr lang="en-GB" sz="1800" dirty="0"/>
              <a:t>, </a:t>
            </a:r>
            <a:r>
              <a:rPr lang="en-GB" sz="1800" dirty="0" err="1"/>
              <a:t>Huesmann</a:t>
            </a:r>
            <a:r>
              <a:rPr lang="en-GB" sz="1800" dirty="0"/>
              <a:t>, </a:t>
            </a:r>
            <a:r>
              <a:rPr lang="en-GB" sz="1800" dirty="0" err="1"/>
              <a:t>Lefkowitz</a:t>
            </a:r>
            <a:r>
              <a:rPr lang="en-GB" sz="1800" dirty="0"/>
              <a:t> and </a:t>
            </a:r>
            <a:r>
              <a:rPr lang="en-GB" sz="1800" dirty="0" err="1"/>
              <a:t>Walder</a:t>
            </a:r>
            <a:r>
              <a:rPr lang="en-GB" sz="1800" dirty="0"/>
              <a:t> 1972, cited in Sullivan 2013, p.46). The study also found that these children continued to show aggressive behaviour throughout their childhood and teens (</a:t>
            </a:r>
            <a:r>
              <a:rPr lang="en-GB" sz="1800" dirty="0" err="1"/>
              <a:t>Eron</a:t>
            </a:r>
            <a:r>
              <a:rPr lang="en-GB" sz="1800" dirty="0"/>
              <a:t>, </a:t>
            </a:r>
            <a:r>
              <a:rPr lang="en-GB" sz="1800" dirty="0" err="1"/>
              <a:t>Huesmann</a:t>
            </a:r>
            <a:r>
              <a:rPr lang="en-GB" sz="1800" dirty="0"/>
              <a:t>, </a:t>
            </a:r>
            <a:r>
              <a:rPr lang="en-GB" sz="1800" dirty="0" err="1"/>
              <a:t>Lefkowitz</a:t>
            </a:r>
            <a:r>
              <a:rPr lang="en-GB" sz="1800" dirty="0"/>
              <a:t> and </a:t>
            </a:r>
            <a:r>
              <a:rPr lang="en-GB" sz="1800" dirty="0" err="1"/>
              <a:t>Walder</a:t>
            </a:r>
            <a:r>
              <a:rPr lang="en-GB" sz="1800" dirty="0"/>
              <a:t> 1972, cited in Sullivan 2013). Furthermore, these children, who were studied into their twenties and thirties, continued to show high measures of aggression (</a:t>
            </a:r>
            <a:r>
              <a:rPr lang="en-GB" sz="1800" dirty="0" err="1"/>
              <a:t>Huesmann</a:t>
            </a:r>
            <a:r>
              <a:rPr lang="en-GB" sz="1800" dirty="0"/>
              <a:t>, </a:t>
            </a:r>
            <a:r>
              <a:rPr lang="en-GB" sz="1800" dirty="0" err="1"/>
              <a:t>Moise</a:t>
            </a:r>
            <a:r>
              <a:rPr lang="en-GB" sz="1800" dirty="0"/>
              <a:t>-Titus, </a:t>
            </a:r>
            <a:r>
              <a:rPr lang="en-GB" sz="1800" dirty="0" err="1"/>
              <a:t>Podolski</a:t>
            </a:r>
            <a:r>
              <a:rPr lang="en-GB" sz="1800" dirty="0"/>
              <a:t> &amp; </a:t>
            </a:r>
            <a:r>
              <a:rPr lang="en-GB" sz="1800" dirty="0" err="1"/>
              <a:t>Eron</a:t>
            </a:r>
            <a:r>
              <a:rPr lang="en-GB" sz="1800" dirty="0"/>
              <a:t> 2003, cited in Sullivan 2013). This suggests that over exposure to television can have long term and negative impacts on the behaviour of children. These effects not only impact aggressive behaviour, but also children’s attitudes and values (Clay, 2003). Additional research on the link between exposure to video gaming and aggression is suggesting similar findings with a link between time spent on video games and higher scores on measures of aggression (Anderson and Bushman 2001 cited in </a:t>
            </a:r>
            <a:r>
              <a:rPr lang="en-GB" sz="1800" dirty="0" err="1"/>
              <a:t>Kirsh</a:t>
            </a:r>
            <a:r>
              <a:rPr lang="en-GB" sz="1800" dirty="0"/>
              <a:t> 2003). They suggest gaming influences aggressive behaviour, cognition, and physiological arousal. Given that 80 percent of the most popular video games on the market today are violent in nature (</a:t>
            </a:r>
            <a:r>
              <a:rPr lang="en-GB" sz="1800" dirty="0" err="1"/>
              <a:t>Diez</a:t>
            </a:r>
            <a:r>
              <a:rPr lang="en-GB" sz="1800" dirty="0"/>
              <a:t> 1998, cited in </a:t>
            </a:r>
            <a:r>
              <a:rPr lang="en-GB" sz="1800" dirty="0" err="1"/>
              <a:t>Kirsh</a:t>
            </a:r>
            <a:r>
              <a:rPr lang="en-GB" sz="1800" dirty="0"/>
              <a:t> 2003), the influence of gaming on levels of aggression are concerning. </a:t>
            </a:r>
          </a:p>
        </p:txBody>
      </p:sp>
    </p:spTree>
    <p:extLst>
      <p:ext uri="{BB962C8B-B14F-4D97-AF65-F5344CB8AC3E}">
        <p14:creationId xmlns:p14="http://schemas.microsoft.com/office/powerpoint/2010/main" val="20683455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r>
              <a:rPr lang="en-GB" sz="6000" dirty="0"/>
              <a:t>Over exposure to television and gaming are </a:t>
            </a:r>
            <a:r>
              <a:rPr lang="en-GB" sz="6000" dirty="0">
                <a:solidFill>
                  <a:srgbClr val="FF0000"/>
                </a:solidFill>
              </a:rPr>
              <a:t>two examples </a:t>
            </a:r>
            <a:r>
              <a:rPr lang="en-GB" sz="6000" dirty="0"/>
              <a:t>of possible negative impacts on children.</a:t>
            </a:r>
          </a:p>
        </p:txBody>
      </p:sp>
    </p:spTree>
    <p:extLst>
      <p:ext uri="{BB962C8B-B14F-4D97-AF65-F5344CB8AC3E}">
        <p14:creationId xmlns:p14="http://schemas.microsoft.com/office/powerpoint/2010/main" val="22234202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Paragraph example – supporting sentences</a:t>
            </a:r>
          </a:p>
        </p:txBody>
      </p:sp>
      <p:sp>
        <p:nvSpPr>
          <p:cNvPr id="3" name="Content Placeholder 2"/>
          <p:cNvSpPr>
            <a:spLocks noGrp="1"/>
          </p:cNvSpPr>
          <p:nvPr>
            <p:ph idx="1"/>
          </p:nvPr>
        </p:nvSpPr>
        <p:spPr/>
        <p:txBody>
          <a:bodyPr>
            <a:noAutofit/>
          </a:bodyPr>
          <a:lstStyle/>
          <a:p>
            <a:r>
              <a:rPr lang="en-GB" sz="1800" dirty="0"/>
              <a:t>Over exposure to television and gaming are </a:t>
            </a:r>
            <a:r>
              <a:rPr lang="en-GB" sz="1800" dirty="0">
                <a:solidFill>
                  <a:srgbClr val="FF0000"/>
                </a:solidFill>
              </a:rPr>
              <a:t>two examples </a:t>
            </a:r>
            <a:r>
              <a:rPr lang="en-GB" sz="1800" dirty="0"/>
              <a:t>of possible negative impacts on children. Research suggests that children who are over-exposed to television are more likely to display aggressive behaviours than those who are not. For example, a ten-year longitudinal study of over 430 children revealed that eight-year-old boys “who were in the upper 20% of television exposure were significantly higher on measures of aggression than the study’s other participants” (</a:t>
            </a:r>
            <a:r>
              <a:rPr lang="en-GB" sz="1800" dirty="0" err="1"/>
              <a:t>Eron</a:t>
            </a:r>
            <a:r>
              <a:rPr lang="en-GB" sz="1800" dirty="0"/>
              <a:t>, </a:t>
            </a:r>
            <a:r>
              <a:rPr lang="en-GB" sz="1800" dirty="0" err="1"/>
              <a:t>Huesmann</a:t>
            </a:r>
            <a:r>
              <a:rPr lang="en-GB" sz="1800" dirty="0"/>
              <a:t>, </a:t>
            </a:r>
            <a:r>
              <a:rPr lang="en-GB" sz="1800" dirty="0" err="1"/>
              <a:t>Lefkowitz</a:t>
            </a:r>
            <a:r>
              <a:rPr lang="en-GB" sz="1800" dirty="0"/>
              <a:t> and </a:t>
            </a:r>
            <a:r>
              <a:rPr lang="en-GB" sz="1800" dirty="0" err="1"/>
              <a:t>Walder</a:t>
            </a:r>
            <a:r>
              <a:rPr lang="en-GB" sz="1800" dirty="0"/>
              <a:t> 1972, cited in Sullivan 2013, p.46). The study also found that these children continued to show aggressive behaviour throughout their childhood and teens (</a:t>
            </a:r>
            <a:r>
              <a:rPr lang="en-GB" sz="1800" dirty="0" err="1"/>
              <a:t>Eron</a:t>
            </a:r>
            <a:r>
              <a:rPr lang="en-GB" sz="1800" dirty="0"/>
              <a:t>, </a:t>
            </a:r>
            <a:r>
              <a:rPr lang="en-GB" sz="1800" dirty="0" err="1"/>
              <a:t>Huesmann</a:t>
            </a:r>
            <a:r>
              <a:rPr lang="en-GB" sz="1800" dirty="0"/>
              <a:t>, </a:t>
            </a:r>
            <a:r>
              <a:rPr lang="en-GB" sz="1800" dirty="0" err="1"/>
              <a:t>Lefkowitz</a:t>
            </a:r>
            <a:r>
              <a:rPr lang="en-GB" sz="1800" dirty="0"/>
              <a:t> and </a:t>
            </a:r>
            <a:r>
              <a:rPr lang="en-GB" sz="1800" dirty="0" err="1"/>
              <a:t>Walder</a:t>
            </a:r>
            <a:r>
              <a:rPr lang="en-GB" sz="1800" dirty="0"/>
              <a:t> 1972, cited in Sullivan 2013). Furthermore, these children, who were studied into their twenties and thirties, continued to show high measures of aggression (</a:t>
            </a:r>
            <a:r>
              <a:rPr lang="en-GB" sz="1800" dirty="0" err="1"/>
              <a:t>Huesmann</a:t>
            </a:r>
            <a:r>
              <a:rPr lang="en-GB" sz="1800" dirty="0"/>
              <a:t>, </a:t>
            </a:r>
            <a:r>
              <a:rPr lang="en-GB" sz="1800" dirty="0" err="1"/>
              <a:t>Moise</a:t>
            </a:r>
            <a:r>
              <a:rPr lang="en-GB" sz="1800" dirty="0"/>
              <a:t>-Titus, </a:t>
            </a:r>
            <a:r>
              <a:rPr lang="en-GB" sz="1800" dirty="0" err="1"/>
              <a:t>Podolski</a:t>
            </a:r>
            <a:r>
              <a:rPr lang="en-GB" sz="1800" dirty="0"/>
              <a:t> &amp; </a:t>
            </a:r>
            <a:r>
              <a:rPr lang="en-GB" sz="1800" dirty="0" err="1"/>
              <a:t>Eron</a:t>
            </a:r>
            <a:r>
              <a:rPr lang="en-GB" sz="1800" dirty="0"/>
              <a:t> 2003, cited in Sullivan 2013). This suggests that over exposure to television can have long term and negative impacts on the behaviour of children. These effects not only impact aggressive behaviour, but also children’s attitudes and values (Clay, 2003). Additional research on the link between exposure to video gaming and aggression is suggesting similar findings with a link between time spent on video games and higher scores on measures of aggression (Anderson and Bushman 2001 cited in </a:t>
            </a:r>
            <a:r>
              <a:rPr lang="en-GB" sz="1800" dirty="0" err="1"/>
              <a:t>Kirsh</a:t>
            </a:r>
            <a:r>
              <a:rPr lang="en-GB" sz="1800" dirty="0"/>
              <a:t> 2003). They suggest gaming influences aggressive behaviour, cognition, and physiological arousal. Given that 80 percent of the most popular video games on the market today are violent in nature (</a:t>
            </a:r>
            <a:r>
              <a:rPr lang="en-GB" sz="1800" dirty="0" err="1"/>
              <a:t>Diez</a:t>
            </a:r>
            <a:r>
              <a:rPr lang="en-GB" sz="1800" dirty="0"/>
              <a:t> 1998, cited in </a:t>
            </a:r>
            <a:r>
              <a:rPr lang="en-GB" sz="1800" dirty="0" err="1"/>
              <a:t>Kirsh</a:t>
            </a:r>
            <a:r>
              <a:rPr lang="en-GB" sz="1800" dirty="0"/>
              <a:t> 2003), the influence of gaming on levels of aggression are concerning. </a:t>
            </a:r>
          </a:p>
        </p:txBody>
      </p:sp>
      <p:sp>
        <p:nvSpPr>
          <p:cNvPr id="4" name="Rectangle 3"/>
          <p:cNvSpPr/>
          <p:nvPr/>
        </p:nvSpPr>
        <p:spPr>
          <a:xfrm>
            <a:off x="994964" y="1711982"/>
            <a:ext cx="2751256" cy="426989"/>
          </a:xfrm>
          <a:prstGeom prst="rect">
            <a:avLst/>
          </a:prstGeom>
          <a:solidFill>
            <a:srgbClr val="00B050">
              <a:alpha val="32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604230" y="1663866"/>
            <a:ext cx="1135951" cy="523220"/>
          </a:xfrm>
          <a:prstGeom prst="rect">
            <a:avLst/>
          </a:prstGeom>
          <a:noFill/>
        </p:spPr>
        <p:txBody>
          <a:bodyPr wrap="square" rtlCol="0">
            <a:spAutoFit/>
          </a:bodyPr>
          <a:lstStyle/>
          <a:p>
            <a:r>
              <a:rPr lang="en-GB" sz="2800" b="1" dirty="0">
                <a:solidFill>
                  <a:srgbClr val="00B050"/>
                </a:solidFill>
              </a:rPr>
              <a:t>1</a:t>
            </a:r>
          </a:p>
        </p:txBody>
      </p:sp>
      <p:sp>
        <p:nvSpPr>
          <p:cNvPr id="6" name="Rectangle 5"/>
          <p:cNvSpPr/>
          <p:nvPr/>
        </p:nvSpPr>
        <p:spPr>
          <a:xfrm>
            <a:off x="4125879" y="1518630"/>
            <a:ext cx="744207" cy="608702"/>
          </a:xfrm>
          <a:prstGeom prst="rect">
            <a:avLst/>
          </a:prstGeom>
          <a:solidFill>
            <a:srgbClr val="E34DDC">
              <a:alpha val="32000"/>
            </a:srgbClr>
          </a:solidFill>
          <a:ln>
            <a:solidFill>
              <a:srgbClr val="E34D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1104062" y="1518630"/>
            <a:ext cx="1647194" cy="608702"/>
          </a:xfrm>
          <a:prstGeom prst="rect">
            <a:avLst/>
          </a:prstGeom>
          <a:solidFill>
            <a:srgbClr val="E34DDC">
              <a:alpha val="32000"/>
            </a:srgbClr>
          </a:solidFill>
          <a:ln>
            <a:solidFill>
              <a:srgbClr val="E34D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p:cNvSpPr txBox="1"/>
          <p:nvPr/>
        </p:nvSpPr>
        <p:spPr>
          <a:xfrm>
            <a:off x="688152" y="1290810"/>
            <a:ext cx="1135951" cy="523220"/>
          </a:xfrm>
          <a:prstGeom prst="rect">
            <a:avLst/>
          </a:prstGeom>
          <a:noFill/>
        </p:spPr>
        <p:txBody>
          <a:bodyPr wrap="square" rtlCol="0">
            <a:spAutoFit/>
          </a:bodyPr>
          <a:lstStyle/>
          <a:p>
            <a:r>
              <a:rPr lang="en-GB" sz="2800" b="1" dirty="0">
                <a:solidFill>
                  <a:srgbClr val="E34DDC"/>
                </a:solidFill>
              </a:rPr>
              <a:t>2</a:t>
            </a:r>
          </a:p>
        </p:txBody>
      </p:sp>
    </p:spTree>
    <p:extLst>
      <p:ext uri="{BB962C8B-B14F-4D97-AF65-F5344CB8AC3E}">
        <p14:creationId xmlns:p14="http://schemas.microsoft.com/office/powerpoint/2010/main" val="2666256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animBg="1"/>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Paragraph example – supporting sentences</a:t>
            </a:r>
          </a:p>
        </p:txBody>
      </p:sp>
      <p:sp>
        <p:nvSpPr>
          <p:cNvPr id="3" name="Content Placeholder 2"/>
          <p:cNvSpPr>
            <a:spLocks noGrp="1"/>
          </p:cNvSpPr>
          <p:nvPr>
            <p:ph idx="1"/>
          </p:nvPr>
        </p:nvSpPr>
        <p:spPr/>
        <p:txBody>
          <a:bodyPr>
            <a:noAutofit/>
          </a:bodyPr>
          <a:lstStyle/>
          <a:p>
            <a:r>
              <a:rPr lang="en-GB" sz="1800" dirty="0"/>
              <a:t>Over exposure to television and gaming are </a:t>
            </a:r>
            <a:r>
              <a:rPr lang="en-GB" sz="1800" dirty="0">
                <a:solidFill>
                  <a:srgbClr val="FF0000"/>
                </a:solidFill>
              </a:rPr>
              <a:t>two examples </a:t>
            </a:r>
            <a:r>
              <a:rPr lang="en-GB" sz="1800" dirty="0"/>
              <a:t>of possible negative impacts on children. Research suggests that children who are </a:t>
            </a:r>
            <a:r>
              <a:rPr lang="en-GB" sz="1800" b="1" u="sng" dirty="0">
                <a:solidFill>
                  <a:srgbClr val="00B050"/>
                </a:solidFill>
              </a:rPr>
              <a:t>over-exposed to television </a:t>
            </a:r>
            <a:r>
              <a:rPr lang="en-GB" sz="1800" dirty="0"/>
              <a:t>are more likely to display aggressive behaviours than those who are not. For example, a ten-year longitudinal study of over 430 children revealed that eight-year-old boys “who were in the upper 20% of television exposure were significantly higher on measures of aggression than the study’s other participants” (</a:t>
            </a:r>
            <a:r>
              <a:rPr lang="en-GB" sz="1800" dirty="0" err="1"/>
              <a:t>Eron</a:t>
            </a:r>
            <a:r>
              <a:rPr lang="en-GB" sz="1800" dirty="0"/>
              <a:t>, </a:t>
            </a:r>
            <a:r>
              <a:rPr lang="en-GB" sz="1800" dirty="0" err="1"/>
              <a:t>Huesmann</a:t>
            </a:r>
            <a:r>
              <a:rPr lang="en-GB" sz="1800" dirty="0"/>
              <a:t>, </a:t>
            </a:r>
            <a:r>
              <a:rPr lang="en-GB" sz="1800" dirty="0" err="1"/>
              <a:t>Lefkowitz</a:t>
            </a:r>
            <a:r>
              <a:rPr lang="en-GB" sz="1800" dirty="0"/>
              <a:t> and </a:t>
            </a:r>
            <a:r>
              <a:rPr lang="en-GB" sz="1800" dirty="0" err="1"/>
              <a:t>Walder</a:t>
            </a:r>
            <a:r>
              <a:rPr lang="en-GB" sz="1800" dirty="0"/>
              <a:t> 1972, cited in Sullivan 2013, p.46). The study also found that these children continued to show aggressive behaviour throughout their childhood and teens (</a:t>
            </a:r>
            <a:r>
              <a:rPr lang="en-GB" sz="1800" dirty="0" err="1"/>
              <a:t>Eron</a:t>
            </a:r>
            <a:r>
              <a:rPr lang="en-GB" sz="1800" dirty="0"/>
              <a:t>, </a:t>
            </a:r>
            <a:r>
              <a:rPr lang="en-GB" sz="1800" dirty="0" err="1"/>
              <a:t>Huesmann</a:t>
            </a:r>
            <a:r>
              <a:rPr lang="en-GB" sz="1800" dirty="0"/>
              <a:t>, </a:t>
            </a:r>
            <a:r>
              <a:rPr lang="en-GB" sz="1800" dirty="0" err="1"/>
              <a:t>Lefkowitz</a:t>
            </a:r>
            <a:r>
              <a:rPr lang="en-GB" sz="1800" dirty="0"/>
              <a:t> and </a:t>
            </a:r>
            <a:r>
              <a:rPr lang="en-GB" sz="1800" dirty="0" err="1"/>
              <a:t>Walder</a:t>
            </a:r>
            <a:r>
              <a:rPr lang="en-GB" sz="1800" dirty="0"/>
              <a:t> 1972, cited in Sullivan 2013). Furthermore, these children, who were studied into their twenties and thirties, continued to show high measures of aggression (</a:t>
            </a:r>
            <a:r>
              <a:rPr lang="en-GB" sz="1800" dirty="0" err="1"/>
              <a:t>Huesmann</a:t>
            </a:r>
            <a:r>
              <a:rPr lang="en-GB" sz="1800" dirty="0"/>
              <a:t>, </a:t>
            </a:r>
            <a:r>
              <a:rPr lang="en-GB" sz="1800" dirty="0" err="1"/>
              <a:t>Moise</a:t>
            </a:r>
            <a:r>
              <a:rPr lang="en-GB" sz="1800" dirty="0"/>
              <a:t>-Titus, </a:t>
            </a:r>
            <a:r>
              <a:rPr lang="en-GB" sz="1800" dirty="0" err="1"/>
              <a:t>Podolski</a:t>
            </a:r>
            <a:r>
              <a:rPr lang="en-GB" sz="1800" dirty="0"/>
              <a:t> &amp; </a:t>
            </a:r>
            <a:r>
              <a:rPr lang="en-GB" sz="1800" dirty="0" err="1"/>
              <a:t>Eron</a:t>
            </a:r>
            <a:r>
              <a:rPr lang="en-GB" sz="1800" dirty="0"/>
              <a:t> 2003, cited in Sullivan 2013). This suggests that over exposure to television can have long term and negative impacts on the behaviour of children. These effects not only impact aggressive behaviour, but also children’s attitudes and values (Clay, 2003). Additional research on the link between </a:t>
            </a:r>
            <a:r>
              <a:rPr lang="en-GB" sz="1800" b="1" u="sng" dirty="0">
                <a:solidFill>
                  <a:srgbClr val="E34DDC"/>
                </a:solidFill>
              </a:rPr>
              <a:t>exposure to video gaming </a:t>
            </a:r>
            <a:r>
              <a:rPr lang="en-GB" sz="1800" dirty="0"/>
              <a:t>and aggression is suggesting similar findings with a link between time spent on video games and higher scores on measures of aggression (Anderson and Bushman 2001 cited in </a:t>
            </a:r>
            <a:r>
              <a:rPr lang="en-GB" sz="1800" dirty="0" err="1"/>
              <a:t>Kirsh</a:t>
            </a:r>
            <a:r>
              <a:rPr lang="en-GB" sz="1800" dirty="0"/>
              <a:t> 2003). They suggest gaming influences aggressive behaviour, cognition, and physiological arousal. Given that 80 percent of the most popular video games on the market today are violent in nature (</a:t>
            </a:r>
            <a:r>
              <a:rPr lang="en-GB" sz="1800" dirty="0" err="1"/>
              <a:t>Diez</a:t>
            </a:r>
            <a:r>
              <a:rPr lang="en-GB" sz="1800" dirty="0"/>
              <a:t> 1998, cited in </a:t>
            </a:r>
            <a:r>
              <a:rPr lang="en-GB" sz="1800" dirty="0" err="1"/>
              <a:t>Kirsh</a:t>
            </a:r>
            <a:r>
              <a:rPr lang="en-GB" sz="1800" dirty="0"/>
              <a:t> 2003), the influence of gaming on levels of aggression are concerning. </a:t>
            </a:r>
          </a:p>
        </p:txBody>
      </p:sp>
      <p:sp>
        <p:nvSpPr>
          <p:cNvPr id="4" name="Rectangle 3"/>
          <p:cNvSpPr/>
          <p:nvPr/>
        </p:nvSpPr>
        <p:spPr>
          <a:xfrm>
            <a:off x="994964" y="1711982"/>
            <a:ext cx="2751256" cy="426989"/>
          </a:xfrm>
          <a:prstGeom prst="rect">
            <a:avLst/>
          </a:prstGeom>
          <a:solidFill>
            <a:srgbClr val="00B050">
              <a:alpha val="32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604230" y="1663866"/>
            <a:ext cx="1135951" cy="523220"/>
          </a:xfrm>
          <a:prstGeom prst="rect">
            <a:avLst/>
          </a:prstGeom>
          <a:noFill/>
        </p:spPr>
        <p:txBody>
          <a:bodyPr wrap="square" rtlCol="0">
            <a:spAutoFit/>
          </a:bodyPr>
          <a:lstStyle/>
          <a:p>
            <a:r>
              <a:rPr lang="en-GB" sz="2800" b="1" dirty="0">
                <a:solidFill>
                  <a:srgbClr val="00B050"/>
                </a:solidFill>
              </a:rPr>
              <a:t>1</a:t>
            </a:r>
          </a:p>
        </p:txBody>
      </p:sp>
      <p:sp>
        <p:nvSpPr>
          <p:cNvPr id="6" name="Rectangle 5"/>
          <p:cNvSpPr/>
          <p:nvPr/>
        </p:nvSpPr>
        <p:spPr>
          <a:xfrm>
            <a:off x="4125879" y="1518630"/>
            <a:ext cx="744207" cy="608702"/>
          </a:xfrm>
          <a:prstGeom prst="rect">
            <a:avLst/>
          </a:prstGeom>
          <a:solidFill>
            <a:srgbClr val="E34DDC">
              <a:alpha val="32000"/>
            </a:srgbClr>
          </a:solidFill>
          <a:ln>
            <a:solidFill>
              <a:srgbClr val="E34D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1104062" y="1518630"/>
            <a:ext cx="1647194" cy="608702"/>
          </a:xfrm>
          <a:prstGeom prst="rect">
            <a:avLst/>
          </a:prstGeom>
          <a:solidFill>
            <a:srgbClr val="E34DDC">
              <a:alpha val="32000"/>
            </a:srgbClr>
          </a:solidFill>
          <a:ln>
            <a:solidFill>
              <a:srgbClr val="E34D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p:cNvSpPr txBox="1"/>
          <p:nvPr/>
        </p:nvSpPr>
        <p:spPr>
          <a:xfrm>
            <a:off x="688152" y="1290810"/>
            <a:ext cx="1135951" cy="523220"/>
          </a:xfrm>
          <a:prstGeom prst="rect">
            <a:avLst/>
          </a:prstGeom>
          <a:noFill/>
        </p:spPr>
        <p:txBody>
          <a:bodyPr wrap="square" rtlCol="0">
            <a:spAutoFit/>
          </a:bodyPr>
          <a:lstStyle/>
          <a:p>
            <a:r>
              <a:rPr lang="en-GB" sz="2800" b="1" dirty="0">
                <a:solidFill>
                  <a:srgbClr val="E34DDC"/>
                </a:solidFill>
              </a:rPr>
              <a:t>2</a:t>
            </a:r>
          </a:p>
        </p:txBody>
      </p:sp>
    </p:spTree>
    <p:extLst>
      <p:ext uri="{BB962C8B-B14F-4D97-AF65-F5344CB8AC3E}">
        <p14:creationId xmlns:p14="http://schemas.microsoft.com/office/powerpoint/2010/main" val="1957444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Paragraph example – supporting sentences</a:t>
            </a:r>
          </a:p>
        </p:txBody>
      </p:sp>
      <p:sp>
        <p:nvSpPr>
          <p:cNvPr id="3" name="Content Placeholder 2"/>
          <p:cNvSpPr>
            <a:spLocks noGrp="1"/>
          </p:cNvSpPr>
          <p:nvPr>
            <p:ph idx="1"/>
          </p:nvPr>
        </p:nvSpPr>
        <p:spPr/>
        <p:txBody>
          <a:bodyPr>
            <a:noAutofit/>
          </a:bodyPr>
          <a:lstStyle/>
          <a:p>
            <a:r>
              <a:rPr lang="en-GB" sz="1800" dirty="0"/>
              <a:t>Over exposure to television and gaming are </a:t>
            </a:r>
            <a:r>
              <a:rPr lang="en-GB" sz="1800" dirty="0">
                <a:solidFill>
                  <a:srgbClr val="FF0000"/>
                </a:solidFill>
              </a:rPr>
              <a:t>two examples </a:t>
            </a:r>
            <a:r>
              <a:rPr lang="en-GB" sz="1800" dirty="0"/>
              <a:t>of possible negative impacts on children. Research suggests that children who are </a:t>
            </a:r>
            <a:r>
              <a:rPr lang="en-GB" sz="1800" b="1" u="sng" dirty="0">
                <a:solidFill>
                  <a:srgbClr val="00B050"/>
                </a:solidFill>
              </a:rPr>
              <a:t>over-exposed to television </a:t>
            </a:r>
            <a:r>
              <a:rPr lang="en-GB" sz="1800" dirty="0"/>
              <a:t>are more likely to display aggressive behaviours than those who are not. For example, a ten-year longitudinal study of over 430 children revealed that eight-year-old boys “who were in the upper 20% of television exposure were significantly higher on measures of aggression than the study’s other participants” (</a:t>
            </a:r>
            <a:r>
              <a:rPr lang="en-GB" sz="1800" dirty="0" err="1"/>
              <a:t>Eron</a:t>
            </a:r>
            <a:r>
              <a:rPr lang="en-GB" sz="1800" dirty="0"/>
              <a:t>, </a:t>
            </a:r>
            <a:r>
              <a:rPr lang="en-GB" sz="1800" dirty="0" err="1"/>
              <a:t>Huesmann</a:t>
            </a:r>
            <a:r>
              <a:rPr lang="en-GB" sz="1800" dirty="0"/>
              <a:t>, </a:t>
            </a:r>
            <a:r>
              <a:rPr lang="en-GB" sz="1800" dirty="0" err="1"/>
              <a:t>Lefkowitz</a:t>
            </a:r>
            <a:r>
              <a:rPr lang="en-GB" sz="1800" dirty="0"/>
              <a:t> and </a:t>
            </a:r>
            <a:r>
              <a:rPr lang="en-GB" sz="1800" dirty="0" err="1"/>
              <a:t>Walder</a:t>
            </a:r>
            <a:r>
              <a:rPr lang="en-GB" sz="1800" dirty="0"/>
              <a:t> 1972, cited in Sullivan 2013, p.46). The study also found that these children continued to show aggressive behaviour throughout their childhood and teens (</a:t>
            </a:r>
            <a:r>
              <a:rPr lang="en-GB" sz="1800" dirty="0" err="1"/>
              <a:t>Eron</a:t>
            </a:r>
            <a:r>
              <a:rPr lang="en-GB" sz="1800" dirty="0"/>
              <a:t>, </a:t>
            </a:r>
            <a:r>
              <a:rPr lang="en-GB" sz="1800" dirty="0" err="1"/>
              <a:t>Huesmann</a:t>
            </a:r>
            <a:r>
              <a:rPr lang="en-GB" sz="1800" dirty="0"/>
              <a:t>, </a:t>
            </a:r>
            <a:r>
              <a:rPr lang="en-GB" sz="1800" dirty="0" err="1"/>
              <a:t>Lefkowitz</a:t>
            </a:r>
            <a:r>
              <a:rPr lang="en-GB" sz="1800" dirty="0"/>
              <a:t> and </a:t>
            </a:r>
            <a:r>
              <a:rPr lang="en-GB" sz="1800" dirty="0" err="1"/>
              <a:t>Walder</a:t>
            </a:r>
            <a:r>
              <a:rPr lang="en-GB" sz="1800" dirty="0"/>
              <a:t> 1972, cited in Sullivan 2013). Furthermore, these children, who were studied into their twenties and thirties, continued to show high measures of aggression (</a:t>
            </a:r>
            <a:r>
              <a:rPr lang="en-GB" sz="1800" dirty="0" err="1"/>
              <a:t>Huesmann</a:t>
            </a:r>
            <a:r>
              <a:rPr lang="en-GB" sz="1800" dirty="0"/>
              <a:t>, </a:t>
            </a:r>
            <a:r>
              <a:rPr lang="en-GB" sz="1800" dirty="0" err="1"/>
              <a:t>Moise</a:t>
            </a:r>
            <a:r>
              <a:rPr lang="en-GB" sz="1800" dirty="0"/>
              <a:t>-Titus, </a:t>
            </a:r>
            <a:r>
              <a:rPr lang="en-GB" sz="1800" dirty="0" err="1"/>
              <a:t>Podolski</a:t>
            </a:r>
            <a:r>
              <a:rPr lang="en-GB" sz="1800" dirty="0"/>
              <a:t> &amp; </a:t>
            </a:r>
            <a:r>
              <a:rPr lang="en-GB" sz="1800" dirty="0" err="1"/>
              <a:t>Eron</a:t>
            </a:r>
            <a:r>
              <a:rPr lang="en-GB" sz="1800" dirty="0"/>
              <a:t> 2003, cited in Sullivan 2013). This suggests that over exposure to television can have long term and negative impacts on the behaviour of children. These effects not only impact aggressive behaviour, but also children’s attitudes and values (Clay, 2003). Additional research on the link between </a:t>
            </a:r>
            <a:r>
              <a:rPr lang="en-GB" sz="1800" b="1" u="sng" dirty="0">
                <a:solidFill>
                  <a:srgbClr val="E34DDC"/>
                </a:solidFill>
              </a:rPr>
              <a:t>exposure to video gaming </a:t>
            </a:r>
            <a:r>
              <a:rPr lang="en-GB" sz="1800" dirty="0"/>
              <a:t>and aggression is suggesting similar findings with a link between time spent on video games and higher scores on measures of aggression (Anderson and Bushman 2001 cited in </a:t>
            </a:r>
            <a:r>
              <a:rPr lang="en-GB" sz="1800" dirty="0" err="1"/>
              <a:t>Kirsh</a:t>
            </a:r>
            <a:r>
              <a:rPr lang="en-GB" sz="1800" dirty="0"/>
              <a:t> 2003). They suggest gaming influences aggressive behaviour, cognition, and physiological arousal. Given that 80 percent of the most popular video games on the market today are violent in nature (</a:t>
            </a:r>
            <a:r>
              <a:rPr lang="en-GB" sz="1800" dirty="0" err="1"/>
              <a:t>Diez</a:t>
            </a:r>
            <a:r>
              <a:rPr lang="en-GB" sz="1800" dirty="0"/>
              <a:t> 1998, cited in </a:t>
            </a:r>
            <a:r>
              <a:rPr lang="en-GB" sz="1800" dirty="0" err="1"/>
              <a:t>Kirsh</a:t>
            </a:r>
            <a:r>
              <a:rPr lang="en-GB" sz="1800" dirty="0"/>
              <a:t> 2003), the influence of gaming on levels of aggression are concerning. </a:t>
            </a:r>
          </a:p>
        </p:txBody>
      </p:sp>
      <p:sp>
        <p:nvSpPr>
          <p:cNvPr id="4" name="Rectangle 3"/>
          <p:cNvSpPr/>
          <p:nvPr/>
        </p:nvSpPr>
        <p:spPr>
          <a:xfrm>
            <a:off x="994964" y="1711982"/>
            <a:ext cx="2751256" cy="426989"/>
          </a:xfrm>
          <a:prstGeom prst="rect">
            <a:avLst/>
          </a:prstGeom>
          <a:solidFill>
            <a:srgbClr val="00B050">
              <a:alpha val="32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604230" y="1663866"/>
            <a:ext cx="1135951" cy="523220"/>
          </a:xfrm>
          <a:prstGeom prst="rect">
            <a:avLst/>
          </a:prstGeom>
          <a:noFill/>
        </p:spPr>
        <p:txBody>
          <a:bodyPr wrap="square" rtlCol="0">
            <a:spAutoFit/>
          </a:bodyPr>
          <a:lstStyle/>
          <a:p>
            <a:r>
              <a:rPr lang="en-GB" sz="2800" b="1" dirty="0">
                <a:solidFill>
                  <a:srgbClr val="00B050"/>
                </a:solidFill>
              </a:rPr>
              <a:t>1</a:t>
            </a:r>
          </a:p>
        </p:txBody>
      </p:sp>
      <p:sp>
        <p:nvSpPr>
          <p:cNvPr id="6" name="Rectangle 5"/>
          <p:cNvSpPr/>
          <p:nvPr/>
        </p:nvSpPr>
        <p:spPr>
          <a:xfrm>
            <a:off x="4125879" y="1518630"/>
            <a:ext cx="744207" cy="608702"/>
          </a:xfrm>
          <a:prstGeom prst="rect">
            <a:avLst/>
          </a:prstGeom>
          <a:solidFill>
            <a:srgbClr val="E34DDC">
              <a:alpha val="32000"/>
            </a:srgbClr>
          </a:solidFill>
          <a:ln>
            <a:solidFill>
              <a:srgbClr val="E34D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1104062" y="1518630"/>
            <a:ext cx="1647194" cy="608702"/>
          </a:xfrm>
          <a:prstGeom prst="rect">
            <a:avLst/>
          </a:prstGeom>
          <a:solidFill>
            <a:srgbClr val="E34DDC">
              <a:alpha val="32000"/>
            </a:srgbClr>
          </a:solidFill>
          <a:ln>
            <a:solidFill>
              <a:srgbClr val="E34D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p:cNvSpPr txBox="1"/>
          <p:nvPr/>
        </p:nvSpPr>
        <p:spPr>
          <a:xfrm>
            <a:off x="688152" y="1290810"/>
            <a:ext cx="1135951" cy="523220"/>
          </a:xfrm>
          <a:prstGeom prst="rect">
            <a:avLst/>
          </a:prstGeom>
          <a:noFill/>
        </p:spPr>
        <p:txBody>
          <a:bodyPr wrap="square" rtlCol="0">
            <a:spAutoFit/>
          </a:bodyPr>
          <a:lstStyle/>
          <a:p>
            <a:r>
              <a:rPr lang="en-GB" sz="2800" b="1" dirty="0">
                <a:solidFill>
                  <a:srgbClr val="E34DDC"/>
                </a:solidFill>
              </a:rPr>
              <a:t>2</a:t>
            </a:r>
          </a:p>
        </p:txBody>
      </p:sp>
      <p:sp>
        <p:nvSpPr>
          <p:cNvPr id="10" name="Freeform 9"/>
          <p:cNvSpPr/>
          <p:nvPr/>
        </p:nvSpPr>
        <p:spPr>
          <a:xfrm>
            <a:off x="1051358" y="1774641"/>
            <a:ext cx="10408853" cy="2807651"/>
          </a:xfrm>
          <a:custGeom>
            <a:avLst/>
            <a:gdLst>
              <a:gd name="connsiteX0" fmla="*/ 9329297 w 10408853"/>
              <a:gd name="connsiteY0" fmla="*/ 20141 h 2807651"/>
              <a:gd name="connsiteX1" fmla="*/ 9329297 w 10408853"/>
              <a:gd name="connsiteY1" fmla="*/ 20141 h 2807651"/>
              <a:gd name="connsiteX2" fmla="*/ 9341381 w 10408853"/>
              <a:gd name="connsiteY2" fmla="*/ 253776 h 2807651"/>
              <a:gd name="connsiteX3" fmla="*/ 9333325 w 10408853"/>
              <a:gd name="connsiteY3" fmla="*/ 281973 h 2807651"/>
              <a:gd name="connsiteX4" fmla="*/ 9321240 w 10408853"/>
              <a:gd name="connsiteY4" fmla="*/ 286001 h 2807651"/>
              <a:gd name="connsiteX5" fmla="*/ 9309156 w 10408853"/>
              <a:gd name="connsiteY5" fmla="*/ 298086 h 2807651"/>
              <a:gd name="connsiteX6" fmla="*/ 9297071 w 10408853"/>
              <a:gd name="connsiteY6" fmla="*/ 302114 h 2807651"/>
              <a:gd name="connsiteX7" fmla="*/ 9260817 w 10408853"/>
              <a:gd name="connsiteY7" fmla="*/ 306142 h 2807651"/>
              <a:gd name="connsiteX8" fmla="*/ 9220535 w 10408853"/>
              <a:gd name="connsiteY8" fmla="*/ 314199 h 2807651"/>
              <a:gd name="connsiteX9" fmla="*/ 9208451 w 10408853"/>
              <a:gd name="connsiteY9" fmla="*/ 318227 h 2807651"/>
              <a:gd name="connsiteX10" fmla="*/ 9035239 w 10408853"/>
              <a:gd name="connsiteY10" fmla="*/ 326283 h 2807651"/>
              <a:gd name="connsiteX11" fmla="*/ 8978844 w 10408853"/>
              <a:gd name="connsiteY11" fmla="*/ 330312 h 2807651"/>
              <a:gd name="connsiteX12" fmla="*/ 8890224 w 10408853"/>
              <a:gd name="connsiteY12" fmla="*/ 334340 h 2807651"/>
              <a:gd name="connsiteX13" fmla="*/ 8753265 w 10408853"/>
              <a:gd name="connsiteY13" fmla="*/ 330312 h 2807651"/>
              <a:gd name="connsiteX14" fmla="*/ 7983880 w 10408853"/>
              <a:gd name="connsiteY14" fmla="*/ 342396 h 2807651"/>
              <a:gd name="connsiteX15" fmla="*/ 7903316 w 10408853"/>
              <a:gd name="connsiteY15" fmla="*/ 350453 h 2807651"/>
              <a:gd name="connsiteX16" fmla="*/ 7887203 w 10408853"/>
              <a:gd name="connsiteY16" fmla="*/ 354481 h 2807651"/>
              <a:gd name="connsiteX17" fmla="*/ 7641484 w 10408853"/>
              <a:gd name="connsiteY17" fmla="*/ 350453 h 2807651"/>
              <a:gd name="connsiteX18" fmla="*/ 7581061 w 10408853"/>
              <a:gd name="connsiteY18" fmla="*/ 342396 h 2807651"/>
              <a:gd name="connsiteX19" fmla="*/ 7568976 w 10408853"/>
              <a:gd name="connsiteY19" fmla="*/ 338368 h 2807651"/>
              <a:gd name="connsiteX20" fmla="*/ 7484384 w 10408853"/>
              <a:gd name="connsiteY20" fmla="*/ 334340 h 2807651"/>
              <a:gd name="connsiteX21" fmla="*/ 7476328 w 10408853"/>
              <a:gd name="connsiteY21" fmla="*/ 326283 h 2807651"/>
              <a:gd name="connsiteX22" fmla="*/ 7411876 w 10408853"/>
              <a:gd name="connsiteY22" fmla="*/ 322255 h 2807651"/>
              <a:gd name="connsiteX23" fmla="*/ 7399792 w 10408853"/>
              <a:gd name="connsiteY23" fmla="*/ 318227 h 2807651"/>
              <a:gd name="connsiteX24" fmla="*/ 7335341 w 10408853"/>
              <a:gd name="connsiteY24" fmla="*/ 314199 h 2807651"/>
              <a:gd name="connsiteX25" fmla="*/ 7319228 w 10408853"/>
              <a:gd name="connsiteY25" fmla="*/ 306142 h 2807651"/>
              <a:gd name="connsiteX26" fmla="*/ 6868070 w 10408853"/>
              <a:gd name="connsiteY26" fmla="*/ 298086 h 2807651"/>
              <a:gd name="connsiteX27" fmla="*/ 6807647 w 10408853"/>
              <a:gd name="connsiteY27" fmla="*/ 302114 h 2807651"/>
              <a:gd name="connsiteX28" fmla="*/ 6795563 w 10408853"/>
              <a:gd name="connsiteY28" fmla="*/ 310171 h 2807651"/>
              <a:gd name="connsiteX29" fmla="*/ 2179253 w 10408853"/>
              <a:gd name="connsiteY29" fmla="*/ 374622 h 2807651"/>
              <a:gd name="connsiteX30" fmla="*/ 0 w 10408853"/>
              <a:gd name="connsiteY30" fmla="*/ 366565 h 2807651"/>
              <a:gd name="connsiteX31" fmla="*/ 16113 w 10408853"/>
              <a:gd name="connsiteY31" fmla="*/ 2807651 h 2807651"/>
              <a:gd name="connsiteX32" fmla="*/ 10408853 w 10408853"/>
              <a:gd name="connsiteY32" fmla="*/ 2791538 h 2807651"/>
              <a:gd name="connsiteX33" fmla="*/ 10316204 w 10408853"/>
              <a:gd name="connsiteY33" fmla="*/ 0 h 2807651"/>
              <a:gd name="connsiteX34" fmla="*/ 9329297 w 10408853"/>
              <a:gd name="connsiteY34" fmla="*/ 20141 h 2807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08853" h="2807651">
                <a:moveTo>
                  <a:pt x="9329297" y="20141"/>
                </a:moveTo>
                <a:lnTo>
                  <a:pt x="9329297" y="20141"/>
                </a:lnTo>
                <a:cubicBezTo>
                  <a:pt x="9374836" y="111216"/>
                  <a:pt x="9349035" y="47129"/>
                  <a:pt x="9341381" y="253776"/>
                </a:cubicBezTo>
                <a:cubicBezTo>
                  <a:pt x="9341377" y="253884"/>
                  <a:pt x="9335228" y="280070"/>
                  <a:pt x="9333325" y="281973"/>
                </a:cubicBezTo>
                <a:cubicBezTo>
                  <a:pt x="9330322" y="284975"/>
                  <a:pt x="9325268" y="284658"/>
                  <a:pt x="9321240" y="286001"/>
                </a:cubicBezTo>
                <a:cubicBezTo>
                  <a:pt x="9317212" y="290029"/>
                  <a:pt x="9313896" y="294926"/>
                  <a:pt x="9309156" y="298086"/>
                </a:cubicBezTo>
                <a:cubicBezTo>
                  <a:pt x="9305623" y="300441"/>
                  <a:pt x="9301259" y="301416"/>
                  <a:pt x="9297071" y="302114"/>
                </a:cubicBezTo>
                <a:cubicBezTo>
                  <a:pt x="9285077" y="304113"/>
                  <a:pt x="9272902" y="304799"/>
                  <a:pt x="9260817" y="306142"/>
                </a:cubicBezTo>
                <a:cubicBezTo>
                  <a:pt x="9196720" y="322170"/>
                  <a:pt x="9309271" y="294481"/>
                  <a:pt x="9220535" y="314199"/>
                </a:cubicBezTo>
                <a:cubicBezTo>
                  <a:pt x="9216390" y="315120"/>
                  <a:pt x="9212688" y="317951"/>
                  <a:pt x="9208451" y="318227"/>
                </a:cubicBezTo>
                <a:cubicBezTo>
                  <a:pt x="9150774" y="321988"/>
                  <a:pt x="9092976" y="323598"/>
                  <a:pt x="9035239" y="326283"/>
                </a:cubicBezTo>
                <a:cubicBezTo>
                  <a:pt x="8983485" y="317658"/>
                  <a:pt x="9041580" y="324038"/>
                  <a:pt x="8978844" y="330312"/>
                </a:cubicBezTo>
                <a:cubicBezTo>
                  <a:pt x="8949420" y="333254"/>
                  <a:pt x="8919764" y="332997"/>
                  <a:pt x="8890224" y="334340"/>
                </a:cubicBezTo>
                <a:cubicBezTo>
                  <a:pt x="8836024" y="352405"/>
                  <a:pt x="8907367" y="330312"/>
                  <a:pt x="8753265" y="330312"/>
                </a:cubicBezTo>
                <a:cubicBezTo>
                  <a:pt x="8661277" y="330312"/>
                  <a:pt x="8170360" y="339125"/>
                  <a:pt x="7983880" y="342396"/>
                </a:cubicBezTo>
                <a:cubicBezTo>
                  <a:pt x="7942385" y="352769"/>
                  <a:pt x="7990787" y="341705"/>
                  <a:pt x="7903316" y="350453"/>
                </a:cubicBezTo>
                <a:cubicBezTo>
                  <a:pt x="7897807" y="351004"/>
                  <a:pt x="7892574" y="353138"/>
                  <a:pt x="7887203" y="354481"/>
                </a:cubicBezTo>
                <a:cubicBezTo>
                  <a:pt x="7805297" y="353138"/>
                  <a:pt x="7723338" y="353684"/>
                  <a:pt x="7641484" y="350453"/>
                </a:cubicBezTo>
                <a:cubicBezTo>
                  <a:pt x="7621181" y="349652"/>
                  <a:pt x="7601104" y="345737"/>
                  <a:pt x="7581061" y="342396"/>
                </a:cubicBezTo>
                <a:cubicBezTo>
                  <a:pt x="7576873" y="341698"/>
                  <a:pt x="7573208" y="338721"/>
                  <a:pt x="7568976" y="338368"/>
                </a:cubicBezTo>
                <a:cubicBezTo>
                  <a:pt x="7540844" y="336024"/>
                  <a:pt x="7512581" y="335683"/>
                  <a:pt x="7484384" y="334340"/>
                </a:cubicBezTo>
                <a:cubicBezTo>
                  <a:pt x="7481699" y="331654"/>
                  <a:pt x="7480074" y="326907"/>
                  <a:pt x="7476328" y="326283"/>
                </a:cubicBezTo>
                <a:cubicBezTo>
                  <a:pt x="7455095" y="322744"/>
                  <a:pt x="7433284" y="324508"/>
                  <a:pt x="7411876" y="322255"/>
                </a:cubicBezTo>
                <a:cubicBezTo>
                  <a:pt x="7407653" y="321811"/>
                  <a:pt x="7404015" y="318671"/>
                  <a:pt x="7399792" y="318227"/>
                </a:cubicBezTo>
                <a:cubicBezTo>
                  <a:pt x="7378385" y="315974"/>
                  <a:pt x="7356825" y="315542"/>
                  <a:pt x="7335341" y="314199"/>
                </a:cubicBezTo>
                <a:cubicBezTo>
                  <a:pt x="7329970" y="311513"/>
                  <a:pt x="7325231" y="306303"/>
                  <a:pt x="7319228" y="306142"/>
                </a:cubicBezTo>
                <a:cubicBezTo>
                  <a:pt x="6844048" y="293414"/>
                  <a:pt x="7026196" y="337615"/>
                  <a:pt x="6868070" y="298086"/>
                </a:cubicBezTo>
                <a:cubicBezTo>
                  <a:pt x="6847929" y="299429"/>
                  <a:pt x="6827558" y="298795"/>
                  <a:pt x="6807647" y="302114"/>
                </a:cubicBezTo>
                <a:cubicBezTo>
                  <a:pt x="6802872" y="302910"/>
                  <a:pt x="6795563" y="310171"/>
                  <a:pt x="6795563" y="310171"/>
                </a:cubicBezTo>
                <a:lnTo>
                  <a:pt x="2179253" y="374622"/>
                </a:lnTo>
                <a:lnTo>
                  <a:pt x="0" y="366565"/>
                </a:lnTo>
                <a:lnTo>
                  <a:pt x="16113" y="2807651"/>
                </a:lnTo>
                <a:lnTo>
                  <a:pt x="10408853" y="2791538"/>
                </a:lnTo>
                <a:lnTo>
                  <a:pt x="10316204" y="0"/>
                </a:lnTo>
                <a:lnTo>
                  <a:pt x="9329297" y="20141"/>
                </a:lnTo>
                <a:close/>
              </a:path>
            </a:pathLst>
          </a:custGeom>
          <a:solidFill>
            <a:srgbClr val="00B050">
              <a:alpha val="32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p:cNvSpPr/>
          <p:nvPr/>
        </p:nvSpPr>
        <p:spPr>
          <a:xfrm>
            <a:off x="1101709" y="4628395"/>
            <a:ext cx="10308149" cy="1542799"/>
          </a:xfrm>
          <a:prstGeom prst="rect">
            <a:avLst/>
          </a:prstGeom>
          <a:solidFill>
            <a:srgbClr val="E34DDC">
              <a:alpha val="32000"/>
            </a:srgbClr>
          </a:solidFill>
          <a:ln>
            <a:solidFill>
              <a:srgbClr val="E34D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578062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Paragraph example – supporting sentences</a:t>
            </a:r>
          </a:p>
        </p:txBody>
      </p:sp>
      <p:sp>
        <p:nvSpPr>
          <p:cNvPr id="3" name="Content Placeholder 2"/>
          <p:cNvSpPr>
            <a:spLocks noGrp="1"/>
          </p:cNvSpPr>
          <p:nvPr>
            <p:ph idx="1"/>
          </p:nvPr>
        </p:nvSpPr>
        <p:spPr/>
        <p:txBody>
          <a:bodyPr>
            <a:noAutofit/>
          </a:bodyPr>
          <a:lstStyle/>
          <a:p>
            <a:r>
              <a:rPr lang="en-GB" sz="1800" dirty="0"/>
              <a:t>Over exposure to television and gaming are </a:t>
            </a:r>
            <a:r>
              <a:rPr lang="en-GB" sz="1800" dirty="0">
                <a:solidFill>
                  <a:srgbClr val="FF0000"/>
                </a:solidFill>
              </a:rPr>
              <a:t>two examples </a:t>
            </a:r>
            <a:r>
              <a:rPr lang="en-GB" sz="1800" dirty="0"/>
              <a:t>of possible negative impacts on children. Research suggests that children who are </a:t>
            </a:r>
            <a:r>
              <a:rPr lang="en-GB" sz="1800" b="1" u="sng" dirty="0">
                <a:solidFill>
                  <a:srgbClr val="00B050"/>
                </a:solidFill>
              </a:rPr>
              <a:t>over-exposed to television </a:t>
            </a:r>
            <a:r>
              <a:rPr lang="en-GB" sz="1800" dirty="0"/>
              <a:t>are more likely to display aggressive behaviours than those who are not. For example, a ten-year longitudinal study of over 430 children revealed that eight-year-old boys “who were in the upper 20% of television exposure were significantly higher on measures of aggression than the study’s other participants” (</a:t>
            </a:r>
            <a:r>
              <a:rPr lang="en-GB" sz="1800" dirty="0" err="1"/>
              <a:t>Eron</a:t>
            </a:r>
            <a:r>
              <a:rPr lang="en-GB" sz="1800" dirty="0"/>
              <a:t>, </a:t>
            </a:r>
            <a:r>
              <a:rPr lang="en-GB" sz="1800" dirty="0" err="1"/>
              <a:t>Huesmann</a:t>
            </a:r>
            <a:r>
              <a:rPr lang="en-GB" sz="1800" dirty="0"/>
              <a:t>, </a:t>
            </a:r>
            <a:r>
              <a:rPr lang="en-GB" sz="1800" dirty="0" err="1"/>
              <a:t>Lefkowitz</a:t>
            </a:r>
            <a:r>
              <a:rPr lang="en-GB" sz="1800" dirty="0"/>
              <a:t> and </a:t>
            </a:r>
            <a:r>
              <a:rPr lang="en-GB" sz="1800" dirty="0" err="1"/>
              <a:t>Walder</a:t>
            </a:r>
            <a:r>
              <a:rPr lang="en-GB" sz="1800" dirty="0"/>
              <a:t> 1972, cited in Sullivan 2013, p.46). The study also found that these children continued to show aggressive behaviour throughout their childhood and teens (</a:t>
            </a:r>
            <a:r>
              <a:rPr lang="en-GB" sz="1800" dirty="0" err="1"/>
              <a:t>Eron</a:t>
            </a:r>
            <a:r>
              <a:rPr lang="en-GB" sz="1800" dirty="0"/>
              <a:t>, </a:t>
            </a:r>
            <a:r>
              <a:rPr lang="en-GB" sz="1800" dirty="0" err="1"/>
              <a:t>Huesmann</a:t>
            </a:r>
            <a:r>
              <a:rPr lang="en-GB" sz="1800" dirty="0"/>
              <a:t>, </a:t>
            </a:r>
            <a:r>
              <a:rPr lang="en-GB" sz="1800" dirty="0" err="1"/>
              <a:t>Lefkowitz</a:t>
            </a:r>
            <a:r>
              <a:rPr lang="en-GB" sz="1800" dirty="0"/>
              <a:t> and </a:t>
            </a:r>
            <a:r>
              <a:rPr lang="en-GB" sz="1800" dirty="0" err="1"/>
              <a:t>Walder</a:t>
            </a:r>
            <a:r>
              <a:rPr lang="en-GB" sz="1800" dirty="0"/>
              <a:t> 1972, cited in Sullivan 2013). Furthermore, these children, who were studied into their twenties and thirties, continued to show high measures of aggression (</a:t>
            </a:r>
            <a:r>
              <a:rPr lang="en-GB" sz="1800" dirty="0" err="1"/>
              <a:t>Huesmann</a:t>
            </a:r>
            <a:r>
              <a:rPr lang="en-GB" sz="1800" dirty="0"/>
              <a:t>, </a:t>
            </a:r>
            <a:r>
              <a:rPr lang="en-GB" sz="1800" dirty="0" err="1"/>
              <a:t>Moise</a:t>
            </a:r>
            <a:r>
              <a:rPr lang="en-GB" sz="1800" dirty="0"/>
              <a:t>-Titus, </a:t>
            </a:r>
            <a:r>
              <a:rPr lang="en-GB" sz="1800" dirty="0" err="1"/>
              <a:t>Podolski</a:t>
            </a:r>
            <a:r>
              <a:rPr lang="en-GB" sz="1800" dirty="0"/>
              <a:t> &amp; </a:t>
            </a:r>
            <a:r>
              <a:rPr lang="en-GB" sz="1800" dirty="0" err="1"/>
              <a:t>Eron</a:t>
            </a:r>
            <a:r>
              <a:rPr lang="en-GB" sz="1800" dirty="0"/>
              <a:t> 2003, cited in Sullivan 2013). This suggests that over exposure to television can have long term and negative impacts on the behaviour of children. These effects not only impact aggressive behaviour, but also children’s attitudes and values (Clay, 2003). Additional research on the link between </a:t>
            </a:r>
            <a:r>
              <a:rPr lang="en-GB" sz="1800" b="1" u="sng" dirty="0">
                <a:solidFill>
                  <a:srgbClr val="E34DDC"/>
                </a:solidFill>
              </a:rPr>
              <a:t>exposure to video gaming </a:t>
            </a:r>
            <a:r>
              <a:rPr lang="en-GB" sz="1800" dirty="0"/>
              <a:t>and aggression is suggesting similar findings with a link between time spent on video games and higher scores on measures of aggression (Anderson and Bushman 2001 cited in </a:t>
            </a:r>
            <a:r>
              <a:rPr lang="en-GB" sz="1800" dirty="0" err="1"/>
              <a:t>Kirsh</a:t>
            </a:r>
            <a:r>
              <a:rPr lang="en-GB" sz="1800" dirty="0"/>
              <a:t> 2003). They suggest gaming influences aggressive behaviour, cognition, and physiological arousal. Given that 80 percent of the most popular video games on the market today are violent in nature (</a:t>
            </a:r>
            <a:r>
              <a:rPr lang="en-GB" sz="1800" dirty="0" err="1"/>
              <a:t>Diez</a:t>
            </a:r>
            <a:r>
              <a:rPr lang="en-GB" sz="1800" dirty="0"/>
              <a:t> 1998, cited in </a:t>
            </a:r>
            <a:r>
              <a:rPr lang="en-GB" sz="1800" dirty="0" err="1"/>
              <a:t>Kirsh</a:t>
            </a:r>
            <a:r>
              <a:rPr lang="en-GB" sz="1800" dirty="0"/>
              <a:t> 2003), the influence of gaming on levels of aggression are concerning. </a:t>
            </a:r>
          </a:p>
        </p:txBody>
      </p:sp>
      <p:sp>
        <p:nvSpPr>
          <p:cNvPr id="4" name="Rectangle 3"/>
          <p:cNvSpPr/>
          <p:nvPr/>
        </p:nvSpPr>
        <p:spPr>
          <a:xfrm>
            <a:off x="994964" y="1711982"/>
            <a:ext cx="2751256" cy="426989"/>
          </a:xfrm>
          <a:prstGeom prst="rect">
            <a:avLst/>
          </a:prstGeom>
          <a:solidFill>
            <a:srgbClr val="00B050">
              <a:alpha val="32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604230" y="1663866"/>
            <a:ext cx="1135951" cy="523220"/>
          </a:xfrm>
          <a:prstGeom prst="rect">
            <a:avLst/>
          </a:prstGeom>
          <a:noFill/>
        </p:spPr>
        <p:txBody>
          <a:bodyPr wrap="square" rtlCol="0">
            <a:spAutoFit/>
          </a:bodyPr>
          <a:lstStyle/>
          <a:p>
            <a:r>
              <a:rPr lang="en-GB" sz="2800" b="1" dirty="0">
                <a:solidFill>
                  <a:srgbClr val="00B050"/>
                </a:solidFill>
              </a:rPr>
              <a:t>1</a:t>
            </a:r>
          </a:p>
        </p:txBody>
      </p:sp>
      <p:sp>
        <p:nvSpPr>
          <p:cNvPr id="6" name="Rectangle 5"/>
          <p:cNvSpPr/>
          <p:nvPr/>
        </p:nvSpPr>
        <p:spPr>
          <a:xfrm>
            <a:off x="4125879" y="1518630"/>
            <a:ext cx="744207" cy="608702"/>
          </a:xfrm>
          <a:prstGeom prst="rect">
            <a:avLst/>
          </a:prstGeom>
          <a:solidFill>
            <a:srgbClr val="E34DDC">
              <a:alpha val="32000"/>
            </a:srgbClr>
          </a:solidFill>
          <a:ln>
            <a:solidFill>
              <a:srgbClr val="E34D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1104062" y="1518630"/>
            <a:ext cx="1647194" cy="608702"/>
          </a:xfrm>
          <a:prstGeom prst="rect">
            <a:avLst/>
          </a:prstGeom>
          <a:solidFill>
            <a:srgbClr val="E34DDC">
              <a:alpha val="32000"/>
            </a:srgbClr>
          </a:solidFill>
          <a:ln>
            <a:solidFill>
              <a:srgbClr val="E34D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p:cNvSpPr txBox="1"/>
          <p:nvPr/>
        </p:nvSpPr>
        <p:spPr>
          <a:xfrm>
            <a:off x="688152" y="1290810"/>
            <a:ext cx="1135951" cy="523220"/>
          </a:xfrm>
          <a:prstGeom prst="rect">
            <a:avLst/>
          </a:prstGeom>
          <a:noFill/>
        </p:spPr>
        <p:txBody>
          <a:bodyPr wrap="square" rtlCol="0">
            <a:spAutoFit/>
          </a:bodyPr>
          <a:lstStyle/>
          <a:p>
            <a:r>
              <a:rPr lang="en-GB" sz="2800" b="1" dirty="0">
                <a:solidFill>
                  <a:srgbClr val="E34DDC"/>
                </a:solidFill>
              </a:rPr>
              <a:t>2</a:t>
            </a:r>
          </a:p>
        </p:txBody>
      </p:sp>
    </p:spTree>
    <p:extLst>
      <p:ext uri="{BB962C8B-B14F-4D97-AF65-F5344CB8AC3E}">
        <p14:creationId xmlns:p14="http://schemas.microsoft.com/office/powerpoint/2010/main" val="17691518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Discussion</a:t>
            </a:r>
          </a:p>
        </p:txBody>
      </p:sp>
      <p:sp>
        <p:nvSpPr>
          <p:cNvPr id="3" name="Content Placeholder 2"/>
          <p:cNvSpPr>
            <a:spLocks noGrp="1"/>
          </p:cNvSpPr>
          <p:nvPr>
            <p:ph idx="1"/>
          </p:nvPr>
        </p:nvSpPr>
        <p:spPr/>
        <p:txBody>
          <a:bodyPr/>
          <a:lstStyle/>
          <a:p>
            <a:r>
              <a:rPr lang="en-GB" sz="3600" dirty="0"/>
              <a:t>Do the supporting sentences include evidence or examples? </a:t>
            </a:r>
          </a:p>
          <a:p>
            <a:r>
              <a:rPr lang="en-GB" sz="3600" dirty="0"/>
              <a:t>How has this information been presented and integrated? </a:t>
            </a:r>
          </a:p>
          <a:p>
            <a:r>
              <a:rPr lang="en-GB" sz="3600" dirty="0"/>
              <a:t>Is the relevance of the example or the evidence clear?</a:t>
            </a:r>
          </a:p>
          <a:p>
            <a:endParaRPr lang="en-GB" dirty="0"/>
          </a:p>
        </p:txBody>
      </p:sp>
    </p:spTree>
    <p:extLst>
      <p:ext uri="{BB962C8B-B14F-4D97-AF65-F5344CB8AC3E}">
        <p14:creationId xmlns:p14="http://schemas.microsoft.com/office/powerpoint/2010/main" val="27986586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paragraphs</a:t>
            </a:r>
          </a:p>
        </p:txBody>
      </p:sp>
      <p:sp>
        <p:nvSpPr>
          <p:cNvPr id="3" name="Content Placeholder 2"/>
          <p:cNvSpPr>
            <a:spLocks noGrp="1"/>
          </p:cNvSpPr>
          <p:nvPr>
            <p:ph idx="1"/>
          </p:nvPr>
        </p:nvSpPr>
        <p:spPr/>
        <p:txBody>
          <a:bodyPr>
            <a:normAutofit fontScale="62500" lnSpcReduction="20000"/>
          </a:bodyPr>
          <a:lstStyle/>
          <a:p>
            <a:r>
              <a:rPr lang="en-GB" dirty="0"/>
              <a:t>Argument paragraph</a:t>
            </a:r>
          </a:p>
          <a:p>
            <a:pPr lvl="1"/>
            <a:r>
              <a:rPr lang="en-GB" dirty="0"/>
              <a:t>Used to present a point of view, and provide evidence to support the position. Evidence can include reasons, personal experience, statistics, confirmed facts and expert research. </a:t>
            </a:r>
          </a:p>
          <a:p>
            <a:r>
              <a:rPr lang="en-GB" dirty="0"/>
              <a:t>Classification paragraph</a:t>
            </a:r>
          </a:p>
          <a:p>
            <a:pPr lvl="1"/>
            <a:r>
              <a:rPr lang="en-GB" dirty="0"/>
              <a:t>Group separate items together according to shared characteristics.</a:t>
            </a:r>
          </a:p>
          <a:p>
            <a:r>
              <a:rPr lang="en-GB" dirty="0"/>
              <a:t>Compare or contrast paragraph</a:t>
            </a:r>
          </a:p>
          <a:p>
            <a:pPr lvl="1"/>
            <a:r>
              <a:rPr lang="en-GB" dirty="0"/>
              <a:t>Used for examination of similarities and/or differences. Compare focuses on similarities. Contrast focuses on differences. </a:t>
            </a:r>
          </a:p>
          <a:p>
            <a:r>
              <a:rPr lang="en-GB" dirty="0"/>
              <a:t>Definition paragraph</a:t>
            </a:r>
          </a:p>
          <a:p>
            <a:pPr lvl="1"/>
            <a:r>
              <a:rPr lang="en-GB" dirty="0"/>
              <a:t>Start with a simple definition in the first or topic sentence. Use support sentences for examples, description and explanation.</a:t>
            </a:r>
          </a:p>
          <a:p>
            <a:r>
              <a:rPr lang="en-GB" dirty="0"/>
              <a:t>Description paragraph</a:t>
            </a:r>
          </a:p>
          <a:p>
            <a:pPr lvl="1"/>
            <a:r>
              <a:rPr lang="en-GB" dirty="0"/>
              <a:t>Includes specific details of the most important features of the topic.</a:t>
            </a:r>
          </a:p>
          <a:p>
            <a:r>
              <a:rPr lang="en-GB" dirty="0"/>
              <a:t>Explanation paragraph</a:t>
            </a:r>
          </a:p>
          <a:p>
            <a:pPr lvl="1"/>
            <a:r>
              <a:rPr lang="en-GB" dirty="0"/>
              <a:t>Used to explain how something works, or how something happens.</a:t>
            </a:r>
          </a:p>
          <a:p>
            <a:r>
              <a:rPr lang="en-GB" dirty="0"/>
              <a:t>Illustration paragraph</a:t>
            </a:r>
          </a:p>
          <a:p>
            <a:pPr lvl="1"/>
            <a:r>
              <a:rPr lang="en-GB" dirty="0"/>
              <a:t>Uses specific examples to clarify and support a general statement. </a:t>
            </a:r>
          </a:p>
        </p:txBody>
      </p:sp>
    </p:spTree>
    <p:extLst>
      <p:ext uri="{BB962C8B-B14F-4D97-AF65-F5344CB8AC3E}">
        <p14:creationId xmlns:p14="http://schemas.microsoft.com/office/powerpoint/2010/main" val="34139104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Argument paragraph</a:t>
            </a:r>
          </a:p>
        </p:txBody>
      </p:sp>
      <p:sp>
        <p:nvSpPr>
          <p:cNvPr id="3" name="Content Placeholder 2"/>
          <p:cNvSpPr>
            <a:spLocks noGrp="1"/>
          </p:cNvSpPr>
          <p:nvPr>
            <p:ph idx="1"/>
          </p:nvPr>
        </p:nvSpPr>
        <p:spPr/>
        <p:txBody>
          <a:bodyPr/>
          <a:lstStyle/>
          <a:p>
            <a:endParaRPr lang="en-GB"/>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2697" y="1752934"/>
            <a:ext cx="9650171" cy="4671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91839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Classification paragraph</a:t>
            </a:r>
          </a:p>
        </p:txBody>
      </p:sp>
      <p:sp>
        <p:nvSpPr>
          <p:cNvPr id="3" name="Content Placeholder 2"/>
          <p:cNvSpPr>
            <a:spLocks noGrp="1"/>
          </p:cNvSpPr>
          <p:nvPr>
            <p:ph idx="1"/>
          </p:nvPr>
        </p:nvSpPr>
        <p:spPr/>
        <p:txBody>
          <a:bodyPr/>
          <a:lstStyle/>
          <a:p>
            <a:endParaRPr lang="en-GB"/>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316" y="1768474"/>
            <a:ext cx="9532937" cy="45047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539791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Compare or contrast paragraph</a:t>
            </a:r>
          </a:p>
        </p:txBody>
      </p:sp>
      <p:sp>
        <p:nvSpPr>
          <p:cNvPr id="3" name="Content Placeholder 2"/>
          <p:cNvSpPr>
            <a:spLocks noGrp="1"/>
          </p:cNvSpPr>
          <p:nvPr>
            <p:ph idx="1"/>
          </p:nvPr>
        </p:nvSpPr>
        <p:spPr/>
        <p:txBody>
          <a:bodyPr/>
          <a:lstStyle/>
          <a:p>
            <a:endParaRPr lang="en-GB"/>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457" y="1747978"/>
            <a:ext cx="9528907" cy="44232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941890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Definition paragraph</a:t>
            </a:r>
          </a:p>
        </p:txBody>
      </p:sp>
      <p:sp>
        <p:nvSpPr>
          <p:cNvPr id="3" name="Content Placeholder 2"/>
          <p:cNvSpPr>
            <a:spLocks noGrp="1"/>
          </p:cNvSpPr>
          <p:nvPr>
            <p:ph idx="1"/>
          </p:nvPr>
        </p:nvSpPr>
        <p:spPr/>
        <p:txBody>
          <a:bodyPr/>
          <a:lstStyle/>
          <a:p>
            <a:endParaRPr lang="en-GB"/>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0337" y="1772839"/>
            <a:ext cx="9151385" cy="45321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6185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Description paragraph</a:t>
            </a:r>
          </a:p>
        </p:txBody>
      </p:sp>
      <p:sp>
        <p:nvSpPr>
          <p:cNvPr id="3" name="Content Placeholder 2"/>
          <p:cNvSpPr>
            <a:spLocks noGrp="1"/>
          </p:cNvSpPr>
          <p:nvPr>
            <p:ph idx="1"/>
          </p:nvPr>
        </p:nvSpPr>
        <p:spPr/>
        <p:txBody>
          <a:bodyPr/>
          <a:lstStyle/>
          <a:p>
            <a:endParaRPr lang="en-GB"/>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559" y="1775399"/>
            <a:ext cx="9015584" cy="44924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171619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Explanation paragraph</a:t>
            </a:r>
          </a:p>
        </p:txBody>
      </p:sp>
      <p:sp>
        <p:nvSpPr>
          <p:cNvPr id="3" name="Content Placeholder 2"/>
          <p:cNvSpPr>
            <a:spLocks noGrp="1"/>
          </p:cNvSpPr>
          <p:nvPr>
            <p:ph idx="1"/>
          </p:nvPr>
        </p:nvSpPr>
        <p:spPr/>
        <p:txBody>
          <a:bodyPr/>
          <a:lstStyle/>
          <a:p>
            <a:endParaRPr lang="en-GB"/>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322" y="1783565"/>
            <a:ext cx="10806919" cy="35900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589735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Illustration paragraph</a:t>
            </a:r>
          </a:p>
        </p:txBody>
      </p:sp>
      <p:sp>
        <p:nvSpPr>
          <p:cNvPr id="3" name="Content Placeholder 2"/>
          <p:cNvSpPr>
            <a:spLocks noGrp="1"/>
          </p:cNvSpPr>
          <p:nvPr>
            <p:ph idx="1"/>
          </p:nvPr>
        </p:nvSpPr>
        <p:spPr/>
        <p:txBody>
          <a:bodyPr/>
          <a:lstStyle/>
          <a:p>
            <a:endParaRPr lang="en-GB"/>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6311" y="1790134"/>
            <a:ext cx="10568892" cy="36680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49853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Paragraph writing resources</a:t>
            </a:r>
          </a:p>
        </p:txBody>
      </p:sp>
      <p:sp>
        <p:nvSpPr>
          <p:cNvPr id="3" name="Content Placeholder 2"/>
          <p:cNvSpPr>
            <a:spLocks noGrp="1"/>
          </p:cNvSpPr>
          <p:nvPr>
            <p:ph idx="1"/>
          </p:nvPr>
        </p:nvSpPr>
        <p:spPr/>
        <p:txBody>
          <a:bodyPr>
            <a:normAutofit lnSpcReduction="10000"/>
          </a:bodyPr>
          <a:lstStyle/>
          <a:p>
            <a:r>
              <a:rPr lang="en-GB" dirty="0">
                <a:hlinkClick r:id="rId2"/>
              </a:rPr>
              <a:t>https://owl.purdue.edu/owl/general_writing/academic_writing/paragraphs_and_paragraphing/index.html</a:t>
            </a:r>
            <a:endParaRPr lang="en-GB" dirty="0"/>
          </a:p>
          <a:p>
            <a:r>
              <a:rPr lang="en-GB" dirty="0">
                <a:hlinkClick r:id="rId3"/>
              </a:rPr>
              <a:t>https://writingcenter.unc.edu/tips-and-tools/paragraphs/</a:t>
            </a:r>
            <a:endParaRPr lang="en-GB" dirty="0"/>
          </a:p>
          <a:p>
            <a:r>
              <a:rPr lang="en-GB" dirty="0">
                <a:hlinkClick r:id="rId4"/>
              </a:rPr>
              <a:t>https://libguides.newcastle.edu.au/writing-paragraphs/structure</a:t>
            </a:r>
            <a:endParaRPr lang="en-GB" dirty="0"/>
          </a:p>
          <a:p>
            <a:r>
              <a:rPr lang="en-GB" dirty="0">
                <a:hlinkClick r:id="rId5"/>
              </a:rPr>
              <a:t>https://www.hunter.cuny.edu/rwc/repository/files/the-writing-process/organization/developing-a-paragraph.pdf</a:t>
            </a:r>
            <a:endParaRPr lang="en-GB" dirty="0"/>
          </a:p>
          <a:p>
            <a:r>
              <a:rPr lang="en-GB" dirty="0">
                <a:hlinkClick r:id="rId6"/>
              </a:rPr>
              <a:t>https://www.hunter.cuny.edu/rwc/repository/files/the-writing-process/organization/guidelines-for-paragraphing-updated.pdf</a:t>
            </a:r>
            <a:endParaRPr lang="en-GB" dirty="0"/>
          </a:p>
          <a:p>
            <a:r>
              <a:rPr lang="en-GB" dirty="0">
                <a:hlinkClick r:id="rId7"/>
              </a:rPr>
              <a:t>https://www.ncl.ac.uk/academic-skills-kit/writing/academic-writing/paragraphing/</a:t>
            </a:r>
            <a:endParaRPr lang="en-GB" dirty="0"/>
          </a:p>
          <a:p>
            <a:endParaRPr lang="en-GB" dirty="0"/>
          </a:p>
        </p:txBody>
      </p:sp>
    </p:spTree>
    <p:extLst>
      <p:ext uri="{BB962C8B-B14F-4D97-AF65-F5344CB8AC3E}">
        <p14:creationId xmlns:p14="http://schemas.microsoft.com/office/powerpoint/2010/main" val="11733631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8114</TotalTime>
  <Words>4735</Words>
  <Application>Microsoft Office PowerPoint</Application>
  <PresentationFormat>Widescreen</PresentationFormat>
  <Paragraphs>378</Paragraphs>
  <Slides>62</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62</vt:i4>
      </vt:variant>
    </vt:vector>
  </HeadingPairs>
  <TitlesOfParts>
    <vt:vector size="69" baseType="lpstr">
      <vt:lpstr>等线</vt:lpstr>
      <vt:lpstr>Arial</vt:lpstr>
      <vt:lpstr>Calibri</vt:lpstr>
      <vt:lpstr>Calibri Light</vt:lpstr>
      <vt:lpstr>Comic Sans MS</vt:lpstr>
      <vt:lpstr>Wingdings</vt:lpstr>
      <vt:lpstr>Office Theme</vt:lpstr>
      <vt:lpstr>Research Communication Skills</vt:lpstr>
      <vt:lpstr>Intended Learning Outcomes</vt:lpstr>
      <vt:lpstr>What do researchers do?</vt:lpstr>
      <vt:lpstr>Writing papers: two models</vt:lpstr>
      <vt:lpstr>Writing papers: two models</vt:lpstr>
      <vt:lpstr>The scope of your paper</vt:lpstr>
      <vt:lpstr>Writing process tips</vt:lpstr>
      <vt:lpstr>Why write papers?</vt:lpstr>
      <vt:lpstr>Paper writing is teaching</vt:lpstr>
      <vt:lpstr>Your narrative flow</vt:lpstr>
      <vt:lpstr>Typical paper structure in computing science</vt:lpstr>
      <vt:lpstr>Typical paper structure in computing science</vt:lpstr>
      <vt:lpstr>Typical paper structure in computing science</vt:lpstr>
      <vt:lpstr>The introduction (1 page)</vt:lpstr>
      <vt:lpstr>Describe the problem</vt:lpstr>
      <vt:lpstr>State your contributions</vt:lpstr>
      <vt:lpstr>State your contributions</vt:lpstr>
      <vt:lpstr>Lengthening the introduction</vt:lpstr>
      <vt:lpstr>Typical paper structure in computing science</vt:lpstr>
      <vt:lpstr>Typical paper structure in computing science</vt:lpstr>
      <vt:lpstr>Presenting the idea</vt:lpstr>
      <vt:lpstr>Presenting the idea</vt:lpstr>
      <vt:lpstr>Typical paper structure in computing science</vt:lpstr>
      <vt:lpstr>The details: evidence </vt:lpstr>
      <vt:lpstr>Typical paper structure in computing science</vt:lpstr>
      <vt:lpstr>Typical paper structure in computing science</vt:lpstr>
      <vt:lpstr>Paper Writing Tips</vt:lpstr>
      <vt:lpstr>The Body of a Section</vt:lpstr>
      <vt:lpstr>Paragraph</vt:lpstr>
      <vt:lpstr>Paragraph</vt:lpstr>
      <vt:lpstr>Paragraph</vt:lpstr>
      <vt:lpstr>Paragraph</vt:lpstr>
      <vt:lpstr>Paragraphing</vt:lpstr>
      <vt:lpstr>Paragraphing</vt:lpstr>
      <vt:lpstr>Paragraphing</vt:lpstr>
      <vt:lpstr>Example</vt:lpstr>
      <vt:lpstr>PowerPoint Presentation</vt:lpstr>
      <vt:lpstr>Example</vt:lpstr>
      <vt:lpstr>PowerPoint Presentation</vt:lpstr>
      <vt:lpstr>Paragraphs</vt:lpstr>
      <vt:lpstr>Structure of a basic paragraph</vt:lpstr>
      <vt:lpstr>Exercise 1</vt:lpstr>
      <vt:lpstr>Paragraph example</vt:lpstr>
      <vt:lpstr>Paragraph example</vt:lpstr>
      <vt:lpstr>Discussion</vt:lpstr>
      <vt:lpstr>Paragraph example – supporting sentences</vt:lpstr>
      <vt:lpstr>Paragraph example – supporting sentences</vt:lpstr>
      <vt:lpstr>PowerPoint Presentation</vt:lpstr>
      <vt:lpstr>Paragraph example – supporting sentences</vt:lpstr>
      <vt:lpstr>Paragraph example – supporting sentences</vt:lpstr>
      <vt:lpstr>Paragraph example – supporting sentences</vt:lpstr>
      <vt:lpstr>Paragraph example – supporting sentences</vt:lpstr>
      <vt:lpstr>Discussion</vt:lpstr>
      <vt:lpstr>Types of paragraphs</vt:lpstr>
      <vt:lpstr>Argument paragraph</vt:lpstr>
      <vt:lpstr>Classification paragraph</vt:lpstr>
      <vt:lpstr>Compare or contrast paragraph</vt:lpstr>
      <vt:lpstr>Definition paragraph</vt:lpstr>
      <vt:lpstr>Description paragraph</vt:lpstr>
      <vt:lpstr>Explanation paragraph</vt:lpstr>
      <vt:lpstr>Illustration paragraph</vt:lpstr>
      <vt:lpstr>Paragraph writing resources</vt:lpstr>
    </vt:vector>
  </TitlesOfParts>
  <Company>HKPU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hkpuadmin</dc:creator>
  <cp:lastModifiedBy>Joanna Siebert</cp:lastModifiedBy>
  <cp:revision>330</cp:revision>
  <cp:lastPrinted>2019-09-03T08:34:37Z</cp:lastPrinted>
  <dcterms:created xsi:type="dcterms:W3CDTF">2014-08-14T09:54:55Z</dcterms:created>
  <dcterms:modified xsi:type="dcterms:W3CDTF">2026-06-09T12:55:41Z</dcterms:modified>
</cp:coreProperties>
</file>