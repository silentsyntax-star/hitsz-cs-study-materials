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1004" r:id="rId2"/>
    <p:sldId id="1005" r:id="rId3"/>
    <p:sldId id="1006" r:id="rId4"/>
    <p:sldId id="1007" r:id="rId5"/>
    <p:sldId id="1008" r:id="rId6"/>
    <p:sldId id="1009" r:id="rId7"/>
    <p:sldId id="1010" r:id="rId8"/>
    <p:sldId id="1011" r:id="rId9"/>
    <p:sldId id="1012" r:id="rId10"/>
    <p:sldId id="1013" r:id="rId11"/>
    <p:sldId id="1014" r:id="rId12"/>
    <p:sldId id="1015" r:id="rId13"/>
    <p:sldId id="1016" r:id="rId14"/>
    <p:sldId id="1017" r:id="rId15"/>
    <p:sldId id="1018" r:id="rId16"/>
    <p:sldId id="1019" r:id="rId17"/>
    <p:sldId id="1020" r:id="rId18"/>
    <p:sldId id="1021" r:id="rId19"/>
    <p:sldId id="1022" r:id="rId20"/>
    <p:sldId id="1023" r:id="rId21"/>
    <p:sldId id="1024" r:id="rId22"/>
    <p:sldId id="1025" r:id="rId23"/>
    <p:sldId id="1026" r:id="rId24"/>
    <p:sldId id="1027" r:id="rId25"/>
    <p:sldId id="1028" r:id="rId26"/>
    <p:sldId id="1029" r:id="rId27"/>
    <p:sldId id="1030" r:id="rId28"/>
    <p:sldId id="1031" r:id="rId29"/>
  </p:sldIdLst>
  <p:sldSz cx="12192000" cy="6858000"/>
  <p:notesSz cx="6797675" cy="9929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34DDC"/>
    <a:srgbClr val="FAE2F9"/>
    <a:srgbClr val="DF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2001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0" y="3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79868-BDA9-4441-B20B-68D0617E5C8E}" type="datetimeFigureOut">
              <a:rPr lang="en-GB" smtClean="0"/>
              <a:t>19/11/2025</a:t>
            </a:fld>
            <a:endParaRPr lang="en-GB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1CA833-6E71-4E0E-A695-7044B802CCB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93987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66FD4-870D-41D4-A76E-DC48774E844B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8722"/>
            <a:ext cx="5438140" cy="3909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B433F-8F9F-4754-B27A-D9BD2E9FA4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12008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912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28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8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399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847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817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03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484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5E9AF5-9E42-4797-8204-53D663AF20F3}" type="datetimeFigureOut">
              <a:rPr lang="en-US" smtClean="0"/>
              <a:pPr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05C8B-718F-4869-805E-863C3A552F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4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Research Communication Skills</a:t>
            </a:r>
            <a:endParaRPr lang="en-US" altLang="en-US" dirty="0"/>
          </a:p>
        </p:txBody>
      </p:sp>
      <p:sp>
        <p:nvSpPr>
          <p:cNvPr id="16387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Writing Related Work Section </a:t>
            </a:r>
          </a:p>
        </p:txBody>
      </p:sp>
    </p:spTree>
    <p:extLst>
      <p:ext uri="{BB962C8B-B14F-4D97-AF65-F5344CB8AC3E}">
        <p14:creationId xmlns:p14="http://schemas.microsoft.com/office/powerpoint/2010/main" val="3079243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Intended Learning Outcomes</a:t>
            </a:r>
            <a:endParaRPr lang="en-AU" altLang="en-US"/>
          </a:p>
        </p:txBody>
      </p:sp>
      <p:sp>
        <p:nvSpPr>
          <p:cNvPr id="17411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By the end of this lesson you will be able to:</a:t>
            </a:r>
          </a:p>
          <a:p>
            <a:pPr lvl="1" eaLnBrk="1" hangingPunct="1"/>
            <a:r>
              <a:rPr lang="en-GB" altLang="en-US" sz="3200"/>
              <a:t>explain the importance of a related work section</a:t>
            </a:r>
          </a:p>
          <a:p>
            <a:pPr lvl="1" eaLnBrk="1" hangingPunct="1"/>
            <a:r>
              <a:rPr lang="en-GB" altLang="en-US" sz="3200"/>
              <a:t>describe different ways to write the related work section</a:t>
            </a:r>
          </a:p>
          <a:p>
            <a:pPr eaLnBrk="1" hangingPunct="1"/>
            <a:endParaRPr lang="en-US" altLang="en-US" sz="3600"/>
          </a:p>
        </p:txBody>
      </p:sp>
    </p:spTree>
    <p:extLst>
      <p:ext uri="{BB962C8B-B14F-4D97-AF65-F5344CB8AC3E}">
        <p14:creationId xmlns:p14="http://schemas.microsoft.com/office/powerpoint/2010/main" val="2675161432"/>
      </p:ext>
    </p:extLst>
  </p:cSld>
  <p:clrMapOvr>
    <a:masterClrMapping/>
  </p:clrMapOvr>
  <p:transition advTm="6906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205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What is a related work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a background to a study that puts it into context</a:t>
            </a:r>
          </a:p>
          <a:p>
            <a:pPr eaLnBrk="1" hangingPunct="1"/>
            <a:r>
              <a:rPr lang="en-GB" altLang="en-US" sz="3600"/>
              <a:t>a selection and analysis of existing research which is relevant to your topic </a:t>
            </a:r>
          </a:p>
          <a:p>
            <a:pPr eaLnBrk="1" hangingPunct="1"/>
            <a:r>
              <a:rPr lang="en-GB" altLang="en-US" sz="3600"/>
              <a:t>a key to convince people of your ideas </a:t>
            </a:r>
          </a:p>
        </p:txBody>
      </p:sp>
    </p:spTree>
    <p:extLst>
      <p:ext uri="{BB962C8B-B14F-4D97-AF65-F5344CB8AC3E}">
        <p14:creationId xmlns:p14="http://schemas.microsoft.com/office/powerpoint/2010/main" val="155582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do we need related work section?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establish ....</a:t>
            </a:r>
          </a:p>
          <a:p>
            <a:pPr lvl="1" eaLnBrk="1" hangingPunct="1"/>
            <a:r>
              <a:rPr lang="en-US" altLang="en-US"/>
              <a:t>Need for work</a:t>
            </a:r>
          </a:p>
          <a:p>
            <a:pPr lvl="2" eaLnBrk="1" hangingPunct="1"/>
            <a:r>
              <a:rPr lang="en-US" altLang="en-US"/>
              <a:t>Why previous works don’t get it done ...</a:t>
            </a:r>
          </a:p>
          <a:p>
            <a:pPr lvl="2" eaLnBrk="1" hangingPunct="1"/>
            <a:r>
              <a:rPr lang="en-US" altLang="en-US"/>
              <a:t>The limitations of past work ...</a:t>
            </a:r>
          </a:p>
          <a:p>
            <a:pPr lvl="1" eaLnBrk="1" hangingPunct="1"/>
            <a:r>
              <a:rPr lang="en-US" altLang="en-US"/>
              <a:t>Mastery over area</a:t>
            </a:r>
          </a:p>
          <a:p>
            <a:pPr lvl="2" eaLnBrk="1" hangingPunct="1"/>
            <a:r>
              <a:rPr lang="en-GB" altLang="en-US"/>
              <a:t>You demonstrate the ability to understand and critically analyze the background research </a:t>
            </a:r>
          </a:p>
          <a:p>
            <a:pPr lvl="2" eaLnBrk="1" hangingPunct="1"/>
            <a:r>
              <a:rPr lang="en-GB" altLang="en-US"/>
              <a:t>... and to select and source the information that is necessary to develop a context for your work. </a:t>
            </a:r>
            <a:endParaRPr lang="en-US" altLang="en-US"/>
          </a:p>
          <a:p>
            <a:pPr lvl="1" eaLnBrk="1" hangingPunct="1"/>
            <a:r>
              <a:rPr lang="en-US" altLang="en-US"/>
              <a:t>Relationship to other scientific areas</a:t>
            </a:r>
          </a:p>
          <a:p>
            <a:pPr lvl="2" eaLnBrk="1" hangingPunct="1"/>
            <a:r>
              <a:rPr lang="en-GB" altLang="en-US"/>
              <a:t>It shows how your work relates to previous research</a:t>
            </a:r>
            <a:endParaRPr lang="en-US" altLang="en-US"/>
          </a:p>
          <a:p>
            <a:pPr lvl="1" eaLnBrk="1" hangingPunct="1"/>
            <a:r>
              <a:rPr lang="en-US" altLang="en-US"/>
              <a:t>Others?</a:t>
            </a:r>
          </a:p>
        </p:txBody>
      </p:sp>
    </p:spTree>
    <p:extLst>
      <p:ext uri="{BB962C8B-B14F-4D97-AF65-F5344CB8AC3E}">
        <p14:creationId xmlns:p14="http://schemas.microsoft.com/office/powerpoint/2010/main" val="4093030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Finding papers for the related work section / literature survey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04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You will need to find papers that will help you answer the following questions: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200" dirty="0"/>
              <a:t>What research has already been done on my topic?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200" dirty="0"/>
              <a:t>What are the relevant subareas of my topic?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200" dirty="0"/>
              <a:t>What are the key papers on my topic?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200" dirty="0"/>
              <a:t>What are the key issues, types of research questions and common approaches?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200" dirty="0"/>
              <a:t>Other: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What other research (perhaps not directly on the topic) or other research communities might be relevant?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Which research community is relevant for my topic?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What are the relevant places for publication (top conferences and journals) in this community?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dirty="0"/>
              <a:t>Who are the important authors?</a:t>
            </a:r>
            <a:endParaRPr lang="en-US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91278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Where to start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200"/>
              <a:t>Recent paper from top conference </a:t>
            </a:r>
          </a:p>
          <a:p>
            <a:pPr eaLnBrk="1" hangingPunct="1"/>
            <a:r>
              <a:rPr lang="en-GB" altLang="en-US" sz="3200"/>
              <a:t>Survey paper, if one exists </a:t>
            </a:r>
          </a:p>
          <a:p>
            <a:pPr eaLnBrk="1" hangingPunct="1"/>
            <a:r>
              <a:rPr lang="en-GB" altLang="en-US" sz="3200"/>
              <a:t>Seminal paper, if it is different from the above</a:t>
            </a:r>
          </a:p>
          <a:p>
            <a:pPr eaLnBrk="1" hangingPunct="1"/>
            <a:endParaRPr lang="en-GB" altLang="en-US" sz="3200"/>
          </a:p>
          <a:p>
            <a:pPr eaLnBrk="1" hangingPunct="1"/>
            <a:r>
              <a:rPr lang="en-GB" altLang="en-US" sz="3200">
                <a:solidFill>
                  <a:srgbClr val="FF0000"/>
                </a:solidFill>
              </a:rPr>
              <a:t>And don’t forget to read related work sections of above papers</a:t>
            </a:r>
          </a:p>
          <a:p>
            <a:pPr eaLnBrk="1" hangingPunct="1"/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403064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1 – papers based on keywords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/>
              <a:t>Use an academic search engine, and some well-chosen keywords, to find 3 to 5 recent papers in the area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/>
              <a:t>Prefer journal articles, then conference papers, skip text books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>
                <a:solidFill>
                  <a:srgbClr val="FF0000"/>
                </a:solidFill>
              </a:rPr>
              <a:t>While you read abstracts and titles, refine your keywords and re-iterate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GB" sz="3600" dirty="0"/>
              <a:t>Run Pass I on each paper, then read their related works sections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sz="3200" dirty="0"/>
              <a:t>You will find a summary of the recent work in your area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GB" sz="3200" dirty="0"/>
              <a:t>If you are lucky you find pointers to a recent survey paper </a:t>
            </a:r>
          </a:p>
        </p:txBody>
      </p:sp>
    </p:spTree>
    <p:extLst>
      <p:ext uri="{BB962C8B-B14F-4D97-AF65-F5344CB8AC3E}">
        <p14:creationId xmlns:p14="http://schemas.microsoft.com/office/powerpoint/2010/main" val="323869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2 – key papers from shared citations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 dirty="0"/>
              <a:t>Find shared citations and repeated authors in the bibliography </a:t>
            </a:r>
          </a:p>
          <a:p>
            <a:pPr lvl="1" eaLnBrk="1" hangingPunct="1"/>
            <a:r>
              <a:rPr lang="en-GB" altLang="en-US" sz="3200" dirty="0"/>
              <a:t>These are the key papers and researchers in the area </a:t>
            </a:r>
          </a:p>
          <a:p>
            <a:pPr lvl="1" eaLnBrk="1" hangingPunct="1"/>
            <a:r>
              <a:rPr lang="en-GB" altLang="en-US" sz="3200" dirty="0"/>
              <a:t>Download the key papers and set them aside </a:t>
            </a:r>
          </a:p>
          <a:p>
            <a:pPr eaLnBrk="1" hangingPunct="1"/>
            <a:r>
              <a:rPr lang="en-GB" altLang="en-US" sz="3600" dirty="0"/>
              <a:t>Find recent articles that cite the important papers found in this step</a:t>
            </a:r>
          </a:p>
          <a:p>
            <a:pPr lvl="1" eaLnBrk="1" hangingPunct="1"/>
            <a:r>
              <a:rPr lang="en-GB" altLang="en-US" sz="3200" dirty="0"/>
              <a:t>Download and set aside the most relevant papers </a:t>
            </a:r>
          </a:p>
          <a:p>
            <a:pPr eaLnBrk="1" hangingPunct="1"/>
            <a:endParaRPr lang="en-GB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18256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3 – papers from top conferences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200" dirty="0"/>
              <a:t>Go to the websites of the key researchers, and see where they published recently </a:t>
            </a:r>
          </a:p>
          <a:p>
            <a:pPr lvl="1" eaLnBrk="1" hangingPunct="1"/>
            <a:r>
              <a:rPr lang="en-GB" altLang="en-US" dirty="0"/>
              <a:t>Helps to identify current top conferences/journals in that field</a:t>
            </a:r>
          </a:p>
          <a:p>
            <a:pPr eaLnBrk="1" hangingPunct="1"/>
            <a:r>
              <a:rPr lang="en-GB" altLang="en-US" sz="3200" dirty="0"/>
              <a:t>Go to the website of these top conferences and browse they recent proceedings</a:t>
            </a:r>
          </a:p>
          <a:p>
            <a:pPr lvl="1" eaLnBrk="1" hangingPunct="1"/>
            <a:r>
              <a:rPr lang="en-GB" altLang="en-US" sz="2800" dirty="0"/>
              <a:t>identify recent high quality related work, </a:t>
            </a:r>
          </a:p>
          <a:p>
            <a:pPr lvl="1" eaLnBrk="1" hangingPunct="1"/>
            <a:r>
              <a:rPr lang="en-GB" altLang="en-US" sz="2800" dirty="0"/>
              <a:t>download the most relevant papers</a:t>
            </a:r>
          </a:p>
        </p:txBody>
      </p:sp>
    </p:spTree>
    <p:extLst>
      <p:ext uri="{BB962C8B-B14F-4D97-AF65-F5344CB8AC3E}">
        <p14:creationId xmlns:p14="http://schemas.microsoft.com/office/powerpoint/2010/main" val="1545477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Step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The papers you found constitute the first version of your related works</a:t>
            </a:r>
          </a:p>
          <a:p>
            <a:pPr eaLnBrk="1" hangingPunct="1"/>
            <a:r>
              <a:rPr lang="en-GB" altLang="en-US" sz="3600"/>
              <a:t>Run Pass I and II on those papers</a:t>
            </a:r>
          </a:p>
          <a:p>
            <a:pPr eaLnBrk="1" hangingPunct="1"/>
            <a:r>
              <a:rPr lang="en-GB" altLang="en-US" sz="3600"/>
              <a:t>If they cite a key paper you did not cite earlier, obtain and read it, </a:t>
            </a:r>
          </a:p>
          <a:p>
            <a:pPr eaLnBrk="1" hangingPunct="1"/>
            <a:r>
              <a:rPr lang="en-GB" altLang="en-US" sz="3600">
                <a:solidFill>
                  <a:srgbClr val="FF0000"/>
                </a:solidFill>
              </a:rPr>
              <a:t>Iterate as necessary </a:t>
            </a:r>
            <a:endParaRPr lang="en-US" altLang="en-US" sz="3600">
              <a:solidFill>
                <a:srgbClr val="FF0000"/>
              </a:solidFill>
            </a:endParaRPr>
          </a:p>
          <a:p>
            <a:pPr eaLnBrk="1" hangingPunct="1"/>
            <a:endParaRPr lang="en-US" altLang="en-US" sz="3600"/>
          </a:p>
        </p:txBody>
      </p:sp>
    </p:spTree>
    <p:extLst>
      <p:ext uri="{BB962C8B-B14F-4D97-AF65-F5344CB8AC3E}">
        <p14:creationId xmlns:p14="http://schemas.microsoft.com/office/powerpoint/2010/main" val="1339560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Writing the related work section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31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Do not drown in the amount of information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A literature review is not a straightforward summary of everything you have read on the topic </a:t>
            </a:r>
          </a:p>
          <a:p>
            <a:pPr eaLnBrk="1" hangingPunct="1"/>
            <a:r>
              <a:rPr lang="en-GB" altLang="en-US" sz="3600"/>
              <a:t>Neither is it a chronological description of what was discovered in your field </a:t>
            </a:r>
          </a:p>
        </p:txBody>
      </p:sp>
    </p:spTree>
    <p:extLst>
      <p:ext uri="{BB962C8B-B14F-4D97-AF65-F5344CB8AC3E}">
        <p14:creationId xmlns:p14="http://schemas.microsoft.com/office/powerpoint/2010/main" val="292664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Questions to answer when writing related works section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600"/>
              <a:t>Am I the first one to have this idea? </a:t>
            </a:r>
          </a:p>
          <a:p>
            <a:pPr eaLnBrk="1" hangingPunct="1"/>
            <a:r>
              <a:rPr lang="en-GB" altLang="en-US" sz="3600"/>
              <a:t>Which aspect of my discovery is new and which one is not? </a:t>
            </a:r>
          </a:p>
          <a:p>
            <a:pPr eaLnBrk="1" hangingPunct="1"/>
            <a:r>
              <a:rPr lang="en-GB" altLang="en-US" sz="3600"/>
              <a:t>Did someone else have a similar idea? </a:t>
            </a:r>
          </a:p>
          <a:p>
            <a:pPr eaLnBrk="1" hangingPunct="1"/>
            <a:r>
              <a:rPr lang="en-GB" altLang="en-US" sz="3600"/>
              <a:t>What are the results and conclusions from other similar ideas? </a:t>
            </a:r>
          </a:p>
          <a:p>
            <a:pPr eaLnBrk="1" hangingPunct="1"/>
            <a:r>
              <a:rPr lang="en-GB" altLang="en-US" sz="3600"/>
              <a:t>… </a:t>
            </a:r>
          </a:p>
        </p:txBody>
      </p:sp>
    </p:spTree>
    <p:extLst>
      <p:ext uri="{BB962C8B-B14F-4D97-AF65-F5344CB8AC3E}">
        <p14:creationId xmlns:p14="http://schemas.microsoft.com/office/powerpoint/2010/main" val="12692272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Organize your related work section</a:t>
            </a:r>
            <a:endParaRPr lang="en-US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173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Organize your related work section (1)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GB" altLang="en-US" sz="4000"/>
              <a:t>Start out broad and then become more specific</a:t>
            </a:r>
          </a:p>
          <a:p>
            <a:pPr lvl="1" eaLnBrk="1" hangingPunct="1"/>
            <a:r>
              <a:rPr lang="en-GB" altLang="en-US" sz="3200"/>
              <a:t>First briefly explain the broad issues related to your work. You don't need to write much about this, just demonstrate that you are aware of the breadth of your subject </a:t>
            </a:r>
          </a:p>
          <a:p>
            <a:pPr lvl="1" eaLnBrk="1" hangingPunct="1"/>
            <a:r>
              <a:rPr lang="en-GB" altLang="en-US" sz="3200"/>
              <a:t>Then narrow your focus to deal with the papers that overlap with your research </a:t>
            </a:r>
          </a:p>
          <a:p>
            <a:pPr lvl="1" eaLnBrk="1" hangingPunct="1"/>
            <a:r>
              <a:rPr lang="en-GB" altLang="en-US" sz="3200"/>
              <a:t>Finally, concentrate on the research which is closely related to your specific work. Proportionally you spend most time discussing those papers</a:t>
            </a:r>
            <a:endParaRPr lang="en-US" altLang="en-US" sz="3200"/>
          </a:p>
        </p:txBody>
      </p:sp>
    </p:spTree>
    <p:extLst>
      <p:ext uri="{BB962C8B-B14F-4D97-AF65-F5344CB8AC3E}">
        <p14:creationId xmlns:p14="http://schemas.microsoft.com/office/powerpoint/2010/main" val="70502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Example</a:t>
            </a:r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58741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059" y="4899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LASEC: A Localized Approach to Service Composition in Pervasive Computing Environments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This paper proposes a localized approach to service composition in pervasive computing environments</a:t>
            </a:r>
          </a:p>
          <a:p>
            <a:r>
              <a:rPr lang="en-GB" sz="4000" dirty="0"/>
              <a:t>The related work section is organized from broadly related to most related</a:t>
            </a:r>
          </a:p>
        </p:txBody>
      </p:sp>
    </p:spTree>
    <p:extLst>
      <p:ext uri="{BB962C8B-B14F-4D97-AF65-F5344CB8AC3E}">
        <p14:creationId xmlns:p14="http://schemas.microsoft.com/office/powerpoint/2010/main" val="1461112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8059" y="48999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dirty="0"/>
              <a:t>LASEC: A Localized Approach to Service Composition in Pervasive Computing Environments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Service composition in different kinds of environments</a:t>
            </a:r>
          </a:p>
          <a:p>
            <a:r>
              <a:rPr lang="en-GB" sz="4000" dirty="0"/>
              <a:t>Approaches to composition in pervasive computing environments</a:t>
            </a:r>
          </a:p>
          <a:p>
            <a:r>
              <a:rPr lang="en-GB" sz="4000" dirty="0"/>
              <a:t>Motivate the need for localized solutions</a:t>
            </a:r>
          </a:p>
          <a:p>
            <a:endParaRPr lang="en-GB" sz="4000" dirty="0"/>
          </a:p>
        </p:txBody>
      </p:sp>
    </p:spTree>
    <p:extLst>
      <p:ext uri="{BB962C8B-B14F-4D97-AF65-F5344CB8AC3E}">
        <p14:creationId xmlns:p14="http://schemas.microsoft.com/office/powerpoint/2010/main" val="665722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8906" y="6348"/>
            <a:ext cx="7934325" cy="684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6297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342" y="195716"/>
            <a:ext cx="10590122" cy="6662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54913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9082" y="242579"/>
            <a:ext cx="7444052" cy="6450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14944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Organize your related work section (2)</a:t>
            </a:r>
            <a:endParaRPr lang="en-US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z="3200" dirty="0"/>
              <a:t>To deal with a large body of related work, group similar works together according to e.g. commonly used theories, methods, system properties, etc.  </a:t>
            </a:r>
          </a:p>
          <a:p>
            <a:pPr eaLnBrk="1" hangingPunct="1"/>
            <a:r>
              <a:rPr lang="en-GB" altLang="en-US" sz="3200" dirty="0"/>
              <a:t>This helps to </a:t>
            </a:r>
            <a:r>
              <a:rPr lang="en-GB" altLang="en-US" sz="3200" dirty="0">
                <a:solidFill>
                  <a:srgbClr val="FF0000"/>
                </a:solidFill>
              </a:rPr>
              <a:t>compare and contrast </a:t>
            </a:r>
            <a:r>
              <a:rPr lang="en-GB" altLang="en-US" sz="3200" dirty="0"/>
              <a:t>their approaches and facilitates the discussion with the literature in view of your new idea  </a:t>
            </a:r>
          </a:p>
          <a:p>
            <a:pPr eaLnBrk="1" hangingPunct="1"/>
            <a:r>
              <a:rPr lang="en-GB" altLang="en-US" sz="3200" dirty="0"/>
              <a:t>Be careful and exact in dismissing related work when promoting your idea</a:t>
            </a:r>
            <a:endParaRPr lang="en-US" altLang="en-US" sz="3200" dirty="0"/>
          </a:p>
          <a:p>
            <a:pPr eaLnBrk="1" hangingPunct="1"/>
            <a:endParaRPr lang="en-US" altLang="en-US" sz="3200" dirty="0"/>
          </a:p>
          <a:p>
            <a:pPr eaLnBrk="1" hangingPunct="1"/>
            <a:endParaRPr lang="en-US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65081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write related work section?</a:t>
            </a:r>
          </a:p>
        </p:txBody>
      </p:sp>
      <p:sp>
        <p:nvSpPr>
          <p:cNvPr id="358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Common way</a:t>
            </a:r>
          </a:p>
          <a:p>
            <a:pPr lvl="1" eaLnBrk="1" hangingPunct="1"/>
            <a:r>
              <a:rPr lang="en-US" altLang="en-US" sz="3600" i="1"/>
              <a:t>Algorithms a, b, c, and d. have been done.</a:t>
            </a:r>
          </a:p>
          <a:p>
            <a:pPr lvl="2" eaLnBrk="1" hangingPunct="1"/>
            <a:r>
              <a:rPr lang="en-US" altLang="en-US" sz="3200" i="1"/>
              <a:t>A is good because of …, bad because of ….</a:t>
            </a:r>
          </a:p>
          <a:p>
            <a:pPr lvl="2" eaLnBrk="1" hangingPunct="1"/>
            <a:r>
              <a:rPr lang="en-US" altLang="en-US" sz="3200" i="1"/>
              <a:t>B is good because of …, bad because of ….</a:t>
            </a:r>
          </a:p>
          <a:p>
            <a:pPr lvl="2" eaLnBrk="1" hangingPunct="1"/>
            <a:r>
              <a:rPr lang="en-US" altLang="en-US" sz="3200" i="1"/>
              <a:t>C is good because of …, bad because of ….</a:t>
            </a:r>
          </a:p>
        </p:txBody>
      </p:sp>
    </p:spTree>
    <p:extLst>
      <p:ext uri="{BB962C8B-B14F-4D97-AF65-F5344CB8AC3E}">
        <p14:creationId xmlns:p14="http://schemas.microsoft.com/office/powerpoint/2010/main" val="21186541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write related work section?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Better way</a:t>
            </a:r>
          </a:p>
          <a:p>
            <a:pPr lvl="1" eaLnBrk="1" hangingPunct="1"/>
            <a:r>
              <a:rPr lang="en-US" altLang="en-US" sz="3200"/>
              <a:t>Tell a story about the field in which it exists. It should try to organize the field in such a way as you can see how the work evolves from start to finish.</a:t>
            </a:r>
          </a:p>
          <a:p>
            <a:pPr lvl="1" eaLnBrk="1" hangingPunct="1"/>
            <a:r>
              <a:rPr lang="en-US" altLang="en-US" sz="3200"/>
              <a:t>Ideally, ends with the conclusion that the present work is needed.</a:t>
            </a:r>
          </a:p>
        </p:txBody>
      </p:sp>
    </p:spTree>
    <p:extLst>
      <p:ext uri="{BB962C8B-B14F-4D97-AF65-F5344CB8AC3E}">
        <p14:creationId xmlns:p14="http://schemas.microsoft.com/office/powerpoint/2010/main" val="7583254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write related work section?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51338"/>
          </a:xfrm>
        </p:spPr>
        <p:txBody>
          <a:bodyPr/>
          <a:lstStyle/>
          <a:p>
            <a:pPr eaLnBrk="1" hangingPunct="1"/>
            <a:r>
              <a:rPr lang="en-US" altLang="en-US" sz="3600"/>
              <a:t>Better way (example)</a:t>
            </a:r>
          </a:p>
          <a:p>
            <a:pPr lvl="1" eaLnBrk="1" hangingPunct="1"/>
            <a:r>
              <a:rPr lang="en-US" altLang="en-US" sz="3200"/>
              <a:t>(paragraph  1) The early algorithms, A and B, sought to solve the requirements X, Y, and, Z by (approach/method). However such approaches eventually lead to (some disadvantage of their solution), to differing degrees.</a:t>
            </a:r>
          </a:p>
          <a:p>
            <a:pPr lvl="1" eaLnBrk="1" hangingPunct="1"/>
            <a:r>
              <a:rPr lang="en-US" altLang="en-US" sz="3200"/>
              <a:t>(paragraph 2) C, D, and other also tried to solve the same problem, but failed ...</a:t>
            </a:r>
          </a:p>
          <a:p>
            <a:pPr lvl="1" eaLnBrk="1" hangingPunct="1"/>
            <a:r>
              <a:rPr lang="en-US" altLang="en-US" sz="3200"/>
              <a:t>(paragraph 3) Ultimately, the previous works did not solve the problem, and this paper aims to provide a solution.</a:t>
            </a:r>
          </a:p>
        </p:txBody>
      </p:sp>
    </p:spTree>
    <p:extLst>
      <p:ext uri="{BB962C8B-B14F-4D97-AF65-F5344CB8AC3E}">
        <p14:creationId xmlns:p14="http://schemas.microsoft.com/office/powerpoint/2010/main" val="311464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to write related works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A good related work section should include works …</a:t>
            </a:r>
          </a:p>
          <a:p>
            <a:pPr lvl="1" eaLnBrk="1" hangingPunct="1"/>
            <a:r>
              <a:rPr lang="en-US" altLang="en-US" sz="3200"/>
              <a:t>If they address the central problem</a:t>
            </a:r>
          </a:p>
          <a:p>
            <a:pPr lvl="1" eaLnBrk="1" hangingPunct="1"/>
            <a:r>
              <a:rPr lang="en-US" altLang="en-US" sz="3200"/>
              <a:t>If they address a related problem</a:t>
            </a:r>
          </a:p>
          <a:p>
            <a:pPr lvl="1" eaLnBrk="1" hangingPunct="1"/>
            <a:r>
              <a:rPr lang="en-US" altLang="en-US" sz="3200"/>
              <a:t>If they identified the problem</a:t>
            </a:r>
          </a:p>
          <a:p>
            <a:pPr lvl="1" eaLnBrk="1" hangingPunct="1"/>
            <a:r>
              <a:rPr lang="en-US" altLang="en-US" sz="3200"/>
              <a:t>If they use the same methodology for a similar problem</a:t>
            </a:r>
          </a:p>
          <a:p>
            <a:pPr lvl="1" eaLnBrk="1" hangingPunct="1"/>
            <a:r>
              <a:rPr lang="en-US" altLang="en-US" sz="3200"/>
              <a:t>If your work was inspired by them</a:t>
            </a:r>
          </a:p>
        </p:txBody>
      </p:sp>
    </p:spTree>
    <p:extLst>
      <p:ext uri="{BB962C8B-B14F-4D97-AF65-F5344CB8AC3E}">
        <p14:creationId xmlns:p14="http://schemas.microsoft.com/office/powerpoint/2010/main" val="1590059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Summary</a:t>
            </a:r>
          </a:p>
        </p:txBody>
      </p:sp>
      <p:sp>
        <p:nvSpPr>
          <p:cNvPr id="39939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4000" dirty="0"/>
              <a:t>Choose the right papers for your related work sections</a:t>
            </a:r>
          </a:p>
          <a:p>
            <a:pPr eaLnBrk="1" hangingPunct="1"/>
            <a:r>
              <a:rPr lang="en-US" altLang="en-US" sz="4000" dirty="0"/>
              <a:t>Organize your related work section properly</a:t>
            </a:r>
          </a:p>
        </p:txBody>
      </p:sp>
    </p:spTree>
    <p:extLst>
      <p:ext uri="{BB962C8B-B14F-4D97-AF65-F5344CB8AC3E}">
        <p14:creationId xmlns:p14="http://schemas.microsoft.com/office/powerpoint/2010/main" val="7225323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9302</TotalTime>
  <Words>1158</Words>
  <Application>Microsoft Office PowerPoint</Application>
  <PresentationFormat>Widescreen</PresentationFormat>
  <Paragraphs>115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等线</vt:lpstr>
      <vt:lpstr>Arial</vt:lpstr>
      <vt:lpstr>Calibri</vt:lpstr>
      <vt:lpstr>Calibri Light</vt:lpstr>
      <vt:lpstr>Office Theme</vt:lpstr>
      <vt:lpstr>Research Communication Skills</vt:lpstr>
      <vt:lpstr>Intended Learning Outcomes</vt:lpstr>
      <vt:lpstr>What is a related work section</vt:lpstr>
      <vt:lpstr>Why do we need related work section?</vt:lpstr>
      <vt:lpstr>Finding papers for the related work section / literature survey</vt:lpstr>
      <vt:lpstr>You will need to find papers that will help you answer the following questions:</vt:lpstr>
      <vt:lpstr>Where to start </vt:lpstr>
      <vt:lpstr>Step 1 – papers based on keywords</vt:lpstr>
      <vt:lpstr>Step 2 – key papers from shared citations</vt:lpstr>
      <vt:lpstr>Step 3 – papers from top conferences</vt:lpstr>
      <vt:lpstr>Step 4</vt:lpstr>
      <vt:lpstr>Writing the related work section</vt:lpstr>
      <vt:lpstr>Do not drown in the amount of information</vt:lpstr>
      <vt:lpstr>Questions to answer when writing related works section</vt:lpstr>
      <vt:lpstr>Organize your related work section</vt:lpstr>
      <vt:lpstr>Organize your related work section (1)</vt:lpstr>
      <vt:lpstr>Example</vt:lpstr>
      <vt:lpstr>LASEC: A Localized Approach to Service Composition in Pervasive Computing Environments </vt:lpstr>
      <vt:lpstr>LASEC: A Localized Approach to Service Composition in Pervasive Computing Environments </vt:lpstr>
      <vt:lpstr>PowerPoint Presentation</vt:lpstr>
      <vt:lpstr>PowerPoint Presentation</vt:lpstr>
      <vt:lpstr>PowerPoint Presentation</vt:lpstr>
      <vt:lpstr>Organize your related work section (2)</vt:lpstr>
      <vt:lpstr>How to write related work section?</vt:lpstr>
      <vt:lpstr>How to write related work section?</vt:lpstr>
      <vt:lpstr>How to write related work section?</vt:lpstr>
      <vt:lpstr>How to write related works section</vt:lpstr>
      <vt:lpstr>Summary</vt:lpstr>
    </vt:vector>
  </TitlesOfParts>
  <Company>HKPU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hkpuadmin</dc:creator>
  <cp:lastModifiedBy>Joanna Siebert</cp:lastModifiedBy>
  <cp:revision>377</cp:revision>
  <cp:lastPrinted>2019-09-03T08:34:37Z</cp:lastPrinted>
  <dcterms:created xsi:type="dcterms:W3CDTF">2014-08-14T09:54:55Z</dcterms:created>
  <dcterms:modified xsi:type="dcterms:W3CDTF">2025-11-19T07:11:57Z</dcterms:modified>
</cp:coreProperties>
</file>