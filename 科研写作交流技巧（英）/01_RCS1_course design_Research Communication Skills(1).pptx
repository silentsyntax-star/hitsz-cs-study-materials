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06" r:id="rId2"/>
    <p:sldId id="1076" r:id="rId3"/>
    <p:sldId id="788" r:id="rId4"/>
    <p:sldId id="369" r:id="rId5"/>
    <p:sldId id="370" r:id="rId6"/>
    <p:sldId id="500" r:id="rId7"/>
    <p:sldId id="494" r:id="rId8"/>
    <p:sldId id="495" r:id="rId9"/>
    <p:sldId id="307" r:id="rId10"/>
    <p:sldId id="491" r:id="rId11"/>
    <p:sldId id="311" r:id="rId12"/>
    <p:sldId id="310" r:id="rId13"/>
    <p:sldId id="309" r:id="rId14"/>
    <p:sldId id="1075" r:id="rId15"/>
    <p:sldId id="1036" r:id="rId16"/>
    <p:sldId id="498" r:id="rId17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0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is.hitsz.edu.c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1ED8CC-4AA6-404E-ACBB-933487566793}"/>
              </a:ext>
            </a:extLst>
          </p:cNvPr>
          <p:cNvSpPr/>
          <p:nvPr/>
        </p:nvSpPr>
        <p:spPr>
          <a:xfrm>
            <a:off x="8762409" y="3429000"/>
            <a:ext cx="3300413" cy="117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4076D-9EA8-4664-B2A8-012A3190C383}"/>
              </a:ext>
            </a:extLst>
          </p:cNvPr>
          <p:cNvSpPr/>
          <p:nvPr/>
        </p:nvSpPr>
        <p:spPr>
          <a:xfrm>
            <a:off x="8762409" y="-1001232"/>
            <a:ext cx="3300413" cy="117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FD1A9-415D-4D7C-A86F-B83CB6AC4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64" y="84139"/>
            <a:ext cx="3716327" cy="6858000"/>
          </a:xfrm>
          <a:prstGeom prst="rect">
            <a:avLst/>
          </a:prstGeom>
        </p:spPr>
      </p:pic>
      <p:sp>
        <p:nvSpPr>
          <p:cNvPr id="5" name="副标题 6">
            <a:extLst>
              <a:ext uri="{FF2B5EF4-FFF2-40B4-BE49-F238E27FC236}">
                <a16:creationId xmlns:a16="http://schemas.microsoft.com/office/drawing/2014/main" id="{42FA7571-602E-42E4-B768-5A208B15CF18}"/>
              </a:ext>
            </a:extLst>
          </p:cNvPr>
          <p:cNvSpPr txBox="1">
            <a:spLocks/>
          </p:cNvSpPr>
          <p:nvPr/>
        </p:nvSpPr>
        <p:spPr>
          <a:xfrm>
            <a:off x="546339" y="621102"/>
            <a:ext cx="6883879" cy="548639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dirty="0"/>
              <a:t>In the request message and in your WeChat name for this course group, please use both:</a:t>
            </a:r>
          </a:p>
          <a:p>
            <a:pPr marL="457200" indent="-457200">
              <a:buFontTx/>
              <a:buChar char="-"/>
            </a:pPr>
            <a:r>
              <a:rPr lang="en-GB" sz="4000" dirty="0">
                <a:highlight>
                  <a:srgbClr val="FFFF00"/>
                </a:highlight>
              </a:rPr>
              <a:t>student ID number, and </a:t>
            </a:r>
          </a:p>
          <a:p>
            <a:pPr marL="457200" indent="-457200">
              <a:buFontTx/>
              <a:buChar char="-"/>
            </a:pPr>
            <a:r>
              <a:rPr lang="en-GB" sz="4000" dirty="0">
                <a:highlight>
                  <a:srgbClr val="FFFF00"/>
                </a:highlight>
              </a:rPr>
              <a:t>your full name</a:t>
            </a:r>
          </a:p>
          <a:p>
            <a:pPr marL="457200" indent="-457200">
              <a:buFontTx/>
              <a:buChar char="-"/>
            </a:pPr>
            <a:endParaRPr lang="en-GB" sz="4000" dirty="0">
              <a:highlight>
                <a:srgbClr val="FFFF00"/>
              </a:highlight>
            </a:endParaRPr>
          </a:p>
          <a:p>
            <a:r>
              <a:rPr lang="en-GB" sz="4000" i="1" dirty="0">
                <a:highlight>
                  <a:srgbClr val="FFFF00"/>
                </a:highlight>
              </a:rPr>
              <a:t>Requests without this information will not be accepted</a:t>
            </a:r>
          </a:p>
        </p:txBody>
      </p:sp>
    </p:spTree>
    <p:extLst>
      <p:ext uri="{BB962C8B-B14F-4D97-AF65-F5344CB8AC3E}">
        <p14:creationId xmlns:p14="http://schemas.microsoft.com/office/powerpoint/2010/main" val="132077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068" y="3874654"/>
            <a:ext cx="6181282" cy="1362496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Research Communication Skills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609" y="788973"/>
            <a:ext cx="3886200" cy="25130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1ED8CC-4AA6-404E-ACBB-933487566793}"/>
              </a:ext>
            </a:extLst>
          </p:cNvPr>
          <p:cNvSpPr/>
          <p:nvPr/>
        </p:nvSpPr>
        <p:spPr>
          <a:xfrm>
            <a:off x="8762409" y="3429000"/>
            <a:ext cx="3300413" cy="117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4076D-9EA8-4664-B2A8-012A3190C383}"/>
              </a:ext>
            </a:extLst>
          </p:cNvPr>
          <p:cNvSpPr/>
          <p:nvPr/>
        </p:nvSpPr>
        <p:spPr>
          <a:xfrm>
            <a:off x="8762409" y="-1001232"/>
            <a:ext cx="3300413" cy="117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FD1A9-415D-4D7C-A86F-B83CB6AC46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589" y="-2141476"/>
            <a:ext cx="3716327" cy="6858000"/>
          </a:xfrm>
          <a:prstGeom prst="rect">
            <a:avLst/>
          </a:prstGeom>
        </p:spPr>
      </p:pic>
      <p:sp>
        <p:nvSpPr>
          <p:cNvPr id="5" name="副标题 6">
            <a:extLst>
              <a:ext uri="{FF2B5EF4-FFF2-40B4-BE49-F238E27FC236}">
                <a16:creationId xmlns:a16="http://schemas.microsoft.com/office/drawing/2014/main" id="{42FA7571-602E-42E4-B768-5A208B15CF18}"/>
              </a:ext>
            </a:extLst>
          </p:cNvPr>
          <p:cNvSpPr txBox="1">
            <a:spLocks/>
          </p:cNvSpPr>
          <p:nvPr/>
        </p:nvSpPr>
        <p:spPr>
          <a:xfrm>
            <a:off x="7781027" y="3513827"/>
            <a:ext cx="4321078" cy="327827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In the request message and in your WeChat name for this course group, please use:</a:t>
            </a:r>
          </a:p>
          <a:p>
            <a:pPr marL="457200" indent="-457200">
              <a:buFontTx/>
              <a:buChar char="-"/>
            </a:pPr>
            <a:r>
              <a:rPr lang="en-GB" sz="2800" dirty="0">
                <a:highlight>
                  <a:srgbClr val="FFFF00"/>
                </a:highlight>
              </a:rPr>
              <a:t>student ID number</a:t>
            </a:r>
          </a:p>
          <a:p>
            <a:pPr marL="457200" indent="-457200">
              <a:buFontTx/>
              <a:buChar char="-"/>
            </a:pPr>
            <a:r>
              <a:rPr lang="en-GB" sz="2800" dirty="0">
                <a:highlight>
                  <a:srgbClr val="FFFF00"/>
                </a:highlight>
              </a:rPr>
              <a:t>your full name</a:t>
            </a:r>
          </a:p>
        </p:txBody>
      </p:sp>
    </p:spTree>
    <p:extLst>
      <p:ext uri="{BB962C8B-B14F-4D97-AF65-F5344CB8AC3E}">
        <p14:creationId xmlns:p14="http://schemas.microsoft.com/office/powerpoint/2010/main" val="216445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– 10 minutes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008444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Please help me understand your plans and expectations for this course by answering the questions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are your expectations for this course?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one thing that you do want to do in this course and why?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one thing that you don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‘</a:t>
            </a:r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 want to do in this course and why?</a:t>
            </a:r>
            <a:endParaRPr lang="x-none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your one question for me?</a:t>
            </a:r>
            <a:endParaRPr lang="x-none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x-none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x-none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GB" dirty="0"/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443" y="1825625"/>
            <a:ext cx="3285397" cy="328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4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 information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Lecturer: </a:t>
            </a:r>
            <a:r>
              <a:rPr lang="en-US" sz="3600" dirty="0" err="1"/>
              <a:t>Dr</a:t>
            </a:r>
            <a:r>
              <a:rPr lang="en-US" sz="3600" dirty="0"/>
              <a:t> Joanna Siebert</a:t>
            </a:r>
          </a:p>
          <a:p>
            <a:r>
              <a:rPr lang="en-US" sz="3600" dirty="0" err="1"/>
              <a:t>WeChat</a:t>
            </a:r>
            <a:r>
              <a:rPr lang="en-US" sz="3600" dirty="0"/>
              <a:t>: </a:t>
            </a:r>
            <a:r>
              <a:rPr lang="en-US" sz="3600" dirty="0" err="1"/>
              <a:t>JoannaSiebert</a:t>
            </a:r>
            <a:endParaRPr lang="en-US" sz="3600" dirty="0"/>
          </a:p>
          <a:p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82723" y="4475062"/>
            <a:ext cx="9144000" cy="193675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202322" y="1817387"/>
            <a:ext cx="4407374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Office: L1503</a:t>
            </a:r>
          </a:p>
          <a:p>
            <a:r>
              <a:rPr lang="en-US" sz="3600" dirty="0"/>
              <a:t>Office hours:  by appointment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561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694" y="-1"/>
            <a:ext cx="5578306" cy="37179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13694" cy="3589306"/>
          </a:xfrm>
          <a:prstGeom prst="rect">
            <a:avLst/>
          </a:prstGeom>
        </p:spPr>
      </p:pic>
      <p:pic>
        <p:nvPicPr>
          <p:cNvPr id="1028" name="Picture 4" descr="http://www.hktdc.com/resources/MI_Portal/Article/tdcnews/2009/04/35106/1243915890196_62338_3510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69" y="3267401"/>
            <a:ext cx="5301322" cy="358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285" y="3260392"/>
            <a:ext cx="7074716" cy="359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6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A464-DF64-43B7-BC0F-D7C36C69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FF15D-3FEF-4710-A539-C399E3518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hlinkClick r:id="rId2"/>
              </a:rPr>
              <a:t>http://is.hitsz.edu.cn/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353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Research </a:t>
            </a:r>
            <a:r>
              <a:rPr lang="en-US" dirty="0"/>
              <a:t>Communication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Design</a:t>
            </a:r>
          </a:p>
        </p:txBody>
      </p:sp>
    </p:spTree>
    <p:extLst>
      <p:ext uri="{BB962C8B-B14F-4D97-AF65-F5344CB8AC3E}">
        <p14:creationId xmlns:p14="http://schemas.microsoft.com/office/powerpoint/2010/main" val="34434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Intended Learning Outcomes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By the end of this lesson you will be able to:</a:t>
            </a:r>
          </a:p>
          <a:p>
            <a:pPr lvl="1"/>
            <a:r>
              <a:rPr lang="en-GB" sz="3600" dirty="0"/>
              <a:t>Estimate your workload in this subject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36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Subject Objectives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Grasp the frontier of international research and have an international perspective</a:t>
            </a:r>
          </a:p>
          <a:p>
            <a:r>
              <a:rPr lang="en-GB" dirty="0"/>
              <a:t>Engage in research</a:t>
            </a:r>
          </a:p>
          <a:p>
            <a:r>
              <a:rPr lang="en-GB" dirty="0"/>
              <a:t>Detailed discussion of a specific research field and grasping its:</a:t>
            </a:r>
          </a:p>
          <a:p>
            <a:pPr lvl="1"/>
            <a:r>
              <a:rPr lang="en-GB" dirty="0"/>
              <a:t>status quo</a:t>
            </a:r>
          </a:p>
          <a:p>
            <a:pPr lvl="1"/>
            <a:r>
              <a:rPr lang="en-GB" dirty="0"/>
              <a:t>research progress</a:t>
            </a:r>
          </a:p>
          <a:p>
            <a:pPr lvl="1"/>
            <a:r>
              <a:rPr lang="en-GB" dirty="0"/>
              <a:t>research hotspots</a:t>
            </a:r>
          </a:p>
          <a:p>
            <a:r>
              <a:rPr lang="en-GB" dirty="0"/>
              <a:t>Cultivate your academic research ability: </a:t>
            </a:r>
          </a:p>
          <a:p>
            <a:pPr lvl="1"/>
            <a:r>
              <a:rPr lang="en-GB" dirty="0"/>
              <a:t>reading scientific and technological documents</a:t>
            </a:r>
          </a:p>
          <a:p>
            <a:pPr lvl="1"/>
            <a:r>
              <a:rPr lang="en-GB" dirty="0"/>
              <a:t>writing research papers</a:t>
            </a:r>
          </a:p>
          <a:p>
            <a:pPr lvl="1"/>
            <a:r>
              <a:rPr lang="en-GB" dirty="0"/>
              <a:t>clearly expressing and reporting the content of research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281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GB" dirty="0"/>
              <a:t>Introduction </a:t>
            </a:r>
            <a:r>
              <a:rPr lang="en-GB"/>
              <a:t>to research</a:t>
            </a:r>
            <a:r>
              <a:rPr lang="en-GB" dirty="0"/>
              <a:t>	</a:t>
            </a:r>
          </a:p>
          <a:p>
            <a:r>
              <a:rPr lang="en-GB" dirty="0" err="1"/>
              <a:t>IoT</a:t>
            </a:r>
            <a:r>
              <a:rPr lang="en-GB" dirty="0"/>
              <a:t> Research Background	</a:t>
            </a:r>
          </a:p>
          <a:p>
            <a:r>
              <a:rPr lang="en-GB" dirty="0"/>
              <a:t>Reading research papers	</a:t>
            </a:r>
          </a:p>
          <a:p>
            <a:r>
              <a:rPr lang="en-GB" dirty="0"/>
              <a:t>Referencing and creating a reference list</a:t>
            </a:r>
          </a:p>
          <a:p>
            <a:r>
              <a:rPr lang="en-GB" dirty="0"/>
              <a:t>Writing Related Work Section</a:t>
            </a:r>
          </a:p>
          <a:p>
            <a:r>
              <a:rPr lang="en-GB" dirty="0"/>
              <a:t>How to write survey papers	</a:t>
            </a:r>
          </a:p>
          <a:p>
            <a:r>
              <a:rPr lang="en-GB" dirty="0"/>
              <a:t>Study of important papers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930B5-6874-47A9-80A0-798F3932EB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Designing academic posters</a:t>
            </a:r>
          </a:p>
          <a:p>
            <a:r>
              <a:rPr lang="en-GB" dirty="0"/>
              <a:t>Writing research papers	</a:t>
            </a:r>
          </a:p>
          <a:p>
            <a:r>
              <a:rPr lang="en-GB" dirty="0"/>
              <a:t>Preparing for oral presentation </a:t>
            </a:r>
          </a:p>
          <a:p>
            <a:r>
              <a:rPr lang="en-GB" dirty="0"/>
              <a:t>Peer review and paper revision</a:t>
            </a:r>
          </a:p>
          <a:p>
            <a:r>
              <a:rPr lang="en-GB" dirty="0"/>
              <a:t>Common mistakes made by non-native speakers</a:t>
            </a:r>
          </a:p>
          <a:p>
            <a:r>
              <a:rPr lang="en-GB" dirty="0"/>
              <a:t>Mini conference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77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Teaching plan: teaching activities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8877"/>
            <a:ext cx="10515600" cy="4351338"/>
          </a:xfrm>
        </p:spPr>
        <p:txBody>
          <a:bodyPr>
            <a:normAutofit/>
          </a:bodyPr>
          <a:lstStyle/>
          <a:p>
            <a:r>
              <a:rPr lang="en-GB" sz="3600" dirty="0"/>
              <a:t>Participate in one project group, select your research topic and work on tasks:</a:t>
            </a:r>
          </a:p>
          <a:p>
            <a:pPr lvl="1"/>
            <a:r>
              <a:rPr lang="en-GB" sz="3200" dirty="0"/>
              <a:t>literature reading </a:t>
            </a:r>
          </a:p>
          <a:p>
            <a:pPr lvl="1"/>
            <a:r>
              <a:rPr lang="en-GB" sz="3200" dirty="0"/>
              <a:t>survey paper writing</a:t>
            </a:r>
          </a:p>
          <a:p>
            <a:pPr lvl="1"/>
            <a:r>
              <a:rPr lang="en-GB" sz="3200" dirty="0"/>
              <a:t>peer review</a:t>
            </a:r>
          </a:p>
          <a:p>
            <a:pPr lvl="1"/>
            <a:r>
              <a:rPr lang="en-GB" sz="3200" dirty="0"/>
              <a:t>research poster</a:t>
            </a:r>
          </a:p>
          <a:p>
            <a:pPr lvl="1"/>
            <a:r>
              <a:rPr lang="en-GB" sz="3200" dirty="0"/>
              <a:t>oral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06658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Materials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There is </a:t>
            </a:r>
            <a:r>
              <a:rPr lang="en-US" dirty="0">
                <a:solidFill>
                  <a:srgbClr val="00B050"/>
                </a:solidFill>
              </a:rPr>
              <a:t>no textbook </a:t>
            </a:r>
            <a:r>
              <a:rPr lang="en-US" dirty="0"/>
              <a:t>for this course</a:t>
            </a:r>
            <a:endParaRPr lang="en-GB" dirty="0"/>
          </a:p>
          <a:p>
            <a:r>
              <a:rPr lang="en-GB">
                <a:solidFill>
                  <a:srgbClr val="FF0000"/>
                </a:solidFill>
              </a:rPr>
              <a:t>Web </a:t>
            </a:r>
            <a:r>
              <a:rPr lang="en-GB" dirty="0">
                <a:solidFill>
                  <a:srgbClr val="FF0000"/>
                </a:solidFill>
              </a:rPr>
              <a:t>resources </a:t>
            </a:r>
            <a:r>
              <a:rPr lang="en-GB" dirty="0"/>
              <a:t>– you will be required to find online resources by yourself, including but not limited to journal and conference papers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Suggested reference books:</a:t>
            </a:r>
          </a:p>
          <a:p>
            <a:pPr lvl="1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侯进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计算机专业英语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科技交流与科技论文写作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电子工业出版社，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2016.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王慧莉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刘文宇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高桂珍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曹硕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任务型学术写作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中国人民大学出版社，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2014.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任胜利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莫京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安瑞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刘徽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科技写作与交流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期刊论文、基金申请书及会议讲演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科学出版社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2017.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Strunk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William. The elements of style. Penguin, 2007.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Academic Essay Writing for Postgraduates. English Language Teaching Centre, University of Edinburgh, 2014.</a:t>
            </a:r>
          </a:p>
          <a:p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945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Assessment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22529" y="1608798"/>
            <a:ext cx="8744947" cy="3753196"/>
            <a:chOff x="1422529" y="1608798"/>
            <a:chExt cx="8744947" cy="375319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2529" y="1608798"/>
              <a:ext cx="8744947" cy="3753196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7910697" y="3117821"/>
              <a:ext cx="576032" cy="435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>
              <a:off x="9146681" y="3733462"/>
              <a:ext cx="576032" cy="435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2708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4BF50E07-9631-4FDD-BF37-F33132E6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 project schedule  (tentative)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D4BBEB-28F4-4D20-98BF-12FED1AC5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/>
              <a:t>Do presentations in class </a:t>
            </a:r>
          </a:p>
          <a:p>
            <a:pPr lvl="1">
              <a:defRPr/>
            </a:pPr>
            <a:r>
              <a:rPr lang="en-US" altLang="zh-CN" dirty="0"/>
              <a:t>Poster presentation</a:t>
            </a:r>
          </a:p>
          <a:p>
            <a:pPr lvl="3">
              <a:defRPr/>
            </a:pPr>
            <a:r>
              <a:rPr lang="en-US" altLang="zh-CN" dirty="0"/>
              <a:t>Submit your poster – </a:t>
            </a:r>
            <a:r>
              <a:rPr lang="en-US" altLang="zh-CN" dirty="0">
                <a:solidFill>
                  <a:srgbClr val="FF0000"/>
                </a:solidFill>
              </a:rPr>
              <a:t>October 14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lvl="3">
              <a:defRPr/>
            </a:pPr>
            <a:r>
              <a:rPr lang="en-US" altLang="zh-CN" dirty="0"/>
              <a:t>Presentation - </a:t>
            </a:r>
            <a:r>
              <a:rPr lang="en-US" altLang="zh-CN" dirty="0">
                <a:solidFill>
                  <a:srgbClr val="FF0000"/>
                </a:solidFill>
              </a:rPr>
              <a:t>October 19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/>
              <a:t> - (poster design + presentation)</a:t>
            </a:r>
          </a:p>
          <a:p>
            <a:pPr lvl="1">
              <a:defRPr/>
            </a:pPr>
            <a:r>
              <a:rPr lang="en-US" altLang="zh-CN" dirty="0"/>
              <a:t>Oral presentation</a:t>
            </a:r>
          </a:p>
          <a:p>
            <a:pPr lvl="2">
              <a:defRPr/>
            </a:pPr>
            <a:r>
              <a:rPr lang="en-US" altLang="zh-CN" dirty="0"/>
              <a:t>Presentation in class - </a:t>
            </a:r>
            <a:r>
              <a:rPr lang="en-US" altLang="zh-CN" dirty="0">
                <a:solidFill>
                  <a:srgbClr val="FF0000"/>
                </a:solidFill>
              </a:rPr>
              <a:t>October 26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FF0000"/>
                </a:solidFill>
              </a:rPr>
              <a:t>October 29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/>
              <a:t> (PPT design + presentation)</a:t>
            </a:r>
          </a:p>
          <a:p>
            <a:pPr lvl="2">
              <a:lnSpc>
                <a:spcPct val="115000"/>
              </a:lnSpc>
              <a:spcAft>
                <a:spcPts val="1000"/>
              </a:spcAft>
            </a:pPr>
            <a:r>
              <a:rPr lang="en-US" altLang="zh-CN" dirty="0"/>
              <a:t>Submit your PPT – </a:t>
            </a:r>
            <a:r>
              <a:rPr lang="en-US" altLang="zh-CN" dirty="0">
                <a:solidFill>
                  <a:srgbClr val="FF0000"/>
                </a:solidFill>
              </a:rPr>
              <a:t>October 29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Paper writing</a:t>
            </a:r>
          </a:p>
          <a:p>
            <a:pPr lvl="1">
              <a:defRPr/>
            </a:pPr>
            <a:r>
              <a:rPr lang="en-US" altLang="zh-CN" dirty="0">
                <a:ea typeface="SimSun"/>
                <a:cs typeface="Times New Roman"/>
              </a:rPr>
              <a:t>Submit your survey paper draft </a:t>
            </a:r>
            <a:r>
              <a:rPr lang="en-US" altLang="zh-CN" dirty="0"/>
              <a:t>– </a:t>
            </a:r>
            <a:r>
              <a:rPr lang="en-US" altLang="zh-CN" dirty="0">
                <a:solidFill>
                  <a:srgbClr val="FF0000"/>
                </a:solidFill>
              </a:rPr>
              <a:t>October 14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lvl="1">
              <a:defRPr/>
            </a:pPr>
            <a:r>
              <a:rPr lang="en-US" altLang="zh-CN" dirty="0">
                <a:ea typeface="SimSun"/>
                <a:cs typeface="Times New Roman"/>
              </a:rPr>
              <a:t>Submit your final paper </a:t>
            </a:r>
            <a:r>
              <a:rPr lang="en-US" altLang="zh-CN" dirty="0"/>
              <a:t>–</a:t>
            </a:r>
            <a:r>
              <a:rPr lang="en-US" altLang="zh-CN" dirty="0">
                <a:solidFill>
                  <a:srgbClr val="FF0000"/>
                </a:solidFill>
              </a:rPr>
              <a:t> October 22</a:t>
            </a:r>
            <a:r>
              <a:rPr lang="en-US" altLang="zh-CN" baseline="30000" dirty="0">
                <a:solidFill>
                  <a:srgbClr val="FF0000"/>
                </a:solidFill>
              </a:rPr>
              <a:t>nd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lvl="1">
              <a:defRPr/>
            </a:pPr>
            <a:r>
              <a:rPr lang="en-US" altLang="zh-CN" dirty="0"/>
              <a:t>Participate in a peer review session</a:t>
            </a:r>
          </a:p>
          <a:p>
            <a:pPr lvl="2">
              <a:defRPr/>
            </a:pPr>
            <a:r>
              <a:rPr lang="en-US" altLang="zh-CN" dirty="0"/>
              <a:t>Submit the peer-review of another group’s survey (</a:t>
            </a:r>
            <a:r>
              <a:rPr lang="en-US" altLang="zh-CN" i="1" dirty="0">
                <a:solidFill>
                  <a:srgbClr val="00B050"/>
                </a:solidFill>
              </a:rPr>
              <a:t>individual work - Homework 6</a:t>
            </a:r>
            <a:r>
              <a:rPr lang="en-US" altLang="zh-CN" dirty="0"/>
              <a:t>) – </a:t>
            </a:r>
            <a:r>
              <a:rPr lang="en-US" altLang="zh-CN" dirty="0">
                <a:solidFill>
                  <a:srgbClr val="FF0000"/>
                </a:solidFill>
              </a:rPr>
              <a:t>October 27th   </a:t>
            </a:r>
          </a:p>
          <a:p>
            <a:pPr lvl="2">
              <a:lnSpc>
                <a:spcPct val="115000"/>
              </a:lnSpc>
              <a:spcAft>
                <a:spcPts val="1000"/>
              </a:spcAft>
            </a:pPr>
            <a:r>
              <a:rPr lang="en-US" altLang="zh-CN" dirty="0">
                <a:ea typeface="SimSun"/>
                <a:cs typeface="Times New Roman"/>
              </a:rPr>
              <a:t>Submit the revised version of your paper with a response letter to the reviewers and a contribution table </a:t>
            </a:r>
            <a:r>
              <a:rPr lang="en-US" altLang="zh-CN" dirty="0"/>
              <a:t>(</a:t>
            </a:r>
            <a:r>
              <a:rPr lang="en-US" altLang="zh-CN" i="1" dirty="0">
                <a:solidFill>
                  <a:srgbClr val="00B050"/>
                </a:solidFill>
              </a:rPr>
              <a:t>group work</a:t>
            </a:r>
            <a:r>
              <a:rPr lang="en-US" altLang="zh-CN" dirty="0"/>
              <a:t>) – </a:t>
            </a:r>
            <a:r>
              <a:rPr lang="en-US" altLang="zh-CN" dirty="0">
                <a:solidFill>
                  <a:srgbClr val="FF0000"/>
                </a:solidFill>
              </a:rPr>
              <a:t>November 5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en-US" altLang="zh-CN" dirty="0"/>
          </a:p>
          <a:p>
            <a:pPr lvl="1" fontAlgn="auto">
              <a:spcAft>
                <a:spcPts val="0"/>
              </a:spcAft>
              <a:defRPr/>
            </a:pPr>
            <a:endParaRPr lang="en-US" altLang="zh-CN" dirty="0"/>
          </a:p>
          <a:p>
            <a:pPr fontAlgn="auto">
              <a:spcAft>
                <a:spcPts val="0"/>
              </a:spcAf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476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68A66-BA87-4312-84F3-FE095040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Tools we will use in this subject</a:t>
            </a:r>
            <a:endParaRPr lang="x-none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9DFF-5CDB-4D77-A451-A80CB6409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71560" cy="4351338"/>
          </a:xfrm>
        </p:spPr>
        <p:txBody>
          <a:bodyPr>
            <a:normAutofit/>
          </a:bodyPr>
          <a:lstStyle/>
          <a:p>
            <a:r>
              <a:rPr lang="en-AU" sz="4800" dirty="0"/>
              <a:t>Lecture materials</a:t>
            </a:r>
          </a:p>
          <a:p>
            <a:pPr lvl="1"/>
            <a:r>
              <a:rPr lang="en-AU" sz="4400" dirty="0"/>
              <a:t>WeChat course group</a:t>
            </a:r>
          </a:p>
          <a:p>
            <a:r>
              <a:rPr lang="en-AU" sz="4800" dirty="0"/>
              <a:t>Submission of assignments</a:t>
            </a:r>
          </a:p>
          <a:p>
            <a:pPr lvl="1"/>
            <a:r>
              <a:rPr lang="en-AU" sz="4400" dirty="0"/>
              <a:t>WeChat – privately, directly to me</a:t>
            </a:r>
          </a:p>
          <a:p>
            <a:pPr lvl="1"/>
            <a:r>
              <a:rPr lang="en-AU" sz="4400"/>
              <a:t>WeChat project </a:t>
            </a:r>
            <a:r>
              <a:rPr lang="en-AU" sz="4400" dirty="0"/>
              <a:t>groups</a:t>
            </a:r>
          </a:p>
          <a:p>
            <a:pPr marL="0" indent="0">
              <a:buNone/>
            </a:pP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142841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900" dirty="0"/>
              <a:t>Please contact me</a:t>
            </a:r>
          </a:p>
          <a:p>
            <a:pPr marL="0" indent="0" algn="ctr">
              <a:buNone/>
            </a:pPr>
            <a:r>
              <a:rPr lang="en-US" sz="3900" dirty="0"/>
              <a:t>if you have any concerns about this subject or require special assistance:</a:t>
            </a:r>
          </a:p>
          <a:p>
            <a:pPr marL="0" indent="0" algn="ctr">
              <a:buNone/>
            </a:pPr>
            <a:endParaRPr lang="en-US" sz="3900" dirty="0"/>
          </a:p>
          <a:p>
            <a:pPr lvl="1" algn="ctr">
              <a:buFont typeface="Wingdings" panose="05000000000000000000" pitchFamily="2" charset="2"/>
              <a:buChar char="ü"/>
            </a:pPr>
            <a:r>
              <a:rPr lang="en-US" sz="3600" dirty="0"/>
              <a:t>approach me after the lecture 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sz="3600" dirty="0"/>
              <a:t>contact me on </a:t>
            </a:r>
            <a:r>
              <a:rPr lang="en-US" sz="3600" dirty="0" err="1"/>
              <a:t>WeChat</a:t>
            </a:r>
            <a:r>
              <a:rPr lang="en-US" sz="3600" dirty="0"/>
              <a:t>	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sz="3600" dirty="0"/>
              <a:t>or schedule a meeting in my office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1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6438</TotalTime>
  <Words>684</Words>
  <Application>Microsoft Office PowerPoint</Application>
  <PresentationFormat>Widescreen</PresentationFormat>
  <Paragraphs>97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Microsoft Yahei</vt:lpstr>
      <vt:lpstr>Arial</vt:lpstr>
      <vt:lpstr>Calibri</vt:lpstr>
      <vt:lpstr>Calibri Light</vt:lpstr>
      <vt:lpstr>Wingdings</vt:lpstr>
      <vt:lpstr>Office Theme</vt:lpstr>
      <vt:lpstr>PowerPoint Presentation</vt:lpstr>
      <vt:lpstr>Research Communication Skills</vt:lpstr>
      <vt:lpstr>Survey – 10 minutes</vt:lpstr>
      <vt:lpstr>Contact information </vt:lpstr>
      <vt:lpstr>PowerPoint Presentation</vt:lpstr>
      <vt:lpstr>Attendance</vt:lpstr>
      <vt:lpstr>Research Communication Skills</vt:lpstr>
      <vt:lpstr>Intended Learning Outcomes</vt:lpstr>
      <vt:lpstr>Subject Objectives</vt:lpstr>
      <vt:lpstr>Topics</vt:lpstr>
      <vt:lpstr>Teaching plan: teaching activities</vt:lpstr>
      <vt:lpstr>Materials</vt:lpstr>
      <vt:lpstr>Assessment</vt:lpstr>
      <vt:lpstr>Group project schedule  (tentative)</vt:lpstr>
      <vt:lpstr>Tools we will use in this subject</vt:lpstr>
      <vt:lpstr>PowerPoint Presentation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252</cp:revision>
  <cp:lastPrinted>2019-09-03T08:34:37Z</cp:lastPrinted>
  <dcterms:created xsi:type="dcterms:W3CDTF">2014-08-14T09:54:55Z</dcterms:created>
  <dcterms:modified xsi:type="dcterms:W3CDTF">2026-08-31T07:28:38Z</dcterms:modified>
</cp:coreProperties>
</file>