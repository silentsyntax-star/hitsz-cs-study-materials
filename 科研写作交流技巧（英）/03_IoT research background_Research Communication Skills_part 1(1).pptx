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313" r:id="rId2"/>
    <p:sldId id="373" r:id="rId3"/>
    <p:sldId id="374" r:id="rId4"/>
    <p:sldId id="375" r:id="rId5"/>
    <p:sldId id="376" r:id="rId6"/>
    <p:sldId id="377" r:id="rId7"/>
    <p:sldId id="378" r:id="rId8"/>
    <p:sldId id="379" r:id="rId9"/>
    <p:sldId id="380" r:id="rId10"/>
    <p:sldId id="381" r:id="rId11"/>
    <p:sldId id="382" r:id="rId12"/>
  </p:sldIdLst>
  <p:sldSz cx="12192000" cy="6858000"/>
  <p:notesSz cx="6797675" cy="9929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4" autoAdjust="0"/>
    <p:restoredTop sz="94660"/>
  </p:normalViewPr>
  <p:slideViewPr>
    <p:cSldViewPr snapToGrid="0">
      <p:cViewPr varScale="1">
        <p:scale>
          <a:sx n="70" d="100"/>
          <a:sy n="70" d="100"/>
        </p:scale>
        <p:origin x="57" y="2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B79868-BDA9-4441-B20B-68D0617E5C8E}" type="datetimeFigureOut">
              <a:rPr lang="en-GB" smtClean="0"/>
              <a:t>03/09/2026</a:t>
            </a:fld>
            <a:endParaRPr lang="en-GB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1CA833-6E71-4E0E-A695-7044B802CC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93987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66FD4-870D-41D4-A76E-DC48774E844B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8722"/>
            <a:ext cx="5438140" cy="3909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3B433F-8F9F-4754-B27A-D9BD2E9FA4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1200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503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  <a:sym typeface="Wingdings" panose="05000000000000000000" pitchFamily="2" charset="2"/>
              </a:defRPr>
            </a:lvl1pPr>
            <a:lvl2pPr marL="685800" indent="-263525" defTabSz="87503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  <a:sym typeface="Wingdings" panose="05000000000000000000" pitchFamily="2" charset="2"/>
              </a:defRPr>
            </a:lvl2pPr>
            <a:lvl3pPr marL="1055370" indent="-210820" defTabSz="87503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  <a:sym typeface="Wingdings" panose="05000000000000000000" pitchFamily="2" charset="2"/>
              </a:defRPr>
            </a:lvl3pPr>
            <a:lvl4pPr marL="1477010" indent="-210820" defTabSz="87503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  <a:sym typeface="Wingdings" panose="05000000000000000000" pitchFamily="2" charset="2"/>
              </a:defRPr>
            </a:lvl4pPr>
            <a:lvl5pPr marL="1899285" indent="-210820" defTabSz="87503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  <a:sym typeface="Wingdings" panose="05000000000000000000" pitchFamily="2" charset="2"/>
              </a:defRPr>
            </a:lvl5pPr>
            <a:lvl6pPr marL="2320925" indent="-210820" defTabSz="87503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70000"/>
              <a:buFont typeface="Wingdings" panose="05000000000000000000" pitchFamily="2" charset="2"/>
              <a:buChar char="l"/>
              <a:defRPr b="1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  <a:sym typeface="Wingdings" panose="05000000000000000000" pitchFamily="2" charset="2"/>
              </a:defRPr>
            </a:lvl6pPr>
            <a:lvl7pPr marL="2743200" indent="-210820" defTabSz="87503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70000"/>
              <a:buFont typeface="Wingdings" panose="05000000000000000000" pitchFamily="2" charset="2"/>
              <a:buChar char="l"/>
              <a:defRPr b="1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  <a:sym typeface="Wingdings" panose="05000000000000000000" pitchFamily="2" charset="2"/>
              </a:defRPr>
            </a:lvl7pPr>
            <a:lvl8pPr marL="3165475" indent="-210820" defTabSz="87503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70000"/>
              <a:buFont typeface="Wingdings" panose="05000000000000000000" pitchFamily="2" charset="2"/>
              <a:buChar char="l"/>
              <a:defRPr b="1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  <a:sym typeface="Wingdings" panose="05000000000000000000" pitchFamily="2" charset="2"/>
              </a:defRPr>
            </a:lvl8pPr>
            <a:lvl9pPr marL="3587115" indent="-210820" defTabSz="87503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70000"/>
              <a:buFont typeface="Wingdings" panose="05000000000000000000" pitchFamily="2" charset="2"/>
              <a:buChar char="l"/>
              <a:defRPr b="1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  <a:sym typeface="Wingdings" panose="05000000000000000000" pitchFamily="2" charset="2"/>
              </a:defRPr>
            </a:lvl9pPr>
          </a:lstStyle>
          <a:p>
            <a:pPr eaLnBrk="1" hangingPunct="1"/>
            <a:fld id="{74870BC7-05A5-4606-89C2-E7A572B69D1B}" type="slidenum">
              <a:rPr lang="zh-CN" altLang="en-US" b="0" smtClean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fld>
            <a:endParaRPr lang="en-US" altLang="zh-CN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91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1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503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  <a:sym typeface="Wingdings" panose="05000000000000000000" pitchFamily="2" charset="2"/>
              </a:defRPr>
            </a:lvl1pPr>
            <a:lvl2pPr marL="685800" indent="-263525" defTabSz="87503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  <a:sym typeface="Wingdings" panose="05000000000000000000" pitchFamily="2" charset="2"/>
              </a:defRPr>
            </a:lvl2pPr>
            <a:lvl3pPr marL="1055370" indent="-210820" defTabSz="87503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  <a:sym typeface="Wingdings" panose="05000000000000000000" pitchFamily="2" charset="2"/>
              </a:defRPr>
            </a:lvl3pPr>
            <a:lvl4pPr marL="1477010" indent="-210820" defTabSz="87503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  <a:sym typeface="Wingdings" panose="05000000000000000000" pitchFamily="2" charset="2"/>
              </a:defRPr>
            </a:lvl4pPr>
            <a:lvl5pPr marL="1899285" indent="-210820" defTabSz="87503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  <a:sym typeface="Wingdings" panose="05000000000000000000" pitchFamily="2" charset="2"/>
              </a:defRPr>
            </a:lvl5pPr>
            <a:lvl6pPr marL="2320925" indent="-210820" defTabSz="87503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70000"/>
              <a:buFont typeface="Wingdings" panose="05000000000000000000" pitchFamily="2" charset="2"/>
              <a:buChar char="l"/>
              <a:defRPr b="1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  <a:sym typeface="Wingdings" panose="05000000000000000000" pitchFamily="2" charset="2"/>
              </a:defRPr>
            </a:lvl6pPr>
            <a:lvl7pPr marL="2743200" indent="-210820" defTabSz="87503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70000"/>
              <a:buFont typeface="Wingdings" panose="05000000000000000000" pitchFamily="2" charset="2"/>
              <a:buChar char="l"/>
              <a:defRPr b="1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  <a:sym typeface="Wingdings" panose="05000000000000000000" pitchFamily="2" charset="2"/>
              </a:defRPr>
            </a:lvl7pPr>
            <a:lvl8pPr marL="3165475" indent="-210820" defTabSz="87503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70000"/>
              <a:buFont typeface="Wingdings" panose="05000000000000000000" pitchFamily="2" charset="2"/>
              <a:buChar char="l"/>
              <a:defRPr b="1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  <a:sym typeface="Wingdings" panose="05000000000000000000" pitchFamily="2" charset="2"/>
              </a:defRPr>
            </a:lvl8pPr>
            <a:lvl9pPr marL="3587115" indent="-210820" defTabSz="87503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70000"/>
              <a:buFont typeface="Wingdings" panose="05000000000000000000" pitchFamily="2" charset="2"/>
              <a:buChar char="l"/>
              <a:defRPr b="1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  <a:sym typeface="Wingdings" panose="05000000000000000000" pitchFamily="2" charset="2"/>
              </a:defRPr>
            </a:lvl9pPr>
          </a:lstStyle>
          <a:p>
            <a:pPr eaLnBrk="1" hangingPunct="1"/>
            <a:fld id="{B495CB15-D331-41FC-AD16-5B8F622E5F59}" type="slidenum">
              <a:rPr lang="zh-CN" altLang="en-US" b="0" smtClean="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fld>
            <a:endParaRPr lang="en-US" altLang="zh-CN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753251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91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1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503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  <a:sym typeface="Wingdings" panose="05000000000000000000" pitchFamily="2" charset="2"/>
              </a:defRPr>
            </a:lvl1pPr>
            <a:lvl2pPr marL="685800" indent="-263525" defTabSz="87503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  <a:sym typeface="Wingdings" panose="05000000000000000000" pitchFamily="2" charset="2"/>
              </a:defRPr>
            </a:lvl2pPr>
            <a:lvl3pPr marL="1055370" indent="-210820" defTabSz="87503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  <a:sym typeface="Wingdings" panose="05000000000000000000" pitchFamily="2" charset="2"/>
              </a:defRPr>
            </a:lvl3pPr>
            <a:lvl4pPr marL="1477010" indent="-210820" defTabSz="87503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  <a:sym typeface="Wingdings" panose="05000000000000000000" pitchFamily="2" charset="2"/>
              </a:defRPr>
            </a:lvl4pPr>
            <a:lvl5pPr marL="1899285" indent="-210820" defTabSz="87503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  <a:sym typeface="Wingdings" panose="05000000000000000000" pitchFamily="2" charset="2"/>
              </a:defRPr>
            </a:lvl5pPr>
            <a:lvl6pPr marL="2320925" indent="-210820" defTabSz="87503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70000"/>
              <a:buFont typeface="Wingdings" panose="05000000000000000000" pitchFamily="2" charset="2"/>
              <a:buChar char="l"/>
              <a:defRPr b="1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  <a:sym typeface="Wingdings" panose="05000000000000000000" pitchFamily="2" charset="2"/>
              </a:defRPr>
            </a:lvl6pPr>
            <a:lvl7pPr marL="2743200" indent="-210820" defTabSz="87503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70000"/>
              <a:buFont typeface="Wingdings" panose="05000000000000000000" pitchFamily="2" charset="2"/>
              <a:buChar char="l"/>
              <a:defRPr b="1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  <a:sym typeface="Wingdings" panose="05000000000000000000" pitchFamily="2" charset="2"/>
              </a:defRPr>
            </a:lvl7pPr>
            <a:lvl8pPr marL="3165475" indent="-210820" defTabSz="87503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70000"/>
              <a:buFont typeface="Wingdings" panose="05000000000000000000" pitchFamily="2" charset="2"/>
              <a:buChar char="l"/>
              <a:defRPr b="1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  <a:sym typeface="Wingdings" panose="05000000000000000000" pitchFamily="2" charset="2"/>
              </a:defRPr>
            </a:lvl8pPr>
            <a:lvl9pPr marL="3587115" indent="-210820" defTabSz="87503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70000"/>
              <a:buFont typeface="Wingdings" panose="05000000000000000000" pitchFamily="2" charset="2"/>
              <a:buChar char="l"/>
              <a:defRPr b="1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  <a:sym typeface="Wingdings" panose="05000000000000000000" pitchFamily="2" charset="2"/>
              </a:defRPr>
            </a:lvl9pPr>
          </a:lstStyle>
          <a:p>
            <a:pPr eaLnBrk="1" hangingPunct="1"/>
            <a:fld id="{B495CB15-D331-41FC-AD16-5B8F622E5F59}" type="slidenum">
              <a:rPr lang="zh-CN" altLang="en-US" b="0" smtClean="0">
                <a:latin typeface="Times New Roman" panose="02020603050405020304" pitchFamily="18" charset="0"/>
                <a:ea typeface="宋体" panose="02010600030101010101" pitchFamily="2" charset="-122"/>
              </a:rPr>
              <a:t>9</a:t>
            </a:fld>
            <a:endParaRPr lang="en-US" altLang="zh-CN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8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912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282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985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3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399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847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817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203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248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484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600" y="152400"/>
            <a:ext cx="8417984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24417" y="1196976"/>
            <a:ext cx="5384800" cy="4906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212417" y="1196975"/>
            <a:ext cx="5384800" cy="23764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212417" y="3725864"/>
            <a:ext cx="5384800" cy="2378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671280-57CE-450C-8E99-07EF60640D2D}" type="slidenum">
              <a:rPr lang="en-US" altLang="zh-CN"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41968220"/>
      </p:ext>
    </p:extLst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5E9AF5-9E42-4797-8204-53D663AF20F3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264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4.jpeg"/><Relationship Id="rId7" Type="http://schemas.openxmlformats.org/officeDocument/2006/relationships/image" Target="../media/image7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oogle.com.hk/url?sa=i&amp;rct=j&amp;q=&amp;esrc=s&amp;source=images&amp;cd=&amp;ved=2ahUKEwjMvMfUgbbkAhU7zIsBHQwGCWoQjRx6BAgBEAQ&amp;url=https://clipartix.com/fridge-clipart/&amp;psig=AOvVaw25YWxCHLAnvEbDoJxmwMQ5&amp;ust=1567646660910595" TargetMode="External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10.jpeg"/><Relationship Id="rId7" Type="http://schemas.openxmlformats.org/officeDocument/2006/relationships/image" Target="../media/image7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oogle.com.hk/url?sa=i&amp;rct=j&amp;q=&amp;esrc=s&amp;source=images&amp;cd=&amp;ved=2ahUKEwjMvMfUgbbkAhU7zIsBHQwGCWoQjRx6BAgBEAQ&amp;url=https://clipartix.com/fridge-clipart/&amp;psig=AOvVaw25YWxCHLAnvEbDoJxmwMQ5&amp;ust=1567646660910595" TargetMode="External"/><Relationship Id="rId5" Type="http://schemas.openxmlformats.org/officeDocument/2006/relationships/image" Target="../media/image6.jp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7611" y="1423568"/>
            <a:ext cx="10906298" cy="1790700"/>
          </a:xfrm>
        </p:spPr>
        <p:txBody>
          <a:bodyPr>
            <a:noAutofit/>
          </a:bodyPr>
          <a:lstStyle/>
          <a:p>
            <a:r>
              <a:rPr lang="en-US" sz="6600" dirty="0"/>
              <a:t>Research Communication Skills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IoT</a:t>
            </a:r>
            <a:r>
              <a:rPr lang="en-US" dirty="0"/>
              <a:t> Research Background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10456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Intended Learning Outcomes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4000" dirty="0"/>
              <a:t>By the end of this lesson you will be able to:</a:t>
            </a:r>
          </a:p>
          <a:p>
            <a:pPr lvl="1"/>
            <a:r>
              <a:rPr lang="en-GB" sz="3600" dirty="0"/>
              <a:t>describe a background of IoT research </a:t>
            </a:r>
          </a:p>
          <a:p>
            <a:pPr lvl="1"/>
            <a:r>
              <a:rPr lang="en-GB" sz="3600" dirty="0"/>
              <a:t>find research papers about IoT</a:t>
            </a:r>
          </a:p>
          <a:p>
            <a:pPr lvl="1"/>
            <a:r>
              <a:rPr lang="en-GB" sz="3600" dirty="0"/>
              <a:t>find research papers in your own research area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56562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IoT Background</a:t>
            </a:r>
          </a:p>
          <a:p>
            <a:r>
              <a:rPr lang="en-US" sz="3600" dirty="0"/>
              <a:t>IoT Challenges </a:t>
            </a:r>
          </a:p>
          <a:p>
            <a:r>
              <a:rPr lang="en-US" sz="3600" dirty="0"/>
              <a:t>IoT Research Fields</a:t>
            </a:r>
          </a:p>
          <a:p>
            <a:r>
              <a:rPr lang="en-US" sz="3600" dirty="0"/>
              <a:t>IoT Journals and Conferences </a:t>
            </a:r>
          </a:p>
          <a:p>
            <a:endParaRPr lang="en-US" sz="3600" dirty="0"/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579424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65570-A2EC-4C0F-8FA8-D92669510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IoT – Internet of Things?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01F8A-D498-4C4D-A561-4BA9A4FC4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317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066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228600"/>
            <a:ext cx="6313488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4000" dirty="0"/>
              <a:t>Starting from the Internet</a:t>
            </a:r>
            <a:endParaRPr lang="en-US" altLang="zh-TW" sz="4000" dirty="0"/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421474" y="5105401"/>
            <a:ext cx="9024679" cy="1225550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zh-CN" sz="3200" dirty="0"/>
              <a:t>Internet appears everywhere in the world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3200" dirty="0"/>
              <a:t>but it is still a connection between people and people</a:t>
            </a:r>
          </a:p>
        </p:txBody>
      </p:sp>
      <p:pic>
        <p:nvPicPr>
          <p:cNvPr id="9221" name="Picture 5" descr="internet_03120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389" y="1412876"/>
            <a:ext cx="3344655" cy="308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2" name="Picture 6" descr="start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1441451"/>
            <a:ext cx="3620886" cy="308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3" name="AutoShape 7"/>
          <p:cNvSpPr>
            <a:spLocks noChangeArrowheads="1"/>
          </p:cNvSpPr>
          <p:nvPr/>
        </p:nvSpPr>
        <p:spPr bwMode="auto">
          <a:xfrm>
            <a:off x="5119688" y="2825750"/>
            <a:ext cx="976313" cy="485775"/>
          </a:xfrm>
          <a:prstGeom prst="rightArrow">
            <a:avLst>
              <a:gd name="adj1" fmla="val 50000"/>
              <a:gd name="adj2" fmla="val 50245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wrap="none" anchor="ctr"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093130839"/>
      </p:ext>
    </p:extLst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304800"/>
            <a:ext cx="6313488" cy="762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CN" sz="4000" dirty="0"/>
              <a:t>What is </a:t>
            </a:r>
            <a:r>
              <a:rPr lang="en-US" altLang="zh-CN" sz="4000" dirty="0">
                <a:ea typeface="宋体" panose="02010600030101010101" pitchFamily="2" charset="-122"/>
              </a:rPr>
              <a:t>the Internet of Things?</a:t>
            </a:r>
            <a:endParaRPr lang="en-US" altLang="zh-TW" sz="4000" dirty="0"/>
          </a:p>
        </p:txBody>
      </p:sp>
      <p:sp>
        <p:nvSpPr>
          <p:cNvPr id="10245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964276" y="2492375"/>
            <a:ext cx="9759142" cy="936625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80000"/>
              </a:lnSpc>
            </a:pPr>
            <a:r>
              <a:rPr lang="en-US" altLang="zh-CN" sz="4000" dirty="0"/>
              <a:t>Internet connects all people </a:t>
            </a:r>
          </a:p>
          <a:p>
            <a:pPr>
              <a:lnSpc>
                <a:spcPct val="80000"/>
              </a:lnSpc>
            </a:pPr>
            <a:r>
              <a:rPr lang="en-US" altLang="zh-CN" sz="4000" dirty="0">
                <a:solidFill>
                  <a:srgbClr val="FF0000"/>
                </a:solidFill>
              </a:rPr>
              <a:t>Internet of Things connects ….</a:t>
            </a:r>
            <a:endParaRPr lang="en-US" altLang="zh-CN" sz="4000" dirty="0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79D9242A-D614-4178-8C1A-D9FC29FD92E6}"/>
              </a:ext>
            </a:extLst>
          </p:cNvPr>
          <p:cNvSpPr txBox="1">
            <a:spLocks noChangeArrowheads="1"/>
          </p:cNvSpPr>
          <p:nvPr/>
        </p:nvSpPr>
        <p:spPr>
          <a:xfrm>
            <a:off x="7704495" y="2492375"/>
            <a:ext cx="2269369" cy="9366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None/>
            </a:pPr>
            <a:endParaRPr lang="en-US" altLang="zh-CN" sz="4000" dirty="0">
              <a:solidFill>
                <a:srgbClr val="FF0000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4000" dirty="0">
                <a:solidFill>
                  <a:srgbClr val="FF0000"/>
                </a:solidFill>
              </a:rPr>
              <a:t>things</a:t>
            </a:r>
            <a:endParaRPr lang="en-US" altLang="zh-CN" sz="4000" dirty="0"/>
          </a:p>
        </p:txBody>
      </p:sp>
    </p:spTree>
    <p:extLst>
      <p:ext uri="{BB962C8B-B14F-4D97-AF65-F5344CB8AC3E}">
        <p14:creationId xmlns:p14="http://schemas.microsoft.com/office/powerpoint/2010/main" val="152154094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F9380E9-D235-4B60-94D9-862D27B57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IoT connects all things……</a:t>
            </a:r>
            <a:br>
              <a:rPr lang="en-US" altLang="zh-CN" dirty="0"/>
            </a:b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6246E1D-34C4-4C1D-8AB1-48A046B6B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7312"/>
            <a:ext cx="10515600" cy="4351338"/>
          </a:xfrm>
        </p:spPr>
        <p:txBody>
          <a:bodyPr>
            <a:normAutofit/>
          </a:bodyPr>
          <a:lstStyle/>
          <a:p>
            <a:r>
              <a:rPr lang="en-US" sz="4000" dirty="0"/>
              <a:t>What are these “things”?</a:t>
            </a:r>
          </a:p>
        </p:txBody>
      </p:sp>
    </p:spTree>
    <p:extLst>
      <p:ext uri="{BB962C8B-B14F-4D97-AF65-F5344CB8AC3E}">
        <p14:creationId xmlns:p14="http://schemas.microsoft.com/office/powerpoint/2010/main" val="736783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CBE62-D222-4643-AEA1-D18EC8901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it a “thing”?</a:t>
            </a:r>
          </a:p>
        </p:txBody>
      </p:sp>
      <p:pic>
        <p:nvPicPr>
          <p:cNvPr id="5" name="Content Placeholder 4" descr="A picture containing furniture, seat, table&#10;&#10;Description automatically generated">
            <a:extLst>
              <a:ext uri="{FF2B5EF4-FFF2-40B4-BE49-F238E27FC236}">
                <a16:creationId xmlns:a16="http://schemas.microsoft.com/office/drawing/2014/main" id="{E606E246-E84C-4568-8E6A-2ECE8677B7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67" y="3640976"/>
            <a:ext cx="3743876" cy="319269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85F9D7-8DD4-4E3F-8123-4F5DE82A9D9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3267" y="3815542"/>
            <a:ext cx="3779359" cy="28304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116797C-824D-4D14-94F2-1D9005F9222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4682" y="2444811"/>
            <a:ext cx="1629985" cy="196837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0590319-155B-48CF-A1CF-AB957822C2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2013" y="212047"/>
            <a:ext cx="1958060" cy="1631717"/>
          </a:xfrm>
          <a:prstGeom prst="rect">
            <a:avLst/>
          </a:prstGeom>
        </p:spPr>
      </p:pic>
      <p:pic>
        <p:nvPicPr>
          <p:cNvPr id="1026" name="Picture 2" descr="Image result for refrigerator clipart">
            <a:hlinkClick r:id="rId6"/>
            <a:extLst>
              <a:ext uri="{FF2B5EF4-FFF2-40B4-BE49-F238E27FC236}">
                <a16:creationId xmlns:a16="http://schemas.microsoft.com/office/drawing/2014/main" id="{CA2B37C9-4800-42D5-B410-867DA5255C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552" y="1175171"/>
            <a:ext cx="2765169" cy="2465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 descr="A close up of a toy&#10;&#10;Description automatically generated">
            <a:extLst>
              <a:ext uri="{FF2B5EF4-FFF2-40B4-BE49-F238E27FC236}">
                <a16:creationId xmlns:a16="http://schemas.microsoft.com/office/drawing/2014/main" id="{718084AB-665C-4FB9-A389-D28AF3AAA1D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6641" y="2368347"/>
            <a:ext cx="1886972" cy="412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155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304800"/>
            <a:ext cx="6313488" cy="762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CN" sz="4000" dirty="0"/>
              <a:t>What is </a:t>
            </a:r>
            <a:r>
              <a:rPr lang="en-US" altLang="zh-CN" sz="4000" dirty="0">
                <a:ea typeface="宋体" panose="02010600030101010101" pitchFamily="2" charset="-122"/>
              </a:rPr>
              <a:t>the Internet of Things?</a:t>
            </a:r>
            <a:endParaRPr lang="en-US" altLang="zh-TW" sz="4000" dirty="0"/>
          </a:p>
        </p:txBody>
      </p:sp>
      <p:pic>
        <p:nvPicPr>
          <p:cNvPr id="10244" name="Picture 4" descr="2009102808593785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6275" y="1219200"/>
            <a:ext cx="5330008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5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1022465" y="5507189"/>
            <a:ext cx="9759142" cy="936625"/>
          </a:xfrm>
        </p:spPr>
        <p:txBody>
          <a:bodyPr vert="horz" lIns="91440" tIns="45720" rIns="91440" bIns="45720" rtlCol="0">
            <a:normAutofit fontScale="85000" lnSpcReduction="10000"/>
          </a:bodyPr>
          <a:lstStyle/>
          <a:p>
            <a:pPr>
              <a:lnSpc>
                <a:spcPct val="80000"/>
              </a:lnSpc>
            </a:pPr>
            <a:r>
              <a:rPr lang="en-US" altLang="zh-CN" sz="3200" dirty="0"/>
              <a:t>Internet connects all people, so it is called “the Internet of People”</a:t>
            </a:r>
          </a:p>
          <a:p>
            <a:pPr>
              <a:lnSpc>
                <a:spcPct val="80000"/>
              </a:lnSpc>
            </a:pPr>
            <a:r>
              <a:rPr lang="en-US" altLang="zh-CN" sz="3200" dirty="0">
                <a:solidFill>
                  <a:srgbClr val="FF0000"/>
                </a:solidFill>
              </a:rPr>
              <a:t>IoT connects all things</a:t>
            </a:r>
            <a:r>
              <a:rPr lang="en-US" altLang="zh-CN" sz="3200" dirty="0"/>
              <a:t>, so it is called “the Internet of Things”</a:t>
            </a:r>
          </a:p>
        </p:txBody>
      </p:sp>
    </p:spTree>
    <p:extLst>
      <p:ext uri="{BB962C8B-B14F-4D97-AF65-F5344CB8AC3E}">
        <p14:creationId xmlns:p14="http://schemas.microsoft.com/office/powerpoint/2010/main" val="186821774"/>
      </p:ext>
    </p:extLst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IoT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sz="3600" dirty="0"/>
              <a:t>The Internet of Things (IoT) is the </a:t>
            </a:r>
            <a:r>
              <a:rPr lang="en-US" sz="3600" dirty="0">
                <a:solidFill>
                  <a:srgbClr val="FF0000"/>
                </a:solidFill>
              </a:rPr>
              <a:t>network of physical objects</a:t>
            </a:r>
            <a:r>
              <a:rPr lang="en-US" sz="3600" dirty="0"/>
              <a:t>—devices, vehicles, buildings and other items </a:t>
            </a:r>
            <a:r>
              <a:rPr lang="en-US" sz="3600" dirty="0">
                <a:solidFill>
                  <a:srgbClr val="00B050"/>
                </a:solidFill>
              </a:rPr>
              <a:t>embedded with electronics, software, sensors, and network connectivity</a:t>
            </a:r>
            <a:r>
              <a:rPr lang="en-US" sz="3600" dirty="0"/>
              <a:t>—that enables these objects to </a:t>
            </a:r>
            <a:r>
              <a:rPr lang="en-US" sz="3600" dirty="0">
                <a:solidFill>
                  <a:srgbClr val="FF0000"/>
                </a:solidFill>
              </a:rPr>
              <a:t>collect and exchange data.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5948276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55" y="531843"/>
            <a:ext cx="10877145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 dirty="0"/>
              <a:t>The Internet of Things (IoT) is the </a:t>
            </a:r>
            <a:r>
              <a:rPr lang="en-US" sz="3200" dirty="0">
                <a:solidFill>
                  <a:srgbClr val="FF0000"/>
                </a:solidFill>
              </a:rPr>
              <a:t>network of physical objects</a:t>
            </a:r>
            <a:r>
              <a:rPr lang="en-US" sz="3200" dirty="0"/>
              <a:t>—devices, vehicles, buildings and other items </a:t>
            </a:r>
            <a:r>
              <a:rPr lang="en-US" sz="3200" dirty="0">
                <a:solidFill>
                  <a:srgbClr val="00B050"/>
                </a:solidFill>
              </a:rPr>
              <a:t>embedded with electronics, software, sensors, and network connectivity</a:t>
            </a:r>
            <a:r>
              <a:rPr lang="en-US" sz="3200" dirty="0"/>
              <a:t>—that enables these objects to </a:t>
            </a:r>
            <a:r>
              <a:rPr lang="en-US" sz="3200" dirty="0">
                <a:solidFill>
                  <a:srgbClr val="FF0000"/>
                </a:solidFill>
              </a:rPr>
              <a:t>collect and exchange data.</a:t>
            </a:r>
          </a:p>
          <a:p>
            <a:endParaRPr lang="en-US" sz="3200" dirty="0"/>
          </a:p>
        </p:txBody>
      </p:sp>
      <p:pic>
        <p:nvPicPr>
          <p:cNvPr id="4" name="Content Placeholder 4" descr="A picture containing furniture, seat, table&#10;&#10;Description automatically generated">
            <a:extLst>
              <a:ext uri="{FF2B5EF4-FFF2-40B4-BE49-F238E27FC236}">
                <a16:creationId xmlns:a16="http://schemas.microsoft.com/office/drawing/2014/main" id="{FFB68255-3A51-4526-A832-F4F4683BBF9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3836" y="3508189"/>
            <a:ext cx="2838349" cy="24204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6BBE27-5B40-400A-ADE2-57D82BEFDC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2" y="4358685"/>
            <a:ext cx="3106073" cy="23261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274852-5F10-409C-8E36-2AEF0C4A43B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726" y="5367636"/>
            <a:ext cx="947905" cy="11446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09350E-5E40-4CD8-8DC2-449699F9EF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307" y="2840043"/>
            <a:ext cx="1497653" cy="1248044"/>
          </a:xfrm>
          <a:prstGeom prst="rect">
            <a:avLst/>
          </a:prstGeom>
        </p:spPr>
      </p:pic>
      <p:pic>
        <p:nvPicPr>
          <p:cNvPr id="8" name="Picture 2" descr="Image result for refrigerator clipart">
            <a:hlinkClick r:id="rId6"/>
            <a:extLst>
              <a:ext uri="{FF2B5EF4-FFF2-40B4-BE49-F238E27FC236}">
                <a16:creationId xmlns:a16="http://schemas.microsoft.com/office/drawing/2014/main" id="{F2D29515-A7FC-4098-A575-ABFA0EBC1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8515" y="4185916"/>
            <a:ext cx="2765169" cy="2465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A close up of a toy&#10;&#10;Description automatically generated">
            <a:extLst>
              <a:ext uri="{FF2B5EF4-FFF2-40B4-BE49-F238E27FC236}">
                <a16:creationId xmlns:a16="http://schemas.microsoft.com/office/drawing/2014/main" id="{967877C0-495C-4C3F-92A0-F9F01D9EE8C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2546" y="2972460"/>
            <a:ext cx="1401723" cy="306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565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6632</TotalTime>
  <Words>245</Words>
  <Application>Microsoft Office PowerPoint</Application>
  <PresentationFormat>Widescreen</PresentationFormat>
  <Paragraphs>33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等线</vt:lpstr>
      <vt:lpstr>Arial</vt:lpstr>
      <vt:lpstr>Calibri</vt:lpstr>
      <vt:lpstr>Calibri Light</vt:lpstr>
      <vt:lpstr>Times New Roman</vt:lpstr>
      <vt:lpstr>Office Theme</vt:lpstr>
      <vt:lpstr>Research Communication Skills</vt:lpstr>
      <vt:lpstr>Intended Learning Outcomes</vt:lpstr>
      <vt:lpstr>Outline</vt:lpstr>
      <vt:lpstr>What is IoT – Internet of Things?</vt:lpstr>
      <vt:lpstr>Starting from the Internet</vt:lpstr>
      <vt:lpstr>What is the Internet of Things?</vt:lpstr>
      <vt:lpstr>IoT connects all things…… </vt:lpstr>
      <vt:lpstr>Is it a “thing”?</vt:lpstr>
      <vt:lpstr>What is the Internet of Things?</vt:lpstr>
      <vt:lpstr>IoT Definition</vt:lpstr>
      <vt:lpstr>PowerPoint Presentation</vt:lpstr>
    </vt:vector>
  </TitlesOfParts>
  <Company>HKPU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hkpuadmin</dc:creator>
  <cp:lastModifiedBy>Joanna Siebert</cp:lastModifiedBy>
  <cp:revision>269</cp:revision>
  <cp:lastPrinted>2019-09-03T08:34:37Z</cp:lastPrinted>
  <dcterms:created xsi:type="dcterms:W3CDTF">2014-08-14T09:54:55Z</dcterms:created>
  <dcterms:modified xsi:type="dcterms:W3CDTF">2026-09-03T08:08:03Z</dcterms:modified>
</cp:coreProperties>
</file>