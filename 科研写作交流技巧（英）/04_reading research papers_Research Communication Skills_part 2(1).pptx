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handoutMasterIdLst>
    <p:handoutMasterId r:id="rId46"/>
  </p:handoutMasterIdLst>
  <p:sldIdLst>
    <p:sldId id="703" r:id="rId2"/>
    <p:sldId id="540" r:id="rId3"/>
    <p:sldId id="541" r:id="rId4"/>
    <p:sldId id="542" r:id="rId5"/>
    <p:sldId id="543" r:id="rId6"/>
    <p:sldId id="544" r:id="rId7"/>
    <p:sldId id="545" r:id="rId8"/>
    <p:sldId id="546" r:id="rId9"/>
    <p:sldId id="547" r:id="rId10"/>
    <p:sldId id="548" r:id="rId11"/>
    <p:sldId id="549" r:id="rId12"/>
    <p:sldId id="550" r:id="rId13"/>
    <p:sldId id="679" r:id="rId14"/>
    <p:sldId id="686" r:id="rId15"/>
    <p:sldId id="678" r:id="rId16"/>
    <p:sldId id="687" r:id="rId17"/>
    <p:sldId id="551" r:id="rId18"/>
    <p:sldId id="700" r:id="rId19"/>
    <p:sldId id="552" r:id="rId20"/>
    <p:sldId id="553" r:id="rId21"/>
    <p:sldId id="554" r:id="rId22"/>
    <p:sldId id="555" r:id="rId23"/>
    <p:sldId id="556" r:id="rId24"/>
    <p:sldId id="677" r:id="rId25"/>
    <p:sldId id="558" r:id="rId26"/>
    <p:sldId id="557" r:id="rId27"/>
    <p:sldId id="688" r:id="rId28"/>
    <p:sldId id="559" r:id="rId29"/>
    <p:sldId id="560" r:id="rId30"/>
    <p:sldId id="561" r:id="rId31"/>
    <p:sldId id="562" r:id="rId32"/>
    <p:sldId id="563" r:id="rId33"/>
    <p:sldId id="564" r:id="rId34"/>
    <p:sldId id="565" r:id="rId35"/>
    <p:sldId id="566" r:id="rId36"/>
    <p:sldId id="567" r:id="rId37"/>
    <p:sldId id="568" r:id="rId38"/>
    <p:sldId id="569" r:id="rId39"/>
    <p:sldId id="570" r:id="rId40"/>
    <p:sldId id="571" r:id="rId41"/>
    <p:sldId id="572" r:id="rId42"/>
    <p:sldId id="573" r:id="rId43"/>
    <p:sldId id="574" r:id="rId44"/>
  </p:sldIdLst>
  <p:sldSz cx="12192000" cy="6858000"/>
  <p:notesSz cx="6797675"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4" autoAdjust="0"/>
    <p:restoredTop sz="94660"/>
  </p:normalViewPr>
  <p:slideViewPr>
    <p:cSldViewPr snapToGrid="0">
      <p:cViewPr varScale="1">
        <p:scale>
          <a:sx n="115" d="100"/>
          <a:sy n="115" d="100"/>
        </p:scale>
        <p:origin x="150" y="6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215"/>
          </a:xfrm>
          <a:prstGeom prst="rect">
            <a:avLst/>
          </a:prstGeom>
        </p:spPr>
        <p:txBody>
          <a:bodyPr vert="horz" lIns="91440" tIns="45720" rIns="91440" bIns="45720" rtlCol="0"/>
          <a:lstStyle>
            <a:lvl1pPr algn="l">
              <a:defRPr sz="1200"/>
            </a:lvl1pPr>
          </a:lstStyle>
          <a:p>
            <a:endParaRPr lang="en-GB"/>
          </a:p>
        </p:txBody>
      </p:sp>
      <p:sp>
        <p:nvSpPr>
          <p:cNvPr id="3" name="日期占位符 2"/>
          <p:cNvSpPr>
            <a:spLocks noGrp="1"/>
          </p:cNvSpPr>
          <p:nvPr>
            <p:ph type="dt" sz="quarter" idx="1"/>
          </p:nvPr>
        </p:nvSpPr>
        <p:spPr>
          <a:xfrm>
            <a:off x="3850443" y="0"/>
            <a:ext cx="2945659" cy="498215"/>
          </a:xfrm>
          <a:prstGeom prst="rect">
            <a:avLst/>
          </a:prstGeom>
        </p:spPr>
        <p:txBody>
          <a:bodyPr vert="horz" lIns="91440" tIns="45720" rIns="91440" bIns="45720" rtlCol="0"/>
          <a:lstStyle>
            <a:lvl1pPr algn="r">
              <a:defRPr sz="1200"/>
            </a:lvl1pPr>
          </a:lstStyle>
          <a:p>
            <a:fld id="{A6B79868-BDA9-4441-B20B-68D0617E5C8E}" type="datetimeFigureOut">
              <a:rPr lang="en-GB" smtClean="0"/>
              <a:t>10/09/2026</a:t>
            </a:fld>
            <a:endParaRPr lang="en-GB"/>
          </a:p>
        </p:txBody>
      </p:sp>
      <p:sp>
        <p:nvSpPr>
          <p:cNvPr id="4" name="页脚占位符 3"/>
          <p:cNvSpPr>
            <a:spLocks noGrp="1"/>
          </p:cNvSpPr>
          <p:nvPr>
            <p:ph type="ftr" sz="quarter" idx="2"/>
          </p:nvPr>
        </p:nvSpPr>
        <p:spPr>
          <a:xfrm>
            <a:off x="0" y="9431600"/>
            <a:ext cx="2945659" cy="498214"/>
          </a:xfrm>
          <a:prstGeom prst="rect">
            <a:avLst/>
          </a:prstGeom>
        </p:spPr>
        <p:txBody>
          <a:bodyPr vert="horz" lIns="91440" tIns="45720" rIns="91440" bIns="45720" rtlCol="0" anchor="b"/>
          <a:lstStyle>
            <a:lvl1pPr algn="l">
              <a:defRPr sz="1200"/>
            </a:lvl1pPr>
          </a:lstStyle>
          <a:p>
            <a:endParaRPr lang="en-GB"/>
          </a:p>
        </p:txBody>
      </p:sp>
      <p:sp>
        <p:nvSpPr>
          <p:cNvPr id="5" name="灯片编号占位符 4"/>
          <p:cNvSpPr>
            <a:spLocks noGrp="1"/>
          </p:cNvSpPr>
          <p:nvPr>
            <p:ph type="sldNum" sz="quarter" idx="3"/>
          </p:nvPr>
        </p:nvSpPr>
        <p:spPr>
          <a:xfrm>
            <a:off x="3850443" y="9431600"/>
            <a:ext cx="2945659" cy="498214"/>
          </a:xfrm>
          <a:prstGeom prst="rect">
            <a:avLst/>
          </a:prstGeom>
        </p:spPr>
        <p:txBody>
          <a:bodyPr vert="horz" lIns="91440" tIns="45720" rIns="91440" bIns="45720" rtlCol="0" anchor="b"/>
          <a:lstStyle>
            <a:lvl1pPr algn="r">
              <a:defRPr sz="1200"/>
            </a:lvl1pPr>
          </a:lstStyle>
          <a:p>
            <a:fld id="{BB1CA833-6E71-4E0E-A695-7044B802CCB2}" type="slidenum">
              <a:rPr lang="en-GB" smtClean="0"/>
              <a:t>‹#›</a:t>
            </a:fld>
            <a:endParaRPr lang="en-GB"/>
          </a:p>
        </p:txBody>
      </p:sp>
    </p:spTree>
    <p:extLst>
      <p:ext uri="{BB962C8B-B14F-4D97-AF65-F5344CB8AC3E}">
        <p14:creationId xmlns:p14="http://schemas.microsoft.com/office/powerpoint/2010/main" val="20193987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21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215"/>
          </a:xfrm>
          <a:prstGeom prst="rect">
            <a:avLst/>
          </a:prstGeom>
        </p:spPr>
        <p:txBody>
          <a:bodyPr vert="horz" lIns="91440" tIns="45720" rIns="91440" bIns="45720" rtlCol="0"/>
          <a:lstStyle>
            <a:lvl1pPr algn="r">
              <a:defRPr sz="1200"/>
            </a:lvl1pPr>
          </a:lstStyle>
          <a:p>
            <a:fld id="{EF166FD4-870D-41D4-A76E-DC48774E844B}" type="datetimeFigureOut">
              <a:rPr lang="zh-CN" altLang="en-US" smtClean="0"/>
              <a:t>2026/9/10</a:t>
            </a:fld>
            <a:endParaRPr lang="zh-CN" altLang="en-US"/>
          </a:p>
        </p:txBody>
      </p:sp>
      <p:sp>
        <p:nvSpPr>
          <p:cNvPr id="4" name="幻灯片图像占位符 3"/>
          <p:cNvSpPr>
            <a:spLocks noGrp="1" noRot="1" noChangeAspect="1"/>
          </p:cNvSpPr>
          <p:nvPr>
            <p:ph type="sldImg" idx="2"/>
          </p:nvPr>
        </p:nvSpPr>
        <p:spPr>
          <a:xfrm>
            <a:off x="420688" y="1241425"/>
            <a:ext cx="5956300" cy="3351213"/>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8722"/>
            <a:ext cx="5438140" cy="3909864"/>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9431600"/>
            <a:ext cx="2945659" cy="49821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1600"/>
            <a:ext cx="2945659" cy="498214"/>
          </a:xfrm>
          <a:prstGeom prst="rect">
            <a:avLst/>
          </a:prstGeom>
        </p:spPr>
        <p:txBody>
          <a:bodyPr vert="horz" lIns="91440" tIns="45720" rIns="91440" bIns="45720" rtlCol="0" anchor="b"/>
          <a:lstStyle>
            <a:lvl1pPr algn="r">
              <a:defRPr sz="1200"/>
            </a:lvl1pPr>
          </a:lstStyle>
          <a:p>
            <a:fld id="{7B3B433F-8F9F-4754-B27A-D9BD2E9FA402}" type="slidenum">
              <a:rPr lang="zh-CN" altLang="en-US" smtClean="0"/>
              <a:t>‹#›</a:t>
            </a:fld>
            <a:endParaRPr lang="zh-CN" altLang="en-US"/>
          </a:p>
        </p:txBody>
      </p:sp>
    </p:spTree>
    <p:extLst>
      <p:ext uri="{BB962C8B-B14F-4D97-AF65-F5344CB8AC3E}">
        <p14:creationId xmlns:p14="http://schemas.microsoft.com/office/powerpoint/2010/main" val="2061200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95E9AF5-9E42-4797-8204-53D663AF20F3}"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88898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5E9AF5-9E42-4797-8204-53D663AF20F3}"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254291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5E9AF5-9E42-4797-8204-53D663AF20F3}"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3220282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95E9AF5-9E42-4797-8204-53D663AF20F3}"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540985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95E9AF5-9E42-4797-8204-53D663AF20F3}" type="datetimeFigureOut">
              <a:rPr lang="en-US" smtClean="0"/>
              <a:pPr/>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6953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5E9AF5-9E42-4797-8204-53D663AF20F3}" type="datetimeFigureOut">
              <a:rPr lang="en-US" smtClean="0"/>
              <a:pPr/>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303399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5E9AF5-9E42-4797-8204-53D663AF20F3}" type="datetimeFigureOut">
              <a:rPr lang="en-US" smtClean="0"/>
              <a:pPr/>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353847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5E9AF5-9E42-4797-8204-53D663AF20F3}"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6698177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5E9AF5-9E42-4797-8204-53D663AF20F3}" type="datetimeFigureOut">
              <a:rPr lang="en-US" smtClean="0"/>
              <a:pPr/>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792203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5E9AF5-9E42-4797-8204-53D663AF20F3}"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898248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5E9AF5-9E42-4797-8204-53D663AF20F3}" type="datetimeFigureOut">
              <a:rPr lang="en-US" smtClean="0"/>
              <a:pPr/>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F05C8B-718F-4869-805E-863C3A552F10}" type="slidenum">
              <a:rPr lang="en-US" smtClean="0"/>
              <a:pPr/>
              <a:t>‹#›</a:t>
            </a:fld>
            <a:endParaRPr lang="en-US"/>
          </a:p>
        </p:txBody>
      </p:sp>
    </p:spTree>
    <p:extLst>
      <p:ext uri="{BB962C8B-B14F-4D97-AF65-F5344CB8AC3E}">
        <p14:creationId xmlns:p14="http://schemas.microsoft.com/office/powerpoint/2010/main" val="1526484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5E9AF5-9E42-4797-8204-53D663AF20F3}" type="datetimeFigureOut">
              <a:rPr lang="en-US" smtClean="0"/>
              <a:pPr/>
              <a:t>9/10/2026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F05C8B-718F-4869-805E-863C3A552F10}" type="slidenum">
              <a:rPr lang="en-US" smtClean="0"/>
              <a:pPr/>
              <a:t>‹#›</a:t>
            </a:fld>
            <a:endParaRPr lang="en-US"/>
          </a:p>
        </p:txBody>
      </p:sp>
    </p:spTree>
    <p:extLst>
      <p:ext uri="{BB962C8B-B14F-4D97-AF65-F5344CB8AC3E}">
        <p14:creationId xmlns:p14="http://schemas.microsoft.com/office/powerpoint/2010/main" val="5232646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ccr.sigcomm.org/online/files/p83-keshavA.pdf"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ncbi.nlm.nih.gov/pmc/articles/PMC3687192/" TargetMode="External"/><Relationship Id="rId2" Type="http://schemas.openxmlformats.org/officeDocument/2006/relationships/hyperlink" Target="https://www.sciencemag.org/careers/2016/03/how-seriously-read-scientific-paper"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6000"/>
              <a:t>Research Communication Skills</a:t>
            </a:r>
            <a:endParaRPr lang="en-US" dirty="0"/>
          </a:p>
        </p:txBody>
      </p:sp>
      <p:sp>
        <p:nvSpPr>
          <p:cNvPr id="3" name="Subtitle 2"/>
          <p:cNvSpPr>
            <a:spLocks noGrp="1"/>
          </p:cNvSpPr>
          <p:nvPr>
            <p:ph type="subTitle" idx="1"/>
          </p:nvPr>
        </p:nvSpPr>
        <p:spPr/>
        <p:txBody>
          <a:bodyPr/>
          <a:lstStyle/>
          <a:p>
            <a:r>
              <a:rPr lang="en-US" sz="3600" dirty="0"/>
              <a:t>Reading Research Papers</a:t>
            </a:r>
          </a:p>
        </p:txBody>
      </p:sp>
    </p:spTree>
    <p:extLst>
      <p:ext uri="{BB962C8B-B14F-4D97-AF65-F5344CB8AC3E}">
        <p14:creationId xmlns:p14="http://schemas.microsoft.com/office/powerpoint/2010/main" val="24089579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357E194-F18D-448F-8E11-3BC3F3019FE9}"/>
              </a:ext>
            </a:extLst>
          </p:cNvPr>
          <p:cNvSpPr>
            <a:spLocks noGrp="1"/>
          </p:cNvSpPr>
          <p:nvPr>
            <p:ph type="title"/>
          </p:nvPr>
        </p:nvSpPr>
        <p:spPr/>
        <p:txBody>
          <a:bodyPr/>
          <a:lstStyle/>
          <a:p>
            <a:r>
              <a:rPr lang="en-US" dirty="0"/>
              <a:t>How to read papers?</a:t>
            </a:r>
          </a:p>
        </p:txBody>
      </p:sp>
      <p:sp>
        <p:nvSpPr>
          <p:cNvPr id="6" name="Content Placeholder 5">
            <a:extLst>
              <a:ext uri="{FF2B5EF4-FFF2-40B4-BE49-F238E27FC236}">
                <a16:creationId xmlns:a16="http://schemas.microsoft.com/office/drawing/2014/main" id="{F4C0723C-3294-45AB-85C9-185454930C98}"/>
              </a:ext>
            </a:extLst>
          </p:cNvPr>
          <p:cNvSpPr>
            <a:spLocks noGrp="1"/>
          </p:cNvSpPr>
          <p:nvPr>
            <p:ph idx="1"/>
          </p:nvPr>
        </p:nvSpPr>
        <p:spPr/>
        <p:txBody>
          <a:bodyPr>
            <a:normAutofit/>
          </a:bodyPr>
          <a:lstStyle/>
          <a:p>
            <a:r>
              <a:rPr lang="en-US" sz="4000" dirty="0"/>
              <a:t>Do we read all the papers that we find?</a:t>
            </a:r>
          </a:p>
          <a:p>
            <a:r>
              <a:rPr lang="en-US" sz="4000" dirty="0"/>
              <a:t>Do we read all the sections for all the papers that we collect?</a:t>
            </a:r>
          </a:p>
          <a:p>
            <a:r>
              <a:rPr lang="en-US" sz="4000" dirty="0"/>
              <a:t>Do we read the sections of the paper in the same order that they are printed?</a:t>
            </a:r>
          </a:p>
        </p:txBody>
      </p:sp>
    </p:spTree>
    <p:extLst>
      <p:ext uri="{BB962C8B-B14F-4D97-AF65-F5344CB8AC3E}">
        <p14:creationId xmlns:p14="http://schemas.microsoft.com/office/powerpoint/2010/main" val="1402409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16840-0EE2-467B-A449-55C847F94924}"/>
              </a:ext>
            </a:extLst>
          </p:cNvPr>
          <p:cNvSpPr>
            <a:spLocks noGrp="1"/>
          </p:cNvSpPr>
          <p:nvPr>
            <p:ph type="title"/>
          </p:nvPr>
        </p:nvSpPr>
        <p:spPr/>
        <p:txBody>
          <a:bodyPr/>
          <a:lstStyle/>
          <a:p>
            <a:r>
              <a:rPr lang="en-US" dirty="0"/>
              <a:t>How to read papers?</a:t>
            </a:r>
          </a:p>
        </p:txBody>
      </p:sp>
      <p:sp>
        <p:nvSpPr>
          <p:cNvPr id="3" name="Content Placeholder 2">
            <a:extLst>
              <a:ext uri="{FF2B5EF4-FFF2-40B4-BE49-F238E27FC236}">
                <a16:creationId xmlns:a16="http://schemas.microsoft.com/office/drawing/2014/main" id="{604FAECF-48B7-4401-84A7-2755BFEA3E59}"/>
              </a:ext>
            </a:extLst>
          </p:cNvPr>
          <p:cNvSpPr>
            <a:spLocks noGrp="1"/>
          </p:cNvSpPr>
          <p:nvPr>
            <p:ph idx="1"/>
          </p:nvPr>
        </p:nvSpPr>
        <p:spPr/>
        <p:txBody>
          <a:bodyPr>
            <a:normAutofit/>
          </a:bodyPr>
          <a:lstStyle/>
          <a:p>
            <a:r>
              <a:rPr lang="en-US" sz="4800" dirty="0"/>
              <a:t>Pick a strategy that works for you</a:t>
            </a:r>
          </a:p>
          <a:p>
            <a:pPr lvl="1"/>
            <a:r>
              <a:rPr lang="en-US" sz="4400" dirty="0"/>
              <a:t>Based on your experience</a:t>
            </a:r>
          </a:p>
          <a:p>
            <a:pPr lvl="1"/>
            <a:r>
              <a:rPr lang="en-US" sz="4400" dirty="0"/>
              <a:t>Depending on the purpose of paper reading (what questions do you want to answer when reading the paper?)</a:t>
            </a:r>
          </a:p>
        </p:txBody>
      </p:sp>
    </p:spTree>
    <p:extLst>
      <p:ext uri="{BB962C8B-B14F-4D97-AF65-F5344CB8AC3E}">
        <p14:creationId xmlns:p14="http://schemas.microsoft.com/office/powerpoint/2010/main" val="3266225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896C2-5DD7-4A88-8924-79444FDF2D3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60E8440-A0F8-44FA-A3DE-FA496E0C3B49}"/>
              </a:ext>
            </a:extLst>
          </p:cNvPr>
          <p:cNvSpPr>
            <a:spLocks noGrp="1"/>
          </p:cNvSpPr>
          <p:nvPr>
            <p:ph idx="1"/>
          </p:nvPr>
        </p:nvSpPr>
        <p:spPr/>
        <p:txBody>
          <a:bodyPr>
            <a:normAutofit/>
          </a:bodyPr>
          <a:lstStyle/>
          <a:p>
            <a:r>
              <a:rPr lang="en-US" sz="4400" dirty="0"/>
              <a:t>Do we read all the papers that we find?</a:t>
            </a:r>
          </a:p>
          <a:p>
            <a:endParaRPr lang="en-US" sz="4400" dirty="0"/>
          </a:p>
        </p:txBody>
      </p:sp>
    </p:spTree>
    <p:extLst>
      <p:ext uri="{BB962C8B-B14F-4D97-AF65-F5344CB8AC3E}">
        <p14:creationId xmlns:p14="http://schemas.microsoft.com/office/powerpoint/2010/main" val="125889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DC80F-6CDF-4604-ABA0-20B5892D7CA3}"/>
              </a:ext>
            </a:extLst>
          </p:cNvPr>
          <p:cNvSpPr>
            <a:spLocks noGrp="1"/>
          </p:cNvSpPr>
          <p:nvPr>
            <p:ph type="title"/>
          </p:nvPr>
        </p:nvSpPr>
        <p:spPr/>
        <p:txBody>
          <a:bodyPr/>
          <a:lstStyle/>
          <a:p>
            <a:r>
              <a:rPr lang="en-US" dirty="0"/>
              <a:t>How many papers are there?</a:t>
            </a:r>
          </a:p>
        </p:txBody>
      </p:sp>
      <p:sp>
        <p:nvSpPr>
          <p:cNvPr id="3" name="Content Placeholder 2">
            <a:extLst>
              <a:ext uri="{FF2B5EF4-FFF2-40B4-BE49-F238E27FC236}">
                <a16:creationId xmlns:a16="http://schemas.microsoft.com/office/drawing/2014/main" id="{74C96914-F9F6-40B2-807A-7B9FEDE40110}"/>
              </a:ext>
            </a:extLst>
          </p:cNvPr>
          <p:cNvSpPr>
            <a:spLocks noGrp="1"/>
          </p:cNvSpPr>
          <p:nvPr>
            <p:ph idx="1"/>
          </p:nvPr>
        </p:nvSpPr>
        <p:spPr/>
        <p:txBody>
          <a:bodyPr>
            <a:normAutofit lnSpcReduction="10000"/>
          </a:bodyPr>
          <a:lstStyle/>
          <a:p>
            <a:r>
              <a:rPr lang="en-GB" dirty="0"/>
              <a:t>Networking Conferences example (from:  N.  </a:t>
            </a:r>
            <a:r>
              <a:rPr lang="en-GB" dirty="0" err="1"/>
              <a:t>Feamster</a:t>
            </a:r>
            <a:r>
              <a:rPr lang="en-GB" dirty="0"/>
              <a:t>, A. </a:t>
            </a:r>
            <a:r>
              <a:rPr lang="en-GB" dirty="0" err="1"/>
              <a:t>Gray</a:t>
            </a:r>
            <a:r>
              <a:rPr lang="en-GB" dirty="0"/>
              <a:t>, “Reading and Reviewing Papers”): </a:t>
            </a:r>
          </a:p>
          <a:p>
            <a:pPr lvl="1"/>
            <a:r>
              <a:rPr lang="en-GB" dirty="0"/>
              <a:t>– SIGCOMM: ~ 40 papers </a:t>
            </a:r>
          </a:p>
          <a:p>
            <a:pPr lvl="1"/>
            <a:r>
              <a:rPr lang="en-GB" dirty="0"/>
              <a:t>– SIGMETRICS: ~ 20 papers </a:t>
            </a:r>
          </a:p>
          <a:p>
            <a:pPr lvl="1"/>
            <a:r>
              <a:rPr lang="en-GB" dirty="0"/>
              <a:t>– IMC: ~ 40 papers </a:t>
            </a:r>
          </a:p>
          <a:p>
            <a:pPr lvl="1"/>
            <a:r>
              <a:rPr lang="en-GB" dirty="0"/>
              <a:t>– </a:t>
            </a:r>
            <a:r>
              <a:rPr lang="en-GB" dirty="0" err="1"/>
              <a:t>CoNext</a:t>
            </a:r>
            <a:r>
              <a:rPr lang="en-GB" dirty="0"/>
              <a:t>: ~ 30 papers </a:t>
            </a:r>
          </a:p>
          <a:p>
            <a:pPr lvl="1"/>
            <a:r>
              <a:rPr lang="en-GB" dirty="0"/>
              <a:t>– ICNP: ~ 30 papers </a:t>
            </a:r>
          </a:p>
          <a:p>
            <a:pPr lvl="1"/>
            <a:r>
              <a:rPr lang="en-GB" dirty="0"/>
              <a:t>– Infocom: ~ 100 papers – Journals, workshops, … </a:t>
            </a:r>
          </a:p>
          <a:p>
            <a:r>
              <a:rPr lang="en-GB" dirty="0"/>
              <a:t>Per year: More than 2,000 pages to read </a:t>
            </a:r>
          </a:p>
          <a:p>
            <a:r>
              <a:rPr lang="en-GB" dirty="0"/>
              <a:t>Impossible to read it all… – doesn’t even count cross-disciplinary reading</a:t>
            </a:r>
          </a:p>
        </p:txBody>
      </p:sp>
    </p:spTree>
    <p:extLst>
      <p:ext uri="{BB962C8B-B14F-4D97-AF65-F5344CB8AC3E}">
        <p14:creationId xmlns:p14="http://schemas.microsoft.com/office/powerpoint/2010/main" val="1997965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0E48C-1111-4C61-BFCB-A26097A2721A}"/>
              </a:ext>
            </a:extLst>
          </p:cNvPr>
          <p:cNvSpPr>
            <a:spLocks noGrp="1"/>
          </p:cNvSpPr>
          <p:nvPr>
            <p:ph type="title"/>
          </p:nvPr>
        </p:nvSpPr>
        <p:spPr/>
        <p:txBody>
          <a:bodyPr/>
          <a:lstStyle/>
          <a:p>
            <a:r>
              <a:rPr lang="en-US" dirty="0"/>
              <a:t>Types of research papers</a:t>
            </a:r>
          </a:p>
        </p:txBody>
      </p:sp>
      <p:sp>
        <p:nvSpPr>
          <p:cNvPr id="3" name="Content Placeholder 2">
            <a:extLst>
              <a:ext uri="{FF2B5EF4-FFF2-40B4-BE49-F238E27FC236}">
                <a16:creationId xmlns:a16="http://schemas.microsoft.com/office/drawing/2014/main" id="{1B7F745D-E161-41E8-8304-2992E3D142AA}"/>
              </a:ext>
            </a:extLst>
          </p:cNvPr>
          <p:cNvSpPr>
            <a:spLocks noGrp="1"/>
          </p:cNvSpPr>
          <p:nvPr>
            <p:ph idx="1"/>
          </p:nvPr>
        </p:nvSpPr>
        <p:spPr/>
        <p:txBody>
          <a:bodyPr>
            <a:normAutofit lnSpcReduction="10000"/>
          </a:bodyPr>
          <a:lstStyle/>
          <a:p>
            <a:r>
              <a:rPr lang="en-GB" dirty="0"/>
              <a:t>Conference papers </a:t>
            </a:r>
          </a:p>
          <a:p>
            <a:pPr lvl="1"/>
            <a:r>
              <a:rPr lang="en-GB" dirty="0"/>
              <a:t>Most recent, hot off the press information </a:t>
            </a:r>
          </a:p>
          <a:p>
            <a:r>
              <a:rPr lang="en-GB" dirty="0"/>
              <a:t>Technical reports </a:t>
            </a:r>
          </a:p>
          <a:p>
            <a:pPr lvl="1"/>
            <a:r>
              <a:rPr lang="en-GB" dirty="0"/>
              <a:t>Expand on the information in a conf. paper </a:t>
            </a:r>
          </a:p>
          <a:p>
            <a:r>
              <a:rPr lang="en-GB" dirty="0"/>
              <a:t>Workshop papers </a:t>
            </a:r>
          </a:p>
          <a:p>
            <a:pPr lvl="1"/>
            <a:r>
              <a:rPr lang="en-GB" dirty="0"/>
              <a:t>Very hot/new topics, work in progress, preliminary results and ideas</a:t>
            </a:r>
          </a:p>
          <a:p>
            <a:r>
              <a:rPr lang="en-GB" dirty="0"/>
              <a:t>Journal papers (a.k.a. articles) </a:t>
            </a:r>
          </a:p>
          <a:p>
            <a:pPr lvl="1"/>
            <a:r>
              <a:rPr lang="en-GB" dirty="0"/>
              <a:t>Expand and combine results from several conference papers </a:t>
            </a:r>
          </a:p>
          <a:p>
            <a:r>
              <a:rPr lang="en-GB" dirty="0"/>
              <a:t>Book chapters </a:t>
            </a:r>
          </a:p>
          <a:p>
            <a:pPr lvl="1"/>
            <a:r>
              <a:rPr lang="en-GB" dirty="0"/>
              <a:t>Expand a conference or journal paper </a:t>
            </a:r>
          </a:p>
        </p:txBody>
      </p:sp>
    </p:spTree>
    <p:extLst>
      <p:ext uri="{BB962C8B-B14F-4D97-AF65-F5344CB8AC3E}">
        <p14:creationId xmlns:p14="http://schemas.microsoft.com/office/powerpoint/2010/main" val="407357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FFE5F-E8D5-48D7-935C-372FB8143A13}"/>
              </a:ext>
            </a:extLst>
          </p:cNvPr>
          <p:cNvSpPr>
            <a:spLocks noGrp="1"/>
          </p:cNvSpPr>
          <p:nvPr>
            <p:ph type="title"/>
          </p:nvPr>
        </p:nvSpPr>
        <p:spPr/>
        <p:txBody>
          <a:bodyPr/>
          <a:lstStyle/>
          <a:p>
            <a:r>
              <a:rPr lang="en-US" dirty="0"/>
              <a:t>Types of papers</a:t>
            </a:r>
          </a:p>
        </p:txBody>
      </p:sp>
      <p:sp>
        <p:nvSpPr>
          <p:cNvPr id="3" name="Content Placeholder 2">
            <a:extLst>
              <a:ext uri="{FF2B5EF4-FFF2-40B4-BE49-F238E27FC236}">
                <a16:creationId xmlns:a16="http://schemas.microsoft.com/office/drawing/2014/main" id="{BF6C5CE8-F33F-4B0B-A0D7-BF495C86E54D}"/>
              </a:ext>
            </a:extLst>
          </p:cNvPr>
          <p:cNvSpPr>
            <a:spLocks noGrp="1"/>
          </p:cNvSpPr>
          <p:nvPr>
            <p:ph idx="1"/>
          </p:nvPr>
        </p:nvSpPr>
        <p:spPr/>
        <p:txBody>
          <a:bodyPr/>
          <a:lstStyle/>
          <a:p>
            <a:r>
              <a:rPr lang="en-GB" dirty="0"/>
              <a:t>Theoretical </a:t>
            </a:r>
          </a:p>
          <a:p>
            <a:pPr lvl="1"/>
            <a:r>
              <a:rPr lang="en-GB" dirty="0"/>
              <a:t>Describe / prove a theory / algorithm </a:t>
            </a:r>
          </a:p>
          <a:p>
            <a:r>
              <a:rPr lang="en-GB" dirty="0"/>
              <a:t>Engineering </a:t>
            </a:r>
          </a:p>
          <a:p>
            <a:pPr lvl="1"/>
            <a:r>
              <a:rPr lang="en-GB" dirty="0"/>
              <a:t>Describe an implementation of an algorithm, or part or all of a computer system or application </a:t>
            </a:r>
          </a:p>
          <a:p>
            <a:r>
              <a:rPr lang="en-GB" dirty="0"/>
              <a:t>Empirical </a:t>
            </a:r>
          </a:p>
          <a:p>
            <a:pPr lvl="1"/>
            <a:r>
              <a:rPr lang="en-GB" dirty="0"/>
              <a:t>Describe an experiment designed to test some hypothesis </a:t>
            </a:r>
          </a:p>
          <a:p>
            <a:r>
              <a:rPr lang="en-GB" dirty="0"/>
              <a:t>Survey </a:t>
            </a:r>
          </a:p>
          <a:p>
            <a:pPr lvl="1"/>
            <a:r>
              <a:rPr lang="en-GB" dirty="0"/>
              <a:t>Review recent results in a field of research </a:t>
            </a:r>
            <a:endParaRPr lang="en-US" dirty="0"/>
          </a:p>
        </p:txBody>
      </p:sp>
    </p:spTree>
    <p:extLst>
      <p:ext uri="{BB962C8B-B14F-4D97-AF65-F5344CB8AC3E}">
        <p14:creationId xmlns:p14="http://schemas.microsoft.com/office/powerpoint/2010/main" val="3054846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C1C71-2C94-44F8-B82A-3662973E31BB}"/>
              </a:ext>
            </a:extLst>
          </p:cNvPr>
          <p:cNvSpPr>
            <a:spLocks noGrp="1"/>
          </p:cNvSpPr>
          <p:nvPr>
            <p:ph type="title"/>
          </p:nvPr>
        </p:nvSpPr>
        <p:spPr/>
        <p:txBody>
          <a:bodyPr/>
          <a:lstStyle/>
          <a:p>
            <a:r>
              <a:rPr lang="en-GB" dirty="0"/>
              <a:t>Deciding what to read</a:t>
            </a:r>
            <a:endParaRPr lang="en-US" dirty="0"/>
          </a:p>
        </p:txBody>
      </p:sp>
      <p:sp>
        <p:nvSpPr>
          <p:cNvPr id="3" name="Content Placeholder 2">
            <a:extLst>
              <a:ext uri="{FF2B5EF4-FFF2-40B4-BE49-F238E27FC236}">
                <a16:creationId xmlns:a16="http://schemas.microsoft.com/office/drawing/2014/main" id="{45A2354D-3673-4104-9791-7CB441C50913}"/>
              </a:ext>
            </a:extLst>
          </p:cNvPr>
          <p:cNvSpPr>
            <a:spLocks noGrp="1"/>
          </p:cNvSpPr>
          <p:nvPr>
            <p:ph idx="1"/>
          </p:nvPr>
        </p:nvSpPr>
        <p:spPr/>
        <p:txBody>
          <a:bodyPr>
            <a:noAutofit/>
          </a:bodyPr>
          <a:lstStyle/>
          <a:p>
            <a:r>
              <a:rPr lang="en-GB" sz="3600" dirty="0"/>
              <a:t>Depending on the purpose of reading</a:t>
            </a:r>
          </a:p>
          <a:p>
            <a:pPr lvl="1"/>
            <a:r>
              <a:rPr lang="en-GB" sz="3200" dirty="0"/>
              <a:t>Purpose: Learn about “hot topics” of current research in an area. (searching for problems, etc.) </a:t>
            </a:r>
          </a:p>
          <a:p>
            <a:pPr lvl="2">
              <a:buFont typeface="Wingdings" panose="05000000000000000000" pitchFamily="2" charset="2"/>
              <a:buChar char="Ø"/>
            </a:pPr>
            <a:r>
              <a:rPr lang="en-GB" sz="2800" dirty="0"/>
              <a:t>Scan papers in latest conference proceedings</a:t>
            </a:r>
          </a:p>
          <a:p>
            <a:pPr lvl="1"/>
            <a:r>
              <a:rPr lang="en-GB" sz="3200" dirty="0">
                <a:solidFill>
                  <a:schemeClr val="bg1"/>
                </a:solidFill>
              </a:rPr>
              <a:t>Purpose: Get up to speed on sub-field </a:t>
            </a:r>
          </a:p>
          <a:p>
            <a:pPr lvl="2"/>
            <a:r>
              <a:rPr lang="en-GB" sz="2800" dirty="0">
                <a:solidFill>
                  <a:schemeClr val="bg1"/>
                </a:solidFill>
              </a:rPr>
              <a:t>Transitive closure of related work of papers in a top conference – find “related works” section in your papers</a:t>
            </a:r>
          </a:p>
          <a:p>
            <a:pPr lvl="1"/>
            <a:r>
              <a:rPr lang="en-GB" sz="3200" dirty="0">
                <a:solidFill>
                  <a:schemeClr val="bg1"/>
                </a:solidFill>
              </a:rPr>
              <a:t>Purpose: Learn about an area that is further afield </a:t>
            </a:r>
          </a:p>
          <a:p>
            <a:pPr lvl="2"/>
            <a:r>
              <a:rPr lang="en-GB" sz="2800" dirty="0">
                <a:solidFill>
                  <a:schemeClr val="bg1"/>
                </a:solidFill>
              </a:rPr>
              <a:t>Ask expert colleagues</a:t>
            </a:r>
          </a:p>
          <a:p>
            <a:endParaRPr lang="en-US" sz="3600" dirty="0"/>
          </a:p>
          <a:p>
            <a:endParaRPr lang="en-US" sz="3600" dirty="0"/>
          </a:p>
        </p:txBody>
      </p:sp>
    </p:spTree>
    <p:extLst>
      <p:ext uri="{BB962C8B-B14F-4D97-AF65-F5344CB8AC3E}">
        <p14:creationId xmlns:p14="http://schemas.microsoft.com/office/powerpoint/2010/main" val="695762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C1C71-2C94-44F8-B82A-3662973E31BB}"/>
              </a:ext>
            </a:extLst>
          </p:cNvPr>
          <p:cNvSpPr>
            <a:spLocks noGrp="1"/>
          </p:cNvSpPr>
          <p:nvPr>
            <p:ph type="title"/>
          </p:nvPr>
        </p:nvSpPr>
        <p:spPr/>
        <p:txBody>
          <a:bodyPr/>
          <a:lstStyle/>
          <a:p>
            <a:r>
              <a:rPr lang="en-GB" dirty="0"/>
              <a:t>Deciding what to read</a:t>
            </a:r>
            <a:endParaRPr lang="en-US" dirty="0"/>
          </a:p>
        </p:txBody>
      </p:sp>
      <p:sp>
        <p:nvSpPr>
          <p:cNvPr id="3" name="Content Placeholder 2">
            <a:extLst>
              <a:ext uri="{FF2B5EF4-FFF2-40B4-BE49-F238E27FC236}">
                <a16:creationId xmlns:a16="http://schemas.microsoft.com/office/drawing/2014/main" id="{45A2354D-3673-4104-9791-7CB441C50913}"/>
              </a:ext>
            </a:extLst>
          </p:cNvPr>
          <p:cNvSpPr>
            <a:spLocks noGrp="1"/>
          </p:cNvSpPr>
          <p:nvPr>
            <p:ph idx="1"/>
          </p:nvPr>
        </p:nvSpPr>
        <p:spPr/>
        <p:txBody>
          <a:bodyPr>
            <a:noAutofit/>
          </a:bodyPr>
          <a:lstStyle/>
          <a:p>
            <a:r>
              <a:rPr lang="en-GB" sz="3600" dirty="0"/>
              <a:t>Depending on the purpose of reading</a:t>
            </a:r>
          </a:p>
          <a:p>
            <a:pPr lvl="1"/>
            <a:r>
              <a:rPr lang="en-GB" sz="3200" dirty="0">
                <a:solidFill>
                  <a:schemeClr val="bg1"/>
                </a:solidFill>
              </a:rPr>
              <a:t>Purpose: Learn about “hot topics” of current research in an area. (searching for problems, etc.) </a:t>
            </a:r>
          </a:p>
          <a:p>
            <a:pPr lvl="2"/>
            <a:r>
              <a:rPr lang="en-GB" sz="2800" dirty="0">
                <a:solidFill>
                  <a:schemeClr val="bg1"/>
                </a:solidFill>
              </a:rPr>
              <a:t>Scan papers in latest conference proceedings</a:t>
            </a:r>
          </a:p>
          <a:p>
            <a:pPr lvl="1"/>
            <a:r>
              <a:rPr lang="en-GB" sz="3200" dirty="0"/>
              <a:t>Purpose: Get up to speed on sub-field </a:t>
            </a:r>
          </a:p>
          <a:p>
            <a:pPr lvl="2">
              <a:buFont typeface="Wingdings" panose="05000000000000000000" pitchFamily="2" charset="2"/>
              <a:buChar char="Ø"/>
            </a:pPr>
            <a:r>
              <a:rPr lang="en-GB" sz="2800" dirty="0"/>
              <a:t>Transitive closure of related work of papers in a top conference – find “related works” section in your papers</a:t>
            </a:r>
          </a:p>
          <a:p>
            <a:pPr lvl="1"/>
            <a:r>
              <a:rPr lang="en-GB" sz="3200" dirty="0">
                <a:solidFill>
                  <a:schemeClr val="bg1"/>
                </a:solidFill>
              </a:rPr>
              <a:t>Purpose: Learn about an area that is further afield </a:t>
            </a:r>
          </a:p>
          <a:p>
            <a:pPr lvl="2"/>
            <a:r>
              <a:rPr lang="en-GB" sz="2800" dirty="0">
                <a:solidFill>
                  <a:schemeClr val="bg1"/>
                </a:solidFill>
              </a:rPr>
              <a:t>Ask expert colleagues</a:t>
            </a:r>
          </a:p>
          <a:p>
            <a:endParaRPr lang="en-US" sz="3600" dirty="0"/>
          </a:p>
          <a:p>
            <a:endParaRPr lang="en-US" sz="3600" dirty="0"/>
          </a:p>
        </p:txBody>
      </p:sp>
    </p:spTree>
    <p:extLst>
      <p:ext uri="{BB962C8B-B14F-4D97-AF65-F5344CB8AC3E}">
        <p14:creationId xmlns:p14="http://schemas.microsoft.com/office/powerpoint/2010/main" val="2845510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C1C71-2C94-44F8-B82A-3662973E31BB}"/>
              </a:ext>
            </a:extLst>
          </p:cNvPr>
          <p:cNvSpPr>
            <a:spLocks noGrp="1"/>
          </p:cNvSpPr>
          <p:nvPr>
            <p:ph type="title"/>
          </p:nvPr>
        </p:nvSpPr>
        <p:spPr/>
        <p:txBody>
          <a:bodyPr/>
          <a:lstStyle/>
          <a:p>
            <a:r>
              <a:rPr lang="en-GB" dirty="0"/>
              <a:t>Deciding what to read</a:t>
            </a:r>
            <a:endParaRPr lang="en-US" dirty="0"/>
          </a:p>
        </p:txBody>
      </p:sp>
      <p:sp>
        <p:nvSpPr>
          <p:cNvPr id="3" name="Content Placeholder 2">
            <a:extLst>
              <a:ext uri="{FF2B5EF4-FFF2-40B4-BE49-F238E27FC236}">
                <a16:creationId xmlns:a16="http://schemas.microsoft.com/office/drawing/2014/main" id="{45A2354D-3673-4104-9791-7CB441C50913}"/>
              </a:ext>
            </a:extLst>
          </p:cNvPr>
          <p:cNvSpPr>
            <a:spLocks noGrp="1"/>
          </p:cNvSpPr>
          <p:nvPr>
            <p:ph idx="1"/>
          </p:nvPr>
        </p:nvSpPr>
        <p:spPr/>
        <p:txBody>
          <a:bodyPr>
            <a:noAutofit/>
          </a:bodyPr>
          <a:lstStyle/>
          <a:p>
            <a:r>
              <a:rPr lang="en-GB" sz="3600" dirty="0"/>
              <a:t>Depending on the purpose of reading</a:t>
            </a:r>
          </a:p>
          <a:p>
            <a:pPr lvl="1"/>
            <a:r>
              <a:rPr lang="en-GB" sz="3200" dirty="0">
                <a:solidFill>
                  <a:schemeClr val="bg1"/>
                </a:solidFill>
              </a:rPr>
              <a:t>Purpose: Learn about “hot topics” of current research in an area. (searching for problems, etc.) </a:t>
            </a:r>
          </a:p>
          <a:p>
            <a:pPr lvl="2"/>
            <a:r>
              <a:rPr lang="en-GB" sz="2800" dirty="0">
                <a:solidFill>
                  <a:schemeClr val="bg1"/>
                </a:solidFill>
              </a:rPr>
              <a:t>Scan papers in latest conference proceedings</a:t>
            </a:r>
          </a:p>
          <a:p>
            <a:pPr lvl="1"/>
            <a:r>
              <a:rPr lang="en-GB" sz="3200" dirty="0">
                <a:solidFill>
                  <a:schemeClr val="bg1"/>
                </a:solidFill>
              </a:rPr>
              <a:t>Purpose: Get up to speed on sub-field </a:t>
            </a:r>
          </a:p>
          <a:p>
            <a:pPr lvl="2"/>
            <a:r>
              <a:rPr lang="en-GB" sz="2800" dirty="0">
                <a:solidFill>
                  <a:schemeClr val="bg1"/>
                </a:solidFill>
              </a:rPr>
              <a:t>Transitive closure of related work of papers in a top conference – find “related works” section in your papers</a:t>
            </a:r>
          </a:p>
          <a:p>
            <a:pPr lvl="1"/>
            <a:r>
              <a:rPr lang="en-GB" sz="3200" dirty="0"/>
              <a:t>Purpose: Learn about an area that is further afield </a:t>
            </a:r>
          </a:p>
          <a:p>
            <a:pPr lvl="2">
              <a:buFont typeface="Wingdings" panose="05000000000000000000" pitchFamily="2" charset="2"/>
              <a:buChar char="Ø"/>
            </a:pPr>
            <a:r>
              <a:rPr lang="en-GB" sz="2800" dirty="0"/>
              <a:t>Ask expert colleagues</a:t>
            </a:r>
          </a:p>
          <a:p>
            <a:endParaRPr lang="en-US" sz="3600" dirty="0"/>
          </a:p>
          <a:p>
            <a:endParaRPr lang="en-US" sz="3600" dirty="0"/>
          </a:p>
        </p:txBody>
      </p:sp>
    </p:spTree>
    <p:extLst>
      <p:ext uri="{BB962C8B-B14F-4D97-AF65-F5344CB8AC3E}">
        <p14:creationId xmlns:p14="http://schemas.microsoft.com/office/powerpoint/2010/main" val="466023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C1C71-2C94-44F8-B82A-3662973E31BB}"/>
              </a:ext>
            </a:extLst>
          </p:cNvPr>
          <p:cNvSpPr>
            <a:spLocks noGrp="1"/>
          </p:cNvSpPr>
          <p:nvPr>
            <p:ph type="title"/>
          </p:nvPr>
        </p:nvSpPr>
        <p:spPr/>
        <p:txBody>
          <a:bodyPr/>
          <a:lstStyle/>
          <a:p>
            <a:r>
              <a:rPr lang="en-GB" dirty="0"/>
              <a:t>Deciding what to read</a:t>
            </a:r>
            <a:endParaRPr lang="en-US" dirty="0"/>
          </a:p>
        </p:txBody>
      </p:sp>
      <p:sp>
        <p:nvSpPr>
          <p:cNvPr id="3" name="Content Placeholder 2">
            <a:extLst>
              <a:ext uri="{FF2B5EF4-FFF2-40B4-BE49-F238E27FC236}">
                <a16:creationId xmlns:a16="http://schemas.microsoft.com/office/drawing/2014/main" id="{45A2354D-3673-4104-9791-7CB441C50913}"/>
              </a:ext>
            </a:extLst>
          </p:cNvPr>
          <p:cNvSpPr>
            <a:spLocks noGrp="1"/>
          </p:cNvSpPr>
          <p:nvPr>
            <p:ph idx="1"/>
          </p:nvPr>
        </p:nvSpPr>
        <p:spPr/>
        <p:txBody>
          <a:bodyPr>
            <a:noAutofit/>
          </a:bodyPr>
          <a:lstStyle/>
          <a:p>
            <a:r>
              <a:rPr lang="en-GB" sz="3600" dirty="0"/>
              <a:t>Depending on the purpose of reading</a:t>
            </a:r>
          </a:p>
          <a:p>
            <a:pPr lvl="1"/>
            <a:r>
              <a:rPr lang="en-GB" sz="3200" dirty="0"/>
              <a:t>Purpose: Learn about “hot topics” of current research in an area. (searching for problems, etc.) </a:t>
            </a:r>
          </a:p>
          <a:p>
            <a:pPr lvl="2">
              <a:buFont typeface="Wingdings" panose="05000000000000000000" pitchFamily="2" charset="2"/>
              <a:buChar char="Ø"/>
            </a:pPr>
            <a:r>
              <a:rPr lang="en-GB" sz="2800" dirty="0"/>
              <a:t>Scan papers in latest conference proceedings</a:t>
            </a:r>
          </a:p>
          <a:p>
            <a:pPr lvl="1"/>
            <a:r>
              <a:rPr lang="en-GB" sz="3200" dirty="0"/>
              <a:t>Purpose: Get up to speed on sub-field </a:t>
            </a:r>
          </a:p>
          <a:p>
            <a:pPr lvl="2">
              <a:buFont typeface="Wingdings" panose="05000000000000000000" pitchFamily="2" charset="2"/>
              <a:buChar char="Ø"/>
            </a:pPr>
            <a:r>
              <a:rPr lang="en-GB" sz="2800" dirty="0"/>
              <a:t>Transitive closure of related work of papers in a top conference – find “related works” section in your papers</a:t>
            </a:r>
          </a:p>
          <a:p>
            <a:pPr lvl="1"/>
            <a:r>
              <a:rPr lang="en-GB" sz="3200" dirty="0"/>
              <a:t>Purpose: Learn about an area that is further afield </a:t>
            </a:r>
          </a:p>
          <a:p>
            <a:pPr lvl="2">
              <a:buFont typeface="Wingdings" panose="05000000000000000000" pitchFamily="2" charset="2"/>
              <a:buChar char="Ø"/>
            </a:pPr>
            <a:r>
              <a:rPr lang="en-GB" sz="2800" dirty="0"/>
              <a:t>Ask expert colleagues</a:t>
            </a:r>
          </a:p>
          <a:p>
            <a:endParaRPr lang="en-US" sz="3600" dirty="0"/>
          </a:p>
          <a:p>
            <a:endParaRPr lang="en-US" sz="3600" dirty="0"/>
          </a:p>
        </p:txBody>
      </p:sp>
    </p:spTree>
    <p:extLst>
      <p:ext uri="{BB962C8B-B14F-4D97-AF65-F5344CB8AC3E}">
        <p14:creationId xmlns:p14="http://schemas.microsoft.com/office/powerpoint/2010/main" val="214035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C1C71-2C94-44F8-B82A-3662973E31BB}"/>
              </a:ext>
            </a:extLst>
          </p:cNvPr>
          <p:cNvSpPr>
            <a:spLocks noGrp="1"/>
          </p:cNvSpPr>
          <p:nvPr>
            <p:ph type="title"/>
          </p:nvPr>
        </p:nvSpPr>
        <p:spPr/>
        <p:txBody>
          <a:bodyPr/>
          <a:lstStyle/>
          <a:p>
            <a:r>
              <a:rPr lang="en-GB" dirty="0"/>
              <a:t>Deciding what to read</a:t>
            </a:r>
            <a:endParaRPr lang="en-US" dirty="0"/>
          </a:p>
        </p:txBody>
      </p:sp>
      <p:sp>
        <p:nvSpPr>
          <p:cNvPr id="3" name="Content Placeholder 2">
            <a:extLst>
              <a:ext uri="{FF2B5EF4-FFF2-40B4-BE49-F238E27FC236}">
                <a16:creationId xmlns:a16="http://schemas.microsoft.com/office/drawing/2014/main" id="{45A2354D-3673-4104-9791-7CB441C50913}"/>
              </a:ext>
            </a:extLst>
          </p:cNvPr>
          <p:cNvSpPr>
            <a:spLocks noGrp="1"/>
          </p:cNvSpPr>
          <p:nvPr>
            <p:ph idx="1"/>
          </p:nvPr>
        </p:nvSpPr>
        <p:spPr/>
        <p:txBody>
          <a:bodyPr>
            <a:noAutofit/>
          </a:bodyPr>
          <a:lstStyle/>
          <a:p>
            <a:r>
              <a:rPr lang="en-GB" sz="3600" dirty="0"/>
              <a:t>Depending on the purpose of reading</a:t>
            </a:r>
          </a:p>
          <a:p>
            <a:pPr lvl="1"/>
            <a:r>
              <a:rPr lang="en-GB" sz="3200" dirty="0"/>
              <a:t>Purpose: Learn about “hot topics” of current research in an area. (searching for problems, etc.) </a:t>
            </a:r>
          </a:p>
          <a:p>
            <a:pPr lvl="2">
              <a:buFont typeface="Wingdings" panose="05000000000000000000" pitchFamily="2" charset="2"/>
              <a:buChar char="Ø"/>
            </a:pPr>
            <a:r>
              <a:rPr lang="en-GB" sz="2800" dirty="0">
                <a:solidFill>
                  <a:srgbClr val="FF0000"/>
                </a:solidFill>
              </a:rPr>
              <a:t>Scan</a:t>
            </a:r>
            <a:r>
              <a:rPr lang="en-GB" sz="2800" dirty="0"/>
              <a:t> papers in latest conference proceedings</a:t>
            </a:r>
          </a:p>
          <a:p>
            <a:pPr lvl="1"/>
            <a:r>
              <a:rPr lang="en-GB" sz="3200" dirty="0"/>
              <a:t>Purpose: Get up to speed on sub-field </a:t>
            </a:r>
          </a:p>
          <a:p>
            <a:pPr lvl="2">
              <a:buFont typeface="Wingdings" panose="05000000000000000000" pitchFamily="2" charset="2"/>
              <a:buChar char="Ø"/>
            </a:pPr>
            <a:r>
              <a:rPr lang="en-GB" sz="2800" dirty="0">
                <a:solidFill>
                  <a:srgbClr val="FF0000"/>
                </a:solidFill>
              </a:rPr>
              <a:t>Transitive closure </a:t>
            </a:r>
            <a:r>
              <a:rPr lang="en-GB" sz="2800" dirty="0"/>
              <a:t>of related work of papers in a top conference – find “related works” section in your papers, </a:t>
            </a:r>
            <a:endParaRPr lang="en-GB" sz="2600" dirty="0"/>
          </a:p>
          <a:p>
            <a:pPr lvl="1"/>
            <a:r>
              <a:rPr lang="en-GB" sz="3200" dirty="0"/>
              <a:t>Purpose: Learn about an area that is further afield </a:t>
            </a:r>
          </a:p>
          <a:p>
            <a:pPr lvl="2">
              <a:buFont typeface="Wingdings" panose="05000000000000000000" pitchFamily="2" charset="2"/>
              <a:buChar char="Ø"/>
            </a:pPr>
            <a:r>
              <a:rPr lang="en-GB" sz="2800" dirty="0">
                <a:solidFill>
                  <a:srgbClr val="FF0000"/>
                </a:solidFill>
              </a:rPr>
              <a:t>Ask</a:t>
            </a:r>
            <a:r>
              <a:rPr lang="en-GB" sz="2800" dirty="0"/>
              <a:t> expert colleagues</a:t>
            </a:r>
          </a:p>
          <a:p>
            <a:endParaRPr lang="en-US" sz="3600" dirty="0"/>
          </a:p>
          <a:p>
            <a:endParaRPr lang="en-US" sz="3600" dirty="0"/>
          </a:p>
        </p:txBody>
      </p:sp>
    </p:spTree>
    <p:extLst>
      <p:ext uri="{BB962C8B-B14F-4D97-AF65-F5344CB8AC3E}">
        <p14:creationId xmlns:p14="http://schemas.microsoft.com/office/powerpoint/2010/main" val="1617861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l" rtl="0">
              <a:lnSpc>
                <a:spcPct val="90000"/>
              </a:lnSpc>
              <a:spcBef>
                <a:spcPct val="0"/>
              </a:spcBef>
            </a:pPr>
            <a:r>
              <a:rPr lang="en-GB" sz="2800" dirty="0">
                <a:solidFill>
                  <a:srgbClr val="FF0000"/>
                </a:solidFill>
              </a:rPr>
              <a:t>Transitive closure </a:t>
            </a:r>
            <a:r>
              <a:rPr lang="en-GB" sz="2800" dirty="0"/>
              <a:t>of related work of papers in a top conference – find </a:t>
            </a:r>
            <a:r>
              <a:rPr lang="en-GB" sz="2800" dirty="0">
                <a:solidFill>
                  <a:srgbClr val="FF0000"/>
                </a:solidFill>
              </a:rPr>
              <a:t>“related works” section </a:t>
            </a:r>
            <a:r>
              <a:rPr lang="en-GB" sz="2800" dirty="0"/>
              <a:t>in your papers</a:t>
            </a:r>
            <a:endParaRPr lang="en-GB" dirty="0"/>
          </a:p>
        </p:txBody>
      </p:sp>
    </p:spTree>
    <p:extLst>
      <p:ext uri="{BB962C8B-B14F-4D97-AF65-F5344CB8AC3E}">
        <p14:creationId xmlns:p14="http://schemas.microsoft.com/office/powerpoint/2010/main" val="3810737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Vertical Scroll 4"/>
          <p:cNvSpPr/>
          <p:nvPr/>
        </p:nvSpPr>
        <p:spPr>
          <a:xfrm>
            <a:off x="3391739" y="1840885"/>
            <a:ext cx="7045311" cy="4370589"/>
          </a:xfrm>
          <a:prstGeom prst="vertic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p:txBody>
          <a:bodyPr/>
          <a:lstStyle/>
          <a:p>
            <a:pPr lvl="2" algn="l" rtl="0">
              <a:lnSpc>
                <a:spcPct val="90000"/>
              </a:lnSpc>
              <a:spcBef>
                <a:spcPct val="0"/>
              </a:spcBef>
            </a:pPr>
            <a:r>
              <a:rPr lang="en-GB" sz="2800" dirty="0">
                <a:solidFill>
                  <a:srgbClr val="FF0000"/>
                </a:solidFill>
              </a:rPr>
              <a:t>Transitive closure </a:t>
            </a:r>
            <a:r>
              <a:rPr lang="en-GB" sz="2800" dirty="0"/>
              <a:t>of related work of papers in a top conference – find </a:t>
            </a:r>
            <a:r>
              <a:rPr lang="en-GB" sz="2800" dirty="0">
                <a:solidFill>
                  <a:srgbClr val="FF0000"/>
                </a:solidFill>
              </a:rPr>
              <a:t>“related works” section </a:t>
            </a:r>
            <a:r>
              <a:rPr lang="en-GB" sz="2800" dirty="0"/>
              <a:t>in your papers</a:t>
            </a:r>
            <a:endParaRPr lang="en-GB"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7587" y="2668372"/>
            <a:ext cx="4262438" cy="321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523661" y="1852969"/>
            <a:ext cx="5757410" cy="461665"/>
          </a:xfrm>
          <a:prstGeom prst="rect">
            <a:avLst/>
          </a:prstGeom>
          <a:noFill/>
        </p:spPr>
        <p:txBody>
          <a:bodyPr wrap="none" rtlCol="0">
            <a:spAutoFit/>
          </a:bodyPr>
          <a:lstStyle/>
          <a:p>
            <a:r>
              <a:rPr lang="en-GB" sz="2400" dirty="0"/>
              <a:t>Related work section of a paper I am reading</a:t>
            </a:r>
          </a:p>
        </p:txBody>
      </p:sp>
      <p:sp>
        <p:nvSpPr>
          <p:cNvPr id="7" name="Vertical Scroll 6"/>
          <p:cNvSpPr/>
          <p:nvPr/>
        </p:nvSpPr>
        <p:spPr>
          <a:xfrm>
            <a:off x="4926481" y="3738164"/>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Vertical Scroll 7"/>
          <p:cNvSpPr/>
          <p:nvPr/>
        </p:nvSpPr>
        <p:spPr>
          <a:xfrm>
            <a:off x="6838350" y="3588449"/>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Vertical Scroll 8"/>
          <p:cNvSpPr/>
          <p:nvPr/>
        </p:nvSpPr>
        <p:spPr>
          <a:xfrm>
            <a:off x="5247392" y="3746556"/>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Vertical Scroll 9"/>
          <p:cNvSpPr/>
          <p:nvPr/>
        </p:nvSpPr>
        <p:spPr>
          <a:xfrm>
            <a:off x="5568303" y="3746556"/>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Vertical Scroll 10"/>
          <p:cNvSpPr/>
          <p:nvPr/>
        </p:nvSpPr>
        <p:spPr>
          <a:xfrm>
            <a:off x="5889214" y="3746556"/>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Vertical Scroll 11"/>
          <p:cNvSpPr/>
          <p:nvPr/>
        </p:nvSpPr>
        <p:spPr>
          <a:xfrm>
            <a:off x="6210125" y="3746556"/>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Vertical Scroll 12"/>
          <p:cNvSpPr/>
          <p:nvPr/>
        </p:nvSpPr>
        <p:spPr>
          <a:xfrm>
            <a:off x="6516094" y="3746556"/>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Vertical Scroll 13"/>
          <p:cNvSpPr/>
          <p:nvPr/>
        </p:nvSpPr>
        <p:spPr>
          <a:xfrm>
            <a:off x="4926481" y="3946959"/>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Vertical Scroll 15"/>
          <p:cNvSpPr/>
          <p:nvPr/>
        </p:nvSpPr>
        <p:spPr>
          <a:xfrm>
            <a:off x="6569312" y="4069481"/>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Vertical Scroll 16"/>
          <p:cNvSpPr/>
          <p:nvPr/>
        </p:nvSpPr>
        <p:spPr>
          <a:xfrm>
            <a:off x="6841887" y="4077873"/>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Vertical Scroll 17"/>
          <p:cNvSpPr/>
          <p:nvPr/>
        </p:nvSpPr>
        <p:spPr>
          <a:xfrm>
            <a:off x="7114462" y="4077873"/>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Vertical Scroll 18"/>
          <p:cNvSpPr/>
          <p:nvPr/>
        </p:nvSpPr>
        <p:spPr>
          <a:xfrm>
            <a:off x="7378981" y="4077873"/>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Vertical Scroll 19"/>
          <p:cNvSpPr/>
          <p:nvPr/>
        </p:nvSpPr>
        <p:spPr>
          <a:xfrm>
            <a:off x="7681086" y="4077873"/>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Vertical Scroll 20"/>
          <p:cNvSpPr/>
          <p:nvPr/>
        </p:nvSpPr>
        <p:spPr>
          <a:xfrm>
            <a:off x="8009889" y="4077873"/>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Vertical Scroll 21"/>
          <p:cNvSpPr/>
          <p:nvPr/>
        </p:nvSpPr>
        <p:spPr>
          <a:xfrm>
            <a:off x="8330800" y="4086265"/>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Vertical Scroll 22"/>
          <p:cNvSpPr/>
          <p:nvPr/>
        </p:nvSpPr>
        <p:spPr>
          <a:xfrm>
            <a:off x="8322744" y="3738164"/>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Vertical Scroll 23"/>
          <p:cNvSpPr/>
          <p:nvPr/>
        </p:nvSpPr>
        <p:spPr>
          <a:xfrm>
            <a:off x="8330799" y="4568641"/>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Vertical Scroll 24"/>
          <p:cNvSpPr/>
          <p:nvPr/>
        </p:nvSpPr>
        <p:spPr>
          <a:xfrm>
            <a:off x="5329124" y="4424633"/>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Vertical Scroll 25"/>
          <p:cNvSpPr/>
          <p:nvPr/>
        </p:nvSpPr>
        <p:spPr>
          <a:xfrm>
            <a:off x="5650035" y="4424632"/>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Vertical Scroll 26"/>
          <p:cNvSpPr/>
          <p:nvPr/>
        </p:nvSpPr>
        <p:spPr>
          <a:xfrm>
            <a:off x="5934698" y="4424633"/>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Vertical Scroll 27"/>
          <p:cNvSpPr/>
          <p:nvPr/>
        </p:nvSpPr>
        <p:spPr>
          <a:xfrm>
            <a:off x="4926481" y="4712648"/>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Vertical Scroll 29"/>
          <p:cNvSpPr/>
          <p:nvPr/>
        </p:nvSpPr>
        <p:spPr>
          <a:xfrm>
            <a:off x="5247392" y="4712648"/>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Vertical Scroll 30"/>
          <p:cNvSpPr/>
          <p:nvPr/>
        </p:nvSpPr>
        <p:spPr>
          <a:xfrm>
            <a:off x="5568303" y="4716674"/>
            <a:ext cx="320911" cy="288015"/>
          </a:xfrm>
          <a:prstGeom prst="verticalScroll">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extBox 31"/>
          <p:cNvSpPr txBox="1"/>
          <p:nvPr/>
        </p:nvSpPr>
        <p:spPr>
          <a:xfrm>
            <a:off x="851403" y="3835484"/>
            <a:ext cx="2782028" cy="1199758"/>
          </a:xfrm>
          <a:prstGeom prst="rect">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sz="2800" dirty="0">
                <a:solidFill>
                  <a:schemeClr val="tx1"/>
                </a:solidFill>
              </a:rPr>
              <a:t>Related works of this paper</a:t>
            </a:r>
          </a:p>
        </p:txBody>
      </p:sp>
    </p:spTree>
    <p:extLst>
      <p:ext uri="{BB962C8B-B14F-4D97-AF65-F5344CB8AC3E}">
        <p14:creationId xmlns:p14="http://schemas.microsoft.com/office/powerpoint/2010/main" val="2275325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30" grpId="0" animBg="1"/>
      <p:bldP spid="31" grpId="0" animBg="1"/>
      <p:bldP spid="3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Scroll 3"/>
          <p:cNvSpPr/>
          <p:nvPr/>
        </p:nvSpPr>
        <p:spPr>
          <a:xfrm>
            <a:off x="9534736" y="527695"/>
            <a:ext cx="1921448" cy="2626382"/>
          </a:xfrm>
          <a:prstGeom prst="vertic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Vertical Scroll 6"/>
          <p:cNvSpPr/>
          <p:nvPr/>
        </p:nvSpPr>
        <p:spPr>
          <a:xfrm>
            <a:off x="7636984" y="332327"/>
            <a:ext cx="1484388" cy="1468275"/>
          </a:xfrm>
          <a:prstGeom prst="verticalScroll">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Vertical Scroll 7"/>
          <p:cNvSpPr/>
          <p:nvPr/>
        </p:nvSpPr>
        <p:spPr>
          <a:xfrm>
            <a:off x="5104394" y="2419939"/>
            <a:ext cx="1484388" cy="1468275"/>
          </a:xfrm>
          <a:prstGeom prst="verticalScroll">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Vertical Scroll 8"/>
          <p:cNvSpPr/>
          <p:nvPr/>
        </p:nvSpPr>
        <p:spPr>
          <a:xfrm>
            <a:off x="2039390" y="4713660"/>
            <a:ext cx="1484388" cy="1468275"/>
          </a:xfrm>
          <a:prstGeom prst="verticalScroll">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Vertical Scroll 11"/>
          <p:cNvSpPr/>
          <p:nvPr/>
        </p:nvSpPr>
        <p:spPr>
          <a:xfrm>
            <a:off x="10116137" y="1195199"/>
            <a:ext cx="271230" cy="340717"/>
          </a:xfrm>
          <a:prstGeom prst="verticalScroll">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Vertical Scroll 12"/>
          <p:cNvSpPr/>
          <p:nvPr/>
        </p:nvSpPr>
        <p:spPr>
          <a:xfrm>
            <a:off x="10128672" y="1745216"/>
            <a:ext cx="271230" cy="340717"/>
          </a:xfrm>
          <a:prstGeom prst="verticalScroll">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Vertical Scroll 13"/>
          <p:cNvSpPr/>
          <p:nvPr/>
        </p:nvSpPr>
        <p:spPr>
          <a:xfrm>
            <a:off x="10128672" y="2303456"/>
            <a:ext cx="271230" cy="340717"/>
          </a:xfrm>
          <a:prstGeom prst="verticalScroll">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6" name="Straight Arrow Connector 15"/>
          <p:cNvCxnSpPr/>
          <p:nvPr/>
        </p:nvCxnSpPr>
        <p:spPr>
          <a:xfrm>
            <a:off x="326284" y="6473307"/>
            <a:ext cx="11399788" cy="0"/>
          </a:xfrm>
          <a:prstGeom prst="straightConnector1">
            <a:avLst/>
          </a:prstGeom>
          <a:ln w="98425">
            <a:tailEnd type="arrow"/>
          </a:ln>
        </p:spPr>
        <p:style>
          <a:lnRef idx="1">
            <a:schemeClr val="accent1"/>
          </a:lnRef>
          <a:fillRef idx="0">
            <a:schemeClr val="accent1"/>
          </a:fillRef>
          <a:effectRef idx="0">
            <a:schemeClr val="accent1"/>
          </a:effectRef>
          <a:fontRef idx="minor">
            <a:schemeClr val="tx1"/>
          </a:fontRef>
        </p:style>
      </p:cxnSp>
      <p:sp>
        <p:nvSpPr>
          <p:cNvPr id="17" name="Vertical Scroll 16"/>
          <p:cNvSpPr/>
          <p:nvPr/>
        </p:nvSpPr>
        <p:spPr>
          <a:xfrm>
            <a:off x="7936885" y="1094495"/>
            <a:ext cx="159785" cy="201407"/>
          </a:xfrm>
          <a:prstGeom prst="verticalScroll">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Vertical Scroll 17"/>
          <p:cNvSpPr/>
          <p:nvPr/>
        </p:nvSpPr>
        <p:spPr>
          <a:xfrm>
            <a:off x="7929500" y="1448302"/>
            <a:ext cx="159785" cy="201407"/>
          </a:xfrm>
          <a:prstGeom prst="verticalScroll">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Vertical Scroll 19"/>
          <p:cNvSpPr/>
          <p:nvPr/>
        </p:nvSpPr>
        <p:spPr>
          <a:xfrm>
            <a:off x="5603218" y="2952669"/>
            <a:ext cx="159785" cy="201407"/>
          </a:xfrm>
          <a:prstGeom prst="verticalScroll">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Vertical Scroll 20"/>
          <p:cNvSpPr/>
          <p:nvPr/>
        </p:nvSpPr>
        <p:spPr>
          <a:xfrm>
            <a:off x="5617988" y="3306476"/>
            <a:ext cx="159785" cy="201407"/>
          </a:xfrm>
          <a:prstGeom prst="verticalScroll">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Vertical Scroll 21"/>
          <p:cNvSpPr/>
          <p:nvPr/>
        </p:nvSpPr>
        <p:spPr>
          <a:xfrm>
            <a:off x="2444893" y="5127222"/>
            <a:ext cx="159785" cy="201407"/>
          </a:xfrm>
          <a:prstGeom prst="verticalScroll">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Vertical Scroll 22"/>
          <p:cNvSpPr/>
          <p:nvPr/>
        </p:nvSpPr>
        <p:spPr>
          <a:xfrm>
            <a:off x="2437508" y="5871767"/>
            <a:ext cx="159785" cy="201407"/>
          </a:xfrm>
          <a:prstGeom prst="verticalScroll">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Vertical Scroll 23"/>
          <p:cNvSpPr/>
          <p:nvPr/>
        </p:nvSpPr>
        <p:spPr>
          <a:xfrm>
            <a:off x="2444892" y="5496473"/>
            <a:ext cx="159785" cy="201407"/>
          </a:xfrm>
          <a:prstGeom prst="verticalScroll">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Curved Connector 25"/>
          <p:cNvCxnSpPr/>
          <p:nvPr/>
        </p:nvCxnSpPr>
        <p:spPr>
          <a:xfrm flipH="1">
            <a:off x="3315653" y="2473815"/>
            <a:ext cx="6875119" cy="3123361"/>
          </a:xfrm>
          <a:prstGeom prst="curvedConnector3">
            <a:avLst>
              <a:gd name="adj1" fmla="val 18778"/>
            </a:avLst>
          </a:prstGeom>
          <a:ln w="22225">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9" name="Curved Connector 28"/>
          <p:cNvCxnSpPr>
            <a:stCxn id="13" idx="3"/>
          </p:cNvCxnSpPr>
          <p:nvPr/>
        </p:nvCxnSpPr>
        <p:spPr>
          <a:xfrm rot="10800000" flipV="1">
            <a:off x="6397222" y="1915575"/>
            <a:ext cx="3968776" cy="1037094"/>
          </a:xfrm>
          <a:prstGeom prst="curvedConnector3">
            <a:avLst/>
          </a:prstGeom>
          <a:ln w="22225">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1" name="Curved Connector 30"/>
          <p:cNvCxnSpPr/>
          <p:nvPr/>
        </p:nvCxnSpPr>
        <p:spPr>
          <a:xfrm rot="5400000" flipH="1">
            <a:off x="9390589" y="537344"/>
            <a:ext cx="271063" cy="1329303"/>
          </a:xfrm>
          <a:prstGeom prst="curvedConnector4">
            <a:avLst>
              <a:gd name="adj1" fmla="val -84335"/>
              <a:gd name="adj2" fmla="val 55101"/>
            </a:avLst>
          </a:prstGeom>
          <a:ln w="22225">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2" name="Vertical Scroll 31"/>
          <p:cNvSpPr/>
          <p:nvPr/>
        </p:nvSpPr>
        <p:spPr>
          <a:xfrm>
            <a:off x="8423625" y="603225"/>
            <a:ext cx="159785" cy="201407"/>
          </a:xfrm>
          <a:prstGeom prst="verticalScroll">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Vertical Scroll 32"/>
          <p:cNvSpPr/>
          <p:nvPr/>
        </p:nvSpPr>
        <p:spPr>
          <a:xfrm>
            <a:off x="8209290" y="935386"/>
            <a:ext cx="159785" cy="201407"/>
          </a:xfrm>
          <a:prstGeom prst="verticalScroll">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Vertical Scroll 33"/>
          <p:cNvSpPr/>
          <p:nvPr/>
        </p:nvSpPr>
        <p:spPr>
          <a:xfrm>
            <a:off x="8682771" y="1450991"/>
            <a:ext cx="159785" cy="201407"/>
          </a:xfrm>
          <a:prstGeom prst="verticalScroll">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Vertical Scroll 34"/>
          <p:cNvSpPr/>
          <p:nvPr/>
        </p:nvSpPr>
        <p:spPr>
          <a:xfrm>
            <a:off x="5946285" y="3458875"/>
            <a:ext cx="159785" cy="201407"/>
          </a:xfrm>
          <a:prstGeom prst="verticalScroll">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7" name="Curved Connector 36"/>
          <p:cNvCxnSpPr>
            <a:stCxn id="35" idx="2"/>
          </p:cNvCxnSpPr>
          <p:nvPr/>
        </p:nvCxnSpPr>
        <p:spPr>
          <a:xfrm rot="5400000">
            <a:off x="3830475" y="3132925"/>
            <a:ext cx="1668347" cy="2723060"/>
          </a:xfrm>
          <a:prstGeom prst="curvedConnector2">
            <a:avLst/>
          </a:prstGeom>
          <a:ln w="22225">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9" name="Curved Connector 38"/>
          <p:cNvCxnSpPr>
            <a:stCxn id="18" idx="3"/>
          </p:cNvCxnSpPr>
          <p:nvPr/>
        </p:nvCxnSpPr>
        <p:spPr>
          <a:xfrm rot="10800000" flipV="1">
            <a:off x="6412886" y="1549005"/>
            <a:ext cx="1656427" cy="1246561"/>
          </a:xfrm>
          <a:prstGeom prst="curvedConnector3">
            <a:avLst/>
          </a:prstGeom>
          <a:ln w="22225">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1" name="Curved Connector 40"/>
          <p:cNvCxnSpPr>
            <a:stCxn id="34" idx="2"/>
          </p:cNvCxnSpPr>
          <p:nvPr/>
        </p:nvCxnSpPr>
        <p:spPr>
          <a:xfrm rot="5400000">
            <a:off x="4359597" y="656343"/>
            <a:ext cx="3407013" cy="5399122"/>
          </a:xfrm>
          <a:prstGeom prst="curvedConnector2">
            <a:avLst/>
          </a:prstGeom>
          <a:ln w="22225">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42" name="Vertical Scroll 41"/>
          <p:cNvSpPr/>
          <p:nvPr/>
        </p:nvSpPr>
        <p:spPr>
          <a:xfrm>
            <a:off x="6508890" y="288519"/>
            <a:ext cx="959381" cy="855488"/>
          </a:xfrm>
          <a:prstGeom prst="verticalScroll">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Vertical Scroll 43"/>
          <p:cNvSpPr/>
          <p:nvPr/>
        </p:nvSpPr>
        <p:spPr>
          <a:xfrm>
            <a:off x="5298082" y="1059077"/>
            <a:ext cx="959381" cy="855488"/>
          </a:xfrm>
          <a:prstGeom prst="verticalScroll">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Vertical Scroll 44"/>
          <p:cNvSpPr/>
          <p:nvPr/>
        </p:nvSpPr>
        <p:spPr>
          <a:xfrm>
            <a:off x="610943" y="2097181"/>
            <a:ext cx="959381" cy="855488"/>
          </a:xfrm>
          <a:prstGeom prst="verticalScroll">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8" name="Curved Connector 47"/>
          <p:cNvCxnSpPr>
            <a:stCxn id="22" idx="1"/>
          </p:cNvCxnSpPr>
          <p:nvPr/>
        </p:nvCxnSpPr>
        <p:spPr>
          <a:xfrm flipH="1" flipV="1">
            <a:off x="1406290" y="2835848"/>
            <a:ext cx="1058576" cy="2392078"/>
          </a:xfrm>
          <a:prstGeom prst="curvedConnector4">
            <a:avLst>
              <a:gd name="adj1" fmla="val -21595"/>
              <a:gd name="adj2" fmla="val 52105"/>
            </a:avLst>
          </a:prstGeom>
          <a:ln w="22225">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0" name="Curved Connector 49"/>
          <p:cNvCxnSpPr>
            <a:stCxn id="21" idx="2"/>
          </p:cNvCxnSpPr>
          <p:nvPr/>
        </p:nvCxnSpPr>
        <p:spPr>
          <a:xfrm rot="5400000" flipH="1">
            <a:off x="3113963" y="923965"/>
            <a:ext cx="863710" cy="4304126"/>
          </a:xfrm>
          <a:prstGeom prst="curvedConnector4">
            <a:avLst>
              <a:gd name="adj1" fmla="val -26467"/>
              <a:gd name="adj2" fmla="val 50928"/>
            </a:avLst>
          </a:prstGeom>
          <a:ln w="22225">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2" name="Curved Connector 51"/>
          <p:cNvCxnSpPr>
            <a:stCxn id="17" idx="2"/>
          </p:cNvCxnSpPr>
          <p:nvPr/>
        </p:nvCxnSpPr>
        <p:spPr>
          <a:xfrm rot="5400000">
            <a:off x="4231701" y="-1481621"/>
            <a:ext cx="1007554" cy="6562600"/>
          </a:xfrm>
          <a:prstGeom prst="curvedConnector2">
            <a:avLst/>
          </a:prstGeom>
          <a:ln w="22225">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4" name="Curved Connector 53"/>
          <p:cNvCxnSpPr>
            <a:stCxn id="33" idx="1"/>
          </p:cNvCxnSpPr>
          <p:nvPr/>
        </p:nvCxnSpPr>
        <p:spPr>
          <a:xfrm flipH="1">
            <a:off x="6175221" y="1036090"/>
            <a:ext cx="2054042" cy="515604"/>
          </a:xfrm>
          <a:prstGeom prst="curvedConnector3">
            <a:avLst>
              <a:gd name="adj1" fmla="val -17936"/>
            </a:avLst>
          </a:prstGeom>
          <a:ln w="22225">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56" name="Curved Connector 55"/>
          <p:cNvCxnSpPr/>
          <p:nvPr/>
        </p:nvCxnSpPr>
        <p:spPr>
          <a:xfrm flipH="1" flipV="1">
            <a:off x="7408939" y="463242"/>
            <a:ext cx="1055891" cy="240687"/>
          </a:xfrm>
          <a:prstGeom prst="curvedConnector3">
            <a:avLst>
              <a:gd name="adj1" fmla="val -34891"/>
            </a:avLst>
          </a:prstGeom>
          <a:ln w="22225">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57" name="Vertical Scroll 56"/>
          <p:cNvSpPr/>
          <p:nvPr/>
        </p:nvSpPr>
        <p:spPr>
          <a:xfrm>
            <a:off x="3738164" y="2473814"/>
            <a:ext cx="835852" cy="768882"/>
          </a:xfrm>
          <a:prstGeom prst="verticalScroll">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9" name="Curved Connector 58"/>
          <p:cNvCxnSpPr>
            <a:stCxn id="20" idx="1"/>
            <a:endCxn id="57" idx="3"/>
          </p:cNvCxnSpPr>
          <p:nvPr/>
        </p:nvCxnSpPr>
        <p:spPr>
          <a:xfrm flipH="1" flipV="1">
            <a:off x="4477906" y="2858255"/>
            <a:ext cx="1145285" cy="195118"/>
          </a:xfrm>
          <a:prstGeom prst="curvedConnector5">
            <a:avLst>
              <a:gd name="adj1" fmla="val -19960"/>
              <a:gd name="adj2" fmla="val 414190"/>
              <a:gd name="adj3" fmla="val 119960"/>
            </a:avLst>
          </a:prstGeom>
          <a:ln w="22225">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60" name="Vertical Scroll 59"/>
          <p:cNvSpPr/>
          <p:nvPr/>
        </p:nvSpPr>
        <p:spPr>
          <a:xfrm>
            <a:off x="1072584" y="4302448"/>
            <a:ext cx="868412" cy="716682"/>
          </a:xfrm>
          <a:prstGeom prst="verticalScroll">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Vertical Scroll 61"/>
          <p:cNvSpPr/>
          <p:nvPr/>
        </p:nvSpPr>
        <p:spPr>
          <a:xfrm>
            <a:off x="585766" y="5356492"/>
            <a:ext cx="868412" cy="716682"/>
          </a:xfrm>
          <a:prstGeom prst="verticalScroll">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4" name="Curved Connector 63"/>
          <p:cNvCxnSpPr/>
          <p:nvPr/>
        </p:nvCxnSpPr>
        <p:spPr>
          <a:xfrm flipH="1" flipV="1">
            <a:off x="1674243" y="4837861"/>
            <a:ext cx="772573" cy="759316"/>
          </a:xfrm>
          <a:prstGeom prst="curvedConnector3">
            <a:avLst>
              <a:gd name="adj1" fmla="val -47686"/>
            </a:avLst>
          </a:prstGeom>
          <a:ln w="22225">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6" name="Curved Connector 65"/>
          <p:cNvCxnSpPr>
            <a:stCxn id="23" idx="2"/>
            <a:endCxn id="62" idx="3"/>
          </p:cNvCxnSpPr>
          <p:nvPr/>
        </p:nvCxnSpPr>
        <p:spPr>
          <a:xfrm rot="5400000" flipH="1">
            <a:off x="1761826" y="5317600"/>
            <a:ext cx="358341" cy="1152808"/>
          </a:xfrm>
          <a:prstGeom prst="curvedConnector4">
            <a:avLst>
              <a:gd name="adj1" fmla="val -63794"/>
              <a:gd name="adj2" fmla="val 187389"/>
            </a:avLst>
          </a:prstGeom>
          <a:ln w="22225">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67" name="Rectangle 66"/>
          <p:cNvSpPr/>
          <p:nvPr/>
        </p:nvSpPr>
        <p:spPr>
          <a:xfrm>
            <a:off x="255118" y="158301"/>
            <a:ext cx="6096000" cy="1200329"/>
          </a:xfrm>
          <a:prstGeom prst="rect">
            <a:avLst/>
          </a:prstGeom>
        </p:spPr>
        <p:txBody>
          <a:bodyPr>
            <a:spAutoFit/>
          </a:bodyPr>
          <a:lstStyle/>
          <a:p>
            <a:r>
              <a:rPr lang="en-GB" sz="2400" dirty="0"/>
              <a:t>Transitive closure of related work of papers in a top conference – find </a:t>
            </a:r>
            <a:r>
              <a:rPr lang="en-GB" sz="2400" dirty="0">
                <a:solidFill>
                  <a:srgbClr val="FF0000"/>
                </a:solidFill>
              </a:rPr>
              <a:t>“related works” section </a:t>
            </a:r>
            <a:r>
              <a:rPr lang="en-GB" sz="2400" dirty="0"/>
              <a:t>in your papers</a:t>
            </a:r>
          </a:p>
        </p:txBody>
      </p:sp>
      <p:sp>
        <p:nvSpPr>
          <p:cNvPr id="69" name="Vertical Scroll 68"/>
          <p:cNvSpPr/>
          <p:nvPr/>
        </p:nvSpPr>
        <p:spPr>
          <a:xfrm>
            <a:off x="913754" y="2698584"/>
            <a:ext cx="106218" cy="96982"/>
          </a:xfrm>
          <a:prstGeom prst="verticalScroll">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1" name="Vertical Scroll 70"/>
          <p:cNvSpPr/>
          <p:nvPr/>
        </p:nvSpPr>
        <p:spPr>
          <a:xfrm>
            <a:off x="1364592" y="4612298"/>
            <a:ext cx="106218" cy="96982"/>
          </a:xfrm>
          <a:prstGeom prst="verticalScroll">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Vertical Scroll 71"/>
          <p:cNvSpPr/>
          <p:nvPr/>
        </p:nvSpPr>
        <p:spPr>
          <a:xfrm>
            <a:off x="820247" y="5548685"/>
            <a:ext cx="106218" cy="96982"/>
          </a:xfrm>
          <a:prstGeom prst="verticalScroll">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Vertical Scroll 73"/>
          <p:cNvSpPr/>
          <p:nvPr/>
        </p:nvSpPr>
        <p:spPr>
          <a:xfrm>
            <a:off x="5612811" y="1677673"/>
            <a:ext cx="106218" cy="96982"/>
          </a:xfrm>
          <a:prstGeom prst="verticalScroll">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5" name="Vertical Scroll 74"/>
          <p:cNvSpPr/>
          <p:nvPr/>
        </p:nvSpPr>
        <p:spPr>
          <a:xfrm>
            <a:off x="5771641" y="1526280"/>
            <a:ext cx="106218" cy="96982"/>
          </a:xfrm>
          <a:prstGeom prst="verticalScroll">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Vertical Scroll 75"/>
          <p:cNvSpPr/>
          <p:nvPr/>
        </p:nvSpPr>
        <p:spPr>
          <a:xfrm>
            <a:off x="5924041" y="1678680"/>
            <a:ext cx="106218" cy="96982"/>
          </a:xfrm>
          <a:prstGeom prst="verticalScroll">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Vertical Scroll 77"/>
          <p:cNvSpPr/>
          <p:nvPr/>
        </p:nvSpPr>
        <p:spPr>
          <a:xfrm>
            <a:off x="6990841" y="653239"/>
            <a:ext cx="106218" cy="96982"/>
          </a:xfrm>
          <a:prstGeom prst="verticalScroll">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Vertical Scroll 78"/>
          <p:cNvSpPr/>
          <p:nvPr/>
        </p:nvSpPr>
        <p:spPr>
          <a:xfrm>
            <a:off x="3997260" y="2983635"/>
            <a:ext cx="106218" cy="96982"/>
          </a:xfrm>
          <a:prstGeom prst="verticalScroll">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Vertical Scroll 79"/>
          <p:cNvSpPr/>
          <p:nvPr/>
        </p:nvSpPr>
        <p:spPr>
          <a:xfrm>
            <a:off x="4156090" y="2832242"/>
            <a:ext cx="106218" cy="96982"/>
          </a:xfrm>
          <a:prstGeom prst="verticalScroll">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Oval 80"/>
          <p:cNvSpPr/>
          <p:nvPr/>
        </p:nvSpPr>
        <p:spPr>
          <a:xfrm>
            <a:off x="7550282" y="158301"/>
            <a:ext cx="1874569" cy="1837234"/>
          </a:xfrm>
          <a:prstGeom prst="ellipse">
            <a:avLst/>
          </a:prstGeom>
          <a:solidFill>
            <a:srgbClr val="E34DDC">
              <a:alpha val="18000"/>
            </a:srgbClr>
          </a:solidFill>
          <a:ln>
            <a:solidFill>
              <a:srgbClr val="E34D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Oval 81"/>
          <p:cNvSpPr/>
          <p:nvPr/>
        </p:nvSpPr>
        <p:spPr>
          <a:xfrm>
            <a:off x="4940574" y="2193748"/>
            <a:ext cx="1874569" cy="1837234"/>
          </a:xfrm>
          <a:prstGeom prst="ellipse">
            <a:avLst/>
          </a:prstGeom>
          <a:solidFill>
            <a:srgbClr val="E34DDC">
              <a:alpha val="18000"/>
            </a:srgbClr>
          </a:solidFill>
          <a:ln>
            <a:solidFill>
              <a:srgbClr val="E34D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Oval 83"/>
          <p:cNvSpPr/>
          <p:nvPr/>
        </p:nvSpPr>
        <p:spPr>
          <a:xfrm>
            <a:off x="1844299" y="4529180"/>
            <a:ext cx="1874569" cy="1837234"/>
          </a:xfrm>
          <a:prstGeom prst="ellipse">
            <a:avLst/>
          </a:prstGeom>
          <a:solidFill>
            <a:srgbClr val="E34DDC">
              <a:alpha val="18000"/>
            </a:srgbClr>
          </a:solidFill>
          <a:ln>
            <a:solidFill>
              <a:srgbClr val="E34D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Flowchart: Magnetic Disk 84"/>
          <p:cNvSpPr/>
          <p:nvPr/>
        </p:nvSpPr>
        <p:spPr>
          <a:xfrm>
            <a:off x="9121372" y="4035496"/>
            <a:ext cx="2987897" cy="2267842"/>
          </a:xfrm>
          <a:prstGeom prst="flowChartMagneticDisk">
            <a:avLst/>
          </a:prstGeom>
          <a:solidFill>
            <a:srgbClr val="DFFCF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7" name="Vertical Scroll 86"/>
          <p:cNvSpPr/>
          <p:nvPr/>
        </p:nvSpPr>
        <p:spPr>
          <a:xfrm>
            <a:off x="9223001" y="4697779"/>
            <a:ext cx="220886" cy="361631"/>
          </a:xfrm>
          <a:prstGeom prst="vertic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8" name="Vertical Scroll 87"/>
          <p:cNvSpPr/>
          <p:nvPr/>
        </p:nvSpPr>
        <p:spPr>
          <a:xfrm>
            <a:off x="10193760" y="4974899"/>
            <a:ext cx="271230" cy="340717"/>
          </a:xfrm>
          <a:prstGeom prst="verticalScroll">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9" name="Vertical Scroll 88"/>
          <p:cNvSpPr/>
          <p:nvPr/>
        </p:nvSpPr>
        <p:spPr>
          <a:xfrm>
            <a:off x="9880325" y="4974900"/>
            <a:ext cx="271230" cy="340717"/>
          </a:xfrm>
          <a:prstGeom prst="verticalScroll">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Vertical Scroll 89"/>
          <p:cNvSpPr/>
          <p:nvPr/>
        </p:nvSpPr>
        <p:spPr>
          <a:xfrm>
            <a:off x="9534736" y="4956863"/>
            <a:ext cx="271230" cy="340717"/>
          </a:xfrm>
          <a:prstGeom prst="verticalScroll">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1" name="Vertical Scroll 90"/>
          <p:cNvSpPr/>
          <p:nvPr/>
        </p:nvSpPr>
        <p:spPr>
          <a:xfrm>
            <a:off x="10823181" y="4970503"/>
            <a:ext cx="219189" cy="351215"/>
          </a:xfrm>
          <a:prstGeom prst="verticalScroll">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Vertical Scroll 91"/>
          <p:cNvSpPr/>
          <p:nvPr/>
        </p:nvSpPr>
        <p:spPr>
          <a:xfrm>
            <a:off x="11169163" y="4970503"/>
            <a:ext cx="219189" cy="351215"/>
          </a:xfrm>
          <a:prstGeom prst="verticalScroll">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3" name="Vertical Scroll 92"/>
          <p:cNvSpPr/>
          <p:nvPr/>
        </p:nvSpPr>
        <p:spPr>
          <a:xfrm>
            <a:off x="11456184" y="4964401"/>
            <a:ext cx="219189" cy="351215"/>
          </a:xfrm>
          <a:prstGeom prst="verticalScroll">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Vertical Scroll 93"/>
          <p:cNvSpPr/>
          <p:nvPr/>
        </p:nvSpPr>
        <p:spPr>
          <a:xfrm>
            <a:off x="9338977" y="5570790"/>
            <a:ext cx="231637" cy="323214"/>
          </a:xfrm>
          <a:prstGeom prst="verticalScroll">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5" name="Vertical Scroll 94"/>
          <p:cNvSpPr/>
          <p:nvPr/>
        </p:nvSpPr>
        <p:spPr>
          <a:xfrm>
            <a:off x="9805966" y="5548685"/>
            <a:ext cx="258965" cy="345319"/>
          </a:xfrm>
          <a:prstGeom prst="verticalScroll">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6" name="Vertical Scroll 95"/>
          <p:cNvSpPr/>
          <p:nvPr/>
        </p:nvSpPr>
        <p:spPr>
          <a:xfrm>
            <a:off x="10225577" y="5542173"/>
            <a:ext cx="258965" cy="345319"/>
          </a:xfrm>
          <a:prstGeom prst="verticalScroll">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28077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81"/>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4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56"/>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2"/>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54"/>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44"/>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4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91"/>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92"/>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93"/>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8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37"/>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50"/>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59"/>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57"/>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94"/>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84"/>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64"/>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60"/>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66"/>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62"/>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95"/>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96"/>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48"/>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78"/>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75"/>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76"/>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74"/>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80"/>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79"/>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69"/>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71"/>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2" grpId="0" animBg="1"/>
      <p:bldP spid="13" grpId="0" animBg="1"/>
      <p:bldP spid="14" grpId="0" animBg="1"/>
      <p:bldP spid="17" grpId="0" animBg="1"/>
      <p:bldP spid="18" grpId="0" animBg="1"/>
      <p:bldP spid="20" grpId="0" animBg="1"/>
      <p:bldP spid="21" grpId="0" animBg="1"/>
      <p:bldP spid="22" grpId="0" animBg="1"/>
      <p:bldP spid="23" grpId="0" animBg="1"/>
      <p:bldP spid="24" grpId="0" animBg="1"/>
      <p:bldP spid="32" grpId="0" animBg="1"/>
      <p:bldP spid="33" grpId="0" animBg="1"/>
      <p:bldP spid="34" grpId="0" animBg="1"/>
      <p:bldP spid="35" grpId="0" animBg="1"/>
      <p:bldP spid="42" grpId="0" animBg="1"/>
      <p:bldP spid="44" grpId="0" animBg="1"/>
      <p:bldP spid="45" grpId="0" animBg="1"/>
      <p:bldP spid="57" grpId="0" animBg="1"/>
      <p:bldP spid="60" grpId="0" animBg="1"/>
      <p:bldP spid="62" grpId="0" animBg="1"/>
      <p:bldP spid="69" grpId="0" animBg="1"/>
      <p:bldP spid="71" grpId="0" animBg="1"/>
      <p:bldP spid="72" grpId="0" animBg="1"/>
      <p:bldP spid="74" grpId="0" animBg="1"/>
      <p:bldP spid="75" grpId="0" animBg="1"/>
      <p:bldP spid="76" grpId="0" animBg="1"/>
      <p:bldP spid="78" grpId="0" animBg="1"/>
      <p:bldP spid="79" grpId="0" animBg="1"/>
      <p:bldP spid="80" grpId="0" animBg="1"/>
      <p:bldP spid="81" grpId="0" animBg="1"/>
      <p:bldP spid="82" grpId="0" animBg="1"/>
      <p:bldP spid="84"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Decision-making flowchart to decide whether to read the chosen article or not</a:t>
            </a:r>
          </a:p>
        </p:txBody>
      </p:sp>
      <p:sp>
        <p:nvSpPr>
          <p:cNvPr id="3" name="Content Placeholder 2"/>
          <p:cNvSpPr>
            <a:spLocks noGrp="1"/>
          </p:cNvSpPr>
          <p:nvPr>
            <p:ph idx="1"/>
          </p:nvPr>
        </p:nvSpPr>
        <p:spPr/>
        <p:txBody>
          <a:bodyPr/>
          <a:lstStyle/>
          <a:p>
            <a:endParaRPr lang="en-GB"/>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045" y="1977843"/>
            <a:ext cx="6732571" cy="4735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6303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357E194-F18D-448F-8E11-3BC3F3019FE9}"/>
              </a:ext>
            </a:extLst>
          </p:cNvPr>
          <p:cNvSpPr>
            <a:spLocks noGrp="1"/>
          </p:cNvSpPr>
          <p:nvPr>
            <p:ph type="title"/>
          </p:nvPr>
        </p:nvSpPr>
        <p:spPr/>
        <p:txBody>
          <a:bodyPr/>
          <a:lstStyle/>
          <a:p>
            <a:r>
              <a:rPr lang="en-US" dirty="0"/>
              <a:t>How to read papers?</a:t>
            </a:r>
          </a:p>
        </p:txBody>
      </p:sp>
      <p:sp>
        <p:nvSpPr>
          <p:cNvPr id="6" name="Content Placeholder 5">
            <a:extLst>
              <a:ext uri="{FF2B5EF4-FFF2-40B4-BE49-F238E27FC236}">
                <a16:creationId xmlns:a16="http://schemas.microsoft.com/office/drawing/2014/main" id="{F4C0723C-3294-45AB-85C9-185454930C98}"/>
              </a:ext>
            </a:extLst>
          </p:cNvPr>
          <p:cNvSpPr>
            <a:spLocks noGrp="1"/>
          </p:cNvSpPr>
          <p:nvPr>
            <p:ph idx="1"/>
          </p:nvPr>
        </p:nvSpPr>
        <p:spPr/>
        <p:txBody>
          <a:bodyPr>
            <a:normAutofit/>
          </a:bodyPr>
          <a:lstStyle/>
          <a:p>
            <a:r>
              <a:rPr lang="en-US" sz="4000" dirty="0"/>
              <a:t>Do we read all the sections for all the papers that we collect?</a:t>
            </a:r>
          </a:p>
          <a:p>
            <a:r>
              <a:rPr lang="en-US" sz="4000" dirty="0"/>
              <a:t>Do we read the sections of the paper in the same order that they are printed?</a:t>
            </a:r>
          </a:p>
        </p:txBody>
      </p:sp>
    </p:spTree>
    <p:extLst>
      <p:ext uri="{BB962C8B-B14F-4D97-AF65-F5344CB8AC3E}">
        <p14:creationId xmlns:p14="http://schemas.microsoft.com/office/powerpoint/2010/main" val="670266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52A4-5BE6-4AC2-B718-EFCEF5697888}"/>
              </a:ext>
            </a:extLst>
          </p:cNvPr>
          <p:cNvSpPr>
            <a:spLocks noGrp="1"/>
          </p:cNvSpPr>
          <p:nvPr>
            <p:ph type="title"/>
          </p:nvPr>
        </p:nvSpPr>
        <p:spPr/>
        <p:txBody>
          <a:bodyPr/>
          <a:lstStyle/>
          <a:p>
            <a:r>
              <a:rPr lang="en-GB" dirty="0"/>
              <a:t>Exercise 2</a:t>
            </a:r>
          </a:p>
        </p:txBody>
      </p:sp>
      <p:pic>
        <p:nvPicPr>
          <p:cNvPr id="6" name="Picture 5">
            <a:extLst>
              <a:ext uri="{FF2B5EF4-FFF2-40B4-BE49-F238E27FC236}">
                <a16:creationId xmlns:a16="http://schemas.microsoft.com/office/drawing/2014/main" id="{A3B93DD6-033B-40A2-9B64-10D74D640858}"/>
              </a:ext>
            </a:extLst>
          </p:cNvPr>
          <p:cNvPicPr>
            <a:picLocks noChangeAspect="1"/>
          </p:cNvPicPr>
          <p:nvPr/>
        </p:nvPicPr>
        <p:blipFill>
          <a:blip r:embed="rId2"/>
          <a:stretch>
            <a:fillRect/>
          </a:stretch>
        </p:blipFill>
        <p:spPr>
          <a:xfrm>
            <a:off x="2772294" y="1906718"/>
            <a:ext cx="5870171" cy="3105806"/>
          </a:xfrm>
          <a:prstGeom prst="rect">
            <a:avLst/>
          </a:prstGeom>
        </p:spPr>
      </p:pic>
    </p:spTree>
    <p:extLst>
      <p:ext uri="{BB962C8B-B14F-4D97-AF65-F5344CB8AC3E}">
        <p14:creationId xmlns:p14="http://schemas.microsoft.com/office/powerpoint/2010/main" val="2564347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A8568-592F-450A-A4FC-C0AF22D70E71}"/>
              </a:ext>
            </a:extLst>
          </p:cNvPr>
          <p:cNvSpPr>
            <a:spLocks noGrp="1"/>
          </p:cNvSpPr>
          <p:nvPr>
            <p:ph type="title"/>
          </p:nvPr>
        </p:nvSpPr>
        <p:spPr/>
        <p:txBody>
          <a:bodyPr/>
          <a:lstStyle/>
          <a:p>
            <a:r>
              <a:rPr lang="en-US" dirty="0"/>
              <a:t>Paper sections reading statistics </a:t>
            </a:r>
          </a:p>
        </p:txBody>
      </p:sp>
      <p:pic>
        <p:nvPicPr>
          <p:cNvPr id="5" name="Content Placeholder 4" descr="A close up of a map&#10;&#10;Description automatically generated">
            <a:extLst>
              <a:ext uri="{FF2B5EF4-FFF2-40B4-BE49-F238E27FC236}">
                <a16:creationId xmlns:a16="http://schemas.microsoft.com/office/drawing/2014/main" id="{09E51E54-EA95-4C2E-BC25-1E94A84B41F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18002" y="1690688"/>
            <a:ext cx="11486430" cy="4301550"/>
          </a:xfrm>
        </p:spPr>
      </p:pic>
      <p:sp>
        <p:nvSpPr>
          <p:cNvPr id="6" name="Rectangle 5">
            <a:extLst>
              <a:ext uri="{FF2B5EF4-FFF2-40B4-BE49-F238E27FC236}">
                <a16:creationId xmlns:a16="http://schemas.microsoft.com/office/drawing/2014/main" id="{BE3BA601-E3A2-4FD3-81F3-FBC2FB4F8F56}"/>
              </a:ext>
            </a:extLst>
          </p:cNvPr>
          <p:cNvSpPr/>
          <p:nvPr/>
        </p:nvSpPr>
        <p:spPr>
          <a:xfrm>
            <a:off x="353438" y="6183476"/>
            <a:ext cx="11640766" cy="646331"/>
          </a:xfrm>
          <a:prstGeom prst="rect">
            <a:avLst/>
          </a:prstGeom>
        </p:spPr>
        <p:txBody>
          <a:bodyPr wrap="square">
            <a:spAutoFit/>
          </a:bodyPr>
          <a:lstStyle/>
          <a:p>
            <a:r>
              <a:rPr lang="en-GB" dirty="0">
                <a:latin typeface="medium-content-serif-font"/>
              </a:rPr>
              <a:t>[1] Hubbard, K. E., &amp; Dunbar, S. D. (2017). Perceptions of scientific research literature and strategies for reading papers depend on academic career stage. </a:t>
            </a:r>
            <a:endParaRPr lang="en-US" dirty="0"/>
          </a:p>
        </p:txBody>
      </p:sp>
      <p:sp>
        <p:nvSpPr>
          <p:cNvPr id="3" name="Rectangle 2"/>
          <p:cNvSpPr/>
          <p:nvPr/>
        </p:nvSpPr>
        <p:spPr>
          <a:xfrm>
            <a:off x="5957699" y="1438065"/>
            <a:ext cx="6090629" cy="46646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397921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A8568-592F-450A-A4FC-C0AF22D70E71}"/>
              </a:ext>
            </a:extLst>
          </p:cNvPr>
          <p:cNvSpPr>
            <a:spLocks noGrp="1"/>
          </p:cNvSpPr>
          <p:nvPr>
            <p:ph type="title"/>
          </p:nvPr>
        </p:nvSpPr>
        <p:spPr/>
        <p:txBody>
          <a:bodyPr/>
          <a:lstStyle/>
          <a:p>
            <a:r>
              <a:rPr lang="en-US" dirty="0"/>
              <a:t>Paper sections reading statistics </a:t>
            </a:r>
          </a:p>
        </p:txBody>
      </p:sp>
      <p:pic>
        <p:nvPicPr>
          <p:cNvPr id="5" name="Content Placeholder 4" descr="A close up of a map&#10;&#10;Description automatically generated">
            <a:extLst>
              <a:ext uri="{FF2B5EF4-FFF2-40B4-BE49-F238E27FC236}">
                <a16:creationId xmlns:a16="http://schemas.microsoft.com/office/drawing/2014/main" id="{09E51E54-EA95-4C2E-BC25-1E94A84B41F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18002" y="1690688"/>
            <a:ext cx="11486430" cy="4301550"/>
          </a:xfrm>
        </p:spPr>
      </p:pic>
      <p:sp>
        <p:nvSpPr>
          <p:cNvPr id="6" name="Rectangle 5">
            <a:extLst>
              <a:ext uri="{FF2B5EF4-FFF2-40B4-BE49-F238E27FC236}">
                <a16:creationId xmlns:a16="http://schemas.microsoft.com/office/drawing/2014/main" id="{BE3BA601-E3A2-4FD3-81F3-FBC2FB4F8F56}"/>
              </a:ext>
            </a:extLst>
          </p:cNvPr>
          <p:cNvSpPr/>
          <p:nvPr/>
        </p:nvSpPr>
        <p:spPr>
          <a:xfrm>
            <a:off x="353438" y="6183476"/>
            <a:ext cx="11640766" cy="646331"/>
          </a:xfrm>
          <a:prstGeom prst="rect">
            <a:avLst/>
          </a:prstGeom>
        </p:spPr>
        <p:txBody>
          <a:bodyPr wrap="square">
            <a:spAutoFit/>
          </a:bodyPr>
          <a:lstStyle/>
          <a:p>
            <a:r>
              <a:rPr lang="en-GB" dirty="0">
                <a:latin typeface="medium-content-serif-font"/>
              </a:rPr>
              <a:t>[1] Hubbard, K. E., &amp; Dunbar, S. D. (2017). Perceptions of scientific research literature and strategies for reading papers depend on academic career stage. </a:t>
            </a:r>
            <a:endParaRPr lang="en-US" dirty="0"/>
          </a:p>
        </p:txBody>
      </p:sp>
      <p:sp>
        <p:nvSpPr>
          <p:cNvPr id="7" name="Rectangle 6"/>
          <p:cNvSpPr/>
          <p:nvPr/>
        </p:nvSpPr>
        <p:spPr>
          <a:xfrm>
            <a:off x="112789" y="1389727"/>
            <a:ext cx="6090629" cy="46646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18113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A8568-592F-450A-A4FC-C0AF22D70E71}"/>
              </a:ext>
            </a:extLst>
          </p:cNvPr>
          <p:cNvSpPr>
            <a:spLocks noGrp="1"/>
          </p:cNvSpPr>
          <p:nvPr>
            <p:ph type="title"/>
          </p:nvPr>
        </p:nvSpPr>
        <p:spPr/>
        <p:txBody>
          <a:bodyPr/>
          <a:lstStyle/>
          <a:p>
            <a:r>
              <a:rPr lang="en-US" dirty="0"/>
              <a:t>Paper sections reading statistics </a:t>
            </a:r>
          </a:p>
        </p:txBody>
      </p:sp>
      <p:pic>
        <p:nvPicPr>
          <p:cNvPr id="5" name="Content Placeholder 4" descr="A close up of a map&#10;&#10;Description automatically generated">
            <a:extLst>
              <a:ext uri="{FF2B5EF4-FFF2-40B4-BE49-F238E27FC236}">
                <a16:creationId xmlns:a16="http://schemas.microsoft.com/office/drawing/2014/main" id="{09E51E54-EA95-4C2E-BC25-1E94A84B41F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18002" y="1690688"/>
            <a:ext cx="11486430" cy="4301550"/>
          </a:xfrm>
        </p:spPr>
      </p:pic>
      <p:sp>
        <p:nvSpPr>
          <p:cNvPr id="6" name="Rectangle 5">
            <a:extLst>
              <a:ext uri="{FF2B5EF4-FFF2-40B4-BE49-F238E27FC236}">
                <a16:creationId xmlns:a16="http://schemas.microsoft.com/office/drawing/2014/main" id="{BE3BA601-E3A2-4FD3-81F3-FBC2FB4F8F56}"/>
              </a:ext>
            </a:extLst>
          </p:cNvPr>
          <p:cNvSpPr/>
          <p:nvPr/>
        </p:nvSpPr>
        <p:spPr>
          <a:xfrm>
            <a:off x="353438" y="6183476"/>
            <a:ext cx="11640766" cy="646331"/>
          </a:xfrm>
          <a:prstGeom prst="rect">
            <a:avLst/>
          </a:prstGeom>
        </p:spPr>
        <p:txBody>
          <a:bodyPr wrap="square">
            <a:spAutoFit/>
          </a:bodyPr>
          <a:lstStyle/>
          <a:p>
            <a:r>
              <a:rPr lang="en-GB" dirty="0">
                <a:latin typeface="medium-content-serif-font"/>
              </a:rPr>
              <a:t>[1] Hubbard, K. E., &amp; Dunbar, S. D. (2017). Perceptions of scientific research literature and strategies for reading papers depend on academic career stage. </a:t>
            </a:r>
            <a:endParaRPr lang="en-US" dirty="0"/>
          </a:p>
        </p:txBody>
      </p:sp>
    </p:spTree>
    <p:extLst>
      <p:ext uri="{BB962C8B-B14F-4D97-AF65-F5344CB8AC3E}">
        <p14:creationId xmlns:p14="http://schemas.microsoft.com/office/powerpoint/2010/main" val="1490437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2BD54-FA15-418E-BA1A-2F5941E5CCBE}"/>
              </a:ext>
            </a:extLst>
          </p:cNvPr>
          <p:cNvSpPr>
            <a:spLocks noGrp="1"/>
          </p:cNvSpPr>
          <p:nvPr>
            <p:ph type="title"/>
          </p:nvPr>
        </p:nvSpPr>
        <p:spPr/>
        <p:txBody>
          <a:bodyPr/>
          <a:lstStyle/>
          <a:p>
            <a:r>
              <a:rPr lang="en-GB" dirty="0"/>
              <a:t>Deciding How to Read</a:t>
            </a:r>
            <a:endParaRPr lang="en-US" dirty="0"/>
          </a:p>
        </p:txBody>
      </p:sp>
      <p:sp>
        <p:nvSpPr>
          <p:cNvPr id="3" name="Content Placeholder 2">
            <a:extLst>
              <a:ext uri="{FF2B5EF4-FFF2-40B4-BE49-F238E27FC236}">
                <a16:creationId xmlns:a16="http://schemas.microsoft.com/office/drawing/2014/main" id="{95269014-45BD-4136-88F4-4CAD634B23F3}"/>
              </a:ext>
            </a:extLst>
          </p:cNvPr>
          <p:cNvSpPr>
            <a:spLocks noGrp="1"/>
          </p:cNvSpPr>
          <p:nvPr>
            <p:ph idx="1"/>
          </p:nvPr>
        </p:nvSpPr>
        <p:spPr/>
        <p:txBody>
          <a:bodyPr>
            <a:normAutofit/>
          </a:bodyPr>
          <a:lstStyle/>
          <a:p>
            <a:r>
              <a:rPr lang="en-GB" sz="3600" dirty="0"/>
              <a:t>Always “top down” </a:t>
            </a:r>
          </a:p>
          <a:p>
            <a:pPr lvl="1"/>
            <a:r>
              <a:rPr lang="en-GB" sz="3200" dirty="0"/>
              <a:t>First: Abstract, introduction, conclusion </a:t>
            </a:r>
          </a:p>
          <a:p>
            <a:pPr lvl="1"/>
            <a:r>
              <a:rPr lang="en-GB" sz="3200" dirty="0"/>
              <a:t>Rest of the paper if necessary </a:t>
            </a:r>
          </a:p>
          <a:p>
            <a:pPr lvl="2"/>
            <a:r>
              <a:rPr lang="en-GB" sz="2800" dirty="0"/>
              <a:t>If you want to do follow-up research </a:t>
            </a:r>
          </a:p>
          <a:p>
            <a:pPr lvl="2"/>
            <a:r>
              <a:rPr lang="en-GB" sz="2800" dirty="0"/>
              <a:t>If you want to better understand the methods/conclusions</a:t>
            </a:r>
          </a:p>
          <a:p>
            <a:pPr lvl="2"/>
            <a:r>
              <a:rPr lang="en-GB" sz="2800" dirty="0"/>
              <a:t>… </a:t>
            </a:r>
          </a:p>
        </p:txBody>
      </p:sp>
    </p:spTree>
    <p:extLst>
      <p:ext uri="{BB962C8B-B14F-4D97-AF65-F5344CB8AC3E}">
        <p14:creationId xmlns:p14="http://schemas.microsoft.com/office/powerpoint/2010/main" val="142134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lstStyle/>
          <a:p>
            <a:pPr eaLnBrk="1" hangingPunct="1"/>
            <a:r>
              <a:rPr lang="en-US" dirty="0"/>
              <a:t>Quick reading of the paper</a:t>
            </a:r>
          </a:p>
        </p:txBody>
      </p:sp>
      <p:sp>
        <p:nvSpPr>
          <p:cNvPr id="14341" name="Rectangle 3"/>
          <p:cNvSpPr>
            <a:spLocks noGrp="1" noChangeArrowheads="1"/>
          </p:cNvSpPr>
          <p:nvPr>
            <p:ph type="body" idx="1"/>
          </p:nvPr>
        </p:nvSpPr>
        <p:spPr>
          <a:xfrm>
            <a:off x="838200" y="1828800"/>
            <a:ext cx="10515600" cy="4572000"/>
          </a:xfrm>
        </p:spPr>
        <p:txBody>
          <a:bodyPr>
            <a:normAutofit/>
          </a:bodyPr>
          <a:lstStyle/>
          <a:p>
            <a:pPr>
              <a:buClr>
                <a:schemeClr val="tx1"/>
              </a:buClr>
              <a:buSzTx/>
            </a:pPr>
            <a:r>
              <a:rPr lang="en-US" sz="4000" dirty="0"/>
              <a:t>Read abstracts, headings and subheadings.</a:t>
            </a:r>
          </a:p>
          <a:p>
            <a:pPr>
              <a:buClr>
                <a:schemeClr val="tx1"/>
              </a:buClr>
              <a:buSzTx/>
            </a:pPr>
            <a:r>
              <a:rPr lang="en-US" sz="4000" dirty="0"/>
              <a:t>Make note of charts, statistics, graphs.</a:t>
            </a:r>
          </a:p>
          <a:p>
            <a:pPr>
              <a:buClr>
                <a:schemeClr val="tx1"/>
              </a:buClr>
              <a:buSzTx/>
            </a:pPr>
            <a:r>
              <a:rPr lang="en-US" sz="4000" dirty="0"/>
              <a:t>Read the reference lists.</a:t>
            </a:r>
          </a:p>
          <a:p>
            <a:pPr>
              <a:buClr>
                <a:schemeClr val="tx1"/>
              </a:buClr>
              <a:buSzTx/>
            </a:pPr>
            <a:r>
              <a:rPr lang="en-US" sz="4000" dirty="0"/>
              <a:t>Read introductory and summary paragraphs.</a:t>
            </a:r>
          </a:p>
          <a:p>
            <a:pPr>
              <a:buClr>
                <a:schemeClr val="tx1"/>
              </a:buClr>
              <a:buSzTx/>
            </a:pPr>
            <a:r>
              <a:rPr lang="en-US" sz="4000" dirty="0"/>
              <a:t>Skim body.</a:t>
            </a:r>
          </a:p>
        </p:txBody>
      </p:sp>
      <p:pic>
        <p:nvPicPr>
          <p:cNvPr id="14342" name="Picture 4" descr="MCj04123960000[1]"/>
          <p:cNvPicPr>
            <a:picLocks noChangeAspect="1" noChangeArrowheads="1"/>
          </p:cNvPicPr>
          <p:nvPr/>
        </p:nvPicPr>
        <p:blipFill>
          <a:blip r:embed="rId2" cstate="print"/>
          <a:srcRect/>
          <a:stretch>
            <a:fillRect/>
          </a:stretch>
        </p:blipFill>
        <p:spPr bwMode="auto">
          <a:xfrm>
            <a:off x="9186333" y="4767871"/>
            <a:ext cx="2133600" cy="1828186"/>
          </a:xfrm>
          <a:prstGeom prst="rect">
            <a:avLst/>
          </a:prstGeom>
          <a:noFill/>
          <a:ln w="9525">
            <a:noFill/>
            <a:miter lim="800000"/>
            <a:headEnd/>
            <a:tailEnd/>
          </a:ln>
        </p:spPr>
      </p:pic>
    </p:spTree>
    <p:extLst>
      <p:ext uri="{BB962C8B-B14F-4D97-AF65-F5344CB8AC3E}">
        <p14:creationId xmlns:p14="http://schemas.microsoft.com/office/powerpoint/2010/main" val="281256649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576263"/>
            <a:ext cx="11430000" cy="570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145737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1919" y="52367"/>
            <a:ext cx="4287548" cy="6805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03937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r>
              <a:rPr lang="en-US" dirty="0"/>
              <a:t>Reading Tip - take notes </a:t>
            </a:r>
            <a:r>
              <a:rPr lang="en-US" dirty="0">
                <a:solidFill>
                  <a:srgbClr val="FF0000"/>
                </a:solidFill>
              </a:rPr>
              <a:t>while</a:t>
            </a:r>
            <a:r>
              <a:rPr lang="en-US" dirty="0"/>
              <a:t> you read: </a:t>
            </a:r>
          </a:p>
        </p:txBody>
      </p:sp>
      <p:sp>
        <p:nvSpPr>
          <p:cNvPr id="16389" name="Rectangle 3"/>
          <p:cNvSpPr>
            <a:spLocks noGrp="1" noChangeArrowheads="1"/>
          </p:cNvSpPr>
          <p:nvPr>
            <p:ph idx="1"/>
          </p:nvPr>
        </p:nvSpPr>
        <p:spPr/>
        <p:txBody>
          <a:bodyPr>
            <a:normAutofit fontScale="92500" lnSpcReduction="20000"/>
          </a:bodyPr>
          <a:lstStyle/>
          <a:p>
            <a:pPr>
              <a:buClr>
                <a:schemeClr val="tx1"/>
              </a:buClr>
            </a:pPr>
            <a:r>
              <a:rPr lang="en-US" sz="4000" dirty="0"/>
              <a:t>Underlining, marking, highlighting</a:t>
            </a:r>
          </a:p>
          <a:p>
            <a:pPr lvl="1">
              <a:buClr>
                <a:schemeClr val="tx1"/>
              </a:buClr>
            </a:pPr>
            <a:r>
              <a:rPr lang="en-GB" sz="3600" dirty="0"/>
              <a:t>mark major points, definitions, and theorems for quick reference later </a:t>
            </a:r>
            <a:endParaRPr lang="en-US" sz="3600" dirty="0"/>
          </a:p>
          <a:p>
            <a:pPr>
              <a:buClr>
                <a:schemeClr val="tx1"/>
              </a:buClr>
            </a:pPr>
            <a:r>
              <a:rPr lang="en-US" sz="4000" dirty="0"/>
              <a:t>Notes in the margins</a:t>
            </a:r>
          </a:p>
          <a:p>
            <a:pPr lvl="1">
              <a:buClr>
                <a:schemeClr val="tx1"/>
              </a:buClr>
            </a:pPr>
            <a:r>
              <a:rPr lang="en-GB" sz="3600" dirty="0"/>
              <a:t>write down questions as they pop into your head</a:t>
            </a:r>
          </a:p>
          <a:p>
            <a:pPr lvl="1">
              <a:buClr>
                <a:schemeClr val="tx1"/>
              </a:buClr>
            </a:pPr>
            <a:r>
              <a:rPr lang="en-GB" sz="3600" dirty="0"/>
              <a:t>answer previous questions as you find answers</a:t>
            </a:r>
          </a:p>
          <a:p>
            <a:pPr lvl="1">
              <a:buClr>
                <a:schemeClr val="tx1"/>
              </a:buClr>
            </a:pPr>
            <a:r>
              <a:rPr lang="en-GB" sz="3600" dirty="0"/>
              <a:t>summarize tables, graphs, etc.</a:t>
            </a:r>
          </a:p>
          <a:p>
            <a:pPr lvl="1">
              <a:buClr>
                <a:schemeClr val="tx1"/>
              </a:buClr>
            </a:pPr>
            <a:r>
              <a:rPr lang="en-GB" sz="3600" dirty="0"/>
              <a:t>add details to incomplete/unclear examples</a:t>
            </a:r>
            <a:r>
              <a:rPr lang="en-US" sz="3600" dirty="0"/>
              <a:t> </a:t>
            </a:r>
          </a:p>
          <a:p>
            <a:pPr>
              <a:buClr>
                <a:schemeClr val="tx1"/>
              </a:buClr>
            </a:pPr>
            <a:r>
              <a:rPr lang="en-US" sz="4000" dirty="0"/>
              <a:t>Develop a system that is meaningful to </a:t>
            </a:r>
            <a:r>
              <a:rPr lang="en-US" sz="4000" i="1" dirty="0"/>
              <a:t>you</a:t>
            </a:r>
            <a:r>
              <a:rPr lang="en-US" sz="4000" dirty="0"/>
              <a:t>.</a:t>
            </a:r>
          </a:p>
        </p:txBody>
      </p:sp>
    </p:spTree>
    <p:extLst>
      <p:ext uri="{BB962C8B-B14F-4D97-AF65-F5344CB8AC3E}">
        <p14:creationId xmlns:p14="http://schemas.microsoft.com/office/powerpoint/2010/main" val="184554499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2363" y="-88900"/>
            <a:ext cx="14439901" cy="703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02624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8713" y="119063"/>
            <a:ext cx="9934575" cy="661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77279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r>
              <a:rPr lang="en-US" dirty="0"/>
              <a:t>Reading Tip - take notes </a:t>
            </a:r>
            <a:r>
              <a:rPr lang="en-US" dirty="0">
                <a:solidFill>
                  <a:srgbClr val="FF0000"/>
                </a:solidFill>
              </a:rPr>
              <a:t>after</a:t>
            </a:r>
            <a:r>
              <a:rPr lang="en-US" dirty="0"/>
              <a:t> you read: </a:t>
            </a:r>
          </a:p>
        </p:txBody>
      </p:sp>
      <p:sp>
        <p:nvSpPr>
          <p:cNvPr id="16389" name="Rectangle 3"/>
          <p:cNvSpPr>
            <a:spLocks noGrp="1" noChangeArrowheads="1"/>
          </p:cNvSpPr>
          <p:nvPr>
            <p:ph idx="1"/>
          </p:nvPr>
        </p:nvSpPr>
        <p:spPr/>
        <p:txBody>
          <a:bodyPr>
            <a:normAutofit/>
          </a:bodyPr>
          <a:lstStyle/>
          <a:p>
            <a:pPr>
              <a:buClr>
                <a:schemeClr val="tx1"/>
              </a:buClr>
            </a:pPr>
            <a:r>
              <a:rPr lang="en-GB" sz="4000" dirty="0"/>
              <a:t>For each paper, write up: </a:t>
            </a:r>
          </a:p>
          <a:p>
            <a:pPr>
              <a:buClr>
                <a:schemeClr val="tx1"/>
              </a:buClr>
            </a:pPr>
            <a:r>
              <a:rPr lang="en-GB" sz="4000" dirty="0"/>
              <a:t>A technical summary of the work</a:t>
            </a:r>
          </a:p>
          <a:p>
            <a:pPr>
              <a:buClr>
                <a:schemeClr val="tx1"/>
              </a:buClr>
            </a:pPr>
            <a:r>
              <a:rPr lang="en-GB" sz="4000" dirty="0"/>
              <a:t>A brief description of the paper’s relation to other works </a:t>
            </a:r>
          </a:p>
          <a:p>
            <a:pPr>
              <a:buClr>
                <a:schemeClr val="tx1"/>
              </a:buClr>
            </a:pPr>
            <a:r>
              <a:rPr lang="en-GB" sz="4000" dirty="0"/>
              <a:t>Relationships to your ongoing/planned research </a:t>
            </a:r>
          </a:p>
          <a:p>
            <a:pPr>
              <a:buClr>
                <a:schemeClr val="tx1"/>
              </a:buClr>
            </a:pPr>
            <a:r>
              <a:rPr lang="en-GB" sz="4000" dirty="0"/>
              <a:t>Any ideas for future work that come to mind </a:t>
            </a:r>
            <a:endParaRPr lang="en-US" sz="4000" dirty="0"/>
          </a:p>
        </p:txBody>
      </p:sp>
    </p:spTree>
    <p:extLst>
      <p:ext uri="{BB962C8B-B14F-4D97-AF65-F5344CB8AC3E}">
        <p14:creationId xmlns:p14="http://schemas.microsoft.com/office/powerpoint/2010/main" val="111246873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Developing understanding of the paper (1)</a:t>
            </a:r>
          </a:p>
        </p:txBody>
      </p:sp>
      <p:sp>
        <p:nvSpPr>
          <p:cNvPr id="3" name="Content Placeholder 2"/>
          <p:cNvSpPr>
            <a:spLocks noGrp="1"/>
          </p:cNvSpPr>
          <p:nvPr>
            <p:ph idx="1"/>
          </p:nvPr>
        </p:nvSpPr>
        <p:spPr>
          <a:xfrm>
            <a:off x="838200" y="1835353"/>
            <a:ext cx="10515600" cy="4351338"/>
          </a:xfrm>
        </p:spPr>
        <p:txBody>
          <a:bodyPr>
            <a:normAutofit/>
          </a:bodyPr>
          <a:lstStyle/>
          <a:p>
            <a:r>
              <a:rPr lang="en-US" sz="3600" dirty="0"/>
              <a:t>Go through the paper word by word and line by line, underlining or highlighting </a:t>
            </a:r>
            <a:r>
              <a:rPr lang="en-US" sz="3600" b="1" dirty="0"/>
              <a:t>every word and phrase</a:t>
            </a:r>
            <a:r>
              <a:rPr lang="en-US" sz="3600" dirty="0"/>
              <a:t> you don't understand. Don't worry if there are a lot places with underlining; you're still not trying to make sense of the article.</a:t>
            </a:r>
          </a:p>
        </p:txBody>
      </p:sp>
    </p:spTree>
    <p:extLst>
      <p:ext uri="{BB962C8B-B14F-4D97-AF65-F5344CB8AC3E}">
        <p14:creationId xmlns:p14="http://schemas.microsoft.com/office/powerpoint/2010/main" val="12478504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Developing understanding of the paper (2)</a:t>
            </a:r>
          </a:p>
        </p:txBody>
      </p:sp>
      <p:sp>
        <p:nvSpPr>
          <p:cNvPr id="3" name="Content Placeholder 2"/>
          <p:cNvSpPr>
            <a:spLocks noGrp="1"/>
          </p:cNvSpPr>
          <p:nvPr>
            <p:ph idx="1"/>
          </p:nvPr>
        </p:nvSpPr>
        <p:spPr/>
        <p:txBody>
          <a:bodyPr>
            <a:normAutofit/>
          </a:bodyPr>
          <a:lstStyle/>
          <a:p>
            <a:pPr>
              <a:spcBef>
                <a:spcPct val="50000"/>
              </a:spcBef>
            </a:pPr>
            <a:r>
              <a:rPr lang="en-US" dirty="0"/>
              <a:t>After skimming the paper and noting words and phrases you do not understand, it is helpful to read the paper again, noting the things that you DO understand. You may underline or highlight the text, then write a clarifying note in the margin. </a:t>
            </a:r>
          </a:p>
          <a:p>
            <a:pPr>
              <a:spcBef>
                <a:spcPct val="50000"/>
              </a:spcBef>
            </a:pPr>
            <a:r>
              <a:rPr lang="en-US" dirty="0"/>
              <a:t>In the “Introduction,” for example, restate the problem and the research question(s) in the margin or in your notebook. </a:t>
            </a:r>
          </a:p>
          <a:p>
            <a:pPr>
              <a:spcBef>
                <a:spcPct val="50000"/>
              </a:spcBef>
            </a:pPr>
            <a:r>
              <a:rPr lang="en-US" dirty="0"/>
              <a:t>Over the next few “readings” of the paper, your task is to identify what you do and do not understand about the research.</a:t>
            </a:r>
          </a:p>
          <a:p>
            <a:endParaRPr lang="en-US" dirty="0"/>
          </a:p>
        </p:txBody>
      </p:sp>
    </p:spTree>
    <p:extLst>
      <p:ext uri="{BB962C8B-B14F-4D97-AF65-F5344CB8AC3E}">
        <p14:creationId xmlns:p14="http://schemas.microsoft.com/office/powerpoint/2010/main" val="19668678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Developing understanding of the paper (3)</a:t>
            </a:r>
          </a:p>
        </p:txBody>
      </p:sp>
      <p:sp>
        <p:nvSpPr>
          <p:cNvPr id="3" name="Content Placeholder 2"/>
          <p:cNvSpPr>
            <a:spLocks noGrp="1"/>
          </p:cNvSpPr>
          <p:nvPr>
            <p:ph idx="1"/>
          </p:nvPr>
        </p:nvSpPr>
        <p:spPr/>
        <p:txBody>
          <a:bodyPr>
            <a:normAutofit/>
          </a:bodyPr>
          <a:lstStyle/>
          <a:p>
            <a:r>
              <a:rPr lang="en-US" b="1" dirty="0"/>
              <a:t>Clarify the words and concepts you do not understand</a:t>
            </a:r>
          </a:p>
          <a:p>
            <a:pPr lvl="1"/>
            <a:r>
              <a:rPr lang="en-US" b="1" dirty="0"/>
              <a:t>Look up simple words and phrases</a:t>
            </a:r>
            <a:r>
              <a:rPr lang="en-US" dirty="0"/>
              <a:t>. Search web sites for clarification. Be sure to search more than one source and critically compare. Your ordinary dictionary may not be a good source, because the definitions may not be precise enough or may not reflect the way in which scientists use a word.</a:t>
            </a:r>
          </a:p>
          <a:p>
            <a:pPr lvl="1"/>
            <a:r>
              <a:rPr lang="en-US" b="1" dirty="0"/>
              <a:t>Get an understanding from the context in which an unknown word or phrase is used.</a:t>
            </a:r>
            <a:r>
              <a:rPr lang="en-US" dirty="0"/>
              <a:t> Often words that are used to describe the procedures used in an experiment can be understood from the context, and may be very specific to the paper you are reading. </a:t>
            </a:r>
          </a:p>
        </p:txBody>
      </p:sp>
    </p:spTree>
    <p:extLst>
      <p:ext uri="{BB962C8B-B14F-4D97-AF65-F5344CB8AC3E}">
        <p14:creationId xmlns:p14="http://schemas.microsoft.com/office/powerpoint/2010/main" val="42820560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D3EAD-51D7-4024-A4AF-5A223D3AE493}"/>
              </a:ext>
            </a:extLst>
          </p:cNvPr>
          <p:cNvSpPr>
            <a:spLocks noGrp="1"/>
          </p:cNvSpPr>
          <p:nvPr>
            <p:ph type="title"/>
          </p:nvPr>
        </p:nvSpPr>
        <p:spPr/>
        <p:txBody>
          <a:bodyPr/>
          <a:lstStyle/>
          <a:p>
            <a:r>
              <a:rPr lang="en-US" dirty="0"/>
              <a:t>The Three-Pass Method (Keshav) </a:t>
            </a:r>
          </a:p>
        </p:txBody>
      </p:sp>
      <p:sp>
        <p:nvSpPr>
          <p:cNvPr id="3" name="Content Placeholder 2">
            <a:extLst>
              <a:ext uri="{FF2B5EF4-FFF2-40B4-BE49-F238E27FC236}">
                <a16:creationId xmlns:a16="http://schemas.microsoft.com/office/drawing/2014/main" id="{4C4CED1D-4991-4B9A-BAD9-0D3C9772484F}"/>
              </a:ext>
            </a:extLst>
          </p:cNvPr>
          <p:cNvSpPr>
            <a:spLocks noGrp="1"/>
          </p:cNvSpPr>
          <p:nvPr>
            <p:ph idx="1"/>
          </p:nvPr>
        </p:nvSpPr>
        <p:spPr/>
        <p:txBody>
          <a:bodyPr/>
          <a:lstStyle/>
          <a:p>
            <a:r>
              <a:rPr lang="en-US" dirty="0">
                <a:hlinkClick r:id="rId2"/>
              </a:rPr>
              <a:t>http://ccr.sigcomm.org/online/files/p83-keshavA.pdf</a:t>
            </a:r>
            <a:endParaRPr lang="en-US" dirty="0"/>
          </a:p>
          <a:p>
            <a:endParaRPr lang="en-GB" dirty="0"/>
          </a:p>
          <a:p>
            <a:r>
              <a:rPr lang="en-GB" dirty="0"/>
              <a:t>Pass 1 </a:t>
            </a:r>
          </a:p>
          <a:p>
            <a:pPr lvl="1"/>
            <a:r>
              <a:rPr lang="en-GB" dirty="0"/>
              <a:t>General idea </a:t>
            </a:r>
          </a:p>
          <a:p>
            <a:r>
              <a:rPr lang="en-GB" dirty="0"/>
              <a:t>Pass II </a:t>
            </a:r>
          </a:p>
          <a:p>
            <a:pPr lvl="1"/>
            <a:r>
              <a:rPr lang="en-GB" dirty="0"/>
              <a:t>Basic content, but not details </a:t>
            </a:r>
          </a:p>
          <a:p>
            <a:r>
              <a:rPr lang="en-GB" dirty="0"/>
              <a:t>Pass III </a:t>
            </a:r>
          </a:p>
          <a:p>
            <a:pPr lvl="1"/>
            <a:r>
              <a:rPr lang="en-GB" dirty="0"/>
              <a:t>In depth understanding</a:t>
            </a:r>
          </a:p>
          <a:p>
            <a:endParaRPr lang="en-US" dirty="0"/>
          </a:p>
        </p:txBody>
      </p:sp>
    </p:spTree>
    <p:extLst>
      <p:ext uri="{BB962C8B-B14F-4D97-AF65-F5344CB8AC3E}">
        <p14:creationId xmlns:p14="http://schemas.microsoft.com/office/powerpoint/2010/main" val="29724888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840BC-778E-4A2A-AE13-0FFAE0AC6A67}"/>
              </a:ext>
            </a:extLst>
          </p:cNvPr>
          <p:cNvSpPr>
            <a:spLocks noGrp="1"/>
          </p:cNvSpPr>
          <p:nvPr>
            <p:ph type="title"/>
          </p:nvPr>
        </p:nvSpPr>
        <p:spPr/>
        <p:txBody>
          <a:bodyPr/>
          <a:lstStyle/>
          <a:p>
            <a:r>
              <a:rPr lang="en-US" dirty="0"/>
              <a:t>Reading a paper: Pass I</a:t>
            </a:r>
          </a:p>
        </p:txBody>
      </p:sp>
      <p:sp>
        <p:nvSpPr>
          <p:cNvPr id="3" name="Content Placeholder 2">
            <a:extLst>
              <a:ext uri="{FF2B5EF4-FFF2-40B4-BE49-F238E27FC236}">
                <a16:creationId xmlns:a16="http://schemas.microsoft.com/office/drawing/2014/main" id="{3937F4CA-60F4-46A1-9498-5D7BCB80CC42}"/>
              </a:ext>
            </a:extLst>
          </p:cNvPr>
          <p:cNvSpPr>
            <a:spLocks noGrp="1"/>
          </p:cNvSpPr>
          <p:nvPr>
            <p:ph idx="1"/>
          </p:nvPr>
        </p:nvSpPr>
        <p:spPr/>
        <p:txBody>
          <a:bodyPr>
            <a:normAutofit/>
          </a:bodyPr>
          <a:lstStyle/>
          <a:p>
            <a:r>
              <a:rPr lang="en-GB" sz="4400" dirty="0"/>
              <a:t>Bird’s eye view: 5-10 minutes </a:t>
            </a:r>
          </a:p>
          <a:p>
            <a:pPr lvl="1"/>
            <a:r>
              <a:rPr lang="en-GB" sz="4000" dirty="0"/>
              <a:t>Title, abstract, introduction </a:t>
            </a:r>
          </a:p>
          <a:p>
            <a:pPr lvl="1"/>
            <a:r>
              <a:rPr lang="en-GB" sz="4000" dirty="0"/>
              <a:t>Section and subsection headings </a:t>
            </a:r>
          </a:p>
          <a:p>
            <a:pPr lvl="1"/>
            <a:r>
              <a:rPr lang="en-GB" sz="4000" dirty="0"/>
              <a:t>Conclusions </a:t>
            </a:r>
          </a:p>
          <a:p>
            <a:pPr lvl="1"/>
            <a:r>
              <a:rPr lang="en-GB" sz="4000" dirty="0"/>
              <a:t>Glance over references</a:t>
            </a:r>
          </a:p>
          <a:p>
            <a:endParaRPr lang="en-US" sz="4400" dirty="0"/>
          </a:p>
        </p:txBody>
      </p:sp>
    </p:spTree>
    <p:extLst>
      <p:ext uri="{BB962C8B-B14F-4D97-AF65-F5344CB8AC3E}">
        <p14:creationId xmlns:p14="http://schemas.microsoft.com/office/powerpoint/2010/main" val="26526928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56955-6664-480F-9B8A-6FCA4BA7A1CD}"/>
              </a:ext>
            </a:extLst>
          </p:cNvPr>
          <p:cNvSpPr>
            <a:spLocks noGrp="1"/>
          </p:cNvSpPr>
          <p:nvPr>
            <p:ph type="title"/>
          </p:nvPr>
        </p:nvSpPr>
        <p:spPr/>
        <p:txBody>
          <a:bodyPr/>
          <a:lstStyle/>
          <a:p>
            <a:r>
              <a:rPr lang="en-US" dirty="0"/>
              <a:t>After Pass I</a:t>
            </a:r>
          </a:p>
        </p:txBody>
      </p:sp>
      <p:sp>
        <p:nvSpPr>
          <p:cNvPr id="3" name="Content Placeholder 2">
            <a:extLst>
              <a:ext uri="{FF2B5EF4-FFF2-40B4-BE49-F238E27FC236}">
                <a16:creationId xmlns:a16="http://schemas.microsoft.com/office/drawing/2014/main" id="{8C78798F-C5EA-42CD-B3E6-2D2BA249FF2B}"/>
              </a:ext>
            </a:extLst>
          </p:cNvPr>
          <p:cNvSpPr>
            <a:spLocks noGrp="1"/>
          </p:cNvSpPr>
          <p:nvPr>
            <p:ph idx="1"/>
          </p:nvPr>
        </p:nvSpPr>
        <p:spPr/>
        <p:txBody>
          <a:bodyPr>
            <a:normAutofit fontScale="92500" lnSpcReduction="10000"/>
          </a:bodyPr>
          <a:lstStyle/>
          <a:p>
            <a:r>
              <a:rPr lang="en-GB" dirty="0"/>
              <a:t>You should be able to answer 5C questions: </a:t>
            </a:r>
          </a:p>
          <a:p>
            <a:r>
              <a:rPr lang="en-GB" dirty="0">
                <a:solidFill>
                  <a:srgbClr val="FF0000"/>
                </a:solidFill>
              </a:rPr>
              <a:t>Category </a:t>
            </a:r>
          </a:p>
          <a:p>
            <a:pPr lvl="1"/>
            <a:r>
              <a:rPr lang="en-GB" dirty="0"/>
              <a:t>What type of paper is it ? </a:t>
            </a:r>
          </a:p>
          <a:p>
            <a:r>
              <a:rPr lang="en-GB" dirty="0">
                <a:solidFill>
                  <a:srgbClr val="FF0000"/>
                </a:solidFill>
              </a:rPr>
              <a:t>Context </a:t>
            </a:r>
          </a:p>
          <a:p>
            <a:pPr lvl="1"/>
            <a:r>
              <a:rPr lang="en-GB" dirty="0"/>
              <a:t>What other papers is it related to ? </a:t>
            </a:r>
          </a:p>
          <a:p>
            <a:r>
              <a:rPr lang="en-GB" dirty="0">
                <a:solidFill>
                  <a:srgbClr val="FF0000"/>
                </a:solidFill>
              </a:rPr>
              <a:t>Correctness </a:t>
            </a:r>
          </a:p>
          <a:p>
            <a:pPr lvl="1"/>
            <a:r>
              <a:rPr lang="en-GB" dirty="0"/>
              <a:t>Are the assumptions valid ? </a:t>
            </a:r>
          </a:p>
          <a:p>
            <a:r>
              <a:rPr lang="en-GB" dirty="0">
                <a:solidFill>
                  <a:srgbClr val="FF0000"/>
                </a:solidFill>
              </a:rPr>
              <a:t>Contributions</a:t>
            </a:r>
            <a:r>
              <a:rPr lang="en-GB" dirty="0"/>
              <a:t> </a:t>
            </a:r>
          </a:p>
          <a:p>
            <a:pPr lvl="1"/>
            <a:r>
              <a:rPr lang="en-GB" dirty="0"/>
              <a:t>What are the main contributions ? </a:t>
            </a:r>
          </a:p>
          <a:p>
            <a:r>
              <a:rPr lang="en-GB" dirty="0">
                <a:solidFill>
                  <a:srgbClr val="FF0000"/>
                </a:solidFill>
              </a:rPr>
              <a:t>Clarity </a:t>
            </a:r>
          </a:p>
          <a:p>
            <a:pPr lvl="1"/>
            <a:r>
              <a:rPr lang="en-GB" dirty="0"/>
              <a:t>Is the paper well written ?</a:t>
            </a:r>
            <a:endParaRPr lang="en-US" dirty="0"/>
          </a:p>
        </p:txBody>
      </p:sp>
      <p:sp>
        <p:nvSpPr>
          <p:cNvPr id="4" name="TextBox 3">
            <a:extLst>
              <a:ext uri="{FF2B5EF4-FFF2-40B4-BE49-F238E27FC236}">
                <a16:creationId xmlns:a16="http://schemas.microsoft.com/office/drawing/2014/main" id="{C7B5D39E-6BE0-415C-83AB-8381131BB42D}"/>
              </a:ext>
            </a:extLst>
          </p:cNvPr>
          <p:cNvSpPr txBox="1"/>
          <p:nvPr/>
        </p:nvSpPr>
        <p:spPr>
          <a:xfrm>
            <a:off x="6381345" y="2280027"/>
            <a:ext cx="5350212" cy="4031873"/>
          </a:xfrm>
          <a:prstGeom prst="rect">
            <a:avLst/>
          </a:prstGeom>
          <a:noFill/>
        </p:spPr>
        <p:txBody>
          <a:bodyPr wrap="square" rtlCol="0">
            <a:spAutoFit/>
          </a:bodyPr>
          <a:lstStyle/>
          <a:p>
            <a:r>
              <a:rPr lang="en-US" sz="3200" dirty="0">
                <a:solidFill>
                  <a:srgbClr val="00B050"/>
                </a:solidFill>
              </a:rPr>
              <a:t>Q - Why are we sure that there is enough information in these several sections to answer these 5 questions?</a:t>
            </a:r>
          </a:p>
          <a:p>
            <a:endParaRPr lang="en-US" sz="3200" dirty="0">
              <a:solidFill>
                <a:srgbClr val="00B050"/>
              </a:solidFill>
            </a:endParaRPr>
          </a:p>
          <a:p>
            <a:r>
              <a:rPr lang="en-US" sz="3200" dirty="0">
                <a:solidFill>
                  <a:srgbClr val="00B050"/>
                </a:solidFill>
              </a:rPr>
              <a:t>A - </a:t>
            </a:r>
          </a:p>
          <a:p>
            <a:pPr marL="342900" indent="-342900">
              <a:buFontTx/>
              <a:buChar char="-"/>
            </a:pPr>
            <a:r>
              <a:rPr lang="en-US" sz="3200" dirty="0">
                <a:solidFill>
                  <a:srgbClr val="00B050"/>
                </a:solidFill>
              </a:rPr>
              <a:t>Paper writing process</a:t>
            </a:r>
          </a:p>
          <a:p>
            <a:pPr marL="342900" indent="-342900">
              <a:buFontTx/>
              <a:buChar char="-"/>
            </a:pPr>
            <a:r>
              <a:rPr lang="en-US" sz="3200" dirty="0">
                <a:solidFill>
                  <a:srgbClr val="00B050"/>
                </a:solidFill>
              </a:rPr>
              <a:t>Paper review process</a:t>
            </a:r>
          </a:p>
        </p:txBody>
      </p:sp>
    </p:spTree>
    <p:extLst>
      <p:ext uri="{BB962C8B-B14F-4D97-AF65-F5344CB8AC3E}">
        <p14:creationId xmlns:p14="http://schemas.microsoft.com/office/powerpoint/2010/main" val="1060609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C698D-F066-4AC3-B9CE-9B3249EFE97A}"/>
              </a:ext>
            </a:extLst>
          </p:cNvPr>
          <p:cNvSpPr>
            <a:spLocks noGrp="1"/>
          </p:cNvSpPr>
          <p:nvPr>
            <p:ph type="title"/>
          </p:nvPr>
        </p:nvSpPr>
        <p:spPr/>
        <p:txBody>
          <a:bodyPr/>
          <a:lstStyle/>
          <a:p>
            <a:r>
              <a:rPr lang="en-US" dirty="0"/>
              <a:t>Reading a paper: Pass II</a:t>
            </a:r>
          </a:p>
        </p:txBody>
      </p:sp>
      <p:sp>
        <p:nvSpPr>
          <p:cNvPr id="3" name="Content Placeholder 2">
            <a:extLst>
              <a:ext uri="{FF2B5EF4-FFF2-40B4-BE49-F238E27FC236}">
                <a16:creationId xmlns:a16="http://schemas.microsoft.com/office/drawing/2014/main" id="{A883752D-E25D-4739-AB46-6854521583BE}"/>
              </a:ext>
            </a:extLst>
          </p:cNvPr>
          <p:cNvSpPr>
            <a:spLocks noGrp="1"/>
          </p:cNvSpPr>
          <p:nvPr>
            <p:ph idx="1"/>
          </p:nvPr>
        </p:nvSpPr>
        <p:spPr/>
        <p:txBody>
          <a:bodyPr>
            <a:normAutofit/>
          </a:bodyPr>
          <a:lstStyle/>
          <a:p>
            <a:r>
              <a:rPr lang="en-US" sz="3600" dirty="0"/>
              <a:t> Read carefully, but ignore details (e.g. proofs, complicated formulas, etc.) </a:t>
            </a:r>
          </a:p>
          <a:p>
            <a:r>
              <a:rPr lang="en-US" sz="3600" dirty="0"/>
              <a:t>~1hour </a:t>
            </a:r>
          </a:p>
          <a:p>
            <a:pPr lvl="1"/>
            <a:r>
              <a:rPr lang="en-US" sz="3200" dirty="0"/>
              <a:t>Identify key points, or make comments in the margins </a:t>
            </a:r>
          </a:p>
          <a:p>
            <a:pPr lvl="1"/>
            <a:r>
              <a:rPr lang="en-US" sz="3200" dirty="0"/>
              <a:t>Figures, diagrams, illustrations, graphs </a:t>
            </a:r>
          </a:p>
          <a:p>
            <a:pPr lvl="2"/>
            <a:r>
              <a:rPr lang="en-US" sz="2800" dirty="0"/>
              <a:t>Properly labeled? error bars? etc. </a:t>
            </a:r>
          </a:p>
          <a:p>
            <a:pPr lvl="1"/>
            <a:r>
              <a:rPr lang="en-US" sz="3200" dirty="0"/>
              <a:t>Mark relevant unread references</a:t>
            </a:r>
          </a:p>
          <a:p>
            <a:endParaRPr lang="en-US" sz="3600" dirty="0"/>
          </a:p>
        </p:txBody>
      </p:sp>
    </p:spTree>
    <p:extLst>
      <p:ext uri="{BB962C8B-B14F-4D97-AF65-F5344CB8AC3E}">
        <p14:creationId xmlns:p14="http://schemas.microsoft.com/office/powerpoint/2010/main" val="27632659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D8C7E-DF1C-4ED1-A8A4-2953530919B0}"/>
              </a:ext>
            </a:extLst>
          </p:cNvPr>
          <p:cNvSpPr>
            <a:spLocks noGrp="1"/>
          </p:cNvSpPr>
          <p:nvPr>
            <p:ph type="title"/>
          </p:nvPr>
        </p:nvSpPr>
        <p:spPr/>
        <p:txBody>
          <a:bodyPr/>
          <a:lstStyle/>
          <a:p>
            <a:r>
              <a:rPr lang="en-US" dirty="0"/>
              <a:t>After Pass II</a:t>
            </a:r>
          </a:p>
        </p:txBody>
      </p:sp>
      <p:sp>
        <p:nvSpPr>
          <p:cNvPr id="3" name="Content Placeholder 2">
            <a:extLst>
              <a:ext uri="{FF2B5EF4-FFF2-40B4-BE49-F238E27FC236}">
                <a16:creationId xmlns:a16="http://schemas.microsoft.com/office/drawing/2014/main" id="{CECA01BE-A846-4A60-84C2-7D324C9089AA}"/>
              </a:ext>
            </a:extLst>
          </p:cNvPr>
          <p:cNvSpPr>
            <a:spLocks noGrp="1"/>
          </p:cNvSpPr>
          <p:nvPr>
            <p:ph idx="1"/>
          </p:nvPr>
        </p:nvSpPr>
        <p:spPr/>
        <p:txBody>
          <a:bodyPr>
            <a:normAutofit/>
          </a:bodyPr>
          <a:lstStyle/>
          <a:p>
            <a:r>
              <a:rPr lang="en-GB" sz="3600" dirty="0"/>
              <a:t>Sometimes, you still don’t understand the paper </a:t>
            </a:r>
          </a:p>
          <a:p>
            <a:pPr lvl="1"/>
            <a:r>
              <a:rPr lang="en-GB" sz="3200" dirty="0"/>
              <a:t>subject is new to you, unfamiliar terminology and acronyms </a:t>
            </a:r>
          </a:p>
          <a:p>
            <a:pPr lvl="1"/>
            <a:r>
              <a:rPr lang="en-GB" sz="3200" dirty="0"/>
              <a:t>proof or experimental technique that you don’t understand </a:t>
            </a:r>
          </a:p>
          <a:p>
            <a:pPr lvl="1"/>
            <a:r>
              <a:rPr lang="en-GB" sz="3200" dirty="0"/>
              <a:t>poorly written, unsubstantiated assertions and numerous forward references </a:t>
            </a:r>
          </a:p>
          <a:p>
            <a:pPr lvl="1"/>
            <a:r>
              <a:rPr lang="en-GB" sz="3200" dirty="0"/>
              <a:t>it’s late at night and you are tired</a:t>
            </a:r>
            <a:endParaRPr lang="en-US" sz="3200" dirty="0"/>
          </a:p>
        </p:txBody>
      </p:sp>
    </p:spTree>
    <p:extLst>
      <p:ext uri="{BB962C8B-B14F-4D97-AF65-F5344CB8AC3E}">
        <p14:creationId xmlns:p14="http://schemas.microsoft.com/office/powerpoint/2010/main" val="8426286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B5B39-36FE-46C3-B3D5-F8158FC8A09F}"/>
              </a:ext>
            </a:extLst>
          </p:cNvPr>
          <p:cNvSpPr>
            <a:spLocks noGrp="1"/>
          </p:cNvSpPr>
          <p:nvPr>
            <p:ph type="title"/>
          </p:nvPr>
        </p:nvSpPr>
        <p:spPr/>
        <p:txBody>
          <a:bodyPr/>
          <a:lstStyle/>
          <a:p>
            <a:r>
              <a:rPr lang="en-US" dirty="0"/>
              <a:t>After Pass II</a:t>
            </a:r>
          </a:p>
        </p:txBody>
      </p:sp>
      <p:sp>
        <p:nvSpPr>
          <p:cNvPr id="3" name="Content Placeholder 2">
            <a:extLst>
              <a:ext uri="{FF2B5EF4-FFF2-40B4-BE49-F238E27FC236}">
                <a16:creationId xmlns:a16="http://schemas.microsoft.com/office/drawing/2014/main" id="{40286FC4-0169-4BA0-8B8B-15B56376F2E8}"/>
              </a:ext>
            </a:extLst>
          </p:cNvPr>
          <p:cNvSpPr>
            <a:spLocks noGrp="1"/>
          </p:cNvSpPr>
          <p:nvPr>
            <p:ph idx="1"/>
          </p:nvPr>
        </p:nvSpPr>
        <p:spPr/>
        <p:txBody>
          <a:bodyPr/>
          <a:lstStyle/>
          <a:p>
            <a:r>
              <a:rPr lang="en-GB" sz="4000" dirty="0"/>
              <a:t>Three choices: </a:t>
            </a:r>
          </a:p>
          <a:p>
            <a:pPr lvl="1"/>
            <a:r>
              <a:rPr lang="en-GB" sz="3600" dirty="0"/>
              <a:t>set the paper aside </a:t>
            </a:r>
          </a:p>
          <a:p>
            <a:pPr lvl="2"/>
            <a:r>
              <a:rPr lang="en-GB" sz="3200" dirty="0"/>
              <a:t>hope that you don’t need to understand the paper to be successful in your career </a:t>
            </a:r>
          </a:p>
          <a:p>
            <a:pPr lvl="1"/>
            <a:r>
              <a:rPr lang="en-GB" sz="3600" dirty="0"/>
              <a:t>return to the paper later </a:t>
            </a:r>
          </a:p>
          <a:p>
            <a:pPr lvl="2"/>
            <a:r>
              <a:rPr lang="en-GB" sz="3200" dirty="0"/>
              <a:t>perhaps after reading background material –&gt; (re)search</a:t>
            </a:r>
          </a:p>
          <a:p>
            <a:pPr lvl="1"/>
            <a:r>
              <a:rPr lang="en-GB" sz="3600" dirty="0"/>
              <a:t>go on to Pass III</a:t>
            </a:r>
          </a:p>
          <a:p>
            <a:endParaRPr lang="en-US" dirty="0"/>
          </a:p>
        </p:txBody>
      </p:sp>
    </p:spTree>
    <p:extLst>
      <p:ext uri="{BB962C8B-B14F-4D97-AF65-F5344CB8AC3E}">
        <p14:creationId xmlns:p14="http://schemas.microsoft.com/office/powerpoint/2010/main" val="41221921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68B3E-25DC-4ECD-B5E5-930F9644D02E}"/>
              </a:ext>
            </a:extLst>
          </p:cNvPr>
          <p:cNvSpPr>
            <a:spLocks noGrp="1"/>
          </p:cNvSpPr>
          <p:nvPr>
            <p:ph type="title"/>
          </p:nvPr>
        </p:nvSpPr>
        <p:spPr/>
        <p:txBody>
          <a:bodyPr/>
          <a:lstStyle/>
          <a:p>
            <a:r>
              <a:rPr lang="en-GB" dirty="0"/>
              <a:t>Reading a paper: Pass III</a:t>
            </a:r>
            <a:endParaRPr lang="en-US" dirty="0"/>
          </a:p>
        </p:txBody>
      </p:sp>
      <p:sp>
        <p:nvSpPr>
          <p:cNvPr id="3" name="Content Placeholder 2">
            <a:extLst>
              <a:ext uri="{FF2B5EF4-FFF2-40B4-BE49-F238E27FC236}">
                <a16:creationId xmlns:a16="http://schemas.microsoft.com/office/drawing/2014/main" id="{E0056CB7-5B0F-46EC-AC58-09431522991F}"/>
              </a:ext>
            </a:extLst>
          </p:cNvPr>
          <p:cNvSpPr>
            <a:spLocks noGrp="1"/>
          </p:cNvSpPr>
          <p:nvPr>
            <p:ph idx="1"/>
          </p:nvPr>
        </p:nvSpPr>
        <p:spPr/>
        <p:txBody>
          <a:bodyPr>
            <a:normAutofit lnSpcReduction="10000"/>
          </a:bodyPr>
          <a:lstStyle/>
          <a:p>
            <a:r>
              <a:rPr lang="en-GB" sz="4000" dirty="0"/>
              <a:t>Fully understand the paper </a:t>
            </a:r>
          </a:p>
          <a:p>
            <a:pPr lvl="1"/>
            <a:r>
              <a:rPr lang="en-GB" sz="3600" dirty="0"/>
              <a:t>1(experienced)-5(newcomer) hours </a:t>
            </a:r>
          </a:p>
          <a:p>
            <a:pPr lvl="1"/>
            <a:r>
              <a:rPr lang="en-GB" sz="3600" dirty="0"/>
              <a:t>Great attention to detail </a:t>
            </a:r>
          </a:p>
          <a:p>
            <a:pPr lvl="1"/>
            <a:r>
              <a:rPr lang="en-GB" sz="3600" dirty="0"/>
              <a:t>Virtually re-implement the paper </a:t>
            </a:r>
          </a:p>
          <a:p>
            <a:pPr lvl="1"/>
            <a:r>
              <a:rPr lang="en-GB" sz="3600" dirty="0"/>
              <a:t>Using same assumptions, recreate the work </a:t>
            </a:r>
          </a:p>
          <a:p>
            <a:pPr lvl="1"/>
            <a:r>
              <a:rPr lang="en-GB" sz="3600" dirty="0"/>
              <a:t>Identify and challenge every assumption in every statement </a:t>
            </a:r>
          </a:p>
          <a:p>
            <a:pPr lvl="1"/>
            <a:r>
              <a:rPr lang="en-GB" sz="3600" dirty="0"/>
              <a:t>Jot down ideas for future works</a:t>
            </a:r>
            <a:endParaRPr lang="en-US" sz="3600" dirty="0"/>
          </a:p>
        </p:txBody>
      </p:sp>
    </p:spTree>
    <p:extLst>
      <p:ext uri="{BB962C8B-B14F-4D97-AF65-F5344CB8AC3E}">
        <p14:creationId xmlns:p14="http://schemas.microsoft.com/office/powerpoint/2010/main" val="30622133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108C5-A098-4B5E-88D9-879291095C26}"/>
              </a:ext>
            </a:extLst>
          </p:cNvPr>
          <p:cNvSpPr>
            <a:spLocks noGrp="1"/>
          </p:cNvSpPr>
          <p:nvPr>
            <p:ph type="title"/>
          </p:nvPr>
        </p:nvSpPr>
        <p:spPr/>
        <p:txBody>
          <a:bodyPr/>
          <a:lstStyle/>
          <a:p>
            <a:r>
              <a:rPr lang="en-US" dirty="0"/>
              <a:t>After Pass III</a:t>
            </a:r>
          </a:p>
        </p:txBody>
      </p:sp>
      <p:sp>
        <p:nvSpPr>
          <p:cNvPr id="3" name="Content Placeholder 2">
            <a:extLst>
              <a:ext uri="{FF2B5EF4-FFF2-40B4-BE49-F238E27FC236}">
                <a16:creationId xmlns:a16="http://schemas.microsoft.com/office/drawing/2014/main" id="{A11B9514-C84B-42D1-9C0A-1352BACA4B88}"/>
              </a:ext>
            </a:extLst>
          </p:cNvPr>
          <p:cNvSpPr>
            <a:spLocks noGrp="1"/>
          </p:cNvSpPr>
          <p:nvPr>
            <p:ph idx="1"/>
          </p:nvPr>
        </p:nvSpPr>
        <p:spPr/>
        <p:txBody>
          <a:bodyPr>
            <a:normAutofit/>
          </a:bodyPr>
          <a:lstStyle/>
          <a:p>
            <a:r>
              <a:rPr lang="en-GB" sz="3600" dirty="0"/>
              <a:t>You should be able to reconstruct the entire structure of the paper from memory </a:t>
            </a:r>
          </a:p>
          <a:p>
            <a:r>
              <a:rPr lang="en-GB" sz="3600" dirty="0"/>
              <a:t>You should be able to identify its strong and weak points </a:t>
            </a:r>
          </a:p>
          <a:p>
            <a:r>
              <a:rPr lang="en-GB" sz="3600" dirty="0"/>
              <a:t>You should be able to pinpoint implicit assumptions, missing citations to relevant work, and potential issues with experimental or analytical techniques</a:t>
            </a:r>
          </a:p>
          <a:p>
            <a:endParaRPr lang="en-US" sz="3600" dirty="0"/>
          </a:p>
        </p:txBody>
      </p:sp>
    </p:spTree>
    <p:extLst>
      <p:ext uri="{BB962C8B-B14F-4D97-AF65-F5344CB8AC3E}">
        <p14:creationId xmlns:p14="http://schemas.microsoft.com/office/powerpoint/2010/main" val="2071987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F37B4-5A73-4BA8-931E-DD1748958593}"/>
              </a:ext>
            </a:extLst>
          </p:cNvPr>
          <p:cNvSpPr>
            <a:spLocks noGrp="1"/>
          </p:cNvSpPr>
          <p:nvPr>
            <p:ph type="title"/>
          </p:nvPr>
        </p:nvSpPr>
        <p:spPr/>
        <p:txBody>
          <a:bodyPr/>
          <a:lstStyle/>
          <a:p>
            <a:r>
              <a:rPr lang="en-US" dirty="0"/>
              <a:t>Comprehension Questions</a:t>
            </a:r>
          </a:p>
        </p:txBody>
      </p:sp>
      <p:sp>
        <p:nvSpPr>
          <p:cNvPr id="3" name="Content Placeholder 2">
            <a:extLst>
              <a:ext uri="{FF2B5EF4-FFF2-40B4-BE49-F238E27FC236}">
                <a16:creationId xmlns:a16="http://schemas.microsoft.com/office/drawing/2014/main" id="{37441E73-58BF-47EB-9B79-121D19F720EE}"/>
              </a:ext>
            </a:extLst>
          </p:cNvPr>
          <p:cNvSpPr>
            <a:spLocks noGrp="1"/>
          </p:cNvSpPr>
          <p:nvPr>
            <p:ph idx="1"/>
          </p:nvPr>
        </p:nvSpPr>
        <p:spPr/>
        <p:txBody>
          <a:bodyPr>
            <a:normAutofit lnSpcReduction="10000"/>
          </a:bodyPr>
          <a:lstStyle/>
          <a:p>
            <a:r>
              <a:rPr lang="en-GB" sz="3600" dirty="0"/>
              <a:t>While reading the paper, look for answers to these questions:</a:t>
            </a:r>
          </a:p>
          <a:p>
            <a:pPr lvl="1"/>
            <a:r>
              <a:rPr lang="en-GB" sz="3200" dirty="0"/>
              <a:t>What is the problem? </a:t>
            </a:r>
          </a:p>
          <a:p>
            <a:pPr lvl="1"/>
            <a:r>
              <a:rPr lang="en-GB" sz="3200" dirty="0"/>
              <a:t>What are the contributions? </a:t>
            </a:r>
          </a:p>
          <a:p>
            <a:pPr lvl="2"/>
            <a:r>
              <a:rPr lang="en-GB" sz="3200" dirty="0"/>
              <a:t>New finding ? </a:t>
            </a:r>
          </a:p>
          <a:p>
            <a:pPr lvl="2"/>
            <a:r>
              <a:rPr lang="en-GB" sz="3200" dirty="0"/>
              <a:t>New method ? </a:t>
            </a:r>
          </a:p>
          <a:p>
            <a:pPr lvl="2"/>
            <a:r>
              <a:rPr lang="en-GB" sz="3200" dirty="0"/>
              <a:t>New perspective ? </a:t>
            </a:r>
          </a:p>
          <a:p>
            <a:pPr lvl="1"/>
            <a:r>
              <a:rPr lang="en-GB" sz="3200" dirty="0"/>
              <a:t>What are the conclusions? </a:t>
            </a:r>
          </a:p>
          <a:p>
            <a:pPr lvl="1"/>
            <a:r>
              <a:rPr lang="en-GB" sz="3200" dirty="0"/>
              <a:t>What is the support for the conclusions?</a:t>
            </a:r>
          </a:p>
          <a:p>
            <a:endParaRPr lang="en-US" sz="3600" dirty="0"/>
          </a:p>
        </p:txBody>
      </p:sp>
    </p:spTree>
    <p:extLst>
      <p:ext uri="{BB962C8B-B14F-4D97-AF65-F5344CB8AC3E}">
        <p14:creationId xmlns:p14="http://schemas.microsoft.com/office/powerpoint/2010/main" val="22964688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1B653-0809-4542-9415-6CC171C84DEB}"/>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007BF123-50CA-4AB2-9C6A-22666EF2B225}"/>
              </a:ext>
            </a:extLst>
          </p:cNvPr>
          <p:cNvSpPr>
            <a:spLocks noGrp="1"/>
          </p:cNvSpPr>
          <p:nvPr>
            <p:ph idx="1"/>
          </p:nvPr>
        </p:nvSpPr>
        <p:spPr/>
        <p:txBody>
          <a:bodyPr>
            <a:normAutofit/>
          </a:bodyPr>
          <a:lstStyle/>
          <a:p>
            <a:r>
              <a:rPr lang="en-GB" sz="3600" dirty="0"/>
              <a:t>Reading and understanding a scientific paper is not easy. In most cases you do not have all the background knowledge required to understand a paper </a:t>
            </a:r>
          </a:p>
          <a:p>
            <a:r>
              <a:rPr lang="en-GB" sz="3600" dirty="0"/>
              <a:t>Understanding a paper is not a yes/no condition: you must decide when you have a reasonably good understanding of the content </a:t>
            </a:r>
            <a:endParaRPr lang="en-US" sz="3600" dirty="0"/>
          </a:p>
        </p:txBody>
      </p:sp>
    </p:spTree>
    <p:extLst>
      <p:ext uri="{BB962C8B-B14F-4D97-AF65-F5344CB8AC3E}">
        <p14:creationId xmlns:p14="http://schemas.microsoft.com/office/powerpoint/2010/main" val="2172064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2AFD3-A66E-473F-9871-5B7EAF40F1BE}"/>
              </a:ext>
            </a:extLst>
          </p:cNvPr>
          <p:cNvSpPr>
            <a:spLocks noGrp="1"/>
          </p:cNvSpPr>
          <p:nvPr>
            <p:ph type="title"/>
          </p:nvPr>
        </p:nvSpPr>
        <p:spPr/>
        <p:txBody>
          <a:bodyPr/>
          <a:lstStyle/>
          <a:p>
            <a:r>
              <a:rPr lang="en-US"/>
              <a:t>More resources</a:t>
            </a:r>
            <a:endParaRPr lang="en-US" dirty="0"/>
          </a:p>
        </p:txBody>
      </p:sp>
      <p:sp>
        <p:nvSpPr>
          <p:cNvPr id="3" name="Content Placeholder 2">
            <a:extLst>
              <a:ext uri="{FF2B5EF4-FFF2-40B4-BE49-F238E27FC236}">
                <a16:creationId xmlns:a16="http://schemas.microsoft.com/office/drawing/2014/main" id="{E332807A-1590-47ED-AA12-841176EAB9BC}"/>
              </a:ext>
            </a:extLst>
          </p:cNvPr>
          <p:cNvSpPr>
            <a:spLocks noGrp="1"/>
          </p:cNvSpPr>
          <p:nvPr>
            <p:ph idx="1"/>
          </p:nvPr>
        </p:nvSpPr>
        <p:spPr/>
        <p:txBody>
          <a:bodyPr/>
          <a:lstStyle/>
          <a:p>
            <a:r>
              <a:rPr lang="en-US" dirty="0">
                <a:hlinkClick r:id="rId2"/>
              </a:rPr>
              <a:t>https://www.sciencemag.org/careers/2016/03/how-seriously-read-scientific-paper</a:t>
            </a:r>
            <a:endParaRPr lang="en-US" dirty="0"/>
          </a:p>
          <a:p>
            <a:pPr lvl="1"/>
            <a:r>
              <a:rPr lang="en-GB" dirty="0"/>
              <a:t>a dozen scientists at different career stages and in a broad range of fields tell about their approach to reading research papers </a:t>
            </a:r>
          </a:p>
          <a:p>
            <a:r>
              <a:rPr lang="en-GB" dirty="0">
                <a:hlinkClick r:id="rId3"/>
              </a:rPr>
              <a:t>https://www.ncbi.nlm.nih.gov/pmc/articles/PMC3687192/</a:t>
            </a:r>
            <a:endParaRPr lang="en-GB" dirty="0"/>
          </a:p>
          <a:p>
            <a:pPr lvl="1"/>
            <a:r>
              <a:rPr lang="en-GB" dirty="0"/>
              <a:t>medical sciences</a:t>
            </a:r>
          </a:p>
          <a:p>
            <a:pPr lvl="1"/>
            <a:endParaRPr lang="en-GB" dirty="0"/>
          </a:p>
          <a:p>
            <a:r>
              <a:rPr lang="en-GB" dirty="0"/>
              <a:t>2 papers in the WeChat group</a:t>
            </a:r>
            <a:endParaRPr lang="en-US" dirty="0"/>
          </a:p>
        </p:txBody>
      </p:sp>
    </p:spTree>
    <p:extLst>
      <p:ext uri="{BB962C8B-B14F-4D97-AF65-F5344CB8AC3E}">
        <p14:creationId xmlns:p14="http://schemas.microsoft.com/office/powerpoint/2010/main" val="26544488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6925</TotalTime>
  <Words>1969</Words>
  <Application>Microsoft Office PowerPoint</Application>
  <PresentationFormat>Widescreen</PresentationFormat>
  <Paragraphs>218</Paragraphs>
  <Slides>43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等线</vt:lpstr>
      <vt:lpstr>medium-content-serif-font</vt:lpstr>
      <vt:lpstr>Arial</vt:lpstr>
      <vt:lpstr>Calibri</vt:lpstr>
      <vt:lpstr>Calibri Light</vt:lpstr>
      <vt:lpstr>Wingdings</vt:lpstr>
      <vt:lpstr>Office Theme</vt:lpstr>
      <vt:lpstr>Research Communication Skills</vt:lpstr>
      <vt:lpstr>How to read papers?</vt:lpstr>
      <vt:lpstr>How to read papers?</vt:lpstr>
      <vt:lpstr>PowerPoint Presentation</vt:lpstr>
      <vt:lpstr>How many papers are there?</vt:lpstr>
      <vt:lpstr>Types of research papers</vt:lpstr>
      <vt:lpstr>Types of papers</vt:lpstr>
      <vt:lpstr>Deciding what to read</vt:lpstr>
      <vt:lpstr>Deciding what to read</vt:lpstr>
      <vt:lpstr>Deciding what to read</vt:lpstr>
      <vt:lpstr>Deciding what to read</vt:lpstr>
      <vt:lpstr>Deciding what to read</vt:lpstr>
      <vt:lpstr>Transitive closure of related work of papers in a top conference – find “related works” section in your papers</vt:lpstr>
      <vt:lpstr>Transitive closure of related work of papers in a top conference – find “related works” section in your papers</vt:lpstr>
      <vt:lpstr>PowerPoint Presentation</vt:lpstr>
      <vt:lpstr>Decision-making flowchart to decide whether to read the chosen article or not</vt:lpstr>
      <vt:lpstr>How to read papers?</vt:lpstr>
      <vt:lpstr>Exercise 2</vt:lpstr>
      <vt:lpstr>Paper sections reading statistics </vt:lpstr>
      <vt:lpstr>Paper sections reading statistics </vt:lpstr>
      <vt:lpstr>Paper sections reading statistics </vt:lpstr>
      <vt:lpstr>Deciding How to Read</vt:lpstr>
      <vt:lpstr>Quick reading of the paper</vt:lpstr>
      <vt:lpstr>PowerPoint Presentation</vt:lpstr>
      <vt:lpstr>PowerPoint Presentation</vt:lpstr>
      <vt:lpstr>Reading Tip - take notes while you read: </vt:lpstr>
      <vt:lpstr>PowerPoint Presentation</vt:lpstr>
      <vt:lpstr>PowerPoint Presentation</vt:lpstr>
      <vt:lpstr>Reading Tip - take notes after you read: </vt:lpstr>
      <vt:lpstr>Developing understanding of the paper (1)</vt:lpstr>
      <vt:lpstr>Developing understanding of the paper (2)</vt:lpstr>
      <vt:lpstr>Developing understanding of the paper (3)</vt:lpstr>
      <vt:lpstr>The Three-Pass Method (Keshav) </vt:lpstr>
      <vt:lpstr>Reading a paper: Pass I</vt:lpstr>
      <vt:lpstr>After Pass I</vt:lpstr>
      <vt:lpstr>Reading a paper: Pass II</vt:lpstr>
      <vt:lpstr>After Pass II</vt:lpstr>
      <vt:lpstr>After Pass II</vt:lpstr>
      <vt:lpstr>Reading a paper: Pass III</vt:lpstr>
      <vt:lpstr>After Pass III</vt:lpstr>
      <vt:lpstr>Comprehension Questions</vt:lpstr>
      <vt:lpstr>Summary</vt:lpstr>
      <vt:lpstr>More resources</vt:lpstr>
    </vt:vector>
  </TitlesOfParts>
  <Company>HKPU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hkpuadmin</dc:creator>
  <cp:lastModifiedBy>Joanna Siebert</cp:lastModifiedBy>
  <cp:revision>282</cp:revision>
  <cp:lastPrinted>2019-09-03T08:34:37Z</cp:lastPrinted>
  <dcterms:created xsi:type="dcterms:W3CDTF">2014-08-14T09:54:55Z</dcterms:created>
  <dcterms:modified xsi:type="dcterms:W3CDTF">2026-09-10T09:10:24Z</dcterms:modified>
</cp:coreProperties>
</file>