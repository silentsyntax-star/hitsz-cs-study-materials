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306" r:id="rId2"/>
    <p:sldId id="502" r:id="rId3"/>
    <p:sldId id="503" r:id="rId4"/>
    <p:sldId id="504" r:id="rId5"/>
    <p:sldId id="505" r:id="rId6"/>
    <p:sldId id="506" r:id="rId7"/>
    <p:sldId id="507" r:id="rId8"/>
    <p:sldId id="508" r:id="rId9"/>
    <p:sldId id="509" r:id="rId10"/>
    <p:sldId id="510" r:id="rId11"/>
    <p:sldId id="535" r:id="rId12"/>
    <p:sldId id="511" r:id="rId13"/>
    <p:sldId id="512" r:id="rId14"/>
    <p:sldId id="513" r:id="rId15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50" y="6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01/09/2026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D1D2248-7ACE-4DA8-A277-484640BF9F53}" type="slidenum">
              <a:rPr lang="en-US"/>
              <a:pPr/>
              <a:t>8</a:t>
            </a:fld>
            <a:endParaRPr lang="en-U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488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6BD3CA4-E1BF-44A7-9799-6AB10C10D486}" type="slidenum">
              <a:rPr lang="en-US"/>
              <a:pPr/>
              <a:t>9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169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D060F54E-7B5E-432E-A5D6-056A4E3A11E7}" type="slidenum">
              <a:rPr lang="en-US"/>
              <a:pPr/>
              <a:t>12</a:t>
            </a:fld>
            <a:endParaRPr lang="en-US"/>
          </a:p>
        </p:txBody>
      </p:sp>
      <p:sp>
        <p:nvSpPr>
          <p:cNvPr id="99330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41987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3324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4A970B3-9F6E-4DC1-9DDD-682ABFEA8C1A}" type="slidenum">
              <a:rPr lang="en-US"/>
              <a:pPr/>
              <a:t>13</a:t>
            </a:fld>
            <a:endParaRPr lang="en-US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077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031">
            <a:extLst>
              <a:ext uri="{FF2B5EF4-FFF2-40B4-BE49-F238E27FC236}">
                <a16:creationId xmlns:a16="http://schemas.microsoft.com/office/drawing/2014/main" id="{52FC9A6E-C494-4BAD-B232-BAE4DEA577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00529BA-A3F5-4304-86BF-89A2CA794A9F}" type="slidenum">
              <a:rPr lang="en-US" altLang="en-US" sz="1200"/>
              <a:pPr/>
              <a:t>14</a:t>
            </a:fld>
            <a:endParaRPr lang="en-US" altLang="en-US" sz="1200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70B0CDFD-4C42-40E6-95FB-FAD85CE1F0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ED348E3F-DF5D-4204-8CFE-2DBC2808F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51569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google.com.hk/url?sa=i&amp;rct=j&amp;q=&amp;esrc=s&amp;source=images&amp;cd=&amp;ved=2ahUKEwjLrrG697PkAhUJzIsBHfqgAdQQjRx6BAgBEAQ&amp;url=https://www.taproot.com/using-taproot-for-simple-investigations/&amp;psig=AOvVaw3j1M4JXWtQEAEzbW_r_-yQ&amp;ust=1567575342554033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145475"/>
            <a:ext cx="9144000" cy="2387600"/>
          </a:xfrm>
        </p:spPr>
        <p:txBody>
          <a:bodyPr/>
          <a:lstStyle/>
          <a:p>
            <a:r>
              <a:rPr lang="en-US" dirty="0"/>
              <a:t>Research Communication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625150"/>
            <a:ext cx="9144000" cy="1655762"/>
          </a:xfrm>
        </p:spPr>
        <p:txBody>
          <a:bodyPr/>
          <a:lstStyle/>
          <a:p>
            <a:r>
              <a:rPr lang="en-US" dirty="0"/>
              <a:t>Introduction to the subject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26810"/>
            <a:ext cx="3886200" cy="251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770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Intended Learning Outcomes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4000" dirty="0"/>
              <a:t>By the end of this lesson, you will be able to:</a:t>
            </a:r>
          </a:p>
          <a:p>
            <a:pPr lvl="1"/>
            <a:r>
              <a:rPr lang="en-GB" sz="3600" dirty="0"/>
              <a:t>Describe a research process, key players and goals</a:t>
            </a:r>
          </a:p>
          <a:p>
            <a:pPr lvl="1"/>
            <a:r>
              <a:rPr lang="en-GB" sz="3600" dirty="0"/>
              <a:t>Understand the background of academic writing &amp; language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8380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2595856"/>
            <a:ext cx="10515600" cy="2852737"/>
          </a:xfrm>
        </p:spPr>
        <p:txBody>
          <a:bodyPr/>
          <a:lstStyle/>
          <a:p>
            <a:pPr algn="ctr"/>
            <a:r>
              <a:rPr lang="en-US" dirty="0"/>
              <a:t>Introduction to research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152400"/>
            <a:ext cx="3939746" cy="39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45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647B7EE-0CA7-4A4F-B231-115322E7A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0615" y="4032119"/>
            <a:ext cx="2327148" cy="2743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The process of exploring the unknown, studying and learning new things, building new </a:t>
            </a:r>
            <a:r>
              <a:rPr lang="en-US" sz="4800" dirty="0">
                <a:solidFill>
                  <a:srgbClr val="FF0000"/>
                </a:solidFill>
              </a:rPr>
              <a:t>knowledge about things that no one has understood before</a:t>
            </a:r>
          </a:p>
        </p:txBody>
      </p:sp>
    </p:spTree>
    <p:extLst>
      <p:ext uri="{BB962C8B-B14F-4D97-AF65-F5344CB8AC3E}">
        <p14:creationId xmlns:p14="http://schemas.microsoft.com/office/powerpoint/2010/main" val="1479304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 result for investigation">
            <a:hlinkClick r:id="rId2"/>
            <a:extLst>
              <a:ext uri="{FF2B5EF4-FFF2-40B4-BE49-F238E27FC236}">
                <a16:creationId xmlns:a16="http://schemas.microsoft.com/office/drawing/2014/main" id="{8821264E-CA95-4E3E-9327-CC763AC9D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406" y="3842425"/>
            <a:ext cx="2720198" cy="2650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The activity of a </a:t>
            </a:r>
            <a:r>
              <a:rPr lang="en-US" sz="4800" dirty="0">
                <a:solidFill>
                  <a:srgbClr val="FF0000"/>
                </a:solidFill>
              </a:rPr>
              <a:t>diligent and systematic</a:t>
            </a:r>
            <a:r>
              <a:rPr lang="en-US" sz="4800" dirty="0"/>
              <a:t> </a:t>
            </a:r>
            <a:r>
              <a:rPr lang="en-US" sz="4800" dirty="0">
                <a:solidFill>
                  <a:srgbClr val="7030A0"/>
                </a:solidFill>
              </a:rPr>
              <a:t>inquiry or investigation </a:t>
            </a:r>
            <a:r>
              <a:rPr lang="en-US" sz="4800" dirty="0"/>
              <a:t>in an area, with the objective of discovering or revising facts, theories, applications etc.  </a:t>
            </a:r>
          </a:p>
        </p:txBody>
      </p:sp>
    </p:spTree>
    <p:extLst>
      <p:ext uri="{BB962C8B-B14F-4D97-AF65-F5344CB8AC3E}">
        <p14:creationId xmlns:p14="http://schemas.microsoft.com/office/powerpoint/2010/main" val="39541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An investigative process of finding reliable </a:t>
            </a:r>
            <a:r>
              <a:rPr lang="en-US" sz="5400" dirty="0">
                <a:solidFill>
                  <a:srgbClr val="FF0000"/>
                </a:solidFill>
              </a:rPr>
              <a:t>solution to a problem </a:t>
            </a:r>
            <a:r>
              <a:rPr lang="en-US" sz="5400" dirty="0"/>
              <a:t>through a systematic selection, collection, analysis and interpretation of data</a:t>
            </a:r>
          </a:p>
        </p:txBody>
      </p:sp>
      <p:pic>
        <p:nvPicPr>
          <p:cNvPr id="5" name="Picture 4" descr="A close up of a sign&#10;&#10;Description automatically generated">
            <a:extLst>
              <a:ext uri="{FF2B5EF4-FFF2-40B4-BE49-F238E27FC236}">
                <a16:creationId xmlns:a16="http://schemas.microsoft.com/office/drawing/2014/main" id="{BCE713DA-87A1-42BA-98C5-2FA97EAE0D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872" y="4296460"/>
            <a:ext cx="3602173" cy="239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6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(4)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All activities that make us discover </a:t>
            </a:r>
            <a:r>
              <a:rPr lang="en-US" sz="5400" dirty="0">
                <a:solidFill>
                  <a:srgbClr val="FF0000"/>
                </a:solidFill>
              </a:rPr>
              <a:t>new knowledge </a:t>
            </a:r>
            <a:r>
              <a:rPr lang="en-US" sz="5400" dirty="0"/>
              <a:t>about things around 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3150F-C632-4440-837E-08BBFA0B2B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6136" y="2944239"/>
            <a:ext cx="4195864" cy="4195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357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Research Goals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4800" dirty="0"/>
              <a:t>Deepen understanding of a topic</a:t>
            </a:r>
          </a:p>
          <a:p>
            <a:pPr eaLnBrk="1" hangingPunct="1"/>
            <a:r>
              <a:rPr lang="en-US" sz="4800" dirty="0"/>
              <a:t>Contribute to the community</a:t>
            </a:r>
            <a:r>
              <a:rPr lang="ja-JP" altLang="en-US" sz="4800" dirty="0"/>
              <a:t>’</a:t>
            </a:r>
            <a:r>
              <a:rPr lang="en-US" altLang="ja-JP" sz="4800" dirty="0"/>
              <a:t>s understanding of a topic</a:t>
            </a:r>
          </a:p>
          <a:p>
            <a:r>
              <a:rPr lang="en-US" sz="4800" dirty="0"/>
              <a:t>Discover and disseminate new knowledge</a:t>
            </a:r>
          </a:p>
          <a:p>
            <a:pPr eaLnBrk="1" hangingPunct="1"/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29871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>
                <a:ea typeface="+mj-ea"/>
              </a:rPr>
              <a:t>Key Players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>
              <a:buFont typeface="Wingdings" charset="0"/>
              <a:buChar char="w"/>
              <a:defRPr/>
            </a:pPr>
            <a:r>
              <a:rPr lang="en-US" sz="5400" dirty="0">
                <a:ea typeface="+mn-ea"/>
              </a:rPr>
              <a:t>The researcher</a:t>
            </a:r>
          </a:p>
          <a:p>
            <a:pPr eaLnBrk="1" hangingPunct="1">
              <a:buFont typeface="Wingdings" charset="0"/>
              <a:buChar char="w"/>
              <a:defRPr/>
            </a:pPr>
            <a:r>
              <a:rPr lang="en-US" sz="5400" dirty="0">
                <a:ea typeface="+mn-ea"/>
              </a:rPr>
              <a:t>The supervisor</a:t>
            </a:r>
          </a:p>
          <a:p>
            <a:pPr eaLnBrk="1" hangingPunct="1">
              <a:buFont typeface="Wingdings" charset="0"/>
              <a:buChar char="w"/>
              <a:defRPr/>
            </a:pPr>
            <a:r>
              <a:rPr lang="en-US" sz="5400" dirty="0">
                <a:ea typeface="+mn-ea"/>
              </a:rPr>
              <a:t>The evaluator</a:t>
            </a:r>
          </a:p>
        </p:txBody>
      </p:sp>
    </p:spTree>
    <p:extLst>
      <p:ext uri="{BB962C8B-B14F-4D97-AF65-F5344CB8AC3E}">
        <p14:creationId xmlns:p14="http://schemas.microsoft.com/office/powerpoint/2010/main" val="286789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Researcher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Do you know any researchers?</a:t>
            </a:r>
          </a:p>
          <a:p>
            <a:r>
              <a:rPr lang="en-GB" sz="4800" dirty="0"/>
              <a:t>Are you a researcher?</a:t>
            </a:r>
          </a:p>
        </p:txBody>
      </p:sp>
    </p:spTree>
    <p:extLst>
      <p:ext uri="{BB962C8B-B14F-4D97-AF65-F5344CB8AC3E}">
        <p14:creationId xmlns:p14="http://schemas.microsoft.com/office/powerpoint/2010/main" val="1440531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5C53F-E325-4FAF-A0D4-0D44626A0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Homework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C6BA7-859B-4805-9AC8-7933FC62B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23474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Researcher 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75881"/>
            <a:ext cx="10515601" cy="5038928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Discuss with their supervisor supervision and work schedule 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Discuss the topic and timetable with the supervisor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Stick with the schedule and don</a:t>
            </a:r>
            <a:r>
              <a:rPr lang="ja-JP" altLang="en-US" dirty="0"/>
              <a:t>’</a:t>
            </a:r>
            <a:r>
              <a:rPr lang="en-US" altLang="ja-JP" dirty="0"/>
              <a:t>t disappear from the supervisor</a:t>
            </a:r>
            <a:r>
              <a:rPr lang="ja-JP" altLang="en-US" dirty="0"/>
              <a:t>’</a:t>
            </a:r>
            <a:r>
              <a:rPr lang="en-US" altLang="ja-JP" dirty="0"/>
              <a:t>s radar</a:t>
            </a:r>
          </a:p>
          <a:p>
            <a:pPr eaLnBrk="1" hangingPunct="1">
              <a:lnSpc>
                <a:spcPct val="90000"/>
              </a:lnSpc>
            </a:pPr>
            <a:r>
              <a:rPr lang="en-US" dirty="0">
                <a:solidFill>
                  <a:srgbClr val="FF0000"/>
                </a:solidFill>
              </a:rPr>
              <a:t>Keep systematic records of work</a:t>
            </a:r>
          </a:p>
          <a:p>
            <a:pPr eaLnBrk="1" hangingPunct="1">
              <a:lnSpc>
                <a:spcPct val="90000"/>
              </a:lnSpc>
            </a:pPr>
            <a:r>
              <a:rPr lang="en-US" dirty="0"/>
              <a:t>Submit written material with enough time for the supervisor to read it</a:t>
            </a:r>
          </a:p>
          <a:p>
            <a:pPr>
              <a:lnSpc>
                <a:spcPct val="90000"/>
              </a:lnSpc>
            </a:pPr>
            <a:r>
              <a:rPr lang="en-US" dirty="0"/>
              <a:t>Discuss the final submission details with the supervisor</a:t>
            </a:r>
          </a:p>
          <a:p>
            <a:pPr>
              <a:lnSpc>
                <a:spcPct val="90000"/>
              </a:lnSpc>
            </a:pPr>
            <a:r>
              <a:rPr lang="en-US" dirty="0"/>
              <a:t>Don</a:t>
            </a:r>
            <a:r>
              <a:rPr lang="ja-JP" altLang="en-US" dirty="0"/>
              <a:t>’</a:t>
            </a:r>
            <a:r>
              <a:rPr lang="en-US" altLang="ja-JP" dirty="0"/>
              <a:t>t ignore criticisms or guidance from the supervisor</a:t>
            </a:r>
          </a:p>
          <a:p>
            <a:pPr>
              <a:lnSpc>
                <a:spcPct val="90000"/>
              </a:lnSpc>
            </a:pPr>
            <a:r>
              <a:rPr lang="en-US" dirty="0"/>
              <a:t>Let the supervisor know of any problems</a:t>
            </a:r>
          </a:p>
          <a:p>
            <a:pPr>
              <a:lnSpc>
                <a:spcPct val="90000"/>
              </a:lnSpc>
            </a:pPr>
            <a:r>
              <a:rPr lang="en-US" dirty="0"/>
              <a:t>Do their best</a:t>
            </a:r>
          </a:p>
        </p:txBody>
      </p:sp>
    </p:spTree>
    <p:extLst>
      <p:ext uri="{BB962C8B-B14F-4D97-AF65-F5344CB8AC3E}">
        <p14:creationId xmlns:p14="http://schemas.microsoft.com/office/powerpoint/2010/main" val="1125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5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>
                <a:ea typeface="+mj-ea"/>
              </a:rPr>
              <a:t>Assessment by the Evaluator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 typeface="Wingdings" charset="0"/>
              <a:buChar char="w"/>
              <a:defRPr/>
            </a:pPr>
            <a:r>
              <a:rPr lang="en-US" dirty="0"/>
              <a:t>Relevance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w"/>
              <a:defRPr/>
            </a:pPr>
            <a:r>
              <a:rPr lang="en-US" dirty="0"/>
              <a:t>Originality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w"/>
              <a:defRPr/>
            </a:pPr>
            <a:r>
              <a:rPr lang="en-US" dirty="0"/>
              <a:t>Significance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w"/>
              <a:defRPr/>
            </a:pPr>
            <a:r>
              <a:rPr lang="en-US" dirty="0"/>
              <a:t>Not plagiarized 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w"/>
              <a:defRPr/>
            </a:pPr>
            <a:r>
              <a:rPr lang="en-US" dirty="0"/>
              <a:t>Clearly presented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w"/>
              <a:defRPr/>
            </a:pPr>
            <a:r>
              <a:rPr lang="en-US" dirty="0"/>
              <a:t>Consistent presentation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w"/>
              <a:defRPr/>
            </a:pPr>
            <a:r>
              <a:rPr lang="en-US" dirty="0"/>
              <a:t>Apparent understanding of topic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w"/>
              <a:defRPr/>
            </a:pPr>
            <a:r>
              <a:rPr lang="en-US" dirty="0"/>
              <a:t>Ability to handle references and citations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w"/>
              <a:defRPr/>
            </a:pPr>
            <a:r>
              <a:rPr lang="en-US" dirty="0"/>
              <a:t>Ability to meet deadlines</a:t>
            </a:r>
          </a:p>
          <a:p>
            <a:pPr eaLnBrk="1" hangingPunct="1">
              <a:lnSpc>
                <a:spcPct val="90000"/>
              </a:lnSpc>
              <a:buFont typeface="Wingdings" charset="0"/>
              <a:buChar char="w"/>
              <a:defRPr/>
            </a:pPr>
            <a:r>
              <a:rPr lang="en-US" dirty="0"/>
              <a:t>Ability to adhere to formal requirements</a:t>
            </a:r>
          </a:p>
        </p:txBody>
      </p:sp>
      <p:pic>
        <p:nvPicPr>
          <p:cNvPr id="3" name="Picture 2" descr="A person wearing a mask&#10;&#10;Description automatically generated">
            <a:extLst>
              <a:ext uri="{FF2B5EF4-FFF2-40B4-BE49-F238E27FC236}">
                <a16:creationId xmlns:a16="http://schemas.microsoft.com/office/drawing/2014/main" id="{B10308E9-B2A4-425C-9E1B-208F7AFB43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608" y="3540868"/>
            <a:ext cx="3046837" cy="328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74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FE2BC5A5-AB66-4EDA-A2A4-D144326EA9F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898517" y="1225685"/>
            <a:ext cx="7634591" cy="3779196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If you get the chance to be an evaluator it can improve your own research</a:t>
            </a:r>
          </a:p>
        </p:txBody>
      </p:sp>
    </p:spTree>
    <p:extLst>
      <p:ext uri="{BB962C8B-B14F-4D97-AF65-F5344CB8AC3E}">
        <p14:creationId xmlns:p14="http://schemas.microsoft.com/office/powerpoint/2010/main" val="651594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5968</TotalTime>
  <Words>319</Words>
  <Application>Microsoft Office PowerPoint</Application>
  <PresentationFormat>Widescreen</PresentationFormat>
  <Paragraphs>54</Paragraphs>
  <Slides>14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等线</vt:lpstr>
      <vt:lpstr>Arial</vt:lpstr>
      <vt:lpstr>Calibri</vt:lpstr>
      <vt:lpstr>Calibri Light</vt:lpstr>
      <vt:lpstr>Wingdings</vt:lpstr>
      <vt:lpstr>Office Theme</vt:lpstr>
      <vt:lpstr>Research Communication Skills</vt:lpstr>
      <vt:lpstr>Intended Learning Outcomes</vt:lpstr>
      <vt:lpstr>Introduction to research</vt:lpstr>
      <vt:lpstr>Research (1)</vt:lpstr>
      <vt:lpstr>Research (2)</vt:lpstr>
      <vt:lpstr>Research (3)</vt:lpstr>
      <vt:lpstr>Research (4)</vt:lpstr>
      <vt:lpstr>Research Goals</vt:lpstr>
      <vt:lpstr>Key Players</vt:lpstr>
      <vt:lpstr>Researcher</vt:lpstr>
      <vt:lpstr>Homework 1</vt:lpstr>
      <vt:lpstr>Researcher </vt:lpstr>
      <vt:lpstr>Assessment by the Evaluator</vt:lpstr>
      <vt:lpstr>If you get the chance to be an evaluator it can improve your own research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224</cp:revision>
  <cp:lastPrinted>2019-09-03T08:34:37Z</cp:lastPrinted>
  <dcterms:created xsi:type="dcterms:W3CDTF">2014-08-14T09:54:55Z</dcterms:created>
  <dcterms:modified xsi:type="dcterms:W3CDTF">2026-09-01T02:55:33Z</dcterms:modified>
</cp:coreProperties>
</file>