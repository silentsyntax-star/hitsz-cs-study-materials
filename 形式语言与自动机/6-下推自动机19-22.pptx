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10.xml" ContentType="application/vnd.openxmlformats-officedocument.presentationml.tags+xml"/>
  <Override PartName="/ppt/tags/tag120.xml" ContentType="application/vnd.openxmlformats-officedocument.presentationml.tags+xml"/>
  <Override PartName="/ppt/tags/tag140.xml" ContentType="application/vnd.openxmlformats-officedocument.presentationml.tags+xml"/>
  <Override PartName="/ppt/tags/tag160.xml" ContentType="application/vnd.openxmlformats-officedocument.presentationml.tags+xml"/>
  <Override PartName="/ppt/tags/tag300.xml" ContentType="application/vnd.openxmlformats-officedocument.presentationml.tags+xml"/>
  <Override PartName="/ppt/tags/tag410.xml" ContentType="application/vnd.openxmlformats-officedocument.presentationml.tags+xml"/>
  <Override PartName="/ppt/tags/tag510.xml" ContentType="application/vnd.openxmlformats-officedocument.presentationml.tags+xml"/>
  <Override PartName="/ppt/tags/tag610.xml" ContentType="application/vnd.openxmlformats-officedocument.presentationml.tags+xml"/>
  <Override PartName="/ppt/tags/tag710.xml" ContentType="application/vnd.openxmlformats-officedocument.presentationml.tags+xml"/>
  <Override PartName="/ppt/tags/tag8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03"/>
  </p:notesMasterIdLst>
  <p:sldIdLst>
    <p:sldId id="408" r:id="rId3"/>
    <p:sldId id="257" r:id="rId4"/>
    <p:sldId id="407" r:id="rId5"/>
    <p:sldId id="269" r:id="rId6"/>
    <p:sldId id="258" r:id="rId7"/>
    <p:sldId id="264" r:id="rId8"/>
    <p:sldId id="259" r:id="rId9"/>
    <p:sldId id="270" r:id="rId10"/>
    <p:sldId id="271" r:id="rId11"/>
    <p:sldId id="272" r:id="rId12"/>
    <p:sldId id="409" r:id="rId13"/>
    <p:sldId id="274" r:id="rId14"/>
    <p:sldId id="276" r:id="rId15"/>
    <p:sldId id="277" r:id="rId16"/>
    <p:sldId id="268" r:id="rId17"/>
    <p:sldId id="278" r:id="rId18"/>
    <p:sldId id="279" r:id="rId19"/>
    <p:sldId id="280" r:id="rId20"/>
    <p:sldId id="281" r:id="rId21"/>
    <p:sldId id="273" r:id="rId22"/>
    <p:sldId id="282" r:id="rId23"/>
    <p:sldId id="275" r:id="rId24"/>
    <p:sldId id="267" r:id="rId25"/>
    <p:sldId id="421" r:id="rId26"/>
    <p:sldId id="410" r:id="rId27"/>
    <p:sldId id="341" r:id="rId28"/>
    <p:sldId id="371" r:id="rId29"/>
    <p:sldId id="342" r:id="rId30"/>
    <p:sldId id="262" r:id="rId31"/>
    <p:sldId id="343" r:id="rId32"/>
    <p:sldId id="263" r:id="rId33"/>
    <p:sldId id="283" r:id="rId34"/>
    <p:sldId id="344" r:id="rId35"/>
    <p:sldId id="422" r:id="rId36"/>
    <p:sldId id="284" r:id="rId37"/>
    <p:sldId id="423" r:id="rId38"/>
    <p:sldId id="345" r:id="rId39"/>
    <p:sldId id="428" r:id="rId40"/>
    <p:sldId id="286" r:id="rId41"/>
    <p:sldId id="294" r:id="rId42"/>
    <p:sldId id="287" r:id="rId43"/>
    <p:sldId id="295" r:id="rId44"/>
    <p:sldId id="298" r:id="rId45"/>
    <p:sldId id="301" r:id="rId46"/>
    <p:sldId id="351" r:id="rId47"/>
    <p:sldId id="353" r:id="rId48"/>
    <p:sldId id="288" r:id="rId49"/>
    <p:sldId id="355" r:id="rId50"/>
    <p:sldId id="289" r:id="rId51"/>
    <p:sldId id="290" r:id="rId52"/>
    <p:sldId id="356" r:id="rId53"/>
    <p:sldId id="424" r:id="rId54"/>
    <p:sldId id="305" r:id="rId55"/>
    <p:sldId id="412" r:id="rId56"/>
    <p:sldId id="413" r:id="rId57"/>
    <p:sldId id="425" r:id="rId58"/>
    <p:sldId id="411" r:id="rId59"/>
    <p:sldId id="414" r:id="rId60"/>
    <p:sldId id="291" r:id="rId61"/>
    <p:sldId id="293" r:id="rId62"/>
    <p:sldId id="429" r:id="rId63"/>
    <p:sldId id="307" r:id="rId64"/>
    <p:sldId id="431" r:id="rId65"/>
    <p:sldId id="358" r:id="rId66"/>
    <p:sldId id="359" r:id="rId67"/>
    <p:sldId id="426" r:id="rId68"/>
    <p:sldId id="415" r:id="rId69"/>
    <p:sldId id="362" r:id="rId70"/>
    <p:sldId id="361" r:id="rId71"/>
    <p:sldId id="313" r:id="rId72"/>
    <p:sldId id="321" r:id="rId73"/>
    <p:sldId id="322" r:id="rId74"/>
    <p:sldId id="323" r:id="rId75"/>
    <p:sldId id="324" r:id="rId76"/>
    <p:sldId id="363" r:id="rId77"/>
    <p:sldId id="325" r:id="rId78"/>
    <p:sldId id="326" r:id="rId79"/>
    <p:sldId id="427" r:id="rId80"/>
    <p:sldId id="416" r:id="rId81"/>
    <p:sldId id="327" r:id="rId82"/>
    <p:sldId id="417" r:id="rId83"/>
    <p:sldId id="418" r:id="rId84"/>
    <p:sldId id="328" r:id="rId85"/>
    <p:sldId id="364" r:id="rId86"/>
    <p:sldId id="365" r:id="rId87"/>
    <p:sldId id="366" r:id="rId88"/>
    <p:sldId id="367" r:id="rId89"/>
    <p:sldId id="368" r:id="rId90"/>
    <p:sldId id="419" r:id="rId91"/>
    <p:sldId id="369" r:id="rId92"/>
    <p:sldId id="420" r:id="rId93"/>
    <p:sldId id="332" r:id="rId94"/>
    <p:sldId id="331" r:id="rId95"/>
    <p:sldId id="333" r:id="rId96"/>
    <p:sldId id="334" r:id="rId97"/>
    <p:sldId id="335" r:id="rId98"/>
    <p:sldId id="336" r:id="rId99"/>
    <p:sldId id="337" r:id="rId100"/>
    <p:sldId id="338" r:id="rId101"/>
    <p:sldId id="339" r:id="rId102"/>
  </p:sldIdLst>
  <p:sldSz cx="9144000" cy="6858000" type="screen4x3"/>
  <p:notesSz cx="6858000" cy="9144000"/>
  <p:custDataLst>
    <p:tags r:id="rId10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 Yifeng" initials="Z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28" autoAdjust="0"/>
    <p:restoredTop sz="84630" autoAdjust="0"/>
  </p:normalViewPr>
  <p:slideViewPr>
    <p:cSldViewPr snapToGrid="0">
      <p:cViewPr varScale="1">
        <p:scale>
          <a:sx n="64" d="100"/>
          <a:sy n="64" d="100"/>
        </p:scale>
        <p:origin x="1692" y="4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viewProps" Target="viewProp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notesMaster" Target="notesMasters/notesMaster1.xml"/><Relationship Id="rId108"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bleStyles" Target="tableStyle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ags" Target="tags/tag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3DEA-197C-4542-87C0-981212C4EFB2}" type="datetimeFigureOut">
              <a:rPr lang="en-AU" smtClean="0"/>
              <a:t>10/04/2026</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7A903-3A42-486D-A3BC-854A05CABB63}"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学习可以识别上下文无关语言的一种机器装置，下推自动机。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下推自动机与上下文无关文法的等价性</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学习可以识别上下文无关语言的一种机器装置，下推自动机。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下推自动机与上下文无关文法的等价性</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3</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有穷控制器具备非确定和空转移的能力。</a:t>
            </a:r>
            <a:endParaRPr lang="en-AU" altLang="zh-CN" dirty="0"/>
          </a:p>
          <a:p>
            <a:endParaRPr lang="en-AU" dirty="0"/>
          </a:p>
          <a:p>
            <a:r>
              <a:rPr lang="zh-CN" altLang="en-US" dirty="0"/>
              <a:t>比</a:t>
            </a:r>
            <a:r>
              <a:rPr lang="en-AU" altLang="zh-CN" dirty="0"/>
              <a:t>epsilon-NFA</a:t>
            </a:r>
            <a:r>
              <a:rPr lang="zh-CN" altLang="en-US" dirty="0"/>
              <a:t>增加了一个符号栈，以后进先出方式</a:t>
            </a:r>
            <a:endParaRPr lang="en-AU" altLang="zh-CN" dirty="0"/>
          </a:p>
          <a:p>
            <a:endParaRPr lang="en-AU" altLang="zh-CN" dirty="0"/>
          </a:p>
          <a:p>
            <a:r>
              <a:rPr lang="zh-CN" altLang="en-US" dirty="0"/>
              <a:t>符号栈具有一个可以压栈和弹栈的读写头，</a:t>
            </a:r>
            <a:endParaRPr lang="en-AU" altLang="zh-CN" dirty="0"/>
          </a:p>
          <a:p>
            <a:endParaRPr lang="en-AU" altLang="zh-CN" dirty="0"/>
          </a:p>
          <a:p>
            <a:r>
              <a:rPr lang="zh-CN" altLang="en-US" dirty="0"/>
              <a:t>压栈：压入一个符号串，弹栈的时候只能弹出一个符号。</a:t>
            </a:r>
            <a:endParaRPr lang="en-AU" altLang="zh-CN" dirty="0"/>
          </a:p>
          <a:p>
            <a:endParaRPr lang="en-AU" altLang="zh-CN" dirty="0"/>
          </a:p>
          <a:p>
            <a:r>
              <a:rPr lang="zh-CN" altLang="en-US" dirty="0"/>
              <a:t>工作模式：</a:t>
            </a:r>
            <a:endParaRPr lang="en-AU" altLang="zh-CN" dirty="0"/>
          </a:p>
          <a:p>
            <a:endParaRPr lang="en-AU" altLang="zh-CN" dirty="0"/>
          </a:p>
          <a:p>
            <a:r>
              <a:rPr lang="zh-CN" altLang="en-US" dirty="0"/>
              <a:t>有穷</a:t>
            </a:r>
            <a:endParaRPr lang="en-AU" altLang="zh-CN" dirty="0"/>
          </a:p>
        </p:txBody>
      </p:sp>
      <p:sp>
        <p:nvSpPr>
          <p:cNvPr id="4" name="Slide Number Placeholder 3"/>
          <p:cNvSpPr>
            <a:spLocks noGrp="1"/>
          </p:cNvSpPr>
          <p:nvPr>
            <p:ph type="sldNum" sz="quarter" idx="5"/>
          </p:nvPr>
        </p:nvSpPr>
        <p:spPr/>
        <p:txBody>
          <a:bodyPr/>
          <a:lstStyle/>
          <a:p>
            <a:fld id="{FA67A903-3A42-486D-A3BC-854A05CABB63}" type="slidenum">
              <a:rPr lang="en-AU" smtClean="0"/>
              <a:t>5</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有穷控制器具备非确定和空转移的能力。</a:t>
            </a:r>
            <a:endParaRPr lang="en-AU" altLang="zh-CN" dirty="0"/>
          </a:p>
          <a:p>
            <a:endParaRPr lang="en-AU" dirty="0"/>
          </a:p>
          <a:p>
            <a:r>
              <a:rPr lang="zh-CN" altLang="en-US" dirty="0"/>
              <a:t>比</a:t>
            </a:r>
            <a:r>
              <a:rPr lang="en-AU" altLang="zh-CN" dirty="0"/>
              <a:t>epsilon-NFA</a:t>
            </a:r>
            <a:r>
              <a:rPr lang="zh-CN" altLang="en-US" dirty="0"/>
              <a:t>增加了一个符号栈，以后进先出方式</a:t>
            </a:r>
            <a:endParaRPr lang="en-AU" altLang="zh-CN" dirty="0"/>
          </a:p>
          <a:p>
            <a:endParaRPr lang="en-AU" altLang="zh-CN" dirty="0"/>
          </a:p>
          <a:p>
            <a:r>
              <a:rPr lang="zh-CN" altLang="en-US" dirty="0"/>
              <a:t>符号栈具有一个可以压栈和弹栈的读写头，</a:t>
            </a:r>
            <a:endParaRPr lang="en-AU" altLang="zh-CN" dirty="0"/>
          </a:p>
          <a:p>
            <a:endParaRPr lang="en-AU" altLang="zh-CN" dirty="0"/>
          </a:p>
          <a:p>
            <a:r>
              <a:rPr lang="zh-CN" altLang="en-US" dirty="0"/>
              <a:t>压栈：压入一个符号串，弹栈的时候只能弹出一个符号。</a:t>
            </a:r>
            <a:endParaRPr lang="en-AU" altLang="zh-CN" dirty="0"/>
          </a:p>
          <a:p>
            <a:endParaRPr lang="en-AU" altLang="zh-CN" dirty="0"/>
          </a:p>
          <a:p>
            <a:r>
              <a:rPr lang="zh-CN" altLang="en-US" dirty="0"/>
              <a:t>工作模式：</a:t>
            </a:r>
            <a:endParaRPr lang="en-AU" altLang="zh-CN" dirty="0"/>
          </a:p>
          <a:p>
            <a:endParaRPr lang="en-AU" altLang="zh-CN" dirty="0"/>
          </a:p>
          <a:p>
            <a:r>
              <a:rPr lang="zh-CN" altLang="en-US" dirty="0"/>
              <a:t>有穷</a:t>
            </a:r>
            <a:endParaRPr lang="en-AU" altLang="zh-CN" dirty="0"/>
          </a:p>
        </p:txBody>
      </p:sp>
      <p:sp>
        <p:nvSpPr>
          <p:cNvPr id="4" name="Slide Number Placeholder 3"/>
          <p:cNvSpPr>
            <a:spLocks noGrp="1"/>
          </p:cNvSpPr>
          <p:nvPr>
            <p:ph type="sldNum" sz="quarter" idx="5"/>
          </p:nvPr>
        </p:nvSpPr>
        <p:spPr/>
        <p:txBody>
          <a:bodyPr/>
          <a:lstStyle/>
          <a:p>
            <a:fld id="{FA67A903-3A42-486D-A3BC-854A05CABB63}" type="slidenum">
              <a:rPr lang="en-AU" smtClean="0"/>
              <a:t>6</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Delta: </a:t>
            </a:r>
            <a:r>
              <a:rPr lang="zh-CN" altLang="en-US" dirty="0"/>
              <a:t>每个动作需要三个信息，它的动作需要修改状态并且对栈压入一个符号串，但是因为有非确定的能力，所以可以有多种组合。所以这里是，</a:t>
            </a:r>
            <a:r>
              <a:rPr lang="en-AU" altLang="zh-CN" dirty="0" err="1"/>
              <a:t>Qx</a:t>
            </a:r>
            <a:r>
              <a:rPr lang="en-AU" altLang="zh-CN" dirty="0"/>
              <a:t> </a:t>
            </a:r>
            <a:r>
              <a:rPr lang="en-AU" altLang="zh-CN" dirty="0" err="1"/>
              <a:t>gmma</a:t>
            </a:r>
            <a:r>
              <a:rPr lang="en-AU" altLang="zh-CN" dirty="0"/>
              <a:t>*</a:t>
            </a:r>
            <a:r>
              <a:rPr lang="zh-CN" altLang="en-US" dirty="0"/>
              <a:t>的一个幂集。</a:t>
            </a:r>
            <a:endParaRPr lang="en-AU" altLang="zh-CN" dirty="0"/>
          </a:p>
          <a:p>
            <a:endParaRPr lang="en-AU" dirty="0"/>
          </a:p>
          <a:p>
            <a:endParaRPr lang="en-AU" dirty="0"/>
          </a:p>
          <a:p>
            <a:endParaRPr lang="en-AU" dirty="0"/>
          </a:p>
          <a:p>
            <a:r>
              <a:rPr lang="en-US" altLang="zh-CN" dirty="0"/>
              <a:t>Z0</a:t>
            </a:r>
            <a:r>
              <a:rPr lang="zh-CN" altLang="en-US" dirty="0"/>
              <a:t>是自动机最开始的时候，也就是还没有读入任何符号，栈顶的一个特殊符号。因为还没从输入带读入任何符号，所以它不能是</a:t>
            </a:r>
            <a:r>
              <a:rPr lang="en-AU" altLang="zh-CN" dirty="0" err="1"/>
              <a:t>sgimma</a:t>
            </a:r>
            <a:r>
              <a:rPr lang="zh-CN" altLang="en-US" dirty="0"/>
              <a:t>里面的符号。</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7</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r>
              <a:rPr lang="en-US" altLang="zh-CN" dirty="0"/>
              <a:t>Z</a:t>
            </a:r>
            <a:r>
              <a:rPr lang="zh-CN" altLang="en-US" dirty="0"/>
              <a:t>是当前的栈顶符号</a:t>
            </a:r>
            <a:endParaRPr lang="en-AU" altLang="zh-CN" dirty="0"/>
          </a:p>
          <a:p>
            <a:endParaRPr lang="en-AU" dirty="0"/>
          </a:p>
          <a:p>
            <a:r>
              <a:rPr lang="en-AU" dirty="0"/>
              <a:t>Beta</a:t>
            </a:r>
            <a:r>
              <a:rPr lang="en-US" dirty="0"/>
              <a:t>_</a:t>
            </a:r>
            <a:r>
              <a:rPr lang="en-US" dirty="0" err="1"/>
              <a:t>i</a:t>
            </a:r>
            <a:r>
              <a:rPr lang="zh-CN" altLang="en-US" dirty="0"/>
              <a:t>是栈符号串</a:t>
            </a:r>
            <a:endParaRPr lang="en-AU" altLang="zh-CN" dirty="0"/>
          </a:p>
          <a:p>
            <a:endParaRPr lang="en-AU" dirty="0"/>
          </a:p>
          <a:p>
            <a:endParaRPr lang="en-AU" dirty="0"/>
          </a:p>
          <a:p>
            <a:r>
              <a:rPr lang="zh-CN" altLang="en-US" dirty="0"/>
              <a:t>该状态转移函数表示可以由一个当前的状态，转移到</a:t>
            </a:r>
            <a:r>
              <a:rPr lang="en-AU" altLang="zh-CN" dirty="0"/>
              <a:t>m</a:t>
            </a:r>
            <a:r>
              <a:rPr lang="zh-CN" altLang="en-US" dirty="0"/>
              <a:t>个状态之一。</a:t>
            </a:r>
            <a:endParaRPr lang="en-AU" altLang="zh-CN" dirty="0"/>
          </a:p>
          <a:p>
            <a:endParaRPr lang="en-AU" dirty="0"/>
          </a:p>
          <a:p>
            <a:r>
              <a:rPr lang="zh-CN" altLang="en-US" dirty="0"/>
              <a:t>即由状态</a:t>
            </a:r>
            <a:r>
              <a:rPr lang="en-AU" altLang="zh-CN" dirty="0"/>
              <a:t>q</a:t>
            </a:r>
            <a:r>
              <a:rPr lang="zh-CN" altLang="en-US" dirty="0"/>
              <a:t>变为</a:t>
            </a:r>
            <a:r>
              <a:rPr lang="en-AU" altLang="zh-CN" dirty="0" err="1"/>
              <a:t>p_i</a:t>
            </a:r>
            <a:r>
              <a:rPr lang="zh-CN" altLang="en-US" dirty="0"/>
              <a:t>，同时将栈顶符号替换为符号串</a:t>
            </a:r>
            <a:r>
              <a:rPr lang="en-AU" altLang="zh-CN" dirty="0" err="1"/>
              <a:t>beta_i</a:t>
            </a:r>
            <a:r>
              <a:rPr lang="zh-CN" altLang="en-US" dirty="0"/>
              <a:t>。</a:t>
            </a:r>
            <a:endParaRPr lang="en-AU" altLang="zh-CN" dirty="0"/>
          </a:p>
          <a:p>
            <a:endParaRPr lang="en-AU" dirty="0"/>
          </a:p>
          <a:p>
            <a:r>
              <a:rPr lang="zh-CN" altLang="en-US" dirty="0"/>
              <a:t>状态转移图</a:t>
            </a:r>
            <a:r>
              <a:rPr lang="en-AU" altLang="zh-CN" dirty="0"/>
              <a:t>Z/</a:t>
            </a:r>
            <a:r>
              <a:rPr lang="en-AU" altLang="zh-CN" dirty="0" err="1"/>
              <a:t>beta_I</a:t>
            </a:r>
            <a:r>
              <a:rPr lang="zh-CN" altLang="en-US" dirty="0"/>
              <a:t>表示当前栈顶符号为</a:t>
            </a:r>
            <a:r>
              <a:rPr lang="en-US" altLang="zh-CN" dirty="0"/>
              <a:t>Z</a:t>
            </a:r>
            <a:r>
              <a:rPr lang="zh-CN" altLang="en-US" dirty="0"/>
              <a:t>，由</a:t>
            </a:r>
            <a:r>
              <a:rPr lang="en-US" altLang="zh-CN" dirty="0"/>
              <a:t>Z</a:t>
            </a:r>
            <a:r>
              <a:rPr lang="zh-CN" altLang="en-US" dirty="0"/>
              <a:t>变为</a:t>
            </a:r>
            <a:r>
              <a:rPr lang="en-AU" altLang="zh-CN" dirty="0" err="1"/>
              <a:t>beta_i</a:t>
            </a:r>
            <a:r>
              <a:rPr lang="zh-CN" altLang="en-US" dirty="0"/>
              <a:t>。</a:t>
            </a:r>
            <a:endParaRPr lang="en-AU" altLang="zh-CN" dirty="0"/>
          </a:p>
          <a:p>
            <a:endParaRPr lang="en-AU" dirty="0"/>
          </a:p>
          <a:p>
            <a:r>
              <a:rPr lang="zh-CN" altLang="en-US" dirty="0"/>
              <a:t>因为下推自动机具备空转移的能力。如果有空转移的定义，那么它可以由空转移跳到</a:t>
            </a:r>
            <a:r>
              <a:rPr lang="en-AU" altLang="zh-CN" dirty="0"/>
              <a:t>p1,beta1</a:t>
            </a:r>
            <a:r>
              <a:rPr lang="zh-CN" altLang="en-US" dirty="0"/>
              <a:t>。</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10</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因为</a:t>
            </a:r>
            <a:r>
              <a:rPr lang="en-AU" altLang="zh-CN" dirty="0"/>
              <a:t>PDA</a:t>
            </a:r>
            <a:r>
              <a:rPr lang="zh-CN" altLang="en-US" dirty="0"/>
              <a:t>具有栈的结构，我们可以用栈去保存一些信息。</a:t>
            </a:r>
            <a:endParaRPr lang="en-AU" altLang="zh-CN" dirty="0"/>
          </a:p>
          <a:p>
            <a:endParaRPr lang="en-AU" dirty="0"/>
          </a:p>
          <a:p>
            <a:r>
              <a:rPr lang="zh-CN" altLang="en-US" dirty="0"/>
              <a:t>我们可以这样做。</a:t>
            </a:r>
            <a:endParaRPr lang="en-AU" altLang="zh-CN" dirty="0"/>
          </a:p>
          <a:p>
            <a:endParaRPr lang="en-AU" dirty="0"/>
          </a:p>
          <a:p>
            <a:r>
              <a:rPr lang="zh-CN" altLang="en-US" dirty="0"/>
              <a:t>当</a:t>
            </a:r>
            <a:r>
              <a:rPr lang="en-US" altLang="zh-CN" dirty="0"/>
              <a:t>PDA</a:t>
            </a:r>
            <a:r>
              <a:rPr lang="zh-CN" altLang="en-US" dirty="0"/>
              <a:t>读入</a:t>
            </a:r>
            <a:r>
              <a:rPr lang="en-AU" altLang="zh-CN" dirty="0"/>
              <a:t>0</a:t>
            </a:r>
            <a:r>
              <a:rPr lang="zh-CN" altLang="en-US" dirty="0"/>
              <a:t>的时候，我们把</a:t>
            </a:r>
            <a:r>
              <a:rPr lang="en-AU" altLang="zh-CN" dirty="0"/>
              <a:t>0</a:t>
            </a:r>
            <a:r>
              <a:rPr lang="zh-CN" altLang="en-US" dirty="0"/>
              <a:t>全部压入栈中；每读入一个</a:t>
            </a:r>
            <a:r>
              <a:rPr lang="en-AU" altLang="zh-CN" dirty="0"/>
              <a:t>1</a:t>
            </a:r>
            <a:r>
              <a:rPr lang="zh-CN" altLang="en-US" dirty="0"/>
              <a:t>，从栈中弹出一个</a:t>
            </a:r>
            <a:r>
              <a:rPr lang="en-AU" altLang="zh-CN" dirty="0"/>
              <a:t>0</a:t>
            </a:r>
            <a:r>
              <a:rPr lang="zh-CN" altLang="en-US" dirty="0"/>
              <a:t>，使得</a:t>
            </a:r>
            <a:r>
              <a:rPr lang="en-AU" altLang="zh-CN" dirty="0"/>
              <a:t>0</a:t>
            </a:r>
            <a:r>
              <a:rPr lang="zh-CN" altLang="en-US" dirty="0"/>
              <a:t>和</a:t>
            </a:r>
            <a:r>
              <a:rPr lang="en-AU" altLang="zh-CN" dirty="0"/>
              <a:t>1</a:t>
            </a:r>
            <a:r>
              <a:rPr lang="zh-CN" altLang="en-US" dirty="0"/>
              <a:t>数量相等。当扫描完整个字符串的时候，如果刚好把栈底符号</a:t>
            </a:r>
            <a:r>
              <a:rPr lang="en-AU" altLang="zh-CN" dirty="0"/>
              <a:t>Z0</a:t>
            </a:r>
            <a:r>
              <a:rPr lang="zh-CN" altLang="en-US" dirty="0"/>
              <a:t>露出来，那么我们可以通过空转移跳到接受状态。</a:t>
            </a:r>
            <a:endParaRPr lang="en-AU" dirty="0"/>
          </a:p>
          <a:p>
            <a:endParaRPr lang="en-AU" dirty="0"/>
          </a:p>
          <a:p>
            <a:endParaRPr lang="en-AU" dirty="0"/>
          </a:p>
          <a:p>
            <a:r>
              <a:rPr lang="zh-CN" altLang="en-US" dirty="0"/>
              <a:t>首先利用开始状态去压入全部的</a:t>
            </a:r>
            <a:r>
              <a:rPr lang="en-AU" altLang="zh-CN" dirty="0"/>
              <a:t>0</a:t>
            </a:r>
            <a:r>
              <a:rPr lang="zh-CN" altLang="en-US" dirty="0"/>
              <a:t>，定义他的动作。如果当前栈顶是</a:t>
            </a:r>
            <a:r>
              <a:rPr lang="en-AU" altLang="zh-CN" dirty="0"/>
              <a:t>Z0</a:t>
            </a:r>
            <a:r>
              <a:rPr lang="zh-CN" altLang="en-US" dirty="0"/>
              <a:t>的话，那么我们把</a:t>
            </a:r>
            <a:r>
              <a:rPr lang="en-AU" altLang="zh-CN" dirty="0"/>
              <a:t>Z0</a:t>
            </a:r>
            <a:r>
              <a:rPr lang="zh-CN" altLang="en-US" dirty="0"/>
              <a:t>替换为</a:t>
            </a:r>
            <a:r>
              <a:rPr lang="en-AU" altLang="zh-CN" dirty="0"/>
              <a:t>0Z0</a:t>
            </a:r>
            <a:r>
              <a:rPr lang="zh-CN" altLang="en-US" dirty="0"/>
              <a:t>。当读入第一个</a:t>
            </a:r>
            <a:r>
              <a:rPr lang="en-AU" altLang="zh-CN" dirty="0"/>
              <a:t>0</a:t>
            </a:r>
            <a:r>
              <a:rPr lang="zh-CN" altLang="en-US" dirty="0"/>
              <a:t>之后，栈顶就不是</a:t>
            </a:r>
            <a:r>
              <a:rPr lang="en-US" altLang="zh-CN" dirty="0"/>
              <a:t>Z</a:t>
            </a:r>
            <a:r>
              <a:rPr lang="en-AU" altLang="zh-CN" dirty="0"/>
              <a:t>0</a:t>
            </a:r>
            <a:r>
              <a:rPr lang="zh-CN" altLang="en-US" dirty="0"/>
              <a:t>而是</a:t>
            </a:r>
            <a:r>
              <a:rPr lang="en-AU" altLang="zh-CN" dirty="0"/>
              <a:t>0</a:t>
            </a:r>
            <a:r>
              <a:rPr lang="zh-CN" altLang="en-US" dirty="0"/>
              <a:t>了。</a:t>
            </a:r>
            <a:endParaRPr lang="en-AU" altLang="zh-CN" dirty="0"/>
          </a:p>
          <a:p>
            <a:endParaRPr lang="en-AU" dirty="0"/>
          </a:p>
          <a:p>
            <a:r>
              <a:rPr lang="zh-CN" altLang="en-US" dirty="0"/>
              <a:t>其他的</a:t>
            </a:r>
            <a:r>
              <a:rPr lang="en-AU" altLang="zh-CN" dirty="0"/>
              <a:t>0</a:t>
            </a:r>
            <a:r>
              <a:rPr lang="zh-CN" altLang="en-US" dirty="0"/>
              <a:t>我们需要另外一个动作要压入。就是将栈顶的一个</a:t>
            </a:r>
            <a:r>
              <a:rPr lang="en-AU" altLang="zh-CN" dirty="0"/>
              <a:t>0</a:t>
            </a:r>
            <a:r>
              <a:rPr lang="zh-CN" altLang="en-US" dirty="0"/>
              <a:t>替换为两个</a:t>
            </a:r>
            <a:r>
              <a:rPr lang="en-AU" altLang="zh-CN" dirty="0"/>
              <a:t>0.</a:t>
            </a:r>
          </a:p>
          <a:p>
            <a:endParaRPr lang="en-AU" dirty="0"/>
          </a:p>
          <a:p>
            <a:endParaRPr lang="en-AU" dirty="0"/>
          </a:p>
          <a:p>
            <a:r>
              <a:rPr lang="zh-CN" altLang="en-US" dirty="0"/>
              <a:t>通过这两个动作，可以将前面全部的</a:t>
            </a:r>
            <a:r>
              <a:rPr lang="en-AU" altLang="zh-CN" dirty="0"/>
              <a:t>0</a:t>
            </a:r>
            <a:r>
              <a:rPr lang="zh-CN" altLang="en-US" dirty="0"/>
              <a:t>压栈。</a:t>
            </a:r>
            <a:endParaRPr lang="en-AU" altLang="zh-CN" dirty="0"/>
          </a:p>
          <a:p>
            <a:endParaRPr lang="en-AU" dirty="0"/>
          </a:p>
          <a:p>
            <a:r>
              <a:rPr lang="zh-CN" altLang="en-US" dirty="0"/>
              <a:t>因为要求所有</a:t>
            </a:r>
            <a:r>
              <a:rPr lang="en-AU" altLang="zh-CN" dirty="0"/>
              <a:t>0</a:t>
            </a:r>
            <a:r>
              <a:rPr lang="zh-CN" altLang="en-US" dirty="0"/>
              <a:t>在</a:t>
            </a:r>
            <a:r>
              <a:rPr lang="en-AU" altLang="zh-CN" dirty="0"/>
              <a:t>1</a:t>
            </a:r>
            <a:r>
              <a:rPr lang="zh-CN" altLang="en-US" dirty="0"/>
              <a:t>前面，那么将</a:t>
            </a:r>
            <a:r>
              <a:rPr lang="en-AU" altLang="zh-CN" dirty="0"/>
              <a:t>0</a:t>
            </a:r>
            <a:r>
              <a:rPr lang="zh-CN" altLang="en-US" dirty="0"/>
              <a:t>压入栈和弹出栈应该使用不同的状态。</a:t>
            </a:r>
            <a:endParaRPr lang="en-AU" altLang="zh-CN" dirty="0"/>
          </a:p>
          <a:p>
            <a:endParaRPr lang="en-AU" dirty="0"/>
          </a:p>
          <a:p>
            <a:r>
              <a:rPr lang="en-AU" dirty="0"/>
              <a:t>0/epsilon</a:t>
            </a:r>
            <a:r>
              <a:rPr lang="zh-CN" altLang="en-US" dirty="0"/>
              <a:t>表示当前栈顶符号为</a:t>
            </a:r>
            <a:r>
              <a:rPr lang="en-AU" altLang="zh-CN" dirty="0"/>
              <a:t>0</a:t>
            </a:r>
            <a:r>
              <a:rPr lang="zh-CN" altLang="en-US" dirty="0"/>
              <a:t>，经过这个输入后，把栈顶的</a:t>
            </a:r>
            <a:r>
              <a:rPr lang="en-AU" altLang="zh-CN" dirty="0"/>
              <a:t>0</a:t>
            </a:r>
            <a:r>
              <a:rPr lang="zh-CN" altLang="en-US" dirty="0"/>
              <a:t>弹出。</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11</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因为</a:t>
            </a:r>
            <a:r>
              <a:rPr lang="en-AU" altLang="zh-CN" dirty="0"/>
              <a:t>PDA</a:t>
            </a:r>
            <a:r>
              <a:rPr lang="zh-CN" altLang="en-US" dirty="0"/>
              <a:t>具有栈的结构，我们可以用栈去保存一些信息。</a:t>
            </a:r>
            <a:endParaRPr lang="en-AU" altLang="zh-CN" dirty="0"/>
          </a:p>
          <a:p>
            <a:endParaRPr lang="en-AU" dirty="0"/>
          </a:p>
          <a:p>
            <a:r>
              <a:rPr lang="zh-CN" altLang="en-US" dirty="0"/>
              <a:t>我们可以这样做。</a:t>
            </a:r>
            <a:endParaRPr lang="en-AU" altLang="zh-CN" dirty="0"/>
          </a:p>
          <a:p>
            <a:endParaRPr lang="en-AU" dirty="0"/>
          </a:p>
          <a:p>
            <a:r>
              <a:rPr lang="zh-CN" altLang="en-US" dirty="0"/>
              <a:t>当</a:t>
            </a:r>
            <a:r>
              <a:rPr lang="en-US" altLang="zh-CN" dirty="0"/>
              <a:t>PDA</a:t>
            </a:r>
            <a:r>
              <a:rPr lang="zh-CN" altLang="en-US" dirty="0"/>
              <a:t>读入</a:t>
            </a:r>
            <a:r>
              <a:rPr lang="en-AU" altLang="zh-CN" dirty="0"/>
              <a:t>0</a:t>
            </a:r>
            <a:r>
              <a:rPr lang="zh-CN" altLang="en-US" dirty="0"/>
              <a:t>的时候，我们把</a:t>
            </a:r>
            <a:r>
              <a:rPr lang="en-AU" altLang="zh-CN" dirty="0"/>
              <a:t>0</a:t>
            </a:r>
            <a:r>
              <a:rPr lang="zh-CN" altLang="en-US" dirty="0"/>
              <a:t>全部压入栈中；每读入一个</a:t>
            </a:r>
            <a:r>
              <a:rPr lang="en-AU" altLang="zh-CN" dirty="0"/>
              <a:t>1</a:t>
            </a:r>
            <a:r>
              <a:rPr lang="zh-CN" altLang="en-US" dirty="0"/>
              <a:t>，从栈中弹出一个</a:t>
            </a:r>
            <a:r>
              <a:rPr lang="en-AU" altLang="zh-CN" dirty="0"/>
              <a:t>0</a:t>
            </a:r>
            <a:r>
              <a:rPr lang="zh-CN" altLang="en-US" dirty="0"/>
              <a:t>，使得</a:t>
            </a:r>
            <a:r>
              <a:rPr lang="en-AU" altLang="zh-CN" dirty="0"/>
              <a:t>0</a:t>
            </a:r>
            <a:r>
              <a:rPr lang="zh-CN" altLang="en-US" dirty="0"/>
              <a:t>和</a:t>
            </a:r>
            <a:r>
              <a:rPr lang="en-AU" altLang="zh-CN" dirty="0"/>
              <a:t>1</a:t>
            </a:r>
            <a:r>
              <a:rPr lang="zh-CN" altLang="en-US" dirty="0"/>
              <a:t>数量相等。当扫描完整个字符串的时候，如果刚好把栈底符号</a:t>
            </a:r>
            <a:r>
              <a:rPr lang="en-AU" altLang="zh-CN" dirty="0"/>
              <a:t>Z0</a:t>
            </a:r>
            <a:r>
              <a:rPr lang="zh-CN" altLang="en-US" dirty="0"/>
              <a:t>露出来，那么我们可以通过空转移跳到接受状态。</a:t>
            </a:r>
            <a:endParaRPr lang="en-AU" dirty="0"/>
          </a:p>
          <a:p>
            <a:endParaRPr lang="en-AU" dirty="0"/>
          </a:p>
          <a:p>
            <a:endParaRPr lang="en-AU" dirty="0"/>
          </a:p>
          <a:p>
            <a:r>
              <a:rPr lang="zh-CN" altLang="en-US" dirty="0"/>
              <a:t>首先利用开始状态去压入全部的</a:t>
            </a:r>
            <a:r>
              <a:rPr lang="en-AU" altLang="zh-CN" dirty="0"/>
              <a:t>0</a:t>
            </a:r>
            <a:r>
              <a:rPr lang="zh-CN" altLang="en-US" dirty="0"/>
              <a:t>，定义他的动作。如果当前栈顶是</a:t>
            </a:r>
            <a:r>
              <a:rPr lang="en-AU" altLang="zh-CN" dirty="0"/>
              <a:t>Z0</a:t>
            </a:r>
            <a:r>
              <a:rPr lang="zh-CN" altLang="en-US" dirty="0"/>
              <a:t>的话，那么我们把</a:t>
            </a:r>
            <a:r>
              <a:rPr lang="en-AU" altLang="zh-CN" dirty="0"/>
              <a:t>Z0</a:t>
            </a:r>
            <a:r>
              <a:rPr lang="zh-CN" altLang="en-US" dirty="0"/>
              <a:t>替换为</a:t>
            </a:r>
            <a:r>
              <a:rPr lang="en-AU" altLang="zh-CN" dirty="0"/>
              <a:t>0Z0</a:t>
            </a:r>
            <a:r>
              <a:rPr lang="zh-CN" altLang="en-US" dirty="0"/>
              <a:t>。当读入第一个</a:t>
            </a:r>
            <a:r>
              <a:rPr lang="en-AU" altLang="zh-CN" dirty="0"/>
              <a:t>0</a:t>
            </a:r>
            <a:r>
              <a:rPr lang="zh-CN" altLang="en-US" dirty="0"/>
              <a:t>之后，栈顶就不是</a:t>
            </a:r>
            <a:r>
              <a:rPr lang="en-US" altLang="zh-CN" dirty="0"/>
              <a:t>Z</a:t>
            </a:r>
            <a:r>
              <a:rPr lang="en-AU" altLang="zh-CN" dirty="0"/>
              <a:t>0</a:t>
            </a:r>
            <a:r>
              <a:rPr lang="zh-CN" altLang="en-US" dirty="0"/>
              <a:t>而是</a:t>
            </a:r>
            <a:r>
              <a:rPr lang="en-AU" altLang="zh-CN" dirty="0"/>
              <a:t>0</a:t>
            </a:r>
            <a:r>
              <a:rPr lang="zh-CN" altLang="en-US" dirty="0"/>
              <a:t>了。</a:t>
            </a:r>
            <a:endParaRPr lang="en-AU" altLang="zh-CN" dirty="0"/>
          </a:p>
          <a:p>
            <a:endParaRPr lang="en-AU" dirty="0"/>
          </a:p>
          <a:p>
            <a:r>
              <a:rPr lang="zh-CN" altLang="en-US" dirty="0"/>
              <a:t>其他的</a:t>
            </a:r>
            <a:r>
              <a:rPr lang="en-AU" altLang="zh-CN" dirty="0"/>
              <a:t>0</a:t>
            </a:r>
            <a:r>
              <a:rPr lang="zh-CN" altLang="en-US" dirty="0"/>
              <a:t>我们需要另外一个动作要压入。就是将栈顶的一个</a:t>
            </a:r>
            <a:r>
              <a:rPr lang="en-AU" altLang="zh-CN" dirty="0"/>
              <a:t>0</a:t>
            </a:r>
            <a:r>
              <a:rPr lang="zh-CN" altLang="en-US" dirty="0"/>
              <a:t>替换为两个</a:t>
            </a:r>
            <a:r>
              <a:rPr lang="en-AU" altLang="zh-CN" dirty="0"/>
              <a:t>0.</a:t>
            </a:r>
          </a:p>
          <a:p>
            <a:endParaRPr lang="en-AU" dirty="0"/>
          </a:p>
          <a:p>
            <a:endParaRPr lang="en-AU" dirty="0"/>
          </a:p>
          <a:p>
            <a:r>
              <a:rPr lang="zh-CN" altLang="en-US" dirty="0"/>
              <a:t>通过这两个动作，可以将前面全部的</a:t>
            </a:r>
            <a:r>
              <a:rPr lang="en-AU" altLang="zh-CN" dirty="0"/>
              <a:t>0</a:t>
            </a:r>
            <a:r>
              <a:rPr lang="zh-CN" altLang="en-US" dirty="0"/>
              <a:t>压栈。</a:t>
            </a:r>
            <a:endParaRPr lang="en-AU" altLang="zh-CN" dirty="0"/>
          </a:p>
          <a:p>
            <a:endParaRPr lang="en-AU" dirty="0"/>
          </a:p>
          <a:p>
            <a:r>
              <a:rPr lang="zh-CN" altLang="en-US" dirty="0"/>
              <a:t>因为要求所有</a:t>
            </a:r>
            <a:r>
              <a:rPr lang="en-AU" altLang="zh-CN" dirty="0"/>
              <a:t>0</a:t>
            </a:r>
            <a:r>
              <a:rPr lang="zh-CN" altLang="en-US" dirty="0"/>
              <a:t>在</a:t>
            </a:r>
            <a:r>
              <a:rPr lang="en-AU" altLang="zh-CN" dirty="0"/>
              <a:t>1</a:t>
            </a:r>
            <a:r>
              <a:rPr lang="zh-CN" altLang="en-US" dirty="0"/>
              <a:t>前面，那么将</a:t>
            </a:r>
            <a:r>
              <a:rPr lang="en-AU" altLang="zh-CN" dirty="0"/>
              <a:t>0</a:t>
            </a:r>
            <a:r>
              <a:rPr lang="zh-CN" altLang="en-US" dirty="0"/>
              <a:t>压入栈和弹出栈应该使用不同的状态。</a:t>
            </a:r>
            <a:endParaRPr lang="en-AU" altLang="zh-CN" dirty="0"/>
          </a:p>
          <a:p>
            <a:endParaRPr lang="en-AU" dirty="0"/>
          </a:p>
          <a:p>
            <a:r>
              <a:rPr lang="en-AU" dirty="0"/>
              <a:t>0/epsilon</a:t>
            </a:r>
            <a:r>
              <a:rPr lang="zh-CN" altLang="en-US" dirty="0"/>
              <a:t>表示当前栈顶符号为</a:t>
            </a:r>
            <a:r>
              <a:rPr lang="en-AU" altLang="zh-CN" dirty="0"/>
              <a:t>0</a:t>
            </a:r>
            <a:r>
              <a:rPr lang="zh-CN" altLang="en-US" dirty="0"/>
              <a:t>，经过这个输入后，把栈顶的</a:t>
            </a:r>
            <a:r>
              <a:rPr lang="en-AU" altLang="zh-CN" dirty="0"/>
              <a:t>0</a:t>
            </a:r>
            <a:r>
              <a:rPr lang="zh-CN" altLang="en-US" dirty="0"/>
              <a:t>弹出。</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12</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因为</a:t>
            </a:r>
            <a:r>
              <a:rPr lang="en-AU" altLang="zh-CN" dirty="0"/>
              <a:t>PDA</a:t>
            </a:r>
            <a:r>
              <a:rPr lang="zh-CN" altLang="en-US" dirty="0"/>
              <a:t>具有栈的结构，我们可以用栈去保存一些信息。</a:t>
            </a:r>
            <a:endParaRPr lang="en-AU" altLang="zh-CN" dirty="0"/>
          </a:p>
          <a:p>
            <a:endParaRPr lang="en-AU" dirty="0"/>
          </a:p>
          <a:p>
            <a:r>
              <a:rPr lang="zh-CN" altLang="en-US" dirty="0"/>
              <a:t>我们可以这样做。</a:t>
            </a:r>
            <a:endParaRPr lang="en-AU" altLang="zh-CN" dirty="0"/>
          </a:p>
          <a:p>
            <a:endParaRPr lang="en-AU" dirty="0"/>
          </a:p>
          <a:p>
            <a:r>
              <a:rPr lang="zh-CN" altLang="en-US" dirty="0"/>
              <a:t>当</a:t>
            </a:r>
            <a:r>
              <a:rPr lang="en-US" altLang="zh-CN" dirty="0"/>
              <a:t>PDA</a:t>
            </a:r>
            <a:r>
              <a:rPr lang="zh-CN" altLang="en-US" dirty="0"/>
              <a:t>读入</a:t>
            </a:r>
            <a:r>
              <a:rPr lang="en-AU" altLang="zh-CN" dirty="0"/>
              <a:t>0</a:t>
            </a:r>
            <a:r>
              <a:rPr lang="zh-CN" altLang="en-US" dirty="0"/>
              <a:t>的时候，我们把</a:t>
            </a:r>
            <a:r>
              <a:rPr lang="en-AU" altLang="zh-CN" dirty="0"/>
              <a:t>0</a:t>
            </a:r>
            <a:r>
              <a:rPr lang="zh-CN" altLang="en-US" dirty="0"/>
              <a:t>全部压入栈中；每读入一个</a:t>
            </a:r>
            <a:r>
              <a:rPr lang="en-AU" altLang="zh-CN" dirty="0"/>
              <a:t>1</a:t>
            </a:r>
            <a:r>
              <a:rPr lang="zh-CN" altLang="en-US" dirty="0"/>
              <a:t>，从栈中弹出一个</a:t>
            </a:r>
            <a:r>
              <a:rPr lang="en-AU" altLang="zh-CN" dirty="0"/>
              <a:t>0</a:t>
            </a:r>
            <a:r>
              <a:rPr lang="zh-CN" altLang="en-US" dirty="0"/>
              <a:t>，使得</a:t>
            </a:r>
            <a:r>
              <a:rPr lang="en-AU" altLang="zh-CN" dirty="0"/>
              <a:t>0</a:t>
            </a:r>
            <a:r>
              <a:rPr lang="zh-CN" altLang="en-US" dirty="0"/>
              <a:t>和</a:t>
            </a:r>
            <a:r>
              <a:rPr lang="en-AU" altLang="zh-CN" dirty="0"/>
              <a:t>1</a:t>
            </a:r>
            <a:r>
              <a:rPr lang="zh-CN" altLang="en-US" dirty="0"/>
              <a:t>数量相等。当扫描完整个字符串的时候，如果刚好把栈底符号</a:t>
            </a:r>
            <a:r>
              <a:rPr lang="en-AU" altLang="zh-CN" dirty="0"/>
              <a:t>Z0</a:t>
            </a:r>
            <a:r>
              <a:rPr lang="zh-CN" altLang="en-US" dirty="0"/>
              <a:t>露出来，那么我们可以通过空转移跳到接受状态。</a:t>
            </a:r>
            <a:endParaRPr lang="en-AU" altLang="zh-CN" dirty="0"/>
          </a:p>
          <a:p>
            <a:endParaRPr lang="en-AU" dirty="0"/>
          </a:p>
          <a:p>
            <a:endParaRPr lang="en-AU" dirty="0"/>
          </a:p>
          <a:p>
            <a:endParaRPr lang="en-AU" dirty="0"/>
          </a:p>
          <a:p>
            <a:r>
              <a:rPr lang="zh-CN" altLang="en-US" dirty="0"/>
              <a:t>首先利用开始状态去压入全部的</a:t>
            </a:r>
            <a:r>
              <a:rPr lang="en-AU" altLang="zh-CN" dirty="0"/>
              <a:t>0</a:t>
            </a:r>
            <a:r>
              <a:rPr lang="zh-CN" altLang="en-US" dirty="0"/>
              <a:t>，定义他的动作。如果当前栈顶是</a:t>
            </a:r>
            <a:r>
              <a:rPr lang="en-AU" altLang="zh-CN" dirty="0"/>
              <a:t>Z0</a:t>
            </a:r>
            <a:r>
              <a:rPr lang="zh-CN" altLang="en-US" dirty="0"/>
              <a:t>的话，那么我们把</a:t>
            </a:r>
            <a:r>
              <a:rPr lang="en-AU" altLang="zh-CN" dirty="0"/>
              <a:t>Z0</a:t>
            </a:r>
            <a:r>
              <a:rPr lang="zh-CN" altLang="en-US" dirty="0"/>
              <a:t>替换为</a:t>
            </a:r>
            <a:r>
              <a:rPr lang="en-AU" altLang="zh-CN" dirty="0"/>
              <a:t>0Z0</a:t>
            </a:r>
            <a:r>
              <a:rPr lang="zh-CN" altLang="en-US" dirty="0"/>
              <a:t>。当读入第一个</a:t>
            </a:r>
            <a:r>
              <a:rPr lang="en-AU" altLang="zh-CN" dirty="0"/>
              <a:t>0</a:t>
            </a:r>
            <a:r>
              <a:rPr lang="zh-CN" altLang="en-US" dirty="0"/>
              <a:t>之后，栈顶就不是</a:t>
            </a:r>
            <a:r>
              <a:rPr lang="en-US" altLang="zh-CN" dirty="0"/>
              <a:t>Z</a:t>
            </a:r>
            <a:r>
              <a:rPr lang="en-AU" altLang="zh-CN" dirty="0"/>
              <a:t>0</a:t>
            </a:r>
            <a:r>
              <a:rPr lang="zh-CN" altLang="en-US" dirty="0"/>
              <a:t>而是</a:t>
            </a:r>
            <a:r>
              <a:rPr lang="en-AU" altLang="zh-CN" dirty="0"/>
              <a:t>0</a:t>
            </a:r>
            <a:r>
              <a:rPr lang="zh-CN" altLang="en-US" dirty="0"/>
              <a:t>了。</a:t>
            </a:r>
            <a:endParaRPr lang="en-AU" altLang="zh-CN" dirty="0"/>
          </a:p>
          <a:p>
            <a:endParaRPr lang="en-AU" dirty="0"/>
          </a:p>
          <a:p>
            <a:r>
              <a:rPr lang="zh-CN" altLang="en-US" dirty="0"/>
              <a:t>其他的</a:t>
            </a:r>
            <a:r>
              <a:rPr lang="en-AU" altLang="zh-CN" dirty="0"/>
              <a:t>0</a:t>
            </a:r>
            <a:r>
              <a:rPr lang="zh-CN" altLang="en-US" dirty="0"/>
              <a:t>我们需要另外一个动作要压入。就是将栈顶的一个</a:t>
            </a:r>
            <a:r>
              <a:rPr lang="en-AU" altLang="zh-CN" dirty="0"/>
              <a:t>0</a:t>
            </a:r>
            <a:r>
              <a:rPr lang="zh-CN" altLang="en-US" dirty="0"/>
              <a:t>替换为两个</a:t>
            </a:r>
            <a:r>
              <a:rPr lang="en-AU" altLang="zh-CN" dirty="0"/>
              <a:t>0.</a:t>
            </a:r>
          </a:p>
          <a:p>
            <a:endParaRPr lang="en-AU" dirty="0"/>
          </a:p>
          <a:p>
            <a:endParaRPr lang="en-AU" dirty="0"/>
          </a:p>
          <a:p>
            <a:r>
              <a:rPr lang="zh-CN" altLang="en-US" dirty="0"/>
              <a:t>通过这两个动作，可以将前面全部的</a:t>
            </a:r>
            <a:r>
              <a:rPr lang="en-AU" altLang="zh-CN" dirty="0"/>
              <a:t>0</a:t>
            </a:r>
            <a:r>
              <a:rPr lang="zh-CN" altLang="en-US" dirty="0"/>
              <a:t>压栈。</a:t>
            </a:r>
            <a:endParaRPr lang="en-AU" altLang="zh-CN" dirty="0"/>
          </a:p>
          <a:p>
            <a:endParaRPr lang="en-AU" dirty="0"/>
          </a:p>
          <a:p>
            <a:r>
              <a:rPr lang="zh-CN" altLang="en-US" dirty="0"/>
              <a:t>因为要求所有</a:t>
            </a:r>
            <a:r>
              <a:rPr lang="en-AU" altLang="zh-CN" dirty="0"/>
              <a:t>0</a:t>
            </a:r>
            <a:r>
              <a:rPr lang="zh-CN" altLang="en-US" dirty="0"/>
              <a:t>在</a:t>
            </a:r>
            <a:r>
              <a:rPr lang="en-AU" altLang="zh-CN" dirty="0"/>
              <a:t>1</a:t>
            </a:r>
            <a:r>
              <a:rPr lang="zh-CN" altLang="en-US" dirty="0"/>
              <a:t>前面，那么将</a:t>
            </a:r>
            <a:r>
              <a:rPr lang="en-AU" altLang="zh-CN" dirty="0"/>
              <a:t>0</a:t>
            </a:r>
            <a:r>
              <a:rPr lang="zh-CN" altLang="en-US" dirty="0"/>
              <a:t>压入栈和弹出栈应该使用不同的状态。</a:t>
            </a:r>
            <a:endParaRPr lang="en-AU" altLang="zh-CN" dirty="0"/>
          </a:p>
          <a:p>
            <a:endParaRPr lang="en-AU" dirty="0"/>
          </a:p>
          <a:p>
            <a:r>
              <a:rPr lang="en-AU" dirty="0"/>
              <a:t>0/epsilon</a:t>
            </a:r>
            <a:r>
              <a:rPr lang="zh-CN" altLang="en-US" dirty="0"/>
              <a:t>表示当前栈顶符号为</a:t>
            </a:r>
            <a:r>
              <a:rPr lang="en-AU" altLang="zh-CN" dirty="0"/>
              <a:t>0</a:t>
            </a:r>
            <a:r>
              <a:rPr lang="zh-CN" altLang="en-US" dirty="0"/>
              <a:t>，经过这个输入后，把栈顶的</a:t>
            </a:r>
            <a:r>
              <a:rPr lang="en-AU" altLang="zh-CN" dirty="0"/>
              <a:t>0</a:t>
            </a:r>
            <a:r>
              <a:rPr lang="zh-CN" altLang="en-US" dirty="0"/>
              <a:t>弹出。</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13</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F24E99F-6156-44AB-9F96-4758898DF176}" type="slidenum">
              <a:rPr lang="en-US" altLang="en-US"/>
              <a:t>14</a:t>
            </a:fld>
            <a:endParaRPr lang="en-US" altLang="en-US"/>
          </a:p>
        </p:txBody>
      </p:sp>
      <p:sp>
        <p:nvSpPr>
          <p:cNvPr id="30722" name="Rectangle 2"/>
          <p:cNvSpPr>
            <a:spLocks noGrp="1" noRot="1" noChangeAspect="1" noChangeArrowheads="1" noTextEdit="1"/>
          </p:cNvSpPr>
          <p:nvPr>
            <p:ph type="sldImg"/>
          </p:nvPr>
        </p:nvSpPr>
        <p:spPr/>
      </p:sp>
      <p:sp>
        <p:nvSpPr>
          <p:cNvPr id="3072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E916A79-6B15-4936-82BF-5DFA6E98FD2B}" type="slidenum">
              <a:rPr lang="en-US" altLang="en-US"/>
              <a:t>15</a:t>
            </a:fld>
            <a:endParaRPr lang="en-US" altLang="en-US"/>
          </a:p>
        </p:txBody>
      </p:sp>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15EE7F-CE60-46A3-99C5-1ED9694CFBC3}" type="slidenum">
              <a:rPr lang="en-US" altLang="en-US"/>
              <a:t>16</a:t>
            </a:fld>
            <a:endParaRPr lang="en-US" altLang="en-US"/>
          </a:p>
        </p:txBody>
      </p:sp>
      <p:sp>
        <p:nvSpPr>
          <p:cNvPr id="34818" name="Rectangle 2"/>
          <p:cNvSpPr>
            <a:spLocks noGrp="1" noRot="1" noChangeAspect="1" noChangeArrowheads="1" noTextEdit="1"/>
          </p:cNvSpPr>
          <p:nvPr>
            <p:ph type="sldImg"/>
          </p:nvPr>
        </p:nvSpPr>
        <p:spPr/>
      </p:sp>
      <p:sp>
        <p:nvSpPr>
          <p:cNvPr id="348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0DB795F-E5CE-468B-B9D1-1A33D53A3D7B}" type="slidenum">
              <a:rPr lang="en-US" altLang="en-US"/>
              <a:t>17</a:t>
            </a:fld>
            <a:endParaRPr lang="en-US" altLang="en-US"/>
          </a:p>
        </p:txBody>
      </p:sp>
      <p:sp>
        <p:nvSpPr>
          <p:cNvPr id="36866" name="Rectangle 2"/>
          <p:cNvSpPr>
            <a:spLocks noGrp="1" noRot="1" noChangeAspect="1" noChangeArrowheads="1" noTextEdit="1"/>
          </p:cNvSpPr>
          <p:nvPr>
            <p:ph type="sldImg"/>
          </p:nvPr>
        </p:nvSpPr>
        <p:spPr/>
      </p:sp>
      <p:sp>
        <p:nvSpPr>
          <p:cNvPr id="368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D6CB861-5277-4BE1-899A-4D16E0CE8DB7}" type="slidenum">
              <a:rPr lang="en-US" altLang="en-US"/>
              <a:t>18</a:t>
            </a:fld>
            <a:endParaRPr lang="en-US" altLang="en-US"/>
          </a:p>
        </p:txBody>
      </p:sp>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A230E39-6E65-4404-8FCA-468492DD1730}" type="slidenum">
              <a:rPr lang="en-US" altLang="en-US"/>
              <a:t>19</a:t>
            </a:fld>
            <a:endParaRPr lang="en-US" altLang="en-US"/>
          </a:p>
        </p:txBody>
      </p:sp>
      <p:sp>
        <p:nvSpPr>
          <p:cNvPr id="40962" name="Rectangle 2"/>
          <p:cNvSpPr>
            <a:spLocks noGrp="1" noRot="1" noChangeAspect="1" noChangeArrowheads="1" noTextEdit="1"/>
          </p:cNvSpPr>
          <p:nvPr>
            <p:ph type="sldImg"/>
          </p:nvPr>
        </p:nvSpPr>
        <p:spPr/>
      </p:sp>
      <p:sp>
        <p:nvSpPr>
          <p:cNvPr id="409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73324DF-7141-4798-BE06-FDD7DC826F43}" type="slidenum">
              <a:rPr lang="en-US" altLang="en-US"/>
              <a:t>20</a:t>
            </a:fld>
            <a:endParaRPr lang="en-US" altLang="en-US"/>
          </a:p>
        </p:txBody>
      </p:sp>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31EB4F9-4A34-49E2-A1E3-03F91DB89E10}" type="slidenum">
              <a:rPr lang="en-US" altLang="en-US"/>
              <a:t>21</a:t>
            </a:fld>
            <a:endParaRPr lang="en-US" altLang="en-US"/>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因为</a:t>
            </a:r>
            <a:r>
              <a:rPr lang="en-AU" altLang="zh-CN" dirty="0"/>
              <a:t>PDA</a:t>
            </a:r>
            <a:r>
              <a:rPr lang="zh-CN" altLang="en-US" dirty="0"/>
              <a:t>具有栈的结构，我们可以用栈去保存一些信息。</a:t>
            </a:r>
            <a:endParaRPr lang="en-AU" altLang="zh-CN" dirty="0"/>
          </a:p>
          <a:p>
            <a:endParaRPr lang="en-AU" dirty="0"/>
          </a:p>
          <a:p>
            <a:r>
              <a:rPr lang="zh-CN" altLang="en-US" dirty="0"/>
              <a:t>我们可以这样做。</a:t>
            </a:r>
            <a:endParaRPr lang="en-AU" altLang="zh-CN" dirty="0"/>
          </a:p>
          <a:p>
            <a:endParaRPr lang="en-AU" dirty="0"/>
          </a:p>
          <a:p>
            <a:r>
              <a:rPr lang="zh-CN" altLang="en-US" dirty="0"/>
              <a:t>当</a:t>
            </a:r>
            <a:r>
              <a:rPr lang="en-US" altLang="zh-CN" dirty="0"/>
              <a:t>PDA</a:t>
            </a:r>
            <a:r>
              <a:rPr lang="zh-CN" altLang="en-US" dirty="0"/>
              <a:t>读入</a:t>
            </a:r>
            <a:r>
              <a:rPr lang="en-AU" altLang="zh-CN" dirty="0"/>
              <a:t>0</a:t>
            </a:r>
            <a:r>
              <a:rPr lang="zh-CN" altLang="en-US" dirty="0"/>
              <a:t>的时候，我们把</a:t>
            </a:r>
            <a:r>
              <a:rPr lang="en-AU" altLang="zh-CN" dirty="0"/>
              <a:t>0</a:t>
            </a:r>
            <a:r>
              <a:rPr lang="zh-CN" altLang="en-US" dirty="0"/>
              <a:t>全部压入栈中；每读入一个</a:t>
            </a:r>
            <a:r>
              <a:rPr lang="en-AU" altLang="zh-CN" dirty="0"/>
              <a:t>1</a:t>
            </a:r>
            <a:r>
              <a:rPr lang="zh-CN" altLang="en-US" dirty="0"/>
              <a:t>，从栈中弹出一个</a:t>
            </a:r>
            <a:r>
              <a:rPr lang="en-AU" altLang="zh-CN" dirty="0"/>
              <a:t>0</a:t>
            </a:r>
            <a:r>
              <a:rPr lang="zh-CN" altLang="en-US" dirty="0"/>
              <a:t>，使得</a:t>
            </a:r>
            <a:r>
              <a:rPr lang="en-AU" altLang="zh-CN" dirty="0"/>
              <a:t>0</a:t>
            </a:r>
            <a:r>
              <a:rPr lang="zh-CN" altLang="en-US" dirty="0"/>
              <a:t>和</a:t>
            </a:r>
            <a:r>
              <a:rPr lang="en-AU" altLang="zh-CN" dirty="0"/>
              <a:t>1</a:t>
            </a:r>
            <a:r>
              <a:rPr lang="zh-CN" altLang="en-US" dirty="0"/>
              <a:t>数量相等。当扫描完整个字符串的时候，如果刚好把栈底符号</a:t>
            </a:r>
            <a:r>
              <a:rPr lang="en-AU" altLang="zh-CN" dirty="0"/>
              <a:t>Z0</a:t>
            </a:r>
            <a:r>
              <a:rPr lang="zh-CN" altLang="en-US" dirty="0"/>
              <a:t>露出来，那么我们可以通过空转移跳到接受状态。</a:t>
            </a:r>
            <a:endParaRPr lang="en-AU" altLang="zh-CN" dirty="0"/>
          </a:p>
          <a:p>
            <a:endParaRPr lang="en-AU" dirty="0"/>
          </a:p>
          <a:p>
            <a:endParaRPr lang="en-AU" dirty="0"/>
          </a:p>
          <a:p>
            <a:endParaRPr lang="en-AU" dirty="0"/>
          </a:p>
          <a:p>
            <a:r>
              <a:rPr lang="zh-CN" altLang="en-US" dirty="0"/>
              <a:t>首先利用开始状态去压入全部的</a:t>
            </a:r>
            <a:r>
              <a:rPr lang="en-AU" altLang="zh-CN" dirty="0"/>
              <a:t>0</a:t>
            </a:r>
            <a:r>
              <a:rPr lang="zh-CN" altLang="en-US" dirty="0"/>
              <a:t>，定义他的动作。如果当前栈顶是</a:t>
            </a:r>
            <a:r>
              <a:rPr lang="en-AU" altLang="zh-CN" dirty="0"/>
              <a:t>Z0</a:t>
            </a:r>
            <a:r>
              <a:rPr lang="zh-CN" altLang="en-US" dirty="0"/>
              <a:t>的话，那么我们把</a:t>
            </a:r>
            <a:r>
              <a:rPr lang="en-AU" altLang="zh-CN" dirty="0"/>
              <a:t>Z0</a:t>
            </a:r>
            <a:r>
              <a:rPr lang="zh-CN" altLang="en-US" dirty="0"/>
              <a:t>替换为</a:t>
            </a:r>
            <a:r>
              <a:rPr lang="en-AU" altLang="zh-CN" dirty="0"/>
              <a:t>0Z0</a:t>
            </a:r>
            <a:r>
              <a:rPr lang="zh-CN" altLang="en-US" dirty="0"/>
              <a:t>。当读入第一个</a:t>
            </a:r>
            <a:r>
              <a:rPr lang="en-AU" altLang="zh-CN" dirty="0"/>
              <a:t>0</a:t>
            </a:r>
            <a:r>
              <a:rPr lang="zh-CN" altLang="en-US" dirty="0"/>
              <a:t>之后，栈顶就不是</a:t>
            </a:r>
            <a:r>
              <a:rPr lang="en-US" altLang="zh-CN" dirty="0"/>
              <a:t>Z</a:t>
            </a:r>
            <a:r>
              <a:rPr lang="en-AU" altLang="zh-CN" dirty="0"/>
              <a:t>0</a:t>
            </a:r>
            <a:r>
              <a:rPr lang="zh-CN" altLang="en-US" dirty="0"/>
              <a:t>而是</a:t>
            </a:r>
            <a:r>
              <a:rPr lang="en-AU" altLang="zh-CN" dirty="0"/>
              <a:t>0</a:t>
            </a:r>
            <a:r>
              <a:rPr lang="zh-CN" altLang="en-US" dirty="0"/>
              <a:t>了。</a:t>
            </a:r>
            <a:endParaRPr lang="en-AU" altLang="zh-CN" dirty="0"/>
          </a:p>
          <a:p>
            <a:endParaRPr lang="en-AU" dirty="0"/>
          </a:p>
          <a:p>
            <a:r>
              <a:rPr lang="zh-CN" altLang="en-US" dirty="0"/>
              <a:t>其他的</a:t>
            </a:r>
            <a:r>
              <a:rPr lang="en-AU" altLang="zh-CN" dirty="0"/>
              <a:t>0</a:t>
            </a:r>
            <a:r>
              <a:rPr lang="zh-CN" altLang="en-US" dirty="0"/>
              <a:t>我们需要另外一个动作要压入。就是将栈顶的一个</a:t>
            </a:r>
            <a:r>
              <a:rPr lang="en-AU" altLang="zh-CN" dirty="0"/>
              <a:t>0</a:t>
            </a:r>
            <a:r>
              <a:rPr lang="zh-CN" altLang="en-US" dirty="0"/>
              <a:t>替换为两个</a:t>
            </a:r>
            <a:r>
              <a:rPr lang="en-AU" altLang="zh-CN" dirty="0"/>
              <a:t>0.</a:t>
            </a:r>
          </a:p>
          <a:p>
            <a:endParaRPr lang="en-AU" dirty="0"/>
          </a:p>
          <a:p>
            <a:endParaRPr lang="en-AU" dirty="0"/>
          </a:p>
          <a:p>
            <a:r>
              <a:rPr lang="zh-CN" altLang="en-US" dirty="0"/>
              <a:t>通过这两个动作，可以将前面全部的</a:t>
            </a:r>
            <a:r>
              <a:rPr lang="en-AU" altLang="zh-CN" dirty="0"/>
              <a:t>0</a:t>
            </a:r>
            <a:r>
              <a:rPr lang="zh-CN" altLang="en-US" dirty="0"/>
              <a:t>压栈。</a:t>
            </a:r>
            <a:endParaRPr lang="en-AU" altLang="zh-CN" dirty="0"/>
          </a:p>
          <a:p>
            <a:endParaRPr lang="en-AU" dirty="0"/>
          </a:p>
          <a:p>
            <a:r>
              <a:rPr lang="zh-CN" altLang="en-US" dirty="0"/>
              <a:t>因为要求所有</a:t>
            </a:r>
            <a:r>
              <a:rPr lang="en-AU" altLang="zh-CN" dirty="0"/>
              <a:t>0</a:t>
            </a:r>
            <a:r>
              <a:rPr lang="zh-CN" altLang="en-US" dirty="0"/>
              <a:t>在</a:t>
            </a:r>
            <a:r>
              <a:rPr lang="en-AU" altLang="zh-CN" dirty="0"/>
              <a:t>1</a:t>
            </a:r>
            <a:r>
              <a:rPr lang="zh-CN" altLang="en-US" dirty="0"/>
              <a:t>前面，那么将</a:t>
            </a:r>
            <a:r>
              <a:rPr lang="en-AU" altLang="zh-CN" dirty="0"/>
              <a:t>0</a:t>
            </a:r>
            <a:r>
              <a:rPr lang="zh-CN" altLang="en-US" dirty="0"/>
              <a:t>压入栈和弹出栈应该使用不同的状态。</a:t>
            </a:r>
            <a:endParaRPr lang="en-AU" altLang="zh-CN" dirty="0"/>
          </a:p>
          <a:p>
            <a:endParaRPr lang="en-AU" dirty="0"/>
          </a:p>
          <a:p>
            <a:r>
              <a:rPr lang="en-AU" dirty="0"/>
              <a:t>0/epsilon</a:t>
            </a:r>
            <a:r>
              <a:rPr lang="zh-CN" altLang="en-US" dirty="0"/>
              <a:t>表示当前栈顶符号为</a:t>
            </a:r>
            <a:r>
              <a:rPr lang="en-AU" altLang="zh-CN" dirty="0"/>
              <a:t>0</a:t>
            </a:r>
            <a:r>
              <a:rPr lang="zh-CN" altLang="en-US" dirty="0"/>
              <a:t>，经过这个输入后，把栈顶的</a:t>
            </a:r>
            <a:r>
              <a:rPr lang="en-AU" altLang="zh-CN" dirty="0"/>
              <a:t>0</a:t>
            </a:r>
            <a:r>
              <a:rPr lang="zh-CN" altLang="en-US" dirty="0"/>
              <a:t>弹出。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当读入第一个</a:t>
            </a:r>
            <a:r>
              <a:rPr lang="en-AU" altLang="zh-CN" dirty="0"/>
              <a:t>0</a:t>
            </a:r>
            <a:r>
              <a:rPr lang="zh-CN" altLang="en-US" dirty="0"/>
              <a:t>后，栈顶就不是</a:t>
            </a:r>
            <a:r>
              <a:rPr lang="en-US" altLang="zh-CN" dirty="0"/>
              <a:t>Z</a:t>
            </a:r>
            <a:r>
              <a:rPr lang="en-AU" altLang="zh-CN" dirty="0"/>
              <a:t>0</a:t>
            </a:r>
            <a:r>
              <a:rPr lang="zh-CN" altLang="en-US" dirty="0"/>
              <a:t>而是</a:t>
            </a:r>
            <a:r>
              <a:rPr lang="en-AU" altLang="zh-CN" dirty="0"/>
              <a:t>0</a:t>
            </a:r>
            <a:r>
              <a:rPr lang="zh-CN" altLang="en-US" dirty="0"/>
              <a:t>了，则用</a:t>
            </a:r>
            <a:r>
              <a:rPr lang="en-AU" altLang="zh-CN" dirty="0"/>
              <a:t>00</a:t>
            </a:r>
            <a:r>
              <a:rPr lang="zh-CN" altLang="en-US" dirty="0"/>
              <a:t>替换栈顶的</a:t>
            </a:r>
            <a:r>
              <a:rPr lang="en-AU" altLang="zh-CN" dirty="0"/>
              <a:t>0;</a:t>
            </a:r>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22</a:t>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因为</a:t>
            </a:r>
            <a:r>
              <a:rPr lang="en-AU" altLang="zh-CN" dirty="0"/>
              <a:t>PDA</a:t>
            </a:r>
            <a:r>
              <a:rPr lang="zh-CN" altLang="en-US" dirty="0"/>
              <a:t>具有栈的结构，我们可以用栈去保存一些信息。</a:t>
            </a:r>
            <a:endParaRPr lang="en-AU" altLang="zh-CN" dirty="0"/>
          </a:p>
          <a:p>
            <a:endParaRPr lang="en-AU" dirty="0"/>
          </a:p>
          <a:p>
            <a:r>
              <a:rPr lang="zh-CN" altLang="en-US" dirty="0"/>
              <a:t>我们可以这样做。</a:t>
            </a:r>
            <a:endParaRPr lang="en-AU" altLang="zh-CN" dirty="0"/>
          </a:p>
          <a:p>
            <a:endParaRPr lang="en-AU" dirty="0"/>
          </a:p>
          <a:p>
            <a:r>
              <a:rPr lang="zh-CN" altLang="en-US" dirty="0"/>
              <a:t>当</a:t>
            </a:r>
            <a:r>
              <a:rPr lang="en-US" altLang="zh-CN" dirty="0"/>
              <a:t>PDA</a:t>
            </a:r>
            <a:r>
              <a:rPr lang="zh-CN" altLang="en-US" dirty="0"/>
              <a:t>读入</a:t>
            </a:r>
            <a:r>
              <a:rPr lang="en-AU" altLang="zh-CN" dirty="0"/>
              <a:t>0</a:t>
            </a:r>
            <a:r>
              <a:rPr lang="zh-CN" altLang="en-US" dirty="0"/>
              <a:t>的时候，我们把</a:t>
            </a:r>
            <a:r>
              <a:rPr lang="en-AU" altLang="zh-CN" dirty="0"/>
              <a:t>0</a:t>
            </a:r>
            <a:r>
              <a:rPr lang="zh-CN" altLang="en-US" dirty="0"/>
              <a:t>全部压入栈中；每读入一个</a:t>
            </a:r>
            <a:r>
              <a:rPr lang="en-AU" altLang="zh-CN" dirty="0"/>
              <a:t>1</a:t>
            </a:r>
            <a:r>
              <a:rPr lang="zh-CN" altLang="en-US" dirty="0"/>
              <a:t>，从栈中弹出一个</a:t>
            </a:r>
            <a:r>
              <a:rPr lang="en-AU" altLang="zh-CN" dirty="0"/>
              <a:t>0</a:t>
            </a:r>
            <a:r>
              <a:rPr lang="zh-CN" altLang="en-US" dirty="0"/>
              <a:t>，使得</a:t>
            </a:r>
            <a:r>
              <a:rPr lang="en-AU" altLang="zh-CN" dirty="0"/>
              <a:t>0</a:t>
            </a:r>
            <a:r>
              <a:rPr lang="zh-CN" altLang="en-US" dirty="0"/>
              <a:t>和</a:t>
            </a:r>
            <a:r>
              <a:rPr lang="en-AU" altLang="zh-CN" dirty="0"/>
              <a:t>1</a:t>
            </a:r>
            <a:r>
              <a:rPr lang="zh-CN" altLang="en-US" dirty="0"/>
              <a:t>数量相等。当扫描完整个字符串的时候，如果刚好把栈底符号</a:t>
            </a:r>
            <a:r>
              <a:rPr lang="en-AU" altLang="zh-CN" dirty="0"/>
              <a:t>Z0</a:t>
            </a:r>
            <a:r>
              <a:rPr lang="zh-CN" altLang="en-US" dirty="0"/>
              <a:t>露出来，那么我们可以通过空转移跳到接受状态。</a:t>
            </a:r>
            <a:endParaRPr lang="en-AU" altLang="zh-CN" dirty="0"/>
          </a:p>
          <a:p>
            <a:endParaRPr lang="en-AU" dirty="0"/>
          </a:p>
          <a:p>
            <a:endParaRPr lang="en-AU" dirty="0"/>
          </a:p>
          <a:p>
            <a:endParaRPr lang="en-AU" dirty="0"/>
          </a:p>
          <a:p>
            <a:r>
              <a:rPr lang="zh-CN" altLang="en-US" dirty="0"/>
              <a:t>首先利用开始状态去压入全部的</a:t>
            </a:r>
            <a:r>
              <a:rPr lang="en-AU" altLang="zh-CN" dirty="0"/>
              <a:t>0</a:t>
            </a:r>
            <a:r>
              <a:rPr lang="zh-CN" altLang="en-US" dirty="0"/>
              <a:t>，定义他的动作。如果当前栈顶是</a:t>
            </a:r>
            <a:r>
              <a:rPr lang="en-AU" altLang="zh-CN" dirty="0"/>
              <a:t>Z0</a:t>
            </a:r>
            <a:r>
              <a:rPr lang="zh-CN" altLang="en-US" dirty="0"/>
              <a:t>的话，那么我们把</a:t>
            </a:r>
            <a:r>
              <a:rPr lang="en-AU" altLang="zh-CN" dirty="0"/>
              <a:t>Z0</a:t>
            </a:r>
            <a:r>
              <a:rPr lang="zh-CN" altLang="en-US" dirty="0"/>
              <a:t>替换为</a:t>
            </a:r>
            <a:r>
              <a:rPr lang="en-AU" altLang="zh-CN" dirty="0"/>
              <a:t>0Z0</a:t>
            </a:r>
            <a:r>
              <a:rPr lang="zh-CN" altLang="en-US" dirty="0"/>
              <a:t>。当读入第一个</a:t>
            </a:r>
            <a:r>
              <a:rPr lang="en-AU" altLang="zh-CN" dirty="0"/>
              <a:t>0</a:t>
            </a:r>
            <a:r>
              <a:rPr lang="zh-CN" altLang="en-US" dirty="0"/>
              <a:t>之后，栈顶就不是</a:t>
            </a:r>
            <a:r>
              <a:rPr lang="en-US" altLang="zh-CN" dirty="0"/>
              <a:t>Z</a:t>
            </a:r>
            <a:r>
              <a:rPr lang="en-AU" altLang="zh-CN" dirty="0"/>
              <a:t>0</a:t>
            </a:r>
            <a:r>
              <a:rPr lang="zh-CN" altLang="en-US" dirty="0"/>
              <a:t>而是</a:t>
            </a:r>
            <a:r>
              <a:rPr lang="en-AU" altLang="zh-CN" dirty="0"/>
              <a:t>0</a:t>
            </a:r>
            <a:r>
              <a:rPr lang="zh-CN" altLang="en-US" dirty="0"/>
              <a:t>了。</a:t>
            </a:r>
            <a:endParaRPr lang="en-AU" altLang="zh-CN" dirty="0"/>
          </a:p>
          <a:p>
            <a:endParaRPr lang="en-AU" dirty="0"/>
          </a:p>
          <a:p>
            <a:r>
              <a:rPr lang="zh-CN" altLang="en-US" dirty="0"/>
              <a:t>其他的</a:t>
            </a:r>
            <a:r>
              <a:rPr lang="en-AU" altLang="zh-CN" dirty="0"/>
              <a:t>0</a:t>
            </a:r>
            <a:r>
              <a:rPr lang="zh-CN" altLang="en-US" dirty="0"/>
              <a:t>我们需要另外一个动作要压入。就是将栈顶的一个</a:t>
            </a:r>
            <a:r>
              <a:rPr lang="en-AU" altLang="zh-CN" dirty="0"/>
              <a:t>0</a:t>
            </a:r>
            <a:r>
              <a:rPr lang="zh-CN" altLang="en-US" dirty="0"/>
              <a:t>替换为两个</a:t>
            </a:r>
            <a:r>
              <a:rPr lang="en-AU" altLang="zh-CN" dirty="0"/>
              <a:t>0.</a:t>
            </a:r>
          </a:p>
          <a:p>
            <a:endParaRPr lang="en-AU" dirty="0"/>
          </a:p>
          <a:p>
            <a:endParaRPr lang="en-AU" dirty="0"/>
          </a:p>
          <a:p>
            <a:r>
              <a:rPr lang="zh-CN" altLang="en-US" dirty="0"/>
              <a:t>通过这两个动作，可以将前面全部的</a:t>
            </a:r>
            <a:r>
              <a:rPr lang="en-AU" altLang="zh-CN" dirty="0"/>
              <a:t>0</a:t>
            </a:r>
            <a:r>
              <a:rPr lang="zh-CN" altLang="en-US" dirty="0"/>
              <a:t>压栈。</a:t>
            </a:r>
            <a:endParaRPr lang="en-AU" altLang="zh-CN" dirty="0"/>
          </a:p>
          <a:p>
            <a:endParaRPr lang="en-AU" dirty="0"/>
          </a:p>
          <a:p>
            <a:r>
              <a:rPr lang="zh-CN" altLang="en-US" dirty="0"/>
              <a:t>因为要求所有</a:t>
            </a:r>
            <a:r>
              <a:rPr lang="en-AU" altLang="zh-CN" dirty="0"/>
              <a:t>0</a:t>
            </a:r>
            <a:r>
              <a:rPr lang="zh-CN" altLang="en-US" dirty="0"/>
              <a:t>在</a:t>
            </a:r>
            <a:r>
              <a:rPr lang="en-AU" altLang="zh-CN" dirty="0"/>
              <a:t>1</a:t>
            </a:r>
            <a:r>
              <a:rPr lang="zh-CN" altLang="en-US" dirty="0"/>
              <a:t>前面，那么将</a:t>
            </a:r>
            <a:r>
              <a:rPr lang="en-AU" altLang="zh-CN" dirty="0"/>
              <a:t>0</a:t>
            </a:r>
            <a:r>
              <a:rPr lang="zh-CN" altLang="en-US" dirty="0"/>
              <a:t>压入栈和弹出栈应该使用不同的状态。</a:t>
            </a:r>
            <a:endParaRPr lang="en-AU" altLang="zh-CN" dirty="0"/>
          </a:p>
          <a:p>
            <a:endParaRPr lang="en-AU" dirty="0"/>
          </a:p>
          <a:p>
            <a:r>
              <a:rPr lang="en-AU" dirty="0"/>
              <a:t>0/epsilon</a:t>
            </a:r>
            <a:r>
              <a:rPr lang="zh-CN" altLang="en-US" dirty="0"/>
              <a:t>表示当前栈顶符号为</a:t>
            </a:r>
            <a:r>
              <a:rPr lang="en-AU" altLang="zh-CN" dirty="0"/>
              <a:t>0</a:t>
            </a:r>
            <a:r>
              <a:rPr lang="zh-CN" altLang="en-US" dirty="0"/>
              <a:t>，经过这个输入后，把栈顶的</a:t>
            </a:r>
            <a:r>
              <a:rPr lang="en-AU" altLang="zh-CN" dirty="0"/>
              <a:t>0</a:t>
            </a:r>
            <a:r>
              <a:rPr lang="zh-CN" altLang="en-US" dirty="0"/>
              <a:t>弹出。</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en-AU" dirty="0"/>
              <a:t>1/epsilon</a:t>
            </a:r>
            <a:r>
              <a:rPr lang="zh-CN" altLang="en-US" dirty="0"/>
              <a:t>表示当前栈顶符号为</a:t>
            </a:r>
            <a:r>
              <a:rPr lang="en-AU" altLang="zh-CN" dirty="0"/>
              <a:t>0</a:t>
            </a:r>
            <a:r>
              <a:rPr lang="zh-CN" altLang="en-US" dirty="0"/>
              <a:t>，经过这个输入后，把栈顶的</a:t>
            </a:r>
            <a:r>
              <a:rPr lang="en-AU" altLang="zh-CN" dirty="0"/>
              <a:t>1</a:t>
            </a:r>
            <a:r>
              <a:rPr lang="zh-CN" altLang="en-US" dirty="0"/>
              <a:t>弹出。</a:t>
            </a:r>
            <a:endParaRPr lang="en-AU" altLang="zh-CN" dirty="0"/>
          </a:p>
          <a:p>
            <a:endParaRPr lang="en-AU" dirty="0"/>
          </a:p>
          <a:p>
            <a:r>
              <a:rPr lang="zh-CN" altLang="en-US" dirty="0"/>
              <a:t>注意，当遇到第一个</a:t>
            </a:r>
            <a:r>
              <a:rPr lang="en-AU" altLang="zh-CN" dirty="0"/>
              <a:t>1</a:t>
            </a:r>
            <a:r>
              <a:rPr lang="zh-CN" altLang="en-US" dirty="0"/>
              <a:t>时，必须栈顶为</a:t>
            </a:r>
            <a:r>
              <a:rPr lang="en-AU" altLang="zh-CN" dirty="0"/>
              <a:t>0</a:t>
            </a:r>
            <a:r>
              <a:rPr lang="zh-CN" altLang="en-US" dirty="0"/>
              <a:t>，才能进行状态转移到</a:t>
            </a:r>
            <a:r>
              <a:rPr lang="en-AU" altLang="zh-CN" dirty="0"/>
              <a:t>q1</a:t>
            </a:r>
            <a:r>
              <a:rPr lang="zh-CN" altLang="en-US" dirty="0"/>
              <a:t>。因为如果栈顶是</a:t>
            </a:r>
            <a:r>
              <a:rPr lang="en-US" altLang="zh-CN" dirty="0"/>
              <a:t>Z0</a:t>
            </a:r>
            <a:r>
              <a:rPr lang="zh-CN" altLang="en-US" dirty="0"/>
              <a:t>的话，说明目前还没有输入过</a:t>
            </a:r>
            <a:r>
              <a:rPr lang="en-AU" altLang="zh-CN" dirty="0"/>
              <a:t>0</a:t>
            </a:r>
            <a:r>
              <a:rPr lang="zh-CN" altLang="en-US"/>
              <a:t>，则输入的符号串一定不满足要求。</a:t>
            </a:r>
            <a:endParaRPr lang="en-AU" dirty="0"/>
          </a:p>
          <a:p>
            <a:endParaRPr lang="en-AU"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23</a:t>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25</a:t>
            </a:fld>
            <a:endParaRPr lang="en-A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26</a:t>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27</a:t>
            </a:fld>
            <a:endParaRPr lang="en-A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栈中符号串</a:t>
            </a:r>
            <a:r>
              <a:rPr lang="en-AU" altLang="zh-CN" dirty="0"/>
              <a:t>gamma, </a:t>
            </a:r>
            <a:r>
              <a:rPr lang="zh-CN" altLang="en-US" dirty="0"/>
              <a:t>我们把按照从栈顶到栈底的顺序去表示该符号串。</a:t>
            </a:r>
            <a:r>
              <a:rPr lang="en-AU" altLang="zh-CN" dirty="0"/>
              <a:t>From top to bottom.</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29</a:t>
            </a:fld>
            <a:endParaRPr lang="en-A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zh-CN" sz="1800" b="0" i="0" dirty="0">
                <a:solidFill>
                  <a:srgbClr val="000000"/>
                </a:solidFill>
                <a:effectLst/>
                <a:latin typeface="T3"/>
                <a:ea typeface="等线" panose="02010600030101010101" charset="-122"/>
                <a:cs typeface="Times New Roman" panose="02020603050405020304" pitchFamily="18" charset="0"/>
              </a:rPr>
              <a:t>在</a:t>
            </a:r>
            <a:r>
              <a:rPr lang="en-AU" sz="1800" b="0" i="0" dirty="0">
                <a:solidFill>
                  <a:srgbClr val="000000"/>
                </a:solidFill>
                <a:effectLst/>
                <a:latin typeface="T3"/>
                <a:ea typeface="等线" panose="02010600030101010101" charset="-122"/>
                <a:cs typeface="Times New Roman" panose="02020603050405020304" pitchFamily="18" charset="0"/>
              </a:rPr>
              <a:t>PDA</a:t>
            </a:r>
            <a:r>
              <a:rPr lang="zh-CN" sz="1800" b="0" i="0" dirty="0">
                <a:solidFill>
                  <a:srgbClr val="000000"/>
                </a:solidFill>
                <a:effectLst/>
                <a:latin typeface="T3"/>
                <a:ea typeface="等线" panose="02010600030101010101" charset="-122"/>
                <a:cs typeface="Times New Roman" panose="02020603050405020304" pitchFamily="18" charset="0"/>
              </a:rPr>
              <a:t>中，如果要进行空转移，首先还需要看是否已经定义好了对应的栈顶符号，</a:t>
            </a:r>
            <a:r>
              <a:rPr lang="en-AU" altLang="zh-CN" sz="1800" b="0" i="0" dirty="0">
                <a:solidFill>
                  <a:schemeClr val="tx1"/>
                </a:solidFill>
                <a:effectLst/>
                <a:latin typeface="Calibri" panose="020F0502020204030204" charset="0"/>
                <a:ea typeface="等线" panose="02010600030101010101" charset="-122"/>
                <a:cs typeface="Times New Roman" panose="02020603050405020304" pitchFamily="18" charset="0"/>
              </a:rPr>
              <a:t> </a:t>
            </a:r>
            <a:r>
              <a:rPr lang="zh-CN" sz="1800" b="0" i="0" dirty="0">
                <a:solidFill>
                  <a:srgbClr val="000000"/>
                </a:solidFill>
                <a:effectLst/>
                <a:latin typeface="T3"/>
                <a:ea typeface="等线" panose="02010600030101010101" charset="-122"/>
                <a:cs typeface="Times New Roman" panose="02020603050405020304" pitchFamily="18" charset="0"/>
              </a:rPr>
              <a:t>比如处于</a:t>
            </a:r>
            <a:r>
              <a:rPr lang="en-AU" sz="1800" b="0" i="0" dirty="0">
                <a:solidFill>
                  <a:srgbClr val="000000"/>
                </a:solidFill>
                <a:effectLst/>
                <a:latin typeface="T3"/>
                <a:ea typeface="等线" panose="02010600030101010101" charset="-122"/>
                <a:cs typeface="Times New Roman" panose="02020603050405020304" pitchFamily="18" charset="0"/>
              </a:rPr>
              <a:t>q1</a:t>
            </a:r>
            <a:r>
              <a:rPr lang="zh-CN" sz="1800" b="0" i="0" dirty="0">
                <a:solidFill>
                  <a:srgbClr val="000000"/>
                </a:solidFill>
                <a:effectLst/>
                <a:latin typeface="T3"/>
                <a:ea typeface="等线" panose="02010600030101010101" charset="-122"/>
                <a:cs typeface="Times New Roman" panose="02020603050405020304" pitchFamily="18" charset="0"/>
              </a:rPr>
              <a:t>状态的时候，栈顶符号为</a:t>
            </a:r>
            <a:r>
              <a:rPr lang="en-AU" sz="1800" b="0" i="0" dirty="0">
                <a:solidFill>
                  <a:srgbClr val="000000"/>
                </a:solidFill>
                <a:effectLst/>
                <a:latin typeface="T3"/>
                <a:ea typeface="等线" panose="02010600030101010101" charset="-122"/>
                <a:cs typeface="Times New Roman" panose="02020603050405020304" pitchFamily="18" charset="0"/>
              </a:rPr>
              <a:t>Z0, </a:t>
            </a:r>
            <a:r>
              <a:rPr lang="zh-CN" sz="1800" b="0" i="0" dirty="0">
                <a:solidFill>
                  <a:srgbClr val="000000"/>
                </a:solidFill>
                <a:effectLst/>
                <a:latin typeface="T3"/>
                <a:ea typeface="等线" panose="02010600030101010101" charset="-122"/>
                <a:cs typeface="Times New Roman" panose="02020603050405020304" pitchFamily="18" charset="0"/>
              </a:rPr>
              <a:t>若定义了</a:t>
            </a:r>
            <a:r>
              <a:rPr lang="en-AU" sz="1800" b="0" i="0" dirty="0">
                <a:solidFill>
                  <a:srgbClr val="000000"/>
                </a:solidFill>
                <a:effectLst/>
                <a:latin typeface="T3"/>
                <a:ea typeface="等线" panose="02010600030101010101" charset="-122"/>
                <a:cs typeface="Times New Roman" panose="02020603050405020304" pitchFamily="18" charset="0"/>
              </a:rPr>
              <a:t>epsilon, Z0/Z0</a:t>
            </a:r>
            <a:r>
              <a:rPr lang="zh-CN" sz="1800" b="0" i="0" dirty="0">
                <a:solidFill>
                  <a:srgbClr val="000000"/>
                </a:solidFill>
                <a:effectLst/>
                <a:latin typeface="T3"/>
                <a:ea typeface="等线" panose="02010600030101010101" charset="-122"/>
                <a:cs typeface="Times New Roman" panose="02020603050405020304" pitchFamily="18" charset="0"/>
              </a:rPr>
              <a:t>，那么这个时候可以通过空转移跳到另外一个状态</a:t>
            </a:r>
            <a:r>
              <a:rPr lang="en-AU" sz="1800" b="0" i="0" dirty="0">
                <a:solidFill>
                  <a:srgbClr val="000000"/>
                </a:solidFill>
                <a:effectLst/>
                <a:latin typeface="T3"/>
                <a:ea typeface="等线" panose="02010600030101010101" charset="-122"/>
                <a:cs typeface="Times New Roman" panose="02020603050405020304" pitchFamily="18" charset="0"/>
              </a:rPr>
              <a:t>q2</a:t>
            </a:r>
            <a:r>
              <a:rPr lang="zh-CN" sz="1800" b="0" i="0" dirty="0">
                <a:solidFill>
                  <a:srgbClr val="000000"/>
                </a:solidFill>
                <a:effectLst/>
                <a:latin typeface="T3"/>
                <a:ea typeface="等线" panose="02010600030101010101" charset="-122"/>
                <a:cs typeface="Times New Roman" panose="02020603050405020304" pitchFamily="18" charset="0"/>
              </a:rPr>
              <a:t>。 但是，如果这个时候栈顶符号不为</a:t>
            </a:r>
            <a:r>
              <a:rPr lang="en-AU" sz="1800" b="0" i="0" dirty="0">
                <a:solidFill>
                  <a:srgbClr val="000000"/>
                </a:solidFill>
                <a:effectLst/>
                <a:latin typeface="T3"/>
                <a:ea typeface="等线" panose="02010600030101010101" charset="-122"/>
                <a:cs typeface="Times New Roman" panose="02020603050405020304" pitchFamily="18" charset="0"/>
              </a:rPr>
              <a:t>Z0, </a:t>
            </a:r>
            <a:r>
              <a:rPr lang="zh-CN" sz="1800" b="0" i="0" dirty="0">
                <a:solidFill>
                  <a:srgbClr val="000000"/>
                </a:solidFill>
                <a:effectLst/>
                <a:latin typeface="T3"/>
                <a:ea typeface="等线" panose="02010600030101010101" charset="-122"/>
                <a:cs typeface="Times New Roman" panose="02020603050405020304" pitchFamily="18" charset="0"/>
              </a:rPr>
              <a:t>那么就不能通过空转移到状态</a:t>
            </a:r>
            <a:r>
              <a:rPr lang="en-AU" sz="1800" b="0" i="0" dirty="0">
                <a:solidFill>
                  <a:srgbClr val="000000"/>
                </a:solidFill>
                <a:effectLst/>
                <a:latin typeface="T3"/>
                <a:ea typeface="等线" panose="02010600030101010101" charset="-122"/>
                <a:cs typeface="Times New Roman" panose="02020603050405020304" pitchFamily="18" charset="0"/>
              </a:rPr>
              <a:t>q2. </a:t>
            </a:r>
            <a:endParaRPr lang="en-AU" sz="1800" dirty="0">
              <a:effectLst/>
              <a:latin typeface="Calibri" panose="020F0502020204030204" charset="0"/>
              <a:ea typeface="等线" panose="02010600030101010101" charset="-122"/>
              <a:cs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35</a:t>
            </a:fld>
            <a:endParaRPr lang="en-A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一开始，处于</a:t>
            </a:r>
            <a:r>
              <a:rPr lang="en-AU" altLang="zh-CN" dirty="0"/>
              <a:t>q0</a:t>
            </a:r>
            <a:r>
              <a:rPr lang="zh-CN" altLang="en-US" dirty="0"/>
              <a:t>，但因为空转移，又同时进入到状态</a:t>
            </a:r>
            <a:r>
              <a:rPr lang="en-AU" altLang="zh-CN" dirty="0"/>
              <a:t>q1</a:t>
            </a:r>
            <a:r>
              <a:rPr lang="zh-CN" altLang="en-US" dirty="0"/>
              <a:t>。然后分别在</a:t>
            </a:r>
            <a:r>
              <a:rPr lang="en-AU" altLang="zh-CN" dirty="0"/>
              <a:t>q0</a:t>
            </a:r>
            <a:r>
              <a:rPr lang="zh-CN" altLang="en-US" dirty="0"/>
              <a:t>和</a:t>
            </a:r>
            <a:r>
              <a:rPr lang="en-AU" altLang="zh-CN" dirty="0"/>
              <a:t>q1</a:t>
            </a:r>
            <a:r>
              <a:rPr lang="zh-CN" altLang="en-US" dirty="0"/>
              <a:t>状态下，消耗输入的符号，进行转移。</a:t>
            </a:r>
            <a:endParaRPr lang="en-AU" altLang="zh-CN" dirty="0"/>
          </a:p>
          <a:p>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对于</a:t>
            </a:r>
            <a:r>
              <a:rPr lang="en-AU" altLang="zh-CN" dirty="0"/>
              <a:t>q0</a:t>
            </a:r>
            <a:r>
              <a:rPr lang="zh-CN" altLang="en-US" dirty="0"/>
              <a:t>状态，消耗第一个</a:t>
            </a:r>
            <a:r>
              <a:rPr lang="en-AU" altLang="zh-CN" dirty="0"/>
              <a:t>1</a:t>
            </a:r>
            <a:r>
              <a:rPr lang="zh-CN" altLang="en-US" dirty="0"/>
              <a:t>，当前栈顶符号为</a:t>
            </a:r>
            <a:r>
              <a:rPr lang="en-AU" altLang="zh-CN" dirty="0"/>
              <a:t>Z0, </a:t>
            </a:r>
            <a:r>
              <a:rPr lang="zh-CN" altLang="en-US" dirty="0"/>
              <a:t>因此还是转移到状态</a:t>
            </a:r>
            <a:r>
              <a:rPr lang="en-AU" altLang="zh-CN" dirty="0"/>
              <a:t>q0, </a:t>
            </a:r>
            <a:r>
              <a:rPr lang="zh-CN" altLang="en-US" dirty="0"/>
              <a:t>然后将第一个</a:t>
            </a:r>
            <a:r>
              <a:rPr lang="en-AU" altLang="zh-CN" dirty="0"/>
              <a:t>1</a:t>
            </a:r>
            <a:r>
              <a:rPr lang="zh-CN" altLang="en-US" dirty="0"/>
              <a:t>压入栈。此时</a:t>
            </a:r>
            <a:r>
              <a:rPr lang="en-US" altLang="zh-CN" dirty="0"/>
              <a:t>ID</a:t>
            </a:r>
            <a:r>
              <a:rPr lang="zh-CN" altLang="en-US" dirty="0"/>
              <a:t>为</a:t>
            </a:r>
            <a:r>
              <a:rPr lang="en-US" sz="1200" dirty="0">
                <a:solidFill>
                  <a:srgbClr val="006600"/>
                </a:solidFill>
              </a:rPr>
              <a:t>(q</a:t>
            </a:r>
            <a:r>
              <a:rPr lang="en-US" sz="1200" baseline="-25000" dirty="0">
                <a:solidFill>
                  <a:srgbClr val="006600"/>
                </a:solidFill>
              </a:rPr>
              <a:t>0</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endParaRPr lang="en-AU" altLang="zh-CN" dirty="0"/>
          </a:p>
          <a:p>
            <a:endParaRPr lang="en-AU" altLang="zh-CN" dirty="0"/>
          </a:p>
          <a:p>
            <a:r>
              <a:rPr lang="zh-CN" altLang="en-US" dirty="0"/>
              <a:t>而对于</a:t>
            </a:r>
            <a:r>
              <a:rPr lang="en-AU" altLang="zh-CN" dirty="0"/>
              <a:t>q1</a:t>
            </a:r>
            <a:r>
              <a:rPr lang="zh-CN" altLang="en-US" dirty="0"/>
              <a:t>状态，由于此时栈顶符号不为</a:t>
            </a:r>
            <a:r>
              <a:rPr lang="en-AU" altLang="zh-CN" dirty="0"/>
              <a:t>0</a:t>
            </a:r>
            <a:r>
              <a:rPr lang="zh-CN" altLang="en-US" dirty="0"/>
              <a:t>或者</a:t>
            </a:r>
            <a:r>
              <a:rPr lang="en-AU" altLang="zh-CN" dirty="0"/>
              <a:t>1</a:t>
            </a:r>
            <a:r>
              <a:rPr lang="zh-CN" altLang="en-US" dirty="0"/>
              <a:t>，未有定义，该分支卡死。</a:t>
            </a:r>
            <a:endParaRPr lang="en-AU" altLang="zh-CN" dirty="0"/>
          </a:p>
          <a:p>
            <a:endParaRPr lang="en-AU" altLang="zh-CN" dirty="0"/>
          </a:p>
          <a:p>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准备读入第二个</a:t>
            </a:r>
            <a:r>
              <a:rPr lang="en-AU" altLang="zh-CN" dirty="0"/>
              <a:t>1</a:t>
            </a:r>
            <a:r>
              <a:rPr lang="zh-CN" altLang="en-US" dirty="0"/>
              <a:t>时，</a:t>
            </a:r>
            <a:r>
              <a:rPr lang="en-US" sz="1200" dirty="0">
                <a:solidFill>
                  <a:srgbClr val="006600"/>
                </a:solidFill>
              </a:rPr>
              <a:t>(q</a:t>
            </a:r>
            <a:r>
              <a:rPr lang="en-US" sz="1200" baseline="-25000" dirty="0">
                <a:solidFill>
                  <a:srgbClr val="006600"/>
                </a:solidFill>
              </a:rPr>
              <a:t>0</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r>
              <a:rPr lang="zh-CN" altLang="en-US" sz="1200" dirty="0">
                <a:solidFill>
                  <a:srgbClr val="006600"/>
                </a:solidFill>
              </a:rPr>
              <a:t>先通过空转移变为</a:t>
            </a:r>
            <a:r>
              <a:rPr lang="en-US" sz="1200" dirty="0">
                <a:solidFill>
                  <a:srgbClr val="006600"/>
                </a:solidFill>
              </a:rPr>
              <a:t>(q</a:t>
            </a:r>
            <a:r>
              <a:rPr lang="en-US" sz="1200" baseline="-25000" dirty="0">
                <a:solidFill>
                  <a:srgbClr val="006600"/>
                </a:solidFill>
              </a:rPr>
              <a:t>1</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r>
              <a:rPr lang="zh-CN" altLang="en-US" sz="1200" dirty="0">
                <a:solidFill>
                  <a:srgbClr val="006600"/>
                </a:solidFill>
              </a:rPr>
              <a:t>，</a:t>
            </a:r>
            <a:r>
              <a:rPr lang="zh-CN" altLang="en-US" dirty="0"/>
              <a:t>然后分别在</a:t>
            </a:r>
            <a:r>
              <a:rPr lang="en-AU" altLang="zh-CN" dirty="0"/>
              <a:t>q0</a:t>
            </a:r>
            <a:r>
              <a:rPr lang="zh-CN" altLang="en-US" dirty="0"/>
              <a:t>和</a:t>
            </a:r>
            <a:r>
              <a:rPr lang="en-AU" altLang="zh-CN" dirty="0"/>
              <a:t>q1</a:t>
            </a:r>
            <a:r>
              <a:rPr lang="zh-CN" altLang="en-US" dirty="0"/>
              <a:t>状态下，消耗输入的符号，进行转移。</a:t>
            </a:r>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对于</a:t>
            </a:r>
            <a:r>
              <a:rPr lang="en-AU" altLang="zh-CN" dirty="0"/>
              <a:t>q0</a:t>
            </a:r>
            <a:r>
              <a:rPr lang="zh-CN" altLang="en-US" dirty="0"/>
              <a:t>状态，消耗第二个</a:t>
            </a:r>
            <a:r>
              <a:rPr lang="en-AU" altLang="zh-CN" dirty="0"/>
              <a:t>1</a:t>
            </a:r>
            <a:r>
              <a:rPr lang="zh-CN" altLang="en-US" dirty="0"/>
              <a:t>，当前栈顶符号为</a:t>
            </a:r>
            <a:r>
              <a:rPr lang="en-AU" altLang="zh-CN" dirty="0"/>
              <a:t>1, </a:t>
            </a:r>
            <a:r>
              <a:rPr lang="zh-CN" altLang="en-US" dirty="0"/>
              <a:t>因此还是转移到状态</a:t>
            </a:r>
            <a:r>
              <a:rPr lang="en-AU" altLang="zh-CN" dirty="0"/>
              <a:t>q0, </a:t>
            </a:r>
            <a:r>
              <a:rPr lang="zh-CN" altLang="en-US" dirty="0"/>
              <a:t>然后将第二个</a:t>
            </a:r>
            <a:r>
              <a:rPr lang="en-AU" altLang="zh-CN" dirty="0"/>
              <a:t>1</a:t>
            </a:r>
            <a:r>
              <a:rPr lang="zh-CN" altLang="en-US" dirty="0"/>
              <a:t>压入栈。此时</a:t>
            </a:r>
            <a:r>
              <a:rPr lang="en-US" altLang="zh-CN" dirty="0"/>
              <a:t>ID</a:t>
            </a:r>
            <a:r>
              <a:rPr lang="zh-CN" altLang="en-US" dirty="0"/>
              <a:t>为</a:t>
            </a:r>
            <a:r>
              <a:rPr lang="en-US" sz="1200" dirty="0">
                <a:solidFill>
                  <a:srgbClr val="006600"/>
                </a:solidFill>
              </a:rPr>
              <a:t>(q</a:t>
            </a:r>
            <a:r>
              <a:rPr lang="en-US" sz="1200" baseline="-25000" dirty="0">
                <a:solidFill>
                  <a:srgbClr val="006600"/>
                </a:solidFill>
              </a:rPr>
              <a:t>0</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endParaRPr lang="en-AU" altLang="zh-CN" dirty="0"/>
          </a:p>
          <a:p>
            <a:endParaRPr lang="en-AU" altLang="zh-CN" dirty="0"/>
          </a:p>
          <a:p>
            <a:r>
              <a:rPr lang="zh-CN" altLang="en-US" dirty="0"/>
              <a:t>而对于</a:t>
            </a:r>
            <a:r>
              <a:rPr lang="en-AU" altLang="zh-CN" dirty="0"/>
              <a:t>q1</a:t>
            </a:r>
            <a:r>
              <a:rPr lang="zh-CN" altLang="en-US" dirty="0"/>
              <a:t>状态，消耗第二个</a:t>
            </a:r>
            <a:r>
              <a:rPr lang="en-AU" altLang="zh-CN" dirty="0"/>
              <a:t>1</a:t>
            </a:r>
            <a:r>
              <a:rPr lang="zh-CN" altLang="en-US" dirty="0"/>
              <a:t>，变为 </a:t>
            </a:r>
            <a:r>
              <a:rPr lang="en-US" sz="1200" dirty="0">
                <a:solidFill>
                  <a:srgbClr val="006600"/>
                </a:solidFill>
              </a:rPr>
              <a:t>(q</a:t>
            </a:r>
            <a:r>
              <a:rPr lang="en-US" sz="1200" baseline="-25000" dirty="0">
                <a:solidFill>
                  <a:srgbClr val="006600"/>
                </a:solidFill>
              </a:rPr>
              <a:t>1</a:t>
            </a:r>
            <a:r>
              <a:rPr lang="en-US" sz="1200" dirty="0">
                <a:solidFill>
                  <a:srgbClr val="006600"/>
                </a:solidFill>
              </a:rPr>
              <a:t>,11, Z</a:t>
            </a:r>
            <a:r>
              <a:rPr lang="en-US" sz="1200" baseline="-25000" dirty="0">
                <a:solidFill>
                  <a:srgbClr val="006600"/>
                </a:solidFill>
              </a:rPr>
              <a:t>0</a:t>
            </a:r>
            <a:r>
              <a:rPr lang="en-US" sz="1200" dirty="0">
                <a:solidFill>
                  <a:srgbClr val="006600"/>
                </a:solidFill>
              </a:rPr>
              <a:t>)</a:t>
            </a:r>
            <a:r>
              <a:rPr lang="zh-CN" altLang="en-US" sz="1200" dirty="0">
                <a:solidFill>
                  <a:srgbClr val="006600"/>
                </a:solidFill>
              </a:rPr>
              <a:t>， </a:t>
            </a:r>
            <a:r>
              <a:rPr lang="zh-CN" altLang="en-US" dirty="0"/>
              <a:t>通过空转移到</a:t>
            </a:r>
            <a:r>
              <a:rPr lang="en-AU" altLang="zh-CN" dirty="0"/>
              <a:t>q2</a:t>
            </a:r>
            <a:r>
              <a:rPr lang="zh-CN" altLang="en-US" dirty="0"/>
              <a:t>，由于后续又会有输入，会处于未定义的状态，因此该分支卡死。</a:t>
            </a:r>
            <a:endParaRPr lang="en-AU" altLang="zh-CN" dirty="0"/>
          </a:p>
          <a:p>
            <a:endParaRPr lang="en-AU" altLang="zh-CN" dirty="0"/>
          </a:p>
          <a:p>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准备读入第三个</a:t>
            </a:r>
            <a:r>
              <a:rPr lang="en-AU" altLang="zh-CN" dirty="0"/>
              <a:t>1</a:t>
            </a:r>
            <a:r>
              <a:rPr lang="zh-CN" altLang="en-US" dirty="0"/>
              <a:t>时，</a:t>
            </a:r>
            <a:r>
              <a:rPr lang="en-US" sz="1200" dirty="0">
                <a:solidFill>
                  <a:srgbClr val="006600"/>
                </a:solidFill>
              </a:rPr>
              <a:t>(q</a:t>
            </a:r>
            <a:r>
              <a:rPr lang="en-US" sz="1200" baseline="-25000" dirty="0">
                <a:solidFill>
                  <a:srgbClr val="006600"/>
                </a:solidFill>
              </a:rPr>
              <a:t>0</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r>
              <a:rPr lang="zh-CN" altLang="en-US" sz="1200" dirty="0">
                <a:solidFill>
                  <a:srgbClr val="006600"/>
                </a:solidFill>
              </a:rPr>
              <a:t>先通过空转移变为</a:t>
            </a:r>
            <a:r>
              <a:rPr lang="en-US" sz="1200" dirty="0">
                <a:solidFill>
                  <a:srgbClr val="006600"/>
                </a:solidFill>
              </a:rPr>
              <a:t>(q</a:t>
            </a:r>
            <a:r>
              <a:rPr lang="en-US" sz="1200" baseline="-25000" dirty="0">
                <a:solidFill>
                  <a:srgbClr val="006600"/>
                </a:solidFill>
              </a:rPr>
              <a:t>1</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r>
              <a:rPr lang="zh-CN" altLang="en-US" sz="1200" dirty="0">
                <a:solidFill>
                  <a:srgbClr val="006600"/>
                </a:solidFill>
              </a:rPr>
              <a:t>，</a:t>
            </a:r>
            <a:r>
              <a:rPr lang="zh-CN" altLang="en-US" dirty="0"/>
              <a:t>然后分别在</a:t>
            </a:r>
            <a:r>
              <a:rPr lang="en-AU" altLang="zh-CN" dirty="0"/>
              <a:t>q0</a:t>
            </a:r>
            <a:r>
              <a:rPr lang="zh-CN" altLang="en-US" dirty="0"/>
              <a:t>和</a:t>
            </a:r>
            <a:r>
              <a:rPr lang="en-AU" altLang="zh-CN" dirty="0"/>
              <a:t>q1</a:t>
            </a:r>
            <a:r>
              <a:rPr lang="zh-CN" altLang="en-US" dirty="0"/>
              <a:t>状态下，消耗输入的符号，进行转移。</a:t>
            </a:r>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对于</a:t>
            </a:r>
            <a:r>
              <a:rPr lang="en-AU" altLang="zh-CN" dirty="0"/>
              <a:t>q0</a:t>
            </a:r>
            <a:r>
              <a:rPr lang="zh-CN" altLang="en-US" dirty="0"/>
              <a:t>状态，消耗第三个</a:t>
            </a:r>
            <a:r>
              <a:rPr lang="en-AU" altLang="zh-CN" dirty="0"/>
              <a:t>1</a:t>
            </a:r>
            <a:r>
              <a:rPr lang="zh-CN" altLang="en-US" dirty="0"/>
              <a:t>，当前栈顶符号为</a:t>
            </a:r>
            <a:r>
              <a:rPr lang="en-AU" altLang="zh-CN" dirty="0"/>
              <a:t>1, </a:t>
            </a:r>
            <a:r>
              <a:rPr lang="zh-CN" altLang="en-US" dirty="0"/>
              <a:t>因此还是转移到状态</a:t>
            </a:r>
            <a:r>
              <a:rPr lang="en-AU" altLang="zh-CN" dirty="0"/>
              <a:t>q0, </a:t>
            </a:r>
            <a:r>
              <a:rPr lang="zh-CN" altLang="en-US" dirty="0"/>
              <a:t>然后将第三个</a:t>
            </a:r>
            <a:r>
              <a:rPr lang="en-AU" altLang="zh-CN" dirty="0"/>
              <a:t>1</a:t>
            </a:r>
            <a:r>
              <a:rPr lang="zh-CN" altLang="en-US" dirty="0"/>
              <a:t>压入栈。此时</a:t>
            </a:r>
            <a:r>
              <a:rPr lang="en-US" altLang="zh-CN" dirty="0"/>
              <a:t>ID</a:t>
            </a:r>
            <a:r>
              <a:rPr lang="zh-CN" altLang="en-US" dirty="0"/>
              <a:t>为</a:t>
            </a:r>
            <a:r>
              <a:rPr lang="en-US" sz="1200" dirty="0">
                <a:solidFill>
                  <a:srgbClr val="006600"/>
                </a:solidFill>
              </a:rPr>
              <a:t>(q</a:t>
            </a:r>
            <a:r>
              <a:rPr lang="en-US" sz="1200" baseline="-25000" dirty="0">
                <a:solidFill>
                  <a:srgbClr val="006600"/>
                </a:solidFill>
              </a:rPr>
              <a:t>0</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endParaRPr lang="en-AU" altLang="zh-CN" dirty="0"/>
          </a:p>
          <a:p>
            <a:endParaRPr lang="en-AU" altLang="zh-CN" dirty="0"/>
          </a:p>
          <a:p>
            <a:r>
              <a:rPr lang="zh-CN" altLang="en-US" dirty="0"/>
              <a:t>而对于</a:t>
            </a:r>
            <a:r>
              <a:rPr lang="en-AU" altLang="zh-CN" dirty="0"/>
              <a:t>q1</a:t>
            </a:r>
            <a:r>
              <a:rPr lang="zh-CN" altLang="en-US" dirty="0"/>
              <a:t>状态，</a:t>
            </a:r>
            <a:r>
              <a:rPr lang="en-US" sz="1200" dirty="0">
                <a:solidFill>
                  <a:srgbClr val="006600"/>
                </a:solidFill>
              </a:rPr>
              <a:t>(q</a:t>
            </a:r>
            <a:r>
              <a:rPr lang="en-US" sz="1200" baseline="-25000" dirty="0">
                <a:solidFill>
                  <a:srgbClr val="006600"/>
                </a:solidFill>
              </a:rPr>
              <a:t>1</a:t>
            </a:r>
            <a:r>
              <a:rPr lang="en-US" sz="1200" dirty="0">
                <a:solidFill>
                  <a:srgbClr val="006600"/>
                </a:solidFill>
              </a:rPr>
              <a:t>,11,11Z</a:t>
            </a:r>
            <a:r>
              <a:rPr lang="en-US" sz="1200" baseline="-25000" dirty="0">
                <a:solidFill>
                  <a:srgbClr val="006600"/>
                </a:solidFill>
              </a:rPr>
              <a:t>0</a:t>
            </a:r>
            <a:r>
              <a:rPr lang="en-US" sz="1200" dirty="0">
                <a:solidFill>
                  <a:srgbClr val="006600"/>
                </a:solidFill>
              </a:rPr>
              <a:t>)</a:t>
            </a:r>
            <a:r>
              <a:rPr lang="zh-CN" altLang="en-US" dirty="0"/>
              <a:t>，未有定义，该分支卡死。</a:t>
            </a:r>
            <a:endParaRPr lang="en-AU" altLang="zh-CN" dirty="0"/>
          </a:p>
          <a:p>
            <a:endParaRPr lang="en-AU" altLang="zh-CN" dirty="0"/>
          </a:p>
          <a:p>
            <a:endParaRPr lang="en-AU" altLang="zh-CN" dirty="0"/>
          </a:p>
          <a:p>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AU" altLang="zh-CN" dirty="0"/>
          </a:p>
          <a:p>
            <a:endParaRPr lang="en-AU" altLang="zh-CN" dirty="0"/>
          </a:p>
          <a:p>
            <a:endParaRPr lang="en-AU" altLang="zh-CN" dirty="0"/>
          </a:p>
          <a:p>
            <a:endParaRPr lang="en-AU" altLang="zh-CN" dirty="0"/>
          </a:p>
          <a:p>
            <a:r>
              <a:rPr lang="zh-CN" altLang="en-US" dirty="0"/>
              <a:t>一开始就发生了空转移到</a:t>
            </a:r>
            <a:r>
              <a:rPr lang="en-AU" altLang="zh-CN" dirty="0"/>
              <a:t>q1</a:t>
            </a:r>
            <a:r>
              <a:rPr lang="zh-CN" altLang="en-US" dirty="0"/>
              <a:t>状态。</a:t>
            </a:r>
            <a:endParaRPr lang="en-AU" altLang="zh-CN" dirty="0"/>
          </a:p>
          <a:p>
            <a:r>
              <a:rPr lang="zh-CN" altLang="en-US" dirty="0"/>
              <a:t>然后在</a:t>
            </a:r>
            <a:r>
              <a:rPr lang="en-AU" altLang="zh-CN" dirty="0"/>
              <a:t>q0</a:t>
            </a:r>
            <a:r>
              <a:rPr lang="zh-CN" altLang="en-US" dirty="0"/>
              <a:t>状态时，读入第一个</a:t>
            </a:r>
            <a:r>
              <a:rPr lang="en-AU" altLang="zh-CN" dirty="0"/>
              <a:t>1</a:t>
            </a:r>
            <a:r>
              <a:rPr lang="zh-CN" altLang="en-US" dirty="0"/>
              <a:t>， 将其</a:t>
            </a:r>
            <a:r>
              <a:rPr lang="en-AU" altLang="zh-CN" dirty="0"/>
              <a:t>push</a:t>
            </a:r>
            <a:r>
              <a:rPr lang="zh-CN" altLang="en-US" dirty="0"/>
              <a:t>到</a:t>
            </a:r>
            <a:r>
              <a:rPr lang="en-AU" altLang="zh-CN" dirty="0"/>
              <a:t>stack, </a:t>
            </a:r>
            <a:r>
              <a:rPr lang="zh-CN" altLang="en-US" dirty="0"/>
              <a:t>然后状态仍为</a:t>
            </a:r>
            <a:r>
              <a:rPr lang="en-AU" altLang="zh-CN" dirty="0"/>
              <a:t>q0</a:t>
            </a:r>
            <a:r>
              <a:rPr lang="zh-CN" altLang="en-US" dirty="0"/>
              <a:t>。</a:t>
            </a:r>
            <a:endParaRPr lang="en-AU" altLang="zh-CN" dirty="0"/>
          </a:p>
          <a:p>
            <a:r>
              <a:rPr lang="zh-CN" altLang="en-US" dirty="0"/>
              <a:t>而</a:t>
            </a:r>
            <a:r>
              <a:rPr lang="en-AU" altLang="zh-CN" dirty="0"/>
              <a:t>q1</a:t>
            </a:r>
            <a:r>
              <a:rPr lang="zh-CN" altLang="en-US" dirty="0"/>
              <a:t>状态时，</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37</a:t>
            </a:fld>
            <a:endParaRPr lang="en-A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学习可以识别上下文无关语言的一种机器装置，下推自动机。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下推自动机与上下文无关文法的等价性</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38</a:t>
            </a:fld>
            <a:endParaRPr lang="en-A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只需用</a:t>
                </a:r>
                <a14:m>
                  <m:oMath xmlns:m="http://schemas.openxmlformats.org/officeDocument/2006/math">
                    <m:r>
                      <a:rPr lang="zh-CN" altLang="en-US" sz="1200" i="1" dirty="0" smtClean="0">
                        <a:latin typeface="Cambria Math" panose="02040503050406030204" pitchFamily="18" charset="0"/>
                      </a:rPr>
                      <m:t>𝛿</m:t>
                    </m:r>
                    <m:r>
                      <a:rPr lang="en-US" altLang="zh-CN" sz="1200" i="1" dirty="0" smtClean="0">
                        <a:latin typeface="Cambria Math" panose="02040503050406030204" pitchFamily="18" charset="0"/>
                      </a:rPr>
                      <m:t>(</m:t>
                    </m:r>
                    <m:sSub>
                      <m:sSubPr>
                        <m:ctrlPr>
                          <a:rPr lang="en-US" altLang="zh-CN" sz="1200" i="1" dirty="0" smtClean="0">
                            <a:latin typeface="Cambria Math" panose="02040503050406030204" pitchFamily="18" charset="0"/>
                          </a:rPr>
                        </m:ctrlPr>
                      </m:sSubPr>
                      <m:e>
                        <m:r>
                          <a:rPr lang="en-AU" altLang="zh-CN" sz="1200" b="0" i="1" dirty="0" smtClean="0">
                            <a:latin typeface="Cambria Math" panose="02040503050406030204" pitchFamily="18" charset="0"/>
                          </a:rPr>
                          <m:t>𝑞</m:t>
                        </m:r>
                      </m:e>
                      <m:sub>
                        <m:r>
                          <a:rPr lang="en-AU" altLang="zh-CN" sz="1200" b="0" i="1" dirty="0" smtClean="0">
                            <a:latin typeface="Cambria Math" panose="02040503050406030204" pitchFamily="18" charset="0"/>
                          </a:rPr>
                          <m:t>1</m:t>
                        </m:r>
                      </m:sub>
                    </m:sSub>
                    <m:r>
                      <a:rPr lang="en-AU" sz="1200" i="1" dirty="0" smtClean="0">
                        <a:latin typeface="Cambria Math" panose="02040503050406030204" pitchFamily="18" charset="0"/>
                      </a:rPr>
                      <m:t>, </m:t>
                    </m:r>
                    <m:r>
                      <a:rPr lang="en-AU" sz="1200" i="1" dirty="0" smtClean="0">
                        <a:latin typeface="Cambria Math" panose="02040503050406030204" pitchFamily="18" charset="0"/>
                        <a:ea typeface="Cambria Math" panose="02040503050406030204" pitchFamily="18" charset="0"/>
                      </a:rPr>
                      <m:t>𝜀</m:t>
                    </m:r>
                    <m:r>
                      <a:rPr lang="en-AU" sz="1200" i="1" dirty="0" smtClean="0">
                        <a:latin typeface="Cambria Math" panose="02040503050406030204" pitchFamily="18" charset="0"/>
                      </a:rPr>
                      <m:t>, </m:t>
                    </m:r>
                    <m:sSub>
                      <m:sSubPr>
                        <m:ctrlPr>
                          <a:rPr lang="en-AU" sz="1200" i="1" dirty="0" smtClean="0">
                            <a:latin typeface="Cambria Math" panose="02040503050406030204" pitchFamily="18" charset="0"/>
                          </a:rPr>
                        </m:ctrlPr>
                      </m:sSubPr>
                      <m:e>
                        <m:r>
                          <a:rPr lang="en-AU" sz="1200" b="0" i="1" dirty="0" smtClean="0">
                            <a:latin typeface="Cambria Math" panose="02040503050406030204" pitchFamily="18" charset="0"/>
                          </a:rPr>
                          <m:t>𝑍</m:t>
                        </m:r>
                      </m:e>
                      <m:sub>
                        <m:r>
                          <a:rPr lang="en-AU" sz="1200" b="0" i="1" dirty="0" smtClean="0">
                            <a:latin typeface="Cambria Math" panose="02040503050406030204" pitchFamily="18" charset="0"/>
                          </a:rPr>
                          <m:t>0</m:t>
                        </m:r>
                      </m:sub>
                    </m:sSub>
                    <m:r>
                      <a:rPr lang="en-AU" sz="1200" i="1" dirty="0" smtClean="0">
                        <a:latin typeface="Cambria Math" panose="02040503050406030204" pitchFamily="18" charset="0"/>
                      </a:rPr>
                      <m:t>) = {(</m:t>
                    </m:r>
                    <m:sSub>
                      <m:sSubPr>
                        <m:ctrlPr>
                          <a:rPr lang="en-US" altLang="zh-CN" sz="1200" i="1" dirty="0">
                            <a:latin typeface="Cambria Math" panose="02040503050406030204" pitchFamily="18" charset="0"/>
                          </a:rPr>
                        </m:ctrlPr>
                      </m:sSubPr>
                      <m:e>
                        <m:r>
                          <a:rPr lang="en-AU" altLang="zh-CN" sz="1200" i="1" dirty="0">
                            <a:latin typeface="Cambria Math" panose="02040503050406030204" pitchFamily="18" charset="0"/>
                          </a:rPr>
                          <m:t>𝑞</m:t>
                        </m:r>
                      </m:e>
                      <m:sub>
                        <m:r>
                          <a:rPr lang="en-AU" altLang="zh-CN" sz="1200" i="1" dirty="0">
                            <a:latin typeface="Cambria Math" panose="02040503050406030204" pitchFamily="18" charset="0"/>
                          </a:rPr>
                          <m:t>1</m:t>
                        </m:r>
                      </m:sub>
                    </m:sSub>
                    <m:r>
                      <a:rPr lang="en-AU" sz="1200" i="1" dirty="0" smtClean="0">
                        <a:latin typeface="Cambria Math" panose="02040503050406030204" pitchFamily="18" charset="0"/>
                      </a:rPr>
                      <m:t>,</m:t>
                    </m:r>
                    <m:r>
                      <a:rPr lang="en-AU" sz="1200" i="1" dirty="0">
                        <a:latin typeface="Cambria Math" panose="02040503050406030204" pitchFamily="18" charset="0"/>
                        <a:ea typeface="Cambria Math" panose="02040503050406030204" pitchFamily="18" charset="0"/>
                      </a:rPr>
                      <m:t>𝜀</m:t>
                    </m:r>
                    <m:r>
                      <a:rPr lang="en-AU" sz="1200" i="1" dirty="0" smtClean="0">
                        <a:latin typeface="Cambria Math" panose="02040503050406030204" pitchFamily="18" charset="0"/>
                      </a:rPr>
                      <m:t>)}</m:t>
                    </m:r>
                  </m:oMath>
                </a14:m>
                <a:r>
                  <a:rPr lang="zh-CN" altLang="en-US" sz="1200" dirty="0">
                    <a:latin typeface="楷体" panose="02010609060101010101" pitchFamily="49" charset="-122"/>
                    <a:ea typeface="楷体" panose="02010609060101010101" pitchFamily="49" charset="-122"/>
                  </a:rPr>
                  <a:t>代替</a:t>
                </a:r>
                <a14:m>
                  <m:oMath xmlns:m="http://schemas.openxmlformats.org/officeDocument/2006/math">
                    <m:r>
                      <a:rPr lang="zh-CN" altLang="en-US" sz="1200" i="1" dirty="0">
                        <a:latin typeface="Cambria Math" panose="02040503050406030204" pitchFamily="18" charset="0"/>
                      </a:rPr>
                      <m:t>𝛿</m:t>
                    </m:r>
                    <m:r>
                      <a:rPr lang="en-US" altLang="zh-CN" sz="1200" i="1" dirty="0" smtClean="0">
                        <a:latin typeface="Cambria Math" panose="02040503050406030204" pitchFamily="18" charset="0"/>
                      </a:rPr>
                      <m:t>(</m:t>
                    </m:r>
                    <m:sSub>
                      <m:sSubPr>
                        <m:ctrlPr>
                          <a:rPr lang="en-US" altLang="zh-CN" sz="1200" i="1" dirty="0">
                            <a:latin typeface="Cambria Math" panose="02040503050406030204" pitchFamily="18" charset="0"/>
                          </a:rPr>
                        </m:ctrlPr>
                      </m:sSubPr>
                      <m:e>
                        <m:r>
                          <a:rPr lang="en-AU" altLang="zh-CN" sz="1200" i="1" dirty="0">
                            <a:latin typeface="Cambria Math" panose="02040503050406030204" pitchFamily="18" charset="0"/>
                          </a:rPr>
                          <m:t>𝑞</m:t>
                        </m:r>
                      </m:e>
                      <m:sub>
                        <m:r>
                          <a:rPr lang="en-AU" altLang="zh-CN" sz="1200" i="1" dirty="0">
                            <a:latin typeface="Cambria Math" panose="02040503050406030204" pitchFamily="18" charset="0"/>
                          </a:rPr>
                          <m:t>1</m:t>
                        </m:r>
                      </m:sub>
                    </m:sSub>
                    <m:r>
                      <a:rPr lang="en-AU" sz="1200" i="1" dirty="0" smtClean="0">
                        <a:latin typeface="Cambria Math" panose="02040503050406030204" pitchFamily="18" charset="0"/>
                      </a:rPr>
                      <m:t>,</m:t>
                    </m:r>
                    <m:r>
                      <a:rPr lang="en-AU" sz="1200" i="1" dirty="0">
                        <a:latin typeface="Cambria Math" panose="02040503050406030204" pitchFamily="18" charset="0"/>
                        <a:ea typeface="Cambria Math" panose="02040503050406030204" pitchFamily="18" charset="0"/>
                      </a:rPr>
                      <m:t>𝜀</m:t>
                    </m:r>
                    <m:r>
                      <a:rPr lang="en-AU" sz="1200" i="1" dirty="0" smtClean="0">
                        <a:latin typeface="Cambria Math" panose="02040503050406030204" pitchFamily="18" charset="0"/>
                      </a:rPr>
                      <m:t>,</m:t>
                    </m:r>
                    <m:sSub>
                      <m:sSubPr>
                        <m:ctrlPr>
                          <a:rPr lang="en-AU" sz="1200" i="1" dirty="0">
                            <a:latin typeface="Cambria Math" panose="02040503050406030204" pitchFamily="18" charset="0"/>
                          </a:rPr>
                        </m:ctrlPr>
                      </m:sSubPr>
                      <m:e>
                        <m:r>
                          <a:rPr lang="en-AU" sz="1200" i="1" dirty="0">
                            <a:latin typeface="Cambria Math" panose="02040503050406030204" pitchFamily="18" charset="0"/>
                          </a:rPr>
                          <m:t>𝑍</m:t>
                        </m:r>
                      </m:e>
                      <m:sub>
                        <m:r>
                          <a:rPr lang="en-AU" sz="1200" i="1" dirty="0">
                            <a:latin typeface="Cambria Math" panose="02040503050406030204" pitchFamily="18" charset="0"/>
                          </a:rPr>
                          <m:t>0</m:t>
                        </m:r>
                      </m:sub>
                    </m:sSub>
                    <m:r>
                      <a:rPr lang="en-AU" sz="1200" i="1" dirty="0" smtClean="0">
                        <a:latin typeface="Cambria Math" panose="02040503050406030204" pitchFamily="18" charset="0"/>
                      </a:rPr>
                      <m:t>) = {(</m:t>
                    </m:r>
                    <m:sSub>
                      <m:sSubPr>
                        <m:ctrlPr>
                          <a:rPr lang="en-US" altLang="zh-CN" sz="1200" i="1" dirty="0">
                            <a:latin typeface="Cambria Math" panose="02040503050406030204" pitchFamily="18" charset="0"/>
                          </a:rPr>
                        </m:ctrlPr>
                      </m:sSubPr>
                      <m:e>
                        <m:r>
                          <a:rPr lang="en-AU" altLang="zh-CN" sz="1200" i="1" dirty="0">
                            <a:latin typeface="Cambria Math" panose="02040503050406030204" pitchFamily="18" charset="0"/>
                          </a:rPr>
                          <m:t>𝑞</m:t>
                        </m:r>
                      </m:e>
                      <m:sub>
                        <m:r>
                          <a:rPr lang="en-AU" altLang="zh-CN" sz="1200" b="0" i="1" dirty="0" smtClean="0">
                            <a:latin typeface="Cambria Math" panose="02040503050406030204" pitchFamily="18" charset="0"/>
                          </a:rPr>
                          <m:t>2</m:t>
                        </m:r>
                      </m:sub>
                    </m:sSub>
                    <m:r>
                      <a:rPr lang="en-AU" altLang="zh-CN" sz="1200" b="0" i="1" dirty="0" smtClean="0">
                        <a:latin typeface="Cambria Math" panose="02040503050406030204" pitchFamily="18" charset="0"/>
                      </a:rPr>
                      <m:t>,</m:t>
                    </m:r>
                    <m:sSub>
                      <m:sSubPr>
                        <m:ctrlPr>
                          <a:rPr lang="en-AU" sz="1200" i="1" dirty="0">
                            <a:latin typeface="Cambria Math" panose="02040503050406030204" pitchFamily="18" charset="0"/>
                          </a:rPr>
                        </m:ctrlPr>
                      </m:sSubPr>
                      <m:e>
                        <m:r>
                          <a:rPr lang="en-AU" sz="1200" i="1" dirty="0">
                            <a:latin typeface="Cambria Math" panose="02040503050406030204" pitchFamily="18" charset="0"/>
                          </a:rPr>
                          <m:t>𝑍</m:t>
                        </m:r>
                      </m:e>
                      <m:sub>
                        <m:r>
                          <a:rPr lang="en-AU" sz="1200" i="1" dirty="0">
                            <a:latin typeface="Cambria Math" panose="02040503050406030204" pitchFamily="18" charset="0"/>
                          </a:rPr>
                          <m:t>0</m:t>
                        </m:r>
                      </m:sub>
                    </m:sSub>
                    <m:r>
                      <a:rPr lang="en-AU" sz="1200" i="1" dirty="0" smtClean="0">
                        <a:latin typeface="Cambria Math" panose="02040503050406030204" pitchFamily="18" charset="0"/>
                      </a:rPr>
                      <m:t>)}</m:t>
                    </m:r>
                  </m:oMath>
                </a14:m>
                <a:r>
                  <a:rPr lang="zh-CN" altLang="en-US" sz="1200" dirty="0">
                    <a:latin typeface="楷体" panose="02010609060101010101" pitchFamily="49" charset="-122"/>
                    <a:ea typeface="楷体" panose="02010609060101010101" pitchFamily="49" charset="-122"/>
                  </a:rPr>
                  <a:t>。</a:t>
                </a:r>
                <a:endParaRPr lang="en-AU" sz="1200" dirty="0">
                  <a:latin typeface="楷体" panose="02010609060101010101" pitchFamily="49" charset="-122"/>
                  <a:ea typeface="楷体" panose="02010609060101010101" pitchFamily="49" charset="-122"/>
                </a:endParaRPr>
              </a:p>
              <a:p>
                <a:endParaRPr lang="en-AU" sz="1200" dirty="0">
                  <a:latin typeface="楷体" panose="02010609060101010101" pitchFamily="49" charset="-122"/>
                  <a:ea typeface="楷体" panose="02010609060101010101" pitchFamily="49" charset="-122"/>
                </a:endParaRPr>
              </a:p>
              <a:p>
                <a:r>
                  <a:rPr lang="zh-CN" altLang="en-US" dirty="0"/>
                  <a:t>也就是说，在</a:t>
                </a:r>
                <a:r>
                  <a:rPr lang="en-AU" altLang="zh-CN" dirty="0"/>
                  <a:t>q1</a:t>
                </a:r>
                <a:r>
                  <a:rPr lang="zh-CN" altLang="en-US" dirty="0"/>
                  <a:t>状态，消耗完输入串，栈中露出</a:t>
                </a:r>
                <a:r>
                  <a:rPr lang="en-AU" altLang="zh-CN" dirty="0"/>
                  <a:t>Z0</a:t>
                </a:r>
                <a:r>
                  <a:rPr lang="zh-CN" altLang="en-US" dirty="0"/>
                  <a:t>的时候，把</a:t>
                </a:r>
                <a:r>
                  <a:rPr lang="en-AU" altLang="zh-CN" dirty="0"/>
                  <a:t>Z0</a:t>
                </a:r>
                <a:r>
                  <a:rPr lang="zh-CN" altLang="en-US" dirty="0"/>
                  <a:t>弹出，清空栈即可。</a:t>
                </a:r>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41</a:t>
            </a:fld>
            <a:endParaRPr lang="en-A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P_N</a:t>
            </a:r>
            <a:r>
              <a:rPr lang="zh-CN" altLang="en-US" dirty="0"/>
              <a:t>不需要接受状态，因而终态为空集。</a:t>
            </a:r>
            <a:endParaRPr lang="en-AU" altLang="zh-CN" dirty="0"/>
          </a:p>
          <a:p>
            <a:endParaRPr lang="en-AU" altLang="zh-CN" dirty="0"/>
          </a:p>
          <a:p>
            <a:r>
              <a:rPr lang="en-AU" altLang="zh-CN" dirty="0"/>
              <a:t>X0</a:t>
            </a:r>
            <a:r>
              <a:rPr lang="zh-CN" altLang="en-US" dirty="0"/>
              <a:t>为</a:t>
            </a:r>
            <a:r>
              <a:rPr lang="en-AU" altLang="zh-CN" dirty="0"/>
              <a:t>P_N</a:t>
            </a:r>
            <a:r>
              <a:rPr lang="zh-CN" altLang="en-US" dirty="0"/>
              <a:t>的栈底符号。</a:t>
            </a:r>
            <a:endParaRPr lang="en-AU" altLang="zh-CN" dirty="0"/>
          </a:p>
          <a:p>
            <a:endParaRPr lang="en-AU" dirty="0"/>
          </a:p>
          <a:p>
            <a:endParaRPr lang="en-AU" dirty="0"/>
          </a:p>
          <a:p>
            <a:r>
              <a:rPr lang="zh-CN" altLang="en-US" dirty="0"/>
              <a:t>处于状态</a:t>
            </a:r>
            <a:r>
              <a:rPr lang="en-AU" altLang="zh-CN" dirty="0"/>
              <a:t>p</a:t>
            </a:r>
            <a:r>
              <a:rPr lang="zh-CN" altLang="en-US" dirty="0"/>
              <a:t>时，</a:t>
            </a:r>
            <a:r>
              <a:rPr lang="en-US" altLang="zh-CN" dirty="0"/>
              <a:t>Y</a:t>
            </a:r>
            <a:r>
              <a:rPr lang="zh-CN" altLang="en-US" dirty="0"/>
              <a:t>包括</a:t>
            </a:r>
            <a:r>
              <a:rPr lang="en-AU" altLang="zh-CN" dirty="0"/>
              <a:t>P</a:t>
            </a:r>
            <a:r>
              <a:rPr lang="en-US" altLang="zh-CN" dirty="0"/>
              <a:t>_N</a:t>
            </a:r>
            <a:r>
              <a:rPr lang="zh-CN" altLang="en-US" dirty="0"/>
              <a:t>的栈底符号</a:t>
            </a:r>
            <a:r>
              <a:rPr lang="en-AU" altLang="zh-CN" dirty="0"/>
              <a:t>X_0</a:t>
            </a:r>
            <a:r>
              <a:rPr lang="zh-CN" altLang="en-US" dirty="0"/>
              <a:t>。</a:t>
            </a:r>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43</a:t>
            </a:fld>
            <a:endParaRPr lang="en-A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因为</a:t>
                </a:r>
                <a:r>
                  <a:rPr lang="en-AU" altLang="zh-CN" dirty="0"/>
                  <a:t>P_</a:t>
                </a:r>
                <a:r>
                  <a:rPr lang="en-US" altLang="zh-CN" dirty="0"/>
                  <a:t>N</a:t>
                </a:r>
                <a:r>
                  <a:rPr lang="zh-CN" altLang="en-US" dirty="0"/>
                  <a:t>模拟</a:t>
                </a:r>
                <a:r>
                  <a:rPr lang="en-AU" altLang="zh-CN" dirty="0"/>
                  <a:t>P_F</a:t>
                </a:r>
                <a:r>
                  <a:rPr lang="zh-CN" altLang="en-US" dirty="0"/>
                  <a:t>，所以它的动作基本都是由</a:t>
                </a:r>
                <a:r>
                  <a:rPr lang="en-US" altLang="zh-CN" dirty="0"/>
                  <a:t>P_F</a:t>
                </a:r>
                <a:r>
                  <a:rPr lang="zh-CN" altLang="en-US" dirty="0"/>
                  <a:t>构成的，除了有关</a:t>
                </a:r>
                <a:r>
                  <a:rPr lang="en-AU" altLang="zh-CN" dirty="0"/>
                  <a:t>p0</a:t>
                </a:r>
                <a:r>
                  <a:rPr lang="zh-CN" altLang="en-US" dirty="0"/>
                  <a:t>和</a:t>
                </a:r>
                <a:r>
                  <a:rPr lang="en-AU" altLang="zh-CN" dirty="0"/>
                  <a:t>p</a:t>
                </a:r>
                <a:r>
                  <a:rPr lang="zh-CN" altLang="en-US" dirty="0"/>
                  <a:t>的动作。</a:t>
                </a:r>
                <a:endParaRPr lang="en-AU" altLang="zh-CN" dirty="0"/>
              </a:p>
              <a:p>
                <a:endParaRPr lang="en-AU" altLang="zh-CN" dirty="0"/>
              </a:p>
              <a:p>
                <a:r>
                  <a:rPr lang="zh-CN" altLang="en-US" dirty="0"/>
                  <a:t>首先</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𝑃</m:t>
                        </m:r>
                      </m:e>
                      <m:sub>
                        <m:r>
                          <a:rPr lang="en-AU" altLang="zh-CN" b="0" i="1" smtClean="0">
                            <a:latin typeface="Cambria Math" panose="02040503050406030204" pitchFamily="18" charset="0"/>
                          </a:rPr>
                          <m:t>𝑁</m:t>
                        </m:r>
                      </m:sub>
                    </m:sSub>
                  </m:oMath>
                </a14:m>
                <a:r>
                  <a:rPr lang="zh-CN" altLang="en-US" dirty="0"/>
                  <a:t>首先将</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𝑃</m:t>
                        </m:r>
                      </m:e>
                      <m:sub>
                        <m:r>
                          <a:rPr lang="en-US" altLang="zh-CN" b="0" i="1" smtClean="0">
                            <a:latin typeface="Cambria Math" panose="02040503050406030204" pitchFamily="18" charset="0"/>
                          </a:rPr>
                          <m:t>𝐹</m:t>
                        </m:r>
                      </m:sub>
                    </m:sSub>
                  </m:oMath>
                </a14:m>
                <a:r>
                  <a:rPr lang="zh-CN" altLang="en-US" dirty="0"/>
                  <a:t>的栈底符号</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𝑍</m:t>
                        </m:r>
                      </m:e>
                      <m:sub>
                        <m:r>
                          <a:rPr lang="en-AU" altLang="zh-CN" b="0" i="1" smtClean="0">
                            <a:latin typeface="Cambria Math" panose="02040503050406030204" pitchFamily="18" charset="0"/>
                          </a:rPr>
                          <m:t>0</m:t>
                        </m:r>
                      </m:sub>
                    </m:sSub>
                  </m:oMath>
                </a14:m>
                <a:r>
                  <a:rPr lang="zh-CN" altLang="en-US" dirty="0"/>
                  <a:t>压栈</a:t>
                </a:r>
                <a:r>
                  <a:rPr lang="en-US" altLang="zh-CN" dirty="0"/>
                  <a:t>, </a:t>
                </a:r>
                <a:r>
                  <a:rPr lang="zh-CN" altLang="en-US" dirty="0"/>
                  <a:t>开始模拟</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𝑃</m:t>
                        </m:r>
                      </m:e>
                      <m:sub>
                        <m:r>
                          <a:rPr lang="en-AU" altLang="zh-CN" b="0" i="1" smtClean="0">
                            <a:latin typeface="Cambria Math" panose="02040503050406030204" pitchFamily="18" charset="0"/>
                          </a:rPr>
                          <m:t>𝐹</m:t>
                        </m:r>
                      </m:sub>
                    </m:sSub>
                    <m:r>
                      <a:rPr lang="zh-CN" altLang="en-US" b="0" i="1" smtClean="0">
                        <a:latin typeface="Cambria Math" panose="02040503050406030204" pitchFamily="18" charset="0"/>
                      </a:rPr>
                      <m:t>。</m:t>
                    </m:r>
                  </m:oMath>
                </a14:m>
                <a:r>
                  <a:rPr lang="zh-CN" altLang="en-US" dirty="0"/>
                  <a:t>模拟</a:t>
                </a:r>
                <a:r>
                  <a:rPr lang="en-US" altLang="zh-CN" dirty="0"/>
                  <a:t>P_F</a:t>
                </a:r>
                <a:r>
                  <a:rPr lang="zh-CN" altLang="en-US" dirty="0"/>
                  <a:t>的部分，只需要让</a:t>
                </a:r>
                <a:r>
                  <a:rPr lang="en-AU" altLang="zh-CN" dirty="0"/>
                  <a:t>P_</a:t>
                </a:r>
                <a:r>
                  <a:rPr lang="en-US" altLang="zh-CN" dirty="0"/>
                  <a:t>N</a:t>
                </a:r>
                <a:r>
                  <a:rPr lang="zh-CN" altLang="en-US" dirty="0"/>
                  <a:t>对每一个状态</a:t>
                </a:r>
                <a:r>
                  <a:rPr lang="en-AU" altLang="zh-CN" dirty="0"/>
                  <a:t>q</a:t>
                </a:r>
                <a:r>
                  <a:rPr lang="zh-CN" altLang="en-US" dirty="0"/>
                  <a:t>，每一个输入，和任意的栈顶符号</a:t>
                </a:r>
                <a:r>
                  <a:rPr lang="en-AU" altLang="zh-CN" dirty="0"/>
                  <a:t>Y</a:t>
                </a:r>
                <a:r>
                  <a:rPr lang="zh-CN" altLang="en-US" dirty="0"/>
                  <a:t>，让它保护</a:t>
                </a:r>
                <a:r>
                  <a:rPr lang="en-AU" altLang="zh-CN" dirty="0"/>
                  <a:t>P_</a:t>
                </a:r>
                <a:r>
                  <a:rPr lang="en-US" altLang="zh-CN" dirty="0"/>
                  <a:t>F</a:t>
                </a:r>
                <a:r>
                  <a:rPr lang="zh-CN" altLang="en-US" dirty="0"/>
                  <a:t>对应的工作就可以了。</a:t>
                </a:r>
                <a:endParaRPr lang="en-AU" altLang="zh-CN" dirty="0"/>
              </a:p>
              <a:p>
                <a:endParaRPr lang="en-AU" altLang="zh-CN" dirty="0"/>
              </a:p>
              <a:p>
                <a:endParaRPr lang="en-AU" altLang="zh-CN" dirty="0"/>
              </a:p>
              <a:p>
                <a:r>
                  <a:rPr lang="zh-CN" altLang="en-US" dirty="0"/>
                  <a:t>然后，对于那些接受的状态，我们添加一个跳转到</a:t>
                </a:r>
                <a:r>
                  <a:rPr lang="en-AU" altLang="zh-CN" dirty="0"/>
                  <a:t>p</a:t>
                </a:r>
                <a:r>
                  <a:rPr lang="zh-CN" altLang="en-US" dirty="0"/>
                  <a:t>的动作。就是处于</a:t>
                </a:r>
                <a:r>
                  <a:rPr lang="en-AU" altLang="zh-CN" dirty="0" err="1"/>
                  <a:t>qf</a:t>
                </a:r>
                <a:r>
                  <a:rPr lang="zh-CN" altLang="en-US" dirty="0"/>
                  <a:t>的时候，无论栈顶是什么符号</a:t>
                </a:r>
                <a:r>
                  <a:rPr lang="en-US" altLang="zh-CN" dirty="0"/>
                  <a:t>Y</a:t>
                </a:r>
                <a:r>
                  <a:rPr lang="zh-CN" altLang="en-US" dirty="0"/>
                  <a:t>（可能是</a:t>
                </a:r>
                <a:r>
                  <a:rPr lang="en-US" altLang="zh-CN" dirty="0"/>
                  <a:t>PF</a:t>
                </a:r>
                <a:r>
                  <a:rPr lang="zh-CN" altLang="en-US" dirty="0"/>
                  <a:t>的符号，也可能是</a:t>
                </a:r>
                <a:r>
                  <a:rPr lang="en-US" altLang="zh-CN" dirty="0"/>
                  <a:t>P_N</a:t>
                </a:r>
                <a:r>
                  <a:rPr lang="zh-CN" altLang="en-US" dirty="0"/>
                  <a:t>的符号</a:t>
                </a:r>
                <a:r>
                  <a:rPr lang="en-US" altLang="zh-CN" dirty="0"/>
                  <a:t>X0</a:t>
                </a:r>
                <a:r>
                  <a:rPr lang="zh-CN" altLang="en-US" dirty="0"/>
                  <a:t>）</a:t>
                </a:r>
                <a:endParaRPr lang="en-AU" altLang="zh-CN" dirty="0"/>
              </a:p>
              <a:p>
                <a:endParaRPr lang="en-AU" altLang="zh-CN" dirty="0"/>
              </a:p>
              <a:p>
                <a:r>
                  <a:rPr lang="zh-CN" altLang="en-US" dirty="0"/>
                  <a:t>进入状态</a:t>
                </a:r>
                <a:r>
                  <a:rPr lang="en-AU" altLang="zh-CN" dirty="0"/>
                  <a:t>p</a:t>
                </a:r>
                <a:r>
                  <a:rPr lang="zh-CN" altLang="en-US" dirty="0"/>
                  <a:t>后，把栈中的符号全部弹出。</a:t>
                </a:r>
                <a:endParaRPr lang="en-AU" altLang="zh-CN"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44</a:t>
            </a:fld>
            <a:endParaRPr lang="en-AU"/>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但是我们的构造是否正确呢？我们需要给出证明。</a:t>
            </a:r>
            <a:endParaRPr lang="en-AU" altLang="zh-CN" dirty="0"/>
          </a:p>
          <a:p>
            <a:endParaRPr lang="en-AU" dirty="0"/>
          </a:p>
          <a:p>
            <a:r>
              <a:rPr lang="zh-CN" altLang="en-US" dirty="0"/>
              <a:t>根据构造，在</a:t>
            </a:r>
            <a:r>
              <a:rPr lang="en-AU" altLang="zh-CN" dirty="0"/>
              <a:t>PN</a:t>
            </a:r>
            <a:r>
              <a:rPr lang="zh-CN" altLang="en-US" dirty="0"/>
              <a:t>中，可以通过空转移，由</a:t>
            </a:r>
            <a:r>
              <a:rPr lang="en-AU" altLang="zh-CN" dirty="0"/>
              <a:t>p0,w,X0</a:t>
            </a:r>
            <a:r>
              <a:rPr lang="zh-CN" altLang="en-US" dirty="0"/>
              <a:t>转移到</a:t>
            </a:r>
            <a:r>
              <a:rPr lang="en-AU" altLang="zh-CN" dirty="0"/>
              <a:t>q0,w,Z0X0</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45</a:t>
            </a:fld>
            <a:endParaRPr lang="en-AU"/>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P_F</a:t>
            </a:r>
            <a:r>
              <a:rPr lang="zh-CN" altLang="en-US" dirty="0"/>
              <a:t>有</a:t>
            </a:r>
            <a:r>
              <a:rPr lang="en-AU" altLang="zh-CN" dirty="0"/>
              <a:t>PN</a:t>
            </a:r>
            <a:r>
              <a:rPr lang="zh-CN" altLang="en-US" dirty="0"/>
              <a:t>所有的状态，符号，动作，加上</a:t>
            </a:r>
            <a:r>
              <a:rPr lang="en-AU" altLang="zh-CN" dirty="0"/>
              <a:t>:</a:t>
            </a:r>
          </a:p>
          <a:p>
            <a:endParaRPr lang="en-AU" dirty="0"/>
          </a:p>
          <a:p>
            <a:pPr marL="228600" indent="-228600">
              <a:buAutoNum type="arabicPeriod"/>
            </a:pPr>
            <a:r>
              <a:rPr lang="en-AU" dirty="0"/>
              <a:t>X0</a:t>
            </a:r>
          </a:p>
          <a:p>
            <a:pPr marL="228600" indent="-228600">
              <a:buAutoNum type="arabicPeriod"/>
            </a:pPr>
            <a:r>
              <a:rPr lang="zh-CN" altLang="en-US" dirty="0"/>
              <a:t>新的开始状态和接受状态</a:t>
            </a:r>
            <a:endParaRPr lang="en-AU" altLang="zh-CN" dirty="0"/>
          </a:p>
          <a:p>
            <a:pPr marL="228600" indent="-228600">
              <a:buAutoNum type="arabicPeriod"/>
            </a:pPr>
            <a:r>
              <a:rPr lang="zh-CN" altLang="en-US" dirty="0"/>
              <a:t>新的状态转移：</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48</a:t>
            </a:fld>
            <a:endParaRPr lang="en-AU"/>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思路就是利用非确定性，一方面把输入的符号压入栈，另一方面又同时进行</a:t>
            </a:r>
            <a:r>
              <a:rPr lang="en-AU" altLang="zh-CN" dirty="0"/>
              <a:t>0</a:t>
            </a:r>
            <a:r>
              <a:rPr lang="zh-CN" altLang="en-US" dirty="0"/>
              <a:t>和</a:t>
            </a:r>
            <a:r>
              <a:rPr lang="en-AU" altLang="zh-CN" dirty="0"/>
              <a:t>1</a:t>
            </a:r>
            <a:r>
              <a:rPr lang="zh-CN" altLang="en-US" dirty="0"/>
              <a:t>的匹配。最终总有一条正确的</a:t>
            </a:r>
            <a:r>
              <a:rPr lang="en-AU" altLang="zh-CN" dirty="0"/>
              <a:t>ID</a:t>
            </a:r>
            <a:r>
              <a:rPr lang="zh-CN" altLang="en-US" dirty="0"/>
              <a:t>转移路径，使得</a:t>
            </a:r>
            <a:r>
              <a:rPr lang="en-AU" altLang="zh-CN" dirty="0"/>
              <a:t>0</a:t>
            </a:r>
            <a:r>
              <a:rPr lang="zh-CN" altLang="en-US" dirty="0"/>
              <a:t>和</a:t>
            </a:r>
            <a:r>
              <a:rPr lang="en-AU" altLang="zh-CN" dirty="0"/>
              <a:t>1</a:t>
            </a:r>
            <a:r>
              <a:rPr lang="zh-CN" altLang="en-US" dirty="0"/>
              <a:t>数量的时候，刚好空栈。</a:t>
            </a:r>
            <a:endParaRPr lang="en-AU" altLang="zh-CN" dirty="0"/>
          </a:p>
          <a:p>
            <a:endParaRPr lang="en-AU" dirty="0"/>
          </a:p>
          <a:p>
            <a:r>
              <a:rPr lang="zh-CN" altLang="en-US" dirty="0"/>
              <a:t>同学们可以想下如何改成终态方式接受？</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53</a:t>
            </a:fld>
            <a:endParaRPr lang="en-AU"/>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思路就是利用非确定性，一方面把输入的符号压入栈，另一方面又同时进行</a:t>
            </a:r>
            <a:r>
              <a:rPr lang="en-AU" altLang="zh-CN" dirty="0"/>
              <a:t>0</a:t>
            </a:r>
            <a:r>
              <a:rPr lang="zh-CN" altLang="en-US" dirty="0"/>
              <a:t>和</a:t>
            </a:r>
            <a:r>
              <a:rPr lang="en-AU" altLang="zh-CN" dirty="0"/>
              <a:t>1</a:t>
            </a:r>
            <a:r>
              <a:rPr lang="zh-CN" altLang="en-US" dirty="0"/>
              <a:t>的匹配。最终总有一条正确的</a:t>
            </a:r>
            <a:r>
              <a:rPr lang="en-AU" altLang="zh-CN" dirty="0"/>
              <a:t>ID</a:t>
            </a:r>
            <a:r>
              <a:rPr lang="zh-CN" altLang="en-US" dirty="0"/>
              <a:t>转移路径，使得</a:t>
            </a:r>
            <a:r>
              <a:rPr lang="en-AU" altLang="zh-CN" dirty="0"/>
              <a:t>0</a:t>
            </a:r>
            <a:r>
              <a:rPr lang="zh-CN" altLang="en-US" dirty="0"/>
              <a:t>和</a:t>
            </a:r>
            <a:r>
              <a:rPr lang="en-AU" altLang="zh-CN" dirty="0"/>
              <a:t>1</a:t>
            </a:r>
            <a:r>
              <a:rPr lang="zh-CN" altLang="en-US" dirty="0"/>
              <a:t>数量的时候，刚好空栈。</a:t>
            </a:r>
            <a:endParaRPr lang="en-AU" altLang="zh-CN" dirty="0"/>
          </a:p>
          <a:p>
            <a:endParaRPr lang="en-AU" dirty="0"/>
          </a:p>
          <a:p>
            <a:r>
              <a:rPr lang="zh-CN" altLang="en-US" dirty="0"/>
              <a:t>同学们可以想下如何改成终态方式接受？</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54</a:t>
            </a:fld>
            <a:endParaRPr lang="en-AU"/>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思路就是利用非确定性，一方面把输入的符号压入栈，另一方面又同时进行</a:t>
            </a:r>
            <a:r>
              <a:rPr lang="en-AU" altLang="zh-CN" dirty="0"/>
              <a:t>0</a:t>
            </a:r>
            <a:r>
              <a:rPr lang="zh-CN" altLang="en-US" dirty="0"/>
              <a:t>和</a:t>
            </a:r>
            <a:r>
              <a:rPr lang="en-AU" altLang="zh-CN" dirty="0"/>
              <a:t>1</a:t>
            </a:r>
            <a:r>
              <a:rPr lang="zh-CN" altLang="en-US" dirty="0"/>
              <a:t>的匹配。最终总有一条正确的</a:t>
            </a:r>
            <a:r>
              <a:rPr lang="en-AU" altLang="zh-CN" dirty="0"/>
              <a:t>ID</a:t>
            </a:r>
            <a:r>
              <a:rPr lang="zh-CN" altLang="en-US" dirty="0"/>
              <a:t>转移路径，使得</a:t>
            </a:r>
            <a:r>
              <a:rPr lang="en-AU" altLang="zh-CN" dirty="0"/>
              <a:t>0</a:t>
            </a:r>
            <a:r>
              <a:rPr lang="zh-CN" altLang="en-US" dirty="0"/>
              <a:t>和</a:t>
            </a:r>
            <a:r>
              <a:rPr lang="en-AU" altLang="zh-CN" dirty="0"/>
              <a:t>1</a:t>
            </a:r>
            <a:r>
              <a:rPr lang="zh-CN" altLang="en-US" dirty="0"/>
              <a:t>数量的时候，刚好空栈。</a:t>
            </a:r>
            <a:endParaRPr lang="en-AU" altLang="zh-CN" dirty="0"/>
          </a:p>
          <a:p>
            <a:endParaRPr lang="en-AU" dirty="0"/>
          </a:p>
          <a:p>
            <a:r>
              <a:rPr lang="zh-CN" altLang="en-US" dirty="0"/>
              <a:t>同学们可以想下如何改成终态方式接受？</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55</a:t>
            </a:fld>
            <a:endParaRPr lang="en-AU"/>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1</a:t>
            </a:r>
            <a:r>
              <a:rPr lang="zh-CN" altLang="en-US" dirty="0"/>
              <a:t>的数量不能超过</a:t>
            </a:r>
            <a:r>
              <a:rPr lang="en-AU" altLang="zh-CN" dirty="0"/>
              <a:t>0</a:t>
            </a:r>
            <a:r>
              <a:rPr lang="zh-CN" altLang="en-US" dirty="0"/>
              <a:t>两倍，所以可以是一个</a:t>
            </a:r>
            <a:r>
              <a:rPr lang="en-AU" altLang="zh-CN" dirty="0"/>
              <a:t>1</a:t>
            </a:r>
            <a:r>
              <a:rPr lang="zh-CN" altLang="en-US" dirty="0"/>
              <a:t>匹配一个</a:t>
            </a:r>
            <a:r>
              <a:rPr lang="en-AU" altLang="zh-CN" dirty="0"/>
              <a:t>0</a:t>
            </a:r>
            <a:r>
              <a:rPr lang="zh-CN" altLang="en-US" dirty="0"/>
              <a:t>弹出，也可以是两个</a:t>
            </a:r>
            <a:r>
              <a:rPr lang="en-AU" altLang="zh-CN" dirty="0"/>
              <a:t>1</a:t>
            </a:r>
            <a:r>
              <a:rPr lang="zh-CN" altLang="en-US" dirty="0"/>
              <a:t>匹配一个</a:t>
            </a:r>
            <a:r>
              <a:rPr lang="en-AU" altLang="zh-CN" dirty="0"/>
              <a:t>0</a:t>
            </a:r>
            <a:r>
              <a:rPr lang="zh-CN" altLang="en-US" dirty="0"/>
              <a:t>弹出。</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57</a:t>
            </a:fld>
            <a:endParaRPr lang="en-AU"/>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1</a:t>
            </a:r>
            <a:r>
              <a:rPr lang="zh-CN" altLang="en-US" dirty="0"/>
              <a:t>的数量不能超过</a:t>
            </a:r>
            <a:r>
              <a:rPr lang="en-AU" altLang="zh-CN" dirty="0"/>
              <a:t>0</a:t>
            </a:r>
            <a:r>
              <a:rPr lang="zh-CN" altLang="en-US" dirty="0"/>
              <a:t>两倍，所以可以是一个</a:t>
            </a:r>
            <a:r>
              <a:rPr lang="en-AU" altLang="zh-CN" dirty="0"/>
              <a:t>1</a:t>
            </a:r>
            <a:r>
              <a:rPr lang="zh-CN" altLang="en-US" dirty="0"/>
              <a:t>匹配一个</a:t>
            </a:r>
            <a:r>
              <a:rPr lang="en-AU" altLang="zh-CN" dirty="0"/>
              <a:t>0</a:t>
            </a:r>
            <a:r>
              <a:rPr lang="zh-CN" altLang="en-US" dirty="0"/>
              <a:t>弹出，也可以是两个</a:t>
            </a:r>
            <a:r>
              <a:rPr lang="en-AU" altLang="zh-CN" dirty="0"/>
              <a:t>1</a:t>
            </a:r>
            <a:r>
              <a:rPr lang="zh-CN" altLang="en-US" dirty="0"/>
              <a:t>匹配一个</a:t>
            </a:r>
            <a:r>
              <a:rPr lang="en-AU" altLang="zh-CN" dirty="0"/>
              <a:t>0</a:t>
            </a:r>
            <a:r>
              <a:rPr lang="zh-CN" altLang="en-US" dirty="0"/>
              <a:t>弹出。</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58</a:t>
            </a:fld>
            <a:endParaRPr lang="en-AU"/>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1</a:t>
            </a:r>
            <a:r>
              <a:rPr lang="zh-CN" altLang="en-US" dirty="0"/>
              <a:t>的数量不能超过</a:t>
            </a:r>
            <a:r>
              <a:rPr lang="en-AU" altLang="zh-CN" dirty="0"/>
              <a:t>0</a:t>
            </a:r>
            <a:r>
              <a:rPr lang="zh-CN" altLang="en-US" dirty="0"/>
              <a:t>两倍，所以可以是一个</a:t>
            </a:r>
            <a:r>
              <a:rPr lang="en-AU" altLang="zh-CN" dirty="0"/>
              <a:t>1</a:t>
            </a:r>
            <a:r>
              <a:rPr lang="zh-CN" altLang="en-US" dirty="0"/>
              <a:t>匹配一个</a:t>
            </a:r>
            <a:r>
              <a:rPr lang="en-AU" altLang="zh-CN" dirty="0"/>
              <a:t>0</a:t>
            </a:r>
            <a:r>
              <a:rPr lang="zh-CN" altLang="en-US" dirty="0"/>
              <a:t>弹出，也可以是两个</a:t>
            </a:r>
            <a:r>
              <a:rPr lang="en-AU" altLang="zh-CN" dirty="0"/>
              <a:t>1</a:t>
            </a:r>
            <a:r>
              <a:rPr lang="zh-CN" altLang="en-US" dirty="0"/>
              <a:t>匹配一个</a:t>
            </a:r>
            <a:r>
              <a:rPr lang="en-AU" altLang="zh-CN" dirty="0"/>
              <a:t>0</a:t>
            </a:r>
            <a:r>
              <a:rPr lang="zh-CN" altLang="en-US" dirty="0"/>
              <a:t>弹出。</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59</a:t>
            </a:fld>
            <a:endParaRPr lang="en-AU"/>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学习可以识别上下文无关语言的一种机器装置，下推自动机。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下推自动机与上下文无关文法的等价性</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60</a:t>
            </a:fld>
            <a:endParaRPr lang="en-AU"/>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学习可以识别上下文无关语言的一种机器装置，下推自动机。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下推自动机与上下文无关文法的等价性</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61</a:t>
            </a:fld>
            <a:endParaRPr lang="en-AU"/>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学习可以识别上下文无关语言的一种机器装置，下推自动机。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下推自动机与上下文无关文法的等价性</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62</a:t>
            </a:fld>
            <a:endParaRPr lang="en-AU"/>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注意，</a:t>
            </a:r>
            <a:r>
              <a:rPr lang="en-AU" altLang="zh-CN" dirty="0"/>
              <a:t>PDA</a:t>
            </a:r>
            <a:r>
              <a:rPr lang="zh-CN" altLang="en-US" dirty="0"/>
              <a:t>的状态转移过程，对应文法最左派生。</a:t>
            </a:r>
            <a:endParaRPr lang="en-AU" altLang="zh-CN" dirty="0"/>
          </a:p>
          <a:p>
            <a:endParaRPr lang="en-AU" dirty="0"/>
          </a:p>
          <a:p>
            <a:r>
              <a:rPr lang="zh-CN" altLang="en-US" dirty="0"/>
              <a:t>上面的图中，除了消耗输入的符号外，其他的栈的状态转移都是通过空转移进行。</a:t>
            </a:r>
            <a:endParaRPr lang="en-AU" altLang="zh-CN" dirty="0"/>
          </a:p>
          <a:p>
            <a:endParaRPr lang="en-AU" dirty="0"/>
          </a:p>
          <a:p>
            <a:r>
              <a:rPr lang="zh-CN" altLang="en-US" dirty="0"/>
              <a:t>一开始栈顶符号为</a:t>
            </a:r>
            <a:r>
              <a:rPr lang="en-US" altLang="zh-CN" dirty="0"/>
              <a:t>S</a:t>
            </a:r>
            <a:r>
              <a:rPr lang="zh-CN" altLang="en-US" dirty="0"/>
              <a:t>，然后先利用产生式</a:t>
            </a:r>
            <a:r>
              <a:rPr lang="en-AU" altLang="zh-CN" dirty="0"/>
              <a:t>S-&gt;AB,</a:t>
            </a:r>
            <a:r>
              <a:rPr lang="zh-CN" altLang="en-US" dirty="0"/>
              <a:t>其对应状态转移函数</a:t>
            </a:r>
            <a:r>
              <a:rPr lang="en-AU" altLang="zh-CN" dirty="0" err="1"/>
              <a:t>q,epsiln,AB</a:t>
            </a:r>
            <a:r>
              <a:rPr lang="zh-CN" altLang="en-US" dirty="0"/>
              <a:t>，因此，将</a:t>
            </a:r>
            <a:r>
              <a:rPr lang="en-AU" altLang="zh-CN" dirty="0"/>
              <a:t>S</a:t>
            </a:r>
            <a:r>
              <a:rPr lang="zh-CN" altLang="en-US" dirty="0"/>
              <a:t>替换为</a:t>
            </a:r>
            <a:r>
              <a:rPr lang="en-US" altLang="zh-CN" dirty="0"/>
              <a:t>AB</a:t>
            </a:r>
            <a:r>
              <a:rPr lang="zh-CN" altLang="en-US" dirty="0"/>
              <a:t>。栈中为</a:t>
            </a:r>
            <a:r>
              <a:rPr lang="en-AU" altLang="zh-CN" dirty="0"/>
              <a:t>A</a:t>
            </a:r>
            <a:r>
              <a:rPr lang="en-US" altLang="zh-CN" dirty="0"/>
              <a:t>B</a:t>
            </a:r>
            <a:r>
              <a:rPr lang="zh-CN" altLang="en-US" dirty="0"/>
              <a:t>。</a:t>
            </a:r>
            <a:endParaRPr lang="en-AU" altLang="zh-CN" dirty="0"/>
          </a:p>
          <a:p>
            <a:endParaRPr lang="en-AU" dirty="0"/>
          </a:p>
          <a:p>
            <a:r>
              <a:rPr lang="zh-CN" altLang="en-US" dirty="0"/>
              <a:t>此时，栈顶为</a:t>
            </a:r>
            <a:r>
              <a:rPr lang="en-US" altLang="zh-CN" dirty="0"/>
              <a:t>A</a:t>
            </a:r>
            <a:r>
              <a:rPr lang="zh-CN" altLang="en-US" dirty="0"/>
              <a:t>，最左变元也是</a:t>
            </a:r>
            <a:r>
              <a:rPr lang="en-US" altLang="zh-CN" dirty="0"/>
              <a:t>A</a:t>
            </a:r>
            <a:r>
              <a:rPr lang="zh-CN" altLang="en-US" dirty="0"/>
              <a:t>。利用</a:t>
            </a:r>
            <a:r>
              <a:rPr lang="en-AU" altLang="zh-CN" dirty="0"/>
              <a:t>A</a:t>
            </a:r>
            <a:r>
              <a:rPr lang="zh-CN" altLang="en-US" dirty="0"/>
              <a:t>的产生式，</a:t>
            </a:r>
            <a:r>
              <a:rPr lang="en-AU" altLang="zh-CN" dirty="0"/>
              <a:t>A-0A,</a:t>
            </a:r>
            <a:r>
              <a:rPr lang="zh-CN" altLang="en-US" dirty="0"/>
              <a:t>其对应的状态转移函数为</a:t>
            </a:r>
            <a:r>
              <a:rPr lang="en-AU" altLang="zh-CN" dirty="0" err="1"/>
              <a:t>q,epsilon</a:t>
            </a:r>
            <a:r>
              <a:rPr lang="en-AU" altLang="zh-CN" dirty="0"/>
              <a:t>, 0A</a:t>
            </a:r>
            <a:r>
              <a:rPr lang="zh-CN" altLang="en-US" dirty="0"/>
              <a:t>，因此，把栈顶的</a:t>
            </a:r>
            <a:r>
              <a:rPr lang="en-AU" altLang="zh-CN" dirty="0"/>
              <a:t>A</a:t>
            </a:r>
            <a:r>
              <a:rPr lang="zh-CN" altLang="en-US" dirty="0"/>
              <a:t>替换为</a:t>
            </a:r>
            <a:r>
              <a:rPr lang="en-AU" altLang="zh-CN" dirty="0"/>
              <a:t>0A</a:t>
            </a:r>
            <a:r>
              <a:rPr lang="zh-CN" altLang="en-US" dirty="0"/>
              <a:t>。</a:t>
            </a:r>
            <a:endParaRPr lang="en-AU" altLang="zh-CN" dirty="0"/>
          </a:p>
          <a:p>
            <a:endParaRPr lang="en-AU" dirty="0"/>
          </a:p>
          <a:p>
            <a:r>
              <a:rPr lang="zh-CN" altLang="en-US" dirty="0"/>
              <a:t>此时，栈顶为</a:t>
            </a:r>
            <a:r>
              <a:rPr lang="en-AU" altLang="zh-CN" dirty="0"/>
              <a:t>0</a:t>
            </a:r>
            <a:r>
              <a:rPr lang="zh-CN" altLang="en-US" dirty="0"/>
              <a:t>，对应的状态转移函数为</a:t>
            </a:r>
            <a:r>
              <a:rPr lang="en-AU" altLang="zh-CN" dirty="0"/>
              <a:t>q,0,0</a:t>
            </a:r>
            <a:r>
              <a:rPr lang="zh-CN" altLang="en-US" dirty="0"/>
              <a:t>，因此消耗一个输入符号</a:t>
            </a:r>
            <a:r>
              <a:rPr lang="en-AU" altLang="zh-CN" dirty="0"/>
              <a:t>0</a:t>
            </a:r>
            <a:r>
              <a:rPr lang="zh-CN" altLang="en-US" dirty="0"/>
              <a:t>，栈弹出</a:t>
            </a:r>
            <a:r>
              <a:rPr lang="en-AU" altLang="zh-CN" dirty="0"/>
              <a:t>0</a:t>
            </a:r>
            <a:r>
              <a:rPr lang="zh-CN" altLang="en-US" dirty="0"/>
              <a:t>。</a:t>
            </a:r>
            <a:endParaRPr lang="en-AU" altLang="zh-CN" dirty="0"/>
          </a:p>
          <a:p>
            <a:endParaRPr lang="en-AU" dirty="0"/>
          </a:p>
          <a:p>
            <a:r>
              <a:rPr lang="zh-CN" altLang="en-US" dirty="0"/>
              <a:t>此时栈顶为</a:t>
            </a:r>
            <a:r>
              <a:rPr lang="en-AU" altLang="zh-CN" dirty="0"/>
              <a:t>A,</a:t>
            </a:r>
            <a:r>
              <a:rPr lang="zh-CN" altLang="en-US" dirty="0"/>
              <a:t>产生式</a:t>
            </a:r>
            <a:r>
              <a:rPr lang="en-AU" altLang="zh-CN" dirty="0"/>
              <a:t>A-&gt;epsilon,</a:t>
            </a:r>
            <a:r>
              <a:rPr lang="zh-CN" altLang="en-US" dirty="0"/>
              <a:t>对应的状态转移函数为</a:t>
            </a:r>
            <a:r>
              <a:rPr lang="en-AU" altLang="zh-CN" dirty="0"/>
              <a:t>q, epsilon,=q, epsilon,</a:t>
            </a:r>
            <a:r>
              <a:rPr lang="zh-CN" altLang="en-US" dirty="0"/>
              <a:t>因此弹出</a:t>
            </a:r>
            <a:r>
              <a:rPr lang="en-US" altLang="zh-CN" dirty="0"/>
              <a:t>A</a:t>
            </a:r>
            <a:r>
              <a:rPr lang="zh-CN" altLang="en-US" dirty="0"/>
              <a:t>。栈顶为</a:t>
            </a:r>
            <a:r>
              <a:rPr lang="en-US" altLang="zh-CN" dirty="0"/>
              <a:t>B</a:t>
            </a:r>
            <a:r>
              <a:rPr lang="zh-CN" altLang="en-US" dirty="0"/>
              <a:t>。</a:t>
            </a:r>
            <a:endParaRPr lang="en-AU" altLang="zh-CN" dirty="0"/>
          </a:p>
          <a:p>
            <a:endParaRPr lang="en-AU" dirty="0"/>
          </a:p>
          <a:p>
            <a:endParaRPr lang="en-AU" dirty="0"/>
          </a:p>
          <a:p>
            <a:r>
              <a:rPr lang="zh-CN" altLang="en-US" dirty="0"/>
              <a:t>利用产生式</a:t>
            </a:r>
            <a:r>
              <a:rPr lang="en-AU" altLang="zh-CN" dirty="0"/>
              <a:t>B-&gt;0B1,</a:t>
            </a:r>
            <a:r>
              <a:rPr lang="zh-CN" altLang="en-US" dirty="0"/>
              <a:t>对应的状态转移函数为</a:t>
            </a:r>
            <a:r>
              <a:rPr lang="en-AU" altLang="zh-CN" dirty="0"/>
              <a:t>q, epsilon, B=q, 0</a:t>
            </a:r>
            <a:r>
              <a:rPr lang="en-US" altLang="zh-CN" dirty="0"/>
              <a:t>B1</a:t>
            </a:r>
            <a:r>
              <a:rPr lang="zh-CN" altLang="en-US" dirty="0"/>
              <a:t>，把栈中的</a:t>
            </a:r>
            <a:r>
              <a:rPr lang="en-US" altLang="zh-CN" dirty="0"/>
              <a:t>B</a:t>
            </a:r>
            <a:r>
              <a:rPr lang="zh-CN" altLang="en-US" dirty="0"/>
              <a:t>替换为</a:t>
            </a:r>
            <a:r>
              <a:rPr lang="en-AU" altLang="zh-CN" dirty="0"/>
              <a:t>0B1</a:t>
            </a:r>
            <a:r>
              <a:rPr lang="zh-CN" altLang="en-US" dirty="0"/>
              <a:t>。</a:t>
            </a:r>
            <a:endParaRPr lang="en-AU" dirty="0"/>
          </a:p>
          <a:p>
            <a:endParaRPr lang="en-AU" dirty="0"/>
          </a:p>
          <a:p>
            <a:endParaRPr lang="en-AU" dirty="0"/>
          </a:p>
          <a:p>
            <a:endParaRPr lang="en-AU" dirty="0"/>
          </a:p>
          <a:p>
            <a:r>
              <a:rPr lang="zh-CN" altLang="en-US" dirty="0"/>
              <a:t>到达</a:t>
            </a:r>
            <a:r>
              <a:rPr lang="en-AU" altLang="zh-CN" dirty="0"/>
              <a:t>0AB</a:t>
            </a:r>
            <a:r>
              <a:rPr lang="zh-CN" altLang="en-US" dirty="0"/>
              <a:t>之后，因为最左派生，接下来只需要关注对最左边的变元</a:t>
            </a:r>
            <a:r>
              <a:rPr lang="en-AU" altLang="zh-CN" dirty="0"/>
              <a:t>A</a:t>
            </a:r>
            <a:r>
              <a:rPr lang="zh-CN" altLang="en-US" dirty="0"/>
              <a:t>的替换。</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67</a:t>
            </a:fld>
            <a:endParaRPr lang="en-AU"/>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注意，</a:t>
            </a:r>
            <a:r>
              <a:rPr lang="en-AU" altLang="zh-CN" dirty="0"/>
              <a:t>PDA</a:t>
            </a:r>
            <a:r>
              <a:rPr lang="zh-CN" altLang="en-US" dirty="0"/>
              <a:t>的状态转移过程，对应文法最左派生。</a:t>
            </a:r>
            <a:endParaRPr lang="en-AU" altLang="zh-CN" dirty="0"/>
          </a:p>
          <a:p>
            <a:endParaRPr lang="en-AU" dirty="0"/>
          </a:p>
          <a:p>
            <a:r>
              <a:rPr lang="zh-CN" altLang="en-US" dirty="0"/>
              <a:t>上面的图中，除了消耗输入的符号外，其他的栈的状态转移都是通过空转移进行。</a:t>
            </a:r>
            <a:endParaRPr lang="en-AU" altLang="zh-CN" dirty="0"/>
          </a:p>
          <a:p>
            <a:endParaRPr lang="en-AU" dirty="0"/>
          </a:p>
          <a:p>
            <a:r>
              <a:rPr lang="zh-CN" altLang="en-US" dirty="0"/>
              <a:t>一开始栈顶符号为</a:t>
            </a:r>
            <a:r>
              <a:rPr lang="en-US" altLang="zh-CN" dirty="0"/>
              <a:t>S</a:t>
            </a:r>
            <a:r>
              <a:rPr lang="zh-CN" altLang="en-US" dirty="0"/>
              <a:t>，然后先利用产生式</a:t>
            </a:r>
            <a:r>
              <a:rPr lang="en-AU" altLang="zh-CN" dirty="0"/>
              <a:t>S-&gt;AB,</a:t>
            </a:r>
            <a:r>
              <a:rPr lang="zh-CN" altLang="en-US" dirty="0"/>
              <a:t>其对应状态转移函数</a:t>
            </a:r>
            <a:r>
              <a:rPr lang="en-AU" altLang="zh-CN" dirty="0" err="1"/>
              <a:t>q,epsiln,AB</a:t>
            </a:r>
            <a:r>
              <a:rPr lang="zh-CN" altLang="en-US" dirty="0"/>
              <a:t>，因此，将</a:t>
            </a:r>
            <a:r>
              <a:rPr lang="en-AU" altLang="zh-CN" dirty="0"/>
              <a:t>S</a:t>
            </a:r>
            <a:r>
              <a:rPr lang="zh-CN" altLang="en-US" dirty="0"/>
              <a:t>替换为</a:t>
            </a:r>
            <a:r>
              <a:rPr lang="en-US" altLang="zh-CN" dirty="0"/>
              <a:t>AB</a:t>
            </a:r>
            <a:r>
              <a:rPr lang="zh-CN" altLang="en-US" dirty="0"/>
              <a:t>。栈中为</a:t>
            </a:r>
            <a:r>
              <a:rPr lang="en-AU" altLang="zh-CN" dirty="0"/>
              <a:t>A</a:t>
            </a:r>
            <a:r>
              <a:rPr lang="en-US" altLang="zh-CN" dirty="0"/>
              <a:t>B</a:t>
            </a:r>
            <a:r>
              <a:rPr lang="zh-CN" altLang="en-US" dirty="0"/>
              <a:t>。</a:t>
            </a:r>
            <a:endParaRPr lang="en-AU" altLang="zh-CN" dirty="0"/>
          </a:p>
          <a:p>
            <a:endParaRPr lang="en-AU" dirty="0"/>
          </a:p>
          <a:p>
            <a:r>
              <a:rPr lang="zh-CN" altLang="en-US" dirty="0"/>
              <a:t>此时，栈顶为</a:t>
            </a:r>
            <a:r>
              <a:rPr lang="en-US" altLang="zh-CN" dirty="0"/>
              <a:t>A</a:t>
            </a:r>
            <a:r>
              <a:rPr lang="zh-CN" altLang="en-US" dirty="0"/>
              <a:t>，最左变元也是</a:t>
            </a:r>
            <a:r>
              <a:rPr lang="en-US" altLang="zh-CN" dirty="0"/>
              <a:t>A</a:t>
            </a:r>
            <a:r>
              <a:rPr lang="zh-CN" altLang="en-US" dirty="0"/>
              <a:t>。利用</a:t>
            </a:r>
            <a:r>
              <a:rPr lang="en-AU" altLang="zh-CN" dirty="0"/>
              <a:t>A</a:t>
            </a:r>
            <a:r>
              <a:rPr lang="zh-CN" altLang="en-US" dirty="0"/>
              <a:t>的产生式，</a:t>
            </a:r>
            <a:r>
              <a:rPr lang="en-AU" altLang="zh-CN" dirty="0"/>
              <a:t>A-0A,</a:t>
            </a:r>
            <a:r>
              <a:rPr lang="zh-CN" altLang="en-US" dirty="0"/>
              <a:t>其对应的状态转移函数为</a:t>
            </a:r>
            <a:r>
              <a:rPr lang="en-AU" altLang="zh-CN" dirty="0" err="1"/>
              <a:t>q,epsilon</a:t>
            </a:r>
            <a:r>
              <a:rPr lang="en-AU" altLang="zh-CN" dirty="0"/>
              <a:t>, 0A</a:t>
            </a:r>
            <a:r>
              <a:rPr lang="zh-CN" altLang="en-US" dirty="0"/>
              <a:t>，因此，把栈顶的</a:t>
            </a:r>
            <a:r>
              <a:rPr lang="en-AU" altLang="zh-CN" dirty="0"/>
              <a:t>A</a:t>
            </a:r>
            <a:r>
              <a:rPr lang="zh-CN" altLang="en-US" dirty="0"/>
              <a:t>替换为</a:t>
            </a:r>
            <a:r>
              <a:rPr lang="en-AU" altLang="zh-CN" dirty="0"/>
              <a:t>0A</a:t>
            </a:r>
            <a:r>
              <a:rPr lang="zh-CN" altLang="en-US" dirty="0"/>
              <a:t>。</a:t>
            </a:r>
            <a:endParaRPr lang="en-AU" altLang="zh-CN" dirty="0"/>
          </a:p>
          <a:p>
            <a:endParaRPr lang="en-AU" dirty="0"/>
          </a:p>
          <a:p>
            <a:r>
              <a:rPr lang="zh-CN" altLang="en-US" dirty="0"/>
              <a:t>此时，栈顶为</a:t>
            </a:r>
            <a:r>
              <a:rPr lang="en-AU" altLang="zh-CN" dirty="0"/>
              <a:t>0</a:t>
            </a:r>
            <a:r>
              <a:rPr lang="zh-CN" altLang="en-US" dirty="0"/>
              <a:t>，对应的状态转移函数为</a:t>
            </a:r>
            <a:r>
              <a:rPr lang="en-AU" altLang="zh-CN" dirty="0"/>
              <a:t>q,0,0</a:t>
            </a:r>
            <a:r>
              <a:rPr lang="zh-CN" altLang="en-US" dirty="0"/>
              <a:t>，因此消耗一个输入符号</a:t>
            </a:r>
            <a:r>
              <a:rPr lang="en-AU" altLang="zh-CN" dirty="0"/>
              <a:t>0</a:t>
            </a:r>
            <a:r>
              <a:rPr lang="zh-CN" altLang="en-US" dirty="0"/>
              <a:t>，栈弹出</a:t>
            </a:r>
            <a:r>
              <a:rPr lang="en-AU" altLang="zh-CN" dirty="0"/>
              <a:t>0</a:t>
            </a:r>
            <a:r>
              <a:rPr lang="zh-CN" altLang="en-US" dirty="0"/>
              <a:t>。</a:t>
            </a:r>
            <a:endParaRPr lang="en-AU" altLang="zh-CN" dirty="0"/>
          </a:p>
          <a:p>
            <a:endParaRPr lang="en-AU" dirty="0"/>
          </a:p>
          <a:p>
            <a:r>
              <a:rPr lang="zh-CN" altLang="en-US" dirty="0"/>
              <a:t>此时栈顶为</a:t>
            </a:r>
            <a:r>
              <a:rPr lang="en-AU" altLang="zh-CN" dirty="0"/>
              <a:t>A,</a:t>
            </a:r>
            <a:r>
              <a:rPr lang="zh-CN" altLang="en-US" dirty="0"/>
              <a:t>产生式</a:t>
            </a:r>
            <a:r>
              <a:rPr lang="en-AU" altLang="zh-CN" dirty="0"/>
              <a:t>A-&gt;epsilon,</a:t>
            </a:r>
            <a:r>
              <a:rPr lang="zh-CN" altLang="en-US" dirty="0"/>
              <a:t>对应的状态转移函数为</a:t>
            </a:r>
            <a:r>
              <a:rPr lang="en-AU" altLang="zh-CN" dirty="0"/>
              <a:t>q, epsilon,=q, epsilon,</a:t>
            </a:r>
            <a:r>
              <a:rPr lang="zh-CN" altLang="en-US" dirty="0"/>
              <a:t>因此弹出</a:t>
            </a:r>
            <a:r>
              <a:rPr lang="en-US" altLang="zh-CN" dirty="0"/>
              <a:t>A</a:t>
            </a:r>
            <a:r>
              <a:rPr lang="zh-CN" altLang="en-US" dirty="0"/>
              <a:t>。栈顶为</a:t>
            </a:r>
            <a:r>
              <a:rPr lang="en-US" altLang="zh-CN" dirty="0"/>
              <a:t>B</a:t>
            </a:r>
            <a:r>
              <a:rPr lang="zh-CN" altLang="en-US" dirty="0"/>
              <a:t>。</a:t>
            </a:r>
            <a:endParaRPr lang="en-AU" altLang="zh-CN" dirty="0"/>
          </a:p>
          <a:p>
            <a:endParaRPr lang="en-AU" dirty="0"/>
          </a:p>
          <a:p>
            <a:endParaRPr lang="en-AU" dirty="0"/>
          </a:p>
          <a:p>
            <a:r>
              <a:rPr lang="zh-CN" altLang="en-US" dirty="0"/>
              <a:t>利用产生式</a:t>
            </a:r>
            <a:r>
              <a:rPr lang="en-AU" altLang="zh-CN" dirty="0"/>
              <a:t>B-&gt;0B1,</a:t>
            </a:r>
            <a:r>
              <a:rPr lang="zh-CN" altLang="en-US" dirty="0"/>
              <a:t>对应的状态转移函数为</a:t>
            </a:r>
            <a:r>
              <a:rPr lang="en-AU" altLang="zh-CN" dirty="0"/>
              <a:t>q, epsilon, B=q, 0</a:t>
            </a:r>
            <a:r>
              <a:rPr lang="en-US" altLang="zh-CN" dirty="0"/>
              <a:t>B1</a:t>
            </a:r>
            <a:r>
              <a:rPr lang="zh-CN" altLang="en-US" dirty="0"/>
              <a:t>，把栈中的</a:t>
            </a:r>
            <a:r>
              <a:rPr lang="en-US" altLang="zh-CN" dirty="0"/>
              <a:t>B</a:t>
            </a:r>
            <a:r>
              <a:rPr lang="zh-CN" altLang="en-US" dirty="0"/>
              <a:t>替换为</a:t>
            </a:r>
            <a:r>
              <a:rPr lang="en-AU" altLang="zh-CN" dirty="0"/>
              <a:t>0B1</a:t>
            </a:r>
            <a:r>
              <a:rPr lang="zh-CN" altLang="en-US" dirty="0"/>
              <a:t>。</a:t>
            </a:r>
            <a:endParaRPr lang="en-AU" dirty="0"/>
          </a:p>
          <a:p>
            <a:endParaRPr lang="en-AU" dirty="0"/>
          </a:p>
          <a:p>
            <a:endParaRPr lang="en-AU" dirty="0"/>
          </a:p>
          <a:p>
            <a:endParaRPr lang="en-AU" dirty="0"/>
          </a:p>
          <a:p>
            <a:r>
              <a:rPr lang="zh-CN" altLang="en-US" dirty="0"/>
              <a:t>到达</a:t>
            </a:r>
            <a:r>
              <a:rPr lang="en-AU" altLang="zh-CN" dirty="0"/>
              <a:t>0AB</a:t>
            </a:r>
            <a:r>
              <a:rPr lang="zh-CN" altLang="en-US" dirty="0"/>
              <a:t>之后，因为最左派生，接下来只需要关注对最左边的变元</a:t>
            </a:r>
            <a:r>
              <a:rPr lang="en-AU" altLang="zh-CN" dirty="0"/>
              <a:t>A</a:t>
            </a:r>
            <a:r>
              <a:rPr lang="zh-CN" altLang="en-US" dirty="0"/>
              <a:t>的替换。</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68</a:t>
            </a:fld>
            <a:endParaRPr lang="en-AU"/>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注意，</a:t>
            </a:r>
            <a:r>
              <a:rPr lang="en-AU" altLang="zh-CN" dirty="0"/>
              <a:t>PDA</a:t>
            </a:r>
            <a:r>
              <a:rPr lang="zh-CN" altLang="en-US" dirty="0"/>
              <a:t>的状态转移过程，对应文法最左派生。</a:t>
            </a:r>
            <a:endParaRPr lang="en-AU" altLang="zh-CN" dirty="0"/>
          </a:p>
          <a:p>
            <a:endParaRPr lang="en-AU" dirty="0"/>
          </a:p>
          <a:p>
            <a:r>
              <a:rPr lang="zh-CN" altLang="en-US" dirty="0"/>
              <a:t>上面的图中，除了消耗输入的符号外，其他的栈的状态转移都是通过空转移进行（每次根据栈顶的符号来进行转移函数的选择）。</a:t>
            </a:r>
            <a:endParaRPr lang="en-AU" altLang="zh-CN" dirty="0"/>
          </a:p>
          <a:p>
            <a:endParaRPr lang="en-AU" dirty="0"/>
          </a:p>
          <a:p>
            <a:r>
              <a:rPr lang="zh-CN" altLang="en-US" dirty="0"/>
              <a:t>一开始栈顶符号为</a:t>
            </a:r>
            <a:r>
              <a:rPr lang="en-US" altLang="zh-CN" dirty="0"/>
              <a:t>S</a:t>
            </a:r>
            <a:r>
              <a:rPr lang="zh-CN" altLang="en-US" dirty="0"/>
              <a:t>，然后先利用产生式</a:t>
            </a:r>
            <a:r>
              <a:rPr lang="en-AU" altLang="zh-CN" dirty="0"/>
              <a:t>S-&gt;AB,</a:t>
            </a:r>
            <a:r>
              <a:rPr lang="zh-CN" altLang="en-US" dirty="0"/>
              <a:t>其对应状态转移函数</a:t>
            </a:r>
            <a:r>
              <a:rPr lang="en-AU" altLang="zh-CN" dirty="0" err="1"/>
              <a:t>q,epsiln,AB</a:t>
            </a:r>
            <a:r>
              <a:rPr lang="zh-CN" altLang="en-US" dirty="0"/>
              <a:t>，因此，将</a:t>
            </a:r>
            <a:r>
              <a:rPr lang="en-AU" altLang="zh-CN" dirty="0"/>
              <a:t>S</a:t>
            </a:r>
            <a:r>
              <a:rPr lang="zh-CN" altLang="en-US" dirty="0"/>
              <a:t>替换为</a:t>
            </a:r>
            <a:r>
              <a:rPr lang="en-US" altLang="zh-CN" dirty="0"/>
              <a:t>AB</a:t>
            </a:r>
            <a:r>
              <a:rPr lang="zh-CN" altLang="en-US" dirty="0"/>
              <a:t>。栈中为</a:t>
            </a:r>
            <a:r>
              <a:rPr lang="en-AU" altLang="zh-CN" dirty="0"/>
              <a:t>A</a:t>
            </a:r>
            <a:r>
              <a:rPr lang="en-US" altLang="zh-CN" dirty="0"/>
              <a:t>B</a:t>
            </a:r>
            <a:r>
              <a:rPr lang="zh-CN" altLang="en-US" dirty="0"/>
              <a:t>。</a:t>
            </a:r>
            <a:endParaRPr lang="en-AU" altLang="zh-CN" dirty="0"/>
          </a:p>
          <a:p>
            <a:endParaRPr lang="en-AU" dirty="0"/>
          </a:p>
          <a:p>
            <a:r>
              <a:rPr lang="zh-CN" altLang="en-US" dirty="0"/>
              <a:t>此时，栈顶为</a:t>
            </a:r>
            <a:r>
              <a:rPr lang="en-US" altLang="zh-CN" dirty="0"/>
              <a:t>A</a:t>
            </a:r>
            <a:r>
              <a:rPr lang="zh-CN" altLang="en-US" dirty="0"/>
              <a:t>，最左变元也是</a:t>
            </a:r>
            <a:r>
              <a:rPr lang="en-US" altLang="zh-CN" dirty="0"/>
              <a:t>A</a:t>
            </a:r>
            <a:r>
              <a:rPr lang="zh-CN" altLang="en-US" dirty="0"/>
              <a:t>。利用</a:t>
            </a:r>
            <a:r>
              <a:rPr lang="en-AU" altLang="zh-CN" dirty="0"/>
              <a:t>A</a:t>
            </a:r>
            <a:r>
              <a:rPr lang="zh-CN" altLang="en-US" dirty="0"/>
              <a:t>的产生式，</a:t>
            </a:r>
            <a:r>
              <a:rPr lang="en-AU" altLang="zh-CN" dirty="0"/>
              <a:t>A-0A,</a:t>
            </a:r>
            <a:r>
              <a:rPr lang="zh-CN" altLang="en-US" dirty="0"/>
              <a:t>其对应的状态转移函数为</a:t>
            </a:r>
            <a:r>
              <a:rPr lang="en-AU" altLang="zh-CN" dirty="0" err="1"/>
              <a:t>q,epsilon</a:t>
            </a:r>
            <a:r>
              <a:rPr lang="en-AU" altLang="zh-CN" dirty="0"/>
              <a:t>, 0A</a:t>
            </a:r>
            <a:r>
              <a:rPr lang="zh-CN" altLang="en-US" dirty="0"/>
              <a:t>，因此，把栈顶的</a:t>
            </a:r>
            <a:r>
              <a:rPr lang="en-AU" altLang="zh-CN" dirty="0"/>
              <a:t>A</a:t>
            </a:r>
            <a:r>
              <a:rPr lang="zh-CN" altLang="en-US" dirty="0"/>
              <a:t>替换为</a:t>
            </a:r>
            <a:r>
              <a:rPr lang="en-AU" altLang="zh-CN" dirty="0"/>
              <a:t>0A</a:t>
            </a:r>
            <a:r>
              <a:rPr lang="zh-CN" altLang="en-US" dirty="0"/>
              <a:t>。</a:t>
            </a:r>
            <a:endParaRPr lang="en-AU" altLang="zh-CN" dirty="0"/>
          </a:p>
          <a:p>
            <a:endParaRPr lang="en-AU" dirty="0"/>
          </a:p>
          <a:p>
            <a:r>
              <a:rPr lang="zh-CN" altLang="en-US" dirty="0"/>
              <a:t>此时，栈顶为</a:t>
            </a:r>
            <a:r>
              <a:rPr lang="en-AU" altLang="zh-CN" dirty="0"/>
              <a:t>0</a:t>
            </a:r>
            <a:r>
              <a:rPr lang="zh-CN" altLang="en-US" dirty="0"/>
              <a:t>，对应的状态转移函数为</a:t>
            </a:r>
            <a:r>
              <a:rPr lang="en-AU" altLang="zh-CN" dirty="0"/>
              <a:t>q,0,0</a:t>
            </a:r>
            <a:r>
              <a:rPr lang="zh-CN" altLang="en-US" dirty="0"/>
              <a:t>，因此消耗一个输入符号</a:t>
            </a:r>
            <a:r>
              <a:rPr lang="en-AU" altLang="zh-CN" dirty="0"/>
              <a:t>0</a:t>
            </a:r>
            <a:r>
              <a:rPr lang="zh-CN" altLang="en-US" dirty="0"/>
              <a:t>，栈弹出</a:t>
            </a:r>
            <a:r>
              <a:rPr lang="en-AU" altLang="zh-CN" dirty="0"/>
              <a:t>0</a:t>
            </a:r>
            <a:r>
              <a:rPr lang="zh-CN" altLang="en-US" dirty="0"/>
              <a:t>。</a:t>
            </a:r>
            <a:endParaRPr lang="en-AU" altLang="zh-CN" dirty="0"/>
          </a:p>
          <a:p>
            <a:endParaRPr lang="en-AU" dirty="0"/>
          </a:p>
          <a:p>
            <a:r>
              <a:rPr lang="zh-CN" altLang="en-US" dirty="0"/>
              <a:t>此时栈顶为</a:t>
            </a:r>
            <a:r>
              <a:rPr lang="en-AU" altLang="zh-CN" dirty="0"/>
              <a:t>A,</a:t>
            </a:r>
            <a:r>
              <a:rPr lang="zh-CN" altLang="en-US" dirty="0"/>
              <a:t>产生式</a:t>
            </a:r>
            <a:r>
              <a:rPr lang="en-AU" altLang="zh-CN" dirty="0"/>
              <a:t>A-&gt;epsilon,</a:t>
            </a:r>
            <a:r>
              <a:rPr lang="zh-CN" altLang="en-US" dirty="0"/>
              <a:t>对应的状态转移函数为</a:t>
            </a:r>
            <a:r>
              <a:rPr lang="en-AU" altLang="zh-CN" dirty="0"/>
              <a:t>q, epsilon,=q, epsilon,</a:t>
            </a:r>
            <a:r>
              <a:rPr lang="zh-CN" altLang="en-US" dirty="0"/>
              <a:t>因此弹出</a:t>
            </a:r>
            <a:r>
              <a:rPr lang="en-US" altLang="zh-CN" dirty="0"/>
              <a:t>A</a:t>
            </a:r>
            <a:r>
              <a:rPr lang="zh-CN" altLang="en-US" dirty="0"/>
              <a:t>。栈顶为</a:t>
            </a:r>
            <a:r>
              <a:rPr lang="en-US" altLang="zh-CN" dirty="0"/>
              <a:t>B</a:t>
            </a:r>
            <a:r>
              <a:rPr lang="zh-CN" altLang="en-US" dirty="0"/>
              <a:t>。</a:t>
            </a:r>
            <a:endParaRPr lang="en-AU" altLang="zh-CN" dirty="0"/>
          </a:p>
          <a:p>
            <a:endParaRPr lang="en-AU" dirty="0"/>
          </a:p>
          <a:p>
            <a:endParaRPr lang="en-AU" dirty="0"/>
          </a:p>
          <a:p>
            <a:r>
              <a:rPr lang="zh-CN" altLang="en-US" dirty="0"/>
              <a:t>利用产生式</a:t>
            </a:r>
            <a:r>
              <a:rPr lang="en-AU" altLang="zh-CN" dirty="0"/>
              <a:t>B-&gt;0B1,</a:t>
            </a:r>
            <a:r>
              <a:rPr lang="zh-CN" altLang="en-US" dirty="0"/>
              <a:t>对应的状态转移函数为</a:t>
            </a:r>
            <a:r>
              <a:rPr lang="en-AU" altLang="zh-CN" dirty="0"/>
              <a:t>q, epsilon, B=q, 0</a:t>
            </a:r>
            <a:r>
              <a:rPr lang="en-US" altLang="zh-CN" dirty="0"/>
              <a:t>B1</a:t>
            </a:r>
            <a:r>
              <a:rPr lang="zh-CN" altLang="en-US" dirty="0"/>
              <a:t>，把栈中的</a:t>
            </a:r>
            <a:r>
              <a:rPr lang="en-US" altLang="zh-CN" dirty="0"/>
              <a:t>B</a:t>
            </a:r>
            <a:r>
              <a:rPr lang="zh-CN" altLang="en-US" dirty="0"/>
              <a:t>替换为</a:t>
            </a:r>
            <a:r>
              <a:rPr lang="en-AU" altLang="zh-CN" dirty="0"/>
              <a:t>0B1</a:t>
            </a:r>
            <a:r>
              <a:rPr lang="zh-CN" altLang="en-US" dirty="0"/>
              <a:t>。</a:t>
            </a:r>
            <a:endParaRPr lang="en-AU" dirty="0"/>
          </a:p>
          <a:p>
            <a:endParaRPr lang="en-AU" dirty="0"/>
          </a:p>
          <a:p>
            <a:endParaRPr lang="en-AU" dirty="0"/>
          </a:p>
          <a:p>
            <a:endParaRPr lang="en-AU" dirty="0"/>
          </a:p>
          <a:p>
            <a:r>
              <a:rPr lang="zh-CN" altLang="en-US" dirty="0"/>
              <a:t>到达</a:t>
            </a:r>
            <a:r>
              <a:rPr lang="en-AU" altLang="zh-CN" dirty="0"/>
              <a:t>0AB</a:t>
            </a:r>
            <a:r>
              <a:rPr lang="zh-CN" altLang="en-US" dirty="0"/>
              <a:t>之后，因为最左派生，接下来只需要关注对最左边的变元</a:t>
            </a:r>
            <a:r>
              <a:rPr lang="en-AU" altLang="zh-CN" dirty="0"/>
              <a:t>A</a:t>
            </a:r>
            <a:r>
              <a:rPr lang="zh-CN" altLang="en-US" dirty="0"/>
              <a:t>的替换。</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69</a:t>
            </a:fld>
            <a:endParaRPr lang="en-AU"/>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再对派生步骤</a:t>
            </a:r>
            <a:r>
              <a:rPr lang="en-AU" altLang="zh-CN" dirty="0" err="1"/>
              <a:t>i</a:t>
            </a:r>
            <a:r>
              <a:rPr lang="zh-CN" altLang="en-US" dirty="0"/>
              <a:t>归纳，往证：</a:t>
            </a:r>
            <a:endParaRPr lang="en-AU" altLang="zh-CN" dirty="0"/>
          </a:p>
          <a:p>
            <a:endParaRPr lang="en-AU" dirty="0"/>
          </a:p>
          <a:p>
            <a:r>
              <a:rPr lang="en-AU" dirty="0"/>
              <a:t>S=&gt;I </a:t>
            </a:r>
            <a:r>
              <a:rPr lang="en-AU" dirty="0" err="1"/>
              <a:t>x_iA_i_alpha_i</a:t>
            </a:r>
            <a:endParaRPr lang="en-AU" dirty="0"/>
          </a:p>
          <a:p>
            <a:endParaRPr lang="en-AU" dirty="0"/>
          </a:p>
          <a:p>
            <a:endParaRPr lang="en-AU" dirty="0"/>
          </a:p>
          <a:p>
            <a:r>
              <a:rPr lang="zh-CN" altLang="en-US" dirty="0"/>
              <a:t>因此，我们</a:t>
            </a:r>
            <a:r>
              <a:rPr lang="en-US" altLang="zh-CN" dirty="0"/>
              <a:t>you</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71</a:t>
            </a:fld>
            <a:endParaRPr lang="en-AU"/>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因此第</a:t>
            </a:r>
            <a:r>
              <a:rPr lang="en-AU" altLang="zh-CN" dirty="0"/>
              <a:t>i+1</a:t>
            </a:r>
            <a:r>
              <a:rPr lang="zh-CN" altLang="en-US" dirty="0"/>
              <a:t>步也成立。</a:t>
            </a:r>
            <a:endParaRPr lang="en-AU" altLang="zh-CN" dirty="0"/>
          </a:p>
          <a:p>
            <a:endParaRPr lang="en-AU" dirty="0"/>
          </a:p>
          <a:p>
            <a:r>
              <a:rPr lang="zh-CN" altLang="en-US" dirty="0"/>
              <a:t>因此，</a:t>
            </a:r>
            <a:r>
              <a:rPr lang="en-AU" altLang="zh-CN" dirty="0"/>
              <a:t>S</a:t>
            </a:r>
            <a:r>
              <a:rPr lang="zh-CN" altLang="en-US" dirty="0"/>
              <a:t>通过</a:t>
            </a:r>
            <a:r>
              <a:rPr lang="en-US" altLang="zh-CN" dirty="0"/>
              <a:t>n</a:t>
            </a:r>
            <a:r>
              <a:rPr lang="zh-CN" altLang="en-US" dirty="0"/>
              <a:t>步派生对应的</a:t>
            </a:r>
            <a:r>
              <a:rPr lang="en-US" altLang="zh-CN" dirty="0"/>
              <a:t>ID</a:t>
            </a:r>
            <a:r>
              <a:rPr lang="zh-CN" altLang="en-US" dirty="0"/>
              <a:t>是</a:t>
            </a:r>
            <a:r>
              <a:rPr lang="en-AU" altLang="zh-CN" dirty="0" err="1"/>
              <a:t>q,yn,An</a:t>
            </a:r>
            <a:r>
              <a:rPr lang="en-AU" altLang="zh-CN" dirty="0"/>
              <a:t>*</a:t>
            </a:r>
            <a:r>
              <a:rPr lang="en-AU" altLang="zh-CN" dirty="0" err="1"/>
              <a:t>alphan</a:t>
            </a:r>
            <a:r>
              <a:rPr lang="zh-CN" altLang="en-US" dirty="0"/>
              <a:t>，也就是</a:t>
            </a:r>
            <a:r>
              <a:rPr lang="en-AU" altLang="zh-CN" dirty="0"/>
              <a:t>q, epsilon, epsilon</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73</a:t>
            </a:fld>
            <a:endParaRPr lang="en-AU"/>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如果</a:t>
            </a:r>
            <a:r>
              <a:rPr lang="en-AU" altLang="zh-CN" dirty="0" err="1"/>
              <a:t>Y_i</a:t>
            </a:r>
            <a:r>
              <a:rPr lang="zh-CN" altLang="en-US" dirty="0"/>
              <a:t>是个终结符，则</a:t>
            </a:r>
            <a:r>
              <a:rPr lang="en-AU" altLang="zh-CN" dirty="0"/>
              <a:t>PDA</a:t>
            </a:r>
            <a:r>
              <a:rPr lang="zh-CN" altLang="en-US" dirty="0"/>
              <a:t>所做的就是直接消耗输入带上对应的符号</a:t>
            </a:r>
            <a:r>
              <a:rPr lang="en-AU" altLang="zh-CN" dirty="0" err="1"/>
              <a:t>x_i</a:t>
            </a:r>
            <a:r>
              <a:rPr lang="en-AU" altLang="zh-CN" dirty="0"/>
              <a:t>=</a:t>
            </a:r>
            <a:r>
              <a:rPr lang="en-AU" altLang="zh-CN" dirty="0" err="1"/>
              <a:t>Y_i</a:t>
            </a:r>
            <a:r>
              <a:rPr lang="zh-CN" altLang="en-US" dirty="0"/>
              <a:t>，弹出</a:t>
            </a:r>
            <a:r>
              <a:rPr lang="en-AU" altLang="zh-CN" dirty="0" err="1"/>
              <a:t>Y_i</a:t>
            </a:r>
            <a:r>
              <a:rPr lang="zh-CN" altLang="en-US" dirty="0"/>
              <a:t>。</a:t>
            </a:r>
            <a:endParaRPr lang="en-AU" altLang="zh-CN" dirty="0"/>
          </a:p>
          <a:p>
            <a:endParaRPr lang="en-AU" dirty="0"/>
          </a:p>
          <a:p>
            <a:endParaRPr lang="en-AU" dirty="0"/>
          </a:p>
          <a:p>
            <a:r>
              <a:rPr lang="zh-CN" altLang="en-US" dirty="0"/>
              <a:t>如果</a:t>
            </a:r>
            <a:r>
              <a:rPr lang="en-AU" altLang="zh-CN" dirty="0" err="1"/>
              <a:t>Y_i</a:t>
            </a:r>
            <a:r>
              <a:rPr lang="zh-CN" altLang="en-US" dirty="0"/>
              <a:t>是个变元，则它所对应的就是消耗掉的那部分输入带符号定义为</a:t>
            </a:r>
            <a:r>
              <a:rPr lang="en-AU" altLang="zh-CN" dirty="0" err="1"/>
              <a:t>x_i</a:t>
            </a:r>
            <a:r>
              <a:rPr lang="zh-CN" altLang="en-US" dirty="0"/>
              <a:t>。此时</a:t>
            </a:r>
            <a:r>
              <a:rPr lang="en-AU" altLang="zh-CN" dirty="0" err="1"/>
              <a:t>Y_i</a:t>
            </a:r>
            <a:r>
              <a:rPr lang="zh-CN" altLang="en-US" dirty="0"/>
              <a:t>派生出</a:t>
            </a:r>
            <a:r>
              <a:rPr lang="en-AU" altLang="zh-CN" dirty="0" err="1"/>
              <a:t>x_i</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75</a:t>
            </a:fld>
            <a:endParaRPr lang="en-AU"/>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77</a:t>
            </a:fld>
            <a:endParaRPr lang="en-AU"/>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第一步，先定义变元。如果</a:t>
                </a:r>
                <a:r>
                  <a:rPr lang="en-AU" altLang="zh-CN" dirty="0"/>
                  <a:t>PDA</a:t>
                </a:r>
                <a:r>
                  <a:rPr lang="zh-CN" altLang="en-US" dirty="0"/>
                  <a:t>中，从状态</a:t>
                </a:r>
                <a:r>
                  <a:rPr lang="en-AU" altLang="zh-CN" dirty="0"/>
                  <a:t>q</a:t>
                </a:r>
                <a:r>
                  <a:rPr lang="zh-CN" altLang="en-US" dirty="0"/>
                  <a:t>变化到状态</a:t>
                </a:r>
                <a:r>
                  <a:rPr lang="en-AU" altLang="zh-CN" dirty="0"/>
                  <a:t>p</a:t>
                </a:r>
                <a:r>
                  <a:rPr lang="zh-CN" altLang="en-US" dirty="0"/>
                  <a:t>，且栈中弹出的符号串为</a:t>
                </a:r>
                <a:r>
                  <a:rPr lang="en-AU" altLang="zh-CN" dirty="0"/>
                  <a:t>X</a:t>
                </a:r>
                <a:r>
                  <a:rPr lang="zh-CN" altLang="en-US" dirty="0"/>
                  <a:t>，则定义一个变元</a:t>
                </a:r>
                <a:r>
                  <a:rPr lang="en-AU" altLang="zh-CN" dirty="0"/>
                  <a:t>[</a:t>
                </a:r>
                <a:r>
                  <a:rPr lang="en-AU" altLang="zh-CN" dirty="0" err="1"/>
                  <a:t>qXp</a:t>
                </a:r>
                <a:r>
                  <a:rPr lang="en-AU" altLang="zh-CN" dirty="0"/>
                  <a:t>]</a:t>
                </a:r>
                <a:r>
                  <a:rPr lang="zh-CN" altLang="en-US" dirty="0"/>
                  <a:t>。这个过程会消耗一些输入带上的符号串，也就是该变元能派生出的符号串。</a:t>
                </a:r>
                <a:endParaRPr lang="en-AU" altLang="zh-CN" dirty="0"/>
              </a:p>
              <a:p>
                <a:endParaRPr lang="en-AU" dirty="0"/>
              </a:p>
              <a:p>
                <a:r>
                  <a:rPr lang="zh-CN" altLang="en-US" dirty="0"/>
                  <a:t>第二步，对所有</a:t>
                </a:r>
                <a:r>
                  <a:rPr lang="en-US" altLang="zh-CN" dirty="0"/>
                  <a:t>p</a:t>
                </a:r>
                <a:r>
                  <a:rPr lang="zh-CN" altLang="en-US" dirty="0"/>
                  <a:t>属于</a:t>
                </a:r>
                <a:r>
                  <a:rPr lang="en-AU" altLang="zh-CN" dirty="0"/>
                  <a:t>Q</a:t>
                </a:r>
                <a:r>
                  <a:rPr lang="zh-CN" altLang="en-US" dirty="0"/>
                  <a:t>，构造一条产生式</a:t>
                </a:r>
                <a:r>
                  <a:rPr lang="en-AU" altLang="zh-CN" dirty="0"/>
                  <a:t>S-&gt;[q0Z0p]</a:t>
                </a:r>
              </a:p>
              <a:p>
                <a:endParaRPr lang="en-AU" dirty="0"/>
              </a:p>
              <a:p>
                <a:endParaRPr lang="en-AU" dirty="0"/>
              </a:p>
              <a:p>
                <a:r>
                  <a:rPr lang="zh-CN" altLang="en-US" dirty="0"/>
                  <a:t>第三步，如果</a:t>
                </a:r>
                <a14:m>
                  <m:oMath xmlns:m="http://schemas.openxmlformats.org/officeDocument/2006/math">
                    <m:r>
                      <a:rPr lang="zh-CN" altLang="en-US" sz="1200" i="1" dirty="0" smtClean="0">
                        <a:latin typeface="Cambria Math" panose="02040503050406030204" pitchFamily="18" charset="0"/>
                      </a:rPr>
                      <m:t>∀</m:t>
                    </m:r>
                    <m:r>
                      <a:rPr lang="en-US" altLang="zh-CN" sz="1200" i="1" dirty="0" smtClean="0">
                        <a:latin typeface="Cambria Math" panose="02040503050406030204" pitchFamily="18" charset="0"/>
                      </a:rPr>
                      <m:t>(</m:t>
                    </m:r>
                    <m:r>
                      <a:rPr lang="en-AU" sz="1200" i="1" dirty="0" smtClean="0">
                        <a:latin typeface="Cambria Math" panose="02040503050406030204" pitchFamily="18" charset="0"/>
                      </a:rPr>
                      <m:t>𝑝</m:t>
                    </m:r>
                    <m:r>
                      <a:rPr lang="en-AU" sz="1200" i="1" dirty="0" smtClean="0">
                        <a:latin typeface="Cambria Math" panose="02040503050406030204" pitchFamily="18" charset="0"/>
                      </a:rPr>
                      <m:t>,</m:t>
                    </m:r>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1</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2</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m:t>
                        </m:r>
                        <m:r>
                          <a:rPr lang="en-AU" altLang="zh-CN" sz="1200" i="1" dirty="0">
                            <a:latin typeface="Cambria Math" panose="02040503050406030204" pitchFamily="18" charset="0"/>
                            <a:ea typeface="Cambria Math" panose="02040503050406030204" pitchFamily="18" charset="0"/>
                          </a:rPr>
                          <m:t>𝑌</m:t>
                        </m:r>
                      </m:e>
                      <m:sub>
                        <m:r>
                          <a:rPr lang="en-AU" altLang="zh-CN" sz="1200" b="0" i="1" dirty="0" smtClean="0">
                            <a:latin typeface="Cambria Math" panose="02040503050406030204" pitchFamily="18" charset="0"/>
                            <a:ea typeface="Cambria Math" panose="02040503050406030204" pitchFamily="18" charset="0"/>
                          </a:rPr>
                          <m:t>𝑛</m:t>
                        </m:r>
                      </m:sub>
                    </m:sSub>
                    <m:r>
                      <a:rPr lang="en-AU" sz="1200" i="1" dirty="0" smtClean="0">
                        <a:latin typeface="Cambria Math" panose="02040503050406030204" pitchFamily="18" charset="0"/>
                      </a:rPr>
                      <m:t>) ∈ </m:t>
                    </m:r>
                    <m:r>
                      <a:rPr lang="el-GR" sz="1200" i="1" dirty="0" smtClean="0">
                        <a:latin typeface="Cambria Math" panose="02040503050406030204" pitchFamily="18" charset="0"/>
                      </a:rPr>
                      <m:t>𝛿</m:t>
                    </m:r>
                    <m:r>
                      <a:rPr lang="el-GR" sz="1200" i="1" dirty="0" smtClean="0">
                        <a:latin typeface="Cambria Math" panose="02040503050406030204" pitchFamily="18" charset="0"/>
                      </a:rPr>
                      <m:t>(</m:t>
                    </m:r>
                    <m:r>
                      <a:rPr lang="en-AU" sz="1200" i="1" dirty="0" smtClean="0">
                        <a:latin typeface="Cambria Math" panose="02040503050406030204" pitchFamily="18" charset="0"/>
                      </a:rPr>
                      <m:t>𝑞</m:t>
                    </m:r>
                    <m:r>
                      <a:rPr lang="en-AU" sz="1200" i="1" dirty="0" smtClean="0">
                        <a:latin typeface="Cambria Math" panose="02040503050406030204" pitchFamily="18" charset="0"/>
                      </a:rPr>
                      <m:t>, </m:t>
                    </m:r>
                    <m:r>
                      <a:rPr lang="en-AU" sz="1200" i="1" dirty="0" smtClean="0">
                        <a:latin typeface="Cambria Math" panose="02040503050406030204" pitchFamily="18" charset="0"/>
                      </a:rPr>
                      <m:t>𝑎</m:t>
                    </m:r>
                    <m:r>
                      <a:rPr lang="en-AU" sz="1200" i="1" dirty="0" smtClean="0">
                        <a:latin typeface="Cambria Math" panose="02040503050406030204" pitchFamily="18" charset="0"/>
                      </a:rPr>
                      <m:t>, </m:t>
                    </m:r>
                    <m:r>
                      <a:rPr lang="en-AU" sz="1200" i="1" dirty="0" smtClean="0">
                        <a:latin typeface="Cambria Math" panose="02040503050406030204" pitchFamily="18" charset="0"/>
                      </a:rPr>
                      <m:t>𝑋</m:t>
                    </m:r>
                    <m:r>
                      <a:rPr lang="en-AU" sz="1200" i="1" dirty="0" smtClean="0">
                        <a:latin typeface="Cambria Math" panose="02040503050406030204" pitchFamily="18" charset="0"/>
                      </a:rPr>
                      <m:t>), </m:t>
                    </m:r>
                  </m:oMath>
                </a14:m>
                <a:r>
                  <a:rPr lang="zh-CN" altLang="en-US" dirty="0"/>
                  <a:t>则</a:t>
                </a:r>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81</a:t>
            </a:fld>
            <a:endParaRPr lang="en-AU"/>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第一步，先定义变元。如果</a:t>
                </a:r>
                <a:r>
                  <a:rPr lang="en-AU" altLang="zh-CN" dirty="0"/>
                  <a:t>PDA</a:t>
                </a:r>
                <a:r>
                  <a:rPr lang="zh-CN" altLang="en-US" dirty="0"/>
                  <a:t>中，从状态</a:t>
                </a:r>
                <a:r>
                  <a:rPr lang="en-AU" altLang="zh-CN" dirty="0"/>
                  <a:t>q</a:t>
                </a:r>
                <a:r>
                  <a:rPr lang="zh-CN" altLang="en-US" dirty="0"/>
                  <a:t>变化到状态</a:t>
                </a:r>
                <a:r>
                  <a:rPr lang="en-AU" altLang="zh-CN" dirty="0"/>
                  <a:t>p</a:t>
                </a:r>
                <a:r>
                  <a:rPr lang="zh-CN" altLang="en-US" dirty="0"/>
                  <a:t>，且栈中弹出的符号串为</a:t>
                </a:r>
                <a:r>
                  <a:rPr lang="en-AU" altLang="zh-CN" dirty="0"/>
                  <a:t>X</a:t>
                </a:r>
                <a:r>
                  <a:rPr lang="zh-CN" altLang="en-US" dirty="0"/>
                  <a:t>，则定义一个变元</a:t>
                </a:r>
                <a:r>
                  <a:rPr lang="en-AU" altLang="zh-CN" dirty="0"/>
                  <a:t>[</a:t>
                </a:r>
                <a:r>
                  <a:rPr lang="en-AU" altLang="zh-CN" dirty="0" err="1"/>
                  <a:t>qXp</a:t>
                </a:r>
                <a:r>
                  <a:rPr lang="en-AU" altLang="zh-CN" dirty="0"/>
                  <a:t>]</a:t>
                </a:r>
                <a:r>
                  <a:rPr lang="zh-CN" altLang="en-US" dirty="0"/>
                  <a:t>。这个过程会消耗一些输入带上的符号串，也就是该变元能派生出的符号串。</a:t>
                </a:r>
                <a:endParaRPr lang="en-AU" altLang="zh-CN" dirty="0"/>
              </a:p>
              <a:p>
                <a:endParaRPr lang="en-AU" dirty="0"/>
              </a:p>
              <a:p>
                <a:r>
                  <a:rPr lang="zh-CN" altLang="en-US" dirty="0"/>
                  <a:t>第二步，对所有</a:t>
                </a:r>
                <a:r>
                  <a:rPr lang="en-US" altLang="zh-CN" dirty="0"/>
                  <a:t>p</a:t>
                </a:r>
                <a:r>
                  <a:rPr lang="zh-CN" altLang="en-US" dirty="0"/>
                  <a:t>属于</a:t>
                </a:r>
                <a:r>
                  <a:rPr lang="en-AU" altLang="zh-CN" dirty="0"/>
                  <a:t>Q</a:t>
                </a:r>
                <a:r>
                  <a:rPr lang="zh-CN" altLang="en-US" dirty="0"/>
                  <a:t>，构造一条产生式</a:t>
                </a:r>
                <a:r>
                  <a:rPr lang="en-AU" altLang="zh-CN" dirty="0"/>
                  <a:t>S-&gt;[q0Z0p]</a:t>
                </a:r>
              </a:p>
              <a:p>
                <a:endParaRPr lang="en-AU" dirty="0"/>
              </a:p>
              <a:p>
                <a:endParaRPr lang="en-AU" dirty="0"/>
              </a:p>
              <a:p>
                <a:r>
                  <a:rPr lang="zh-CN" altLang="en-US" dirty="0"/>
                  <a:t>第三步，如果</a:t>
                </a:r>
                <a14:m>
                  <m:oMath xmlns:m="http://schemas.openxmlformats.org/officeDocument/2006/math">
                    <m:r>
                      <a:rPr lang="zh-CN" altLang="en-US" sz="1200" i="1" dirty="0" smtClean="0">
                        <a:latin typeface="Cambria Math" panose="02040503050406030204" pitchFamily="18" charset="0"/>
                      </a:rPr>
                      <m:t>∀</m:t>
                    </m:r>
                    <m:r>
                      <a:rPr lang="en-US" altLang="zh-CN" sz="1200" i="1" dirty="0" smtClean="0">
                        <a:latin typeface="Cambria Math" panose="02040503050406030204" pitchFamily="18" charset="0"/>
                      </a:rPr>
                      <m:t>(</m:t>
                    </m:r>
                    <m:r>
                      <a:rPr lang="en-AU" sz="1200" i="1" dirty="0" smtClean="0">
                        <a:latin typeface="Cambria Math" panose="02040503050406030204" pitchFamily="18" charset="0"/>
                      </a:rPr>
                      <m:t>𝑝</m:t>
                    </m:r>
                    <m:r>
                      <a:rPr lang="en-AU" sz="1200" i="1" dirty="0" smtClean="0">
                        <a:latin typeface="Cambria Math" panose="02040503050406030204" pitchFamily="18" charset="0"/>
                      </a:rPr>
                      <m:t>,</m:t>
                    </m:r>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1</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2</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m:t>
                        </m:r>
                        <m:r>
                          <a:rPr lang="en-AU" altLang="zh-CN" sz="1200" i="1" dirty="0">
                            <a:latin typeface="Cambria Math" panose="02040503050406030204" pitchFamily="18" charset="0"/>
                            <a:ea typeface="Cambria Math" panose="02040503050406030204" pitchFamily="18" charset="0"/>
                          </a:rPr>
                          <m:t>𝑌</m:t>
                        </m:r>
                      </m:e>
                      <m:sub>
                        <m:r>
                          <a:rPr lang="en-AU" altLang="zh-CN" sz="1200" b="0" i="1" dirty="0" smtClean="0">
                            <a:latin typeface="Cambria Math" panose="02040503050406030204" pitchFamily="18" charset="0"/>
                            <a:ea typeface="Cambria Math" panose="02040503050406030204" pitchFamily="18" charset="0"/>
                          </a:rPr>
                          <m:t>𝑛</m:t>
                        </m:r>
                      </m:sub>
                    </m:sSub>
                    <m:r>
                      <a:rPr lang="en-AU" sz="1200" i="1" dirty="0" smtClean="0">
                        <a:latin typeface="Cambria Math" panose="02040503050406030204" pitchFamily="18" charset="0"/>
                      </a:rPr>
                      <m:t>) ∈ </m:t>
                    </m:r>
                    <m:r>
                      <a:rPr lang="el-GR" sz="1200" i="1" dirty="0" smtClean="0">
                        <a:latin typeface="Cambria Math" panose="02040503050406030204" pitchFamily="18" charset="0"/>
                      </a:rPr>
                      <m:t>𝛿</m:t>
                    </m:r>
                    <m:r>
                      <a:rPr lang="el-GR" sz="1200" i="1" dirty="0" smtClean="0">
                        <a:latin typeface="Cambria Math" panose="02040503050406030204" pitchFamily="18" charset="0"/>
                      </a:rPr>
                      <m:t>(</m:t>
                    </m:r>
                    <m:r>
                      <a:rPr lang="en-AU" sz="1200" i="1" dirty="0" smtClean="0">
                        <a:latin typeface="Cambria Math" panose="02040503050406030204" pitchFamily="18" charset="0"/>
                      </a:rPr>
                      <m:t>𝑞</m:t>
                    </m:r>
                    <m:r>
                      <a:rPr lang="en-AU" sz="1200" i="1" dirty="0" smtClean="0">
                        <a:latin typeface="Cambria Math" panose="02040503050406030204" pitchFamily="18" charset="0"/>
                      </a:rPr>
                      <m:t>, </m:t>
                    </m:r>
                    <m:r>
                      <a:rPr lang="en-AU" sz="1200" i="1" dirty="0" smtClean="0">
                        <a:latin typeface="Cambria Math" panose="02040503050406030204" pitchFamily="18" charset="0"/>
                      </a:rPr>
                      <m:t>𝑎</m:t>
                    </m:r>
                    <m:r>
                      <a:rPr lang="en-AU" sz="1200" i="1" dirty="0" smtClean="0">
                        <a:latin typeface="Cambria Math" panose="02040503050406030204" pitchFamily="18" charset="0"/>
                      </a:rPr>
                      <m:t>, </m:t>
                    </m:r>
                    <m:r>
                      <a:rPr lang="en-AU" sz="1200" i="1" dirty="0" smtClean="0">
                        <a:latin typeface="Cambria Math" panose="02040503050406030204" pitchFamily="18" charset="0"/>
                      </a:rPr>
                      <m:t>𝑋</m:t>
                    </m:r>
                    <m:r>
                      <a:rPr lang="en-AU" sz="1200" i="1" dirty="0" smtClean="0">
                        <a:latin typeface="Cambria Math" panose="02040503050406030204" pitchFamily="18" charset="0"/>
                      </a:rPr>
                      <m:t>), </m:t>
                    </m:r>
                  </m:oMath>
                </a14:m>
                <a:r>
                  <a:rPr lang="zh-CN" altLang="en-US" dirty="0"/>
                  <a:t>则</a:t>
                </a:r>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82</a:t>
            </a:fld>
            <a:endParaRPr lang="en-AU"/>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为了从栈中完全的弹出某个符号，需要消耗输入带上的某个符号串。所以从栈中弹出一个符号和输入带上消耗掉的符号串之间是一种对应关系。如果将栈中的符号看成是一个变元的话，那么可以看成从这个变元，可以派生出来消耗掉的符号串。我们利用这样的方式，去构造文法。</a:t>
                </a:r>
                <a:endParaRPr lang="en-AU" altLang="zh-CN" dirty="0"/>
              </a:p>
              <a:p>
                <a:endParaRPr lang="en-AU" altLang="zh-CN" dirty="0"/>
              </a:p>
              <a:p>
                <a:r>
                  <a:rPr lang="zh-CN" altLang="en-US" dirty="0"/>
                  <a:t>文法的变元对应了</a:t>
                </a:r>
                <a:r>
                  <a:rPr lang="en-US" altLang="zh-CN" dirty="0"/>
                  <a:t>PDA</a:t>
                </a:r>
                <a:r>
                  <a:rPr lang="zh-CN" altLang="en-US" dirty="0"/>
                  <a:t>的栈符号。由于如果弹出栈符号之前和之后的状态不一样，可能会导致消耗的符号串不一样，因此联合之前和之后的状态定义变元。</a:t>
                </a:r>
                <a:endParaRPr lang="en-AU" altLang="zh-CN" dirty="0"/>
              </a:p>
              <a:p>
                <a:endParaRPr lang="en-AU" altLang="zh-CN" dirty="0"/>
              </a:p>
              <a:p>
                <a:r>
                  <a:rPr lang="zh-CN" altLang="en-US" dirty="0"/>
                  <a:t>第一步，先定义变元。如果</a:t>
                </a:r>
                <a:r>
                  <a:rPr lang="en-AU" altLang="zh-CN" dirty="0"/>
                  <a:t>PDA</a:t>
                </a:r>
                <a:r>
                  <a:rPr lang="zh-CN" altLang="en-US" dirty="0"/>
                  <a:t>中，从状态</a:t>
                </a:r>
                <a:r>
                  <a:rPr lang="en-AU" altLang="zh-CN" dirty="0"/>
                  <a:t>q</a:t>
                </a:r>
                <a:r>
                  <a:rPr lang="zh-CN" altLang="en-US" dirty="0"/>
                  <a:t>变化到状态</a:t>
                </a:r>
                <a:r>
                  <a:rPr lang="en-AU" altLang="zh-CN" dirty="0"/>
                  <a:t>p</a:t>
                </a:r>
                <a:r>
                  <a:rPr lang="zh-CN" altLang="en-US" dirty="0"/>
                  <a:t>，且栈中弹出的符号串为</a:t>
                </a:r>
                <a:r>
                  <a:rPr lang="en-AU" altLang="zh-CN" dirty="0"/>
                  <a:t>X</a:t>
                </a:r>
                <a:r>
                  <a:rPr lang="zh-CN" altLang="en-US" dirty="0"/>
                  <a:t>，则定义一个变元</a:t>
                </a:r>
                <a:r>
                  <a:rPr lang="en-AU" altLang="zh-CN" dirty="0"/>
                  <a:t>[</a:t>
                </a:r>
                <a:r>
                  <a:rPr lang="en-AU" altLang="zh-CN" dirty="0" err="1"/>
                  <a:t>qXp</a:t>
                </a:r>
                <a:r>
                  <a:rPr lang="en-AU" altLang="zh-CN" dirty="0"/>
                  <a:t>]</a:t>
                </a:r>
                <a:r>
                  <a:rPr lang="zh-CN" altLang="en-US" dirty="0"/>
                  <a:t>。这个过程会消耗一些输入带上的符号串，也就是该变元能派生出的符号串。</a:t>
                </a:r>
                <a:endParaRPr lang="en-AU" altLang="zh-CN" dirty="0"/>
              </a:p>
              <a:p>
                <a:endParaRPr lang="en-AU" dirty="0"/>
              </a:p>
              <a:p>
                <a:r>
                  <a:rPr lang="zh-CN" altLang="en-US" dirty="0"/>
                  <a:t>第二步，对所有</a:t>
                </a:r>
                <a:r>
                  <a:rPr lang="en-US" altLang="zh-CN" dirty="0"/>
                  <a:t>p</a:t>
                </a:r>
                <a:r>
                  <a:rPr lang="zh-CN" altLang="en-US" dirty="0"/>
                  <a:t>属于</a:t>
                </a:r>
                <a:r>
                  <a:rPr lang="en-AU" altLang="zh-CN" dirty="0"/>
                  <a:t>Q</a:t>
                </a:r>
                <a:r>
                  <a:rPr lang="zh-CN" altLang="en-US" dirty="0"/>
                  <a:t>，构造一条产生式</a:t>
                </a:r>
                <a:r>
                  <a:rPr lang="en-AU" altLang="zh-CN" dirty="0"/>
                  <a:t>S-&gt;[q0Z0p]</a:t>
                </a:r>
              </a:p>
              <a:p>
                <a:endParaRPr lang="en-AU" dirty="0"/>
              </a:p>
              <a:p>
                <a:endParaRPr lang="en-AU" dirty="0"/>
              </a:p>
              <a:p>
                <a:r>
                  <a:rPr lang="zh-CN" altLang="en-US" dirty="0"/>
                  <a:t>为了弹出某个栈符号</a:t>
                </a:r>
                <a:r>
                  <a:rPr lang="en-US" altLang="zh-CN" dirty="0"/>
                  <a:t>X</a:t>
                </a:r>
                <a:r>
                  <a:rPr lang="zh-CN" altLang="en-US" dirty="0"/>
                  <a:t>，第一步是利用某个动作将</a:t>
                </a:r>
                <a:r>
                  <a:rPr lang="en-US" altLang="zh-CN" dirty="0"/>
                  <a:t>X</a:t>
                </a:r>
                <a:r>
                  <a:rPr lang="zh-CN" altLang="en-US" dirty="0"/>
                  <a:t>替换为其他栈符号串，然后再一步一步的弹出这些栈符号。可以利用这一个动作去定义一组产生式。将栈符号串所对应的变元作为要弹出的变元的定义。有了变元之后，我们定义产生式，根据</a:t>
                </a:r>
                <a:r>
                  <a:rPr lang="en-US" altLang="zh-CN" dirty="0"/>
                  <a:t>PDA</a:t>
                </a:r>
                <a:r>
                  <a:rPr lang="zh-CN" altLang="en-US" dirty="0"/>
                  <a:t>的动作。如果</a:t>
                </a:r>
                <a:r>
                  <a:rPr lang="en-AU" altLang="zh-CN" dirty="0" err="1"/>
                  <a:t>q,a,X</a:t>
                </a:r>
                <a:r>
                  <a:rPr lang="en-AU" altLang="zh-CN" dirty="0"/>
                  <a:t>,</a:t>
                </a:r>
                <a:r>
                  <a:rPr lang="zh-CN" altLang="en-US" dirty="0"/>
                  <a:t>我们要将</a:t>
                </a:r>
                <a:r>
                  <a:rPr lang="en-US" altLang="zh-CN" dirty="0"/>
                  <a:t>X</a:t>
                </a:r>
                <a:r>
                  <a:rPr lang="zh-CN" altLang="en-US" dirty="0"/>
                  <a:t>弹出，第一步是将</a:t>
                </a:r>
                <a:r>
                  <a:rPr lang="en-US" altLang="zh-CN" dirty="0"/>
                  <a:t>X</a:t>
                </a:r>
                <a:r>
                  <a:rPr lang="zh-CN" altLang="en-US" dirty="0"/>
                  <a:t>替换为</a:t>
                </a:r>
                <a:r>
                  <a:rPr lang="en-AU" altLang="zh-CN" dirty="0"/>
                  <a:t>Y1</a:t>
                </a:r>
                <a:r>
                  <a:rPr lang="zh-CN" altLang="en-US" dirty="0"/>
                  <a:t>，。。。</a:t>
                </a:r>
                <a:r>
                  <a:rPr lang="en-AU" altLang="zh-CN" dirty="0"/>
                  <a:t>,</a:t>
                </a:r>
                <a:r>
                  <a:rPr lang="en-AU" altLang="zh-CN" dirty="0" err="1"/>
                  <a:t>Yn</a:t>
                </a:r>
                <a:r>
                  <a:rPr lang="zh-CN" altLang="en-US" dirty="0"/>
                  <a:t>。我们利用这个动作定义一组产生式。</a:t>
                </a:r>
                <a:endParaRPr lang="en-AU" altLang="zh-CN" dirty="0"/>
              </a:p>
              <a:p>
                <a:endParaRPr lang="en-AU" dirty="0"/>
              </a:p>
              <a:p>
                <a:r>
                  <a:rPr lang="zh-CN" altLang="en-US" dirty="0"/>
                  <a:t>第一步先派生出一个字符</a:t>
                </a:r>
                <a:r>
                  <a:rPr lang="en-US" altLang="zh-CN" dirty="0"/>
                  <a:t>a</a:t>
                </a:r>
                <a:r>
                  <a:rPr lang="zh-CN" altLang="en-US" dirty="0"/>
                  <a:t>，然后剩下的字符串交给变元</a:t>
                </a:r>
                <a:r>
                  <a:rPr lang="en-AU" altLang="zh-CN" dirty="0"/>
                  <a:t>Y1, Y2, </a:t>
                </a:r>
                <a:r>
                  <a:rPr lang="zh-CN" altLang="en-US" dirty="0"/>
                  <a:t>。。。</a:t>
                </a:r>
                <a:r>
                  <a:rPr lang="en-AU" altLang="zh-CN" dirty="0" err="1"/>
                  <a:t>Yn</a:t>
                </a:r>
                <a:r>
                  <a:rPr lang="en-AU" altLang="zh-CN" dirty="0"/>
                  <a:t>,</a:t>
                </a:r>
                <a:r>
                  <a:rPr lang="zh-CN" altLang="en-US" dirty="0"/>
                  <a:t>由它们去派生。由于弹出</a:t>
                </a:r>
                <a:r>
                  <a:rPr lang="en-US" altLang="zh-CN" dirty="0"/>
                  <a:t>Y1</a:t>
                </a:r>
                <a:r>
                  <a:rPr lang="zh-CN" altLang="en-US" dirty="0"/>
                  <a:t>之后到达的那个状态我们并不确定，所以我们用</a:t>
                </a:r>
                <a:r>
                  <a:rPr lang="en-AU" altLang="zh-CN" dirty="0"/>
                  <a:t>r1</a:t>
                </a:r>
                <a:r>
                  <a:rPr lang="zh-CN" altLang="en-US" dirty="0"/>
                  <a:t>表示。弹完</a:t>
                </a:r>
                <a:r>
                  <a:rPr lang="en-AU" altLang="zh-CN" dirty="0"/>
                  <a:t>Y1</a:t>
                </a:r>
                <a:r>
                  <a:rPr lang="zh-CN" altLang="en-US" dirty="0"/>
                  <a:t>之后，处于的状态为</a:t>
                </a:r>
                <a:r>
                  <a:rPr lang="en-AU" altLang="zh-CN" dirty="0"/>
                  <a:t>r1</a:t>
                </a:r>
                <a:r>
                  <a:rPr lang="zh-CN" altLang="en-US" dirty="0"/>
                  <a:t>，开始弹</a:t>
                </a:r>
                <a:r>
                  <a:rPr lang="en-AU" altLang="zh-CN" dirty="0"/>
                  <a:t>Y2</a:t>
                </a:r>
                <a:r>
                  <a:rPr lang="zh-CN" altLang="en-US" dirty="0"/>
                  <a:t>，到达的状态不确定，我们定义为</a:t>
                </a:r>
                <a:r>
                  <a:rPr lang="en-AU" altLang="zh-CN" dirty="0"/>
                  <a:t>r2</a:t>
                </a:r>
                <a:r>
                  <a:rPr lang="zh-CN" altLang="en-US" dirty="0"/>
                  <a:t>。</a:t>
                </a:r>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第三步，如果</a:t>
                </a:r>
                <a14:m>
                  <m:oMath xmlns:m="http://schemas.openxmlformats.org/officeDocument/2006/math">
                    <m:r>
                      <a:rPr lang="zh-CN" altLang="en-US" sz="1200" i="1" dirty="0" smtClean="0">
                        <a:latin typeface="Cambria Math" panose="02040503050406030204" pitchFamily="18" charset="0"/>
                      </a:rPr>
                      <m:t>∀</m:t>
                    </m:r>
                    <m:r>
                      <a:rPr lang="en-US" altLang="zh-CN" sz="1200" i="1" dirty="0" smtClean="0">
                        <a:latin typeface="Cambria Math" panose="02040503050406030204" pitchFamily="18" charset="0"/>
                      </a:rPr>
                      <m:t>(</m:t>
                    </m:r>
                    <m:r>
                      <a:rPr lang="en-AU" sz="1200" i="1" dirty="0" smtClean="0">
                        <a:latin typeface="Cambria Math" panose="02040503050406030204" pitchFamily="18" charset="0"/>
                      </a:rPr>
                      <m:t>𝑝</m:t>
                    </m:r>
                    <m:r>
                      <a:rPr lang="en-AU" sz="1200" i="1" dirty="0" smtClean="0">
                        <a:latin typeface="Cambria Math" panose="02040503050406030204" pitchFamily="18" charset="0"/>
                      </a:rPr>
                      <m:t>,</m:t>
                    </m:r>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1</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2</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m:t>
                        </m:r>
                        <m:r>
                          <a:rPr lang="en-AU" altLang="zh-CN" sz="1200" i="1" dirty="0">
                            <a:latin typeface="Cambria Math" panose="02040503050406030204" pitchFamily="18" charset="0"/>
                            <a:ea typeface="Cambria Math" panose="02040503050406030204" pitchFamily="18" charset="0"/>
                          </a:rPr>
                          <m:t>𝑌</m:t>
                        </m:r>
                      </m:e>
                      <m:sub>
                        <m:r>
                          <a:rPr lang="en-AU" altLang="zh-CN" sz="1200" b="0" i="1" dirty="0" smtClean="0">
                            <a:latin typeface="Cambria Math" panose="02040503050406030204" pitchFamily="18" charset="0"/>
                            <a:ea typeface="Cambria Math" panose="02040503050406030204" pitchFamily="18" charset="0"/>
                          </a:rPr>
                          <m:t>𝑛</m:t>
                        </m:r>
                      </m:sub>
                    </m:sSub>
                    <m:r>
                      <a:rPr lang="en-AU" sz="1200" i="1" dirty="0" smtClean="0">
                        <a:latin typeface="Cambria Math" panose="02040503050406030204" pitchFamily="18" charset="0"/>
                      </a:rPr>
                      <m:t>) ∈ </m:t>
                    </m:r>
                    <m:r>
                      <a:rPr lang="el-GR" sz="1200" i="1" dirty="0" smtClean="0">
                        <a:latin typeface="Cambria Math" panose="02040503050406030204" pitchFamily="18" charset="0"/>
                      </a:rPr>
                      <m:t>𝛿</m:t>
                    </m:r>
                    <m:r>
                      <a:rPr lang="el-GR" sz="1200" i="1" dirty="0" smtClean="0">
                        <a:latin typeface="Cambria Math" panose="02040503050406030204" pitchFamily="18" charset="0"/>
                      </a:rPr>
                      <m:t>(</m:t>
                    </m:r>
                    <m:r>
                      <a:rPr lang="en-AU" sz="1200" i="1" dirty="0" smtClean="0">
                        <a:latin typeface="Cambria Math" panose="02040503050406030204" pitchFamily="18" charset="0"/>
                      </a:rPr>
                      <m:t>𝑞</m:t>
                    </m:r>
                    <m:r>
                      <a:rPr lang="en-AU" sz="1200" i="1" dirty="0" smtClean="0">
                        <a:latin typeface="Cambria Math" panose="02040503050406030204" pitchFamily="18" charset="0"/>
                      </a:rPr>
                      <m:t>, </m:t>
                    </m:r>
                    <m:r>
                      <a:rPr lang="en-AU" sz="1200" i="1" dirty="0" smtClean="0">
                        <a:latin typeface="Cambria Math" panose="02040503050406030204" pitchFamily="18" charset="0"/>
                      </a:rPr>
                      <m:t>𝑎</m:t>
                    </m:r>
                    <m:r>
                      <a:rPr lang="en-AU" sz="1200" i="1" dirty="0" smtClean="0">
                        <a:latin typeface="Cambria Math" panose="02040503050406030204" pitchFamily="18" charset="0"/>
                      </a:rPr>
                      <m:t>, </m:t>
                    </m:r>
                    <m:r>
                      <a:rPr lang="en-AU" sz="1200" i="1" dirty="0" smtClean="0">
                        <a:latin typeface="Cambria Math" panose="02040503050406030204" pitchFamily="18" charset="0"/>
                      </a:rPr>
                      <m:t>𝑋</m:t>
                    </m:r>
                    <m:r>
                      <a:rPr lang="en-AU" sz="1200" i="1" dirty="0" smtClean="0">
                        <a:latin typeface="Cambria Math" panose="02040503050406030204" pitchFamily="18" charset="0"/>
                      </a:rPr>
                      <m:t>), </m:t>
                    </m:r>
                  </m:oMath>
                </a14:m>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则</a:t>
                </a:r>
                <a:r>
                  <a:rPr lang="en-US" sz="1200" dirty="0"/>
                  <a:t>Stack top symbol X is popped and replaced with a sequence of k variables. </a:t>
                </a:r>
              </a:p>
              <a:p>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r="-822" b="-48571"/>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83</a:t>
            </a:fld>
            <a:endParaRPr lang="en-AU"/>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学习可以识别上下文无关语言的一种机器装置，下推自动机。</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下推自动机与上下文无关文法的等价性</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92</a:t>
            </a:fld>
            <a:endParaRPr lang="en-AU"/>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我们前面的</a:t>
                </a:r>
                <a:r>
                  <a:rPr lang="en-US" altLang="zh-CN" dirty="0"/>
                  <a:t>PDA</a:t>
                </a:r>
                <a:r>
                  <a:rPr lang="zh-CN" altLang="en-US" dirty="0"/>
                  <a:t>的定义中，它是具有非确定性的能力，也具有空转移的能力。我们如果将非确定的能力去掉，保留空转移的能力，得到的</a:t>
                </a:r>
                <a:r>
                  <a:rPr lang="en-US" altLang="zh-CN" dirty="0"/>
                  <a:t>PDA</a:t>
                </a:r>
                <a:r>
                  <a:rPr lang="zh-CN" altLang="en-US" dirty="0"/>
                  <a:t>称为确定性的下推自动机</a:t>
                </a:r>
                <a:r>
                  <a:rPr lang="en-AU" altLang="zh-CN" dirty="0"/>
                  <a:t>DPDA</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i="1" dirty="0" smtClean="0">
                        <a:latin typeface="Cambria Math" panose="02040503050406030204" pitchFamily="18" charset="0"/>
                      </a:rPr>
                      <m:t>∀</m:t>
                    </m:r>
                    <m:r>
                      <a:rPr lang="en-AU" i="1" dirty="0" smtClean="0">
                        <a:latin typeface="Cambria Math" panose="02040503050406030204" pitchFamily="18" charset="0"/>
                      </a:rPr>
                      <m:t>𝑎</m:t>
                    </m:r>
                    <m:r>
                      <a:rPr lang="en-AU" i="1" dirty="0" smtClean="0">
                        <a:latin typeface="Cambria Math" panose="02040503050406030204" pitchFamily="18" charset="0"/>
                      </a:rPr>
                      <m:t> ∈ </m:t>
                    </m:r>
                    <m:r>
                      <m:rPr>
                        <m:sty m:val="p"/>
                      </m:rPr>
                      <a:rPr lang="el-GR" i="0" dirty="0" smtClean="0">
                        <a:latin typeface="Cambria Math" panose="02040503050406030204" pitchFamily="18" charset="0"/>
                      </a:rPr>
                      <m:t>Σ</m:t>
                    </m:r>
                  </m:oMath>
                </a14:m>
                <a:r>
                  <a:rPr lang="el-GR" dirty="0"/>
                  <a:t>, </a:t>
                </a:r>
                <a:r>
                  <a:rPr lang="zh-CN" altLang="en-US" dirty="0"/>
                  <a:t>如果 </a:t>
                </a:r>
                <a14:m>
                  <m:oMath xmlns:m="http://schemas.openxmlformats.org/officeDocument/2006/math">
                    <m:r>
                      <a:rPr lang="el-GR" i="1" dirty="0" smtClean="0">
                        <a:latin typeface="Cambria Math" panose="02040503050406030204" pitchFamily="18" charset="0"/>
                      </a:rPr>
                      <m:t>𝛿</m:t>
                    </m:r>
                    <m:r>
                      <a:rPr lang="el-GR" i="1" dirty="0" smtClean="0">
                        <a:latin typeface="Cambria Math" panose="02040503050406030204" pitchFamily="18" charset="0"/>
                      </a:rPr>
                      <m:t>(</m:t>
                    </m:r>
                    <m:r>
                      <a:rPr lang="en-AU" i="1" dirty="0" smtClean="0">
                        <a:latin typeface="Cambria Math" panose="02040503050406030204" pitchFamily="18" charset="0"/>
                      </a:rPr>
                      <m:t>𝑞</m:t>
                    </m:r>
                    <m:r>
                      <a:rPr lang="en-AU" i="1" dirty="0" smtClean="0">
                        <a:latin typeface="Cambria Math" panose="02040503050406030204" pitchFamily="18" charset="0"/>
                      </a:rPr>
                      <m:t>, </m:t>
                    </m:r>
                    <m:r>
                      <a:rPr lang="en-AU" i="1" dirty="0" smtClean="0">
                        <a:latin typeface="Cambria Math" panose="02040503050406030204" pitchFamily="18" charset="0"/>
                      </a:rPr>
                      <m:t>𝑎</m:t>
                    </m:r>
                    <m:r>
                      <a:rPr lang="en-AU" i="1" dirty="0" smtClean="0">
                        <a:latin typeface="Cambria Math" panose="02040503050406030204" pitchFamily="18" charset="0"/>
                      </a:rPr>
                      <m:t>, </m:t>
                    </m:r>
                    <m:r>
                      <a:rPr lang="en-AU" i="1" dirty="0" smtClean="0">
                        <a:latin typeface="Cambria Math" panose="02040503050406030204" pitchFamily="18" charset="0"/>
                      </a:rPr>
                      <m:t>𝑋</m:t>
                    </m:r>
                    <m:r>
                      <a:rPr lang="en-AU" i="1" dirty="0" smtClean="0">
                        <a:latin typeface="Cambria Math" panose="02040503050406030204" pitchFamily="18" charset="0"/>
                      </a:rPr>
                      <m:t>)  ≠ ∅</m:t>
                    </m:r>
                  </m:oMath>
                </a14:m>
                <a:r>
                  <a:rPr lang="en-AU" dirty="0"/>
                  <a:t>, </a:t>
                </a:r>
                <a:r>
                  <a:rPr lang="zh-CN" altLang="en-US" dirty="0"/>
                  <a:t>那么 </a:t>
                </a:r>
                <a14:m>
                  <m:oMath xmlns:m="http://schemas.openxmlformats.org/officeDocument/2006/math">
                    <m:r>
                      <a:rPr lang="el-GR" i="1" dirty="0" smtClean="0">
                        <a:latin typeface="Cambria Math" panose="02040503050406030204" pitchFamily="18" charset="0"/>
                      </a:rPr>
                      <m:t>𝛿</m:t>
                    </m:r>
                    <m:r>
                      <a:rPr lang="el-GR" i="1" dirty="0" smtClean="0">
                        <a:latin typeface="Cambria Math" panose="02040503050406030204" pitchFamily="18" charset="0"/>
                      </a:rPr>
                      <m:t>(</m:t>
                    </m:r>
                    <m:r>
                      <a:rPr lang="en-AU" i="1" dirty="0" smtClean="0">
                        <a:latin typeface="Cambria Math" panose="02040503050406030204" pitchFamily="18" charset="0"/>
                      </a:rPr>
                      <m:t>𝑞</m:t>
                    </m:r>
                    <m:r>
                      <a:rPr lang="en-AU" i="1" dirty="0" smtClean="0">
                        <a:latin typeface="Cambria Math" panose="02040503050406030204" pitchFamily="18" charset="0"/>
                      </a:rPr>
                      <m:t>, </m:t>
                    </m:r>
                    <m:r>
                      <a:rPr lang="el-GR" i="1" dirty="0" smtClean="0">
                        <a:latin typeface="Cambria Math" panose="02040503050406030204" pitchFamily="18" charset="0"/>
                      </a:rPr>
                      <m:t>𝜀</m:t>
                    </m:r>
                    <m:r>
                      <a:rPr lang="el-GR" i="1" dirty="0" smtClean="0">
                        <a:latin typeface="Cambria Math" panose="02040503050406030204" pitchFamily="18" charset="0"/>
                      </a:rPr>
                      <m:t>, </m:t>
                    </m:r>
                    <m:r>
                      <a:rPr lang="en-AU" i="1" dirty="0" smtClean="0">
                        <a:latin typeface="Cambria Math" panose="02040503050406030204" pitchFamily="18" charset="0"/>
                      </a:rPr>
                      <m:t>𝑋</m:t>
                    </m:r>
                    <m:r>
                      <a:rPr lang="en-AU" i="1" dirty="0" smtClean="0">
                        <a:latin typeface="Cambria Math" panose="02040503050406030204" pitchFamily="18" charset="0"/>
                      </a:rPr>
                      <m:t>) = ∅</m:t>
                    </m:r>
                    <m:r>
                      <a:rPr lang="zh-CN" altLang="en-US" i="1" dirty="0">
                        <a:latin typeface="Cambria Math" panose="02040503050406030204" pitchFamily="18" charset="0"/>
                      </a:rPr>
                      <m:t>。</m:t>
                    </m:r>
                  </m:oMath>
                </a14:m>
                <a:r>
                  <a:rPr lang="zh-CN" altLang="en-US" dirty="0"/>
                  <a:t>也就是说如果每一个字符</a:t>
                </a:r>
                <a:r>
                  <a:rPr lang="en-AU" altLang="zh-CN" dirty="0"/>
                  <a:t>a</a:t>
                </a:r>
                <a:r>
                  <a:rPr lang="zh-CN" altLang="en-US" dirty="0"/>
                  <a:t>有状态转移的定义，那么栈顶为</a:t>
                </a:r>
                <a:r>
                  <a:rPr lang="en-US" altLang="zh-CN" dirty="0"/>
                  <a:t>X</a:t>
                </a:r>
                <a:r>
                  <a:rPr lang="zh-CN" altLang="en-US" dirty="0"/>
                  <a:t>的时候，空串就不可以有定义。</a:t>
                </a:r>
                <a:endParaRPr lang="en-AU" dirty="0"/>
              </a:p>
              <a:p>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93</a:t>
            </a:fld>
            <a:endParaRPr lang="en-AU"/>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对于任何的</a:t>
                </a:r>
                <a:r>
                  <a:rPr lang="en-AU" altLang="zh-CN" dirty="0">
                    <a:latin typeface="Times New Roman" panose="02020603050405020304" pitchFamily="18" charset="0"/>
                    <a:cs typeface="Times New Roman" panose="02020603050405020304" pitchFamily="18" charset="0"/>
                  </a:rPr>
                  <a:t>DPDA</a:t>
                </a:r>
                <a:r>
                  <a:rPr lang="zh-CN" altLang="en-US" dirty="0">
                    <a:latin typeface="Times New Roman" panose="02020603050405020304" pitchFamily="18" charset="0"/>
                    <a:cs typeface="Times New Roman" panose="02020603050405020304" pitchFamily="18" charset="0"/>
                  </a:rPr>
                  <a:t>，</a:t>
                </a:r>
                <a:r>
                  <a:rPr lang="en-AU" altLang="zh-CN" dirty="0">
                    <a:latin typeface="Times New Roman" panose="02020603050405020304" pitchFamily="18" charset="0"/>
                    <a:cs typeface="Times New Roman" panose="02020603050405020304" pitchFamily="18" charset="0"/>
                  </a:rPr>
                  <a:t> </a:t>
                </a:r>
                <a:r>
                  <a:rPr lang="zh-CN" altLang="en-US" dirty="0"/>
                  <a:t>都无法接受</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𝐿</m:t>
                        </m:r>
                      </m:e>
                      <m:sub>
                        <m:r>
                          <a:rPr lang="en-AU" altLang="zh-CN" b="0" i="1" dirty="0" smtClean="0">
                            <a:latin typeface="Cambria Math" panose="02040503050406030204" pitchFamily="18" charset="0"/>
                          </a:rPr>
                          <m:t>𝑤𝑤𝑟</m:t>
                        </m:r>
                      </m:sub>
                    </m:sSub>
                  </m:oMath>
                </a14:m>
                <a:r>
                  <a:rPr lang="zh-CN" altLang="en-US" dirty="0"/>
                  <a:t>，这样的语言需要使用具有非确定能力，在</a:t>
                </a:r>
                <a:r>
                  <a:rPr lang="en-AU" altLang="zh-CN" dirty="0"/>
                  <a:t>w</a:t>
                </a:r>
                <a:r>
                  <a:rPr lang="zh-CN" altLang="en-US" dirty="0"/>
                  <a:t>和</a:t>
                </a:r>
                <a:r>
                  <a:rPr lang="en-AU" altLang="zh-CN" dirty="0" err="1"/>
                  <a:t>wR</a:t>
                </a:r>
                <a:r>
                  <a:rPr lang="zh-CN" altLang="en-US" dirty="0"/>
                  <a:t>中间进行跳转，利用非确定性去识别。但是</a:t>
                </a:r>
                <a:r>
                  <a:rPr lang="en-AU" altLang="zh-CN" dirty="0"/>
                  <a:t>DPDA</a:t>
                </a:r>
                <a:r>
                  <a:rPr lang="zh-CN" altLang="en-US" dirty="0"/>
                  <a:t>可以识别</a:t>
                </a:r>
                <a:r>
                  <a:rPr lang="en-AU" altLang="zh-CN" dirty="0" err="1"/>
                  <a:t>wcwr</a:t>
                </a:r>
                <a:r>
                  <a:rPr lang="en-AU" altLang="zh-CN" dirty="0"/>
                  <a:t>,</a:t>
                </a:r>
                <a:r>
                  <a:rPr lang="zh-CN" altLang="en-US" dirty="0"/>
                  <a:t>也就是</a:t>
                </a:r>
                <a:r>
                  <a:rPr lang="en-AU" altLang="zh-CN" dirty="0"/>
                  <a:t>w</a:t>
                </a:r>
                <a:r>
                  <a:rPr lang="zh-CN" altLang="en-US" dirty="0"/>
                  <a:t>和</a:t>
                </a:r>
                <a:r>
                  <a:rPr lang="en-AU" altLang="zh-CN" dirty="0" err="1"/>
                  <a:t>wr</a:t>
                </a:r>
                <a:r>
                  <a:rPr lang="zh-CN" altLang="en-US" dirty="0"/>
                  <a:t>中间有一个特定的字符用来表示中间的分界是什么。那么，可以用栈将</a:t>
                </a:r>
                <a:r>
                  <a:rPr lang="en-AU" altLang="zh-CN" dirty="0"/>
                  <a:t>w</a:t>
                </a:r>
                <a:r>
                  <a:rPr lang="zh-CN" altLang="en-US" dirty="0"/>
                  <a:t>压栈，用</a:t>
                </a:r>
                <a:r>
                  <a:rPr lang="en-US" altLang="zh-CN" dirty="0"/>
                  <a:t>c</a:t>
                </a:r>
                <a:r>
                  <a:rPr lang="zh-CN" altLang="en-US" dirty="0"/>
                  <a:t>进行跳转，由压栈状态变为弹栈状态去和后面的</a:t>
                </a:r>
                <a:r>
                  <a:rPr lang="en-AU" altLang="zh-CN" dirty="0" err="1"/>
                  <a:t>wr</a:t>
                </a:r>
                <a:r>
                  <a:rPr lang="zh-CN" altLang="en-US" dirty="0"/>
                  <a:t>进行匹配。因此，</a:t>
                </a:r>
                <a:r>
                  <a:rPr lang="en-US" altLang="zh-CN" dirty="0"/>
                  <a:t>DPDA</a:t>
                </a:r>
                <a:r>
                  <a:rPr lang="zh-CN" altLang="en-US" dirty="0"/>
                  <a:t>和</a:t>
                </a:r>
                <a:r>
                  <a:rPr lang="en-US" altLang="zh-CN" dirty="0"/>
                  <a:t>PDA</a:t>
                </a:r>
                <a:r>
                  <a:rPr lang="zh-CN" altLang="en-US" dirty="0"/>
                  <a:t>不是等价的。</a:t>
                </a:r>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94</a:t>
            </a:fld>
            <a:endParaRPr lang="en-AU"/>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zh-CN" altLang="en-US" dirty="0"/>
              <a:t>非固有歧义语言的真子集，而这个真子集几乎包含了所有的程序设计语言。设计程序语言的编译器的时候，它的语法分析器部分往往就是一个</a:t>
            </a:r>
            <a:r>
              <a:rPr lang="en-AU" altLang="zh-CN" dirty="0"/>
              <a:t>DPDA</a:t>
            </a:r>
            <a:r>
              <a:rPr lang="zh-CN" altLang="en-US" dirty="0"/>
              <a:t>。那么，非常著名的解析时间度为</a:t>
            </a:r>
            <a:r>
              <a:rPr lang="en-AU" altLang="zh-CN" dirty="0"/>
              <a:t>O(n)</a:t>
            </a:r>
            <a:r>
              <a:rPr lang="zh-CN" altLang="en-US" dirty="0"/>
              <a:t>的</a:t>
            </a:r>
            <a:r>
              <a:rPr lang="en-AU" altLang="zh-CN" dirty="0"/>
              <a:t>LR(k)</a:t>
            </a:r>
            <a:r>
              <a:rPr lang="zh-CN" altLang="en-US" dirty="0"/>
              <a:t>文法，它的实现也是基于</a:t>
            </a:r>
            <a:r>
              <a:rPr lang="en-US" altLang="zh-CN" dirty="0"/>
              <a:t>DPDA</a:t>
            </a:r>
            <a:r>
              <a:rPr lang="zh-CN" altLang="en-US" dirty="0"/>
              <a:t>。</a:t>
            </a:r>
            <a:r>
              <a:rPr lang="en-US" altLang="zh-CN" dirty="0"/>
              <a:t>LR(k)</a:t>
            </a:r>
            <a:r>
              <a:rPr lang="zh-CN" altLang="en-US" dirty="0"/>
              <a:t>的</a:t>
            </a:r>
            <a:r>
              <a:rPr lang="en-US" altLang="zh-CN" dirty="0"/>
              <a:t>DPDA</a:t>
            </a:r>
            <a:r>
              <a:rPr lang="zh-CN" altLang="en-US" dirty="0"/>
              <a:t>也是语法分析器</a:t>
            </a:r>
            <a:r>
              <a:rPr lang="en-AU" altLang="zh-CN" dirty="0" err="1"/>
              <a:t>Yacc</a:t>
            </a:r>
            <a:r>
              <a:rPr lang="en-AU" altLang="zh-CN" dirty="0"/>
              <a:t>(yak)</a:t>
            </a:r>
            <a:r>
              <a:rPr lang="zh-CN" altLang="en-US" dirty="0"/>
              <a:t>的基础。</a:t>
            </a:r>
          </a:p>
        </p:txBody>
      </p:sp>
      <p:sp>
        <p:nvSpPr>
          <p:cNvPr id="4" name="Slide Number Placeholder 3"/>
          <p:cNvSpPr>
            <a:spLocks noGrp="1"/>
          </p:cNvSpPr>
          <p:nvPr>
            <p:ph type="sldNum" sz="quarter" idx="5"/>
          </p:nvPr>
        </p:nvSpPr>
        <p:spPr/>
        <p:txBody>
          <a:bodyPr/>
          <a:lstStyle/>
          <a:p>
            <a:fld id="{FA67A903-3A42-486D-A3BC-854A05CABB63}" type="slidenum">
              <a:rPr lang="en-AU" smtClean="0"/>
              <a:t>95</a:t>
            </a:fld>
            <a:endParaRPr lang="en-AU"/>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DPDA</a:t>
            </a:r>
            <a:r>
              <a:rPr lang="zh-CN" altLang="en-US" dirty="0"/>
              <a:t>接受的语言虽然比</a:t>
            </a:r>
            <a:r>
              <a:rPr lang="en-US" altLang="zh-CN" dirty="0"/>
              <a:t>PDA</a:t>
            </a:r>
            <a:r>
              <a:rPr lang="zh-CN" altLang="en-US" dirty="0"/>
              <a:t>少，但是它真包含正则语言。</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96</a:t>
            </a:fld>
            <a:endParaRPr lang="en-AU"/>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DP</a:t>
            </a:r>
            <a:r>
              <a:rPr lang="en-US" altLang="zh-CN" dirty="0"/>
              <a:t>D</a:t>
            </a:r>
            <a:r>
              <a:rPr lang="en-AU" dirty="0"/>
              <a:t>A</a:t>
            </a:r>
            <a:r>
              <a:rPr lang="zh-CN" altLang="en-US" dirty="0"/>
              <a:t>以空栈方式接受的语言，当且仅当</a:t>
            </a:r>
            <a:r>
              <a:rPr lang="en-AU" altLang="zh-CN" dirty="0"/>
              <a:t>L</a:t>
            </a:r>
            <a:r>
              <a:rPr lang="zh-CN" altLang="en-US" dirty="0"/>
              <a:t>满足前缀性质，存在</a:t>
            </a:r>
            <a:r>
              <a:rPr lang="en-US" altLang="zh-CN" dirty="0"/>
              <a:t>DPDA</a:t>
            </a:r>
            <a:r>
              <a:rPr lang="zh-CN" altLang="en-US" dirty="0"/>
              <a:t>以终态方式去接受。这个定理的证明，留给大家作为阅读的内容。</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97</a:t>
            </a:fld>
            <a:endParaRPr lang="en-AU"/>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虽然</a:t>
            </a:r>
            <a:r>
              <a:rPr lang="en-AU" altLang="zh-CN" dirty="0"/>
              <a:t>DPDA</a:t>
            </a:r>
            <a:r>
              <a:rPr lang="zh-CN" altLang="en-US" dirty="0"/>
              <a:t>接受的语言与上下文无关语言不等价，但是</a:t>
            </a:r>
            <a:r>
              <a:rPr lang="en-AU" altLang="zh-CN" dirty="0"/>
              <a:t>DPDA</a:t>
            </a:r>
            <a:r>
              <a:rPr lang="zh-CN" altLang="en-US" dirty="0"/>
              <a:t>无论以终态方式，还是空栈方式，所接受的语言，都是无歧义的上下文无关语言。</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98</a:t>
            </a:fld>
            <a:endParaRPr lang="en-AU"/>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那么在这一章的最后，我们简单回顾下我们学过的语言类。我们给出正则语言的定义，通过有穷自动机和正则表达式来表示，能够识别</a:t>
            </a:r>
            <a:r>
              <a:rPr lang="en-AU" altLang="zh-CN" dirty="0"/>
              <a:t>a*b*</a:t>
            </a:r>
            <a:r>
              <a:rPr lang="zh-CN" altLang="en-US" dirty="0"/>
              <a:t>这样语言。但是它们所表示的语言的能力是有限的，无法表示比如</a:t>
            </a:r>
            <a:r>
              <a:rPr lang="en-AU" altLang="zh-CN" dirty="0" err="1"/>
              <a:t>wcwr</a:t>
            </a:r>
            <a:r>
              <a:rPr lang="zh-CN" altLang="en-US" dirty="0"/>
              <a:t>这样的语言。但是我们可以通过</a:t>
            </a:r>
            <a:r>
              <a:rPr lang="en-AU" altLang="zh-CN" dirty="0"/>
              <a:t>DPDA</a:t>
            </a:r>
            <a:r>
              <a:rPr lang="zh-CN" altLang="en-US" dirty="0"/>
              <a:t>去识别。</a:t>
            </a:r>
            <a:r>
              <a:rPr lang="en-AU" altLang="zh-CN" dirty="0"/>
              <a:t>DPDA</a:t>
            </a:r>
            <a:r>
              <a:rPr lang="zh-CN" altLang="en-US" dirty="0"/>
              <a:t>以终态方式识别的语言是确定的上下文无关语言，但是它无法表示</a:t>
            </a:r>
            <a:r>
              <a:rPr lang="en-AU" altLang="zh-CN" dirty="0" err="1"/>
              <a:t>wwr</a:t>
            </a:r>
            <a:r>
              <a:rPr lang="zh-CN" altLang="en-US" dirty="0"/>
              <a:t>这样的语言。那么这样的上下文无关语言，我们可以通过文法和</a:t>
            </a:r>
            <a:r>
              <a:rPr lang="en-AU" altLang="zh-CN" dirty="0"/>
              <a:t>PDA</a:t>
            </a:r>
            <a:r>
              <a:rPr lang="zh-CN" altLang="en-US" dirty="0"/>
              <a:t>去表示。但是文法和</a:t>
            </a:r>
            <a:r>
              <a:rPr lang="en-AU" altLang="zh-CN" dirty="0"/>
              <a:t>PDA</a:t>
            </a:r>
            <a:r>
              <a:rPr lang="zh-CN" altLang="en-US" dirty="0"/>
              <a:t>表示语言的能力也是有限的，无法表示</a:t>
            </a:r>
            <a:r>
              <a:rPr lang="en-AU" altLang="zh-CN" dirty="0" err="1"/>
              <a:t>a^nb^nc^n</a:t>
            </a:r>
            <a:r>
              <a:rPr lang="zh-CN" altLang="en-US" dirty="0"/>
              <a:t>这样的语言。下一章，我们会学习上下文无关语言的性质，那么会给出为什么像</a:t>
            </a:r>
            <a:r>
              <a:rPr lang="en-AU" altLang="zh-CN" dirty="0" err="1"/>
              <a:t>a^nb^nc^n</a:t>
            </a:r>
            <a:r>
              <a:rPr lang="zh-CN" altLang="en-US" dirty="0"/>
              <a:t>这样的语言不是上下文无关语言的原因。</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99</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fld id="{FEF7AF06-D15C-44CE-AFF9-B535D7A7E491}" type="datetime1">
              <a:rPr lang="en-AU" smtClean="0"/>
              <a:t>10/04/2026</a:t>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685800" y="152400"/>
            <a:ext cx="8229600" cy="393065"/>
          </a:xfrm>
        </p:spPr>
        <p:txBody>
          <a:bodyPr/>
          <a:lstStyle>
            <a:lvl1pPr algn="r">
              <a:defRPr sz="3600" b="1">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EE97ABBC-CB91-4AB7-BC4F-CDF5D93DCE92}" type="datetime1">
              <a:rPr lang="en-AU" smtClean="0"/>
              <a:t>10/04/2026</a:t>
            </a:fld>
            <a:endParaRPr lang="en-AU"/>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t>‹#›</a:t>
            </a:fld>
            <a:endParaRPr lang="en-AU"/>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fld id="{3A735BA6-A5FF-4E65-AE0C-1E50375BDD5F}" type="datetime1">
              <a:rPr lang="en-AU" smtClean="0"/>
              <a:t>10/04/2026</a:t>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fld id="{ABB773E6-6A1F-436B-8144-FF3C9086A383}" type="datetime1">
              <a:rPr lang="en-AU" smtClean="0"/>
              <a:t>10/04/2026</a:t>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fld id="{4576D12A-ADDB-44AF-8AC5-359048C64A2A}" type="datetime1">
              <a:rPr lang="en-AU" smtClean="0"/>
              <a:t>10/04/2026</a:t>
            </a:fld>
            <a:endParaRPr lang="en-AU"/>
          </a:p>
        </p:txBody>
      </p:sp>
      <p:sp>
        <p:nvSpPr>
          <p:cNvPr id="8" name="页脚占位符 7"/>
          <p:cNvSpPr>
            <a:spLocks noGrp="1"/>
          </p:cNvSpPr>
          <p:nvPr>
            <p:ph type="ftr" sz="quarter" idx="11"/>
          </p:nvPr>
        </p:nvSpPr>
        <p:spPr/>
        <p:txBody>
          <a:bodyPr/>
          <a:lstStyle/>
          <a:p>
            <a:endParaRPr lang="en-AU"/>
          </a:p>
        </p:txBody>
      </p:sp>
      <p:sp>
        <p:nvSpPr>
          <p:cNvPr id="9" name="灯片编号占位符 8"/>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defRPr>
            </a:lvl1pPr>
          </a:lstStyle>
          <a:p>
            <a:pPr fontAlgn="auto"/>
            <a:r>
              <a:rPr lang="zh-CN" altLang="en-US" strike="noStrike" noProof="1"/>
              <a:t>单击此处编辑母版标题样式</a:t>
            </a:r>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FF58F817-8D47-42DC-82E6-EB0318065E82}" type="datetime1">
              <a:rPr lang="en-AU" smtClean="0"/>
              <a:t>10/04/2026</a:t>
            </a:fld>
            <a:endParaRPr lang="en-AU"/>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t>‹#›</a:t>
            </a:fld>
            <a:endParaRPr lang="en-AU"/>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B2EB3307-46BC-4AF0-ADCD-404101DA4E80}" type="datetime1">
              <a:rPr lang="en-AU" smtClean="0"/>
              <a:t>10/04/2026</a:t>
            </a:fld>
            <a:endParaRPr lang="en-AU"/>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t>‹#›</a:t>
            </a:fld>
            <a:endParaRPr lang="en-AU"/>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fld id="{B54B3FB5-824B-41CC-AA79-434048191D89}" type="datetime1">
              <a:rPr lang="en-AU" smtClean="0"/>
              <a:t>10/04/2026</a:t>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fld id="{0CA2684C-D6AE-4A0B-8975-33836B18EDD0}" type="datetime1">
              <a:rPr lang="en-AU" smtClean="0"/>
              <a:t>10/04/2026</a:t>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fld id="{81813374-06A7-4F9E-92B1-10D8A7479A01}" type="datetime1">
              <a:rPr lang="en-AU" smtClean="0"/>
              <a:t>10/04/2026</a:t>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fld id="{B3180633-F82C-45F8-9561-D151F4CE1AED}" type="datetime1">
              <a:rPr lang="en-AU" smtClean="0"/>
              <a:t>10/04/2026</a:t>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t>‹#›</a:t>
            </a:fld>
            <a:endParaRPr lang="en-AU"/>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lvl1pPr>
              <a:defRPr b="1">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E03C2985-DA0A-423A-A02E-2E38F06C445F}"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8" name="页脚占位符 7"/>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9" name="灯片编号占位符 8"/>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702554A5-A581-4AB9-AEA0-FA3C5F0DF619}"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9891A0AF-8D07-42A7-B1EB-C2BD93C0D5E5}"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8E1B8E-D3EF-4A64-A14B-C8223E125E11}" type="datetime1">
              <a:rPr lang="en-AU" smtClean="0"/>
              <a:t>10/04/2026</a:t>
            </a:fld>
            <a:endParaRPr lang="en-AU"/>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62E1F6-9BD6-474C-A82E-E07C3DB67AAE}"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dirty="0"/>
              <a:t>单击此处编辑母版标题样式</a:t>
            </a:r>
          </a:p>
        </p:txBody>
      </p:sp>
      <p:sp>
        <p:nvSpPr>
          <p:cNvPr id="2051"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2026/4/10</a:t>
            </a:fld>
            <a:endParaRPr lang="en-US" altLang="zh-CN" strike="noStrike" noProof="1">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image" Target="../media/image31.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30.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210.xml"/><Relationship Id="rId5" Type="http://schemas.openxmlformats.org/officeDocument/2006/relationships/tags" Target="../tags/tag6.xml"/><Relationship Id="rId10" Type="http://schemas.openxmlformats.org/officeDocument/2006/relationships/slideLayout" Target="../slideLayouts/slideLayout7.xml"/><Relationship Id="rId4" Type="http://schemas.openxmlformats.org/officeDocument/2006/relationships/tags" Target="../tags/tag5.xml"/><Relationship Id="rId9" Type="http://schemas.openxmlformats.org/officeDocument/2006/relationships/tags" Target="../tags/tag10.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image" Target="../media/image45.png"/><Relationship Id="rId3" Type="http://schemas.openxmlformats.org/officeDocument/2006/relationships/tags" Target="../tags/tag13.xml"/><Relationship Id="rId21" Type="http://schemas.openxmlformats.org/officeDocument/2006/relationships/tags" Target="../tags/tag160.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120.xml"/><Relationship Id="rId2" Type="http://schemas.openxmlformats.org/officeDocument/2006/relationships/tags" Target="../tags/tag12.xml"/><Relationship Id="rId16" Type="http://schemas.openxmlformats.org/officeDocument/2006/relationships/slideLayout" Target="../slideLayouts/slideLayout7.xml"/><Relationship Id="rId20" Type="http://schemas.openxmlformats.org/officeDocument/2006/relationships/image" Target="../media/image46.pn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24" Type="http://schemas.openxmlformats.org/officeDocument/2006/relationships/image" Target="../media/image31.png"/><Relationship Id="rId5" Type="http://schemas.openxmlformats.org/officeDocument/2006/relationships/tags" Target="../tags/tag15.xml"/><Relationship Id="rId15" Type="http://schemas.openxmlformats.org/officeDocument/2006/relationships/tags" Target="../tags/tag25.xml"/><Relationship Id="rId23" Type="http://schemas.openxmlformats.org/officeDocument/2006/relationships/image" Target="../media/image29.png"/><Relationship Id="rId10" Type="http://schemas.openxmlformats.org/officeDocument/2006/relationships/tags" Target="../tags/tag20.xml"/><Relationship Id="rId19" Type="http://schemas.openxmlformats.org/officeDocument/2006/relationships/tags" Target="../tags/tag14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image" Target="../media/image49.png"/><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00.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slideLayout" Target="../slideLayouts/slideLayout7.xml"/><Relationship Id="rId5" Type="http://schemas.openxmlformats.org/officeDocument/2006/relationships/tags" Target="../tags/tag30.xml"/><Relationship Id="rId15" Type="http://schemas.openxmlformats.org/officeDocument/2006/relationships/image" Target="../media/image31.png"/><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media/image31.png"/><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72.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10.xml"/><Relationship Id="rId5" Type="http://schemas.openxmlformats.org/officeDocument/2006/relationships/tags" Target="../tags/tag40.xml"/><Relationship Id="rId10" Type="http://schemas.openxmlformats.org/officeDocument/2006/relationships/slideLayout" Target="../slideLayouts/slideLayout7.xml"/><Relationship Id="rId4" Type="http://schemas.openxmlformats.org/officeDocument/2006/relationships/tags" Target="../tags/tag39.xml"/><Relationship Id="rId9" Type="http://schemas.openxmlformats.org/officeDocument/2006/relationships/tags" Target="../tags/tag44.xml"/></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5.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6.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image" Target="../media/image31.png"/><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image" Target="../media/image78.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10.xml"/><Relationship Id="rId5" Type="http://schemas.openxmlformats.org/officeDocument/2006/relationships/tags" Target="../tags/tag49.xml"/><Relationship Id="rId10" Type="http://schemas.openxmlformats.org/officeDocument/2006/relationships/slideLayout" Target="../slideLayouts/slideLayout7.xml"/><Relationship Id="rId4" Type="http://schemas.openxmlformats.org/officeDocument/2006/relationships/tags" Target="../tags/tag48.xml"/><Relationship Id="rId9" Type="http://schemas.openxmlformats.org/officeDocument/2006/relationships/tags" Target="../tags/tag53.xml"/></Relationships>
</file>

<file path=ppt/slides/_rels/slide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image" Target="../media/image80.png"/><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85.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10.xml"/><Relationship Id="rId5" Type="http://schemas.openxmlformats.org/officeDocument/2006/relationships/tags" Target="../tags/tag58.xml"/><Relationship Id="rId15" Type="http://schemas.openxmlformats.org/officeDocument/2006/relationships/image" Target="../media/image31.png"/><Relationship Id="rId10" Type="http://schemas.openxmlformats.org/officeDocument/2006/relationships/slideLayout" Target="../slideLayouts/slideLayout7.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image" Target="../media/image8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66.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image" Target="../media/image90.png"/><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10.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slideLayout" Target="../slideLayouts/slideLayout7.xml"/><Relationship Id="rId5" Type="http://schemas.openxmlformats.org/officeDocument/2006/relationships/tags" Target="../tags/tag67.xml"/><Relationship Id="rId15" Type="http://schemas.openxmlformats.org/officeDocument/2006/relationships/image" Target="../media/image31.png"/><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image" Target="../media/image91.png"/></Relationships>
</file>

<file path=ppt/slides/_rels/slide6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1.png"/><Relationship Id="rId4" Type="http://schemas.openxmlformats.org/officeDocument/2006/relationships/image" Target="../media/image94.png"/></Relationships>
</file>

<file path=ppt/slides/_rels/slide69.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18" Type="http://schemas.openxmlformats.org/officeDocument/2006/relationships/image" Target="../media/image111.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image" Target="../media/image110.png"/><Relationship Id="rId2" Type="http://schemas.openxmlformats.org/officeDocument/2006/relationships/notesSlide" Target="../notesSlides/notesSlide43.xml"/><Relationship Id="rId16" Type="http://schemas.openxmlformats.org/officeDocument/2006/relationships/image" Target="../media/image109.png"/><Relationship Id="rId20"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19" Type="http://schemas.openxmlformats.org/officeDocument/2006/relationships/image" Target="../media/image112.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7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7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73.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5.png"/><Relationship Id="rId7" Type="http://schemas.openxmlformats.org/officeDocument/2006/relationships/image" Target="../media/image127.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26.png"/><Relationship Id="rId9" Type="http://schemas.openxmlformats.org/officeDocument/2006/relationships/image" Target="../media/image129.png"/></Relationships>
</file>

<file path=ppt/slides/_rels/slide7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image" Target="../media/image31.png"/><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134.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2.xml"/><Relationship Id="rId5" Type="http://schemas.openxmlformats.org/officeDocument/2006/relationships/tags" Target="../tags/tag77.xml"/><Relationship Id="rId10" Type="http://schemas.openxmlformats.org/officeDocument/2006/relationships/slideLayout" Target="../slideLayouts/slideLayout7.xml"/><Relationship Id="rId4" Type="http://schemas.openxmlformats.org/officeDocument/2006/relationships/tags" Target="../tags/tag76.xml"/><Relationship Id="rId9" Type="http://schemas.openxmlformats.org/officeDocument/2006/relationships/tags" Target="../tags/tag81.xml"/></Relationships>
</file>

<file path=ppt/slides/_rels/slide7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5.png"/><Relationship Id="rId1" Type="http://schemas.openxmlformats.org/officeDocument/2006/relationships/slideLayout" Target="../slideLayouts/slideLayout2.xml"/><Relationship Id="rId4" Type="http://schemas.openxmlformats.org/officeDocument/2006/relationships/image" Target="../media/image136.png"/></Relationships>
</file>

<file path=ppt/slides/_rels/slide8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8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8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4.png"/><Relationship Id="rId1" Type="http://schemas.openxmlformats.org/officeDocument/2006/relationships/slideLayout" Target="../slideLayouts/slideLayout2.xml"/><Relationship Id="rId5" Type="http://schemas.openxmlformats.org/officeDocument/2006/relationships/image" Target="../media/image149.png"/><Relationship Id="rId4" Type="http://schemas.openxmlformats.org/officeDocument/2006/relationships/image" Target="../media/image148.png"/></Relationships>
</file>

<file path=ppt/slides/_rels/slide8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51.png"/></Relationships>
</file>

<file path=ppt/slides/_rels/slide8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53.png"/></Relationships>
</file>

<file path=ppt/slides/_rels/slide8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8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9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 Id="rId4" Type="http://schemas.openxmlformats.org/officeDocument/2006/relationships/image" Target="../media/image159.png"/></Relationships>
</file>

<file path=ppt/slides/_rels/slide9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65.png"/><Relationship Id="rId5" Type="http://schemas.openxmlformats.org/officeDocument/2006/relationships/image" Target="../media/image36.png"/><Relationship Id="rId4" Type="http://schemas.openxmlformats.org/officeDocument/2006/relationships/image" Target="../media/image164.png"/></Relationships>
</file>

<file path=ppt/slides/_rels/slide95.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9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470025"/>
          </a:xfrm>
          <a:ln>
            <a:miter lim="800000"/>
          </a:ln>
        </p:spPr>
        <p:txBody>
          <a:bodyPr vert="horz" wrap="square" lIns="91440" tIns="45720" rIns="91440" bIns="45720" numCol="1" rtlCol="0" anchor="ctr" anchorCtr="0" compatLnSpc="1">
            <a:noAutofit/>
          </a:bodyPr>
          <a:lstStyle/>
          <a:p>
            <a:pPr lvl="0">
              <a:defRPr/>
            </a:pPr>
            <a:r>
              <a:rPr lang="zh-CN" altLang="en-US" b="1" dirty="0">
                <a:solidFill>
                  <a:srgbClr val="2C2C2C"/>
                </a:solidFill>
                <a:effectLst>
                  <a:outerShdw blurRad="38100" dist="38100" dir="2700000" algn="tl">
                    <a:srgbClr val="000000">
                      <a:alpha val="43137"/>
                    </a:srgbClr>
                  </a:outerShdw>
                </a:effectLst>
              </a:rPr>
              <a:t>下推自动机</a:t>
            </a:r>
            <a:endParaRPr kumimoji="0" lang="en-US" altLang="zh-CN" sz="4400" b="1" i="0" u="none" strike="noStrike" kern="1200" cap="none" spc="0" normalizeH="0" baseline="0" noProof="0" dirty="0">
              <a:ln>
                <a:noFill/>
              </a:ln>
              <a:solidFill>
                <a:srgbClr val="2C2C2C"/>
              </a:solidFill>
              <a:effectLst>
                <a:outerShdw blurRad="38100" dist="38100" dir="2700000" algn="tl">
                  <a:srgbClr val="000000">
                    <a:alpha val="43137"/>
                  </a:srgbClr>
                </a:outerShdw>
              </a:effectLst>
              <a:uLnTx/>
              <a:uFillTx/>
              <a:latin typeface="+mj-lt"/>
              <a:ea typeface="+mj-ea"/>
              <a:cs typeface="+mj-cs"/>
            </a:endParaRPr>
          </a:p>
        </p:txBody>
      </p:sp>
      <p:sp>
        <p:nvSpPr>
          <p:cNvPr id="5122" name="灯片编号占位符 2"/>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200" dirty="0">
                <a:solidFill>
                  <a:srgbClr val="FFFFFF"/>
                </a:solidFill>
              </a:rPr>
              <a:t>1</a:t>
            </a:fld>
            <a:endParaRPr lang="en-US" altLang="zh-CN" sz="1200" dirty="0">
              <a:solidFill>
                <a:srgbClr val="FFFFFF"/>
              </a:solidFill>
            </a:endParaRPr>
          </a:p>
        </p:txBody>
      </p:sp>
      <p:grpSp>
        <p:nvGrpSpPr>
          <p:cNvPr id="5126" name="组合 9"/>
          <p:cNvGrpSpPr/>
          <p:nvPr/>
        </p:nvGrpSpPr>
        <p:grpSpPr>
          <a:xfrm>
            <a:off x="0" y="5030788"/>
            <a:ext cx="8699500" cy="1117600"/>
            <a:chOff x="0" y="5030681"/>
            <a:chExt cx="8700121" cy="1116947"/>
          </a:xfrm>
        </p:grpSpPr>
        <p:sp>
          <p:nvSpPr>
            <p:cNvPr id="11" name="矩形 10"/>
            <p:cNvSpPr/>
            <p:nvPr/>
          </p:nvSpPr>
          <p:spPr>
            <a:xfrm>
              <a:off x="0" y="5030681"/>
              <a:ext cx="8700121" cy="1116947"/>
            </a:xfrm>
            <a:prstGeom prst="rect">
              <a:avLst/>
            </a:prstGeom>
            <a:gradFill>
              <a:gsLst>
                <a:gs pos="0">
                  <a:schemeClr val="bg1">
                    <a:lumMod val="50000"/>
                  </a:schemeClr>
                </a:gs>
                <a:gs pos="99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13" name="组合 12"/>
            <p:cNvGrpSpPr/>
            <p:nvPr/>
          </p:nvGrpSpPr>
          <p:grpSpPr>
            <a:xfrm rot="10800000">
              <a:off x="149602" y="5139274"/>
              <a:ext cx="3166930" cy="810003"/>
              <a:chOff x="2077999" y="5178439"/>
              <a:chExt cx="2948941" cy="683692"/>
            </a:xfrm>
            <a:solidFill>
              <a:schemeClr val="bg1"/>
            </a:solidFill>
          </p:grpSpPr>
          <p:sp>
            <p:nvSpPr>
              <p:cNvPr id="14" name="矩形 13"/>
              <p:cNvSpPr/>
              <p:nvPr/>
            </p:nvSpPr>
            <p:spPr>
              <a:xfrm>
                <a:off x="4662430" y="5178441"/>
                <a:ext cx="364510" cy="683690"/>
              </a:xfrm>
              <a:prstGeom prst="rect">
                <a:avLst/>
              </a:prstGeom>
              <a:solidFill>
                <a:srgbClr val="78A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25"/>
              <p:cNvSpPr/>
              <p:nvPr/>
            </p:nvSpPr>
            <p:spPr>
              <a:xfrm>
                <a:off x="2077999" y="5178439"/>
                <a:ext cx="2520000" cy="683178"/>
              </a:xfrm>
              <a:custGeom>
                <a:avLst/>
                <a:gdLst/>
                <a:ahLst/>
                <a:cxnLst/>
                <a:rect l="l" t="t" r="r" b="b"/>
                <a:pathLst>
                  <a:path w="3995780" h="1199745">
                    <a:moveTo>
                      <a:pt x="3696727" y="760691"/>
                    </a:moveTo>
                    <a:lnTo>
                      <a:pt x="1033246" y="760691"/>
                    </a:lnTo>
                    <a:lnTo>
                      <a:pt x="1029703" y="940654"/>
                    </a:lnTo>
                    <a:lnTo>
                      <a:pt x="3696727" y="940654"/>
                    </a:lnTo>
                    <a:close/>
                    <a:moveTo>
                      <a:pt x="3700429" y="298400"/>
                    </a:moveTo>
                    <a:lnTo>
                      <a:pt x="1042348" y="298400"/>
                    </a:lnTo>
                    <a:lnTo>
                      <a:pt x="1038805" y="478363"/>
                    </a:lnTo>
                    <a:lnTo>
                      <a:pt x="3700429" y="478363"/>
                    </a:lnTo>
                    <a:close/>
                    <a:moveTo>
                      <a:pt x="3995780" y="2065"/>
                    </a:moveTo>
                    <a:lnTo>
                      <a:pt x="3995780" y="1198688"/>
                    </a:lnTo>
                    <a:lnTo>
                      <a:pt x="1024623" y="1198688"/>
                    </a:lnTo>
                    <a:lnTo>
                      <a:pt x="1024602" y="1199745"/>
                    </a:lnTo>
                    <a:lnTo>
                      <a:pt x="1022842" y="1198688"/>
                    </a:lnTo>
                    <a:lnTo>
                      <a:pt x="1014564" y="1198688"/>
                    </a:lnTo>
                    <a:lnTo>
                      <a:pt x="1014564" y="1193714"/>
                    </a:lnTo>
                    <a:lnTo>
                      <a:pt x="0" y="584102"/>
                    </a:lnTo>
                    <a:lnTo>
                      <a:pt x="1014564" y="18756"/>
                    </a:lnTo>
                    <a:lnTo>
                      <a:pt x="1014564" y="2065"/>
                    </a:lnTo>
                    <a:lnTo>
                      <a:pt x="1044517" y="2065"/>
                    </a:lnTo>
                    <a:lnTo>
                      <a:pt x="1048224" y="0"/>
                    </a:lnTo>
                    <a:lnTo>
                      <a:pt x="1048183" y="2065"/>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sp>
        <p:nvSpPr>
          <p:cNvPr id="3" name="文本框 2"/>
          <p:cNvSpPr txBox="1"/>
          <p:nvPr/>
        </p:nvSpPr>
        <p:spPr>
          <a:xfrm>
            <a:off x="3276600" y="3644900"/>
            <a:ext cx="2540000" cy="645160"/>
          </a:xfrm>
          <a:prstGeom prst="rect">
            <a:avLst/>
          </a:prstGeom>
          <a:noFill/>
        </p:spPr>
        <p:txBody>
          <a:bodyPr wrap="square" rtlCol="0" anchor="t">
            <a:spAutoFit/>
          </a:bodyPr>
          <a:lstStyle/>
          <a:p>
            <a:pPr eaLnBrk="1" hangingPunct="1"/>
            <a:r>
              <a:rPr lang="zh-CN" altLang="en-US" dirty="0">
                <a:latin typeface="楷体" panose="02010609060101010101" pitchFamily="49" charset="-122"/>
                <a:ea typeface="楷体" panose="02010609060101010101" pitchFamily="49" charset="-122"/>
                <a:sym typeface="+mn-ea"/>
              </a:rPr>
              <a:t>计算机科学与技术学院</a:t>
            </a:r>
            <a:endParaRPr lang="en-US" altLang="zh-CN" dirty="0">
              <a:latin typeface="楷体" panose="02010609060101010101" pitchFamily="49" charset="-122"/>
              <a:ea typeface="楷体" panose="02010609060101010101" pitchFamily="49" charset="-122"/>
            </a:endParaRPr>
          </a:p>
          <a:p>
            <a:pPr eaLnBrk="1" hangingPunct="1"/>
            <a:r>
              <a:rPr lang="zh-CN" altLang="en-US" dirty="0">
                <a:latin typeface="楷体" panose="02010609060101010101" pitchFamily="49" charset="-122"/>
                <a:ea typeface="楷体" panose="02010609060101010101" pitchFamily="49" charset="-122"/>
                <a:sym typeface="+mn-ea"/>
              </a:rPr>
              <a:t>哈尔滨工业大学（深圳）</a:t>
            </a:r>
            <a:endParaRPr lang="zh-CN" altLang="en-US"/>
          </a:p>
        </p:txBody>
      </p:sp>
      <p:sp>
        <p:nvSpPr>
          <p:cNvPr id="16" name="圆角矩形 7"/>
          <p:cNvSpPr/>
          <p:nvPr/>
        </p:nvSpPr>
        <p:spPr>
          <a:xfrm>
            <a:off x="835024" y="539092"/>
            <a:ext cx="7473952" cy="1158875"/>
          </a:xfrm>
          <a:prstGeom prst="roundRect">
            <a:avLst>
              <a:gd name="adj" fmla="val 9948"/>
            </a:avLst>
          </a:prstGeom>
          <a:noFill/>
          <a:ln w="25400">
            <a:solidFill>
              <a:srgbClr val="F69418"/>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200" b="1" dirty="0" err="1">
                <a:solidFill>
                  <a:srgbClr val="F69418"/>
                </a:solidFill>
                <a:latin typeface="Times New Roman" panose="02020603050405020304" pitchFamily="18" charset="0"/>
                <a:ea typeface="黑体" panose="02010609060101010101" pitchFamily="49" charset="-122"/>
                <a:cs typeface="Times New Roman" panose="02020603050405020304" pitchFamily="18" charset="0"/>
              </a:rPr>
              <a:t>形式语言与自动机</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rPr>
              <a:t>Formal Languages and Automata Theory</a:t>
            </a:r>
          </a:p>
        </p:txBody>
      </p:sp>
      <p:sp>
        <p:nvSpPr>
          <p:cNvPr id="17" name="TextBox 11"/>
          <p:cNvSpPr txBox="1"/>
          <p:nvPr/>
        </p:nvSpPr>
        <p:spPr>
          <a:xfrm>
            <a:off x="6646863" y="5345291"/>
            <a:ext cx="2039937" cy="461665"/>
          </a:xfrm>
          <a:prstGeom prst="rect">
            <a:avLst/>
          </a:prstGeom>
          <a:noFill/>
        </p:spPr>
        <p:txBody>
          <a:bodyPr>
            <a:spAutoFit/>
          </a:bodyPr>
          <a:lstStyle/>
          <a:p>
            <a:pPr marR="0" algn="ctr" defTabSz="914400">
              <a:buClrTx/>
              <a:buSzTx/>
              <a:buFontTx/>
              <a:defRPr/>
            </a:pPr>
            <a:r>
              <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汤步洲</a:t>
            </a:r>
            <a:r>
              <a:rPr kumimoji="0" lang="en-US" altLang="zh-CN"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t>下推自动机 </a:t>
            </a:r>
            <a:r>
              <a:rPr lang="en-AU" altLang="zh-CN" dirty="0"/>
              <a:t>(</a:t>
            </a:r>
            <a:r>
              <a:rPr lang="en-AU" altLang="zh-CN" dirty="0">
                <a:latin typeface="Times New Roman" panose="02020603050405020304" pitchFamily="18" charset="0"/>
                <a:cs typeface="Times New Roman" panose="02020603050405020304" pitchFamily="18" charset="0"/>
              </a:rPr>
              <a:t>pushdown automata</a:t>
            </a:r>
            <a:r>
              <a:rPr lang="en-AU" altLang="zh-CN" dirty="0"/>
              <a:t>)</a:t>
            </a:r>
          </a:p>
          <a:p>
            <a:r>
              <a:rPr lang="zh-CN" altLang="en-US" dirty="0"/>
              <a:t>下推自动机接受的语言</a:t>
            </a:r>
            <a:endParaRPr lang="en-AU" altLang="zh-CN" dirty="0"/>
          </a:p>
          <a:p>
            <a:r>
              <a:rPr lang="zh-CN" altLang="en-US" dirty="0"/>
              <a:t>下推自动机与文法的等价性</a:t>
            </a:r>
            <a:endParaRPr lang="en-AU" altLang="zh-CN" dirty="0"/>
          </a:p>
          <a:p>
            <a:r>
              <a:rPr lang="zh-CN" altLang="en-US" dirty="0"/>
              <a:t>确定型下推自动机</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2</a:t>
            </a:fld>
            <a:endParaRPr lang="en-A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t>下推自动机 </a:t>
            </a:r>
            <a:r>
              <a:rPr lang="en-AU" altLang="zh-CN" dirty="0"/>
              <a:t>(</a:t>
            </a:r>
            <a:r>
              <a:rPr lang="en-AU" altLang="zh-CN" dirty="0">
                <a:latin typeface="Times New Roman" panose="02020603050405020304" pitchFamily="18" charset="0"/>
                <a:cs typeface="Times New Roman" panose="02020603050405020304" pitchFamily="18" charset="0"/>
              </a:rPr>
              <a:t>pushdown automata</a:t>
            </a:r>
            <a:r>
              <a:rPr lang="en-AU" altLang="zh-CN" dirty="0"/>
              <a:t>)</a:t>
            </a:r>
          </a:p>
          <a:p>
            <a:r>
              <a:rPr lang="zh-CN" altLang="en-US" dirty="0">
                <a:solidFill>
                  <a:schemeClr val="bg1">
                    <a:lumMod val="75000"/>
                  </a:schemeClr>
                </a:solidFill>
              </a:rPr>
              <a:t>下推自动机接受的语言</a:t>
            </a:r>
            <a:endParaRPr lang="en-AU" altLang="zh-CN" dirty="0">
              <a:solidFill>
                <a:schemeClr val="bg1">
                  <a:lumMod val="75000"/>
                </a:schemeClr>
              </a:solidFill>
            </a:endParaRPr>
          </a:p>
          <a:p>
            <a:r>
              <a:rPr lang="zh-CN" altLang="en-US" dirty="0">
                <a:solidFill>
                  <a:schemeClr val="bg1">
                    <a:lumMod val="75000"/>
                  </a:schemeClr>
                </a:solidFill>
              </a:rPr>
              <a:t>下推自动机与文法的等价性</a:t>
            </a:r>
            <a:endParaRPr lang="en-AU" altLang="zh-CN" dirty="0">
              <a:solidFill>
                <a:schemeClr val="bg1">
                  <a:lumMod val="75000"/>
                </a:schemeClr>
              </a:solidFill>
            </a:endParaRPr>
          </a:p>
          <a:p>
            <a:r>
              <a:rPr lang="zh-CN" altLang="en-US" dirty="0">
                <a:solidFill>
                  <a:schemeClr val="bg1">
                    <a:lumMod val="75000"/>
                  </a:schemeClr>
                </a:solidFill>
              </a:rPr>
              <a:t>确定型下推自动机</a:t>
            </a:r>
            <a:endParaRPr lang="en-AU" dirty="0">
              <a:solidFill>
                <a:schemeClr val="bg1">
                  <a:lumMod val="7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t>3</a:t>
            </a:fld>
            <a:endParaRPr lang="en-A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下推自动机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具备与上下文无关文法等价的定义语言的能力</a:t>
                </a:r>
                <a:endParaRPr lang="en-AU" altLang="zh-CN" dirty="0"/>
              </a:p>
              <a:p>
                <a:r>
                  <a:rPr lang="zh-CN" altLang="en-US" dirty="0"/>
                  <a:t>可以看作</a:t>
                </a:r>
                <a14:m>
                  <m:oMath xmlns:m="http://schemas.openxmlformats.org/officeDocument/2006/math">
                    <m:r>
                      <a:rPr lang="zh-CN" altLang="en-US" i="1" smtClean="0">
                        <a:solidFill>
                          <a:schemeClr val="accent1"/>
                        </a:solidFill>
                        <a:latin typeface="Cambria Math" panose="02040503050406030204" pitchFamily="18" charset="0"/>
                      </a:rPr>
                      <m:t>𝜀</m:t>
                    </m:r>
                  </m:oMath>
                </a14:m>
                <a:r>
                  <a:rPr lang="en-AU" altLang="zh-CN" dirty="0">
                    <a:solidFill>
                      <a:schemeClr val="accent1"/>
                    </a:solidFill>
                  </a:rPr>
                  <a:t>-</a:t>
                </a:r>
                <a:r>
                  <a:rPr lang="en-US" altLang="zh-CN" dirty="0">
                    <a:solidFill>
                      <a:schemeClr val="accent1"/>
                    </a:solidFill>
                    <a:latin typeface="Times New Roman" panose="02020603050405020304" pitchFamily="18" charset="0"/>
                    <a:cs typeface="Times New Roman" panose="02020603050405020304" pitchFamily="18" charset="0"/>
                  </a:rPr>
                  <a:t>NFA</a:t>
                </a:r>
                <a:r>
                  <a:rPr lang="zh-CN" altLang="en-US" dirty="0">
                    <a:latin typeface="Times New Roman" panose="02020603050405020304" pitchFamily="18" charset="0"/>
                    <a:cs typeface="Times New Roman" panose="02020603050405020304" pitchFamily="18" charset="0"/>
                  </a:rPr>
                  <a:t>和</a:t>
                </a:r>
                <a:r>
                  <a:rPr lang="zh-CN" altLang="en-US" dirty="0"/>
                  <a:t>一个</a:t>
                </a:r>
                <a:r>
                  <a:rPr lang="zh-CN" altLang="en-US" dirty="0">
                    <a:solidFill>
                      <a:schemeClr val="accent1"/>
                    </a:solidFill>
                  </a:rPr>
                  <a:t>栈</a:t>
                </a:r>
                <a:r>
                  <a:rPr lang="en-AU" altLang="zh-CN" dirty="0">
                    <a:solidFill>
                      <a:schemeClr val="accent1"/>
                    </a:solidFill>
                  </a:rPr>
                  <a:t>(</a:t>
                </a:r>
                <a:r>
                  <a:rPr lang="en-AU" altLang="zh-CN" dirty="0">
                    <a:solidFill>
                      <a:schemeClr val="accent1"/>
                    </a:solidFill>
                    <a:latin typeface="Times New Roman" panose="02020603050405020304" pitchFamily="18" charset="0"/>
                    <a:cs typeface="Times New Roman" panose="02020603050405020304" pitchFamily="18" charset="0"/>
                  </a:rPr>
                  <a:t>stack</a:t>
                </a:r>
                <a:r>
                  <a:rPr lang="en-AU" altLang="zh-CN" dirty="0">
                    <a:solidFill>
                      <a:schemeClr val="accent1"/>
                    </a:solidFill>
                  </a:rPr>
                  <a:t>)</a:t>
                </a:r>
                <a:r>
                  <a:rPr lang="zh-CN" altLang="en-US" dirty="0"/>
                  <a:t>的结合</a:t>
                </a:r>
                <a:endParaRPr lang="en-AU" altLang="zh-CN" dirty="0">
                  <a:latin typeface="Times New Roman" panose="02020603050405020304" pitchFamily="18" charset="0"/>
                  <a:cs typeface="Times New Roman" panose="02020603050405020304" pitchFamily="18" charset="0"/>
                </a:endParaRPr>
              </a:p>
              <a:p>
                <a:r>
                  <a:rPr lang="zh-CN" altLang="en-US" dirty="0"/>
                  <a:t>它的动作由三个要素决定：</a:t>
                </a:r>
                <a:endParaRPr lang="en-AU" altLang="zh-CN" dirty="0"/>
              </a:p>
              <a:p>
                <a:pPr lvl="1"/>
                <a:r>
                  <a:rPr lang="zh-CN" altLang="en-US" dirty="0"/>
                  <a:t>当前</a:t>
                </a:r>
                <a:r>
                  <a:rPr lang="en-US" altLang="zh-CN" dirty="0">
                    <a:latin typeface="Times New Roman" panose="02020603050405020304" pitchFamily="18" charset="0"/>
                    <a:cs typeface="Times New Roman" panose="02020603050405020304" pitchFamily="18" charset="0"/>
                  </a:rPr>
                  <a:t>NFA</a:t>
                </a:r>
                <a:r>
                  <a:rPr lang="zh-CN" altLang="en-US" dirty="0"/>
                  <a:t>的状态</a:t>
                </a:r>
                <a:endParaRPr lang="en-AU" altLang="zh-CN" dirty="0"/>
              </a:p>
              <a:p>
                <a:pPr lvl="1"/>
                <a:r>
                  <a:rPr lang="zh-CN" altLang="en-US" dirty="0"/>
                  <a:t>当前的输入符号（或者是</a:t>
                </a:r>
                <a14:m>
                  <m:oMath xmlns:m="http://schemas.openxmlformats.org/officeDocument/2006/math">
                    <m:r>
                      <a:rPr lang="zh-CN" altLang="en-US" i="1" smtClean="0">
                        <a:latin typeface="Cambria Math" panose="02040503050406030204" pitchFamily="18" charset="0"/>
                      </a:rPr>
                      <m:t>𝜀</m:t>
                    </m:r>
                  </m:oMath>
                </a14:m>
                <a:r>
                  <a:rPr lang="zh-CN" altLang="en-US" dirty="0"/>
                  <a:t>）</a:t>
                </a:r>
                <a:endParaRPr lang="en-AU" altLang="zh-CN" dirty="0"/>
              </a:p>
              <a:p>
                <a:pPr lvl="1"/>
                <a:r>
                  <a:rPr lang="zh-CN" altLang="en-US" dirty="0"/>
                  <a:t>当前的栈顶符号</a:t>
                </a: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a:t>
            </a:fld>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下推自动机的抽象装置</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3800380"/>
                <a:ext cx="8229600" cy="2141490"/>
              </a:xfrm>
            </p:spPr>
            <p:txBody>
              <a:bodyPr>
                <a:normAutofit fontScale="92500" lnSpcReduction="10000"/>
              </a:bodyPr>
              <a:lstStyle/>
              <a:p>
                <a14:m>
                  <m:oMath xmlns:m="http://schemas.openxmlformats.org/officeDocument/2006/math">
                    <m:r>
                      <a:rPr lang="zh-CN" altLang="en-US" i="1" smtClean="0">
                        <a:latin typeface="Cambria Math" panose="02040503050406030204" pitchFamily="18" charset="0"/>
                      </a:rPr>
                      <m:t>𝜀</m:t>
                    </m:r>
                  </m:oMath>
                </a14:m>
                <a:r>
                  <a:rPr lang="en-AU" altLang="zh-CN" dirty="0"/>
                  <a:t>-</a:t>
                </a:r>
                <a:r>
                  <a:rPr lang="en-US" altLang="zh-CN" dirty="0">
                    <a:latin typeface="Times New Roman" panose="02020603050405020304" pitchFamily="18" charset="0"/>
                    <a:cs typeface="Times New Roman" panose="02020603050405020304" pitchFamily="18" charset="0"/>
                  </a:rPr>
                  <a:t>NFA:</a:t>
                </a:r>
                <a:r>
                  <a:rPr lang="en-US" altLang="zh-CN" dirty="0"/>
                  <a:t> </a:t>
                </a:r>
                <a:r>
                  <a:rPr lang="zh-CN" altLang="en-US" dirty="0"/>
                  <a:t>有限状态，非确定性，空转移</a:t>
                </a:r>
                <a:endParaRPr lang="en-AU" altLang="zh-CN" dirty="0"/>
              </a:p>
              <a:p>
                <a:r>
                  <a:rPr lang="zh-CN" altLang="en-US" dirty="0"/>
                  <a:t>栈</a:t>
                </a:r>
                <a:r>
                  <a:rPr lang="en-AU" altLang="zh-CN" dirty="0"/>
                  <a:t>:</a:t>
                </a:r>
                <a:r>
                  <a:rPr lang="zh-CN" altLang="en-US" dirty="0"/>
                  <a:t>后进先出，只用栈顶，长度无限，可用于存储历史信息</a:t>
                </a:r>
                <a:endParaRPr lang="en-AU" altLang="zh-CN" dirty="0"/>
              </a:p>
              <a:p>
                <a:pPr lvl="1"/>
                <a:r>
                  <a:rPr lang="zh-CN" altLang="en-US" dirty="0">
                    <a:latin typeface="Times New Roman" panose="02020603050405020304" pitchFamily="18" charset="0"/>
                    <a:cs typeface="Times New Roman" panose="02020603050405020304" pitchFamily="18" charset="0"/>
                  </a:rPr>
                  <a:t>弹栈</a:t>
                </a:r>
                <a:r>
                  <a:rPr lang="en-AU" altLang="zh-CN" dirty="0">
                    <a:latin typeface="Times New Roman" panose="02020603050405020304" pitchFamily="18" charset="0"/>
                    <a:cs typeface="Times New Roman" panose="02020603050405020304" pitchFamily="18" charset="0"/>
                  </a:rPr>
                  <a:t>(</a:t>
                </a:r>
                <a:r>
                  <a:rPr lang="en-AU" dirty="0">
                    <a:latin typeface="Times New Roman" panose="02020603050405020304" pitchFamily="18" charset="0"/>
                    <a:cs typeface="Times New Roman" panose="02020603050405020304" pitchFamily="18" charset="0"/>
                  </a:rPr>
                  <a:t>Pop)</a:t>
                </a:r>
                <a:r>
                  <a:rPr lang="en-AU" dirty="0"/>
                  <a:t>: </a:t>
                </a:r>
                <a:r>
                  <a:rPr lang="zh-CN" altLang="en-US" dirty="0"/>
                  <a:t>仅弹出栈顶的一个符号</a:t>
                </a:r>
                <a:endParaRPr lang="en-AU" altLang="zh-CN" dirty="0"/>
              </a:p>
              <a:p>
                <a:pPr lvl="1"/>
                <a:r>
                  <a:rPr lang="zh-CN" altLang="en-US" dirty="0">
                    <a:latin typeface="Times New Roman" panose="02020603050405020304" pitchFamily="18" charset="0"/>
                    <a:cs typeface="Times New Roman" panose="02020603050405020304" pitchFamily="18" charset="0"/>
                  </a:rPr>
                  <a:t>压栈</a:t>
                </a:r>
                <a:r>
                  <a:rPr lang="en-AU"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Push)</a:t>
                </a:r>
                <a:r>
                  <a:rPr lang="en-US" altLang="zh-CN" dirty="0"/>
                  <a:t>: </a:t>
                </a:r>
                <a:r>
                  <a:rPr lang="zh-CN" altLang="en-US" dirty="0"/>
                  <a:t>可压入一串符号</a:t>
                </a: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3800380"/>
                <a:ext cx="8229600" cy="2141490"/>
              </a:xfrm>
              <a:blipFill rotWithShape="1">
                <a:blip r:embed="rId3"/>
                <a:stretch>
                  <a:fillRect t="-25"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5</a:t>
            </a:fld>
            <a:endParaRPr lang="en-AU"/>
          </a:p>
        </p:txBody>
      </p:sp>
      <p:pic>
        <p:nvPicPr>
          <p:cNvPr id="6" name="Picture 6"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66975" y="775652"/>
            <a:ext cx="4210050" cy="2410100"/>
          </a:xfrm>
          <a:prstGeom prst="rect">
            <a:avLst/>
          </a:prstGeom>
        </p:spPr>
      </p:pic>
      <mc:AlternateContent xmlns:mc="http://schemas.openxmlformats.org/markup-compatibility/2006" xmlns:a14="http://schemas.microsoft.com/office/drawing/2010/main">
        <mc:Choice Requires="a14">
          <p:sp>
            <p:nvSpPr>
              <p:cNvPr id="5" name="矩形 4"/>
              <p:cNvSpPr/>
              <p:nvPr/>
            </p:nvSpPr>
            <p:spPr>
              <a:xfrm>
                <a:off x="3921609" y="3238885"/>
                <a:ext cx="1757982" cy="523220"/>
              </a:xfrm>
              <a:prstGeom prst="rect">
                <a:avLst/>
              </a:prstGeom>
            </p:spPr>
            <p:txBody>
              <a:bodyPr wrap="none">
                <a:spAutoFit/>
              </a:bodyPr>
              <a:lstStyle/>
              <a:p>
                <a14:m>
                  <m:oMath xmlns:m="http://schemas.openxmlformats.org/officeDocument/2006/math">
                    <m:r>
                      <a:rPr lang="zh-CN" altLang="en-US" sz="2800" b="1" i="1" smtClean="0">
                        <a:solidFill>
                          <a:srgbClr val="FF0000"/>
                        </a:solidFill>
                        <a:latin typeface="Cambria Math" panose="02040503050406030204" pitchFamily="18" charset="0"/>
                        <a:ea typeface="黑体" panose="02010609060101010101" pitchFamily="49" charset="-122"/>
                      </a:rPr>
                      <m:t>𝜀</m:t>
                    </m:r>
                  </m:oMath>
                </a14:m>
                <a:r>
                  <a:rPr lang="en-AU"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NFA</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栈</a:t>
                </a:r>
              </a:p>
            </p:txBody>
          </p:sp>
        </mc:Choice>
        <mc:Fallback xmlns="">
          <p:sp>
            <p:nvSpPr>
              <p:cNvPr id="5" name="矩形 4"/>
              <p:cNvSpPr>
                <a:spLocks noRot="1" noChangeAspect="1" noMove="1" noResize="1" noEditPoints="1" noAdjustHandles="1" noChangeArrowheads="1" noChangeShapeType="1" noTextEdit="1"/>
              </p:cNvSpPr>
              <p:nvPr/>
            </p:nvSpPr>
            <p:spPr>
              <a:xfrm>
                <a:off x="3921609" y="3238885"/>
                <a:ext cx="1757982" cy="523220"/>
              </a:xfrm>
              <a:prstGeom prst="rect">
                <a:avLst/>
              </a:prstGeom>
              <a:blipFill rotWithShape="1">
                <a:blip r:embed="rId5"/>
                <a:stretch>
                  <a:fillRect l="-28" t="-74" r="9" b="70"/>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下推自动机的抽象装置</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3012101"/>
                <a:ext cx="8229600" cy="3517900"/>
              </a:xfrm>
            </p:spPr>
            <p:txBody>
              <a:bodyPr>
                <a:normAutofit/>
              </a:bodyPr>
              <a:lstStyle/>
              <a:p>
                <a:r>
                  <a:rPr lang="zh-CN" altLang="en-US" sz="3200" dirty="0">
                    <a:latin typeface="Times New Roman" panose="02020603050405020304" pitchFamily="18" charset="0"/>
                    <a:cs typeface="Times New Roman" panose="02020603050405020304" pitchFamily="18" charset="0"/>
                  </a:rPr>
                  <a:t>运转：</a:t>
                </a:r>
                <a:endParaRPr lang="en-AU" altLang="zh-CN" sz="3200" dirty="0">
                  <a:latin typeface="Times New Roman" panose="02020603050405020304" pitchFamily="18" charset="0"/>
                  <a:cs typeface="Times New Roman" panose="02020603050405020304" pitchFamily="18" charset="0"/>
                </a:endParaRPr>
              </a:p>
              <a:p>
                <a:pPr lvl="1"/>
                <a:r>
                  <a:rPr lang="zh-CN" altLang="en-US" sz="2800" dirty="0">
                    <a:latin typeface="Times New Roman" panose="02020603050405020304" pitchFamily="18" charset="0"/>
                    <a:cs typeface="Times New Roman" panose="02020603050405020304" pitchFamily="18" charset="0"/>
                  </a:rPr>
                  <a:t>控制器从输入带读入一个符号</a:t>
                </a:r>
                <a14:m>
                  <m:oMath xmlns:m="http://schemas.openxmlformats.org/officeDocument/2006/math">
                    <m:r>
                      <a:rPr lang="en-AU" altLang="zh-CN" sz="2800" b="0" i="1" smtClean="0">
                        <a:latin typeface="Cambria Math" panose="02040503050406030204" pitchFamily="18" charset="0"/>
                      </a:rPr>
                      <m:t>𝑎</m:t>
                    </m:r>
                  </m:oMath>
                </a14:m>
                <a:r>
                  <a:rPr lang="zh-CN" altLang="en-US" sz="2800" dirty="0">
                    <a:latin typeface="Times New Roman" panose="02020603050405020304" pitchFamily="18" charset="0"/>
                    <a:cs typeface="Times New Roman" panose="02020603050405020304" pitchFamily="18" charset="0"/>
                  </a:rPr>
                  <a:t>，控制栈弹出一个栈顶符号</a:t>
                </a:r>
                <a14:m>
                  <m:oMath xmlns:m="http://schemas.openxmlformats.org/officeDocument/2006/math">
                    <m:r>
                      <a:rPr lang="en-AU" altLang="zh-CN" sz="2800" b="0" i="1" smtClean="0">
                        <a:latin typeface="Cambria Math" panose="02040503050406030204" pitchFamily="18" charset="0"/>
                      </a:rPr>
                      <m:t>𝑍</m:t>
                    </m:r>
                  </m:oMath>
                </a14:m>
                <a:r>
                  <a:rPr lang="en-AU" altLang="zh-CN" sz="2800" dirty="0">
                    <a:latin typeface="Times New Roman" panose="02020603050405020304" pitchFamily="18" charset="0"/>
                    <a:cs typeface="Times New Roman" panose="02020603050405020304" pitchFamily="18" charset="0"/>
                  </a:rPr>
                  <a:t>;</a:t>
                </a:r>
              </a:p>
              <a:p>
                <a:pPr lvl="1"/>
                <a:r>
                  <a:rPr lang="zh-CN" altLang="en-US" sz="2800" dirty="0">
                    <a:latin typeface="Times New Roman" panose="02020603050405020304" pitchFamily="18" charset="0"/>
                    <a:cs typeface="Times New Roman" panose="02020603050405020304" pitchFamily="18" charset="0"/>
                  </a:rPr>
                  <a:t>根据符号</a:t>
                </a:r>
                <a14:m>
                  <m:oMath xmlns:m="http://schemas.openxmlformats.org/officeDocument/2006/math">
                    <m:r>
                      <a:rPr lang="en-AU" altLang="zh-CN" sz="2800" b="0" i="1" smtClean="0">
                        <a:latin typeface="Cambria Math" panose="02040503050406030204" pitchFamily="18" charset="0"/>
                      </a:rPr>
                      <m:t>𝑎</m:t>
                    </m:r>
                  </m:oMath>
                </a14:m>
                <a:r>
                  <a:rPr lang="en-AU"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符号</a:t>
                </a:r>
                <a14:m>
                  <m:oMath xmlns:m="http://schemas.openxmlformats.org/officeDocument/2006/math">
                    <m:r>
                      <a:rPr lang="en-AU" altLang="zh-CN" sz="2800" b="0" i="1" smtClean="0">
                        <a:latin typeface="Cambria Math" panose="02040503050406030204" pitchFamily="18" charset="0"/>
                      </a:rPr>
                      <m:t>𝑍</m:t>
                    </m:r>
                  </m:oMath>
                </a14:m>
                <a:r>
                  <a:rPr lang="en-AU"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当前所处的状态</a:t>
                </a:r>
                <a14:m>
                  <m:oMath xmlns:m="http://schemas.openxmlformats.org/officeDocument/2006/math">
                    <m:r>
                      <a:rPr lang="en-AU" i="1" dirty="0" smtClean="0">
                        <a:latin typeface="Cambria Math" panose="02040503050406030204" pitchFamily="18" charset="0"/>
                      </a:rPr>
                      <m:t>𝑞</m:t>
                    </m:r>
                  </m:oMath>
                </a14:m>
                <a:r>
                  <a:rPr lang="zh-CN" altLang="en-US" sz="2800" dirty="0">
                    <a:latin typeface="Times New Roman" panose="02020603050405020304" pitchFamily="18" charset="0"/>
                    <a:cs typeface="Times New Roman" panose="02020603050405020304" pitchFamily="18" charset="0"/>
                  </a:rPr>
                  <a:t>进行状态的转移并对栈压入</a:t>
                </a:r>
                <a:r>
                  <a:rPr lang="en-AU" altLang="zh-CN" sz="2800" dirty="0">
                    <a:latin typeface="Times New Roman" panose="02020603050405020304" pitchFamily="18" charset="0"/>
                    <a:cs typeface="Times New Roman" panose="02020603050405020304" pitchFamily="18" charset="0"/>
                  </a:rPr>
                  <a:t>0</a:t>
                </a:r>
                <a:r>
                  <a:rPr lang="zh-CN" altLang="en-US" sz="2800" dirty="0">
                    <a:latin typeface="Times New Roman" panose="02020603050405020304" pitchFamily="18" charset="0"/>
                    <a:cs typeface="Times New Roman" panose="02020603050405020304" pitchFamily="18" charset="0"/>
                  </a:rPr>
                  <a:t>个符号或者压入一个符号串。</a:t>
                </a:r>
                <a:endParaRPr lang="en-AU" altLang="zh-CN" sz="2800" dirty="0">
                  <a:latin typeface="Times New Roman" panose="02020603050405020304" pitchFamily="18" charset="0"/>
                  <a:cs typeface="Times New Roman" panose="02020603050405020304" pitchFamily="18" charset="0"/>
                </a:endParaRPr>
              </a:p>
              <a:p>
                <a:pPr lvl="2"/>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个符号意味着弹出</a:t>
                </a:r>
                <a:r>
                  <a:rPr lang="en-AU" altLang="zh-CN" dirty="0">
                    <a:latin typeface="Times New Roman" panose="02020603050405020304" pitchFamily="18" charset="0"/>
                    <a:cs typeface="Times New Roman" panose="02020603050405020304" pitchFamily="18" charset="0"/>
                  </a:rPr>
                  <a:t>(Pop)</a:t>
                </a:r>
                <a:r>
                  <a:rPr lang="zh-CN" altLang="en-US" sz="2400" dirty="0">
                    <a:latin typeface="Times New Roman" panose="02020603050405020304" pitchFamily="18" charset="0"/>
                    <a:cs typeface="Times New Roman" panose="02020603050405020304" pitchFamily="18" charset="0"/>
                  </a:rPr>
                  <a:t>操作；</a:t>
                </a:r>
                <a:endParaRPr lang="en-AU" altLang="zh-CN" sz="2400" dirty="0">
                  <a:latin typeface="Times New Roman" panose="02020603050405020304" pitchFamily="18" charset="0"/>
                  <a:cs typeface="Times New Roman" panose="02020603050405020304" pitchFamily="18" charset="0"/>
                </a:endParaRPr>
              </a:p>
              <a:p>
                <a:pPr lvl="2"/>
                <a:r>
                  <a:rPr lang="zh-CN" altLang="en-US" sz="2400" dirty="0">
                    <a:latin typeface="Times New Roman" panose="02020603050405020304" pitchFamily="18" charset="0"/>
                    <a:cs typeface="Times New Roman" panose="02020603050405020304" pitchFamily="18" charset="0"/>
                  </a:rPr>
                  <a:t>一个符号串意味着压入</a:t>
                </a:r>
                <a:r>
                  <a:rPr lang="en-AU" altLang="zh-CN" dirty="0">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rPr>
                  <a:t>ush</a:t>
                </a:r>
                <a:r>
                  <a:rPr lang="en-AU" altLang="zh-CN"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操作。</a:t>
                </a:r>
                <a:endParaRPr lang="en-AU" sz="32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3012101"/>
                <a:ext cx="8229600" cy="3517900"/>
              </a:xfrm>
              <a:blipFill rotWithShape="1">
                <a:blip r:embed="rId3"/>
                <a:stretch>
                  <a:fillRect t="-8"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6</a:t>
            </a:fld>
            <a:endParaRPr lang="en-AU"/>
          </a:p>
        </p:txBody>
      </p:sp>
      <p:pic>
        <p:nvPicPr>
          <p:cNvPr id="7" name="Picture 6"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66975" y="775652"/>
            <a:ext cx="4210050" cy="2410100"/>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2286000" y="3157220"/>
                <a:ext cx="4572000" cy="460375"/>
              </a:xfrm>
              <a:prstGeom prst="rect">
                <a:avLst/>
              </a:prstGeom>
              <a:noFill/>
            </p:spPr>
            <p:txBody>
              <a:bodyPr wrap="square" rtlCol="0" anchor="t">
                <a:spAutoFit/>
              </a:bodyPr>
              <a:lstStyle/>
              <a:p>
                <a:pPr/>
                <a14:m>
                  <m:oMathPara xmlns:m="http://schemas.openxmlformats.org/officeDocument/2006/math">
                    <m:oMathParaPr>
                      <m:jc m:val="centerGroup"/>
                    </m:oMathParaPr>
                    <m:oMath xmlns:m="http://schemas.openxmlformats.org/officeDocument/2006/math">
                      <m:r>
                        <a:rPr lang="el-GR" sz="2400" i="1" dirty="0" smtClean="0">
                          <a:latin typeface="Cambria Math" panose="02040503050406030204" pitchFamily="18" charset="0"/>
                        </a:rPr>
                        <m:t>𝛿</m:t>
                      </m:r>
                      <m:r>
                        <a:rPr lang="el-GR"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m:t>
                      </m:r>
                      <m:r>
                        <a:rPr lang="en-AU" sz="2400" b="0" i="1" dirty="0" smtClean="0">
                          <a:solidFill>
                            <a:schemeClr val="tx1"/>
                          </a:solidFill>
                          <a:latin typeface="Cambria Math" panose="02040503050406030204" pitchFamily="18" charset="0"/>
                        </a:rPr>
                        <m:t>𝑍</m:t>
                      </m:r>
                      <m:r>
                        <a:rPr lang="en-AU" sz="2400" i="1" dirty="0" smtClean="0">
                          <a:latin typeface="Cambria Math" panose="02040503050406030204" pitchFamily="18" charset="0"/>
                        </a:rPr>
                        <m:t>)</m:t>
                      </m:r>
                    </m:oMath>
                  </m:oMathPara>
                </a14:m>
                <a:endParaRPr lang="en-AU" altLang="en-US" sz="2400" i="1" dirty="0">
                  <a:latin typeface="Cambria Math" panose="020405030504060302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286000" y="3157220"/>
                <a:ext cx="4572000" cy="460375"/>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下推自动机的形式定义</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96900" y="1041400"/>
                <a:ext cx="8229600" cy="4525963"/>
              </a:xfrm>
            </p:spPr>
            <p:txBody>
              <a:bodyPr>
                <a:normAutofit fontScale="92500" lnSpcReduction="10000"/>
              </a:bodyPr>
              <a:lstStyle/>
              <a:p>
                <a:r>
                  <a:rPr lang="zh-CN" altLang="en-US" dirty="0"/>
                  <a:t>定义</a:t>
                </a:r>
                <a:r>
                  <a:rPr lang="en-AU" altLang="zh-CN" dirty="0"/>
                  <a:t>: </a:t>
                </a:r>
                <a:r>
                  <a:rPr lang="zh-CN" altLang="en-US" dirty="0"/>
                  <a:t>下推自动机</a:t>
                </a:r>
                <a:r>
                  <a:rPr lang="en-AU" altLang="zh-CN" dirty="0"/>
                  <a:t>(</a:t>
                </a:r>
                <a:r>
                  <a:rPr lang="en-AU" altLang="zh-CN" dirty="0">
                    <a:latin typeface="Times New Roman" panose="02020603050405020304" pitchFamily="18" charset="0"/>
                    <a:cs typeface="Times New Roman" panose="02020603050405020304" pitchFamily="18" charset="0"/>
                  </a:rPr>
                  <a:t>Pushdown Automata, PDA</a:t>
                </a:r>
                <a:r>
                  <a:rPr lang="en-AU" altLang="zh-CN" dirty="0"/>
                  <a:t>)</a:t>
                </a:r>
                <a:r>
                  <a:rPr lang="en-AU" altLang="zh-CN" i="1" dirty="0">
                    <a:latin typeface="Times New Roman" panose="02020603050405020304" pitchFamily="18" charset="0"/>
                    <a:cs typeface="Times New Roman" panose="02020603050405020304" pitchFamily="18" charset="0"/>
                  </a:rPr>
                  <a:t>P</a:t>
                </a:r>
                <a:r>
                  <a:rPr lang="zh-CN" altLang="en-US" dirty="0"/>
                  <a:t>为七元组</a:t>
                </a:r>
                <a:endParaRPr lang="en-AU" altLang="zh-CN" dirty="0"/>
              </a:p>
              <a:p>
                <a:pPr marL="0" indent="0">
                  <a:buNone/>
                </a:pPr>
                <a14:m>
                  <m:oMathPara xmlns:m="http://schemas.openxmlformats.org/officeDocument/2006/math">
                    <m:oMathParaPr>
                      <m:jc m:val="centerGroup"/>
                    </m:oMathParaPr>
                    <m:oMath xmlns:m="http://schemas.openxmlformats.org/officeDocument/2006/math">
                      <m:r>
                        <a:rPr lang="pl-PL" i="1" dirty="0" smtClean="0">
                          <a:latin typeface="Cambria Math" panose="02040503050406030204" pitchFamily="18" charset="0"/>
                        </a:rPr>
                        <m:t>𝑃</m:t>
                      </m:r>
                      <m:r>
                        <a:rPr lang="pl-PL" i="1" dirty="0" smtClean="0">
                          <a:latin typeface="Cambria Math" panose="02040503050406030204" pitchFamily="18" charset="0"/>
                        </a:rPr>
                        <m:t> = (</m:t>
                      </m:r>
                      <m:r>
                        <a:rPr lang="pl-PL" i="1" dirty="0" smtClean="0">
                          <a:latin typeface="Cambria Math" panose="02040503050406030204" pitchFamily="18" charset="0"/>
                        </a:rPr>
                        <m:t>𝑄</m:t>
                      </m:r>
                      <m:r>
                        <a:rPr lang="pl-PL" i="1" dirty="0" smtClean="0">
                          <a:latin typeface="Cambria Math" panose="02040503050406030204" pitchFamily="18" charset="0"/>
                        </a:rPr>
                        <m:t>, </m:t>
                      </m:r>
                      <m:r>
                        <m:rPr>
                          <m:sty m:val="p"/>
                        </m:rPr>
                        <a:rPr lang="pl-PL" i="0" dirty="0" smtClean="0">
                          <a:latin typeface="Cambria Math" panose="02040503050406030204" pitchFamily="18" charset="0"/>
                        </a:rPr>
                        <m:t>Σ</m:t>
                      </m:r>
                      <m:r>
                        <a:rPr lang="pl-PL" i="1" dirty="0" smtClean="0">
                          <a:latin typeface="Cambria Math" panose="02040503050406030204" pitchFamily="18" charset="0"/>
                        </a:rPr>
                        <m:t>, </m:t>
                      </m:r>
                      <m:r>
                        <m:rPr>
                          <m:sty m:val="p"/>
                        </m:rPr>
                        <a:rPr lang="pl-PL" i="0" dirty="0" smtClean="0">
                          <a:solidFill>
                            <a:srgbClr val="FF0000"/>
                          </a:solidFill>
                          <a:latin typeface="Cambria Math" panose="02040503050406030204" pitchFamily="18" charset="0"/>
                        </a:rPr>
                        <m:t>Γ</m:t>
                      </m:r>
                      <m:r>
                        <a:rPr lang="pl-PL" i="1" dirty="0" smtClean="0">
                          <a:latin typeface="Cambria Math" panose="02040503050406030204" pitchFamily="18" charset="0"/>
                        </a:rPr>
                        <m:t>, </m:t>
                      </m:r>
                      <m:r>
                        <a:rPr lang="pl-PL" i="1" dirty="0" smtClean="0">
                          <a:latin typeface="Cambria Math" panose="02040503050406030204" pitchFamily="18" charset="0"/>
                        </a:rPr>
                        <m:t>𝛿</m:t>
                      </m:r>
                      <m:r>
                        <a:rPr lang="pl-PL" i="1" dirty="0" smtClean="0">
                          <a:latin typeface="Cambria Math" panose="02040503050406030204" pitchFamily="18" charset="0"/>
                        </a:rPr>
                        <m:t>, </m:t>
                      </m:r>
                      <m:sSub>
                        <m:sSubPr>
                          <m:ctrlPr>
                            <a:rPr lang="pl-PL"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pl-PL" i="1" dirty="0" smtClean="0">
                          <a:latin typeface="Cambria Math" panose="02040503050406030204" pitchFamily="18" charset="0"/>
                        </a:rPr>
                        <m:t>, </m:t>
                      </m:r>
                      <m:sSub>
                        <m:sSubPr>
                          <m:ctrlPr>
                            <a:rPr lang="pl-PL" i="1" dirty="0" smtClean="0">
                              <a:solidFill>
                                <a:srgbClr val="FF0000"/>
                              </a:solidFill>
                              <a:latin typeface="Cambria Math" panose="02040503050406030204" pitchFamily="18" charset="0"/>
                            </a:rPr>
                          </m:ctrlPr>
                        </m:sSubPr>
                        <m:e>
                          <m:r>
                            <a:rPr lang="en-AU" b="0" i="1" dirty="0" smtClean="0">
                              <a:solidFill>
                                <a:srgbClr val="FF0000"/>
                              </a:solidFill>
                              <a:latin typeface="Cambria Math" panose="02040503050406030204" pitchFamily="18" charset="0"/>
                            </a:rPr>
                            <m:t>𝑍</m:t>
                          </m:r>
                        </m:e>
                        <m:sub>
                          <m:r>
                            <a:rPr lang="en-AU" b="0" i="1" dirty="0" smtClean="0">
                              <a:solidFill>
                                <a:srgbClr val="FF0000"/>
                              </a:solidFill>
                              <a:latin typeface="Cambria Math" panose="02040503050406030204" pitchFamily="18" charset="0"/>
                            </a:rPr>
                            <m:t>0</m:t>
                          </m:r>
                        </m:sub>
                      </m:sSub>
                      <m:r>
                        <a:rPr lang="pl-PL" i="1" dirty="0" smtClean="0">
                          <a:latin typeface="Cambria Math" panose="02040503050406030204" pitchFamily="18" charset="0"/>
                        </a:rPr>
                        <m:t>, </m:t>
                      </m:r>
                      <m:r>
                        <a:rPr lang="pl-PL" i="1" dirty="0" smtClean="0">
                          <a:latin typeface="Cambria Math" panose="02040503050406030204" pitchFamily="18" charset="0"/>
                        </a:rPr>
                        <m:t>𝐹</m:t>
                      </m:r>
                      <m:r>
                        <a:rPr lang="pl-PL" i="1" dirty="0" smtClean="0">
                          <a:latin typeface="Cambria Math" panose="02040503050406030204" pitchFamily="18" charset="0"/>
                        </a:rPr>
                        <m:t>)</m:t>
                      </m:r>
                    </m:oMath>
                  </m:oMathPara>
                </a14:m>
                <a:endParaRPr lang="en-AU" dirty="0"/>
              </a:p>
              <a:p>
                <a:pPr marL="0" indent="0">
                  <a:buNone/>
                </a:pPr>
                <a:r>
                  <a:rPr lang="en-AU" dirty="0"/>
                  <a:t>(1)</a:t>
                </a:r>
                <a14:m>
                  <m:oMath xmlns:m="http://schemas.openxmlformats.org/officeDocument/2006/math">
                    <m:r>
                      <a:rPr lang="en-AU" b="0" i="1" smtClean="0">
                        <a:latin typeface="Cambria Math" panose="02040503050406030204" pitchFamily="18" charset="0"/>
                      </a:rPr>
                      <m:t>𝑄</m:t>
                    </m:r>
                  </m:oMath>
                </a14:m>
                <a:r>
                  <a:rPr lang="zh-CN" altLang="en-US" dirty="0"/>
                  <a:t>：有穷状态集</a:t>
                </a:r>
                <a:r>
                  <a:rPr lang="en-AU" altLang="zh-CN" dirty="0"/>
                  <a:t>;</a:t>
                </a:r>
              </a:p>
              <a:p>
                <a:pPr marL="0" indent="0">
                  <a:buNone/>
                </a:pPr>
                <a:r>
                  <a:rPr lang="en-AU" dirty="0"/>
                  <a:t>(2)</a:t>
                </a:r>
                <a14:m>
                  <m:oMath xmlns:m="http://schemas.openxmlformats.org/officeDocument/2006/math">
                    <m:r>
                      <m:rPr>
                        <m:sty m:val="p"/>
                      </m:rPr>
                      <a:rPr lang="pl-PL" i="0" dirty="0" smtClean="0">
                        <a:latin typeface="Cambria Math" panose="02040503050406030204" pitchFamily="18" charset="0"/>
                      </a:rPr>
                      <m:t>Σ</m:t>
                    </m:r>
                  </m:oMath>
                </a14:m>
                <a:r>
                  <a:rPr lang="en-AU" dirty="0"/>
                  <a:t>: </a:t>
                </a:r>
                <a:r>
                  <a:rPr lang="zh-CN" altLang="en-US" dirty="0"/>
                  <a:t>有穷输入符号集 </a:t>
                </a:r>
                <a:r>
                  <a:rPr lang="en-AU" altLang="zh-CN" dirty="0"/>
                  <a:t>(</a:t>
                </a:r>
                <a:r>
                  <a:rPr lang="en-AU" altLang="zh-CN" dirty="0">
                    <a:latin typeface="Times New Roman" panose="02020603050405020304" pitchFamily="18" charset="0"/>
                    <a:cs typeface="Times New Roman" panose="02020603050405020304" pitchFamily="18" charset="0"/>
                  </a:rPr>
                  <a:t>input alphabet</a:t>
                </a:r>
                <a:r>
                  <a:rPr lang="en-AU" altLang="zh-CN" dirty="0"/>
                  <a:t>);</a:t>
                </a:r>
              </a:p>
              <a:p>
                <a:pPr marL="0" indent="0">
                  <a:buNone/>
                </a:pPr>
                <a:r>
                  <a:rPr lang="en-AU" dirty="0"/>
                  <a:t>(3)</a:t>
                </a:r>
                <a14:m>
                  <m:oMath xmlns:m="http://schemas.openxmlformats.org/officeDocument/2006/math">
                    <m:r>
                      <m:rPr>
                        <m:sty m:val="p"/>
                      </m:rPr>
                      <a:rPr lang="pl-PL" i="0" dirty="0" smtClean="0">
                        <a:latin typeface="Cambria Math" panose="02040503050406030204" pitchFamily="18" charset="0"/>
                      </a:rPr>
                      <m:t>Γ</m:t>
                    </m:r>
                  </m:oMath>
                </a14:m>
                <a:r>
                  <a:rPr lang="en-AU" dirty="0"/>
                  <a:t>: </a:t>
                </a:r>
                <a:r>
                  <a:rPr lang="zh-CN" altLang="en-US" dirty="0"/>
                  <a:t>有穷栈符号集</a:t>
                </a:r>
                <a:r>
                  <a:rPr lang="en-AU" altLang="zh-CN" dirty="0"/>
                  <a:t>(</a:t>
                </a:r>
                <a:r>
                  <a:rPr lang="en-AU" altLang="zh-CN" dirty="0">
                    <a:latin typeface="Times New Roman" panose="02020603050405020304" pitchFamily="18" charset="0"/>
                    <a:cs typeface="Times New Roman" panose="02020603050405020304" pitchFamily="18" charset="0"/>
                  </a:rPr>
                  <a:t>stack alphabet</a:t>
                </a:r>
                <a:r>
                  <a:rPr lang="en-AU" altLang="zh-CN" dirty="0"/>
                  <a:t>);</a:t>
                </a:r>
              </a:p>
              <a:p>
                <a:pPr marL="0" indent="0">
                  <a:buNone/>
                </a:pPr>
                <a:r>
                  <a:rPr lang="en-AU" dirty="0"/>
                  <a:t>(4)</a:t>
                </a:r>
                <a14:m>
                  <m:oMath xmlns:m="http://schemas.openxmlformats.org/officeDocument/2006/math">
                    <m:r>
                      <a:rPr lang="pl-PL" i="1" dirty="0" smtClean="0">
                        <a:latin typeface="Cambria Math" panose="02040503050406030204" pitchFamily="18" charset="0"/>
                      </a:rPr>
                      <m:t>𝛿</m:t>
                    </m:r>
                    <m:r>
                      <a:rPr lang="en-AU" i="1" dirty="0" smtClean="0">
                        <a:latin typeface="Cambria Math" panose="02040503050406030204" pitchFamily="18" charset="0"/>
                      </a:rPr>
                      <m:t>:</m:t>
                    </m:r>
                    <m:r>
                      <a:rPr lang="en-AU" i="1" dirty="0" smtClean="0">
                        <a:latin typeface="Cambria Math" panose="02040503050406030204" pitchFamily="18" charset="0"/>
                      </a:rPr>
                      <m:t>𝑄</m:t>
                    </m:r>
                    <m:r>
                      <a:rPr lang="en-AU" i="1" dirty="0" smtClean="0">
                        <a:latin typeface="Cambria Math" panose="02040503050406030204" pitchFamily="18" charset="0"/>
                      </a:rPr>
                      <m:t>×</m:t>
                    </m:r>
                    <m:d>
                      <m:dPr>
                        <m:ctrlPr>
                          <a:rPr lang="en-AU" i="1" dirty="0" smtClean="0">
                            <a:latin typeface="Cambria Math" panose="02040503050406030204" pitchFamily="18" charset="0"/>
                          </a:rPr>
                        </m:ctrlPr>
                      </m:dPr>
                      <m:e>
                        <m:r>
                          <m:rPr>
                            <m:sty m:val="p"/>
                          </m:rPr>
                          <a:rPr lang="el-GR" i="0" dirty="0" smtClean="0">
                            <a:latin typeface="Cambria Math" panose="02040503050406030204" pitchFamily="18" charset="0"/>
                          </a:rPr>
                          <m:t>Σ</m:t>
                        </m:r>
                        <m:r>
                          <a:rPr lang="el-GR" i="1" dirty="0" smtClean="0">
                            <a:latin typeface="Cambria Math" panose="02040503050406030204" pitchFamily="18" charset="0"/>
                          </a:rPr>
                          <m:t>∪</m:t>
                        </m:r>
                        <m:d>
                          <m:dPr>
                            <m:begChr m:val="{"/>
                            <m:endChr m:val="}"/>
                            <m:ctrlPr>
                              <a:rPr lang="el-GR" i="1" dirty="0" smtClean="0">
                                <a:latin typeface="Cambria Math" panose="02040503050406030204" pitchFamily="18" charset="0"/>
                              </a:rPr>
                            </m:ctrlPr>
                          </m:dPr>
                          <m:e>
                            <m:r>
                              <a:rPr lang="el-GR" i="1" dirty="0" smtClean="0">
                                <a:latin typeface="Cambria Math" panose="02040503050406030204" pitchFamily="18" charset="0"/>
                              </a:rPr>
                              <m:t>𝜀</m:t>
                            </m:r>
                          </m:e>
                        </m:d>
                      </m:e>
                    </m:d>
                    <m:r>
                      <a:rPr lang="el-GR" i="1" dirty="0" smtClean="0">
                        <a:latin typeface="Cambria Math" panose="02040503050406030204" pitchFamily="18" charset="0"/>
                      </a:rPr>
                      <m:t>×</m:t>
                    </m:r>
                    <m:r>
                      <m:rPr>
                        <m:sty m:val="p"/>
                      </m:rPr>
                      <a:rPr lang="el-GR" i="0" dirty="0" smtClean="0">
                        <a:latin typeface="Cambria Math" panose="02040503050406030204" pitchFamily="18" charset="0"/>
                      </a:rPr>
                      <m:t>Γ</m:t>
                    </m:r>
                    <m:r>
                      <a:rPr lang="el-GR" i="1" dirty="0" smtClean="0">
                        <a:latin typeface="Cambria Math" panose="02040503050406030204" pitchFamily="18" charset="0"/>
                      </a:rPr>
                      <m:t>→ </m:t>
                    </m:r>
                    <m:sSup>
                      <m:sSupPr>
                        <m:ctrlPr>
                          <a:rPr lang="el-GR" i="1" dirty="0" smtClean="0">
                            <a:latin typeface="Cambria Math" panose="02040503050406030204" pitchFamily="18" charset="0"/>
                          </a:rPr>
                        </m:ctrlPr>
                      </m:sSupPr>
                      <m:e>
                        <m:r>
                          <a:rPr lang="en-AU" b="0" i="1" dirty="0" smtClean="0">
                            <a:latin typeface="Cambria Math" panose="02040503050406030204" pitchFamily="18" charset="0"/>
                          </a:rPr>
                          <m:t>2</m:t>
                        </m:r>
                      </m:e>
                      <m:sup>
                        <m:r>
                          <a:rPr lang="en-AU" b="0" i="1" dirty="0" smtClean="0">
                            <a:latin typeface="Cambria Math" panose="02040503050406030204" pitchFamily="18" charset="0"/>
                          </a:rPr>
                          <m:t>𝑄</m:t>
                        </m:r>
                        <m:r>
                          <a:rPr lang="en-AU" b="0" i="1" dirty="0" smtClean="0">
                            <a:latin typeface="Cambria Math" panose="02040503050406030204" pitchFamily="18" charset="0"/>
                            <a:ea typeface="Cambria Math" panose="02040503050406030204" pitchFamily="18" charset="0"/>
                          </a:rPr>
                          <m:t>×</m:t>
                        </m:r>
                        <m:sSup>
                          <m:sSupPr>
                            <m:ctrlPr>
                              <a:rPr lang="en-AU" b="0" i="1" dirty="0" smtClean="0">
                                <a:latin typeface="Cambria Math" panose="02040503050406030204" pitchFamily="18" charset="0"/>
                                <a:ea typeface="Cambria Math" panose="02040503050406030204" pitchFamily="18" charset="0"/>
                              </a:rPr>
                            </m:ctrlPr>
                          </m:sSupPr>
                          <m:e>
                            <m:r>
                              <m:rPr>
                                <m:sty m:val="p"/>
                              </m:rPr>
                              <a:rPr lang="el-GR" b="0" i="1" dirty="0" smtClean="0">
                                <a:latin typeface="Cambria Math" panose="02040503050406030204" pitchFamily="18" charset="0"/>
                                <a:ea typeface="Cambria Math" panose="02040503050406030204" pitchFamily="18" charset="0"/>
                              </a:rPr>
                              <m:t>Γ</m:t>
                            </m:r>
                          </m:e>
                          <m:sup>
                            <m:r>
                              <a:rPr lang="en-AU" b="0" i="1" dirty="0" smtClean="0">
                                <a:latin typeface="Cambria Math" panose="02040503050406030204" pitchFamily="18" charset="0"/>
                                <a:ea typeface="Cambria Math" panose="02040503050406030204" pitchFamily="18" charset="0"/>
                              </a:rPr>
                              <m:t>∗</m:t>
                            </m:r>
                          </m:sup>
                        </m:sSup>
                      </m:sup>
                    </m:sSup>
                  </m:oMath>
                </a14:m>
                <a:r>
                  <a:rPr lang="en-AU" altLang="zh-CN" dirty="0"/>
                  <a:t>:</a:t>
                </a:r>
                <a:r>
                  <a:rPr lang="zh-CN" altLang="en-US" dirty="0"/>
                  <a:t>状态转移函数</a:t>
                </a:r>
                <a:r>
                  <a:rPr lang="en-AU" altLang="zh-CN" dirty="0"/>
                  <a:t>;</a:t>
                </a:r>
              </a:p>
              <a:p>
                <a:pPr marL="0" indent="0">
                  <a:buNone/>
                </a:pPr>
                <a:r>
                  <a:rPr lang="en-AU" dirty="0"/>
                  <a:t>(5)</a:t>
                </a:r>
                <a14:m>
                  <m:oMath xmlns:m="http://schemas.openxmlformats.org/officeDocument/2006/math">
                    <m:sSub>
                      <m:sSubPr>
                        <m:ctrlPr>
                          <a:rPr lang="pl-PL"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𝑄</m:t>
                    </m:r>
                  </m:oMath>
                </a14:m>
                <a:r>
                  <a:rPr lang="zh-CN" altLang="en-US" dirty="0"/>
                  <a:t>：初始状态</a:t>
                </a:r>
                <a:r>
                  <a:rPr lang="en-AU" altLang="zh-CN" dirty="0"/>
                  <a:t>;</a:t>
                </a:r>
              </a:p>
              <a:p>
                <a:pPr marL="0" indent="0">
                  <a:buNone/>
                </a:pPr>
                <a:r>
                  <a:rPr lang="en-AU" dirty="0"/>
                  <a:t>(6)</a:t>
                </a:r>
                <a14:m>
                  <m:oMath xmlns:m="http://schemas.openxmlformats.org/officeDocument/2006/math">
                    <m:sSub>
                      <m:sSubPr>
                        <m:ctrlPr>
                          <a:rPr lang="pl-PL" i="1" dirty="0" smtClean="0">
                            <a:latin typeface="Cambria Math" panose="02040503050406030204" pitchFamily="18" charset="0"/>
                          </a:rPr>
                        </m:ctrlPr>
                      </m:sSubPr>
                      <m:e>
                        <m:r>
                          <a:rPr lang="en-AU" b="0" i="1" dirty="0" smtClean="0">
                            <a:latin typeface="Cambria Math" panose="02040503050406030204" pitchFamily="18" charset="0"/>
                          </a:rPr>
                          <m:t>𝑍</m:t>
                        </m:r>
                      </m:e>
                      <m:sub>
                        <m:r>
                          <a:rPr lang="en-AU" b="0" i="1" dirty="0" smtClean="0">
                            <a:latin typeface="Cambria Math" panose="02040503050406030204" pitchFamily="18" charset="0"/>
                          </a:rPr>
                          <m:t>0</m:t>
                        </m:r>
                      </m:sub>
                    </m:sSub>
                    <m:r>
                      <a:rPr lang="en-AU" b="0" i="1" dirty="0" smtClean="0">
                        <a:latin typeface="Cambria Math" panose="02040503050406030204" pitchFamily="18" charset="0"/>
                      </a:rPr>
                      <m:t>:</m:t>
                    </m:r>
                    <m:r>
                      <m:rPr>
                        <m:sty m:val="p"/>
                      </m:rPr>
                      <a:rPr lang="el-GR" dirty="0">
                        <a:latin typeface="Cambria Math" panose="02040503050406030204" pitchFamily="18" charset="0"/>
                      </a:rPr>
                      <m:t>Γ</m:t>
                    </m:r>
                    <m:r>
                      <a:rPr lang="en-AU" b="0" i="0" dirty="0" smtClean="0">
                        <a:latin typeface="Cambria Math" panose="02040503050406030204" pitchFamily="18" charset="0"/>
                      </a:rPr>
                      <m:t>−</m:t>
                    </m:r>
                    <m:r>
                      <m:rPr>
                        <m:sty m:val="p"/>
                      </m:rPr>
                      <a:rPr lang="pl-PL" dirty="0">
                        <a:latin typeface="Cambria Math" panose="02040503050406030204" pitchFamily="18" charset="0"/>
                      </a:rPr>
                      <m:t>Σ</m:t>
                    </m:r>
                  </m:oMath>
                </a14:m>
                <a:r>
                  <a:rPr lang="en-AU" altLang="zh-CN" dirty="0"/>
                  <a:t>:</a:t>
                </a:r>
                <a:r>
                  <a:rPr lang="zh-CN" altLang="en-US" dirty="0"/>
                  <a:t>初始栈底符号</a:t>
                </a:r>
                <a:r>
                  <a:rPr lang="en-AU" altLang="zh-CN" dirty="0"/>
                  <a:t>(</a:t>
                </a:r>
                <a:r>
                  <a:rPr lang="en-AU" altLang="zh-CN" dirty="0">
                    <a:latin typeface="Times New Roman" panose="02020603050405020304" pitchFamily="18" charset="0"/>
                    <a:cs typeface="Times New Roman" panose="02020603050405020304" pitchFamily="18" charset="0"/>
                  </a:rPr>
                  <a:t>start stack symbol </a:t>
                </a:r>
                <a:r>
                  <a:rPr lang="en-AU" altLang="zh-CN" dirty="0"/>
                  <a:t>);</a:t>
                </a:r>
              </a:p>
              <a:p>
                <a:pPr marL="0" indent="0">
                  <a:buNone/>
                </a:pPr>
                <a:r>
                  <a:rPr lang="en-AU" dirty="0"/>
                  <a:t>(7)</a:t>
                </a:r>
                <a14:m>
                  <m:oMath xmlns:m="http://schemas.openxmlformats.org/officeDocument/2006/math">
                    <m:r>
                      <a:rPr lang="pl-PL" i="1" dirty="0" smtClean="0">
                        <a:latin typeface="Cambria Math" panose="02040503050406030204" pitchFamily="18" charset="0"/>
                      </a:rPr>
                      <m:t>𝐹</m:t>
                    </m:r>
                    <m:r>
                      <a:rPr lang="pl-PL"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𝑄</m:t>
                    </m:r>
                  </m:oMath>
                </a14:m>
                <a:r>
                  <a:rPr lang="zh-CN" altLang="en-US" dirty="0"/>
                  <a:t>：接受状态集。</a:t>
                </a:r>
                <a:endParaRPr lang="en-AU" altLang="zh-CN" dirty="0"/>
              </a:p>
              <a:p>
                <a:pPr marL="0" indent="0">
                  <a:buNone/>
                </a:pPr>
                <a:endParaRPr lang="en-AU" altLang="zh-CN" dirty="0"/>
              </a:p>
              <a:p>
                <a:pPr marL="0" indent="0">
                  <a:buNone/>
                </a:pPr>
                <a:endParaRPr lang="en-AU" altLang="zh-CN" dirty="0"/>
              </a:p>
              <a:p>
                <a:pPr marL="0" indent="0">
                  <a:buNone/>
                </a:pPr>
                <a:endParaRPr lang="en-AU" altLang="zh-CN" dirty="0"/>
              </a:p>
              <a:p>
                <a:pPr marL="0" indent="0">
                  <a:buNone/>
                </a:pP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596900" y="1041400"/>
                <a:ext cx="8229600" cy="4525963"/>
              </a:xfrm>
              <a:blipFill rotWithShape="1">
                <a:blip r:embed="rId3"/>
                <a:stretch>
                  <a:fillRect b="-3062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a:t>
            </a:fld>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符号使用一般约定</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187926"/>
                <a:ext cx="8229600" cy="4525963"/>
              </a:xfrm>
            </p:spPr>
            <p:txBody>
              <a:bodyPr>
                <a:normAutofit lnSpcReduction="10000"/>
              </a:bodyPr>
              <a:lstStyle/>
              <a:p>
                <a14:m>
                  <m:oMath xmlns:m="http://schemas.openxmlformats.org/officeDocument/2006/math">
                    <m:r>
                      <a:rPr lang="en-AU" b="0" i="1" smtClean="0">
                        <a:latin typeface="Cambria Math" panose="02040503050406030204" pitchFamily="18" charset="0"/>
                      </a:rPr>
                      <m:t>𝑎</m:t>
                    </m:r>
                    <m:r>
                      <a:rPr lang="en-AU" b="0" i="1" smtClean="0">
                        <a:latin typeface="Cambria Math" panose="02040503050406030204" pitchFamily="18" charset="0"/>
                      </a:rPr>
                      <m:t>,</m:t>
                    </m:r>
                    <m:r>
                      <a:rPr lang="en-AU" b="0" i="1" smtClean="0">
                        <a:latin typeface="Cambria Math" panose="02040503050406030204" pitchFamily="18" charset="0"/>
                      </a:rPr>
                      <m:t>𝑏</m:t>
                    </m:r>
                    <m:r>
                      <a:rPr lang="en-AU" b="0" i="1" smtClean="0">
                        <a:latin typeface="Cambria Math" panose="02040503050406030204" pitchFamily="18" charset="0"/>
                      </a:rPr>
                      <m:t>,…</m:t>
                    </m:r>
                    <m:r>
                      <a:rPr lang="zh-CN" altLang="en-US" i="1">
                        <a:latin typeface="Cambria Math" panose="02040503050406030204" pitchFamily="18" charset="0"/>
                      </a:rPr>
                      <m:t>为</m:t>
                    </m:r>
                  </m:oMath>
                </a14:m>
                <a:r>
                  <a:rPr lang="zh-CN" altLang="en-US" dirty="0"/>
                  <a:t>输入带上的符号</a:t>
                </a:r>
                <a:r>
                  <a:rPr lang="en-AU" altLang="zh-CN" dirty="0"/>
                  <a:t>(</a:t>
                </a:r>
                <a:r>
                  <a:rPr lang="en-AU" altLang="zh-CN" dirty="0">
                    <a:latin typeface="Times New Roman" panose="02020603050405020304" pitchFamily="18" charset="0"/>
                    <a:cs typeface="Times New Roman" panose="02020603050405020304" pitchFamily="18" charset="0"/>
                  </a:rPr>
                  <a:t>input symbols</a:t>
                </a:r>
                <a:r>
                  <a:rPr lang="en-AU" altLang="zh-CN" dirty="0"/>
                  <a:t>)</a:t>
                </a:r>
              </a:p>
              <a:p>
                <a:pPr lvl="1"/>
                <a:r>
                  <a:rPr lang="zh-CN" altLang="en-US" dirty="0"/>
                  <a:t>注意还有</a:t>
                </a:r>
                <a14:m>
                  <m:oMath xmlns:m="http://schemas.openxmlformats.org/officeDocument/2006/math">
                    <m:r>
                      <a:rPr lang="zh-CN" altLang="en-US" i="1" smtClean="0">
                        <a:latin typeface="Cambria Math" panose="02040503050406030204" pitchFamily="18" charset="0"/>
                      </a:rPr>
                      <m:t>𝜀</m:t>
                    </m:r>
                  </m:oMath>
                </a14:m>
                <a:endParaRPr lang="en-AU" altLang="zh-CN" dirty="0"/>
              </a:p>
              <a:p>
                <a:pPr lvl="1"/>
                <a:endParaRPr lang="en-AU" dirty="0"/>
              </a:p>
              <a:p>
                <a14:m>
                  <m:oMath xmlns:m="http://schemas.openxmlformats.org/officeDocument/2006/math">
                    <m:r>
                      <a:rPr lang="en-AU" b="0" i="1" smtClean="0">
                        <a:latin typeface="Cambria Math" panose="02040503050406030204" pitchFamily="18" charset="0"/>
                      </a:rPr>
                      <m:t>…,</m:t>
                    </m:r>
                    <m:r>
                      <a:rPr lang="en-AU" b="0" i="1" smtClean="0">
                        <a:latin typeface="Cambria Math" panose="02040503050406030204" pitchFamily="18" charset="0"/>
                      </a:rPr>
                      <m:t>𝑋</m:t>
                    </m:r>
                    <m:r>
                      <a:rPr lang="en-AU" b="0" i="1" smtClean="0">
                        <a:latin typeface="Cambria Math" panose="02040503050406030204" pitchFamily="18" charset="0"/>
                      </a:rPr>
                      <m:t>,</m:t>
                    </m:r>
                    <m:r>
                      <a:rPr lang="en-AU" b="0" i="1" smtClean="0">
                        <a:latin typeface="Cambria Math" panose="02040503050406030204" pitchFamily="18" charset="0"/>
                      </a:rPr>
                      <m:t>𝑌</m:t>
                    </m:r>
                    <m:r>
                      <a:rPr lang="en-AU" b="0" i="1" smtClean="0">
                        <a:latin typeface="Cambria Math" panose="02040503050406030204" pitchFamily="18" charset="0"/>
                      </a:rPr>
                      <m:t>,</m:t>
                    </m:r>
                    <m:r>
                      <a:rPr lang="en-AU" b="0" i="1" smtClean="0">
                        <a:latin typeface="Cambria Math" panose="02040503050406030204" pitchFamily="18" charset="0"/>
                      </a:rPr>
                      <m:t>𝑍</m:t>
                    </m:r>
                  </m:oMath>
                </a14:m>
                <a:r>
                  <a:rPr lang="zh-CN" altLang="en-US" dirty="0"/>
                  <a:t>为栈中的符号</a:t>
                </a:r>
                <a:r>
                  <a:rPr lang="en-AU" altLang="zh-CN" dirty="0"/>
                  <a:t>(</a:t>
                </a:r>
                <a:r>
                  <a:rPr lang="en-AU" altLang="zh-CN" dirty="0">
                    <a:latin typeface="Times New Roman" panose="02020603050405020304" pitchFamily="18" charset="0"/>
                    <a:cs typeface="Times New Roman" panose="02020603050405020304" pitchFamily="18" charset="0"/>
                  </a:rPr>
                  <a:t>stack symbols</a:t>
                </a:r>
                <a:r>
                  <a:rPr lang="en-AU" altLang="zh-CN" dirty="0"/>
                  <a:t>)</a:t>
                </a:r>
              </a:p>
              <a:p>
                <a:endParaRPr lang="en-AU" b="0" i="1" dirty="0">
                  <a:latin typeface="Cambria Math" panose="02040503050406030204" pitchFamily="18" charset="0"/>
                </a:endParaRPr>
              </a:p>
              <a:p>
                <a14:m>
                  <m:oMath xmlns:m="http://schemas.openxmlformats.org/officeDocument/2006/math">
                    <m:r>
                      <a:rPr lang="en-AU" b="0" i="1"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r>
                      <a:rPr lang="en-AU" b="0" i="1" smtClean="0">
                        <a:latin typeface="Cambria Math" panose="02040503050406030204" pitchFamily="18" charset="0"/>
                      </a:rPr>
                      <m:t>,</m:t>
                    </m:r>
                    <m:r>
                      <a:rPr lang="en-AU" b="0" i="1" smtClean="0">
                        <a:latin typeface="Cambria Math" panose="02040503050406030204" pitchFamily="18" charset="0"/>
                      </a:rPr>
                      <m:t>𝑧</m:t>
                    </m:r>
                  </m:oMath>
                </a14:m>
                <a:r>
                  <a:rPr lang="zh-CN" altLang="en-US" dirty="0"/>
                  <a:t>为输入的字符串</a:t>
                </a:r>
                <a:r>
                  <a:rPr lang="en-AU" altLang="zh-CN" dirty="0"/>
                  <a:t>(</a:t>
                </a:r>
                <a:r>
                  <a:rPr lang="en-AU" altLang="zh-CN" dirty="0">
                    <a:latin typeface="Times New Roman" panose="02020603050405020304" pitchFamily="18" charset="0"/>
                    <a:cs typeface="Times New Roman" panose="02020603050405020304" pitchFamily="18" charset="0"/>
                  </a:rPr>
                  <a:t>strings of input symbols</a:t>
                </a:r>
                <a:r>
                  <a:rPr lang="en-AU" altLang="zh-CN" dirty="0"/>
                  <a:t>)</a:t>
                </a:r>
              </a:p>
              <a:p>
                <a:endParaRPr lang="en-AU" b="0" i="1" dirty="0">
                  <a:latin typeface="Cambria Math" panose="02040503050406030204" pitchFamily="18" charset="0"/>
                </a:endParaRPr>
              </a:p>
              <a:p>
                <a14:m>
                  <m:oMath xmlns:m="http://schemas.openxmlformats.org/officeDocument/2006/math">
                    <m:r>
                      <a:rPr lang="en-AU" b="0" i="1" smtClean="0">
                        <a:latin typeface="Cambria Math" panose="02040503050406030204" pitchFamily="18" charset="0"/>
                        <a:ea typeface="Cambria Math" panose="02040503050406030204" pitchFamily="18" charset="0"/>
                      </a:rPr>
                      <m:t>𝛼</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rPr>
                      <m:t>,…</m:t>
                    </m:r>
                  </m:oMath>
                </a14:m>
                <a:r>
                  <a:rPr lang="zh-CN" altLang="en-US" dirty="0"/>
                  <a:t>为栈字符串</a:t>
                </a:r>
                <a:r>
                  <a:rPr lang="en-AU" altLang="zh-CN" dirty="0"/>
                  <a:t>(</a:t>
                </a:r>
                <a:r>
                  <a:rPr lang="en-AU" altLang="zh-CN" dirty="0">
                    <a:latin typeface="Times New Roman" panose="02020603050405020304" pitchFamily="18" charset="0"/>
                    <a:cs typeface="Times New Roman" panose="02020603050405020304" pitchFamily="18" charset="0"/>
                  </a:rPr>
                  <a:t>strings of stack symbols</a:t>
                </a:r>
                <a:r>
                  <a:rPr lang="en-AU" altLang="zh-CN" dirty="0"/>
                  <a:t>)</a:t>
                </a:r>
                <a:endParaRPr lang="en-AU"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187926"/>
                <a:ext cx="8229600" cy="4525963"/>
              </a:xfrm>
              <a:blipFill rotWithShape="1">
                <a:blip r:embed="rId2"/>
                <a:stretch>
                  <a:fillRect t="-11" b="-1105"/>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a:t>
            </a:fld>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rPr>
              <a:t>状态转移函数和</a:t>
            </a:r>
            <a:r>
              <a:rPr lang="en-AU"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的动作</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36983" y="1041488"/>
                <a:ext cx="5410200" cy="4525963"/>
              </a:xfrm>
            </p:spPr>
            <p:txBody>
              <a:bodyPr>
                <a:noAutofit/>
              </a:bodyPr>
              <a:lstStyle/>
              <a:p>
                <a:r>
                  <a:rPr lang="zh-CN" altLang="en-US" sz="2400" dirty="0">
                    <a:latin typeface="Times New Roman" panose="02020603050405020304" pitchFamily="18" charset="0"/>
                    <a:cs typeface="Times New Roman" panose="02020603050405020304" pitchFamily="18" charset="0"/>
                  </a:rPr>
                  <a:t>三个输入参数</a:t>
                </a:r>
                <a:r>
                  <a:rPr lang="en-AU" altLang="zh-CN" sz="2400" dirty="0">
                    <a:latin typeface="Times New Roman" panose="02020603050405020304" pitchFamily="18" charset="0"/>
                    <a:cs typeface="Times New Roman" panose="02020603050405020304" pitchFamily="18" charset="0"/>
                    <a:sym typeface="Wingdings" panose="05000000000000000000" pitchFamily="2" charset="2"/>
                  </a:rPr>
                  <a:t>:</a:t>
                </a:r>
              </a:p>
              <a:p>
                <a:pPr marL="0" indent="0">
                  <a:buNone/>
                </a:pPr>
                <a:r>
                  <a:rPr lang="en-AU" altLang="zh-CN" sz="2400" dirty="0">
                    <a:latin typeface="Times New Roman" panose="02020603050405020304" pitchFamily="18" charset="0"/>
                    <a:cs typeface="Times New Roman" panose="02020603050405020304" pitchFamily="18" charset="0"/>
                    <a:sym typeface="Wingdings" panose="05000000000000000000" pitchFamily="2" charset="2"/>
                  </a:rPr>
                  <a:t>(1) </a:t>
                </a:r>
                <a:r>
                  <a:rPr lang="zh-CN" altLang="en-US" sz="2400" dirty="0">
                    <a:latin typeface="Times New Roman" panose="02020603050405020304" pitchFamily="18" charset="0"/>
                    <a:cs typeface="Times New Roman" panose="02020603050405020304" pitchFamily="18" charset="0"/>
                  </a:rPr>
                  <a:t>某个状态</a:t>
                </a:r>
                <a14:m>
                  <m:oMath xmlns:m="http://schemas.openxmlformats.org/officeDocument/2006/math">
                    <m:r>
                      <a:rPr lang="en-AU" altLang="zh-CN" sz="2400" b="0" i="1" smtClean="0">
                        <a:latin typeface="Cambria Math" panose="02040503050406030204" pitchFamily="18" charset="0"/>
                      </a:rPr>
                      <m:t>𝑞</m:t>
                    </m:r>
                    <m:r>
                      <a:rPr lang="en-AU" altLang="zh-CN" sz="2400" i="1" dirty="0">
                        <a:latin typeface="Cambria Math" panose="02040503050406030204" pitchFamily="18" charset="0"/>
                        <a:ea typeface="Cambria Math" panose="02040503050406030204" pitchFamily="18" charset="0"/>
                      </a:rPr>
                      <m:t>∈</m:t>
                    </m:r>
                    <m:r>
                      <a:rPr lang="en-AU" altLang="zh-CN" sz="2400" b="0" i="1" dirty="0" smtClean="0">
                        <a:latin typeface="Cambria Math" panose="02040503050406030204" pitchFamily="18" charset="0"/>
                        <a:ea typeface="Cambria Math" panose="02040503050406030204" pitchFamily="18" charset="0"/>
                      </a:rPr>
                      <m:t>𝑄</m:t>
                    </m:r>
                  </m:oMath>
                </a14:m>
                <a:r>
                  <a:rPr lang="en-AU" altLang="zh-CN" sz="2400" dirty="0">
                    <a:latin typeface="Times New Roman" panose="02020603050405020304" pitchFamily="18" charset="0"/>
                    <a:cs typeface="Times New Roman" panose="02020603050405020304" pitchFamily="18" charset="0"/>
                  </a:rPr>
                  <a:t>;</a:t>
                </a:r>
              </a:p>
              <a:p>
                <a:pPr marL="0" indent="0">
                  <a:buNone/>
                </a:pPr>
                <a:r>
                  <a:rPr lang="en-AU"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输入的符号</a:t>
                </a:r>
                <a14:m>
                  <m:oMath xmlns:m="http://schemas.openxmlformats.org/officeDocument/2006/math">
                    <m:r>
                      <a:rPr lang="en-AU" altLang="zh-CN" sz="2400" b="0" i="1" smtClean="0">
                        <a:latin typeface="Cambria Math" panose="02040503050406030204" pitchFamily="18" charset="0"/>
                      </a:rPr>
                      <m:t>𝑎</m:t>
                    </m:r>
                  </m:oMath>
                </a14:m>
                <a:r>
                  <a:rPr lang="en-AU" altLang="zh-CN" sz="2400" dirty="0">
                    <a:latin typeface="Times New Roman" panose="02020603050405020304" pitchFamily="18" charset="0"/>
                    <a:cs typeface="Times New Roman" panose="02020603050405020304" pitchFamily="18" charset="0"/>
                  </a:rPr>
                  <a:t>(</a:t>
                </a:r>
                <a14:m>
                  <m:oMath xmlns:m="http://schemas.openxmlformats.org/officeDocument/2006/math">
                    <m:r>
                      <a:rPr lang="en-AU" altLang="zh-CN" sz="2400" b="0" i="1" dirty="0" smtClean="0">
                        <a:latin typeface="Cambria Math" panose="02040503050406030204" pitchFamily="18" charset="0"/>
                      </a:rPr>
                      <m:t>𝑎</m:t>
                    </m:r>
                    <m:r>
                      <a:rPr lang="en-AU" altLang="zh-CN" sz="2400" b="0" i="1" dirty="0" smtClean="0">
                        <a:latin typeface="Cambria Math" panose="02040503050406030204" pitchFamily="18" charset="0"/>
                        <a:ea typeface="Cambria Math" panose="02040503050406030204" pitchFamily="18" charset="0"/>
                      </a:rPr>
                      <m:t>∈</m:t>
                    </m:r>
                    <m:r>
                      <m:rPr>
                        <m:sty m:val="p"/>
                      </m:rPr>
                      <a:rPr lang="el-GR" altLang="zh-CN" sz="2400" b="0" i="1" dirty="0" smtClean="0">
                        <a:latin typeface="Cambria Math" panose="02040503050406030204" pitchFamily="18" charset="0"/>
                        <a:ea typeface="Cambria Math" panose="02040503050406030204" pitchFamily="18" charset="0"/>
                      </a:rPr>
                      <m:t>Σ</m:t>
                    </m:r>
                  </m:oMath>
                </a14:m>
                <a:r>
                  <a:rPr lang="zh-CN" altLang="en-US" sz="2400" dirty="0">
                    <a:latin typeface="Times New Roman" panose="02020603050405020304" pitchFamily="18" charset="0"/>
                    <a:cs typeface="Times New Roman" panose="02020603050405020304" pitchFamily="18" charset="0"/>
                  </a:rPr>
                  <a:t>或</a:t>
                </a:r>
                <a14:m>
                  <m:oMath xmlns:m="http://schemas.openxmlformats.org/officeDocument/2006/math">
                    <m:r>
                      <a:rPr lang="en-AU" altLang="zh-CN" sz="2400" b="0" i="1" dirty="0" smtClean="0">
                        <a:latin typeface="Cambria Math" panose="02040503050406030204" pitchFamily="18" charset="0"/>
                      </a:rPr>
                      <m:t>𝑎</m:t>
                    </m:r>
                    <m:r>
                      <a:rPr lang="en-AU" altLang="zh-CN" sz="2400" b="0" i="1" dirty="0" smtClean="0">
                        <a:latin typeface="Cambria Math" panose="02040503050406030204" pitchFamily="18" charset="0"/>
                      </a:rPr>
                      <m:t>=</m:t>
                    </m:r>
                    <m:r>
                      <a:rPr lang="zh-CN" altLang="en-AU" sz="2400" b="0" i="1" dirty="0" smtClean="0">
                        <a:latin typeface="Cambria Math" panose="02040503050406030204" pitchFamily="18" charset="0"/>
                      </a:rPr>
                      <m:t>𝜀</m:t>
                    </m:r>
                  </m:oMath>
                </a14:m>
                <a:r>
                  <a:rPr lang="en-AU" altLang="zh-CN" sz="2400" dirty="0">
                    <a:latin typeface="Times New Roman" panose="02020603050405020304" pitchFamily="18" charset="0"/>
                    <a:cs typeface="Times New Roman" panose="02020603050405020304" pitchFamily="18" charset="0"/>
                  </a:rPr>
                  <a:t>); </a:t>
                </a:r>
              </a:p>
              <a:p>
                <a:pPr marL="0" indent="0">
                  <a:buNone/>
                </a:pPr>
                <a:r>
                  <a:rPr lang="en-AU"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栈顶符号</a:t>
                </a:r>
                <a14:m>
                  <m:oMath xmlns:m="http://schemas.openxmlformats.org/officeDocument/2006/math">
                    <m:r>
                      <m:rPr>
                        <m:sty m:val="p"/>
                      </m:rPr>
                      <a:rPr lang="en-AU" altLang="zh-CN" sz="2400" dirty="0">
                        <a:latin typeface="Cambria Math" panose="02040503050406030204" pitchFamily="18" charset="0"/>
                        <a:ea typeface="Cambria Math" panose="02040503050406030204" pitchFamily="18" charset="0"/>
                      </a:rPr>
                      <m:t>X</m:t>
                    </m:r>
                    <m:r>
                      <a:rPr lang="en-AU" altLang="zh-CN" sz="2400" i="1" dirty="0">
                        <a:latin typeface="Cambria Math" panose="02040503050406030204" pitchFamily="18" charset="0"/>
                        <a:ea typeface="Cambria Math" panose="02040503050406030204" pitchFamily="18" charset="0"/>
                      </a:rPr>
                      <m:t>∈</m:t>
                    </m:r>
                    <m:r>
                      <m:rPr>
                        <m:sty m:val="p"/>
                      </m:rPr>
                      <a:rPr lang="el-GR" altLang="zh-CN" sz="2400" i="1" dirty="0" smtClean="0">
                        <a:latin typeface="Cambria Math" panose="02040503050406030204" pitchFamily="18" charset="0"/>
                        <a:ea typeface="Cambria Math" panose="02040503050406030204" pitchFamily="18" charset="0"/>
                      </a:rPr>
                      <m:t>Γ</m:t>
                    </m:r>
                  </m:oMath>
                </a14:m>
                <a:r>
                  <a:rPr lang="zh-CN" altLang="en-US" sz="2400" dirty="0">
                    <a:latin typeface="Times New Roman" panose="02020603050405020304" pitchFamily="18" charset="0"/>
                    <a:ea typeface="Cambria Math" panose="02040503050406030204" pitchFamily="18" charset="0"/>
                    <a:cs typeface="Times New Roman" panose="02020603050405020304" pitchFamily="18" charset="0"/>
                  </a:rPr>
                  <a:t>。</a:t>
                </a:r>
                <a:endParaRPr lang="en-AU" altLang="zh-CN" sz="2400" dirty="0">
                  <a:latin typeface="Times New Roman" panose="02020603050405020304" pitchFamily="18" charset="0"/>
                  <a:ea typeface="Cambria Math" panose="02040503050406030204" pitchFamily="18" charset="0"/>
                  <a:cs typeface="Times New Roman" panose="02020603050405020304" pitchFamily="18" charset="0"/>
                </a:endParaRPr>
              </a:p>
              <a:p>
                <a14:m>
                  <m:oMath xmlns:m="http://schemas.openxmlformats.org/officeDocument/2006/math">
                    <m:r>
                      <a:rPr lang="el-GR" sz="2400" i="1" dirty="0" smtClean="0">
                        <a:latin typeface="Cambria Math" panose="02040503050406030204" pitchFamily="18" charset="0"/>
                      </a:rPr>
                      <m:t>𝛿</m:t>
                    </m:r>
                    <m:r>
                      <a:rPr lang="el-GR"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m:t>
                    </m:r>
                    <m:r>
                      <a:rPr lang="en-AU" sz="2400" b="0" i="1" dirty="0" smtClean="0">
                        <a:latin typeface="Cambria Math" panose="02040503050406030204" pitchFamily="18" charset="0"/>
                      </a:rPr>
                      <m:t>𝑋</m:t>
                    </m:r>
                    <m:r>
                      <a:rPr lang="en-AU" sz="2400" i="1" dirty="0" smtClean="0">
                        <a:latin typeface="Cambria Math" panose="02040503050406030204" pitchFamily="18" charset="0"/>
                      </a:rPr>
                      <m:t>) = {(</m:t>
                    </m:r>
                    <m:r>
                      <a:rPr lang="en-AU" sz="2400" b="0" i="1" dirty="0" smtClean="0">
                        <a:latin typeface="Cambria Math" panose="02040503050406030204" pitchFamily="18" charset="0"/>
                      </a:rPr>
                      <m:t>𝑝</m:t>
                    </m:r>
                    <m:r>
                      <a:rPr lang="en-AU" sz="2400" i="1" dirty="0" smtClean="0">
                        <a:latin typeface="Cambria Math" panose="02040503050406030204" pitchFamily="18" charset="0"/>
                      </a:rPr>
                      <m:t>,</m:t>
                    </m:r>
                    <m:r>
                      <a:rPr lang="en-AU" sz="2400" b="0" i="1" dirty="0" smtClean="0">
                        <a:latin typeface="Cambria Math" panose="02040503050406030204" pitchFamily="18" charset="0"/>
                      </a:rPr>
                      <m:t>𝑌</m:t>
                    </m:r>
                    <m:r>
                      <a:rPr lang="el-GR" sz="2400" i="1" dirty="0" smtClean="0">
                        <a:latin typeface="Cambria Math" panose="02040503050406030204" pitchFamily="18" charset="0"/>
                      </a:rPr>
                      <m:t>),· · · </m:t>
                    </m:r>
                    <m:r>
                      <a:rPr lang="en-AU" sz="2400" i="1" dirty="0" smtClean="0">
                        <a:latin typeface="Cambria Math" panose="02040503050406030204" pitchFamily="18" charset="0"/>
                      </a:rPr>
                      <m:t>}</m:t>
                    </m:r>
                  </m:oMath>
                </a14:m>
                <a:endParaRPr lang="en-AU" altLang="zh-CN" sz="2400" dirty="0">
                  <a:latin typeface="Times New Roman" panose="02020603050405020304" pitchFamily="18" charset="0"/>
                  <a:ea typeface="Cambria Math" panose="02040503050406030204" pitchFamily="18" charset="0"/>
                  <a:cs typeface="Times New Roman" panose="02020603050405020304" pitchFamily="18" charset="0"/>
                </a:endParaRPr>
              </a:p>
              <a:p>
                <a:pPr marL="457200" lvl="1" indent="0">
                  <a:buNone/>
                </a:pPr>
                <a:r>
                  <a:rPr lang="en-AU" altLang="zh-CN" sz="2400" dirty="0">
                    <a:latin typeface="Times New Roman" panose="02020603050405020304" pitchFamily="18" charset="0"/>
                    <a:ea typeface="Cambria Math" panose="020405030504060302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根据</a:t>
                </a:r>
                <a14:m>
                  <m:oMath xmlns:m="http://schemas.openxmlformats.org/officeDocument/2006/math">
                    <m:r>
                      <a:rPr lang="en-AU" altLang="zh-CN" sz="2400" b="0" i="1" smtClean="0">
                        <a:latin typeface="Cambria Math" panose="02040503050406030204" pitchFamily="18" charset="0"/>
                        <a:ea typeface="Cambria Math" panose="02040503050406030204" pitchFamily="18" charset="0"/>
                      </a:rPr>
                      <m:t>𝑎</m:t>
                    </m:r>
                  </m:oMath>
                </a14:m>
                <a:r>
                  <a:rPr lang="zh-CN" altLang="en-US" sz="2400" dirty="0">
                    <a:latin typeface="Times New Roman" panose="02020603050405020304" pitchFamily="18" charset="0"/>
                    <a:cs typeface="Times New Roman" panose="02020603050405020304" pitchFamily="18" charset="0"/>
                  </a:rPr>
                  <a:t>和</a:t>
                </a:r>
                <a14:m>
                  <m:oMath xmlns:m="http://schemas.openxmlformats.org/officeDocument/2006/math">
                    <m:r>
                      <a:rPr lang="en-AU" altLang="zh-CN" sz="2400" b="0" i="1" smtClean="0">
                        <a:latin typeface="Cambria Math" panose="02040503050406030204" pitchFamily="18" charset="0"/>
                        <a:ea typeface="Cambria Math" panose="02040503050406030204" pitchFamily="18" charset="0"/>
                      </a:rPr>
                      <m:t>𝑋</m:t>
                    </m:r>
                  </m:oMath>
                </a14:m>
                <a:r>
                  <a:rPr lang="en-AU"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将当前状态由</a:t>
                </a:r>
                <a14:m>
                  <m:oMath xmlns:m="http://schemas.openxmlformats.org/officeDocument/2006/math">
                    <m:r>
                      <a:rPr lang="en-AU" altLang="zh-CN" sz="2400" b="0" i="1" smtClean="0">
                        <a:latin typeface="Cambria Math" panose="02040503050406030204" pitchFamily="18" charset="0"/>
                        <a:ea typeface="Cambria Math" panose="02040503050406030204" pitchFamily="18" charset="0"/>
                      </a:rPr>
                      <m:t>𝑞</m:t>
                    </m:r>
                  </m:oMath>
                </a14:m>
                <a:r>
                  <a:rPr lang="zh-CN" altLang="en-US" sz="2400" dirty="0">
                    <a:latin typeface="Times New Roman" panose="02020603050405020304" pitchFamily="18" charset="0"/>
                    <a:cs typeface="Times New Roman" panose="02020603050405020304" pitchFamily="18" charset="0"/>
                  </a:rPr>
                  <a:t>转移到</a:t>
                </a:r>
                <a14:m>
                  <m:oMath xmlns:m="http://schemas.openxmlformats.org/officeDocument/2006/math">
                    <m:r>
                      <a:rPr lang="en-AU" altLang="zh-CN" sz="2400" b="0" i="1" smtClean="0">
                        <a:latin typeface="Cambria Math" panose="02040503050406030204" pitchFamily="18" charset="0"/>
                        <a:ea typeface="Cambria Math" panose="02040503050406030204" pitchFamily="18" charset="0"/>
                      </a:rPr>
                      <m:t>𝑝</m:t>
                    </m:r>
                  </m:oMath>
                </a14:m>
                <a:endParaRPr lang="en-AU" altLang="zh-CN" sz="2400" dirty="0">
                  <a:latin typeface="Times New Roman" panose="02020603050405020304" pitchFamily="18" charset="0"/>
                  <a:cs typeface="Times New Roman" panose="02020603050405020304" pitchFamily="18" charset="0"/>
                </a:endParaRPr>
              </a:p>
              <a:p>
                <a:pPr marL="457200" lvl="1" indent="0">
                  <a:buNone/>
                </a:pPr>
                <a:r>
                  <a:rPr lang="en-AU"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用</a:t>
                </a:r>
                <a14:m>
                  <m:oMath xmlns:m="http://schemas.openxmlformats.org/officeDocument/2006/math">
                    <m:r>
                      <a:rPr lang="en-AU" altLang="zh-CN" sz="2400" i="1" dirty="0" smtClean="0">
                        <a:latin typeface="Cambria Math" panose="02040503050406030204" pitchFamily="18" charset="0"/>
                        <a:ea typeface="Cambria Math" panose="02040503050406030204" pitchFamily="18" charset="0"/>
                      </a:rPr>
                      <m:t>𝑌</m:t>
                    </m:r>
                  </m:oMath>
                </a14:m>
                <a:r>
                  <a:rPr lang="zh-CN" altLang="en-US" sz="2400" dirty="0">
                    <a:latin typeface="Times New Roman" panose="02020603050405020304" pitchFamily="18" charset="0"/>
                    <a:cs typeface="Times New Roman" panose="02020603050405020304" pitchFamily="18" charset="0"/>
                  </a:rPr>
                  <a:t>替代栈顶的</a:t>
                </a:r>
                <a14:m>
                  <m:oMath xmlns:m="http://schemas.openxmlformats.org/officeDocument/2006/math">
                    <m:r>
                      <a:rPr lang="en-AU" altLang="zh-CN" sz="2400" b="0" i="1" smtClean="0">
                        <a:latin typeface="Cambria Math" panose="02040503050406030204" pitchFamily="18" charset="0"/>
                        <a:ea typeface="Cambria Math" panose="02040503050406030204" pitchFamily="18" charset="0"/>
                      </a:rPr>
                      <m:t>𝑋</m:t>
                    </m:r>
                  </m:oMath>
                </a14:m>
                <a:endParaRPr lang="en-AU" altLang="zh-CN" sz="2400" dirty="0">
                  <a:latin typeface="Times New Roman" panose="02020603050405020304" pitchFamily="18" charset="0"/>
                  <a:cs typeface="Times New Roman" panose="02020603050405020304" pitchFamily="18" charset="0"/>
                </a:endParaRPr>
              </a:p>
              <a:p>
                <a:pPr lvl="2"/>
                <a:r>
                  <a:rPr lang="zh-CN" altLang="en-US" sz="2000" dirty="0">
                    <a:latin typeface="Times New Roman" panose="02020603050405020304" pitchFamily="18" charset="0"/>
                    <a:cs typeface="Times New Roman" panose="02020603050405020304" pitchFamily="18" charset="0"/>
                  </a:rPr>
                  <a:t>若</a:t>
                </a:r>
                <a14:m>
                  <m:oMath xmlns:m="http://schemas.openxmlformats.org/officeDocument/2006/math">
                    <m:r>
                      <a:rPr lang="en-AU" altLang="zh-CN" sz="2000" i="1" dirty="0" smtClean="0">
                        <a:latin typeface="Cambria Math" panose="02040503050406030204" pitchFamily="18" charset="0"/>
                        <a:ea typeface="Cambria Math" panose="02040503050406030204" pitchFamily="18" charset="0"/>
                      </a:rPr>
                      <m:t>𝑌</m:t>
                    </m:r>
                    <m:r>
                      <a:rPr lang="en-AU" altLang="zh-CN" sz="2000" b="0" i="1" dirty="0" smtClean="0">
                        <a:latin typeface="Cambria Math" panose="02040503050406030204" pitchFamily="18" charset="0"/>
                        <a:ea typeface="Cambria Math" panose="02040503050406030204" pitchFamily="18" charset="0"/>
                      </a:rPr>
                      <m:t>=</m:t>
                    </m:r>
                    <m:r>
                      <a:rPr lang="zh-CN" altLang="en-AU" sz="2000" b="0" i="1" dirty="0" smtClean="0">
                        <a:latin typeface="Cambria Math" panose="02040503050406030204" pitchFamily="18" charset="0"/>
                        <a:ea typeface="Cambria Math" panose="02040503050406030204" pitchFamily="18" charset="0"/>
                      </a:rPr>
                      <m:t>𝜀</m:t>
                    </m:r>
                  </m:oMath>
                </a14:m>
                <a:r>
                  <a:rPr lang="zh-CN" altLang="en-US" sz="2000" dirty="0">
                    <a:latin typeface="Times New Roman" panose="02020603050405020304" pitchFamily="18" charset="0"/>
                    <a:cs typeface="Times New Roman" panose="02020603050405020304" pitchFamily="18" charset="0"/>
                  </a:rPr>
                  <a:t>，则弹出</a:t>
                </a:r>
                <a14:m>
                  <m:oMath xmlns:m="http://schemas.openxmlformats.org/officeDocument/2006/math">
                    <m:r>
                      <a:rPr lang="en-AU" altLang="zh-CN" sz="2000" i="1">
                        <a:latin typeface="Cambria Math" panose="02040503050406030204" pitchFamily="18" charset="0"/>
                        <a:ea typeface="Cambria Math" panose="02040503050406030204" pitchFamily="18" charset="0"/>
                      </a:rPr>
                      <m:t>𝑋</m:t>
                    </m:r>
                  </m:oMath>
                </a14:m>
                <a:endParaRPr lang="en-AU" altLang="zh-CN" sz="2000" dirty="0">
                  <a:latin typeface="Times New Roman" panose="02020603050405020304" pitchFamily="18" charset="0"/>
                  <a:cs typeface="Times New Roman" panose="02020603050405020304" pitchFamily="18" charset="0"/>
                </a:endParaRPr>
              </a:p>
              <a:p>
                <a:pPr lvl="2"/>
                <a:r>
                  <a:rPr lang="zh-CN" altLang="en-US" sz="2000" dirty="0">
                    <a:latin typeface="Times New Roman" panose="02020603050405020304" pitchFamily="18" charset="0"/>
                    <a:cs typeface="Times New Roman" panose="02020603050405020304" pitchFamily="18" charset="0"/>
                  </a:rPr>
                  <a:t>若</a:t>
                </a:r>
                <a14:m>
                  <m:oMath xmlns:m="http://schemas.openxmlformats.org/officeDocument/2006/math">
                    <m:r>
                      <a:rPr lang="en-AU" altLang="zh-CN" sz="2000" i="1" dirty="0" smtClean="0">
                        <a:latin typeface="Cambria Math" panose="02040503050406030204" pitchFamily="18" charset="0"/>
                        <a:ea typeface="Cambria Math" panose="02040503050406030204" pitchFamily="18" charset="0"/>
                      </a:rPr>
                      <m:t>𝑌</m:t>
                    </m:r>
                    <m:r>
                      <a:rPr lang="en-AU" altLang="zh-CN" sz="2000" b="0" i="1" dirty="0" smtClean="0">
                        <a:latin typeface="Cambria Math" panose="02040503050406030204" pitchFamily="18" charset="0"/>
                        <a:ea typeface="Cambria Math" panose="02040503050406030204" pitchFamily="18" charset="0"/>
                      </a:rPr>
                      <m:t>=</m:t>
                    </m:r>
                    <m:r>
                      <a:rPr lang="en-AU" altLang="zh-CN" sz="2000" b="0" i="1" dirty="0" smtClean="0">
                        <a:latin typeface="Cambria Math" panose="02040503050406030204" pitchFamily="18" charset="0"/>
                        <a:ea typeface="Cambria Math" panose="02040503050406030204" pitchFamily="18" charset="0"/>
                      </a:rPr>
                      <m:t>𝑋</m:t>
                    </m:r>
                  </m:oMath>
                </a14:m>
                <a:r>
                  <a:rPr lang="zh-CN" altLang="en-US" sz="2000" dirty="0">
                    <a:latin typeface="Times New Roman" panose="02020603050405020304" pitchFamily="18" charset="0"/>
                    <a:cs typeface="Times New Roman" panose="02020603050405020304" pitchFamily="18" charset="0"/>
                  </a:rPr>
                  <a:t>，栈顶符号仍为</a:t>
                </a:r>
                <a14:m>
                  <m:oMath xmlns:m="http://schemas.openxmlformats.org/officeDocument/2006/math">
                    <m:r>
                      <a:rPr lang="en-AU" altLang="zh-CN" sz="2000" i="1">
                        <a:latin typeface="Cambria Math" panose="02040503050406030204" pitchFamily="18" charset="0"/>
                        <a:ea typeface="Cambria Math" panose="02040503050406030204" pitchFamily="18" charset="0"/>
                      </a:rPr>
                      <m:t>𝑋</m:t>
                    </m:r>
                  </m:oMath>
                </a14:m>
                <a:endParaRPr lang="en-AU" altLang="zh-CN" sz="2000" dirty="0">
                  <a:latin typeface="Times New Roman" panose="02020603050405020304" pitchFamily="18" charset="0"/>
                  <a:cs typeface="Times New Roman" panose="02020603050405020304" pitchFamily="18" charset="0"/>
                </a:endParaRPr>
              </a:p>
              <a:p>
                <a:pPr lvl="2"/>
                <a:r>
                  <a:rPr lang="zh-CN" altLang="en-US" sz="2000" dirty="0">
                    <a:latin typeface="Times New Roman" panose="02020603050405020304" pitchFamily="18" charset="0"/>
                    <a:cs typeface="Times New Roman" panose="02020603050405020304" pitchFamily="18" charset="0"/>
                  </a:rPr>
                  <a:t>若</a:t>
                </a:r>
                <a14:m>
                  <m:oMath xmlns:m="http://schemas.openxmlformats.org/officeDocument/2006/math">
                    <m:r>
                      <a:rPr lang="en-AU" altLang="zh-CN" sz="2000" i="1" dirty="0" smtClean="0">
                        <a:latin typeface="Cambria Math" panose="02040503050406030204" pitchFamily="18" charset="0"/>
                        <a:ea typeface="Cambria Math" panose="02040503050406030204" pitchFamily="18" charset="0"/>
                      </a:rPr>
                      <m:t>𝑌</m:t>
                    </m:r>
                    <m:r>
                      <a:rPr lang="en-AU" altLang="zh-CN" sz="2000" b="0" i="1" dirty="0" smtClean="0">
                        <a:latin typeface="Cambria Math" panose="02040503050406030204" pitchFamily="18" charset="0"/>
                        <a:ea typeface="Cambria Math" panose="02040503050406030204" pitchFamily="18" charset="0"/>
                      </a:rPr>
                      <m:t>=</m:t>
                    </m:r>
                    <m:sSub>
                      <m:sSubPr>
                        <m:ctrlPr>
                          <a:rPr lang="en-AU" altLang="zh-CN" sz="2000" b="0" i="1" dirty="0" smtClean="0">
                            <a:latin typeface="Cambria Math" panose="02040503050406030204" pitchFamily="18" charset="0"/>
                            <a:ea typeface="Cambria Math" panose="02040503050406030204" pitchFamily="18" charset="0"/>
                          </a:rPr>
                        </m:ctrlPr>
                      </m:sSubPr>
                      <m:e>
                        <m:r>
                          <a:rPr lang="en-AU" altLang="zh-CN" sz="2000" b="0" i="1" dirty="0" smtClean="0">
                            <a:latin typeface="Cambria Math" panose="02040503050406030204" pitchFamily="18" charset="0"/>
                            <a:ea typeface="Cambria Math" panose="02040503050406030204" pitchFamily="18" charset="0"/>
                          </a:rPr>
                          <m:t>𝑍</m:t>
                        </m:r>
                      </m:e>
                      <m:sub>
                        <m:r>
                          <a:rPr lang="en-AU" altLang="zh-CN" sz="2000" b="0" i="1" dirty="0" smtClean="0">
                            <a:latin typeface="Cambria Math" panose="02040503050406030204" pitchFamily="18" charset="0"/>
                            <a:ea typeface="Cambria Math" panose="02040503050406030204" pitchFamily="18" charset="0"/>
                          </a:rPr>
                          <m:t>1</m:t>
                        </m:r>
                      </m:sub>
                    </m:sSub>
                    <m:sSub>
                      <m:sSubPr>
                        <m:ctrlPr>
                          <a:rPr lang="en-AU" altLang="zh-CN" sz="2000" i="1" dirty="0">
                            <a:latin typeface="Cambria Math" panose="02040503050406030204" pitchFamily="18" charset="0"/>
                            <a:ea typeface="Cambria Math" panose="02040503050406030204" pitchFamily="18" charset="0"/>
                          </a:rPr>
                        </m:ctrlPr>
                      </m:sSubPr>
                      <m:e>
                        <m:r>
                          <a:rPr lang="en-AU" altLang="zh-CN" sz="2000" i="1" dirty="0">
                            <a:latin typeface="Cambria Math" panose="02040503050406030204" pitchFamily="18" charset="0"/>
                            <a:ea typeface="Cambria Math" panose="02040503050406030204" pitchFamily="18" charset="0"/>
                          </a:rPr>
                          <m:t>𝑍</m:t>
                        </m:r>
                      </m:e>
                      <m:sub>
                        <m:r>
                          <a:rPr lang="en-AU" altLang="zh-CN" sz="2000" b="0" i="1" dirty="0" smtClean="0">
                            <a:latin typeface="Cambria Math" panose="02040503050406030204" pitchFamily="18" charset="0"/>
                            <a:ea typeface="Cambria Math" panose="02040503050406030204" pitchFamily="18" charset="0"/>
                          </a:rPr>
                          <m:t>2</m:t>
                        </m:r>
                      </m:sub>
                    </m:sSub>
                    <m:r>
                      <a:rPr lang="en-AU" altLang="zh-CN" sz="2000" i="1" dirty="0" smtClean="0">
                        <a:latin typeface="Cambria Math" panose="02040503050406030204" pitchFamily="18" charset="0"/>
                        <a:ea typeface="Cambria Math" panose="02040503050406030204" pitchFamily="18" charset="0"/>
                      </a:rPr>
                      <m:t>⋯</m:t>
                    </m:r>
                    <m:sSub>
                      <m:sSubPr>
                        <m:ctrlPr>
                          <a:rPr lang="en-AU" altLang="zh-CN" sz="2000" i="1" dirty="0">
                            <a:latin typeface="Cambria Math" panose="02040503050406030204" pitchFamily="18" charset="0"/>
                            <a:ea typeface="Cambria Math" panose="02040503050406030204" pitchFamily="18" charset="0"/>
                          </a:rPr>
                        </m:ctrlPr>
                      </m:sSubPr>
                      <m:e>
                        <m:r>
                          <a:rPr lang="en-AU" altLang="zh-CN" sz="2000" i="1" dirty="0">
                            <a:latin typeface="Cambria Math" panose="02040503050406030204" pitchFamily="18" charset="0"/>
                            <a:ea typeface="Cambria Math" panose="02040503050406030204" pitchFamily="18" charset="0"/>
                          </a:rPr>
                          <m:t>𝑍</m:t>
                        </m:r>
                      </m:e>
                      <m:sub>
                        <m:r>
                          <a:rPr lang="en-AU" altLang="zh-CN" sz="2000" b="0" i="1" dirty="0" smtClean="0">
                            <a:latin typeface="Cambria Math" panose="02040503050406030204" pitchFamily="18" charset="0"/>
                            <a:ea typeface="Cambria Math" panose="02040503050406030204" pitchFamily="18" charset="0"/>
                          </a:rPr>
                          <m:t>𝑘</m:t>
                        </m:r>
                      </m:sub>
                    </m:sSub>
                  </m:oMath>
                </a14:m>
                <a:r>
                  <a:rPr lang="zh-CN" altLang="en-US" sz="2000" dirty="0">
                    <a:latin typeface="Times New Roman" panose="02020603050405020304" pitchFamily="18" charset="0"/>
                    <a:cs typeface="Times New Roman" panose="02020603050405020304" pitchFamily="18" charset="0"/>
                  </a:rPr>
                  <a:t>，则弹出</a:t>
                </a:r>
                <a14:m>
                  <m:oMath xmlns:m="http://schemas.openxmlformats.org/officeDocument/2006/math">
                    <m:r>
                      <a:rPr lang="en-AU" altLang="zh-CN" sz="2000" b="0" i="1" smtClean="0">
                        <a:latin typeface="Cambria Math" panose="02040503050406030204" pitchFamily="18" charset="0"/>
                        <a:ea typeface="Cambria Math" panose="02040503050406030204" pitchFamily="18" charset="0"/>
                      </a:rPr>
                      <m:t>𝑋</m:t>
                    </m:r>
                  </m:oMath>
                </a14:m>
                <a:r>
                  <a:rPr lang="zh-CN" altLang="en-US" sz="2000" dirty="0">
                    <a:latin typeface="Times New Roman" panose="02020603050405020304" pitchFamily="18" charset="0"/>
                    <a:cs typeface="Times New Roman" panose="02020603050405020304" pitchFamily="18" charset="0"/>
                  </a:rPr>
                  <a:t>，依次压入</a:t>
                </a:r>
                <a14:m>
                  <m:oMath xmlns:m="http://schemas.openxmlformats.org/officeDocument/2006/math">
                    <m:sSub>
                      <m:sSubPr>
                        <m:ctrlPr>
                          <a:rPr lang="en-AU" altLang="zh-CN" sz="2000" i="1" dirty="0">
                            <a:latin typeface="Cambria Math" panose="02040503050406030204" pitchFamily="18" charset="0"/>
                            <a:ea typeface="Cambria Math" panose="02040503050406030204" pitchFamily="18" charset="0"/>
                          </a:rPr>
                        </m:ctrlPr>
                      </m:sSubPr>
                      <m:e>
                        <m:r>
                          <a:rPr lang="en-AU" altLang="zh-CN" sz="2000" i="1" dirty="0">
                            <a:latin typeface="Cambria Math" panose="02040503050406030204" pitchFamily="18" charset="0"/>
                            <a:ea typeface="Cambria Math" panose="02040503050406030204" pitchFamily="18" charset="0"/>
                          </a:rPr>
                          <m:t>𝑍</m:t>
                        </m:r>
                      </m:e>
                      <m:sub>
                        <m:r>
                          <a:rPr lang="en-US" altLang="zh-CN" sz="2000" b="0" i="1" dirty="0" smtClean="0">
                            <a:latin typeface="Cambria Math" panose="02040503050406030204" pitchFamily="18" charset="0"/>
                            <a:ea typeface="Cambria Math" panose="02040503050406030204" pitchFamily="18" charset="0"/>
                          </a:rPr>
                          <m:t>𝑘</m:t>
                        </m:r>
                      </m:sub>
                    </m:sSub>
                    <m:r>
                      <a:rPr lang="zh-CN" altLang="en-US" sz="2000" i="1" dirty="0" smtClean="0">
                        <a:latin typeface="Cambria Math" panose="02040503050406030204" pitchFamily="18" charset="0"/>
                        <a:ea typeface="Cambria Math" panose="02040503050406030204" pitchFamily="18" charset="0"/>
                      </a:rPr>
                      <m:t>，</m:t>
                    </m:r>
                    <m:sSub>
                      <m:sSubPr>
                        <m:ctrlPr>
                          <a:rPr lang="en-AU" altLang="zh-CN" sz="2000" i="1" dirty="0">
                            <a:latin typeface="Cambria Math" panose="02040503050406030204" pitchFamily="18" charset="0"/>
                            <a:ea typeface="Cambria Math" panose="02040503050406030204" pitchFamily="18" charset="0"/>
                          </a:rPr>
                        </m:ctrlPr>
                      </m:sSubPr>
                      <m:e>
                        <m:r>
                          <a:rPr lang="en-AU" altLang="zh-CN" sz="2000" i="1" dirty="0">
                            <a:latin typeface="Cambria Math" panose="02040503050406030204" pitchFamily="18" charset="0"/>
                            <a:ea typeface="Cambria Math" panose="02040503050406030204" pitchFamily="18" charset="0"/>
                          </a:rPr>
                          <m:t>𝑍</m:t>
                        </m:r>
                      </m:e>
                      <m:sub>
                        <m:r>
                          <a:rPr lang="en-US" altLang="zh-CN" sz="2000" b="0" i="1" dirty="0" smtClean="0">
                            <a:latin typeface="Cambria Math" panose="02040503050406030204" pitchFamily="18" charset="0"/>
                            <a:ea typeface="Cambria Math" panose="02040503050406030204" pitchFamily="18" charset="0"/>
                          </a:rPr>
                          <m:t>𝑘</m:t>
                        </m:r>
                        <m:r>
                          <a:rPr lang="en-US" altLang="zh-CN" sz="2000" b="0" i="1" dirty="0" smtClean="0">
                            <a:latin typeface="Cambria Math" panose="02040503050406030204" pitchFamily="18" charset="0"/>
                            <a:ea typeface="Cambria Math" panose="02040503050406030204" pitchFamily="18" charset="0"/>
                          </a:rPr>
                          <m:t>−1</m:t>
                        </m:r>
                      </m:sub>
                    </m:sSub>
                    <m:r>
                      <a:rPr lang="zh-CN" altLang="en-US" sz="2000" i="1" dirty="0" smtClean="0">
                        <a:latin typeface="Cambria Math" panose="02040503050406030204" pitchFamily="18" charset="0"/>
                        <a:ea typeface="Cambria Math" panose="02040503050406030204" pitchFamily="18" charset="0"/>
                      </a:rPr>
                      <m:t>，</m:t>
                    </m:r>
                    <m:r>
                      <a:rPr lang="en-AU" altLang="zh-CN" sz="2000" i="1" dirty="0">
                        <a:latin typeface="Cambria Math" panose="02040503050406030204" pitchFamily="18" charset="0"/>
                        <a:ea typeface="Cambria Math" panose="02040503050406030204" pitchFamily="18" charset="0"/>
                      </a:rPr>
                      <m:t>⋯</m:t>
                    </m:r>
                    <m:r>
                      <a:rPr lang="zh-CN" altLang="en-US" sz="2000" i="1" dirty="0" smtClean="0">
                        <a:latin typeface="Cambria Math" panose="02040503050406030204" pitchFamily="18" charset="0"/>
                        <a:ea typeface="Cambria Math" panose="02040503050406030204" pitchFamily="18" charset="0"/>
                      </a:rPr>
                      <m:t>，</m:t>
                    </m:r>
                    <m:sSub>
                      <m:sSubPr>
                        <m:ctrlPr>
                          <a:rPr lang="en-AU" altLang="zh-CN" sz="2000" i="1" dirty="0">
                            <a:latin typeface="Cambria Math" panose="02040503050406030204" pitchFamily="18" charset="0"/>
                            <a:ea typeface="Cambria Math" panose="02040503050406030204" pitchFamily="18" charset="0"/>
                          </a:rPr>
                        </m:ctrlPr>
                      </m:sSubPr>
                      <m:e>
                        <m:r>
                          <a:rPr lang="en-AU" altLang="zh-CN" sz="2000" i="1" dirty="0">
                            <a:latin typeface="Cambria Math" panose="02040503050406030204" pitchFamily="18" charset="0"/>
                            <a:ea typeface="Cambria Math" panose="02040503050406030204" pitchFamily="18" charset="0"/>
                          </a:rPr>
                          <m:t>𝑍</m:t>
                        </m:r>
                      </m:e>
                      <m:sub>
                        <m:r>
                          <a:rPr lang="en-US" altLang="zh-CN" sz="2000" b="0" i="1" dirty="0" smtClean="0">
                            <a:latin typeface="Cambria Math" panose="02040503050406030204" pitchFamily="18" charset="0"/>
                            <a:ea typeface="Cambria Math" panose="02040503050406030204" pitchFamily="18" charset="0"/>
                          </a:rPr>
                          <m:t>1</m:t>
                        </m:r>
                      </m:sub>
                    </m:sSub>
                  </m:oMath>
                </a14:m>
                <a:endParaRPr lang="en-AU" altLang="zh-CN" sz="2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36983" y="1041488"/>
                <a:ext cx="5410200" cy="4525963"/>
              </a:xfrm>
              <a:blipFill rotWithShape="1">
                <a:blip r:embed="rId2"/>
                <a:stretch>
                  <a:fillRect l="-2" t="-2" r="2"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latin typeface="Times New Roman" panose="02020603050405020304" pitchFamily="18" charset="0"/>
                <a:cs typeface="Times New Roman" panose="02020603050405020304" pitchFamily="18" charset="0"/>
              </a:rPr>
              <a:t>9</a:t>
            </a:fld>
            <a:endParaRPr lang="en-AU">
              <a:latin typeface="Times New Roman" panose="02020603050405020304" pitchFamily="18" charset="0"/>
              <a:cs typeface="Times New Roman" panose="02020603050405020304" pitchFamily="18" charset="0"/>
            </a:endParaRPr>
          </a:p>
        </p:txBody>
      </p:sp>
      <p:grpSp>
        <p:nvGrpSpPr>
          <p:cNvPr id="5" name="Group 25"/>
          <p:cNvGrpSpPr/>
          <p:nvPr/>
        </p:nvGrpSpPr>
        <p:grpSpPr bwMode="auto">
          <a:xfrm>
            <a:off x="7696200" y="1353371"/>
            <a:ext cx="457200" cy="685800"/>
            <a:chOff x="7696200" y="2438400"/>
            <a:chExt cx="457200" cy="685800"/>
          </a:xfrm>
        </p:grpSpPr>
        <p:sp>
          <p:nvSpPr>
            <p:cNvPr id="6" name="Line 7"/>
            <p:cNvSpPr>
              <a:spLocks noChangeShapeType="1"/>
            </p:cNvSpPr>
            <p:nvPr/>
          </p:nvSpPr>
          <p:spPr bwMode="auto">
            <a:xfrm>
              <a:off x="7696200" y="2438400"/>
              <a:ext cx="0" cy="68580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7" name="Line 8"/>
            <p:cNvSpPr>
              <a:spLocks noChangeShapeType="1"/>
            </p:cNvSpPr>
            <p:nvPr/>
          </p:nvSpPr>
          <p:spPr bwMode="auto">
            <a:xfrm>
              <a:off x="7696200" y="31242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 name="Line 10"/>
            <p:cNvSpPr>
              <a:spLocks noChangeShapeType="1"/>
            </p:cNvSpPr>
            <p:nvPr/>
          </p:nvSpPr>
          <p:spPr bwMode="auto">
            <a:xfrm>
              <a:off x="7696200" y="27432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9" name="Line 11"/>
            <p:cNvSpPr>
              <a:spLocks noChangeShapeType="1"/>
            </p:cNvSpPr>
            <p:nvPr/>
          </p:nvSpPr>
          <p:spPr bwMode="auto">
            <a:xfrm>
              <a:off x="7696200" y="28194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Line 12"/>
            <p:cNvSpPr>
              <a:spLocks noChangeShapeType="1"/>
            </p:cNvSpPr>
            <p:nvPr/>
          </p:nvSpPr>
          <p:spPr bwMode="auto">
            <a:xfrm>
              <a:off x="7696200" y="28956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1" name="Line 13"/>
            <p:cNvSpPr>
              <a:spLocks noChangeShapeType="1"/>
            </p:cNvSpPr>
            <p:nvPr/>
          </p:nvSpPr>
          <p:spPr bwMode="auto">
            <a:xfrm>
              <a:off x="7696200" y="29718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 name="Line 14"/>
            <p:cNvSpPr>
              <a:spLocks noChangeShapeType="1"/>
            </p:cNvSpPr>
            <p:nvPr/>
          </p:nvSpPr>
          <p:spPr bwMode="auto">
            <a:xfrm>
              <a:off x="7696200" y="30480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3" name="Line 15"/>
            <p:cNvSpPr>
              <a:spLocks noChangeShapeType="1"/>
            </p:cNvSpPr>
            <p:nvPr/>
          </p:nvSpPr>
          <p:spPr bwMode="auto">
            <a:xfrm>
              <a:off x="8153400" y="2438400"/>
              <a:ext cx="0" cy="68580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grpSp>
      <p:sp>
        <p:nvSpPr>
          <p:cNvPr id="14" name="Oval 26"/>
          <p:cNvSpPr>
            <a:spLocks noChangeArrowheads="1"/>
          </p:cNvSpPr>
          <p:nvPr/>
        </p:nvSpPr>
        <p:spPr bwMode="auto">
          <a:xfrm>
            <a:off x="6109447" y="1581971"/>
            <a:ext cx="360000" cy="360000"/>
          </a:xfrm>
          <a:prstGeom prst="ellipse">
            <a:avLst/>
          </a:prstGeom>
          <a:noFill/>
          <a:ln w="9525" algn="ctr">
            <a:solidFill>
              <a:schemeClr val="tx1"/>
            </a:solidFill>
            <a:round/>
          </a:ln>
        </p:spPr>
        <p:txBody>
          <a:bodyPr/>
          <a:lstStyle/>
          <a:p>
            <a:r>
              <a:rPr lang="en-US" sz="1600" i="1" dirty="0">
                <a:latin typeface="Times New Roman" panose="02020603050405020304" pitchFamily="18" charset="0"/>
                <a:cs typeface="Times New Roman" panose="02020603050405020304" pitchFamily="18" charset="0"/>
              </a:rPr>
              <a:t>q</a:t>
            </a:r>
          </a:p>
        </p:txBody>
      </p:sp>
      <p:cxnSp>
        <p:nvCxnSpPr>
          <p:cNvPr id="15" name="Straight Arrow Connector 29"/>
          <p:cNvCxnSpPr>
            <a:cxnSpLocks noChangeShapeType="1"/>
            <a:stCxn id="14" idx="6"/>
            <a:endCxn id="18" idx="2"/>
          </p:cNvCxnSpPr>
          <p:nvPr/>
        </p:nvCxnSpPr>
        <p:spPr bwMode="auto">
          <a:xfrm>
            <a:off x="6469447" y="1761971"/>
            <a:ext cx="706800" cy="0"/>
          </a:xfrm>
          <a:prstGeom prst="straightConnector1">
            <a:avLst/>
          </a:prstGeom>
          <a:noFill/>
          <a:ln w="9525" algn="ctr">
            <a:solidFill>
              <a:schemeClr val="tx1"/>
            </a:solidFill>
            <a:round/>
            <a:tailEnd type="arrow" w="med" len="med"/>
          </a:ln>
        </p:spPr>
      </p:cxnSp>
      <p:sp>
        <p:nvSpPr>
          <p:cNvPr id="16" name="TextBox 30"/>
          <p:cNvSpPr txBox="1">
            <a:spLocks noChangeArrowheads="1"/>
          </p:cNvSpPr>
          <p:nvPr/>
        </p:nvSpPr>
        <p:spPr bwMode="auto">
          <a:xfrm>
            <a:off x="6651065" y="1458146"/>
            <a:ext cx="303288" cy="369332"/>
          </a:xfrm>
          <a:prstGeom prst="rect">
            <a:avLst/>
          </a:prstGeom>
          <a:noFill/>
          <a:ln w="9525">
            <a:noFill/>
            <a:miter lim="800000"/>
          </a:ln>
        </p:spPr>
        <p:txBody>
          <a:bodyPr wrap="none">
            <a:spAutoFit/>
          </a:bodyPr>
          <a:lstStyle/>
          <a:p>
            <a:r>
              <a:rPr lang="en-US" i="1" dirty="0">
                <a:latin typeface="Times New Roman" panose="02020603050405020304" pitchFamily="18" charset="0"/>
                <a:cs typeface="Times New Roman" panose="02020603050405020304" pitchFamily="18" charset="0"/>
              </a:rPr>
              <a:t>a</a:t>
            </a:r>
          </a:p>
        </p:txBody>
      </p:sp>
      <p:sp>
        <p:nvSpPr>
          <p:cNvPr id="17" name="TextBox 31"/>
          <p:cNvSpPr txBox="1">
            <a:spLocks noChangeArrowheads="1"/>
          </p:cNvSpPr>
          <p:nvPr/>
        </p:nvSpPr>
        <p:spPr bwMode="auto">
          <a:xfrm>
            <a:off x="7772400" y="1396234"/>
            <a:ext cx="332142" cy="338554"/>
          </a:xfrm>
          <a:prstGeom prst="rect">
            <a:avLst/>
          </a:prstGeom>
          <a:noFill/>
          <a:ln w="9525">
            <a:noFill/>
            <a:miter lim="800000"/>
          </a:ln>
        </p:spPr>
        <p:txBody>
          <a:bodyPr wrap="none">
            <a:spAutoFit/>
          </a:bodyPr>
          <a:lstStyle/>
          <a:p>
            <a:r>
              <a:rPr lang="en-US" sz="1600">
                <a:latin typeface="Times New Roman" panose="02020603050405020304" pitchFamily="18" charset="0"/>
                <a:cs typeface="Times New Roman" panose="02020603050405020304" pitchFamily="18" charset="0"/>
              </a:rPr>
              <a:t>X</a:t>
            </a:r>
          </a:p>
        </p:txBody>
      </p:sp>
      <p:sp>
        <p:nvSpPr>
          <p:cNvPr id="18" name="Oval 32"/>
          <p:cNvSpPr>
            <a:spLocks noChangeArrowheads="1"/>
          </p:cNvSpPr>
          <p:nvPr/>
        </p:nvSpPr>
        <p:spPr bwMode="auto">
          <a:xfrm>
            <a:off x="7176247" y="1581971"/>
            <a:ext cx="360000" cy="360000"/>
          </a:xfrm>
          <a:prstGeom prst="ellipse">
            <a:avLst/>
          </a:prstGeom>
          <a:noFill/>
          <a:ln w="9525" algn="ctr">
            <a:solidFill>
              <a:schemeClr val="tx1"/>
            </a:solidFill>
            <a:round/>
          </a:ln>
        </p:spPr>
        <p:txBody>
          <a:bodyPr/>
          <a:lstStyle/>
          <a:p>
            <a:r>
              <a:rPr lang="en-US" sz="1600" i="1" dirty="0">
                <a:latin typeface="Times New Roman" panose="02020603050405020304" pitchFamily="18" charset="0"/>
                <a:cs typeface="Times New Roman" panose="02020603050405020304" pitchFamily="18" charset="0"/>
              </a:rPr>
              <a:t>p</a:t>
            </a:r>
          </a:p>
        </p:txBody>
      </p:sp>
      <p:grpSp>
        <p:nvGrpSpPr>
          <p:cNvPr id="19" name="Group 34"/>
          <p:cNvGrpSpPr/>
          <p:nvPr/>
        </p:nvGrpSpPr>
        <p:grpSpPr bwMode="auto">
          <a:xfrm>
            <a:off x="8458200" y="1353371"/>
            <a:ext cx="457200" cy="685800"/>
            <a:chOff x="7696200" y="2438400"/>
            <a:chExt cx="457200" cy="685800"/>
          </a:xfrm>
        </p:grpSpPr>
        <p:sp>
          <p:nvSpPr>
            <p:cNvPr id="20" name="Line 7"/>
            <p:cNvSpPr>
              <a:spLocks noChangeShapeType="1"/>
            </p:cNvSpPr>
            <p:nvPr/>
          </p:nvSpPr>
          <p:spPr bwMode="auto">
            <a:xfrm>
              <a:off x="7696200" y="2438400"/>
              <a:ext cx="0" cy="68580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1" name="Line 8"/>
            <p:cNvSpPr>
              <a:spLocks noChangeShapeType="1"/>
            </p:cNvSpPr>
            <p:nvPr/>
          </p:nvSpPr>
          <p:spPr bwMode="auto">
            <a:xfrm>
              <a:off x="7696200" y="31242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2" name="Line 10"/>
            <p:cNvSpPr>
              <a:spLocks noChangeShapeType="1"/>
            </p:cNvSpPr>
            <p:nvPr/>
          </p:nvSpPr>
          <p:spPr bwMode="auto">
            <a:xfrm>
              <a:off x="7696200" y="27432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3" name="Line 11"/>
            <p:cNvSpPr>
              <a:spLocks noChangeShapeType="1"/>
            </p:cNvSpPr>
            <p:nvPr/>
          </p:nvSpPr>
          <p:spPr bwMode="auto">
            <a:xfrm>
              <a:off x="7696200" y="28194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4" name="Line 12"/>
            <p:cNvSpPr>
              <a:spLocks noChangeShapeType="1"/>
            </p:cNvSpPr>
            <p:nvPr/>
          </p:nvSpPr>
          <p:spPr bwMode="auto">
            <a:xfrm>
              <a:off x="7696200" y="28956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5" name="Line 13"/>
            <p:cNvSpPr>
              <a:spLocks noChangeShapeType="1"/>
            </p:cNvSpPr>
            <p:nvPr/>
          </p:nvSpPr>
          <p:spPr bwMode="auto">
            <a:xfrm>
              <a:off x="7696200" y="29718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6" name="Line 14"/>
            <p:cNvSpPr>
              <a:spLocks noChangeShapeType="1"/>
            </p:cNvSpPr>
            <p:nvPr/>
          </p:nvSpPr>
          <p:spPr bwMode="auto">
            <a:xfrm>
              <a:off x="7696200" y="3048000"/>
              <a:ext cx="457200" cy="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7" name="Line 15"/>
            <p:cNvSpPr>
              <a:spLocks noChangeShapeType="1"/>
            </p:cNvSpPr>
            <p:nvPr/>
          </p:nvSpPr>
          <p:spPr bwMode="auto">
            <a:xfrm>
              <a:off x="8153400" y="2438400"/>
              <a:ext cx="0" cy="685800"/>
            </a:xfrm>
            <a:prstGeom prst="line">
              <a:avLst/>
            </a:prstGeom>
            <a:noFill/>
            <a:ln w="9525">
              <a:solidFill>
                <a:schemeClr val="tx1"/>
              </a:solidFill>
              <a:round/>
            </a:ln>
          </p:spPr>
          <p:txBody>
            <a:bodyPr wrap="none" anchor="ctr"/>
            <a:lstStyle/>
            <a:p>
              <a:endParaRPr lang="en-US">
                <a:latin typeface="Times New Roman" panose="02020603050405020304" pitchFamily="18" charset="0"/>
                <a:cs typeface="Times New Roman" panose="02020603050405020304" pitchFamily="18" charset="0"/>
              </a:endParaRPr>
            </a:p>
          </p:txBody>
        </p:sp>
      </p:grpSp>
      <p:sp>
        <p:nvSpPr>
          <p:cNvPr id="28" name="TextBox 43"/>
          <p:cNvSpPr txBox="1">
            <a:spLocks noChangeArrowheads="1"/>
          </p:cNvSpPr>
          <p:nvPr/>
        </p:nvSpPr>
        <p:spPr bwMode="auto">
          <a:xfrm>
            <a:off x="8534400" y="1396234"/>
            <a:ext cx="332142" cy="338554"/>
          </a:xfrm>
          <a:prstGeom prst="rect">
            <a:avLst/>
          </a:prstGeom>
          <a:noFill/>
          <a:ln w="9525">
            <a:noFill/>
            <a:miter lim="800000"/>
          </a:ln>
        </p:spPr>
        <p:txBody>
          <a:bodyPr wrap="none">
            <a:spAutoFit/>
          </a:bodyPr>
          <a:lstStyle/>
          <a:p>
            <a:r>
              <a:rPr lang="en-US" sz="1600">
                <a:latin typeface="Times New Roman" panose="02020603050405020304" pitchFamily="18" charset="0"/>
                <a:cs typeface="Times New Roman" panose="02020603050405020304" pitchFamily="18" charset="0"/>
              </a:rPr>
              <a:t>Y</a:t>
            </a:r>
          </a:p>
        </p:txBody>
      </p:sp>
      <p:sp>
        <p:nvSpPr>
          <p:cNvPr id="29" name="Right Arrow 44"/>
          <p:cNvSpPr>
            <a:spLocks noChangeArrowheads="1"/>
          </p:cNvSpPr>
          <p:nvPr/>
        </p:nvSpPr>
        <p:spPr bwMode="auto">
          <a:xfrm>
            <a:off x="8229600" y="1658171"/>
            <a:ext cx="228600" cy="76200"/>
          </a:xfrm>
          <a:prstGeom prst="rightArrow">
            <a:avLst>
              <a:gd name="adj1" fmla="val 50000"/>
              <a:gd name="adj2" fmla="val 50000"/>
            </a:avLst>
          </a:prstGeom>
          <a:solidFill>
            <a:schemeClr val="accent1"/>
          </a:solidFill>
          <a:ln w="9525" algn="ctr">
            <a:solidFill>
              <a:schemeClr val="tx1"/>
            </a:solidFill>
            <a:round/>
          </a:ln>
        </p:spPr>
        <p:txBody>
          <a:bodyPr/>
          <a:lstStyle/>
          <a:p>
            <a:endParaRPr lang="en-US">
              <a:latin typeface="Times New Roman" panose="02020603050405020304" pitchFamily="18" charset="0"/>
              <a:cs typeface="Times New Roman" panose="02020603050405020304" pitchFamily="18" charset="0"/>
            </a:endParaRPr>
          </a:p>
        </p:txBody>
      </p:sp>
      <p:graphicFrame>
        <p:nvGraphicFramePr>
          <p:cNvPr id="30" name="Table 29"/>
          <p:cNvGraphicFramePr>
            <a:graphicFrameLocks noGrp="1"/>
          </p:cNvGraphicFramePr>
          <p:nvPr/>
        </p:nvGraphicFramePr>
        <p:xfrm>
          <a:off x="5887720" y="2522412"/>
          <a:ext cx="2951480" cy="289560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81000">
                <a:tc>
                  <a:txBody>
                    <a:bodyPr/>
                    <a:lstStyle/>
                    <a:p>
                      <a:endParaRPr lang="en-US" sz="1600" dirty="0"/>
                    </a:p>
                  </a:txBody>
                  <a:tcPr>
                    <a:noFill/>
                  </a:tcPr>
                </a:tc>
                <a:tc>
                  <a:txBody>
                    <a:bodyPr/>
                    <a:lstStyle/>
                    <a:p>
                      <a:r>
                        <a:rPr lang="en-US" sz="1600" dirty="0">
                          <a:latin typeface="Times New Roman" panose="02020603050405020304" pitchFamily="18" charset="0"/>
                          <a:cs typeface="Times New Roman" panose="02020603050405020304" pitchFamily="18" charset="0"/>
                        </a:rPr>
                        <a:t>Y</a:t>
                      </a:r>
                      <a:r>
                        <a:rPr lang="en-US" sz="1600" baseline="0" dirty="0">
                          <a:latin typeface="Times New Roman" panose="02020603050405020304" pitchFamily="18" charset="0"/>
                          <a:cs typeface="Times New Roman" panose="02020603050405020304" pitchFamily="18" charset="0"/>
                        </a:rPr>
                        <a:t> =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Action</a:t>
                      </a:r>
                    </a:p>
                  </a:txBody>
                  <a:tcPr/>
                </a:tc>
                <a:extLst>
                  <a:ext uri="{0D108BD9-81ED-4DB2-BD59-A6C34878D82A}">
                    <a16:rowId xmlns:a16="http://schemas.microsoft.com/office/drawing/2014/main" val="10000"/>
                  </a:ext>
                </a:extLst>
              </a:tr>
              <a:tr h="381000">
                <a:tc>
                  <a:txBody>
                    <a:bodyPr/>
                    <a:lstStyle/>
                    <a:p>
                      <a:endParaRPr lang="en-US" sz="1600" dirty="0"/>
                    </a:p>
                  </a:txBody>
                  <a:tcPr>
                    <a:noFill/>
                  </a:tcPr>
                </a:tc>
                <a:tc>
                  <a:txBody>
                    <a:bodyPr/>
                    <a:lstStyle/>
                    <a:p>
                      <a:r>
                        <a:rPr lang="en-US" sz="1600" dirty="0">
                          <a:latin typeface="Times New Roman" panose="02020603050405020304" pitchFamily="18" charset="0"/>
                          <a:cs typeface="Times New Roman" panose="02020603050405020304" pitchFamily="18" charset="0"/>
                        </a:rPr>
                        <a:t>Y=</a:t>
                      </a:r>
                      <a:r>
                        <a:rPr lang="en-US" sz="1600" dirty="0">
                          <a:latin typeface="Times New Roman" panose="02020603050405020304" pitchFamily="18" charset="0"/>
                          <a:cs typeface="Times New Roman" panose="02020603050405020304" pitchFamily="18" charset="0"/>
                          <a:sym typeface="Symbol" panose="05050102010706020507"/>
                        </a:rPr>
                        <a:t></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Pop(X)</a:t>
                      </a:r>
                    </a:p>
                  </a:txBody>
                  <a:tcPr/>
                </a:tc>
                <a:extLst>
                  <a:ext uri="{0D108BD9-81ED-4DB2-BD59-A6C34878D82A}">
                    <a16:rowId xmlns:a16="http://schemas.microsoft.com/office/drawing/2014/main" val="10001"/>
                  </a:ext>
                </a:extLst>
              </a:tr>
              <a:tr h="381000">
                <a:tc>
                  <a:txBody>
                    <a:bodyPr/>
                    <a:lstStyle/>
                    <a:p>
                      <a:endParaRPr lang="en-US" sz="1600" dirty="0"/>
                    </a:p>
                  </a:txBody>
                  <a:tcPr>
                    <a:noFill/>
                  </a:tcPr>
                </a:tc>
                <a:tc>
                  <a:txBody>
                    <a:bodyPr/>
                    <a:lstStyle/>
                    <a:p>
                      <a:r>
                        <a:rPr lang="en-US" sz="1600" dirty="0">
                          <a:latin typeface="Times New Roman" panose="02020603050405020304" pitchFamily="18" charset="0"/>
                          <a:cs typeface="Times New Roman" panose="02020603050405020304" pitchFamily="18" charset="0"/>
                        </a:rPr>
                        <a:t>Y=X</a:t>
                      </a:r>
                    </a:p>
                  </a:txBody>
                  <a:tcPr/>
                </a:tc>
                <a:tc>
                  <a:txBody>
                    <a:bodyPr/>
                    <a:lstStyle/>
                    <a:p>
                      <a:r>
                        <a:rPr lang="en-US" sz="1600" dirty="0">
                          <a:latin typeface="Times New Roman" panose="02020603050405020304" pitchFamily="18" charset="0"/>
                          <a:cs typeface="Times New Roman" panose="02020603050405020304" pitchFamily="18" charset="0"/>
                        </a:rPr>
                        <a:t>Pop(X)</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Push(X)</a:t>
                      </a:r>
                    </a:p>
                  </a:txBody>
                  <a:tcPr/>
                </a:tc>
                <a:extLst>
                  <a:ext uri="{0D108BD9-81ED-4DB2-BD59-A6C34878D82A}">
                    <a16:rowId xmlns:a16="http://schemas.microsoft.com/office/drawing/2014/main" val="10002"/>
                  </a:ext>
                </a:extLst>
              </a:tr>
              <a:tr h="381000">
                <a:tc>
                  <a:txBody>
                    <a:bodyPr/>
                    <a:lstStyle/>
                    <a:p>
                      <a:endParaRPr lang="en-US" sz="1600" baseline="0" dirty="0"/>
                    </a:p>
                  </a:txBody>
                  <a:tcPr>
                    <a:noFill/>
                  </a:tcPr>
                </a:tc>
                <a:tc>
                  <a:txBody>
                    <a:bodyPr/>
                    <a:lstStyle/>
                    <a:p>
                      <a:r>
                        <a:rPr lang="en-US" sz="1600" dirty="0">
                          <a:latin typeface="Times New Roman" panose="02020603050405020304" pitchFamily="18" charset="0"/>
                          <a:cs typeface="Times New Roman" panose="02020603050405020304" pitchFamily="18" charset="0"/>
                        </a:rPr>
                        <a:t>Y=Z</a:t>
                      </a:r>
                      <a:r>
                        <a:rPr lang="en-US" sz="1600" baseline="-25000" dirty="0">
                          <a:latin typeface="Times New Roman" panose="02020603050405020304" pitchFamily="18" charset="0"/>
                          <a:cs typeface="Times New Roman" panose="02020603050405020304" pitchFamily="18" charset="0"/>
                        </a:rPr>
                        <a:t>1</a:t>
                      </a:r>
                      <a:r>
                        <a:rPr lang="en-US" sz="1600" dirty="0">
                          <a:latin typeface="Times New Roman" panose="02020603050405020304" pitchFamily="18" charset="0"/>
                          <a:cs typeface="Times New Roman" panose="02020603050405020304" pitchFamily="18" charset="0"/>
                        </a:rPr>
                        <a:t>Z</a:t>
                      </a:r>
                      <a:r>
                        <a:rPr lang="en-US" sz="1600" baseline="-25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Z</a:t>
                      </a:r>
                      <a:r>
                        <a:rPr lang="en-US" sz="1600" baseline="-25000" dirty="0" err="1">
                          <a:latin typeface="Times New Roman" panose="02020603050405020304" pitchFamily="18" charset="0"/>
                          <a:cs typeface="Times New Roman" panose="02020603050405020304" pitchFamily="18" charset="0"/>
                        </a:rPr>
                        <a:t>k</a:t>
                      </a:r>
                      <a:endParaRPr lang="en-US" sz="1600" baseline="-250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Pop(X)</a:t>
                      </a:r>
                    </a:p>
                    <a:p>
                      <a:r>
                        <a:rPr lang="en-US" sz="1600" dirty="0">
                          <a:latin typeface="Times New Roman" panose="02020603050405020304" pitchFamily="18" charset="0"/>
                          <a:cs typeface="Times New Roman" panose="02020603050405020304" pitchFamily="18" charset="0"/>
                        </a:rPr>
                        <a:t>Push(</a:t>
                      </a:r>
                      <a:r>
                        <a:rPr lang="en-US" sz="1600" dirty="0" err="1">
                          <a:latin typeface="Times New Roman" panose="02020603050405020304" pitchFamily="18" charset="0"/>
                          <a:cs typeface="Times New Roman" panose="02020603050405020304" pitchFamily="18" charset="0"/>
                        </a:rPr>
                        <a:t>Z</a:t>
                      </a:r>
                      <a:r>
                        <a:rPr lang="en-US" sz="1600" baseline="-25000" dirty="0" err="1">
                          <a:latin typeface="Times New Roman" panose="02020603050405020304" pitchFamily="18" charset="0"/>
                          <a:cs typeface="Times New Roman" panose="02020603050405020304" pitchFamily="18" charset="0"/>
                        </a:rPr>
                        <a:t>k</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Push(Z</a:t>
                      </a:r>
                      <a:r>
                        <a:rPr lang="en-US" sz="1600" baseline="-25000" dirty="0">
                          <a:latin typeface="Times New Roman" panose="02020603050405020304" pitchFamily="18" charset="0"/>
                          <a:cs typeface="Times New Roman" panose="02020603050405020304" pitchFamily="18" charset="0"/>
                        </a:rPr>
                        <a:t>k-1</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Push(Z</a:t>
                      </a:r>
                      <a:r>
                        <a:rPr lang="en-US" sz="1600" baseline="-25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Push(Z</a:t>
                      </a:r>
                      <a:r>
                        <a:rPr lang="en-US" sz="1600" baseline="-25000" dirty="0">
                          <a:latin typeface="Times New Roman" panose="02020603050405020304" pitchFamily="18" charset="0"/>
                          <a:cs typeface="Times New Roman" panose="02020603050405020304" pitchFamily="18" charset="0"/>
                        </a:rPr>
                        <a:t>1</a:t>
                      </a:r>
                      <a:r>
                        <a:rPr lang="en-US"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a:t>
            </a:r>
            <a:r>
              <a:rPr lang="zh-CN" altLang="en-US" dirty="0"/>
              <a:t>的动作和状态转移图</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39800"/>
                <a:ext cx="8229600" cy="4525963"/>
              </a:xfrm>
            </p:spPr>
            <p:txBody>
              <a:bodyPr/>
              <a:lstStyle/>
              <a:p>
                <a:r>
                  <a:rPr lang="zh-CN" altLang="en-US" dirty="0"/>
                  <a:t>如果</a:t>
                </a:r>
                <a14:m>
                  <m:oMath xmlns:m="http://schemas.openxmlformats.org/officeDocument/2006/math">
                    <m:r>
                      <a:rPr lang="en-AU" altLang="zh-CN" i="1" dirty="0">
                        <a:latin typeface="Cambria Math" panose="02040503050406030204" pitchFamily="18" charset="0"/>
                      </a:rPr>
                      <m:t>𝑞</m:t>
                    </m:r>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𝑝</m:t>
                        </m:r>
                      </m:e>
                      <m:sub>
                        <m:r>
                          <a:rPr lang="en-AU" altLang="zh-CN" i="1" dirty="0">
                            <a:latin typeface="Cambria Math" panose="02040503050406030204" pitchFamily="18" charset="0"/>
                          </a:rPr>
                          <m:t>𝑖</m:t>
                        </m:r>
                      </m:sub>
                    </m:sSub>
                    <m:r>
                      <a:rPr lang="en-AU" altLang="zh-CN" i="1" dirty="0">
                        <a:latin typeface="Cambria Math" panose="02040503050406030204" pitchFamily="18" charset="0"/>
                      </a:rPr>
                      <m:t>∈ </m:t>
                    </m:r>
                    <m:r>
                      <a:rPr lang="en-AU" altLang="zh-CN" i="1" dirty="0">
                        <a:latin typeface="Cambria Math" panose="02040503050406030204" pitchFamily="18" charset="0"/>
                      </a:rPr>
                      <m:t>𝑄</m:t>
                    </m:r>
                    <m:r>
                      <a:rPr lang="en-AU" altLang="zh-CN" i="1" dirty="0">
                        <a:latin typeface="Cambria Math" panose="02040503050406030204" pitchFamily="18" charset="0"/>
                      </a:rPr>
                      <m:t> (1 ≤ </m:t>
                    </m:r>
                    <m:r>
                      <a:rPr lang="en-AU" altLang="zh-CN" i="1" dirty="0" err="1">
                        <a:latin typeface="Cambria Math" panose="02040503050406030204" pitchFamily="18" charset="0"/>
                      </a:rPr>
                      <m:t>𝑖</m:t>
                    </m:r>
                    <m:r>
                      <a:rPr lang="en-AU" altLang="zh-CN" i="1" dirty="0">
                        <a:latin typeface="Cambria Math" panose="02040503050406030204" pitchFamily="18" charset="0"/>
                      </a:rPr>
                      <m:t> ≤ </m:t>
                    </m:r>
                    <m:r>
                      <a:rPr lang="en-AU" altLang="zh-CN" i="1" dirty="0">
                        <a:latin typeface="Cambria Math" panose="02040503050406030204" pitchFamily="18" charset="0"/>
                      </a:rPr>
                      <m:t>𝑚</m:t>
                    </m:r>
                    <m:r>
                      <a:rPr lang="en-AU" altLang="zh-CN" i="1" dirty="0">
                        <a:latin typeface="Cambria Math" panose="02040503050406030204" pitchFamily="18" charset="0"/>
                      </a:rPr>
                      <m:t>)</m:t>
                    </m:r>
                  </m:oMath>
                </a14:m>
                <a:r>
                  <a:rPr lang="en-AU" altLang="zh-CN" dirty="0"/>
                  <a:t>, </a:t>
                </a:r>
                <a14:m>
                  <m:oMath xmlns:m="http://schemas.openxmlformats.org/officeDocument/2006/math">
                    <m:r>
                      <a:rPr lang="en-AU" altLang="zh-CN" i="1" dirty="0">
                        <a:latin typeface="Cambria Math" panose="02040503050406030204" pitchFamily="18" charset="0"/>
                      </a:rPr>
                      <m:t>𝑎</m:t>
                    </m:r>
                    <m:r>
                      <a:rPr lang="en-AU" altLang="zh-CN" i="1" dirty="0">
                        <a:latin typeface="Cambria Math" panose="02040503050406030204" pitchFamily="18" charset="0"/>
                      </a:rPr>
                      <m:t> ∈ </m:t>
                    </m:r>
                    <m:r>
                      <m:rPr>
                        <m:sty m:val="p"/>
                      </m:rPr>
                      <a:rPr lang="el-GR" altLang="zh-CN" dirty="0">
                        <a:latin typeface="Cambria Math" panose="02040503050406030204" pitchFamily="18" charset="0"/>
                      </a:rPr>
                      <m:t>Σ</m:t>
                    </m:r>
                    <m:r>
                      <a:rPr lang="el-GR" altLang="zh-CN" i="1" dirty="0">
                        <a:latin typeface="Cambria Math" panose="02040503050406030204" pitchFamily="18" charset="0"/>
                      </a:rPr>
                      <m:t>, </m:t>
                    </m:r>
                    <m:r>
                      <a:rPr lang="en-AU" altLang="zh-CN" i="1" dirty="0">
                        <a:latin typeface="Cambria Math" panose="02040503050406030204" pitchFamily="18" charset="0"/>
                      </a:rPr>
                      <m:t>𝑍</m:t>
                    </m:r>
                    <m:r>
                      <a:rPr lang="en-AU" altLang="zh-CN" i="1" dirty="0">
                        <a:latin typeface="Cambria Math" panose="02040503050406030204" pitchFamily="18" charset="0"/>
                      </a:rPr>
                      <m:t> ∈ </m:t>
                    </m:r>
                    <m:r>
                      <m:rPr>
                        <m:sty m:val="p"/>
                      </m:rPr>
                      <a:rPr lang="el-GR" altLang="zh-CN" dirty="0">
                        <a:latin typeface="Cambria Math" panose="02040503050406030204" pitchFamily="18" charset="0"/>
                      </a:rPr>
                      <m:t>Γ</m:t>
                    </m:r>
                    <m:r>
                      <a:rPr lang="el-GR" altLang="zh-CN" i="1" dirty="0">
                        <a:latin typeface="Cambria Math" panose="02040503050406030204" pitchFamily="18" charset="0"/>
                      </a:rPr>
                      <m:t>, </m:t>
                    </m:r>
                    <m:sSub>
                      <m:sSubPr>
                        <m:ctrlPr>
                          <a:rPr lang="el-GR" altLang="zh-CN" i="1" dirty="0">
                            <a:latin typeface="Cambria Math" panose="02040503050406030204" pitchFamily="18" charset="0"/>
                          </a:rPr>
                        </m:ctrlPr>
                      </m:sSubPr>
                      <m:e>
                        <m:r>
                          <a:rPr lang="zh-CN" altLang="el-GR" i="1" dirty="0">
                            <a:latin typeface="Cambria Math" panose="02040503050406030204" pitchFamily="18" charset="0"/>
                          </a:rPr>
                          <m:t>𝛽</m:t>
                        </m:r>
                      </m:e>
                      <m:sub>
                        <m:r>
                          <a:rPr lang="en-AU" altLang="zh-CN" i="1" dirty="0">
                            <a:latin typeface="Cambria Math" panose="02040503050406030204" pitchFamily="18" charset="0"/>
                          </a:rPr>
                          <m:t>𝑖</m:t>
                        </m:r>
                      </m:sub>
                    </m:sSub>
                    <m:r>
                      <a:rPr lang="en-AU" altLang="zh-CN" i="1" dirty="0">
                        <a:latin typeface="Cambria Math" panose="02040503050406030204" pitchFamily="18" charset="0"/>
                        <a:ea typeface="Cambria Math" panose="02040503050406030204" pitchFamily="18" charset="0"/>
                      </a:rPr>
                      <m:t>∈</m:t>
                    </m:r>
                    <m:sSup>
                      <m:sSupPr>
                        <m:ctrlPr>
                          <a:rPr lang="en-AU" altLang="zh-CN" i="1" dirty="0">
                            <a:latin typeface="Cambria Math" panose="02040503050406030204" pitchFamily="18" charset="0"/>
                            <a:ea typeface="Cambria Math" panose="02040503050406030204" pitchFamily="18" charset="0"/>
                          </a:rPr>
                        </m:ctrlPr>
                      </m:sSupPr>
                      <m:e>
                        <m:r>
                          <m:rPr>
                            <m:sty m:val="p"/>
                          </m:rPr>
                          <a:rPr lang="el-GR" altLang="zh-CN" dirty="0">
                            <a:latin typeface="Cambria Math" panose="02040503050406030204" pitchFamily="18" charset="0"/>
                          </a:rPr>
                          <m:t>Γ</m:t>
                        </m:r>
                      </m:e>
                      <m:sup>
                        <m:r>
                          <a:rPr lang="en-AU" altLang="zh-CN" i="1" dirty="0">
                            <a:latin typeface="Cambria Math" panose="02040503050406030204" pitchFamily="18" charset="0"/>
                            <a:ea typeface="Cambria Math" panose="02040503050406030204" pitchFamily="18" charset="0"/>
                          </a:rPr>
                          <m:t>∗</m:t>
                        </m:r>
                      </m:sup>
                    </m:sSup>
                  </m:oMath>
                </a14:m>
                <a:r>
                  <a:rPr lang="en-AU" altLang="zh-CN" dirty="0"/>
                  <a:t>,</a:t>
                </a:r>
                <a:r>
                  <a:rPr lang="el-GR" dirty="0"/>
                  <a:t> </a:t>
                </a:r>
                <a14:m>
                  <m:oMath xmlns:m="http://schemas.openxmlformats.org/officeDocument/2006/math">
                    <m:r>
                      <a:rPr lang="el-GR" i="1" dirty="0">
                        <a:latin typeface="Cambria Math" panose="02040503050406030204" pitchFamily="18" charset="0"/>
                      </a:rPr>
                      <m:t>𝛿</m:t>
                    </m:r>
                    <m:r>
                      <a:rPr lang="el-GR" i="1" dirty="0">
                        <a:latin typeface="Cambria Math" panose="02040503050406030204" pitchFamily="18" charset="0"/>
                      </a:rPr>
                      <m:t>(</m:t>
                    </m:r>
                    <m:r>
                      <a:rPr lang="en-AU" i="1" dirty="0">
                        <a:latin typeface="Cambria Math" panose="02040503050406030204" pitchFamily="18" charset="0"/>
                      </a:rPr>
                      <m:t>𝑞</m:t>
                    </m:r>
                    <m:r>
                      <a:rPr lang="en-AU" i="1" dirty="0">
                        <a:latin typeface="Cambria Math" panose="02040503050406030204" pitchFamily="18" charset="0"/>
                      </a:rPr>
                      <m:t>, </m:t>
                    </m:r>
                    <m:r>
                      <a:rPr lang="en-AU" i="1" dirty="0">
                        <a:latin typeface="Cambria Math" panose="02040503050406030204" pitchFamily="18" charset="0"/>
                      </a:rPr>
                      <m:t>𝑎</m:t>
                    </m:r>
                    <m:r>
                      <a:rPr lang="en-AU" i="1" dirty="0">
                        <a:latin typeface="Cambria Math" panose="02040503050406030204" pitchFamily="18" charset="0"/>
                      </a:rPr>
                      <m:t>, </m:t>
                    </m:r>
                    <m:r>
                      <a:rPr lang="en-AU" i="1" dirty="0">
                        <a:latin typeface="Cambria Math" panose="02040503050406030204" pitchFamily="18" charset="0"/>
                      </a:rPr>
                      <m:t>𝑍</m:t>
                    </m:r>
                    <m:r>
                      <a:rPr lang="en-AU" i="1" dirty="0">
                        <a:latin typeface="Cambria Math" panose="02040503050406030204" pitchFamily="18" charset="0"/>
                      </a:rPr>
                      <m:t>)</m:t>
                    </m:r>
                  </m:oMath>
                </a14:m>
                <a:r>
                  <a:rPr lang="zh-CN" altLang="en-US" dirty="0"/>
                  <a:t>表示如下的动作</a:t>
                </a:r>
                <a:r>
                  <a:rPr lang="en-US" altLang="zh-CN" dirty="0"/>
                  <a:t>:</a:t>
                </a:r>
                <a:endParaRPr lang="en-US"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939800"/>
                <a:ext cx="8229600" cy="4525963"/>
              </a:xfrm>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10</a:t>
            </a:fld>
            <a:endParaRPr lang="en-AU"/>
          </a:p>
        </p:txBody>
      </p:sp>
      <p:pic>
        <p:nvPicPr>
          <p:cNvPr id="7" name="Picture 6" descr="Diagram, schematic&#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75204" y="4289642"/>
            <a:ext cx="2458282" cy="1845809"/>
          </a:xfrm>
          <a:prstGeom prst="rect">
            <a:avLst/>
          </a:prstGeom>
        </p:spPr>
      </p:pic>
      <p:pic>
        <p:nvPicPr>
          <p:cNvPr id="9" name="Picture 8" descr="Diagram&#10;&#10;Description automatically generated"/>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70893" y="4229972"/>
            <a:ext cx="2729005" cy="1953026"/>
          </a:xfrm>
          <a:prstGeom prst="rect">
            <a:avLst/>
          </a:prstGeom>
        </p:spPr>
      </p:pic>
      <p:sp>
        <p:nvSpPr>
          <p:cNvPr id="8" name="TextBox 7"/>
          <p:cNvSpPr txBox="1"/>
          <p:nvPr/>
        </p:nvSpPr>
        <p:spPr>
          <a:xfrm>
            <a:off x="232342" y="4481076"/>
            <a:ext cx="1107996" cy="369332"/>
          </a:xfrm>
          <a:prstGeom prst="rect">
            <a:avLst/>
          </a:prstGeom>
          <a:noFill/>
          <a:ln>
            <a:solidFill>
              <a:srgbClr val="FF0000"/>
            </a:solidFill>
          </a:ln>
        </p:spPr>
        <p:txBody>
          <a:bodyPr wrap="none" rtlCol="0">
            <a:spAutoFit/>
          </a:bodyPr>
          <a:lstStyle/>
          <a:p>
            <a:r>
              <a:rPr lang="zh-CN" altLang="en-US" dirty="0">
                <a:solidFill>
                  <a:srgbClr val="FF0000"/>
                </a:solidFill>
              </a:rPr>
              <a:t>当前状态</a:t>
            </a:r>
            <a:endParaRPr lang="en-AU" dirty="0">
              <a:solidFill>
                <a:srgbClr val="FF0000"/>
              </a:solidFill>
            </a:endParaRPr>
          </a:p>
        </p:txBody>
      </p:sp>
      <p:cxnSp>
        <p:nvCxnSpPr>
          <p:cNvPr id="11" name="Straight Arrow Connector 10"/>
          <p:cNvCxnSpPr/>
          <p:nvPr/>
        </p:nvCxnSpPr>
        <p:spPr>
          <a:xfrm flipH="1" flipV="1">
            <a:off x="1400060" y="4789324"/>
            <a:ext cx="647951" cy="398584"/>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74615" y="3814921"/>
            <a:ext cx="1107996" cy="369332"/>
          </a:xfrm>
          <a:prstGeom prst="rect">
            <a:avLst/>
          </a:prstGeom>
          <a:noFill/>
          <a:ln>
            <a:solidFill>
              <a:srgbClr val="FF0000"/>
            </a:solidFill>
          </a:ln>
        </p:spPr>
        <p:txBody>
          <a:bodyPr wrap="none" rtlCol="0">
            <a:spAutoFit/>
          </a:bodyPr>
          <a:lstStyle/>
          <a:p>
            <a:r>
              <a:rPr lang="zh-CN" altLang="en-US" dirty="0">
                <a:solidFill>
                  <a:srgbClr val="FF0000"/>
                </a:solidFill>
              </a:rPr>
              <a:t>输入符号</a:t>
            </a:r>
            <a:endParaRPr lang="en-AU" dirty="0">
              <a:solidFill>
                <a:srgbClr val="FF0000"/>
              </a:solidFill>
            </a:endParaRPr>
          </a:p>
        </p:txBody>
      </p:sp>
      <p:cxnSp>
        <p:nvCxnSpPr>
          <p:cNvPr id="15" name="Straight Arrow Connector 14"/>
          <p:cNvCxnSpPr/>
          <p:nvPr/>
        </p:nvCxnSpPr>
        <p:spPr>
          <a:xfrm flipH="1" flipV="1">
            <a:off x="1814559" y="4062085"/>
            <a:ext cx="647951" cy="398584"/>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846783" y="3364098"/>
            <a:ext cx="1107996" cy="369332"/>
          </a:xfrm>
          <a:prstGeom prst="rect">
            <a:avLst/>
          </a:prstGeom>
          <a:noFill/>
          <a:ln>
            <a:solidFill>
              <a:srgbClr val="FF0000"/>
            </a:solidFill>
          </a:ln>
        </p:spPr>
        <p:txBody>
          <a:bodyPr wrap="none" rtlCol="0">
            <a:spAutoFit/>
          </a:bodyPr>
          <a:lstStyle/>
          <a:p>
            <a:r>
              <a:rPr lang="zh-CN" altLang="en-US" dirty="0">
                <a:solidFill>
                  <a:srgbClr val="FF0000"/>
                </a:solidFill>
              </a:rPr>
              <a:t>栈顶符号</a:t>
            </a:r>
            <a:endParaRPr lang="en-AU" dirty="0">
              <a:solidFill>
                <a:srgbClr val="FF0000"/>
              </a:solidFill>
            </a:endParaRPr>
          </a:p>
        </p:txBody>
      </p:sp>
      <p:cxnSp>
        <p:nvCxnSpPr>
          <p:cNvPr id="17" name="Straight Arrow Connector 16"/>
          <p:cNvCxnSpPr/>
          <p:nvPr/>
        </p:nvCxnSpPr>
        <p:spPr>
          <a:xfrm flipH="1" flipV="1">
            <a:off x="2556395" y="3802129"/>
            <a:ext cx="281750" cy="487513"/>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56006" y="3814921"/>
            <a:ext cx="454350" cy="6205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405952" y="3422248"/>
            <a:ext cx="2031325" cy="369332"/>
          </a:xfrm>
          <a:prstGeom prst="rect">
            <a:avLst/>
          </a:prstGeom>
          <a:noFill/>
          <a:ln>
            <a:solidFill>
              <a:srgbClr val="FF0000"/>
            </a:solidFill>
          </a:ln>
        </p:spPr>
        <p:txBody>
          <a:bodyPr wrap="none" rtlCol="0">
            <a:spAutoFit/>
          </a:bodyPr>
          <a:lstStyle/>
          <a:p>
            <a:r>
              <a:rPr lang="zh-CN" altLang="en-US" dirty="0">
                <a:solidFill>
                  <a:srgbClr val="FF0000"/>
                </a:solidFill>
              </a:rPr>
              <a:t>栈顶符号的替换串</a:t>
            </a:r>
            <a:endParaRPr lang="en-AU" dirty="0">
              <a:solidFill>
                <a:srgbClr val="FF0000"/>
              </a:solidFill>
            </a:endParaRPr>
          </a:p>
        </p:txBody>
      </p:sp>
      <mc:AlternateContent xmlns:mc="http://schemas.openxmlformats.org/markup-compatibility/2006" xmlns:a14="http://schemas.microsoft.com/office/drawing/2010/main">
        <mc:Choice Requires="a14">
          <p:sp>
            <p:nvSpPr>
              <p:cNvPr id="23" name="TextBox 22"/>
              <p:cNvSpPr txBox="1"/>
              <p:nvPr/>
            </p:nvSpPr>
            <p:spPr>
              <a:xfrm>
                <a:off x="685800" y="2152859"/>
                <a:ext cx="7274756" cy="83099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l-GR" sz="2400" i="1" dirty="0" smtClean="0">
                          <a:latin typeface="Cambria Math" panose="02040503050406030204" pitchFamily="18" charset="0"/>
                        </a:rPr>
                        <m:t>𝛿</m:t>
                      </m:r>
                      <m:r>
                        <a:rPr lang="el-GR"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m:t>
                      </m:r>
                      <m:r>
                        <a:rPr lang="en-AU" sz="2400" i="1" dirty="0" smtClean="0">
                          <a:latin typeface="Cambria Math" panose="02040503050406030204" pitchFamily="18" charset="0"/>
                        </a:rPr>
                        <m:t>𝑍</m:t>
                      </m:r>
                      <m:r>
                        <a:rPr lang="en-AU" sz="2400" i="1" dirty="0" smtClean="0">
                          <a:latin typeface="Cambria Math" panose="02040503050406030204" pitchFamily="18" charset="0"/>
                        </a:rPr>
                        <m:t>) = {(</m:t>
                      </m:r>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𝑝</m:t>
                          </m:r>
                        </m:e>
                        <m:sub>
                          <m:r>
                            <a:rPr lang="en-AU" sz="2400" b="0" i="1" dirty="0" smtClean="0">
                              <a:latin typeface="Cambria Math" panose="02040503050406030204" pitchFamily="18" charset="0"/>
                            </a:rPr>
                            <m:t>1</m:t>
                          </m:r>
                        </m:sub>
                      </m:sSub>
                      <m:r>
                        <a:rPr lang="en-AU" sz="2400" i="1" dirty="0" smtClean="0">
                          <a:latin typeface="Cambria Math" panose="02040503050406030204" pitchFamily="18" charset="0"/>
                        </a:rPr>
                        <m:t>,</m:t>
                      </m:r>
                      <m:sSub>
                        <m:sSubPr>
                          <m:ctrlPr>
                            <a:rPr lang="en-AU" sz="2400" i="1" dirty="0" smtClean="0">
                              <a:latin typeface="Cambria Math" panose="02040503050406030204" pitchFamily="18" charset="0"/>
                            </a:rPr>
                          </m:ctrlPr>
                        </m:sSubPr>
                        <m:e>
                          <m:r>
                            <a:rPr lang="en-AU" sz="2400" i="1" dirty="0" smtClean="0">
                              <a:latin typeface="Cambria Math" panose="02040503050406030204" pitchFamily="18" charset="0"/>
                              <a:ea typeface="Cambria Math" panose="02040503050406030204" pitchFamily="18" charset="0"/>
                            </a:rPr>
                            <m:t>𝛽</m:t>
                          </m:r>
                        </m:e>
                        <m:sub>
                          <m:r>
                            <a:rPr lang="en-AU" sz="2400" b="0" i="1" dirty="0" smtClean="0">
                              <a:latin typeface="Cambria Math" panose="02040503050406030204" pitchFamily="18" charset="0"/>
                            </a:rPr>
                            <m:t>1</m:t>
                          </m:r>
                        </m:sub>
                      </m:sSub>
                      <m:r>
                        <a:rPr lang="el-GR" sz="2400" i="1" dirty="0" smtClean="0">
                          <a:latin typeface="Cambria Math" panose="02040503050406030204" pitchFamily="18" charset="0"/>
                        </a:rPr>
                        <m:t>), (</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𝑝</m:t>
                          </m:r>
                        </m:e>
                        <m:sub>
                          <m:r>
                            <a:rPr lang="en-AU" sz="2400" b="0" i="1" dirty="0" smtClean="0">
                              <a:latin typeface="Cambria Math" panose="02040503050406030204" pitchFamily="18" charset="0"/>
                            </a:rPr>
                            <m:t>2</m:t>
                          </m:r>
                        </m:sub>
                      </m:sSub>
                      <m:r>
                        <a:rPr lang="en-AU" sz="2400" i="1" dirty="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𝛽</m:t>
                          </m:r>
                        </m:e>
                        <m:sub>
                          <m:r>
                            <a:rPr lang="en-AU" sz="2400" b="0" i="1" dirty="0" smtClean="0">
                              <a:latin typeface="Cambria Math" panose="02040503050406030204" pitchFamily="18" charset="0"/>
                              <a:ea typeface="Cambria Math" panose="02040503050406030204" pitchFamily="18" charset="0"/>
                            </a:rPr>
                            <m:t>2</m:t>
                          </m:r>
                        </m:sub>
                      </m:sSub>
                      <m:r>
                        <a:rPr lang="el-GR" sz="2400" i="1" dirty="0" smtClean="0">
                          <a:latin typeface="Cambria Math" panose="02040503050406030204" pitchFamily="18" charset="0"/>
                        </a:rPr>
                        <m:t>), · · · ,</m:t>
                      </m:r>
                      <m:r>
                        <a:rPr lang="en-AU" sz="2400" b="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𝑝</m:t>
                          </m:r>
                        </m:e>
                        <m:sub>
                          <m:r>
                            <a:rPr lang="en-AU" sz="2400" b="0" i="1" dirty="0" smtClean="0">
                              <a:latin typeface="Cambria Math" panose="02040503050406030204" pitchFamily="18" charset="0"/>
                            </a:rPr>
                            <m:t>𝑚</m:t>
                          </m:r>
                        </m:sub>
                      </m:sSub>
                      <m:r>
                        <a:rPr lang="en-AU" sz="2400" i="1" dirty="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𝛽</m:t>
                          </m:r>
                        </m:e>
                        <m:sub>
                          <m:r>
                            <a:rPr lang="en-AU" sz="2400" b="0" i="1" dirty="0" smtClean="0">
                              <a:latin typeface="Cambria Math" panose="02040503050406030204" pitchFamily="18" charset="0"/>
                              <a:ea typeface="Cambria Math" panose="02040503050406030204" pitchFamily="18" charset="0"/>
                            </a:rPr>
                            <m:t>𝑚</m:t>
                          </m:r>
                        </m:sub>
                      </m:sSub>
                      <m:r>
                        <a:rPr lang="en-AU" sz="2400" i="1" dirty="0" smtClean="0">
                          <a:latin typeface="Cambria Math" panose="02040503050406030204" pitchFamily="18" charset="0"/>
                        </a:rPr>
                        <m:t>)}, </m:t>
                      </m:r>
                      <m:r>
                        <a:rPr lang="zh-CN" altLang="en-US" sz="2400" i="1" dirty="0" smtClean="0">
                          <a:latin typeface="Cambria Math" panose="02040503050406030204" pitchFamily="18" charset="0"/>
                        </a:rPr>
                        <m:t>或</m:t>
                      </m:r>
                    </m:oMath>
                  </m:oMathPara>
                </a14:m>
                <a:endParaRPr lang="zh-CN" altLang="en-US" sz="2400" dirty="0"/>
              </a:p>
              <a:p>
                <a:pPr marL="0" indent="0">
                  <a:buNone/>
                </a:pPr>
                <a14:m>
                  <m:oMathPara xmlns:m="http://schemas.openxmlformats.org/officeDocument/2006/math">
                    <m:oMathParaPr>
                      <m:jc m:val="centerGroup"/>
                    </m:oMathParaPr>
                    <m:oMath xmlns:m="http://schemas.openxmlformats.org/officeDocument/2006/math">
                      <m:r>
                        <a:rPr lang="el-GR" sz="2400" i="1" dirty="0" smtClean="0">
                          <a:latin typeface="Cambria Math" panose="02040503050406030204" pitchFamily="18" charset="0"/>
                        </a:rPr>
                        <m:t>𝛿</m:t>
                      </m:r>
                      <m:r>
                        <a:rPr lang="el-GR"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n-AU" sz="2400" i="1" dirty="0" smtClean="0">
                          <a:latin typeface="Cambria Math" panose="02040503050406030204" pitchFamily="18" charset="0"/>
                        </a:rPr>
                        <m:t>𝑍</m:t>
                      </m:r>
                      <m:r>
                        <a:rPr lang="en-AU" sz="2400" i="1" dirty="0" smtClean="0">
                          <a:latin typeface="Cambria Math" panose="02040503050406030204" pitchFamily="18" charset="0"/>
                        </a:rPr>
                        <m:t>) = {(</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𝑝</m:t>
                          </m:r>
                        </m:e>
                        <m:sub>
                          <m:r>
                            <a:rPr lang="en-AU" sz="2400" i="1" dirty="0">
                              <a:latin typeface="Cambria Math" panose="02040503050406030204" pitchFamily="18" charset="0"/>
                            </a:rPr>
                            <m:t>1</m:t>
                          </m:r>
                        </m:sub>
                      </m:sSub>
                      <m:r>
                        <a:rPr lang="en-AU" sz="2400" i="1" dirty="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𝛽</m:t>
                          </m:r>
                        </m:e>
                        <m:sub>
                          <m:r>
                            <a:rPr lang="en-AU" sz="2400" i="1" dirty="0">
                              <a:latin typeface="Cambria Math" panose="02040503050406030204" pitchFamily="18" charset="0"/>
                            </a:rPr>
                            <m:t>1</m:t>
                          </m:r>
                        </m:sub>
                      </m:sSub>
                      <m:r>
                        <a:rPr lang="el-GR" sz="2400" i="1" dirty="0" smtClean="0">
                          <a:latin typeface="Cambria Math" panose="02040503050406030204" pitchFamily="18" charset="0"/>
                        </a:rPr>
                        <m:t>), (</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𝑝</m:t>
                          </m:r>
                        </m:e>
                        <m:sub>
                          <m:r>
                            <a:rPr lang="en-AU" sz="2400" b="0" i="1" dirty="0" smtClean="0">
                              <a:latin typeface="Cambria Math" panose="02040503050406030204" pitchFamily="18" charset="0"/>
                            </a:rPr>
                            <m:t>2</m:t>
                          </m:r>
                        </m:sub>
                      </m:sSub>
                      <m:r>
                        <a:rPr lang="en-AU" sz="2400" i="1" dirty="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𝛽</m:t>
                          </m:r>
                        </m:e>
                        <m:sub>
                          <m:r>
                            <a:rPr lang="en-AU" sz="2400" b="0" i="1" dirty="0" smtClean="0">
                              <a:latin typeface="Cambria Math" panose="02040503050406030204" pitchFamily="18" charset="0"/>
                              <a:ea typeface="Cambria Math" panose="02040503050406030204" pitchFamily="18" charset="0"/>
                            </a:rPr>
                            <m:t>2</m:t>
                          </m:r>
                        </m:sub>
                      </m:sSub>
                      <m:r>
                        <a:rPr lang="el-GR" sz="2400" i="1" dirty="0" smtClean="0">
                          <a:latin typeface="Cambria Math" panose="02040503050406030204" pitchFamily="18" charset="0"/>
                        </a:rPr>
                        <m:t>), · · · , (</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𝑝</m:t>
                          </m:r>
                        </m:e>
                        <m:sub>
                          <m:r>
                            <a:rPr lang="en-AU" sz="2400" b="0" i="1" dirty="0" smtClean="0">
                              <a:latin typeface="Cambria Math" panose="02040503050406030204" pitchFamily="18" charset="0"/>
                            </a:rPr>
                            <m:t>𝑚</m:t>
                          </m:r>
                        </m:sub>
                      </m:sSub>
                      <m:r>
                        <a:rPr lang="en-AU" sz="2400" i="1" dirty="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𝛽</m:t>
                          </m:r>
                        </m:e>
                        <m:sub>
                          <m:r>
                            <a:rPr lang="en-AU" sz="2400" b="0" i="1" dirty="0" smtClean="0">
                              <a:latin typeface="Cambria Math" panose="02040503050406030204" pitchFamily="18" charset="0"/>
                              <a:ea typeface="Cambria Math" panose="02040503050406030204" pitchFamily="18" charset="0"/>
                            </a:rPr>
                            <m:t>𝑚</m:t>
                          </m:r>
                        </m:sub>
                      </m:sSub>
                      <m:r>
                        <a:rPr lang="en-AU" sz="2400" i="1" dirty="0" smtClean="0">
                          <a:latin typeface="Cambria Math" panose="02040503050406030204" pitchFamily="18" charset="0"/>
                        </a:rPr>
                        <m:t>)}.</m:t>
                      </m:r>
                    </m:oMath>
                  </m:oMathPara>
                </a14:m>
                <a:endParaRPr lang="en-AU" sz="2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85800" y="2152859"/>
                <a:ext cx="7274756" cy="830997"/>
              </a:xfrm>
              <a:prstGeom prst="rect">
                <a:avLst/>
              </a:prstGeom>
              <a:blipFill rotWithShape="1">
                <a:blip r:embed="rId6"/>
                <a:stretch>
                  <a:fillRect t="-25" r="3" b="75"/>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normAutofit/>
              </a:bodyPr>
              <a:lstStyle/>
              <a:p>
                <a:r>
                  <a:rPr lang="zh-CN" altLang="en-US" dirty="0"/>
                  <a:t>例</a:t>
                </a:r>
                <a:r>
                  <a:rPr lang="en-AU" altLang="zh-CN" dirty="0"/>
                  <a:t>:</a:t>
                </a:r>
                <a:r>
                  <a:rPr lang="zh-CN" altLang="en-US" dirty="0"/>
                  <a:t>设计识别</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01</m:t>
                        </m:r>
                      </m:sub>
                    </m:sSub>
                    <m:r>
                      <a:rPr lang="en-AU" altLang="zh-CN" b="0" i="1" smtClean="0">
                        <a:latin typeface="Cambria Math" panose="02040503050406030204" pitchFamily="18" charset="0"/>
                      </a:rPr>
                      <m:t>={</m:t>
                    </m:r>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𝑛</m:t>
                        </m:r>
                      </m:sup>
                    </m:sSup>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1</m:t>
                        </m:r>
                      </m:e>
                      <m:sup>
                        <m:r>
                          <a:rPr lang="en-AU" altLang="zh-CN" b="0" i="1" smtClean="0">
                            <a:latin typeface="Cambria Math" panose="02040503050406030204" pitchFamily="18" charset="0"/>
                          </a:rPr>
                          <m:t>𝑛</m:t>
                        </m:r>
                      </m:sup>
                    </m:sSup>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ea typeface="Cambria Math" panose="02040503050406030204" pitchFamily="18" charset="0"/>
                      </a:rPr>
                      <m:t>≥1</m:t>
                    </m:r>
                    <m:r>
                      <a:rPr lang="en-AU" altLang="zh-CN" b="0" i="1" smtClean="0">
                        <a:latin typeface="Cambria Math" panose="02040503050406030204" pitchFamily="18" charset="0"/>
                      </a:rPr>
                      <m:t>}</m:t>
                    </m:r>
                  </m:oMath>
                </a14:m>
                <a:r>
                  <a:rPr lang="zh-CN" altLang="en-US" dirty="0"/>
                  <a:t>的</a:t>
                </a:r>
                <a:r>
                  <a:rPr lang="en-US" altLang="zh-CN" dirty="0">
                    <a:latin typeface="Times New Roman" panose="02020603050405020304" pitchFamily="18" charset="0"/>
                    <a:cs typeface="Times New Roman" panose="02020603050405020304" pitchFamily="18" charset="0"/>
                  </a:rPr>
                  <a:t>PDA</a:t>
                </a:r>
                <a:r>
                  <a:rPr lang="zh-CN" altLang="en-US" dirty="0"/>
                  <a:t>。</a:t>
                </a:r>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3"/>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11</a:t>
            </a:fld>
            <a:endParaRPr lang="en-A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normAutofit/>
              </a:bodyPr>
              <a:lstStyle/>
              <a:p>
                <a:r>
                  <a:rPr lang="zh-CN" altLang="en-US" dirty="0"/>
                  <a:t>例</a:t>
                </a:r>
                <a:r>
                  <a:rPr lang="en-AU" altLang="zh-CN" dirty="0"/>
                  <a:t>:</a:t>
                </a:r>
                <a:r>
                  <a:rPr lang="zh-CN" altLang="en-US" dirty="0"/>
                  <a:t>设计识别</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01</m:t>
                        </m:r>
                      </m:sub>
                    </m:sSub>
                    <m:r>
                      <a:rPr lang="en-AU" altLang="zh-CN" b="0" i="1" smtClean="0">
                        <a:latin typeface="Cambria Math" panose="02040503050406030204" pitchFamily="18" charset="0"/>
                      </a:rPr>
                      <m:t>={</m:t>
                    </m:r>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𝑛</m:t>
                        </m:r>
                      </m:sup>
                    </m:sSup>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1</m:t>
                        </m:r>
                      </m:e>
                      <m:sup>
                        <m:r>
                          <a:rPr lang="en-AU" altLang="zh-CN" b="0" i="1" smtClean="0">
                            <a:latin typeface="Cambria Math" panose="02040503050406030204" pitchFamily="18" charset="0"/>
                          </a:rPr>
                          <m:t>𝑛</m:t>
                        </m:r>
                      </m:sup>
                    </m:sSup>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ea typeface="Cambria Math" panose="02040503050406030204" pitchFamily="18" charset="0"/>
                      </a:rPr>
                      <m:t>≥1</m:t>
                    </m:r>
                    <m:r>
                      <a:rPr lang="en-AU" altLang="zh-CN" b="0" i="1" smtClean="0">
                        <a:latin typeface="Cambria Math" panose="02040503050406030204" pitchFamily="18" charset="0"/>
                      </a:rPr>
                      <m:t>}</m:t>
                    </m:r>
                  </m:oMath>
                </a14:m>
                <a:r>
                  <a:rPr lang="zh-CN" altLang="en-US" dirty="0"/>
                  <a:t>的</a:t>
                </a:r>
                <a:r>
                  <a:rPr lang="en-US" altLang="zh-CN" dirty="0">
                    <a:latin typeface="Times New Roman" panose="02020603050405020304" pitchFamily="18" charset="0"/>
                    <a:cs typeface="Times New Roman" panose="02020603050405020304" pitchFamily="18" charset="0"/>
                  </a:rPr>
                  <a:t>PDA</a:t>
                </a:r>
                <a:r>
                  <a:rPr lang="zh-CN" altLang="en-US" dirty="0"/>
                  <a:t>。</a:t>
                </a:r>
                <a:endParaRPr lang="en-AU" altLang="zh-CN" dirty="0"/>
              </a:p>
              <a:p>
                <a:r>
                  <a:rPr lang="zh-CN" altLang="en-US" dirty="0"/>
                  <a:t>思路：</a:t>
                </a:r>
                <a:endParaRPr lang="en-AU" altLang="zh-CN" dirty="0"/>
              </a:p>
              <a:p>
                <a:pPr lvl="1"/>
                <a:r>
                  <a:rPr lang="zh-CN" altLang="en-US" dirty="0"/>
                  <a:t>当</a:t>
                </a:r>
                <a:r>
                  <a:rPr lang="en-US" altLang="zh-CN" dirty="0">
                    <a:latin typeface="Times New Roman" panose="02020603050405020304" pitchFamily="18" charset="0"/>
                    <a:cs typeface="Times New Roman" panose="02020603050405020304" pitchFamily="18" charset="0"/>
                  </a:rPr>
                  <a:t>PDA</a:t>
                </a:r>
                <a:r>
                  <a:rPr lang="zh-CN" altLang="en-US" dirty="0"/>
                  <a:t>读入</a:t>
                </a:r>
                <a:r>
                  <a:rPr lang="en-AU" altLang="zh-CN" dirty="0"/>
                  <a:t>0</a:t>
                </a:r>
                <a:r>
                  <a:rPr lang="zh-CN" altLang="en-US" dirty="0"/>
                  <a:t>的时候，先把</a:t>
                </a:r>
                <a:r>
                  <a:rPr lang="en-AU" altLang="zh-CN" dirty="0"/>
                  <a:t>0</a:t>
                </a:r>
                <a:r>
                  <a:rPr lang="zh-CN" altLang="en-US" dirty="0"/>
                  <a:t>全部压入栈中；</a:t>
                </a:r>
                <a:endParaRPr lang="en-AU" altLang="zh-CN" dirty="0"/>
              </a:p>
              <a:p>
                <a:pPr lvl="1"/>
                <a:r>
                  <a:rPr lang="zh-CN" altLang="en-US" dirty="0"/>
                  <a:t>每读入一个</a:t>
                </a:r>
                <a:r>
                  <a:rPr lang="en-AU" altLang="zh-CN" dirty="0"/>
                  <a:t>1</a:t>
                </a:r>
                <a:r>
                  <a:rPr lang="zh-CN" altLang="en-US" dirty="0"/>
                  <a:t>，从栈中弹出一个</a:t>
                </a:r>
                <a:r>
                  <a:rPr lang="en-AU" altLang="zh-CN" dirty="0"/>
                  <a:t>0</a:t>
                </a:r>
                <a:r>
                  <a:rPr lang="zh-CN" altLang="en-US" dirty="0"/>
                  <a:t>，以达到匹配</a:t>
                </a:r>
                <a:r>
                  <a:rPr lang="en-AU" altLang="zh-CN" dirty="0"/>
                  <a:t>0</a:t>
                </a:r>
                <a:r>
                  <a:rPr lang="zh-CN" altLang="en-US" dirty="0"/>
                  <a:t>和</a:t>
                </a:r>
                <a:r>
                  <a:rPr lang="en-AU" altLang="zh-CN" dirty="0"/>
                  <a:t>1</a:t>
                </a:r>
                <a:r>
                  <a:rPr lang="zh-CN" altLang="en-US" dirty="0"/>
                  <a:t>数量的目的；</a:t>
                </a:r>
                <a:endParaRPr lang="en-AU" altLang="zh-CN" dirty="0"/>
              </a:p>
              <a:p>
                <a:pPr lvl="1"/>
                <a:r>
                  <a:rPr lang="zh-CN" altLang="en-US" dirty="0"/>
                  <a:t>当扫描完整个字符串的时候，如果栈顶刚好把初始符号</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𝑍</m:t>
                        </m:r>
                      </m:e>
                      <m:sub>
                        <m:r>
                          <a:rPr lang="en-AU" altLang="zh-CN" b="0" i="1" dirty="0" smtClean="0">
                            <a:latin typeface="Cambria Math" panose="02040503050406030204" pitchFamily="18" charset="0"/>
                          </a:rPr>
                          <m:t>0</m:t>
                        </m:r>
                      </m:sub>
                    </m:sSub>
                  </m:oMath>
                </a14:m>
                <a:r>
                  <a:rPr lang="zh-CN" altLang="en-US" dirty="0"/>
                  <a:t>露出来，那么可以通过空转移跳到接受状态。</a:t>
                </a:r>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3"/>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12</a:t>
            </a:fld>
            <a:endParaRPr lang="en-A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806519"/>
              </a:xfrm>
            </p:spPr>
            <p:txBody>
              <a:bodyPr>
                <a:normAutofit fontScale="85000" lnSpcReduction="20000"/>
              </a:bodyPr>
              <a:lstStyle/>
              <a:p>
                <a:pPr>
                  <a:lnSpc>
                    <a:spcPct val="120000"/>
                  </a:lnSpc>
                </a:pPr>
                <a:r>
                  <a:rPr lang="zh-CN" altLang="en-US" dirty="0"/>
                  <a:t>例</a:t>
                </a:r>
                <a:r>
                  <a:rPr lang="en-AU" altLang="zh-CN" dirty="0"/>
                  <a:t>1:</a:t>
                </a:r>
                <a:r>
                  <a:rPr lang="zh-CN" altLang="en-US" dirty="0"/>
                  <a:t>设计识别</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01</m:t>
                        </m:r>
                      </m:sub>
                    </m:sSub>
                    <m:r>
                      <a:rPr lang="en-AU" altLang="zh-CN" b="0" i="1" smtClean="0">
                        <a:latin typeface="Cambria Math" panose="02040503050406030204" pitchFamily="18" charset="0"/>
                      </a:rPr>
                      <m:t>={</m:t>
                    </m:r>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𝑛</m:t>
                        </m:r>
                      </m:sup>
                    </m:sSup>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1</m:t>
                        </m:r>
                      </m:e>
                      <m:sup>
                        <m:r>
                          <a:rPr lang="en-AU" altLang="zh-CN" b="0" i="1" smtClean="0">
                            <a:latin typeface="Cambria Math" panose="02040503050406030204" pitchFamily="18" charset="0"/>
                          </a:rPr>
                          <m:t>𝑛</m:t>
                        </m:r>
                      </m:sup>
                    </m:sSup>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ea typeface="Cambria Math" panose="02040503050406030204" pitchFamily="18" charset="0"/>
                      </a:rPr>
                      <m:t>≥1</m:t>
                    </m:r>
                    <m:r>
                      <a:rPr lang="en-AU" altLang="zh-CN" b="0" i="1" smtClean="0">
                        <a:latin typeface="Cambria Math" panose="02040503050406030204" pitchFamily="18" charset="0"/>
                      </a:rPr>
                      <m:t>}</m:t>
                    </m:r>
                  </m:oMath>
                </a14:m>
                <a:r>
                  <a:rPr lang="zh-CN" altLang="en-US" dirty="0"/>
                  <a:t>。</a:t>
                </a:r>
                <a:endParaRPr lang="en-AU" altLang="zh-CN" dirty="0"/>
              </a:p>
              <a:p>
                <a:pPr>
                  <a:lnSpc>
                    <a:spcPct val="120000"/>
                  </a:lnSpc>
                </a:pPr>
                <a:r>
                  <a:rPr lang="zh-CN" altLang="en-US" dirty="0"/>
                  <a:t>状态集</a:t>
                </a:r>
                <a:r>
                  <a:rPr lang="en-AU" altLang="zh-CN" dirty="0"/>
                  <a:t>:</a:t>
                </a:r>
              </a:p>
              <a:p>
                <a:pPr lvl="1">
                  <a:lnSpc>
                    <a:spcPct val="120000"/>
                  </a:lnSpc>
                </a:pPr>
                <a14:m>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0</m:t>
                        </m:r>
                      </m:sub>
                    </m:sSub>
                  </m:oMath>
                </a14:m>
                <a:r>
                  <a:rPr lang="zh-CN" altLang="en-US" dirty="0"/>
                  <a:t>：初始状态。如果到目前为止输入只有</a:t>
                </a:r>
                <a:r>
                  <a:rPr lang="en-AU" altLang="zh-CN" dirty="0"/>
                  <a:t>0</a:t>
                </a:r>
                <a:r>
                  <a:rPr lang="zh-CN" altLang="en-US" dirty="0"/>
                  <a:t>，那么一直处于状态</a:t>
                </a:r>
                <a14:m>
                  <m:oMath xmlns:m="http://schemas.openxmlformats.org/officeDocument/2006/math">
                    <m:sSub>
                      <m:sSubPr>
                        <m:ctrlPr>
                          <a:rPr lang="en-AU" altLang="zh-CN" i="1">
                            <a:latin typeface="Cambria Math" panose="02040503050406030204" pitchFamily="18" charset="0"/>
                          </a:rPr>
                        </m:ctrlPr>
                      </m:sSubPr>
                      <m:e>
                        <m:r>
                          <a:rPr lang="en-AU" altLang="zh-CN" i="1">
                            <a:latin typeface="Cambria Math" panose="02040503050406030204" pitchFamily="18" charset="0"/>
                          </a:rPr>
                          <m:t>𝑞</m:t>
                        </m:r>
                      </m:e>
                      <m:sub>
                        <m:r>
                          <a:rPr lang="en-AU" altLang="zh-CN" i="1">
                            <a:latin typeface="Cambria Math" panose="02040503050406030204" pitchFamily="18" charset="0"/>
                          </a:rPr>
                          <m:t>0</m:t>
                        </m:r>
                      </m:sub>
                    </m:sSub>
                  </m:oMath>
                </a14:m>
                <a:r>
                  <a:rPr lang="zh-CN" altLang="en-US" dirty="0"/>
                  <a:t>。</a:t>
                </a:r>
                <a:endParaRPr lang="en-AU" altLang="zh-CN" dirty="0"/>
              </a:p>
              <a:p>
                <a:pPr lvl="1">
                  <a:lnSpc>
                    <a:spcPct val="120000"/>
                  </a:lnSpc>
                </a:pPr>
                <a14:m>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1</m:t>
                        </m:r>
                      </m:sub>
                    </m:sSub>
                  </m:oMath>
                </a14:m>
                <a:r>
                  <a:rPr lang="zh-CN" altLang="en-US" dirty="0"/>
                  <a:t>：到目前为止至少输入了一个</a:t>
                </a:r>
                <a:r>
                  <a:rPr lang="en-AU" altLang="zh-CN" dirty="0"/>
                  <a:t>1</a:t>
                </a:r>
                <a:r>
                  <a:rPr lang="zh-CN" altLang="en-US" dirty="0"/>
                  <a:t>（且栈顶为</a:t>
                </a:r>
                <a:r>
                  <a:rPr lang="en-AU" altLang="zh-CN" dirty="0"/>
                  <a:t>0</a:t>
                </a:r>
                <a:r>
                  <a:rPr lang="zh-CN" altLang="en-US" dirty="0"/>
                  <a:t>）。如果后续输入仍为</a:t>
                </a:r>
                <a:r>
                  <a:rPr lang="en-AU" altLang="zh-CN" dirty="0"/>
                  <a:t>1</a:t>
                </a:r>
                <a:r>
                  <a:rPr lang="zh-CN" altLang="en-US" dirty="0"/>
                  <a:t>，则可继续进行判断。</a:t>
                </a:r>
                <a:endParaRPr lang="en-AU" altLang="zh-CN" dirty="0"/>
              </a:p>
              <a:p>
                <a:pPr lvl="1">
                  <a:lnSpc>
                    <a:spcPct val="120000"/>
                  </a:lnSpc>
                </a:pPr>
                <a14:m>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2</m:t>
                        </m:r>
                      </m:sub>
                    </m:sSub>
                  </m:oMath>
                </a14:m>
                <a:r>
                  <a:rPr lang="zh-CN" altLang="en-US" dirty="0"/>
                  <a:t>：接受状态。</a:t>
                </a:r>
                <a:endParaRPr lang="en-AU" altLang="zh-CN" dirty="0"/>
              </a:p>
              <a:p>
                <a:pPr>
                  <a:lnSpc>
                    <a:spcPct val="120000"/>
                  </a:lnSpc>
                </a:pPr>
                <a:r>
                  <a:rPr lang="zh-CN" altLang="en-US" dirty="0"/>
                  <a:t>栈符号：</a:t>
                </a:r>
                <a:endParaRPr lang="en-AU" altLang="zh-CN" dirty="0"/>
              </a:p>
              <a:p>
                <a:pPr lvl="1">
                  <a:lnSpc>
                    <a:spcPct val="120000"/>
                  </a:lnSpc>
                </a:pPr>
                <a14:m>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𝑍</m:t>
                        </m:r>
                      </m:e>
                      <m:sub>
                        <m:r>
                          <a:rPr lang="en-AU" altLang="zh-CN" b="0" i="1" smtClean="0">
                            <a:latin typeface="Cambria Math" panose="02040503050406030204" pitchFamily="18" charset="0"/>
                          </a:rPr>
                          <m:t>0</m:t>
                        </m:r>
                      </m:sub>
                    </m:sSub>
                  </m:oMath>
                </a14:m>
                <a:r>
                  <a:rPr lang="en-AU" altLang="zh-CN" dirty="0"/>
                  <a:t>:</a:t>
                </a:r>
                <a:r>
                  <a:rPr lang="zh-CN" altLang="en-US" dirty="0"/>
                  <a:t>栈中的初始符号。可用来指示是否读入了相同数量的</a:t>
                </a:r>
                <a:r>
                  <a:rPr lang="en-AU" altLang="zh-CN" dirty="0"/>
                  <a:t>0</a:t>
                </a:r>
                <a:r>
                  <a:rPr lang="zh-CN" altLang="en-US" dirty="0"/>
                  <a:t>和</a:t>
                </a:r>
                <a:r>
                  <a:rPr lang="en-AU" altLang="zh-CN" dirty="0"/>
                  <a:t>1</a:t>
                </a:r>
                <a:r>
                  <a:rPr lang="zh-CN" altLang="en-US" dirty="0"/>
                  <a:t>。</a:t>
                </a:r>
                <a:endParaRPr lang="en-AU" altLang="zh-CN" dirty="0"/>
              </a:p>
              <a:p>
                <a:pPr lvl="1">
                  <a:lnSpc>
                    <a:spcPct val="120000"/>
                  </a:lnSpc>
                </a:pPr>
                <a:r>
                  <a:rPr lang="en-AU" altLang="zh-CN" dirty="0"/>
                  <a:t>0:</a:t>
                </a:r>
                <a:r>
                  <a:rPr lang="zh-CN" altLang="en-US" dirty="0"/>
                  <a:t>从输入带压入栈中的符号</a:t>
                </a:r>
                <a:r>
                  <a:rPr lang="en-AU" altLang="zh-CN" dirty="0"/>
                  <a:t>0</a:t>
                </a:r>
                <a:r>
                  <a:rPr lang="zh-CN" altLang="en-US" dirty="0"/>
                  <a:t>。</a:t>
                </a: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806519"/>
              </a:xfrm>
              <a:blipFill rotWithShape="1">
                <a:blip r:embed="rId3"/>
                <a:stretch>
                  <a:fillRect t="-3"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13</a:t>
            </a:fld>
            <a:endParaRPr lang="en-A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fld id="{38E389A0-0509-4411-BF6A-C6E540581EF7}" type="slidenum">
              <a:rPr lang="en-US" altLang="en-US"/>
              <a:t>14</a:t>
            </a:fld>
            <a:endParaRPr lang="en-US" altLang="en-US"/>
          </a:p>
        </p:txBody>
      </p:sp>
      <mc:AlternateContent xmlns:mc="http://schemas.openxmlformats.org/markup-compatibility/2006" xmlns:a14="http://schemas.microsoft.com/office/drawing/2010/main">
        <mc:Choice Requires="a14">
          <p:sp>
            <p:nvSpPr>
              <p:cNvPr id="29700" name="Rectangle 4"/>
              <p:cNvSpPr>
                <a:spLocks noChangeArrowheads="1"/>
              </p:cNvSpPr>
              <p:nvPr/>
            </p:nvSpPr>
            <p:spPr bwMode="auto">
              <a:xfrm>
                <a:off x="3581400" y="2971800"/>
                <a:ext cx="838200" cy="838200"/>
              </a:xfrm>
              <a:prstGeom prst="rect">
                <a:avLst/>
              </a:prstGeom>
              <a:solidFill>
                <a:schemeClr val="accent1">
                  <a:alpha val="50000"/>
                </a:schemeClr>
              </a:solidFill>
              <a:ln w="9525">
                <a:solidFill>
                  <a:schemeClr val="tx1"/>
                </a:solidFill>
                <a:miter lim="800000"/>
              </a:ln>
              <a:effectLst/>
              <a:extLst>
                <a:ext uri="{AF507438-7753-43E0-B8FC-AC1667EBCBE1}">
                  <a14:hiddenEffects>
                    <a:effectLst>
                      <a:outerShdw dist="35921" dir="2700000" algn="ctr" rotWithShape="0">
                        <a:schemeClr val="bg2"/>
                      </a:outerShdw>
                    </a:effectLst>
                  </a14:hiddenEffects>
                </a:ext>
              </a:ex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0</m:t>
                          </m:r>
                        </m:sub>
                      </m:sSub>
                    </m:oMath>
                  </m:oMathPara>
                </a14:m>
                <a:endParaRPr lang="en-US" altLang="en-US" dirty="0"/>
              </a:p>
            </p:txBody>
          </p:sp>
        </mc:Choice>
        <mc:Fallback xmlns="">
          <p:sp>
            <p:nvSpPr>
              <p:cNvPr id="29700" name="Rectangle 4"/>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9701" name="Text Box 5"/>
          <p:cNvSpPr txBox="1">
            <a:spLocks noChangeArrowheads="1"/>
          </p:cNvSpPr>
          <p:nvPr/>
        </p:nvSpPr>
        <p:spPr bwMode="auto">
          <a:xfrm>
            <a:off x="3733800" y="2057400"/>
            <a:ext cx="12041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 </a:t>
            </a:r>
            <a:r>
              <a:rPr lang="en-US" altLang="en-US" dirty="0">
                <a:solidFill>
                  <a:srgbClr val="FF0000"/>
                </a:solidFill>
              </a:rPr>
              <a:t>0</a:t>
            </a:r>
            <a:r>
              <a:rPr lang="en-US" altLang="en-US" dirty="0"/>
              <a:t> 0 0 1 1 1</a:t>
            </a:r>
          </a:p>
        </p:txBody>
      </p:sp>
      <p:sp>
        <p:nvSpPr>
          <p:cNvPr id="29702" name="Line 6"/>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9703" name="Text Box 7"/>
          <p:cNvSpPr txBox="1">
            <a:spLocks noChangeArrowheads="1"/>
          </p:cNvSpPr>
          <p:nvPr/>
        </p:nvSpPr>
        <p:spPr bwMode="auto">
          <a:xfrm>
            <a:off x="3810000" y="4419600"/>
            <a:ext cx="37061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00B050"/>
                </a:solidFill>
              </a:rPr>
              <a:t>Z</a:t>
            </a:r>
            <a:r>
              <a:rPr lang="en-US" altLang="en-US" baseline="-25000" dirty="0">
                <a:solidFill>
                  <a:srgbClr val="00B050"/>
                </a:solidFill>
              </a:rPr>
              <a:t>0</a:t>
            </a:r>
          </a:p>
        </p:txBody>
      </p:sp>
      <p:sp>
        <p:nvSpPr>
          <p:cNvPr id="29704" name="Line 8"/>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1"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p:cNvSpPr txBox="1"/>
              <p:nvPr/>
            </p:nvSpPr>
            <p:spPr>
              <a:xfrm>
                <a:off x="4572000" y="3070908"/>
                <a:ext cx="2358513"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l-GR" altLang="zh-CN" sz="1800" i="1" dirty="0" smtClean="0">
                              <a:latin typeface="Cambria Math" panose="02040503050406030204" pitchFamily="18" charset="0"/>
                            </a:rPr>
                          </m:ctrlPr>
                        </m:dPr>
                        <m:e>
                          <m:sSub>
                            <m:sSubPr>
                              <m:ctrlPr>
                                <a:rPr lang="el-GR" altLang="zh-CN" sz="1800" i="1" dirty="0" smtClean="0">
                                  <a:latin typeface="Cambria Math" panose="02040503050406030204" pitchFamily="18" charset="0"/>
                                </a:rPr>
                              </m:ctrlPr>
                            </m:sSubPr>
                            <m:e>
                              <m:r>
                                <a:rPr lang="en-AU" altLang="zh-CN" sz="1800" b="0" i="1" dirty="0" smtClean="0">
                                  <a:latin typeface="Cambria Math" panose="02040503050406030204" pitchFamily="18" charset="0"/>
                                </a:rPr>
                                <m:t>𝑞</m:t>
                              </m:r>
                            </m:e>
                            <m:sub>
                              <m:r>
                                <a:rPr lang="en-AU" altLang="zh-CN" sz="1800" b="0" i="1" dirty="0" smtClean="0">
                                  <a:latin typeface="Cambria Math" panose="02040503050406030204" pitchFamily="18" charset="0"/>
                                </a:rPr>
                                <m:t>0</m:t>
                              </m:r>
                            </m:sub>
                          </m:sSub>
                          <m:r>
                            <a:rPr lang="en-AU" altLang="zh-CN" sz="1800" i="1" dirty="0" smtClean="0">
                              <a:latin typeface="Cambria Math" panose="02040503050406030204" pitchFamily="18" charset="0"/>
                            </a:rPr>
                            <m:t>, </m:t>
                          </m:r>
                          <m:r>
                            <a:rPr lang="en-AU" altLang="zh-CN" sz="1800" b="0" i="1" dirty="0" smtClean="0">
                              <a:solidFill>
                                <a:srgbClr val="FF0000"/>
                              </a:solidFill>
                              <a:latin typeface="Cambria Math" panose="02040503050406030204" pitchFamily="18" charset="0"/>
                            </a:rPr>
                            <m:t>0</m:t>
                          </m:r>
                          <m:r>
                            <a:rPr lang="en-AU" altLang="zh-CN" sz="1800" i="1" dirty="0" smtClean="0">
                              <a:latin typeface="Cambria Math" panose="02040503050406030204" pitchFamily="18" charset="0"/>
                            </a:rPr>
                            <m:t>, </m:t>
                          </m:r>
                          <m:sSub>
                            <m:sSubPr>
                              <m:ctrlPr>
                                <a:rPr lang="en-AU" altLang="zh-CN" sz="1800" i="1" dirty="0" smtClean="0">
                                  <a:solidFill>
                                    <a:srgbClr val="00B050"/>
                                  </a:solidFill>
                                  <a:latin typeface="Cambria Math" panose="02040503050406030204" pitchFamily="18" charset="0"/>
                                </a:rPr>
                              </m:ctrlPr>
                            </m:sSubPr>
                            <m:e>
                              <m:r>
                                <a:rPr lang="en-AU" altLang="zh-CN" sz="1800" b="0" i="1" dirty="0" smtClean="0">
                                  <a:solidFill>
                                    <a:srgbClr val="00B050"/>
                                  </a:solidFill>
                                  <a:latin typeface="Cambria Math" panose="02040503050406030204" pitchFamily="18" charset="0"/>
                                </a:rPr>
                                <m:t>𝑍</m:t>
                              </m:r>
                            </m:e>
                            <m:sub>
                              <m:r>
                                <a:rPr lang="en-AU" altLang="zh-CN" sz="1800" b="0" i="1" dirty="0" smtClean="0">
                                  <a:solidFill>
                                    <a:srgbClr val="00B050"/>
                                  </a:solidFill>
                                  <a:latin typeface="Cambria Math" panose="02040503050406030204" pitchFamily="18" charset="0"/>
                                </a:rPr>
                                <m:t>0</m:t>
                              </m:r>
                            </m:sub>
                          </m:sSub>
                        </m:e>
                      </m:d>
                      <m:r>
                        <a:rPr lang="en-AU" altLang="zh-CN" sz="1800" b="0" i="1" dirty="0" smtClean="0">
                          <a:latin typeface="Cambria Math" panose="02040503050406030204" pitchFamily="18" charset="0"/>
                        </a:rPr>
                        <m:t>={(</m:t>
                      </m:r>
                      <m:sSub>
                        <m:sSubPr>
                          <m:ctrlPr>
                            <a:rPr lang="el-GR" altLang="zh-CN" sz="1800" i="1" dirty="0">
                              <a:latin typeface="Cambria Math" panose="02040503050406030204" pitchFamily="18" charset="0"/>
                            </a:rPr>
                          </m:ctrlPr>
                        </m:sSubPr>
                        <m:e>
                          <m:r>
                            <a:rPr lang="en-AU" altLang="zh-CN" sz="1800" i="1" dirty="0">
                              <a:latin typeface="Cambria Math" panose="02040503050406030204" pitchFamily="18" charset="0"/>
                            </a:rPr>
                            <m:t>𝑞</m:t>
                          </m:r>
                        </m:e>
                        <m:sub>
                          <m:r>
                            <a:rPr lang="en-AU" altLang="zh-CN" sz="1800" i="1" dirty="0">
                              <a:latin typeface="Cambria Math" panose="02040503050406030204" pitchFamily="18" charset="0"/>
                            </a:rPr>
                            <m:t>0</m:t>
                          </m:r>
                        </m:sub>
                      </m:sSub>
                      <m:r>
                        <a:rPr lang="en-AU" altLang="zh-CN" sz="1800" b="0" i="1" dirty="0" smtClean="0">
                          <a:latin typeface="Cambria Math" panose="02040503050406030204" pitchFamily="18" charset="0"/>
                        </a:rPr>
                        <m:t>,</m:t>
                      </m:r>
                      <m:r>
                        <a:rPr lang="en-AU" altLang="zh-CN" sz="1800" b="0" i="1" dirty="0" smtClean="0">
                          <a:solidFill>
                            <a:srgbClr val="FF0000"/>
                          </a:solidFill>
                          <a:latin typeface="Cambria Math" panose="02040503050406030204" pitchFamily="18" charset="0"/>
                        </a:rPr>
                        <m:t>0</m:t>
                      </m:r>
                      <m:sSub>
                        <m:sSubPr>
                          <m:ctrlPr>
                            <a:rPr lang="en-AU" altLang="zh-CN" sz="1800" i="1" dirty="0">
                              <a:solidFill>
                                <a:srgbClr val="00B050"/>
                              </a:solidFill>
                              <a:latin typeface="Cambria Math" panose="02040503050406030204" pitchFamily="18" charset="0"/>
                            </a:rPr>
                          </m:ctrlPr>
                        </m:sSubPr>
                        <m:e>
                          <m:r>
                            <a:rPr lang="en-AU" altLang="zh-CN" sz="1800" i="1" dirty="0">
                              <a:solidFill>
                                <a:srgbClr val="00B050"/>
                              </a:solidFill>
                              <a:latin typeface="Cambria Math" panose="02040503050406030204" pitchFamily="18" charset="0"/>
                            </a:rPr>
                            <m:t>𝑍</m:t>
                          </m:r>
                        </m:e>
                        <m:sub>
                          <m:r>
                            <a:rPr lang="en-AU" altLang="zh-CN" sz="1800" i="1" dirty="0">
                              <a:solidFill>
                                <a:srgbClr val="00B050"/>
                              </a:solidFill>
                              <a:latin typeface="Cambria Math" panose="02040503050406030204" pitchFamily="18" charset="0"/>
                            </a:rPr>
                            <m:t>0</m:t>
                          </m:r>
                        </m:sub>
                      </m:sSub>
                      <m:r>
                        <a:rPr lang="en-AU" altLang="zh-CN" sz="1800" b="0" i="1" dirty="0" smtClean="0">
                          <a:latin typeface="Cambria Math" panose="02040503050406030204" pitchFamily="18" charset="0"/>
                        </a:rPr>
                        <m:t>)}</m:t>
                      </m:r>
                    </m:oMath>
                  </m:oMathPara>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4572000" y="3070908"/>
                <a:ext cx="2358513" cy="639983"/>
              </a:xfrm>
              <a:prstGeom prst="rect">
                <a:avLst/>
              </a:prstGeom>
              <a:blipFill rotWithShape="1">
                <a:blip r:embed="rId4"/>
                <a:stretch>
                  <a:fillRect t="-8" r="5" b="92"/>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fld id="{13ED27D9-DB3F-474C-9119-69F629D4F3DC}" type="slidenum">
              <a:rPr lang="en-US" altLang="en-US"/>
              <a:t>15</a:t>
            </a:fld>
            <a:endParaRPr lang="en-US" altLang="en-US"/>
          </a:p>
        </p:txBody>
      </p:sp>
      <mc:AlternateContent xmlns:mc="http://schemas.openxmlformats.org/markup-compatibility/2006" xmlns:a14="http://schemas.microsoft.com/office/drawing/2010/main">
        <mc:Choice Requires="a14">
          <p:sp>
            <p:nvSpPr>
              <p:cNvPr id="31747" name="Rectangle 3"/>
              <p:cNvSpPr>
                <a:spLocks noChangeArrowheads="1"/>
              </p:cNvSpPr>
              <p:nvPr/>
            </p:nvSpPr>
            <p:spPr bwMode="auto">
              <a:xfrm>
                <a:off x="3581400" y="2971800"/>
                <a:ext cx="838200" cy="838200"/>
              </a:xfrm>
              <a:prstGeom prst="rect">
                <a:avLst/>
              </a:prstGeom>
              <a:solidFill>
                <a:schemeClr val="accent1">
                  <a:alpha val="50000"/>
                </a:schemeClr>
              </a:solidFill>
              <a:ln w="9525">
                <a:solidFill>
                  <a:schemeClr val="tx1"/>
                </a:solidFill>
                <a:miter lim="800000"/>
              </a:ln>
              <a:effectLst/>
              <a:extLst>
                <a:ext uri="{AF507438-7753-43E0-B8FC-AC1667EBCBE1}">
                  <a14:hiddenEffects>
                    <a:effectLst>
                      <a:outerShdw dist="35921" dir="2700000" algn="ctr" rotWithShape="0">
                        <a:schemeClr val="bg2"/>
                      </a:outerShdw>
                    </a:effectLst>
                  </a14:hiddenEffects>
                </a:ext>
              </a:ex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0</m:t>
                          </m:r>
                        </m:sub>
                      </m:sSub>
                    </m:oMath>
                  </m:oMathPara>
                </a14:m>
                <a:endParaRPr lang="en-US" altLang="en-US" dirty="0"/>
              </a:p>
            </p:txBody>
          </p:sp>
        </mc:Choice>
        <mc:Fallback xmlns="">
          <p:sp>
            <p:nvSpPr>
              <p:cNvPr id="31747" name="Rectangle 3"/>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1748" name="Text Box 4"/>
          <p:cNvSpPr txBox="1">
            <a:spLocks noChangeArrowheads="1"/>
          </p:cNvSpPr>
          <p:nvPr/>
        </p:nvSpPr>
        <p:spPr bwMode="auto">
          <a:xfrm>
            <a:off x="3733800" y="2057400"/>
            <a:ext cx="10342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 </a:t>
            </a:r>
            <a:r>
              <a:rPr lang="en-US" altLang="en-US" dirty="0">
                <a:solidFill>
                  <a:srgbClr val="FF0000"/>
                </a:solidFill>
              </a:rPr>
              <a:t>0</a:t>
            </a:r>
            <a:r>
              <a:rPr lang="en-US" altLang="en-US" dirty="0"/>
              <a:t> 0 1 1 1</a:t>
            </a:r>
          </a:p>
        </p:txBody>
      </p:sp>
      <p:sp>
        <p:nvSpPr>
          <p:cNvPr id="31749" name="Line 5"/>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1750" name="Text Box 6"/>
          <p:cNvSpPr txBox="1">
            <a:spLocks noChangeArrowheads="1"/>
          </p:cNvSpPr>
          <p:nvPr/>
        </p:nvSpPr>
        <p:spPr bwMode="auto">
          <a:xfrm>
            <a:off x="3810000" y="4419600"/>
            <a:ext cx="3706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00B050"/>
                </a:solidFill>
              </a:rPr>
              <a:t>0</a:t>
            </a:r>
          </a:p>
          <a:p>
            <a:r>
              <a:rPr lang="en-US" altLang="en-US" dirty="0"/>
              <a:t>Z</a:t>
            </a:r>
            <a:r>
              <a:rPr lang="en-US" altLang="en-US" baseline="-25000" dirty="0"/>
              <a:t>0</a:t>
            </a:r>
          </a:p>
        </p:txBody>
      </p:sp>
      <p:sp>
        <p:nvSpPr>
          <p:cNvPr id="31751" name="Line 7"/>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0"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p:cNvSpPr txBox="1"/>
              <p:nvPr/>
            </p:nvSpPr>
            <p:spPr>
              <a:xfrm>
                <a:off x="4640828" y="3070908"/>
                <a:ext cx="2133600"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l-GR" altLang="zh-CN" sz="1800" i="1" dirty="0" smtClean="0">
                              <a:latin typeface="Cambria Math" panose="02040503050406030204" pitchFamily="18" charset="0"/>
                            </a:rPr>
                          </m:ctrlPr>
                        </m:dPr>
                        <m:e>
                          <m:sSub>
                            <m:sSubPr>
                              <m:ctrlPr>
                                <a:rPr lang="el-GR" altLang="zh-CN" sz="1800" i="1" dirty="0" smtClean="0">
                                  <a:latin typeface="Cambria Math" panose="02040503050406030204" pitchFamily="18" charset="0"/>
                                </a:rPr>
                              </m:ctrlPr>
                            </m:sSubPr>
                            <m:e>
                              <m:r>
                                <a:rPr lang="en-AU" altLang="zh-CN" sz="1800" b="0" i="1" dirty="0" smtClean="0">
                                  <a:latin typeface="Cambria Math" panose="02040503050406030204" pitchFamily="18" charset="0"/>
                                </a:rPr>
                                <m:t>𝑞</m:t>
                              </m:r>
                            </m:e>
                            <m:sub>
                              <m:r>
                                <a:rPr lang="en-AU" altLang="zh-CN" sz="1800" b="0" i="1" dirty="0" smtClean="0">
                                  <a:latin typeface="Cambria Math" panose="02040503050406030204" pitchFamily="18" charset="0"/>
                                </a:rPr>
                                <m:t>0</m:t>
                              </m:r>
                            </m:sub>
                          </m:sSub>
                          <m:r>
                            <a:rPr lang="en-AU" altLang="zh-CN" sz="1800" i="1" dirty="0" smtClean="0">
                              <a:latin typeface="Cambria Math" panose="02040503050406030204" pitchFamily="18" charset="0"/>
                            </a:rPr>
                            <m:t>, </m:t>
                          </m:r>
                          <m:r>
                            <a:rPr lang="en-AU" altLang="zh-CN" sz="1800" b="0" i="1" dirty="0" smtClean="0">
                              <a:solidFill>
                                <a:srgbClr val="FF0000"/>
                              </a:solidFill>
                              <a:latin typeface="Cambria Math" panose="02040503050406030204" pitchFamily="18" charset="0"/>
                            </a:rPr>
                            <m:t>0</m:t>
                          </m:r>
                          <m:r>
                            <a:rPr lang="en-AU" altLang="zh-CN" sz="1800" i="1" dirty="0" smtClean="0">
                              <a:latin typeface="Cambria Math" panose="02040503050406030204" pitchFamily="18" charset="0"/>
                            </a:rPr>
                            <m:t>, </m:t>
                          </m:r>
                          <m:r>
                            <a:rPr lang="en-AU" altLang="zh-CN" sz="1800" b="0" i="1" dirty="0" smtClean="0">
                              <a:solidFill>
                                <a:srgbClr val="00B050"/>
                              </a:solidFill>
                              <a:latin typeface="Cambria Math" panose="02040503050406030204" pitchFamily="18" charset="0"/>
                            </a:rPr>
                            <m:t>0</m:t>
                          </m:r>
                        </m:e>
                      </m:d>
                      <m:r>
                        <a:rPr lang="en-AU" altLang="zh-CN" sz="1800" b="0" i="1" dirty="0" smtClean="0">
                          <a:latin typeface="Cambria Math" panose="02040503050406030204" pitchFamily="18" charset="0"/>
                        </a:rPr>
                        <m:t>={(</m:t>
                      </m:r>
                      <m:sSub>
                        <m:sSubPr>
                          <m:ctrlPr>
                            <a:rPr lang="el-GR" altLang="zh-CN" sz="1800" i="1" dirty="0">
                              <a:latin typeface="Cambria Math" panose="02040503050406030204" pitchFamily="18" charset="0"/>
                            </a:rPr>
                          </m:ctrlPr>
                        </m:sSubPr>
                        <m:e>
                          <m:r>
                            <a:rPr lang="en-AU" altLang="zh-CN" sz="1800" i="1" dirty="0">
                              <a:latin typeface="Cambria Math" panose="02040503050406030204" pitchFamily="18" charset="0"/>
                            </a:rPr>
                            <m:t>𝑞</m:t>
                          </m:r>
                        </m:e>
                        <m:sub>
                          <m:r>
                            <a:rPr lang="en-AU" altLang="zh-CN" sz="1800" i="1" dirty="0">
                              <a:latin typeface="Cambria Math" panose="02040503050406030204" pitchFamily="18" charset="0"/>
                            </a:rPr>
                            <m:t>0</m:t>
                          </m:r>
                        </m:sub>
                      </m:sSub>
                      <m:r>
                        <a:rPr lang="en-AU" altLang="zh-CN" sz="1800" b="0" i="1" dirty="0" smtClean="0">
                          <a:latin typeface="Cambria Math" panose="02040503050406030204" pitchFamily="18" charset="0"/>
                        </a:rPr>
                        <m:t>,</m:t>
                      </m:r>
                      <m:r>
                        <a:rPr lang="en-AU" altLang="zh-CN" sz="1800" b="0" i="1" dirty="0" smtClean="0">
                          <a:solidFill>
                            <a:srgbClr val="FF0000"/>
                          </a:solidFill>
                          <a:latin typeface="Cambria Math" panose="02040503050406030204" pitchFamily="18" charset="0"/>
                        </a:rPr>
                        <m:t>0</m:t>
                      </m:r>
                      <m:r>
                        <a:rPr lang="en-AU" altLang="zh-CN" sz="1800" b="0" i="1" dirty="0" smtClean="0">
                          <a:solidFill>
                            <a:srgbClr val="00B050"/>
                          </a:solidFill>
                          <a:latin typeface="Cambria Math" panose="02040503050406030204" pitchFamily="18" charset="0"/>
                        </a:rPr>
                        <m:t>0</m:t>
                      </m:r>
                      <m:r>
                        <a:rPr lang="en-AU" altLang="zh-CN" sz="1800" b="0" i="1" dirty="0" smtClean="0">
                          <a:latin typeface="Cambria Math" panose="02040503050406030204" pitchFamily="18" charset="0"/>
                        </a:rPr>
                        <m:t>)}</m:t>
                      </m:r>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4640828" y="3070908"/>
                <a:ext cx="2133600" cy="639983"/>
              </a:xfrm>
              <a:prstGeom prst="rect">
                <a:avLst/>
              </a:prstGeom>
              <a:blipFill rotWithShape="1">
                <a:blip r:embed="rId4"/>
                <a:stretch>
                  <a:fillRect l="-12" t="-8" r="12" b="92"/>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fld id="{B6FB6A30-C69F-4C7C-9F46-2D8A117A1A58}" type="slidenum">
              <a:rPr lang="en-US" altLang="en-US"/>
              <a:t>16</a:t>
            </a:fld>
            <a:endParaRPr lang="en-US" altLang="en-US"/>
          </a:p>
        </p:txBody>
      </p:sp>
      <mc:AlternateContent xmlns:mc="http://schemas.openxmlformats.org/markup-compatibility/2006" xmlns:a14="http://schemas.microsoft.com/office/drawing/2010/main">
        <mc:Choice Requires="a14">
          <p:sp>
            <p:nvSpPr>
              <p:cNvPr id="33795" name="Rectangle 3"/>
              <p:cNvSpPr>
                <a:spLocks noChangeArrowheads="1"/>
              </p:cNvSpPr>
              <p:nvPr/>
            </p:nvSpPr>
            <p:spPr bwMode="auto">
              <a:xfrm>
                <a:off x="3581400" y="2971800"/>
                <a:ext cx="838200" cy="838200"/>
              </a:xfrm>
              <a:prstGeom prst="rect">
                <a:avLst/>
              </a:prstGeom>
              <a:solidFill>
                <a:schemeClr val="accent1">
                  <a:alpha val="50000"/>
                </a:schemeClr>
              </a:solidFill>
              <a:ln w="9525">
                <a:solidFill>
                  <a:schemeClr val="tx1"/>
                </a:solidFill>
                <a:miter lim="800000"/>
              </a:ln>
              <a:effectLst/>
              <a:extLst>
                <a:ext uri="{AF507438-7753-43E0-B8FC-AC1667EBCBE1}">
                  <a14:hiddenEffects>
                    <a:effectLst>
                      <a:outerShdw dist="35921" dir="2700000" algn="ctr" rotWithShape="0">
                        <a:schemeClr val="bg2"/>
                      </a:outerShdw>
                    </a:effectLst>
                  </a14:hiddenEffects>
                </a:ext>
              </a:ex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0</m:t>
                          </m:r>
                        </m:sub>
                      </m:sSub>
                    </m:oMath>
                  </m:oMathPara>
                </a14:m>
                <a:endParaRPr lang="en-US" altLang="en-US" dirty="0"/>
              </a:p>
            </p:txBody>
          </p:sp>
        </mc:Choice>
        <mc:Fallback xmlns="">
          <p:sp>
            <p:nvSpPr>
              <p:cNvPr id="33795" name="Rectangle 3"/>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3796" name="Text Box 4"/>
          <p:cNvSpPr txBox="1">
            <a:spLocks noChangeArrowheads="1"/>
          </p:cNvSpPr>
          <p:nvPr/>
        </p:nvSpPr>
        <p:spPr bwMode="auto">
          <a:xfrm>
            <a:off x="3733800" y="2057400"/>
            <a:ext cx="8643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 </a:t>
            </a:r>
            <a:r>
              <a:rPr lang="en-US" altLang="en-US" dirty="0">
                <a:solidFill>
                  <a:srgbClr val="FF0000"/>
                </a:solidFill>
              </a:rPr>
              <a:t>0</a:t>
            </a:r>
            <a:r>
              <a:rPr lang="en-US" altLang="en-US" dirty="0"/>
              <a:t> 1 1 1</a:t>
            </a:r>
          </a:p>
        </p:txBody>
      </p:sp>
      <p:sp>
        <p:nvSpPr>
          <p:cNvPr id="33797" name="Line 5"/>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3798" name="Text Box 6"/>
          <p:cNvSpPr txBox="1">
            <a:spLocks noChangeArrowheads="1"/>
          </p:cNvSpPr>
          <p:nvPr/>
        </p:nvSpPr>
        <p:spPr bwMode="auto">
          <a:xfrm>
            <a:off x="3810000" y="4419600"/>
            <a:ext cx="3706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00B050"/>
                </a:solidFill>
              </a:rPr>
              <a:t>0</a:t>
            </a:r>
          </a:p>
          <a:p>
            <a:r>
              <a:rPr lang="en-US" altLang="en-US" dirty="0"/>
              <a:t>0</a:t>
            </a:r>
          </a:p>
          <a:p>
            <a:r>
              <a:rPr lang="en-US" altLang="en-US" dirty="0"/>
              <a:t>Z</a:t>
            </a:r>
            <a:r>
              <a:rPr lang="en-US" altLang="en-US" baseline="-25000" dirty="0"/>
              <a:t>0</a:t>
            </a:r>
          </a:p>
        </p:txBody>
      </p:sp>
      <p:sp>
        <p:nvSpPr>
          <p:cNvPr id="33799" name="Line 7"/>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0"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p:cNvSpPr txBox="1"/>
              <p:nvPr/>
            </p:nvSpPr>
            <p:spPr>
              <a:xfrm>
                <a:off x="4640828" y="3070908"/>
                <a:ext cx="2133600"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l-GR" altLang="zh-CN" sz="1800" i="1" dirty="0" smtClean="0">
                              <a:latin typeface="Cambria Math" panose="02040503050406030204" pitchFamily="18" charset="0"/>
                            </a:rPr>
                          </m:ctrlPr>
                        </m:dPr>
                        <m:e>
                          <m:sSub>
                            <m:sSubPr>
                              <m:ctrlPr>
                                <a:rPr lang="el-GR" altLang="zh-CN" sz="1800" i="1" dirty="0" smtClean="0">
                                  <a:latin typeface="Cambria Math" panose="02040503050406030204" pitchFamily="18" charset="0"/>
                                </a:rPr>
                              </m:ctrlPr>
                            </m:sSubPr>
                            <m:e>
                              <m:r>
                                <a:rPr lang="en-AU" altLang="zh-CN" sz="1800" b="0" i="1" dirty="0" smtClean="0">
                                  <a:latin typeface="Cambria Math" panose="02040503050406030204" pitchFamily="18" charset="0"/>
                                </a:rPr>
                                <m:t>𝑞</m:t>
                              </m:r>
                            </m:e>
                            <m:sub>
                              <m:r>
                                <a:rPr lang="en-AU" altLang="zh-CN" sz="1800" b="0" i="1" dirty="0" smtClean="0">
                                  <a:latin typeface="Cambria Math" panose="02040503050406030204" pitchFamily="18" charset="0"/>
                                </a:rPr>
                                <m:t>0</m:t>
                              </m:r>
                            </m:sub>
                          </m:sSub>
                          <m:r>
                            <a:rPr lang="en-AU" altLang="zh-CN" sz="1800" i="1" dirty="0" smtClean="0">
                              <a:latin typeface="Cambria Math" panose="02040503050406030204" pitchFamily="18" charset="0"/>
                            </a:rPr>
                            <m:t>, </m:t>
                          </m:r>
                          <m:r>
                            <a:rPr lang="en-AU" altLang="zh-CN" sz="1800" b="0" i="1" dirty="0" smtClean="0">
                              <a:solidFill>
                                <a:srgbClr val="FF0000"/>
                              </a:solidFill>
                              <a:latin typeface="Cambria Math" panose="02040503050406030204" pitchFamily="18" charset="0"/>
                            </a:rPr>
                            <m:t>0</m:t>
                          </m:r>
                          <m:r>
                            <a:rPr lang="en-AU" altLang="zh-CN" sz="1800" i="1" dirty="0" smtClean="0">
                              <a:latin typeface="Cambria Math" panose="02040503050406030204" pitchFamily="18" charset="0"/>
                            </a:rPr>
                            <m:t>, </m:t>
                          </m:r>
                          <m:r>
                            <a:rPr lang="en-AU" altLang="zh-CN" sz="1800" b="0" i="1" dirty="0" smtClean="0">
                              <a:solidFill>
                                <a:srgbClr val="00B050"/>
                              </a:solidFill>
                              <a:latin typeface="Cambria Math" panose="02040503050406030204" pitchFamily="18" charset="0"/>
                            </a:rPr>
                            <m:t>0</m:t>
                          </m:r>
                        </m:e>
                      </m:d>
                      <m:r>
                        <a:rPr lang="en-AU" altLang="zh-CN" sz="1800" b="0" i="1" dirty="0" smtClean="0">
                          <a:latin typeface="Cambria Math" panose="02040503050406030204" pitchFamily="18" charset="0"/>
                        </a:rPr>
                        <m:t>={(</m:t>
                      </m:r>
                      <m:sSub>
                        <m:sSubPr>
                          <m:ctrlPr>
                            <a:rPr lang="el-GR" altLang="zh-CN" sz="1800" i="1" dirty="0">
                              <a:latin typeface="Cambria Math" panose="02040503050406030204" pitchFamily="18" charset="0"/>
                            </a:rPr>
                          </m:ctrlPr>
                        </m:sSubPr>
                        <m:e>
                          <m:r>
                            <a:rPr lang="en-AU" altLang="zh-CN" sz="1800" i="1" dirty="0">
                              <a:latin typeface="Cambria Math" panose="02040503050406030204" pitchFamily="18" charset="0"/>
                            </a:rPr>
                            <m:t>𝑞</m:t>
                          </m:r>
                        </m:e>
                        <m:sub>
                          <m:r>
                            <a:rPr lang="en-AU" altLang="zh-CN" sz="1800" i="1" dirty="0">
                              <a:latin typeface="Cambria Math" panose="02040503050406030204" pitchFamily="18" charset="0"/>
                            </a:rPr>
                            <m:t>0</m:t>
                          </m:r>
                        </m:sub>
                      </m:sSub>
                      <m:r>
                        <a:rPr lang="en-AU" altLang="zh-CN" sz="1800" b="0" i="1" dirty="0" smtClean="0">
                          <a:latin typeface="Cambria Math" panose="02040503050406030204" pitchFamily="18" charset="0"/>
                        </a:rPr>
                        <m:t>,</m:t>
                      </m:r>
                      <m:r>
                        <a:rPr lang="en-AU" altLang="zh-CN" sz="1800" b="0" i="1" dirty="0" smtClean="0">
                          <a:solidFill>
                            <a:srgbClr val="FF0000"/>
                          </a:solidFill>
                          <a:latin typeface="Cambria Math" panose="02040503050406030204" pitchFamily="18" charset="0"/>
                        </a:rPr>
                        <m:t>0</m:t>
                      </m:r>
                      <m:r>
                        <a:rPr lang="en-AU" altLang="zh-CN" sz="1800" b="0" i="1" dirty="0" smtClean="0">
                          <a:solidFill>
                            <a:srgbClr val="00B050"/>
                          </a:solidFill>
                          <a:latin typeface="Cambria Math" panose="02040503050406030204" pitchFamily="18" charset="0"/>
                        </a:rPr>
                        <m:t>0</m:t>
                      </m:r>
                      <m:r>
                        <a:rPr lang="en-AU" altLang="zh-CN" sz="1800" b="0" i="1" dirty="0" smtClean="0">
                          <a:latin typeface="Cambria Math" panose="02040503050406030204" pitchFamily="18" charset="0"/>
                        </a:rPr>
                        <m:t>)}</m:t>
                      </m:r>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4640828" y="3070908"/>
                <a:ext cx="2133600" cy="639983"/>
              </a:xfrm>
              <a:prstGeom prst="rect">
                <a:avLst/>
              </a:prstGeom>
              <a:blipFill rotWithShape="1">
                <a:blip r:embed="rId4"/>
                <a:stretch>
                  <a:fillRect l="-12" t="-8" r="12" b="92"/>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fld id="{1A9CA887-6736-4C4D-A2D5-D5E6650449CA}" type="slidenum">
              <a:rPr lang="en-US" altLang="en-US"/>
              <a:t>17</a:t>
            </a:fld>
            <a:endParaRPr lang="en-US" altLang="en-US"/>
          </a:p>
        </p:txBody>
      </p:sp>
      <mc:AlternateContent xmlns:mc="http://schemas.openxmlformats.org/markup-compatibility/2006" xmlns:a14="http://schemas.microsoft.com/office/drawing/2010/main">
        <mc:Choice Requires="a14">
          <p:sp>
            <p:nvSpPr>
              <p:cNvPr id="35843" name="Rectangle 3"/>
              <p:cNvSpPr>
                <a:spLocks noChangeArrowheads="1"/>
              </p:cNvSpPr>
              <p:nvPr/>
            </p:nvSpPr>
            <p:spPr bwMode="auto">
              <a:xfrm>
                <a:off x="3581400" y="2971800"/>
                <a:ext cx="838200" cy="838200"/>
              </a:xfrm>
              <a:prstGeom prst="rect">
                <a:avLst/>
              </a:prstGeom>
              <a:solidFill>
                <a:schemeClr val="accent1">
                  <a:alpha val="50000"/>
                </a:schemeClr>
              </a:solidFill>
              <a:ln w="9525">
                <a:solidFill>
                  <a:schemeClr val="tx1"/>
                </a:solidFill>
                <a:miter lim="800000"/>
              </a:ln>
              <a:effectLst/>
              <a:extLst>
                <a:ext uri="{AF507438-7753-43E0-B8FC-AC1667EBCBE1}">
                  <a14:hiddenEffects>
                    <a:effectLst>
                      <a:outerShdw dist="35921" dir="2700000" algn="ctr" rotWithShape="0">
                        <a:schemeClr val="bg2"/>
                      </a:outerShdw>
                    </a:effectLst>
                  </a14:hiddenEffects>
                </a:ext>
              </a:ex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0</m:t>
                          </m:r>
                        </m:sub>
                      </m:sSub>
                    </m:oMath>
                  </m:oMathPara>
                </a14:m>
                <a:endParaRPr lang="en-US" altLang="en-US" dirty="0"/>
              </a:p>
            </p:txBody>
          </p:sp>
        </mc:Choice>
        <mc:Fallback xmlns="">
          <p:sp>
            <p:nvSpPr>
              <p:cNvPr id="35843" name="Rectangle 3"/>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5844" name="Text Box 4"/>
          <p:cNvSpPr txBox="1">
            <a:spLocks noChangeArrowheads="1"/>
          </p:cNvSpPr>
          <p:nvPr/>
        </p:nvSpPr>
        <p:spPr bwMode="auto">
          <a:xfrm>
            <a:off x="3733800" y="2057400"/>
            <a:ext cx="6415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FF0000"/>
                </a:solidFill>
              </a:rPr>
              <a:t>1</a:t>
            </a:r>
            <a:r>
              <a:rPr lang="en-US" altLang="en-US" dirty="0"/>
              <a:t> 1 1</a:t>
            </a:r>
          </a:p>
        </p:txBody>
      </p:sp>
      <p:sp>
        <p:nvSpPr>
          <p:cNvPr id="35845" name="Line 5"/>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5846" name="Text Box 6"/>
          <p:cNvSpPr txBox="1">
            <a:spLocks noChangeArrowheads="1"/>
          </p:cNvSpPr>
          <p:nvPr/>
        </p:nvSpPr>
        <p:spPr bwMode="auto">
          <a:xfrm>
            <a:off x="3810000" y="4419600"/>
            <a:ext cx="37061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00B050"/>
                </a:solidFill>
              </a:rPr>
              <a:t>0</a:t>
            </a:r>
          </a:p>
          <a:p>
            <a:r>
              <a:rPr lang="en-US" altLang="en-US" dirty="0"/>
              <a:t>0</a:t>
            </a:r>
          </a:p>
          <a:p>
            <a:r>
              <a:rPr lang="en-US" altLang="en-US" dirty="0"/>
              <a:t>0</a:t>
            </a:r>
          </a:p>
          <a:p>
            <a:r>
              <a:rPr lang="en-US" altLang="en-US" dirty="0"/>
              <a:t>Z</a:t>
            </a:r>
            <a:r>
              <a:rPr lang="en-US" altLang="en-US" baseline="-25000" dirty="0"/>
              <a:t>0</a:t>
            </a:r>
          </a:p>
        </p:txBody>
      </p:sp>
      <p:sp>
        <p:nvSpPr>
          <p:cNvPr id="35847" name="Line 7"/>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0"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p:cNvSpPr txBox="1"/>
              <p:nvPr/>
            </p:nvSpPr>
            <p:spPr>
              <a:xfrm>
                <a:off x="4640828" y="3070908"/>
                <a:ext cx="2133600"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l-GR" altLang="zh-CN" sz="1800" i="1" dirty="0" smtClean="0">
                              <a:latin typeface="Cambria Math" panose="02040503050406030204" pitchFamily="18" charset="0"/>
                            </a:rPr>
                          </m:ctrlPr>
                        </m:dPr>
                        <m:e>
                          <m:sSub>
                            <m:sSubPr>
                              <m:ctrlPr>
                                <a:rPr lang="el-GR" altLang="zh-CN" sz="1800" i="1" dirty="0" smtClean="0">
                                  <a:latin typeface="Cambria Math" panose="02040503050406030204" pitchFamily="18" charset="0"/>
                                </a:rPr>
                              </m:ctrlPr>
                            </m:sSubPr>
                            <m:e>
                              <m:r>
                                <a:rPr lang="en-AU" altLang="zh-CN" sz="1800" b="0" i="1" dirty="0" smtClean="0">
                                  <a:latin typeface="Cambria Math" panose="02040503050406030204" pitchFamily="18" charset="0"/>
                                </a:rPr>
                                <m:t>𝑞</m:t>
                              </m:r>
                            </m:e>
                            <m:sub>
                              <m:r>
                                <a:rPr lang="en-AU" altLang="zh-CN" sz="1800" b="0" i="1" dirty="0" smtClean="0">
                                  <a:latin typeface="Cambria Math" panose="02040503050406030204" pitchFamily="18" charset="0"/>
                                </a:rPr>
                                <m:t>0</m:t>
                              </m:r>
                            </m:sub>
                          </m:sSub>
                          <m:r>
                            <a:rPr lang="en-AU" altLang="zh-CN" sz="1800" i="1" dirty="0" smtClean="0">
                              <a:latin typeface="Cambria Math" panose="02040503050406030204" pitchFamily="18" charset="0"/>
                            </a:rPr>
                            <m:t>, </m:t>
                          </m:r>
                          <m:r>
                            <a:rPr lang="en-US" altLang="zh-CN" sz="1800" b="0" i="1" dirty="0" smtClean="0">
                              <a:solidFill>
                                <a:srgbClr val="FF0000"/>
                              </a:solidFill>
                              <a:latin typeface="Cambria Math" panose="02040503050406030204" pitchFamily="18" charset="0"/>
                            </a:rPr>
                            <m:t>1</m:t>
                          </m:r>
                          <m:r>
                            <a:rPr lang="en-AU" altLang="zh-CN" sz="1800" i="1" dirty="0" smtClean="0">
                              <a:latin typeface="Cambria Math" panose="02040503050406030204" pitchFamily="18" charset="0"/>
                            </a:rPr>
                            <m:t>, </m:t>
                          </m:r>
                          <m:r>
                            <a:rPr lang="en-US" altLang="zh-CN" b="0" i="1" dirty="0" smtClean="0">
                              <a:solidFill>
                                <a:srgbClr val="00B050"/>
                              </a:solidFill>
                              <a:latin typeface="Cambria Math" panose="02040503050406030204" pitchFamily="18" charset="0"/>
                            </a:rPr>
                            <m:t>0</m:t>
                          </m:r>
                        </m:e>
                      </m:d>
                      <m:r>
                        <a:rPr lang="en-AU" altLang="zh-CN" sz="1800" b="0" i="1" dirty="0" smtClean="0">
                          <a:latin typeface="Cambria Math" panose="02040503050406030204" pitchFamily="18" charset="0"/>
                        </a:rPr>
                        <m:t>={(</m:t>
                      </m:r>
                      <m:sSub>
                        <m:sSubPr>
                          <m:ctrlPr>
                            <a:rPr lang="el-GR" altLang="zh-CN" sz="1800" i="1" dirty="0">
                              <a:latin typeface="Cambria Math" panose="02040503050406030204" pitchFamily="18" charset="0"/>
                            </a:rPr>
                          </m:ctrlPr>
                        </m:sSubPr>
                        <m:e>
                          <m:r>
                            <a:rPr lang="en-AU" altLang="zh-CN" sz="1800" i="1" dirty="0">
                              <a:latin typeface="Cambria Math" panose="02040503050406030204" pitchFamily="18" charset="0"/>
                            </a:rPr>
                            <m:t>𝑞</m:t>
                          </m:r>
                        </m:e>
                        <m:sub>
                          <m:r>
                            <a:rPr lang="en-US" altLang="zh-CN" sz="1800" b="0" i="1" dirty="0" smtClean="0">
                              <a:latin typeface="Cambria Math" panose="02040503050406030204" pitchFamily="18" charset="0"/>
                            </a:rPr>
                            <m:t>1</m:t>
                          </m:r>
                        </m:sub>
                      </m:sSub>
                      <m:r>
                        <a:rPr lang="en-AU" altLang="zh-CN" sz="1800" b="0" i="1" dirty="0" smtClean="0">
                          <a:latin typeface="Cambria Math" panose="02040503050406030204" pitchFamily="18" charset="0"/>
                        </a:rPr>
                        <m:t>,</m:t>
                      </m:r>
                      <m:r>
                        <a:rPr lang="el-GR" altLang="zh-CN" i="1" dirty="0" smtClean="0">
                          <a:solidFill>
                            <a:srgbClr val="00B050"/>
                          </a:solidFill>
                          <a:latin typeface="Cambria Math" panose="02040503050406030204" pitchFamily="18" charset="0"/>
                        </a:rPr>
                        <m:t>𝜀</m:t>
                      </m:r>
                      <m:r>
                        <a:rPr lang="en-AU" altLang="zh-CN" sz="1800" b="0" i="1" dirty="0" smtClean="0">
                          <a:latin typeface="Cambria Math" panose="02040503050406030204" pitchFamily="18" charset="0"/>
                        </a:rPr>
                        <m:t>)}</m:t>
                      </m:r>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4640828" y="3070908"/>
                <a:ext cx="2133600" cy="639983"/>
              </a:xfrm>
              <a:prstGeom prst="rect">
                <a:avLst/>
              </a:prstGeom>
              <a:blipFill rotWithShape="1">
                <a:blip r:embed="rId4"/>
                <a:stretch>
                  <a:fillRect l="-12" t="-8" r="12" b="92"/>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fld id="{C1F8BA04-42AF-43D4-8991-5872FB61C539}" type="slidenum">
              <a:rPr lang="en-US" altLang="en-US"/>
              <a:t>18</a:t>
            </a:fld>
            <a:endParaRPr lang="en-US" altLang="en-US"/>
          </a:p>
        </p:txBody>
      </p:sp>
      <p:sp>
        <p:nvSpPr>
          <p:cNvPr id="37892" name="Text Box 4"/>
          <p:cNvSpPr txBox="1">
            <a:spLocks noChangeArrowheads="1"/>
          </p:cNvSpPr>
          <p:nvPr/>
        </p:nvSpPr>
        <p:spPr bwMode="auto">
          <a:xfrm>
            <a:off x="3733800" y="2057400"/>
            <a:ext cx="612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1 1</a:t>
            </a:r>
          </a:p>
        </p:txBody>
      </p:sp>
      <p:sp>
        <p:nvSpPr>
          <p:cNvPr id="37893" name="Line 5"/>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7894" name="Text Box 6"/>
          <p:cNvSpPr txBox="1">
            <a:spLocks noChangeArrowheads="1"/>
          </p:cNvSpPr>
          <p:nvPr/>
        </p:nvSpPr>
        <p:spPr bwMode="auto">
          <a:xfrm>
            <a:off x="3810000" y="4419600"/>
            <a:ext cx="3706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0</a:t>
            </a:r>
          </a:p>
          <a:p>
            <a:r>
              <a:rPr lang="en-US" altLang="en-US" dirty="0"/>
              <a:t>0</a:t>
            </a:r>
          </a:p>
          <a:p>
            <a:r>
              <a:rPr lang="en-US" altLang="en-US" dirty="0"/>
              <a:t>Z</a:t>
            </a:r>
            <a:r>
              <a:rPr lang="en-US" altLang="en-US" baseline="-25000" dirty="0"/>
              <a:t>0</a:t>
            </a:r>
          </a:p>
        </p:txBody>
      </p:sp>
      <p:sp>
        <p:nvSpPr>
          <p:cNvPr id="37895" name="Line 7"/>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mc:AlternateContent xmlns:mc="http://schemas.openxmlformats.org/markup-compatibility/2006" xmlns:a14="http://schemas.microsoft.com/office/drawing/2010/main">
        <mc:Choice Requires="a14">
          <p:sp>
            <p:nvSpPr>
              <p:cNvPr id="9" name="Rectangle 3"/>
              <p:cNvSpPr>
                <a:spLocks noChangeArrowheads="1"/>
              </p:cNvSpPr>
              <p:nvPr/>
            </p:nvSpPr>
            <p:spPr bwMode="auto">
              <a:xfrm>
                <a:off x="3581400" y="2971800"/>
                <a:ext cx="838200" cy="838200"/>
              </a:xfrm>
              <a:prstGeom prst="rect">
                <a:avLst/>
              </a:prstGeom>
              <a:solidFill>
                <a:schemeClr val="accent6">
                  <a:alpha val="50000"/>
                </a:schemeClr>
              </a:solidFill>
              <a:ln w="9525">
                <a:solidFill>
                  <a:srgbClr val="E6E6E6"/>
                </a:solidFill>
                <a:miter lim="800000"/>
              </a:ln>
              <a:effec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1</m:t>
                          </m:r>
                        </m:sub>
                      </m:sSub>
                    </m:oMath>
                  </m:oMathPara>
                </a14:m>
                <a:endParaRPr lang="en-US" altLang="en-US" dirty="0"/>
              </a:p>
            </p:txBody>
          </p:sp>
        </mc:Choice>
        <mc:Fallback xmlns="">
          <p:sp>
            <p:nvSpPr>
              <p:cNvPr id="9" name="Rectangle 3"/>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rgbClr val="E6E6E6"/>
                </a:solidFill>
                <a:miter lim="800000"/>
              </a:ln>
              <a:effectLst/>
            </p:spPr>
            <p:txBody>
              <a:bodyPr/>
              <a:lstStyle/>
              <a:p>
                <a:r>
                  <a:rPr lang="zh-CN" altLang="en-US">
                    <a:noFill/>
                  </a:rPr>
                  <a:t> </a:t>
                </a:r>
              </a:p>
            </p:txBody>
          </p:sp>
        </mc:Fallback>
      </mc:AlternateContent>
      <p:sp>
        <p:nvSpPr>
          <p:cNvPr id="10"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p:cNvSpPr txBox="1"/>
              <p:nvPr/>
            </p:nvSpPr>
            <p:spPr>
              <a:xfrm>
                <a:off x="4640828" y="3070908"/>
                <a:ext cx="2133600"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l-GR" altLang="zh-CN" sz="1800" i="1" dirty="0" smtClean="0">
                              <a:latin typeface="Cambria Math" panose="02040503050406030204" pitchFamily="18" charset="0"/>
                            </a:rPr>
                          </m:ctrlPr>
                        </m:dPr>
                        <m:e>
                          <m:sSub>
                            <m:sSubPr>
                              <m:ctrlPr>
                                <a:rPr lang="el-GR" altLang="zh-CN" sz="1800" i="1" dirty="0" smtClean="0">
                                  <a:latin typeface="Cambria Math" panose="02040503050406030204" pitchFamily="18" charset="0"/>
                                </a:rPr>
                              </m:ctrlPr>
                            </m:sSubPr>
                            <m:e>
                              <m:r>
                                <a:rPr lang="en-AU"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1</m:t>
                              </m:r>
                            </m:sub>
                          </m:sSub>
                          <m:r>
                            <a:rPr lang="en-AU" altLang="zh-CN" sz="1800" i="1" dirty="0" smtClean="0">
                              <a:latin typeface="Cambria Math" panose="02040503050406030204" pitchFamily="18" charset="0"/>
                            </a:rPr>
                            <m:t>, </m:t>
                          </m:r>
                          <m:r>
                            <a:rPr lang="en-US" altLang="zh-CN" sz="1800" b="0" i="1" dirty="0" smtClean="0">
                              <a:solidFill>
                                <a:srgbClr val="FF0000"/>
                              </a:solidFill>
                              <a:latin typeface="Cambria Math" panose="02040503050406030204" pitchFamily="18" charset="0"/>
                            </a:rPr>
                            <m:t>1</m:t>
                          </m:r>
                          <m:r>
                            <a:rPr lang="en-AU" altLang="zh-CN" sz="1800" i="1" dirty="0" smtClean="0">
                              <a:latin typeface="Cambria Math" panose="02040503050406030204" pitchFamily="18" charset="0"/>
                            </a:rPr>
                            <m:t>, </m:t>
                          </m:r>
                          <m:r>
                            <a:rPr lang="en-US" altLang="zh-CN" b="0" i="1" dirty="0" smtClean="0">
                              <a:solidFill>
                                <a:srgbClr val="00B050"/>
                              </a:solidFill>
                              <a:latin typeface="Cambria Math" panose="02040503050406030204" pitchFamily="18" charset="0"/>
                            </a:rPr>
                            <m:t>0</m:t>
                          </m:r>
                        </m:e>
                      </m:d>
                      <m:r>
                        <a:rPr lang="en-AU" altLang="zh-CN" sz="1800" b="0" i="1" dirty="0" smtClean="0">
                          <a:latin typeface="Cambria Math" panose="02040503050406030204" pitchFamily="18" charset="0"/>
                        </a:rPr>
                        <m:t>={(</m:t>
                      </m:r>
                      <m:sSub>
                        <m:sSubPr>
                          <m:ctrlPr>
                            <a:rPr lang="el-GR" altLang="zh-CN" sz="1800" i="1" dirty="0">
                              <a:latin typeface="Cambria Math" panose="02040503050406030204" pitchFamily="18" charset="0"/>
                            </a:rPr>
                          </m:ctrlPr>
                        </m:sSubPr>
                        <m:e>
                          <m:r>
                            <a:rPr lang="en-AU" altLang="zh-CN" sz="1800" i="1" dirty="0">
                              <a:latin typeface="Cambria Math" panose="02040503050406030204" pitchFamily="18" charset="0"/>
                            </a:rPr>
                            <m:t>𝑞</m:t>
                          </m:r>
                        </m:e>
                        <m:sub>
                          <m:r>
                            <a:rPr lang="en-US" altLang="zh-CN" sz="1800" b="0" i="1" dirty="0" smtClean="0">
                              <a:latin typeface="Cambria Math" panose="02040503050406030204" pitchFamily="18" charset="0"/>
                            </a:rPr>
                            <m:t>1</m:t>
                          </m:r>
                        </m:sub>
                      </m:sSub>
                      <m:r>
                        <a:rPr lang="en-AU" altLang="zh-CN" sz="1800" b="0" i="1" dirty="0" smtClean="0">
                          <a:latin typeface="Cambria Math" panose="02040503050406030204" pitchFamily="18" charset="0"/>
                        </a:rPr>
                        <m:t>,</m:t>
                      </m:r>
                      <m:r>
                        <a:rPr lang="el-GR" altLang="zh-CN" i="1" dirty="0" smtClean="0">
                          <a:solidFill>
                            <a:srgbClr val="00B050"/>
                          </a:solidFill>
                          <a:latin typeface="Cambria Math" panose="02040503050406030204" pitchFamily="18" charset="0"/>
                        </a:rPr>
                        <m:t>𝜀</m:t>
                      </m:r>
                      <m:r>
                        <a:rPr lang="en-AU" altLang="zh-CN" sz="1800" b="0" i="1" dirty="0" smtClean="0">
                          <a:latin typeface="Cambria Math" panose="02040503050406030204" pitchFamily="18" charset="0"/>
                        </a:rPr>
                        <m:t>)}</m:t>
                      </m:r>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4640828" y="3070908"/>
                <a:ext cx="2133600" cy="639983"/>
              </a:xfrm>
              <a:prstGeom prst="rect">
                <a:avLst/>
              </a:prstGeom>
              <a:blipFill rotWithShape="1">
                <a:blip r:embed="rId4"/>
                <a:stretch>
                  <a:fillRect l="-12" t="-8" r="12" b="92"/>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fld id="{8F5CD7FD-0588-48CA-80A0-AE2E3A07593F}" type="slidenum">
              <a:rPr lang="en-US" altLang="en-US"/>
              <a:t>19</a:t>
            </a:fld>
            <a:endParaRPr lang="en-US" altLang="en-US"/>
          </a:p>
        </p:txBody>
      </p:sp>
      <mc:AlternateContent xmlns:mc="http://schemas.openxmlformats.org/markup-compatibility/2006" xmlns:a14="http://schemas.microsoft.com/office/drawing/2010/main">
        <mc:Choice Requires="a14">
          <p:sp>
            <p:nvSpPr>
              <p:cNvPr id="39939" name="Rectangle 3"/>
              <p:cNvSpPr>
                <a:spLocks noChangeArrowheads="1"/>
              </p:cNvSpPr>
              <p:nvPr/>
            </p:nvSpPr>
            <p:spPr bwMode="auto">
              <a:xfrm>
                <a:off x="3581400" y="2971800"/>
                <a:ext cx="838200" cy="838200"/>
              </a:xfrm>
              <a:prstGeom prst="rect">
                <a:avLst/>
              </a:prstGeom>
              <a:solidFill>
                <a:schemeClr val="accent6">
                  <a:alpha val="50000"/>
                </a:schemeClr>
              </a:solidFill>
              <a:ln w="9525">
                <a:solidFill>
                  <a:schemeClr val="tx1"/>
                </a:solidFill>
                <a:miter lim="800000"/>
              </a:ln>
              <a:effec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1</m:t>
                          </m:r>
                        </m:sub>
                      </m:sSub>
                    </m:oMath>
                  </m:oMathPara>
                </a14:m>
                <a:endParaRPr lang="en-US" altLang="en-US" dirty="0"/>
              </a:p>
            </p:txBody>
          </p:sp>
        </mc:Choice>
        <mc:Fallback xmlns="">
          <p:sp>
            <p:nvSpPr>
              <p:cNvPr id="39939" name="Rectangle 3"/>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chemeClr val="tx1"/>
                </a:solidFill>
                <a:miter lim="800000"/>
              </a:ln>
              <a:effectLst/>
            </p:spPr>
            <p:txBody>
              <a:bodyPr/>
              <a:lstStyle/>
              <a:p>
                <a:r>
                  <a:rPr lang="zh-CN" altLang="en-US">
                    <a:noFill/>
                  </a:rPr>
                  <a:t> </a:t>
                </a:r>
              </a:p>
            </p:txBody>
          </p:sp>
        </mc:Fallback>
      </mc:AlternateContent>
      <p:sp>
        <p:nvSpPr>
          <p:cNvPr id="39940" name="Text Box 4"/>
          <p:cNvSpPr txBox="1">
            <a:spLocks noChangeArrowheads="1"/>
          </p:cNvSpPr>
          <p:nvPr/>
        </p:nvSpPr>
        <p:spPr bwMode="auto">
          <a:xfrm>
            <a:off x="3733800" y="2057400"/>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a:t>
            </a:r>
          </a:p>
        </p:txBody>
      </p:sp>
      <p:sp>
        <p:nvSpPr>
          <p:cNvPr id="39941" name="Line 5"/>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9942" name="Text Box 6"/>
          <p:cNvSpPr txBox="1">
            <a:spLocks noChangeArrowheads="1"/>
          </p:cNvSpPr>
          <p:nvPr/>
        </p:nvSpPr>
        <p:spPr bwMode="auto">
          <a:xfrm>
            <a:off x="3810000" y="4419600"/>
            <a:ext cx="3706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0</a:t>
            </a:r>
          </a:p>
          <a:p>
            <a:r>
              <a:rPr lang="en-US" altLang="en-US" dirty="0"/>
              <a:t>Z</a:t>
            </a:r>
            <a:r>
              <a:rPr lang="en-US" altLang="en-US" baseline="-25000" dirty="0"/>
              <a:t>0</a:t>
            </a:r>
          </a:p>
        </p:txBody>
      </p:sp>
      <p:sp>
        <p:nvSpPr>
          <p:cNvPr id="39943" name="Line 7"/>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0"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p:cNvSpPr txBox="1"/>
              <p:nvPr/>
            </p:nvSpPr>
            <p:spPr>
              <a:xfrm>
                <a:off x="4640828" y="3070908"/>
                <a:ext cx="2133600"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l-GR" altLang="zh-CN" sz="1800" i="1" dirty="0" smtClean="0">
                              <a:latin typeface="Cambria Math" panose="02040503050406030204" pitchFamily="18" charset="0"/>
                            </a:rPr>
                          </m:ctrlPr>
                        </m:dPr>
                        <m:e>
                          <m:sSub>
                            <m:sSubPr>
                              <m:ctrlPr>
                                <a:rPr lang="el-GR" altLang="zh-CN" sz="1800" i="1" dirty="0" smtClean="0">
                                  <a:latin typeface="Cambria Math" panose="02040503050406030204" pitchFamily="18" charset="0"/>
                                </a:rPr>
                              </m:ctrlPr>
                            </m:sSubPr>
                            <m:e>
                              <m:r>
                                <a:rPr lang="en-AU"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1</m:t>
                              </m:r>
                            </m:sub>
                          </m:sSub>
                          <m:r>
                            <a:rPr lang="en-AU" altLang="zh-CN" sz="1800" i="1" dirty="0" smtClean="0">
                              <a:latin typeface="Cambria Math" panose="02040503050406030204" pitchFamily="18" charset="0"/>
                            </a:rPr>
                            <m:t>, </m:t>
                          </m:r>
                          <m:r>
                            <a:rPr lang="en-US" altLang="zh-CN" sz="1800" b="0" i="1" dirty="0" smtClean="0">
                              <a:solidFill>
                                <a:srgbClr val="FF0000"/>
                              </a:solidFill>
                              <a:latin typeface="Cambria Math" panose="02040503050406030204" pitchFamily="18" charset="0"/>
                            </a:rPr>
                            <m:t>1</m:t>
                          </m:r>
                          <m:r>
                            <a:rPr lang="en-AU" altLang="zh-CN" sz="1800" i="1" dirty="0" smtClean="0">
                              <a:latin typeface="Cambria Math" panose="02040503050406030204" pitchFamily="18" charset="0"/>
                            </a:rPr>
                            <m:t>, </m:t>
                          </m:r>
                          <m:r>
                            <a:rPr lang="en-US" altLang="zh-CN" b="0" i="1" dirty="0" smtClean="0">
                              <a:solidFill>
                                <a:srgbClr val="00B050"/>
                              </a:solidFill>
                              <a:latin typeface="Cambria Math" panose="02040503050406030204" pitchFamily="18" charset="0"/>
                            </a:rPr>
                            <m:t>0</m:t>
                          </m:r>
                        </m:e>
                      </m:d>
                      <m:r>
                        <a:rPr lang="en-AU" altLang="zh-CN" sz="1800" b="0" i="1" dirty="0" smtClean="0">
                          <a:latin typeface="Cambria Math" panose="02040503050406030204" pitchFamily="18" charset="0"/>
                        </a:rPr>
                        <m:t>={(</m:t>
                      </m:r>
                      <m:sSub>
                        <m:sSubPr>
                          <m:ctrlPr>
                            <a:rPr lang="el-GR" altLang="zh-CN" sz="1800" i="1" dirty="0">
                              <a:latin typeface="Cambria Math" panose="02040503050406030204" pitchFamily="18" charset="0"/>
                            </a:rPr>
                          </m:ctrlPr>
                        </m:sSubPr>
                        <m:e>
                          <m:r>
                            <a:rPr lang="en-AU" altLang="zh-CN" sz="1800" i="1" dirty="0">
                              <a:latin typeface="Cambria Math" panose="02040503050406030204" pitchFamily="18" charset="0"/>
                            </a:rPr>
                            <m:t>𝑞</m:t>
                          </m:r>
                        </m:e>
                        <m:sub>
                          <m:r>
                            <a:rPr lang="en-US" altLang="zh-CN" sz="1800" b="0" i="1" dirty="0" smtClean="0">
                              <a:latin typeface="Cambria Math" panose="02040503050406030204" pitchFamily="18" charset="0"/>
                            </a:rPr>
                            <m:t>1</m:t>
                          </m:r>
                        </m:sub>
                      </m:sSub>
                      <m:r>
                        <a:rPr lang="en-AU" altLang="zh-CN" sz="1800" b="0" i="1" dirty="0" smtClean="0">
                          <a:latin typeface="Cambria Math" panose="02040503050406030204" pitchFamily="18" charset="0"/>
                        </a:rPr>
                        <m:t>,</m:t>
                      </m:r>
                      <m:r>
                        <a:rPr lang="el-GR" altLang="zh-CN" i="1" dirty="0" smtClean="0">
                          <a:solidFill>
                            <a:srgbClr val="00B050"/>
                          </a:solidFill>
                          <a:latin typeface="Cambria Math" panose="02040503050406030204" pitchFamily="18" charset="0"/>
                        </a:rPr>
                        <m:t>𝜀</m:t>
                      </m:r>
                      <m:r>
                        <a:rPr lang="en-AU" altLang="zh-CN" sz="1800" b="0" i="1" dirty="0" smtClean="0">
                          <a:latin typeface="Cambria Math" panose="02040503050406030204" pitchFamily="18" charset="0"/>
                        </a:rPr>
                        <m:t>)}</m:t>
                      </m:r>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4640828" y="3070908"/>
                <a:ext cx="2133600" cy="639983"/>
              </a:xfrm>
              <a:prstGeom prst="rect">
                <a:avLst/>
              </a:prstGeom>
              <a:blipFill rotWithShape="1">
                <a:blip r:embed="rId4"/>
                <a:stretch>
                  <a:fillRect l="-12" t="-8" r="12" b="92"/>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fld id="{5845FFAA-7E50-40D6-A2C1-65447F91363A}" type="slidenum">
              <a:rPr lang="en-US" altLang="en-US"/>
              <a:t>20</a:t>
            </a:fld>
            <a:endParaRPr lang="en-US" altLang="en-US"/>
          </a:p>
        </p:txBody>
      </p:sp>
      <mc:AlternateContent xmlns:mc="http://schemas.openxmlformats.org/markup-compatibility/2006" xmlns:a14="http://schemas.microsoft.com/office/drawing/2010/main">
        <mc:Choice Requires="a14">
          <p:sp>
            <p:nvSpPr>
              <p:cNvPr id="41987" name="Rectangle 3"/>
              <p:cNvSpPr>
                <a:spLocks noChangeArrowheads="1"/>
              </p:cNvSpPr>
              <p:nvPr/>
            </p:nvSpPr>
            <p:spPr bwMode="auto">
              <a:xfrm>
                <a:off x="3581400" y="2971800"/>
                <a:ext cx="838200" cy="838200"/>
              </a:xfrm>
              <a:prstGeom prst="rect">
                <a:avLst/>
              </a:prstGeom>
              <a:solidFill>
                <a:schemeClr val="accent6">
                  <a:alpha val="50000"/>
                </a:schemeClr>
              </a:solidFill>
              <a:ln w="9525">
                <a:solidFill>
                  <a:schemeClr val="tx1"/>
                </a:solidFill>
                <a:miter lim="800000"/>
              </a:ln>
              <a:effec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1</m:t>
                          </m:r>
                        </m:sub>
                      </m:sSub>
                    </m:oMath>
                  </m:oMathPara>
                </a14:m>
                <a:endParaRPr lang="en-US" altLang="en-US" dirty="0"/>
              </a:p>
            </p:txBody>
          </p:sp>
        </mc:Choice>
        <mc:Fallback xmlns="">
          <p:sp>
            <p:nvSpPr>
              <p:cNvPr id="41987" name="Rectangle 3"/>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chemeClr val="tx1"/>
                </a:solidFill>
                <a:miter lim="800000"/>
              </a:ln>
              <a:effectLst/>
            </p:spPr>
            <p:txBody>
              <a:bodyPr/>
              <a:lstStyle/>
              <a:p>
                <a:r>
                  <a:rPr lang="zh-CN" altLang="en-US">
                    <a:noFill/>
                  </a:rPr>
                  <a:t> </a:t>
                </a:r>
              </a:p>
            </p:txBody>
          </p:sp>
        </mc:Fallback>
      </mc:AlternateContent>
      <p:sp>
        <p:nvSpPr>
          <p:cNvPr id="41989" name="Line 5"/>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41990" name="Text Box 6"/>
          <p:cNvSpPr txBox="1">
            <a:spLocks noChangeArrowheads="1"/>
          </p:cNvSpPr>
          <p:nvPr/>
        </p:nvSpPr>
        <p:spPr bwMode="auto">
          <a:xfrm>
            <a:off x="3810000" y="4419600"/>
            <a:ext cx="465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Z</a:t>
            </a:r>
            <a:r>
              <a:rPr lang="en-US" altLang="en-US" baseline="-25000" dirty="0"/>
              <a:t>0</a:t>
            </a:r>
          </a:p>
        </p:txBody>
      </p:sp>
      <p:sp>
        <p:nvSpPr>
          <p:cNvPr id="41991" name="Line 7"/>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9"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p:cNvSpPr txBox="1"/>
              <p:nvPr/>
            </p:nvSpPr>
            <p:spPr>
              <a:xfrm>
                <a:off x="4640828" y="3070908"/>
                <a:ext cx="2133600"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l-GR" altLang="zh-CN" sz="1800" i="1" dirty="0" smtClean="0">
                              <a:latin typeface="Cambria Math" panose="02040503050406030204" pitchFamily="18" charset="0"/>
                            </a:rPr>
                          </m:ctrlPr>
                        </m:dPr>
                        <m:e>
                          <m:sSub>
                            <m:sSubPr>
                              <m:ctrlPr>
                                <a:rPr lang="el-GR" altLang="zh-CN" sz="1800" i="1" dirty="0" smtClean="0">
                                  <a:latin typeface="Cambria Math" panose="02040503050406030204" pitchFamily="18" charset="0"/>
                                </a:rPr>
                              </m:ctrlPr>
                            </m:sSubPr>
                            <m:e>
                              <m:r>
                                <a:rPr lang="en-AU"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1</m:t>
                              </m:r>
                            </m:sub>
                          </m:sSub>
                          <m:r>
                            <a:rPr lang="en-AU" altLang="zh-CN" sz="1800" i="1" dirty="0" smtClean="0">
                              <a:latin typeface="Cambria Math" panose="02040503050406030204" pitchFamily="18" charset="0"/>
                            </a:rPr>
                            <m:t>, </m:t>
                          </m:r>
                          <m:r>
                            <a:rPr lang="el-GR" altLang="zh-CN" i="1" dirty="0" smtClean="0">
                              <a:solidFill>
                                <a:srgbClr val="FF0000"/>
                              </a:solidFill>
                              <a:latin typeface="Cambria Math" panose="02040503050406030204" pitchFamily="18" charset="0"/>
                            </a:rPr>
                            <m:t>𝜀</m:t>
                          </m:r>
                          <m:r>
                            <a:rPr lang="en-AU" altLang="zh-CN" sz="1800" i="1" dirty="0" smtClean="0">
                              <a:latin typeface="Cambria Math" panose="02040503050406030204" pitchFamily="18" charset="0"/>
                            </a:rPr>
                            <m:t>, </m:t>
                          </m:r>
                          <m:r>
                            <m:rPr>
                              <m:nor/>
                            </m:rPr>
                            <a:rPr lang="en-US" altLang="en-US" dirty="0" smtClean="0">
                              <a:solidFill>
                                <a:srgbClr val="00B050"/>
                              </a:solidFill>
                              <a:latin typeface="Cambria Math" panose="02040503050406030204" pitchFamily="18" charset="0"/>
                            </a:rPr>
                            <m:t>Z</m:t>
                          </m:r>
                          <m:r>
                            <m:rPr>
                              <m:nor/>
                            </m:rPr>
                            <a:rPr lang="en-US" altLang="en-US" baseline="-25000" dirty="0" smtClean="0">
                              <a:solidFill>
                                <a:srgbClr val="00B050"/>
                              </a:solidFill>
                              <a:latin typeface="Cambria Math" panose="02040503050406030204" pitchFamily="18" charset="0"/>
                            </a:rPr>
                            <m:t>0</m:t>
                          </m:r>
                        </m:e>
                      </m:d>
                      <m:r>
                        <a:rPr lang="en-AU" altLang="zh-CN" sz="1800" b="0" i="1" dirty="0" smtClean="0">
                          <a:latin typeface="Cambria Math" panose="02040503050406030204" pitchFamily="18" charset="0"/>
                        </a:rPr>
                        <m:t>={(</m:t>
                      </m:r>
                      <m:sSub>
                        <m:sSubPr>
                          <m:ctrlPr>
                            <a:rPr lang="el-GR" altLang="zh-CN" sz="1800" i="1" dirty="0">
                              <a:latin typeface="Cambria Math" panose="02040503050406030204" pitchFamily="18" charset="0"/>
                            </a:rPr>
                          </m:ctrlPr>
                        </m:sSubPr>
                        <m:e>
                          <m:r>
                            <a:rPr lang="en-AU" altLang="zh-CN" sz="1800" i="1" dirty="0">
                              <a:latin typeface="Cambria Math" panose="02040503050406030204" pitchFamily="18" charset="0"/>
                            </a:rPr>
                            <m:t>𝑞</m:t>
                          </m:r>
                        </m:e>
                        <m:sub>
                          <m:r>
                            <a:rPr lang="en-US" altLang="zh-CN" sz="1800" b="0" i="1" dirty="0" smtClean="0">
                              <a:latin typeface="Cambria Math" panose="02040503050406030204" pitchFamily="18" charset="0"/>
                            </a:rPr>
                            <m:t>2</m:t>
                          </m:r>
                        </m:sub>
                      </m:sSub>
                      <m:r>
                        <a:rPr lang="en-AU" altLang="zh-CN" sz="1800" b="0" i="1" dirty="0" smtClean="0">
                          <a:latin typeface="Cambria Math" panose="02040503050406030204" pitchFamily="18" charset="0"/>
                        </a:rPr>
                        <m:t>,</m:t>
                      </m:r>
                      <m:r>
                        <m:rPr>
                          <m:nor/>
                        </m:rPr>
                        <a:rPr lang="en-US" altLang="en-US" dirty="0">
                          <a:solidFill>
                            <a:srgbClr val="00B050"/>
                          </a:solidFill>
                          <a:latin typeface="Cambria Math" panose="02040503050406030204" pitchFamily="18" charset="0"/>
                        </a:rPr>
                        <m:t>Z</m:t>
                      </m:r>
                      <m:r>
                        <m:rPr>
                          <m:nor/>
                        </m:rPr>
                        <a:rPr lang="en-US" altLang="en-US" baseline="-25000" dirty="0">
                          <a:solidFill>
                            <a:srgbClr val="00B050"/>
                          </a:solidFill>
                          <a:latin typeface="Cambria Math" panose="02040503050406030204" pitchFamily="18" charset="0"/>
                        </a:rPr>
                        <m:t>0</m:t>
                      </m:r>
                      <m:r>
                        <a:rPr lang="en-AU" altLang="zh-CN" sz="1800" b="0" i="1" dirty="0" smtClean="0">
                          <a:latin typeface="Cambria Math" panose="02040503050406030204" pitchFamily="18" charset="0"/>
                        </a:rPr>
                        <m:t>)}</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4640828" y="3070908"/>
                <a:ext cx="2133600" cy="639983"/>
              </a:xfrm>
              <a:prstGeom prst="rect">
                <a:avLst/>
              </a:prstGeom>
              <a:blipFill rotWithShape="1">
                <a:blip r:embed="rId4"/>
                <a:stretch>
                  <a:fillRect l="-12" t="-8" r="12" b="-8"/>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fld id="{ACDB7830-CF27-476A-B531-C9AEB45EE648}" type="slidenum">
              <a:rPr lang="en-US" altLang="en-US"/>
              <a:t>21</a:t>
            </a:fld>
            <a:endParaRPr lang="en-US" altLang="en-US"/>
          </a:p>
        </p:txBody>
      </p:sp>
      <mc:AlternateContent xmlns:mc="http://schemas.openxmlformats.org/markup-compatibility/2006" xmlns:a14="http://schemas.microsoft.com/office/drawing/2010/main">
        <mc:Choice Requires="a14">
          <p:sp>
            <p:nvSpPr>
              <p:cNvPr id="44035" name="Rectangle 3"/>
              <p:cNvSpPr>
                <a:spLocks noChangeArrowheads="1"/>
              </p:cNvSpPr>
              <p:nvPr/>
            </p:nvSpPr>
            <p:spPr bwMode="auto">
              <a:xfrm>
                <a:off x="3581400" y="2971800"/>
                <a:ext cx="838200" cy="838200"/>
              </a:xfrm>
              <a:prstGeom prst="rect">
                <a:avLst/>
              </a:prstGeom>
              <a:solidFill>
                <a:srgbClr val="FFFF00">
                  <a:alpha val="50000"/>
                </a:srgbClr>
              </a:solidFill>
              <a:ln w="9525">
                <a:solidFill>
                  <a:schemeClr val="tx1"/>
                </a:solidFill>
                <a:miter lim="800000"/>
              </a:ln>
              <a:effectLst/>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2</m:t>
                          </m:r>
                        </m:sub>
                      </m:sSub>
                    </m:oMath>
                  </m:oMathPara>
                </a14:m>
                <a:endParaRPr lang="en-US" altLang="en-US" dirty="0"/>
              </a:p>
            </p:txBody>
          </p:sp>
        </mc:Choice>
        <mc:Fallback xmlns="">
          <p:sp>
            <p:nvSpPr>
              <p:cNvPr id="44035" name="Rectangle 3"/>
              <p:cNvSpPr>
                <a:spLocks noRot="1" noChangeAspect="1" noMove="1" noResize="1" noEditPoints="1" noAdjustHandles="1" noChangeArrowheads="1" noChangeShapeType="1" noTextEdit="1"/>
              </p:cNvSpPr>
              <p:nvPr/>
            </p:nvSpPr>
            <p:spPr bwMode="auto">
              <a:xfrm>
                <a:off x="3581400" y="2971800"/>
                <a:ext cx="838200" cy="838200"/>
              </a:xfrm>
              <a:prstGeom prst="rect">
                <a:avLst/>
              </a:prstGeom>
              <a:blipFill rotWithShape="1">
                <a:blip r:embed="rId3"/>
                <a:stretch>
                  <a:fillRect l="-606" t="-606" r="-530" b="-530"/>
                </a:stretch>
              </a:blipFill>
              <a:ln w="9525">
                <a:solidFill>
                  <a:schemeClr val="tx1"/>
                </a:solidFill>
                <a:miter lim="800000"/>
              </a:ln>
              <a:effectLst/>
            </p:spPr>
            <p:txBody>
              <a:bodyPr/>
              <a:lstStyle/>
              <a:p>
                <a:r>
                  <a:rPr lang="zh-CN" altLang="en-US">
                    <a:noFill/>
                  </a:rPr>
                  <a:t> </a:t>
                </a:r>
              </a:p>
            </p:txBody>
          </p:sp>
        </mc:Fallback>
      </mc:AlternateContent>
      <p:sp>
        <p:nvSpPr>
          <p:cNvPr id="44036" name="Line 4"/>
          <p:cNvSpPr>
            <a:spLocks noChangeShapeType="1"/>
          </p:cNvSpPr>
          <p:nvPr/>
        </p:nvSpPr>
        <p:spPr bwMode="auto">
          <a:xfrm flipV="1">
            <a:off x="3962400" y="25146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44037" name="Text Box 5"/>
          <p:cNvSpPr txBox="1">
            <a:spLocks noChangeArrowheads="1"/>
          </p:cNvSpPr>
          <p:nvPr/>
        </p:nvSpPr>
        <p:spPr bwMode="auto">
          <a:xfrm>
            <a:off x="3810000" y="4419600"/>
            <a:ext cx="465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Z</a:t>
            </a:r>
            <a:r>
              <a:rPr lang="en-US" altLang="en-US" baseline="-25000"/>
              <a:t>0</a:t>
            </a:r>
          </a:p>
        </p:txBody>
      </p:sp>
      <p:sp>
        <p:nvSpPr>
          <p:cNvPr id="44038" name="Line 6"/>
          <p:cNvSpPr>
            <a:spLocks noChangeShapeType="1"/>
          </p:cNvSpPr>
          <p:nvPr/>
        </p:nvSpPr>
        <p:spPr bwMode="auto">
          <a:xfrm>
            <a:off x="3962400" y="38100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9" name="Title 1"/>
          <p:cNvSpPr>
            <a:spLocks noGrp="1"/>
          </p:cNvSpPr>
          <p:nvPr>
            <p:ph type="title"/>
          </p:nvPr>
        </p:nvSpPr>
        <p:spPr>
          <a:xfrm>
            <a:off x="685800" y="152400"/>
            <a:ext cx="8229600" cy="393065"/>
          </a:xfrm>
        </p:spPr>
        <p:txBody>
          <a:body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动作示意图</a:t>
            </a:r>
            <a:endParaRPr lang="en-AU" b="1"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p:cNvSpPr txBox="1"/>
              <p:nvPr/>
            </p:nvSpPr>
            <p:spPr>
              <a:xfrm>
                <a:off x="4640827" y="3070908"/>
                <a:ext cx="2246665" cy="646331"/>
              </a:xfrm>
              <a:prstGeom prst="rect">
                <a:avLst/>
              </a:prstGeom>
              <a:noFill/>
            </p:spPr>
            <p:txBody>
              <a:bodyPr wrap="square">
                <a:spAutoFit/>
              </a:bodyPr>
              <a:lstStyle/>
              <a:p>
                <a14:m>
                  <m:oMath xmlns:m="http://schemas.openxmlformats.org/officeDocument/2006/math">
                    <m:r>
                      <a:rPr lang="zh-CN" altLang="en-US" i="1" dirty="0">
                        <a:latin typeface="Cambria Math" panose="02040503050406030204" pitchFamily="18" charset="0"/>
                      </a:rPr>
                      <m:t>输入</m:t>
                    </m:r>
                  </m:oMath>
                </a14:m>
                <a:r>
                  <a:rPr lang="zh-CN" altLang="en-US" dirty="0"/>
                  <a:t>带上变成空，已到栈底，识别结束</a:t>
                </a:r>
              </a:p>
            </p:txBody>
          </p:sp>
        </mc:Choice>
        <mc:Fallback xmlns="">
          <p:sp>
            <p:nvSpPr>
              <p:cNvPr id="8" name="文本框 7"/>
              <p:cNvSpPr txBox="1">
                <a:spLocks noRot="1" noChangeAspect="1" noMove="1" noResize="1" noEditPoints="1" noAdjustHandles="1" noChangeArrowheads="1" noChangeShapeType="1" noTextEdit="1"/>
              </p:cNvSpPr>
              <p:nvPr/>
            </p:nvSpPr>
            <p:spPr>
              <a:xfrm>
                <a:off x="4640827" y="3070908"/>
                <a:ext cx="2246665" cy="646331"/>
              </a:xfrm>
              <a:prstGeom prst="rect">
                <a:avLst/>
              </a:prstGeom>
              <a:blipFill rotWithShape="1">
                <a:blip r:embed="rId4"/>
                <a:stretch>
                  <a:fillRect l="-11" t="-7" r="13" b="90"/>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386711"/>
                <a:ext cx="8229600" cy="4525963"/>
              </a:xfrm>
            </p:spPr>
            <p:txBody>
              <a:bodyPr/>
              <a:lstStyle/>
              <a:p>
                <a:r>
                  <a:rPr lang="zh-CN" altLang="en-US" sz="2400" dirty="0">
                    <a:latin typeface="Times New Roman" panose="02020603050405020304" pitchFamily="18" charset="0"/>
                    <a:cs typeface="Times New Roman" panose="02020603050405020304" pitchFamily="18" charset="0"/>
                  </a:rPr>
                  <a:t>状态转移</a:t>
                </a:r>
                <a:r>
                  <a:rPr lang="en-AU" altLang="zh-CN" sz="2400" dirty="0">
                    <a:latin typeface="Times New Roman" panose="02020603050405020304" pitchFamily="18" charset="0"/>
                    <a:cs typeface="Times New Roman" panose="02020603050405020304" pitchFamily="18" charset="0"/>
                  </a:rPr>
                  <a:t>:</a:t>
                </a:r>
              </a:p>
              <a:p>
                <a:pPr lvl="1"/>
                <a14:m>
                  <m:oMath xmlns:m="http://schemas.openxmlformats.org/officeDocument/2006/math">
                    <m:r>
                      <a:rPr lang="el-GR" sz="2400" i="1" dirty="0" smtClean="0">
                        <a:latin typeface="Cambria Math" panose="02040503050406030204" pitchFamily="18" charset="0"/>
                      </a:rPr>
                      <m:t>𝛿</m:t>
                    </m:r>
                    <m:d>
                      <m:dPr>
                        <m:ctrlPr>
                          <a:rPr lang="el-GR" sz="2400" i="1" dirty="0" smtClean="0">
                            <a:latin typeface="Cambria Math" panose="02040503050406030204" pitchFamily="18" charset="0"/>
                          </a:rPr>
                        </m:ctrlPr>
                      </m:dPr>
                      <m:e>
                        <m:sSub>
                          <m:sSubPr>
                            <m:ctrlPr>
                              <a:rPr lang="el-GR"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0</m:t>
                            </m:r>
                          </m:sub>
                        </m:sSub>
                        <m:r>
                          <a:rPr lang="en-AU" sz="2400" i="1" dirty="0" smtClean="0">
                            <a:latin typeface="Cambria Math" panose="02040503050406030204" pitchFamily="18" charset="0"/>
                          </a:rPr>
                          <m:t>, </m:t>
                        </m:r>
                        <m:r>
                          <a:rPr lang="en-AU" sz="2400" b="0" i="1" dirty="0" smtClean="0">
                            <a:latin typeface="Cambria Math" panose="02040503050406030204" pitchFamily="18" charset="0"/>
                          </a:rPr>
                          <m:t>0</m:t>
                        </m:r>
                        <m:r>
                          <a:rPr lang="en-AU" sz="2400" i="1" dirty="0" smtClean="0">
                            <a:latin typeface="Cambria Math" panose="02040503050406030204" pitchFamily="18" charset="0"/>
                          </a:rPr>
                          <m:t>, </m:t>
                        </m:r>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𝑍</m:t>
                            </m:r>
                          </m:e>
                          <m:sub>
                            <m:r>
                              <a:rPr lang="en-AU" sz="2400" b="0" i="1" dirty="0" smtClean="0">
                                <a:latin typeface="Cambria Math" panose="02040503050406030204" pitchFamily="18" charset="0"/>
                              </a:rPr>
                              <m:t>0</m:t>
                            </m:r>
                          </m:sub>
                        </m:sSub>
                      </m:e>
                    </m:d>
                    <m:r>
                      <a:rPr lang="en-AU" sz="2400" b="0" i="1" dirty="0" smtClean="0">
                        <a:latin typeface="Cambria Math" panose="02040503050406030204" pitchFamily="18" charset="0"/>
                      </a:rPr>
                      <m:t>={(</m:t>
                    </m:r>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i="1" dirty="0">
                            <a:latin typeface="Cambria Math" panose="02040503050406030204" pitchFamily="18" charset="0"/>
                          </a:rPr>
                          <m:t>0</m:t>
                        </m:r>
                      </m:sub>
                    </m:sSub>
                    <m:r>
                      <a:rPr lang="en-AU" sz="2400" b="0" i="1" dirty="0" smtClean="0">
                        <a:latin typeface="Cambria Math" panose="02040503050406030204" pitchFamily="18" charset="0"/>
                      </a:rPr>
                      <m:t>,0</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𝑍</m:t>
                        </m:r>
                      </m:e>
                      <m:sub>
                        <m:r>
                          <a:rPr lang="en-AU" sz="2400" i="1" dirty="0">
                            <a:latin typeface="Cambria Math" panose="02040503050406030204" pitchFamily="18" charset="0"/>
                          </a:rPr>
                          <m:t>0</m:t>
                        </m:r>
                      </m:sub>
                    </m:sSub>
                    <m:r>
                      <a:rPr lang="en-AU" sz="2400" b="0" i="1" dirty="0" smtClean="0">
                        <a:latin typeface="Cambria Math" panose="02040503050406030204" pitchFamily="18" charset="0"/>
                      </a:rPr>
                      <m:t>)}</m:t>
                    </m:r>
                  </m:oMath>
                </a14:m>
                <a:r>
                  <a:rPr lang="zh-CN" altLang="en-US" sz="2400" dirty="0">
                    <a:latin typeface="Times New Roman" panose="02020603050405020304" pitchFamily="18" charset="0"/>
                    <a:cs typeface="Times New Roman" panose="02020603050405020304" pitchFamily="18" charset="0"/>
                  </a:rPr>
                  <a:t>：输入</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，当前栈顶为</a:t>
                </a:r>
                <a14:m>
                  <m:oMath xmlns:m="http://schemas.openxmlformats.org/officeDocument/2006/math">
                    <m:sSub>
                      <m:sSubPr>
                        <m:ctrlPr>
                          <a:rPr lang="en-AU" sz="2400" i="1" dirty="0">
                            <a:latin typeface="Cambria Math" panose="02040503050406030204" pitchFamily="18" charset="0"/>
                          </a:rPr>
                        </m:ctrlPr>
                      </m:sSubPr>
                      <m:e>
                        <m:r>
                          <a:rPr lang="en-AU" sz="2400" i="1" dirty="0">
                            <a:latin typeface="Cambria Math" panose="02040503050406030204" pitchFamily="18" charset="0"/>
                          </a:rPr>
                          <m:t>𝑍</m:t>
                        </m:r>
                      </m:e>
                      <m:sub>
                        <m:r>
                          <a:rPr lang="en-AU" sz="2400" i="1" dirty="0">
                            <a:latin typeface="Cambria Math" panose="02040503050406030204" pitchFamily="18" charset="0"/>
                          </a:rPr>
                          <m:t>0</m:t>
                        </m:r>
                      </m:sub>
                    </m:sSub>
                    <m:r>
                      <a:rPr lang="en-AU" sz="2400" i="1" dirty="0">
                        <a:latin typeface="Cambria Math" panose="02040503050406030204" pitchFamily="18" charset="0"/>
                      </a:rPr>
                      <m:t> </m:t>
                    </m:r>
                  </m:oMath>
                </a14:m>
                <a:r>
                  <a:rPr lang="zh-CN" altLang="en-US" sz="2400" dirty="0">
                    <a:latin typeface="Times New Roman" panose="02020603050405020304" pitchFamily="18" charset="0"/>
                    <a:cs typeface="Times New Roman" panose="02020603050405020304" pitchFamily="18" charset="0"/>
                  </a:rPr>
                  <a:t>，则状态仍为</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，对栈压入一个</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endParaRPr lang="en-AU" altLang="zh-CN" sz="2400" dirty="0">
                  <a:latin typeface="Times New Roman" panose="02020603050405020304" pitchFamily="18" charset="0"/>
                  <a:cs typeface="Times New Roman" panose="02020603050405020304" pitchFamily="18" charset="0"/>
                </a:endParaRPr>
              </a:p>
              <a:p>
                <a:pPr lvl="1"/>
                <a14:m>
                  <m:oMath xmlns:m="http://schemas.openxmlformats.org/officeDocument/2006/math">
                    <m:r>
                      <a:rPr lang="el-GR" sz="2400" i="1" dirty="0" smtClean="0">
                        <a:latin typeface="Cambria Math" panose="02040503050406030204" pitchFamily="18" charset="0"/>
                      </a:rPr>
                      <m:t>𝛿</m:t>
                    </m:r>
                    <m:d>
                      <m:dPr>
                        <m:ctrlPr>
                          <a:rPr lang="el-GR" sz="2400" i="1" dirty="0" smtClean="0">
                            <a:latin typeface="Cambria Math" panose="02040503050406030204" pitchFamily="18" charset="0"/>
                          </a:rPr>
                        </m:ctrlPr>
                      </m:dPr>
                      <m:e>
                        <m:sSub>
                          <m:sSubPr>
                            <m:ctrlPr>
                              <a:rPr lang="el-GR"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0</m:t>
                            </m:r>
                          </m:sub>
                        </m:sSub>
                        <m:r>
                          <a:rPr lang="en-AU" sz="2400" i="1" dirty="0" smtClean="0">
                            <a:latin typeface="Cambria Math" panose="02040503050406030204" pitchFamily="18" charset="0"/>
                          </a:rPr>
                          <m:t>, </m:t>
                        </m:r>
                        <m:r>
                          <a:rPr lang="en-AU" sz="2400" b="0" i="1" dirty="0" smtClean="0">
                            <a:latin typeface="Cambria Math" panose="02040503050406030204" pitchFamily="18" charset="0"/>
                          </a:rPr>
                          <m:t>0</m:t>
                        </m:r>
                        <m:r>
                          <a:rPr lang="en-AU" sz="2400" i="1" dirty="0" smtClean="0">
                            <a:latin typeface="Cambria Math" panose="02040503050406030204" pitchFamily="18" charset="0"/>
                          </a:rPr>
                          <m:t>, </m:t>
                        </m:r>
                        <m:r>
                          <a:rPr lang="en-AU" sz="2400" b="0" i="1" dirty="0" smtClean="0">
                            <a:latin typeface="Cambria Math" panose="02040503050406030204" pitchFamily="18" charset="0"/>
                          </a:rPr>
                          <m:t>0</m:t>
                        </m:r>
                      </m:e>
                    </m:d>
                    <m:r>
                      <a:rPr lang="en-AU" sz="2400" b="0" i="1" dirty="0" smtClean="0">
                        <a:latin typeface="Cambria Math" panose="02040503050406030204" pitchFamily="18" charset="0"/>
                      </a:rPr>
                      <m:t>={(</m:t>
                    </m:r>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i="1" dirty="0">
                            <a:latin typeface="Cambria Math" panose="02040503050406030204" pitchFamily="18" charset="0"/>
                          </a:rPr>
                          <m:t>0</m:t>
                        </m:r>
                      </m:sub>
                    </m:sSub>
                    <m:r>
                      <a:rPr lang="en-AU" sz="2400" b="0" i="1" dirty="0" smtClean="0">
                        <a:latin typeface="Cambria Math" panose="02040503050406030204" pitchFamily="18" charset="0"/>
                      </a:rPr>
                      <m:t>,00)}</m:t>
                    </m:r>
                  </m:oMath>
                </a14:m>
                <a:r>
                  <a:rPr lang="zh-CN" altLang="en-US" sz="2400" dirty="0">
                    <a:latin typeface="Times New Roman" panose="02020603050405020304" pitchFamily="18" charset="0"/>
                    <a:cs typeface="Times New Roman" panose="02020603050405020304" pitchFamily="18" charset="0"/>
                  </a:rPr>
                  <a:t>：输入</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，当前栈顶为</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，则状态仍为</a:t>
                </a:r>
                <a14:m>
                  <m:oMath xmlns:m="http://schemas.openxmlformats.org/officeDocument/2006/math">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i="1" dirty="0">
                            <a:latin typeface="Cambria Math" panose="02040503050406030204" pitchFamily="18" charset="0"/>
                          </a:rPr>
                          <m:t>0</m:t>
                        </m:r>
                      </m:sub>
                    </m:sSub>
                  </m:oMath>
                </a14:m>
                <a:r>
                  <a:rPr lang="zh-CN" altLang="en-US" sz="2400" dirty="0">
                    <a:latin typeface="Times New Roman" panose="02020603050405020304" pitchFamily="18" charset="0"/>
                    <a:cs typeface="Times New Roman" panose="02020603050405020304" pitchFamily="18" charset="0"/>
                  </a:rPr>
                  <a:t>，对栈压入一个</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endParaRPr lang="en-AU" altLang="zh-CN" sz="2400" dirty="0">
                  <a:latin typeface="Times New Roman" panose="02020603050405020304" pitchFamily="18" charset="0"/>
                  <a:cs typeface="Times New Roman" panose="02020603050405020304" pitchFamily="18" charset="0"/>
                </a:endParaRPr>
              </a:p>
              <a:p>
                <a:pPr lvl="1"/>
                <a14:m>
                  <m:oMath xmlns:m="http://schemas.openxmlformats.org/officeDocument/2006/math">
                    <m:r>
                      <a:rPr lang="el-GR" sz="2400" i="1" dirty="0" smtClean="0">
                        <a:latin typeface="Cambria Math" panose="02040503050406030204" pitchFamily="18" charset="0"/>
                      </a:rPr>
                      <m:t>𝛿</m:t>
                    </m:r>
                    <m:d>
                      <m:dPr>
                        <m:ctrlPr>
                          <a:rPr lang="el-GR" sz="2400" i="1" dirty="0" smtClean="0">
                            <a:latin typeface="Cambria Math" panose="02040503050406030204" pitchFamily="18" charset="0"/>
                          </a:rPr>
                        </m:ctrlPr>
                      </m:dPr>
                      <m:e>
                        <m:sSub>
                          <m:sSubPr>
                            <m:ctrlPr>
                              <a:rPr lang="el-GR"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0</m:t>
                            </m:r>
                          </m:sub>
                        </m:sSub>
                        <m:r>
                          <a:rPr lang="en-AU" sz="2400" i="1" dirty="0" smtClean="0">
                            <a:latin typeface="Cambria Math" panose="02040503050406030204" pitchFamily="18" charset="0"/>
                          </a:rPr>
                          <m:t>, </m:t>
                        </m:r>
                        <m:r>
                          <a:rPr lang="en-AU" sz="2400" b="0" i="1" dirty="0" smtClean="0">
                            <a:latin typeface="Cambria Math" panose="02040503050406030204" pitchFamily="18" charset="0"/>
                          </a:rPr>
                          <m:t>1,</m:t>
                        </m:r>
                        <m:r>
                          <a:rPr lang="en-AU" sz="2400" i="1" dirty="0" smtClean="0">
                            <a:latin typeface="Cambria Math" panose="02040503050406030204" pitchFamily="18" charset="0"/>
                          </a:rPr>
                          <m:t> </m:t>
                        </m:r>
                        <m:r>
                          <a:rPr lang="en-AU" sz="2400" b="0" i="1" dirty="0" smtClean="0">
                            <a:latin typeface="Cambria Math" panose="02040503050406030204" pitchFamily="18" charset="0"/>
                          </a:rPr>
                          <m:t>0</m:t>
                        </m:r>
                      </m:e>
                    </m:d>
                    <m:r>
                      <a:rPr lang="en-AU" sz="2400" b="0" i="1" dirty="0" smtClean="0">
                        <a:latin typeface="Cambria Math" panose="02040503050406030204" pitchFamily="18" charset="0"/>
                      </a:rPr>
                      <m:t>={(</m:t>
                    </m:r>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b="0" i="1" dirty="0" smtClean="0">
                            <a:latin typeface="Cambria Math" panose="02040503050406030204" pitchFamily="18" charset="0"/>
                          </a:rPr>
                          <m:t>1</m:t>
                        </m:r>
                      </m:sub>
                    </m:sSub>
                    <m:r>
                      <a:rPr lang="en-AU" sz="2400" b="0" i="1" dirty="0" smtClean="0">
                        <a:latin typeface="Cambria Math" panose="02040503050406030204" pitchFamily="18" charset="0"/>
                      </a:rPr>
                      <m:t>,</m:t>
                    </m:r>
                    <m:r>
                      <a:rPr lang="el-GR" sz="2400" i="1" dirty="0">
                        <a:latin typeface="Cambria Math" panose="02040503050406030204" pitchFamily="18" charset="0"/>
                      </a:rPr>
                      <m:t>𝜀</m:t>
                    </m:r>
                    <m:r>
                      <a:rPr lang="en-AU" sz="2400" b="0" i="1" dirty="0" smtClean="0">
                        <a:latin typeface="Cambria Math" panose="02040503050406030204" pitchFamily="18" charset="0"/>
                      </a:rPr>
                      <m:t>)}</m:t>
                    </m:r>
                  </m:oMath>
                </a14:m>
                <a:r>
                  <a:rPr lang="zh-CN" altLang="en-US" sz="2400" dirty="0">
                    <a:latin typeface="Times New Roman" panose="02020603050405020304" pitchFamily="18" charset="0"/>
                    <a:cs typeface="Times New Roman" panose="02020603050405020304" pitchFamily="18" charset="0"/>
                  </a:rPr>
                  <a:t>：输入</a:t>
                </a:r>
                <a:r>
                  <a:rPr lang="en-AU"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，当前栈顶为</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，则状态变为</a:t>
                </a:r>
                <a14:m>
                  <m:oMath xmlns:m="http://schemas.openxmlformats.org/officeDocument/2006/math">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b="0" i="1" dirty="0" smtClean="0">
                            <a:latin typeface="Cambria Math" panose="02040503050406030204" pitchFamily="18" charset="0"/>
                          </a:rPr>
                          <m:t>1</m:t>
                        </m:r>
                      </m:sub>
                    </m:sSub>
                  </m:oMath>
                </a14:m>
                <a:r>
                  <a:rPr lang="zh-CN" altLang="en-US" sz="2400" dirty="0">
                    <a:latin typeface="Times New Roman" panose="02020603050405020304" pitchFamily="18" charset="0"/>
                    <a:cs typeface="Times New Roman" panose="02020603050405020304" pitchFamily="18" charset="0"/>
                  </a:rPr>
                  <a:t>，弹出一个</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endParaRPr lang="en-AU" altLang="zh-CN" sz="2400" dirty="0">
                  <a:latin typeface="Times New Roman" panose="02020603050405020304" pitchFamily="18" charset="0"/>
                  <a:cs typeface="Times New Roman" panose="02020603050405020304" pitchFamily="18" charset="0"/>
                </a:endParaRPr>
              </a:p>
              <a:p>
                <a:pPr lvl="1"/>
                <a14:m>
                  <m:oMath xmlns:m="http://schemas.openxmlformats.org/officeDocument/2006/math">
                    <m:r>
                      <a:rPr lang="el-GR" sz="2400" i="1" dirty="0" smtClean="0">
                        <a:latin typeface="Cambria Math" panose="02040503050406030204" pitchFamily="18" charset="0"/>
                      </a:rPr>
                      <m:t>𝛿</m:t>
                    </m:r>
                    <m:d>
                      <m:dPr>
                        <m:ctrlPr>
                          <a:rPr lang="el-GR" sz="2400" i="1" dirty="0" smtClean="0">
                            <a:latin typeface="Cambria Math" panose="02040503050406030204" pitchFamily="18" charset="0"/>
                          </a:rPr>
                        </m:ctrlPr>
                      </m:dPr>
                      <m:e>
                        <m:sSub>
                          <m:sSubPr>
                            <m:ctrlPr>
                              <a:rPr lang="el-GR"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1</m:t>
                            </m:r>
                          </m:sub>
                        </m:sSub>
                        <m:r>
                          <a:rPr lang="en-AU" sz="2400" i="1" dirty="0" smtClean="0">
                            <a:latin typeface="Cambria Math" panose="02040503050406030204" pitchFamily="18" charset="0"/>
                          </a:rPr>
                          <m:t>, </m:t>
                        </m:r>
                        <m:r>
                          <a:rPr lang="en-AU" sz="2400" b="0" i="1" dirty="0" smtClean="0">
                            <a:latin typeface="Cambria Math" panose="02040503050406030204" pitchFamily="18" charset="0"/>
                          </a:rPr>
                          <m:t>1,</m:t>
                        </m:r>
                        <m:r>
                          <a:rPr lang="en-AU" sz="2400" i="1" dirty="0" smtClean="0">
                            <a:latin typeface="Cambria Math" panose="02040503050406030204" pitchFamily="18" charset="0"/>
                          </a:rPr>
                          <m:t> </m:t>
                        </m:r>
                        <m:r>
                          <a:rPr lang="en-AU" sz="2400" b="0" i="1" dirty="0" smtClean="0">
                            <a:latin typeface="Cambria Math" panose="02040503050406030204" pitchFamily="18" charset="0"/>
                          </a:rPr>
                          <m:t>0</m:t>
                        </m:r>
                      </m:e>
                    </m:d>
                    <m:r>
                      <a:rPr lang="en-AU" sz="2400" b="0" i="1" dirty="0" smtClean="0">
                        <a:latin typeface="Cambria Math" panose="02040503050406030204" pitchFamily="18" charset="0"/>
                      </a:rPr>
                      <m:t>={(</m:t>
                    </m:r>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b="0" i="1" dirty="0" smtClean="0">
                            <a:latin typeface="Cambria Math" panose="02040503050406030204" pitchFamily="18" charset="0"/>
                          </a:rPr>
                          <m:t>1</m:t>
                        </m:r>
                      </m:sub>
                    </m:sSub>
                    <m:r>
                      <a:rPr lang="en-AU" sz="2400" b="0" i="1" dirty="0" smtClean="0">
                        <a:latin typeface="Cambria Math" panose="02040503050406030204" pitchFamily="18" charset="0"/>
                      </a:rPr>
                      <m:t>,</m:t>
                    </m:r>
                    <m:r>
                      <a:rPr lang="el-GR" sz="2400" i="1" dirty="0">
                        <a:latin typeface="Cambria Math" panose="02040503050406030204" pitchFamily="18" charset="0"/>
                      </a:rPr>
                      <m:t>𝜀</m:t>
                    </m:r>
                    <m:r>
                      <a:rPr lang="en-AU" sz="2400" b="0" i="1" dirty="0" smtClean="0">
                        <a:latin typeface="Cambria Math" panose="02040503050406030204" pitchFamily="18" charset="0"/>
                      </a:rPr>
                      <m:t>)}</m:t>
                    </m:r>
                  </m:oMath>
                </a14:m>
                <a:r>
                  <a:rPr lang="zh-CN" altLang="en-US" sz="2400" dirty="0">
                    <a:latin typeface="Times New Roman" panose="02020603050405020304" pitchFamily="18" charset="0"/>
                    <a:cs typeface="Times New Roman" panose="02020603050405020304" pitchFamily="18" charset="0"/>
                  </a:rPr>
                  <a:t>：输入</a:t>
                </a:r>
                <a:r>
                  <a:rPr lang="en-AU"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，当前栈顶为</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，则状态仍为</a:t>
                </a:r>
                <a14:m>
                  <m:oMath xmlns:m="http://schemas.openxmlformats.org/officeDocument/2006/math">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b="0" i="1" dirty="0" smtClean="0">
                            <a:latin typeface="Cambria Math" panose="02040503050406030204" pitchFamily="18" charset="0"/>
                          </a:rPr>
                          <m:t>1</m:t>
                        </m:r>
                      </m:sub>
                    </m:sSub>
                  </m:oMath>
                </a14:m>
                <a:r>
                  <a:rPr lang="zh-CN" altLang="en-US" sz="2400" dirty="0">
                    <a:latin typeface="Times New Roman" panose="02020603050405020304" pitchFamily="18" charset="0"/>
                    <a:cs typeface="Times New Roman" panose="02020603050405020304" pitchFamily="18" charset="0"/>
                  </a:rPr>
                  <a:t>，弹出一个</a:t>
                </a:r>
                <a:r>
                  <a:rPr lang="en-AU"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endParaRPr lang="en-AU" altLang="zh-CN" sz="2400" dirty="0">
                  <a:latin typeface="Times New Roman" panose="02020603050405020304" pitchFamily="18" charset="0"/>
                  <a:cs typeface="Times New Roman" panose="02020603050405020304" pitchFamily="18" charset="0"/>
                </a:endParaRPr>
              </a:p>
              <a:p>
                <a:pPr lvl="1"/>
                <a14:m>
                  <m:oMath xmlns:m="http://schemas.openxmlformats.org/officeDocument/2006/math">
                    <m:r>
                      <a:rPr lang="el-GR" sz="2400" i="1" dirty="0" smtClean="0">
                        <a:latin typeface="Cambria Math" panose="02040503050406030204" pitchFamily="18" charset="0"/>
                      </a:rPr>
                      <m:t>𝛿</m:t>
                    </m:r>
                    <m:d>
                      <m:dPr>
                        <m:ctrlPr>
                          <a:rPr lang="el-GR" sz="2400" i="1" dirty="0" smtClean="0">
                            <a:latin typeface="Cambria Math" panose="02040503050406030204" pitchFamily="18" charset="0"/>
                          </a:rPr>
                        </m:ctrlPr>
                      </m:dPr>
                      <m:e>
                        <m:sSub>
                          <m:sSubPr>
                            <m:ctrlPr>
                              <a:rPr lang="el-GR"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1</m:t>
                            </m:r>
                          </m:sub>
                        </m:sSub>
                        <m:r>
                          <a:rPr lang="en-AU" sz="2400" i="1" dirty="0" smtClean="0">
                            <a:latin typeface="Cambria Math" panose="02040503050406030204" pitchFamily="18" charset="0"/>
                          </a:rPr>
                          <m:t>,</m:t>
                        </m:r>
                        <m:r>
                          <a:rPr lang="el-GR" sz="2400" i="1" dirty="0">
                            <a:latin typeface="Cambria Math" panose="02040503050406030204" pitchFamily="18" charset="0"/>
                          </a:rPr>
                          <m:t>𝜀</m:t>
                        </m:r>
                        <m:r>
                          <a:rPr lang="en-AU" sz="2400" b="0" i="1" dirty="0" smtClean="0">
                            <a:latin typeface="Cambria Math" panose="02040503050406030204" pitchFamily="18" charset="0"/>
                          </a:rPr>
                          <m:t>,</m:t>
                        </m:r>
                        <m:sSub>
                          <m:sSubPr>
                            <m:ctrlPr>
                              <a:rPr lang="en-AU" altLang="zh-CN" sz="2400" i="1">
                                <a:latin typeface="Cambria Math" panose="02040503050406030204" pitchFamily="18" charset="0"/>
                              </a:rPr>
                            </m:ctrlPr>
                          </m:sSubPr>
                          <m:e>
                            <m:r>
                              <a:rPr lang="en-US" altLang="zh-CN" sz="2400" i="1">
                                <a:latin typeface="Cambria Math" panose="02040503050406030204" pitchFamily="18" charset="0"/>
                              </a:rPr>
                              <m:t>𝑍</m:t>
                            </m:r>
                          </m:e>
                          <m:sub>
                            <m:r>
                              <a:rPr lang="en-AU" altLang="zh-CN" sz="2400" i="1">
                                <a:latin typeface="Cambria Math" panose="02040503050406030204" pitchFamily="18" charset="0"/>
                              </a:rPr>
                              <m:t>0</m:t>
                            </m:r>
                          </m:sub>
                        </m:sSub>
                      </m:e>
                    </m:d>
                    <m:r>
                      <a:rPr lang="en-AU" sz="2400" b="0" i="1" dirty="0" smtClean="0">
                        <a:latin typeface="Cambria Math" panose="02040503050406030204" pitchFamily="18" charset="0"/>
                      </a:rPr>
                      <m:t>={(</m:t>
                    </m:r>
                    <m:sSub>
                      <m:sSubPr>
                        <m:ctrlPr>
                          <a:rPr lang="el-GR"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b="0" i="1" dirty="0" smtClean="0">
                            <a:latin typeface="Cambria Math" panose="02040503050406030204" pitchFamily="18" charset="0"/>
                          </a:rPr>
                          <m:t>2</m:t>
                        </m:r>
                      </m:sub>
                    </m:sSub>
                    <m:r>
                      <a:rPr lang="en-AU" sz="2400" b="0" i="1" dirty="0" smtClean="0">
                        <a:latin typeface="Cambria Math" panose="02040503050406030204" pitchFamily="18" charset="0"/>
                      </a:rPr>
                      <m:t>,</m:t>
                    </m:r>
                    <m:sSub>
                      <m:sSubPr>
                        <m:ctrlPr>
                          <a:rPr lang="en-AU" altLang="zh-CN" sz="2400" i="1">
                            <a:latin typeface="Cambria Math" panose="02040503050406030204" pitchFamily="18" charset="0"/>
                          </a:rPr>
                        </m:ctrlPr>
                      </m:sSubPr>
                      <m:e>
                        <m:r>
                          <a:rPr lang="en-US" altLang="zh-CN" sz="2400" i="1">
                            <a:latin typeface="Cambria Math" panose="02040503050406030204" pitchFamily="18" charset="0"/>
                          </a:rPr>
                          <m:t>𝑍</m:t>
                        </m:r>
                      </m:e>
                      <m:sub>
                        <m:r>
                          <a:rPr lang="en-AU" altLang="zh-CN" sz="2400" i="1">
                            <a:latin typeface="Cambria Math" panose="02040503050406030204" pitchFamily="18" charset="0"/>
                          </a:rPr>
                          <m:t>0</m:t>
                        </m:r>
                      </m:sub>
                    </m:sSub>
                    <m:r>
                      <a:rPr lang="en-AU" sz="2400" b="0" i="1" dirty="0" smtClean="0">
                        <a:latin typeface="Cambria Math" panose="02040503050406030204" pitchFamily="18" charset="0"/>
                      </a:rPr>
                      <m:t>)}</m:t>
                    </m:r>
                  </m:oMath>
                </a14:m>
                <a:r>
                  <a:rPr lang="zh-CN" altLang="en-US" sz="2400" dirty="0">
                    <a:latin typeface="Times New Roman" panose="02020603050405020304" pitchFamily="18" charset="0"/>
                    <a:cs typeface="Times New Roman" panose="02020603050405020304" pitchFamily="18" charset="0"/>
                  </a:rPr>
                  <a:t>：输入结束，栈中只剩下初始符号</a:t>
                </a:r>
                <a14:m>
                  <m:oMath xmlns:m="http://schemas.openxmlformats.org/officeDocument/2006/math">
                    <m:sSub>
                      <m:sSubPr>
                        <m:ctrlPr>
                          <a:rPr lang="en-AU" altLang="zh-CN" sz="2400" i="1">
                            <a:latin typeface="Cambria Math" panose="02040503050406030204" pitchFamily="18" charset="0"/>
                          </a:rPr>
                        </m:ctrlPr>
                      </m:sSubPr>
                      <m:e>
                        <m:r>
                          <a:rPr lang="en-US" altLang="zh-CN" sz="2400" i="1">
                            <a:latin typeface="Cambria Math" panose="02040503050406030204" pitchFamily="18" charset="0"/>
                          </a:rPr>
                          <m:t>𝑍</m:t>
                        </m:r>
                      </m:e>
                      <m:sub>
                        <m:r>
                          <a:rPr lang="en-AU" altLang="zh-CN" sz="2400" i="1">
                            <a:latin typeface="Cambria Math" panose="02040503050406030204" pitchFamily="18" charset="0"/>
                          </a:rPr>
                          <m:t>0</m:t>
                        </m:r>
                      </m:sub>
                    </m:sSub>
                  </m:oMath>
                </a14:m>
                <a:r>
                  <a:rPr lang="zh-CN" altLang="en-US" sz="2400" dirty="0">
                    <a:latin typeface="Times New Roman" panose="02020603050405020304" pitchFamily="18" charset="0"/>
                    <a:cs typeface="Times New Roman" panose="02020603050405020304" pitchFamily="18" charset="0"/>
                  </a:rPr>
                  <a:t>，进入接受状态。</a:t>
                </a:r>
                <a:endParaRPr lang="en-AU" altLang="zh-CN" sz="2400" dirty="0">
                  <a:latin typeface="Times New Roman" panose="02020603050405020304" pitchFamily="18" charset="0"/>
                  <a:cs typeface="Times New Roman" panose="02020603050405020304" pitchFamily="18" charset="0"/>
                </a:endParaRPr>
              </a:p>
              <a:p>
                <a:pPr lvl="1"/>
                <a:endParaRPr lang="en-AU"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386711"/>
                <a:ext cx="8229600" cy="4525963"/>
              </a:xfrm>
              <a:blipFill rotWithShape="1">
                <a:blip r:embed="rId3"/>
                <a:stretch>
                  <a:fillRect t="-11" b="-765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22</a:t>
            </a:fld>
            <a:endParaRPr lang="en-A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01</m:t>
                        </m:r>
                      </m:sub>
                    </m:sSub>
                    <m:r>
                      <a:rPr lang="en-AU" altLang="zh-CN" b="0" i="1" smtClean="0">
                        <a:latin typeface="Cambria Math" panose="02040503050406030204" pitchFamily="18" charset="0"/>
                      </a:rPr>
                      <m:t>={</m:t>
                    </m:r>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𝑛</m:t>
                        </m:r>
                      </m:sup>
                    </m:sSup>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1</m:t>
                        </m:r>
                      </m:e>
                      <m:sup>
                        <m:r>
                          <a:rPr lang="en-AU" altLang="zh-CN" b="0" i="1" smtClean="0">
                            <a:latin typeface="Cambria Math" panose="02040503050406030204" pitchFamily="18" charset="0"/>
                          </a:rPr>
                          <m:t>𝑛</m:t>
                        </m:r>
                      </m:sup>
                    </m:sSup>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ea typeface="Cambria Math" panose="02040503050406030204" pitchFamily="18" charset="0"/>
                      </a:rPr>
                      <m:t>≥1</m:t>
                    </m:r>
                    <m:r>
                      <a:rPr lang="en-AU" altLang="zh-CN" b="0" i="1" smtClean="0">
                        <a:latin typeface="Cambria Math" panose="02040503050406030204" pitchFamily="18" charset="0"/>
                      </a:rPr>
                      <m:t>}</m:t>
                    </m:r>
                  </m:oMath>
                </a14:m>
                <a:r>
                  <a:rPr lang="zh-CN" altLang="en-US" dirty="0"/>
                  <a:t>的</a:t>
                </a:r>
                <a:r>
                  <a:rPr lang="en-US" altLang="zh-CN" dirty="0">
                    <a:latin typeface="Times New Roman" panose="02020603050405020304" pitchFamily="18" charset="0"/>
                    <a:cs typeface="Times New Roman" panose="02020603050405020304" pitchFamily="18" charset="0"/>
                  </a:rPr>
                  <a:t>PDA</a:t>
                </a:r>
                <a:r>
                  <a:rPr lang="zh-CN" altLang="en-US" dirty="0"/>
                  <a:t>。</a:t>
                </a:r>
                <a:endParaRPr lang="en-AU" altLang="zh-CN" dirty="0"/>
              </a:p>
              <a:p>
                <a:endParaRPr lang="en-AU" altLang="zh-CN" dirty="0"/>
              </a:p>
              <a:p>
                <a:endParaRPr lang="en-AU" altLang="zh-CN" dirty="0"/>
              </a:p>
              <a:p>
                <a:endParaRPr lang="en-AU" altLang="zh-CN" dirty="0"/>
              </a:p>
              <a:p>
                <a:endParaRPr lang="en-AU" altLang="zh-CN" dirty="0"/>
              </a:p>
              <a:p>
                <a:endParaRPr lang="en-AU" altLang="zh-CN" dirty="0"/>
              </a:p>
              <a:p>
                <a:endParaRPr lang="en-AU" altLang="zh-CN"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23</a:t>
            </a:fld>
            <a:endParaRPr lang="en-AU"/>
          </a:p>
        </p:txBody>
      </p:sp>
      <p:pic>
        <p:nvPicPr>
          <p:cNvPr id="6" name="Picture 5"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06210" y="2568690"/>
            <a:ext cx="6131580" cy="18401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24</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800" dirty="0"/>
                  <a:t>例：设计识别</a:t>
                </a:r>
                <a14:m>
                  <m:oMath xmlns:m="http://schemas.openxmlformats.org/officeDocument/2006/math">
                    <m:r>
                      <a:rPr lang="en-AU" altLang="zh-CN" sz="2800" i="1" dirty="0" smtClean="0">
                        <a:latin typeface="Cambria Math" panose="02040503050406030204" pitchFamily="18" charset="0"/>
                      </a:rPr>
                      <m:t> </m:t>
                    </m:r>
                    <m:sSub>
                      <m:sSubPr>
                        <m:ctrlPr>
                          <a:rPr lang="en-AU" altLang="zh-CN" sz="2800" i="1" dirty="0" smtClean="0">
                            <a:latin typeface="Cambria Math" panose="02040503050406030204" pitchFamily="18" charset="0"/>
                          </a:rPr>
                        </m:ctrlPr>
                      </m:sSubPr>
                      <m:e>
                        <m:r>
                          <a:rPr lang="en-AU" altLang="zh-CN" sz="2800" b="0" i="1" dirty="0" smtClean="0">
                            <a:latin typeface="Cambria Math" panose="02040503050406030204" pitchFamily="18" charset="0"/>
                          </a:rPr>
                          <m:t>𝐿</m:t>
                        </m:r>
                      </m:e>
                      <m:sub>
                        <m:r>
                          <a:rPr lang="en-AU" altLang="zh-CN" sz="2800" b="0" i="1" dirty="0" smtClean="0">
                            <a:latin typeface="Cambria Math" panose="02040503050406030204" pitchFamily="18" charset="0"/>
                          </a:rPr>
                          <m:t>𝑤𝑤𝑟</m:t>
                        </m:r>
                      </m:sub>
                    </m:sSub>
                    <m:r>
                      <a:rPr lang="en-AU" altLang="zh-CN" sz="2800" i="1" dirty="0">
                        <a:latin typeface="Cambria Math" panose="02040503050406030204" pitchFamily="18" charset="0"/>
                      </a:rPr>
                      <m:t>= {</m:t>
                    </m:r>
                    <m:r>
                      <a:rPr lang="en-AU" altLang="zh-CN" sz="2800" i="1" dirty="0" err="1">
                        <a:latin typeface="Cambria Math" panose="02040503050406030204" pitchFamily="18" charset="0"/>
                      </a:rPr>
                      <m:t>𝑤</m:t>
                    </m:r>
                    <m:sSup>
                      <m:sSupPr>
                        <m:ctrlPr>
                          <a:rPr lang="en-AU" altLang="zh-CN" sz="2800" i="1" dirty="0" smtClean="0">
                            <a:latin typeface="Cambria Math" panose="02040503050406030204" pitchFamily="18" charset="0"/>
                          </a:rPr>
                        </m:ctrlPr>
                      </m:sSupPr>
                      <m:e>
                        <m:r>
                          <a:rPr lang="en-AU" altLang="zh-CN" sz="2800" b="0" i="1" dirty="0" smtClean="0">
                            <a:latin typeface="Cambria Math" panose="02040503050406030204" pitchFamily="18" charset="0"/>
                          </a:rPr>
                          <m:t>𝑤</m:t>
                        </m:r>
                      </m:e>
                      <m:sup>
                        <m:r>
                          <a:rPr lang="en-AU" altLang="zh-CN" sz="2800" b="0" i="1" dirty="0" smtClean="0">
                            <a:latin typeface="Cambria Math" panose="02040503050406030204" pitchFamily="18" charset="0"/>
                          </a:rPr>
                          <m:t>𝑅</m:t>
                        </m:r>
                      </m:sup>
                    </m:sSup>
                    <m:r>
                      <a:rPr lang="en-AU" altLang="zh-CN" sz="2800" i="1" dirty="0">
                        <a:latin typeface="Cambria Math" panose="02040503050406030204" pitchFamily="18" charset="0"/>
                      </a:rPr>
                      <m:t> | </m:t>
                    </m:r>
                    <m:r>
                      <a:rPr lang="en-AU" altLang="zh-CN" sz="2800" b="0" i="1" dirty="0" smtClean="0">
                        <a:latin typeface="Cambria Math" panose="02040503050406030204" pitchFamily="18" charset="0"/>
                      </a:rPr>
                      <m:t>𝑤</m:t>
                    </m:r>
                    <m:r>
                      <a:rPr lang="en-AU" altLang="zh-CN" sz="2800" i="1" dirty="0">
                        <a:latin typeface="Cambria Math" panose="02040503050406030204" pitchFamily="18" charset="0"/>
                      </a:rPr>
                      <m:t>∈</m:t>
                    </m:r>
                    <m:sSup>
                      <m:sSupPr>
                        <m:ctrlPr>
                          <a:rPr lang="en-AU" altLang="zh-CN" sz="2800" i="1" dirty="0" smtClean="0">
                            <a:latin typeface="Cambria Math" panose="02040503050406030204" pitchFamily="18" charset="0"/>
                          </a:rPr>
                        </m:ctrlPr>
                      </m:sSupPr>
                      <m:e>
                        <m:r>
                          <a:rPr lang="en-AU" altLang="zh-CN" sz="2800" b="0" i="1" dirty="0" smtClean="0">
                            <a:latin typeface="Cambria Math" panose="02040503050406030204" pitchFamily="18" charset="0"/>
                          </a:rPr>
                          <m:t>(0+1)</m:t>
                        </m:r>
                      </m:e>
                      <m:sup>
                        <m:r>
                          <a:rPr lang="en-AU" altLang="zh-CN" sz="2800" b="0" i="1" dirty="0" smtClean="0">
                            <a:latin typeface="Cambria Math" panose="02040503050406030204" pitchFamily="18" charset="0"/>
                          </a:rPr>
                          <m:t>∗</m:t>
                        </m:r>
                      </m:sup>
                    </m:sSup>
                    <m:r>
                      <a:rPr lang="en-AU" altLang="zh-CN" sz="2800" i="1" dirty="0">
                        <a:latin typeface="Cambria Math" panose="02040503050406030204" pitchFamily="18" charset="0"/>
                      </a:rPr>
                      <m:t> } </m:t>
                    </m:r>
                  </m:oMath>
                </a14:m>
                <a:r>
                  <a:rPr lang="zh-CN" altLang="en-US" sz="2800" dirty="0"/>
                  <a:t>的</a:t>
                </a:r>
                <a:r>
                  <a:rPr lang="en-AU" altLang="zh-CN" sz="2800" dirty="0">
                    <a:latin typeface="Times New Roman" panose="02020603050405020304" pitchFamily="18" charset="0"/>
                    <a:cs typeface="Times New Roman" panose="02020603050405020304" pitchFamily="18" charset="0"/>
                  </a:rPr>
                  <a:t>PDA</a:t>
                </a:r>
                <a:r>
                  <a:rPr lang="zh-CN" altLang="en-US" sz="2800" dirty="0"/>
                  <a:t>。</a:t>
                </a:r>
                <a:endParaRPr lang="en-AU" altLang="zh-CN" sz="2800" dirty="0"/>
              </a:p>
            </p:txBody>
          </p:sp>
        </mc:Choice>
        <mc:Fallback xmlns="">
          <p:sp>
            <p:nvSpPr>
              <p:cNvPr id="7" name="文本框 6"/>
              <p:cNvSpPr txBox="1">
                <a:spLocks noRot="1" noChangeAspect="1" noMove="1" noResize="1" noEditPoints="1" noAdjustHandles="1" noChangeArrowheads="1" noChangeShapeType="1" noTextEdit="1"/>
              </p:cNvSpPr>
              <p:nvPr>
                <p:custDataLst>
                  <p:tags r:id="rId11"/>
                </p:custDataLst>
              </p:nvPr>
            </p:nvSpPr>
            <p:spPr>
              <a:xfrm>
                <a:off x="914400" y="635000"/>
                <a:ext cx="7315200" cy="2143125"/>
              </a:xfrm>
              <a:prstGeom prst="rect">
                <a:avLst/>
              </a:prstGeom>
              <a:blipFill rotWithShape="1">
                <a:blip r:embed="rId12"/>
                <a:stretch>
                  <a:fillRect/>
                </a:stretch>
              </a:blipFill>
            </p:spPr>
            <p:txBody>
              <a:bodyPr/>
              <a:lstStyle/>
              <a:p>
                <a:r>
                  <a:rPr lang="zh-CN" altLang="en-US">
                    <a:noFill/>
                  </a:rPr>
                  <a:t> </a:t>
                </a:r>
              </a:p>
            </p:txBody>
          </p:sp>
        </mc:Fallback>
      </mc:AlternateContent>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0200" y="968437"/>
                <a:ext cx="8229600" cy="5105792"/>
              </a:xfrm>
            </p:spPr>
            <p:txBody>
              <a:bodyPr>
                <a:normAutofit/>
              </a:bodyPr>
              <a:lstStyle/>
              <a:p>
                <a:r>
                  <a:rPr lang="zh-CN" altLang="en-US" sz="2400" dirty="0"/>
                  <a:t>例：设计识别</a:t>
                </a:r>
                <a14:m>
                  <m:oMath xmlns:m="http://schemas.openxmlformats.org/officeDocument/2006/math">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𝐿</m:t>
                        </m:r>
                      </m:e>
                      <m:sub>
                        <m:r>
                          <a:rPr lang="en-AU" altLang="zh-CN" sz="2400" b="0" i="1" dirty="0" smtClean="0">
                            <a:latin typeface="Cambria Math" panose="02040503050406030204" pitchFamily="18" charset="0"/>
                          </a:rPr>
                          <m:t>𝑤𝑤𝑟</m:t>
                        </m:r>
                      </m:sub>
                    </m:sSub>
                    <m:r>
                      <a:rPr lang="en-AU" altLang="zh-CN" sz="2400" i="1" dirty="0">
                        <a:latin typeface="Cambria Math" panose="02040503050406030204" pitchFamily="18" charset="0"/>
                      </a:rPr>
                      <m:t>= {</m:t>
                    </m:r>
                    <m:r>
                      <a:rPr lang="en-AU" altLang="zh-CN" sz="2400" i="1" dirty="0" err="1">
                        <a:latin typeface="Cambria Math" panose="02040503050406030204" pitchFamily="18" charset="0"/>
                      </a:rPr>
                      <m:t>𝑤</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𝑤</m:t>
                        </m:r>
                      </m:e>
                      <m:sup>
                        <m:r>
                          <a:rPr lang="en-AU" altLang="zh-CN" sz="2400" b="0" i="1" dirty="0" smtClean="0">
                            <a:latin typeface="Cambria Math" panose="02040503050406030204" pitchFamily="18" charset="0"/>
                          </a:rPr>
                          <m:t>𝑅</m:t>
                        </m:r>
                      </m:sup>
                    </m:sSup>
                    <m:r>
                      <a:rPr lang="en-AU" altLang="zh-CN" sz="2400" i="1" dirty="0">
                        <a:latin typeface="Cambria Math" panose="02040503050406030204" pitchFamily="18" charset="0"/>
                      </a:rPr>
                      <m:t> | </m:t>
                    </m:r>
                    <m:r>
                      <a:rPr lang="en-AU" altLang="zh-CN" sz="2400" b="0" i="1" dirty="0" smtClean="0">
                        <a:latin typeface="Cambria Math" panose="02040503050406030204" pitchFamily="18" charset="0"/>
                      </a:rPr>
                      <m:t>𝑤</m:t>
                    </m:r>
                    <m:r>
                      <a:rPr lang="en-AU" altLang="zh-CN" sz="2400" i="1" dirty="0">
                        <a:latin typeface="Cambria Math" panose="02040503050406030204" pitchFamily="18" charset="0"/>
                      </a:rPr>
                      <m:t>∈</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(0+1)</m:t>
                        </m:r>
                      </m:e>
                      <m:sup>
                        <m:r>
                          <a:rPr lang="en-AU" altLang="zh-CN" sz="2400" b="0" i="1" dirty="0" smtClean="0">
                            <a:latin typeface="Cambria Math" panose="02040503050406030204" pitchFamily="18" charset="0"/>
                          </a:rPr>
                          <m:t>∗</m:t>
                        </m:r>
                      </m:sup>
                    </m:sSup>
                    <m:r>
                      <a:rPr lang="en-AU" altLang="zh-CN" sz="2400" i="1" dirty="0">
                        <a:latin typeface="Cambria Math" panose="02040503050406030204" pitchFamily="18" charset="0"/>
                      </a:rPr>
                      <m:t> } </m:t>
                    </m:r>
                  </m:oMath>
                </a14:m>
                <a:r>
                  <a:rPr lang="zh-CN" altLang="en-US" sz="2400" dirty="0"/>
                  <a:t>的</a:t>
                </a:r>
                <a:r>
                  <a:rPr lang="en-AU" altLang="zh-CN" sz="2400" dirty="0">
                    <a:latin typeface="Times New Roman" panose="02020603050405020304" pitchFamily="18" charset="0"/>
                    <a:cs typeface="Times New Roman" panose="02020603050405020304" pitchFamily="18" charset="0"/>
                  </a:rPr>
                  <a:t>PDA</a:t>
                </a:r>
                <a:r>
                  <a:rPr lang="zh-CN" altLang="en-US" sz="2400" dirty="0"/>
                  <a:t>。</a:t>
                </a:r>
                <a:endParaRPr lang="en-AU" altLang="zh-CN"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330200" y="968437"/>
                <a:ext cx="8229600" cy="5105792"/>
              </a:xfrm>
              <a:blipFill rotWithShape="1">
                <a:blip r:embed="rId3"/>
                <a:stretch>
                  <a:fillRect t="-1"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25</a:t>
            </a:fld>
            <a:endParaRPr lang="en-AU"/>
          </a:p>
        </p:txBody>
      </p:sp>
      <p:sp>
        <p:nvSpPr>
          <p:cNvPr id="5" name="TextBox 4"/>
          <p:cNvSpPr txBox="1"/>
          <p:nvPr/>
        </p:nvSpPr>
        <p:spPr>
          <a:xfrm>
            <a:off x="5282293" y="783771"/>
            <a:ext cx="45719" cy="369332"/>
          </a:xfrm>
          <a:prstGeom prst="rect">
            <a:avLst/>
          </a:prstGeom>
          <a:noFill/>
        </p:spPr>
        <p:txBody>
          <a:bodyPr wrap="square" rtlCol="0">
            <a:spAutoFit/>
          </a:bodyPr>
          <a:lstStyle/>
          <a:p>
            <a:endParaRPr lang="en-AU"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0200" y="968437"/>
                <a:ext cx="8229600" cy="5105792"/>
              </a:xfrm>
            </p:spPr>
            <p:txBody>
              <a:bodyPr>
                <a:normAutofit/>
              </a:bodyPr>
              <a:lstStyle/>
              <a:p>
                <a:r>
                  <a:rPr lang="zh-CN" altLang="en-US" sz="2400" dirty="0"/>
                  <a:t>例：设计识别</a:t>
                </a:r>
                <a14:m>
                  <m:oMath xmlns:m="http://schemas.openxmlformats.org/officeDocument/2006/math">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𝐿</m:t>
                        </m:r>
                      </m:e>
                      <m:sub>
                        <m:r>
                          <a:rPr lang="en-AU" altLang="zh-CN" sz="2400" b="0" i="1" dirty="0" smtClean="0">
                            <a:latin typeface="Cambria Math" panose="02040503050406030204" pitchFamily="18" charset="0"/>
                          </a:rPr>
                          <m:t>𝑤𝑤𝑟</m:t>
                        </m:r>
                      </m:sub>
                    </m:sSub>
                    <m:r>
                      <a:rPr lang="en-AU" altLang="zh-CN" sz="2400" i="1" dirty="0">
                        <a:latin typeface="Cambria Math" panose="02040503050406030204" pitchFamily="18" charset="0"/>
                      </a:rPr>
                      <m:t>= {</m:t>
                    </m:r>
                    <m:r>
                      <a:rPr lang="en-AU" altLang="zh-CN" sz="2400" i="1" dirty="0" err="1">
                        <a:latin typeface="Cambria Math" panose="02040503050406030204" pitchFamily="18" charset="0"/>
                      </a:rPr>
                      <m:t>𝑤</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𝑤</m:t>
                        </m:r>
                      </m:e>
                      <m:sup>
                        <m:r>
                          <a:rPr lang="en-AU" altLang="zh-CN" sz="2400" b="0" i="1" dirty="0" smtClean="0">
                            <a:latin typeface="Cambria Math" panose="02040503050406030204" pitchFamily="18" charset="0"/>
                          </a:rPr>
                          <m:t>𝑅</m:t>
                        </m:r>
                      </m:sup>
                    </m:sSup>
                    <m:r>
                      <a:rPr lang="en-AU" altLang="zh-CN" sz="2400" i="1" dirty="0">
                        <a:latin typeface="Cambria Math" panose="02040503050406030204" pitchFamily="18" charset="0"/>
                      </a:rPr>
                      <m:t> | </m:t>
                    </m:r>
                    <m:r>
                      <a:rPr lang="en-AU" altLang="zh-CN" sz="2400" b="0" i="1" dirty="0" smtClean="0">
                        <a:latin typeface="Cambria Math" panose="02040503050406030204" pitchFamily="18" charset="0"/>
                      </a:rPr>
                      <m:t>𝑤</m:t>
                    </m:r>
                    <m:r>
                      <a:rPr lang="en-AU" altLang="zh-CN" sz="2400" i="1" dirty="0">
                        <a:latin typeface="Cambria Math" panose="02040503050406030204" pitchFamily="18" charset="0"/>
                      </a:rPr>
                      <m:t>∈</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(0+1)</m:t>
                        </m:r>
                      </m:e>
                      <m:sup>
                        <m:r>
                          <a:rPr lang="en-AU" altLang="zh-CN" sz="2400" b="0" i="1" dirty="0" smtClean="0">
                            <a:latin typeface="Cambria Math" panose="02040503050406030204" pitchFamily="18" charset="0"/>
                          </a:rPr>
                          <m:t>∗</m:t>
                        </m:r>
                      </m:sup>
                    </m:sSup>
                    <m:r>
                      <a:rPr lang="en-AU" altLang="zh-CN" sz="2400" i="1" dirty="0">
                        <a:latin typeface="Cambria Math" panose="02040503050406030204" pitchFamily="18" charset="0"/>
                      </a:rPr>
                      <m:t> } </m:t>
                    </m:r>
                  </m:oMath>
                </a14:m>
                <a:r>
                  <a:rPr lang="zh-CN" altLang="en-US" sz="2400" dirty="0"/>
                  <a:t>的</a:t>
                </a:r>
                <a:r>
                  <a:rPr lang="en-AU" altLang="zh-CN" sz="2400" dirty="0">
                    <a:latin typeface="Times New Roman" panose="02020603050405020304" pitchFamily="18" charset="0"/>
                    <a:cs typeface="Times New Roman" panose="02020603050405020304" pitchFamily="18" charset="0"/>
                  </a:rPr>
                  <a:t>PDA</a:t>
                </a:r>
                <a:r>
                  <a:rPr lang="zh-CN" altLang="en-US" sz="2400" dirty="0"/>
                  <a:t>。</a:t>
                </a:r>
                <a:endParaRPr lang="en-AU" altLang="zh-CN" sz="2400" dirty="0"/>
              </a:p>
              <a:p>
                <a:r>
                  <a:rPr lang="zh-CN" altLang="en-US" sz="2400" dirty="0"/>
                  <a:t>思路：</a:t>
                </a:r>
                <a:endParaRPr lang="en-AU" altLang="zh-CN" sz="2400" dirty="0"/>
              </a:p>
              <a:p>
                <a:pPr lvl="1"/>
                <a:r>
                  <a:rPr lang="zh-CN" altLang="en-US" sz="2400" dirty="0"/>
                  <a:t>从一个开始状态</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𝑞</m:t>
                        </m:r>
                      </m:e>
                      <m:sub>
                        <m:r>
                          <a:rPr lang="en-AU" altLang="zh-CN" sz="2400" b="0" i="1" smtClean="0">
                            <a:latin typeface="Cambria Math" panose="02040503050406030204" pitchFamily="18" charset="0"/>
                          </a:rPr>
                          <m:t>0</m:t>
                        </m:r>
                      </m:sub>
                    </m:sSub>
                  </m:oMath>
                </a14:m>
                <a:r>
                  <a:rPr lang="zh-CN" altLang="en-US" sz="2400" dirty="0"/>
                  <a:t>开始，把输入带上的每一个符号进行压栈；</a:t>
                </a:r>
                <a:endParaRPr lang="en-AU" altLang="zh-CN" sz="2400" dirty="0"/>
              </a:p>
              <a:p>
                <a:pPr lvl="1"/>
                <a:r>
                  <a:rPr lang="zh-CN" altLang="en-US" sz="2400" dirty="0"/>
                  <a:t>然后，利用非确定性和空转移，一方面保持在</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𝑞</m:t>
                        </m:r>
                      </m:e>
                      <m:sub>
                        <m:r>
                          <a:rPr lang="en-AU" altLang="zh-CN" sz="2400" b="0" i="1" smtClean="0">
                            <a:latin typeface="Cambria Math" panose="02040503050406030204" pitchFamily="18" charset="0"/>
                          </a:rPr>
                          <m:t>0</m:t>
                        </m:r>
                      </m:sub>
                    </m:sSub>
                  </m:oMath>
                </a14:m>
                <a:r>
                  <a:rPr lang="zh-CN" altLang="en-US" sz="2400" dirty="0"/>
                  <a:t>状态以对后续的每一个符号压栈；</a:t>
                </a:r>
                <a:endParaRPr lang="en-US" altLang="zh-CN" sz="2400" dirty="0"/>
              </a:p>
              <a:p>
                <a:pPr lvl="1"/>
                <a:r>
                  <a:rPr lang="zh-CN" altLang="en-US" sz="2400" dirty="0"/>
                  <a:t>同时，在任一时刻，假设已经输入</a:t>
                </a:r>
                <a14:m>
                  <m:oMath xmlns:m="http://schemas.openxmlformats.org/officeDocument/2006/math">
                    <m:r>
                      <a:rPr lang="en-AU" altLang="zh-CN" sz="2400" i="1">
                        <a:latin typeface="Cambria Math" panose="02040503050406030204" pitchFamily="18" charset="0"/>
                      </a:rPr>
                      <m:t>𝑤</m:t>
                    </m:r>
                    <m:r>
                      <a:rPr lang="en-AU" altLang="zh-CN" sz="2400" i="1">
                        <a:latin typeface="Cambria Math" panose="02040503050406030204" pitchFamily="18" charset="0"/>
                      </a:rPr>
                      <m:t> </m:t>
                    </m:r>
                  </m:oMath>
                </a14:m>
                <a:r>
                  <a:rPr lang="zh-CN" altLang="en-US" sz="2400" dirty="0"/>
                  <a:t>，即</a:t>
                </a:r>
                <a14:m>
                  <m:oMath xmlns:m="http://schemas.openxmlformats.org/officeDocument/2006/math">
                    <m:r>
                      <a:rPr lang="en-AU" altLang="zh-CN" sz="2400" i="1">
                        <a:latin typeface="Cambria Math" panose="02040503050406030204" pitchFamily="18" charset="0"/>
                      </a:rPr>
                      <m:t>𝑤</m:t>
                    </m:r>
                  </m:oMath>
                </a14:m>
                <a:r>
                  <a:rPr lang="zh-CN" altLang="en-US" sz="2400" dirty="0"/>
                  <a:t>已经在栈中（最后面的符号在栈顶），转移到另外一个状态</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𝑞</m:t>
                        </m:r>
                      </m:e>
                      <m:sub>
                        <m:r>
                          <a:rPr lang="en-AU" altLang="zh-CN" sz="2400" b="0" i="1" smtClean="0">
                            <a:latin typeface="Cambria Math" panose="02040503050406030204" pitchFamily="18" charset="0"/>
                          </a:rPr>
                          <m:t>1</m:t>
                        </m:r>
                      </m:sub>
                    </m:sSub>
                  </m:oMath>
                </a14:m>
                <a:r>
                  <a:rPr lang="zh-CN" altLang="en-US" sz="2400" dirty="0"/>
                  <a:t>，在这个状态对后面的符号串进行检查。</a:t>
                </a:r>
                <a:endParaRPr lang="en-US" altLang="zh-CN" sz="2400" dirty="0"/>
              </a:p>
              <a:p>
                <a:pPr lvl="1"/>
                <a:r>
                  <a:rPr lang="zh-CN" altLang="en-US" sz="2400" dirty="0"/>
                  <a:t>当且仅当后面的符号串为</a:t>
                </a:r>
                <a14:m>
                  <m:oMath xmlns:m="http://schemas.openxmlformats.org/officeDocument/2006/math">
                    <m:sSup>
                      <m:sSupPr>
                        <m:ctrlPr>
                          <a:rPr lang="en-AU" altLang="zh-CN" sz="2400" i="1" dirty="0">
                            <a:latin typeface="Cambria Math" panose="02040503050406030204" pitchFamily="18" charset="0"/>
                          </a:rPr>
                        </m:ctrlPr>
                      </m:sSupPr>
                      <m:e>
                        <m:r>
                          <a:rPr lang="en-AU" altLang="zh-CN" sz="2400" i="1" dirty="0">
                            <a:latin typeface="Cambria Math" panose="02040503050406030204" pitchFamily="18" charset="0"/>
                          </a:rPr>
                          <m:t>𝑤</m:t>
                        </m:r>
                      </m:e>
                      <m:sup>
                        <m:r>
                          <a:rPr lang="en-AU" altLang="zh-CN" sz="2400" i="1" dirty="0">
                            <a:latin typeface="Cambria Math" panose="02040503050406030204" pitchFamily="18" charset="0"/>
                          </a:rPr>
                          <m:t>𝑅</m:t>
                        </m:r>
                      </m:sup>
                    </m:sSup>
                    <m:r>
                      <a:rPr lang="en-AU" altLang="zh-CN" sz="2400" b="0" i="1" dirty="0" smtClean="0">
                        <a:latin typeface="Cambria Math" panose="02040503050406030204" pitchFamily="18" charset="0"/>
                      </a:rPr>
                      <m:t>, </m:t>
                    </m:r>
                    <m:r>
                      <a:rPr lang="en-AU" altLang="zh-CN" sz="2400" i="1">
                        <a:latin typeface="Cambria Math" panose="02040503050406030204" pitchFamily="18" charset="0"/>
                      </a:rPr>
                      <m:t>𝑤</m:t>
                    </m:r>
                  </m:oMath>
                </a14:m>
                <a:r>
                  <a:rPr lang="zh-CN" altLang="en-US" sz="2400" dirty="0"/>
                  <a:t>从栈中完全弹出，栈中才会露出符号</a:t>
                </a:r>
                <a14:m>
                  <m:oMath xmlns:m="http://schemas.openxmlformats.org/officeDocument/2006/math">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oMath>
                </a14:m>
                <a:r>
                  <a:rPr lang="zh-CN" altLang="en-US" sz="2400" dirty="0"/>
                  <a:t>，此时进入接受状态。</a:t>
                </a:r>
                <a:endParaRPr lang="en-US" altLang="zh-CN"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330200" y="968437"/>
                <a:ext cx="8229600" cy="5105792"/>
              </a:xfrm>
              <a:blipFill rotWithShape="1">
                <a:blip r:embed="rId3"/>
                <a:stretch>
                  <a:fillRect t="-1"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26</a:t>
            </a:fld>
            <a:endParaRPr lang="en-AU"/>
          </a:p>
        </p:txBody>
      </p:sp>
      <p:sp>
        <p:nvSpPr>
          <p:cNvPr id="5" name="TextBox 4"/>
          <p:cNvSpPr txBox="1"/>
          <p:nvPr/>
        </p:nvSpPr>
        <p:spPr>
          <a:xfrm>
            <a:off x="5282293" y="783771"/>
            <a:ext cx="45719" cy="369332"/>
          </a:xfrm>
          <a:prstGeom prst="rect">
            <a:avLst/>
          </a:prstGeom>
          <a:noFill/>
        </p:spPr>
        <p:txBody>
          <a:bodyPr wrap="square" rtlCol="0">
            <a:spAutoFit/>
          </a:bodyPr>
          <a:lstStyle/>
          <a:p>
            <a:endParaRPr lang="en-A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68437"/>
                <a:ext cx="8229600" cy="4525963"/>
              </a:xfrm>
            </p:spPr>
            <p:txBody>
              <a:bodyPr>
                <a:normAutofit/>
              </a:bodyPr>
              <a:lstStyle/>
              <a:p>
                <a:r>
                  <a:rPr lang="zh-CN" altLang="en-US" dirty="0"/>
                  <a:t>例：设计识别</a:t>
                </a:r>
                <a14:m>
                  <m:oMath xmlns:m="http://schemas.openxmlformats.org/officeDocument/2006/math">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𝐿</m:t>
                        </m:r>
                      </m:e>
                      <m:sub>
                        <m:r>
                          <a:rPr lang="en-AU" altLang="zh-CN" i="1" dirty="0">
                            <a:latin typeface="Cambria Math" panose="02040503050406030204" pitchFamily="18" charset="0"/>
                          </a:rPr>
                          <m:t>𝑤𝑤𝑟</m:t>
                        </m:r>
                      </m:sub>
                    </m:sSub>
                    <m:r>
                      <a:rPr lang="en-AU" altLang="zh-CN" i="1" dirty="0">
                        <a:latin typeface="Cambria Math" panose="02040503050406030204" pitchFamily="18" charset="0"/>
                      </a:rPr>
                      <m:t>= {</m:t>
                    </m:r>
                    <m:r>
                      <a:rPr lang="en-AU" altLang="zh-CN" i="1" dirty="0" err="1">
                        <a:latin typeface="Cambria Math" panose="02040503050406030204" pitchFamily="18" charset="0"/>
                      </a:rPr>
                      <m:t>𝑤</m:t>
                    </m:r>
                    <m:sSup>
                      <m:sSupPr>
                        <m:ctrlPr>
                          <a:rPr lang="en-AU" altLang="zh-CN" i="1" dirty="0">
                            <a:latin typeface="Cambria Math" panose="02040503050406030204" pitchFamily="18" charset="0"/>
                          </a:rPr>
                        </m:ctrlPr>
                      </m:sSupPr>
                      <m:e>
                        <m:r>
                          <a:rPr lang="en-AU" altLang="zh-CN" i="1" dirty="0">
                            <a:latin typeface="Cambria Math" panose="02040503050406030204" pitchFamily="18" charset="0"/>
                          </a:rPr>
                          <m:t>𝑤</m:t>
                        </m:r>
                      </m:e>
                      <m:sup>
                        <m:r>
                          <a:rPr lang="en-AU" altLang="zh-CN" i="1" dirty="0">
                            <a:latin typeface="Cambria Math" panose="02040503050406030204" pitchFamily="18" charset="0"/>
                          </a:rPr>
                          <m:t>𝑅</m:t>
                        </m:r>
                      </m:sup>
                    </m:sSup>
                    <m:r>
                      <a:rPr lang="en-AU" altLang="zh-CN" i="1" dirty="0">
                        <a:latin typeface="Cambria Math" panose="02040503050406030204" pitchFamily="18" charset="0"/>
                      </a:rPr>
                      <m:t> | </m:t>
                    </m:r>
                    <m:r>
                      <a:rPr lang="en-AU" altLang="zh-CN" i="1" dirty="0">
                        <a:latin typeface="Cambria Math" panose="02040503050406030204" pitchFamily="18" charset="0"/>
                      </a:rPr>
                      <m:t>𝑤</m:t>
                    </m:r>
                    <m:r>
                      <a:rPr lang="en-AU" altLang="zh-CN" i="1" dirty="0">
                        <a:latin typeface="Cambria Math" panose="02040503050406030204" pitchFamily="18" charset="0"/>
                      </a:rPr>
                      <m:t>∈</m:t>
                    </m:r>
                    <m:sSup>
                      <m:sSupPr>
                        <m:ctrlPr>
                          <a:rPr lang="en-AU" altLang="zh-CN" i="1" dirty="0">
                            <a:latin typeface="Cambria Math" panose="02040503050406030204" pitchFamily="18" charset="0"/>
                          </a:rPr>
                        </m:ctrlPr>
                      </m:sSupPr>
                      <m:e>
                        <m:r>
                          <a:rPr lang="en-AU" altLang="zh-CN" i="1" dirty="0">
                            <a:latin typeface="Cambria Math" panose="02040503050406030204" pitchFamily="18" charset="0"/>
                          </a:rPr>
                          <m:t>(0+1)</m:t>
                        </m:r>
                      </m:e>
                      <m:sup>
                        <m:r>
                          <a:rPr lang="en-AU" altLang="zh-CN" i="1" dirty="0">
                            <a:latin typeface="Cambria Math" panose="02040503050406030204" pitchFamily="18" charset="0"/>
                          </a:rPr>
                          <m:t>∗</m:t>
                        </m:r>
                      </m:sup>
                    </m:sSup>
                    <m:r>
                      <a:rPr lang="en-AU" altLang="zh-CN" i="1" dirty="0">
                        <a:latin typeface="Cambria Math" panose="02040503050406030204" pitchFamily="18" charset="0"/>
                      </a:rPr>
                      <m:t> } </m:t>
                    </m:r>
                  </m:oMath>
                </a14:m>
                <a:r>
                  <a:rPr lang="zh-CN" altLang="en-US" dirty="0"/>
                  <a:t>的</a:t>
                </a:r>
                <a:r>
                  <a:rPr lang="en-AU" altLang="zh-CN" dirty="0">
                    <a:latin typeface="Times New Roman" panose="02020603050405020304" pitchFamily="18" charset="0"/>
                    <a:cs typeface="Times New Roman" panose="02020603050405020304" pitchFamily="18" charset="0"/>
                  </a:rPr>
                  <a:t>PDA</a:t>
                </a:r>
                <a:r>
                  <a:rPr lang="zh-CN" altLang="en-US" dirty="0"/>
                  <a:t>。</a:t>
                </a:r>
                <a:endParaRPr lang="en-AU" altLang="zh-CN" dirty="0"/>
              </a:p>
              <a:p>
                <a:pPr marL="0" indent="0">
                  <a:buNone/>
                </a:pPr>
                <a:endParaRPr lang="en-AU" altLang="zh-CN" sz="2400" dirty="0"/>
              </a:p>
              <a:p>
                <a:pPr marL="0" indent="0">
                  <a:buNone/>
                </a:pPr>
                <a:endParaRPr lang="zh-CN" altLang="en-US" sz="2400" dirty="0"/>
              </a:p>
              <a:p>
                <a:pPr marL="0" indent="0">
                  <a:buNone/>
                </a:pPr>
                <a:endParaRPr lang="en-AU" altLang="zh-CN" sz="2400" dirty="0"/>
              </a:p>
              <a:p>
                <a:pPr marL="0" indent="0">
                  <a:buNone/>
                </a:pPr>
                <a:endParaRPr lang="zh-CN" altLang="en-US" sz="2400" dirty="0"/>
              </a:p>
              <a:p>
                <a:pPr marL="0" indent="0">
                  <a:buNone/>
                </a:pPr>
                <a:endParaRPr lang="en-US" altLang="zh-CN"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968437"/>
                <a:ext cx="8229600" cy="4525963"/>
              </a:xfrm>
              <a:blipFill rotWithShape="1">
                <a:blip r:embed="rId3"/>
                <a:stretch>
                  <a:fillRect t="-1"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27</a:t>
            </a:fld>
            <a:endParaRPr lang="en-AU"/>
          </a:p>
        </p:txBody>
      </p:sp>
      <p:sp>
        <p:nvSpPr>
          <p:cNvPr id="5" name="TextBox 4"/>
          <p:cNvSpPr txBox="1"/>
          <p:nvPr/>
        </p:nvSpPr>
        <p:spPr>
          <a:xfrm>
            <a:off x="5282293" y="783771"/>
            <a:ext cx="45719" cy="369332"/>
          </a:xfrm>
          <a:prstGeom prst="rect">
            <a:avLst/>
          </a:prstGeom>
          <a:noFill/>
        </p:spPr>
        <p:txBody>
          <a:bodyPr wrap="square" rtlCol="0">
            <a:spAutoFit/>
          </a:bodyPr>
          <a:lstStyle/>
          <a:p>
            <a:endParaRPr lang="en-AU" dirty="0"/>
          </a:p>
        </p:txBody>
      </p:sp>
      <mc:AlternateContent xmlns:mc="http://schemas.openxmlformats.org/markup-compatibility/2006" xmlns:a14="http://schemas.microsoft.com/office/drawing/2010/main">
        <mc:Choice Requires="a14">
          <p:sp>
            <p:nvSpPr>
              <p:cNvPr id="6" name="TextBox 5"/>
              <p:cNvSpPr txBox="1"/>
              <p:nvPr/>
            </p:nvSpPr>
            <p:spPr>
              <a:xfrm>
                <a:off x="938893" y="2015053"/>
                <a:ext cx="7723414" cy="4394473"/>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初始状态</a:t>
                </a:r>
                <a14:m>
                  <m:oMath xmlns:m="http://schemas.openxmlformats.org/officeDocument/2006/math">
                    <m:r>
                      <a:rPr lang="en-US" altLang="zh-CN" sz="2000" i="1" dirty="0" smtClean="0">
                        <a:latin typeface="Cambria Math" panose="02040503050406030204" pitchFamily="18" charset="0"/>
                      </a:rPr>
                      <m:t>(</m:t>
                    </m:r>
                    <m:sSub>
                      <m:sSubPr>
                        <m:ctrlPr>
                          <a:rPr lang="en-US" altLang="zh-CN" sz="2000" i="1" dirty="0" smtClean="0">
                            <a:latin typeface="Cambria Math" panose="02040503050406030204" pitchFamily="18" charset="0"/>
                          </a:rPr>
                        </m:ctrlPr>
                      </m:sSubPr>
                      <m:e>
                        <m:r>
                          <a:rPr lang="en-AU" altLang="zh-CN" sz="2000" b="0" i="1" dirty="0" smtClean="0">
                            <a:latin typeface="Cambria Math" panose="02040503050406030204" pitchFamily="18" charset="0"/>
                          </a:rPr>
                          <m:t>𝑞</m:t>
                        </m:r>
                      </m:e>
                      <m:sub>
                        <m:r>
                          <a:rPr lang="en-AU" altLang="zh-CN" sz="2000" b="0" i="1" dirty="0" smtClean="0">
                            <a:latin typeface="Cambria Math" panose="02040503050406030204" pitchFamily="18" charset="0"/>
                          </a:rPr>
                          <m:t>0</m:t>
                        </m:r>
                      </m:sub>
                    </m:sSub>
                    <m:r>
                      <a:rPr lang="en-US"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b="0" i="1" dirty="0" smtClean="0">
                            <a:latin typeface="Cambria Math" panose="02040503050406030204" pitchFamily="18" charset="0"/>
                          </a:rPr>
                          <m:t>𝑍</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m:t>
                    </m:r>
                  </m:oMath>
                </a14:m>
                <a:r>
                  <a:rPr lang="zh-CN" altLang="en-US" sz="2000" dirty="0">
                    <a:latin typeface="楷体" panose="02010609060101010101" pitchFamily="49" charset="-122"/>
                    <a:ea typeface="楷体" panose="02010609060101010101" pitchFamily="49" charset="-122"/>
                  </a:rPr>
                  <a:t>输入</a:t>
                </a:r>
                <a:r>
                  <a:rPr lang="en-US" altLang="zh-CN" sz="2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或</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，状态不变，则直接压栈：</a:t>
                </a:r>
                <a:endParaRPr lang="en-AU" altLang="zh-CN" sz="2000" dirty="0">
                  <a:latin typeface="楷体" panose="02010609060101010101" pitchFamily="49" charset="-122"/>
                  <a:ea typeface="楷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r>
                        <a:rPr lang="zh-CN" altLang="pl-PL" sz="2000" i="1" dirty="0" smtClean="0">
                          <a:latin typeface="Cambria Math" panose="02040503050406030204" pitchFamily="18" charset="0"/>
                        </a:rPr>
                        <m:t>𝛿</m:t>
                      </m:r>
                      <m:r>
                        <a:rPr lang="pl-PL"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altLang="zh-CN" sz="2000" b="0" i="1" dirty="0" smtClean="0">
                          <a:latin typeface="Cambria Math" panose="02040503050406030204" pitchFamily="18" charset="0"/>
                        </a:rPr>
                        <m:t>,</m:t>
                      </m:r>
                      <m:r>
                        <a:rPr lang="pl-PL" altLang="zh-CN" sz="2000" i="1" dirty="0" smtClean="0">
                          <a:latin typeface="Cambria Math" panose="02040503050406030204" pitchFamily="18" charset="0"/>
                        </a:rPr>
                        <m:t>0,</m:t>
                      </m:r>
                      <m:sSub>
                        <m:sSubPr>
                          <m:ctrlPr>
                            <a:rPr lang="en-US" altLang="zh-CN" sz="2000" i="1" dirty="0">
                              <a:latin typeface="Cambria Math" panose="02040503050406030204" pitchFamily="18" charset="0"/>
                            </a:rPr>
                          </m:ctrlPr>
                        </m:sSubPr>
                        <m:e>
                          <m:r>
                            <a:rPr lang="en-AU" altLang="zh-CN" sz="2000" b="0" i="1" dirty="0" smtClean="0">
                              <a:latin typeface="Cambria Math" panose="02040503050406030204" pitchFamily="18" charset="0"/>
                            </a:rPr>
                            <m:t>𝑍</m:t>
                          </m:r>
                        </m:e>
                        <m:sub>
                          <m:r>
                            <a:rPr lang="en-AU" altLang="zh-CN" sz="2000" i="1" dirty="0">
                              <a:latin typeface="Cambria Math" panose="02040503050406030204" pitchFamily="18" charset="0"/>
                            </a:rPr>
                            <m:t>0</m:t>
                          </m:r>
                        </m:sub>
                      </m:sSub>
                      <m:r>
                        <a:rPr lang="pl-PL" altLang="zh-CN" sz="2000" i="1" dirty="0" smtClean="0">
                          <a:latin typeface="Cambria Math" panose="02040503050406030204" pitchFamily="18" charset="0"/>
                        </a:rPr>
                        <m:t>)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pl-PL" altLang="zh-CN" sz="2000" i="1" dirty="0" smtClean="0">
                          <a:latin typeface="Cambria Math" panose="02040503050406030204" pitchFamily="18" charset="0"/>
                        </a:rPr>
                        <m:t>, 0</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pl-PL" altLang="zh-CN" sz="2000" i="1" dirty="0" smtClean="0">
                          <a:latin typeface="Cambria Math" panose="02040503050406030204" pitchFamily="18" charset="0"/>
                        </a:rPr>
                        <m:t>)},</m:t>
                      </m:r>
                      <m:r>
                        <a:rPr lang="zh-CN" altLang="pl-PL" sz="2000" i="1" dirty="0">
                          <a:latin typeface="Cambria Math" panose="02040503050406030204" pitchFamily="18" charset="0"/>
                        </a:rPr>
                        <m:t>𝛿</m:t>
                      </m:r>
                      <m:r>
                        <a:rPr lang="pl-PL"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altLang="zh-CN" sz="2000" b="0" i="1" dirty="0" smtClean="0">
                          <a:latin typeface="Cambria Math" panose="02040503050406030204" pitchFamily="18" charset="0"/>
                        </a:rPr>
                        <m:t>,</m:t>
                      </m:r>
                      <m:r>
                        <a:rPr lang="pl-PL" altLang="zh-CN" sz="2000" i="1" dirty="0" smtClean="0">
                          <a:latin typeface="Cambria Math" panose="02040503050406030204" pitchFamily="18" charset="0"/>
                        </a:rPr>
                        <m:t>1,</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pl-PL" altLang="zh-CN" sz="2000" i="1" dirty="0" smtClean="0">
                          <a:latin typeface="Cambria Math" panose="02040503050406030204" pitchFamily="18" charset="0"/>
                        </a:rPr>
                        <m:t>)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pl-PL" altLang="zh-CN" sz="2000" i="1" dirty="0" smtClean="0">
                          <a:latin typeface="Cambria Math" panose="02040503050406030204" pitchFamily="18" charset="0"/>
                        </a:rPr>
                        <m:t>, 1</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pl-PL" altLang="zh-CN" sz="2000" i="1" dirty="0" smtClean="0">
                          <a:latin typeface="Cambria Math" panose="02040503050406030204" pitchFamily="18" charset="0"/>
                        </a:rPr>
                        <m:t>)}</m:t>
                      </m:r>
                    </m:oMath>
                  </m:oMathPara>
                </a14:m>
                <a:endParaRPr lang="pl-PL" altLang="zh-CN" sz="20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继续输入，则对不同的栈顶，仍然压栈：</a:t>
                </a:r>
              </a:p>
              <a:p>
                <a:pPr marL="0" indent="0">
                  <a:buNone/>
                </a:pPr>
                <a14:m>
                  <m:oMathPara xmlns:m="http://schemas.openxmlformats.org/officeDocument/2006/math">
                    <m:oMathParaPr>
                      <m:jc m:val="centerGroup"/>
                    </m:oMathParaPr>
                    <m:oMath xmlns:m="http://schemas.openxmlformats.org/officeDocument/2006/math">
                      <m:r>
                        <a:rPr lang="zh-CN" altLang="pl-PL" sz="2000" i="1" dirty="0">
                          <a:latin typeface="Cambria Math" panose="02040503050406030204" pitchFamily="18" charset="0"/>
                        </a:rPr>
                        <m:t>𝛿</m:t>
                      </m:r>
                      <m:r>
                        <a:rPr lang="en-US"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0, 0)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00)},</m:t>
                      </m:r>
                      <m:r>
                        <a:rPr lang="zh-CN" altLang="pl-PL" sz="2000" i="1" dirty="0">
                          <a:latin typeface="Cambria Math" panose="02040503050406030204" pitchFamily="18" charset="0"/>
                        </a:rPr>
                        <m:t>𝛿</m:t>
                      </m:r>
                      <m:r>
                        <a:rPr lang="en-US"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1, 0)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10)}</m:t>
                      </m:r>
                    </m:oMath>
                  </m:oMathPara>
                </a14:m>
                <a:endParaRPr lang="en-US" altLang="zh-CN" sz="2000" dirty="0">
                  <a:latin typeface="楷体" panose="02010609060101010101" pitchFamily="49" charset="-122"/>
                  <a:ea typeface="楷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r>
                        <a:rPr lang="zh-CN" altLang="pl-PL" sz="2000" i="1" dirty="0">
                          <a:latin typeface="Cambria Math" panose="02040503050406030204" pitchFamily="18" charset="0"/>
                        </a:rPr>
                        <m:t>𝛿</m:t>
                      </m:r>
                      <m:r>
                        <a:rPr lang="en-US"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0, 1)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01)},</m:t>
                      </m:r>
                      <m:r>
                        <a:rPr lang="zh-CN" altLang="pl-PL" sz="2000" i="1" dirty="0">
                          <a:latin typeface="Cambria Math" panose="02040503050406030204" pitchFamily="18" charset="0"/>
                        </a:rPr>
                        <m:t>𝛿</m:t>
                      </m:r>
                      <m:r>
                        <a:rPr lang="en-US"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 1, 1)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US" altLang="zh-CN" sz="2000" i="1" dirty="0" smtClean="0">
                          <a:latin typeface="Cambria Math" panose="02040503050406030204" pitchFamily="18" charset="0"/>
                        </a:rPr>
                        <m:t>11)}</m:t>
                      </m:r>
                    </m:oMath>
                  </m:oMathPara>
                </a14:m>
                <a:endParaRPr lang="en-US" altLang="zh-CN" sz="20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不论栈顶是</a:t>
                </a:r>
                <a14:m>
                  <m:oMath xmlns:m="http://schemas.openxmlformats.org/officeDocument/2006/math">
                    <m:sSub>
                      <m:sSubPr>
                        <m:ctrlPr>
                          <a:rPr lang="en-US" altLang="zh-CN" sz="2000" i="1" dirty="0" smtClean="0">
                            <a:latin typeface="Cambria Math" panose="02040503050406030204" pitchFamily="18" charset="0"/>
                          </a:rPr>
                        </m:ctrlPr>
                      </m:sSubPr>
                      <m:e>
                        <m:r>
                          <a:rPr lang="en-AU" altLang="zh-CN" sz="2000" b="0" i="1" dirty="0" smtClean="0">
                            <a:latin typeface="Cambria Math" panose="02040503050406030204" pitchFamily="18" charset="0"/>
                          </a:rPr>
                          <m:t>𝑍</m:t>
                        </m:r>
                      </m:e>
                      <m:sub>
                        <m:r>
                          <a:rPr lang="en-AU" altLang="zh-CN" sz="2000" i="1" dirty="0">
                            <a:latin typeface="Cambria Math" panose="02040503050406030204" pitchFamily="18" charset="0"/>
                          </a:rPr>
                          <m:t>0</m:t>
                        </m:r>
                      </m:sub>
                    </m:sSub>
                    <m:r>
                      <a:rPr lang="en-AU" altLang="zh-CN" sz="2000" i="1" dirty="0">
                        <a:latin typeface="Cambria Math" panose="02040503050406030204" pitchFamily="18" charset="0"/>
                      </a:rPr>
                      <m:t> </m:t>
                    </m:r>
                  </m:oMath>
                </a14:m>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或</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，开始匹配后半部分，非确定地转移到弹栈状态：</a:t>
                </a:r>
                <a:endParaRPr lang="en-AU" altLang="zh-CN" sz="2000" dirty="0">
                  <a:latin typeface="楷体" panose="02010609060101010101" pitchFamily="49" charset="-122"/>
                  <a:ea typeface="楷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r>
                        <a:rPr lang="zh-CN" altLang="pl-PL" sz="2000" i="1" dirty="0">
                          <a:latin typeface="Cambria Math" panose="02040503050406030204" pitchFamily="18" charset="0"/>
                        </a:rPr>
                        <m:t>𝛿</m:t>
                      </m:r>
                      <m:d>
                        <m:dPr>
                          <m:ctrlPr>
                            <a:rPr lang="en-AU" altLang="zh-CN" sz="2000" i="1" dirty="0" smtClean="0">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altLang="zh-CN" sz="2000" i="1" dirty="0" smtClean="0">
                              <a:latin typeface="Cambria Math" panose="02040503050406030204" pitchFamily="18" charset="0"/>
                            </a:rPr>
                            <m:t>, </m:t>
                          </m:r>
                          <m:r>
                            <a:rPr lang="zh-CN" altLang="en-AU" sz="2000" i="1" dirty="0" smtClean="0">
                              <a:latin typeface="Cambria Math" panose="02040503050406030204" pitchFamily="18" charset="0"/>
                            </a:rPr>
                            <m:t>𝜀</m:t>
                          </m:r>
                          <m:r>
                            <a:rPr lang="en-AU"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r>
                        <a:rPr lang="en-AU" altLang="zh-CN" sz="2000" i="1" dirty="0" smtClean="0">
                          <a:latin typeface="Cambria Math" panose="02040503050406030204" pitchFamily="18" charset="0"/>
                        </a:rPr>
                        <m:t>= </m:t>
                      </m:r>
                      <m:d>
                        <m:dPr>
                          <m:begChr m:val="{"/>
                          <m:endChr m:val="}"/>
                          <m:ctrlPr>
                            <a:rPr lang="en-AU" altLang="zh-CN" sz="2000" i="1" dirty="0" smtClean="0">
                              <a:latin typeface="Cambria Math" panose="02040503050406030204" pitchFamily="18" charset="0"/>
                            </a:rPr>
                          </m:ctrlPr>
                        </m:dPr>
                        <m:e>
                          <m:d>
                            <m:dPr>
                              <m:ctrlPr>
                                <a:rPr lang="en-AU" altLang="zh-CN" sz="2000" i="1" dirty="0" smtClean="0">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e>
                      </m:d>
                      <m:r>
                        <a:rPr lang="en-AU" altLang="zh-CN" sz="2000" i="1" dirty="0" smtClean="0">
                          <a:latin typeface="Cambria Math" panose="02040503050406030204" pitchFamily="18" charset="0"/>
                        </a:rPr>
                        <m:t>,</m:t>
                      </m:r>
                      <m:r>
                        <a:rPr lang="zh-CN" altLang="pl-PL" sz="2000" i="1" dirty="0">
                          <a:latin typeface="Cambria Math" panose="02040503050406030204" pitchFamily="18" charset="0"/>
                        </a:rPr>
                        <m:t>𝛿</m:t>
                      </m:r>
                      <m:d>
                        <m:dPr>
                          <m:ctrlPr>
                            <a:rPr lang="en-AU" altLang="zh-CN" sz="2000" i="1" dirty="0" smtClean="0">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altLang="zh-CN" sz="2000" i="1" dirty="0" smtClean="0">
                              <a:latin typeface="Cambria Math" panose="02040503050406030204" pitchFamily="18" charset="0"/>
                            </a:rPr>
                            <m:t>,</m:t>
                          </m:r>
                          <m:r>
                            <a:rPr lang="zh-CN" altLang="en-AU" sz="2000" i="1" dirty="0">
                              <a:latin typeface="Cambria Math" panose="02040503050406030204" pitchFamily="18" charset="0"/>
                            </a:rPr>
                            <m:t>𝜀</m:t>
                          </m:r>
                          <m:r>
                            <a:rPr lang="en-AU" altLang="zh-CN" sz="2000" i="1" dirty="0" smtClean="0">
                              <a:latin typeface="Cambria Math" panose="02040503050406030204" pitchFamily="18" charset="0"/>
                            </a:rPr>
                            <m:t>, 0</m:t>
                          </m:r>
                        </m:e>
                      </m:d>
                      <m:r>
                        <a:rPr lang="en-AU" altLang="zh-CN" sz="2000" i="1" dirty="0" smtClean="0">
                          <a:latin typeface="Cambria Math" panose="02040503050406030204" pitchFamily="18" charset="0"/>
                        </a:rPr>
                        <m:t>= </m:t>
                      </m:r>
                      <m:d>
                        <m:dPr>
                          <m:begChr m:val="{"/>
                          <m:endChr m:val="}"/>
                          <m:ctrlPr>
                            <a:rPr lang="en-AU" altLang="zh-CN" sz="2000" i="1" dirty="0" smtClean="0">
                              <a:latin typeface="Cambria Math" panose="02040503050406030204" pitchFamily="18" charset="0"/>
                            </a:rPr>
                          </m:ctrlPr>
                        </m:dPr>
                        <m:e>
                          <m:d>
                            <m:dPr>
                              <m:ctrlPr>
                                <a:rPr lang="en-AU" altLang="zh-CN" sz="2000" i="1" dirty="0" smtClean="0">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altLang="zh-CN" sz="2000" b="0" i="1" dirty="0" smtClean="0">
                                  <a:latin typeface="Cambria Math" panose="02040503050406030204" pitchFamily="18" charset="0"/>
                                </a:rPr>
                                <m:t>,</m:t>
                              </m:r>
                              <m:r>
                                <a:rPr lang="en-AU" altLang="zh-CN" sz="2000" i="1" dirty="0" smtClean="0">
                                  <a:latin typeface="Cambria Math" panose="02040503050406030204" pitchFamily="18" charset="0"/>
                                </a:rPr>
                                <m:t>0</m:t>
                              </m:r>
                            </m:e>
                          </m:d>
                        </m:e>
                      </m:d>
                      <m:r>
                        <a:rPr lang="en-AU" altLang="zh-CN" sz="2000" i="1" dirty="0" smtClean="0">
                          <a:latin typeface="Cambria Math" panose="02040503050406030204" pitchFamily="18" charset="0"/>
                        </a:rPr>
                        <m:t>,</m:t>
                      </m:r>
                    </m:oMath>
                  </m:oMathPara>
                </a14:m>
                <a:endParaRPr lang="en-AU" altLang="zh-CN"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CN" altLang="pl-PL" sz="2000" i="1" dirty="0">
                          <a:latin typeface="Cambria Math" panose="02040503050406030204" pitchFamily="18" charset="0"/>
                        </a:rPr>
                        <m:t>𝛿</m:t>
                      </m:r>
                      <m:r>
                        <a:rPr lang="en-AU"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altLang="zh-CN" sz="2000" i="1" dirty="0" smtClean="0">
                          <a:latin typeface="Cambria Math" panose="02040503050406030204" pitchFamily="18" charset="0"/>
                        </a:rPr>
                        <m:t>,</m:t>
                      </m:r>
                      <m:r>
                        <a:rPr lang="zh-CN" altLang="en-AU" sz="2000" i="1" dirty="0">
                          <a:latin typeface="Cambria Math" panose="02040503050406030204" pitchFamily="18" charset="0"/>
                        </a:rPr>
                        <m:t>𝜀</m:t>
                      </m:r>
                      <m:r>
                        <a:rPr lang="en-AU" altLang="zh-CN" sz="2000" i="1" dirty="0" smtClean="0">
                          <a:latin typeface="Cambria Math" panose="02040503050406030204" pitchFamily="18" charset="0"/>
                        </a:rPr>
                        <m:t>, 1)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altLang="zh-CN" sz="2000" i="1" dirty="0" smtClean="0">
                          <a:latin typeface="Cambria Math" panose="02040503050406030204" pitchFamily="18" charset="0"/>
                        </a:rPr>
                        <m:t>, 1)}</m:t>
                      </m:r>
                    </m:oMath>
                  </m:oMathPara>
                </a14:m>
                <a:endParaRPr lang="en-AU" altLang="zh-CN" sz="20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处于弹栈状态，弹出的符号必须和输入符号一致：</a:t>
                </a:r>
                <a:endParaRPr lang="en-AU" altLang="zh-CN" sz="2000" dirty="0">
                  <a:latin typeface="楷体" panose="02010609060101010101" pitchFamily="49" charset="-122"/>
                  <a:ea typeface="楷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r>
                        <a:rPr lang="zh-CN" altLang="pl-PL" sz="2000" i="1" dirty="0">
                          <a:latin typeface="Cambria Math" panose="02040503050406030204" pitchFamily="18" charset="0"/>
                        </a:rPr>
                        <m:t>𝛿</m:t>
                      </m:r>
                      <m:r>
                        <a:rPr lang="en-AU"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altLang="zh-CN" sz="2000" i="1" dirty="0" smtClean="0">
                          <a:latin typeface="Cambria Math" panose="02040503050406030204" pitchFamily="18" charset="0"/>
                        </a:rPr>
                        <m:t>, 0, 0)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altLang="zh-CN" sz="2000" i="1" dirty="0" smtClean="0">
                          <a:latin typeface="Cambria Math" panose="02040503050406030204" pitchFamily="18" charset="0"/>
                        </a:rPr>
                        <m:t>,</m:t>
                      </m:r>
                      <m:r>
                        <a:rPr lang="zh-CN" altLang="en-AU" sz="2000" i="1" dirty="0">
                          <a:latin typeface="Cambria Math" panose="02040503050406030204" pitchFamily="18" charset="0"/>
                        </a:rPr>
                        <m:t>𝜀</m:t>
                      </m:r>
                      <m:r>
                        <a:rPr lang="en-AU" altLang="zh-CN" sz="2000" i="1" dirty="0" smtClean="0">
                          <a:latin typeface="Cambria Math" panose="02040503050406030204" pitchFamily="18" charset="0"/>
                        </a:rPr>
                        <m:t>)},</m:t>
                      </m:r>
                      <m:r>
                        <a:rPr lang="zh-CN" altLang="pl-PL" sz="2000" i="1" dirty="0">
                          <a:latin typeface="Cambria Math" panose="02040503050406030204" pitchFamily="18" charset="0"/>
                        </a:rPr>
                        <m:t>𝛿</m:t>
                      </m:r>
                      <m:r>
                        <a:rPr lang="en-AU"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altLang="zh-CN" sz="2000" b="0" i="1" dirty="0" smtClean="0">
                          <a:latin typeface="Cambria Math" panose="02040503050406030204" pitchFamily="18" charset="0"/>
                        </a:rPr>
                        <m:t>,</m:t>
                      </m:r>
                      <m:r>
                        <a:rPr lang="en-AU" altLang="zh-CN" sz="2000" i="1" dirty="0" smtClean="0">
                          <a:latin typeface="Cambria Math" panose="02040503050406030204" pitchFamily="18" charset="0"/>
                        </a:rPr>
                        <m:t>1, 1)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altLang="zh-CN" sz="2000" i="1" dirty="0" smtClean="0">
                          <a:latin typeface="Cambria Math" panose="02040503050406030204" pitchFamily="18" charset="0"/>
                        </a:rPr>
                        <m:t>,</m:t>
                      </m:r>
                      <m:r>
                        <a:rPr lang="zh-CN" altLang="en-AU" sz="2000" i="1" dirty="0">
                          <a:latin typeface="Cambria Math" panose="02040503050406030204" pitchFamily="18" charset="0"/>
                        </a:rPr>
                        <m:t>𝜀</m:t>
                      </m:r>
                      <m:r>
                        <a:rPr lang="en-AU" altLang="zh-CN" sz="2000" i="1" dirty="0" smtClean="0">
                          <a:latin typeface="Cambria Math" panose="02040503050406030204" pitchFamily="18" charset="0"/>
                        </a:rPr>
                        <m:t>)}</m:t>
                      </m:r>
                    </m:oMath>
                  </m:oMathPara>
                </a14:m>
                <a:endParaRPr lang="en-AU" altLang="zh-CN" sz="20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只有看到栈底符号</a:t>
                </a:r>
                <a14:m>
                  <m:oMath xmlns:m="http://schemas.openxmlformats.org/officeDocument/2006/math">
                    <m:sSub>
                      <m:sSubPr>
                        <m:ctrlPr>
                          <a:rPr lang="en-US" altLang="zh-CN" sz="2000" i="1" dirty="0" smtClean="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en-AU" altLang="zh-CN" sz="2000" i="1" dirty="0">
                        <a:latin typeface="Cambria Math" panose="02040503050406030204" pitchFamily="18" charset="0"/>
                      </a:rPr>
                      <m:t> </m:t>
                    </m:r>
                  </m:oMath>
                </a14:m>
                <a:r>
                  <a:rPr lang="zh-CN" altLang="en-US" sz="2000" dirty="0">
                    <a:latin typeface="楷体" panose="02010609060101010101" pitchFamily="49" charset="-122"/>
                    <a:ea typeface="楷体" panose="02010609060101010101" pitchFamily="49" charset="-122"/>
                  </a:rPr>
                  <a:t>，才允许转移到接受状态</a:t>
                </a:r>
                <a:r>
                  <a:rPr lang="en-US" altLang="zh-CN" sz="2000" dirty="0">
                    <a:latin typeface="楷体" panose="02010609060101010101" pitchFamily="49" charset="-122"/>
                    <a:ea typeface="楷体" panose="02010609060101010101" pitchFamily="49" charset="-122"/>
                  </a:rPr>
                  <a:t>:</a:t>
                </a:r>
              </a:p>
              <a:p>
                <a:pPr marL="0" indent="0">
                  <a:buNone/>
                </a:pPr>
                <a14:m>
                  <m:oMathPara xmlns:m="http://schemas.openxmlformats.org/officeDocument/2006/math">
                    <m:oMathParaPr>
                      <m:jc m:val="centerGroup"/>
                    </m:oMathParaPr>
                    <m:oMath xmlns:m="http://schemas.openxmlformats.org/officeDocument/2006/math">
                      <m:r>
                        <a:rPr lang="zh-CN" altLang="pl-PL" sz="2000" i="1" dirty="0">
                          <a:latin typeface="Cambria Math" panose="02040503050406030204" pitchFamily="18" charset="0"/>
                        </a:rPr>
                        <m:t>𝛿</m:t>
                      </m:r>
                      <m:r>
                        <a:rPr lang="en-AU"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altLang="zh-CN" sz="2000" i="1" dirty="0" smtClean="0">
                          <a:latin typeface="Cambria Math" panose="02040503050406030204" pitchFamily="18" charset="0"/>
                        </a:rPr>
                        <m:t>,</m:t>
                      </m:r>
                      <m:r>
                        <a:rPr lang="zh-CN" altLang="en-AU" sz="2000" i="1" dirty="0">
                          <a:latin typeface="Cambria Math" panose="02040503050406030204" pitchFamily="18" charset="0"/>
                        </a:rPr>
                        <m:t>𝜀</m:t>
                      </m:r>
                      <m:r>
                        <a:rPr lang="en-AU" altLang="zh-CN" sz="200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en-AU" altLang="zh-CN" sz="2000" i="1" dirty="0" smtClean="0">
                          <a:latin typeface="Cambria Math" panose="02040503050406030204" pitchFamily="18" charset="0"/>
                        </a:rPr>
                        <m:t>) = {(</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2</m:t>
                          </m:r>
                        </m:sub>
                      </m:sSub>
                      <m:r>
                        <a:rPr lang="en-AU" altLang="zh-CN" sz="2000" b="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en-AU" altLang="zh-CN" sz="2000" i="1" dirty="0" smtClean="0">
                          <a:latin typeface="Cambria Math" panose="02040503050406030204" pitchFamily="18" charset="0"/>
                        </a:rPr>
                        <m:t>)}</m:t>
                      </m:r>
                    </m:oMath>
                  </m:oMathPara>
                </a14:m>
                <a:endParaRPr lang="en-AU" altLang="zh-CN" sz="2000" dirty="0">
                  <a:latin typeface="楷体" panose="02010609060101010101" pitchFamily="49" charset="-122"/>
                  <a:ea typeface="楷体" panose="02010609060101010101" pitchFamily="49" charset="-122"/>
                </a:endParaRPr>
              </a:p>
              <a:p>
                <a:endParaRPr lang="en-AU" sz="2000" dirty="0">
                  <a:latin typeface="楷体" panose="02010609060101010101" pitchFamily="49" charset="-122"/>
                  <a:ea typeface="楷体" panose="02010609060101010101" pitchFamily="49"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38893" y="2015053"/>
                <a:ext cx="7723414" cy="4394473"/>
              </a:xfrm>
              <a:prstGeom prst="rect">
                <a:avLst/>
              </a:prstGeom>
              <a:blipFill rotWithShape="1">
                <a:blip r:embed="rId4"/>
                <a:stretch>
                  <a:fillRect l="-5" t="-5" r="4" b="11"/>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PD</a:t>
            </a:r>
            <a:r>
              <a:rPr lang="en-US" altLang="zh-CN" dirty="0">
                <a:latin typeface="Times New Roman" panose="02020603050405020304" pitchFamily="18" charset="0"/>
                <a:cs typeface="Times New Roman" panose="02020603050405020304" pitchFamily="18" charset="0"/>
              </a:rPr>
              <a:t>A</a:t>
            </a:r>
            <a:r>
              <a:rPr lang="zh-CN" altLang="en-US" dirty="0"/>
              <a:t>使用示例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12463"/>
                <a:ext cx="8229600" cy="4525963"/>
              </a:xfrm>
            </p:spPr>
            <p:txBody>
              <a:bodyPr>
                <a:normAutofit/>
              </a:bodyPr>
              <a:lstStyle/>
              <a:p>
                <a:r>
                  <a:rPr lang="zh-CN" altLang="en-US" dirty="0"/>
                  <a:t>例：设计识别</a:t>
                </a:r>
                <a14:m>
                  <m:oMath xmlns:m="http://schemas.openxmlformats.org/officeDocument/2006/math">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𝐿</m:t>
                        </m:r>
                      </m:e>
                      <m:sub>
                        <m:r>
                          <a:rPr lang="en-AU" altLang="zh-CN" b="0" i="1" dirty="0" smtClean="0">
                            <a:latin typeface="Cambria Math" panose="02040503050406030204" pitchFamily="18" charset="0"/>
                          </a:rPr>
                          <m:t>𝑤𝑤𝑟</m:t>
                        </m:r>
                      </m:sub>
                    </m:sSub>
                    <m:r>
                      <a:rPr lang="en-AU" altLang="zh-CN" i="1" dirty="0">
                        <a:latin typeface="Cambria Math" panose="02040503050406030204" pitchFamily="18" charset="0"/>
                      </a:rPr>
                      <m:t>= {</m:t>
                    </m:r>
                    <m:r>
                      <a:rPr lang="en-AU" altLang="zh-CN" i="1" dirty="0" err="1">
                        <a:latin typeface="Cambria Math" panose="02040503050406030204" pitchFamily="18" charset="0"/>
                      </a:rPr>
                      <m:t>𝑤</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𝑤</m:t>
                        </m:r>
                      </m:e>
                      <m:sup>
                        <m:r>
                          <a:rPr lang="en-AU" altLang="zh-CN" b="0" i="1" dirty="0" smtClean="0">
                            <a:latin typeface="Cambria Math" panose="02040503050406030204" pitchFamily="18" charset="0"/>
                          </a:rPr>
                          <m:t>𝑅</m:t>
                        </m:r>
                      </m:sup>
                    </m:sSup>
                    <m:r>
                      <a:rPr lang="en-AU" altLang="zh-CN" i="1" dirty="0">
                        <a:latin typeface="Cambria Math" panose="02040503050406030204" pitchFamily="18" charset="0"/>
                      </a:rPr>
                      <m:t> | </m:t>
                    </m:r>
                    <m:r>
                      <a:rPr lang="en-AU" altLang="zh-CN" b="0" i="1" dirty="0" smtClean="0">
                        <a:latin typeface="Cambria Math" panose="02040503050406030204" pitchFamily="18" charset="0"/>
                      </a:rPr>
                      <m:t>𝑤</m:t>
                    </m:r>
                    <m:r>
                      <a:rPr lang="en-AU" altLang="zh-CN" i="1" dirty="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(0+1)</m:t>
                        </m:r>
                      </m:e>
                      <m:sup>
                        <m:r>
                          <a:rPr lang="en-AU" altLang="zh-CN" b="0" i="1" dirty="0" smtClean="0">
                            <a:latin typeface="Cambria Math" panose="02040503050406030204" pitchFamily="18" charset="0"/>
                          </a:rPr>
                          <m:t>∗</m:t>
                        </m:r>
                      </m:sup>
                    </m:sSup>
                    <m:r>
                      <a:rPr lang="en-AU" altLang="zh-CN" i="1" dirty="0">
                        <a:latin typeface="Cambria Math" panose="02040503050406030204" pitchFamily="18" charset="0"/>
                      </a:rPr>
                      <m:t> } </m:t>
                    </m:r>
                  </m:oMath>
                </a14:m>
                <a:r>
                  <a:rPr lang="zh-CN" altLang="en-US" dirty="0"/>
                  <a:t>的</a:t>
                </a:r>
                <a:r>
                  <a:rPr lang="en-AU" altLang="zh-CN" dirty="0">
                    <a:latin typeface="Times New Roman" panose="02020603050405020304" pitchFamily="18" charset="0"/>
                    <a:cs typeface="Times New Roman" panose="02020603050405020304" pitchFamily="18" charset="0"/>
                  </a:rPr>
                  <a:t>PDA</a:t>
                </a:r>
                <a:r>
                  <a:rPr lang="zh-CN" altLang="en-US" dirty="0"/>
                  <a:t>。</a:t>
                </a:r>
                <a:endParaRPr lang="en-AU" altLang="zh-CN" dirty="0"/>
              </a:p>
              <a:p>
                <a:pPr marL="0" indent="0">
                  <a:buNone/>
                </a:pPr>
                <a:endParaRPr lang="en-AU" altLang="zh-CN" sz="2400" dirty="0"/>
              </a:p>
              <a:p>
                <a:pPr marL="0" indent="0">
                  <a:buNone/>
                </a:pPr>
                <a:endParaRPr lang="zh-CN" altLang="en-US" sz="2400" dirty="0"/>
              </a:p>
              <a:p>
                <a:pPr marL="0" indent="0">
                  <a:buNone/>
                </a:pPr>
                <a:endParaRPr lang="en-AU" altLang="zh-CN" sz="2400" dirty="0"/>
              </a:p>
              <a:p>
                <a:pPr marL="0" indent="0">
                  <a:buNone/>
                </a:pPr>
                <a:endParaRPr lang="zh-CN" altLang="en-US" sz="2400" dirty="0"/>
              </a:p>
              <a:p>
                <a:pPr marL="0" indent="0">
                  <a:buNone/>
                </a:pPr>
                <a:endParaRPr lang="en-US" altLang="zh-CN"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12463"/>
                <a:ext cx="8229600" cy="4525963"/>
              </a:xfrm>
              <a:blipFill rotWithShape="1">
                <a:blip r:embed="rId2"/>
                <a:stretch>
                  <a:fillRect t="-13" b="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28</a:t>
            </a:fld>
            <a:endParaRPr lang="en-AU"/>
          </a:p>
        </p:txBody>
      </p:sp>
      <p:sp>
        <p:nvSpPr>
          <p:cNvPr id="5" name="TextBox 4"/>
          <p:cNvSpPr txBox="1"/>
          <p:nvPr/>
        </p:nvSpPr>
        <p:spPr>
          <a:xfrm>
            <a:off x="5282293" y="783771"/>
            <a:ext cx="45719" cy="369332"/>
          </a:xfrm>
          <a:prstGeom prst="rect">
            <a:avLst/>
          </a:prstGeom>
          <a:noFill/>
        </p:spPr>
        <p:txBody>
          <a:bodyPr wrap="square" rtlCol="0">
            <a:spAutoFit/>
          </a:bodyPr>
          <a:lstStyle/>
          <a:p>
            <a:endParaRPr lang="en-AU" dirty="0"/>
          </a:p>
        </p:txBody>
      </p:sp>
      <p:pic>
        <p:nvPicPr>
          <p:cNvPr id="8" name="Picture 7" descr="Diagram&#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79874" y="2491496"/>
            <a:ext cx="6584251" cy="281964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瞬时描述</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normAutofit/>
              </a:bodyPr>
              <a:lstStyle/>
              <a:p>
                <a:r>
                  <a:rPr lang="zh-CN" altLang="en-US" dirty="0"/>
                  <a:t>定义：为描述</a:t>
                </a:r>
                <a:r>
                  <a:rPr lang="en-AU" altLang="zh-CN" dirty="0">
                    <a:latin typeface="Times New Roman" panose="02020603050405020304" pitchFamily="18" charset="0"/>
                    <a:cs typeface="Times New Roman" panose="02020603050405020304" pitchFamily="18" charset="0"/>
                  </a:rPr>
                  <a:t>PDA</a:t>
                </a:r>
                <a:r>
                  <a:rPr lang="zh-CN" altLang="en-US" dirty="0"/>
                  <a:t>瞬间的格局，定义</a:t>
                </a:r>
                <a14:m>
                  <m:oMath xmlns:m="http://schemas.openxmlformats.org/officeDocument/2006/math">
                    <m:r>
                      <a:rPr lang="en-AU" altLang="zh-CN" b="0" i="1" smtClean="0">
                        <a:latin typeface="Cambria Math" panose="02040503050406030204" pitchFamily="18" charset="0"/>
                      </a:rPr>
                      <m:t>𝑄</m:t>
                    </m:r>
                    <m:r>
                      <a:rPr lang="en-AU" altLang="zh-CN" b="0" i="1" smtClean="0">
                        <a:latin typeface="Cambria Math" panose="02040503050406030204" pitchFamily="18" charset="0"/>
                        <a:ea typeface="Cambria Math" panose="02040503050406030204" pitchFamily="18" charset="0"/>
                      </a:rPr>
                      <m:t>×</m:t>
                    </m:r>
                    <m:sSup>
                      <m:sSupPr>
                        <m:ctrlPr>
                          <a:rPr lang="en-AU" altLang="zh-CN" b="0" i="1" smtClean="0">
                            <a:latin typeface="Cambria Math" panose="02040503050406030204" pitchFamily="18" charset="0"/>
                          </a:rPr>
                        </m:ctrlPr>
                      </m:sSupPr>
                      <m:e>
                        <m:r>
                          <m:rPr>
                            <m:sty m:val="p"/>
                          </m:rPr>
                          <a:rPr lang="el-GR" altLang="zh-CN" b="0" i="1" smtClean="0">
                            <a:latin typeface="Cambria Math" panose="02040503050406030204" pitchFamily="18" charset="0"/>
                            <a:ea typeface="Cambria Math" panose="02040503050406030204" pitchFamily="18" charset="0"/>
                          </a:rPr>
                          <m:t>Σ</m:t>
                        </m:r>
                      </m:e>
                      <m:sup>
                        <m:r>
                          <a:rPr lang="en-AU" altLang="zh-CN" b="0" i="1" smtClean="0">
                            <a:latin typeface="Cambria Math" panose="02040503050406030204" pitchFamily="18" charset="0"/>
                          </a:rPr>
                          <m:t>∗</m:t>
                        </m:r>
                      </m:sup>
                    </m:sSup>
                    <m:r>
                      <a:rPr lang="en-AU" altLang="zh-CN" i="1">
                        <a:latin typeface="Cambria Math" panose="02040503050406030204" pitchFamily="18" charset="0"/>
                        <a:ea typeface="Cambria Math" panose="02040503050406030204" pitchFamily="18" charset="0"/>
                      </a:rPr>
                      <m:t>×</m:t>
                    </m:r>
                    <m:sSup>
                      <m:sSupPr>
                        <m:ctrlPr>
                          <a:rPr lang="en-AU" altLang="zh-CN" i="1">
                            <a:latin typeface="Cambria Math" panose="02040503050406030204" pitchFamily="18" charset="0"/>
                          </a:rPr>
                        </m:ctrlPr>
                      </m:sSupPr>
                      <m:e>
                        <m:r>
                          <m:rPr>
                            <m:sty m:val="p"/>
                          </m:rPr>
                          <a:rPr lang="el-GR" altLang="zh-CN" i="1" smtClean="0">
                            <a:latin typeface="Cambria Math" panose="02040503050406030204" pitchFamily="18" charset="0"/>
                            <a:ea typeface="Cambria Math" panose="02040503050406030204" pitchFamily="18" charset="0"/>
                          </a:rPr>
                          <m:t>Γ</m:t>
                        </m:r>
                      </m:e>
                      <m:sup>
                        <m:r>
                          <a:rPr lang="en-AU" altLang="zh-CN" i="1">
                            <a:latin typeface="Cambria Math" panose="02040503050406030204" pitchFamily="18" charset="0"/>
                          </a:rPr>
                          <m:t>∗</m:t>
                        </m:r>
                      </m:sup>
                    </m:sSup>
                    <m:r>
                      <a:rPr lang="zh-CN" altLang="en-US" i="1" smtClean="0">
                        <a:latin typeface="Cambria Math" panose="02040503050406030204" pitchFamily="18" charset="0"/>
                      </a:rPr>
                      <m:t>中</m:t>
                    </m:r>
                  </m:oMath>
                </a14:m>
                <a:r>
                  <a:rPr lang="zh-CN" altLang="en-US" dirty="0"/>
                  <a:t>三元组</a:t>
                </a:r>
                <a14:m>
                  <m:oMath xmlns:m="http://schemas.openxmlformats.org/officeDocument/2006/math">
                    <m:r>
                      <a:rPr lang="zh-CN" altLang="en-US" i="1" dirty="0" smtClean="0">
                        <a:latin typeface="Cambria Math" panose="02040503050406030204" pitchFamily="18" charset="0"/>
                      </a:rPr>
                      <m:t>（</m:t>
                    </m:r>
                    <m:r>
                      <a:rPr lang="en-AU" altLang="zh-CN" b="0" i="1" dirty="0" smtClean="0">
                        <a:latin typeface="Cambria Math" panose="02040503050406030204" pitchFamily="18" charset="0"/>
                      </a:rPr>
                      <m:t>𝑞</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𝑤</m:t>
                    </m:r>
                    <m:r>
                      <a:rPr lang="en-AU" altLang="zh-CN" b="0" i="1" dirty="0" smtClean="0">
                        <a:latin typeface="Cambria Math" panose="02040503050406030204" pitchFamily="18" charset="0"/>
                      </a:rPr>
                      <m:t>,</m:t>
                    </m:r>
                    <m:r>
                      <a:rPr lang="zh-CN" altLang="en-US" i="1" dirty="0">
                        <a:latin typeface="Cambria Math" panose="02040503050406030204" pitchFamily="18" charset="0"/>
                      </a:rPr>
                      <m:t>𝛾</m:t>
                    </m:r>
                    <m:r>
                      <a:rPr lang="zh-CN" altLang="en-US" i="1" dirty="0" smtClean="0">
                        <a:latin typeface="Cambria Math" panose="02040503050406030204" pitchFamily="18" charset="0"/>
                      </a:rPr>
                      <m:t>）</m:t>
                    </m:r>
                  </m:oMath>
                </a14:m>
                <a:r>
                  <a:rPr lang="zh-CN" altLang="en-US" dirty="0"/>
                  <a:t>为瞬时描述</a:t>
                </a:r>
                <a:r>
                  <a:rPr lang="en-AU" altLang="zh-CN" dirty="0"/>
                  <a:t>(</a:t>
                </a:r>
                <a:r>
                  <a:rPr lang="en-AU" altLang="zh-CN" dirty="0">
                    <a:latin typeface="Times New Roman" panose="02020603050405020304" pitchFamily="18" charset="0"/>
                    <a:cs typeface="Times New Roman" panose="02020603050405020304" pitchFamily="18" charset="0"/>
                  </a:rPr>
                  <a:t>instantaneous description</a:t>
                </a:r>
                <a:r>
                  <a:rPr lang="en-AU" altLang="zh-CN" dirty="0"/>
                  <a:t>(</a:t>
                </a:r>
                <a:r>
                  <a:rPr lang="en-AU" altLang="zh-CN" dirty="0">
                    <a:latin typeface="Times New Roman" panose="02020603050405020304" pitchFamily="18" charset="0"/>
                    <a:cs typeface="Times New Roman" panose="02020603050405020304" pitchFamily="18" charset="0"/>
                  </a:rPr>
                  <a:t>ID</a:t>
                </a:r>
                <a:r>
                  <a:rPr lang="en-AU" altLang="zh-CN" dirty="0"/>
                  <a:t>))</a:t>
                </a:r>
              </a:p>
              <a:p>
                <a:r>
                  <a:rPr lang="zh-CN" altLang="en-US" dirty="0"/>
                  <a:t>三元组</a:t>
                </a:r>
                <a14:m>
                  <m:oMath xmlns:m="http://schemas.openxmlformats.org/officeDocument/2006/math">
                    <m:r>
                      <a:rPr lang="zh-CN" altLang="en-US" i="1" dirty="0">
                        <a:latin typeface="Cambria Math" panose="02040503050406030204" pitchFamily="18" charset="0"/>
                      </a:rPr>
                      <m:t> </m:t>
                    </m:r>
                    <m:r>
                      <a:rPr lang="en-US" altLang="zh-CN" b="0" i="1" dirty="0" smtClean="0">
                        <a:latin typeface="Cambria Math" panose="02040503050406030204" pitchFamily="18" charset="0"/>
                      </a:rPr>
                      <m:t>(</m:t>
                    </m:r>
                    <m:r>
                      <a:rPr lang="en-AU" altLang="zh-CN" b="0" i="1" dirty="0" smtClean="0">
                        <a:latin typeface="Cambria Math" panose="02040503050406030204" pitchFamily="18" charset="0"/>
                      </a:rPr>
                      <m:t>𝑞</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𝑤</m:t>
                    </m:r>
                    <m:r>
                      <a:rPr lang="en-AU" altLang="zh-CN" b="0" i="1" dirty="0" smtClean="0">
                        <a:latin typeface="Cambria Math" panose="02040503050406030204" pitchFamily="18" charset="0"/>
                      </a:rPr>
                      <m:t>,</m:t>
                    </m:r>
                    <m:r>
                      <a:rPr lang="zh-CN" altLang="en-US" i="1" dirty="0" smtClean="0">
                        <a:latin typeface="Cambria Math" panose="02040503050406030204" pitchFamily="18" charset="0"/>
                      </a:rPr>
                      <m:t>𝛾</m:t>
                    </m:r>
                    <m:r>
                      <a:rPr lang="en-US" altLang="zh-CN" b="0" i="1" dirty="0" smtClean="0">
                        <a:latin typeface="Cambria Math" panose="02040503050406030204" pitchFamily="18" charset="0"/>
                      </a:rPr>
                      <m:t>)</m:t>
                    </m:r>
                  </m:oMath>
                </a14:m>
                <a:r>
                  <a:rPr lang="en-AU" altLang="zh-CN" dirty="0"/>
                  <a:t>:</a:t>
                </a:r>
              </a:p>
              <a:p>
                <a:pPr lvl="1"/>
                <a14:m>
                  <m:oMath xmlns:m="http://schemas.openxmlformats.org/officeDocument/2006/math">
                    <m:r>
                      <a:rPr lang="en-AU" altLang="zh-CN" b="0" i="1" dirty="0" smtClean="0">
                        <a:latin typeface="Cambria Math" panose="02040503050406030204" pitchFamily="18" charset="0"/>
                      </a:rPr>
                      <m:t>𝑞</m:t>
                    </m:r>
                  </m:oMath>
                </a14:m>
                <a:r>
                  <a:rPr lang="zh-CN" altLang="en-US" dirty="0"/>
                  <a:t>是当前状态</a:t>
                </a:r>
                <a:endParaRPr lang="en-AU" altLang="zh-CN" dirty="0"/>
              </a:p>
              <a:p>
                <a:pPr lvl="1"/>
                <a14:m>
                  <m:oMath xmlns:m="http://schemas.openxmlformats.org/officeDocument/2006/math">
                    <m:r>
                      <a:rPr lang="en-AU" altLang="zh-CN" b="0" i="1" dirty="0" smtClean="0">
                        <a:latin typeface="Cambria Math" panose="02040503050406030204" pitchFamily="18" charset="0"/>
                      </a:rPr>
                      <m:t>𝑤</m:t>
                    </m:r>
                  </m:oMath>
                </a14:m>
                <a:r>
                  <a:rPr lang="zh-CN" altLang="en-US" dirty="0"/>
                  <a:t>是剩下的输入符号串</a:t>
                </a:r>
                <a:r>
                  <a:rPr lang="en-AU" altLang="zh-CN" dirty="0"/>
                  <a:t>(</a:t>
                </a:r>
                <a:r>
                  <a:rPr lang="en-AU" altLang="zh-CN" dirty="0">
                    <a:latin typeface="Times New Roman" panose="02020603050405020304" pitchFamily="18" charset="0"/>
                    <a:cs typeface="Times New Roman" panose="02020603050405020304" pitchFamily="18" charset="0"/>
                  </a:rPr>
                  <a:t>remaining input</a:t>
                </a:r>
                <a:r>
                  <a:rPr lang="en-AU" altLang="zh-CN" dirty="0"/>
                  <a:t>)</a:t>
                </a:r>
              </a:p>
              <a:p>
                <a:pPr lvl="1"/>
                <a14:m>
                  <m:oMath xmlns:m="http://schemas.openxmlformats.org/officeDocument/2006/math">
                    <m:r>
                      <a:rPr lang="zh-CN" altLang="en-US" i="1" dirty="0" smtClean="0">
                        <a:latin typeface="Cambria Math" panose="02040503050406030204" pitchFamily="18" charset="0"/>
                      </a:rPr>
                      <m:t>𝛾</m:t>
                    </m:r>
                  </m:oMath>
                </a14:m>
                <a:r>
                  <a:rPr lang="zh-CN" altLang="en-US" dirty="0"/>
                  <a:t>是栈中的符号串</a:t>
                </a:r>
                <a:r>
                  <a:rPr lang="en-AU" altLang="zh-CN" dirty="0"/>
                  <a:t>(</a:t>
                </a:r>
                <a:r>
                  <a:rPr lang="en-AU" altLang="zh-CN" dirty="0">
                    <a:latin typeface="Times New Roman" panose="02020603050405020304" pitchFamily="18" charset="0"/>
                    <a:cs typeface="Times New Roman" panose="02020603050405020304" pitchFamily="18" charset="0"/>
                  </a:rPr>
                  <a:t>stack contents</a:t>
                </a:r>
                <a:r>
                  <a:rPr lang="en-AU" altLang="zh-CN" dirty="0"/>
                  <a:t>)</a:t>
                </a:r>
                <a:r>
                  <a:rPr lang="zh-CN" altLang="en-US" dirty="0"/>
                  <a:t>（栈顶符号在前）</a:t>
                </a:r>
                <a:endParaRPr lang="en-AU" altLang="zh-CN" dirty="0"/>
              </a:p>
              <a:p>
                <a:pPr marL="0" indent="0">
                  <a:buNone/>
                </a:pPr>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3"/>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29</a:t>
            </a:fld>
            <a:endParaRPr lang="en-A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转移符号（扩展的状态转移函数）</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87926"/>
                <a:ext cx="7775576" cy="4525963"/>
              </a:xfrm>
            </p:spPr>
            <p:txBody>
              <a:bodyPr>
                <a:normAutofit/>
              </a:bodyPr>
              <a:lstStyle/>
              <a:p>
                <a:pPr>
                  <a:lnSpc>
                    <a:spcPct val="120000"/>
                  </a:lnSpc>
                </a:pPr>
                <a:r>
                  <a:rPr lang="zh-CN" altLang="en-US" sz="2400" dirty="0"/>
                  <a:t>定义：在</a:t>
                </a:r>
                <a:r>
                  <a:rPr lang="en-AU" altLang="zh-CN" sz="2400" dirty="0">
                    <a:latin typeface="Times New Roman" panose="02020603050405020304" pitchFamily="18" charset="0"/>
                    <a:cs typeface="Times New Roman" panose="02020603050405020304" pitchFamily="18" charset="0"/>
                  </a:rPr>
                  <a:t>PDA</a:t>
                </a:r>
                <a:r>
                  <a:rPr lang="zh-CN" altLang="en-US" sz="2400" dirty="0"/>
                  <a:t>的一个动作下，由</a:t>
                </a:r>
                <a:r>
                  <a:rPr lang="en-AU" altLang="zh-CN" sz="2400" dirty="0">
                    <a:latin typeface="Times New Roman" panose="02020603050405020304" pitchFamily="18" charset="0"/>
                    <a:cs typeface="Times New Roman" panose="02020603050405020304" pitchFamily="18" charset="0"/>
                  </a:rPr>
                  <a:t>ID</a:t>
                </a:r>
                <a:r>
                  <a:rPr lang="en-AU" altLang="zh-CN" sz="2400" dirty="0"/>
                  <a:t> </a:t>
                </a:r>
                <a14:m>
                  <m:oMath xmlns:m="http://schemas.openxmlformats.org/officeDocument/2006/math">
                    <m:r>
                      <a:rPr lang="en-US" altLang="zh-CN" sz="2400" i="1" dirty="0" smtClean="0">
                        <a:latin typeface="Cambria Math" panose="02040503050406030204" pitchFamily="18" charset="0"/>
                      </a:rPr>
                      <m:t>𝐼</m:t>
                    </m:r>
                  </m:oMath>
                </a14:m>
                <a:r>
                  <a:rPr lang="zh-CN" altLang="en-US" sz="2400" dirty="0"/>
                  <a:t>到</a:t>
                </a:r>
                <a:r>
                  <a:rPr lang="en-AU" altLang="zh-CN" sz="2400" dirty="0">
                    <a:latin typeface="Times New Roman" panose="02020603050405020304" pitchFamily="18" charset="0"/>
                    <a:cs typeface="Times New Roman" panose="02020603050405020304" pitchFamily="18" charset="0"/>
                  </a:rPr>
                  <a:t>ID</a:t>
                </a:r>
                <a:r>
                  <a:rPr lang="en-AU" altLang="zh-CN" sz="2400" dirty="0"/>
                  <a:t> </a:t>
                </a:r>
                <a14:m>
                  <m:oMath xmlns:m="http://schemas.openxmlformats.org/officeDocument/2006/math">
                    <m:r>
                      <a:rPr lang="en-AU" altLang="zh-CN" sz="2400" i="1" dirty="0" smtClean="0">
                        <a:latin typeface="Cambria Math" panose="02040503050406030204" pitchFamily="18" charset="0"/>
                      </a:rPr>
                      <m:t>𝐽</m:t>
                    </m:r>
                  </m:oMath>
                </a14:m>
                <a:r>
                  <a:rPr lang="zh-CN" altLang="en-US" sz="2400" dirty="0"/>
                  <a:t>的变化，称为</a:t>
                </a:r>
                <a:r>
                  <a:rPr lang="en-AU" altLang="zh-CN" sz="2400" dirty="0">
                    <a:latin typeface="Times New Roman" panose="02020603050405020304" pitchFamily="18" charset="0"/>
                    <a:cs typeface="Times New Roman" panose="02020603050405020304" pitchFamily="18" charset="0"/>
                  </a:rPr>
                  <a:t>ID</a:t>
                </a:r>
                <a:r>
                  <a:rPr lang="zh-CN" altLang="en-US" sz="2400" dirty="0"/>
                  <a:t>的转移。具体的，如果 </a:t>
                </a:r>
                <a14:m>
                  <m:oMath xmlns:m="http://schemas.openxmlformats.org/officeDocument/2006/math">
                    <m:r>
                      <a:rPr lang="en-US" altLang="zh-CN" sz="2400" i="1" dirty="0" smtClean="0">
                        <a:latin typeface="Cambria Math" panose="02040503050406030204" pitchFamily="18" charset="0"/>
                      </a:rPr>
                      <m:t>(</m:t>
                    </m:r>
                    <m:r>
                      <a:rPr lang="en-AU" altLang="zh-CN" sz="2400" i="1" dirty="0" smtClean="0">
                        <a:latin typeface="Cambria Math" panose="02040503050406030204" pitchFamily="18" charset="0"/>
                      </a:rPr>
                      <m:t>𝑝</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m:t>
                    </m:r>
                    <m:r>
                      <a:rPr lang="el-GR" altLang="zh-CN" sz="2400" i="1" dirty="0" smtClean="0">
                        <a:latin typeface="Cambria Math" panose="02040503050406030204" pitchFamily="18" charset="0"/>
                      </a:rPr>
                      <m:t>) ∈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𝑎</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𝑍</m:t>
                    </m:r>
                  </m:oMath>
                </a14:m>
                <a:r>
                  <a:rPr lang="en-AU" altLang="zh-CN" sz="2400" dirty="0"/>
                  <a:t>), </a:t>
                </a:r>
                <a:r>
                  <a:rPr lang="zh-CN" altLang="en-US" sz="2400" dirty="0"/>
                  <a:t>由 </a:t>
                </a:r>
                <a14:m>
                  <m:oMath xmlns:m="http://schemas.openxmlformats.org/officeDocument/2006/math">
                    <m:r>
                      <a:rPr lang="en-US"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𝑎𝑤</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𝑍</m:t>
                    </m:r>
                    <m:r>
                      <a:rPr lang="el-GR" altLang="zh-CN" sz="2400" i="1" dirty="0" smtClean="0">
                        <a:latin typeface="Cambria Math" panose="02040503050406030204" pitchFamily="18" charset="0"/>
                      </a:rPr>
                      <m:t>𝛼</m:t>
                    </m:r>
                    <m:r>
                      <a:rPr lang="el-GR" altLang="zh-CN" sz="2400" i="1" dirty="0" smtClean="0">
                        <a:latin typeface="Cambria Math" panose="02040503050406030204" pitchFamily="18" charset="0"/>
                      </a:rPr>
                      <m:t>)</m:t>
                    </m:r>
                  </m:oMath>
                </a14:m>
                <a:r>
                  <a:rPr lang="el-GR" altLang="zh-CN" sz="2400" dirty="0"/>
                  <a:t> </a:t>
                </a:r>
                <a:r>
                  <a:rPr lang="zh-CN" altLang="en-US" sz="2400" dirty="0"/>
                  <a:t>到 </a:t>
                </a:r>
                <a14:m>
                  <m:oMath xmlns:m="http://schemas.openxmlformats.org/officeDocument/2006/math">
                    <m:r>
                      <a:rPr lang="en-US" altLang="zh-CN" sz="2400" i="1" dirty="0" smtClean="0">
                        <a:latin typeface="Cambria Math" panose="02040503050406030204" pitchFamily="18" charset="0"/>
                      </a:rPr>
                      <m:t>(</m:t>
                    </m:r>
                    <m:r>
                      <a:rPr lang="en-AU" altLang="zh-CN" sz="2400" i="1" dirty="0" smtClean="0">
                        <a:latin typeface="Cambria Math" panose="02040503050406030204" pitchFamily="18" charset="0"/>
                      </a:rPr>
                      <m:t>𝑝</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𝛽𝛼</m:t>
                    </m:r>
                    <m:r>
                      <a:rPr lang="el-GR" altLang="zh-CN" sz="2400" i="1" dirty="0" smtClean="0">
                        <a:latin typeface="Cambria Math" panose="02040503050406030204" pitchFamily="18" charset="0"/>
                      </a:rPr>
                      <m:t>) </m:t>
                    </m:r>
                  </m:oMath>
                </a14:m>
                <a:r>
                  <a:rPr lang="zh-CN" altLang="en-US" sz="2400" dirty="0"/>
                  <a:t>的变化</a:t>
                </a:r>
                <a:r>
                  <a:rPr lang="en-US" altLang="zh-CN" sz="2400" dirty="0"/>
                  <a:t>, </a:t>
                </a:r>
                <a:r>
                  <a:rPr lang="zh-CN" altLang="en-US" sz="2400" dirty="0"/>
                  <a:t>称为</a:t>
                </a:r>
                <a:r>
                  <a:rPr lang="en-AU" altLang="zh-CN" sz="2400" dirty="0">
                    <a:latin typeface="Times New Roman" panose="02020603050405020304" pitchFamily="18" charset="0"/>
                    <a:cs typeface="Times New Roman" panose="02020603050405020304" pitchFamily="18" charset="0"/>
                  </a:rPr>
                  <a:t>ID</a:t>
                </a:r>
                <a:r>
                  <a:rPr lang="zh-CN" altLang="en-US" sz="2400" dirty="0"/>
                  <a:t>的转移</a:t>
                </a:r>
                <a14:m>
                  <m:oMath xmlns:m="http://schemas.openxmlformats.org/officeDocument/2006/math">
                    <m:r>
                      <a:rPr lang="zh-CN" altLang="en-US" sz="2400" i="1" smtClean="0">
                        <a:latin typeface="Cambria Math" panose="02040503050406030204" pitchFamily="18" charset="0"/>
                      </a:rPr>
                      <m:t>⊢</m:t>
                    </m:r>
                  </m:oMath>
                </a14:m>
                <a:r>
                  <a:rPr lang="en-US" altLang="zh-CN" sz="2400" i="1" baseline="-25000" dirty="0">
                    <a:latin typeface="Times New Roman" panose="02020603050405020304" pitchFamily="18" charset="0"/>
                    <a:cs typeface="Times New Roman" panose="02020603050405020304" pitchFamily="18" charset="0"/>
                  </a:rPr>
                  <a:t>P</a:t>
                </a:r>
                <a:r>
                  <a:rPr lang="en-AU" altLang="zh-CN" sz="2400" dirty="0"/>
                  <a:t>,</a:t>
                </a:r>
                <a:r>
                  <a:rPr lang="zh-CN" altLang="en-US" sz="2400" dirty="0"/>
                  <a:t>或者</a:t>
                </a:r>
                <a14:m>
                  <m:oMath xmlns:m="http://schemas.openxmlformats.org/officeDocument/2006/math">
                    <m:r>
                      <a:rPr lang="zh-CN" altLang="en-US" sz="2400" i="1">
                        <a:latin typeface="Cambria Math" panose="02040503050406030204" pitchFamily="18" charset="0"/>
                      </a:rPr>
                      <m:t>⊢</m:t>
                    </m:r>
                  </m:oMath>
                </a14:m>
                <a:r>
                  <a:rPr lang="zh-CN" altLang="en-US" sz="2400" dirty="0"/>
                  <a:t>（当所指</a:t>
                </a:r>
                <a:r>
                  <a:rPr lang="en-AU" altLang="zh-CN" sz="2400" dirty="0">
                    <a:latin typeface="Times New Roman" panose="02020603050405020304" pitchFamily="18" charset="0"/>
                    <a:cs typeface="Times New Roman" panose="02020603050405020304" pitchFamily="18" charset="0"/>
                  </a:rPr>
                  <a:t>PDA</a:t>
                </a:r>
                <a:r>
                  <a:rPr lang="zh-CN" altLang="en-US" sz="2400" dirty="0"/>
                  <a:t>明确时）</a:t>
                </a:r>
                <a:r>
                  <a:rPr lang="en-AU" altLang="zh-CN" sz="2400" dirty="0"/>
                  <a:t> </a:t>
                </a:r>
                <a:r>
                  <a:rPr lang="zh-CN" altLang="en-US" sz="2400" dirty="0"/>
                  <a:t>记为</a:t>
                </a:r>
              </a:p>
              <a:p>
                <a:pPr marL="0" indent="0" algn="ctr">
                  <a:lnSpc>
                    <a:spcPct val="120000"/>
                  </a:lnSpc>
                  <a:buNone/>
                </a:pPr>
                <a14:m>
                  <m:oMathPara xmlns:m="http://schemas.openxmlformats.org/officeDocument/2006/math">
                    <m:oMathParaPr>
                      <m:jc m:val="centerGroup"/>
                    </m:oMathParaPr>
                    <m:oMath xmlns:m="http://schemas.openxmlformats.org/officeDocument/2006/math">
                      <m:d>
                        <m:dPr>
                          <m:ctrlPr>
                            <a:rPr lang="en-US" altLang="zh-CN" sz="2400" i="1" dirty="0" smtClean="0">
                              <a:latin typeface="Cambria Math" panose="02040503050406030204" pitchFamily="18" charset="0"/>
                            </a:rPr>
                          </m:ctrlPr>
                        </m:dPr>
                        <m:e>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𝑎𝑤</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𝑍</m:t>
                          </m:r>
                          <m:r>
                            <a:rPr lang="el-GR" altLang="zh-CN" sz="2400" i="1" dirty="0" smtClean="0">
                              <a:latin typeface="Cambria Math" panose="02040503050406030204" pitchFamily="18" charset="0"/>
                            </a:rPr>
                            <m:t>𝛼</m:t>
                          </m:r>
                        </m:e>
                      </m:d>
                      <m:r>
                        <a:rPr lang="zh-CN" altLang="en-US" sz="2400" i="1" smtClean="0">
                          <a:latin typeface="Cambria Math" panose="02040503050406030204" pitchFamily="18" charset="0"/>
                        </a:rPr>
                        <m:t>⊢</m:t>
                      </m:r>
                      <m:d>
                        <m:dPr>
                          <m:ctrlPr>
                            <a:rPr lang="en-AU" altLang="zh-CN" sz="2400" i="1" dirty="0" smtClean="0">
                              <a:latin typeface="Cambria Math" panose="02040503050406030204" pitchFamily="18" charset="0"/>
                            </a:rPr>
                          </m:ctrlPr>
                        </m:dPr>
                        <m:e>
                          <m:r>
                            <a:rPr lang="en-AU" altLang="zh-CN" sz="2400" i="1" dirty="0" smtClean="0">
                              <a:latin typeface="Cambria Math" panose="02040503050406030204" pitchFamily="18" charset="0"/>
                            </a:rPr>
                            <m:t>𝑝</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𝛽𝛼</m:t>
                          </m:r>
                        </m:e>
                      </m:d>
                    </m:oMath>
                  </m:oMathPara>
                </a14:m>
                <a:endParaRPr lang="en-AU" altLang="zh-CN"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87926"/>
                <a:ext cx="7775576" cy="4525963"/>
              </a:xfrm>
              <a:blipFill rotWithShape="1">
                <a:blip r:embed="rId2"/>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30</a:t>
            </a:fld>
            <a:endParaRPr lang="en-AU"/>
          </a:p>
        </p:txBody>
      </p:sp>
      <mc:AlternateContent xmlns:mc="http://schemas.openxmlformats.org/markup-compatibility/2006" xmlns:a14="http://schemas.microsoft.com/office/drawing/2010/main">
        <mc:Choice Requires="a14">
          <p:sp>
            <p:nvSpPr>
              <p:cNvPr id="6" name="TextBox 5"/>
              <p:cNvSpPr txBox="1"/>
              <p:nvPr/>
            </p:nvSpPr>
            <p:spPr>
              <a:xfrm>
                <a:off x="911224" y="4234626"/>
                <a:ext cx="7600951" cy="1200329"/>
              </a:xfrm>
              <a:prstGeom prst="rect">
                <a:avLst/>
              </a:prstGeom>
              <a:solidFill>
                <a:schemeClr val="accent4">
                  <a:lumMod val="20000"/>
                  <a:lumOff val="80000"/>
                </a:schemeClr>
              </a:solidFill>
            </p:spPr>
            <p:txBody>
              <a:bodyPr wrap="square">
                <a:spAutoFit/>
              </a:bodyPr>
              <a:lstStyle/>
              <a:p>
                <a:pPr marL="0" indent="0">
                  <a:buNone/>
                </a:pPr>
                <a:r>
                  <a:rPr lang="zh-CN" altLang="en-US" sz="2400" dirty="0">
                    <a:latin typeface="楷体" panose="02010609060101010101" pitchFamily="49" charset="-122"/>
                    <a:ea typeface="楷体" panose="02010609060101010101" pitchFamily="49" charset="-122"/>
                  </a:rPr>
                  <a:t>该动作表示：当前状态为</a:t>
                </a:r>
                <a14:m>
                  <m:oMath xmlns:m="http://schemas.openxmlformats.org/officeDocument/2006/math">
                    <m:r>
                      <a:rPr lang="en-AU" altLang="zh-CN" sz="2400" b="0" i="1" smtClean="0">
                        <a:latin typeface="Cambria Math" panose="02040503050406030204" pitchFamily="18" charset="0"/>
                      </a:rPr>
                      <m:t>𝑞</m:t>
                    </m:r>
                  </m:oMath>
                </a14:m>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从当前符号串</a:t>
                </a:r>
                <a14:m>
                  <m:oMath xmlns:m="http://schemas.openxmlformats.org/officeDocument/2006/math">
                    <m:r>
                      <a:rPr lang="en-AU" altLang="zh-CN" sz="2400" b="0" i="1" smtClean="0">
                        <a:latin typeface="Cambria Math" panose="02040503050406030204" pitchFamily="18" charset="0"/>
                        <a:ea typeface="楷体" panose="02010609060101010101" pitchFamily="49" charset="-122"/>
                      </a:rPr>
                      <m:t>𝑎𝑤</m:t>
                    </m:r>
                  </m:oMath>
                </a14:m>
                <a:r>
                  <a:rPr lang="zh-CN" altLang="en-US" sz="2400" dirty="0">
                    <a:latin typeface="楷体" panose="02010609060101010101" pitchFamily="49" charset="-122"/>
                    <a:ea typeface="楷体" panose="02010609060101010101" pitchFamily="49" charset="-122"/>
                  </a:rPr>
                  <a:t>中消耗符号</a:t>
                </a:r>
                <a14:m>
                  <m:oMath xmlns:m="http://schemas.openxmlformats.org/officeDocument/2006/math">
                    <m:r>
                      <a:rPr lang="en-AU" altLang="zh-CN" sz="2400" b="0" i="1" smtClean="0">
                        <a:latin typeface="Cambria Math" panose="02040503050406030204" pitchFamily="18" charset="0"/>
                      </a:rPr>
                      <m:t>𝑎</m:t>
                    </m:r>
                  </m:oMath>
                </a14:m>
                <a:r>
                  <a:rPr lang="zh-CN" altLang="en-US" sz="2400" dirty="0">
                    <a:latin typeface="楷体" panose="02010609060101010101" pitchFamily="49" charset="-122"/>
                    <a:ea typeface="楷体" panose="02010609060101010101" pitchFamily="49" charset="-122"/>
                  </a:rPr>
                  <a:t>（可为</a:t>
                </a:r>
                <a14:m>
                  <m:oMath xmlns:m="http://schemas.openxmlformats.org/officeDocument/2006/math">
                    <m:r>
                      <a:rPr lang="zh-CN" altLang="en-US" sz="2400" i="1" smtClean="0">
                        <a:latin typeface="Cambria Math" panose="02040503050406030204" pitchFamily="18" charset="0"/>
                        <a:ea typeface="楷体" panose="02010609060101010101" pitchFamily="49" charset="-122"/>
                      </a:rPr>
                      <m:t>𝜀</m:t>
                    </m:r>
                  </m:oMath>
                </a14:m>
                <a:r>
                  <a:rPr lang="zh-CN" altLang="en-US" sz="2400" dirty="0">
                    <a:latin typeface="楷体" panose="02010609060101010101" pitchFamily="49" charset="-122"/>
                    <a:ea typeface="楷体" panose="02010609060101010101" pitchFamily="49" charset="-122"/>
                  </a:rPr>
                  <a:t>）</a:t>
                </a:r>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转移到状态</a:t>
                </a:r>
                <a14:m>
                  <m:oMath xmlns:m="http://schemas.openxmlformats.org/officeDocument/2006/math">
                    <m:r>
                      <a:rPr lang="en-AU" altLang="zh-CN" sz="2400" b="0" i="1" smtClean="0">
                        <a:latin typeface="Cambria Math" panose="02040503050406030204" pitchFamily="18" charset="0"/>
                      </a:rPr>
                      <m:t>𝑝</m:t>
                    </m:r>
                  </m:oMath>
                </a14:m>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同时用</a:t>
                </a:r>
                <a14:m>
                  <m:oMath xmlns:m="http://schemas.openxmlformats.org/officeDocument/2006/math">
                    <m:r>
                      <a:rPr lang="zh-CN" altLang="en-US" sz="2400" i="1" smtClean="0">
                        <a:latin typeface="Cambria Math" panose="02040503050406030204" pitchFamily="18" charset="0"/>
                      </a:rPr>
                      <m:t>𝛽</m:t>
                    </m:r>
                  </m:oMath>
                </a14:m>
                <a:r>
                  <a:rPr lang="zh-CN" altLang="en-US" sz="2400" dirty="0">
                    <a:latin typeface="楷体" panose="02010609060101010101" pitchFamily="49" charset="-122"/>
                    <a:ea typeface="楷体" panose="02010609060101010101" pitchFamily="49" charset="-122"/>
                  </a:rPr>
                  <a:t>替换栈顶的</a:t>
                </a:r>
                <a14:m>
                  <m:oMath xmlns:m="http://schemas.openxmlformats.org/officeDocument/2006/math">
                    <m:r>
                      <a:rPr lang="en-AU" altLang="zh-CN" sz="2400" b="0" i="1" smtClean="0">
                        <a:latin typeface="Cambria Math" panose="02040503050406030204" pitchFamily="18" charset="0"/>
                      </a:rPr>
                      <m:t>𝑍</m:t>
                    </m:r>
                  </m:oMath>
                </a14:m>
                <a:r>
                  <a:rPr lang="zh-CN" altLang="en-US" sz="2400" dirty="0">
                    <a:latin typeface="楷体" panose="02010609060101010101" pitchFamily="49" charset="-122"/>
                    <a:ea typeface="楷体" panose="02010609060101010101" pitchFamily="49" charset="-122"/>
                  </a:rPr>
                  <a:t>，余下符号串</a:t>
                </a:r>
                <a14:m>
                  <m:oMath xmlns:m="http://schemas.openxmlformats.org/officeDocument/2006/math">
                    <m:r>
                      <a:rPr lang="en-AU" altLang="zh-CN" sz="2400" i="1" dirty="0" smtClean="0">
                        <a:latin typeface="Cambria Math" panose="02040503050406030204" pitchFamily="18" charset="0"/>
                        <a:ea typeface="楷体" panose="02010609060101010101" pitchFamily="49" charset="-122"/>
                      </a:rPr>
                      <m:t>𝑤</m:t>
                    </m:r>
                  </m:oMath>
                </a14:m>
                <a:r>
                  <a:rPr lang="zh-CN" altLang="en-US" sz="2400" dirty="0">
                    <a:latin typeface="楷体" panose="02010609060101010101" pitchFamily="49" charset="-122"/>
                    <a:ea typeface="楷体" panose="02010609060101010101" pitchFamily="49" charset="-122"/>
                  </a:rPr>
                  <a:t>。</a:t>
                </a:r>
                <a:endParaRPr lang="en-AU" altLang="zh-CN" sz="2400" dirty="0">
                  <a:latin typeface="楷体" panose="02010609060101010101" pitchFamily="49" charset="-122"/>
                  <a:ea typeface="楷体" panose="02010609060101010101" pitchFamily="49"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11224" y="4234626"/>
                <a:ext cx="7600951" cy="1200329"/>
              </a:xfrm>
              <a:prstGeom prst="rect">
                <a:avLst/>
              </a:prstGeom>
              <a:blipFill rotWithShape="1">
                <a:blip r:embed="rId3"/>
                <a:stretch>
                  <a:fillRect l="-8" t="-37" b="52"/>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转移符号（扩展的状态转移函数）</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30822" y="1211076"/>
                <a:ext cx="7760825" cy="4525963"/>
              </a:xfrm>
            </p:spPr>
            <p:txBody>
              <a:bodyPr>
                <a:normAutofit/>
              </a:bodyPr>
              <a:lstStyle/>
              <a:p>
                <a:pPr>
                  <a:lnSpc>
                    <a:spcPct val="120000"/>
                  </a:lnSpc>
                </a:pPr>
                <a:r>
                  <a:rPr lang="zh-CN" altLang="en-US" sz="2400" dirty="0"/>
                  <a:t>定义：在</a:t>
                </a:r>
                <a:r>
                  <a:rPr lang="en-AU" altLang="zh-CN" sz="2400" dirty="0">
                    <a:latin typeface="Times New Roman" panose="02020603050405020304" pitchFamily="18" charset="0"/>
                    <a:cs typeface="Times New Roman" panose="02020603050405020304" pitchFamily="18" charset="0"/>
                  </a:rPr>
                  <a:t>PDA</a:t>
                </a:r>
                <a:r>
                  <a:rPr lang="zh-CN" altLang="en-US" sz="2400" dirty="0"/>
                  <a:t>的一个动作下，由</a:t>
                </a:r>
                <a:r>
                  <a:rPr lang="en-AU" altLang="zh-CN" sz="2400" dirty="0">
                    <a:latin typeface="Times New Roman" panose="02020603050405020304" pitchFamily="18" charset="0"/>
                    <a:cs typeface="Times New Roman" panose="02020603050405020304" pitchFamily="18" charset="0"/>
                  </a:rPr>
                  <a:t>ID</a:t>
                </a:r>
                <a:r>
                  <a:rPr lang="en-AU" altLang="zh-CN" sz="2400" dirty="0"/>
                  <a:t> </a:t>
                </a:r>
                <a14:m>
                  <m:oMath xmlns:m="http://schemas.openxmlformats.org/officeDocument/2006/math">
                    <m:r>
                      <a:rPr lang="en-US" altLang="zh-CN" sz="2400" i="1" dirty="0" smtClean="0">
                        <a:latin typeface="Cambria Math" panose="02040503050406030204" pitchFamily="18" charset="0"/>
                      </a:rPr>
                      <m:t>𝐼</m:t>
                    </m:r>
                  </m:oMath>
                </a14:m>
                <a:r>
                  <a:rPr lang="zh-CN" altLang="en-US" sz="2400" dirty="0"/>
                  <a:t>到</a:t>
                </a:r>
                <a:r>
                  <a:rPr lang="en-AU" altLang="zh-CN" sz="2400" dirty="0">
                    <a:latin typeface="Times New Roman" panose="02020603050405020304" pitchFamily="18" charset="0"/>
                    <a:cs typeface="Times New Roman" panose="02020603050405020304" pitchFamily="18" charset="0"/>
                  </a:rPr>
                  <a:t>ID</a:t>
                </a:r>
                <a:r>
                  <a:rPr lang="en-AU" altLang="zh-CN" sz="2400" dirty="0"/>
                  <a:t> </a:t>
                </a:r>
                <a14:m>
                  <m:oMath xmlns:m="http://schemas.openxmlformats.org/officeDocument/2006/math">
                    <m:r>
                      <a:rPr lang="en-AU" altLang="zh-CN" sz="2400" i="1" dirty="0" smtClean="0">
                        <a:latin typeface="Cambria Math" panose="02040503050406030204" pitchFamily="18" charset="0"/>
                      </a:rPr>
                      <m:t>𝐽</m:t>
                    </m:r>
                  </m:oMath>
                </a14:m>
                <a:r>
                  <a:rPr lang="zh-CN" altLang="en-US" sz="2400" dirty="0"/>
                  <a:t>的变化，称为</a:t>
                </a:r>
                <a:r>
                  <a:rPr lang="en-AU" altLang="zh-CN" sz="2400" dirty="0">
                    <a:latin typeface="Times New Roman" panose="02020603050405020304" pitchFamily="18" charset="0"/>
                    <a:cs typeface="Times New Roman" panose="02020603050405020304" pitchFamily="18" charset="0"/>
                  </a:rPr>
                  <a:t>ID</a:t>
                </a:r>
                <a:r>
                  <a:rPr lang="zh-CN" altLang="en-US" sz="2400" dirty="0"/>
                  <a:t>的转移。具体的，如果 </a:t>
                </a:r>
                <a14:m>
                  <m:oMath xmlns:m="http://schemas.openxmlformats.org/officeDocument/2006/math">
                    <m:r>
                      <a:rPr lang="en-US" altLang="zh-CN" sz="2400" i="1" dirty="0" smtClean="0">
                        <a:latin typeface="Cambria Math" panose="02040503050406030204" pitchFamily="18" charset="0"/>
                      </a:rPr>
                      <m:t>(</m:t>
                    </m:r>
                    <m:r>
                      <a:rPr lang="en-AU" altLang="zh-CN" sz="2400" i="1" dirty="0" smtClean="0">
                        <a:latin typeface="Cambria Math" panose="02040503050406030204" pitchFamily="18" charset="0"/>
                      </a:rPr>
                      <m:t>𝑝</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m:t>
                    </m:r>
                    <m:r>
                      <a:rPr lang="el-GR" altLang="zh-CN" sz="2400" i="1" dirty="0" smtClean="0">
                        <a:latin typeface="Cambria Math" panose="02040503050406030204" pitchFamily="18" charset="0"/>
                      </a:rPr>
                      <m:t>) ∈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𝑎</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𝑍</m:t>
                    </m:r>
                  </m:oMath>
                </a14:m>
                <a:r>
                  <a:rPr lang="en-AU" altLang="zh-CN" sz="2400" dirty="0"/>
                  <a:t>), </a:t>
                </a:r>
                <a:r>
                  <a:rPr lang="zh-CN" altLang="en-US" sz="2400" dirty="0"/>
                  <a:t>由 </a:t>
                </a:r>
                <a14:m>
                  <m:oMath xmlns:m="http://schemas.openxmlformats.org/officeDocument/2006/math">
                    <m:r>
                      <a:rPr lang="en-US"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𝑎𝑤</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𝑍</m:t>
                    </m:r>
                    <m:r>
                      <a:rPr lang="el-GR" altLang="zh-CN" sz="2400" i="1" dirty="0" smtClean="0">
                        <a:latin typeface="Cambria Math" panose="02040503050406030204" pitchFamily="18" charset="0"/>
                      </a:rPr>
                      <m:t>𝛼</m:t>
                    </m:r>
                    <m:r>
                      <a:rPr lang="el-GR" altLang="zh-CN" sz="2400" i="1" dirty="0" smtClean="0">
                        <a:latin typeface="Cambria Math" panose="02040503050406030204" pitchFamily="18" charset="0"/>
                      </a:rPr>
                      <m:t>)</m:t>
                    </m:r>
                  </m:oMath>
                </a14:m>
                <a:r>
                  <a:rPr lang="el-GR" altLang="zh-CN" sz="2400" dirty="0"/>
                  <a:t> </a:t>
                </a:r>
                <a:r>
                  <a:rPr lang="zh-CN" altLang="en-US" sz="2400" dirty="0"/>
                  <a:t>到 </a:t>
                </a:r>
                <a14:m>
                  <m:oMath xmlns:m="http://schemas.openxmlformats.org/officeDocument/2006/math">
                    <m:r>
                      <a:rPr lang="en-US" altLang="zh-CN" sz="2400" i="1" dirty="0" smtClean="0">
                        <a:latin typeface="Cambria Math" panose="02040503050406030204" pitchFamily="18" charset="0"/>
                      </a:rPr>
                      <m:t>(</m:t>
                    </m:r>
                    <m:r>
                      <a:rPr lang="en-AU" altLang="zh-CN" sz="2400" i="1" dirty="0" smtClean="0">
                        <a:latin typeface="Cambria Math" panose="02040503050406030204" pitchFamily="18" charset="0"/>
                      </a:rPr>
                      <m:t>𝑝</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𝛽𝛼</m:t>
                    </m:r>
                    <m:r>
                      <a:rPr lang="el-GR" altLang="zh-CN" sz="2400" i="1" dirty="0" smtClean="0">
                        <a:latin typeface="Cambria Math" panose="02040503050406030204" pitchFamily="18" charset="0"/>
                      </a:rPr>
                      <m:t>) </m:t>
                    </m:r>
                  </m:oMath>
                </a14:m>
                <a:r>
                  <a:rPr lang="zh-CN" altLang="en-US" sz="2400" dirty="0"/>
                  <a:t>的变化</a:t>
                </a:r>
                <a:r>
                  <a:rPr lang="en-US" altLang="zh-CN" sz="2400" dirty="0"/>
                  <a:t>, </a:t>
                </a:r>
                <a:r>
                  <a:rPr lang="zh-CN" altLang="en-US" sz="2400" dirty="0"/>
                  <a:t>称为</a:t>
                </a:r>
                <a:r>
                  <a:rPr lang="en-AU" altLang="zh-CN" sz="2400" dirty="0">
                    <a:latin typeface="Times New Roman" panose="02020603050405020304" pitchFamily="18" charset="0"/>
                    <a:cs typeface="Times New Roman" panose="02020603050405020304" pitchFamily="18" charset="0"/>
                  </a:rPr>
                  <a:t>ID</a:t>
                </a:r>
                <a:r>
                  <a:rPr lang="zh-CN" altLang="en-US" sz="2400" dirty="0"/>
                  <a:t>的转移</a:t>
                </a:r>
                <a14:m>
                  <m:oMath xmlns:m="http://schemas.openxmlformats.org/officeDocument/2006/math">
                    <m:r>
                      <a:rPr lang="zh-CN" altLang="en-US" sz="2400" i="1" smtClean="0">
                        <a:latin typeface="Cambria Math" panose="02040503050406030204" pitchFamily="18" charset="0"/>
                      </a:rPr>
                      <m:t>⊢</m:t>
                    </m:r>
                  </m:oMath>
                </a14:m>
                <a:r>
                  <a:rPr lang="en-AU" altLang="zh-CN" sz="2400" baseline="-25000" dirty="0"/>
                  <a:t>P</a:t>
                </a:r>
                <a:r>
                  <a:rPr lang="en-AU" altLang="zh-CN" sz="2400" dirty="0"/>
                  <a:t>,</a:t>
                </a:r>
                <a:r>
                  <a:rPr lang="zh-CN" altLang="en-US" sz="2400" dirty="0"/>
                  <a:t>或者</a:t>
                </a:r>
                <a14:m>
                  <m:oMath xmlns:m="http://schemas.openxmlformats.org/officeDocument/2006/math">
                    <m:r>
                      <a:rPr lang="zh-CN" altLang="en-US" sz="2400" i="1">
                        <a:latin typeface="Cambria Math" panose="02040503050406030204" pitchFamily="18" charset="0"/>
                      </a:rPr>
                      <m:t>⊢</m:t>
                    </m:r>
                  </m:oMath>
                </a14:m>
                <a:r>
                  <a:rPr lang="zh-CN" altLang="en-US" sz="2400" dirty="0"/>
                  <a:t>（当所指</a:t>
                </a:r>
                <a:r>
                  <a:rPr lang="en-AU" altLang="zh-CN" sz="2400" dirty="0">
                    <a:latin typeface="Times New Roman" panose="02020603050405020304" pitchFamily="18" charset="0"/>
                    <a:cs typeface="Times New Roman" panose="02020603050405020304" pitchFamily="18" charset="0"/>
                  </a:rPr>
                  <a:t>PDA</a:t>
                </a:r>
                <a:r>
                  <a:rPr lang="zh-CN" altLang="en-US" sz="2400" dirty="0"/>
                  <a:t>明确时）</a:t>
                </a:r>
                <a:r>
                  <a:rPr lang="en-AU" altLang="zh-CN" sz="2400" dirty="0"/>
                  <a:t> </a:t>
                </a:r>
                <a:r>
                  <a:rPr lang="zh-CN" altLang="en-US" sz="2400" dirty="0"/>
                  <a:t>记为</a:t>
                </a:r>
              </a:p>
              <a:p>
                <a:pPr marL="0" indent="0" algn="ctr">
                  <a:lnSpc>
                    <a:spcPct val="120000"/>
                  </a:lnSpc>
                  <a:buNone/>
                </a:pPr>
                <a14:m>
                  <m:oMathPara xmlns:m="http://schemas.openxmlformats.org/officeDocument/2006/math">
                    <m:oMathParaPr>
                      <m:jc m:val="centerGroup"/>
                    </m:oMathParaPr>
                    <m:oMath xmlns:m="http://schemas.openxmlformats.org/officeDocument/2006/math">
                      <m:d>
                        <m:dPr>
                          <m:ctrlPr>
                            <a:rPr lang="en-US" altLang="zh-CN" sz="2400" i="1" dirty="0" smtClean="0">
                              <a:latin typeface="Cambria Math" panose="02040503050406030204" pitchFamily="18" charset="0"/>
                            </a:rPr>
                          </m:ctrlPr>
                        </m:dPr>
                        <m:e>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𝑎𝑤</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𝑍</m:t>
                          </m:r>
                          <m:r>
                            <a:rPr lang="el-GR" altLang="zh-CN" sz="2400" i="1" dirty="0" smtClean="0">
                              <a:latin typeface="Cambria Math" panose="02040503050406030204" pitchFamily="18" charset="0"/>
                            </a:rPr>
                            <m:t>𝛼</m:t>
                          </m:r>
                        </m:e>
                      </m:d>
                      <m:r>
                        <a:rPr lang="zh-CN" altLang="en-US" sz="2400" i="1" smtClean="0">
                          <a:latin typeface="Cambria Math" panose="02040503050406030204" pitchFamily="18" charset="0"/>
                        </a:rPr>
                        <m:t>⊢</m:t>
                      </m:r>
                      <m:d>
                        <m:dPr>
                          <m:ctrlPr>
                            <a:rPr lang="en-AU" altLang="zh-CN" sz="2400" i="1" dirty="0" smtClean="0">
                              <a:latin typeface="Cambria Math" panose="02040503050406030204" pitchFamily="18" charset="0"/>
                            </a:rPr>
                          </m:ctrlPr>
                        </m:dPr>
                        <m:e>
                          <m:r>
                            <a:rPr lang="en-AU" altLang="zh-CN" sz="2400" i="1" dirty="0" smtClean="0">
                              <a:latin typeface="Cambria Math" panose="02040503050406030204" pitchFamily="18" charset="0"/>
                            </a:rPr>
                            <m:t>𝑝</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𝛽𝛼</m:t>
                          </m:r>
                        </m:e>
                      </m:d>
                    </m:oMath>
                  </m:oMathPara>
                </a14:m>
                <a:endParaRPr lang="en-AU" altLang="zh-CN" sz="2400" dirty="0"/>
              </a:p>
              <a:p>
                <a:pPr>
                  <a:lnSpc>
                    <a:spcPct val="120000"/>
                  </a:lnSpc>
                </a:pPr>
                <a:r>
                  <a:rPr lang="zh-CN" altLang="en-US" sz="2400" dirty="0"/>
                  <a:t>扩展</a:t>
                </a:r>
                <a14:m>
                  <m:oMath xmlns:m="http://schemas.openxmlformats.org/officeDocument/2006/math">
                    <m:r>
                      <a:rPr lang="zh-CN" altLang="en-US" sz="2400" i="1">
                        <a:latin typeface="Cambria Math" panose="02040503050406030204" pitchFamily="18" charset="0"/>
                      </a:rPr>
                      <m:t>⊢</m:t>
                    </m:r>
                  </m:oMath>
                </a14:m>
                <a:r>
                  <a:rPr lang="zh-CN" altLang="en-US" sz="2400" dirty="0"/>
                  <a:t>到</a:t>
                </a:r>
                <a14:m>
                  <m:oMath xmlns:m="http://schemas.openxmlformats.org/officeDocument/2006/math">
                    <m:r>
                      <a:rPr lang="zh-CN" altLang="en-US" sz="2400" i="1">
                        <a:latin typeface="Cambria Math" panose="02040503050406030204" pitchFamily="18" charset="0"/>
                      </a:rPr>
                      <m:t>⊢</m:t>
                    </m:r>
                  </m:oMath>
                </a14:m>
                <a:r>
                  <a:rPr lang="en-AU" sz="2400" dirty="0"/>
                  <a:t>*</a:t>
                </a:r>
                <a:r>
                  <a:rPr lang="zh-CN" altLang="en-US" sz="2400" dirty="0"/>
                  <a:t>，表示经过零个或多个动作进行转移</a:t>
                </a:r>
                <a:endParaRPr lang="en-AU" altLang="zh-CN" sz="2400" dirty="0"/>
              </a:p>
              <a:p>
                <a:pPr lvl="1">
                  <a:lnSpc>
                    <a:spcPct val="120000"/>
                  </a:lnSpc>
                </a:pPr>
                <a:r>
                  <a:rPr lang="zh-CN" altLang="en-US" sz="2400" dirty="0"/>
                  <a:t>基础</a:t>
                </a:r>
                <a:r>
                  <a:rPr lang="en-AU" altLang="zh-CN" sz="2400" dirty="0"/>
                  <a:t>:</a:t>
                </a:r>
                <a:r>
                  <a:rPr lang="zh-CN" altLang="en-US" sz="2400" dirty="0"/>
                  <a:t> </a:t>
                </a:r>
                <a14:m>
                  <m:oMath xmlns:m="http://schemas.openxmlformats.org/officeDocument/2006/math">
                    <m:r>
                      <a:rPr lang="en-US" altLang="zh-CN" sz="2400" i="1" dirty="0">
                        <a:latin typeface="Cambria Math" panose="02040503050406030204" pitchFamily="18" charset="0"/>
                      </a:rPr>
                      <m:t>𝐼</m:t>
                    </m:r>
                    <m:r>
                      <a:rPr lang="en-US" altLang="zh-CN" sz="2400" i="1" dirty="0">
                        <a:latin typeface="Cambria Math" panose="02040503050406030204" pitchFamily="18" charset="0"/>
                      </a:rPr>
                      <m:t>⊢</m:t>
                    </m:r>
                  </m:oMath>
                </a14:m>
                <a:r>
                  <a:rPr lang="en-AU" sz="2400" dirty="0"/>
                  <a:t>* </a:t>
                </a:r>
                <a14:m>
                  <m:oMath xmlns:m="http://schemas.openxmlformats.org/officeDocument/2006/math">
                    <m:r>
                      <a:rPr lang="en-AU" sz="2400" b="0" i="1" smtClean="0">
                        <a:latin typeface="Cambria Math" panose="02040503050406030204" pitchFamily="18" charset="0"/>
                      </a:rPr>
                      <m:t>𝐼</m:t>
                    </m:r>
                  </m:oMath>
                </a14:m>
                <a:endParaRPr lang="en-AU" sz="2400" dirty="0"/>
              </a:p>
              <a:p>
                <a:pPr lvl="1">
                  <a:lnSpc>
                    <a:spcPct val="120000"/>
                  </a:lnSpc>
                </a:pPr>
                <a:r>
                  <a:rPr lang="zh-CN" altLang="en-US" sz="2400" dirty="0"/>
                  <a:t>递推：若</a:t>
                </a:r>
                <a14:m>
                  <m:oMath xmlns:m="http://schemas.openxmlformats.org/officeDocument/2006/math">
                    <m:r>
                      <a:rPr lang="en-US" altLang="zh-CN" sz="2400" i="1" dirty="0" smtClean="0">
                        <a:latin typeface="Cambria Math" panose="02040503050406030204" pitchFamily="18" charset="0"/>
                      </a:rPr>
                      <m:t>𝐼</m:t>
                    </m:r>
                    <m:r>
                      <a:rPr lang="en-US" altLang="zh-CN" sz="2400" i="1" dirty="0" smtClean="0">
                        <a:latin typeface="Cambria Math" panose="02040503050406030204" pitchFamily="18" charset="0"/>
                      </a:rPr>
                      <m:t>⊢</m:t>
                    </m:r>
                    <m:r>
                      <a:rPr lang="en-AU" altLang="zh-CN" sz="2400" b="0" i="1" dirty="0" smtClean="0">
                        <a:latin typeface="Cambria Math" panose="02040503050406030204" pitchFamily="18" charset="0"/>
                      </a:rPr>
                      <m:t>𝐽</m:t>
                    </m:r>
                  </m:oMath>
                </a14:m>
                <a:r>
                  <a:rPr lang="en-AU" sz="2400" dirty="0"/>
                  <a:t>,</a:t>
                </a:r>
                <a:r>
                  <a:rPr lang="en-AU" altLang="zh-CN" sz="2400" dirty="0"/>
                  <a:t> </a:t>
                </a:r>
                <a14:m>
                  <m:oMath xmlns:m="http://schemas.openxmlformats.org/officeDocument/2006/math">
                    <m:r>
                      <a:rPr lang="en-AU" altLang="zh-CN" sz="2400" i="1" dirty="0">
                        <a:latin typeface="Cambria Math" panose="02040503050406030204" pitchFamily="18" charset="0"/>
                      </a:rPr>
                      <m:t>𝐽</m:t>
                    </m:r>
                    <m:r>
                      <a:rPr lang="en-US" altLang="zh-CN" sz="2400" i="1" dirty="0">
                        <a:latin typeface="Cambria Math" panose="02040503050406030204" pitchFamily="18" charset="0"/>
                      </a:rPr>
                      <m:t>⊢</m:t>
                    </m:r>
                  </m:oMath>
                </a14:m>
                <a:r>
                  <a:rPr lang="en-AU" altLang="zh-CN" sz="2400" dirty="0"/>
                  <a:t>* </a:t>
                </a:r>
                <a14:m>
                  <m:oMath xmlns:m="http://schemas.openxmlformats.org/officeDocument/2006/math">
                    <m:r>
                      <a:rPr lang="en-AU" sz="2400" i="1" dirty="0">
                        <a:latin typeface="Cambria Math" panose="02040503050406030204" pitchFamily="18" charset="0"/>
                      </a:rPr>
                      <m:t>𝐾</m:t>
                    </m:r>
                    <m:r>
                      <a:rPr lang="en-AU" sz="2400" i="1" dirty="0">
                        <a:latin typeface="Cambria Math" panose="02040503050406030204" pitchFamily="18" charset="0"/>
                      </a:rPr>
                      <m:t> </m:t>
                    </m:r>
                  </m:oMath>
                </a14:m>
                <a:r>
                  <a:rPr lang="zh-CN" altLang="en-US" sz="2400" dirty="0"/>
                  <a:t>，则</a:t>
                </a:r>
                <a14:m>
                  <m:oMath xmlns:m="http://schemas.openxmlformats.org/officeDocument/2006/math">
                    <m:r>
                      <a:rPr lang="en-US" altLang="zh-CN" sz="2400" i="1" dirty="0">
                        <a:latin typeface="Cambria Math" panose="02040503050406030204" pitchFamily="18" charset="0"/>
                      </a:rPr>
                      <m:t>𝐼</m:t>
                    </m:r>
                    <m:r>
                      <a:rPr lang="zh-CN" altLang="en-US" sz="2400" i="1" smtClean="0">
                        <a:latin typeface="Cambria Math" panose="02040503050406030204" pitchFamily="18" charset="0"/>
                      </a:rPr>
                      <m:t>⊢</m:t>
                    </m:r>
                  </m:oMath>
                </a14:m>
                <a:r>
                  <a:rPr lang="en-AU" sz="2400" dirty="0"/>
                  <a:t>* </a:t>
                </a:r>
                <a14:m>
                  <m:oMath xmlns:m="http://schemas.openxmlformats.org/officeDocument/2006/math">
                    <m:r>
                      <a:rPr lang="en-AU" sz="2400" i="1" dirty="0" smtClean="0">
                        <a:latin typeface="Cambria Math" panose="02040503050406030204" pitchFamily="18" charset="0"/>
                      </a:rPr>
                      <m:t>𝐾</m:t>
                    </m:r>
                  </m:oMath>
                </a14:m>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30822" y="1211076"/>
                <a:ext cx="7760825" cy="4525963"/>
              </a:xfrm>
              <a:blipFill rotWithShape="1">
                <a:blip r:embed="rId2"/>
                <a:stretch>
                  <a:fillRect l="-3" t="-3" r="2" b="1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31</a:t>
            </a:fld>
            <a:endParaRPr lang="en-AU"/>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转移示例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16000"/>
                <a:ext cx="8229600" cy="4525963"/>
              </a:xfrm>
            </p:spPr>
            <p:txBody>
              <a:bodyPr>
                <a:normAutofit/>
              </a:bodyPr>
              <a:lstStyle/>
              <a:p>
                <a:r>
                  <a:rPr lang="zh-CN" altLang="en-US" dirty="0"/>
                  <a:t>例</a:t>
                </a:r>
                <a:r>
                  <a:rPr lang="en-AU" altLang="zh-CN" dirty="0"/>
                  <a:t>:</a:t>
                </a:r>
                <a:r>
                  <a:rPr lang="zh-CN" altLang="en-US" dirty="0"/>
                  <a:t>语言 </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01</m:t>
                        </m:r>
                      </m:sub>
                    </m:sSub>
                    <m:r>
                      <a:rPr lang="en-AU" altLang="zh-CN" b="0" i="1" smtClean="0">
                        <a:latin typeface="Cambria Math" panose="02040503050406030204" pitchFamily="18" charset="0"/>
                      </a:rPr>
                      <m:t>={</m:t>
                    </m:r>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𝑛</m:t>
                        </m:r>
                      </m:sup>
                    </m:sSup>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1</m:t>
                        </m:r>
                      </m:e>
                      <m:sup>
                        <m:r>
                          <a:rPr lang="en-AU" altLang="zh-CN" b="0" i="1" smtClean="0">
                            <a:latin typeface="Cambria Math" panose="02040503050406030204" pitchFamily="18" charset="0"/>
                          </a:rPr>
                          <m:t>𝑛</m:t>
                        </m:r>
                      </m:sup>
                    </m:sSup>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ea typeface="Cambria Math" panose="02040503050406030204" pitchFamily="18" charset="0"/>
                      </a:rPr>
                      <m:t>≥1</m:t>
                    </m:r>
                    <m:r>
                      <a:rPr lang="en-AU" altLang="zh-CN" b="0" i="1" smtClean="0">
                        <a:latin typeface="Cambria Math" panose="02040503050406030204" pitchFamily="18" charset="0"/>
                      </a:rPr>
                      <m:t>}</m:t>
                    </m:r>
                  </m:oMath>
                </a14:m>
                <a:r>
                  <a:rPr lang="zh-CN" altLang="en-US" dirty="0"/>
                  <a:t>的</a:t>
                </a:r>
                <a:r>
                  <a:rPr lang="en-AU" altLang="zh-CN" dirty="0">
                    <a:latin typeface="Times New Roman" panose="02020603050405020304" pitchFamily="18" charset="0"/>
                    <a:cs typeface="Times New Roman" panose="02020603050405020304" pitchFamily="18" charset="0"/>
                  </a:rPr>
                  <a:t>PDA</a:t>
                </a:r>
                <a:r>
                  <a:rPr lang="en-AU" altLang="zh-CN" dirty="0"/>
                  <a:t>, </a:t>
                </a:r>
                <a:r>
                  <a:rPr lang="zh-CN" altLang="en-US" dirty="0"/>
                  <a:t>识别 </a:t>
                </a:r>
                <a:r>
                  <a:rPr lang="en-US" altLang="zh-CN" dirty="0"/>
                  <a:t>000111</a:t>
                </a:r>
                <a:r>
                  <a:rPr lang="zh-CN" altLang="en-US" dirty="0"/>
                  <a:t>时的</a:t>
                </a:r>
                <a:r>
                  <a:rPr lang="en-AU" altLang="zh-CN" dirty="0">
                    <a:latin typeface="Times New Roman" panose="02020603050405020304" pitchFamily="18" charset="0"/>
                    <a:cs typeface="Times New Roman" panose="02020603050405020304" pitchFamily="18" charset="0"/>
                  </a:rPr>
                  <a:t>ID</a:t>
                </a:r>
                <a:r>
                  <a:rPr lang="zh-CN" altLang="en-US" dirty="0"/>
                  <a:t>序列。</a:t>
                </a:r>
                <a:endParaRPr lang="en-AU" altLang="zh-CN" dirty="0"/>
              </a:p>
              <a:p>
                <a:pPr marL="0" indent="0">
                  <a:buNone/>
                </a:pPr>
                <a:endParaRPr lang="en-AU" altLang="en-US" sz="2400" dirty="0"/>
              </a:p>
              <a:p>
                <a:pPr marL="0" indent="0">
                  <a:buNone/>
                </a:pPr>
                <a:endParaRPr lang="en-AU" altLang="en-US" sz="2400" dirty="0"/>
              </a:p>
              <a:p>
                <a:pPr marL="0" indent="0">
                  <a:buNone/>
                </a:pPr>
                <a:endParaRPr lang="en-AU" altLang="en-US" sz="2400" dirty="0"/>
              </a:p>
              <a:p>
                <a:pPr marL="0" indent="0">
                  <a:buNone/>
                </a:pPr>
                <a:endParaRPr lang="en-AU" altLang="en-US" sz="2400" dirty="0"/>
              </a:p>
              <a:p>
                <a:pPr marL="0" indent="0">
                  <a:buNone/>
                </a:pPr>
                <a:endParaRPr lang="en-US" altLang="en-US" dirty="0"/>
              </a:p>
              <a:p>
                <a:pPr marL="0" indent="0">
                  <a:buNone/>
                </a:pPr>
                <a:endParaRPr lang="en-AU" altLang="en-US" i="1" dirty="0">
                  <a:latin typeface="Cambria Math" panose="02040503050406030204" pitchFamily="18" charset="0"/>
                </a:endParaRPr>
              </a:p>
              <a:p>
                <a:pPr marL="0" indent="0">
                  <a:buNone/>
                </a:pP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16000"/>
                <a:ext cx="8229600" cy="4525963"/>
              </a:xfrm>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32</a:t>
            </a:fld>
            <a:endParaRPr lang="en-AU"/>
          </a:p>
        </p:txBody>
      </p:sp>
      <mc:AlternateContent xmlns:mc="http://schemas.openxmlformats.org/markup-compatibility/2006" xmlns:a14="http://schemas.microsoft.com/office/drawing/2010/main">
        <mc:Choice Requires="a14">
          <p:sp>
            <p:nvSpPr>
              <p:cNvPr id="6" name="TextBox 5"/>
              <p:cNvSpPr txBox="1"/>
              <p:nvPr/>
            </p:nvSpPr>
            <p:spPr>
              <a:xfrm>
                <a:off x="962798" y="2188269"/>
                <a:ext cx="4572000" cy="353943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smtClean="0">
                                  <a:latin typeface="Cambria Math" panose="02040503050406030204" pitchFamily="18" charset="0"/>
                                </a:rPr>
                              </m:ctrlPr>
                            </m:sSubPr>
                            <m:e>
                              <m:r>
                                <a:rPr lang="en-AU" altLang="en-US" sz="2800" b="0" i="1" dirty="0" smtClean="0">
                                  <a:latin typeface="Cambria Math" panose="02040503050406030204" pitchFamily="18" charset="0"/>
                                </a:rPr>
                                <m:t>𝑞</m:t>
                              </m:r>
                            </m:e>
                            <m:sub>
                              <m:r>
                                <a:rPr lang="en-AU" altLang="en-US" sz="2800" b="0" i="1" dirty="0" smtClean="0">
                                  <a:latin typeface="Cambria Math" panose="02040503050406030204" pitchFamily="18" charset="0"/>
                                </a:rPr>
                                <m:t>0</m:t>
                              </m:r>
                            </m:sub>
                          </m:sSub>
                          <m:r>
                            <a:rPr lang="en-US" altLang="en-US" sz="2800" i="1" dirty="0" smtClean="0">
                              <a:latin typeface="Cambria Math" panose="02040503050406030204" pitchFamily="18" charset="0"/>
                            </a:rPr>
                            <m:t>, 000111,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00111, 0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US" altLang="en-US" sz="2800" i="1" dirty="0" smtClean="0">
                              <a:latin typeface="Cambria Math" panose="02040503050406030204" pitchFamily="18" charset="0"/>
                            </a:rPr>
                            <m:t>0111, </m:t>
                          </m:r>
                          <m:r>
                            <a:rPr lang="en-AU" altLang="en-US" sz="2800" b="0" i="1" dirty="0" smtClean="0">
                              <a:latin typeface="Cambria Math" panose="02040503050406030204" pitchFamily="18" charset="0"/>
                            </a:rPr>
                            <m:t>00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AU" altLang="en-US" sz="2800" b="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AU" altLang="en-US" sz="2800" b="0" i="1" dirty="0" smtClean="0">
                          <a:latin typeface="Cambria Math" panose="02040503050406030204" pitchFamily="18" charset="0"/>
                        </a:rPr>
                        <m:t>,111,000</m:t>
                      </m:r>
                      <m:sSub>
                        <m:sSubPr>
                          <m:ctrlPr>
                            <a:rPr lang="en-AU" altLang="en-US" sz="2800" b="0" i="1" dirty="0" smtClean="0">
                              <a:latin typeface="Cambria Math" panose="02040503050406030204" pitchFamily="18" charset="0"/>
                            </a:rPr>
                          </m:ctrlPr>
                        </m:sSubPr>
                        <m:e>
                          <m:r>
                            <a:rPr lang="en-AU" altLang="en-US" sz="2800" b="0" i="1" dirty="0" smtClean="0">
                              <a:latin typeface="Cambria Math" panose="02040503050406030204" pitchFamily="18" charset="0"/>
                            </a:rPr>
                            <m:t>𝑍</m:t>
                          </m:r>
                        </m:e>
                        <m:sub>
                          <m:r>
                            <a:rPr lang="en-AU" altLang="en-US" sz="2800" b="0" i="1" dirty="0" smtClean="0">
                              <a:latin typeface="Cambria Math" panose="02040503050406030204" pitchFamily="18" charset="0"/>
                            </a:rPr>
                            <m:t>0</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US" altLang="en-US" sz="2800" i="1" dirty="0" smtClean="0">
                          <a:latin typeface="Cambria Math" panose="02040503050406030204" pitchFamily="18" charset="0"/>
                        </a:rPr>
                        <m:t>, 11, </m:t>
                      </m:r>
                      <m:r>
                        <a:rPr lang="en-AU" altLang="en-US" sz="2800" b="0" i="1" dirty="0" smtClean="0">
                          <a:latin typeface="Cambria Math" panose="02040503050406030204" pitchFamily="18" charset="0"/>
                        </a:rPr>
                        <m:t>00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r>
                        <a:rPr lang="en-US" altLang="en-US" sz="2800" i="1" dirty="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r>
                  <a:rPr lang="en-AU" altLang="en-US" sz="2800" i="1" dirty="0">
                    <a:latin typeface="Cambria Math" panose="02040503050406030204" pitchFamily="18" charset="0"/>
                  </a:rPr>
                  <a:t> </a:t>
                </a:r>
                <a14:m>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US" altLang="en-US" sz="2800" i="1" dirty="0" smtClean="0">
                            <a:latin typeface="Cambria Math" panose="02040503050406030204" pitchFamily="18" charset="0"/>
                          </a:rPr>
                          <m:t>, 1, </m:t>
                        </m:r>
                        <m:r>
                          <a:rPr lang="en-AU" altLang="en-US" sz="2800" b="0" i="1" dirty="0" smtClean="0">
                            <a:latin typeface="Cambria Math" panose="02040503050406030204" pitchFamily="18" charset="0"/>
                          </a:rPr>
                          <m:t>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𝜀</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2</m:t>
                              </m:r>
                            </m:sub>
                          </m:sSub>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𝜀</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oMath>
                  </m:oMathPara>
                </a14:m>
                <a:endParaRPr lang="en-AU"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962798" y="2188269"/>
                <a:ext cx="4572000" cy="3539430"/>
              </a:xfrm>
              <a:prstGeom prst="rect">
                <a:avLst/>
              </a:prstGeom>
              <a:blipFill rotWithShape="1">
                <a:blip r:embed="rId3"/>
                <a:stretch>
                  <a:fillRect l="-3" t="-2" r="3" b="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248798" y="5124896"/>
                <a:ext cx="5762368" cy="461665"/>
              </a:xfrm>
              <a:prstGeom prst="rect">
                <a:avLst/>
              </a:prstGeom>
              <a:noFill/>
            </p:spPr>
            <p:txBody>
              <a:bodyPr wrap="square">
                <a:spAutoFit/>
              </a:bodyPr>
              <a:lstStyle/>
              <a:p>
                <a:pPr marL="0" indent="0">
                  <a:buNone/>
                </a:pPr>
                <a:r>
                  <a:rPr lang="zh-CN" altLang="en-US" sz="2400" dirty="0">
                    <a:latin typeface="楷体" panose="02010609060101010101" pitchFamily="49" charset="-122"/>
                    <a:ea typeface="楷体" panose="02010609060101010101" pitchFamily="49" charset="-122"/>
                  </a:rPr>
                  <a:t>因此，</a:t>
                </a:r>
                <a:r>
                  <a:rPr lang="en-US" altLang="en-US" sz="2400" dirty="0">
                    <a:latin typeface="楷体" panose="02010609060101010101" pitchFamily="49" charset="-122"/>
                    <a:ea typeface="楷体" panose="02010609060101010101" pitchFamily="49" charset="-122"/>
                  </a:rPr>
                  <a:t> </a:t>
                </a:r>
                <a14:m>
                  <m:oMath xmlns:m="http://schemas.openxmlformats.org/officeDocument/2006/math">
                    <m:d>
                      <m:dPr>
                        <m:ctrlPr>
                          <a:rPr lang="en-US" altLang="en-US" sz="2400" i="1" dirty="0" smtClean="0">
                            <a:latin typeface="Cambria Math" panose="02040503050406030204" pitchFamily="18" charset="0"/>
                          </a:rPr>
                        </m:ctrlPr>
                      </m:dPr>
                      <m:e>
                        <m:sSub>
                          <m:sSubPr>
                            <m:ctrlPr>
                              <a:rPr lang="en-US" altLang="en-US" sz="2400" i="1" dirty="0" smtClean="0">
                                <a:latin typeface="Cambria Math" panose="02040503050406030204" pitchFamily="18" charset="0"/>
                              </a:rPr>
                            </m:ctrlPr>
                          </m:sSubPr>
                          <m:e>
                            <m:r>
                              <a:rPr lang="en-AU" altLang="en-US" sz="2400" b="0" i="1" dirty="0" smtClean="0">
                                <a:latin typeface="Cambria Math" panose="02040503050406030204" pitchFamily="18" charset="0"/>
                              </a:rPr>
                              <m:t>𝑞</m:t>
                            </m:r>
                          </m:e>
                          <m:sub>
                            <m:r>
                              <a:rPr lang="en-AU" altLang="en-US" sz="2400" b="0" i="1" dirty="0" smtClean="0">
                                <a:latin typeface="Cambria Math" panose="02040503050406030204" pitchFamily="18" charset="0"/>
                              </a:rPr>
                              <m:t>0</m:t>
                            </m:r>
                          </m:sub>
                        </m:sSub>
                        <m:r>
                          <a:rPr lang="en-US" altLang="en-US" sz="2400" i="1" dirty="0" smtClean="0">
                            <a:latin typeface="Cambria Math" panose="02040503050406030204" pitchFamily="18" charset="0"/>
                          </a:rPr>
                          <m:t>, 000111, </m:t>
                        </m:r>
                        <m:r>
                          <a:rPr lang="en-US" altLang="en-US" sz="2400" i="1" dirty="0" smtClean="0">
                            <a:latin typeface="Cambria Math" panose="02040503050406030204" pitchFamily="18" charset="0"/>
                          </a:rPr>
                          <m:t>𝑍</m:t>
                        </m:r>
                        <m:r>
                          <a:rPr lang="en-US" altLang="en-US" sz="2400" i="1" baseline="-25000" dirty="0" smtClean="0">
                            <a:latin typeface="Cambria Math" panose="02040503050406030204" pitchFamily="18" charset="0"/>
                          </a:rPr>
                          <m:t>0</m:t>
                        </m:r>
                      </m:e>
                    </m:d>
                  </m:oMath>
                </a14:m>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zh-CN" altLang="en-US" sz="2400" i="1">
                        <a:latin typeface="Cambria Math" panose="02040503050406030204" pitchFamily="18" charset="0"/>
                      </a:rPr>
                      <m:t>⊢</m:t>
                    </m:r>
                  </m:oMath>
                </a14:m>
                <a:r>
                  <a:rPr lang="en-AU" sz="2400" dirty="0">
                    <a:latin typeface="楷体" panose="02010609060101010101" pitchFamily="49" charset="-122"/>
                    <a:ea typeface="楷体" panose="02010609060101010101" pitchFamily="49" charset="-122"/>
                  </a:rPr>
                  <a:t>* </a:t>
                </a:r>
                <a14:m>
                  <m:oMath xmlns:m="http://schemas.openxmlformats.org/officeDocument/2006/math">
                    <m:d>
                      <m:dPr>
                        <m:ctrlPr>
                          <a:rPr lang="en-US" altLang="en-US" sz="2400" i="1" dirty="0">
                            <a:latin typeface="Cambria Math" panose="02040503050406030204" pitchFamily="18" charset="0"/>
                          </a:rPr>
                        </m:ctrlPr>
                      </m:dPr>
                      <m:e>
                        <m:sSub>
                          <m:sSubPr>
                            <m:ctrlPr>
                              <a:rPr lang="en-US" altLang="en-US" sz="2400" i="1" dirty="0">
                                <a:latin typeface="Cambria Math" panose="02040503050406030204" pitchFamily="18" charset="0"/>
                              </a:rPr>
                            </m:ctrlPr>
                          </m:sSubPr>
                          <m:e>
                            <m:r>
                              <a:rPr lang="en-AU" altLang="en-US" sz="2400" i="1" dirty="0">
                                <a:latin typeface="Cambria Math" panose="02040503050406030204" pitchFamily="18" charset="0"/>
                              </a:rPr>
                              <m:t>𝑞</m:t>
                            </m:r>
                          </m:e>
                          <m:sub>
                            <m:r>
                              <a:rPr lang="en-AU" altLang="en-US" sz="2400" i="1" dirty="0">
                                <a:latin typeface="Cambria Math" panose="02040503050406030204" pitchFamily="18" charset="0"/>
                              </a:rPr>
                              <m:t>2</m:t>
                            </m:r>
                          </m:sub>
                        </m:sSub>
                        <m:r>
                          <a:rPr lang="en-US" altLang="en-US" sz="2400" i="1" dirty="0">
                            <a:latin typeface="Cambria Math" panose="02040503050406030204" pitchFamily="18" charset="0"/>
                          </a:rPr>
                          <m:t>, </m:t>
                        </m:r>
                        <m:r>
                          <a:rPr lang="en-US" altLang="en-US" sz="2400" i="1" dirty="0">
                            <a:latin typeface="Cambria Math" panose="02040503050406030204" pitchFamily="18" charset="0"/>
                          </a:rPr>
                          <m:t>𝜀</m:t>
                        </m:r>
                        <m:r>
                          <a:rPr lang="en-US" altLang="en-US" sz="2400" i="1" dirty="0">
                            <a:latin typeface="Cambria Math" panose="02040503050406030204" pitchFamily="18" charset="0"/>
                          </a:rPr>
                          <m:t>, </m:t>
                        </m:r>
                        <m:r>
                          <a:rPr lang="en-US" altLang="en-US" sz="2400" i="1" dirty="0">
                            <a:latin typeface="Cambria Math" panose="02040503050406030204" pitchFamily="18" charset="0"/>
                          </a:rPr>
                          <m:t>𝑍</m:t>
                        </m:r>
                        <m:r>
                          <a:rPr lang="en-US" altLang="en-US" sz="2400" i="1" baseline="-25000" dirty="0">
                            <a:latin typeface="Cambria Math" panose="02040503050406030204" pitchFamily="18" charset="0"/>
                          </a:rPr>
                          <m:t>0</m:t>
                        </m:r>
                      </m:e>
                    </m:d>
                    <m:r>
                      <a:rPr lang="zh-CN" altLang="en-US" sz="2400" i="1" baseline="-25000" dirty="0" smtClean="0">
                        <a:latin typeface="Cambria Math" panose="02040503050406030204" pitchFamily="18" charset="0"/>
                      </a:rPr>
                      <m:t>。</m:t>
                    </m:r>
                  </m:oMath>
                </a14:m>
                <a:endParaRPr lang="en-US" altLang="en-US" sz="2400" dirty="0">
                  <a:latin typeface="楷体" panose="02010609060101010101" pitchFamily="49" charset="-122"/>
                  <a:ea typeface="楷体" panose="02010609060101010101" pitchFamily="49"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248798" y="5124896"/>
                <a:ext cx="5762368" cy="461665"/>
              </a:xfrm>
              <a:prstGeom prst="rect">
                <a:avLst/>
              </a:prstGeom>
              <a:blipFill rotWithShape="1">
                <a:blip r:embed="rId4"/>
                <a:stretch>
                  <a:fillRect l="-2" t="-97" r="9" b="-2237"/>
                </a:stretch>
              </a:blipFill>
            </p:spPr>
            <p:txBody>
              <a:bodyPr/>
              <a:lstStyle/>
              <a:p>
                <a:r>
                  <a:rPr lang="zh-CN" altLang="en-US">
                    <a:noFill/>
                  </a:rPr>
                  <a:t> </a:t>
                </a:r>
              </a:p>
            </p:txBody>
          </p:sp>
        </mc:Fallback>
      </mc:AlternateContent>
      <p:pic>
        <p:nvPicPr>
          <p:cNvPr id="11" name="Picture 10" descr="Diagram&#10;&#10;Description automatically generated"/>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67200" y="2188269"/>
            <a:ext cx="4572000" cy="13721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转移示例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54100"/>
                <a:ext cx="8229600" cy="4525963"/>
              </a:xfrm>
            </p:spPr>
            <p:txBody>
              <a:bodyPr>
                <a:normAutofit/>
              </a:bodyPr>
              <a:lstStyle/>
              <a:p>
                <a:r>
                  <a:rPr lang="zh-CN" altLang="en-US" dirty="0"/>
                  <a:t>例</a:t>
                </a:r>
                <a:r>
                  <a:rPr lang="en-AU" altLang="zh-CN" dirty="0"/>
                  <a:t>:</a:t>
                </a:r>
                <a:r>
                  <a:rPr lang="zh-CN" altLang="en-US" dirty="0"/>
                  <a:t>语言 </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01</m:t>
                        </m:r>
                      </m:sub>
                    </m:sSub>
                    <m:r>
                      <a:rPr lang="en-AU" altLang="zh-CN" b="0" i="1" smtClean="0">
                        <a:latin typeface="Cambria Math" panose="02040503050406030204" pitchFamily="18" charset="0"/>
                      </a:rPr>
                      <m:t>={</m:t>
                    </m:r>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𝑛</m:t>
                        </m:r>
                      </m:sup>
                    </m:sSup>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1</m:t>
                        </m:r>
                      </m:e>
                      <m:sup>
                        <m:r>
                          <a:rPr lang="en-AU" altLang="zh-CN" b="0" i="1" smtClean="0">
                            <a:latin typeface="Cambria Math" panose="02040503050406030204" pitchFamily="18" charset="0"/>
                          </a:rPr>
                          <m:t>𝑛</m:t>
                        </m:r>
                      </m:sup>
                    </m:sSup>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ea typeface="Cambria Math" panose="02040503050406030204" pitchFamily="18" charset="0"/>
                      </a:rPr>
                      <m:t>≥1</m:t>
                    </m:r>
                    <m:r>
                      <a:rPr lang="en-AU" altLang="zh-CN" b="0" i="1" smtClean="0">
                        <a:latin typeface="Cambria Math" panose="02040503050406030204" pitchFamily="18" charset="0"/>
                      </a:rPr>
                      <m:t>}</m:t>
                    </m:r>
                  </m:oMath>
                </a14:m>
                <a:r>
                  <a:rPr lang="zh-CN" altLang="en-US" dirty="0"/>
                  <a:t>的</a:t>
                </a:r>
                <a:r>
                  <a:rPr lang="en-AU" altLang="zh-CN" dirty="0">
                    <a:latin typeface="Times New Roman" panose="02020603050405020304" pitchFamily="18" charset="0"/>
                    <a:cs typeface="Times New Roman" panose="02020603050405020304" pitchFamily="18" charset="0"/>
                  </a:rPr>
                  <a:t>PDA</a:t>
                </a:r>
                <a:r>
                  <a:rPr lang="en-AU" altLang="zh-CN" dirty="0"/>
                  <a:t>, </a:t>
                </a:r>
                <a:r>
                  <a:rPr lang="zh-CN" altLang="en-US" dirty="0"/>
                  <a:t>识别 </a:t>
                </a:r>
                <a:r>
                  <a:rPr lang="en-US" altLang="zh-CN" dirty="0"/>
                  <a:t>000111</a:t>
                </a:r>
                <a:r>
                  <a:rPr lang="zh-CN" altLang="en-US" dirty="0"/>
                  <a:t>时的</a:t>
                </a:r>
                <a:r>
                  <a:rPr lang="en-AU" altLang="zh-CN" dirty="0">
                    <a:latin typeface="Times New Roman" panose="02020603050405020304" pitchFamily="18" charset="0"/>
                    <a:cs typeface="Times New Roman" panose="02020603050405020304" pitchFamily="18" charset="0"/>
                  </a:rPr>
                  <a:t>ID</a:t>
                </a:r>
                <a:r>
                  <a:rPr lang="zh-CN" altLang="en-US" dirty="0"/>
                  <a:t>序列。</a:t>
                </a:r>
                <a:endParaRPr lang="en-AU" altLang="zh-CN" dirty="0"/>
              </a:p>
              <a:p>
                <a:pPr marL="0" indent="0">
                  <a:buNone/>
                </a:pPr>
                <a:endParaRPr lang="en-AU" altLang="en-US" sz="2400" dirty="0"/>
              </a:p>
              <a:p>
                <a:pPr marL="0" indent="0">
                  <a:buNone/>
                </a:pPr>
                <a:endParaRPr lang="en-AU" altLang="en-US" sz="2400" dirty="0"/>
              </a:p>
              <a:p>
                <a:pPr marL="0" indent="0">
                  <a:buNone/>
                </a:pPr>
                <a:endParaRPr lang="en-AU" altLang="en-US" sz="2400" dirty="0"/>
              </a:p>
              <a:p>
                <a:pPr marL="0" indent="0">
                  <a:buNone/>
                </a:pPr>
                <a:endParaRPr lang="en-AU" altLang="en-US" sz="2400" dirty="0"/>
              </a:p>
              <a:p>
                <a:pPr marL="0" indent="0">
                  <a:buNone/>
                </a:pPr>
                <a:endParaRPr lang="en-US" altLang="en-US" dirty="0"/>
              </a:p>
              <a:p>
                <a:pPr marL="0" indent="0">
                  <a:buNone/>
                </a:pPr>
                <a:endParaRPr lang="en-AU" altLang="en-US" i="1" dirty="0">
                  <a:latin typeface="Cambria Math" panose="02040503050406030204" pitchFamily="18" charset="0"/>
                </a:endParaRPr>
              </a:p>
              <a:p>
                <a:pPr marL="0" indent="0">
                  <a:buNone/>
                </a:pP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54100"/>
                <a:ext cx="8229600" cy="4525963"/>
              </a:xfrm>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33</a:t>
            </a:fld>
            <a:endParaRPr lang="en-AU"/>
          </a:p>
        </p:txBody>
      </p:sp>
      <mc:AlternateContent xmlns:mc="http://schemas.openxmlformats.org/markup-compatibility/2006" xmlns:a14="http://schemas.microsoft.com/office/drawing/2010/main">
        <mc:Choice Requires="a14">
          <p:sp>
            <p:nvSpPr>
              <p:cNvPr id="6" name="TextBox 5"/>
              <p:cNvSpPr txBox="1"/>
              <p:nvPr/>
            </p:nvSpPr>
            <p:spPr>
              <a:xfrm>
                <a:off x="962798" y="2226369"/>
                <a:ext cx="4572000" cy="3539430"/>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smtClean="0">
                                  <a:latin typeface="Cambria Math" panose="02040503050406030204" pitchFamily="18" charset="0"/>
                                </a:rPr>
                              </m:ctrlPr>
                            </m:sSubPr>
                            <m:e>
                              <m:r>
                                <a:rPr lang="en-AU" altLang="en-US" sz="2800" b="0" i="1" dirty="0" smtClean="0">
                                  <a:latin typeface="Cambria Math" panose="02040503050406030204" pitchFamily="18" charset="0"/>
                                </a:rPr>
                                <m:t>𝑞</m:t>
                              </m:r>
                            </m:e>
                            <m:sub>
                              <m:r>
                                <a:rPr lang="en-AU" altLang="en-US" sz="2800" b="0" i="1" dirty="0" smtClean="0">
                                  <a:latin typeface="Cambria Math" panose="02040503050406030204" pitchFamily="18" charset="0"/>
                                </a:rPr>
                                <m:t>0</m:t>
                              </m:r>
                            </m:sub>
                          </m:sSub>
                          <m:r>
                            <a:rPr lang="en-US" altLang="en-US" sz="2800" i="1" dirty="0" smtClean="0">
                              <a:latin typeface="Cambria Math" panose="02040503050406030204" pitchFamily="18" charset="0"/>
                            </a:rPr>
                            <m:t>, 000111,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00111, 0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AU" altLang="en-US" sz="2800" i="1" dirty="0">
                              <a:latin typeface="Cambria Math" panose="02040503050406030204" pitchFamily="18" charset="0"/>
                            </a:rPr>
                            <m:t>,</m:t>
                          </m:r>
                          <m:r>
                            <a:rPr lang="en-US" altLang="en-US" sz="2800" i="1" dirty="0" smtClean="0">
                              <a:latin typeface="Cambria Math" panose="02040503050406030204" pitchFamily="18" charset="0"/>
                            </a:rPr>
                            <m:t>0111, </m:t>
                          </m:r>
                          <m:r>
                            <a:rPr lang="en-AU" altLang="en-US" sz="2800" b="0" i="1" dirty="0" smtClean="0">
                              <a:latin typeface="Cambria Math" panose="02040503050406030204" pitchFamily="18" charset="0"/>
                            </a:rPr>
                            <m:t>00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AU" altLang="en-US" sz="2800" b="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AU" altLang="en-US" sz="2800" b="0" i="1" dirty="0" smtClean="0">
                          <a:latin typeface="Cambria Math" panose="02040503050406030204" pitchFamily="18" charset="0"/>
                        </a:rPr>
                        <m:t>,111,000</m:t>
                      </m:r>
                      <m:sSub>
                        <m:sSubPr>
                          <m:ctrlPr>
                            <a:rPr lang="en-AU" altLang="en-US" sz="2800" b="0" i="1" dirty="0" smtClean="0">
                              <a:latin typeface="Cambria Math" panose="02040503050406030204" pitchFamily="18" charset="0"/>
                            </a:rPr>
                          </m:ctrlPr>
                        </m:sSubPr>
                        <m:e>
                          <m:r>
                            <a:rPr lang="en-AU" altLang="en-US" sz="2800" b="0" i="1" dirty="0" smtClean="0">
                              <a:latin typeface="Cambria Math" panose="02040503050406030204" pitchFamily="18" charset="0"/>
                            </a:rPr>
                            <m:t>𝑍</m:t>
                          </m:r>
                        </m:e>
                        <m:sub>
                          <m:r>
                            <a:rPr lang="en-AU" altLang="en-US" sz="2800" b="0" i="1" dirty="0" smtClean="0">
                              <a:latin typeface="Cambria Math" panose="02040503050406030204" pitchFamily="18" charset="0"/>
                            </a:rPr>
                            <m:t>0</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US" altLang="en-US" sz="2800" i="1" dirty="0" smtClean="0">
                          <a:latin typeface="Cambria Math" panose="02040503050406030204" pitchFamily="18" charset="0"/>
                        </a:rPr>
                        <m:t>, 11, </m:t>
                      </m:r>
                      <m:r>
                        <a:rPr lang="en-AU" altLang="en-US" sz="2800" b="0" i="1" dirty="0" smtClean="0">
                          <a:latin typeface="Cambria Math" panose="02040503050406030204" pitchFamily="18" charset="0"/>
                        </a:rPr>
                        <m:t>00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r>
                        <a:rPr lang="en-US" altLang="en-US" sz="2800" i="1" dirty="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r>
                  <a:rPr lang="en-AU" altLang="en-US" sz="2800" i="1" dirty="0">
                    <a:latin typeface="Cambria Math" panose="02040503050406030204" pitchFamily="18" charset="0"/>
                  </a:rPr>
                  <a:t> </a:t>
                </a:r>
                <a14:m>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US" altLang="en-US" sz="2800" i="1" dirty="0" smtClean="0">
                            <a:latin typeface="Cambria Math" panose="02040503050406030204" pitchFamily="18" charset="0"/>
                          </a:rPr>
                          <m:t>, 1, </m:t>
                        </m:r>
                        <m:r>
                          <a:rPr lang="en-AU" altLang="en-US" sz="2800" b="0" i="1" dirty="0" smtClean="0">
                            <a:latin typeface="Cambria Math" panose="02040503050406030204" pitchFamily="18" charset="0"/>
                          </a:rPr>
                          <m:t>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𝜀</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m:t>
                      </m:r>
                    </m:oMath>
                  </m:oMathPara>
                </a14:m>
                <a:endParaRPr lang="en-AU" altLang="en-US" sz="28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2</m:t>
                              </m:r>
                            </m:sub>
                          </m:sSub>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𝜀</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oMath>
                  </m:oMathPara>
                </a14:m>
                <a:endParaRPr lang="en-AU"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962798" y="2226369"/>
                <a:ext cx="4572000" cy="3539430"/>
              </a:xfrm>
              <a:prstGeom prst="rect">
                <a:avLst/>
              </a:prstGeom>
              <a:blipFill rotWithShape="1">
                <a:blip r:embed="rId3"/>
                <a:stretch>
                  <a:fillRect l="-3" t="-2" r="3" b="18"/>
                </a:stretch>
              </a:blipFill>
            </p:spPr>
            <p:txBody>
              <a:bodyPr/>
              <a:lstStyle/>
              <a:p>
                <a:r>
                  <a:rPr lang="zh-CN" altLang="en-US">
                    <a:noFill/>
                  </a:rPr>
                  <a:t> </a:t>
                </a:r>
              </a:p>
            </p:txBody>
          </p:sp>
        </mc:Fallback>
      </mc:AlternateContent>
      <p:sp>
        <p:nvSpPr>
          <p:cNvPr id="10" name="TextBox 9"/>
          <p:cNvSpPr txBox="1"/>
          <p:nvPr/>
        </p:nvSpPr>
        <p:spPr>
          <a:xfrm>
            <a:off x="4072053" y="4706616"/>
            <a:ext cx="4572000" cy="461665"/>
          </a:xfrm>
          <a:prstGeom prst="rect">
            <a:avLst/>
          </a:prstGeom>
          <a:solidFill>
            <a:schemeClr val="accent4">
              <a:lumMod val="20000"/>
              <a:lumOff val="80000"/>
            </a:schemeClr>
          </a:solidFill>
        </p:spPr>
        <p:txBody>
          <a:bodyPr wrap="square">
            <a:spAutoFit/>
          </a:bodyPr>
          <a:lstStyle/>
          <a:p>
            <a:pPr marL="0" indent="0">
              <a:buNone/>
            </a:pPr>
            <a:r>
              <a:rPr lang="zh-CN" altLang="en-US" sz="2400" dirty="0">
                <a:latin typeface="楷体" panose="02010609060101010101" pitchFamily="49" charset="-122"/>
                <a:ea typeface="楷体" panose="02010609060101010101" pitchFamily="49" charset="-122"/>
              </a:rPr>
              <a:t>问：如果输入</a:t>
            </a:r>
            <a:r>
              <a:rPr lang="en-AU" altLang="zh-CN" sz="2400" dirty="0">
                <a:latin typeface="楷体" panose="02010609060101010101" pitchFamily="49" charset="-122"/>
                <a:ea typeface="楷体" panose="02010609060101010101" pitchFamily="49" charset="-122"/>
              </a:rPr>
              <a:t>0001111</a:t>
            </a:r>
            <a:r>
              <a:rPr lang="zh-CN" altLang="en-US" sz="2400" dirty="0">
                <a:latin typeface="楷体" panose="02010609060101010101" pitchFamily="49" charset="-122"/>
                <a:ea typeface="楷体" panose="02010609060101010101" pitchFamily="49" charset="-122"/>
              </a:rPr>
              <a:t>呢</a:t>
            </a:r>
            <a:r>
              <a:rPr lang="en-AU" altLang="zh-CN" sz="2400" dirty="0">
                <a:latin typeface="楷体" panose="02010609060101010101" pitchFamily="49" charset="-122"/>
                <a:ea typeface="楷体" panose="02010609060101010101" pitchFamily="49" charset="-122"/>
              </a:rPr>
              <a:t>?</a:t>
            </a:r>
            <a:endParaRPr lang="en-AU" altLang="en-US" sz="2400" dirty="0">
              <a:latin typeface="楷体" panose="02010609060101010101" pitchFamily="49" charset="-122"/>
              <a:ea typeface="楷体" panose="02010609060101010101" pitchFamily="49" charset="-122"/>
            </a:endParaRPr>
          </a:p>
        </p:txBody>
      </p:sp>
      <p:pic>
        <p:nvPicPr>
          <p:cNvPr id="11" name="Picture 10"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43092" y="2232039"/>
            <a:ext cx="4932111" cy="148017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34</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914400" y="635001"/>
                <a:ext cx="7315200" cy="1216242"/>
              </a:xfrm>
              <a:prstGeom prst="rect">
                <a:avLst/>
              </a:prstGeom>
              <a:noFill/>
            </p:spPr>
            <p:txBody>
              <a:bodyPr vert="horz" wrap="square" rtlCol="0" anchor="ctr" anchorCtr="0">
                <a:noAutofit/>
              </a:bodyPr>
              <a:lstStyle/>
              <a:p>
                <a:r>
                  <a:rPr lang="zh-CN" altLang="en-US" sz="2800" dirty="0"/>
                  <a:t>例</a:t>
                </a:r>
                <a:r>
                  <a:rPr lang="en-AU" altLang="zh-CN" sz="2800" dirty="0"/>
                  <a:t>:</a:t>
                </a:r>
                <a:r>
                  <a:rPr lang="zh-CN" altLang="en-US" sz="2800" dirty="0"/>
                  <a:t>语言 </a:t>
                </a:r>
                <a14:m>
                  <m:oMath xmlns:m="http://schemas.openxmlformats.org/officeDocument/2006/math">
                    <m:sSub>
                      <m:sSubPr>
                        <m:ctrlPr>
                          <a:rPr lang="en-US" altLang="zh-CN" sz="2800" i="1" smtClean="0">
                            <a:latin typeface="Cambria Math" panose="02040503050406030204" pitchFamily="18" charset="0"/>
                          </a:rPr>
                        </m:ctrlPr>
                      </m:sSubPr>
                      <m:e>
                        <m:r>
                          <a:rPr lang="en-AU" altLang="zh-CN" sz="2800" b="0" i="1" smtClean="0">
                            <a:latin typeface="Cambria Math" panose="02040503050406030204" pitchFamily="18" charset="0"/>
                          </a:rPr>
                          <m:t>𝐿</m:t>
                        </m:r>
                      </m:e>
                      <m:sub>
                        <m:r>
                          <a:rPr lang="en-AU" altLang="zh-CN" sz="2800" b="0" i="1" smtClean="0">
                            <a:latin typeface="Cambria Math" panose="02040503050406030204" pitchFamily="18" charset="0"/>
                          </a:rPr>
                          <m:t>01</m:t>
                        </m:r>
                      </m:sub>
                    </m:sSub>
                    <m:r>
                      <a:rPr lang="en-AU" altLang="zh-CN" sz="2800" b="0" i="1" smtClean="0">
                        <a:latin typeface="Cambria Math" panose="02040503050406030204" pitchFamily="18" charset="0"/>
                      </a:rPr>
                      <m:t>={</m:t>
                    </m:r>
                    <m:sSup>
                      <m:sSupPr>
                        <m:ctrlPr>
                          <a:rPr lang="en-AU" altLang="zh-CN" sz="2800" b="0" i="1" smtClean="0">
                            <a:latin typeface="Cambria Math" panose="02040503050406030204" pitchFamily="18" charset="0"/>
                          </a:rPr>
                        </m:ctrlPr>
                      </m:sSupPr>
                      <m:e>
                        <m:r>
                          <a:rPr lang="en-AU" altLang="zh-CN" sz="2800" b="0" i="1" smtClean="0">
                            <a:latin typeface="Cambria Math" panose="02040503050406030204" pitchFamily="18" charset="0"/>
                          </a:rPr>
                          <m:t>0</m:t>
                        </m:r>
                      </m:e>
                      <m:sup>
                        <m:r>
                          <a:rPr lang="en-AU" altLang="zh-CN" sz="2800" b="0" i="1" smtClean="0">
                            <a:latin typeface="Cambria Math" panose="02040503050406030204" pitchFamily="18" charset="0"/>
                          </a:rPr>
                          <m:t>𝑛</m:t>
                        </m:r>
                      </m:sup>
                    </m:sSup>
                    <m:sSup>
                      <m:sSupPr>
                        <m:ctrlPr>
                          <a:rPr lang="en-AU" altLang="zh-CN" sz="2800" b="0" i="1" smtClean="0">
                            <a:latin typeface="Cambria Math" panose="02040503050406030204" pitchFamily="18" charset="0"/>
                          </a:rPr>
                        </m:ctrlPr>
                      </m:sSupPr>
                      <m:e>
                        <m:r>
                          <a:rPr lang="en-AU" altLang="zh-CN" sz="2800" b="0" i="1" smtClean="0">
                            <a:latin typeface="Cambria Math" panose="02040503050406030204" pitchFamily="18" charset="0"/>
                          </a:rPr>
                          <m:t>1</m:t>
                        </m:r>
                      </m:e>
                      <m:sup>
                        <m:r>
                          <a:rPr lang="en-AU" altLang="zh-CN" sz="2800" b="0" i="1" smtClean="0">
                            <a:latin typeface="Cambria Math" panose="02040503050406030204" pitchFamily="18" charset="0"/>
                          </a:rPr>
                          <m:t>𝑛</m:t>
                        </m:r>
                      </m:sup>
                    </m:sSup>
                    <m:r>
                      <a:rPr lang="en-AU" altLang="zh-CN" sz="2800" b="0" i="1" smtClean="0">
                        <a:latin typeface="Cambria Math" panose="02040503050406030204" pitchFamily="18" charset="0"/>
                      </a:rPr>
                      <m:t>|</m:t>
                    </m:r>
                    <m:r>
                      <a:rPr lang="en-AU" altLang="zh-CN" sz="2800" b="0" i="1" smtClean="0">
                        <a:latin typeface="Cambria Math" panose="02040503050406030204" pitchFamily="18" charset="0"/>
                      </a:rPr>
                      <m:t>𝑛</m:t>
                    </m:r>
                    <m:r>
                      <a:rPr lang="en-AU" altLang="zh-CN" sz="2800" b="0" i="1" smtClean="0">
                        <a:latin typeface="Cambria Math" panose="02040503050406030204" pitchFamily="18" charset="0"/>
                        <a:ea typeface="Cambria Math" panose="02040503050406030204" pitchFamily="18" charset="0"/>
                      </a:rPr>
                      <m:t>≥1</m:t>
                    </m:r>
                    <m:r>
                      <a:rPr lang="en-AU" altLang="zh-CN" sz="2800" b="0" i="1" smtClean="0">
                        <a:latin typeface="Cambria Math" panose="02040503050406030204" pitchFamily="18" charset="0"/>
                      </a:rPr>
                      <m:t>}</m:t>
                    </m:r>
                  </m:oMath>
                </a14:m>
                <a:r>
                  <a:rPr lang="zh-CN" altLang="en-US" sz="2800" dirty="0"/>
                  <a:t>的</a:t>
                </a:r>
                <a:r>
                  <a:rPr lang="en-AU" altLang="zh-CN" sz="2800" dirty="0">
                    <a:latin typeface="Times New Roman" panose="02020603050405020304" pitchFamily="18" charset="0"/>
                    <a:cs typeface="Times New Roman" panose="02020603050405020304" pitchFamily="18" charset="0"/>
                  </a:rPr>
                  <a:t>PDA</a:t>
                </a:r>
                <a:r>
                  <a:rPr lang="en-AU" altLang="zh-CN" sz="2800" dirty="0"/>
                  <a:t>, </a:t>
                </a:r>
                <a:r>
                  <a:rPr lang="zh-CN" altLang="en-US" sz="2800" dirty="0"/>
                  <a:t>识别 </a:t>
                </a:r>
                <a:r>
                  <a:rPr lang="en-US" altLang="zh-CN" sz="2800" dirty="0"/>
                  <a:t>0001111</a:t>
                </a:r>
                <a:r>
                  <a:rPr lang="zh-CN" altLang="en-US" sz="2800" dirty="0"/>
                  <a:t>时到达的</a:t>
                </a:r>
                <a:r>
                  <a:rPr lang="en-AU" altLang="zh-CN" sz="2800" dirty="0">
                    <a:latin typeface="Times New Roman" panose="02020603050405020304" pitchFamily="18" charset="0"/>
                    <a:cs typeface="Times New Roman" panose="02020603050405020304" pitchFamily="18" charset="0"/>
                  </a:rPr>
                  <a:t>ID</a:t>
                </a:r>
                <a:r>
                  <a:rPr lang="zh-CN" altLang="en-US" sz="2800" dirty="0">
                    <a:latin typeface="Times New Roman" panose="02020603050405020304" pitchFamily="18" charset="0"/>
                    <a:cs typeface="Times New Roman" panose="02020603050405020304" pitchFamily="18" charset="0"/>
                  </a:rPr>
                  <a:t>为（）</a:t>
                </a:r>
                <a:r>
                  <a:rPr lang="zh-CN" altLang="en-US" sz="2800" dirty="0"/>
                  <a:t>。</a:t>
                </a:r>
                <a:endParaRPr lang="en-AU" altLang="zh-CN" sz="2800" dirty="0"/>
              </a:p>
            </p:txBody>
          </p:sp>
        </mc:Choice>
        <mc:Fallback xmlns="">
          <p:sp>
            <p:nvSpPr>
              <p:cNvPr id="7" name="文本框 6"/>
              <p:cNvSpPr txBox="1">
                <a:spLocks noRot="1" noChangeAspect="1" noMove="1" noResize="1" noEditPoints="1" noAdjustHandles="1" noChangeArrowheads="1" noChangeShapeType="1" noTextEdit="1"/>
              </p:cNvSpPr>
              <p:nvPr>
                <p:custDataLst>
                  <p:tags r:id="rId17"/>
                </p:custDataLst>
              </p:nvPr>
            </p:nvSpPr>
            <p:spPr>
              <a:xfrm>
                <a:off x="914400" y="635001"/>
                <a:ext cx="7315200" cy="1216242"/>
              </a:xfrm>
              <a:prstGeom prst="rect">
                <a:avLst/>
              </a:prstGeom>
              <a:blipFill rotWithShape="1">
                <a:blip r:embed="rId18"/>
                <a:stretch>
                  <a:fillRect b="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custDataLst>
                  <p:tags r:id="rId3"/>
                </p:custDataLst>
              </p:nvPr>
            </p:nvSpPr>
            <p:spPr>
              <a:xfrm>
                <a:off x="1828800" y="3700465"/>
                <a:ext cx="6400800" cy="642938"/>
              </a:xfrm>
              <a:prstGeom prst="rect">
                <a:avLst/>
              </a:prstGeom>
              <a:noFill/>
            </p:spPr>
            <p:txBody>
              <a:bodyPr vert="horz" rtlCol="0" anchor="ctr" anchorCtr="0">
                <a:noAutofit/>
              </a:bodyPr>
              <a:lstStyle/>
              <a:p>
                <a:pPr/>
                <a14:m>
                  <m:oMathPara xmlns:m="http://schemas.openxmlformats.org/officeDocument/2006/math">
                    <m:oMathParaPr>
                      <m:jc m:val="left"/>
                    </m:oMathParaPr>
                    <m:oMath xmlns:m="http://schemas.openxmlformats.org/officeDocument/2006/math">
                      <m:r>
                        <a:rPr lang="en-US" altLang="en-US" sz="2400" i="1" dirty="0" smtClean="0">
                          <a:solidFill>
                            <a:schemeClr val="tx1"/>
                          </a:solidFill>
                          <a:latin typeface="Cambria Math" panose="02040503050406030204" pitchFamily="18" charset="0"/>
                        </a:rPr>
                        <m:t>(</m:t>
                      </m:r>
                      <m:sSub>
                        <m:sSubPr>
                          <m:ctrlPr>
                            <a:rPr lang="en-US" altLang="en-US" sz="2400" i="1" dirty="0">
                              <a:solidFill>
                                <a:schemeClr val="tx1"/>
                              </a:solidFill>
                              <a:latin typeface="Cambria Math" panose="02040503050406030204" pitchFamily="18" charset="0"/>
                            </a:rPr>
                          </m:ctrlPr>
                        </m:sSubPr>
                        <m:e>
                          <m:r>
                            <a:rPr lang="en-AU" altLang="en-US" sz="2400" i="1" dirty="0">
                              <a:solidFill>
                                <a:schemeClr val="tx1"/>
                              </a:solidFill>
                              <a:latin typeface="Cambria Math" panose="02040503050406030204" pitchFamily="18" charset="0"/>
                            </a:rPr>
                            <m:t>𝑞</m:t>
                          </m:r>
                        </m:e>
                        <m:sub>
                          <m:r>
                            <a:rPr lang="en-AU" altLang="en-US" sz="2400" b="0" i="1" dirty="0" smtClean="0">
                              <a:solidFill>
                                <a:schemeClr val="tx1"/>
                              </a:solidFill>
                              <a:latin typeface="Cambria Math" panose="02040503050406030204" pitchFamily="18" charset="0"/>
                            </a:rPr>
                            <m:t>1</m:t>
                          </m:r>
                        </m:sub>
                      </m:sSub>
                      <m:r>
                        <a:rPr lang="en-US" altLang="en-US" sz="2400" i="1" dirty="0" smtClean="0">
                          <a:solidFill>
                            <a:schemeClr val="tx1"/>
                          </a:solidFill>
                          <a:latin typeface="Cambria Math" panose="02040503050406030204" pitchFamily="18" charset="0"/>
                        </a:rPr>
                        <m:t>, 1, </m:t>
                      </m:r>
                      <m:r>
                        <a:rPr lang="en-US" altLang="en-US" sz="2400" i="1" dirty="0" smtClean="0">
                          <a:solidFill>
                            <a:schemeClr val="tx1"/>
                          </a:solidFill>
                          <a:latin typeface="Cambria Math" panose="02040503050406030204" pitchFamily="18" charset="0"/>
                        </a:rPr>
                        <m:t>𝑍</m:t>
                      </m:r>
                      <m:r>
                        <a:rPr lang="en-US" altLang="en-US" sz="2400" i="1" baseline="-25000" dirty="0" smtClean="0">
                          <a:solidFill>
                            <a:schemeClr val="tx1"/>
                          </a:solidFill>
                          <a:latin typeface="Cambria Math" panose="02040503050406030204" pitchFamily="18" charset="0"/>
                        </a:rPr>
                        <m:t>0</m:t>
                      </m:r>
                      <m:r>
                        <a:rPr lang="en-US" altLang="en-US" sz="2400" i="1" dirty="0" smtClean="0">
                          <a:solidFill>
                            <a:schemeClr val="tx1"/>
                          </a:solidFill>
                          <a:latin typeface="Cambria Math" panose="02040503050406030204" pitchFamily="18" charset="0"/>
                        </a:rPr>
                        <m:t>)</m:t>
                      </m:r>
                    </m:oMath>
                  </m:oMathPara>
                </a14:m>
                <a:endParaRPr lang="zh-CN" altLang="en-US" sz="2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custDataLst>
                  <p:tags r:id="rId19"/>
                </p:custDataLst>
              </p:nvPr>
            </p:nvSpPr>
            <p:spPr>
              <a:xfrm>
                <a:off x="1828800" y="3700465"/>
                <a:ext cx="6400800" cy="642938"/>
              </a:xfrm>
              <a:prstGeom prst="rect">
                <a:avLst/>
              </a:prstGeom>
              <a:blipFill rotWithShape="1">
                <a:blip r:embed="rId20"/>
                <a:stretch>
                  <a:fillRect t="-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custDataLst>
                  <p:tags r:id="rId4"/>
                </p:custDataLst>
              </p:nvPr>
            </p:nvSpPr>
            <p:spPr>
              <a:xfrm>
                <a:off x="1828800" y="4557715"/>
                <a:ext cx="6400800" cy="642938"/>
              </a:xfrm>
              <a:prstGeom prst="rect">
                <a:avLst/>
              </a:prstGeom>
              <a:noFill/>
            </p:spPr>
            <p:txBody>
              <a:bodyPr vert="horz" rtlCol="0" anchor="ctr" anchorCtr="0">
                <a:noAutofit/>
              </a:bodyPr>
              <a:lstStyle/>
              <a:p>
                <a:pPr/>
                <a14:m>
                  <m:oMathPara xmlns:m="http://schemas.openxmlformats.org/officeDocument/2006/math">
                    <m:oMathParaPr>
                      <m:jc m:val="left"/>
                    </m:oMathParaPr>
                    <m:oMath xmlns:m="http://schemas.openxmlformats.org/officeDocument/2006/math">
                      <m:r>
                        <a:rPr lang="en-US" altLang="en-US" sz="2400" i="1" dirty="0" smtClean="0">
                          <a:latin typeface="Cambria Math" panose="02040503050406030204" pitchFamily="18" charset="0"/>
                        </a:rPr>
                        <m:t>(</m:t>
                      </m:r>
                      <m:sSub>
                        <m:sSubPr>
                          <m:ctrlPr>
                            <a:rPr lang="en-US" altLang="en-US" sz="2400" i="1" dirty="0">
                              <a:latin typeface="Cambria Math" panose="02040503050406030204" pitchFamily="18" charset="0"/>
                            </a:rPr>
                          </m:ctrlPr>
                        </m:sSubPr>
                        <m:e>
                          <m:r>
                            <a:rPr lang="en-AU" altLang="en-US" sz="2400" i="1" dirty="0">
                              <a:latin typeface="Cambria Math" panose="02040503050406030204" pitchFamily="18" charset="0"/>
                            </a:rPr>
                            <m:t>𝑞</m:t>
                          </m:r>
                        </m:e>
                        <m:sub>
                          <m:r>
                            <a:rPr lang="en-AU" altLang="en-US" sz="2400" b="0" i="1" dirty="0" smtClean="0">
                              <a:latin typeface="Cambria Math" panose="02040503050406030204" pitchFamily="18" charset="0"/>
                            </a:rPr>
                            <m:t>2</m:t>
                          </m:r>
                        </m:sub>
                      </m:sSub>
                      <m:r>
                        <a:rPr lang="en-US" altLang="en-US" sz="2400" i="1" dirty="0" smtClean="0">
                          <a:latin typeface="Cambria Math" panose="02040503050406030204" pitchFamily="18" charset="0"/>
                        </a:rPr>
                        <m:t>, 1, </m:t>
                      </m:r>
                      <m:r>
                        <a:rPr lang="en-US" altLang="en-US" sz="2400" i="1" dirty="0" smtClean="0">
                          <a:latin typeface="Cambria Math" panose="02040503050406030204" pitchFamily="18" charset="0"/>
                        </a:rPr>
                        <m:t>𝑍</m:t>
                      </m:r>
                      <m:r>
                        <a:rPr lang="en-US" altLang="en-US" sz="2400" i="1" baseline="-25000" dirty="0" smtClean="0">
                          <a:latin typeface="Cambria Math" panose="02040503050406030204" pitchFamily="18" charset="0"/>
                        </a:rPr>
                        <m:t>0</m:t>
                      </m:r>
                      <m:r>
                        <a:rPr lang="en-US" altLang="en-US" sz="2400" i="1" dirty="0" smtClean="0">
                          <a:latin typeface="Cambria Math" panose="02040503050406030204" pitchFamily="18" charset="0"/>
                        </a:rPr>
                        <m:t>)</m:t>
                      </m:r>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custDataLst>
                  <p:tags r:id="rId21"/>
                </p:custDataLst>
              </p:nvPr>
            </p:nvSpPr>
            <p:spPr>
              <a:xfrm>
                <a:off x="1828800" y="4557715"/>
                <a:ext cx="6400800" cy="642938"/>
              </a:xfrm>
              <a:prstGeom prst="rect">
                <a:avLst/>
              </a:prstGeom>
              <a:blipFill rotWithShape="1">
                <a:blip r:embed="rId22"/>
                <a:stretch>
                  <a:fillRect t="-50"/>
                </a:stretch>
              </a:blipFill>
            </p:spPr>
            <p:txBody>
              <a:bodyPr/>
              <a:lstStyle/>
              <a:p>
                <a:r>
                  <a:rPr lang="zh-CN" altLang="en-US">
                    <a:noFill/>
                  </a:rPr>
                  <a:t> </a:t>
                </a:r>
              </a:p>
            </p:txBody>
          </p:sp>
        </mc:Fallback>
      </mc:AlternateContent>
      <p:sp>
        <p:nvSpPr>
          <p:cNvPr id="10" name="文本框 9"/>
          <p:cNvSpPr txBox="1"/>
          <p:nvPr>
            <p:custDataLst>
              <p:tags r:id="rId5"/>
            </p:custDataLst>
          </p:nvPr>
        </p:nvSpPr>
        <p:spPr>
          <a:xfrm>
            <a:off x="1828800" y="5414965"/>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其他</a:t>
            </a:r>
          </a:p>
        </p:txBody>
      </p:sp>
      <p:sp>
        <p:nvSpPr>
          <p:cNvPr id="12" name="椭圆 11"/>
          <p:cNvSpPr>
            <a:spLocks noChangeAspect="1"/>
          </p:cNvSpPr>
          <p:nvPr>
            <p:custDataLst>
              <p:tags r:id="rId6"/>
            </p:custDataLst>
          </p:nvPr>
        </p:nvSpPr>
        <p:spPr>
          <a:xfrm>
            <a:off x="1114425" y="3764758"/>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7"/>
            </p:custDataLst>
          </p:nvPr>
        </p:nvSpPr>
        <p:spPr>
          <a:xfrm>
            <a:off x="1114425" y="4622008"/>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8"/>
            </p:custDataLst>
          </p:nvPr>
        </p:nvSpPr>
        <p:spPr>
          <a:xfrm>
            <a:off x="1114425" y="5479258"/>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9"/>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pic>
        <p:nvPicPr>
          <p:cNvPr id="23" name="Picture 10" descr="Diagram&#10;&#10;Description automatically generated"/>
          <p:cNvPicPr>
            <a:picLocks noChangeAspect="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38999" y="1790697"/>
            <a:ext cx="6066001" cy="1820464"/>
          </a:xfrm>
          <a:prstGeom prst="rect">
            <a:avLst/>
          </a:prstGeom>
        </p:spPr>
      </p:pic>
      <p:grpSp>
        <p:nvGrpSpPr>
          <p:cNvPr id="21" name="组合 20"/>
          <p:cNvGrpSpPr/>
          <p:nvPr>
            <p:custDataLst>
              <p:tags r:id="rId10"/>
            </p:custDataLst>
          </p:nvPr>
        </p:nvGrpSpPr>
        <p:grpSpPr>
          <a:xfrm>
            <a:off x="0" y="0"/>
            <a:ext cx="9144000" cy="635000"/>
            <a:chOff x="0" y="0"/>
            <a:chExt cx="9144000" cy="635000"/>
          </a:xfrm>
        </p:grpSpPr>
        <p:sp>
          <p:nvSpPr>
            <p:cNvPr id="17"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20"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11"/>
            </p:custDataLst>
          </p:nvPr>
        </p:nvPicPr>
        <p:blipFill>
          <a:blip r:embed="rId2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p:cNvSpPr txBox="1"/>
              <p:nvPr/>
            </p:nvSpPr>
            <p:spPr>
              <a:xfrm>
                <a:off x="-701881" y="1703327"/>
                <a:ext cx="5643562" cy="353943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US" altLang="en-US" sz="2800" i="1" dirty="0" smtClean="0">
                          <a:latin typeface="Cambria Math" panose="02040503050406030204" pitchFamily="18" charset="0"/>
                        </a:rPr>
                        <m:t>, 0001111,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oMath>
                  </m:oMathPara>
                </a14:m>
                <a:endParaRPr lang="en-US" altLang="en-US" sz="2800" dirty="0">
                  <a:latin typeface="Lucida Sans Unicode" panose="020B0602030504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001111, </m:t>
                      </m:r>
                      <m:r>
                        <a:rPr lang="en-AU" altLang="en-US" sz="2800" b="0" i="1" dirty="0" smtClean="0">
                          <a:latin typeface="Cambria Math" panose="02040503050406030204" pitchFamily="18" charset="0"/>
                        </a:rPr>
                        <m:t>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oMath>
                  </m:oMathPara>
                </a14:m>
                <a:endParaRPr lang="en-US" altLang="en-US" sz="2800" dirty="0">
                  <a:latin typeface="Lucida Sans Unicode" panose="020B0602030504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US" altLang="en-US" sz="2800" i="1" dirty="0" smtClean="0">
                          <a:latin typeface="Cambria Math" panose="02040503050406030204" pitchFamily="18" charset="0"/>
                        </a:rPr>
                        <m:t>, 01111, </m:t>
                      </m:r>
                      <m:r>
                        <a:rPr lang="en-AU" altLang="en-US" sz="2800" b="0" i="1" dirty="0" smtClean="0">
                          <a:latin typeface="Cambria Math" panose="02040503050406030204" pitchFamily="18" charset="0"/>
                        </a:rPr>
                        <m:t>00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oMath>
                  </m:oMathPara>
                </a14:m>
                <a:endParaRPr lang="en-US" altLang="en-US" sz="2800" dirty="0">
                  <a:latin typeface="Lucida Sans Unicode" panose="020B0602030504020204" pitchFamily="34" charset="0"/>
                </a:endParaRPr>
              </a:p>
              <a:p>
                <a:pPr marL="0" indent="0">
                  <a:buNone/>
                </a:pPr>
                <a:r>
                  <a:rPr lang="en-US" altLang="en-US" sz="2800" dirty="0"/>
                  <a:t>                </a:t>
                </a:r>
                <a14:m>
                  <m:oMath xmlns:m="http://schemas.openxmlformats.org/officeDocument/2006/math">
                    <m:d>
                      <m:dPr>
                        <m:ctrlPr>
                          <a:rPr lang="en-US" altLang="en-US" sz="2800" i="1" dirty="0" smtClean="0">
                            <a:latin typeface="Cambria Math" panose="02040503050406030204" pitchFamily="18" charset="0"/>
                          </a:rPr>
                        </m:ctrlPr>
                      </m:dPr>
                      <m:e>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i="1" dirty="0">
                                <a:latin typeface="Cambria Math" panose="02040503050406030204" pitchFamily="18" charset="0"/>
                              </a:rPr>
                              <m:t>0</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1111, </m:t>
                        </m:r>
                        <m:r>
                          <a:rPr lang="en-AU" altLang="en-US" sz="2800" b="0" i="1" dirty="0" smtClean="0">
                            <a:latin typeface="Cambria Math" panose="02040503050406030204" pitchFamily="18" charset="0"/>
                          </a:rPr>
                          <m:t>000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e>
                    </m:d>
                    <m:r>
                      <a:rPr lang="en-US" altLang="en-US" sz="2800" i="1" dirty="0" smtClean="0">
                        <a:latin typeface="Cambria Math" panose="02040503050406030204" pitchFamily="18" charset="0"/>
                      </a:rPr>
                      <m:t>⊦   </m:t>
                    </m:r>
                  </m:oMath>
                </a14:m>
                <a:endParaRPr lang="en-AU" altLang="en-US" sz="2800" i="1" dirty="0">
                  <a:latin typeface="Cambria Math" panose="02040503050406030204" pitchFamily="18" charset="0"/>
                </a:endParaRPr>
              </a:p>
              <a:p>
                <a:pPr marL="0" indent="0">
                  <a:buNone/>
                </a:pPr>
                <a:r>
                  <a:rPr lang="en-US" altLang="en-US" sz="2800" dirty="0"/>
                  <a:t>                </a:t>
                </a:r>
                <a14:m>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US" altLang="en-US" sz="2800" i="1" dirty="0" smtClean="0">
                        <a:latin typeface="Cambria Math" panose="02040503050406030204" pitchFamily="18" charset="0"/>
                      </a:rPr>
                      <m:t>, 111, </m:t>
                    </m:r>
                    <m:r>
                      <a:rPr lang="en-AU" altLang="en-US" sz="2800" b="0" i="1" dirty="0" smtClean="0">
                        <a:latin typeface="Cambria Math" panose="02040503050406030204" pitchFamily="18" charset="0"/>
                      </a:rPr>
                      <m:t>00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oMath>
                </a14:m>
                <a:endParaRPr lang="en-US" altLang="en-US" sz="2800" dirty="0">
                  <a:latin typeface="Lucida Sans Unicode" panose="020B0602030504020204" pitchFamily="34" charset="0"/>
                </a:endParaRPr>
              </a:p>
              <a:p>
                <a:pPr marL="0" indent="0">
                  <a:buNone/>
                </a:pPr>
                <a:r>
                  <a:rPr lang="en-US" altLang="en-US" sz="2800" dirty="0"/>
                  <a:t>                </a:t>
                </a:r>
                <a14:m>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1</m:t>
                        </m:r>
                      </m:sub>
                    </m:sSub>
                    <m:r>
                      <a:rPr lang="en-AU" altLang="en-US" sz="2800" b="0" i="1" dirty="0" smtClean="0">
                        <a:latin typeface="Cambria Math" panose="02040503050406030204" pitchFamily="18" charset="0"/>
                      </a:rPr>
                      <m:t>,</m:t>
                    </m:r>
                    <m:r>
                      <a:rPr lang="en-US" altLang="en-US" sz="2800" i="1" dirty="0" smtClean="0">
                        <a:latin typeface="Cambria Math" panose="02040503050406030204" pitchFamily="18" charset="0"/>
                      </a:rPr>
                      <m:t>11, </m:t>
                    </m:r>
                    <m:r>
                      <a:rPr lang="en-AU" altLang="en-US" sz="2800" b="0" i="1" dirty="0" smtClean="0">
                        <a:latin typeface="Cambria Math" panose="02040503050406030204" pitchFamily="18" charset="0"/>
                      </a:rPr>
                      <m:t>0</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oMath>
                </a14:m>
                <a:endParaRPr lang="en-US" altLang="en-US" sz="2800" dirty="0">
                  <a:latin typeface="Lucida Sans Unicode" panose="020B0602030504020204" pitchFamily="34" charset="0"/>
                </a:endParaRPr>
              </a:p>
              <a:p>
                <a:pPr marL="0" indent="0">
                  <a:buNone/>
                </a:pPr>
                <a:r>
                  <a:rPr lang="en-US" altLang="en-US" sz="2800" dirty="0"/>
                  <a:t>                </a:t>
                </a:r>
                <a14:m>
                  <m:oMath xmlns:m="http://schemas.openxmlformats.org/officeDocument/2006/math">
                    <m:r>
                      <a:rPr lang="en-US" altLang="en-US" sz="2800" i="1" dirty="0" smtClean="0">
                        <a:solidFill>
                          <a:srgbClr val="7030A0"/>
                        </a:solidFill>
                        <a:latin typeface="Cambria Math" panose="02040503050406030204" pitchFamily="18" charset="0"/>
                      </a:rPr>
                      <m:t>(</m:t>
                    </m:r>
                    <m:sSub>
                      <m:sSubPr>
                        <m:ctrlPr>
                          <a:rPr lang="en-US" altLang="en-US" sz="2800" i="1" dirty="0">
                            <a:solidFill>
                              <a:srgbClr val="7030A0"/>
                            </a:solidFill>
                            <a:latin typeface="Cambria Math" panose="02040503050406030204" pitchFamily="18" charset="0"/>
                          </a:rPr>
                        </m:ctrlPr>
                      </m:sSubPr>
                      <m:e>
                        <m:r>
                          <a:rPr lang="en-AU" altLang="en-US" sz="2800" i="1" dirty="0">
                            <a:solidFill>
                              <a:srgbClr val="7030A0"/>
                            </a:solidFill>
                            <a:latin typeface="Cambria Math" panose="02040503050406030204" pitchFamily="18" charset="0"/>
                          </a:rPr>
                          <m:t>𝑞</m:t>
                        </m:r>
                      </m:e>
                      <m:sub>
                        <m:r>
                          <a:rPr lang="en-AU" altLang="en-US" sz="2800" b="0" i="1" dirty="0" smtClean="0">
                            <a:solidFill>
                              <a:srgbClr val="7030A0"/>
                            </a:solidFill>
                            <a:latin typeface="Cambria Math" panose="02040503050406030204" pitchFamily="18" charset="0"/>
                          </a:rPr>
                          <m:t>1</m:t>
                        </m:r>
                      </m:sub>
                    </m:sSub>
                    <m:r>
                      <a:rPr lang="en-US" altLang="en-US" sz="2800" i="1" dirty="0" smtClean="0">
                        <a:solidFill>
                          <a:srgbClr val="7030A0"/>
                        </a:solidFill>
                        <a:latin typeface="Cambria Math" panose="02040503050406030204" pitchFamily="18" charset="0"/>
                      </a:rPr>
                      <m:t>, 1, </m:t>
                    </m:r>
                    <m:r>
                      <a:rPr lang="en-US" altLang="en-US" sz="2800" i="1" dirty="0" smtClean="0">
                        <a:solidFill>
                          <a:srgbClr val="7030A0"/>
                        </a:solidFill>
                        <a:latin typeface="Cambria Math" panose="02040503050406030204" pitchFamily="18" charset="0"/>
                      </a:rPr>
                      <m:t>𝑍</m:t>
                    </m:r>
                    <m:r>
                      <a:rPr lang="en-US" altLang="en-US" sz="2800" i="1" baseline="-25000" dirty="0" smtClean="0">
                        <a:solidFill>
                          <a:srgbClr val="7030A0"/>
                        </a:solidFill>
                        <a:latin typeface="Cambria Math" panose="02040503050406030204" pitchFamily="18" charset="0"/>
                      </a:rPr>
                      <m:t>0</m:t>
                    </m:r>
                    <m:r>
                      <a:rPr lang="en-US" altLang="en-US" sz="2800" i="1" dirty="0" smtClean="0">
                        <a:solidFill>
                          <a:srgbClr val="7030A0"/>
                        </a:solidFill>
                        <a:latin typeface="Cambria Math" panose="02040503050406030204" pitchFamily="18" charset="0"/>
                      </a:rPr>
                      <m:t>)</m:t>
                    </m:r>
                    <m:r>
                      <a:rPr lang="en-US" altLang="en-US" sz="2800" i="1" dirty="0" smtClean="0">
                        <a:latin typeface="Cambria Math" panose="02040503050406030204" pitchFamily="18" charset="0"/>
                      </a:rPr>
                      <m:t>⊦</m:t>
                    </m:r>
                  </m:oMath>
                </a14:m>
                <a:endParaRPr lang="en-US" altLang="en-US" sz="2800" dirty="0">
                  <a:latin typeface="Lucida Sans Unicode" panose="020B0602030504020204" pitchFamily="34" charset="0"/>
                </a:endParaRPr>
              </a:p>
              <a:p>
                <a:pPr marL="0" indent="0">
                  <a:buNone/>
                </a:pPr>
                <a:r>
                  <a:rPr lang="en-US" altLang="en-US" sz="2800" dirty="0"/>
                  <a:t>                </a:t>
                </a:r>
                <a14:m>
                  <m:oMath xmlns:m="http://schemas.openxmlformats.org/officeDocument/2006/math">
                    <m:r>
                      <a:rPr lang="en-US" altLang="en-US" sz="2800" i="1" dirty="0" smtClean="0">
                        <a:latin typeface="Cambria Math" panose="02040503050406030204" pitchFamily="18" charset="0"/>
                      </a:rPr>
                      <m:t>(</m:t>
                    </m:r>
                    <m:sSub>
                      <m:sSubPr>
                        <m:ctrlPr>
                          <a:rPr lang="en-US" altLang="en-US" sz="2800" i="1" dirty="0">
                            <a:latin typeface="Cambria Math" panose="02040503050406030204" pitchFamily="18" charset="0"/>
                          </a:rPr>
                        </m:ctrlPr>
                      </m:sSubPr>
                      <m:e>
                        <m:r>
                          <a:rPr lang="en-AU" altLang="en-US" sz="2800" i="1" dirty="0">
                            <a:latin typeface="Cambria Math" panose="02040503050406030204" pitchFamily="18" charset="0"/>
                          </a:rPr>
                          <m:t>𝑞</m:t>
                        </m:r>
                      </m:e>
                      <m:sub>
                        <m:r>
                          <a:rPr lang="en-AU" altLang="en-US" sz="2800" b="0" i="1" dirty="0" smtClean="0">
                            <a:latin typeface="Cambria Math" panose="02040503050406030204" pitchFamily="18" charset="0"/>
                          </a:rPr>
                          <m:t>2</m:t>
                        </m:r>
                      </m:sub>
                    </m:sSub>
                    <m:r>
                      <a:rPr lang="en-US" altLang="en-US" sz="2800" i="1" dirty="0" smtClean="0">
                        <a:latin typeface="Cambria Math" panose="02040503050406030204" pitchFamily="18" charset="0"/>
                      </a:rPr>
                      <m:t>, 1, </m:t>
                    </m:r>
                    <m:r>
                      <a:rPr lang="en-US" altLang="en-US" sz="2800" i="1" dirty="0" smtClean="0">
                        <a:latin typeface="Cambria Math" panose="02040503050406030204" pitchFamily="18" charset="0"/>
                      </a:rPr>
                      <m:t>𝑍</m:t>
                    </m:r>
                    <m:r>
                      <a:rPr lang="en-US" altLang="en-US" sz="2800" i="1" baseline="-25000" dirty="0" smtClean="0">
                        <a:latin typeface="Cambria Math" panose="02040503050406030204" pitchFamily="18" charset="0"/>
                      </a:rPr>
                      <m:t>0</m:t>
                    </m:r>
                    <m:r>
                      <a:rPr lang="en-US" altLang="en-US" sz="2800" i="1" dirty="0" smtClean="0">
                        <a:latin typeface="Cambria Math" panose="02040503050406030204" pitchFamily="18" charset="0"/>
                      </a:rPr>
                      <m:t>)</m:t>
                    </m:r>
                  </m:oMath>
                </a14:m>
                <a:endParaRPr lang="en-US" altLang="en-US" sz="2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701881" y="1703327"/>
                <a:ext cx="5643562" cy="3539430"/>
              </a:xfrm>
              <a:prstGeom prst="rect">
                <a:avLst/>
              </a:prstGeom>
              <a:blipFill rotWithShape="1">
                <a:blip r:embed="rId3"/>
                <a:stretch>
                  <a:fillRect l="4" t="-7" r="2" b="6"/>
                </a:stretch>
              </a:blipFill>
            </p:spPr>
            <p:txBody>
              <a:bodyPr/>
              <a:lstStyle/>
              <a:p>
                <a:r>
                  <a:rPr lang="zh-CN" altLang="en-US">
                    <a:noFill/>
                  </a:rPr>
                  <a:t> </a:t>
                </a:r>
              </a:p>
            </p:txBody>
          </p:sp>
        </mc:Fallback>
      </mc:AlternateContent>
      <p:sp>
        <p:nvSpPr>
          <p:cNvPr id="2" name="Title 1"/>
          <p:cNvSpPr>
            <a:spLocks noGrp="1"/>
          </p:cNvSpPr>
          <p:nvPr>
            <p:ph type="title"/>
          </p:nvPr>
        </p:nvSpPr>
        <p:spPr/>
        <p:txBody>
          <a:bodyPr/>
          <a:lstStyle/>
          <a:p>
            <a:r>
              <a:rPr lang="zh-CN" altLang="en-US" dirty="0"/>
              <a:t>转移示例</a:t>
            </a:r>
            <a:endParaRPr lang="en-AU" dirty="0"/>
          </a:p>
        </p:txBody>
      </p:sp>
      <p:sp>
        <p:nvSpPr>
          <p:cNvPr id="3" name="Content Placeholder 2"/>
          <p:cNvSpPr>
            <a:spLocks noGrp="1"/>
          </p:cNvSpPr>
          <p:nvPr>
            <p:ph idx="1"/>
          </p:nvPr>
        </p:nvSpPr>
        <p:spPr>
          <a:xfrm>
            <a:off x="457200" y="935497"/>
            <a:ext cx="8229600" cy="4525963"/>
          </a:xfrm>
        </p:spPr>
        <p:txBody>
          <a:bodyPr>
            <a:normAutofit/>
          </a:bodyPr>
          <a:lstStyle/>
          <a:p>
            <a:r>
              <a:rPr lang="zh-CN" altLang="en-US" dirty="0">
                <a:latin typeface="Cambria Math" panose="02040503050406030204" pitchFamily="18" charset="0"/>
              </a:rPr>
              <a:t>如果输入</a:t>
            </a:r>
            <a:r>
              <a:rPr lang="en-AU" altLang="zh-CN" dirty="0">
                <a:latin typeface="Cambria Math" panose="02040503050406030204" pitchFamily="18" charset="0"/>
              </a:rPr>
              <a:t>0001111</a:t>
            </a:r>
            <a:r>
              <a:rPr lang="zh-CN" altLang="en-US" dirty="0">
                <a:latin typeface="Cambria Math" panose="02040503050406030204" pitchFamily="18" charset="0"/>
              </a:rPr>
              <a:t>呢</a:t>
            </a:r>
            <a:r>
              <a:rPr lang="en-AU" altLang="zh-CN" dirty="0">
                <a:latin typeface="Cambria Math" panose="02040503050406030204" pitchFamily="18" charset="0"/>
              </a:rPr>
              <a:t>?</a:t>
            </a:r>
            <a:endParaRPr lang="en-AU" altLang="en-US" dirty="0">
              <a:latin typeface="Cambria Math" panose="02040503050406030204" pitchFamily="18" charset="0"/>
            </a:endParaRPr>
          </a:p>
          <a:p>
            <a:pPr marL="0" indent="0">
              <a:buNone/>
            </a:pP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35</a:t>
            </a:fld>
            <a:endParaRPr lang="en-AU"/>
          </a:p>
        </p:txBody>
      </p:sp>
      <p:sp>
        <p:nvSpPr>
          <p:cNvPr id="6" name="Rectangle: Rounded Corners 5"/>
          <p:cNvSpPr/>
          <p:nvPr/>
        </p:nvSpPr>
        <p:spPr>
          <a:xfrm>
            <a:off x="4329039" y="2746403"/>
            <a:ext cx="2042206" cy="1029712"/>
          </a:xfrm>
          <a:prstGeom prst="round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r>
              <a:rPr lang="zh-CN" altLang="en-US" sz="2000" dirty="0">
                <a:latin typeface="楷体" panose="02010609060101010101" pitchFamily="49" charset="-122"/>
                <a:ea typeface="楷体" panose="02010609060101010101" pitchFamily="49" charset="-122"/>
              </a:rPr>
              <a:t>先通过空转移跳到接受状态。</a:t>
            </a:r>
            <a:endParaRPr lang="en-AU" sz="2000" dirty="0">
              <a:latin typeface="楷体" panose="02010609060101010101" pitchFamily="49" charset="-122"/>
              <a:ea typeface="楷体" panose="02010609060101010101" pitchFamily="49" charset="-122"/>
            </a:endParaRPr>
          </a:p>
        </p:txBody>
      </p:sp>
      <p:cxnSp>
        <p:nvCxnSpPr>
          <p:cNvPr id="8" name="Straight Arrow Connector 7"/>
          <p:cNvCxnSpPr/>
          <p:nvPr/>
        </p:nvCxnSpPr>
        <p:spPr>
          <a:xfrm>
            <a:off x="2597975" y="4960479"/>
            <a:ext cx="26937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flipH="1">
            <a:off x="2931638" y="3687717"/>
            <a:ext cx="1370082" cy="8644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Rounded Corners 13"/>
          <p:cNvSpPr/>
          <p:nvPr/>
        </p:nvSpPr>
        <p:spPr>
          <a:xfrm>
            <a:off x="5361854" y="4011311"/>
            <a:ext cx="2965096" cy="1450149"/>
          </a:xfrm>
          <a:prstGeom prst="round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r>
              <a:rPr lang="zh-CN" altLang="en-US" sz="2000" dirty="0">
                <a:latin typeface="楷体" panose="02010609060101010101" pitchFamily="49" charset="-122"/>
                <a:ea typeface="楷体" panose="02010609060101010101" pitchFamily="49" charset="-122"/>
              </a:rPr>
              <a:t>在接受状态时，读入最后一个</a:t>
            </a:r>
            <a:r>
              <a:rPr lang="en-AU"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，但未定义相应的动作，所以最终处于未定义状态</a:t>
            </a:r>
            <a:r>
              <a:rPr lang="en-AU"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卡住</a:t>
            </a:r>
            <a:r>
              <a:rPr lang="en-AU"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a:t>
            </a:r>
            <a:endParaRPr lang="en-AU" sz="2000" dirty="0">
              <a:latin typeface="楷体" panose="02010609060101010101" pitchFamily="49" charset="-122"/>
              <a:ea typeface="楷体" panose="02010609060101010101" pitchFamily="49" charset="-122"/>
            </a:endParaRPr>
          </a:p>
        </p:txBody>
      </p:sp>
      <p:pic>
        <p:nvPicPr>
          <p:cNvPr id="9" name="Picture 8"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29039" y="1215157"/>
            <a:ext cx="4586361" cy="13764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36</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400" dirty="0"/>
                  <a:t>例：识别语言</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𝐿</m:t>
                        </m:r>
                      </m:e>
                      <m:sub>
                        <m:r>
                          <a:rPr lang="en-AU" altLang="zh-CN" sz="2400" i="1" dirty="0">
                            <a:latin typeface="Cambria Math" panose="02040503050406030204" pitchFamily="18" charset="0"/>
                          </a:rPr>
                          <m:t>𝑤𝑤𝑟</m:t>
                        </m:r>
                      </m:sub>
                    </m:sSub>
                    <m:r>
                      <a:rPr lang="en-AU" altLang="zh-CN" sz="2400" i="1" dirty="0">
                        <a:latin typeface="Cambria Math" panose="02040503050406030204" pitchFamily="18" charset="0"/>
                      </a:rPr>
                      <m:t>= {</m:t>
                    </m:r>
                    <m:r>
                      <a:rPr lang="en-AU" altLang="zh-CN" sz="2400" i="1" dirty="0" err="1">
                        <a:latin typeface="Cambria Math" panose="02040503050406030204" pitchFamily="18" charset="0"/>
                      </a:rPr>
                      <m:t>𝑤</m:t>
                    </m:r>
                    <m:sSup>
                      <m:sSupPr>
                        <m:ctrlPr>
                          <a:rPr lang="en-AU" altLang="zh-CN" sz="2400" i="1" dirty="0">
                            <a:latin typeface="Cambria Math" panose="02040503050406030204" pitchFamily="18" charset="0"/>
                          </a:rPr>
                        </m:ctrlPr>
                      </m:sSupPr>
                      <m:e>
                        <m:r>
                          <a:rPr lang="en-AU" altLang="zh-CN" sz="2400" i="1" dirty="0">
                            <a:latin typeface="Cambria Math" panose="02040503050406030204" pitchFamily="18" charset="0"/>
                          </a:rPr>
                          <m:t>𝑤</m:t>
                        </m:r>
                      </m:e>
                      <m:sup>
                        <m:r>
                          <a:rPr lang="en-AU" altLang="zh-CN" sz="2400" i="1" dirty="0">
                            <a:latin typeface="Cambria Math" panose="02040503050406030204" pitchFamily="18" charset="0"/>
                          </a:rPr>
                          <m:t>𝑅</m:t>
                        </m:r>
                      </m:sup>
                    </m:sSup>
                    <m:r>
                      <a:rPr lang="en-AU" altLang="zh-CN" sz="2400" i="1" dirty="0">
                        <a:latin typeface="Cambria Math" panose="02040503050406030204" pitchFamily="18" charset="0"/>
                      </a:rPr>
                      <m:t> | </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p>
                      <m:sSupPr>
                        <m:ctrlPr>
                          <a:rPr lang="en-AU" altLang="zh-CN" sz="2400" i="1" dirty="0">
                            <a:latin typeface="Cambria Math" panose="02040503050406030204" pitchFamily="18" charset="0"/>
                          </a:rPr>
                        </m:ctrlPr>
                      </m:sSupPr>
                      <m:e>
                        <m:r>
                          <a:rPr lang="en-AU" altLang="zh-CN" sz="2400" i="1" dirty="0">
                            <a:latin typeface="Cambria Math" panose="02040503050406030204" pitchFamily="18" charset="0"/>
                          </a:rPr>
                          <m:t>(0+1)</m:t>
                        </m:r>
                      </m:e>
                      <m:sup>
                        <m:r>
                          <a:rPr lang="en-AU" altLang="zh-CN" sz="2400" i="1" dirty="0">
                            <a:latin typeface="Cambria Math" panose="02040503050406030204" pitchFamily="18" charset="0"/>
                          </a:rPr>
                          <m:t>∗</m:t>
                        </m:r>
                      </m:sup>
                    </m:sSup>
                    <m:r>
                      <a:rPr lang="en-AU" altLang="zh-CN" sz="2400" i="1" dirty="0">
                        <a:latin typeface="Cambria Math" panose="02040503050406030204" pitchFamily="18" charset="0"/>
                      </a:rPr>
                      <m:t> }</m:t>
                    </m:r>
                  </m:oMath>
                </a14:m>
                <a:r>
                  <a:rPr lang="zh-CN" altLang="en-US" sz="2400" dirty="0"/>
                  <a:t>的</a:t>
                </a:r>
                <a:r>
                  <a:rPr lang="en-AU" altLang="zh-CN" sz="2400" dirty="0">
                    <a:latin typeface="Times New Roman" panose="02020603050405020304" pitchFamily="18" charset="0"/>
                    <a:cs typeface="Times New Roman" panose="02020603050405020304" pitchFamily="18" charset="0"/>
                  </a:rPr>
                  <a:t>PDA</a:t>
                </a:r>
                <a:r>
                  <a:rPr lang="en-AU" altLang="zh-CN" sz="2400" dirty="0"/>
                  <a:t>, </a:t>
                </a:r>
                <a:r>
                  <a:rPr lang="zh-CN" altLang="en-US" sz="2400" dirty="0"/>
                  <a:t>求识别 </a:t>
                </a:r>
                <a:r>
                  <a:rPr lang="en-US" altLang="zh-CN" sz="2400" dirty="0"/>
                  <a:t>1111</a:t>
                </a:r>
                <a:r>
                  <a:rPr lang="zh-CN" altLang="en-US" sz="2400" dirty="0"/>
                  <a:t>时到达的</a:t>
                </a:r>
                <a:r>
                  <a:rPr lang="en-AU" altLang="zh-CN" sz="2400" dirty="0">
                    <a:latin typeface="Times New Roman" panose="02020603050405020304" pitchFamily="18" charset="0"/>
                    <a:cs typeface="Times New Roman" panose="02020603050405020304" pitchFamily="18" charset="0"/>
                  </a:rPr>
                  <a:t>ID</a:t>
                </a:r>
                <a:r>
                  <a:rPr lang="zh-CN" altLang="en-US" sz="2400" dirty="0">
                    <a:latin typeface="Times New Roman" panose="02020603050405020304" pitchFamily="18" charset="0"/>
                    <a:cs typeface="Times New Roman" panose="02020603050405020304" pitchFamily="18" charset="0"/>
                  </a:rPr>
                  <a:t>集（包括卡住和接受两种情况）</a:t>
                </a:r>
                <a:r>
                  <a:rPr lang="zh-CN" altLang="en-US" sz="2400" dirty="0"/>
                  <a:t>。</a:t>
                </a:r>
                <a:endParaRPr lang="en-AU" altLang="zh-CN" sz="2400" dirty="0"/>
              </a:p>
            </p:txBody>
          </p:sp>
        </mc:Choice>
        <mc:Fallback xmlns="">
          <p:sp>
            <p:nvSpPr>
              <p:cNvPr id="7" name="文本框 6"/>
              <p:cNvSpPr txBox="1">
                <a:spLocks noRot="1" noChangeAspect="1" noMove="1" noResize="1" noEditPoints="1" noAdjustHandles="1" noChangeArrowheads="1" noChangeShapeType="1" noTextEdit="1"/>
              </p:cNvSpPr>
              <p:nvPr>
                <p:custDataLst>
                  <p:tags r:id="rId12"/>
                </p:custDataLst>
              </p:nvPr>
            </p:nvSpPr>
            <p:spPr>
              <a:xfrm>
                <a:off x="914400" y="635000"/>
                <a:ext cx="7315200" cy="2143125"/>
              </a:xfrm>
              <a:prstGeom prst="rect">
                <a:avLst/>
              </a:prstGeom>
              <a:blipFill rotWithShape="1">
                <a:blip r:embed="rId13"/>
                <a:stretch>
                  <a:fillRect r="-2535"/>
                </a:stretch>
              </a:blipFill>
            </p:spPr>
            <p:txBody>
              <a:bodyPr/>
              <a:lstStyle/>
              <a:p>
                <a:r>
                  <a:rPr lang="zh-CN" altLang="en-US">
                    <a:noFill/>
                  </a:rPr>
                  <a:t> </a:t>
                </a:r>
              </a:p>
            </p:txBody>
          </p:sp>
        </mc:Fallback>
      </mc:AlternateContent>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pic>
        <p:nvPicPr>
          <p:cNvPr id="16" name="Picture 41" descr="Diagram&#10;&#10;Description automatically generated"/>
          <p:cNvPicPr>
            <a:picLocks noChangeAspect="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13841" y="2636047"/>
            <a:ext cx="4916317" cy="2328157"/>
          </a:xfrm>
          <a:prstGeom prst="rect">
            <a:avLst/>
          </a:prstGeom>
        </p:spPr>
      </p:pic>
      <p:grpSp>
        <p:nvGrpSpPr>
          <p:cNvPr id="13" name="组合 12"/>
          <p:cNvGrpSpPr/>
          <p:nvPr>
            <p:custDataLst>
              <p:tags r:id="rId5"/>
            </p:custDataLst>
          </p:nvPr>
        </p:nvGrpSpPr>
        <p:grpSpPr>
          <a:xfrm>
            <a:off x="0" y="0"/>
            <a:ext cx="9144000" cy="635000"/>
            <a:chOff x="0" y="0"/>
            <a:chExt cx="9144000" cy="635000"/>
          </a:xfrm>
        </p:grpSpPr>
        <p:sp>
          <p:nvSpPr>
            <p:cNvPr id="9"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6"/>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Diagram&#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38548" y="770045"/>
            <a:ext cx="3953052" cy="1871996"/>
          </a:xfrm>
          <a:prstGeom prst="rect">
            <a:avLst/>
          </a:prstGeom>
        </p:spPr>
      </p:pic>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fontScale="90000"/>
              </a:bodyPr>
              <a:lstStyle/>
              <a:p>
                <a:r>
                  <a:rPr lang="zh-CN" altLang="en-US" dirty="0">
                    <a:latin typeface="Times New Roman" panose="02020603050405020304" pitchFamily="18" charset="0"/>
                    <a:cs typeface="Times New Roman" panose="02020603050405020304" pitchFamily="18" charset="0"/>
                  </a:rPr>
                  <a:t>转移示例</a:t>
                </a:r>
                <a:r>
                  <a:rPr lang="en-AU" altLang="zh-CN"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𝐿</m:t>
                        </m:r>
                      </m:e>
                      <m:sub>
                        <m:r>
                          <a:rPr lang="en-AU" altLang="zh-CN" b="0" i="1" dirty="0" smtClean="0">
                            <a:latin typeface="Cambria Math" panose="02040503050406030204" pitchFamily="18" charset="0"/>
                          </a:rPr>
                          <m:t>𝑤𝑤𝑟</m:t>
                        </m:r>
                      </m:sub>
                    </m:sSub>
                  </m:oMath>
                </a14:m>
                <a:r>
                  <a:rPr lang="zh-CN" altLang="en-US" dirty="0">
                    <a:latin typeface="Times New Roman" panose="02020603050405020304" pitchFamily="18" charset="0"/>
                    <a:cs typeface="Times New Roman" panose="02020603050405020304" pitchFamily="18" charset="0"/>
                  </a:rPr>
                  <a:t>的</a:t>
                </a:r>
                <a:r>
                  <a:rPr lang="en-AU" altLang="zh-CN"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，以</a:t>
                </a:r>
                <a:r>
                  <a:rPr lang="en-AU" altLang="zh-CN" dirty="0">
                    <a:latin typeface="Times New Roman" panose="02020603050405020304" pitchFamily="18" charset="0"/>
                    <a:cs typeface="Times New Roman" panose="02020603050405020304" pitchFamily="18" charset="0"/>
                  </a:rPr>
                  <a:t>1111</a:t>
                </a:r>
                <a:r>
                  <a:rPr lang="zh-CN" altLang="en-US" dirty="0">
                    <a:latin typeface="Times New Roman" panose="02020603050405020304" pitchFamily="18" charset="0"/>
                    <a:cs typeface="Times New Roman" panose="02020603050405020304" pitchFamily="18" charset="0"/>
                  </a:rPr>
                  <a:t>为输入示例</a:t>
                </a:r>
                <a:r>
                  <a:rPr lang="en-AU" altLang="zh-CN" dirty="0">
                    <a:latin typeface="Times New Roman" panose="02020603050405020304" pitchFamily="18" charset="0"/>
                    <a:cs typeface="Times New Roman" panose="02020603050405020304" pitchFamily="18" charset="0"/>
                  </a:rPr>
                  <a:t>)</a:t>
                </a:r>
                <a:endParaRPr lang="en-AU" dirty="0">
                  <a:latin typeface="Times New Roman" panose="02020603050405020304" pitchFamily="18" charset="0"/>
                  <a:cs typeface="Times New Roman" panose="02020603050405020304" pitchFamily="18" charset="0"/>
                </a:endParaRPr>
              </a:p>
            </p:txBody>
          </p:sp>
        </mc:Choice>
        <mc:Fallback xmlns="">
          <p:sp>
            <p:nvSpPr>
              <p:cNvPr id="2" name="Title 1"/>
              <p:cNvSpPr>
                <a:spLocks noRot="1" noChangeAspect="1" noMove="1" noResize="1" noEditPoints="1" noAdjustHandles="1" noChangeArrowheads="1" noChangeShapeType="1" noTextEdit="1"/>
              </p:cNvSpPr>
              <p:nvPr>
                <p:ph type="title"/>
              </p:nvPr>
            </p:nvSpPr>
            <p:spPr>
              <a:blipFill rotWithShape="1">
                <a:blip r:embed="rId4"/>
                <a:stretch>
                  <a:fillRect t="-11955" b="-1421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latin typeface="Times New Roman" panose="02020603050405020304" pitchFamily="18" charset="0"/>
                <a:cs typeface="Times New Roman" panose="02020603050405020304" pitchFamily="18" charset="0"/>
              </a:rPr>
              <a:t>37</a:t>
            </a:fld>
            <a:endParaRPr lang="en-AU">
              <a:latin typeface="Times New Roman" panose="02020603050405020304" pitchFamily="18" charset="0"/>
              <a:cs typeface="Times New Roman" panose="02020603050405020304" pitchFamily="18" charset="0"/>
            </a:endParaRPr>
          </a:p>
        </p:txBody>
      </p:sp>
      <p:sp>
        <p:nvSpPr>
          <p:cNvPr id="5" name="Text Box 6"/>
          <p:cNvSpPr txBox="1">
            <a:spLocks noChangeArrowheads="1"/>
          </p:cNvSpPr>
          <p:nvPr/>
        </p:nvSpPr>
        <p:spPr bwMode="auto">
          <a:xfrm>
            <a:off x="253465" y="1824039"/>
            <a:ext cx="1178079" cy="338554"/>
          </a:xfrm>
          <a:prstGeom prst="rect">
            <a:avLst/>
          </a:prstGeom>
          <a:noFill/>
          <a:ln w="9525">
            <a:noFill/>
            <a:miter lim="800000"/>
          </a:ln>
        </p:spPr>
        <p:txBody>
          <a:bodyPr wrap="none">
            <a:spAutoFit/>
          </a:bodyPr>
          <a:lstStyle/>
          <a:p>
            <a:r>
              <a:rPr lang="en-US" sz="1600">
                <a:solidFill>
                  <a:srgbClr val="006600"/>
                </a:solidFill>
                <a:latin typeface="Times New Roman" panose="02020603050405020304" pitchFamily="18" charset="0"/>
                <a:cs typeface="Times New Roman" panose="02020603050405020304" pitchFamily="18" charset="0"/>
              </a:rPr>
              <a:t>(q</a:t>
            </a:r>
            <a:r>
              <a:rPr lang="en-US" sz="1600" baseline="-25000">
                <a:solidFill>
                  <a:srgbClr val="006600"/>
                </a:solidFill>
                <a:latin typeface="Times New Roman" panose="02020603050405020304" pitchFamily="18" charset="0"/>
                <a:cs typeface="Times New Roman" panose="02020603050405020304" pitchFamily="18" charset="0"/>
              </a:rPr>
              <a:t>0</a:t>
            </a:r>
            <a:r>
              <a:rPr lang="en-US" sz="1600">
                <a:solidFill>
                  <a:srgbClr val="006600"/>
                </a:solidFill>
                <a:latin typeface="Times New Roman" panose="02020603050405020304" pitchFamily="18" charset="0"/>
                <a:cs typeface="Times New Roman" panose="02020603050405020304" pitchFamily="18" charset="0"/>
              </a:rPr>
              <a:t>,1111,Z</a:t>
            </a:r>
            <a:r>
              <a:rPr lang="en-US" sz="1600" baseline="-25000">
                <a:solidFill>
                  <a:srgbClr val="006600"/>
                </a:solidFill>
                <a:latin typeface="Times New Roman" panose="02020603050405020304" pitchFamily="18" charset="0"/>
                <a:cs typeface="Times New Roman" panose="02020603050405020304" pitchFamily="18" charset="0"/>
              </a:rPr>
              <a:t>0</a:t>
            </a:r>
            <a:r>
              <a:rPr lang="en-US" sz="1600">
                <a:solidFill>
                  <a:srgbClr val="006600"/>
                </a:solidFill>
                <a:latin typeface="Times New Roman" panose="02020603050405020304" pitchFamily="18" charset="0"/>
                <a:cs typeface="Times New Roman" panose="02020603050405020304" pitchFamily="18" charset="0"/>
              </a:rPr>
              <a:t>)</a:t>
            </a:r>
          </a:p>
        </p:txBody>
      </p:sp>
      <p:sp>
        <p:nvSpPr>
          <p:cNvPr id="6" name="Text Box 7"/>
          <p:cNvSpPr txBox="1">
            <a:spLocks noChangeArrowheads="1"/>
          </p:cNvSpPr>
          <p:nvPr/>
        </p:nvSpPr>
        <p:spPr bwMode="auto">
          <a:xfrm>
            <a:off x="269340" y="2413001"/>
            <a:ext cx="1185709" cy="338554"/>
          </a:xfrm>
          <a:prstGeom prst="rect">
            <a:avLst/>
          </a:prstGeom>
          <a:noFill/>
          <a:ln w="9525">
            <a:noFill/>
            <a:miter lim="800000"/>
          </a:ln>
        </p:spPr>
        <p:txBody>
          <a:bodyPr wrap="none">
            <a:spAutoFit/>
          </a:bodyPr>
          <a:lstStyle/>
          <a:p>
            <a:r>
              <a:rPr lang="en-US" sz="1600" dirty="0">
                <a:solidFill>
                  <a:srgbClr val="006600"/>
                </a:solidFill>
                <a:latin typeface="Times New Roman" panose="02020603050405020304" pitchFamily="18" charset="0"/>
                <a:cs typeface="Times New Roman" panose="02020603050405020304" pitchFamily="18" charset="0"/>
              </a:rPr>
              <a:t>(q</a:t>
            </a:r>
            <a:r>
              <a:rPr lang="en-US" sz="1600" baseline="-25000" dirty="0">
                <a:solidFill>
                  <a:srgbClr val="006600"/>
                </a:solidFill>
                <a:latin typeface="Times New Roman" panose="02020603050405020304" pitchFamily="18" charset="0"/>
                <a:cs typeface="Times New Roman" panose="02020603050405020304" pitchFamily="18" charset="0"/>
              </a:rPr>
              <a:t>0</a:t>
            </a:r>
            <a:r>
              <a:rPr lang="en-US" sz="1600" dirty="0">
                <a:solidFill>
                  <a:srgbClr val="006600"/>
                </a:solidFill>
                <a:latin typeface="Times New Roman" panose="02020603050405020304" pitchFamily="18" charset="0"/>
                <a:cs typeface="Times New Roman" panose="02020603050405020304" pitchFamily="18" charset="0"/>
              </a:rPr>
              <a:t>,111,1Z</a:t>
            </a:r>
            <a:r>
              <a:rPr lang="en-US" sz="1600" baseline="-25000" dirty="0">
                <a:solidFill>
                  <a:srgbClr val="006600"/>
                </a:solidFill>
                <a:latin typeface="Times New Roman" panose="02020603050405020304" pitchFamily="18" charset="0"/>
                <a:cs typeface="Times New Roman" panose="02020603050405020304" pitchFamily="18" charset="0"/>
              </a:rPr>
              <a:t>0</a:t>
            </a:r>
            <a:r>
              <a:rPr lang="en-US" sz="1600" dirty="0">
                <a:solidFill>
                  <a:srgbClr val="006600"/>
                </a:solidFill>
                <a:latin typeface="Times New Roman" panose="02020603050405020304" pitchFamily="18" charset="0"/>
                <a:cs typeface="Times New Roman" panose="02020603050405020304" pitchFamily="18" charset="0"/>
              </a:rPr>
              <a:t>)</a:t>
            </a:r>
          </a:p>
        </p:txBody>
      </p:sp>
      <p:sp>
        <p:nvSpPr>
          <p:cNvPr id="7" name="Text Box 8"/>
          <p:cNvSpPr txBox="1">
            <a:spLocks noChangeArrowheads="1"/>
          </p:cNvSpPr>
          <p:nvPr/>
        </p:nvSpPr>
        <p:spPr bwMode="auto">
          <a:xfrm>
            <a:off x="345540" y="3022601"/>
            <a:ext cx="1185709" cy="338554"/>
          </a:xfrm>
          <a:prstGeom prst="rect">
            <a:avLst/>
          </a:prstGeom>
          <a:noFill/>
          <a:ln w="9525">
            <a:noFill/>
            <a:miter lim="800000"/>
          </a:ln>
        </p:spPr>
        <p:txBody>
          <a:bodyPr wrap="none">
            <a:spAutoFit/>
          </a:bodyPr>
          <a:lstStyle/>
          <a:p>
            <a:r>
              <a:rPr lang="en-US" sz="1600">
                <a:solidFill>
                  <a:srgbClr val="006600"/>
                </a:solidFill>
                <a:latin typeface="Times New Roman" panose="02020603050405020304" pitchFamily="18" charset="0"/>
                <a:cs typeface="Times New Roman" panose="02020603050405020304" pitchFamily="18" charset="0"/>
              </a:rPr>
              <a:t>(q</a:t>
            </a:r>
            <a:r>
              <a:rPr lang="en-US" sz="1600" baseline="-25000">
                <a:solidFill>
                  <a:srgbClr val="006600"/>
                </a:solidFill>
                <a:latin typeface="Times New Roman" panose="02020603050405020304" pitchFamily="18" charset="0"/>
                <a:cs typeface="Times New Roman" panose="02020603050405020304" pitchFamily="18" charset="0"/>
              </a:rPr>
              <a:t>0</a:t>
            </a:r>
            <a:r>
              <a:rPr lang="en-US" sz="1600">
                <a:solidFill>
                  <a:srgbClr val="006600"/>
                </a:solidFill>
                <a:latin typeface="Times New Roman" panose="02020603050405020304" pitchFamily="18" charset="0"/>
                <a:cs typeface="Times New Roman" panose="02020603050405020304" pitchFamily="18" charset="0"/>
              </a:rPr>
              <a:t>,11,11Z</a:t>
            </a:r>
            <a:r>
              <a:rPr lang="en-US" sz="1600" baseline="-25000">
                <a:solidFill>
                  <a:srgbClr val="006600"/>
                </a:solidFill>
                <a:latin typeface="Times New Roman" panose="02020603050405020304" pitchFamily="18" charset="0"/>
                <a:cs typeface="Times New Roman" panose="02020603050405020304" pitchFamily="18" charset="0"/>
              </a:rPr>
              <a:t>0</a:t>
            </a:r>
            <a:r>
              <a:rPr lang="en-US" sz="1600">
                <a:solidFill>
                  <a:srgbClr val="006600"/>
                </a:solidFill>
                <a:latin typeface="Times New Roman" panose="02020603050405020304" pitchFamily="18" charset="0"/>
                <a:cs typeface="Times New Roman" panose="02020603050405020304" pitchFamily="18" charset="0"/>
              </a:rPr>
              <a:t>)</a:t>
            </a:r>
          </a:p>
        </p:txBody>
      </p:sp>
      <p:sp>
        <p:nvSpPr>
          <p:cNvPr id="8" name="Text Box 9"/>
          <p:cNvSpPr txBox="1">
            <a:spLocks noChangeArrowheads="1"/>
          </p:cNvSpPr>
          <p:nvPr/>
        </p:nvSpPr>
        <p:spPr bwMode="auto">
          <a:xfrm>
            <a:off x="345540" y="3632201"/>
            <a:ext cx="1185709" cy="338554"/>
          </a:xfrm>
          <a:prstGeom prst="rect">
            <a:avLst/>
          </a:prstGeom>
          <a:noFill/>
          <a:ln w="9525">
            <a:noFill/>
            <a:miter lim="800000"/>
          </a:ln>
        </p:spPr>
        <p:txBody>
          <a:bodyPr wrap="none">
            <a:spAutoFit/>
          </a:bodyPr>
          <a:lstStyle/>
          <a:p>
            <a:r>
              <a:rPr lang="en-US" sz="1600" dirty="0">
                <a:solidFill>
                  <a:schemeClr val="hlink"/>
                </a:solidFill>
                <a:latin typeface="Times New Roman" panose="02020603050405020304" pitchFamily="18" charset="0"/>
                <a:cs typeface="Times New Roman" panose="02020603050405020304" pitchFamily="18" charset="0"/>
              </a:rPr>
              <a:t>(q</a:t>
            </a:r>
            <a:r>
              <a:rPr lang="en-US" sz="1600" baseline="-25000" dirty="0">
                <a:solidFill>
                  <a:schemeClr val="hlink"/>
                </a:solidFill>
                <a:latin typeface="Times New Roman" panose="02020603050405020304" pitchFamily="18" charset="0"/>
                <a:cs typeface="Times New Roman" panose="02020603050405020304" pitchFamily="18" charset="0"/>
              </a:rPr>
              <a:t>0</a:t>
            </a:r>
            <a:r>
              <a:rPr lang="en-US" sz="1600" dirty="0">
                <a:solidFill>
                  <a:schemeClr val="hlink"/>
                </a:solidFill>
                <a:latin typeface="Times New Roman" panose="02020603050405020304" pitchFamily="18" charset="0"/>
                <a:cs typeface="Times New Roman" panose="02020603050405020304" pitchFamily="18" charset="0"/>
              </a:rPr>
              <a:t>,1,111Z</a:t>
            </a:r>
            <a:r>
              <a:rPr lang="en-US" sz="1600" baseline="-25000" dirty="0">
                <a:solidFill>
                  <a:schemeClr val="hlink"/>
                </a:solidFill>
                <a:latin typeface="Times New Roman" panose="02020603050405020304" pitchFamily="18" charset="0"/>
                <a:cs typeface="Times New Roman" panose="02020603050405020304" pitchFamily="18" charset="0"/>
              </a:rPr>
              <a:t>0</a:t>
            </a:r>
            <a:r>
              <a:rPr lang="en-US" sz="1600" dirty="0">
                <a:solidFill>
                  <a:schemeClr val="hlink"/>
                </a:solidFill>
                <a:latin typeface="Times New Roman" panose="02020603050405020304" pitchFamily="18" charset="0"/>
                <a:cs typeface="Times New Roman" panose="02020603050405020304" pitchFamily="18" charset="0"/>
              </a:rPr>
              <a:t>)</a:t>
            </a:r>
          </a:p>
        </p:txBody>
      </p:sp>
      <p:sp>
        <p:nvSpPr>
          <p:cNvPr id="9" name="Text Box 10"/>
          <p:cNvSpPr txBox="1">
            <a:spLocks noChangeArrowheads="1"/>
          </p:cNvSpPr>
          <p:nvPr/>
        </p:nvSpPr>
        <p:spPr bwMode="auto">
          <a:xfrm>
            <a:off x="364590" y="4318001"/>
            <a:ext cx="1504950" cy="336550"/>
          </a:xfrm>
          <a:prstGeom prst="rect">
            <a:avLst/>
          </a:prstGeom>
          <a:noFill/>
          <a:ln w="9525">
            <a:noFill/>
            <a:miter lim="800000"/>
          </a:ln>
        </p:spPr>
        <p:txBody>
          <a:bodyPr>
            <a:spAutoFit/>
          </a:bodyPr>
          <a:lstStyle/>
          <a:p>
            <a:r>
              <a:rPr lang="en-US" sz="1600">
                <a:solidFill>
                  <a:schemeClr val="hlink"/>
                </a:solidFill>
                <a:latin typeface="Times New Roman" panose="02020603050405020304" pitchFamily="18" charset="0"/>
                <a:cs typeface="Times New Roman" panose="02020603050405020304" pitchFamily="18" charset="0"/>
              </a:rPr>
              <a:t>(q</a:t>
            </a:r>
            <a:r>
              <a:rPr lang="en-US" sz="1600" baseline="-25000">
                <a:solidFill>
                  <a:schemeClr val="hlink"/>
                </a:solidFill>
                <a:latin typeface="Times New Roman" panose="02020603050405020304" pitchFamily="18" charset="0"/>
                <a:cs typeface="Times New Roman" panose="02020603050405020304" pitchFamily="18" charset="0"/>
              </a:rPr>
              <a:t>0</a:t>
            </a:r>
            <a:r>
              <a:rPr lang="en-US" sz="1600">
                <a:solidFill>
                  <a:schemeClr val="hlink"/>
                </a:solidFill>
                <a:latin typeface="Times New Roman" panose="02020603050405020304" pitchFamily="18" charset="0"/>
                <a:cs typeface="Times New Roman" panose="02020603050405020304" pitchFamily="18" charset="0"/>
              </a:rPr>
              <a:t>,</a:t>
            </a:r>
            <a:r>
              <a:rPr lang="en-US" sz="1600">
                <a:solidFill>
                  <a:schemeClr val="hlink"/>
                </a:solidFill>
                <a:latin typeface="Times New Roman" panose="02020603050405020304" pitchFamily="18" charset="0"/>
                <a:cs typeface="Times New Roman" panose="02020603050405020304" pitchFamily="18" charset="0"/>
                <a:sym typeface="Symbol" panose="05050102010706020507" pitchFamily="28" charset="2"/>
              </a:rPr>
              <a:t></a:t>
            </a:r>
            <a:r>
              <a:rPr lang="en-US" sz="1600">
                <a:solidFill>
                  <a:schemeClr val="hlink"/>
                </a:solidFill>
                <a:latin typeface="Times New Roman" panose="02020603050405020304" pitchFamily="18" charset="0"/>
                <a:cs typeface="Times New Roman" panose="02020603050405020304" pitchFamily="18" charset="0"/>
              </a:rPr>
              <a:t>,1111Z</a:t>
            </a:r>
            <a:r>
              <a:rPr lang="en-US" sz="1600" baseline="-25000">
                <a:solidFill>
                  <a:schemeClr val="hlink"/>
                </a:solidFill>
                <a:latin typeface="Times New Roman" panose="02020603050405020304" pitchFamily="18" charset="0"/>
                <a:cs typeface="Times New Roman" panose="02020603050405020304" pitchFamily="18" charset="0"/>
              </a:rPr>
              <a:t>0</a:t>
            </a:r>
            <a:r>
              <a:rPr lang="en-US" sz="1600">
                <a:solidFill>
                  <a:schemeClr val="hlink"/>
                </a:solidFill>
                <a:latin typeface="Times New Roman" panose="02020603050405020304" pitchFamily="18" charset="0"/>
                <a:cs typeface="Times New Roman" panose="02020603050405020304" pitchFamily="18" charset="0"/>
              </a:rPr>
              <a:t>)</a:t>
            </a:r>
          </a:p>
        </p:txBody>
      </p:sp>
      <p:sp>
        <p:nvSpPr>
          <p:cNvPr id="10" name="Text Box 11"/>
          <p:cNvSpPr txBox="1">
            <a:spLocks noChangeArrowheads="1"/>
          </p:cNvSpPr>
          <p:nvPr/>
        </p:nvSpPr>
        <p:spPr bwMode="auto">
          <a:xfrm>
            <a:off x="421740" y="5013326"/>
            <a:ext cx="1319144" cy="338554"/>
          </a:xfrm>
          <a:prstGeom prst="rect">
            <a:avLst/>
          </a:prstGeom>
          <a:noFill/>
          <a:ln w="9525">
            <a:noFill/>
            <a:miter lim="800000"/>
          </a:ln>
        </p:spPr>
        <p:txBody>
          <a:bodyPr wrap="none">
            <a:spAutoFit/>
          </a:bodyPr>
          <a:lstStyle/>
          <a:p>
            <a:r>
              <a:rPr lang="en-US" sz="1600">
                <a:solidFill>
                  <a:schemeClr val="hlink"/>
                </a:solidFill>
                <a:latin typeface="Times New Roman" panose="02020603050405020304" pitchFamily="18" charset="0"/>
                <a:cs typeface="Times New Roman" panose="02020603050405020304" pitchFamily="18" charset="0"/>
              </a:rPr>
              <a:t>(q</a:t>
            </a:r>
            <a:r>
              <a:rPr lang="en-US" sz="1600" baseline="-25000">
                <a:solidFill>
                  <a:schemeClr val="hlink"/>
                </a:solidFill>
                <a:latin typeface="Times New Roman" panose="02020603050405020304" pitchFamily="18" charset="0"/>
                <a:cs typeface="Times New Roman" panose="02020603050405020304" pitchFamily="18" charset="0"/>
              </a:rPr>
              <a:t>1</a:t>
            </a:r>
            <a:r>
              <a:rPr lang="en-US" sz="1600">
                <a:solidFill>
                  <a:schemeClr val="hlink"/>
                </a:solidFill>
                <a:latin typeface="Times New Roman" panose="02020603050405020304" pitchFamily="18" charset="0"/>
                <a:cs typeface="Times New Roman" panose="02020603050405020304" pitchFamily="18" charset="0"/>
              </a:rPr>
              <a:t>, </a:t>
            </a:r>
            <a:r>
              <a:rPr lang="en-US" sz="1600">
                <a:solidFill>
                  <a:schemeClr val="hlink"/>
                </a:solidFill>
                <a:latin typeface="Times New Roman" panose="02020603050405020304" pitchFamily="18" charset="0"/>
                <a:cs typeface="Times New Roman" panose="02020603050405020304" pitchFamily="18" charset="0"/>
                <a:sym typeface="Symbol" panose="05050102010706020507" pitchFamily="28" charset="2"/>
              </a:rPr>
              <a:t></a:t>
            </a:r>
            <a:r>
              <a:rPr lang="en-US" sz="1600">
                <a:solidFill>
                  <a:schemeClr val="hlink"/>
                </a:solidFill>
                <a:latin typeface="Times New Roman" panose="02020603050405020304" pitchFamily="18" charset="0"/>
                <a:cs typeface="Times New Roman" panose="02020603050405020304" pitchFamily="18" charset="0"/>
              </a:rPr>
              <a:t>,1111Z</a:t>
            </a:r>
            <a:r>
              <a:rPr lang="en-US" sz="1600" baseline="-25000">
                <a:solidFill>
                  <a:schemeClr val="hlink"/>
                </a:solidFill>
                <a:latin typeface="Times New Roman" panose="02020603050405020304" pitchFamily="18" charset="0"/>
                <a:cs typeface="Times New Roman" panose="02020603050405020304" pitchFamily="18" charset="0"/>
              </a:rPr>
              <a:t>0</a:t>
            </a:r>
            <a:r>
              <a:rPr lang="en-US" sz="1600">
                <a:solidFill>
                  <a:schemeClr val="hlink"/>
                </a:solidFill>
                <a:latin typeface="Times New Roman" panose="02020603050405020304" pitchFamily="18" charset="0"/>
                <a:cs typeface="Times New Roman" panose="02020603050405020304" pitchFamily="18" charset="0"/>
              </a:rPr>
              <a:t>)</a:t>
            </a:r>
          </a:p>
        </p:txBody>
      </p:sp>
      <p:sp>
        <p:nvSpPr>
          <p:cNvPr id="11" name="Text Box 12"/>
          <p:cNvSpPr txBox="1">
            <a:spLocks noChangeArrowheads="1"/>
          </p:cNvSpPr>
          <p:nvPr/>
        </p:nvSpPr>
        <p:spPr bwMode="auto">
          <a:xfrm>
            <a:off x="2498190" y="4959351"/>
            <a:ext cx="1276350" cy="336550"/>
          </a:xfrm>
          <a:prstGeom prst="rect">
            <a:avLst/>
          </a:prstGeom>
          <a:noFill/>
          <a:ln w="9525">
            <a:noFill/>
            <a:miter lim="800000"/>
          </a:ln>
        </p:spPr>
        <p:txBody>
          <a:bodyPr>
            <a:spAutoFit/>
          </a:bodyPr>
          <a:lstStyle/>
          <a:p>
            <a:r>
              <a:rPr lang="en-US" sz="1600">
                <a:solidFill>
                  <a:schemeClr val="hlink"/>
                </a:solidFill>
                <a:latin typeface="Times New Roman" panose="02020603050405020304" pitchFamily="18" charset="0"/>
                <a:cs typeface="Times New Roman" panose="02020603050405020304" pitchFamily="18" charset="0"/>
              </a:rPr>
              <a:t>(q</a:t>
            </a:r>
            <a:r>
              <a:rPr lang="en-US" sz="1600" baseline="-25000">
                <a:solidFill>
                  <a:schemeClr val="hlink"/>
                </a:solidFill>
                <a:latin typeface="Times New Roman" panose="02020603050405020304" pitchFamily="18" charset="0"/>
                <a:cs typeface="Times New Roman" panose="02020603050405020304" pitchFamily="18" charset="0"/>
              </a:rPr>
              <a:t>1</a:t>
            </a:r>
            <a:r>
              <a:rPr lang="en-US" sz="1600">
                <a:solidFill>
                  <a:schemeClr val="hlink"/>
                </a:solidFill>
                <a:latin typeface="Times New Roman" panose="02020603050405020304" pitchFamily="18" charset="0"/>
                <a:cs typeface="Times New Roman" panose="02020603050405020304" pitchFamily="18" charset="0"/>
              </a:rPr>
              <a:t>, </a:t>
            </a:r>
            <a:r>
              <a:rPr lang="en-US" sz="1600">
                <a:solidFill>
                  <a:schemeClr val="hlink"/>
                </a:solidFill>
                <a:latin typeface="Times New Roman" panose="02020603050405020304" pitchFamily="18" charset="0"/>
                <a:cs typeface="Times New Roman" panose="02020603050405020304" pitchFamily="18" charset="0"/>
                <a:sym typeface="Symbol" panose="05050102010706020507" pitchFamily="28" charset="2"/>
              </a:rPr>
              <a:t></a:t>
            </a:r>
            <a:r>
              <a:rPr lang="en-US" sz="1600">
                <a:solidFill>
                  <a:schemeClr val="hlink"/>
                </a:solidFill>
                <a:latin typeface="Times New Roman" panose="02020603050405020304" pitchFamily="18" charset="0"/>
                <a:cs typeface="Times New Roman" panose="02020603050405020304" pitchFamily="18" charset="0"/>
              </a:rPr>
              <a:t>,11Z</a:t>
            </a:r>
            <a:r>
              <a:rPr lang="en-US" sz="1600" baseline="-25000">
                <a:solidFill>
                  <a:schemeClr val="hlink"/>
                </a:solidFill>
                <a:latin typeface="Times New Roman" panose="02020603050405020304" pitchFamily="18" charset="0"/>
                <a:cs typeface="Times New Roman" panose="02020603050405020304" pitchFamily="18" charset="0"/>
              </a:rPr>
              <a:t>0</a:t>
            </a:r>
            <a:r>
              <a:rPr lang="en-US" sz="1600">
                <a:solidFill>
                  <a:schemeClr val="hlink"/>
                </a:solidFill>
                <a:latin typeface="Times New Roman" panose="02020603050405020304" pitchFamily="18" charset="0"/>
                <a:cs typeface="Times New Roman" panose="02020603050405020304" pitchFamily="18" charset="0"/>
              </a:rPr>
              <a:t>)</a:t>
            </a:r>
          </a:p>
        </p:txBody>
      </p:sp>
      <p:sp>
        <p:nvSpPr>
          <p:cNvPr id="12" name="Text Box 13"/>
          <p:cNvSpPr txBox="1">
            <a:spLocks noChangeArrowheads="1"/>
          </p:cNvSpPr>
          <p:nvPr/>
        </p:nvSpPr>
        <p:spPr bwMode="auto">
          <a:xfrm>
            <a:off x="2421990" y="4318001"/>
            <a:ext cx="1428750" cy="336550"/>
          </a:xfrm>
          <a:prstGeom prst="rect">
            <a:avLst/>
          </a:prstGeom>
          <a:noFill/>
          <a:ln w="9525">
            <a:noFill/>
            <a:miter lim="800000"/>
          </a:ln>
        </p:spPr>
        <p:txBody>
          <a:bodyPr>
            <a:spAutoFit/>
          </a:bodyPr>
          <a:lstStyle/>
          <a:p>
            <a:r>
              <a:rPr lang="en-US" sz="1600">
                <a:solidFill>
                  <a:schemeClr val="hlink"/>
                </a:solidFill>
                <a:latin typeface="Times New Roman" panose="02020603050405020304" pitchFamily="18" charset="0"/>
                <a:cs typeface="Times New Roman" panose="02020603050405020304" pitchFamily="18" charset="0"/>
              </a:rPr>
              <a:t>(q</a:t>
            </a:r>
            <a:r>
              <a:rPr lang="en-US" sz="1600" baseline="-25000">
                <a:solidFill>
                  <a:schemeClr val="hlink"/>
                </a:solidFill>
                <a:latin typeface="Times New Roman" panose="02020603050405020304" pitchFamily="18" charset="0"/>
                <a:cs typeface="Times New Roman" panose="02020603050405020304" pitchFamily="18" charset="0"/>
              </a:rPr>
              <a:t>1</a:t>
            </a:r>
            <a:r>
              <a:rPr lang="en-US" sz="1600">
                <a:solidFill>
                  <a:schemeClr val="hlink"/>
                </a:solidFill>
                <a:latin typeface="Times New Roman" panose="02020603050405020304" pitchFamily="18" charset="0"/>
                <a:cs typeface="Times New Roman" panose="02020603050405020304" pitchFamily="18" charset="0"/>
              </a:rPr>
              <a:t>,1,111Z</a:t>
            </a:r>
            <a:r>
              <a:rPr lang="en-US" sz="1600" baseline="-25000">
                <a:solidFill>
                  <a:schemeClr val="hlink"/>
                </a:solidFill>
                <a:latin typeface="Times New Roman" panose="02020603050405020304" pitchFamily="18" charset="0"/>
                <a:cs typeface="Times New Roman" panose="02020603050405020304" pitchFamily="18" charset="0"/>
              </a:rPr>
              <a:t>0</a:t>
            </a:r>
            <a:r>
              <a:rPr lang="en-US" sz="1600">
                <a:solidFill>
                  <a:schemeClr val="hlink"/>
                </a:solidFill>
                <a:latin typeface="Times New Roman" panose="02020603050405020304" pitchFamily="18" charset="0"/>
                <a:cs typeface="Times New Roman" panose="02020603050405020304" pitchFamily="18" charset="0"/>
              </a:rPr>
              <a:t>)</a:t>
            </a:r>
          </a:p>
        </p:txBody>
      </p:sp>
      <p:sp>
        <p:nvSpPr>
          <p:cNvPr id="13" name="Text Box 14"/>
          <p:cNvSpPr txBox="1">
            <a:spLocks noChangeArrowheads="1"/>
          </p:cNvSpPr>
          <p:nvPr/>
        </p:nvSpPr>
        <p:spPr bwMode="auto">
          <a:xfrm>
            <a:off x="2345790" y="3587751"/>
            <a:ext cx="1352550" cy="336550"/>
          </a:xfrm>
          <a:prstGeom prst="rect">
            <a:avLst/>
          </a:prstGeom>
          <a:noFill/>
          <a:ln w="9525">
            <a:noFill/>
            <a:miter lim="800000"/>
          </a:ln>
        </p:spPr>
        <p:txBody>
          <a:bodyPr>
            <a:spAutoFit/>
          </a:bodyPr>
          <a:lstStyle/>
          <a:p>
            <a:r>
              <a:rPr lang="en-US" sz="1600">
                <a:solidFill>
                  <a:srgbClr val="006600"/>
                </a:solidFill>
                <a:latin typeface="Times New Roman" panose="02020603050405020304" pitchFamily="18" charset="0"/>
                <a:cs typeface="Times New Roman" panose="02020603050405020304" pitchFamily="18" charset="0"/>
              </a:rPr>
              <a:t>(q</a:t>
            </a:r>
            <a:r>
              <a:rPr lang="en-US" sz="1600" baseline="-25000">
                <a:solidFill>
                  <a:srgbClr val="006600"/>
                </a:solidFill>
                <a:latin typeface="Times New Roman" panose="02020603050405020304" pitchFamily="18" charset="0"/>
                <a:cs typeface="Times New Roman" panose="02020603050405020304" pitchFamily="18" charset="0"/>
              </a:rPr>
              <a:t>1</a:t>
            </a:r>
            <a:r>
              <a:rPr lang="en-US" sz="1600">
                <a:solidFill>
                  <a:srgbClr val="006600"/>
                </a:solidFill>
                <a:latin typeface="Times New Roman" panose="02020603050405020304" pitchFamily="18" charset="0"/>
                <a:cs typeface="Times New Roman" panose="02020603050405020304" pitchFamily="18" charset="0"/>
              </a:rPr>
              <a:t>,11,11Z</a:t>
            </a:r>
            <a:r>
              <a:rPr lang="en-US" sz="1600" baseline="-25000">
                <a:solidFill>
                  <a:srgbClr val="006600"/>
                </a:solidFill>
                <a:latin typeface="Times New Roman" panose="02020603050405020304" pitchFamily="18" charset="0"/>
                <a:cs typeface="Times New Roman" panose="02020603050405020304" pitchFamily="18" charset="0"/>
              </a:rPr>
              <a:t>0</a:t>
            </a:r>
            <a:r>
              <a:rPr lang="en-US" sz="1600">
                <a:solidFill>
                  <a:srgbClr val="006600"/>
                </a:solidFill>
                <a:latin typeface="Times New Roman" panose="02020603050405020304" pitchFamily="18" charset="0"/>
                <a:cs typeface="Times New Roman" panose="02020603050405020304" pitchFamily="18" charset="0"/>
              </a:rPr>
              <a:t>)</a:t>
            </a:r>
          </a:p>
        </p:txBody>
      </p:sp>
      <p:sp>
        <p:nvSpPr>
          <p:cNvPr id="14" name="Text Box 15"/>
          <p:cNvSpPr txBox="1">
            <a:spLocks noChangeArrowheads="1"/>
          </p:cNvSpPr>
          <p:nvPr/>
        </p:nvSpPr>
        <p:spPr bwMode="auto">
          <a:xfrm>
            <a:off x="2269590" y="3022601"/>
            <a:ext cx="1185709" cy="338554"/>
          </a:xfrm>
          <a:prstGeom prst="rect">
            <a:avLst/>
          </a:prstGeom>
          <a:noFill/>
          <a:ln w="9525">
            <a:noFill/>
            <a:miter lim="800000"/>
          </a:ln>
        </p:spPr>
        <p:txBody>
          <a:bodyPr wrap="none">
            <a:spAutoFit/>
          </a:bodyPr>
          <a:lstStyle/>
          <a:p>
            <a:r>
              <a:rPr lang="en-US" sz="1600">
                <a:solidFill>
                  <a:schemeClr val="hlink"/>
                </a:solidFill>
                <a:latin typeface="Times New Roman" panose="02020603050405020304" pitchFamily="18" charset="0"/>
                <a:cs typeface="Times New Roman" panose="02020603050405020304" pitchFamily="18" charset="0"/>
              </a:rPr>
              <a:t>(q</a:t>
            </a:r>
            <a:r>
              <a:rPr lang="en-US" sz="1600" baseline="-25000">
                <a:solidFill>
                  <a:schemeClr val="hlink"/>
                </a:solidFill>
                <a:latin typeface="Times New Roman" panose="02020603050405020304" pitchFamily="18" charset="0"/>
                <a:cs typeface="Times New Roman" panose="02020603050405020304" pitchFamily="18" charset="0"/>
              </a:rPr>
              <a:t>1</a:t>
            </a:r>
            <a:r>
              <a:rPr lang="en-US" sz="1600">
                <a:solidFill>
                  <a:schemeClr val="hlink"/>
                </a:solidFill>
                <a:latin typeface="Times New Roman" panose="02020603050405020304" pitchFamily="18" charset="0"/>
                <a:cs typeface="Times New Roman" panose="02020603050405020304" pitchFamily="18" charset="0"/>
              </a:rPr>
              <a:t>,111,1Z</a:t>
            </a:r>
            <a:r>
              <a:rPr lang="en-US" sz="1600" baseline="-25000">
                <a:solidFill>
                  <a:schemeClr val="hlink"/>
                </a:solidFill>
                <a:latin typeface="Times New Roman" panose="02020603050405020304" pitchFamily="18" charset="0"/>
                <a:cs typeface="Times New Roman" panose="02020603050405020304" pitchFamily="18" charset="0"/>
              </a:rPr>
              <a:t>0</a:t>
            </a:r>
            <a:r>
              <a:rPr lang="en-US" sz="1600">
                <a:solidFill>
                  <a:schemeClr val="hlink"/>
                </a:solidFill>
                <a:latin typeface="Times New Roman" panose="02020603050405020304" pitchFamily="18" charset="0"/>
                <a:cs typeface="Times New Roman" panose="02020603050405020304" pitchFamily="18" charset="0"/>
              </a:rPr>
              <a:t>)</a:t>
            </a:r>
          </a:p>
        </p:txBody>
      </p:sp>
      <p:sp>
        <p:nvSpPr>
          <p:cNvPr id="15" name="Text Box 16"/>
          <p:cNvSpPr txBox="1">
            <a:spLocks noChangeArrowheads="1"/>
          </p:cNvSpPr>
          <p:nvPr/>
        </p:nvSpPr>
        <p:spPr bwMode="auto">
          <a:xfrm>
            <a:off x="2174340" y="2336801"/>
            <a:ext cx="1178079" cy="338554"/>
          </a:xfrm>
          <a:prstGeom prst="rect">
            <a:avLst/>
          </a:prstGeom>
          <a:noFill/>
          <a:ln w="9525">
            <a:noFill/>
            <a:miter lim="800000"/>
          </a:ln>
        </p:spPr>
        <p:txBody>
          <a:bodyPr wrap="none">
            <a:spAutoFit/>
          </a:bodyPr>
          <a:lstStyle/>
          <a:p>
            <a:r>
              <a:rPr lang="en-US" sz="1600" dirty="0">
                <a:solidFill>
                  <a:schemeClr val="hlink"/>
                </a:solidFill>
                <a:latin typeface="Times New Roman" panose="02020603050405020304" pitchFamily="18" charset="0"/>
                <a:cs typeface="Times New Roman" panose="02020603050405020304" pitchFamily="18" charset="0"/>
              </a:rPr>
              <a:t>(q</a:t>
            </a:r>
            <a:r>
              <a:rPr lang="en-US" sz="1600" baseline="-25000" dirty="0">
                <a:solidFill>
                  <a:schemeClr val="hlink"/>
                </a:solidFill>
                <a:latin typeface="Times New Roman" panose="02020603050405020304" pitchFamily="18" charset="0"/>
                <a:cs typeface="Times New Roman" panose="02020603050405020304" pitchFamily="18" charset="0"/>
              </a:rPr>
              <a:t>1</a:t>
            </a:r>
            <a:r>
              <a:rPr lang="en-US" sz="1600" dirty="0">
                <a:solidFill>
                  <a:schemeClr val="hlink"/>
                </a:solidFill>
                <a:latin typeface="Times New Roman" panose="02020603050405020304" pitchFamily="18" charset="0"/>
                <a:cs typeface="Times New Roman" panose="02020603050405020304" pitchFamily="18" charset="0"/>
              </a:rPr>
              <a:t>,1111,Z</a:t>
            </a:r>
            <a:r>
              <a:rPr lang="en-US" sz="1600" baseline="-25000" dirty="0">
                <a:solidFill>
                  <a:schemeClr val="hlink"/>
                </a:solidFill>
                <a:latin typeface="Times New Roman" panose="02020603050405020304" pitchFamily="18" charset="0"/>
                <a:cs typeface="Times New Roman" panose="02020603050405020304" pitchFamily="18" charset="0"/>
              </a:rPr>
              <a:t>0</a:t>
            </a:r>
            <a:r>
              <a:rPr lang="en-US" sz="1600" dirty="0">
                <a:solidFill>
                  <a:schemeClr val="hlink"/>
                </a:solidFill>
                <a:latin typeface="Times New Roman" panose="02020603050405020304" pitchFamily="18" charset="0"/>
                <a:cs typeface="Times New Roman" panose="02020603050405020304" pitchFamily="18" charset="0"/>
              </a:rPr>
              <a:t>)</a:t>
            </a:r>
          </a:p>
        </p:txBody>
      </p:sp>
      <p:sp>
        <p:nvSpPr>
          <p:cNvPr id="16" name="Text Box 17"/>
          <p:cNvSpPr txBox="1">
            <a:spLocks noChangeArrowheads="1"/>
          </p:cNvSpPr>
          <p:nvPr/>
        </p:nvSpPr>
        <p:spPr bwMode="auto">
          <a:xfrm>
            <a:off x="3916780" y="2265741"/>
            <a:ext cx="1170513" cy="338554"/>
          </a:xfrm>
          <a:prstGeom prst="rect">
            <a:avLst/>
          </a:prstGeom>
          <a:noFill/>
          <a:ln w="9525">
            <a:noFill/>
            <a:miter lim="800000"/>
          </a:ln>
        </p:spPr>
        <p:txBody>
          <a:bodyPr wrap="none">
            <a:spAutoFit/>
          </a:bodyPr>
          <a:lstStyle/>
          <a:p>
            <a:r>
              <a:rPr lang="en-US" sz="1600" dirty="0">
                <a:solidFill>
                  <a:schemeClr val="hlink"/>
                </a:solidFill>
                <a:latin typeface="Times New Roman" panose="02020603050405020304" pitchFamily="18" charset="0"/>
                <a:cs typeface="Times New Roman" panose="02020603050405020304" pitchFamily="18" charset="0"/>
              </a:rPr>
              <a:t>(q</a:t>
            </a:r>
            <a:r>
              <a:rPr lang="en-US" sz="1600" baseline="-25000" dirty="0">
                <a:solidFill>
                  <a:schemeClr val="hlink"/>
                </a:solidFill>
                <a:latin typeface="Times New Roman" panose="02020603050405020304" pitchFamily="18" charset="0"/>
                <a:cs typeface="Times New Roman" panose="02020603050405020304" pitchFamily="18" charset="0"/>
              </a:rPr>
              <a:t>2</a:t>
            </a:r>
            <a:r>
              <a:rPr lang="en-US" sz="1600" dirty="0">
                <a:solidFill>
                  <a:schemeClr val="hlink"/>
                </a:solidFill>
                <a:latin typeface="Times New Roman" panose="02020603050405020304" pitchFamily="18" charset="0"/>
                <a:cs typeface="Times New Roman" panose="02020603050405020304" pitchFamily="18" charset="0"/>
              </a:rPr>
              <a:t>,1111,Z</a:t>
            </a:r>
            <a:r>
              <a:rPr lang="en-US" sz="1600" baseline="-25000" dirty="0">
                <a:solidFill>
                  <a:schemeClr val="hlink"/>
                </a:solidFill>
                <a:latin typeface="Times New Roman" panose="02020603050405020304" pitchFamily="18" charset="0"/>
                <a:cs typeface="Times New Roman" panose="02020603050405020304" pitchFamily="18" charset="0"/>
              </a:rPr>
              <a:t>0</a:t>
            </a:r>
            <a:r>
              <a:rPr lang="en-US" sz="1600" dirty="0">
                <a:solidFill>
                  <a:schemeClr val="hlink"/>
                </a:solidFill>
                <a:latin typeface="Times New Roman" panose="02020603050405020304" pitchFamily="18" charset="0"/>
                <a:cs typeface="Times New Roman" panose="02020603050405020304" pitchFamily="18" charset="0"/>
              </a:rPr>
              <a:t>)</a:t>
            </a:r>
          </a:p>
        </p:txBody>
      </p:sp>
      <p:sp>
        <p:nvSpPr>
          <p:cNvPr id="17" name="Text Box 18"/>
          <p:cNvSpPr txBox="1">
            <a:spLocks noChangeArrowheads="1"/>
          </p:cNvSpPr>
          <p:nvPr/>
        </p:nvSpPr>
        <p:spPr bwMode="auto">
          <a:xfrm>
            <a:off x="3790723" y="2991291"/>
            <a:ext cx="1352550" cy="336550"/>
          </a:xfrm>
          <a:prstGeom prst="rect">
            <a:avLst/>
          </a:prstGeom>
          <a:noFill/>
          <a:ln w="9525">
            <a:noFill/>
            <a:miter lim="800000"/>
          </a:ln>
        </p:spPr>
        <p:txBody>
          <a:bodyPr>
            <a:spAutoFit/>
          </a:bodyPr>
          <a:lstStyle/>
          <a:p>
            <a:r>
              <a:rPr lang="en-US" sz="1600" dirty="0">
                <a:solidFill>
                  <a:schemeClr val="hlink"/>
                </a:solidFill>
                <a:latin typeface="Times New Roman" panose="02020603050405020304" pitchFamily="18" charset="0"/>
                <a:cs typeface="Times New Roman" panose="02020603050405020304" pitchFamily="18" charset="0"/>
              </a:rPr>
              <a:t>(q</a:t>
            </a:r>
            <a:r>
              <a:rPr lang="en-US" sz="1600" baseline="-25000" dirty="0">
                <a:solidFill>
                  <a:schemeClr val="hlink"/>
                </a:solidFill>
                <a:latin typeface="Times New Roman" panose="02020603050405020304" pitchFamily="18" charset="0"/>
                <a:cs typeface="Times New Roman" panose="02020603050405020304" pitchFamily="18" charset="0"/>
              </a:rPr>
              <a:t>1</a:t>
            </a:r>
            <a:r>
              <a:rPr lang="en-US" sz="1600" dirty="0">
                <a:solidFill>
                  <a:schemeClr val="hlink"/>
                </a:solidFill>
                <a:latin typeface="Times New Roman" panose="02020603050405020304" pitchFamily="18" charset="0"/>
                <a:cs typeface="Times New Roman" panose="02020603050405020304" pitchFamily="18" charset="0"/>
              </a:rPr>
              <a:t>,11,Z</a:t>
            </a:r>
            <a:r>
              <a:rPr lang="en-US" sz="1600" baseline="-25000" dirty="0">
                <a:solidFill>
                  <a:schemeClr val="hlink"/>
                </a:solidFill>
                <a:latin typeface="Times New Roman" panose="02020603050405020304" pitchFamily="18" charset="0"/>
                <a:cs typeface="Times New Roman" panose="02020603050405020304" pitchFamily="18" charset="0"/>
              </a:rPr>
              <a:t>0</a:t>
            </a:r>
            <a:r>
              <a:rPr lang="en-US" sz="1600" dirty="0">
                <a:solidFill>
                  <a:schemeClr val="hlink"/>
                </a:solidFill>
                <a:latin typeface="Times New Roman" panose="02020603050405020304" pitchFamily="18" charset="0"/>
                <a:cs typeface="Times New Roman" panose="02020603050405020304" pitchFamily="18" charset="0"/>
              </a:rPr>
              <a:t>)</a:t>
            </a:r>
          </a:p>
        </p:txBody>
      </p:sp>
      <p:sp>
        <p:nvSpPr>
          <p:cNvPr id="18" name="Text Box 20"/>
          <p:cNvSpPr txBox="1">
            <a:spLocks noChangeArrowheads="1"/>
          </p:cNvSpPr>
          <p:nvPr/>
        </p:nvSpPr>
        <p:spPr bwMode="auto">
          <a:xfrm>
            <a:off x="4384140" y="4241801"/>
            <a:ext cx="1371600" cy="336550"/>
          </a:xfrm>
          <a:prstGeom prst="rect">
            <a:avLst/>
          </a:prstGeom>
          <a:noFill/>
          <a:ln w="9525">
            <a:noFill/>
            <a:miter lim="800000"/>
          </a:ln>
        </p:spPr>
        <p:txBody>
          <a:bodyPr>
            <a:spAutoFit/>
          </a:bodyPr>
          <a:lstStyle/>
          <a:p>
            <a:r>
              <a:rPr lang="en-US" sz="1600">
                <a:solidFill>
                  <a:srgbClr val="006600"/>
                </a:solidFill>
                <a:latin typeface="Times New Roman" panose="02020603050405020304" pitchFamily="18" charset="0"/>
                <a:cs typeface="Times New Roman" panose="02020603050405020304" pitchFamily="18" charset="0"/>
              </a:rPr>
              <a:t>(q</a:t>
            </a:r>
            <a:r>
              <a:rPr lang="en-US" sz="1600" baseline="-25000">
                <a:solidFill>
                  <a:srgbClr val="006600"/>
                </a:solidFill>
                <a:latin typeface="Times New Roman" panose="02020603050405020304" pitchFamily="18" charset="0"/>
                <a:cs typeface="Times New Roman" panose="02020603050405020304" pitchFamily="18" charset="0"/>
              </a:rPr>
              <a:t>1</a:t>
            </a:r>
            <a:r>
              <a:rPr lang="en-US" sz="1600">
                <a:solidFill>
                  <a:srgbClr val="006600"/>
                </a:solidFill>
                <a:latin typeface="Times New Roman" panose="02020603050405020304" pitchFamily="18" charset="0"/>
                <a:cs typeface="Times New Roman" panose="02020603050405020304" pitchFamily="18" charset="0"/>
              </a:rPr>
              <a:t>,1,1Z</a:t>
            </a:r>
            <a:r>
              <a:rPr lang="en-US" sz="1600" baseline="-25000">
                <a:solidFill>
                  <a:srgbClr val="006600"/>
                </a:solidFill>
                <a:latin typeface="Times New Roman" panose="02020603050405020304" pitchFamily="18" charset="0"/>
                <a:cs typeface="Times New Roman" panose="02020603050405020304" pitchFamily="18" charset="0"/>
              </a:rPr>
              <a:t>0</a:t>
            </a:r>
            <a:r>
              <a:rPr lang="en-US" sz="1600">
                <a:solidFill>
                  <a:srgbClr val="006600"/>
                </a:solidFill>
                <a:latin typeface="Times New Roman" panose="02020603050405020304" pitchFamily="18" charset="0"/>
                <a:cs typeface="Times New Roman" panose="02020603050405020304" pitchFamily="18" charset="0"/>
              </a:rPr>
              <a:t>)</a:t>
            </a:r>
          </a:p>
        </p:txBody>
      </p:sp>
      <p:sp>
        <p:nvSpPr>
          <p:cNvPr id="19" name="Text Box 21"/>
          <p:cNvSpPr txBox="1">
            <a:spLocks noChangeArrowheads="1"/>
          </p:cNvSpPr>
          <p:nvPr/>
        </p:nvSpPr>
        <p:spPr bwMode="auto">
          <a:xfrm>
            <a:off x="4403190" y="4927601"/>
            <a:ext cx="1047750" cy="336550"/>
          </a:xfrm>
          <a:prstGeom prst="rect">
            <a:avLst/>
          </a:prstGeom>
          <a:noFill/>
          <a:ln w="9525">
            <a:noFill/>
            <a:miter lim="800000"/>
          </a:ln>
        </p:spPr>
        <p:txBody>
          <a:bodyPr>
            <a:spAutoFit/>
          </a:bodyPr>
          <a:lstStyle/>
          <a:p>
            <a:r>
              <a:rPr lang="en-US" sz="1600">
                <a:solidFill>
                  <a:srgbClr val="006600"/>
                </a:solidFill>
                <a:latin typeface="Times New Roman" panose="02020603050405020304" pitchFamily="18" charset="0"/>
                <a:cs typeface="Times New Roman" panose="02020603050405020304" pitchFamily="18" charset="0"/>
              </a:rPr>
              <a:t>(q</a:t>
            </a:r>
            <a:r>
              <a:rPr lang="en-US" sz="1600" baseline="-25000">
                <a:solidFill>
                  <a:srgbClr val="006600"/>
                </a:solidFill>
                <a:latin typeface="Times New Roman" panose="02020603050405020304" pitchFamily="18" charset="0"/>
                <a:cs typeface="Times New Roman" panose="02020603050405020304" pitchFamily="18" charset="0"/>
              </a:rPr>
              <a:t>1</a:t>
            </a:r>
            <a:r>
              <a:rPr lang="en-US" sz="1600">
                <a:solidFill>
                  <a:srgbClr val="006600"/>
                </a:solidFill>
                <a:latin typeface="Times New Roman" panose="02020603050405020304" pitchFamily="18" charset="0"/>
                <a:cs typeface="Times New Roman" panose="02020603050405020304" pitchFamily="18" charset="0"/>
              </a:rPr>
              <a:t>, </a:t>
            </a:r>
            <a:r>
              <a:rPr lang="en-US" sz="1600">
                <a:solidFill>
                  <a:srgbClr val="006600"/>
                </a:solidFill>
                <a:latin typeface="Times New Roman" panose="02020603050405020304" pitchFamily="18" charset="0"/>
                <a:cs typeface="Times New Roman" panose="02020603050405020304" pitchFamily="18" charset="0"/>
                <a:sym typeface="Symbol" panose="05050102010706020507" pitchFamily="28" charset="2"/>
              </a:rPr>
              <a:t></a:t>
            </a:r>
            <a:r>
              <a:rPr lang="en-US" sz="1600">
                <a:solidFill>
                  <a:srgbClr val="006600"/>
                </a:solidFill>
                <a:latin typeface="Times New Roman" panose="02020603050405020304" pitchFamily="18" charset="0"/>
                <a:cs typeface="Times New Roman" panose="02020603050405020304" pitchFamily="18" charset="0"/>
              </a:rPr>
              <a:t>,Z</a:t>
            </a:r>
            <a:r>
              <a:rPr lang="en-US" sz="1600" baseline="-25000">
                <a:solidFill>
                  <a:srgbClr val="006600"/>
                </a:solidFill>
                <a:latin typeface="Times New Roman" panose="02020603050405020304" pitchFamily="18" charset="0"/>
                <a:cs typeface="Times New Roman" panose="02020603050405020304" pitchFamily="18" charset="0"/>
              </a:rPr>
              <a:t>0</a:t>
            </a:r>
            <a:r>
              <a:rPr lang="en-US" sz="1600">
                <a:solidFill>
                  <a:srgbClr val="006600"/>
                </a:solidFill>
                <a:latin typeface="Times New Roman" panose="02020603050405020304" pitchFamily="18" charset="0"/>
                <a:cs typeface="Times New Roman" panose="02020603050405020304" pitchFamily="18" charset="0"/>
              </a:rPr>
              <a:t>)</a:t>
            </a:r>
          </a:p>
        </p:txBody>
      </p:sp>
      <p:sp>
        <p:nvSpPr>
          <p:cNvPr id="20" name="Text Box 22"/>
          <p:cNvSpPr txBox="1">
            <a:spLocks noChangeArrowheads="1"/>
          </p:cNvSpPr>
          <p:nvPr/>
        </p:nvSpPr>
        <p:spPr bwMode="auto">
          <a:xfrm>
            <a:off x="4403190" y="5537201"/>
            <a:ext cx="1047750" cy="336550"/>
          </a:xfrm>
          <a:prstGeom prst="rect">
            <a:avLst/>
          </a:prstGeom>
          <a:noFill/>
          <a:ln w="9525">
            <a:noFill/>
            <a:miter lim="800000"/>
          </a:ln>
        </p:spPr>
        <p:txBody>
          <a:bodyPr>
            <a:spAutoFit/>
          </a:bodyPr>
          <a:lstStyle/>
          <a:p>
            <a:r>
              <a:rPr lang="en-US" sz="1600" dirty="0">
                <a:solidFill>
                  <a:srgbClr val="006600"/>
                </a:solidFill>
                <a:latin typeface="Times New Roman" panose="02020603050405020304" pitchFamily="18" charset="0"/>
                <a:cs typeface="Times New Roman" panose="02020603050405020304" pitchFamily="18" charset="0"/>
              </a:rPr>
              <a:t>(q</a:t>
            </a:r>
            <a:r>
              <a:rPr lang="en-US" sz="1600" baseline="-25000" dirty="0">
                <a:solidFill>
                  <a:srgbClr val="006600"/>
                </a:solidFill>
                <a:latin typeface="Times New Roman" panose="02020603050405020304" pitchFamily="18" charset="0"/>
                <a:cs typeface="Times New Roman" panose="02020603050405020304" pitchFamily="18" charset="0"/>
              </a:rPr>
              <a:t>2</a:t>
            </a:r>
            <a:r>
              <a:rPr lang="en-US" sz="1600" dirty="0">
                <a:solidFill>
                  <a:srgbClr val="006600"/>
                </a:solidFill>
                <a:latin typeface="Times New Roman" panose="02020603050405020304" pitchFamily="18" charset="0"/>
                <a:cs typeface="Times New Roman" panose="02020603050405020304" pitchFamily="18" charset="0"/>
              </a:rPr>
              <a:t>, </a:t>
            </a:r>
            <a:r>
              <a:rPr lang="en-US" sz="1600" dirty="0">
                <a:solidFill>
                  <a:srgbClr val="006600"/>
                </a:solidFill>
                <a:latin typeface="Times New Roman" panose="02020603050405020304" pitchFamily="18" charset="0"/>
                <a:cs typeface="Times New Roman" panose="02020603050405020304" pitchFamily="18" charset="0"/>
                <a:sym typeface="Symbol" panose="05050102010706020507" pitchFamily="28" charset="2"/>
              </a:rPr>
              <a:t></a:t>
            </a:r>
            <a:r>
              <a:rPr lang="en-US" sz="1600" dirty="0">
                <a:solidFill>
                  <a:srgbClr val="006600"/>
                </a:solidFill>
                <a:latin typeface="Times New Roman" panose="02020603050405020304" pitchFamily="18" charset="0"/>
                <a:cs typeface="Times New Roman" panose="02020603050405020304" pitchFamily="18" charset="0"/>
              </a:rPr>
              <a:t>,Z</a:t>
            </a:r>
            <a:r>
              <a:rPr lang="en-US" sz="1600" baseline="-25000" dirty="0">
                <a:solidFill>
                  <a:srgbClr val="006600"/>
                </a:solidFill>
                <a:latin typeface="Times New Roman" panose="02020603050405020304" pitchFamily="18" charset="0"/>
                <a:cs typeface="Times New Roman" panose="02020603050405020304" pitchFamily="18" charset="0"/>
              </a:rPr>
              <a:t>0</a:t>
            </a:r>
            <a:r>
              <a:rPr lang="en-US" sz="1600" dirty="0">
                <a:solidFill>
                  <a:srgbClr val="006600"/>
                </a:solidFill>
                <a:latin typeface="Times New Roman" panose="02020603050405020304" pitchFamily="18" charset="0"/>
                <a:cs typeface="Times New Roman" panose="02020603050405020304" pitchFamily="18" charset="0"/>
              </a:rPr>
              <a:t>)</a:t>
            </a:r>
          </a:p>
        </p:txBody>
      </p:sp>
      <p:sp>
        <p:nvSpPr>
          <p:cNvPr id="21" name="Line 23"/>
          <p:cNvSpPr>
            <a:spLocks noChangeShapeType="1"/>
          </p:cNvSpPr>
          <p:nvPr/>
        </p:nvSpPr>
        <p:spPr bwMode="auto">
          <a:xfrm>
            <a:off x="878940" y="21399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2" name="Line 24"/>
          <p:cNvSpPr>
            <a:spLocks noChangeShapeType="1"/>
          </p:cNvSpPr>
          <p:nvPr/>
        </p:nvSpPr>
        <p:spPr bwMode="auto">
          <a:xfrm>
            <a:off x="878940" y="26733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3" name="Line 25"/>
          <p:cNvSpPr>
            <a:spLocks noChangeShapeType="1"/>
          </p:cNvSpPr>
          <p:nvPr/>
        </p:nvSpPr>
        <p:spPr bwMode="auto">
          <a:xfrm>
            <a:off x="878940" y="33591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4" name="Line 26"/>
          <p:cNvSpPr>
            <a:spLocks noChangeShapeType="1"/>
          </p:cNvSpPr>
          <p:nvPr/>
        </p:nvSpPr>
        <p:spPr bwMode="auto">
          <a:xfrm>
            <a:off x="878940" y="39687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5" name="Line 27"/>
          <p:cNvSpPr>
            <a:spLocks noChangeShapeType="1"/>
          </p:cNvSpPr>
          <p:nvPr/>
        </p:nvSpPr>
        <p:spPr bwMode="auto">
          <a:xfrm>
            <a:off x="878940" y="46545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6" name="Line 28"/>
          <p:cNvSpPr>
            <a:spLocks noChangeShapeType="1"/>
          </p:cNvSpPr>
          <p:nvPr/>
        </p:nvSpPr>
        <p:spPr bwMode="auto">
          <a:xfrm>
            <a:off x="2936340" y="46545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7" name="Line 29"/>
          <p:cNvSpPr>
            <a:spLocks noChangeShapeType="1"/>
          </p:cNvSpPr>
          <p:nvPr/>
        </p:nvSpPr>
        <p:spPr bwMode="auto">
          <a:xfrm>
            <a:off x="4765140" y="46545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8" name="Line 30"/>
          <p:cNvSpPr>
            <a:spLocks noChangeShapeType="1"/>
          </p:cNvSpPr>
          <p:nvPr/>
        </p:nvSpPr>
        <p:spPr bwMode="auto">
          <a:xfrm>
            <a:off x="4765140" y="5264151"/>
            <a:ext cx="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9" name="Line 31"/>
          <p:cNvSpPr>
            <a:spLocks noChangeShapeType="1"/>
          </p:cNvSpPr>
          <p:nvPr/>
        </p:nvSpPr>
        <p:spPr bwMode="auto">
          <a:xfrm>
            <a:off x="1564740" y="2063751"/>
            <a:ext cx="60960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0" name="Line 32"/>
          <p:cNvSpPr>
            <a:spLocks noChangeShapeType="1"/>
          </p:cNvSpPr>
          <p:nvPr/>
        </p:nvSpPr>
        <p:spPr bwMode="auto">
          <a:xfrm>
            <a:off x="1564740" y="2749551"/>
            <a:ext cx="60960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1" name="Line 33"/>
          <p:cNvSpPr>
            <a:spLocks noChangeShapeType="1"/>
          </p:cNvSpPr>
          <p:nvPr/>
        </p:nvSpPr>
        <p:spPr bwMode="auto">
          <a:xfrm>
            <a:off x="1640940" y="3359151"/>
            <a:ext cx="609600" cy="3048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2" name="Line 34"/>
          <p:cNvSpPr>
            <a:spLocks noChangeShapeType="1"/>
          </p:cNvSpPr>
          <p:nvPr/>
        </p:nvSpPr>
        <p:spPr bwMode="auto">
          <a:xfrm>
            <a:off x="1640940" y="3968751"/>
            <a:ext cx="762000" cy="3810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3" name="Line 35"/>
          <p:cNvSpPr>
            <a:spLocks noChangeShapeType="1"/>
          </p:cNvSpPr>
          <p:nvPr/>
        </p:nvSpPr>
        <p:spPr bwMode="auto">
          <a:xfrm>
            <a:off x="3545940" y="3968751"/>
            <a:ext cx="762000" cy="38100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4" name="Line 36"/>
          <p:cNvSpPr>
            <a:spLocks noChangeShapeType="1"/>
          </p:cNvSpPr>
          <p:nvPr/>
        </p:nvSpPr>
        <p:spPr bwMode="auto">
          <a:xfrm>
            <a:off x="3393540" y="2444751"/>
            <a:ext cx="548640" cy="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5" name="Line 37"/>
          <p:cNvSpPr>
            <a:spLocks noChangeShapeType="1"/>
          </p:cNvSpPr>
          <p:nvPr/>
        </p:nvSpPr>
        <p:spPr bwMode="auto">
          <a:xfrm>
            <a:off x="3393540" y="3193925"/>
            <a:ext cx="457200" cy="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6" name="Text Box 40"/>
          <p:cNvSpPr txBox="1">
            <a:spLocks noChangeArrowheads="1"/>
          </p:cNvSpPr>
          <p:nvPr/>
        </p:nvSpPr>
        <p:spPr bwMode="auto">
          <a:xfrm>
            <a:off x="5622391" y="5376890"/>
            <a:ext cx="1415772" cy="338554"/>
          </a:xfrm>
          <a:prstGeom prst="rect">
            <a:avLst/>
          </a:prstGeom>
          <a:solidFill>
            <a:srgbClr val="CCFFCC"/>
          </a:solidFill>
          <a:ln w="9525">
            <a:noFill/>
            <a:miter lim="800000"/>
          </a:ln>
        </p:spPr>
        <p:txBody>
          <a:bodyPr wrap="none">
            <a:spAutoFit/>
          </a:bodyPr>
          <a:lstStyle/>
          <a:p>
            <a:r>
              <a:rPr lang="zh-CN" altLang="en-US" sz="1600" dirty="0">
                <a:latin typeface="Times New Roman" panose="02020603050405020304" pitchFamily="18" charset="0"/>
                <a:cs typeface="Times New Roman" panose="02020603050405020304" pitchFamily="18" charset="0"/>
              </a:rPr>
              <a:t>进入接受状态</a:t>
            </a:r>
            <a:endParaRPr lang="en-US" sz="1600" dirty="0">
              <a:latin typeface="Times New Roman" panose="02020603050405020304" pitchFamily="18" charset="0"/>
              <a:cs typeface="Times New Roman" panose="02020603050405020304" pitchFamily="18" charset="0"/>
            </a:endParaRPr>
          </a:p>
        </p:txBody>
      </p:sp>
      <p:sp>
        <p:nvSpPr>
          <p:cNvPr id="37" name="Line 41"/>
          <p:cNvSpPr>
            <a:spLocks noChangeShapeType="1"/>
          </p:cNvSpPr>
          <p:nvPr/>
        </p:nvSpPr>
        <p:spPr bwMode="auto">
          <a:xfrm flipH="1">
            <a:off x="5260440" y="5537201"/>
            <a:ext cx="320674" cy="220070"/>
          </a:xfrm>
          <a:prstGeom prst="line">
            <a:avLst/>
          </a:prstGeom>
          <a:noFill/>
          <a:ln w="9525">
            <a:solidFill>
              <a:srgbClr val="008000"/>
            </a:solidFill>
            <a:prstDash val="dash"/>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39" name="Text Box 18"/>
          <p:cNvSpPr txBox="1">
            <a:spLocks noChangeArrowheads="1"/>
          </p:cNvSpPr>
          <p:nvPr/>
        </p:nvSpPr>
        <p:spPr bwMode="auto">
          <a:xfrm>
            <a:off x="2479140" y="5340351"/>
            <a:ext cx="1352550" cy="338554"/>
          </a:xfrm>
          <a:prstGeom prst="rect">
            <a:avLst/>
          </a:prstGeom>
          <a:noFill/>
          <a:ln w="9525">
            <a:noFill/>
            <a:miter lim="800000"/>
          </a:ln>
        </p:spPr>
        <p:txBody>
          <a:bodyPr>
            <a:spAutoFit/>
          </a:bodyPr>
          <a:lstStyle/>
          <a:p>
            <a:r>
              <a:rPr lang="zh-CN" altLang="en-US" sz="1600" dirty="0">
                <a:solidFill>
                  <a:schemeClr val="hlink"/>
                </a:solidFill>
                <a:latin typeface="Times New Roman" panose="02020603050405020304" pitchFamily="18" charset="0"/>
                <a:cs typeface="Times New Roman" panose="02020603050405020304" pitchFamily="18" charset="0"/>
              </a:rPr>
              <a:t>卡住的路径</a:t>
            </a:r>
            <a:endParaRPr lang="en-US" sz="1600" dirty="0">
              <a:solidFill>
                <a:schemeClr val="hlink"/>
              </a:solidFill>
              <a:latin typeface="Times New Roman" panose="02020603050405020304" pitchFamily="18" charset="0"/>
              <a:cs typeface="Times New Roman" panose="02020603050405020304" pitchFamily="18" charset="0"/>
            </a:endParaRPr>
          </a:p>
        </p:txBody>
      </p:sp>
      <p:sp>
        <p:nvSpPr>
          <p:cNvPr id="40" name="Text Box 18"/>
          <p:cNvSpPr txBox="1">
            <a:spLocks noChangeArrowheads="1"/>
          </p:cNvSpPr>
          <p:nvPr/>
        </p:nvSpPr>
        <p:spPr bwMode="auto">
          <a:xfrm>
            <a:off x="421740" y="5416551"/>
            <a:ext cx="1352550" cy="336550"/>
          </a:xfrm>
          <a:prstGeom prst="rect">
            <a:avLst/>
          </a:prstGeom>
          <a:noFill/>
          <a:ln w="9525">
            <a:noFill/>
            <a:miter lim="800000"/>
          </a:ln>
        </p:spPr>
        <p:txBody>
          <a:bodyPr>
            <a:spAutoFit/>
          </a:bodyPr>
          <a:lstStyle/>
          <a:p>
            <a:r>
              <a:rPr lang="zh-CN" altLang="en-US" sz="1600" dirty="0">
                <a:solidFill>
                  <a:schemeClr val="hlink"/>
                </a:solidFill>
                <a:latin typeface="Times New Roman" panose="02020603050405020304" pitchFamily="18" charset="0"/>
                <a:cs typeface="Times New Roman" panose="02020603050405020304" pitchFamily="18" charset="0"/>
              </a:rPr>
              <a:t>卡住的路径</a:t>
            </a:r>
            <a:endParaRPr lang="en-US" sz="1600" dirty="0">
              <a:solidFill>
                <a:schemeClr val="hlink"/>
              </a:solidFill>
              <a:latin typeface="Times New Roman" panose="02020603050405020304" pitchFamily="18" charset="0"/>
              <a:cs typeface="Times New Roman" panose="02020603050405020304" pitchFamily="18" charset="0"/>
            </a:endParaRPr>
          </a:p>
        </p:txBody>
      </p:sp>
      <p:sp>
        <p:nvSpPr>
          <p:cNvPr id="41" name="Line 23"/>
          <p:cNvSpPr>
            <a:spLocks noChangeShapeType="1"/>
          </p:cNvSpPr>
          <p:nvPr/>
        </p:nvSpPr>
        <p:spPr bwMode="auto">
          <a:xfrm>
            <a:off x="878940" y="1519239"/>
            <a:ext cx="0" cy="304800"/>
          </a:xfrm>
          <a:prstGeom prst="line">
            <a:avLst/>
          </a:prstGeom>
          <a:noFill/>
          <a:ln w="63500">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43" name="Line 37"/>
          <p:cNvSpPr>
            <a:spLocks noChangeShapeType="1"/>
          </p:cNvSpPr>
          <p:nvPr/>
        </p:nvSpPr>
        <p:spPr bwMode="auto">
          <a:xfrm>
            <a:off x="4384140" y="3327841"/>
            <a:ext cx="289460" cy="273050"/>
          </a:xfrm>
          <a:prstGeom prst="line">
            <a:avLst/>
          </a:prstGeom>
          <a:noFill/>
          <a:ln w="9525">
            <a:solidFill>
              <a:schemeClr val="tx1"/>
            </a:solidFill>
            <a:round/>
            <a:tailEnd type="triangle" w="med" len="me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44" name="Text Box 18"/>
          <p:cNvSpPr txBox="1">
            <a:spLocks noChangeArrowheads="1"/>
          </p:cNvSpPr>
          <p:nvPr/>
        </p:nvSpPr>
        <p:spPr bwMode="auto">
          <a:xfrm>
            <a:off x="4539715" y="3546562"/>
            <a:ext cx="1352550" cy="336550"/>
          </a:xfrm>
          <a:prstGeom prst="rect">
            <a:avLst/>
          </a:prstGeom>
          <a:noFill/>
          <a:ln w="9525">
            <a:noFill/>
            <a:miter lim="800000"/>
          </a:ln>
        </p:spPr>
        <p:txBody>
          <a:bodyPr>
            <a:spAutoFit/>
          </a:bodyPr>
          <a:lstStyle/>
          <a:p>
            <a:r>
              <a:rPr lang="en-US" sz="1600" dirty="0">
                <a:solidFill>
                  <a:schemeClr val="hlink"/>
                </a:solidFill>
                <a:latin typeface="Times New Roman" panose="02020603050405020304" pitchFamily="18" charset="0"/>
                <a:cs typeface="Times New Roman" panose="02020603050405020304" pitchFamily="18" charset="0"/>
              </a:rPr>
              <a:t>(q</a:t>
            </a:r>
            <a:r>
              <a:rPr lang="en-US" sz="1600" baseline="-25000" dirty="0">
                <a:solidFill>
                  <a:schemeClr val="hlink"/>
                </a:solidFill>
                <a:latin typeface="Times New Roman" panose="02020603050405020304" pitchFamily="18" charset="0"/>
                <a:cs typeface="Times New Roman" panose="02020603050405020304" pitchFamily="18" charset="0"/>
              </a:rPr>
              <a:t>2</a:t>
            </a:r>
            <a:r>
              <a:rPr lang="en-US" sz="1600" dirty="0">
                <a:solidFill>
                  <a:schemeClr val="hlink"/>
                </a:solidFill>
                <a:latin typeface="Times New Roman" panose="02020603050405020304" pitchFamily="18" charset="0"/>
                <a:cs typeface="Times New Roman" panose="02020603050405020304" pitchFamily="18" charset="0"/>
              </a:rPr>
              <a:t>,11,Z</a:t>
            </a:r>
            <a:r>
              <a:rPr lang="en-US" sz="1600" baseline="-25000" dirty="0">
                <a:solidFill>
                  <a:schemeClr val="hlink"/>
                </a:solidFill>
                <a:latin typeface="Times New Roman" panose="02020603050405020304" pitchFamily="18" charset="0"/>
                <a:cs typeface="Times New Roman" panose="02020603050405020304" pitchFamily="18" charset="0"/>
              </a:rPr>
              <a:t>0</a:t>
            </a:r>
            <a:r>
              <a:rPr lang="en-US" sz="1600" dirty="0">
                <a:solidFill>
                  <a:schemeClr val="hlink"/>
                </a:solidFill>
                <a:latin typeface="Times New Roman" panose="02020603050405020304" pitchFamily="18" charset="0"/>
                <a:cs typeface="Times New Roman" panose="02020603050405020304" pitchFamily="18" charset="0"/>
              </a:rPr>
              <a:t>)</a:t>
            </a:r>
          </a:p>
        </p:txBody>
      </p:sp>
      <p:sp>
        <p:nvSpPr>
          <p:cNvPr id="45" name="Rectangle: Rounded Corners 44"/>
          <p:cNvSpPr/>
          <p:nvPr/>
        </p:nvSpPr>
        <p:spPr>
          <a:xfrm>
            <a:off x="6330277" y="3207668"/>
            <a:ext cx="2468338" cy="1639312"/>
          </a:xfrm>
          <a:prstGeom prst="round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过程中会出现多条</a:t>
            </a:r>
            <a:r>
              <a:rPr lang="en-AU" altLang="zh-CN" sz="2000" dirty="0">
                <a:latin typeface="Times New Roman" panose="02020603050405020304" pitchFamily="18" charset="0"/>
                <a:ea typeface="楷体" panose="02010609060101010101" pitchFamily="49" charset="-122"/>
                <a:cs typeface="Times New Roman" panose="02020603050405020304" pitchFamily="18" charset="0"/>
              </a:rPr>
              <a:t>ID</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转移路径，但是最终只有一条正确的路径可以进入接受状态。</a:t>
            </a:r>
            <a:endParaRPr lang="en-AU"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2" name="任意多边形: 形状 51"/>
          <p:cNvSpPr/>
          <p:nvPr/>
        </p:nvSpPr>
        <p:spPr>
          <a:xfrm>
            <a:off x="1397096" y="1914861"/>
            <a:ext cx="4067117" cy="3867374"/>
          </a:xfrm>
          <a:custGeom>
            <a:avLst/>
            <a:gdLst>
              <a:gd name="connsiteX0" fmla="*/ 49808 w 4067117"/>
              <a:gd name="connsiteY0" fmla="*/ 0 h 3867374"/>
              <a:gd name="connsiteX1" fmla="*/ 76702 w 4067117"/>
              <a:gd name="connsiteY1" fmla="*/ 1054250 h 3867374"/>
              <a:gd name="connsiteX2" fmla="*/ 775949 w 4067117"/>
              <a:gd name="connsiteY2" fmla="*/ 1446904 h 3867374"/>
              <a:gd name="connsiteX3" fmla="*/ 2104518 w 4067117"/>
              <a:gd name="connsiteY3" fmla="*/ 1710466 h 3867374"/>
              <a:gd name="connsiteX4" fmla="*/ 3212556 w 4067117"/>
              <a:gd name="connsiteY4" fmla="*/ 2237591 h 3867374"/>
              <a:gd name="connsiteX5" fmla="*/ 3981728 w 4067117"/>
              <a:gd name="connsiteY5" fmla="*/ 2366683 h 3867374"/>
              <a:gd name="connsiteX6" fmla="*/ 4014000 w 4067117"/>
              <a:gd name="connsiteY6" fmla="*/ 3867374 h 386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7117" h="3867374">
                <a:moveTo>
                  <a:pt x="49808" y="0"/>
                </a:moveTo>
                <a:cubicBezTo>
                  <a:pt x="2743" y="406549"/>
                  <a:pt x="-44321" y="813099"/>
                  <a:pt x="76702" y="1054250"/>
                </a:cubicBezTo>
                <a:cubicBezTo>
                  <a:pt x="197725" y="1295401"/>
                  <a:pt x="437980" y="1337535"/>
                  <a:pt x="775949" y="1446904"/>
                </a:cubicBezTo>
                <a:cubicBezTo>
                  <a:pt x="1113918" y="1556273"/>
                  <a:pt x="1698417" y="1578685"/>
                  <a:pt x="2104518" y="1710466"/>
                </a:cubicBezTo>
                <a:cubicBezTo>
                  <a:pt x="2510619" y="1842247"/>
                  <a:pt x="2899688" y="2128222"/>
                  <a:pt x="3212556" y="2237591"/>
                </a:cubicBezTo>
                <a:cubicBezTo>
                  <a:pt x="3525424" y="2346960"/>
                  <a:pt x="3848154" y="2095053"/>
                  <a:pt x="3981728" y="2366683"/>
                </a:cubicBezTo>
                <a:cubicBezTo>
                  <a:pt x="4115302" y="2638313"/>
                  <a:pt x="4064651" y="3252843"/>
                  <a:pt x="4014000" y="3867374"/>
                </a:cubicBezTo>
              </a:path>
            </a:pathLst>
          </a:custGeom>
          <a:noFill/>
          <a:ln>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Text Box 18"/>
          <p:cNvSpPr txBox="1">
            <a:spLocks noChangeArrowheads="1"/>
          </p:cNvSpPr>
          <p:nvPr/>
        </p:nvSpPr>
        <p:spPr bwMode="auto">
          <a:xfrm>
            <a:off x="4393665" y="3815183"/>
            <a:ext cx="1352550" cy="338554"/>
          </a:xfrm>
          <a:prstGeom prst="rect">
            <a:avLst/>
          </a:prstGeom>
          <a:noFill/>
          <a:ln w="9525">
            <a:noFill/>
            <a:miter lim="800000"/>
          </a:ln>
        </p:spPr>
        <p:txBody>
          <a:bodyPr>
            <a:spAutoFit/>
          </a:bodyPr>
          <a:lstStyle/>
          <a:p>
            <a:r>
              <a:rPr lang="zh-CN" altLang="en-US" sz="1600" dirty="0">
                <a:solidFill>
                  <a:schemeClr val="hlink"/>
                </a:solidFill>
                <a:latin typeface="Times New Roman" panose="02020603050405020304" pitchFamily="18" charset="0"/>
                <a:cs typeface="Times New Roman" panose="02020603050405020304" pitchFamily="18" charset="0"/>
              </a:rPr>
              <a:t>卡住的路径</a:t>
            </a:r>
            <a:endParaRPr lang="en-US" sz="1600" dirty="0">
              <a:solidFill>
                <a:schemeClr val="hlink"/>
              </a:solidFill>
              <a:latin typeface="Times New Roman" panose="02020603050405020304" pitchFamily="18" charset="0"/>
              <a:cs typeface="Times New Roman" panose="02020603050405020304" pitchFamily="18" charset="0"/>
            </a:endParaRPr>
          </a:p>
        </p:txBody>
      </p:sp>
      <p:sp>
        <p:nvSpPr>
          <p:cNvPr id="54" name="Text Box 18"/>
          <p:cNvSpPr txBox="1">
            <a:spLocks noChangeArrowheads="1"/>
          </p:cNvSpPr>
          <p:nvPr/>
        </p:nvSpPr>
        <p:spPr bwMode="auto">
          <a:xfrm>
            <a:off x="3819775" y="2549922"/>
            <a:ext cx="1352550" cy="338554"/>
          </a:xfrm>
          <a:prstGeom prst="rect">
            <a:avLst/>
          </a:prstGeom>
          <a:noFill/>
          <a:ln w="9525">
            <a:noFill/>
            <a:miter lim="800000"/>
          </a:ln>
        </p:spPr>
        <p:txBody>
          <a:bodyPr>
            <a:spAutoFit/>
          </a:bodyPr>
          <a:lstStyle/>
          <a:p>
            <a:r>
              <a:rPr lang="zh-CN" altLang="en-US" sz="1600" dirty="0">
                <a:solidFill>
                  <a:schemeClr val="hlink"/>
                </a:solidFill>
                <a:latin typeface="Times New Roman" panose="02020603050405020304" pitchFamily="18" charset="0"/>
                <a:cs typeface="Times New Roman" panose="02020603050405020304" pitchFamily="18" charset="0"/>
              </a:rPr>
              <a:t>卡住的路径</a:t>
            </a:r>
            <a:endParaRPr lang="en-US" sz="1600" dirty="0">
              <a:solidFill>
                <a:schemeClr val="hlink"/>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685800" y="1333500"/>
            <a:ext cx="8229600" cy="4525963"/>
          </a:xfrm>
        </p:spPr>
        <p:txBody>
          <a:bodyPr/>
          <a:lstStyle/>
          <a:p>
            <a:r>
              <a:rPr lang="zh-CN" altLang="en-US" dirty="0">
                <a:solidFill>
                  <a:srgbClr val="E6E6E6"/>
                </a:solidFill>
              </a:rPr>
              <a:t>下推自动机 </a:t>
            </a:r>
            <a:r>
              <a:rPr lang="en-AU" altLang="zh-CN" dirty="0">
                <a:solidFill>
                  <a:srgbClr val="E6E6E6"/>
                </a:solidFill>
              </a:rPr>
              <a:t>(</a:t>
            </a:r>
            <a:r>
              <a:rPr lang="en-AU" altLang="zh-CN" dirty="0">
                <a:solidFill>
                  <a:srgbClr val="E6E6E6"/>
                </a:solidFill>
                <a:latin typeface="Times New Roman" panose="02020603050405020304" pitchFamily="18" charset="0"/>
                <a:cs typeface="Times New Roman" panose="02020603050405020304" pitchFamily="18" charset="0"/>
              </a:rPr>
              <a:t>pushdown automata</a:t>
            </a:r>
            <a:r>
              <a:rPr lang="en-AU" altLang="zh-CN" dirty="0">
                <a:solidFill>
                  <a:srgbClr val="E6E6E6"/>
                </a:solidFill>
              </a:rPr>
              <a:t>)</a:t>
            </a:r>
          </a:p>
          <a:p>
            <a:r>
              <a:rPr lang="zh-CN" altLang="en-US" dirty="0"/>
              <a:t>下推自动机接受的语言</a:t>
            </a:r>
            <a:endParaRPr lang="en-AU" altLang="zh-CN" dirty="0"/>
          </a:p>
          <a:p>
            <a:r>
              <a:rPr lang="zh-CN" altLang="en-US" dirty="0">
                <a:solidFill>
                  <a:srgbClr val="E6E6E6"/>
                </a:solidFill>
              </a:rPr>
              <a:t>下推自动机与文法的等价性</a:t>
            </a:r>
            <a:endParaRPr lang="en-AU" altLang="zh-CN" dirty="0">
              <a:solidFill>
                <a:srgbClr val="E6E6E6"/>
              </a:solidFill>
            </a:endParaRPr>
          </a:p>
          <a:p>
            <a:pPr lvl="1"/>
            <a:r>
              <a:rPr lang="zh-CN" altLang="en-US" dirty="0">
                <a:solidFill>
                  <a:srgbClr val="E6E6E6"/>
                </a:solidFill>
              </a:rPr>
              <a:t>由</a:t>
            </a:r>
            <a:r>
              <a:rPr lang="en-AU" altLang="zh-CN" dirty="0">
                <a:solidFill>
                  <a:srgbClr val="E6E6E6"/>
                </a:solidFill>
                <a:latin typeface="Times New Roman" panose="02020603050405020304" pitchFamily="18" charset="0"/>
                <a:cs typeface="Times New Roman" panose="02020603050405020304" pitchFamily="18" charset="0"/>
              </a:rPr>
              <a:t>CFG</a:t>
            </a:r>
            <a:r>
              <a:rPr lang="zh-CN" altLang="en-US" dirty="0">
                <a:solidFill>
                  <a:srgbClr val="E6E6E6"/>
                </a:solidFill>
              </a:rPr>
              <a:t>到</a:t>
            </a:r>
            <a:r>
              <a:rPr lang="en-US" altLang="zh-CN" dirty="0">
                <a:solidFill>
                  <a:srgbClr val="E6E6E6"/>
                </a:solidFill>
                <a:latin typeface="Times New Roman" panose="02020603050405020304" pitchFamily="18" charset="0"/>
                <a:cs typeface="Times New Roman" panose="02020603050405020304" pitchFamily="18" charset="0"/>
              </a:rPr>
              <a:t>PDA</a:t>
            </a:r>
          </a:p>
          <a:p>
            <a:pPr lvl="1"/>
            <a:r>
              <a:rPr lang="zh-CN" altLang="en-US" dirty="0">
                <a:solidFill>
                  <a:srgbClr val="E6E6E6"/>
                </a:solidFill>
              </a:rPr>
              <a:t>由</a:t>
            </a:r>
            <a:r>
              <a:rPr lang="en-AU" altLang="zh-CN" dirty="0">
                <a:solidFill>
                  <a:srgbClr val="E6E6E6"/>
                </a:solidFill>
                <a:latin typeface="Times New Roman" panose="02020603050405020304" pitchFamily="18" charset="0"/>
                <a:cs typeface="Times New Roman" panose="02020603050405020304" pitchFamily="18" charset="0"/>
              </a:rPr>
              <a:t>PDA</a:t>
            </a:r>
            <a:r>
              <a:rPr lang="zh-CN" altLang="en-US" dirty="0">
                <a:solidFill>
                  <a:srgbClr val="E6E6E6"/>
                </a:solidFill>
              </a:rPr>
              <a:t>到</a:t>
            </a:r>
            <a:r>
              <a:rPr lang="en-US" altLang="zh-CN" dirty="0">
                <a:solidFill>
                  <a:srgbClr val="E6E6E6"/>
                </a:solidFill>
                <a:latin typeface="Times New Roman" panose="02020603050405020304" pitchFamily="18" charset="0"/>
                <a:cs typeface="Times New Roman" panose="02020603050405020304" pitchFamily="18" charset="0"/>
              </a:rPr>
              <a:t>CFG</a:t>
            </a:r>
            <a:endParaRPr lang="en-AU" altLang="zh-CN" dirty="0">
              <a:solidFill>
                <a:srgbClr val="E6E6E6"/>
              </a:solidFill>
              <a:latin typeface="Times New Roman" panose="02020603050405020304" pitchFamily="18" charset="0"/>
              <a:cs typeface="Times New Roman" panose="02020603050405020304" pitchFamily="18" charset="0"/>
            </a:endParaRPr>
          </a:p>
          <a:p>
            <a:r>
              <a:rPr lang="zh-CN" altLang="en-US" dirty="0">
                <a:solidFill>
                  <a:srgbClr val="E6E6E6"/>
                </a:solidFill>
              </a:rPr>
              <a:t>确定型下推自动机</a:t>
            </a:r>
            <a:endParaRPr lang="en-AU" dirty="0">
              <a:solidFill>
                <a:srgbClr val="E6E6E6"/>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t>38</a:t>
            </a:fld>
            <a:endParaRPr lang="en-AU"/>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下推自动机接受的语言</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75504" y="1830387"/>
                <a:ext cx="7911296" cy="4525963"/>
              </a:xfrm>
            </p:spPr>
            <p:txBody>
              <a:bodyPr>
                <a:normAutofit/>
              </a:bodyPr>
              <a:lstStyle/>
              <a:p>
                <a:r>
                  <a:rPr lang="en-AU" altLang="zh-CN" dirty="0">
                    <a:latin typeface="Times New Roman" panose="02020603050405020304" pitchFamily="18" charset="0"/>
                    <a:cs typeface="Times New Roman" panose="02020603050405020304" pitchFamily="18" charset="0"/>
                  </a:rPr>
                  <a:t>P</a:t>
                </a:r>
                <a:r>
                  <a:rPr lang="en-AU" dirty="0">
                    <a:latin typeface="Times New Roman" panose="02020603050405020304" pitchFamily="18" charset="0"/>
                    <a:cs typeface="Times New Roman" panose="02020603050405020304" pitchFamily="18" charset="0"/>
                  </a:rPr>
                  <a:t>DA</a:t>
                </a:r>
                <a:r>
                  <a:rPr lang="en-AU" dirty="0"/>
                  <a:t> </a:t>
                </a:r>
                <a14:m>
                  <m:oMath xmlns:m="http://schemas.openxmlformats.org/officeDocument/2006/math">
                    <m:r>
                      <a:rPr lang="en-AU" i="1" dirty="0" smtClean="0">
                        <a:latin typeface="Cambria Math" panose="02040503050406030204" pitchFamily="18" charset="0"/>
                      </a:rPr>
                      <m:t>𝑃</m:t>
                    </m:r>
                    <m:r>
                      <a:rPr lang="en-AU" i="1" dirty="0" smtClean="0">
                        <a:latin typeface="Cambria Math" panose="02040503050406030204" pitchFamily="18" charset="0"/>
                      </a:rPr>
                      <m:t> = (</m:t>
                    </m:r>
                    <m:r>
                      <a:rPr lang="en-AU" i="1" dirty="0" smtClean="0">
                        <a:latin typeface="Cambria Math" panose="02040503050406030204" pitchFamily="18" charset="0"/>
                      </a:rPr>
                      <m:t>𝑄</m:t>
                    </m:r>
                    <m:r>
                      <a:rPr lang="en-AU" i="1" dirty="0" smtClean="0">
                        <a:latin typeface="Cambria Math" panose="02040503050406030204" pitchFamily="18" charset="0"/>
                      </a:rPr>
                      <m:t>, </m:t>
                    </m:r>
                    <m:r>
                      <m:rPr>
                        <m:sty m:val="p"/>
                      </m:rPr>
                      <a:rPr lang="el-GR" i="0" dirty="0" smtClean="0">
                        <a:latin typeface="Cambria Math" panose="02040503050406030204" pitchFamily="18" charset="0"/>
                      </a:rPr>
                      <m:t>Σ</m:t>
                    </m:r>
                    <m:r>
                      <a:rPr lang="el-GR" i="1" dirty="0" smtClean="0">
                        <a:latin typeface="Cambria Math" panose="02040503050406030204" pitchFamily="18" charset="0"/>
                      </a:rPr>
                      <m:t>, </m:t>
                    </m:r>
                    <m:r>
                      <m:rPr>
                        <m:sty m:val="p"/>
                      </m:rPr>
                      <a:rPr lang="el-GR" i="0" dirty="0" smtClean="0">
                        <a:latin typeface="Cambria Math" panose="02040503050406030204" pitchFamily="18" charset="0"/>
                      </a:rPr>
                      <m:t>Γ</m:t>
                    </m:r>
                    <m:r>
                      <a:rPr lang="el-GR" i="1" dirty="0" smtClean="0">
                        <a:latin typeface="Cambria Math" panose="02040503050406030204" pitchFamily="18" charset="0"/>
                      </a:rPr>
                      <m:t>, </m:t>
                    </m:r>
                    <m:r>
                      <a:rPr lang="el-GR" i="1" dirty="0" smtClean="0">
                        <a:latin typeface="Cambria Math" panose="02040503050406030204" pitchFamily="18" charset="0"/>
                      </a:rPr>
                      <m:t>𝛿</m:t>
                    </m:r>
                    <m:r>
                      <a:rPr lang="el-GR" i="1" dirty="0" smtClean="0">
                        <a:latin typeface="Cambria Math" panose="02040503050406030204" pitchFamily="18" charset="0"/>
                      </a:rPr>
                      <m:t>, </m:t>
                    </m:r>
                    <m:sSub>
                      <m:sSubPr>
                        <m:ctrlPr>
                          <a:rPr lang="el-GR"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n-AU" i="1" dirty="0" smtClean="0">
                        <a:latin typeface="Cambria Math" panose="02040503050406030204" pitchFamily="18" charset="0"/>
                      </a:rPr>
                      <m:t>, </m:t>
                    </m:r>
                    <m:sSub>
                      <m:sSubPr>
                        <m:ctrlPr>
                          <a:rPr lang="en-AU" i="1" dirty="0" smtClean="0">
                            <a:latin typeface="Cambria Math" panose="02040503050406030204" pitchFamily="18" charset="0"/>
                          </a:rPr>
                        </m:ctrlPr>
                      </m:sSubPr>
                      <m:e>
                        <m:r>
                          <a:rPr lang="en-AU" b="0" i="1" dirty="0" smtClean="0">
                            <a:latin typeface="Cambria Math" panose="02040503050406030204" pitchFamily="18" charset="0"/>
                          </a:rPr>
                          <m:t>𝑍</m:t>
                        </m:r>
                      </m:e>
                      <m:sub>
                        <m:r>
                          <a:rPr lang="en-AU" b="0" i="1" dirty="0" smtClean="0">
                            <a:latin typeface="Cambria Math" panose="02040503050406030204" pitchFamily="18" charset="0"/>
                          </a:rPr>
                          <m:t>0</m:t>
                        </m:r>
                      </m:sub>
                    </m:sSub>
                    <m:r>
                      <a:rPr lang="en-AU" i="1" dirty="0" smtClean="0">
                        <a:latin typeface="Cambria Math" panose="02040503050406030204" pitchFamily="18" charset="0"/>
                      </a:rPr>
                      <m:t>, </m:t>
                    </m:r>
                    <m:r>
                      <a:rPr lang="en-AU" i="1" dirty="0" smtClean="0">
                        <a:latin typeface="Cambria Math" panose="02040503050406030204" pitchFamily="18" charset="0"/>
                      </a:rPr>
                      <m:t>𝐹</m:t>
                    </m:r>
                    <m:r>
                      <a:rPr lang="en-AU" i="1" dirty="0" smtClean="0">
                        <a:latin typeface="Cambria Math" panose="02040503050406030204" pitchFamily="18" charset="0"/>
                      </a:rPr>
                      <m:t>)</m:t>
                    </m:r>
                  </m:oMath>
                </a14:m>
                <a:r>
                  <a:rPr lang="zh-CN" altLang="en-US" dirty="0"/>
                  <a:t>的语言一般通过</a:t>
                </a:r>
                <a:r>
                  <a:rPr lang="zh-CN" altLang="en-US" dirty="0">
                    <a:solidFill>
                      <a:srgbClr val="FF0000"/>
                    </a:solidFill>
                  </a:rPr>
                  <a:t>终态方式</a:t>
                </a:r>
                <a:r>
                  <a:rPr lang="zh-CN" altLang="en-US" dirty="0"/>
                  <a:t>接受来定义，记为</a:t>
                </a:r>
                <a14:m>
                  <m:oMath xmlns:m="http://schemas.openxmlformats.org/officeDocument/2006/math">
                    <m:r>
                      <a:rPr lang="en-AU" b="1" i="0" dirty="0" smtClean="0">
                        <a:latin typeface="Cambria Math" panose="02040503050406030204" pitchFamily="18" charset="0"/>
                      </a:rPr>
                      <m:t>𝐋</m:t>
                    </m:r>
                    <m:r>
                      <a:rPr lang="en-AU" i="1" dirty="0" smtClean="0">
                        <a:latin typeface="Cambria Math" panose="02040503050406030204" pitchFamily="18" charset="0"/>
                      </a:rPr>
                      <m:t>(</m:t>
                    </m:r>
                    <m:r>
                      <a:rPr lang="en-AU" i="1" dirty="0" smtClean="0">
                        <a:latin typeface="Cambria Math" panose="02040503050406030204" pitchFamily="18" charset="0"/>
                      </a:rPr>
                      <m:t>𝑃</m:t>
                    </m:r>
                    <m:r>
                      <a:rPr lang="en-AU" i="1" dirty="0" smtClean="0">
                        <a:latin typeface="Cambria Math" panose="02040503050406030204" pitchFamily="18" charset="0"/>
                      </a:rPr>
                      <m:t>)</m:t>
                    </m:r>
                  </m:oMath>
                </a14:m>
                <a:r>
                  <a:rPr lang="zh-CN" altLang="en-US" i="1" dirty="0">
                    <a:latin typeface="Cambria Math" panose="02040503050406030204" pitchFamily="18" charset="0"/>
                  </a:rPr>
                  <a:t>，</a:t>
                </a:r>
                <a:r>
                  <a:rPr lang="zh-CN" altLang="en-US" dirty="0">
                    <a:latin typeface="Cambria Math" panose="02040503050406030204" pitchFamily="18" charset="0"/>
                  </a:rPr>
                  <a:t>定义为</a:t>
                </a:r>
                <a:endParaRPr lang="en-AU" altLang="zh-CN"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AU" b="1" i="0" dirty="0" smtClean="0">
                          <a:latin typeface="Cambria Math" panose="02040503050406030204" pitchFamily="18" charset="0"/>
                        </a:rPr>
                        <m:t>𝐋</m:t>
                      </m:r>
                      <m:d>
                        <m:dPr>
                          <m:ctrlPr>
                            <a:rPr lang="en-AU" i="1" dirty="0" smtClean="0">
                              <a:latin typeface="Cambria Math" panose="02040503050406030204" pitchFamily="18" charset="0"/>
                            </a:rPr>
                          </m:ctrlPr>
                        </m:dPr>
                        <m:e>
                          <m:r>
                            <a:rPr lang="en-AU" i="1" dirty="0" smtClean="0">
                              <a:latin typeface="Cambria Math" panose="02040503050406030204" pitchFamily="18" charset="0"/>
                            </a:rPr>
                            <m:t>𝑃</m:t>
                          </m:r>
                        </m:e>
                      </m:d>
                      <m:r>
                        <a:rPr lang="en-AU" i="1" dirty="0" smtClean="0">
                          <a:latin typeface="Cambria Math" panose="02040503050406030204" pitchFamily="18" charset="0"/>
                        </a:rPr>
                        <m:t>= </m:t>
                      </m:r>
                      <m:d>
                        <m:dPr>
                          <m:begChr m:val="{"/>
                          <m:endChr m:val="|"/>
                          <m:ctrlPr>
                            <a:rPr lang="en-AU" i="1" dirty="0" smtClean="0">
                              <a:latin typeface="Cambria Math" panose="02040503050406030204" pitchFamily="18" charset="0"/>
                            </a:rPr>
                          </m:ctrlPr>
                        </m:dPr>
                        <m:e>
                          <m:r>
                            <a:rPr lang="en-AU" i="1" dirty="0" smtClean="0">
                              <a:latin typeface="Cambria Math" panose="02040503050406030204" pitchFamily="18" charset="0"/>
                            </a:rPr>
                            <m:t>𝑤</m:t>
                          </m:r>
                          <m:r>
                            <a:rPr lang="en-AU" i="1" dirty="0" smtClean="0">
                              <a:latin typeface="Cambria Math" panose="02040503050406030204" pitchFamily="18" charset="0"/>
                            </a:rPr>
                            <m:t> </m:t>
                          </m:r>
                        </m:e>
                      </m:d>
                      <m:d>
                        <m:dPr>
                          <m:ctrlPr>
                            <a:rPr lang="en-AU" i="1" dirty="0" smtClean="0">
                              <a:latin typeface="Cambria Math" panose="02040503050406030204" pitchFamily="18" charset="0"/>
                            </a:rPr>
                          </m:ctrlPr>
                        </m:dPr>
                        <m:e>
                          <m:sSub>
                            <m:sSubPr>
                              <m:ctrlPr>
                                <a:rPr lang="en-AU"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n-AU" i="1" dirty="0" smtClean="0">
                              <a:latin typeface="Cambria Math" panose="02040503050406030204" pitchFamily="18" charset="0"/>
                            </a:rPr>
                            <m:t>, </m:t>
                          </m:r>
                          <m:r>
                            <a:rPr lang="en-AU" i="1" dirty="0" smtClean="0">
                              <a:latin typeface="Cambria Math" panose="02040503050406030204" pitchFamily="18" charset="0"/>
                            </a:rPr>
                            <m:t>𝑤</m:t>
                          </m:r>
                          <m:r>
                            <a:rPr lang="en-AU" i="1" dirty="0" smtClean="0">
                              <a:latin typeface="Cambria Math" panose="02040503050406030204" pitchFamily="18" charset="0"/>
                            </a:rPr>
                            <m:t>,</m:t>
                          </m:r>
                          <m:sSub>
                            <m:sSubPr>
                              <m:ctrlPr>
                                <a:rPr lang="en-AU" i="1" dirty="0">
                                  <a:latin typeface="Cambria Math" panose="02040503050406030204" pitchFamily="18" charset="0"/>
                                </a:rPr>
                              </m:ctrlPr>
                            </m:sSubPr>
                            <m:e>
                              <m:r>
                                <a:rPr lang="en-AU" b="0" i="1" dirty="0" smtClean="0">
                                  <a:latin typeface="Cambria Math" panose="02040503050406030204" pitchFamily="18" charset="0"/>
                                </a:rPr>
                                <m:t>𝑍</m:t>
                              </m:r>
                            </m:e>
                            <m:sub>
                              <m:r>
                                <a:rPr lang="en-AU" i="1" dirty="0">
                                  <a:latin typeface="Cambria Math" panose="02040503050406030204" pitchFamily="18" charset="0"/>
                                </a:rPr>
                                <m:t>0</m:t>
                              </m:r>
                            </m:sub>
                          </m:sSub>
                        </m:e>
                      </m:d>
                      <m:sSup>
                        <m:sSupPr>
                          <m:ctrlPr>
                            <a:rPr lang="en-AU" i="1" dirty="0" smtClean="0">
                              <a:latin typeface="Cambria Math" panose="02040503050406030204" pitchFamily="18" charset="0"/>
                            </a:rPr>
                          </m:ctrlPr>
                        </m:sSupPr>
                        <m:e>
                          <m:r>
                            <a:rPr lang="en-AU" i="1" dirty="0" smtClean="0">
                              <a:latin typeface="Cambria Math" panose="02040503050406030204" pitchFamily="18" charset="0"/>
                              <a:ea typeface="Cambria Math" panose="02040503050406030204" pitchFamily="18" charset="0"/>
                            </a:rPr>
                            <m:t>⊢</m:t>
                          </m:r>
                        </m:e>
                        <m:sup>
                          <m:r>
                            <a:rPr lang="en-AU" b="0" i="1" dirty="0" smtClean="0">
                              <a:latin typeface="Cambria Math" panose="02040503050406030204" pitchFamily="18" charset="0"/>
                            </a:rPr>
                            <m:t>∗</m:t>
                          </m:r>
                        </m:sup>
                      </m:sSup>
                      <m:r>
                        <a:rPr lang="en-AU" i="1" dirty="0" smtClean="0">
                          <a:latin typeface="Cambria Math" panose="02040503050406030204" pitchFamily="18" charset="0"/>
                        </a:rPr>
                        <m:t>(</m:t>
                      </m:r>
                      <m:r>
                        <a:rPr lang="en-AU" i="1" dirty="0" smtClean="0">
                          <a:latin typeface="Cambria Math" panose="02040503050406030204" pitchFamily="18" charset="0"/>
                        </a:rPr>
                        <m:t>𝑝</m:t>
                      </m:r>
                      <m:r>
                        <a:rPr lang="en-AU" i="1" dirty="0" smtClean="0">
                          <a:latin typeface="Cambria Math" panose="02040503050406030204" pitchFamily="18" charset="0"/>
                        </a:rPr>
                        <m:t>, </m:t>
                      </m:r>
                      <m:r>
                        <a:rPr lang="el-GR" i="1" dirty="0" smtClean="0">
                          <a:latin typeface="Cambria Math" panose="02040503050406030204" pitchFamily="18" charset="0"/>
                        </a:rPr>
                        <m:t>𝜀</m:t>
                      </m:r>
                      <m:r>
                        <a:rPr lang="el-GR" i="1" dirty="0" smtClean="0">
                          <a:latin typeface="Cambria Math" panose="02040503050406030204" pitchFamily="18" charset="0"/>
                        </a:rPr>
                        <m:t>, </m:t>
                      </m:r>
                      <m:r>
                        <a:rPr lang="el-GR" i="1" dirty="0" smtClean="0">
                          <a:latin typeface="Cambria Math" panose="02040503050406030204" pitchFamily="18" charset="0"/>
                        </a:rPr>
                        <m:t>𝛾</m:t>
                      </m:r>
                      <m:r>
                        <a:rPr lang="el-GR" i="1" dirty="0" smtClean="0">
                          <a:latin typeface="Cambria Math" panose="02040503050406030204" pitchFamily="18" charset="0"/>
                        </a:rPr>
                        <m:t>), </m:t>
                      </m:r>
                      <m:r>
                        <a:rPr lang="en-AU" i="1" dirty="0" smtClean="0">
                          <a:latin typeface="Cambria Math" panose="02040503050406030204" pitchFamily="18" charset="0"/>
                        </a:rPr>
                        <m:t>𝑝</m:t>
                      </m:r>
                      <m:r>
                        <a:rPr lang="en-AU" i="1" dirty="0" smtClean="0">
                          <a:latin typeface="Cambria Math" panose="02040503050406030204" pitchFamily="18" charset="0"/>
                        </a:rPr>
                        <m:t> ∈ </m:t>
                      </m:r>
                      <m:r>
                        <a:rPr lang="en-AU" i="1" dirty="0" smtClean="0">
                          <a:latin typeface="Cambria Math" panose="02040503050406030204" pitchFamily="18" charset="0"/>
                        </a:rPr>
                        <m:t>𝐹</m:t>
                      </m:r>
                      <m:r>
                        <a:rPr lang="en-AU" i="1" dirty="0" smtClean="0">
                          <a:latin typeface="Cambria Math" panose="02040503050406030204" pitchFamily="18" charset="0"/>
                        </a:rPr>
                        <m:t>}</m:t>
                      </m:r>
                    </m:oMath>
                  </m:oMathPara>
                </a14:m>
                <a:endParaRPr lang="en-AU" dirty="0"/>
              </a:p>
              <a:p>
                <a:pPr marL="0" indent="0">
                  <a:lnSpc>
                    <a:spcPct val="120000"/>
                  </a:lnSpc>
                  <a:buNone/>
                </a:pPr>
                <a:r>
                  <a:rPr lang="zh-CN" altLang="en-US" dirty="0"/>
                  <a:t>  即能够使</a:t>
                </a:r>
                <a:r>
                  <a:rPr lang="en-AU" altLang="zh-CN" dirty="0">
                    <a:latin typeface="Times New Roman" panose="02020603050405020304" pitchFamily="18" charset="0"/>
                    <a:cs typeface="Times New Roman" panose="02020603050405020304" pitchFamily="18" charset="0"/>
                  </a:rPr>
                  <a:t>PDA</a:t>
                </a:r>
                <a:r>
                  <a:rPr lang="zh-CN" altLang="en-US" dirty="0"/>
                  <a:t>到达终态的符号串的集合。</a:t>
                </a:r>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775504" y="1830387"/>
                <a:ext cx="7911296" cy="4525963"/>
              </a:xfrm>
              <a:blipFill rotWithShape="1">
                <a:blip r:embed="rId2"/>
                <a:stretch>
                  <a:fillRect l="-2" t="-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39</a:t>
            </a:fld>
            <a:endParaRPr lang="en-AU"/>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下推自动机接受的语言</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598894"/>
                <a:ext cx="7946020" cy="4525963"/>
              </a:xfrm>
            </p:spPr>
            <p:txBody>
              <a:bodyPr/>
              <a:lstStyle/>
              <a:p>
                <a:r>
                  <a:rPr lang="zh-CN" altLang="en-US" dirty="0"/>
                  <a:t>另外一种</a:t>
                </a:r>
                <a:r>
                  <a:rPr lang="en-AU" altLang="zh-CN" dirty="0">
                    <a:latin typeface="Times New Roman" panose="02020603050405020304" pitchFamily="18" charset="0"/>
                    <a:cs typeface="Times New Roman" panose="02020603050405020304" pitchFamily="18" charset="0"/>
                  </a:rPr>
                  <a:t>PDA</a:t>
                </a:r>
                <a:r>
                  <a:rPr lang="zh-CN" altLang="en-US" dirty="0"/>
                  <a:t>定义的语言是以</a:t>
                </a:r>
                <a:r>
                  <a:rPr lang="zh-CN" altLang="en-US" dirty="0">
                    <a:solidFill>
                      <a:srgbClr val="FF0000"/>
                    </a:solidFill>
                  </a:rPr>
                  <a:t>空栈方式</a:t>
                </a:r>
                <a:r>
                  <a:rPr lang="zh-CN" altLang="en-US" dirty="0"/>
                  <a:t>接受的语言</a:t>
                </a:r>
                <a:r>
                  <a:rPr lang="en-US" altLang="zh-CN" dirty="0"/>
                  <a:t>, </a:t>
                </a:r>
                <a:r>
                  <a:rPr lang="zh-CN" altLang="en-US" dirty="0"/>
                  <a:t>记为</a:t>
                </a:r>
                <a14:m>
                  <m:oMath xmlns:m="http://schemas.openxmlformats.org/officeDocument/2006/math">
                    <m:r>
                      <a:rPr lang="en-US" altLang="zh-CN" b="1" i="0" dirty="0" smtClean="0">
                        <a:latin typeface="Cambria Math" panose="02040503050406030204" pitchFamily="18" charset="0"/>
                      </a:rPr>
                      <m:t>𝐍</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oMath>
                </a14:m>
                <a:r>
                  <a:rPr lang="en-US" altLang="zh-CN" dirty="0"/>
                  <a:t>, </a:t>
                </a:r>
                <a:r>
                  <a:rPr lang="zh-CN" altLang="en-US" dirty="0"/>
                  <a:t>定义为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pl-PL" altLang="zh-CN" b="1" i="0" dirty="0" smtClean="0">
                          <a:latin typeface="Cambria Math" panose="02040503050406030204" pitchFamily="18" charset="0"/>
                        </a:rPr>
                        <m:t>𝐍</m:t>
                      </m:r>
                      <m:r>
                        <a:rPr lang="pl-PL" altLang="zh-CN" i="1" dirty="0" smtClean="0">
                          <a:latin typeface="Cambria Math" panose="02040503050406030204" pitchFamily="18" charset="0"/>
                        </a:rPr>
                        <m:t>(</m:t>
                      </m:r>
                      <m:r>
                        <a:rPr lang="pl-PL" altLang="zh-CN" i="1" dirty="0" smtClean="0">
                          <a:latin typeface="Cambria Math" panose="02040503050406030204" pitchFamily="18" charset="0"/>
                        </a:rPr>
                        <m:t>𝑃</m:t>
                      </m:r>
                      <m:r>
                        <a:rPr lang="pl-PL" altLang="zh-CN" i="1" dirty="0" smtClean="0">
                          <a:latin typeface="Cambria Math" panose="02040503050406030204" pitchFamily="18" charset="0"/>
                        </a:rPr>
                        <m:t>) = {</m:t>
                      </m:r>
                      <m:r>
                        <a:rPr lang="pl-PL" altLang="zh-CN" i="1" dirty="0" smtClean="0">
                          <a:latin typeface="Cambria Math" panose="02040503050406030204" pitchFamily="18" charset="0"/>
                        </a:rPr>
                        <m:t>𝑤</m:t>
                      </m:r>
                      <m:r>
                        <a:rPr lang="pl-PL" altLang="zh-CN" i="1" dirty="0" smtClean="0">
                          <a:latin typeface="Cambria Math" panose="02040503050406030204" pitchFamily="18" charset="0"/>
                        </a:rPr>
                        <m:t> | (</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pl-PL" altLang="zh-CN" i="1" dirty="0" smtClean="0">
                          <a:latin typeface="Cambria Math" panose="02040503050406030204" pitchFamily="18" charset="0"/>
                        </a:rPr>
                        <m:t>, </m:t>
                      </m:r>
                      <m:r>
                        <a:rPr lang="pl-PL" altLang="zh-CN" i="1" dirty="0" smtClean="0">
                          <a:latin typeface="Cambria Math" panose="02040503050406030204" pitchFamily="18" charset="0"/>
                        </a:rPr>
                        <m:t>𝑤</m:t>
                      </m:r>
                      <m:r>
                        <a:rPr lang="pl-PL" altLang="zh-CN" i="1" dirty="0" smtClean="0">
                          <a:latin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𝑍</m:t>
                          </m:r>
                        </m:e>
                        <m:sub>
                          <m:r>
                            <a:rPr lang="en-AU" i="1" dirty="0">
                              <a:latin typeface="Cambria Math" panose="02040503050406030204" pitchFamily="18" charset="0"/>
                            </a:rPr>
                            <m:t>0</m:t>
                          </m:r>
                        </m:sub>
                      </m:sSub>
                      <m:r>
                        <a:rPr lang="pl-PL" altLang="zh-CN" i="1" dirty="0" smtClean="0">
                          <a:latin typeface="Cambria Math" panose="02040503050406030204" pitchFamily="18" charset="0"/>
                        </a:rPr>
                        <m:t>)</m:t>
                      </m:r>
                      <m:sSup>
                        <m:sSupPr>
                          <m:ctrlPr>
                            <a:rPr lang="en-AU" i="1" dirty="0">
                              <a:latin typeface="Cambria Math" panose="02040503050406030204" pitchFamily="18" charset="0"/>
                            </a:rPr>
                          </m:ctrlPr>
                        </m:sSupPr>
                        <m:e>
                          <m:r>
                            <a:rPr lang="en-AU"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r>
                        <a:rPr lang="pl-PL" altLang="zh-CN" i="1" dirty="0" smtClean="0">
                          <a:latin typeface="Cambria Math" panose="02040503050406030204" pitchFamily="18" charset="0"/>
                        </a:rPr>
                        <m:t>(</m:t>
                      </m:r>
                      <m:r>
                        <a:rPr lang="pl-PL" altLang="zh-CN" i="1" dirty="0" smtClean="0">
                          <a:latin typeface="Cambria Math" panose="02040503050406030204" pitchFamily="18" charset="0"/>
                        </a:rPr>
                        <m:t>𝑝</m:t>
                      </m:r>
                      <m:r>
                        <a:rPr lang="pl-PL" altLang="zh-CN" i="1" dirty="0" smtClean="0">
                          <a:latin typeface="Cambria Math" panose="02040503050406030204" pitchFamily="18" charset="0"/>
                        </a:rPr>
                        <m:t>, </m:t>
                      </m:r>
                      <m:r>
                        <a:rPr lang="pl-PL" altLang="zh-CN" i="1" dirty="0" smtClean="0">
                          <a:latin typeface="Cambria Math" panose="02040503050406030204" pitchFamily="18" charset="0"/>
                        </a:rPr>
                        <m:t>𝜀</m:t>
                      </m:r>
                      <m:r>
                        <a:rPr lang="pl-PL" altLang="zh-CN" i="1" dirty="0" smtClean="0">
                          <a:latin typeface="Cambria Math" panose="02040503050406030204" pitchFamily="18" charset="0"/>
                        </a:rPr>
                        <m:t>, </m:t>
                      </m:r>
                      <m:r>
                        <a:rPr lang="pl-PL" altLang="zh-CN" i="1" dirty="0" smtClean="0">
                          <a:latin typeface="Cambria Math" panose="02040503050406030204" pitchFamily="18" charset="0"/>
                        </a:rPr>
                        <m:t>𝜀</m:t>
                      </m:r>
                      <m:r>
                        <a:rPr lang="pl-PL" altLang="zh-CN" i="1" dirty="0" smtClean="0">
                          <a:latin typeface="Cambria Math" panose="02040503050406030204" pitchFamily="18" charset="0"/>
                        </a:rPr>
                        <m:t>)}</m:t>
                      </m:r>
                    </m:oMath>
                  </m:oMathPara>
                </a14:m>
                <a:endParaRPr lang="en-AU" altLang="zh-CN" dirty="0"/>
              </a:p>
              <a:p>
                <a:pPr marL="0" indent="0">
                  <a:buNone/>
                </a:pPr>
                <a:r>
                  <a:rPr lang="zh-CN" altLang="en-US" dirty="0"/>
                  <a:t>  即能够使得</a:t>
                </a:r>
                <a:r>
                  <a:rPr lang="en-AU" altLang="zh-CN" dirty="0">
                    <a:latin typeface="Times New Roman" panose="02020603050405020304" pitchFamily="18" charset="0"/>
                    <a:cs typeface="Times New Roman" panose="02020603050405020304" pitchFamily="18" charset="0"/>
                  </a:rPr>
                  <a:t>PDA</a:t>
                </a:r>
                <a:r>
                  <a:rPr lang="zh-CN" altLang="en-US" dirty="0"/>
                  <a:t>的栈变空的符号串集合。</a:t>
                </a:r>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598894"/>
                <a:ext cx="7946020" cy="4525963"/>
              </a:xfrm>
              <a:blipFill rotWithShape="1">
                <a:blip r:embed="rId2"/>
                <a:stretch>
                  <a:fillRect t="-13" r="3" b="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40</a:t>
            </a:fld>
            <a:endParaRPr lang="en-AU"/>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16000"/>
                <a:ext cx="8229600" cy="4525963"/>
              </a:xfrm>
            </p:spPr>
            <p:txBody>
              <a:bodyPr>
                <a:normAutofit/>
              </a:bodyPr>
              <a:lstStyle/>
              <a:p>
                <a:r>
                  <a:rPr lang="zh-CN" altLang="en-US" sz="2400" dirty="0"/>
                  <a:t>设</a:t>
                </a:r>
                <a:r>
                  <a:rPr lang="en-US" altLang="zh-CN" sz="2400" dirty="0">
                    <a:latin typeface="Times New Roman" panose="02020603050405020304" pitchFamily="18" charset="0"/>
                    <a:cs typeface="Times New Roman" panose="02020603050405020304" pitchFamily="18" charset="0"/>
                  </a:rPr>
                  <a:t>PDA</a:t>
                </a:r>
                <a:r>
                  <a:rPr lang="zh-CN" altLang="en-US" sz="2400" dirty="0"/>
                  <a:t>接受的语言示例：识别</a:t>
                </a:r>
                <a14:m>
                  <m:oMath xmlns:m="http://schemas.openxmlformats.org/officeDocument/2006/math">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𝐿</m:t>
                        </m:r>
                      </m:e>
                      <m:sub>
                        <m:r>
                          <a:rPr lang="en-AU" altLang="zh-CN" sz="2400" b="0" i="1" dirty="0" smtClean="0">
                            <a:latin typeface="Cambria Math" panose="02040503050406030204" pitchFamily="18" charset="0"/>
                          </a:rPr>
                          <m:t>𝑤𝑤𝑟</m:t>
                        </m:r>
                      </m:sub>
                    </m:sSub>
                    <m:r>
                      <a:rPr lang="en-AU" altLang="zh-CN" sz="2400" i="1" dirty="0">
                        <a:latin typeface="Cambria Math" panose="02040503050406030204" pitchFamily="18" charset="0"/>
                      </a:rPr>
                      <m:t>= {</m:t>
                    </m:r>
                    <m:r>
                      <a:rPr lang="en-AU" altLang="zh-CN" sz="2400" i="1" dirty="0" err="1">
                        <a:latin typeface="Cambria Math" panose="02040503050406030204" pitchFamily="18" charset="0"/>
                      </a:rPr>
                      <m:t>𝑤</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𝑤</m:t>
                        </m:r>
                      </m:e>
                      <m:sup>
                        <m:r>
                          <a:rPr lang="en-AU" altLang="zh-CN" sz="2400" b="0" i="1" dirty="0" smtClean="0">
                            <a:latin typeface="Cambria Math" panose="02040503050406030204" pitchFamily="18" charset="0"/>
                          </a:rPr>
                          <m:t>𝑅</m:t>
                        </m:r>
                      </m:sup>
                    </m:sSup>
                    <m:r>
                      <a:rPr lang="en-AU" altLang="zh-CN" sz="2400" i="1" dirty="0">
                        <a:latin typeface="Cambria Math" panose="02040503050406030204" pitchFamily="18" charset="0"/>
                      </a:rPr>
                      <m:t> | </m:t>
                    </m:r>
                    <m:r>
                      <a:rPr lang="en-AU" altLang="zh-CN" sz="2400" b="0" i="1" dirty="0" smtClean="0">
                        <a:latin typeface="Cambria Math" panose="02040503050406030204" pitchFamily="18" charset="0"/>
                      </a:rPr>
                      <m:t>𝑤</m:t>
                    </m:r>
                    <m:r>
                      <a:rPr lang="en-AU" altLang="zh-CN" sz="2400" i="1" dirty="0">
                        <a:latin typeface="Cambria Math" panose="02040503050406030204" pitchFamily="18" charset="0"/>
                      </a:rPr>
                      <m:t>∈</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(0+1)</m:t>
                        </m:r>
                      </m:e>
                      <m:sup>
                        <m:r>
                          <a:rPr lang="en-AU" altLang="zh-CN" sz="2400" b="0" i="1" dirty="0" smtClean="0">
                            <a:latin typeface="Cambria Math" panose="02040503050406030204" pitchFamily="18" charset="0"/>
                          </a:rPr>
                          <m:t>∗</m:t>
                        </m:r>
                      </m:sup>
                    </m:sSup>
                    <m:r>
                      <a:rPr lang="en-AU" altLang="zh-CN" sz="2400" i="1" dirty="0">
                        <a:latin typeface="Cambria Math" panose="02040503050406030204" pitchFamily="18" charset="0"/>
                      </a:rPr>
                      <m:t> } </m:t>
                    </m:r>
                  </m:oMath>
                </a14:m>
                <a:r>
                  <a:rPr lang="zh-CN" altLang="en-US" sz="2400" dirty="0"/>
                  <a:t>的</a:t>
                </a:r>
                <a:r>
                  <a:rPr lang="en-AU" altLang="zh-CN" sz="2400" dirty="0">
                    <a:latin typeface="Times New Roman" panose="02020603050405020304" pitchFamily="18" charset="0"/>
                    <a:cs typeface="Times New Roman" panose="02020603050405020304" pitchFamily="18" charset="0"/>
                  </a:rPr>
                  <a:t>PDA </a:t>
                </a:r>
                <a14:m>
                  <m:oMath xmlns:m="http://schemas.openxmlformats.org/officeDocument/2006/math">
                    <m:r>
                      <a:rPr lang="en-AU" altLang="zh-CN" sz="2400" i="1" dirty="0" smtClean="0">
                        <a:latin typeface="Cambria Math" panose="02040503050406030204" pitchFamily="18" charset="0"/>
                        <a:cs typeface="Times New Roman" panose="02020603050405020304" pitchFamily="18" charset="0"/>
                      </a:rPr>
                      <m:t>𝑃</m:t>
                    </m:r>
                  </m:oMath>
                </a14:m>
                <a:r>
                  <a:rPr lang="zh-CN" altLang="en-US" sz="2400" dirty="0"/>
                  <a:t>。</a:t>
                </a:r>
                <a:endParaRPr lang="en-AU" altLang="zh-CN" sz="2000" dirty="0"/>
              </a:p>
              <a:p>
                <a:r>
                  <a:rPr lang="zh-CN" altLang="en-US" sz="2400" dirty="0"/>
                  <a:t>以终态方式接受</a:t>
                </a:r>
                <a:r>
                  <a:rPr lang="en-AU" altLang="zh-CN" sz="2400" dirty="0"/>
                  <a:t>:</a:t>
                </a:r>
              </a:p>
              <a:p>
                <a:endParaRPr lang="en-AU" sz="2400" dirty="0"/>
              </a:p>
              <a:p>
                <a:endParaRPr lang="en-AU" sz="2400" dirty="0"/>
              </a:p>
              <a:p>
                <a:endParaRPr lang="en-AU" sz="2400" dirty="0"/>
              </a:p>
              <a:p>
                <a:r>
                  <a:rPr lang="zh-CN" altLang="en-US" sz="2400" dirty="0"/>
                  <a:t>以空栈方式接受</a:t>
                </a:r>
                <a:r>
                  <a:rPr lang="en-AU" altLang="zh-CN" sz="2400" dirty="0"/>
                  <a:t>:</a:t>
                </a: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16000"/>
                <a:ext cx="8229600" cy="4525963"/>
              </a:xfrm>
              <a:blipFill rotWithShape="1">
                <a:blip r:embed="rId3"/>
                <a:stretch>
                  <a:fillRect b="7"/>
                </a:stretch>
              </a:blipFill>
            </p:spPr>
            <p:txBody>
              <a:bodyPr/>
              <a:lstStyle/>
              <a:p>
                <a:r>
                  <a:rPr lang="zh-CN" altLang="en-US">
                    <a:noFill/>
                  </a:rPr>
                  <a:t> </a:t>
                </a:r>
              </a:p>
            </p:txBody>
          </p:sp>
        </mc:Fallback>
      </mc:AlternateContent>
      <p:pic>
        <p:nvPicPr>
          <p:cNvPr id="5" name="Picture 4"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63786" y="1878342"/>
            <a:ext cx="4728080" cy="2024756"/>
          </a:xfrm>
          <a:prstGeom prst="rect">
            <a:avLst/>
          </a:prstGeom>
        </p:spPr>
      </p:pic>
      <p:pic>
        <p:nvPicPr>
          <p:cNvPr id="7" name="Picture 6" descr="Diagram&#10;&#10;Description automatically generated with low confidence"/>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35285" y="4158543"/>
            <a:ext cx="3445329" cy="1945110"/>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flipH="1">
                <a:off x="468085" y="4920135"/>
                <a:ext cx="4267200" cy="120032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只需用</a:t>
                </a:r>
                <a14:m>
                  <m:oMath xmlns:m="http://schemas.openxmlformats.org/officeDocument/2006/math">
                    <m:r>
                      <a:rPr lang="zh-CN" altLang="en-US" sz="2400" i="1" dirty="0" smtClean="0">
                        <a:latin typeface="Cambria Math" panose="02040503050406030204" pitchFamily="18" charset="0"/>
                      </a:rPr>
                      <m:t>𝛿</m:t>
                    </m:r>
                    <m:r>
                      <a:rPr lang="en-US" altLang="zh-CN" sz="2400" i="1" dirty="0" smtClean="0">
                        <a:latin typeface="Cambria Math" panose="02040503050406030204" pitchFamily="18" charset="0"/>
                      </a:rPr>
                      <m:t>(</m:t>
                    </m:r>
                    <m:sSub>
                      <m:sSubPr>
                        <m:ctrlPr>
                          <a:rPr lang="en-US"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sz="2400" i="1" dirty="0" smtClean="0">
                        <a:latin typeface="Cambria Math" panose="02040503050406030204" pitchFamily="18" charset="0"/>
                      </a:rPr>
                      <m:t>, </m:t>
                    </m:r>
                    <m:r>
                      <a:rPr lang="en-AU" sz="2400" i="1" dirty="0" smtClean="0">
                        <a:latin typeface="Cambria Math" panose="02040503050406030204" pitchFamily="18" charset="0"/>
                        <a:ea typeface="Cambria Math" panose="02040503050406030204" pitchFamily="18" charset="0"/>
                      </a:rPr>
                      <m:t>𝜀</m:t>
                    </m:r>
                    <m:r>
                      <a:rPr lang="en-AU" sz="2400" i="1" dirty="0" smtClean="0">
                        <a:latin typeface="Cambria Math" panose="02040503050406030204" pitchFamily="18" charset="0"/>
                      </a:rPr>
                      <m:t>, </m:t>
                    </m:r>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𝑍</m:t>
                        </m:r>
                      </m:e>
                      <m:sub>
                        <m:r>
                          <a:rPr lang="en-AU" sz="2400" b="0" i="1" dirty="0" smtClean="0">
                            <a:latin typeface="Cambria Math" panose="02040503050406030204" pitchFamily="18" charset="0"/>
                          </a:rPr>
                          <m:t>0</m:t>
                        </m:r>
                      </m:sub>
                    </m:sSub>
                    <m:r>
                      <a:rPr lang="en-AU" sz="2400" i="1" dirty="0" smtClean="0">
                        <a:latin typeface="Cambria Math" panose="02040503050406030204" pitchFamily="18" charset="0"/>
                      </a:rPr>
                      <m:t>) = {(</m:t>
                    </m:r>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1</m:t>
                        </m:r>
                      </m:sub>
                    </m:sSub>
                    <m:r>
                      <a:rPr lang="en-AU" sz="2400" i="1" dirty="0" smtClean="0">
                        <a:latin typeface="Cambria Math" panose="02040503050406030204" pitchFamily="18" charset="0"/>
                      </a:rPr>
                      <m:t>,</m:t>
                    </m:r>
                    <m:r>
                      <a:rPr lang="en-AU" sz="2400" i="1" dirty="0">
                        <a:latin typeface="Cambria Math" panose="02040503050406030204" pitchFamily="18" charset="0"/>
                        <a:ea typeface="Cambria Math" panose="02040503050406030204" pitchFamily="18" charset="0"/>
                      </a:rPr>
                      <m:t>𝜀</m:t>
                    </m:r>
                    <m:r>
                      <a:rPr lang="en-AU" sz="2400" i="1" dirty="0" smtClean="0">
                        <a:latin typeface="Cambria Math" panose="02040503050406030204" pitchFamily="18" charset="0"/>
                      </a:rPr>
                      <m:t>)}</m:t>
                    </m:r>
                  </m:oMath>
                </a14:m>
                <a:r>
                  <a:rPr lang="zh-CN" altLang="en-US" sz="2400" dirty="0">
                    <a:latin typeface="楷体" panose="02010609060101010101" pitchFamily="49" charset="-122"/>
                    <a:ea typeface="楷体" panose="02010609060101010101" pitchFamily="49" charset="-122"/>
                  </a:rPr>
                  <a:t>代替</a:t>
                </a:r>
                <a14:m>
                  <m:oMath xmlns:m="http://schemas.openxmlformats.org/officeDocument/2006/math">
                    <m:r>
                      <a:rPr lang="zh-CN" altLang="en-US" sz="2400" i="1" dirty="0">
                        <a:latin typeface="Cambria Math" panose="02040503050406030204" pitchFamily="18" charset="0"/>
                      </a:rPr>
                      <m:t>𝛿</m:t>
                    </m:r>
                    <m:r>
                      <a:rPr lang="en-US" altLang="zh-CN" sz="240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1</m:t>
                        </m:r>
                      </m:sub>
                    </m:sSub>
                    <m:r>
                      <a:rPr lang="en-AU" sz="2400" i="1" dirty="0" smtClean="0">
                        <a:latin typeface="Cambria Math" panose="02040503050406030204" pitchFamily="18" charset="0"/>
                      </a:rPr>
                      <m:t>,</m:t>
                    </m:r>
                    <m:r>
                      <a:rPr lang="en-AU" sz="2400" i="1" dirty="0">
                        <a:latin typeface="Cambria Math" panose="02040503050406030204" pitchFamily="18" charset="0"/>
                        <a:ea typeface="Cambria Math" panose="02040503050406030204" pitchFamily="18" charset="0"/>
                      </a:rPr>
                      <m:t>𝜀</m:t>
                    </m:r>
                    <m:r>
                      <a:rPr lang="en-AU"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𝑍</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 = {(</m:t>
                    </m:r>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2</m:t>
                        </m:r>
                      </m:sub>
                    </m:sSub>
                    <m:r>
                      <a:rPr lang="en-AU" altLang="zh-CN" sz="2400" b="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𝑍</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m:t>
                    </m:r>
                  </m:oMath>
                </a14:m>
                <a:r>
                  <a:rPr lang="zh-CN" altLang="en-US"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a:p>
                <a:endParaRPr lang="en-AU" sz="2400" dirty="0">
                  <a:latin typeface="楷体" panose="02010609060101010101" pitchFamily="49" charset="-122"/>
                  <a:ea typeface="楷体" panose="02010609060101010101" pitchFamily="49"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flipH="1">
                <a:off x="468085" y="4920135"/>
                <a:ext cx="4267200" cy="1200329"/>
              </a:xfrm>
              <a:prstGeom prst="rect">
                <a:avLst/>
              </a:prstGeom>
              <a:blipFill rotWithShape="1">
                <a:blip r:embed="rId6"/>
                <a:stretch>
                  <a:fillRect l="-2" t="-13" r="2" b="28"/>
                </a:stretch>
              </a:blipFill>
            </p:spPr>
            <p:txBody>
              <a:bodyPr/>
              <a:lstStyle/>
              <a:p>
                <a:r>
                  <a:rPr lang="zh-CN" altLang="en-US">
                    <a:noFill/>
                  </a:rPr>
                  <a:t> </a:t>
                </a:r>
              </a:p>
            </p:txBody>
          </p:sp>
        </mc:Fallback>
      </mc:AlternateContent>
      <p:sp>
        <p:nvSpPr>
          <p:cNvPr id="9" name="Slide Number Placeholder 3"/>
          <p:cNvSpPr>
            <a:spLocks noGrp="1"/>
          </p:cNvSpPr>
          <p:nvPr>
            <p:ph type="sldNum" sz="quarter" idx="12"/>
          </p:nvPr>
        </p:nvSpPr>
        <p:spPr>
          <a:xfrm>
            <a:off x="6553200" y="6356350"/>
            <a:ext cx="2133600" cy="365125"/>
          </a:xfrm>
        </p:spPr>
        <p:txBody>
          <a:bodyPr/>
          <a:lstStyle/>
          <a:p>
            <a:fld id="{0662E1F6-9BD6-474C-A82E-E07C3DB67AAE}" type="slidenum">
              <a:rPr lang="en-AU" smtClean="0"/>
              <a:t>41</a:t>
            </a:fld>
            <a:endParaRPr lang="en-AU"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从终态方式到空栈方式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54100"/>
                <a:ext cx="8073342" cy="4525963"/>
              </a:xfrm>
            </p:spPr>
            <p:txBody>
              <a:bodyPr>
                <a:normAutofit/>
              </a:bodyPr>
              <a:lstStyle/>
              <a:p>
                <a:pPr>
                  <a:lnSpc>
                    <a:spcPct val="120000"/>
                  </a:lnSpc>
                </a:pPr>
                <a:r>
                  <a:rPr lang="zh-CN" altLang="en-US" sz="2400" dirty="0"/>
                  <a:t>定理</a:t>
                </a:r>
                <a:r>
                  <a:rPr lang="en-AU" altLang="zh-CN" sz="2400" dirty="0"/>
                  <a:t>:</a:t>
                </a:r>
                <a:r>
                  <a:rPr lang="zh-CN" altLang="en-US" sz="2400" dirty="0"/>
                  <a:t>如果</a:t>
                </a:r>
                <a:r>
                  <a:rPr lang="en-US" altLang="zh-CN" sz="2400" dirty="0">
                    <a:latin typeface="Times New Roman" panose="02020603050405020304" pitchFamily="18" charset="0"/>
                    <a:cs typeface="Times New Roman" panose="02020603050405020304" pitchFamily="18" charset="0"/>
                  </a:rPr>
                  <a:t>PDA</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𝐹</m:t>
                        </m:r>
                      </m:sub>
                    </m:sSub>
                  </m:oMath>
                </a14:m>
                <a:r>
                  <a:rPr lang="zh-CN" altLang="en-US" sz="2400" dirty="0"/>
                  <a:t>以终态方式接受语言</a:t>
                </a:r>
                <a14:m>
                  <m:oMath xmlns:m="http://schemas.openxmlformats.org/officeDocument/2006/math">
                    <m:r>
                      <a:rPr lang="en-US" altLang="zh-CN" sz="2400" i="1" dirty="0" smtClean="0">
                        <a:latin typeface="Cambria Math" panose="02040503050406030204" pitchFamily="18" charset="0"/>
                      </a:rPr>
                      <m:t>𝐿</m:t>
                    </m:r>
                  </m:oMath>
                </a14:m>
                <a:r>
                  <a:rPr lang="en-US" altLang="zh-CN" sz="2400" dirty="0"/>
                  <a:t>, </a:t>
                </a:r>
                <a:r>
                  <a:rPr lang="zh-CN" altLang="en-US" sz="2400" dirty="0"/>
                  <a:t>那么</a:t>
                </a:r>
              </a:p>
              <a:p>
                <a:pPr marL="0" indent="0">
                  <a:lnSpc>
                    <a:spcPct val="120000"/>
                  </a:lnSpc>
                  <a:buNone/>
                </a:pPr>
                <a:r>
                  <a:rPr lang="zh-CN" altLang="en-US" sz="2400" dirty="0"/>
                  <a:t>一定存在</a:t>
                </a:r>
                <a:r>
                  <a:rPr lang="en-US" altLang="zh-CN" sz="2400" dirty="0">
                    <a:latin typeface="Times New Roman" panose="02020603050405020304" pitchFamily="18" charset="0"/>
                    <a:cs typeface="Times New Roman" panose="02020603050405020304" pitchFamily="18" charset="0"/>
                  </a:rPr>
                  <a:t>PDA</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oMath>
                </a14:m>
                <a:r>
                  <a:rPr lang="zh-CN" altLang="en-US" sz="2400" dirty="0"/>
                  <a:t>以空栈方式接受</a:t>
                </a:r>
                <a14:m>
                  <m:oMath xmlns:m="http://schemas.openxmlformats.org/officeDocument/2006/math">
                    <m:r>
                      <a:rPr lang="en-AU" altLang="zh-CN" sz="2400" b="0" i="1" smtClean="0">
                        <a:latin typeface="Cambria Math" panose="02040503050406030204" pitchFamily="18" charset="0"/>
                      </a:rPr>
                      <m:t>𝐿</m:t>
                    </m:r>
                  </m:oMath>
                </a14:m>
                <a:r>
                  <a:rPr lang="zh-CN" altLang="en-US" sz="2400" dirty="0"/>
                  <a:t>。</a:t>
                </a:r>
                <a:endParaRPr lang="en-AU" altLang="zh-CN" sz="2400" dirty="0"/>
              </a:p>
              <a:p>
                <a:pPr>
                  <a:lnSpc>
                    <a:spcPct val="120000"/>
                  </a:lnSpc>
                </a:pPr>
                <a:r>
                  <a:rPr lang="zh-CN" altLang="en-US" sz="2400" dirty="0"/>
                  <a:t>证明思路：</a:t>
                </a:r>
                <a:endParaRPr lang="en-AU" altLang="zh-CN" sz="2400" dirty="0"/>
              </a:p>
              <a:p>
                <a:pPr lvl="1">
                  <a:lnSpc>
                    <a:spcPct val="120000"/>
                  </a:lnSpc>
                </a:pPr>
                <a:r>
                  <a:rPr lang="en-US" altLang="zh-CN" sz="2400" dirty="0">
                    <a:latin typeface="Times New Roman" panose="02020603050405020304" pitchFamily="18" charset="0"/>
                    <a:cs typeface="Times New Roman" panose="02020603050405020304" pitchFamily="18" charset="0"/>
                  </a:rPr>
                  <a:t>PDA</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oMath>
                </a14:m>
                <a:r>
                  <a:rPr lang="zh-CN" altLang="en-US" sz="2400" dirty="0"/>
                  <a:t>模拟</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𝐹</m:t>
                        </m:r>
                      </m:sub>
                    </m:sSub>
                    <m:r>
                      <a:rPr lang="en-AU" altLang="zh-CN" sz="2400" i="1">
                        <a:latin typeface="Cambria Math" panose="02040503050406030204" pitchFamily="18" charset="0"/>
                      </a:rPr>
                      <m:t> </m:t>
                    </m:r>
                  </m:oMath>
                </a14:m>
                <a:r>
                  <a:rPr lang="zh-CN" altLang="en-US" sz="2400" dirty="0"/>
                  <a:t>；</a:t>
                </a:r>
                <a:endParaRPr lang="en-AU" altLang="zh-CN" sz="2400" dirty="0"/>
              </a:p>
              <a:p>
                <a:pPr lvl="1">
                  <a:lnSpc>
                    <a:spcPct val="120000"/>
                  </a:lnSpc>
                </a:pPr>
                <a:r>
                  <a:rPr lang="zh-CN" altLang="en-US" sz="2400" dirty="0"/>
                  <a:t>如果</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𝐹</m:t>
                        </m:r>
                      </m:sub>
                    </m:sSub>
                  </m:oMath>
                </a14:m>
                <a:r>
                  <a:rPr lang="zh-CN" altLang="en-US" sz="2400" dirty="0"/>
                  <a:t>接受某个符号串</a:t>
                </a:r>
                <a:r>
                  <a:rPr lang="en-AU" altLang="zh-CN" sz="2400" dirty="0"/>
                  <a:t>,</a:t>
                </a:r>
                <a:r>
                  <a:rPr lang="zh-CN" altLang="en-US" sz="2400" dirty="0"/>
                  <a:t>则通过空转移</a:t>
                </a:r>
                <a:r>
                  <a:rPr lang="en-AU" altLang="zh-CN" sz="2400" dirty="0"/>
                  <a:t>(</a:t>
                </a:r>
                <a14:m>
                  <m:oMath xmlns:m="http://schemas.openxmlformats.org/officeDocument/2006/math">
                    <m:r>
                      <a:rPr lang="zh-CN" altLang="en-AU" sz="2400" i="1" smtClean="0">
                        <a:latin typeface="Cambria Math" panose="02040503050406030204" pitchFamily="18" charset="0"/>
                      </a:rPr>
                      <m:t>𝜀</m:t>
                    </m:r>
                  </m:oMath>
                </a14:m>
                <a:r>
                  <a:rPr lang="en-AU" altLang="zh-CN" sz="2400" dirty="0"/>
                  <a:t>-</a:t>
                </a:r>
                <a:r>
                  <a:rPr lang="en-AU" altLang="zh-CN" sz="2400" dirty="0">
                    <a:latin typeface="Times New Roman" panose="02020603050405020304" pitchFamily="18" charset="0"/>
                    <a:cs typeface="Times New Roman" panose="02020603050405020304" pitchFamily="18" charset="0"/>
                  </a:rPr>
                  <a:t>transition</a:t>
                </a:r>
                <a:r>
                  <a:rPr lang="en-AU" altLang="zh-CN" sz="2400" dirty="0"/>
                  <a:t>)</a:t>
                </a:r>
                <a:r>
                  <a:rPr lang="zh-CN" altLang="en-US" sz="2400" dirty="0"/>
                  <a:t>进入</a:t>
                </a:r>
                <a14:m>
                  <m:oMath xmlns:m="http://schemas.openxmlformats.org/officeDocument/2006/math">
                    <m:r>
                      <a:rPr lang="zh-CN" altLang="en-US" sz="2400" i="1" dirty="0">
                        <a:latin typeface="Cambria Math" panose="02040503050406030204" pitchFamily="18" charset="0"/>
                      </a:rPr>
                      <m:t>到</m:t>
                    </m:r>
                    <m:r>
                      <a:rPr lang="zh-CN" altLang="en-US" sz="2400" i="1" dirty="0" smtClean="0">
                        <a:latin typeface="Cambria Math" panose="02040503050406030204" pitchFamily="18" charset="0"/>
                      </a:rPr>
                      <m:t>一个</m:t>
                    </m:r>
                    <m:r>
                      <a:rPr lang="zh-CN" altLang="en-US" sz="2400" i="1" dirty="0">
                        <a:latin typeface="Cambria Math" panose="02040503050406030204" pitchFamily="18" charset="0"/>
                      </a:rPr>
                      <m:t>新</m:t>
                    </m:r>
                    <m:r>
                      <a:rPr lang="zh-CN" altLang="en-US" sz="2400" i="1" dirty="0" smtClean="0">
                        <a:latin typeface="Cambria Math" panose="02040503050406030204" pitchFamily="18" charset="0"/>
                      </a:rPr>
                      <m:t>的</m:t>
                    </m:r>
                    <m:r>
                      <a:rPr lang="zh-CN" altLang="en-US" sz="2400" i="1" dirty="0">
                        <a:latin typeface="Cambria Math" panose="02040503050406030204" pitchFamily="18" charset="0"/>
                      </a:rPr>
                      <m:t>终止</m:t>
                    </m:r>
                    <m:r>
                      <a:rPr lang="zh-CN" altLang="en-US" sz="2400" i="1" dirty="0" smtClean="0">
                        <a:latin typeface="Cambria Math" panose="02040503050406030204" pitchFamily="18" charset="0"/>
                      </a:rPr>
                      <m:t>状态</m:t>
                    </m:r>
                    <m:r>
                      <a:rPr lang="zh-CN" altLang="en-US" sz="2400" i="1" dirty="0">
                        <a:latin typeface="Cambria Math" panose="02040503050406030204" pitchFamily="18" charset="0"/>
                      </a:rPr>
                      <m:t>，</m:t>
                    </m:r>
                    <m:r>
                      <a:rPr lang="zh-CN" altLang="en-US" sz="2400" i="1" dirty="0" smtClean="0">
                        <a:latin typeface="Cambria Math" panose="02040503050406030204" pitchFamily="18" charset="0"/>
                      </a:rPr>
                      <m:t>清空</m:t>
                    </m:r>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oMath>
                </a14:m>
                <a:r>
                  <a:rPr lang="zh-CN" altLang="en-US" sz="2400" dirty="0"/>
                  <a:t>的栈，接受字符串；</a:t>
                </a:r>
                <a:endParaRPr lang="en-AU" altLang="zh-CN" sz="2400" dirty="0"/>
              </a:p>
              <a:p>
                <a:pPr lvl="1">
                  <a:lnSpc>
                    <a:spcPct val="120000"/>
                  </a:lnSpc>
                </a:pP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oMath>
                </a14:m>
                <a:r>
                  <a:rPr lang="zh-CN" altLang="en-US" sz="2400" dirty="0"/>
                  <a:t>需要防止意外对栈清空的情况；可以用一个特殊的开始符号</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𝑋</m:t>
                        </m:r>
                      </m:e>
                      <m:sub>
                        <m:r>
                          <a:rPr lang="en-AU" altLang="zh-CN" sz="2400" b="0" i="1" smtClean="0">
                            <a:latin typeface="Cambria Math" panose="02040503050406030204" pitchFamily="18" charset="0"/>
                          </a:rPr>
                          <m:t>0</m:t>
                        </m:r>
                      </m:sub>
                    </m:sSub>
                  </m:oMath>
                </a14:m>
                <a:r>
                  <a:rPr lang="zh-CN" altLang="en-US" sz="2400" dirty="0"/>
                  <a:t>来指示</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𝐹</m:t>
                        </m:r>
                      </m:sub>
                    </m:sSub>
                  </m:oMath>
                </a14:m>
                <a:r>
                  <a:rPr lang="zh-CN" altLang="en-US" sz="2400" dirty="0"/>
                  <a:t>清空了</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𝑁</m:t>
                        </m:r>
                      </m:sub>
                    </m:sSub>
                  </m:oMath>
                </a14:m>
                <a:r>
                  <a:rPr lang="zh-CN" altLang="en-US" sz="2400" dirty="0"/>
                  <a:t>的栈，但是没有进入接受状态的特殊情况。</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54100"/>
                <a:ext cx="8073342" cy="4525963"/>
              </a:xfrm>
              <a:blipFill rotWithShape="1">
                <a:blip r:embed="rId2"/>
                <a:stretch>
                  <a:fillRect r="7"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42</a:t>
            </a:fld>
            <a:endParaRPr lang="en-AU"/>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从终态方式到空栈方式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67408" y="1199261"/>
                <a:ext cx="7666384" cy="4525963"/>
              </a:xfrm>
            </p:spPr>
            <p:txBody>
              <a:bodyPr>
                <a:normAutofit/>
              </a:bodyPr>
              <a:lstStyle/>
              <a:p>
                <a:r>
                  <a:rPr lang="zh-CN" altLang="en-US" sz="2400" dirty="0"/>
                  <a:t>定理</a:t>
                </a:r>
                <a:r>
                  <a:rPr lang="en-AU" altLang="zh-CN" sz="2400" dirty="0"/>
                  <a:t>:</a:t>
                </a:r>
                <a:r>
                  <a:rPr lang="zh-CN" altLang="en-US" sz="2400" dirty="0"/>
                  <a:t>如果</a:t>
                </a:r>
                <a:r>
                  <a:rPr lang="en-US" altLang="zh-CN" sz="2400" dirty="0">
                    <a:latin typeface="Times New Roman" panose="02020603050405020304" pitchFamily="18" charset="0"/>
                    <a:cs typeface="Times New Roman" panose="02020603050405020304" pitchFamily="18" charset="0"/>
                  </a:rPr>
                  <a:t>PDA</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𝐹</m:t>
                        </m:r>
                      </m:sub>
                    </m:sSub>
                  </m:oMath>
                </a14:m>
                <a:r>
                  <a:rPr lang="zh-CN" altLang="en-US" sz="2400" dirty="0"/>
                  <a:t>以终态方式接受语言</a:t>
                </a:r>
                <a14:m>
                  <m:oMath xmlns:m="http://schemas.openxmlformats.org/officeDocument/2006/math">
                    <m:r>
                      <a:rPr lang="en-US" altLang="zh-CN" sz="2400" i="1" dirty="0">
                        <a:latin typeface="Cambria Math" panose="02040503050406030204" pitchFamily="18" charset="0"/>
                      </a:rPr>
                      <m:t>𝐿</m:t>
                    </m:r>
                  </m:oMath>
                </a14:m>
                <a:r>
                  <a:rPr lang="en-US" altLang="zh-CN" sz="2400" dirty="0"/>
                  <a:t>, </a:t>
                </a:r>
                <a:r>
                  <a:rPr lang="zh-CN" altLang="en-US" sz="2400" dirty="0"/>
                  <a:t>那么</a:t>
                </a:r>
              </a:p>
              <a:p>
                <a:pPr marL="0" indent="0">
                  <a:buNone/>
                </a:pPr>
                <a:r>
                  <a:rPr lang="zh-CN" altLang="en-US" sz="2400" dirty="0"/>
                  <a:t>一定存在</a:t>
                </a:r>
                <a:r>
                  <a:rPr lang="en-US" altLang="zh-CN" sz="2400" dirty="0">
                    <a:latin typeface="Times New Roman" panose="02020603050405020304" pitchFamily="18" charset="0"/>
                    <a:cs typeface="Times New Roman" panose="02020603050405020304" pitchFamily="18" charset="0"/>
                  </a:rPr>
                  <a:t>PDA</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oMath>
                </a14:m>
                <a:r>
                  <a:rPr lang="zh-CN" altLang="en-US" sz="2400" dirty="0"/>
                  <a:t>以空栈方式接受</a:t>
                </a:r>
                <a14:m>
                  <m:oMath xmlns:m="http://schemas.openxmlformats.org/officeDocument/2006/math">
                    <m:r>
                      <a:rPr lang="en-AU" altLang="zh-CN" sz="2400" i="1">
                        <a:latin typeface="Cambria Math" panose="02040503050406030204" pitchFamily="18" charset="0"/>
                      </a:rPr>
                      <m:t>𝐿</m:t>
                    </m:r>
                  </m:oMath>
                </a14:m>
                <a:r>
                  <a:rPr lang="zh-CN" altLang="en-US" sz="2400" dirty="0"/>
                  <a:t>。</a:t>
                </a:r>
                <a:endParaRPr lang="en-AU" altLang="zh-CN" sz="2400" dirty="0"/>
              </a:p>
              <a:p>
                <a:r>
                  <a:rPr lang="zh-CN" altLang="en-US" sz="2400" dirty="0"/>
                  <a:t>证明</a:t>
                </a:r>
                <a:r>
                  <a:rPr lang="en-AU" altLang="zh-CN" sz="2400" dirty="0"/>
                  <a:t>: </a:t>
                </a:r>
                <a:r>
                  <a:rPr lang="zh-CN" altLang="en-US" sz="2400" dirty="0"/>
                  <a:t>设</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𝐹</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l-GR" altLang="zh-CN" sz="2400" i="1" dirty="0">
                            <a:latin typeface="Cambria Math" panose="02040503050406030204" pitchFamily="18" charset="0"/>
                          </a:rPr>
                          <m:t>𝛿</m:t>
                        </m:r>
                      </m:e>
                      <m:sub>
                        <m:r>
                          <a:rPr lang="en-AU" altLang="zh-CN" sz="2400" b="0" i="1" dirty="0" smtClean="0">
                            <a:latin typeface="Cambria Math" panose="02040503050406030204" pitchFamily="18" charset="0"/>
                          </a:rPr>
                          <m:t>𝐹</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𝑍</m:t>
                        </m:r>
                      </m:e>
                      <m:sub>
                        <m:r>
                          <a:rPr lang="en-US"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𝐹</m:t>
                    </m:r>
                    <m:r>
                      <a:rPr lang="en-AU" altLang="zh-CN" sz="2400" i="1" dirty="0" smtClean="0">
                        <a:latin typeface="Cambria Math" panose="02040503050406030204" pitchFamily="18" charset="0"/>
                      </a:rPr>
                      <m:t>), </m:t>
                    </m:r>
                  </m:oMath>
                </a14:m>
                <a:r>
                  <a:rPr lang="zh-CN" altLang="en-US" sz="2400" dirty="0"/>
                  <a:t>构造</a:t>
                </a:r>
                <a:r>
                  <a:rPr lang="en-AU" altLang="zh-CN" sz="2400" dirty="0">
                    <a:latin typeface="Times New Roman" panose="02020603050405020304" pitchFamily="18" charset="0"/>
                    <a:cs typeface="Times New Roman" panose="02020603050405020304" pitchFamily="18" charset="0"/>
                  </a:rPr>
                  <a:t>PDA </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AU" altLang="zh-CN" sz="2400" b="0" i="1" dirty="0" smtClean="0">
                            <a:latin typeface="Cambria Math" panose="02040503050406030204" pitchFamily="18" charset="0"/>
                          </a:rPr>
                          <m:t>𝑁</m:t>
                        </m:r>
                      </m:sub>
                    </m:sSub>
                    <m:r>
                      <a:rPr lang="en-AU" altLang="zh-CN" sz="2400" b="0" i="1"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AU" altLang="zh-CN" sz="2400" b="0" i="1" dirty="0" smtClean="0">
                            <a:latin typeface="Cambria Math" panose="02040503050406030204" pitchFamily="18" charset="0"/>
                          </a:rPr>
                          <m:t>𝑁</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 {</m:t>
                    </m:r>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𝑝</m:t>
                        </m:r>
                      </m:e>
                      <m:sub>
                        <m:r>
                          <a:rPr lang="en-AU" altLang="zh-CN" sz="2400" b="0" i="1" dirty="0" smtClean="0">
                            <a:solidFill>
                              <a:srgbClr val="0070C0"/>
                            </a:solidFill>
                            <a:latin typeface="Cambria Math" panose="02040503050406030204" pitchFamily="18" charset="0"/>
                          </a:rPr>
                          <m:t>0</m:t>
                        </m:r>
                      </m:sub>
                    </m:sSub>
                    <m:r>
                      <a:rPr lang="en-AU" altLang="zh-CN" sz="2400" i="1" dirty="0" smtClean="0">
                        <a:solidFill>
                          <a:srgbClr val="0070C0"/>
                        </a:solidFill>
                        <a:latin typeface="Cambria Math" panose="02040503050406030204" pitchFamily="18" charset="0"/>
                      </a:rPr>
                      <m:t>, </m:t>
                    </m:r>
                    <m:r>
                      <a:rPr lang="en-AU" altLang="zh-CN" sz="2400" i="1" dirty="0" smtClean="0">
                        <a:solidFill>
                          <a:srgbClr val="0070C0"/>
                        </a:solidFill>
                        <a:latin typeface="Cambria Math" panose="02040503050406030204" pitchFamily="18" charset="0"/>
                      </a:rPr>
                      <m:t>𝑝</m:t>
                    </m:r>
                    <m:r>
                      <a:rPr lang="en-AU" altLang="zh-CN" sz="2400" i="1" dirty="0" smtClean="0">
                        <a:solidFill>
                          <a:schemeClr val="tx1"/>
                        </a:solidFill>
                        <a:latin typeface="Cambria Math" panose="02040503050406030204" pitchFamily="18" charset="0"/>
                      </a:rPr>
                      <m:t>}</m:t>
                    </m:r>
                    <m:r>
                      <a:rPr lang="en-AU" altLang="zh-CN" sz="2400" i="1" dirty="0" smtClean="0">
                        <a:solidFill>
                          <a:srgbClr val="0070C0"/>
                        </a:solidFill>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 </m:t>
                    </m:r>
                    <m:r>
                      <a:rPr lang="el-GR" altLang="zh-CN" sz="2400" i="1" dirty="0" smtClean="0">
                        <a:solidFill>
                          <a:schemeClr val="tx1"/>
                        </a:solidFill>
                        <a:latin typeface="Cambria Math" panose="02040503050406030204" pitchFamily="18" charset="0"/>
                      </a:rPr>
                      <m:t>{</m:t>
                    </m:r>
                    <m:sSub>
                      <m:sSubPr>
                        <m:ctrlPr>
                          <a:rPr lang="el-GR"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𝑋</m:t>
                        </m:r>
                      </m:e>
                      <m:sub>
                        <m:r>
                          <a:rPr lang="en-AU" altLang="zh-CN" sz="2400" b="0" i="1" dirty="0" smtClean="0">
                            <a:solidFill>
                              <a:srgbClr val="0070C0"/>
                            </a:solidFill>
                            <a:latin typeface="Cambria Math" panose="02040503050406030204" pitchFamily="18" charset="0"/>
                          </a:rPr>
                          <m:t>0</m:t>
                        </m:r>
                      </m:sub>
                    </m:sSub>
                    <m:r>
                      <a:rPr lang="en-AU" altLang="zh-CN" sz="2400" i="1" dirty="0" smtClean="0">
                        <a:solidFill>
                          <a:schemeClr val="tx1"/>
                        </a:solidFill>
                        <a:latin typeface="Cambria Math" panose="02040503050406030204" pitchFamily="18" charset="0"/>
                      </a:rPr>
                      <m:t>}</m:t>
                    </m:r>
                    <m:r>
                      <a:rPr lang="en-AU" altLang="zh-CN" sz="2400" i="1" dirty="0" smtClean="0">
                        <a:solidFill>
                          <a:srgbClr val="0070C0"/>
                        </a:solidFill>
                        <a:latin typeface="Cambria Math" panose="02040503050406030204" pitchFamily="18" charset="0"/>
                      </a:rPr>
                      <m:t>,</m:t>
                    </m:r>
                    <m:sSub>
                      <m:sSubPr>
                        <m:ctrlPr>
                          <a:rPr lang="el-GR" altLang="zh-CN" sz="2400" i="1" dirty="0">
                            <a:latin typeface="Cambria Math" panose="02040503050406030204" pitchFamily="18" charset="0"/>
                          </a:rPr>
                        </m:ctrlPr>
                      </m:sSubPr>
                      <m:e>
                        <m:r>
                          <a:rPr lang="el-GR" altLang="zh-CN" sz="2400" i="1" dirty="0">
                            <a:latin typeface="Cambria Math" panose="02040503050406030204" pitchFamily="18" charset="0"/>
                          </a:rPr>
                          <m:t>𝛿</m:t>
                        </m:r>
                      </m:e>
                      <m:sub>
                        <m:r>
                          <a:rPr lang="en-AU" altLang="zh-CN" sz="2400" b="0" i="1" dirty="0" smtClean="0">
                            <a:latin typeface="Cambria Math" panose="02040503050406030204" pitchFamily="18" charset="0"/>
                          </a:rPr>
                          <m:t>𝑁</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𝑝</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𝑋</m:t>
                        </m:r>
                      </m:e>
                      <m:sub>
                        <m:r>
                          <a:rPr lang="en-AU" altLang="zh-CN" sz="2400" b="0" i="1" dirty="0" smtClean="0">
                            <a:solidFill>
                              <a:srgbClr val="0070C0"/>
                            </a:solidFill>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a:t>
                </a:r>
                <a:endParaRPr lang="en-AU" altLang="zh-CN" sz="2400" dirty="0"/>
              </a:p>
              <a:p>
                <a:pPr lvl="1"/>
                <a:r>
                  <a:rPr lang="zh-CN" altLang="en-US" sz="2400" dirty="0"/>
                  <a:t>新添加一个开始状态</a:t>
                </a:r>
                <a14:m>
                  <m:oMath xmlns:m="http://schemas.openxmlformats.org/officeDocument/2006/math">
                    <m:sSub>
                      <m:sSubPr>
                        <m:ctrlPr>
                          <a:rPr lang="en-AU"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𝑝</m:t>
                        </m:r>
                      </m:e>
                      <m:sub>
                        <m:r>
                          <a:rPr lang="en-AU" altLang="zh-CN" sz="2400" i="1" dirty="0">
                            <a:solidFill>
                              <a:srgbClr val="0070C0"/>
                            </a:solidFill>
                            <a:latin typeface="Cambria Math" panose="02040503050406030204" pitchFamily="18" charset="0"/>
                          </a:rPr>
                          <m:t>0</m:t>
                        </m:r>
                      </m:sub>
                    </m:sSub>
                  </m:oMath>
                </a14:m>
                <a:r>
                  <a:rPr lang="zh-CN" altLang="en-US" sz="2400" dirty="0"/>
                  <a:t>和一个消除状态</a:t>
                </a:r>
                <a14:m>
                  <m:oMath xmlns:m="http://schemas.openxmlformats.org/officeDocument/2006/math">
                    <m:r>
                      <a:rPr lang="en-AU" altLang="zh-CN" sz="2400" b="0" i="1" smtClean="0">
                        <a:solidFill>
                          <a:srgbClr val="0070C0"/>
                        </a:solidFill>
                        <a:latin typeface="Cambria Math" panose="02040503050406030204" pitchFamily="18" charset="0"/>
                      </a:rPr>
                      <m:t>𝑝</m:t>
                    </m:r>
                  </m:oMath>
                </a14:m>
                <a:endParaRPr lang="en-AU" altLang="zh-CN" sz="2400" b="0" dirty="0">
                  <a:solidFill>
                    <a:srgbClr val="0070C0"/>
                  </a:solidFill>
                </a:endParaRPr>
              </a:p>
              <a:p>
                <a:pPr lvl="1"/>
                <a:r>
                  <a:rPr lang="zh-CN" altLang="en-US" sz="2400" dirty="0"/>
                  <a:t>新增一个栈符号</a:t>
                </a:r>
                <a14:m>
                  <m:oMath xmlns:m="http://schemas.openxmlformats.org/officeDocument/2006/math">
                    <m:sSub>
                      <m:sSubPr>
                        <m:ctrlPr>
                          <a:rPr lang="el-GR"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𝑋</m:t>
                        </m:r>
                      </m:e>
                      <m:sub>
                        <m:r>
                          <a:rPr lang="en-AU" altLang="zh-CN" sz="2400" b="0" i="1" dirty="0" smtClean="0">
                            <a:solidFill>
                              <a:srgbClr val="0070C0"/>
                            </a:solidFill>
                            <a:latin typeface="Cambria Math" panose="02040503050406030204" pitchFamily="18" charset="0"/>
                          </a:rPr>
                          <m:t>0</m:t>
                        </m:r>
                      </m:sub>
                    </m:sSub>
                  </m:oMath>
                </a14:m>
                <a:endParaRPr lang="en-AU" altLang="zh-CN" sz="2400" dirty="0"/>
              </a:p>
              <a:p>
                <a:pPr marL="0" indent="0">
                  <a:buNone/>
                </a:pP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967408" y="1199261"/>
                <a:ext cx="7666384" cy="4525963"/>
              </a:xfrm>
              <a:blipFill rotWithShape="1">
                <a:blip r:embed="rId3"/>
                <a:stretch>
                  <a:fillRect l="-4" t="-8" r="4" b="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43</a:t>
            </a:fld>
            <a:endParaRPr lang="en-AU"/>
          </a:p>
        </p:txBody>
      </p:sp>
      <p:pic>
        <p:nvPicPr>
          <p:cNvPr id="6" name="Picture 5" descr="Graphical user interface, text, application, whiteboard&#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8808" y="4239195"/>
            <a:ext cx="7666384" cy="148602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从终态方式到空栈方式</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44</a:t>
            </a:fld>
            <a:endParaRPr lang="en-AU"/>
          </a:p>
        </p:txBody>
      </p:sp>
      <p:pic>
        <p:nvPicPr>
          <p:cNvPr id="7" name="Picture 6" descr="Graphical user interface, text, application, whiteboard&#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02011" y="717801"/>
            <a:ext cx="6264090" cy="1214212"/>
          </a:xfrm>
          <a:prstGeom prst="rect">
            <a:avLst/>
          </a:prstGeom>
        </p:spPr>
      </p:pic>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266700" y="2687584"/>
                <a:ext cx="8648700" cy="3720202"/>
              </a:xfrm>
            </p:spPr>
            <p:txBody>
              <a:bodyPr>
                <a:norm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𝑃</m:t>
                        </m:r>
                      </m:e>
                      <m:sub>
                        <m:r>
                          <a:rPr lang="en-AU" altLang="zh-CN" sz="2400" b="0" i="1" smtClean="0">
                            <a:latin typeface="Cambria Math" panose="02040503050406030204" pitchFamily="18" charset="0"/>
                          </a:rPr>
                          <m:t>𝑁</m:t>
                        </m:r>
                      </m:sub>
                    </m:sSub>
                  </m:oMath>
                </a14:m>
                <a:r>
                  <a:rPr lang="zh-CN" altLang="en-US" sz="2400" dirty="0"/>
                  <a:t>首先将</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US" altLang="zh-CN" sz="2400" b="0" i="1" smtClean="0">
                            <a:latin typeface="Cambria Math" panose="02040503050406030204" pitchFamily="18" charset="0"/>
                          </a:rPr>
                          <m:t>𝐹</m:t>
                        </m:r>
                      </m:sub>
                    </m:sSub>
                  </m:oMath>
                </a14:m>
                <a:r>
                  <a:rPr lang="zh-CN" altLang="en-US" sz="2400" dirty="0"/>
                  <a:t>的栈底符号</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𝑍</m:t>
                        </m:r>
                      </m:e>
                      <m:sub>
                        <m:r>
                          <a:rPr lang="en-AU" altLang="zh-CN" sz="2400" b="0" i="1" smtClean="0">
                            <a:latin typeface="Cambria Math" panose="02040503050406030204" pitchFamily="18" charset="0"/>
                          </a:rPr>
                          <m:t>0</m:t>
                        </m:r>
                      </m:sub>
                    </m:sSub>
                  </m:oMath>
                </a14:m>
                <a:r>
                  <a:rPr lang="zh-CN" altLang="en-US" sz="2400" dirty="0"/>
                  <a:t>压栈</a:t>
                </a:r>
                <a:r>
                  <a:rPr lang="en-US" altLang="zh-CN" sz="2400" dirty="0"/>
                  <a:t>, </a:t>
                </a:r>
                <a:r>
                  <a:rPr lang="zh-CN" altLang="en-US" sz="2400" dirty="0"/>
                  <a:t>开始模拟</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𝐹</m:t>
                        </m:r>
                      </m:sub>
                    </m:sSub>
                  </m:oMath>
                </a14:m>
                <a:r>
                  <a:rPr lang="en-AU" sz="2400" dirty="0"/>
                  <a:t>:</a:t>
                </a:r>
              </a:p>
              <a:p>
                <a:pPr marL="0" indent="0">
                  <a:buNone/>
                </a:pPr>
                <a14:m>
                  <m:oMathPara xmlns:m="http://schemas.openxmlformats.org/officeDocument/2006/math">
                    <m:oMathParaPr>
                      <m:jc m:val="centerGroup"/>
                    </m:oMathParaPr>
                    <m:oMath xmlns:m="http://schemas.openxmlformats.org/officeDocument/2006/math">
                      <m:sSub>
                        <m:sSubPr>
                          <m:ctrlPr>
                            <a:rPr lang="el-GR" sz="2400" i="1" dirty="0" smtClean="0">
                              <a:latin typeface="Cambria Math" panose="02040503050406030204" pitchFamily="18" charset="0"/>
                            </a:rPr>
                          </m:ctrlPr>
                        </m:sSubPr>
                        <m:e>
                          <m:r>
                            <a:rPr lang="el-GR" sz="2400" i="1" dirty="0">
                              <a:latin typeface="Cambria Math" panose="02040503050406030204" pitchFamily="18" charset="0"/>
                            </a:rPr>
                            <m:t>𝛿</m:t>
                          </m:r>
                        </m:e>
                        <m:sub>
                          <m:r>
                            <a:rPr lang="en-AU" sz="2400" b="0" i="1" dirty="0" smtClean="0">
                              <a:latin typeface="Cambria Math" panose="02040503050406030204" pitchFamily="18" charset="0"/>
                            </a:rPr>
                            <m:t>𝑁</m:t>
                          </m:r>
                        </m:sub>
                      </m:sSub>
                      <m:r>
                        <a:rPr lang="en-AU" sz="2400" i="1" dirty="0" smtClean="0">
                          <a:latin typeface="Cambria Math" panose="02040503050406030204" pitchFamily="18" charset="0"/>
                        </a:rPr>
                        <m:t>(</m:t>
                      </m:r>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𝑝</m:t>
                          </m:r>
                        </m:e>
                        <m:sub>
                          <m:r>
                            <a:rPr lang="en-AU" sz="2400" b="0" i="1" dirty="0" smtClean="0">
                              <a:latin typeface="Cambria Math" panose="02040503050406030204" pitchFamily="18" charset="0"/>
                            </a:rPr>
                            <m:t>0</m:t>
                          </m:r>
                        </m:sub>
                      </m:sSub>
                      <m:r>
                        <a:rPr lang="en-AU" sz="2400" b="0" i="1" dirty="0" smtClean="0">
                          <a:latin typeface="Cambria Math" panose="02040503050406030204" pitchFamily="18" charset="0"/>
                        </a:rPr>
                        <m:t>,</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𝑋</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 = {(</m:t>
                      </m:r>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𝑞</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𝑍</m:t>
                          </m:r>
                        </m:e>
                        <m:sub>
                          <m:r>
                            <a:rPr lang="en-AU" sz="2400" i="1" dirty="0">
                              <a:latin typeface="Cambria Math" panose="02040503050406030204" pitchFamily="18" charset="0"/>
                            </a:rPr>
                            <m:t>0</m:t>
                          </m:r>
                        </m:sub>
                      </m:sSub>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𝑋</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m:t>
                      </m:r>
                    </m:oMath>
                  </m:oMathPara>
                </a14:m>
                <a:endParaRPr lang="en-AU" sz="2400" dirty="0"/>
              </a:p>
              <a:p>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𝑃</m:t>
                        </m:r>
                      </m:e>
                      <m:sub>
                        <m:r>
                          <a:rPr lang="en-AU" altLang="zh-CN" sz="2400" b="0" i="1" smtClean="0">
                            <a:latin typeface="Cambria Math" panose="02040503050406030204" pitchFamily="18" charset="0"/>
                          </a:rPr>
                          <m:t>𝑁</m:t>
                        </m:r>
                      </m:sub>
                    </m:sSub>
                  </m:oMath>
                </a14:m>
                <a:r>
                  <a:rPr lang="zh-CN" altLang="en-US" sz="2400" dirty="0"/>
                  <a:t>模拟</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𝐹</m:t>
                        </m:r>
                      </m:sub>
                    </m:sSub>
                  </m:oMath>
                </a14:m>
                <a:r>
                  <a:rPr lang="zh-CN" altLang="en-US" sz="2400" dirty="0"/>
                  <a:t>的动作</a:t>
                </a:r>
                <a:r>
                  <a:rPr lang="en-US" altLang="zh-CN" sz="2400" dirty="0"/>
                  <a:t>: </a:t>
                </a:r>
                <a14:m>
                  <m:oMath xmlns:m="http://schemas.openxmlformats.org/officeDocument/2006/math">
                    <m:r>
                      <a:rPr lang="en-US" altLang="zh-CN"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 </m:t>
                    </m:r>
                    <m:r>
                      <a:rPr lang="en-AU" sz="2400" i="1" dirty="0" smtClean="0">
                        <a:latin typeface="Cambria Math" panose="02040503050406030204" pitchFamily="18" charset="0"/>
                      </a:rPr>
                      <m:t>𝑄</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Σ</m:t>
                    </m:r>
                    <m:r>
                      <a:rPr lang="el-GR" sz="2400" i="1" dirty="0" smtClean="0">
                        <a:latin typeface="Cambria Math" panose="02040503050406030204" pitchFamily="18" charset="0"/>
                      </a:rPr>
                      <m:t> ∪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n-AU" sz="2400" i="1" dirty="0" smtClean="0">
                        <a:latin typeface="Cambria Math" panose="02040503050406030204" pitchFamily="18" charset="0"/>
                      </a:rPr>
                      <m:t>𝑌</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Γ</m:t>
                    </m:r>
                  </m:oMath>
                </a14:m>
                <a:r>
                  <a:rPr lang="el-GR" sz="2400" dirty="0"/>
                  <a:t>:</a:t>
                </a:r>
                <a:endParaRPr lang="en-AU" sz="2400" dirty="0"/>
              </a:p>
              <a:p>
                <a:pPr marL="0" indent="0" algn="ctr">
                  <a:buNone/>
                </a:pPr>
                <a14:m>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i="1" dirty="0">
                            <a:latin typeface="Cambria Math" panose="02040503050406030204" pitchFamily="18" charset="0"/>
                          </a:rPr>
                          <m:t>𝑁</m:t>
                        </m:r>
                      </m:sub>
                    </m:sSub>
                    <m:r>
                      <a:rPr lang="en-AU"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m:t>
                    </m:r>
                    <m:r>
                      <a:rPr lang="en-AU" sz="2400" i="1" dirty="0" smtClean="0">
                        <a:latin typeface="Cambria Math" panose="02040503050406030204" pitchFamily="18" charset="0"/>
                      </a:rPr>
                      <m:t>𝑌</m:t>
                    </m:r>
                    <m:r>
                      <a:rPr lang="en-AU" sz="2400" i="1" dirty="0" smtClean="0">
                        <a:latin typeface="Cambria Math" panose="02040503050406030204" pitchFamily="18" charset="0"/>
                      </a:rPr>
                      <m:t> ) </m:t>
                    </m:r>
                  </m:oMath>
                </a14:m>
                <a:r>
                  <a:rPr lang="zh-CN" altLang="en-US" sz="2400" dirty="0"/>
                  <a:t>包含 </a:t>
                </a:r>
                <a14:m>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b="0" i="1" dirty="0" smtClean="0">
                            <a:latin typeface="Cambria Math" panose="02040503050406030204" pitchFamily="18" charset="0"/>
                          </a:rPr>
                          <m:t>𝐹</m:t>
                        </m:r>
                      </m:sub>
                    </m:sSub>
                    <m:r>
                      <a:rPr lang="en-AU" sz="2400" b="0" i="1" dirty="0" smtClean="0">
                        <a:latin typeface="Cambria Math" panose="02040503050406030204" pitchFamily="18" charset="0"/>
                      </a:rPr>
                      <m:t>(</m:t>
                    </m:r>
                    <m:r>
                      <a:rPr lang="en-AU" sz="2400" b="0" i="1" dirty="0" smtClean="0">
                        <a:latin typeface="Cambria Math" panose="02040503050406030204" pitchFamily="18" charset="0"/>
                      </a:rPr>
                      <m:t>𝑞</m:t>
                    </m:r>
                    <m:r>
                      <a:rPr lang="en-AU" sz="2400" b="0" i="1" dirty="0" smtClean="0">
                        <a:latin typeface="Cambria Math" panose="02040503050406030204" pitchFamily="18" charset="0"/>
                      </a:rPr>
                      <m:t>,</m:t>
                    </m:r>
                    <m:r>
                      <a:rPr lang="en-AU" sz="2400" b="0" i="1" dirty="0" smtClean="0">
                        <a:latin typeface="Cambria Math" panose="02040503050406030204" pitchFamily="18" charset="0"/>
                      </a:rPr>
                      <m:t>𝑎</m:t>
                    </m:r>
                    <m:r>
                      <a:rPr lang="en-AU" sz="2400" b="0" i="1" dirty="0" smtClean="0">
                        <a:latin typeface="Cambria Math" panose="02040503050406030204" pitchFamily="18" charset="0"/>
                      </a:rPr>
                      <m:t>,</m:t>
                    </m:r>
                    <m:r>
                      <a:rPr lang="en-AU" sz="2400" b="0" i="1" dirty="0" smtClean="0">
                        <a:latin typeface="Cambria Math" panose="02040503050406030204" pitchFamily="18" charset="0"/>
                      </a:rPr>
                      <m:t>𝑌</m:t>
                    </m:r>
                    <m:r>
                      <a:rPr lang="en-AU" sz="2400" b="0" i="1" dirty="0" smtClean="0">
                        <a:latin typeface="Cambria Math" panose="02040503050406030204" pitchFamily="18" charset="0"/>
                      </a:rPr>
                      <m:t>)</m:t>
                    </m:r>
                  </m:oMath>
                </a14:m>
                <a:r>
                  <a:rPr lang="zh-CN" altLang="en-US" sz="2400" dirty="0"/>
                  <a:t>的全部元素</a:t>
                </a:r>
                <a:r>
                  <a:rPr lang="en-US" altLang="zh-CN" sz="2400" dirty="0"/>
                  <a:t>;</a:t>
                </a:r>
              </a:p>
              <a:p>
                <a:r>
                  <a:rPr lang="zh-CN" altLang="en-US" sz="2400" dirty="0"/>
                  <a:t>从 </a:t>
                </a:r>
                <a14:m>
                  <m:oMath xmlns:m="http://schemas.openxmlformats.org/officeDocument/2006/math">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𝑓</m:t>
                        </m:r>
                      </m:sub>
                    </m:sSub>
                    <m:r>
                      <a:rPr lang="en-AU" sz="2400" i="1" dirty="0">
                        <a:latin typeface="Cambria Math" panose="02040503050406030204" pitchFamily="18" charset="0"/>
                      </a:rPr>
                      <m:t> </m:t>
                    </m:r>
                    <m:r>
                      <a:rPr lang="en-AU" sz="2400" i="1" dirty="0" smtClean="0">
                        <a:latin typeface="Cambria Math" panose="02040503050406030204" pitchFamily="18" charset="0"/>
                      </a:rPr>
                      <m:t>∈ </m:t>
                    </m:r>
                    <m:r>
                      <a:rPr lang="en-AU" sz="2400" i="1" dirty="0" smtClean="0">
                        <a:latin typeface="Cambria Math" panose="02040503050406030204" pitchFamily="18" charset="0"/>
                      </a:rPr>
                      <m:t>𝐹</m:t>
                    </m:r>
                    <m:r>
                      <a:rPr lang="en-AU" sz="2400" i="1" dirty="0" smtClean="0">
                        <a:latin typeface="Cambria Math" panose="02040503050406030204" pitchFamily="18" charset="0"/>
                      </a:rPr>
                      <m:t> </m:t>
                    </m:r>
                  </m:oMath>
                </a14:m>
                <a:r>
                  <a:rPr lang="zh-CN" altLang="en-US" sz="2400" dirty="0"/>
                  <a:t>开始弹出栈中符号</a:t>
                </a:r>
                <a:r>
                  <a:rPr lang="en-US" altLang="zh-CN" sz="2400" dirty="0"/>
                  <a:t>, </a:t>
                </a:r>
                <a:r>
                  <a:rPr lang="zh-CN" altLang="en-US" sz="2400" dirty="0"/>
                  <a:t>即 </a:t>
                </a:r>
                <a14:m>
                  <m:oMath xmlns:m="http://schemas.openxmlformats.org/officeDocument/2006/math">
                    <m:r>
                      <a:rPr lang="zh-CN" altLang="en-US"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i="1" dirty="0">
                            <a:latin typeface="Cambria Math" panose="02040503050406030204" pitchFamily="18" charset="0"/>
                          </a:rPr>
                          <m:t>𝑓</m:t>
                        </m:r>
                      </m:sub>
                    </m:sSub>
                    <m:r>
                      <a:rPr lang="en-AU" sz="2400" i="1" dirty="0" smtClean="0">
                        <a:latin typeface="Cambria Math" panose="02040503050406030204" pitchFamily="18" charset="0"/>
                      </a:rPr>
                      <m:t>∈ </m:t>
                    </m:r>
                    <m:r>
                      <a:rPr lang="en-AU" sz="2400" i="1" dirty="0" smtClean="0">
                        <a:latin typeface="Cambria Math" panose="02040503050406030204" pitchFamily="18" charset="0"/>
                      </a:rPr>
                      <m:t>𝐹</m:t>
                    </m:r>
                    <m:r>
                      <a:rPr lang="en-AU" sz="2400" i="1" dirty="0" smtClean="0">
                        <a:latin typeface="Cambria Math" panose="02040503050406030204" pitchFamily="18" charset="0"/>
                      </a:rPr>
                      <m:t> , ∀</m:t>
                    </m:r>
                    <m:r>
                      <a:rPr lang="en-AU" sz="2400" i="1" dirty="0" smtClean="0">
                        <a:latin typeface="Cambria Math" panose="02040503050406030204" pitchFamily="18" charset="0"/>
                      </a:rPr>
                      <m:t>𝑌</m:t>
                    </m:r>
                    <m:r>
                      <a:rPr lang="en-AU" sz="2400" i="1" dirty="0" smtClean="0">
                        <a:latin typeface="Cambria Math" panose="02040503050406030204" pitchFamily="18" charset="0"/>
                      </a:rPr>
                      <m:t>∈ </m:t>
                    </m:r>
                    <m:r>
                      <m:rPr>
                        <m:sty m:val="p"/>
                      </m:rPr>
                      <a:rPr lang="el-GR" sz="2400" i="0" dirty="0" smtClean="0">
                        <a:latin typeface="Cambria Math" panose="02040503050406030204" pitchFamily="18" charset="0"/>
                      </a:rPr>
                      <m:t>Γ</m:t>
                    </m:r>
                    <m:r>
                      <a:rPr lang="el-GR" sz="2400" i="1" dirty="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𝑋</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m:t>
                    </m:r>
                  </m:oMath>
                </a14:m>
                <a:r>
                  <a:rPr lang="en-AU" sz="2400" dirty="0"/>
                  <a:t>:</a:t>
                </a:r>
              </a:p>
              <a:p>
                <a:pPr marL="0" indent="0" algn="ctr">
                  <a:buNone/>
                </a:pPr>
                <a14:m>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i="1" dirty="0">
                            <a:latin typeface="Cambria Math" panose="02040503050406030204" pitchFamily="18" charset="0"/>
                          </a:rPr>
                          <m:t>𝑁</m:t>
                        </m:r>
                      </m:sub>
                    </m:sSub>
                    <m:r>
                      <a:rPr lang="en-AU"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𝑞</m:t>
                        </m:r>
                      </m:e>
                      <m:sub>
                        <m:r>
                          <a:rPr lang="en-AU" sz="2400" i="1" dirty="0">
                            <a:latin typeface="Cambria Math" panose="02040503050406030204" pitchFamily="18" charset="0"/>
                          </a:rPr>
                          <m:t>𝑓</m:t>
                        </m:r>
                      </m:sub>
                    </m:sSub>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n-AU" sz="2400" i="1" dirty="0" smtClean="0">
                        <a:latin typeface="Cambria Math" panose="02040503050406030204" pitchFamily="18" charset="0"/>
                      </a:rPr>
                      <m:t>𝑌</m:t>
                    </m:r>
                    <m:r>
                      <a:rPr lang="en-AU" sz="2400" i="1" dirty="0" smtClean="0">
                        <a:latin typeface="Cambria Math" panose="02040503050406030204" pitchFamily="18" charset="0"/>
                      </a:rPr>
                      <m:t> ) </m:t>
                    </m:r>
                  </m:oMath>
                </a14:m>
                <a:r>
                  <a:rPr lang="zh-CN" altLang="en-US" sz="2400" dirty="0"/>
                  <a:t>包含</a:t>
                </a:r>
                <a14:m>
                  <m:oMath xmlns:m="http://schemas.openxmlformats.org/officeDocument/2006/math">
                    <m:r>
                      <a:rPr lang="en-US" altLang="zh-CN" sz="2400" i="1" dirty="0" smtClean="0">
                        <a:latin typeface="Cambria Math" panose="02040503050406030204" pitchFamily="18" charset="0"/>
                      </a:rPr>
                      <m:t>(</m:t>
                    </m:r>
                    <m:r>
                      <a:rPr lang="en-AU" sz="2400" i="1" dirty="0" smtClean="0">
                        <a:latin typeface="Cambria Math" panose="02040503050406030204" pitchFamily="18" charset="0"/>
                      </a:rPr>
                      <m:t>𝑝</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m:t>
                    </m:r>
                  </m:oMath>
                </a14:m>
                <a:r>
                  <a:rPr lang="en-AU" sz="2400" dirty="0"/>
                  <a:t>;</a:t>
                </a:r>
                <a:endParaRPr lang="el-GR" sz="2400" dirty="0"/>
              </a:p>
              <a:p>
                <a:r>
                  <a:rPr lang="zh-CN" altLang="en-US" sz="2400" dirty="0"/>
                  <a:t>在状态</a:t>
                </a:r>
                <a14:m>
                  <m:oMath xmlns:m="http://schemas.openxmlformats.org/officeDocument/2006/math">
                    <m:r>
                      <a:rPr lang="en-AU" altLang="zh-CN" sz="2400" b="0" i="1" smtClean="0">
                        <a:latin typeface="Cambria Math" panose="02040503050406030204" pitchFamily="18" charset="0"/>
                      </a:rPr>
                      <m:t>𝑝</m:t>
                    </m:r>
                  </m:oMath>
                </a14:m>
                <a:r>
                  <a:rPr lang="zh-CN" altLang="en-US" sz="2400" dirty="0"/>
                  <a:t>时</a:t>
                </a:r>
                <a:r>
                  <a:rPr lang="en-US" altLang="zh-CN" sz="2400" dirty="0"/>
                  <a:t>, </a:t>
                </a:r>
                <a:r>
                  <a:rPr lang="zh-CN" altLang="en-US" sz="2400" dirty="0"/>
                  <a:t>弹出全部栈中符号</a:t>
                </a:r>
                <a:r>
                  <a:rPr lang="en-US" altLang="zh-CN" sz="2400" dirty="0"/>
                  <a:t>, </a:t>
                </a:r>
                <a:r>
                  <a:rPr lang="zh-CN" altLang="en-US" sz="2400" dirty="0"/>
                  <a:t>即 </a:t>
                </a:r>
                <a14:m>
                  <m:oMath xmlns:m="http://schemas.openxmlformats.org/officeDocument/2006/math">
                    <m:r>
                      <a:rPr lang="zh-CN" altLang="en-US" sz="2400" i="1" dirty="0" smtClean="0">
                        <a:latin typeface="Cambria Math" panose="02040503050406030204" pitchFamily="18" charset="0"/>
                      </a:rPr>
                      <m:t>∀</m:t>
                    </m:r>
                    <m:r>
                      <a:rPr lang="en-AU" sz="2400" i="1" dirty="0" smtClean="0">
                        <a:latin typeface="Cambria Math" panose="02040503050406030204" pitchFamily="18" charset="0"/>
                      </a:rPr>
                      <m:t>𝑌</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Γ</m:t>
                    </m:r>
                    <m:r>
                      <a:rPr lang="el-GR" sz="2400" i="1" dirty="0" smtClean="0">
                        <a:latin typeface="Cambria Math" panose="02040503050406030204" pitchFamily="18" charset="0"/>
                      </a:rPr>
                      <m:t> ∪ {</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𝑋</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m:t>
                    </m:r>
                  </m:oMath>
                </a14:m>
                <a:endParaRPr lang="en-AU" sz="2400" dirty="0"/>
              </a:p>
              <a:p>
                <a:pPr marL="0" indent="0" algn="ctr">
                  <a:buNone/>
                </a:pPr>
                <a14:m>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i="1" dirty="0">
                            <a:latin typeface="Cambria Math" panose="02040503050406030204" pitchFamily="18" charset="0"/>
                          </a:rPr>
                          <m:t>𝑁</m:t>
                        </m:r>
                      </m:sub>
                    </m:sSub>
                    <m:r>
                      <a:rPr lang="en-AU" sz="2400" i="1" dirty="0" smtClean="0">
                        <a:latin typeface="Cambria Math" panose="02040503050406030204" pitchFamily="18" charset="0"/>
                      </a:rPr>
                      <m:t>(</m:t>
                    </m:r>
                    <m:r>
                      <a:rPr lang="en-AU" sz="2400" i="1" dirty="0" smtClean="0">
                        <a:latin typeface="Cambria Math" panose="02040503050406030204" pitchFamily="18" charset="0"/>
                      </a:rPr>
                      <m:t>𝑝</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n-AU" sz="2400" i="1" dirty="0" smtClean="0">
                        <a:latin typeface="Cambria Math" panose="02040503050406030204" pitchFamily="18" charset="0"/>
                      </a:rPr>
                      <m:t>𝑌</m:t>
                    </m:r>
                    <m:r>
                      <a:rPr lang="en-AU" sz="2400" i="1" dirty="0" smtClean="0">
                        <a:latin typeface="Cambria Math" panose="02040503050406030204" pitchFamily="18" charset="0"/>
                      </a:rPr>
                      <m:t> ) = {(</m:t>
                    </m:r>
                    <m:r>
                      <a:rPr lang="en-AU" sz="2400" i="1" dirty="0" smtClean="0">
                        <a:latin typeface="Cambria Math" panose="02040503050406030204" pitchFamily="18" charset="0"/>
                      </a:rPr>
                      <m:t>𝑝</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m:t>
                    </m:r>
                  </m:oMath>
                </a14:m>
                <a:r>
                  <a:rPr lang="zh-CN" altLang="en-US" sz="2400" dirty="0"/>
                  <a:t>。</a:t>
                </a:r>
                <a:endParaRPr lang="en-AU" sz="2400" dirty="0"/>
              </a:p>
            </p:txBody>
          </p:sp>
        </mc:Choice>
        <mc:Fallback xmlns="">
          <p:sp>
            <p:nvSpPr>
              <p:cNvPr id="5" name="Content Placeholder 4"/>
              <p:cNvSpPr>
                <a:spLocks noRot="1" noChangeAspect="1" noMove="1" noResize="1" noEditPoints="1" noAdjustHandles="1" noChangeArrowheads="1" noChangeShapeType="1" noTextEdit="1"/>
              </p:cNvSpPr>
              <p:nvPr>
                <p:ph idx="1"/>
              </p:nvPr>
            </p:nvSpPr>
            <p:spPr>
              <a:xfrm>
                <a:off x="266700" y="2687584"/>
                <a:ext cx="8648700" cy="3720202"/>
              </a:xfrm>
              <a:blipFill rotWithShape="1">
                <a:blip r:embed="rId4"/>
                <a:stretch>
                  <a:fillRect t="-7" b="-22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03525" y="1944663"/>
                <a:ext cx="7983275" cy="461665"/>
              </a:xfrm>
              <a:prstGeom prst="rect">
                <a:avLst/>
              </a:prstGeom>
              <a:noFill/>
            </p:spPr>
            <p:txBody>
              <a:bodyPr wrap="square">
                <a:spAutoFit/>
              </a:bodyPr>
              <a:lstStyle/>
              <a:p>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AU" altLang="zh-CN" sz="2400" i="1" dirty="0">
                            <a:latin typeface="Cambria Math" panose="02040503050406030204" pitchFamily="18" charset="0"/>
                          </a:rPr>
                          <m:t>𝑁</m:t>
                        </m:r>
                      </m:sub>
                    </m:sSub>
                    <m:r>
                      <a:rPr lang="en-AU" altLang="zh-CN" sz="2400" i="1" dirty="0">
                        <a:latin typeface="Cambria Math" panose="02040503050406030204" pitchFamily="18" charset="0"/>
                      </a:rPr>
                      <m:t>= (</m:t>
                    </m:r>
                    <m:r>
                      <a:rPr lang="en-AU" altLang="zh-CN" sz="2400" i="1" dirty="0">
                        <a:latin typeface="Cambria Math" panose="02040503050406030204" pitchFamily="18" charset="0"/>
                      </a:rPr>
                      <m:t>𝑄</m:t>
                    </m:r>
                    <m:r>
                      <a:rPr lang="en-AU" altLang="zh-CN" sz="2400" i="1" dirty="0">
                        <a:latin typeface="Cambria Math" panose="02040503050406030204" pitchFamily="18" charset="0"/>
                      </a:rPr>
                      <m:t> ∪ {</m:t>
                    </m:r>
                    <m:sSub>
                      <m:sSubPr>
                        <m:ctrlPr>
                          <a:rPr lang="en-AU"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𝑝</m:t>
                        </m:r>
                      </m:e>
                      <m:sub>
                        <m:r>
                          <a:rPr lang="en-AU" altLang="zh-CN" sz="2400" i="1" dirty="0">
                            <a:solidFill>
                              <a:srgbClr val="0070C0"/>
                            </a:solidFill>
                            <a:latin typeface="Cambria Math" panose="02040503050406030204" pitchFamily="18" charset="0"/>
                          </a:rPr>
                          <m:t>0</m:t>
                        </m:r>
                      </m:sub>
                    </m:sSub>
                    <m:r>
                      <a:rPr lang="en-AU" altLang="zh-CN" sz="2400" i="1" dirty="0">
                        <a:solidFill>
                          <a:srgbClr val="0070C0"/>
                        </a:solidFill>
                        <a:latin typeface="Cambria Math" panose="02040503050406030204" pitchFamily="18" charset="0"/>
                      </a:rPr>
                      <m:t>, </m:t>
                    </m:r>
                    <m:r>
                      <a:rPr lang="en-AU" altLang="zh-CN" sz="2400" i="1" dirty="0">
                        <a:solidFill>
                          <a:srgbClr val="0070C0"/>
                        </a:solidFill>
                        <a:latin typeface="Cambria Math" panose="02040503050406030204" pitchFamily="18" charset="0"/>
                      </a:rPr>
                      <m:t>𝑝</m:t>
                    </m:r>
                    <m:r>
                      <a:rPr lang="en-AU" altLang="zh-CN" sz="2400" i="1" dirty="0">
                        <a:latin typeface="Cambria Math" panose="02040503050406030204" pitchFamily="18" charset="0"/>
                      </a:rPr>
                      <m:t>}</m:t>
                    </m:r>
                    <m:r>
                      <a:rPr lang="en-AU" altLang="zh-CN" sz="2400" i="1" dirty="0">
                        <a:solidFill>
                          <a:srgbClr val="0070C0"/>
                        </a:solidFill>
                        <a:latin typeface="Cambria Math" panose="02040503050406030204" pitchFamily="18" charset="0"/>
                      </a:rPr>
                      <m:t>, </m:t>
                    </m:r>
                    <m:r>
                      <m:rPr>
                        <m:sty m:val="p"/>
                      </m:rPr>
                      <a:rPr lang="el-GR" altLang="zh-CN" sz="2400" dirty="0">
                        <a:latin typeface="Cambria Math" panose="02040503050406030204" pitchFamily="18" charset="0"/>
                      </a:rPr>
                      <m:t>Σ</m:t>
                    </m:r>
                    <m:r>
                      <a:rPr lang="el-GR" altLang="zh-CN" sz="2400" i="1" dirty="0">
                        <a:latin typeface="Cambria Math" panose="02040503050406030204" pitchFamily="18" charset="0"/>
                      </a:rPr>
                      <m:t>, </m:t>
                    </m:r>
                    <m:r>
                      <m:rPr>
                        <m:sty m:val="p"/>
                      </m:rPr>
                      <a:rPr lang="el-GR" altLang="zh-CN" sz="2400" dirty="0">
                        <a:latin typeface="Cambria Math" panose="02040503050406030204" pitchFamily="18" charset="0"/>
                      </a:rPr>
                      <m:t>Γ</m:t>
                    </m:r>
                    <m:r>
                      <a:rPr lang="el-GR" altLang="zh-CN" sz="2400" i="1" dirty="0">
                        <a:latin typeface="Cambria Math" panose="02040503050406030204" pitchFamily="18" charset="0"/>
                      </a:rPr>
                      <m:t> ∪ {</m:t>
                    </m:r>
                    <m:sSub>
                      <m:sSubPr>
                        <m:ctrlPr>
                          <a:rPr lang="el-GR"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𝑋</m:t>
                        </m:r>
                      </m:e>
                      <m:sub>
                        <m:r>
                          <a:rPr lang="en-AU" altLang="zh-CN" sz="2400" i="1" dirty="0">
                            <a:solidFill>
                              <a:srgbClr val="0070C0"/>
                            </a:solidFill>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solidFill>
                          <a:srgbClr val="0070C0"/>
                        </a:solidFill>
                        <a:latin typeface="Cambria Math" panose="02040503050406030204" pitchFamily="18" charset="0"/>
                      </a:rPr>
                      <m:t>,</m:t>
                    </m:r>
                    <m:sSub>
                      <m:sSubPr>
                        <m:ctrlPr>
                          <a:rPr lang="el-GR" altLang="zh-CN" sz="2400" i="1" dirty="0">
                            <a:latin typeface="Cambria Math" panose="02040503050406030204" pitchFamily="18" charset="0"/>
                          </a:rPr>
                        </m:ctrlPr>
                      </m:sSubPr>
                      <m:e>
                        <m:r>
                          <a:rPr lang="el-GR" altLang="zh-CN" sz="2400" i="1" dirty="0">
                            <a:latin typeface="Cambria Math" panose="02040503050406030204" pitchFamily="18" charset="0"/>
                          </a:rPr>
                          <m:t>𝛿</m:t>
                        </m:r>
                      </m:e>
                      <m:sub>
                        <m:r>
                          <a:rPr lang="en-AU" altLang="zh-CN" sz="2400" i="1" dirty="0">
                            <a:latin typeface="Cambria Math" panose="02040503050406030204" pitchFamily="18" charset="0"/>
                          </a:rPr>
                          <m:t>𝑁</m:t>
                        </m:r>
                      </m:sub>
                    </m:sSub>
                    <m:r>
                      <a:rPr lang="en-AU" altLang="zh-CN" sz="2400" i="1" dirty="0">
                        <a:latin typeface="Cambria Math" panose="02040503050406030204" pitchFamily="18" charset="0"/>
                      </a:rPr>
                      <m:t>, </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 </m:t>
                    </m:r>
                    <m:sSub>
                      <m:sSubPr>
                        <m:ctrlPr>
                          <a:rPr lang="en-AU"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𝑋</m:t>
                        </m:r>
                      </m:e>
                      <m:sub>
                        <m:r>
                          <a:rPr lang="en-AU" altLang="zh-CN" sz="2400" i="1" dirty="0">
                            <a:solidFill>
                              <a:srgbClr val="0070C0"/>
                            </a:solidFill>
                            <a:latin typeface="Cambria Math" panose="02040503050406030204" pitchFamily="18" charset="0"/>
                          </a:rPr>
                          <m:t>0</m:t>
                        </m:r>
                      </m:sub>
                    </m:sSub>
                    <m:r>
                      <a:rPr lang="en-AU" altLang="zh-CN" sz="2400" i="1" dirty="0">
                        <a:latin typeface="Cambria Math" panose="02040503050406030204" pitchFamily="18" charset="0"/>
                      </a:rPr>
                      <m:t>, ∅)</m:t>
                    </m:r>
                    <m:r>
                      <a:rPr lang="zh-CN" altLang="en-US" sz="2400" i="1" dirty="0" smtClean="0">
                        <a:latin typeface="Cambria Math" panose="02040503050406030204" pitchFamily="18" charset="0"/>
                      </a:rPr>
                      <m:t>。</m:t>
                    </m:r>
                    <m:r>
                      <a:rPr lang="en-AU" altLang="zh-CN" sz="2400" i="1" dirty="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l-GR" altLang="zh-CN" sz="2400" i="1" dirty="0">
                            <a:latin typeface="Cambria Math" panose="02040503050406030204" pitchFamily="18" charset="0"/>
                          </a:rPr>
                          <m:t>𝛿</m:t>
                        </m:r>
                      </m:e>
                      <m:sub>
                        <m:r>
                          <a:rPr lang="en-AU" altLang="zh-CN" sz="2400" b="0" i="1" dirty="0" smtClean="0">
                            <a:latin typeface="Cambria Math" panose="02040503050406030204" pitchFamily="18" charset="0"/>
                          </a:rPr>
                          <m:t>𝑁</m:t>
                        </m:r>
                      </m:sub>
                    </m:sSub>
                  </m:oMath>
                </a14:m>
                <a:r>
                  <a:rPr lang="zh-CN" altLang="en-US" sz="2400" dirty="0">
                    <a:latin typeface="楷体" panose="02010609060101010101" pitchFamily="49" charset="-122"/>
                    <a:ea typeface="楷体" panose="02010609060101010101" pitchFamily="49" charset="-122"/>
                  </a:rPr>
                  <a:t>具体定义：</a:t>
                </a:r>
                <a:endParaRPr lang="en-AU" sz="2400" dirty="0">
                  <a:latin typeface="楷体" panose="02010609060101010101" pitchFamily="49" charset="-122"/>
                  <a:ea typeface="楷体" panose="02010609060101010101" pitchFamily="49"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03525" y="1944663"/>
                <a:ext cx="7983275" cy="461665"/>
              </a:xfrm>
              <a:prstGeom prst="rect">
                <a:avLst/>
              </a:prstGeom>
              <a:blipFill rotWithShape="1">
                <a:blip r:embed="rId5"/>
                <a:stretch>
                  <a:fillRect l="-7" t="-63" b="-68292"/>
                </a:stretch>
              </a:blipFill>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从终态方式到空栈方式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16000"/>
                <a:ext cx="8229600" cy="4525963"/>
              </a:xfrm>
            </p:spPr>
            <p:txBody>
              <a:bodyPr>
                <a:normAutofit/>
              </a:bodyPr>
              <a:lstStyle/>
              <a:p>
                <a:r>
                  <a:rPr lang="zh-CN" altLang="en-US" sz="2400" dirty="0"/>
                  <a:t>需要证明</a:t>
                </a:r>
                <a14:m>
                  <m:oMath xmlns:m="http://schemas.openxmlformats.org/officeDocument/2006/math">
                    <m:r>
                      <a:rPr lang="en-AU" altLang="zh-CN" sz="2400" i="1">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a:latin typeface="Cambria Math" panose="02040503050406030204" pitchFamily="18" charset="0"/>
                        <a:ea typeface="Cambria Math" panose="02040503050406030204" pitchFamily="18" charset="0"/>
                      </a:rPr>
                      <m:t>𝐋</m:t>
                    </m:r>
                    <m:r>
                      <a:rPr lang="en-AU" altLang="zh-CN" sz="2400" i="1">
                        <a:latin typeface="Cambria Math" panose="02040503050406030204" pitchFamily="18" charset="0"/>
                        <a:ea typeface="Cambria Math" panose="02040503050406030204" pitchFamily="18" charset="0"/>
                      </a:rPr>
                      <m:t>(</m:t>
                    </m:r>
                    <m:sSub>
                      <m:sSubPr>
                        <m:ctrlPr>
                          <a:rPr lang="en-AU" altLang="zh-CN" sz="2400" i="1" smtClean="0">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i="1">
                            <a:solidFill>
                              <a:schemeClr val="accent6"/>
                            </a:solidFill>
                            <a:latin typeface="Cambria Math" panose="02040503050406030204" pitchFamily="18" charset="0"/>
                            <a:ea typeface="Cambria Math" panose="02040503050406030204" pitchFamily="18" charset="0"/>
                          </a:rPr>
                          <m:t>𝐹</m:t>
                        </m:r>
                      </m:sub>
                    </m:sSub>
                    <m:r>
                      <a:rPr lang="en-AU" altLang="zh-CN" sz="2400" i="1">
                        <a:latin typeface="Cambria Math" panose="02040503050406030204" pitchFamily="18" charset="0"/>
                        <a:ea typeface="Cambria Math" panose="02040503050406030204" pitchFamily="18" charset="0"/>
                      </a:rPr>
                      <m:t>)</m:t>
                    </m:r>
                    <m:r>
                      <a:rPr lang="en-AU" altLang="zh-CN" sz="2400" i="1" smtClean="0">
                        <a:latin typeface="Cambria Math" panose="02040503050406030204" pitchFamily="18" charset="0"/>
                        <a:ea typeface="Cambria Math" panose="02040503050406030204" pitchFamily="18" charset="0"/>
                      </a:rPr>
                      <m:t>⟺</m:t>
                    </m:r>
                    <m:r>
                      <a:rPr lang="en-AU" altLang="zh-CN" sz="2400" i="1">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a:latin typeface="Cambria Math" panose="02040503050406030204" pitchFamily="18" charset="0"/>
                        <a:ea typeface="Cambria Math" panose="02040503050406030204" pitchFamily="18" charset="0"/>
                      </a:rPr>
                      <m:t>𝐍</m:t>
                    </m:r>
                    <m:r>
                      <a:rPr lang="en-AU" altLang="zh-CN" sz="2400" i="1">
                        <a:latin typeface="Cambria Math" panose="02040503050406030204" pitchFamily="18" charset="0"/>
                        <a:ea typeface="Cambria Math" panose="02040503050406030204" pitchFamily="18" charset="0"/>
                      </a:rPr>
                      <m:t>(</m:t>
                    </m:r>
                    <m:sSub>
                      <m:sSubPr>
                        <m:ctrlPr>
                          <a:rPr lang="en-AU" altLang="zh-CN" sz="2400" i="1" smtClean="0">
                            <a:solidFill>
                              <a:schemeClr val="accent1"/>
                            </a:solidFill>
                            <a:latin typeface="Cambria Math" panose="02040503050406030204" pitchFamily="18" charset="0"/>
                            <a:ea typeface="Cambria Math" panose="02040503050406030204" pitchFamily="18" charset="0"/>
                          </a:rPr>
                        </m:ctrlPr>
                      </m:sSubPr>
                      <m:e>
                        <m:r>
                          <a:rPr lang="en-AU" altLang="zh-CN" sz="2400" i="1">
                            <a:solidFill>
                              <a:schemeClr val="accent1"/>
                            </a:solidFill>
                            <a:latin typeface="Cambria Math" panose="02040503050406030204" pitchFamily="18" charset="0"/>
                            <a:ea typeface="Cambria Math" panose="02040503050406030204" pitchFamily="18" charset="0"/>
                          </a:rPr>
                          <m:t>𝑃</m:t>
                        </m:r>
                      </m:e>
                      <m:sub>
                        <m:r>
                          <a:rPr lang="en-AU" altLang="zh-CN" sz="2400" i="1">
                            <a:solidFill>
                              <a:schemeClr val="accent1"/>
                            </a:solidFill>
                            <a:latin typeface="Cambria Math" panose="02040503050406030204" pitchFamily="18" charset="0"/>
                            <a:ea typeface="Cambria Math" panose="02040503050406030204" pitchFamily="18" charset="0"/>
                          </a:rPr>
                          <m:t>𝑁</m:t>
                        </m:r>
                      </m:sub>
                    </m:sSub>
                    <m:r>
                      <a:rPr lang="en-AU" altLang="zh-CN" sz="2400" i="1">
                        <a:latin typeface="Cambria Math" panose="02040503050406030204" pitchFamily="18" charset="0"/>
                        <a:ea typeface="Cambria Math" panose="02040503050406030204" pitchFamily="18" charset="0"/>
                      </a:rPr>
                      <m:t>)</m:t>
                    </m:r>
                  </m:oMath>
                </a14:m>
                <a:r>
                  <a:rPr lang="en-AU" altLang="zh-CN" sz="2400" dirty="0"/>
                  <a:t> </a:t>
                </a:r>
                <a:r>
                  <a:rPr lang="zh-CN" altLang="en-US" sz="2400" dirty="0"/>
                  <a:t>（先证充分性</a:t>
                </a:r>
                <a14:m>
                  <m:oMath xmlns:m="http://schemas.openxmlformats.org/officeDocument/2006/math">
                    <m:r>
                      <a:rPr lang="en-AU" altLang="zh-CN" sz="2400" i="1" dirty="0">
                        <a:latin typeface="Cambria Math" panose="02040503050406030204" pitchFamily="18" charset="0"/>
                        <a:ea typeface="Cambria Math" panose="02040503050406030204" pitchFamily="18" charset="0"/>
                      </a:rPr>
                      <m:t>⇒ </m:t>
                    </m:r>
                  </m:oMath>
                </a14:m>
                <a:r>
                  <a:rPr lang="zh-CN" altLang="en-US" sz="2400" dirty="0"/>
                  <a:t>）</a:t>
                </a:r>
                <a:endParaRPr lang="en-AU" altLang="zh-CN" sz="2400" dirty="0"/>
              </a:p>
              <a:p>
                <a:r>
                  <a:rPr lang="zh-CN" altLang="en-US" sz="2400" dirty="0"/>
                  <a:t>首先，</a:t>
                </a:r>
                <a14:m>
                  <m:oMath xmlns:m="http://schemas.openxmlformats.org/officeDocument/2006/math">
                    <m:r>
                      <a:rPr lang="en-AU" altLang="zh-CN" sz="2400" b="0" i="1" smtClean="0">
                        <a:latin typeface="Cambria Math" panose="02040503050406030204" pitchFamily="18" charset="0"/>
                      </a:rPr>
                      <m:t>𝑤</m:t>
                    </m:r>
                    <m:r>
                      <a:rPr lang="en-AU" altLang="zh-CN" sz="2400" b="0" i="1" smtClean="0">
                        <a:latin typeface="Cambria Math" panose="02040503050406030204" pitchFamily="18" charset="0"/>
                        <a:ea typeface="Cambria Math" panose="02040503050406030204" pitchFamily="18" charset="0"/>
                      </a:rPr>
                      <m:t>∈</m:t>
                    </m:r>
                    <m:r>
                      <a:rPr lang="en-AU" altLang="zh-CN" sz="2400" b="1" i="0" smtClean="0">
                        <a:latin typeface="Cambria Math" panose="02040503050406030204" pitchFamily="18" charset="0"/>
                        <a:ea typeface="Cambria Math" panose="02040503050406030204" pitchFamily="18" charset="0"/>
                      </a:rPr>
                      <m:t>𝐋</m:t>
                    </m:r>
                    <m:d>
                      <m:dPr>
                        <m:ctrlPr>
                          <a:rPr lang="en-AU" altLang="zh-CN" sz="2400" b="0" i="1" smtClean="0">
                            <a:latin typeface="Cambria Math" panose="02040503050406030204" pitchFamily="18" charset="0"/>
                            <a:ea typeface="Cambria Math" panose="02040503050406030204" pitchFamily="18" charset="0"/>
                          </a:rPr>
                        </m:ctrlPr>
                      </m:dPr>
                      <m:e>
                        <m:sSub>
                          <m:sSubPr>
                            <m:ctrlPr>
                              <a:rPr lang="en-AU" altLang="zh-CN" sz="2400" i="1">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i="1">
                                <a:solidFill>
                                  <a:schemeClr val="accent6"/>
                                </a:solidFill>
                                <a:latin typeface="Cambria Math" panose="02040503050406030204" pitchFamily="18" charset="0"/>
                                <a:ea typeface="Cambria Math" panose="02040503050406030204" pitchFamily="18" charset="0"/>
                              </a:rPr>
                              <m:t>𝐹</m:t>
                            </m:r>
                          </m:sub>
                        </m:sSub>
                      </m:e>
                    </m:d>
                  </m:oMath>
                </a14:m>
                <a:r>
                  <a:rPr lang="en-AU" altLang="zh-CN" sz="2400" dirty="0"/>
                  <a:t> </a:t>
                </a:r>
                <a14:m>
                  <m:oMath xmlns:m="http://schemas.openxmlformats.org/officeDocument/2006/math">
                    <m:r>
                      <a:rPr lang="en-AU" altLang="zh-CN" sz="2400" i="1" dirty="0" smtClean="0">
                        <a:latin typeface="Cambria Math" panose="02040503050406030204" pitchFamily="18" charset="0"/>
                        <a:ea typeface="Cambria Math" panose="02040503050406030204" pitchFamily="18" charset="0"/>
                      </a:rPr>
                      <m:t>⇒</m:t>
                    </m:r>
                  </m:oMath>
                </a14:m>
                <a:r>
                  <a:rPr lang="en-AU" altLang="zh-CN" sz="2400" dirty="0"/>
                  <a:t> </a:t>
                </a:r>
                <a14:m>
                  <m:oMath xmlns:m="http://schemas.openxmlformats.org/officeDocument/2006/math">
                    <m:r>
                      <a:rPr lang="en-AU" altLang="zh-CN" sz="2400" i="1" dirty="0" smtClean="0">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𝑤</m:t>
                    </m:r>
                    <m:r>
                      <a:rPr lang="en-AU" altLang="zh-CN"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m:t>
                    </m:r>
                    <m:sSubSup>
                      <m:sSubSupPr>
                        <m:ctrlPr>
                          <a:rPr lang="en-AU" altLang="zh-CN" sz="2400" i="1" dirty="0" smtClean="0">
                            <a:latin typeface="Cambria Math" panose="02040503050406030204" pitchFamily="18" charset="0"/>
                          </a:rPr>
                        </m:ctrlPr>
                      </m:sSubSupPr>
                      <m:e>
                        <m:r>
                          <a:rPr lang="en-AU" altLang="zh-CN" sz="2400" i="1" dirty="0" smtClean="0">
                            <a:latin typeface="Cambria Math" panose="02040503050406030204" pitchFamily="18" charset="0"/>
                            <a:ea typeface="Cambria Math" panose="02040503050406030204" pitchFamily="18" charset="0"/>
                          </a:rPr>
                          <m:t>⊢</m:t>
                        </m:r>
                      </m:e>
                      <m:sub>
                        <m:sSub>
                          <m:sSubPr>
                            <m:ctrlPr>
                              <a:rPr lang="en-AU" altLang="zh-CN" sz="2400" i="1" dirty="0" smtClean="0">
                                <a:solidFill>
                                  <a:schemeClr val="accent6"/>
                                </a:solidFill>
                                <a:latin typeface="Cambria Math" panose="02040503050406030204" pitchFamily="18" charset="0"/>
                              </a:rPr>
                            </m:ctrlPr>
                          </m:sSubPr>
                          <m:e>
                            <m:r>
                              <a:rPr lang="en-AU" altLang="zh-CN" sz="2400" b="0" i="1" dirty="0" smtClean="0">
                                <a:solidFill>
                                  <a:schemeClr val="accent6"/>
                                </a:solidFill>
                                <a:latin typeface="Cambria Math" panose="02040503050406030204" pitchFamily="18" charset="0"/>
                              </a:rPr>
                              <m:t>𝑃</m:t>
                            </m:r>
                          </m:e>
                          <m:sub>
                            <m:r>
                              <a:rPr lang="en-AU" altLang="zh-CN" sz="2400" b="0" i="1" dirty="0" smtClean="0">
                                <a:solidFill>
                                  <a:schemeClr val="accent6"/>
                                </a:solidFill>
                                <a:latin typeface="Cambria Math" panose="02040503050406030204" pitchFamily="18" charset="0"/>
                              </a:rPr>
                              <m:t>𝐹</m:t>
                            </m:r>
                          </m:sub>
                        </m:sSub>
                      </m:sub>
                      <m:sup>
                        <m:r>
                          <a:rPr lang="en-AU" altLang="zh-CN" sz="2400" b="0" i="1" dirty="0" smtClean="0">
                            <a:latin typeface="Cambria Math" panose="02040503050406030204" pitchFamily="18" charset="0"/>
                          </a:rPr>
                          <m:t>∗</m:t>
                        </m:r>
                      </m:sup>
                    </m:sSubSup>
                    <m:r>
                      <a:rPr lang="en-AU" altLang="zh-CN" sz="2400" b="0" i="1" dirty="0" smtClean="0">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𝛾</m:t>
                    </m:r>
                    <m:r>
                      <a:rPr lang="en-AU" altLang="zh-CN" sz="2400" b="0" i="1" dirty="0" smtClean="0">
                        <a:latin typeface="Cambria Math" panose="02040503050406030204" pitchFamily="18" charset="0"/>
                      </a:rPr>
                      <m:t>)</m:t>
                    </m:r>
                  </m:oMath>
                </a14:m>
                <a:endParaRPr lang="en-AU" altLang="zh-CN" sz="2400" dirty="0"/>
              </a:p>
              <a:p>
                <a:r>
                  <a:rPr lang="zh-CN" altLang="en-US" sz="2400" dirty="0"/>
                  <a:t>因为栈底之下增加符号不会影响这些动作，因此有</a:t>
                </a:r>
                <a14:m>
                  <m:oMath xmlns:m="http://schemas.openxmlformats.org/officeDocument/2006/math">
                    <m:r>
                      <a:rPr lang="en-AU" altLang="zh-CN" sz="2400" i="1" dirty="0" smtClean="0">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𝑤</m:t>
                    </m:r>
                    <m:r>
                      <a:rPr lang="en-AU" altLang="zh-CN"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i="1" dirty="0">
                            <a:latin typeface="Cambria Math" panose="02040503050406030204" pitchFamily="18" charset="0"/>
                          </a:rPr>
                          <m:t>0</m:t>
                        </m:r>
                      </m:sub>
                    </m:sSub>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m:t>
                    </m:r>
                    <m:sSubSup>
                      <m:sSubSupPr>
                        <m:ctrlPr>
                          <a:rPr lang="en-AU" altLang="zh-CN" sz="2400" i="1" dirty="0" smtClean="0">
                            <a:latin typeface="Cambria Math" panose="02040503050406030204" pitchFamily="18" charset="0"/>
                          </a:rPr>
                        </m:ctrlPr>
                      </m:sSubSupPr>
                      <m:e>
                        <m:r>
                          <a:rPr lang="en-AU" altLang="zh-CN" sz="2400" i="1" dirty="0" smtClean="0">
                            <a:latin typeface="Cambria Math" panose="02040503050406030204" pitchFamily="18" charset="0"/>
                            <a:ea typeface="Cambria Math" panose="02040503050406030204" pitchFamily="18" charset="0"/>
                          </a:rPr>
                          <m:t>⊢</m:t>
                        </m:r>
                      </m:e>
                      <m:sub>
                        <m:sSub>
                          <m:sSubPr>
                            <m:ctrlPr>
                              <a:rPr lang="en-AU" altLang="zh-CN" sz="2400" i="1" dirty="0" smtClean="0">
                                <a:solidFill>
                                  <a:schemeClr val="accent6"/>
                                </a:solidFill>
                                <a:latin typeface="Cambria Math" panose="02040503050406030204" pitchFamily="18" charset="0"/>
                              </a:rPr>
                            </m:ctrlPr>
                          </m:sSubPr>
                          <m:e>
                            <m:r>
                              <a:rPr lang="en-AU" altLang="zh-CN" sz="2400" b="0" i="1" dirty="0" smtClean="0">
                                <a:solidFill>
                                  <a:schemeClr val="accent6"/>
                                </a:solidFill>
                                <a:latin typeface="Cambria Math" panose="02040503050406030204" pitchFamily="18" charset="0"/>
                              </a:rPr>
                              <m:t>𝑃</m:t>
                            </m:r>
                          </m:e>
                          <m:sub>
                            <m:r>
                              <a:rPr lang="en-AU" altLang="zh-CN" sz="2400" b="0" i="1" dirty="0" smtClean="0">
                                <a:solidFill>
                                  <a:schemeClr val="accent6"/>
                                </a:solidFill>
                                <a:latin typeface="Cambria Math" panose="02040503050406030204" pitchFamily="18" charset="0"/>
                              </a:rPr>
                              <m:t>𝐹</m:t>
                            </m:r>
                          </m:sub>
                        </m:sSub>
                      </m:sub>
                      <m:sup>
                        <m:r>
                          <a:rPr lang="en-AU" altLang="zh-CN" sz="2400" b="0" i="1" dirty="0" smtClean="0">
                            <a:latin typeface="Cambria Math" panose="02040503050406030204" pitchFamily="18" charset="0"/>
                          </a:rPr>
                          <m:t>∗</m:t>
                        </m:r>
                      </m:sup>
                    </m:sSubSup>
                    <m:r>
                      <a:rPr lang="en-AU" altLang="zh-CN" sz="2400" b="0" i="1" dirty="0" smtClean="0">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𝛾</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b="0" i="1" dirty="0" smtClean="0">
                        <a:latin typeface="Cambria Math" panose="02040503050406030204" pitchFamily="18" charset="0"/>
                      </a:rPr>
                      <m:t>)</m:t>
                    </m:r>
                  </m:oMath>
                </a14:m>
                <a:r>
                  <a:rPr lang="zh-CN" altLang="en-US" sz="2400" dirty="0"/>
                  <a:t>。这个转移序列刚好也是</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𝑃</m:t>
                        </m:r>
                      </m:e>
                      <m:sub>
                        <m:r>
                          <a:rPr lang="en-AU" altLang="zh-CN" sz="2400" b="0" i="1" smtClean="0">
                            <a:latin typeface="Cambria Math" panose="02040503050406030204" pitchFamily="18" charset="0"/>
                          </a:rPr>
                          <m:t>𝑁</m:t>
                        </m:r>
                      </m:sub>
                    </m:sSub>
                  </m:oMath>
                </a14:m>
                <a:r>
                  <a:rPr lang="zh-CN" altLang="en-US" sz="2400" dirty="0"/>
                  <a:t>的转移序列，因此</a:t>
                </a:r>
                <a14:m>
                  <m:oMath xmlns:m="http://schemas.openxmlformats.org/officeDocument/2006/math">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𝑃</m:t>
                            </m:r>
                          </m:e>
                          <m:sub>
                            <m:r>
                              <a:rPr lang="en-AU" altLang="zh-CN" sz="2400" b="0" i="1" dirty="0" smtClean="0">
                                <a:solidFill>
                                  <a:srgbClr val="0070C0"/>
                                </a:solidFill>
                                <a:latin typeface="Cambria Math" panose="02040503050406030204" pitchFamily="18" charset="0"/>
                              </a:rPr>
                              <m:t>𝑁</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𝛾</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oMath>
                </a14:m>
                <a:r>
                  <a:rPr lang="zh-CN" altLang="en-US" sz="2400" dirty="0"/>
                  <a:t>。</a:t>
                </a:r>
                <a:endParaRPr lang="en-AU" altLang="zh-CN" sz="2400" dirty="0"/>
              </a:p>
              <a:p>
                <a:r>
                  <a:rPr lang="zh-CN" altLang="en-US" sz="2400" dirty="0"/>
                  <a:t>根据构造，通过空转移有</a:t>
                </a:r>
                <a14:m>
                  <m:oMath xmlns:m="http://schemas.openxmlformats.org/officeDocument/2006/math">
                    <m:r>
                      <a:rPr lang="en-AU" altLang="zh-CN" sz="2400" i="1" dirty="0" smtClean="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b="0" i="1" dirty="0" smtClean="0">
                            <a:solidFill>
                              <a:srgbClr val="7030A0"/>
                            </a:solidFill>
                            <a:latin typeface="Cambria Math" panose="02040503050406030204" pitchFamily="18" charset="0"/>
                          </a:rPr>
                          <m:t>𝑝</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r>
                      <a:rPr lang="en-AU" altLang="zh-CN" sz="2400" i="1" dirty="0">
                        <a:solidFill>
                          <a:srgbClr val="7030A0"/>
                        </a:solidFill>
                        <a:latin typeface="Cambria Math" panose="02040503050406030204" pitchFamily="18" charset="0"/>
                      </a:rPr>
                      <m:t>𝑤</m:t>
                    </m:r>
                    <m:r>
                      <a:rPr lang="en-AU" altLang="zh-CN" sz="2400" i="1" dirty="0">
                        <a:solidFill>
                          <a:srgbClr val="7030A0"/>
                        </a:solidFill>
                        <a:latin typeface="Cambria Math" panose="02040503050406030204" pitchFamily="18" charset="0"/>
                      </a:rPr>
                      <m:t>, </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𝑋</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i="1" dirty="0" smtClean="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𝑃</m:t>
                            </m:r>
                          </m:e>
                          <m:sub>
                            <m:r>
                              <a:rPr lang="en-AU" altLang="zh-CN" sz="2400" b="0" i="1" dirty="0" smtClean="0">
                                <a:solidFill>
                                  <a:srgbClr val="0070C0"/>
                                </a:solidFill>
                                <a:latin typeface="Cambria Math" panose="02040503050406030204" pitchFamily="18" charset="0"/>
                              </a:rPr>
                              <m:t>𝑁</m:t>
                            </m:r>
                          </m:sub>
                        </m:sSub>
                      </m:sub>
                    </m:sSub>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oMath>
                </a14:m>
                <a:r>
                  <a:rPr lang="zh-CN" altLang="en-US" sz="2400" dirty="0"/>
                  <a:t>，因此</a:t>
                </a:r>
                <a14:m>
                  <m:oMath xmlns:m="http://schemas.openxmlformats.org/officeDocument/2006/math">
                    <m:r>
                      <a:rPr lang="en-AU" altLang="zh-CN" sz="2400" i="1" dirty="0" smtClean="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𝑝</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r>
                      <a:rPr lang="en-AU" altLang="zh-CN" sz="2400" i="1" dirty="0">
                        <a:solidFill>
                          <a:srgbClr val="7030A0"/>
                        </a:solidFill>
                        <a:latin typeface="Cambria Math" panose="02040503050406030204" pitchFamily="18" charset="0"/>
                      </a:rPr>
                      <m:t>𝑤</m:t>
                    </m:r>
                    <m:r>
                      <a:rPr lang="en-AU" altLang="zh-CN" sz="2400" i="1" dirty="0">
                        <a:solidFill>
                          <a:srgbClr val="7030A0"/>
                        </a:solidFill>
                        <a:latin typeface="Cambria Math" panose="02040503050406030204" pitchFamily="18" charset="0"/>
                      </a:rPr>
                      <m:t>, </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𝑋</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𝑃</m:t>
                            </m:r>
                          </m:e>
                          <m:sub>
                            <m:r>
                              <a:rPr lang="en-AU" altLang="zh-CN" sz="2400" i="1" dirty="0">
                                <a:solidFill>
                                  <a:srgbClr val="0070C0"/>
                                </a:solidFill>
                                <a:latin typeface="Cambria Math" panose="02040503050406030204" pitchFamily="18" charset="0"/>
                              </a:rPr>
                              <m:t>𝑁</m:t>
                            </m:r>
                          </m:sub>
                        </m:sSub>
                      </m:sub>
                    </m:sSub>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𝑃</m:t>
                            </m:r>
                          </m:e>
                          <m:sub>
                            <m:r>
                              <a:rPr lang="en-AU" altLang="zh-CN" sz="2400" i="1" dirty="0">
                                <a:solidFill>
                                  <a:srgbClr val="0070C0"/>
                                </a:solidFill>
                                <a:latin typeface="Cambria Math" panose="02040503050406030204" pitchFamily="18" charset="0"/>
                              </a:rPr>
                              <m:t>𝑁</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𝛾</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oMath>
                </a14:m>
                <a:r>
                  <a:rPr lang="zh-CN" altLang="en-US" sz="2400" dirty="0"/>
                  <a:t>。即，</a:t>
                </a:r>
                <a14:m>
                  <m:oMath xmlns:m="http://schemas.openxmlformats.org/officeDocument/2006/math">
                    <m:r>
                      <a:rPr lang="en-AU" altLang="zh-CN" sz="2400" i="1" dirty="0" smtClean="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𝑝</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r>
                      <a:rPr lang="en-AU" altLang="zh-CN" sz="2400" i="1" dirty="0">
                        <a:solidFill>
                          <a:srgbClr val="7030A0"/>
                        </a:solidFill>
                        <a:latin typeface="Cambria Math" panose="02040503050406030204" pitchFamily="18" charset="0"/>
                      </a:rPr>
                      <m:t>𝑤</m:t>
                    </m:r>
                    <m:r>
                      <a:rPr lang="en-AU" altLang="zh-CN" sz="2400" i="1" dirty="0">
                        <a:solidFill>
                          <a:srgbClr val="7030A0"/>
                        </a:solidFill>
                        <a:latin typeface="Cambria Math" panose="02040503050406030204" pitchFamily="18" charset="0"/>
                      </a:rPr>
                      <m:t>, </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𝑋</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𝑃</m:t>
                            </m:r>
                          </m:e>
                          <m:sub>
                            <m:r>
                              <a:rPr lang="en-AU" altLang="zh-CN" sz="2400" i="1" dirty="0">
                                <a:solidFill>
                                  <a:srgbClr val="0070C0"/>
                                </a:solidFill>
                                <a:latin typeface="Cambria Math" panose="02040503050406030204" pitchFamily="18" charset="0"/>
                              </a:rPr>
                              <m:t>𝑁</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𝛾</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oMath>
                </a14:m>
                <a:endParaRPr lang="en-AU" altLang="zh-CN" sz="2400" dirty="0"/>
              </a:p>
              <a:p>
                <a:r>
                  <a:rPr lang="zh-CN" altLang="en-US" sz="2400" dirty="0"/>
                  <a:t>根据构造有</a:t>
                </a:r>
                <a14:m>
                  <m:oMath xmlns:m="http://schemas.openxmlformats.org/officeDocument/2006/math">
                    <m:r>
                      <a:rPr lang="en-AU" altLang="zh-CN" sz="2400" i="1" dirty="0" smtClean="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𝑝</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r>
                      <a:rPr lang="en-AU" altLang="zh-CN" sz="2400" i="1" dirty="0">
                        <a:solidFill>
                          <a:srgbClr val="7030A0"/>
                        </a:solidFill>
                        <a:latin typeface="Cambria Math" panose="02040503050406030204" pitchFamily="18" charset="0"/>
                      </a:rPr>
                      <m:t>𝑤</m:t>
                    </m:r>
                    <m:r>
                      <a:rPr lang="en-AU" altLang="zh-CN" sz="2400" i="1" dirty="0">
                        <a:solidFill>
                          <a:srgbClr val="7030A0"/>
                        </a:solidFill>
                        <a:latin typeface="Cambria Math" panose="02040503050406030204" pitchFamily="18" charset="0"/>
                      </a:rPr>
                      <m:t>, </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𝑋</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𝑃</m:t>
                            </m:r>
                          </m:e>
                          <m:sub>
                            <m:r>
                              <a:rPr lang="en-AU" altLang="zh-CN" sz="2400" i="1" dirty="0">
                                <a:solidFill>
                                  <a:srgbClr val="0070C0"/>
                                </a:solidFill>
                                <a:latin typeface="Cambria Math" panose="02040503050406030204" pitchFamily="18" charset="0"/>
                              </a:rPr>
                              <m:t>𝑁</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𝛾</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𝑃</m:t>
                            </m:r>
                          </m:e>
                          <m:sub>
                            <m:r>
                              <a:rPr lang="en-AU" altLang="zh-CN" sz="2400" i="1" dirty="0">
                                <a:solidFill>
                                  <a:srgbClr val="0070C0"/>
                                </a:solidFill>
                                <a:latin typeface="Cambria Math" panose="02040503050406030204" pitchFamily="18" charset="0"/>
                              </a:rPr>
                              <m:t>𝑁</m:t>
                            </m:r>
                          </m:sub>
                        </m:sSub>
                      </m:sub>
                      <m:sup>
                        <m:r>
                          <a:rPr lang="en-AU" altLang="zh-CN" sz="2400" i="1" dirty="0">
                            <a:latin typeface="Cambria Math" panose="02040503050406030204" pitchFamily="18" charset="0"/>
                          </a:rPr>
                          <m:t>∗</m:t>
                        </m:r>
                      </m:sup>
                    </m:sSubSup>
                    <m:r>
                      <a:rPr lang="en-AU" altLang="zh-CN" sz="2400" b="0" i="1" dirty="0" smtClean="0">
                        <a:solidFill>
                          <a:srgbClr val="FF0000"/>
                        </a:solidFill>
                        <a:latin typeface="Cambria Math" panose="02040503050406030204" pitchFamily="18" charset="0"/>
                      </a:rPr>
                      <m:t>(</m:t>
                    </m:r>
                    <m:r>
                      <a:rPr lang="en-AU" altLang="zh-CN" sz="2400" b="0" i="1" dirty="0" smtClean="0">
                        <a:solidFill>
                          <a:srgbClr val="FF0000"/>
                        </a:solidFill>
                        <a:latin typeface="Cambria Math" panose="02040503050406030204" pitchFamily="18" charset="0"/>
                      </a:rPr>
                      <m:t>𝑝</m:t>
                    </m:r>
                    <m:r>
                      <a:rPr lang="en-AU" altLang="zh-CN" sz="2400" b="0" i="1" dirty="0" smtClean="0">
                        <a:solidFill>
                          <a:srgbClr val="FF0000"/>
                        </a:solidFill>
                        <a:latin typeface="Cambria Math" panose="02040503050406030204" pitchFamily="18" charset="0"/>
                      </a:rPr>
                      <m:t>,</m:t>
                    </m:r>
                    <m:r>
                      <a:rPr lang="zh-CN" altLang="en-AU" sz="2400" i="1" dirty="0">
                        <a:solidFill>
                          <a:srgbClr val="FF0000"/>
                        </a:solidFill>
                        <a:latin typeface="Cambria Math" panose="02040503050406030204" pitchFamily="18" charset="0"/>
                      </a:rPr>
                      <m:t>𝜀</m:t>
                    </m:r>
                    <m:r>
                      <a:rPr lang="en-AU" altLang="zh-CN" sz="2400" b="0" i="1" dirty="0" smtClean="0">
                        <a:solidFill>
                          <a:srgbClr val="FF0000"/>
                        </a:solidFill>
                        <a:latin typeface="Cambria Math" panose="02040503050406030204" pitchFamily="18" charset="0"/>
                      </a:rPr>
                      <m:t>,</m:t>
                    </m:r>
                    <m:r>
                      <a:rPr lang="zh-CN" altLang="en-AU" sz="2400" i="1" dirty="0">
                        <a:solidFill>
                          <a:srgbClr val="FF0000"/>
                        </a:solidFill>
                        <a:latin typeface="Cambria Math" panose="02040503050406030204" pitchFamily="18" charset="0"/>
                      </a:rPr>
                      <m:t>𝜀</m:t>
                    </m:r>
                    <m:r>
                      <a:rPr lang="en-AU" altLang="zh-CN" sz="2400" b="0" i="1" dirty="0" smtClean="0">
                        <a:solidFill>
                          <a:srgbClr val="FF0000"/>
                        </a:solidFill>
                        <a:latin typeface="Cambria Math" panose="02040503050406030204" pitchFamily="18" charset="0"/>
                      </a:rPr>
                      <m:t>)</m:t>
                    </m:r>
                  </m:oMath>
                </a14:m>
                <a:endParaRPr lang="en-AU" altLang="zh-CN" sz="2400" dirty="0">
                  <a:solidFill>
                    <a:srgbClr val="FF0000"/>
                  </a:solidFill>
                </a:endParaRPr>
              </a:p>
              <a:p>
                <a:r>
                  <a:rPr lang="zh-CN" altLang="en-US" sz="2400" dirty="0"/>
                  <a:t>因此</a:t>
                </a:r>
                <a14:m>
                  <m:oMath xmlns:m="http://schemas.openxmlformats.org/officeDocument/2006/math">
                    <m:r>
                      <a:rPr lang="en-AU" altLang="zh-CN" sz="2400" i="1" smtClean="0">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i="0" smtClean="0">
                        <a:latin typeface="Cambria Math" panose="02040503050406030204" pitchFamily="18" charset="0"/>
                        <a:ea typeface="Cambria Math" panose="02040503050406030204" pitchFamily="18" charset="0"/>
                      </a:rPr>
                      <m:t>𝐍</m:t>
                    </m:r>
                    <m:r>
                      <a:rPr lang="en-AU" altLang="zh-CN" sz="2400" i="1">
                        <a:latin typeface="Cambria Math" panose="02040503050406030204" pitchFamily="18" charset="0"/>
                        <a:ea typeface="Cambria Math" panose="02040503050406030204" pitchFamily="18" charset="0"/>
                      </a:rPr>
                      <m:t>(</m:t>
                    </m:r>
                    <m:sSub>
                      <m:sSubPr>
                        <m:ctrlPr>
                          <a:rPr lang="en-AU" altLang="zh-CN" sz="2400" i="1">
                            <a:solidFill>
                              <a:schemeClr val="accent1"/>
                            </a:solidFill>
                            <a:latin typeface="Cambria Math" panose="02040503050406030204" pitchFamily="18" charset="0"/>
                            <a:ea typeface="Cambria Math" panose="02040503050406030204" pitchFamily="18" charset="0"/>
                          </a:rPr>
                        </m:ctrlPr>
                      </m:sSubPr>
                      <m:e>
                        <m:r>
                          <a:rPr lang="en-AU" altLang="zh-CN" sz="2400" i="1">
                            <a:solidFill>
                              <a:schemeClr val="accent1"/>
                            </a:solidFill>
                            <a:latin typeface="Cambria Math" panose="02040503050406030204" pitchFamily="18" charset="0"/>
                            <a:ea typeface="Cambria Math" panose="02040503050406030204" pitchFamily="18" charset="0"/>
                          </a:rPr>
                          <m:t>𝑃</m:t>
                        </m:r>
                      </m:e>
                      <m:sub>
                        <m:r>
                          <a:rPr lang="en-AU" altLang="zh-CN" sz="2400" i="1">
                            <a:solidFill>
                              <a:schemeClr val="accent1"/>
                            </a:solidFill>
                            <a:latin typeface="Cambria Math" panose="02040503050406030204" pitchFamily="18" charset="0"/>
                            <a:ea typeface="Cambria Math" panose="02040503050406030204" pitchFamily="18" charset="0"/>
                          </a:rPr>
                          <m:t>𝑁</m:t>
                        </m:r>
                      </m:sub>
                    </m:sSub>
                    <m:r>
                      <a:rPr lang="en-AU" altLang="zh-CN" sz="2400" i="1">
                        <a:latin typeface="Cambria Math" panose="02040503050406030204" pitchFamily="18" charset="0"/>
                        <a:ea typeface="Cambria Math" panose="02040503050406030204" pitchFamily="18" charset="0"/>
                      </a:rPr>
                      <m:t>)</m:t>
                    </m:r>
                  </m:oMath>
                </a14:m>
                <a:endParaRPr lang="en-AU" altLang="zh-CN" sz="2400" dirty="0"/>
              </a:p>
              <a:p>
                <a:endParaRPr lang="zh-CN" altLang="en-US"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16000"/>
                <a:ext cx="8229600" cy="4525963"/>
              </a:xfrm>
              <a:blipFill rotWithShape="1">
                <a:blip r:embed="rId3"/>
                <a:stretch>
                  <a:fillRect b="-1431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45</a:t>
            </a:fld>
            <a:endParaRPr lang="en-AU"/>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从终态方式到空栈方式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8800" y="1166018"/>
                <a:ext cx="8229600" cy="4525963"/>
              </a:xfrm>
            </p:spPr>
            <p:txBody>
              <a:bodyPr>
                <a:noAutofit/>
              </a:bodyPr>
              <a:lstStyle/>
              <a:p>
                <a:r>
                  <a:rPr lang="zh-CN" altLang="en-US" sz="2400" dirty="0"/>
                  <a:t>需要证明</a:t>
                </a:r>
                <a14:m>
                  <m:oMath xmlns:m="http://schemas.openxmlformats.org/officeDocument/2006/math">
                    <m:r>
                      <a:rPr lang="en-AU" altLang="zh-CN" sz="2400" i="1">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a:latin typeface="Cambria Math" panose="02040503050406030204" pitchFamily="18" charset="0"/>
                        <a:ea typeface="Cambria Math" panose="02040503050406030204" pitchFamily="18" charset="0"/>
                      </a:rPr>
                      <m:t>𝐋</m:t>
                    </m:r>
                    <m:r>
                      <a:rPr lang="en-AU" altLang="zh-CN" sz="2400" i="1">
                        <a:latin typeface="Cambria Math" panose="02040503050406030204" pitchFamily="18" charset="0"/>
                        <a:ea typeface="Cambria Math" panose="02040503050406030204" pitchFamily="18" charset="0"/>
                      </a:rPr>
                      <m:t>(</m:t>
                    </m:r>
                    <m:sSub>
                      <m:sSubPr>
                        <m:ctrlPr>
                          <a:rPr lang="en-AU" altLang="zh-CN" sz="2400" i="1">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i="1">
                            <a:solidFill>
                              <a:schemeClr val="accent6"/>
                            </a:solidFill>
                            <a:latin typeface="Cambria Math" panose="02040503050406030204" pitchFamily="18" charset="0"/>
                            <a:ea typeface="Cambria Math" panose="02040503050406030204" pitchFamily="18" charset="0"/>
                          </a:rPr>
                          <m:t>𝐹</m:t>
                        </m:r>
                      </m:sub>
                    </m:sSub>
                    <m:r>
                      <a:rPr lang="en-AU" altLang="zh-CN" sz="2400" i="1">
                        <a:latin typeface="Cambria Math" panose="02040503050406030204" pitchFamily="18" charset="0"/>
                        <a:ea typeface="Cambria Math" panose="02040503050406030204" pitchFamily="18" charset="0"/>
                      </a:rPr>
                      <m:t>)⟺</m:t>
                    </m:r>
                    <m:r>
                      <a:rPr lang="en-AU" altLang="zh-CN" sz="2400" i="1">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a:latin typeface="Cambria Math" panose="02040503050406030204" pitchFamily="18" charset="0"/>
                        <a:ea typeface="Cambria Math" panose="02040503050406030204" pitchFamily="18" charset="0"/>
                      </a:rPr>
                      <m:t>𝐍</m:t>
                    </m:r>
                    <m:r>
                      <a:rPr lang="en-AU" altLang="zh-CN" sz="2400" i="1">
                        <a:latin typeface="Cambria Math" panose="02040503050406030204" pitchFamily="18" charset="0"/>
                        <a:ea typeface="Cambria Math" panose="02040503050406030204" pitchFamily="18" charset="0"/>
                      </a:rPr>
                      <m:t>(</m:t>
                    </m:r>
                    <m:sSub>
                      <m:sSubPr>
                        <m:ctrlPr>
                          <a:rPr lang="en-AU" altLang="zh-CN" sz="2400" i="1">
                            <a:solidFill>
                              <a:schemeClr val="accent1"/>
                            </a:solidFill>
                            <a:latin typeface="Cambria Math" panose="02040503050406030204" pitchFamily="18" charset="0"/>
                            <a:ea typeface="Cambria Math" panose="02040503050406030204" pitchFamily="18" charset="0"/>
                          </a:rPr>
                        </m:ctrlPr>
                      </m:sSubPr>
                      <m:e>
                        <m:r>
                          <a:rPr lang="en-AU" altLang="zh-CN" sz="2400" i="1">
                            <a:solidFill>
                              <a:schemeClr val="accent1"/>
                            </a:solidFill>
                            <a:latin typeface="Cambria Math" panose="02040503050406030204" pitchFamily="18" charset="0"/>
                            <a:ea typeface="Cambria Math" panose="02040503050406030204" pitchFamily="18" charset="0"/>
                          </a:rPr>
                          <m:t>𝑃</m:t>
                        </m:r>
                      </m:e>
                      <m:sub>
                        <m:r>
                          <a:rPr lang="en-AU" altLang="zh-CN" sz="2400" i="1">
                            <a:solidFill>
                              <a:schemeClr val="accent1"/>
                            </a:solidFill>
                            <a:latin typeface="Cambria Math" panose="02040503050406030204" pitchFamily="18" charset="0"/>
                            <a:ea typeface="Cambria Math" panose="02040503050406030204" pitchFamily="18" charset="0"/>
                          </a:rPr>
                          <m:t>𝑁</m:t>
                        </m:r>
                      </m:sub>
                    </m:sSub>
                    <m:r>
                      <a:rPr lang="en-AU" altLang="zh-CN" sz="2400" i="1">
                        <a:latin typeface="Cambria Math" panose="02040503050406030204" pitchFamily="18" charset="0"/>
                        <a:ea typeface="Cambria Math" panose="02040503050406030204" pitchFamily="18" charset="0"/>
                      </a:rPr>
                      <m:t>)</m:t>
                    </m:r>
                  </m:oMath>
                </a14:m>
                <a:r>
                  <a:rPr lang="en-AU" altLang="zh-CN" sz="2400" dirty="0"/>
                  <a:t> </a:t>
                </a:r>
                <a:r>
                  <a:rPr lang="zh-CN" altLang="en-US" sz="2400" dirty="0"/>
                  <a:t>（再证必要性</a:t>
                </a:r>
                <a14:m>
                  <m:oMath xmlns:m="http://schemas.openxmlformats.org/officeDocument/2006/math">
                    <m:r>
                      <a:rPr lang="en-AU" altLang="zh-CN" sz="2400" i="1" dirty="0" smtClean="0">
                        <a:latin typeface="Cambria Math" panose="02040503050406030204" pitchFamily="18" charset="0"/>
                        <a:ea typeface="Cambria Math" panose="02040503050406030204" pitchFamily="18" charset="0"/>
                      </a:rPr>
                      <m:t>⟸</m:t>
                    </m:r>
                    <m:r>
                      <a:rPr lang="en-AU" altLang="zh-CN" sz="2400" i="1" dirty="0">
                        <a:latin typeface="Cambria Math" panose="02040503050406030204" pitchFamily="18" charset="0"/>
                        <a:ea typeface="Cambria Math" panose="02040503050406030204" pitchFamily="18" charset="0"/>
                      </a:rPr>
                      <m:t> </m:t>
                    </m:r>
                  </m:oMath>
                </a14:m>
                <a:r>
                  <a:rPr lang="zh-CN" altLang="en-US" sz="2400" dirty="0"/>
                  <a:t>）</a:t>
                </a:r>
                <a:endParaRPr lang="en-AU" altLang="zh-CN" sz="2400" dirty="0"/>
              </a:p>
              <a:p>
                <a:r>
                  <a:rPr lang="zh-CN" altLang="en-US" sz="2400" dirty="0"/>
                  <a:t>首先，</a:t>
                </a:r>
                <a14:m>
                  <m:oMath xmlns:m="http://schemas.openxmlformats.org/officeDocument/2006/math">
                    <m:r>
                      <a:rPr lang="en-AU" altLang="zh-CN" sz="2400" b="0" i="1" smtClean="0">
                        <a:latin typeface="Cambria Math" panose="02040503050406030204" pitchFamily="18" charset="0"/>
                      </a:rPr>
                      <m:t>𝑤</m:t>
                    </m:r>
                    <m:r>
                      <a:rPr lang="en-AU" altLang="zh-CN" sz="2400" b="0" i="1" smtClean="0">
                        <a:latin typeface="Cambria Math" panose="02040503050406030204" pitchFamily="18" charset="0"/>
                        <a:ea typeface="Cambria Math" panose="02040503050406030204" pitchFamily="18" charset="0"/>
                      </a:rPr>
                      <m:t>∈</m:t>
                    </m:r>
                    <m:r>
                      <a:rPr lang="en-AU" altLang="zh-CN" sz="2400" b="1" i="0" smtClean="0">
                        <a:latin typeface="Cambria Math" panose="02040503050406030204" pitchFamily="18" charset="0"/>
                        <a:ea typeface="Cambria Math" panose="02040503050406030204" pitchFamily="18" charset="0"/>
                      </a:rPr>
                      <m:t>𝐍</m:t>
                    </m:r>
                    <m:d>
                      <m:dPr>
                        <m:ctrlPr>
                          <a:rPr lang="en-AU" altLang="zh-CN" sz="2400" b="0" i="1" smtClean="0">
                            <a:latin typeface="Cambria Math" panose="02040503050406030204" pitchFamily="18" charset="0"/>
                            <a:ea typeface="Cambria Math" panose="02040503050406030204" pitchFamily="18" charset="0"/>
                          </a:rPr>
                        </m:ctrlPr>
                      </m:dPr>
                      <m:e>
                        <m:sSub>
                          <m:sSubPr>
                            <m:ctrlPr>
                              <a:rPr lang="en-AU" altLang="zh-CN" sz="2400" b="0" i="1" smtClean="0">
                                <a:solidFill>
                                  <a:schemeClr val="accent1"/>
                                </a:solidFill>
                                <a:latin typeface="Cambria Math" panose="02040503050406030204" pitchFamily="18" charset="0"/>
                                <a:ea typeface="Cambria Math" panose="02040503050406030204" pitchFamily="18" charset="0"/>
                              </a:rPr>
                            </m:ctrlPr>
                          </m:sSubPr>
                          <m:e>
                            <m:r>
                              <a:rPr lang="en-AU" altLang="zh-CN" sz="2400" b="0" i="1" smtClean="0">
                                <a:solidFill>
                                  <a:schemeClr val="accent1"/>
                                </a:solidFill>
                                <a:latin typeface="Cambria Math" panose="02040503050406030204" pitchFamily="18" charset="0"/>
                                <a:ea typeface="Cambria Math" panose="02040503050406030204" pitchFamily="18" charset="0"/>
                              </a:rPr>
                              <m:t>𝑃</m:t>
                            </m:r>
                          </m:e>
                          <m:sub>
                            <m:r>
                              <a:rPr lang="en-AU" altLang="zh-CN" sz="2400" b="0" i="1" smtClean="0">
                                <a:solidFill>
                                  <a:schemeClr val="accent1"/>
                                </a:solidFill>
                                <a:latin typeface="Cambria Math" panose="02040503050406030204" pitchFamily="18" charset="0"/>
                                <a:ea typeface="Cambria Math" panose="02040503050406030204" pitchFamily="18" charset="0"/>
                              </a:rPr>
                              <m:t>𝑁</m:t>
                            </m:r>
                          </m:sub>
                        </m:sSub>
                      </m:e>
                    </m:d>
                  </m:oMath>
                </a14:m>
                <a:r>
                  <a:rPr lang="en-AU" altLang="zh-CN" sz="2400" dirty="0"/>
                  <a:t> </a:t>
                </a:r>
                <a14:m>
                  <m:oMath xmlns:m="http://schemas.openxmlformats.org/officeDocument/2006/math">
                    <m:r>
                      <a:rPr lang="en-AU" altLang="zh-CN" sz="2400" i="1" dirty="0" smtClean="0">
                        <a:latin typeface="Cambria Math" panose="02040503050406030204" pitchFamily="18" charset="0"/>
                        <a:ea typeface="Cambria Math" panose="02040503050406030204" pitchFamily="18" charset="0"/>
                      </a:rPr>
                      <m:t>⇒</m:t>
                    </m:r>
                  </m:oMath>
                </a14:m>
                <a:r>
                  <a:rPr lang="en-AU" altLang="zh-CN" sz="2400" dirty="0"/>
                  <a:t> </a:t>
                </a:r>
                <a14:m>
                  <m:oMath xmlns:m="http://schemas.openxmlformats.org/officeDocument/2006/math">
                    <m:r>
                      <a:rPr lang="en-AU" altLang="zh-CN" sz="2400" i="1" dirty="0" smtClean="0">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𝑝</m:t>
                        </m:r>
                      </m:e>
                      <m:sub>
                        <m:r>
                          <a:rPr lang="en-AU" altLang="zh-CN" sz="2400" b="0" i="1" dirty="0" smtClean="0">
                            <a:latin typeface="Cambria Math" panose="02040503050406030204" pitchFamily="18" charset="0"/>
                          </a:rPr>
                          <m:t>0</m:t>
                        </m:r>
                      </m:sub>
                    </m:sSub>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𝑤</m:t>
                    </m:r>
                    <m:r>
                      <a:rPr lang="en-AU" altLang="zh-CN"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m:t>
                    </m:r>
                    <m:sSubSup>
                      <m:sSubSupPr>
                        <m:ctrlPr>
                          <a:rPr lang="en-AU" altLang="zh-CN" sz="2400" i="1" dirty="0" smtClean="0">
                            <a:latin typeface="Cambria Math" panose="02040503050406030204" pitchFamily="18" charset="0"/>
                          </a:rPr>
                        </m:ctrlPr>
                      </m:sSubSupPr>
                      <m:e>
                        <m:r>
                          <a:rPr lang="en-AU" altLang="zh-CN" sz="2400" i="1" dirty="0" smtClean="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𝑃</m:t>
                            </m:r>
                          </m:e>
                          <m:sub>
                            <m:r>
                              <a:rPr lang="en-AU" altLang="zh-CN" sz="2400" b="0" i="1" dirty="0" smtClean="0">
                                <a:solidFill>
                                  <a:srgbClr val="0070C0"/>
                                </a:solidFill>
                                <a:latin typeface="Cambria Math" panose="02040503050406030204" pitchFamily="18" charset="0"/>
                              </a:rPr>
                              <m:t>𝑁</m:t>
                            </m:r>
                          </m:sub>
                        </m:sSub>
                      </m:sub>
                      <m:sup>
                        <m:r>
                          <a:rPr lang="en-AU" altLang="zh-CN" sz="2400" b="0" i="1" dirty="0" smtClean="0">
                            <a:latin typeface="Cambria Math" panose="02040503050406030204" pitchFamily="18" charset="0"/>
                          </a:rPr>
                          <m:t>∗</m:t>
                        </m:r>
                      </m:sup>
                    </m:sSubSup>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𝑝</m:t>
                    </m:r>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b="0" i="1" dirty="0" smtClean="0">
                        <a:latin typeface="Cambria Math" panose="02040503050406030204" pitchFamily="18" charset="0"/>
                      </a:rPr>
                      <m:t>)</m:t>
                    </m:r>
                  </m:oMath>
                </a14:m>
                <a:endParaRPr lang="en-AU" altLang="zh-CN" sz="2400" dirty="0"/>
              </a:p>
              <a:p>
                <a:r>
                  <a:rPr lang="zh-CN" altLang="en-US" sz="2400" dirty="0"/>
                  <a:t>根据</a:t>
                </a:r>
                <a14:m>
                  <m:oMath xmlns:m="http://schemas.openxmlformats.org/officeDocument/2006/math">
                    <m:sSub>
                      <m:sSubPr>
                        <m:ctrlPr>
                          <a:rPr lang="en-AU" altLang="zh-CN" sz="2400" i="1">
                            <a:latin typeface="Cambria Math" panose="02040503050406030204" pitchFamily="18" charset="0"/>
                            <a:ea typeface="Cambria Math" panose="02040503050406030204" pitchFamily="18" charset="0"/>
                          </a:rPr>
                        </m:ctrlPr>
                      </m:sSubPr>
                      <m:e>
                        <m:r>
                          <a:rPr lang="en-AU" altLang="zh-CN" sz="2400" i="1">
                            <a:latin typeface="Cambria Math" panose="02040503050406030204" pitchFamily="18" charset="0"/>
                            <a:ea typeface="Cambria Math" panose="02040503050406030204" pitchFamily="18" charset="0"/>
                          </a:rPr>
                          <m:t>𝑃</m:t>
                        </m:r>
                      </m:e>
                      <m:sub>
                        <m:r>
                          <a:rPr lang="en-AU" altLang="zh-CN" sz="2400" i="1">
                            <a:latin typeface="Cambria Math" panose="02040503050406030204" pitchFamily="18" charset="0"/>
                            <a:ea typeface="Cambria Math" panose="02040503050406030204" pitchFamily="18" charset="0"/>
                          </a:rPr>
                          <m:t>𝑁</m:t>
                        </m:r>
                      </m:sub>
                    </m:sSub>
                  </m:oMath>
                </a14:m>
                <a:r>
                  <a:rPr lang="zh-CN" altLang="en-US" sz="2400" dirty="0"/>
                  <a:t>中开始状态的空转移有</a:t>
                </a:r>
                <a14:m>
                  <m:oMath xmlns:m="http://schemas.openxmlformats.org/officeDocument/2006/math">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𝑃</m:t>
                            </m:r>
                          </m:e>
                          <m:sub>
                            <m:r>
                              <a:rPr lang="en-AU" altLang="zh-CN" sz="2400" i="1" dirty="0">
                                <a:solidFill>
                                  <a:srgbClr val="0070C0"/>
                                </a:solidFill>
                                <a:latin typeface="Cambria Math" panose="02040503050406030204" pitchFamily="18" charset="0"/>
                              </a:rPr>
                              <m:t>𝑁</m:t>
                            </m:r>
                          </m:sub>
                        </m:sSub>
                      </m:sub>
                    </m:sSub>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oMath>
                </a14:m>
                <a:endParaRPr lang="en-AU" altLang="zh-CN" sz="2400" dirty="0"/>
              </a:p>
              <a:p>
                <a:r>
                  <a:rPr lang="zh-CN" altLang="en-US" sz="2400" dirty="0"/>
                  <a:t>从</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i="1" dirty="0">
                            <a:latin typeface="Cambria Math" panose="02040503050406030204" pitchFamily="18" charset="0"/>
                          </a:rPr>
                          <m:t>0</m:t>
                        </m:r>
                      </m:sub>
                    </m:sSub>
                  </m:oMath>
                </a14:m>
                <a:r>
                  <a:rPr lang="zh-CN" altLang="en-US" sz="2400" dirty="0"/>
                  <a:t>开始，必然经过状态</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𝑓</m:t>
                        </m:r>
                      </m:sub>
                    </m:sSub>
                  </m:oMath>
                </a14:m>
                <a:r>
                  <a:rPr lang="en-AU" altLang="zh-CN" sz="2400" dirty="0"/>
                  <a:t>,</a:t>
                </a:r>
                <a:r>
                  <a:rPr lang="zh-CN" altLang="en-US" sz="2400" dirty="0"/>
                  <a:t>有</a:t>
                </a:r>
                <a14:m>
                  <m:oMath xmlns:m="http://schemas.openxmlformats.org/officeDocument/2006/math">
                    <m:r>
                      <a:rPr lang="en-AU" altLang="zh-CN" sz="2400" i="1" dirty="0" smtClean="0">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𝑤</m:t>
                    </m:r>
                    <m:r>
                      <a:rPr lang="en-AU" altLang="zh-CN"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i="1" dirty="0">
                            <a:latin typeface="Cambria Math" panose="02040503050406030204" pitchFamily="18" charset="0"/>
                          </a:rPr>
                          <m:t>0</m:t>
                        </m:r>
                      </m:sub>
                    </m:sSub>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m:t>
                    </m:r>
                    <m:sSubSup>
                      <m:sSubSupPr>
                        <m:ctrlPr>
                          <a:rPr lang="en-AU" altLang="zh-CN" sz="2400" i="1" dirty="0" smtClean="0">
                            <a:latin typeface="Cambria Math" panose="02040503050406030204" pitchFamily="18" charset="0"/>
                          </a:rPr>
                        </m:ctrlPr>
                      </m:sSubSupPr>
                      <m:e>
                        <m:r>
                          <a:rPr lang="en-AU" altLang="zh-CN" sz="2400" i="1" dirty="0" smtClean="0">
                            <a:latin typeface="Cambria Math" panose="02040503050406030204" pitchFamily="18" charset="0"/>
                            <a:ea typeface="Cambria Math" panose="02040503050406030204" pitchFamily="18" charset="0"/>
                          </a:rPr>
                          <m:t>⊢</m:t>
                        </m:r>
                      </m:e>
                      <m:sub>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𝑃</m:t>
                            </m:r>
                          </m:e>
                          <m:sub>
                            <m:r>
                              <a:rPr lang="en-AU" altLang="zh-CN" sz="2400" b="0" i="1" dirty="0" smtClean="0">
                                <a:solidFill>
                                  <a:srgbClr val="0070C0"/>
                                </a:solidFill>
                                <a:latin typeface="Cambria Math" panose="02040503050406030204" pitchFamily="18" charset="0"/>
                              </a:rPr>
                              <m:t>𝑁</m:t>
                            </m:r>
                          </m:sub>
                        </m:sSub>
                      </m:sub>
                      <m:sup>
                        <m:r>
                          <a:rPr lang="en-AU" altLang="zh-CN" sz="2400" b="0" i="1" dirty="0" smtClean="0">
                            <a:latin typeface="Cambria Math" panose="02040503050406030204" pitchFamily="18" charset="0"/>
                          </a:rPr>
                          <m:t>∗</m:t>
                        </m:r>
                      </m:sup>
                    </m:sSubSup>
                    <m:r>
                      <a:rPr lang="en-AU" altLang="zh-CN" sz="2400" b="0" i="1" dirty="0" smtClean="0">
                        <a:latin typeface="Cambria Math" panose="02040503050406030204" pitchFamily="18" charset="0"/>
                      </a:rPr>
                      <m:t>(</m:t>
                    </m:r>
                    <m:sSub>
                      <m:sSubPr>
                        <m:ctrlPr>
                          <a:rPr lang="en-AU" altLang="zh-CN" sz="2400" i="1" dirty="0" smtClean="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𝛾</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b="0" i="1" dirty="0" smtClean="0">
                        <a:latin typeface="Cambria Math" panose="02040503050406030204" pitchFamily="18" charset="0"/>
                      </a:rPr>
                      <m:t>)</m:t>
                    </m:r>
                  </m:oMath>
                </a14:m>
                <a:r>
                  <a:rPr lang="zh-CN" altLang="en-US" sz="2400" dirty="0"/>
                  <a:t>。</a:t>
                </a:r>
                <a:endParaRPr lang="en-AU" altLang="zh-CN" sz="2400" dirty="0"/>
              </a:p>
              <a:p>
                <a:r>
                  <a:rPr lang="zh-CN" altLang="en-US" sz="2400" dirty="0"/>
                  <a:t>这些工作和</a:t>
                </a:r>
                <a14:m>
                  <m:oMath xmlns:m="http://schemas.openxmlformats.org/officeDocument/2006/math">
                    <m:sSub>
                      <m:sSubPr>
                        <m:ctrlPr>
                          <a:rPr lang="en-AU" altLang="zh-CN" sz="2400" i="1">
                            <a:latin typeface="Cambria Math" panose="02040503050406030204" pitchFamily="18" charset="0"/>
                            <a:ea typeface="Cambria Math" panose="02040503050406030204" pitchFamily="18" charset="0"/>
                          </a:rPr>
                        </m:ctrlPr>
                      </m:sSubPr>
                      <m:e>
                        <m:r>
                          <a:rPr lang="en-AU" altLang="zh-CN" sz="2400" i="1">
                            <a:latin typeface="Cambria Math" panose="02040503050406030204" pitchFamily="18" charset="0"/>
                            <a:ea typeface="Cambria Math" panose="02040503050406030204" pitchFamily="18" charset="0"/>
                          </a:rPr>
                          <m:t>𝑃</m:t>
                        </m:r>
                      </m:e>
                      <m:sub>
                        <m:r>
                          <a:rPr lang="en-AU" altLang="zh-CN" sz="2400" i="1">
                            <a:latin typeface="Cambria Math" panose="02040503050406030204" pitchFamily="18" charset="0"/>
                            <a:ea typeface="Cambria Math" panose="02040503050406030204" pitchFamily="18" charset="0"/>
                          </a:rPr>
                          <m:t>𝐹</m:t>
                        </m:r>
                      </m:sub>
                    </m:sSub>
                  </m:oMath>
                </a14:m>
                <a:r>
                  <a:rPr lang="zh-CN" altLang="en-US" sz="2400" dirty="0"/>
                  <a:t>中完全一样，因此</a:t>
                </a:r>
                <a14:m>
                  <m:oMath xmlns:m="http://schemas.openxmlformats.org/officeDocument/2006/math">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b="0" i="1" dirty="0" smtClean="0">
                                <a:solidFill>
                                  <a:schemeClr val="accent6"/>
                                </a:solidFill>
                                <a:latin typeface="Cambria Math" panose="02040503050406030204" pitchFamily="18" charset="0"/>
                              </a:rPr>
                              <m:t>𝐹</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𝛾</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oMath>
                </a14:m>
                <a:endParaRPr lang="en-AU" altLang="zh-CN" sz="2400" dirty="0"/>
              </a:p>
              <a:p>
                <a:r>
                  <a:rPr lang="zh-CN" altLang="en-US" sz="2400" dirty="0"/>
                  <a:t>考虑到</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oMath>
                </a14:m>
                <a:r>
                  <a:rPr lang="zh-CN" altLang="en-US" sz="2400" dirty="0"/>
                  <a:t>不属于</a:t>
                </a:r>
                <a14:m>
                  <m:oMath xmlns:m="http://schemas.openxmlformats.org/officeDocument/2006/math">
                    <m:r>
                      <m:rPr>
                        <m:sty m:val="p"/>
                      </m:rPr>
                      <a:rPr lang="el-GR" altLang="zh-CN" sz="2400" dirty="0">
                        <a:latin typeface="Cambria Math" panose="02040503050406030204" pitchFamily="18" charset="0"/>
                      </a:rPr>
                      <m:t>Γ</m:t>
                    </m:r>
                  </m:oMath>
                </a14:m>
                <a:r>
                  <a:rPr lang="zh-CN" altLang="en-US" sz="2400" dirty="0"/>
                  <a:t>且在状态转移过程中一直在栈底，去掉后不影响这些动作，因此</a:t>
                </a:r>
                <a14:m>
                  <m:oMath xmlns:m="http://schemas.openxmlformats.org/officeDocument/2006/math">
                    <m:d>
                      <m:dPr>
                        <m:ctrlPr>
                          <a:rPr lang="en-AU" altLang="zh-CN" sz="2400" i="1" dirty="0" smtClean="0">
                            <a:latin typeface="Cambria Math" panose="02040503050406030204" pitchFamily="18" charset="0"/>
                          </a:rPr>
                        </m:ctrlPr>
                      </m:dPr>
                      <m:e>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 </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i="1" dirty="0">
                                <a:latin typeface="Cambria Math" panose="02040503050406030204" pitchFamily="18" charset="0"/>
                              </a:rPr>
                              <m:t>0</m:t>
                            </m:r>
                          </m:sub>
                        </m:sSub>
                      </m:e>
                    </m:d>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b="0" i="1" dirty="0" smtClean="0">
                                <a:solidFill>
                                  <a:schemeClr val="accent6"/>
                                </a:solidFill>
                                <a:latin typeface="Cambria Math" panose="02040503050406030204" pitchFamily="18" charset="0"/>
                              </a:rPr>
                              <m:t>𝐹</m:t>
                            </m:r>
                          </m:sub>
                        </m:sSub>
                      </m:sub>
                      <m:sup>
                        <m:r>
                          <a:rPr lang="en-AU" altLang="zh-CN" sz="2400" i="1" dirty="0">
                            <a:latin typeface="Cambria Math" panose="02040503050406030204" pitchFamily="18" charset="0"/>
                          </a:rPr>
                          <m:t>∗</m:t>
                        </m:r>
                      </m:sup>
                    </m:sSubSup>
                    <m:d>
                      <m:dPr>
                        <m:ctrlPr>
                          <a:rPr lang="en-AU" altLang="zh-CN" sz="2400" i="1" dirty="0">
                            <a:latin typeface="Cambria Math" panose="02040503050406030204" pitchFamily="18" charset="0"/>
                          </a:rPr>
                        </m:ctrlPr>
                      </m:dPr>
                      <m:e>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𝛾</m:t>
                        </m:r>
                      </m:e>
                    </m:d>
                  </m:oMath>
                </a14:m>
                <a:endParaRPr lang="en-AU" altLang="zh-CN" sz="2400" i="1" dirty="0">
                  <a:latin typeface="Cambria Math" panose="02040503050406030204" pitchFamily="18" charset="0"/>
                </a:endParaRPr>
              </a:p>
              <a:p>
                <a14:m>
                  <m:oMath xmlns:m="http://schemas.openxmlformats.org/officeDocument/2006/math">
                    <m:r>
                      <a:rPr lang="en-AU" altLang="zh-CN" sz="2400" i="1" dirty="0" smtClean="0">
                        <a:latin typeface="Cambria Math" panose="02040503050406030204" pitchFamily="18" charset="0"/>
                      </a:rPr>
                      <m:t> </m:t>
                    </m:r>
                  </m:oMath>
                </a14:m>
                <a:r>
                  <a:rPr lang="zh-CN" altLang="en-US" sz="2400" dirty="0"/>
                  <a:t>因此</a:t>
                </a:r>
                <a14:m>
                  <m:oMath xmlns:m="http://schemas.openxmlformats.org/officeDocument/2006/math">
                    <m:r>
                      <a:rPr lang="en-AU" altLang="zh-CN" sz="2400" i="1" smtClean="0">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i="0" smtClean="0">
                        <a:latin typeface="Cambria Math" panose="02040503050406030204" pitchFamily="18" charset="0"/>
                        <a:ea typeface="Cambria Math" panose="02040503050406030204" pitchFamily="18" charset="0"/>
                      </a:rPr>
                      <m:t>𝐋</m:t>
                    </m:r>
                    <m:r>
                      <a:rPr lang="en-AU" altLang="zh-CN" sz="2400" i="1">
                        <a:latin typeface="Cambria Math" panose="02040503050406030204" pitchFamily="18" charset="0"/>
                        <a:ea typeface="Cambria Math" panose="02040503050406030204" pitchFamily="18" charset="0"/>
                      </a:rPr>
                      <m:t>(</m:t>
                    </m:r>
                    <m:sSub>
                      <m:sSubPr>
                        <m:ctrlPr>
                          <a:rPr lang="en-AU" altLang="zh-CN" sz="2400" i="1" smtClean="0">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b="0" i="1" smtClean="0">
                            <a:solidFill>
                              <a:schemeClr val="accent6"/>
                            </a:solidFill>
                            <a:latin typeface="Cambria Math" panose="02040503050406030204" pitchFamily="18" charset="0"/>
                            <a:ea typeface="Cambria Math" panose="02040503050406030204" pitchFamily="18" charset="0"/>
                          </a:rPr>
                          <m:t>𝐹</m:t>
                        </m:r>
                      </m:sub>
                    </m:sSub>
                    <m:r>
                      <a:rPr lang="en-AU" altLang="zh-CN" sz="2400" i="1">
                        <a:latin typeface="Cambria Math" panose="02040503050406030204" pitchFamily="18" charset="0"/>
                        <a:ea typeface="Cambria Math" panose="02040503050406030204" pitchFamily="18" charset="0"/>
                      </a:rPr>
                      <m:t>)</m:t>
                    </m:r>
                  </m:oMath>
                </a14:m>
                <a:r>
                  <a:rPr lang="zh-CN" altLang="en-US" sz="2400" dirty="0"/>
                  <a:t>。</a:t>
                </a:r>
                <a:endParaRPr lang="en-AU" altLang="zh-CN"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558800" y="1166018"/>
                <a:ext cx="8229600" cy="4525963"/>
              </a:xfrm>
              <a:blipFill rotWithShape="1">
                <a:blip r:embed="rId2"/>
                <a:stretch>
                  <a:fillRect t="-3" b="-610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46</a:t>
            </a:fld>
            <a:endParaRPr lang="en-AU"/>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从空栈方式到终态方式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08613" y="1345557"/>
                <a:ext cx="7529332" cy="4525963"/>
              </a:xfrm>
            </p:spPr>
            <p:txBody>
              <a:bodyPr>
                <a:normAutofit/>
              </a:bodyPr>
              <a:lstStyle/>
              <a:p>
                <a:r>
                  <a:rPr lang="zh-CN" altLang="en-US" dirty="0"/>
                  <a:t>定理</a:t>
                </a:r>
                <a:r>
                  <a:rPr lang="en-AU" altLang="zh-CN" dirty="0"/>
                  <a:t>:</a:t>
                </a:r>
                <a:r>
                  <a:rPr lang="zh-CN" altLang="en-US" dirty="0"/>
                  <a:t>如果</a:t>
                </a:r>
                <a:r>
                  <a:rPr lang="en-US" altLang="zh-CN" dirty="0">
                    <a:latin typeface="Times New Roman" panose="02020603050405020304" pitchFamily="18" charset="0"/>
                    <a:cs typeface="Times New Roman" panose="02020603050405020304" pitchFamily="18" charset="0"/>
                  </a:rPr>
                  <a:t>PDA</a:t>
                </a: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𝑃</m:t>
                        </m:r>
                      </m:e>
                      <m:sub>
                        <m:r>
                          <a:rPr lang="en-AU" altLang="zh-CN" b="0" i="1" smtClean="0">
                            <a:latin typeface="Cambria Math" panose="02040503050406030204" pitchFamily="18" charset="0"/>
                          </a:rPr>
                          <m:t>𝑁</m:t>
                        </m:r>
                      </m:sub>
                    </m:sSub>
                  </m:oMath>
                </a14:m>
                <a:r>
                  <a:rPr lang="zh-CN" altLang="en-US" dirty="0"/>
                  <a:t>以空栈方式接受语言</a:t>
                </a:r>
                <a14:m>
                  <m:oMath xmlns:m="http://schemas.openxmlformats.org/officeDocument/2006/math">
                    <m:r>
                      <a:rPr lang="en-US" altLang="zh-CN" i="1" dirty="0" smtClean="0">
                        <a:latin typeface="Cambria Math" panose="02040503050406030204" pitchFamily="18" charset="0"/>
                      </a:rPr>
                      <m:t>𝐿</m:t>
                    </m:r>
                  </m:oMath>
                </a14:m>
                <a:r>
                  <a:rPr lang="en-US" altLang="zh-CN" dirty="0"/>
                  <a:t>, </a:t>
                </a:r>
                <a:r>
                  <a:rPr lang="zh-CN" altLang="en-US" dirty="0"/>
                  <a:t>那么一定存在</a:t>
                </a:r>
                <a:r>
                  <a:rPr lang="en-US" altLang="zh-CN" dirty="0">
                    <a:latin typeface="Times New Roman" panose="02020603050405020304" pitchFamily="18" charset="0"/>
                    <a:cs typeface="Times New Roman" panose="02020603050405020304" pitchFamily="18" charset="0"/>
                  </a:rPr>
                  <a:t>PDA</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𝑃</m:t>
                        </m:r>
                      </m:e>
                      <m:sub>
                        <m:r>
                          <a:rPr lang="en-AU" altLang="zh-CN" b="0" i="1" smtClean="0">
                            <a:latin typeface="Cambria Math" panose="02040503050406030204" pitchFamily="18" charset="0"/>
                          </a:rPr>
                          <m:t>𝐹</m:t>
                        </m:r>
                      </m:sub>
                    </m:sSub>
                  </m:oMath>
                </a14:m>
                <a:r>
                  <a:rPr lang="zh-CN" altLang="en-US" dirty="0"/>
                  <a:t>以终态方式接受</a:t>
                </a:r>
                <a14:m>
                  <m:oMath xmlns:m="http://schemas.openxmlformats.org/officeDocument/2006/math">
                    <m:r>
                      <a:rPr lang="en-AU" altLang="zh-CN" b="0" i="1" smtClean="0">
                        <a:latin typeface="Cambria Math" panose="02040503050406030204" pitchFamily="18" charset="0"/>
                      </a:rPr>
                      <m:t>𝐿</m:t>
                    </m:r>
                  </m:oMath>
                </a14:m>
                <a:r>
                  <a:rPr lang="zh-CN" altLang="en-US" dirty="0"/>
                  <a:t>。</a:t>
                </a:r>
                <a:endParaRPr lang="en-AU" altLang="zh-CN" dirty="0"/>
              </a:p>
              <a:p>
                <a:r>
                  <a:rPr lang="zh-CN" altLang="en-US" dirty="0"/>
                  <a:t>证明思路：</a:t>
                </a:r>
                <a:endParaRPr lang="en-AU" altLang="zh-CN" dirty="0"/>
              </a:p>
              <a:p>
                <a:pPr lvl="1"/>
                <a14:m>
                  <m:oMath xmlns:m="http://schemas.openxmlformats.org/officeDocument/2006/math">
                    <m:sSub>
                      <m:sSubPr>
                        <m:ctrlPr>
                          <a:rPr lang="en-US" altLang="zh-CN" i="1" smtClean="0">
                            <a:latin typeface="Cambria Math" panose="02040503050406030204" pitchFamily="18" charset="0"/>
                          </a:rPr>
                        </m:ctrlPr>
                      </m:sSubPr>
                      <m:e>
                        <m:r>
                          <a:rPr lang="en-AU" altLang="zh-CN" i="1">
                            <a:latin typeface="Cambria Math" panose="02040503050406030204" pitchFamily="18" charset="0"/>
                          </a:rPr>
                          <m:t>𝑃</m:t>
                        </m:r>
                      </m:e>
                      <m:sub>
                        <m:r>
                          <a:rPr lang="en-AU" altLang="zh-CN" b="0" i="1" smtClean="0">
                            <a:latin typeface="Cambria Math" panose="02040503050406030204" pitchFamily="18" charset="0"/>
                          </a:rPr>
                          <m:t>𝐹</m:t>
                        </m:r>
                      </m:sub>
                    </m:sSub>
                  </m:oMath>
                </a14:m>
                <a:r>
                  <a:rPr lang="zh-CN" altLang="en-US" dirty="0"/>
                  <a:t>模拟</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𝑃</m:t>
                        </m:r>
                      </m:e>
                      <m:sub>
                        <m:r>
                          <a:rPr lang="en-AU" altLang="zh-CN" i="1">
                            <a:latin typeface="Cambria Math" panose="02040503050406030204" pitchFamily="18" charset="0"/>
                          </a:rPr>
                          <m:t>𝑁</m:t>
                        </m:r>
                      </m:sub>
                    </m:sSub>
                  </m:oMath>
                </a14:m>
                <a:r>
                  <a:rPr lang="zh-CN" altLang="en-US" dirty="0"/>
                  <a:t>的动作</a:t>
                </a:r>
                <a:endParaRPr lang="en-AU" altLang="zh-CN" i="1" dirty="0">
                  <a:latin typeface="Cambria Math" panose="02040503050406030204" pitchFamily="18" charset="0"/>
                </a:endParaRPr>
              </a:p>
              <a:p>
                <a:pPr lvl="1"/>
                <a14:m>
                  <m:oMath xmlns:m="http://schemas.openxmlformats.org/officeDocument/2006/math">
                    <m:sSub>
                      <m:sSubPr>
                        <m:ctrlPr>
                          <a:rPr lang="en-US" altLang="zh-CN" i="1" smtClean="0">
                            <a:latin typeface="Cambria Math" panose="02040503050406030204" pitchFamily="18" charset="0"/>
                          </a:rPr>
                        </m:ctrlPr>
                      </m:sSubPr>
                      <m:e>
                        <m:r>
                          <a:rPr lang="en-AU" altLang="zh-CN" i="1">
                            <a:latin typeface="Cambria Math" panose="02040503050406030204" pitchFamily="18" charset="0"/>
                          </a:rPr>
                          <m:t>𝑃</m:t>
                        </m:r>
                      </m:e>
                      <m:sub>
                        <m:r>
                          <a:rPr lang="en-AU" altLang="zh-CN" b="0" i="1" smtClean="0">
                            <a:latin typeface="Cambria Math" panose="02040503050406030204" pitchFamily="18" charset="0"/>
                          </a:rPr>
                          <m:t>𝐹</m:t>
                        </m:r>
                      </m:sub>
                    </m:sSub>
                  </m:oMath>
                </a14:m>
                <a:r>
                  <a:rPr lang="zh-CN" altLang="en-US" dirty="0"/>
                  <a:t>通过一个特殊的栈底符号</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0</m:t>
                        </m:r>
                      </m:sub>
                    </m:sSub>
                  </m:oMath>
                </a14:m>
                <a:r>
                  <a:rPr lang="zh-CN" altLang="en-US" dirty="0"/>
                  <a:t>来指示</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𝑃</m:t>
                        </m:r>
                      </m:e>
                      <m:sub>
                        <m:r>
                          <a:rPr lang="en-AU" altLang="zh-CN" i="1">
                            <a:latin typeface="Cambria Math" panose="02040503050406030204" pitchFamily="18" charset="0"/>
                          </a:rPr>
                          <m:t>𝑁</m:t>
                        </m:r>
                      </m:sub>
                    </m:sSub>
                  </m:oMath>
                </a14:m>
                <a:r>
                  <a:rPr lang="zh-CN" altLang="en-US" dirty="0"/>
                  <a:t>栈是否清空</a:t>
                </a:r>
                <a:endParaRPr lang="en-AU" altLang="zh-CN" dirty="0"/>
              </a:p>
              <a:p>
                <a:pPr lvl="1"/>
                <a:r>
                  <a:rPr lang="zh-CN" altLang="en-US" dirty="0"/>
                  <a:t>若</a:t>
                </a:r>
                <a14:m>
                  <m:oMath xmlns:m="http://schemas.openxmlformats.org/officeDocument/2006/math">
                    <m:sSub>
                      <m:sSubPr>
                        <m:ctrlPr>
                          <a:rPr lang="en-US" altLang="zh-CN" i="1" smtClean="0">
                            <a:latin typeface="Cambria Math" panose="02040503050406030204" pitchFamily="18" charset="0"/>
                          </a:rPr>
                        </m:ctrlPr>
                      </m:sSubPr>
                      <m:e>
                        <m:r>
                          <a:rPr lang="en-AU" altLang="zh-CN" i="1">
                            <a:latin typeface="Cambria Math" panose="02040503050406030204" pitchFamily="18" charset="0"/>
                          </a:rPr>
                          <m:t>𝑃</m:t>
                        </m:r>
                      </m:e>
                      <m:sub>
                        <m:r>
                          <a:rPr lang="en-AU" altLang="zh-CN" i="1">
                            <a:latin typeface="Cambria Math" panose="02040503050406030204" pitchFamily="18" charset="0"/>
                          </a:rPr>
                          <m:t>𝑁</m:t>
                        </m:r>
                      </m:sub>
                    </m:sSub>
                  </m:oMath>
                </a14:m>
                <a:r>
                  <a:rPr lang="zh-CN" altLang="en-US" dirty="0"/>
                  <a:t>栈清空，则</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𝑃</m:t>
                        </m:r>
                      </m:e>
                      <m:sub>
                        <m:r>
                          <a:rPr lang="en-AU" altLang="zh-CN" i="1">
                            <a:latin typeface="Cambria Math" panose="02040503050406030204" pitchFamily="18" charset="0"/>
                          </a:rPr>
                          <m:t>𝐹</m:t>
                        </m:r>
                      </m:sub>
                    </m:sSub>
                  </m:oMath>
                </a14:m>
                <a:r>
                  <a:rPr lang="zh-CN" altLang="en-US" dirty="0"/>
                  <a:t>进入接受状态</a:t>
                </a:r>
                <a:endParaRPr lang="en-AU" altLang="zh-CN" dirty="0"/>
              </a:p>
              <a:p>
                <a:pPr lvl="1"/>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908613" y="1345557"/>
                <a:ext cx="7529332" cy="4525963"/>
              </a:xfrm>
              <a:blipFill rotWithShape="1">
                <a:blip r:embed="rId2"/>
                <a:stretch>
                  <a:fillRect l="-7" t="-14" r="1"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47</a:t>
            </a:fld>
            <a:endParaRPr lang="en-AU"/>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从空栈方式到终态方式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4200" y="990601"/>
                <a:ext cx="8229600" cy="3594100"/>
              </a:xfrm>
            </p:spPr>
            <p:txBody>
              <a:bodyPr>
                <a:noAutofit/>
              </a:bodyPr>
              <a:lstStyle/>
              <a:p>
                <a:r>
                  <a:rPr lang="zh-CN" altLang="en-US" sz="2400" dirty="0"/>
                  <a:t>定理</a:t>
                </a:r>
                <a:r>
                  <a:rPr lang="en-AU" altLang="zh-CN" sz="2400" dirty="0"/>
                  <a:t>:</a:t>
                </a:r>
                <a:r>
                  <a:rPr lang="zh-CN" altLang="en-US" sz="2400" dirty="0"/>
                  <a:t>如果</a:t>
                </a:r>
                <a:r>
                  <a:rPr lang="en-US" altLang="zh-CN" sz="2400" dirty="0">
                    <a:latin typeface="Times New Roman" panose="02020603050405020304" pitchFamily="18" charset="0"/>
                    <a:cs typeface="Times New Roman" panose="02020603050405020304" pitchFamily="18" charset="0"/>
                  </a:rPr>
                  <a:t>PDA</a:t>
                </a:r>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𝑃</m:t>
                        </m:r>
                      </m:e>
                      <m:sub>
                        <m:r>
                          <a:rPr lang="en-AU" altLang="zh-CN" sz="2400" b="0" i="1" smtClean="0">
                            <a:latin typeface="Cambria Math" panose="02040503050406030204" pitchFamily="18" charset="0"/>
                          </a:rPr>
                          <m:t>𝑁</m:t>
                        </m:r>
                      </m:sub>
                    </m:sSub>
                  </m:oMath>
                </a14:m>
                <a:r>
                  <a:rPr lang="zh-CN" altLang="en-US" sz="2400" dirty="0"/>
                  <a:t>以空栈方式接受语言</a:t>
                </a:r>
                <a14:m>
                  <m:oMath xmlns:m="http://schemas.openxmlformats.org/officeDocument/2006/math">
                    <m:r>
                      <a:rPr lang="en-US" altLang="zh-CN" sz="2400" i="1" dirty="0" smtClean="0">
                        <a:latin typeface="Cambria Math" panose="02040503050406030204" pitchFamily="18" charset="0"/>
                      </a:rPr>
                      <m:t>𝐿</m:t>
                    </m:r>
                  </m:oMath>
                </a14:m>
                <a:r>
                  <a:rPr lang="en-US" altLang="zh-CN" sz="2400" dirty="0"/>
                  <a:t>, </a:t>
                </a:r>
                <a:r>
                  <a:rPr lang="zh-CN" altLang="en-US" sz="2400" dirty="0"/>
                  <a:t>那么</a:t>
                </a:r>
              </a:p>
              <a:p>
                <a:pPr marL="0" indent="0">
                  <a:buNone/>
                </a:pPr>
                <a:r>
                  <a:rPr lang="zh-CN" altLang="en-US" sz="2400" dirty="0"/>
                  <a:t>一定存在</a:t>
                </a:r>
                <a:r>
                  <a:rPr lang="en-US" altLang="zh-CN" sz="2400" dirty="0">
                    <a:latin typeface="Times New Roman" panose="02020603050405020304" pitchFamily="18" charset="0"/>
                    <a:cs typeface="Times New Roman" panose="02020603050405020304" pitchFamily="18" charset="0"/>
                  </a:rPr>
                  <a:t>PDA</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𝐹</m:t>
                        </m:r>
                      </m:sub>
                    </m:sSub>
                  </m:oMath>
                </a14:m>
                <a:r>
                  <a:rPr lang="zh-CN" altLang="en-US" sz="2400" dirty="0"/>
                  <a:t>以终态方式接受</a:t>
                </a:r>
                <a14:m>
                  <m:oMath xmlns:m="http://schemas.openxmlformats.org/officeDocument/2006/math">
                    <m:r>
                      <a:rPr lang="en-AU" altLang="zh-CN" sz="2400" b="0" i="1" smtClean="0">
                        <a:latin typeface="Cambria Math" panose="02040503050406030204" pitchFamily="18" charset="0"/>
                      </a:rPr>
                      <m:t>𝐿</m:t>
                    </m:r>
                  </m:oMath>
                </a14:m>
                <a:r>
                  <a:rPr lang="zh-CN" altLang="en-US" sz="2400" dirty="0"/>
                  <a:t>。</a:t>
                </a:r>
                <a:endParaRPr lang="en-AU" altLang="zh-CN" sz="2400" dirty="0"/>
              </a:p>
              <a:p>
                <a:r>
                  <a:rPr lang="zh-CN" altLang="en-US" sz="2400" dirty="0"/>
                  <a:t>证明</a:t>
                </a:r>
                <a:r>
                  <a:rPr lang="en-AU" altLang="zh-CN" sz="2400" dirty="0"/>
                  <a:t>:</a:t>
                </a:r>
                <a:r>
                  <a:rPr lang="zh-CN" altLang="en-US" sz="2400" dirty="0"/>
                  <a:t>设</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US" altLang="zh-CN" sz="2400" b="0" i="1" dirty="0" smtClean="0">
                            <a:latin typeface="Cambria Math" panose="02040503050406030204" pitchFamily="18" charset="0"/>
                          </a:rPr>
                          <m:t>𝑁</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m:t>
                    </m:r>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i="1" dirty="0">
                            <a:latin typeface="Cambria Math" panose="02040503050406030204" pitchFamily="18" charset="0"/>
                          </a:rPr>
                          <m:t>𝑁</m:t>
                        </m:r>
                      </m:sub>
                    </m:sSub>
                    <m:sSub>
                      <m:sSubPr>
                        <m:ctrlPr>
                          <a:rPr lang="en-AU"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𝑍</m:t>
                        </m:r>
                      </m:e>
                      <m:sub>
                        <m:r>
                          <a:rPr lang="en-US" altLang="zh-CN" sz="2400" b="0" i="1" dirty="0" smtClean="0">
                            <a:latin typeface="Cambria Math" panose="02040503050406030204" pitchFamily="18" charset="0"/>
                          </a:rPr>
                          <m:t>0</m:t>
                        </m:r>
                      </m:sub>
                    </m:sSub>
                    <m:r>
                      <a:rPr lang="en-US" altLang="zh-CN" sz="2400" b="0" i="1" dirty="0" smtClean="0">
                        <a:latin typeface="Cambria Math" panose="02040503050406030204" pitchFamily="18" charset="0"/>
                      </a:rPr>
                      <m:t>,</m:t>
                    </m:r>
                    <m:r>
                      <a:rPr lang="en-AU" altLang="zh-CN" sz="2400" i="1" dirty="0">
                        <a:latin typeface="Cambria Math" panose="02040503050406030204" pitchFamily="18" charset="0"/>
                      </a:rPr>
                      <m:t>∅</m:t>
                    </m:r>
                    <m:r>
                      <a:rPr lang="en-AU" altLang="zh-CN" sz="2400" i="1" dirty="0" smtClean="0">
                        <a:latin typeface="Cambria Math" panose="02040503050406030204" pitchFamily="18" charset="0"/>
                      </a:rPr>
                      <m:t>), </m:t>
                    </m:r>
                  </m:oMath>
                </a14:m>
                <a:r>
                  <a:rPr lang="zh-CN" altLang="en-US" sz="2400" dirty="0"/>
                  <a:t>构造</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US" altLang="zh-CN" sz="2400" b="0" i="1" dirty="0" smtClean="0">
                            <a:latin typeface="Cambria Math" panose="02040503050406030204" pitchFamily="18" charset="0"/>
                          </a:rPr>
                          <m:t>𝐹</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m:t>
                    </m:r>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𝑝</m:t>
                        </m:r>
                      </m:e>
                      <m:sub>
                        <m:r>
                          <a:rPr lang="en-AU" altLang="zh-CN" sz="2400" b="0" i="1" dirty="0" smtClean="0">
                            <a:solidFill>
                              <a:srgbClr val="0070C0"/>
                            </a:solidFill>
                            <a:latin typeface="Cambria Math" panose="02040503050406030204" pitchFamily="18" charset="0"/>
                          </a:rPr>
                          <m:t>0</m:t>
                        </m:r>
                      </m:sub>
                    </m:sSub>
                    <m:r>
                      <a:rPr lang="en-AU" altLang="zh-CN" sz="2400" i="1" dirty="0" smtClean="0">
                        <a:solidFill>
                          <a:srgbClr val="0070C0"/>
                        </a:solidFill>
                        <a:latin typeface="Cambria Math" panose="02040503050406030204" pitchFamily="18" charset="0"/>
                      </a:rPr>
                      <m:t>, </m:t>
                    </m:r>
                    <m:sSub>
                      <m:sSubPr>
                        <m:ctrlPr>
                          <a:rPr lang="en-AU" altLang="zh-CN" sz="2400" i="1" dirty="0" smtClean="0">
                            <a:solidFill>
                              <a:srgbClr val="0070C0"/>
                            </a:solidFill>
                            <a:latin typeface="Cambria Math" panose="02040503050406030204" pitchFamily="18" charset="0"/>
                          </a:rPr>
                        </m:ctrlPr>
                      </m:sSubPr>
                      <m:e>
                        <m:r>
                          <a:rPr lang="en-US" altLang="zh-CN" sz="2400" b="0" i="1" dirty="0" smtClean="0">
                            <a:solidFill>
                              <a:srgbClr val="0070C0"/>
                            </a:solidFill>
                            <a:latin typeface="Cambria Math" panose="02040503050406030204" pitchFamily="18" charset="0"/>
                          </a:rPr>
                          <m:t>𝑝</m:t>
                        </m:r>
                      </m:e>
                      <m:sub>
                        <m:r>
                          <a:rPr lang="en-US" altLang="zh-CN" sz="2400" b="0" i="1" dirty="0" smtClean="0">
                            <a:solidFill>
                              <a:srgbClr val="0070C0"/>
                            </a:solidFill>
                            <a:latin typeface="Cambria Math" panose="02040503050406030204" pitchFamily="18" charset="0"/>
                          </a:rPr>
                          <m:t>𝑓</m:t>
                        </m:r>
                      </m:sub>
                    </m:sSub>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 {</m:t>
                    </m:r>
                    <m:sSub>
                      <m:sSubPr>
                        <m:ctrlPr>
                          <a:rPr lang="el-GR"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𝑋</m:t>
                        </m:r>
                      </m:e>
                      <m:sub>
                        <m:r>
                          <a:rPr lang="en-AU" altLang="zh-CN" sz="2400" b="0" i="1" dirty="0" smtClean="0">
                            <a:solidFill>
                              <a:srgbClr val="0070C0"/>
                            </a:solidFill>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US" sz="2400" b="0" i="1" dirty="0" smtClean="0">
                            <a:latin typeface="Cambria Math" panose="02040503050406030204" pitchFamily="18" charset="0"/>
                          </a:rPr>
                          <m:t>𝐹</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𝑝</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𝑋</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n-US" altLang="zh-CN"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US" altLang="zh-CN" sz="2400" i="1" dirty="0">
                            <a:latin typeface="Cambria Math" panose="02040503050406030204" pitchFamily="18" charset="0"/>
                          </a:rPr>
                          <m:t>𝑝</m:t>
                        </m:r>
                      </m:e>
                      <m:sub>
                        <m:r>
                          <a:rPr lang="en-US" altLang="zh-CN" sz="2400" i="1" dirty="0">
                            <a:latin typeface="Cambria Math" panose="02040503050406030204" pitchFamily="18" charset="0"/>
                          </a:rPr>
                          <m:t>𝑓</m:t>
                        </m:r>
                      </m:sub>
                    </m:sSub>
                    <m:r>
                      <a:rPr lang="en-US" altLang="zh-CN" sz="2400" b="0" i="1" dirty="0" smtClean="0">
                        <a:latin typeface="Cambria Math" panose="02040503050406030204" pitchFamily="18" charset="0"/>
                      </a:rPr>
                      <m:t>}</m:t>
                    </m:r>
                    <m:r>
                      <a:rPr lang="en-AU" altLang="zh-CN" sz="2400" i="1" dirty="0" smtClean="0">
                        <a:latin typeface="Cambria Math" panose="02040503050406030204" pitchFamily="18" charset="0"/>
                      </a:rPr>
                      <m:t>)</m:t>
                    </m:r>
                  </m:oMath>
                </a14:m>
                <a:endParaRPr lang="en-AU" altLang="zh-CN" sz="2400" dirty="0"/>
              </a:p>
              <a:p>
                <a:pPr lvl="1"/>
                <a:r>
                  <a:rPr lang="zh-CN" altLang="en-US" sz="2400" dirty="0"/>
                  <a:t>新增一个开始状态</a:t>
                </a:r>
                <a14:m>
                  <m:oMath xmlns:m="http://schemas.openxmlformats.org/officeDocument/2006/math">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𝑝</m:t>
                        </m:r>
                      </m:e>
                      <m:sub>
                        <m:r>
                          <a:rPr lang="en-AU" altLang="zh-CN" sz="2400" b="0" i="1" dirty="0" smtClean="0">
                            <a:solidFill>
                              <a:srgbClr val="0070C0"/>
                            </a:solidFill>
                            <a:latin typeface="Cambria Math" panose="02040503050406030204" pitchFamily="18" charset="0"/>
                          </a:rPr>
                          <m:t>0</m:t>
                        </m:r>
                      </m:sub>
                    </m:sSub>
                  </m:oMath>
                </a14:m>
                <a:r>
                  <a:rPr lang="zh-CN" altLang="en-US" sz="2400" dirty="0"/>
                  <a:t>和接受状态</a:t>
                </a:r>
                <a14:m>
                  <m:oMath xmlns:m="http://schemas.openxmlformats.org/officeDocument/2006/math">
                    <m:sSub>
                      <m:sSubPr>
                        <m:ctrlPr>
                          <a:rPr lang="en-AU" altLang="zh-CN" sz="2400" i="1" dirty="0">
                            <a:solidFill>
                              <a:srgbClr val="0070C0"/>
                            </a:solidFill>
                            <a:latin typeface="Cambria Math" panose="02040503050406030204" pitchFamily="18" charset="0"/>
                          </a:rPr>
                        </m:ctrlPr>
                      </m:sSubPr>
                      <m:e>
                        <m:r>
                          <a:rPr lang="en-US" altLang="zh-CN" sz="2400" i="1" dirty="0">
                            <a:solidFill>
                              <a:srgbClr val="0070C0"/>
                            </a:solidFill>
                            <a:latin typeface="Cambria Math" panose="02040503050406030204" pitchFamily="18" charset="0"/>
                          </a:rPr>
                          <m:t>𝑝</m:t>
                        </m:r>
                      </m:e>
                      <m:sub>
                        <m:r>
                          <a:rPr lang="en-US" altLang="zh-CN" sz="2400" i="1" dirty="0">
                            <a:solidFill>
                              <a:srgbClr val="0070C0"/>
                            </a:solidFill>
                            <a:latin typeface="Cambria Math" panose="02040503050406030204" pitchFamily="18" charset="0"/>
                          </a:rPr>
                          <m:t>𝑓</m:t>
                        </m:r>
                      </m:sub>
                    </m:sSub>
                  </m:oMath>
                </a14:m>
                <a:endParaRPr lang="en-AU" altLang="zh-CN" sz="2400" dirty="0"/>
              </a:p>
              <a:p>
                <a:pPr lvl="1"/>
                <a:r>
                  <a:rPr lang="zh-CN" altLang="en-US" sz="2400" dirty="0"/>
                  <a:t>新增一个栈符号</a:t>
                </a:r>
                <a14:m>
                  <m:oMath xmlns:m="http://schemas.openxmlformats.org/officeDocument/2006/math">
                    <m:sSub>
                      <m:sSubPr>
                        <m:ctrlPr>
                          <a:rPr lang="el-GR"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𝑋</m:t>
                        </m:r>
                      </m:e>
                      <m:sub>
                        <m:r>
                          <a:rPr lang="en-AU" altLang="zh-CN" sz="2400" b="0" i="1" dirty="0" smtClean="0">
                            <a:solidFill>
                              <a:srgbClr val="0070C0"/>
                            </a:solidFill>
                            <a:latin typeface="Cambria Math" panose="02040503050406030204" pitchFamily="18" charset="0"/>
                          </a:rPr>
                          <m:t>0</m:t>
                        </m:r>
                      </m:sub>
                    </m:sSub>
                  </m:oMath>
                </a14:m>
                <a:endParaRPr lang="en-AU" altLang="zh-CN" sz="2400" dirty="0"/>
              </a:p>
              <a:p>
                <a:pPr lvl="1"/>
                <a:r>
                  <a:rPr lang="zh-CN" altLang="en-US" sz="2400" dirty="0"/>
                  <a:t>相较</a:t>
                </a:r>
                <a14:m>
                  <m:oMath xmlns:m="http://schemas.openxmlformats.org/officeDocument/2006/math">
                    <m:sSub>
                      <m:sSubPr>
                        <m:ctrlPr>
                          <a:rPr lang="el-GR" sz="2400" i="1" dirty="0" smtClean="0">
                            <a:latin typeface="Cambria Math" panose="02040503050406030204" pitchFamily="18" charset="0"/>
                          </a:rPr>
                        </m:ctrlPr>
                      </m:sSubPr>
                      <m:e>
                        <m:r>
                          <a:rPr lang="el-GR" sz="2400" i="1" dirty="0">
                            <a:latin typeface="Cambria Math" panose="02040503050406030204" pitchFamily="18" charset="0"/>
                          </a:rPr>
                          <m:t>𝛿</m:t>
                        </m:r>
                      </m:e>
                      <m:sub>
                        <m:r>
                          <a:rPr lang="en-AU" sz="2400" i="1" dirty="0">
                            <a:latin typeface="Cambria Math" panose="02040503050406030204" pitchFamily="18" charset="0"/>
                          </a:rPr>
                          <m:t>𝑁</m:t>
                        </m:r>
                      </m:sub>
                    </m:sSub>
                  </m:oMath>
                </a14:m>
                <a:r>
                  <a:rPr lang="en-AU" sz="2400" dirty="0"/>
                  <a:t>,</a:t>
                </a:r>
                <a14:m>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US" sz="2400" i="1" dirty="0">
                            <a:latin typeface="Cambria Math" panose="02040503050406030204" pitchFamily="18" charset="0"/>
                          </a:rPr>
                          <m:t>𝐹</m:t>
                        </m:r>
                      </m:sub>
                    </m:sSub>
                  </m:oMath>
                </a14:m>
                <a:r>
                  <a:rPr lang="zh-CN" altLang="en-US" sz="2400" dirty="0"/>
                  <a:t>增加了</a:t>
                </a:r>
                <a14:m>
                  <m:oMath xmlns:m="http://schemas.openxmlformats.org/officeDocument/2006/math">
                    <m:r>
                      <a:rPr lang="en-AU" sz="2400" b="0" i="0" dirty="0" smtClean="0">
                        <a:latin typeface="Cambria Math" panose="02040503050406030204" pitchFamily="18" charset="0"/>
                      </a:rPr>
                      <m:t>:</m:t>
                    </m:r>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US" sz="2400" i="1" dirty="0">
                            <a:latin typeface="Cambria Math" panose="02040503050406030204" pitchFamily="18" charset="0"/>
                          </a:rPr>
                          <m:t>𝐹</m:t>
                        </m:r>
                      </m:sub>
                    </m:sSub>
                    <m:d>
                      <m:dPr>
                        <m:ctrlPr>
                          <a:rPr lang="en-AU" sz="2400" b="0" i="1" dirty="0" smtClean="0">
                            <a:latin typeface="Cambria Math" panose="02040503050406030204" pitchFamily="18" charset="0"/>
                          </a:rPr>
                        </m:ctrlPr>
                      </m:dPr>
                      <m:e>
                        <m:sSub>
                          <m:sSubPr>
                            <m:ctrlPr>
                              <a:rPr lang="en-AU"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𝑝</m:t>
                            </m:r>
                          </m:e>
                          <m:sub>
                            <m:r>
                              <a:rPr lang="en-AU" altLang="zh-CN" sz="2400" i="1" dirty="0">
                                <a:solidFill>
                                  <a:srgbClr val="0070C0"/>
                                </a:solidFill>
                                <a:latin typeface="Cambria Math" panose="02040503050406030204" pitchFamily="18" charset="0"/>
                              </a:rPr>
                              <m:t>0</m:t>
                            </m:r>
                          </m:sub>
                        </m:sSub>
                        <m:r>
                          <a:rPr lang="en-AU" altLang="zh-CN" sz="2400" b="0" i="1" dirty="0" smtClean="0">
                            <a:solidFill>
                              <a:srgbClr val="0070C0"/>
                            </a:solidFill>
                            <a:latin typeface="Cambria Math" panose="02040503050406030204" pitchFamily="18" charset="0"/>
                          </a:rPr>
                          <m:t>,</m:t>
                        </m:r>
                        <m:r>
                          <a:rPr lang="zh-CN" altLang="en-AU" sz="2400" b="0" i="1" dirty="0" smtClean="0">
                            <a:solidFill>
                              <a:schemeClr val="tx1"/>
                            </a:solidFill>
                            <a:latin typeface="Cambria Math" panose="02040503050406030204" pitchFamily="18" charset="0"/>
                          </a:rPr>
                          <m:t>𝜀</m:t>
                        </m:r>
                        <m:r>
                          <a:rPr lang="en-AU" altLang="zh-CN" sz="2400" b="0" i="1" dirty="0" smtClean="0">
                            <a:solidFill>
                              <a:srgbClr val="0070C0"/>
                            </a:solidFill>
                            <a:latin typeface="Cambria Math" panose="02040503050406030204" pitchFamily="18" charset="0"/>
                          </a:rPr>
                          <m:t>,</m:t>
                        </m:r>
                        <m:sSub>
                          <m:sSubPr>
                            <m:ctrlPr>
                              <a:rPr lang="el-GR"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𝑋</m:t>
                            </m:r>
                          </m:e>
                          <m:sub>
                            <m:r>
                              <a:rPr lang="en-AU" altLang="zh-CN" sz="2400" i="1" dirty="0">
                                <a:solidFill>
                                  <a:srgbClr val="0070C0"/>
                                </a:solidFill>
                                <a:latin typeface="Cambria Math" panose="02040503050406030204" pitchFamily="18" charset="0"/>
                              </a:rPr>
                              <m:t>0</m:t>
                            </m:r>
                          </m:sub>
                        </m:sSub>
                      </m:e>
                    </m:d>
                    <m:r>
                      <a:rPr lang="en-AU"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i="1" dirty="0">
                            <a:latin typeface="Cambria Math" panose="02040503050406030204" pitchFamily="18" charset="0"/>
                          </a:rPr>
                          <m:t>0</m:t>
                        </m:r>
                      </m:sub>
                    </m:sSub>
                    <m:r>
                      <a:rPr lang="en-AU" altLang="zh-CN"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US" altLang="zh-CN" sz="2400" i="1" dirty="0">
                            <a:latin typeface="Cambria Math" panose="02040503050406030204" pitchFamily="18" charset="0"/>
                          </a:rPr>
                          <m:t>𝑍</m:t>
                        </m:r>
                      </m:e>
                      <m:sub>
                        <m:r>
                          <a:rPr lang="en-US" altLang="zh-CN" sz="2400" i="1" dirty="0">
                            <a:latin typeface="Cambria Math" panose="02040503050406030204" pitchFamily="18" charset="0"/>
                          </a:rPr>
                          <m:t>0</m:t>
                        </m:r>
                      </m:sub>
                    </m:sSub>
                    <m:sSub>
                      <m:sSubPr>
                        <m:ctrlPr>
                          <a:rPr lang="el-GR"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𝑋</m:t>
                        </m:r>
                      </m:e>
                      <m:sub>
                        <m:r>
                          <a:rPr lang="en-AU" altLang="zh-CN" sz="2400" i="1" dirty="0">
                            <a:solidFill>
                              <a:srgbClr val="0070C0"/>
                            </a:solidFill>
                            <a:latin typeface="Cambria Math" panose="02040503050406030204" pitchFamily="18" charset="0"/>
                          </a:rPr>
                          <m:t>0</m:t>
                        </m:r>
                      </m:sub>
                    </m:sSub>
                    <m:r>
                      <a:rPr lang="en-AU" sz="2400" b="0" i="1" dirty="0" smtClean="0">
                        <a:latin typeface="Cambria Math" panose="02040503050406030204" pitchFamily="18" charset="0"/>
                      </a:rPr>
                      <m:t>)}</m:t>
                    </m:r>
                  </m:oMath>
                </a14:m>
                <a:r>
                  <a:rPr lang="zh-CN" altLang="en-US" sz="2400" dirty="0"/>
                  <a:t>（启动</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r>
                      <a:rPr lang="en-AU" altLang="zh-CN" sz="2400" i="1">
                        <a:latin typeface="Cambria Math" panose="02040503050406030204" pitchFamily="18" charset="0"/>
                      </a:rPr>
                      <m:t> </m:t>
                    </m:r>
                  </m:oMath>
                </a14:m>
                <a:r>
                  <a:rPr lang="zh-CN" altLang="en-US" sz="2400" dirty="0"/>
                  <a:t>）和</a:t>
                </a:r>
                <a14:m>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US" sz="2400" i="1" dirty="0">
                            <a:latin typeface="Cambria Math" panose="02040503050406030204" pitchFamily="18" charset="0"/>
                          </a:rPr>
                          <m:t>𝐹</m:t>
                        </m:r>
                      </m:sub>
                    </m:sSub>
                    <m:d>
                      <m:dPr>
                        <m:ctrlPr>
                          <a:rPr lang="en-AU" sz="2400" i="1" dirty="0">
                            <a:latin typeface="Cambria Math" panose="02040503050406030204" pitchFamily="18" charset="0"/>
                          </a:rPr>
                        </m:ctrlPr>
                      </m:dPr>
                      <m:e>
                        <m:r>
                          <a:rPr lang="en-AU" sz="2400" b="0" i="1" dirty="0" smtClean="0">
                            <a:latin typeface="Cambria Math" panose="02040503050406030204" pitchFamily="18" charset="0"/>
                          </a:rPr>
                          <m:t>𝑞</m:t>
                        </m:r>
                        <m:r>
                          <a:rPr lang="en-AU" altLang="zh-CN" sz="2400" i="1" dirty="0" smtClean="0">
                            <a:solidFill>
                              <a:schemeClr val="tx1"/>
                            </a:solidFill>
                            <a:latin typeface="Cambria Math" panose="02040503050406030204" pitchFamily="18" charset="0"/>
                          </a:rPr>
                          <m:t>,</m:t>
                        </m:r>
                        <m:r>
                          <a:rPr lang="zh-CN" altLang="en-AU" sz="2400" i="1" dirty="0">
                            <a:latin typeface="Cambria Math" panose="02040503050406030204" pitchFamily="18" charset="0"/>
                          </a:rPr>
                          <m:t>𝜀</m:t>
                        </m:r>
                        <m:r>
                          <a:rPr lang="en-AU" altLang="zh-CN" sz="2400" i="1" dirty="0" smtClean="0">
                            <a:solidFill>
                              <a:schemeClr val="tx1"/>
                            </a:solidFill>
                            <a:latin typeface="Cambria Math" panose="02040503050406030204" pitchFamily="18" charset="0"/>
                          </a:rPr>
                          <m:t>,</m:t>
                        </m:r>
                        <m:sSub>
                          <m:sSubPr>
                            <m:ctrlPr>
                              <a:rPr lang="el-GR"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𝑋</m:t>
                            </m:r>
                          </m:e>
                          <m:sub>
                            <m:r>
                              <a:rPr lang="en-AU" altLang="zh-CN" sz="2400" i="1" dirty="0">
                                <a:solidFill>
                                  <a:srgbClr val="0070C0"/>
                                </a:solidFill>
                                <a:latin typeface="Cambria Math" panose="02040503050406030204" pitchFamily="18" charset="0"/>
                              </a:rPr>
                              <m:t>0</m:t>
                            </m:r>
                          </m:sub>
                        </m:sSub>
                      </m:e>
                    </m:d>
                    <m:r>
                      <a:rPr lang="en-AU" sz="2400" i="1" dirty="0">
                        <a:latin typeface="Cambria Math" panose="02040503050406030204" pitchFamily="18" charset="0"/>
                      </a:rPr>
                      <m:t>={(</m:t>
                    </m:r>
                    <m:sSub>
                      <m:sSubPr>
                        <m:ctrlPr>
                          <a:rPr lang="en-AU"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𝑝</m:t>
                        </m:r>
                      </m:e>
                      <m:sub>
                        <m:r>
                          <a:rPr lang="en-AU" altLang="zh-CN" sz="2400" b="0" i="1" dirty="0" smtClean="0">
                            <a:solidFill>
                              <a:srgbClr val="0070C0"/>
                            </a:solidFill>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sz="2400" i="1" dirty="0">
                        <a:latin typeface="Cambria Math" panose="02040503050406030204" pitchFamily="18" charset="0"/>
                      </a:rPr>
                      <m:t>)}</m:t>
                    </m:r>
                  </m:oMath>
                </a14:m>
                <a:r>
                  <a:rPr lang="zh-CN" altLang="en-US" sz="2400" dirty="0"/>
                  <a:t>（</a:t>
                </a:r>
                <a14:m>
                  <m:oMath xmlns:m="http://schemas.openxmlformats.org/officeDocument/2006/math">
                    <m:r>
                      <a:rPr lang="en-AU" sz="2400" i="1" dirty="0">
                        <a:latin typeface="Cambria Math" panose="02040503050406030204" pitchFamily="18" charset="0"/>
                      </a:rPr>
                      <m:t>𝑞</m:t>
                    </m:r>
                    <m:r>
                      <a:rPr lang="en-AU" sz="2400" i="1" dirty="0">
                        <a:latin typeface="Cambria Math" panose="02040503050406030204" pitchFamily="18" charset="0"/>
                      </a:rPr>
                      <m:t> </m:t>
                    </m:r>
                  </m:oMath>
                </a14:m>
                <a:r>
                  <a:rPr lang="zh-CN" altLang="en-US" sz="2400" dirty="0"/>
                  <a:t>为</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r>
                      <a:rPr lang="en-AU" altLang="zh-CN" sz="2400" i="1">
                        <a:latin typeface="Cambria Math" panose="02040503050406030204" pitchFamily="18" charset="0"/>
                      </a:rPr>
                      <m:t> </m:t>
                    </m:r>
                  </m:oMath>
                </a14:m>
                <a:r>
                  <a:rPr lang="zh-CN" altLang="en-US" sz="2400" dirty="0"/>
                  <a:t>中的任一状态）</a:t>
                </a:r>
                <a:endParaRPr lang="en-AU" altLang="zh-CN" sz="2400" dirty="0"/>
              </a:p>
              <a:p>
                <a:pPr lvl="1"/>
                <a:endParaRPr lang="en-AU" altLang="zh-CN"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584200" y="990601"/>
                <a:ext cx="8229600" cy="3594100"/>
              </a:xfrm>
              <a:blipFill rotWithShape="1">
                <a:blip r:embed="rId3"/>
                <a:stretch>
                  <a:fillRect r="-2461" b="-726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48</a:t>
            </a:fld>
            <a:endParaRPr lang="en-AU"/>
          </a:p>
        </p:txBody>
      </p:sp>
      <p:pic>
        <p:nvPicPr>
          <p:cNvPr id="6" name="Picture 5"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662" y="4826169"/>
            <a:ext cx="5786675" cy="171274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从空栈方式到终态方式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16918" y="3630201"/>
                <a:ext cx="8229600" cy="2549184"/>
              </a:xfrm>
            </p:spPr>
            <p:txBody>
              <a:bodyPr>
                <a:normAutofit lnSpcReduction="10000"/>
              </a:bodyPr>
              <a:lstStyle/>
              <a:p>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𝑃</m:t>
                        </m:r>
                      </m:e>
                      <m:sub>
                        <m:r>
                          <a:rPr lang="en-US" altLang="zh-CN" sz="2400" b="0" i="1" smtClean="0">
                            <a:latin typeface="Cambria Math" panose="02040503050406030204" pitchFamily="18" charset="0"/>
                          </a:rPr>
                          <m:t>𝐹</m:t>
                        </m:r>
                      </m:sub>
                    </m:sSub>
                  </m:oMath>
                </a14:m>
                <a:r>
                  <a:rPr lang="zh-CN" altLang="en-US" sz="2400" dirty="0"/>
                  <a:t>开始时，将</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𝑁</m:t>
                        </m:r>
                      </m:sub>
                    </m:sSub>
                  </m:oMath>
                </a14:m>
                <a:r>
                  <a:rPr lang="zh-CN" altLang="en-US" sz="2400" dirty="0"/>
                  <a:t>栈底符号</a:t>
                </a:r>
                <a14:m>
                  <m:oMath xmlns:m="http://schemas.openxmlformats.org/officeDocument/2006/math">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𝑍</m:t>
                        </m:r>
                      </m:e>
                      <m:sub>
                        <m:r>
                          <a:rPr lang="en-AU" sz="2400" i="1" dirty="0">
                            <a:latin typeface="Cambria Math" panose="02040503050406030204" pitchFamily="18" charset="0"/>
                          </a:rPr>
                          <m:t>0</m:t>
                        </m:r>
                      </m:sub>
                    </m:sSub>
                  </m:oMath>
                </a14:m>
                <a:r>
                  <a:rPr lang="zh-CN" altLang="en-US" sz="2400" dirty="0"/>
                  <a:t>压栈</a:t>
                </a:r>
                <a:r>
                  <a:rPr lang="en-US" altLang="zh-CN" sz="2400" dirty="0"/>
                  <a:t>, </a:t>
                </a:r>
                <a:r>
                  <a:rPr lang="zh-CN" altLang="en-US" sz="2400" dirty="0"/>
                  <a:t>并开始模拟</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𝑁</m:t>
                        </m:r>
                      </m:sub>
                    </m:sSub>
                  </m:oMath>
                </a14:m>
                <a:r>
                  <a:rPr lang="en-AU" sz="2400" dirty="0"/>
                  <a:t>:</a:t>
                </a:r>
              </a:p>
              <a:p>
                <a:pPr marL="0" indent="0">
                  <a:buNone/>
                </a:pPr>
                <a14:m>
                  <m:oMathPara xmlns:m="http://schemas.openxmlformats.org/officeDocument/2006/math">
                    <m:oMathParaPr>
                      <m:jc m:val="centerGroup"/>
                    </m:oMathParaPr>
                    <m:oMath xmlns:m="http://schemas.openxmlformats.org/officeDocument/2006/math">
                      <m:sSub>
                        <m:sSubPr>
                          <m:ctrlPr>
                            <a:rPr lang="el-GR" sz="2400" i="1" dirty="0" smtClean="0">
                              <a:latin typeface="Cambria Math" panose="02040503050406030204" pitchFamily="18" charset="0"/>
                            </a:rPr>
                          </m:ctrlPr>
                        </m:sSubPr>
                        <m:e>
                          <m:r>
                            <a:rPr lang="el-GR" sz="2400" i="1" dirty="0">
                              <a:latin typeface="Cambria Math" panose="02040503050406030204" pitchFamily="18" charset="0"/>
                            </a:rPr>
                            <m:t>𝛿</m:t>
                          </m:r>
                        </m:e>
                        <m:sub>
                          <m:r>
                            <a:rPr lang="en-AU" sz="2400" b="0" i="1" dirty="0" smtClean="0">
                              <a:latin typeface="Cambria Math" panose="02040503050406030204" pitchFamily="18" charset="0"/>
                            </a:rPr>
                            <m:t>𝐹</m:t>
                          </m:r>
                        </m:sub>
                      </m:sSub>
                      <m:r>
                        <a:rPr lang="en-AU" sz="2400" i="1" dirty="0" smtClean="0">
                          <a:latin typeface="Cambria Math" panose="02040503050406030204" pitchFamily="18" charset="0"/>
                        </a:rPr>
                        <m:t>(</m:t>
                      </m:r>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𝑝</m:t>
                          </m:r>
                        </m:e>
                        <m:sub>
                          <m:r>
                            <a:rPr lang="en-AU" sz="2400" b="0" i="1" dirty="0" smtClean="0">
                              <a:latin typeface="Cambria Math" panose="02040503050406030204" pitchFamily="18" charset="0"/>
                            </a:rPr>
                            <m:t>0</m:t>
                          </m:r>
                        </m:sub>
                      </m:sSub>
                      <m:r>
                        <a:rPr lang="en-AU" sz="2400" b="0" i="1" dirty="0" smtClean="0">
                          <a:latin typeface="Cambria Math" panose="02040503050406030204" pitchFamily="18" charset="0"/>
                        </a:rPr>
                        <m:t>,</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𝑋</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 = {(</m:t>
                      </m:r>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𝑞</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𝑍</m:t>
                          </m:r>
                        </m:e>
                        <m:sub>
                          <m:r>
                            <a:rPr lang="en-AU" sz="2400" i="1" dirty="0">
                              <a:latin typeface="Cambria Math" panose="02040503050406030204" pitchFamily="18" charset="0"/>
                            </a:rPr>
                            <m:t>0</m:t>
                          </m:r>
                        </m:sub>
                      </m:sSub>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𝑋</m:t>
                          </m:r>
                        </m:e>
                        <m:sub>
                          <m:r>
                            <a:rPr lang="en-AU" sz="2400" i="1" dirty="0">
                              <a:latin typeface="Cambria Math" panose="02040503050406030204" pitchFamily="18" charset="0"/>
                            </a:rPr>
                            <m:t>0</m:t>
                          </m:r>
                        </m:sub>
                      </m:sSub>
                      <m:r>
                        <a:rPr lang="en-AU" sz="2400" i="1" dirty="0" smtClean="0">
                          <a:latin typeface="Cambria Math" panose="02040503050406030204" pitchFamily="18" charset="0"/>
                        </a:rPr>
                        <m:t>)};</m:t>
                      </m:r>
                    </m:oMath>
                  </m:oMathPara>
                </a14:m>
                <a:endParaRPr lang="en-AU" sz="2400" dirty="0"/>
              </a:p>
              <a:p>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𝑃</m:t>
                        </m:r>
                      </m:e>
                      <m:sub>
                        <m:r>
                          <a:rPr lang="en-AU" altLang="zh-CN" sz="2400" b="0" i="1" smtClean="0">
                            <a:latin typeface="Cambria Math" panose="02040503050406030204" pitchFamily="18" charset="0"/>
                          </a:rPr>
                          <m:t>𝐹</m:t>
                        </m:r>
                      </m:sub>
                    </m:sSub>
                  </m:oMath>
                </a14:m>
                <a:r>
                  <a:rPr lang="zh-CN" altLang="en-US" sz="2400" dirty="0"/>
                  <a:t>模拟</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b="0" i="1" smtClean="0">
                            <a:latin typeface="Cambria Math" panose="02040503050406030204" pitchFamily="18" charset="0"/>
                          </a:rPr>
                          <m:t>𝑁</m:t>
                        </m:r>
                      </m:sub>
                    </m:sSub>
                  </m:oMath>
                </a14:m>
                <a:r>
                  <a:rPr lang="zh-CN" altLang="en-US" sz="2400" dirty="0"/>
                  <a:t>的动作</a:t>
                </a:r>
                <a:r>
                  <a:rPr lang="en-US" altLang="zh-CN" sz="2400" dirty="0"/>
                  <a:t>: </a:t>
                </a:r>
                <a14:m>
                  <m:oMath xmlns:m="http://schemas.openxmlformats.org/officeDocument/2006/math">
                    <m:r>
                      <a:rPr lang="en-US" altLang="zh-CN"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 </m:t>
                    </m:r>
                    <m:r>
                      <a:rPr lang="en-AU" sz="2400" i="1" dirty="0" smtClean="0">
                        <a:latin typeface="Cambria Math" panose="02040503050406030204" pitchFamily="18" charset="0"/>
                      </a:rPr>
                      <m:t>𝑄</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Σ</m:t>
                    </m:r>
                    <m:r>
                      <a:rPr lang="el-GR" sz="2400" i="1" dirty="0" smtClean="0">
                        <a:latin typeface="Cambria Math" panose="02040503050406030204" pitchFamily="18" charset="0"/>
                      </a:rPr>
                      <m:t> ∪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n-AU" sz="2400" i="1" dirty="0" smtClean="0">
                        <a:latin typeface="Cambria Math" panose="02040503050406030204" pitchFamily="18" charset="0"/>
                      </a:rPr>
                      <m:t>𝑌</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Γ</m:t>
                    </m:r>
                  </m:oMath>
                </a14:m>
                <a:r>
                  <a:rPr lang="el-GR" sz="2400" dirty="0"/>
                  <a:t>:</a:t>
                </a:r>
                <a:endParaRPr lang="en-AU" sz="2400" dirty="0"/>
              </a:p>
              <a:p>
                <a:pPr marL="0" indent="0" algn="ctr">
                  <a:buNone/>
                </a:pPr>
                <a14:m>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b="0" i="1" dirty="0" smtClean="0">
                            <a:latin typeface="Cambria Math" panose="02040503050406030204" pitchFamily="18" charset="0"/>
                          </a:rPr>
                          <m:t>𝐹</m:t>
                        </m:r>
                      </m:sub>
                    </m:sSub>
                    <m:d>
                      <m:dPr>
                        <m:ctrlPr>
                          <a:rPr lang="en-AU" sz="2400" i="1" dirty="0" smtClean="0">
                            <a:latin typeface="Cambria Math" panose="02040503050406030204" pitchFamily="18" charset="0"/>
                          </a:rPr>
                        </m:ctrlPr>
                      </m:dPr>
                      <m:e>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m:t>
                        </m:r>
                        <m:r>
                          <a:rPr lang="en-AU" sz="2400" i="1" dirty="0" smtClean="0">
                            <a:latin typeface="Cambria Math" panose="02040503050406030204" pitchFamily="18" charset="0"/>
                          </a:rPr>
                          <m:t>𝑌</m:t>
                        </m:r>
                        <m:r>
                          <a:rPr lang="en-AU" sz="2400" i="1" dirty="0" smtClean="0">
                            <a:latin typeface="Cambria Math" panose="02040503050406030204" pitchFamily="18" charset="0"/>
                          </a:rPr>
                          <m:t> </m:t>
                        </m:r>
                      </m:e>
                    </m:d>
                    <m:r>
                      <a:rPr lang="en-AU" sz="2400" b="0" i="1" dirty="0" smtClean="0">
                        <a:latin typeface="Cambria Math" panose="02040503050406030204" pitchFamily="18" charset="0"/>
                      </a:rPr>
                      <m:t>=</m:t>
                    </m:r>
                    <m:r>
                      <a:rPr lang="en-AU" sz="2400" i="1" dirty="0" smtClean="0">
                        <a:latin typeface="Cambria Math" panose="02040503050406030204" pitchFamily="18" charset="0"/>
                      </a:rPr>
                      <m:t> </m:t>
                    </m:r>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b="0" i="1" dirty="0" smtClean="0">
                            <a:latin typeface="Cambria Math" panose="02040503050406030204" pitchFamily="18" charset="0"/>
                          </a:rPr>
                          <m:t>𝑁</m:t>
                        </m:r>
                      </m:sub>
                    </m:sSub>
                    <m:r>
                      <a:rPr lang="en-AU" sz="2400" b="0" i="1" dirty="0" smtClean="0">
                        <a:latin typeface="Cambria Math" panose="02040503050406030204" pitchFamily="18" charset="0"/>
                      </a:rPr>
                      <m:t>(</m:t>
                    </m:r>
                    <m:r>
                      <a:rPr lang="en-AU" sz="2400" b="0" i="1" dirty="0" smtClean="0">
                        <a:latin typeface="Cambria Math" panose="02040503050406030204" pitchFamily="18" charset="0"/>
                      </a:rPr>
                      <m:t>𝑞</m:t>
                    </m:r>
                    <m:r>
                      <a:rPr lang="en-AU" sz="2400" b="0" i="1" dirty="0" smtClean="0">
                        <a:latin typeface="Cambria Math" panose="02040503050406030204" pitchFamily="18" charset="0"/>
                      </a:rPr>
                      <m:t>,</m:t>
                    </m:r>
                    <m:r>
                      <a:rPr lang="en-AU" sz="2400" b="0" i="1" dirty="0" smtClean="0">
                        <a:latin typeface="Cambria Math" panose="02040503050406030204" pitchFamily="18" charset="0"/>
                      </a:rPr>
                      <m:t>𝑎</m:t>
                    </m:r>
                    <m:r>
                      <a:rPr lang="en-AU" sz="2400" b="0" i="1" dirty="0" smtClean="0">
                        <a:latin typeface="Cambria Math" panose="02040503050406030204" pitchFamily="18" charset="0"/>
                      </a:rPr>
                      <m:t>,</m:t>
                    </m:r>
                    <m:r>
                      <a:rPr lang="en-AU" sz="2400" b="0" i="1" dirty="0" smtClean="0">
                        <a:latin typeface="Cambria Math" panose="02040503050406030204" pitchFamily="18" charset="0"/>
                      </a:rPr>
                      <m:t>𝑌</m:t>
                    </m:r>
                    <m:r>
                      <a:rPr lang="en-AU" sz="2400" b="0" i="1" dirty="0" smtClean="0">
                        <a:latin typeface="Cambria Math" panose="02040503050406030204" pitchFamily="18" charset="0"/>
                      </a:rPr>
                      <m:t>)</m:t>
                    </m:r>
                  </m:oMath>
                </a14:m>
                <a:r>
                  <a:rPr lang="en-US" altLang="zh-CN" sz="2400" dirty="0"/>
                  <a:t>;</a:t>
                </a:r>
              </a:p>
              <a:p>
                <a:r>
                  <a:rPr lang="zh-CN" altLang="en-US" sz="2400" dirty="0"/>
                  <a:t>在</a:t>
                </a:r>
                <a14:m>
                  <m:oMath xmlns:m="http://schemas.openxmlformats.org/officeDocument/2006/math">
                    <m:r>
                      <a:rPr lang="zh-CN" altLang="en-US" sz="2400" i="1" dirty="0" smtClean="0">
                        <a:latin typeface="Cambria Math" panose="02040503050406030204" pitchFamily="18" charset="0"/>
                      </a:rPr>
                      <m:t>∀</m:t>
                    </m:r>
                    <m:r>
                      <a:rPr lang="en-US" altLang="zh-CN" sz="2400" i="1" dirty="0">
                        <a:latin typeface="Cambria Math" panose="02040503050406030204" pitchFamily="18" charset="0"/>
                      </a:rPr>
                      <m:t>𝑞</m:t>
                    </m:r>
                    <m:r>
                      <a:rPr lang="en-US" altLang="zh-CN" sz="2400" i="1" dirty="0">
                        <a:latin typeface="Cambria Math" panose="02040503050406030204" pitchFamily="18" charset="0"/>
                      </a:rPr>
                      <m:t> ∈ </m:t>
                    </m:r>
                    <m:r>
                      <a:rPr lang="en-US" altLang="zh-CN" sz="2400" i="1" dirty="0">
                        <a:latin typeface="Cambria Math" panose="02040503050406030204" pitchFamily="18" charset="0"/>
                      </a:rPr>
                      <m:t>𝑄</m:t>
                    </m:r>
                    <m:r>
                      <a:rPr lang="en-US" altLang="zh-CN" sz="2400" i="1" dirty="0">
                        <a:latin typeface="Cambria Math" panose="02040503050406030204" pitchFamily="18" charset="0"/>
                      </a:rPr>
                      <m:t> </m:t>
                    </m:r>
                  </m:oMath>
                </a14:m>
                <a:r>
                  <a:rPr lang="zh-CN" altLang="en-US" sz="2400" dirty="0"/>
                  <a:t>时</a:t>
                </a:r>
                <a:r>
                  <a:rPr lang="en-US" altLang="zh-CN" sz="2400" dirty="0"/>
                  <a:t>, </a:t>
                </a:r>
                <a:r>
                  <a:rPr lang="zh-CN" altLang="en-US" sz="2400" dirty="0"/>
                  <a:t>看到</a:t>
                </a:r>
                <a14:m>
                  <m:oMath xmlns:m="http://schemas.openxmlformats.org/officeDocument/2006/math">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𝑃</m:t>
                        </m:r>
                      </m:e>
                      <m:sub>
                        <m:r>
                          <a:rPr lang="en-AU" altLang="zh-CN" sz="2400" i="1">
                            <a:latin typeface="Cambria Math" panose="02040503050406030204" pitchFamily="18" charset="0"/>
                          </a:rPr>
                          <m:t>𝐹</m:t>
                        </m:r>
                      </m:sub>
                    </m:sSub>
                  </m:oMath>
                </a14:m>
                <a:r>
                  <a:rPr lang="zh-CN" altLang="en-US" sz="2400" dirty="0"/>
                  <a:t>的栈底</a:t>
                </a:r>
                <a14:m>
                  <m:oMath xmlns:m="http://schemas.openxmlformats.org/officeDocument/2006/math">
                    <m:sSub>
                      <m:sSubPr>
                        <m:ctrlPr>
                          <a:rPr lang="en-AU" sz="2400" i="1" dirty="0">
                            <a:latin typeface="Cambria Math" panose="02040503050406030204" pitchFamily="18" charset="0"/>
                          </a:rPr>
                        </m:ctrlPr>
                      </m:sSubPr>
                      <m:e>
                        <m:r>
                          <a:rPr lang="en-AU" sz="2400" i="1" dirty="0">
                            <a:latin typeface="Cambria Math" panose="02040503050406030204" pitchFamily="18" charset="0"/>
                          </a:rPr>
                          <m:t>𝑋</m:t>
                        </m:r>
                      </m:e>
                      <m:sub>
                        <m:r>
                          <a:rPr lang="en-AU" sz="2400" i="1" dirty="0">
                            <a:latin typeface="Cambria Math" panose="02040503050406030204" pitchFamily="18" charset="0"/>
                          </a:rPr>
                          <m:t>0</m:t>
                        </m:r>
                      </m:sub>
                    </m:sSub>
                  </m:oMath>
                </a14:m>
                <a:r>
                  <a:rPr lang="en-US" altLang="zh-CN" sz="2400" dirty="0"/>
                  <a:t>,</a:t>
                </a:r>
                <a:r>
                  <a:rPr lang="zh-CN" altLang="en-US" sz="2400" dirty="0"/>
                  <a:t>则转移到新终态</a:t>
                </a:r>
                <a14:m>
                  <m:oMath xmlns:m="http://schemas.openxmlformats.org/officeDocument/2006/math">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𝑝</m:t>
                        </m:r>
                      </m:e>
                      <m:sub>
                        <m:r>
                          <a:rPr lang="en-AU" sz="2400" i="1" dirty="0">
                            <a:latin typeface="Cambria Math" panose="02040503050406030204" pitchFamily="18" charset="0"/>
                          </a:rPr>
                          <m:t>𝑓</m:t>
                        </m:r>
                      </m:sub>
                    </m:sSub>
                    <m:r>
                      <a:rPr lang="en-AU" sz="2400" i="1" dirty="0">
                        <a:latin typeface="Cambria Math" panose="02040503050406030204" pitchFamily="18" charset="0"/>
                      </a:rPr>
                      <m:t> </m:t>
                    </m:r>
                  </m:oMath>
                </a14:m>
                <a:r>
                  <a:rPr lang="en-AU" sz="2400" dirty="0"/>
                  <a:t>:</a:t>
                </a:r>
              </a:p>
              <a:p>
                <a:pPr marL="0" indent="0" algn="ctr">
                  <a:buNone/>
                </a:pPr>
                <a14:m>
                  <m:oMathPara xmlns:m="http://schemas.openxmlformats.org/officeDocument/2006/math">
                    <m:oMathParaPr>
                      <m:jc m:val="centerGroup"/>
                    </m:oMathParaPr>
                    <m:oMath xmlns:m="http://schemas.openxmlformats.org/officeDocument/2006/math">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AU" sz="2400" b="0" i="1" dirty="0" smtClean="0">
                              <a:latin typeface="Cambria Math" panose="02040503050406030204" pitchFamily="18" charset="0"/>
                            </a:rPr>
                            <m:t>𝐹</m:t>
                          </m:r>
                        </m:sub>
                      </m:sSub>
                      <m:d>
                        <m:dPr>
                          <m:ctrlPr>
                            <a:rPr lang="en-AU" sz="2400" i="1" dirty="0" smtClean="0">
                              <a:latin typeface="Cambria Math" panose="02040503050406030204" pitchFamily="18" charset="0"/>
                            </a:rPr>
                          </m:ctrlPr>
                        </m:dPr>
                        <m:e>
                          <m:r>
                            <a:rPr lang="en-AU" sz="2400" b="0" i="1" dirty="0" smtClean="0">
                              <a:latin typeface="Cambria Math" panose="02040503050406030204" pitchFamily="18" charset="0"/>
                            </a:rPr>
                            <m:t>𝑞</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𝑋</m:t>
                              </m:r>
                            </m:e>
                            <m:sub>
                              <m:r>
                                <a:rPr lang="en-AU" sz="2400" i="1" dirty="0">
                                  <a:latin typeface="Cambria Math" panose="02040503050406030204" pitchFamily="18" charset="0"/>
                                </a:rPr>
                                <m:t>0</m:t>
                              </m:r>
                            </m:sub>
                          </m:sSub>
                        </m:e>
                      </m:d>
                      <m:r>
                        <a:rPr lang="en-AU" sz="2400" b="0" i="1" dirty="0" smtClean="0">
                          <a:latin typeface="Cambria Math" panose="02040503050406030204" pitchFamily="18" charset="0"/>
                        </a:rPr>
                        <m:t>=</m:t>
                      </m:r>
                      <m:r>
                        <a:rPr lang="en-AU" sz="2400" i="1" dirty="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𝑝</m:t>
                          </m:r>
                        </m:e>
                        <m:sub>
                          <m:r>
                            <a:rPr lang="en-AU" sz="2400" i="1" dirty="0">
                              <a:latin typeface="Cambria Math" panose="02040503050406030204" pitchFamily="18" charset="0"/>
                            </a:rPr>
                            <m:t>𝑓</m:t>
                          </m:r>
                        </m:sub>
                      </m:sSub>
                      <m:r>
                        <a:rPr lang="en-AU" sz="2400" i="1" dirty="0">
                          <a:latin typeface="Cambria Math" panose="02040503050406030204" pitchFamily="18" charset="0"/>
                        </a:rPr>
                        <m:t>, </m:t>
                      </m:r>
                      <m:r>
                        <a:rPr lang="el-GR" sz="2400" i="1" dirty="0">
                          <a:latin typeface="Cambria Math" panose="02040503050406030204" pitchFamily="18" charset="0"/>
                        </a:rPr>
                        <m:t>𝜀</m:t>
                      </m:r>
                      <m:r>
                        <a:rPr lang="el-GR" sz="2400" i="1" dirty="0">
                          <a:latin typeface="Cambria Math" panose="02040503050406030204" pitchFamily="18" charset="0"/>
                        </a:rPr>
                        <m:t>)}</m:t>
                      </m:r>
                      <m:r>
                        <a:rPr lang="zh-CN" altLang="en-US" sz="2400" i="1" dirty="0" smtClean="0">
                          <a:latin typeface="Cambria Math" panose="02040503050406030204" pitchFamily="18" charset="0"/>
                        </a:rPr>
                        <m:t>。</m:t>
                      </m:r>
                    </m:oMath>
                  </m:oMathPara>
                </a14:m>
                <a:endParaRPr lang="el-GR"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516918" y="3630201"/>
                <a:ext cx="8229600" cy="2549184"/>
              </a:xfrm>
              <a:blipFill rotWithShape="1">
                <a:blip r:embed="rId2"/>
                <a:stretch>
                  <a:fillRect t="-21" b="-405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49</a:t>
            </a:fld>
            <a:endParaRPr lang="en-AU"/>
          </a:p>
        </p:txBody>
      </p:sp>
      <p:pic>
        <p:nvPicPr>
          <p:cNvPr id="5" name="Picture 4" descr="Diagram&#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75710" y="1224037"/>
            <a:ext cx="5015805" cy="1484580"/>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516918" y="2961949"/>
                <a:ext cx="8110164" cy="491288"/>
              </a:xfrm>
              <a:prstGeom prst="rect">
                <a:avLst/>
              </a:prstGeom>
              <a:noFill/>
            </p:spPr>
            <p:txBody>
              <a:bodyPr wrap="square">
                <a:spAutoFit/>
              </a:bodyPr>
              <a:lstStyle/>
              <a:p>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i="1" dirty="0">
                            <a:latin typeface="Cambria Math" panose="02040503050406030204" pitchFamily="18" charset="0"/>
                          </a:rPr>
                          <m:t>𝑃</m:t>
                        </m:r>
                      </m:e>
                      <m:sub>
                        <m:r>
                          <a:rPr lang="en-US" altLang="zh-CN" sz="2400" i="1" dirty="0">
                            <a:latin typeface="Cambria Math" panose="02040503050406030204" pitchFamily="18" charset="0"/>
                          </a:rPr>
                          <m:t>𝐹</m:t>
                        </m:r>
                      </m:sub>
                    </m:sSub>
                    <m:r>
                      <a:rPr lang="en-AU" altLang="zh-CN" sz="2400" i="1" dirty="0">
                        <a:latin typeface="Cambria Math" panose="02040503050406030204" pitchFamily="18" charset="0"/>
                      </a:rPr>
                      <m:t>= (</m:t>
                    </m:r>
                    <m:r>
                      <a:rPr lang="en-AU" altLang="zh-CN" sz="2400" i="1" dirty="0">
                        <a:latin typeface="Cambria Math" panose="02040503050406030204" pitchFamily="18" charset="0"/>
                      </a:rPr>
                      <m:t>𝑄</m:t>
                    </m:r>
                    <m:r>
                      <a:rPr lang="en-AU" altLang="zh-CN" sz="2400" i="1" dirty="0">
                        <a:latin typeface="Cambria Math" panose="02040503050406030204" pitchFamily="18" charset="0"/>
                      </a:rPr>
                      <m:t> ∪{</m:t>
                    </m:r>
                    <m:sSub>
                      <m:sSubPr>
                        <m:ctrlPr>
                          <a:rPr lang="en-AU"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𝑝</m:t>
                        </m:r>
                      </m:e>
                      <m:sub>
                        <m:r>
                          <a:rPr lang="en-AU" altLang="zh-CN" sz="2400" i="1" dirty="0">
                            <a:solidFill>
                              <a:srgbClr val="0070C0"/>
                            </a:solidFill>
                            <a:latin typeface="Cambria Math" panose="02040503050406030204" pitchFamily="18" charset="0"/>
                          </a:rPr>
                          <m:t>0</m:t>
                        </m:r>
                      </m:sub>
                    </m:sSub>
                    <m:r>
                      <a:rPr lang="en-AU" altLang="zh-CN" sz="2400" i="1" dirty="0">
                        <a:solidFill>
                          <a:srgbClr val="0070C0"/>
                        </a:solidFill>
                        <a:latin typeface="Cambria Math" panose="02040503050406030204" pitchFamily="18" charset="0"/>
                      </a:rPr>
                      <m:t>, </m:t>
                    </m:r>
                    <m:sSub>
                      <m:sSubPr>
                        <m:ctrlPr>
                          <a:rPr lang="en-AU" altLang="zh-CN" sz="2400" i="1" dirty="0">
                            <a:solidFill>
                              <a:srgbClr val="0070C0"/>
                            </a:solidFill>
                            <a:latin typeface="Cambria Math" panose="02040503050406030204" pitchFamily="18" charset="0"/>
                          </a:rPr>
                        </m:ctrlPr>
                      </m:sSubPr>
                      <m:e>
                        <m:r>
                          <a:rPr lang="en-US" altLang="zh-CN" sz="2400" i="1" dirty="0">
                            <a:solidFill>
                              <a:srgbClr val="0070C0"/>
                            </a:solidFill>
                            <a:latin typeface="Cambria Math" panose="02040503050406030204" pitchFamily="18" charset="0"/>
                          </a:rPr>
                          <m:t>𝑝</m:t>
                        </m:r>
                      </m:e>
                      <m:sub>
                        <m:r>
                          <a:rPr lang="en-US" altLang="zh-CN" sz="2400" i="1" dirty="0">
                            <a:solidFill>
                              <a:srgbClr val="0070C0"/>
                            </a:solidFill>
                            <a:latin typeface="Cambria Math" panose="02040503050406030204" pitchFamily="18" charset="0"/>
                          </a:rPr>
                          <m:t>𝑓</m:t>
                        </m:r>
                      </m:sub>
                    </m:sSub>
                    <m:r>
                      <a:rPr lang="en-AU" altLang="zh-CN" sz="2400" i="1" dirty="0">
                        <a:latin typeface="Cambria Math" panose="02040503050406030204" pitchFamily="18" charset="0"/>
                      </a:rPr>
                      <m:t>}, </m:t>
                    </m:r>
                    <m:r>
                      <m:rPr>
                        <m:sty m:val="p"/>
                      </m:rPr>
                      <a:rPr lang="el-GR" altLang="zh-CN" sz="2400" dirty="0">
                        <a:latin typeface="Cambria Math" panose="02040503050406030204" pitchFamily="18" charset="0"/>
                      </a:rPr>
                      <m:t>Σ</m:t>
                    </m:r>
                    <m:r>
                      <a:rPr lang="el-GR" altLang="zh-CN" sz="2400" i="1" dirty="0">
                        <a:latin typeface="Cambria Math" panose="02040503050406030204" pitchFamily="18" charset="0"/>
                      </a:rPr>
                      <m:t>, </m:t>
                    </m:r>
                    <m:r>
                      <m:rPr>
                        <m:sty m:val="p"/>
                      </m:rPr>
                      <a:rPr lang="el-GR" altLang="zh-CN" sz="2400" dirty="0">
                        <a:latin typeface="Cambria Math" panose="02040503050406030204" pitchFamily="18" charset="0"/>
                      </a:rPr>
                      <m:t>Γ</m:t>
                    </m:r>
                    <m:r>
                      <a:rPr lang="el-GR" altLang="zh-CN" sz="2400" i="1" dirty="0">
                        <a:latin typeface="Cambria Math" panose="02040503050406030204" pitchFamily="18" charset="0"/>
                      </a:rPr>
                      <m:t> ∪ {</m:t>
                    </m:r>
                    <m:sSub>
                      <m:sSubPr>
                        <m:ctrlPr>
                          <a:rPr lang="el-GR" altLang="zh-CN" sz="2400" i="1" dirty="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𝑋</m:t>
                        </m:r>
                      </m:e>
                      <m:sub>
                        <m:r>
                          <a:rPr lang="en-AU" altLang="zh-CN" sz="2400" i="1" dirty="0">
                            <a:solidFill>
                              <a:srgbClr val="0070C0"/>
                            </a:solidFill>
                            <a:latin typeface="Cambria Math" panose="02040503050406030204" pitchFamily="18" charset="0"/>
                          </a:rPr>
                          <m:t>0</m:t>
                        </m:r>
                      </m:sub>
                    </m:sSub>
                    <m:r>
                      <a:rPr lang="en-AU" altLang="zh-CN" sz="2400" i="1" dirty="0">
                        <a:latin typeface="Cambria Math" panose="02040503050406030204" pitchFamily="18" charset="0"/>
                      </a:rPr>
                      <m:t>},</m:t>
                    </m:r>
                    <m:sSub>
                      <m:sSubPr>
                        <m:ctrlPr>
                          <a:rPr lang="el-GR" sz="2400" i="1" dirty="0">
                            <a:latin typeface="Cambria Math" panose="02040503050406030204" pitchFamily="18" charset="0"/>
                          </a:rPr>
                        </m:ctrlPr>
                      </m:sSubPr>
                      <m:e>
                        <m:r>
                          <a:rPr lang="el-GR" sz="2400" i="1" dirty="0">
                            <a:latin typeface="Cambria Math" panose="02040503050406030204" pitchFamily="18" charset="0"/>
                          </a:rPr>
                          <m:t>𝛿</m:t>
                        </m:r>
                      </m:e>
                      <m:sub>
                        <m:r>
                          <a:rPr lang="en-US" sz="2400" i="1" dirty="0">
                            <a:latin typeface="Cambria Math" panose="02040503050406030204" pitchFamily="18" charset="0"/>
                          </a:rPr>
                          <m:t>𝐹</m:t>
                        </m:r>
                      </m:sub>
                    </m:sSub>
                    <m:r>
                      <a:rPr lang="en-AU" altLang="zh-CN" sz="2400" i="1" dirty="0">
                        <a:latin typeface="Cambria Math" panose="02040503050406030204" pitchFamily="18" charset="0"/>
                      </a:rPr>
                      <m:t>, </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 </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 </m:t>
                    </m:r>
                    <m:r>
                      <a:rPr lang="en-US"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US" altLang="zh-CN" sz="2400" i="1" dirty="0">
                            <a:latin typeface="Cambria Math" panose="02040503050406030204" pitchFamily="18" charset="0"/>
                          </a:rPr>
                          <m:t>𝑝</m:t>
                        </m:r>
                      </m:e>
                      <m:sub>
                        <m:r>
                          <a:rPr lang="en-US" altLang="zh-CN" sz="2400" i="1" dirty="0">
                            <a:latin typeface="Cambria Math" panose="02040503050406030204" pitchFamily="18" charset="0"/>
                          </a:rPr>
                          <m:t>𝑓</m:t>
                        </m:r>
                      </m:sub>
                    </m:sSub>
                    <m:r>
                      <a:rPr lang="en-US" altLang="zh-CN" sz="2400" i="1" dirty="0">
                        <a:latin typeface="Cambria Math" panose="02040503050406030204" pitchFamily="18" charset="0"/>
                      </a:rPr>
                      <m:t>}</m:t>
                    </m:r>
                    <m:r>
                      <a:rPr lang="en-AU" altLang="zh-CN" sz="2400" i="1" dirty="0">
                        <a:latin typeface="Cambria Math" panose="02040503050406030204" pitchFamily="18" charset="0"/>
                      </a:rPr>
                      <m:t>)</m:t>
                    </m:r>
                  </m:oMath>
                </a14:m>
                <a:r>
                  <a:rPr lang="en-AU" altLang="zh-CN" sz="2400" dirty="0"/>
                  <a:t>.</a:t>
                </a:r>
                <a:r>
                  <a:rPr lang="el-GR" altLang="zh-CN" sz="2400" dirty="0"/>
                  <a:t> </a:t>
                </a:r>
                <a14:m>
                  <m:oMath xmlns:m="http://schemas.openxmlformats.org/officeDocument/2006/math">
                    <m:sSub>
                      <m:sSubPr>
                        <m:ctrlPr>
                          <a:rPr lang="el-GR" altLang="zh-CN" sz="2400" i="1" dirty="0">
                            <a:latin typeface="Cambria Math" panose="02040503050406030204" pitchFamily="18" charset="0"/>
                          </a:rPr>
                        </m:ctrlPr>
                      </m:sSubPr>
                      <m:e>
                        <m:r>
                          <a:rPr lang="el-GR" altLang="zh-CN" sz="2400" i="1" dirty="0">
                            <a:latin typeface="Cambria Math" panose="02040503050406030204" pitchFamily="18" charset="0"/>
                          </a:rPr>
                          <m:t>𝛿</m:t>
                        </m:r>
                      </m:e>
                      <m:sub>
                        <m:r>
                          <a:rPr lang="en-AU" altLang="zh-CN" sz="2400" i="1" dirty="0">
                            <a:latin typeface="Cambria Math" panose="02040503050406030204" pitchFamily="18" charset="0"/>
                          </a:rPr>
                          <m:t>𝐹</m:t>
                        </m:r>
                      </m:sub>
                    </m:sSub>
                  </m:oMath>
                </a14:m>
                <a:r>
                  <a:rPr lang="zh-CN" altLang="en-US" sz="2400" dirty="0">
                    <a:latin typeface="楷体" panose="02010609060101010101" pitchFamily="49" charset="-122"/>
                    <a:ea typeface="楷体" panose="02010609060101010101" pitchFamily="49" charset="-122"/>
                  </a:rPr>
                  <a:t>具体定义</a:t>
                </a:r>
                <a:r>
                  <a:rPr lang="en-AU" altLang="zh-CN"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16918" y="2961949"/>
                <a:ext cx="8110164" cy="491288"/>
              </a:xfrm>
              <a:prstGeom prst="rect">
                <a:avLst/>
              </a:prstGeom>
              <a:blipFill rotWithShape="1">
                <a:blip r:embed="rId4"/>
                <a:stretch>
                  <a:fillRect t="-63" r="7" b="-61761"/>
                </a:stretch>
              </a:blipFill>
            </p:spPr>
            <p:txBody>
              <a:bodyPr/>
              <a:lstStyle/>
              <a:p>
                <a:r>
                  <a:rPr lang="zh-CN"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从空栈方式到终态方式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166018"/>
                <a:ext cx="8229600" cy="4525963"/>
              </a:xfrm>
            </p:spPr>
            <p:txBody>
              <a:bodyPr>
                <a:normAutofit fontScale="85000" lnSpcReduction="10000"/>
              </a:bodyPr>
              <a:lstStyle/>
              <a:p>
                <a:r>
                  <a:rPr lang="zh-CN" altLang="en-US" dirty="0"/>
                  <a:t>需要证明</a:t>
                </a:r>
                <a14:m>
                  <m:oMath xmlns:m="http://schemas.openxmlformats.org/officeDocument/2006/math">
                    <m:r>
                      <a:rPr lang="en-AU" altLang="zh-CN" i="1">
                        <a:latin typeface="Cambria Math" panose="02040503050406030204" pitchFamily="18" charset="0"/>
                      </a:rPr>
                      <m:t>𝑤</m:t>
                    </m:r>
                    <m:r>
                      <a:rPr lang="en-AU" altLang="zh-CN" i="1">
                        <a:latin typeface="Cambria Math" panose="02040503050406030204" pitchFamily="18" charset="0"/>
                        <a:ea typeface="Cambria Math" panose="02040503050406030204" pitchFamily="18" charset="0"/>
                      </a:rPr>
                      <m:t>∈</m:t>
                    </m:r>
                    <m:r>
                      <a:rPr lang="en-AU" altLang="zh-CN" b="1">
                        <a:latin typeface="Cambria Math" panose="02040503050406030204" pitchFamily="18" charset="0"/>
                        <a:ea typeface="Cambria Math" panose="02040503050406030204" pitchFamily="18" charset="0"/>
                      </a:rPr>
                      <m:t>𝐍</m:t>
                    </m:r>
                    <m:r>
                      <a:rPr lang="en-AU" altLang="zh-CN" i="1">
                        <a:latin typeface="Cambria Math" panose="02040503050406030204" pitchFamily="18" charset="0"/>
                        <a:ea typeface="Cambria Math" panose="02040503050406030204" pitchFamily="18" charset="0"/>
                      </a:rPr>
                      <m:t>(</m:t>
                    </m:r>
                    <m:sSub>
                      <m:sSubPr>
                        <m:ctrlPr>
                          <a:rPr lang="en-AU" altLang="zh-CN" i="1" smtClean="0">
                            <a:solidFill>
                              <a:schemeClr val="accent5"/>
                            </a:solidFill>
                            <a:latin typeface="Cambria Math" panose="02040503050406030204" pitchFamily="18" charset="0"/>
                            <a:ea typeface="Cambria Math" panose="02040503050406030204" pitchFamily="18" charset="0"/>
                          </a:rPr>
                        </m:ctrlPr>
                      </m:sSubPr>
                      <m:e>
                        <m:r>
                          <a:rPr lang="en-AU" altLang="zh-CN" i="1">
                            <a:solidFill>
                              <a:schemeClr val="accent5"/>
                            </a:solidFill>
                            <a:latin typeface="Cambria Math" panose="02040503050406030204" pitchFamily="18" charset="0"/>
                            <a:ea typeface="Cambria Math" panose="02040503050406030204" pitchFamily="18" charset="0"/>
                          </a:rPr>
                          <m:t>𝑃</m:t>
                        </m:r>
                      </m:e>
                      <m:sub>
                        <m:r>
                          <a:rPr lang="en-AU" altLang="zh-CN" i="1">
                            <a:solidFill>
                              <a:schemeClr val="accent5"/>
                            </a:solidFill>
                            <a:latin typeface="Cambria Math" panose="02040503050406030204" pitchFamily="18" charset="0"/>
                            <a:ea typeface="Cambria Math" panose="02040503050406030204" pitchFamily="18" charset="0"/>
                          </a:rPr>
                          <m:t>𝑁</m:t>
                        </m:r>
                      </m:sub>
                    </m:sSub>
                    <m:r>
                      <a:rPr lang="en-AU" altLang="zh-CN" i="1">
                        <a:latin typeface="Cambria Math" panose="02040503050406030204" pitchFamily="18" charset="0"/>
                        <a:ea typeface="Cambria Math" panose="02040503050406030204" pitchFamily="18" charset="0"/>
                      </a:rPr>
                      <m:t>)</m:t>
                    </m:r>
                    <m:r>
                      <a:rPr lang="en-AU" altLang="zh-CN" i="1" smtClean="0">
                        <a:latin typeface="Cambria Math" panose="02040503050406030204" pitchFamily="18" charset="0"/>
                        <a:ea typeface="Cambria Math" panose="02040503050406030204" pitchFamily="18" charset="0"/>
                      </a:rPr>
                      <m:t>⟺</m:t>
                    </m:r>
                    <m:r>
                      <a:rPr lang="en-AU" altLang="zh-CN" i="1">
                        <a:latin typeface="Cambria Math" panose="02040503050406030204" pitchFamily="18" charset="0"/>
                      </a:rPr>
                      <m:t>𝑤</m:t>
                    </m:r>
                    <m:r>
                      <a:rPr lang="en-AU" altLang="zh-CN" i="1">
                        <a:latin typeface="Cambria Math" panose="02040503050406030204" pitchFamily="18" charset="0"/>
                        <a:ea typeface="Cambria Math" panose="02040503050406030204" pitchFamily="18" charset="0"/>
                      </a:rPr>
                      <m:t>∈</m:t>
                    </m:r>
                    <m:r>
                      <a:rPr lang="en-AU" altLang="zh-CN" b="1">
                        <a:latin typeface="Cambria Math" panose="02040503050406030204" pitchFamily="18" charset="0"/>
                        <a:ea typeface="Cambria Math" panose="02040503050406030204" pitchFamily="18" charset="0"/>
                      </a:rPr>
                      <m:t>𝐋</m:t>
                    </m:r>
                    <m:r>
                      <a:rPr lang="en-AU" altLang="zh-CN" i="1">
                        <a:latin typeface="Cambria Math" panose="02040503050406030204" pitchFamily="18" charset="0"/>
                        <a:ea typeface="Cambria Math" panose="02040503050406030204" pitchFamily="18" charset="0"/>
                      </a:rPr>
                      <m:t>(</m:t>
                    </m:r>
                    <m:sSub>
                      <m:sSubPr>
                        <m:ctrlPr>
                          <a:rPr lang="en-AU" altLang="zh-CN" i="1" smtClean="0">
                            <a:solidFill>
                              <a:schemeClr val="accent6"/>
                            </a:solidFill>
                            <a:latin typeface="Cambria Math" panose="02040503050406030204" pitchFamily="18" charset="0"/>
                            <a:ea typeface="Cambria Math" panose="02040503050406030204" pitchFamily="18" charset="0"/>
                          </a:rPr>
                        </m:ctrlPr>
                      </m:sSubPr>
                      <m:e>
                        <m:r>
                          <a:rPr lang="en-AU" altLang="zh-CN" i="1">
                            <a:solidFill>
                              <a:schemeClr val="accent6"/>
                            </a:solidFill>
                            <a:latin typeface="Cambria Math" panose="02040503050406030204" pitchFamily="18" charset="0"/>
                            <a:ea typeface="Cambria Math" panose="02040503050406030204" pitchFamily="18" charset="0"/>
                          </a:rPr>
                          <m:t>𝑃</m:t>
                        </m:r>
                      </m:e>
                      <m:sub>
                        <m:r>
                          <a:rPr lang="en-AU" altLang="zh-CN" i="1">
                            <a:solidFill>
                              <a:schemeClr val="accent6"/>
                            </a:solidFill>
                            <a:latin typeface="Cambria Math" panose="02040503050406030204" pitchFamily="18" charset="0"/>
                            <a:ea typeface="Cambria Math" panose="02040503050406030204" pitchFamily="18" charset="0"/>
                          </a:rPr>
                          <m:t>𝐹</m:t>
                        </m:r>
                      </m:sub>
                    </m:sSub>
                    <m:r>
                      <a:rPr lang="en-AU" altLang="zh-CN" i="1">
                        <a:latin typeface="Cambria Math" panose="02040503050406030204" pitchFamily="18" charset="0"/>
                        <a:ea typeface="Cambria Math" panose="02040503050406030204" pitchFamily="18" charset="0"/>
                      </a:rPr>
                      <m:t>)</m:t>
                    </m:r>
                  </m:oMath>
                </a14:m>
                <a:r>
                  <a:rPr lang="en-AU" altLang="zh-CN" dirty="0"/>
                  <a:t> (</a:t>
                </a:r>
                <a:r>
                  <a:rPr lang="zh-CN" altLang="en-US" dirty="0"/>
                  <a:t>先证充分性</a:t>
                </a:r>
                <a14:m>
                  <m:oMath xmlns:m="http://schemas.openxmlformats.org/officeDocument/2006/math">
                    <m:r>
                      <a:rPr lang="en-AU" altLang="zh-CN" i="1" dirty="0">
                        <a:latin typeface="Cambria Math" panose="02040503050406030204" pitchFamily="18" charset="0"/>
                        <a:ea typeface="Cambria Math" panose="02040503050406030204" pitchFamily="18" charset="0"/>
                      </a:rPr>
                      <m:t>⇒</m:t>
                    </m:r>
                  </m:oMath>
                </a14:m>
                <a:r>
                  <a:rPr lang="en-AU" altLang="zh-CN" dirty="0"/>
                  <a:t>)</a:t>
                </a:r>
              </a:p>
              <a:p>
                <a:r>
                  <a:rPr lang="zh-CN" altLang="en-US" dirty="0"/>
                  <a:t>首先，</a:t>
                </a:r>
                <a14:m>
                  <m:oMath xmlns:m="http://schemas.openxmlformats.org/officeDocument/2006/math">
                    <m:r>
                      <a:rPr lang="en-AU" altLang="zh-CN" i="1">
                        <a:latin typeface="Cambria Math" panose="02040503050406030204" pitchFamily="18" charset="0"/>
                      </a:rPr>
                      <m:t>𝑤</m:t>
                    </m:r>
                    <m:r>
                      <a:rPr lang="en-AU" altLang="zh-CN" i="1">
                        <a:latin typeface="Cambria Math" panose="02040503050406030204" pitchFamily="18" charset="0"/>
                        <a:ea typeface="Cambria Math" panose="02040503050406030204" pitchFamily="18" charset="0"/>
                      </a:rPr>
                      <m:t>∈</m:t>
                    </m:r>
                    <m:r>
                      <a:rPr lang="en-AU" altLang="zh-CN" b="1">
                        <a:latin typeface="Cambria Math" panose="02040503050406030204" pitchFamily="18" charset="0"/>
                        <a:ea typeface="Cambria Math" panose="02040503050406030204" pitchFamily="18" charset="0"/>
                      </a:rPr>
                      <m:t>𝐍</m:t>
                    </m:r>
                    <m:d>
                      <m:dPr>
                        <m:ctrlPr>
                          <a:rPr lang="en-AU" altLang="zh-CN" i="1">
                            <a:latin typeface="Cambria Math" panose="02040503050406030204" pitchFamily="18" charset="0"/>
                            <a:ea typeface="Cambria Math" panose="02040503050406030204" pitchFamily="18" charset="0"/>
                          </a:rPr>
                        </m:ctrlPr>
                      </m:dPr>
                      <m:e>
                        <m:sSub>
                          <m:sSubPr>
                            <m:ctrlPr>
                              <a:rPr lang="en-AU" altLang="zh-CN" i="1">
                                <a:solidFill>
                                  <a:schemeClr val="accent5"/>
                                </a:solidFill>
                                <a:latin typeface="Cambria Math" panose="02040503050406030204" pitchFamily="18" charset="0"/>
                                <a:ea typeface="Cambria Math" panose="02040503050406030204" pitchFamily="18" charset="0"/>
                              </a:rPr>
                            </m:ctrlPr>
                          </m:sSubPr>
                          <m:e>
                            <m:r>
                              <a:rPr lang="en-AU" altLang="zh-CN" i="1">
                                <a:solidFill>
                                  <a:schemeClr val="accent5"/>
                                </a:solidFill>
                                <a:latin typeface="Cambria Math" panose="02040503050406030204" pitchFamily="18" charset="0"/>
                                <a:ea typeface="Cambria Math" panose="02040503050406030204" pitchFamily="18" charset="0"/>
                              </a:rPr>
                              <m:t>𝑃</m:t>
                            </m:r>
                          </m:e>
                          <m:sub>
                            <m:r>
                              <a:rPr lang="en-AU" altLang="zh-CN" i="1">
                                <a:solidFill>
                                  <a:schemeClr val="accent5"/>
                                </a:solidFill>
                                <a:latin typeface="Cambria Math" panose="02040503050406030204" pitchFamily="18" charset="0"/>
                                <a:ea typeface="Cambria Math" panose="02040503050406030204" pitchFamily="18" charset="0"/>
                              </a:rPr>
                              <m:t>𝑁</m:t>
                            </m:r>
                          </m:sub>
                        </m:sSub>
                      </m:e>
                    </m:d>
                  </m:oMath>
                </a14:m>
                <a:r>
                  <a:rPr lang="en-AU" altLang="zh-CN" dirty="0"/>
                  <a:t> </a:t>
                </a:r>
                <a14:m>
                  <m:oMath xmlns:m="http://schemas.openxmlformats.org/officeDocument/2006/math">
                    <m:r>
                      <a:rPr lang="en-AU" altLang="zh-CN" i="1" dirty="0">
                        <a:latin typeface="Cambria Math" panose="02040503050406030204" pitchFamily="18" charset="0"/>
                        <a:ea typeface="Cambria Math" panose="02040503050406030204" pitchFamily="18" charset="0"/>
                      </a:rPr>
                      <m:t>⇒</m:t>
                    </m:r>
                  </m:oMath>
                </a14:m>
                <a:r>
                  <a:rPr lang="en-AU" altLang="zh-CN" dirty="0"/>
                  <a:t> </a:t>
                </a:r>
                <a14:m>
                  <m:oMath xmlns:m="http://schemas.openxmlformats.org/officeDocument/2006/math">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r>
                      <a:rPr lang="en-AU" altLang="zh-CN" i="1" dirty="0">
                        <a:latin typeface="Cambria Math" panose="02040503050406030204" pitchFamily="18" charset="0"/>
                      </a:rPr>
                      <m:t>𝑤</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𝑍</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ea typeface="Cambria Math" panose="02040503050406030204" pitchFamily="18" charset="0"/>
                          </a:rPr>
                          <m:t>⊢</m:t>
                        </m:r>
                      </m:e>
                      <m:sub>
                        <m:sSub>
                          <m:sSubPr>
                            <m:ctrlPr>
                              <a:rPr lang="en-AU" altLang="zh-CN" i="1" dirty="0">
                                <a:solidFill>
                                  <a:srgbClr val="0070C0"/>
                                </a:solidFill>
                                <a:latin typeface="Cambria Math" panose="02040503050406030204" pitchFamily="18" charset="0"/>
                              </a:rPr>
                            </m:ctrlPr>
                          </m:sSubPr>
                          <m:e>
                            <m:r>
                              <a:rPr lang="en-AU" altLang="zh-CN" i="1" dirty="0">
                                <a:solidFill>
                                  <a:srgbClr val="0070C0"/>
                                </a:solidFill>
                                <a:latin typeface="Cambria Math" panose="02040503050406030204" pitchFamily="18" charset="0"/>
                              </a:rPr>
                              <m:t>𝑃</m:t>
                            </m:r>
                          </m:e>
                          <m:sub>
                            <m:r>
                              <a:rPr lang="en-AU" altLang="zh-CN" i="1" dirty="0">
                                <a:solidFill>
                                  <a:srgbClr val="0070C0"/>
                                </a:solidFill>
                                <a:latin typeface="Cambria Math" panose="02040503050406030204" pitchFamily="18" charset="0"/>
                              </a:rPr>
                              <m:t>𝑁</m:t>
                            </m:r>
                          </m:sub>
                        </m:sSub>
                      </m:sub>
                      <m:sup>
                        <m:r>
                          <a:rPr lang="en-AU" altLang="zh-CN" i="1" dirty="0">
                            <a:latin typeface="Cambria Math" panose="02040503050406030204" pitchFamily="18" charset="0"/>
                          </a:rPr>
                          <m:t>∗</m:t>
                        </m:r>
                      </m:sup>
                    </m:sSubSup>
                    <m:r>
                      <a:rPr lang="en-AU" altLang="zh-CN" i="1" dirty="0">
                        <a:latin typeface="Cambria Math" panose="02040503050406030204" pitchFamily="18" charset="0"/>
                      </a:rPr>
                      <m:t>(</m:t>
                    </m:r>
                    <m:r>
                      <a:rPr lang="en-AU" altLang="zh-CN" b="0" i="1" dirty="0" smtClean="0">
                        <a:latin typeface="Cambria Math" panose="02040503050406030204" pitchFamily="18" charset="0"/>
                      </a:rPr>
                      <m:t>𝑞</m:t>
                    </m:r>
                    <m:r>
                      <a:rPr lang="en-AU" altLang="zh-CN" i="1" dirty="0">
                        <a:latin typeface="Cambria Math" panose="02040503050406030204" pitchFamily="18" charset="0"/>
                      </a:rPr>
                      <m:t>,</m:t>
                    </m:r>
                    <m:r>
                      <a:rPr lang="zh-CN" altLang="en-AU" i="1" dirty="0">
                        <a:latin typeface="Cambria Math" panose="02040503050406030204" pitchFamily="18" charset="0"/>
                      </a:rPr>
                      <m:t>𝜀</m:t>
                    </m:r>
                    <m:r>
                      <a:rPr lang="en-AU" altLang="zh-CN" i="1" dirty="0">
                        <a:latin typeface="Cambria Math" panose="02040503050406030204" pitchFamily="18" charset="0"/>
                      </a:rPr>
                      <m:t>,</m:t>
                    </m:r>
                    <m:r>
                      <a:rPr lang="zh-CN" altLang="en-AU" i="1" dirty="0">
                        <a:latin typeface="Cambria Math" panose="02040503050406030204" pitchFamily="18" charset="0"/>
                      </a:rPr>
                      <m:t>𝜀</m:t>
                    </m:r>
                    <m:r>
                      <a:rPr lang="en-AU" altLang="zh-CN" i="1" dirty="0">
                        <a:latin typeface="Cambria Math" panose="02040503050406030204" pitchFamily="18" charset="0"/>
                      </a:rPr>
                      <m:t>)</m:t>
                    </m:r>
                  </m:oMath>
                </a14:m>
                <a:endParaRPr lang="en-AU" altLang="zh-CN" dirty="0"/>
              </a:p>
              <a:p>
                <a:r>
                  <a:rPr lang="zh-CN" altLang="en-US" dirty="0"/>
                  <a:t>在栈底增加了符号</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i="1" dirty="0">
                            <a:latin typeface="Cambria Math" panose="02040503050406030204" pitchFamily="18" charset="0"/>
                          </a:rPr>
                          <m:t>0</m:t>
                        </m:r>
                      </m:sub>
                    </m:sSub>
                  </m:oMath>
                </a14:m>
                <a:r>
                  <a:rPr lang="zh-CN" altLang="en-US" dirty="0"/>
                  <a:t>，则有</a:t>
                </a:r>
                <a14:m>
                  <m:oMath xmlns:m="http://schemas.openxmlformats.org/officeDocument/2006/math">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𝑞</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r>
                      <a:rPr lang="en-AU" altLang="zh-CN" i="1" dirty="0">
                        <a:latin typeface="Cambria Math" panose="02040503050406030204" pitchFamily="18" charset="0"/>
                      </a:rPr>
                      <m:t>𝑤</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ea typeface="Cambria Math" panose="02040503050406030204" pitchFamily="18" charset="0"/>
                          </a:rPr>
                          <m:t>⊢</m:t>
                        </m:r>
                      </m:e>
                      <m:sub>
                        <m:sSub>
                          <m:sSubPr>
                            <m:ctrlPr>
                              <a:rPr lang="en-AU" altLang="zh-CN" i="1" dirty="0">
                                <a:solidFill>
                                  <a:srgbClr val="0070C0"/>
                                </a:solidFill>
                                <a:latin typeface="Cambria Math" panose="02040503050406030204" pitchFamily="18" charset="0"/>
                              </a:rPr>
                            </m:ctrlPr>
                          </m:sSubPr>
                          <m:e>
                            <m:r>
                              <a:rPr lang="en-AU" altLang="zh-CN" i="1" dirty="0">
                                <a:solidFill>
                                  <a:srgbClr val="0070C0"/>
                                </a:solidFill>
                                <a:latin typeface="Cambria Math" panose="02040503050406030204" pitchFamily="18" charset="0"/>
                              </a:rPr>
                              <m:t>𝑃</m:t>
                            </m:r>
                          </m:e>
                          <m:sub>
                            <m:r>
                              <a:rPr lang="en-AU" altLang="zh-CN" i="1" dirty="0">
                                <a:solidFill>
                                  <a:srgbClr val="0070C0"/>
                                </a:solidFill>
                                <a:latin typeface="Cambria Math" panose="02040503050406030204" pitchFamily="18" charset="0"/>
                              </a:rPr>
                              <m:t>𝑁</m:t>
                            </m:r>
                          </m:sub>
                        </m:sSub>
                      </m:sub>
                      <m:sup>
                        <m:r>
                          <a:rPr lang="en-AU" altLang="zh-CN" i="1" dirty="0">
                            <a:latin typeface="Cambria Math" panose="02040503050406030204" pitchFamily="18" charset="0"/>
                          </a:rPr>
                          <m:t>∗</m:t>
                        </m:r>
                      </m:sup>
                    </m:sSubSup>
                    <m:r>
                      <a:rPr lang="en-AU" altLang="zh-CN" i="1" dirty="0">
                        <a:latin typeface="Cambria Math" panose="02040503050406030204" pitchFamily="18" charset="0"/>
                      </a:rPr>
                      <m:t>(</m:t>
                    </m:r>
                    <m:r>
                      <a:rPr lang="en-AU" altLang="zh-CN" i="1" dirty="0">
                        <a:latin typeface="Cambria Math" panose="02040503050406030204" pitchFamily="18" charset="0"/>
                      </a:rPr>
                      <m:t>𝑞</m:t>
                    </m:r>
                    <m:r>
                      <a:rPr lang="en-AU" altLang="zh-CN" i="1" dirty="0">
                        <a:latin typeface="Cambria Math" panose="02040503050406030204" pitchFamily="18" charset="0"/>
                      </a:rPr>
                      <m:t>,</m:t>
                    </m:r>
                    <m:r>
                      <a:rPr lang="zh-CN" altLang="en-AU" i="1" dirty="0">
                        <a:latin typeface="Cambria Math" panose="02040503050406030204" pitchFamily="18" charset="0"/>
                      </a:rPr>
                      <m:t>𝜀</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oMath>
                </a14:m>
                <a:endParaRPr lang="en-AU" altLang="zh-CN" dirty="0"/>
              </a:p>
              <a:p>
                <a:r>
                  <a:rPr lang="zh-CN" altLang="en-US" sz="2800" dirty="0"/>
                  <a:t>这个转移序列刚好也是</a:t>
                </a:r>
                <a14:m>
                  <m:oMath xmlns:m="http://schemas.openxmlformats.org/officeDocument/2006/math">
                    <m:sSub>
                      <m:sSubPr>
                        <m:ctrlPr>
                          <a:rPr lang="en-AU" altLang="zh-CN" i="1">
                            <a:solidFill>
                              <a:schemeClr val="accent6"/>
                            </a:solidFill>
                            <a:latin typeface="Cambria Math" panose="02040503050406030204" pitchFamily="18" charset="0"/>
                            <a:ea typeface="Cambria Math" panose="02040503050406030204" pitchFamily="18" charset="0"/>
                          </a:rPr>
                        </m:ctrlPr>
                      </m:sSubPr>
                      <m:e>
                        <m:r>
                          <a:rPr lang="en-AU" altLang="zh-CN" i="1">
                            <a:solidFill>
                              <a:schemeClr val="accent6"/>
                            </a:solidFill>
                            <a:latin typeface="Cambria Math" panose="02040503050406030204" pitchFamily="18" charset="0"/>
                            <a:ea typeface="Cambria Math" panose="02040503050406030204" pitchFamily="18" charset="0"/>
                          </a:rPr>
                          <m:t>𝑃</m:t>
                        </m:r>
                      </m:e>
                      <m:sub>
                        <m:r>
                          <a:rPr lang="en-AU" altLang="zh-CN" i="1">
                            <a:solidFill>
                              <a:schemeClr val="accent6"/>
                            </a:solidFill>
                            <a:latin typeface="Cambria Math" panose="02040503050406030204" pitchFamily="18" charset="0"/>
                            <a:ea typeface="Cambria Math" panose="02040503050406030204" pitchFamily="18" charset="0"/>
                          </a:rPr>
                          <m:t>𝐹</m:t>
                        </m:r>
                      </m:sub>
                    </m:sSub>
                  </m:oMath>
                </a14:m>
                <a:r>
                  <a:rPr lang="zh-CN" altLang="en-US" sz="2800" dirty="0"/>
                  <a:t>的转移序列</a:t>
                </a:r>
                <a:r>
                  <a:rPr lang="en-AU" altLang="zh-CN" sz="2800" dirty="0"/>
                  <a:t>(</a:t>
                </a:r>
                <a14:m>
                  <m:oMath xmlns:m="http://schemas.openxmlformats.org/officeDocument/2006/math">
                    <m:sSub>
                      <m:sSubPr>
                        <m:ctrlPr>
                          <a:rPr lang="en-AU" altLang="zh-CN" i="1">
                            <a:solidFill>
                              <a:schemeClr val="accent6"/>
                            </a:solidFill>
                            <a:latin typeface="Cambria Math" panose="02040503050406030204" pitchFamily="18" charset="0"/>
                            <a:ea typeface="Cambria Math" panose="02040503050406030204" pitchFamily="18" charset="0"/>
                          </a:rPr>
                        </m:ctrlPr>
                      </m:sSubPr>
                      <m:e>
                        <m:r>
                          <a:rPr lang="en-AU" altLang="zh-CN" i="1">
                            <a:solidFill>
                              <a:schemeClr val="accent6"/>
                            </a:solidFill>
                            <a:latin typeface="Cambria Math" panose="02040503050406030204" pitchFamily="18" charset="0"/>
                            <a:ea typeface="Cambria Math" panose="02040503050406030204" pitchFamily="18" charset="0"/>
                          </a:rPr>
                          <m:t>𝑃</m:t>
                        </m:r>
                      </m:e>
                      <m:sub>
                        <m:r>
                          <a:rPr lang="en-AU" altLang="zh-CN" i="1">
                            <a:solidFill>
                              <a:schemeClr val="accent6"/>
                            </a:solidFill>
                            <a:latin typeface="Cambria Math" panose="02040503050406030204" pitchFamily="18" charset="0"/>
                            <a:ea typeface="Cambria Math" panose="02040503050406030204" pitchFamily="18" charset="0"/>
                          </a:rPr>
                          <m:t>𝐹</m:t>
                        </m:r>
                      </m:sub>
                    </m:sSub>
                  </m:oMath>
                </a14:m>
                <a:r>
                  <a:rPr lang="zh-CN" altLang="en-US" sz="2800" dirty="0"/>
                  <a:t>模拟</a:t>
                </a:r>
                <a14:m>
                  <m:oMath xmlns:m="http://schemas.openxmlformats.org/officeDocument/2006/math">
                    <m:sSub>
                      <m:sSubPr>
                        <m:ctrlPr>
                          <a:rPr lang="en-AU" altLang="zh-CN" i="1">
                            <a:solidFill>
                              <a:schemeClr val="accent5"/>
                            </a:solidFill>
                            <a:latin typeface="Cambria Math" panose="02040503050406030204" pitchFamily="18" charset="0"/>
                            <a:ea typeface="Cambria Math" panose="02040503050406030204" pitchFamily="18" charset="0"/>
                          </a:rPr>
                        </m:ctrlPr>
                      </m:sSubPr>
                      <m:e>
                        <m:r>
                          <a:rPr lang="en-AU" altLang="zh-CN" i="1">
                            <a:solidFill>
                              <a:schemeClr val="accent5"/>
                            </a:solidFill>
                            <a:latin typeface="Cambria Math" panose="02040503050406030204" pitchFamily="18" charset="0"/>
                            <a:ea typeface="Cambria Math" panose="02040503050406030204" pitchFamily="18" charset="0"/>
                          </a:rPr>
                          <m:t>𝑃</m:t>
                        </m:r>
                      </m:e>
                      <m:sub>
                        <m:r>
                          <a:rPr lang="en-AU" altLang="zh-CN" i="1">
                            <a:solidFill>
                              <a:schemeClr val="accent5"/>
                            </a:solidFill>
                            <a:latin typeface="Cambria Math" panose="02040503050406030204" pitchFamily="18" charset="0"/>
                            <a:ea typeface="Cambria Math" panose="02040503050406030204" pitchFamily="18" charset="0"/>
                          </a:rPr>
                          <m:t>𝑁</m:t>
                        </m:r>
                      </m:sub>
                    </m:sSub>
                  </m:oMath>
                </a14:m>
                <a:r>
                  <a:rPr lang="en-AU" altLang="zh-CN" sz="2800" dirty="0"/>
                  <a:t>)</a:t>
                </a:r>
                <a:r>
                  <a:rPr lang="zh-CN" altLang="en-US" sz="2800" dirty="0"/>
                  <a:t>，因此</a:t>
                </a:r>
                <a14:m>
                  <m:oMath xmlns:m="http://schemas.openxmlformats.org/officeDocument/2006/math">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𝑞</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r>
                      <a:rPr lang="en-AU" altLang="zh-CN" i="1" dirty="0">
                        <a:latin typeface="Cambria Math" panose="02040503050406030204" pitchFamily="18" charset="0"/>
                      </a:rPr>
                      <m:t>𝑤</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ea typeface="Cambria Math" panose="02040503050406030204" pitchFamily="18" charset="0"/>
                          </a:rPr>
                          <m:t>⊢</m:t>
                        </m:r>
                      </m:e>
                      <m:sub>
                        <m:sSub>
                          <m:sSubPr>
                            <m:ctrlPr>
                              <a:rPr lang="en-AU" altLang="zh-CN" i="1" dirty="0" smtClean="0">
                                <a:solidFill>
                                  <a:schemeClr val="accent6"/>
                                </a:solidFill>
                                <a:latin typeface="Cambria Math" panose="02040503050406030204" pitchFamily="18" charset="0"/>
                              </a:rPr>
                            </m:ctrlPr>
                          </m:sSubPr>
                          <m:e>
                            <m:r>
                              <a:rPr lang="en-AU" altLang="zh-CN" i="1" dirty="0">
                                <a:solidFill>
                                  <a:schemeClr val="accent6"/>
                                </a:solidFill>
                                <a:latin typeface="Cambria Math" panose="02040503050406030204" pitchFamily="18" charset="0"/>
                              </a:rPr>
                              <m:t>𝑃</m:t>
                            </m:r>
                          </m:e>
                          <m:sub>
                            <m:r>
                              <a:rPr lang="en-AU" altLang="zh-CN" b="0" i="1" dirty="0" smtClean="0">
                                <a:solidFill>
                                  <a:schemeClr val="accent6"/>
                                </a:solidFill>
                                <a:latin typeface="Cambria Math" panose="02040503050406030204" pitchFamily="18" charset="0"/>
                              </a:rPr>
                              <m:t>𝐹</m:t>
                            </m:r>
                          </m:sub>
                        </m:sSub>
                      </m:sub>
                      <m:sup>
                        <m:r>
                          <a:rPr lang="en-AU" altLang="zh-CN" i="1" dirty="0">
                            <a:latin typeface="Cambria Math" panose="02040503050406030204" pitchFamily="18" charset="0"/>
                          </a:rPr>
                          <m:t>∗</m:t>
                        </m:r>
                      </m:sup>
                    </m:sSubSup>
                    <m:r>
                      <a:rPr lang="en-AU" altLang="zh-CN" i="1" dirty="0">
                        <a:latin typeface="Cambria Math" panose="02040503050406030204" pitchFamily="18" charset="0"/>
                      </a:rPr>
                      <m:t>(</m:t>
                    </m:r>
                    <m:r>
                      <a:rPr lang="en-AU" altLang="zh-CN" i="1" dirty="0">
                        <a:latin typeface="Cambria Math" panose="02040503050406030204" pitchFamily="18" charset="0"/>
                      </a:rPr>
                      <m:t>𝑞</m:t>
                    </m:r>
                    <m:r>
                      <a:rPr lang="en-AU" altLang="zh-CN" i="1" dirty="0">
                        <a:latin typeface="Cambria Math" panose="02040503050406030204" pitchFamily="18" charset="0"/>
                      </a:rPr>
                      <m:t>,</m:t>
                    </m:r>
                    <m:r>
                      <a:rPr lang="zh-CN" altLang="en-AU" i="1" dirty="0">
                        <a:latin typeface="Cambria Math" panose="02040503050406030204" pitchFamily="18" charset="0"/>
                      </a:rPr>
                      <m:t>𝜀</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oMath>
                </a14:m>
                <a:endParaRPr lang="en-AU" altLang="zh-CN" dirty="0"/>
              </a:p>
              <a:p>
                <a:r>
                  <a:rPr lang="zh-CN" altLang="en-US" dirty="0"/>
                  <a:t>根据</a:t>
                </a:r>
                <a14:m>
                  <m:oMath xmlns:m="http://schemas.openxmlformats.org/officeDocument/2006/math">
                    <m:sSub>
                      <m:sSubPr>
                        <m:ctrlPr>
                          <a:rPr lang="en-US" altLang="zh-CN" sz="2800" i="1" smtClean="0">
                            <a:latin typeface="Cambria Math" panose="02040503050406030204" pitchFamily="18" charset="0"/>
                          </a:rPr>
                        </m:ctrlPr>
                      </m:sSubPr>
                      <m:e>
                        <m:r>
                          <a:rPr lang="en-AU" altLang="zh-CN" sz="2800" b="0" i="1" smtClean="0">
                            <a:latin typeface="Cambria Math" panose="02040503050406030204" pitchFamily="18" charset="0"/>
                          </a:rPr>
                          <m:t>𝑃</m:t>
                        </m:r>
                      </m:e>
                      <m:sub>
                        <m:r>
                          <a:rPr lang="en-AU" altLang="zh-CN" sz="2800" b="0" i="1" smtClean="0">
                            <a:latin typeface="Cambria Math" panose="02040503050406030204" pitchFamily="18" charset="0"/>
                          </a:rPr>
                          <m:t>𝐹</m:t>
                        </m:r>
                      </m:sub>
                    </m:sSub>
                  </m:oMath>
                </a14:m>
                <a:r>
                  <a:rPr lang="zh-CN" altLang="en-US" dirty="0"/>
                  <a:t>构造，在开始状态</a:t>
                </a:r>
                <a14:m>
                  <m:oMath xmlns:m="http://schemas.openxmlformats.org/officeDocument/2006/math">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𝑝</m:t>
                        </m:r>
                      </m:e>
                      <m:sub>
                        <m:r>
                          <a:rPr lang="en-AU" altLang="zh-CN" i="1" dirty="0">
                            <a:latin typeface="Cambria Math" panose="02040503050406030204" pitchFamily="18" charset="0"/>
                          </a:rPr>
                          <m:t>0</m:t>
                        </m:r>
                      </m:sub>
                    </m:sSub>
                  </m:oMath>
                </a14:m>
                <a:r>
                  <a:rPr lang="zh-CN" altLang="en-US" dirty="0"/>
                  <a:t>通过空转移，有</a:t>
                </a:r>
                <a14:m>
                  <m:oMath xmlns:m="http://schemas.openxmlformats.org/officeDocument/2006/math">
                    <m:r>
                      <a:rPr lang="en-AU" altLang="zh-CN" i="1" dirty="0" smtClean="0">
                        <a:solidFill>
                          <a:srgbClr val="7030A0"/>
                        </a:solidFill>
                        <a:latin typeface="Cambria Math" panose="02040503050406030204" pitchFamily="18" charset="0"/>
                      </a:rPr>
                      <m:t>(</m:t>
                    </m:r>
                    <m:sSub>
                      <m:sSubPr>
                        <m:ctrlPr>
                          <a:rPr lang="en-AU" altLang="zh-CN" i="1" dirty="0">
                            <a:solidFill>
                              <a:srgbClr val="7030A0"/>
                            </a:solidFill>
                            <a:latin typeface="Cambria Math" panose="02040503050406030204" pitchFamily="18" charset="0"/>
                          </a:rPr>
                        </m:ctrlPr>
                      </m:sSubPr>
                      <m:e>
                        <m:r>
                          <a:rPr lang="en-AU" altLang="zh-CN" b="0" i="1" dirty="0" smtClean="0">
                            <a:solidFill>
                              <a:srgbClr val="7030A0"/>
                            </a:solidFill>
                            <a:latin typeface="Cambria Math" panose="02040503050406030204" pitchFamily="18" charset="0"/>
                          </a:rPr>
                          <m:t>𝑝</m:t>
                        </m:r>
                      </m:e>
                      <m:sub>
                        <m:r>
                          <a:rPr lang="en-AU" altLang="zh-CN" i="1" dirty="0">
                            <a:solidFill>
                              <a:srgbClr val="7030A0"/>
                            </a:solidFill>
                            <a:latin typeface="Cambria Math" panose="02040503050406030204" pitchFamily="18" charset="0"/>
                          </a:rPr>
                          <m:t>0</m:t>
                        </m:r>
                      </m:sub>
                    </m:sSub>
                    <m:r>
                      <a:rPr lang="en-AU" altLang="zh-CN" i="1" dirty="0">
                        <a:solidFill>
                          <a:srgbClr val="7030A0"/>
                        </a:solidFill>
                        <a:latin typeface="Cambria Math" panose="02040503050406030204" pitchFamily="18" charset="0"/>
                      </a:rPr>
                      <m:t>,</m:t>
                    </m:r>
                    <m:r>
                      <a:rPr lang="en-AU" altLang="zh-CN" i="1" dirty="0">
                        <a:solidFill>
                          <a:srgbClr val="7030A0"/>
                        </a:solidFill>
                        <a:latin typeface="Cambria Math" panose="02040503050406030204" pitchFamily="18" charset="0"/>
                      </a:rPr>
                      <m:t>𝑤</m:t>
                    </m:r>
                    <m:r>
                      <a:rPr lang="en-AU" altLang="zh-CN" i="1" dirty="0">
                        <a:solidFill>
                          <a:srgbClr val="7030A0"/>
                        </a:solidFill>
                        <a:latin typeface="Cambria Math" panose="02040503050406030204" pitchFamily="18" charset="0"/>
                      </a:rPr>
                      <m:t>, </m:t>
                    </m:r>
                    <m:sSub>
                      <m:sSubPr>
                        <m:ctrlPr>
                          <a:rPr lang="en-AU" altLang="zh-CN" i="1" dirty="0">
                            <a:solidFill>
                              <a:srgbClr val="7030A0"/>
                            </a:solidFill>
                            <a:latin typeface="Cambria Math" panose="02040503050406030204" pitchFamily="18" charset="0"/>
                          </a:rPr>
                        </m:ctrlPr>
                      </m:sSubPr>
                      <m:e>
                        <m:r>
                          <a:rPr lang="en-AU" altLang="zh-CN" i="1" dirty="0">
                            <a:solidFill>
                              <a:srgbClr val="7030A0"/>
                            </a:solidFill>
                            <a:latin typeface="Cambria Math" panose="02040503050406030204" pitchFamily="18" charset="0"/>
                          </a:rPr>
                          <m:t>𝑋</m:t>
                        </m:r>
                      </m:e>
                      <m:sub>
                        <m:r>
                          <a:rPr lang="en-AU" altLang="zh-CN" i="1" dirty="0">
                            <a:solidFill>
                              <a:srgbClr val="7030A0"/>
                            </a:solidFill>
                            <a:latin typeface="Cambria Math" panose="02040503050406030204" pitchFamily="18" charset="0"/>
                          </a:rPr>
                          <m:t>0</m:t>
                        </m:r>
                      </m:sub>
                    </m:sSub>
                    <m:r>
                      <a:rPr lang="en-AU" altLang="zh-CN" i="1" dirty="0">
                        <a:solidFill>
                          <a:srgbClr val="7030A0"/>
                        </a:solidFill>
                        <a:latin typeface="Cambria Math" panose="02040503050406030204" pitchFamily="18" charset="0"/>
                      </a:rPr>
                      <m:t>)</m:t>
                    </m:r>
                    <m:sSub>
                      <m:sSubPr>
                        <m:ctrlPr>
                          <a:rPr lang="en-AU" altLang="zh-CN" i="1" dirty="0" smtClean="0">
                            <a:latin typeface="Cambria Math" panose="02040503050406030204" pitchFamily="18" charset="0"/>
                          </a:rPr>
                        </m:ctrlPr>
                      </m:sSubPr>
                      <m:e>
                        <m:r>
                          <a:rPr lang="en-AU" altLang="zh-CN" i="1" dirty="0" smtClean="0">
                            <a:latin typeface="Cambria Math" panose="02040503050406030204" pitchFamily="18" charset="0"/>
                            <a:ea typeface="Cambria Math" panose="02040503050406030204" pitchFamily="18" charset="0"/>
                          </a:rPr>
                          <m:t>⊢</m:t>
                        </m:r>
                      </m:e>
                      <m:sub>
                        <m:sSub>
                          <m:sSubPr>
                            <m:ctrlPr>
                              <a:rPr lang="en-AU" altLang="zh-CN" i="1" dirty="0">
                                <a:solidFill>
                                  <a:schemeClr val="accent6"/>
                                </a:solidFill>
                                <a:latin typeface="Cambria Math" panose="02040503050406030204" pitchFamily="18" charset="0"/>
                              </a:rPr>
                            </m:ctrlPr>
                          </m:sSubPr>
                          <m:e>
                            <m:r>
                              <a:rPr lang="en-AU" altLang="zh-CN" i="1" dirty="0">
                                <a:solidFill>
                                  <a:schemeClr val="accent6"/>
                                </a:solidFill>
                                <a:latin typeface="Cambria Math" panose="02040503050406030204" pitchFamily="18" charset="0"/>
                              </a:rPr>
                              <m:t>𝑃</m:t>
                            </m:r>
                          </m:e>
                          <m:sub>
                            <m:r>
                              <a:rPr lang="en-AU" altLang="zh-CN" i="1" dirty="0">
                                <a:solidFill>
                                  <a:schemeClr val="accent6"/>
                                </a:solidFill>
                                <a:latin typeface="Cambria Math" panose="02040503050406030204" pitchFamily="18" charset="0"/>
                              </a:rPr>
                              <m:t>𝐹</m:t>
                            </m:r>
                          </m:sub>
                        </m:sSub>
                      </m:sub>
                    </m:sSub>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𝑞</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r>
                      <a:rPr lang="en-AU" altLang="zh-CN" i="1" dirty="0">
                        <a:latin typeface="Cambria Math" panose="02040503050406030204" pitchFamily="18" charset="0"/>
                      </a:rPr>
                      <m:t>𝑤</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oMath>
                </a14:m>
                <a:r>
                  <a:rPr lang="en-AU" altLang="zh-CN" dirty="0"/>
                  <a:t> </a:t>
                </a:r>
                <a14:m>
                  <m:oMath xmlns:m="http://schemas.openxmlformats.org/officeDocument/2006/math">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ea typeface="Cambria Math" panose="02040503050406030204" pitchFamily="18" charset="0"/>
                          </a:rPr>
                          <m:t>⊢</m:t>
                        </m:r>
                      </m:e>
                      <m:sub>
                        <m:sSub>
                          <m:sSubPr>
                            <m:ctrlPr>
                              <a:rPr lang="en-AU" altLang="zh-CN" i="1" dirty="0">
                                <a:solidFill>
                                  <a:schemeClr val="accent6"/>
                                </a:solidFill>
                                <a:latin typeface="Cambria Math" panose="02040503050406030204" pitchFamily="18" charset="0"/>
                              </a:rPr>
                            </m:ctrlPr>
                          </m:sSubPr>
                          <m:e>
                            <m:r>
                              <a:rPr lang="en-AU" altLang="zh-CN" i="1" dirty="0">
                                <a:solidFill>
                                  <a:schemeClr val="accent6"/>
                                </a:solidFill>
                                <a:latin typeface="Cambria Math" panose="02040503050406030204" pitchFamily="18" charset="0"/>
                              </a:rPr>
                              <m:t>𝑃</m:t>
                            </m:r>
                          </m:e>
                          <m:sub>
                            <m:r>
                              <a:rPr lang="en-AU" altLang="zh-CN" i="1" dirty="0">
                                <a:solidFill>
                                  <a:schemeClr val="accent6"/>
                                </a:solidFill>
                                <a:latin typeface="Cambria Math" panose="02040503050406030204" pitchFamily="18" charset="0"/>
                              </a:rPr>
                              <m:t>𝐹</m:t>
                            </m:r>
                          </m:sub>
                        </m:sSub>
                      </m:sub>
                      <m:sup>
                        <m:r>
                          <a:rPr lang="en-AU" altLang="zh-CN" i="1" dirty="0">
                            <a:latin typeface="Cambria Math" panose="02040503050406030204" pitchFamily="18" charset="0"/>
                          </a:rPr>
                          <m:t>∗</m:t>
                        </m:r>
                      </m:sup>
                    </m:sSubSup>
                    <m:r>
                      <a:rPr lang="en-AU" altLang="zh-CN" i="1" dirty="0">
                        <a:latin typeface="Cambria Math" panose="02040503050406030204" pitchFamily="18" charset="0"/>
                      </a:rPr>
                      <m:t>(</m:t>
                    </m:r>
                    <m:r>
                      <a:rPr lang="en-AU" altLang="zh-CN" i="1" dirty="0">
                        <a:latin typeface="Cambria Math" panose="02040503050406030204" pitchFamily="18" charset="0"/>
                      </a:rPr>
                      <m:t>𝑞</m:t>
                    </m:r>
                    <m:r>
                      <a:rPr lang="en-AU" altLang="zh-CN" i="1" dirty="0">
                        <a:latin typeface="Cambria Math" panose="02040503050406030204" pitchFamily="18" charset="0"/>
                      </a:rPr>
                      <m:t>,</m:t>
                    </m:r>
                    <m:r>
                      <a:rPr lang="zh-CN" altLang="en-AU" i="1" dirty="0">
                        <a:latin typeface="Cambria Math" panose="02040503050406030204" pitchFamily="18" charset="0"/>
                      </a:rPr>
                      <m:t>𝜀</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oMath>
                </a14:m>
                <a:endParaRPr lang="en-AU" altLang="zh-CN" dirty="0"/>
              </a:p>
              <a:p>
                <a:r>
                  <a:rPr lang="zh-CN" altLang="en-US" dirty="0"/>
                  <a:t>根据</a:t>
                </a:r>
                <a14:m>
                  <m:oMath xmlns:m="http://schemas.openxmlformats.org/officeDocument/2006/math">
                    <m:sSub>
                      <m:sSubPr>
                        <m:ctrlPr>
                          <a:rPr lang="en-US" altLang="zh-CN" sz="2800" i="1" smtClean="0">
                            <a:latin typeface="Cambria Math" panose="02040503050406030204" pitchFamily="18" charset="0"/>
                          </a:rPr>
                        </m:ctrlPr>
                      </m:sSubPr>
                      <m:e>
                        <m:r>
                          <a:rPr lang="en-AU" altLang="zh-CN" sz="2800" b="0" i="1" smtClean="0">
                            <a:latin typeface="Cambria Math" panose="02040503050406030204" pitchFamily="18" charset="0"/>
                          </a:rPr>
                          <m:t>𝑃</m:t>
                        </m:r>
                      </m:e>
                      <m:sub>
                        <m:r>
                          <a:rPr lang="en-AU" altLang="zh-CN" sz="2800" b="0" i="1" smtClean="0">
                            <a:latin typeface="Cambria Math" panose="02040503050406030204" pitchFamily="18" charset="0"/>
                          </a:rPr>
                          <m:t>𝐹</m:t>
                        </m:r>
                      </m:sub>
                    </m:sSub>
                  </m:oMath>
                </a14:m>
                <a:r>
                  <a:rPr lang="zh-CN" altLang="en-US" dirty="0"/>
                  <a:t>构造中接受状态</a:t>
                </a: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𝑝</m:t>
                        </m:r>
                      </m:e>
                      <m:sub>
                        <m:r>
                          <a:rPr lang="en-AU" altLang="zh-CN" b="0" i="1" dirty="0" smtClean="0">
                            <a:latin typeface="Cambria Math" panose="02040503050406030204" pitchFamily="18" charset="0"/>
                          </a:rPr>
                          <m:t>𝑓</m:t>
                        </m:r>
                      </m:sub>
                    </m:sSub>
                  </m:oMath>
                </a14:m>
                <a:r>
                  <a:rPr lang="zh-CN" altLang="en-US" dirty="0"/>
                  <a:t>的动作，有</a:t>
                </a:r>
                <a14:m>
                  <m:oMath xmlns:m="http://schemas.openxmlformats.org/officeDocument/2006/math">
                    <m:r>
                      <a:rPr lang="en-AU" altLang="zh-CN" i="1" dirty="0" smtClean="0">
                        <a:solidFill>
                          <a:srgbClr val="7030A0"/>
                        </a:solidFill>
                        <a:latin typeface="Cambria Math" panose="02040503050406030204" pitchFamily="18" charset="0"/>
                      </a:rPr>
                      <m:t>(</m:t>
                    </m:r>
                    <m:sSub>
                      <m:sSubPr>
                        <m:ctrlPr>
                          <a:rPr lang="en-AU" altLang="zh-CN" i="1" dirty="0">
                            <a:solidFill>
                              <a:srgbClr val="7030A0"/>
                            </a:solidFill>
                            <a:latin typeface="Cambria Math" panose="02040503050406030204" pitchFamily="18" charset="0"/>
                          </a:rPr>
                        </m:ctrlPr>
                      </m:sSubPr>
                      <m:e>
                        <m:r>
                          <a:rPr lang="en-AU" altLang="zh-CN" b="0" i="1" dirty="0" smtClean="0">
                            <a:solidFill>
                              <a:srgbClr val="7030A0"/>
                            </a:solidFill>
                            <a:latin typeface="Cambria Math" panose="02040503050406030204" pitchFamily="18" charset="0"/>
                          </a:rPr>
                          <m:t>𝑝</m:t>
                        </m:r>
                      </m:e>
                      <m:sub>
                        <m:r>
                          <a:rPr lang="en-AU" altLang="zh-CN" i="1" dirty="0">
                            <a:solidFill>
                              <a:srgbClr val="7030A0"/>
                            </a:solidFill>
                            <a:latin typeface="Cambria Math" panose="02040503050406030204" pitchFamily="18" charset="0"/>
                          </a:rPr>
                          <m:t>0</m:t>
                        </m:r>
                      </m:sub>
                    </m:sSub>
                    <m:r>
                      <a:rPr lang="en-AU" altLang="zh-CN" i="1" dirty="0">
                        <a:solidFill>
                          <a:srgbClr val="7030A0"/>
                        </a:solidFill>
                        <a:latin typeface="Cambria Math" panose="02040503050406030204" pitchFamily="18" charset="0"/>
                      </a:rPr>
                      <m:t>,</m:t>
                    </m:r>
                    <m:r>
                      <a:rPr lang="en-AU" altLang="zh-CN" i="1" dirty="0">
                        <a:solidFill>
                          <a:srgbClr val="7030A0"/>
                        </a:solidFill>
                        <a:latin typeface="Cambria Math" panose="02040503050406030204" pitchFamily="18" charset="0"/>
                      </a:rPr>
                      <m:t>𝑤</m:t>
                    </m:r>
                    <m:r>
                      <a:rPr lang="en-AU" altLang="zh-CN" i="1" dirty="0">
                        <a:solidFill>
                          <a:srgbClr val="7030A0"/>
                        </a:solidFill>
                        <a:latin typeface="Cambria Math" panose="02040503050406030204" pitchFamily="18" charset="0"/>
                      </a:rPr>
                      <m:t>, </m:t>
                    </m:r>
                    <m:sSub>
                      <m:sSubPr>
                        <m:ctrlPr>
                          <a:rPr lang="en-AU" altLang="zh-CN" i="1" dirty="0">
                            <a:solidFill>
                              <a:srgbClr val="7030A0"/>
                            </a:solidFill>
                            <a:latin typeface="Cambria Math" panose="02040503050406030204" pitchFamily="18" charset="0"/>
                          </a:rPr>
                        </m:ctrlPr>
                      </m:sSubPr>
                      <m:e>
                        <m:r>
                          <a:rPr lang="en-AU" altLang="zh-CN" i="1" dirty="0">
                            <a:solidFill>
                              <a:srgbClr val="7030A0"/>
                            </a:solidFill>
                            <a:latin typeface="Cambria Math" panose="02040503050406030204" pitchFamily="18" charset="0"/>
                          </a:rPr>
                          <m:t>𝑋</m:t>
                        </m:r>
                      </m:e>
                      <m:sub>
                        <m:r>
                          <a:rPr lang="en-AU" altLang="zh-CN" i="1" dirty="0">
                            <a:solidFill>
                              <a:srgbClr val="7030A0"/>
                            </a:solidFill>
                            <a:latin typeface="Cambria Math" panose="02040503050406030204" pitchFamily="18" charset="0"/>
                          </a:rPr>
                          <m:t>0</m:t>
                        </m:r>
                      </m:sub>
                    </m:sSub>
                    <m:r>
                      <a:rPr lang="en-AU" altLang="zh-CN" i="1" dirty="0">
                        <a:solidFill>
                          <a:srgbClr val="7030A0"/>
                        </a:solidFill>
                        <a:latin typeface="Cambria Math" panose="02040503050406030204" pitchFamily="18" charset="0"/>
                      </a:rPr>
                      <m:t>)</m:t>
                    </m:r>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ea typeface="Cambria Math" panose="02040503050406030204" pitchFamily="18" charset="0"/>
                          </a:rPr>
                          <m:t>⊢</m:t>
                        </m:r>
                      </m:e>
                      <m:sub>
                        <m:sSub>
                          <m:sSubPr>
                            <m:ctrlPr>
                              <a:rPr lang="en-AU" altLang="zh-CN" i="1" dirty="0">
                                <a:solidFill>
                                  <a:schemeClr val="accent6"/>
                                </a:solidFill>
                                <a:latin typeface="Cambria Math" panose="02040503050406030204" pitchFamily="18" charset="0"/>
                              </a:rPr>
                            </m:ctrlPr>
                          </m:sSubPr>
                          <m:e>
                            <m:r>
                              <a:rPr lang="en-AU" altLang="zh-CN" i="1" dirty="0">
                                <a:solidFill>
                                  <a:schemeClr val="accent6"/>
                                </a:solidFill>
                                <a:latin typeface="Cambria Math" panose="02040503050406030204" pitchFamily="18" charset="0"/>
                              </a:rPr>
                              <m:t>𝑃</m:t>
                            </m:r>
                          </m:e>
                          <m:sub>
                            <m:r>
                              <a:rPr lang="en-AU" altLang="zh-CN" i="1" dirty="0">
                                <a:solidFill>
                                  <a:schemeClr val="accent6"/>
                                </a:solidFill>
                                <a:latin typeface="Cambria Math" panose="02040503050406030204" pitchFamily="18" charset="0"/>
                              </a:rPr>
                              <m:t>𝐹</m:t>
                            </m:r>
                          </m:sub>
                        </m:sSub>
                      </m:sub>
                      <m:sup>
                        <m:r>
                          <a:rPr lang="en-AU" altLang="zh-CN" i="1" dirty="0">
                            <a:latin typeface="Cambria Math" panose="02040503050406030204" pitchFamily="18" charset="0"/>
                          </a:rPr>
                          <m:t>∗</m:t>
                        </m:r>
                      </m:sup>
                    </m:sSubSup>
                    <m:r>
                      <a:rPr lang="en-AU" altLang="zh-CN" i="1" dirty="0">
                        <a:latin typeface="Cambria Math" panose="02040503050406030204" pitchFamily="18" charset="0"/>
                      </a:rPr>
                      <m:t>(</m:t>
                    </m:r>
                    <m:r>
                      <a:rPr lang="en-AU" altLang="zh-CN" i="1" dirty="0">
                        <a:latin typeface="Cambria Math" panose="02040503050406030204" pitchFamily="18" charset="0"/>
                      </a:rPr>
                      <m:t>𝑞</m:t>
                    </m:r>
                    <m:r>
                      <a:rPr lang="en-AU" altLang="zh-CN" i="1" dirty="0">
                        <a:latin typeface="Cambria Math" panose="02040503050406030204" pitchFamily="18" charset="0"/>
                      </a:rPr>
                      <m:t>,</m:t>
                    </m:r>
                    <m:r>
                      <a:rPr lang="zh-CN" altLang="en-AU" i="1" dirty="0">
                        <a:latin typeface="Cambria Math" panose="02040503050406030204" pitchFamily="18" charset="0"/>
                      </a:rPr>
                      <m:t>𝜀</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m:t>
                        </m:r>
                      </m:e>
                      <m:sub>
                        <m:sSub>
                          <m:sSubPr>
                            <m:ctrlPr>
                              <a:rPr lang="en-AU" altLang="zh-CN" i="1" dirty="0">
                                <a:solidFill>
                                  <a:schemeClr val="accent6"/>
                                </a:solidFill>
                                <a:latin typeface="Cambria Math" panose="02040503050406030204" pitchFamily="18" charset="0"/>
                              </a:rPr>
                            </m:ctrlPr>
                          </m:sSubPr>
                          <m:e>
                            <m:r>
                              <a:rPr lang="en-AU" altLang="zh-CN" i="1" dirty="0">
                                <a:solidFill>
                                  <a:schemeClr val="accent6"/>
                                </a:solidFill>
                                <a:latin typeface="Cambria Math" panose="02040503050406030204" pitchFamily="18" charset="0"/>
                              </a:rPr>
                              <m:t>𝑃</m:t>
                            </m:r>
                          </m:e>
                          <m:sub>
                            <m:r>
                              <a:rPr lang="en-AU" altLang="zh-CN" i="1" dirty="0">
                                <a:solidFill>
                                  <a:schemeClr val="accent6"/>
                                </a:solidFill>
                                <a:latin typeface="Cambria Math" panose="02040503050406030204" pitchFamily="18" charset="0"/>
                              </a:rPr>
                              <m:t>𝐹</m:t>
                            </m:r>
                          </m:sub>
                        </m:sSub>
                      </m:sub>
                    </m:sSub>
                    <m:r>
                      <a:rPr lang="en-AU" altLang="zh-CN" i="1" dirty="0" smtClean="0">
                        <a:solidFill>
                          <a:srgbClr val="FF0000"/>
                        </a:solidFill>
                        <a:latin typeface="Cambria Math" panose="02040503050406030204" pitchFamily="18" charset="0"/>
                      </a:rPr>
                      <m:t>(</m:t>
                    </m:r>
                    <m:sSub>
                      <m:sSubPr>
                        <m:ctrlPr>
                          <a:rPr lang="en-AU" altLang="zh-CN" i="1" dirty="0">
                            <a:solidFill>
                              <a:srgbClr val="FF0000"/>
                            </a:solidFill>
                            <a:latin typeface="Cambria Math" panose="02040503050406030204" pitchFamily="18" charset="0"/>
                          </a:rPr>
                        </m:ctrlPr>
                      </m:sSubPr>
                      <m:e>
                        <m:r>
                          <a:rPr lang="en-AU" altLang="zh-CN" b="0" i="1" dirty="0" smtClean="0">
                            <a:solidFill>
                              <a:srgbClr val="FF0000"/>
                            </a:solidFill>
                            <a:latin typeface="Cambria Math" panose="02040503050406030204" pitchFamily="18" charset="0"/>
                          </a:rPr>
                          <m:t>𝑝</m:t>
                        </m:r>
                      </m:e>
                      <m:sub>
                        <m:r>
                          <a:rPr lang="en-AU" altLang="zh-CN" b="0" i="1" dirty="0" smtClean="0">
                            <a:solidFill>
                              <a:srgbClr val="FF0000"/>
                            </a:solidFill>
                            <a:latin typeface="Cambria Math" panose="02040503050406030204" pitchFamily="18" charset="0"/>
                          </a:rPr>
                          <m:t>𝑓</m:t>
                        </m:r>
                      </m:sub>
                    </m:sSub>
                    <m:r>
                      <a:rPr lang="en-AU" altLang="zh-CN" i="1" dirty="0">
                        <a:solidFill>
                          <a:srgbClr val="FF0000"/>
                        </a:solidFill>
                        <a:latin typeface="Cambria Math" panose="02040503050406030204" pitchFamily="18" charset="0"/>
                      </a:rPr>
                      <m:t>,</m:t>
                    </m:r>
                    <m:r>
                      <a:rPr lang="zh-CN" altLang="en-AU" i="1" dirty="0">
                        <a:solidFill>
                          <a:srgbClr val="FF0000"/>
                        </a:solidFill>
                        <a:latin typeface="Cambria Math" panose="02040503050406030204" pitchFamily="18" charset="0"/>
                      </a:rPr>
                      <m:t>𝜀</m:t>
                    </m:r>
                    <m:r>
                      <a:rPr lang="en-AU" altLang="zh-CN" b="0" i="1" dirty="0" smtClean="0">
                        <a:solidFill>
                          <a:srgbClr val="FF0000"/>
                        </a:solidFill>
                        <a:latin typeface="Cambria Math" panose="02040503050406030204" pitchFamily="18" charset="0"/>
                      </a:rPr>
                      <m:t>,</m:t>
                    </m:r>
                    <m:r>
                      <a:rPr lang="zh-CN" altLang="en-AU" i="1" dirty="0">
                        <a:solidFill>
                          <a:srgbClr val="FF0000"/>
                        </a:solidFill>
                        <a:latin typeface="Cambria Math" panose="02040503050406030204" pitchFamily="18" charset="0"/>
                      </a:rPr>
                      <m:t>𝜀</m:t>
                    </m:r>
                    <m:r>
                      <a:rPr lang="en-AU" altLang="zh-CN" i="1" dirty="0">
                        <a:solidFill>
                          <a:srgbClr val="FF0000"/>
                        </a:solidFill>
                        <a:latin typeface="Cambria Math" panose="02040503050406030204" pitchFamily="18" charset="0"/>
                      </a:rPr>
                      <m:t>)</m:t>
                    </m:r>
                    <m:r>
                      <a:rPr lang="zh-CN" altLang="en-US" i="1" dirty="0" smtClean="0">
                        <a:solidFill>
                          <a:schemeClr val="tx1"/>
                        </a:solidFill>
                        <a:latin typeface="Cambria Math" panose="02040503050406030204" pitchFamily="18" charset="0"/>
                      </a:rPr>
                      <m:t>，</m:t>
                    </m:r>
                  </m:oMath>
                </a14:m>
                <a:r>
                  <a:rPr lang="zh-CN" altLang="en-US" dirty="0"/>
                  <a:t>即</a:t>
                </a:r>
                <a14:m>
                  <m:oMath xmlns:m="http://schemas.openxmlformats.org/officeDocument/2006/math">
                    <m:r>
                      <a:rPr lang="en-AU" altLang="zh-CN" i="1" dirty="0" smtClean="0">
                        <a:solidFill>
                          <a:srgbClr val="7030A0"/>
                        </a:solidFill>
                        <a:latin typeface="Cambria Math" panose="02040503050406030204" pitchFamily="18" charset="0"/>
                      </a:rPr>
                      <m:t>(</m:t>
                    </m:r>
                    <m:sSub>
                      <m:sSubPr>
                        <m:ctrlPr>
                          <a:rPr lang="en-AU" altLang="zh-CN" i="1" dirty="0">
                            <a:solidFill>
                              <a:srgbClr val="7030A0"/>
                            </a:solidFill>
                            <a:latin typeface="Cambria Math" panose="02040503050406030204" pitchFamily="18" charset="0"/>
                          </a:rPr>
                        </m:ctrlPr>
                      </m:sSubPr>
                      <m:e>
                        <m:r>
                          <a:rPr lang="en-AU" altLang="zh-CN" b="0" i="1" dirty="0" smtClean="0">
                            <a:solidFill>
                              <a:srgbClr val="7030A0"/>
                            </a:solidFill>
                            <a:latin typeface="Cambria Math" panose="02040503050406030204" pitchFamily="18" charset="0"/>
                          </a:rPr>
                          <m:t>𝑝</m:t>
                        </m:r>
                      </m:e>
                      <m:sub>
                        <m:r>
                          <a:rPr lang="en-AU" altLang="zh-CN" i="1" dirty="0">
                            <a:solidFill>
                              <a:srgbClr val="7030A0"/>
                            </a:solidFill>
                            <a:latin typeface="Cambria Math" panose="02040503050406030204" pitchFamily="18" charset="0"/>
                          </a:rPr>
                          <m:t>0</m:t>
                        </m:r>
                      </m:sub>
                    </m:sSub>
                    <m:r>
                      <a:rPr lang="en-AU" altLang="zh-CN" i="1" dirty="0">
                        <a:solidFill>
                          <a:srgbClr val="7030A0"/>
                        </a:solidFill>
                        <a:latin typeface="Cambria Math" panose="02040503050406030204" pitchFamily="18" charset="0"/>
                      </a:rPr>
                      <m:t>,</m:t>
                    </m:r>
                    <m:r>
                      <a:rPr lang="en-AU" altLang="zh-CN" i="1" dirty="0">
                        <a:solidFill>
                          <a:srgbClr val="7030A0"/>
                        </a:solidFill>
                        <a:latin typeface="Cambria Math" panose="02040503050406030204" pitchFamily="18" charset="0"/>
                      </a:rPr>
                      <m:t>𝑤</m:t>
                    </m:r>
                    <m:r>
                      <a:rPr lang="en-AU" altLang="zh-CN" i="1" dirty="0">
                        <a:solidFill>
                          <a:srgbClr val="7030A0"/>
                        </a:solidFill>
                        <a:latin typeface="Cambria Math" panose="02040503050406030204" pitchFamily="18" charset="0"/>
                      </a:rPr>
                      <m:t>, </m:t>
                    </m:r>
                    <m:sSub>
                      <m:sSubPr>
                        <m:ctrlPr>
                          <a:rPr lang="en-AU" altLang="zh-CN" i="1" dirty="0">
                            <a:solidFill>
                              <a:srgbClr val="7030A0"/>
                            </a:solidFill>
                            <a:latin typeface="Cambria Math" panose="02040503050406030204" pitchFamily="18" charset="0"/>
                          </a:rPr>
                        </m:ctrlPr>
                      </m:sSubPr>
                      <m:e>
                        <m:r>
                          <a:rPr lang="en-AU" altLang="zh-CN" i="1" dirty="0">
                            <a:solidFill>
                              <a:srgbClr val="7030A0"/>
                            </a:solidFill>
                            <a:latin typeface="Cambria Math" panose="02040503050406030204" pitchFamily="18" charset="0"/>
                          </a:rPr>
                          <m:t>𝑋</m:t>
                        </m:r>
                      </m:e>
                      <m:sub>
                        <m:r>
                          <a:rPr lang="en-AU" altLang="zh-CN" i="1" dirty="0">
                            <a:solidFill>
                              <a:srgbClr val="7030A0"/>
                            </a:solidFill>
                            <a:latin typeface="Cambria Math" panose="02040503050406030204" pitchFamily="18" charset="0"/>
                          </a:rPr>
                          <m:t>0</m:t>
                        </m:r>
                      </m:sub>
                    </m:sSub>
                    <m:r>
                      <a:rPr lang="en-AU" altLang="zh-CN" i="1" dirty="0">
                        <a:solidFill>
                          <a:srgbClr val="7030A0"/>
                        </a:solidFill>
                        <a:latin typeface="Cambria Math" panose="02040503050406030204" pitchFamily="18" charset="0"/>
                      </a:rPr>
                      <m:t>)</m:t>
                    </m:r>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ea typeface="Cambria Math" panose="02040503050406030204" pitchFamily="18" charset="0"/>
                          </a:rPr>
                          <m:t>⊢</m:t>
                        </m:r>
                      </m:e>
                      <m:sub>
                        <m:sSub>
                          <m:sSubPr>
                            <m:ctrlPr>
                              <a:rPr lang="en-AU" altLang="zh-CN" i="1" dirty="0">
                                <a:solidFill>
                                  <a:schemeClr val="accent6"/>
                                </a:solidFill>
                                <a:latin typeface="Cambria Math" panose="02040503050406030204" pitchFamily="18" charset="0"/>
                              </a:rPr>
                            </m:ctrlPr>
                          </m:sSubPr>
                          <m:e>
                            <m:r>
                              <a:rPr lang="en-AU" altLang="zh-CN" i="1" dirty="0">
                                <a:solidFill>
                                  <a:schemeClr val="accent6"/>
                                </a:solidFill>
                                <a:latin typeface="Cambria Math" panose="02040503050406030204" pitchFamily="18" charset="0"/>
                              </a:rPr>
                              <m:t>𝑃</m:t>
                            </m:r>
                          </m:e>
                          <m:sub>
                            <m:r>
                              <a:rPr lang="en-AU" altLang="zh-CN" i="1" dirty="0">
                                <a:solidFill>
                                  <a:schemeClr val="accent6"/>
                                </a:solidFill>
                                <a:latin typeface="Cambria Math" panose="02040503050406030204" pitchFamily="18" charset="0"/>
                              </a:rPr>
                              <m:t>𝐹</m:t>
                            </m:r>
                          </m:sub>
                        </m:sSub>
                      </m:sub>
                      <m:sup>
                        <m:r>
                          <a:rPr lang="en-AU" altLang="zh-CN" i="1" dirty="0">
                            <a:latin typeface="Cambria Math" panose="02040503050406030204" pitchFamily="18" charset="0"/>
                          </a:rPr>
                          <m:t>∗</m:t>
                        </m:r>
                      </m:sup>
                    </m:sSubSup>
                    <m:r>
                      <a:rPr lang="en-AU" altLang="zh-CN" i="1" dirty="0" smtClean="0">
                        <a:solidFill>
                          <a:srgbClr val="FF0000"/>
                        </a:solidFill>
                        <a:latin typeface="Cambria Math" panose="02040503050406030204" pitchFamily="18" charset="0"/>
                      </a:rPr>
                      <m:t>(</m:t>
                    </m:r>
                    <m:sSub>
                      <m:sSubPr>
                        <m:ctrlPr>
                          <a:rPr lang="en-AU" altLang="zh-CN" i="1" dirty="0">
                            <a:solidFill>
                              <a:srgbClr val="FF0000"/>
                            </a:solidFill>
                            <a:latin typeface="Cambria Math" panose="02040503050406030204" pitchFamily="18" charset="0"/>
                          </a:rPr>
                        </m:ctrlPr>
                      </m:sSubPr>
                      <m:e>
                        <m:r>
                          <a:rPr lang="en-AU" altLang="zh-CN" i="1" dirty="0">
                            <a:solidFill>
                              <a:srgbClr val="FF0000"/>
                            </a:solidFill>
                            <a:latin typeface="Cambria Math" panose="02040503050406030204" pitchFamily="18" charset="0"/>
                          </a:rPr>
                          <m:t>𝑝</m:t>
                        </m:r>
                      </m:e>
                      <m:sub>
                        <m:r>
                          <a:rPr lang="en-AU" altLang="zh-CN" i="1" dirty="0">
                            <a:solidFill>
                              <a:srgbClr val="FF0000"/>
                            </a:solidFill>
                            <a:latin typeface="Cambria Math" panose="02040503050406030204" pitchFamily="18" charset="0"/>
                          </a:rPr>
                          <m:t>𝑓</m:t>
                        </m:r>
                      </m:sub>
                    </m:sSub>
                    <m:r>
                      <a:rPr lang="en-AU" altLang="zh-CN" i="1" dirty="0">
                        <a:solidFill>
                          <a:srgbClr val="FF0000"/>
                        </a:solidFill>
                        <a:latin typeface="Cambria Math" panose="02040503050406030204" pitchFamily="18" charset="0"/>
                      </a:rPr>
                      <m:t>,</m:t>
                    </m:r>
                    <m:r>
                      <a:rPr lang="zh-CN" altLang="en-AU" i="1" dirty="0">
                        <a:solidFill>
                          <a:srgbClr val="FF0000"/>
                        </a:solidFill>
                        <a:latin typeface="Cambria Math" panose="02040503050406030204" pitchFamily="18" charset="0"/>
                      </a:rPr>
                      <m:t>𝜀</m:t>
                    </m:r>
                    <m:r>
                      <a:rPr lang="en-AU" altLang="zh-CN" i="1" dirty="0">
                        <a:solidFill>
                          <a:srgbClr val="FF0000"/>
                        </a:solidFill>
                        <a:latin typeface="Cambria Math" panose="02040503050406030204" pitchFamily="18" charset="0"/>
                      </a:rPr>
                      <m:t>,</m:t>
                    </m:r>
                    <m:r>
                      <a:rPr lang="zh-CN" altLang="en-AU" i="1" dirty="0">
                        <a:solidFill>
                          <a:srgbClr val="FF0000"/>
                        </a:solidFill>
                        <a:latin typeface="Cambria Math" panose="02040503050406030204" pitchFamily="18" charset="0"/>
                      </a:rPr>
                      <m:t>𝜀</m:t>
                    </m:r>
                    <m:r>
                      <a:rPr lang="en-AU" altLang="zh-CN" i="1" dirty="0">
                        <a:solidFill>
                          <a:srgbClr val="FF0000"/>
                        </a:solidFill>
                        <a:latin typeface="Cambria Math" panose="02040503050406030204" pitchFamily="18" charset="0"/>
                      </a:rPr>
                      <m:t>)</m:t>
                    </m:r>
                  </m:oMath>
                </a14:m>
                <a:endParaRPr lang="en-AU" altLang="zh-CN" dirty="0">
                  <a:solidFill>
                    <a:srgbClr val="FF0000"/>
                  </a:solidFill>
                </a:endParaRPr>
              </a:p>
              <a:p>
                <a:r>
                  <a:rPr lang="zh-CN" altLang="en-US" sz="2800" dirty="0"/>
                  <a:t>因此</a:t>
                </a:r>
                <a14:m>
                  <m:oMath xmlns:m="http://schemas.openxmlformats.org/officeDocument/2006/math">
                    <m:r>
                      <a:rPr lang="en-AU" altLang="zh-CN" sz="2800" i="1" smtClean="0">
                        <a:latin typeface="Cambria Math" panose="02040503050406030204" pitchFamily="18" charset="0"/>
                      </a:rPr>
                      <m:t>𝑤</m:t>
                    </m:r>
                    <m:r>
                      <a:rPr lang="en-AU" altLang="zh-CN" sz="2800" i="1">
                        <a:latin typeface="Cambria Math" panose="02040503050406030204" pitchFamily="18" charset="0"/>
                        <a:ea typeface="Cambria Math" panose="02040503050406030204" pitchFamily="18" charset="0"/>
                      </a:rPr>
                      <m:t>∈</m:t>
                    </m:r>
                    <m:r>
                      <a:rPr lang="en-AU" altLang="zh-CN" sz="2800" b="1" i="0" smtClean="0">
                        <a:latin typeface="Cambria Math" panose="02040503050406030204" pitchFamily="18" charset="0"/>
                        <a:ea typeface="Cambria Math" panose="02040503050406030204" pitchFamily="18" charset="0"/>
                      </a:rPr>
                      <m:t>𝐋</m:t>
                    </m:r>
                    <m:r>
                      <a:rPr lang="en-AU" altLang="zh-CN" sz="2800" i="1">
                        <a:latin typeface="Cambria Math" panose="02040503050406030204" pitchFamily="18" charset="0"/>
                        <a:ea typeface="Cambria Math" panose="02040503050406030204" pitchFamily="18" charset="0"/>
                      </a:rPr>
                      <m:t>(</m:t>
                    </m:r>
                    <m:sSub>
                      <m:sSubPr>
                        <m:ctrlPr>
                          <a:rPr lang="en-AU" altLang="zh-CN" i="1">
                            <a:solidFill>
                              <a:schemeClr val="accent6"/>
                            </a:solidFill>
                            <a:latin typeface="Cambria Math" panose="02040503050406030204" pitchFamily="18" charset="0"/>
                            <a:ea typeface="Cambria Math" panose="02040503050406030204" pitchFamily="18" charset="0"/>
                          </a:rPr>
                        </m:ctrlPr>
                      </m:sSubPr>
                      <m:e>
                        <m:r>
                          <a:rPr lang="en-AU" altLang="zh-CN" i="1">
                            <a:solidFill>
                              <a:schemeClr val="accent6"/>
                            </a:solidFill>
                            <a:latin typeface="Cambria Math" panose="02040503050406030204" pitchFamily="18" charset="0"/>
                            <a:ea typeface="Cambria Math" panose="02040503050406030204" pitchFamily="18" charset="0"/>
                          </a:rPr>
                          <m:t>𝑃</m:t>
                        </m:r>
                      </m:e>
                      <m:sub>
                        <m:r>
                          <a:rPr lang="en-AU" altLang="zh-CN" i="1">
                            <a:solidFill>
                              <a:schemeClr val="accent6"/>
                            </a:solidFill>
                            <a:latin typeface="Cambria Math" panose="02040503050406030204" pitchFamily="18" charset="0"/>
                            <a:ea typeface="Cambria Math" panose="02040503050406030204" pitchFamily="18" charset="0"/>
                          </a:rPr>
                          <m:t>𝐹</m:t>
                        </m:r>
                      </m:sub>
                    </m:sSub>
                    <m:r>
                      <a:rPr lang="en-AU" altLang="zh-CN" sz="2800" i="1">
                        <a:latin typeface="Cambria Math" panose="02040503050406030204" pitchFamily="18" charset="0"/>
                        <a:ea typeface="Cambria Math" panose="02040503050406030204" pitchFamily="18" charset="0"/>
                      </a:rPr>
                      <m:t>)</m:t>
                    </m:r>
                  </m:oMath>
                </a14:m>
                <a:r>
                  <a:rPr lang="zh-CN" altLang="en-US" sz="2800" dirty="0"/>
                  <a:t>。</a:t>
                </a:r>
                <a:endParaRPr lang="en-AU" altLang="zh-CN" sz="2800" dirty="0"/>
              </a:p>
              <a:p>
                <a:pPr marL="0" indent="0">
                  <a:buNone/>
                </a:pPr>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914400" y="1166018"/>
                <a:ext cx="8229600" cy="4525963"/>
              </a:xfrm>
              <a:blipFill rotWithShape="1">
                <a:blip r:embed="rId2"/>
                <a:stretch>
                  <a:fillRect t="-3" b="-4185"/>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50</a:t>
            </a:fld>
            <a:endParaRPr lang="en-AU"/>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从空栈方式到终态方式</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187926"/>
                <a:ext cx="8229600" cy="4726737"/>
              </a:xfrm>
            </p:spPr>
            <p:txBody>
              <a:bodyPr>
                <a:normAutofit/>
              </a:bodyPr>
              <a:lstStyle/>
              <a:p>
                <a:r>
                  <a:rPr lang="zh-CN" altLang="en-US" sz="2400" dirty="0"/>
                  <a:t>需要证明</a:t>
                </a:r>
                <a14:m>
                  <m:oMath xmlns:m="http://schemas.openxmlformats.org/officeDocument/2006/math">
                    <m:r>
                      <a:rPr lang="en-AU" altLang="zh-CN" sz="2400" i="1">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a:latin typeface="Cambria Math" panose="02040503050406030204" pitchFamily="18" charset="0"/>
                        <a:ea typeface="Cambria Math" panose="02040503050406030204" pitchFamily="18" charset="0"/>
                      </a:rPr>
                      <m:t>𝐍</m:t>
                    </m:r>
                    <m:r>
                      <a:rPr lang="en-AU" altLang="zh-CN" sz="2400" i="1">
                        <a:latin typeface="Cambria Math" panose="02040503050406030204" pitchFamily="18" charset="0"/>
                        <a:ea typeface="Cambria Math" panose="02040503050406030204" pitchFamily="18" charset="0"/>
                      </a:rPr>
                      <m:t>(</m:t>
                    </m:r>
                    <m:sSub>
                      <m:sSubPr>
                        <m:ctrlPr>
                          <a:rPr lang="en-AU" altLang="zh-CN" sz="2400" i="1">
                            <a:solidFill>
                              <a:schemeClr val="accent5"/>
                            </a:solidFill>
                            <a:latin typeface="Cambria Math" panose="02040503050406030204" pitchFamily="18" charset="0"/>
                            <a:ea typeface="Cambria Math" panose="02040503050406030204" pitchFamily="18" charset="0"/>
                          </a:rPr>
                        </m:ctrlPr>
                      </m:sSubPr>
                      <m:e>
                        <m:r>
                          <a:rPr lang="en-AU" altLang="zh-CN" sz="2400" i="1">
                            <a:solidFill>
                              <a:schemeClr val="accent5"/>
                            </a:solidFill>
                            <a:latin typeface="Cambria Math" panose="02040503050406030204" pitchFamily="18" charset="0"/>
                            <a:ea typeface="Cambria Math" panose="02040503050406030204" pitchFamily="18" charset="0"/>
                          </a:rPr>
                          <m:t>𝑃</m:t>
                        </m:r>
                      </m:e>
                      <m:sub>
                        <m:r>
                          <a:rPr lang="en-AU" altLang="zh-CN" sz="2400" i="1">
                            <a:solidFill>
                              <a:schemeClr val="accent5"/>
                            </a:solidFill>
                            <a:latin typeface="Cambria Math" panose="02040503050406030204" pitchFamily="18" charset="0"/>
                            <a:ea typeface="Cambria Math" panose="02040503050406030204" pitchFamily="18" charset="0"/>
                          </a:rPr>
                          <m:t>𝑁</m:t>
                        </m:r>
                      </m:sub>
                    </m:sSub>
                    <m:r>
                      <a:rPr lang="en-AU" altLang="zh-CN" sz="2400" i="1">
                        <a:latin typeface="Cambria Math" panose="02040503050406030204" pitchFamily="18" charset="0"/>
                        <a:ea typeface="Cambria Math" panose="02040503050406030204" pitchFamily="18" charset="0"/>
                      </a:rPr>
                      <m:t>)⟺</m:t>
                    </m:r>
                    <m:r>
                      <a:rPr lang="en-AU" altLang="zh-CN" sz="2400" i="1">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a:latin typeface="Cambria Math" panose="02040503050406030204" pitchFamily="18" charset="0"/>
                        <a:ea typeface="Cambria Math" panose="02040503050406030204" pitchFamily="18" charset="0"/>
                      </a:rPr>
                      <m:t>𝐋</m:t>
                    </m:r>
                    <m:r>
                      <a:rPr lang="en-AU" altLang="zh-CN" sz="2400" i="1">
                        <a:latin typeface="Cambria Math" panose="02040503050406030204" pitchFamily="18" charset="0"/>
                        <a:ea typeface="Cambria Math" panose="02040503050406030204" pitchFamily="18" charset="0"/>
                      </a:rPr>
                      <m:t>(</m:t>
                    </m:r>
                    <m:sSub>
                      <m:sSubPr>
                        <m:ctrlPr>
                          <a:rPr lang="en-AU" altLang="zh-CN" sz="2400" i="1">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i="1">
                            <a:solidFill>
                              <a:schemeClr val="accent6"/>
                            </a:solidFill>
                            <a:latin typeface="Cambria Math" panose="02040503050406030204" pitchFamily="18" charset="0"/>
                            <a:ea typeface="Cambria Math" panose="02040503050406030204" pitchFamily="18" charset="0"/>
                          </a:rPr>
                          <m:t>𝐹</m:t>
                        </m:r>
                      </m:sub>
                    </m:sSub>
                    <m:r>
                      <a:rPr lang="en-AU" altLang="zh-CN" sz="2400" i="1">
                        <a:latin typeface="Cambria Math" panose="02040503050406030204" pitchFamily="18" charset="0"/>
                        <a:ea typeface="Cambria Math" panose="02040503050406030204" pitchFamily="18" charset="0"/>
                      </a:rPr>
                      <m:t>)</m:t>
                    </m:r>
                  </m:oMath>
                </a14:m>
                <a:r>
                  <a:rPr lang="en-AU" altLang="zh-CN" sz="2400" dirty="0"/>
                  <a:t> (</a:t>
                </a:r>
                <a:r>
                  <a:rPr lang="zh-CN" altLang="en-US" sz="2400" dirty="0"/>
                  <a:t>再证必要性</a:t>
                </a:r>
                <a14:m>
                  <m:oMath xmlns:m="http://schemas.openxmlformats.org/officeDocument/2006/math">
                    <m:r>
                      <a:rPr lang="en-AU" altLang="zh-CN" sz="2400" i="1" dirty="0">
                        <a:latin typeface="Cambria Math" panose="02040503050406030204" pitchFamily="18" charset="0"/>
                        <a:ea typeface="Cambria Math" panose="02040503050406030204" pitchFamily="18" charset="0"/>
                      </a:rPr>
                      <m:t>⟸</m:t>
                    </m:r>
                  </m:oMath>
                </a14:m>
                <a:r>
                  <a:rPr lang="en-AU" altLang="zh-CN" sz="2400" dirty="0"/>
                  <a:t>)</a:t>
                </a:r>
              </a:p>
              <a:p>
                <a:r>
                  <a:rPr lang="zh-CN" altLang="en-US" sz="2400" dirty="0"/>
                  <a:t>首先，</a:t>
                </a:r>
                <a14:m>
                  <m:oMath xmlns:m="http://schemas.openxmlformats.org/officeDocument/2006/math">
                    <m:r>
                      <a:rPr lang="en-AU" altLang="zh-CN" sz="2400" i="1">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a:latin typeface="Cambria Math" panose="02040503050406030204" pitchFamily="18" charset="0"/>
                        <a:ea typeface="Cambria Math" panose="02040503050406030204" pitchFamily="18" charset="0"/>
                      </a:rPr>
                      <m:t>𝐋</m:t>
                    </m:r>
                    <m:r>
                      <a:rPr lang="en-AU" altLang="zh-CN" sz="2400" i="1">
                        <a:latin typeface="Cambria Math" panose="02040503050406030204" pitchFamily="18" charset="0"/>
                        <a:ea typeface="Cambria Math" panose="02040503050406030204" pitchFamily="18" charset="0"/>
                      </a:rPr>
                      <m:t>(</m:t>
                    </m:r>
                    <m:sSub>
                      <m:sSubPr>
                        <m:ctrlPr>
                          <a:rPr lang="en-AU" altLang="zh-CN" sz="2400" i="1">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i="1">
                            <a:solidFill>
                              <a:schemeClr val="accent6"/>
                            </a:solidFill>
                            <a:latin typeface="Cambria Math" panose="02040503050406030204" pitchFamily="18" charset="0"/>
                            <a:ea typeface="Cambria Math" panose="02040503050406030204" pitchFamily="18" charset="0"/>
                          </a:rPr>
                          <m:t>𝐹</m:t>
                        </m:r>
                      </m:sub>
                    </m:sSub>
                    <m:r>
                      <a:rPr lang="en-AU" altLang="zh-CN" sz="2400" i="1">
                        <a:latin typeface="Cambria Math" panose="02040503050406030204" pitchFamily="18" charset="0"/>
                        <a:ea typeface="Cambria Math" panose="02040503050406030204" pitchFamily="18" charset="0"/>
                      </a:rPr>
                      <m:t>)</m:t>
                    </m:r>
                    <m:r>
                      <a:rPr lang="en-AU" altLang="zh-CN" sz="2400" i="1" dirty="0">
                        <a:latin typeface="Cambria Math" panose="02040503050406030204" pitchFamily="18" charset="0"/>
                        <a:ea typeface="Cambria Math" panose="02040503050406030204" pitchFamily="18" charset="0"/>
                      </a:rPr>
                      <m:t>⇒</m:t>
                    </m:r>
                  </m:oMath>
                </a14:m>
                <a:r>
                  <a:rPr lang="en-AU" altLang="zh-CN" sz="2400" dirty="0"/>
                  <a:t> </a:t>
                </a:r>
                <a14:m>
                  <m:oMath xmlns:m="http://schemas.openxmlformats.org/officeDocument/2006/math">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𝑝</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b="0" i="1" dirty="0" smtClean="0">
                                <a:solidFill>
                                  <a:schemeClr val="accent6"/>
                                </a:solidFill>
                                <a:latin typeface="Cambria Math" panose="02040503050406030204" pitchFamily="18" charset="0"/>
                              </a:rPr>
                              <m:t>𝐹</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sSub>
                      <m:sSubPr>
                        <m:ctrlPr>
                          <a:rPr lang="en-AU" altLang="zh-CN" sz="2400" i="1" dirty="0" smtClean="0">
                            <a:solidFill>
                              <a:schemeClr val="tx1"/>
                            </a:solidFill>
                            <a:latin typeface="Cambria Math" panose="02040503050406030204" pitchFamily="18" charset="0"/>
                          </a:rPr>
                        </m:ctrlPr>
                      </m:sSubPr>
                      <m:e>
                        <m:r>
                          <a:rPr lang="en-AU" altLang="zh-CN" sz="2400" i="1" dirty="0">
                            <a:solidFill>
                              <a:schemeClr val="tx1"/>
                            </a:solidFill>
                            <a:latin typeface="Cambria Math" panose="02040503050406030204" pitchFamily="18" charset="0"/>
                          </a:rPr>
                          <m:t>𝑝</m:t>
                        </m:r>
                      </m:e>
                      <m:sub>
                        <m:r>
                          <a:rPr lang="en-AU" altLang="zh-CN" sz="2400" i="1" dirty="0">
                            <a:solidFill>
                              <a:schemeClr val="tx1"/>
                            </a:solidFill>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oMath>
                </a14:m>
                <a:endParaRPr lang="en-AU" altLang="zh-CN" sz="2400" dirty="0"/>
              </a:p>
              <a:p>
                <a:r>
                  <a:rPr lang="zh-CN" altLang="en-US" sz="2400" dirty="0"/>
                  <a:t>需要经过状态</a:t>
                </a:r>
                <a14:m>
                  <m:oMath xmlns:m="http://schemas.openxmlformats.org/officeDocument/2006/math">
                    <m:r>
                      <a:rPr lang="en-AU" altLang="zh-CN" sz="2400" b="0" i="1" smtClean="0">
                        <a:latin typeface="Cambria Math" panose="02040503050406030204" pitchFamily="18" charset="0"/>
                      </a:rPr>
                      <m:t>𝑞</m:t>
                    </m:r>
                  </m:oMath>
                </a14:m>
                <a:r>
                  <a:rPr lang="zh-CN" altLang="en-US" sz="2400" dirty="0"/>
                  <a:t>才</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𝑓</m:t>
                        </m:r>
                      </m:sub>
                    </m:sSub>
                  </m:oMath>
                </a14:m>
                <a:r>
                  <a:rPr lang="zh-CN" altLang="en-US" sz="2400" dirty="0"/>
                  <a:t>，因此</a:t>
                </a:r>
                <a14:m>
                  <m:oMath xmlns:m="http://schemas.openxmlformats.org/officeDocument/2006/math">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Sup>
                      <m:sSubSupPr>
                        <m:ctrlPr>
                          <a:rPr lang="en-AU" altLang="zh-CN" sz="2400" i="1" dirty="0" smtClean="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i="1" dirty="0">
                                <a:solidFill>
                                  <a:schemeClr val="accent6"/>
                                </a:solidFill>
                                <a:latin typeface="Cambria Math" panose="02040503050406030204" pitchFamily="18" charset="0"/>
                              </a:rPr>
                              <m:t>𝐹</m:t>
                            </m:r>
                          </m:sub>
                        </m:sSub>
                      </m:sub>
                      <m:sup>
                        <m:r>
                          <a:rPr lang="en-AU" altLang="zh-CN" sz="2400" i="1" dirty="0">
                            <a:latin typeface="Cambria Math" panose="02040503050406030204" pitchFamily="18" charset="0"/>
                          </a:rPr>
                          <m:t>∗</m:t>
                        </m:r>
                      </m:sup>
                    </m:sSubSup>
                    <m:sSub>
                      <m:sSubPr>
                        <m:ctrlPr>
                          <a:rPr lang="en-AU" altLang="zh-CN" sz="2400" i="1" dirty="0">
                            <a:latin typeface="Cambria Math" panose="02040503050406030204" pitchFamily="18" charset="0"/>
                          </a:rPr>
                        </m:ctrlPr>
                      </m:sSubPr>
                      <m:e>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zh-CN" altLang="en-AU" sz="2400" i="1" dirty="0">
                            <a:latin typeface="Cambria Math" panose="02040503050406030204" pitchFamily="18" charset="0"/>
                          </a:rPr>
                          <m:t>𝜀</m:t>
                        </m:r>
                        <m:r>
                          <a:rPr lang="en-AU" altLang="zh-CN" sz="2400" b="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b="0" i="1" dirty="0" smtClean="0">
                            <a:latin typeface="Cambria Math" panose="02040503050406030204" pitchFamily="18" charset="0"/>
                          </a:rPr>
                          <m:t>)</m:t>
                        </m:r>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i="1" dirty="0">
                                <a:solidFill>
                                  <a:schemeClr val="accent6"/>
                                </a:solidFill>
                                <a:latin typeface="Cambria Math" panose="02040503050406030204" pitchFamily="18" charset="0"/>
                              </a:rPr>
                              <m:t>𝐹</m:t>
                            </m:r>
                          </m:sub>
                        </m:sSub>
                      </m:sub>
                    </m:sSub>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𝑓</m:t>
                        </m:r>
                      </m:sub>
                    </m:sSub>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oMath>
                </a14:m>
                <a:endParaRPr lang="en-AU" altLang="zh-CN" sz="2400" dirty="0"/>
              </a:p>
              <a:p>
                <a14:m>
                  <m:oMath xmlns:m="http://schemas.openxmlformats.org/officeDocument/2006/math">
                    <m:sSub>
                      <m:sSubPr>
                        <m:ctrlPr>
                          <a:rPr lang="en-AU" altLang="zh-CN" sz="2400" i="1">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i="1">
                            <a:solidFill>
                              <a:schemeClr val="accent6"/>
                            </a:solidFill>
                            <a:latin typeface="Cambria Math" panose="02040503050406030204" pitchFamily="18" charset="0"/>
                            <a:ea typeface="Cambria Math" panose="02040503050406030204" pitchFamily="18" charset="0"/>
                          </a:rPr>
                          <m:t>𝐹</m:t>
                        </m:r>
                      </m:sub>
                    </m:sSub>
                  </m:oMath>
                </a14:m>
                <a:r>
                  <a:rPr lang="zh-CN" altLang="en-US" sz="2400" dirty="0"/>
                  <a:t>的第一个动作</a:t>
                </a:r>
                <a:r>
                  <a:rPr lang="en-AU" altLang="zh-CN" sz="2400" dirty="0"/>
                  <a:t>(</a:t>
                </a:r>
                <a:r>
                  <a:rPr lang="zh-CN" altLang="en-US" sz="2400" dirty="0"/>
                  <a:t>状态</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0</m:t>
                        </m:r>
                      </m:sub>
                    </m:sSub>
                  </m:oMath>
                </a14:m>
                <a:r>
                  <a:rPr lang="zh-CN" altLang="en-US" sz="2400" dirty="0"/>
                  <a:t>空转移</a:t>
                </a:r>
                <a:r>
                  <a:rPr lang="en-AU" altLang="zh-CN" sz="2400" dirty="0"/>
                  <a:t>)</a:t>
                </a:r>
                <a:r>
                  <a:rPr lang="zh-CN" altLang="en-US" sz="2400" dirty="0"/>
                  <a:t>，有</a:t>
                </a:r>
                <a14:m>
                  <m:oMath xmlns:m="http://schemas.openxmlformats.org/officeDocument/2006/math">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𝑝</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r>
                      <a:rPr lang="en-AU" altLang="zh-CN" sz="2400" i="1" dirty="0">
                        <a:latin typeface="Cambria Math" panose="02040503050406030204" pitchFamily="18" charset="0"/>
                      </a:rPr>
                      <m:t>𝑤</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smtClean="0">
                            <a:latin typeface="Cambria Math" panose="02040503050406030204" pitchFamily="18" charset="0"/>
                          </a:rPr>
                          <m:t> </m:t>
                        </m:r>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i="1" dirty="0">
                                <a:solidFill>
                                  <a:schemeClr val="accent6"/>
                                </a:solidFill>
                                <a:latin typeface="Cambria Math" panose="02040503050406030204" pitchFamily="18" charset="0"/>
                              </a:rPr>
                              <m:t>𝐹</m:t>
                            </m:r>
                          </m:sub>
                        </m:sSub>
                      </m:sub>
                    </m:sSub>
                    <m:r>
                      <a:rPr lang="en-AU" altLang="zh-CN" sz="2400" i="1" dirty="0" smtClean="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b="0" i="1" dirty="0" smtClean="0">
                            <a:solidFill>
                              <a:srgbClr val="7030A0"/>
                            </a:solidFill>
                            <a:latin typeface="Cambria Math" panose="02040503050406030204" pitchFamily="18" charset="0"/>
                          </a:rPr>
                          <m:t>𝑞</m:t>
                        </m:r>
                      </m:e>
                      <m:sub>
                        <m:r>
                          <a:rPr lang="en-AU" altLang="zh-CN" sz="2400" b="0" i="1" dirty="0" smtClean="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r>
                      <a:rPr lang="en-AU" altLang="zh-CN" sz="2400" b="0" i="1" dirty="0" smtClean="0">
                        <a:solidFill>
                          <a:srgbClr val="7030A0"/>
                        </a:solidFill>
                        <a:latin typeface="Cambria Math" panose="02040503050406030204" pitchFamily="18" charset="0"/>
                      </a:rPr>
                      <m:t>𝑤</m:t>
                    </m:r>
                    <m:r>
                      <a:rPr lang="en-AU" altLang="zh-CN" sz="2400" i="1" dirty="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b="0" i="1" dirty="0" smtClean="0">
                            <a:solidFill>
                              <a:srgbClr val="7030A0"/>
                            </a:solidFill>
                            <a:latin typeface="Cambria Math" panose="02040503050406030204" pitchFamily="18" charset="0"/>
                          </a:rPr>
                          <m:t>𝑍</m:t>
                        </m:r>
                      </m:e>
                      <m:sub>
                        <m:r>
                          <a:rPr lang="en-AU" altLang="zh-CN" sz="2400" i="1" dirty="0">
                            <a:solidFill>
                              <a:srgbClr val="7030A0"/>
                            </a:solidFill>
                            <a:latin typeface="Cambria Math" panose="02040503050406030204" pitchFamily="18" charset="0"/>
                          </a:rPr>
                          <m:t>0</m:t>
                        </m:r>
                      </m:sub>
                    </m:sSub>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𝑋</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i="1" dirty="0">
                                <a:solidFill>
                                  <a:schemeClr val="accent6"/>
                                </a:solidFill>
                                <a:latin typeface="Cambria Math" panose="02040503050406030204" pitchFamily="18" charset="0"/>
                              </a:rPr>
                              <m:t>𝐹</m:t>
                            </m:r>
                          </m:sub>
                        </m:sSub>
                      </m:sub>
                      <m:sup>
                        <m:r>
                          <a:rPr lang="en-AU" altLang="zh-CN" sz="2400" i="1" dirty="0">
                            <a:latin typeface="Cambria Math" panose="02040503050406030204" pitchFamily="18" charset="0"/>
                          </a:rPr>
                          <m:t>∗</m:t>
                        </m:r>
                      </m:sup>
                    </m:sSubSup>
                    <m:r>
                      <a:rPr lang="en-AU" altLang="zh-CN" sz="2400" b="0" i="1" dirty="0" smtClean="0">
                        <a:latin typeface="Cambria Math" panose="02040503050406030204" pitchFamily="18" charset="0"/>
                      </a:rPr>
                      <m:t>(</m:t>
                    </m:r>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b="0" i="1" dirty="0" smtClean="0">
                        <a:latin typeface="Cambria Math" panose="02040503050406030204" pitchFamily="18" charset="0"/>
                      </a:rPr>
                      <m:t>)</m:t>
                    </m:r>
                  </m:oMath>
                </a14:m>
                <a:r>
                  <a:rPr lang="zh-CN" altLang="en-US" sz="2400" dirty="0"/>
                  <a:t>，即，</a:t>
                </a:r>
                <a14:m>
                  <m:oMath xmlns:m="http://schemas.openxmlformats.org/officeDocument/2006/math">
                    <m:r>
                      <a:rPr lang="en-AU" altLang="zh-CN" sz="2400" i="1" dirty="0" smtClean="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𝑞</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r>
                      <a:rPr lang="en-AU" altLang="zh-CN" sz="2400" i="1" dirty="0">
                        <a:solidFill>
                          <a:srgbClr val="7030A0"/>
                        </a:solidFill>
                        <a:latin typeface="Cambria Math" panose="02040503050406030204" pitchFamily="18" charset="0"/>
                      </a:rPr>
                      <m:t>𝑤</m:t>
                    </m:r>
                    <m:r>
                      <a:rPr lang="en-AU" altLang="zh-CN" sz="2400" i="1" dirty="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𝑍</m:t>
                        </m:r>
                      </m:e>
                      <m:sub>
                        <m:r>
                          <a:rPr lang="en-AU" altLang="zh-CN" sz="2400" i="1" dirty="0">
                            <a:solidFill>
                              <a:srgbClr val="7030A0"/>
                            </a:solidFill>
                            <a:latin typeface="Cambria Math" panose="02040503050406030204" pitchFamily="18" charset="0"/>
                          </a:rPr>
                          <m:t>0</m:t>
                        </m:r>
                      </m:sub>
                    </m:sSub>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𝑋</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a:solidFill>
                                  <a:schemeClr val="accent6"/>
                                </a:solidFill>
                                <a:latin typeface="Cambria Math" panose="02040503050406030204" pitchFamily="18" charset="0"/>
                              </a:rPr>
                            </m:ctrlPr>
                          </m:sSubPr>
                          <m:e>
                            <m:r>
                              <a:rPr lang="en-AU" altLang="zh-CN" sz="2400" i="1" dirty="0">
                                <a:solidFill>
                                  <a:schemeClr val="accent6"/>
                                </a:solidFill>
                                <a:latin typeface="Cambria Math" panose="02040503050406030204" pitchFamily="18" charset="0"/>
                              </a:rPr>
                              <m:t>𝑃</m:t>
                            </m:r>
                          </m:e>
                          <m:sub>
                            <m:r>
                              <a:rPr lang="en-AU" altLang="zh-CN" sz="2400" i="1" dirty="0">
                                <a:solidFill>
                                  <a:schemeClr val="accent6"/>
                                </a:solidFill>
                                <a:latin typeface="Cambria Math" panose="02040503050406030204" pitchFamily="18" charset="0"/>
                              </a:rPr>
                              <m:t>𝐹</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r>
                      <a:rPr lang="en-AU" altLang="zh-CN" sz="2400" i="1" dirty="0">
                        <a:latin typeface="Cambria Math" panose="02040503050406030204" pitchFamily="18" charset="0"/>
                      </a:rPr>
                      <m:t>)</m:t>
                    </m:r>
                  </m:oMath>
                </a14:m>
                <a:endParaRPr lang="en-AU" altLang="zh-CN" sz="2400" dirty="0"/>
              </a:p>
              <a:p>
                <a:r>
                  <a:rPr lang="zh-CN" altLang="en-US" sz="2400" dirty="0"/>
                  <a:t>因为</a:t>
                </a:r>
                <a14:m>
                  <m:oMath xmlns:m="http://schemas.openxmlformats.org/officeDocument/2006/math">
                    <m:sSub>
                      <m:sSubPr>
                        <m:ctrlPr>
                          <a:rPr lang="en-AU" altLang="zh-CN" sz="2400" i="1" smtClean="0">
                            <a:solidFill>
                              <a:schemeClr val="accent6"/>
                            </a:solidFill>
                            <a:latin typeface="Cambria Math" panose="02040503050406030204" pitchFamily="18" charset="0"/>
                            <a:ea typeface="Cambria Math" panose="02040503050406030204" pitchFamily="18" charset="0"/>
                          </a:rPr>
                        </m:ctrlPr>
                      </m:sSubPr>
                      <m:e>
                        <m:r>
                          <a:rPr lang="en-AU" altLang="zh-CN" sz="2400" i="1">
                            <a:solidFill>
                              <a:schemeClr val="accent6"/>
                            </a:solidFill>
                            <a:latin typeface="Cambria Math" panose="02040503050406030204" pitchFamily="18" charset="0"/>
                            <a:ea typeface="Cambria Math" panose="02040503050406030204" pitchFamily="18" charset="0"/>
                          </a:rPr>
                          <m:t>𝑃</m:t>
                        </m:r>
                      </m:e>
                      <m:sub>
                        <m:r>
                          <a:rPr lang="en-AU" altLang="zh-CN" sz="2400" i="1">
                            <a:solidFill>
                              <a:schemeClr val="accent6"/>
                            </a:solidFill>
                            <a:latin typeface="Cambria Math" panose="02040503050406030204" pitchFamily="18" charset="0"/>
                            <a:ea typeface="Cambria Math" panose="02040503050406030204" pitchFamily="18" charset="0"/>
                          </a:rPr>
                          <m:t>𝐹</m:t>
                        </m:r>
                      </m:sub>
                    </m:sSub>
                  </m:oMath>
                </a14:m>
                <a:r>
                  <a:rPr lang="zh-CN" altLang="en-US" sz="2400" dirty="0"/>
                  <a:t>模拟</a:t>
                </a:r>
                <a14:m>
                  <m:oMath xmlns:m="http://schemas.openxmlformats.org/officeDocument/2006/math">
                    <m:sSub>
                      <m:sSubPr>
                        <m:ctrlPr>
                          <a:rPr lang="en-AU" altLang="zh-CN" sz="2400" i="1">
                            <a:solidFill>
                              <a:schemeClr val="accent5"/>
                            </a:solidFill>
                            <a:latin typeface="Cambria Math" panose="02040503050406030204" pitchFamily="18" charset="0"/>
                            <a:ea typeface="Cambria Math" panose="02040503050406030204" pitchFamily="18" charset="0"/>
                          </a:rPr>
                        </m:ctrlPr>
                      </m:sSubPr>
                      <m:e>
                        <m:r>
                          <a:rPr lang="en-AU" altLang="zh-CN" sz="2400" i="1">
                            <a:solidFill>
                              <a:schemeClr val="accent5"/>
                            </a:solidFill>
                            <a:latin typeface="Cambria Math" panose="02040503050406030204" pitchFamily="18" charset="0"/>
                            <a:ea typeface="Cambria Math" panose="02040503050406030204" pitchFamily="18" charset="0"/>
                          </a:rPr>
                          <m:t>𝑃</m:t>
                        </m:r>
                      </m:e>
                      <m:sub>
                        <m:r>
                          <a:rPr lang="en-AU" altLang="zh-CN" sz="2400" i="1">
                            <a:solidFill>
                              <a:schemeClr val="accent5"/>
                            </a:solidFill>
                            <a:latin typeface="Cambria Math" panose="02040503050406030204" pitchFamily="18" charset="0"/>
                            <a:ea typeface="Cambria Math" panose="02040503050406030204" pitchFamily="18" charset="0"/>
                          </a:rPr>
                          <m:t>𝑁</m:t>
                        </m:r>
                      </m:sub>
                    </m:sSub>
                  </m:oMath>
                </a14:m>
                <a:r>
                  <a:rPr lang="zh-CN" altLang="en-US" sz="2400" dirty="0"/>
                  <a:t>，将</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𝑋</m:t>
                        </m:r>
                      </m:e>
                      <m:sub>
                        <m:r>
                          <a:rPr lang="en-AU" altLang="zh-CN" sz="2400" i="1" dirty="0">
                            <a:latin typeface="Cambria Math" panose="02040503050406030204" pitchFamily="18" charset="0"/>
                          </a:rPr>
                          <m:t>0</m:t>
                        </m:r>
                      </m:sub>
                    </m:sSub>
                  </m:oMath>
                </a14:m>
                <a:r>
                  <a:rPr lang="zh-CN" altLang="en-US" sz="2400" dirty="0"/>
                  <a:t>去掉后即为</a:t>
                </a:r>
                <a14:m>
                  <m:oMath xmlns:m="http://schemas.openxmlformats.org/officeDocument/2006/math">
                    <m:sSub>
                      <m:sSubPr>
                        <m:ctrlPr>
                          <a:rPr lang="en-AU" altLang="zh-CN" sz="2400" i="1">
                            <a:solidFill>
                              <a:schemeClr val="accent5"/>
                            </a:solidFill>
                            <a:latin typeface="Cambria Math" panose="02040503050406030204" pitchFamily="18" charset="0"/>
                            <a:ea typeface="Cambria Math" panose="02040503050406030204" pitchFamily="18" charset="0"/>
                          </a:rPr>
                        </m:ctrlPr>
                      </m:sSubPr>
                      <m:e>
                        <m:r>
                          <a:rPr lang="en-AU" altLang="zh-CN" sz="2400" i="1">
                            <a:solidFill>
                              <a:schemeClr val="accent5"/>
                            </a:solidFill>
                            <a:latin typeface="Cambria Math" panose="02040503050406030204" pitchFamily="18" charset="0"/>
                            <a:ea typeface="Cambria Math" panose="02040503050406030204" pitchFamily="18" charset="0"/>
                          </a:rPr>
                          <m:t>𝑃</m:t>
                        </m:r>
                      </m:e>
                      <m:sub>
                        <m:r>
                          <a:rPr lang="en-AU" altLang="zh-CN" sz="2400" i="1">
                            <a:solidFill>
                              <a:schemeClr val="accent5"/>
                            </a:solidFill>
                            <a:latin typeface="Cambria Math" panose="02040503050406030204" pitchFamily="18" charset="0"/>
                            <a:ea typeface="Cambria Math" panose="02040503050406030204" pitchFamily="18" charset="0"/>
                          </a:rPr>
                          <m:t>𝑁</m:t>
                        </m:r>
                      </m:sub>
                    </m:sSub>
                  </m:oMath>
                </a14:m>
                <a:r>
                  <a:rPr lang="zh-CN" altLang="en-US" sz="2400" dirty="0"/>
                  <a:t>中的转移，有</a:t>
                </a:r>
                <a14:m>
                  <m:oMath xmlns:m="http://schemas.openxmlformats.org/officeDocument/2006/math">
                    <m:r>
                      <a:rPr lang="en-AU" altLang="zh-CN" sz="2400" i="1" dirty="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𝑞</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r>
                      <a:rPr lang="en-AU" altLang="zh-CN" sz="2400" i="1" dirty="0">
                        <a:solidFill>
                          <a:srgbClr val="7030A0"/>
                        </a:solidFill>
                        <a:latin typeface="Cambria Math" panose="02040503050406030204" pitchFamily="18" charset="0"/>
                      </a:rPr>
                      <m:t>𝑤</m:t>
                    </m:r>
                    <m:r>
                      <a:rPr lang="en-AU" altLang="zh-CN" sz="2400" i="1" dirty="0">
                        <a:solidFill>
                          <a:srgbClr val="7030A0"/>
                        </a:solidFill>
                        <a:latin typeface="Cambria Math" panose="02040503050406030204" pitchFamily="18" charset="0"/>
                      </a:rPr>
                      <m:t>,</m:t>
                    </m:r>
                    <m:sSub>
                      <m:sSubPr>
                        <m:ctrlPr>
                          <a:rPr lang="en-AU" altLang="zh-CN" sz="2400" i="1" dirty="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𝑍</m:t>
                        </m:r>
                      </m:e>
                      <m:sub>
                        <m:r>
                          <a:rPr lang="en-AU" altLang="zh-CN" sz="2400" i="1" dirty="0">
                            <a:solidFill>
                              <a:srgbClr val="7030A0"/>
                            </a:solidFill>
                            <a:latin typeface="Cambria Math" panose="02040503050406030204" pitchFamily="18" charset="0"/>
                          </a:rPr>
                          <m:t>0</m:t>
                        </m:r>
                      </m:sub>
                    </m:sSub>
                    <m:r>
                      <a:rPr lang="en-AU" altLang="zh-CN" sz="2400" i="1" dirty="0">
                        <a:solidFill>
                          <a:srgbClr val="7030A0"/>
                        </a:solidFill>
                        <a:latin typeface="Cambria Math" panose="02040503050406030204" pitchFamily="18" charset="0"/>
                      </a:rPr>
                      <m:t>)</m:t>
                    </m:r>
                    <m:sSubSup>
                      <m:sSubSupPr>
                        <m:ctrlPr>
                          <a:rPr lang="en-AU" altLang="zh-CN" sz="2400" i="1" dirty="0">
                            <a:latin typeface="Cambria Math" panose="02040503050406030204" pitchFamily="18" charset="0"/>
                          </a:rPr>
                        </m:ctrlPr>
                      </m:sSubSupPr>
                      <m:e>
                        <m:r>
                          <a:rPr lang="en-AU" altLang="zh-CN" sz="2400" i="1" dirty="0">
                            <a:latin typeface="Cambria Math" panose="02040503050406030204" pitchFamily="18" charset="0"/>
                            <a:ea typeface="Cambria Math" panose="02040503050406030204" pitchFamily="18" charset="0"/>
                          </a:rPr>
                          <m:t>⊢</m:t>
                        </m:r>
                      </m:e>
                      <m:sub>
                        <m:sSub>
                          <m:sSubPr>
                            <m:ctrlPr>
                              <a:rPr lang="en-AU" altLang="zh-CN" sz="2400" i="1" dirty="0" smtClean="0">
                                <a:solidFill>
                                  <a:schemeClr val="accent5"/>
                                </a:solidFill>
                                <a:latin typeface="Cambria Math" panose="02040503050406030204" pitchFamily="18" charset="0"/>
                              </a:rPr>
                            </m:ctrlPr>
                          </m:sSubPr>
                          <m:e>
                            <m:r>
                              <a:rPr lang="en-AU" altLang="zh-CN" sz="2400" i="1" dirty="0">
                                <a:solidFill>
                                  <a:schemeClr val="accent5"/>
                                </a:solidFill>
                                <a:latin typeface="Cambria Math" panose="02040503050406030204" pitchFamily="18" charset="0"/>
                              </a:rPr>
                              <m:t>𝑃</m:t>
                            </m:r>
                          </m:e>
                          <m:sub>
                            <m:r>
                              <a:rPr lang="en-AU" altLang="zh-CN" sz="2400" b="0" i="1" dirty="0" smtClean="0">
                                <a:solidFill>
                                  <a:schemeClr val="accent5"/>
                                </a:solidFill>
                                <a:latin typeface="Cambria Math" panose="02040503050406030204" pitchFamily="18" charset="0"/>
                              </a:rPr>
                              <m:t>𝑁</m:t>
                            </m:r>
                          </m:sub>
                        </m:sSub>
                      </m:sub>
                      <m:sup>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m:t>
                    </m:r>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r>
                      <a:rPr lang="en-AU" altLang="zh-CN" sz="2400" i="1" dirty="0">
                        <a:latin typeface="Cambria Math" panose="02040503050406030204" pitchFamily="18" charset="0"/>
                      </a:rPr>
                      <m:t>)</m:t>
                    </m:r>
                  </m:oMath>
                </a14:m>
                <a:r>
                  <a:rPr lang="zh-CN" altLang="en-US" sz="2400" dirty="0"/>
                  <a:t>。</a:t>
                </a:r>
                <a:endParaRPr lang="en-AU" altLang="zh-CN" sz="2400" dirty="0"/>
              </a:p>
              <a:p>
                <a:r>
                  <a:rPr lang="zh-CN" altLang="en-US" sz="2400" dirty="0"/>
                  <a:t>因此</a:t>
                </a:r>
                <a14:m>
                  <m:oMath xmlns:m="http://schemas.openxmlformats.org/officeDocument/2006/math">
                    <m:r>
                      <a:rPr lang="en-AU" altLang="zh-CN" sz="2400" i="1" smtClean="0">
                        <a:latin typeface="Cambria Math" panose="02040503050406030204" pitchFamily="18" charset="0"/>
                      </a:rPr>
                      <m:t>𝑤</m:t>
                    </m:r>
                    <m:r>
                      <a:rPr lang="en-AU" altLang="zh-CN" sz="2400" i="1">
                        <a:latin typeface="Cambria Math" panose="02040503050406030204" pitchFamily="18" charset="0"/>
                        <a:ea typeface="Cambria Math" panose="02040503050406030204" pitchFamily="18" charset="0"/>
                      </a:rPr>
                      <m:t>∈</m:t>
                    </m:r>
                    <m:r>
                      <a:rPr lang="en-AU" altLang="zh-CN" sz="2400" b="1" i="0" smtClean="0">
                        <a:latin typeface="Cambria Math" panose="02040503050406030204" pitchFamily="18" charset="0"/>
                        <a:ea typeface="Cambria Math" panose="02040503050406030204" pitchFamily="18" charset="0"/>
                      </a:rPr>
                      <m:t>𝐍</m:t>
                    </m:r>
                    <m:r>
                      <a:rPr lang="en-AU" altLang="zh-CN" sz="2400" i="1">
                        <a:latin typeface="Cambria Math" panose="02040503050406030204" pitchFamily="18" charset="0"/>
                        <a:ea typeface="Cambria Math" panose="02040503050406030204" pitchFamily="18" charset="0"/>
                      </a:rPr>
                      <m:t>(</m:t>
                    </m:r>
                    <m:sSub>
                      <m:sSubPr>
                        <m:ctrlPr>
                          <a:rPr lang="en-AU" altLang="zh-CN" sz="2400" i="1">
                            <a:solidFill>
                              <a:schemeClr val="accent5"/>
                            </a:solidFill>
                            <a:latin typeface="Cambria Math" panose="02040503050406030204" pitchFamily="18" charset="0"/>
                            <a:ea typeface="Cambria Math" panose="02040503050406030204" pitchFamily="18" charset="0"/>
                          </a:rPr>
                        </m:ctrlPr>
                      </m:sSubPr>
                      <m:e>
                        <m:r>
                          <a:rPr lang="en-AU" altLang="zh-CN" sz="2400" i="1">
                            <a:solidFill>
                              <a:schemeClr val="accent5"/>
                            </a:solidFill>
                            <a:latin typeface="Cambria Math" panose="02040503050406030204" pitchFamily="18" charset="0"/>
                            <a:ea typeface="Cambria Math" panose="02040503050406030204" pitchFamily="18" charset="0"/>
                          </a:rPr>
                          <m:t>𝑃</m:t>
                        </m:r>
                      </m:e>
                      <m:sub>
                        <m:r>
                          <a:rPr lang="en-AU" altLang="zh-CN" sz="2400" i="1">
                            <a:solidFill>
                              <a:schemeClr val="accent5"/>
                            </a:solidFill>
                            <a:latin typeface="Cambria Math" panose="02040503050406030204" pitchFamily="18" charset="0"/>
                            <a:ea typeface="Cambria Math" panose="02040503050406030204" pitchFamily="18" charset="0"/>
                          </a:rPr>
                          <m:t>𝑁</m:t>
                        </m:r>
                      </m:sub>
                    </m:sSub>
                    <m:r>
                      <a:rPr lang="en-AU" altLang="zh-CN" sz="2400" i="1">
                        <a:latin typeface="Cambria Math" panose="02040503050406030204" pitchFamily="18" charset="0"/>
                        <a:ea typeface="Cambria Math" panose="02040503050406030204" pitchFamily="18" charset="0"/>
                      </a:rPr>
                      <m:t>)</m:t>
                    </m:r>
                  </m:oMath>
                </a14:m>
                <a:r>
                  <a:rPr lang="zh-CN" altLang="en-US" sz="2400" dirty="0"/>
                  <a:t>。</a:t>
                </a:r>
                <a:endParaRPr lang="en-AU" altLang="zh-CN"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914400" y="1187926"/>
                <a:ext cx="8229600" cy="4726737"/>
              </a:xfrm>
              <a:blipFill rotWithShape="1">
                <a:blip r:embed="rId2"/>
                <a:stretch>
                  <a:fillRect t="-10" b="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51</a:t>
            </a:fld>
            <a:endParaRPr lang="en-AU"/>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52</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800" dirty="0"/>
                  <a:t>例</a:t>
                </a:r>
                <a:r>
                  <a:rPr lang="en-AU" altLang="zh-CN" sz="2800" dirty="0"/>
                  <a:t>:</a:t>
                </a:r>
                <a:r>
                  <a:rPr lang="zh-CN" altLang="en-US" sz="2800" dirty="0"/>
                  <a:t>接</a:t>
                </a:r>
                <a14:m>
                  <m:oMath xmlns:m="http://schemas.openxmlformats.org/officeDocument/2006/math">
                    <m:r>
                      <a:rPr lang="zh-CN" altLang="en-US" sz="2800" i="1" dirty="0" smtClean="0">
                        <a:latin typeface="Cambria Math" panose="02040503050406030204" pitchFamily="18" charset="0"/>
                      </a:rPr>
                      <m:t>受</m:t>
                    </m:r>
                    <m:r>
                      <a:rPr lang="zh-CN" altLang="en-US" sz="2800" i="1" dirty="0" smtClean="0">
                        <a:latin typeface="Cambria Math" panose="02040503050406030204" pitchFamily="18" charset="0"/>
                      </a:rPr>
                      <m:t> </m:t>
                    </m:r>
                    <m:r>
                      <a:rPr lang="en-AU" altLang="zh-CN" sz="2800" i="1" dirty="0" smtClean="0">
                        <a:latin typeface="Cambria Math" panose="02040503050406030204" pitchFamily="18" charset="0"/>
                      </a:rPr>
                      <m:t>𝐿</m:t>
                    </m:r>
                    <m:r>
                      <a:rPr lang="en-AU" altLang="zh-CN" sz="2800" i="1" dirty="0" smtClean="0">
                        <a:latin typeface="Cambria Math" panose="02040503050406030204" pitchFamily="18" charset="0"/>
                      </a:rPr>
                      <m:t> = {</m:t>
                    </m:r>
                    <m:r>
                      <a:rPr lang="en-AU" altLang="zh-CN" sz="2800" i="1" dirty="0" smtClean="0">
                        <a:latin typeface="Cambria Math" panose="02040503050406030204" pitchFamily="18" charset="0"/>
                      </a:rPr>
                      <m:t>𝑤</m:t>
                    </m:r>
                    <m:r>
                      <a:rPr lang="en-AU" altLang="zh-CN" sz="2800" i="1" dirty="0" smtClean="0">
                        <a:latin typeface="Cambria Math" panose="02040503050406030204" pitchFamily="18" charset="0"/>
                      </a:rPr>
                      <m:t> ∈ </m:t>
                    </m:r>
                    <m:sSup>
                      <m:sSupPr>
                        <m:ctrlPr>
                          <a:rPr lang="en-AU" altLang="zh-CN" sz="2800" i="1" dirty="0" smtClean="0">
                            <a:latin typeface="Cambria Math" panose="02040503050406030204" pitchFamily="18" charset="0"/>
                          </a:rPr>
                        </m:ctrlPr>
                      </m:sSupPr>
                      <m:e>
                        <m:r>
                          <a:rPr lang="en-AU" altLang="zh-CN" sz="2800" b="0" i="1" dirty="0" smtClean="0">
                            <a:latin typeface="Cambria Math" panose="02040503050406030204" pitchFamily="18" charset="0"/>
                          </a:rPr>
                          <m:t>{0,1}</m:t>
                        </m:r>
                      </m:e>
                      <m:sup>
                        <m:r>
                          <a:rPr lang="en-AU" altLang="zh-CN" sz="2800" b="0" i="1" dirty="0" smtClean="0">
                            <a:latin typeface="Cambria Math" panose="02040503050406030204" pitchFamily="18" charset="0"/>
                          </a:rPr>
                          <m:t>∗</m:t>
                        </m:r>
                      </m:sup>
                    </m:sSup>
                    <m:r>
                      <a:rPr lang="en-AU" altLang="zh-CN" sz="2800" i="1" dirty="0" smtClean="0">
                        <a:latin typeface="Cambria Math" panose="02040503050406030204" pitchFamily="18" charset="0"/>
                      </a:rPr>
                      <m:t> | </m:t>
                    </m:r>
                    <m:r>
                      <a:rPr lang="en-AU" altLang="zh-CN" sz="2800" i="1" dirty="0" smtClean="0">
                        <a:latin typeface="Cambria Math" panose="02040503050406030204" pitchFamily="18" charset="0"/>
                      </a:rPr>
                      <m:t>𝑤</m:t>
                    </m:r>
                    <m:r>
                      <a:rPr lang="en-AU" altLang="zh-CN" sz="2800" i="1" dirty="0" smtClean="0">
                        <a:latin typeface="Cambria Math" panose="02040503050406030204" pitchFamily="18" charset="0"/>
                      </a:rPr>
                      <m:t> </m:t>
                    </m:r>
                    <m:r>
                      <a:rPr lang="zh-CN" altLang="en-US" sz="2800" i="1" dirty="0" smtClean="0">
                        <a:latin typeface="Cambria Math" panose="02040503050406030204" pitchFamily="18" charset="0"/>
                      </a:rPr>
                      <m:t>中字符</m:t>
                    </m:r>
                    <m:r>
                      <a:rPr lang="zh-CN" altLang="en-US" sz="2800" i="1" dirty="0" smtClean="0">
                        <a:latin typeface="Cambria Math" panose="02040503050406030204" pitchFamily="18" charset="0"/>
                      </a:rPr>
                      <m:t> 0 </m:t>
                    </m:r>
                    <m:r>
                      <a:rPr lang="zh-CN" altLang="en-US" sz="2800" i="1" dirty="0" smtClean="0">
                        <a:latin typeface="Cambria Math" panose="02040503050406030204" pitchFamily="18" charset="0"/>
                      </a:rPr>
                      <m:t>和</m:t>
                    </m:r>
                    <m:r>
                      <a:rPr lang="zh-CN" altLang="en-US" sz="2800" i="1" dirty="0" smtClean="0">
                        <a:latin typeface="Cambria Math" panose="02040503050406030204" pitchFamily="18" charset="0"/>
                      </a:rPr>
                      <m:t> 1 </m:t>
                    </m:r>
                    <m:r>
                      <a:rPr lang="zh-CN" altLang="en-US" sz="2800" i="1" dirty="0" smtClean="0">
                        <a:latin typeface="Cambria Math" panose="02040503050406030204" pitchFamily="18" charset="0"/>
                      </a:rPr>
                      <m:t>的数量相同</m:t>
                    </m:r>
                    <m:r>
                      <a:rPr lang="en-US" altLang="zh-CN" sz="2800" i="1" dirty="0" smtClean="0">
                        <a:latin typeface="Cambria Math" panose="02040503050406030204" pitchFamily="18" charset="0"/>
                      </a:rPr>
                      <m:t>}</m:t>
                    </m:r>
                  </m:oMath>
                </a14:m>
                <a:r>
                  <a:rPr lang="zh-CN" altLang="en-US" sz="2800" dirty="0"/>
                  <a:t>的</a:t>
                </a:r>
                <a:r>
                  <a:rPr lang="en-AU" altLang="zh-CN" sz="2800" dirty="0">
                    <a:latin typeface="Times New Roman" panose="02020603050405020304" pitchFamily="18" charset="0"/>
                    <a:cs typeface="Times New Roman" panose="02020603050405020304" pitchFamily="18" charset="0"/>
                  </a:rPr>
                  <a:t>PDA</a:t>
                </a:r>
                <a:r>
                  <a:rPr lang="zh-CN" altLang="en-US" sz="2800" dirty="0"/>
                  <a:t>。</a:t>
                </a:r>
                <a:endParaRPr lang="en-AU" altLang="zh-CN" sz="2800" dirty="0"/>
              </a:p>
            </p:txBody>
          </p:sp>
        </mc:Choice>
        <mc:Fallback xmlns="">
          <p:sp>
            <p:nvSpPr>
              <p:cNvPr id="7" name="文本框 6"/>
              <p:cNvSpPr txBox="1">
                <a:spLocks noRot="1" noChangeAspect="1" noMove="1" noResize="1" noEditPoints="1" noAdjustHandles="1" noChangeArrowheads="1" noChangeShapeType="1" noTextEdit="1"/>
              </p:cNvSpPr>
              <p:nvPr>
                <p:custDataLst>
                  <p:tags r:id="rId11"/>
                </p:custDataLst>
              </p:nvPr>
            </p:nvSpPr>
            <p:spPr>
              <a:xfrm>
                <a:off x="914400" y="635000"/>
                <a:ext cx="7315200" cy="2143125"/>
              </a:xfrm>
              <a:prstGeom prst="rect">
                <a:avLst/>
              </a:prstGeom>
              <a:blipFill rotWithShape="1">
                <a:blip r:embed="rId12"/>
                <a:stretch>
                  <a:fillRect/>
                </a:stretch>
              </a:blipFill>
            </p:spPr>
            <p:txBody>
              <a:bodyPr/>
              <a:lstStyle/>
              <a:p>
                <a:r>
                  <a:rPr lang="zh-CN" altLang="en-US">
                    <a:noFill/>
                  </a:rPr>
                  <a:t> </a:t>
                </a:r>
              </a:p>
            </p:txBody>
          </p:sp>
        </mc:Fallback>
      </mc:AlternateContent>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16000"/>
                <a:ext cx="8229600" cy="4525963"/>
              </a:xfrm>
            </p:spPr>
            <p:txBody>
              <a:bodyPr>
                <a:normAutofit/>
              </a:bodyPr>
              <a:lstStyle/>
              <a:p>
                <a:r>
                  <a:rPr lang="zh-CN" altLang="en-US" sz="2400" dirty="0"/>
                  <a:t>例</a:t>
                </a:r>
                <a:r>
                  <a:rPr lang="en-AU" altLang="zh-CN" sz="2400" dirty="0"/>
                  <a:t>:</a:t>
                </a:r>
                <a:r>
                  <a:rPr lang="zh-CN" altLang="en-US" sz="2400" dirty="0"/>
                  <a:t>接</a:t>
                </a:r>
                <a14:m>
                  <m:oMath xmlns:m="http://schemas.openxmlformats.org/officeDocument/2006/math">
                    <m:r>
                      <a:rPr lang="zh-CN" altLang="en-US" sz="2400" i="1" dirty="0" smtClean="0">
                        <a:latin typeface="Cambria Math" panose="02040503050406030204" pitchFamily="18" charset="0"/>
                      </a:rPr>
                      <m:t>受</m:t>
                    </m:r>
                    <m:r>
                      <a:rPr lang="zh-CN" altLang="en-US" sz="2400" i="1" dirty="0" smtClean="0">
                        <a:latin typeface="Cambria Math" panose="02040503050406030204" pitchFamily="18" charset="0"/>
                      </a:rPr>
                      <m:t> </m:t>
                    </m:r>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 </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{0,1}</m:t>
                        </m:r>
                      </m:e>
                      <m:sup>
                        <m:r>
                          <a:rPr lang="en-AU" altLang="zh-CN" sz="2400" b="0" i="1" dirty="0" smtClean="0">
                            <a:latin typeface="Cambria Math" panose="02040503050406030204" pitchFamily="18" charset="0"/>
                          </a:rPr>
                          <m:t>∗</m:t>
                        </m:r>
                      </m:sup>
                    </m:sSup>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m:t>
                    </m:r>
                    <m:r>
                      <a:rPr lang="zh-CN" altLang="en-US" sz="2400" i="1" dirty="0" smtClean="0">
                        <a:latin typeface="Cambria Math" panose="02040503050406030204" pitchFamily="18" charset="0"/>
                      </a:rPr>
                      <m:t>中字符</m:t>
                    </m:r>
                    <m:r>
                      <a:rPr lang="zh-CN" altLang="en-US" sz="2400" i="1" dirty="0" smtClean="0">
                        <a:latin typeface="Cambria Math" panose="02040503050406030204" pitchFamily="18" charset="0"/>
                      </a:rPr>
                      <m:t> 0 </m:t>
                    </m:r>
                    <m:r>
                      <a:rPr lang="zh-CN" altLang="en-US" sz="2400" i="1" dirty="0" smtClean="0">
                        <a:latin typeface="Cambria Math" panose="02040503050406030204" pitchFamily="18" charset="0"/>
                      </a:rPr>
                      <m:t>和</m:t>
                    </m:r>
                    <m:r>
                      <a:rPr lang="zh-CN" altLang="en-US" sz="2400" i="1" dirty="0" smtClean="0">
                        <a:latin typeface="Cambria Math" panose="02040503050406030204" pitchFamily="18" charset="0"/>
                      </a:rPr>
                      <m:t> 1 </m:t>
                    </m:r>
                    <m:r>
                      <a:rPr lang="zh-CN" altLang="en-US" sz="2400" i="1" dirty="0" smtClean="0">
                        <a:latin typeface="Cambria Math" panose="02040503050406030204" pitchFamily="18" charset="0"/>
                      </a:rPr>
                      <m:t>的数量相同</m:t>
                    </m:r>
                    <m:r>
                      <a:rPr lang="en-US" altLang="zh-CN" sz="2400" i="1" dirty="0" smtClean="0">
                        <a:latin typeface="Cambria Math" panose="02040503050406030204" pitchFamily="18" charset="0"/>
                      </a:rPr>
                      <m:t>}</m:t>
                    </m:r>
                  </m:oMath>
                </a14:m>
                <a:r>
                  <a:rPr lang="zh-CN" altLang="en-US" sz="2400" dirty="0"/>
                  <a:t>的</a:t>
                </a:r>
                <a:r>
                  <a:rPr lang="en-AU" altLang="zh-CN" sz="2400" dirty="0">
                    <a:latin typeface="Times New Roman" panose="02020603050405020304" pitchFamily="18" charset="0"/>
                    <a:cs typeface="Times New Roman" panose="02020603050405020304" pitchFamily="18" charset="0"/>
                  </a:rPr>
                  <a:t>PDA</a:t>
                </a:r>
                <a:r>
                  <a:rPr lang="zh-CN" altLang="en-US" sz="2400" dirty="0"/>
                  <a:t>。</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16000"/>
                <a:ext cx="8229600" cy="4525963"/>
              </a:xfrm>
              <a:blipFill rotWithShape="1">
                <a:blip r:embed="rId3"/>
                <a:stretch>
                  <a:fillRect b="7"/>
                </a:stretch>
              </a:blipFill>
            </p:spPr>
            <p:txBody>
              <a:bodyPr/>
              <a:lstStyle/>
              <a:p>
                <a:r>
                  <a:rPr lang="zh-CN" altLang="en-US">
                    <a:noFill/>
                  </a:rPr>
                  <a:t> </a:t>
                </a:r>
              </a:p>
            </p:txBody>
          </p:sp>
        </mc:Fallback>
      </mc:AlternateContent>
      <p:sp>
        <p:nvSpPr>
          <p:cNvPr id="14" name="Slide Number Placeholder 3"/>
          <p:cNvSpPr>
            <a:spLocks noGrp="1"/>
          </p:cNvSpPr>
          <p:nvPr>
            <p:ph type="sldNum" sz="quarter" idx="12"/>
          </p:nvPr>
        </p:nvSpPr>
        <p:spPr>
          <a:xfrm>
            <a:off x="6553200" y="6356350"/>
            <a:ext cx="2133600" cy="365125"/>
          </a:xfrm>
        </p:spPr>
        <p:txBody>
          <a:bodyPr/>
          <a:lstStyle/>
          <a:p>
            <a:fld id="{0662E1F6-9BD6-474C-A82E-E07C3DB67AAE}" type="slidenum">
              <a:rPr lang="en-AU" smtClean="0"/>
              <a:t>53</a:t>
            </a:fld>
            <a:endParaRPr lang="en-AU"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16000"/>
                <a:ext cx="8229600" cy="4525963"/>
              </a:xfrm>
            </p:spPr>
            <p:txBody>
              <a:bodyPr>
                <a:normAutofit/>
              </a:bodyPr>
              <a:lstStyle/>
              <a:p>
                <a:r>
                  <a:rPr lang="zh-CN" altLang="en-US" sz="2400" dirty="0"/>
                  <a:t>例</a:t>
                </a:r>
                <a:r>
                  <a:rPr lang="en-AU" altLang="zh-CN" sz="2400" dirty="0"/>
                  <a:t>:</a:t>
                </a:r>
                <a:r>
                  <a:rPr lang="zh-CN" altLang="en-US" sz="2400" dirty="0"/>
                  <a:t>接</a:t>
                </a:r>
                <a14:m>
                  <m:oMath xmlns:m="http://schemas.openxmlformats.org/officeDocument/2006/math">
                    <m:r>
                      <a:rPr lang="zh-CN" altLang="en-US" sz="2400" i="1" dirty="0" smtClean="0">
                        <a:latin typeface="Cambria Math" panose="02040503050406030204" pitchFamily="18" charset="0"/>
                      </a:rPr>
                      <m:t>受</m:t>
                    </m:r>
                    <m:r>
                      <a:rPr lang="zh-CN" altLang="en-US" sz="2400" i="1" dirty="0" smtClean="0">
                        <a:latin typeface="Cambria Math" panose="02040503050406030204" pitchFamily="18" charset="0"/>
                      </a:rPr>
                      <m:t> </m:t>
                    </m:r>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 </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{0,1}</m:t>
                        </m:r>
                      </m:e>
                      <m:sup>
                        <m:r>
                          <a:rPr lang="en-AU" altLang="zh-CN" sz="2400" b="0" i="1" dirty="0" smtClean="0">
                            <a:latin typeface="Cambria Math" panose="02040503050406030204" pitchFamily="18" charset="0"/>
                          </a:rPr>
                          <m:t>∗</m:t>
                        </m:r>
                      </m:sup>
                    </m:sSup>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m:t>
                    </m:r>
                    <m:r>
                      <a:rPr lang="zh-CN" altLang="en-US" sz="2400" i="1" dirty="0" smtClean="0">
                        <a:latin typeface="Cambria Math" panose="02040503050406030204" pitchFamily="18" charset="0"/>
                      </a:rPr>
                      <m:t>中字符</m:t>
                    </m:r>
                    <m:r>
                      <a:rPr lang="zh-CN" altLang="en-US" sz="2400" i="1" dirty="0" smtClean="0">
                        <a:latin typeface="Cambria Math" panose="02040503050406030204" pitchFamily="18" charset="0"/>
                      </a:rPr>
                      <m:t> 0 </m:t>
                    </m:r>
                    <m:r>
                      <a:rPr lang="zh-CN" altLang="en-US" sz="2400" i="1" dirty="0" smtClean="0">
                        <a:latin typeface="Cambria Math" panose="02040503050406030204" pitchFamily="18" charset="0"/>
                      </a:rPr>
                      <m:t>和</m:t>
                    </m:r>
                    <m:r>
                      <a:rPr lang="zh-CN" altLang="en-US" sz="2400" i="1" dirty="0" smtClean="0">
                        <a:latin typeface="Cambria Math" panose="02040503050406030204" pitchFamily="18" charset="0"/>
                      </a:rPr>
                      <m:t> 1 </m:t>
                    </m:r>
                    <m:r>
                      <a:rPr lang="zh-CN" altLang="en-US" sz="2400" i="1" dirty="0" smtClean="0">
                        <a:latin typeface="Cambria Math" panose="02040503050406030204" pitchFamily="18" charset="0"/>
                      </a:rPr>
                      <m:t>的数量相同</m:t>
                    </m:r>
                    <m:r>
                      <a:rPr lang="en-US" altLang="zh-CN" sz="2400" i="1" dirty="0" smtClean="0">
                        <a:latin typeface="Cambria Math" panose="02040503050406030204" pitchFamily="18" charset="0"/>
                      </a:rPr>
                      <m:t>}</m:t>
                    </m:r>
                  </m:oMath>
                </a14:m>
                <a:r>
                  <a:rPr lang="zh-CN" altLang="en-US" sz="2400" dirty="0"/>
                  <a:t>的</a:t>
                </a:r>
                <a:r>
                  <a:rPr lang="en-AU" altLang="zh-CN" sz="2400" dirty="0">
                    <a:latin typeface="Times New Roman" panose="02020603050405020304" pitchFamily="18" charset="0"/>
                    <a:cs typeface="Times New Roman" panose="02020603050405020304" pitchFamily="18" charset="0"/>
                  </a:rPr>
                  <a:t>PDA</a:t>
                </a:r>
                <a:r>
                  <a:rPr lang="zh-CN" altLang="en-US" sz="2400" dirty="0"/>
                  <a:t>。</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16000"/>
                <a:ext cx="8229600" cy="4525963"/>
              </a:xfrm>
              <a:blipFill rotWithShape="1">
                <a:blip r:embed="rId3"/>
                <a:stretch>
                  <a:fillRect b="7"/>
                </a:stretch>
              </a:blipFill>
            </p:spPr>
            <p:txBody>
              <a:bodyPr/>
              <a:lstStyle/>
              <a:p>
                <a:r>
                  <a:rPr lang="zh-CN" altLang="en-US">
                    <a:noFill/>
                  </a:rPr>
                  <a:t> </a:t>
                </a:r>
              </a:p>
            </p:txBody>
          </p:sp>
        </mc:Fallback>
      </mc:AlternateContent>
      <p:pic>
        <p:nvPicPr>
          <p:cNvPr id="6" name="Picture 5" descr="Text&#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50339" y="1632182"/>
            <a:ext cx="3197997" cy="1957343"/>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710256" y="4123113"/>
                <a:ext cx="1527553"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ea typeface="楷体" panose="02010609060101010101" pitchFamily="49" charset="-122"/>
                        </a:rPr>
                        <m:t>0,</m:t>
                      </m:r>
                      <m:sSub>
                        <m:sSubPr>
                          <m:ctrlPr>
                            <a:rPr lang="en-AU" sz="2000" i="1">
                              <a:latin typeface="Cambria Math" panose="02040503050406030204" pitchFamily="18" charset="0"/>
                              <a:ea typeface="楷体" panose="02010609060101010101" pitchFamily="49" charset="-122"/>
                            </a:rPr>
                          </m:ctrlPr>
                        </m:sSubPr>
                        <m:e>
                          <m:r>
                            <a:rPr lang="en-AU" sz="2000" i="1">
                              <a:latin typeface="Cambria Math" panose="02040503050406030204" pitchFamily="18" charset="0"/>
                              <a:ea typeface="楷体" panose="02010609060101010101" pitchFamily="49" charset="-122"/>
                            </a:rPr>
                            <m:t>𝑍</m:t>
                          </m:r>
                        </m:e>
                        <m:sub>
                          <m:r>
                            <a:rPr lang="en-AU" sz="2000" i="1">
                              <a:latin typeface="Cambria Math" panose="02040503050406030204" pitchFamily="18" charset="0"/>
                              <a:ea typeface="楷体" panose="02010609060101010101" pitchFamily="49" charset="-122"/>
                            </a:rPr>
                            <m:t>0</m:t>
                          </m:r>
                        </m:sub>
                      </m:sSub>
                      <m:r>
                        <a:rPr lang="en-AU" sz="2000" b="0" i="1" smtClean="0">
                          <a:latin typeface="Cambria Math" panose="02040503050406030204" pitchFamily="18" charset="0"/>
                          <a:ea typeface="楷体" panose="02010609060101010101" pitchFamily="49" charset="-122"/>
                        </a:rPr>
                        <m:t>/0</m:t>
                      </m:r>
                      <m:sSub>
                        <m:sSubPr>
                          <m:ctrlPr>
                            <a:rPr lang="en-AU" sz="2000" b="0" i="1" smtClean="0">
                              <a:latin typeface="Cambria Math" panose="02040503050406030204" pitchFamily="18" charset="0"/>
                              <a:ea typeface="楷体" panose="02010609060101010101" pitchFamily="49" charset="-122"/>
                            </a:rPr>
                          </m:ctrlPr>
                        </m:sSubPr>
                        <m:e>
                          <m:r>
                            <a:rPr lang="en-AU" sz="2000" b="0" i="1" smtClean="0">
                              <a:latin typeface="Cambria Math" panose="02040503050406030204" pitchFamily="18" charset="0"/>
                              <a:ea typeface="楷体" panose="02010609060101010101" pitchFamily="49" charset="-122"/>
                            </a:rPr>
                            <m:t>𝑍</m:t>
                          </m:r>
                        </m:e>
                        <m:sub>
                          <m:r>
                            <a:rPr lang="en-AU" sz="2000" b="0" i="1" smtClean="0">
                              <a:latin typeface="Cambria Math" panose="02040503050406030204" pitchFamily="18" charset="0"/>
                              <a:ea typeface="楷体" panose="02010609060101010101" pitchFamily="49" charset="-122"/>
                            </a:rPr>
                            <m:t>0</m:t>
                          </m:r>
                        </m:sub>
                      </m:sSub>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ea typeface="楷体" panose="02010609060101010101" pitchFamily="49" charset="-122"/>
                        </a:rPr>
                        <m:t>1</m:t>
                      </m:r>
                      <m:r>
                        <a:rPr lang="en-AU" sz="2000" b="0" i="1" smtClean="0">
                          <a:latin typeface="Cambria Math" panose="02040503050406030204" pitchFamily="18" charset="0"/>
                          <a:ea typeface="楷体" panose="02010609060101010101" pitchFamily="49" charset="-122"/>
                        </a:rPr>
                        <m:t>,</m:t>
                      </m:r>
                      <m:sSub>
                        <m:sSubPr>
                          <m:ctrlPr>
                            <a:rPr lang="en-AU" sz="2000" i="1">
                              <a:latin typeface="Cambria Math" panose="02040503050406030204" pitchFamily="18" charset="0"/>
                              <a:ea typeface="楷体" panose="02010609060101010101" pitchFamily="49" charset="-122"/>
                            </a:rPr>
                          </m:ctrlPr>
                        </m:sSubPr>
                        <m:e>
                          <m:r>
                            <a:rPr lang="en-AU" sz="2000" i="1">
                              <a:latin typeface="Cambria Math" panose="02040503050406030204" pitchFamily="18" charset="0"/>
                              <a:ea typeface="楷体" panose="02010609060101010101" pitchFamily="49" charset="-122"/>
                            </a:rPr>
                            <m:t>𝑍</m:t>
                          </m:r>
                        </m:e>
                        <m:sub>
                          <m:r>
                            <a:rPr lang="en-AU" sz="2000" i="1">
                              <a:latin typeface="Cambria Math" panose="02040503050406030204" pitchFamily="18" charset="0"/>
                              <a:ea typeface="楷体" panose="02010609060101010101" pitchFamily="49" charset="-122"/>
                            </a:rPr>
                            <m:t>0</m:t>
                          </m:r>
                        </m:sub>
                      </m:sSub>
                      <m:r>
                        <a:rPr lang="en-AU" sz="2000" b="0" i="1" smtClean="0">
                          <a:latin typeface="Cambria Math" panose="02040503050406030204" pitchFamily="18" charset="0"/>
                          <a:ea typeface="楷体" panose="02010609060101010101" pitchFamily="49" charset="-122"/>
                        </a:rPr>
                        <m:t>/1</m:t>
                      </m:r>
                      <m:sSub>
                        <m:sSubPr>
                          <m:ctrlPr>
                            <a:rPr lang="en-AU" sz="2000" b="0" i="1" smtClean="0">
                              <a:latin typeface="Cambria Math" panose="02040503050406030204" pitchFamily="18" charset="0"/>
                              <a:ea typeface="楷体" panose="02010609060101010101" pitchFamily="49" charset="-122"/>
                            </a:rPr>
                          </m:ctrlPr>
                        </m:sSubPr>
                        <m:e>
                          <m:r>
                            <a:rPr lang="en-AU" sz="2000" b="0" i="1" smtClean="0">
                              <a:latin typeface="Cambria Math" panose="02040503050406030204" pitchFamily="18" charset="0"/>
                              <a:ea typeface="楷体" panose="02010609060101010101" pitchFamily="49" charset="-122"/>
                            </a:rPr>
                            <m:t>𝑍</m:t>
                          </m:r>
                        </m:e>
                        <m:sub>
                          <m:r>
                            <a:rPr lang="en-AU" sz="2000" b="0" i="1" smtClean="0">
                              <a:latin typeface="Cambria Math" panose="02040503050406030204" pitchFamily="18" charset="0"/>
                              <a:ea typeface="楷体" panose="02010609060101010101" pitchFamily="49" charset="-122"/>
                            </a:rPr>
                            <m:t>0</m:t>
                          </m:r>
                        </m:sub>
                      </m:sSub>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ea typeface="楷体" panose="02010609060101010101" pitchFamily="49" charset="-122"/>
                        </a:rPr>
                        <m:t>0,</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0/00</m:t>
                      </m:r>
                    </m:oMath>
                  </m:oMathPara>
                </a14:m>
                <a:endParaRPr lang="en-AU" sz="2000" b="0" i="1" dirty="0">
                  <a:latin typeface="Cambria Math" panose="02040503050406030204" pitchFamily="18" charset="0"/>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ea typeface="楷体" panose="02010609060101010101" pitchFamily="49" charset="-122"/>
                        </a:rPr>
                        <m:t>0,</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1/01</m:t>
                      </m:r>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ea typeface="楷体" panose="02010609060101010101" pitchFamily="49" charset="-122"/>
                        </a:rPr>
                        <m:t>1</m:t>
                      </m:r>
                      <m:r>
                        <a:rPr lang="en-AU" sz="2000" b="0" i="1" smtClean="0">
                          <a:latin typeface="Cambria Math" panose="02040503050406030204" pitchFamily="18" charset="0"/>
                          <a:ea typeface="楷体" panose="02010609060101010101" pitchFamily="49" charset="-122"/>
                        </a:rPr>
                        <m:t>,</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0/10</m:t>
                      </m:r>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ea typeface="楷体" panose="02010609060101010101" pitchFamily="49" charset="-122"/>
                        </a:rPr>
                        <m:t>1</m:t>
                      </m:r>
                      <m:r>
                        <a:rPr lang="en-AU" sz="2000" b="0" i="1" smtClean="0">
                          <a:latin typeface="Cambria Math" panose="02040503050406030204" pitchFamily="18" charset="0"/>
                          <a:ea typeface="楷体" panose="02010609060101010101" pitchFamily="49" charset="-122"/>
                        </a:rPr>
                        <m:t>,</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1/11</m:t>
                      </m:r>
                    </m:oMath>
                  </m:oMathPara>
                </a14:m>
                <a:endParaRPr lang="en-AU" sz="2000" dirty="0">
                  <a:latin typeface="楷体" panose="02010609060101010101" pitchFamily="49" charset="-122"/>
                  <a:ea typeface="楷体" panose="02010609060101010101" pitchFamily="49" charset="-12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710256" y="4123113"/>
                <a:ext cx="1527553" cy="1938992"/>
              </a:xfrm>
              <a:prstGeom prst="rect">
                <a:avLst/>
              </a:prstGeom>
              <a:blipFill rotWithShape="1">
                <a:blip r:embed="rId5"/>
                <a:stretch>
                  <a:fillRect l="-21" t="-3" r="5" b="20"/>
                </a:stretch>
              </a:blipFill>
            </p:spPr>
            <p:txBody>
              <a:bodyPr/>
              <a:lstStyle/>
              <a:p>
                <a:r>
                  <a:rPr lang="zh-CN" altLang="en-US">
                    <a:noFill/>
                  </a:rPr>
                  <a:t> </a:t>
                </a:r>
              </a:p>
            </p:txBody>
          </p:sp>
        </mc:Fallback>
      </mc:AlternateContent>
      <p:sp>
        <p:nvSpPr>
          <p:cNvPr id="8" name="TextBox 7"/>
          <p:cNvSpPr txBox="1"/>
          <p:nvPr/>
        </p:nvSpPr>
        <p:spPr>
          <a:xfrm>
            <a:off x="725686" y="3718204"/>
            <a:ext cx="2526224"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压栈相关</a:t>
            </a:r>
            <a:r>
              <a:rPr lang="en-AU" altLang="zh-CN" sz="2400" dirty="0">
                <a:latin typeface="楷体" panose="02010609060101010101" pitchFamily="49" charset="-122"/>
                <a:ea typeface="楷体" panose="02010609060101010101" pitchFamily="49" charset="-122"/>
              </a:rPr>
              <a:t>:</a:t>
            </a:r>
          </a:p>
        </p:txBody>
      </p:sp>
      <p:sp>
        <p:nvSpPr>
          <p:cNvPr id="9" name="TextBox 8"/>
          <p:cNvSpPr txBox="1"/>
          <p:nvPr/>
        </p:nvSpPr>
        <p:spPr>
          <a:xfrm>
            <a:off x="2354360" y="3766073"/>
            <a:ext cx="2526224" cy="461665"/>
          </a:xfrm>
          <a:prstGeom prst="rect">
            <a:avLst/>
          </a:prstGeom>
          <a:noFill/>
        </p:spPr>
        <p:txBody>
          <a:bodyPr wrap="square">
            <a:spAutoFit/>
          </a:bodyPr>
          <a:lstStyle/>
          <a:p>
            <a:r>
              <a:rPr lang="en-AU"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和</a:t>
            </a:r>
            <a:r>
              <a:rPr lang="en-AU"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匹配相关</a:t>
            </a:r>
            <a:r>
              <a:rPr lang="en-AU" altLang="zh-CN" sz="2400" dirty="0">
                <a:latin typeface="楷体" panose="02010609060101010101" pitchFamily="49" charset="-122"/>
                <a:ea typeface="楷体" panose="02010609060101010101" pitchFamily="49" charset="-122"/>
              </a:rPr>
              <a:t>:</a:t>
            </a:r>
          </a:p>
        </p:txBody>
      </p:sp>
      <mc:AlternateContent xmlns:mc="http://schemas.openxmlformats.org/markup-compatibility/2006" xmlns:a14="http://schemas.microsoft.com/office/drawing/2010/main">
        <mc:Choice Requires="a14">
          <p:sp>
            <p:nvSpPr>
              <p:cNvPr id="10" name="TextBox 9"/>
              <p:cNvSpPr txBox="1"/>
              <p:nvPr/>
            </p:nvSpPr>
            <p:spPr>
              <a:xfrm>
                <a:off x="2363078" y="4091389"/>
                <a:ext cx="1527553"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楷体" panose="02010609060101010101" pitchFamily="49" charset="-122"/>
                        </a:rPr>
                        <m:t>0,1</m:t>
                      </m:r>
                      <m:r>
                        <a:rPr lang="en-AU" sz="2400" i="1" smtClean="0">
                          <a:latin typeface="Cambria Math" panose="02040503050406030204" pitchFamily="18" charset="0"/>
                          <a:ea typeface="楷体" panose="02010609060101010101" pitchFamily="49" charset="-122"/>
                        </a:rPr>
                        <m:t> </m:t>
                      </m:r>
                      <m:r>
                        <a:rPr lang="en-AU" sz="2400" b="0" i="1" smtClean="0">
                          <a:latin typeface="Cambria Math" panose="02040503050406030204" pitchFamily="18" charset="0"/>
                          <a:ea typeface="楷体" panose="02010609060101010101" pitchFamily="49" charset="-122"/>
                        </a:rPr>
                        <m:t>/</m:t>
                      </m:r>
                      <m:r>
                        <a:rPr lang="en-AU" sz="2400" b="0" i="1" smtClean="0">
                          <a:latin typeface="Cambria Math" panose="02040503050406030204" pitchFamily="18" charset="0"/>
                          <a:ea typeface="Cambria Math" panose="02040503050406030204" pitchFamily="18" charset="0"/>
                        </a:rPr>
                        <m:t>𝜀</m:t>
                      </m:r>
                    </m:oMath>
                  </m:oMathPara>
                </a14:m>
                <a:endParaRPr lang="en-AU" sz="24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ea typeface="楷体" panose="02010609060101010101" pitchFamily="49" charset="-122"/>
                        </a:rPr>
                        <m:t>1</m:t>
                      </m:r>
                      <m:r>
                        <a:rPr lang="en-AU" sz="2400" b="0" i="1" smtClean="0">
                          <a:latin typeface="Cambria Math" panose="02040503050406030204" pitchFamily="18" charset="0"/>
                          <a:ea typeface="楷体" panose="02010609060101010101" pitchFamily="49" charset="-122"/>
                        </a:rPr>
                        <m:t>,</m:t>
                      </m:r>
                      <m:r>
                        <a:rPr lang="en-AU" sz="2400" i="1" smtClean="0">
                          <a:latin typeface="Cambria Math" panose="02040503050406030204" pitchFamily="18" charset="0"/>
                          <a:ea typeface="楷体" panose="02010609060101010101" pitchFamily="49" charset="-122"/>
                        </a:rPr>
                        <m:t> </m:t>
                      </m:r>
                      <m:r>
                        <a:rPr lang="en-AU" sz="2400" b="0" i="1" smtClean="0">
                          <a:latin typeface="Cambria Math" panose="02040503050406030204" pitchFamily="18" charset="0"/>
                          <a:ea typeface="楷体" panose="02010609060101010101" pitchFamily="49" charset="-122"/>
                        </a:rPr>
                        <m:t>0/</m:t>
                      </m:r>
                      <m:r>
                        <a:rPr lang="en-AU" sz="2400" i="1">
                          <a:latin typeface="Cambria Math" panose="02040503050406030204" pitchFamily="18" charset="0"/>
                          <a:ea typeface="Cambria Math" panose="02040503050406030204" pitchFamily="18" charset="0"/>
                        </a:rPr>
                        <m:t>𝜀</m:t>
                      </m:r>
                    </m:oMath>
                  </m:oMathPara>
                </a14:m>
                <a:endParaRPr lang="en-AU" sz="2400" dirty="0">
                  <a:latin typeface="楷体" panose="02010609060101010101" pitchFamily="49" charset="-122"/>
                  <a:ea typeface="楷体" panose="02010609060101010101" pitchFamily="49" charset="-122"/>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363078" y="4091389"/>
                <a:ext cx="1527553" cy="830997"/>
              </a:xfrm>
              <a:prstGeom prst="rect">
                <a:avLst/>
              </a:prstGeom>
              <a:blipFill rotWithShape="1">
                <a:blip r:embed="rId6"/>
                <a:stretch>
                  <a:fillRect l="-16" t="-10" r="41" b="60"/>
                </a:stretch>
              </a:blipFill>
            </p:spPr>
            <p:txBody>
              <a:bodyPr/>
              <a:lstStyle/>
              <a:p>
                <a:r>
                  <a:rPr lang="zh-CN" altLang="en-US">
                    <a:noFill/>
                  </a:rPr>
                  <a:t> </a:t>
                </a:r>
              </a:p>
            </p:txBody>
          </p:sp>
        </mc:Fallback>
      </mc:AlternateContent>
      <p:sp>
        <p:nvSpPr>
          <p:cNvPr id="11" name="TextBox 10"/>
          <p:cNvSpPr txBox="1"/>
          <p:nvPr/>
        </p:nvSpPr>
        <p:spPr>
          <a:xfrm>
            <a:off x="2406496" y="5178967"/>
            <a:ext cx="2526224"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栈清空</a:t>
            </a:r>
            <a:r>
              <a:rPr lang="en-AU" altLang="zh-CN" sz="2400" dirty="0">
                <a:latin typeface="楷体" panose="02010609060101010101" pitchFamily="49" charset="-122"/>
                <a:ea typeface="楷体" panose="02010609060101010101" pitchFamily="49" charset="-122"/>
              </a:rPr>
              <a:t>:</a:t>
            </a:r>
          </a:p>
        </p:txBody>
      </p:sp>
      <mc:AlternateContent xmlns:mc="http://schemas.openxmlformats.org/markup-compatibility/2006" xmlns:a14="http://schemas.microsoft.com/office/drawing/2010/main">
        <mc:Choice Requires="a14">
          <p:sp>
            <p:nvSpPr>
              <p:cNvPr id="12" name="TextBox 11"/>
              <p:cNvSpPr txBox="1"/>
              <p:nvPr/>
            </p:nvSpPr>
            <p:spPr>
              <a:xfrm>
                <a:off x="2329098" y="5627089"/>
                <a:ext cx="1527553"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𝜀</m:t>
                      </m:r>
                      <m:r>
                        <a:rPr lang="en-AU" sz="2400" b="0" i="1" smtClean="0">
                          <a:latin typeface="Cambria Math" panose="02040503050406030204" pitchFamily="18" charset="0"/>
                          <a:ea typeface="楷体" panose="02010609060101010101" pitchFamily="49" charset="-122"/>
                        </a:rPr>
                        <m:t>,</m:t>
                      </m:r>
                      <m:sSub>
                        <m:sSubPr>
                          <m:ctrlPr>
                            <a:rPr lang="en-AU" sz="2400" i="1">
                              <a:latin typeface="Cambria Math" panose="02040503050406030204" pitchFamily="18" charset="0"/>
                              <a:ea typeface="楷体" panose="02010609060101010101" pitchFamily="49" charset="-122"/>
                            </a:rPr>
                          </m:ctrlPr>
                        </m:sSubPr>
                        <m:e>
                          <m:r>
                            <a:rPr lang="en-AU" sz="2400" i="1">
                              <a:latin typeface="Cambria Math" panose="02040503050406030204" pitchFamily="18" charset="0"/>
                              <a:ea typeface="楷体" panose="02010609060101010101" pitchFamily="49" charset="-122"/>
                            </a:rPr>
                            <m:t>𝑍</m:t>
                          </m:r>
                        </m:e>
                        <m:sub>
                          <m:r>
                            <a:rPr lang="en-AU" sz="2400" i="1">
                              <a:latin typeface="Cambria Math" panose="02040503050406030204" pitchFamily="18" charset="0"/>
                              <a:ea typeface="楷体" panose="02010609060101010101" pitchFamily="49" charset="-122"/>
                            </a:rPr>
                            <m:t>0</m:t>
                          </m:r>
                        </m:sub>
                      </m:sSub>
                      <m:r>
                        <a:rPr lang="en-AU" sz="2400" b="0" i="1" smtClean="0">
                          <a:latin typeface="Cambria Math" panose="02040503050406030204" pitchFamily="18" charset="0"/>
                          <a:ea typeface="楷体" panose="02010609060101010101" pitchFamily="49" charset="-122"/>
                        </a:rPr>
                        <m:t>/</m:t>
                      </m:r>
                      <m:r>
                        <a:rPr lang="en-AU" sz="2400" b="0" i="1" smtClean="0">
                          <a:latin typeface="Cambria Math" panose="02040503050406030204" pitchFamily="18" charset="0"/>
                          <a:ea typeface="Cambria Math" panose="02040503050406030204" pitchFamily="18" charset="0"/>
                        </a:rPr>
                        <m:t>𝜀</m:t>
                      </m:r>
                    </m:oMath>
                  </m:oMathPara>
                </a14:m>
                <a:endParaRPr lang="en-AU" sz="2400" dirty="0">
                  <a:latin typeface="楷体" panose="02010609060101010101" pitchFamily="49" charset="-122"/>
                  <a:ea typeface="楷体" panose="02010609060101010101" pitchFamily="49" charset="-122"/>
                </a:endParaRPr>
              </a:p>
              <a:p>
                <a:pPr algn="ctr"/>
                <a:endParaRPr lang="en-AU" sz="2400" dirty="0">
                  <a:latin typeface="楷体" panose="02010609060101010101" pitchFamily="49" charset="-122"/>
                  <a:ea typeface="楷体" panose="02010609060101010101" pitchFamily="49" charset="-122"/>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329098" y="5627089"/>
                <a:ext cx="1527553" cy="830997"/>
              </a:xfrm>
              <a:prstGeom prst="rect">
                <a:avLst/>
              </a:prstGeom>
              <a:blipFill rotWithShape="1">
                <a:blip r:embed="rId7"/>
                <a:stretch>
                  <a:fillRect l="-36" t="-43" r="19" b="16"/>
                </a:stretch>
              </a:blipFill>
            </p:spPr>
            <p:txBody>
              <a:bodyPr/>
              <a:lstStyle/>
              <a:p>
                <a:r>
                  <a:rPr lang="zh-CN" altLang="en-US">
                    <a:noFill/>
                  </a:rPr>
                  <a:t> </a:t>
                </a:r>
              </a:p>
            </p:txBody>
          </p:sp>
        </mc:Fallback>
      </mc:AlternateContent>
      <p:sp>
        <p:nvSpPr>
          <p:cNvPr id="13" name="TextBox 12"/>
          <p:cNvSpPr txBox="1"/>
          <p:nvPr/>
        </p:nvSpPr>
        <p:spPr>
          <a:xfrm>
            <a:off x="631285" y="2260085"/>
            <a:ext cx="2646878" cy="461665"/>
          </a:xfrm>
          <a:prstGeom prst="rect">
            <a:avLst/>
          </a:prstGeom>
          <a:noFill/>
        </p:spPr>
        <p:txBody>
          <a:bodyPr wrap="none" rtlCol="0">
            <a:spAutoFit/>
          </a:bodyPr>
          <a:lstStyle/>
          <a:p>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空栈方式接受</a:t>
            </a:r>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p:sp>
        <p:nvSpPr>
          <p:cNvPr id="15" name="TextBox 14"/>
          <p:cNvSpPr txBox="1"/>
          <p:nvPr/>
        </p:nvSpPr>
        <p:spPr>
          <a:xfrm>
            <a:off x="4749337" y="4010293"/>
            <a:ext cx="3792821" cy="1631216"/>
          </a:xfrm>
          <a:prstGeom prst="rect">
            <a:avLst/>
          </a:prstGeom>
          <a:solidFill>
            <a:srgbClr val="FFC000"/>
          </a:solidFill>
        </p:spPr>
        <p:txBody>
          <a:bodyPr wrap="square">
            <a:spAutoFit/>
          </a:bodyPr>
          <a:lstStyle/>
          <a:p>
            <a:r>
              <a:rPr lang="zh-CN" altLang="en-US" sz="2000" dirty="0">
                <a:latin typeface="楷体" panose="02010609060101010101" pitchFamily="49" charset="-122"/>
                <a:ea typeface="楷体" panose="02010609060101010101" pitchFamily="49" charset="-122"/>
              </a:rPr>
              <a:t>利用非确定性，一方面把输入的符号压入栈，另一方面又同时进行</a:t>
            </a:r>
            <a:r>
              <a:rPr lang="en-AU" altLang="zh-CN" sz="2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和</a:t>
            </a:r>
            <a:r>
              <a:rPr lang="en-AU"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的匹配。最终总有一条正确的</a:t>
            </a:r>
            <a:r>
              <a:rPr lang="en-AU" altLang="zh-CN" sz="2000" dirty="0">
                <a:latin typeface="楷体" panose="02010609060101010101" pitchFamily="49" charset="-122"/>
                <a:ea typeface="楷体" panose="02010609060101010101" pitchFamily="49" charset="-122"/>
              </a:rPr>
              <a:t>ID</a:t>
            </a:r>
            <a:r>
              <a:rPr lang="zh-CN" altLang="en-US" sz="2000" dirty="0">
                <a:latin typeface="楷体" panose="02010609060101010101" pitchFamily="49" charset="-122"/>
                <a:ea typeface="楷体" panose="02010609060101010101" pitchFamily="49" charset="-122"/>
              </a:rPr>
              <a:t>转移路径，使得</a:t>
            </a:r>
            <a:r>
              <a:rPr lang="en-AU" altLang="zh-CN" sz="2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和</a:t>
            </a:r>
            <a:r>
              <a:rPr lang="en-AU"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数量的时候，刚好空栈。</a:t>
            </a:r>
            <a:endParaRPr lang="en-AU" altLang="zh-CN" sz="2000" dirty="0">
              <a:latin typeface="楷体" panose="02010609060101010101" pitchFamily="49" charset="-122"/>
              <a:ea typeface="楷体" panose="02010609060101010101" pitchFamily="49" charset="-122"/>
            </a:endParaRPr>
          </a:p>
        </p:txBody>
      </p:sp>
      <p:sp>
        <p:nvSpPr>
          <p:cNvPr id="14" name="Slide Number Placeholder 3"/>
          <p:cNvSpPr>
            <a:spLocks noGrp="1"/>
          </p:cNvSpPr>
          <p:nvPr>
            <p:ph type="sldNum" sz="quarter" idx="12"/>
          </p:nvPr>
        </p:nvSpPr>
        <p:spPr>
          <a:xfrm>
            <a:off x="6553200" y="6356350"/>
            <a:ext cx="2133600" cy="365125"/>
          </a:xfrm>
        </p:spPr>
        <p:txBody>
          <a:bodyPr/>
          <a:lstStyle/>
          <a:p>
            <a:fld id="{0662E1F6-9BD6-474C-A82E-E07C3DB67AAE}" type="slidenum">
              <a:rPr lang="en-AU" smtClean="0"/>
              <a:t>54</a:t>
            </a:fld>
            <a:endParaRPr lang="en-AU"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16000"/>
                <a:ext cx="8229600" cy="4525963"/>
              </a:xfrm>
            </p:spPr>
            <p:txBody>
              <a:bodyPr>
                <a:normAutofit/>
              </a:bodyPr>
              <a:lstStyle/>
              <a:p>
                <a:r>
                  <a:rPr lang="zh-CN" altLang="en-US" sz="2400" dirty="0"/>
                  <a:t>例</a:t>
                </a:r>
                <a:r>
                  <a:rPr lang="en-AU" altLang="zh-CN" sz="2400" dirty="0"/>
                  <a:t>:</a:t>
                </a:r>
                <a:r>
                  <a:rPr lang="zh-CN" altLang="en-US" sz="2400" dirty="0"/>
                  <a:t>接</a:t>
                </a:r>
                <a14:m>
                  <m:oMath xmlns:m="http://schemas.openxmlformats.org/officeDocument/2006/math">
                    <m:r>
                      <a:rPr lang="zh-CN" altLang="en-US" sz="2400" i="1" dirty="0" smtClean="0">
                        <a:latin typeface="Cambria Math" panose="02040503050406030204" pitchFamily="18" charset="0"/>
                      </a:rPr>
                      <m:t>受</m:t>
                    </m:r>
                    <m:r>
                      <a:rPr lang="zh-CN" altLang="en-US" sz="2400" i="1" dirty="0" smtClean="0">
                        <a:latin typeface="Cambria Math" panose="02040503050406030204" pitchFamily="18" charset="0"/>
                      </a:rPr>
                      <m:t> </m:t>
                    </m:r>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 </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{0,1}</m:t>
                        </m:r>
                      </m:e>
                      <m:sup>
                        <m:r>
                          <a:rPr lang="en-AU" altLang="zh-CN" sz="2400" b="0" i="1" dirty="0" smtClean="0">
                            <a:latin typeface="Cambria Math" panose="02040503050406030204" pitchFamily="18" charset="0"/>
                          </a:rPr>
                          <m:t>∗</m:t>
                        </m:r>
                      </m:sup>
                    </m:sSup>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𝑤</m:t>
                    </m:r>
                    <m:r>
                      <a:rPr lang="en-AU" altLang="zh-CN" sz="2400" i="1" dirty="0" smtClean="0">
                        <a:latin typeface="Cambria Math" panose="02040503050406030204" pitchFamily="18" charset="0"/>
                      </a:rPr>
                      <m:t> </m:t>
                    </m:r>
                    <m:r>
                      <a:rPr lang="zh-CN" altLang="en-US" sz="2400" i="1" dirty="0" smtClean="0">
                        <a:latin typeface="Cambria Math" panose="02040503050406030204" pitchFamily="18" charset="0"/>
                      </a:rPr>
                      <m:t>中字符</m:t>
                    </m:r>
                    <m:r>
                      <a:rPr lang="zh-CN" altLang="en-US" sz="2400" i="1" dirty="0" smtClean="0">
                        <a:latin typeface="Cambria Math" panose="02040503050406030204" pitchFamily="18" charset="0"/>
                      </a:rPr>
                      <m:t> 0 </m:t>
                    </m:r>
                    <m:r>
                      <a:rPr lang="zh-CN" altLang="en-US" sz="2400" i="1" dirty="0" smtClean="0">
                        <a:latin typeface="Cambria Math" panose="02040503050406030204" pitchFamily="18" charset="0"/>
                      </a:rPr>
                      <m:t>和</m:t>
                    </m:r>
                    <m:r>
                      <a:rPr lang="zh-CN" altLang="en-US" sz="2400" i="1" dirty="0" smtClean="0">
                        <a:latin typeface="Cambria Math" panose="02040503050406030204" pitchFamily="18" charset="0"/>
                      </a:rPr>
                      <m:t> 1 </m:t>
                    </m:r>
                    <m:r>
                      <a:rPr lang="zh-CN" altLang="en-US" sz="2400" i="1" dirty="0" smtClean="0">
                        <a:latin typeface="Cambria Math" panose="02040503050406030204" pitchFamily="18" charset="0"/>
                      </a:rPr>
                      <m:t>的数量相同</m:t>
                    </m:r>
                    <m:r>
                      <a:rPr lang="en-US" altLang="zh-CN" sz="2400" i="1" dirty="0" smtClean="0">
                        <a:latin typeface="Cambria Math" panose="02040503050406030204" pitchFamily="18" charset="0"/>
                      </a:rPr>
                      <m:t>}</m:t>
                    </m:r>
                  </m:oMath>
                </a14:m>
                <a:r>
                  <a:rPr lang="zh-CN" altLang="en-US" sz="2400" dirty="0"/>
                  <a:t>的</a:t>
                </a:r>
                <a:r>
                  <a:rPr lang="en-AU" altLang="zh-CN" sz="2400" dirty="0">
                    <a:latin typeface="Times New Roman" panose="02020603050405020304" pitchFamily="18" charset="0"/>
                    <a:cs typeface="Times New Roman" panose="02020603050405020304" pitchFamily="18" charset="0"/>
                  </a:rPr>
                  <a:t>PDA</a:t>
                </a:r>
                <a:r>
                  <a:rPr lang="zh-CN" altLang="en-US" sz="2400" dirty="0"/>
                  <a:t>。</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16000"/>
                <a:ext cx="8229600" cy="4525963"/>
              </a:xfrm>
              <a:blipFill rotWithShape="1">
                <a:blip r:embed="rId3"/>
                <a:stretch>
                  <a:fillRect b="7"/>
                </a:stretch>
              </a:blipFill>
            </p:spPr>
            <p:txBody>
              <a:bodyPr/>
              <a:lstStyle/>
              <a:p>
                <a:r>
                  <a:rPr lang="zh-CN" altLang="en-US">
                    <a:noFill/>
                  </a:rPr>
                  <a:t> </a:t>
                </a:r>
              </a:p>
            </p:txBody>
          </p:sp>
        </mc:Fallback>
      </mc:AlternateContent>
      <p:pic>
        <p:nvPicPr>
          <p:cNvPr id="6" name="Picture 5" descr="Text&#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50339" y="1632182"/>
            <a:ext cx="3197997" cy="1957343"/>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710256" y="4123113"/>
                <a:ext cx="1527553"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ea typeface="楷体" panose="02010609060101010101" pitchFamily="49" charset="-122"/>
                        </a:rPr>
                        <m:t>0,</m:t>
                      </m:r>
                      <m:sSub>
                        <m:sSubPr>
                          <m:ctrlPr>
                            <a:rPr lang="en-AU" sz="2000" i="1">
                              <a:latin typeface="Cambria Math" panose="02040503050406030204" pitchFamily="18" charset="0"/>
                              <a:ea typeface="楷体" panose="02010609060101010101" pitchFamily="49" charset="-122"/>
                            </a:rPr>
                          </m:ctrlPr>
                        </m:sSubPr>
                        <m:e>
                          <m:r>
                            <a:rPr lang="en-AU" sz="2000" i="1">
                              <a:latin typeface="Cambria Math" panose="02040503050406030204" pitchFamily="18" charset="0"/>
                              <a:ea typeface="楷体" panose="02010609060101010101" pitchFamily="49" charset="-122"/>
                            </a:rPr>
                            <m:t>𝑍</m:t>
                          </m:r>
                        </m:e>
                        <m:sub>
                          <m:r>
                            <a:rPr lang="en-AU" sz="2000" i="1">
                              <a:latin typeface="Cambria Math" panose="02040503050406030204" pitchFamily="18" charset="0"/>
                              <a:ea typeface="楷体" panose="02010609060101010101" pitchFamily="49" charset="-122"/>
                            </a:rPr>
                            <m:t>0</m:t>
                          </m:r>
                        </m:sub>
                      </m:sSub>
                      <m:r>
                        <a:rPr lang="en-AU" sz="2000" b="0" i="1" smtClean="0">
                          <a:latin typeface="Cambria Math" panose="02040503050406030204" pitchFamily="18" charset="0"/>
                          <a:ea typeface="楷体" panose="02010609060101010101" pitchFamily="49" charset="-122"/>
                        </a:rPr>
                        <m:t>/0</m:t>
                      </m:r>
                      <m:sSub>
                        <m:sSubPr>
                          <m:ctrlPr>
                            <a:rPr lang="en-AU" sz="2000" b="0" i="1" smtClean="0">
                              <a:latin typeface="Cambria Math" panose="02040503050406030204" pitchFamily="18" charset="0"/>
                              <a:ea typeface="楷体" panose="02010609060101010101" pitchFamily="49" charset="-122"/>
                            </a:rPr>
                          </m:ctrlPr>
                        </m:sSubPr>
                        <m:e>
                          <m:r>
                            <a:rPr lang="en-AU" sz="2000" b="0" i="1" smtClean="0">
                              <a:latin typeface="Cambria Math" panose="02040503050406030204" pitchFamily="18" charset="0"/>
                              <a:ea typeface="楷体" panose="02010609060101010101" pitchFamily="49" charset="-122"/>
                            </a:rPr>
                            <m:t>𝑍</m:t>
                          </m:r>
                        </m:e>
                        <m:sub>
                          <m:r>
                            <a:rPr lang="en-AU" sz="2000" b="0" i="1" smtClean="0">
                              <a:latin typeface="Cambria Math" panose="02040503050406030204" pitchFamily="18" charset="0"/>
                              <a:ea typeface="楷体" panose="02010609060101010101" pitchFamily="49" charset="-122"/>
                            </a:rPr>
                            <m:t>0</m:t>
                          </m:r>
                        </m:sub>
                      </m:sSub>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ea typeface="楷体" panose="02010609060101010101" pitchFamily="49" charset="-122"/>
                        </a:rPr>
                        <m:t>1</m:t>
                      </m:r>
                      <m:r>
                        <a:rPr lang="en-AU" sz="2000" b="0" i="1" smtClean="0">
                          <a:latin typeface="Cambria Math" panose="02040503050406030204" pitchFamily="18" charset="0"/>
                          <a:ea typeface="楷体" panose="02010609060101010101" pitchFamily="49" charset="-122"/>
                        </a:rPr>
                        <m:t>,</m:t>
                      </m:r>
                      <m:sSub>
                        <m:sSubPr>
                          <m:ctrlPr>
                            <a:rPr lang="en-AU" sz="2000" i="1">
                              <a:latin typeface="Cambria Math" panose="02040503050406030204" pitchFamily="18" charset="0"/>
                              <a:ea typeface="楷体" panose="02010609060101010101" pitchFamily="49" charset="-122"/>
                            </a:rPr>
                          </m:ctrlPr>
                        </m:sSubPr>
                        <m:e>
                          <m:r>
                            <a:rPr lang="en-AU" sz="2000" i="1">
                              <a:latin typeface="Cambria Math" panose="02040503050406030204" pitchFamily="18" charset="0"/>
                              <a:ea typeface="楷体" panose="02010609060101010101" pitchFamily="49" charset="-122"/>
                            </a:rPr>
                            <m:t>𝑍</m:t>
                          </m:r>
                        </m:e>
                        <m:sub>
                          <m:r>
                            <a:rPr lang="en-AU" sz="2000" i="1">
                              <a:latin typeface="Cambria Math" panose="02040503050406030204" pitchFamily="18" charset="0"/>
                              <a:ea typeface="楷体" panose="02010609060101010101" pitchFamily="49" charset="-122"/>
                            </a:rPr>
                            <m:t>0</m:t>
                          </m:r>
                        </m:sub>
                      </m:sSub>
                      <m:r>
                        <a:rPr lang="en-AU" sz="2000" b="0" i="1" smtClean="0">
                          <a:latin typeface="Cambria Math" panose="02040503050406030204" pitchFamily="18" charset="0"/>
                          <a:ea typeface="楷体" panose="02010609060101010101" pitchFamily="49" charset="-122"/>
                        </a:rPr>
                        <m:t>/1</m:t>
                      </m:r>
                      <m:sSub>
                        <m:sSubPr>
                          <m:ctrlPr>
                            <a:rPr lang="en-AU" sz="2000" b="0" i="1" smtClean="0">
                              <a:latin typeface="Cambria Math" panose="02040503050406030204" pitchFamily="18" charset="0"/>
                              <a:ea typeface="楷体" panose="02010609060101010101" pitchFamily="49" charset="-122"/>
                            </a:rPr>
                          </m:ctrlPr>
                        </m:sSubPr>
                        <m:e>
                          <m:r>
                            <a:rPr lang="en-AU" sz="2000" b="0" i="1" smtClean="0">
                              <a:latin typeface="Cambria Math" panose="02040503050406030204" pitchFamily="18" charset="0"/>
                              <a:ea typeface="楷体" panose="02010609060101010101" pitchFamily="49" charset="-122"/>
                            </a:rPr>
                            <m:t>𝑍</m:t>
                          </m:r>
                        </m:e>
                        <m:sub>
                          <m:r>
                            <a:rPr lang="en-AU" sz="2000" b="0" i="1" smtClean="0">
                              <a:latin typeface="Cambria Math" panose="02040503050406030204" pitchFamily="18" charset="0"/>
                              <a:ea typeface="楷体" panose="02010609060101010101" pitchFamily="49" charset="-122"/>
                            </a:rPr>
                            <m:t>0</m:t>
                          </m:r>
                        </m:sub>
                      </m:sSub>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ea typeface="楷体" panose="02010609060101010101" pitchFamily="49" charset="-122"/>
                        </a:rPr>
                        <m:t>0,</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0/00</m:t>
                      </m:r>
                    </m:oMath>
                  </m:oMathPara>
                </a14:m>
                <a:endParaRPr lang="en-AU" sz="2000" b="0" i="1" dirty="0">
                  <a:latin typeface="Cambria Math" panose="02040503050406030204" pitchFamily="18" charset="0"/>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ea typeface="楷体" panose="02010609060101010101" pitchFamily="49" charset="-122"/>
                        </a:rPr>
                        <m:t>0,</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1/01</m:t>
                      </m:r>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ea typeface="楷体" panose="02010609060101010101" pitchFamily="49" charset="-122"/>
                        </a:rPr>
                        <m:t>1</m:t>
                      </m:r>
                      <m:r>
                        <a:rPr lang="en-AU" sz="2000" b="0" i="1" smtClean="0">
                          <a:latin typeface="Cambria Math" panose="02040503050406030204" pitchFamily="18" charset="0"/>
                          <a:ea typeface="楷体" panose="02010609060101010101" pitchFamily="49" charset="-122"/>
                        </a:rPr>
                        <m:t>,</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0/10</m:t>
                      </m:r>
                    </m:oMath>
                  </m:oMathPara>
                </a14:m>
                <a:endParaRPr lang="en-AU" sz="20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ea typeface="楷体" panose="02010609060101010101" pitchFamily="49" charset="-122"/>
                        </a:rPr>
                        <m:t>1</m:t>
                      </m:r>
                      <m:r>
                        <a:rPr lang="en-AU" sz="2000" b="0" i="1" smtClean="0">
                          <a:latin typeface="Cambria Math" panose="02040503050406030204" pitchFamily="18" charset="0"/>
                          <a:ea typeface="楷体" panose="02010609060101010101" pitchFamily="49" charset="-122"/>
                        </a:rPr>
                        <m:t>,</m:t>
                      </m:r>
                      <m:r>
                        <a:rPr lang="en-AU" sz="2000" i="1" smtClean="0">
                          <a:latin typeface="Cambria Math" panose="02040503050406030204" pitchFamily="18" charset="0"/>
                          <a:ea typeface="楷体" panose="02010609060101010101" pitchFamily="49" charset="-122"/>
                        </a:rPr>
                        <m:t> </m:t>
                      </m:r>
                      <m:r>
                        <a:rPr lang="en-AU" sz="2000" b="0" i="1" smtClean="0">
                          <a:latin typeface="Cambria Math" panose="02040503050406030204" pitchFamily="18" charset="0"/>
                          <a:ea typeface="楷体" panose="02010609060101010101" pitchFamily="49" charset="-122"/>
                        </a:rPr>
                        <m:t>1/11</m:t>
                      </m:r>
                    </m:oMath>
                  </m:oMathPara>
                </a14:m>
                <a:endParaRPr lang="en-AU" sz="2000" dirty="0">
                  <a:latin typeface="楷体" panose="02010609060101010101" pitchFamily="49" charset="-122"/>
                  <a:ea typeface="楷体" panose="02010609060101010101" pitchFamily="49" charset="-12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710256" y="4123113"/>
                <a:ext cx="1527553" cy="1938992"/>
              </a:xfrm>
              <a:prstGeom prst="rect">
                <a:avLst/>
              </a:prstGeom>
              <a:blipFill rotWithShape="1">
                <a:blip r:embed="rId5"/>
                <a:stretch>
                  <a:fillRect l="-21" t="-3" r="5" b="20"/>
                </a:stretch>
              </a:blipFill>
            </p:spPr>
            <p:txBody>
              <a:bodyPr/>
              <a:lstStyle/>
              <a:p>
                <a:r>
                  <a:rPr lang="zh-CN" altLang="en-US">
                    <a:noFill/>
                  </a:rPr>
                  <a:t> </a:t>
                </a:r>
              </a:p>
            </p:txBody>
          </p:sp>
        </mc:Fallback>
      </mc:AlternateContent>
      <p:sp>
        <p:nvSpPr>
          <p:cNvPr id="8" name="TextBox 7"/>
          <p:cNvSpPr txBox="1"/>
          <p:nvPr/>
        </p:nvSpPr>
        <p:spPr>
          <a:xfrm>
            <a:off x="725686" y="3718204"/>
            <a:ext cx="2526224"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压栈相关</a:t>
            </a:r>
            <a:r>
              <a:rPr lang="en-AU" altLang="zh-CN" sz="2400" dirty="0">
                <a:latin typeface="楷体" panose="02010609060101010101" pitchFamily="49" charset="-122"/>
                <a:ea typeface="楷体" panose="02010609060101010101" pitchFamily="49" charset="-122"/>
              </a:rPr>
              <a:t>:</a:t>
            </a:r>
          </a:p>
        </p:txBody>
      </p:sp>
      <p:sp>
        <p:nvSpPr>
          <p:cNvPr id="9" name="TextBox 8"/>
          <p:cNvSpPr txBox="1"/>
          <p:nvPr/>
        </p:nvSpPr>
        <p:spPr>
          <a:xfrm>
            <a:off x="2354360" y="3766073"/>
            <a:ext cx="2526224" cy="461665"/>
          </a:xfrm>
          <a:prstGeom prst="rect">
            <a:avLst/>
          </a:prstGeom>
          <a:noFill/>
        </p:spPr>
        <p:txBody>
          <a:bodyPr wrap="square">
            <a:spAutoFit/>
          </a:bodyPr>
          <a:lstStyle/>
          <a:p>
            <a:r>
              <a:rPr lang="en-AU"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和</a:t>
            </a:r>
            <a:r>
              <a:rPr lang="en-AU"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匹配相关</a:t>
            </a:r>
            <a:r>
              <a:rPr lang="en-AU" altLang="zh-CN" sz="2400" dirty="0">
                <a:latin typeface="楷体" panose="02010609060101010101" pitchFamily="49" charset="-122"/>
                <a:ea typeface="楷体" panose="02010609060101010101" pitchFamily="49" charset="-122"/>
              </a:rPr>
              <a:t>:</a:t>
            </a:r>
          </a:p>
        </p:txBody>
      </p:sp>
      <mc:AlternateContent xmlns:mc="http://schemas.openxmlformats.org/markup-compatibility/2006" xmlns:a14="http://schemas.microsoft.com/office/drawing/2010/main">
        <mc:Choice Requires="a14">
          <p:sp>
            <p:nvSpPr>
              <p:cNvPr id="10" name="TextBox 9"/>
              <p:cNvSpPr txBox="1"/>
              <p:nvPr/>
            </p:nvSpPr>
            <p:spPr>
              <a:xfrm>
                <a:off x="2363078" y="4091389"/>
                <a:ext cx="1527553"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楷体" panose="02010609060101010101" pitchFamily="49" charset="-122"/>
                        </a:rPr>
                        <m:t>0,1</m:t>
                      </m:r>
                      <m:r>
                        <a:rPr lang="en-AU" sz="2400" i="1" smtClean="0">
                          <a:latin typeface="Cambria Math" panose="02040503050406030204" pitchFamily="18" charset="0"/>
                          <a:ea typeface="楷体" panose="02010609060101010101" pitchFamily="49" charset="-122"/>
                        </a:rPr>
                        <m:t> </m:t>
                      </m:r>
                      <m:r>
                        <a:rPr lang="en-AU" sz="2400" b="0" i="1" smtClean="0">
                          <a:latin typeface="Cambria Math" panose="02040503050406030204" pitchFamily="18" charset="0"/>
                          <a:ea typeface="楷体" panose="02010609060101010101" pitchFamily="49" charset="-122"/>
                        </a:rPr>
                        <m:t>/</m:t>
                      </m:r>
                      <m:r>
                        <a:rPr lang="en-AU" sz="2400" b="0" i="1" smtClean="0">
                          <a:latin typeface="Cambria Math" panose="02040503050406030204" pitchFamily="18" charset="0"/>
                          <a:ea typeface="Cambria Math" panose="02040503050406030204" pitchFamily="18" charset="0"/>
                        </a:rPr>
                        <m:t>𝜀</m:t>
                      </m:r>
                    </m:oMath>
                  </m:oMathPara>
                </a14:m>
                <a:endParaRPr lang="en-AU" sz="2400" dirty="0">
                  <a:latin typeface="楷体" panose="02010609060101010101" pitchFamily="49" charset="-122"/>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ea typeface="楷体" panose="02010609060101010101" pitchFamily="49" charset="-122"/>
                        </a:rPr>
                        <m:t>1</m:t>
                      </m:r>
                      <m:r>
                        <a:rPr lang="en-AU" sz="2400" b="0" i="1" smtClean="0">
                          <a:latin typeface="Cambria Math" panose="02040503050406030204" pitchFamily="18" charset="0"/>
                          <a:ea typeface="楷体" panose="02010609060101010101" pitchFamily="49" charset="-122"/>
                        </a:rPr>
                        <m:t>,</m:t>
                      </m:r>
                      <m:r>
                        <a:rPr lang="en-AU" sz="2400" i="1" smtClean="0">
                          <a:latin typeface="Cambria Math" panose="02040503050406030204" pitchFamily="18" charset="0"/>
                          <a:ea typeface="楷体" panose="02010609060101010101" pitchFamily="49" charset="-122"/>
                        </a:rPr>
                        <m:t> </m:t>
                      </m:r>
                      <m:r>
                        <a:rPr lang="en-AU" sz="2400" b="0" i="1" smtClean="0">
                          <a:latin typeface="Cambria Math" panose="02040503050406030204" pitchFamily="18" charset="0"/>
                          <a:ea typeface="楷体" panose="02010609060101010101" pitchFamily="49" charset="-122"/>
                        </a:rPr>
                        <m:t>0/</m:t>
                      </m:r>
                      <m:r>
                        <a:rPr lang="en-AU" sz="2400" i="1">
                          <a:latin typeface="Cambria Math" panose="02040503050406030204" pitchFamily="18" charset="0"/>
                          <a:ea typeface="Cambria Math" panose="02040503050406030204" pitchFamily="18" charset="0"/>
                        </a:rPr>
                        <m:t>𝜀</m:t>
                      </m:r>
                    </m:oMath>
                  </m:oMathPara>
                </a14:m>
                <a:endParaRPr lang="en-AU" sz="2400" dirty="0">
                  <a:latin typeface="楷体" panose="02010609060101010101" pitchFamily="49" charset="-122"/>
                  <a:ea typeface="楷体" panose="02010609060101010101" pitchFamily="49" charset="-122"/>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363078" y="4091389"/>
                <a:ext cx="1527553" cy="830997"/>
              </a:xfrm>
              <a:prstGeom prst="rect">
                <a:avLst/>
              </a:prstGeom>
              <a:blipFill rotWithShape="1">
                <a:blip r:embed="rId6"/>
                <a:stretch>
                  <a:fillRect l="-16" t="-10" r="41" b="60"/>
                </a:stretch>
              </a:blipFill>
            </p:spPr>
            <p:txBody>
              <a:bodyPr/>
              <a:lstStyle/>
              <a:p>
                <a:r>
                  <a:rPr lang="zh-CN" altLang="en-US">
                    <a:noFill/>
                  </a:rPr>
                  <a:t> </a:t>
                </a:r>
              </a:p>
            </p:txBody>
          </p:sp>
        </mc:Fallback>
      </mc:AlternateContent>
      <p:sp>
        <p:nvSpPr>
          <p:cNvPr id="11" name="TextBox 10"/>
          <p:cNvSpPr txBox="1"/>
          <p:nvPr/>
        </p:nvSpPr>
        <p:spPr>
          <a:xfrm>
            <a:off x="2406496" y="5178967"/>
            <a:ext cx="2526224"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栈清空</a:t>
            </a:r>
            <a:r>
              <a:rPr lang="en-AU" altLang="zh-CN" sz="2400" dirty="0">
                <a:latin typeface="楷体" panose="02010609060101010101" pitchFamily="49" charset="-122"/>
                <a:ea typeface="楷体" panose="02010609060101010101" pitchFamily="49" charset="-122"/>
              </a:rPr>
              <a:t>:</a:t>
            </a:r>
          </a:p>
        </p:txBody>
      </p:sp>
      <mc:AlternateContent xmlns:mc="http://schemas.openxmlformats.org/markup-compatibility/2006" xmlns:a14="http://schemas.microsoft.com/office/drawing/2010/main">
        <mc:Choice Requires="a14">
          <p:sp>
            <p:nvSpPr>
              <p:cNvPr id="12" name="TextBox 11"/>
              <p:cNvSpPr txBox="1"/>
              <p:nvPr/>
            </p:nvSpPr>
            <p:spPr>
              <a:xfrm>
                <a:off x="2329098" y="5627089"/>
                <a:ext cx="1527553"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𝜀</m:t>
                      </m:r>
                      <m:r>
                        <a:rPr lang="en-AU" sz="2400" b="0" i="1" smtClean="0">
                          <a:latin typeface="Cambria Math" panose="02040503050406030204" pitchFamily="18" charset="0"/>
                          <a:ea typeface="楷体" panose="02010609060101010101" pitchFamily="49" charset="-122"/>
                        </a:rPr>
                        <m:t>,</m:t>
                      </m:r>
                      <m:sSub>
                        <m:sSubPr>
                          <m:ctrlPr>
                            <a:rPr lang="en-AU" sz="2400" i="1">
                              <a:latin typeface="Cambria Math" panose="02040503050406030204" pitchFamily="18" charset="0"/>
                              <a:ea typeface="楷体" panose="02010609060101010101" pitchFamily="49" charset="-122"/>
                            </a:rPr>
                          </m:ctrlPr>
                        </m:sSubPr>
                        <m:e>
                          <m:r>
                            <a:rPr lang="en-AU" sz="2400" i="1">
                              <a:latin typeface="Cambria Math" panose="02040503050406030204" pitchFamily="18" charset="0"/>
                              <a:ea typeface="楷体" panose="02010609060101010101" pitchFamily="49" charset="-122"/>
                            </a:rPr>
                            <m:t>𝑍</m:t>
                          </m:r>
                        </m:e>
                        <m:sub>
                          <m:r>
                            <a:rPr lang="en-AU" sz="2400" i="1">
                              <a:latin typeface="Cambria Math" panose="02040503050406030204" pitchFamily="18" charset="0"/>
                              <a:ea typeface="楷体" panose="02010609060101010101" pitchFamily="49" charset="-122"/>
                            </a:rPr>
                            <m:t>0</m:t>
                          </m:r>
                        </m:sub>
                      </m:sSub>
                      <m:r>
                        <a:rPr lang="en-AU" sz="2400" b="0" i="1" smtClean="0">
                          <a:latin typeface="Cambria Math" panose="02040503050406030204" pitchFamily="18" charset="0"/>
                          <a:ea typeface="楷体" panose="02010609060101010101" pitchFamily="49" charset="-122"/>
                        </a:rPr>
                        <m:t>/</m:t>
                      </m:r>
                      <m:r>
                        <a:rPr lang="en-AU" sz="2400" b="0" i="1" smtClean="0">
                          <a:latin typeface="Cambria Math" panose="02040503050406030204" pitchFamily="18" charset="0"/>
                          <a:ea typeface="Cambria Math" panose="02040503050406030204" pitchFamily="18" charset="0"/>
                        </a:rPr>
                        <m:t>𝜀</m:t>
                      </m:r>
                    </m:oMath>
                  </m:oMathPara>
                </a14:m>
                <a:endParaRPr lang="en-AU" sz="2400" dirty="0">
                  <a:latin typeface="楷体" panose="02010609060101010101" pitchFamily="49" charset="-122"/>
                  <a:ea typeface="楷体" panose="02010609060101010101" pitchFamily="49" charset="-122"/>
                </a:endParaRPr>
              </a:p>
              <a:p>
                <a:pPr algn="ctr"/>
                <a:endParaRPr lang="en-AU" sz="2400" dirty="0">
                  <a:latin typeface="楷体" panose="02010609060101010101" pitchFamily="49" charset="-122"/>
                  <a:ea typeface="楷体" panose="02010609060101010101" pitchFamily="49" charset="-122"/>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329098" y="5627089"/>
                <a:ext cx="1527553" cy="830997"/>
              </a:xfrm>
              <a:prstGeom prst="rect">
                <a:avLst/>
              </a:prstGeom>
              <a:blipFill rotWithShape="1">
                <a:blip r:embed="rId7"/>
                <a:stretch>
                  <a:fillRect l="-36" t="-43" r="19" b="16"/>
                </a:stretch>
              </a:blipFill>
            </p:spPr>
            <p:txBody>
              <a:bodyPr/>
              <a:lstStyle/>
              <a:p>
                <a:r>
                  <a:rPr lang="zh-CN" altLang="en-US">
                    <a:noFill/>
                  </a:rPr>
                  <a:t> </a:t>
                </a:r>
              </a:p>
            </p:txBody>
          </p:sp>
        </mc:Fallback>
      </mc:AlternateContent>
      <p:sp>
        <p:nvSpPr>
          <p:cNvPr id="13" name="TextBox 12"/>
          <p:cNvSpPr txBox="1"/>
          <p:nvPr/>
        </p:nvSpPr>
        <p:spPr>
          <a:xfrm>
            <a:off x="631285" y="2260085"/>
            <a:ext cx="2646878" cy="461665"/>
          </a:xfrm>
          <a:prstGeom prst="rect">
            <a:avLst/>
          </a:prstGeom>
          <a:noFill/>
        </p:spPr>
        <p:txBody>
          <a:bodyPr wrap="none" rtlCol="0">
            <a:spAutoFit/>
          </a:bodyPr>
          <a:lstStyle/>
          <a:p>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空栈方式接受</a:t>
            </a:r>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p:sp>
        <p:nvSpPr>
          <p:cNvPr id="15" name="TextBox 14"/>
          <p:cNvSpPr txBox="1"/>
          <p:nvPr/>
        </p:nvSpPr>
        <p:spPr>
          <a:xfrm>
            <a:off x="4749337" y="4010293"/>
            <a:ext cx="3792821" cy="1631216"/>
          </a:xfrm>
          <a:prstGeom prst="rect">
            <a:avLst/>
          </a:prstGeom>
          <a:solidFill>
            <a:srgbClr val="FFC000"/>
          </a:solidFill>
        </p:spPr>
        <p:txBody>
          <a:bodyPr wrap="square">
            <a:spAutoFit/>
          </a:bodyPr>
          <a:lstStyle/>
          <a:p>
            <a:r>
              <a:rPr lang="zh-CN" altLang="en-US" sz="2000" dirty="0">
                <a:latin typeface="楷体" panose="02010609060101010101" pitchFamily="49" charset="-122"/>
                <a:ea typeface="楷体" panose="02010609060101010101" pitchFamily="49" charset="-122"/>
              </a:rPr>
              <a:t>利用非确定性，一方面把输入的符号压入栈，另一方面又同时进行</a:t>
            </a:r>
            <a:r>
              <a:rPr lang="en-AU" altLang="zh-CN" sz="2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和</a:t>
            </a:r>
            <a:r>
              <a:rPr lang="en-AU"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的匹配。最终总有一条正确的</a:t>
            </a:r>
            <a:r>
              <a:rPr lang="en-AU" altLang="zh-CN" sz="2000" dirty="0">
                <a:latin typeface="楷体" panose="02010609060101010101" pitchFamily="49" charset="-122"/>
                <a:ea typeface="楷体" panose="02010609060101010101" pitchFamily="49" charset="-122"/>
              </a:rPr>
              <a:t>ID</a:t>
            </a:r>
            <a:r>
              <a:rPr lang="zh-CN" altLang="en-US" sz="2000" dirty="0">
                <a:latin typeface="楷体" panose="02010609060101010101" pitchFamily="49" charset="-122"/>
                <a:ea typeface="楷体" panose="02010609060101010101" pitchFamily="49" charset="-122"/>
              </a:rPr>
              <a:t>转移路径，使得</a:t>
            </a:r>
            <a:r>
              <a:rPr lang="en-AU" altLang="zh-CN" sz="2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和</a:t>
            </a:r>
            <a:r>
              <a:rPr lang="en-AU"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数量的时候，刚好空栈。</a:t>
            </a:r>
            <a:endParaRPr lang="en-AU" altLang="zh-CN" sz="2000" dirty="0">
              <a:latin typeface="楷体" panose="02010609060101010101" pitchFamily="49" charset="-122"/>
              <a:ea typeface="楷体" panose="02010609060101010101" pitchFamily="49" charset="-122"/>
            </a:endParaRPr>
          </a:p>
        </p:txBody>
      </p:sp>
      <p:sp>
        <p:nvSpPr>
          <p:cNvPr id="14" name="Slide Number Placeholder 3"/>
          <p:cNvSpPr>
            <a:spLocks noGrp="1"/>
          </p:cNvSpPr>
          <p:nvPr>
            <p:ph type="sldNum" sz="quarter" idx="12"/>
          </p:nvPr>
        </p:nvSpPr>
        <p:spPr>
          <a:xfrm>
            <a:off x="6553200" y="6356350"/>
            <a:ext cx="2133600" cy="365125"/>
          </a:xfrm>
        </p:spPr>
        <p:txBody>
          <a:bodyPr/>
          <a:lstStyle/>
          <a:p>
            <a:fld id="{0662E1F6-9BD6-474C-A82E-E07C3DB67AAE}" type="slidenum">
              <a:rPr lang="en-AU" smtClean="0"/>
              <a:t>55</a:t>
            </a:fld>
            <a:endParaRPr lang="en-AU" dirty="0"/>
          </a:p>
        </p:txBody>
      </p:sp>
      <p:cxnSp>
        <p:nvCxnSpPr>
          <p:cNvPr id="7" name="直接连接符 6"/>
          <p:cNvCxnSpPr/>
          <p:nvPr/>
        </p:nvCxnSpPr>
        <p:spPr>
          <a:xfrm>
            <a:off x="932329" y="5262282"/>
            <a:ext cx="950259"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32329" y="5559893"/>
            <a:ext cx="950259"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457590" y="1980404"/>
            <a:ext cx="950259"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318202" y="2331803"/>
            <a:ext cx="950259"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56</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4000" dirty="0"/>
                  <a:t>例</a:t>
                </a:r>
                <a:r>
                  <a:rPr lang="en-AU" altLang="zh-CN" sz="4000" dirty="0"/>
                  <a:t>:</a:t>
                </a:r>
                <a:r>
                  <a:rPr lang="zh-CN" altLang="en-US" sz="4000" dirty="0"/>
                  <a:t>接受</a:t>
                </a:r>
                <a14:m>
                  <m:oMath xmlns:m="http://schemas.openxmlformats.org/officeDocument/2006/math">
                    <m:r>
                      <a:rPr lang="en-AU" altLang="zh-CN" sz="4000" i="1" dirty="0" smtClean="0">
                        <a:latin typeface="Cambria Math" panose="02040503050406030204" pitchFamily="18" charset="0"/>
                      </a:rPr>
                      <m:t>𝐿</m:t>
                    </m:r>
                    <m:r>
                      <a:rPr lang="en-AU" altLang="zh-CN" sz="4000" i="1" dirty="0" smtClean="0">
                        <a:latin typeface="Cambria Math" panose="02040503050406030204" pitchFamily="18" charset="0"/>
                      </a:rPr>
                      <m:t> = {</m:t>
                    </m:r>
                    <m:sSup>
                      <m:sSupPr>
                        <m:ctrlPr>
                          <a:rPr lang="en-AU" altLang="zh-CN" sz="4000" i="1" dirty="0" smtClean="0">
                            <a:latin typeface="Cambria Math" panose="02040503050406030204" pitchFamily="18" charset="0"/>
                          </a:rPr>
                        </m:ctrlPr>
                      </m:sSupPr>
                      <m:e>
                        <m:r>
                          <a:rPr lang="en-AU" altLang="zh-CN" sz="4000" b="0" i="1" dirty="0" smtClean="0">
                            <a:latin typeface="Cambria Math" panose="02040503050406030204" pitchFamily="18" charset="0"/>
                          </a:rPr>
                          <m:t>0</m:t>
                        </m:r>
                      </m:e>
                      <m:sup>
                        <m:r>
                          <a:rPr lang="en-AU" altLang="zh-CN" sz="4000" b="0" i="1" dirty="0" smtClean="0">
                            <a:latin typeface="Cambria Math" panose="02040503050406030204" pitchFamily="18" charset="0"/>
                          </a:rPr>
                          <m:t>𝑛</m:t>
                        </m:r>
                      </m:sup>
                    </m:sSup>
                    <m:sSup>
                      <m:sSupPr>
                        <m:ctrlPr>
                          <a:rPr lang="en-AU" altLang="zh-CN" sz="4000" i="1" dirty="0" smtClean="0">
                            <a:latin typeface="Cambria Math" panose="02040503050406030204" pitchFamily="18" charset="0"/>
                          </a:rPr>
                        </m:ctrlPr>
                      </m:sSupPr>
                      <m:e>
                        <m:r>
                          <a:rPr lang="en-AU" altLang="zh-CN" sz="4000" b="0" i="1" dirty="0" smtClean="0">
                            <a:latin typeface="Cambria Math" panose="02040503050406030204" pitchFamily="18" charset="0"/>
                          </a:rPr>
                          <m:t>1</m:t>
                        </m:r>
                      </m:e>
                      <m:sup>
                        <m:r>
                          <a:rPr lang="en-AU" altLang="zh-CN" sz="4000" b="0" i="1" dirty="0" smtClean="0">
                            <a:latin typeface="Cambria Math" panose="02040503050406030204" pitchFamily="18" charset="0"/>
                          </a:rPr>
                          <m:t>𝑚</m:t>
                        </m:r>
                      </m:sup>
                    </m:sSup>
                    <m:r>
                      <a:rPr lang="en-AU" altLang="zh-CN" sz="4000" i="1" dirty="0" smtClean="0">
                        <a:latin typeface="Cambria Math" panose="02040503050406030204" pitchFamily="18" charset="0"/>
                      </a:rPr>
                      <m:t>| 0 ≤ </m:t>
                    </m:r>
                    <m:r>
                      <a:rPr lang="en-AU" altLang="zh-CN" sz="4000" i="1" dirty="0" smtClean="0">
                        <a:latin typeface="Cambria Math" panose="02040503050406030204" pitchFamily="18" charset="0"/>
                      </a:rPr>
                      <m:t>𝑛</m:t>
                    </m:r>
                    <m:r>
                      <a:rPr lang="en-AU" altLang="zh-CN" sz="4000" i="1" dirty="0" smtClean="0">
                        <a:latin typeface="Cambria Math" panose="02040503050406030204" pitchFamily="18" charset="0"/>
                      </a:rPr>
                      <m:t> ≤ </m:t>
                    </m:r>
                    <m:r>
                      <a:rPr lang="en-AU" altLang="zh-CN" sz="4000" i="1" dirty="0" smtClean="0">
                        <a:latin typeface="Cambria Math" panose="02040503050406030204" pitchFamily="18" charset="0"/>
                      </a:rPr>
                      <m:t>𝑚</m:t>
                    </m:r>
                    <m:r>
                      <a:rPr lang="en-AU" altLang="zh-CN" sz="4000" i="1" dirty="0" smtClean="0">
                        <a:latin typeface="Cambria Math" panose="02040503050406030204" pitchFamily="18" charset="0"/>
                      </a:rPr>
                      <m:t> ≤ 2</m:t>
                    </m:r>
                    <m:r>
                      <a:rPr lang="en-AU" altLang="zh-CN" sz="4000" i="1" dirty="0" smtClean="0">
                        <a:latin typeface="Cambria Math" panose="02040503050406030204" pitchFamily="18" charset="0"/>
                      </a:rPr>
                      <m:t>𝑛</m:t>
                    </m:r>
                    <m:r>
                      <a:rPr lang="en-AU" altLang="zh-CN" sz="4000" i="1" dirty="0" smtClean="0">
                        <a:latin typeface="Cambria Math" panose="02040503050406030204" pitchFamily="18" charset="0"/>
                      </a:rPr>
                      <m:t>} </m:t>
                    </m:r>
                  </m:oMath>
                </a14:m>
                <a:r>
                  <a:rPr lang="zh-CN" altLang="en-US" sz="4000" dirty="0"/>
                  <a:t>的 </a:t>
                </a:r>
                <a:r>
                  <a:rPr lang="en-AU" altLang="zh-CN" sz="4000" dirty="0">
                    <a:latin typeface="Times New Roman" panose="02020603050405020304" pitchFamily="18" charset="0"/>
                    <a:cs typeface="Times New Roman" panose="02020603050405020304" pitchFamily="18" charset="0"/>
                  </a:rPr>
                  <a:t>PDA</a:t>
                </a:r>
                <a:r>
                  <a:rPr lang="zh-CN" altLang="en-US" sz="4000" dirty="0">
                    <a:latin typeface="Times New Roman" panose="02020603050405020304" pitchFamily="18" charset="0"/>
                    <a:cs typeface="Times New Roman" panose="02020603050405020304" pitchFamily="18" charset="0"/>
                  </a:rPr>
                  <a:t>。</a:t>
                </a:r>
                <a:endParaRPr lang="en-AU" altLang="zh-CN" sz="4000" dirty="0">
                  <a:latin typeface="Times New Roman" panose="02020603050405020304" pitchFamily="18" charset="0"/>
                  <a:cs typeface="Times New Roman" panose="020206030504050203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11"/>
                </p:custDataLst>
              </p:nvPr>
            </p:nvSpPr>
            <p:spPr>
              <a:xfrm>
                <a:off x="914400" y="635000"/>
                <a:ext cx="7315200" cy="2143125"/>
              </a:xfrm>
              <a:prstGeom prst="rect">
                <a:avLst/>
              </a:prstGeom>
              <a:blipFill rotWithShape="1">
                <a:blip r:embed="rId12"/>
                <a:stretch>
                  <a:fillRect/>
                </a:stretch>
              </a:blipFill>
            </p:spPr>
            <p:txBody>
              <a:bodyPr/>
              <a:lstStyle/>
              <a:p>
                <a:r>
                  <a:rPr lang="zh-CN" altLang="en-US">
                    <a:noFill/>
                  </a:rPr>
                  <a:t> </a:t>
                </a:r>
              </a:p>
            </p:txBody>
          </p:sp>
        </mc:Fallback>
      </mc:AlternateContent>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43000"/>
                <a:ext cx="8229600" cy="4525963"/>
              </a:xfrm>
            </p:spPr>
            <p:txBody>
              <a:bodyPr/>
              <a:lstStyle/>
              <a:p>
                <a:r>
                  <a:rPr lang="zh-CN" altLang="en-US" dirty="0"/>
                  <a:t>例</a:t>
                </a:r>
                <a:r>
                  <a:rPr lang="en-AU" altLang="zh-CN" dirty="0"/>
                  <a:t>:</a:t>
                </a:r>
                <a:r>
                  <a:rPr lang="zh-CN" altLang="en-US" dirty="0"/>
                  <a:t>接受</a:t>
                </a:r>
                <a14:m>
                  <m:oMath xmlns:m="http://schemas.openxmlformats.org/officeDocument/2006/math">
                    <m:r>
                      <a:rPr lang="en-AU" i="1" dirty="0" smtClean="0">
                        <a:latin typeface="Cambria Math" panose="02040503050406030204" pitchFamily="18" charset="0"/>
                      </a:rPr>
                      <m:t>𝐿</m:t>
                    </m:r>
                    <m:r>
                      <a:rPr lang="en-AU" i="1" dirty="0" smtClean="0">
                        <a:latin typeface="Cambria Math" panose="02040503050406030204" pitchFamily="18" charset="0"/>
                      </a:rPr>
                      <m:t> = {</m:t>
                    </m:r>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0</m:t>
                        </m:r>
                      </m:e>
                      <m:sup>
                        <m:r>
                          <a:rPr lang="en-AU" b="0" i="1" dirty="0" smtClean="0">
                            <a:latin typeface="Cambria Math" panose="02040503050406030204" pitchFamily="18" charset="0"/>
                          </a:rPr>
                          <m:t>𝑛</m:t>
                        </m:r>
                      </m:sup>
                    </m:sSup>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1</m:t>
                        </m:r>
                      </m:e>
                      <m:sup>
                        <m:r>
                          <a:rPr lang="en-AU" b="0" i="1" dirty="0" smtClean="0">
                            <a:latin typeface="Cambria Math" panose="02040503050406030204" pitchFamily="18" charset="0"/>
                          </a:rPr>
                          <m:t>𝑚</m:t>
                        </m:r>
                      </m:sup>
                    </m:sSup>
                    <m:r>
                      <a:rPr lang="en-AU" i="1" dirty="0" smtClean="0">
                        <a:latin typeface="Cambria Math" panose="02040503050406030204" pitchFamily="18" charset="0"/>
                      </a:rPr>
                      <m:t>| 0 ≤ </m:t>
                    </m:r>
                    <m:r>
                      <a:rPr lang="en-AU" i="1" dirty="0" smtClean="0">
                        <a:latin typeface="Cambria Math" panose="02040503050406030204" pitchFamily="18" charset="0"/>
                      </a:rPr>
                      <m:t>𝑛</m:t>
                    </m:r>
                    <m:r>
                      <a:rPr lang="en-AU" i="1" dirty="0" smtClean="0">
                        <a:latin typeface="Cambria Math" panose="02040503050406030204" pitchFamily="18" charset="0"/>
                      </a:rPr>
                      <m:t> ≤ </m:t>
                    </m:r>
                    <m:r>
                      <a:rPr lang="en-AU" i="1" dirty="0" smtClean="0">
                        <a:latin typeface="Cambria Math" panose="02040503050406030204" pitchFamily="18" charset="0"/>
                      </a:rPr>
                      <m:t>𝑚</m:t>
                    </m:r>
                    <m:r>
                      <a:rPr lang="en-AU" i="1" dirty="0" smtClean="0">
                        <a:latin typeface="Cambria Math" panose="02040503050406030204" pitchFamily="18" charset="0"/>
                      </a:rPr>
                      <m:t> ≤ 2</m:t>
                    </m:r>
                    <m:r>
                      <a:rPr lang="en-AU" i="1" dirty="0" smtClean="0">
                        <a:latin typeface="Cambria Math" panose="02040503050406030204" pitchFamily="18" charset="0"/>
                      </a:rPr>
                      <m:t>𝑛</m:t>
                    </m:r>
                    <m:r>
                      <a:rPr lang="en-AU" i="1" dirty="0" smtClean="0">
                        <a:latin typeface="Cambria Math" panose="02040503050406030204" pitchFamily="18" charset="0"/>
                      </a:rPr>
                      <m:t>} </m:t>
                    </m:r>
                  </m:oMath>
                </a14:m>
                <a:r>
                  <a:rPr lang="zh-CN" altLang="en-US" dirty="0"/>
                  <a:t>的 </a:t>
                </a:r>
                <a:r>
                  <a:rPr lang="en-AU"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a:t>
                </a:r>
                <a:endParaRPr lang="en-AU"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43000"/>
                <a:ext cx="8229600" cy="4525963"/>
              </a:xfrm>
              <a:blipFill rotWithShape="1">
                <a:blip r:embed="rId3"/>
                <a:stretch>
                  <a:fillRect r="-2670" b="7"/>
                </a:stretch>
              </a:blipFill>
            </p:spPr>
            <p:txBody>
              <a:bodyPr/>
              <a:lstStyle/>
              <a:p>
                <a:r>
                  <a:rPr lang="zh-CN" altLang="en-US">
                    <a:noFill/>
                  </a:rPr>
                  <a:t> </a:t>
                </a:r>
              </a:p>
            </p:txBody>
          </p:sp>
        </mc:Fallback>
      </mc:AlternateContent>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43000"/>
                <a:ext cx="8229600" cy="4525963"/>
              </a:xfrm>
            </p:spPr>
            <p:txBody>
              <a:bodyPr/>
              <a:lstStyle/>
              <a:p>
                <a:r>
                  <a:rPr lang="zh-CN" altLang="en-US" dirty="0"/>
                  <a:t>例</a:t>
                </a:r>
                <a:r>
                  <a:rPr lang="en-AU" altLang="zh-CN" dirty="0"/>
                  <a:t>:</a:t>
                </a:r>
                <a:r>
                  <a:rPr lang="zh-CN" altLang="en-US" dirty="0"/>
                  <a:t>接受</a:t>
                </a:r>
                <a14:m>
                  <m:oMath xmlns:m="http://schemas.openxmlformats.org/officeDocument/2006/math">
                    <m:r>
                      <a:rPr lang="en-AU" i="1" dirty="0" smtClean="0">
                        <a:latin typeface="Cambria Math" panose="02040503050406030204" pitchFamily="18" charset="0"/>
                      </a:rPr>
                      <m:t>𝐿</m:t>
                    </m:r>
                    <m:r>
                      <a:rPr lang="en-AU" i="1" dirty="0" smtClean="0">
                        <a:latin typeface="Cambria Math" panose="02040503050406030204" pitchFamily="18" charset="0"/>
                      </a:rPr>
                      <m:t> = {</m:t>
                    </m:r>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0</m:t>
                        </m:r>
                      </m:e>
                      <m:sup>
                        <m:r>
                          <a:rPr lang="en-AU" b="0" i="1" dirty="0" smtClean="0">
                            <a:latin typeface="Cambria Math" panose="02040503050406030204" pitchFamily="18" charset="0"/>
                          </a:rPr>
                          <m:t>𝑛</m:t>
                        </m:r>
                      </m:sup>
                    </m:sSup>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1</m:t>
                        </m:r>
                      </m:e>
                      <m:sup>
                        <m:r>
                          <a:rPr lang="en-AU" b="0" i="1" dirty="0" smtClean="0">
                            <a:latin typeface="Cambria Math" panose="02040503050406030204" pitchFamily="18" charset="0"/>
                          </a:rPr>
                          <m:t>𝑚</m:t>
                        </m:r>
                      </m:sup>
                    </m:sSup>
                    <m:r>
                      <a:rPr lang="en-AU" i="1" dirty="0" smtClean="0">
                        <a:latin typeface="Cambria Math" panose="02040503050406030204" pitchFamily="18" charset="0"/>
                      </a:rPr>
                      <m:t>| 0 ≤ </m:t>
                    </m:r>
                    <m:r>
                      <a:rPr lang="en-AU" i="1" dirty="0" smtClean="0">
                        <a:latin typeface="Cambria Math" panose="02040503050406030204" pitchFamily="18" charset="0"/>
                      </a:rPr>
                      <m:t>𝑛</m:t>
                    </m:r>
                    <m:r>
                      <a:rPr lang="en-AU" i="1" dirty="0" smtClean="0">
                        <a:latin typeface="Cambria Math" panose="02040503050406030204" pitchFamily="18" charset="0"/>
                      </a:rPr>
                      <m:t> ≤ </m:t>
                    </m:r>
                    <m:r>
                      <a:rPr lang="en-AU" i="1" dirty="0" smtClean="0">
                        <a:latin typeface="Cambria Math" panose="02040503050406030204" pitchFamily="18" charset="0"/>
                      </a:rPr>
                      <m:t>𝑚</m:t>
                    </m:r>
                    <m:r>
                      <a:rPr lang="en-AU" i="1" dirty="0" smtClean="0">
                        <a:latin typeface="Cambria Math" panose="02040503050406030204" pitchFamily="18" charset="0"/>
                      </a:rPr>
                      <m:t> ≤ 2</m:t>
                    </m:r>
                    <m:r>
                      <a:rPr lang="en-AU" i="1" dirty="0" smtClean="0">
                        <a:latin typeface="Cambria Math" panose="02040503050406030204" pitchFamily="18" charset="0"/>
                      </a:rPr>
                      <m:t>𝑛</m:t>
                    </m:r>
                    <m:r>
                      <a:rPr lang="en-AU" i="1" dirty="0" smtClean="0">
                        <a:latin typeface="Cambria Math" panose="02040503050406030204" pitchFamily="18" charset="0"/>
                      </a:rPr>
                      <m:t>} </m:t>
                    </m:r>
                  </m:oMath>
                </a14:m>
                <a:r>
                  <a:rPr lang="zh-CN" altLang="en-US" dirty="0"/>
                  <a:t>的 </a:t>
                </a:r>
                <a:r>
                  <a:rPr lang="en-AU"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a:t>
                </a:r>
                <a:endParaRPr lang="en-AU"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43000"/>
                <a:ext cx="8229600" cy="4525963"/>
              </a:xfrm>
              <a:blipFill rotWithShape="1">
                <a:blip r:embed="rId3"/>
                <a:stretch>
                  <a:fillRect r="-2670"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58</a:t>
            </a:fld>
            <a:endParaRPr lang="en-AU"/>
          </a:p>
        </p:txBody>
      </p:sp>
      <p:pic>
        <p:nvPicPr>
          <p:cNvPr id="6" name="Picture 5"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85540" y="2746641"/>
            <a:ext cx="5645159" cy="2573012"/>
          </a:xfrm>
          <a:prstGeom prst="rect">
            <a:avLst/>
          </a:prstGeom>
        </p:spPr>
      </p:pic>
      <p:sp>
        <p:nvSpPr>
          <p:cNvPr id="7" name="TextBox 6"/>
          <p:cNvSpPr txBox="1"/>
          <p:nvPr/>
        </p:nvSpPr>
        <p:spPr>
          <a:xfrm>
            <a:off x="1232247" y="5568368"/>
            <a:ext cx="1083951" cy="400110"/>
          </a:xfrm>
          <a:prstGeom prst="rect">
            <a:avLst/>
          </a:prstGeom>
          <a:noFill/>
          <a:ln>
            <a:solidFill>
              <a:srgbClr val="FF0000"/>
            </a:solidFill>
          </a:ln>
        </p:spPr>
        <p:txBody>
          <a:bodyPr wrap="none" rtlCol="0">
            <a:spAutoFit/>
          </a:bodyPr>
          <a:lstStyle/>
          <a:p>
            <a:r>
              <a:rPr lang="zh-CN" altLang="en-US" sz="2000" dirty="0">
                <a:solidFill>
                  <a:srgbClr val="FF0000"/>
                </a:solidFill>
              </a:rPr>
              <a:t>将</a:t>
            </a:r>
            <a:r>
              <a:rPr lang="en-AU" altLang="zh-CN" sz="2000" dirty="0">
                <a:solidFill>
                  <a:srgbClr val="FF0000"/>
                </a:solidFill>
              </a:rPr>
              <a:t>0</a:t>
            </a:r>
            <a:r>
              <a:rPr lang="zh-CN" altLang="en-US" sz="2000" dirty="0">
                <a:solidFill>
                  <a:srgbClr val="FF0000"/>
                </a:solidFill>
              </a:rPr>
              <a:t>压栈</a:t>
            </a:r>
            <a:endParaRPr lang="en-AU" sz="2000" dirty="0">
              <a:solidFill>
                <a:srgbClr val="FF0000"/>
              </a:solidFill>
            </a:endParaRPr>
          </a:p>
        </p:txBody>
      </p:sp>
      <p:cxnSp>
        <p:nvCxnSpPr>
          <p:cNvPr id="8" name="Straight Arrow Connector 7"/>
          <p:cNvCxnSpPr/>
          <p:nvPr/>
        </p:nvCxnSpPr>
        <p:spPr>
          <a:xfrm flipH="1">
            <a:off x="1749391" y="4971182"/>
            <a:ext cx="591196" cy="513041"/>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401809" y="2230689"/>
            <a:ext cx="2879314" cy="400110"/>
          </a:xfrm>
          <a:prstGeom prst="rect">
            <a:avLst/>
          </a:prstGeom>
          <a:noFill/>
          <a:ln>
            <a:solidFill>
              <a:srgbClr val="FF0000"/>
            </a:solidFill>
          </a:ln>
        </p:spPr>
        <p:txBody>
          <a:bodyPr wrap="none" rtlCol="0">
            <a:spAutoFit/>
          </a:bodyPr>
          <a:lstStyle/>
          <a:p>
            <a:r>
              <a:rPr lang="zh-CN" altLang="en-US" sz="2000" dirty="0">
                <a:solidFill>
                  <a:srgbClr val="FF0000"/>
                </a:solidFill>
              </a:rPr>
              <a:t>通过空转移跳到弹</a:t>
            </a:r>
            <a:r>
              <a:rPr lang="en-AU" altLang="zh-CN" sz="2000" dirty="0">
                <a:solidFill>
                  <a:srgbClr val="FF0000"/>
                </a:solidFill>
              </a:rPr>
              <a:t>0</a:t>
            </a:r>
            <a:r>
              <a:rPr lang="zh-CN" altLang="en-US" sz="2000" dirty="0">
                <a:solidFill>
                  <a:srgbClr val="FF0000"/>
                </a:solidFill>
              </a:rPr>
              <a:t>状态</a:t>
            </a:r>
            <a:endParaRPr lang="en-AU" sz="2000" dirty="0">
              <a:solidFill>
                <a:srgbClr val="FF0000"/>
              </a:solidFill>
            </a:endParaRPr>
          </a:p>
        </p:txBody>
      </p:sp>
      <p:cxnSp>
        <p:nvCxnSpPr>
          <p:cNvPr id="12" name="Straight Arrow Connector 11"/>
          <p:cNvCxnSpPr/>
          <p:nvPr/>
        </p:nvCxnSpPr>
        <p:spPr>
          <a:xfrm flipH="1" flipV="1">
            <a:off x="3553945" y="2703587"/>
            <a:ext cx="165648" cy="556479"/>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909227" y="2030634"/>
            <a:ext cx="2040943" cy="400110"/>
          </a:xfrm>
          <a:prstGeom prst="rect">
            <a:avLst/>
          </a:prstGeom>
          <a:noFill/>
          <a:ln>
            <a:solidFill>
              <a:srgbClr val="FF0000"/>
            </a:solidFill>
          </a:ln>
        </p:spPr>
        <p:txBody>
          <a:bodyPr wrap="none" rtlCol="0">
            <a:spAutoFit/>
          </a:bodyPr>
          <a:lstStyle/>
          <a:p>
            <a:r>
              <a:rPr lang="zh-CN" altLang="en-US" sz="2000" dirty="0">
                <a:solidFill>
                  <a:srgbClr val="FF0000"/>
                </a:solidFill>
              </a:rPr>
              <a:t>一个</a:t>
            </a:r>
            <a:r>
              <a:rPr lang="en-AU" altLang="zh-CN" sz="2000" dirty="0">
                <a:solidFill>
                  <a:srgbClr val="FF0000"/>
                </a:solidFill>
              </a:rPr>
              <a:t>1</a:t>
            </a:r>
            <a:r>
              <a:rPr lang="zh-CN" altLang="en-US" sz="2000" dirty="0">
                <a:solidFill>
                  <a:srgbClr val="FF0000"/>
                </a:solidFill>
              </a:rPr>
              <a:t>弹出一个 </a:t>
            </a:r>
            <a:r>
              <a:rPr lang="en-AU" altLang="zh-CN" sz="2000" dirty="0">
                <a:solidFill>
                  <a:srgbClr val="FF0000"/>
                </a:solidFill>
              </a:rPr>
              <a:t>0</a:t>
            </a:r>
            <a:endParaRPr lang="en-AU" sz="2000" dirty="0">
              <a:solidFill>
                <a:srgbClr val="FF0000"/>
              </a:solidFill>
            </a:endParaRPr>
          </a:p>
        </p:txBody>
      </p:sp>
      <p:cxnSp>
        <p:nvCxnSpPr>
          <p:cNvPr id="16" name="Straight Arrow Connector 15"/>
          <p:cNvCxnSpPr/>
          <p:nvPr/>
        </p:nvCxnSpPr>
        <p:spPr>
          <a:xfrm flipV="1">
            <a:off x="5054282" y="2501802"/>
            <a:ext cx="351711" cy="244839"/>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054282" y="4408385"/>
            <a:ext cx="597225" cy="740882"/>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437478" y="5209292"/>
            <a:ext cx="2040943" cy="400110"/>
          </a:xfrm>
          <a:prstGeom prst="rect">
            <a:avLst/>
          </a:prstGeom>
          <a:noFill/>
          <a:ln>
            <a:solidFill>
              <a:srgbClr val="FF0000"/>
            </a:solidFill>
          </a:ln>
        </p:spPr>
        <p:txBody>
          <a:bodyPr wrap="none" rtlCol="0">
            <a:spAutoFit/>
          </a:bodyPr>
          <a:lstStyle/>
          <a:p>
            <a:r>
              <a:rPr lang="zh-CN" altLang="en-US" sz="2000" dirty="0">
                <a:solidFill>
                  <a:srgbClr val="FF0000"/>
                </a:solidFill>
              </a:rPr>
              <a:t>两个</a:t>
            </a:r>
            <a:r>
              <a:rPr lang="en-AU" altLang="zh-CN" sz="2000" dirty="0">
                <a:solidFill>
                  <a:srgbClr val="FF0000"/>
                </a:solidFill>
              </a:rPr>
              <a:t>1</a:t>
            </a:r>
            <a:r>
              <a:rPr lang="zh-CN" altLang="en-US" sz="2000" dirty="0">
                <a:solidFill>
                  <a:srgbClr val="FF0000"/>
                </a:solidFill>
              </a:rPr>
              <a:t>弹出一个 </a:t>
            </a:r>
            <a:r>
              <a:rPr lang="en-AU" altLang="zh-CN" sz="2000" dirty="0">
                <a:solidFill>
                  <a:srgbClr val="FF0000"/>
                </a:solidFill>
              </a:rPr>
              <a:t>0</a:t>
            </a:r>
            <a:endParaRPr lang="en-AU" sz="2000" dirty="0">
              <a:solidFill>
                <a:srgbClr val="FF0000"/>
              </a:solidFill>
            </a:endParaRPr>
          </a:p>
        </p:txBody>
      </p:sp>
      <mc:AlternateContent xmlns:mc="http://schemas.openxmlformats.org/markup-compatibility/2006" xmlns:a14="http://schemas.microsoft.com/office/drawing/2010/main">
        <mc:Choice Requires="a14">
          <p:sp>
            <p:nvSpPr>
              <p:cNvPr id="21" name="TextBox 20"/>
              <p:cNvSpPr txBox="1"/>
              <p:nvPr/>
            </p:nvSpPr>
            <p:spPr>
              <a:xfrm>
                <a:off x="6624445" y="2598482"/>
                <a:ext cx="2057999" cy="400110"/>
              </a:xfrm>
              <a:prstGeom prst="rect">
                <a:avLst/>
              </a:prstGeom>
              <a:noFill/>
              <a:ln>
                <a:solidFill>
                  <a:srgbClr val="FF0000"/>
                </a:solidFill>
              </a:ln>
            </p:spPr>
            <p:txBody>
              <a:bodyPr wrap="none" rtlCol="0">
                <a:spAutoFit/>
              </a:bodyPr>
              <a:lstStyle/>
              <a:p>
                <a:r>
                  <a:rPr lang="zh-CN" altLang="en-US" sz="2000" dirty="0">
                    <a:solidFill>
                      <a:srgbClr val="FF0000"/>
                    </a:solidFill>
                  </a:rPr>
                  <a:t>露出</a:t>
                </a:r>
                <a14:m>
                  <m:oMath xmlns:m="http://schemas.openxmlformats.org/officeDocument/2006/math">
                    <m:sSub>
                      <m:sSubPr>
                        <m:ctrlPr>
                          <a:rPr lang="en-US" altLang="zh-CN" sz="2000" i="1" smtClean="0">
                            <a:solidFill>
                              <a:srgbClr val="FF0000"/>
                            </a:solidFill>
                            <a:latin typeface="Cambria Math" panose="02040503050406030204" pitchFamily="18" charset="0"/>
                          </a:rPr>
                        </m:ctrlPr>
                      </m:sSubPr>
                      <m:e>
                        <m:r>
                          <a:rPr lang="en-AU" altLang="zh-CN" sz="2000" b="0" i="1" smtClean="0">
                            <a:solidFill>
                              <a:srgbClr val="FF0000"/>
                            </a:solidFill>
                            <a:latin typeface="Cambria Math" panose="02040503050406030204" pitchFamily="18" charset="0"/>
                          </a:rPr>
                          <m:t>𝑍</m:t>
                        </m:r>
                      </m:e>
                      <m:sub>
                        <m:r>
                          <a:rPr lang="en-AU" altLang="zh-CN" sz="2000" b="0" i="1" smtClean="0">
                            <a:solidFill>
                              <a:srgbClr val="FF0000"/>
                            </a:solidFill>
                            <a:latin typeface="Cambria Math" panose="02040503050406030204" pitchFamily="18" charset="0"/>
                          </a:rPr>
                          <m:t>0</m:t>
                        </m:r>
                      </m:sub>
                    </m:sSub>
                  </m:oMath>
                </a14:m>
                <a:r>
                  <a:rPr lang="zh-CN" altLang="en-US" sz="2000" dirty="0">
                    <a:solidFill>
                      <a:srgbClr val="FF0000"/>
                    </a:solidFill>
                  </a:rPr>
                  <a:t>，清空栈</a:t>
                </a:r>
                <a:endParaRPr lang="en-AU" sz="2000" dirty="0">
                  <a:solidFill>
                    <a:srgbClr val="FF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6624445" y="2598482"/>
                <a:ext cx="2057999" cy="400110"/>
              </a:xfrm>
              <a:prstGeom prst="rect">
                <a:avLst/>
              </a:prstGeom>
              <a:blipFill rotWithShape="1">
                <a:blip r:embed="rId5"/>
                <a:stretch>
                  <a:fillRect l="-253" t="-1285" r="-212" b="-1080"/>
                </a:stretch>
              </a:blipFill>
              <a:ln>
                <a:solidFill>
                  <a:srgbClr val="FF0000"/>
                </a:solidFill>
              </a:ln>
            </p:spPr>
            <p:txBody>
              <a:bodyPr/>
              <a:lstStyle/>
              <a:p>
                <a:r>
                  <a:rPr lang="zh-CN" altLang="en-US">
                    <a:noFill/>
                  </a:rPr>
                  <a:t> </a:t>
                </a:r>
              </a:p>
            </p:txBody>
          </p:sp>
        </mc:Fallback>
      </mc:AlternateContent>
      <p:cxnSp>
        <p:nvCxnSpPr>
          <p:cNvPr id="22" name="Straight Arrow Connector 21"/>
          <p:cNvCxnSpPr/>
          <p:nvPr/>
        </p:nvCxnSpPr>
        <p:spPr>
          <a:xfrm flipV="1">
            <a:off x="6376805" y="3041646"/>
            <a:ext cx="351711" cy="244839"/>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292" y="3802314"/>
            <a:ext cx="2646878" cy="461665"/>
          </a:xfrm>
          <a:prstGeom prst="rect">
            <a:avLst/>
          </a:prstGeom>
          <a:noFill/>
        </p:spPr>
        <p:txBody>
          <a:bodyPr wrap="none" rtlCol="0">
            <a:spAutoFit/>
          </a:bodyPr>
          <a:lstStyle/>
          <a:p>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空栈方式接受</a:t>
            </a:r>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43000"/>
                <a:ext cx="8229600" cy="4525963"/>
              </a:xfrm>
            </p:spPr>
            <p:txBody>
              <a:bodyPr/>
              <a:lstStyle/>
              <a:p>
                <a:r>
                  <a:rPr lang="zh-CN" altLang="en-US" dirty="0"/>
                  <a:t>例</a:t>
                </a:r>
                <a:r>
                  <a:rPr lang="en-AU" altLang="zh-CN" dirty="0"/>
                  <a:t>:</a:t>
                </a:r>
                <a:r>
                  <a:rPr lang="zh-CN" altLang="en-US" dirty="0"/>
                  <a:t>接受</a:t>
                </a:r>
                <a14:m>
                  <m:oMath xmlns:m="http://schemas.openxmlformats.org/officeDocument/2006/math">
                    <m:r>
                      <a:rPr lang="en-AU" i="1" dirty="0" smtClean="0">
                        <a:latin typeface="Cambria Math" panose="02040503050406030204" pitchFamily="18" charset="0"/>
                      </a:rPr>
                      <m:t>𝐿</m:t>
                    </m:r>
                    <m:r>
                      <a:rPr lang="en-AU" i="1" dirty="0" smtClean="0">
                        <a:latin typeface="Cambria Math" panose="02040503050406030204" pitchFamily="18" charset="0"/>
                      </a:rPr>
                      <m:t> = {</m:t>
                    </m:r>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0</m:t>
                        </m:r>
                      </m:e>
                      <m:sup>
                        <m:r>
                          <a:rPr lang="en-AU" b="0" i="1" dirty="0" smtClean="0">
                            <a:latin typeface="Cambria Math" panose="02040503050406030204" pitchFamily="18" charset="0"/>
                          </a:rPr>
                          <m:t>𝑛</m:t>
                        </m:r>
                      </m:sup>
                    </m:sSup>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1</m:t>
                        </m:r>
                      </m:e>
                      <m:sup>
                        <m:r>
                          <a:rPr lang="en-AU" b="0" i="1" dirty="0" smtClean="0">
                            <a:latin typeface="Cambria Math" panose="02040503050406030204" pitchFamily="18" charset="0"/>
                          </a:rPr>
                          <m:t>𝑚</m:t>
                        </m:r>
                      </m:sup>
                    </m:sSup>
                    <m:r>
                      <a:rPr lang="en-AU" i="1" dirty="0" smtClean="0">
                        <a:latin typeface="Cambria Math" panose="02040503050406030204" pitchFamily="18" charset="0"/>
                      </a:rPr>
                      <m:t>| 0 ≤ </m:t>
                    </m:r>
                    <m:r>
                      <a:rPr lang="en-AU" i="1" dirty="0" smtClean="0">
                        <a:latin typeface="Cambria Math" panose="02040503050406030204" pitchFamily="18" charset="0"/>
                      </a:rPr>
                      <m:t>𝑛</m:t>
                    </m:r>
                    <m:r>
                      <a:rPr lang="en-AU" i="1" dirty="0" smtClean="0">
                        <a:latin typeface="Cambria Math" panose="02040503050406030204" pitchFamily="18" charset="0"/>
                      </a:rPr>
                      <m:t> ≤ </m:t>
                    </m:r>
                    <m:r>
                      <a:rPr lang="en-AU" i="1" dirty="0" smtClean="0">
                        <a:latin typeface="Cambria Math" panose="02040503050406030204" pitchFamily="18" charset="0"/>
                      </a:rPr>
                      <m:t>𝑚</m:t>
                    </m:r>
                    <m:r>
                      <a:rPr lang="en-AU" i="1" dirty="0" smtClean="0">
                        <a:latin typeface="Cambria Math" panose="02040503050406030204" pitchFamily="18" charset="0"/>
                      </a:rPr>
                      <m:t> ≤ 2</m:t>
                    </m:r>
                    <m:r>
                      <a:rPr lang="en-AU" i="1" dirty="0" smtClean="0">
                        <a:latin typeface="Cambria Math" panose="02040503050406030204" pitchFamily="18" charset="0"/>
                      </a:rPr>
                      <m:t>𝑛</m:t>
                    </m:r>
                    <m:r>
                      <a:rPr lang="en-AU" i="1" dirty="0" smtClean="0">
                        <a:latin typeface="Cambria Math" panose="02040503050406030204" pitchFamily="18" charset="0"/>
                      </a:rPr>
                      <m:t>} </m:t>
                    </m:r>
                  </m:oMath>
                </a14:m>
                <a:r>
                  <a:rPr lang="zh-CN" altLang="en-US" dirty="0"/>
                  <a:t>的 </a:t>
                </a:r>
                <a:r>
                  <a:rPr lang="en-AU"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a:t>
                </a:r>
                <a:endParaRPr lang="en-AU"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43000"/>
                <a:ext cx="8229600" cy="4525963"/>
              </a:xfrm>
              <a:blipFill rotWithShape="1">
                <a:blip r:embed="rId3"/>
                <a:stretch>
                  <a:fillRect r="-2670"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59</a:t>
            </a:fld>
            <a:endParaRPr lang="en-AU"/>
          </a:p>
        </p:txBody>
      </p:sp>
      <p:pic>
        <p:nvPicPr>
          <p:cNvPr id="6" name="Picture 5"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85540" y="2746641"/>
            <a:ext cx="5645159" cy="2573012"/>
          </a:xfrm>
          <a:prstGeom prst="rect">
            <a:avLst/>
          </a:prstGeom>
        </p:spPr>
      </p:pic>
      <p:sp>
        <p:nvSpPr>
          <p:cNvPr id="7" name="TextBox 6"/>
          <p:cNvSpPr txBox="1"/>
          <p:nvPr/>
        </p:nvSpPr>
        <p:spPr>
          <a:xfrm>
            <a:off x="1232247" y="5568368"/>
            <a:ext cx="1083951" cy="400110"/>
          </a:xfrm>
          <a:prstGeom prst="rect">
            <a:avLst/>
          </a:prstGeom>
          <a:noFill/>
          <a:ln>
            <a:solidFill>
              <a:srgbClr val="FF0000"/>
            </a:solidFill>
          </a:ln>
        </p:spPr>
        <p:txBody>
          <a:bodyPr wrap="none" rtlCol="0">
            <a:spAutoFit/>
          </a:bodyPr>
          <a:lstStyle/>
          <a:p>
            <a:r>
              <a:rPr lang="zh-CN" altLang="en-US" sz="2000" dirty="0">
                <a:solidFill>
                  <a:srgbClr val="FF0000"/>
                </a:solidFill>
              </a:rPr>
              <a:t>将</a:t>
            </a:r>
            <a:r>
              <a:rPr lang="en-AU" altLang="zh-CN" sz="2000" dirty="0">
                <a:solidFill>
                  <a:srgbClr val="FF0000"/>
                </a:solidFill>
              </a:rPr>
              <a:t>0</a:t>
            </a:r>
            <a:r>
              <a:rPr lang="zh-CN" altLang="en-US" sz="2000" dirty="0">
                <a:solidFill>
                  <a:srgbClr val="FF0000"/>
                </a:solidFill>
              </a:rPr>
              <a:t>压栈</a:t>
            </a:r>
            <a:endParaRPr lang="en-AU" sz="2000" dirty="0">
              <a:solidFill>
                <a:srgbClr val="FF0000"/>
              </a:solidFill>
            </a:endParaRPr>
          </a:p>
        </p:txBody>
      </p:sp>
      <p:cxnSp>
        <p:nvCxnSpPr>
          <p:cNvPr id="8" name="Straight Arrow Connector 7"/>
          <p:cNvCxnSpPr/>
          <p:nvPr/>
        </p:nvCxnSpPr>
        <p:spPr>
          <a:xfrm flipH="1">
            <a:off x="1749391" y="4971182"/>
            <a:ext cx="591196" cy="513041"/>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401809" y="2230689"/>
            <a:ext cx="2879314" cy="400110"/>
          </a:xfrm>
          <a:prstGeom prst="rect">
            <a:avLst/>
          </a:prstGeom>
          <a:noFill/>
          <a:ln>
            <a:solidFill>
              <a:srgbClr val="FF0000"/>
            </a:solidFill>
          </a:ln>
        </p:spPr>
        <p:txBody>
          <a:bodyPr wrap="none" rtlCol="0">
            <a:spAutoFit/>
          </a:bodyPr>
          <a:lstStyle/>
          <a:p>
            <a:r>
              <a:rPr lang="zh-CN" altLang="en-US" sz="2000" dirty="0">
                <a:solidFill>
                  <a:srgbClr val="FF0000"/>
                </a:solidFill>
              </a:rPr>
              <a:t>通过空转移跳到弹</a:t>
            </a:r>
            <a:r>
              <a:rPr lang="en-AU" altLang="zh-CN" sz="2000" dirty="0">
                <a:solidFill>
                  <a:srgbClr val="FF0000"/>
                </a:solidFill>
              </a:rPr>
              <a:t>0</a:t>
            </a:r>
            <a:r>
              <a:rPr lang="zh-CN" altLang="en-US" sz="2000" dirty="0">
                <a:solidFill>
                  <a:srgbClr val="FF0000"/>
                </a:solidFill>
              </a:rPr>
              <a:t>状态</a:t>
            </a:r>
            <a:endParaRPr lang="en-AU" sz="2000" dirty="0">
              <a:solidFill>
                <a:srgbClr val="FF0000"/>
              </a:solidFill>
            </a:endParaRPr>
          </a:p>
        </p:txBody>
      </p:sp>
      <p:cxnSp>
        <p:nvCxnSpPr>
          <p:cNvPr id="12" name="Straight Arrow Connector 11"/>
          <p:cNvCxnSpPr/>
          <p:nvPr/>
        </p:nvCxnSpPr>
        <p:spPr>
          <a:xfrm flipH="1" flipV="1">
            <a:off x="3553945" y="2703587"/>
            <a:ext cx="165648" cy="556479"/>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909227" y="2030634"/>
            <a:ext cx="2040943" cy="400110"/>
          </a:xfrm>
          <a:prstGeom prst="rect">
            <a:avLst/>
          </a:prstGeom>
          <a:noFill/>
          <a:ln>
            <a:solidFill>
              <a:srgbClr val="FF0000"/>
            </a:solidFill>
          </a:ln>
        </p:spPr>
        <p:txBody>
          <a:bodyPr wrap="none" rtlCol="0">
            <a:spAutoFit/>
          </a:bodyPr>
          <a:lstStyle/>
          <a:p>
            <a:r>
              <a:rPr lang="zh-CN" altLang="en-US" sz="2000" dirty="0">
                <a:solidFill>
                  <a:srgbClr val="FF0000"/>
                </a:solidFill>
              </a:rPr>
              <a:t>一个</a:t>
            </a:r>
            <a:r>
              <a:rPr lang="en-AU" altLang="zh-CN" sz="2000" dirty="0">
                <a:solidFill>
                  <a:srgbClr val="FF0000"/>
                </a:solidFill>
              </a:rPr>
              <a:t>1</a:t>
            </a:r>
            <a:r>
              <a:rPr lang="zh-CN" altLang="en-US" sz="2000" dirty="0">
                <a:solidFill>
                  <a:srgbClr val="FF0000"/>
                </a:solidFill>
              </a:rPr>
              <a:t>弹出一个 </a:t>
            </a:r>
            <a:r>
              <a:rPr lang="en-AU" altLang="zh-CN" sz="2000" dirty="0">
                <a:solidFill>
                  <a:srgbClr val="FF0000"/>
                </a:solidFill>
              </a:rPr>
              <a:t>0</a:t>
            </a:r>
            <a:endParaRPr lang="en-AU" sz="2000" dirty="0">
              <a:solidFill>
                <a:srgbClr val="FF0000"/>
              </a:solidFill>
            </a:endParaRPr>
          </a:p>
        </p:txBody>
      </p:sp>
      <p:cxnSp>
        <p:nvCxnSpPr>
          <p:cNvPr id="16" name="Straight Arrow Connector 15"/>
          <p:cNvCxnSpPr/>
          <p:nvPr/>
        </p:nvCxnSpPr>
        <p:spPr>
          <a:xfrm flipV="1">
            <a:off x="5054282" y="2501802"/>
            <a:ext cx="351711" cy="244839"/>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054282" y="4408385"/>
            <a:ext cx="597225" cy="740882"/>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437478" y="5209292"/>
            <a:ext cx="2040943" cy="400110"/>
          </a:xfrm>
          <a:prstGeom prst="rect">
            <a:avLst/>
          </a:prstGeom>
          <a:noFill/>
          <a:ln>
            <a:solidFill>
              <a:srgbClr val="FF0000"/>
            </a:solidFill>
          </a:ln>
        </p:spPr>
        <p:txBody>
          <a:bodyPr wrap="none" rtlCol="0">
            <a:spAutoFit/>
          </a:bodyPr>
          <a:lstStyle/>
          <a:p>
            <a:r>
              <a:rPr lang="zh-CN" altLang="en-US" sz="2000" dirty="0">
                <a:solidFill>
                  <a:srgbClr val="FF0000"/>
                </a:solidFill>
              </a:rPr>
              <a:t>两个</a:t>
            </a:r>
            <a:r>
              <a:rPr lang="en-AU" altLang="zh-CN" sz="2000" dirty="0">
                <a:solidFill>
                  <a:srgbClr val="FF0000"/>
                </a:solidFill>
              </a:rPr>
              <a:t>1</a:t>
            </a:r>
            <a:r>
              <a:rPr lang="zh-CN" altLang="en-US" sz="2000" dirty="0">
                <a:solidFill>
                  <a:srgbClr val="FF0000"/>
                </a:solidFill>
              </a:rPr>
              <a:t>弹出一个 </a:t>
            </a:r>
            <a:r>
              <a:rPr lang="en-AU" altLang="zh-CN" sz="2000" dirty="0">
                <a:solidFill>
                  <a:srgbClr val="FF0000"/>
                </a:solidFill>
              </a:rPr>
              <a:t>0</a:t>
            </a:r>
            <a:endParaRPr lang="en-AU" sz="2000" dirty="0">
              <a:solidFill>
                <a:srgbClr val="FF0000"/>
              </a:solidFill>
            </a:endParaRPr>
          </a:p>
        </p:txBody>
      </p:sp>
      <mc:AlternateContent xmlns:mc="http://schemas.openxmlformats.org/markup-compatibility/2006" xmlns:a14="http://schemas.microsoft.com/office/drawing/2010/main">
        <mc:Choice Requires="a14">
          <p:sp>
            <p:nvSpPr>
              <p:cNvPr id="21" name="TextBox 20"/>
              <p:cNvSpPr txBox="1"/>
              <p:nvPr/>
            </p:nvSpPr>
            <p:spPr>
              <a:xfrm>
                <a:off x="6624445" y="2598482"/>
                <a:ext cx="2057999" cy="400110"/>
              </a:xfrm>
              <a:prstGeom prst="rect">
                <a:avLst/>
              </a:prstGeom>
              <a:noFill/>
              <a:ln>
                <a:solidFill>
                  <a:srgbClr val="FF0000"/>
                </a:solidFill>
              </a:ln>
            </p:spPr>
            <p:txBody>
              <a:bodyPr wrap="none" rtlCol="0">
                <a:spAutoFit/>
              </a:bodyPr>
              <a:lstStyle/>
              <a:p>
                <a:r>
                  <a:rPr lang="zh-CN" altLang="en-US" sz="2000" dirty="0">
                    <a:solidFill>
                      <a:srgbClr val="FF0000"/>
                    </a:solidFill>
                  </a:rPr>
                  <a:t>露出</a:t>
                </a:r>
                <a14:m>
                  <m:oMath xmlns:m="http://schemas.openxmlformats.org/officeDocument/2006/math">
                    <m:sSub>
                      <m:sSubPr>
                        <m:ctrlPr>
                          <a:rPr lang="en-US" altLang="zh-CN" sz="2000" i="1" smtClean="0">
                            <a:solidFill>
                              <a:srgbClr val="FF0000"/>
                            </a:solidFill>
                            <a:latin typeface="Cambria Math" panose="02040503050406030204" pitchFamily="18" charset="0"/>
                          </a:rPr>
                        </m:ctrlPr>
                      </m:sSubPr>
                      <m:e>
                        <m:r>
                          <a:rPr lang="en-AU" altLang="zh-CN" sz="2000" b="0" i="1" smtClean="0">
                            <a:solidFill>
                              <a:srgbClr val="FF0000"/>
                            </a:solidFill>
                            <a:latin typeface="Cambria Math" panose="02040503050406030204" pitchFamily="18" charset="0"/>
                          </a:rPr>
                          <m:t>𝑍</m:t>
                        </m:r>
                      </m:e>
                      <m:sub>
                        <m:r>
                          <a:rPr lang="en-AU" altLang="zh-CN" sz="2000" b="0" i="1" smtClean="0">
                            <a:solidFill>
                              <a:srgbClr val="FF0000"/>
                            </a:solidFill>
                            <a:latin typeface="Cambria Math" panose="02040503050406030204" pitchFamily="18" charset="0"/>
                          </a:rPr>
                          <m:t>0</m:t>
                        </m:r>
                      </m:sub>
                    </m:sSub>
                  </m:oMath>
                </a14:m>
                <a:r>
                  <a:rPr lang="zh-CN" altLang="en-US" sz="2000" dirty="0">
                    <a:solidFill>
                      <a:srgbClr val="FF0000"/>
                    </a:solidFill>
                  </a:rPr>
                  <a:t>，清空栈</a:t>
                </a:r>
                <a:endParaRPr lang="en-AU" sz="2000" dirty="0">
                  <a:solidFill>
                    <a:srgbClr val="FF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6624445" y="2598482"/>
                <a:ext cx="2057999" cy="400110"/>
              </a:xfrm>
              <a:prstGeom prst="rect">
                <a:avLst/>
              </a:prstGeom>
              <a:blipFill rotWithShape="1">
                <a:blip r:embed="rId5"/>
                <a:stretch>
                  <a:fillRect l="-253" t="-1285" r="-212" b="-1080"/>
                </a:stretch>
              </a:blipFill>
              <a:ln>
                <a:solidFill>
                  <a:srgbClr val="FF0000"/>
                </a:solidFill>
              </a:ln>
            </p:spPr>
            <p:txBody>
              <a:bodyPr/>
              <a:lstStyle/>
              <a:p>
                <a:r>
                  <a:rPr lang="zh-CN" altLang="en-US">
                    <a:noFill/>
                  </a:rPr>
                  <a:t> </a:t>
                </a:r>
              </a:p>
            </p:txBody>
          </p:sp>
        </mc:Fallback>
      </mc:AlternateContent>
      <p:cxnSp>
        <p:nvCxnSpPr>
          <p:cNvPr id="22" name="Straight Arrow Connector 21"/>
          <p:cNvCxnSpPr/>
          <p:nvPr/>
        </p:nvCxnSpPr>
        <p:spPr>
          <a:xfrm flipV="1">
            <a:off x="6376805" y="3041646"/>
            <a:ext cx="351711" cy="244839"/>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292" y="3802314"/>
            <a:ext cx="2646878" cy="461665"/>
          </a:xfrm>
          <a:prstGeom prst="rect">
            <a:avLst/>
          </a:prstGeom>
          <a:noFill/>
        </p:spPr>
        <p:txBody>
          <a:bodyPr wrap="none" rtlCol="0">
            <a:spAutoFit/>
          </a:bodyPr>
          <a:lstStyle/>
          <a:p>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空栈方式接受</a:t>
            </a:r>
            <a:r>
              <a:rPr lang="en-AU"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5" name="矩形 4"/>
              <p:cNvSpPr/>
              <p:nvPr/>
            </p:nvSpPr>
            <p:spPr>
              <a:xfrm>
                <a:off x="2327872" y="6190906"/>
                <a:ext cx="4842864" cy="369332"/>
              </a:xfrm>
              <a:prstGeom prst="rect">
                <a:avLst/>
              </a:prstGeom>
            </p:spPr>
            <p:txBody>
              <a:bodyPr wrap="none">
                <a:spAutoFit/>
              </a:bodyPr>
              <a:lstStyle/>
              <a:p>
                <a14:m>
                  <m:oMath xmlns:m="http://schemas.openxmlformats.org/officeDocument/2006/math">
                    <m:r>
                      <a:rPr lang="zh-CN" altLang="en-US" i="1" dirty="0">
                        <a:solidFill>
                          <a:srgbClr val="FF0000"/>
                        </a:solidFill>
                        <a:latin typeface="Cambria Math" panose="02040503050406030204" pitchFamily="18" charset="0"/>
                      </a:rPr>
                      <m:t>？？</m:t>
                    </m:r>
                    <m:r>
                      <a:rPr lang="en-AU" altLang="zh-CN" i="1" dirty="0">
                        <a:solidFill>
                          <a:srgbClr val="FF0000"/>
                        </a:solidFill>
                        <a:latin typeface="Cambria Math" panose="02040503050406030204" pitchFamily="18" charset="0"/>
                      </a:rPr>
                      <m:t>𝐿</m:t>
                    </m:r>
                    <m:r>
                      <a:rPr lang="en-AU" altLang="zh-CN" i="1" dirty="0">
                        <a:solidFill>
                          <a:srgbClr val="FF0000"/>
                        </a:solidFill>
                        <a:latin typeface="Cambria Math" panose="02040503050406030204" pitchFamily="18" charset="0"/>
                      </a:rPr>
                      <m:t> = {</m:t>
                    </m:r>
                    <m:sSup>
                      <m:sSupPr>
                        <m:ctrlPr>
                          <a:rPr lang="en-AU" altLang="zh-CN" i="1" dirty="0">
                            <a:solidFill>
                              <a:srgbClr val="FF0000"/>
                            </a:solidFill>
                            <a:latin typeface="Cambria Math" panose="02040503050406030204" pitchFamily="18" charset="0"/>
                          </a:rPr>
                        </m:ctrlPr>
                      </m:sSupPr>
                      <m:e>
                        <m:r>
                          <a:rPr lang="en-AU" altLang="zh-CN" i="1" dirty="0">
                            <a:solidFill>
                              <a:srgbClr val="FF0000"/>
                            </a:solidFill>
                            <a:latin typeface="Cambria Math" panose="02040503050406030204" pitchFamily="18" charset="0"/>
                          </a:rPr>
                          <m:t>0</m:t>
                        </m:r>
                      </m:e>
                      <m:sup>
                        <m:r>
                          <a:rPr lang="en-AU" altLang="zh-CN" i="1" dirty="0">
                            <a:solidFill>
                              <a:srgbClr val="FF0000"/>
                            </a:solidFill>
                            <a:latin typeface="Cambria Math" panose="02040503050406030204" pitchFamily="18" charset="0"/>
                          </a:rPr>
                          <m:t>𝑛</m:t>
                        </m:r>
                      </m:sup>
                    </m:sSup>
                    <m:sSup>
                      <m:sSupPr>
                        <m:ctrlPr>
                          <a:rPr lang="en-AU" altLang="zh-CN" i="1" dirty="0">
                            <a:solidFill>
                              <a:srgbClr val="FF0000"/>
                            </a:solidFill>
                            <a:latin typeface="Cambria Math" panose="02040503050406030204" pitchFamily="18" charset="0"/>
                          </a:rPr>
                        </m:ctrlPr>
                      </m:sSupPr>
                      <m:e>
                        <m:r>
                          <a:rPr lang="en-AU" altLang="zh-CN" i="1" dirty="0">
                            <a:solidFill>
                              <a:srgbClr val="FF0000"/>
                            </a:solidFill>
                            <a:latin typeface="Cambria Math" panose="02040503050406030204" pitchFamily="18" charset="0"/>
                          </a:rPr>
                          <m:t>1</m:t>
                        </m:r>
                      </m:e>
                      <m:sup>
                        <m:r>
                          <a:rPr lang="en-AU" altLang="zh-CN" i="1" dirty="0">
                            <a:solidFill>
                              <a:srgbClr val="FF0000"/>
                            </a:solidFill>
                            <a:latin typeface="Cambria Math" panose="02040503050406030204" pitchFamily="18" charset="0"/>
                          </a:rPr>
                          <m:t>𝑚</m:t>
                        </m:r>
                      </m:sup>
                    </m:sSup>
                    <m:r>
                      <a:rPr lang="en-AU" altLang="zh-CN" i="1" dirty="0">
                        <a:solidFill>
                          <a:srgbClr val="FF0000"/>
                        </a:solidFill>
                        <a:latin typeface="Cambria Math" panose="02040503050406030204" pitchFamily="18" charset="0"/>
                      </a:rPr>
                      <m:t>| 0 ≤ </m:t>
                    </m:r>
                    <m:r>
                      <a:rPr lang="en-AU" altLang="zh-CN" i="1" dirty="0">
                        <a:solidFill>
                          <a:srgbClr val="FF0000"/>
                        </a:solidFill>
                        <a:latin typeface="Cambria Math" panose="02040503050406030204" pitchFamily="18" charset="0"/>
                      </a:rPr>
                      <m:t>𝑛</m:t>
                    </m:r>
                    <m:r>
                      <a:rPr lang="en-AU" altLang="zh-CN" i="1" dirty="0">
                        <a:solidFill>
                          <a:srgbClr val="FF0000"/>
                        </a:solidFill>
                        <a:latin typeface="Cambria Math" panose="02040503050406030204" pitchFamily="18" charset="0"/>
                      </a:rPr>
                      <m:t> ≤ </m:t>
                    </m:r>
                    <m:r>
                      <a:rPr lang="en-AU" altLang="zh-CN" i="1" dirty="0">
                        <a:solidFill>
                          <a:srgbClr val="FF0000"/>
                        </a:solidFill>
                        <a:latin typeface="Cambria Math" panose="02040503050406030204" pitchFamily="18" charset="0"/>
                      </a:rPr>
                      <m:t>𝑚</m:t>
                    </m:r>
                    <m:r>
                      <a:rPr lang="en-AU" altLang="zh-CN" i="1" dirty="0">
                        <a:solidFill>
                          <a:srgbClr val="FF0000"/>
                        </a:solidFill>
                        <a:latin typeface="Cambria Math" panose="02040503050406030204" pitchFamily="18" charset="0"/>
                      </a:rPr>
                      <m:t>≤3</m:t>
                    </m:r>
                    <m:r>
                      <a:rPr lang="en-AU" altLang="zh-CN" i="1" dirty="0">
                        <a:solidFill>
                          <a:srgbClr val="FF0000"/>
                        </a:solidFill>
                        <a:latin typeface="Cambria Math" panose="02040503050406030204" pitchFamily="18" charset="0"/>
                      </a:rPr>
                      <m:t>𝑛</m:t>
                    </m:r>
                    <m:r>
                      <a:rPr lang="en-AU" altLang="zh-CN" i="1" dirty="0">
                        <a:solidFill>
                          <a:srgbClr val="FF0000"/>
                        </a:solidFill>
                        <a:latin typeface="Cambria Math" panose="02040503050406030204" pitchFamily="18" charset="0"/>
                      </a:rPr>
                      <m:t>} </m:t>
                    </m:r>
                    <m:r>
                      <a:rPr lang="zh-CN" altLang="en-US" i="1" dirty="0">
                        <a:solidFill>
                          <a:srgbClr val="FF0000"/>
                        </a:solidFill>
                        <a:latin typeface="Cambria Math" panose="02040503050406030204" pitchFamily="18" charset="0"/>
                      </a:rPr>
                      <m:t>的</m:t>
                    </m:r>
                  </m:oMath>
                </a14:m>
                <a:r>
                  <a:rPr lang="en-US" altLang="zh-CN" dirty="0">
                    <a:solidFill>
                      <a:srgbClr val="FF0000"/>
                    </a:solidFill>
                    <a:latin typeface="Times New Roman" panose="02020603050405020304" pitchFamily="18" charset="0"/>
                    <a:cs typeface="Times New Roman" panose="02020603050405020304" pitchFamily="18" charset="0"/>
                  </a:rPr>
                  <a:t>PDA</a:t>
                </a:r>
                <a:r>
                  <a:rPr lang="zh-CN" altLang="en-US" dirty="0">
                    <a:solidFill>
                      <a:srgbClr val="FF0000"/>
                    </a:solidFill>
                    <a:latin typeface="Times New Roman" panose="02020603050405020304" pitchFamily="18" charset="0"/>
                    <a:cs typeface="Times New Roman" panose="02020603050405020304" pitchFamily="18" charset="0"/>
                  </a:rPr>
                  <a:t>呢</a:t>
                </a:r>
              </a:p>
            </p:txBody>
          </p:sp>
        </mc:Choice>
        <mc:Fallback>
          <p:sp>
            <p:nvSpPr>
              <p:cNvPr id="5" name="矩形 4"/>
              <p:cNvSpPr>
                <a:spLocks noRot="1" noChangeAspect="1" noMove="1" noResize="1" noEditPoints="1" noAdjustHandles="1" noChangeArrowheads="1" noChangeShapeType="1" noTextEdit="1"/>
              </p:cNvSpPr>
              <p:nvPr/>
            </p:nvSpPr>
            <p:spPr>
              <a:xfrm>
                <a:off x="2327872" y="6190906"/>
                <a:ext cx="4842864" cy="369332"/>
              </a:xfrm>
              <a:prstGeom prst="rect">
                <a:avLst/>
              </a:prstGeom>
              <a:blipFill>
                <a:blip r:embed="rId6"/>
                <a:stretch>
                  <a:fillRect t="-13333" b="-28333"/>
                </a:stretch>
              </a:blipFill>
            </p:spPr>
            <p:txBody>
              <a:bodyPr/>
              <a:lstStyle/>
              <a:p>
                <a:r>
                  <a:rPr lang="zh-CN" altLang="en-US">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课程回顾</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60</a:t>
            </a:fld>
            <a:endParaRPr lang="en-AU"/>
          </a:p>
        </p:txBody>
      </p:sp>
      <p:pic>
        <p:nvPicPr>
          <p:cNvPr id="5" name="Picture 6" descr="Diagram&#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85079" y="1856792"/>
            <a:ext cx="4210050" cy="2410100"/>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3539713" y="4320025"/>
                <a:ext cx="1757982" cy="523220"/>
              </a:xfrm>
              <a:prstGeom prst="rect">
                <a:avLst/>
              </a:prstGeom>
            </p:spPr>
            <p:txBody>
              <a:bodyPr wrap="none">
                <a:spAutoFit/>
              </a:bodyPr>
              <a:lstStyle/>
              <a:p>
                <a14:m>
                  <m:oMath xmlns:m="http://schemas.openxmlformats.org/officeDocument/2006/math">
                    <m:r>
                      <a:rPr lang="zh-CN" altLang="en-US" sz="2800" b="1" i="1" smtClean="0">
                        <a:solidFill>
                          <a:srgbClr val="FF0000"/>
                        </a:solidFill>
                        <a:latin typeface="Cambria Math" panose="02040503050406030204" pitchFamily="18" charset="0"/>
                        <a:ea typeface="黑体" panose="02010609060101010101" pitchFamily="49" charset="-122"/>
                      </a:rPr>
                      <m:t>𝜀</m:t>
                    </m:r>
                  </m:oMath>
                </a14:m>
                <a:r>
                  <a:rPr lang="en-AU"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NFA</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栈</a:t>
                </a:r>
              </a:p>
            </p:txBody>
          </p:sp>
        </mc:Choice>
        <mc:Fallback xmlns="">
          <p:sp>
            <p:nvSpPr>
              <p:cNvPr id="6" name="矩形 5"/>
              <p:cNvSpPr>
                <a:spLocks noRot="1" noChangeAspect="1" noMove="1" noResize="1" noEditPoints="1" noAdjustHandles="1" noChangeArrowheads="1" noChangeShapeType="1" noTextEdit="1"/>
              </p:cNvSpPr>
              <p:nvPr/>
            </p:nvSpPr>
            <p:spPr>
              <a:xfrm>
                <a:off x="3539713" y="4320025"/>
                <a:ext cx="1757982" cy="523220"/>
              </a:xfrm>
              <a:prstGeom prst="rect">
                <a:avLst/>
              </a:prstGeom>
              <a:blipFill rotWithShape="1">
                <a:blip r:embed="rId4"/>
                <a:stretch>
                  <a:fillRect l="-13" t="-23" r="30" b="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766944" y="5017793"/>
                <a:ext cx="4674196" cy="388568"/>
              </a:xfrm>
              <a:prstGeom prst="rect">
                <a:avLst/>
              </a:prstGeom>
              <a:noFill/>
            </p:spPr>
            <p:txBody>
              <a:bodyPr wrap="square">
                <a:spAutoFit/>
              </a:bodyPr>
              <a:lstStyle/>
              <a:p>
                <a:pPr marL="0" indent="0">
                  <a:buNone/>
                </a:pPr>
                <a14:m>
                  <m:oMath xmlns:m="http://schemas.openxmlformats.org/officeDocument/2006/math">
                    <m:r>
                      <a:rPr lang="pl-PL" altLang="zh-CN" i="1" dirty="0" smtClean="0">
                        <a:latin typeface="Cambria Math" panose="02040503050406030204" pitchFamily="18" charset="0"/>
                      </a:rPr>
                      <m:t>𝛿</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𝑄</m:t>
                    </m:r>
                    <m:r>
                      <a:rPr lang="en-AU" altLang="zh-CN" i="1" dirty="0" smtClean="0">
                        <a:latin typeface="Cambria Math" panose="02040503050406030204" pitchFamily="18" charset="0"/>
                      </a:rPr>
                      <m:t>×</m:t>
                    </m:r>
                    <m:d>
                      <m:dPr>
                        <m:ctrlPr>
                          <a:rPr lang="en-AU" altLang="zh-CN" i="1" dirty="0" smtClean="0">
                            <a:latin typeface="Cambria Math" panose="02040503050406030204" pitchFamily="18" charset="0"/>
                          </a:rPr>
                        </m:ctrlPr>
                      </m:dPr>
                      <m:e>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m:t>
                        </m:r>
                        <m:d>
                          <m:dPr>
                            <m:begChr m:val="{"/>
                            <m:endChr m:val="}"/>
                            <m:ctrlPr>
                              <a:rPr lang="el-GR" altLang="zh-CN" i="1" dirty="0" smtClean="0">
                                <a:latin typeface="Cambria Math" panose="02040503050406030204" pitchFamily="18" charset="0"/>
                              </a:rPr>
                            </m:ctrlPr>
                          </m:dPr>
                          <m:e>
                            <m:r>
                              <a:rPr lang="el-GR" altLang="zh-CN" i="1" dirty="0" smtClean="0">
                                <a:latin typeface="Cambria Math" panose="02040503050406030204" pitchFamily="18" charset="0"/>
                              </a:rPr>
                              <m:t>𝜀</m:t>
                            </m:r>
                          </m:e>
                        </m:d>
                      </m:e>
                    </m:d>
                    <m:r>
                      <a:rPr lang="el-GR" altLang="zh-CN" i="1" dirty="0" smtClean="0">
                        <a:latin typeface="Cambria Math" panose="02040503050406030204" pitchFamily="18" charset="0"/>
                      </a:rPr>
                      <m:t>×</m:t>
                    </m:r>
                    <m:r>
                      <m:rPr>
                        <m:sty m:val="p"/>
                      </m:rPr>
                      <a:rPr lang="el-GR" altLang="zh-CN" i="0" dirty="0" smtClean="0">
                        <a:latin typeface="Cambria Math" panose="02040503050406030204" pitchFamily="18" charset="0"/>
                      </a:rPr>
                      <m:t>Γ</m:t>
                    </m:r>
                    <m:r>
                      <a:rPr lang="el-GR" altLang="zh-CN" i="1" dirty="0" smtClean="0">
                        <a:latin typeface="Cambria Math" panose="02040503050406030204" pitchFamily="18" charset="0"/>
                      </a:rPr>
                      <m:t>→ </m:t>
                    </m:r>
                    <m:sSup>
                      <m:sSupPr>
                        <m:ctrlPr>
                          <a:rPr lang="el-GR" altLang="zh-CN" i="1" dirty="0" smtClean="0">
                            <a:latin typeface="Cambria Math" panose="02040503050406030204" pitchFamily="18" charset="0"/>
                          </a:rPr>
                        </m:ctrlPr>
                      </m:sSupPr>
                      <m:e>
                        <m:r>
                          <a:rPr lang="en-AU" altLang="zh-CN" b="0" i="1" dirty="0" smtClean="0">
                            <a:latin typeface="Cambria Math" panose="02040503050406030204" pitchFamily="18" charset="0"/>
                          </a:rPr>
                          <m:t>2</m:t>
                        </m:r>
                      </m:e>
                      <m:sup>
                        <m:r>
                          <a:rPr lang="en-AU" altLang="zh-CN" b="0" i="1" dirty="0" smtClean="0">
                            <a:latin typeface="Cambria Math" panose="02040503050406030204" pitchFamily="18" charset="0"/>
                          </a:rPr>
                          <m:t>𝑄</m:t>
                        </m:r>
                        <m:r>
                          <a:rPr lang="en-AU" altLang="zh-CN" b="0" i="1" dirty="0" smtClean="0">
                            <a:latin typeface="Cambria Math" panose="02040503050406030204" pitchFamily="18" charset="0"/>
                            <a:ea typeface="Cambria Math" panose="02040503050406030204" pitchFamily="18" charset="0"/>
                          </a:rPr>
                          <m:t>×</m:t>
                        </m:r>
                        <m:sSup>
                          <m:sSupPr>
                            <m:ctrlPr>
                              <a:rPr lang="en-AU" altLang="zh-CN" b="0" i="1" dirty="0" smtClean="0">
                                <a:latin typeface="Cambria Math" panose="02040503050406030204" pitchFamily="18" charset="0"/>
                                <a:ea typeface="Cambria Math" panose="02040503050406030204" pitchFamily="18" charset="0"/>
                              </a:rPr>
                            </m:ctrlPr>
                          </m:sSupPr>
                          <m:e>
                            <m:r>
                              <m:rPr>
                                <m:sty m:val="p"/>
                              </m:rPr>
                              <a:rPr lang="el-GR" altLang="zh-CN" b="0" i="1" dirty="0" smtClean="0">
                                <a:latin typeface="Cambria Math" panose="02040503050406030204" pitchFamily="18" charset="0"/>
                                <a:ea typeface="Cambria Math" panose="02040503050406030204" pitchFamily="18" charset="0"/>
                              </a:rPr>
                              <m:t>Γ</m:t>
                            </m:r>
                          </m:e>
                          <m:sup>
                            <m:r>
                              <a:rPr lang="en-AU" altLang="zh-CN" b="0" i="1" dirty="0" smtClean="0">
                                <a:latin typeface="Cambria Math" panose="02040503050406030204" pitchFamily="18" charset="0"/>
                                <a:ea typeface="Cambria Math" panose="02040503050406030204" pitchFamily="18" charset="0"/>
                              </a:rPr>
                              <m:t>∗</m:t>
                            </m:r>
                          </m:sup>
                        </m:sSup>
                      </m:sup>
                    </m:sSup>
                  </m:oMath>
                </a14:m>
                <a:r>
                  <a:rPr lang="en-AU" altLang="zh-CN" dirty="0"/>
                  <a:t>:</a:t>
                </a:r>
                <a:r>
                  <a:rPr lang="zh-CN" altLang="en-US" dirty="0"/>
                  <a:t>状态转移函数</a:t>
                </a:r>
                <a:r>
                  <a:rPr lang="en-AU" altLang="zh-CN" dirty="0"/>
                  <a:t>;</a:t>
                </a:r>
              </a:p>
            </p:txBody>
          </p:sp>
        </mc:Choice>
        <mc:Fallback xmlns="">
          <p:sp>
            <p:nvSpPr>
              <p:cNvPr id="10" name="文本框 9"/>
              <p:cNvSpPr txBox="1">
                <a:spLocks noRot="1" noChangeAspect="1" noMove="1" noResize="1" noEditPoints="1" noAdjustHandles="1" noChangeArrowheads="1" noChangeShapeType="1" noTextEdit="1"/>
              </p:cNvSpPr>
              <p:nvPr/>
            </p:nvSpPr>
            <p:spPr>
              <a:xfrm>
                <a:off x="1766944" y="5017793"/>
                <a:ext cx="4674196" cy="388568"/>
              </a:xfrm>
              <a:prstGeom prst="rect">
                <a:avLst/>
              </a:prstGeom>
              <a:blipFill rotWithShape="1">
                <a:blip r:embed="rId5"/>
                <a:stretch>
                  <a:fillRect l="-8" t="-6" r="7" b="156"/>
                </a:stretch>
              </a:blipFill>
            </p:spPr>
            <p:txBody>
              <a:bodyPr/>
              <a:lstStyle/>
              <a:p>
                <a:r>
                  <a:rPr lang="zh-CN" altLang="en-US">
                    <a:noFill/>
                  </a:rPr>
                  <a:t> </a:t>
                </a:r>
              </a:p>
            </p:txBody>
          </p:sp>
        </mc:Fallback>
      </mc:AlternateContent>
      <p:sp>
        <p:nvSpPr>
          <p:cNvPr id="12" name="文本框 11"/>
          <p:cNvSpPr txBox="1"/>
          <p:nvPr/>
        </p:nvSpPr>
        <p:spPr>
          <a:xfrm>
            <a:off x="158675" y="973200"/>
            <a:ext cx="4413325" cy="646331"/>
          </a:xfrm>
          <a:prstGeom prst="rect">
            <a:avLst/>
          </a:prstGeom>
          <a:noFill/>
        </p:spPr>
        <p:txBody>
          <a:bodyPr wrap="square">
            <a:spAutoFit/>
          </a:bodyPr>
          <a:lstStyle/>
          <a:p>
            <a:r>
              <a:rPr lang="zh-CN" altLang="en-US" sz="3600" dirty="0">
                <a:latin typeface="黑体" panose="02010609060101010101" pitchFamily="49" charset="-122"/>
                <a:ea typeface="黑体" panose="02010609060101010101" pitchFamily="49" charset="-122"/>
              </a:rPr>
              <a:t>下推自动机基本概念</a:t>
            </a:r>
          </a:p>
        </p:txBody>
      </p:sp>
      <mc:AlternateContent xmlns:mc="http://schemas.openxmlformats.org/markup-compatibility/2006" xmlns:a14="http://schemas.microsoft.com/office/drawing/2010/main">
        <mc:Choice Requires="a14">
          <p:sp>
            <p:nvSpPr>
              <p:cNvPr id="9" name="文本框 8"/>
              <p:cNvSpPr txBox="1"/>
              <p:nvPr/>
            </p:nvSpPr>
            <p:spPr>
              <a:xfrm>
                <a:off x="1649955" y="5599892"/>
                <a:ext cx="5080297" cy="369332"/>
              </a:xfrm>
              <a:prstGeom prst="rect">
                <a:avLst/>
              </a:prstGeom>
              <a:noFill/>
            </p:spPr>
            <p:txBody>
              <a:bodyPr wrap="square">
                <a:spAutoFit/>
              </a:bodyPr>
              <a:lstStyle/>
              <a:p>
                <a:r>
                  <a:rPr lang="zh-CN" altLang="en-US" sz="1800" dirty="0"/>
                  <a:t>瞬时描述（</a:t>
                </a:r>
                <a:r>
                  <a:rPr lang="en-US" altLang="zh-CN" sz="1800" dirty="0"/>
                  <a:t>ID</a:t>
                </a:r>
                <a:r>
                  <a:rPr lang="zh-CN" altLang="en-US" sz="1800" dirty="0"/>
                  <a:t>）转移：</a:t>
                </a:r>
                <a14:m>
                  <m:oMath xmlns:m="http://schemas.openxmlformats.org/officeDocument/2006/math">
                    <m:d>
                      <m:dPr>
                        <m:ctrlPr>
                          <a:rPr lang="en-US" altLang="zh-CN" sz="1800" i="1" dirty="0" smtClean="0">
                            <a:latin typeface="Cambria Math" panose="02040503050406030204" pitchFamily="18" charset="0"/>
                          </a:rPr>
                        </m:ctrlPr>
                      </m:dPr>
                      <m:e>
                        <m:r>
                          <a:rPr lang="en-AU" altLang="zh-CN" sz="1800" i="1" dirty="0" smtClean="0">
                            <a:latin typeface="Cambria Math" panose="02040503050406030204" pitchFamily="18" charset="0"/>
                          </a:rPr>
                          <m:t>𝑞</m:t>
                        </m:r>
                        <m:r>
                          <a:rPr lang="en-AU" altLang="zh-CN" sz="1800" i="1" dirty="0" smtClean="0">
                            <a:latin typeface="Cambria Math" panose="02040503050406030204" pitchFamily="18" charset="0"/>
                          </a:rPr>
                          <m:t>, </m:t>
                        </m:r>
                        <m:r>
                          <a:rPr lang="en-AU" altLang="zh-CN" sz="1800" i="1" dirty="0" smtClean="0">
                            <a:latin typeface="Cambria Math" panose="02040503050406030204" pitchFamily="18" charset="0"/>
                          </a:rPr>
                          <m:t>𝑎𝑤</m:t>
                        </m:r>
                        <m:r>
                          <a:rPr lang="en-AU" altLang="zh-CN" sz="1800" i="1" dirty="0" smtClean="0">
                            <a:latin typeface="Cambria Math" panose="02040503050406030204" pitchFamily="18" charset="0"/>
                          </a:rPr>
                          <m:t>, </m:t>
                        </m:r>
                        <m:r>
                          <a:rPr lang="en-AU" altLang="zh-CN" sz="1800" i="1" dirty="0" smtClean="0">
                            <a:latin typeface="Cambria Math" panose="02040503050406030204" pitchFamily="18" charset="0"/>
                          </a:rPr>
                          <m:t>𝑍</m:t>
                        </m:r>
                        <m:r>
                          <a:rPr lang="el-GR" altLang="zh-CN" sz="1800" i="1" dirty="0" smtClean="0">
                            <a:latin typeface="Cambria Math" panose="02040503050406030204" pitchFamily="18" charset="0"/>
                          </a:rPr>
                          <m:t>𝛼</m:t>
                        </m:r>
                      </m:e>
                    </m:d>
                    <m:r>
                      <a:rPr lang="zh-CN" altLang="en-US" sz="1800" i="1" smtClean="0">
                        <a:latin typeface="Cambria Math" panose="02040503050406030204" pitchFamily="18" charset="0"/>
                      </a:rPr>
                      <m:t>⊢</m:t>
                    </m:r>
                    <m:d>
                      <m:dPr>
                        <m:ctrlPr>
                          <a:rPr lang="en-AU" altLang="zh-CN" sz="1800" i="1" dirty="0" smtClean="0">
                            <a:latin typeface="Cambria Math" panose="02040503050406030204" pitchFamily="18" charset="0"/>
                          </a:rPr>
                        </m:ctrlPr>
                      </m:dPr>
                      <m:e>
                        <m:r>
                          <a:rPr lang="en-AU" altLang="zh-CN" sz="1800" i="1" dirty="0" smtClean="0">
                            <a:latin typeface="Cambria Math" panose="02040503050406030204" pitchFamily="18" charset="0"/>
                          </a:rPr>
                          <m:t>𝑝</m:t>
                        </m:r>
                        <m:r>
                          <a:rPr lang="en-AU" altLang="zh-CN" sz="1800" i="1" dirty="0" smtClean="0">
                            <a:latin typeface="Cambria Math" panose="02040503050406030204" pitchFamily="18" charset="0"/>
                          </a:rPr>
                          <m:t>, </m:t>
                        </m:r>
                        <m:r>
                          <a:rPr lang="en-AU" altLang="zh-CN" sz="1800" i="1" dirty="0" smtClean="0">
                            <a:latin typeface="Cambria Math" panose="02040503050406030204" pitchFamily="18" charset="0"/>
                          </a:rPr>
                          <m:t>𝑤</m:t>
                        </m:r>
                        <m:r>
                          <a:rPr lang="en-AU" altLang="zh-CN" sz="1800" i="1" dirty="0" smtClean="0">
                            <a:latin typeface="Cambria Math" panose="02040503050406030204" pitchFamily="18" charset="0"/>
                          </a:rPr>
                          <m:t>, </m:t>
                        </m:r>
                        <m:r>
                          <a:rPr lang="el-GR" altLang="zh-CN" sz="1800" i="1" dirty="0" smtClean="0">
                            <a:latin typeface="Cambria Math" panose="02040503050406030204" pitchFamily="18" charset="0"/>
                          </a:rPr>
                          <m:t>𝛽𝛼</m:t>
                        </m:r>
                      </m:e>
                    </m:d>
                  </m:oMath>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1649955" y="5599892"/>
                <a:ext cx="5080297" cy="369332"/>
              </a:xfrm>
              <a:prstGeom prst="rect">
                <a:avLst/>
              </a:prstGeom>
              <a:blipFill rotWithShape="1">
                <a:blip r:embed="rId6"/>
                <a:stretch>
                  <a:fillRect l="-4" t="-125" r="10" b="6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课程回顾</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61</a:t>
            </a:fld>
            <a:endParaRPr lang="en-AU"/>
          </a:p>
        </p:txBody>
      </p:sp>
      <p:sp>
        <p:nvSpPr>
          <p:cNvPr id="12" name="文本框 11"/>
          <p:cNvSpPr txBox="1"/>
          <p:nvPr/>
        </p:nvSpPr>
        <p:spPr>
          <a:xfrm>
            <a:off x="158675" y="973200"/>
            <a:ext cx="5021132" cy="646331"/>
          </a:xfrm>
          <a:prstGeom prst="rect">
            <a:avLst/>
          </a:prstGeom>
          <a:noFill/>
        </p:spPr>
        <p:txBody>
          <a:bodyPr wrap="square">
            <a:spAutoFit/>
          </a:bodyPr>
          <a:lstStyle/>
          <a:p>
            <a:r>
              <a:rPr lang="zh-CN" altLang="en-US" sz="3600" dirty="0">
                <a:latin typeface="黑体" panose="02010609060101010101" pitchFamily="49" charset="-122"/>
                <a:ea typeface="黑体" panose="02010609060101010101" pitchFamily="49" charset="-122"/>
              </a:rPr>
              <a:t>下推自动机接受的语言</a:t>
            </a:r>
          </a:p>
        </p:txBody>
      </p:sp>
      <p:pic>
        <p:nvPicPr>
          <p:cNvPr id="8" name="Picture 4" descr="Diagram&#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82642" y="1872963"/>
            <a:ext cx="4728080" cy="2024756"/>
          </a:xfrm>
          <a:prstGeom prst="rect">
            <a:avLst/>
          </a:prstGeom>
        </p:spPr>
      </p:pic>
      <p:pic>
        <p:nvPicPr>
          <p:cNvPr id="9" name="Picture 6" descr="Diagram&#10;&#10;Description automatically generated with low confidence"/>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54141" y="4153164"/>
            <a:ext cx="3445329" cy="1945110"/>
          </a:xfrm>
          <a:prstGeom prst="rect">
            <a:avLst/>
          </a:prstGeom>
        </p:spPr>
      </p:pic>
      <p:sp>
        <p:nvSpPr>
          <p:cNvPr id="11" name="文本框 10"/>
          <p:cNvSpPr txBox="1"/>
          <p:nvPr/>
        </p:nvSpPr>
        <p:spPr>
          <a:xfrm>
            <a:off x="332143" y="2294848"/>
            <a:ext cx="2540149" cy="461665"/>
          </a:xfrm>
          <a:prstGeom prst="rect">
            <a:avLst/>
          </a:prstGeom>
          <a:noFill/>
        </p:spPr>
        <p:txBody>
          <a:bodyPr wrap="square">
            <a:spAutoFit/>
          </a:bodyPr>
          <a:lstStyle/>
          <a:p>
            <a:r>
              <a:rPr lang="zh-CN" altLang="en-US" sz="2400" b="1" dirty="0"/>
              <a:t>以终态方式接受</a:t>
            </a:r>
            <a:r>
              <a:rPr lang="en-AU" altLang="zh-CN" sz="2400" b="1" dirty="0"/>
              <a:t>:</a:t>
            </a:r>
          </a:p>
        </p:txBody>
      </p:sp>
      <p:sp>
        <p:nvSpPr>
          <p:cNvPr id="13" name="文本框 12"/>
          <p:cNvSpPr txBox="1"/>
          <p:nvPr/>
        </p:nvSpPr>
        <p:spPr>
          <a:xfrm>
            <a:off x="332142" y="4566505"/>
            <a:ext cx="2540149" cy="461665"/>
          </a:xfrm>
          <a:prstGeom prst="rect">
            <a:avLst/>
          </a:prstGeom>
          <a:noFill/>
        </p:spPr>
        <p:txBody>
          <a:bodyPr wrap="square">
            <a:spAutoFit/>
          </a:bodyPr>
          <a:lstStyle/>
          <a:p>
            <a:r>
              <a:rPr lang="zh-CN" altLang="en-US" sz="2400" b="1" dirty="0"/>
              <a:t>以空栈方式接受</a:t>
            </a:r>
            <a:r>
              <a:rPr lang="en-AU" altLang="zh-CN" sz="2400" b="1" dirty="0"/>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685800" y="1333500"/>
            <a:ext cx="8229600" cy="4525963"/>
          </a:xfrm>
        </p:spPr>
        <p:txBody>
          <a:bodyPr/>
          <a:lstStyle/>
          <a:p>
            <a:r>
              <a:rPr lang="zh-CN" altLang="en-US" dirty="0">
                <a:solidFill>
                  <a:srgbClr val="E6E6E6"/>
                </a:solidFill>
              </a:rPr>
              <a:t>下推自动机 </a:t>
            </a:r>
            <a:r>
              <a:rPr lang="en-AU" altLang="zh-CN" dirty="0">
                <a:solidFill>
                  <a:srgbClr val="E6E6E6"/>
                </a:solidFill>
              </a:rPr>
              <a:t>(</a:t>
            </a:r>
            <a:r>
              <a:rPr lang="en-AU" altLang="zh-CN" dirty="0">
                <a:solidFill>
                  <a:srgbClr val="E6E6E6"/>
                </a:solidFill>
                <a:latin typeface="Times New Roman" panose="02020603050405020304" pitchFamily="18" charset="0"/>
                <a:cs typeface="Times New Roman" panose="02020603050405020304" pitchFamily="18" charset="0"/>
              </a:rPr>
              <a:t>pushdown automata</a:t>
            </a:r>
            <a:r>
              <a:rPr lang="en-AU" altLang="zh-CN" dirty="0">
                <a:solidFill>
                  <a:srgbClr val="E6E6E6"/>
                </a:solidFill>
              </a:rPr>
              <a:t>)</a:t>
            </a:r>
          </a:p>
          <a:p>
            <a:r>
              <a:rPr lang="zh-CN" altLang="en-US" dirty="0">
                <a:solidFill>
                  <a:srgbClr val="E6E6E6"/>
                </a:solidFill>
              </a:rPr>
              <a:t>下推自动机接受的语言</a:t>
            </a:r>
            <a:endParaRPr lang="en-AU" altLang="zh-CN" dirty="0">
              <a:solidFill>
                <a:srgbClr val="E6E6E6"/>
              </a:solidFill>
            </a:endParaRPr>
          </a:p>
          <a:p>
            <a:r>
              <a:rPr lang="zh-CN" altLang="en-US" dirty="0"/>
              <a:t>下推自动机与文法的等价性</a:t>
            </a:r>
            <a:endParaRPr lang="en-AU" altLang="zh-CN" dirty="0"/>
          </a:p>
          <a:p>
            <a:pPr lvl="1"/>
            <a:r>
              <a:rPr lang="zh-CN" altLang="en-US" dirty="0"/>
              <a:t>由</a:t>
            </a:r>
            <a:r>
              <a:rPr lang="en-AU" altLang="zh-CN" dirty="0">
                <a:latin typeface="Times New Roman" panose="02020603050405020304" pitchFamily="18" charset="0"/>
                <a:cs typeface="Times New Roman" panose="02020603050405020304" pitchFamily="18" charset="0"/>
              </a:rPr>
              <a:t>CFG</a:t>
            </a:r>
            <a:r>
              <a:rPr lang="zh-CN" altLang="en-US" dirty="0"/>
              <a:t>到</a:t>
            </a:r>
            <a:r>
              <a:rPr lang="en-US" altLang="zh-CN" dirty="0">
                <a:latin typeface="Times New Roman" panose="02020603050405020304" pitchFamily="18" charset="0"/>
                <a:cs typeface="Times New Roman" panose="02020603050405020304" pitchFamily="18" charset="0"/>
              </a:rPr>
              <a:t>PDA</a:t>
            </a:r>
          </a:p>
          <a:p>
            <a:pPr lvl="1"/>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altLang="zh-CN" dirty="0">
              <a:latin typeface="Times New Roman" panose="02020603050405020304" pitchFamily="18" charset="0"/>
              <a:cs typeface="Times New Roman" panose="02020603050405020304" pitchFamily="18" charset="0"/>
            </a:endParaRPr>
          </a:p>
          <a:p>
            <a:r>
              <a:rPr lang="zh-CN" altLang="en-US" dirty="0">
                <a:solidFill>
                  <a:srgbClr val="E6E6E6"/>
                </a:solidFill>
              </a:rPr>
              <a:t>确定型下推自动机</a:t>
            </a:r>
            <a:endParaRPr lang="en-AU" dirty="0">
              <a:solidFill>
                <a:srgbClr val="E6E6E6"/>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t>62</a:t>
            </a:fld>
            <a:endParaRPr lang="en-AU"/>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63</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253999" y="635000"/>
                <a:ext cx="8373633"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课前小菜：请设计</a:t>
                </a:r>
                <a:r>
                  <a:rPr lang="zh-CN" altLang="en-US" sz="2600" dirty="0"/>
                  <a:t>接受</a:t>
                </a:r>
                <a14:m>
                  <m:oMath xmlns:m="http://schemas.openxmlformats.org/officeDocument/2006/math">
                    <m:r>
                      <a:rPr lang="en-AU" altLang="zh-CN" sz="2600" i="1" dirty="0" smtClean="0">
                        <a:latin typeface="Cambria Math" panose="02040503050406030204" pitchFamily="18" charset="0"/>
                      </a:rPr>
                      <m:t>𝐿</m:t>
                    </m:r>
                    <m:r>
                      <a:rPr lang="en-AU" altLang="zh-CN" sz="2600" i="1" dirty="0" smtClean="0">
                        <a:latin typeface="Cambria Math" panose="02040503050406030204" pitchFamily="18" charset="0"/>
                      </a:rPr>
                      <m:t> = {</m:t>
                    </m:r>
                    <m:sSup>
                      <m:sSupPr>
                        <m:ctrlPr>
                          <a:rPr lang="en-AU" altLang="zh-CN" sz="2600" i="1" dirty="0" smtClean="0">
                            <a:latin typeface="Cambria Math" panose="02040503050406030204" pitchFamily="18" charset="0"/>
                          </a:rPr>
                        </m:ctrlPr>
                      </m:sSupPr>
                      <m:e>
                        <m:r>
                          <a:rPr lang="en-AU" altLang="zh-CN" sz="2600" b="0" i="1" dirty="0" smtClean="0">
                            <a:latin typeface="Cambria Math" panose="02040503050406030204" pitchFamily="18" charset="0"/>
                          </a:rPr>
                          <m:t>0</m:t>
                        </m:r>
                      </m:e>
                      <m:sup>
                        <m:r>
                          <a:rPr lang="en-AU" altLang="zh-CN" sz="2600" b="0" i="1" dirty="0" smtClean="0">
                            <a:latin typeface="Cambria Math" panose="02040503050406030204" pitchFamily="18" charset="0"/>
                          </a:rPr>
                          <m:t>𝑛</m:t>
                        </m:r>
                      </m:sup>
                    </m:sSup>
                    <m:sSup>
                      <m:sSupPr>
                        <m:ctrlPr>
                          <a:rPr lang="en-AU" altLang="zh-CN" sz="2600" i="1" dirty="0" smtClean="0">
                            <a:latin typeface="Cambria Math" panose="02040503050406030204" pitchFamily="18" charset="0"/>
                          </a:rPr>
                        </m:ctrlPr>
                      </m:sSupPr>
                      <m:e>
                        <m:r>
                          <a:rPr lang="en-AU" altLang="zh-CN" sz="2600" b="0" i="1" dirty="0" smtClean="0">
                            <a:latin typeface="Cambria Math" panose="02040503050406030204" pitchFamily="18" charset="0"/>
                          </a:rPr>
                          <m:t>1</m:t>
                        </m:r>
                      </m:e>
                      <m:sup>
                        <m:r>
                          <a:rPr lang="en-AU" altLang="zh-CN" sz="2600" b="0" i="1" dirty="0" smtClean="0">
                            <a:latin typeface="Cambria Math" panose="02040503050406030204" pitchFamily="18" charset="0"/>
                          </a:rPr>
                          <m:t>𝑚</m:t>
                        </m:r>
                      </m:sup>
                    </m:sSup>
                    <m:r>
                      <a:rPr lang="en-AU" altLang="zh-CN" sz="2600" i="1" dirty="0" smtClean="0">
                        <a:latin typeface="Cambria Math" panose="02040503050406030204" pitchFamily="18" charset="0"/>
                      </a:rPr>
                      <m:t>| 0 ≤ </m:t>
                    </m:r>
                    <m:r>
                      <a:rPr lang="en-AU" altLang="zh-CN" sz="2600" i="1" dirty="0" smtClean="0">
                        <a:latin typeface="Cambria Math" panose="02040503050406030204" pitchFamily="18" charset="0"/>
                      </a:rPr>
                      <m:t>𝑛</m:t>
                    </m:r>
                    <m:r>
                      <a:rPr lang="en-AU" altLang="zh-CN" sz="2600" i="1" dirty="0" smtClean="0">
                        <a:latin typeface="Cambria Math" panose="02040503050406030204" pitchFamily="18" charset="0"/>
                      </a:rPr>
                      <m:t> ≤ </m:t>
                    </m:r>
                    <m:r>
                      <a:rPr lang="en-AU" altLang="zh-CN" sz="2600" i="1" dirty="0" smtClean="0">
                        <a:latin typeface="Cambria Math" panose="02040503050406030204" pitchFamily="18" charset="0"/>
                      </a:rPr>
                      <m:t>𝑚</m:t>
                    </m:r>
                    <m:r>
                      <a:rPr lang="en-AU" altLang="zh-CN" sz="2600" i="1" dirty="0" smtClean="0">
                        <a:latin typeface="Cambria Math" panose="02040503050406030204" pitchFamily="18" charset="0"/>
                      </a:rPr>
                      <m:t> ≤ 3</m:t>
                    </m:r>
                    <m:r>
                      <a:rPr lang="en-AU" altLang="zh-CN" sz="2600" i="1" dirty="0" smtClean="0">
                        <a:latin typeface="Cambria Math" panose="02040503050406030204" pitchFamily="18" charset="0"/>
                      </a:rPr>
                      <m:t>𝑛</m:t>
                    </m:r>
                    <m:r>
                      <a:rPr lang="en-AU" altLang="zh-CN" sz="2600" i="1" dirty="0" smtClean="0">
                        <a:latin typeface="Cambria Math" panose="02040503050406030204" pitchFamily="18" charset="0"/>
                      </a:rPr>
                      <m:t>} </m:t>
                    </m:r>
                  </m:oMath>
                </a14:m>
                <a:r>
                  <a:rPr lang="zh-CN" altLang="en-US" sz="2600" dirty="0"/>
                  <a:t>的 </a:t>
                </a:r>
                <a:r>
                  <a:rPr lang="en-AU" altLang="zh-CN" sz="2600" dirty="0">
                    <a:latin typeface="Times New Roman" panose="02020603050405020304" pitchFamily="18" charset="0"/>
                    <a:cs typeface="Times New Roman" panose="02020603050405020304" pitchFamily="18" charset="0"/>
                  </a:rPr>
                  <a:t>PDA</a:t>
                </a:r>
                <a:r>
                  <a:rPr lang="zh-CN" altLang="en-US" sz="2600" dirty="0">
                    <a:latin typeface="Times New Roman" panose="02020603050405020304" pitchFamily="18" charset="0"/>
                    <a:cs typeface="Times New Roman" panose="02020603050405020304" pitchFamily="18" charset="0"/>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11"/>
                </p:custDataLst>
              </p:nvPr>
            </p:nvSpPr>
            <p:spPr>
              <a:xfrm>
                <a:off x="253999" y="635000"/>
                <a:ext cx="8373633" cy="2143125"/>
              </a:xfrm>
              <a:prstGeom prst="rect">
                <a:avLst/>
              </a:prstGeom>
              <a:blipFill rotWithShape="1">
                <a:blip r:embed="rId12"/>
                <a:stretch>
                  <a:fillRect l="-8" r="6"/>
                </a:stretch>
              </a:blipFill>
            </p:spPr>
            <p:txBody>
              <a:bodyPr/>
              <a:lstStyle/>
              <a:p>
                <a:r>
                  <a:rPr lang="zh-CN" altLang="en-US">
                    <a:noFill/>
                  </a:rPr>
                  <a:t> </a:t>
                </a:r>
              </a:p>
            </p:txBody>
          </p:sp>
        </mc:Fallback>
      </mc:AlternateContent>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pic>
        <p:nvPicPr>
          <p:cNvPr id="15" name="Picture 5" descr="Diagram&#10;&#10;Description automatically generated"/>
          <p:cNvPicPr>
            <a:picLocks noChangeAspect="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72585" y="2267926"/>
            <a:ext cx="4742154" cy="2161431"/>
          </a:xfrm>
          <a:prstGeom prst="rect">
            <a:avLst/>
          </a:prstGeom>
        </p:spPr>
      </p:pic>
      <mc:AlternateContent xmlns:mc="http://schemas.openxmlformats.org/markup-compatibility/2006" xmlns:a14="http://schemas.microsoft.com/office/drawing/2010/main">
        <mc:Choice Requires="a14">
          <p:sp>
            <p:nvSpPr>
              <p:cNvPr id="17" name="文本框 16"/>
              <p:cNvSpPr txBox="1"/>
              <p:nvPr/>
            </p:nvSpPr>
            <p:spPr>
              <a:xfrm>
                <a:off x="1603978" y="4639134"/>
                <a:ext cx="5673674" cy="369332"/>
              </a:xfrm>
              <a:prstGeom prst="rect">
                <a:avLst/>
              </a:prstGeom>
              <a:noFill/>
            </p:spPr>
            <p:txBody>
              <a:bodyPr wrap="square">
                <a:spAutoFit/>
              </a:bodyPr>
              <a:lstStyle/>
              <a:p>
                <a:r>
                  <a:rPr lang="zh-CN" altLang="en-US" dirty="0"/>
                  <a:t>提示：接受</a:t>
                </a:r>
                <a14:m>
                  <m:oMath xmlns:m="http://schemas.openxmlformats.org/officeDocument/2006/math">
                    <m:r>
                      <a:rPr lang="en-AU" altLang="zh-CN" i="1" dirty="0" smtClean="0">
                        <a:latin typeface="Cambria Math" panose="02040503050406030204" pitchFamily="18" charset="0"/>
                      </a:rPr>
                      <m:t>𝐿</m:t>
                    </m:r>
                    <m:r>
                      <a:rPr lang="en-AU" altLang="zh-CN" i="1" dirty="0" smtClean="0">
                        <a:latin typeface="Cambria Math" panose="02040503050406030204" pitchFamily="18" charset="0"/>
                      </a:rPr>
                      <m:t> = {</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𝑚</m:t>
                        </m:r>
                      </m:sup>
                    </m:sSup>
                    <m:r>
                      <a:rPr lang="en-AU" altLang="zh-CN" i="1" dirty="0" smtClean="0">
                        <a:latin typeface="Cambria Math" panose="02040503050406030204" pitchFamily="18" charset="0"/>
                      </a:rPr>
                      <m:t>| 0 ≤ </m:t>
                    </m:r>
                    <m:r>
                      <a:rPr lang="en-AU" altLang="zh-CN" i="1" dirty="0" smtClean="0">
                        <a:latin typeface="Cambria Math" panose="02040503050406030204" pitchFamily="18" charset="0"/>
                      </a:rPr>
                      <m:t>𝑛</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𝑚</m:t>
                    </m:r>
                    <m:r>
                      <a:rPr lang="en-AU" altLang="zh-CN" i="1" dirty="0" smtClean="0">
                        <a:latin typeface="Cambria Math" panose="02040503050406030204" pitchFamily="18" charset="0"/>
                      </a:rPr>
                      <m:t> ≤ 2</m:t>
                    </m:r>
                    <m:r>
                      <a:rPr lang="en-AU" altLang="zh-CN" i="1" dirty="0" smtClean="0">
                        <a:latin typeface="Cambria Math" panose="02040503050406030204" pitchFamily="18" charset="0"/>
                      </a:rPr>
                      <m:t>𝑛</m:t>
                    </m:r>
                    <m:r>
                      <a:rPr lang="en-AU" altLang="zh-CN" i="1" dirty="0" smtClean="0">
                        <a:latin typeface="Cambria Math" panose="02040503050406030204" pitchFamily="18" charset="0"/>
                      </a:rPr>
                      <m:t>} </m:t>
                    </m:r>
                  </m:oMath>
                </a14:m>
                <a:r>
                  <a:rPr lang="zh-CN" altLang="en-US" dirty="0"/>
                  <a:t>的 </a:t>
                </a:r>
                <a:r>
                  <a:rPr lang="en-AU" altLang="zh-CN" dirty="0">
                    <a:latin typeface="Times New Roman" panose="02020603050405020304" pitchFamily="18" charset="0"/>
                    <a:cs typeface="Times New Roman" panose="02020603050405020304" pitchFamily="18" charset="0"/>
                  </a:rPr>
                  <a:t>PDA</a:t>
                </a:r>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1603978" y="4639134"/>
                <a:ext cx="5673674" cy="369332"/>
              </a:xfrm>
              <a:prstGeom prst="rect">
                <a:avLst/>
              </a:prstGeom>
              <a:blipFill rotWithShape="1">
                <a:blip r:embed="rId14"/>
                <a:stretch>
                  <a:fillRect l="-11" t="-124" r="10" b="60"/>
                </a:stretch>
              </a:blipFill>
            </p:spPr>
            <p:txBody>
              <a:bodyPr/>
              <a:lstStyle/>
              <a:p>
                <a:r>
                  <a:rPr lang="zh-CN" altLang="en-US">
                    <a:noFill/>
                  </a:rPr>
                  <a:t> </a:t>
                </a:r>
              </a:p>
            </p:txBody>
          </p:sp>
        </mc:Fallback>
      </mc:AlternateContent>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CFG</a:t>
            </a:r>
            <a:r>
              <a:rPr lang="zh-CN" altLang="en-US" dirty="0"/>
              <a:t>到</a:t>
            </a:r>
            <a:r>
              <a:rPr lang="en-AU" altLang="zh-CN" dirty="0">
                <a:latin typeface="Times New Roman" panose="02020603050405020304" pitchFamily="18" charset="0"/>
                <a:cs typeface="Times New Roman" panose="02020603050405020304" pitchFamily="18" charset="0"/>
              </a:rPr>
              <a:t>PDA</a:t>
            </a:r>
            <a:endParaRPr lang="en-AU"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66800"/>
            <a:ext cx="7807124" cy="4525963"/>
          </a:xfrm>
        </p:spPr>
        <p:txBody>
          <a:bodyPr/>
          <a:lstStyle/>
          <a:p>
            <a:r>
              <a:rPr lang="zh-CN" altLang="en-US" sz="2400" dirty="0"/>
              <a:t>思路</a:t>
            </a:r>
            <a:r>
              <a:rPr lang="en-AU" altLang="zh-CN" sz="2400" dirty="0"/>
              <a:t>:</a:t>
            </a:r>
            <a:r>
              <a:rPr lang="en-AU" altLang="zh-CN" sz="2400" dirty="0">
                <a:latin typeface="Times New Roman" panose="02020603050405020304" pitchFamily="18" charset="0"/>
                <a:cs typeface="Times New Roman" panose="02020603050405020304" pitchFamily="18" charset="0"/>
              </a:rPr>
              <a:t>PDA</a:t>
            </a:r>
            <a:r>
              <a:rPr lang="zh-CN" altLang="en-US" sz="2400" dirty="0"/>
              <a:t>模拟文法的最左派生，当输入的符号串消耗完时，处于按空栈接受的状态或者非接受的状态。</a:t>
            </a:r>
            <a:endParaRPr lang="en-AU" altLang="zh-CN" sz="2400" dirty="0"/>
          </a:p>
          <a:p>
            <a:r>
              <a:rPr lang="zh-CN" altLang="en-US" sz="2400" dirty="0"/>
              <a:t>步骤：</a:t>
            </a:r>
            <a:endParaRPr lang="en-AU" altLang="zh-CN" sz="2400" dirty="0"/>
          </a:p>
          <a:p>
            <a:pPr lvl="1"/>
            <a:r>
              <a:rPr lang="en-AU" sz="2400" dirty="0"/>
              <a:t>1. </a:t>
            </a:r>
            <a:r>
              <a:rPr lang="zh-CN" altLang="en-US" sz="2400" dirty="0"/>
              <a:t>把产生式的右部压栈，此时栈顶符号为该右部的第一个符号</a:t>
            </a:r>
            <a:endParaRPr lang="en-AU" altLang="zh-CN" sz="2400" dirty="0"/>
          </a:p>
          <a:p>
            <a:pPr lvl="1"/>
            <a:r>
              <a:rPr lang="en-AU" sz="2400" dirty="0"/>
              <a:t>2. </a:t>
            </a:r>
            <a:r>
              <a:rPr lang="zh-CN" altLang="en-US" sz="2400" dirty="0"/>
              <a:t>如果栈顶符号是最左变元</a:t>
            </a:r>
            <a:r>
              <a:rPr lang="en-AU" altLang="zh-CN" sz="2400" dirty="0"/>
              <a:t>(leftmost variable)</a:t>
            </a:r>
            <a:r>
              <a:rPr lang="zh-CN" altLang="en-US" sz="2400" dirty="0"/>
              <a:t> ，则把它用所有对应的产生式代替（每个代替可能各自产生一条</a:t>
            </a:r>
            <a:r>
              <a:rPr lang="en-US" altLang="zh-CN" sz="2400" dirty="0"/>
              <a:t>ID</a:t>
            </a:r>
            <a:r>
              <a:rPr lang="zh-CN" altLang="en-US" sz="2400" dirty="0"/>
              <a:t>转移路径）</a:t>
            </a:r>
            <a:endParaRPr lang="en-AU" altLang="zh-CN" sz="2400" dirty="0"/>
          </a:p>
          <a:p>
            <a:pPr lvl="1"/>
            <a:r>
              <a:rPr lang="en-AU" sz="2400" dirty="0"/>
              <a:t>3. </a:t>
            </a:r>
            <a:r>
              <a:rPr lang="zh-CN" altLang="en-US" sz="2400" dirty="0"/>
              <a:t>如果栈顶符号是终结符，且它和要输入的符号匹配，则弹出该终结符</a:t>
            </a:r>
            <a:endParaRPr lang="en-AU"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t>64</a:t>
            </a:fld>
            <a:endParaRPr lang="en-AU"/>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形式化构造</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17600"/>
                <a:ext cx="8229600" cy="4525963"/>
              </a:xfrm>
            </p:spPr>
            <p:txBody>
              <a:bodyPr>
                <a:normAutofit/>
              </a:bodyPr>
              <a:lstStyle/>
              <a:p>
                <a:r>
                  <a:rPr lang="zh-CN" altLang="en-US" sz="2400" dirty="0">
                    <a:latin typeface="Times New Roman" panose="02020603050405020304" pitchFamily="18" charset="0"/>
                    <a:cs typeface="Times New Roman" panose="02020603050405020304" pitchFamily="18" charset="0"/>
                  </a:rPr>
                  <a:t>给定</a:t>
                </a:r>
                <a:r>
                  <a:rPr lang="en-AU" altLang="zh-CN" sz="2400" dirty="0">
                    <a:latin typeface="Times New Roman" panose="02020603050405020304" pitchFamily="18" charset="0"/>
                    <a:cs typeface="Times New Roman" panose="02020603050405020304" pitchFamily="18" charset="0"/>
                  </a:rPr>
                  <a:t>CFG</a:t>
                </a:r>
                <a:r>
                  <a:rPr lang="en-AU" altLang="zh-CN" sz="2400" dirty="0"/>
                  <a:t> </a:t>
                </a:r>
                <a14:m>
                  <m:oMath xmlns:m="http://schemas.openxmlformats.org/officeDocument/2006/math">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r>
                      <a:rPr lang="en-AU" altLang="zh-CN" sz="2400" i="1" dirty="0" smtClean="0">
                        <a:solidFill>
                          <a:srgbClr val="7030A0"/>
                        </a:solidFill>
                        <a:latin typeface="Cambria Math" panose="02040503050406030204" pitchFamily="18" charset="0"/>
                      </a:rPr>
                      <m:t>𝑆</m:t>
                    </m:r>
                    <m:r>
                      <a:rPr lang="en-AU" altLang="zh-CN" sz="2400" i="1" dirty="0" smtClean="0">
                        <a:latin typeface="Cambria Math" panose="02040503050406030204" pitchFamily="18" charset="0"/>
                      </a:rPr>
                      <m:t>) </m:t>
                    </m:r>
                  </m:oMath>
                </a14:m>
                <a:r>
                  <a:rPr lang="en-AU" altLang="zh-CN" sz="2400" dirty="0"/>
                  <a:t>,</a:t>
                </a:r>
                <a:r>
                  <a:rPr lang="zh-CN" altLang="en-US" sz="2400" dirty="0"/>
                  <a:t>构造</a:t>
                </a:r>
                <a:r>
                  <a:rPr lang="en-AU" altLang="zh-CN" sz="2400" dirty="0">
                    <a:latin typeface="Times New Roman" panose="02020603050405020304" pitchFamily="18" charset="0"/>
                    <a:cs typeface="Times New Roman" panose="02020603050405020304" pitchFamily="18" charset="0"/>
                  </a:rPr>
                  <a:t>PDA</a:t>
                </a:r>
              </a:p>
              <a:p>
                <a:pPr marL="0" indent="0" algn="ctr">
                  <a:buNone/>
                </a:pPr>
                <a14:m>
                  <m:oMath xmlns:m="http://schemas.openxmlformats.org/officeDocument/2006/math">
                    <m:sSub>
                      <m:sSubPr>
                        <m:ctrlPr>
                          <a:rPr lang="en-AU" altLang="zh-CN" sz="2400" b="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𝑁</m:t>
                        </m:r>
                      </m:sub>
                    </m:sSub>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solidFill>
                          <a:srgbClr val="7030A0"/>
                        </a:solidFill>
                        <a:latin typeface="Cambria Math" panose="02040503050406030204" pitchFamily="18" charset="0"/>
                      </a:rPr>
                      <m:t>𝑆</m:t>
                    </m:r>
                    <m:r>
                      <a:rPr lang="en-AU" altLang="zh-CN" sz="2400" i="1" dirty="0" smtClean="0">
                        <a:latin typeface="Cambria Math" panose="02040503050406030204" pitchFamily="18" charset="0"/>
                      </a:rPr>
                      <m:t>, ∅)</m:t>
                    </m:r>
                  </m:oMath>
                </a14:m>
                <a:r>
                  <a:rPr lang="en-AU" sz="2400" dirty="0"/>
                  <a:t>,</a:t>
                </a:r>
              </a:p>
              <a:p>
                <a:r>
                  <a:rPr lang="zh-CN" altLang="en-US" sz="2400" dirty="0"/>
                  <a:t>其中</a:t>
                </a:r>
                <a14:m>
                  <m:oMath xmlns:m="http://schemas.openxmlformats.org/officeDocument/2006/math">
                    <m:r>
                      <a:rPr lang="el-GR" altLang="zh-CN" sz="2400" i="1" dirty="0" smtClean="0">
                        <a:latin typeface="Cambria Math" panose="02040503050406030204" pitchFamily="18" charset="0"/>
                      </a:rPr>
                      <m:t>𝛿</m:t>
                    </m:r>
                  </m:oMath>
                </a14:m>
                <a:r>
                  <a:rPr kumimoji="0"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dirty="0">
                    <a:cs typeface="Times New Roman" panose="02020603050405020304" pitchFamily="18" charset="0"/>
                  </a:rPr>
                  <a:t>对每个变元</a:t>
                </a:r>
                <a14:m>
                  <m:oMath xmlns:m="http://schemas.openxmlformats.org/officeDocument/2006/math">
                    <m:r>
                      <a:rPr kumimoji="0" lang="en-AU" altLang="zh-CN" sz="2400" b="0" i="1" smtClean="0">
                        <a:latin typeface="Cambria Math" panose="02040503050406030204" pitchFamily="18" charset="0"/>
                        <a:cs typeface="Times New Roman" panose="02020603050405020304" pitchFamily="18" charset="0"/>
                      </a:rPr>
                      <m:t>𝐴</m:t>
                    </m:r>
                  </m:oMath>
                </a14:m>
                <a:r>
                  <a:rPr kumimoji="0" lang="en-AU" altLang="zh-CN" sz="2400" dirty="0">
                    <a:cs typeface="Times New Roman" panose="02020603050405020304" pitchFamily="18" charset="0"/>
                  </a:rPr>
                  <a:t>: (</a:t>
                </a:r>
                <a:r>
                  <a:rPr kumimoji="0" lang="zh-CN" altLang="en-US" sz="2400" dirty="0">
                    <a:cs typeface="Times New Roman" panose="02020603050405020304" pitchFamily="18" charset="0"/>
                  </a:rPr>
                  <a:t>输入空串，压入产生式）</a:t>
                </a:r>
                <a:endParaRPr kumimoji="0" lang="en-US" altLang="zh-CN" sz="2400" dirty="0">
                  <a:cs typeface="Times New Roman" panose="02020603050405020304" pitchFamily="18" charset="0"/>
                </a:endParaRPr>
              </a:p>
              <a:p>
                <a:pPr marL="0" lvl="1" indent="0">
                  <a:buNone/>
                  <a:defRPr/>
                </a:pP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endParaRPr kumimoji="0" lang="en-AU" altLang="zh-CN" dirty="0">
                  <a:latin typeface="Times New Roman" panose="02020603050405020304" pitchFamily="18" charset="0"/>
                  <a:ea typeface="宋体" panose="02010600030101010101" pitchFamily="2" charset="-122"/>
                  <a:cs typeface="Times New Roman" panose="02020603050405020304" pitchFamily="18" charset="0"/>
                </a:endParaRPr>
              </a:p>
              <a:p>
                <a:pPr marL="0" lvl="1" indent="0">
                  <a:buNone/>
                  <a:defRPr/>
                </a:pPr>
                <a:endParaRPr lang="en-AU" altLang="zh-CN" dirty="0">
                  <a:latin typeface="Times New Roman" panose="02020603050405020304" pitchFamily="18" charset="0"/>
                  <a:ea typeface="宋体" panose="02010600030101010101" pitchFamily="2" charset="-122"/>
                  <a:cs typeface="Times New Roman" panose="02020603050405020304" pitchFamily="18" charset="0"/>
                </a:endParaRPr>
              </a:p>
              <a:p>
                <a:pPr marL="0" lvl="1" indent="0">
                  <a:buNone/>
                  <a:defRPr/>
                </a:pPr>
                <a:endParaRPr lang="en-AU" altLang="zh-CN" dirty="0">
                  <a:latin typeface="Times New Roman" panose="02020603050405020304" pitchFamily="18" charset="0"/>
                  <a:ea typeface="宋体" panose="02010600030101010101" pitchFamily="2" charset="-122"/>
                  <a:cs typeface="Times New Roman" panose="02020603050405020304" pitchFamily="18" charset="0"/>
                </a:endParaRPr>
              </a:p>
              <a:p>
                <a:pPr marL="0" lvl="1" indent="0">
                  <a:buNone/>
                  <a:defRPr/>
                </a:pPr>
                <a:r>
                  <a:rPr kumimoji="0" lang="zh-CN" altLang="en-US"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dirty="0">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dirty="0">
                    <a:cs typeface="Times New Roman" panose="02020603050405020304" pitchFamily="18" charset="0"/>
                  </a:rPr>
                  <a:t>对每个终结符</a:t>
                </a:r>
                <a14:m>
                  <m:oMath xmlns:m="http://schemas.openxmlformats.org/officeDocument/2006/math">
                    <m:r>
                      <a:rPr kumimoji="0" lang="en-AU" altLang="zh-CN" b="0" i="1" smtClean="0">
                        <a:latin typeface="Cambria Math" panose="02040503050406030204" pitchFamily="18" charset="0"/>
                        <a:ea typeface="宋体" panose="02010600030101010101" pitchFamily="2" charset="-122"/>
                        <a:cs typeface="Times New Roman" panose="02020603050405020304" pitchFamily="18" charset="0"/>
                      </a:rPr>
                      <m:t>𝑎</m:t>
                    </m:r>
                  </m:oMath>
                </a14:m>
                <a:r>
                  <a:rPr kumimoji="0"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AU" altLang="zh-CN"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dirty="0">
                    <a:cs typeface="Times New Roman" panose="02020603050405020304" pitchFamily="18" charset="0"/>
                  </a:rPr>
                  <a:t>输入字符</a:t>
                </a:r>
                <a14:m>
                  <m:oMath xmlns:m="http://schemas.openxmlformats.org/officeDocument/2006/math">
                    <m:r>
                      <a:rPr lang="en-AU" altLang="zh-CN" i="1">
                        <a:latin typeface="Cambria Math" panose="02040503050406030204" pitchFamily="18" charset="0"/>
                        <a:ea typeface="宋体" panose="02010600030101010101" pitchFamily="2" charset="-122"/>
                        <a:cs typeface="Times New Roman" panose="02020603050405020304" pitchFamily="18" charset="0"/>
                      </a:rPr>
                      <m:t>𝑎</m:t>
                    </m:r>
                    <m:r>
                      <a:rPr lang="en-AU" altLang="zh-CN" i="1">
                        <a:latin typeface="Cambria Math" panose="02040503050406030204" pitchFamily="18" charset="0"/>
                        <a:ea typeface="宋体" panose="02010600030101010101" pitchFamily="2" charset="-122"/>
                        <a:cs typeface="Times New Roman" panose="02020603050405020304" pitchFamily="18" charset="0"/>
                      </a:rPr>
                      <m:t> </m:t>
                    </m:r>
                  </m:oMath>
                </a14:m>
                <a:r>
                  <a:rPr kumimoji="0" lang="zh-CN" altLang="en-US" dirty="0">
                    <a:cs typeface="Times New Roman" panose="02020603050405020304" pitchFamily="18" charset="0"/>
                  </a:rPr>
                  <a:t>，弹出字符</a:t>
                </a:r>
                <a14:m>
                  <m:oMath xmlns:m="http://schemas.openxmlformats.org/officeDocument/2006/math">
                    <m:r>
                      <a:rPr lang="en-AU" altLang="zh-CN" i="1">
                        <a:latin typeface="Cambria Math" panose="02040503050406030204" pitchFamily="18" charset="0"/>
                        <a:ea typeface="宋体" panose="02010600030101010101" pitchFamily="2" charset="-122"/>
                        <a:cs typeface="Times New Roman" panose="02020603050405020304" pitchFamily="18" charset="0"/>
                      </a:rPr>
                      <m:t>𝑎</m:t>
                    </m:r>
                  </m:oMath>
                </a14:m>
                <a:r>
                  <a:rPr kumimoji="0" lang="en-US" altLang="zh-CN" dirty="0">
                    <a:cs typeface="Times New Roman" panose="02020603050405020304" pitchFamily="18" charset="0"/>
                  </a:rPr>
                  <a:t>)</a:t>
                </a:r>
              </a:p>
              <a:p>
                <a:pPr marL="0" lvl="1" indent="0">
                  <a:buNone/>
                  <a:defRPr/>
                </a:pPr>
                <a:r>
                  <a:rPr kumimoji="0"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l-GR" altLang="zh-CN" sz="2000" dirty="0"/>
                  <a:t> </a:t>
                </a:r>
                <a:endParaRPr lang="en-AU" altLang="zh-CN" sz="20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17600"/>
                <a:ext cx="8229600" cy="4525963"/>
              </a:xfrm>
              <a:blipFill rotWithShape="1">
                <a:blip r:embed="rId2"/>
                <a:stretch>
                  <a:fillRect b="-118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65</a:t>
            </a:fld>
            <a:endParaRPr lang="en-AU"/>
          </a:p>
        </p:txBody>
      </p:sp>
      <p:grpSp>
        <p:nvGrpSpPr>
          <p:cNvPr id="5" name="Group 20"/>
          <p:cNvGrpSpPr/>
          <p:nvPr/>
        </p:nvGrpSpPr>
        <p:grpSpPr bwMode="auto">
          <a:xfrm>
            <a:off x="1522427" y="3100709"/>
            <a:ext cx="1023037" cy="1217345"/>
            <a:chOff x="155171" y="3659023"/>
            <a:chExt cx="1023037" cy="1217777"/>
          </a:xfrm>
        </p:grpSpPr>
        <p:cxnSp>
          <p:nvCxnSpPr>
            <p:cNvPr id="6" name="Straight Connector 5"/>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7" name="Straight Connector 7"/>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8" name="Straight Connector 9"/>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9" name="Straight Connector 11"/>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10" name="TextBox 12"/>
            <p:cNvSpPr txBox="1">
              <a:spLocks noChangeArrowheads="1"/>
            </p:cNvSpPr>
            <p:nvPr/>
          </p:nvSpPr>
          <p:spPr bwMode="auto">
            <a:xfrm>
              <a:off x="609600" y="4157246"/>
              <a:ext cx="320922" cy="338554"/>
            </a:xfrm>
            <a:prstGeom prst="rect">
              <a:avLst/>
            </a:prstGeom>
            <a:noFill/>
            <a:ln w="9525">
              <a:noFill/>
              <a:miter lim="800000"/>
            </a:ln>
          </p:spPr>
          <p:txBody>
            <a:bodyPr wrap="none">
              <a:spAutoFit/>
            </a:bodyPr>
            <a:lstStyle/>
            <a:p>
              <a:r>
                <a:rPr lang="en-US" sz="1600">
                  <a:solidFill>
                    <a:srgbClr val="FF0000"/>
                  </a:solidFill>
                </a:rPr>
                <a:t>A</a:t>
              </a:r>
            </a:p>
          </p:txBody>
        </p:sp>
        <p:cxnSp>
          <p:nvCxnSpPr>
            <p:cNvPr id="11" name="Straight Connector 15"/>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12" name="Straight Arrow Connector 17"/>
            <p:cNvCxnSpPr>
              <a:cxnSpLocks noChangeShapeType="1"/>
              <a:endCxn id="10" idx="1"/>
            </p:cNvCxnSpPr>
            <p:nvPr/>
          </p:nvCxnSpPr>
          <p:spPr bwMode="auto">
            <a:xfrm flipV="1">
              <a:off x="381000" y="4326523"/>
              <a:ext cx="228600" cy="16877"/>
            </a:xfrm>
            <a:prstGeom prst="straightConnector1">
              <a:avLst/>
            </a:prstGeom>
            <a:noFill/>
            <a:ln w="9525" algn="ctr">
              <a:solidFill>
                <a:schemeClr val="tx1"/>
              </a:solidFill>
              <a:round/>
              <a:tailEnd type="arrow" w="med" len="med"/>
            </a:ln>
          </p:spPr>
        </p:cxnSp>
        <p:sp>
          <p:nvSpPr>
            <p:cNvPr id="13" name="TextBox 18"/>
            <p:cNvSpPr txBox="1">
              <a:spLocks noChangeArrowheads="1"/>
            </p:cNvSpPr>
            <p:nvPr/>
          </p:nvSpPr>
          <p:spPr bwMode="auto">
            <a:xfrm>
              <a:off x="155171" y="3659023"/>
              <a:ext cx="1023037" cy="400252"/>
            </a:xfrm>
            <a:prstGeom prst="rect">
              <a:avLst/>
            </a:prstGeom>
            <a:noFill/>
            <a:ln w="9525">
              <a:noFill/>
              <a:miter lim="800000"/>
            </a:ln>
          </p:spPr>
          <p:txBody>
            <a:bodyPr wrap="none">
              <a:spAutoFit/>
            </a:bodyPr>
            <a:lstStyle/>
            <a:p>
              <a:r>
                <a:rPr lang="zh-CN" altLang="en-US" sz="2000" u="sng" dirty="0">
                  <a:solidFill>
                    <a:srgbClr val="FF0000"/>
                  </a:solidFill>
                </a:rPr>
                <a:t>变化前</a:t>
              </a:r>
              <a:r>
                <a:rPr lang="en-US" sz="2000" u="sng" dirty="0">
                  <a:solidFill>
                    <a:srgbClr val="FF0000"/>
                  </a:solidFill>
                </a:rPr>
                <a:t>:</a:t>
              </a:r>
            </a:p>
          </p:txBody>
        </p:sp>
        <p:sp>
          <p:nvSpPr>
            <p:cNvPr id="14" name="TextBox 19"/>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dirty="0">
                  <a:solidFill>
                    <a:srgbClr val="FF0000"/>
                  </a:solidFill>
                </a:rPr>
                <a:t>…</a:t>
              </a:r>
            </a:p>
          </p:txBody>
        </p:sp>
      </p:grpSp>
      <p:grpSp>
        <p:nvGrpSpPr>
          <p:cNvPr id="15" name="Group 21"/>
          <p:cNvGrpSpPr/>
          <p:nvPr/>
        </p:nvGrpSpPr>
        <p:grpSpPr bwMode="auto">
          <a:xfrm>
            <a:off x="1709656" y="4905382"/>
            <a:ext cx="1023037" cy="1254885"/>
            <a:chOff x="155171" y="3621471"/>
            <a:chExt cx="1023037" cy="1255329"/>
          </a:xfrm>
        </p:grpSpPr>
        <p:cxnSp>
          <p:nvCxnSpPr>
            <p:cNvPr id="16" name="Straight Connector 22"/>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17" name="Straight Connector 23"/>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18" name="Straight Connector 24"/>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19" name="Straight Connector 25"/>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20" name="TextBox 26"/>
            <p:cNvSpPr txBox="1">
              <a:spLocks noChangeArrowheads="1"/>
            </p:cNvSpPr>
            <p:nvPr/>
          </p:nvSpPr>
          <p:spPr bwMode="auto">
            <a:xfrm>
              <a:off x="609600" y="4157246"/>
              <a:ext cx="298480" cy="338554"/>
            </a:xfrm>
            <a:prstGeom prst="rect">
              <a:avLst/>
            </a:prstGeom>
            <a:noFill/>
            <a:ln w="9525">
              <a:noFill/>
              <a:miter lim="800000"/>
            </a:ln>
          </p:spPr>
          <p:txBody>
            <a:bodyPr wrap="none">
              <a:spAutoFit/>
            </a:bodyPr>
            <a:lstStyle/>
            <a:p>
              <a:r>
                <a:rPr lang="en-US" sz="1600">
                  <a:solidFill>
                    <a:srgbClr val="FF0000"/>
                  </a:solidFill>
                </a:rPr>
                <a:t>a</a:t>
              </a:r>
            </a:p>
          </p:txBody>
        </p:sp>
        <p:cxnSp>
          <p:nvCxnSpPr>
            <p:cNvPr id="21" name="Straight Connector 27"/>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22" name="Straight Arrow Connector 28"/>
            <p:cNvCxnSpPr>
              <a:cxnSpLocks noChangeShapeType="1"/>
              <a:endCxn id="20" idx="1"/>
            </p:cNvCxnSpPr>
            <p:nvPr/>
          </p:nvCxnSpPr>
          <p:spPr bwMode="auto">
            <a:xfrm flipV="1">
              <a:off x="381000" y="4326523"/>
              <a:ext cx="228600" cy="16878"/>
            </a:xfrm>
            <a:prstGeom prst="straightConnector1">
              <a:avLst/>
            </a:prstGeom>
            <a:noFill/>
            <a:ln w="9525" algn="ctr">
              <a:solidFill>
                <a:schemeClr val="tx1"/>
              </a:solidFill>
              <a:round/>
              <a:tailEnd type="arrow" w="med" len="med"/>
            </a:ln>
          </p:spPr>
        </p:cxnSp>
        <p:sp>
          <p:nvSpPr>
            <p:cNvPr id="23" name="TextBox 29"/>
            <p:cNvSpPr txBox="1">
              <a:spLocks noChangeArrowheads="1"/>
            </p:cNvSpPr>
            <p:nvPr/>
          </p:nvSpPr>
          <p:spPr bwMode="auto">
            <a:xfrm>
              <a:off x="155171" y="3621471"/>
              <a:ext cx="1023037" cy="400251"/>
            </a:xfrm>
            <a:prstGeom prst="rect">
              <a:avLst/>
            </a:prstGeom>
            <a:noFill/>
            <a:ln w="9525">
              <a:noFill/>
              <a:miter lim="800000"/>
            </a:ln>
          </p:spPr>
          <p:txBody>
            <a:bodyPr wrap="none">
              <a:spAutoFit/>
            </a:bodyPr>
            <a:lstStyle/>
            <a:p>
              <a:r>
                <a:rPr lang="zh-CN" altLang="en-US" sz="2000" u="sng" dirty="0">
                  <a:solidFill>
                    <a:srgbClr val="FF0000"/>
                  </a:solidFill>
                </a:rPr>
                <a:t>变化前</a:t>
              </a:r>
              <a:r>
                <a:rPr lang="en-US" sz="2000" u="sng" dirty="0">
                  <a:solidFill>
                    <a:srgbClr val="FF0000"/>
                  </a:solidFill>
                </a:rPr>
                <a:t>:</a:t>
              </a:r>
            </a:p>
          </p:txBody>
        </p:sp>
        <p:sp>
          <p:nvSpPr>
            <p:cNvPr id="24" name="TextBox 30"/>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a:solidFill>
                    <a:srgbClr val="FF0000"/>
                  </a:solidFill>
                </a:rPr>
                <a:t>…</a:t>
              </a:r>
            </a:p>
          </p:txBody>
        </p:sp>
      </p:grpSp>
      <p:grpSp>
        <p:nvGrpSpPr>
          <p:cNvPr id="25" name="Group 31"/>
          <p:cNvGrpSpPr/>
          <p:nvPr/>
        </p:nvGrpSpPr>
        <p:grpSpPr bwMode="auto">
          <a:xfrm>
            <a:off x="6709946" y="2973569"/>
            <a:ext cx="1023037" cy="1238132"/>
            <a:chOff x="147581" y="3638229"/>
            <a:chExt cx="1023037" cy="1238571"/>
          </a:xfrm>
        </p:grpSpPr>
        <p:cxnSp>
          <p:nvCxnSpPr>
            <p:cNvPr id="26" name="Straight Connector 32"/>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27" name="Straight Connector 33"/>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28" name="Straight Connector 34"/>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29" name="Straight Connector 35"/>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30" name="TextBox 36"/>
            <p:cNvSpPr txBox="1">
              <a:spLocks noChangeArrowheads="1"/>
            </p:cNvSpPr>
            <p:nvPr/>
          </p:nvSpPr>
          <p:spPr bwMode="auto">
            <a:xfrm>
              <a:off x="609600" y="4157246"/>
              <a:ext cx="314510" cy="338554"/>
            </a:xfrm>
            <a:prstGeom prst="rect">
              <a:avLst/>
            </a:prstGeom>
            <a:noFill/>
            <a:ln w="9525">
              <a:noFill/>
              <a:miter lim="800000"/>
            </a:ln>
          </p:spPr>
          <p:txBody>
            <a:bodyPr wrap="none">
              <a:spAutoFit/>
            </a:bodyPr>
            <a:lstStyle/>
            <a:p>
              <a:r>
                <a:rPr lang="en-US" sz="1600" dirty="0">
                  <a:solidFill>
                    <a:srgbClr val="FF0000"/>
                  </a:solidFill>
                  <a:sym typeface="Symbol" panose="05050102010706020507" pitchFamily="28" charset="2"/>
                </a:rPr>
                <a:t></a:t>
              </a:r>
              <a:endParaRPr lang="en-US" sz="1600" dirty="0">
                <a:solidFill>
                  <a:srgbClr val="FF0000"/>
                </a:solidFill>
              </a:endParaRPr>
            </a:p>
          </p:txBody>
        </p:sp>
        <p:cxnSp>
          <p:nvCxnSpPr>
            <p:cNvPr id="31" name="Straight Connector 37"/>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32" name="Straight Arrow Connector 38"/>
            <p:cNvCxnSpPr>
              <a:cxnSpLocks noChangeShapeType="1"/>
            </p:cNvCxnSpPr>
            <p:nvPr/>
          </p:nvCxnSpPr>
          <p:spPr bwMode="auto">
            <a:xfrm flipV="1">
              <a:off x="381000" y="4233446"/>
              <a:ext cx="228600" cy="16878"/>
            </a:xfrm>
            <a:prstGeom prst="straightConnector1">
              <a:avLst/>
            </a:prstGeom>
            <a:noFill/>
            <a:ln w="9525" algn="ctr">
              <a:solidFill>
                <a:schemeClr val="tx1"/>
              </a:solidFill>
              <a:round/>
              <a:tailEnd type="arrow" w="med" len="med"/>
            </a:ln>
          </p:spPr>
        </p:cxnSp>
        <p:sp>
          <p:nvSpPr>
            <p:cNvPr id="33" name="TextBox 39"/>
            <p:cNvSpPr txBox="1">
              <a:spLocks noChangeArrowheads="1"/>
            </p:cNvSpPr>
            <p:nvPr/>
          </p:nvSpPr>
          <p:spPr bwMode="auto">
            <a:xfrm>
              <a:off x="147581" y="3638229"/>
              <a:ext cx="1023037" cy="400252"/>
            </a:xfrm>
            <a:prstGeom prst="rect">
              <a:avLst/>
            </a:prstGeom>
            <a:noFill/>
            <a:ln w="9525">
              <a:noFill/>
              <a:miter lim="800000"/>
            </a:ln>
          </p:spPr>
          <p:txBody>
            <a:bodyPr wrap="none">
              <a:spAutoFit/>
            </a:bodyPr>
            <a:lstStyle/>
            <a:p>
              <a:r>
                <a:rPr lang="zh-CN" altLang="en-US" sz="2000" u="sng" dirty="0">
                  <a:solidFill>
                    <a:srgbClr val="FF0000"/>
                  </a:solidFill>
                </a:rPr>
                <a:t>变化后</a:t>
              </a:r>
              <a:r>
                <a:rPr lang="en-US" sz="2000" u="sng" dirty="0">
                  <a:solidFill>
                    <a:srgbClr val="FF0000"/>
                  </a:solidFill>
                </a:rPr>
                <a:t>:</a:t>
              </a:r>
            </a:p>
          </p:txBody>
        </p:sp>
        <p:sp>
          <p:nvSpPr>
            <p:cNvPr id="34" name="TextBox 40"/>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a:solidFill>
                    <a:srgbClr val="FF0000"/>
                  </a:solidFill>
                </a:rPr>
                <a:t>…</a:t>
              </a:r>
            </a:p>
          </p:txBody>
        </p:sp>
      </p:grpSp>
      <p:grpSp>
        <p:nvGrpSpPr>
          <p:cNvPr id="35" name="Group 45"/>
          <p:cNvGrpSpPr/>
          <p:nvPr/>
        </p:nvGrpSpPr>
        <p:grpSpPr bwMode="auto">
          <a:xfrm>
            <a:off x="6432833" y="4903234"/>
            <a:ext cx="1023037" cy="1278281"/>
            <a:chOff x="113904" y="3598066"/>
            <a:chExt cx="1023037" cy="1278734"/>
          </a:xfrm>
        </p:grpSpPr>
        <p:cxnSp>
          <p:nvCxnSpPr>
            <p:cNvPr id="36" name="Straight Connector 46"/>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37" name="Straight Connector 47"/>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38" name="Straight Connector 48"/>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39" name="Straight Connector 49"/>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40" name="TextBox 50"/>
            <p:cNvSpPr txBox="1">
              <a:spLocks noChangeArrowheads="1"/>
            </p:cNvSpPr>
            <p:nvPr/>
          </p:nvSpPr>
          <p:spPr bwMode="auto">
            <a:xfrm>
              <a:off x="609600" y="4157246"/>
              <a:ext cx="298480" cy="338674"/>
            </a:xfrm>
            <a:prstGeom prst="rect">
              <a:avLst/>
            </a:prstGeom>
            <a:noFill/>
            <a:ln w="9525">
              <a:noFill/>
              <a:miter lim="800000"/>
            </a:ln>
          </p:spPr>
          <p:txBody>
            <a:bodyPr wrap="none">
              <a:spAutoFit/>
            </a:bodyPr>
            <a:lstStyle/>
            <a:p>
              <a:r>
                <a:rPr lang="en-US" sz="1600">
                  <a:solidFill>
                    <a:srgbClr val="FF0000"/>
                  </a:solidFill>
                  <a:sym typeface="Symbol" panose="05050102010706020507" pitchFamily="28" charset="2"/>
                </a:rPr>
                <a:t>a</a:t>
              </a:r>
              <a:endParaRPr lang="en-US" sz="1600">
                <a:solidFill>
                  <a:srgbClr val="FF0000"/>
                </a:solidFill>
              </a:endParaRPr>
            </a:p>
          </p:txBody>
        </p:sp>
        <p:cxnSp>
          <p:nvCxnSpPr>
            <p:cNvPr id="41" name="Straight Connector 51"/>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42" name="Straight Arrow Connector 52"/>
            <p:cNvCxnSpPr>
              <a:cxnSpLocks noChangeShapeType="1"/>
            </p:cNvCxnSpPr>
            <p:nvPr/>
          </p:nvCxnSpPr>
          <p:spPr bwMode="auto">
            <a:xfrm flipV="1">
              <a:off x="381000" y="4521368"/>
              <a:ext cx="228600" cy="16878"/>
            </a:xfrm>
            <a:prstGeom prst="straightConnector1">
              <a:avLst/>
            </a:prstGeom>
            <a:noFill/>
            <a:ln w="9525" algn="ctr">
              <a:solidFill>
                <a:schemeClr val="tx1"/>
              </a:solidFill>
              <a:round/>
              <a:tailEnd type="arrow" w="med" len="med"/>
            </a:ln>
          </p:spPr>
        </p:cxnSp>
        <p:sp>
          <p:nvSpPr>
            <p:cNvPr id="43" name="TextBox 53"/>
            <p:cNvSpPr txBox="1">
              <a:spLocks noChangeArrowheads="1"/>
            </p:cNvSpPr>
            <p:nvPr/>
          </p:nvSpPr>
          <p:spPr bwMode="auto">
            <a:xfrm>
              <a:off x="113904" y="3598066"/>
              <a:ext cx="1023037" cy="400252"/>
            </a:xfrm>
            <a:prstGeom prst="rect">
              <a:avLst/>
            </a:prstGeom>
            <a:noFill/>
            <a:ln w="9525">
              <a:noFill/>
              <a:miter lim="800000"/>
            </a:ln>
          </p:spPr>
          <p:txBody>
            <a:bodyPr wrap="none">
              <a:spAutoFit/>
            </a:bodyPr>
            <a:lstStyle/>
            <a:p>
              <a:r>
                <a:rPr lang="zh-CN" altLang="en-US" sz="2000" u="sng" dirty="0">
                  <a:solidFill>
                    <a:srgbClr val="FF0000"/>
                  </a:solidFill>
                </a:rPr>
                <a:t>变化后</a:t>
              </a:r>
              <a:r>
                <a:rPr lang="en-US" sz="2000" u="sng" dirty="0">
                  <a:solidFill>
                    <a:srgbClr val="FF0000"/>
                  </a:solidFill>
                </a:rPr>
                <a:t>:</a:t>
              </a:r>
            </a:p>
          </p:txBody>
        </p:sp>
        <p:sp>
          <p:nvSpPr>
            <p:cNvPr id="44" name="TextBox 54"/>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dirty="0">
                  <a:solidFill>
                    <a:srgbClr val="FF0000"/>
                  </a:solidFill>
                </a:rPr>
                <a:t>…</a:t>
              </a:r>
            </a:p>
          </p:txBody>
        </p:sp>
      </p:grpSp>
      <p:grpSp>
        <p:nvGrpSpPr>
          <p:cNvPr id="45" name="Group 58"/>
          <p:cNvGrpSpPr/>
          <p:nvPr/>
        </p:nvGrpSpPr>
        <p:grpSpPr bwMode="auto">
          <a:xfrm>
            <a:off x="7462189" y="4863084"/>
            <a:ext cx="685800" cy="476250"/>
            <a:chOff x="8305800" y="5257800"/>
            <a:chExt cx="685800" cy="476310"/>
          </a:xfrm>
        </p:grpSpPr>
        <p:sp>
          <p:nvSpPr>
            <p:cNvPr id="46" name="TextBox 55"/>
            <p:cNvSpPr txBox="1">
              <a:spLocks noChangeArrowheads="1"/>
            </p:cNvSpPr>
            <p:nvPr/>
          </p:nvSpPr>
          <p:spPr bwMode="auto">
            <a:xfrm>
              <a:off x="8305800" y="5334000"/>
              <a:ext cx="685800" cy="400110"/>
            </a:xfrm>
            <a:prstGeom prst="rect">
              <a:avLst/>
            </a:prstGeom>
            <a:noFill/>
            <a:ln w="9525">
              <a:noFill/>
              <a:miter lim="800000"/>
            </a:ln>
          </p:spPr>
          <p:txBody>
            <a:bodyPr>
              <a:spAutoFit/>
            </a:bodyPr>
            <a:lstStyle/>
            <a:p>
              <a:r>
                <a:rPr lang="en-US" dirty="0">
                  <a:solidFill>
                    <a:srgbClr val="7030A0"/>
                  </a:solidFill>
                </a:rPr>
                <a:t>a…</a:t>
              </a:r>
            </a:p>
          </p:txBody>
        </p:sp>
        <p:cxnSp>
          <p:nvCxnSpPr>
            <p:cNvPr id="47" name="Straight Arrow Connector 57"/>
            <p:cNvCxnSpPr>
              <a:cxnSpLocks noChangeShapeType="1"/>
            </p:cNvCxnSpPr>
            <p:nvPr/>
          </p:nvCxnSpPr>
          <p:spPr bwMode="auto">
            <a:xfrm flipH="1">
              <a:off x="8534400" y="5257800"/>
              <a:ext cx="76200" cy="152400"/>
            </a:xfrm>
            <a:prstGeom prst="straightConnector1">
              <a:avLst/>
            </a:prstGeom>
            <a:noFill/>
            <a:ln w="9525" algn="ctr">
              <a:solidFill>
                <a:schemeClr val="tx1"/>
              </a:solidFill>
              <a:round/>
              <a:tailEnd type="arrow" w="med" len="med"/>
            </a:ln>
          </p:spPr>
        </p:cxnSp>
      </p:grpSp>
      <p:cxnSp>
        <p:nvCxnSpPr>
          <p:cNvPr id="48" name="Straight Connector 47"/>
          <p:cNvCxnSpPr>
            <a:cxnSpLocks noChangeShapeType="1"/>
          </p:cNvCxnSpPr>
          <p:nvPr/>
        </p:nvCxnSpPr>
        <p:spPr bwMode="auto">
          <a:xfrm flipH="1">
            <a:off x="6788769" y="5550066"/>
            <a:ext cx="609600" cy="152400"/>
          </a:xfrm>
          <a:prstGeom prst="line">
            <a:avLst/>
          </a:prstGeom>
          <a:noFill/>
          <a:ln w="9525" algn="ctr">
            <a:solidFill>
              <a:srgbClr val="FF0000"/>
            </a:solidFill>
            <a:round/>
          </a:ln>
        </p:spPr>
      </p:cxnSp>
      <p:sp>
        <p:nvSpPr>
          <p:cNvPr id="49" name="TextBox 48"/>
          <p:cNvSpPr txBox="1">
            <a:spLocks noChangeArrowheads="1"/>
          </p:cNvSpPr>
          <p:nvPr/>
        </p:nvSpPr>
        <p:spPr bwMode="auto">
          <a:xfrm>
            <a:off x="7402907" y="5323382"/>
            <a:ext cx="646331" cy="369332"/>
          </a:xfrm>
          <a:prstGeom prst="rect">
            <a:avLst/>
          </a:prstGeom>
          <a:noFill/>
          <a:ln w="9525">
            <a:noFill/>
            <a:miter lim="800000"/>
          </a:ln>
        </p:spPr>
        <p:txBody>
          <a:bodyPr wrap="none">
            <a:spAutoFit/>
          </a:bodyPr>
          <a:lstStyle/>
          <a:p>
            <a:r>
              <a:rPr lang="zh-CN" altLang="en-US" dirty="0">
                <a:solidFill>
                  <a:srgbClr val="FF0000"/>
                </a:solidFill>
              </a:rPr>
              <a:t>弹出</a:t>
            </a:r>
            <a:endParaRPr lang="en-US" dirty="0">
              <a:solidFill>
                <a:srgbClr val="FF0000"/>
              </a:solidFill>
            </a:endParaRPr>
          </a:p>
        </p:txBody>
      </p:sp>
      <mc:AlternateContent xmlns:mc="http://schemas.openxmlformats.org/markup-compatibility/2006" xmlns:a14="http://schemas.microsoft.com/office/drawing/2010/main">
        <mc:Choice Requires="a14">
          <p:sp>
            <p:nvSpPr>
              <p:cNvPr id="51" name="TextBox 50"/>
              <p:cNvSpPr txBox="1"/>
              <p:nvPr/>
            </p:nvSpPr>
            <p:spPr>
              <a:xfrm>
                <a:off x="2574009" y="3582648"/>
                <a:ext cx="4572000" cy="461665"/>
              </a:xfrm>
              <a:prstGeom prst="rect">
                <a:avLst/>
              </a:prstGeom>
              <a:noFill/>
            </p:spPr>
            <p:txBody>
              <a:bodyPr wrap="square">
                <a:spAutoFit/>
              </a:bodyPr>
              <a:lstStyle/>
              <a:p>
                <a:r>
                  <a:rPr lang="el-GR" altLang="zh-CN" sz="2400" dirty="0"/>
                  <a:t> </a:t>
                </a:r>
                <a14:m>
                  <m:oMath xmlns:m="http://schemas.openxmlformats.org/officeDocument/2006/math">
                    <m:r>
                      <a:rPr lang="el-GR" altLang="zh-CN" sz="2400" i="1" dirty="0" smtClean="0">
                        <a:latin typeface="Cambria Math" panose="02040503050406030204" pitchFamily="18" charset="0"/>
                      </a:rPr>
                      <m:t>𝛿</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zh-CN" altLang="en-AU" sz="2400" b="0" i="1" dirty="0" smtClean="0">
                        <a:latin typeface="Cambria Math" panose="02040503050406030204" pitchFamily="18" charset="0"/>
                      </a:rPr>
                      <m:t>𝜀</m:t>
                    </m:r>
                    <m:r>
                      <a:rPr lang="en-AU" altLang="zh-CN" sz="2400" i="1" dirty="0">
                        <a:latin typeface="Cambria Math" panose="02040503050406030204" pitchFamily="18" charset="0"/>
                      </a:rPr>
                      <m:t>,</m:t>
                    </m:r>
                    <m:r>
                      <a:rPr lang="en-AU" altLang="zh-CN" sz="2400" i="1" dirty="0">
                        <a:latin typeface="Cambria Math" panose="02040503050406030204" pitchFamily="18" charset="0"/>
                      </a:rPr>
                      <m:t>𝐴</m:t>
                    </m:r>
                    <m:r>
                      <a:rPr lang="en-AU" altLang="zh-CN" sz="2400" i="1" dirty="0">
                        <a:latin typeface="Cambria Math" panose="02040503050406030204" pitchFamily="18" charset="0"/>
                      </a:rPr>
                      <m:t>)={(</m:t>
                    </m:r>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a:latin typeface="Cambria Math" panose="02040503050406030204" pitchFamily="18" charset="0"/>
                        <a:ea typeface="Cambria Math" panose="02040503050406030204" pitchFamily="18" charset="0"/>
                      </a:rPr>
                      <m:t>𝛼</m:t>
                    </m:r>
                    <m:r>
                      <a:rPr lang="en-AU" altLang="zh-CN" sz="2400" i="1" dirty="0">
                        <a:latin typeface="Cambria Math" panose="02040503050406030204" pitchFamily="18" charset="0"/>
                      </a:rPr>
                      <m:t>)|</m:t>
                    </m:r>
                    <m:r>
                      <a:rPr lang="en-AU" altLang="zh-CN" sz="2400" i="1" dirty="0">
                        <a:latin typeface="Cambria Math" panose="02040503050406030204" pitchFamily="18" charset="0"/>
                      </a:rPr>
                      <m:t>𝐴</m:t>
                    </m:r>
                    <m:r>
                      <a:rPr lang="en-AU" altLang="zh-CN" sz="2400" i="1" dirty="0" smtClean="0">
                        <a:latin typeface="Cambria Math" panose="02040503050406030204" pitchFamily="18" charset="0"/>
                        <a:ea typeface="Cambria Math" panose="02040503050406030204" pitchFamily="18" charset="0"/>
                      </a:rPr>
                      <m:t>→</m:t>
                    </m:r>
                    <m:r>
                      <a:rPr lang="zh-CN" altLang="en-AU" sz="2400" i="1" dirty="0" smtClean="0">
                        <a:latin typeface="Cambria Math" panose="02040503050406030204" pitchFamily="18" charset="0"/>
                        <a:ea typeface="Cambria Math" panose="02040503050406030204" pitchFamily="18" charset="0"/>
                      </a:rPr>
                      <m:t>𝛼</m:t>
                    </m:r>
                    <m:r>
                      <a:rPr lang="zh-CN" altLang="en-US" sz="2400" i="1" dirty="0" smtClean="0">
                        <a:latin typeface="Cambria Math" panose="02040503050406030204" pitchFamily="18" charset="0"/>
                        <a:ea typeface="Cambria Math" panose="02040503050406030204" pitchFamily="18" charset="0"/>
                      </a:rPr>
                      <m:t>∈</m:t>
                    </m:r>
                    <m:r>
                      <a:rPr lang="en-AU" altLang="zh-CN" sz="2400" b="0" i="1" dirty="0" smtClean="0">
                        <a:latin typeface="Cambria Math" panose="02040503050406030204" pitchFamily="18" charset="0"/>
                        <a:ea typeface="Cambria Math" panose="02040503050406030204" pitchFamily="18" charset="0"/>
                      </a:rPr>
                      <m:t>𝑃</m:t>
                    </m:r>
                    <m:r>
                      <a:rPr lang="en-AU" altLang="zh-CN" sz="2400" i="1" dirty="0">
                        <a:latin typeface="Cambria Math" panose="02040503050406030204" pitchFamily="18" charset="0"/>
                      </a:rPr>
                      <m:t>}</m:t>
                    </m:r>
                  </m:oMath>
                </a14:m>
                <a:endParaRPr lang="en-AU" sz="2400" dirty="0"/>
              </a:p>
            </p:txBody>
          </p:sp>
        </mc:Choice>
        <mc:Fallback xmlns="">
          <p:sp>
            <p:nvSpPr>
              <p:cNvPr id="51" name="TextBox 50"/>
              <p:cNvSpPr txBox="1">
                <a:spLocks noRot="1" noChangeAspect="1" noMove="1" noResize="1" noEditPoints="1" noAdjustHandles="1" noChangeArrowheads="1" noChangeShapeType="1" noTextEdit="1"/>
              </p:cNvSpPr>
              <p:nvPr/>
            </p:nvSpPr>
            <p:spPr>
              <a:xfrm>
                <a:off x="2574009" y="3582648"/>
                <a:ext cx="4572000" cy="461665"/>
              </a:xfrm>
              <a:prstGeom prst="rect">
                <a:avLst/>
              </a:prstGeom>
              <a:blipFill rotWithShape="1">
                <a:blip r:embed="rId3"/>
                <a:stretch>
                  <a:fillRect l="-8" t="-133" r="8" b="1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2362201" y="5143473"/>
                <a:ext cx="4572000" cy="461665"/>
              </a:xfrm>
              <a:prstGeom prst="rect">
                <a:avLst/>
              </a:prstGeom>
              <a:noFill/>
            </p:spPr>
            <p:txBody>
              <a:bodyPr wrap="square">
                <a:spAutoFit/>
              </a:bodyPr>
              <a:lstStyle/>
              <a:p>
                <a:pPr marL="0" lvl="1" indent="0">
                  <a:buNone/>
                  <a:defRPr/>
                </a:pPr>
                <a14:m>
                  <m:oMathPara xmlns:m="http://schemas.openxmlformats.org/officeDocument/2006/math">
                    <m:oMathParaPr>
                      <m:jc m:val="centerGroup"/>
                    </m:oMathParaPr>
                    <m:oMath xmlns:m="http://schemas.openxmlformats.org/officeDocument/2006/math">
                      <m:r>
                        <a:rPr lang="el-GR" altLang="zh-CN" sz="2400" i="1" dirty="0" smtClean="0">
                          <a:latin typeface="Cambria Math" panose="02040503050406030204" pitchFamily="18" charset="0"/>
                        </a:rPr>
                        <m:t>𝛿</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𝑎</m:t>
                      </m:r>
                      <m:r>
                        <a:rPr lang="en-AU" altLang="zh-CN" sz="2400" i="1" dirty="0">
                          <a:latin typeface="Cambria Math" panose="02040503050406030204" pitchFamily="18" charset="0"/>
                        </a:rPr>
                        <m:t>,</m:t>
                      </m:r>
                      <m:r>
                        <a:rPr lang="en-AU" altLang="zh-CN" sz="2400" b="0" i="1" dirty="0" smtClean="0">
                          <a:latin typeface="Cambria Math" panose="02040503050406030204" pitchFamily="18" charset="0"/>
                        </a:rPr>
                        <m:t>𝑎</m:t>
                      </m:r>
                      <m:r>
                        <a:rPr lang="en-AU" altLang="zh-CN" sz="2400" i="1" dirty="0">
                          <a:latin typeface="Cambria Math" panose="02040503050406030204" pitchFamily="18" charset="0"/>
                        </a:rPr>
                        <m:t>)={(</m:t>
                      </m:r>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𝜀</m:t>
                      </m:r>
                      <m:r>
                        <a:rPr lang="en-AU" altLang="zh-CN" sz="2400" i="1" dirty="0">
                          <a:latin typeface="Cambria Math" panose="02040503050406030204" pitchFamily="18" charset="0"/>
                        </a:rPr>
                        <m:t>)}</m:t>
                      </m:r>
                    </m:oMath>
                  </m:oMathPara>
                </a14:m>
                <a:endParaRPr lang="en-US"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2362201" y="5143473"/>
                <a:ext cx="4572000" cy="461665"/>
              </a:xfrm>
              <a:prstGeom prst="rect">
                <a:avLst/>
              </a:prstGeom>
              <a:blipFill rotWithShape="1">
                <a:blip r:embed="rId4"/>
                <a:stretch>
                  <a:fillRect t="-132" b="136"/>
                </a:stretch>
              </a:blipFill>
            </p:spPr>
            <p:txBody>
              <a:bodyPr/>
              <a:lstStyle/>
              <a:p>
                <a:r>
                  <a:rPr lang="zh-CN" altLang="en-US">
                    <a:noFill/>
                  </a:rPr>
                  <a:t> </a:t>
                </a:r>
              </a:p>
            </p:txBody>
          </p:sp>
        </mc:Fallback>
      </mc:AlternateContent>
      <p:cxnSp>
        <p:nvCxnSpPr>
          <p:cNvPr id="55" name="Straight Arrow Connector 54"/>
          <p:cNvCxnSpPr/>
          <p:nvPr/>
        </p:nvCxnSpPr>
        <p:spPr>
          <a:xfrm flipV="1">
            <a:off x="6014574" y="1187679"/>
            <a:ext cx="387457" cy="418454"/>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56" name="TextBox 55"/>
          <p:cNvSpPr txBox="1"/>
          <p:nvPr/>
        </p:nvSpPr>
        <p:spPr>
          <a:xfrm>
            <a:off x="6402031" y="890643"/>
            <a:ext cx="2031325" cy="461665"/>
          </a:xfrm>
          <a:prstGeom prst="rect">
            <a:avLst/>
          </a:prstGeom>
          <a:noFill/>
        </p:spPr>
        <p:txBody>
          <a:bodyPr wrap="none" rtlCol="0">
            <a:spAutoFit/>
          </a:bodyPr>
          <a:lstStyle/>
          <a:p>
            <a:r>
              <a:rPr lang="zh-CN" altLang="en-US" sz="2400" dirty="0">
                <a:solidFill>
                  <a:srgbClr val="7030A0"/>
                </a:solidFill>
                <a:latin typeface="楷体" panose="02010609060101010101" pitchFamily="49" charset="-122"/>
                <a:ea typeface="楷体" panose="02010609060101010101" pitchFamily="49" charset="-122"/>
              </a:rPr>
              <a:t>初始栈底符号</a:t>
            </a:r>
            <a:endParaRPr lang="en-AU" sz="2400" dirty="0">
              <a:solidFill>
                <a:srgbClr val="7030A0"/>
              </a:solidFill>
              <a:latin typeface="楷体" panose="02010609060101010101" pitchFamily="49" charset="-122"/>
              <a:ea typeface="楷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66</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800" dirty="0">
                    <a:latin typeface="Times New Roman" panose="02020603050405020304" pitchFamily="18" charset="0"/>
                    <a:cs typeface="Times New Roman" panose="02020603050405020304" pitchFamily="18" charset="0"/>
                  </a:rPr>
                  <a:t>根据语言</a:t>
                </a:r>
                <a14:m>
                  <m:oMath xmlns:m="http://schemas.openxmlformats.org/officeDocument/2006/math">
                    <m:r>
                      <a:rPr lang="en-AU" altLang="zh-CN" sz="2800" i="1" dirty="0" smtClean="0">
                        <a:latin typeface="Cambria Math" panose="02040503050406030204" pitchFamily="18" charset="0"/>
                      </a:rPr>
                      <m:t>𝐿</m:t>
                    </m:r>
                    <m:r>
                      <a:rPr lang="en-AU" altLang="zh-CN" sz="2800" i="1" dirty="0" smtClean="0">
                        <a:latin typeface="Cambria Math" panose="02040503050406030204" pitchFamily="18" charset="0"/>
                      </a:rPr>
                      <m:t> = {</m:t>
                    </m:r>
                    <m:sSup>
                      <m:sSupPr>
                        <m:ctrlPr>
                          <a:rPr lang="en-AU" altLang="zh-CN" sz="2800" i="1" dirty="0" smtClean="0">
                            <a:latin typeface="Cambria Math" panose="02040503050406030204" pitchFamily="18" charset="0"/>
                          </a:rPr>
                        </m:ctrlPr>
                      </m:sSupPr>
                      <m:e>
                        <m:r>
                          <a:rPr lang="en-AU" altLang="zh-CN" sz="2800" b="0" i="1" dirty="0" smtClean="0">
                            <a:latin typeface="Cambria Math" panose="02040503050406030204" pitchFamily="18" charset="0"/>
                          </a:rPr>
                          <m:t>0</m:t>
                        </m:r>
                      </m:e>
                      <m:sup>
                        <m:r>
                          <a:rPr lang="en-AU" altLang="zh-CN" sz="2800" b="0" i="1" dirty="0" smtClean="0">
                            <a:latin typeface="Cambria Math" panose="02040503050406030204" pitchFamily="18" charset="0"/>
                          </a:rPr>
                          <m:t>𝑛</m:t>
                        </m:r>
                      </m:sup>
                    </m:sSup>
                    <m:sSup>
                      <m:sSupPr>
                        <m:ctrlPr>
                          <a:rPr lang="en-AU" altLang="zh-CN" sz="2800" i="1" dirty="0" smtClean="0">
                            <a:latin typeface="Cambria Math" panose="02040503050406030204" pitchFamily="18" charset="0"/>
                          </a:rPr>
                        </m:ctrlPr>
                      </m:sSupPr>
                      <m:e>
                        <m:r>
                          <a:rPr lang="en-AU" altLang="zh-CN" sz="2800" b="0" i="1" dirty="0" smtClean="0">
                            <a:latin typeface="Cambria Math" panose="02040503050406030204" pitchFamily="18" charset="0"/>
                          </a:rPr>
                          <m:t>1</m:t>
                        </m:r>
                      </m:e>
                      <m:sup>
                        <m:r>
                          <a:rPr lang="en-AU" altLang="zh-CN" sz="2800" b="0" i="1" dirty="0" smtClean="0">
                            <a:latin typeface="Cambria Math" panose="02040503050406030204" pitchFamily="18" charset="0"/>
                          </a:rPr>
                          <m:t>𝑚</m:t>
                        </m:r>
                      </m:sup>
                    </m:sSup>
                    <m:r>
                      <a:rPr lang="en-AU" altLang="zh-CN" sz="2800" i="1" dirty="0" smtClean="0">
                        <a:latin typeface="Cambria Math" panose="02040503050406030204" pitchFamily="18" charset="0"/>
                      </a:rPr>
                      <m:t>| 1 ≤ </m:t>
                    </m:r>
                    <m:r>
                      <a:rPr lang="en-AU" altLang="zh-CN" sz="2800" i="1" dirty="0" smtClean="0">
                        <a:latin typeface="Cambria Math" panose="02040503050406030204" pitchFamily="18" charset="0"/>
                      </a:rPr>
                      <m:t>𝑚</m:t>
                    </m:r>
                    <m:r>
                      <a:rPr lang="en-AU" altLang="zh-CN" sz="2800" i="1" dirty="0" smtClean="0">
                        <a:latin typeface="Cambria Math" panose="02040503050406030204" pitchFamily="18" charset="0"/>
                      </a:rPr>
                      <m:t> ≤ </m:t>
                    </m:r>
                    <m:r>
                      <a:rPr lang="en-AU" altLang="zh-CN" sz="2800" i="1" dirty="0" smtClean="0">
                        <a:latin typeface="Cambria Math" panose="02040503050406030204" pitchFamily="18" charset="0"/>
                      </a:rPr>
                      <m:t>𝑛</m:t>
                    </m:r>
                    <m:r>
                      <a:rPr lang="en-AU" altLang="zh-CN" sz="2800" i="1" dirty="0" smtClean="0">
                        <a:latin typeface="Cambria Math" panose="02040503050406030204" pitchFamily="18" charset="0"/>
                      </a:rPr>
                      <m:t>}</m:t>
                    </m:r>
                  </m:oMath>
                </a14:m>
                <a:r>
                  <a:rPr lang="zh-CN" altLang="en-US" sz="2800" dirty="0">
                    <a:latin typeface="Times New Roman" panose="02020603050405020304" pitchFamily="18" charset="0"/>
                    <a:cs typeface="Times New Roman" panose="02020603050405020304" pitchFamily="18" charset="0"/>
                  </a:rPr>
                  <a:t>对应的如下文法，设计相应的</a:t>
                </a:r>
                <a:r>
                  <a:rPr lang="en-US" altLang="zh-CN" sz="2800" dirty="0">
                    <a:latin typeface="Times New Roman" panose="02020603050405020304" pitchFamily="18" charset="0"/>
                    <a:cs typeface="Times New Roman" panose="02020603050405020304" pitchFamily="18" charset="0"/>
                  </a:rPr>
                  <a:t>PDA</a:t>
                </a:r>
                <a:endParaRPr lang="en-AU" altLang="zh-CN" sz="2800" dirty="0">
                  <a:latin typeface="Times New Roman" panose="02020603050405020304" pitchFamily="18" charset="0"/>
                  <a:cs typeface="Times New Roman" panose="020206030504050203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12"/>
                </p:custDataLst>
              </p:nvPr>
            </p:nvSpPr>
            <p:spPr>
              <a:xfrm>
                <a:off x="914400" y="635000"/>
                <a:ext cx="7315200" cy="2143125"/>
              </a:xfrm>
              <a:prstGeom prst="rect">
                <a:avLst/>
              </a:prstGeom>
              <a:blipFill rotWithShape="1">
                <a:blip r:embed="rId13"/>
                <a:stretch>
                  <a:fillRect/>
                </a:stretch>
              </a:blipFill>
            </p:spPr>
            <p:txBody>
              <a:bodyPr/>
              <a:lstStyle/>
              <a:p>
                <a:r>
                  <a:rPr lang="zh-CN" altLang="en-US">
                    <a:noFill/>
                  </a:rPr>
                  <a:t> </a:t>
                </a:r>
              </a:p>
            </p:txBody>
          </p:sp>
        </mc:Fallback>
      </mc:AlternateContent>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mc:AlternateContent xmlns:mc="http://schemas.openxmlformats.org/markup-compatibility/2006" xmlns:a14="http://schemas.microsoft.com/office/drawing/2010/main">
        <mc:Choice Requires="a14">
          <p:sp>
            <p:nvSpPr>
              <p:cNvPr id="15" name="TextBox 11"/>
              <p:cNvSpPr txBox="1"/>
              <p:nvPr/>
            </p:nvSpPr>
            <p:spPr>
              <a:xfrm>
                <a:off x="1391404" y="2828835"/>
                <a:ext cx="3285416" cy="12003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𝑆</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𝐴𝐵</m:t>
                      </m:r>
                    </m:oMath>
                  </m:oMathPara>
                </a14:m>
                <a:endParaRPr lang="en-AU" altLang="zh-CN"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𝐴</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en-AU" altLang="zh-CN" sz="2400" i="1">
                          <a:latin typeface="Cambria Math" panose="02040503050406030204" pitchFamily="18" charset="0"/>
                          <a:ea typeface="Cambria Math" panose="02040503050406030204" pitchFamily="18" charset="0"/>
                        </a:rPr>
                        <m:t>𝐴</m:t>
                      </m:r>
                      <m:r>
                        <a:rPr lang="en-AU" altLang="zh-CN" sz="2400" b="0" i="1" smtClean="0">
                          <a:latin typeface="Cambria Math" panose="02040503050406030204" pitchFamily="18" charset="0"/>
                          <a:ea typeface="Cambria Math" panose="02040503050406030204" pitchFamily="18" charset="0"/>
                        </a:rPr>
                        <m:t>|</m:t>
                      </m:r>
                      <m:r>
                        <a:rPr lang="zh-CN" altLang="en-AU" sz="2400" b="0" i="1" smtClean="0">
                          <a:latin typeface="Cambria Math" panose="02040503050406030204" pitchFamily="18" charset="0"/>
                          <a:ea typeface="Cambria Math" panose="02040503050406030204" pitchFamily="18" charset="0"/>
                        </a:rPr>
                        <m:t>𝜀</m:t>
                      </m:r>
                    </m:oMath>
                  </m:oMathPara>
                </a14:m>
                <a:endParaRPr lang="en-AU" altLang="zh-CN"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ea typeface="Cambria Math" panose="02040503050406030204" pitchFamily="18" charset="0"/>
                        </a:rPr>
                        <m:t>𝐵</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en-AU" altLang="zh-CN" sz="2400" b="0" i="1" smtClean="0">
                          <a:latin typeface="Cambria Math" panose="02040503050406030204" pitchFamily="18" charset="0"/>
                          <a:ea typeface="Cambria Math" panose="02040503050406030204" pitchFamily="18" charset="0"/>
                        </a:rPr>
                        <m:t>𝐵</m:t>
                      </m:r>
                      <m:r>
                        <a:rPr lang="en-AU" altLang="zh-CN" sz="2400" b="0" i="1" smtClean="0">
                          <a:latin typeface="Cambria Math" panose="02040503050406030204" pitchFamily="18" charset="0"/>
                          <a:ea typeface="Cambria Math" panose="02040503050406030204" pitchFamily="18" charset="0"/>
                        </a:rPr>
                        <m:t>1|01</m:t>
                      </m:r>
                    </m:oMath>
                  </m:oMathPara>
                </a14:m>
                <a:endParaRPr lang="en-AU" sz="2400" dirty="0"/>
              </a:p>
            </p:txBody>
          </p:sp>
        </mc:Choice>
        <mc:Fallback xmlns="">
          <p:sp>
            <p:nvSpPr>
              <p:cNvPr id="15" name="TextBox 11"/>
              <p:cNvSpPr txBox="1">
                <a:spLocks noRot="1" noChangeAspect="1" noMove="1" noResize="1" noEditPoints="1" noAdjustHandles="1" noChangeArrowheads="1" noChangeShapeType="1" noTextEdit="1"/>
              </p:cNvSpPr>
              <p:nvPr/>
            </p:nvSpPr>
            <p:spPr>
              <a:xfrm>
                <a:off x="1391404" y="2828835"/>
                <a:ext cx="3285416" cy="1200329"/>
              </a:xfrm>
              <a:prstGeom prst="rect">
                <a:avLst/>
              </a:prstGeom>
              <a:blipFill rotWithShape="1">
                <a:blip r:embed="rId14"/>
                <a:stretch>
                  <a:fillRect l="-4" t="-45" r="1" b="7"/>
                </a:stretch>
              </a:blipFill>
            </p:spPr>
            <p:txBody>
              <a:bodyPr/>
              <a:lstStyle/>
              <a:p>
                <a:r>
                  <a:rPr lang="zh-CN" altLang="en-US">
                    <a:noFill/>
                  </a:rPr>
                  <a:t> </a:t>
                </a:r>
              </a:p>
            </p:txBody>
          </p:sp>
        </mc:Fallback>
      </mc:AlternateContent>
      <p:sp>
        <p:nvSpPr>
          <p:cNvPr id="16" name="TextBox 13"/>
          <p:cNvSpPr txBox="1"/>
          <p:nvPr/>
        </p:nvSpPr>
        <p:spPr>
          <a:xfrm>
            <a:off x="2015566" y="2414391"/>
            <a:ext cx="1968605"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文法产生式</a:t>
            </a:r>
            <a:r>
              <a:rPr lang="en-AU" altLang="zh-CN"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p:grpSp>
        <p:nvGrpSpPr>
          <p:cNvPr id="13" name="组合 12"/>
          <p:cNvGrpSpPr/>
          <p:nvPr>
            <p:custDataLst>
              <p:tags r:id="rId5"/>
            </p:custDataLst>
          </p:nvPr>
        </p:nvGrpSpPr>
        <p:grpSpPr>
          <a:xfrm>
            <a:off x="0" y="0"/>
            <a:ext cx="9144000" cy="635000"/>
            <a:chOff x="0" y="0"/>
            <a:chExt cx="9144000" cy="635000"/>
          </a:xfrm>
        </p:grpSpPr>
        <p:sp>
          <p:nvSpPr>
            <p:cNvPr id="9"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6"/>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14400"/>
                <a:ext cx="8229600" cy="4525963"/>
              </a:xfrm>
            </p:spPr>
            <p:txBody>
              <a:bodyPr>
                <a:normAutofit/>
              </a:bodyPr>
              <a:lstStyle/>
              <a:p>
                <a:r>
                  <a:rPr lang="zh-CN" altLang="en-US" sz="2400" dirty="0"/>
                  <a:t>根据语言</a:t>
                </a:r>
                <a14:m>
                  <m:oMath xmlns:m="http://schemas.openxmlformats.org/officeDocument/2006/math">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 {</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m:t>
                        </m:r>
                      </m:e>
                      <m:sup>
                        <m:r>
                          <a:rPr lang="en-AU" altLang="zh-CN" sz="2400" b="0" i="1" dirty="0" smtClean="0">
                            <a:latin typeface="Cambria Math" panose="02040503050406030204" pitchFamily="18" charset="0"/>
                          </a:rPr>
                          <m:t>𝑛</m:t>
                        </m:r>
                      </m:sup>
                    </m:sSup>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1</m:t>
                        </m:r>
                      </m:e>
                      <m:sup>
                        <m:r>
                          <a:rPr lang="en-AU" altLang="zh-CN" sz="2400" b="0" i="1" dirty="0" smtClean="0">
                            <a:latin typeface="Cambria Math" panose="02040503050406030204" pitchFamily="18" charset="0"/>
                          </a:rPr>
                          <m:t>𝑚</m:t>
                        </m:r>
                      </m:sup>
                    </m:sSup>
                    <m:r>
                      <a:rPr lang="en-AU" altLang="zh-CN" sz="2400" i="1" dirty="0" smtClean="0">
                        <a:latin typeface="Cambria Math" panose="02040503050406030204" pitchFamily="18" charset="0"/>
                      </a:rPr>
                      <m:t>| 1 ≤ </m:t>
                    </m:r>
                    <m:r>
                      <a:rPr lang="en-AU" altLang="zh-CN" sz="2400" i="1" dirty="0" smtClean="0">
                        <a:latin typeface="Cambria Math" panose="02040503050406030204" pitchFamily="18" charset="0"/>
                      </a:rPr>
                      <m:t>𝑚</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𝑛</m:t>
                    </m:r>
                    <m:r>
                      <a:rPr lang="en-AU" altLang="zh-CN" sz="2400" i="1" dirty="0" smtClean="0">
                        <a:latin typeface="Cambria Math" panose="02040503050406030204" pitchFamily="18" charset="0"/>
                      </a:rPr>
                      <m:t>}</m:t>
                    </m:r>
                  </m:oMath>
                </a14:m>
                <a:r>
                  <a:rPr lang="zh-CN" altLang="en-US" sz="2400" dirty="0"/>
                  <a:t>对应的如下文法，设计相应的</a:t>
                </a:r>
                <a:r>
                  <a:rPr lang="en-US" altLang="zh-CN" sz="2400" dirty="0"/>
                  <a:t>PDA</a:t>
                </a:r>
                <a:r>
                  <a:rPr lang="zh-CN" altLang="en-US" sz="2400" dirty="0"/>
                  <a:t>。</a:t>
                </a:r>
                <a:endParaRPr lang="en-AU" altLang="zh-CN" sz="2400" dirty="0"/>
              </a:p>
              <a:p>
                <a:pPr lvl="1"/>
                <a:endParaRPr lang="en-AU" altLang="zh-CN" sz="2000" dirty="0"/>
              </a:p>
              <a:p>
                <a:pPr lvl="1"/>
                <a:endParaRPr lang="en-AU" altLang="zh-CN" sz="2000" dirty="0"/>
              </a:p>
              <a:p>
                <a:endParaRPr lang="en-AU" sz="2400" dirty="0"/>
              </a:p>
              <a:p>
                <a:pPr marL="0" indent="0">
                  <a:buNone/>
                </a:pPr>
                <a:endParaRPr lang="en-AU"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914400"/>
                <a:ext cx="8229600" cy="4525963"/>
              </a:xfrm>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a:xfrm>
            <a:off x="6781800" y="6216650"/>
            <a:ext cx="2133600" cy="365125"/>
          </a:xfrm>
        </p:spPr>
        <p:txBody>
          <a:bodyPr/>
          <a:lstStyle/>
          <a:p>
            <a:fld id="{0662E1F6-9BD6-474C-A82E-E07C3DB67AAE}" type="slidenum">
              <a:rPr lang="en-AU" smtClean="0"/>
              <a:t>67</a:t>
            </a:fld>
            <a:endParaRPr lang="en-AU"/>
          </a:p>
        </p:txBody>
      </p:sp>
      <mc:AlternateContent xmlns:mc="http://schemas.openxmlformats.org/markup-compatibility/2006" xmlns:a14="http://schemas.microsoft.com/office/drawing/2010/main">
        <mc:Choice Requires="a14">
          <p:sp>
            <p:nvSpPr>
              <p:cNvPr id="12" name="TextBox 11"/>
              <p:cNvSpPr txBox="1"/>
              <p:nvPr/>
            </p:nvSpPr>
            <p:spPr>
              <a:xfrm>
                <a:off x="353291" y="2457982"/>
                <a:ext cx="3285416" cy="12003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𝑆</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𝐴𝐵</m:t>
                      </m:r>
                    </m:oMath>
                  </m:oMathPara>
                </a14:m>
                <a:endParaRPr lang="en-AU" altLang="zh-CN"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𝐴</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en-AU" altLang="zh-CN" sz="2400" i="1">
                          <a:latin typeface="Cambria Math" panose="02040503050406030204" pitchFamily="18" charset="0"/>
                          <a:ea typeface="Cambria Math" panose="02040503050406030204" pitchFamily="18" charset="0"/>
                        </a:rPr>
                        <m:t>𝐴</m:t>
                      </m:r>
                      <m:r>
                        <a:rPr lang="en-AU" altLang="zh-CN" sz="2400" b="0" i="1" smtClean="0">
                          <a:latin typeface="Cambria Math" panose="02040503050406030204" pitchFamily="18" charset="0"/>
                          <a:ea typeface="Cambria Math" panose="02040503050406030204" pitchFamily="18" charset="0"/>
                        </a:rPr>
                        <m:t>|</m:t>
                      </m:r>
                      <m:r>
                        <a:rPr lang="zh-CN" altLang="en-AU" sz="2400" b="0" i="1" smtClean="0">
                          <a:latin typeface="Cambria Math" panose="02040503050406030204" pitchFamily="18" charset="0"/>
                          <a:ea typeface="Cambria Math" panose="02040503050406030204" pitchFamily="18" charset="0"/>
                        </a:rPr>
                        <m:t>𝜀</m:t>
                      </m:r>
                    </m:oMath>
                  </m:oMathPara>
                </a14:m>
                <a:endParaRPr lang="en-AU" altLang="zh-CN"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ea typeface="Cambria Math" panose="02040503050406030204" pitchFamily="18" charset="0"/>
                        </a:rPr>
                        <m:t>𝐵</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en-AU" altLang="zh-CN" sz="2400" b="0" i="1" smtClean="0">
                          <a:latin typeface="Cambria Math" panose="02040503050406030204" pitchFamily="18" charset="0"/>
                          <a:ea typeface="Cambria Math" panose="02040503050406030204" pitchFamily="18" charset="0"/>
                        </a:rPr>
                        <m:t>𝐵</m:t>
                      </m:r>
                      <m:r>
                        <a:rPr lang="en-AU" altLang="zh-CN" sz="2400" b="0" i="1" smtClean="0">
                          <a:latin typeface="Cambria Math" panose="02040503050406030204" pitchFamily="18" charset="0"/>
                          <a:ea typeface="Cambria Math" panose="02040503050406030204" pitchFamily="18" charset="0"/>
                        </a:rPr>
                        <m:t>1|01</m:t>
                      </m:r>
                    </m:oMath>
                  </m:oMathPara>
                </a14:m>
                <a:endParaRPr lang="en-AU"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53291" y="2457982"/>
                <a:ext cx="3285416" cy="1200329"/>
              </a:xfrm>
              <a:prstGeom prst="rect">
                <a:avLst/>
              </a:prstGeom>
              <a:blipFill rotWithShape="1">
                <a:blip r:embed="rId4"/>
                <a:stretch>
                  <a:fillRect l="-7" t="-44" r="5" b="6"/>
                </a:stretch>
              </a:blipFill>
            </p:spPr>
            <p:txBody>
              <a:bodyPr/>
              <a:lstStyle/>
              <a:p>
                <a:r>
                  <a:rPr lang="zh-CN" altLang="en-US">
                    <a:noFill/>
                  </a:rPr>
                  <a:t> </a:t>
                </a:r>
              </a:p>
            </p:txBody>
          </p:sp>
        </mc:Fallback>
      </mc:AlternateContent>
      <p:sp>
        <p:nvSpPr>
          <p:cNvPr id="14" name="TextBox 13"/>
          <p:cNvSpPr txBox="1"/>
          <p:nvPr/>
        </p:nvSpPr>
        <p:spPr>
          <a:xfrm>
            <a:off x="977453" y="2043538"/>
            <a:ext cx="1968605"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文法产生式</a:t>
            </a:r>
            <a:r>
              <a:rPr lang="en-AU" altLang="zh-CN"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14400"/>
                <a:ext cx="8229600" cy="4525963"/>
              </a:xfrm>
            </p:spPr>
            <p:txBody>
              <a:bodyPr>
                <a:normAutofit/>
              </a:bodyPr>
              <a:lstStyle/>
              <a:p>
                <a:r>
                  <a:rPr lang="zh-CN" altLang="en-US" sz="2400" dirty="0"/>
                  <a:t>根据语言</a:t>
                </a:r>
                <a14:m>
                  <m:oMath xmlns:m="http://schemas.openxmlformats.org/officeDocument/2006/math">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 {</m:t>
                    </m:r>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0</m:t>
                        </m:r>
                      </m:e>
                      <m:sup>
                        <m:r>
                          <a:rPr lang="en-AU" altLang="zh-CN" sz="2400" b="0" i="1" dirty="0" smtClean="0">
                            <a:latin typeface="Cambria Math" panose="02040503050406030204" pitchFamily="18" charset="0"/>
                          </a:rPr>
                          <m:t>𝑛</m:t>
                        </m:r>
                      </m:sup>
                    </m:sSup>
                    <m:sSup>
                      <m:sSupPr>
                        <m:ctrlPr>
                          <a:rPr lang="en-AU" altLang="zh-CN" sz="2400" i="1" dirty="0" smtClean="0">
                            <a:latin typeface="Cambria Math" panose="02040503050406030204" pitchFamily="18" charset="0"/>
                          </a:rPr>
                        </m:ctrlPr>
                      </m:sSupPr>
                      <m:e>
                        <m:r>
                          <a:rPr lang="en-AU" altLang="zh-CN" sz="2400" b="0" i="1" dirty="0" smtClean="0">
                            <a:latin typeface="Cambria Math" panose="02040503050406030204" pitchFamily="18" charset="0"/>
                          </a:rPr>
                          <m:t>1</m:t>
                        </m:r>
                      </m:e>
                      <m:sup>
                        <m:r>
                          <a:rPr lang="en-AU" altLang="zh-CN" sz="2400" b="0" i="1" dirty="0" smtClean="0">
                            <a:latin typeface="Cambria Math" panose="02040503050406030204" pitchFamily="18" charset="0"/>
                          </a:rPr>
                          <m:t>𝑚</m:t>
                        </m:r>
                      </m:sup>
                    </m:sSup>
                    <m:r>
                      <a:rPr lang="en-AU" altLang="zh-CN" sz="2400" i="1" dirty="0" smtClean="0">
                        <a:latin typeface="Cambria Math" panose="02040503050406030204" pitchFamily="18" charset="0"/>
                      </a:rPr>
                      <m:t>| 1 ≤ </m:t>
                    </m:r>
                    <m:r>
                      <a:rPr lang="en-AU" altLang="zh-CN" sz="2400" i="1" dirty="0" smtClean="0">
                        <a:latin typeface="Cambria Math" panose="02040503050406030204" pitchFamily="18" charset="0"/>
                      </a:rPr>
                      <m:t>𝑚</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𝑛</m:t>
                    </m:r>
                    <m:r>
                      <a:rPr lang="en-AU" altLang="zh-CN" sz="2400" i="1" dirty="0" smtClean="0">
                        <a:latin typeface="Cambria Math" panose="02040503050406030204" pitchFamily="18" charset="0"/>
                      </a:rPr>
                      <m:t>}</m:t>
                    </m:r>
                  </m:oMath>
                </a14:m>
                <a:r>
                  <a:rPr lang="zh-CN" altLang="en-US" sz="2400" dirty="0"/>
                  <a:t>。对应的如下文法，设计相应的</a:t>
                </a:r>
                <a:r>
                  <a:rPr lang="en-US" altLang="zh-CN" sz="2400" dirty="0"/>
                  <a:t>PDA</a:t>
                </a:r>
                <a:r>
                  <a:rPr lang="zh-CN" altLang="en-US" sz="2400" dirty="0"/>
                  <a:t>。</a:t>
                </a:r>
                <a:endParaRPr lang="en-AU" altLang="zh-CN" sz="2400" dirty="0"/>
              </a:p>
              <a:p>
                <a:endParaRPr lang="en-AU" altLang="zh-CN" sz="2400" dirty="0"/>
              </a:p>
              <a:p>
                <a:pPr lvl="1"/>
                <a:endParaRPr lang="en-AU" altLang="zh-CN" sz="2000" dirty="0"/>
              </a:p>
              <a:p>
                <a:pPr lvl="1"/>
                <a:endParaRPr lang="en-AU" altLang="zh-CN" sz="2000" dirty="0"/>
              </a:p>
              <a:p>
                <a:endParaRPr lang="en-AU" sz="2400" dirty="0"/>
              </a:p>
              <a:p>
                <a:pPr marL="0" indent="0">
                  <a:buNone/>
                </a:pPr>
                <a:endParaRPr lang="en-AU"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914400"/>
                <a:ext cx="8229600" cy="4525963"/>
              </a:xfrm>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a:xfrm>
            <a:off x="6781800" y="6216650"/>
            <a:ext cx="2133600" cy="365125"/>
          </a:xfrm>
        </p:spPr>
        <p:txBody>
          <a:bodyPr/>
          <a:lstStyle/>
          <a:p>
            <a:fld id="{0662E1F6-9BD6-474C-A82E-E07C3DB67AAE}" type="slidenum">
              <a:rPr lang="en-AU" smtClean="0"/>
              <a:t>68</a:t>
            </a:fld>
            <a:endParaRPr lang="en-AU"/>
          </a:p>
        </p:txBody>
      </p:sp>
      <mc:AlternateContent xmlns:mc="http://schemas.openxmlformats.org/markup-compatibility/2006" xmlns:a14="http://schemas.microsoft.com/office/drawing/2010/main">
        <mc:Choice Requires="a14">
          <p:sp>
            <p:nvSpPr>
              <p:cNvPr id="8" name="TextBox 7"/>
              <p:cNvSpPr txBox="1"/>
              <p:nvPr/>
            </p:nvSpPr>
            <p:spPr>
              <a:xfrm>
                <a:off x="20233" y="4285961"/>
                <a:ext cx="6015154" cy="1569660"/>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r>
                        <a:rPr lang="el-GR" altLang="zh-CN" sz="2400" i="1" dirty="0" smtClean="0">
                          <a:latin typeface="Cambria Math" panose="02040503050406030204" pitchFamily="18" charset="0"/>
                        </a:rPr>
                        <m:t>𝛿</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zh-CN" altLang="en-AU" sz="2400" b="0" i="1" dirty="0" smtClean="0">
                          <a:latin typeface="Cambria Math" panose="02040503050406030204" pitchFamily="18" charset="0"/>
                        </a:rPr>
                        <m:t>𝜀</m:t>
                      </m:r>
                      <m:r>
                        <a:rPr lang="en-AU" altLang="zh-CN" sz="2400" i="1" dirty="0">
                          <a:latin typeface="Cambria Math" panose="02040503050406030204" pitchFamily="18" charset="0"/>
                        </a:rPr>
                        <m:t>,</m:t>
                      </m:r>
                      <m:r>
                        <a:rPr lang="en-AU" altLang="zh-CN" sz="2400" b="0" i="1" dirty="0" smtClean="0">
                          <a:latin typeface="Cambria Math" panose="02040503050406030204" pitchFamily="18" charset="0"/>
                        </a:rPr>
                        <m:t>𝑆</m:t>
                      </m:r>
                      <m:r>
                        <a:rPr lang="en-AU" altLang="zh-CN" sz="2400" i="1" dirty="0">
                          <a:latin typeface="Cambria Math" panose="02040503050406030204" pitchFamily="18" charset="0"/>
                        </a:rPr>
                        <m:t>)={</m:t>
                      </m:r>
                      <m:d>
                        <m:dPr>
                          <m:ctrlPr>
                            <a:rPr lang="en-AU" altLang="zh-CN" sz="2400" b="0" i="1" dirty="0">
                              <a:latin typeface="Cambria Math" panose="02040503050406030204" pitchFamily="18" charset="0"/>
                            </a:rPr>
                          </m:ctrlPr>
                        </m:dPr>
                        <m:e>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𝐴𝐵</m:t>
                          </m:r>
                        </m:e>
                      </m:d>
                      <m:r>
                        <a:rPr lang="en-AU" altLang="zh-CN" sz="2400" b="0" i="1" dirty="0" smtClean="0">
                          <a:latin typeface="Cambria Math" panose="02040503050406030204" pitchFamily="18" charset="0"/>
                        </a:rPr>
                        <m:t>}</m:t>
                      </m:r>
                    </m:oMath>
                  </m:oMathPara>
                </a14:m>
                <a:endParaRPr lang="en-AU" altLang="zh-CN" sz="2400" dirty="0"/>
              </a:p>
              <a:p>
                <a:pPr lvl="1"/>
                <a14:m>
                  <m:oMathPara xmlns:m="http://schemas.openxmlformats.org/officeDocument/2006/math">
                    <m:oMathParaPr>
                      <m:jc m:val="centerGroup"/>
                    </m:oMathParaPr>
                    <m:oMath xmlns:m="http://schemas.openxmlformats.org/officeDocument/2006/math">
                      <m:r>
                        <a:rPr lang="el-GR" altLang="zh-CN" sz="2400" i="1" dirty="0" smtClean="0">
                          <a:latin typeface="Cambria Math" panose="02040503050406030204" pitchFamily="18" charset="0"/>
                        </a:rPr>
                        <m:t>𝛿</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zh-CN" altLang="en-AU" sz="2400" b="0" i="1" dirty="0" smtClean="0">
                          <a:latin typeface="Cambria Math" panose="02040503050406030204" pitchFamily="18" charset="0"/>
                        </a:rPr>
                        <m:t>𝜀</m:t>
                      </m:r>
                      <m:r>
                        <a:rPr lang="en-AU" altLang="zh-CN" sz="2400" i="1" dirty="0">
                          <a:latin typeface="Cambria Math" panose="02040503050406030204" pitchFamily="18" charset="0"/>
                        </a:rPr>
                        <m:t>,</m:t>
                      </m:r>
                      <m:r>
                        <a:rPr lang="en-AU" altLang="zh-CN" sz="2400" b="0" i="1" dirty="0" smtClean="0">
                          <a:latin typeface="Cambria Math" panose="02040503050406030204" pitchFamily="18" charset="0"/>
                        </a:rPr>
                        <m:t>𝐴</m:t>
                      </m:r>
                      <m:r>
                        <a:rPr lang="en-AU" altLang="zh-CN" sz="2400" i="1" dirty="0">
                          <a:latin typeface="Cambria Math" panose="02040503050406030204" pitchFamily="18" charset="0"/>
                        </a:rPr>
                        <m:t>)={</m:t>
                      </m:r>
                      <m:d>
                        <m:dPr>
                          <m:ctrlPr>
                            <a:rPr lang="en-AU" altLang="zh-CN" sz="2400" b="0" i="1" dirty="0">
                              <a:latin typeface="Cambria Math" panose="02040503050406030204" pitchFamily="18" charset="0"/>
                            </a:rPr>
                          </m:ctrlPr>
                        </m:dPr>
                        <m:e>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,0</m:t>
                          </m:r>
                          <m:r>
                            <a:rPr lang="en-AU" altLang="zh-CN" sz="2400" b="0" i="1" dirty="0" smtClean="0">
                              <a:latin typeface="Cambria Math" panose="02040503050406030204" pitchFamily="18" charset="0"/>
                            </a:rPr>
                            <m:t>𝐴</m:t>
                          </m:r>
                        </m:e>
                      </m:d>
                      <m:r>
                        <a:rPr lang="en-AU" altLang="zh-CN" sz="2400" b="0" i="1" dirty="0" smtClean="0">
                          <a:latin typeface="Cambria Math" panose="02040503050406030204" pitchFamily="18" charset="0"/>
                        </a:rPr>
                        <m:t>,</m:t>
                      </m:r>
                      <m:d>
                        <m:dPr>
                          <m:ctrlPr>
                            <a:rPr lang="en-AU" altLang="zh-CN" sz="2400" i="1" dirty="0">
                              <a:latin typeface="Cambria Math" panose="02040503050406030204" pitchFamily="18" charset="0"/>
                            </a:rPr>
                          </m:ctrlPr>
                        </m:dPr>
                        <m:e>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e>
                      </m:d>
                      <m:r>
                        <a:rPr lang="en-AU" altLang="zh-CN" sz="2400" b="0" i="1" dirty="0" smtClean="0">
                          <a:latin typeface="Cambria Math" panose="02040503050406030204" pitchFamily="18" charset="0"/>
                        </a:rPr>
                        <m:t>}</m:t>
                      </m:r>
                    </m:oMath>
                  </m:oMathPara>
                </a14:m>
                <a:endParaRPr lang="en-AU" altLang="zh-CN" sz="2400" dirty="0"/>
              </a:p>
              <a:p>
                <a:pPr lvl="1"/>
                <a14:m>
                  <m:oMathPara xmlns:m="http://schemas.openxmlformats.org/officeDocument/2006/math">
                    <m:oMathParaPr>
                      <m:jc m:val="centerGroup"/>
                    </m:oMathParaPr>
                    <m:oMath xmlns:m="http://schemas.openxmlformats.org/officeDocument/2006/math">
                      <m:r>
                        <a:rPr lang="el-GR" altLang="zh-CN" sz="2400" i="1" dirty="0" smtClean="0">
                          <a:latin typeface="Cambria Math" panose="02040503050406030204" pitchFamily="18" charset="0"/>
                        </a:rPr>
                        <m:t>𝛿</m:t>
                      </m:r>
                      <m:d>
                        <m:dPr>
                          <m:ctrlPr>
                            <a:rPr lang="en-AU" altLang="zh-CN" sz="2400" b="0" i="1" dirty="0" smtClean="0">
                              <a:latin typeface="Cambria Math" panose="02040503050406030204" pitchFamily="18" charset="0"/>
                            </a:rPr>
                          </m:ctrlPr>
                        </m:dPr>
                        <m:e>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zh-CN" altLang="en-AU" sz="2400" b="0" i="1" dirty="0" smtClean="0">
                              <a:latin typeface="Cambria Math" panose="02040503050406030204" pitchFamily="18" charset="0"/>
                            </a:rPr>
                            <m:t>𝜀</m:t>
                          </m:r>
                          <m:r>
                            <a:rPr lang="en-AU" altLang="zh-CN" sz="2400" i="1" dirty="0">
                              <a:latin typeface="Cambria Math" panose="02040503050406030204" pitchFamily="18" charset="0"/>
                            </a:rPr>
                            <m:t>,</m:t>
                          </m:r>
                          <m:r>
                            <a:rPr lang="en-AU" altLang="zh-CN" sz="2400" b="0" i="1" dirty="0" smtClean="0">
                              <a:latin typeface="Cambria Math" panose="02040503050406030204" pitchFamily="18" charset="0"/>
                            </a:rPr>
                            <m:t>𝐵</m:t>
                          </m:r>
                        </m:e>
                      </m:d>
                      <m:r>
                        <a:rPr lang="en-AU" altLang="zh-CN" sz="2400" i="1" dirty="0">
                          <a:latin typeface="Cambria Math" panose="02040503050406030204" pitchFamily="18" charset="0"/>
                        </a:rPr>
                        <m:t>=</m:t>
                      </m:r>
                      <m:d>
                        <m:dPr>
                          <m:begChr m:val="{"/>
                          <m:endChr m:val="}"/>
                          <m:ctrlPr>
                            <a:rPr lang="en-AU" altLang="zh-CN" sz="2400" b="0" i="1" dirty="0">
                              <a:latin typeface="Cambria Math" panose="02040503050406030204" pitchFamily="18" charset="0"/>
                            </a:rPr>
                          </m:ctrlPr>
                        </m:dPr>
                        <m:e>
                          <m:d>
                            <m:dPr>
                              <m:ctrlPr>
                                <a:rPr lang="en-AU" altLang="zh-CN" sz="2400" b="0" i="1" dirty="0">
                                  <a:latin typeface="Cambria Math" panose="02040503050406030204" pitchFamily="18" charset="0"/>
                                </a:rPr>
                              </m:ctrlPr>
                            </m:dPr>
                            <m:e>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,0</m:t>
                              </m:r>
                              <m:r>
                                <a:rPr lang="en-AU" altLang="zh-CN" sz="2400" b="0" i="1" dirty="0" smtClean="0">
                                  <a:latin typeface="Cambria Math" panose="02040503050406030204" pitchFamily="18" charset="0"/>
                                </a:rPr>
                                <m:t>𝐵</m:t>
                              </m:r>
                              <m:r>
                                <a:rPr lang="en-AU" altLang="zh-CN" sz="2400" b="0" i="1" dirty="0" smtClean="0">
                                  <a:latin typeface="Cambria Math" panose="02040503050406030204" pitchFamily="18" charset="0"/>
                                </a:rPr>
                                <m:t>1</m:t>
                              </m:r>
                            </m:e>
                          </m:d>
                          <m:r>
                            <a:rPr lang="en-AU" altLang="zh-CN" sz="2400" b="0" i="1" dirty="0" smtClean="0">
                              <a:latin typeface="Cambria Math" panose="02040503050406030204" pitchFamily="18" charset="0"/>
                            </a:rPr>
                            <m:t>,</m:t>
                          </m:r>
                          <m:d>
                            <m:dPr>
                              <m:ctrlPr>
                                <a:rPr lang="en-AU" altLang="zh-CN" sz="2400" i="1" dirty="0">
                                  <a:latin typeface="Cambria Math" panose="02040503050406030204" pitchFamily="18" charset="0"/>
                                </a:rPr>
                              </m:ctrlPr>
                            </m:dPr>
                            <m:e>
                              <m:r>
                                <a:rPr lang="en-AU" altLang="zh-CN" sz="2400" i="1" dirty="0">
                                  <a:latin typeface="Cambria Math" panose="02040503050406030204" pitchFamily="18" charset="0"/>
                                </a:rPr>
                                <m:t>𝑞</m:t>
                              </m:r>
                              <m:r>
                                <a:rPr lang="en-AU" altLang="zh-CN" sz="2400" i="1" dirty="0">
                                  <a:latin typeface="Cambria Math" panose="02040503050406030204" pitchFamily="18" charset="0"/>
                                </a:rPr>
                                <m:t>,01</m:t>
                              </m:r>
                            </m:e>
                          </m:d>
                        </m:e>
                      </m:d>
                    </m:oMath>
                  </m:oMathPara>
                </a14:m>
                <a:endParaRPr lang="en-AU" altLang="zh-CN" sz="2400" b="0" i="1" dirty="0">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l-GR" altLang="zh-CN" sz="2400" i="1" dirty="0">
                          <a:latin typeface="Cambria Math" panose="02040503050406030204" pitchFamily="18" charset="0"/>
                        </a:rPr>
                        <m:t>𝛿</m:t>
                      </m:r>
                      <m:d>
                        <m:dPr>
                          <m:ctrlPr>
                            <a:rPr lang="en-AU" altLang="zh-CN" sz="2400" i="1" dirty="0">
                              <a:latin typeface="Cambria Math" panose="02040503050406030204" pitchFamily="18" charset="0"/>
                            </a:rPr>
                          </m:ctrlPr>
                        </m:dPr>
                        <m:e>
                          <m:r>
                            <a:rPr lang="en-AU" altLang="zh-CN" sz="2400" i="1" dirty="0">
                              <a:latin typeface="Cambria Math" panose="02040503050406030204" pitchFamily="18" charset="0"/>
                            </a:rPr>
                            <m:t>𝑞</m:t>
                          </m:r>
                          <m:r>
                            <a:rPr lang="en-AU" altLang="zh-CN" sz="2400" i="1" dirty="0">
                              <a:latin typeface="Cambria Math" panose="02040503050406030204" pitchFamily="18" charset="0"/>
                            </a:rPr>
                            <m:t>,0, 0</m:t>
                          </m:r>
                        </m:e>
                      </m:d>
                      <m:r>
                        <a:rPr lang="en-AU" altLang="zh-CN" sz="2400" i="1" dirty="0">
                          <a:latin typeface="Cambria Math" panose="02040503050406030204" pitchFamily="18" charset="0"/>
                        </a:rPr>
                        <m:t>=</m:t>
                      </m:r>
                      <m:d>
                        <m:dPr>
                          <m:begChr m:val="{"/>
                          <m:endChr m:val="}"/>
                          <m:ctrlPr>
                            <a:rPr lang="en-AU" altLang="zh-CN" sz="2400" i="1" dirty="0">
                              <a:latin typeface="Cambria Math" panose="02040503050406030204" pitchFamily="18" charset="0"/>
                            </a:rPr>
                          </m:ctrlPr>
                        </m:dPr>
                        <m:e>
                          <m:d>
                            <m:dPr>
                              <m:ctrlPr>
                                <a:rPr lang="en-AU" altLang="zh-CN" sz="2400" i="1" dirty="0">
                                  <a:latin typeface="Cambria Math" panose="02040503050406030204" pitchFamily="18" charset="0"/>
                                </a:rPr>
                              </m:ctrlPr>
                            </m:dPr>
                            <m:e>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a:latin typeface="Cambria Math" panose="02040503050406030204" pitchFamily="18" charset="0"/>
                                </a:rPr>
                                <m:t>𝜀</m:t>
                              </m:r>
                            </m:e>
                          </m:d>
                        </m:e>
                      </m:d>
                      <m:r>
                        <a:rPr lang="en-AU" altLang="zh-CN" sz="2400" b="0" i="1" dirty="0" smtClean="0">
                          <a:latin typeface="Cambria Math" panose="02040503050406030204" pitchFamily="18" charset="0"/>
                        </a:rPr>
                        <m:t>, </m:t>
                      </m:r>
                      <m:r>
                        <a:rPr lang="el-GR" altLang="zh-CN" sz="2400" i="1" dirty="0" smtClean="0">
                          <a:latin typeface="Cambria Math" panose="02040503050406030204" pitchFamily="18" charset="0"/>
                        </a:rPr>
                        <m:t>𝛿</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,1, 1)={</m:t>
                      </m:r>
                      <m:d>
                        <m:dPr>
                          <m:ctrlPr>
                            <a:rPr lang="en-AU" altLang="zh-CN" sz="2400" b="0" i="1" dirty="0">
                              <a:latin typeface="Cambria Math" panose="02040503050406030204" pitchFamily="18" charset="0"/>
                            </a:rPr>
                          </m:ctrlPr>
                        </m:dPr>
                        <m:e>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zh-CN" altLang="en-AU" sz="2400" i="1" dirty="0">
                              <a:latin typeface="Cambria Math" panose="02040503050406030204" pitchFamily="18" charset="0"/>
                            </a:rPr>
                            <m:t>𝜀</m:t>
                          </m:r>
                        </m:e>
                      </m:d>
                      <m:r>
                        <a:rPr lang="en-AU" altLang="zh-CN" sz="2400" b="0" i="1" dirty="0" smtClean="0">
                          <a:latin typeface="Cambria Math" panose="02040503050406030204" pitchFamily="18" charset="0"/>
                        </a:rPr>
                        <m:t>}</m:t>
                      </m:r>
                    </m:oMath>
                  </m:oMathPara>
                </a14:m>
                <a:endParaRPr lang="en-AU" altLang="zh-CN"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20233" y="4285961"/>
                <a:ext cx="6015154" cy="1569660"/>
              </a:xfrm>
              <a:prstGeom prst="rect">
                <a:avLst/>
              </a:prstGeom>
              <a:blipFill rotWithShape="1">
                <a:blip r:embed="rId4"/>
                <a:stretch>
                  <a:fillRect l="-9" t="-22" r="-965" b="18"/>
                </a:stretch>
              </a:blipFill>
            </p:spPr>
            <p:txBody>
              <a:bodyPr/>
              <a:lstStyle/>
              <a:p>
                <a:r>
                  <a:rPr lang="zh-CN" altLang="en-US">
                    <a:noFill/>
                  </a:rPr>
                  <a:t> </a:t>
                </a:r>
              </a:p>
            </p:txBody>
          </p:sp>
        </mc:Fallback>
      </mc:AlternateContent>
      <p:sp>
        <p:nvSpPr>
          <p:cNvPr id="10" name="TextBox 9"/>
          <p:cNvSpPr txBox="1"/>
          <p:nvPr/>
        </p:nvSpPr>
        <p:spPr>
          <a:xfrm>
            <a:off x="1052929" y="3724210"/>
            <a:ext cx="2954324" cy="461665"/>
          </a:xfrm>
          <a:prstGeom prst="rect">
            <a:avLst/>
          </a:prstGeom>
          <a:noFill/>
        </p:spPr>
        <p:txBody>
          <a:bodyPr wrap="square">
            <a:spAutoFit/>
          </a:bodyPr>
          <a:lstStyle/>
          <a:p>
            <a:r>
              <a:rPr lang="en-AU" sz="2400" dirty="0">
                <a:latin typeface="Times New Roman" panose="02020603050405020304" pitchFamily="18" charset="0"/>
                <a:ea typeface="楷体" panose="02010609060101010101" pitchFamily="49" charset="-122"/>
                <a:cs typeface="Times New Roman" panose="02020603050405020304" pitchFamily="18" charset="0"/>
              </a:rPr>
              <a:t>PDA</a:t>
            </a:r>
            <a:r>
              <a:rPr lang="zh-CN" altLang="en-US" sz="2400" dirty="0">
                <a:latin typeface="楷体" panose="02010609060101010101" pitchFamily="49" charset="-122"/>
                <a:ea typeface="楷体" panose="02010609060101010101" pitchFamily="49" charset="-122"/>
              </a:rPr>
              <a:t>状态转移函数</a:t>
            </a:r>
            <a:r>
              <a:rPr lang="en-AU" altLang="zh-CN" sz="2400" dirty="0">
                <a:latin typeface="楷体" panose="02010609060101010101" pitchFamily="49" charset="-122"/>
                <a:ea typeface="楷体" panose="02010609060101010101" pitchFamily="49" charset="-122"/>
              </a:rPr>
              <a:t>:</a:t>
            </a:r>
          </a:p>
        </p:txBody>
      </p:sp>
      <mc:AlternateContent xmlns:mc="http://schemas.openxmlformats.org/markup-compatibility/2006" xmlns:a14="http://schemas.microsoft.com/office/drawing/2010/main">
        <mc:Choice Requires="a14">
          <p:sp>
            <p:nvSpPr>
              <p:cNvPr id="12" name="TextBox 11"/>
              <p:cNvSpPr txBox="1"/>
              <p:nvPr/>
            </p:nvSpPr>
            <p:spPr>
              <a:xfrm>
                <a:off x="353291" y="2129874"/>
                <a:ext cx="3285416" cy="12003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𝑆</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𝐴𝐵</m:t>
                      </m:r>
                    </m:oMath>
                  </m:oMathPara>
                </a14:m>
                <a:endParaRPr lang="en-AU" altLang="zh-CN"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𝐴</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en-AU" altLang="zh-CN" sz="2400" i="1">
                          <a:latin typeface="Cambria Math" panose="02040503050406030204" pitchFamily="18" charset="0"/>
                          <a:ea typeface="Cambria Math" panose="02040503050406030204" pitchFamily="18" charset="0"/>
                        </a:rPr>
                        <m:t>𝐴</m:t>
                      </m:r>
                      <m:r>
                        <a:rPr lang="en-AU" altLang="zh-CN" sz="2400" b="0" i="1" smtClean="0">
                          <a:latin typeface="Cambria Math" panose="02040503050406030204" pitchFamily="18" charset="0"/>
                          <a:ea typeface="Cambria Math" panose="02040503050406030204" pitchFamily="18" charset="0"/>
                        </a:rPr>
                        <m:t>|</m:t>
                      </m:r>
                      <m:r>
                        <a:rPr lang="zh-CN" altLang="en-AU" sz="2400" b="0" i="1" smtClean="0">
                          <a:latin typeface="Cambria Math" panose="02040503050406030204" pitchFamily="18" charset="0"/>
                          <a:ea typeface="Cambria Math" panose="02040503050406030204" pitchFamily="18" charset="0"/>
                        </a:rPr>
                        <m:t>𝜀</m:t>
                      </m:r>
                    </m:oMath>
                  </m:oMathPara>
                </a14:m>
                <a:endParaRPr lang="en-AU" altLang="zh-CN"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ea typeface="Cambria Math" panose="02040503050406030204" pitchFamily="18" charset="0"/>
                        </a:rPr>
                        <m:t>𝐵</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en-AU" altLang="zh-CN" sz="2400" b="0" i="1" smtClean="0">
                          <a:latin typeface="Cambria Math" panose="02040503050406030204" pitchFamily="18" charset="0"/>
                          <a:ea typeface="Cambria Math" panose="02040503050406030204" pitchFamily="18" charset="0"/>
                        </a:rPr>
                        <m:t>𝐵</m:t>
                      </m:r>
                      <m:r>
                        <a:rPr lang="en-AU" altLang="zh-CN" sz="2400" b="0" i="1" smtClean="0">
                          <a:latin typeface="Cambria Math" panose="02040503050406030204" pitchFamily="18" charset="0"/>
                          <a:ea typeface="Cambria Math" panose="02040503050406030204" pitchFamily="18" charset="0"/>
                        </a:rPr>
                        <m:t>1|01</m:t>
                      </m:r>
                    </m:oMath>
                  </m:oMathPara>
                </a14:m>
                <a:endParaRPr lang="en-AU"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53291" y="2129874"/>
                <a:ext cx="3285416" cy="1200329"/>
              </a:xfrm>
              <a:prstGeom prst="rect">
                <a:avLst/>
              </a:prstGeom>
              <a:blipFill rotWithShape="1">
                <a:blip r:embed="rId5"/>
                <a:stretch>
                  <a:fillRect l="-7" t="-7" r="5" b="22"/>
                </a:stretch>
              </a:blipFill>
            </p:spPr>
            <p:txBody>
              <a:bodyPr/>
              <a:lstStyle/>
              <a:p>
                <a:r>
                  <a:rPr lang="zh-CN" altLang="en-US">
                    <a:noFill/>
                  </a:rPr>
                  <a:t> </a:t>
                </a:r>
              </a:p>
            </p:txBody>
          </p:sp>
        </mc:Fallback>
      </mc:AlternateContent>
      <p:sp>
        <p:nvSpPr>
          <p:cNvPr id="14" name="TextBox 13"/>
          <p:cNvSpPr txBox="1"/>
          <p:nvPr/>
        </p:nvSpPr>
        <p:spPr>
          <a:xfrm>
            <a:off x="977453" y="1715430"/>
            <a:ext cx="1968605"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文法产生式</a:t>
            </a:r>
            <a:r>
              <a:rPr lang="en-AU" altLang="zh-CN"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p:pic>
        <p:nvPicPr>
          <p:cNvPr id="9" name="Picture 8" descr="Text, whiteboard&#10;&#10;Description automatically generated"/>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32410" y="4225242"/>
            <a:ext cx="2903472" cy="1737511"/>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584200"/>
                <a:ext cx="8229600" cy="4525963"/>
              </a:xfrm>
            </p:spPr>
            <p:txBody>
              <a:bodyPr>
                <a:normAutofit/>
              </a:bodyPr>
              <a:lstStyle/>
              <a:p>
                <a:pPr marL="0" indent="0">
                  <a:buNone/>
                </a:pPr>
                <a:endParaRPr lang="en-AU" sz="2400" dirty="0"/>
              </a:p>
              <a:p>
                <a:r>
                  <a:rPr lang="zh-CN" altLang="en-US" sz="2000" dirty="0">
                    <a:latin typeface="Times New Roman" panose="02020603050405020304" pitchFamily="18" charset="0"/>
                    <a:cs typeface="Times New Roman" panose="02020603050405020304" pitchFamily="18" charset="0"/>
                  </a:rPr>
                  <a:t>识别</a:t>
                </a:r>
                <a:r>
                  <a:rPr lang="en-AU" altLang="zh-CN" sz="2000" dirty="0">
                    <a:latin typeface="Times New Roman" panose="02020603050405020304" pitchFamily="18" charset="0"/>
                    <a:cs typeface="Times New Roman" panose="02020603050405020304" pitchFamily="18" charset="0"/>
                  </a:rPr>
                  <a:t>00011</a:t>
                </a:r>
                <a:r>
                  <a:rPr lang="zh-CN" altLang="en-US" sz="2000" dirty="0">
                    <a:latin typeface="Times New Roman" panose="02020603050405020304" pitchFamily="18" charset="0"/>
                    <a:cs typeface="Times New Roman" panose="02020603050405020304" pitchFamily="18" charset="0"/>
                  </a:rPr>
                  <a:t>为例：</a:t>
                </a:r>
                <a:r>
                  <a:rPr lang="en-AU" altLang="zh-CN" sz="2000" dirty="0">
                    <a:latin typeface="Times New Roman" panose="02020603050405020304" pitchFamily="18" charset="0"/>
                    <a:cs typeface="Times New Roman" panose="02020603050405020304" pitchFamily="18" charset="0"/>
                  </a:rPr>
                  <a:t> </a:t>
                </a:r>
                <a14:m>
                  <m:oMath xmlns:m="http://schemas.openxmlformats.org/officeDocument/2006/math">
                    <m:r>
                      <a:rPr lang="en-AU" altLang="zh-CN" sz="2000" b="0" i="1" smtClean="0">
                        <a:latin typeface="Cambria Math" panose="02040503050406030204" pitchFamily="18" charset="0"/>
                        <a:cs typeface="Times New Roman" panose="02020603050405020304" pitchFamily="18" charset="0"/>
                      </a:rPr>
                      <m:t>𝑆</m:t>
                    </m:r>
                    <m:r>
                      <a:rPr lang="en-AU"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latin typeface="Cambria Math" panose="02040503050406030204" pitchFamily="18" charset="0"/>
                        <a:cs typeface="Times New Roman" panose="02020603050405020304" pitchFamily="18" charset="0"/>
                      </a:rPr>
                      <m:t>𝐴𝐵</m:t>
                    </m:r>
                    <m:r>
                      <a:rPr lang="en-AU"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𝐴𝐵</m:t>
                    </m:r>
                    <m:r>
                      <a:rPr lang="en-AU"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𝐵</m:t>
                    </m:r>
                    <m:r>
                      <a:rPr lang="en-AU"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00</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𝐵</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1⟹00011</m:t>
                    </m:r>
                  </m:oMath>
                </a14:m>
                <a:endParaRPr lang="en-AU" sz="2000" dirty="0">
                  <a:latin typeface="Times New Roman" panose="02020603050405020304" pitchFamily="18" charset="0"/>
                  <a:cs typeface="Times New Roman" panose="02020603050405020304" pitchFamily="18" charset="0"/>
                </a:endParaRPr>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584200"/>
                <a:ext cx="8229600" cy="4525963"/>
              </a:xfrm>
              <a:blipFill rotWithShape="1">
                <a:blip r:embed="rId3"/>
                <a:stretch>
                  <a:fillRect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955688" y="2405714"/>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𝐴</m:t>
                      </m:r>
                    </m:oMath>
                  </m:oMathPara>
                </a14:m>
                <a:endParaRPr lang="en-AU" dirty="0"/>
              </a:p>
            </p:txBody>
          </p:sp>
        </mc:Choice>
        <mc:Fallback xmlns="">
          <p:sp>
            <p:nvSpPr>
              <p:cNvPr id="15" name="Rectangle 14"/>
              <p:cNvSpPr>
                <a:spLocks noRot="1" noChangeAspect="1" noMove="1" noResize="1" noEditPoints="1" noAdjustHandles="1" noChangeArrowheads="1" noChangeShapeType="1" noTextEdit="1"/>
              </p:cNvSpPr>
              <p:nvPr/>
            </p:nvSpPr>
            <p:spPr>
              <a:xfrm>
                <a:off x="955688" y="2405714"/>
                <a:ext cx="445865" cy="402606"/>
              </a:xfrm>
              <a:prstGeom prst="rect">
                <a:avLst/>
              </a:prstGeom>
              <a:blipFill rotWithShape="1">
                <a:blip r:embed="rId4"/>
                <a:stretch>
                  <a:fillRect l="-2139" t="-2449" r="-2112" b="-2279"/>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125511" y="2752210"/>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𝑆</m:t>
                      </m:r>
                    </m:oMath>
                  </m:oMathPara>
                </a14:m>
                <a:endParaRPr lang="en-AU" dirty="0"/>
              </a:p>
            </p:txBody>
          </p:sp>
        </mc:Choice>
        <mc:Fallback xmlns="">
          <p:sp>
            <p:nvSpPr>
              <p:cNvPr id="17" name="Rectangle 16"/>
              <p:cNvSpPr>
                <a:spLocks noRot="1" noChangeAspect="1" noMove="1" noResize="1" noEditPoints="1" noAdjustHandles="1" noChangeArrowheads="1" noChangeShapeType="1" noTextEdit="1"/>
              </p:cNvSpPr>
              <p:nvPr/>
            </p:nvSpPr>
            <p:spPr>
              <a:xfrm>
                <a:off x="125511" y="2752210"/>
                <a:ext cx="445865" cy="402606"/>
              </a:xfrm>
              <a:prstGeom prst="rect">
                <a:avLst/>
              </a:prstGeom>
              <a:blipFill rotWithShape="1">
                <a:blip r:embed="rId5"/>
                <a:stretch>
                  <a:fillRect l="-2230" t="-2396" r="-2022" b="-2332"/>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955689" y="2808320"/>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𝐵</m:t>
                      </m:r>
                    </m:oMath>
                  </m:oMathPara>
                </a14:m>
                <a:endParaRPr lang="en-AU" dirty="0"/>
              </a:p>
            </p:txBody>
          </p:sp>
        </mc:Choice>
        <mc:Fallback xmlns="">
          <p:sp>
            <p:nvSpPr>
              <p:cNvPr id="18" name="Rectangle 17"/>
              <p:cNvSpPr>
                <a:spLocks noRot="1" noChangeAspect="1" noMove="1" noResize="1" noEditPoints="1" noAdjustHandles="1" noChangeArrowheads="1" noChangeShapeType="1" noTextEdit="1"/>
              </p:cNvSpPr>
              <p:nvPr/>
            </p:nvSpPr>
            <p:spPr>
              <a:xfrm>
                <a:off x="955689" y="2808320"/>
                <a:ext cx="445865" cy="402606"/>
              </a:xfrm>
              <a:prstGeom prst="rect">
                <a:avLst/>
              </a:prstGeom>
              <a:blipFill rotWithShape="1">
                <a:blip r:embed="rId6"/>
                <a:stretch>
                  <a:fillRect l="-2139" t="-2453" r="-2112" b="-2275"/>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788320" y="2405714"/>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𝐴</m:t>
                      </m:r>
                    </m:oMath>
                  </m:oMathPara>
                </a14:m>
                <a:endParaRPr lang="en-AU" dirty="0"/>
              </a:p>
            </p:txBody>
          </p:sp>
        </mc:Choice>
        <mc:Fallback xmlns="">
          <p:sp>
            <p:nvSpPr>
              <p:cNvPr id="13" name="Rectangle 12"/>
              <p:cNvSpPr>
                <a:spLocks noRot="1" noChangeAspect="1" noMove="1" noResize="1" noEditPoints="1" noAdjustHandles="1" noChangeArrowheads="1" noChangeShapeType="1" noTextEdit="1"/>
              </p:cNvSpPr>
              <p:nvPr/>
            </p:nvSpPr>
            <p:spPr>
              <a:xfrm>
                <a:off x="1788320" y="2405714"/>
                <a:ext cx="445865" cy="402606"/>
              </a:xfrm>
              <a:prstGeom prst="rect">
                <a:avLst/>
              </a:prstGeom>
              <a:blipFill rotWithShape="1">
                <a:blip r:embed="rId4"/>
                <a:stretch>
                  <a:fillRect l="-2172" t="-2449" r="-2079" b="-2279"/>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788321" y="2808320"/>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𝐵</m:t>
                      </m:r>
                    </m:oMath>
                  </m:oMathPara>
                </a14:m>
                <a:endParaRPr lang="en-AU" dirty="0"/>
              </a:p>
            </p:txBody>
          </p:sp>
        </mc:Choice>
        <mc:Fallback xmlns="">
          <p:sp>
            <p:nvSpPr>
              <p:cNvPr id="16" name="Rectangle 15"/>
              <p:cNvSpPr>
                <a:spLocks noRot="1" noChangeAspect="1" noMove="1" noResize="1" noEditPoints="1" noAdjustHandles="1" noChangeArrowheads="1" noChangeShapeType="1" noTextEdit="1"/>
              </p:cNvSpPr>
              <p:nvPr/>
            </p:nvSpPr>
            <p:spPr>
              <a:xfrm>
                <a:off x="1788321" y="2808320"/>
                <a:ext cx="445865" cy="402606"/>
              </a:xfrm>
              <a:prstGeom prst="rect">
                <a:avLst/>
              </a:prstGeom>
              <a:blipFill rotWithShape="1">
                <a:blip r:embed="rId6"/>
                <a:stretch>
                  <a:fillRect l="-2172" t="-2453" r="-2079" b="-2275"/>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788320" y="1998339"/>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0</m:t>
                      </m:r>
                    </m:oMath>
                  </m:oMathPara>
                </a14:m>
                <a:endParaRPr lang="en-AU" dirty="0"/>
              </a:p>
            </p:txBody>
          </p:sp>
        </mc:Choice>
        <mc:Fallback xmlns="">
          <p:sp>
            <p:nvSpPr>
              <p:cNvPr id="19" name="Rectangle 18"/>
              <p:cNvSpPr>
                <a:spLocks noRot="1" noChangeAspect="1" noMove="1" noResize="1" noEditPoints="1" noAdjustHandles="1" noChangeArrowheads="1" noChangeShapeType="1" noTextEdit="1"/>
              </p:cNvSpPr>
              <p:nvPr/>
            </p:nvSpPr>
            <p:spPr>
              <a:xfrm>
                <a:off x="1788320" y="1998339"/>
                <a:ext cx="445865" cy="402606"/>
              </a:xfrm>
              <a:prstGeom prst="rect">
                <a:avLst/>
              </a:prstGeom>
              <a:blipFill rotWithShape="1">
                <a:blip r:embed="rId7"/>
                <a:stretch>
                  <a:fillRect l="-2172" t="-2522" r="-2079" b="-2363"/>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2712921" y="2390190"/>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𝐴</m:t>
                      </m:r>
                    </m:oMath>
                  </m:oMathPara>
                </a14:m>
                <a:endParaRPr lang="en-AU" dirty="0"/>
              </a:p>
            </p:txBody>
          </p:sp>
        </mc:Choice>
        <mc:Fallback xmlns="">
          <p:sp>
            <p:nvSpPr>
              <p:cNvPr id="20" name="Rectangle 19"/>
              <p:cNvSpPr>
                <a:spLocks noRot="1" noChangeAspect="1" noMove="1" noResize="1" noEditPoints="1" noAdjustHandles="1" noChangeArrowheads="1" noChangeShapeType="1" noTextEdit="1"/>
              </p:cNvSpPr>
              <p:nvPr/>
            </p:nvSpPr>
            <p:spPr>
              <a:xfrm>
                <a:off x="2712921" y="2390190"/>
                <a:ext cx="445865" cy="402606"/>
              </a:xfrm>
              <a:prstGeom prst="rect">
                <a:avLst/>
              </a:prstGeom>
              <a:blipFill rotWithShape="1">
                <a:blip r:embed="rId4"/>
                <a:stretch>
                  <a:fillRect l="-2181" t="-2378" r="-2070" b="-2349"/>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712922" y="2792796"/>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𝐵</m:t>
                      </m:r>
                    </m:oMath>
                  </m:oMathPara>
                </a14:m>
                <a:endParaRPr lang="en-AU" dirty="0"/>
              </a:p>
            </p:txBody>
          </p:sp>
        </mc:Choice>
        <mc:Fallback xmlns="">
          <p:sp>
            <p:nvSpPr>
              <p:cNvPr id="21" name="Rectangle 20"/>
              <p:cNvSpPr>
                <a:spLocks noRot="1" noChangeAspect="1" noMove="1" noResize="1" noEditPoints="1" noAdjustHandles="1" noChangeArrowheads="1" noChangeShapeType="1" noTextEdit="1"/>
              </p:cNvSpPr>
              <p:nvPr/>
            </p:nvSpPr>
            <p:spPr>
              <a:xfrm>
                <a:off x="2712922" y="2792796"/>
                <a:ext cx="445865" cy="402606"/>
              </a:xfrm>
              <a:prstGeom prst="rect">
                <a:avLst/>
              </a:prstGeom>
              <a:blipFill rotWithShape="1">
                <a:blip r:embed="rId6"/>
                <a:stretch>
                  <a:fillRect l="-2182" t="-2382" r="-2070" b="-2345"/>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451191" y="2782738"/>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𝐵</m:t>
                      </m:r>
                    </m:oMath>
                  </m:oMathPara>
                </a14:m>
                <a:endParaRPr lang="en-AU" dirty="0"/>
              </a:p>
            </p:txBody>
          </p:sp>
        </mc:Choice>
        <mc:Fallback xmlns="">
          <p:sp>
            <p:nvSpPr>
              <p:cNvPr id="23" name="Rectangle 22"/>
              <p:cNvSpPr>
                <a:spLocks noRot="1" noChangeAspect="1" noMove="1" noResize="1" noEditPoints="1" noAdjustHandles="1" noChangeArrowheads="1" noChangeShapeType="1" noTextEdit="1"/>
              </p:cNvSpPr>
              <p:nvPr/>
            </p:nvSpPr>
            <p:spPr>
              <a:xfrm>
                <a:off x="3451191" y="2782738"/>
                <a:ext cx="445865" cy="402606"/>
              </a:xfrm>
              <a:prstGeom prst="rect">
                <a:avLst/>
              </a:prstGeom>
              <a:blipFill rotWithShape="1">
                <a:blip r:embed="rId6"/>
                <a:stretch>
                  <a:fillRect l="-2271" t="-2408" r="-2123" b="-2320"/>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4183133" y="2802734"/>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oMath>
                  </m:oMathPara>
                </a14:m>
                <a:endParaRPr lang="en-AU" dirty="0"/>
              </a:p>
            </p:txBody>
          </p:sp>
        </mc:Choice>
        <mc:Fallback xmlns="">
          <p:sp>
            <p:nvSpPr>
              <p:cNvPr id="24" name="Rectangle 23"/>
              <p:cNvSpPr>
                <a:spLocks noRot="1" noChangeAspect="1" noMove="1" noResize="1" noEditPoints="1" noAdjustHandles="1" noChangeArrowheads="1" noChangeShapeType="1" noTextEdit="1"/>
              </p:cNvSpPr>
              <p:nvPr/>
            </p:nvSpPr>
            <p:spPr>
              <a:xfrm>
                <a:off x="4183133" y="2802734"/>
                <a:ext cx="445865" cy="402606"/>
              </a:xfrm>
              <a:prstGeom prst="rect">
                <a:avLst/>
              </a:prstGeom>
              <a:blipFill rotWithShape="1">
                <a:blip r:embed="rId8"/>
                <a:stretch>
                  <a:fillRect l="-2223" t="-2485" r="-2028" b="-2243"/>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4182658" y="2378437"/>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𝐵</m:t>
                      </m:r>
                    </m:oMath>
                  </m:oMathPara>
                </a14:m>
                <a:endParaRPr lang="en-AU" dirty="0"/>
              </a:p>
            </p:txBody>
          </p:sp>
        </mc:Choice>
        <mc:Fallback xmlns="">
          <p:sp>
            <p:nvSpPr>
              <p:cNvPr id="25" name="Rectangle 24"/>
              <p:cNvSpPr>
                <a:spLocks noRot="1" noChangeAspect="1" noMove="1" noResize="1" noEditPoints="1" noAdjustHandles="1" noChangeArrowheads="1" noChangeShapeType="1" noTextEdit="1"/>
              </p:cNvSpPr>
              <p:nvPr/>
            </p:nvSpPr>
            <p:spPr>
              <a:xfrm>
                <a:off x="4182658" y="2378437"/>
                <a:ext cx="445865" cy="402606"/>
              </a:xfrm>
              <a:prstGeom prst="rect">
                <a:avLst/>
              </a:prstGeom>
              <a:blipFill rotWithShape="1">
                <a:blip r:embed="rId6"/>
                <a:stretch>
                  <a:fillRect l="-2259" t="-2456" r="-2135" b="-2272"/>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4182657" y="1961391"/>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0</m:t>
                      </m:r>
                    </m:oMath>
                  </m:oMathPara>
                </a14:m>
                <a:endParaRPr lang="en-AU" dirty="0"/>
              </a:p>
            </p:txBody>
          </p:sp>
        </mc:Choice>
        <mc:Fallback xmlns="">
          <p:sp>
            <p:nvSpPr>
              <p:cNvPr id="26" name="Rectangle 25"/>
              <p:cNvSpPr>
                <a:spLocks noRot="1" noChangeAspect="1" noMove="1" noResize="1" noEditPoints="1" noAdjustHandles="1" noChangeArrowheads="1" noChangeShapeType="1" noTextEdit="1"/>
              </p:cNvSpPr>
              <p:nvPr/>
            </p:nvSpPr>
            <p:spPr>
              <a:xfrm>
                <a:off x="4182657" y="1961391"/>
                <a:ext cx="445865" cy="402606"/>
              </a:xfrm>
              <a:prstGeom prst="rect">
                <a:avLst/>
              </a:prstGeom>
              <a:blipFill rotWithShape="1">
                <a:blip r:embed="rId7"/>
                <a:stretch>
                  <a:fillRect l="-2259" t="-2493" r="-2135" b="-2235"/>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5180965" y="2772503"/>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oMath>
                  </m:oMathPara>
                </a14:m>
                <a:endParaRPr lang="en-AU" dirty="0"/>
              </a:p>
            </p:txBody>
          </p:sp>
        </mc:Choice>
        <mc:Fallback xmlns="">
          <p:sp>
            <p:nvSpPr>
              <p:cNvPr id="27" name="Rectangle 26"/>
              <p:cNvSpPr>
                <a:spLocks noRot="1" noChangeAspect="1" noMove="1" noResize="1" noEditPoints="1" noAdjustHandles="1" noChangeArrowheads="1" noChangeShapeType="1" noTextEdit="1"/>
              </p:cNvSpPr>
              <p:nvPr/>
            </p:nvSpPr>
            <p:spPr>
              <a:xfrm>
                <a:off x="5180965" y="2772503"/>
                <a:ext cx="445865" cy="402606"/>
              </a:xfrm>
              <a:prstGeom prst="rect">
                <a:avLst/>
              </a:prstGeom>
              <a:blipFill rotWithShape="1">
                <a:blip r:embed="rId8"/>
                <a:stretch>
                  <a:fillRect l="-2136" t="-2389" r="-2115" b="-2339"/>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5180965" y="2349604"/>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𝐵</m:t>
                      </m:r>
                    </m:oMath>
                  </m:oMathPara>
                </a14:m>
                <a:endParaRPr lang="en-AU" dirty="0"/>
              </a:p>
            </p:txBody>
          </p:sp>
        </mc:Choice>
        <mc:Fallback xmlns="">
          <p:sp>
            <p:nvSpPr>
              <p:cNvPr id="28" name="Rectangle 27"/>
              <p:cNvSpPr>
                <a:spLocks noRot="1" noChangeAspect="1" noMove="1" noResize="1" noEditPoints="1" noAdjustHandles="1" noChangeArrowheads="1" noChangeShapeType="1" noTextEdit="1"/>
              </p:cNvSpPr>
              <p:nvPr/>
            </p:nvSpPr>
            <p:spPr>
              <a:xfrm>
                <a:off x="5180965" y="2349604"/>
                <a:ext cx="445865" cy="402606"/>
              </a:xfrm>
              <a:prstGeom prst="rect">
                <a:avLst/>
              </a:prstGeom>
              <a:blipFill rotWithShape="1">
                <a:blip r:embed="rId6"/>
                <a:stretch>
                  <a:fillRect l="-2136" t="-2392" r="-2115" b="-2336"/>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5978005" y="2776475"/>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oMath>
                  </m:oMathPara>
                </a14:m>
                <a:endParaRPr lang="en-AU" dirty="0"/>
              </a:p>
            </p:txBody>
          </p:sp>
        </mc:Choice>
        <mc:Fallback xmlns="">
          <p:sp>
            <p:nvSpPr>
              <p:cNvPr id="29" name="Rectangle 28"/>
              <p:cNvSpPr>
                <a:spLocks noRot="1" noChangeAspect="1" noMove="1" noResize="1" noEditPoints="1" noAdjustHandles="1" noChangeArrowheads="1" noChangeShapeType="1" noTextEdit="1"/>
              </p:cNvSpPr>
              <p:nvPr/>
            </p:nvSpPr>
            <p:spPr>
              <a:xfrm>
                <a:off x="5978005" y="2776475"/>
                <a:ext cx="445865" cy="402606"/>
              </a:xfrm>
              <a:prstGeom prst="rect">
                <a:avLst/>
              </a:prstGeom>
              <a:blipFill rotWithShape="1">
                <a:blip r:embed="rId8"/>
                <a:stretch>
                  <a:fillRect l="-2162" t="-2429" r="-2089" b="-2299"/>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5978005" y="2353576"/>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oMath>
                  </m:oMathPara>
                </a14:m>
                <a:endParaRPr lang="en-AU" dirty="0"/>
              </a:p>
            </p:txBody>
          </p:sp>
        </mc:Choice>
        <mc:Fallback xmlns="">
          <p:sp>
            <p:nvSpPr>
              <p:cNvPr id="30" name="Rectangle 29"/>
              <p:cNvSpPr>
                <a:spLocks noRot="1" noChangeAspect="1" noMove="1" noResize="1" noEditPoints="1" noAdjustHandles="1" noChangeArrowheads="1" noChangeShapeType="1" noTextEdit="1"/>
              </p:cNvSpPr>
              <p:nvPr/>
            </p:nvSpPr>
            <p:spPr>
              <a:xfrm>
                <a:off x="5978005" y="2353576"/>
                <a:ext cx="445865" cy="402606"/>
              </a:xfrm>
              <a:prstGeom prst="rect">
                <a:avLst/>
              </a:prstGeom>
              <a:blipFill rotWithShape="1">
                <a:blip r:embed="rId8"/>
                <a:stretch>
                  <a:fillRect l="-2162" t="-2432" r="-2089" b="-2296"/>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5978005" y="1930677"/>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0</m:t>
                      </m:r>
                    </m:oMath>
                  </m:oMathPara>
                </a14:m>
                <a:endParaRPr lang="en-AU" dirty="0"/>
              </a:p>
            </p:txBody>
          </p:sp>
        </mc:Choice>
        <mc:Fallback xmlns="">
          <p:sp>
            <p:nvSpPr>
              <p:cNvPr id="31" name="Rectangle 30"/>
              <p:cNvSpPr>
                <a:spLocks noRot="1" noChangeAspect="1" noMove="1" noResize="1" noEditPoints="1" noAdjustHandles="1" noChangeArrowheads="1" noChangeShapeType="1" noTextEdit="1"/>
              </p:cNvSpPr>
              <p:nvPr/>
            </p:nvSpPr>
            <p:spPr>
              <a:xfrm>
                <a:off x="5978005" y="1930677"/>
                <a:ext cx="445865" cy="402606"/>
              </a:xfrm>
              <a:prstGeom prst="rect">
                <a:avLst/>
              </a:prstGeom>
              <a:blipFill rotWithShape="1">
                <a:blip r:embed="rId7"/>
                <a:stretch>
                  <a:fillRect l="-2162" t="-2435" r="-2089" b="-2293"/>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6846342" y="2756778"/>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oMath>
                  </m:oMathPara>
                </a14:m>
                <a:endParaRPr lang="en-AU" dirty="0"/>
              </a:p>
            </p:txBody>
          </p:sp>
        </mc:Choice>
        <mc:Fallback xmlns="">
          <p:sp>
            <p:nvSpPr>
              <p:cNvPr id="32" name="Rectangle 31"/>
              <p:cNvSpPr>
                <a:spLocks noRot="1" noChangeAspect="1" noMove="1" noResize="1" noEditPoints="1" noAdjustHandles="1" noChangeArrowheads="1" noChangeShapeType="1" noTextEdit="1"/>
              </p:cNvSpPr>
              <p:nvPr/>
            </p:nvSpPr>
            <p:spPr>
              <a:xfrm>
                <a:off x="6846342" y="2756778"/>
                <a:ext cx="445865" cy="402606"/>
              </a:xfrm>
              <a:prstGeom prst="rect">
                <a:avLst/>
              </a:prstGeom>
              <a:blipFill rotWithShape="1">
                <a:blip r:embed="rId8"/>
                <a:stretch>
                  <a:fillRect l="-2228" t="-2426" r="-2024" b="-2302"/>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6845691" y="2339991"/>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oMath>
                  </m:oMathPara>
                </a14:m>
                <a:endParaRPr lang="en-AU" dirty="0"/>
              </a:p>
            </p:txBody>
          </p:sp>
        </mc:Choice>
        <mc:Fallback xmlns="">
          <p:sp>
            <p:nvSpPr>
              <p:cNvPr id="33" name="Rectangle 32"/>
              <p:cNvSpPr>
                <a:spLocks noRot="1" noChangeAspect="1" noMove="1" noResize="1" noEditPoints="1" noAdjustHandles="1" noChangeArrowheads="1" noChangeShapeType="1" noTextEdit="1"/>
              </p:cNvSpPr>
              <p:nvPr/>
            </p:nvSpPr>
            <p:spPr>
              <a:xfrm>
                <a:off x="6845691" y="2339991"/>
                <a:ext cx="445865" cy="402606"/>
              </a:xfrm>
              <a:prstGeom prst="rect">
                <a:avLst/>
              </a:prstGeom>
              <a:blipFill rotWithShape="1">
                <a:blip r:embed="rId8"/>
                <a:stretch>
                  <a:fillRect l="-2224" t="-2370" r="-2027" b="-2358"/>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7709361" y="2772503"/>
                <a:ext cx="445865" cy="402606"/>
              </a:xfrm>
              <a:prstGeom prst="rect">
                <a:avLst/>
              </a:prstGeom>
              <a:ln w="19050">
                <a:solidFill>
                  <a:schemeClr val="accent2"/>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1</m:t>
                      </m:r>
                    </m:oMath>
                  </m:oMathPara>
                </a14:m>
                <a:endParaRPr lang="en-AU" dirty="0"/>
              </a:p>
            </p:txBody>
          </p:sp>
        </mc:Choice>
        <mc:Fallback xmlns="">
          <p:sp>
            <p:nvSpPr>
              <p:cNvPr id="34" name="Rectangle 33"/>
              <p:cNvSpPr>
                <a:spLocks noRot="1" noChangeAspect="1" noMove="1" noResize="1" noEditPoints="1" noAdjustHandles="1" noChangeArrowheads="1" noChangeShapeType="1" noTextEdit="1"/>
              </p:cNvSpPr>
              <p:nvPr/>
            </p:nvSpPr>
            <p:spPr>
              <a:xfrm>
                <a:off x="7709361" y="2772503"/>
                <a:ext cx="445865" cy="402606"/>
              </a:xfrm>
              <a:prstGeom prst="rect">
                <a:avLst/>
              </a:prstGeom>
              <a:blipFill rotWithShape="1">
                <a:blip r:embed="rId8"/>
                <a:stretch>
                  <a:fillRect l="-2240" t="-2389" r="-2012" b="-2339"/>
                </a:stretch>
              </a:blipFill>
              <a:ln w="19050">
                <a:solidFill>
                  <a:schemeClr val="accent2"/>
                </a:solidFill>
              </a:ln>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p:cxnSp>
        <p:nvCxnSpPr>
          <p:cNvPr id="6" name="Straight Connector 5"/>
          <p:cNvCxnSpPr/>
          <p:nvPr/>
        </p:nvCxnSpPr>
        <p:spPr>
          <a:xfrm>
            <a:off x="8538720" y="3179081"/>
            <a:ext cx="365760" cy="0"/>
          </a:xfrm>
          <a:prstGeom prst="line">
            <a:avLst/>
          </a:prstGeom>
        </p:spPr>
        <p:style>
          <a:lnRef idx="3">
            <a:schemeClr val="accent2"/>
          </a:lnRef>
          <a:fillRef idx="0">
            <a:schemeClr val="accent2"/>
          </a:fillRef>
          <a:effectRef idx="2">
            <a:schemeClr val="accent2"/>
          </a:effectRef>
          <a:fontRef idx="minor">
            <a:schemeClr val="tx1"/>
          </a:fontRef>
        </p:style>
      </p:cxnSp>
      <p:sp>
        <p:nvSpPr>
          <p:cNvPr id="7" name="Arrow: Down 6"/>
          <p:cNvSpPr/>
          <p:nvPr/>
        </p:nvSpPr>
        <p:spPr>
          <a:xfrm>
            <a:off x="1146650" y="3418263"/>
            <a:ext cx="159890" cy="214319"/>
          </a:xfrm>
          <a:prstGeom prst="downArrow">
            <a:avLst/>
          </a:prstGeom>
          <a:solidFill>
            <a:schemeClr val="accent3"/>
          </a:solid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dirty="0"/>
          </a:p>
        </p:txBody>
      </p:sp>
      <p:cxnSp>
        <p:nvCxnSpPr>
          <p:cNvPr id="11" name="Straight Connector 10"/>
          <p:cNvCxnSpPr/>
          <p:nvPr/>
        </p:nvCxnSpPr>
        <p:spPr>
          <a:xfrm>
            <a:off x="3929" y="3290796"/>
            <a:ext cx="9023087" cy="0"/>
          </a:xfrm>
          <a:prstGeom prst="line">
            <a:avLst/>
          </a:prstGeom>
          <a:ln>
            <a:prstDash val="dash"/>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36" name="TextBox 35"/>
              <p:cNvSpPr txBox="1"/>
              <p:nvPr/>
            </p:nvSpPr>
            <p:spPr>
              <a:xfrm>
                <a:off x="-223662" y="3570435"/>
                <a:ext cx="104664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000" b="0" i="1" smtClean="0">
                          <a:latin typeface="Cambria Math" panose="02040503050406030204" pitchFamily="18" charset="0"/>
                          <a:cs typeface="Times New Roman" panose="02020603050405020304" pitchFamily="18" charset="0"/>
                        </a:rPr>
                        <m:t>𝑆</m:t>
                      </m:r>
                    </m:oMath>
                  </m:oMathPara>
                </a14:m>
                <a:endParaRPr lang="en-AU" sz="2000" dirty="0"/>
              </a:p>
            </p:txBody>
          </p:sp>
        </mc:Choice>
        <mc:Fallback xmlns="">
          <p:sp>
            <p:nvSpPr>
              <p:cNvPr id="36" name="TextBox 35"/>
              <p:cNvSpPr txBox="1">
                <a:spLocks noRot="1" noChangeAspect="1" noMove="1" noResize="1" noEditPoints="1" noAdjustHandles="1" noChangeArrowheads="1" noChangeShapeType="1" noTextEdit="1"/>
              </p:cNvSpPr>
              <p:nvPr/>
            </p:nvSpPr>
            <p:spPr>
              <a:xfrm>
                <a:off x="-223662" y="3570435"/>
                <a:ext cx="1046648" cy="400110"/>
              </a:xfrm>
              <a:prstGeom prst="rect">
                <a:avLst/>
              </a:prstGeom>
              <a:blipFill rotWithShape="1">
                <a:blip r:embed="rId9"/>
                <a:stretch>
                  <a:fillRect l="14" t="-116" r="2" b="1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763059" y="3655302"/>
                <a:ext cx="909129"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000" i="1" smtClean="0">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latin typeface="Cambria Math" panose="02040503050406030204" pitchFamily="18" charset="0"/>
                          <a:cs typeface="Times New Roman" panose="02020603050405020304" pitchFamily="18" charset="0"/>
                        </a:rPr>
                        <m:t>𝐴𝐵</m:t>
                      </m:r>
                    </m:oMath>
                  </m:oMathPara>
                </a14:m>
                <a:endParaRPr lang="en-AU" sz="2000" dirty="0"/>
              </a:p>
            </p:txBody>
          </p:sp>
        </mc:Choice>
        <mc:Fallback xmlns="">
          <p:sp>
            <p:nvSpPr>
              <p:cNvPr id="38" name="TextBox 37"/>
              <p:cNvSpPr txBox="1">
                <a:spLocks noRot="1" noChangeAspect="1" noMove="1" noResize="1" noEditPoints="1" noAdjustHandles="1" noChangeArrowheads="1" noChangeShapeType="1" noTextEdit="1"/>
              </p:cNvSpPr>
              <p:nvPr/>
            </p:nvSpPr>
            <p:spPr>
              <a:xfrm>
                <a:off x="763059" y="3655302"/>
                <a:ext cx="909129" cy="400110"/>
              </a:xfrm>
              <a:prstGeom prst="rect">
                <a:avLst/>
              </a:prstGeom>
              <a:blipFill rotWithShape="1">
                <a:blip r:embed="rId10"/>
                <a:stretch>
                  <a:fillRect l="-47" t="-60" r="26" b="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1300141" y="3664640"/>
                <a:ext cx="162476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000" i="1" smtClean="0">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𝐴𝐵</m:t>
                      </m:r>
                    </m:oMath>
                  </m:oMathPara>
                </a14:m>
                <a:endParaRPr lang="en-AU" sz="2000" dirty="0"/>
              </a:p>
            </p:txBody>
          </p:sp>
        </mc:Choice>
        <mc:Fallback xmlns="">
          <p:sp>
            <p:nvSpPr>
              <p:cNvPr id="42" name="TextBox 41"/>
              <p:cNvSpPr txBox="1">
                <a:spLocks noRot="1" noChangeAspect="1" noMove="1" noResize="1" noEditPoints="1" noAdjustHandles="1" noChangeArrowheads="1" noChangeShapeType="1" noTextEdit="1"/>
              </p:cNvSpPr>
              <p:nvPr/>
            </p:nvSpPr>
            <p:spPr>
              <a:xfrm>
                <a:off x="1300141" y="3664640"/>
                <a:ext cx="1624761" cy="400110"/>
              </a:xfrm>
              <a:prstGeom prst="rect">
                <a:avLst/>
              </a:prstGeom>
              <a:blipFill rotWithShape="1">
                <a:blip r:embed="rId11"/>
                <a:stretch>
                  <a:fillRect l="-18" t="-14" r="6" b="29"/>
                </a:stretch>
              </a:blipFill>
            </p:spPr>
            <p:txBody>
              <a:bodyPr/>
              <a:lstStyle/>
              <a:p>
                <a:r>
                  <a:rPr lang="zh-CN" altLang="en-US">
                    <a:noFill/>
                  </a:rPr>
                  <a:t> </a:t>
                </a:r>
              </a:p>
            </p:txBody>
          </p:sp>
        </mc:Fallback>
      </mc:AlternateContent>
      <p:sp>
        <p:nvSpPr>
          <p:cNvPr id="43" name="Arrow: Down 42"/>
          <p:cNvSpPr/>
          <p:nvPr/>
        </p:nvSpPr>
        <p:spPr>
          <a:xfrm>
            <a:off x="2005823" y="3417445"/>
            <a:ext cx="159890" cy="214319"/>
          </a:xfrm>
          <a:prstGeom prst="downArrow">
            <a:avLst/>
          </a:prstGeom>
          <a:solidFill>
            <a:schemeClr val="accent3"/>
          </a:solid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dirty="0"/>
          </a:p>
        </p:txBody>
      </p:sp>
      <p:cxnSp>
        <p:nvCxnSpPr>
          <p:cNvPr id="45" name="Straight Arrow Connector 44"/>
          <p:cNvCxnSpPr/>
          <p:nvPr/>
        </p:nvCxnSpPr>
        <p:spPr>
          <a:xfrm>
            <a:off x="2255102" y="2936641"/>
            <a:ext cx="3657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46" name="TextBox 45"/>
              <p:cNvSpPr txBox="1"/>
              <p:nvPr/>
            </p:nvSpPr>
            <p:spPr>
              <a:xfrm>
                <a:off x="2354172" y="2596810"/>
                <a:ext cx="20037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b="0" i="1" smtClean="0">
                          <a:solidFill>
                            <a:srgbClr val="0070C0"/>
                          </a:solidFill>
                          <a:latin typeface="Cambria Math" panose="02040503050406030204" pitchFamily="18" charset="0"/>
                        </a:rPr>
                        <m:t>0</m:t>
                      </m:r>
                    </m:oMath>
                  </m:oMathPara>
                </a14:m>
                <a:endParaRPr lang="en-AU" sz="2000" dirty="0">
                  <a:solidFill>
                    <a:srgbClr val="0070C0"/>
                  </a:solidFil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2354172" y="2596810"/>
                <a:ext cx="200376" cy="307777"/>
              </a:xfrm>
              <a:prstGeom prst="rect">
                <a:avLst/>
              </a:prstGeom>
              <a:blipFill rotWithShape="1">
                <a:blip r:embed="rId12"/>
                <a:stretch>
                  <a:fillRect l="-113" t="-96" r="-13972" b="32"/>
                </a:stretch>
              </a:blipFill>
            </p:spPr>
            <p:txBody>
              <a:bodyPr/>
              <a:lstStyle/>
              <a:p>
                <a:r>
                  <a:rPr lang="zh-CN" altLang="en-US">
                    <a:noFill/>
                  </a:rPr>
                  <a:t> </a:t>
                </a:r>
              </a:p>
            </p:txBody>
          </p:sp>
        </mc:Fallback>
      </mc:AlternateContent>
      <p:sp>
        <p:nvSpPr>
          <p:cNvPr id="47" name="Arrow: Down 46"/>
          <p:cNvSpPr/>
          <p:nvPr/>
        </p:nvSpPr>
        <p:spPr>
          <a:xfrm>
            <a:off x="4405589" y="3431868"/>
            <a:ext cx="159890" cy="214319"/>
          </a:xfrm>
          <a:prstGeom prst="downArrow">
            <a:avLst/>
          </a:prstGeom>
          <a:solidFill>
            <a:schemeClr val="accent3"/>
          </a:solid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dirty="0"/>
          </a:p>
        </p:txBody>
      </p:sp>
      <mc:AlternateContent xmlns:mc="http://schemas.openxmlformats.org/markup-compatibility/2006" xmlns:a14="http://schemas.microsoft.com/office/drawing/2010/main">
        <mc:Choice Requires="a14">
          <p:sp>
            <p:nvSpPr>
              <p:cNvPr id="48" name="TextBox 47"/>
              <p:cNvSpPr txBox="1"/>
              <p:nvPr/>
            </p:nvSpPr>
            <p:spPr>
              <a:xfrm>
                <a:off x="2815424" y="3656474"/>
                <a:ext cx="162476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000" i="1" smtClean="0">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𝐵</m:t>
                      </m:r>
                    </m:oMath>
                  </m:oMathPara>
                </a14:m>
                <a:endParaRPr lang="en-AU" sz="2000" dirty="0"/>
              </a:p>
            </p:txBody>
          </p:sp>
        </mc:Choice>
        <mc:Fallback xmlns="">
          <p:sp>
            <p:nvSpPr>
              <p:cNvPr id="48" name="TextBox 47"/>
              <p:cNvSpPr txBox="1">
                <a:spLocks noRot="1" noChangeAspect="1" noMove="1" noResize="1" noEditPoints="1" noAdjustHandles="1" noChangeArrowheads="1" noChangeShapeType="1" noTextEdit="1"/>
              </p:cNvSpPr>
              <p:nvPr/>
            </p:nvSpPr>
            <p:spPr>
              <a:xfrm>
                <a:off x="2815424" y="3656474"/>
                <a:ext cx="1624761" cy="400110"/>
              </a:xfrm>
              <a:prstGeom prst="rect">
                <a:avLst/>
              </a:prstGeom>
              <a:blipFill rotWithShape="1">
                <a:blip r:embed="rId13"/>
                <a:stretch>
                  <a:fillRect l="-29" t="-36" r="16" b="51"/>
                </a:stretch>
              </a:blipFill>
            </p:spPr>
            <p:txBody>
              <a:bodyPr/>
              <a:lstStyle/>
              <a:p>
                <a:r>
                  <a:rPr lang="zh-CN" altLang="en-US">
                    <a:noFill/>
                  </a:rPr>
                  <a:t> </a:t>
                </a:r>
              </a:p>
            </p:txBody>
          </p:sp>
        </mc:Fallback>
      </mc:AlternateContent>
      <p:sp>
        <p:nvSpPr>
          <p:cNvPr id="49" name="Arrow: Down 48"/>
          <p:cNvSpPr/>
          <p:nvPr/>
        </p:nvSpPr>
        <p:spPr>
          <a:xfrm>
            <a:off x="3607034" y="3416247"/>
            <a:ext cx="159890" cy="214319"/>
          </a:xfrm>
          <a:prstGeom prst="downArrow">
            <a:avLst/>
          </a:prstGeom>
          <a:solidFill>
            <a:schemeClr val="accent3"/>
          </a:solid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dirty="0"/>
          </a:p>
        </p:txBody>
      </p:sp>
      <mc:AlternateContent xmlns:mc="http://schemas.openxmlformats.org/markup-compatibility/2006" xmlns:a14="http://schemas.microsoft.com/office/drawing/2010/main">
        <mc:Choice Requires="a14">
          <p:sp>
            <p:nvSpPr>
              <p:cNvPr id="50" name="TextBox 49"/>
              <p:cNvSpPr txBox="1"/>
              <p:nvPr/>
            </p:nvSpPr>
            <p:spPr>
              <a:xfrm>
                <a:off x="3900420" y="3630344"/>
                <a:ext cx="162476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000" i="1" smtClean="0">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𝐵</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en-AU" sz="2000" dirty="0"/>
              </a:p>
            </p:txBody>
          </p:sp>
        </mc:Choice>
        <mc:Fallback xmlns="">
          <p:sp>
            <p:nvSpPr>
              <p:cNvPr id="50" name="TextBox 49"/>
              <p:cNvSpPr txBox="1">
                <a:spLocks noRot="1" noChangeAspect="1" noMove="1" noResize="1" noEditPoints="1" noAdjustHandles="1" noChangeArrowheads="1" noChangeShapeType="1" noTextEdit="1"/>
              </p:cNvSpPr>
              <p:nvPr/>
            </p:nvSpPr>
            <p:spPr>
              <a:xfrm>
                <a:off x="3900420" y="3630344"/>
                <a:ext cx="1624761" cy="400110"/>
              </a:xfrm>
              <a:prstGeom prst="rect">
                <a:avLst/>
              </a:prstGeom>
              <a:blipFill rotWithShape="1">
                <a:blip r:embed="rId14"/>
                <a:stretch>
                  <a:fillRect l="-15" t="-12" r="3" b="27"/>
                </a:stretch>
              </a:blipFill>
            </p:spPr>
            <p:txBody>
              <a:bodyPr/>
              <a:lstStyle/>
              <a:p>
                <a:r>
                  <a:rPr lang="zh-CN" altLang="en-US">
                    <a:noFill/>
                  </a:rPr>
                  <a:t> </a:t>
                </a:r>
              </a:p>
            </p:txBody>
          </p:sp>
        </mc:Fallback>
      </mc:AlternateContent>
      <p:cxnSp>
        <p:nvCxnSpPr>
          <p:cNvPr id="51" name="Straight Arrow Connector 50"/>
          <p:cNvCxnSpPr/>
          <p:nvPr/>
        </p:nvCxnSpPr>
        <p:spPr>
          <a:xfrm>
            <a:off x="4694261" y="3004037"/>
            <a:ext cx="4572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4794492" y="2713726"/>
                <a:ext cx="20037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b="0" i="1" smtClean="0">
                          <a:solidFill>
                            <a:srgbClr val="FF0000"/>
                          </a:solidFill>
                          <a:latin typeface="Cambria Math" panose="02040503050406030204" pitchFamily="18" charset="0"/>
                        </a:rPr>
                        <m:t>0</m:t>
                      </m:r>
                    </m:oMath>
                  </m:oMathPara>
                </a14:m>
                <a:endParaRPr lang="en-AU" sz="2000" dirty="0">
                  <a:solidFill>
                    <a:srgbClr val="FF0000"/>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4794492" y="2713726"/>
                <a:ext cx="200376" cy="307777"/>
              </a:xfrm>
              <a:prstGeom prst="rect">
                <a:avLst/>
              </a:prstGeom>
              <a:blipFill rotWithShape="1">
                <a:blip r:embed="rId15"/>
                <a:stretch>
                  <a:fillRect l="-121" t="-121" r="-13965" b="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7764537" y="3600495"/>
                <a:ext cx="162476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000" i="1" smtClean="0">
                          <a:latin typeface="Cambria Math" panose="02040503050406030204" pitchFamily="18" charset="0"/>
                          <a:ea typeface="Cambria Math" panose="02040503050406030204" pitchFamily="18" charset="0"/>
                          <a:cs typeface="Times New Roman" panose="02020603050405020304" pitchFamily="18" charset="0"/>
                        </a:rPr>
                        <m:t>⟹</m:t>
                      </m:r>
                      <m:r>
                        <a:rPr lang="en-AU" altLang="zh-CN" sz="20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0</m:t>
                      </m:r>
                      <m:r>
                        <a:rPr lang="en-AU" altLang="zh-CN" sz="2000" b="0" i="1" smtClean="0">
                          <a:latin typeface="Cambria Math" panose="02040503050406030204" pitchFamily="18" charset="0"/>
                          <a:ea typeface="Cambria Math" panose="02040503050406030204" pitchFamily="18" charset="0"/>
                          <a:cs typeface="Times New Roman" panose="02020603050405020304" pitchFamily="18" charset="0"/>
                        </a:rPr>
                        <m:t>11</m:t>
                      </m:r>
                    </m:oMath>
                  </m:oMathPara>
                </a14:m>
                <a:endParaRPr lang="en-AU" sz="2000" dirty="0"/>
              </a:p>
            </p:txBody>
          </p:sp>
        </mc:Choice>
        <mc:Fallback xmlns="">
          <p:sp>
            <p:nvSpPr>
              <p:cNvPr id="53" name="TextBox 52"/>
              <p:cNvSpPr txBox="1">
                <a:spLocks noRot="1" noChangeAspect="1" noMove="1" noResize="1" noEditPoints="1" noAdjustHandles="1" noChangeArrowheads="1" noChangeShapeType="1" noTextEdit="1"/>
              </p:cNvSpPr>
              <p:nvPr/>
            </p:nvSpPr>
            <p:spPr>
              <a:xfrm>
                <a:off x="7764537" y="3600495"/>
                <a:ext cx="1624761" cy="400110"/>
              </a:xfrm>
              <a:prstGeom prst="rect">
                <a:avLst/>
              </a:prstGeom>
              <a:blipFill rotWithShape="1">
                <a:blip r:embed="rId16"/>
                <a:stretch>
                  <a:fillRect l="-24" t="-11" r="12" b="26"/>
                </a:stretch>
              </a:blipFill>
            </p:spPr>
            <p:txBody>
              <a:bodyPr/>
              <a:lstStyle/>
              <a:p>
                <a:r>
                  <a:rPr lang="zh-CN" altLang="en-US">
                    <a:noFill/>
                  </a:rPr>
                  <a:t> </a:t>
                </a:r>
              </a:p>
            </p:txBody>
          </p:sp>
        </mc:Fallback>
      </mc:AlternateContent>
      <p:sp>
        <p:nvSpPr>
          <p:cNvPr id="54" name="Arrow: Down 53"/>
          <p:cNvSpPr/>
          <p:nvPr/>
        </p:nvSpPr>
        <p:spPr>
          <a:xfrm>
            <a:off x="8561710" y="3394916"/>
            <a:ext cx="159890" cy="214319"/>
          </a:xfrm>
          <a:prstGeom prst="downArrow">
            <a:avLst/>
          </a:prstGeom>
          <a:solidFill>
            <a:schemeClr val="accent3"/>
          </a:solid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dirty="0"/>
          </a:p>
        </p:txBody>
      </p:sp>
      <p:cxnSp>
        <p:nvCxnSpPr>
          <p:cNvPr id="55" name="Straight Arrow Connector 54"/>
          <p:cNvCxnSpPr/>
          <p:nvPr/>
        </p:nvCxnSpPr>
        <p:spPr>
          <a:xfrm>
            <a:off x="6452781" y="2986370"/>
            <a:ext cx="3657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56" name="TextBox 55"/>
              <p:cNvSpPr txBox="1"/>
              <p:nvPr/>
            </p:nvSpPr>
            <p:spPr>
              <a:xfrm>
                <a:off x="6498469" y="2685775"/>
                <a:ext cx="20037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b="0" i="1" smtClean="0">
                          <a:solidFill>
                            <a:srgbClr val="7030A0"/>
                          </a:solidFill>
                          <a:latin typeface="Cambria Math" panose="02040503050406030204" pitchFamily="18" charset="0"/>
                        </a:rPr>
                        <m:t>0</m:t>
                      </m:r>
                    </m:oMath>
                  </m:oMathPara>
                </a14:m>
                <a:endParaRPr lang="en-AU" sz="2000" dirty="0">
                  <a:solidFill>
                    <a:srgbClr val="7030A0"/>
                  </a:solidFill>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6498469" y="2685775"/>
                <a:ext cx="200376" cy="307777"/>
              </a:xfrm>
              <a:prstGeom prst="rect">
                <a:avLst/>
              </a:prstGeom>
              <a:blipFill rotWithShape="1">
                <a:blip r:embed="rId17"/>
                <a:stretch>
                  <a:fillRect l="-257" t="-117" r="-13829" b="53"/>
                </a:stretch>
              </a:blipFill>
            </p:spPr>
            <p:txBody>
              <a:bodyPr/>
              <a:lstStyle/>
              <a:p>
                <a:r>
                  <a:rPr lang="zh-CN" altLang="en-US">
                    <a:noFill/>
                  </a:rPr>
                  <a:t> </a:t>
                </a:r>
              </a:p>
            </p:txBody>
          </p:sp>
        </mc:Fallback>
      </mc:AlternateContent>
      <p:cxnSp>
        <p:nvCxnSpPr>
          <p:cNvPr id="57" name="Straight Arrow Connector 56"/>
          <p:cNvCxnSpPr/>
          <p:nvPr/>
        </p:nvCxnSpPr>
        <p:spPr>
          <a:xfrm>
            <a:off x="7324551" y="2993552"/>
            <a:ext cx="3657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58" name="TextBox 57"/>
              <p:cNvSpPr txBox="1"/>
              <p:nvPr/>
            </p:nvSpPr>
            <p:spPr>
              <a:xfrm>
                <a:off x="7342414" y="2694484"/>
                <a:ext cx="20037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1</m:t>
                      </m:r>
                    </m:oMath>
                  </m:oMathPara>
                </a14:m>
                <a:endParaRPr lang="en-AU" sz="2000" dirty="0"/>
              </a:p>
            </p:txBody>
          </p:sp>
        </mc:Choice>
        <mc:Fallback xmlns="">
          <p:sp>
            <p:nvSpPr>
              <p:cNvPr id="58" name="TextBox 57"/>
              <p:cNvSpPr txBox="1">
                <a:spLocks noRot="1" noChangeAspect="1" noMove="1" noResize="1" noEditPoints="1" noAdjustHandles="1" noChangeArrowheads="1" noChangeShapeType="1" noTextEdit="1"/>
              </p:cNvSpPr>
              <p:nvPr/>
            </p:nvSpPr>
            <p:spPr>
              <a:xfrm>
                <a:off x="7342414" y="2694484"/>
                <a:ext cx="200376" cy="307777"/>
              </a:xfrm>
              <a:prstGeom prst="rect">
                <a:avLst/>
              </a:prstGeom>
              <a:blipFill rotWithShape="1">
                <a:blip r:embed="rId18"/>
                <a:stretch>
                  <a:fillRect l="-271" t="-58" r="-13814" b="200"/>
                </a:stretch>
              </a:blipFill>
            </p:spPr>
            <p:txBody>
              <a:bodyPr/>
              <a:lstStyle/>
              <a:p>
                <a:r>
                  <a:rPr lang="zh-CN" altLang="en-US">
                    <a:noFill/>
                  </a:rPr>
                  <a:t> </a:t>
                </a:r>
              </a:p>
            </p:txBody>
          </p:sp>
        </mc:Fallback>
      </mc:AlternateContent>
      <p:cxnSp>
        <p:nvCxnSpPr>
          <p:cNvPr id="59" name="Straight Arrow Connector 58"/>
          <p:cNvCxnSpPr/>
          <p:nvPr/>
        </p:nvCxnSpPr>
        <p:spPr>
          <a:xfrm>
            <a:off x="8211158" y="3014321"/>
            <a:ext cx="3657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60" name="TextBox 59"/>
              <p:cNvSpPr txBox="1"/>
              <p:nvPr/>
            </p:nvSpPr>
            <p:spPr>
              <a:xfrm>
                <a:off x="8256846" y="2713726"/>
                <a:ext cx="20037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1</m:t>
                      </m:r>
                    </m:oMath>
                  </m:oMathPara>
                </a14:m>
                <a:endParaRPr lang="en-AU" sz="2000" dirty="0"/>
              </a:p>
            </p:txBody>
          </p:sp>
        </mc:Choice>
        <mc:Fallback xmlns="">
          <p:sp>
            <p:nvSpPr>
              <p:cNvPr id="60" name="TextBox 59"/>
              <p:cNvSpPr txBox="1">
                <a:spLocks noRot="1" noChangeAspect="1" noMove="1" noResize="1" noEditPoints="1" noAdjustHandles="1" noChangeArrowheads="1" noChangeShapeType="1" noTextEdit="1"/>
              </p:cNvSpPr>
              <p:nvPr/>
            </p:nvSpPr>
            <p:spPr>
              <a:xfrm>
                <a:off x="8256846" y="2713726"/>
                <a:ext cx="200376" cy="307777"/>
              </a:xfrm>
              <a:prstGeom prst="rect">
                <a:avLst/>
              </a:prstGeom>
              <a:blipFill rotWithShape="1">
                <a:blip r:embed="rId18"/>
                <a:stretch>
                  <a:fillRect l="-287" t="-121" r="-13798" b="56"/>
                </a:stretch>
              </a:blipFill>
            </p:spPr>
            <p:txBody>
              <a:bodyPr/>
              <a:lstStyle/>
              <a:p>
                <a:r>
                  <a:rPr lang="zh-CN" altLang="en-US">
                    <a:noFill/>
                  </a:rPr>
                  <a:t> </a:t>
                </a:r>
              </a:p>
            </p:txBody>
          </p:sp>
        </mc:Fallback>
      </mc:AlternateContent>
      <p:cxnSp>
        <p:nvCxnSpPr>
          <p:cNvPr id="61" name="Straight Arrow Connector 60"/>
          <p:cNvCxnSpPr/>
          <p:nvPr/>
        </p:nvCxnSpPr>
        <p:spPr>
          <a:xfrm>
            <a:off x="625899" y="2978300"/>
            <a:ext cx="27432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p:cNvCxnSpPr/>
          <p:nvPr/>
        </p:nvCxnSpPr>
        <p:spPr>
          <a:xfrm>
            <a:off x="1476339" y="3002123"/>
            <a:ext cx="27432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p:cNvCxnSpPr/>
          <p:nvPr/>
        </p:nvCxnSpPr>
        <p:spPr>
          <a:xfrm>
            <a:off x="3158786" y="2968610"/>
            <a:ext cx="27432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a:off x="3908337" y="3002123"/>
            <a:ext cx="27432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5" name="Straight Arrow Connector 64"/>
          <p:cNvCxnSpPr/>
          <p:nvPr/>
        </p:nvCxnSpPr>
        <p:spPr>
          <a:xfrm>
            <a:off x="5692351" y="3021503"/>
            <a:ext cx="27432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TextBox 65"/>
          <p:cNvSpPr txBox="1"/>
          <p:nvPr/>
        </p:nvSpPr>
        <p:spPr>
          <a:xfrm>
            <a:off x="209061" y="1396896"/>
            <a:ext cx="9289723" cy="400110"/>
          </a:xfrm>
          <a:prstGeom prst="rect">
            <a:avLst/>
          </a:prstGeom>
          <a:noFill/>
        </p:spPr>
        <p:txBody>
          <a:bodyPr wrap="none" rtlCol="0">
            <a:spAutoFit/>
          </a:bodyPr>
          <a:lstStyle/>
          <a:p>
            <a:r>
              <a:rPr lang="zh-CN" altLang="en-US" sz="2000" dirty="0">
                <a:latin typeface="楷体" panose="02010609060101010101" pitchFamily="49" charset="-122"/>
                <a:ea typeface="楷体" panose="02010609060101010101" pitchFamily="49" charset="-122"/>
              </a:rPr>
              <a:t>栈的动作（只针对正确的路径，实际运转中因非确定性会产生其他</a:t>
            </a:r>
            <a:r>
              <a:rPr lang="en-AU" altLang="zh-CN" sz="2000" dirty="0">
                <a:latin typeface="楷体" panose="02010609060101010101" pitchFamily="49" charset="-122"/>
                <a:ea typeface="楷体" panose="02010609060101010101" pitchFamily="49" charset="-122"/>
              </a:rPr>
              <a:t>dead paths</a:t>
            </a:r>
            <a:r>
              <a:rPr lang="zh-CN" altLang="en-US" sz="2000" dirty="0">
                <a:latin typeface="楷体" panose="02010609060101010101" pitchFamily="49" charset="-122"/>
                <a:ea typeface="楷体" panose="02010609060101010101" pitchFamily="49" charset="-122"/>
              </a:rPr>
              <a:t>）</a:t>
            </a:r>
            <a:r>
              <a:rPr lang="en-AU" altLang="zh-CN" sz="2000" dirty="0">
                <a:latin typeface="楷体" panose="02010609060101010101" pitchFamily="49" charset="-122"/>
                <a:ea typeface="楷体" panose="02010609060101010101" pitchFamily="49" charset="-122"/>
              </a:rPr>
              <a:t>:</a:t>
            </a:r>
            <a:endParaRPr lang="en-AU" sz="2000"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67" name="TextBox 66"/>
              <p:cNvSpPr txBox="1"/>
              <p:nvPr/>
            </p:nvSpPr>
            <p:spPr>
              <a:xfrm>
                <a:off x="3501726" y="4508324"/>
                <a:ext cx="4497838"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1"/>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r>
                        <a:rPr lang="en-AU" altLang="zh-CN" sz="1800" b="0" i="1" dirty="0" smtClean="0">
                          <a:latin typeface="Cambria Math" panose="02040503050406030204" pitchFamily="18" charset="0"/>
                        </a:rPr>
                        <m:t>(</m:t>
                      </m:r>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m:t>
                      </m:r>
                      <m:r>
                        <a:rPr lang="zh-CN" altLang="en-AU" sz="1800" b="0" i="1" dirty="0" smtClean="0">
                          <a:latin typeface="Cambria Math" panose="02040503050406030204" pitchFamily="18" charset="0"/>
                        </a:rPr>
                        <m:t>𝜀</m:t>
                      </m:r>
                      <m:r>
                        <a:rPr lang="en-AU" altLang="zh-CN" sz="1800" i="1" dirty="0">
                          <a:latin typeface="Cambria Math" panose="02040503050406030204" pitchFamily="18" charset="0"/>
                        </a:rPr>
                        <m:t>,</m:t>
                      </m:r>
                      <m:r>
                        <a:rPr lang="en-AU" altLang="zh-CN" sz="1800" b="0" i="1" dirty="0" smtClean="0">
                          <a:latin typeface="Cambria Math" panose="02040503050406030204" pitchFamily="18" charset="0"/>
                        </a:rPr>
                        <m:t>𝑆</m:t>
                      </m:r>
                      <m:r>
                        <a:rPr lang="en-AU" altLang="zh-CN" sz="1800" i="1" dirty="0">
                          <a:latin typeface="Cambria Math" panose="02040503050406030204" pitchFamily="18" charset="0"/>
                        </a:rPr>
                        <m:t>)={</m:t>
                      </m:r>
                      <m:d>
                        <m:dPr>
                          <m:ctrlPr>
                            <a:rPr lang="en-AU" altLang="zh-CN" sz="1800" b="0" i="1" dirty="0">
                              <a:latin typeface="Cambria Math" panose="02040503050406030204" pitchFamily="18" charset="0"/>
                            </a:rPr>
                          </m:ctrlPr>
                        </m:dPr>
                        <m:e>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m:t>
                          </m:r>
                          <m:r>
                            <a:rPr lang="en-AU" altLang="zh-CN" sz="1800" b="0" i="1" dirty="0" smtClean="0">
                              <a:latin typeface="Cambria Math" panose="02040503050406030204" pitchFamily="18" charset="0"/>
                            </a:rPr>
                            <m:t>𝐴𝐵</m:t>
                          </m:r>
                        </m:e>
                      </m:d>
                      <m:r>
                        <a:rPr lang="en-AU" altLang="zh-CN" sz="1800" b="0" i="1" dirty="0" smtClean="0">
                          <a:latin typeface="Cambria Math" panose="02040503050406030204" pitchFamily="18" charset="0"/>
                        </a:rPr>
                        <m:t>}</m:t>
                      </m:r>
                    </m:oMath>
                  </m:oMathPara>
                </a14:m>
                <a:endParaRPr lang="en-AU" altLang="zh-CN" dirty="0"/>
              </a:p>
              <a:p>
                <a:pPr lvl="1"/>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r>
                        <a:rPr lang="en-AU" altLang="zh-CN" sz="1800" b="0" i="1" dirty="0" smtClean="0">
                          <a:latin typeface="Cambria Math" panose="02040503050406030204" pitchFamily="18" charset="0"/>
                        </a:rPr>
                        <m:t>(</m:t>
                      </m:r>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m:t>
                      </m:r>
                      <m:r>
                        <a:rPr lang="zh-CN" altLang="en-AU" sz="1800" b="0" i="1" dirty="0" smtClean="0">
                          <a:latin typeface="Cambria Math" panose="02040503050406030204" pitchFamily="18" charset="0"/>
                        </a:rPr>
                        <m:t>𝜀</m:t>
                      </m:r>
                      <m:r>
                        <a:rPr lang="en-AU" altLang="zh-CN" sz="1800" i="1" dirty="0">
                          <a:latin typeface="Cambria Math" panose="02040503050406030204" pitchFamily="18" charset="0"/>
                        </a:rPr>
                        <m:t>,</m:t>
                      </m:r>
                      <m:r>
                        <a:rPr lang="en-AU" altLang="zh-CN" sz="1800" b="0" i="1" dirty="0" smtClean="0">
                          <a:latin typeface="Cambria Math" panose="02040503050406030204" pitchFamily="18" charset="0"/>
                        </a:rPr>
                        <m:t>𝐴</m:t>
                      </m:r>
                      <m:r>
                        <a:rPr lang="en-AU" altLang="zh-CN" sz="1800" i="1" dirty="0">
                          <a:latin typeface="Cambria Math" panose="02040503050406030204" pitchFamily="18" charset="0"/>
                        </a:rPr>
                        <m:t>)={</m:t>
                      </m:r>
                      <m:d>
                        <m:dPr>
                          <m:ctrlPr>
                            <a:rPr lang="en-AU" altLang="zh-CN" sz="1800" b="0" i="1" dirty="0">
                              <a:latin typeface="Cambria Math" panose="02040503050406030204" pitchFamily="18" charset="0"/>
                            </a:rPr>
                          </m:ctrlPr>
                        </m:dPr>
                        <m:e>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,0</m:t>
                          </m:r>
                          <m:r>
                            <a:rPr lang="en-AU" altLang="zh-CN" sz="1800" b="0" i="1" dirty="0" smtClean="0">
                              <a:latin typeface="Cambria Math" panose="02040503050406030204" pitchFamily="18" charset="0"/>
                            </a:rPr>
                            <m:t>𝐴</m:t>
                          </m:r>
                        </m:e>
                      </m:d>
                      <m:r>
                        <a:rPr lang="en-AU" altLang="zh-CN" sz="1800" b="0" i="1" dirty="0" smtClean="0">
                          <a:latin typeface="Cambria Math" panose="02040503050406030204" pitchFamily="18" charset="0"/>
                        </a:rPr>
                        <m:t>,</m:t>
                      </m:r>
                      <m:d>
                        <m:dPr>
                          <m:ctrlPr>
                            <a:rPr lang="en-AU" altLang="zh-CN" i="1" dirty="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m:t>
                          </m:r>
                          <m:r>
                            <a:rPr lang="zh-CN" altLang="en-AU" i="1" dirty="0">
                              <a:latin typeface="Cambria Math" panose="02040503050406030204" pitchFamily="18" charset="0"/>
                            </a:rPr>
                            <m:t>𝜀</m:t>
                          </m:r>
                        </m:e>
                      </m:d>
                      <m:r>
                        <a:rPr lang="en-AU" altLang="zh-CN" sz="1800" b="0" i="1" dirty="0" smtClean="0">
                          <a:latin typeface="Cambria Math" panose="02040503050406030204" pitchFamily="18" charset="0"/>
                        </a:rPr>
                        <m:t>}</m:t>
                      </m:r>
                    </m:oMath>
                  </m:oMathPara>
                </a14:m>
                <a:endParaRPr lang="en-AU" altLang="zh-CN" dirty="0"/>
              </a:p>
              <a:p>
                <a:pPr lvl="1"/>
                <a14:m>
                  <m:oMathPara xmlns:m="http://schemas.openxmlformats.org/officeDocument/2006/math">
                    <m:oMathParaPr>
                      <m:jc m:val="centerGroup"/>
                    </m:oMathParaPr>
                    <m:oMath xmlns:m="http://schemas.openxmlformats.org/officeDocument/2006/math">
                      <m:r>
                        <a:rPr lang="el-GR" altLang="zh-CN" sz="1800" i="1" dirty="0" smtClean="0">
                          <a:latin typeface="Cambria Math" panose="02040503050406030204" pitchFamily="18" charset="0"/>
                        </a:rPr>
                        <m:t>𝛿</m:t>
                      </m:r>
                      <m:d>
                        <m:dPr>
                          <m:ctrlPr>
                            <a:rPr lang="en-AU" altLang="zh-CN" sz="1800" b="0" i="1" dirty="0" smtClean="0">
                              <a:latin typeface="Cambria Math" panose="02040503050406030204" pitchFamily="18" charset="0"/>
                            </a:rPr>
                          </m:ctrlPr>
                        </m:dPr>
                        <m:e>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m:t>
                          </m:r>
                          <m:r>
                            <a:rPr lang="zh-CN" altLang="en-AU" sz="1800" b="0" i="1" dirty="0" smtClean="0">
                              <a:latin typeface="Cambria Math" panose="02040503050406030204" pitchFamily="18" charset="0"/>
                            </a:rPr>
                            <m:t>𝜀</m:t>
                          </m:r>
                          <m:r>
                            <a:rPr lang="en-AU" altLang="zh-CN" sz="1800" i="1" dirty="0">
                              <a:latin typeface="Cambria Math" panose="02040503050406030204" pitchFamily="18" charset="0"/>
                            </a:rPr>
                            <m:t>,</m:t>
                          </m:r>
                          <m:r>
                            <a:rPr lang="en-AU" altLang="zh-CN" sz="1800" b="0" i="1" dirty="0" smtClean="0">
                              <a:latin typeface="Cambria Math" panose="02040503050406030204" pitchFamily="18" charset="0"/>
                            </a:rPr>
                            <m:t>𝐵</m:t>
                          </m:r>
                        </m:e>
                      </m:d>
                      <m:r>
                        <a:rPr lang="en-AU" altLang="zh-CN" sz="1800" i="1" dirty="0">
                          <a:latin typeface="Cambria Math" panose="02040503050406030204" pitchFamily="18" charset="0"/>
                        </a:rPr>
                        <m:t>=</m:t>
                      </m:r>
                      <m:d>
                        <m:dPr>
                          <m:begChr m:val="{"/>
                          <m:endChr m:val="}"/>
                          <m:ctrlPr>
                            <a:rPr lang="en-AU" altLang="zh-CN" sz="1800" b="0" i="1" dirty="0">
                              <a:latin typeface="Cambria Math" panose="02040503050406030204" pitchFamily="18" charset="0"/>
                            </a:rPr>
                          </m:ctrlPr>
                        </m:dPr>
                        <m:e>
                          <m:d>
                            <m:dPr>
                              <m:ctrlPr>
                                <a:rPr lang="en-AU" altLang="zh-CN" sz="1800" b="0" i="1" dirty="0">
                                  <a:latin typeface="Cambria Math" panose="02040503050406030204" pitchFamily="18" charset="0"/>
                                </a:rPr>
                              </m:ctrlPr>
                            </m:dPr>
                            <m:e>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,0</m:t>
                              </m:r>
                              <m:r>
                                <a:rPr lang="en-AU" altLang="zh-CN" sz="1800" b="0" i="1" dirty="0" smtClean="0">
                                  <a:latin typeface="Cambria Math" panose="02040503050406030204" pitchFamily="18" charset="0"/>
                                </a:rPr>
                                <m:t>𝐵</m:t>
                              </m:r>
                              <m:r>
                                <a:rPr lang="en-AU" altLang="zh-CN" sz="1800" b="0" i="1" dirty="0" smtClean="0">
                                  <a:latin typeface="Cambria Math" panose="02040503050406030204" pitchFamily="18" charset="0"/>
                                </a:rPr>
                                <m:t>1</m:t>
                              </m:r>
                            </m:e>
                          </m:d>
                          <m:r>
                            <a:rPr lang="en-AU" altLang="zh-CN" sz="1800" b="0" i="1" dirty="0" smtClean="0">
                              <a:latin typeface="Cambria Math" panose="02040503050406030204" pitchFamily="18" charset="0"/>
                            </a:rPr>
                            <m:t>,</m:t>
                          </m:r>
                          <m:d>
                            <m:dPr>
                              <m:ctrlPr>
                                <a:rPr lang="en-AU" altLang="zh-CN" i="1" dirty="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,01</m:t>
                              </m:r>
                            </m:e>
                          </m:d>
                        </m:e>
                      </m:d>
                    </m:oMath>
                  </m:oMathPara>
                </a14:m>
                <a:endParaRPr lang="en-AU" altLang="zh-CN" sz="1800" b="0" i="1" dirty="0">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l-GR" altLang="zh-CN" i="1" dirty="0">
                          <a:latin typeface="Cambria Math" panose="02040503050406030204" pitchFamily="18" charset="0"/>
                        </a:rPr>
                        <m:t>𝛿</m:t>
                      </m:r>
                      <m:d>
                        <m:dPr>
                          <m:ctrlPr>
                            <a:rPr lang="en-AU" altLang="zh-CN" i="1" dirty="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,0, 0</m:t>
                          </m:r>
                        </m:e>
                      </m:d>
                      <m:r>
                        <a:rPr lang="en-AU" altLang="zh-CN" i="1" dirty="0">
                          <a:latin typeface="Cambria Math" panose="02040503050406030204" pitchFamily="18" charset="0"/>
                        </a:rPr>
                        <m:t>=</m:t>
                      </m:r>
                      <m:d>
                        <m:dPr>
                          <m:begChr m:val="{"/>
                          <m:endChr m:val="}"/>
                          <m:ctrlPr>
                            <a:rPr lang="en-AU" altLang="zh-CN" i="1" dirty="0">
                              <a:latin typeface="Cambria Math" panose="02040503050406030204" pitchFamily="18" charset="0"/>
                            </a:rPr>
                          </m:ctrlPr>
                        </m:dPr>
                        <m:e>
                          <m:d>
                            <m:dPr>
                              <m:ctrlPr>
                                <a:rPr lang="en-AU" altLang="zh-CN" i="1" dirty="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m:t>
                              </m:r>
                              <m:r>
                                <a:rPr lang="zh-CN" altLang="en-AU" i="1" dirty="0">
                                  <a:latin typeface="Cambria Math" panose="02040503050406030204" pitchFamily="18" charset="0"/>
                                </a:rPr>
                                <m:t>𝜀</m:t>
                              </m:r>
                            </m:e>
                          </m:d>
                        </m:e>
                      </m:d>
                      <m:r>
                        <a:rPr lang="en-AU" altLang="zh-CN" b="0" i="1" dirty="0" smtClean="0">
                          <a:latin typeface="Cambria Math" panose="02040503050406030204" pitchFamily="18" charset="0"/>
                        </a:rPr>
                        <m:t>, </m:t>
                      </m:r>
                      <m:r>
                        <a:rPr lang="el-GR" altLang="zh-CN" sz="1800" i="1" dirty="0" smtClean="0">
                          <a:latin typeface="Cambria Math" panose="02040503050406030204" pitchFamily="18" charset="0"/>
                        </a:rPr>
                        <m:t>𝛿</m:t>
                      </m:r>
                      <m:r>
                        <a:rPr lang="en-AU" altLang="zh-CN" sz="1800" b="0" i="1" dirty="0" smtClean="0">
                          <a:latin typeface="Cambria Math" panose="02040503050406030204" pitchFamily="18" charset="0"/>
                        </a:rPr>
                        <m:t>(</m:t>
                      </m:r>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,1, 1)={</m:t>
                      </m:r>
                      <m:d>
                        <m:dPr>
                          <m:ctrlPr>
                            <a:rPr lang="en-AU" altLang="zh-CN" sz="1800" b="0" i="1" dirty="0">
                              <a:latin typeface="Cambria Math" panose="02040503050406030204" pitchFamily="18" charset="0"/>
                            </a:rPr>
                          </m:ctrlPr>
                        </m:dPr>
                        <m:e>
                          <m:r>
                            <a:rPr lang="en-AU" altLang="zh-CN" sz="1800" b="0" i="1" dirty="0" smtClean="0">
                              <a:latin typeface="Cambria Math" panose="02040503050406030204" pitchFamily="18" charset="0"/>
                            </a:rPr>
                            <m:t>𝑞</m:t>
                          </m:r>
                          <m:r>
                            <a:rPr lang="en-AU" altLang="zh-CN" sz="1800" b="0" i="1" dirty="0" smtClean="0">
                              <a:latin typeface="Cambria Math" panose="02040503050406030204" pitchFamily="18" charset="0"/>
                            </a:rPr>
                            <m:t>,</m:t>
                          </m:r>
                          <m:r>
                            <a:rPr lang="zh-CN" altLang="en-AU" i="1" dirty="0">
                              <a:latin typeface="Cambria Math" panose="02040503050406030204" pitchFamily="18" charset="0"/>
                            </a:rPr>
                            <m:t>𝜀</m:t>
                          </m:r>
                        </m:e>
                      </m:d>
                      <m:r>
                        <a:rPr lang="en-AU" altLang="zh-CN" sz="1800" b="0" i="1" dirty="0" smtClean="0">
                          <a:latin typeface="Cambria Math" panose="02040503050406030204" pitchFamily="18" charset="0"/>
                        </a:rPr>
                        <m:t>}</m:t>
                      </m:r>
                    </m:oMath>
                  </m:oMathPara>
                </a14:m>
                <a:endParaRPr lang="en-AU" altLang="zh-CN" dirty="0"/>
              </a:p>
            </p:txBody>
          </p:sp>
        </mc:Choice>
        <mc:Fallback xmlns="">
          <p:sp>
            <p:nvSpPr>
              <p:cNvPr id="67" name="TextBox 66"/>
              <p:cNvSpPr txBox="1">
                <a:spLocks noRot="1" noChangeAspect="1" noMove="1" noResize="1" noEditPoints="1" noAdjustHandles="1" noChangeArrowheads="1" noChangeShapeType="1" noTextEdit="1"/>
              </p:cNvSpPr>
              <p:nvPr/>
            </p:nvSpPr>
            <p:spPr>
              <a:xfrm>
                <a:off x="3501726" y="4508324"/>
                <a:ext cx="4497838" cy="1200329"/>
              </a:xfrm>
              <a:prstGeom prst="rect">
                <a:avLst/>
              </a:prstGeom>
              <a:blipFill rotWithShape="1">
                <a:blip r:embed="rId19"/>
                <a:stretch>
                  <a:fillRect l="-290" t="-1096" r="-272" b="-18039"/>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822986" y="4746995"/>
                <a:ext cx="2217376"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𝑆</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𝐴𝐵</m:t>
                      </m:r>
                    </m:oMath>
                  </m:oMathPara>
                </a14:m>
                <a:endParaRPr lang="en-AU" altLang="zh-CN"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𝐴</m:t>
                      </m:r>
                      <m:r>
                        <a:rPr lang="en-AU" altLang="zh-CN" i="1">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0</m:t>
                      </m:r>
                      <m:r>
                        <a:rPr lang="en-AU" altLang="zh-CN" i="1">
                          <a:latin typeface="Cambria Math" panose="02040503050406030204" pitchFamily="18" charset="0"/>
                          <a:ea typeface="Cambria Math" panose="02040503050406030204" pitchFamily="18" charset="0"/>
                        </a:rPr>
                        <m:t>𝐴</m:t>
                      </m:r>
                      <m:r>
                        <a:rPr lang="en-AU" altLang="zh-CN" b="0" i="1" smtClean="0">
                          <a:latin typeface="Cambria Math" panose="02040503050406030204" pitchFamily="18" charset="0"/>
                          <a:ea typeface="Cambria Math" panose="02040503050406030204" pitchFamily="18" charset="0"/>
                        </a:rPr>
                        <m:t>|</m:t>
                      </m:r>
                      <m:r>
                        <a:rPr lang="zh-CN" altLang="en-AU" b="0" i="1" smtClean="0">
                          <a:latin typeface="Cambria Math" panose="02040503050406030204" pitchFamily="18" charset="0"/>
                          <a:ea typeface="Cambria Math" panose="02040503050406030204" pitchFamily="18" charset="0"/>
                        </a:rPr>
                        <m:t>𝜀</m:t>
                      </m:r>
                    </m:oMath>
                  </m:oMathPara>
                </a14:m>
                <a:endParaRPr lang="en-AU" altLang="zh-CN"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ea typeface="Cambria Math" panose="02040503050406030204" pitchFamily="18" charset="0"/>
                        </a:rPr>
                        <m:t>𝐵</m:t>
                      </m:r>
                      <m:r>
                        <a:rPr lang="en-AU" altLang="zh-CN" i="1">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0</m:t>
                      </m:r>
                      <m:r>
                        <a:rPr lang="en-AU" altLang="zh-CN" b="0" i="1" smtClean="0">
                          <a:latin typeface="Cambria Math" panose="02040503050406030204" pitchFamily="18" charset="0"/>
                          <a:ea typeface="Cambria Math" panose="02040503050406030204" pitchFamily="18" charset="0"/>
                        </a:rPr>
                        <m:t>𝐵</m:t>
                      </m:r>
                      <m:r>
                        <a:rPr lang="en-AU" altLang="zh-CN" b="0" i="1" smtClean="0">
                          <a:latin typeface="Cambria Math" panose="02040503050406030204" pitchFamily="18" charset="0"/>
                          <a:ea typeface="Cambria Math" panose="02040503050406030204" pitchFamily="18" charset="0"/>
                        </a:rPr>
                        <m:t>1|01</m:t>
                      </m:r>
                    </m:oMath>
                  </m:oMathPara>
                </a14:m>
                <a:endParaRPr lang="en-AU" dirty="0"/>
              </a:p>
            </p:txBody>
          </p:sp>
        </mc:Choice>
        <mc:Fallback xmlns="">
          <p:sp>
            <p:nvSpPr>
              <p:cNvPr id="68" name="TextBox 67"/>
              <p:cNvSpPr txBox="1">
                <a:spLocks noRot="1" noChangeAspect="1" noMove="1" noResize="1" noEditPoints="1" noAdjustHandles="1" noChangeArrowheads="1" noChangeShapeType="1" noTextEdit="1"/>
              </p:cNvSpPr>
              <p:nvPr/>
            </p:nvSpPr>
            <p:spPr>
              <a:xfrm>
                <a:off x="822986" y="4746995"/>
                <a:ext cx="2217376" cy="923330"/>
              </a:xfrm>
              <a:prstGeom prst="rect">
                <a:avLst/>
              </a:prstGeom>
              <a:blipFill rotWithShape="1">
                <a:blip r:embed="rId20"/>
                <a:stretch>
                  <a:fillRect l="-574" t="-1416" r="-545" b="-1331"/>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
        <p:nvSpPr>
          <p:cNvPr id="69" name="Slide Number Placeholder 3"/>
          <p:cNvSpPr>
            <a:spLocks noGrp="1"/>
          </p:cNvSpPr>
          <p:nvPr>
            <p:ph type="sldNum" sz="quarter" idx="12"/>
          </p:nvPr>
        </p:nvSpPr>
        <p:spPr>
          <a:xfrm>
            <a:off x="6553200" y="6356350"/>
            <a:ext cx="2133600" cy="365125"/>
          </a:xfrm>
        </p:spPr>
        <p:txBody>
          <a:bodyPr/>
          <a:lstStyle/>
          <a:p>
            <a:fld id="{0662E1F6-9BD6-474C-A82E-E07C3DB67AAE}" type="slidenum">
              <a:rPr lang="en-AU" smtClean="0"/>
              <a:t>69</a:t>
            </a:fld>
            <a:endParaRPr lang="en-AU"/>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下推自动机与文法的等价性</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17874"/>
                <a:ext cx="8229600" cy="4525963"/>
              </a:xfrm>
            </p:spPr>
            <p:txBody>
              <a:bodyPr>
                <a:noAutofit/>
              </a:bodyPr>
              <a:lstStyle/>
              <a:p>
                <a:r>
                  <a:rPr lang="zh-CN" altLang="en-US" sz="2400" dirty="0"/>
                  <a:t>定理</a:t>
                </a:r>
                <a:r>
                  <a:rPr lang="en-AU" altLang="zh-CN" sz="2400" dirty="0"/>
                  <a:t>:</a:t>
                </a:r>
                <a:r>
                  <a:rPr lang="zh-CN" altLang="en-US" sz="2400" dirty="0"/>
                  <a:t>对于任何</a:t>
                </a:r>
                <a:r>
                  <a:rPr lang="en-AU" altLang="zh-CN" sz="2400" dirty="0">
                    <a:latin typeface="Times New Roman" panose="02020603050405020304" pitchFamily="18" charset="0"/>
                    <a:cs typeface="Times New Roman" panose="02020603050405020304" pitchFamily="18" charset="0"/>
                  </a:rPr>
                  <a:t>CFL</a:t>
                </a:r>
                <a:r>
                  <a:rPr lang="en-AU" altLang="zh-CN" sz="2400" dirty="0"/>
                  <a:t> </a:t>
                </a:r>
                <a14:m>
                  <m:oMath xmlns:m="http://schemas.openxmlformats.org/officeDocument/2006/math">
                    <m:r>
                      <a:rPr lang="en-AU" altLang="zh-CN" sz="2400" i="1" dirty="0" smtClean="0">
                        <a:latin typeface="Cambria Math" panose="02040503050406030204" pitchFamily="18" charset="0"/>
                      </a:rPr>
                      <m:t>𝐿</m:t>
                    </m:r>
                  </m:oMath>
                </a14:m>
                <a:r>
                  <a:rPr lang="en-AU" altLang="zh-CN" sz="2400" dirty="0"/>
                  <a:t>, </a:t>
                </a:r>
                <a:r>
                  <a:rPr lang="zh-CN" altLang="en-US" sz="2400" dirty="0"/>
                  <a:t>一定存在</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r>
                      <a:rPr lang="en-AU" altLang="zh-CN" sz="2400" i="1" dirty="0" smtClean="0">
                        <a:latin typeface="Cambria Math" panose="02040503050406030204" pitchFamily="18" charset="0"/>
                      </a:rPr>
                      <m:t>𝑃</m:t>
                    </m:r>
                  </m:oMath>
                </a14:m>
                <a:r>
                  <a:rPr lang="en-AU" altLang="zh-CN" sz="2400" dirty="0"/>
                  <a:t>, </a:t>
                </a:r>
                <a:r>
                  <a:rPr lang="zh-CN" altLang="en-US" sz="2400" dirty="0"/>
                  <a:t>使</a:t>
                </a:r>
                <a14:m>
                  <m:oMath xmlns:m="http://schemas.openxmlformats.org/officeDocument/2006/math">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 </m:t>
                    </m:r>
                    <m:r>
                      <a:rPr lang="en-AU" altLang="zh-CN" sz="2400" b="1" i="0" dirty="0" smtClean="0">
                        <a:latin typeface="Cambria Math" panose="02040503050406030204" pitchFamily="18" charset="0"/>
                      </a:rPr>
                      <m:t>𝐍</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m:t>
                    </m:r>
                  </m:oMath>
                </a14:m>
                <a:r>
                  <a:rPr lang="zh-CN" altLang="en-US" sz="2400" dirty="0"/>
                  <a:t>。</a:t>
                </a:r>
                <a:endParaRPr lang="en-AU" altLang="zh-CN" sz="2400" dirty="0"/>
              </a:p>
              <a:p>
                <a:r>
                  <a:rPr lang="zh-CN" altLang="en-US" sz="2400" dirty="0"/>
                  <a:t>证明</a:t>
                </a:r>
                <a:r>
                  <a:rPr lang="en-AU" altLang="zh-CN" sz="2400" dirty="0"/>
                  <a:t>:</a:t>
                </a:r>
                <a:r>
                  <a:rPr lang="zh-CN" altLang="en-US" sz="2400" dirty="0"/>
                  <a:t>如果</a:t>
                </a:r>
                <a:r>
                  <a:rPr lang="en-AU" altLang="zh-CN" sz="2400" dirty="0">
                    <a:latin typeface="Times New Roman" panose="02020603050405020304" pitchFamily="18" charset="0"/>
                    <a:cs typeface="Times New Roman" panose="02020603050405020304" pitchFamily="18" charset="0"/>
                  </a:rPr>
                  <a:t>CFG</a:t>
                </a:r>
                <a:r>
                  <a:rPr lang="en-AU" altLang="zh-CN" sz="2400" dirty="0"/>
                  <a:t> </a:t>
                </a:r>
                <a14:m>
                  <m:oMath xmlns:m="http://schemas.openxmlformats.org/officeDocument/2006/math">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n-AU" altLang="zh-CN" sz="2400" b="0" i="1" dirty="0" smtClean="0">
                        <a:latin typeface="Cambria Math" panose="02040503050406030204" pitchFamily="18" charset="0"/>
                      </a:rPr>
                      <m:t>𝑃</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 </m:t>
                    </m:r>
                  </m:oMath>
                </a14:m>
                <a:r>
                  <a:rPr lang="en-AU" altLang="zh-CN" sz="2400" dirty="0"/>
                  <a:t>,</a:t>
                </a:r>
                <a:r>
                  <a:rPr lang="zh-CN" altLang="en-US" sz="2400" dirty="0"/>
                  <a:t>构造</a:t>
                </a:r>
                <a:r>
                  <a:rPr lang="en-AU" altLang="zh-CN" sz="2400" dirty="0">
                    <a:latin typeface="Times New Roman" panose="02020603050405020304" pitchFamily="18" charset="0"/>
                    <a:cs typeface="Times New Roman" panose="02020603050405020304" pitchFamily="18" charset="0"/>
                  </a:rPr>
                  <a:t>PDA</a:t>
                </a:r>
              </a:p>
              <a:p>
                <a:pPr marL="0" indent="0" algn="ctr">
                  <a:buNone/>
                </a:pPr>
                <a14:m>
                  <m:oMath xmlns:m="http://schemas.openxmlformats.org/officeDocument/2006/math">
                    <m:sSub>
                      <m:sSubPr>
                        <m:ctrlPr>
                          <a:rPr lang="en-AU" altLang="zh-CN" sz="2400" b="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𝑁</m:t>
                        </m:r>
                      </m:sub>
                    </m:sSub>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 ∅)</m:t>
                    </m:r>
                  </m:oMath>
                </a14:m>
                <a:r>
                  <a:rPr lang="en-AU" sz="2400" dirty="0"/>
                  <a:t>,</a:t>
                </a:r>
              </a:p>
              <a:p>
                <a:pPr marL="0" indent="0">
                  <a:buNone/>
                </a:pPr>
                <a:r>
                  <a:rPr lang="zh-CN" altLang="en-US" sz="2400" dirty="0"/>
                  <a:t>其中</a:t>
                </a:r>
                <a14:m>
                  <m:oMath xmlns:m="http://schemas.openxmlformats.org/officeDocument/2006/math">
                    <m:r>
                      <a:rPr lang="el-GR" altLang="zh-CN" sz="2400" i="1" dirty="0" smtClean="0">
                        <a:latin typeface="Cambria Math" panose="02040503050406030204" pitchFamily="18" charset="0"/>
                      </a:rPr>
                      <m:t>𝛿</m:t>
                    </m:r>
                  </m:oMath>
                </a14:m>
                <a:r>
                  <a:rPr lang="zh-CN" altLang="en-US" sz="2400" dirty="0"/>
                  <a:t>为</a:t>
                </a:r>
                <a:r>
                  <a:rPr lang="en-AU" altLang="zh-CN" sz="2400" dirty="0"/>
                  <a:t>:</a:t>
                </a:r>
                <a:r>
                  <a:rPr lang="zh-CN" altLang="en-US" sz="2400" dirty="0"/>
                  <a:t>（</a:t>
                </a:r>
                <a:r>
                  <a:rPr lang="en-AU" altLang="zh-CN" sz="2400" dirty="0"/>
                  <a:t>1</a:t>
                </a:r>
                <a:r>
                  <a:rPr lang="zh-CN" altLang="en-US" sz="2400" dirty="0"/>
                  <a:t>）对于每个变元</a:t>
                </a:r>
                <a14:m>
                  <m:oMath xmlns:m="http://schemas.openxmlformats.org/officeDocument/2006/math">
                    <m:r>
                      <a:rPr lang="en-AU" altLang="zh-CN" sz="2400" b="0" i="1" smtClean="0">
                        <a:latin typeface="Cambria Math" panose="02040503050406030204" pitchFamily="18" charset="0"/>
                      </a:rPr>
                      <m:t>𝐴</m:t>
                    </m:r>
                  </m:oMath>
                </a14:m>
                <a:r>
                  <a:rPr lang="en-AU" altLang="zh-CN" sz="2400" dirty="0"/>
                  <a:t>,</a:t>
                </a:r>
              </a:p>
              <a:p>
                <a:pPr marL="0" indent="0">
                  <a:buNone/>
                </a:pPr>
                <a14:m>
                  <m:oMathPara xmlns:m="http://schemas.openxmlformats.org/officeDocument/2006/math">
                    <m:oMathParaPr>
                      <m:jc m:val="centerGroup"/>
                    </m:oMathParaPr>
                    <m:oMath xmlns:m="http://schemas.openxmlformats.org/officeDocument/2006/math">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𝜀</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𝐴</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m:t>
                      </m:r>
                      <m:r>
                        <a:rPr lang="el-GR" altLang="zh-CN" sz="2400" i="1" dirty="0" smtClean="0">
                          <a:latin typeface="Cambria Math" panose="02040503050406030204" pitchFamily="18" charset="0"/>
                        </a:rPr>
                        <m:t>) | </m:t>
                      </m:r>
                      <m:r>
                        <a:rPr lang="en-AU" altLang="zh-CN" sz="2400" i="1" dirty="0" smtClean="0">
                          <a:latin typeface="Cambria Math" panose="02040503050406030204" pitchFamily="18" charset="0"/>
                        </a:rPr>
                        <m:t>𝐴</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𝛽</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oMath>
                  </m:oMathPara>
                </a14:m>
                <a:endParaRPr lang="en-AU" altLang="zh-CN" sz="2400" dirty="0"/>
              </a:p>
              <a:p>
                <a:pPr marL="0" indent="0">
                  <a:buNone/>
                </a:pPr>
                <a:r>
                  <a:rPr lang="en-US" altLang="zh-CN" sz="2400" dirty="0"/>
                  <a:t>        </a:t>
                </a:r>
                <a:r>
                  <a:rPr lang="zh-CN" altLang="en-US" sz="2400" dirty="0"/>
                  <a:t>（</a:t>
                </a:r>
                <a:r>
                  <a:rPr lang="en-AU" altLang="zh-CN" sz="2400" dirty="0"/>
                  <a:t>2</a:t>
                </a:r>
                <a:r>
                  <a:rPr lang="zh-CN" altLang="en-US" sz="2400" dirty="0"/>
                  <a:t>）对于每个终结符</a:t>
                </a:r>
                <a14:m>
                  <m:oMath xmlns:m="http://schemas.openxmlformats.org/officeDocument/2006/math">
                    <m:r>
                      <a:rPr lang="en-AU" altLang="zh-CN" sz="2400" b="0" i="1" smtClean="0">
                        <a:latin typeface="Cambria Math" panose="02040503050406030204" pitchFamily="18" charset="0"/>
                      </a:rPr>
                      <m:t>𝑎</m:t>
                    </m:r>
                  </m:oMath>
                </a14:m>
                <a:r>
                  <a:rPr lang="zh-CN" altLang="en-US" sz="2400" dirty="0"/>
                  <a:t>，</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pt-BR" sz="2400" i="1" dirty="0" smtClean="0">
                          <a:latin typeface="Cambria Math" panose="02040503050406030204" pitchFamily="18" charset="0"/>
                        </a:rPr>
                        <m:t>𝛿</m:t>
                      </m:r>
                      <m:r>
                        <a:rPr lang="pt-BR" sz="2400" i="1" dirty="0" smtClean="0">
                          <a:latin typeface="Cambria Math" panose="02040503050406030204" pitchFamily="18" charset="0"/>
                        </a:rPr>
                        <m:t>(</m:t>
                      </m:r>
                      <m:r>
                        <a:rPr lang="pt-BR" sz="2400" i="1" dirty="0" smtClean="0">
                          <a:latin typeface="Cambria Math" panose="02040503050406030204" pitchFamily="18" charset="0"/>
                        </a:rPr>
                        <m:t>𝑞</m:t>
                      </m:r>
                      <m:r>
                        <a:rPr lang="pt-BR" sz="2400" i="1" dirty="0" smtClean="0">
                          <a:latin typeface="Cambria Math" panose="02040503050406030204" pitchFamily="18" charset="0"/>
                        </a:rPr>
                        <m:t>, </m:t>
                      </m:r>
                      <m:r>
                        <a:rPr lang="pt-BR" sz="2400" i="1" dirty="0" smtClean="0">
                          <a:latin typeface="Cambria Math" panose="02040503050406030204" pitchFamily="18" charset="0"/>
                        </a:rPr>
                        <m:t>𝑎</m:t>
                      </m:r>
                      <m:r>
                        <a:rPr lang="pt-BR" sz="2400" i="1" dirty="0" smtClean="0">
                          <a:latin typeface="Cambria Math" panose="02040503050406030204" pitchFamily="18" charset="0"/>
                        </a:rPr>
                        <m:t>, </m:t>
                      </m:r>
                      <m:r>
                        <a:rPr lang="pt-BR" sz="2400" i="1" dirty="0" smtClean="0">
                          <a:latin typeface="Cambria Math" panose="02040503050406030204" pitchFamily="18" charset="0"/>
                        </a:rPr>
                        <m:t>𝑎</m:t>
                      </m:r>
                      <m:r>
                        <a:rPr lang="pt-BR" sz="2400" i="1" dirty="0" smtClean="0">
                          <a:latin typeface="Cambria Math" panose="02040503050406030204" pitchFamily="18" charset="0"/>
                        </a:rPr>
                        <m:t>) = {(</m:t>
                      </m:r>
                      <m:r>
                        <a:rPr lang="pt-BR" sz="2400" i="1" dirty="0" smtClean="0">
                          <a:latin typeface="Cambria Math" panose="02040503050406030204" pitchFamily="18" charset="0"/>
                        </a:rPr>
                        <m:t>𝑞</m:t>
                      </m:r>
                      <m:r>
                        <a:rPr lang="pt-BR" sz="2400" i="1" dirty="0" smtClean="0">
                          <a:latin typeface="Cambria Math" panose="02040503050406030204" pitchFamily="18" charset="0"/>
                        </a:rPr>
                        <m:t>, </m:t>
                      </m:r>
                      <m:r>
                        <a:rPr lang="pt-BR" sz="2400" i="1" dirty="0" smtClean="0">
                          <a:latin typeface="Cambria Math" panose="02040503050406030204" pitchFamily="18" charset="0"/>
                        </a:rPr>
                        <m:t>𝜀</m:t>
                      </m:r>
                      <m:r>
                        <a:rPr lang="pt-BR" sz="2400" i="1" dirty="0" smtClean="0">
                          <a:latin typeface="Cambria Math" panose="02040503050406030204" pitchFamily="18" charset="0"/>
                        </a:rPr>
                        <m:t>)}</m:t>
                      </m:r>
                    </m:oMath>
                  </m:oMathPara>
                </a14:m>
                <a:endParaRPr lang="en-AU" sz="2400" dirty="0"/>
              </a:p>
              <a:p>
                <a:pPr marL="0" indent="0">
                  <a:buNone/>
                </a:pPr>
                <a:r>
                  <a:rPr lang="zh-CN" altLang="en-US" sz="2400" dirty="0"/>
                  <a:t>那么</a:t>
                </a:r>
                <a14:m>
                  <m:oMath xmlns:m="http://schemas.openxmlformats.org/officeDocument/2006/math">
                    <m:r>
                      <a:rPr lang="en-AU" altLang="zh-CN" sz="2400" b="1" i="0" dirty="0" smtClean="0">
                        <a:latin typeface="Cambria Math" panose="02040503050406030204" pitchFamily="18" charset="0"/>
                      </a:rPr>
                      <m:t>𝐋</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m:t>
                    </m:r>
                    <m:r>
                      <a:rPr lang="en-AU" altLang="zh-CN" sz="2400" b="1" i="0" dirty="0" smtClean="0">
                        <a:latin typeface="Cambria Math" panose="02040503050406030204" pitchFamily="18" charset="0"/>
                      </a:rPr>
                      <m:t>𝐍</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m:t>
                    </m:r>
                  </m:oMath>
                </a14:m>
                <a:r>
                  <a:rPr lang="zh-CN" altLang="en-US" sz="2400" dirty="0"/>
                  <a:t>。</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17874"/>
                <a:ext cx="8229600" cy="4525963"/>
              </a:xfrm>
              <a:blipFill rotWithShape="1">
                <a:blip r:embed="rId2"/>
                <a:stretch>
                  <a:fillRect t="-6" b="1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70</a:t>
            </a:fld>
            <a:endParaRPr lang="en-AU"/>
          </a:p>
        </p:txBody>
      </p:sp>
      <mc:AlternateContent xmlns:mc="http://schemas.openxmlformats.org/markup-compatibility/2006" xmlns:a14="http://schemas.microsoft.com/office/drawing/2010/main">
        <mc:Choice Requires="a14">
          <p:sp>
            <p:nvSpPr>
              <p:cNvPr id="6" name="TextBox 5"/>
              <p:cNvSpPr txBox="1"/>
              <p:nvPr/>
            </p:nvSpPr>
            <p:spPr>
              <a:xfrm>
                <a:off x="1923690" y="4584115"/>
                <a:ext cx="7220310" cy="590226"/>
              </a:xfrm>
              <a:prstGeom prst="rect">
                <a:avLst/>
              </a:prstGeom>
              <a:noFill/>
            </p:spPr>
            <p:txBody>
              <a:bodyPr wrap="square">
                <a:spAutoFit/>
              </a:bodyPr>
              <a:lstStyle/>
              <a:p>
                <a:r>
                  <a:rPr lang="zh-CN" altLang="en-US" sz="2600" dirty="0">
                    <a:latin typeface="楷体" panose="02010609060101010101" pitchFamily="49" charset="-122"/>
                    <a:ea typeface="楷体" panose="02010609060101010101" pitchFamily="49" charset="-122"/>
                  </a:rPr>
                  <a:t>往证</a:t>
                </a:r>
                <a14:m>
                  <m:oMath xmlns:m="http://schemas.openxmlformats.org/officeDocument/2006/math">
                    <m:r>
                      <a:rPr lang="pl-PL" sz="2600" i="1" dirty="0" smtClean="0">
                        <a:latin typeface="Cambria Math" panose="02040503050406030204" pitchFamily="18" charset="0"/>
                      </a:rPr>
                      <m:t>𝑆</m:t>
                    </m:r>
                    <m:groupChr>
                      <m:groupChrPr>
                        <m:chr m:val="⇒"/>
                        <m:vertJc m:val="bot"/>
                        <m:ctrlPr>
                          <a:rPr lang="pl-PL" sz="2600" i="1" dirty="0" smtClean="0">
                            <a:latin typeface="Cambria Math" panose="02040503050406030204" pitchFamily="18" charset="0"/>
                          </a:rPr>
                        </m:ctrlPr>
                      </m:groupChrPr>
                      <m:e>
                        <m:r>
                          <m:rPr>
                            <m:brk m:alnAt="2"/>
                          </m:rPr>
                          <a:rPr lang="en-AU" sz="2600" b="0" i="1" dirty="0" smtClean="0">
                            <a:latin typeface="Cambria Math" panose="02040503050406030204" pitchFamily="18" charset="0"/>
                          </a:rPr>
                          <m:t>∗</m:t>
                        </m:r>
                      </m:e>
                    </m:groupChr>
                    <m:r>
                      <a:rPr lang="pl-PL" sz="2600" i="1" dirty="0" smtClean="0">
                        <a:latin typeface="Cambria Math" panose="02040503050406030204" pitchFamily="18" charset="0"/>
                      </a:rPr>
                      <m:t>𝑤</m:t>
                    </m:r>
                    <m:r>
                      <a:rPr lang="pl-PL" sz="2600" i="1" dirty="0" smtClean="0">
                        <a:latin typeface="Cambria Math" panose="02040503050406030204" pitchFamily="18" charset="0"/>
                      </a:rPr>
                      <m:t> ⟺</m:t>
                    </m:r>
                    <m:d>
                      <m:dPr>
                        <m:ctrlPr>
                          <a:rPr lang="pl-PL" sz="2600" i="1" dirty="0" smtClean="0">
                            <a:latin typeface="Cambria Math" panose="02040503050406030204" pitchFamily="18" charset="0"/>
                          </a:rPr>
                        </m:ctrlPr>
                      </m:dPr>
                      <m:e>
                        <m:r>
                          <a:rPr lang="pl-PL" sz="2600" i="1" dirty="0" smtClean="0">
                            <a:latin typeface="Cambria Math" panose="02040503050406030204" pitchFamily="18" charset="0"/>
                          </a:rPr>
                          <m:t>𝑞</m:t>
                        </m:r>
                        <m:r>
                          <a:rPr lang="pl-PL" sz="2600" i="1" dirty="0" smtClean="0">
                            <a:latin typeface="Cambria Math" panose="02040503050406030204" pitchFamily="18" charset="0"/>
                          </a:rPr>
                          <m:t>, </m:t>
                        </m:r>
                        <m:r>
                          <a:rPr lang="pl-PL" sz="2600" i="1" dirty="0" smtClean="0">
                            <a:latin typeface="Cambria Math" panose="02040503050406030204" pitchFamily="18" charset="0"/>
                          </a:rPr>
                          <m:t>𝑤</m:t>
                        </m:r>
                        <m:r>
                          <a:rPr lang="pl-PL" sz="2600" i="1" dirty="0" smtClean="0">
                            <a:latin typeface="Cambria Math" panose="02040503050406030204" pitchFamily="18" charset="0"/>
                          </a:rPr>
                          <m:t>, </m:t>
                        </m:r>
                        <m:r>
                          <a:rPr lang="pl-PL" sz="2600" i="1" dirty="0" smtClean="0">
                            <a:latin typeface="Cambria Math" panose="02040503050406030204" pitchFamily="18" charset="0"/>
                          </a:rPr>
                          <m:t>𝑆</m:t>
                        </m:r>
                      </m:e>
                    </m:d>
                    <m:sSup>
                      <m:sSupPr>
                        <m:ctrlPr>
                          <a:rPr lang="pl-PL" sz="2600" i="1" dirty="0" smtClean="0">
                            <a:latin typeface="Cambria Math" panose="02040503050406030204" pitchFamily="18" charset="0"/>
                          </a:rPr>
                        </m:ctrlPr>
                      </m:sSupPr>
                      <m:e>
                        <m:r>
                          <a:rPr lang="pl-PL" sz="2600" i="1" dirty="0">
                            <a:latin typeface="Cambria Math" panose="02040503050406030204" pitchFamily="18" charset="0"/>
                            <a:ea typeface="Cambria Math" panose="02040503050406030204" pitchFamily="18" charset="0"/>
                          </a:rPr>
                          <m:t>⊢</m:t>
                        </m:r>
                      </m:e>
                      <m:sup>
                        <m:r>
                          <a:rPr lang="en-AU" sz="2600" b="0" i="1" dirty="0" smtClean="0">
                            <a:latin typeface="Cambria Math" panose="02040503050406030204" pitchFamily="18" charset="0"/>
                          </a:rPr>
                          <m:t>∗</m:t>
                        </m:r>
                      </m:sup>
                    </m:sSup>
                    <m:r>
                      <a:rPr lang="pl-PL" sz="2600" i="1" dirty="0" smtClean="0">
                        <a:latin typeface="Cambria Math" panose="02040503050406030204" pitchFamily="18" charset="0"/>
                      </a:rPr>
                      <m:t>(</m:t>
                    </m:r>
                    <m:r>
                      <a:rPr lang="pl-PL" sz="2600" i="1" dirty="0" smtClean="0">
                        <a:latin typeface="Cambria Math" panose="02040503050406030204" pitchFamily="18" charset="0"/>
                      </a:rPr>
                      <m:t>𝑞</m:t>
                    </m:r>
                    <m:r>
                      <a:rPr lang="pl-PL" sz="2600" i="1" dirty="0" smtClean="0">
                        <a:latin typeface="Cambria Math" panose="02040503050406030204" pitchFamily="18" charset="0"/>
                      </a:rPr>
                      <m:t>, </m:t>
                    </m:r>
                    <m:r>
                      <a:rPr lang="pl-PL" sz="2600" i="1" dirty="0" smtClean="0">
                        <a:latin typeface="Cambria Math" panose="02040503050406030204" pitchFamily="18" charset="0"/>
                      </a:rPr>
                      <m:t>𝜀</m:t>
                    </m:r>
                    <m:r>
                      <a:rPr lang="pl-PL" sz="2600" i="1" dirty="0" smtClean="0">
                        <a:latin typeface="Cambria Math" panose="02040503050406030204" pitchFamily="18" charset="0"/>
                      </a:rPr>
                      <m:t>, </m:t>
                    </m:r>
                    <m:r>
                      <a:rPr lang="pl-PL" sz="2600" i="1" dirty="0" smtClean="0">
                        <a:latin typeface="Cambria Math" panose="02040503050406030204" pitchFamily="18" charset="0"/>
                      </a:rPr>
                      <m:t>𝜀</m:t>
                    </m:r>
                    <m:r>
                      <a:rPr lang="pl-PL" sz="2600" i="1" dirty="0" smtClean="0">
                        <a:latin typeface="Cambria Math" panose="02040503050406030204" pitchFamily="18" charset="0"/>
                      </a:rPr>
                      <m:t>)</m:t>
                    </m:r>
                  </m:oMath>
                </a14:m>
                <a:r>
                  <a:rPr lang="zh-CN" altLang="en-US" sz="2600" dirty="0"/>
                  <a:t>。</a:t>
                </a:r>
                <a:endParaRPr lang="en-AU"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1923690" y="4584115"/>
                <a:ext cx="7220310" cy="590226"/>
              </a:xfrm>
              <a:prstGeom prst="rect">
                <a:avLst/>
              </a:prstGeom>
              <a:blipFill rotWithShape="1">
                <a:blip r:embed="rId3"/>
                <a:stretch>
                  <a:fillRect l="-4" t="-8" b="61"/>
                </a:stretch>
              </a:blipFill>
            </p:spPr>
            <p:txBody>
              <a:bodyPr/>
              <a:lstStyle/>
              <a:p>
                <a:r>
                  <a:rPr lang="zh-CN" altLang="en-US">
                    <a:noFill/>
                  </a:rPr>
                  <a:t> </a:t>
                </a:r>
              </a:p>
            </p:txBody>
          </p:sp>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充分性证明</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52501"/>
                <a:ext cx="8229600" cy="5276850"/>
              </a:xfrm>
            </p:spPr>
            <p:txBody>
              <a:bodyPr>
                <a:normAutofit/>
              </a:bodyPr>
              <a:lstStyle/>
              <a:p>
                <a:r>
                  <a:rPr lang="zh-CN" altLang="en-US" dirty="0"/>
                  <a:t>充分性证明：</a:t>
                </a:r>
                <a:endParaRPr lang="en-AU" altLang="zh-CN" dirty="0"/>
              </a:p>
              <a:p>
                <a:pPr marL="0" indent="0">
                  <a:buNone/>
                </a:pPr>
                <a14:m>
                  <m:oMathPara xmlns:m="http://schemas.openxmlformats.org/officeDocument/2006/math">
                    <m:oMathParaPr>
                      <m:jc m:val="centerGroup"/>
                    </m:oMathParaPr>
                    <m:oMath xmlns:m="http://schemas.openxmlformats.org/officeDocument/2006/math">
                      <m:r>
                        <a:rPr lang="pl-PL" i="1" dirty="0" smtClean="0">
                          <a:latin typeface="Cambria Math" panose="02040503050406030204" pitchFamily="18" charset="0"/>
                        </a:rPr>
                        <m:t>𝑆</m:t>
                      </m:r>
                      <m:groupChr>
                        <m:groupChrPr>
                          <m:chr m:val="⇒"/>
                          <m:vertJc m:val="bot"/>
                          <m:ctrlPr>
                            <a:rPr lang="pl-PL" i="1" dirty="0">
                              <a:latin typeface="Cambria Math" panose="02040503050406030204" pitchFamily="18" charset="0"/>
                            </a:rPr>
                          </m:ctrlPr>
                        </m:groupChrPr>
                        <m:e>
                          <m:r>
                            <m:rPr>
                              <m:brk m:alnAt="2"/>
                            </m:rPr>
                            <a:rPr lang="en-AU" i="1" dirty="0">
                              <a:latin typeface="Cambria Math" panose="02040503050406030204" pitchFamily="18" charset="0"/>
                            </a:rPr>
                            <m:t>∗</m:t>
                          </m:r>
                        </m:e>
                      </m:groupChr>
                      <m:r>
                        <a:rPr lang="pl-PL" i="1" dirty="0" smtClean="0">
                          <a:latin typeface="Cambria Math" panose="02040503050406030204" pitchFamily="18" charset="0"/>
                        </a:rPr>
                        <m:t>𝑤</m:t>
                      </m:r>
                      <m:r>
                        <a:rPr lang="pl-PL" i="1" dirty="0" smtClean="0">
                          <a:latin typeface="Cambria Math" panose="02040503050406030204" pitchFamily="18" charset="0"/>
                        </a:rPr>
                        <m:t> ⇒ </m:t>
                      </m:r>
                      <m:d>
                        <m:dPr>
                          <m:ctrlPr>
                            <a:rPr lang="pl-PL" i="1" dirty="0" smtClean="0">
                              <a:latin typeface="Cambria Math" panose="02040503050406030204" pitchFamily="18" charset="0"/>
                            </a:rPr>
                          </m:ctrlPr>
                        </m:dPr>
                        <m:e>
                          <m:r>
                            <a:rPr lang="pl-PL" i="1" dirty="0" smtClean="0">
                              <a:latin typeface="Cambria Math" panose="02040503050406030204" pitchFamily="18" charset="0"/>
                            </a:rPr>
                            <m:t>𝑞</m:t>
                          </m:r>
                          <m:r>
                            <a:rPr lang="pl-PL" i="1" dirty="0" smtClean="0">
                              <a:latin typeface="Cambria Math" panose="02040503050406030204" pitchFamily="18" charset="0"/>
                            </a:rPr>
                            <m:t>, </m:t>
                          </m:r>
                          <m:r>
                            <a:rPr lang="pl-PL" i="1" dirty="0" smtClean="0">
                              <a:latin typeface="Cambria Math" panose="02040503050406030204" pitchFamily="18" charset="0"/>
                            </a:rPr>
                            <m:t>𝑤</m:t>
                          </m:r>
                          <m:r>
                            <a:rPr lang="pl-PL" i="1" dirty="0" smtClean="0">
                              <a:latin typeface="Cambria Math" panose="02040503050406030204" pitchFamily="18" charset="0"/>
                            </a:rPr>
                            <m:t>, </m:t>
                          </m:r>
                          <m:r>
                            <a:rPr lang="pl-PL" i="1" dirty="0" smtClean="0">
                              <a:latin typeface="Cambria Math" panose="02040503050406030204" pitchFamily="18" charset="0"/>
                            </a:rPr>
                            <m:t>𝑆</m:t>
                          </m:r>
                        </m:e>
                      </m:d>
                      <m:sSup>
                        <m:sSupPr>
                          <m:ctrlPr>
                            <a:rPr lang="pl-PL" i="1" dirty="0" smtClean="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b="0" i="1" dirty="0" smtClean="0">
                              <a:latin typeface="Cambria Math" panose="02040503050406030204" pitchFamily="18" charset="0"/>
                            </a:rPr>
                            <m:t>∗</m:t>
                          </m:r>
                        </m:sup>
                      </m:sSup>
                      <m:r>
                        <a:rPr lang="pl-PL" i="1" dirty="0" smtClean="0">
                          <a:latin typeface="Cambria Math" panose="02040503050406030204" pitchFamily="18" charset="0"/>
                        </a:rPr>
                        <m:t>(</m:t>
                      </m:r>
                      <m:r>
                        <a:rPr lang="pl-PL" i="1" dirty="0" smtClean="0">
                          <a:latin typeface="Cambria Math" panose="02040503050406030204" pitchFamily="18" charset="0"/>
                        </a:rPr>
                        <m:t>𝑞</m:t>
                      </m:r>
                      <m:r>
                        <a:rPr lang="pl-PL" i="1" dirty="0" smtClean="0">
                          <a:latin typeface="Cambria Math" panose="02040503050406030204" pitchFamily="18" charset="0"/>
                        </a:rPr>
                        <m:t>, </m:t>
                      </m:r>
                      <m:r>
                        <a:rPr lang="pl-PL" i="1" dirty="0" smtClean="0">
                          <a:latin typeface="Cambria Math" panose="02040503050406030204" pitchFamily="18" charset="0"/>
                        </a:rPr>
                        <m:t>𝜀</m:t>
                      </m:r>
                      <m:r>
                        <a:rPr lang="pl-PL" i="1" dirty="0" smtClean="0">
                          <a:latin typeface="Cambria Math" panose="02040503050406030204" pitchFamily="18" charset="0"/>
                        </a:rPr>
                        <m:t>, </m:t>
                      </m:r>
                      <m:r>
                        <a:rPr lang="pl-PL" i="1" dirty="0" smtClean="0">
                          <a:latin typeface="Cambria Math" panose="02040503050406030204" pitchFamily="18" charset="0"/>
                        </a:rPr>
                        <m:t>𝜀</m:t>
                      </m:r>
                      <m:r>
                        <a:rPr lang="pl-PL" i="1" dirty="0" smtClean="0">
                          <a:latin typeface="Cambria Math" panose="02040503050406030204" pitchFamily="18" charset="0"/>
                        </a:rPr>
                        <m:t>)</m:t>
                      </m:r>
                    </m:oMath>
                  </m:oMathPara>
                </a14:m>
                <a:endParaRPr lang="en-AU" dirty="0"/>
              </a:p>
              <a:p>
                <a:pPr marL="0" indent="0">
                  <a:buNone/>
                </a:pPr>
                <a:r>
                  <a:rPr lang="zh-CN" altLang="en-US" dirty="0"/>
                  <a:t>设</a:t>
                </a:r>
                <a14:m>
                  <m:oMath xmlns:m="http://schemas.openxmlformats.org/officeDocument/2006/math">
                    <m:r>
                      <a:rPr lang="pl-PL" i="1" dirty="0" smtClean="0">
                        <a:latin typeface="Cambria Math" panose="02040503050406030204" pitchFamily="18" charset="0"/>
                      </a:rPr>
                      <m:t>𝑆</m:t>
                    </m:r>
                    <m:groupChr>
                      <m:groupChrPr>
                        <m:chr m:val="⇒"/>
                        <m:vertJc m:val="bot"/>
                        <m:ctrlPr>
                          <a:rPr lang="pl-PL" i="1" dirty="0">
                            <a:latin typeface="Cambria Math" panose="02040503050406030204" pitchFamily="18" charset="0"/>
                          </a:rPr>
                        </m:ctrlPr>
                      </m:groupChrPr>
                      <m:e>
                        <m:r>
                          <m:rPr>
                            <m:brk m:alnAt="2"/>
                          </m:rPr>
                          <a:rPr lang="en-AU" i="1" dirty="0">
                            <a:latin typeface="Cambria Math" panose="02040503050406030204" pitchFamily="18" charset="0"/>
                          </a:rPr>
                          <m:t>∗</m:t>
                        </m:r>
                      </m:e>
                    </m:groupChr>
                    <m:r>
                      <a:rPr lang="pl-PL" i="1" dirty="0" smtClean="0">
                        <a:latin typeface="Cambria Math" panose="02040503050406030204" pitchFamily="18" charset="0"/>
                      </a:rPr>
                      <m:t>𝑤</m:t>
                    </m:r>
                  </m:oMath>
                </a14:m>
                <a:r>
                  <a:rPr lang="zh-CN" altLang="en-US" dirty="0"/>
                  <a:t>中第</a:t>
                </a:r>
                <a14:m>
                  <m:oMath xmlns:m="http://schemas.openxmlformats.org/officeDocument/2006/math">
                    <m:r>
                      <a:rPr lang="en-AU" i="1" dirty="0" smtClean="0">
                        <a:latin typeface="Cambria Math" panose="02040503050406030204" pitchFamily="18" charset="0"/>
                      </a:rPr>
                      <m:t>𝑖</m:t>
                    </m:r>
                    <m:r>
                      <a:rPr lang="en-AU" i="1" dirty="0" smtClean="0">
                        <a:latin typeface="Cambria Math" panose="02040503050406030204" pitchFamily="18" charset="0"/>
                      </a:rPr>
                      <m:t> </m:t>
                    </m:r>
                  </m:oMath>
                </a14:m>
                <a:r>
                  <a:rPr lang="zh-CN" altLang="en-US" dirty="0"/>
                  <a:t>个左句型为</a:t>
                </a:r>
                <a14:m>
                  <m:oMath xmlns:m="http://schemas.openxmlformats.org/officeDocument/2006/math">
                    <m:sSub>
                      <m:sSubPr>
                        <m:ctrlPr>
                          <a:rPr lang="en-AU" i="1" dirty="0" smtClean="0">
                            <a:latin typeface="Cambria Math" panose="02040503050406030204" pitchFamily="18" charset="0"/>
                          </a:rPr>
                        </m:ctrlPr>
                      </m:sSubPr>
                      <m:e>
                        <m:r>
                          <a:rPr lang="en-AU" b="0" i="1" dirty="0" smtClean="0">
                            <a:latin typeface="Cambria Math" panose="02040503050406030204" pitchFamily="18" charset="0"/>
                          </a:rPr>
                          <m:t>𝑥</m:t>
                        </m:r>
                      </m:e>
                      <m:sub>
                        <m:r>
                          <a:rPr lang="en-AU" b="0" i="1" dirty="0" smtClean="0">
                            <a:latin typeface="Cambria Math" panose="02040503050406030204" pitchFamily="18" charset="0"/>
                          </a:rPr>
                          <m:t>𝑖</m:t>
                        </m:r>
                      </m:sub>
                    </m:sSub>
                    <m:sSub>
                      <m:sSubPr>
                        <m:ctrlPr>
                          <a:rPr lang="en-AU" i="1" dirty="0" smtClean="0">
                            <a:latin typeface="Cambria Math" panose="02040503050406030204" pitchFamily="18" charset="0"/>
                          </a:rPr>
                        </m:ctrlPr>
                      </m:sSubPr>
                      <m:e>
                        <m:r>
                          <a:rPr lang="en-AU" b="0" i="1" dirty="0" smtClean="0">
                            <a:latin typeface="Cambria Math" panose="02040503050406030204" pitchFamily="18" charset="0"/>
                          </a:rPr>
                          <m:t>𝐴</m:t>
                        </m:r>
                      </m:e>
                      <m:sub>
                        <m:r>
                          <a:rPr lang="en-AU" b="0" i="1" dirty="0" smtClean="0">
                            <a:latin typeface="Cambria Math" panose="02040503050406030204" pitchFamily="18" charset="0"/>
                          </a:rPr>
                          <m:t>𝑖</m:t>
                        </m:r>
                      </m:sub>
                    </m:sSub>
                    <m:sSub>
                      <m:sSubPr>
                        <m:ctrlPr>
                          <a:rPr lang="en-AU" i="1" dirty="0" smtClean="0">
                            <a:latin typeface="Cambria Math" panose="02040503050406030204" pitchFamily="18" charset="0"/>
                          </a:rPr>
                        </m:ctrlPr>
                      </m:sSubPr>
                      <m:e>
                        <m:r>
                          <a:rPr lang="en-AU" i="1" dirty="0" smtClean="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rPr>
                          <m:t>𝑖</m:t>
                        </m:r>
                      </m:sub>
                    </m:sSub>
                  </m:oMath>
                </a14:m>
                <a:r>
                  <a:rPr lang="en-AU" dirty="0"/>
                  <a:t>,</a:t>
                </a:r>
                <a:r>
                  <a:rPr lang="zh-CN" altLang="en-US" dirty="0"/>
                  <a:t>其中</a:t>
                </a:r>
                <a14:m>
                  <m:oMath xmlns:m="http://schemas.openxmlformats.org/officeDocument/2006/math">
                    <m:r>
                      <a:rPr lang="en-AU" i="1" dirty="0" smtClean="0">
                        <a:latin typeface="Cambria Math" panose="02040503050406030204" pitchFamily="18" charset="0"/>
                      </a:rPr>
                      <m:t> </m:t>
                    </m:r>
                    <m:sSub>
                      <m:sSubPr>
                        <m:ctrlPr>
                          <a:rPr lang="en-AU" i="1" dirty="0" smtClean="0">
                            <a:latin typeface="Cambria Math" panose="02040503050406030204" pitchFamily="18" charset="0"/>
                          </a:rPr>
                        </m:ctrlPr>
                      </m:sSubPr>
                      <m:e>
                        <m:r>
                          <a:rPr lang="en-AU" b="0" i="1" dirty="0" smtClean="0">
                            <a:latin typeface="Cambria Math" panose="02040503050406030204" pitchFamily="18" charset="0"/>
                          </a:rPr>
                          <m:t>𝑥</m:t>
                        </m:r>
                      </m:e>
                      <m:sub>
                        <m:r>
                          <a:rPr lang="en-AU" b="0" i="1" dirty="0" smtClean="0">
                            <a:latin typeface="Cambria Math" panose="02040503050406030204" pitchFamily="18" charset="0"/>
                          </a:rPr>
                          <m:t>𝑖</m:t>
                        </m:r>
                      </m:sub>
                    </m:sSub>
                    <m:r>
                      <a:rPr lang="en-AU" i="1" dirty="0" smtClean="0">
                        <a:latin typeface="Cambria Math" panose="02040503050406030204" pitchFamily="18" charset="0"/>
                      </a:rPr>
                      <m:t>∈</m:t>
                    </m:r>
                    <m:sSup>
                      <m:sSupPr>
                        <m:ctrlPr>
                          <a:rPr lang="en-AU" i="1" dirty="0" smtClean="0">
                            <a:latin typeface="Cambria Math" panose="02040503050406030204" pitchFamily="18" charset="0"/>
                          </a:rPr>
                        </m:ctrlPr>
                      </m:sSupPr>
                      <m:e>
                        <m:r>
                          <m:rPr>
                            <m:sty m:val="p"/>
                          </m:rPr>
                          <a:rPr lang="el-GR" dirty="0">
                            <a:latin typeface="Cambria Math" panose="02040503050406030204" pitchFamily="18" charset="0"/>
                          </a:rPr>
                          <m:t>Σ</m:t>
                        </m:r>
                      </m:e>
                      <m:sup>
                        <m:r>
                          <a:rPr lang="en-AU" b="0" i="1" dirty="0" smtClean="0">
                            <a:latin typeface="Cambria Math" panose="02040503050406030204" pitchFamily="18" charset="0"/>
                          </a:rPr>
                          <m:t>∗</m:t>
                        </m:r>
                      </m:sup>
                    </m:sSup>
                    <m:r>
                      <a:rPr lang="en-AU" b="0" i="1" dirty="0" smtClean="0">
                        <a:latin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i="1" dirty="0">
                            <a:latin typeface="Cambria Math" panose="02040503050406030204" pitchFamily="18" charset="0"/>
                          </a:rPr>
                          <m:t>𝑖</m:t>
                        </m:r>
                      </m:sub>
                    </m:sSub>
                    <m:r>
                      <a:rPr lang="en-AU" i="1" dirty="0" smtClean="0">
                        <a:latin typeface="Cambria Math" panose="02040503050406030204" pitchFamily="18" charset="0"/>
                      </a:rPr>
                      <m:t>∈ </m:t>
                    </m:r>
                    <m:r>
                      <a:rPr lang="en-AU" i="1" dirty="0" smtClean="0">
                        <a:latin typeface="Cambria Math" panose="02040503050406030204" pitchFamily="18" charset="0"/>
                      </a:rPr>
                      <m:t>𝑉</m:t>
                    </m:r>
                  </m:oMath>
                </a14:m>
                <a:r>
                  <a:rPr lang="en-AU" dirty="0"/>
                  <a:t>,</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rPr>
                          <m:t>𝑖</m:t>
                        </m:r>
                      </m:sub>
                    </m:sSub>
                    <m:r>
                      <a:rPr lang="en-AU" i="1" dirty="0">
                        <a:latin typeface="Cambria Math" panose="02040503050406030204" pitchFamily="18" charset="0"/>
                      </a:rPr>
                      <m:t>∈ </m:t>
                    </m:r>
                    <m:sSup>
                      <m:sSupPr>
                        <m:ctrlPr>
                          <a:rPr lang="en-AU" i="1" dirty="0" smtClean="0">
                            <a:latin typeface="Cambria Math" panose="02040503050406030204" pitchFamily="18" charset="0"/>
                          </a:rPr>
                        </m:ctrlPr>
                      </m:sSupPr>
                      <m:e>
                        <m:r>
                          <a:rPr lang="en-AU" i="1" dirty="0">
                            <a:latin typeface="Cambria Math" panose="02040503050406030204" pitchFamily="18" charset="0"/>
                          </a:rPr>
                          <m:t>(</m:t>
                        </m:r>
                        <m:r>
                          <a:rPr lang="en-AU" i="1" dirty="0">
                            <a:latin typeface="Cambria Math" panose="02040503050406030204" pitchFamily="18" charset="0"/>
                          </a:rPr>
                          <m:t>𝑉</m:t>
                        </m:r>
                        <m:r>
                          <a:rPr lang="en-AU" i="1" dirty="0">
                            <a:latin typeface="Cambria Math" panose="02040503050406030204" pitchFamily="18" charset="0"/>
                          </a:rPr>
                          <m:t> ∪ </m:t>
                        </m:r>
                        <m:r>
                          <a:rPr lang="en-AU" i="1" dirty="0">
                            <a:latin typeface="Cambria Math" panose="02040503050406030204" pitchFamily="18" charset="0"/>
                          </a:rPr>
                          <m:t>𝑇</m:t>
                        </m:r>
                        <m:r>
                          <a:rPr lang="en-AU" i="1" dirty="0">
                            <a:latin typeface="Cambria Math" panose="02040503050406030204" pitchFamily="18" charset="0"/>
                          </a:rPr>
                          <m:t>)</m:t>
                        </m:r>
                      </m:e>
                      <m:sup>
                        <m:r>
                          <a:rPr lang="en-AU" b="0" i="1" dirty="0" smtClean="0">
                            <a:latin typeface="Cambria Math" panose="02040503050406030204" pitchFamily="18" charset="0"/>
                          </a:rPr>
                          <m:t>∗</m:t>
                        </m:r>
                      </m:sup>
                    </m:sSup>
                  </m:oMath>
                </a14:m>
                <a:r>
                  <a:rPr lang="en-AU" dirty="0"/>
                  <a:t>.</a:t>
                </a:r>
              </a:p>
              <a:p>
                <a:pPr marL="0" indent="0">
                  <a:buNone/>
                </a:pPr>
                <a:r>
                  <a:rPr lang="zh-CN" altLang="en-US" dirty="0"/>
                  <a:t>将</a:t>
                </a:r>
                <a14:m>
                  <m:oMath xmlns:m="http://schemas.openxmlformats.org/officeDocument/2006/math">
                    <m:r>
                      <a:rPr lang="en-US" altLang="zh-CN" i="1" dirty="0" smtClean="0">
                        <a:latin typeface="Cambria Math" panose="02040503050406030204" pitchFamily="18" charset="0"/>
                      </a:rPr>
                      <m:t>𝑆</m:t>
                    </m:r>
                  </m:oMath>
                </a14:m>
                <a:r>
                  <a:rPr lang="zh-CN" altLang="en-US" dirty="0"/>
                  <a:t>看作第</a:t>
                </a:r>
                <a:r>
                  <a:rPr lang="en-AU" altLang="zh-CN" dirty="0"/>
                  <a:t>0</a:t>
                </a:r>
                <a:r>
                  <a:rPr lang="zh-CN" altLang="en-US" dirty="0"/>
                  <a:t>个左句型，</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b="0" i="1" dirty="0" smtClean="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b="0" i="1" dirty="0" smtClean="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0</m:t>
                        </m:r>
                      </m:sub>
                    </m:sSub>
                    <m:r>
                      <a:rPr lang="en-AU" b="0" i="1" dirty="0" smtClean="0">
                        <a:latin typeface="Cambria Math" panose="02040503050406030204" pitchFamily="18" charset="0"/>
                      </a:rPr>
                      <m:t>=</m:t>
                    </m:r>
                    <m:r>
                      <a:rPr lang="en-AU" b="0" i="1" dirty="0" smtClean="0">
                        <a:latin typeface="Cambria Math" panose="02040503050406030204" pitchFamily="18" charset="0"/>
                      </a:rPr>
                      <m:t>𝑆</m:t>
                    </m:r>
                  </m:oMath>
                </a14:m>
                <a:r>
                  <a:rPr lang="en-AU" dirty="0"/>
                  <a:t>,</a:t>
                </a:r>
                <a:r>
                  <a:rPr lang="zh-CN" altLang="en-US" dirty="0"/>
                  <a:t>那么</a:t>
                </a:r>
                <a:endParaRPr lang="en-AU" altLang="zh-CN" dirty="0"/>
              </a:p>
              <a:p>
                <a:pPr marL="0" indent="0">
                  <a:buNone/>
                </a:pPr>
                <a14:m>
                  <m:oMathPara xmlns:m="http://schemas.openxmlformats.org/officeDocument/2006/math">
                    <m:oMathParaPr>
                      <m:jc m:val="centerGroup"/>
                    </m:oMathParaPr>
                    <m:oMath xmlns:m="http://schemas.openxmlformats.org/officeDocument/2006/math">
                      <m:sSub>
                        <m:sSubPr>
                          <m:ctrlPr>
                            <a:rPr lang="en-AU" i="1" dirty="0" smtClean="0">
                              <a:latin typeface="Cambria Math" panose="02040503050406030204" pitchFamily="18" charset="0"/>
                            </a:rPr>
                          </m:ctrlPr>
                        </m:sSubPr>
                        <m:e>
                          <m:r>
                            <a:rPr lang="en-AU" i="1" dirty="0">
                              <a:latin typeface="Cambria Math" panose="02040503050406030204" pitchFamily="18" charset="0"/>
                            </a:rPr>
                            <m:t>𝑥</m:t>
                          </m:r>
                        </m:e>
                        <m:sub>
                          <m:r>
                            <a:rPr lang="en-AU" b="0" i="1" dirty="0" smtClean="0">
                              <a:latin typeface="Cambria Math" panose="02040503050406030204" pitchFamily="18" charset="0"/>
                            </a:rPr>
                            <m:t>0</m:t>
                          </m:r>
                        </m:sub>
                      </m:sSub>
                      <m:r>
                        <a:rPr lang="en-AU" b="0" i="1" dirty="0" smtClean="0">
                          <a:latin typeface="Cambria Math" panose="02040503050406030204" pitchFamily="18" charset="0"/>
                        </a:rPr>
                        <m:t>=</m:t>
                      </m:r>
                      <m:r>
                        <a:rPr lang="pl-PL" i="1" dirty="0">
                          <a:latin typeface="Cambria Math" panose="02040503050406030204" pitchFamily="18" charset="0"/>
                        </a:rPr>
                        <m:t>𝜀</m:t>
                      </m:r>
                      <m:r>
                        <a:rPr lang="zh-CN" altLang="en-US" i="1" dirty="0" smtClean="0">
                          <a:latin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b="0" i="1" dirty="0" smtClean="0">
                              <a:latin typeface="Cambria Math" panose="02040503050406030204" pitchFamily="18" charset="0"/>
                            </a:rPr>
                            <m:t>0</m:t>
                          </m:r>
                        </m:sub>
                      </m:sSub>
                      <m:r>
                        <a:rPr lang="en-AU" b="0" i="1" dirty="0" smtClean="0">
                          <a:latin typeface="Cambria Math" panose="02040503050406030204" pitchFamily="18" charset="0"/>
                        </a:rPr>
                        <m:t>=</m:t>
                      </m:r>
                      <m:r>
                        <a:rPr lang="en-AU" b="0" i="1" dirty="0" smtClean="0">
                          <a:latin typeface="Cambria Math" panose="02040503050406030204" pitchFamily="18" charset="0"/>
                        </a:rPr>
                        <m:t>𝑆</m:t>
                      </m:r>
                      <m:r>
                        <a:rPr lang="en-AU" b="0" i="1" dirty="0" smtClean="0">
                          <a:latin typeface="Cambria Math" panose="02040503050406030204" pitchFamily="18" charset="0"/>
                        </a:rPr>
                        <m:t>, </m:t>
                      </m:r>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0</m:t>
                          </m:r>
                        </m:sub>
                      </m:sSub>
                      <m:r>
                        <a:rPr lang="en-AU" b="0" i="1" dirty="0" smtClean="0">
                          <a:latin typeface="Cambria Math" panose="02040503050406030204" pitchFamily="18" charset="0"/>
                        </a:rPr>
                        <m:t>=</m:t>
                      </m:r>
                      <m:r>
                        <a:rPr lang="pl-PL" i="1" dirty="0">
                          <a:latin typeface="Cambria Math" panose="02040503050406030204" pitchFamily="18" charset="0"/>
                        </a:rPr>
                        <m:t>𝜀</m:t>
                      </m:r>
                    </m:oMath>
                  </m:oMathPara>
                </a14:m>
                <a:br>
                  <a:rPr lang="en-AU" dirty="0"/>
                </a:br>
                <a:endParaRPr lang="en-AU" dirty="0"/>
              </a:p>
              <a:p>
                <a:pPr marL="0" indent="0">
                  <a:buNone/>
                </a:pPr>
                <a:r>
                  <a:rPr lang="zh-CN" altLang="en-US" dirty="0"/>
                  <a:t>将</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 </m:t>
                    </m:r>
                  </m:oMath>
                </a14:m>
                <a:r>
                  <a:rPr lang="zh-CN" altLang="en-US" dirty="0"/>
                  <a:t>看作为第</a:t>
                </a:r>
                <a14:m>
                  <m:oMath xmlns:m="http://schemas.openxmlformats.org/officeDocument/2006/math">
                    <m:r>
                      <a:rPr lang="en-AU" altLang="zh-CN" i="1" dirty="0" smtClean="0">
                        <a:latin typeface="Cambria Math" panose="02040503050406030204" pitchFamily="18" charset="0"/>
                      </a:rPr>
                      <m:t>𝑛</m:t>
                    </m:r>
                  </m:oMath>
                </a14:m>
                <a:r>
                  <a:rPr lang="zh-CN" altLang="en-US" dirty="0"/>
                  <a:t>个左句型</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b="0" i="1" dirty="0" smtClean="0">
                            <a:latin typeface="Cambria Math" panose="02040503050406030204" pitchFamily="18" charset="0"/>
                          </a:rPr>
                          <m:t>𝑛</m:t>
                        </m:r>
                      </m:sub>
                    </m:sSub>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b="0" i="1" dirty="0" smtClean="0">
                            <a:latin typeface="Cambria Math" panose="02040503050406030204" pitchFamily="18" charset="0"/>
                          </a:rPr>
                          <m:t>𝑛</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𝑛</m:t>
                        </m:r>
                      </m:sub>
                    </m:sSub>
                    <m:r>
                      <a:rPr lang="en-AU" i="1" dirty="0">
                        <a:latin typeface="Cambria Math" panose="02040503050406030204" pitchFamily="18" charset="0"/>
                      </a:rPr>
                      <m:t>=</m:t>
                    </m:r>
                    <m:r>
                      <a:rPr lang="en-AU" b="0" i="1" dirty="0" smtClean="0">
                        <a:latin typeface="Cambria Math" panose="02040503050406030204" pitchFamily="18" charset="0"/>
                      </a:rPr>
                      <m:t>𝑤</m:t>
                    </m:r>
                  </m:oMath>
                </a14:m>
                <a:r>
                  <a:rPr lang="en-AU" altLang="zh-CN" dirty="0"/>
                  <a:t>, </a:t>
                </a:r>
                <a:r>
                  <a:rPr lang="zh-CN" altLang="en-US" dirty="0"/>
                  <a:t>那么</a:t>
                </a:r>
                <a:endParaRPr lang="en-AU" altLang="zh-CN" dirty="0"/>
              </a:p>
              <a:p>
                <a:pPr marL="0" indent="0">
                  <a:buNone/>
                </a:pPr>
                <a14:m>
                  <m:oMathPara xmlns:m="http://schemas.openxmlformats.org/officeDocument/2006/math">
                    <m:oMathParaPr>
                      <m:jc m:val="centerGroup"/>
                    </m:oMathParaPr>
                    <m:oMath xmlns:m="http://schemas.openxmlformats.org/officeDocument/2006/math">
                      <m:sSub>
                        <m:sSubPr>
                          <m:ctrlPr>
                            <a:rPr lang="en-AU" i="1" dirty="0" smtClean="0">
                              <a:latin typeface="Cambria Math" panose="02040503050406030204" pitchFamily="18" charset="0"/>
                            </a:rPr>
                          </m:ctrlPr>
                        </m:sSubPr>
                        <m:e>
                          <m:r>
                            <a:rPr lang="en-AU" i="1" dirty="0">
                              <a:latin typeface="Cambria Math" panose="02040503050406030204" pitchFamily="18" charset="0"/>
                            </a:rPr>
                            <m:t>𝑥</m:t>
                          </m:r>
                        </m:e>
                        <m:sub>
                          <m:r>
                            <a:rPr lang="en-AU" b="0" i="1" dirty="0" smtClean="0">
                              <a:latin typeface="Cambria Math" panose="02040503050406030204" pitchFamily="18" charset="0"/>
                            </a:rPr>
                            <m:t>𝑛</m:t>
                          </m:r>
                        </m:sub>
                      </m:sSub>
                      <m:r>
                        <a:rPr lang="en-AU" b="0" i="1" dirty="0" smtClean="0">
                          <a:latin typeface="Cambria Math" panose="02040503050406030204" pitchFamily="18" charset="0"/>
                        </a:rPr>
                        <m:t>=</m:t>
                      </m:r>
                      <m:r>
                        <a:rPr lang="en-AU" b="0" i="1" dirty="0" smtClean="0">
                          <a:latin typeface="Cambria Math" panose="02040503050406030204" pitchFamily="18" charset="0"/>
                        </a:rPr>
                        <m:t>𝑤</m:t>
                      </m:r>
                      <m:r>
                        <a:rPr lang="zh-CN" altLang="en-US" i="1" dirty="0" smtClean="0">
                          <a:latin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b="0" i="1" dirty="0" smtClean="0">
                              <a:latin typeface="Cambria Math" panose="02040503050406030204" pitchFamily="18" charset="0"/>
                            </a:rPr>
                            <m:t>𝑛</m:t>
                          </m:r>
                        </m:sub>
                      </m:sSub>
                      <m:r>
                        <a:rPr lang="en-AU" b="0" i="1" dirty="0" smtClean="0">
                          <a:latin typeface="Cambria Math" panose="02040503050406030204" pitchFamily="18" charset="0"/>
                        </a:rPr>
                        <m:t>=</m:t>
                      </m:r>
                      <m:r>
                        <a:rPr lang="pl-PL" i="1" dirty="0">
                          <a:latin typeface="Cambria Math" panose="02040503050406030204" pitchFamily="18" charset="0"/>
                        </a:rPr>
                        <m:t>𝜀</m:t>
                      </m:r>
                      <m:r>
                        <a:rPr lang="en-AU" b="0" i="1" dirty="0" smtClean="0">
                          <a:latin typeface="Cambria Math" panose="02040503050406030204" pitchFamily="18" charset="0"/>
                        </a:rPr>
                        <m:t>, </m:t>
                      </m:r>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𝑛</m:t>
                          </m:r>
                        </m:sub>
                      </m:sSub>
                      <m:r>
                        <a:rPr lang="en-AU" b="0" i="1" dirty="0" smtClean="0">
                          <a:latin typeface="Cambria Math" panose="02040503050406030204" pitchFamily="18" charset="0"/>
                        </a:rPr>
                        <m:t>=</m:t>
                      </m:r>
                      <m:r>
                        <a:rPr lang="pl-PL" i="1" dirty="0">
                          <a:latin typeface="Cambria Math" panose="02040503050406030204" pitchFamily="18" charset="0"/>
                        </a:rPr>
                        <m:t>𝜀</m:t>
                      </m:r>
                    </m:oMath>
                  </m:oMathPara>
                </a14:m>
                <a:endParaRPr lang="en-AU" altLang="zh-CN" dirty="0"/>
              </a:p>
              <a:p>
                <a:pPr marL="0" indent="0">
                  <a:buNone/>
                </a:pPr>
                <a:r>
                  <a:rPr lang="zh-CN" altLang="en-US" dirty="0"/>
                  <a:t>再对派生步骤</a:t>
                </a:r>
                <a14:m>
                  <m:oMath xmlns:m="http://schemas.openxmlformats.org/officeDocument/2006/math">
                    <m:r>
                      <a:rPr lang="en-US" altLang="zh-CN" i="1" dirty="0" smtClean="0">
                        <a:latin typeface="Cambria Math" panose="02040503050406030204" pitchFamily="18" charset="0"/>
                      </a:rPr>
                      <m:t>𝑖</m:t>
                    </m:r>
                  </m:oMath>
                </a14:m>
                <a:r>
                  <a:rPr lang="zh-CN" altLang="en-US" dirty="0"/>
                  <a:t>归纳</a:t>
                </a:r>
                <a:r>
                  <a:rPr lang="en-US" altLang="zh-CN" dirty="0"/>
                  <a:t>, </a:t>
                </a:r>
                <a:r>
                  <a:rPr lang="zh-CN" altLang="en-US" dirty="0"/>
                  <a:t>往证</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altLang="zh-CN" i="1" dirty="0" smtClean="0">
                          <a:latin typeface="Cambria Math" panose="02040503050406030204" pitchFamily="18" charset="0"/>
                        </a:rPr>
                        <m:t>𝑆</m:t>
                      </m:r>
                      <m:r>
                        <a:rPr lang="en-AU" altLang="zh-CN" b="0" i="1" dirty="0" smtClean="0">
                          <a:latin typeface="Cambria Math" panose="02040503050406030204" pitchFamily="18" charset="0"/>
                        </a:rPr>
                        <m:t>      </m:t>
                      </m:r>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b="0" i="1" dirty="0" smtClean="0">
                              <a:latin typeface="Cambria Math" panose="02040503050406030204" pitchFamily="18" charset="0"/>
                            </a:rPr>
                            <m:t>𝑖</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𝐴</m:t>
                          </m:r>
                        </m:e>
                        <m:sub>
                          <m:r>
                            <a:rPr lang="en-AU" b="0" i="1" dirty="0" smtClean="0">
                              <a:solidFill>
                                <a:srgbClr val="0070C0"/>
                              </a:solidFill>
                              <a:latin typeface="Cambria Math" panose="02040503050406030204" pitchFamily="18" charset="0"/>
                            </a:rPr>
                            <m:t>𝑖</m:t>
                          </m:r>
                        </m:sub>
                      </m:sSub>
                      <m:sSub>
                        <m:sSubPr>
                          <m:ctrlPr>
                            <a:rPr lang="en-AU" i="1" dirty="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ea typeface="Cambria Math" panose="02040503050406030204" pitchFamily="18" charset="0"/>
                            </a:rPr>
                            <m:t>𝛼</m:t>
                          </m:r>
                        </m:e>
                        <m:sub>
                          <m:r>
                            <a:rPr lang="en-AU" b="0" i="1" dirty="0" smtClean="0">
                              <a:solidFill>
                                <a:srgbClr val="0070C0"/>
                              </a:solidFill>
                              <a:latin typeface="Cambria Math" panose="02040503050406030204" pitchFamily="18" charset="0"/>
                              <a:ea typeface="Cambria Math" panose="02040503050406030204" pitchFamily="18" charset="0"/>
                            </a:rPr>
                            <m:t>𝑖</m:t>
                          </m:r>
                        </m:sub>
                      </m:sSub>
                      <m:r>
                        <a:rPr lang="en-AU" altLang="zh-CN" i="1" dirty="0" smtClean="0">
                          <a:latin typeface="Cambria Math" panose="02040503050406030204" pitchFamily="18" charset="0"/>
                        </a:rPr>
                        <m:t>∧ </m:t>
                      </m:r>
                      <m:r>
                        <a:rPr lang="en-AU" altLang="zh-CN" i="1" dirty="0" smtClean="0">
                          <a:latin typeface="Cambria Math" panose="02040503050406030204" pitchFamily="18" charset="0"/>
                        </a:rPr>
                        <m:t>𝑤</m:t>
                      </m:r>
                      <m:r>
                        <a:rPr lang="en-AU" altLang="zh-CN" i="1" dirty="0" smtClean="0">
                          <a:latin typeface="Cambria Math" panose="02040503050406030204" pitchFamily="18" charset="0"/>
                        </a:rPr>
                        <m:t> =</m:t>
                      </m:r>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b="0" i="1" dirty="0" smtClean="0">
                              <a:latin typeface="Cambria Math" panose="02040503050406030204" pitchFamily="18" charset="0"/>
                            </a:rPr>
                            <m:t>𝑖</m:t>
                          </m:r>
                        </m:sub>
                      </m:sSub>
                      <m:sSub>
                        <m:sSubPr>
                          <m:ctrlPr>
                            <a:rPr lang="en-AU" i="1" dirty="0" smtClean="0">
                              <a:solidFill>
                                <a:srgbClr val="0070C0"/>
                              </a:solidFill>
                              <a:latin typeface="Cambria Math" panose="02040503050406030204" pitchFamily="18" charset="0"/>
                            </a:rPr>
                          </m:ctrlPr>
                        </m:sSubPr>
                        <m:e>
                          <m:r>
                            <a:rPr lang="en-AU" b="0" i="1" dirty="0" smtClean="0">
                              <a:solidFill>
                                <a:srgbClr val="0070C0"/>
                              </a:solidFill>
                              <a:latin typeface="Cambria Math" panose="02040503050406030204" pitchFamily="18" charset="0"/>
                            </a:rPr>
                            <m:t>𝑦</m:t>
                          </m:r>
                        </m:e>
                        <m:sub>
                          <m:r>
                            <a:rPr lang="en-AU" b="0" i="1" dirty="0" smtClean="0">
                              <a:solidFill>
                                <a:srgbClr val="0070C0"/>
                              </a:solidFill>
                              <a:latin typeface="Cambria Math" panose="02040503050406030204" pitchFamily="18" charset="0"/>
                            </a:rPr>
                            <m:t>𝑖</m:t>
                          </m:r>
                        </m:sub>
                      </m:sSub>
                      <m:r>
                        <a:rPr lang="en-AU" altLang="zh-CN" i="1" dirty="0" smtClean="0">
                          <a:latin typeface="Cambria Math" panose="02040503050406030204" pitchFamily="18" charset="0"/>
                        </a:rPr>
                        <m:t>⇒ (</m:t>
                      </m:r>
                      <m:r>
                        <a:rPr lang="en-AU" altLang="zh-CN" i="1" dirty="0" smtClean="0">
                          <a:latin typeface="Cambria Math" panose="02040503050406030204" pitchFamily="18" charset="0"/>
                        </a:rPr>
                        <m:t>𝑞</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𝑤</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sSup>
                        <m:sSupPr>
                          <m:ctrlPr>
                            <a:rPr lang="pl-PL" i="1" dirty="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r>
                        <a:rPr lang="en-AU" altLang="zh-CN" i="1" dirty="0" smtClean="0">
                          <a:latin typeface="Cambria Math" panose="02040503050406030204" pitchFamily="18" charset="0"/>
                        </a:rPr>
                        <m:t>(</m:t>
                      </m:r>
                      <m:r>
                        <a:rPr lang="en-AU" altLang="zh-CN" i="1" dirty="0" smtClean="0">
                          <a:latin typeface="Cambria Math" panose="02040503050406030204" pitchFamily="18" charset="0"/>
                        </a:rPr>
                        <m:t>𝑞</m:t>
                      </m:r>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b="0" i="1" dirty="0" smtClean="0">
                              <a:latin typeface="Cambria Math" panose="02040503050406030204" pitchFamily="18" charset="0"/>
                            </a:rPr>
                            <m:t>𝑖</m:t>
                          </m:r>
                        </m:sub>
                      </m:sSub>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𝐴</m:t>
                          </m:r>
                        </m:e>
                        <m:sub>
                          <m:r>
                            <a:rPr lang="en-AU" altLang="zh-CN" b="0" i="1" dirty="0" smtClean="0">
                              <a:latin typeface="Cambria Math" panose="02040503050406030204" pitchFamily="18" charset="0"/>
                            </a:rPr>
                            <m:t>𝑖</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𝑖</m:t>
                          </m:r>
                        </m:sub>
                      </m:sSub>
                      <m:r>
                        <a:rPr lang="en-AU" altLang="zh-CN" i="1" dirty="0" smtClean="0">
                          <a:latin typeface="Cambria Math" panose="02040503050406030204" pitchFamily="18" charset="0"/>
                        </a:rPr>
                        <m:t>)</m:t>
                      </m:r>
                    </m:oMath>
                  </m:oMathPara>
                </a14:m>
                <a:endParaRPr lang="zh-CN" altLang="en-US"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952501"/>
                <a:ext cx="8229600" cy="5276850"/>
              </a:xfrm>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a:xfrm>
            <a:off x="6553200" y="6229350"/>
            <a:ext cx="2133600" cy="365125"/>
          </a:xfrm>
        </p:spPr>
        <p:txBody>
          <a:bodyPr/>
          <a:lstStyle/>
          <a:p>
            <a:fld id="{0662E1F6-9BD6-474C-A82E-E07C3DB67AAE}" type="slidenum">
              <a:rPr lang="en-AU" smtClean="0"/>
              <a:t>71</a:t>
            </a:fld>
            <a:endParaRPr lang="en-AU"/>
          </a:p>
        </p:txBody>
      </p:sp>
      <p:grpSp>
        <p:nvGrpSpPr>
          <p:cNvPr id="19" name="Group 18"/>
          <p:cNvGrpSpPr/>
          <p:nvPr/>
        </p:nvGrpSpPr>
        <p:grpSpPr>
          <a:xfrm>
            <a:off x="903349" y="5349535"/>
            <a:ext cx="577401" cy="645130"/>
            <a:chOff x="-711082" y="1920518"/>
            <a:chExt cx="577401" cy="645130"/>
          </a:xfrm>
        </p:grpSpPr>
        <p:grpSp>
          <p:nvGrpSpPr>
            <p:cNvPr id="20" name="Group 19"/>
            <p:cNvGrpSpPr/>
            <p:nvPr/>
          </p:nvGrpSpPr>
          <p:grpSpPr>
            <a:xfrm>
              <a:off x="-711082" y="1920518"/>
              <a:ext cx="577401" cy="578247"/>
              <a:chOff x="1505068" y="3956328"/>
              <a:chExt cx="577401" cy="578247"/>
            </a:xfrm>
          </p:grpSpPr>
          <mc:AlternateContent xmlns:mc="http://schemas.openxmlformats.org/markup-compatibility/2006" xmlns:a14="http://schemas.microsoft.com/office/drawing/2010/main">
            <mc:Choice Requires="a14">
              <p:sp>
                <p:nvSpPr>
                  <p:cNvPr id="22" name="TextBox 21"/>
                  <p:cNvSpPr txBox="1"/>
                  <p:nvPr/>
                </p:nvSpPr>
                <p:spPr>
                  <a:xfrm>
                    <a:off x="1618882" y="3956328"/>
                    <a:ext cx="3186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𝑖</m:t>
                          </m:r>
                        </m:oMath>
                      </m:oMathPara>
                    </a14:m>
                    <a:endParaRPr lang="en-AU" dirty="0"/>
                  </a:p>
                </p:txBody>
              </p:sp>
            </mc:Choice>
            <mc:Fallback xmlns="">
              <p:sp>
                <p:nvSpPr>
                  <p:cNvPr id="22" name="TextBox 21"/>
                  <p:cNvSpPr txBox="1">
                    <a:spLocks noRot="1" noChangeAspect="1" noMove="1" noResize="1" noEditPoints="1" noAdjustHandles="1" noChangeArrowheads="1" noChangeShapeType="1" noTextEdit="1"/>
                  </p:cNvSpPr>
                  <p:nvPr/>
                </p:nvSpPr>
                <p:spPr>
                  <a:xfrm>
                    <a:off x="1618882" y="3956328"/>
                    <a:ext cx="318612"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1505068" y="4011355"/>
                    <a:ext cx="57740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l-PL" sz="2800" i="1" dirty="0" smtClean="0">
                              <a:latin typeface="Cambria Math" panose="02040503050406030204" pitchFamily="18" charset="0"/>
                            </a:rPr>
                            <m:t>⇒</m:t>
                          </m:r>
                        </m:oMath>
                      </m:oMathPara>
                    </a14:m>
                    <a:endParaRPr lang="en-AU" sz="2800" dirty="0"/>
                  </a:p>
                </p:txBody>
              </p:sp>
            </mc:Choice>
            <mc:Fallback xmlns="">
              <p:sp>
                <p:nvSpPr>
                  <p:cNvPr id="23" name="TextBox 22"/>
                  <p:cNvSpPr txBox="1">
                    <a:spLocks noRot="1" noChangeAspect="1" noMove="1" noResize="1" noEditPoints="1" noAdjustHandles="1" noChangeArrowheads="1" noChangeShapeType="1" noTextEdit="1"/>
                  </p:cNvSpPr>
                  <p:nvPr/>
                </p:nvSpPr>
                <p:spPr>
                  <a:xfrm>
                    <a:off x="1505068" y="4011355"/>
                    <a:ext cx="577401" cy="523220"/>
                  </a:xfrm>
                  <a:prstGeom prst="rect">
                    <a:avLst/>
                  </a:prstGeom>
                  <a:blipFill rotWithShape="1">
                    <a:blip r:embed="rId5"/>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1" name="TextBox 20"/>
                <p:cNvSpPr txBox="1"/>
                <p:nvPr/>
              </p:nvSpPr>
              <p:spPr>
                <a:xfrm>
                  <a:off x="-668616" y="2227094"/>
                  <a:ext cx="47032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sz="1600" i="1" dirty="0" smtClean="0">
                            <a:latin typeface="Cambria Math" panose="02040503050406030204" pitchFamily="18" charset="0"/>
                          </a:rPr>
                          <m:t>𝑙𝑚</m:t>
                        </m:r>
                      </m:oMath>
                    </m:oMathPara>
                  </a14:m>
                  <a:endParaRPr lang="en-AU" sz="1600" i="1" dirty="0"/>
                </a:p>
              </p:txBody>
            </p:sp>
          </mc:Choice>
          <mc:Fallback xmlns="">
            <p:sp>
              <p:nvSpPr>
                <p:cNvPr id="21" name="TextBox 20"/>
                <p:cNvSpPr txBox="1">
                  <a:spLocks noRot="1" noChangeAspect="1" noMove="1" noResize="1" noEditPoints="1" noAdjustHandles="1" noChangeArrowheads="1" noChangeShapeType="1" noTextEdit="1"/>
                </p:cNvSpPr>
                <p:nvPr/>
              </p:nvSpPr>
              <p:spPr>
                <a:xfrm>
                  <a:off x="-668616" y="2227094"/>
                  <a:ext cx="470322" cy="338554"/>
                </a:xfrm>
                <a:prstGeom prst="rect">
                  <a:avLst/>
                </a:prstGeom>
                <a:blipFill rotWithShape="1">
                  <a:blip r:embed="rId6"/>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4" name="TextBox 23"/>
              <p:cNvSpPr txBox="1"/>
              <p:nvPr/>
            </p:nvSpPr>
            <p:spPr>
              <a:xfrm>
                <a:off x="2513711" y="1795064"/>
                <a:ext cx="470322" cy="3860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sz="1600" i="1" dirty="0" smtClean="0">
                          <a:latin typeface="Cambria Math" panose="02040503050406030204" pitchFamily="18" charset="0"/>
                        </a:rPr>
                        <m:t>𝑙𝑚</m:t>
                      </m:r>
                    </m:oMath>
                  </m:oMathPara>
                </a14:m>
                <a:endParaRPr lang="en-AU" sz="1600" i="1" dirty="0"/>
              </a:p>
            </p:txBody>
          </p:sp>
        </mc:Choice>
        <mc:Fallback xmlns="">
          <p:sp>
            <p:nvSpPr>
              <p:cNvPr id="24" name="TextBox 23"/>
              <p:cNvSpPr txBox="1">
                <a:spLocks noRot="1" noChangeAspect="1" noMove="1" noResize="1" noEditPoints="1" noAdjustHandles="1" noChangeArrowheads="1" noChangeShapeType="1" noTextEdit="1"/>
              </p:cNvSpPr>
              <p:nvPr/>
            </p:nvSpPr>
            <p:spPr>
              <a:xfrm>
                <a:off x="2513711" y="1795064"/>
                <a:ext cx="470322" cy="386072"/>
              </a:xfrm>
              <a:prstGeom prst="rect">
                <a:avLst/>
              </a:prstGeom>
              <a:blipFill rotWithShape="1">
                <a:blip r:embed="rId7"/>
                <a:stretch>
                  <a:fillRect l="-81" t="-143" r="36" b="1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1115786" y="2400723"/>
                <a:ext cx="27952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1600" i="1" dirty="0" smtClean="0">
                          <a:latin typeface="Cambria Math" panose="02040503050406030204" pitchFamily="18" charset="0"/>
                        </a:rPr>
                        <m:t>𝑙𝑚</m:t>
                      </m:r>
                    </m:oMath>
                  </m:oMathPara>
                </a14:m>
                <a:endParaRPr lang="en-AU" sz="1600" i="1" dirty="0"/>
              </a:p>
            </p:txBody>
          </p:sp>
        </mc:Choice>
        <mc:Fallback xmlns="">
          <p:sp>
            <p:nvSpPr>
              <p:cNvPr id="25" name="TextBox 24"/>
              <p:cNvSpPr txBox="1">
                <a:spLocks noRot="1" noChangeAspect="1" noMove="1" noResize="1" noEditPoints="1" noAdjustHandles="1" noChangeArrowheads="1" noChangeShapeType="1" noTextEdit="1"/>
              </p:cNvSpPr>
              <p:nvPr/>
            </p:nvSpPr>
            <p:spPr>
              <a:xfrm>
                <a:off x="1115786" y="2400723"/>
                <a:ext cx="279528" cy="338554"/>
              </a:xfrm>
              <a:prstGeom prst="rect">
                <a:avLst/>
              </a:prstGeom>
              <a:blipFill rotWithShape="1">
                <a:blip r:embed="rId8"/>
                <a:stretch>
                  <a:fillRect l="-33" t="-125" r="-16505" b="154"/>
                </a:stretch>
              </a:blipFill>
            </p:spPr>
            <p:txBody>
              <a:bodyPr/>
              <a:lstStyle/>
              <a:p>
                <a:r>
                  <a:rPr lang="zh-CN" altLang="en-US">
                    <a:noFill/>
                  </a:rPr>
                  <a:t> </a:t>
                </a:r>
              </a:p>
            </p:txBody>
          </p:sp>
        </mc:Fallback>
      </mc:AlternateContent>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93800"/>
                <a:ext cx="8229600" cy="4932363"/>
              </a:xfrm>
            </p:spPr>
            <p:txBody>
              <a:bodyPr>
                <a:normAutofit fontScale="92500"/>
              </a:bodyPr>
              <a:lstStyle/>
              <a:p>
                <a:r>
                  <a:rPr lang="zh-CN" altLang="en-US" dirty="0"/>
                  <a:t>归纳基础</a:t>
                </a:r>
                <a:r>
                  <a:rPr lang="en-AU" altLang="zh-CN" dirty="0"/>
                  <a:t>:</a:t>
                </a:r>
                <a:r>
                  <a:rPr lang="zh-CN" altLang="en-US" dirty="0"/>
                  <a:t>当最左派生要</a:t>
                </a:r>
                <a:r>
                  <a:rPr lang="en-US" altLang="zh-CN" dirty="0"/>
                  <a:t>0</a:t>
                </a:r>
                <a:r>
                  <a:rPr lang="zh-CN" altLang="en-US" dirty="0"/>
                  <a:t>步时</a:t>
                </a:r>
                <a:r>
                  <a:rPr lang="en-US" altLang="zh-CN" dirty="0"/>
                  <a:t>, </a:t>
                </a:r>
                <a:r>
                  <a:rPr lang="zh-CN" altLang="en-US" dirty="0"/>
                  <a:t>显然成立</a:t>
                </a:r>
                <a:endParaRPr lang="en-AU" altLang="zh-CN" dirty="0"/>
              </a:p>
              <a:p>
                <a:pPr marL="0" indent="0">
                  <a:buNone/>
                </a:pPr>
                <a14:m>
                  <m:oMathPara xmlns:m="http://schemas.openxmlformats.org/officeDocument/2006/math">
                    <m:oMathParaPr>
                      <m:jc m:val="centerGroup"/>
                    </m:oMathParaPr>
                    <m:oMath xmlns:m="http://schemas.openxmlformats.org/officeDocument/2006/math">
                      <m:d>
                        <m:dPr>
                          <m:ctrlPr>
                            <a:rPr lang="en-AU" altLang="zh-CN" i="1" dirty="0" smtClean="0">
                              <a:latin typeface="Cambria Math" panose="02040503050406030204" pitchFamily="18" charset="0"/>
                            </a:rPr>
                          </m:ctrlPr>
                        </m:dPr>
                        <m:e>
                          <m:r>
                            <a:rPr lang="en-AU" altLang="zh-CN" i="1" dirty="0" smtClean="0">
                              <a:latin typeface="Cambria Math" panose="02040503050406030204" pitchFamily="18" charset="0"/>
                            </a:rPr>
                            <m:t>𝑞</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𝑤</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e>
                      </m:d>
                      <m:sSup>
                        <m:sSupPr>
                          <m:ctrlPr>
                            <a:rPr lang="pl-PL" i="1" dirty="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d>
                        <m:dPr>
                          <m:ctrlPr>
                            <a:rPr lang="en-AU" altLang="zh-CN" i="1" dirty="0" smtClean="0">
                              <a:latin typeface="Cambria Math" panose="02040503050406030204" pitchFamily="18" charset="0"/>
                            </a:rPr>
                          </m:ctrlPr>
                        </m:dPr>
                        <m:e>
                          <m:r>
                            <a:rPr lang="en-AU" altLang="zh-CN" i="1" dirty="0" smtClean="0">
                              <a:latin typeface="Cambria Math" panose="02040503050406030204" pitchFamily="18" charset="0"/>
                            </a:rPr>
                            <m:t>𝑞</m:t>
                          </m:r>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b="0" i="1" dirty="0" smtClean="0">
                                  <a:latin typeface="Cambria Math" panose="02040503050406030204" pitchFamily="18" charset="0"/>
                                </a:rPr>
                                <m:t>0</m:t>
                              </m:r>
                            </m:sub>
                          </m:sSub>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𝐴</m:t>
                              </m:r>
                            </m:e>
                            <m:sub>
                              <m:r>
                                <a:rPr lang="en-AU" altLang="zh-CN" b="0" i="1" dirty="0" smtClean="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0</m:t>
                              </m:r>
                            </m:sub>
                          </m:sSub>
                        </m:e>
                      </m:d>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𝑞</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𝑤</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𝑆</m:t>
                      </m:r>
                      <m:r>
                        <a:rPr lang="en-AU" altLang="zh-CN" b="0" i="1" dirty="0" smtClean="0">
                          <a:latin typeface="Cambria Math" panose="02040503050406030204" pitchFamily="18" charset="0"/>
                        </a:rPr>
                        <m:t>)</m:t>
                      </m:r>
                    </m:oMath>
                  </m:oMathPara>
                </a14:m>
                <a:endParaRPr lang="en-AU" dirty="0"/>
              </a:p>
              <a:p>
                <a:pPr marL="0" indent="0">
                  <a:buNone/>
                </a:pPr>
                <a:r>
                  <a:rPr lang="zh-CN" altLang="en-US" dirty="0"/>
                  <a:t>归纳递推</a:t>
                </a:r>
                <a:r>
                  <a:rPr lang="en-AU" altLang="zh-CN" dirty="0"/>
                  <a:t>:</a:t>
                </a:r>
                <a:r>
                  <a:rPr lang="zh-CN" altLang="en-US" dirty="0"/>
                  <a:t>假设派生</a:t>
                </a:r>
                <a14:m>
                  <m:oMath xmlns:m="http://schemas.openxmlformats.org/officeDocument/2006/math">
                    <m:r>
                      <a:rPr lang="en-US" altLang="zh-CN" i="1" dirty="0" smtClean="0">
                        <a:latin typeface="Cambria Math" panose="02040503050406030204" pitchFamily="18" charset="0"/>
                      </a:rPr>
                      <m:t>𝑖</m:t>
                    </m:r>
                  </m:oMath>
                </a14:m>
                <a:r>
                  <a:rPr lang="zh-CN" altLang="en-US" dirty="0"/>
                  <a:t>步时成立</a:t>
                </a:r>
                <a:r>
                  <a:rPr lang="en-AU" altLang="zh-CN" dirty="0"/>
                  <a:t>: </a:t>
                </a:r>
                <a14:m>
                  <m:oMath xmlns:m="http://schemas.openxmlformats.org/officeDocument/2006/math">
                    <m:r>
                      <a:rPr lang="en-AU" altLang="zh-CN" i="1" dirty="0">
                        <a:latin typeface="Cambria Math" panose="02040503050406030204" pitchFamily="18" charset="0"/>
                      </a:rPr>
                      <m:t>(</m:t>
                    </m:r>
                    <m:r>
                      <a:rPr lang="en-AU" altLang="zh-CN" i="1" dirty="0">
                        <a:latin typeface="Cambria Math" panose="02040503050406030204" pitchFamily="18" charset="0"/>
                      </a:rPr>
                      <m:t>𝑞</m:t>
                    </m:r>
                    <m:r>
                      <a:rPr lang="en-AU" altLang="zh-CN" i="1" dirty="0">
                        <a:latin typeface="Cambria Math" panose="02040503050406030204" pitchFamily="18" charset="0"/>
                      </a:rPr>
                      <m:t>, </m:t>
                    </m:r>
                    <m:r>
                      <a:rPr lang="en-AU" altLang="zh-CN" i="1" dirty="0">
                        <a:latin typeface="Cambria Math" panose="02040503050406030204" pitchFamily="18" charset="0"/>
                      </a:rPr>
                      <m:t>𝑤</m:t>
                    </m:r>
                    <m:r>
                      <a:rPr lang="en-AU" altLang="zh-CN" i="1" dirty="0">
                        <a:latin typeface="Cambria Math" panose="02040503050406030204" pitchFamily="18" charset="0"/>
                      </a:rPr>
                      <m:t>, </m:t>
                    </m:r>
                    <m:r>
                      <a:rPr lang="en-AU" altLang="zh-CN" i="1" dirty="0">
                        <a:latin typeface="Cambria Math" panose="02040503050406030204" pitchFamily="18" charset="0"/>
                      </a:rPr>
                      <m:t>𝑆</m:t>
                    </m:r>
                    <m:r>
                      <a:rPr lang="en-AU" altLang="zh-CN" i="1" dirty="0">
                        <a:latin typeface="Cambria Math" panose="02040503050406030204" pitchFamily="18" charset="0"/>
                      </a:rPr>
                      <m:t>)</m:t>
                    </m:r>
                    <m:sSup>
                      <m:sSupPr>
                        <m:ctrlPr>
                          <a:rPr lang="pl-PL" i="1" dirty="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r>
                      <a:rPr lang="en-AU" altLang="zh-CN" i="1" dirty="0">
                        <a:latin typeface="Cambria Math" panose="02040503050406030204" pitchFamily="18" charset="0"/>
                      </a:rPr>
                      <m:t>(</m:t>
                    </m:r>
                    <m:r>
                      <a:rPr lang="en-AU" altLang="zh-CN" i="1" dirty="0">
                        <a:latin typeface="Cambria Math" panose="02040503050406030204" pitchFamily="18" charset="0"/>
                      </a:rPr>
                      <m:t>𝑞</m:t>
                    </m:r>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𝑦</m:t>
                        </m:r>
                      </m:e>
                      <m:sub>
                        <m:r>
                          <a:rPr lang="en-AU" altLang="zh-CN" i="1" dirty="0">
                            <a:latin typeface="Cambria Math" panose="02040503050406030204" pitchFamily="18" charset="0"/>
                          </a:rPr>
                          <m:t>𝑖</m:t>
                        </m:r>
                      </m:sub>
                    </m:sSub>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𝐴</m:t>
                        </m:r>
                      </m:e>
                      <m:sub>
                        <m:r>
                          <a:rPr lang="en-AU" altLang="zh-CN" i="1" dirty="0">
                            <a:latin typeface="Cambria Math" panose="02040503050406030204" pitchFamily="18" charset="0"/>
                          </a:rPr>
                          <m:t>𝑖</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sub>
                    </m:sSub>
                    <m:r>
                      <a:rPr lang="en-AU" altLang="zh-CN" i="1" dirty="0">
                        <a:latin typeface="Cambria Math" panose="02040503050406030204" pitchFamily="18" charset="0"/>
                      </a:rPr>
                      <m:t>)</m:t>
                    </m:r>
                  </m:oMath>
                </a14:m>
                <a:endParaRPr lang="en-AU" altLang="zh-CN" dirty="0"/>
              </a:p>
              <a:p>
                <a:r>
                  <a:rPr lang="zh-CN" altLang="en-US" dirty="0"/>
                  <a:t>当第</a:t>
                </a:r>
                <a14:m>
                  <m:oMath xmlns:m="http://schemas.openxmlformats.org/officeDocument/2006/math">
                    <m:r>
                      <a:rPr lang="en-AU" altLang="zh-CN" b="0" i="1" smtClean="0">
                        <a:latin typeface="Cambria Math" panose="02040503050406030204" pitchFamily="18" charset="0"/>
                      </a:rPr>
                      <m:t>𝑖</m:t>
                    </m:r>
                    <m:r>
                      <a:rPr lang="en-AU" altLang="zh-CN" b="0" i="1" smtClean="0">
                        <a:latin typeface="Cambria Math" panose="02040503050406030204" pitchFamily="18" charset="0"/>
                      </a:rPr>
                      <m:t>+1</m:t>
                    </m:r>
                  </m:oMath>
                </a14:m>
                <a:r>
                  <a:rPr lang="zh-CN" altLang="en-US" dirty="0"/>
                  <a:t>步时，一定是产生式</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𝐴</m:t>
                        </m:r>
                      </m:e>
                      <m:sub>
                        <m:r>
                          <a:rPr lang="en-AU" altLang="zh-CN" b="0" i="1" dirty="0" smtClean="0">
                            <a:latin typeface="Cambria Math" panose="02040503050406030204" pitchFamily="18" charset="0"/>
                          </a:rPr>
                          <m:t>𝑖</m:t>
                        </m:r>
                      </m:sub>
                    </m:sSub>
                    <m:r>
                      <a:rPr lang="en-AU" altLang="zh-CN" i="1" dirty="0" smtClean="0">
                        <a:latin typeface="Cambria Math" panose="02040503050406030204" pitchFamily="18" charset="0"/>
                      </a:rPr>
                      <m:t>→ </m:t>
                    </m:r>
                    <m:r>
                      <a:rPr lang="el-GR" altLang="zh-CN" i="1" dirty="0">
                        <a:latin typeface="Cambria Math" panose="02040503050406030204" pitchFamily="18" charset="0"/>
                      </a:rPr>
                      <m:t>𝛽</m:t>
                    </m:r>
                    <m:r>
                      <a:rPr lang="el-GR" altLang="zh-CN" i="1" dirty="0">
                        <a:latin typeface="Cambria Math" panose="02040503050406030204" pitchFamily="18" charset="0"/>
                      </a:rPr>
                      <m:t> </m:t>
                    </m:r>
                  </m:oMath>
                </a14:m>
                <a:r>
                  <a:rPr lang="zh-CN" altLang="en-US" dirty="0"/>
                  <a:t>应用到</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i="1" dirty="0">
                            <a:latin typeface="Cambria Math" panose="02040503050406030204" pitchFamily="18" charset="0"/>
                          </a:rPr>
                          <m:t>𝑖</m:t>
                        </m:r>
                      </m:sub>
                    </m:sSub>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i="1" dirty="0">
                            <a:latin typeface="Cambria Math" panose="02040503050406030204" pitchFamily="18" charset="0"/>
                          </a:rPr>
                          <m:t>𝑖</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rPr>
                          <m:t>𝑖</m:t>
                        </m:r>
                      </m:sub>
                    </m:sSub>
                  </m:oMath>
                </a14:m>
                <a:endParaRPr lang="en-AU" dirty="0"/>
              </a:p>
              <a:p>
                <a:pPr marL="0" indent="0">
                  <a:buNone/>
                </a:pPr>
                <a14:m>
                  <m:oMathPara xmlns:m="http://schemas.openxmlformats.org/officeDocument/2006/math">
                    <m:oMathParaPr>
                      <m:jc m:val="centerGroup"/>
                    </m:oMathParaPr>
                    <m:oMath xmlns:m="http://schemas.openxmlformats.org/officeDocument/2006/math">
                      <m:r>
                        <a:rPr lang="en-AU" altLang="zh-CN" sz="2400" i="1" dirty="0" smtClean="0">
                          <a:latin typeface="Cambria Math" panose="02040503050406030204" pitchFamily="18" charset="0"/>
                        </a:rPr>
                        <m:t>𝑆</m:t>
                      </m:r>
                      <m:r>
                        <a:rPr lang="en-AU" altLang="zh-CN" sz="2400" b="0" i="1" dirty="0" smtClean="0">
                          <a:latin typeface="Cambria Math" panose="02040503050406030204" pitchFamily="18" charset="0"/>
                        </a:rPr>
                        <m:t> </m:t>
                      </m:r>
                      <m:groupChr>
                        <m:groupChrPr>
                          <m:chr m:val="⇒"/>
                          <m:vertJc m:val="bot"/>
                          <m:ctrlPr>
                            <a:rPr lang="en-AU" altLang="zh-CN" sz="2400" b="0" i="1" dirty="0" smtClean="0">
                              <a:latin typeface="Cambria Math" panose="02040503050406030204" pitchFamily="18" charset="0"/>
                            </a:rPr>
                          </m:ctrlPr>
                        </m:groupChrPr>
                        <m:e>
                          <m:r>
                            <m:rPr>
                              <m:brk m:alnAt="2"/>
                            </m:rPr>
                            <a:rPr lang="en-AU" altLang="zh-CN" sz="2400" b="0" i="1" dirty="0" smtClean="0">
                              <a:latin typeface="Cambria Math" panose="02040503050406030204" pitchFamily="18" charset="0"/>
                            </a:rPr>
                            <m:t>𝑖</m:t>
                          </m:r>
                        </m:e>
                      </m:groupChr>
                      <m:sSub>
                        <m:sSubPr>
                          <m:ctrlPr>
                            <a:rPr lang="en-AU" sz="2400" i="1" dirty="0">
                              <a:latin typeface="Cambria Math" panose="02040503050406030204" pitchFamily="18" charset="0"/>
                            </a:rPr>
                          </m:ctrlPr>
                        </m:sSubPr>
                        <m:e>
                          <m:r>
                            <a:rPr lang="en-AU" sz="2400" i="1" dirty="0">
                              <a:latin typeface="Cambria Math" panose="02040503050406030204" pitchFamily="18" charset="0"/>
                            </a:rPr>
                            <m:t>𝑥</m:t>
                          </m:r>
                        </m:e>
                        <m:sub>
                          <m:r>
                            <a:rPr lang="en-AU" sz="2400" b="0" i="1" dirty="0" smtClean="0">
                              <a:latin typeface="Cambria Math" panose="02040503050406030204" pitchFamily="18" charset="0"/>
                            </a:rPr>
                            <m:t>𝑖</m:t>
                          </m:r>
                        </m:sub>
                      </m:sSub>
                      <m:sSub>
                        <m:sSubPr>
                          <m:ctrlPr>
                            <a:rPr lang="en-AU" sz="2400" i="1" dirty="0">
                              <a:latin typeface="Cambria Math" panose="02040503050406030204" pitchFamily="18" charset="0"/>
                            </a:rPr>
                          </m:ctrlPr>
                        </m:sSubPr>
                        <m:e>
                          <m:r>
                            <a:rPr lang="en-AU" sz="2400" i="1" dirty="0">
                              <a:latin typeface="Cambria Math" panose="02040503050406030204" pitchFamily="18" charset="0"/>
                            </a:rPr>
                            <m:t>𝐴</m:t>
                          </m:r>
                        </m:e>
                        <m:sub>
                          <m:r>
                            <a:rPr lang="en-AU" sz="2400" b="0" i="1" dirty="0" smtClean="0">
                              <a:latin typeface="Cambria Math" panose="02040503050406030204" pitchFamily="18" charset="0"/>
                            </a:rPr>
                            <m:t>𝑖</m:t>
                          </m:r>
                        </m:sub>
                      </m:sSub>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𝛼</m:t>
                          </m:r>
                        </m:e>
                        <m:sub>
                          <m:r>
                            <a:rPr lang="en-AU" sz="2400" b="0" i="1" dirty="0" smtClean="0">
                              <a:latin typeface="Cambria Math" panose="02040503050406030204" pitchFamily="18" charset="0"/>
                              <a:ea typeface="Cambria Math" panose="02040503050406030204" pitchFamily="18" charset="0"/>
                            </a:rPr>
                            <m:t>𝑖</m:t>
                          </m:r>
                        </m:sub>
                      </m:sSub>
                      <m:r>
                        <a:rPr lang="en-AU" sz="2400" b="0" i="1" dirty="0" smtClean="0">
                          <a:latin typeface="Cambria Math" panose="02040503050406030204" pitchFamily="18" charset="0"/>
                          <a:ea typeface="Cambria Math" panose="02040503050406030204" pitchFamily="18" charset="0"/>
                        </a:rPr>
                        <m:t> </m:t>
                      </m:r>
                      <m:groupChr>
                        <m:groupChrPr>
                          <m:chr m:val="⇒"/>
                          <m:pos m:val="top"/>
                          <m:ctrlPr>
                            <a:rPr lang="en-AU" sz="2400" b="0" i="1" dirty="0" smtClean="0">
                              <a:latin typeface="Cambria Math" panose="02040503050406030204" pitchFamily="18" charset="0"/>
                              <a:ea typeface="Cambria Math" panose="02040503050406030204" pitchFamily="18" charset="0"/>
                            </a:rPr>
                          </m:ctrlPr>
                        </m:groupChrPr>
                        <m:e>
                          <m:r>
                            <m:rPr>
                              <m:brk m:alnAt="1"/>
                            </m:rPr>
                            <a:rPr lang="en-AU" sz="2400" b="0" i="1" dirty="0" smtClean="0">
                              <a:latin typeface="Cambria Math" panose="02040503050406030204" pitchFamily="18" charset="0"/>
                              <a:ea typeface="Cambria Math" panose="02040503050406030204" pitchFamily="18" charset="0"/>
                            </a:rPr>
                            <m:t>𝑙</m:t>
                          </m:r>
                          <m:r>
                            <a:rPr lang="en-AU" sz="2400" b="0" i="1" dirty="0" smtClean="0">
                              <a:latin typeface="Cambria Math" panose="02040503050406030204" pitchFamily="18" charset="0"/>
                              <a:ea typeface="Cambria Math" panose="02040503050406030204" pitchFamily="18" charset="0"/>
                            </a:rPr>
                            <m:t>𝑚</m:t>
                          </m:r>
                        </m:e>
                      </m:groupChr>
                      <m:sSub>
                        <m:sSubPr>
                          <m:ctrlPr>
                            <a:rPr lang="en-AU" sz="2400" i="1" dirty="0">
                              <a:latin typeface="Cambria Math" panose="02040503050406030204" pitchFamily="18" charset="0"/>
                            </a:rPr>
                          </m:ctrlPr>
                        </m:sSubPr>
                        <m:e>
                          <m:r>
                            <a:rPr lang="en-AU" sz="2400" i="1" dirty="0">
                              <a:latin typeface="Cambria Math" panose="02040503050406030204" pitchFamily="18" charset="0"/>
                            </a:rPr>
                            <m:t>𝑥</m:t>
                          </m:r>
                        </m:e>
                        <m:sub>
                          <m:r>
                            <a:rPr lang="en-AU" sz="2400" i="1" dirty="0">
                              <a:latin typeface="Cambria Math" panose="02040503050406030204" pitchFamily="18" charset="0"/>
                            </a:rPr>
                            <m:t>𝑖</m:t>
                          </m:r>
                        </m:sub>
                      </m:sSub>
                      <m:r>
                        <a:rPr lang="en-AU" sz="2400" i="1" dirty="0" smtClean="0">
                          <a:latin typeface="Cambria Math" panose="02040503050406030204" pitchFamily="18" charset="0"/>
                          <a:ea typeface="Cambria Math" panose="02040503050406030204" pitchFamily="18" charset="0"/>
                        </a:rPr>
                        <m:t>𝛽</m:t>
                      </m:r>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𝛼</m:t>
                          </m:r>
                        </m:e>
                        <m:sub>
                          <m:r>
                            <a:rPr lang="en-AU" sz="2400" i="1" dirty="0">
                              <a:latin typeface="Cambria Math" panose="02040503050406030204" pitchFamily="18" charset="0"/>
                              <a:ea typeface="Cambria Math" panose="02040503050406030204" pitchFamily="18" charset="0"/>
                            </a:rPr>
                            <m:t>𝑖</m:t>
                          </m:r>
                        </m:sub>
                      </m:sSub>
                      <m:r>
                        <a:rPr lang="en-AU" altLang="zh-CN" sz="2400" i="1" dirty="0" smtClean="0">
                          <a:latin typeface="Cambria Math" panose="02040503050406030204" pitchFamily="18" charset="0"/>
                        </a:rPr>
                        <m:t>=</m:t>
                      </m:r>
                      <m:sSub>
                        <m:sSubPr>
                          <m:ctrlPr>
                            <a:rPr lang="en-AU" sz="2400" i="1" dirty="0">
                              <a:latin typeface="Cambria Math" panose="02040503050406030204" pitchFamily="18" charset="0"/>
                            </a:rPr>
                          </m:ctrlPr>
                        </m:sSubPr>
                        <m:e>
                          <m:r>
                            <a:rPr lang="en-AU" sz="2400" i="1" dirty="0">
                              <a:latin typeface="Cambria Math" panose="02040503050406030204" pitchFamily="18" charset="0"/>
                            </a:rPr>
                            <m:t>𝑥</m:t>
                          </m:r>
                        </m:e>
                        <m:sub>
                          <m:r>
                            <a:rPr lang="en-AU" sz="2400" i="1" dirty="0">
                              <a:latin typeface="Cambria Math" panose="02040503050406030204" pitchFamily="18" charset="0"/>
                            </a:rPr>
                            <m:t>𝑖</m:t>
                          </m:r>
                          <m:r>
                            <a:rPr lang="en-AU" sz="2400" b="0" i="1" dirty="0" smtClean="0">
                              <a:latin typeface="Cambria Math" panose="02040503050406030204" pitchFamily="18" charset="0"/>
                            </a:rPr>
                            <m:t>+1</m:t>
                          </m:r>
                        </m:sub>
                      </m:sSub>
                      <m:sSub>
                        <m:sSubPr>
                          <m:ctrlPr>
                            <a:rPr lang="en-AU" sz="2400" i="1" dirty="0">
                              <a:latin typeface="Cambria Math" panose="02040503050406030204" pitchFamily="18" charset="0"/>
                            </a:rPr>
                          </m:ctrlPr>
                        </m:sSubPr>
                        <m:e>
                          <m:r>
                            <a:rPr lang="en-AU" sz="2400" i="1" dirty="0">
                              <a:latin typeface="Cambria Math" panose="02040503050406030204" pitchFamily="18" charset="0"/>
                            </a:rPr>
                            <m:t>𝐴</m:t>
                          </m:r>
                        </m:e>
                        <m:sub>
                          <m:r>
                            <a:rPr lang="en-AU" sz="2400" i="1" dirty="0">
                              <a:latin typeface="Cambria Math" panose="02040503050406030204" pitchFamily="18" charset="0"/>
                            </a:rPr>
                            <m:t>𝑖</m:t>
                          </m:r>
                          <m:r>
                            <a:rPr lang="en-AU" sz="2400" b="0" i="1" dirty="0" smtClean="0">
                              <a:latin typeface="Cambria Math" panose="02040503050406030204" pitchFamily="18" charset="0"/>
                            </a:rPr>
                            <m:t>+1</m:t>
                          </m:r>
                        </m:sub>
                      </m:sSub>
                      <m:sSub>
                        <m:sSubPr>
                          <m:ctrlPr>
                            <a:rPr lang="en-AU" sz="2400" i="1" dirty="0">
                              <a:latin typeface="Cambria Math" panose="02040503050406030204" pitchFamily="18" charset="0"/>
                            </a:rPr>
                          </m:ctrlPr>
                        </m:sSubPr>
                        <m:e>
                          <m:r>
                            <a:rPr lang="en-AU" sz="2400" i="1" dirty="0">
                              <a:latin typeface="Cambria Math" panose="02040503050406030204" pitchFamily="18" charset="0"/>
                              <a:ea typeface="Cambria Math" panose="02040503050406030204" pitchFamily="18" charset="0"/>
                            </a:rPr>
                            <m:t>𝛼</m:t>
                          </m:r>
                        </m:e>
                        <m:sub>
                          <m:r>
                            <a:rPr lang="en-AU" sz="2400" i="1" dirty="0">
                              <a:latin typeface="Cambria Math" panose="02040503050406030204" pitchFamily="18" charset="0"/>
                              <a:ea typeface="Cambria Math" panose="02040503050406030204" pitchFamily="18" charset="0"/>
                            </a:rPr>
                            <m:t>𝑖</m:t>
                          </m:r>
                          <m:r>
                            <a:rPr lang="en-AU" sz="2400" b="0" i="1" dirty="0" smtClean="0">
                              <a:latin typeface="Cambria Math" panose="02040503050406030204" pitchFamily="18" charset="0"/>
                              <a:ea typeface="Cambria Math" panose="02040503050406030204" pitchFamily="18" charset="0"/>
                            </a:rPr>
                            <m:t>+1</m:t>
                          </m:r>
                        </m:sub>
                      </m:sSub>
                    </m:oMath>
                  </m:oMathPara>
                </a14:m>
                <a:endParaRPr lang="en-AU" dirty="0"/>
              </a:p>
              <a:p>
                <a:pPr marL="0" indent="0">
                  <a:buNone/>
                </a:pPr>
                <a:r>
                  <a:rPr lang="zh-CN" altLang="en-US" dirty="0"/>
                  <a:t>设第一个变元为</a:t>
                </a:r>
                <a14:m>
                  <m:oMath xmlns:m="http://schemas.openxmlformats.org/officeDocument/2006/math">
                    <m:sSub>
                      <m:sSubPr>
                        <m:ctrlPr>
                          <a:rPr lang="en-AU" i="1" dirty="0" smtClean="0">
                            <a:latin typeface="Cambria Math" panose="02040503050406030204" pitchFamily="18" charset="0"/>
                          </a:rPr>
                        </m:ctrlPr>
                      </m:sSubPr>
                      <m:e>
                        <m:r>
                          <a:rPr lang="en-AU" i="1" dirty="0">
                            <a:latin typeface="Cambria Math" panose="02040503050406030204" pitchFamily="18" charset="0"/>
                          </a:rPr>
                          <m:t>𝐴</m:t>
                        </m:r>
                      </m:e>
                      <m:sub>
                        <m:r>
                          <a:rPr lang="en-AU" b="0" i="1" dirty="0" smtClean="0">
                            <a:latin typeface="Cambria Math" panose="02040503050406030204" pitchFamily="18" charset="0"/>
                          </a:rPr>
                          <m:t>𝑖</m:t>
                        </m:r>
                        <m:r>
                          <a:rPr lang="en-AU" b="0" i="1" dirty="0" smtClean="0">
                            <a:latin typeface="Cambria Math" panose="02040503050406030204" pitchFamily="18" charset="0"/>
                          </a:rPr>
                          <m:t>+1</m:t>
                        </m:r>
                      </m:sub>
                    </m:sSub>
                  </m:oMath>
                </a14:m>
                <a:r>
                  <a:rPr lang="zh-CN" altLang="en-US" dirty="0"/>
                  <a:t>，则一定在</a:t>
                </a:r>
                <a14:m>
                  <m:oMath xmlns:m="http://schemas.openxmlformats.org/officeDocument/2006/math">
                    <m:r>
                      <a:rPr lang="en-AU" i="1" dirty="0">
                        <a:latin typeface="Cambria Math" panose="02040503050406030204" pitchFamily="18" charset="0"/>
                        <a:ea typeface="Cambria Math" panose="02040503050406030204" pitchFamily="18" charset="0"/>
                      </a:rPr>
                      <m:t>𝛽</m:t>
                    </m:r>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sub>
                    </m:sSub>
                  </m:oMath>
                </a14:m>
                <a:r>
                  <a:rPr lang="zh-CN" altLang="en-US" dirty="0"/>
                  <a:t>中。</a:t>
                </a:r>
                <a:endParaRPr lang="en-AU" altLang="zh-CN" dirty="0"/>
              </a:p>
              <a:p>
                <a:pPr marL="0" indent="0">
                  <a:buNone/>
                </a:pPr>
                <a:r>
                  <a:rPr lang="zh-CN" altLang="en-US" dirty="0"/>
                  <a:t>设</a:t>
                </a:r>
                <a14:m>
                  <m:oMath xmlns:m="http://schemas.openxmlformats.org/officeDocument/2006/math">
                    <m:sSub>
                      <m:sSubPr>
                        <m:ctrlPr>
                          <a:rPr lang="en-AU" i="1" dirty="0" smtClean="0">
                            <a:latin typeface="Cambria Math" panose="02040503050406030204" pitchFamily="18" charset="0"/>
                          </a:rPr>
                        </m:ctrlPr>
                      </m:sSubPr>
                      <m:e>
                        <m:r>
                          <a:rPr lang="en-AU" i="1" dirty="0">
                            <a:latin typeface="Cambria Math" panose="02040503050406030204" pitchFamily="18" charset="0"/>
                          </a:rPr>
                          <m:t>𝐴</m:t>
                        </m:r>
                      </m:e>
                      <m:sub>
                        <m:r>
                          <a:rPr lang="en-AU" b="0" i="1" dirty="0" smtClean="0">
                            <a:latin typeface="Cambria Math" panose="02040503050406030204" pitchFamily="18" charset="0"/>
                          </a:rPr>
                          <m:t>𝑖</m:t>
                        </m:r>
                        <m:r>
                          <a:rPr lang="en-AU" b="0" i="1" dirty="0" smtClean="0">
                            <a:latin typeface="Cambria Math" panose="02040503050406030204" pitchFamily="18" charset="0"/>
                          </a:rPr>
                          <m:t>+1</m:t>
                        </m:r>
                      </m:sub>
                    </m:sSub>
                  </m:oMath>
                </a14:m>
                <a:r>
                  <a:rPr lang="zh-CN" altLang="en-US" dirty="0"/>
                  <a:t>之前的终结符为</a:t>
                </a:r>
                <a14:m>
                  <m:oMath xmlns:m="http://schemas.openxmlformats.org/officeDocument/2006/math">
                    <m:r>
                      <a:rPr lang="en-AU" altLang="zh-CN" b="0" i="1" smtClean="0">
                        <a:latin typeface="Cambria Math" panose="02040503050406030204" pitchFamily="18" charset="0"/>
                      </a:rPr>
                      <m:t>𝑥</m:t>
                    </m:r>
                    <m:r>
                      <a:rPr lang="en-AU" altLang="zh-CN" b="0" i="1" smtClean="0">
                        <a:latin typeface="Cambria Math" panose="02040503050406030204" pitchFamily="18" charset="0"/>
                      </a:rPr>
                      <m:t>′</m:t>
                    </m:r>
                  </m:oMath>
                </a14:m>
                <a:r>
                  <a:rPr lang="en-AU" dirty="0"/>
                  <a:t>,</a:t>
                </a:r>
                <a:r>
                  <a:rPr lang="zh-CN" altLang="en-US" dirty="0"/>
                  <a:t>则有</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i="1" dirty="0">
                            <a:latin typeface="Cambria Math" panose="02040503050406030204" pitchFamily="18" charset="0"/>
                          </a:rPr>
                          <m:t>𝑖</m:t>
                        </m:r>
                      </m:sub>
                    </m:sSub>
                    <m:r>
                      <a:rPr lang="en-AU" i="1" dirty="0">
                        <a:latin typeface="Cambria Math" panose="02040503050406030204" pitchFamily="18" charset="0"/>
                        <a:ea typeface="Cambria Math" panose="02040503050406030204" pitchFamily="18" charset="0"/>
                      </a:rPr>
                      <m:t>𝛽</m:t>
                    </m:r>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sub>
                    </m:sSub>
                    <m:r>
                      <a:rPr lang="en-AU" b="0" i="1" dirty="0" smtClean="0">
                        <a:latin typeface="Cambria Math" panose="02040503050406030204" pitchFamily="18" charset="0"/>
                        <a:ea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i="1" dirty="0">
                            <a:latin typeface="Cambria Math" panose="02040503050406030204" pitchFamily="18" charset="0"/>
                          </a:rPr>
                          <m:t>𝑖</m:t>
                        </m:r>
                      </m:sub>
                    </m:sSub>
                    <m:r>
                      <a:rPr lang="en-AU" b="0" i="1" dirty="0" smtClean="0">
                        <a:latin typeface="Cambria Math" panose="02040503050406030204" pitchFamily="18" charset="0"/>
                        <a:ea typeface="Cambria Math" panose="02040503050406030204" pitchFamily="18" charset="0"/>
                      </a:rPr>
                      <m:t>𝑥</m:t>
                    </m:r>
                    <m:r>
                      <a:rPr lang="en-AU" b="0" i="1" dirty="0" smtClean="0">
                        <a:latin typeface="Cambria Math" panose="02040503050406030204" pitchFamily="18" charset="0"/>
                        <a:ea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i="1" dirty="0">
                            <a:latin typeface="Cambria Math" panose="02040503050406030204" pitchFamily="18" charset="0"/>
                          </a:rPr>
                          <m:t>𝑖</m:t>
                        </m:r>
                        <m:r>
                          <a:rPr lang="en-AU" i="1" dirty="0">
                            <a:latin typeface="Cambria Math" panose="02040503050406030204" pitchFamily="18" charset="0"/>
                          </a:rPr>
                          <m:t>+1</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r>
                          <a:rPr lang="en-AU" i="1" dirty="0">
                            <a:latin typeface="Cambria Math" panose="02040503050406030204" pitchFamily="18" charset="0"/>
                            <a:ea typeface="Cambria Math" panose="02040503050406030204" pitchFamily="18" charset="0"/>
                          </a:rPr>
                          <m:t>+1</m:t>
                        </m:r>
                      </m:sub>
                    </m:sSub>
                  </m:oMath>
                </a14:m>
                <a:r>
                  <a:rPr lang="zh-CN" altLang="en-US" dirty="0"/>
                  <a:t>，故</a:t>
                </a:r>
                <a14:m>
                  <m:oMath xmlns:m="http://schemas.openxmlformats.org/officeDocument/2006/math">
                    <m:r>
                      <a:rPr lang="en-AU" i="1" dirty="0">
                        <a:latin typeface="Cambria Math" panose="02040503050406030204" pitchFamily="18" charset="0"/>
                        <a:ea typeface="Cambria Math" panose="02040503050406030204" pitchFamily="18" charset="0"/>
                      </a:rPr>
                      <m:t>𝛽</m:t>
                    </m:r>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sub>
                    </m:sSub>
                    <m:r>
                      <a:rPr lang="en-AU" b="0" i="1" dirty="0" smtClean="0">
                        <a:latin typeface="Cambria Math" panose="02040503050406030204" pitchFamily="18" charset="0"/>
                        <a:ea typeface="Cambria Math" panose="02040503050406030204" pitchFamily="18" charset="0"/>
                      </a:rPr>
                      <m:t>=</m:t>
                    </m:r>
                    <m:r>
                      <a:rPr lang="en-AU" i="1" dirty="0">
                        <a:latin typeface="Cambria Math" panose="02040503050406030204" pitchFamily="18" charset="0"/>
                        <a:ea typeface="Cambria Math" panose="02040503050406030204" pitchFamily="18" charset="0"/>
                      </a:rPr>
                      <m:t>𝑥</m:t>
                    </m:r>
                    <m:r>
                      <a:rPr lang="en-AU" i="1" dirty="0">
                        <a:latin typeface="Cambria Math" panose="02040503050406030204" pitchFamily="18" charset="0"/>
                        <a:ea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i="1" dirty="0">
                            <a:latin typeface="Cambria Math" panose="02040503050406030204" pitchFamily="18" charset="0"/>
                          </a:rPr>
                          <m:t>𝑖</m:t>
                        </m:r>
                        <m:r>
                          <a:rPr lang="en-AU" i="1" dirty="0">
                            <a:latin typeface="Cambria Math" panose="02040503050406030204" pitchFamily="18" charset="0"/>
                          </a:rPr>
                          <m:t>+1</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r>
                          <a:rPr lang="en-AU" i="1" dirty="0">
                            <a:latin typeface="Cambria Math" panose="02040503050406030204" pitchFamily="18" charset="0"/>
                            <a:ea typeface="Cambria Math" panose="02040503050406030204" pitchFamily="18" charset="0"/>
                          </a:rPr>
                          <m:t>+1</m:t>
                        </m:r>
                      </m:sub>
                    </m:sSub>
                  </m:oMath>
                </a14:m>
                <a:r>
                  <a:rPr lang="zh-CN" altLang="en-US" dirty="0"/>
                  <a:t>。</a:t>
                </a:r>
                <a:endParaRPr lang="en-AU" dirty="0"/>
              </a:p>
              <a:p>
                <a:pPr marL="0" indent="0">
                  <a:buNone/>
                </a:pPr>
                <a:r>
                  <a:rPr lang="zh-CN" altLang="en-US" dirty="0"/>
                  <a:t>又因为</a:t>
                </a:r>
                <a14:m>
                  <m:oMath xmlns:m="http://schemas.openxmlformats.org/officeDocument/2006/math">
                    <m:r>
                      <a:rPr lang="en-AU" altLang="zh-CN" i="1" dirty="0" smtClean="0">
                        <a:latin typeface="Cambria Math" panose="02040503050406030204" pitchFamily="18" charset="0"/>
                      </a:rPr>
                      <m:t>𝑤</m:t>
                    </m:r>
                    <m:r>
                      <a:rPr lang="en-AU" altLang="zh-CN" b="0" i="1" dirty="0" smtClean="0">
                        <a:latin typeface="Cambria Math" panose="02040503050406030204" pitchFamily="18" charset="0"/>
                      </a:rPr>
                      <m:t>=</m:t>
                    </m:r>
                    <m:sSub>
                      <m:sSubPr>
                        <m:ctrlPr>
                          <a:rPr lang="en-AU" altLang="zh-CN" b="0" i="1" dirty="0" smtClean="0">
                            <a:latin typeface="Cambria Math" panose="02040503050406030204" pitchFamily="18" charset="0"/>
                          </a:rPr>
                        </m:ctrlPr>
                      </m:sSubPr>
                      <m:e>
                        <m:r>
                          <a:rPr lang="en-AU" altLang="zh-CN" b="0" i="1" dirty="0" smtClean="0">
                            <a:latin typeface="Cambria Math" panose="02040503050406030204" pitchFamily="18" charset="0"/>
                          </a:rPr>
                          <m:t>𝑥</m:t>
                        </m:r>
                      </m:e>
                      <m:sub>
                        <m:r>
                          <a:rPr lang="en-AU" altLang="zh-CN" b="0" i="1" dirty="0" smtClean="0">
                            <a:latin typeface="Cambria Math" panose="02040503050406030204" pitchFamily="18" charset="0"/>
                          </a:rPr>
                          <m:t>𝑖</m:t>
                        </m:r>
                      </m:sub>
                    </m:sSub>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i="1" dirty="0">
                            <a:latin typeface="Cambria Math" panose="02040503050406030204" pitchFamily="18" charset="0"/>
                          </a:rPr>
                          <m:t>𝑖</m:t>
                        </m:r>
                      </m:sub>
                    </m:sSub>
                    <m:r>
                      <a:rPr lang="en-AU" altLang="zh-CN"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𝑥</m:t>
                        </m:r>
                      </m:e>
                      <m:sub>
                        <m:r>
                          <a:rPr lang="en-AU" altLang="zh-CN" i="1" dirty="0">
                            <a:latin typeface="Cambria Math" panose="02040503050406030204" pitchFamily="18" charset="0"/>
                          </a:rPr>
                          <m:t>𝑖</m:t>
                        </m:r>
                      </m:sub>
                    </m:sSub>
                    <m:r>
                      <a:rPr lang="en-AU" altLang="zh-CN" b="0" i="1" dirty="0" smtClean="0">
                        <a:latin typeface="Cambria Math" panose="02040503050406030204" pitchFamily="18" charset="0"/>
                      </a:rPr>
                      <m:t>𝑥</m:t>
                    </m:r>
                    <m:r>
                      <a:rPr lang="en-AU" altLang="zh-CN" b="0"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b="0" i="1" dirty="0" smtClean="0">
                            <a:latin typeface="Cambria Math" panose="02040503050406030204" pitchFamily="18" charset="0"/>
                          </a:rPr>
                          <m:t>𝑖</m:t>
                        </m:r>
                        <m:r>
                          <a:rPr lang="en-AU" altLang="zh-CN" b="0" i="1" dirty="0" smtClean="0">
                            <a:latin typeface="Cambria Math" panose="02040503050406030204" pitchFamily="18" charset="0"/>
                          </a:rPr>
                          <m:t>+1</m:t>
                        </m:r>
                      </m:sub>
                    </m:sSub>
                    <m:r>
                      <a:rPr lang="en-AU" altLang="zh-CN"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𝑥</m:t>
                        </m:r>
                      </m:e>
                      <m:sub>
                        <m:r>
                          <a:rPr lang="en-AU" altLang="zh-CN" i="1" dirty="0">
                            <a:latin typeface="Cambria Math" panose="02040503050406030204" pitchFamily="18" charset="0"/>
                          </a:rPr>
                          <m:t>𝑖</m:t>
                        </m:r>
                        <m:r>
                          <a:rPr lang="en-AU" altLang="zh-CN" b="0" i="1" dirty="0" smtClean="0">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i="1" dirty="0">
                            <a:latin typeface="Cambria Math" panose="02040503050406030204" pitchFamily="18" charset="0"/>
                          </a:rPr>
                          <m:t>𝑖</m:t>
                        </m:r>
                        <m:r>
                          <a:rPr lang="en-AU" altLang="zh-CN" b="0" i="1" dirty="0" smtClean="0">
                            <a:latin typeface="Cambria Math" panose="02040503050406030204" pitchFamily="18" charset="0"/>
                          </a:rPr>
                          <m:t>+1</m:t>
                        </m:r>
                      </m:sub>
                    </m:sSub>
                  </m:oMath>
                </a14:m>
                <a:r>
                  <a:rPr lang="en-AU" altLang="zh-CN" dirty="0"/>
                  <a:t>,</a:t>
                </a:r>
                <a:r>
                  <a:rPr lang="zh-CN" altLang="en-US" dirty="0"/>
                  <a:t>所以</a:t>
                </a:r>
                <a:endParaRPr lang="en-AU" altLang="zh-CN"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AU" altLang="zh-CN" b="0" i="1" dirty="0" smtClean="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b="0" i="1" dirty="0" smtClean="0">
                              <a:latin typeface="Cambria Math" panose="02040503050406030204" pitchFamily="18" charset="0"/>
                            </a:rPr>
                            <m:t>𝑖</m:t>
                          </m:r>
                        </m:sub>
                      </m:sSub>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𝑥</m:t>
                      </m:r>
                      <m:r>
                        <a:rPr lang="en-AU" altLang="zh-CN" b="0"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i="1" dirty="0">
                              <a:latin typeface="Cambria Math" panose="02040503050406030204" pitchFamily="18" charset="0"/>
                            </a:rPr>
                            <m:t>𝑖</m:t>
                          </m:r>
                          <m:r>
                            <a:rPr lang="en-AU" altLang="zh-CN" b="0" i="1" dirty="0" smtClean="0">
                              <a:latin typeface="Cambria Math" panose="02040503050406030204" pitchFamily="18" charset="0"/>
                            </a:rPr>
                            <m:t>+1</m:t>
                          </m:r>
                        </m:sub>
                      </m:sSub>
                    </m:oMath>
                  </m:oMathPara>
                </a14:m>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93800"/>
                <a:ext cx="8229600" cy="4932363"/>
              </a:xfrm>
              <a:blipFill rotWithShape="1">
                <a:blip r:embed="rId2"/>
                <a:stretch>
                  <a:fillRect b="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72</a:t>
            </a:fld>
            <a:endParaRPr lang="en-AU"/>
          </a:p>
        </p:txBody>
      </p:sp>
      <mc:AlternateContent xmlns:mc="http://schemas.openxmlformats.org/markup-compatibility/2006" xmlns:a14="http://schemas.microsoft.com/office/drawing/2010/main">
        <mc:Choice Requires="a14">
          <p:sp>
            <p:nvSpPr>
              <p:cNvPr id="13" name="TextBox 12"/>
              <p:cNvSpPr txBox="1"/>
              <p:nvPr/>
            </p:nvSpPr>
            <p:spPr>
              <a:xfrm>
                <a:off x="2532379" y="3290649"/>
                <a:ext cx="6032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1800" i="1" dirty="0" smtClean="0">
                          <a:latin typeface="Cambria Math" panose="02040503050406030204" pitchFamily="18" charset="0"/>
                        </a:rPr>
                        <m:t>𝑙𝑚</m:t>
                      </m:r>
                    </m:oMath>
                  </m:oMathPara>
                </a14:m>
                <a:endParaRPr lang="en-AU" sz="1800" i="1" dirty="0"/>
              </a:p>
            </p:txBody>
          </p:sp>
        </mc:Choice>
        <mc:Fallback xmlns="">
          <p:sp>
            <p:nvSpPr>
              <p:cNvPr id="13" name="TextBox 12"/>
              <p:cNvSpPr txBox="1">
                <a:spLocks noRot="1" noChangeAspect="1" noMove="1" noResize="1" noEditPoints="1" noAdjustHandles="1" noChangeArrowheads="1" noChangeShapeType="1" noTextEdit="1"/>
              </p:cNvSpPr>
              <p:nvPr/>
            </p:nvSpPr>
            <p:spPr>
              <a:xfrm>
                <a:off x="2532379" y="3290649"/>
                <a:ext cx="603250" cy="369332"/>
              </a:xfrm>
              <a:prstGeom prst="rect">
                <a:avLst/>
              </a:prstGeom>
              <a:blipFill rotWithShape="1">
                <a:blip r:embed="rId3"/>
                <a:stretch>
                  <a:fillRect l="-105" t="-21" r="105" b="1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7804327" y="962026"/>
                <a:ext cx="1111073" cy="1107996"/>
              </a:xfrm>
              <a:prstGeom prst="rect">
                <a:avLst/>
              </a:prstGeom>
              <a:solidFill>
                <a:srgbClr val="FFC000"/>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sz="2200" i="1" smtClean="0">
                              <a:latin typeface="Cambria Math" panose="02040503050406030204" pitchFamily="18" charset="0"/>
                            </a:rPr>
                          </m:ctrlPr>
                        </m:sSubPr>
                        <m:e>
                          <m:r>
                            <a:rPr lang="en-AU" sz="2200" b="0" i="1" smtClean="0">
                              <a:latin typeface="Cambria Math" panose="02040503050406030204" pitchFamily="18" charset="0"/>
                            </a:rPr>
                            <m:t>𝑦</m:t>
                          </m:r>
                        </m:e>
                        <m:sub>
                          <m:r>
                            <a:rPr lang="en-AU" sz="2200" b="0" i="1" smtClean="0">
                              <a:latin typeface="Cambria Math" panose="02040503050406030204" pitchFamily="18" charset="0"/>
                            </a:rPr>
                            <m:t>0</m:t>
                          </m:r>
                        </m:sub>
                      </m:sSub>
                      <m:r>
                        <a:rPr lang="en-AU" sz="2200" b="0" i="1" smtClean="0">
                          <a:latin typeface="Cambria Math" panose="02040503050406030204" pitchFamily="18" charset="0"/>
                        </a:rPr>
                        <m:t>=</m:t>
                      </m:r>
                      <m:r>
                        <a:rPr lang="en-AU" sz="2200" b="0" i="1" smtClean="0">
                          <a:latin typeface="Cambria Math" panose="02040503050406030204" pitchFamily="18" charset="0"/>
                        </a:rPr>
                        <m:t>𝑤</m:t>
                      </m:r>
                    </m:oMath>
                  </m:oMathPara>
                </a14:m>
                <a:endParaRPr lang="en-AU" sz="2200" dirty="0"/>
              </a:p>
              <a:p>
                <a:pPr/>
                <a14:m>
                  <m:oMathPara xmlns:m="http://schemas.openxmlformats.org/officeDocument/2006/math">
                    <m:oMathParaPr>
                      <m:jc m:val="centerGroup"/>
                    </m:oMathParaPr>
                    <m:oMath xmlns:m="http://schemas.openxmlformats.org/officeDocument/2006/math">
                      <m:sSub>
                        <m:sSubPr>
                          <m:ctrlPr>
                            <a:rPr lang="en-AU" sz="2200" i="1" smtClean="0">
                              <a:latin typeface="Cambria Math" panose="02040503050406030204" pitchFamily="18" charset="0"/>
                            </a:rPr>
                          </m:ctrlPr>
                        </m:sSubPr>
                        <m:e>
                          <m:r>
                            <a:rPr lang="en-AU" sz="2200" b="0" i="1" smtClean="0">
                              <a:latin typeface="Cambria Math" panose="02040503050406030204" pitchFamily="18" charset="0"/>
                            </a:rPr>
                            <m:t>𝐴</m:t>
                          </m:r>
                        </m:e>
                        <m:sub>
                          <m:r>
                            <a:rPr lang="en-AU" sz="2200" b="0" i="1" smtClean="0">
                              <a:latin typeface="Cambria Math" panose="02040503050406030204" pitchFamily="18" charset="0"/>
                            </a:rPr>
                            <m:t>0</m:t>
                          </m:r>
                        </m:sub>
                      </m:sSub>
                      <m:r>
                        <a:rPr lang="en-AU" sz="2200" b="0" i="1" smtClean="0">
                          <a:latin typeface="Cambria Math" panose="02040503050406030204" pitchFamily="18" charset="0"/>
                        </a:rPr>
                        <m:t>=</m:t>
                      </m:r>
                      <m:r>
                        <a:rPr lang="en-AU" sz="2200" b="0" i="1" smtClean="0">
                          <a:latin typeface="Cambria Math" panose="02040503050406030204" pitchFamily="18" charset="0"/>
                        </a:rPr>
                        <m:t>𝑆</m:t>
                      </m:r>
                    </m:oMath>
                  </m:oMathPara>
                </a14:m>
                <a:endParaRPr lang="en-AU" sz="2200" dirty="0"/>
              </a:p>
              <a:p>
                <a:pPr/>
                <a14:m>
                  <m:oMathPara xmlns:m="http://schemas.openxmlformats.org/officeDocument/2006/math">
                    <m:oMathParaPr>
                      <m:jc m:val="centerGroup"/>
                    </m:oMathParaPr>
                    <m:oMath xmlns:m="http://schemas.openxmlformats.org/officeDocument/2006/math">
                      <m:sSub>
                        <m:sSubPr>
                          <m:ctrlPr>
                            <a:rPr lang="en-AU" sz="2200" i="1" smtClean="0">
                              <a:latin typeface="Cambria Math" panose="02040503050406030204" pitchFamily="18" charset="0"/>
                            </a:rPr>
                          </m:ctrlPr>
                        </m:sSubPr>
                        <m:e>
                          <m:r>
                            <a:rPr lang="en-AU" sz="2200" i="1" smtClean="0">
                              <a:latin typeface="Cambria Math" panose="02040503050406030204" pitchFamily="18" charset="0"/>
                              <a:ea typeface="Cambria Math" panose="02040503050406030204" pitchFamily="18" charset="0"/>
                            </a:rPr>
                            <m:t>𝛼</m:t>
                          </m:r>
                        </m:e>
                        <m:sub>
                          <m:r>
                            <a:rPr lang="en-AU" sz="2200" b="0" i="1" smtClean="0">
                              <a:latin typeface="Cambria Math" panose="02040503050406030204" pitchFamily="18" charset="0"/>
                            </a:rPr>
                            <m:t>0</m:t>
                          </m:r>
                        </m:sub>
                      </m:sSub>
                      <m:r>
                        <a:rPr lang="en-AU" sz="2200" b="0" i="1" smtClean="0">
                          <a:latin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𝜀</m:t>
                      </m:r>
                    </m:oMath>
                  </m:oMathPara>
                </a14:m>
                <a:endParaRPr lang="en-AU" sz="2200" dirty="0"/>
              </a:p>
            </p:txBody>
          </p:sp>
        </mc:Choice>
        <mc:Fallback xmlns="">
          <p:sp>
            <p:nvSpPr>
              <p:cNvPr id="2" name="TextBox 1"/>
              <p:cNvSpPr txBox="1">
                <a:spLocks noRot="1" noChangeAspect="1" noMove="1" noResize="1" noEditPoints="1" noAdjustHandles="1" noChangeArrowheads="1" noChangeShapeType="1" noTextEdit="1"/>
              </p:cNvSpPr>
              <p:nvPr/>
            </p:nvSpPr>
            <p:spPr>
              <a:xfrm>
                <a:off x="7804327" y="962026"/>
                <a:ext cx="1111073" cy="1107996"/>
              </a:xfrm>
              <a:prstGeom prst="rect">
                <a:avLst/>
              </a:prstGeom>
              <a:blipFill rotWithShape="1">
                <a:blip r:embed="rId4"/>
                <a:stretch>
                  <a:fillRect l="-16" b="50"/>
                </a:stretch>
              </a:blipFill>
            </p:spPr>
            <p:txBody>
              <a:bodyPr/>
              <a:lstStyle/>
              <a:p>
                <a:r>
                  <a:rPr lang="zh-CN" altLang="en-US">
                    <a:noFill/>
                  </a:rPr>
                  <a:t> </a:t>
                </a:r>
              </a:p>
            </p:txBody>
          </p:sp>
        </mc:Fallback>
      </mc:AlternateContent>
      <p:cxnSp>
        <p:nvCxnSpPr>
          <p:cNvPr id="6" name="Straight Arrow Connector 5"/>
          <p:cNvCxnSpPr/>
          <p:nvPr/>
        </p:nvCxnSpPr>
        <p:spPr>
          <a:xfrm flipH="1">
            <a:off x="7121979" y="1570530"/>
            <a:ext cx="498021" cy="1142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itle 1"/>
          <p:cNvSpPr>
            <a:spLocks noGrp="1"/>
          </p:cNvSpPr>
          <p:nvPr>
            <p:ph type="title"/>
          </p:nvPr>
        </p:nvSpPr>
        <p:spPr/>
        <p:txBody>
          <a:bodyPr/>
          <a:lstStyle/>
          <a:p>
            <a:r>
              <a:rPr lang="zh-CN" altLang="en-US" dirty="0"/>
              <a:t>充分性证明</a:t>
            </a:r>
            <a:endParaRPr lang="en-AU"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49960"/>
                <a:ext cx="8229600" cy="4525963"/>
              </a:xfrm>
            </p:spPr>
            <p:txBody>
              <a:bodyPr>
                <a:normAutofit/>
              </a:bodyPr>
              <a:lstStyle/>
              <a:p>
                <a:r>
                  <a:rPr lang="zh-CN" altLang="en-US" dirty="0"/>
                  <a:t>那么，在</a:t>
                </a:r>
                <a:r>
                  <a:rPr lang="en-AU" altLang="zh-CN" dirty="0">
                    <a:latin typeface="Times New Roman" panose="02020603050405020304" pitchFamily="18" charset="0"/>
                    <a:cs typeface="Times New Roman" panose="02020603050405020304" pitchFamily="18" charset="0"/>
                  </a:rPr>
                  <a:t>PDA</a:t>
                </a:r>
                <a:r>
                  <a:rPr lang="zh-CN" altLang="en-US" dirty="0"/>
                  <a:t>中从</a:t>
                </a:r>
                <a:r>
                  <a:rPr lang="en-AU" altLang="zh-CN" dirty="0">
                    <a:latin typeface="Times New Roman" panose="02020603050405020304" pitchFamily="18" charset="0"/>
                    <a:cs typeface="Times New Roman" panose="02020603050405020304" pitchFamily="18" charset="0"/>
                  </a:rPr>
                  <a:t>ID</a:t>
                </a:r>
                <a:r>
                  <a:rPr lang="en-AU" altLang="zh-CN" dirty="0"/>
                  <a:t> </a:t>
                </a:r>
                <a14:m>
                  <m:oMath xmlns:m="http://schemas.openxmlformats.org/officeDocument/2006/math">
                    <m:r>
                      <a:rPr lang="en-AU" altLang="zh-CN" b="0" i="0" dirty="0" smtClean="0">
                        <a:latin typeface="Cambria Math" panose="02040503050406030204" pitchFamily="18" charset="0"/>
                      </a:rPr>
                      <m:t>(</m:t>
                    </m:r>
                    <m:r>
                      <a:rPr lang="en-AU" altLang="zh-CN" i="1" dirty="0" smtClean="0">
                        <a:latin typeface="Cambria Math" panose="02040503050406030204" pitchFamily="18" charset="0"/>
                      </a:rPr>
                      <m:t>𝑞</m:t>
                    </m:r>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b="0" i="1" dirty="0" smtClean="0">
                            <a:latin typeface="Cambria Math" panose="02040503050406030204" pitchFamily="18" charset="0"/>
                          </a:rPr>
                          <m:t>𝑖</m:t>
                        </m:r>
                      </m:sub>
                    </m:sSub>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𝐴</m:t>
                        </m:r>
                      </m:e>
                      <m:sub>
                        <m:r>
                          <a:rPr lang="en-AU" altLang="zh-CN" b="0" i="1" dirty="0" smtClean="0">
                            <a:latin typeface="Cambria Math" panose="02040503050406030204" pitchFamily="18" charset="0"/>
                          </a:rPr>
                          <m:t>𝑖</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𝑖</m:t>
                        </m:r>
                      </m:sub>
                    </m:sSub>
                    <m:r>
                      <a:rPr lang="en-AU" b="0" i="1" dirty="0" smtClean="0">
                        <a:latin typeface="Cambria Math" panose="02040503050406030204" pitchFamily="18" charset="0"/>
                        <a:ea typeface="Cambria Math" panose="02040503050406030204" pitchFamily="18" charset="0"/>
                      </a:rPr>
                      <m:t>)</m:t>
                    </m:r>
                  </m:oMath>
                </a14:m>
                <a:r>
                  <a:rPr lang="zh-CN" altLang="en-US" dirty="0"/>
                  <a:t>模拟最左派生</a:t>
                </a:r>
                <a:r>
                  <a:rPr lang="en-AU" altLang="zh-CN" dirty="0"/>
                  <a:t>,</a:t>
                </a:r>
                <a:r>
                  <a:rPr lang="zh-CN" altLang="en-US" dirty="0"/>
                  <a:t>用产生式</a:t>
                </a: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𝐴</m:t>
                        </m:r>
                      </m:e>
                      <m:sub>
                        <m:r>
                          <a:rPr lang="en-AU" altLang="zh-CN" i="1" dirty="0">
                            <a:latin typeface="Cambria Math" panose="02040503050406030204" pitchFamily="18" charset="0"/>
                          </a:rPr>
                          <m:t>𝑖</m:t>
                        </m:r>
                      </m:sub>
                    </m:sSub>
                    <m:r>
                      <a:rPr lang="en-AU" altLang="zh-CN" i="1" dirty="0">
                        <a:latin typeface="Cambria Math" panose="02040503050406030204" pitchFamily="18" charset="0"/>
                      </a:rPr>
                      <m:t> → </m:t>
                    </m:r>
                    <m:r>
                      <a:rPr lang="el-GR" altLang="zh-CN" i="1" dirty="0">
                        <a:latin typeface="Cambria Math" panose="02040503050406030204" pitchFamily="18" charset="0"/>
                      </a:rPr>
                      <m:t>𝛽</m:t>
                    </m:r>
                    <m:r>
                      <a:rPr lang="el-GR" altLang="zh-CN" i="1" dirty="0">
                        <a:latin typeface="Cambria Math" panose="02040503050406030204" pitchFamily="18" charset="0"/>
                      </a:rPr>
                      <m:t> </m:t>
                    </m:r>
                  </m:oMath>
                </a14:m>
                <a:r>
                  <a:rPr lang="zh-CN" altLang="en-US" dirty="0"/>
                  <a:t>替换栈顶</a:t>
                </a: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𝐴</m:t>
                        </m:r>
                      </m:e>
                      <m:sub>
                        <m:r>
                          <a:rPr lang="en-AU" altLang="zh-CN" i="1" dirty="0">
                            <a:latin typeface="Cambria Math" panose="02040503050406030204" pitchFamily="18" charset="0"/>
                          </a:rPr>
                          <m:t>𝑖</m:t>
                        </m:r>
                      </m:sub>
                    </m:sSub>
                  </m:oMath>
                </a14:m>
                <a:r>
                  <a:rPr lang="zh-CN" altLang="en-US" dirty="0"/>
                  <a:t>后，有</a:t>
                </a:r>
                <a14:m>
                  <m:oMath xmlns:m="http://schemas.openxmlformats.org/officeDocument/2006/math">
                    <m:d>
                      <m:dPr>
                        <m:ctrlPr>
                          <a:rPr lang="en-AU" altLang="zh-CN" i="1" dirty="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 </m:t>
                        </m:r>
                        <m:r>
                          <a:rPr lang="en-AU" altLang="zh-CN" i="1" dirty="0">
                            <a:latin typeface="Cambria Math" panose="02040503050406030204" pitchFamily="18" charset="0"/>
                          </a:rPr>
                          <m:t>𝑤</m:t>
                        </m:r>
                        <m:r>
                          <a:rPr lang="en-AU" altLang="zh-CN" i="1" dirty="0">
                            <a:latin typeface="Cambria Math" panose="02040503050406030204" pitchFamily="18" charset="0"/>
                          </a:rPr>
                          <m:t>, </m:t>
                        </m:r>
                        <m:r>
                          <a:rPr lang="en-AU" altLang="zh-CN" i="1" dirty="0">
                            <a:latin typeface="Cambria Math" panose="02040503050406030204" pitchFamily="18" charset="0"/>
                          </a:rPr>
                          <m:t>𝑆</m:t>
                        </m:r>
                      </m:e>
                    </m:d>
                    <m:sSup>
                      <m:sSupPr>
                        <m:ctrlPr>
                          <a:rPr lang="pl-PL" i="1" dirty="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d>
                      <m:dPr>
                        <m:ctrlPr>
                          <a:rPr lang="en-AU" altLang="zh-CN" i="1" dirty="0" smtClean="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𝑦</m:t>
                            </m:r>
                          </m:e>
                          <m:sub>
                            <m:r>
                              <a:rPr lang="en-AU" altLang="zh-CN" b="0" i="1" dirty="0" smtClean="0">
                                <a:latin typeface="Cambria Math" panose="02040503050406030204" pitchFamily="18" charset="0"/>
                              </a:rPr>
                              <m:t>𝑖</m:t>
                            </m:r>
                          </m:sub>
                        </m:sSub>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𝐴</m:t>
                            </m:r>
                          </m:e>
                          <m:sub>
                            <m:r>
                              <a:rPr lang="en-AU" altLang="zh-CN" b="0" i="1" dirty="0" smtClean="0">
                                <a:latin typeface="Cambria Math" panose="02040503050406030204" pitchFamily="18" charset="0"/>
                              </a:rPr>
                              <m:t>𝑖</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𝑖</m:t>
                            </m:r>
                          </m:sub>
                        </m:sSub>
                      </m:e>
                    </m:d>
                  </m:oMath>
                </a14:m>
                <a:endParaRPr lang="en-AU" i="1" dirty="0">
                  <a:latin typeface="Cambria Math" panose="02040503050406030204" pitchFamily="18" charset="0"/>
                  <a:ea typeface="Cambria Math" panose="02040503050406030204" pitchFamily="18" charset="0"/>
                </a:endParaRPr>
              </a:p>
              <a:p>
                <a:pPr marL="0" indent="0">
                  <a:buNone/>
                </a:pPr>
                <a:r>
                  <a:rPr lang="en-AU" dirty="0">
                    <a:ea typeface="Cambria Math" panose="02040503050406030204" pitchFamily="18" charset="0"/>
                  </a:rPr>
                  <a:t>         </a:t>
                </a:r>
                <a14:m>
                  <m:oMath xmlns:m="http://schemas.openxmlformats.org/officeDocument/2006/math">
                    <m:r>
                      <a:rPr lang="pl-PL" i="1" dirty="0" smtClean="0">
                        <a:latin typeface="Cambria Math" panose="02040503050406030204" pitchFamily="18" charset="0"/>
                        <a:ea typeface="Cambria Math" panose="02040503050406030204" pitchFamily="18" charset="0"/>
                      </a:rPr>
                      <m:t>⊢</m:t>
                    </m:r>
                    <m:d>
                      <m:dPr>
                        <m:ctrlPr>
                          <a:rPr lang="en-AU" altLang="zh-CN" i="1" dirty="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𝑦</m:t>
                            </m:r>
                          </m:e>
                          <m:sub>
                            <m:r>
                              <a:rPr lang="en-AU" altLang="zh-CN" i="1" dirty="0">
                                <a:latin typeface="Cambria Math" panose="02040503050406030204" pitchFamily="18" charset="0"/>
                              </a:rPr>
                              <m:t>𝑖</m:t>
                            </m:r>
                          </m:sub>
                        </m:sSub>
                        <m:r>
                          <a:rPr lang="en-AU" altLang="zh-CN" i="1" dirty="0">
                            <a:latin typeface="Cambria Math" panose="02040503050406030204" pitchFamily="18" charset="0"/>
                          </a:rPr>
                          <m:t>, </m:t>
                        </m:r>
                        <m:sSub>
                          <m:sSubPr>
                            <m:ctrlPr>
                              <a:rPr lang="en-AU" i="1" dirty="0">
                                <a:latin typeface="Cambria Math" panose="02040503050406030204" pitchFamily="18" charset="0"/>
                              </a:rPr>
                            </m:ctrlPr>
                          </m:sSubPr>
                          <m:e>
                            <m:r>
                              <a:rPr lang="el-GR" altLang="zh-CN" i="1" dirty="0">
                                <a:latin typeface="Cambria Math" panose="02040503050406030204" pitchFamily="18" charset="0"/>
                              </a:rPr>
                              <m:t>𝛽</m:t>
                            </m:r>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sub>
                        </m:sSub>
                      </m:e>
                    </m:d>
                  </m:oMath>
                </a14:m>
                <a:endParaRPr lang="en-AU" dirty="0"/>
              </a:p>
              <a:p>
                <a:pPr marL="0" indent="0">
                  <a:buNone/>
                </a:pPr>
                <a:r>
                  <a:rPr lang="en-AU" dirty="0"/>
                  <a:t>         =</a:t>
                </a:r>
                <a:r>
                  <a:rPr lang="en-AU" altLang="zh-CN" dirty="0"/>
                  <a:t> </a:t>
                </a:r>
                <a14:m>
                  <m:oMath xmlns:m="http://schemas.openxmlformats.org/officeDocument/2006/math">
                    <m:d>
                      <m:dPr>
                        <m:ctrlPr>
                          <a:rPr lang="en-AU" altLang="zh-CN" i="1" dirty="0">
                            <a:latin typeface="Cambria Math" panose="02040503050406030204" pitchFamily="18" charset="0"/>
                          </a:rPr>
                        </m:ctrlPr>
                      </m:dPr>
                      <m:e>
                        <m:r>
                          <a:rPr lang="en-AU" altLang="zh-CN" i="1" dirty="0">
                            <a:latin typeface="Cambria Math" panose="02040503050406030204" pitchFamily="18" charset="0"/>
                          </a:rPr>
                          <m:t>𝑞</m:t>
                        </m:r>
                        <m:r>
                          <a:rPr lang="en-AU" altLang="zh-CN" i="1" dirty="0">
                            <a:latin typeface="Cambria Math" panose="02040503050406030204" pitchFamily="18" charset="0"/>
                          </a:rPr>
                          <m:t>, </m:t>
                        </m:r>
                        <m:r>
                          <a:rPr lang="en-AU" altLang="zh-CN" b="0" i="1" dirty="0" smtClean="0">
                            <a:latin typeface="Cambria Math" panose="02040503050406030204" pitchFamily="18" charset="0"/>
                          </a:rPr>
                          <m:t>𝑥</m:t>
                        </m:r>
                        <m:r>
                          <a:rPr lang="en-AU" altLang="zh-CN" b="0"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𝑦</m:t>
                            </m:r>
                          </m:e>
                          <m:sub>
                            <m:r>
                              <a:rPr lang="en-AU" altLang="zh-CN" i="1" dirty="0">
                                <a:latin typeface="Cambria Math" panose="02040503050406030204" pitchFamily="18" charset="0"/>
                              </a:rPr>
                              <m:t>𝑖</m:t>
                            </m:r>
                            <m:r>
                              <a:rPr lang="en-AU" altLang="zh-CN" b="0" i="1" dirty="0" smtClean="0">
                                <a:latin typeface="Cambria Math" panose="02040503050406030204" pitchFamily="18" charset="0"/>
                              </a:rPr>
                              <m:t>+1</m:t>
                            </m:r>
                          </m:sub>
                        </m:sSub>
                        <m:r>
                          <a:rPr lang="en-AU" altLang="zh-CN" i="1" dirty="0">
                            <a:latin typeface="Cambria Math" panose="02040503050406030204" pitchFamily="18" charset="0"/>
                          </a:rPr>
                          <m:t>, </m:t>
                        </m:r>
                        <m:sSub>
                          <m:sSubPr>
                            <m:ctrlPr>
                              <a:rPr lang="en-AU" i="1" dirty="0">
                                <a:latin typeface="Cambria Math" panose="02040503050406030204" pitchFamily="18" charset="0"/>
                              </a:rPr>
                            </m:ctrlPr>
                          </m:sSubPr>
                          <m:e>
                            <m:r>
                              <a:rPr lang="en-AU" b="0" i="1" dirty="0" smtClean="0">
                                <a:latin typeface="Cambria Math" panose="02040503050406030204" pitchFamily="18" charset="0"/>
                              </a:rPr>
                              <m:t>𝑥</m:t>
                            </m:r>
                            <m:r>
                              <a:rPr lang="en-AU" b="0" i="1" dirty="0" smtClean="0">
                                <a:latin typeface="Cambria Math" panose="02040503050406030204" pitchFamily="18" charset="0"/>
                              </a:rPr>
                              <m:t>′</m:t>
                            </m:r>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𝐴</m:t>
                                </m:r>
                              </m:e>
                              <m:sub>
                                <m:r>
                                  <a:rPr lang="en-AU" b="0" i="1" dirty="0" smtClean="0">
                                    <a:latin typeface="Cambria Math" panose="02040503050406030204" pitchFamily="18" charset="0"/>
                                  </a:rPr>
                                  <m:t>𝑖</m:t>
                                </m:r>
                                <m:r>
                                  <a:rPr lang="en-AU" b="0" i="1" dirty="0" smtClean="0">
                                    <a:latin typeface="Cambria Math" panose="02040503050406030204" pitchFamily="18" charset="0"/>
                                  </a:rPr>
                                  <m:t>+1</m:t>
                                </m:r>
                              </m:sub>
                            </m:sSub>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r>
                              <a:rPr lang="en-AU" b="0" i="1" dirty="0" smtClean="0">
                                <a:latin typeface="Cambria Math" panose="02040503050406030204" pitchFamily="18" charset="0"/>
                                <a:ea typeface="Cambria Math" panose="02040503050406030204" pitchFamily="18" charset="0"/>
                              </a:rPr>
                              <m:t>+1</m:t>
                            </m:r>
                          </m:sub>
                        </m:sSub>
                      </m:e>
                    </m:d>
                  </m:oMath>
                </a14:m>
                <a:endParaRPr lang="en-AU" dirty="0"/>
              </a:p>
              <a:p>
                <a:pPr marL="0" indent="0">
                  <a:buNone/>
                </a:pPr>
                <a:r>
                  <a:rPr lang="en-AU" dirty="0"/>
                  <a:t>         </a:t>
                </a:r>
                <a14:m>
                  <m:oMath xmlns:m="http://schemas.openxmlformats.org/officeDocument/2006/math">
                    <m:sSup>
                      <m:sSupPr>
                        <m:ctrlPr>
                          <a:rPr lang="pl-PL" i="1" dirty="0" smtClean="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r>
                      <a:rPr lang="en-AU" b="0" i="1" dirty="0" smtClean="0">
                        <a:latin typeface="Cambria Math" panose="02040503050406030204" pitchFamily="18" charset="0"/>
                      </a:rPr>
                      <m:t>(</m:t>
                    </m:r>
                    <m:r>
                      <a:rPr lang="en-AU" b="0" i="1" dirty="0" smtClean="0">
                        <a:latin typeface="Cambria Math" panose="02040503050406030204" pitchFamily="18" charset="0"/>
                      </a:rPr>
                      <m:t>𝑞</m:t>
                    </m:r>
                    <m:r>
                      <a:rPr lang="en-AU" b="0"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𝑦</m:t>
                        </m:r>
                      </m:e>
                      <m:sub>
                        <m:r>
                          <a:rPr lang="en-AU" altLang="zh-CN" i="1" dirty="0">
                            <a:latin typeface="Cambria Math" panose="02040503050406030204" pitchFamily="18" charset="0"/>
                          </a:rPr>
                          <m:t>𝑖</m:t>
                        </m:r>
                        <m:r>
                          <a:rPr lang="en-AU" altLang="zh-CN" i="1" dirty="0">
                            <a:latin typeface="Cambria Math" panose="02040503050406030204" pitchFamily="18" charset="0"/>
                          </a:rPr>
                          <m:t>+1</m:t>
                        </m:r>
                      </m:sub>
                    </m:sSub>
                    <m:r>
                      <a:rPr lang="en-AU" altLang="zh-CN" i="1" dirty="0">
                        <a:latin typeface="Cambria Math" panose="02040503050406030204" pitchFamily="18" charset="0"/>
                      </a:rPr>
                      <m:t>, </m:t>
                    </m:r>
                    <m:sSub>
                      <m:sSubPr>
                        <m:ctrlPr>
                          <a:rPr lang="en-AU" i="1" dirty="0">
                            <a:latin typeface="Cambria Math" panose="02040503050406030204" pitchFamily="18" charset="0"/>
                          </a:rPr>
                        </m:ctrlPr>
                      </m:sSubPr>
                      <m:e>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i="1" dirty="0">
                                <a:latin typeface="Cambria Math" panose="02040503050406030204" pitchFamily="18" charset="0"/>
                              </a:rPr>
                              <m:t>𝑖</m:t>
                            </m:r>
                            <m:r>
                              <a:rPr lang="en-AU" i="1" dirty="0">
                                <a:latin typeface="Cambria Math" panose="02040503050406030204" pitchFamily="18" charset="0"/>
                              </a:rPr>
                              <m:t>+1</m:t>
                            </m:r>
                          </m:sub>
                        </m:sSub>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r>
                          <a:rPr lang="en-AU" i="1" dirty="0">
                            <a:latin typeface="Cambria Math" panose="02040503050406030204" pitchFamily="18" charset="0"/>
                            <a:ea typeface="Cambria Math" panose="02040503050406030204" pitchFamily="18" charset="0"/>
                          </a:rPr>
                          <m:t>+1</m:t>
                        </m:r>
                      </m:sub>
                    </m:sSub>
                    <m:r>
                      <a:rPr lang="en-AU" b="0" i="1" dirty="0" smtClean="0">
                        <a:latin typeface="Cambria Math" panose="02040503050406030204" pitchFamily="18" charset="0"/>
                      </a:rPr>
                      <m:t>)</m:t>
                    </m:r>
                  </m:oMath>
                </a14:m>
                <a:endParaRPr lang="en-AU" dirty="0"/>
              </a:p>
              <a:p>
                <a:pPr marL="0" indent="0">
                  <a:buNone/>
                </a:pPr>
                <a:r>
                  <a:rPr lang="zh-CN" altLang="en-US" dirty="0"/>
                  <a:t>因此</a:t>
                </a:r>
                <a14:m>
                  <m:oMath xmlns:m="http://schemas.openxmlformats.org/officeDocument/2006/math">
                    <m:r>
                      <a:rPr lang="en-AU" altLang="zh-CN" i="1" dirty="0" smtClean="0">
                        <a:latin typeface="Cambria Math" panose="02040503050406030204" pitchFamily="18" charset="0"/>
                      </a:rPr>
                      <m:t>𝑆</m:t>
                    </m:r>
                    <m:r>
                      <a:rPr lang="en-AU" altLang="zh-CN" b="0" i="1" dirty="0" smtClean="0">
                        <a:latin typeface="Cambria Math" panose="02040503050406030204" pitchFamily="18" charset="0"/>
                      </a:rPr>
                      <m:t>      </m:t>
                    </m:r>
                    <m:r>
                      <a:rPr lang="en-AU" altLang="zh-CN" i="1" dirty="0" smtClean="0">
                        <a:latin typeface="Cambria Math" panose="02040503050406030204" pitchFamily="18" charset="0"/>
                      </a:rPr>
                      <m:t>𝑤</m:t>
                    </m:r>
                    <m:r>
                      <a:rPr lang="en-AU" altLang="zh-CN" i="1" dirty="0" smtClean="0">
                        <a:latin typeface="Cambria Math" panose="02040503050406030204" pitchFamily="18" charset="0"/>
                      </a:rPr>
                      <m:t> ⇒ </m:t>
                    </m:r>
                    <m:d>
                      <m:dPr>
                        <m:ctrlPr>
                          <a:rPr lang="en-AU" altLang="zh-CN" i="1" dirty="0" smtClean="0">
                            <a:latin typeface="Cambria Math" panose="02040503050406030204" pitchFamily="18" charset="0"/>
                          </a:rPr>
                        </m:ctrlPr>
                      </m:dPr>
                      <m:e>
                        <m:r>
                          <a:rPr lang="en-AU" altLang="zh-CN" i="1" dirty="0" smtClean="0">
                            <a:latin typeface="Cambria Math" panose="02040503050406030204" pitchFamily="18" charset="0"/>
                          </a:rPr>
                          <m:t>𝑞</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𝑤</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e>
                    </m:d>
                    <m:sSup>
                      <m:sSupPr>
                        <m:ctrlPr>
                          <a:rPr lang="pl-PL" i="1" dirty="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d>
                      <m:dPr>
                        <m:ctrlPr>
                          <a:rPr lang="en-AU" altLang="zh-CN" i="1" dirty="0" smtClean="0">
                            <a:latin typeface="Cambria Math" panose="02040503050406030204" pitchFamily="18" charset="0"/>
                          </a:rPr>
                        </m:ctrlPr>
                      </m:dPr>
                      <m:e>
                        <m:r>
                          <a:rPr lang="en-AU" altLang="zh-CN" i="1" dirty="0" smtClean="0">
                            <a:latin typeface="Cambria Math" panose="02040503050406030204" pitchFamily="18" charset="0"/>
                          </a:rPr>
                          <m:t>𝑞</m:t>
                        </m:r>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𝑦</m:t>
                            </m:r>
                          </m:e>
                          <m:sub>
                            <m:r>
                              <a:rPr lang="en-AU" altLang="zh-CN" b="0" i="1" dirty="0" smtClean="0">
                                <a:latin typeface="Cambria Math" panose="02040503050406030204" pitchFamily="18" charset="0"/>
                              </a:rPr>
                              <m:t>𝑛</m:t>
                            </m:r>
                          </m:sub>
                        </m:sSub>
                        <m:r>
                          <a:rPr lang="en-AU" altLang="zh-CN" i="1" dirty="0" smtClean="0">
                            <a:latin typeface="Cambria Math" panose="02040503050406030204" pitchFamily="18" charset="0"/>
                          </a:rPr>
                          <m:t>,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𝐴</m:t>
                            </m:r>
                          </m:e>
                          <m:sub>
                            <m:r>
                              <a:rPr lang="en-AU" altLang="zh-CN" b="0" i="1" dirty="0" smtClean="0">
                                <a:latin typeface="Cambria Math" panose="02040503050406030204" pitchFamily="18" charset="0"/>
                              </a:rPr>
                              <m:t>𝑛</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𝑛</m:t>
                            </m:r>
                          </m:sub>
                        </m:sSub>
                      </m:e>
                    </m:d>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𝑞</m:t>
                    </m:r>
                    <m:r>
                      <a:rPr lang="en-AU" altLang="zh-CN" b="0" i="1" dirty="0" smtClean="0">
                        <a:latin typeface="Cambria Math" panose="02040503050406030204" pitchFamily="18" charset="0"/>
                      </a:rPr>
                      <m:t>,</m:t>
                    </m:r>
                    <m:r>
                      <a:rPr lang="pl-PL" i="1" dirty="0">
                        <a:latin typeface="Cambria Math" panose="02040503050406030204" pitchFamily="18" charset="0"/>
                      </a:rPr>
                      <m:t>𝜀</m:t>
                    </m:r>
                    <m:r>
                      <a:rPr lang="en-AU" b="0" i="1" dirty="0" smtClean="0">
                        <a:latin typeface="Cambria Math" panose="02040503050406030204" pitchFamily="18" charset="0"/>
                      </a:rPr>
                      <m:t>,</m:t>
                    </m:r>
                    <m:r>
                      <a:rPr lang="pl-PL" i="1" dirty="0">
                        <a:latin typeface="Cambria Math" panose="02040503050406030204" pitchFamily="18" charset="0"/>
                      </a:rPr>
                      <m:t>𝜀</m:t>
                    </m:r>
                    <m:r>
                      <a:rPr lang="en-AU" altLang="zh-CN" b="0" i="1" dirty="0" smtClean="0">
                        <a:latin typeface="Cambria Math" panose="02040503050406030204" pitchFamily="18" charset="0"/>
                      </a:rPr>
                      <m:t>)</m:t>
                    </m:r>
                  </m:oMath>
                </a14:m>
                <a:r>
                  <a:rPr lang="zh-CN" altLang="en-US" dirty="0"/>
                  <a:t>，充分性得证。</a:t>
                </a:r>
              </a:p>
              <a:p>
                <a:pPr marL="0" indent="0">
                  <a:buNone/>
                </a:pP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949960"/>
                <a:ext cx="8229600" cy="4525963"/>
              </a:xfrm>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73</a:t>
            </a:fld>
            <a:endParaRPr lang="en-AU"/>
          </a:p>
        </p:txBody>
      </p:sp>
      <p:grpSp>
        <p:nvGrpSpPr>
          <p:cNvPr id="5" name="Group 4"/>
          <p:cNvGrpSpPr/>
          <p:nvPr/>
        </p:nvGrpSpPr>
        <p:grpSpPr>
          <a:xfrm>
            <a:off x="1502633" y="3668059"/>
            <a:ext cx="577401" cy="665252"/>
            <a:chOff x="-701263" y="1955373"/>
            <a:chExt cx="577401" cy="665252"/>
          </a:xfrm>
        </p:grpSpPr>
        <p:grpSp>
          <p:nvGrpSpPr>
            <p:cNvPr id="6" name="Group 5"/>
            <p:cNvGrpSpPr/>
            <p:nvPr/>
          </p:nvGrpSpPr>
          <p:grpSpPr>
            <a:xfrm>
              <a:off x="-701263" y="1955373"/>
              <a:ext cx="577401" cy="588308"/>
              <a:chOff x="1514887" y="3991183"/>
              <a:chExt cx="577401" cy="588308"/>
            </a:xfrm>
          </p:grpSpPr>
          <mc:AlternateContent xmlns:mc="http://schemas.openxmlformats.org/markup-compatibility/2006" xmlns:a14="http://schemas.microsoft.com/office/drawing/2010/main">
            <mc:Choice Requires="a14">
              <p:sp>
                <p:nvSpPr>
                  <p:cNvPr id="8" name="TextBox 7"/>
                  <p:cNvSpPr txBox="1"/>
                  <p:nvPr/>
                </p:nvSpPr>
                <p:spPr>
                  <a:xfrm>
                    <a:off x="1590892" y="3991183"/>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𝑛</m:t>
                          </m:r>
                        </m:oMath>
                      </m:oMathPara>
                    </a14:m>
                    <a:endParaRPr lang="en-AU" dirty="0"/>
                  </a:p>
                </p:txBody>
              </p:sp>
            </mc:Choice>
            <mc:Fallback xmlns="">
              <p:sp>
                <p:nvSpPr>
                  <p:cNvPr id="8" name="TextBox 7"/>
                  <p:cNvSpPr txBox="1">
                    <a:spLocks noRot="1" noChangeAspect="1" noMove="1" noResize="1" noEditPoints="1" noAdjustHandles="1" noChangeArrowheads="1" noChangeShapeType="1" noTextEdit="1"/>
                  </p:cNvSpPr>
                  <p:nvPr/>
                </p:nvSpPr>
                <p:spPr>
                  <a:xfrm>
                    <a:off x="1590892" y="3991183"/>
                    <a:ext cx="374590"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514887" y="4056271"/>
                    <a:ext cx="57740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l-PL" sz="2800" i="1" dirty="0" smtClean="0">
                              <a:latin typeface="Cambria Math" panose="02040503050406030204" pitchFamily="18" charset="0"/>
                            </a:rPr>
                            <m:t>⇒</m:t>
                          </m:r>
                        </m:oMath>
                      </m:oMathPara>
                    </a14:m>
                    <a:endParaRPr lang="en-AU"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1514887" y="4056271"/>
                    <a:ext cx="577401" cy="523220"/>
                  </a:xfrm>
                  <a:prstGeom prst="rect">
                    <a:avLst/>
                  </a:prstGeom>
                  <a:blipFill rotWithShape="1">
                    <a:blip r:embed="rId5"/>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7" name="TextBox 6"/>
                <p:cNvSpPr txBox="1"/>
                <p:nvPr/>
              </p:nvSpPr>
              <p:spPr>
                <a:xfrm>
                  <a:off x="-660424" y="2282071"/>
                  <a:ext cx="47032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sz="1600" i="1" dirty="0" smtClean="0">
                            <a:latin typeface="Cambria Math" panose="02040503050406030204" pitchFamily="18" charset="0"/>
                          </a:rPr>
                          <m:t>𝑙𝑚</m:t>
                        </m:r>
                      </m:oMath>
                    </m:oMathPara>
                  </a14:m>
                  <a:endParaRPr lang="en-AU" sz="1600" i="1" dirty="0"/>
                </a:p>
              </p:txBody>
            </p:sp>
          </mc:Choice>
          <mc:Fallback xmlns="">
            <p:sp>
              <p:nvSpPr>
                <p:cNvPr id="7" name="TextBox 6"/>
                <p:cNvSpPr txBox="1">
                  <a:spLocks noRot="1" noChangeAspect="1" noMove="1" noResize="1" noEditPoints="1" noAdjustHandles="1" noChangeArrowheads="1" noChangeShapeType="1" noTextEdit="1"/>
                </p:cNvSpPr>
                <p:nvPr/>
              </p:nvSpPr>
              <p:spPr>
                <a:xfrm>
                  <a:off x="-660424" y="2282071"/>
                  <a:ext cx="470322" cy="338554"/>
                </a:xfrm>
                <a:prstGeom prst="rect">
                  <a:avLst/>
                </a:prstGeom>
                <a:blipFill rotWithShape="1">
                  <a:blip r:embed="rId6"/>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 name="TextBox 9"/>
              <p:cNvSpPr txBox="1"/>
              <p:nvPr/>
            </p:nvSpPr>
            <p:spPr>
              <a:xfrm>
                <a:off x="6679473" y="1798280"/>
                <a:ext cx="2007327" cy="923330"/>
              </a:xfrm>
              <a:prstGeom prst="rect">
                <a:avLst/>
              </a:prstGeom>
              <a:solidFill>
                <a:srgbClr val="FFC000"/>
              </a:solidFill>
            </p:spPr>
            <p:txBody>
              <a:bodyPr wrap="square">
                <a:spAutoFit/>
              </a:bodyPr>
              <a:lstStyle/>
              <a:p>
                <a:r>
                  <a:rPr lang="zh-CN" altLang="en-US" dirty="0">
                    <a:ea typeface="Cambria Math" panose="02040503050406030204" pitchFamily="18" charset="0"/>
                  </a:rPr>
                  <a:t>由前，</a:t>
                </a:r>
                <a:endParaRPr lang="en-AU" altLang="zh-CN" i="1" dirty="0">
                  <a:latin typeface="Cambria Math" panose="02040503050406030204" pitchFamily="18" charset="0"/>
                  <a:ea typeface="Cambria Math" panose="02040503050406030204" pitchFamily="18" charset="0"/>
                </a:endParaRPr>
              </a:p>
              <a:p>
                <a14:m>
                  <m:oMath xmlns:m="http://schemas.openxmlformats.org/officeDocument/2006/math">
                    <m:r>
                      <a:rPr lang="en-AU" i="1" dirty="0" smtClean="0">
                        <a:latin typeface="Cambria Math" panose="02040503050406030204" pitchFamily="18" charset="0"/>
                        <a:ea typeface="Cambria Math" panose="02040503050406030204" pitchFamily="18" charset="0"/>
                      </a:rPr>
                      <m:t>𝛽</m:t>
                    </m:r>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sub>
                    </m:sSub>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𝑥</m:t>
                    </m:r>
                    <m:r>
                      <a:rPr lang="en-AU" b="0" i="1" dirty="0" smtClean="0">
                        <a:latin typeface="Cambria Math" panose="02040503050406030204" pitchFamily="18" charset="0"/>
                        <a:ea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𝐴</m:t>
                        </m:r>
                      </m:e>
                      <m:sub>
                        <m:r>
                          <a:rPr lang="en-AU" i="1" dirty="0">
                            <a:latin typeface="Cambria Math" panose="02040503050406030204" pitchFamily="18" charset="0"/>
                          </a:rPr>
                          <m:t>𝑖</m:t>
                        </m:r>
                        <m:r>
                          <a:rPr lang="en-AU" i="1" dirty="0">
                            <a:latin typeface="Cambria Math" panose="02040503050406030204" pitchFamily="18" charset="0"/>
                          </a:rPr>
                          <m:t>+1</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i="1" dirty="0">
                            <a:latin typeface="Cambria Math" panose="02040503050406030204" pitchFamily="18" charset="0"/>
                            <a:ea typeface="Cambria Math" panose="02040503050406030204" pitchFamily="18" charset="0"/>
                          </a:rPr>
                          <m:t>𝑖</m:t>
                        </m:r>
                        <m:r>
                          <a:rPr lang="en-AU" i="1" dirty="0">
                            <a:latin typeface="Cambria Math" panose="02040503050406030204" pitchFamily="18" charset="0"/>
                            <a:ea typeface="Cambria Math" panose="02040503050406030204" pitchFamily="18" charset="0"/>
                          </a:rPr>
                          <m:t>+1</m:t>
                        </m:r>
                      </m:sub>
                    </m:sSub>
                  </m:oMath>
                </a14:m>
                <a:r>
                  <a:rPr lang="zh-CN" altLang="en-US" dirty="0"/>
                  <a:t>，</a:t>
                </a:r>
                <a:endParaRPr lang="en-AU" altLang="zh-CN" dirty="0"/>
              </a:p>
              <a:p>
                <a:pPr/>
                <a14:m>
                  <m:oMathPara xmlns:m="http://schemas.openxmlformats.org/officeDocument/2006/math">
                    <m:oMathParaPr>
                      <m:jc m:val="left"/>
                    </m:oMathParaPr>
                    <m:oMath xmlns:m="http://schemas.openxmlformats.org/officeDocument/2006/math">
                      <m:sSub>
                        <m:sSubPr>
                          <m:ctrlPr>
                            <a:rPr lang="en-AU" altLang="zh-CN" sz="1800" b="0" i="1" dirty="0" smtClean="0">
                              <a:latin typeface="Cambria Math" panose="02040503050406030204" pitchFamily="18" charset="0"/>
                            </a:rPr>
                          </m:ctrlPr>
                        </m:sSubPr>
                        <m:e>
                          <m:r>
                            <a:rPr lang="en-AU" altLang="zh-CN" sz="1800" b="0" i="1" dirty="0" smtClean="0">
                              <a:latin typeface="Cambria Math" panose="02040503050406030204" pitchFamily="18" charset="0"/>
                            </a:rPr>
                            <m:t>𝑦</m:t>
                          </m:r>
                        </m:e>
                        <m:sub>
                          <m:r>
                            <a:rPr lang="en-AU" altLang="zh-CN" sz="1800" b="0" i="1" dirty="0" smtClean="0">
                              <a:latin typeface="Cambria Math" panose="02040503050406030204" pitchFamily="18" charset="0"/>
                            </a:rPr>
                            <m:t>𝑖</m:t>
                          </m:r>
                        </m:sub>
                      </m:sSub>
                      <m:r>
                        <a:rPr lang="en-AU" altLang="zh-CN" sz="1800" b="0" i="1" dirty="0" smtClean="0">
                          <a:latin typeface="Cambria Math" panose="02040503050406030204" pitchFamily="18" charset="0"/>
                        </a:rPr>
                        <m:t>=</m:t>
                      </m:r>
                      <m:r>
                        <a:rPr lang="en-AU" altLang="zh-CN" sz="1800" b="0" i="1" dirty="0" smtClean="0">
                          <a:latin typeface="Cambria Math" panose="02040503050406030204" pitchFamily="18" charset="0"/>
                        </a:rPr>
                        <m:t>𝑥</m:t>
                      </m:r>
                      <m:r>
                        <a:rPr lang="en-AU" altLang="zh-CN" sz="1800" b="0" i="1" dirty="0" smtClean="0">
                          <a:latin typeface="Cambria Math" panose="02040503050406030204" pitchFamily="18" charset="0"/>
                        </a:rPr>
                        <m:t>′</m:t>
                      </m:r>
                      <m:sSub>
                        <m:sSubPr>
                          <m:ctrlPr>
                            <a:rPr lang="en-AU" altLang="zh-CN" sz="1800" i="1" dirty="0">
                              <a:latin typeface="Cambria Math" panose="02040503050406030204" pitchFamily="18" charset="0"/>
                            </a:rPr>
                          </m:ctrlPr>
                        </m:sSubPr>
                        <m:e>
                          <m:r>
                            <a:rPr lang="en-AU" altLang="zh-CN" sz="1800" b="0" i="1" dirty="0" smtClean="0">
                              <a:latin typeface="Cambria Math" panose="02040503050406030204" pitchFamily="18" charset="0"/>
                            </a:rPr>
                            <m:t>𝑦</m:t>
                          </m:r>
                        </m:e>
                        <m:sub>
                          <m:r>
                            <a:rPr lang="en-AU" altLang="zh-CN" sz="1800" i="1" dirty="0">
                              <a:latin typeface="Cambria Math" panose="02040503050406030204" pitchFamily="18" charset="0"/>
                            </a:rPr>
                            <m:t>𝑖</m:t>
                          </m:r>
                          <m:r>
                            <a:rPr lang="en-AU" altLang="zh-CN" sz="1800" b="0" i="1" dirty="0" smtClean="0">
                              <a:latin typeface="Cambria Math" panose="02040503050406030204" pitchFamily="18" charset="0"/>
                            </a:rPr>
                            <m:t>+1</m:t>
                          </m:r>
                        </m:sub>
                      </m:sSub>
                    </m:oMath>
                  </m:oMathPara>
                </a14:m>
                <a:endParaRPr lang="en-AU" dirty="0"/>
              </a:p>
            </p:txBody>
          </p:sp>
        </mc:Choice>
        <mc:Fallback xmlns="">
          <p:sp>
            <p:nvSpPr>
              <p:cNvPr id="10" name="TextBox 9"/>
              <p:cNvSpPr txBox="1">
                <a:spLocks noRot="1" noChangeAspect="1" noMove="1" noResize="1" noEditPoints="1" noAdjustHandles="1" noChangeArrowheads="1" noChangeShapeType="1" noTextEdit="1"/>
              </p:cNvSpPr>
              <p:nvPr/>
            </p:nvSpPr>
            <p:spPr>
              <a:xfrm>
                <a:off x="6679473" y="1798280"/>
                <a:ext cx="2007327" cy="923330"/>
              </a:xfrm>
              <a:prstGeom prst="rect">
                <a:avLst/>
              </a:prstGeom>
              <a:blipFill rotWithShape="1">
                <a:blip r:embed="rId7"/>
                <a:stretch>
                  <a:fillRect l="-27" t="-64"/>
                </a:stretch>
              </a:blipFill>
            </p:spPr>
            <p:txBody>
              <a:bodyPr/>
              <a:lstStyle/>
              <a:p>
                <a:r>
                  <a:rPr lang="zh-CN" altLang="en-US">
                    <a:noFill/>
                  </a:rPr>
                  <a:t> </a:t>
                </a:r>
              </a:p>
            </p:txBody>
          </p:sp>
        </mc:Fallback>
      </mc:AlternateContent>
      <p:cxnSp>
        <p:nvCxnSpPr>
          <p:cNvPr id="12" name="Straight Arrow Connector 11"/>
          <p:cNvCxnSpPr/>
          <p:nvPr/>
        </p:nvCxnSpPr>
        <p:spPr>
          <a:xfrm flipH="1">
            <a:off x="6055179" y="2606073"/>
            <a:ext cx="498021" cy="1142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6344544" y="3342686"/>
                <a:ext cx="1850709" cy="369332"/>
              </a:xfrm>
              <a:prstGeom prst="rect">
                <a:avLst/>
              </a:prstGeom>
              <a:solidFill>
                <a:srgbClr val="FFC000"/>
              </a:solidFill>
            </p:spPr>
            <p:txBody>
              <a:bodyPr wrap="square">
                <a:spAutoFit/>
              </a:bodyPr>
              <a:lstStyle/>
              <a:p>
                <a:r>
                  <a:rPr lang="zh-CN" altLang="en-US" dirty="0">
                    <a:ea typeface="Cambria Math" panose="02040503050406030204" pitchFamily="18" charset="0"/>
                  </a:rPr>
                  <a:t>弹出</a:t>
                </a:r>
                <a14:m>
                  <m:oMath xmlns:m="http://schemas.openxmlformats.org/officeDocument/2006/math">
                    <m:r>
                      <a:rPr lang="en-AU" altLang="zh-CN" b="0" i="1" smtClean="0">
                        <a:latin typeface="Cambria Math" panose="02040503050406030204" pitchFamily="18" charset="0"/>
                        <a:ea typeface="Cambria Math" panose="02040503050406030204" pitchFamily="18" charset="0"/>
                      </a:rPr>
                      <m:t>𝑥</m:t>
                    </m:r>
                    <m:r>
                      <a:rPr lang="en-AU" altLang="zh-CN" b="0" i="1" smtClean="0">
                        <a:latin typeface="Cambria Math" panose="02040503050406030204" pitchFamily="18" charset="0"/>
                        <a:ea typeface="Cambria Math" panose="02040503050406030204" pitchFamily="18" charset="0"/>
                      </a:rPr>
                      <m:t>′</m:t>
                    </m:r>
                  </m:oMath>
                </a14:m>
                <a:endParaRPr lang="en-AU" dirty="0"/>
              </a:p>
            </p:txBody>
          </p:sp>
        </mc:Choice>
        <mc:Fallback xmlns="">
          <p:sp>
            <p:nvSpPr>
              <p:cNvPr id="13" name="TextBox 12"/>
              <p:cNvSpPr txBox="1">
                <a:spLocks noRot="1" noChangeAspect="1" noMove="1" noResize="1" noEditPoints="1" noAdjustHandles="1" noChangeArrowheads="1" noChangeShapeType="1" noTextEdit="1"/>
              </p:cNvSpPr>
              <p:nvPr/>
            </p:nvSpPr>
            <p:spPr>
              <a:xfrm>
                <a:off x="6344544" y="3342686"/>
                <a:ext cx="1850709" cy="369332"/>
              </a:xfrm>
              <a:prstGeom prst="rect">
                <a:avLst/>
              </a:prstGeom>
              <a:blipFill rotWithShape="1">
                <a:blip r:embed="rId8"/>
                <a:stretch>
                  <a:fillRect l="-14" t="-12" r="31" b="120"/>
                </a:stretch>
              </a:blipFill>
            </p:spPr>
            <p:txBody>
              <a:bodyPr/>
              <a:lstStyle/>
              <a:p>
                <a:r>
                  <a:rPr lang="zh-CN" altLang="en-US">
                    <a:noFill/>
                  </a:rPr>
                  <a:t> </a:t>
                </a:r>
              </a:p>
            </p:txBody>
          </p:sp>
        </mc:Fallback>
      </mc:AlternateContent>
      <p:cxnSp>
        <p:nvCxnSpPr>
          <p:cNvPr id="14" name="Straight Arrow Connector 13"/>
          <p:cNvCxnSpPr/>
          <p:nvPr/>
        </p:nvCxnSpPr>
        <p:spPr>
          <a:xfrm flipH="1">
            <a:off x="5839234" y="3537552"/>
            <a:ext cx="431889" cy="571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3697876" y="4954021"/>
                <a:ext cx="4988924" cy="707886"/>
              </a:xfrm>
              <a:prstGeom prst="rect">
                <a:avLst/>
              </a:prstGeom>
              <a:solidFill>
                <a:srgbClr val="FFC000"/>
              </a:solidFill>
            </p:spPr>
            <p:txBody>
              <a:bodyPr wrap="square">
                <a:spAutoFit/>
              </a:bodyPr>
              <a:lstStyle/>
              <a:p>
                <a:pPr marL="0" indent="0">
                  <a:buNone/>
                </a:pPr>
                <a:r>
                  <a:rPr lang="zh-CN" altLang="en-US" sz="2000" dirty="0">
                    <a:latin typeface="楷体" panose="02010609060101010101" pitchFamily="49" charset="-122"/>
                    <a:ea typeface="楷体" panose="02010609060101010101" pitchFamily="49" charset="-122"/>
                  </a:rPr>
                  <a:t>由前，将</a:t>
                </a:r>
                <a14:m>
                  <m:oMath xmlns:m="http://schemas.openxmlformats.org/officeDocument/2006/math">
                    <m:r>
                      <a:rPr lang="en-AU" altLang="zh-CN" sz="2000" i="1" dirty="0" smtClean="0">
                        <a:latin typeface="Cambria Math" panose="02040503050406030204" pitchFamily="18" charset="0"/>
                      </a:rPr>
                      <m:t>𝑤</m:t>
                    </m:r>
                    <m:r>
                      <a:rPr lang="en-AU" altLang="zh-CN" sz="2000" i="1" dirty="0" smtClean="0">
                        <a:latin typeface="Cambria Math" panose="02040503050406030204" pitchFamily="18" charset="0"/>
                      </a:rPr>
                      <m:t> </m:t>
                    </m:r>
                  </m:oMath>
                </a14:m>
                <a:r>
                  <a:rPr lang="zh-CN" altLang="en-US" sz="2000" dirty="0">
                    <a:latin typeface="楷体" panose="02010609060101010101" pitchFamily="49" charset="-122"/>
                    <a:ea typeface="楷体" panose="02010609060101010101" pitchFamily="49" charset="-122"/>
                  </a:rPr>
                  <a:t>看作为第</a:t>
                </a:r>
                <a14:m>
                  <m:oMath xmlns:m="http://schemas.openxmlformats.org/officeDocument/2006/math">
                    <m:r>
                      <a:rPr lang="en-AU" altLang="zh-CN" sz="2000" i="1" dirty="0" smtClean="0">
                        <a:latin typeface="Cambria Math" panose="02040503050406030204" pitchFamily="18" charset="0"/>
                      </a:rPr>
                      <m:t>𝑛</m:t>
                    </m:r>
                  </m:oMath>
                </a14:m>
                <a:r>
                  <a:rPr lang="zh-CN" altLang="en-US" sz="2000" dirty="0">
                    <a:latin typeface="楷体" panose="02010609060101010101" pitchFamily="49" charset="-122"/>
                    <a:ea typeface="楷体" panose="02010609060101010101" pitchFamily="49" charset="-122"/>
                  </a:rPr>
                  <a:t>个左句型</a:t>
                </a:r>
                <a14:m>
                  <m:oMath xmlns:m="http://schemas.openxmlformats.org/officeDocument/2006/math">
                    <m:sSub>
                      <m:sSubPr>
                        <m:ctrlPr>
                          <a:rPr lang="en-AU" sz="2000" i="1" dirty="0">
                            <a:latin typeface="Cambria Math" panose="02040503050406030204" pitchFamily="18" charset="0"/>
                          </a:rPr>
                        </m:ctrlPr>
                      </m:sSubPr>
                      <m:e>
                        <m:r>
                          <a:rPr lang="en-AU" sz="2000" i="1" dirty="0">
                            <a:latin typeface="Cambria Math" panose="02040503050406030204" pitchFamily="18" charset="0"/>
                          </a:rPr>
                          <m:t>𝑥</m:t>
                        </m:r>
                      </m:e>
                      <m:sub>
                        <m:r>
                          <a:rPr lang="en-AU" sz="2000" b="0" i="1" dirty="0" smtClean="0">
                            <a:latin typeface="Cambria Math" panose="02040503050406030204" pitchFamily="18" charset="0"/>
                          </a:rPr>
                          <m:t>𝑛</m:t>
                        </m:r>
                      </m:sub>
                    </m:sSub>
                    <m:sSub>
                      <m:sSubPr>
                        <m:ctrlPr>
                          <a:rPr lang="en-AU" sz="2000" i="1" dirty="0">
                            <a:latin typeface="Cambria Math" panose="02040503050406030204" pitchFamily="18" charset="0"/>
                          </a:rPr>
                        </m:ctrlPr>
                      </m:sSubPr>
                      <m:e>
                        <m:r>
                          <a:rPr lang="en-AU" sz="2000" i="1" dirty="0">
                            <a:latin typeface="Cambria Math" panose="02040503050406030204" pitchFamily="18" charset="0"/>
                          </a:rPr>
                          <m:t>𝐴</m:t>
                        </m:r>
                      </m:e>
                      <m:sub>
                        <m:r>
                          <a:rPr lang="en-AU" sz="2000" b="0" i="1" dirty="0" smtClean="0">
                            <a:latin typeface="Cambria Math" panose="02040503050406030204" pitchFamily="18" charset="0"/>
                          </a:rPr>
                          <m:t>𝑛</m:t>
                        </m:r>
                      </m:sub>
                    </m:sSub>
                    <m:sSub>
                      <m:sSubPr>
                        <m:ctrlPr>
                          <a:rPr lang="en-AU" sz="2000" i="1" dirty="0">
                            <a:latin typeface="Cambria Math" panose="02040503050406030204" pitchFamily="18" charset="0"/>
                          </a:rPr>
                        </m:ctrlPr>
                      </m:sSubPr>
                      <m:e>
                        <m:r>
                          <a:rPr lang="en-AU" sz="2000" i="1" dirty="0">
                            <a:latin typeface="Cambria Math" panose="02040503050406030204" pitchFamily="18" charset="0"/>
                            <a:ea typeface="Cambria Math" panose="02040503050406030204" pitchFamily="18" charset="0"/>
                          </a:rPr>
                          <m:t>𝛼</m:t>
                        </m:r>
                      </m:e>
                      <m:sub>
                        <m:r>
                          <a:rPr lang="en-AU" sz="2000" b="0" i="1" dirty="0" smtClean="0">
                            <a:latin typeface="Cambria Math" panose="02040503050406030204" pitchFamily="18" charset="0"/>
                            <a:ea typeface="Cambria Math" panose="02040503050406030204" pitchFamily="18" charset="0"/>
                          </a:rPr>
                          <m:t>𝑛</m:t>
                        </m:r>
                      </m:sub>
                    </m:sSub>
                    <m:r>
                      <a:rPr lang="en-AU" sz="2000" i="1" dirty="0">
                        <a:latin typeface="Cambria Math" panose="02040503050406030204" pitchFamily="18" charset="0"/>
                      </a:rPr>
                      <m:t>=</m:t>
                    </m:r>
                    <m:r>
                      <a:rPr lang="en-AU" sz="2000" b="0" i="1" dirty="0" smtClean="0">
                        <a:latin typeface="Cambria Math" panose="02040503050406030204" pitchFamily="18" charset="0"/>
                      </a:rPr>
                      <m:t>𝑤</m:t>
                    </m:r>
                  </m:oMath>
                </a14:m>
                <a:r>
                  <a:rPr lang="en-AU"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其中</a:t>
                </a:r>
                <a14:m>
                  <m:oMath xmlns:m="http://schemas.openxmlformats.org/officeDocument/2006/math">
                    <m:sSub>
                      <m:sSubPr>
                        <m:ctrlPr>
                          <a:rPr lang="en-AU" sz="2000" i="1" dirty="0" smtClean="0">
                            <a:latin typeface="Cambria Math" panose="02040503050406030204" pitchFamily="18" charset="0"/>
                          </a:rPr>
                        </m:ctrlPr>
                      </m:sSubPr>
                      <m:e>
                        <m:r>
                          <a:rPr lang="en-AU" sz="2000" i="1" dirty="0">
                            <a:latin typeface="Cambria Math" panose="02040503050406030204" pitchFamily="18" charset="0"/>
                          </a:rPr>
                          <m:t>𝑥</m:t>
                        </m:r>
                      </m:e>
                      <m:sub>
                        <m:r>
                          <a:rPr lang="en-AU" sz="2000" b="0" i="1" dirty="0" smtClean="0">
                            <a:latin typeface="Cambria Math" panose="02040503050406030204" pitchFamily="18" charset="0"/>
                          </a:rPr>
                          <m:t>𝑛</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rPr>
                      <m:t>𝑤</m:t>
                    </m:r>
                    <m:r>
                      <a:rPr lang="zh-CN" altLang="en-US" sz="2000" i="1" dirty="0" smtClean="0">
                        <a:latin typeface="Cambria Math" panose="02040503050406030204" pitchFamily="18" charset="0"/>
                      </a:rPr>
                      <m:t>，</m:t>
                    </m:r>
                    <m:sSub>
                      <m:sSubPr>
                        <m:ctrlPr>
                          <a:rPr lang="en-AU" sz="2000" i="1" dirty="0">
                            <a:latin typeface="Cambria Math" panose="02040503050406030204" pitchFamily="18" charset="0"/>
                          </a:rPr>
                        </m:ctrlPr>
                      </m:sSubPr>
                      <m:e>
                        <m:r>
                          <a:rPr lang="en-AU" sz="2000" i="1" dirty="0">
                            <a:latin typeface="Cambria Math" panose="02040503050406030204" pitchFamily="18" charset="0"/>
                          </a:rPr>
                          <m:t>𝐴</m:t>
                        </m:r>
                      </m:e>
                      <m:sub>
                        <m:r>
                          <a:rPr lang="en-AU" sz="2000" b="0" i="1" dirty="0" smtClean="0">
                            <a:latin typeface="Cambria Math" panose="02040503050406030204" pitchFamily="18" charset="0"/>
                          </a:rPr>
                          <m:t>𝑛</m:t>
                        </m:r>
                      </m:sub>
                    </m:sSub>
                    <m:r>
                      <a:rPr lang="en-AU" sz="2000" b="0" i="1" dirty="0" smtClean="0">
                        <a:latin typeface="Cambria Math" panose="02040503050406030204" pitchFamily="18" charset="0"/>
                      </a:rPr>
                      <m:t>=</m:t>
                    </m:r>
                    <m:r>
                      <a:rPr lang="pl-PL" sz="2000" i="1" dirty="0">
                        <a:latin typeface="Cambria Math" panose="02040503050406030204" pitchFamily="18" charset="0"/>
                      </a:rPr>
                      <m:t>𝜀</m:t>
                    </m:r>
                    <m:r>
                      <a:rPr lang="en-AU" sz="2000" b="0" i="1" dirty="0" smtClean="0">
                        <a:latin typeface="Cambria Math" panose="02040503050406030204" pitchFamily="18" charset="0"/>
                      </a:rPr>
                      <m:t>, </m:t>
                    </m:r>
                    <m:sSub>
                      <m:sSubPr>
                        <m:ctrlPr>
                          <a:rPr lang="en-AU" sz="2000" i="1" dirty="0">
                            <a:latin typeface="Cambria Math" panose="02040503050406030204" pitchFamily="18" charset="0"/>
                          </a:rPr>
                        </m:ctrlPr>
                      </m:sSubPr>
                      <m:e>
                        <m:r>
                          <a:rPr lang="en-AU" sz="2000" i="1" dirty="0">
                            <a:latin typeface="Cambria Math" panose="02040503050406030204" pitchFamily="18" charset="0"/>
                            <a:ea typeface="Cambria Math" panose="02040503050406030204" pitchFamily="18" charset="0"/>
                          </a:rPr>
                          <m:t>𝛼</m:t>
                        </m:r>
                      </m:e>
                      <m:sub>
                        <m:r>
                          <a:rPr lang="en-AU" sz="2000" b="0" i="1" dirty="0" smtClean="0">
                            <a:latin typeface="Cambria Math" panose="02040503050406030204" pitchFamily="18" charset="0"/>
                            <a:ea typeface="Cambria Math" panose="02040503050406030204" pitchFamily="18" charset="0"/>
                          </a:rPr>
                          <m:t>𝑛</m:t>
                        </m:r>
                      </m:sub>
                    </m:sSub>
                    <m:r>
                      <a:rPr lang="en-AU" sz="2000" b="0" i="1" dirty="0" smtClean="0">
                        <a:latin typeface="Cambria Math" panose="02040503050406030204" pitchFamily="18" charset="0"/>
                      </a:rPr>
                      <m:t>=</m:t>
                    </m:r>
                    <m:r>
                      <a:rPr lang="pl-PL" sz="2000" i="1" dirty="0">
                        <a:latin typeface="Cambria Math" panose="02040503050406030204" pitchFamily="18" charset="0"/>
                      </a:rPr>
                      <m:t>𝜀</m:t>
                    </m:r>
                  </m:oMath>
                </a14:m>
                <a:endParaRPr lang="en-AU" altLang="zh-CN" sz="2000" dirty="0">
                  <a:latin typeface="楷体" panose="02010609060101010101" pitchFamily="49" charset="-122"/>
                  <a:ea typeface="楷体" panose="02010609060101010101" pitchFamily="49" charset="-122"/>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3697876" y="4954021"/>
                <a:ext cx="4988924" cy="707886"/>
              </a:xfrm>
              <a:prstGeom prst="rect">
                <a:avLst/>
              </a:prstGeom>
              <a:blipFill rotWithShape="1">
                <a:blip r:embed="rId9"/>
                <a:stretch>
                  <a:fillRect l="-5" t="-55" r="-433" b="35"/>
                </a:stretch>
              </a:blipFill>
            </p:spPr>
            <p:txBody>
              <a:bodyPr/>
              <a:lstStyle/>
              <a:p>
                <a:r>
                  <a:rPr lang="zh-CN" altLang="en-US">
                    <a:noFill/>
                  </a:rPr>
                  <a:t> </a:t>
                </a:r>
              </a:p>
            </p:txBody>
          </p:sp>
        </mc:Fallback>
      </mc:AlternateContent>
      <p:cxnSp>
        <p:nvCxnSpPr>
          <p:cNvPr id="18" name="Straight Arrow Connector 17"/>
          <p:cNvCxnSpPr/>
          <p:nvPr/>
        </p:nvCxnSpPr>
        <p:spPr>
          <a:xfrm flipH="1" flipV="1">
            <a:off x="7334103" y="4426906"/>
            <a:ext cx="266425" cy="4299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flipH="1" flipV="1">
            <a:off x="7683136" y="4422039"/>
            <a:ext cx="266425" cy="4299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Title 1"/>
          <p:cNvSpPr>
            <a:spLocks noGrp="1"/>
          </p:cNvSpPr>
          <p:nvPr>
            <p:ph type="title"/>
          </p:nvPr>
        </p:nvSpPr>
        <p:spPr/>
        <p:txBody>
          <a:bodyPr/>
          <a:lstStyle/>
          <a:p>
            <a:r>
              <a:rPr lang="zh-CN" altLang="en-US" dirty="0"/>
              <a:t>充分性证明</a:t>
            </a:r>
            <a:endParaRPr lang="en-AU"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必要性证明</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6449" y="1187926"/>
                <a:ext cx="7548301" cy="4525963"/>
              </a:xfrm>
            </p:spPr>
            <p:txBody>
              <a:bodyPr>
                <a:normAutofit/>
              </a:bodyPr>
              <a:lstStyle/>
              <a:p>
                <a:r>
                  <a:rPr lang="zh-CN" altLang="en-US" sz="2400" dirty="0"/>
                  <a:t>必要性证明</a:t>
                </a:r>
                <a:r>
                  <a:rPr lang="en-AU" altLang="zh-CN" sz="2400" dirty="0"/>
                  <a:t>:</a:t>
                </a:r>
              </a:p>
              <a:p>
                <a:pPr marL="0" indent="0">
                  <a:buNone/>
                </a:pPr>
                <a14:m>
                  <m:oMathPara xmlns:m="http://schemas.openxmlformats.org/officeDocument/2006/math">
                    <m:oMathParaPr>
                      <m:jc m:val="centerGroup"/>
                    </m:oMathParaPr>
                    <m:oMath xmlns:m="http://schemas.openxmlformats.org/officeDocument/2006/math">
                      <m:d>
                        <m:dPr>
                          <m:ctrlPr>
                            <a:rPr lang="pl-PL" sz="2400" i="1" dirty="0">
                              <a:latin typeface="Cambria Math" panose="02040503050406030204" pitchFamily="18" charset="0"/>
                            </a:rPr>
                          </m:ctrlPr>
                        </m:dPr>
                        <m:e>
                          <m:r>
                            <a:rPr lang="pl-PL" sz="2400" i="1" dirty="0" smtClean="0">
                              <a:latin typeface="Cambria Math" panose="02040503050406030204" pitchFamily="18" charset="0"/>
                            </a:rPr>
                            <m:t>𝑞</m:t>
                          </m:r>
                          <m:r>
                            <a:rPr lang="pl-PL" sz="2400" i="1" dirty="0" smtClean="0">
                              <a:latin typeface="Cambria Math" panose="02040503050406030204" pitchFamily="18" charset="0"/>
                            </a:rPr>
                            <m:t>, </m:t>
                          </m:r>
                          <m:r>
                            <a:rPr lang="pl-PL" sz="2400" i="1" dirty="0" smtClean="0">
                              <a:latin typeface="Cambria Math" panose="02040503050406030204" pitchFamily="18" charset="0"/>
                            </a:rPr>
                            <m:t>𝑤</m:t>
                          </m:r>
                          <m:r>
                            <a:rPr lang="pl-PL" sz="2400" i="1" dirty="0" smtClean="0">
                              <a:latin typeface="Cambria Math" panose="02040503050406030204" pitchFamily="18" charset="0"/>
                            </a:rPr>
                            <m:t>, </m:t>
                          </m:r>
                          <m:r>
                            <a:rPr lang="pl-PL" sz="2400" i="1" dirty="0" smtClean="0">
                              <a:latin typeface="Cambria Math" panose="02040503050406030204" pitchFamily="18" charset="0"/>
                            </a:rPr>
                            <m:t>𝑆</m:t>
                          </m:r>
                        </m:e>
                      </m:d>
                      <m:sSup>
                        <m:sSupPr>
                          <m:ctrlPr>
                            <a:rPr lang="pl-PL" sz="2400" i="1" dirty="0">
                              <a:latin typeface="Cambria Math" panose="02040503050406030204" pitchFamily="18" charset="0"/>
                            </a:rPr>
                          </m:ctrlPr>
                        </m:sSupPr>
                        <m:e>
                          <m:r>
                            <a:rPr lang="pl-PL" sz="2400" i="1" dirty="0" smtClean="0">
                              <a:latin typeface="Cambria Math" panose="02040503050406030204" pitchFamily="18" charset="0"/>
                              <a:ea typeface="Cambria Math" panose="02040503050406030204" pitchFamily="18" charset="0"/>
                            </a:rPr>
                            <m:t>⊢</m:t>
                          </m:r>
                        </m:e>
                        <m:sup>
                          <m:r>
                            <a:rPr lang="en-AU" sz="2400" i="1" dirty="0" smtClean="0">
                              <a:latin typeface="Cambria Math" panose="02040503050406030204" pitchFamily="18" charset="0"/>
                            </a:rPr>
                            <m:t>∗</m:t>
                          </m:r>
                        </m:sup>
                      </m:sSup>
                      <m:r>
                        <a:rPr lang="pl-PL" sz="2400" i="1" dirty="0" smtClean="0">
                          <a:latin typeface="Cambria Math" panose="02040503050406030204" pitchFamily="18" charset="0"/>
                        </a:rPr>
                        <m:t>(</m:t>
                      </m:r>
                      <m:r>
                        <a:rPr lang="pl-PL" sz="2400" i="1" dirty="0" smtClean="0">
                          <a:latin typeface="Cambria Math" panose="02040503050406030204" pitchFamily="18" charset="0"/>
                        </a:rPr>
                        <m:t>𝑞</m:t>
                      </m:r>
                      <m:r>
                        <a:rPr lang="pl-PL" sz="2400" i="1" dirty="0" smtClean="0">
                          <a:latin typeface="Cambria Math" panose="02040503050406030204" pitchFamily="18" charset="0"/>
                        </a:rPr>
                        <m:t>, </m:t>
                      </m:r>
                      <m:r>
                        <a:rPr lang="pl-PL" sz="2400" i="1" dirty="0" smtClean="0">
                          <a:latin typeface="Cambria Math" panose="02040503050406030204" pitchFamily="18" charset="0"/>
                        </a:rPr>
                        <m:t>𝜀</m:t>
                      </m:r>
                      <m:r>
                        <a:rPr lang="pl-PL" sz="2400" i="1" dirty="0" smtClean="0">
                          <a:latin typeface="Cambria Math" panose="02040503050406030204" pitchFamily="18" charset="0"/>
                        </a:rPr>
                        <m:t>, </m:t>
                      </m:r>
                      <m:r>
                        <a:rPr lang="pl-PL" sz="2400" i="1" dirty="0" smtClean="0">
                          <a:latin typeface="Cambria Math" panose="02040503050406030204" pitchFamily="18" charset="0"/>
                        </a:rPr>
                        <m:t>𝜀</m:t>
                      </m:r>
                      <m:r>
                        <a:rPr lang="pl-PL" sz="2400" i="1" dirty="0" smtClean="0">
                          <a:latin typeface="Cambria Math" panose="02040503050406030204" pitchFamily="18" charset="0"/>
                        </a:rPr>
                        <m:t>)⇒</m:t>
                      </m:r>
                      <m:r>
                        <a:rPr lang="pl-PL" sz="2400" i="1" dirty="0" smtClean="0">
                          <a:latin typeface="Cambria Math" panose="02040503050406030204" pitchFamily="18" charset="0"/>
                        </a:rPr>
                        <m:t>𝑆</m:t>
                      </m:r>
                      <m:groupChr>
                        <m:groupChrPr>
                          <m:chr m:val="⇒"/>
                          <m:vertJc m:val="bot"/>
                          <m:ctrlPr>
                            <a:rPr lang="pl-PL" sz="2400" i="1" dirty="0">
                              <a:latin typeface="Cambria Math" panose="02040503050406030204" pitchFamily="18" charset="0"/>
                            </a:rPr>
                          </m:ctrlPr>
                        </m:groupChrPr>
                        <m:e>
                          <m:r>
                            <m:rPr>
                              <m:brk m:alnAt="2"/>
                            </m:rPr>
                            <a:rPr lang="en-AU" sz="2400" i="1" dirty="0" smtClean="0">
                              <a:latin typeface="Cambria Math" panose="02040503050406030204" pitchFamily="18" charset="0"/>
                            </a:rPr>
                            <m:t>∗</m:t>
                          </m:r>
                        </m:e>
                      </m:groupChr>
                      <m:r>
                        <a:rPr lang="pl-PL" sz="2400" i="1" dirty="0" smtClean="0">
                          <a:latin typeface="Cambria Math" panose="02040503050406030204" pitchFamily="18" charset="0"/>
                        </a:rPr>
                        <m:t>𝑤</m:t>
                      </m:r>
                    </m:oMath>
                  </m:oMathPara>
                </a14:m>
                <a:endParaRPr lang="en-AU" altLang="zh-CN" sz="2400" dirty="0"/>
              </a:p>
              <a:p>
                <a:pPr marL="0" indent="0">
                  <a:buNone/>
                </a:pPr>
                <a:r>
                  <a:rPr lang="zh-CN" altLang="en-US" sz="2400" dirty="0"/>
                  <a:t>我们证明更一般的结论</a:t>
                </a:r>
                <a:r>
                  <a:rPr lang="en-US" altLang="zh-CN" sz="2400" dirty="0"/>
                  <a:t>, </a:t>
                </a:r>
                <a:r>
                  <a:rPr lang="zh-CN" altLang="en-US" sz="2400" dirty="0"/>
                  <a:t>对任何变元</a:t>
                </a:r>
                <a14:m>
                  <m:oMath xmlns:m="http://schemas.openxmlformats.org/officeDocument/2006/math">
                    <m:r>
                      <a:rPr lang="en-AU" sz="2400" i="1" dirty="0" smtClean="0">
                        <a:latin typeface="Cambria Math" panose="02040503050406030204" pitchFamily="18" charset="0"/>
                      </a:rPr>
                      <m:t>𝐴</m:t>
                    </m:r>
                  </m:oMath>
                </a14:m>
                <a:r>
                  <a:rPr lang="en-AU" sz="2400" dirty="0"/>
                  <a:t>, </a:t>
                </a:r>
                <a:r>
                  <a:rPr lang="zh-CN" altLang="en-US" sz="2400" dirty="0"/>
                  <a:t>都有</a:t>
                </a:r>
                <a:r>
                  <a:rPr lang="en-US" altLang="zh-CN" sz="2400" dirty="0"/>
                  <a:t>:</a:t>
                </a:r>
              </a:p>
              <a:p>
                <a:pPr marL="0" indent="0" algn="ctr">
                  <a:buNone/>
                </a:pPr>
                <a14:m>
                  <m:oMath xmlns:m="http://schemas.openxmlformats.org/officeDocument/2006/math">
                    <m:d>
                      <m:dPr>
                        <m:ctrlPr>
                          <a:rPr lang="en-AU" altLang="zh-CN" sz="2400" i="1" dirty="0" smtClean="0">
                            <a:latin typeface="Cambria Math" panose="02040503050406030204" pitchFamily="18" charset="0"/>
                          </a:rPr>
                        </m:ctrlPr>
                      </m:dPr>
                      <m:e>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b="0" i="1" dirty="0" smtClean="0">
                            <a:latin typeface="Cambria Math" panose="02040503050406030204" pitchFamily="18" charset="0"/>
                          </a:rPr>
                          <m:t>𝑥</m:t>
                        </m:r>
                        <m:r>
                          <a:rPr lang="en-AU" altLang="zh-CN" sz="2400" i="1" dirty="0" smtClean="0">
                            <a:latin typeface="Cambria Math" panose="02040503050406030204" pitchFamily="18" charset="0"/>
                          </a:rPr>
                          <m:t>, </m:t>
                        </m:r>
                        <m:r>
                          <a:rPr lang="en-AU" altLang="zh-CN" sz="2400" b="0" i="1" dirty="0" smtClean="0">
                            <a:latin typeface="Cambria Math" panose="02040503050406030204" pitchFamily="18" charset="0"/>
                          </a:rPr>
                          <m:t>𝐴</m:t>
                        </m:r>
                      </m:e>
                    </m:d>
                    <m:sSup>
                      <m:sSupPr>
                        <m:ctrlPr>
                          <a:rPr lang="pl-PL" sz="2400" i="1" dirty="0">
                            <a:latin typeface="Cambria Math" panose="02040503050406030204" pitchFamily="18" charset="0"/>
                          </a:rPr>
                        </m:ctrlPr>
                      </m:sSupPr>
                      <m:e>
                        <m:r>
                          <a:rPr lang="pl-PL" sz="2400" i="1" dirty="0" smtClean="0">
                            <a:latin typeface="Cambria Math" panose="02040503050406030204" pitchFamily="18" charset="0"/>
                            <a:ea typeface="Cambria Math" panose="02040503050406030204" pitchFamily="18" charset="0"/>
                          </a:rPr>
                          <m:t>⊢</m:t>
                        </m:r>
                      </m:e>
                      <m:sup>
                        <m:r>
                          <a:rPr lang="en-AU" sz="2400" i="1" dirty="0" smtClean="0">
                            <a:latin typeface="Cambria Math" panose="02040503050406030204" pitchFamily="18" charset="0"/>
                          </a:rPr>
                          <m:t>∗</m:t>
                        </m:r>
                      </m:sup>
                    </m:sSup>
                    <m:d>
                      <m:dPr>
                        <m:ctrlPr>
                          <a:rPr lang="en-AU" altLang="zh-CN" sz="2400" i="1" dirty="0" smtClean="0">
                            <a:latin typeface="Cambria Math" panose="02040503050406030204" pitchFamily="18" charset="0"/>
                          </a:rPr>
                        </m:ctrlPr>
                      </m:dPr>
                      <m:e>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m:t>
                        </m:r>
                        <m:r>
                          <a:rPr lang="pl-PL" sz="2400" i="1" dirty="0" smtClean="0">
                            <a:latin typeface="Cambria Math" panose="02040503050406030204" pitchFamily="18" charset="0"/>
                          </a:rPr>
                          <m:t>𝜀</m:t>
                        </m:r>
                        <m:r>
                          <a:rPr lang="en-AU" sz="2400" b="0" i="1" dirty="0" smtClean="0">
                            <a:latin typeface="Cambria Math" panose="02040503050406030204" pitchFamily="18" charset="0"/>
                          </a:rPr>
                          <m:t>,</m:t>
                        </m:r>
                        <m:r>
                          <a:rPr lang="pl-PL" sz="2400" i="1" dirty="0" smtClean="0">
                            <a:latin typeface="Cambria Math" panose="02040503050406030204" pitchFamily="18" charset="0"/>
                          </a:rPr>
                          <m:t>𝜀</m:t>
                        </m:r>
                      </m:e>
                    </m:d>
                    <m:r>
                      <a:rPr lang="en-AU" sz="2400" b="0" i="1" dirty="0" smtClean="0">
                        <a:latin typeface="Cambria Math" panose="02040503050406030204" pitchFamily="18" charset="0"/>
                        <a:ea typeface="Cambria Math" panose="02040503050406030204" pitchFamily="18" charset="0"/>
                      </a:rPr>
                      <m:t> ⟹</m:t>
                    </m:r>
                    <m:r>
                      <a:rPr lang="en-AU" sz="2400" b="0" i="1" dirty="0" smtClean="0">
                        <a:latin typeface="Cambria Math" panose="02040503050406030204" pitchFamily="18" charset="0"/>
                        <a:ea typeface="Cambria Math" panose="02040503050406030204" pitchFamily="18" charset="0"/>
                      </a:rPr>
                      <m:t>𝐴</m:t>
                    </m:r>
                    <m:groupChr>
                      <m:groupChrPr>
                        <m:chr m:val="⇒"/>
                        <m:vertJc m:val="bot"/>
                        <m:ctrlPr>
                          <a:rPr lang="en-AU" sz="2400" b="0" i="1" dirty="0" smtClean="0">
                            <a:latin typeface="Cambria Math" panose="02040503050406030204" pitchFamily="18" charset="0"/>
                            <a:ea typeface="Cambria Math" panose="02040503050406030204" pitchFamily="18" charset="0"/>
                          </a:rPr>
                        </m:ctrlPr>
                      </m:groupChrPr>
                      <m:e>
                        <m:r>
                          <m:rPr>
                            <m:brk m:alnAt="2"/>
                          </m:rPr>
                          <a:rPr lang="en-AU" sz="2400" b="0" i="1" dirty="0" smtClean="0">
                            <a:latin typeface="Cambria Math" panose="02040503050406030204" pitchFamily="18" charset="0"/>
                            <a:ea typeface="Cambria Math" panose="02040503050406030204" pitchFamily="18" charset="0"/>
                          </a:rPr>
                          <m:t>∗</m:t>
                        </m:r>
                      </m:e>
                    </m:groupChr>
                    <m:r>
                      <a:rPr lang="en-AU" sz="2400" b="0" i="1" dirty="0" smtClean="0">
                        <a:latin typeface="Cambria Math" panose="02040503050406030204" pitchFamily="18" charset="0"/>
                        <a:ea typeface="Cambria Math" panose="02040503050406030204" pitchFamily="18" charset="0"/>
                      </a:rPr>
                      <m:t>𝑥</m:t>
                    </m:r>
                  </m:oMath>
                </a14:m>
                <a:r>
                  <a:rPr lang="en-AU" altLang="zh-CN" sz="2400" dirty="0"/>
                  <a:t> </a:t>
                </a:r>
              </a:p>
              <a:p>
                <a:pPr marL="0" indent="0">
                  <a:buNone/>
                </a:pPr>
                <a:r>
                  <a:rPr lang="zh-CN" altLang="en-US" sz="2400" dirty="0"/>
                  <a:t>可以看作“从输入带中消耗掉</a:t>
                </a:r>
                <a14:m>
                  <m:oMath xmlns:m="http://schemas.openxmlformats.org/officeDocument/2006/math">
                    <m:r>
                      <a:rPr lang="en-AU" altLang="zh-CN" sz="2400" b="0" i="1" smtClean="0">
                        <a:latin typeface="Cambria Math" panose="02040503050406030204" pitchFamily="18" charset="0"/>
                      </a:rPr>
                      <m:t>𝑥</m:t>
                    </m:r>
                  </m:oMath>
                </a14:m>
                <a:r>
                  <a:rPr lang="en-AU" sz="2400" dirty="0"/>
                  <a:t>”</a:t>
                </a:r>
                <a:r>
                  <a:rPr lang="zh-CN" altLang="en-US" sz="2400" dirty="0"/>
                  <a:t>与“从栈中弹出 </a:t>
                </a:r>
                <a14:m>
                  <m:oMath xmlns:m="http://schemas.openxmlformats.org/officeDocument/2006/math">
                    <m:r>
                      <a:rPr lang="en-AU" sz="2400" i="1" dirty="0" smtClean="0">
                        <a:latin typeface="Cambria Math" panose="02040503050406030204" pitchFamily="18" charset="0"/>
                      </a:rPr>
                      <m:t>𝐴</m:t>
                    </m:r>
                  </m:oMath>
                </a14:m>
                <a:r>
                  <a:rPr lang="en-AU" sz="2400" dirty="0"/>
                  <a:t>”</a:t>
                </a:r>
                <a:r>
                  <a:rPr lang="zh-CN" altLang="en-US" sz="2400" dirty="0"/>
                  <a:t>两种作用相互抵消。</a:t>
                </a:r>
                <a:endParaRPr lang="en-US" altLang="zh-CN" sz="2400" dirty="0"/>
              </a:p>
              <a:p>
                <a:r>
                  <a:rPr lang="zh-CN" altLang="en-US" sz="2400" dirty="0"/>
                  <a:t>对</a:t>
                </a:r>
                <a:r>
                  <a:rPr lang="en-AU" sz="2400" dirty="0">
                    <a:latin typeface="Times New Roman" panose="02020603050405020304" pitchFamily="18" charset="0"/>
                    <a:cs typeface="Times New Roman" panose="02020603050405020304" pitchFamily="18" charset="0"/>
                  </a:rPr>
                  <a:t>ID</a:t>
                </a:r>
                <a:r>
                  <a:rPr lang="zh-CN" altLang="en-US" sz="2400" dirty="0"/>
                  <a:t>转移 </a:t>
                </a:r>
                <a14:m>
                  <m:oMath xmlns:m="http://schemas.openxmlformats.org/officeDocument/2006/math">
                    <m:r>
                      <a:rPr lang="en-US" altLang="zh-CN"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𝑥</m:t>
                    </m:r>
                    <m:r>
                      <a:rPr lang="en-AU" sz="2400" i="1" dirty="0" smtClean="0">
                        <a:latin typeface="Cambria Math" panose="02040503050406030204" pitchFamily="18" charset="0"/>
                      </a:rPr>
                      <m:t>, </m:t>
                    </m:r>
                    <m:r>
                      <a:rPr lang="en-AU" sz="2400" i="1" dirty="0" smtClean="0">
                        <a:latin typeface="Cambria Math" panose="02040503050406030204" pitchFamily="18" charset="0"/>
                      </a:rPr>
                      <m:t>𝐴</m:t>
                    </m:r>
                    <m:r>
                      <a:rPr lang="en-AU" sz="2400" i="1" dirty="0" smtClean="0">
                        <a:latin typeface="Cambria Math" panose="02040503050406030204" pitchFamily="18" charset="0"/>
                      </a:rPr>
                      <m:t>)</m:t>
                    </m:r>
                    <m:sSup>
                      <m:sSupPr>
                        <m:ctrlPr>
                          <a:rPr lang="pl-PL" sz="2400" i="1" dirty="0">
                            <a:latin typeface="Cambria Math" panose="02040503050406030204" pitchFamily="18" charset="0"/>
                          </a:rPr>
                        </m:ctrlPr>
                      </m:sSupPr>
                      <m:e>
                        <m:r>
                          <a:rPr lang="pl-PL" sz="2400" i="1" dirty="0" smtClean="0">
                            <a:latin typeface="Cambria Math" panose="02040503050406030204" pitchFamily="18" charset="0"/>
                            <a:ea typeface="Cambria Math" panose="02040503050406030204" pitchFamily="18" charset="0"/>
                          </a:rPr>
                          <m:t>⊢</m:t>
                        </m:r>
                      </m:e>
                      <m:sup>
                        <m:r>
                          <a:rPr lang="en-AU" sz="2400" b="0" i="1" dirty="0" smtClean="0">
                            <a:latin typeface="Cambria Math" panose="02040503050406030204" pitchFamily="18" charset="0"/>
                            <a:ea typeface="Cambria Math" panose="02040503050406030204" pitchFamily="18" charset="0"/>
                          </a:rPr>
                          <m:t>𝑖</m:t>
                        </m:r>
                      </m:sup>
                    </m:sSup>
                    <m:r>
                      <a:rPr lang="en-AU"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oMath>
                </a14:m>
                <a:r>
                  <a:rPr lang="zh-CN" altLang="en-US" sz="2400" dirty="0"/>
                  <a:t>的次数</a:t>
                </a:r>
                <a14:m>
                  <m:oMath xmlns:m="http://schemas.openxmlformats.org/officeDocument/2006/math">
                    <m:r>
                      <a:rPr lang="en-AU" sz="2400" i="1" dirty="0" smtClean="0">
                        <a:latin typeface="Cambria Math" panose="02040503050406030204" pitchFamily="18" charset="0"/>
                      </a:rPr>
                      <m:t>𝑖</m:t>
                    </m:r>
                  </m:oMath>
                </a14:m>
                <a:r>
                  <a:rPr lang="zh-CN" altLang="en-US" sz="2400" dirty="0"/>
                  <a:t>归纳证明。</a:t>
                </a:r>
                <a:endParaRPr lang="en-AU" altLang="zh-CN" sz="2400" dirty="0"/>
              </a:p>
              <a:p>
                <a:r>
                  <a:rPr lang="zh-CN" altLang="en-US" sz="2400" dirty="0"/>
                  <a:t>归纳基础：当</a:t>
                </a:r>
                <a14:m>
                  <m:oMath xmlns:m="http://schemas.openxmlformats.org/officeDocument/2006/math">
                    <m:r>
                      <a:rPr lang="en-AU" altLang="zh-CN" sz="2400" i="1" dirty="0" smtClean="0">
                        <a:latin typeface="Cambria Math" panose="02040503050406030204" pitchFamily="18" charset="0"/>
                      </a:rPr>
                      <m:t>𝑖</m:t>
                    </m:r>
                    <m:r>
                      <a:rPr lang="en-AU" altLang="zh-CN" sz="2400" i="1" dirty="0" smtClean="0">
                        <a:latin typeface="Cambria Math" panose="02040503050406030204" pitchFamily="18" charset="0"/>
                      </a:rPr>
                      <m:t>=1 </m:t>
                    </m:r>
                  </m:oMath>
                </a14:m>
                <a:r>
                  <a:rPr lang="zh-CN" altLang="en-US" sz="2400" dirty="0"/>
                  <a:t>次时</a:t>
                </a:r>
                <a:r>
                  <a:rPr lang="en-US" altLang="zh-CN" sz="2400" dirty="0"/>
                  <a:t>, </a:t>
                </a:r>
                <a:r>
                  <a:rPr lang="zh-CN" altLang="en-US" sz="2400" dirty="0"/>
                  <a:t>只能是</a:t>
                </a:r>
                <a14:m>
                  <m:oMath xmlns:m="http://schemas.openxmlformats.org/officeDocument/2006/math">
                    <m:r>
                      <a:rPr lang="en-AU" altLang="zh-CN" sz="2400" i="1" dirty="0" smtClean="0">
                        <a:latin typeface="Cambria Math" panose="02040503050406030204" pitchFamily="18" charset="0"/>
                      </a:rPr>
                      <m:t>𝑥</m:t>
                    </m:r>
                    <m:r>
                      <a:rPr lang="en-AU" altLang="zh-CN" sz="2400" i="1" dirty="0" smtClean="0">
                        <a:latin typeface="Cambria Math" panose="02040503050406030204" pitchFamily="18" charset="0"/>
                      </a:rPr>
                      <m:t> = </m:t>
                    </m:r>
                    <m:r>
                      <a:rPr lang="el-GR" altLang="zh-CN" sz="2400" i="1" dirty="0" smtClean="0">
                        <a:latin typeface="Cambria Math" panose="02040503050406030204" pitchFamily="18" charset="0"/>
                      </a:rPr>
                      <m:t>𝜀</m:t>
                    </m:r>
                    <m:r>
                      <a:rPr lang="el-GR" altLang="zh-CN" sz="2400" i="1" dirty="0" smtClean="0">
                        <a:latin typeface="Cambria Math" panose="02040503050406030204" pitchFamily="18" charset="0"/>
                      </a:rPr>
                      <m:t> </m:t>
                    </m:r>
                  </m:oMath>
                </a14:m>
                <a:r>
                  <a:rPr lang="zh-CN" altLang="en-US" sz="2400" dirty="0"/>
                  <a:t>且</a:t>
                </a:r>
                <a14:m>
                  <m:oMath xmlns:m="http://schemas.openxmlformats.org/officeDocument/2006/math">
                    <m:r>
                      <a:rPr lang="en-AU" altLang="zh-CN" sz="2400" i="1" dirty="0" smtClean="0">
                        <a:latin typeface="Cambria Math" panose="02040503050406030204" pitchFamily="18" charset="0"/>
                      </a:rPr>
                      <m:t>𝐴</m:t>
                    </m:r>
                    <m:r>
                      <a:rPr lang="en-AU" altLang="zh-CN" sz="2400" i="1" dirty="0" smtClean="0">
                        <a:latin typeface="Cambria Math" panose="02040503050406030204" pitchFamily="18" charset="0"/>
                      </a:rPr>
                      <m:t> → </m:t>
                    </m:r>
                    <m:r>
                      <a:rPr lang="el-GR" altLang="zh-CN" sz="2400" i="1" dirty="0" smtClean="0">
                        <a:latin typeface="Cambria Math" panose="02040503050406030204" pitchFamily="18" charset="0"/>
                      </a:rPr>
                      <m:t>𝜀</m:t>
                    </m:r>
                  </m:oMath>
                </a14:m>
                <a:r>
                  <a:rPr lang="zh-CN" altLang="en-US" sz="2400" dirty="0"/>
                  <a:t>为产生式</a:t>
                </a:r>
                <a:r>
                  <a:rPr lang="en-US" altLang="zh-CN" sz="2400" dirty="0"/>
                  <a:t>, </a:t>
                </a:r>
                <a:r>
                  <a:rPr lang="zh-CN" altLang="en-US" sz="2400" dirty="0"/>
                  <a:t>所以 </a:t>
                </a:r>
                <a14:m>
                  <m:oMath xmlns:m="http://schemas.openxmlformats.org/officeDocument/2006/math">
                    <m:r>
                      <a:rPr lang="en-AU" altLang="zh-CN" sz="2400" i="1" dirty="0" smtClean="0">
                        <a:latin typeface="Cambria Math" panose="02040503050406030204" pitchFamily="18" charset="0"/>
                      </a:rPr>
                      <m:t>𝐴</m:t>
                    </m:r>
                  </m:oMath>
                </a14:m>
                <a:r>
                  <a:rPr lang="en-AU" sz="2400" dirty="0">
                    <a:ea typeface="Cambria Math" panose="02040503050406030204" pitchFamily="18" charset="0"/>
                  </a:rPr>
                  <a:t> </a:t>
                </a:r>
                <a14:m>
                  <m:oMath xmlns:m="http://schemas.openxmlformats.org/officeDocument/2006/math">
                    <m:groupChr>
                      <m:groupChrPr>
                        <m:chr m:val="⇒"/>
                        <m:vertJc m:val="bot"/>
                        <m:ctrlPr>
                          <a:rPr lang="en-AU" sz="2400" i="1" dirty="0">
                            <a:latin typeface="Cambria Math" panose="02040503050406030204" pitchFamily="18" charset="0"/>
                            <a:ea typeface="Cambria Math" panose="02040503050406030204" pitchFamily="18" charset="0"/>
                          </a:rPr>
                        </m:ctrlPr>
                      </m:groupChrPr>
                      <m:e>
                        <m:r>
                          <m:rPr>
                            <m:brk m:alnAt="2"/>
                          </m:rPr>
                          <a:rPr lang="en-AU" sz="2400" i="1" dirty="0" smtClean="0">
                            <a:latin typeface="Cambria Math" panose="02040503050406030204" pitchFamily="18" charset="0"/>
                            <a:ea typeface="Cambria Math" panose="02040503050406030204" pitchFamily="18" charset="0"/>
                          </a:rPr>
                          <m:t>∗</m:t>
                        </m:r>
                      </m:e>
                    </m:groupChr>
                    <m:r>
                      <a:rPr lang="en-AU" sz="2400" i="1" dirty="0" smtClean="0">
                        <a:latin typeface="Cambria Math" panose="02040503050406030204" pitchFamily="18" charset="0"/>
                        <a:ea typeface="Cambria Math" panose="02040503050406030204" pitchFamily="18" charset="0"/>
                      </a:rPr>
                      <m:t> </m:t>
                    </m:r>
                    <m:r>
                      <a:rPr lang="el-GR" altLang="zh-CN" sz="2400" i="1" dirty="0" smtClean="0">
                        <a:latin typeface="Cambria Math" panose="02040503050406030204" pitchFamily="18" charset="0"/>
                      </a:rPr>
                      <m:t>𝜀</m:t>
                    </m:r>
                  </m:oMath>
                </a14:m>
                <a:r>
                  <a:rPr lang="zh-CN" altLang="en-US" sz="2400" dirty="0"/>
                  <a:t>。</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1026449" y="1187926"/>
                <a:ext cx="7548301" cy="4525963"/>
              </a:xfrm>
              <a:blipFill rotWithShape="1">
                <a:blip r:embed="rId2"/>
                <a:stretch>
                  <a:fillRect l="-4" t="-11" r="5"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74</a:t>
            </a:fld>
            <a:endParaRPr lang="en-AU"/>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310833"/>
                <a:ext cx="8229600" cy="4893197"/>
              </a:xfrm>
            </p:spPr>
            <p:txBody>
              <a:bodyPr>
                <a:normAutofit fontScale="85000" lnSpcReduction="10000"/>
              </a:bodyPr>
              <a:lstStyle/>
              <a:p>
                <a:pPr>
                  <a:lnSpc>
                    <a:spcPct val="110000"/>
                  </a:lnSpc>
                </a:pPr>
                <a:r>
                  <a:rPr lang="zh-CN" altLang="en-US" sz="2800" dirty="0"/>
                  <a:t>归纳递推：假设 </a:t>
                </a:r>
                <a14:m>
                  <m:oMath xmlns:m="http://schemas.openxmlformats.org/officeDocument/2006/math">
                    <m:r>
                      <a:rPr lang="en-AU" altLang="zh-CN" sz="2800" i="1" dirty="0" smtClean="0">
                        <a:latin typeface="Cambria Math" panose="02040503050406030204" pitchFamily="18" charset="0"/>
                      </a:rPr>
                      <m:t>𝑖</m:t>
                    </m:r>
                    <m:r>
                      <a:rPr lang="en-AU" altLang="zh-CN" sz="2800" i="1" dirty="0" smtClean="0">
                        <a:latin typeface="Cambria Math" panose="02040503050406030204" pitchFamily="18" charset="0"/>
                      </a:rPr>
                      <m:t> ≤ </m:t>
                    </m:r>
                    <m:r>
                      <a:rPr lang="en-AU" altLang="zh-CN" sz="2800" i="1" dirty="0" smtClean="0">
                        <a:latin typeface="Cambria Math" panose="02040503050406030204" pitchFamily="18" charset="0"/>
                      </a:rPr>
                      <m:t>𝑛</m:t>
                    </m:r>
                    <m:r>
                      <a:rPr lang="en-AU" altLang="zh-CN" sz="2800" i="1" dirty="0" smtClean="0">
                        <a:latin typeface="Cambria Math" panose="02040503050406030204" pitchFamily="18" charset="0"/>
                      </a:rPr>
                      <m:t> (</m:t>
                    </m:r>
                    <m:r>
                      <a:rPr lang="en-AU" altLang="zh-CN" sz="2800" i="1" dirty="0" smtClean="0">
                        <a:latin typeface="Cambria Math" panose="02040503050406030204" pitchFamily="18" charset="0"/>
                      </a:rPr>
                      <m:t>𝑛</m:t>
                    </m:r>
                    <m:r>
                      <a:rPr lang="en-AU" altLang="zh-CN" sz="2800" i="1" dirty="0" smtClean="0">
                        <a:latin typeface="Cambria Math" panose="02040503050406030204" pitchFamily="18" charset="0"/>
                      </a:rPr>
                      <m:t> ≥ 0) </m:t>
                    </m:r>
                  </m:oMath>
                </a14:m>
                <a:r>
                  <a:rPr lang="zh-CN" altLang="en-US" sz="2800" dirty="0"/>
                  <a:t>时上式成立。</a:t>
                </a:r>
                <a:r>
                  <a:rPr lang="en-US" altLang="zh-CN" sz="2800" dirty="0"/>
                  <a:t> </a:t>
                </a:r>
                <a:r>
                  <a:rPr lang="zh-CN" altLang="en-US" sz="2800" dirty="0"/>
                  <a:t>当</a:t>
                </a:r>
                <a14:m>
                  <m:oMath xmlns:m="http://schemas.openxmlformats.org/officeDocument/2006/math">
                    <m:r>
                      <a:rPr lang="en-AU" altLang="zh-CN" sz="2800" i="1" dirty="0" smtClean="0">
                        <a:latin typeface="Cambria Math" panose="02040503050406030204" pitchFamily="18" charset="0"/>
                      </a:rPr>
                      <m:t>𝑖</m:t>
                    </m:r>
                    <m:r>
                      <a:rPr lang="en-AU" altLang="zh-CN" sz="2800" i="1" dirty="0" smtClean="0">
                        <a:latin typeface="Cambria Math" panose="02040503050406030204" pitchFamily="18" charset="0"/>
                      </a:rPr>
                      <m:t> = </m:t>
                    </m:r>
                    <m:r>
                      <a:rPr lang="en-AU" altLang="zh-CN" sz="2800" i="1" dirty="0" smtClean="0">
                        <a:latin typeface="Cambria Math" panose="02040503050406030204" pitchFamily="18" charset="0"/>
                      </a:rPr>
                      <m:t>𝑛</m:t>
                    </m:r>
                    <m:r>
                      <a:rPr lang="en-AU" altLang="zh-CN" sz="2800" i="1" dirty="0" smtClean="0">
                        <a:latin typeface="Cambria Math" panose="02040503050406030204" pitchFamily="18" charset="0"/>
                      </a:rPr>
                      <m:t> + 1 </m:t>
                    </m:r>
                  </m:oMath>
                </a14:m>
                <a:r>
                  <a:rPr lang="zh-CN" altLang="en-US" sz="2800" dirty="0"/>
                  <a:t>时</a:t>
                </a:r>
                <a:r>
                  <a:rPr lang="en-US" altLang="zh-CN" sz="2800" dirty="0"/>
                  <a:t>,</a:t>
                </a:r>
                <a:r>
                  <a:rPr lang="zh-CN" altLang="en-US" sz="2800" dirty="0"/>
                  <a:t>因为</a:t>
                </a:r>
                <a14:m>
                  <m:oMath xmlns:m="http://schemas.openxmlformats.org/officeDocument/2006/math">
                    <m:r>
                      <a:rPr lang="en-AU" altLang="zh-CN" sz="2800" i="1" dirty="0" smtClean="0">
                        <a:latin typeface="Cambria Math" panose="02040503050406030204" pitchFamily="18" charset="0"/>
                      </a:rPr>
                      <m:t>𝐴</m:t>
                    </m:r>
                  </m:oMath>
                </a14:m>
                <a:r>
                  <a:rPr lang="zh-CN" altLang="en-US" sz="2800" dirty="0"/>
                  <a:t>是变元</a:t>
                </a:r>
                <a:r>
                  <a:rPr lang="en-US" altLang="zh-CN" sz="2800" dirty="0"/>
                  <a:t>, </a:t>
                </a:r>
                <a:r>
                  <a:rPr lang="zh-CN" altLang="en-US" sz="2800" dirty="0"/>
                  <a:t>其第</a:t>
                </a:r>
                <a:r>
                  <a:rPr lang="en-US" altLang="zh-CN" sz="2800" dirty="0"/>
                  <a:t>1</a:t>
                </a:r>
                <a:r>
                  <a:rPr lang="zh-CN" altLang="en-US" sz="2800" dirty="0"/>
                  <a:t>步转移一定是</a:t>
                </a:r>
                <a:endParaRPr lang="en-AU" altLang="zh-CN" sz="2800" dirty="0"/>
              </a:p>
              <a:p>
                <a:pPr marL="0" indent="0">
                  <a:lnSpc>
                    <a:spcPct val="110000"/>
                  </a:lnSpc>
                  <a:buNone/>
                </a:pPr>
                <a14:m>
                  <m:oMathPara xmlns:m="http://schemas.openxmlformats.org/officeDocument/2006/math">
                    <m:oMathParaPr>
                      <m:jc m:val="centerGroup"/>
                    </m:oMathParaPr>
                    <m:oMath xmlns:m="http://schemas.openxmlformats.org/officeDocument/2006/math">
                      <m:d>
                        <m:dPr>
                          <m:ctrlPr>
                            <a:rPr lang="en-AU" altLang="zh-CN" sz="2800" i="1" dirty="0">
                              <a:latin typeface="Cambria Math" panose="02040503050406030204" pitchFamily="18" charset="0"/>
                            </a:rPr>
                          </m:ctrlPr>
                        </m:dPr>
                        <m:e>
                          <m:r>
                            <a:rPr lang="en-AU" altLang="zh-CN" sz="2800" i="1" dirty="0">
                              <a:latin typeface="Cambria Math" panose="02040503050406030204" pitchFamily="18" charset="0"/>
                            </a:rPr>
                            <m:t>𝑞</m:t>
                          </m:r>
                          <m:r>
                            <a:rPr lang="en-AU" altLang="zh-CN" sz="2800" i="1" dirty="0">
                              <a:latin typeface="Cambria Math" panose="02040503050406030204" pitchFamily="18" charset="0"/>
                            </a:rPr>
                            <m:t>, </m:t>
                          </m:r>
                          <m:r>
                            <a:rPr lang="en-AU" altLang="zh-CN" sz="2800" b="0" i="1" dirty="0" smtClean="0">
                              <a:latin typeface="Cambria Math" panose="02040503050406030204" pitchFamily="18" charset="0"/>
                            </a:rPr>
                            <m:t>𝑥</m:t>
                          </m:r>
                          <m:r>
                            <a:rPr lang="en-AU" altLang="zh-CN" sz="2800" i="1" dirty="0">
                              <a:latin typeface="Cambria Math" panose="02040503050406030204" pitchFamily="18" charset="0"/>
                            </a:rPr>
                            <m:t>, </m:t>
                          </m:r>
                          <m:r>
                            <a:rPr lang="en-AU" altLang="zh-CN" sz="2800" b="0" i="1" dirty="0" smtClean="0">
                              <a:latin typeface="Cambria Math" panose="02040503050406030204" pitchFamily="18" charset="0"/>
                            </a:rPr>
                            <m:t>𝐴</m:t>
                          </m:r>
                        </m:e>
                      </m:d>
                      <m:r>
                        <a:rPr lang="en-AU" altLang="zh-CN" sz="2800" i="1" dirty="0" smtClean="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𝑞</m:t>
                      </m:r>
                      <m:r>
                        <a:rPr lang="en-AU" altLang="zh-CN" sz="2800" b="0" i="1" dirty="0" smtClean="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𝑥</m:t>
                      </m:r>
                      <m:r>
                        <a:rPr lang="en-AU" altLang="zh-CN" sz="2800" b="0" i="1" dirty="0" smtClean="0">
                          <a:latin typeface="Cambria Math" panose="02040503050406030204" pitchFamily="18" charset="0"/>
                          <a:ea typeface="Cambria Math" panose="02040503050406030204" pitchFamily="18" charset="0"/>
                        </a:rPr>
                        <m:t>,</m:t>
                      </m:r>
                      <m:sSub>
                        <m:sSubPr>
                          <m:ctrlPr>
                            <a:rPr lang="en-AU" altLang="zh-CN" sz="2800" b="0" i="1" dirty="0" smtClean="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1</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i="1" dirty="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2</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m:t>
                          </m:r>
                          <m:r>
                            <a:rPr lang="en-AU" altLang="zh-CN" sz="2800" i="1" dirty="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𝑚</m:t>
                          </m:r>
                        </m:sub>
                      </m:sSub>
                      <m:r>
                        <a:rPr lang="en-AU" altLang="zh-CN" sz="2800" b="0" i="1" dirty="0" smtClean="0">
                          <a:latin typeface="Cambria Math" panose="02040503050406030204" pitchFamily="18" charset="0"/>
                          <a:ea typeface="Cambria Math" panose="02040503050406030204" pitchFamily="18" charset="0"/>
                        </a:rPr>
                        <m:t>)</m:t>
                      </m:r>
                    </m:oMath>
                  </m:oMathPara>
                </a14:m>
                <a:endParaRPr lang="en-AU" sz="2800" dirty="0"/>
              </a:p>
              <a:p>
                <a:pPr marL="0" indent="0">
                  <a:lnSpc>
                    <a:spcPct val="110000"/>
                  </a:lnSpc>
                  <a:buNone/>
                </a:pPr>
                <a:r>
                  <a:rPr lang="zh-CN" altLang="en-US" sz="2800" dirty="0"/>
                  <a:t>且</a:t>
                </a:r>
                <a14:m>
                  <m:oMath xmlns:m="http://schemas.openxmlformats.org/officeDocument/2006/math">
                    <m:r>
                      <a:rPr lang="en-AU" altLang="zh-CN" sz="2800" b="0" i="1" dirty="0" smtClean="0">
                        <a:latin typeface="Cambria Math" panose="02040503050406030204" pitchFamily="18" charset="0"/>
                        <a:ea typeface="Cambria Math" panose="02040503050406030204" pitchFamily="18" charset="0"/>
                      </a:rPr>
                      <m:t>𝐴</m:t>
                    </m:r>
                    <m:r>
                      <a:rPr lang="en-AU" altLang="zh-CN" sz="2800" i="1" dirty="0">
                        <a:latin typeface="Cambria Math" panose="02040503050406030204" pitchFamily="18" charset="0"/>
                      </a:rPr>
                      <m:t>→</m:t>
                    </m:r>
                    <m:sSub>
                      <m:sSubPr>
                        <m:ctrlPr>
                          <a:rPr lang="en-AU" altLang="zh-CN" sz="2800" b="0" i="1" dirty="0" smtClean="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1</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i="1" dirty="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2</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m:t>
                        </m:r>
                        <m:r>
                          <a:rPr lang="en-AU" altLang="zh-CN" sz="2800" i="1" dirty="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𝑚</m:t>
                        </m:r>
                      </m:sub>
                    </m:sSub>
                  </m:oMath>
                </a14:m>
                <a:r>
                  <a:rPr lang="zh-CN" altLang="en-US" sz="2800" dirty="0"/>
                  <a:t>是产生式，其中</a:t>
                </a:r>
                <a14:m>
                  <m:oMath xmlns:m="http://schemas.openxmlformats.org/officeDocument/2006/math">
                    <m:sSub>
                      <m:sSubPr>
                        <m:ctrlPr>
                          <a:rPr lang="en-AU" altLang="zh-CN" sz="2800" i="1" dirty="0">
                            <a:latin typeface="Cambria Math" panose="02040503050406030204" pitchFamily="18" charset="0"/>
                            <a:ea typeface="Cambria Math" panose="02040503050406030204" pitchFamily="18" charset="0"/>
                          </a:rPr>
                        </m:ctrlPr>
                      </m:sSubPr>
                      <m:e>
                        <m:r>
                          <a:rPr lang="en-AU" altLang="zh-CN" sz="2800" i="1" dirty="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𝑖</m:t>
                        </m:r>
                      </m:sub>
                    </m:sSub>
                  </m:oMath>
                </a14:m>
                <a:r>
                  <a:rPr lang="zh-CN" altLang="en-US" sz="2800" dirty="0"/>
                  <a:t>是变元或终结符。而其余的</a:t>
                </a:r>
                <a14:m>
                  <m:oMath xmlns:m="http://schemas.openxmlformats.org/officeDocument/2006/math">
                    <m:r>
                      <a:rPr lang="en-AU" altLang="zh-CN" sz="2800" i="1" dirty="0" smtClean="0">
                        <a:latin typeface="Cambria Math" panose="02040503050406030204" pitchFamily="18" charset="0"/>
                      </a:rPr>
                      <m:t>𝑛</m:t>
                    </m:r>
                  </m:oMath>
                </a14:m>
                <a:r>
                  <a:rPr lang="zh-CN" altLang="en-US" sz="2800" dirty="0"/>
                  <a:t>步转移</a:t>
                </a:r>
                <a:endParaRPr lang="en-AU" altLang="zh-CN" sz="2800" dirty="0"/>
              </a:p>
              <a:p>
                <a:pPr marL="0" indent="0">
                  <a:lnSpc>
                    <a:spcPct val="110000"/>
                  </a:lnSpc>
                  <a:buNone/>
                </a:pPr>
                <a14:m>
                  <m:oMathPara xmlns:m="http://schemas.openxmlformats.org/officeDocument/2006/math">
                    <m:oMathParaPr>
                      <m:jc m:val="centerGroup"/>
                    </m:oMathParaPr>
                    <m:oMath xmlns:m="http://schemas.openxmlformats.org/officeDocument/2006/math">
                      <m:r>
                        <a:rPr lang="en-AU" altLang="zh-CN" sz="2800" b="0" i="1" dirty="0" smtClean="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𝑞</m:t>
                      </m:r>
                      <m:r>
                        <a:rPr lang="en-AU" altLang="zh-CN" sz="2800" b="0" i="1" dirty="0" smtClean="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𝑥</m:t>
                      </m:r>
                      <m:r>
                        <a:rPr lang="en-AU" altLang="zh-CN" sz="2800" b="0" i="1" dirty="0" smtClean="0">
                          <a:latin typeface="Cambria Math" panose="02040503050406030204" pitchFamily="18" charset="0"/>
                          <a:ea typeface="Cambria Math" panose="02040503050406030204" pitchFamily="18" charset="0"/>
                        </a:rPr>
                        <m:t>,</m:t>
                      </m:r>
                      <m:sSub>
                        <m:sSubPr>
                          <m:ctrlPr>
                            <a:rPr lang="en-AU" altLang="zh-CN" sz="2800" b="0" i="1" dirty="0" smtClean="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1</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i="1" dirty="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2</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m:t>
                          </m:r>
                          <m:r>
                            <a:rPr lang="en-AU" altLang="zh-CN" sz="2800" i="1" dirty="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𝑚</m:t>
                          </m:r>
                        </m:sub>
                      </m:sSub>
                      <m:r>
                        <a:rPr lang="en-AU" altLang="zh-CN" sz="2800" b="0" i="1" dirty="0" smtClean="0">
                          <a:latin typeface="Cambria Math" panose="02040503050406030204" pitchFamily="18" charset="0"/>
                          <a:ea typeface="Cambria Math" panose="02040503050406030204" pitchFamily="18" charset="0"/>
                        </a:rPr>
                        <m:t>)</m:t>
                      </m:r>
                      <m:sSup>
                        <m:sSupPr>
                          <m:ctrlPr>
                            <a:rPr lang="pl-PL" sz="2800" i="1" dirty="0">
                              <a:latin typeface="Cambria Math" panose="02040503050406030204" pitchFamily="18" charset="0"/>
                            </a:rPr>
                          </m:ctrlPr>
                        </m:sSupPr>
                        <m:e>
                          <m:r>
                            <a:rPr lang="pl-PL" sz="2800" i="1" dirty="0">
                              <a:latin typeface="Cambria Math" panose="02040503050406030204" pitchFamily="18" charset="0"/>
                              <a:ea typeface="Cambria Math" panose="02040503050406030204" pitchFamily="18" charset="0"/>
                            </a:rPr>
                            <m:t>⊢</m:t>
                          </m:r>
                        </m:e>
                        <m:sup>
                          <m:r>
                            <a:rPr lang="en-AU" sz="2800" i="1" dirty="0">
                              <a:latin typeface="Cambria Math" panose="02040503050406030204" pitchFamily="18" charset="0"/>
                            </a:rPr>
                            <m:t>∗</m:t>
                          </m:r>
                        </m:sup>
                      </m:sSup>
                      <m:r>
                        <a:rPr lang="en-AU" sz="2800" b="0" i="1" dirty="0" smtClean="0">
                          <a:latin typeface="Cambria Math" panose="02040503050406030204" pitchFamily="18" charset="0"/>
                        </a:rPr>
                        <m:t>(</m:t>
                      </m:r>
                      <m:r>
                        <a:rPr lang="en-AU" sz="2800" i="1" dirty="0">
                          <a:latin typeface="Cambria Math" panose="02040503050406030204" pitchFamily="18" charset="0"/>
                        </a:rPr>
                        <m:t>𝑞</m:t>
                      </m:r>
                      <m:r>
                        <a:rPr lang="en-AU" sz="2800" i="1" dirty="0">
                          <a:latin typeface="Cambria Math" panose="02040503050406030204" pitchFamily="18" charset="0"/>
                        </a:rPr>
                        <m:t>, </m:t>
                      </m:r>
                      <m:r>
                        <a:rPr lang="el-GR" sz="2800" i="1" dirty="0">
                          <a:latin typeface="Cambria Math" panose="02040503050406030204" pitchFamily="18" charset="0"/>
                        </a:rPr>
                        <m:t>𝜀</m:t>
                      </m:r>
                      <m:r>
                        <a:rPr lang="el-GR" sz="2800" i="1" dirty="0">
                          <a:latin typeface="Cambria Math" panose="02040503050406030204" pitchFamily="18" charset="0"/>
                        </a:rPr>
                        <m:t>, </m:t>
                      </m:r>
                      <m:r>
                        <a:rPr lang="el-GR" sz="2800" i="1" dirty="0">
                          <a:latin typeface="Cambria Math" panose="02040503050406030204" pitchFamily="18" charset="0"/>
                        </a:rPr>
                        <m:t>𝜀</m:t>
                      </m:r>
                      <m:r>
                        <a:rPr lang="en-AU" sz="2800" b="0" i="1" dirty="0" smtClean="0">
                          <a:latin typeface="Cambria Math" panose="02040503050406030204" pitchFamily="18" charset="0"/>
                        </a:rPr>
                        <m:t>)</m:t>
                      </m:r>
                    </m:oMath>
                  </m:oMathPara>
                </a14:m>
                <a:endParaRPr lang="en-AU" sz="2800" dirty="0"/>
              </a:p>
              <a:p>
                <a:pPr marL="0" indent="0">
                  <a:lnSpc>
                    <a:spcPct val="110000"/>
                  </a:lnSpc>
                  <a:buNone/>
                </a:pPr>
                <a:r>
                  <a:rPr lang="zh-CN" altLang="en-US" sz="2800" dirty="0"/>
                  <a:t>中每个</a:t>
                </a:r>
                <a14:m>
                  <m:oMath xmlns:m="http://schemas.openxmlformats.org/officeDocument/2006/math">
                    <m:sSub>
                      <m:sSubPr>
                        <m:ctrlPr>
                          <a:rPr lang="en-US" altLang="zh-CN" sz="2800" i="1" smtClean="0">
                            <a:latin typeface="Cambria Math" panose="02040503050406030204" pitchFamily="18" charset="0"/>
                          </a:rPr>
                        </m:ctrlPr>
                      </m:sSubPr>
                      <m:e>
                        <m:r>
                          <a:rPr lang="en-AU" altLang="zh-CN" sz="2800" b="0" i="1" smtClean="0">
                            <a:latin typeface="Cambria Math" panose="02040503050406030204" pitchFamily="18" charset="0"/>
                          </a:rPr>
                          <m:t>𝑌</m:t>
                        </m:r>
                      </m:e>
                      <m:sub>
                        <m:r>
                          <a:rPr lang="en-AU" altLang="zh-CN" sz="2800" b="0" i="1" smtClean="0">
                            <a:latin typeface="Cambria Math" panose="02040503050406030204" pitchFamily="18" charset="0"/>
                          </a:rPr>
                          <m:t>𝑖</m:t>
                        </m:r>
                      </m:sub>
                    </m:sSub>
                  </m:oMath>
                </a14:m>
                <a:r>
                  <a:rPr lang="zh-CN" altLang="en-US" sz="2800" dirty="0"/>
                  <a:t>（不论是</a:t>
                </a:r>
                <a:r>
                  <a:rPr lang="zh-CN" altLang="en-US" dirty="0">
                    <a:cs typeface="Times New Roman" panose="02020603050405020304" pitchFamily="18" charset="0"/>
                  </a:rPr>
                  <a:t>变元或终结符</a:t>
                </a:r>
                <a:r>
                  <a:rPr lang="zh-CN" altLang="en-US" sz="2800" dirty="0"/>
                  <a:t>）从栈中被完全弹出时</a:t>
                </a:r>
                <a:r>
                  <a:rPr lang="en-US" altLang="zh-CN" sz="2800" dirty="0"/>
                  <a:t>, </a:t>
                </a:r>
                <a:r>
                  <a:rPr lang="zh-CN" altLang="en-US" sz="2800" dirty="0"/>
                  <a:t>将消耗掉的那部分</a:t>
                </a:r>
                <a14:m>
                  <m:oMath xmlns:m="http://schemas.openxmlformats.org/officeDocument/2006/math">
                    <m:r>
                      <a:rPr lang="en-AU" altLang="zh-CN" sz="2800" b="0" i="1" smtClean="0">
                        <a:latin typeface="Cambria Math" panose="02040503050406030204" pitchFamily="18" charset="0"/>
                      </a:rPr>
                      <m:t>𝑥</m:t>
                    </m:r>
                  </m:oMath>
                </a14:m>
                <a:r>
                  <a:rPr lang="zh-CN" altLang="en-US" sz="2800" dirty="0"/>
                  <a:t>记为</a:t>
                </a:r>
                <a14:m>
                  <m:oMath xmlns:m="http://schemas.openxmlformats.org/officeDocument/2006/math">
                    <m:sSub>
                      <m:sSubPr>
                        <m:ctrlPr>
                          <a:rPr lang="en-US" altLang="zh-CN" sz="2800" i="1" smtClean="0">
                            <a:latin typeface="Cambria Math" panose="02040503050406030204" pitchFamily="18" charset="0"/>
                          </a:rPr>
                        </m:ctrlPr>
                      </m:sSubPr>
                      <m:e>
                        <m:r>
                          <a:rPr lang="en-AU" altLang="zh-CN" sz="2800" b="0" i="1" smtClean="0">
                            <a:latin typeface="Cambria Math" panose="02040503050406030204" pitchFamily="18" charset="0"/>
                          </a:rPr>
                          <m:t>𝑥</m:t>
                        </m:r>
                      </m:e>
                      <m:sub>
                        <m:r>
                          <a:rPr lang="en-AU" altLang="zh-CN" sz="2800" b="0" i="1" smtClean="0">
                            <a:latin typeface="Cambria Math" panose="02040503050406030204" pitchFamily="18" charset="0"/>
                          </a:rPr>
                          <m:t>𝑖</m:t>
                        </m:r>
                      </m:sub>
                    </m:sSub>
                  </m:oMath>
                </a14:m>
                <a:r>
                  <a:rPr lang="en-US" altLang="zh-CN" sz="2800" dirty="0"/>
                  <a:t>, </a:t>
                </a:r>
                <a:r>
                  <a:rPr lang="zh-CN" altLang="en-US" sz="2800" dirty="0"/>
                  <a:t>那么显然有</a:t>
                </a:r>
                <a14:m>
                  <m:oMath xmlns:m="http://schemas.openxmlformats.org/officeDocument/2006/math">
                    <m:sSub>
                      <m:sSubPr>
                        <m:ctrlPr>
                          <a:rPr lang="en-AU" altLang="zh-CN" sz="2800" i="1" dirty="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𝑥</m:t>
                        </m:r>
                        <m:r>
                          <a:rPr lang="en-AU" altLang="zh-CN" sz="2800" b="0" i="1" dirty="0" smtClean="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𝑥</m:t>
                        </m:r>
                      </m:e>
                      <m:sub>
                        <m:r>
                          <a:rPr lang="en-AU" altLang="zh-CN" sz="2800" i="1" dirty="0">
                            <a:latin typeface="Cambria Math" panose="02040503050406030204" pitchFamily="18" charset="0"/>
                            <a:ea typeface="Cambria Math" panose="02040503050406030204" pitchFamily="18" charset="0"/>
                          </a:rPr>
                          <m:t>1</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𝑥</m:t>
                        </m:r>
                      </m:e>
                      <m:sub>
                        <m:r>
                          <a:rPr lang="en-AU" altLang="zh-CN" sz="2800" i="1" dirty="0">
                            <a:latin typeface="Cambria Math" panose="02040503050406030204" pitchFamily="18" charset="0"/>
                            <a:ea typeface="Cambria Math" panose="02040503050406030204" pitchFamily="18" charset="0"/>
                          </a:rPr>
                          <m:t>2</m:t>
                        </m:r>
                      </m:sub>
                    </m:sSub>
                    <m:sSub>
                      <m:sSubPr>
                        <m:ctrlPr>
                          <a:rPr lang="en-AU" altLang="zh-CN" sz="2800" i="1" dirty="0">
                            <a:latin typeface="Cambria Math" panose="02040503050406030204" pitchFamily="18" charset="0"/>
                            <a:ea typeface="Cambria Math" panose="02040503050406030204" pitchFamily="18" charset="0"/>
                          </a:rPr>
                        </m:ctrlPr>
                      </m:sSubPr>
                      <m:e>
                        <m:r>
                          <a:rPr lang="en-AU" altLang="zh-CN" sz="2800" i="1" dirty="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𝑥</m:t>
                        </m:r>
                      </m:e>
                      <m:sub>
                        <m:r>
                          <a:rPr lang="en-AU" altLang="zh-CN" sz="2800" i="1" dirty="0">
                            <a:latin typeface="Cambria Math" panose="02040503050406030204" pitchFamily="18" charset="0"/>
                            <a:ea typeface="Cambria Math" panose="02040503050406030204" pitchFamily="18" charset="0"/>
                          </a:rPr>
                          <m:t>𝑚</m:t>
                        </m:r>
                      </m:sub>
                    </m:sSub>
                  </m:oMath>
                </a14:m>
                <a:r>
                  <a:rPr lang="zh-CN" altLang="en-US" sz="2800" dirty="0"/>
                  <a:t>。</a:t>
                </a:r>
                <a:endParaRPr lang="en-AU" altLang="zh-CN" sz="2800" dirty="0"/>
              </a:p>
              <a:p>
                <a:pPr marL="0" indent="0">
                  <a:lnSpc>
                    <a:spcPct val="110000"/>
                  </a:lnSpc>
                  <a:buNone/>
                </a:pPr>
                <a:r>
                  <a:rPr lang="zh-CN" altLang="en-US" sz="2800" dirty="0"/>
                  <a:t>而每个</a:t>
                </a:r>
                <a14:m>
                  <m:oMath xmlns:m="http://schemas.openxmlformats.org/officeDocument/2006/math">
                    <m:sSub>
                      <m:sSubPr>
                        <m:ctrlPr>
                          <a:rPr lang="en-US" altLang="zh-CN" sz="2800" i="1" smtClean="0">
                            <a:latin typeface="Cambria Math" panose="02040503050406030204" pitchFamily="18" charset="0"/>
                          </a:rPr>
                        </m:ctrlPr>
                      </m:sSubPr>
                      <m:e>
                        <m:r>
                          <a:rPr lang="en-AU" altLang="zh-CN" sz="2800" b="0" i="1" smtClean="0">
                            <a:latin typeface="Cambria Math" panose="02040503050406030204" pitchFamily="18" charset="0"/>
                          </a:rPr>
                          <m:t>𝑌</m:t>
                        </m:r>
                      </m:e>
                      <m:sub>
                        <m:r>
                          <a:rPr lang="en-AU" altLang="zh-CN" sz="2800" b="0" i="1" smtClean="0">
                            <a:latin typeface="Cambria Math" panose="02040503050406030204" pitchFamily="18" charset="0"/>
                          </a:rPr>
                          <m:t>𝑖</m:t>
                        </m:r>
                      </m:sub>
                    </m:sSub>
                  </m:oMath>
                </a14:m>
                <a:r>
                  <a:rPr lang="zh-CN" altLang="en-US" sz="2800" dirty="0"/>
                  <a:t>从栈中被完全弹出时，都不超过</a:t>
                </a:r>
                <a14:m>
                  <m:oMath xmlns:m="http://schemas.openxmlformats.org/officeDocument/2006/math">
                    <m:r>
                      <a:rPr lang="en-US" altLang="zh-CN" sz="2800" i="1" dirty="0" smtClean="0">
                        <a:latin typeface="Cambria Math" panose="02040503050406030204" pitchFamily="18" charset="0"/>
                      </a:rPr>
                      <m:t>𝑛</m:t>
                    </m:r>
                  </m:oMath>
                </a14:m>
                <a:r>
                  <a:rPr lang="zh-CN" altLang="en-US" sz="2800" dirty="0"/>
                  <a:t>步</a:t>
                </a:r>
                <a:r>
                  <a:rPr lang="en-US" altLang="zh-CN" sz="2800" dirty="0"/>
                  <a:t>, </a:t>
                </a:r>
                <a:r>
                  <a:rPr lang="zh-CN" altLang="en-US" sz="2800" dirty="0"/>
                  <a:t>所以由归纳假设</a:t>
                </a:r>
                <a:endParaRPr lang="en-AU" altLang="zh-CN" sz="2800" dirty="0"/>
              </a:p>
              <a:p>
                <a:pPr marL="0" indent="0">
                  <a:lnSpc>
                    <a:spcPct val="110000"/>
                  </a:lnSpc>
                  <a:buNone/>
                </a:pPr>
                <a:r>
                  <a:rPr lang="en-AU" altLang="zh-CN" sz="2800" b="0" dirty="0">
                    <a:ea typeface="Cambria Math" panose="02040503050406030204" pitchFamily="18" charset="0"/>
                  </a:rPr>
                  <a:t>               </a:t>
                </a:r>
                <a14:m>
                  <m:oMath xmlns:m="http://schemas.openxmlformats.org/officeDocument/2006/math">
                    <m:r>
                      <a:rPr lang="en-AU" altLang="zh-CN" sz="2800" b="0" i="1" dirty="0" smtClean="0">
                        <a:latin typeface="Cambria Math" panose="02040503050406030204" pitchFamily="18" charset="0"/>
                        <a:ea typeface="Cambria Math" panose="02040503050406030204" pitchFamily="18" charset="0"/>
                      </a:rPr>
                      <m:t>(</m:t>
                    </m:r>
                    <m:r>
                      <a:rPr lang="en-AU" altLang="zh-CN" sz="2800" b="0" i="1" dirty="0" smtClean="0">
                        <a:latin typeface="Cambria Math" panose="02040503050406030204" pitchFamily="18" charset="0"/>
                        <a:ea typeface="Cambria Math" panose="02040503050406030204" pitchFamily="18" charset="0"/>
                      </a:rPr>
                      <m:t>𝑞</m:t>
                    </m:r>
                    <m:r>
                      <a:rPr lang="en-AU" altLang="zh-CN" sz="2800" b="0" i="1" dirty="0" smtClean="0">
                        <a:latin typeface="Cambria Math" panose="02040503050406030204" pitchFamily="18" charset="0"/>
                        <a:ea typeface="Cambria Math" panose="02040503050406030204" pitchFamily="18" charset="0"/>
                      </a:rPr>
                      <m:t>,</m:t>
                    </m:r>
                    <m:sSub>
                      <m:sSubPr>
                        <m:ctrlPr>
                          <a:rPr lang="en-AU" altLang="zh-CN" sz="2800" b="0" i="1" dirty="0" smtClean="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𝑥</m:t>
                        </m:r>
                      </m:e>
                      <m:sub>
                        <m:r>
                          <a:rPr lang="en-AU" altLang="zh-CN" sz="2800" b="0" i="1" dirty="0" smtClean="0">
                            <a:latin typeface="Cambria Math" panose="02040503050406030204" pitchFamily="18" charset="0"/>
                            <a:ea typeface="Cambria Math" panose="02040503050406030204" pitchFamily="18" charset="0"/>
                          </a:rPr>
                          <m:t>𝑖</m:t>
                        </m:r>
                      </m:sub>
                    </m:sSub>
                    <m:r>
                      <a:rPr lang="en-AU" altLang="zh-CN" sz="2800" b="0" i="1" dirty="0" smtClean="0">
                        <a:latin typeface="Cambria Math" panose="02040503050406030204" pitchFamily="18" charset="0"/>
                        <a:ea typeface="Cambria Math" panose="02040503050406030204" pitchFamily="18" charset="0"/>
                      </a:rPr>
                      <m:t>,</m:t>
                    </m:r>
                    <m:sSub>
                      <m:sSubPr>
                        <m:ctrlPr>
                          <a:rPr lang="en-AU" altLang="zh-CN" sz="2800" b="0" i="1" dirty="0" smtClean="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𝑌</m:t>
                        </m:r>
                      </m:e>
                      <m:sub>
                        <m:r>
                          <a:rPr lang="en-AU" altLang="zh-CN" sz="2800" b="0" i="1" dirty="0" smtClean="0">
                            <a:latin typeface="Cambria Math" panose="02040503050406030204" pitchFamily="18" charset="0"/>
                            <a:ea typeface="Cambria Math" panose="02040503050406030204" pitchFamily="18" charset="0"/>
                          </a:rPr>
                          <m:t>𝑖</m:t>
                        </m:r>
                      </m:sub>
                    </m:sSub>
                    <m:r>
                      <a:rPr lang="en-AU" altLang="zh-CN" sz="2800" b="0" i="1" dirty="0" smtClean="0">
                        <a:latin typeface="Cambria Math" panose="02040503050406030204" pitchFamily="18" charset="0"/>
                        <a:ea typeface="Cambria Math" panose="02040503050406030204" pitchFamily="18" charset="0"/>
                      </a:rPr>
                      <m:t>)</m:t>
                    </m:r>
                    <m:sSup>
                      <m:sSupPr>
                        <m:ctrlPr>
                          <a:rPr lang="pl-PL" sz="2800" i="1" dirty="0">
                            <a:latin typeface="Cambria Math" panose="02040503050406030204" pitchFamily="18" charset="0"/>
                          </a:rPr>
                        </m:ctrlPr>
                      </m:sSupPr>
                      <m:e>
                        <m:r>
                          <a:rPr lang="pl-PL" sz="2800" i="1" dirty="0">
                            <a:latin typeface="Cambria Math" panose="02040503050406030204" pitchFamily="18" charset="0"/>
                            <a:ea typeface="Cambria Math" panose="02040503050406030204" pitchFamily="18" charset="0"/>
                          </a:rPr>
                          <m:t>⊢</m:t>
                        </m:r>
                      </m:e>
                      <m:sup>
                        <m:r>
                          <a:rPr lang="en-AU" sz="2800" i="1" dirty="0">
                            <a:latin typeface="Cambria Math" panose="02040503050406030204" pitchFamily="18" charset="0"/>
                          </a:rPr>
                          <m:t>∗</m:t>
                        </m:r>
                      </m:sup>
                    </m:sSup>
                    <m:r>
                      <a:rPr lang="en-AU" sz="2800" b="0" i="1" dirty="0" smtClean="0">
                        <a:latin typeface="Cambria Math" panose="02040503050406030204" pitchFamily="18" charset="0"/>
                      </a:rPr>
                      <m:t>(</m:t>
                    </m:r>
                    <m:r>
                      <a:rPr lang="en-AU" sz="2800" i="1" dirty="0">
                        <a:latin typeface="Cambria Math" panose="02040503050406030204" pitchFamily="18" charset="0"/>
                      </a:rPr>
                      <m:t>𝑞</m:t>
                    </m:r>
                    <m:r>
                      <a:rPr lang="en-AU" sz="2800" i="1" dirty="0">
                        <a:latin typeface="Cambria Math" panose="02040503050406030204" pitchFamily="18" charset="0"/>
                      </a:rPr>
                      <m:t>, </m:t>
                    </m:r>
                    <m:r>
                      <a:rPr lang="el-GR" sz="2800" i="1" dirty="0">
                        <a:latin typeface="Cambria Math" panose="02040503050406030204" pitchFamily="18" charset="0"/>
                      </a:rPr>
                      <m:t>𝜀</m:t>
                    </m:r>
                    <m:r>
                      <a:rPr lang="el-GR" sz="2800" i="1" dirty="0">
                        <a:latin typeface="Cambria Math" panose="02040503050406030204" pitchFamily="18" charset="0"/>
                      </a:rPr>
                      <m:t>, </m:t>
                    </m:r>
                    <m:r>
                      <a:rPr lang="el-GR" sz="2800" i="1" dirty="0">
                        <a:latin typeface="Cambria Math" panose="02040503050406030204" pitchFamily="18" charset="0"/>
                      </a:rPr>
                      <m:t>𝜀</m:t>
                    </m:r>
                    <m:r>
                      <a:rPr lang="en-AU" sz="2800" b="0" i="1" dirty="0" smtClean="0">
                        <a:latin typeface="Cambria Math" panose="02040503050406030204" pitchFamily="18" charset="0"/>
                      </a:rPr>
                      <m:t>)</m:t>
                    </m:r>
                    <m:r>
                      <a:rPr lang="en-AU" sz="2800" b="0" i="1" dirty="0" smtClean="0">
                        <a:latin typeface="Cambria Math" panose="02040503050406030204" pitchFamily="18" charset="0"/>
                        <a:ea typeface="Cambria Math" panose="02040503050406030204" pitchFamily="18" charset="0"/>
                      </a:rPr>
                      <m:t>⟹</m:t>
                    </m:r>
                    <m:sSub>
                      <m:sSubPr>
                        <m:ctrlPr>
                          <a:rPr lang="en-AU" altLang="zh-CN" sz="2800" i="1" dirty="0">
                            <a:latin typeface="Cambria Math" panose="02040503050406030204" pitchFamily="18" charset="0"/>
                            <a:ea typeface="Cambria Math" panose="02040503050406030204" pitchFamily="18" charset="0"/>
                          </a:rPr>
                        </m:ctrlPr>
                      </m:sSubPr>
                      <m:e>
                        <m:r>
                          <a:rPr lang="en-AU" altLang="zh-CN" sz="2800" i="1" dirty="0">
                            <a:latin typeface="Cambria Math" panose="02040503050406030204" pitchFamily="18" charset="0"/>
                            <a:ea typeface="Cambria Math" panose="02040503050406030204" pitchFamily="18" charset="0"/>
                          </a:rPr>
                          <m:t>𝑌</m:t>
                        </m:r>
                      </m:e>
                      <m:sub>
                        <m:r>
                          <a:rPr lang="en-AU" altLang="zh-CN" sz="2800" i="1" dirty="0">
                            <a:latin typeface="Cambria Math" panose="02040503050406030204" pitchFamily="18" charset="0"/>
                            <a:ea typeface="Cambria Math" panose="02040503050406030204" pitchFamily="18" charset="0"/>
                          </a:rPr>
                          <m:t>𝑖</m:t>
                        </m:r>
                      </m:sub>
                    </m:sSub>
                    <m:groupChr>
                      <m:groupChrPr>
                        <m:chr m:val="⇒"/>
                        <m:vertJc m:val="bot"/>
                        <m:ctrlPr>
                          <a:rPr lang="en-AU" altLang="zh-CN" sz="2800" i="1" dirty="0" smtClean="0">
                            <a:latin typeface="Cambria Math" panose="02040503050406030204" pitchFamily="18" charset="0"/>
                            <a:ea typeface="Cambria Math" panose="02040503050406030204" pitchFamily="18" charset="0"/>
                          </a:rPr>
                        </m:ctrlPr>
                      </m:groupChrPr>
                      <m:e>
                        <m:r>
                          <m:rPr>
                            <m:brk m:alnAt="2"/>
                          </m:rPr>
                          <a:rPr lang="en-AU" altLang="zh-CN" sz="2800" b="0" i="1" dirty="0" smtClean="0">
                            <a:latin typeface="Cambria Math" panose="02040503050406030204" pitchFamily="18" charset="0"/>
                            <a:ea typeface="Cambria Math" panose="02040503050406030204" pitchFamily="18" charset="0"/>
                          </a:rPr>
                          <m:t>∗</m:t>
                        </m:r>
                      </m:e>
                    </m:groupChr>
                    <m:sSub>
                      <m:sSubPr>
                        <m:ctrlPr>
                          <a:rPr lang="en-AU" altLang="zh-CN" sz="2800" i="1" dirty="0" smtClean="0">
                            <a:latin typeface="Cambria Math" panose="02040503050406030204" pitchFamily="18" charset="0"/>
                            <a:ea typeface="Cambria Math" panose="02040503050406030204" pitchFamily="18" charset="0"/>
                          </a:rPr>
                        </m:ctrlPr>
                      </m:sSubPr>
                      <m:e>
                        <m:r>
                          <a:rPr lang="en-AU" altLang="zh-CN" sz="2800" b="0" i="1" dirty="0" smtClean="0">
                            <a:latin typeface="Cambria Math" panose="02040503050406030204" pitchFamily="18" charset="0"/>
                            <a:ea typeface="Cambria Math" panose="02040503050406030204" pitchFamily="18" charset="0"/>
                          </a:rPr>
                          <m:t>𝑥</m:t>
                        </m:r>
                      </m:e>
                      <m:sub>
                        <m:r>
                          <a:rPr lang="en-AU" altLang="zh-CN" sz="2800" b="0" i="1" dirty="0" smtClean="0">
                            <a:latin typeface="Cambria Math" panose="02040503050406030204" pitchFamily="18" charset="0"/>
                            <a:ea typeface="Cambria Math" panose="02040503050406030204" pitchFamily="18" charset="0"/>
                          </a:rPr>
                          <m:t>𝑖</m:t>
                        </m:r>
                      </m:sub>
                    </m:sSub>
                  </m:oMath>
                </a14:m>
                <a:r>
                  <a:rPr lang="zh-CN" altLang="en-US" sz="2800" dirty="0"/>
                  <a:t>。</a:t>
                </a:r>
                <a:endParaRPr lang="en-AU" sz="28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310833"/>
                <a:ext cx="8229600" cy="4893197"/>
              </a:xfrm>
              <a:blipFill rotWithShape="1">
                <a:blip r:embed="rId3"/>
                <a:stretch>
                  <a:fillRect t="-4" b="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75</a:t>
            </a:fld>
            <a:endParaRPr lang="en-AU"/>
          </a:p>
        </p:txBody>
      </p:sp>
      <p:sp>
        <p:nvSpPr>
          <p:cNvPr id="7" name="Title 1"/>
          <p:cNvSpPr>
            <a:spLocks noGrp="1"/>
          </p:cNvSpPr>
          <p:nvPr>
            <p:ph type="title"/>
          </p:nvPr>
        </p:nvSpPr>
        <p:spPr/>
        <p:txBody>
          <a:bodyPr/>
          <a:lstStyle/>
          <a:p>
            <a:r>
              <a:rPr lang="zh-CN" altLang="en-US" dirty="0"/>
              <a:t>必要性证明</a:t>
            </a:r>
            <a:endParaRPr lang="en-AU"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5423" y="1310833"/>
                <a:ext cx="7610354" cy="4525963"/>
              </a:xfrm>
            </p:spPr>
            <p:txBody>
              <a:bodyPr>
                <a:normAutofit fontScale="92500" lnSpcReduction="10000"/>
              </a:bodyPr>
              <a:lstStyle/>
              <a:p>
                <a:r>
                  <a:rPr lang="zh-CN" altLang="en-US" dirty="0"/>
                  <a:t>再由</a:t>
                </a:r>
                <a14:m>
                  <m:oMath xmlns:m="http://schemas.openxmlformats.org/officeDocument/2006/math">
                    <m:r>
                      <a:rPr lang="en-US" altLang="zh-CN" i="1" dirty="0" smtClean="0">
                        <a:latin typeface="Cambria Math" panose="02040503050406030204" pitchFamily="18" charset="0"/>
                      </a:rPr>
                      <m:t>𝐴</m:t>
                    </m:r>
                  </m:oMath>
                </a14:m>
                <a:r>
                  <a:rPr lang="zh-CN" altLang="en-US" dirty="0"/>
                  <a:t>的产生式</a:t>
                </a:r>
                <a14:m>
                  <m:oMath xmlns:m="http://schemas.openxmlformats.org/officeDocument/2006/math">
                    <m:r>
                      <a:rPr lang="en-AU" altLang="zh-CN" b="0" i="1" dirty="0" smtClean="0">
                        <a:latin typeface="Cambria Math" panose="02040503050406030204" pitchFamily="18" charset="0"/>
                        <a:ea typeface="Cambria Math" panose="02040503050406030204" pitchFamily="18" charset="0"/>
                      </a:rPr>
                      <m:t>𝐴</m:t>
                    </m:r>
                    <m:r>
                      <a:rPr lang="en-AU" altLang="zh-CN" i="1" dirty="0">
                        <a:latin typeface="Cambria Math" panose="02040503050406030204" pitchFamily="18" charset="0"/>
                      </a:rPr>
                      <m:t>→</m:t>
                    </m:r>
                    <m:sSub>
                      <m:sSubPr>
                        <m:ctrlPr>
                          <a:rPr lang="en-AU" altLang="zh-CN" b="0" i="1" dirty="0" smtClean="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𝑌</m:t>
                        </m:r>
                      </m:e>
                      <m:sub>
                        <m:r>
                          <a:rPr lang="en-AU" altLang="zh-CN" b="0" i="1" dirty="0" smtClean="0">
                            <a:latin typeface="Cambria Math" panose="02040503050406030204" pitchFamily="18" charset="0"/>
                            <a:ea typeface="Cambria Math" panose="02040503050406030204" pitchFamily="18" charset="0"/>
                          </a:rPr>
                          <m:t>1</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𝑌</m:t>
                        </m:r>
                      </m:e>
                      <m:sub>
                        <m:r>
                          <a:rPr lang="en-AU" altLang="zh-CN" b="0" i="1" dirty="0" smtClean="0">
                            <a:latin typeface="Cambria Math" panose="02040503050406030204" pitchFamily="18" charset="0"/>
                            <a:ea typeface="Cambria Math" panose="02040503050406030204" pitchFamily="18" charset="0"/>
                          </a:rPr>
                          <m:t>2</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𝑌</m:t>
                        </m:r>
                      </m:e>
                      <m:sub>
                        <m:r>
                          <a:rPr lang="en-AU" altLang="zh-CN" b="0" i="1" dirty="0" smtClean="0">
                            <a:latin typeface="Cambria Math" panose="02040503050406030204" pitchFamily="18" charset="0"/>
                            <a:ea typeface="Cambria Math" panose="02040503050406030204" pitchFamily="18" charset="0"/>
                          </a:rPr>
                          <m:t>𝑚</m:t>
                        </m:r>
                      </m:sub>
                    </m:sSub>
                  </m:oMath>
                </a14:m>
                <a:r>
                  <a:rPr lang="zh-CN" altLang="en-US" dirty="0"/>
                  <a:t>，有</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altLang="zh-CN" b="0" i="1" dirty="0" smtClean="0">
                          <a:latin typeface="Cambria Math" panose="02040503050406030204" pitchFamily="18" charset="0"/>
                          <a:ea typeface="Cambria Math" panose="02040503050406030204" pitchFamily="18" charset="0"/>
                        </a:rPr>
                        <m:t>𝐴</m:t>
                      </m:r>
                      <m:r>
                        <a:rPr lang="en-AU" altLang="zh-CN" i="1" dirty="0">
                          <a:latin typeface="Cambria Math" panose="02040503050406030204" pitchFamily="18" charset="0"/>
                          <a:ea typeface="Cambria Math" panose="02040503050406030204" pitchFamily="18" charset="0"/>
                        </a:rPr>
                        <m:t>⇒</m:t>
                      </m:r>
                      <m:sSub>
                        <m:sSubPr>
                          <m:ctrlPr>
                            <a:rPr lang="en-AU" altLang="zh-CN" b="0" i="1" dirty="0" smtClean="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𝑌</m:t>
                          </m:r>
                        </m:e>
                        <m:sub>
                          <m:r>
                            <a:rPr lang="en-AU" altLang="zh-CN" b="0" i="1" dirty="0" smtClean="0">
                              <a:latin typeface="Cambria Math" panose="02040503050406030204" pitchFamily="18" charset="0"/>
                              <a:ea typeface="Cambria Math" panose="02040503050406030204" pitchFamily="18" charset="0"/>
                            </a:rPr>
                            <m:t>1</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𝑌</m:t>
                          </m:r>
                        </m:e>
                        <m:sub>
                          <m:r>
                            <a:rPr lang="en-AU" altLang="zh-CN" b="0" i="1" dirty="0" smtClean="0">
                              <a:latin typeface="Cambria Math" panose="02040503050406030204" pitchFamily="18" charset="0"/>
                              <a:ea typeface="Cambria Math" panose="02040503050406030204" pitchFamily="18" charset="0"/>
                            </a:rPr>
                            <m:t>2</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𝑌</m:t>
                          </m:r>
                        </m:e>
                        <m:sub>
                          <m:r>
                            <a:rPr lang="en-AU" altLang="zh-CN" b="0" i="1" dirty="0" smtClean="0">
                              <a:latin typeface="Cambria Math" panose="02040503050406030204" pitchFamily="18" charset="0"/>
                              <a:ea typeface="Cambria Math" panose="02040503050406030204" pitchFamily="18" charset="0"/>
                            </a:rPr>
                            <m:t>𝑚</m:t>
                          </m:r>
                        </m:sub>
                      </m:sSub>
                    </m:oMath>
                  </m:oMathPara>
                </a14:m>
                <a:endParaRPr lang="en-AU" dirty="0"/>
              </a:p>
              <a:p>
                <a:pPr marL="0" indent="0">
                  <a:buNone/>
                </a:pPr>
                <a:r>
                  <a:rPr lang="en-AU" dirty="0"/>
                  <a:t>                   </a:t>
                </a:r>
                <a14:m>
                  <m:oMath xmlns:m="http://schemas.openxmlformats.org/officeDocument/2006/math">
                    <m:groupChr>
                      <m:groupChrPr>
                        <m:chr m:val="⇒"/>
                        <m:vertJc m:val="bot"/>
                        <m:ctrlPr>
                          <a:rPr lang="en-AU" i="1" smtClean="0">
                            <a:latin typeface="Cambria Math" panose="02040503050406030204" pitchFamily="18" charset="0"/>
                          </a:rPr>
                        </m:ctrlPr>
                      </m:groupChrPr>
                      <m:e>
                        <m:r>
                          <m:rPr>
                            <m:brk m:alnAt="2"/>
                          </m:rPr>
                          <a:rPr lang="en-AU" b="0" i="1" smtClean="0">
                            <a:latin typeface="Cambria Math" panose="02040503050406030204" pitchFamily="18" charset="0"/>
                          </a:rPr>
                          <m:t>∗</m:t>
                        </m:r>
                      </m:e>
                    </m:groupChr>
                    <m:sSub>
                      <m:sSubPr>
                        <m:ctrlPr>
                          <a:rPr lang="en-AU" altLang="zh-CN" i="1" dirty="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𝑥</m:t>
                        </m:r>
                      </m:e>
                      <m:sub>
                        <m:r>
                          <a:rPr lang="en-AU" altLang="zh-CN" i="1" dirty="0">
                            <a:latin typeface="Cambria Math" panose="02040503050406030204" pitchFamily="18" charset="0"/>
                            <a:ea typeface="Cambria Math" panose="02040503050406030204" pitchFamily="18" charset="0"/>
                          </a:rPr>
                          <m:t>1</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𝑌</m:t>
                        </m:r>
                      </m:e>
                      <m:sub>
                        <m:r>
                          <a:rPr lang="en-AU" altLang="zh-CN" i="1" dirty="0">
                            <a:latin typeface="Cambria Math" panose="02040503050406030204" pitchFamily="18" charset="0"/>
                            <a:ea typeface="Cambria Math" panose="02040503050406030204" pitchFamily="18" charset="0"/>
                          </a:rPr>
                          <m:t>2</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𝑌</m:t>
                        </m:r>
                      </m:e>
                      <m:sub>
                        <m:r>
                          <a:rPr lang="en-AU" altLang="zh-CN" i="1" dirty="0">
                            <a:latin typeface="Cambria Math" panose="02040503050406030204" pitchFamily="18" charset="0"/>
                            <a:ea typeface="Cambria Math" panose="02040503050406030204" pitchFamily="18" charset="0"/>
                          </a:rPr>
                          <m:t>𝑚</m:t>
                        </m:r>
                      </m:sub>
                    </m:sSub>
                  </m:oMath>
                </a14:m>
                <a:endParaRPr lang="en-AU" dirty="0"/>
              </a:p>
              <a:p>
                <a:pPr marL="0" indent="0">
                  <a:buNone/>
                </a:pPr>
                <a:r>
                  <a:rPr lang="en-AU" dirty="0"/>
                  <a:t>                   </a:t>
                </a:r>
                <a14:m>
                  <m:oMath xmlns:m="http://schemas.openxmlformats.org/officeDocument/2006/math">
                    <m:groupChr>
                      <m:groupChrPr>
                        <m:chr m:val="⇒"/>
                        <m:vertJc m:val="bot"/>
                        <m:ctrlPr>
                          <a:rPr lang="en-AU" i="1" smtClean="0">
                            <a:latin typeface="Cambria Math" panose="02040503050406030204" pitchFamily="18" charset="0"/>
                          </a:rPr>
                        </m:ctrlPr>
                      </m:groupChrPr>
                      <m:e>
                        <m:r>
                          <m:rPr>
                            <m:brk m:alnAt="2"/>
                          </m:rPr>
                          <a:rPr lang="en-AU" b="0" i="1" smtClean="0">
                            <a:latin typeface="Cambria Math" panose="02040503050406030204" pitchFamily="18" charset="0"/>
                          </a:rPr>
                          <m:t>∗</m:t>
                        </m:r>
                      </m:e>
                    </m:groupChr>
                    <m:sSub>
                      <m:sSubPr>
                        <m:ctrlPr>
                          <a:rPr lang="en-AU" altLang="zh-CN" i="1" dirty="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𝑥</m:t>
                        </m:r>
                      </m:e>
                      <m:sub>
                        <m:r>
                          <a:rPr lang="en-AU" altLang="zh-CN" i="1" dirty="0">
                            <a:latin typeface="Cambria Math" panose="02040503050406030204" pitchFamily="18" charset="0"/>
                            <a:ea typeface="Cambria Math" panose="02040503050406030204" pitchFamily="18" charset="0"/>
                          </a:rPr>
                          <m:t>1</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𝑥</m:t>
                        </m:r>
                      </m:e>
                      <m:sub>
                        <m:r>
                          <a:rPr lang="en-AU" altLang="zh-CN" i="1" dirty="0">
                            <a:latin typeface="Cambria Math" panose="02040503050406030204" pitchFamily="18" charset="0"/>
                            <a:ea typeface="Cambria Math" panose="02040503050406030204" pitchFamily="18" charset="0"/>
                          </a:rPr>
                          <m:t>2</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𝑌</m:t>
                        </m:r>
                      </m:e>
                      <m:sub>
                        <m:r>
                          <a:rPr lang="en-AU" altLang="zh-CN" i="1" dirty="0">
                            <a:latin typeface="Cambria Math" panose="02040503050406030204" pitchFamily="18" charset="0"/>
                            <a:ea typeface="Cambria Math" panose="02040503050406030204" pitchFamily="18" charset="0"/>
                          </a:rPr>
                          <m:t>𝑚</m:t>
                        </m:r>
                      </m:sub>
                    </m:sSub>
                  </m:oMath>
                </a14:m>
                <a:endParaRPr lang="en-AU" dirty="0"/>
              </a:p>
              <a:p>
                <a:pPr marL="0" indent="0">
                  <a:buNone/>
                </a:pPr>
                <a:r>
                  <a:rPr lang="en-AU" dirty="0"/>
                  <a:t>                   </a:t>
                </a:r>
                <a14:m>
                  <m:oMath xmlns:m="http://schemas.openxmlformats.org/officeDocument/2006/math">
                    <m:groupChr>
                      <m:groupChrPr>
                        <m:chr m:val="⇒"/>
                        <m:vertJc m:val="bot"/>
                        <m:ctrlPr>
                          <a:rPr lang="en-AU" i="1" smtClean="0">
                            <a:latin typeface="Cambria Math" panose="02040503050406030204" pitchFamily="18" charset="0"/>
                          </a:rPr>
                        </m:ctrlPr>
                      </m:groupChrPr>
                      <m:e>
                        <m:r>
                          <m:rPr>
                            <m:brk m:alnAt="2"/>
                          </m:rPr>
                          <a:rPr lang="en-AU" b="0" i="1" smtClean="0">
                            <a:latin typeface="Cambria Math" panose="02040503050406030204" pitchFamily="18" charset="0"/>
                          </a:rPr>
                          <m:t>∗</m:t>
                        </m:r>
                      </m:e>
                    </m:groupChr>
                    <m:sSub>
                      <m:sSubPr>
                        <m:ctrlPr>
                          <a:rPr lang="en-AU" altLang="zh-CN" i="1" dirty="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𝑥</m:t>
                        </m:r>
                      </m:e>
                      <m:sub>
                        <m:r>
                          <a:rPr lang="en-AU" altLang="zh-CN" i="1" dirty="0">
                            <a:latin typeface="Cambria Math" panose="02040503050406030204" pitchFamily="18" charset="0"/>
                            <a:ea typeface="Cambria Math" panose="02040503050406030204" pitchFamily="18" charset="0"/>
                          </a:rPr>
                          <m:t>1</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𝑥</m:t>
                        </m:r>
                      </m:e>
                      <m:sub>
                        <m:r>
                          <a:rPr lang="en-AU" altLang="zh-CN" i="1" dirty="0">
                            <a:latin typeface="Cambria Math" panose="02040503050406030204" pitchFamily="18" charset="0"/>
                            <a:ea typeface="Cambria Math" panose="02040503050406030204" pitchFamily="18" charset="0"/>
                          </a:rPr>
                          <m:t>2</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𝑥</m:t>
                        </m:r>
                      </m:e>
                      <m:sub>
                        <m:r>
                          <a:rPr lang="en-AU" altLang="zh-CN" i="1" dirty="0">
                            <a:latin typeface="Cambria Math" panose="02040503050406030204" pitchFamily="18" charset="0"/>
                            <a:ea typeface="Cambria Math" panose="02040503050406030204" pitchFamily="18" charset="0"/>
                          </a:rPr>
                          <m:t>𝑚</m:t>
                        </m:r>
                      </m:sub>
                    </m:sSub>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𝑥</m:t>
                    </m:r>
                  </m:oMath>
                </a14:m>
                <a:endParaRPr lang="en-AU" dirty="0"/>
              </a:p>
              <a:p>
                <a:pPr marL="0" indent="0">
                  <a:buNone/>
                </a:pPr>
                <a:r>
                  <a:rPr lang="zh-CN" altLang="en-US" dirty="0"/>
                  <a:t>因此当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n-AU" i="1" dirty="0" smtClean="0">
                        <a:latin typeface="Cambria Math" panose="02040503050406030204" pitchFamily="18" charset="0"/>
                      </a:rPr>
                      <m:t>𝑆</m:t>
                    </m:r>
                  </m:oMath>
                </a14:m>
                <a:r>
                  <a:rPr lang="en-AU" dirty="0"/>
                  <a:t>, </a:t>
                </a:r>
                <a14:m>
                  <m:oMath xmlns:m="http://schemas.openxmlformats.org/officeDocument/2006/math">
                    <m:r>
                      <a:rPr lang="en-AU" i="1" dirty="0" smtClean="0">
                        <a:latin typeface="Cambria Math" panose="02040503050406030204" pitchFamily="18" charset="0"/>
                      </a:rPr>
                      <m:t>𝑥</m:t>
                    </m:r>
                    <m:r>
                      <a:rPr lang="en-AU" i="1" dirty="0" smtClean="0">
                        <a:latin typeface="Cambria Math" panose="02040503050406030204" pitchFamily="18" charset="0"/>
                      </a:rPr>
                      <m:t> = </m:t>
                    </m:r>
                    <m:r>
                      <a:rPr lang="en-AU" i="1" dirty="0" smtClean="0">
                        <a:latin typeface="Cambria Math" panose="02040503050406030204" pitchFamily="18" charset="0"/>
                      </a:rPr>
                      <m:t>𝑤</m:t>
                    </m:r>
                  </m:oMath>
                </a14:m>
                <a:r>
                  <a:rPr lang="en-AU" dirty="0"/>
                  <a:t> </a:t>
                </a:r>
                <a:r>
                  <a:rPr lang="zh-CN" altLang="en-US" dirty="0"/>
                  <a:t>时</a:t>
                </a:r>
                <a:r>
                  <a:rPr lang="en-US" altLang="zh-CN" dirty="0"/>
                  <a:t>,</a:t>
                </a:r>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m:t>
                      </m:r>
                      <m:r>
                        <a:rPr lang="en-AU" i="1" dirty="0" smtClean="0">
                          <a:latin typeface="Cambria Math" panose="02040503050406030204" pitchFamily="18" charset="0"/>
                        </a:rPr>
                        <m:t>𝑞</m:t>
                      </m:r>
                      <m:r>
                        <a:rPr lang="en-AU" i="1" dirty="0" smtClean="0">
                          <a:latin typeface="Cambria Math" panose="02040503050406030204" pitchFamily="18" charset="0"/>
                        </a:rPr>
                        <m:t>, </m:t>
                      </m:r>
                      <m:r>
                        <a:rPr lang="en-AU" i="1" dirty="0" smtClean="0">
                          <a:latin typeface="Cambria Math" panose="02040503050406030204" pitchFamily="18" charset="0"/>
                        </a:rPr>
                        <m:t>𝑤</m:t>
                      </m:r>
                      <m:r>
                        <a:rPr lang="en-AU" i="1" dirty="0" smtClean="0">
                          <a:latin typeface="Cambria Math" panose="02040503050406030204" pitchFamily="18" charset="0"/>
                        </a:rPr>
                        <m:t>, </m:t>
                      </m:r>
                      <m:r>
                        <a:rPr lang="en-AU" i="1" dirty="0" smtClean="0">
                          <a:latin typeface="Cambria Math" panose="02040503050406030204" pitchFamily="18" charset="0"/>
                        </a:rPr>
                        <m:t>𝑆</m:t>
                      </m:r>
                      <m:r>
                        <a:rPr lang="en-AU" i="1" dirty="0" smtClean="0">
                          <a:latin typeface="Cambria Math" panose="02040503050406030204" pitchFamily="18" charset="0"/>
                        </a:rPr>
                        <m:t>)</m:t>
                      </m:r>
                      <m:sSup>
                        <m:sSupPr>
                          <m:ctrlPr>
                            <a:rPr lang="pl-PL" i="1" dirty="0">
                              <a:latin typeface="Cambria Math" panose="02040503050406030204" pitchFamily="18" charset="0"/>
                            </a:rPr>
                          </m:ctrlPr>
                        </m:sSupPr>
                        <m:e>
                          <m:r>
                            <a:rPr lang="pl-PL" i="1" dirty="0">
                              <a:latin typeface="Cambria Math" panose="02040503050406030204" pitchFamily="18" charset="0"/>
                              <a:ea typeface="Cambria Math" panose="02040503050406030204" pitchFamily="18" charset="0"/>
                            </a:rPr>
                            <m:t>⊢</m:t>
                          </m:r>
                        </m:e>
                        <m:sup>
                          <m:r>
                            <a:rPr lang="en-AU" i="1" dirty="0">
                              <a:latin typeface="Cambria Math" panose="02040503050406030204" pitchFamily="18" charset="0"/>
                            </a:rPr>
                            <m:t>∗</m:t>
                          </m:r>
                        </m:sup>
                      </m:sSup>
                      <m:r>
                        <a:rPr lang="en-AU" i="1" dirty="0" smtClean="0">
                          <a:latin typeface="Cambria Math" panose="02040503050406030204" pitchFamily="18" charset="0"/>
                        </a:rPr>
                        <m:t>(</m:t>
                      </m:r>
                      <m:r>
                        <a:rPr lang="en-AU" i="1" dirty="0" smtClean="0">
                          <a:latin typeface="Cambria Math" panose="02040503050406030204" pitchFamily="18" charset="0"/>
                        </a:rPr>
                        <m:t>𝑞</m:t>
                      </m:r>
                      <m:r>
                        <a:rPr lang="en-AU" i="1" dirty="0" smtClean="0">
                          <a:latin typeface="Cambria Math" panose="02040503050406030204" pitchFamily="18" charset="0"/>
                        </a:rPr>
                        <m:t>, </m:t>
                      </m:r>
                      <m:r>
                        <a:rPr lang="el-GR" i="1" dirty="0" smtClean="0">
                          <a:latin typeface="Cambria Math" panose="02040503050406030204" pitchFamily="18" charset="0"/>
                        </a:rPr>
                        <m:t>𝜀</m:t>
                      </m:r>
                      <m:r>
                        <a:rPr lang="el-GR" i="1" dirty="0" smtClean="0">
                          <a:latin typeface="Cambria Math" panose="02040503050406030204" pitchFamily="18" charset="0"/>
                        </a:rPr>
                        <m:t>, </m:t>
                      </m:r>
                      <m:r>
                        <a:rPr lang="el-GR" i="1" dirty="0" smtClean="0">
                          <a:latin typeface="Cambria Math" panose="02040503050406030204" pitchFamily="18" charset="0"/>
                        </a:rPr>
                        <m:t>𝜀</m:t>
                      </m:r>
                      <m:r>
                        <a:rPr lang="el-GR" i="1" dirty="0" smtClean="0">
                          <a:latin typeface="Cambria Math" panose="02040503050406030204" pitchFamily="18" charset="0"/>
                        </a:rPr>
                        <m:t>) ⟹ </m:t>
                      </m:r>
                      <m:r>
                        <a:rPr lang="en-AU" i="1" dirty="0" smtClean="0">
                          <a:latin typeface="Cambria Math" panose="02040503050406030204" pitchFamily="18" charset="0"/>
                        </a:rPr>
                        <m:t>𝑆</m:t>
                      </m:r>
                      <m:groupChr>
                        <m:groupChrPr>
                          <m:chr m:val="⇒"/>
                          <m:vertJc m:val="bot"/>
                          <m:ctrlPr>
                            <a:rPr lang="en-AU" i="1">
                              <a:latin typeface="Cambria Math" panose="02040503050406030204" pitchFamily="18" charset="0"/>
                            </a:rPr>
                          </m:ctrlPr>
                        </m:groupChrPr>
                        <m:e>
                          <m:r>
                            <m:rPr>
                              <m:brk m:alnAt="2"/>
                            </m:rPr>
                            <a:rPr lang="en-AU" i="1">
                              <a:latin typeface="Cambria Math" panose="02040503050406030204" pitchFamily="18" charset="0"/>
                            </a:rPr>
                            <m:t>∗</m:t>
                          </m:r>
                        </m:e>
                      </m:groupChr>
                      <m:r>
                        <a:rPr lang="en-AU" i="1" dirty="0" smtClean="0">
                          <a:latin typeface="Cambria Math" panose="02040503050406030204" pitchFamily="18" charset="0"/>
                        </a:rPr>
                        <m:t>𝑤</m:t>
                      </m:r>
                    </m:oMath>
                  </m:oMathPara>
                </a14:m>
                <a:endParaRPr lang="en-AU" dirty="0"/>
              </a:p>
              <a:p>
                <a:pPr marL="0" indent="0">
                  <a:buNone/>
                </a:pPr>
                <a:r>
                  <a:rPr lang="zh-CN" altLang="en-US" dirty="0"/>
                  <a:t>成立</a:t>
                </a:r>
                <a:r>
                  <a:rPr lang="en-US" altLang="zh-CN" dirty="0"/>
                  <a:t>, </a:t>
                </a:r>
                <a:r>
                  <a:rPr lang="zh-CN" altLang="en-US" dirty="0"/>
                  <a:t>即必要性得证。</a:t>
                </a:r>
                <a:endParaRPr lang="en-AU" altLang="zh-CN" dirty="0"/>
              </a:p>
              <a:p>
                <a:pPr marL="0" indent="0">
                  <a:buNone/>
                </a:pPr>
                <a:r>
                  <a:rPr lang="zh-CN" altLang="en-US" dirty="0"/>
                  <a:t>所以，任何</a:t>
                </a:r>
                <a:r>
                  <a:rPr lang="en-AU" altLang="zh-CN" dirty="0">
                    <a:latin typeface="Times New Roman" panose="02020603050405020304" pitchFamily="18" charset="0"/>
                    <a:cs typeface="Times New Roman" panose="02020603050405020304" pitchFamily="18" charset="0"/>
                  </a:rPr>
                  <a:t>CFL</a:t>
                </a:r>
                <a:r>
                  <a:rPr lang="zh-CN" altLang="en-US" dirty="0"/>
                  <a:t>都可以由</a:t>
                </a:r>
                <a:r>
                  <a:rPr lang="en-AU" altLang="zh-CN" dirty="0">
                    <a:latin typeface="Times New Roman" panose="02020603050405020304" pitchFamily="18" charset="0"/>
                    <a:cs typeface="Times New Roman" panose="02020603050405020304" pitchFamily="18" charset="0"/>
                  </a:rPr>
                  <a:t>PDA</a:t>
                </a:r>
                <a:r>
                  <a:rPr lang="zh-CN" altLang="en-US" dirty="0"/>
                  <a:t>识别。</a:t>
                </a:r>
                <a:endParaRPr lang="en-AU" dirty="0"/>
              </a:p>
              <a:p>
                <a:pPr marL="0" indent="0">
                  <a:buNone/>
                </a:pP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995423" y="1310833"/>
                <a:ext cx="7610354" cy="4525963"/>
              </a:xfrm>
              <a:blipFill rotWithShape="1">
                <a:blip r:embed="rId2"/>
                <a:stretch>
                  <a:fillRect l="-5" t="-4" r="3" b="-255"/>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76</a:t>
            </a:fld>
            <a:endParaRPr lang="en-AU"/>
          </a:p>
        </p:txBody>
      </p:sp>
      <p:sp>
        <p:nvSpPr>
          <p:cNvPr id="5" name="Title 1"/>
          <p:cNvSpPr>
            <a:spLocks noGrp="1"/>
          </p:cNvSpPr>
          <p:nvPr>
            <p:ph type="title"/>
          </p:nvPr>
        </p:nvSpPr>
        <p:spPr/>
        <p:txBody>
          <a:bodyPr/>
          <a:lstStyle/>
          <a:p>
            <a:r>
              <a:rPr lang="zh-CN" altLang="en-US" dirty="0"/>
              <a:t>必要性证明</a:t>
            </a:r>
            <a:endParaRPr lang="en-AU"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4000" dirty="0"/>
              <a:t>构造与</a:t>
            </a:r>
            <a:r>
              <a:rPr lang="en-AU" altLang="zh-CN" sz="4000" dirty="0">
                <a:latin typeface="Times New Roman" panose="02020603050405020304" pitchFamily="18" charset="0"/>
                <a:cs typeface="Times New Roman" panose="02020603050405020304" pitchFamily="18" charset="0"/>
              </a:rPr>
              <a:t>GNF</a:t>
            </a:r>
            <a:r>
              <a:rPr lang="zh-CN" altLang="en-US" sz="4000" dirty="0"/>
              <a:t>格式文法等价的</a:t>
            </a:r>
            <a:r>
              <a:rPr lang="en-AU" altLang="zh-CN" sz="4000" dirty="0">
                <a:latin typeface="Times New Roman" panose="02020603050405020304" pitchFamily="18" charset="0"/>
                <a:cs typeface="Times New Roman" panose="02020603050405020304" pitchFamily="18" charset="0"/>
              </a:rPr>
              <a:t>PDA</a:t>
            </a:r>
            <a:endParaRPr lang="en-AU"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57177" y="1299258"/>
                <a:ext cx="8229600" cy="4525963"/>
              </a:xfrm>
            </p:spPr>
            <p:txBody>
              <a:bodyPr>
                <a:normAutofit/>
              </a:bodyPr>
              <a:lstStyle/>
              <a:p>
                <a:r>
                  <a:rPr lang="zh-CN" altLang="en-US" sz="2400" dirty="0">
                    <a:cs typeface="Times New Roman" panose="02020603050405020304" pitchFamily="18" charset="0"/>
                  </a:rPr>
                  <a:t>回顾</a:t>
                </a:r>
                <a:r>
                  <a:rPr lang="en-AU" altLang="zh-CN" sz="2400" dirty="0">
                    <a:cs typeface="Times New Roman" panose="02020603050405020304" pitchFamily="18" charset="0"/>
                  </a:rPr>
                  <a:t>GNF</a:t>
                </a:r>
                <a:r>
                  <a:rPr lang="zh-CN" altLang="en-US" sz="2400" dirty="0">
                    <a:cs typeface="Times New Roman" panose="02020603050405020304" pitchFamily="18" charset="0"/>
                  </a:rPr>
                  <a:t>：</a:t>
                </a:r>
                <a:r>
                  <a:rPr lang="zh-CN" altLang="en-US" sz="2400" dirty="0"/>
                  <a:t>每个不带𝜀的</a:t>
                </a:r>
                <a:r>
                  <a:rPr lang="en-US" altLang="zh-CN" sz="2400" dirty="0">
                    <a:cs typeface="Times New Roman" panose="02020603050405020304" pitchFamily="18" charset="0"/>
                  </a:rPr>
                  <a:t>CFL</a:t>
                </a:r>
                <a:r>
                  <a:rPr lang="zh-CN" altLang="en-US" sz="2400" dirty="0"/>
                  <a:t>都可以由这样的</a:t>
                </a:r>
                <a:r>
                  <a:rPr lang="en-US" altLang="zh-CN" sz="2400" dirty="0">
                    <a:cs typeface="Times New Roman" panose="02020603050405020304" pitchFamily="18" charset="0"/>
                  </a:rPr>
                  <a:t>CFG</a:t>
                </a:r>
                <a:r>
                  <a:rPr lang="en-US" altLang="zh-CN" sz="2400" dirty="0"/>
                  <a:t> </a:t>
                </a:r>
                <a:r>
                  <a:rPr lang="zh-CN" altLang="en-US" sz="2400" dirty="0"/>
                  <a:t>𝐺定义</a:t>
                </a:r>
                <a:r>
                  <a:rPr lang="en-US" altLang="zh-CN" sz="2400" dirty="0"/>
                  <a:t>,</a:t>
                </a:r>
                <a:r>
                  <a:rPr lang="zh-CN" altLang="en-US" sz="2400" dirty="0"/>
                  <a:t>𝐺中每个产生式的形式都为</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zh-CN" altLang="en-US" sz="2400" i="1" dirty="0" smtClean="0">
                          <a:latin typeface="Cambria Math" panose="02040503050406030204" pitchFamily="18" charset="0"/>
                          <a:ea typeface="楷体" panose="02010609060101010101" pitchFamily="49" charset="-122"/>
                        </a:rPr>
                        <m:t>𝐴</m:t>
                      </m:r>
                      <m:r>
                        <a:rPr lang="zh-CN" altLang="en-US" sz="2400" i="1" dirty="0" smtClean="0">
                          <a:latin typeface="Cambria Math" panose="02040503050406030204" pitchFamily="18" charset="0"/>
                          <a:ea typeface="楷体" panose="02010609060101010101" pitchFamily="49" charset="-122"/>
                        </a:rPr>
                        <m:t> → </m:t>
                      </m:r>
                      <m:r>
                        <a:rPr lang="zh-CN" altLang="en-US" sz="2400" i="1" dirty="0" smtClean="0">
                          <a:latin typeface="Cambria Math" panose="02040503050406030204" pitchFamily="18" charset="0"/>
                          <a:ea typeface="楷体" panose="02010609060101010101" pitchFamily="49" charset="-122"/>
                        </a:rPr>
                        <m:t>𝑎</m:t>
                      </m:r>
                      <m:r>
                        <a:rPr lang="zh-CN" altLang="en-US" sz="2400" i="1" dirty="0" smtClean="0">
                          <a:latin typeface="Cambria Math" panose="02040503050406030204" pitchFamily="18" charset="0"/>
                          <a:ea typeface="楷体" panose="02010609060101010101" pitchFamily="49" charset="-122"/>
                        </a:rPr>
                        <m:t>𝛼</m:t>
                      </m:r>
                    </m:oMath>
                  </m:oMathPara>
                </a14:m>
                <a:endParaRPr lang="zh-CN" altLang="en-US" sz="2400" dirty="0"/>
              </a:p>
              <a:p>
                <a:pPr marL="0" indent="0">
                  <a:buNone/>
                </a:pPr>
                <a:r>
                  <a:rPr lang="zh-CN" altLang="en-US" sz="2400" dirty="0"/>
                  <a:t>其中𝐴是变元</a:t>
                </a:r>
                <a:r>
                  <a:rPr lang="en-US" altLang="zh-CN" sz="2400" dirty="0"/>
                  <a:t>, </a:t>
                </a:r>
                <a:r>
                  <a:rPr lang="zh-CN" altLang="en-US" sz="2400" dirty="0"/>
                  <a:t>𝑎是终结符</a:t>
                </a:r>
                <a:r>
                  <a:rPr lang="en-US" altLang="zh-CN" sz="2400" dirty="0"/>
                  <a:t>, </a:t>
                </a:r>
                <a:r>
                  <a:rPr lang="zh-CN" altLang="en-US" sz="2400" dirty="0"/>
                  <a:t>𝛼是零或多个变元的串。</a:t>
                </a:r>
                <a:endParaRPr lang="en-AU" altLang="zh-CN" sz="2400" dirty="0"/>
              </a:p>
              <a:p>
                <a:endParaRPr lang="en-AU" altLang="zh-CN" sz="2400" dirty="0"/>
              </a:p>
              <a:p>
                <a:r>
                  <a:rPr lang="zh-CN" altLang="en-US" sz="2400" dirty="0"/>
                  <a:t>如果</a:t>
                </a:r>
                <a:r>
                  <a:rPr lang="en-AU" sz="2400" dirty="0">
                    <a:cs typeface="Times New Roman" panose="02020603050405020304" pitchFamily="18" charset="0"/>
                  </a:rPr>
                  <a:t>GNF</a:t>
                </a:r>
                <a:r>
                  <a:rPr lang="zh-CN" altLang="en-US" sz="2400" dirty="0"/>
                  <a:t>格式的</a:t>
                </a:r>
                <a:r>
                  <a:rPr lang="en-US" altLang="zh-CN" sz="2400" dirty="0">
                    <a:cs typeface="Times New Roman" panose="02020603050405020304" pitchFamily="18" charset="0"/>
                  </a:rPr>
                  <a:t>CFG</a:t>
                </a:r>
                <a:r>
                  <a:rPr lang="en-US" altLang="zh-CN" sz="2400" dirty="0"/>
                  <a:t> </a:t>
                </a:r>
                <a14:m>
                  <m:oMath xmlns:m="http://schemas.openxmlformats.org/officeDocument/2006/math">
                    <m:r>
                      <a:rPr lang="en-AU" sz="2400" i="1" dirty="0" smtClean="0">
                        <a:latin typeface="Cambria Math" panose="02040503050406030204" pitchFamily="18" charset="0"/>
                      </a:rPr>
                      <m:t>𝐺</m:t>
                    </m:r>
                    <m:r>
                      <a:rPr lang="en-AU" sz="2400" i="1" dirty="0" smtClean="0">
                        <a:latin typeface="Cambria Math" panose="02040503050406030204" pitchFamily="18" charset="0"/>
                      </a:rPr>
                      <m:t> = (</m:t>
                    </m:r>
                    <m:r>
                      <a:rPr lang="en-AU" sz="2400" i="1" dirty="0" smtClean="0">
                        <a:latin typeface="Cambria Math" panose="02040503050406030204" pitchFamily="18" charset="0"/>
                      </a:rPr>
                      <m:t>𝑉</m:t>
                    </m:r>
                    <m:r>
                      <a:rPr lang="en-AU" sz="2400" i="1" dirty="0" smtClean="0">
                        <a:latin typeface="Cambria Math" panose="02040503050406030204" pitchFamily="18" charset="0"/>
                      </a:rPr>
                      <m:t>, </m:t>
                    </m:r>
                    <m:r>
                      <a:rPr lang="en-AU" sz="2400" i="1" dirty="0" smtClean="0">
                        <a:latin typeface="Cambria Math" panose="02040503050406030204" pitchFamily="18" charset="0"/>
                      </a:rPr>
                      <m:t>𝑇</m:t>
                    </m:r>
                    <m:r>
                      <a:rPr lang="en-AU" sz="2400" i="1" dirty="0" smtClean="0">
                        <a:latin typeface="Cambria Math" panose="02040503050406030204" pitchFamily="18" charset="0"/>
                      </a:rPr>
                      <m:t>, </m:t>
                    </m:r>
                    <m:r>
                      <a:rPr lang="en-AU" sz="2400" i="1" dirty="0" smtClean="0">
                        <a:latin typeface="Cambria Math" panose="02040503050406030204" pitchFamily="18" charset="0"/>
                      </a:rPr>
                      <m:t>𝑃</m:t>
                    </m:r>
                    <m:r>
                      <a:rPr lang="en-AU" sz="2400" i="1" dirty="0" smtClean="0">
                        <a:latin typeface="Cambria Math" panose="02040503050406030204" pitchFamily="18" charset="0"/>
                      </a:rPr>
                      <m:t>, </m:t>
                    </m:r>
                    <m:r>
                      <a:rPr lang="en-AU" sz="2400" i="1" dirty="0" smtClean="0">
                        <a:latin typeface="Cambria Math" panose="02040503050406030204" pitchFamily="18" charset="0"/>
                      </a:rPr>
                      <m:t>𝑆</m:t>
                    </m:r>
                    <m:r>
                      <a:rPr lang="en-AU" sz="2400" i="1" dirty="0" smtClean="0">
                        <a:latin typeface="Cambria Math" panose="02040503050406030204" pitchFamily="18" charset="0"/>
                      </a:rPr>
                      <m:t>), </m:t>
                    </m:r>
                  </m:oMath>
                </a14:m>
                <a:r>
                  <a:rPr lang="zh-CN" altLang="en-US" sz="2400" dirty="0"/>
                  <a:t>那么构造 </a:t>
                </a:r>
                <a:r>
                  <a:rPr lang="en-AU" sz="2400" dirty="0">
                    <a:cs typeface="Times New Roman" panose="02020603050405020304" pitchFamily="18" charset="0"/>
                  </a:rPr>
                  <a:t>PDA</a:t>
                </a:r>
                <a:r>
                  <a:rPr lang="en-AU" sz="2400" dirty="0"/>
                  <a:t> </a:t>
                </a:r>
                <a14:m>
                  <m:oMath xmlns:m="http://schemas.openxmlformats.org/officeDocument/2006/math">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𝑃</m:t>
                        </m:r>
                      </m:e>
                      <m:sub>
                        <m:r>
                          <a:rPr lang="en-AU" sz="2400" b="0" i="1" dirty="0" smtClean="0">
                            <a:latin typeface="Cambria Math" panose="02040503050406030204" pitchFamily="18" charset="0"/>
                          </a:rPr>
                          <m:t>𝑁</m:t>
                        </m:r>
                      </m:sub>
                    </m:sSub>
                    <m:r>
                      <a:rPr lang="en-AU" sz="2400" i="1" dirty="0" smtClean="0">
                        <a:latin typeface="Cambria Math" panose="02040503050406030204" pitchFamily="18" charset="0"/>
                      </a:rPr>
                      <m:t>= ({</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𝑇</m:t>
                    </m:r>
                    <m:r>
                      <a:rPr lang="en-AU" sz="2400" i="1" dirty="0" smtClean="0">
                        <a:latin typeface="Cambria Math" panose="02040503050406030204" pitchFamily="18" charset="0"/>
                      </a:rPr>
                      <m:t>, </m:t>
                    </m:r>
                    <m:r>
                      <a:rPr lang="en-AU" sz="2400" i="1" dirty="0" smtClean="0">
                        <a:latin typeface="Cambria Math" panose="02040503050406030204" pitchFamily="18" charset="0"/>
                      </a:rPr>
                      <m:t>𝑉</m:t>
                    </m:r>
                    <m:r>
                      <a:rPr lang="en-AU" sz="2400" i="1" dirty="0" smtClean="0">
                        <a:latin typeface="Cambria Math" panose="02040503050406030204" pitchFamily="18" charset="0"/>
                      </a:rPr>
                      <m:t>, </m:t>
                    </m:r>
                    <m:r>
                      <a:rPr lang="el-GR" sz="2400" i="1" dirty="0" smtClean="0">
                        <a:latin typeface="Cambria Math" panose="02040503050406030204" pitchFamily="18" charset="0"/>
                      </a:rPr>
                      <m:t>𝛿</m:t>
                    </m:r>
                    <m:r>
                      <a:rPr lang="el-GR" sz="2400" i="1" dirty="0" smtClean="0">
                        <a:latin typeface="Cambria Math" panose="02040503050406030204" pitchFamily="18" charset="0"/>
                      </a:rPr>
                      <m:t>, </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𝑆</m:t>
                    </m:r>
                    <m:r>
                      <a:rPr lang="en-AU" sz="2400" i="1" dirty="0" smtClean="0">
                        <a:latin typeface="Cambria Math" panose="02040503050406030204" pitchFamily="18" charset="0"/>
                      </a:rPr>
                      <m:t>, ∅)</m:t>
                    </m:r>
                  </m:oMath>
                </a14:m>
                <a:r>
                  <a:rPr lang="en-AU" sz="2400" dirty="0"/>
                  <a:t>,</a:t>
                </a:r>
              </a:p>
              <a:p>
                <a:pPr marL="0" indent="0">
                  <a:buNone/>
                </a:pPr>
                <a:r>
                  <a:rPr lang="zh-CN" altLang="en-US" sz="2400" dirty="0"/>
                  <a:t>为每个产生式，定义</a:t>
                </a:r>
                <a14:m>
                  <m:oMath xmlns:m="http://schemas.openxmlformats.org/officeDocument/2006/math">
                    <m:r>
                      <a:rPr lang="zh-CN" altLang="en-US" sz="2400" i="1" smtClean="0">
                        <a:latin typeface="Cambria Math" panose="02040503050406030204" pitchFamily="18" charset="0"/>
                      </a:rPr>
                      <m:t>𝛿</m:t>
                    </m:r>
                  </m:oMath>
                </a14:m>
                <a:r>
                  <a:rPr lang="zh-CN" altLang="en-US" sz="2400" dirty="0"/>
                  <a:t>为</a:t>
                </a:r>
                <a:r>
                  <a:rPr lang="en-AU" altLang="zh-CN" sz="2400" dirty="0"/>
                  <a:t>:</a:t>
                </a:r>
              </a:p>
              <a:p>
                <a:pPr marL="0" indent="0">
                  <a:buNone/>
                </a:pPr>
                <a14:m>
                  <m:oMathPara xmlns:m="http://schemas.openxmlformats.org/officeDocument/2006/math">
                    <m:oMathParaPr>
                      <m:jc m:val="centerGroup"/>
                    </m:oMathParaPr>
                    <m:oMath xmlns:m="http://schemas.openxmlformats.org/officeDocument/2006/math">
                      <m:r>
                        <a:rPr lang="pt-BR" altLang="zh-CN" sz="2400" i="1" dirty="0" smtClean="0">
                          <a:latin typeface="Cambria Math" panose="02040503050406030204" pitchFamily="18" charset="0"/>
                        </a:rPr>
                        <m:t>𝛿</m:t>
                      </m:r>
                      <m:r>
                        <a:rPr lang="pt-BR" altLang="zh-CN" sz="2400" i="1" dirty="0" smtClean="0">
                          <a:latin typeface="Cambria Math" panose="02040503050406030204" pitchFamily="18" charset="0"/>
                        </a:rPr>
                        <m:t>(</m:t>
                      </m:r>
                      <m:r>
                        <a:rPr lang="pt-BR" altLang="zh-CN" sz="2400" i="1" dirty="0" smtClean="0">
                          <a:latin typeface="Cambria Math" panose="02040503050406030204" pitchFamily="18" charset="0"/>
                        </a:rPr>
                        <m:t>𝑞</m:t>
                      </m:r>
                      <m:r>
                        <a:rPr lang="pt-BR" altLang="zh-CN" sz="2400" i="1" dirty="0" smtClean="0">
                          <a:latin typeface="Cambria Math" panose="02040503050406030204" pitchFamily="18" charset="0"/>
                        </a:rPr>
                        <m:t>, </m:t>
                      </m:r>
                      <m:r>
                        <a:rPr lang="pt-BR" altLang="zh-CN" sz="2400" i="1" dirty="0" smtClean="0">
                          <a:latin typeface="Cambria Math" panose="02040503050406030204" pitchFamily="18" charset="0"/>
                        </a:rPr>
                        <m:t>𝑎</m:t>
                      </m:r>
                      <m:r>
                        <a:rPr lang="pt-BR" altLang="zh-CN" sz="2400" i="1" dirty="0" smtClean="0">
                          <a:latin typeface="Cambria Math" panose="02040503050406030204" pitchFamily="18" charset="0"/>
                        </a:rPr>
                        <m:t>, </m:t>
                      </m:r>
                      <m:r>
                        <a:rPr lang="pt-BR" altLang="zh-CN" sz="2400" i="1" dirty="0" smtClean="0">
                          <a:latin typeface="Cambria Math" panose="02040503050406030204" pitchFamily="18" charset="0"/>
                        </a:rPr>
                        <m:t>𝐴</m:t>
                      </m:r>
                      <m:r>
                        <a:rPr lang="pt-BR" altLang="zh-CN" sz="2400" i="1" dirty="0" smtClean="0">
                          <a:latin typeface="Cambria Math" panose="02040503050406030204" pitchFamily="18" charset="0"/>
                        </a:rPr>
                        <m:t>) = {(</m:t>
                      </m:r>
                      <m:r>
                        <a:rPr lang="pt-BR" altLang="zh-CN" sz="2400" i="1" dirty="0" smtClean="0">
                          <a:latin typeface="Cambria Math" panose="02040503050406030204" pitchFamily="18" charset="0"/>
                        </a:rPr>
                        <m:t>𝑞</m:t>
                      </m:r>
                      <m:r>
                        <a:rPr lang="pt-BR" altLang="zh-CN" sz="2400" i="1" dirty="0" smtClean="0">
                          <a:latin typeface="Cambria Math" panose="02040503050406030204" pitchFamily="18" charset="0"/>
                        </a:rPr>
                        <m:t>, </m:t>
                      </m:r>
                      <m:r>
                        <a:rPr lang="pt-BR" altLang="zh-CN" sz="2400" i="1" dirty="0" smtClean="0">
                          <a:latin typeface="Cambria Math" panose="02040503050406030204" pitchFamily="18" charset="0"/>
                        </a:rPr>
                        <m:t>𝛽</m:t>
                      </m:r>
                      <m:r>
                        <a:rPr lang="pt-BR" altLang="zh-CN" sz="2400" i="1" dirty="0" smtClean="0">
                          <a:latin typeface="Cambria Math" panose="02040503050406030204" pitchFamily="18" charset="0"/>
                        </a:rPr>
                        <m:t>) | </m:t>
                      </m:r>
                      <m:r>
                        <a:rPr lang="pt-BR" altLang="zh-CN" sz="2400" i="1" dirty="0" smtClean="0">
                          <a:latin typeface="Cambria Math" panose="02040503050406030204" pitchFamily="18" charset="0"/>
                        </a:rPr>
                        <m:t>𝐴</m:t>
                      </m:r>
                      <m:r>
                        <a:rPr lang="pt-BR" altLang="zh-CN" sz="2400" i="1" dirty="0" smtClean="0">
                          <a:latin typeface="Cambria Math" panose="02040503050406030204" pitchFamily="18" charset="0"/>
                        </a:rPr>
                        <m:t> → </m:t>
                      </m:r>
                      <m:r>
                        <a:rPr lang="pt-BR" altLang="zh-CN" sz="2400" i="1" dirty="0" smtClean="0">
                          <a:latin typeface="Cambria Math" panose="02040503050406030204" pitchFamily="18" charset="0"/>
                        </a:rPr>
                        <m:t>𝑎</m:t>
                      </m:r>
                      <m:r>
                        <a:rPr lang="pt-BR" altLang="zh-CN" sz="2400" i="1" dirty="0" smtClean="0">
                          <a:latin typeface="Cambria Math" panose="02040503050406030204" pitchFamily="18" charset="0"/>
                        </a:rPr>
                        <m:t>𝛽</m:t>
                      </m:r>
                      <m:r>
                        <a:rPr lang="pt-BR" altLang="zh-CN" sz="2400" i="1" dirty="0" smtClean="0">
                          <a:latin typeface="Cambria Math" panose="02040503050406030204" pitchFamily="18" charset="0"/>
                        </a:rPr>
                        <m:t> ∈ </m:t>
                      </m:r>
                      <m:r>
                        <a:rPr lang="pt-BR" altLang="zh-CN" sz="2400" i="1" dirty="0" smtClean="0">
                          <a:latin typeface="Cambria Math" panose="02040503050406030204" pitchFamily="18" charset="0"/>
                        </a:rPr>
                        <m:t>𝑃</m:t>
                      </m:r>
                      <m:r>
                        <a:rPr lang="pt-BR" altLang="zh-CN" sz="2400" i="1" dirty="0" smtClean="0">
                          <a:latin typeface="Cambria Math" panose="02040503050406030204" pitchFamily="18" charset="0"/>
                        </a:rPr>
                        <m:t>}</m:t>
                      </m:r>
                    </m:oMath>
                  </m:oMathPara>
                </a14:m>
                <a:endParaRPr lang="en-AU" altLang="zh-CN" sz="2400" dirty="0"/>
              </a:p>
              <a:p>
                <a:pPr marL="0" indent="0">
                  <a:buNone/>
                </a:pP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757177" y="1299258"/>
                <a:ext cx="8229600" cy="4525963"/>
              </a:xfrm>
              <a:blipFill rotWithShape="1">
                <a:blip r:embed="rId3"/>
                <a:stretch>
                  <a:fillRect l="-3" t="-1" r="3"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77</a:t>
            </a:fld>
            <a:endParaRPr lang="en-AU"/>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t>78</a:t>
            </a:fld>
            <a:endParaRPr lang="en-AU"/>
          </a:p>
        </p:txBody>
      </p:sp>
      <mc:AlternateContent xmlns:mc="http://schemas.openxmlformats.org/markup-compatibility/2006" xmlns:a14="http://schemas.microsoft.com/office/drawing/2010/main">
        <mc:Choice Requires="a14">
          <p:sp>
            <p:nvSpPr>
              <p:cNvPr id="7" name="文本框 6"/>
              <p:cNvSpPr txBox="1"/>
              <p:nvPr>
                <p:custDataLst>
                  <p:tags r:id="rId2"/>
                </p:custDataLst>
              </p:nvPr>
            </p:nvSpPr>
            <p:spPr>
              <a:xfrm>
                <a:off x="254000" y="635000"/>
                <a:ext cx="8763000" cy="2143125"/>
              </a:xfrm>
              <a:prstGeom prst="rect">
                <a:avLst/>
              </a:prstGeom>
              <a:noFill/>
            </p:spPr>
            <p:txBody>
              <a:bodyPr vert="horz" wrap="square" rtlCol="0" anchor="ctr" anchorCtr="0">
                <a:noAutofit/>
              </a:bodyPr>
              <a:lstStyle/>
              <a:p>
                <a:r>
                  <a:rPr lang="zh-CN" altLang="en-US" sz="4000" dirty="0"/>
                  <a:t>例</a:t>
                </a:r>
                <a:r>
                  <a:rPr lang="en-AU" altLang="zh-CN" sz="4000" dirty="0"/>
                  <a:t>:</a:t>
                </a:r>
                <a:r>
                  <a:rPr lang="zh-CN" altLang="en-US" sz="4000" dirty="0"/>
                  <a:t>文法 </a:t>
                </a:r>
                <a14:m>
                  <m:oMath xmlns:m="http://schemas.openxmlformats.org/officeDocument/2006/math">
                    <m:r>
                      <a:rPr lang="en-AU" altLang="zh-CN" sz="4000" i="1" dirty="0" smtClean="0">
                        <a:latin typeface="Cambria Math" panose="02040503050406030204" pitchFamily="18" charset="0"/>
                      </a:rPr>
                      <m:t>𝑆</m:t>
                    </m:r>
                    <m:r>
                      <a:rPr lang="en-AU" altLang="zh-CN" sz="4000" i="1" dirty="0" smtClean="0">
                        <a:latin typeface="Cambria Math" panose="02040503050406030204" pitchFamily="18" charset="0"/>
                      </a:rPr>
                      <m:t> → </m:t>
                    </m:r>
                    <m:r>
                      <a:rPr lang="en-AU" altLang="zh-CN" sz="4000" i="1" dirty="0" err="1" smtClean="0">
                        <a:latin typeface="Cambria Math" panose="02040503050406030204" pitchFamily="18" charset="0"/>
                      </a:rPr>
                      <m:t>𝑎𝐴𝐴</m:t>
                    </m:r>
                    <m:r>
                      <a:rPr lang="en-AU" altLang="zh-CN" sz="4000" i="1" dirty="0" smtClean="0">
                        <a:latin typeface="Cambria Math" panose="02040503050406030204" pitchFamily="18" charset="0"/>
                      </a:rPr>
                      <m:t>, </m:t>
                    </m:r>
                    <m:r>
                      <a:rPr lang="en-AU" altLang="zh-CN" sz="4000" i="1" dirty="0" smtClean="0">
                        <a:latin typeface="Cambria Math" panose="02040503050406030204" pitchFamily="18" charset="0"/>
                      </a:rPr>
                      <m:t>𝐴</m:t>
                    </m:r>
                    <m:r>
                      <a:rPr lang="en-AU" altLang="zh-CN" sz="4000" i="1" dirty="0" smtClean="0">
                        <a:latin typeface="Cambria Math" panose="02040503050406030204" pitchFamily="18" charset="0"/>
                      </a:rPr>
                      <m:t> → </m:t>
                    </m:r>
                    <m:r>
                      <a:rPr lang="en-AU" altLang="zh-CN" sz="4000" i="1" dirty="0" err="1" smtClean="0">
                        <a:latin typeface="Cambria Math" panose="02040503050406030204" pitchFamily="18" charset="0"/>
                      </a:rPr>
                      <m:t>𝑎𝑆</m:t>
                    </m:r>
                    <m:r>
                      <a:rPr lang="en-AU" altLang="zh-CN" sz="4000" i="1" dirty="0" smtClean="0">
                        <a:latin typeface="Cambria Math" panose="02040503050406030204" pitchFamily="18" charset="0"/>
                      </a:rPr>
                      <m:t> | </m:t>
                    </m:r>
                    <m:r>
                      <a:rPr lang="en-AU" altLang="zh-CN" sz="4000" i="1" dirty="0" err="1" smtClean="0">
                        <a:latin typeface="Cambria Math" panose="02040503050406030204" pitchFamily="18" charset="0"/>
                      </a:rPr>
                      <m:t>𝑏𝑆</m:t>
                    </m:r>
                    <m:r>
                      <a:rPr lang="en-AU" altLang="zh-CN" sz="4000" i="1" dirty="0" smtClean="0">
                        <a:latin typeface="Cambria Math" panose="02040503050406030204" pitchFamily="18" charset="0"/>
                      </a:rPr>
                      <m:t> | </m:t>
                    </m:r>
                    <m:r>
                      <a:rPr lang="en-AU" altLang="zh-CN" sz="4000" i="1" dirty="0" smtClean="0">
                        <a:latin typeface="Cambria Math" panose="02040503050406030204" pitchFamily="18" charset="0"/>
                      </a:rPr>
                      <m:t>𝑎</m:t>
                    </m:r>
                    <m:r>
                      <a:rPr lang="en-AU" altLang="zh-CN" sz="4000" i="1" dirty="0" smtClean="0">
                        <a:latin typeface="Cambria Math" panose="02040503050406030204" pitchFamily="18" charset="0"/>
                      </a:rPr>
                      <m:t> </m:t>
                    </m:r>
                  </m:oMath>
                </a14:m>
                <a:r>
                  <a:rPr lang="zh-CN" altLang="en-US" sz="4000" dirty="0"/>
                  <a:t>为</a:t>
                </a:r>
                <a:r>
                  <a:rPr lang="en-AU" altLang="zh-CN" sz="4000" dirty="0">
                    <a:latin typeface="Times New Roman" panose="02020603050405020304" pitchFamily="18" charset="0"/>
                    <a:cs typeface="Times New Roman" panose="02020603050405020304" pitchFamily="18" charset="0"/>
                  </a:rPr>
                  <a:t>GNF</a:t>
                </a:r>
                <a:r>
                  <a:rPr lang="zh-CN" altLang="en-US" sz="4000" dirty="0"/>
                  <a:t>格式</a:t>
                </a:r>
                <a:r>
                  <a:rPr lang="en-US" altLang="zh-CN" sz="4000" dirty="0"/>
                  <a:t>, </a:t>
                </a:r>
                <a:r>
                  <a:rPr lang="zh-CN" altLang="en-US" sz="4000" dirty="0"/>
                  <a:t>求构造等价的</a:t>
                </a:r>
                <a:r>
                  <a:rPr lang="en-AU" altLang="zh-CN" sz="4000" dirty="0">
                    <a:latin typeface="Times New Roman" panose="02020603050405020304" pitchFamily="18" charset="0"/>
                    <a:cs typeface="Times New Roman" panose="02020603050405020304" pitchFamily="18" charset="0"/>
                  </a:rPr>
                  <a:t>PDA</a:t>
                </a:r>
                <a:r>
                  <a:rPr lang="zh-CN" altLang="en-US" sz="4000" dirty="0">
                    <a:latin typeface="Times New Roman" panose="02020603050405020304" pitchFamily="18" charset="0"/>
                    <a:cs typeface="Times New Roman" panose="02020603050405020304" pitchFamily="18" charset="0"/>
                  </a:rPr>
                  <a:t>。</a:t>
                </a:r>
                <a:endParaRPr lang="en-AU" altLang="zh-CN" sz="4000" dirty="0">
                  <a:latin typeface="Times New Roman" panose="02020603050405020304" pitchFamily="18" charset="0"/>
                  <a:cs typeface="Times New Roman" panose="020206030504050203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11"/>
                </p:custDataLst>
              </p:nvPr>
            </p:nvSpPr>
            <p:spPr>
              <a:xfrm>
                <a:off x="254000" y="635000"/>
                <a:ext cx="8763000" cy="2143125"/>
              </a:xfrm>
              <a:prstGeom prst="rect">
                <a:avLst/>
              </a:prstGeom>
              <a:blipFill rotWithShape="1">
                <a:blip r:embed="rId12"/>
                <a:stretch>
                  <a:fillRect/>
                </a:stretch>
              </a:blipFill>
            </p:spPr>
            <p:txBody>
              <a:bodyPr/>
              <a:lstStyle/>
              <a:p>
                <a:r>
                  <a:rPr lang="zh-CN" altLang="en-US">
                    <a:noFill/>
                  </a:rPr>
                  <a:t> </a:t>
                </a:r>
              </a:p>
            </p:txBody>
          </p:sp>
        </mc:Fallback>
      </mc:AlternateContent>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4000" dirty="0"/>
              <a:t>构造与</a:t>
            </a:r>
            <a:r>
              <a:rPr lang="en-AU" altLang="zh-CN" sz="4000" dirty="0">
                <a:latin typeface="Times New Roman" panose="02020603050405020304" pitchFamily="18" charset="0"/>
                <a:cs typeface="Times New Roman" panose="02020603050405020304" pitchFamily="18" charset="0"/>
              </a:rPr>
              <a:t>GNF</a:t>
            </a:r>
            <a:r>
              <a:rPr lang="zh-CN" altLang="en-US" sz="4000" dirty="0"/>
              <a:t>格式文法等价的</a:t>
            </a:r>
            <a:r>
              <a:rPr lang="en-AU" altLang="zh-CN" sz="4000" dirty="0">
                <a:latin typeface="Times New Roman" panose="02020603050405020304" pitchFamily="18" charset="0"/>
                <a:cs typeface="Times New Roman" panose="02020603050405020304" pitchFamily="18" charset="0"/>
              </a:rPr>
              <a:t>PDA</a:t>
            </a:r>
            <a:endParaRPr lang="en-AU"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187926"/>
                <a:ext cx="8229600" cy="4525963"/>
              </a:xfrm>
            </p:spPr>
            <p:txBody>
              <a:bodyPr/>
              <a:lstStyle/>
              <a:p>
                <a:r>
                  <a:rPr lang="zh-CN" altLang="en-US" dirty="0"/>
                  <a:t>例</a:t>
                </a:r>
                <a:r>
                  <a:rPr lang="en-AU" altLang="zh-CN" dirty="0"/>
                  <a:t>:</a:t>
                </a:r>
                <a:r>
                  <a:rPr lang="zh-CN" altLang="en-US" dirty="0"/>
                  <a:t>文法 </a:t>
                </a:r>
                <a14:m>
                  <m:oMath xmlns:m="http://schemas.openxmlformats.org/officeDocument/2006/math">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 </m:t>
                    </m:r>
                    <m:r>
                      <a:rPr lang="en-AU" altLang="zh-CN" i="1" dirty="0" err="1" smtClean="0">
                        <a:latin typeface="Cambria Math" panose="02040503050406030204" pitchFamily="18" charset="0"/>
                      </a:rPr>
                      <m:t>𝑎𝐴𝐴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 </m:t>
                    </m:r>
                    <m:r>
                      <a:rPr lang="en-AU" altLang="zh-CN" i="1" dirty="0" err="1" smtClean="0">
                        <a:latin typeface="Cambria Math" panose="02040503050406030204" pitchFamily="18" charset="0"/>
                      </a:rPr>
                      <m:t>𝑎𝑆</m:t>
                    </m:r>
                    <m:r>
                      <a:rPr lang="en-AU" altLang="zh-CN" i="1" dirty="0" smtClean="0">
                        <a:latin typeface="Cambria Math" panose="02040503050406030204" pitchFamily="18" charset="0"/>
                      </a:rPr>
                      <m:t> | </m:t>
                    </m:r>
                    <m:r>
                      <a:rPr lang="en-AU" altLang="zh-CN" i="1" dirty="0" err="1" smtClean="0">
                        <a:latin typeface="Cambria Math" panose="02040503050406030204" pitchFamily="18" charset="0"/>
                      </a:rPr>
                      <m:t>𝑏𝑆</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𝑎</m:t>
                    </m:r>
                    <m:r>
                      <a:rPr lang="en-AU" altLang="zh-CN" i="1" dirty="0" smtClean="0">
                        <a:latin typeface="Cambria Math" panose="02040503050406030204" pitchFamily="18" charset="0"/>
                      </a:rPr>
                      <m:t> </m:t>
                    </m:r>
                  </m:oMath>
                </a14:m>
                <a:r>
                  <a:rPr lang="zh-CN" altLang="en-US" dirty="0"/>
                  <a:t>为</a:t>
                </a:r>
                <a:r>
                  <a:rPr lang="en-AU" altLang="zh-CN" dirty="0">
                    <a:latin typeface="Times New Roman" panose="02020603050405020304" pitchFamily="18" charset="0"/>
                    <a:cs typeface="Times New Roman" panose="02020603050405020304" pitchFamily="18" charset="0"/>
                  </a:rPr>
                  <a:t>GNF</a:t>
                </a:r>
                <a:r>
                  <a:rPr lang="zh-CN" altLang="en-US" dirty="0"/>
                  <a:t>格式</a:t>
                </a:r>
                <a:r>
                  <a:rPr lang="en-US" altLang="zh-CN" dirty="0"/>
                  <a:t>, </a:t>
                </a:r>
                <a:r>
                  <a:rPr lang="zh-CN" altLang="en-US" dirty="0"/>
                  <a:t>构造等价的</a:t>
                </a:r>
                <a:r>
                  <a:rPr lang="en-AU" altLang="zh-CN"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a:t>
                </a:r>
                <a:endParaRPr lang="en-AU"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187926"/>
                <a:ext cx="8229600" cy="4525963"/>
              </a:xfrm>
              <a:blipFill rotWithShape="1">
                <a:blip r:embed="rId2"/>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79</a:t>
            </a:fld>
            <a:endParaRPr lang="en-AU"/>
          </a:p>
        </p:txBody>
      </p:sp>
      <mc:AlternateContent xmlns:mc="http://schemas.openxmlformats.org/markup-compatibility/2006" xmlns:a14="http://schemas.microsoft.com/office/drawing/2010/main">
        <mc:Choice Requires="a14">
          <p:sp>
            <p:nvSpPr>
              <p:cNvPr id="7" name="TextBox 6"/>
              <p:cNvSpPr txBox="1"/>
              <p:nvPr/>
            </p:nvSpPr>
            <p:spPr>
              <a:xfrm>
                <a:off x="1400537" y="2378962"/>
                <a:ext cx="3763736" cy="646331"/>
              </a:xfrm>
              <a:prstGeom prst="rect">
                <a:avLst/>
              </a:prstGeom>
              <a:solidFill>
                <a:srgbClr val="FFC000"/>
              </a:solidFill>
            </p:spPr>
            <p:txBody>
              <a:bodyPr wrap="square">
                <a:spAutoFit/>
              </a:bodyPr>
              <a:lstStyle/>
              <a:p>
                <a:pPr marL="0" indent="0">
                  <a:buNone/>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注：</a:t>
                </a:r>
                <a:r>
                  <a:rPr lang="pt-BR" altLang="zh-CN" dirty="0">
                    <a:latin typeface="Times New Roman" panose="02020603050405020304" pitchFamily="18" charset="0"/>
                    <a:ea typeface="楷体" panose="02010609060101010101" pitchFamily="49" charset="-122"/>
                    <a:cs typeface="Times New Roman" panose="02020603050405020304" pitchFamily="18" charset="0"/>
                  </a:rPr>
                  <a:t>GNF</a:t>
                </a:r>
                <a:r>
                  <a:rPr lang="zh-CN" altLang="en-US" dirty="0">
                    <a:latin typeface="楷体" panose="02010609060101010101" pitchFamily="49" charset="-122"/>
                    <a:ea typeface="楷体" panose="02010609060101010101" pitchFamily="49" charset="-122"/>
                  </a:rPr>
                  <a:t>文法对应</a:t>
                </a:r>
                <a:r>
                  <a:rPr lang="en-AU" altLang="zh-CN" dirty="0">
                    <a:latin typeface="Times New Roman" panose="02020603050405020304" pitchFamily="18" charset="0"/>
                    <a:ea typeface="楷体" panose="02010609060101010101" pitchFamily="49" charset="-122"/>
                    <a:cs typeface="Times New Roman" panose="02020603050405020304" pitchFamily="18" charset="0"/>
                  </a:rPr>
                  <a:t>PDA</a:t>
                </a:r>
                <a:r>
                  <a:rPr lang="zh-CN" altLang="en-US" dirty="0">
                    <a:latin typeface="楷体" panose="02010609060101010101" pitchFamily="49" charset="-122"/>
                    <a:ea typeface="楷体" panose="02010609060101010101" pitchFamily="49" charset="-122"/>
                  </a:rPr>
                  <a:t>的</a:t>
                </a:r>
                <a14:m>
                  <m:oMath xmlns:m="http://schemas.openxmlformats.org/officeDocument/2006/math">
                    <m:r>
                      <a:rPr lang="pt-BR" altLang="zh-CN" sz="1800" i="1" dirty="0" smtClean="0">
                        <a:latin typeface="Cambria Math" panose="02040503050406030204" pitchFamily="18" charset="0"/>
                      </a:rPr>
                      <m:t>𝛿</m:t>
                    </m:r>
                  </m:oMath>
                </a14:m>
                <a:r>
                  <a:rPr lang="zh-CN" altLang="en-US" dirty="0">
                    <a:latin typeface="楷体" panose="02010609060101010101" pitchFamily="49" charset="-122"/>
                    <a:ea typeface="楷体" panose="02010609060101010101" pitchFamily="49" charset="-122"/>
                  </a:rPr>
                  <a:t>函数</a:t>
                </a:r>
                <a:r>
                  <a:rPr lang="zh-CN" altLang="en-US" i="1" dirty="0">
                    <a:latin typeface="Cambria Math" panose="02040503050406030204" pitchFamily="18" charset="0"/>
                  </a:rPr>
                  <a:t>：</a:t>
                </a:r>
                <a:endParaRPr lang="pt-BR" altLang="zh-CN" sz="1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pt-BR" altLang="zh-CN" sz="1800" i="1" dirty="0" smtClean="0">
                          <a:latin typeface="Cambria Math" panose="02040503050406030204" pitchFamily="18" charset="0"/>
                        </a:rPr>
                        <m:t>𝛿</m:t>
                      </m:r>
                      <m:r>
                        <a:rPr lang="pt-BR" altLang="zh-CN" sz="1800" i="1" dirty="0" smtClean="0">
                          <a:latin typeface="Cambria Math" panose="02040503050406030204" pitchFamily="18" charset="0"/>
                        </a:rPr>
                        <m:t>(</m:t>
                      </m:r>
                      <m:r>
                        <a:rPr lang="pt-BR" altLang="zh-CN" sz="1800" i="1" dirty="0" smtClean="0">
                          <a:latin typeface="Cambria Math" panose="02040503050406030204" pitchFamily="18" charset="0"/>
                        </a:rPr>
                        <m:t>𝑞</m:t>
                      </m:r>
                      <m:r>
                        <a:rPr lang="pt-BR" altLang="zh-CN" sz="1800" i="1" dirty="0" smtClean="0">
                          <a:latin typeface="Cambria Math" panose="02040503050406030204" pitchFamily="18" charset="0"/>
                        </a:rPr>
                        <m:t>, </m:t>
                      </m:r>
                      <m:r>
                        <a:rPr lang="pt-BR" altLang="zh-CN" sz="1800" i="1" dirty="0" smtClean="0">
                          <a:latin typeface="Cambria Math" panose="02040503050406030204" pitchFamily="18" charset="0"/>
                        </a:rPr>
                        <m:t>𝑎</m:t>
                      </m:r>
                      <m:r>
                        <a:rPr lang="pt-BR" altLang="zh-CN" sz="1800" i="1" dirty="0" smtClean="0">
                          <a:latin typeface="Cambria Math" panose="02040503050406030204" pitchFamily="18" charset="0"/>
                        </a:rPr>
                        <m:t>, </m:t>
                      </m:r>
                      <m:r>
                        <a:rPr lang="pt-BR" altLang="zh-CN" sz="1800" i="1" dirty="0" smtClean="0">
                          <a:latin typeface="Cambria Math" panose="02040503050406030204" pitchFamily="18" charset="0"/>
                        </a:rPr>
                        <m:t>𝐴</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𝑞</m:t>
                      </m:r>
                      <m:r>
                        <a:rPr lang="pt-BR" altLang="zh-CN" sz="1800" i="1" dirty="0" smtClean="0">
                          <a:latin typeface="Cambria Math" panose="02040503050406030204" pitchFamily="18" charset="0"/>
                        </a:rPr>
                        <m:t>, </m:t>
                      </m:r>
                      <m:r>
                        <a:rPr lang="pt-BR" altLang="zh-CN" sz="1800" i="1" dirty="0" smtClean="0">
                          <a:latin typeface="Cambria Math" panose="02040503050406030204" pitchFamily="18" charset="0"/>
                        </a:rPr>
                        <m:t>𝛽</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𝐴</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𝑎</m:t>
                      </m:r>
                      <m:r>
                        <a:rPr lang="pt-BR" altLang="zh-CN" sz="1800" i="1" dirty="0" smtClean="0">
                          <a:latin typeface="Cambria Math" panose="02040503050406030204" pitchFamily="18" charset="0"/>
                        </a:rPr>
                        <m:t>𝛽</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𝑃</m:t>
                      </m:r>
                      <m:r>
                        <a:rPr lang="pt-BR" altLang="zh-CN" sz="1800" i="1" dirty="0" smtClean="0">
                          <a:latin typeface="Cambria Math" panose="02040503050406030204" pitchFamily="18" charset="0"/>
                        </a:rPr>
                        <m:t>}</m:t>
                      </m:r>
                    </m:oMath>
                  </m:oMathPara>
                </a14:m>
                <a:endParaRPr lang="en-AU" altLang="zh-CN" sz="1800" dirty="0"/>
              </a:p>
            </p:txBody>
          </p:sp>
        </mc:Choice>
        <mc:Fallback xmlns="">
          <p:sp>
            <p:nvSpPr>
              <p:cNvPr id="7" name="TextBox 6"/>
              <p:cNvSpPr txBox="1">
                <a:spLocks noRot="1" noChangeAspect="1" noMove="1" noResize="1" noEditPoints="1" noAdjustHandles="1" noChangeArrowheads="1" noChangeShapeType="1" noTextEdit="1"/>
              </p:cNvSpPr>
              <p:nvPr/>
            </p:nvSpPr>
            <p:spPr>
              <a:xfrm>
                <a:off x="1400537" y="2378962"/>
                <a:ext cx="3763736" cy="646331"/>
              </a:xfrm>
              <a:prstGeom prst="rect">
                <a:avLst/>
              </a:prstGeom>
              <a:blipFill rotWithShape="1">
                <a:blip r:embed="rId3"/>
                <a:stretch>
                  <a:fillRect l="-10" t="-39" r="12" b="-34363"/>
                </a:stretch>
              </a:blipFill>
            </p:spPr>
            <p:txBody>
              <a:bodyPr/>
              <a:lstStyle/>
              <a:p>
                <a:r>
                  <a:rPr lang="zh-CN" altLang="en-US">
                    <a:noFill/>
                  </a:rPr>
                  <a:t> </a:t>
                </a:r>
              </a:p>
            </p:txBody>
          </p:sp>
        </mc:Fallback>
      </mc:AlternateContent>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4000" dirty="0"/>
              <a:t>构造与</a:t>
            </a:r>
            <a:r>
              <a:rPr lang="en-AU" altLang="zh-CN" sz="4000" dirty="0">
                <a:latin typeface="Times New Roman" panose="02020603050405020304" pitchFamily="18" charset="0"/>
                <a:cs typeface="Times New Roman" panose="02020603050405020304" pitchFamily="18" charset="0"/>
              </a:rPr>
              <a:t>GNF</a:t>
            </a:r>
            <a:r>
              <a:rPr lang="zh-CN" altLang="en-US" sz="4000" dirty="0"/>
              <a:t>格式文法等价的</a:t>
            </a:r>
            <a:r>
              <a:rPr lang="en-AU" altLang="zh-CN" sz="4000" dirty="0">
                <a:latin typeface="Times New Roman" panose="02020603050405020304" pitchFamily="18" charset="0"/>
                <a:cs typeface="Times New Roman" panose="02020603050405020304" pitchFamily="18" charset="0"/>
              </a:rPr>
              <a:t>PDA</a:t>
            </a:r>
            <a:endParaRPr lang="en-AU"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187926"/>
                <a:ext cx="8229600" cy="4525963"/>
              </a:xfrm>
            </p:spPr>
            <p:txBody>
              <a:bodyPr/>
              <a:lstStyle/>
              <a:p>
                <a:r>
                  <a:rPr lang="zh-CN" altLang="en-US" dirty="0"/>
                  <a:t>例</a:t>
                </a:r>
                <a:r>
                  <a:rPr lang="en-AU" altLang="zh-CN" dirty="0"/>
                  <a:t>:</a:t>
                </a:r>
                <a:r>
                  <a:rPr lang="zh-CN" altLang="en-US" dirty="0"/>
                  <a:t>文法 </a:t>
                </a:r>
                <a14:m>
                  <m:oMath xmlns:m="http://schemas.openxmlformats.org/officeDocument/2006/math">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 </m:t>
                    </m:r>
                    <m:r>
                      <a:rPr lang="en-AU" altLang="zh-CN" i="1" dirty="0" err="1" smtClean="0">
                        <a:latin typeface="Cambria Math" panose="02040503050406030204" pitchFamily="18" charset="0"/>
                      </a:rPr>
                      <m:t>𝑎𝐴𝐴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 </m:t>
                    </m:r>
                    <m:r>
                      <a:rPr lang="en-AU" altLang="zh-CN" i="1" dirty="0" err="1" smtClean="0">
                        <a:latin typeface="Cambria Math" panose="02040503050406030204" pitchFamily="18" charset="0"/>
                      </a:rPr>
                      <m:t>𝑎𝑆</m:t>
                    </m:r>
                    <m:r>
                      <a:rPr lang="en-AU" altLang="zh-CN" i="1" dirty="0" smtClean="0">
                        <a:latin typeface="Cambria Math" panose="02040503050406030204" pitchFamily="18" charset="0"/>
                      </a:rPr>
                      <m:t> | </m:t>
                    </m:r>
                    <m:r>
                      <a:rPr lang="en-AU" altLang="zh-CN" i="1" dirty="0" err="1" smtClean="0">
                        <a:latin typeface="Cambria Math" panose="02040503050406030204" pitchFamily="18" charset="0"/>
                      </a:rPr>
                      <m:t>𝑏𝑆</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𝑎</m:t>
                    </m:r>
                    <m:r>
                      <a:rPr lang="en-AU" altLang="zh-CN" i="1" dirty="0" smtClean="0">
                        <a:latin typeface="Cambria Math" panose="02040503050406030204" pitchFamily="18" charset="0"/>
                      </a:rPr>
                      <m:t> </m:t>
                    </m:r>
                  </m:oMath>
                </a14:m>
                <a:r>
                  <a:rPr lang="zh-CN" altLang="en-US" dirty="0"/>
                  <a:t>为</a:t>
                </a:r>
                <a:r>
                  <a:rPr lang="en-AU" altLang="zh-CN" dirty="0">
                    <a:latin typeface="Times New Roman" panose="02020603050405020304" pitchFamily="18" charset="0"/>
                    <a:cs typeface="Times New Roman" panose="02020603050405020304" pitchFamily="18" charset="0"/>
                  </a:rPr>
                  <a:t>GNF</a:t>
                </a:r>
                <a:r>
                  <a:rPr lang="zh-CN" altLang="en-US" dirty="0"/>
                  <a:t>格式</a:t>
                </a:r>
                <a:r>
                  <a:rPr lang="en-US" altLang="zh-CN" dirty="0"/>
                  <a:t>, </a:t>
                </a:r>
                <a:r>
                  <a:rPr lang="zh-CN" altLang="en-US" dirty="0"/>
                  <a:t>构造等价的</a:t>
                </a:r>
                <a:r>
                  <a:rPr lang="en-AU" altLang="zh-CN"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a:t>
                </a:r>
                <a:endParaRPr lang="en-AU"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187926"/>
                <a:ext cx="8229600" cy="4525963"/>
              </a:xfrm>
              <a:blipFill rotWithShape="1">
                <a:blip r:embed="rId2"/>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80</a:t>
            </a:fld>
            <a:endParaRPr lang="en-AU"/>
          </a:p>
        </p:txBody>
      </p:sp>
      <p:pic>
        <p:nvPicPr>
          <p:cNvPr id="6" name="Picture 5" descr="Diagram, text&#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52609" y="3432250"/>
            <a:ext cx="3238781" cy="1874682"/>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1400537" y="2378962"/>
                <a:ext cx="3763736" cy="646331"/>
              </a:xfrm>
              <a:prstGeom prst="rect">
                <a:avLst/>
              </a:prstGeom>
              <a:solidFill>
                <a:srgbClr val="FFC000"/>
              </a:solidFill>
            </p:spPr>
            <p:txBody>
              <a:bodyPr wrap="square">
                <a:spAutoFit/>
              </a:bodyPr>
              <a:lstStyle/>
              <a:p>
                <a:pPr marL="0" indent="0">
                  <a:buNone/>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注：</a:t>
                </a:r>
                <a:r>
                  <a:rPr lang="pt-BR" altLang="zh-CN" dirty="0">
                    <a:latin typeface="Times New Roman" panose="02020603050405020304" pitchFamily="18" charset="0"/>
                    <a:ea typeface="楷体" panose="02010609060101010101" pitchFamily="49" charset="-122"/>
                    <a:cs typeface="Times New Roman" panose="02020603050405020304" pitchFamily="18" charset="0"/>
                  </a:rPr>
                  <a:t>GNF</a:t>
                </a:r>
                <a:r>
                  <a:rPr lang="zh-CN" altLang="en-US" dirty="0">
                    <a:latin typeface="楷体" panose="02010609060101010101" pitchFamily="49" charset="-122"/>
                    <a:ea typeface="楷体" panose="02010609060101010101" pitchFamily="49" charset="-122"/>
                  </a:rPr>
                  <a:t>文法对应</a:t>
                </a:r>
                <a:r>
                  <a:rPr lang="en-AU" altLang="zh-CN" dirty="0">
                    <a:latin typeface="Times New Roman" panose="02020603050405020304" pitchFamily="18" charset="0"/>
                    <a:ea typeface="楷体" panose="02010609060101010101" pitchFamily="49" charset="-122"/>
                    <a:cs typeface="Times New Roman" panose="02020603050405020304" pitchFamily="18" charset="0"/>
                  </a:rPr>
                  <a:t>PDA</a:t>
                </a:r>
                <a:r>
                  <a:rPr lang="zh-CN" altLang="en-US" dirty="0">
                    <a:latin typeface="楷体" panose="02010609060101010101" pitchFamily="49" charset="-122"/>
                    <a:ea typeface="楷体" panose="02010609060101010101" pitchFamily="49" charset="-122"/>
                  </a:rPr>
                  <a:t>的</a:t>
                </a:r>
                <a14:m>
                  <m:oMath xmlns:m="http://schemas.openxmlformats.org/officeDocument/2006/math">
                    <m:r>
                      <a:rPr lang="pt-BR" altLang="zh-CN" sz="1800" i="1" dirty="0" smtClean="0">
                        <a:latin typeface="Cambria Math" panose="02040503050406030204" pitchFamily="18" charset="0"/>
                      </a:rPr>
                      <m:t>𝛿</m:t>
                    </m:r>
                  </m:oMath>
                </a14:m>
                <a:r>
                  <a:rPr lang="zh-CN" altLang="en-US" dirty="0">
                    <a:latin typeface="楷体" panose="02010609060101010101" pitchFamily="49" charset="-122"/>
                    <a:ea typeface="楷体" panose="02010609060101010101" pitchFamily="49" charset="-122"/>
                  </a:rPr>
                  <a:t>函数</a:t>
                </a:r>
                <a:r>
                  <a:rPr lang="zh-CN" altLang="en-US" i="1" dirty="0">
                    <a:latin typeface="Cambria Math" panose="02040503050406030204" pitchFamily="18" charset="0"/>
                  </a:rPr>
                  <a:t>：</a:t>
                </a:r>
                <a:endParaRPr lang="pt-BR" altLang="zh-CN" sz="1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pt-BR" altLang="zh-CN" sz="1800" i="1" dirty="0" smtClean="0">
                          <a:latin typeface="Cambria Math" panose="02040503050406030204" pitchFamily="18" charset="0"/>
                        </a:rPr>
                        <m:t>𝛿</m:t>
                      </m:r>
                      <m:r>
                        <a:rPr lang="pt-BR" altLang="zh-CN" sz="1800" i="1" dirty="0" smtClean="0">
                          <a:latin typeface="Cambria Math" panose="02040503050406030204" pitchFamily="18" charset="0"/>
                        </a:rPr>
                        <m:t>(</m:t>
                      </m:r>
                      <m:r>
                        <a:rPr lang="pt-BR" altLang="zh-CN" sz="1800" i="1" dirty="0" smtClean="0">
                          <a:latin typeface="Cambria Math" panose="02040503050406030204" pitchFamily="18" charset="0"/>
                        </a:rPr>
                        <m:t>𝑞</m:t>
                      </m:r>
                      <m:r>
                        <a:rPr lang="pt-BR" altLang="zh-CN" sz="1800" i="1" dirty="0" smtClean="0">
                          <a:latin typeface="Cambria Math" panose="02040503050406030204" pitchFamily="18" charset="0"/>
                        </a:rPr>
                        <m:t>, </m:t>
                      </m:r>
                      <m:r>
                        <a:rPr lang="pt-BR" altLang="zh-CN" sz="1800" i="1" dirty="0" smtClean="0">
                          <a:latin typeface="Cambria Math" panose="02040503050406030204" pitchFamily="18" charset="0"/>
                        </a:rPr>
                        <m:t>𝑎</m:t>
                      </m:r>
                      <m:r>
                        <a:rPr lang="pt-BR" altLang="zh-CN" sz="1800" i="1" dirty="0" smtClean="0">
                          <a:latin typeface="Cambria Math" panose="02040503050406030204" pitchFamily="18" charset="0"/>
                        </a:rPr>
                        <m:t>, </m:t>
                      </m:r>
                      <m:r>
                        <a:rPr lang="pt-BR" altLang="zh-CN" sz="1800" i="1" dirty="0" smtClean="0">
                          <a:latin typeface="Cambria Math" panose="02040503050406030204" pitchFamily="18" charset="0"/>
                        </a:rPr>
                        <m:t>𝐴</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𝑞</m:t>
                      </m:r>
                      <m:r>
                        <a:rPr lang="pt-BR" altLang="zh-CN" sz="1800" i="1" dirty="0" smtClean="0">
                          <a:latin typeface="Cambria Math" panose="02040503050406030204" pitchFamily="18" charset="0"/>
                        </a:rPr>
                        <m:t>, </m:t>
                      </m:r>
                      <m:r>
                        <a:rPr lang="pt-BR" altLang="zh-CN" sz="1800" i="1" dirty="0" smtClean="0">
                          <a:latin typeface="Cambria Math" panose="02040503050406030204" pitchFamily="18" charset="0"/>
                        </a:rPr>
                        <m:t>𝛽</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𝐴</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𝑎</m:t>
                      </m:r>
                      <m:r>
                        <a:rPr lang="pt-BR" altLang="zh-CN" sz="1800" i="1" dirty="0" smtClean="0">
                          <a:latin typeface="Cambria Math" panose="02040503050406030204" pitchFamily="18" charset="0"/>
                        </a:rPr>
                        <m:t>𝛽</m:t>
                      </m:r>
                      <m:r>
                        <a:rPr lang="pt-BR" altLang="zh-CN" sz="1800" i="1" dirty="0" smtClean="0">
                          <a:latin typeface="Cambria Math" panose="02040503050406030204" pitchFamily="18" charset="0"/>
                        </a:rPr>
                        <m:t> ∈ </m:t>
                      </m:r>
                      <m:r>
                        <a:rPr lang="pt-BR" altLang="zh-CN" sz="1800" i="1" dirty="0" smtClean="0">
                          <a:latin typeface="Cambria Math" panose="02040503050406030204" pitchFamily="18" charset="0"/>
                        </a:rPr>
                        <m:t>𝑃</m:t>
                      </m:r>
                      <m:r>
                        <a:rPr lang="pt-BR" altLang="zh-CN" sz="1800" i="1" dirty="0" smtClean="0">
                          <a:latin typeface="Cambria Math" panose="02040503050406030204" pitchFamily="18" charset="0"/>
                        </a:rPr>
                        <m:t>}</m:t>
                      </m:r>
                    </m:oMath>
                  </m:oMathPara>
                </a14:m>
                <a:endParaRPr lang="en-AU" altLang="zh-CN" sz="1800" dirty="0"/>
              </a:p>
            </p:txBody>
          </p:sp>
        </mc:Choice>
        <mc:Fallback xmlns="">
          <p:sp>
            <p:nvSpPr>
              <p:cNvPr id="7" name="TextBox 6"/>
              <p:cNvSpPr txBox="1">
                <a:spLocks noRot="1" noChangeAspect="1" noMove="1" noResize="1" noEditPoints="1" noAdjustHandles="1" noChangeArrowheads="1" noChangeShapeType="1" noTextEdit="1"/>
              </p:cNvSpPr>
              <p:nvPr/>
            </p:nvSpPr>
            <p:spPr>
              <a:xfrm>
                <a:off x="1400537" y="2378962"/>
                <a:ext cx="3763736" cy="646331"/>
              </a:xfrm>
              <a:prstGeom prst="rect">
                <a:avLst/>
              </a:prstGeom>
              <a:blipFill rotWithShape="1">
                <a:blip r:embed="rId4"/>
                <a:stretch>
                  <a:fillRect l="-10" t="-39" r="12" b="-34363"/>
                </a:stretch>
              </a:blipFill>
            </p:spPr>
            <p:txBody>
              <a:bodyPr/>
              <a:lstStyle/>
              <a:p>
                <a:r>
                  <a:rPr lang="zh-CN" altLang="en-US">
                    <a:noFill/>
                  </a:rPr>
                  <a:t> </a:t>
                </a:r>
              </a:p>
            </p:txBody>
          </p:sp>
        </mc:Fallback>
      </mc:AlternateContent>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normAutofit/>
              </a:bodyPr>
              <a:lstStyle/>
              <a:p>
                <a:r>
                  <a:rPr lang="zh-CN" altLang="en-US" sz="2400" dirty="0"/>
                  <a:t>定理</a:t>
                </a:r>
                <a:r>
                  <a:rPr lang="en-AU" altLang="zh-CN" sz="2400" dirty="0"/>
                  <a:t>:</a:t>
                </a:r>
                <a:r>
                  <a:rPr lang="zh-CN" altLang="en-US" sz="2400" dirty="0"/>
                  <a:t>如果 </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𝑁</m:t>
                        </m:r>
                      </m:sub>
                    </m:sSub>
                  </m:oMath>
                </a14:m>
                <a:r>
                  <a:rPr lang="en-AU" altLang="zh-CN" sz="2400" dirty="0"/>
                  <a:t>, </a:t>
                </a:r>
                <a:r>
                  <a:rPr lang="zh-CN" altLang="en-US" sz="2400" dirty="0"/>
                  <a:t>有</a:t>
                </a:r>
                <a14:m>
                  <m:oMath xmlns:m="http://schemas.openxmlformats.org/officeDocument/2006/math">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m:t>
                    </m:r>
                    <m:r>
                      <a:rPr lang="en-AU" altLang="zh-CN" sz="2400" b="1" i="0" dirty="0" smtClean="0">
                        <a:latin typeface="Cambria Math" panose="02040503050406030204" pitchFamily="18" charset="0"/>
                      </a:rPr>
                      <m:t>𝐍</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oMath>
                </a14:m>
                <a:r>
                  <a:rPr lang="zh-CN" altLang="en-US" sz="2400" dirty="0"/>
                  <a:t>那么</a:t>
                </a:r>
                <a14:m>
                  <m:oMath xmlns:m="http://schemas.openxmlformats.org/officeDocument/2006/math">
                    <m:r>
                      <a:rPr lang="en-AU" altLang="zh-CN" sz="2400" i="1" dirty="0" smtClean="0">
                        <a:latin typeface="Cambria Math" panose="02040503050406030204" pitchFamily="18" charset="0"/>
                      </a:rPr>
                      <m:t>𝐿</m:t>
                    </m:r>
                  </m:oMath>
                </a14:m>
                <a:r>
                  <a:rPr lang="zh-CN" altLang="en-US" sz="2400" dirty="0"/>
                  <a:t>是上下文无关语言。</a:t>
                </a:r>
                <a:endParaRPr lang="en-AU" altLang="zh-CN" sz="2400" dirty="0"/>
              </a:p>
              <a:p>
                <a:pPr marL="0" indent="0">
                  <a:buNone/>
                </a:pPr>
                <a:r>
                  <a:rPr lang="zh-CN" altLang="en-US" sz="2400" dirty="0"/>
                  <a:t>证明要点</a:t>
                </a:r>
                <a:r>
                  <a:rPr lang="en-AU" altLang="zh-CN" sz="2400" dirty="0"/>
                  <a:t>:</a:t>
                </a:r>
                <a:r>
                  <a:rPr lang="zh-CN" altLang="en-US" sz="2400" dirty="0"/>
                  <a:t>设</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AU" altLang="zh-CN" sz="2400" i="1" dirty="0">
                            <a:latin typeface="Cambria Math" panose="02040503050406030204" pitchFamily="18" charset="0"/>
                          </a:rPr>
                          <m:t>𝑁</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oMath>
                </a14:m>
                <a:r>
                  <a:rPr lang="en-AU" altLang="zh-CN" sz="2400" dirty="0"/>
                  <a:t>, </a:t>
                </a:r>
                <a:r>
                  <a:rPr lang="zh-CN" altLang="en-US" sz="2400" dirty="0"/>
                  <a:t>那么构造</a:t>
                </a:r>
                <a:r>
                  <a:rPr lang="en-AU" altLang="zh-CN" sz="2400" dirty="0">
                    <a:latin typeface="Times New Roman" panose="02020603050405020304" pitchFamily="18" charset="0"/>
                    <a:cs typeface="Times New Roman" panose="02020603050405020304" pitchFamily="18" charset="0"/>
                  </a:rPr>
                  <a:t>CFG</a:t>
                </a:r>
                <a:r>
                  <a:rPr lang="en-AU" altLang="zh-CN" sz="2400" dirty="0"/>
                  <a:t> </a:t>
                </a:r>
                <a14:m>
                  <m:oMath xmlns:m="http://schemas.openxmlformats.org/officeDocument/2006/math">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 </m:t>
                    </m:r>
                    <m:r>
                      <a:rPr lang="zh-CN" altLang="en-US" sz="2400" i="1" dirty="0">
                        <a:latin typeface="Cambria Math" panose="02040503050406030204" pitchFamily="18" charset="0"/>
                      </a:rPr>
                      <m:t>希望</m:t>
                    </m:r>
                  </m:oMath>
                </a14:m>
                <a:r>
                  <a:rPr lang="zh-CN" altLang="en-US" sz="2400" dirty="0"/>
                  <a:t>实现</a:t>
                </a:r>
                <a:r>
                  <a:rPr lang="zh-CN" altLang="en-US" sz="2400" dirty="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δ</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q</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a:t>
                </a:r>
                <a:r>
                  <a:rPr lang="zh-CN" altLang="en-US" sz="2400" dirty="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endParaRPr>
              </a:p>
              <a:p>
                <a:pPr marL="0" indent="0">
                  <a:buNone/>
                </a:pPr>
                <a:r>
                  <a:rPr lang="zh-CN" altLang="en-US" sz="2400" dirty="0">
                    <a:solidFill>
                      <a:srgbClr val="FF0000"/>
                    </a:solidFill>
                    <a:ea typeface="宋体" panose="02010600030101010101" pitchFamily="2" charset="-122"/>
                  </a:rPr>
                  <a:t>×</a:t>
                </a:r>
                <a:r>
                  <a:rPr lang="zh-CN" altLang="en-US" sz="2400" dirty="0">
                    <a:ea typeface="宋体" panose="02010600030101010101" pitchFamily="2" charset="-122"/>
                  </a:rPr>
                  <a:t>难以用产生式</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q</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sym typeface="Symbol" panose="05050102010706020507" pitchFamily="28" charset="2"/>
                  </a:rPr>
                  <a:t></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1</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err="1">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zh-CN" altLang="en-US" sz="2400" dirty="0">
                    <a:ea typeface="宋体" panose="02010600030101010101" pitchFamily="2" charset="-122"/>
                  </a:rPr>
                  <a:t>模拟。</a:t>
                </a:r>
              </a:p>
              <a:p>
                <a:pPr marL="0" indent="0">
                  <a:buNone/>
                </a:pPr>
                <a:r>
                  <a:rPr lang="zh-CN" altLang="en-US" sz="2400" dirty="0">
                    <a:solidFill>
                      <a:srgbClr val="FF0000"/>
                    </a:solidFill>
                    <a:ea typeface="宋体" panose="02010600030101010101" pitchFamily="2" charset="-122"/>
                  </a:rPr>
                  <a:t>×</a:t>
                </a:r>
                <a:r>
                  <a:rPr lang="zh-CN" altLang="en-US" sz="2400" dirty="0">
                    <a:ea typeface="宋体" panose="02010600030101010101" pitchFamily="2" charset="-122"/>
                  </a:rPr>
                  <a:t>难以用</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q</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sym typeface="Symbol" panose="05050102010706020507" pitchFamily="28" charset="2"/>
                  </a:rPr>
                  <a:t></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rPr>
                  <a:t>r</a:t>
                </a:r>
                <a:r>
                  <a:rPr lang="en-US" altLang="zh-CN" sz="2400" i="1" baseline="-30000" dirty="0" err="1">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err="1">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zh-CN" altLang="en-US" sz="2400" dirty="0">
                    <a:ea typeface="宋体" panose="02010600030101010101" pitchFamily="2" charset="-122"/>
                  </a:rPr>
                  <a:t>模拟。</a:t>
                </a:r>
                <a:endParaRPr lang="en-US" altLang="zh-CN" sz="2400" dirty="0">
                  <a:ea typeface="宋体" panose="02010600030101010101" pitchFamily="2" charset="-122"/>
                </a:endParaRPr>
              </a:p>
              <a:p>
                <a:pPr marL="0" indent="0">
                  <a:buNone/>
                </a:pPr>
                <a:r>
                  <a:rPr lang="zh-CN" altLang="en-US" sz="2400" dirty="0">
                    <a:latin typeface="Times New Roman" panose="02020603050405020304" pitchFamily="18" charset="0"/>
                    <a:ea typeface="宋体" panose="02010600030101010101" pitchFamily="2" charset="-122"/>
                  </a:rPr>
                  <a:t>希望处理完（弹出）</a:t>
                </a:r>
                <a:r>
                  <a:rPr lang="en-US" altLang="zh-CN" sz="2400" i="1" dirty="0">
                    <a:latin typeface="Times New Roman" panose="02020603050405020304" pitchFamily="18" charset="0"/>
                    <a:ea typeface="宋体" panose="02010600030101010101" pitchFamily="2" charset="-122"/>
                  </a:rPr>
                  <a:t>X</a:t>
                </a:r>
                <a:r>
                  <a:rPr lang="zh-CN" altLang="en-US" sz="2400" dirty="0">
                    <a:latin typeface="Times New Roman" panose="02020603050405020304" pitchFamily="18" charset="0"/>
                    <a:ea typeface="宋体" panose="02010600030101010101" pitchFamily="2" charset="-122"/>
                  </a:rPr>
                  <a:t>和处理完</a:t>
                </a:r>
                <a:r>
                  <a:rPr lang="en-US" altLang="zh-CN" sz="2400" i="1" dirty="0">
                    <a:latin typeface="Times New Roman" panose="02020603050405020304" pitchFamily="18" charset="0"/>
                    <a:ea typeface="宋体" panose="02010600030101010101" pitchFamily="2" charset="-122"/>
                  </a:rPr>
                  <a:t>a</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1</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err="1">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（压入之后弹出）之后到达相同状态，</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构造一组产生式：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n-</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，用简化形式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qXp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表示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，其意义为从状态</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出发，处理完</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X</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到达</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p</a:t>
                </a:r>
                <a:r>
                  <a:rPr lang="zh-CN" altLang="en-US" sz="1800" dirty="0">
                    <a:sym typeface="Symbol" panose="05050102010706020507"/>
                  </a:rPr>
                  <a:t>。</a:t>
                </a:r>
                <a:endParaRPr lang="en-US" altLang="zh-CN" sz="2400" i="1" dirty="0">
                  <a:latin typeface="Times New Roman" panose="02020603050405020304" pitchFamily="18" charset="0"/>
                  <a:ea typeface="宋体" panose="02010600030101010101" pitchFamily="2" charset="-122"/>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3"/>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81</a:t>
            </a:fld>
            <a:endParaRPr lang="en-AU"/>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normAutofit/>
              </a:bodyPr>
              <a:lstStyle/>
              <a:p>
                <a:r>
                  <a:rPr lang="zh-CN" altLang="en-US" sz="2400" dirty="0"/>
                  <a:t>定理</a:t>
                </a:r>
                <a:r>
                  <a:rPr lang="en-AU" altLang="zh-CN" sz="2400" dirty="0"/>
                  <a:t>:</a:t>
                </a:r>
                <a:r>
                  <a:rPr lang="zh-CN" altLang="en-US" sz="2400" dirty="0"/>
                  <a:t>如果 </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𝑁</m:t>
                        </m:r>
                      </m:sub>
                    </m:sSub>
                  </m:oMath>
                </a14:m>
                <a:r>
                  <a:rPr lang="en-AU" altLang="zh-CN" sz="2400" dirty="0"/>
                  <a:t>, </a:t>
                </a:r>
                <a:r>
                  <a:rPr lang="zh-CN" altLang="en-US" sz="2400" dirty="0"/>
                  <a:t>有</a:t>
                </a:r>
                <a14:m>
                  <m:oMath xmlns:m="http://schemas.openxmlformats.org/officeDocument/2006/math">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m:t>
                    </m:r>
                    <m:r>
                      <a:rPr lang="en-AU" altLang="zh-CN" sz="2400" b="1" i="0" dirty="0" smtClean="0">
                        <a:latin typeface="Cambria Math" panose="02040503050406030204" pitchFamily="18" charset="0"/>
                      </a:rPr>
                      <m:t>𝐍</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oMath>
                </a14:m>
                <a:r>
                  <a:rPr lang="zh-CN" altLang="en-US" sz="2400" dirty="0"/>
                  <a:t>那么</a:t>
                </a:r>
                <a14:m>
                  <m:oMath xmlns:m="http://schemas.openxmlformats.org/officeDocument/2006/math">
                    <m:r>
                      <a:rPr lang="en-AU" altLang="zh-CN" sz="2400" i="1" dirty="0" smtClean="0">
                        <a:latin typeface="Cambria Math" panose="02040503050406030204" pitchFamily="18" charset="0"/>
                      </a:rPr>
                      <m:t>𝐿</m:t>
                    </m:r>
                  </m:oMath>
                </a14:m>
                <a:r>
                  <a:rPr lang="zh-CN" altLang="en-US" sz="2400" dirty="0"/>
                  <a:t>是上下文无关语言。</a:t>
                </a:r>
                <a:endParaRPr lang="en-AU" altLang="zh-CN" sz="2400" dirty="0"/>
              </a:p>
              <a:p>
                <a:r>
                  <a:rPr lang="zh-CN" altLang="en-US" sz="2400" dirty="0"/>
                  <a:t>构造</a:t>
                </a:r>
                <a:r>
                  <a:rPr lang="en-AU" altLang="zh-CN" sz="2400" dirty="0"/>
                  <a:t>:</a:t>
                </a:r>
                <a:r>
                  <a:rPr lang="zh-CN" altLang="en-US" sz="2400" dirty="0"/>
                  <a:t>设</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AU" altLang="zh-CN" sz="2400" i="1" dirty="0">
                            <a:latin typeface="Cambria Math" panose="02040503050406030204" pitchFamily="18" charset="0"/>
                          </a:rPr>
                          <m:t>𝑁</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oMath>
                </a14:m>
                <a:r>
                  <a:rPr lang="en-AU" altLang="zh-CN" sz="2400" dirty="0"/>
                  <a:t>, </a:t>
                </a:r>
                <a:r>
                  <a:rPr lang="zh-CN" altLang="en-US" sz="2400" dirty="0"/>
                  <a:t>那么构造</a:t>
                </a:r>
                <a:r>
                  <a:rPr lang="en-AU" altLang="zh-CN" sz="2400" dirty="0">
                    <a:latin typeface="Times New Roman" panose="02020603050405020304" pitchFamily="18" charset="0"/>
                    <a:cs typeface="Times New Roman" panose="02020603050405020304" pitchFamily="18" charset="0"/>
                  </a:rPr>
                  <a:t>CFG</a:t>
                </a:r>
                <a:r>
                  <a:rPr lang="en-AU" altLang="zh-CN" sz="2400" dirty="0"/>
                  <a:t> </a:t>
                </a:r>
                <a14:m>
                  <m:oMath xmlns:m="http://schemas.openxmlformats.org/officeDocument/2006/math">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 </m:t>
                    </m:r>
                  </m:oMath>
                </a14:m>
                <a:r>
                  <a:rPr lang="zh-CN" altLang="en-US" sz="2400" dirty="0"/>
                  <a:t>其中</a:t>
                </a:r>
                <a14:m>
                  <m:oMath xmlns:m="http://schemas.openxmlformats.org/officeDocument/2006/math">
                    <m:r>
                      <a:rPr lang="en-AU" altLang="zh-CN" sz="2400" i="1" dirty="0" smtClean="0">
                        <a:latin typeface="Cambria Math" panose="02040503050406030204" pitchFamily="18" charset="0"/>
                      </a:rPr>
                      <m:t>𝑉</m:t>
                    </m:r>
                  </m:oMath>
                </a14:m>
                <a:r>
                  <a:rPr lang="zh-CN" altLang="en-US" sz="2400" dirty="0"/>
                  <a:t>和</a:t>
                </a:r>
                <a14:m>
                  <m:oMath xmlns:m="http://schemas.openxmlformats.org/officeDocument/2006/math">
                    <m:r>
                      <a:rPr lang="en-AU" altLang="zh-CN" sz="2400" i="1" dirty="0" smtClean="0">
                        <a:latin typeface="Cambria Math" panose="02040503050406030204" pitchFamily="18" charset="0"/>
                      </a:rPr>
                      <m:t>𝑃</m:t>
                    </m:r>
                  </m:oMath>
                </a14:m>
                <a:r>
                  <a:rPr lang="zh-CN" altLang="en-US" sz="2400" dirty="0"/>
                  <a:t>为</a:t>
                </a:r>
                <a:endParaRPr lang="en-AU" altLang="zh-CN" sz="2400" dirty="0"/>
              </a:p>
              <a:p>
                <a:r>
                  <a:rPr lang="en-AU" sz="2400" dirty="0"/>
                  <a:t>(1)</a:t>
                </a:r>
                <a:r>
                  <a:rPr lang="zh-CN" altLang="en-US" sz="2400" dirty="0"/>
                  <a:t>变元</a:t>
                </a:r>
                <a14:m>
                  <m:oMath xmlns:m="http://schemas.openxmlformats.org/officeDocument/2006/math">
                    <m:r>
                      <a:rPr lang="en-AU" sz="2400" i="1" dirty="0" smtClean="0">
                        <a:latin typeface="Cambria Math" panose="02040503050406030204" pitchFamily="18" charset="0"/>
                      </a:rPr>
                      <m:t>𝑉</m:t>
                    </m:r>
                    <m:r>
                      <a:rPr lang="en-AU" sz="2400" i="1" dirty="0" smtClean="0">
                        <a:latin typeface="Cambria Math" panose="02040503050406030204" pitchFamily="18" charset="0"/>
                      </a:rPr>
                      <m:t> = {[</m:t>
                    </m:r>
                    <m:r>
                      <a:rPr lang="en-AU" sz="2400" i="1" dirty="0" err="1" smtClean="0">
                        <a:latin typeface="Cambria Math" panose="02040503050406030204" pitchFamily="18" charset="0"/>
                      </a:rPr>
                      <m:t>𝑞𝑋𝑝</m:t>
                    </m:r>
                    <m:r>
                      <a:rPr lang="en-AU" sz="2400" i="1" dirty="0" smtClean="0">
                        <a:latin typeface="Cambria Math" panose="02040503050406030204" pitchFamily="18" charset="0"/>
                      </a:rPr>
                      <m:t>] | </m:t>
                    </m:r>
                    <m:r>
                      <a:rPr lang="en-AU" sz="2400" i="1" dirty="0" err="1" smtClean="0">
                        <a:latin typeface="Cambria Math" panose="02040503050406030204" pitchFamily="18" charset="0"/>
                      </a:rPr>
                      <m:t>𝑝</m:t>
                    </m:r>
                    <m:r>
                      <a:rPr lang="en-AU" sz="2400" i="1" dirty="0" err="1" smtClean="0">
                        <a:latin typeface="Cambria Math" panose="02040503050406030204" pitchFamily="18" charset="0"/>
                      </a:rPr>
                      <m:t>,</m:t>
                    </m:r>
                    <m:r>
                      <a:rPr lang="en-AU" sz="2400" i="1" dirty="0" err="1"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𝑄</m:t>
                    </m:r>
                    <m:r>
                      <a:rPr lang="en-AU" sz="2400" i="1" dirty="0" smtClean="0">
                        <a:latin typeface="Cambria Math" panose="02040503050406030204" pitchFamily="18" charset="0"/>
                      </a:rPr>
                      <m:t>, </m:t>
                    </m:r>
                    <m:r>
                      <a:rPr lang="en-AU" sz="2400" i="1" dirty="0" smtClean="0">
                        <a:latin typeface="Cambria Math" panose="02040503050406030204" pitchFamily="18" charset="0"/>
                      </a:rPr>
                      <m:t>𝑋</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Γ</m:t>
                    </m:r>
                    <m:r>
                      <a:rPr lang="el-GR" sz="2400" i="1" dirty="0" smtClean="0">
                        <a:latin typeface="Cambria Math" panose="02040503050406030204" pitchFamily="18" charset="0"/>
                      </a:rPr>
                      <m:t>} ∪ {</m:t>
                    </m:r>
                    <m:r>
                      <a:rPr lang="en-AU" sz="2400" i="1" dirty="0" smtClean="0">
                        <a:latin typeface="Cambria Math" panose="02040503050406030204" pitchFamily="18" charset="0"/>
                      </a:rPr>
                      <m:t>𝑆</m:t>
                    </m:r>
                    <m:r>
                      <a:rPr lang="en-AU" sz="2400" i="1" dirty="0" smtClean="0">
                        <a:latin typeface="Cambria Math" panose="02040503050406030204" pitchFamily="18" charset="0"/>
                      </a:rPr>
                      <m:t>};</m:t>
                    </m:r>
                  </m:oMath>
                </a14:m>
                <a:r>
                  <a:rPr lang="en-AU" sz="2400" dirty="0"/>
                  <a:t> (</a:t>
                </a:r>
                <a14:m>
                  <m:oMath xmlns:m="http://schemas.openxmlformats.org/officeDocument/2006/math">
                    <m:r>
                      <a:rPr lang="en-AU" sz="2400" i="1" dirty="0">
                        <a:latin typeface="Cambria Math" panose="02040503050406030204" pitchFamily="18" charset="0"/>
                      </a:rPr>
                      <m:t>[</m:t>
                    </m:r>
                    <m:r>
                      <a:rPr lang="en-AU" sz="2400" i="1" dirty="0" err="1">
                        <a:latin typeface="Cambria Math" panose="02040503050406030204" pitchFamily="18" charset="0"/>
                      </a:rPr>
                      <m:t>𝑞𝑋𝑝</m:t>
                    </m:r>
                    <m:r>
                      <a:rPr lang="en-AU" sz="2400" i="1" dirty="0">
                        <a:latin typeface="Cambria Math" panose="02040503050406030204" pitchFamily="18" charset="0"/>
                      </a:rPr>
                      <m:t>] </m:t>
                    </m:r>
                  </m:oMath>
                </a14:m>
                <a:r>
                  <a:rPr lang="zh-CN" altLang="en-US" sz="2400" dirty="0"/>
                  <a:t>的意义为从状态</a:t>
                </a:r>
                <a14:m>
                  <m:oMath xmlns:m="http://schemas.openxmlformats.org/officeDocument/2006/math">
                    <m:r>
                      <a:rPr lang="en-AU" altLang="zh-CN" sz="2400" i="1" dirty="0" smtClean="0">
                        <a:latin typeface="Cambria Math" panose="02040503050406030204" pitchFamily="18" charset="0"/>
                      </a:rPr>
                      <m:t>𝑞</m:t>
                    </m:r>
                  </m:oMath>
                </a14:m>
                <a:r>
                  <a:rPr lang="zh-CN" altLang="en-US" sz="2400" dirty="0"/>
                  <a:t>出发，处理完</a:t>
                </a:r>
                <a:r>
                  <a:rPr lang="en-AU" altLang="zh-CN" sz="2400" dirty="0"/>
                  <a:t>(</a:t>
                </a:r>
                <a:r>
                  <a:rPr lang="zh-CN" altLang="en-US" sz="2400" dirty="0"/>
                  <a:t>弹出</a:t>
                </a:r>
                <a:r>
                  <a:rPr lang="en-AU" altLang="zh-CN" sz="2400" dirty="0"/>
                  <a:t>)</a:t>
                </a:r>
                <a:r>
                  <a:rPr lang="zh-CN" altLang="en-US" sz="2400" dirty="0"/>
                  <a:t>栈符号串</a:t>
                </a:r>
                <a14:m>
                  <m:oMath xmlns:m="http://schemas.openxmlformats.org/officeDocument/2006/math">
                    <m:r>
                      <a:rPr lang="en-AU" altLang="zh-CN" sz="2400" b="0" i="1" smtClean="0">
                        <a:latin typeface="Cambria Math" panose="02040503050406030204" pitchFamily="18" charset="0"/>
                      </a:rPr>
                      <m:t>𝑋</m:t>
                    </m:r>
                  </m:oMath>
                </a14:m>
                <a:r>
                  <a:rPr lang="zh-CN" altLang="en-US" sz="2400" dirty="0"/>
                  <a:t>，到达状态</a:t>
                </a:r>
                <a14:m>
                  <m:oMath xmlns:m="http://schemas.openxmlformats.org/officeDocument/2006/math">
                    <m:r>
                      <a:rPr lang="en-AU" altLang="zh-CN" sz="2400" b="0" i="1" smtClean="0">
                        <a:latin typeface="Cambria Math" panose="02040503050406030204" pitchFamily="18" charset="0"/>
                      </a:rPr>
                      <m:t>𝑝</m:t>
                    </m:r>
                  </m:oMath>
                </a14:m>
                <a:r>
                  <a:rPr lang="en-AU" sz="2400" dirty="0"/>
                  <a:t>)</a:t>
                </a:r>
              </a:p>
              <a:p>
                <a:pPr marL="0" indent="0">
                  <a:buNone/>
                </a:pPr>
                <a:endParaRPr lang="en-AU" sz="18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3"/>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82</a:t>
            </a:fld>
            <a:endParaRPr lang="en-AU"/>
          </a:p>
        </p:txBody>
      </p:sp>
      <p:sp>
        <p:nvSpPr>
          <p:cNvPr id="6" name="TextBox 5"/>
          <p:cNvSpPr txBox="1"/>
          <p:nvPr/>
        </p:nvSpPr>
        <p:spPr>
          <a:xfrm>
            <a:off x="4343400" y="4399162"/>
            <a:ext cx="3276600" cy="923330"/>
          </a:xfrm>
          <a:prstGeom prst="rect">
            <a:avLst/>
          </a:prstGeom>
          <a:solidFill>
            <a:srgbClr val="FFC000"/>
          </a:solidFill>
        </p:spPr>
        <p:txBody>
          <a:bodyPr wrap="square">
            <a:spAutoFit/>
          </a:bodyPr>
          <a:lstStyle/>
          <a:p>
            <a:r>
              <a:rPr lang="zh-CN" altLang="en-US" dirty="0">
                <a:latin typeface="楷体" panose="02010609060101010101" pitchFamily="49" charset="-122"/>
                <a:ea typeface="楷体" panose="02010609060101010101" pitchFamily="49" charset="-122"/>
              </a:rPr>
              <a:t>这个过程会消耗输入带上某部分的符号串，也就是该变元能派生出的符号串。</a:t>
            </a:r>
            <a:endParaRPr lang="en-AU" dirty="0">
              <a:latin typeface="楷体" panose="02010609060101010101" pitchFamily="49" charset="-122"/>
              <a:ea typeface="楷体" panose="02010609060101010101" pitchFamily="49" charset="-122"/>
            </a:endParaRPr>
          </a:p>
        </p:txBody>
      </p:sp>
      <p:cxnSp>
        <p:nvCxnSpPr>
          <p:cNvPr id="8" name="Straight Arrow Connector 7"/>
          <p:cNvCxnSpPr/>
          <p:nvPr/>
        </p:nvCxnSpPr>
        <p:spPr>
          <a:xfrm flipH="1" flipV="1">
            <a:off x="4572000" y="3664558"/>
            <a:ext cx="533400" cy="5319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33041"/>
                <a:ext cx="8229600" cy="5323309"/>
              </a:xfrm>
            </p:spPr>
            <p:txBody>
              <a:bodyPr>
                <a:normAutofit/>
              </a:bodyPr>
              <a:lstStyle/>
              <a:p>
                <a:pPr>
                  <a:lnSpc>
                    <a:spcPct val="120000"/>
                  </a:lnSpc>
                </a:pPr>
                <a:r>
                  <a:rPr lang="zh-CN" altLang="en-US" dirty="0"/>
                  <a:t>构造</a:t>
                </a:r>
                <a:r>
                  <a:rPr lang="en-AU" altLang="zh-CN" dirty="0"/>
                  <a:t>:</a:t>
                </a:r>
                <a:r>
                  <a:rPr lang="zh-CN" altLang="en-US" dirty="0"/>
                  <a:t>设</a:t>
                </a:r>
                <a:r>
                  <a:rPr lang="en-AU" altLang="zh-CN" dirty="0">
                    <a:latin typeface="Times New Roman" panose="02020603050405020304" pitchFamily="18" charset="0"/>
                    <a:cs typeface="Times New Roman" panose="02020603050405020304" pitchFamily="18" charset="0"/>
                  </a:rPr>
                  <a:t>PDA</a:t>
                </a:r>
                <a:r>
                  <a:rPr lang="en-AU" altLang="zh-CN" dirty="0"/>
                  <a:t> </a:t>
                </a: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𝑃</m:t>
                        </m:r>
                      </m:e>
                      <m:sub>
                        <m:r>
                          <a:rPr lang="en-AU" altLang="zh-CN" i="1" dirty="0">
                            <a:latin typeface="Cambria Math" panose="02040503050406030204" pitchFamily="18" charset="0"/>
                          </a:rPr>
                          <m:t>𝑁</m:t>
                        </m:r>
                      </m:sub>
                    </m:sSub>
                    <m:r>
                      <a:rPr lang="en-AU" altLang="zh-CN" i="1" dirty="0">
                        <a:latin typeface="Cambria Math" panose="02040503050406030204" pitchFamily="18" charset="0"/>
                      </a:rPr>
                      <m:t>= (</m:t>
                    </m:r>
                    <m:r>
                      <a:rPr lang="en-AU" altLang="zh-CN" i="1" dirty="0">
                        <a:latin typeface="Cambria Math" panose="02040503050406030204" pitchFamily="18" charset="0"/>
                      </a:rPr>
                      <m:t>𝑄</m:t>
                    </m:r>
                    <m:r>
                      <a:rPr lang="en-AU" altLang="zh-CN" i="1" dirty="0">
                        <a:latin typeface="Cambria Math" panose="02040503050406030204" pitchFamily="18" charset="0"/>
                      </a:rPr>
                      <m:t>, </m:t>
                    </m:r>
                    <m:r>
                      <m:rPr>
                        <m:sty m:val="p"/>
                      </m:rPr>
                      <a:rPr lang="el-GR" altLang="zh-CN" dirty="0">
                        <a:latin typeface="Cambria Math" panose="02040503050406030204" pitchFamily="18" charset="0"/>
                      </a:rPr>
                      <m:t>Σ</m:t>
                    </m:r>
                    <m:r>
                      <a:rPr lang="el-GR" altLang="zh-CN" i="1" dirty="0">
                        <a:latin typeface="Cambria Math" panose="02040503050406030204" pitchFamily="18" charset="0"/>
                      </a:rPr>
                      <m:t>, </m:t>
                    </m:r>
                    <m:r>
                      <m:rPr>
                        <m:sty m:val="p"/>
                      </m:rPr>
                      <a:rPr lang="el-GR" altLang="zh-CN" dirty="0">
                        <a:latin typeface="Cambria Math" panose="02040503050406030204" pitchFamily="18" charset="0"/>
                      </a:rPr>
                      <m:t>Γ</m:t>
                    </m:r>
                    <m:r>
                      <a:rPr lang="el-GR" altLang="zh-CN" i="1" dirty="0">
                        <a:latin typeface="Cambria Math" panose="02040503050406030204" pitchFamily="18" charset="0"/>
                      </a:rPr>
                      <m:t>, </m:t>
                    </m:r>
                    <m:r>
                      <a:rPr lang="el-GR" altLang="zh-CN" i="1" dirty="0">
                        <a:latin typeface="Cambria Math" panose="02040503050406030204" pitchFamily="18" charset="0"/>
                      </a:rPr>
                      <m:t>𝛿</m:t>
                    </m:r>
                    <m:r>
                      <a:rPr lang="el-GR" altLang="zh-CN" i="1" dirty="0">
                        <a:latin typeface="Cambria Math" panose="02040503050406030204" pitchFamily="18" charset="0"/>
                      </a:rPr>
                      <m:t>, </m:t>
                    </m:r>
                    <m:sSub>
                      <m:sSubPr>
                        <m:ctrlPr>
                          <a:rPr lang="el-GR" altLang="zh-CN" i="1" dirty="0">
                            <a:latin typeface="Cambria Math" panose="02040503050406030204" pitchFamily="18" charset="0"/>
                          </a:rPr>
                        </m:ctrlPr>
                      </m:sSubPr>
                      <m:e>
                        <m:r>
                          <a:rPr lang="en-AU" altLang="zh-CN" i="1" dirty="0">
                            <a:latin typeface="Cambria Math" panose="02040503050406030204" pitchFamily="18" charset="0"/>
                          </a:rPr>
                          <m:t>𝑞</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 ∅)</m:t>
                    </m:r>
                  </m:oMath>
                </a14:m>
                <a:r>
                  <a:rPr lang="en-AU" altLang="zh-CN" dirty="0"/>
                  <a:t>, </a:t>
                </a:r>
                <a:r>
                  <a:rPr lang="zh-CN" altLang="en-US" dirty="0"/>
                  <a:t>那么构造</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a:latin typeface="Cambria Math" panose="02040503050406030204" pitchFamily="18" charset="0"/>
                      </a:rPr>
                      <m:t>𝐺</m:t>
                    </m:r>
                    <m:r>
                      <a:rPr lang="en-AU" altLang="zh-CN" i="1" dirty="0">
                        <a:latin typeface="Cambria Math" panose="02040503050406030204" pitchFamily="18" charset="0"/>
                      </a:rPr>
                      <m:t> = (</m:t>
                    </m:r>
                    <m:r>
                      <a:rPr lang="en-AU" altLang="zh-CN" i="1" dirty="0">
                        <a:latin typeface="Cambria Math" panose="02040503050406030204" pitchFamily="18" charset="0"/>
                      </a:rPr>
                      <m:t>𝑉</m:t>
                    </m:r>
                    <m:r>
                      <a:rPr lang="en-AU" altLang="zh-CN" i="1" dirty="0">
                        <a:latin typeface="Cambria Math" panose="02040503050406030204" pitchFamily="18" charset="0"/>
                      </a:rPr>
                      <m:t>, </m:t>
                    </m:r>
                    <m:r>
                      <m:rPr>
                        <m:sty m:val="p"/>
                      </m:rPr>
                      <a:rPr lang="el-GR" altLang="zh-CN" dirty="0">
                        <a:latin typeface="Cambria Math" panose="02040503050406030204" pitchFamily="18" charset="0"/>
                      </a:rPr>
                      <m:t>Σ</m:t>
                    </m:r>
                    <m:r>
                      <a:rPr lang="el-GR" altLang="zh-CN" i="1" dirty="0">
                        <a:latin typeface="Cambria Math" panose="02040503050406030204" pitchFamily="18" charset="0"/>
                      </a:rPr>
                      <m:t>, </m:t>
                    </m:r>
                    <m:r>
                      <a:rPr lang="en-AU" altLang="zh-CN" i="1" dirty="0">
                        <a:latin typeface="Cambria Math" panose="02040503050406030204" pitchFamily="18" charset="0"/>
                      </a:rPr>
                      <m:t>𝑃</m:t>
                    </m:r>
                    <m:r>
                      <a:rPr lang="en-AU" altLang="zh-CN" i="1" dirty="0">
                        <a:latin typeface="Cambria Math" panose="02040503050406030204" pitchFamily="18" charset="0"/>
                      </a:rPr>
                      <m:t>, </m:t>
                    </m:r>
                    <m:r>
                      <a:rPr lang="en-AU" altLang="zh-CN" i="1" dirty="0">
                        <a:latin typeface="Cambria Math" panose="02040503050406030204" pitchFamily="18" charset="0"/>
                      </a:rPr>
                      <m:t>𝑆</m:t>
                    </m:r>
                    <m:r>
                      <a:rPr lang="en-AU" altLang="zh-CN" i="1" dirty="0">
                        <a:latin typeface="Cambria Math" panose="02040503050406030204" pitchFamily="18" charset="0"/>
                      </a:rPr>
                      <m:t>) </m:t>
                    </m:r>
                  </m:oMath>
                </a14:m>
                <a:r>
                  <a:rPr lang="zh-CN" altLang="en-US" sz="2400" dirty="0"/>
                  <a:t>。</a:t>
                </a:r>
                <a:r>
                  <a:rPr lang="zh-CN" altLang="en-US" dirty="0"/>
                  <a:t>产生式集合</a:t>
                </a:r>
                <a14:m>
                  <m:oMath xmlns:m="http://schemas.openxmlformats.org/officeDocument/2006/math">
                    <m:r>
                      <a:rPr lang="en-AU" altLang="zh-CN" b="0" i="1" smtClean="0">
                        <a:latin typeface="Cambria Math" panose="02040503050406030204" pitchFamily="18" charset="0"/>
                      </a:rPr>
                      <m:t>𝑃</m:t>
                    </m:r>
                    <m:r>
                      <a:rPr lang="zh-CN" altLang="en-US" i="1">
                        <a:latin typeface="Cambria Math" panose="02040503050406030204" pitchFamily="18" charset="0"/>
                      </a:rPr>
                      <m:t>包括</m:t>
                    </m:r>
                  </m:oMath>
                </a14:m>
                <a:r>
                  <a:rPr lang="zh-CN" altLang="en-US" sz="2400" dirty="0"/>
                  <a:t>：</a:t>
                </a:r>
                <a:endParaRPr lang="en-AU" altLang="zh-CN" sz="2400" dirty="0"/>
              </a:p>
              <a:p>
                <a:pPr marL="0" indent="0">
                  <a:lnSpc>
                    <a:spcPct val="120000"/>
                  </a:lnSpc>
                  <a:buNone/>
                </a:pPr>
                <a:r>
                  <a:rPr lang="zh-CN" altLang="en-US" sz="2400" dirty="0"/>
                  <a:t>（</a:t>
                </a:r>
                <a:r>
                  <a:rPr lang="en-AU" altLang="zh-CN" sz="2400" dirty="0"/>
                  <a:t>1</a:t>
                </a:r>
                <a:r>
                  <a:rPr lang="zh-CN" altLang="en-US" sz="2400" dirty="0"/>
                  <a:t>）对</a:t>
                </a:r>
                <a14:m>
                  <m:oMath xmlns:m="http://schemas.openxmlformats.org/officeDocument/2006/math">
                    <m:r>
                      <a:rPr lang="zh-CN" altLang="en-US" sz="2400" i="1" dirty="0" smtClean="0">
                        <a:latin typeface="Cambria Math" panose="02040503050406030204" pitchFamily="18" charset="0"/>
                      </a:rPr>
                      <m:t>∀</m:t>
                    </m:r>
                    <m:r>
                      <a:rPr lang="en-AU" sz="2400" i="1" dirty="0" smtClean="0">
                        <a:latin typeface="Cambria Math" panose="02040503050406030204" pitchFamily="18" charset="0"/>
                      </a:rPr>
                      <m:t>𝑝</m:t>
                    </m:r>
                    <m:r>
                      <a:rPr lang="en-AU" sz="2400" i="1" dirty="0" smtClean="0">
                        <a:latin typeface="Cambria Math" panose="02040503050406030204" pitchFamily="18" charset="0"/>
                      </a:rPr>
                      <m:t> ∈ </m:t>
                    </m:r>
                    <m:r>
                      <a:rPr lang="en-AU" sz="2400" i="1" dirty="0" smtClean="0">
                        <a:latin typeface="Cambria Math" panose="02040503050406030204" pitchFamily="18" charset="0"/>
                      </a:rPr>
                      <m:t>𝑄</m:t>
                    </m:r>
                  </m:oMath>
                </a14:m>
                <a:r>
                  <a:rPr lang="en-AU" sz="2400" dirty="0"/>
                  <a:t>, </a:t>
                </a:r>
                <a:r>
                  <a:rPr lang="zh-CN" altLang="en-US" sz="2400" dirty="0"/>
                  <a:t>构造产生式</a:t>
                </a:r>
                <a14:m>
                  <m:oMath xmlns:m="http://schemas.openxmlformats.org/officeDocument/2006/math">
                    <m:r>
                      <a:rPr lang="en-AU" sz="2400" i="1" dirty="0" smtClean="0">
                        <a:latin typeface="Cambria Math" panose="02040503050406030204" pitchFamily="18" charset="0"/>
                      </a:rPr>
                      <m:t>𝑆</m:t>
                    </m:r>
                    <m:r>
                      <a:rPr lang="en-AU" sz="2400" i="1" dirty="0" smtClean="0">
                        <a:latin typeface="Cambria Math" panose="02040503050406030204" pitchFamily="18" charset="0"/>
                      </a:rPr>
                      <m:t> → [</m:t>
                    </m:r>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0</m:t>
                        </m:r>
                      </m:sub>
                    </m:sSub>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𝑍</m:t>
                        </m:r>
                      </m:e>
                      <m:sub>
                        <m:r>
                          <a:rPr lang="en-AU" sz="2400" i="1" dirty="0">
                            <a:latin typeface="Cambria Math" panose="02040503050406030204" pitchFamily="18" charset="0"/>
                          </a:rPr>
                          <m:t>0</m:t>
                        </m:r>
                      </m:sub>
                    </m:sSub>
                    <m:r>
                      <a:rPr lang="en-AU" sz="2400" b="0" i="1" dirty="0" smtClean="0">
                        <a:latin typeface="Cambria Math" panose="02040503050406030204" pitchFamily="18" charset="0"/>
                      </a:rPr>
                      <m:t>𝑝</m:t>
                    </m:r>
                    <m:r>
                      <a:rPr lang="en-AU" sz="2400" i="1" dirty="0" smtClean="0">
                        <a:latin typeface="Cambria Math" panose="02040503050406030204" pitchFamily="18" charset="0"/>
                      </a:rPr>
                      <m:t>];</m:t>
                    </m:r>
                  </m:oMath>
                </a14:m>
                <a:endParaRPr lang="en-AU" sz="2400" dirty="0"/>
              </a:p>
              <a:p>
                <a:pPr marL="0" indent="0">
                  <a:lnSpc>
                    <a:spcPct val="120000"/>
                  </a:lnSpc>
                  <a:buNone/>
                </a:pPr>
                <a:r>
                  <a:rPr lang="zh-CN" altLang="en-US" sz="2400" dirty="0"/>
                  <a:t>（</a:t>
                </a:r>
                <a:r>
                  <a:rPr lang="en-AU" altLang="zh-CN" sz="2400" dirty="0"/>
                  <a:t>2</a:t>
                </a:r>
                <a:r>
                  <a:rPr lang="zh-CN" altLang="en-US" sz="2400" dirty="0"/>
                  <a:t>）对 </a:t>
                </a:r>
                <a14:m>
                  <m:oMath xmlns:m="http://schemas.openxmlformats.org/officeDocument/2006/math">
                    <m:r>
                      <a:rPr lang="zh-CN" altLang="en-US" sz="2400" i="1" dirty="0" smtClean="0">
                        <a:latin typeface="Cambria Math" panose="02040503050406030204" pitchFamily="18" charset="0"/>
                      </a:rPr>
                      <m:t>∀</m:t>
                    </m:r>
                    <m:r>
                      <a:rPr lang="en-US" altLang="zh-CN" sz="2400" i="1" dirty="0" smtClean="0">
                        <a:latin typeface="Cambria Math" panose="02040503050406030204" pitchFamily="18" charset="0"/>
                      </a:rPr>
                      <m:t>(</m:t>
                    </m:r>
                    <m:r>
                      <a:rPr lang="en-AU" sz="2400" i="1" dirty="0" smtClean="0">
                        <a:latin typeface="Cambria Math" panose="02040503050406030204" pitchFamily="18" charset="0"/>
                      </a:rPr>
                      <m:t>𝑝</m:t>
                    </m:r>
                    <m:r>
                      <a:rPr lang="en-AU" sz="2400" i="1" dirty="0" smtClean="0">
                        <a:latin typeface="Cambria Math" panose="02040503050406030204" pitchFamily="18" charset="0"/>
                      </a:rPr>
                      <m:t>,</m:t>
                    </m:r>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1</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2</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m:t>
                        </m:r>
                        <m:r>
                          <a:rPr lang="en-AU" altLang="zh-CN" sz="2400" i="1" dirty="0">
                            <a:latin typeface="Cambria Math" panose="02040503050406030204" pitchFamily="18" charset="0"/>
                            <a:ea typeface="Cambria Math" panose="02040503050406030204" pitchFamily="18" charset="0"/>
                          </a:rPr>
                          <m:t>𝑌</m:t>
                        </m:r>
                      </m:e>
                      <m:sub>
                        <m:r>
                          <a:rPr lang="en-AU" altLang="zh-CN" sz="2400" b="0" i="1" dirty="0" smtClean="0">
                            <a:latin typeface="Cambria Math" panose="02040503050406030204" pitchFamily="18" charset="0"/>
                            <a:ea typeface="Cambria Math" panose="02040503050406030204" pitchFamily="18" charset="0"/>
                          </a:rPr>
                          <m:t>𝑛</m:t>
                        </m:r>
                      </m:sub>
                    </m:sSub>
                    <m:r>
                      <a:rPr lang="en-AU" sz="2400" i="1" dirty="0" smtClean="0">
                        <a:latin typeface="Cambria Math" panose="02040503050406030204" pitchFamily="18" charset="0"/>
                      </a:rPr>
                      <m:t>) ∈ </m:t>
                    </m:r>
                    <m:r>
                      <a:rPr lang="el-GR" sz="2400" i="1" dirty="0" smtClean="0">
                        <a:latin typeface="Cambria Math" panose="02040503050406030204" pitchFamily="18" charset="0"/>
                      </a:rPr>
                      <m:t>𝛿</m:t>
                    </m:r>
                    <m:r>
                      <a:rPr lang="el-GR"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m:t>
                    </m:r>
                    <m:r>
                      <a:rPr lang="en-AU" sz="2400" i="1" dirty="0" smtClean="0">
                        <a:latin typeface="Cambria Math" panose="02040503050406030204" pitchFamily="18" charset="0"/>
                      </a:rPr>
                      <m:t>𝑋</m:t>
                    </m:r>
                    <m:r>
                      <a:rPr lang="en-AU" sz="2400" i="1" dirty="0" smtClean="0">
                        <a:latin typeface="Cambria Math" panose="02040503050406030204" pitchFamily="18" charset="0"/>
                      </a:rPr>
                      <m:t>), </m:t>
                    </m:r>
                  </m:oMath>
                </a14:m>
                <a:r>
                  <a:rPr lang="zh-CN" altLang="en-US" sz="2400" dirty="0"/>
                  <a:t>构造</a:t>
                </a:r>
                <a14:m>
                  <m:oMath xmlns:m="http://schemas.openxmlformats.org/officeDocument/2006/math">
                    <m:sSup>
                      <m:sSupPr>
                        <m:ctrlPr>
                          <a:rPr lang="en-US" altLang="zh-CN" sz="2400" i="1" smtClean="0">
                            <a:latin typeface="Cambria Math" panose="02040503050406030204" pitchFamily="18" charset="0"/>
                          </a:rPr>
                        </m:ctrlPr>
                      </m:sSupPr>
                      <m:e>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𝑄</m:t>
                        </m:r>
                        <m:r>
                          <a:rPr lang="en-AU" altLang="zh-CN" sz="2400" b="0" i="1" smtClean="0">
                            <a:latin typeface="Cambria Math" panose="02040503050406030204" pitchFamily="18" charset="0"/>
                          </a:rPr>
                          <m:t>|</m:t>
                        </m:r>
                      </m:e>
                      <m:sup>
                        <m:r>
                          <a:rPr lang="en-AU" altLang="zh-CN" sz="2400" b="0" i="1" smtClean="0">
                            <a:latin typeface="Cambria Math" panose="02040503050406030204" pitchFamily="18" charset="0"/>
                          </a:rPr>
                          <m:t>𝑛</m:t>
                        </m:r>
                      </m:sup>
                    </m:sSup>
                  </m:oMath>
                </a14:m>
                <a:r>
                  <a:rPr lang="zh-CN" altLang="en-US" sz="2400" dirty="0"/>
                  <a:t>个产生式</a:t>
                </a:r>
                <a14:m>
                  <m:oMath xmlns:m="http://schemas.openxmlformats.org/officeDocument/2006/math">
                    <m:r>
                      <a:rPr lang="pt-BR" altLang="zh-CN" sz="2400" i="1" dirty="0" smtClean="0">
                        <a:latin typeface="Cambria Math" panose="02040503050406030204" pitchFamily="18" charset="0"/>
                      </a:rPr>
                      <m:t>[</m:t>
                    </m:r>
                    <m:r>
                      <a:rPr lang="pt-BR" altLang="zh-CN" sz="2400" i="1" dirty="0" smtClean="0">
                        <a:latin typeface="Cambria Math" panose="02040503050406030204" pitchFamily="18" charset="0"/>
                      </a:rPr>
                      <m:t>𝑞𝑋</m:t>
                    </m:r>
                    <m:sSub>
                      <m:sSubPr>
                        <m:ctrlPr>
                          <a:rPr lang="pt-BR"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𝑟</m:t>
                        </m:r>
                      </m:e>
                      <m:sub>
                        <m:r>
                          <a:rPr lang="en-AU" altLang="zh-CN" sz="2400" b="0" i="1" dirty="0" smtClean="0">
                            <a:solidFill>
                              <a:srgbClr val="0070C0"/>
                            </a:solidFill>
                            <a:latin typeface="Cambria Math" panose="02040503050406030204" pitchFamily="18" charset="0"/>
                          </a:rPr>
                          <m:t>𝑛</m:t>
                        </m:r>
                      </m:sub>
                    </m:sSub>
                    <m:r>
                      <a:rPr lang="pt-BR" altLang="zh-CN" sz="2400" i="1" dirty="0" smtClean="0">
                        <a:latin typeface="Cambria Math" panose="02040503050406030204" pitchFamily="18" charset="0"/>
                      </a:rPr>
                      <m:t>] → </m:t>
                    </m:r>
                    <m:r>
                      <a:rPr lang="pt-BR" altLang="zh-CN" sz="2400" i="1" dirty="0" smtClean="0">
                        <a:latin typeface="Cambria Math" panose="02040503050406030204" pitchFamily="18" charset="0"/>
                      </a:rPr>
                      <m:t>𝑎</m:t>
                    </m:r>
                    <m:r>
                      <a:rPr lang="pt-BR" altLang="zh-CN" sz="2400" i="1" dirty="0" smtClean="0">
                        <a:latin typeface="Cambria Math" panose="02040503050406030204" pitchFamily="18" charset="0"/>
                      </a:rPr>
                      <m:t>[</m:t>
                    </m:r>
                    <m:r>
                      <a:rPr lang="pt-BR" altLang="zh-CN" sz="2400" i="1" dirty="0" smtClean="0">
                        <a:latin typeface="Cambria Math" panose="02040503050406030204" pitchFamily="18" charset="0"/>
                      </a:rPr>
                      <m:t>𝑝</m:t>
                    </m:r>
                    <m:sSub>
                      <m:sSubPr>
                        <m:ctrlPr>
                          <a:rPr lang="pt-B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𝑌</m:t>
                        </m:r>
                      </m:e>
                      <m:sub>
                        <m:r>
                          <a:rPr lang="en-AU" altLang="zh-CN" sz="2400" b="0" i="1" dirty="0" smtClean="0">
                            <a:latin typeface="Cambria Math" panose="02040503050406030204" pitchFamily="18" charset="0"/>
                          </a:rPr>
                          <m:t>1</m:t>
                        </m:r>
                      </m:sub>
                    </m:sSub>
                    <m:sSub>
                      <m:sSubPr>
                        <m:ctrlPr>
                          <a:rPr lang="pt-BR" altLang="zh-CN" sz="2400" i="1" dirty="0" smtClean="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𝑟</m:t>
                        </m:r>
                      </m:e>
                      <m:sub>
                        <m:r>
                          <a:rPr lang="en-AU" altLang="zh-CN" sz="2400" b="0" i="1" dirty="0" smtClean="0">
                            <a:solidFill>
                              <a:srgbClr val="7030A0"/>
                            </a:solidFill>
                            <a:latin typeface="Cambria Math" panose="02040503050406030204" pitchFamily="18" charset="0"/>
                          </a:rPr>
                          <m:t>1</m:t>
                        </m:r>
                      </m:sub>
                    </m:sSub>
                    <m:r>
                      <a:rPr lang="pt-BR" altLang="zh-CN" sz="2400" i="1" dirty="0" smtClean="0">
                        <a:latin typeface="Cambria Math" panose="02040503050406030204" pitchFamily="18" charset="0"/>
                      </a:rPr>
                      <m:t>][</m:t>
                    </m:r>
                    <m:sSub>
                      <m:sSubPr>
                        <m:ctrlPr>
                          <a:rPr lang="pt-BR" altLang="zh-CN" sz="2400" i="1" dirty="0" smtClean="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𝑟</m:t>
                        </m:r>
                      </m:e>
                      <m:sub>
                        <m:r>
                          <a:rPr lang="en-AU" altLang="zh-CN" sz="2400" b="0" i="1" dirty="0" smtClean="0">
                            <a:solidFill>
                              <a:srgbClr val="7030A0"/>
                            </a:solidFill>
                            <a:latin typeface="Cambria Math" panose="02040503050406030204" pitchFamily="18" charset="0"/>
                          </a:rPr>
                          <m:t>1</m:t>
                        </m:r>
                      </m:sub>
                    </m:sSub>
                    <m:sSub>
                      <m:sSubPr>
                        <m:ctrlPr>
                          <a:rPr lang="pt-BR" altLang="zh-CN" sz="2400" i="1" dirty="0" smtClean="0">
                            <a:latin typeface="Cambria Math" panose="02040503050406030204" pitchFamily="18" charset="0"/>
                          </a:rPr>
                        </m:ctrlPr>
                      </m:sSubPr>
                      <m:e>
                        <m:r>
                          <a:rPr lang="en-AU" altLang="zh-CN" sz="2400" i="1" dirty="0">
                            <a:latin typeface="Cambria Math" panose="02040503050406030204" pitchFamily="18" charset="0"/>
                          </a:rPr>
                          <m:t>𝑌</m:t>
                        </m:r>
                      </m:e>
                      <m:sub>
                        <m:r>
                          <a:rPr lang="en-AU" altLang="zh-CN" sz="2400" b="0" i="1" dirty="0" smtClean="0">
                            <a:latin typeface="Cambria Math" panose="02040503050406030204" pitchFamily="18" charset="0"/>
                          </a:rPr>
                          <m:t>2</m:t>
                        </m:r>
                      </m:sub>
                    </m:sSub>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2</m:t>
                        </m:r>
                      </m:sub>
                    </m:sSub>
                    <m:r>
                      <a:rPr lang="pt-BR" altLang="zh-CN" sz="2400" i="1" dirty="0" smtClean="0">
                        <a:latin typeface="Cambria Math" panose="02040503050406030204" pitchFamily="18" charset="0"/>
                      </a:rPr>
                      <m:t>] · · · [</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𝑛</m:t>
                        </m:r>
                        <m:r>
                          <a:rPr lang="en-AU" altLang="zh-CN" sz="2400" b="0" i="1" dirty="0" smtClean="0">
                            <a:latin typeface="Cambria Math" panose="02040503050406030204" pitchFamily="18" charset="0"/>
                          </a:rPr>
                          <m:t>−1</m:t>
                        </m:r>
                      </m:sub>
                    </m:sSub>
                    <m:sSub>
                      <m:sSubPr>
                        <m:ctrlPr>
                          <a:rPr lang="pt-BR" altLang="zh-CN" sz="2400" i="1" dirty="0">
                            <a:latin typeface="Cambria Math" panose="02040503050406030204" pitchFamily="18" charset="0"/>
                          </a:rPr>
                        </m:ctrlPr>
                      </m:sSubPr>
                      <m:e>
                        <m:r>
                          <a:rPr lang="en-AU" altLang="zh-CN" sz="2400" b="0" i="1" dirty="0" smtClean="0">
                            <a:latin typeface="Cambria Math" panose="02040503050406030204" pitchFamily="18" charset="0"/>
                          </a:rPr>
                          <m:t>𝑌</m:t>
                        </m:r>
                      </m:e>
                      <m:sub>
                        <m:r>
                          <a:rPr lang="en-AU" altLang="zh-CN" sz="2400" b="0" i="1" dirty="0" smtClean="0">
                            <a:latin typeface="Cambria Math" panose="02040503050406030204" pitchFamily="18" charset="0"/>
                          </a:rPr>
                          <m:t>𝑛</m:t>
                        </m:r>
                      </m:sub>
                    </m:sSub>
                    <m:sSub>
                      <m:sSubPr>
                        <m:ctrlPr>
                          <a:rPr lang="pt-BR"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𝑟</m:t>
                        </m:r>
                      </m:e>
                      <m:sub>
                        <m:r>
                          <a:rPr lang="en-AU" altLang="zh-CN" sz="2400" b="0" i="1" dirty="0" smtClean="0">
                            <a:solidFill>
                              <a:srgbClr val="0070C0"/>
                            </a:solidFill>
                            <a:latin typeface="Cambria Math" panose="02040503050406030204" pitchFamily="18" charset="0"/>
                          </a:rPr>
                          <m:t>𝑛</m:t>
                        </m:r>
                      </m:sub>
                    </m:sSub>
                    <m:r>
                      <a:rPr lang="pt-BR" altLang="zh-CN" sz="2400" i="1" dirty="0" smtClean="0">
                        <a:latin typeface="Cambria Math" panose="02040503050406030204" pitchFamily="18" charset="0"/>
                      </a:rPr>
                      <m:t>]</m:t>
                    </m:r>
                  </m:oMath>
                </a14:m>
                <a:r>
                  <a:rPr lang="en-AU" sz="2400" dirty="0"/>
                  <a:t>,</a:t>
                </a:r>
              </a:p>
              <a:p>
                <a:pPr marL="0" indent="0">
                  <a:lnSpc>
                    <a:spcPct val="120000"/>
                  </a:lnSpc>
                  <a:buNone/>
                </a:pPr>
                <a:r>
                  <a:rPr lang="zh-CN" altLang="en-US" sz="2400" dirty="0"/>
                  <a:t>其中 </a:t>
                </a:r>
                <a14:m>
                  <m:oMath xmlns:m="http://schemas.openxmlformats.org/officeDocument/2006/math">
                    <m:r>
                      <a:rPr lang="en-AU" sz="2400" i="1" dirty="0" smtClean="0">
                        <a:latin typeface="Cambria Math" panose="02040503050406030204" pitchFamily="18" charset="0"/>
                      </a:rPr>
                      <m:t>𝑎</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Σ</m:t>
                    </m:r>
                    <m:r>
                      <a:rPr lang="el-GR" sz="2400" i="1" dirty="0" smtClean="0">
                        <a:latin typeface="Cambria Math" panose="02040503050406030204" pitchFamily="18" charset="0"/>
                      </a:rPr>
                      <m:t> ∪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n-AU" sz="2400" i="1" dirty="0" err="1" smtClean="0">
                        <a:latin typeface="Cambria Math" panose="02040503050406030204" pitchFamily="18" charset="0"/>
                      </a:rPr>
                      <m:t>𝑋</m:t>
                    </m:r>
                    <m:r>
                      <a:rPr lang="en-AU" sz="2400" i="1" dirty="0" err="1" smtClean="0">
                        <a:latin typeface="Cambria Math" panose="02040503050406030204" pitchFamily="18" charset="0"/>
                      </a:rPr>
                      <m:t>,</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𝑌</m:t>
                        </m:r>
                      </m:e>
                      <m:sub>
                        <m:r>
                          <a:rPr lang="en-AU" altLang="zh-CN" sz="2400" b="0" i="1" dirty="0" smtClean="0">
                            <a:latin typeface="Cambria Math" panose="02040503050406030204" pitchFamily="18" charset="0"/>
                          </a:rPr>
                          <m:t>𝑖</m:t>
                        </m:r>
                      </m:sub>
                    </m:sSub>
                    <m:r>
                      <a:rPr lang="en-AU" sz="2400" i="1" dirty="0" smtClean="0">
                        <a:latin typeface="Cambria Math" panose="02040503050406030204" pitchFamily="18" charset="0"/>
                      </a:rPr>
                      <m:t>∈ </m:t>
                    </m:r>
                    <m:r>
                      <m:rPr>
                        <m:sty m:val="p"/>
                      </m:rPr>
                      <a:rPr lang="el-GR" sz="2400" i="0" dirty="0" smtClean="0">
                        <a:latin typeface="Cambria Math" panose="02040503050406030204" pitchFamily="18" charset="0"/>
                      </a:rPr>
                      <m:t>Γ</m:t>
                    </m:r>
                  </m:oMath>
                </a14:m>
                <a:r>
                  <a:rPr lang="en-AU" sz="2400" dirty="0"/>
                  <a:t>,</a:t>
                </a:r>
                <a:r>
                  <a:rPr lang="pt-BR" altLang="zh-CN" sz="2400" dirty="0"/>
                  <a:t> </a:t>
                </a:r>
                <a14:m>
                  <m:oMath xmlns:m="http://schemas.openxmlformats.org/officeDocument/2006/math">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i="1" dirty="0">
                            <a:latin typeface="Cambria Math" panose="02040503050406030204" pitchFamily="18" charset="0"/>
                          </a:rPr>
                          <m:t>1</m:t>
                        </m:r>
                      </m:sub>
                    </m:sSub>
                    <m:r>
                      <a:rPr lang="en-AU" altLang="zh-CN" sz="2400" b="0" i="0" dirty="0" smtClean="0">
                        <a:latin typeface="Cambria Math" panose="02040503050406030204" pitchFamily="18" charset="0"/>
                      </a:rPr>
                      <m:t>,</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2</m:t>
                        </m:r>
                      </m:sub>
                    </m:sSub>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ea typeface="Cambria Math" panose="02040503050406030204" pitchFamily="18" charset="0"/>
                      </a:rPr>
                      <m:t>⋯,</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𝑛</m:t>
                        </m:r>
                      </m:sub>
                    </m:sSub>
                  </m:oMath>
                </a14:m>
                <a:r>
                  <a:rPr lang="zh-CN" altLang="en-US" sz="2400" dirty="0"/>
                  <a:t>是</a:t>
                </a:r>
                <a14:m>
                  <m:oMath xmlns:m="http://schemas.openxmlformats.org/officeDocument/2006/math">
                    <m:r>
                      <a:rPr lang="en-AU" sz="2400" i="1" dirty="0" smtClean="0">
                        <a:latin typeface="Cambria Math" panose="02040503050406030204" pitchFamily="18" charset="0"/>
                      </a:rPr>
                      <m:t>𝑄</m:t>
                    </m:r>
                  </m:oMath>
                </a14:m>
                <a:r>
                  <a:rPr lang="zh-CN" altLang="en-US" sz="2400" dirty="0"/>
                  <a:t>中各种可能组合的</a:t>
                </a:r>
                <a14:m>
                  <m:oMath xmlns:m="http://schemas.openxmlformats.org/officeDocument/2006/math">
                    <m:r>
                      <a:rPr lang="en-AU" sz="2400" i="1" dirty="0" smtClean="0">
                        <a:latin typeface="Cambria Math" panose="02040503050406030204" pitchFamily="18" charset="0"/>
                      </a:rPr>
                      <m:t>𝑛</m:t>
                    </m:r>
                  </m:oMath>
                </a14:m>
                <a:r>
                  <a:rPr lang="zh-CN" altLang="en-US" sz="2400" dirty="0"/>
                  <a:t>个状态，即</a:t>
                </a:r>
                <a14:m>
                  <m:oMath xmlns:m="http://schemas.openxmlformats.org/officeDocument/2006/math">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𝑖</m:t>
                        </m:r>
                      </m:sub>
                    </m:sSub>
                    <m:r>
                      <a:rPr lang="en-AU" altLang="zh-CN" sz="2400" i="1" dirty="0">
                        <a:latin typeface="Cambria Math" panose="02040503050406030204" pitchFamily="18" charset="0"/>
                      </a:rPr>
                      <m:t> </m:t>
                    </m:r>
                  </m:oMath>
                </a14:m>
                <a:r>
                  <a:rPr lang="zh-CN" altLang="en-US" sz="2400" dirty="0"/>
                  <a:t>可以是</a:t>
                </a:r>
                <a14:m>
                  <m:oMath xmlns:m="http://schemas.openxmlformats.org/officeDocument/2006/math">
                    <m:r>
                      <a:rPr lang="en-AU" sz="2400" i="1" dirty="0">
                        <a:latin typeface="Cambria Math" panose="02040503050406030204" pitchFamily="18" charset="0"/>
                      </a:rPr>
                      <m:t>𝑄</m:t>
                    </m:r>
                    <m:r>
                      <a:rPr lang="en-AU" sz="2400" i="1" dirty="0">
                        <a:latin typeface="Cambria Math" panose="02040503050406030204" pitchFamily="18" charset="0"/>
                      </a:rPr>
                      <m:t> </m:t>
                    </m:r>
                    <m:r>
                      <a:rPr lang="zh-CN" altLang="en-US" sz="2400" i="1" dirty="0" smtClean="0">
                        <a:latin typeface="Cambria Math" panose="02040503050406030204" pitchFamily="18" charset="0"/>
                      </a:rPr>
                      <m:t>中</m:t>
                    </m:r>
                  </m:oMath>
                </a14:m>
                <a:r>
                  <a:rPr lang="zh-CN" altLang="en-US" sz="2400" dirty="0"/>
                  <a:t>任意一个状态。</a:t>
                </a:r>
                <a:endParaRPr lang="en-AU" altLang="zh-CN" sz="2400" dirty="0"/>
              </a:p>
              <a:p>
                <a:pPr marL="0" indent="0">
                  <a:lnSpc>
                    <a:spcPct val="120000"/>
                  </a:lnSpc>
                  <a:buNone/>
                </a:pPr>
                <a:endParaRPr lang="en-AU" altLang="zh-CN" sz="2400" dirty="0"/>
              </a:p>
              <a:p>
                <a:pPr marL="0" indent="0">
                  <a:lnSpc>
                    <a:spcPct val="120000"/>
                  </a:lnSpc>
                  <a:buNone/>
                </a:pPr>
                <a:endParaRPr lang="en-US" altLang="zh-CN" sz="2400" dirty="0"/>
              </a:p>
              <a:p>
                <a:pPr marL="0" indent="0">
                  <a:lnSpc>
                    <a:spcPct val="120000"/>
                  </a:lnSpc>
                  <a:buNone/>
                </a:pPr>
                <a:r>
                  <a:rPr lang="en-AU" altLang="zh-CN" sz="2400" dirty="0"/>
                  <a:t>(3)</a:t>
                </a:r>
                <a:r>
                  <a:rPr lang="zh-CN" altLang="en-US" sz="2400" dirty="0"/>
                  <a:t>若</a:t>
                </a:r>
                <a14:m>
                  <m:oMath xmlns:m="http://schemas.openxmlformats.org/officeDocument/2006/math">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1</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2</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m:t>
                        </m:r>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𝑛</m:t>
                        </m:r>
                      </m:sub>
                    </m:sSub>
                    <m:r>
                      <a:rPr lang="en-AU" altLang="zh-CN" sz="2400" b="0" i="1" dirty="0" smtClean="0">
                        <a:latin typeface="Cambria Math" panose="02040503050406030204" pitchFamily="18" charset="0"/>
                        <a:ea typeface="Cambria Math" panose="02040503050406030204" pitchFamily="18" charset="0"/>
                      </a:rPr>
                      <m:t>=</m:t>
                    </m:r>
                    <m:r>
                      <a:rPr lang="el-GR" sz="2400" i="1" dirty="0">
                        <a:latin typeface="Cambria Math" panose="02040503050406030204" pitchFamily="18" charset="0"/>
                      </a:rPr>
                      <m:t>𝜀</m:t>
                    </m:r>
                  </m:oMath>
                </a14:m>
                <a:r>
                  <a:rPr lang="en-AU" sz="2400" dirty="0"/>
                  <a:t>, </a:t>
                </a:r>
                <a:r>
                  <a:rPr lang="zh-CN" altLang="en-US" sz="2400" dirty="0"/>
                  <a:t>则有产生式</a:t>
                </a:r>
                <a14:m>
                  <m:oMath xmlns:m="http://schemas.openxmlformats.org/officeDocument/2006/math">
                    <m:d>
                      <m:dPr>
                        <m:begChr m:val="["/>
                        <m:endChr m:val="]"/>
                        <m:ctrlPr>
                          <a:rPr lang="en-US" altLang="zh-CN" sz="2400" i="1" dirty="0" smtClean="0">
                            <a:latin typeface="Cambria Math" panose="02040503050406030204" pitchFamily="18" charset="0"/>
                          </a:rPr>
                        </m:ctrlPr>
                      </m:dPr>
                      <m:e>
                        <m:r>
                          <a:rPr lang="en-AU" sz="2400" i="1" dirty="0" err="1" smtClean="0">
                            <a:latin typeface="Cambria Math" panose="02040503050406030204" pitchFamily="18" charset="0"/>
                          </a:rPr>
                          <m:t>𝑞</m:t>
                        </m:r>
                        <m:r>
                          <a:rPr lang="en-AU" sz="2400" b="0" i="1" dirty="0" smtClean="0">
                            <a:latin typeface="Cambria Math" panose="02040503050406030204" pitchFamily="18" charset="0"/>
                          </a:rPr>
                          <m:t>𝑋𝑝</m:t>
                        </m:r>
                      </m:e>
                    </m:d>
                    <m:r>
                      <a:rPr lang="en-AU" sz="2400" i="1" dirty="0" smtClean="0">
                        <a:latin typeface="Cambria Math" panose="02040503050406030204" pitchFamily="18" charset="0"/>
                      </a:rPr>
                      <m:t>→</m:t>
                    </m:r>
                    <m:r>
                      <a:rPr lang="en-AU" sz="2400" i="1" dirty="0" smtClean="0">
                        <a:latin typeface="Cambria Math" panose="02040503050406030204" pitchFamily="18" charset="0"/>
                      </a:rPr>
                      <m:t>𝑎</m:t>
                    </m:r>
                  </m:oMath>
                </a14:m>
                <a:r>
                  <a:rPr lang="zh-CN" altLang="en-US" sz="2400" dirty="0"/>
                  <a:t>。</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33041"/>
                <a:ext cx="8229600" cy="5323309"/>
              </a:xfrm>
              <a:blipFill rotWithShape="1">
                <a:blip r:embed="rId3"/>
                <a:stretch>
                  <a:fillRect t="-1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83</a:t>
            </a:fld>
            <a:endParaRPr lang="en-AU"/>
          </a:p>
        </p:txBody>
      </p:sp>
      <mc:AlternateContent xmlns:mc="http://schemas.openxmlformats.org/markup-compatibility/2006" xmlns:a14="http://schemas.microsoft.com/office/drawing/2010/main">
        <mc:Choice Requires="a14">
          <p:sp>
            <p:nvSpPr>
              <p:cNvPr id="6" name="TextBox 5"/>
              <p:cNvSpPr txBox="1"/>
              <p:nvPr/>
            </p:nvSpPr>
            <p:spPr>
              <a:xfrm>
                <a:off x="3078125" y="4613902"/>
                <a:ext cx="5837275" cy="923330"/>
              </a:xfrm>
              <a:prstGeom prst="rect">
                <a:avLst/>
              </a:prstGeom>
              <a:solidFill>
                <a:srgbClr val="FFC000"/>
              </a:solidFill>
            </p:spPr>
            <p:txBody>
              <a:bodyPr wrap="square">
                <a:spAutoFit/>
              </a:bodyPr>
              <a:lstStyle/>
              <a:p>
                <a:r>
                  <a:rPr lang="zh-CN" altLang="en-US" dirty="0">
                    <a:latin typeface="楷体" panose="02010609060101010101" pitchFamily="49" charset="-122"/>
                    <a:ea typeface="楷体" panose="02010609060101010101" pitchFamily="49" charset="-122"/>
                  </a:rPr>
                  <a:t>为了弹出某个栈符号</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𝑋</m:t>
                    </m:r>
                  </m:oMath>
                </a14:m>
                <a:r>
                  <a:rPr lang="zh-CN" altLang="en-US" dirty="0">
                    <a:latin typeface="楷体" panose="02010609060101010101" pitchFamily="49" charset="-122"/>
                    <a:ea typeface="楷体" panose="02010609060101010101" pitchFamily="49" charset="-122"/>
                  </a:rPr>
                  <a:t>，第一步是利用某个动作将</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𝑋</m:t>
                    </m:r>
                  </m:oMath>
                </a14:m>
                <a:r>
                  <a:rPr lang="zh-CN" altLang="en-US" dirty="0">
                    <a:latin typeface="楷体" panose="02010609060101010101" pitchFamily="49" charset="-122"/>
                    <a:ea typeface="楷体" panose="02010609060101010101" pitchFamily="49" charset="-122"/>
                  </a:rPr>
                  <a:t>替换为其他栈符号串</a:t>
                </a:r>
                <a14:m>
                  <m:oMath xmlns:m="http://schemas.openxmlformats.org/officeDocument/2006/math">
                    <m:sSub>
                      <m:sSubPr>
                        <m:ctrlPr>
                          <a:rPr lang="en-AU" altLang="zh-CN" sz="1800" i="1" dirty="0" smtClean="0">
                            <a:latin typeface="Cambria Math" panose="02040503050406030204" pitchFamily="18" charset="0"/>
                            <a:ea typeface="Cambria Math" panose="02040503050406030204" pitchFamily="18" charset="0"/>
                          </a:rPr>
                        </m:ctrlPr>
                      </m:sSubPr>
                      <m:e>
                        <m:r>
                          <a:rPr lang="en-AU" altLang="zh-CN" sz="1800" i="1" dirty="0">
                            <a:latin typeface="Cambria Math" panose="02040503050406030204" pitchFamily="18" charset="0"/>
                            <a:ea typeface="Cambria Math" panose="02040503050406030204" pitchFamily="18" charset="0"/>
                          </a:rPr>
                          <m:t>𝑌</m:t>
                        </m:r>
                      </m:e>
                      <m:sub>
                        <m:r>
                          <a:rPr lang="en-AU" altLang="zh-CN" sz="1800" i="1" dirty="0">
                            <a:latin typeface="Cambria Math" panose="02040503050406030204" pitchFamily="18" charset="0"/>
                            <a:ea typeface="Cambria Math" panose="02040503050406030204" pitchFamily="18" charset="0"/>
                          </a:rPr>
                          <m:t>1</m:t>
                        </m:r>
                      </m:sub>
                    </m:sSub>
                    <m:sSub>
                      <m:sSubPr>
                        <m:ctrlPr>
                          <a:rPr lang="en-AU" altLang="zh-CN" sz="1800" i="1" dirty="0">
                            <a:latin typeface="Cambria Math" panose="02040503050406030204" pitchFamily="18" charset="0"/>
                            <a:ea typeface="Cambria Math" panose="02040503050406030204" pitchFamily="18" charset="0"/>
                          </a:rPr>
                        </m:ctrlPr>
                      </m:sSubPr>
                      <m:e>
                        <m:r>
                          <a:rPr lang="en-AU" altLang="zh-CN" sz="1800" i="1" dirty="0">
                            <a:latin typeface="Cambria Math" panose="02040503050406030204" pitchFamily="18" charset="0"/>
                            <a:ea typeface="Cambria Math" panose="02040503050406030204" pitchFamily="18" charset="0"/>
                          </a:rPr>
                          <m:t>𝑌</m:t>
                        </m:r>
                      </m:e>
                      <m:sub>
                        <m:r>
                          <a:rPr lang="en-AU" altLang="zh-CN" sz="1800" i="1" dirty="0">
                            <a:latin typeface="Cambria Math" panose="02040503050406030204" pitchFamily="18" charset="0"/>
                            <a:ea typeface="Cambria Math" panose="02040503050406030204" pitchFamily="18" charset="0"/>
                          </a:rPr>
                          <m:t>2</m:t>
                        </m:r>
                      </m:sub>
                    </m:sSub>
                    <m:sSub>
                      <m:sSubPr>
                        <m:ctrlPr>
                          <a:rPr lang="en-AU" altLang="zh-CN" sz="1800" i="1" dirty="0">
                            <a:latin typeface="Cambria Math" panose="02040503050406030204" pitchFamily="18" charset="0"/>
                            <a:ea typeface="Cambria Math" panose="02040503050406030204" pitchFamily="18" charset="0"/>
                          </a:rPr>
                        </m:ctrlPr>
                      </m:sSubPr>
                      <m:e>
                        <m:r>
                          <a:rPr lang="en-AU" altLang="zh-CN" sz="1800" i="1" dirty="0">
                            <a:latin typeface="Cambria Math" panose="02040503050406030204" pitchFamily="18" charset="0"/>
                            <a:ea typeface="Cambria Math" panose="02040503050406030204" pitchFamily="18" charset="0"/>
                          </a:rPr>
                          <m:t>…</m:t>
                        </m:r>
                        <m:r>
                          <a:rPr lang="en-AU" altLang="zh-CN" sz="1800" i="1" dirty="0">
                            <a:latin typeface="Cambria Math" panose="02040503050406030204" pitchFamily="18" charset="0"/>
                            <a:ea typeface="Cambria Math" panose="02040503050406030204" pitchFamily="18" charset="0"/>
                          </a:rPr>
                          <m:t>𝑌</m:t>
                        </m:r>
                      </m:e>
                      <m:sub>
                        <m:r>
                          <a:rPr lang="en-AU" altLang="zh-CN" sz="1800" b="0" i="1" dirty="0" smtClean="0">
                            <a:latin typeface="Cambria Math" panose="02040503050406030204" pitchFamily="18" charset="0"/>
                            <a:ea typeface="Cambria Math" panose="02040503050406030204" pitchFamily="18" charset="0"/>
                          </a:rPr>
                          <m:t>𝑛</m:t>
                        </m:r>
                      </m:sub>
                    </m:sSub>
                    <m:r>
                      <a:rPr lang="en-AU" altLang="zh-CN" sz="1800" b="0" i="1" dirty="0" smtClean="0">
                        <a:latin typeface="Cambria Math" panose="02040503050406030204" pitchFamily="18" charset="0"/>
                        <a:ea typeface="Cambria Math" panose="02040503050406030204" pitchFamily="18" charset="0"/>
                      </a:rPr>
                      <m:t> </m:t>
                    </m:r>
                  </m:oMath>
                </a14:m>
                <a:r>
                  <a:rPr lang="zh-CN" altLang="en-US" dirty="0">
                    <a:latin typeface="楷体" panose="02010609060101010101" pitchFamily="49" charset="-122"/>
                    <a:ea typeface="楷体" panose="02010609060101010101" pitchFamily="49" charset="-122"/>
                  </a:rPr>
                  <a:t>，然后再一步一步地弹出这些栈符号串。利用这一个动作便可以定义一组产生式。</a:t>
                </a:r>
              </a:p>
            </p:txBody>
          </p:sp>
        </mc:Choice>
        <mc:Fallback xmlns="">
          <p:sp>
            <p:nvSpPr>
              <p:cNvPr id="6" name="TextBox 5"/>
              <p:cNvSpPr txBox="1">
                <a:spLocks noRot="1" noChangeAspect="1" noMove="1" noResize="1" noEditPoints="1" noAdjustHandles="1" noChangeArrowheads="1" noChangeShapeType="1" noTextEdit="1"/>
              </p:cNvSpPr>
              <p:nvPr/>
            </p:nvSpPr>
            <p:spPr>
              <a:xfrm>
                <a:off x="3078125" y="4613902"/>
                <a:ext cx="5837275" cy="923330"/>
              </a:xfrm>
              <a:prstGeom prst="rect">
                <a:avLst/>
              </a:prstGeom>
              <a:blipFill rotWithShape="1">
                <a:blip r:embed="rId4"/>
                <a:stretch>
                  <a:fillRect l="-5" t="-68" b="3"/>
                </a:stretch>
              </a:blipFill>
            </p:spPr>
            <p:txBody>
              <a:bodyPr/>
              <a:lstStyle/>
              <a:p>
                <a:r>
                  <a:rPr lang="zh-CN" altLang="en-US">
                    <a:noFill/>
                  </a:rPr>
                  <a:t> </a:t>
                </a:r>
              </a:p>
            </p:txBody>
          </p:sp>
        </mc:Fallback>
      </mc:AlternateContent>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87926"/>
                <a:ext cx="8229600" cy="4525963"/>
              </a:xfrm>
            </p:spPr>
            <p:txBody>
              <a:bodyPr/>
              <a:lstStyle/>
              <a:p>
                <a:r>
                  <a:rPr lang="zh-CN" altLang="en-US" sz="2400" dirty="0"/>
                  <a:t>例</a:t>
                </a:r>
                <a:r>
                  <a:rPr lang="en-AU" altLang="zh-CN" sz="2400" dirty="0"/>
                  <a:t>:</a:t>
                </a:r>
                <a:r>
                  <a:rPr lang="zh-CN" altLang="en-US" sz="2400" dirty="0"/>
                  <a:t>将</a:t>
                </a:r>
                <a:r>
                  <a:rPr lang="en-AU" altLang="zh-CN" sz="2400" dirty="0">
                    <a:latin typeface="Times New Roman" panose="02020603050405020304" pitchFamily="18" charset="0"/>
                    <a:cs typeface="Times New Roman" panose="02020603050405020304" pitchFamily="18" charset="0"/>
                  </a:rPr>
                  <a:t>PDA</a:t>
                </a:r>
                <a:r>
                  <a:rPr lang="zh-CN" altLang="en-US" sz="2400" dirty="0"/>
                  <a:t> </a:t>
                </a:r>
                <a14:m>
                  <m:oMath xmlns:m="http://schemas.openxmlformats.org/officeDocument/2006/math">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altLang="zh-CN" sz="2400" i="1" dirty="0" smtClean="0">
                        <a:latin typeface="Cambria Math" panose="02040503050406030204" pitchFamily="18" charset="0"/>
                      </a:rPr>
                      <m:t>}, (0, 1), {</m:t>
                    </m:r>
                    <m:r>
                      <a:rPr lang="en-AU" altLang="zh-CN" sz="2400" i="1" dirty="0" smtClean="0">
                        <a:latin typeface="Cambria Math" panose="02040503050406030204" pitchFamily="18" charset="0"/>
                      </a:rPr>
                      <m:t>𝑋</m:t>
                    </m:r>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转为</a:t>
                </a:r>
                <a:r>
                  <a:rPr lang="en-AU" altLang="zh-CN" sz="2400" dirty="0">
                    <a:latin typeface="Times New Roman" panose="02020603050405020304" pitchFamily="18" charset="0"/>
                    <a:cs typeface="Times New Roman" panose="02020603050405020304" pitchFamily="18" charset="0"/>
                  </a:rPr>
                  <a:t>CFG</a:t>
                </a:r>
                <a:r>
                  <a:rPr lang="en-AU" altLang="zh-CN" sz="2400" dirty="0"/>
                  <a:t>, </a:t>
                </a:r>
                <a:r>
                  <a:rPr lang="zh-CN" altLang="en-US" sz="2400" dirty="0"/>
                  <a:t>其中</a:t>
                </a:r>
                <a14:m>
                  <m:oMath xmlns:m="http://schemas.openxmlformats.org/officeDocument/2006/math">
                    <m:r>
                      <a:rPr lang="el-GR" sz="2400" i="1" dirty="0">
                        <a:latin typeface="Cambria Math" panose="02040503050406030204" pitchFamily="18" charset="0"/>
                      </a:rPr>
                      <m:t>𝛿</m:t>
                    </m:r>
                  </m:oMath>
                </a14:m>
                <a:r>
                  <a:rPr lang="zh-CN" altLang="en-US" sz="2400" dirty="0"/>
                  <a:t>如下</a:t>
                </a:r>
                <a:r>
                  <a:rPr lang="en-US" altLang="zh-CN" sz="2400" dirty="0"/>
                  <a:t>:</a:t>
                </a:r>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2"/>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84</a:t>
            </a:fld>
            <a:endParaRPr lang="en-AU"/>
          </a:p>
        </p:txBody>
      </p:sp>
      <mc:AlternateContent xmlns:mc="http://schemas.openxmlformats.org/markup-compatibility/2006" xmlns:a14="http://schemas.microsoft.com/office/drawing/2010/main">
        <mc:Choice Requires="a14">
          <p:sp>
            <p:nvSpPr>
              <p:cNvPr id="5" name="TextBox 4"/>
              <p:cNvSpPr txBox="1"/>
              <p:nvPr/>
            </p:nvSpPr>
            <p:spPr>
              <a:xfrm>
                <a:off x="899327" y="2413381"/>
                <a:ext cx="3260690" cy="1938992"/>
              </a:xfrm>
              <a:prstGeom prst="rect">
                <a:avLst/>
              </a:prstGeom>
              <a:noFill/>
            </p:spPr>
            <p:txBody>
              <a:bodyPr wrap="square">
                <a:spAutoFit/>
              </a:bodyPr>
              <a:lstStyle/>
              <a:p>
                <a:r>
                  <a:rPr lang="en-US" sz="2000" dirty="0"/>
                  <a:t>(1)</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,0,</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rPr>
                      <m:t>𝑋</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oMath>
                </a14:m>
                <a:endParaRPr lang="en-US" sz="2000" dirty="0"/>
              </a:p>
              <a:p>
                <a:r>
                  <a:rPr lang="en-US" sz="2000" dirty="0"/>
                  <a:t>(2)</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,0,</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rPr>
                      <m:t>𝑋𝑋</m:t>
                    </m:r>
                    <m:r>
                      <a:rPr lang="en-AU" sz="2000" b="0" i="1" dirty="0" smtClean="0">
                        <a:latin typeface="Cambria Math" panose="02040503050406030204" pitchFamily="18" charset="0"/>
                      </a:rPr>
                      <m:t>)}</m:t>
                    </m:r>
                  </m:oMath>
                </a14:m>
                <a:endParaRPr lang="en-US" sz="2000" dirty="0"/>
              </a:p>
              <a:p>
                <a:r>
                  <a:rPr lang="en-US" sz="2000" dirty="0"/>
                  <a:t>(3)</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,1,</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a:p>
                <a:r>
                  <a:rPr lang="en-US" sz="2000" dirty="0"/>
                  <a:t>(4)</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,1,</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a:p>
                <a:r>
                  <a:rPr lang="en-AU" sz="2000" dirty="0"/>
                  <a:t>(5)</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AU" sz="2000" dirty="0"/>
              </a:p>
              <a:p>
                <a:r>
                  <a:rPr lang="en-AU" sz="2000" dirty="0"/>
                  <a:t>(6)</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899327" y="2413381"/>
                <a:ext cx="3260690" cy="1938992"/>
              </a:xfrm>
              <a:prstGeom prst="rect">
                <a:avLst/>
              </a:prstGeom>
              <a:blipFill rotWithShape="1">
                <a:blip r:embed="rId3"/>
                <a:stretch>
                  <a:fillRect l="-5" t="-20" r="4"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510530" y="2188803"/>
                <a:ext cx="2031325" cy="1200329"/>
              </a:xfrm>
              <a:prstGeom prst="rect">
                <a:avLst/>
              </a:prstGeom>
              <a:noFill/>
            </p:spPr>
            <p:txBody>
              <a:bodyPr wrap="none" rtlCol="0">
                <a:spAutoFit/>
              </a:bodyPr>
              <a:lstStyle/>
              <a:p>
                <a:r>
                  <a:rPr lang="zh-CN" altLang="en-US" dirty="0">
                    <a:solidFill>
                      <a:srgbClr val="FF0000"/>
                    </a:solidFill>
                    <a:latin typeface="楷体" panose="02010609060101010101" pitchFamily="49" charset="-122"/>
                    <a:ea typeface="楷体" panose="02010609060101010101" pitchFamily="49" charset="-122"/>
                  </a:rPr>
                  <a:t>初始符号产生式</a:t>
                </a:r>
                <a:r>
                  <a:rPr lang="zh-CN" altLang="en-US" dirty="0"/>
                  <a:t>：</a:t>
                </a:r>
                <a:endParaRPr lang="en-AU" altLang="zh-CN" dirty="0"/>
              </a:p>
              <a:p>
                <a:pPr/>
                <a14:m>
                  <m:oMathPara xmlns:m="http://schemas.openxmlformats.org/officeDocument/2006/math">
                    <m:oMathParaPr>
                      <m:jc m:val="centerGroup"/>
                    </m:oMathParaPr>
                    <m:oMath xmlns:m="http://schemas.openxmlformats.org/officeDocument/2006/math">
                      <m:r>
                        <a:rPr lang="en-AU" sz="1800" i="1" dirty="0" smtClean="0">
                          <a:latin typeface="Cambria Math" panose="02040503050406030204" pitchFamily="18" charset="0"/>
                        </a:rPr>
                        <m:t>𝑆</m:t>
                      </m:r>
                      <m:r>
                        <a:rPr lang="en-AU" sz="1800" i="1" dirty="0" smtClean="0">
                          <a:latin typeface="Cambria Math" panose="02040503050406030204" pitchFamily="18" charset="0"/>
                        </a:rPr>
                        <m:t> → [</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sz="1800"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centerGroup"/>
                    </m:oMathParaPr>
                    <m:oMath xmlns:m="http://schemas.openxmlformats.org/officeDocument/2006/math">
                      <m:r>
                        <a:rPr lang="en-AU" sz="1800" i="1" dirty="0" smtClean="0">
                          <a:latin typeface="Cambria Math" panose="02040503050406030204" pitchFamily="18" charset="0"/>
                        </a:rPr>
                        <m:t>𝑆</m:t>
                      </m:r>
                      <m:r>
                        <a:rPr lang="en-AU" sz="1800" i="1" dirty="0" smtClean="0">
                          <a:latin typeface="Cambria Math" panose="02040503050406030204" pitchFamily="18" charset="0"/>
                        </a:rPr>
                        <m:t> → [</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1</m:t>
                          </m:r>
                        </m:sub>
                      </m:sSub>
                      <m:r>
                        <a:rPr lang="en-AU" sz="1800" b="0" i="1" dirty="0" smtClean="0">
                          <a:latin typeface="Cambria Math" panose="02040503050406030204" pitchFamily="18" charset="0"/>
                        </a:rPr>
                        <m:t>]</m:t>
                      </m:r>
                    </m:oMath>
                  </m:oMathPara>
                </a14:m>
                <a:endParaRPr lang="en-AU" altLang="zh-CN" dirty="0"/>
              </a:p>
              <a:p>
                <a:endParaRPr lang="en-AU" dirty="0"/>
              </a:p>
            </p:txBody>
          </p:sp>
        </mc:Choice>
        <mc:Fallback xmlns="">
          <p:sp>
            <p:nvSpPr>
              <p:cNvPr id="6" name="TextBox 5"/>
              <p:cNvSpPr txBox="1">
                <a:spLocks noRot="1" noChangeAspect="1" noMove="1" noResize="1" noEditPoints="1" noAdjustHandles="1" noChangeArrowheads="1" noChangeShapeType="1" noTextEdit="1"/>
              </p:cNvSpPr>
              <p:nvPr/>
            </p:nvSpPr>
            <p:spPr>
              <a:xfrm>
                <a:off x="5510530" y="2188803"/>
                <a:ext cx="2031325" cy="1200329"/>
              </a:xfrm>
              <a:prstGeom prst="rect">
                <a:avLst/>
              </a:prstGeom>
              <a:blipFill rotWithShape="1">
                <a:blip r:embed="rId4"/>
                <a:stretch>
                  <a:fillRect t="-49" r="29" b="11"/>
                </a:stretch>
              </a:blipFill>
            </p:spPr>
            <p:txBody>
              <a:bodyPr/>
              <a:lstStyle/>
              <a:p>
                <a:r>
                  <a:rPr lang="zh-CN" altLang="en-US">
                    <a:noFill/>
                  </a:rPr>
                  <a:t> </a:t>
                </a:r>
              </a:p>
            </p:txBody>
          </p:sp>
        </mc:Fallback>
      </mc:AlternateContent>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48786"/>
                <a:ext cx="8229600" cy="4525963"/>
              </a:xfrm>
            </p:spPr>
            <p:txBody>
              <a:bodyPr/>
              <a:lstStyle/>
              <a:p>
                <a:r>
                  <a:rPr lang="zh-CN" altLang="en-US" sz="2400" dirty="0"/>
                  <a:t>例</a:t>
                </a:r>
                <a:r>
                  <a:rPr lang="en-AU" altLang="zh-CN" sz="2400" dirty="0"/>
                  <a:t>:</a:t>
                </a:r>
                <a:r>
                  <a:rPr lang="zh-CN" altLang="en-US" sz="2400" dirty="0"/>
                  <a:t>将</a:t>
                </a:r>
                <a:r>
                  <a:rPr lang="en-AU" altLang="zh-CN" sz="2400" dirty="0">
                    <a:latin typeface="Times New Roman" panose="02020603050405020304" pitchFamily="18" charset="0"/>
                    <a:cs typeface="Times New Roman" panose="02020603050405020304" pitchFamily="18" charset="0"/>
                  </a:rPr>
                  <a:t>PDA</a:t>
                </a:r>
                <a:r>
                  <a:rPr lang="zh-CN" altLang="en-US" sz="2400" dirty="0"/>
                  <a:t> </a:t>
                </a:r>
                <a14:m>
                  <m:oMath xmlns:m="http://schemas.openxmlformats.org/officeDocument/2006/math">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altLang="zh-CN" sz="2400" i="1" dirty="0" smtClean="0">
                        <a:latin typeface="Cambria Math" panose="02040503050406030204" pitchFamily="18" charset="0"/>
                      </a:rPr>
                      <m:t>}, (0, 1), {</m:t>
                    </m:r>
                    <m:r>
                      <a:rPr lang="en-AU" altLang="zh-CN" sz="2400" i="1" dirty="0" smtClean="0">
                        <a:latin typeface="Cambria Math" panose="02040503050406030204" pitchFamily="18" charset="0"/>
                      </a:rPr>
                      <m:t>𝑋</m:t>
                    </m:r>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转为</a:t>
                </a:r>
                <a:r>
                  <a:rPr lang="en-AU" altLang="zh-CN" sz="2400" dirty="0">
                    <a:latin typeface="Times New Roman" panose="02020603050405020304" pitchFamily="18" charset="0"/>
                    <a:cs typeface="Times New Roman" panose="02020603050405020304" pitchFamily="18" charset="0"/>
                  </a:rPr>
                  <a:t>CFG</a:t>
                </a:r>
                <a:r>
                  <a:rPr lang="en-AU" altLang="zh-CN" sz="2400" dirty="0"/>
                  <a:t>, </a:t>
                </a:r>
                <a:r>
                  <a:rPr lang="zh-CN" altLang="en-US" sz="2400" dirty="0"/>
                  <a:t>其中</a:t>
                </a:r>
                <a14:m>
                  <m:oMath xmlns:m="http://schemas.openxmlformats.org/officeDocument/2006/math">
                    <m:r>
                      <a:rPr lang="el-GR" sz="2400" i="1" dirty="0">
                        <a:latin typeface="Cambria Math" panose="02040503050406030204" pitchFamily="18" charset="0"/>
                      </a:rPr>
                      <m:t>𝛿</m:t>
                    </m:r>
                  </m:oMath>
                </a14:m>
                <a:r>
                  <a:rPr lang="zh-CN" altLang="en-US" sz="2400" dirty="0"/>
                  <a:t>如下</a:t>
                </a:r>
                <a:r>
                  <a:rPr lang="en-US" altLang="zh-CN" sz="2400" dirty="0"/>
                  <a:t>:</a:t>
                </a:r>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48786"/>
                <a:ext cx="8229600" cy="4525963"/>
              </a:xfrm>
              <a:blipFill rotWithShape="1">
                <a:blip r:embed="rId2"/>
                <a:stretch>
                  <a:fillRect t="-2"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85</a:t>
            </a:fld>
            <a:endParaRPr lang="en-AU"/>
          </a:p>
        </p:txBody>
      </p:sp>
      <mc:AlternateContent xmlns:mc="http://schemas.openxmlformats.org/markup-compatibility/2006" xmlns:a14="http://schemas.microsoft.com/office/drawing/2010/main">
        <mc:Choice Requires="a14">
          <p:sp>
            <p:nvSpPr>
              <p:cNvPr id="5" name="TextBox 4"/>
              <p:cNvSpPr txBox="1"/>
              <p:nvPr/>
            </p:nvSpPr>
            <p:spPr>
              <a:xfrm>
                <a:off x="899327" y="2374241"/>
                <a:ext cx="3260690" cy="1938992"/>
              </a:xfrm>
              <a:prstGeom prst="rect">
                <a:avLst/>
              </a:prstGeom>
              <a:noFill/>
            </p:spPr>
            <p:txBody>
              <a:bodyPr wrap="square">
                <a:spAutoFit/>
              </a:bodyPr>
              <a:lstStyle/>
              <a:p>
                <a:r>
                  <a:rPr lang="en-US" sz="2000" dirty="0"/>
                  <a:t>(1)</a:t>
                </a:r>
                <a:r>
                  <a:rPr lang="el-GR" sz="2000" dirty="0"/>
                  <a:t> </a:t>
                </a:r>
                <a14:m>
                  <m:oMath xmlns:m="http://schemas.openxmlformats.org/officeDocument/2006/math">
                    <m:r>
                      <a:rPr lang="el-GR" sz="2000" i="1" dirty="0" smtClean="0">
                        <a:solidFill>
                          <a:srgbClr val="FF0000"/>
                        </a:solidFill>
                        <a:latin typeface="Cambria Math" panose="02040503050406030204" pitchFamily="18" charset="0"/>
                      </a:rPr>
                      <m:t>𝛿</m:t>
                    </m:r>
                    <m:d>
                      <m:dPr>
                        <m:ctrlPr>
                          <a:rPr lang="en-AU" sz="2000" b="0" i="1" dirty="0" smtClean="0">
                            <a:solidFill>
                              <a:srgbClr val="FF0000"/>
                            </a:solidFill>
                            <a:latin typeface="Cambria Math" panose="02040503050406030204" pitchFamily="18" charset="0"/>
                          </a:rPr>
                        </m:ctrlPr>
                      </m:dPr>
                      <m:e>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𝑞</m:t>
                            </m:r>
                          </m:e>
                          <m:sub>
                            <m:r>
                              <a:rPr lang="en-AU" altLang="zh-CN" sz="2000" i="1" dirty="0">
                                <a:solidFill>
                                  <a:srgbClr val="FF0000"/>
                                </a:solidFill>
                                <a:latin typeface="Cambria Math" panose="02040503050406030204" pitchFamily="18" charset="0"/>
                              </a:rPr>
                              <m:t>0</m:t>
                            </m:r>
                          </m:sub>
                        </m:sSub>
                        <m:r>
                          <a:rPr lang="en-AU" sz="2000" b="0" i="1" dirty="0" smtClean="0">
                            <a:solidFill>
                              <a:srgbClr val="FF0000"/>
                            </a:solidFill>
                            <a:latin typeface="Cambria Math" panose="02040503050406030204" pitchFamily="18" charset="0"/>
                          </a:rPr>
                          <m:t>,0,</m:t>
                        </m:r>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𝑍</m:t>
                            </m:r>
                          </m:e>
                          <m:sub>
                            <m:r>
                              <a:rPr lang="en-AU" altLang="zh-CN" sz="2000" i="1" dirty="0">
                                <a:solidFill>
                                  <a:srgbClr val="FF0000"/>
                                </a:solidFill>
                                <a:latin typeface="Cambria Math" panose="02040503050406030204" pitchFamily="18" charset="0"/>
                              </a:rPr>
                              <m:t>0</m:t>
                            </m:r>
                          </m:sub>
                        </m:sSub>
                      </m:e>
                    </m:d>
                    <m:r>
                      <a:rPr lang="en-AU" sz="2000" b="0" i="1" dirty="0" smtClean="0">
                        <a:solidFill>
                          <a:srgbClr val="FF0000"/>
                        </a:solidFill>
                        <a:latin typeface="Cambria Math" panose="02040503050406030204" pitchFamily="18" charset="0"/>
                      </a:rPr>
                      <m:t>={(</m:t>
                    </m:r>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𝑞</m:t>
                        </m:r>
                      </m:e>
                      <m:sub>
                        <m:r>
                          <a:rPr lang="en-AU" altLang="zh-CN" sz="2000" i="1" dirty="0">
                            <a:solidFill>
                              <a:srgbClr val="FF0000"/>
                            </a:solidFill>
                            <a:latin typeface="Cambria Math" panose="02040503050406030204" pitchFamily="18" charset="0"/>
                          </a:rPr>
                          <m:t>0</m:t>
                        </m:r>
                      </m:sub>
                    </m:sSub>
                    <m:r>
                      <a:rPr lang="en-AU" sz="2000" b="0" i="1" dirty="0" smtClean="0">
                        <a:solidFill>
                          <a:srgbClr val="FF0000"/>
                        </a:solidFill>
                        <a:latin typeface="Cambria Math" panose="02040503050406030204" pitchFamily="18" charset="0"/>
                      </a:rPr>
                      <m:t>,</m:t>
                    </m:r>
                    <m:r>
                      <a:rPr lang="en-AU" sz="2000" b="0" i="1" dirty="0" smtClean="0">
                        <a:solidFill>
                          <a:srgbClr val="FF0000"/>
                        </a:solidFill>
                        <a:latin typeface="Cambria Math" panose="02040503050406030204" pitchFamily="18" charset="0"/>
                      </a:rPr>
                      <m:t>𝑋</m:t>
                    </m:r>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𝑍</m:t>
                        </m:r>
                      </m:e>
                      <m:sub>
                        <m:r>
                          <a:rPr lang="en-AU" altLang="zh-CN" sz="2000" i="1" dirty="0">
                            <a:solidFill>
                              <a:srgbClr val="FF0000"/>
                            </a:solidFill>
                            <a:latin typeface="Cambria Math" panose="02040503050406030204" pitchFamily="18" charset="0"/>
                          </a:rPr>
                          <m:t>0</m:t>
                        </m:r>
                      </m:sub>
                    </m:sSub>
                    <m:r>
                      <a:rPr lang="en-AU" sz="2000" b="0" i="1" dirty="0" smtClean="0">
                        <a:solidFill>
                          <a:srgbClr val="FF0000"/>
                        </a:solidFill>
                        <a:latin typeface="Cambria Math" panose="02040503050406030204" pitchFamily="18" charset="0"/>
                      </a:rPr>
                      <m:t>)}</m:t>
                    </m:r>
                  </m:oMath>
                </a14:m>
                <a:endParaRPr lang="en-US" sz="2000" dirty="0">
                  <a:solidFill>
                    <a:srgbClr val="FF0000"/>
                  </a:solidFill>
                </a:endParaRPr>
              </a:p>
              <a:p>
                <a:r>
                  <a:rPr lang="en-US" sz="2000" dirty="0"/>
                  <a:t>(2)</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,0,</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rPr>
                      <m:t>𝑋𝑋</m:t>
                    </m:r>
                    <m:r>
                      <a:rPr lang="en-AU" sz="2000" b="0" i="1" dirty="0" smtClean="0">
                        <a:latin typeface="Cambria Math" panose="02040503050406030204" pitchFamily="18" charset="0"/>
                      </a:rPr>
                      <m:t>)}</m:t>
                    </m:r>
                  </m:oMath>
                </a14:m>
                <a:endParaRPr lang="en-US" sz="2000" dirty="0"/>
              </a:p>
              <a:p>
                <a:r>
                  <a:rPr lang="en-US" sz="2000" dirty="0"/>
                  <a:t>(3)</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,1,</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a:p>
                <a:r>
                  <a:rPr lang="en-US" sz="2000" dirty="0"/>
                  <a:t>(4)</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,1,</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a:p>
                <a:r>
                  <a:rPr lang="en-AU" sz="2000" dirty="0"/>
                  <a:t>(5)</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AU" sz="2000" dirty="0"/>
              </a:p>
              <a:p>
                <a:r>
                  <a:rPr lang="en-AU" sz="2000" dirty="0"/>
                  <a:t>(6)</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899327" y="2374241"/>
                <a:ext cx="3260690" cy="1938992"/>
              </a:xfrm>
              <a:prstGeom prst="rect">
                <a:avLst/>
              </a:prstGeom>
              <a:blipFill rotWithShape="1">
                <a:blip r:embed="rId3"/>
                <a:stretch>
                  <a:fillRect l="-5" t="-32" r="4" b="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983985" y="2237895"/>
                <a:ext cx="3577454" cy="2862322"/>
              </a:xfrm>
              <a:prstGeom prst="rect">
                <a:avLst/>
              </a:prstGeom>
              <a:noFill/>
            </p:spPr>
            <p:txBody>
              <a:bodyPr wrap="none" rtlCol="0">
                <a:spAutoFit/>
              </a:bodyPr>
              <a:lstStyle/>
              <a:p>
                <a14:m>
                  <m:oMath xmlns:m="http://schemas.openxmlformats.org/officeDocument/2006/math">
                    <m:r>
                      <a:rPr lang="el-GR" sz="1800" i="1" dirty="0" smtClean="0">
                        <a:solidFill>
                          <a:srgbClr val="FF0000"/>
                        </a:solidFill>
                        <a:latin typeface="Cambria Math" panose="02040503050406030204" pitchFamily="18" charset="0"/>
                      </a:rPr>
                      <m:t>𝛿</m:t>
                    </m:r>
                    <m:d>
                      <m:dPr>
                        <m:ctrlPr>
                          <a:rPr lang="en-AU" sz="1800" b="0" i="1" dirty="0" smtClean="0">
                            <a:solidFill>
                              <a:srgbClr val="FF0000"/>
                            </a:solidFill>
                            <a:latin typeface="Cambria Math" panose="02040503050406030204" pitchFamily="18" charset="0"/>
                          </a:rPr>
                        </m:ctrlPr>
                      </m:dPr>
                      <m:e>
                        <m:sSub>
                          <m:sSubPr>
                            <m:ctrlPr>
                              <a:rPr lang="en-AU" altLang="zh-CN" sz="1800" i="1" dirty="0">
                                <a:solidFill>
                                  <a:srgbClr val="FF0000"/>
                                </a:solidFill>
                                <a:latin typeface="Cambria Math" panose="02040503050406030204" pitchFamily="18" charset="0"/>
                              </a:rPr>
                            </m:ctrlPr>
                          </m:sSubPr>
                          <m:e>
                            <m:r>
                              <a:rPr lang="en-AU" altLang="zh-CN" sz="1800" i="1" dirty="0">
                                <a:solidFill>
                                  <a:srgbClr val="FF0000"/>
                                </a:solidFill>
                                <a:latin typeface="Cambria Math" panose="02040503050406030204" pitchFamily="18" charset="0"/>
                              </a:rPr>
                              <m:t>𝑞</m:t>
                            </m:r>
                          </m:e>
                          <m:sub>
                            <m:r>
                              <a:rPr lang="en-AU" altLang="zh-CN" sz="1800" i="1" dirty="0">
                                <a:solidFill>
                                  <a:srgbClr val="FF0000"/>
                                </a:solidFill>
                                <a:latin typeface="Cambria Math" panose="02040503050406030204" pitchFamily="18" charset="0"/>
                              </a:rPr>
                              <m:t>0</m:t>
                            </m:r>
                          </m:sub>
                        </m:sSub>
                        <m:r>
                          <a:rPr lang="en-AU" sz="1800" b="0" i="1" dirty="0" smtClean="0">
                            <a:solidFill>
                              <a:srgbClr val="FF0000"/>
                            </a:solidFill>
                            <a:latin typeface="Cambria Math" panose="02040503050406030204" pitchFamily="18" charset="0"/>
                          </a:rPr>
                          <m:t>,0,</m:t>
                        </m:r>
                        <m:sSub>
                          <m:sSubPr>
                            <m:ctrlPr>
                              <a:rPr lang="en-AU" altLang="zh-CN" sz="1800" i="1" dirty="0">
                                <a:solidFill>
                                  <a:srgbClr val="FF0000"/>
                                </a:solidFill>
                                <a:latin typeface="Cambria Math" panose="02040503050406030204" pitchFamily="18" charset="0"/>
                              </a:rPr>
                            </m:ctrlPr>
                          </m:sSubPr>
                          <m:e>
                            <m:r>
                              <a:rPr lang="en-AU" altLang="zh-CN" sz="1800" i="1" dirty="0">
                                <a:solidFill>
                                  <a:srgbClr val="FF0000"/>
                                </a:solidFill>
                                <a:latin typeface="Cambria Math" panose="02040503050406030204" pitchFamily="18" charset="0"/>
                              </a:rPr>
                              <m:t>𝑍</m:t>
                            </m:r>
                          </m:e>
                          <m:sub>
                            <m:r>
                              <a:rPr lang="en-AU" altLang="zh-CN" sz="1800" i="1" dirty="0">
                                <a:solidFill>
                                  <a:srgbClr val="FF0000"/>
                                </a:solidFill>
                                <a:latin typeface="Cambria Math" panose="02040503050406030204" pitchFamily="18" charset="0"/>
                              </a:rPr>
                              <m:t>0</m:t>
                            </m:r>
                          </m:sub>
                        </m:sSub>
                      </m:e>
                    </m:d>
                    <m:r>
                      <a:rPr lang="en-AU" sz="1800" b="0" i="1" dirty="0" smtClean="0">
                        <a:solidFill>
                          <a:srgbClr val="FF0000"/>
                        </a:solidFill>
                        <a:latin typeface="Cambria Math" panose="02040503050406030204" pitchFamily="18" charset="0"/>
                      </a:rPr>
                      <m:t>={(</m:t>
                    </m:r>
                    <m:sSub>
                      <m:sSubPr>
                        <m:ctrlPr>
                          <a:rPr lang="en-AU" altLang="zh-CN" sz="1800" i="1" dirty="0">
                            <a:solidFill>
                              <a:srgbClr val="FF0000"/>
                            </a:solidFill>
                            <a:latin typeface="Cambria Math" panose="02040503050406030204" pitchFamily="18" charset="0"/>
                          </a:rPr>
                        </m:ctrlPr>
                      </m:sSubPr>
                      <m:e>
                        <m:r>
                          <a:rPr lang="en-AU" altLang="zh-CN" sz="1800" i="1" dirty="0">
                            <a:solidFill>
                              <a:srgbClr val="FF0000"/>
                            </a:solidFill>
                            <a:latin typeface="Cambria Math" panose="02040503050406030204" pitchFamily="18" charset="0"/>
                          </a:rPr>
                          <m:t>𝑞</m:t>
                        </m:r>
                      </m:e>
                      <m:sub>
                        <m:r>
                          <a:rPr lang="en-AU" altLang="zh-CN" sz="1800" i="1" dirty="0">
                            <a:solidFill>
                              <a:srgbClr val="FF0000"/>
                            </a:solidFill>
                            <a:latin typeface="Cambria Math" panose="02040503050406030204" pitchFamily="18" charset="0"/>
                          </a:rPr>
                          <m:t>0</m:t>
                        </m:r>
                      </m:sub>
                    </m:sSub>
                    <m:r>
                      <a:rPr lang="en-AU" sz="1800" b="0" i="1" dirty="0" smtClean="0">
                        <a:solidFill>
                          <a:srgbClr val="FF0000"/>
                        </a:solidFill>
                        <a:latin typeface="Cambria Math" panose="02040503050406030204" pitchFamily="18" charset="0"/>
                      </a:rPr>
                      <m:t>,</m:t>
                    </m:r>
                    <m:r>
                      <a:rPr lang="en-AU" sz="1800" b="0" i="1" dirty="0" smtClean="0">
                        <a:solidFill>
                          <a:srgbClr val="FF0000"/>
                        </a:solidFill>
                        <a:latin typeface="Cambria Math" panose="02040503050406030204" pitchFamily="18" charset="0"/>
                      </a:rPr>
                      <m:t>𝑋</m:t>
                    </m:r>
                    <m:sSub>
                      <m:sSubPr>
                        <m:ctrlPr>
                          <a:rPr lang="en-AU" altLang="zh-CN" sz="1800" i="1" dirty="0">
                            <a:solidFill>
                              <a:srgbClr val="FF0000"/>
                            </a:solidFill>
                            <a:latin typeface="Cambria Math" panose="02040503050406030204" pitchFamily="18" charset="0"/>
                          </a:rPr>
                        </m:ctrlPr>
                      </m:sSubPr>
                      <m:e>
                        <m:r>
                          <a:rPr lang="en-AU" altLang="zh-CN" sz="1800" i="1" dirty="0">
                            <a:solidFill>
                              <a:srgbClr val="FF0000"/>
                            </a:solidFill>
                            <a:latin typeface="Cambria Math" panose="02040503050406030204" pitchFamily="18" charset="0"/>
                          </a:rPr>
                          <m:t>𝑍</m:t>
                        </m:r>
                      </m:e>
                      <m:sub>
                        <m:r>
                          <a:rPr lang="en-AU" altLang="zh-CN" sz="1800" i="1" dirty="0">
                            <a:solidFill>
                              <a:srgbClr val="FF0000"/>
                            </a:solidFill>
                            <a:latin typeface="Cambria Math" panose="02040503050406030204" pitchFamily="18" charset="0"/>
                          </a:rPr>
                          <m:t>0</m:t>
                        </m:r>
                      </m:sub>
                    </m:sSub>
                    <m:r>
                      <a:rPr lang="en-AU" sz="1800" b="0" i="1" dirty="0" smtClean="0">
                        <a:solidFill>
                          <a:srgbClr val="FF0000"/>
                        </a:solidFill>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rPr>
                  <a:t>产生式</a:t>
                </a:r>
                <a:r>
                  <a:rPr lang="zh-CN" altLang="en-US" dirty="0"/>
                  <a:t>：</a:t>
                </a:r>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endParaRPr lang="en-AU" dirty="0"/>
              </a:p>
            </p:txBody>
          </p:sp>
        </mc:Choice>
        <mc:Fallback xmlns="">
          <p:sp>
            <p:nvSpPr>
              <p:cNvPr id="6" name="TextBox 5"/>
              <p:cNvSpPr txBox="1">
                <a:spLocks noRot="1" noChangeAspect="1" noMove="1" noResize="1" noEditPoints="1" noAdjustHandles="1" noChangeArrowheads="1" noChangeShapeType="1" noTextEdit="1"/>
              </p:cNvSpPr>
              <p:nvPr/>
            </p:nvSpPr>
            <p:spPr>
              <a:xfrm>
                <a:off x="4983985" y="2237895"/>
                <a:ext cx="3577454" cy="2862322"/>
              </a:xfrm>
              <a:prstGeom prst="rect">
                <a:avLst/>
              </a:prstGeom>
              <a:blipFill rotWithShape="1">
                <a:blip r:embed="rId4"/>
                <a:stretch>
                  <a:fillRect l="-14" t="-5" r="10" b="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731119" y="4766552"/>
                <a:ext cx="3830320" cy="923330"/>
              </a:xfrm>
              <a:prstGeom prst="rect">
                <a:avLst/>
              </a:prstGeom>
              <a:solidFill>
                <a:srgbClr val="FFC000"/>
              </a:solidFill>
            </p:spPr>
            <p:txBody>
              <a:bodyPr wrap="square" rtlCol="0">
                <a:spAutoFit/>
              </a:bodyPr>
              <a:lstStyle/>
              <a:p>
                <a:r>
                  <a:rPr lang="zh-CN" altLang="en-US" dirty="0">
                    <a:latin typeface="楷体" panose="02010609060101010101" pitchFamily="49" charset="-122"/>
                    <a:ea typeface="楷体" panose="02010609060101010101" pitchFamily="49" charset="-122"/>
                  </a:rPr>
                  <a:t>由前定义，因为有两个状态，故</a:t>
                </a:r>
                <a:r>
                  <a:rPr lang="en-AU" altLang="zh-CN" dirty="0">
                    <a:latin typeface="楷体" panose="02010609060101010101" pitchFamily="49" charset="-122"/>
                    <a:ea typeface="楷体" panose="02010609060101010101" pitchFamily="49" charset="-122"/>
                  </a:rPr>
                  <a:t>(</a:t>
                </a:r>
                <a14:m>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𝑟</m:t>
                        </m:r>
                      </m:e>
                      <m:sub>
                        <m:r>
                          <a:rPr lang="en-AU" altLang="zh-CN" b="0" i="1" smtClean="0">
                            <a:latin typeface="Cambria Math" panose="02040503050406030204" pitchFamily="18" charset="0"/>
                          </a:rPr>
                          <m:t>1</m:t>
                        </m:r>
                      </m:sub>
                    </m:sSub>
                    <m:r>
                      <a:rPr lang="en-AU" altLang="zh-CN" b="0" i="1" smtClean="0">
                        <a:latin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𝑟</m:t>
                        </m:r>
                      </m:e>
                      <m:sub>
                        <m:r>
                          <a:rPr lang="en-AU" altLang="zh-CN" b="0" i="1" smtClean="0">
                            <a:latin typeface="Cambria Math" panose="02040503050406030204" pitchFamily="18" charset="0"/>
                          </a:rPr>
                          <m:t>2</m:t>
                        </m:r>
                      </m:sub>
                    </m:sSub>
                  </m:oMath>
                </a14:m>
                <a:r>
                  <a:rPr lang="en-AU"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共有四种状态组合，因此有四条产生式。</a:t>
                </a:r>
                <a:endParaRPr lang="en-AU" dirty="0">
                  <a:latin typeface="楷体" panose="02010609060101010101" pitchFamily="49" charset="-122"/>
                  <a:ea typeface="楷体" panose="02010609060101010101" pitchFamily="49" charset="-122"/>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731119" y="4766552"/>
                <a:ext cx="3830320" cy="923330"/>
              </a:xfrm>
              <a:prstGeom prst="rect">
                <a:avLst/>
              </a:prstGeom>
              <a:blipFill rotWithShape="1">
                <a:blip r:embed="rId5"/>
                <a:stretch>
                  <a:fillRect l="-10" t="-26" r="10" b="31"/>
                </a:stretch>
              </a:blipFill>
            </p:spPr>
            <p:txBody>
              <a:bodyPr/>
              <a:lstStyle/>
              <a:p>
                <a:r>
                  <a:rPr lang="zh-CN" altLang="en-US">
                    <a:noFill/>
                  </a:rPr>
                  <a:t> </a:t>
                </a:r>
              </a:p>
            </p:txBody>
          </p:sp>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lstStyle/>
              <a:p>
                <a:r>
                  <a:rPr lang="zh-CN" altLang="en-US" sz="2400" dirty="0"/>
                  <a:t>例</a:t>
                </a:r>
                <a:r>
                  <a:rPr lang="en-AU" altLang="zh-CN" sz="2400" dirty="0"/>
                  <a:t>:</a:t>
                </a:r>
                <a:r>
                  <a:rPr lang="zh-CN" altLang="en-US" sz="2400" dirty="0"/>
                  <a:t>将</a:t>
                </a:r>
                <a:r>
                  <a:rPr lang="en-AU" altLang="zh-CN" sz="2400" dirty="0">
                    <a:latin typeface="Times New Roman" panose="02020603050405020304" pitchFamily="18" charset="0"/>
                    <a:cs typeface="Times New Roman" panose="02020603050405020304" pitchFamily="18" charset="0"/>
                  </a:rPr>
                  <a:t>PDA</a:t>
                </a:r>
                <a:r>
                  <a:rPr lang="zh-CN" altLang="en-US" sz="2400" dirty="0"/>
                  <a:t> </a:t>
                </a:r>
                <a14:m>
                  <m:oMath xmlns:m="http://schemas.openxmlformats.org/officeDocument/2006/math">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altLang="zh-CN" sz="2400" i="1" dirty="0" smtClean="0">
                        <a:latin typeface="Cambria Math" panose="02040503050406030204" pitchFamily="18" charset="0"/>
                      </a:rPr>
                      <m:t>}, (0, 1), {</m:t>
                    </m:r>
                    <m:r>
                      <a:rPr lang="en-AU" altLang="zh-CN" sz="2400" i="1" dirty="0" smtClean="0">
                        <a:latin typeface="Cambria Math" panose="02040503050406030204" pitchFamily="18" charset="0"/>
                      </a:rPr>
                      <m:t>𝑋</m:t>
                    </m:r>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转为</a:t>
                </a:r>
                <a:r>
                  <a:rPr lang="en-AU" altLang="zh-CN" sz="2400" dirty="0">
                    <a:latin typeface="Times New Roman" panose="02020603050405020304" pitchFamily="18" charset="0"/>
                    <a:cs typeface="Times New Roman" panose="02020603050405020304" pitchFamily="18" charset="0"/>
                  </a:rPr>
                  <a:t>CFG</a:t>
                </a:r>
                <a:r>
                  <a:rPr lang="en-AU" altLang="zh-CN" sz="2400" dirty="0"/>
                  <a:t>, </a:t>
                </a:r>
                <a:r>
                  <a:rPr lang="zh-CN" altLang="en-US" sz="2400" dirty="0"/>
                  <a:t>其中</a:t>
                </a:r>
                <a14:m>
                  <m:oMath xmlns:m="http://schemas.openxmlformats.org/officeDocument/2006/math">
                    <m:r>
                      <a:rPr lang="el-GR" sz="2400" i="1" dirty="0">
                        <a:latin typeface="Cambria Math" panose="02040503050406030204" pitchFamily="18" charset="0"/>
                      </a:rPr>
                      <m:t>𝛿</m:t>
                    </m:r>
                  </m:oMath>
                </a14:m>
                <a:r>
                  <a:rPr lang="zh-CN" altLang="en-US" sz="2400" dirty="0"/>
                  <a:t>如下</a:t>
                </a:r>
                <a:r>
                  <a:rPr lang="en-US" altLang="zh-CN" sz="2400" dirty="0"/>
                  <a:t>:</a:t>
                </a:r>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2"/>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86</a:t>
            </a:fld>
            <a:endParaRPr lang="en-AU"/>
          </a:p>
        </p:txBody>
      </p:sp>
      <mc:AlternateContent xmlns:mc="http://schemas.openxmlformats.org/markup-compatibility/2006" xmlns:a14="http://schemas.microsoft.com/office/drawing/2010/main">
        <mc:Choice Requires="a14">
          <p:sp>
            <p:nvSpPr>
              <p:cNvPr id="5" name="TextBox 4"/>
              <p:cNvSpPr txBox="1"/>
              <p:nvPr/>
            </p:nvSpPr>
            <p:spPr>
              <a:xfrm>
                <a:off x="899327" y="2391473"/>
                <a:ext cx="3260690" cy="1938992"/>
              </a:xfrm>
              <a:prstGeom prst="rect">
                <a:avLst/>
              </a:prstGeom>
              <a:noFill/>
            </p:spPr>
            <p:txBody>
              <a:bodyPr wrap="square">
                <a:spAutoFit/>
              </a:bodyPr>
              <a:lstStyle/>
              <a:p>
                <a:r>
                  <a:rPr lang="en-US" sz="2000" dirty="0"/>
                  <a:t>(1)</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,0,</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rPr>
                      <m:t>𝑋</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oMath>
                </a14:m>
                <a:endParaRPr lang="en-US" sz="2000" dirty="0"/>
              </a:p>
              <a:p>
                <a:r>
                  <a:rPr lang="en-US" sz="2000" dirty="0"/>
                  <a:t>(2)</a:t>
                </a:r>
                <a:r>
                  <a:rPr lang="el-GR" sz="2000" dirty="0"/>
                  <a:t> </a:t>
                </a:r>
                <a14:m>
                  <m:oMath xmlns:m="http://schemas.openxmlformats.org/officeDocument/2006/math">
                    <m:r>
                      <a:rPr lang="el-GR" sz="2000" i="1" dirty="0" smtClean="0">
                        <a:solidFill>
                          <a:srgbClr val="FF0000"/>
                        </a:solidFill>
                        <a:latin typeface="Cambria Math" panose="02040503050406030204" pitchFamily="18" charset="0"/>
                      </a:rPr>
                      <m:t>𝛿</m:t>
                    </m:r>
                    <m:d>
                      <m:dPr>
                        <m:ctrlPr>
                          <a:rPr lang="en-AU" sz="2000" b="0" i="1" dirty="0" smtClean="0">
                            <a:solidFill>
                              <a:srgbClr val="FF0000"/>
                            </a:solidFill>
                            <a:latin typeface="Cambria Math" panose="02040503050406030204" pitchFamily="18" charset="0"/>
                          </a:rPr>
                        </m:ctrlPr>
                      </m:dPr>
                      <m:e>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𝑞</m:t>
                            </m:r>
                          </m:e>
                          <m:sub>
                            <m:r>
                              <a:rPr lang="en-AU" altLang="zh-CN" sz="2000" i="1" dirty="0">
                                <a:solidFill>
                                  <a:srgbClr val="FF0000"/>
                                </a:solidFill>
                                <a:latin typeface="Cambria Math" panose="02040503050406030204" pitchFamily="18" charset="0"/>
                              </a:rPr>
                              <m:t>0</m:t>
                            </m:r>
                          </m:sub>
                        </m:sSub>
                        <m:r>
                          <a:rPr lang="en-AU" sz="2000" b="0" i="1" dirty="0" smtClean="0">
                            <a:solidFill>
                              <a:srgbClr val="FF0000"/>
                            </a:solidFill>
                            <a:latin typeface="Cambria Math" panose="02040503050406030204" pitchFamily="18" charset="0"/>
                          </a:rPr>
                          <m:t>,0,</m:t>
                        </m:r>
                        <m:r>
                          <a:rPr lang="en-AU" sz="2000" b="0" i="1" dirty="0" smtClean="0">
                            <a:solidFill>
                              <a:srgbClr val="FF0000"/>
                            </a:solidFill>
                            <a:latin typeface="Cambria Math" panose="02040503050406030204" pitchFamily="18" charset="0"/>
                          </a:rPr>
                          <m:t>𝑋</m:t>
                        </m:r>
                      </m:e>
                    </m:d>
                    <m:r>
                      <a:rPr lang="en-AU" sz="2000" b="0" i="1" dirty="0" smtClean="0">
                        <a:solidFill>
                          <a:srgbClr val="FF0000"/>
                        </a:solidFill>
                        <a:latin typeface="Cambria Math" panose="02040503050406030204" pitchFamily="18" charset="0"/>
                      </a:rPr>
                      <m:t>={(</m:t>
                    </m:r>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𝑞</m:t>
                        </m:r>
                      </m:e>
                      <m:sub>
                        <m:r>
                          <a:rPr lang="en-AU" altLang="zh-CN" sz="2000" i="1" dirty="0">
                            <a:solidFill>
                              <a:srgbClr val="FF0000"/>
                            </a:solidFill>
                            <a:latin typeface="Cambria Math" panose="02040503050406030204" pitchFamily="18" charset="0"/>
                          </a:rPr>
                          <m:t>0</m:t>
                        </m:r>
                      </m:sub>
                    </m:sSub>
                    <m:r>
                      <a:rPr lang="en-AU" sz="2000" b="0" i="1" dirty="0" smtClean="0">
                        <a:solidFill>
                          <a:srgbClr val="FF0000"/>
                        </a:solidFill>
                        <a:latin typeface="Cambria Math" panose="02040503050406030204" pitchFamily="18" charset="0"/>
                      </a:rPr>
                      <m:t>,</m:t>
                    </m:r>
                    <m:r>
                      <a:rPr lang="en-AU" sz="2000" b="0" i="1" dirty="0" smtClean="0">
                        <a:solidFill>
                          <a:srgbClr val="FF0000"/>
                        </a:solidFill>
                        <a:latin typeface="Cambria Math" panose="02040503050406030204" pitchFamily="18" charset="0"/>
                      </a:rPr>
                      <m:t>𝑋𝑋</m:t>
                    </m:r>
                    <m:r>
                      <a:rPr lang="en-AU" sz="2000" b="0" i="1" dirty="0" smtClean="0">
                        <a:solidFill>
                          <a:srgbClr val="FF0000"/>
                        </a:solidFill>
                        <a:latin typeface="Cambria Math" panose="02040503050406030204" pitchFamily="18" charset="0"/>
                      </a:rPr>
                      <m:t>)}</m:t>
                    </m:r>
                  </m:oMath>
                </a14:m>
                <a:endParaRPr lang="en-US" sz="2000" dirty="0">
                  <a:solidFill>
                    <a:srgbClr val="FF0000"/>
                  </a:solidFill>
                </a:endParaRPr>
              </a:p>
              <a:p>
                <a:r>
                  <a:rPr lang="en-US" sz="2000" dirty="0"/>
                  <a:t>(3)</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,1,</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a:p>
                <a:r>
                  <a:rPr lang="en-US" sz="2000" dirty="0"/>
                  <a:t>(4)</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,1,</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a:p>
                <a:r>
                  <a:rPr lang="en-AU" sz="2000" dirty="0"/>
                  <a:t>(5)</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AU" sz="2000" dirty="0"/>
              </a:p>
              <a:p>
                <a:r>
                  <a:rPr lang="en-AU" sz="2000" dirty="0"/>
                  <a:t>(6)</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b="0" i="1" dirty="0" smtClean="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1</m:t>
                        </m:r>
                      </m:sub>
                    </m:sSub>
                    <m:r>
                      <a:rPr lang="en-AU" sz="2000" b="0" i="1" dirty="0" smtClean="0">
                        <a:latin typeface="Cambria Math" panose="02040503050406030204" pitchFamily="18" charset="0"/>
                      </a:rPr>
                      <m:t>,</m:t>
                    </m:r>
                    <m:r>
                      <a:rPr lang="el-GR" sz="2000" i="1" dirty="0">
                        <a:latin typeface="Cambria Math" panose="02040503050406030204" pitchFamily="18" charset="0"/>
                      </a:rPr>
                      <m:t>𝜀</m:t>
                    </m:r>
                    <m:r>
                      <a:rPr lang="en-AU" sz="2000" b="0" i="1" dirty="0" smtClean="0">
                        <a:latin typeface="Cambria Math" panose="02040503050406030204" pitchFamily="18" charset="0"/>
                      </a:rPr>
                      <m:t>)}</m:t>
                    </m:r>
                  </m:oMath>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899327" y="2391473"/>
                <a:ext cx="3260690" cy="1938992"/>
              </a:xfrm>
              <a:prstGeom prst="rect">
                <a:avLst/>
              </a:prstGeom>
              <a:blipFill rotWithShape="1">
                <a:blip r:embed="rId3"/>
                <a:stretch>
                  <a:fillRect l="-5" t="-3" r="4"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983985" y="2255127"/>
                <a:ext cx="3458832" cy="2862322"/>
              </a:xfrm>
              <a:prstGeom prst="rect">
                <a:avLst/>
              </a:prstGeom>
              <a:noFill/>
            </p:spPr>
            <p:txBody>
              <a:bodyPr wrap="none" rtlCol="0">
                <a:spAutoFit/>
              </a:bodyPr>
              <a:lstStyle/>
              <a:p>
                <a14:m>
                  <m:oMath xmlns:m="http://schemas.openxmlformats.org/officeDocument/2006/math">
                    <m:r>
                      <a:rPr lang="el-GR" sz="1800" i="1" dirty="0" smtClean="0">
                        <a:solidFill>
                          <a:srgbClr val="FF0000"/>
                        </a:solidFill>
                        <a:latin typeface="Cambria Math" panose="02040503050406030204" pitchFamily="18" charset="0"/>
                      </a:rPr>
                      <m:t>𝛿</m:t>
                    </m:r>
                    <m:d>
                      <m:dPr>
                        <m:ctrlPr>
                          <a:rPr lang="en-AU" sz="1800" b="0" i="1" dirty="0" smtClean="0">
                            <a:solidFill>
                              <a:srgbClr val="FF0000"/>
                            </a:solidFill>
                            <a:latin typeface="Cambria Math" panose="02040503050406030204" pitchFamily="18" charset="0"/>
                          </a:rPr>
                        </m:ctrlPr>
                      </m:dPr>
                      <m:e>
                        <m:sSub>
                          <m:sSubPr>
                            <m:ctrlPr>
                              <a:rPr lang="en-AU" altLang="zh-CN" sz="1800" i="1" dirty="0">
                                <a:solidFill>
                                  <a:srgbClr val="FF0000"/>
                                </a:solidFill>
                                <a:latin typeface="Cambria Math" panose="02040503050406030204" pitchFamily="18" charset="0"/>
                              </a:rPr>
                            </m:ctrlPr>
                          </m:sSubPr>
                          <m:e>
                            <m:r>
                              <a:rPr lang="en-AU" altLang="zh-CN" sz="1800" i="1" dirty="0">
                                <a:solidFill>
                                  <a:srgbClr val="FF0000"/>
                                </a:solidFill>
                                <a:latin typeface="Cambria Math" panose="02040503050406030204" pitchFamily="18" charset="0"/>
                              </a:rPr>
                              <m:t>𝑞</m:t>
                            </m:r>
                          </m:e>
                          <m:sub>
                            <m:r>
                              <a:rPr lang="en-AU" altLang="zh-CN" sz="1800" i="1" dirty="0">
                                <a:solidFill>
                                  <a:srgbClr val="FF0000"/>
                                </a:solidFill>
                                <a:latin typeface="Cambria Math" panose="02040503050406030204" pitchFamily="18" charset="0"/>
                              </a:rPr>
                              <m:t>0</m:t>
                            </m:r>
                          </m:sub>
                        </m:sSub>
                        <m:r>
                          <a:rPr lang="en-AU" sz="1800" b="0" i="1" dirty="0" smtClean="0">
                            <a:solidFill>
                              <a:srgbClr val="FF0000"/>
                            </a:solidFill>
                            <a:latin typeface="Cambria Math" panose="02040503050406030204" pitchFamily="18" charset="0"/>
                          </a:rPr>
                          <m:t>,0,</m:t>
                        </m:r>
                        <m:r>
                          <a:rPr lang="en-AU" sz="1800" b="0" i="1" dirty="0" smtClean="0">
                            <a:solidFill>
                              <a:srgbClr val="FF0000"/>
                            </a:solidFill>
                            <a:latin typeface="Cambria Math" panose="02040503050406030204" pitchFamily="18" charset="0"/>
                          </a:rPr>
                          <m:t>𝑋</m:t>
                        </m:r>
                        <m:r>
                          <a:rPr lang="en-AU" altLang="zh-CN" sz="1800" i="1" dirty="0" smtClean="0">
                            <a:solidFill>
                              <a:srgbClr val="FF0000"/>
                            </a:solidFill>
                            <a:latin typeface="Cambria Math" panose="02040503050406030204" pitchFamily="18" charset="0"/>
                          </a:rPr>
                          <m:t> </m:t>
                        </m:r>
                      </m:e>
                    </m:d>
                    <m:r>
                      <a:rPr lang="en-AU" sz="1800" b="0" i="1" dirty="0" smtClean="0">
                        <a:solidFill>
                          <a:srgbClr val="FF0000"/>
                        </a:solidFill>
                        <a:latin typeface="Cambria Math" panose="02040503050406030204" pitchFamily="18" charset="0"/>
                      </a:rPr>
                      <m:t>={(</m:t>
                    </m:r>
                    <m:sSub>
                      <m:sSubPr>
                        <m:ctrlPr>
                          <a:rPr lang="en-AU" altLang="zh-CN" sz="1800" i="1" dirty="0">
                            <a:solidFill>
                              <a:srgbClr val="FF0000"/>
                            </a:solidFill>
                            <a:latin typeface="Cambria Math" panose="02040503050406030204" pitchFamily="18" charset="0"/>
                          </a:rPr>
                        </m:ctrlPr>
                      </m:sSubPr>
                      <m:e>
                        <m:r>
                          <a:rPr lang="en-AU" altLang="zh-CN" sz="1800" i="1" dirty="0">
                            <a:solidFill>
                              <a:srgbClr val="FF0000"/>
                            </a:solidFill>
                            <a:latin typeface="Cambria Math" panose="02040503050406030204" pitchFamily="18" charset="0"/>
                          </a:rPr>
                          <m:t>𝑞</m:t>
                        </m:r>
                      </m:e>
                      <m:sub>
                        <m:r>
                          <a:rPr lang="en-AU" altLang="zh-CN" sz="1800" i="1" dirty="0">
                            <a:solidFill>
                              <a:srgbClr val="FF0000"/>
                            </a:solidFill>
                            <a:latin typeface="Cambria Math" panose="02040503050406030204" pitchFamily="18" charset="0"/>
                          </a:rPr>
                          <m:t>0</m:t>
                        </m:r>
                      </m:sub>
                    </m:sSub>
                    <m:r>
                      <a:rPr lang="en-AU" sz="1800" b="0" i="1" dirty="0" smtClean="0">
                        <a:solidFill>
                          <a:srgbClr val="FF0000"/>
                        </a:solidFill>
                        <a:latin typeface="Cambria Math" panose="02040503050406030204" pitchFamily="18" charset="0"/>
                      </a:rPr>
                      <m:t>,</m:t>
                    </m:r>
                    <m:r>
                      <a:rPr lang="en-AU" sz="1800" b="0" i="1" dirty="0" smtClean="0">
                        <a:solidFill>
                          <a:srgbClr val="FF0000"/>
                        </a:solidFill>
                        <a:latin typeface="Cambria Math" panose="02040503050406030204" pitchFamily="18" charset="0"/>
                      </a:rPr>
                      <m:t>𝑋𝑋</m:t>
                    </m:r>
                    <m:r>
                      <a:rPr lang="en-AU" sz="1800" b="0" i="1" dirty="0" smtClean="0">
                        <a:solidFill>
                          <a:srgbClr val="FF0000"/>
                        </a:solidFill>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rPr>
                  <a:t>产生式</a:t>
                </a:r>
                <a:r>
                  <a:rPr lang="zh-CN" altLang="en-US" dirty="0"/>
                  <a:t>：</a:t>
                </a:r>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endParaRPr lang="en-AU" dirty="0"/>
              </a:p>
            </p:txBody>
          </p:sp>
        </mc:Choice>
        <mc:Fallback xmlns="">
          <p:sp>
            <p:nvSpPr>
              <p:cNvPr id="6" name="TextBox 5"/>
              <p:cNvSpPr txBox="1">
                <a:spLocks noRot="1" noChangeAspect="1" noMove="1" noResize="1" noEditPoints="1" noAdjustHandles="1" noChangeArrowheads="1" noChangeShapeType="1" noTextEdit="1"/>
              </p:cNvSpPr>
              <p:nvPr/>
            </p:nvSpPr>
            <p:spPr>
              <a:xfrm>
                <a:off x="4983985" y="2255127"/>
                <a:ext cx="3458832" cy="2862322"/>
              </a:xfrm>
              <a:prstGeom prst="rect">
                <a:avLst/>
              </a:prstGeom>
              <a:blipFill rotWithShape="1">
                <a:blip r:embed="rId4"/>
                <a:stretch>
                  <a:fillRect l="-15" t="-8" r="14" b="22"/>
                </a:stretch>
              </a:blipFill>
            </p:spPr>
            <p:txBody>
              <a:bodyPr/>
              <a:lstStyle/>
              <a:p>
                <a:r>
                  <a:rPr lang="zh-CN" altLang="en-US">
                    <a:noFill/>
                  </a:rPr>
                  <a:t> </a:t>
                </a:r>
              </a:p>
            </p:txBody>
          </p:sp>
        </mc:Fallback>
      </mc:AlternateContent>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lstStyle/>
              <a:p>
                <a:r>
                  <a:rPr lang="zh-CN" altLang="en-US" sz="2400" dirty="0"/>
                  <a:t>例</a:t>
                </a:r>
                <a:r>
                  <a:rPr lang="en-AU" altLang="zh-CN" sz="2400" dirty="0"/>
                  <a:t>:</a:t>
                </a:r>
                <a:r>
                  <a:rPr lang="zh-CN" altLang="en-US" sz="2400" dirty="0"/>
                  <a:t>将</a:t>
                </a:r>
                <a:r>
                  <a:rPr lang="en-AU" altLang="zh-CN" sz="2400" dirty="0">
                    <a:latin typeface="Times New Roman" panose="02020603050405020304" pitchFamily="18" charset="0"/>
                    <a:cs typeface="Times New Roman" panose="02020603050405020304" pitchFamily="18" charset="0"/>
                  </a:rPr>
                  <a:t>PDA</a:t>
                </a:r>
                <a:r>
                  <a:rPr lang="zh-CN" altLang="en-US" sz="2400" dirty="0"/>
                  <a:t> </a:t>
                </a:r>
                <a14:m>
                  <m:oMath xmlns:m="http://schemas.openxmlformats.org/officeDocument/2006/math">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altLang="zh-CN" sz="2400" i="1" dirty="0" smtClean="0">
                        <a:latin typeface="Cambria Math" panose="02040503050406030204" pitchFamily="18" charset="0"/>
                      </a:rPr>
                      <m:t>}, (0, 1), {</m:t>
                    </m:r>
                    <m:r>
                      <a:rPr lang="en-AU" altLang="zh-CN" sz="2400" i="1" dirty="0" smtClean="0">
                        <a:latin typeface="Cambria Math" panose="02040503050406030204" pitchFamily="18" charset="0"/>
                      </a:rPr>
                      <m:t>𝑋</m:t>
                    </m:r>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转为</a:t>
                </a:r>
                <a:r>
                  <a:rPr lang="en-AU" altLang="zh-CN" sz="2400" dirty="0">
                    <a:latin typeface="Times New Roman" panose="02020603050405020304" pitchFamily="18" charset="0"/>
                    <a:cs typeface="Times New Roman" panose="02020603050405020304" pitchFamily="18" charset="0"/>
                  </a:rPr>
                  <a:t>CFG</a:t>
                </a:r>
                <a:r>
                  <a:rPr lang="en-AU" altLang="zh-CN" sz="2400" dirty="0"/>
                  <a:t>, </a:t>
                </a:r>
                <a:r>
                  <a:rPr lang="zh-CN" altLang="en-US" sz="2400" dirty="0"/>
                  <a:t>其中</a:t>
                </a:r>
                <a14:m>
                  <m:oMath xmlns:m="http://schemas.openxmlformats.org/officeDocument/2006/math">
                    <m:r>
                      <a:rPr lang="el-GR" sz="2400" i="1" dirty="0">
                        <a:latin typeface="Cambria Math" panose="02040503050406030204" pitchFamily="18" charset="0"/>
                      </a:rPr>
                      <m:t>𝛿</m:t>
                    </m:r>
                  </m:oMath>
                </a14:m>
                <a:r>
                  <a:rPr lang="zh-CN" altLang="en-US" sz="2400" dirty="0"/>
                  <a:t>如下</a:t>
                </a:r>
                <a:r>
                  <a:rPr lang="en-US" altLang="zh-CN" sz="2400" dirty="0"/>
                  <a:t>:</a:t>
                </a:r>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2"/>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87</a:t>
            </a:fld>
            <a:endParaRPr lang="en-AU"/>
          </a:p>
        </p:txBody>
      </p:sp>
      <mc:AlternateContent xmlns:mc="http://schemas.openxmlformats.org/markup-compatibility/2006" xmlns:a14="http://schemas.microsoft.com/office/drawing/2010/main">
        <mc:Choice Requires="a14">
          <p:sp>
            <p:nvSpPr>
              <p:cNvPr id="5" name="TextBox 4"/>
              <p:cNvSpPr txBox="1"/>
              <p:nvPr/>
            </p:nvSpPr>
            <p:spPr>
              <a:xfrm>
                <a:off x="899327" y="2391473"/>
                <a:ext cx="3260690" cy="1938992"/>
              </a:xfrm>
              <a:prstGeom prst="rect">
                <a:avLst/>
              </a:prstGeom>
              <a:noFill/>
            </p:spPr>
            <p:txBody>
              <a:bodyPr wrap="square">
                <a:spAutoFit/>
              </a:bodyPr>
              <a:lstStyle/>
              <a:p>
                <a:r>
                  <a:rPr lang="en-US" sz="2000" dirty="0"/>
                  <a:t>(1)</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,0,</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rPr>
                      <m:t>𝑋</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𝑍</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oMath>
                </a14:m>
                <a:endParaRPr lang="en-US" sz="2000" dirty="0"/>
              </a:p>
              <a:p>
                <a:r>
                  <a:rPr lang="en-US" sz="2000" dirty="0"/>
                  <a:t>(2)</a:t>
                </a:r>
                <a:r>
                  <a:rPr lang="el-GR" sz="2000" dirty="0"/>
                  <a:t> </a:t>
                </a:r>
                <a14:m>
                  <m:oMath xmlns:m="http://schemas.openxmlformats.org/officeDocument/2006/math">
                    <m:r>
                      <a:rPr lang="el-GR" sz="2000" i="1" dirty="0" smtClean="0">
                        <a:latin typeface="Cambria Math" panose="02040503050406030204" pitchFamily="18" charset="0"/>
                      </a:rPr>
                      <m:t>𝛿</m:t>
                    </m:r>
                    <m:d>
                      <m:dPr>
                        <m:ctrlPr>
                          <a:rPr lang="en-AU" sz="2000" b="0" i="1" dirty="0" smtClean="0">
                            <a:latin typeface="Cambria Math" panose="02040503050406030204" pitchFamily="18" charset="0"/>
                          </a:rPr>
                        </m:ctrlPr>
                      </m:dPr>
                      <m:e>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,0,</m:t>
                        </m:r>
                        <m:r>
                          <a:rPr lang="en-AU" sz="2000" b="0" i="1" dirty="0" smtClean="0">
                            <a:latin typeface="Cambria Math" panose="02040503050406030204" pitchFamily="18" charset="0"/>
                          </a:rPr>
                          <m:t>𝑋</m:t>
                        </m:r>
                      </m:e>
                    </m:d>
                    <m:r>
                      <a:rPr lang="en-AU" sz="2000" b="0" i="1" dirty="0" smtClean="0">
                        <a:latin typeface="Cambria Math" panose="02040503050406030204" pitchFamily="18" charset="0"/>
                      </a:rPr>
                      <m:t>={(</m:t>
                    </m:r>
                    <m:sSub>
                      <m:sSubPr>
                        <m:ctrlPr>
                          <a:rPr lang="en-AU" altLang="zh-CN" sz="2000" i="1" dirty="0">
                            <a:latin typeface="Cambria Math" panose="02040503050406030204" pitchFamily="18" charset="0"/>
                          </a:rPr>
                        </m:ctrlPr>
                      </m:sSubPr>
                      <m:e>
                        <m:r>
                          <a:rPr lang="en-AU" altLang="zh-CN" sz="2000" i="1" dirty="0">
                            <a:latin typeface="Cambria Math" panose="02040503050406030204" pitchFamily="18" charset="0"/>
                          </a:rPr>
                          <m:t>𝑞</m:t>
                        </m:r>
                      </m:e>
                      <m:sub>
                        <m:r>
                          <a:rPr lang="en-AU" altLang="zh-CN" sz="2000" i="1" dirty="0">
                            <a:latin typeface="Cambria Math" panose="02040503050406030204" pitchFamily="18" charset="0"/>
                          </a:rPr>
                          <m:t>0</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rPr>
                      <m:t>𝑋𝑋</m:t>
                    </m:r>
                    <m:r>
                      <a:rPr lang="en-AU" sz="2000" b="0" i="1" dirty="0" smtClean="0">
                        <a:latin typeface="Cambria Math" panose="02040503050406030204" pitchFamily="18" charset="0"/>
                      </a:rPr>
                      <m:t>)}</m:t>
                    </m:r>
                  </m:oMath>
                </a14:m>
                <a:endParaRPr lang="en-US" sz="2000" dirty="0"/>
              </a:p>
              <a:p>
                <a:r>
                  <a:rPr lang="en-US" sz="2000" dirty="0"/>
                  <a:t>(3)</a:t>
                </a:r>
                <a:r>
                  <a:rPr lang="el-GR" sz="2000" dirty="0"/>
                  <a:t> </a:t>
                </a:r>
                <a14:m>
                  <m:oMath xmlns:m="http://schemas.openxmlformats.org/officeDocument/2006/math">
                    <m:r>
                      <a:rPr lang="el-GR" sz="2000" i="1" dirty="0" smtClean="0">
                        <a:solidFill>
                          <a:srgbClr val="FF0000"/>
                        </a:solidFill>
                        <a:latin typeface="Cambria Math" panose="02040503050406030204" pitchFamily="18" charset="0"/>
                      </a:rPr>
                      <m:t>𝛿</m:t>
                    </m:r>
                    <m:d>
                      <m:dPr>
                        <m:ctrlPr>
                          <a:rPr lang="en-AU" sz="2000" b="0" i="1" dirty="0" smtClean="0">
                            <a:solidFill>
                              <a:srgbClr val="FF0000"/>
                            </a:solidFill>
                            <a:latin typeface="Cambria Math" panose="02040503050406030204" pitchFamily="18" charset="0"/>
                          </a:rPr>
                        </m:ctrlPr>
                      </m:dPr>
                      <m:e>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𝑞</m:t>
                            </m:r>
                          </m:e>
                          <m:sub>
                            <m:r>
                              <a:rPr lang="en-AU" altLang="zh-CN" sz="2000" i="1" dirty="0">
                                <a:solidFill>
                                  <a:srgbClr val="FF0000"/>
                                </a:solidFill>
                                <a:latin typeface="Cambria Math" panose="02040503050406030204" pitchFamily="18" charset="0"/>
                              </a:rPr>
                              <m:t>0</m:t>
                            </m:r>
                          </m:sub>
                        </m:sSub>
                        <m:r>
                          <a:rPr lang="en-AU" sz="2000" b="0" i="1" dirty="0" smtClean="0">
                            <a:solidFill>
                              <a:srgbClr val="FF0000"/>
                            </a:solidFill>
                            <a:latin typeface="Cambria Math" panose="02040503050406030204" pitchFamily="18" charset="0"/>
                          </a:rPr>
                          <m:t>,1,</m:t>
                        </m:r>
                        <m:r>
                          <a:rPr lang="en-AU" sz="2000" b="0" i="1" dirty="0" smtClean="0">
                            <a:solidFill>
                              <a:srgbClr val="FF0000"/>
                            </a:solidFill>
                            <a:latin typeface="Cambria Math" panose="02040503050406030204" pitchFamily="18" charset="0"/>
                          </a:rPr>
                          <m:t>𝑋</m:t>
                        </m:r>
                      </m:e>
                    </m:d>
                    <m:r>
                      <a:rPr lang="en-AU" sz="2000" b="0" i="1" dirty="0" smtClean="0">
                        <a:solidFill>
                          <a:srgbClr val="FF0000"/>
                        </a:solidFill>
                        <a:latin typeface="Cambria Math" panose="02040503050406030204" pitchFamily="18" charset="0"/>
                      </a:rPr>
                      <m:t>={(</m:t>
                    </m:r>
                    <m:sSub>
                      <m:sSubPr>
                        <m:ctrlPr>
                          <a:rPr lang="en-AU" altLang="zh-CN" sz="2000" i="1" dirty="0">
                            <a:solidFill>
                              <a:srgbClr val="FF0000"/>
                            </a:solidFill>
                            <a:latin typeface="Cambria Math" panose="02040503050406030204" pitchFamily="18" charset="0"/>
                          </a:rPr>
                        </m:ctrlPr>
                      </m:sSubPr>
                      <m:e>
                        <m:r>
                          <a:rPr lang="en-AU" altLang="zh-CN" sz="2000" i="1" dirty="0">
                            <a:solidFill>
                              <a:srgbClr val="FF0000"/>
                            </a:solidFill>
                            <a:latin typeface="Cambria Math" panose="02040503050406030204" pitchFamily="18" charset="0"/>
                          </a:rPr>
                          <m:t>𝑞</m:t>
                        </m:r>
                      </m:e>
                      <m:sub>
                        <m:r>
                          <a:rPr lang="en-AU" altLang="zh-CN" sz="2000" i="1" dirty="0">
                            <a:solidFill>
                              <a:srgbClr val="FF0000"/>
                            </a:solidFill>
                            <a:latin typeface="Cambria Math" panose="02040503050406030204" pitchFamily="18" charset="0"/>
                          </a:rPr>
                          <m:t>1</m:t>
                        </m:r>
                      </m:sub>
                    </m:sSub>
                    <m:r>
                      <a:rPr lang="en-AU" sz="2000" b="0" i="1" dirty="0" smtClean="0">
                        <a:solidFill>
                          <a:srgbClr val="FF0000"/>
                        </a:solidFill>
                        <a:latin typeface="Cambria Math" panose="02040503050406030204" pitchFamily="18" charset="0"/>
                      </a:rPr>
                      <m:t>,</m:t>
                    </m:r>
                    <m:r>
                      <a:rPr lang="el-GR" sz="2000" i="1" dirty="0">
                        <a:solidFill>
                          <a:srgbClr val="FF0000"/>
                        </a:solidFill>
                        <a:latin typeface="Cambria Math" panose="02040503050406030204" pitchFamily="18" charset="0"/>
                      </a:rPr>
                      <m:t>𝜀</m:t>
                    </m:r>
                    <m:r>
                      <a:rPr lang="en-AU" sz="2000" b="0" i="1" dirty="0" smtClean="0">
                        <a:solidFill>
                          <a:srgbClr val="FF0000"/>
                        </a:solidFill>
                        <a:latin typeface="Cambria Math" panose="02040503050406030204" pitchFamily="18" charset="0"/>
                      </a:rPr>
                      <m:t>)}</m:t>
                    </m:r>
                  </m:oMath>
                </a14:m>
                <a:endParaRPr lang="en-US" sz="2000" dirty="0">
                  <a:solidFill>
                    <a:srgbClr val="FF0000"/>
                  </a:solidFill>
                </a:endParaRPr>
              </a:p>
              <a:p>
                <a:r>
                  <a:rPr lang="en-US" sz="2000" dirty="0"/>
                  <a:t>(4)</a:t>
                </a:r>
                <a:r>
                  <a:rPr lang="el-GR" sz="2000" dirty="0"/>
                  <a:t> </a:t>
                </a:r>
                <a14:m>
                  <m:oMath xmlns:m="http://schemas.openxmlformats.org/officeDocument/2006/math">
                    <m:r>
                      <a:rPr lang="el-GR" sz="2000" i="1" dirty="0" smtClean="0">
                        <a:solidFill>
                          <a:schemeClr val="tx2"/>
                        </a:solidFill>
                        <a:latin typeface="Cambria Math" panose="02040503050406030204" pitchFamily="18" charset="0"/>
                      </a:rPr>
                      <m:t>𝛿</m:t>
                    </m:r>
                    <m:d>
                      <m:dPr>
                        <m:ctrlPr>
                          <a:rPr lang="en-AU" sz="2000" b="0" i="1" dirty="0" smtClean="0">
                            <a:solidFill>
                              <a:schemeClr val="tx2"/>
                            </a:solidFill>
                            <a:latin typeface="Cambria Math" panose="02040503050406030204" pitchFamily="18" charset="0"/>
                          </a:rPr>
                        </m:ctrlPr>
                      </m:dPr>
                      <m:e>
                        <m:sSub>
                          <m:sSubPr>
                            <m:ctrlPr>
                              <a:rPr lang="en-AU" altLang="zh-CN" sz="2000" i="1" dirty="0">
                                <a:solidFill>
                                  <a:schemeClr val="tx2"/>
                                </a:solidFill>
                                <a:latin typeface="Cambria Math" panose="02040503050406030204" pitchFamily="18" charset="0"/>
                              </a:rPr>
                            </m:ctrlPr>
                          </m:sSubPr>
                          <m:e>
                            <m:r>
                              <a:rPr lang="en-AU" altLang="zh-CN" sz="2000" i="1" dirty="0">
                                <a:solidFill>
                                  <a:schemeClr val="tx2"/>
                                </a:solidFill>
                                <a:latin typeface="Cambria Math" panose="02040503050406030204" pitchFamily="18" charset="0"/>
                              </a:rPr>
                              <m:t>𝑞</m:t>
                            </m:r>
                          </m:e>
                          <m:sub>
                            <m:r>
                              <a:rPr lang="en-AU" altLang="zh-CN" sz="2000" b="0" i="1" dirty="0" smtClean="0">
                                <a:solidFill>
                                  <a:schemeClr val="tx2"/>
                                </a:solidFill>
                                <a:latin typeface="Cambria Math" panose="02040503050406030204" pitchFamily="18" charset="0"/>
                              </a:rPr>
                              <m:t>1</m:t>
                            </m:r>
                          </m:sub>
                        </m:sSub>
                        <m:r>
                          <a:rPr lang="en-AU" sz="2000" b="0" i="1" dirty="0" smtClean="0">
                            <a:solidFill>
                              <a:schemeClr val="tx2"/>
                            </a:solidFill>
                            <a:latin typeface="Cambria Math" panose="02040503050406030204" pitchFamily="18" charset="0"/>
                          </a:rPr>
                          <m:t>,1,</m:t>
                        </m:r>
                        <m:r>
                          <a:rPr lang="en-AU" sz="2000" b="0" i="1" dirty="0" smtClean="0">
                            <a:solidFill>
                              <a:schemeClr val="tx2"/>
                            </a:solidFill>
                            <a:latin typeface="Cambria Math" panose="02040503050406030204" pitchFamily="18" charset="0"/>
                          </a:rPr>
                          <m:t>𝑋</m:t>
                        </m:r>
                      </m:e>
                    </m:d>
                    <m:r>
                      <a:rPr lang="en-AU" sz="2000" b="0" i="1" dirty="0" smtClean="0">
                        <a:solidFill>
                          <a:schemeClr val="tx2"/>
                        </a:solidFill>
                        <a:latin typeface="Cambria Math" panose="02040503050406030204" pitchFamily="18" charset="0"/>
                      </a:rPr>
                      <m:t>={(</m:t>
                    </m:r>
                    <m:sSub>
                      <m:sSubPr>
                        <m:ctrlPr>
                          <a:rPr lang="en-AU" altLang="zh-CN" sz="2000" i="1" dirty="0">
                            <a:solidFill>
                              <a:schemeClr val="tx2"/>
                            </a:solidFill>
                            <a:latin typeface="Cambria Math" panose="02040503050406030204" pitchFamily="18" charset="0"/>
                          </a:rPr>
                        </m:ctrlPr>
                      </m:sSubPr>
                      <m:e>
                        <m:r>
                          <a:rPr lang="en-AU" altLang="zh-CN" sz="2000" i="1" dirty="0">
                            <a:solidFill>
                              <a:schemeClr val="tx2"/>
                            </a:solidFill>
                            <a:latin typeface="Cambria Math" panose="02040503050406030204" pitchFamily="18" charset="0"/>
                          </a:rPr>
                          <m:t>𝑞</m:t>
                        </m:r>
                      </m:e>
                      <m:sub>
                        <m:r>
                          <a:rPr lang="en-AU" altLang="zh-CN" sz="2000" i="1" dirty="0">
                            <a:solidFill>
                              <a:schemeClr val="tx2"/>
                            </a:solidFill>
                            <a:latin typeface="Cambria Math" panose="02040503050406030204" pitchFamily="18" charset="0"/>
                          </a:rPr>
                          <m:t>1</m:t>
                        </m:r>
                      </m:sub>
                    </m:sSub>
                    <m:r>
                      <a:rPr lang="en-AU" sz="2000" b="0" i="1" dirty="0" smtClean="0">
                        <a:solidFill>
                          <a:schemeClr val="tx2"/>
                        </a:solidFill>
                        <a:latin typeface="Cambria Math" panose="02040503050406030204" pitchFamily="18" charset="0"/>
                      </a:rPr>
                      <m:t>,</m:t>
                    </m:r>
                    <m:r>
                      <a:rPr lang="el-GR" sz="2000" i="1" dirty="0">
                        <a:solidFill>
                          <a:schemeClr val="tx2"/>
                        </a:solidFill>
                        <a:latin typeface="Cambria Math" panose="02040503050406030204" pitchFamily="18" charset="0"/>
                      </a:rPr>
                      <m:t>𝜀</m:t>
                    </m:r>
                    <m:r>
                      <a:rPr lang="en-AU" sz="2000" b="0" i="1" dirty="0" smtClean="0">
                        <a:solidFill>
                          <a:schemeClr val="tx2"/>
                        </a:solidFill>
                        <a:latin typeface="Cambria Math" panose="02040503050406030204" pitchFamily="18" charset="0"/>
                      </a:rPr>
                      <m:t>)}</m:t>
                    </m:r>
                  </m:oMath>
                </a14:m>
                <a:endParaRPr lang="en-US" sz="2000" dirty="0">
                  <a:solidFill>
                    <a:schemeClr val="tx2"/>
                  </a:solidFill>
                </a:endParaRPr>
              </a:p>
              <a:p>
                <a:r>
                  <a:rPr lang="en-AU" sz="2000" dirty="0"/>
                  <a:t>(5)</a:t>
                </a:r>
                <a:r>
                  <a:rPr lang="el-GR" sz="2000" dirty="0"/>
                  <a:t> </a:t>
                </a:r>
                <a14:m>
                  <m:oMath xmlns:m="http://schemas.openxmlformats.org/officeDocument/2006/math">
                    <m:r>
                      <a:rPr lang="el-GR" sz="2000" i="1" dirty="0" smtClean="0">
                        <a:solidFill>
                          <a:srgbClr val="00B050"/>
                        </a:solidFill>
                        <a:latin typeface="Cambria Math" panose="02040503050406030204" pitchFamily="18" charset="0"/>
                      </a:rPr>
                      <m:t>𝛿</m:t>
                    </m:r>
                    <m:d>
                      <m:dPr>
                        <m:ctrlPr>
                          <a:rPr lang="en-AU" sz="2000" b="0" i="1" dirty="0" smtClean="0">
                            <a:solidFill>
                              <a:srgbClr val="00B050"/>
                            </a:solidFill>
                            <a:latin typeface="Cambria Math" panose="02040503050406030204" pitchFamily="18" charset="0"/>
                          </a:rPr>
                        </m:ctrlPr>
                      </m:dPr>
                      <m:e>
                        <m:sSub>
                          <m:sSubPr>
                            <m:ctrlPr>
                              <a:rPr lang="en-AU" altLang="zh-CN" sz="2000" i="1" dirty="0">
                                <a:solidFill>
                                  <a:srgbClr val="00B050"/>
                                </a:solidFill>
                                <a:latin typeface="Cambria Math" panose="02040503050406030204" pitchFamily="18" charset="0"/>
                              </a:rPr>
                            </m:ctrlPr>
                          </m:sSubPr>
                          <m:e>
                            <m:r>
                              <a:rPr lang="en-AU" altLang="zh-CN" sz="2000" i="1" dirty="0">
                                <a:solidFill>
                                  <a:srgbClr val="00B050"/>
                                </a:solidFill>
                                <a:latin typeface="Cambria Math" panose="02040503050406030204" pitchFamily="18" charset="0"/>
                              </a:rPr>
                              <m:t>𝑞</m:t>
                            </m:r>
                          </m:e>
                          <m:sub>
                            <m:r>
                              <a:rPr lang="en-AU" altLang="zh-CN" sz="2000" b="0" i="1" dirty="0" smtClean="0">
                                <a:solidFill>
                                  <a:srgbClr val="00B050"/>
                                </a:solidFill>
                                <a:latin typeface="Cambria Math" panose="02040503050406030204" pitchFamily="18" charset="0"/>
                              </a:rPr>
                              <m:t>1</m:t>
                            </m:r>
                          </m:sub>
                        </m:sSub>
                        <m:r>
                          <a:rPr lang="en-AU" sz="2000" b="0" i="1" dirty="0" smtClean="0">
                            <a:solidFill>
                              <a:srgbClr val="00B050"/>
                            </a:solidFill>
                            <a:latin typeface="Cambria Math" panose="02040503050406030204" pitchFamily="18" charset="0"/>
                          </a:rPr>
                          <m:t>,</m:t>
                        </m:r>
                        <m:r>
                          <a:rPr lang="el-GR" sz="2000" i="1" dirty="0">
                            <a:solidFill>
                              <a:srgbClr val="00B050"/>
                            </a:solidFill>
                            <a:latin typeface="Cambria Math" panose="02040503050406030204" pitchFamily="18" charset="0"/>
                          </a:rPr>
                          <m:t>𝜀</m:t>
                        </m:r>
                        <m:r>
                          <a:rPr lang="en-AU" sz="2000" b="0" i="1" dirty="0" smtClean="0">
                            <a:solidFill>
                              <a:srgbClr val="00B050"/>
                            </a:solidFill>
                            <a:latin typeface="Cambria Math" panose="02040503050406030204" pitchFamily="18" charset="0"/>
                          </a:rPr>
                          <m:t>,</m:t>
                        </m:r>
                        <m:r>
                          <a:rPr lang="en-AU" sz="2000" b="0" i="1" dirty="0" smtClean="0">
                            <a:solidFill>
                              <a:srgbClr val="00B050"/>
                            </a:solidFill>
                            <a:latin typeface="Cambria Math" panose="02040503050406030204" pitchFamily="18" charset="0"/>
                          </a:rPr>
                          <m:t>𝑋</m:t>
                        </m:r>
                      </m:e>
                    </m:d>
                    <m:r>
                      <a:rPr lang="en-AU" sz="2000" b="0" i="1" dirty="0" smtClean="0">
                        <a:solidFill>
                          <a:srgbClr val="00B050"/>
                        </a:solidFill>
                        <a:latin typeface="Cambria Math" panose="02040503050406030204" pitchFamily="18" charset="0"/>
                      </a:rPr>
                      <m:t>={(</m:t>
                    </m:r>
                    <m:sSub>
                      <m:sSubPr>
                        <m:ctrlPr>
                          <a:rPr lang="en-AU" altLang="zh-CN" sz="2000" i="1" dirty="0">
                            <a:solidFill>
                              <a:srgbClr val="00B050"/>
                            </a:solidFill>
                            <a:latin typeface="Cambria Math" panose="02040503050406030204" pitchFamily="18" charset="0"/>
                          </a:rPr>
                        </m:ctrlPr>
                      </m:sSubPr>
                      <m:e>
                        <m:r>
                          <a:rPr lang="en-AU" altLang="zh-CN" sz="2000" i="1" dirty="0">
                            <a:solidFill>
                              <a:srgbClr val="00B050"/>
                            </a:solidFill>
                            <a:latin typeface="Cambria Math" panose="02040503050406030204" pitchFamily="18" charset="0"/>
                          </a:rPr>
                          <m:t>𝑞</m:t>
                        </m:r>
                      </m:e>
                      <m:sub>
                        <m:r>
                          <a:rPr lang="en-AU" altLang="zh-CN" sz="2000" i="1" dirty="0">
                            <a:solidFill>
                              <a:srgbClr val="00B050"/>
                            </a:solidFill>
                            <a:latin typeface="Cambria Math" panose="02040503050406030204" pitchFamily="18" charset="0"/>
                          </a:rPr>
                          <m:t>1</m:t>
                        </m:r>
                      </m:sub>
                    </m:sSub>
                    <m:r>
                      <a:rPr lang="en-AU" sz="2000" b="0" i="1" dirty="0" smtClean="0">
                        <a:solidFill>
                          <a:srgbClr val="00B050"/>
                        </a:solidFill>
                        <a:latin typeface="Cambria Math" panose="02040503050406030204" pitchFamily="18" charset="0"/>
                      </a:rPr>
                      <m:t>,</m:t>
                    </m:r>
                    <m:r>
                      <a:rPr lang="el-GR" sz="2000" i="1" dirty="0">
                        <a:solidFill>
                          <a:srgbClr val="00B050"/>
                        </a:solidFill>
                        <a:latin typeface="Cambria Math" panose="02040503050406030204" pitchFamily="18" charset="0"/>
                      </a:rPr>
                      <m:t>𝜀</m:t>
                    </m:r>
                    <m:r>
                      <a:rPr lang="en-AU" sz="2000" b="0" i="1" dirty="0" smtClean="0">
                        <a:solidFill>
                          <a:srgbClr val="00B050"/>
                        </a:solidFill>
                        <a:latin typeface="Cambria Math" panose="02040503050406030204" pitchFamily="18" charset="0"/>
                      </a:rPr>
                      <m:t>)}</m:t>
                    </m:r>
                  </m:oMath>
                </a14:m>
                <a:endParaRPr lang="en-AU" sz="2000" dirty="0">
                  <a:solidFill>
                    <a:srgbClr val="00B050"/>
                  </a:solidFill>
                </a:endParaRPr>
              </a:p>
              <a:p>
                <a:r>
                  <a:rPr lang="en-AU" sz="2000" dirty="0"/>
                  <a:t>(6)</a:t>
                </a:r>
                <a:r>
                  <a:rPr lang="el-GR" sz="2000" dirty="0"/>
                  <a:t> </a:t>
                </a:r>
                <a14:m>
                  <m:oMath xmlns:m="http://schemas.openxmlformats.org/officeDocument/2006/math">
                    <m:r>
                      <a:rPr lang="el-GR" sz="2000" i="1" dirty="0" smtClean="0">
                        <a:solidFill>
                          <a:schemeClr val="accent6"/>
                        </a:solidFill>
                        <a:latin typeface="Cambria Math" panose="02040503050406030204" pitchFamily="18" charset="0"/>
                      </a:rPr>
                      <m:t>𝛿</m:t>
                    </m:r>
                    <m:d>
                      <m:dPr>
                        <m:ctrlPr>
                          <a:rPr lang="en-AU" sz="2000" b="0" i="1" dirty="0" smtClean="0">
                            <a:solidFill>
                              <a:schemeClr val="accent6"/>
                            </a:solidFill>
                            <a:latin typeface="Cambria Math" panose="02040503050406030204" pitchFamily="18" charset="0"/>
                          </a:rPr>
                        </m:ctrlPr>
                      </m:dPr>
                      <m:e>
                        <m:sSub>
                          <m:sSubPr>
                            <m:ctrlPr>
                              <a:rPr lang="en-AU" altLang="zh-CN" sz="2000" i="1" dirty="0">
                                <a:solidFill>
                                  <a:schemeClr val="accent6"/>
                                </a:solidFill>
                                <a:latin typeface="Cambria Math" panose="02040503050406030204" pitchFamily="18" charset="0"/>
                              </a:rPr>
                            </m:ctrlPr>
                          </m:sSubPr>
                          <m:e>
                            <m:r>
                              <a:rPr lang="en-AU" altLang="zh-CN" sz="2000" i="1" dirty="0">
                                <a:solidFill>
                                  <a:schemeClr val="accent6"/>
                                </a:solidFill>
                                <a:latin typeface="Cambria Math" panose="02040503050406030204" pitchFamily="18" charset="0"/>
                              </a:rPr>
                              <m:t>𝑞</m:t>
                            </m:r>
                          </m:e>
                          <m:sub>
                            <m:r>
                              <a:rPr lang="en-AU" altLang="zh-CN" sz="2000" b="0" i="1" dirty="0" smtClean="0">
                                <a:solidFill>
                                  <a:schemeClr val="accent6"/>
                                </a:solidFill>
                                <a:latin typeface="Cambria Math" panose="02040503050406030204" pitchFamily="18" charset="0"/>
                              </a:rPr>
                              <m:t>1</m:t>
                            </m:r>
                          </m:sub>
                        </m:sSub>
                        <m:r>
                          <a:rPr lang="en-AU" sz="2000" b="0" i="1" dirty="0" smtClean="0">
                            <a:solidFill>
                              <a:schemeClr val="accent6"/>
                            </a:solidFill>
                            <a:latin typeface="Cambria Math" panose="02040503050406030204" pitchFamily="18" charset="0"/>
                          </a:rPr>
                          <m:t>,</m:t>
                        </m:r>
                        <m:r>
                          <a:rPr lang="el-GR" sz="2000" i="1" dirty="0">
                            <a:solidFill>
                              <a:schemeClr val="accent6"/>
                            </a:solidFill>
                            <a:latin typeface="Cambria Math" panose="02040503050406030204" pitchFamily="18" charset="0"/>
                          </a:rPr>
                          <m:t>𝜀</m:t>
                        </m:r>
                        <m:r>
                          <a:rPr lang="en-AU" sz="2000" b="0" i="1" dirty="0" smtClean="0">
                            <a:solidFill>
                              <a:schemeClr val="accent6"/>
                            </a:solidFill>
                            <a:latin typeface="Cambria Math" panose="02040503050406030204" pitchFamily="18" charset="0"/>
                          </a:rPr>
                          <m:t>,</m:t>
                        </m:r>
                        <m:sSub>
                          <m:sSubPr>
                            <m:ctrlPr>
                              <a:rPr lang="en-AU" altLang="zh-CN" sz="2000" i="1" dirty="0">
                                <a:solidFill>
                                  <a:schemeClr val="accent6"/>
                                </a:solidFill>
                                <a:latin typeface="Cambria Math" panose="02040503050406030204" pitchFamily="18" charset="0"/>
                              </a:rPr>
                            </m:ctrlPr>
                          </m:sSubPr>
                          <m:e>
                            <m:r>
                              <a:rPr lang="en-AU" altLang="zh-CN" sz="2000" i="1" dirty="0">
                                <a:solidFill>
                                  <a:schemeClr val="accent6"/>
                                </a:solidFill>
                                <a:latin typeface="Cambria Math" panose="02040503050406030204" pitchFamily="18" charset="0"/>
                              </a:rPr>
                              <m:t>𝑍</m:t>
                            </m:r>
                          </m:e>
                          <m:sub>
                            <m:r>
                              <a:rPr lang="en-AU" altLang="zh-CN" sz="2000" i="1" dirty="0">
                                <a:solidFill>
                                  <a:schemeClr val="accent6"/>
                                </a:solidFill>
                                <a:latin typeface="Cambria Math" panose="02040503050406030204" pitchFamily="18" charset="0"/>
                              </a:rPr>
                              <m:t>0</m:t>
                            </m:r>
                          </m:sub>
                        </m:sSub>
                      </m:e>
                    </m:d>
                    <m:r>
                      <a:rPr lang="en-AU" sz="2000" b="0" i="1" dirty="0" smtClean="0">
                        <a:solidFill>
                          <a:schemeClr val="accent6"/>
                        </a:solidFill>
                        <a:latin typeface="Cambria Math" panose="02040503050406030204" pitchFamily="18" charset="0"/>
                      </a:rPr>
                      <m:t>={(</m:t>
                    </m:r>
                    <m:sSub>
                      <m:sSubPr>
                        <m:ctrlPr>
                          <a:rPr lang="en-AU" altLang="zh-CN" sz="2000" i="1" dirty="0">
                            <a:solidFill>
                              <a:schemeClr val="accent6"/>
                            </a:solidFill>
                            <a:latin typeface="Cambria Math" panose="02040503050406030204" pitchFamily="18" charset="0"/>
                          </a:rPr>
                        </m:ctrlPr>
                      </m:sSubPr>
                      <m:e>
                        <m:r>
                          <a:rPr lang="en-AU" altLang="zh-CN" sz="2000" i="1" dirty="0">
                            <a:solidFill>
                              <a:schemeClr val="accent6"/>
                            </a:solidFill>
                            <a:latin typeface="Cambria Math" panose="02040503050406030204" pitchFamily="18" charset="0"/>
                          </a:rPr>
                          <m:t>𝑞</m:t>
                        </m:r>
                      </m:e>
                      <m:sub>
                        <m:r>
                          <a:rPr lang="en-AU" altLang="zh-CN" sz="2000" i="1" dirty="0">
                            <a:solidFill>
                              <a:schemeClr val="accent6"/>
                            </a:solidFill>
                            <a:latin typeface="Cambria Math" panose="02040503050406030204" pitchFamily="18" charset="0"/>
                          </a:rPr>
                          <m:t>1</m:t>
                        </m:r>
                      </m:sub>
                    </m:sSub>
                    <m:r>
                      <a:rPr lang="en-AU" sz="2000" b="0" i="1" dirty="0" smtClean="0">
                        <a:solidFill>
                          <a:schemeClr val="accent6"/>
                        </a:solidFill>
                        <a:latin typeface="Cambria Math" panose="02040503050406030204" pitchFamily="18" charset="0"/>
                      </a:rPr>
                      <m:t>,</m:t>
                    </m:r>
                    <m:r>
                      <a:rPr lang="el-GR" sz="2000" i="1" dirty="0">
                        <a:solidFill>
                          <a:schemeClr val="accent6"/>
                        </a:solidFill>
                        <a:latin typeface="Cambria Math" panose="02040503050406030204" pitchFamily="18" charset="0"/>
                      </a:rPr>
                      <m:t>𝜀</m:t>
                    </m:r>
                    <m:r>
                      <a:rPr lang="en-AU" sz="2000" b="0" i="1" dirty="0" smtClean="0">
                        <a:solidFill>
                          <a:schemeClr val="accent6"/>
                        </a:solidFill>
                        <a:latin typeface="Cambria Math" panose="02040503050406030204" pitchFamily="18" charset="0"/>
                      </a:rPr>
                      <m:t>)}</m:t>
                    </m:r>
                  </m:oMath>
                </a14:m>
                <a:endParaRPr lang="en-US" sz="2000" dirty="0">
                  <a:solidFill>
                    <a:schemeClr val="accent6"/>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899327" y="2391473"/>
                <a:ext cx="3260690" cy="1938992"/>
              </a:xfrm>
              <a:prstGeom prst="rect">
                <a:avLst/>
              </a:prstGeom>
              <a:blipFill rotWithShape="1">
                <a:blip r:embed="rId3"/>
                <a:stretch>
                  <a:fillRect l="-5" t="-3" r="4"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983985" y="2255127"/>
                <a:ext cx="3273204" cy="3693319"/>
              </a:xfrm>
              <a:prstGeom prst="rect">
                <a:avLst/>
              </a:prstGeom>
              <a:noFill/>
            </p:spPr>
            <p:txBody>
              <a:bodyPr wrap="none" rtlCol="0">
                <a:spAutoFit/>
              </a:bodyPr>
              <a:lstStyle/>
              <a:p>
                <a14:m>
                  <m:oMath xmlns:m="http://schemas.openxmlformats.org/officeDocument/2006/math">
                    <m:r>
                      <a:rPr lang="el-GR" i="1" dirty="0" smtClean="0">
                        <a:solidFill>
                          <a:srgbClr val="FF0000"/>
                        </a:solidFill>
                        <a:latin typeface="Cambria Math" panose="02040503050406030204" pitchFamily="18" charset="0"/>
                      </a:rPr>
                      <m:t>𝛿</m:t>
                    </m:r>
                    <m:d>
                      <m:dPr>
                        <m:ctrlPr>
                          <a:rPr lang="en-AU" i="1" dirty="0">
                            <a:solidFill>
                              <a:srgbClr val="FF0000"/>
                            </a:solidFill>
                            <a:latin typeface="Cambria Math" panose="02040503050406030204" pitchFamily="18" charset="0"/>
                          </a:rPr>
                        </m:ctrlPr>
                      </m:dPr>
                      <m:e>
                        <m:sSub>
                          <m:sSubPr>
                            <m:ctrlPr>
                              <a:rPr lang="en-AU" altLang="zh-CN" i="1" dirty="0">
                                <a:solidFill>
                                  <a:srgbClr val="FF0000"/>
                                </a:solidFill>
                                <a:latin typeface="Cambria Math" panose="02040503050406030204" pitchFamily="18" charset="0"/>
                              </a:rPr>
                            </m:ctrlPr>
                          </m:sSubPr>
                          <m:e>
                            <m:r>
                              <a:rPr lang="en-AU" altLang="zh-CN" i="1" dirty="0">
                                <a:solidFill>
                                  <a:srgbClr val="FF0000"/>
                                </a:solidFill>
                                <a:latin typeface="Cambria Math" panose="02040503050406030204" pitchFamily="18" charset="0"/>
                              </a:rPr>
                              <m:t>𝑞</m:t>
                            </m:r>
                          </m:e>
                          <m:sub>
                            <m:r>
                              <a:rPr lang="en-AU" altLang="zh-CN" i="1" dirty="0">
                                <a:solidFill>
                                  <a:srgbClr val="FF0000"/>
                                </a:solidFill>
                                <a:latin typeface="Cambria Math" panose="02040503050406030204" pitchFamily="18" charset="0"/>
                              </a:rPr>
                              <m:t>0</m:t>
                            </m:r>
                          </m:sub>
                        </m:sSub>
                        <m:r>
                          <a:rPr lang="en-AU" i="1" dirty="0">
                            <a:solidFill>
                              <a:srgbClr val="FF0000"/>
                            </a:solidFill>
                            <a:latin typeface="Cambria Math" panose="02040503050406030204" pitchFamily="18" charset="0"/>
                          </a:rPr>
                          <m:t>,1,</m:t>
                        </m:r>
                        <m:r>
                          <a:rPr lang="en-AU" i="1" dirty="0">
                            <a:solidFill>
                              <a:srgbClr val="FF0000"/>
                            </a:solidFill>
                            <a:latin typeface="Cambria Math" panose="02040503050406030204" pitchFamily="18" charset="0"/>
                          </a:rPr>
                          <m:t>𝑋</m:t>
                        </m:r>
                      </m:e>
                    </m:d>
                    <m:r>
                      <a:rPr lang="en-AU" i="1" dirty="0">
                        <a:solidFill>
                          <a:srgbClr val="FF0000"/>
                        </a:solidFill>
                        <a:latin typeface="Cambria Math" panose="02040503050406030204" pitchFamily="18" charset="0"/>
                      </a:rPr>
                      <m:t>={(</m:t>
                    </m:r>
                    <m:sSub>
                      <m:sSubPr>
                        <m:ctrlPr>
                          <a:rPr lang="en-AU" altLang="zh-CN" i="1" dirty="0">
                            <a:solidFill>
                              <a:srgbClr val="FF0000"/>
                            </a:solidFill>
                            <a:latin typeface="Cambria Math" panose="02040503050406030204" pitchFamily="18" charset="0"/>
                          </a:rPr>
                        </m:ctrlPr>
                      </m:sSubPr>
                      <m:e>
                        <m:r>
                          <a:rPr lang="en-AU" altLang="zh-CN" i="1" dirty="0">
                            <a:solidFill>
                              <a:srgbClr val="FF0000"/>
                            </a:solidFill>
                            <a:latin typeface="Cambria Math" panose="02040503050406030204" pitchFamily="18" charset="0"/>
                          </a:rPr>
                          <m:t>𝑞</m:t>
                        </m:r>
                      </m:e>
                      <m:sub>
                        <m:r>
                          <a:rPr lang="en-AU" altLang="zh-CN" i="1" dirty="0">
                            <a:solidFill>
                              <a:srgbClr val="FF0000"/>
                            </a:solidFill>
                            <a:latin typeface="Cambria Math" panose="02040503050406030204" pitchFamily="18" charset="0"/>
                          </a:rPr>
                          <m:t>1</m:t>
                        </m:r>
                      </m:sub>
                    </m:sSub>
                    <m:r>
                      <a:rPr lang="en-AU" i="1" dirty="0">
                        <a:solidFill>
                          <a:srgbClr val="FF0000"/>
                        </a:solidFill>
                        <a:latin typeface="Cambria Math" panose="02040503050406030204" pitchFamily="18" charset="0"/>
                      </a:rPr>
                      <m:t>,</m:t>
                    </m:r>
                    <m:r>
                      <a:rPr lang="el-GR" i="1" dirty="0">
                        <a:solidFill>
                          <a:srgbClr val="FF0000"/>
                        </a:solidFill>
                        <a:latin typeface="Cambria Math" panose="02040503050406030204" pitchFamily="18" charset="0"/>
                      </a:rPr>
                      <m:t>𝜀</m:t>
                    </m:r>
                    <m:r>
                      <a:rPr lang="en-AU" i="1" dirty="0">
                        <a:solidFill>
                          <a:srgbClr val="FF0000"/>
                        </a:solidFill>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rPr>
                  <a:t>产生式</a:t>
                </a:r>
                <a:r>
                  <a:rPr lang="zh-CN" altLang="en-US" dirty="0"/>
                  <a:t>：</a:t>
                </a:r>
                <a:endParaRPr lang="en-AU" altLang="zh-CN" dirty="0"/>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b="0" i="1" dirty="0">
                  <a:latin typeface="Cambria Math" panose="02040503050406030204" pitchFamily="18" charset="0"/>
                </a:endParaRPr>
              </a:p>
              <a:p>
                <a:endParaRPr lang="en-AU" b="0" i="1" dirty="0">
                  <a:latin typeface="Cambria Math" panose="02040503050406030204" pitchFamily="18" charset="0"/>
                </a:endParaRPr>
              </a:p>
              <a:p>
                <a14:m>
                  <m:oMath xmlns:m="http://schemas.openxmlformats.org/officeDocument/2006/math">
                    <m:r>
                      <a:rPr lang="el-GR" sz="1800" i="1" dirty="0" smtClean="0">
                        <a:solidFill>
                          <a:schemeClr val="tx2"/>
                        </a:solidFill>
                        <a:latin typeface="Cambria Math" panose="02040503050406030204" pitchFamily="18" charset="0"/>
                      </a:rPr>
                      <m:t>𝛿</m:t>
                    </m:r>
                    <m:d>
                      <m:dPr>
                        <m:ctrlPr>
                          <a:rPr lang="en-AU" sz="1800" b="0" i="1" dirty="0" smtClean="0">
                            <a:solidFill>
                              <a:schemeClr val="tx2"/>
                            </a:solidFill>
                            <a:latin typeface="Cambria Math" panose="02040503050406030204" pitchFamily="18" charset="0"/>
                          </a:rPr>
                        </m:ctrlPr>
                      </m:dPr>
                      <m:e>
                        <m:sSub>
                          <m:sSubPr>
                            <m:ctrlPr>
                              <a:rPr lang="en-AU" altLang="zh-CN" sz="1800" i="1" dirty="0">
                                <a:solidFill>
                                  <a:schemeClr val="tx2"/>
                                </a:solidFill>
                                <a:latin typeface="Cambria Math" panose="02040503050406030204" pitchFamily="18" charset="0"/>
                              </a:rPr>
                            </m:ctrlPr>
                          </m:sSubPr>
                          <m:e>
                            <m:r>
                              <a:rPr lang="en-AU" altLang="zh-CN" sz="1800" i="1" dirty="0">
                                <a:solidFill>
                                  <a:schemeClr val="tx2"/>
                                </a:solidFill>
                                <a:latin typeface="Cambria Math" panose="02040503050406030204" pitchFamily="18" charset="0"/>
                              </a:rPr>
                              <m:t>𝑞</m:t>
                            </m:r>
                          </m:e>
                          <m:sub>
                            <m:r>
                              <a:rPr lang="en-AU" altLang="zh-CN" sz="1800" b="0" i="1" dirty="0" smtClean="0">
                                <a:solidFill>
                                  <a:schemeClr val="tx2"/>
                                </a:solidFill>
                                <a:latin typeface="Cambria Math" panose="02040503050406030204" pitchFamily="18" charset="0"/>
                              </a:rPr>
                              <m:t>1</m:t>
                            </m:r>
                          </m:sub>
                        </m:sSub>
                        <m:r>
                          <a:rPr lang="en-AU" sz="1800" b="0" i="1" dirty="0" smtClean="0">
                            <a:solidFill>
                              <a:schemeClr val="tx2"/>
                            </a:solidFill>
                            <a:latin typeface="Cambria Math" panose="02040503050406030204" pitchFamily="18" charset="0"/>
                          </a:rPr>
                          <m:t>,1,</m:t>
                        </m:r>
                        <m:r>
                          <a:rPr lang="en-AU" sz="1800" b="0" i="1" dirty="0" smtClean="0">
                            <a:solidFill>
                              <a:schemeClr val="tx2"/>
                            </a:solidFill>
                            <a:latin typeface="Cambria Math" panose="02040503050406030204" pitchFamily="18" charset="0"/>
                          </a:rPr>
                          <m:t>𝑋</m:t>
                        </m:r>
                      </m:e>
                    </m:d>
                    <m:r>
                      <a:rPr lang="en-AU" sz="1800" b="0" i="1" dirty="0" smtClean="0">
                        <a:solidFill>
                          <a:schemeClr val="tx2"/>
                        </a:solidFill>
                        <a:latin typeface="Cambria Math" panose="02040503050406030204" pitchFamily="18" charset="0"/>
                      </a:rPr>
                      <m:t>=</m:t>
                    </m:r>
                    <m:d>
                      <m:dPr>
                        <m:begChr m:val="{"/>
                        <m:endChr m:val="}"/>
                        <m:ctrlPr>
                          <a:rPr lang="en-AU" altLang="zh-CN" sz="1800" b="0" i="1" dirty="0" smtClean="0">
                            <a:solidFill>
                              <a:schemeClr val="tx2"/>
                            </a:solidFill>
                            <a:latin typeface="Cambria Math" panose="02040503050406030204" pitchFamily="18" charset="0"/>
                          </a:rPr>
                        </m:ctrlPr>
                      </m:dPr>
                      <m:e>
                        <m:d>
                          <m:dPr>
                            <m:ctrlPr>
                              <a:rPr lang="en-AU" altLang="zh-CN" sz="1800" b="0" i="1" dirty="0" smtClean="0">
                                <a:solidFill>
                                  <a:schemeClr val="tx2"/>
                                </a:solidFill>
                                <a:latin typeface="Cambria Math" panose="02040503050406030204" pitchFamily="18" charset="0"/>
                              </a:rPr>
                            </m:ctrlPr>
                          </m:dPr>
                          <m:e>
                            <m:sSub>
                              <m:sSubPr>
                                <m:ctrlPr>
                                  <a:rPr lang="en-AU" altLang="zh-CN" sz="1800" i="1" dirty="0">
                                    <a:solidFill>
                                      <a:schemeClr val="tx2"/>
                                    </a:solidFill>
                                    <a:latin typeface="Cambria Math" panose="02040503050406030204" pitchFamily="18" charset="0"/>
                                  </a:rPr>
                                </m:ctrlPr>
                              </m:sSubPr>
                              <m:e>
                                <m:r>
                                  <a:rPr lang="en-AU" altLang="zh-CN" sz="1800" i="1" dirty="0">
                                    <a:solidFill>
                                      <a:schemeClr val="tx2"/>
                                    </a:solidFill>
                                    <a:latin typeface="Cambria Math" panose="02040503050406030204" pitchFamily="18" charset="0"/>
                                  </a:rPr>
                                  <m:t>𝑞</m:t>
                                </m:r>
                              </m:e>
                              <m:sub>
                                <m:r>
                                  <a:rPr lang="en-AU" altLang="zh-CN" sz="1800" i="1" dirty="0">
                                    <a:solidFill>
                                      <a:schemeClr val="tx2"/>
                                    </a:solidFill>
                                    <a:latin typeface="Cambria Math" panose="02040503050406030204" pitchFamily="18" charset="0"/>
                                  </a:rPr>
                                  <m:t>1</m:t>
                                </m:r>
                              </m:sub>
                            </m:sSub>
                            <m:r>
                              <a:rPr lang="en-AU" sz="1800" b="0" i="1" dirty="0" smtClean="0">
                                <a:solidFill>
                                  <a:schemeClr val="tx2"/>
                                </a:solidFill>
                                <a:latin typeface="Cambria Math" panose="02040503050406030204" pitchFamily="18" charset="0"/>
                              </a:rPr>
                              <m:t>,</m:t>
                            </m:r>
                            <m:r>
                              <a:rPr lang="el-GR" sz="1800" i="1" dirty="0">
                                <a:solidFill>
                                  <a:schemeClr val="tx2"/>
                                </a:solidFill>
                                <a:latin typeface="Cambria Math" panose="02040503050406030204" pitchFamily="18" charset="0"/>
                              </a:rPr>
                              <m:t>𝜀</m:t>
                            </m:r>
                          </m:e>
                        </m:d>
                      </m:e>
                    </m:d>
                  </m:oMath>
                </a14:m>
                <a:r>
                  <a:rPr lang="zh-CN" altLang="en-US" dirty="0">
                    <a:latin typeface="楷体" panose="02010609060101010101" pitchFamily="49" charset="-122"/>
                    <a:ea typeface="楷体" panose="02010609060101010101" pitchFamily="49" charset="-122"/>
                  </a:rPr>
                  <a:t>产生式</a:t>
                </a:r>
                <a:r>
                  <a:rPr lang="zh-CN" altLang="en-US" dirty="0"/>
                  <a:t>：</a:t>
                </a:r>
                <a:endParaRPr lang="en-AU" altLang="zh-CN" dirty="0"/>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b="0" i="1" dirty="0">
                  <a:latin typeface="Cambria Math" panose="02040503050406030204" pitchFamily="18" charset="0"/>
                </a:endParaRPr>
              </a:p>
              <a:p>
                <a:endParaRPr lang="en-AU" sz="1800" b="0" i="1" dirty="0">
                  <a:latin typeface="Cambria Math" panose="02040503050406030204" pitchFamily="18" charset="0"/>
                </a:endParaRPr>
              </a:p>
              <a:p>
                <a14:m>
                  <m:oMath xmlns:m="http://schemas.openxmlformats.org/officeDocument/2006/math">
                    <m:r>
                      <a:rPr lang="el-GR" sz="1800" i="1" dirty="0" smtClean="0">
                        <a:solidFill>
                          <a:srgbClr val="00B050"/>
                        </a:solidFill>
                        <a:latin typeface="Cambria Math" panose="02040503050406030204" pitchFamily="18" charset="0"/>
                      </a:rPr>
                      <m:t>𝛿</m:t>
                    </m:r>
                    <m:d>
                      <m:dPr>
                        <m:ctrlPr>
                          <a:rPr lang="en-AU" sz="1800" b="0" i="1" dirty="0" smtClean="0">
                            <a:solidFill>
                              <a:srgbClr val="00B050"/>
                            </a:solidFill>
                            <a:latin typeface="Cambria Math" panose="02040503050406030204" pitchFamily="18" charset="0"/>
                          </a:rPr>
                        </m:ctrlPr>
                      </m:dPr>
                      <m:e>
                        <m:sSub>
                          <m:sSubPr>
                            <m:ctrlPr>
                              <a:rPr lang="en-AU" altLang="zh-CN" sz="1800" i="1" dirty="0">
                                <a:solidFill>
                                  <a:srgbClr val="00B050"/>
                                </a:solidFill>
                                <a:latin typeface="Cambria Math" panose="02040503050406030204" pitchFamily="18" charset="0"/>
                              </a:rPr>
                            </m:ctrlPr>
                          </m:sSubPr>
                          <m:e>
                            <m:r>
                              <a:rPr lang="en-AU" altLang="zh-CN" sz="1800" i="1" dirty="0">
                                <a:solidFill>
                                  <a:srgbClr val="00B050"/>
                                </a:solidFill>
                                <a:latin typeface="Cambria Math" panose="02040503050406030204" pitchFamily="18" charset="0"/>
                              </a:rPr>
                              <m:t>𝑞</m:t>
                            </m:r>
                          </m:e>
                          <m:sub>
                            <m:r>
                              <a:rPr lang="en-AU" altLang="zh-CN" sz="1800" b="0" i="1" dirty="0" smtClean="0">
                                <a:solidFill>
                                  <a:srgbClr val="00B050"/>
                                </a:solidFill>
                                <a:latin typeface="Cambria Math" panose="02040503050406030204" pitchFamily="18" charset="0"/>
                              </a:rPr>
                              <m:t>1</m:t>
                            </m:r>
                          </m:sub>
                        </m:sSub>
                        <m:r>
                          <a:rPr lang="en-AU" sz="1800" b="0" i="1" dirty="0" smtClean="0">
                            <a:solidFill>
                              <a:srgbClr val="00B050"/>
                            </a:solidFill>
                            <a:latin typeface="Cambria Math" panose="02040503050406030204" pitchFamily="18" charset="0"/>
                          </a:rPr>
                          <m:t>,</m:t>
                        </m:r>
                        <m:r>
                          <a:rPr lang="el-GR" sz="1800" i="1" dirty="0">
                            <a:solidFill>
                              <a:srgbClr val="00B050"/>
                            </a:solidFill>
                            <a:latin typeface="Cambria Math" panose="02040503050406030204" pitchFamily="18" charset="0"/>
                          </a:rPr>
                          <m:t>𝜀</m:t>
                        </m:r>
                        <m:r>
                          <a:rPr lang="en-AU" sz="1800" b="0" i="1" dirty="0" smtClean="0">
                            <a:solidFill>
                              <a:srgbClr val="00B050"/>
                            </a:solidFill>
                            <a:latin typeface="Cambria Math" panose="02040503050406030204" pitchFamily="18" charset="0"/>
                          </a:rPr>
                          <m:t>,</m:t>
                        </m:r>
                        <m:r>
                          <a:rPr lang="en-AU" sz="1800" b="0" i="1" dirty="0" smtClean="0">
                            <a:solidFill>
                              <a:srgbClr val="00B050"/>
                            </a:solidFill>
                            <a:latin typeface="Cambria Math" panose="02040503050406030204" pitchFamily="18" charset="0"/>
                          </a:rPr>
                          <m:t>𝑋</m:t>
                        </m:r>
                      </m:e>
                    </m:d>
                    <m:r>
                      <a:rPr lang="en-AU" sz="1800" b="0" i="1" dirty="0" smtClean="0">
                        <a:solidFill>
                          <a:srgbClr val="00B050"/>
                        </a:solidFill>
                        <a:latin typeface="Cambria Math" panose="02040503050406030204" pitchFamily="18" charset="0"/>
                      </a:rPr>
                      <m:t>=</m:t>
                    </m:r>
                    <m:d>
                      <m:dPr>
                        <m:begChr m:val="{"/>
                        <m:endChr m:val="}"/>
                        <m:ctrlPr>
                          <a:rPr lang="en-AU" altLang="zh-CN" sz="1800" b="0" i="1" dirty="0" smtClean="0">
                            <a:solidFill>
                              <a:srgbClr val="00B050"/>
                            </a:solidFill>
                            <a:latin typeface="Cambria Math" panose="02040503050406030204" pitchFamily="18" charset="0"/>
                          </a:rPr>
                        </m:ctrlPr>
                      </m:dPr>
                      <m:e>
                        <m:d>
                          <m:dPr>
                            <m:ctrlPr>
                              <a:rPr lang="en-AU" altLang="zh-CN" sz="1800" b="0" i="1" dirty="0" smtClean="0">
                                <a:solidFill>
                                  <a:srgbClr val="00B050"/>
                                </a:solidFill>
                                <a:latin typeface="Cambria Math" panose="02040503050406030204" pitchFamily="18" charset="0"/>
                              </a:rPr>
                            </m:ctrlPr>
                          </m:dPr>
                          <m:e>
                            <m:sSub>
                              <m:sSubPr>
                                <m:ctrlPr>
                                  <a:rPr lang="en-AU" altLang="zh-CN" sz="1800" i="1" dirty="0">
                                    <a:solidFill>
                                      <a:srgbClr val="00B050"/>
                                    </a:solidFill>
                                    <a:latin typeface="Cambria Math" panose="02040503050406030204" pitchFamily="18" charset="0"/>
                                  </a:rPr>
                                </m:ctrlPr>
                              </m:sSubPr>
                              <m:e>
                                <m:r>
                                  <a:rPr lang="en-AU" altLang="zh-CN" sz="1800" i="1" dirty="0">
                                    <a:solidFill>
                                      <a:srgbClr val="00B050"/>
                                    </a:solidFill>
                                    <a:latin typeface="Cambria Math" panose="02040503050406030204" pitchFamily="18" charset="0"/>
                                  </a:rPr>
                                  <m:t>𝑞</m:t>
                                </m:r>
                              </m:e>
                              <m:sub>
                                <m:r>
                                  <a:rPr lang="en-AU" altLang="zh-CN" sz="1800" i="1" dirty="0">
                                    <a:solidFill>
                                      <a:srgbClr val="00B050"/>
                                    </a:solidFill>
                                    <a:latin typeface="Cambria Math" panose="02040503050406030204" pitchFamily="18" charset="0"/>
                                  </a:rPr>
                                  <m:t>1</m:t>
                                </m:r>
                              </m:sub>
                            </m:sSub>
                            <m:r>
                              <a:rPr lang="en-AU" sz="1800" b="0" i="1" dirty="0" smtClean="0">
                                <a:solidFill>
                                  <a:srgbClr val="00B050"/>
                                </a:solidFill>
                                <a:latin typeface="Cambria Math" panose="02040503050406030204" pitchFamily="18" charset="0"/>
                              </a:rPr>
                              <m:t>,</m:t>
                            </m:r>
                            <m:r>
                              <a:rPr lang="el-GR" sz="1800" i="1" dirty="0">
                                <a:solidFill>
                                  <a:srgbClr val="00B050"/>
                                </a:solidFill>
                                <a:latin typeface="Cambria Math" panose="02040503050406030204" pitchFamily="18" charset="0"/>
                              </a:rPr>
                              <m:t>𝜀</m:t>
                            </m:r>
                          </m:e>
                        </m:d>
                      </m:e>
                    </m:d>
                  </m:oMath>
                </a14:m>
                <a:r>
                  <a:rPr lang="zh-CN" altLang="en-US" dirty="0">
                    <a:latin typeface="楷体" panose="02010609060101010101" pitchFamily="49" charset="-122"/>
                    <a:ea typeface="楷体" panose="02010609060101010101" pitchFamily="49" charset="-122"/>
                  </a:rPr>
                  <a:t>产生式</a:t>
                </a:r>
                <a:r>
                  <a:rPr lang="zh-CN" altLang="en-US" dirty="0"/>
                  <a:t>：</a:t>
                </a:r>
                <a:endParaRPr lang="en-AU" sz="18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b="0" i="1" dirty="0">
                  <a:latin typeface="Cambria Math" panose="02040503050406030204" pitchFamily="18" charset="0"/>
                </a:endParaRPr>
              </a:p>
              <a:p>
                <a:endParaRPr lang="en-AU" sz="1800" i="1" dirty="0">
                  <a:latin typeface="Cambria Math" panose="02040503050406030204" pitchFamily="18" charset="0"/>
                </a:endParaRPr>
              </a:p>
              <a:p>
                <a14:m>
                  <m:oMath xmlns:m="http://schemas.openxmlformats.org/officeDocument/2006/math">
                    <m:r>
                      <a:rPr lang="el-GR" sz="1800" i="1" dirty="0" smtClean="0">
                        <a:solidFill>
                          <a:schemeClr val="accent6"/>
                        </a:solidFill>
                        <a:latin typeface="Cambria Math" panose="02040503050406030204" pitchFamily="18" charset="0"/>
                      </a:rPr>
                      <m:t>𝛿</m:t>
                    </m:r>
                    <m:d>
                      <m:dPr>
                        <m:ctrlPr>
                          <a:rPr lang="en-AU" sz="1800" b="0" i="1" dirty="0" smtClean="0">
                            <a:solidFill>
                              <a:schemeClr val="accent6"/>
                            </a:solidFill>
                            <a:latin typeface="Cambria Math" panose="02040503050406030204" pitchFamily="18" charset="0"/>
                          </a:rPr>
                        </m:ctrlPr>
                      </m:dPr>
                      <m:e>
                        <m:sSub>
                          <m:sSubPr>
                            <m:ctrlPr>
                              <a:rPr lang="en-AU" altLang="zh-CN" sz="1800" i="1" dirty="0">
                                <a:solidFill>
                                  <a:schemeClr val="accent6"/>
                                </a:solidFill>
                                <a:latin typeface="Cambria Math" panose="02040503050406030204" pitchFamily="18" charset="0"/>
                              </a:rPr>
                            </m:ctrlPr>
                          </m:sSubPr>
                          <m:e>
                            <m:r>
                              <a:rPr lang="en-AU" altLang="zh-CN" sz="1800" i="1" dirty="0">
                                <a:solidFill>
                                  <a:schemeClr val="accent6"/>
                                </a:solidFill>
                                <a:latin typeface="Cambria Math" panose="02040503050406030204" pitchFamily="18" charset="0"/>
                              </a:rPr>
                              <m:t>𝑞</m:t>
                            </m:r>
                          </m:e>
                          <m:sub>
                            <m:r>
                              <a:rPr lang="en-AU" altLang="zh-CN" sz="1800" b="0" i="1" dirty="0" smtClean="0">
                                <a:solidFill>
                                  <a:schemeClr val="accent6"/>
                                </a:solidFill>
                                <a:latin typeface="Cambria Math" panose="02040503050406030204" pitchFamily="18" charset="0"/>
                              </a:rPr>
                              <m:t>1</m:t>
                            </m:r>
                          </m:sub>
                        </m:sSub>
                        <m:r>
                          <a:rPr lang="en-AU" sz="1800" b="0" i="1" dirty="0" smtClean="0">
                            <a:solidFill>
                              <a:schemeClr val="accent6"/>
                            </a:solidFill>
                            <a:latin typeface="Cambria Math" panose="02040503050406030204" pitchFamily="18" charset="0"/>
                          </a:rPr>
                          <m:t>,</m:t>
                        </m:r>
                        <m:r>
                          <a:rPr lang="el-GR" sz="1800" i="1" dirty="0">
                            <a:solidFill>
                              <a:schemeClr val="accent6"/>
                            </a:solidFill>
                            <a:latin typeface="Cambria Math" panose="02040503050406030204" pitchFamily="18" charset="0"/>
                          </a:rPr>
                          <m:t>𝜀</m:t>
                        </m:r>
                        <m:r>
                          <a:rPr lang="en-AU" sz="1800" b="0" i="1" dirty="0" smtClean="0">
                            <a:solidFill>
                              <a:schemeClr val="accent6"/>
                            </a:solidFill>
                            <a:latin typeface="Cambria Math" panose="02040503050406030204" pitchFamily="18" charset="0"/>
                          </a:rPr>
                          <m:t>,</m:t>
                        </m:r>
                        <m:sSub>
                          <m:sSubPr>
                            <m:ctrlPr>
                              <a:rPr lang="en-AU" altLang="zh-CN" sz="1800" i="1" dirty="0">
                                <a:solidFill>
                                  <a:schemeClr val="accent6"/>
                                </a:solidFill>
                                <a:latin typeface="Cambria Math" panose="02040503050406030204" pitchFamily="18" charset="0"/>
                              </a:rPr>
                            </m:ctrlPr>
                          </m:sSubPr>
                          <m:e>
                            <m:r>
                              <a:rPr lang="en-AU" altLang="zh-CN" sz="1800" i="1" dirty="0">
                                <a:solidFill>
                                  <a:schemeClr val="accent6"/>
                                </a:solidFill>
                                <a:latin typeface="Cambria Math" panose="02040503050406030204" pitchFamily="18" charset="0"/>
                              </a:rPr>
                              <m:t>𝑍</m:t>
                            </m:r>
                          </m:e>
                          <m:sub>
                            <m:r>
                              <a:rPr lang="en-AU" altLang="zh-CN" sz="1800" i="1" dirty="0">
                                <a:solidFill>
                                  <a:schemeClr val="accent6"/>
                                </a:solidFill>
                                <a:latin typeface="Cambria Math" panose="02040503050406030204" pitchFamily="18" charset="0"/>
                              </a:rPr>
                              <m:t>0</m:t>
                            </m:r>
                          </m:sub>
                        </m:sSub>
                      </m:e>
                    </m:d>
                    <m:r>
                      <a:rPr lang="en-AU" sz="1800" b="0" i="1" dirty="0" smtClean="0">
                        <a:solidFill>
                          <a:schemeClr val="accent6"/>
                        </a:solidFill>
                        <a:latin typeface="Cambria Math" panose="02040503050406030204" pitchFamily="18" charset="0"/>
                      </a:rPr>
                      <m:t>={(</m:t>
                    </m:r>
                    <m:sSub>
                      <m:sSubPr>
                        <m:ctrlPr>
                          <a:rPr lang="en-AU" altLang="zh-CN" sz="1800" i="1" dirty="0">
                            <a:solidFill>
                              <a:schemeClr val="accent6"/>
                            </a:solidFill>
                            <a:latin typeface="Cambria Math" panose="02040503050406030204" pitchFamily="18" charset="0"/>
                          </a:rPr>
                        </m:ctrlPr>
                      </m:sSubPr>
                      <m:e>
                        <m:r>
                          <a:rPr lang="en-AU" altLang="zh-CN" sz="1800" i="1" dirty="0">
                            <a:solidFill>
                              <a:schemeClr val="accent6"/>
                            </a:solidFill>
                            <a:latin typeface="Cambria Math" panose="02040503050406030204" pitchFamily="18" charset="0"/>
                          </a:rPr>
                          <m:t>𝑞</m:t>
                        </m:r>
                      </m:e>
                      <m:sub>
                        <m:r>
                          <a:rPr lang="en-AU" altLang="zh-CN" sz="1800" i="1" dirty="0">
                            <a:solidFill>
                              <a:schemeClr val="accent6"/>
                            </a:solidFill>
                            <a:latin typeface="Cambria Math" panose="02040503050406030204" pitchFamily="18" charset="0"/>
                          </a:rPr>
                          <m:t>1</m:t>
                        </m:r>
                      </m:sub>
                    </m:sSub>
                    <m:r>
                      <a:rPr lang="en-AU" sz="1800" b="0" i="1" dirty="0" smtClean="0">
                        <a:solidFill>
                          <a:schemeClr val="accent6"/>
                        </a:solidFill>
                        <a:latin typeface="Cambria Math" panose="02040503050406030204" pitchFamily="18" charset="0"/>
                      </a:rPr>
                      <m:t>,</m:t>
                    </m:r>
                    <m:r>
                      <a:rPr lang="el-GR" sz="1800" i="1" dirty="0">
                        <a:solidFill>
                          <a:schemeClr val="accent6"/>
                        </a:solidFill>
                        <a:latin typeface="Cambria Math" panose="02040503050406030204" pitchFamily="18" charset="0"/>
                      </a:rPr>
                      <m:t>𝜀</m:t>
                    </m:r>
                    <m:r>
                      <a:rPr lang="en-AU" sz="1800" b="0" i="1" dirty="0" smtClean="0">
                        <a:solidFill>
                          <a:schemeClr val="accent6"/>
                        </a:solidFill>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rPr>
                  <a:t>产生式</a:t>
                </a:r>
                <a:r>
                  <a:rPr lang="zh-CN" altLang="en-US" dirty="0"/>
                  <a:t>：</a:t>
                </a:r>
                <a:endParaRPr lang="en-US" sz="1800" dirty="0"/>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b="0" i="1" dirty="0">
                  <a:latin typeface="Cambria Math" panose="02040503050406030204" pitchFamily="18" charset="0"/>
                </a:endParaRPr>
              </a:p>
              <a:p>
                <a:endParaRPr lang="en-AU" altLang="zh-CN" dirty="0"/>
              </a:p>
              <a:p>
                <a:endParaRPr lang="en-AU" dirty="0"/>
              </a:p>
            </p:txBody>
          </p:sp>
        </mc:Choice>
        <mc:Fallback xmlns="">
          <p:sp>
            <p:nvSpPr>
              <p:cNvPr id="6" name="TextBox 5"/>
              <p:cNvSpPr txBox="1">
                <a:spLocks noRot="1" noChangeAspect="1" noMove="1" noResize="1" noEditPoints="1" noAdjustHandles="1" noChangeArrowheads="1" noChangeShapeType="1" noTextEdit="1"/>
              </p:cNvSpPr>
              <p:nvPr/>
            </p:nvSpPr>
            <p:spPr>
              <a:xfrm>
                <a:off x="4983985" y="2255127"/>
                <a:ext cx="3273204" cy="3693319"/>
              </a:xfrm>
              <a:prstGeom prst="rect">
                <a:avLst/>
              </a:prstGeom>
              <a:blipFill rotWithShape="1">
                <a:blip r:embed="rId4"/>
                <a:stretch>
                  <a:fillRect l="-15" t="-7" r="9" b="11"/>
                </a:stretch>
              </a:blipFill>
            </p:spPr>
            <p:txBody>
              <a:bodyPr/>
              <a:lstStyle/>
              <a:p>
                <a:r>
                  <a:rPr lang="zh-CN" altLang="en-US">
                    <a:noFill/>
                  </a:rPr>
                  <a:t> </a:t>
                </a:r>
              </a:p>
            </p:txBody>
          </p:sp>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8223" y="1166018"/>
                <a:ext cx="8229600" cy="4525963"/>
              </a:xfrm>
            </p:spPr>
            <p:txBody>
              <a:bodyPr>
                <a:normAutofit/>
              </a:bodyPr>
              <a:lstStyle/>
              <a:p>
                <a:r>
                  <a:rPr lang="zh-CN" altLang="en-US" sz="2400" dirty="0"/>
                  <a:t>例</a:t>
                </a:r>
                <a:r>
                  <a:rPr lang="en-AU" altLang="zh-CN" sz="2400" dirty="0"/>
                  <a:t>:</a:t>
                </a:r>
                <a:r>
                  <a:rPr lang="zh-CN" altLang="en-US" sz="2400" dirty="0"/>
                  <a:t>将</a:t>
                </a:r>
                <a:r>
                  <a:rPr lang="en-AU" altLang="zh-CN" sz="2400" dirty="0">
                    <a:latin typeface="Times New Roman" panose="02020603050405020304" pitchFamily="18" charset="0"/>
                    <a:cs typeface="Times New Roman" panose="02020603050405020304" pitchFamily="18" charset="0"/>
                  </a:rPr>
                  <a:t>PDA</a:t>
                </a:r>
                <a:r>
                  <a:rPr lang="zh-CN" altLang="en-US" sz="2400" dirty="0"/>
                  <a:t> </a:t>
                </a:r>
                <a14:m>
                  <m:oMath xmlns:m="http://schemas.openxmlformats.org/officeDocument/2006/math">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altLang="zh-CN" sz="2400" i="1" dirty="0" smtClean="0">
                        <a:latin typeface="Cambria Math" panose="02040503050406030204" pitchFamily="18" charset="0"/>
                      </a:rPr>
                      <m:t>}, (0, 1), {</m:t>
                    </m:r>
                    <m:r>
                      <a:rPr lang="en-AU" altLang="zh-CN" sz="2400" i="1" dirty="0" smtClean="0">
                        <a:latin typeface="Cambria Math" panose="02040503050406030204" pitchFamily="18" charset="0"/>
                      </a:rPr>
                      <m:t>𝑋</m:t>
                    </m:r>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转为</a:t>
                </a:r>
                <a:r>
                  <a:rPr lang="en-AU" altLang="zh-CN" sz="2400" dirty="0">
                    <a:latin typeface="Times New Roman" panose="02020603050405020304" pitchFamily="18" charset="0"/>
                    <a:cs typeface="Times New Roman" panose="02020603050405020304" pitchFamily="18" charset="0"/>
                  </a:rPr>
                  <a:t>CFG</a:t>
                </a:r>
                <a:r>
                  <a:rPr lang="en-AU" altLang="zh-CN" sz="2400" dirty="0"/>
                  <a:t>:</a:t>
                </a:r>
              </a:p>
              <a:p>
                <a:pPr marL="0" indent="0">
                  <a:buNone/>
                </a:pP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538223" y="1166018"/>
                <a:ext cx="8229600" cy="4525963"/>
              </a:xfrm>
              <a:blipFill rotWithShape="1">
                <a:blip r:embed="rId2"/>
                <a:stretch>
                  <a:fillRect l="-5" t="-3" r="5"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88</a:t>
            </a:fld>
            <a:endParaRPr lang="en-AU"/>
          </a:p>
        </p:txBody>
      </p:sp>
      <mc:AlternateContent xmlns:mc="http://schemas.openxmlformats.org/markup-compatibility/2006" xmlns:a14="http://schemas.microsoft.com/office/drawing/2010/main">
        <mc:Choice Requires="a14">
          <p:sp>
            <p:nvSpPr>
              <p:cNvPr id="5" name="TextBox 4"/>
              <p:cNvSpPr txBox="1"/>
              <p:nvPr/>
            </p:nvSpPr>
            <p:spPr>
              <a:xfrm>
                <a:off x="1867962" y="1979155"/>
                <a:ext cx="3163045" cy="3970318"/>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𝑆</m:t>
                      </m:r>
                      <m:r>
                        <a:rPr lang="en-AU" sz="1800" i="1" dirty="0" smtClean="0">
                          <a:latin typeface="Cambria Math" panose="02040503050406030204" pitchFamily="18" charset="0"/>
                        </a:rPr>
                        <m:t> → </m:t>
                      </m:r>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e>
                      </m:d>
                    </m:oMath>
                  </m:oMathPara>
                </a14:m>
                <a:endParaRPr lang="en-AU" sz="18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𝑆</m:t>
                      </m:r>
                      <m:r>
                        <a:rPr lang="en-AU" sz="1800" i="1" dirty="0" smtClean="0">
                          <a:latin typeface="Cambria Math" panose="02040503050406030204" pitchFamily="18" charset="0"/>
                        </a:rPr>
                        <m:t> → [</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1</m:t>
                          </m:r>
                        </m:sub>
                      </m:sSub>
                      <m:r>
                        <a:rPr lang="en-AU" sz="1800" b="0" i="1" dirty="0" smtClean="0">
                          <a:latin typeface="Cambria Math" panose="02040503050406030204" pitchFamily="18" charset="0"/>
                        </a:rPr>
                        <m:t>]</m:t>
                      </m:r>
                    </m:oMath>
                  </m:oMathPara>
                </a14:m>
                <a:endParaRPr lang="en-AU" altLang="zh-CN" dirty="0"/>
              </a:p>
              <a:p>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endParaRPr lang="en-AU" dirty="0"/>
              </a:p>
            </p:txBody>
          </p:sp>
        </mc:Choice>
        <mc:Fallback xmlns="">
          <p:sp>
            <p:nvSpPr>
              <p:cNvPr id="5" name="TextBox 4"/>
              <p:cNvSpPr txBox="1">
                <a:spLocks noRot="1" noChangeAspect="1" noMove="1" noResize="1" noEditPoints="1" noAdjustHandles="1" noChangeArrowheads="1" noChangeShapeType="1" noTextEdit="1"/>
              </p:cNvSpPr>
              <p:nvPr/>
            </p:nvSpPr>
            <p:spPr>
              <a:xfrm>
                <a:off x="1867962" y="1979155"/>
                <a:ext cx="3163045" cy="3970318"/>
              </a:xfrm>
              <a:prstGeom prst="rect">
                <a:avLst/>
              </a:prstGeom>
              <a:blipFill rotWithShape="1">
                <a:blip r:embed="rId3"/>
                <a:stretch>
                  <a:fillRect l="-13" t="-12" r="17"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658566" y="1979155"/>
                <a:ext cx="1578958" cy="1754326"/>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altLang="zh-CN"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sz="1800" b="0" i="1"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sz="1800" i="1"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b="0" i="1" dirty="0">
                  <a:latin typeface="楷体" panose="02010609060101010101" pitchFamily="49" charset="-122"/>
                  <a:ea typeface="楷体" panose="02010609060101010101" pitchFamily="49" charset="-122"/>
                </a:endParaRPr>
              </a:p>
              <a:p>
                <a:endParaRPr lang="en-AU" altLang="zh-CN" dirty="0">
                  <a:latin typeface="楷体" panose="02010609060101010101" pitchFamily="49" charset="-122"/>
                  <a:ea typeface="楷体" panose="02010609060101010101" pitchFamily="49" charset="-122"/>
                </a:endParaRPr>
              </a:p>
              <a:p>
                <a:endParaRPr lang="en-AU" dirty="0">
                  <a:latin typeface="楷体" panose="02010609060101010101" pitchFamily="49" charset="-122"/>
                  <a:ea typeface="楷体" panose="02010609060101010101" pitchFamily="49"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658566" y="1979155"/>
                <a:ext cx="1578958" cy="1754326"/>
              </a:xfrm>
              <a:prstGeom prst="rect">
                <a:avLst/>
              </a:prstGeom>
              <a:blipFill rotWithShape="1">
                <a:blip r:embed="rId4"/>
                <a:stretch>
                  <a:fillRect l="-5" t="-28" r="27" b="18"/>
                </a:stretch>
              </a:blipFill>
            </p:spPr>
            <p:txBody>
              <a:bodyPr/>
              <a:lstStyle/>
              <a:p>
                <a:r>
                  <a:rPr lang="zh-CN" altLang="en-US">
                    <a:noFill/>
                  </a:rPr>
                  <a:t> </a:t>
                </a:r>
              </a:p>
            </p:txBody>
          </p:sp>
        </mc:Fallback>
      </mc:AlternateContent>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8223" y="1166018"/>
                <a:ext cx="8229600" cy="4525963"/>
              </a:xfrm>
            </p:spPr>
            <p:txBody>
              <a:bodyPr>
                <a:normAutofit/>
              </a:bodyPr>
              <a:lstStyle/>
              <a:p>
                <a:r>
                  <a:rPr lang="zh-CN" altLang="en-US" sz="2400" dirty="0"/>
                  <a:t>例</a:t>
                </a:r>
                <a:r>
                  <a:rPr lang="en-AU" altLang="zh-CN" sz="2400" dirty="0"/>
                  <a:t>:</a:t>
                </a:r>
                <a:r>
                  <a:rPr lang="zh-CN" altLang="en-US" sz="2400" dirty="0"/>
                  <a:t>将</a:t>
                </a:r>
                <a:r>
                  <a:rPr lang="en-AU" altLang="zh-CN" sz="2400" dirty="0">
                    <a:latin typeface="Times New Roman" panose="02020603050405020304" pitchFamily="18" charset="0"/>
                    <a:cs typeface="Times New Roman" panose="02020603050405020304" pitchFamily="18" charset="0"/>
                  </a:rPr>
                  <a:t>PDA</a:t>
                </a:r>
                <a:r>
                  <a:rPr lang="zh-CN" altLang="en-US" sz="2400" dirty="0"/>
                  <a:t> </a:t>
                </a:r>
                <a14:m>
                  <m:oMath xmlns:m="http://schemas.openxmlformats.org/officeDocument/2006/math">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altLang="zh-CN" sz="2400" i="1" dirty="0" smtClean="0">
                        <a:latin typeface="Cambria Math" panose="02040503050406030204" pitchFamily="18" charset="0"/>
                      </a:rPr>
                      <m:t>}, (0, 1), {</m:t>
                    </m:r>
                    <m:r>
                      <a:rPr lang="en-AU" altLang="zh-CN" sz="2400" i="1" dirty="0" smtClean="0">
                        <a:latin typeface="Cambria Math" panose="02040503050406030204" pitchFamily="18" charset="0"/>
                      </a:rPr>
                      <m:t>𝑋</m:t>
                    </m:r>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转为</a:t>
                </a:r>
                <a:r>
                  <a:rPr lang="en-AU" altLang="zh-CN" sz="2400" dirty="0">
                    <a:latin typeface="Times New Roman" panose="02020603050405020304" pitchFamily="18" charset="0"/>
                    <a:cs typeface="Times New Roman" panose="02020603050405020304" pitchFamily="18" charset="0"/>
                  </a:rPr>
                  <a:t>CFG</a:t>
                </a:r>
                <a:r>
                  <a:rPr lang="en-AU" altLang="zh-CN" sz="2400" dirty="0"/>
                  <a:t>:</a:t>
                </a:r>
              </a:p>
              <a:p>
                <a:pPr marL="0" indent="0">
                  <a:buNone/>
                </a:pP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538223" y="1166018"/>
                <a:ext cx="8229600" cy="4525963"/>
              </a:xfrm>
              <a:blipFill rotWithShape="1">
                <a:blip r:embed="rId2"/>
                <a:stretch>
                  <a:fillRect l="-5" t="-3" r="5"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89</a:t>
            </a:fld>
            <a:endParaRPr lang="en-AU"/>
          </a:p>
        </p:txBody>
      </p:sp>
      <mc:AlternateContent xmlns:mc="http://schemas.openxmlformats.org/markup-compatibility/2006" xmlns:a14="http://schemas.microsoft.com/office/drawing/2010/main">
        <mc:Choice Requires="a14">
          <p:sp>
            <p:nvSpPr>
              <p:cNvPr id="5" name="TextBox 4"/>
              <p:cNvSpPr txBox="1"/>
              <p:nvPr/>
            </p:nvSpPr>
            <p:spPr>
              <a:xfrm>
                <a:off x="1867962" y="1979155"/>
                <a:ext cx="3163045" cy="3970318"/>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𝑆</m:t>
                      </m:r>
                      <m:r>
                        <a:rPr lang="en-AU" sz="1800" i="1" dirty="0" smtClean="0">
                          <a:latin typeface="Cambria Math" panose="02040503050406030204" pitchFamily="18" charset="0"/>
                        </a:rPr>
                        <m:t> → </m:t>
                      </m:r>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e>
                      </m:d>
                    </m:oMath>
                  </m:oMathPara>
                </a14:m>
                <a:endParaRPr lang="en-AU" sz="18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𝑆</m:t>
                      </m:r>
                      <m:r>
                        <a:rPr lang="en-AU" sz="1800" i="1" dirty="0" smtClean="0">
                          <a:latin typeface="Cambria Math" panose="02040503050406030204" pitchFamily="18" charset="0"/>
                        </a:rPr>
                        <m:t> → [</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1</m:t>
                          </m:r>
                        </m:sub>
                      </m:sSub>
                      <m:r>
                        <a:rPr lang="en-AU" sz="1800" b="0" i="1" dirty="0" smtClean="0">
                          <a:latin typeface="Cambria Math" panose="02040503050406030204" pitchFamily="18" charset="0"/>
                        </a:rPr>
                        <m:t>]</m:t>
                      </m:r>
                    </m:oMath>
                  </m:oMathPara>
                </a14:m>
                <a:endParaRPr lang="en-AU" altLang="zh-CN" dirty="0"/>
              </a:p>
              <a:p>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sz="1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i="1" dirty="0">
                              <a:solidFill>
                                <a:srgbClr val="7030A0"/>
                              </a:solidFill>
                              <a:latin typeface="Cambria Math" panose="02040503050406030204" pitchFamily="18" charset="0"/>
                            </a:rPr>
                            <m:t>0</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i="1" dirty="0">
                              <a:solidFill>
                                <a:srgbClr val="0070C0"/>
                              </a:solidFill>
                              <a:latin typeface="Cambria Math" panose="02040503050406030204" pitchFamily="18" charset="0"/>
                            </a:rPr>
                            <m:t>0</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endParaRPr lang="en-AU" altLang="zh-CN" dirty="0"/>
              </a:p>
              <a:p>
                <a:endParaRPr lang="en-AU" dirty="0"/>
              </a:p>
            </p:txBody>
          </p:sp>
        </mc:Choice>
        <mc:Fallback xmlns="">
          <p:sp>
            <p:nvSpPr>
              <p:cNvPr id="5" name="TextBox 4"/>
              <p:cNvSpPr txBox="1">
                <a:spLocks noRot="1" noChangeAspect="1" noMove="1" noResize="1" noEditPoints="1" noAdjustHandles="1" noChangeArrowheads="1" noChangeShapeType="1" noTextEdit="1"/>
              </p:cNvSpPr>
              <p:nvPr/>
            </p:nvSpPr>
            <p:spPr>
              <a:xfrm>
                <a:off x="1867962" y="1979155"/>
                <a:ext cx="3163045" cy="3970318"/>
              </a:xfrm>
              <a:prstGeom prst="rect">
                <a:avLst/>
              </a:prstGeom>
              <a:blipFill rotWithShape="1">
                <a:blip r:embed="rId3"/>
                <a:stretch>
                  <a:fillRect l="-13" t="-12" r="17"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658566" y="1979155"/>
                <a:ext cx="1578958" cy="1754326"/>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altLang="zh-CN"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sz="1800" b="0" i="1"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sz="1800" i="1"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b="0" i="1" dirty="0">
                  <a:latin typeface="楷体" panose="02010609060101010101" pitchFamily="49" charset="-122"/>
                  <a:ea typeface="楷体" panose="02010609060101010101" pitchFamily="49" charset="-122"/>
                </a:endParaRPr>
              </a:p>
              <a:p>
                <a:endParaRPr lang="en-AU" altLang="zh-CN" dirty="0">
                  <a:latin typeface="楷体" panose="02010609060101010101" pitchFamily="49" charset="-122"/>
                  <a:ea typeface="楷体" panose="02010609060101010101" pitchFamily="49" charset="-122"/>
                </a:endParaRPr>
              </a:p>
              <a:p>
                <a:endParaRPr lang="en-AU" dirty="0">
                  <a:latin typeface="楷体" panose="02010609060101010101" pitchFamily="49" charset="-122"/>
                  <a:ea typeface="楷体" panose="02010609060101010101" pitchFamily="49"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658566" y="1979155"/>
                <a:ext cx="1578958" cy="1754326"/>
              </a:xfrm>
              <a:prstGeom prst="rect">
                <a:avLst/>
              </a:prstGeom>
              <a:blipFill rotWithShape="1">
                <a:blip r:embed="rId4"/>
                <a:stretch>
                  <a:fillRect l="-5" t="-28" r="27" b="18"/>
                </a:stretch>
              </a:blipFill>
            </p:spPr>
            <p:txBody>
              <a:bodyPr/>
              <a:lstStyle/>
              <a:p>
                <a:r>
                  <a:rPr lang="zh-CN" altLang="en-US">
                    <a:noFill/>
                  </a:rPr>
                  <a:t> </a:t>
                </a:r>
              </a:p>
            </p:txBody>
          </p:sp>
        </mc:Fallback>
      </mc:AlternateContent>
      <p:cxnSp>
        <p:nvCxnSpPr>
          <p:cNvPr id="9" name="直接连接符 8"/>
          <p:cNvCxnSpPr/>
          <p:nvPr/>
        </p:nvCxnSpPr>
        <p:spPr>
          <a:xfrm flipV="1">
            <a:off x="1867962" y="2994211"/>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1867961" y="3532091"/>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867959" y="3583719"/>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1867958" y="3045838"/>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34888" y="3120853"/>
            <a:ext cx="1346844" cy="369332"/>
          </a:xfrm>
          <a:prstGeom prst="rect">
            <a:avLst/>
          </a:prstGeom>
        </p:spPr>
        <p:txBody>
          <a:bodyPr wrap="none">
            <a:spAutoFit/>
          </a:bodyPr>
          <a:lstStyle/>
          <a:p>
            <a:r>
              <a:rPr lang="zh-CN" altLang="en-US" b="1" dirty="0">
                <a:solidFill>
                  <a:srgbClr val="FF0000"/>
                </a:solidFill>
              </a:rPr>
              <a:t>非产生变元</a:t>
            </a:r>
          </a:p>
        </p:txBody>
      </p:sp>
      <p:cxnSp>
        <p:nvCxnSpPr>
          <p:cNvPr id="20" name="直接连接符 19"/>
          <p:cNvCxnSpPr/>
          <p:nvPr/>
        </p:nvCxnSpPr>
        <p:spPr>
          <a:xfrm flipV="1">
            <a:off x="1881734" y="4906382"/>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881732" y="4958010"/>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792941" y="2226756"/>
            <a:ext cx="164054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792941" y="2167121"/>
            <a:ext cx="164054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1881734" y="4359537"/>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881732" y="4411165"/>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881734" y="3287646"/>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1881732" y="3339274"/>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1867958" y="4625299"/>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1867956" y="4676927"/>
            <a:ext cx="3026767" cy="89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252960"/>
                <a:ext cx="8229600" cy="4525963"/>
              </a:xfrm>
            </p:spPr>
            <p:txBody>
              <a:bodyPr>
                <a:normAutofit/>
              </a:bodyPr>
              <a:lstStyle/>
              <a:p>
                <a:r>
                  <a:rPr lang="zh-CN" altLang="en-US" sz="2400" dirty="0"/>
                  <a:t>例</a:t>
                </a:r>
                <a:r>
                  <a:rPr lang="en-AU" altLang="zh-CN" sz="2400" dirty="0"/>
                  <a:t>:</a:t>
                </a:r>
                <a:r>
                  <a:rPr lang="zh-CN" altLang="en-US" sz="2400" dirty="0"/>
                  <a:t>将</a:t>
                </a:r>
                <a:r>
                  <a:rPr lang="en-AU" altLang="zh-CN" sz="2400" dirty="0">
                    <a:latin typeface="Times New Roman" panose="02020603050405020304" pitchFamily="18" charset="0"/>
                    <a:cs typeface="Times New Roman" panose="02020603050405020304" pitchFamily="18" charset="0"/>
                  </a:rPr>
                  <a:t>PDA</a:t>
                </a:r>
                <a:r>
                  <a:rPr lang="zh-CN" altLang="en-US" sz="2400" dirty="0"/>
                  <a:t> </a:t>
                </a:r>
                <a14:m>
                  <m:oMath xmlns:m="http://schemas.openxmlformats.org/officeDocument/2006/math">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𝑞</m:t>
                        </m:r>
                      </m:e>
                      <m:sub>
                        <m:r>
                          <a:rPr lang="en-AU" altLang="zh-CN" sz="2400" b="0" i="1" dirty="0" smtClean="0">
                            <a:latin typeface="Cambria Math" panose="02040503050406030204" pitchFamily="18" charset="0"/>
                          </a:rPr>
                          <m:t>1</m:t>
                        </m:r>
                      </m:sub>
                    </m:sSub>
                    <m:r>
                      <a:rPr lang="en-AU" altLang="zh-CN" sz="2400" i="1" dirty="0" smtClean="0">
                        <a:latin typeface="Cambria Math" panose="02040503050406030204" pitchFamily="18" charset="0"/>
                      </a:rPr>
                      <m:t>}, (0, 1), {</m:t>
                    </m:r>
                    <m:r>
                      <a:rPr lang="en-AU" altLang="zh-CN" sz="2400" i="1" dirty="0" smtClean="0">
                        <a:latin typeface="Cambria Math" panose="02040503050406030204" pitchFamily="18" charset="0"/>
                      </a:rPr>
                      <m:t>𝑋</m:t>
                    </m:r>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m:t>
                    </m:r>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𝑍</m:t>
                        </m:r>
                      </m:e>
                      <m:sub>
                        <m:r>
                          <a:rPr lang="en-AU" altLang="zh-CN" sz="2400" i="1" dirty="0">
                            <a:latin typeface="Cambria Math" panose="02040503050406030204" pitchFamily="18" charset="0"/>
                          </a:rPr>
                          <m:t>0</m:t>
                        </m:r>
                      </m:sub>
                    </m:sSub>
                    <m:r>
                      <a:rPr lang="en-AU" altLang="zh-CN" sz="2400" i="1" dirty="0" smtClean="0">
                        <a:latin typeface="Cambria Math" panose="02040503050406030204" pitchFamily="18" charset="0"/>
                      </a:rPr>
                      <m:t>) </m:t>
                    </m:r>
                  </m:oMath>
                </a14:m>
                <a:r>
                  <a:rPr lang="zh-CN" altLang="en-US" sz="2400" dirty="0"/>
                  <a:t>转为</a:t>
                </a:r>
                <a:r>
                  <a:rPr lang="en-AU" altLang="zh-CN" sz="2400" dirty="0">
                    <a:latin typeface="Times New Roman" panose="02020603050405020304" pitchFamily="18" charset="0"/>
                    <a:cs typeface="Times New Roman" panose="02020603050405020304" pitchFamily="18" charset="0"/>
                  </a:rPr>
                  <a:t>CFG</a:t>
                </a:r>
                <a:r>
                  <a:rPr lang="en-AU" altLang="zh-CN" sz="2400" dirty="0"/>
                  <a:t>:</a:t>
                </a:r>
              </a:p>
              <a:p>
                <a:pPr marL="0" indent="0">
                  <a:buNone/>
                </a:pPr>
                <a:r>
                  <a:rPr lang="zh-CN" altLang="en-US" sz="2400" dirty="0"/>
                  <a:t>消除无用符号：</a:t>
                </a:r>
                <a:endParaRPr lang="en-AU" altLang="zh-CN" sz="24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252960"/>
                <a:ext cx="8229600" cy="4525963"/>
              </a:xfrm>
              <a:blipFill rotWithShape="1">
                <a:blip r:embed="rId2"/>
                <a:stretch>
                  <a:fillRect t="-2"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90</a:t>
            </a:fld>
            <a:endParaRPr lang="en-AU"/>
          </a:p>
        </p:txBody>
      </p:sp>
      <mc:AlternateContent xmlns:mc="http://schemas.openxmlformats.org/markup-compatibility/2006" xmlns:a14="http://schemas.microsoft.com/office/drawing/2010/main">
        <mc:Choice Requires="a14">
          <p:sp>
            <p:nvSpPr>
              <p:cNvPr id="5" name="TextBox 4"/>
              <p:cNvSpPr txBox="1"/>
              <p:nvPr/>
            </p:nvSpPr>
            <p:spPr>
              <a:xfrm>
                <a:off x="1502192" y="2673294"/>
                <a:ext cx="3143361" cy="3139321"/>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𝑆</m:t>
                      </m:r>
                      <m:r>
                        <a:rPr lang="en-AU" sz="1800" i="1" dirty="0" smtClean="0">
                          <a:latin typeface="Cambria Math" panose="02040503050406030204" pitchFamily="18" charset="0"/>
                        </a:rPr>
                        <m:t> → [</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1</m:t>
                          </m:r>
                        </m:sub>
                      </m:sSub>
                      <m:r>
                        <a:rPr lang="en-AU" sz="1800"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sSub>
                        <m:sSubPr>
                          <m:ctrlPr>
                            <a:rPr lang="en-AU" sz="1800" i="1" dirty="0">
                              <a:latin typeface="Cambria Math" panose="02040503050406030204" pitchFamily="18" charset="0"/>
                            </a:rPr>
                          </m:ctrlPr>
                        </m:sSubPr>
                        <m:e>
                          <m:r>
                            <a:rPr lang="en-AU" sz="1800" b="0" i="1" dirty="0" smtClean="0">
                              <a:latin typeface="Cambria Math" panose="02040503050406030204" pitchFamily="18" charset="0"/>
                            </a:rPr>
                            <m:t>𝑍</m:t>
                          </m:r>
                        </m:e>
                        <m:sub>
                          <m:r>
                            <a:rPr lang="en-AU" sz="1800"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r>
                        <a:rPr lang="en-AU" sz="1800" i="1" dirty="0" smtClean="0">
                          <a:latin typeface="Cambria Math" panose="02040503050406030204" pitchFamily="18" charset="0"/>
                        </a:rPr>
                        <m:t>[</m:t>
                      </m:r>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sz="1800" b="0" i="1" dirty="0" smtClean="0">
                          <a:latin typeface="Cambria Math" panose="02040503050406030204" pitchFamily="18" charset="0"/>
                        </a:rPr>
                        <m:t>]</m:t>
                      </m:r>
                      <m:r>
                        <a:rPr lang="en-AU" i="1" dirty="0">
                          <a:latin typeface="Cambria Math" panose="02040503050406030204" pitchFamily="18" charset="0"/>
                        </a:rPr>
                        <m:t>→</m:t>
                      </m:r>
                      <m:r>
                        <a:rPr lang="en-AU" b="0" i="1" dirty="0" smtClean="0">
                          <a:latin typeface="Cambria Math" panose="02040503050406030204" pitchFamily="18" charset="0"/>
                        </a:rPr>
                        <m:t>0[</m:t>
                      </m:r>
                      <m:sSub>
                        <m:sSubPr>
                          <m:ctrlPr>
                            <a:rPr lang="en-AU" i="1" dirty="0">
                              <a:latin typeface="Cambria Math" panose="02040503050406030204" pitchFamily="18" charset="0"/>
                            </a:rPr>
                          </m:ctrlPr>
                        </m:sSubPr>
                        <m:e>
                          <m:r>
                            <a:rPr lang="en-AU" i="1" dirty="0">
                              <a:latin typeface="Cambria Math" panose="02040503050406030204" pitchFamily="18" charset="0"/>
                            </a:rPr>
                            <m:t>𝑞</m:t>
                          </m:r>
                        </m:e>
                        <m:sub>
                          <m:r>
                            <a:rPr lang="en-AU" i="1" dirty="0">
                              <a:latin typeface="Cambria Math" panose="02040503050406030204" pitchFamily="18" charset="0"/>
                            </a:rPr>
                            <m:t>0</m:t>
                          </m:r>
                        </m:sub>
                      </m:sSub>
                      <m:r>
                        <a:rPr lang="en-AU" b="0" i="1" dirty="0" smtClean="0">
                          <a:latin typeface="Cambria Math" panose="02040503050406030204" pitchFamily="18" charset="0"/>
                        </a:rPr>
                        <m:t>𝑋</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b="0" i="1" dirty="0" smtClean="0">
                          <a:latin typeface="Cambria Math" panose="02040503050406030204" pitchFamily="18" charset="0"/>
                        </a:rPr>
                        <m:t>][</m:t>
                      </m:r>
                      <m:sSub>
                        <m:sSubPr>
                          <m:ctrlPr>
                            <a:rPr lang="en-AU" i="1" dirty="0" smtClean="0">
                              <a:solidFill>
                                <a:srgbClr val="7030A0"/>
                              </a:solidFill>
                              <a:latin typeface="Cambria Math" panose="02040503050406030204" pitchFamily="18" charset="0"/>
                            </a:rPr>
                          </m:ctrlPr>
                        </m:sSubPr>
                        <m:e>
                          <m:r>
                            <a:rPr lang="en-AU" i="1" dirty="0">
                              <a:solidFill>
                                <a:srgbClr val="7030A0"/>
                              </a:solidFill>
                              <a:latin typeface="Cambria Math" panose="02040503050406030204" pitchFamily="18" charset="0"/>
                            </a:rPr>
                            <m:t>𝑞</m:t>
                          </m:r>
                        </m:e>
                        <m:sub>
                          <m:r>
                            <a:rPr lang="en-AU" b="0" i="1" dirty="0" smtClean="0">
                              <a:solidFill>
                                <a:srgbClr val="7030A0"/>
                              </a:solidFill>
                              <a:latin typeface="Cambria Math" panose="02040503050406030204" pitchFamily="18" charset="0"/>
                            </a:rPr>
                            <m:t>1</m:t>
                          </m:r>
                        </m:sub>
                      </m:sSub>
                      <m:r>
                        <a:rPr lang="en-AU" i="1" dirty="0">
                          <a:latin typeface="Cambria Math" panose="02040503050406030204" pitchFamily="18" charset="0"/>
                        </a:rPr>
                        <m:t>𝑋</m:t>
                      </m:r>
                      <m:sSub>
                        <m:sSubPr>
                          <m:ctrlPr>
                            <a:rPr lang="en-AU" i="1" dirty="0" smtClean="0">
                              <a:solidFill>
                                <a:srgbClr val="0070C0"/>
                              </a:solidFill>
                              <a:latin typeface="Cambria Math" panose="02040503050406030204" pitchFamily="18" charset="0"/>
                            </a:rPr>
                          </m:ctrlPr>
                        </m:sSubPr>
                        <m:e>
                          <m:r>
                            <a:rPr lang="en-AU" i="1" dirty="0">
                              <a:solidFill>
                                <a:srgbClr val="0070C0"/>
                              </a:solidFill>
                              <a:latin typeface="Cambria Math" panose="02040503050406030204" pitchFamily="18" charset="0"/>
                            </a:rPr>
                            <m:t>𝑞</m:t>
                          </m:r>
                        </m:e>
                        <m:sub>
                          <m:r>
                            <a:rPr lang="en-AU" b="0" i="1" dirty="0" smtClean="0">
                              <a:solidFill>
                                <a:srgbClr val="0070C0"/>
                              </a:solidFill>
                              <a:latin typeface="Cambria Math" panose="02040503050406030204" pitchFamily="18" charset="0"/>
                            </a:rPr>
                            <m:t>1</m:t>
                          </m:r>
                        </m:sub>
                      </m:sSub>
                      <m:r>
                        <a:rPr lang="en-AU" b="0" i="1" dirty="0" smtClean="0">
                          <a:latin typeface="Cambria Math" panose="02040503050406030204" pitchFamily="18" charset="0"/>
                        </a:rPr>
                        <m:t>]</m:t>
                      </m:r>
                    </m:oMath>
                  </m:oMathPara>
                </a14:m>
                <a:endParaRPr lang="en-AU" altLang="zh-CN" dirty="0"/>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0</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altLang="zh-CN"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n-AU" b="0" i="1" dirty="0" smtClean="0">
                          <a:latin typeface="Cambria Math" panose="02040503050406030204" pitchFamily="18" charset="0"/>
                        </a:rPr>
                        <m:t>1</m:t>
                      </m:r>
                    </m:oMath>
                  </m:oMathPara>
                </a14:m>
                <a:endParaRPr lang="en-AU" sz="1800" b="0" i="1"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r>
                            <a:rPr lang="en-AU" sz="1800" b="0" i="1" dirty="0" smtClean="0">
                              <a:latin typeface="Cambria Math" panose="02040503050406030204" pitchFamily="18" charset="0"/>
                            </a:rPr>
                            <m:t>𝑋</m:t>
                          </m:r>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sz="1800" i="1" dirty="0">
                  <a:latin typeface="楷体" panose="02010609060101010101" pitchFamily="49" charset="-122"/>
                  <a:ea typeface="楷体" panose="02010609060101010101" pitchFamily="49" charset="-122"/>
                </a:endParaRPr>
              </a:p>
              <a:p>
                <a:pPr/>
                <a14:m>
                  <m:oMathPara xmlns:m="http://schemas.openxmlformats.org/officeDocument/2006/math">
                    <m:oMathParaPr>
                      <m:jc m:val="left"/>
                    </m:oMathParaPr>
                    <m:oMath xmlns:m="http://schemas.openxmlformats.org/officeDocument/2006/math">
                      <m:d>
                        <m:dPr>
                          <m:begChr m:val="["/>
                          <m:endChr m:val="]"/>
                          <m:ctrlPr>
                            <a:rPr lang="en-AU" sz="1800" i="1" dirty="0" smtClean="0">
                              <a:latin typeface="Cambria Math" panose="02040503050406030204" pitchFamily="18" charset="0"/>
                            </a:rPr>
                          </m:ctrlPr>
                        </m:dPr>
                        <m:e>
                          <m:sSub>
                            <m:sSubPr>
                              <m:ctrlPr>
                                <a:rPr lang="en-AU" sz="1800" i="1" dirty="0" smtClean="0">
                                  <a:latin typeface="Cambria Math" panose="02040503050406030204" pitchFamily="18" charset="0"/>
                                </a:rPr>
                              </m:ctrlPr>
                            </m:sSubPr>
                            <m:e>
                              <m:r>
                                <a:rPr lang="en-AU" sz="1800" b="0" i="1" dirty="0" smtClean="0">
                                  <a:latin typeface="Cambria Math" panose="02040503050406030204" pitchFamily="18" charset="0"/>
                                </a:rPr>
                                <m:t>𝑞</m:t>
                              </m:r>
                            </m:e>
                            <m:sub>
                              <m:r>
                                <a:rPr lang="en-AU" sz="1800" b="0" i="1" dirty="0" smtClean="0">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sSub>
                            <m:sSubPr>
                              <m:ctrlPr>
                                <a:rPr lang="en-AU" i="1" dirty="0" smtClean="0">
                                  <a:solidFill>
                                    <a:schemeClr val="tx1"/>
                                  </a:solidFill>
                                  <a:latin typeface="Cambria Math" panose="02040503050406030204" pitchFamily="18" charset="0"/>
                                </a:rPr>
                              </m:ctrlPr>
                            </m:sSubPr>
                            <m:e>
                              <m:r>
                                <a:rPr lang="en-AU" i="1" dirty="0">
                                  <a:solidFill>
                                    <a:schemeClr val="tx1"/>
                                  </a:solidFill>
                                  <a:latin typeface="Cambria Math" panose="02040503050406030204" pitchFamily="18" charset="0"/>
                                </a:rPr>
                                <m:t>𝑞</m:t>
                              </m:r>
                            </m:e>
                            <m:sub>
                              <m:r>
                                <a:rPr lang="en-AU" b="0" i="1" dirty="0" smtClean="0">
                                  <a:solidFill>
                                    <a:schemeClr val="tx1"/>
                                  </a:solidFill>
                                  <a:latin typeface="Cambria Math" panose="02040503050406030204" pitchFamily="18" charset="0"/>
                                </a:rPr>
                                <m:t>1</m:t>
                              </m:r>
                            </m:sub>
                          </m:sSub>
                        </m:e>
                      </m:d>
                      <m:r>
                        <a:rPr lang="en-AU" i="1" dirty="0">
                          <a:latin typeface="Cambria Math" panose="02040503050406030204" pitchFamily="18" charset="0"/>
                        </a:rPr>
                        <m:t>→</m:t>
                      </m:r>
                      <m:r>
                        <a:rPr lang="el-GR" i="1" dirty="0">
                          <a:latin typeface="Cambria Math" panose="02040503050406030204" pitchFamily="18" charset="0"/>
                        </a:rPr>
                        <m:t>𝜀</m:t>
                      </m:r>
                    </m:oMath>
                  </m:oMathPara>
                </a14:m>
                <a:endParaRPr lang="en-AU" b="0" i="1" dirty="0">
                  <a:latin typeface="楷体" panose="02010609060101010101" pitchFamily="49" charset="-122"/>
                  <a:ea typeface="楷体" panose="02010609060101010101" pitchFamily="49" charset="-122"/>
                </a:endParaRPr>
              </a:p>
              <a:p>
                <a:endParaRPr lang="en-AU" altLang="zh-CN" dirty="0">
                  <a:latin typeface="楷体" panose="02010609060101010101" pitchFamily="49" charset="-122"/>
                  <a:ea typeface="楷体" panose="02010609060101010101" pitchFamily="49" charset="-122"/>
                </a:endParaRPr>
              </a:p>
              <a:p>
                <a:endParaRPr lang="en-AU" dirty="0">
                  <a:latin typeface="楷体" panose="02010609060101010101" pitchFamily="49" charset="-122"/>
                  <a:ea typeface="楷体" panose="02010609060101010101" pitchFamily="49" charset="-122"/>
                </a:endParaRPr>
              </a:p>
              <a:p>
                <a:endParaRPr lang="en-AU" altLang="zh-CN" dirty="0"/>
              </a:p>
              <a:p>
                <a:endParaRPr lang="en-AU" dirty="0"/>
              </a:p>
            </p:txBody>
          </p:sp>
        </mc:Choice>
        <mc:Fallback xmlns="">
          <p:sp>
            <p:nvSpPr>
              <p:cNvPr id="5" name="TextBox 4"/>
              <p:cNvSpPr txBox="1">
                <a:spLocks noRot="1" noChangeAspect="1" noMove="1" noResize="1" noEditPoints="1" noAdjustHandles="1" noChangeArrowheads="1" noChangeShapeType="1" noTextEdit="1"/>
              </p:cNvSpPr>
              <p:nvPr/>
            </p:nvSpPr>
            <p:spPr>
              <a:xfrm>
                <a:off x="1502192" y="2673294"/>
                <a:ext cx="3143361" cy="3139321"/>
              </a:xfrm>
              <a:prstGeom prst="rect">
                <a:avLst/>
              </a:prstGeom>
              <a:blipFill rotWithShape="1">
                <a:blip r:embed="rId3"/>
                <a:stretch>
                  <a:fillRect l="-13" t="-18" r="17" b="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215189" y="5155202"/>
                <a:ext cx="4338880" cy="400110"/>
              </a:xfrm>
              <a:prstGeom prst="rect">
                <a:avLst/>
              </a:prstGeom>
              <a:noFill/>
            </p:spPr>
            <p:txBody>
              <a:bodyPr wrap="none" rtlCol="0">
                <a:spAutoFit/>
              </a:bodyPr>
              <a:lstStyle/>
              <a:p>
                <a:r>
                  <a:rPr lang="zh-CN" altLang="en-US" sz="2000" dirty="0">
                    <a:latin typeface="楷体" panose="02010609060101010101" pitchFamily="49" charset="-122"/>
                    <a:ea typeface="楷体" panose="02010609060101010101" pitchFamily="49" charset="-122"/>
                  </a:rPr>
                  <a:t>可进一步用字母</a:t>
                </a:r>
                <a14:m>
                  <m:oMath xmlns:m="http://schemas.openxmlformats.org/officeDocument/2006/math">
                    <m:r>
                      <a:rPr lang="en-AU" altLang="zh-CN" sz="2000" i="1" dirty="0" smtClean="0">
                        <a:latin typeface="Cambria Math" panose="02040503050406030204" pitchFamily="18" charset="0"/>
                        <a:ea typeface="楷体" panose="02010609060101010101" pitchFamily="49" charset="-122"/>
                      </a:rPr>
                      <m:t>𝐴</m:t>
                    </m:r>
                    <m:r>
                      <a:rPr lang="en-AU" altLang="zh-CN" sz="2000" i="1" dirty="0" smtClean="0">
                        <a:latin typeface="Cambria Math" panose="02040503050406030204" pitchFamily="18" charset="0"/>
                        <a:ea typeface="楷体" panose="02010609060101010101" pitchFamily="49" charset="-122"/>
                      </a:rPr>
                      <m:t>,</m:t>
                    </m:r>
                    <m:r>
                      <a:rPr lang="en-AU" altLang="zh-CN" sz="2000" i="1" dirty="0" smtClean="0">
                        <a:latin typeface="Cambria Math" panose="02040503050406030204" pitchFamily="18" charset="0"/>
                        <a:ea typeface="楷体" panose="02010609060101010101" pitchFamily="49" charset="-122"/>
                      </a:rPr>
                      <m:t>𝐵</m:t>
                    </m:r>
                  </m:oMath>
                </a14:m>
                <a:r>
                  <a:rPr lang="en-AU"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替换变元名。</a:t>
                </a:r>
                <a:endParaRPr lang="en-AU" sz="2000" dirty="0">
                  <a:latin typeface="楷体" panose="02010609060101010101" pitchFamily="49" charset="-122"/>
                  <a:ea typeface="楷体" panose="02010609060101010101" pitchFamily="49" charset="-122"/>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15189" y="5155202"/>
                <a:ext cx="4338880" cy="400110"/>
              </a:xfrm>
              <a:prstGeom prst="rect">
                <a:avLst/>
              </a:prstGeom>
              <a:blipFill rotWithShape="1">
                <a:blip r:embed="rId4"/>
                <a:stretch>
                  <a:fillRect l="-10" t="-68" r="8" b="83"/>
                </a:stretch>
              </a:blipFill>
            </p:spPr>
            <p:txBody>
              <a:bodyPr/>
              <a:lstStyle/>
              <a:p>
                <a:r>
                  <a:rPr lang="zh-CN" altLang="en-US">
                    <a:noFill/>
                  </a:rPr>
                  <a:t> </a:t>
                </a:r>
              </a:p>
            </p:txBody>
          </p:sp>
        </mc:Fallback>
      </mc:AlternateContent>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由</a:t>
            </a:r>
            <a:r>
              <a:rPr lang="en-AU" altLang="zh-CN" dirty="0">
                <a:latin typeface="Times New Roman" panose="02020603050405020304" pitchFamily="18" charset="0"/>
                <a:cs typeface="Times New Roman" panose="02020603050405020304" pitchFamily="18" charset="0"/>
              </a:rPr>
              <a:t>PDA</a:t>
            </a:r>
            <a:r>
              <a:rPr lang="zh-CN" altLang="en-US" dirty="0"/>
              <a:t>到</a:t>
            </a:r>
            <a:r>
              <a:rPr lang="en-US" altLang="zh-CN" dirty="0">
                <a:latin typeface="Times New Roman" panose="02020603050405020304" pitchFamily="18" charset="0"/>
                <a:cs typeface="Times New Roman" panose="02020603050405020304" pitchFamily="18" charset="0"/>
              </a:rPr>
              <a:t>CFG</a:t>
            </a:r>
            <a:endParaRPr lang="en-AU" dirty="0"/>
          </a:p>
        </p:txBody>
      </p:sp>
      <p:sp>
        <p:nvSpPr>
          <p:cNvPr id="3" name="Content Placeholder 2"/>
          <p:cNvSpPr>
            <a:spLocks noGrp="1"/>
          </p:cNvSpPr>
          <p:nvPr>
            <p:ph idx="1"/>
          </p:nvPr>
        </p:nvSpPr>
        <p:spPr>
          <a:xfrm>
            <a:off x="685800" y="1252960"/>
            <a:ext cx="8229600" cy="4525963"/>
          </a:xfrm>
        </p:spPr>
        <p:txBody>
          <a:bodyPr>
            <a:normAutofit/>
          </a:bodyPr>
          <a:lstStyle/>
          <a:p>
            <a:r>
              <a:rPr lang="zh-CN" altLang="en-US" sz="2400" dirty="0"/>
              <a:t>例</a:t>
            </a:r>
            <a:r>
              <a:rPr lang="en-AU" altLang="zh-CN" sz="2400" dirty="0"/>
              <a:t>:</a:t>
            </a:r>
            <a:endParaRPr lang="en-AU"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t>91</a:t>
            </a:fld>
            <a:endParaRPr lang="en-AU"/>
          </a:p>
        </p:txBody>
      </p:sp>
      <p:pic>
        <p:nvPicPr>
          <p:cNvPr id="8" name="Picture 2"/>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9595" t="4863" r="30898" b="29978"/>
          <a:stretch>
            <a:fillRect/>
          </a:stretch>
        </p:blipFill>
        <p:spPr bwMode="auto">
          <a:xfrm>
            <a:off x="1447801" y="1295400"/>
            <a:ext cx="6019799" cy="5129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p:nvSpPr>
        <p:spPr>
          <a:xfrm>
            <a:off x="7467600" y="2057400"/>
            <a:ext cx="1523999" cy="369332"/>
          </a:xfrm>
          <a:prstGeom prst="rect">
            <a:avLst/>
          </a:prstGeom>
        </p:spPr>
        <p:txBody>
          <a:bodyPr wrap="square">
            <a:spAutoFit/>
          </a:bodyPr>
          <a:lstStyle/>
          <a:p>
            <a:r>
              <a:rPr lang="zh-CN" altLang="en-US" b="1" dirty="0">
                <a:solidFill>
                  <a:srgbClr val="C00000"/>
                </a:solidFill>
                <a:sym typeface="Symbol" panose="05050102010706020507"/>
              </a:rPr>
              <a:t></a:t>
            </a:r>
            <a:r>
              <a:rPr lang="en-US" altLang="zh-CN" b="1" dirty="0">
                <a:solidFill>
                  <a:srgbClr val="C00000"/>
                </a:solidFill>
                <a:sym typeface="Symbol" panose="05050102010706020507"/>
              </a:rPr>
              <a:t>-</a:t>
            </a:r>
            <a:r>
              <a:rPr lang="zh-CN" altLang="en-US" b="1" dirty="0">
                <a:solidFill>
                  <a:srgbClr val="C00000"/>
                </a:solidFill>
              </a:rPr>
              <a:t>“产生的”</a:t>
            </a:r>
            <a:endParaRPr lang="en-US" b="1" dirty="0">
              <a:solidFill>
                <a:srgbClr val="C00000"/>
              </a:solidFill>
            </a:endParaRPr>
          </a:p>
        </p:txBody>
      </p:sp>
      <p:sp>
        <p:nvSpPr>
          <p:cNvPr id="10" name="矩形 9"/>
          <p:cNvSpPr/>
          <p:nvPr/>
        </p:nvSpPr>
        <p:spPr>
          <a:xfrm>
            <a:off x="0" y="2777609"/>
            <a:ext cx="1447801" cy="1754326"/>
          </a:xfrm>
          <a:prstGeom prst="rect">
            <a:avLst/>
          </a:prstGeom>
          <a:solidFill>
            <a:srgbClr val="FFFF00"/>
          </a:solidFill>
        </p:spPr>
        <p:txBody>
          <a:bodyPr wrap="square">
            <a:spAutoFit/>
          </a:bodyPr>
          <a:lstStyle/>
          <a:p>
            <a:pPr algn="just"/>
            <a:r>
              <a:rPr lang="zh-CN" altLang="en-US" b="1" dirty="0">
                <a:solidFill>
                  <a:srgbClr val="C00000"/>
                </a:solidFill>
              </a:rPr>
              <a:t>从</a:t>
            </a:r>
            <a:r>
              <a:rPr lang="en-US" altLang="zh-CN" b="1" i="1" dirty="0">
                <a:solidFill>
                  <a:srgbClr val="C00000"/>
                </a:solidFill>
              </a:rPr>
              <a:t>q</a:t>
            </a:r>
            <a:r>
              <a:rPr lang="zh-CN" altLang="en-US" b="1" dirty="0">
                <a:solidFill>
                  <a:srgbClr val="C00000"/>
                </a:solidFill>
              </a:rPr>
              <a:t>开始，经过“输入</a:t>
            </a:r>
            <a:r>
              <a:rPr lang="en-US" altLang="zh-CN" b="1" dirty="0">
                <a:solidFill>
                  <a:srgbClr val="C00000"/>
                </a:solidFill>
              </a:rPr>
              <a:t>1</a:t>
            </a:r>
            <a:r>
              <a:rPr lang="zh-CN" altLang="en-US" b="1" dirty="0">
                <a:solidFill>
                  <a:srgbClr val="C00000"/>
                </a:solidFill>
              </a:rPr>
              <a:t>到达</a:t>
            </a:r>
            <a:r>
              <a:rPr lang="en-US" altLang="zh-CN" b="1" i="1" dirty="0">
                <a:solidFill>
                  <a:srgbClr val="C00000"/>
                </a:solidFill>
              </a:rPr>
              <a:t>q</a:t>
            </a:r>
            <a:r>
              <a:rPr lang="zh-CN" altLang="en-US" b="1" dirty="0">
                <a:solidFill>
                  <a:srgbClr val="C00000"/>
                </a:solidFill>
              </a:rPr>
              <a:t>状态”并处理完</a:t>
            </a:r>
            <a:r>
              <a:rPr lang="en-US" altLang="zh-CN" b="1" i="1" dirty="0">
                <a:solidFill>
                  <a:srgbClr val="C00000"/>
                </a:solidFill>
              </a:rPr>
              <a:t>Z</a:t>
            </a:r>
            <a:r>
              <a:rPr lang="zh-CN" altLang="en-US" b="1" dirty="0">
                <a:solidFill>
                  <a:srgbClr val="C00000"/>
                </a:solidFill>
              </a:rPr>
              <a:t>到达</a:t>
            </a:r>
            <a:r>
              <a:rPr lang="en-US" altLang="zh-CN" b="1" i="1" dirty="0">
                <a:solidFill>
                  <a:srgbClr val="C00000"/>
                </a:solidFill>
              </a:rPr>
              <a:t>q</a:t>
            </a:r>
            <a:r>
              <a:rPr lang="zh-CN" altLang="en-US" b="1" dirty="0">
                <a:solidFill>
                  <a:srgbClr val="C00000"/>
                </a:solidFill>
              </a:rPr>
              <a:t>状态的所有路径</a:t>
            </a:r>
            <a:endParaRPr lang="en-US"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457200" y="1391855"/>
            <a:ext cx="8229600" cy="4525963"/>
          </a:xfrm>
        </p:spPr>
        <p:txBody>
          <a:bodyPr/>
          <a:lstStyle/>
          <a:p>
            <a:r>
              <a:rPr lang="zh-CN" altLang="en-US" dirty="0">
                <a:solidFill>
                  <a:srgbClr val="E6E6E6"/>
                </a:solidFill>
              </a:rPr>
              <a:t>下推自动机 </a:t>
            </a:r>
            <a:r>
              <a:rPr lang="en-AU" altLang="zh-CN" dirty="0">
                <a:solidFill>
                  <a:srgbClr val="E6E6E6"/>
                </a:solidFill>
              </a:rPr>
              <a:t>(</a:t>
            </a:r>
            <a:r>
              <a:rPr lang="en-AU" altLang="zh-CN" dirty="0">
                <a:solidFill>
                  <a:srgbClr val="E6E6E6"/>
                </a:solidFill>
                <a:latin typeface="Times New Roman" panose="02020603050405020304" pitchFamily="18" charset="0"/>
                <a:cs typeface="Times New Roman" panose="02020603050405020304" pitchFamily="18" charset="0"/>
              </a:rPr>
              <a:t>pushdown automata</a:t>
            </a:r>
            <a:r>
              <a:rPr lang="en-AU" altLang="zh-CN" dirty="0">
                <a:solidFill>
                  <a:srgbClr val="E6E6E6"/>
                </a:solidFill>
              </a:rPr>
              <a:t>)</a:t>
            </a:r>
          </a:p>
          <a:p>
            <a:r>
              <a:rPr lang="zh-CN" altLang="en-US" dirty="0">
                <a:solidFill>
                  <a:srgbClr val="E6E6E6"/>
                </a:solidFill>
              </a:rPr>
              <a:t>下推自动机接受的语言</a:t>
            </a:r>
            <a:endParaRPr lang="en-AU" altLang="zh-CN" dirty="0">
              <a:solidFill>
                <a:srgbClr val="E6E6E6"/>
              </a:solidFill>
            </a:endParaRPr>
          </a:p>
          <a:p>
            <a:r>
              <a:rPr lang="zh-CN" altLang="en-US" dirty="0">
                <a:solidFill>
                  <a:srgbClr val="E6E6E6"/>
                </a:solidFill>
              </a:rPr>
              <a:t>下推自动机与文法的等价性</a:t>
            </a:r>
            <a:endParaRPr lang="en-AU" altLang="zh-CN" dirty="0">
              <a:solidFill>
                <a:srgbClr val="E6E6E6"/>
              </a:solidFill>
            </a:endParaRPr>
          </a:p>
          <a:p>
            <a:r>
              <a:rPr lang="zh-CN" altLang="en-US" dirty="0"/>
              <a:t>确定型下推自动机</a:t>
            </a:r>
            <a:endParaRPr lang="en-AU" altLang="zh-CN" dirty="0"/>
          </a:p>
          <a:p>
            <a:pPr lvl="1"/>
            <a:r>
              <a:rPr lang="zh-CN" altLang="en-US" dirty="0"/>
              <a:t>正则语言与</a:t>
            </a:r>
            <a:r>
              <a:rPr lang="en-AU" altLang="zh-CN" dirty="0">
                <a:latin typeface="Times New Roman" panose="02020603050405020304" pitchFamily="18" charset="0"/>
                <a:cs typeface="Times New Roman" panose="02020603050405020304" pitchFamily="18" charset="0"/>
              </a:rPr>
              <a:t>DPDA</a:t>
            </a:r>
          </a:p>
          <a:p>
            <a:pPr lvl="1"/>
            <a:r>
              <a:rPr lang="en-AU" dirty="0">
                <a:latin typeface="Times New Roman" panose="02020603050405020304" pitchFamily="18" charset="0"/>
                <a:cs typeface="Times New Roman" panose="02020603050405020304" pitchFamily="18" charset="0"/>
              </a:rPr>
              <a:t>DPDA</a:t>
            </a:r>
            <a:r>
              <a:rPr lang="zh-CN" altLang="en-US" dirty="0"/>
              <a:t>与歧义文法</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92</a:t>
            </a:fld>
            <a:endParaRPr lang="en-AU"/>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确定型下推自动机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187926"/>
                <a:ext cx="8229600" cy="4525963"/>
              </a:xfrm>
            </p:spPr>
            <p:txBody>
              <a:bodyPr>
                <a:normAutofit/>
              </a:bodyPr>
              <a:lstStyle/>
              <a:p>
                <a:r>
                  <a:rPr lang="zh-CN" altLang="en-US" dirty="0"/>
                  <a:t>定义</a:t>
                </a:r>
                <a:r>
                  <a:rPr lang="en-AU" altLang="zh-CN" dirty="0"/>
                  <a:t>:</a:t>
                </a:r>
                <a:r>
                  <a:rPr lang="zh-CN" altLang="en-US" dirty="0"/>
                  <a:t>如果</a:t>
                </a:r>
                <a:r>
                  <a:rPr lang="en-AU" dirty="0">
                    <a:latin typeface="Times New Roman" panose="02020603050405020304" pitchFamily="18" charset="0"/>
                    <a:cs typeface="Times New Roman" panose="02020603050405020304" pitchFamily="18" charset="0"/>
                  </a:rPr>
                  <a:t>PDA</a:t>
                </a:r>
                <a:r>
                  <a:rPr lang="en-AU" dirty="0"/>
                  <a:t> </a:t>
                </a:r>
                <a14:m>
                  <m:oMath xmlns:m="http://schemas.openxmlformats.org/officeDocument/2006/math">
                    <m:r>
                      <a:rPr lang="en-AU" i="1" dirty="0" smtClean="0">
                        <a:latin typeface="Cambria Math" panose="02040503050406030204" pitchFamily="18" charset="0"/>
                      </a:rPr>
                      <m:t>𝑃</m:t>
                    </m:r>
                    <m:r>
                      <a:rPr lang="en-AU" i="1" dirty="0" smtClean="0">
                        <a:latin typeface="Cambria Math" panose="02040503050406030204" pitchFamily="18" charset="0"/>
                      </a:rPr>
                      <m:t> = (</m:t>
                    </m:r>
                    <m:r>
                      <a:rPr lang="en-AU" i="1" dirty="0" smtClean="0">
                        <a:latin typeface="Cambria Math" panose="02040503050406030204" pitchFamily="18" charset="0"/>
                      </a:rPr>
                      <m:t>𝑄</m:t>
                    </m:r>
                    <m:r>
                      <a:rPr lang="en-AU" i="1" dirty="0" smtClean="0">
                        <a:latin typeface="Cambria Math" panose="02040503050406030204" pitchFamily="18" charset="0"/>
                      </a:rPr>
                      <m:t>, </m:t>
                    </m:r>
                    <m:r>
                      <m:rPr>
                        <m:sty m:val="p"/>
                      </m:rPr>
                      <a:rPr lang="el-GR" i="0" dirty="0" smtClean="0">
                        <a:latin typeface="Cambria Math" panose="02040503050406030204" pitchFamily="18" charset="0"/>
                      </a:rPr>
                      <m:t>Σ</m:t>
                    </m:r>
                    <m:r>
                      <a:rPr lang="el-GR" i="1" dirty="0" smtClean="0">
                        <a:latin typeface="Cambria Math" panose="02040503050406030204" pitchFamily="18" charset="0"/>
                      </a:rPr>
                      <m:t>, </m:t>
                    </m:r>
                    <m:r>
                      <m:rPr>
                        <m:sty m:val="p"/>
                      </m:rPr>
                      <a:rPr lang="el-GR" i="0" dirty="0" smtClean="0">
                        <a:latin typeface="Cambria Math" panose="02040503050406030204" pitchFamily="18" charset="0"/>
                      </a:rPr>
                      <m:t>Γ</m:t>
                    </m:r>
                    <m:r>
                      <a:rPr lang="el-GR" i="1" dirty="0" smtClean="0">
                        <a:latin typeface="Cambria Math" panose="02040503050406030204" pitchFamily="18" charset="0"/>
                      </a:rPr>
                      <m:t>, </m:t>
                    </m:r>
                    <m:r>
                      <a:rPr lang="el-GR" i="1" dirty="0" smtClean="0">
                        <a:latin typeface="Cambria Math" panose="02040503050406030204" pitchFamily="18" charset="0"/>
                      </a:rPr>
                      <m:t>𝛿</m:t>
                    </m:r>
                    <m:r>
                      <a:rPr lang="el-GR" i="1" dirty="0" smtClean="0">
                        <a:latin typeface="Cambria Math" panose="02040503050406030204" pitchFamily="18" charset="0"/>
                      </a:rPr>
                      <m:t>, </m:t>
                    </m:r>
                    <m:sSub>
                      <m:sSubPr>
                        <m:ctrlPr>
                          <a:rPr lang="el-GR"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n-AU" i="1" dirty="0" smtClean="0">
                        <a:latin typeface="Cambria Math" panose="02040503050406030204" pitchFamily="18" charset="0"/>
                      </a:rPr>
                      <m:t>,</m:t>
                    </m:r>
                    <m:sSub>
                      <m:sSubPr>
                        <m:ctrlPr>
                          <a:rPr lang="el-GR" i="1" dirty="0">
                            <a:latin typeface="Cambria Math" panose="02040503050406030204" pitchFamily="18" charset="0"/>
                          </a:rPr>
                        </m:ctrlPr>
                      </m:sSubPr>
                      <m:e>
                        <m:r>
                          <a:rPr lang="en-AU" b="0" i="1" dirty="0" smtClean="0">
                            <a:latin typeface="Cambria Math" panose="02040503050406030204" pitchFamily="18" charset="0"/>
                          </a:rPr>
                          <m:t>𝑍</m:t>
                        </m:r>
                      </m:e>
                      <m:sub>
                        <m:r>
                          <a:rPr lang="en-AU" i="1" dirty="0">
                            <a:latin typeface="Cambria Math" panose="02040503050406030204" pitchFamily="18" charset="0"/>
                          </a:rPr>
                          <m:t>0</m:t>
                        </m:r>
                      </m:sub>
                    </m:sSub>
                    <m:r>
                      <a:rPr lang="en-AU" i="1" dirty="0">
                        <a:latin typeface="Cambria Math" panose="02040503050406030204" pitchFamily="18" charset="0"/>
                      </a:rPr>
                      <m:t>,</m:t>
                    </m:r>
                    <m:r>
                      <a:rPr lang="en-AU" i="1" dirty="0" smtClean="0">
                        <a:latin typeface="Cambria Math" panose="02040503050406030204" pitchFamily="18" charset="0"/>
                      </a:rPr>
                      <m:t>𝐹</m:t>
                    </m:r>
                    <m:r>
                      <a:rPr lang="en-AU" i="1" dirty="0" smtClean="0">
                        <a:latin typeface="Cambria Math" panose="02040503050406030204" pitchFamily="18" charset="0"/>
                      </a:rPr>
                      <m:t>) </m:t>
                    </m:r>
                  </m:oMath>
                </a14:m>
                <a:r>
                  <a:rPr lang="zh-CN" altLang="en-US" dirty="0"/>
                  <a:t>满足</a:t>
                </a:r>
              </a:p>
              <a:p>
                <a:pPr marL="0" indent="0">
                  <a:buNone/>
                </a:pPr>
                <a:r>
                  <a:rPr lang="en-US" altLang="zh-CN" dirty="0"/>
                  <a:t>(1) </a:t>
                </a:r>
                <a14:m>
                  <m:oMath xmlns:m="http://schemas.openxmlformats.org/officeDocument/2006/math">
                    <m:r>
                      <a:rPr lang="en-US" altLang="zh-CN" i="1" dirty="0" smtClean="0">
                        <a:latin typeface="Cambria Math" panose="02040503050406030204" pitchFamily="18" charset="0"/>
                      </a:rPr>
                      <m:t>∀</m:t>
                    </m:r>
                    <m:r>
                      <a:rPr lang="en-AU" i="1" dirty="0" smtClean="0">
                        <a:latin typeface="Cambria Math" panose="02040503050406030204" pitchFamily="18" charset="0"/>
                      </a:rPr>
                      <m:t>𝑎</m:t>
                    </m:r>
                    <m:r>
                      <a:rPr lang="en-AU" i="1" dirty="0" smtClean="0">
                        <a:latin typeface="Cambria Math" panose="02040503050406030204" pitchFamily="18" charset="0"/>
                      </a:rPr>
                      <m:t> ∈ </m:t>
                    </m:r>
                    <m:r>
                      <m:rPr>
                        <m:sty m:val="p"/>
                      </m:rPr>
                      <a:rPr lang="el-GR" i="0" dirty="0" smtClean="0">
                        <a:latin typeface="Cambria Math" panose="02040503050406030204" pitchFamily="18" charset="0"/>
                      </a:rPr>
                      <m:t>Σ</m:t>
                    </m:r>
                    <m:r>
                      <a:rPr lang="el-GR" i="1" dirty="0" smtClean="0">
                        <a:latin typeface="Cambria Math" panose="02040503050406030204" pitchFamily="18" charset="0"/>
                      </a:rPr>
                      <m:t> ∪ {</m:t>
                    </m:r>
                    <m:r>
                      <a:rPr lang="el-GR" i="1" dirty="0" smtClean="0">
                        <a:latin typeface="Cambria Math" panose="02040503050406030204" pitchFamily="18" charset="0"/>
                      </a:rPr>
                      <m:t>𝜀</m:t>
                    </m:r>
                    <m:r>
                      <a:rPr lang="el-GR" i="1" dirty="0" smtClean="0">
                        <a:latin typeface="Cambria Math" panose="02040503050406030204" pitchFamily="18" charset="0"/>
                      </a:rPr>
                      <m:t>}, </m:t>
                    </m:r>
                    <m:r>
                      <a:rPr lang="el-GR" i="1" dirty="0" smtClean="0">
                        <a:latin typeface="Cambria Math" panose="02040503050406030204" pitchFamily="18" charset="0"/>
                      </a:rPr>
                      <m:t>𝛿</m:t>
                    </m:r>
                    <m:r>
                      <a:rPr lang="el-GR" i="1" dirty="0" smtClean="0">
                        <a:latin typeface="Cambria Math" panose="02040503050406030204" pitchFamily="18" charset="0"/>
                      </a:rPr>
                      <m:t>(</m:t>
                    </m:r>
                    <m:r>
                      <a:rPr lang="en-AU" i="1" dirty="0" smtClean="0">
                        <a:latin typeface="Cambria Math" panose="02040503050406030204" pitchFamily="18" charset="0"/>
                      </a:rPr>
                      <m:t>𝑞</m:t>
                    </m:r>
                    <m:r>
                      <a:rPr lang="en-AU" i="1" dirty="0" smtClean="0">
                        <a:latin typeface="Cambria Math" panose="02040503050406030204" pitchFamily="18" charset="0"/>
                      </a:rPr>
                      <m:t>, </m:t>
                    </m:r>
                    <m:r>
                      <a:rPr lang="en-AU" i="1" dirty="0" smtClean="0">
                        <a:latin typeface="Cambria Math" panose="02040503050406030204" pitchFamily="18" charset="0"/>
                      </a:rPr>
                      <m:t>𝑎</m:t>
                    </m:r>
                    <m:r>
                      <a:rPr lang="en-AU" i="1" dirty="0" smtClean="0">
                        <a:latin typeface="Cambria Math" panose="02040503050406030204" pitchFamily="18" charset="0"/>
                      </a:rPr>
                      <m:t>, </m:t>
                    </m:r>
                    <m:r>
                      <a:rPr lang="en-AU" i="1" dirty="0" smtClean="0">
                        <a:latin typeface="Cambria Math" panose="02040503050406030204" pitchFamily="18" charset="0"/>
                      </a:rPr>
                      <m:t>𝑋</m:t>
                    </m:r>
                    <m:r>
                      <a:rPr lang="en-AU" i="1" dirty="0" smtClean="0">
                        <a:latin typeface="Cambria Math" panose="02040503050406030204" pitchFamily="18" charset="0"/>
                      </a:rPr>
                      <m:t>) </m:t>
                    </m:r>
                  </m:oMath>
                </a14:m>
                <a:r>
                  <a:rPr lang="zh-CN" altLang="en-US" dirty="0"/>
                  <a:t>至多有一个动作</a:t>
                </a:r>
                <a:r>
                  <a:rPr lang="en-US" altLang="zh-CN" dirty="0"/>
                  <a:t>;</a:t>
                </a:r>
              </a:p>
              <a:p>
                <a:pPr marL="0" indent="0">
                  <a:buNone/>
                </a:pPr>
                <a:r>
                  <a:rPr lang="en-US" altLang="zh-CN" dirty="0"/>
                  <a:t>(2) </a:t>
                </a:r>
                <a14:m>
                  <m:oMath xmlns:m="http://schemas.openxmlformats.org/officeDocument/2006/math">
                    <m:r>
                      <a:rPr lang="en-US" altLang="zh-CN" i="1" dirty="0" smtClean="0">
                        <a:latin typeface="Cambria Math" panose="02040503050406030204" pitchFamily="18" charset="0"/>
                      </a:rPr>
                      <m:t>∀</m:t>
                    </m:r>
                    <m:r>
                      <a:rPr lang="en-AU" i="1" dirty="0" smtClean="0">
                        <a:latin typeface="Cambria Math" panose="02040503050406030204" pitchFamily="18" charset="0"/>
                      </a:rPr>
                      <m:t>𝑎</m:t>
                    </m:r>
                    <m:r>
                      <a:rPr lang="en-AU" i="1" dirty="0" smtClean="0">
                        <a:latin typeface="Cambria Math" panose="02040503050406030204" pitchFamily="18" charset="0"/>
                      </a:rPr>
                      <m:t> ∈ </m:t>
                    </m:r>
                    <m:r>
                      <m:rPr>
                        <m:sty m:val="p"/>
                      </m:rPr>
                      <a:rPr lang="el-GR" i="0" dirty="0" smtClean="0">
                        <a:latin typeface="Cambria Math" panose="02040503050406030204" pitchFamily="18" charset="0"/>
                      </a:rPr>
                      <m:t>Σ</m:t>
                    </m:r>
                  </m:oMath>
                </a14:m>
                <a:r>
                  <a:rPr lang="el-GR" dirty="0"/>
                  <a:t>, </a:t>
                </a:r>
                <a:r>
                  <a:rPr lang="zh-CN" altLang="en-US" dirty="0"/>
                  <a:t>如果 </a:t>
                </a:r>
                <a14:m>
                  <m:oMath xmlns:m="http://schemas.openxmlformats.org/officeDocument/2006/math">
                    <m:r>
                      <a:rPr lang="el-GR" i="1" dirty="0" smtClean="0">
                        <a:latin typeface="Cambria Math" panose="02040503050406030204" pitchFamily="18" charset="0"/>
                      </a:rPr>
                      <m:t>𝛿</m:t>
                    </m:r>
                    <m:r>
                      <a:rPr lang="el-GR" i="1" dirty="0" smtClean="0">
                        <a:latin typeface="Cambria Math" panose="02040503050406030204" pitchFamily="18" charset="0"/>
                      </a:rPr>
                      <m:t>(</m:t>
                    </m:r>
                    <m:r>
                      <a:rPr lang="en-AU" i="1" dirty="0" smtClean="0">
                        <a:latin typeface="Cambria Math" panose="02040503050406030204" pitchFamily="18" charset="0"/>
                      </a:rPr>
                      <m:t>𝑞</m:t>
                    </m:r>
                    <m:r>
                      <a:rPr lang="en-AU" i="1" dirty="0" smtClean="0">
                        <a:latin typeface="Cambria Math" panose="02040503050406030204" pitchFamily="18" charset="0"/>
                      </a:rPr>
                      <m:t>, </m:t>
                    </m:r>
                    <m:r>
                      <a:rPr lang="en-AU" i="1" dirty="0" smtClean="0">
                        <a:latin typeface="Cambria Math" panose="02040503050406030204" pitchFamily="18" charset="0"/>
                      </a:rPr>
                      <m:t>𝑎</m:t>
                    </m:r>
                    <m:r>
                      <a:rPr lang="en-AU" i="1" dirty="0" smtClean="0">
                        <a:latin typeface="Cambria Math" panose="02040503050406030204" pitchFamily="18" charset="0"/>
                      </a:rPr>
                      <m:t>, </m:t>
                    </m:r>
                    <m:r>
                      <a:rPr lang="en-AU" i="1" dirty="0" smtClean="0">
                        <a:latin typeface="Cambria Math" panose="02040503050406030204" pitchFamily="18" charset="0"/>
                      </a:rPr>
                      <m:t>𝑋</m:t>
                    </m:r>
                    <m:r>
                      <a:rPr lang="en-AU" i="1" dirty="0" smtClean="0">
                        <a:latin typeface="Cambria Math" panose="02040503050406030204" pitchFamily="18" charset="0"/>
                      </a:rPr>
                      <m:t>)  ≠ ∅</m:t>
                    </m:r>
                  </m:oMath>
                </a14:m>
                <a:r>
                  <a:rPr lang="en-AU" dirty="0"/>
                  <a:t>, </a:t>
                </a:r>
                <a:r>
                  <a:rPr lang="zh-CN" altLang="en-US" dirty="0"/>
                  <a:t>那么 </a:t>
                </a:r>
                <a14:m>
                  <m:oMath xmlns:m="http://schemas.openxmlformats.org/officeDocument/2006/math">
                    <m:r>
                      <a:rPr lang="el-GR" i="1" dirty="0" smtClean="0">
                        <a:latin typeface="Cambria Math" panose="02040503050406030204" pitchFamily="18" charset="0"/>
                      </a:rPr>
                      <m:t>𝛿</m:t>
                    </m:r>
                    <m:r>
                      <a:rPr lang="el-GR" i="1" dirty="0" smtClean="0">
                        <a:latin typeface="Cambria Math" panose="02040503050406030204" pitchFamily="18" charset="0"/>
                      </a:rPr>
                      <m:t>(</m:t>
                    </m:r>
                    <m:r>
                      <a:rPr lang="en-AU" i="1" dirty="0" smtClean="0">
                        <a:latin typeface="Cambria Math" panose="02040503050406030204" pitchFamily="18" charset="0"/>
                      </a:rPr>
                      <m:t>𝑞</m:t>
                    </m:r>
                    <m:r>
                      <a:rPr lang="en-AU" i="1" dirty="0" smtClean="0">
                        <a:latin typeface="Cambria Math" panose="02040503050406030204" pitchFamily="18" charset="0"/>
                      </a:rPr>
                      <m:t>, </m:t>
                    </m:r>
                    <m:r>
                      <a:rPr lang="el-GR" i="1" dirty="0" smtClean="0">
                        <a:latin typeface="Cambria Math" panose="02040503050406030204" pitchFamily="18" charset="0"/>
                      </a:rPr>
                      <m:t>𝜀</m:t>
                    </m:r>
                    <m:r>
                      <a:rPr lang="el-GR" i="1" dirty="0" smtClean="0">
                        <a:latin typeface="Cambria Math" panose="02040503050406030204" pitchFamily="18" charset="0"/>
                      </a:rPr>
                      <m:t>, </m:t>
                    </m:r>
                    <m:r>
                      <a:rPr lang="en-AU" i="1" dirty="0" smtClean="0">
                        <a:latin typeface="Cambria Math" panose="02040503050406030204" pitchFamily="18" charset="0"/>
                      </a:rPr>
                      <m:t>𝑋</m:t>
                    </m:r>
                    <m:r>
                      <a:rPr lang="en-AU" i="1" dirty="0" smtClean="0">
                        <a:latin typeface="Cambria Math" panose="02040503050406030204" pitchFamily="18" charset="0"/>
                      </a:rPr>
                      <m:t>) = ∅</m:t>
                    </m:r>
                    <m:r>
                      <a:rPr lang="zh-CN" altLang="en-US" i="1" dirty="0">
                        <a:latin typeface="Cambria Math" panose="02040503050406030204" pitchFamily="18" charset="0"/>
                      </a:rPr>
                      <m:t>。</m:t>
                    </m:r>
                  </m:oMath>
                </a14:m>
                <a:endParaRPr lang="en-AU" dirty="0"/>
              </a:p>
              <a:p>
                <a:pPr marL="0" indent="0">
                  <a:buNone/>
                </a:pPr>
                <a:r>
                  <a:rPr lang="zh-CN" altLang="en-US" dirty="0"/>
                  <a:t>则称</a:t>
                </a:r>
                <a14:m>
                  <m:oMath xmlns:m="http://schemas.openxmlformats.org/officeDocument/2006/math">
                    <m:r>
                      <a:rPr lang="en-AU" i="1" dirty="0" smtClean="0">
                        <a:latin typeface="Cambria Math" panose="02040503050406030204" pitchFamily="18" charset="0"/>
                      </a:rPr>
                      <m:t>𝑃</m:t>
                    </m:r>
                  </m:oMath>
                </a14:m>
                <a:r>
                  <a:rPr lang="zh-CN" altLang="en-US" dirty="0"/>
                  <a:t>为确定型下推自动机</a:t>
                </a:r>
                <a:r>
                  <a:rPr lang="en-US" altLang="zh-CN" dirty="0"/>
                  <a:t>(</a:t>
                </a:r>
                <a:r>
                  <a:rPr lang="en-AU" dirty="0">
                    <a:latin typeface="Times New Roman" panose="02020603050405020304" pitchFamily="18" charset="0"/>
                    <a:cs typeface="Times New Roman" panose="02020603050405020304" pitchFamily="18" charset="0"/>
                  </a:rPr>
                  <a:t>DPDA</a:t>
                </a:r>
                <a:r>
                  <a:rPr lang="en-AU" dirty="0"/>
                  <a:t>)</a:t>
                </a:r>
                <a:r>
                  <a:rPr lang="zh-CN" altLang="en-US" dirty="0"/>
                  <a:t>。</a:t>
                </a:r>
                <a:endParaRPr lang="en-AU" altLang="zh-CN" dirty="0"/>
              </a:p>
              <a:p>
                <a:r>
                  <a:rPr lang="zh-CN" altLang="en-US" dirty="0"/>
                  <a:t>在任何情况下都不需要去选择可能的移动就是</a:t>
                </a:r>
                <a:r>
                  <a:rPr lang="en-US" altLang="zh-CN" dirty="0">
                    <a:latin typeface="Times New Roman" panose="02020603050405020304" pitchFamily="18" charset="0"/>
                    <a:cs typeface="Times New Roman" panose="02020603050405020304" pitchFamily="18" charset="0"/>
                  </a:rPr>
                  <a:t>DPDA</a:t>
                </a:r>
                <a:r>
                  <a:rPr lang="zh-CN" altLang="en-US" dirty="0"/>
                  <a:t>。</a:t>
                </a:r>
                <a:endParaRPr lang="en-AU" altLang="zh-CN" dirty="0"/>
              </a:p>
              <a:p>
                <a:r>
                  <a:rPr lang="en-AU" altLang="zh-CN" dirty="0">
                    <a:latin typeface="Times New Roman" panose="02020603050405020304" pitchFamily="18" charset="0"/>
                    <a:cs typeface="Times New Roman" panose="02020603050405020304" pitchFamily="18" charset="0"/>
                  </a:rPr>
                  <a:t>DPDA</a:t>
                </a:r>
                <a:r>
                  <a:rPr lang="zh-CN" altLang="en-US" dirty="0"/>
                  <a:t>与</a:t>
                </a:r>
                <a:r>
                  <a:rPr lang="en-US" altLang="zh-CN" dirty="0">
                    <a:latin typeface="Times New Roman" panose="02020603050405020304" pitchFamily="18" charset="0"/>
                    <a:cs typeface="Times New Roman" panose="02020603050405020304" pitchFamily="18" charset="0"/>
                  </a:rPr>
                  <a:t>PDA</a:t>
                </a:r>
                <a:r>
                  <a:rPr lang="zh-CN" altLang="en-US" dirty="0">
                    <a:latin typeface="Times New Roman" panose="02020603050405020304" pitchFamily="18" charset="0"/>
                    <a:cs typeface="Times New Roman" panose="02020603050405020304" pitchFamily="18" charset="0"/>
                  </a:rPr>
                  <a:t>识别语言的能力不一样，是</a:t>
                </a:r>
                <a:r>
                  <a:rPr lang="zh-CN" altLang="en-US" dirty="0"/>
                  <a:t>不等价的。</a:t>
                </a:r>
                <a:endParaRPr lang="en-AU" altLang="zh-CN" dirty="0"/>
              </a:p>
              <a:p>
                <a:pPr marL="0" indent="0">
                  <a:buNone/>
                </a:pPr>
                <a:endParaRPr lang="en-AU" dirty="0"/>
              </a:p>
              <a:p>
                <a:pPr marL="0" indent="0">
                  <a:buNone/>
                </a:pP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187926"/>
                <a:ext cx="8229600" cy="4525963"/>
              </a:xfrm>
              <a:blipFill rotWithShape="1">
                <a:blip r:embed="rId3"/>
                <a:stretch>
                  <a:fillRect t="-11" b="-17885"/>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93</a:t>
            </a:fld>
            <a:endParaRPr lang="en-AU"/>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确定型下推自动机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98317"/>
                <a:ext cx="8229600" cy="4525963"/>
              </a:xfrm>
            </p:spPr>
            <p:txBody>
              <a:bodyPr/>
              <a:lstStyle/>
              <a:p>
                <a:r>
                  <a:rPr lang="zh-CN" altLang="en-US" dirty="0"/>
                  <a:t>例</a:t>
                </a:r>
                <a:r>
                  <a:rPr lang="en-AU" altLang="zh-CN" dirty="0"/>
                  <a:t>:</a:t>
                </a:r>
                <a:r>
                  <a:rPr lang="zh-CN" altLang="en-US" dirty="0"/>
                  <a:t>任何</a:t>
                </a:r>
                <a:r>
                  <a:rPr lang="en-AU" altLang="zh-CN" dirty="0">
                    <a:latin typeface="Times New Roman" panose="02020603050405020304" pitchFamily="18" charset="0"/>
                    <a:cs typeface="Times New Roman" panose="02020603050405020304" pitchFamily="18" charset="0"/>
                  </a:rPr>
                  <a:t>DPDA </a:t>
                </a:r>
                <a:r>
                  <a:rPr lang="zh-CN" altLang="en-US" dirty="0"/>
                  <a:t>都无法接受</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𝐿</m:t>
                        </m:r>
                      </m:e>
                      <m:sub>
                        <m:r>
                          <a:rPr lang="en-AU" altLang="zh-CN" b="0" i="1" dirty="0" smtClean="0">
                            <a:latin typeface="Cambria Math" panose="02040503050406030204" pitchFamily="18" charset="0"/>
                          </a:rPr>
                          <m:t>𝑤𝑤𝑟</m:t>
                        </m:r>
                      </m:sub>
                    </m:sSub>
                  </m:oMath>
                </a14:m>
                <a:r>
                  <a:rPr lang="en-AU" altLang="zh-CN" dirty="0"/>
                  <a:t>, </a:t>
                </a:r>
                <a:r>
                  <a:rPr lang="zh-CN" altLang="en-US" dirty="0"/>
                  <a:t>但是可以接受</a:t>
                </a:r>
                <a:endParaRPr lang="en-AU" altLang="zh-CN" dirty="0"/>
              </a:p>
              <a:p>
                <a:pPr marL="0" indent="0">
                  <a:buNone/>
                </a:pP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𝐿</m:t>
                        </m:r>
                      </m:e>
                      <m:sub>
                        <m:r>
                          <a:rPr lang="en-AU" altLang="zh-CN" i="1" dirty="0">
                            <a:latin typeface="Cambria Math" panose="02040503050406030204" pitchFamily="18" charset="0"/>
                          </a:rPr>
                          <m:t>𝑤</m:t>
                        </m:r>
                        <m:r>
                          <a:rPr lang="en-AU" altLang="zh-CN" b="0" i="1" dirty="0" smtClean="0">
                            <a:latin typeface="Cambria Math" panose="02040503050406030204" pitchFamily="18" charset="0"/>
                          </a:rPr>
                          <m:t>𝑐</m:t>
                        </m:r>
                        <m:r>
                          <a:rPr lang="en-AU" altLang="zh-CN" i="1" dirty="0">
                            <a:latin typeface="Cambria Math" panose="02040503050406030204" pitchFamily="18" charset="0"/>
                          </a:rPr>
                          <m:t>𝑤𝑟</m:t>
                        </m:r>
                      </m:sub>
                    </m:sSub>
                    <m:r>
                      <a:rPr lang="en-AU" altLang="zh-CN" i="1" dirty="0">
                        <a:latin typeface="Cambria Math" panose="02040503050406030204" pitchFamily="18" charset="0"/>
                      </a:rPr>
                      <m:t> </m:t>
                    </m:r>
                    <m:r>
                      <a:rPr lang="en-AU" i="1" dirty="0" smtClean="0">
                        <a:latin typeface="Cambria Math" panose="02040503050406030204" pitchFamily="18" charset="0"/>
                      </a:rPr>
                      <m:t>= {</m:t>
                    </m:r>
                    <m:r>
                      <a:rPr lang="en-AU" i="1" dirty="0" err="1" smtClean="0">
                        <a:latin typeface="Cambria Math" panose="02040503050406030204" pitchFamily="18" charset="0"/>
                      </a:rPr>
                      <m:t>𝑤𝑐</m:t>
                    </m:r>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𝑤</m:t>
                        </m:r>
                      </m:e>
                      <m:sup>
                        <m:r>
                          <a:rPr lang="en-AU" b="0" i="1" dirty="0" smtClean="0">
                            <a:latin typeface="Cambria Math" panose="02040503050406030204" pitchFamily="18" charset="0"/>
                          </a:rPr>
                          <m:t>𝑅</m:t>
                        </m:r>
                      </m:sup>
                    </m:sSup>
                    <m:r>
                      <a:rPr lang="en-AU" i="1" dirty="0" smtClean="0">
                        <a:latin typeface="Cambria Math" panose="02040503050406030204" pitchFamily="18" charset="0"/>
                      </a:rPr>
                      <m:t> | </m:t>
                    </m:r>
                    <m:r>
                      <a:rPr lang="en-AU" i="1" dirty="0" smtClean="0">
                        <a:latin typeface="Cambria Math" panose="02040503050406030204" pitchFamily="18" charset="0"/>
                      </a:rPr>
                      <m:t>𝑤</m:t>
                    </m:r>
                    <m:r>
                      <a:rPr lang="en-AU" i="1" dirty="0" smtClean="0">
                        <a:latin typeface="Cambria Math" panose="02040503050406030204" pitchFamily="18" charset="0"/>
                      </a:rPr>
                      <m:t> ∈ </m:t>
                    </m:r>
                    <m:sSup>
                      <m:sSupPr>
                        <m:ctrlPr>
                          <a:rPr lang="en-AU" i="1" dirty="0" smtClean="0">
                            <a:latin typeface="Cambria Math" panose="02040503050406030204" pitchFamily="18" charset="0"/>
                          </a:rPr>
                        </m:ctrlPr>
                      </m:sSupPr>
                      <m:e>
                        <m:r>
                          <a:rPr lang="en-AU" b="0" i="1" dirty="0" smtClean="0">
                            <a:latin typeface="Cambria Math" panose="02040503050406030204" pitchFamily="18" charset="0"/>
                          </a:rPr>
                          <m:t>(0+1)</m:t>
                        </m:r>
                      </m:e>
                      <m:sup>
                        <m:r>
                          <a:rPr lang="en-AU" b="0" i="1" dirty="0" smtClean="0">
                            <a:latin typeface="Cambria Math" panose="02040503050406030204" pitchFamily="18" charset="0"/>
                          </a:rPr>
                          <m:t>∗</m:t>
                        </m:r>
                      </m:sup>
                    </m:sSup>
                    <m:r>
                      <a:rPr lang="en-AU" i="1" dirty="0" smtClean="0">
                        <a:latin typeface="Cambria Math" panose="02040503050406030204" pitchFamily="18" charset="0"/>
                      </a:rPr>
                      <m:t>}</m:t>
                    </m:r>
                  </m:oMath>
                </a14:m>
                <a:r>
                  <a:rPr lang="zh-CN" altLang="en-US" dirty="0"/>
                  <a:t>。</a:t>
                </a: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998317"/>
                <a:ext cx="8229600" cy="4525963"/>
              </a:xfrm>
              <a:blipFill rotWithShape="1">
                <a:blip r:embed="rId3"/>
                <a:stretch>
                  <a:fillRect t="-2"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a:xfrm>
            <a:off x="6553200" y="6161454"/>
            <a:ext cx="2133600" cy="365125"/>
          </a:xfrm>
        </p:spPr>
        <p:txBody>
          <a:bodyPr/>
          <a:lstStyle/>
          <a:p>
            <a:fld id="{0662E1F6-9BD6-474C-A82E-E07C3DB67AAE}" type="slidenum">
              <a:rPr lang="en-AU" smtClean="0"/>
              <a:t>94</a:t>
            </a:fld>
            <a:endParaRPr lang="en-AU"/>
          </a:p>
        </p:txBody>
      </p:sp>
      <p:pic>
        <p:nvPicPr>
          <p:cNvPr id="6" name="Picture 5" descr="Diagram&#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82752" y="2247361"/>
            <a:ext cx="4284132" cy="1805751"/>
          </a:xfrm>
          <a:prstGeom prst="rect">
            <a:avLst/>
          </a:prstGeom>
        </p:spPr>
      </p:pic>
      <p:sp>
        <p:nvSpPr>
          <p:cNvPr id="5" name="Rectangle: Rounded Corners 4"/>
          <p:cNvSpPr/>
          <p:nvPr/>
        </p:nvSpPr>
        <p:spPr>
          <a:xfrm>
            <a:off x="3280367" y="3150237"/>
            <a:ext cx="866332" cy="1037811"/>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AU"/>
          </a:p>
        </p:txBody>
      </p:sp>
      <p:pic>
        <p:nvPicPr>
          <p:cNvPr id="7" name="Picture 6" descr="Diagram&#10;&#10;Description automatically generated"/>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04136" y="4257488"/>
            <a:ext cx="4306653" cy="1844284"/>
          </a:xfrm>
          <a:prstGeom prst="rect">
            <a:avLst/>
          </a:prstGeom>
        </p:spPr>
      </p:pic>
      <p:sp>
        <p:nvSpPr>
          <p:cNvPr id="8" name="Rectangle: Rounded Corners 7"/>
          <p:cNvSpPr/>
          <p:nvPr/>
        </p:nvSpPr>
        <p:spPr>
          <a:xfrm>
            <a:off x="3423029" y="5123643"/>
            <a:ext cx="866332" cy="1037811"/>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10" name="TextBox 9"/>
              <p:cNvSpPr txBox="1"/>
              <p:nvPr/>
            </p:nvSpPr>
            <p:spPr>
              <a:xfrm>
                <a:off x="370260" y="4845898"/>
                <a:ext cx="1920283" cy="461665"/>
              </a:xfrm>
              <a:prstGeom prst="rect">
                <a:avLst/>
              </a:prstGeom>
              <a:noFill/>
            </p:spPr>
            <p:txBody>
              <a:bodyPr wrap="square">
                <a:spAutoFit/>
              </a:bodyPr>
              <a:lstStyle/>
              <a:p>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i="1" dirty="0">
                            <a:latin typeface="Cambria Math" panose="02040503050406030204" pitchFamily="18" charset="0"/>
                          </a:rPr>
                          <m:t>𝐿</m:t>
                        </m:r>
                      </m:e>
                      <m:sub>
                        <m:r>
                          <a:rPr lang="en-AU" altLang="zh-CN" sz="2400" i="1" dirty="0">
                            <a:latin typeface="Cambria Math" panose="02040503050406030204" pitchFamily="18" charset="0"/>
                          </a:rPr>
                          <m:t>𝑤𝑤𝑟</m:t>
                        </m:r>
                      </m:sub>
                    </m:sSub>
                  </m:oMath>
                </a14:m>
                <a:r>
                  <a:rPr lang="zh-CN" altLang="en-US" sz="2400" dirty="0"/>
                  <a:t>的</a:t>
                </a:r>
                <a:r>
                  <a:rPr lang="en-AU" altLang="zh-CN" sz="2400" dirty="0">
                    <a:latin typeface="Times New Roman" panose="02020603050405020304" pitchFamily="18" charset="0"/>
                    <a:cs typeface="Times New Roman" panose="02020603050405020304" pitchFamily="18" charset="0"/>
                  </a:rPr>
                  <a:t>PDA:</a:t>
                </a:r>
                <a:endParaRPr lang="en-AU" sz="2400" dirty="0">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70260" y="4845898"/>
                <a:ext cx="1920283" cy="461665"/>
              </a:xfrm>
              <a:prstGeom prst="rect">
                <a:avLst/>
              </a:prstGeom>
              <a:blipFill rotWithShape="1">
                <a:blip r:embed="rId6"/>
                <a:stretch>
                  <a:fillRect l="-3" t="-46" r="5" b="50"/>
                </a:stretch>
              </a:blipFill>
            </p:spPr>
            <p:txBody>
              <a:bodyPr/>
              <a:lstStyle/>
              <a:p>
                <a:r>
                  <a:rPr lang="zh-CN" altLang="en-US">
                    <a:noFill/>
                  </a:rPr>
                  <a:t> </a:t>
                </a:r>
              </a:p>
            </p:txBody>
          </p:sp>
        </mc:Fallback>
      </mc:AlternateContent>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DCFL</a:t>
            </a:r>
            <a:r>
              <a:rPr lang="zh-CN" altLang="en-US" dirty="0"/>
              <a:t>的重要应用</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AU" altLang="zh-CN" dirty="0">
                    <a:latin typeface="Times New Roman" panose="02020603050405020304" pitchFamily="18" charset="0"/>
                    <a:cs typeface="Times New Roman" panose="02020603050405020304" pitchFamily="18" charset="0"/>
                  </a:rPr>
                  <a:t>DPDA</a:t>
                </a:r>
                <a:r>
                  <a:rPr lang="zh-CN" altLang="en-US" dirty="0"/>
                  <a:t>以终态方式接受的语言也称为</a:t>
                </a:r>
                <a:r>
                  <a:rPr lang="en-US" altLang="zh-CN" dirty="0">
                    <a:latin typeface="Times New Roman" panose="02020603050405020304" pitchFamily="18" charset="0"/>
                    <a:cs typeface="Times New Roman" panose="02020603050405020304" pitchFamily="18" charset="0"/>
                  </a:rPr>
                  <a:t>DCFL</a:t>
                </a:r>
                <a:r>
                  <a:rPr lang="zh-CN" altLang="en-US" dirty="0">
                    <a:latin typeface="Times New Roman" panose="02020603050405020304" pitchFamily="18" charset="0"/>
                    <a:cs typeface="Times New Roman" panose="02020603050405020304" pitchFamily="18" charset="0"/>
                  </a:rPr>
                  <a:t>（确定的上下文无关语言），有着重要应用。</a:t>
                </a:r>
                <a:endParaRPr lang="en-AU" altLang="zh-CN" dirty="0"/>
              </a:p>
              <a:p>
                <a:pPr lvl="1"/>
                <a:r>
                  <a:rPr lang="zh-CN" altLang="en-US" dirty="0"/>
                  <a:t>非固有歧义语言的真子集</a:t>
                </a:r>
              </a:p>
              <a:p>
                <a:pPr lvl="1"/>
                <a:r>
                  <a:rPr lang="en-US" altLang="zh-CN" dirty="0">
                    <a:latin typeface="Times New Roman" panose="02020603050405020304" pitchFamily="18" charset="0"/>
                    <a:cs typeface="Times New Roman" panose="02020603050405020304" pitchFamily="18" charset="0"/>
                  </a:rPr>
                  <a:t>Knuth</a:t>
                </a:r>
                <a:r>
                  <a:rPr lang="zh-CN" altLang="en-US" dirty="0"/>
                  <a:t>提出</a:t>
                </a:r>
                <a14:m>
                  <m:oMath xmlns:m="http://schemas.openxmlformats.org/officeDocument/2006/math">
                    <m:r>
                      <a:rPr lang="en-US" altLang="zh-CN" i="1" dirty="0" smtClean="0">
                        <a:latin typeface="Cambria Math" panose="02040503050406030204" pitchFamily="18" charset="0"/>
                      </a:rPr>
                      <m:t>𝐿𝑅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m:t>
                    </m:r>
                  </m:oMath>
                </a14:m>
                <a:r>
                  <a:rPr lang="zh-CN" altLang="en-US" dirty="0"/>
                  <a:t>文法的语言也恰好是</a:t>
                </a:r>
                <a:r>
                  <a:rPr lang="en-US" altLang="zh-CN" dirty="0">
                    <a:latin typeface="Times New Roman" panose="02020603050405020304" pitchFamily="18" charset="0"/>
                    <a:cs typeface="Times New Roman" panose="02020603050405020304" pitchFamily="18" charset="0"/>
                  </a:rPr>
                  <a:t>DPDA</a:t>
                </a:r>
                <a:r>
                  <a:rPr lang="zh-CN" altLang="en-US" dirty="0"/>
                  <a:t>接受语言的一个子集</a:t>
                </a:r>
                <a:r>
                  <a:rPr lang="en-US" altLang="zh-CN" dirty="0"/>
                  <a:t>, </a:t>
                </a:r>
                <a:r>
                  <a:rPr lang="zh-CN" altLang="en-US" dirty="0"/>
                  <a:t>解析的时间复杂度为</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𝑂</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𝑛</m:t>
                    </m:r>
                    <m:r>
                      <a:rPr lang="en-US" altLang="zh-CN" i="1" dirty="0" smtClean="0">
                        <a:latin typeface="Cambria Math" panose="02040503050406030204" pitchFamily="18" charset="0"/>
                        <a:cs typeface="Times New Roman" panose="02020603050405020304" pitchFamily="18" charset="0"/>
                      </a:rPr>
                      <m:t>)</m:t>
                    </m:r>
                  </m:oMath>
                </a14:m>
                <a:r>
                  <a:rPr lang="zh-CN" altLang="en-US" dirty="0"/>
                  <a:t>，</a:t>
                </a:r>
                <a14:m>
                  <m:oMath xmlns:m="http://schemas.openxmlformats.org/officeDocument/2006/math">
                    <m:r>
                      <a:rPr lang="en-AU" altLang="zh-CN" i="1" dirty="0" smtClean="0">
                        <a:latin typeface="Cambria Math" panose="02040503050406030204" pitchFamily="18" charset="0"/>
                      </a:rPr>
                      <m:t>𝐿𝑅</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𝑘</m:t>
                    </m:r>
                    <m:r>
                      <a:rPr lang="en-AU" altLang="zh-CN" i="1" dirty="0" smtClean="0">
                        <a:latin typeface="Cambria Math" panose="02040503050406030204" pitchFamily="18" charset="0"/>
                      </a:rPr>
                      <m:t>)</m:t>
                    </m:r>
                  </m:oMath>
                </a14:m>
                <a:r>
                  <a:rPr lang="zh-CN" altLang="en-US" dirty="0"/>
                  <a:t>文法也是著名语法分析器</a:t>
                </a:r>
                <a:r>
                  <a:rPr lang="en-AU" altLang="zh-CN" dirty="0">
                    <a:latin typeface="Times New Roman" panose="02020603050405020304" pitchFamily="18" charset="0"/>
                    <a:cs typeface="Times New Roman" panose="02020603050405020304" pitchFamily="18" charset="0"/>
                  </a:rPr>
                  <a:t>YACC</a:t>
                </a:r>
                <a:r>
                  <a:rPr lang="zh-CN" altLang="en-US" dirty="0"/>
                  <a:t>的基础。</a:t>
                </a: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95</a:t>
            </a:fld>
            <a:endParaRPr lang="en-AU"/>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正则语言与</a:t>
            </a:r>
            <a:r>
              <a:rPr lang="en-AU" altLang="zh-CN" dirty="0">
                <a:latin typeface="Times New Roman" panose="02020603050405020304" pitchFamily="18" charset="0"/>
                <a:cs typeface="Times New Roman" panose="02020603050405020304" pitchFamily="18" charset="0"/>
              </a:rPr>
              <a:t>PDA</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9259"/>
                <a:ext cx="8229600" cy="4525963"/>
              </a:xfrm>
            </p:spPr>
            <p:txBody>
              <a:bodyPr>
                <a:normAutofit/>
              </a:bodyPr>
              <a:lstStyle/>
              <a:p>
                <a:r>
                  <a:rPr lang="zh-CN" altLang="en-US" dirty="0"/>
                  <a:t>定理</a:t>
                </a:r>
                <a:r>
                  <a:rPr lang="en-AU" altLang="zh-CN" dirty="0"/>
                  <a:t>:</a:t>
                </a:r>
                <a:r>
                  <a:rPr lang="zh-CN" altLang="en-US" dirty="0"/>
                  <a:t>如果</a:t>
                </a:r>
                <a14:m>
                  <m:oMath xmlns:m="http://schemas.openxmlformats.org/officeDocument/2006/math">
                    <m:r>
                      <a:rPr lang="zh-CN" altLang="en-US"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m:t>
                    </m:r>
                  </m:oMath>
                </a14:m>
                <a:r>
                  <a:rPr lang="zh-CN" altLang="en-US" dirty="0"/>
                  <a:t>是正则语言</a:t>
                </a:r>
                <a:r>
                  <a:rPr lang="en-US" altLang="zh-CN" dirty="0"/>
                  <a:t>, </a:t>
                </a:r>
                <a:r>
                  <a:rPr lang="zh-CN" altLang="en-US" dirty="0"/>
                  <a:t>那么存在</a:t>
                </a:r>
                <a:r>
                  <a:rPr lang="en-US" altLang="zh-CN" dirty="0">
                    <a:latin typeface="Times New Roman" panose="02020603050405020304" pitchFamily="18" charset="0"/>
                    <a:cs typeface="Times New Roman" panose="02020603050405020304" pitchFamily="18" charset="0"/>
                  </a:rPr>
                  <a:t>DPDA</a:t>
                </a:r>
                <a:r>
                  <a:rPr lang="en-US" altLang="zh-CN" dirty="0"/>
                  <a:t> </a:t>
                </a:r>
                <a14:m>
                  <m:oMath xmlns:m="http://schemas.openxmlformats.org/officeDocument/2006/math">
                    <m:r>
                      <a:rPr lang="en-US" altLang="zh-CN" i="1" dirty="0" smtClean="0">
                        <a:latin typeface="Cambria Math" panose="02040503050406030204" pitchFamily="18" charset="0"/>
                      </a:rPr>
                      <m:t>𝑃</m:t>
                    </m:r>
                  </m:oMath>
                </a14:m>
                <a:r>
                  <a:rPr lang="en-US" altLang="zh-CN" dirty="0"/>
                  <a:t> </a:t>
                </a:r>
                <a:r>
                  <a:rPr lang="zh-CN" altLang="en-US" dirty="0"/>
                  <a:t>以终态方式接受</a:t>
                </a:r>
                <a14:m>
                  <m:oMath xmlns:m="http://schemas.openxmlformats.org/officeDocument/2006/math">
                    <m:r>
                      <a:rPr lang="en-US" altLang="zh-CN" i="1" dirty="0" smtClean="0">
                        <a:latin typeface="Cambria Math" panose="02040503050406030204" pitchFamily="18" charset="0"/>
                      </a:rPr>
                      <m:t>𝐿</m:t>
                    </m:r>
                  </m:oMath>
                </a14:m>
                <a:r>
                  <a:rPr lang="en-US" altLang="zh-CN" dirty="0"/>
                  <a:t>, </a:t>
                </a:r>
                <a:r>
                  <a:rPr lang="zh-CN" altLang="en-US" dirty="0"/>
                  <a:t>即 </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 </m:t>
                    </m:r>
                    <m:r>
                      <a:rPr lang="en-US" altLang="zh-CN" b="1" i="0" dirty="0" smtClean="0">
                        <a:latin typeface="Cambria Math" panose="02040503050406030204" pitchFamily="18" charset="0"/>
                      </a:rPr>
                      <m:t>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zh-CN" altLang="en-US" i="1" dirty="0">
                        <a:latin typeface="Cambria Math" panose="02040503050406030204" pitchFamily="18" charset="0"/>
                      </a:rPr>
                      <m:t>。</m:t>
                    </m:r>
                  </m:oMath>
                </a14:m>
                <a:endParaRPr lang="en-AU" dirty="0"/>
              </a:p>
              <a:p>
                <a:r>
                  <a:rPr lang="zh-CN" altLang="en-US" dirty="0"/>
                  <a:t>证明</a:t>
                </a:r>
                <a:r>
                  <a:rPr lang="en-AU" altLang="zh-CN" dirty="0"/>
                  <a:t>:</a:t>
                </a:r>
                <a:r>
                  <a:rPr lang="zh-CN" altLang="en-US" dirty="0"/>
                  <a:t>显然</a:t>
                </a:r>
                <a:r>
                  <a:rPr lang="en-US" altLang="zh-CN" dirty="0"/>
                  <a:t>, </a:t>
                </a:r>
                <a:r>
                  <a:rPr lang="en-US" altLang="zh-CN" dirty="0">
                    <a:latin typeface="Times New Roman" panose="02020603050405020304" pitchFamily="18" charset="0"/>
                    <a:cs typeface="Times New Roman" panose="02020603050405020304" pitchFamily="18" charset="0"/>
                  </a:rPr>
                  <a:t>DPDA</a:t>
                </a:r>
                <a:r>
                  <a:rPr lang="en-US" altLang="zh-CN" dirty="0"/>
                  <a:t> </a:t>
                </a:r>
                <a14:m>
                  <m:oMath xmlns:m="http://schemas.openxmlformats.org/officeDocument/2006/math">
                    <m:r>
                      <a:rPr lang="en-US" altLang="zh-CN" i="1" dirty="0" smtClean="0">
                        <a:latin typeface="Cambria Math" panose="02040503050406030204" pitchFamily="18" charset="0"/>
                      </a:rPr>
                      <m:t>𝑃</m:t>
                    </m:r>
                  </m:oMath>
                </a14:m>
                <a:r>
                  <a:rPr lang="en-US" altLang="zh-CN" dirty="0"/>
                  <a:t> </a:t>
                </a:r>
                <a:r>
                  <a:rPr lang="zh-CN" altLang="en-US" dirty="0"/>
                  <a:t>可以不用栈而模拟任何 </a:t>
                </a:r>
                <a:r>
                  <a:rPr lang="en-US" altLang="zh-CN" dirty="0">
                    <a:latin typeface="Times New Roman" panose="02020603050405020304" pitchFamily="18" charset="0"/>
                    <a:cs typeface="Times New Roman" panose="02020603050405020304" pitchFamily="18" charset="0"/>
                  </a:rPr>
                  <a:t>DFA</a:t>
                </a:r>
                <a:r>
                  <a:rPr lang="zh-CN" altLang="en-US" dirty="0"/>
                  <a:t>。</a:t>
                </a:r>
                <a:endParaRPr lang="en-AU" altLang="zh-CN" dirty="0"/>
              </a:p>
              <a:p>
                <a:r>
                  <a:rPr lang="en-AU" altLang="zh-CN" dirty="0">
                    <a:latin typeface="Times New Roman" panose="02020603050405020304" pitchFamily="18" charset="0"/>
                    <a:cs typeface="Times New Roman" panose="02020603050405020304" pitchFamily="18" charset="0"/>
                  </a:rPr>
                  <a:t>DPDA</a:t>
                </a:r>
                <a:r>
                  <a:rPr lang="zh-CN" altLang="en-US" dirty="0"/>
                  <a:t>与</a:t>
                </a:r>
                <a:r>
                  <a:rPr lang="en-AU" altLang="zh-CN" dirty="0">
                    <a:latin typeface="Times New Roman" panose="02020603050405020304" pitchFamily="18" charset="0"/>
                    <a:cs typeface="Times New Roman" panose="02020603050405020304" pitchFamily="18" charset="0"/>
                  </a:rPr>
                  <a:t>CFL</a:t>
                </a:r>
                <a:r>
                  <a:rPr lang="en-AU" altLang="zh-CN" dirty="0"/>
                  <a:t>:</a:t>
                </a:r>
                <a14:m>
                  <m:oMath xmlns:m="http://schemas.openxmlformats.org/officeDocument/2006/math">
                    <m:sSub>
                      <m:sSubPr>
                        <m:ctrlPr>
                          <a:rPr lang="en-AU" altLang="zh-CN" sz="2800" i="1" dirty="0" smtClean="0">
                            <a:latin typeface="Cambria Math" panose="02040503050406030204" pitchFamily="18" charset="0"/>
                          </a:rPr>
                        </m:ctrlPr>
                      </m:sSubPr>
                      <m:e>
                        <m:r>
                          <a:rPr lang="en-AU" altLang="zh-CN" sz="2800" b="0" i="1" dirty="0" smtClean="0">
                            <a:latin typeface="Cambria Math" panose="02040503050406030204" pitchFamily="18" charset="0"/>
                          </a:rPr>
                          <m:t>𝐿</m:t>
                        </m:r>
                      </m:e>
                      <m:sub>
                        <m:r>
                          <a:rPr lang="en-AU" altLang="zh-CN" sz="2800" b="0" i="1" dirty="0" smtClean="0">
                            <a:latin typeface="Cambria Math" panose="02040503050406030204" pitchFamily="18" charset="0"/>
                          </a:rPr>
                          <m:t>𝑤</m:t>
                        </m:r>
                        <m:r>
                          <m:rPr>
                            <m:sty m:val="p"/>
                          </m:rPr>
                          <a:rPr lang="en-US" altLang="zh-CN" sz="2800" i="1" dirty="0">
                            <a:latin typeface="Cambria Math" panose="02040503050406030204" pitchFamily="18" charset="0"/>
                          </a:rPr>
                          <m:t>c</m:t>
                        </m:r>
                        <m:r>
                          <a:rPr lang="en-AU" altLang="zh-CN" sz="2800" b="0" i="1" dirty="0" smtClean="0">
                            <a:latin typeface="Cambria Math" panose="02040503050406030204" pitchFamily="18" charset="0"/>
                          </a:rPr>
                          <m:t>𝑤𝑟</m:t>
                        </m:r>
                      </m:sub>
                    </m:sSub>
                  </m:oMath>
                </a14:m>
                <a:r>
                  <a:rPr lang="zh-CN" altLang="en-US" sz="2800" dirty="0">
                    <a:latin typeface="楷体" panose="02010609060101010101" pitchFamily="49" charset="-122"/>
                    <a:ea typeface="楷体" panose="02010609060101010101" pitchFamily="49" charset="-122"/>
                  </a:rPr>
                  <a:t>显然是</a:t>
                </a:r>
                <a:r>
                  <a:rPr lang="en-US" altLang="zh-CN" sz="2800" dirty="0">
                    <a:latin typeface="Times New Roman" panose="02020603050405020304" pitchFamily="18" charset="0"/>
                    <a:cs typeface="Times New Roman" panose="02020603050405020304" pitchFamily="18" charset="0"/>
                  </a:rPr>
                  <a:t>CFL</a:t>
                </a:r>
                <a:r>
                  <a:rPr lang="en-US" altLang="zh-CN" sz="2800" dirty="0">
                    <a:latin typeface="楷体" panose="02010609060101010101" pitchFamily="49" charset="-122"/>
                    <a:ea typeface="楷体" panose="02010609060101010101" pitchFamily="49" charset="-122"/>
                  </a:rPr>
                  <a:t>, </a:t>
                </a:r>
                <a:r>
                  <a:rPr lang="zh-CN" altLang="en-US" dirty="0"/>
                  <a:t>而不是正则语言，</a:t>
                </a:r>
                <a:r>
                  <a:rPr lang="zh-CN" altLang="en-US" sz="2800" dirty="0">
                    <a:latin typeface="楷体" panose="02010609060101010101" pitchFamily="49" charset="-122"/>
                    <a:ea typeface="楷体" panose="02010609060101010101" pitchFamily="49" charset="-122"/>
                  </a:rPr>
                  <a:t>所以</a:t>
                </a:r>
                <a14:m>
                  <m:oMath xmlns:m="http://schemas.openxmlformats.org/officeDocument/2006/math">
                    <m:r>
                      <a:rPr lang="en-US" altLang="zh-CN" b="1" dirty="0">
                        <a:latin typeface="Cambria Math" panose="02040503050406030204" pitchFamily="18" charset="0"/>
                      </a:rPr>
                      <m:t>𝐋</m:t>
                    </m:r>
                    <m:r>
                      <a:rPr lang="en-US" altLang="zh-CN" i="1" dirty="0">
                        <a:latin typeface="Cambria Math" panose="02040503050406030204" pitchFamily="18" charset="0"/>
                      </a:rPr>
                      <m:t>(</m:t>
                    </m:r>
                    <m:r>
                      <a:rPr lang="en-US" altLang="zh-CN" i="1" dirty="0">
                        <a:latin typeface="Cambria Math" panose="02040503050406030204" pitchFamily="18" charset="0"/>
                      </a:rPr>
                      <m:t>𝑃</m:t>
                    </m:r>
                    <m:r>
                      <a:rPr lang="en-US" altLang="zh-CN" i="1" dirty="0">
                        <a:latin typeface="Cambria Math" panose="02040503050406030204" pitchFamily="18" charset="0"/>
                      </a:rPr>
                      <m:t>)</m:t>
                    </m:r>
                  </m:oMath>
                </a14:m>
                <a:r>
                  <a:rPr lang="zh-CN" altLang="en-US" sz="2800" dirty="0">
                    <a:latin typeface="楷体" panose="02010609060101010101" pitchFamily="49" charset="-122"/>
                    <a:ea typeface="楷体" panose="02010609060101010101" pitchFamily="49" charset="-122"/>
                  </a:rPr>
                  <a:t>语言类真包含正则语言。</a:t>
                </a:r>
              </a:p>
              <a:p>
                <a:endParaRPr lang="en-AU"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299259"/>
                <a:ext cx="8229600" cy="4525963"/>
              </a:xfrm>
              <a:blipFill rotWithShape="1">
                <a:blip r:embed="rId3"/>
                <a:stretch>
                  <a:fillRect t="-1"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96</a:t>
            </a:fld>
            <a:endParaRPr lang="en-AU"/>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正则语言与</a:t>
            </a:r>
            <a:r>
              <a:rPr lang="en-AU" altLang="zh-CN" dirty="0">
                <a:latin typeface="Times New Roman" panose="02020603050405020304" pitchFamily="18" charset="0"/>
                <a:cs typeface="Times New Roman" panose="02020603050405020304" pitchFamily="18" charset="0"/>
              </a:rPr>
              <a:t>PDA</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87684"/>
                <a:ext cx="8229600" cy="4525963"/>
              </a:xfrm>
            </p:spPr>
            <p:txBody>
              <a:bodyPr/>
              <a:lstStyle/>
              <a:p>
                <a:r>
                  <a:rPr lang="zh-CN" altLang="en-US" dirty="0"/>
                  <a:t>定义</a:t>
                </a:r>
                <a:r>
                  <a:rPr lang="en-AU" altLang="zh-CN" dirty="0"/>
                  <a:t>:</a:t>
                </a:r>
                <a:r>
                  <a:rPr lang="zh-CN" altLang="en-US" dirty="0"/>
                  <a:t>如果语言</a:t>
                </a:r>
                <a14:m>
                  <m:oMath xmlns:m="http://schemas.openxmlformats.org/officeDocument/2006/math">
                    <m:r>
                      <a:rPr lang="en-US" altLang="zh-CN" i="1" dirty="0" smtClean="0">
                        <a:latin typeface="Cambria Math" panose="02040503050406030204" pitchFamily="18" charset="0"/>
                      </a:rPr>
                      <m:t>𝐿</m:t>
                    </m:r>
                  </m:oMath>
                </a14:m>
                <a:r>
                  <a:rPr lang="zh-CN" altLang="en-US" dirty="0"/>
                  <a:t>中不存在字符串</a:t>
                </a:r>
                <a14:m>
                  <m:oMath xmlns:m="http://schemas.openxmlformats.org/officeDocument/2006/math">
                    <m:r>
                      <a:rPr lang="en-US" altLang="zh-CN" i="1" dirty="0" smtClean="0">
                        <a:latin typeface="Cambria Math" panose="02040503050406030204" pitchFamily="18" charset="0"/>
                      </a:rPr>
                      <m:t>𝑥</m:t>
                    </m:r>
                  </m:oMath>
                </a14:m>
                <a:r>
                  <a:rPr lang="zh-CN" altLang="en-US" dirty="0"/>
                  <a:t>和</a:t>
                </a:r>
                <a14:m>
                  <m:oMath xmlns:m="http://schemas.openxmlformats.org/officeDocument/2006/math">
                    <m:r>
                      <a:rPr lang="en-US" altLang="zh-CN" i="1" dirty="0" smtClean="0">
                        <a:latin typeface="Cambria Math" panose="02040503050406030204" pitchFamily="18" charset="0"/>
                      </a:rPr>
                      <m:t>𝑦</m:t>
                    </m:r>
                  </m:oMath>
                </a14:m>
                <a:r>
                  <a:rPr lang="en-US" altLang="zh-CN" dirty="0"/>
                  <a:t>, </a:t>
                </a:r>
                <a:r>
                  <a:rPr lang="zh-CN" altLang="en-US" dirty="0"/>
                  <a:t>使</a:t>
                </a:r>
                <a14:m>
                  <m:oMath xmlns:m="http://schemas.openxmlformats.org/officeDocument/2006/math">
                    <m:r>
                      <a:rPr lang="en-US" altLang="zh-CN" i="1" dirty="0" smtClean="0">
                        <a:latin typeface="Cambria Math" panose="02040503050406030204" pitchFamily="18" charset="0"/>
                      </a:rPr>
                      <m:t>𝑥</m:t>
                    </m:r>
                  </m:oMath>
                </a14:m>
                <a:r>
                  <a:rPr lang="zh-CN" altLang="en-US" dirty="0"/>
                  <a:t>是 </a:t>
                </a:r>
                <a14:m>
                  <m:oMath xmlns:m="http://schemas.openxmlformats.org/officeDocument/2006/math">
                    <m:r>
                      <a:rPr lang="en-US" altLang="zh-CN" i="1" dirty="0" smtClean="0">
                        <a:latin typeface="Cambria Math" panose="02040503050406030204" pitchFamily="18" charset="0"/>
                      </a:rPr>
                      <m:t>𝑦</m:t>
                    </m:r>
                    <m:r>
                      <a:rPr lang="en-US" altLang="zh-CN" i="1" dirty="0" smtClean="0">
                        <a:latin typeface="Cambria Math" panose="02040503050406030204" pitchFamily="18" charset="0"/>
                      </a:rPr>
                      <m:t> </m:t>
                    </m:r>
                  </m:oMath>
                </a14:m>
                <a:r>
                  <a:rPr lang="zh-CN" altLang="en-US" dirty="0"/>
                  <a:t>的前缀</a:t>
                </a:r>
                <a:r>
                  <a:rPr lang="en-US" altLang="zh-CN" dirty="0"/>
                  <a:t>, </a:t>
                </a:r>
                <a:r>
                  <a:rPr lang="zh-CN" altLang="en-US" dirty="0"/>
                  <a:t>称语言</a:t>
                </a:r>
                <a14:m>
                  <m:oMath xmlns:m="http://schemas.openxmlformats.org/officeDocument/2006/math">
                    <m:r>
                      <a:rPr lang="en-US" altLang="zh-CN" i="1" dirty="0" smtClean="0">
                        <a:latin typeface="Cambria Math" panose="02040503050406030204" pitchFamily="18" charset="0"/>
                      </a:rPr>
                      <m:t>𝐿</m:t>
                    </m:r>
                  </m:oMath>
                </a14:m>
                <a:r>
                  <a:rPr lang="zh-CN" altLang="en-US" dirty="0"/>
                  <a:t>满足前缀性质。</a:t>
                </a:r>
                <a:endParaRPr lang="en-AU" altLang="zh-CN" dirty="0"/>
              </a:p>
              <a:p>
                <a:r>
                  <a:rPr lang="zh-CN" altLang="en-US" dirty="0"/>
                  <a:t>定理</a:t>
                </a:r>
                <a:r>
                  <a:rPr lang="en-AU" altLang="zh-CN" dirty="0"/>
                  <a:t>:</a:t>
                </a:r>
                <a:r>
                  <a:rPr lang="en-US" altLang="zh-CN" dirty="0">
                    <a:latin typeface="Times New Roman" panose="02020603050405020304" pitchFamily="18" charset="0"/>
                    <a:cs typeface="Times New Roman" panose="02020603050405020304" pitchFamily="18" charset="0"/>
                  </a:rPr>
                  <a:t>DPDA</a:t>
                </a:r>
                <a:r>
                  <a:rPr lang="en-US" altLang="zh-CN" dirty="0"/>
                  <a:t> </a:t>
                </a:r>
                <a14:m>
                  <m:oMath xmlns:m="http://schemas.openxmlformats.org/officeDocument/2006/math">
                    <m:r>
                      <a:rPr lang="en-US" altLang="zh-CN" i="1" dirty="0" smtClean="0">
                        <a:latin typeface="Cambria Math" panose="02040503050406030204" pitchFamily="18" charset="0"/>
                      </a:rPr>
                      <m:t>𝑃</m:t>
                    </m:r>
                  </m:oMath>
                </a14:m>
                <a:r>
                  <a:rPr lang="en-US" altLang="zh-CN" dirty="0"/>
                  <a:t> </a:t>
                </a:r>
                <a:r>
                  <a:rPr lang="zh-CN" altLang="en-US" dirty="0"/>
                  <a:t>且 </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 </m:t>
                    </m:r>
                    <m:r>
                      <a:rPr lang="en-US" altLang="zh-CN" b="1" i="0" dirty="0" smtClean="0">
                        <a:latin typeface="Cambria Math" panose="02040503050406030204" pitchFamily="18" charset="0"/>
                      </a:rPr>
                      <m:t>𝐍</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 </m:t>
                    </m:r>
                  </m:oMath>
                </a14:m>
                <a:r>
                  <a:rPr lang="zh-CN" altLang="en-US" dirty="0"/>
                  <a:t>当且仅当</a:t>
                </a:r>
                <a14:m>
                  <m:oMath xmlns:m="http://schemas.openxmlformats.org/officeDocument/2006/math">
                    <m:r>
                      <a:rPr lang="zh-CN" altLang="en-US"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m:t>
                    </m:r>
                  </m:oMath>
                </a14:m>
                <a:r>
                  <a:rPr lang="zh-CN" altLang="en-US" dirty="0"/>
                  <a:t>有前缀性质</a:t>
                </a:r>
                <a:r>
                  <a:rPr lang="en-US" altLang="zh-CN" dirty="0"/>
                  <a:t>, </a:t>
                </a:r>
                <a:r>
                  <a:rPr lang="zh-CN" altLang="en-US" dirty="0"/>
                  <a:t>且存在</a:t>
                </a:r>
                <a:r>
                  <a:rPr lang="en-US" altLang="zh-CN" dirty="0">
                    <a:latin typeface="Times New Roman" panose="02020603050405020304" pitchFamily="18" charset="0"/>
                    <a:cs typeface="Times New Roman" panose="02020603050405020304" pitchFamily="18" charset="0"/>
                  </a:rPr>
                  <a:t>DPDA</a:t>
                </a:r>
                <a:r>
                  <a:rPr lang="en-US" altLang="zh-CN" dirty="0"/>
                  <a:t> </a:t>
                </a:r>
                <a14:m>
                  <m:oMath xmlns:m="http://schemas.openxmlformats.org/officeDocument/2006/math">
                    <m:sSup>
                      <m:sSupPr>
                        <m:ctrlPr>
                          <a:rPr lang="en-AU" altLang="zh-CN" b="0" i="1" smtClean="0">
                            <a:latin typeface="Cambria Math" panose="02040503050406030204" pitchFamily="18" charset="0"/>
                          </a:rPr>
                        </m:ctrlPr>
                      </m:sSupPr>
                      <m:e>
                        <m:r>
                          <a:rPr lang="en-AU" altLang="zh-CN" b="0" i="1" smtClean="0">
                            <a:latin typeface="Cambria Math" panose="02040503050406030204" pitchFamily="18" charset="0"/>
                          </a:rPr>
                          <m:t>𝑃</m:t>
                        </m:r>
                      </m:e>
                      <m:sup>
                        <m:r>
                          <a:rPr lang="en-AU" altLang="zh-CN" b="0" i="1" smtClean="0">
                            <a:latin typeface="Cambria Math" panose="02040503050406030204" pitchFamily="18" charset="0"/>
                          </a:rPr>
                          <m:t>′</m:t>
                        </m:r>
                      </m:sup>
                    </m:sSup>
                  </m:oMath>
                </a14:m>
                <a:r>
                  <a:rPr lang="zh-CN" altLang="en-US" dirty="0"/>
                  <a:t>使</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m:t>
                    </m:r>
                    <m:r>
                      <a:rPr lang="en-US" altLang="zh-CN" b="1" i="0" dirty="0" smtClean="0">
                        <a:latin typeface="Cambria Math" panose="02040503050406030204" pitchFamily="18" charset="0"/>
                      </a:rPr>
                      <m:t> </m:t>
                    </m:r>
                    <m:r>
                      <a:rPr lang="en-US" altLang="zh-CN" b="1" i="0" dirty="0" smtClean="0">
                        <a:latin typeface="Cambria Math" panose="02040503050406030204" pitchFamily="18" charset="0"/>
                      </a:rPr>
                      <m:t>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zh-CN" altLang="en-US" i="1" dirty="0">
                        <a:latin typeface="Cambria Math" panose="02040503050406030204" pitchFamily="18" charset="0"/>
                      </a:rPr>
                      <m:t>。</m:t>
                    </m:r>
                  </m:oMath>
                </a14:m>
                <a:endParaRPr lang="en-US" altLang="zh-CN" dirty="0"/>
              </a:p>
              <a:p>
                <a:pPr lvl="1"/>
                <a:r>
                  <a:rPr lang="en-US" altLang="zh-CN" dirty="0">
                    <a:latin typeface="Times New Roman" panose="02020603050405020304" pitchFamily="18" charset="0"/>
                    <a:cs typeface="Times New Roman" panose="02020603050405020304" pitchFamily="18" charset="0"/>
                  </a:rPr>
                  <a:t> DPDA </a:t>
                </a:r>
                <a14:m>
                  <m:oMath xmlns:m="http://schemas.openxmlformats.org/officeDocument/2006/math">
                    <m:r>
                      <a:rPr lang="en-US" altLang="zh-CN" i="1" dirty="0" smtClean="0">
                        <a:latin typeface="Cambria Math" panose="02040503050406030204" pitchFamily="18" charset="0"/>
                      </a:rPr>
                      <m:t>𝑃</m:t>
                    </m:r>
                  </m:oMath>
                </a14:m>
                <a:r>
                  <a:rPr lang="zh-CN" altLang="en-US" dirty="0"/>
                  <a:t>的</a:t>
                </a:r>
                <a14:m>
                  <m:oMath xmlns:m="http://schemas.openxmlformats.org/officeDocument/2006/math">
                    <m:r>
                      <a:rPr lang="en-US" altLang="zh-CN" b="1" i="0" dirty="0" smtClean="0">
                        <a:latin typeface="Cambria Math" panose="02040503050406030204" pitchFamily="18" charset="0"/>
                      </a:rPr>
                      <m:t>𝐍</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oMath>
                </a14:m>
                <a:r>
                  <a:rPr lang="en-US" altLang="zh-CN" dirty="0"/>
                  <a:t> </a:t>
                </a:r>
                <a:r>
                  <a:rPr lang="zh-CN" altLang="en-US" dirty="0"/>
                  <a:t>更有限</a:t>
                </a:r>
                <a:r>
                  <a:rPr lang="en-US" altLang="zh-CN" dirty="0"/>
                  <a:t>, </a:t>
                </a:r>
                <a:r>
                  <a:rPr lang="zh-CN" altLang="en-US" dirty="0"/>
                  <a:t>即使正则语言</a:t>
                </a:r>
                <a14:m>
                  <m:oMath xmlns:m="http://schemas.openxmlformats.org/officeDocument/2006/math">
                    <m:sSup>
                      <m:sSupPr>
                        <m:ctrlPr>
                          <a:rPr lang="en-US" altLang="zh-CN"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m:t>
                        </m:r>
                      </m:sup>
                    </m:sSup>
                  </m:oMath>
                </a14:m>
                <a:r>
                  <a:rPr lang="zh-CN" altLang="en-US" dirty="0"/>
                  <a:t>也无法接受（因为其任何两个串中都有一个是前缀）。但以空栈方式接受的语言，却可以被另一个</a:t>
                </a:r>
                <a:r>
                  <a:rPr lang="en-US" altLang="zh-CN" dirty="0">
                    <a:latin typeface="Times New Roman" panose="02020603050405020304" pitchFamily="18" charset="0"/>
                    <a:cs typeface="Times New Roman" panose="02020603050405020304" pitchFamily="18" charset="0"/>
                  </a:rPr>
                  <a:t>DPDA</a:t>
                </a:r>
                <a:r>
                  <a:rPr lang="zh-CN" altLang="en-US" dirty="0"/>
                  <a:t>以终态方式接受。</a:t>
                </a:r>
                <a:endParaRPr lang="en-US" altLang="zh-CN" dirty="0"/>
              </a:p>
              <a:p>
                <a:pPr marL="457200" lvl="1" indent="0">
                  <a:buNone/>
                </a:pPr>
                <a:endParaRPr lang="en-US" altLang="zh-CN" dirty="0"/>
              </a:p>
              <a:p>
                <a:pPr marL="457200" lvl="1" indent="0">
                  <a:buNone/>
                </a:pPr>
                <a:r>
                  <a:rPr lang="zh-CN" altLang="en-US" sz="2000" dirty="0"/>
                  <a:t>注：</a:t>
                </a:r>
                <a:r>
                  <a:rPr lang="en-US" altLang="zh-CN" sz="2000" b="1" dirty="0"/>
                  <a:t> </a:t>
                </a:r>
                <a14:m>
                  <m:oMath xmlns:m="http://schemas.openxmlformats.org/officeDocument/2006/math">
                    <m:r>
                      <a:rPr lang="en-US" altLang="zh-CN" sz="2000" b="0" i="1" dirty="0" smtClean="0">
                        <a:latin typeface="Cambria Math" panose="02040503050406030204" pitchFamily="18" charset="0"/>
                      </a:rPr>
                      <m:t>𝐿</m:t>
                    </m:r>
                    <m:r>
                      <a:rPr lang="en-US" altLang="zh-CN" sz="2000" b="1" i="1" dirty="0" smtClean="0">
                        <a:latin typeface="Cambria Math" panose="02040503050406030204" pitchFamily="18" charset="0"/>
                      </a:rPr>
                      <m:t>=</m:t>
                    </m:r>
                    <m:r>
                      <a:rPr lang="en-US" altLang="zh-CN" sz="2000" b="1" dirty="0">
                        <a:latin typeface="Cambria Math" panose="02040503050406030204" pitchFamily="18" charset="0"/>
                      </a:rPr>
                      <m:t>𝐍</m:t>
                    </m:r>
                    <m:r>
                      <a:rPr lang="en-US" altLang="zh-CN" sz="2000" i="1" dirty="0">
                        <a:latin typeface="Cambria Math" panose="02040503050406030204" pitchFamily="18" charset="0"/>
                      </a:rPr>
                      <m:t>(</m:t>
                    </m:r>
                    <m:r>
                      <a:rPr lang="en-US" altLang="zh-CN" sz="2000" i="1" dirty="0">
                        <a:latin typeface="Cambria Math" panose="02040503050406030204" pitchFamily="18" charset="0"/>
                      </a:rPr>
                      <m:t>𝑃</m:t>
                    </m:r>
                    <m:r>
                      <a:rPr lang="en-US" altLang="zh-CN" sz="2000" i="1" dirty="0">
                        <a:latin typeface="Cambria Math" panose="02040503050406030204" pitchFamily="18" charset="0"/>
                      </a:rPr>
                      <m:t>)</m:t>
                    </m:r>
                  </m:oMath>
                </a14:m>
                <a:r>
                  <a:rPr lang="en-US" altLang="zh-CN" sz="2000" dirty="0"/>
                  <a:t> </a:t>
                </a:r>
                <a:r>
                  <a:rPr lang="zh-CN" altLang="en-US" sz="2000" dirty="0"/>
                  <a:t>以空栈方式接受</a:t>
                </a:r>
                <a:r>
                  <a:rPr lang="en-US" altLang="zh-CN" sz="2000" i="1" dirty="0">
                    <a:latin typeface="Times New Roman" panose="02020603050405020304" pitchFamily="18" charset="0"/>
                    <a:cs typeface="Times New Roman" panose="02020603050405020304" pitchFamily="18" charset="0"/>
                  </a:rPr>
                  <a:t>L</a:t>
                </a:r>
                <a:endParaRPr lang="en-AU" sz="2000" i="1"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287684"/>
                <a:ext cx="8229600" cy="4525963"/>
              </a:xfrm>
              <a:blipFill rotWithShape="1">
                <a:blip r:embed="rId3"/>
                <a:stretch>
                  <a:fillRect t="-12" b="5"/>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97</a:t>
            </a:fld>
            <a:endParaRPr lang="en-AU"/>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DPDA</a:t>
            </a:r>
            <a:r>
              <a:rPr lang="zh-CN" altLang="en-US" dirty="0"/>
              <a:t>与歧义文法</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定理</a:t>
                </a:r>
                <a:r>
                  <a:rPr lang="en-AU" altLang="zh-CN" dirty="0"/>
                  <a:t>:</a:t>
                </a:r>
                <a:r>
                  <a:rPr lang="en-US" altLang="zh-CN" dirty="0">
                    <a:latin typeface="Times New Roman" panose="02020603050405020304" pitchFamily="18" charset="0"/>
                    <a:cs typeface="Times New Roman" panose="02020603050405020304" pitchFamily="18" charset="0"/>
                  </a:rPr>
                  <a:t>DPDA</a:t>
                </a:r>
                <a:r>
                  <a:rPr lang="en-US" altLang="zh-CN" dirty="0"/>
                  <a:t> </a:t>
                </a:r>
                <a14:m>
                  <m:oMath xmlns:m="http://schemas.openxmlformats.org/officeDocument/2006/math">
                    <m:r>
                      <a:rPr lang="en-US" altLang="zh-CN" i="1" dirty="0" smtClean="0">
                        <a:latin typeface="Cambria Math" panose="02040503050406030204" pitchFamily="18" charset="0"/>
                      </a:rPr>
                      <m:t>𝑃</m:t>
                    </m:r>
                  </m:oMath>
                </a14:m>
                <a:r>
                  <a:rPr lang="en-US" altLang="zh-CN" dirty="0"/>
                  <a:t>, </a:t>
                </a:r>
                <a:r>
                  <a:rPr lang="zh-CN" altLang="en-US" dirty="0"/>
                  <a:t>语言</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 </m:t>
                    </m:r>
                    <m:r>
                      <a:rPr lang="en-US" altLang="zh-CN" b="1" i="0" dirty="0" smtClean="0">
                        <a:latin typeface="Cambria Math" panose="02040503050406030204" pitchFamily="18" charset="0"/>
                      </a:rPr>
                      <m:t>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oMath>
                </a14:m>
                <a:r>
                  <a:rPr lang="en-US" altLang="zh-CN" dirty="0"/>
                  <a:t>, </a:t>
                </a:r>
                <a:r>
                  <a:rPr lang="zh-CN" altLang="en-US" dirty="0"/>
                  <a:t>那么</a:t>
                </a:r>
                <a14:m>
                  <m:oMath xmlns:m="http://schemas.openxmlformats.org/officeDocument/2006/math">
                    <m:r>
                      <a:rPr lang="en-US" altLang="zh-CN" i="1" dirty="0" smtClean="0">
                        <a:latin typeface="Cambria Math" panose="02040503050406030204" pitchFamily="18" charset="0"/>
                      </a:rPr>
                      <m:t>𝐿</m:t>
                    </m:r>
                  </m:oMath>
                </a14:m>
                <a:r>
                  <a:rPr lang="zh-CN" altLang="en-US" dirty="0"/>
                  <a:t>有无歧义的</a:t>
                </a:r>
                <a:r>
                  <a:rPr lang="en-US" altLang="zh-CN" dirty="0">
                    <a:latin typeface="Times New Roman" panose="02020603050405020304" pitchFamily="18" charset="0"/>
                    <a:cs typeface="Times New Roman" panose="02020603050405020304" pitchFamily="18" charset="0"/>
                  </a:rPr>
                  <a:t>CFG</a:t>
                </a:r>
                <a:r>
                  <a:rPr lang="zh-CN" altLang="en-US" dirty="0">
                    <a:latin typeface="Times New Roman" panose="02020603050405020304" pitchFamily="18" charset="0"/>
                    <a:cs typeface="Times New Roman" panose="02020603050405020304" pitchFamily="18" charset="0"/>
                  </a:rPr>
                  <a:t>。</a:t>
                </a:r>
                <a:endParaRPr lang="en-AU"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定理</a:t>
                </a:r>
                <a:r>
                  <a:rPr lang="en-AU" altLang="zh-CN" dirty="0">
                    <a:latin typeface="Times New Roman" panose="02020603050405020304" pitchFamily="18" charset="0"/>
                    <a:cs typeface="Times New Roman" panose="02020603050405020304" pitchFamily="18" charset="0"/>
                  </a:rPr>
                  <a:t>: DPDA </a:t>
                </a:r>
                <a14:m>
                  <m:oMath xmlns:m="http://schemas.openxmlformats.org/officeDocument/2006/math">
                    <m:r>
                      <a:rPr lang="en-AU" altLang="zh-CN" i="1" dirty="0" smtClean="0">
                        <a:latin typeface="Cambria Math" panose="02040503050406030204" pitchFamily="18" charset="0"/>
                        <a:cs typeface="Times New Roman" panose="02020603050405020304" pitchFamily="18" charset="0"/>
                      </a:rPr>
                      <m:t>𝑃</m:t>
                    </m:r>
                  </m:oMath>
                </a14:m>
                <a:r>
                  <a:rPr lang="en-AU"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语言 </a:t>
                </a:r>
                <a14:m>
                  <m:oMath xmlns:m="http://schemas.openxmlformats.org/officeDocument/2006/math">
                    <m:r>
                      <a:rPr lang="en-AU" altLang="zh-CN" i="1" dirty="0" smtClean="0">
                        <a:latin typeface="Cambria Math" panose="02040503050406030204" pitchFamily="18" charset="0"/>
                        <a:cs typeface="Times New Roman" panose="02020603050405020304" pitchFamily="18" charset="0"/>
                      </a:rPr>
                      <m:t>𝐿</m:t>
                    </m:r>
                    <m:r>
                      <a:rPr lang="en-AU" altLang="zh-CN" i="1" dirty="0" smtClean="0">
                        <a:latin typeface="Cambria Math" panose="02040503050406030204" pitchFamily="18" charset="0"/>
                        <a:cs typeface="Times New Roman" panose="02020603050405020304" pitchFamily="18" charset="0"/>
                      </a:rPr>
                      <m:t> = </m:t>
                    </m:r>
                    <m:r>
                      <a:rPr lang="en-AU" altLang="zh-CN" b="1" i="0" dirty="0" smtClean="0">
                        <a:latin typeface="Cambria Math" panose="02040503050406030204" pitchFamily="18" charset="0"/>
                        <a:cs typeface="Times New Roman" panose="02020603050405020304" pitchFamily="18" charset="0"/>
                      </a:rPr>
                      <m:t>𝐍</m:t>
                    </m:r>
                    <m:r>
                      <a:rPr lang="en-AU" altLang="zh-CN" i="1" dirty="0" smtClean="0">
                        <a:latin typeface="Cambria Math" panose="02040503050406030204" pitchFamily="18" charset="0"/>
                        <a:cs typeface="Times New Roman" panose="02020603050405020304" pitchFamily="18" charset="0"/>
                      </a:rPr>
                      <m:t>(</m:t>
                    </m:r>
                    <m:r>
                      <a:rPr lang="en-AU" altLang="zh-CN" i="1" dirty="0" smtClean="0">
                        <a:latin typeface="Cambria Math" panose="02040503050406030204" pitchFamily="18" charset="0"/>
                        <a:cs typeface="Times New Roman" panose="02020603050405020304" pitchFamily="18" charset="0"/>
                      </a:rPr>
                      <m:t>𝑃</m:t>
                    </m:r>
                    <m:r>
                      <a:rPr lang="en-AU" altLang="zh-CN" i="1" dirty="0" smtClean="0">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那么 </a:t>
                </a:r>
                <a14:m>
                  <m:oMath xmlns:m="http://schemas.openxmlformats.org/officeDocument/2006/math">
                    <m:r>
                      <a:rPr lang="en-AU" altLang="zh-CN" i="1" dirty="0" smtClean="0">
                        <a:latin typeface="Cambria Math" panose="02040503050406030204" pitchFamily="18" charset="0"/>
                        <a:cs typeface="Times New Roman" panose="02020603050405020304" pitchFamily="18" charset="0"/>
                      </a:rPr>
                      <m:t>𝐿</m:t>
                    </m:r>
                  </m:oMath>
                </a14:m>
                <a:r>
                  <a:rPr lang="en-AU"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有无歧义的</a:t>
                </a:r>
                <a:r>
                  <a:rPr lang="en-AU" altLang="zh-CN" dirty="0">
                    <a:latin typeface="Times New Roman" panose="02020603050405020304" pitchFamily="18" charset="0"/>
                    <a:cs typeface="Times New Roman" panose="02020603050405020304" pitchFamily="18" charset="0"/>
                  </a:rPr>
                  <a:t>CFG</a:t>
                </a:r>
                <a:r>
                  <a:rPr lang="zh-CN" altLang="en-US" dirty="0">
                    <a:latin typeface="Times New Roman" panose="02020603050405020304" pitchFamily="18" charset="0"/>
                    <a:cs typeface="Times New Roman" panose="02020603050405020304" pitchFamily="18" charset="0"/>
                  </a:rPr>
                  <a:t>。</a:t>
                </a:r>
                <a:endParaRPr lang="en-AU" altLang="zh-CN"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98</a:t>
            </a:fld>
            <a:endParaRPr lang="en-AU"/>
          </a:p>
        </p:txBody>
      </p:sp>
      <mc:AlternateContent xmlns:mc="http://schemas.openxmlformats.org/markup-compatibility/2006" xmlns:a14="http://schemas.microsoft.com/office/drawing/2010/main">
        <mc:Choice Requires="a14">
          <p:sp>
            <p:nvSpPr>
              <p:cNvPr id="6" name="TextBox 5"/>
              <p:cNvSpPr txBox="1"/>
              <p:nvPr/>
            </p:nvSpPr>
            <p:spPr>
              <a:xfrm>
                <a:off x="219075" y="4786610"/>
                <a:ext cx="8429625" cy="830997"/>
              </a:xfrm>
              <a:prstGeom prst="rect">
                <a:avLst/>
              </a:prstGeom>
              <a:noFill/>
            </p:spPr>
            <p:txBody>
              <a:bodyPr wrap="square">
                <a:spAutoFit/>
              </a:bodyPr>
              <a:lstStyle/>
              <a:p>
                <a:pPr lvl="1"/>
                <a:r>
                  <a:rPr lang="zh-CN" altLang="en-US"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并非所有非固有歧义</a:t>
                </a:r>
                <a:r>
                  <a:rPr lang="en-AU"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CFL</a:t>
                </a:r>
                <a:r>
                  <a:rPr lang="zh-CN" altLang="en-US"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都会被</a:t>
                </a:r>
                <a:r>
                  <a:rPr lang="en-AU"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DPDA</a:t>
                </a:r>
                <a:r>
                  <a:rPr lang="zh-CN" altLang="en-US"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识别</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，如</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𝐿</m:t>
                        </m:r>
                      </m:e>
                      <m:sub>
                        <m:r>
                          <a:rPr lang="en-AU" altLang="zh-CN" sz="2400" b="0" i="1" dirty="0" smtClean="0">
                            <a:latin typeface="Cambria Math" panose="02040503050406030204" pitchFamily="18" charset="0"/>
                          </a:rPr>
                          <m:t>𝑤𝑤𝑟</m:t>
                        </m:r>
                      </m:sub>
                    </m:sSub>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有无歧义文法 </a:t>
                </a:r>
                <a14:m>
                  <m:oMath xmlns:m="http://schemas.openxmlformats.org/officeDocument/2006/math">
                    <m:r>
                      <a:rPr lang="en-AU" sz="2400" i="1" dirty="0" smtClean="0">
                        <a:latin typeface="Cambria Math" panose="02040503050406030204" pitchFamily="18" charset="0"/>
                        <a:cs typeface="Times New Roman" panose="02020603050405020304" pitchFamily="18" charset="0"/>
                      </a:rPr>
                      <m:t>𝑆</m:t>
                    </m:r>
                    <m:r>
                      <a:rPr lang="en-AU" sz="2400" i="1" dirty="0" smtClean="0">
                        <a:latin typeface="Cambria Math" panose="02040503050406030204" pitchFamily="18" charset="0"/>
                        <a:cs typeface="Times New Roman" panose="02020603050405020304" pitchFamily="18" charset="0"/>
                      </a:rPr>
                      <m:t> → 0</m:t>
                    </m:r>
                    <m:r>
                      <a:rPr lang="en-AU" sz="2400" i="1" dirty="0" smtClean="0">
                        <a:latin typeface="Cambria Math" panose="02040503050406030204" pitchFamily="18" charset="0"/>
                        <a:cs typeface="Times New Roman" panose="02020603050405020304" pitchFamily="18" charset="0"/>
                      </a:rPr>
                      <m:t>𝑆</m:t>
                    </m:r>
                    <m:r>
                      <a:rPr lang="en-AU" sz="2400" i="1" dirty="0" smtClean="0">
                        <a:latin typeface="Cambria Math" panose="02040503050406030204" pitchFamily="18" charset="0"/>
                        <a:cs typeface="Times New Roman" panose="02020603050405020304" pitchFamily="18" charset="0"/>
                      </a:rPr>
                      <m:t>0 </m:t>
                    </m:r>
                    <m:d>
                      <m:dPr>
                        <m:begChr m:val="|"/>
                        <m:endChr m:val="|"/>
                        <m:ctrlPr>
                          <a:rPr lang="en-AU" sz="2400" i="1" dirty="0" smtClean="0">
                            <a:latin typeface="Cambria Math" panose="02040503050406030204" pitchFamily="18" charset="0"/>
                            <a:cs typeface="Times New Roman" panose="02020603050405020304" pitchFamily="18" charset="0"/>
                          </a:rPr>
                        </m:ctrlPr>
                      </m:dPr>
                      <m:e>
                        <m:r>
                          <a:rPr lang="en-AU" sz="2400" i="1" dirty="0" smtClean="0">
                            <a:latin typeface="Cambria Math" panose="02040503050406030204" pitchFamily="18" charset="0"/>
                            <a:cs typeface="Times New Roman" panose="02020603050405020304" pitchFamily="18" charset="0"/>
                          </a:rPr>
                          <m:t> 1</m:t>
                        </m:r>
                        <m:r>
                          <a:rPr lang="en-AU" sz="2400" i="1" dirty="0" smtClean="0">
                            <a:latin typeface="Cambria Math" panose="02040503050406030204" pitchFamily="18" charset="0"/>
                            <a:cs typeface="Times New Roman" panose="02020603050405020304" pitchFamily="18" charset="0"/>
                          </a:rPr>
                          <m:t>𝑆</m:t>
                        </m:r>
                        <m:r>
                          <a:rPr lang="en-AU" sz="2400" i="1" dirty="0" smtClean="0">
                            <a:latin typeface="Cambria Math" panose="02040503050406030204" pitchFamily="18" charset="0"/>
                            <a:cs typeface="Times New Roman" panose="02020603050405020304" pitchFamily="18" charset="0"/>
                          </a:rPr>
                          <m:t>1 </m:t>
                        </m:r>
                      </m:e>
                    </m:d>
                    <m:r>
                      <a:rPr lang="el-GR" sz="2400" i="1" dirty="0" smtClean="0">
                        <a:latin typeface="Cambria Math" panose="02040503050406030204" pitchFamily="18" charset="0"/>
                        <a:cs typeface="Times New Roman" panose="02020603050405020304" pitchFamily="18" charset="0"/>
                      </a:rPr>
                      <m:t>𝜀</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，但不能被</a:t>
                </a:r>
                <a:r>
                  <a:rPr lang="en-AU" altLang="zh-CN" sz="2400" dirty="0">
                    <a:latin typeface="Times New Roman" panose="02020603050405020304" pitchFamily="18" charset="0"/>
                    <a:ea typeface="楷体" panose="02010609060101010101" pitchFamily="49" charset="-122"/>
                    <a:cs typeface="Times New Roman" panose="02020603050405020304" pitchFamily="18" charset="0"/>
                  </a:rPr>
                  <a:t>DPDA</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所识别。</a:t>
                </a:r>
                <a:endParaRPr lang="en-AU" sz="2400"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19075" y="4786610"/>
                <a:ext cx="8429625" cy="830997"/>
              </a:xfrm>
              <a:prstGeom prst="rect">
                <a:avLst/>
              </a:prstGeom>
              <a:blipFill rotWithShape="1">
                <a:blip r:embed="rId4"/>
                <a:stretch>
                  <a:fillRect t="-74" b="48"/>
                </a:stretch>
              </a:blipFill>
            </p:spPr>
            <p:txBody>
              <a:bodyPr/>
              <a:lstStyle/>
              <a:p>
                <a:r>
                  <a:rPr lang="zh-CN" altLang="en-US">
                    <a:noFill/>
                  </a:rPr>
                  <a:t> </a:t>
                </a:r>
              </a:p>
            </p:txBody>
          </p:sp>
        </mc:Fallback>
      </mc:AlternateContent>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语言类之间的关系</a:t>
            </a:r>
            <a:endParaRPr lang="en-AU" dirty="0"/>
          </a:p>
        </p:txBody>
      </p:sp>
      <p:pic>
        <p:nvPicPr>
          <p:cNvPr id="6" name="Content Placeholder 5" descr="Diagram&#10;&#10;Description automatically generated"/>
          <p:cNvPicPr>
            <a:picLocks noGrp="1" noChangeAspect="1"/>
          </p:cNvPicPr>
          <p:nvPr>
            <p:ph idx="1"/>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91640" y="1628115"/>
            <a:ext cx="5928360" cy="2941320"/>
          </a:xfrm>
        </p:spPr>
      </p:pic>
      <p:sp>
        <p:nvSpPr>
          <p:cNvPr id="4" name="Slide Number Placeholder 3"/>
          <p:cNvSpPr>
            <a:spLocks noGrp="1"/>
          </p:cNvSpPr>
          <p:nvPr>
            <p:ph type="sldNum" sz="quarter" idx="12"/>
          </p:nvPr>
        </p:nvSpPr>
        <p:spPr/>
        <p:txBody>
          <a:bodyPr/>
          <a:lstStyle/>
          <a:p>
            <a:fld id="{0662E1F6-9BD6-474C-A82E-E07C3DB67AAE}" type="slidenum">
              <a:rPr lang="en-AU" smtClean="0"/>
              <a:t>99</a:t>
            </a:fld>
            <a:endParaRPr lang="en-AU"/>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小结</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80617" y="1333982"/>
                <a:ext cx="7239965" cy="4525963"/>
              </a:xfrm>
            </p:spPr>
            <p:txBody>
              <a:bodyPr/>
              <a:lstStyle/>
              <a:p>
                <a:r>
                  <a:rPr lang="en-AU" dirty="0">
                    <a:latin typeface="Times New Roman" panose="02020603050405020304" pitchFamily="18" charset="0"/>
                    <a:cs typeface="Times New Roman" panose="02020603050405020304" pitchFamily="18" charset="0"/>
                  </a:rPr>
                  <a:t>PDA</a:t>
                </a:r>
                <a:r>
                  <a:rPr lang="zh-CN" altLang="en-US" dirty="0"/>
                  <a:t>定义，</a:t>
                </a:r>
                <a:r>
                  <a:rPr lang="en-AU" dirty="0">
                    <a:latin typeface="Times New Roman" panose="02020603050405020304" pitchFamily="18" charset="0"/>
                    <a:cs typeface="Times New Roman" panose="02020603050405020304" pitchFamily="18" charset="0"/>
                  </a:rPr>
                  <a:t>PDA</a:t>
                </a:r>
                <a:r>
                  <a:rPr lang="zh-CN" altLang="en-US" dirty="0"/>
                  <a:t>两种接受方式及等价性</a:t>
                </a:r>
              </a:p>
              <a:p>
                <a:r>
                  <a:rPr lang="en-AU" dirty="0">
                    <a:latin typeface="Times New Roman" panose="02020603050405020304" pitchFamily="18" charset="0"/>
                    <a:cs typeface="Times New Roman" panose="02020603050405020304" pitchFamily="18" charset="0"/>
                  </a:rPr>
                  <a:t>PDA</a:t>
                </a:r>
                <a:r>
                  <a:rPr lang="zh-CN" altLang="en-US" dirty="0"/>
                  <a:t>与</a:t>
                </a:r>
                <a:r>
                  <a:rPr lang="en-AU" dirty="0">
                    <a:latin typeface="Times New Roman" panose="02020603050405020304" pitchFamily="18" charset="0"/>
                    <a:cs typeface="Times New Roman" panose="02020603050405020304" pitchFamily="18" charset="0"/>
                  </a:rPr>
                  <a:t>CFG</a:t>
                </a:r>
                <a:r>
                  <a:rPr lang="zh-CN" altLang="en-US" dirty="0"/>
                  <a:t>的等价性</a:t>
                </a:r>
              </a:p>
              <a:p>
                <a:pPr lvl="1"/>
                <a:r>
                  <a:rPr lang="zh-CN" altLang="en-US" dirty="0"/>
                  <a:t>从</a:t>
                </a:r>
                <a:r>
                  <a:rPr lang="en-AU" dirty="0">
                    <a:latin typeface="Times New Roman" panose="02020603050405020304" pitchFamily="18" charset="0"/>
                    <a:cs typeface="Times New Roman" panose="02020603050405020304" pitchFamily="18" charset="0"/>
                  </a:rPr>
                  <a:t>CFG</a:t>
                </a:r>
                <a:r>
                  <a:rPr lang="zh-CN" altLang="en-US" dirty="0"/>
                  <a:t>到</a:t>
                </a:r>
                <a:r>
                  <a:rPr lang="en-AU" dirty="0">
                    <a:latin typeface="Times New Roman" panose="02020603050405020304" pitchFamily="18" charset="0"/>
                    <a:cs typeface="Times New Roman" panose="02020603050405020304" pitchFamily="18" charset="0"/>
                  </a:rPr>
                  <a:t>PDA</a:t>
                </a:r>
                <a:r>
                  <a:rPr lang="en-AU" dirty="0"/>
                  <a:t> ：</a:t>
                </a:r>
                <a:r>
                  <a:rPr lang="en-AU" dirty="0">
                    <a:latin typeface="Times New Roman" panose="02020603050405020304" pitchFamily="18" charset="0"/>
                    <a:cs typeface="Times New Roman" panose="02020603050405020304" pitchFamily="18" charset="0"/>
                  </a:rPr>
                  <a:t>CFG</a:t>
                </a:r>
                <a:r>
                  <a:rPr lang="en-AU" dirty="0"/>
                  <a:t> </a:t>
                </a:r>
                <a14:m>
                  <m:oMath xmlns:m="http://schemas.openxmlformats.org/officeDocument/2006/math">
                    <m:r>
                      <a:rPr lang="en-AU" i="1" smtClean="0">
                        <a:latin typeface="Cambria Math" panose="02040503050406030204" pitchFamily="18" charset="0"/>
                        <a:ea typeface="Cambria Math" panose="02040503050406030204" pitchFamily="18" charset="0"/>
                      </a:rPr>
                      <m:t>→</m:t>
                    </m:r>
                  </m:oMath>
                </a14:m>
                <a:r>
                  <a:rPr lang="en-AU" dirty="0">
                    <a:latin typeface="Times New Roman" panose="02020603050405020304" pitchFamily="18" charset="0"/>
                    <a:cs typeface="Times New Roman" panose="02020603050405020304" pitchFamily="18" charset="0"/>
                  </a:rPr>
                  <a:t>GNF</a:t>
                </a:r>
                <a:r>
                  <a:rPr lang="en-AU" dirty="0">
                    <a:ea typeface="Cambria Math" panose="02040503050406030204" pitchFamily="18" charset="0"/>
                  </a:rPr>
                  <a:t> </a:t>
                </a:r>
                <a14:m>
                  <m:oMath xmlns:m="http://schemas.openxmlformats.org/officeDocument/2006/math">
                    <m:r>
                      <a:rPr lang="en-AU" i="1">
                        <a:latin typeface="Cambria Math" panose="02040503050406030204" pitchFamily="18" charset="0"/>
                        <a:ea typeface="Cambria Math" panose="02040503050406030204" pitchFamily="18" charset="0"/>
                      </a:rPr>
                      <m:t>→ </m:t>
                    </m:r>
                  </m:oMath>
                </a14:m>
                <a:r>
                  <a:rPr lang="en-AU" dirty="0">
                    <a:latin typeface="Times New Roman" panose="02020603050405020304" pitchFamily="18" charset="0"/>
                    <a:cs typeface="Times New Roman" panose="02020603050405020304" pitchFamily="18" charset="0"/>
                  </a:rPr>
                  <a:t>PDA</a:t>
                </a:r>
              </a:p>
              <a:p>
                <a:pPr lvl="1"/>
                <a:r>
                  <a:rPr lang="zh-CN" altLang="en-US" dirty="0"/>
                  <a:t>从</a:t>
                </a:r>
                <a:r>
                  <a:rPr lang="en-AU" dirty="0">
                    <a:latin typeface="Times New Roman" panose="02020603050405020304" pitchFamily="18" charset="0"/>
                    <a:cs typeface="Times New Roman" panose="02020603050405020304" pitchFamily="18" charset="0"/>
                  </a:rPr>
                  <a:t>PDA</a:t>
                </a:r>
                <a:r>
                  <a:rPr lang="zh-CN" altLang="en-US" dirty="0"/>
                  <a:t>到</a:t>
                </a:r>
                <a:r>
                  <a:rPr lang="en-AU" dirty="0">
                    <a:latin typeface="Times New Roman" panose="02020603050405020304" pitchFamily="18" charset="0"/>
                    <a:cs typeface="Times New Roman" panose="02020603050405020304" pitchFamily="18" charset="0"/>
                  </a:rPr>
                  <a:t>CFG</a:t>
                </a:r>
                <a:endParaRPr lang="en-AU" dirty="0"/>
              </a:p>
              <a:p>
                <a:r>
                  <a:rPr lang="en-AU" dirty="0">
                    <a:latin typeface="Times New Roman" panose="02020603050405020304" pitchFamily="18" charset="0"/>
                    <a:cs typeface="Times New Roman" panose="02020603050405020304" pitchFamily="18" charset="0"/>
                  </a:rPr>
                  <a:t>DPDA</a:t>
                </a:r>
                <a:endParaRPr lang="en-AU" dirty="0"/>
              </a:p>
              <a:p>
                <a:pPr lvl="1"/>
                <a:r>
                  <a:rPr lang="en-AU" dirty="0">
                    <a:latin typeface="Times New Roman" panose="02020603050405020304" pitchFamily="18" charset="0"/>
                    <a:cs typeface="Times New Roman" panose="02020603050405020304" pitchFamily="18" charset="0"/>
                  </a:rPr>
                  <a:t>DCFL</a:t>
                </a:r>
              </a:p>
              <a:p>
                <a:pPr lvl="1"/>
                <a:r>
                  <a:rPr lang="zh-CN" altLang="en-US" dirty="0"/>
                  <a:t>与</a:t>
                </a:r>
                <a:r>
                  <a:rPr lang="en-AU" dirty="0">
                    <a:latin typeface="Times New Roman" panose="02020603050405020304" pitchFamily="18" charset="0"/>
                    <a:cs typeface="Times New Roman" panose="02020603050405020304" pitchFamily="18" charset="0"/>
                  </a:rPr>
                  <a:t>RL、CFL</a:t>
                </a:r>
                <a:r>
                  <a:rPr lang="zh-CN" altLang="en-US" dirty="0"/>
                  <a:t>和歧义文法之间的关系</a:t>
                </a:r>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1180617" y="1333982"/>
                <a:ext cx="7239965" cy="4525963"/>
              </a:xfrm>
              <a:blipFill rotWithShape="1">
                <a:blip r:embed="rId2"/>
                <a:stretch>
                  <a:fillRect l="-2" t="-11" r="7"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100</a:t>
            </a:fld>
            <a:endParaRPr lang="en-AU"/>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499a1ce6-042e-45c3-9326-2d68ea626f1c"/>
  <p:tag name="COMMONDATA" val="eyJoZGlkIjoiYTc2ZGZiNzZiNDVlOGViOWVmM2JhOTY0NGJkNjUyYzgifQ=="/>
</p:tagLst>
</file>

<file path=ppt/tags/tag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6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p="http://schemas.openxmlformats.org/presentationml/2006/main">
  <p:tag name="RAINPROBLEM" val="ProblemBody"/>
</p:tagLst>
</file>

<file path=ppt/tags/tag120.xml><?xml version="1.0" encoding="utf-8"?>
<p:tagLst xmlns:p="http://schemas.openxmlformats.org/presentationml/2006/main">
  <p:tag name="RAINPROBLEM" val="ProblemBody"/>
</p:tagLst>
</file>

<file path=ppt/tags/tag140.xml><?xml version="1.0" encoding="utf-8"?>
<p:tagLst xmlns:p="http://schemas.openxmlformats.org/presentationml/2006/main">
  <p:tag name="RAINPROBLEM" val="ProblemItem"/>
</p:tagLst>
</file>

<file path=ppt/tags/tag160.xml><?xml version="1.0" encoding="utf-8"?>
<p:tagLst xmlns:p="http://schemas.openxmlformats.org/presentationml/2006/main">
  <p:tag name="RAINPROBLEM" val="ProblemItem"/>
</p:tagLst>
</file>

<file path=ppt/tags/tag210.xml><?xml version="1.0" encoding="utf-8"?>
<p:tagLst xmlns:p="http://schemas.openxmlformats.org/presentationml/2006/main">
  <p:tag name="RAINPROBLEM" val="ProblemBody"/>
</p:tagLst>
</file>

<file path=ppt/tags/tag300.xml><?xml version="1.0" encoding="utf-8"?>
<p:tagLst xmlns:p="http://schemas.openxmlformats.org/presentationml/2006/main">
  <p:tag name="RAINPROBLEM" val="ProblemBody"/>
</p:tagLst>
</file>

<file path=ppt/tags/tag410.xml><?xml version="1.0" encoding="utf-8"?>
<p:tagLst xmlns:p="http://schemas.openxmlformats.org/presentationml/2006/main">
  <p:tag name="RAINPROBLEM" val="ProblemBody"/>
</p:tagLst>
</file>

<file path=ppt/tags/tag510.xml><?xml version="1.0" encoding="utf-8"?>
<p:tagLst xmlns:p="http://schemas.openxmlformats.org/presentationml/2006/main">
  <p:tag name="RAINPROBLEM" val="ProblemBody"/>
</p:tagLst>
</file>

<file path=ppt/tags/tag610.xml><?xml version="1.0" encoding="utf-8"?>
<p:tagLst xmlns:p="http://schemas.openxmlformats.org/presentationml/2006/main">
  <p:tag name="RAINPROBLEM" val="ProblemBody"/>
</p:tagLst>
</file>

<file path=ppt/tags/tag710.xml><?xml version="1.0" encoding="utf-8"?>
<p:tagLst xmlns:p="http://schemas.openxmlformats.org/presentationml/2006/main">
  <p:tag name="RAINPROBLEM" val="ProblemBody"/>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TotalTime>
  <Words>13887</Words>
  <Application>Microsoft Office PowerPoint</Application>
  <PresentationFormat>全屏显示(4:3)</PresentationFormat>
  <Paragraphs>1370</Paragraphs>
  <Slides>100</Slides>
  <Notes>58</Notes>
  <HiddenSlides>5</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100</vt:i4>
      </vt:variant>
    </vt:vector>
  </HeadingPairs>
  <TitlesOfParts>
    <vt:vector size="115" baseType="lpstr">
      <vt:lpstr>T3</vt:lpstr>
      <vt:lpstr>等线</vt:lpstr>
      <vt:lpstr>黑体</vt:lpstr>
      <vt:lpstr>楷体</vt:lpstr>
      <vt:lpstr>宋体</vt:lpstr>
      <vt:lpstr>微软雅黑</vt:lpstr>
      <vt:lpstr>Arial</vt:lpstr>
      <vt:lpstr>Calibri</vt:lpstr>
      <vt:lpstr>Cambria Math</vt:lpstr>
      <vt:lpstr>Lucida Sans Unicode</vt:lpstr>
      <vt:lpstr>Symbol</vt:lpstr>
      <vt:lpstr>Times New Roman</vt:lpstr>
      <vt:lpstr>Wingdings</vt:lpstr>
      <vt:lpstr>Office 主题</vt:lpstr>
      <vt:lpstr>1_Office 主题</vt:lpstr>
      <vt:lpstr>下推自动机</vt:lpstr>
      <vt:lpstr>主要内容</vt:lpstr>
      <vt:lpstr>主要内容</vt:lpstr>
      <vt:lpstr>下推自动机</vt:lpstr>
      <vt:lpstr>下推自动机的抽象装置</vt:lpstr>
      <vt:lpstr>下推自动机的抽象装置</vt:lpstr>
      <vt:lpstr>下推自动机的形式定义</vt:lpstr>
      <vt:lpstr>符号使用一般约定</vt:lpstr>
      <vt:lpstr>状态转移函数和PDA的动作</vt:lpstr>
      <vt:lpstr>PDA的动作和状态转移图</vt:lpstr>
      <vt:lpstr>PDA使用示例</vt:lpstr>
      <vt:lpstr>PDA使用示例</vt:lpstr>
      <vt:lpstr>PDA使用示例</vt:lpstr>
      <vt:lpstr>动作示意图</vt:lpstr>
      <vt:lpstr>动作示意图</vt:lpstr>
      <vt:lpstr>动作示意图</vt:lpstr>
      <vt:lpstr>动作示意图</vt:lpstr>
      <vt:lpstr>动作示意图</vt:lpstr>
      <vt:lpstr>动作示意图</vt:lpstr>
      <vt:lpstr>动作示意图</vt:lpstr>
      <vt:lpstr>动作示意图</vt:lpstr>
      <vt:lpstr>PDA使用示例</vt:lpstr>
      <vt:lpstr>PDA使用示例</vt:lpstr>
      <vt:lpstr>PowerPoint 演示文稿</vt:lpstr>
      <vt:lpstr>PDA使用示例</vt:lpstr>
      <vt:lpstr>PDA使用示例</vt:lpstr>
      <vt:lpstr>PDA使用示例</vt:lpstr>
      <vt:lpstr>PDA使用示例</vt:lpstr>
      <vt:lpstr>瞬时描述</vt:lpstr>
      <vt:lpstr>转移符号（扩展的状态转移函数）</vt:lpstr>
      <vt:lpstr>转移符号（扩展的状态转移函数）</vt:lpstr>
      <vt:lpstr>转移示例</vt:lpstr>
      <vt:lpstr>转移示例</vt:lpstr>
      <vt:lpstr>PowerPoint 演示文稿</vt:lpstr>
      <vt:lpstr>转移示例</vt:lpstr>
      <vt:lpstr>PowerPoint 演示文稿</vt:lpstr>
      <vt:lpstr>转移示例(L_wwr的PDA，以1111为输入示例)</vt:lpstr>
      <vt:lpstr>主要内容</vt:lpstr>
      <vt:lpstr>下推自动机接受的语言</vt:lpstr>
      <vt:lpstr>下推自动机接受的语言</vt:lpstr>
      <vt:lpstr>示例</vt:lpstr>
      <vt:lpstr>从终态方式到空栈方式</vt:lpstr>
      <vt:lpstr>从终态方式到空栈方式</vt:lpstr>
      <vt:lpstr>从终态方式到空栈方式</vt:lpstr>
      <vt:lpstr>从终态方式到空栈方式</vt:lpstr>
      <vt:lpstr>从终态方式到空栈方式</vt:lpstr>
      <vt:lpstr>从空栈方式到终态方式</vt:lpstr>
      <vt:lpstr>从空栈方式到终态方式</vt:lpstr>
      <vt:lpstr>从空栈方式到终态方式</vt:lpstr>
      <vt:lpstr>从空栈方式到终态方式</vt:lpstr>
      <vt:lpstr>从空栈方式到终态方式</vt:lpstr>
      <vt:lpstr>PowerPoint 演示文稿</vt:lpstr>
      <vt:lpstr>示例</vt:lpstr>
      <vt:lpstr>示例</vt:lpstr>
      <vt:lpstr>示例</vt:lpstr>
      <vt:lpstr>PowerPoint 演示文稿</vt:lpstr>
      <vt:lpstr>示例</vt:lpstr>
      <vt:lpstr>示例</vt:lpstr>
      <vt:lpstr>示例</vt:lpstr>
      <vt:lpstr>课程回顾</vt:lpstr>
      <vt:lpstr>课程回顾</vt:lpstr>
      <vt:lpstr>主要内容</vt:lpstr>
      <vt:lpstr>PowerPoint 演示文稿</vt:lpstr>
      <vt:lpstr>由CFG到PDA</vt:lpstr>
      <vt:lpstr>形式化构造</vt:lpstr>
      <vt:lpstr>PowerPoint 演示文稿</vt:lpstr>
      <vt:lpstr>示例</vt:lpstr>
      <vt:lpstr>示例</vt:lpstr>
      <vt:lpstr>示例</vt:lpstr>
      <vt:lpstr>下推自动机与文法的等价性</vt:lpstr>
      <vt:lpstr>充分性证明</vt:lpstr>
      <vt:lpstr>充分性证明</vt:lpstr>
      <vt:lpstr>充分性证明</vt:lpstr>
      <vt:lpstr>必要性证明</vt:lpstr>
      <vt:lpstr>必要性证明</vt:lpstr>
      <vt:lpstr>必要性证明</vt:lpstr>
      <vt:lpstr>构造与GNF格式文法等价的PDA</vt:lpstr>
      <vt:lpstr>PowerPoint 演示文稿</vt:lpstr>
      <vt:lpstr>构造与GNF格式文法等价的PDA</vt:lpstr>
      <vt:lpstr>构造与GNF格式文法等价的PDA</vt:lpstr>
      <vt:lpstr>由PDA到CFG</vt:lpstr>
      <vt:lpstr>由PDA到CFG</vt:lpstr>
      <vt:lpstr>由PDA到CFG</vt:lpstr>
      <vt:lpstr>由PDA到CFG</vt:lpstr>
      <vt:lpstr>由PDA到CFG</vt:lpstr>
      <vt:lpstr>由PDA到CFG</vt:lpstr>
      <vt:lpstr>由PDA到CFG</vt:lpstr>
      <vt:lpstr>由PDA到CFG</vt:lpstr>
      <vt:lpstr>由PDA到CFG</vt:lpstr>
      <vt:lpstr>由PDA到CFG</vt:lpstr>
      <vt:lpstr>由PDA到CFG</vt:lpstr>
      <vt:lpstr>主要内容</vt:lpstr>
      <vt:lpstr>确定型下推自动机</vt:lpstr>
      <vt:lpstr>确定型下推自动机</vt:lpstr>
      <vt:lpstr>DCFL的重要应用</vt:lpstr>
      <vt:lpstr>正则语言与PDA</vt:lpstr>
      <vt:lpstr>正则语言与PDA</vt:lpstr>
      <vt:lpstr>DPDA与歧义文法</vt:lpstr>
      <vt:lpstr>语言类之间的关系</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Yifeng</dc:creator>
  <cp:lastModifiedBy>Administrator</cp:lastModifiedBy>
  <cp:revision>761</cp:revision>
  <dcterms:created xsi:type="dcterms:W3CDTF">2021-06-01T10:46:00Z</dcterms:created>
  <dcterms:modified xsi:type="dcterms:W3CDTF">2026-04-10T12:27:35Z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B461908281EF4E5EA388C02DD386BB6E</vt:lpwstr>
  </property>
  <property fmtid="{D5CDD505-2E9C-101B-9397-08002B2CF9AE}" pid="3" name="KSOProductBuildVer">
    <vt:lpwstr>2052-12.1.0.25225</vt:lpwstr>
  </property>
</Properties>
</file>